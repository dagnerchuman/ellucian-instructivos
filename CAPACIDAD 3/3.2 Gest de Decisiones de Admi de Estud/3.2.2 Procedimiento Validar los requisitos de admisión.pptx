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  <p:sldMasterId id="2147483771" r:id="rId3"/>
  </p:sldMasterIdLst>
  <p:notesMasterIdLst>
    <p:notesMasterId r:id="rId30"/>
  </p:notesMasterIdLst>
  <p:sldIdLst>
    <p:sldId id="257" r:id="rId4"/>
    <p:sldId id="423" r:id="rId5"/>
    <p:sldId id="476" r:id="rId6"/>
    <p:sldId id="348" r:id="rId7"/>
    <p:sldId id="349" r:id="rId8"/>
    <p:sldId id="350" r:id="rId9"/>
    <p:sldId id="421" r:id="rId10"/>
    <p:sldId id="621" r:id="rId11"/>
    <p:sldId id="469" r:id="rId12"/>
    <p:sldId id="552" r:id="rId13"/>
    <p:sldId id="513" r:id="rId14"/>
    <p:sldId id="539" r:id="rId15"/>
    <p:sldId id="540" r:id="rId16"/>
    <p:sldId id="541" r:id="rId17"/>
    <p:sldId id="542" r:id="rId18"/>
    <p:sldId id="553" r:id="rId19"/>
    <p:sldId id="544" r:id="rId20"/>
    <p:sldId id="548" r:id="rId21"/>
    <p:sldId id="549" r:id="rId22"/>
    <p:sldId id="554" r:id="rId23"/>
    <p:sldId id="547" r:id="rId24"/>
    <p:sldId id="546" r:id="rId25"/>
    <p:sldId id="550" r:id="rId26"/>
    <p:sldId id="551" r:id="rId27"/>
    <p:sldId id="345" r:id="rId28"/>
    <p:sldId id="62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1E1A8-3AF3-47B9-BE3C-F811DC49688A}" v="2" dt="2026-04-14T16:26:05.6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24-06-2026</a:t>
            </a:fld>
            <a:endParaRPr lang="es-CL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56616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04276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90763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70099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61404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88882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80420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71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3054919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729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548634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668773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1730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707255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893723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024418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488446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612064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580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7379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8502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7992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92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11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2872914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8487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3346269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380533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3261324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49952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7310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0855674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53360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20865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90727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420482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2151512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 dirty="0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8003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64228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876125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260693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1373978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3327385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394146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956031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999512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3149919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3421806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624627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764785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3633773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8471626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580975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5410097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5871617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8774875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252581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779785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925873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20838980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211399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624869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7821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5776201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79778211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3023612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9859652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3741417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6874475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 userDrawn="1"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 userDrawn="1"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7795442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703750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6749025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55763538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6846617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 userDrawn="1"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 userDrawn="1"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9933024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45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slideLayout" Target="../slideLayouts/slideLayout50.xml"/><Relationship Id="rId18" Type="http://schemas.openxmlformats.org/officeDocument/2006/relationships/slideLayout" Target="../slideLayouts/slideLayout5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49.xml"/><Relationship Id="rId17" Type="http://schemas.openxmlformats.org/officeDocument/2006/relationships/slideLayout" Target="../slideLayouts/slideLayout54.xml"/><Relationship Id="rId2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53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47.xml"/><Relationship Id="rId19" Type="http://schemas.openxmlformats.org/officeDocument/2006/relationships/slideLayout" Target="../slideLayouts/slideLayout56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14" Type="http://schemas.openxmlformats.org/officeDocument/2006/relationships/slideLayout" Target="../slideLayouts/slideLayout5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40047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581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92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  <p:sldLayoutId id="2147483778" r:id="rId7"/>
    <p:sldLayoutId id="2147483779" r:id="rId8"/>
    <p:sldLayoutId id="2147483780" r:id="rId9"/>
    <p:sldLayoutId id="2147483781" r:id="rId10"/>
    <p:sldLayoutId id="2147483782" r:id="rId11"/>
    <p:sldLayoutId id="2147483783" r:id="rId12"/>
    <p:sldLayoutId id="2147483784" r:id="rId13"/>
    <p:sldLayoutId id="2147483785" r:id="rId14"/>
    <p:sldLayoutId id="2147483786" r:id="rId15"/>
    <p:sldLayoutId id="2147483787" r:id="rId16"/>
    <p:sldLayoutId id="2147483788" r:id="rId17"/>
    <p:sldLayoutId id="2147483789" r:id="rId18"/>
    <p:sldLayoutId id="214748379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775F30-4948-8625-4D18-95EE2803BD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1" y="2294526"/>
            <a:ext cx="8313737" cy="1333891"/>
          </a:xfrm>
        </p:spPr>
        <p:txBody>
          <a:bodyPr>
            <a:normAutofit/>
          </a:bodyPr>
          <a:lstStyle/>
          <a:p>
            <a:r>
              <a:rPr lang="es-419"/>
              <a:t>Validar requisitos de admisión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1" y="3806151"/>
            <a:ext cx="8313737" cy="79618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100" dirty="0"/>
              <a:t>Nombre Consultor </a:t>
            </a:r>
          </a:p>
          <a:p>
            <a:pPr>
              <a:lnSpc>
                <a:spcPct val="100000"/>
              </a:lnSpc>
            </a:pPr>
            <a:r>
              <a:rPr lang="es-ES" sz="1100" dirty="0"/>
              <a:t>Correo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458457"/>
            <a:ext cx="3229036" cy="46448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 dirty="0"/>
              <a:t>Mes, Día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56901" y="6253018"/>
            <a:ext cx="3229036" cy="22749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s-CL"/>
              <a:t>Instructivo</a:t>
            </a:r>
          </a:p>
        </p:txBody>
      </p:sp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438240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noProof="0" dirty="0">
                          <a:solidFill>
                            <a:schemeClr val="bg1"/>
                          </a:solidFill>
                        </a:rPr>
                        <a:t>Validar requisitos de admisión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8AC1633D-9215-2128-452C-BEE52AEB6D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ES_tradnl" sz="3200" dirty="0"/>
              <a:t>Overview: </a:t>
            </a:r>
            <a:r>
              <a:rPr lang="es-ES_tradnl" sz="3200" b="1" dirty="0"/>
              <a:t>Mapa de capacidades</a:t>
            </a:r>
            <a:endParaRPr lang="en-US" dirty="0"/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B7A40F5D-A376-C989-8E1D-24AEC40F37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432" y="1191162"/>
            <a:ext cx="10431829" cy="49152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E5C248A-BC20-0C35-B4D6-077002E899FE}"/>
              </a:ext>
            </a:extLst>
          </p:cNvPr>
          <p:cNvSpPr/>
          <p:nvPr/>
        </p:nvSpPr>
        <p:spPr>
          <a:xfrm>
            <a:off x="1388853" y="3372730"/>
            <a:ext cx="2536166" cy="76775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3312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D552BA8-E40D-BE5E-B33E-255C974B1B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584355"/>
            <a:ext cx="9698935" cy="1383132"/>
          </a:xfrm>
        </p:spPr>
        <p:txBody>
          <a:bodyPr anchor="ctr"/>
          <a:lstStyle/>
          <a:p>
            <a:pPr marL="285750" indent="-285750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b="1" dirty="0">
                <a:solidFill>
                  <a:srgbClr val="7030A0"/>
                </a:solidFill>
              </a:rPr>
              <a:t> </a:t>
            </a:r>
            <a:r>
              <a:rPr lang="es-419" sz="2400" b="1" dirty="0">
                <a:solidFill>
                  <a:srgbClr val="7030A0"/>
                </a:solidFill>
              </a:rPr>
              <a:t>Gestión de Decisiones de Admisión de Estudiantes</a:t>
            </a:r>
            <a:endParaRPr lang="es-CO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sz="3200" dirty="0"/>
              <a:t>Procedimiento</a:t>
            </a:r>
            <a:r>
              <a:rPr lang="es-ES_tradnl" dirty="0"/>
              <a:t> validar los requisitos de admisión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50487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1789044"/>
            <a:ext cx="10136257" cy="447260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2400" dirty="0">
                <a:solidFill>
                  <a:srgbClr val="7030A0"/>
                </a:solidFill>
              </a:rPr>
              <a:t>Registrar el puntaje de exámenes. 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2400" dirty="0">
                <a:solidFill>
                  <a:srgbClr val="7030A0"/>
                </a:solidFill>
              </a:rPr>
              <a:t>La validación de ítems de la lista de verificación.</a:t>
            </a:r>
          </a:p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sz="2400" dirty="0">
                <a:solidFill>
                  <a:srgbClr val="7030A0"/>
                </a:solidFill>
              </a:rPr>
              <a:t>La actualización del estado de la solicitud</a:t>
            </a:r>
            <a:endParaRPr lang="es-419" sz="2400" dirty="0">
              <a:solidFill>
                <a:srgbClr val="7030A0"/>
              </a:solidFill>
            </a:endParaRP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Proceso </a:t>
            </a:r>
            <a:r>
              <a:rPr lang="es-419" dirty="0"/>
              <a:t>validar los requisitos de admisión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8859" y="66303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>
                <a:solidFill>
                  <a:schemeClr val="tx2"/>
                </a:solidFill>
              </a:rPr>
              <a:t>Overview: </a:t>
            </a:r>
            <a:r>
              <a:rPr lang="es-ES_tradnl" dirty="0"/>
              <a:t>Proceso </a:t>
            </a:r>
            <a:r>
              <a:rPr lang="es-419" dirty="0"/>
              <a:t>validar los requisitos de admisión</a:t>
            </a:r>
            <a:endParaRPr lang="es-CL" dirty="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425D6C12-642F-6FFB-3638-2A0CB6CE32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9910" y="2183632"/>
            <a:ext cx="9012180" cy="280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noProof="0" dirty="0"/>
              <a:t>Gestionar Solicitudes de admisión</a:t>
            </a:r>
            <a:endParaRPr lang="es-419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DA0D89D-33DC-4151-D805-A43C6E21B822}"/>
              </a:ext>
            </a:extLst>
          </p:cNvPr>
          <p:cNvSpPr txBox="1"/>
          <p:nvPr/>
        </p:nvSpPr>
        <p:spPr>
          <a:xfrm>
            <a:off x="6939975" y="2743200"/>
            <a:ext cx="21114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3200" b="1" noProof="0" dirty="0"/>
              <a:t>Todo LAC</a:t>
            </a:r>
          </a:p>
        </p:txBody>
      </p:sp>
      <p:sp>
        <p:nvSpPr>
          <p:cNvPr id="7" name="Título 3">
            <a:extLst>
              <a:ext uri="{FF2B5EF4-FFF2-40B4-BE49-F238E27FC236}">
                <a16:creationId xmlns:a16="http://schemas.microsoft.com/office/drawing/2014/main" id="{41A78240-C607-71D5-FFEE-AC493BD21BE1}"/>
              </a:ext>
            </a:extLst>
          </p:cNvPr>
          <p:cNvSpPr txBox="1">
            <a:spLocks/>
          </p:cNvSpPr>
          <p:nvPr/>
        </p:nvSpPr>
        <p:spPr>
          <a:xfrm>
            <a:off x="1104900" y="276729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419" noProof="0" dirty="0" err="1">
                <a:solidFill>
                  <a:schemeClr val="tx2"/>
                </a:solidFill>
              </a:rPr>
              <a:t>Overview</a:t>
            </a:r>
            <a:r>
              <a:rPr lang="es-419" noProof="0" dirty="0">
                <a:solidFill>
                  <a:schemeClr val="tx2"/>
                </a:solidFill>
              </a:rPr>
              <a:t>: </a:t>
            </a:r>
            <a:r>
              <a:rPr lang="es-419" noProof="0" dirty="0"/>
              <a:t>Proceso gestionar solicitudes de admisión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D06E67-6F3E-A1D6-6CD4-3B8002331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304" y="1175284"/>
            <a:ext cx="5209671" cy="520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570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VALIDAR REQUISITOS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FDF8D-B53D-5642-60BF-9E0DC283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395CDF6A-6319-CA13-E6B4-CE14D4DF23E5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19E05EB7-DC4F-A5E3-E4F7-67A569DD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Puntaje de exámenes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9887C4F9-C9D7-7517-F820-2351C08EB1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899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9B0E329-CF5C-0C26-83C8-E012C67BF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326134"/>
            <a:ext cx="10973436" cy="469228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608981" y="3965278"/>
            <a:ext cx="9140578" cy="102502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En la solicitud de admisión en la lista de verificación se muestra dos requisitos, uno de ellos corresponde al examen de admisión de pregrado.</a:t>
            </a:r>
          </a:p>
          <a:p>
            <a:r>
              <a:rPr lang="es-ES_tradnl" sz="1400" dirty="0"/>
              <a:t>1.- Solicitud de admisión. Dato obligatorio.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29FC75B6-4202-4189-5C0E-E9DB7967F13E}"/>
              </a:ext>
            </a:extLst>
          </p:cNvPr>
          <p:cNvSpPr/>
          <p:nvPr/>
        </p:nvSpPr>
        <p:spPr>
          <a:xfrm>
            <a:off x="576478" y="2851918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229843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285C0D-2C3B-4CD2-7E24-CB9FB8647F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6" y="1324241"/>
            <a:ext cx="11082130" cy="4787573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STVADMR</a:t>
            </a:r>
            <a:r>
              <a:rPr lang="es-419" sz="3000" b="1" dirty="0"/>
              <a:t> Validación del código de revisión de la solicitud de admisión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810246" y="4700459"/>
            <a:ext cx="10763189" cy="71717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El requisito está vinculado con un examen, de manera que cuando se realice el registro del examen el requisito se marcará como cumplido en la lista de verificación.</a:t>
            </a:r>
          </a:p>
        </p:txBody>
      </p:sp>
    </p:spTree>
    <p:extLst>
      <p:ext uri="{BB962C8B-B14F-4D97-AF65-F5344CB8AC3E}">
        <p14:creationId xmlns:p14="http://schemas.microsoft.com/office/powerpoint/2010/main" val="14742642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BD83B20-B61E-6AFE-1027-69D57C95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82" y="1235342"/>
            <a:ext cx="10540011" cy="453523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STVTESC Validación de código de examen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769294" y="5053397"/>
            <a:ext cx="10763189" cy="71717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1.- Examen configurado.</a:t>
            </a:r>
          </a:p>
          <a:p>
            <a:r>
              <a:rPr lang="es-ES_tradnl" sz="1400" dirty="0"/>
              <a:t>2.- Para que cumpla con el requisito EAPR.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99E7ADB0-7425-EBF4-EFD2-06B36F64AEC1}"/>
              </a:ext>
            </a:extLst>
          </p:cNvPr>
          <p:cNvSpPr/>
          <p:nvPr/>
        </p:nvSpPr>
        <p:spPr>
          <a:xfrm>
            <a:off x="6958293" y="2661247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54F9B8B0-E2B3-D9A2-AA5F-65FE55A3FA23}"/>
              </a:ext>
            </a:extLst>
          </p:cNvPr>
          <p:cNvSpPr/>
          <p:nvPr/>
        </p:nvSpPr>
        <p:spPr>
          <a:xfrm>
            <a:off x="3397292" y="2661248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51878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517A938E-0EF7-F21F-3A95-0F7063B83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25" y="1123389"/>
            <a:ext cx="10601950" cy="4548436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SOATEST Información del puntaje de examen</a:t>
            </a:r>
            <a:endParaRPr lang="es-CL" sz="2000" dirty="0"/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67208202-3307-EC13-2139-8AC46BA1A15E}"/>
              </a:ext>
            </a:extLst>
          </p:cNvPr>
          <p:cNvSpPr/>
          <p:nvPr/>
        </p:nvSpPr>
        <p:spPr>
          <a:xfrm>
            <a:off x="7400608" y="230940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DFCF4C67-E3D8-2E64-9634-017BBB507527}"/>
              </a:ext>
            </a:extLst>
          </p:cNvPr>
          <p:cNvSpPr/>
          <p:nvPr/>
        </p:nvSpPr>
        <p:spPr>
          <a:xfrm>
            <a:off x="736856" y="2386569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29">
            <a:extLst>
              <a:ext uri="{FF2B5EF4-FFF2-40B4-BE49-F238E27FC236}">
                <a16:creationId xmlns:a16="http://schemas.microsoft.com/office/drawing/2014/main" id="{EE8FEAC8-CD35-89A4-E06C-139FB972FF61}"/>
              </a:ext>
            </a:extLst>
          </p:cNvPr>
          <p:cNvSpPr/>
          <p:nvPr/>
        </p:nvSpPr>
        <p:spPr>
          <a:xfrm>
            <a:off x="2628477" y="301569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9E721D5-04D2-39AB-2182-398DDA797C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47" y="5756440"/>
            <a:ext cx="10784599" cy="457264"/>
          </a:xfrm>
          <a:prstGeom prst="rect">
            <a:avLst/>
          </a:prstGeom>
        </p:spPr>
      </p:pic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171429" y="4310911"/>
            <a:ext cx="9849142" cy="14455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Al ingresar el </a:t>
            </a:r>
          </a:p>
          <a:p>
            <a:r>
              <a:rPr lang="es-ES_tradnl" sz="1400" dirty="0"/>
              <a:t>1.- Código del examen. </a:t>
            </a:r>
          </a:p>
          <a:p>
            <a:r>
              <a:rPr lang="es-ES_tradnl" sz="1400" dirty="0"/>
              <a:t>2.- El puntaje y la fecha de examen el sistema muestra automáticamente. </a:t>
            </a:r>
          </a:p>
          <a:p>
            <a:r>
              <a:rPr lang="es-ES_tradnl" sz="1400" dirty="0"/>
              <a:t>3.- Código de la solicitud de admisión </a:t>
            </a:r>
          </a:p>
          <a:p>
            <a:r>
              <a:rPr lang="es-ES_tradnl" sz="1400" dirty="0"/>
              <a:t>4.- Se guarda el registro.</a:t>
            </a:r>
          </a:p>
        </p:txBody>
      </p:sp>
      <p:sp>
        <p:nvSpPr>
          <p:cNvPr id="12" name="Rectángulo redondeado 23">
            <a:extLst>
              <a:ext uri="{FF2B5EF4-FFF2-40B4-BE49-F238E27FC236}">
                <a16:creationId xmlns:a16="http://schemas.microsoft.com/office/drawing/2014/main" id="{10D68D85-3A7E-0B19-CA1A-04950FE9B099}"/>
              </a:ext>
            </a:extLst>
          </p:cNvPr>
          <p:cNvSpPr/>
          <p:nvPr/>
        </p:nvSpPr>
        <p:spPr>
          <a:xfrm>
            <a:off x="10533197" y="5925671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04896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13F97-376F-57F7-67A5-81FB0EB32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19" y="1308686"/>
            <a:ext cx="11082130" cy="477010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164026" y="4383469"/>
            <a:ext cx="9863948" cy="93499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Al revisar:</a:t>
            </a:r>
          </a:p>
          <a:p>
            <a:r>
              <a:rPr lang="es-ES_tradnl" sz="1400" dirty="0"/>
              <a:t>1.- Lista de verificación el examen se muestra como cumplido y con el código que fue registrado en SOATEST</a:t>
            </a:r>
          </a:p>
          <a:p>
            <a:r>
              <a:rPr lang="es-ES_tradnl" sz="1400" dirty="0"/>
              <a:t>2.- </a:t>
            </a:r>
            <a:r>
              <a:rPr lang="es-ES_tradnl" sz="1400" b="1" dirty="0"/>
              <a:t>Descripción del elemento</a:t>
            </a:r>
            <a:r>
              <a:rPr lang="es-ES_tradnl" sz="1400" dirty="0"/>
              <a:t>, fecha cumplimiento examen.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B3715363-3FD4-7419-1D73-A8659A1B7E6C}"/>
              </a:ext>
            </a:extLst>
          </p:cNvPr>
          <p:cNvSpPr/>
          <p:nvPr/>
        </p:nvSpPr>
        <p:spPr>
          <a:xfrm>
            <a:off x="5666693" y="3111209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3FC0AE8E-A3EF-DF11-BAD3-EAF1B0A952C1}"/>
              </a:ext>
            </a:extLst>
          </p:cNvPr>
          <p:cNvSpPr/>
          <p:nvPr/>
        </p:nvSpPr>
        <p:spPr>
          <a:xfrm>
            <a:off x="930257" y="3194052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196285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B1D5E-693A-E438-FB06-C6D551009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7E493E27-2540-0124-D654-C15F1BD53E6B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8B964E6-5937-A8A5-E7E0-ABDDA0E7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Control de requisitos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E5168F00-8174-15A2-8932-901C874BF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31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795B112-929B-3AFC-6D32-5E9783E1E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77" y="1411811"/>
            <a:ext cx="10765766" cy="461069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579501" y="4331710"/>
            <a:ext cx="9257118" cy="71717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Para indicar que un requisito ha sido cumplido por el aspirante:</a:t>
            </a:r>
          </a:p>
          <a:p>
            <a:r>
              <a:rPr lang="es-ES_tradnl" sz="1400" dirty="0"/>
              <a:t>1.- Debe ingresar la fecha de recepción.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8146D181-B3B7-39C2-B27F-E2D5808D7146}"/>
              </a:ext>
            </a:extLst>
          </p:cNvPr>
          <p:cNvSpPr/>
          <p:nvPr/>
        </p:nvSpPr>
        <p:spPr>
          <a:xfrm>
            <a:off x="3429854" y="319241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53591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0704173-DAF8-6DEB-2996-8F63125F6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894" y="1250798"/>
            <a:ext cx="10784634" cy="5105551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844487" y="3860969"/>
            <a:ext cx="8503025" cy="1281953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Adicional a la fecha de recepción se pueden ingresar las fechas de:</a:t>
            </a:r>
          </a:p>
          <a:p>
            <a:r>
              <a:rPr lang="es-ES_tradnl" sz="1400" dirty="0"/>
              <a:t>1.- Primera solicitud.</a:t>
            </a:r>
          </a:p>
          <a:p>
            <a:r>
              <a:rPr lang="es-ES_tradnl" sz="1400" dirty="0"/>
              <a:t>2.- Última solicitud. </a:t>
            </a:r>
          </a:p>
          <a:p>
            <a:r>
              <a:rPr lang="es-ES_tradnl" sz="1400" dirty="0"/>
              <a:t>3.- Fecha límite.</a:t>
            </a:r>
          </a:p>
          <a:p>
            <a:r>
              <a:rPr lang="es-ES_tradnl" sz="1400" dirty="0"/>
              <a:t>El sistema aumentará el registro del conteo. Estos campos son informativos.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94A4CF39-C747-15C1-427F-6A518BEB2D3F}"/>
              </a:ext>
            </a:extLst>
          </p:cNvPr>
          <p:cNvSpPr/>
          <p:nvPr/>
        </p:nvSpPr>
        <p:spPr>
          <a:xfrm>
            <a:off x="7521504" y="275228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5385950F-31C5-18E1-5F36-D3A0B7C4B512}"/>
              </a:ext>
            </a:extLst>
          </p:cNvPr>
          <p:cNvSpPr/>
          <p:nvPr/>
        </p:nvSpPr>
        <p:spPr>
          <a:xfrm>
            <a:off x="6823457" y="275228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29">
            <a:extLst>
              <a:ext uri="{FF2B5EF4-FFF2-40B4-BE49-F238E27FC236}">
                <a16:creationId xmlns:a16="http://schemas.microsoft.com/office/drawing/2014/main" id="{4089AFAF-3AA7-7DA0-3B45-8C64B7342426}"/>
              </a:ext>
            </a:extLst>
          </p:cNvPr>
          <p:cNvSpPr/>
          <p:nvPr/>
        </p:nvSpPr>
        <p:spPr>
          <a:xfrm>
            <a:off x="10542239" y="2752279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6314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B42D13B-2194-3739-2763-C66AABBF1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16" y="1319563"/>
            <a:ext cx="10571506" cy="501596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742577" y="4428523"/>
            <a:ext cx="8759015" cy="1169894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Se pueden insertar requisitos adicionales: </a:t>
            </a:r>
          </a:p>
          <a:p>
            <a:r>
              <a:rPr lang="es-ES_tradnl" sz="1400" dirty="0"/>
              <a:t>1.- lista de verificación generada por el sistema.  </a:t>
            </a:r>
          </a:p>
          <a:p>
            <a:r>
              <a:rPr lang="es-ES_tradnl" sz="1400" dirty="0"/>
              <a:t>2.-El campo de requerido por el sistema mostrará si el registro fue generado directamente.</a:t>
            </a:r>
            <a:br>
              <a:rPr lang="es-ES_tradnl" sz="1400" dirty="0"/>
            </a:br>
            <a:r>
              <a:rPr lang="es-ES_tradnl" sz="1400" dirty="0"/>
              <a:t>3.-También se pueden eliminar registros de la lista.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5020E8AD-0208-0F56-F03B-D6532486ACE9}"/>
              </a:ext>
            </a:extLst>
          </p:cNvPr>
          <p:cNvSpPr/>
          <p:nvPr/>
        </p:nvSpPr>
        <p:spPr>
          <a:xfrm>
            <a:off x="9875946" y="2899931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72284A4A-EB97-0255-D691-C71D29C594A0}"/>
              </a:ext>
            </a:extLst>
          </p:cNvPr>
          <p:cNvSpPr/>
          <p:nvPr/>
        </p:nvSpPr>
        <p:spPr>
          <a:xfrm>
            <a:off x="6645285" y="2899931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  <p:sp>
        <p:nvSpPr>
          <p:cNvPr id="8" name="Rectángulo redondeado 29">
            <a:extLst>
              <a:ext uri="{FF2B5EF4-FFF2-40B4-BE49-F238E27FC236}">
                <a16:creationId xmlns:a16="http://schemas.microsoft.com/office/drawing/2014/main" id="{48B1F1DC-D700-0652-E585-4ADE11A700D7}"/>
              </a:ext>
            </a:extLst>
          </p:cNvPr>
          <p:cNvSpPr/>
          <p:nvPr/>
        </p:nvSpPr>
        <p:spPr>
          <a:xfrm>
            <a:off x="11381753" y="2049514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8787479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7FDC-FB19-8051-9D6A-FC104A821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3A40A15A-6327-CF23-58BC-5CAD0865D9B5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12DA8FAD-5E55-75A4-B1C2-2D0EAD34D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Estado de la solicitud</a:t>
            </a:r>
            <a:endParaRPr lang="en-US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F4D3E365-F807-A5D2-3FFE-283521A50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7065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261FB4F-EFDC-96F7-35CC-7B5D0063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958" y="1234734"/>
            <a:ext cx="10412083" cy="4937465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440546" y="4359031"/>
            <a:ext cx="9310908" cy="71717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Cuando en la lista de verificación existen:</a:t>
            </a:r>
          </a:p>
          <a:p>
            <a:r>
              <a:rPr lang="es-ES_tradnl" sz="1400" dirty="0"/>
              <a:t>1.- Registro de requisitos obligatorios el estatus de la solicitud se mostrará como incompleta hasta que.</a:t>
            </a:r>
          </a:p>
          <a:p>
            <a:r>
              <a:rPr lang="es-ES_tradnl" sz="1400" dirty="0"/>
              <a:t>2.- Se registre la fecha de recepción de estos.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3856750A-1AA1-338E-FD21-A1B094A3E2A1}"/>
              </a:ext>
            </a:extLst>
          </p:cNvPr>
          <p:cNvSpPr/>
          <p:nvPr/>
        </p:nvSpPr>
        <p:spPr>
          <a:xfrm>
            <a:off x="914169" y="2814007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6" name="Rectángulo redondeado 23">
            <a:extLst>
              <a:ext uri="{FF2B5EF4-FFF2-40B4-BE49-F238E27FC236}">
                <a16:creationId xmlns:a16="http://schemas.microsoft.com/office/drawing/2014/main" id="{E75BDFD1-BB25-77D4-D25D-01F97BC1D645}"/>
              </a:ext>
            </a:extLst>
          </p:cNvPr>
          <p:cNvSpPr/>
          <p:nvPr/>
        </p:nvSpPr>
        <p:spPr>
          <a:xfrm>
            <a:off x="6443092" y="2814007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098132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3C79D12-FF2C-208C-D348-5A80ADAAB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6137"/>
            <a:ext cx="10515600" cy="5016062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3717582" y="5568516"/>
            <a:ext cx="4933359" cy="603683"/>
          </a:xfrm>
          <a:prstGeom prst="roundRect">
            <a:avLst>
              <a:gd name="adj" fmla="val 33002"/>
            </a:avLst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Se muestra </a:t>
            </a:r>
            <a:br>
              <a:rPr lang="es-ES_tradnl" sz="1400" dirty="0"/>
            </a:br>
            <a:r>
              <a:rPr lang="es-ES_tradnl" sz="1400" dirty="0"/>
              <a:t>1.- Estatus de la solicitud como I - INCOMPLETA.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0289ED95-5022-59F3-6B67-010FF29E46A2}"/>
              </a:ext>
            </a:extLst>
          </p:cNvPr>
          <p:cNvSpPr/>
          <p:nvPr/>
        </p:nvSpPr>
        <p:spPr>
          <a:xfrm>
            <a:off x="4043660" y="323975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60093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89C2AA-773F-EFF6-8078-A8FC6BE36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174377"/>
            <a:ext cx="10990729" cy="520884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b="1" dirty="0"/>
              <a:t>Lista de verificación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1201270" y="4598894"/>
            <a:ext cx="9789459" cy="108472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Cuando en la lista de verificación se marca:</a:t>
            </a:r>
          </a:p>
          <a:p>
            <a:r>
              <a:rPr lang="es-ES_tradnl" sz="1400" dirty="0"/>
              <a:t>1.- Fecha de recepción de los requisitos obligatorios el sistema actualiza el estatus de la solicitud a completa.</a:t>
            </a:r>
          </a:p>
          <a:p>
            <a:r>
              <a:rPr lang="es-ES_tradnl" sz="1400" dirty="0"/>
              <a:t>2.- Indicador de obligatorio.</a:t>
            </a:r>
          </a:p>
        </p:txBody>
      </p:sp>
      <p:sp>
        <p:nvSpPr>
          <p:cNvPr id="2" name="Rectángulo redondeado 15">
            <a:extLst>
              <a:ext uri="{FF2B5EF4-FFF2-40B4-BE49-F238E27FC236}">
                <a16:creationId xmlns:a16="http://schemas.microsoft.com/office/drawing/2014/main" id="{16F29E5E-A176-CE3D-16C9-2ADF8E6224A6}"/>
              </a:ext>
            </a:extLst>
          </p:cNvPr>
          <p:cNvSpPr/>
          <p:nvPr/>
        </p:nvSpPr>
        <p:spPr>
          <a:xfrm>
            <a:off x="6319431" y="286202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2</a:t>
            </a:r>
          </a:p>
        </p:txBody>
      </p:sp>
      <p:sp>
        <p:nvSpPr>
          <p:cNvPr id="7" name="Rectángulo redondeado 23">
            <a:extLst>
              <a:ext uri="{FF2B5EF4-FFF2-40B4-BE49-F238E27FC236}">
                <a16:creationId xmlns:a16="http://schemas.microsoft.com/office/drawing/2014/main" id="{444941FB-2D08-1ED8-7402-4F49C5E7BCD8}"/>
              </a:ext>
            </a:extLst>
          </p:cNvPr>
          <p:cNvSpPr/>
          <p:nvPr/>
        </p:nvSpPr>
        <p:spPr>
          <a:xfrm>
            <a:off x="3917245" y="2862020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90628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FFFEEC3-5374-EE90-0C8F-CC6B9AF5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44" y="1156562"/>
            <a:ext cx="10946921" cy="5199787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5" name="Slide Number Placeholder 17">
            <a:extLst>
              <a:ext uri="{FF2B5EF4-FFF2-40B4-BE49-F238E27FC236}">
                <a16:creationId xmlns:a16="http://schemas.microsoft.com/office/drawing/2014/main" id="{95C607FE-72CE-5EC2-5CA9-A583BCB8A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sz="3200" b="0" dirty="0"/>
              <a:t>Configuraciones: </a:t>
            </a:r>
            <a:r>
              <a:rPr lang="es-419" sz="3000" dirty="0"/>
              <a:t>SAADMS</a:t>
            </a:r>
            <a:r>
              <a:rPr lang="es-419" sz="3000" b="1" dirty="0"/>
              <a:t> Solicitud de admisión</a:t>
            </a:r>
            <a:br>
              <a:rPr lang="es-419" sz="3000" b="1" dirty="0"/>
            </a:br>
            <a:r>
              <a:rPr lang="es-419" sz="2000" dirty="0"/>
              <a:t>Aplicación</a:t>
            </a:r>
            <a:endParaRPr lang="es-CL" sz="2000" dirty="0"/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ACFB6BBF-F51C-3E17-0616-B3528CD6154A}"/>
              </a:ext>
            </a:extLst>
          </p:cNvPr>
          <p:cNvSpPr/>
          <p:nvPr/>
        </p:nvSpPr>
        <p:spPr>
          <a:xfrm>
            <a:off x="2056341" y="5531223"/>
            <a:ext cx="7204200" cy="54684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400" dirty="0"/>
              <a:t>1.- Se muestra el estatus de la solicitud como C - COMPLETA.</a:t>
            </a:r>
          </a:p>
        </p:txBody>
      </p:sp>
      <p:sp>
        <p:nvSpPr>
          <p:cNvPr id="2" name="Rectángulo redondeado 23">
            <a:extLst>
              <a:ext uri="{FF2B5EF4-FFF2-40B4-BE49-F238E27FC236}">
                <a16:creationId xmlns:a16="http://schemas.microsoft.com/office/drawing/2014/main" id="{5886F8DA-83A5-D299-58D3-91A0643021A0}"/>
              </a:ext>
            </a:extLst>
          </p:cNvPr>
          <p:cNvSpPr/>
          <p:nvPr/>
        </p:nvSpPr>
        <p:spPr>
          <a:xfrm>
            <a:off x="4076757" y="3346156"/>
            <a:ext cx="233769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1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847827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Validar los requisitos de admisión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6" y="2008765"/>
            <a:ext cx="10687221" cy="4022580"/>
          </a:xfrm>
        </p:spPr>
        <p:txBody>
          <a:bodyPr/>
          <a:lstStyle/>
          <a:p>
            <a:pPr marL="0" indent="0">
              <a:buNone/>
            </a:pPr>
            <a:r>
              <a:rPr lang="es-419" sz="2000" dirty="0"/>
              <a:t>Validar los requisitos de admisión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ingresan los puntajes obtenidos en exámenes de admisión en la página SOATEST.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Cuando un requerimiento está vinculado con un examen, la fecha de recepción del requerimiento estará actualizado automáticamente en SAAADMS al registrar el examen en SOATEST 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Se debe indicar una fecha de recepción en SAAADMS para un requisito para que se considere cumplido 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ES_tradnl" dirty="0"/>
              <a:t>Cuando todos los requisitos obligatorios tienen una fecha de recepción, el estado de la solicitud se actualiza automáticamente, de “I – Incompleto / Pendiente” a “C – Completo / Listo para Revisión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585CE95F-9E93-A1EC-A586-CDA89C427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A16F8ED-7337-F64C-865A-41A1F48E54D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85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noProof="0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noProof="0" dirty="0"/>
              <a:t>Sergio Molina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noProof="0"/>
              <a:t>Sergio.molina@ellucian.com</a:t>
            </a:r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49292278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 Main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Ellucian-PPT-Template-2026</Template>
  <TotalTime>7689</TotalTime>
  <Words>852</Words>
  <Application>Microsoft Office PowerPoint</Application>
  <PresentationFormat>Widescreen</PresentationFormat>
  <Paragraphs>147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 Main Layouts</vt:lpstr>
      <vt:lpstr>Ellucian Blank Layouts</vt:lpstr>
      <vt:lpstr>1_Ellucian Blank Layouts</vt:lpstr>
      <vt:lpstr>PowerPoint Presentation</vt:lpstr>
      <vt:lpstr>PowerPoint Presentation</vt:lpstr>
      <vt:lpstr>Overview</vt:lpstr>
      <vt:lpstr>Overview: Mapa de capacidades</vt:lpstr>
      <vt:lpstr>Overview: Procedimiento validar los requisitos de admisión</vt:lpstr>
      <vt:lpstr>Overview: Proceso validar los requisitos de admisión</vt:lpstr>
      <vt:lpstr>PowerPoint Presentation</vt:lpstr>
      <vt:lpstr>PowerPoint Presentation</vt:lpstr>
      <vt:lpstr>VALIDAR REQUISITOS</vt:lpstr>
      <vt:lpstr>Puntaje de exámenes</vt:lpstr>
      <vt:lpstr>Configuraciones: SAADMS Solicitud de admisión Lista de verificación</vt:lpstr>
      <vt:lpstr>Configuraciones: STVADMR Validación del código de revisión de la solicitud de admisión</vt:lpstr>
      <vt:lpstr>Configuraciones: STVTESC Validación de código de examen</vt:lpstr>
      <vt:lpstr>Configuraciones: SOATEST Información del puntaje de examen</vt:lpstr>
      <vt:lpstr>Configuraciones: SAADMS Solicitud de admisión Lista de verificación</vt:lpstr>
      <vt:lpstr>Control de requisitos</vt:lpstr>
      <vt:lpstr>Configuraciones: SAADMS Solicitud de admisión Lista de verificación</vt:lpstr>
      <vt:lpstr>Configuraciones: SAADMS Solicitud de admisión Lista de verificación</vt:lpstr>
      <vt:lpstr>Configuraciones: SAADMS Solicitud de admisión Lista de verificación</vt:lpstr>
      <vt:lpstr>Estado de la solicitud</vt:lpstr>
      <vt:lpstr>Configuraciones: SAADMS Solicitud de admisión Lista de verificación</vt:lpstr>
      <vt:lpstr>Configuraciones: SAADMS Solicitud de admisión Lista de verificación</vt:lpstr>
      <vt:lpstr>Configuraciones: SAADMS Solicitud de admisión Lista de verificación</vt:lpstr>
      <vt:lpstr>Configuraciones: SAADMS Solicitud de admisión Aplicación</vt:lpstr>
      <vt:lpstr>RESUMEN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Molina, Sergio</cp:lastModifiedBy>
  <cp:revision>618</cp:revision>
  <dcterms:created xsi:type="dcterms:W3CDTF">2023-07-17T20:07:38Z</dcterms:created>
  <dcterms:modified xsi:type="dcterms:W3CDTF">2026-06-24T21:18:45Z</dcterms:modified>
</cp:coreProperties>
</file>
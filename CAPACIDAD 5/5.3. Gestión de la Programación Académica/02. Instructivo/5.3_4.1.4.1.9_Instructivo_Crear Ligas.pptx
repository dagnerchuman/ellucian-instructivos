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</p:sldMasterIdLst>
  <p:notesMasterIdLst>
    <p:notesMasterId r:id="rId30"/>
  </p:notesMasterIdLst>
  <p:sldIdLst>
    <p:sldId id="257" r:id="rId3"/>
    <p:sldId id="423" r:id="rId4"/>
    <p:sldId id="476" r:id="rId5"/>
    <p:sldId id="554" r:id="rId6"/>
    <p:sldId id="555" r:id="rId7"/>
    <p:sldId id="556" r:id="rId8"/>
    <p:sldId id="352" r:id="rId9"/>
    <p:sldId id="421" r:id="rId10"/>
    <p:sldId id="525" r:id="rId11"/>
    <p:sldId id="469" r:id="rId12"/>
    <p:sldId id="526" r:id="rId13"/>
    <p:sldId id="562" r:id="rId14"/>
    <p:sldId id="493" r:id="rId15"/>
    <p:sldId id="565" r:id="rId16"/>
    <p:sldId id="518" r:id="rId17"/>
    <p:sldId id="557" r:id="rId18"/>
    <p:sldId id="566" r:id="rId19"/>
    <p:sldId id="567" r:id="rId20"/>
    <p:sldId id="558" r:id="rId21"/>
    <p:sldId id="559" r:id="rId22"/>
    <p:sldId id="560" r:id="rId23"/>
    <p:sldId id="561" r:id="rId24"/>
    <p:sldId id="563" r:id="rId25"/>
    <p:sldId id="564" r:id="rId26"/>
    <p:sldId id="345" r:id="rId27"/>
    <p:sldId id="543" r:id="rId28"/>
    <p:sldId id="55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1841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435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955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405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2935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3478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043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61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07504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39723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221341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06555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785322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137977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4054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27781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4797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87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93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2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75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55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898864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064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90189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77879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870490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4731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233064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415428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508988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419908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06-07-2026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5471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52736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4692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69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5784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49652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34059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513808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23965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91802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13891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4406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248252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982487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005440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31851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355203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921301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551279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826068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41414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654697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88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042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83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613309"/>
          </a:xfrm>
        </p:spPr>
        <p:txBody>
          <a:bodyPr/>
          <a:lstStyle/>
          <a:p>
            <a:r>
              <a:rPr lang="es-419" sz="4400" dirty="0"/>
              <a:t>Crear Ligas</a:t>
            </a:r>
            <a:endParaRPr lang="es-CL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ES" sz="1800" dirty="0"/>
              <a:t>Instructivo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61618"/>
            <a:ext cx="3032274" cy="194925"/>
          </a:xfrm>
        </p:spPr>
        <p:txBody>
          <a:bodyPr/>
          <a:lstStyle/>
          <a:p>
            <a:r>
              <a:rPr lang="es-CL" dirty="0"/>
              <a:t>Universidad Señor de SIPAN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2985291-506E-099B-34AF-5893D3D48C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Julio, 2026</a:t>
            </a:r>
          </a:p>
        </p:txBody>
      </p:sp>
      <p:pic>
        <p:nvPicPr>
          <p:cNvPr id="9" name="Marcador de posición de imagen 8" descr="Una persona con una laptop en una mesa&#10;&#10;El contenido generado por IA puede ser incorrecto.">
            <a:extLst>
              <a:ext uri="{FF2B5EF4-FFF2-40B4-BE49-F238E27FC236}">
                <a16:creationId xmlns:a16="http://schemas.microsoft.com/office/drawing/2014/main" id="{437BF862-3C3A-E183-3EB2-5B165AF1310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094088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Crear listas cruzadas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persona natural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s-ES_tradnl" dirty="0"/>
              <a:t>Overview: Mapa de capacidades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CD86584-3813-004E-3696-5BB232753E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791E00-6A81-316C-AA90-C0CA3861559B}"/>
              </a:ext>
            </a:extLst>
          </p:cNvPr>
          <p:cNvSpPr/>
          <p:nvPr/>
        </p:nvSpPr>
        <p:spPr>
          <a:xfrm>
            <a:off x="932068" y="4162565"/>
            <a:ext cx="4102156" cy="6217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656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Copiar oferta horaria de los cursos de un periodo anterior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>
                <a:solidFill>
                  <a:schemeClr val="tx2"/>
                </a:solidFill>
              </a:rPr>
              <a:t>Overview</a:t>
            </a:r>
            <a:r>
              <a:rPr lang="es-ES_tradnl" dirty="0">
                <a:solidFill>
                  <a:schemeClr val="tx2"/>
                </a:solidFill>
              </a:rPr>
              <a:t>: Capacidad operativa </a:t>
            </a:r>
            <a:r>
              <a:rPr lang="es-CO" dirty="0">
                <a:solidFill>
                  <a:schemeClr val="tx2"/>
                </a:solidFill>
              </a:rPr>
              <a:t>Gestión de la Programación Académica </a:t>
            </a: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7" name="Marcador de texto 1">
            <a:extLst>
              <a:ext uri="{FF2B5EF4-FFF2-40B4-BE49-F238E27FC236}">
                <a16:creationId xmlns:a16="http://schemas.microsoft.com/office/drawing/2014/main" id="{CB7A8793-8432-1052-4A39-DA1AAACF655C}"/>
              </a:ext>
            </a:extLst>
          </p:cNvPr>
          <p:cNvSpPr txBox="1">
            <a:spLocks/>
          </p:cNvSpPr>
          <p:nvPr/>
        </p:nvSpPr>
        <p:spPr>
          <a:xfrm>
            <a:off x="1104900" y="1584355"/>
            <a:ext cx="9698935" cy="426719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82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9113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3200" b="1" dirty="0">
                <a:solidFill>
                  <a:srgbClr val="7030A0"/>
                </a:solidFill>
              </a:rPr>
              <a:t> Programación Académica</a:t>
            </a:r>
          </a:p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3200" dirty="0">
                <a:solidFill>
                  <a:srgbClr val="7030A0"/>
                </a:solidFill>
              </a:rPr>
              <a:t> Gestión de cursos(planta Física)</a:t>
            </a:r>
          </a:p>
          <a:p>
            <a:pPr marL="0" indent="0">
              <a:buClr>
                <a:srgbClr val="0CB4B4"/>
              </a:buClr>
              <a:buFont typeface="Arial" panose="020B0604020202020204" pitchFamily="34" charset="0"/>
              <a:buNone/>
            </a:pP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58400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0845" y="1057296"/>
            <a:ext cx="10136257" cy="54125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Clr>
                <a:srgbClr val="0CB4B4"/>
              </a:buClr>
              <a:buNone/>
            </a:pPr>
            <a:r>
              <a:rPr lang="es-CO" sz="1800" dirty="0"/>
              <a:t>Comprende el conjunto de actividades que realiza la institución para organizar y administrar la programación académica de cada periodo. Incluye la </a:t>
            </a:r>
            <a:r>
              <a:rPr lang="es-CO" sz="1800" b="1" dirty="0"/>
              <a:t>asignación de espacios físicos</a:t>
            </a:r>
            <a:r>
              <a:rPr lang="es-CO" sz="1800" dirty="0"/>
              <a:t> destinados a clases, laboratorios, conferencias, seminarios, exámenes y otras actividades académicas, así como la coordinación operativa necesaria para garantizar que dichos recursos estén disponibles y correctamente programados:</a:t>
            </a:r>
          </a:p>
          <a:p>
            <a:pPr algn="just"/>
            <a:r>
              <a:rPr lang="es-CO" sz="1800" b="1" dirty="0"/>
              <a:t>Características básicas</a:t>
            </a:r>
            <a:r>
              <a:rPr lang="es-CO" sz="1800" dirty="0"/>
              <a:t>: Determinar campus de impartición, fechas de inicio y finalización, modalidad (presencial, virtual, híbrida) y demás atributos relevantes.</a:t>
            </a:r>
          </a:p>
          <a:p>
            <a:pPr algn="just"/>
            <a:r>
              <a:rPr lang="es-CO" sz="1800" b="1" dirty="0"/>
              <a:t>Cupos disponibles</a:t>
            </a:r>
            <a:r>
              <a:rPr lang="es-CO" sz="1800" dirty="0"/>
              <a:t>: Establecer el número máximo de estudiantes que podrán inscribirse en cada sección.</a:t>
            </a:r>
          </a:p>
          <a:p>
            <a:pPr algn="just"/>
            <a:r>
              <a:rPr lang="es-CO" sz="1800" b="1" dirty="0"/>
              <a:t>Días y horarios</a:t>
            </a:r>
            <a:r>
              <a:rPr lang="es-CO" sz="1800" dirty="0"/>
              <a:t>: Configurar el calendario semanal de clases, especificando franjas horarias y frecuencia.</a:t>
            </a:r>
          </a:p>
          <a:p>
            <a:pPr algn="just"/>
            <a:r>
              <a:rPr lang="es-CO" sz="1800" b="1" dirty="0"/>
              <a:t>Prerrequisitos</a:t>
            </a:r>
            <a:r>
              <a:rPr lang="es-CO" sz="1800" dirty="0"/>
              <a:t>: Señalar los cursos o conocimientos previos necesarios para la inscripción.</a:t>
            </a:r>
          </a:p>
          <a:p>
            <a:pPr algn="just"/>
            <a:r>
              <a:rPr lang="es-CO" sz="1800" b="1" dirty="0"/>
              <a:t>Correquisitos</a:t>
            </a:r>
            <a:r>
              <a:rPr lang="es-CO" sz="1800" dirty="0"/>
              <a:t>: Indicar los cursos que deben ser inscritos simultáneamente.</a:t>
            </a:r>
          </a:p>
          <a:p>
            <a:pPr algn="just"/>
            <a:r>
              <a:rPr lang="es-CO" sz="1800" b="1" dirty="0"/>
              <a:t>Restricciones de inscripción</a:t>
            </a:r>
            <a:r>
              <a:rPr lang="es-CO" sz="1800" dirty="0"/>
              <a:t>: Establecer limitaciones específicas a nivel de sección (por ejemplo, programas académicos autorizados, niveles de avance).</a:t>
            </a:r>
          </a:p>
          <a:p>
            <a:pPr algn="just"/>
            <a:r>
              <a:rPr lang="es-CO" sz="1800" b="1" dirty="0"/>
              <a:t>Secciones ligadas y listas cruzadas</a:t>
            </a:r>
            <a:r>
              <a:rPr lang="es-CO" sz="1800" dirty="0"/>
              <a:t>: Configurar vínculos entre secciones que comparten contenidos o que se ofertan de manera conjunta.</a:t>
            </a:r>
          </a:p>
          <a:p>
            <a:pPr marL="0" indent="0" algn="just">
              <a:buClr>
                <a:srgbClr val="0CB4B4"/>
              </a:buClr>
              <a:buNone/>
            </a:pPr>
            <a:endParaRPr lang="es-ES" sz="1800" dirty="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Copiar oferta horaria de los cursos de un periodo anterior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845" y="32264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CO" dirty="0">
                <a:solidFill>
                  <a:schemeClr val="tx2"/>
                </a:solidFill>
              </a:rPr>
              <a:t>Gestión de la programación Académica</a:t>
            </a:r>
            <a:endParaRPr lang="es-C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75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pic>
        <p:nvPicPr>
          <p:cNvPr id="8" name="Imagen 7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171DEDFE-F050-E179-A066-C9F72BC68D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57" t="34650" b="2103"/>
          <a:stretch/>
        </p:blipFill>
        <p:spPr>
          <a:xfrm>
            <a:off x="4765039" y="1415833"/>
            <a:ext cx="4750021" cy="504971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8921175" y="2785533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 err="1">
                <a:solidFill>
                  <a:schemeClr val="tx2"/>
                </a:solidFill>
              </a:rPr>
              <a:t>Overview</a:t>
            </a:r>
            <a:r>
              <a:rPr lang="es-ES_tradnl" dirty="0">
                <a:solidFill>
                  <a:schemeClr val="tx2"/>
                </a:solidFill>
              </a:rPr>
              <a:t>: Proceso </a:t>
            </a:r>
            <a:r>
              <a:rPr lang="es-419" dirty="0">
                <a:solidFill>
                  <a:schemeClr val="tx2"/>
                </a:solidFill>
              </a:rPr>
              <a:t>gestionar la programación académica</a:t>
            </a:r>
            <a:endParaRPr lang="es-C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419" dirty="0">
                <a:solidFill>
                  <a:schemeClr val="tx2"/>
                </a:solidFill>
              </a:rPr>
              <a:t>Crear ligas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D7E387C-30D4-1A66-A349-AA234848AE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2893" r="4167" b="2122"/>
          <a:stretch/>
        </p:blipFill>
        <p:spPr bwMode="auto">
          <a:xfrm>
            <a:off x="551156" y="2408178"/>
            <a:ext cx="10518769" cy="24153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EA49-D883-181B-F061-447D12B7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CA407C0-FF6F-2E21-C015-25BB7D1CD4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0843" y="1377673"/>
            <a:ext cx="10136257" cy="44969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CO" sz="2000" dirty="0"/>
              <a:t>En </a:t>
            </a:r>
            <a:r>
              <a:rPr lang="es-CO" sz="2000" b="1" dirty="0"/>
              <a:t>Ellucian Student</a:t>
            </a:r>
            <a:r>
              <a:rPr lang="es-CO" sz="2000" dirty="0"/>
              <a:t>, cada curso se programa mediante un </a:t>
            </a:r>
            <a:r>
              <a:rPr lang="es-CO" sz="2000" b="1" dirty="0"/>
              <a:t>NRC (Número de Referencia de Curso)</a:t>
            </a:r>
            <a:r>
              <a:rPr lang="es-CO" sz="2000" dirty="0"/>
              <a:t>, el cual se asocia con los </a:t>
            </a:r>
            <a:r>
              <a:rPr lang="es-CO" sz="2000" b="1" dirty="0"/>
              <a:t>tipos de horario</a:t>
            </a:r>
            <a:r>
              <a:rPr lang="es-CO" sz="2000" dirty="0"/>
              <a:t> definidos previamente en </a:t>
            </a:r>
            <a:r>
              <a:rPr lang="es-CO" sz="2000" b="1" dirty="0"/>
              <a:t>SCACRSE</a:t>
            </a:r>
            <a:r>
              <a:rPr lang="es-CO" sz="2000" dirty="0"/>
              <a:t>. Cuando la institución requiere que todos los estudiantes inscriban </a:t>
            </a:r>
            <a:r>
              <a:rPr lang="es-CO" sz="2000" b="1" dirty="0"/>
              <a:t>todos los tipos de horario</a:t>
            </a:r>
            <a:r>
              <a:rPr lang="es-CO" sz="2000" dirty="0"/>
              <a:t> asociados a un curso (por ejemplo, teoría, laboratorio, práctica), es necesario </a:t>
            </a:r>
            <a:r>
              <a:rPr lang="es-CO" sz="2000" b="1" dirty="0"/>
              <a:t>vincular los NRC</a:t>
            </a:r>
            <a:r>
              <a:rPr lang="es-CO" sz="2000" dirty="0"/>
              <a:t> mediante las </a:t>
            </a:r>
            <a:r>
              <a:rPr lang="es-CO" sz="2000" b="1" dirty="0"/>
              <a:t>ligas</a:t>
            </a:r>
            <a:r>
              <a:rPr lang="es-CO" sz="2000" dirty="0"/>
              <a:t>, que establecen la relación entre las diferentes actividades del mismo curso.</a:t>
            </a:r>
          </a:p>
          <a:p>
            <a:r>
              <a:rPr lang="es-CO" sz="2000" b="1" dirty="0"/>
              <a:t>Liga principal</a:t>
            </a:r>
            <a:r>
              <a:rPr lang="es-CO" sz="2000" dirty="0"/>
              <a:t> — conecta el NRC correspondiente al </a:t>
            </a:r>
            <a:r>
              <a:rPr lang="es-CO" sz="2000" b="1" dirty="0"/>
              <a:t>tipo de horario principal</a:t>
            </a:r>
            <a:r>
              <a:rPr lang="es-CO" sz="2000" dirty="0"/>
              <a:t>, generalmente la clase teórica o actividad base del curso.</a:t>
            </a:r>
          </a:p>
          <a:p>
            <a:r>
              <a:rPr lang="es-CO" sz="2000" b="1" dirty="0"/>
              <a:t>Liga secundaria</a:t>
            </a:r>
            <a:r>
              <a:rPr lang="es-CO" sz="2000" dirty="0"/>
              <a:t> — vincula los NRC de los </a:t>
            </a:r>
            <a:r>
              <a:rPr lang="es-CO" sz="2000" b="1" dirty="0"/>
              <a:t>otros tipos de horario</a:t>
            </a:r>
            <a:r>
              <a:rPr lang="es-CO" sz="2000" dirty="0"/>
              <a:t>, como laboratorios, prácticas, talleres, seminarios u otras actividades complementarias.</a:t>
            </a:r>
          </a:p>
          <a:p>
            <a:pPr marL="0" indent="0">
              <a:buNone/>
            </a:pPr>
            <a:r>
              <a:rPr lang="es-CO" sz="2000" dirty="0"/>
              <a:t>La configuración de estas ligas se realiza en la página </a:t>
            </a:r>
            <a:r>
              <a:rPr lang="es-CO" sz="2000" b="1" dirty="0"/>
              <a:t>SSADETL</a:t>
            </a:r>
            <a:r>
              <a:rPr lang="es-CO" sz="2000" dirty="0"/>
              <a:t>, donde se define qué NRC depende de otro, permitiendo que Ellucian Student trate todas las actividades como un conjunto obligatorio durante la inscripción o matrícula del estudiante.</a:t>
            </a:r>
          </a:p>
          <a:p>
            <a:pPr marL="630238" lvl="2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419" sz="2000" dirty="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2068E7-D4A8-3053-8717-ABEA93AAC6A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61AEC72-86FC-1E91-4C3C-F14FC3E8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419" dirty="0">
                <a:solidFill>
                  <a:schemeClr val="tx2"/>
                </a:solidFill>
              </a:rPr>
              <a:t>Crear Ligas</a:t>
            </a:r>
            <a:endParaRPr lang="es-C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20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Premisas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8221-A415-C989-4FCF-047B32CB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B6A48F-70A2-9FF5-B3B1-AA2335B570A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B9BC5A3-8DE4-1ECA-D7D2-9A25782F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69" y="372717"/>
            <a:ext cx="10271883" cy="887912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Premisa: </a:t>
            </a:r>
            <a:r>
              <a:rPr lang="es-ES_tradnl" sz="2400" dirty="0"/>
              <a:t>El curso o asignatura tiene más de un tipo de Horario SCACRSE</a:t>
            </a:r>
            <a:br>
              <a:rPr lang="es-ES_tradnl" sz="2400" dirty="0"/>
            </a:br>
            <a:r>
              <a:rPr lang="es-ES_tradnl" sz="2400" dirty="0"/>
              <a:t>Las ligas unen dos o más </a:t>
            </a:r>
            <a:r>
              <a:rPr lang="es-ES_tradnl" sz="2400" dirty="0" err="1"/>
              <a:t>NRCs</a:t>
            </a:r>
            <a:r>
              <a:rPr lang="es-ES_tradnl" sz="2400" dirty="0"/>
              <a:t>  de una misma asignatura</a:t>
            </a:r>
            <a:br>
              <a:rPr lang="es-ES_tradnl" dirty="0">
                <a:solidFill>
                  <a:schemeClr val="tx2"/>
                </a:solidFill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A961C4E-A4F8-3774-8D00-2C7D42E68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58" y="4848717"/>
            <a:ext cx="9755104" cy="132348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E88B676-A54E-7B82-0DDF-C355CB4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69" y="1679389"/>
            <a:ext cx="11342703" cy="2422077"/>
          </a:xfrm>
          <a:prstGeom prst="rect">
            <a:avLst/>
          </a:prstGeom>
        </p:spPr>
      </p:pic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1CF19D30-CEF6-8531-2628-FDFFFFE42EC9}"/>
              </a:ext>
            </a:extLst>
          </p:cNvPr>
          <p:cNvSpPr/>
          <p:nvPr/>
        </p:nvSpPr>
        <p:spPr>
          <a:xfrm>
            <a:off x="3228924" y="3683522"/>
            <a:ext cx="5416772" cy="74643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/>
              <a:t>Se requiere unir el NRC de la teoría y la práctica</a:t>
            </a:r>
          </a:p>
        </p:txBody>
      </p:sp>
    </p:spTree>
    <p:extLst>
      <p:ext uri="{BB962C8B-B14F-4D97-AF65-F5344CB8AC3E}">
        <p14:creationId xmlns:p14="http://schemas.microsoft.com/office/powerpoint/2010/main" val="2084471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50D75-A3DF-B56C-5C0E-4E5E34EF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0673E0-CCD0-A744-4E0F-E4765CDF5B4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83039B7-B2B9-9E8D-2C30-E80E25EE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69" y="372717"/>
            <a:ext cx="10271883" cy="887912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Premisa: </a:t>
            </a:r>
            <a:br>
              <a:rPr lang="es-ES_tradnl" dirty="0">
                <a:solidFill>
                  <a:schemeClr val="tx2"/>
                </a:solidFill>
              </a:rPr>
            </a:br>
            <a:br>
              <a:rPr lang="es-ES_tradnl" dirty="0">
                <a:solidFill>
                  <a:schemeClr val="tx2"/>
                </a:solidFill>
              </a:rPr>
            </a:br>
            <a:r>
              <a:rPr lang="es-ES_tradnl" sz="2400" dirty="0">
                <a:solidFill>
                  <a:schemeClr val="tx2"/>
                </a:solidFill>
              </a:rPr>
              <a:t>Tipo de horario principal: Teoría </a:t>
            </a:r>
            <a:br>
              <a:rPr lang="es-ES_tradnl" sz="2400" dirty="0">
                <a:solidFill>
                  <a:schemeClr val="tx2"/>
                </a:solidFill>
              </a:rPr>
            </a:br>
            <a:r>
              <a:rPr lang="es-ES_tradnl" sz="2400" dirty="0">
                <a:solidFill>
                  <a:schemeClr val="tx2"/>
                </a:solidFill>
              </a:rPr>
              <a:t>   - </a:t>
            </a:r>
            <a:r>
              <a:rPr lang="es-CL" sz="2400" b="0" dirty="0">
                <a:solidFill>
                  <a:schemeClr val="tx2"/>
                </a:solidFill>
              </a:rPr>
              <a:t>L</a:t>
            </a:r>
            <a:r>
              <a:rPr lang="es-CL" sz="2400" b="0" dirty="0"/>
              <a:t>os NRC deben tener las Horas créditos totales que corresponden (ejemplo: 4   créditos según definición de SCACRSE)</a:t>
            </a:r>
            <a:br>
              <a:rPr lang="es-CL" sz="2400" b="0" dirty="0"/>
            </a:br>
            <a:r>
              <a:rPr lang="es-CL" sz="2400" b="0" dirty="0"/>
              <a:t>  - Debe estar marcado el </a:t>
            </a:r>
            <a:r>
              <a:rPr lang="es-CL" sz="2400" b="0" dirty="0" err="1"/>
              <a:t>flag</a:t>
            </a:r>
            <a:r>
              <a:rPr lang="es-CL" sz="2400" b="0" dirty="0"/>
              <a:t> de Calificable</a:t>
            </a:r>
            <a:br>
              <a:rPr lang="es-CL" sz="2400" b="0" dirty="0"/>
            </a:br>
            <a:r>
              <a:rPr lang="es-CL" sz="2400" b="0" dirty="0"/>
              <a:t>  - No debe estar marcado el </a:t>
            </a:r>
            <a:r>
              <a:rPr lang="es-CL" sz="2400" b="0" dirty="0" err="1"/>
              <a:t>falg</a:t>
            </a:r>
            <a:r>
              <a:rPr lang="es-CL" sz="2400" b="0" dirty="0"/>
              <a:t> de </a:t>
            </a:r>
            <a:r>
              <a:rPr lang="es-CO" sz="2400" b="0" dirty="0"/>
              <a:t>Dispensa de colegiatura y cuotas para que se incluya los créditos en el total de créditos a cobrar.</a:t>
            </a:r>
            <a:br>
              <a:rPr lang="es-CL" sz="2400" b="0" dirty="0"/>
            </a:br>
            <a:br>
              <a:rPr lang="es-CL" sz="2400" b="0" dirty="0"/>
            </a:br>
            <a:r>
              <a:rPr lang="es-ES_tradnl" sz="2400" dirty="0">
                <a:solidFill>
                  <a:schemeClr val="tx2"/>
                </a:solidFill>
              </a:rPr>
              <a:t>Tipo de horario diferente al principal: Laboratorio</a:t>
            </a:r>
            <a:br>
              <a:rPr lang="es-CL" sz="2400" b="0" dirty="0"/>
            </a:br>
            <a:r>
              <a:rPr lang="es-CL" sz="2400" b="0" dirty="0"/>
              <a:t>   - </a:t>
            </a:r>
            <a:r>
              <a:rPr lang="es-CL" sz="2400" b="0" dirty="0">
                <a:solidFill>
                  <a:schemeClr val="tx2"/>
                </a:solidFill>
              </a:rPr>
              <a:t>L</a:t>
            </a:r>
            <a:r>
              <a:rPr lang="es-CL" sz="2400" b="0" dirty="0"/>
              <a:t>os NRC en el campo de Horas crédito deberían estar con cero (0) para que no se sumen en el total de créditos inscritos. </a:t>
            </a:r>
            <a:br>
              <a:rPr lang="es-CL" sz="2400" b="0" dirty="0"/>
            </a:br>
            <a:r>
              <a:rPr lang="es-CL" sz="2400" b="0" dirty="0"/>
              <a:t>   - No debe estar marcado el </a:t>
            </a:r>
            <a:r>
              <a:rPr lang="es-CL" sz="2400" b="0" dirty="0" err="1"/>
              <a:t>flag</a:t>
            </a:r>
            <a:r>
              <a:rPr lang="es-CL" sz="2400" b="0" dirty="0"/>
              <a:t> de Calificable</a:t>
            </a:r>
            <a:br>
              <a:rPr lang="es-CL" sz="2400" b="0" dirty="0"/>
            </a:br>
            <a:r>
              <a:rPr lang="es-CL" sz="2400" b="0" dirty="0"/>
              <a:t>   - Debe estar marcado el </a:t>
            </a:r>
            <a:r>
              <a:rPr lang="es-CL" sz="2400" b="0" dirty="0" err="1"/>
              <a:t>falg</a:t>
            </a:r>
            <a:r>
              <a:rPr lang="es-CL" sz="2400" b="0" dirty="0"/>
              <a:t> de </a:t>
            </a:r>
            <a:r>
              <a:rPr lang="es-CO" sz="2400" b="0" dirty="0"/>
              <a:t>Dispensa de colegiatura y cuotas para que NO se incluya los créditos en el total de créditos a cobrar.</a:t>
            </a:r>
            <a:br>
              <a:rPr lang="es-CL" sz="2400" b="0" dirty="0"/>
            </a:br>
            <a:br>
              <a:rPr lang="es-CL" sz="2400" b="0" dirty="0"/>
            </a:br>
            <a:br>
              <a:rPr lang="es-CL" sz="2400" b="0" dirty="0"/>
            </a:br>
            <a:br>
              <a:rPr lang="es-CL" sz="2400" b="0" dirty="0"/>
            </a:br>
            <a:br>
              <a:rPr lang="es-ES_tradnl" dirty="0">
                <a:solidFill>
                  <a:schemeClr val="tx2"/>
                </a:solidFill>
              </a:rPr>
            </a:br>
            <a:br>
              <a:rPr lang="es-CL" b="1" dirty="0">
                <a:effectLst/>
              </a:rPr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8029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Crear Ligas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70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8736-2162-CC84-DB77-E7B6B1B5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95DD384-DADB-B06E-9030-E80BFA45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3" y="1178719"/>
            <a:ext cx="11389663" cy="496472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705FBB-18C4-6ABF-D628-26BE9641F6F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0FD697B-59C9-1454-F86B-AD14B3AB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" y="118724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Identificar la liga </a:t>
            </a:r>
            <a:br>
              <a:rPr lang="es-ES_tradnl" dirty="0">
                <a:solidFill>
                  <a:schemeClr val="tx2"/>
                </a:solidFill>
              </a:rPr>
            </a:br>
            <a:r>
              <a:rPr lang="es-ES_tradnl" dirty="0">
                <a:solidFill>
                  <a:schemeClr val="tx2"/>
                </a:solidFill>
              </a:rPr>
              <a:t>(SSASECT)</a:t>
            </a: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F1B7F0E9-B60D-7525-F4CF-1570E0659C77}"/>
              </a:ext>
            </a:extLst>
          </p:cNvPr>
          <p:cNvSpPr/>
          <p:nvPr/>
        </p:nvSpPr>
        <p:spPr>
          <a:xfrm>
            <a:off x="2759818" y="5124126"/>
            <a:ext cx="8186022" cy="158211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noProof="0" dirty="0"/>
              <a:t>En la página SSASECT se </a:t>
            </a:r>
            <a:r>
              <a:rPr lang="es-419" sz="1400" dirty="0"/>
              <a:t>le asigna un nombre a la liga:</a:t>
            </a:r>
            <a:endParaRPr lang="es-419" sz="1400" noProof="0" dirty="0"/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Ingrese o seleccione el período </a:t>
            </a:r>
            <a:r>
              <a:rPr lang="es-ES_tradnl" sz="1400" dirty="0"/>
              <a:t>académico y el NRC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400" noProof="0" dirty="0"/>
              <a:t>En la pestaña de Información de curso adiciona el nombre de la liga (Campo de 2 caracteres)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400" dirty="0"/>
              <a:t>Dejar el nombre de la liga que haga referencia al tipo de horario. Liga TE del tipo de horario TEO - Teoría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400" dirty="0"/>
              <a:t>Guarde la información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611E53B5-990A-4A0F-902E-1DD2228BD8CD}"/>
              </a:ext>
            </a:extLst>
          </p:cNvPr>
          <p:cNvSpPr/>
          <p:nvPr/>
        </p:nvSpPr>
        <p:spPr>
          <a:xfrm>
            <a:off x="195403" y="4391488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6" name="Rectángulo redondeado 23">
            <a:extLst>
              <a:ext uri="{FF2B5EF4-FFF2-40B4-BE49-F238E27FC236}">
                <a16:creationId xmlns:a16="http://schemas.microsoft.com/office/drawing/2014/main" id="{ED43373B-92E4-E920-5748-A62434DF40F3}"/>
              </a:ext>
            </a:extLst>
          </p:cNvPr>
          <p:cNvSpPr/>
          <p:nvPr/>
        </p:nvSpPr>
        <p:spPr>
          <a:xfrm>
            <a:off x="9048367" y="1073531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EB2F957-4BBD-3F97-6DB7-2F01250F51FE}"/>
              </a:ext>
            </a:extLst>
          </p:cNvPr>
          <p:cNvSpPr/>
          <p:nvPr/>
        </p:nvSpPr>
        <p:spPr>
          <a:xfrm>
            <a:off x="7967499" y="151758"/>
            <a:ext cx="2978340" cy="933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1AD1762-3A6F-E9AD-28D4-18136031DE63}"/>
              </a:ext>
            </a:extLst>
          </p:cNvPr>
          <p:cNvSpPr/>
          <p:nvPr/>
        </p:nvSpPr>
        <p:spPr>
          <a:xfrm>
            <a:off x="10927548" y="5915183"/>
            <a:ext cx="364026" cy="17767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FE430DA9-F525-367C-FBFA-EC96CDA9FB6E}"/>
              </a:ext>
            </a:extLst>
          </p:cNvPr>
          <p:cNvSpPr/>
          <p:nvPr/>
        </p:nvSpPr>
        <p:spPr>
          <a:xfrm>
            <a:off x="518028" y="1789783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F29666B-4B4D-9ECA-2B25-AEC338925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70" y="118642"/>
            <a:ext cx="6946900" cy="93345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FC35AC8-7F0E-19CD-C3E4-9CAEA27EFB1D}"/>
              </a:ext>
            </a:extLst>
          </p:cNvPr>
          <p:cNvSpPr/>
          <p:nvPr/>
        </p:nvSpPr>
        <p:spPr>
          <a:xfrm>
            <a:off x="4358627" y="2422485"/>
            <a:ext cx="1377939" cy="1588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5BCFC3E-1865-9683-B264-E972A2E52980}"/>
              </a:ext>
            </a:extLst>
          </p:cNvPr>
          <p:cNvSpPr/>
          <p:nvPr/>
        </p:nvSpPr>
        <p:spPr>
          <a:xfrm>
            <a:off x="456525" y="4304582"/>
            <a:ext cx="1363649" cy="23821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2447CBB-34B7-779D-2BC9-BDE95FFE4C71}"/>
              </a:ext>
            </a:extLst>
          </p:cNvPr>
          <p:cNvSpPr/>
          <p:nvPr/>
        </p:nvSpPr>
        <p:spPr>
          <a:xfrm>
            <a:off x="779150" y="1789783"/>
            <a:ext cx="1286365" cy="1310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C53FEBC-A2A1-D99E-912F-BA4D52236B0C}"/>
              </a:ext>
            </a:extLst>
          </p:cNvPr>
          <p:cNvCxnSpPr>
            <a:cxnSpLocks/>
            <a:stCxn id="23" idx="3"/>
            <a:endCxn id="18" idx="2"/>
          </p:cNvCxnSpPr>
          <p:nvPr/>
        </p:nvCxnSpPr>
        <p:spPr>
          <a:xfrm flipV="1">
            <a:off x="1820174" y="2581306"/>
            <a:ext cx="3227423" cy="1842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85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6A4D-6E74-581B-0938-86606813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85F2186F-9BF3-320D-7B0E-9A7DD1BF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44" y="1413451"/>
            <a:ext cx="10440837" cy="475874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E4E100-64EC-361F-594E-77E8765B0C1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8B10F72-867A-F8FD-1D15-B842D2017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" y="118724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Identificar la liga </a:t>
            </a:r>
            <a:br>
              <a:rPr lang="es-ES_tradnl" dirty="0">
                <a:solidFill>
                  <a:schemeClr val="tx2"/>
                </a:solidFill>
              </a:rPr>
            </a:br>
            <a:r>
              <a:rPr lang="es-ES_tradnl" dirty="0">
                <a:solidFill>
                  <a:schemeClr val="tx2"/>
                </a:solidFill>
              </a:rPr>
              <a:t>(SSASECT)</a:t>
            </a: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BF4FB3A8-D6A8-95D8-A508-B0A6C8FE0081}"/>
              </a:ext>
            </a:extLst>
          </p:cNvPr>
          <p:cNvSpPr/>
          <p:nvPr/>
        </p:nvSpPr>
        <p:spPr>
          <a:xfrm>
            <a:off x="2759818" y="5124126"/>
            <a:ext cx="8186022" cy="158211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noProof="0" dirty="0"/>
              <a:t>En la página SSASECT se </a:t>
            </a:r>
            <a:r>
              <a:rPr lang="es-419" sz="1400" dirty="0"/>
              <a:t>le asigna un nombre a la liga:</a:t>
            </a:r>
            <a:endParaRPr lang="es-419" sz="1400" noProof="0" dirty="0"/>
          </a:p>
          <a:p>
            <a:pPr marL="342900" indent="-342900">
              <a:buFont typeface="+mj-lt"/>
              <a:buAutoNum type="arabicPeriod"/>
            </a:pPr>
            <a:r>
              <a:rPr lang="es-419" sz="1400" noProof="0" dirty="0"/>
              <a:t>Ingrese o seleccione el período </a:t>
            </a:r>
            <a:r>
              <a:rPr lang="es-ES_tradnl" sz="1400" dirty="0"/>
              <a:t>académico y el NRC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400" noProof="0" dirty="0"/>
              <a:t>En la pestaña de Información de curso adiciona el nombre de la liga (Campo de 2 caracteres)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400" dirty="0"/>
              <a:t>Dejar el nombre de la liga que haga referencia al tipo de horario. Liga PR del tipo de horario PRA - Práctica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400" dirty="0"/>
              <a:t>Guarde la información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03B75D12-DA29-DB00-F04F-A4716821EF64}"/>
              </a:ext>
            </a:extLst>
          </p:cNvPr>
          <p:cNvSpPr/>
          <p:nvPr/>
        </p:nvSpPr>
        <p:spPr>
          <a:xfrm>
            <a:off x="325964" y="5606056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6" name="Rectángulo redondeado 23">
            <a:extLst>
              <a:ext uri="{FF2B5EF4-FFF2-40B4-BE49-F238E27FC236}">
                <a16:creationId xmlns:a16="http://schemas.microsoft.com/office/drawing/2014/main" id="{DCD5F3F1-5949-3B73-DDB5-5A234256D27E}"/>
              </a:ext>
            </a:extLst>
          </p:cNvPr>
          <p:cNvSpPr/>
          <p:nvPr/>
        </p:nvSpPr>
        <p:spPr>
          <a:xfrm>
            <a:off x="9048367" y="1073531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29989C0-2C25-E97B-CFE0-6E41107F2691}"/>
              </a:ext>
            </a:extLst>
          </p:cNvPr>
          <p:cNvSpPr/>
          <p:nvPr/>
        </p:nvSpPr>
        <p:spPr>
          <a:xfrm>
            <a:off x="7967499" y="151758"/>
            <a:ext cx="2978340" cy="933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5D0A13C-9121-A867-C6B4-3CF5CC49243B}"/>
              </a:ext>
            </a:extLst>
          </p:cNvPr>
          <p:cNvSpPr/>
          <p:nvPr/>
        </p:nvSpPr>
        <p:spPr>
          <a:xfrm>
            <a:off x="10927548" y="5915183"/>
            <a:ext cx="364026" cy="17767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B9E5DA6A-6102-E676-03F4-250AFF1DCC08}"/>
              </a:ext>
            </a:extLst>
          </p:cNvPr>
          <p:cNvSpPr/>
          <p:nvPr/>
        </p:nvSpPr>
        <p:spPr>
          <a:xfrm>
            <a:off x="518028" y="1789783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1025477-4F3B-613A-7F07-3E584785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70" y="118642"/>
            <a:ext cx="6946900" cy="93345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0D829983-4DE3-F8F9-C098-02325C0C5DC9}"/>
              </a:ext>
            </a:extLst>
          </p:cNvPr>
          <p:cNvSpPr/>
          <p:nvPr/>
        </p:nvSpPr>
        <p:spPr>
          <a:xfrm>
            <a:off x="4186099" y="2242867"/>
            <a:ext cx="1377939" cy="1588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2578AF7-CEE3-833F-83C9-51D72FADE941}"/>
              </a:ext>
            </a:extLst>
          </p:cNvPr>
          <p:cNvSpPr/>
          <p:nvPr/>
        </p:nvSpPr>
        <p:spPr>
          <a:xfrm>
            <a:off x="687577" y="5612920"/>
            <a:ext cx="1377939" cy="1588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A97B16A-B83A-5A46-553B-E19074648B3F}"/>
              </a:ext>
            </a:extLst>
          </p:cNvPr>
          <p:cNvSpPr/>
          <p:nvPr/>
        </p:nvSpPr>
        <p:spPr>
          <a:xfrm>
            <a:off x="779151" y="1789783"/>
            <a:ext cx="1015144" cy="12763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0F655F0-81C4-0328-ED3C-940D4190FDAC}"/>
              </a:ext>
            </a:extLst>
          </p:cNvPr>
          <p:cNvCxnSpPr>
            <a:endCxn id="18" idx="2"/>
          </p:cNvCxnSpPr>
          <p:nvPr/>
        </p:nvCxnSpPr>
        <p:spPr>
          <a:xfrm flipV="1">
            <a:off x="2065516" y="2401688"/>
            <a:ext cx="2809553" cy="3211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540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E2D1-04A5-7B07-D9AE-955492A1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7615FD1-049D-D681-334F-24C9ED550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41" y="1866041"/>
            <a:ext cx="12192000" cy="225024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6DB883-0D99-0B09-EC6C-1BCDB5A99FB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9F8E492-456A-29B1-B5D3-F5C16A2D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" y="118724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Univer las ligas - SSADETL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54DA8ECE-E64D-D955-3616-AA97F5EDB111}"/>
              </a:ext>
            </a:extLst>
          </p:cNvPr>
          <p:cNvSpPr/>
          <p:nvPr/>
        </p:nvSpPr>
        <p:spPr>
          <a:xfrm>
            <a:off x="2475147" y="4154194"/>
            <a:ext cx="8186022" cy="158211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noProof="0" dirty="0"/>
              <a:t>En la página SSADETL se </a:t>
            </a:r>
            <a:r>
              <a:rPr lang="es-419" sz="1400" dirty="0"/>
              <a:t>le asigna la liga que se va a validar que tenga el estudiante al momento de inscribir el NRC de la teoría, en este caso 10023</a:t>
            </a:r>
            <a:endParaRPr lang="es-419" sz="1400" noProof="0" dirty="0"/>
          </a:p>
          <a:p>
            <a:pPr marL="342900" indent="-342900">
              <a:buAutoNum type="arabicPeriod" startAt="6"/>
            </a:pPr>
            <a:r>
              <a:rPr lang="es-419" sz="1400" noProof="0" dirty="0"/>
              <a:t>Ingrese o seleccione el período </a:t>
            </a:r>
            <a:r>
              <a:rPr lang="es-ES_tradnl" sz="1400" dirty="0"/>
              <a:t>académico y el NRC</a:t>
            </a:r>
          </a:p>
          <a:p>
            <a:pPr marL="342900" indent="-342900">
              <a:buAutoNum type="arabicPeriod" startAt="6"/>
            </a:pPr>
            <a:r>
              <a:rPr lang="es-ES_tradnl" sz="1400" noProof="0" dirty="0"/>
              <a:t>En la pestaña de Correquisitos y ligas de sección adiciona el nombre de la liga del otro u otros tipos de horario</a:t>
            </a:r>
            <a:endParaRPr lang="es-ES_tradnl" sz="1400" dirty="0"/>
          </a:p>
          <a:p>
            <a:pPr marL="342900" indent="-342900">
              <a:buAutoNum type="arabicPeriod" startAt="6"/>
            </a:pPr>
            <a:r>
              <a:rPr lang="es-ES_tradnl" sz="1400" dirty="0"/>
              <a:t>Guarde la información</a:t>
            </a:r>
          </a:p>
          <a:p>
            <a:pPr marL="342900" indent="-342900">
              <a:buAutoNum type="arabicPeriod" startAt="6"/>
            </a:pPr>
            <a:r>
              <a:rPr lang="es-ES_tradnl" sz="1400" noProof="0" dirty="0"/>
              <a:t>Repita los pasos con el tipo de horario </a:t>
            </a:r>
            <a:r>
              <a:rPr lang="es-ES_tradnl" sz="1400" dirty="0"/>
              <a:t>de Práctica</a:t>
            </a:r>
            <a:endParaRPr lang="es-419" sz="1400" noProof="0" dirty="0"/>
          </a:p>
        </p:txBody>
      </p:sp>
      <p:sp>
        <p:nvSpPr>
          <p:cNvPr id="16" name="Rectángulo redondeado 23">
            <a:extLst>
              <a:ext uri="{FF2B5EF4-FFF2-40B4-BE49-F238E27FC236}">
                <a16:creationId xmlns:a16="http://schemas.microsoft.com/office/drawing/2014/main" id="{39685A4A-D2AF-037A-9BC6-96EEF3919FC6}"/>
              </a:ext>
            </a:extLst>
          </p:cNvPr>
          <p:cNvSpPr/>
          <p:nvPr/>
        </p:nvSpPr>
        <p:spPr>
          <a:xfrm>
            <a:off x="203867" y="224803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6</a:t>
            </a:r>
            <a:endParaRPr lang="es-419" sz="1100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7E03B4E-CFD7-70E0-D372-90286839199F}"/>
              </a:ext>
            </a:extLst>
          </p:cNvPr>
          <p:cNvSpPr/>
          <p:nvPr/>
        </p:nvSpPr>
        <p:spPr>
          <a:xfrm>
            <a:off x="11050438" y="127538"/>
            <a:ext cx="895736" cy="933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304E3105-3466-3F66-AAA2-BCC567F3D8DE}"/>
              </a:ext>
            </a:extLst>
          </p:cNvPr>
          <p:cNvSpPr/>
          <p:nvPr/>
        </p:nvSpPr>
        <p:spPr>
          <a:xfrm>
            <a:off x="242009" y="306536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7</a:t>
            </a:r>
            <a:endParaRPr lang="es-419" sz="1100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76A13A8-30A4-7A26-831E-FCCED5426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70" y="118642"/>
            <a:ext cx="6946900" cy="93345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9889029-4B79-E76B-7F86-80BB78DF33CA}"/>
              </a:ext>
            </a:extLst>
          </p:cNvPr>
          <p:cNvSpPr/>
          <p:nvPr/>
        </p:nvSpPr>
        <p:spPr>
          <a:xfrm>
            <a:off x="539639" y="2989386"/>
            <a:ext cx="1377939" cy="1588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DD1D2C4-22B0-BEE5-A25F-58A00D125834}"/>
              </a:ext>
            </a:extLst>
          </p:cNvPr>
          <p:cNvSpPr/>
          <p:nvPr/>
        </p:nvSpPr>
        <p:spPr>
          <a:xfrm>
            <a:off x="492306" y="2215018"/>
            <a:ext cx="1377939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3040C1-FAC6-609C-8675-DE3C75C34547}"/>
              </a:ext>
            </a:extLst>
          </p:cNvPr>
          <p:cNvSpPr txBox="1"/>
          <p:nvPr/>
        </p:nvSpPr>
        <p:spPr>
          <a:xfrm>
            <a:off x="492307" y="1121691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EL NRC DE LA TEORÍA (10023)  SE UNE A LA LIGA DE LA PRÁCTICA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6555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B208-7700-433D-B165-4289E7A4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A9DB662-EEAE-CF96-F7C0-C3B2AAA2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41" y="1866041"/>
            <a:ext cx="12192000" cy="225024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E2FA8D-0773-7084-F6CF-19C9DCDE8C5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F21042A-7B74-7932-2B8E-0EF6F446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" y="118724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Univer las ligas - SSADETL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25655FC1-9C82-F464-CB8A-4E0884F64CFE}"/>
              </a:ext>
            </a:extLst>
          </p:cNvPr>
          <p:cNvSpPr/>
          <p:nvPr/>
        </p:nvSpPr>
        <p:spPr>
          <a:xfrm>
            <a:off x="2475147" y="4154194"/>
            <a:ext cx="8186022" cy="158211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noProof="0" dirty="0"/>
              <a:t>En la página SSADETL se </a:t>
            </a:r>
            <a:r>
              <a:rPr lang="es-419" sz="1400" dirty="0"/>
              <a:t>le asigna la liga que se va a validar que tenga el estudiante al momento de inscribir el NRC de la teoría, en este caso 10023</a:t>
            </a:r>
            <a:endParaRPr lang="es-419" sz="1400" noProof="0" dirty="0"/>
          </a:p>
          <a:p>
            <a:pPr marL="342900" indent="-342900">
              <a:buAutoNum type="arabicPeriod" startAt="6"/>
            </a:pPr>
            <a:r>
              <a:rPr lang="es-419" sz="1400" noProof="0" dirty="0"/>
              <a:t>Ingrese o seleccione el período </a:t>
            </a:r>
            <a:r>
              <a:rPr lang="es-ES_tradnl" sz="1400" dirty="0"/>
              <a:t>académico y el NRC</a:t>
            </a:r>
          </a:p>
          <a:p>
            <a:pPr marL="342900" indent="-342900">
              <a:buAutoNum type="arabicPeriod" startAt="6"/>
            </a:pPr>
            <a:r>
              <a:rPr lang="es-ES_tradnl" sz="1400" noProof="0" dirty="0"/>
              <a:t>En la pestaña de Correquisitos y ligas de sección adiciona el nombre de la liga del otro u otros tipos de horario</a:t>
            </a:r>
            <a:endParaRPr lang="es-ES_tradnl" sz="1400" dirty="0"/>
          </a:p>
          <a:p>
            <a:pPr marL="342900" indent="-342900">
              <a:buAutoNum type="arabicPeriod" startAt="6"/>
            </a:pPr>
            <a:r>
              <a:rPr lang="es-ES_tradnl" sz="1400" dirty="0"/>
              <a:t>Guarde la información</a:t>
            </a:r>
          </a:p>
        </p:txBody>
      </p:sp>
      <p:sp>
        <p:nvSpPr>
          <p:cNvPr id="16" name="Rectángulo redondeado 23">
            <a:extLst>
              <a:ext uri="{FF2B5EF4-FFF2-40B4-BE49-F238E27FC236}">
                <a16:creationId xmlns:a16="http://schemas.microsoft.com/office/drawing/2014/main" id="{4CA91D2B-1CF7-D11D-2538-CAD721157620}"/>
              </a:ext>
            </a:extLst>
          </p:cNvPr>
          <p:cNvSpPr/>
          <p:nvPr/>
        </p:nvSpPr>
        <p:spPr>
          <a:xfrm>
            <a:off x="203867" y="224803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6</a:t>
            </a:r>
            <a:endParaRPr lang="es-419" sz="1100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5F9D285-CCD4-41E2-F5BA-D47223A2F6C2}"/>
              </a:ext>
            </a:extLst>
          </p:cNvPr>
          <p:cNvSpPr/>
          <p:nvPr/>
        </p:nvSpPr>
        <p:spPr>
          <a:xfrm>
            <a:off x="11050438" y="127538"/>
            <a:ext cx="895736" cy="933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49757BC7-D1BF-8B7A-6DA6-9D10F12A4F49}"/>
              </a:ext>
            </a:extLst>
          </p:cNvPr>
          <p:cNvSpPr/>
          <p:nvPr/>
        </p:nvSpPr>
        <p:spPr>
          <a:xfrm>
            <a:off x="242009" y="306536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7</a:t>
            </a:r>
            <a:endParaRPr lang="es-419" sz="1100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1C3BD49-93EE-4763-6F6C-DAF6843C7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70" y="118642"/>
            <a:ext cx="6946900" cy="93345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1EBD38-3121-44CD-E865-11205A7BF137}"/>
              </a:ext>
            </a:extLst>
          </p:cNvPr>
          <p:cNvSpPr/>
          <p:nvPr/>
        </p:nvSpPr>
        <p:spPr>
          <a:xfrm>
            <a:off x="539639" y="2989386"/>
            <a:ext cx="1377939" cy="1588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097DE8-E04E-59CE-33A4-708A7FD55107}"/>
              </a:ext>
            </a:extLst>
          </p:cNvPr>
          <p:cNvSpPr/>
          <p:nvPr/>
        </p:nvSpPr>
        <p:spPr>
          <a:xfrm>
            <a:off x="492306" y="2215018"/>
            <a:ext cx="1377939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4032F2-2B9B-255B-020F-AEEA63C1C940}"/>
              </a:ext>
            </a:extLst>
          </p:cNvPr>
          <p:cNvSpPr txBox="1"/>
          <p:nvPr/>
        </p:nvSpPr>
        <p:spPr>
          <a:xfrm>
            <a:off x="492307" y="1121691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EL NRC DE LA TEORÍA (10023)  SE UNE A LA LIGA DE LA PRÁCTICA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9635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5DDA3-EF4D-3E98-77E9-774F29FA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723BEFE-5C48-3E97-4D78-03CF83F5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7"/>
          <a:stretch>
            <a:fillRect/>
          </a:stretch>
        </p:blipFill>
        <p:spPr>
          <a:xfrm>
            <a:off x="539639" y="1896183"/>
            <a:ext cx="10202567" cy="434561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195CAC-33FE-7E7E-FE56-114F0D7D1FA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1B5C56F-C021-37BE-B477-EA57AC0B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4" y="118724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Univer las ligas - SSADETL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33B74254-9C3F-8AF7-0BD3-BE3CD94C77E4}"/>
              </a:ext>
            </a:extLst>
          </p:cNvPr>
          <p:cNvSpPr/>
          <p:nvPr/>
        </p:nvSpPr>
        <p:spPr>
          <a:xfrm>
            <a:off x="2475147" y="4154194"/>
            <a:ext cx="8186022" cy="158211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noProof="0" dirty="0"/>
              <a:t>En la página SSADETL se </a:t>
            </a:r>
            <a:r>
              <a:rPr lang="es-419" sz="1400" dirty="0"/>
              <a:t>le asigna la liga que se va a validar que tenga el estudiante al momento de inscribir el NRC de la teoría, en este caso 10023</a:t>
            </a:r>
            <a:endParaRPr lang="es-419" sz="1400" noProof="0" dirty="0"/>
          </a:p>
          <a:p>
            <a:r>
              <a:rPr lang="es-419" sz="1400" noProof="0" dirty="0"/>
              <a:t>9.   Ingrese o seleccione el período </a:t>
            </a:r>
            <a:r>
              <a:rPr lang="es-ES_tradnl" sz="1400" dirty="0"/>
              <a:t>académico y el NRC</a:t>
            </a:r>
          </a:p>
          <a:p>
            <a:r>
              <a:rPr lang="es-ES_tradnl" sz="1400" noProof="0" dirty="0"/>
              <a:t>10. En la pestaña de Correquisitos y ligas de sección adiciona el nombre de la liga del otro u otros tipos de horario</a:t>
            </a:r>
            <a:endParaRPr lang="es-ES_tradnl" sz="1400" dirty="0"/>
          </a:p>
          <a:p>
            <a:r>
              <a:rPr lang="es-ES_tradnl" sz="1400" dirty="0"/>
              <a:t>11. Guarde la información</a:t>
            </a:r>
          </a:p>
        </p:txBody>
      </p:sp>
      <p:sp>
        <p:nvSpPr>
          <p:cNvPr id="16" name="Rectángulo redondeado 23">
            <a:extLst>
              <a:ext uri="{FF2B5EF4-FFF2-40B4-BE49-F238E27FC236}">
                <a16:creationId xmlns:a16="http://schemas.microsoft.com/office/drawing/2014/main" id="{7FC7D27F-B803-7DFA-4B84-1AD4B12BD7FF}"/>
              </a:ext>
            </a:extLst>
          </p:cNvPr>
          <p:cNvSpPr/>
          <p:nvPr/>
        </p:nvSpPr>
        <p:spPr>
          <a:xfrm>
            <a:off x="203867" y="224803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9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7E0D9F6-DEAB-A4D5-A9CC-B8F4585FD378}"/>
              </a:ext>
            </a:extLst>
          </p:cNvPr>
          <p:cNvSpPr/>
          <p:nvPr/>
        </p:nvSpPr>
        <p:spPr>
          <a:xfrm>
            <a:off x="11050438" y="127538"/>
            <a:ext cx="895736" cy="9334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81A1D73E-453E-456E-6F45-66F827C516B7}"/>
              </a:ext>
            </a:extLst>
          </p:cNvPr>
          <p:cNvSpPr/>
          <p:nvPr/>
        </p:nvSpPr>
        <p:spPr>
          <a:xfrm>
            <a:off x="137845" y="2815110"/>
            <a:ext cx="374590" cy="25589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10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FC7D88B-03C2-95B2-0754-02159010D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70" y="118642"/>
            <a:ext cx="6946900" cy="93345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AE2AFA6B-D756-87BB-D3C4-5CDDCED9A3F4}"/>
              </a:ext>
            </a:extLst>
          </p:cNvPr>
          <p:cNvSpPr/>
          <p:nvPr/>
        </p:nvSpPr>
        <p:spPr>
          <a:xfrm>
            <a:off x="503131" y="2788958"/>
            <a:ext cx="1377939" cy="15882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B3366CF-6BE4-779C-E587-A204F551C33D}"/>
              </a:ext>
            </a:extLst>
          </p:cNvPr>
          <p:cNvSpPr/>
          <p:nvPr/>
        </p:nvSpPr>
        <p:spPr>
          <a:xfrm>
            <a:off x="492306" y="2215018"/>
            <a:ext cx="1377939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175181-2717-8B7B-4841-5902DF558490}"/>
              </a:ext>
            </a:extLst>
          </p:cNvPr>
          <p:cNvSpPr txBox="1"/>
          <p:nvPr/>
        </p:nvSpPr>
        <p:spPr>
          <a:xfrm>
            <a:off x="492307" y="1121691"/>
            <a:ext cx="615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EL NRC DE LA TEORÍA (10029)  SE UNE A LA LIGA DE LA TEORÍA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546570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634DB-3B72-2764-51C8-C84A451A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27C9BF67-C118-22D0-9EF6-EC4D3019A55A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C0BD5C6-D9AB-7ED9-75AF-907662E2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dirty="0">
                <a:solidFill>
                  <a:schemeClr val="bg1"/>
                </a:solidFill>
              </a:rPr>
              <a:t>Escenarios</a:t>
            </a:r>
            <a:br>
              <a:rPr lang="es-419" sz="3200" b="1" dirty="0">
                <a:solidFill>
                  <a:schemeClr val="bg1"/>
                </a:solidFill>
              </a:rPr>
            </a:br>
            <a:endParaRPr lang="es-419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14E2B8-FE70-7725-E1E3-72B86EE66C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5713845-F8B0-FC80-7AC9-36E98829C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47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6C55-CDED-609C-CCE4-D4FF12B3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86CCC2-577C-9C21-9247-EC098941A01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D7AD30F-882B-71AE-FBFF-F8D79AFDB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64" y="222965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Uno a muchos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2EB2D651-3B92-28DD-176B-E752074B4AEE}"/>
              </a:ext>
            </a:extLst>
          </p:cNvPr>
          <p:cNvSpPr/>
          <p:nvPr/>
        </p:nvSpPr>
        <p:spPr>
          <a:xfrm>
            <a:off x="2002989" y="3045160"/>
            <a:ext cx="8186022" cy="11880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noProof="0" dirty="0"/>
              <a:t>El estudiante al seleccionar el NRC de la teoría 10023, puede seleccionar el NRC 10029 o el NRC 10030</a:t>
            </a:r>
            <a:endParaRPr lang="es-419" sz="1400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0B95D0-E721-5654-0CB1-6BDF16A4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796" y="1136209"/>
            <a:ext cx="8824210" cy="141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39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F5A40-15F8-641B-DBF4-CFFFF1FE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A45BBD-AB46-1643-BBC2-D198AB403BE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CD0DC6F-00C7-408F-F793-B5447FA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64" y="222965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Muchos a muchos sin restricción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BC975C08-E041-E19D-675D-3D6800AB46AB}"/>
              </a:ext>
            </a:extLst>
          </p:cNvPr>
          <p:cNvSpPr/>
          <p:nvPr/>
        </p:nvSpPr>
        <p:spPr>
          <a:xfrm>
            <a:off x="1960435" y="3429000"/>
            <a:ext cx="8186022" cy="11880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noProof="0" dirty="0"/>
              <a:t>El estudiante puede seleccionar </a:t>
            </a:r>
            <a:r>
              <a:rPr lang="es-CO" sz="1400" dirty="0"/>
              <a:t>cualquier NRC de teoría: 10023 o 10031</a:t>
            </a:r>
          </a:p>
          <a:p>
            <a:r>
              <a:rPr lang="es-CO" sz="1400" noProof="0" dirty="0"/>
              <a:t>El e</a:t>
            </a:r>
            <a:r>
              <a:rPr lang="es-CO" sz="1400" dirty="0" err="1"/>
              <a:t>studiante</a:t>
            </a:r>
            <a:r>
              <a:rPr lang="es-CO" sz="1400" dirty="0"/>
              <a:t> puede seleccionar cualquier </a:t>
            </a:r>
            <a:r>
              <a:rPr lang="es-CO" sz="1400" noProof="0" dirty="0"/>
              <a:t>NRC de </a:t>
            </a:r>
            <a:r>
              <a:rPr lang="es-CO" sz="1400" dirty="0"/>
              <a:t>práctica: 10029 o 10030</a:t>
            </a:r>
            <a:r>
              <a:rPr lang="es-CO" sz="1400" noProof="0" dirty="0"/>
              <a:t> </a:t>
            </a:r>
            <a:endParaRPr lang="es-419" sz="1400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AF022DC-63F2-BAB6-457E-944BE4BC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455" y="1291957"/>
            <a:ext cx="7422432" cy="139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44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68F6-BE81-FFD3-ECF7-B11A62DC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0542C4-ED0A-5EB6-D1A0-9B4386DFA70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6015F2-4D21-C979-7B25-04C9FF1B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64" y="222965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Muchos a muchos con restricción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A898C8B1-E297-6E8B-353A-9BACB5E8F690}"/>
              </a:ext>
            </a:extLst>
          </p:cNvPr>
          <p:cNvSpPr/>
          <p:nvPr/>
        </p:nvSpPr>
        <p:spPr>
          <a:xfrm>
            <a:off x="1960435" y="3429000"/>
            <a:ext cx="8186022" cy="11880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noProof="0" dirty="0"/>
              <a:t>El estudiante </a:t>
            </a:r>
            <a:r>
              <a:rPr lang="es-CO" sz="1400" dirty="0"/>
              <a:t>al seleccionar el NRC de teoría: 10023, debe escoger el NRC 10029 de la práctica</a:t>
            </a:r>
          </a:p>
          <a:p>
            <a:endParaRPr lang="es-CO" sz="1400" dirty="0"/>
          </a:p>
          <a:p>
            <a:r>
              <a:rPr lang="es-CO" sz="1400" noProof="0" dirty="0"/>
              <a:t>El e</a:t>
            </a:r>
            <a:r>
              <a:rPr lang="es-CO" sz="1400" dirty="0" err="1"/>
              <a:t>studiante</a:t>
            </a:r>
            <a:r>
              <a:rPr lang="es-CO" sz="1400" dirty="0"/>
              <a:t> al seleccionar el NRC de teoría 10031, debe escoger el NRC 10030 de la práctica. </a:t>
            </a:r>
            <a:endParaRPr lang="es-419" sz="1400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22BF7F-8A20-FB4C-5967-D89F58AD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79" y="1121853"/>
            <a:ext cx="9251555" cy="156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96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F203-BACC-8865-96BB-870BBBB7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E2A7740E-33FD-65FD-241D-5CBE122471E5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80D4244-A8E1-542A-BE48-B32D2AA1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Inscripción de cursos con ligas</a:t>
            </a:r>
            <a:endParaRPr lang="es-419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6E3B896-D184-482C-7BF3-C05654E8C9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276DF28-3744-41B4-9CD1-C0C49B84F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82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B2DC-C817-B721-D1C9-D20A0DD4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9FD832-446F-C6F0-A13E-524968ED946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1581902-46DC-B8C3-931F-F60A6A40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64" y="222965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Inscripción por autoservicio</a:t>
            </a:r>
            <a:br>
              <a:rPr lang="es-ES_tradn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50E221D6-F49D-286E-05B2-10822245D80B}"/>
              </a:ext>
            </a:extLst>
          </p:cNvPr>
          <p:cNvSpPr/>
          <p:nvPr/>
        </p:nvSpPr>
        <p:spPr>
          <a:xfrm>
            <a:off x="1960435" y="3429000"/>
            <a:ext cx="8186022" cy="11880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noProof="0" dirty="0"/>
              <a:t>El estudiante </a:t>
            </a:r>
            <a:r>
              <a:rPr lang="es-CO" sz="1400" dirty="0"/>
              <a:t>al seleccionar el NRC de teoría: 10023, debe escoger el NRC 10029 de la práctica</a:t>
            </a:r>
          </a:p>
          <a:p>
            <a:endParaRPr lang="es-CO" sz="1400" dirty="0"/>
          </a:p>
          <a:p>
            <a:r>
              <a:rPr lang="es-CO" sz="1400" noProof="0" dirty="0"/>
              <a:t>El e</a:t>
            </a:r>
            <a:r>
              <a:rPr lang="es-CO" sz="1400" dirty="0" err="1"/>
              <a:t>studiante</a:t>
            </a:r>
            <a:r>
              <a:rPr lang="es-CO" sz="1400" dirty="0"/>
              <a:t> al seleccionar el NRC de teoría 10031, debe escoger el NRC 10030 de la práctica. </a:t>
            </a:r>
            <a:endParaRPr lang="es-419" sz="14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E53CFE-AE73-3F0E-7E4E-08D96764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00" y="975535"/>
            <a:ext cx="11591591" cy="4465362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FE16E0C5-E9E4-96A1-8367-2E83CEC4C206}"/>
              </a:ext>
            </a:extLst>
          </p:cNvPr>
          <p:cNvSpPr/>
          <p:nvPr/>
        </p:nvSpPr>
        <p:spPr>
          <a:xfrm>
            <a:off x="2104784" y="4846895"/>
            <a:ext cx="8186022" cy="11880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noProof="0" dirty="0"/>
              <a:t>Al ingresar al autoservicio el estudiante va a poder visualizar los NRC que  están ligados</a:t>
            </a:r>
            <a:r>
              <a:rPr lang="es-CO" sz="1400" dirty="0"/>
              <a:t>. </a:t>
            </a:r>
            <a:endParaRPr lang="es-419" sz="1400" noProof="0" dirty="0"/>
          </a:p>
        </p:txBody>
      </p:sp>
    </p:spTree>
    <p:extLst>
      <p:ext uri="{BB962C8B-B14F-4D97-AF65-F5344CB8AC3E}">
        <p14:creationId xmlns:p14="http://schemas.microsoft.com/office/powerpoint/2010/main" val="2357763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662262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923023-CC5F-00E6-430C-211ADECCDB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9A60-877E-8F1C-0939-2FB64F8A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F80FB71-112B-9DF4-E0A5-51B048433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SSASECT se ingresa el nombre de la liga.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SSADETL se vincular los NRC</a:t>
            </a:r>
          </a:p>
        </p:txBody>
      </p:sp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75A984F1-A9C3-7C43-7437-234EE67B8FF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Crear listas cruzadas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D6D81FF-0865-69EA-D9EE-48C8C394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Ligas</a:t>
            </a:r>
          </a:p>
        </p:txBody>
      </p:sp>
    </p:spTree>
    <p:extLst>
      <p:ext uri="{BB962C8B-B14F-4D97-AF65-F5344CB8AC3E}">
        <p14:creationId xmlns:p14="http://schemas.microsoft.com/office/powerpoint/2010/main" val="2276455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Nidia Beltran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Nidia.beltran@ellucian.com</a:t>
            </a:r>
          </a:p>
        </p:txBody>
      </p:sp>
    </p:spTree>
    <p:extLst>
      <p:ext uri="{BB962C8B-B14F-4D97-AF65-F5344CB8AC3E}">
        <p14:creationId xmlns:p14="http://schemas.microsoft.com/office/powerpoint/2010/main" val="1394951875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A599B5A2-9FB4-43D0-8DD2-7AE7CFBE6EE5}" vid="{5FE6AC23-0F88-4612-B1AD-D84E4AF26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Ellucian_April 2025</Template>
  <TotalTime>7272</TotalTime>
  <Words>1352</Words>
  <Application>Microsoft Office PowerPoint</Application>
  <PresentationFormat>Panorámica</PresentationFormat>
  <Paragraphs>133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Ellucian_April 2025</vt:lpstr>
      <vt:lpstr>Ellucian Blank Layouts</vt:lpstr>
      <vt:lpstr>Presentación de PowerPoint</vt:lpstr>
      <vt:lpstr>Presentación de PowerPoint</vt:lpstr>
      <vt:lpstr>Overview</vt:lpstr>
      <vt:lpstr>Overview: Mapa de capacidades</vt:lpstr>
      <vt:lpstr>Overview: Capacidad operativa Gestión de la Programación Académica </vt:lpstr>
      <vt:lpstr>Overview: Gestión de la programación Académica</vt:lpstr>
      <vt:lpstr>Presentación de PowerPoint</vt:lpstr>
      <vt:lpstr>Presentación de PowerPoint</vt:lpstr>
      <vt:lpstr>Overview: Crear Ligas</vt:lpstr>
      <vt:lpstr>Premisas</vt:lpstr>
      <vt:lpstr>Premisa: El curso o asignatura tiene más de un tipo de Horario SCACRSE Las ligas unen dos o más NRCs  de una misma asignatura  </vt:lpstr>
      <vt:lpstr>Premisa:   Tipo de horario principal: Teoría     - Los NRC deben tener las Horas créditos totales que corresponden (ejemplo: 4   créditos según definición de SCACRSE)   - Debe estar marcado el flag de Calificable   - No debe estar marcado el falg de Dispensa de colegiatura y cuotas para que se incluya los créditos en el total de créditos a cobrar.  Tipo de horario diferente al principal: Laboratorio    - Los NRC en el campo de Horas crédito deberían estar con cero (0) para que no se sumen en el total de créditos inscritos.     - No debe estar marcado el flag de Calificable    - Debe estar marcado el falg de Dispensa de colegiatura y cuotas para que NO se incluya los créditos en el total de créditos a cobrar.      </vt:lpstr>
      <vt:lpstr>Crear Ligas</vt:lpstr>
      <vt:lpstr>Identificar la liga  (SSASECT)</vt:lpstr>
      <vt:lpstr>Identificar la liga  (SSASECT)</vt:lpstr>
      <vt:lpstr>Univer las ligas - SSADETL </vt:lpstr>
      <vt:lpstr>Univer las ligas - SSADETL </vt:lpstr>
      <vt:lpstr>Univer las ligas - SSADETL </vt:lpstr>
      <vt:lpstr>Escenarios </vt:lpstr>
      <vt:lpstr>Uno a muchos </vt:lpstr>
      <vt:lpstr>Muchos a muchos sin restricción </vt:lpstr>
      <vt:lpstr>Muchos a muchos con restricción </vt:lpstr>
      <vt:lpstr>Inscripción de cursos con ligas</vt:lpstr>
      <vt:lpstr>Inscripción por autoservicio </vt:lpstr>
      <vt:lpstr>RESUMEN</vt:lpstr>
      <vt:lpstr>Ligas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258</cp:revision>
  <dcterms:created xsi:type="dcterms:W3CDTF">2023-07-17T20:07:38Z</dcterms:created>
  <dcterms:modified xsi:type="dcterms:W3CDTF">2026-07-06T18:56:36Z</dcterms:modified>
</cp:coreProperties>
</file>
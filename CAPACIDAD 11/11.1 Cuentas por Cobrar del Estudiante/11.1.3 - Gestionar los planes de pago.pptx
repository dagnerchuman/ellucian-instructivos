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3.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4.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96" r:id="rId2"/>
    <p:sldMasterId id="2147483731" r:id="rId3"/>
    <p:sldMasterId id="2147483768" r:id="rId4"/>
    <p:sldMasterId id="2147483788" r:id="rId5"/>
  </p:sldMasterIdLst>
  <p:notesMasterIdLst>
    <p:notesMasterId r:id="rId102"/>
  </p:notesMasterIdLst>
  <p:sldIdLst>
    <p:sldId id="265" r:id="rId6"/>
    <p:sldId id="390" r:id="rId7"/>
    <p:sldId id="418" r:id="rId8"/>
    <p:sldId id="419" r:id="rId9"/>
    <p:sldId id="509" r:id="rId10"/>
    <p:sldId id="421" r:id="rId11"/>
    <p:sldId id="508" r:id="rId12"/>
    <p:sldId id="422" r:id="rId13"/>
    <p:sldId id="423" r:id="rId14"/>
    <p:sldId id="498" r:id="rId15"/>
    <p:sldId id="424" r:id="rId16"/>
    <p:sldId id="499" r:id="rId17"/>
    <p:sldId id="603" r:id="rId18"/>
    <p:sldId id="604" r:id="rId19"/>
    <p:sldId id="605" r:id="rId20"/>
    <p:sldId id="606" r:id="rId21"/>
    <p:sldId id="607" r:id="rId22"/>
    <p:sldId id="608" r:id="rId23"/>
    <p:sldId id="609" r:id="rId24"/>
    <p:sldId id="610" r:id="rId25"/>
    <p:sldId id="611" r:id="rId26"/>
    <p:sldId id="613" r:id="rId27"/>
    <p:sldId id="614" r:id="rId28"/>
    <p:sldId id="615" r:id="rId29"/>
    <p:sldId id="616" r:id="rId30"/>
    <p:sldId id="617" r:id="rId31"/>
    <p:sldId id="618" r:id="rId32"/>
    <p:sldId id="619" r:id="rId33"/>
    <p:sldId id="620" r:id="rId34"/>
    <p:sldId id="621" r:id="rId35"/>
    <p:sldId id="622" r:id="rId36"/>
    <p:sldId id="623" r:id="rId37"/>
    <p:sldId id="624" r:id="rId38"/>
    <p:sldId id="625" r:id="rId39"/>
    <p:sldId id="627" r:id="rId40"/>
    <p:sldId id="628" r:id="rId41"/>
    <p:sldId id="629" r:id="rId42"/>
    <p:sldId id="631" r:id="rId43"/>
    <p:sldId id="630" r:id="rId44"/>
    <p:sldId id="632" r:id="rId45"/>
    <p:sldId id="633" r:id="rId46"/>
    <p:sldId id="634" r:id="rId47"/>
    <p:sldId id="635" r:id="rId48"/>
    <p:sldId id="637" r:id="rId49"/>
    <p:sldId id="638" r:id="rId50"/>
    <p:sldId id="639" r:id="rId51"/>
    <p:sldId id="636" r:id="rId52"/>
    <p:sldId id="640" r:id="rId53"/>
    <p:sldId id="641" r:id="rId54"/>
    <p:sldId id="642" r:id="rId55"/>
    <p:sldId id="643" r:id="rId56"/>
    <p:sldId id="644" r:id="rId57"/>
    <p:sldId id="645" r:id="rId58"/>
    <p:sldId id="646" r:id="rId59"/>
    <p:sldId id="647" r:id="rId60"/>
    <p:sldId id="648" r:id="rId61"/>
    <p:sldId id="649" r:id="rId62"/>
    <p:sldId id="650" r:id="rId63"/>
    <p:sldId id="651" r:id="rId64"/>
    <p:sldId id="652" r:id="rId65"/>
    <p:sldId id="653" r:id="rId66"/>
    <p:sldId id="654" r:id="rId67"/>
    <p:sldId id="655" r:id="rId68"/>
    <p:sldId id="656" r:id="rId69"/>
    <p:sldId id="657" r:id="rId70"/>
    <p:sldId id="658" r:id="rId71"/>
    <p:sldId id="659" r:id="rId72"/>
    <p:sldId id="660" r:id="rId73"/>
    <p:sldId id="661" r:id="rId74"/>
    <p:sldId id="662" r:id="rId75"/>
    <p:sldId id="663" r:id="rId76"/>
    <p:sldId id="602" r:id="rId77"/>
    <p:sldId id="664" r:id="rId78"/>
    <p:sldId id="665" r:id="rId79"/>
    <p:sldId id="666" r:id="rId80"/>
    <p:sldId id="667" r:id="rId81"/>
    <p:sldId id="668" r:id="rId82"/>
    <p:sldId id="669" r:id="rId83"/>
    <p:sldId id="670" r:id="rId84"/>
    <p:sldId id="671" r:id="rId85"/>
    <p:sldId id="672" r:id="rId86"/>
    <p:sldId id="673" r:id="rId87"/>
    <p:sldId id="674" r:id="rId88"/>
    <p:sldId id="675" r:id="rId89"/>
    <p:sldId id="676" r:id="rId90"/>
    <p:sldId id="677" r:id="rId91"/>
    <p:sldId id="678" r:id="rId92"/>
    <p:sldId id="679" r:id="rId93"/>
    <p:sldId id="680" r:id="rId94"/>
    <p:sldId id="681" r:id="rId95"/>
    <p:sldId id="682" r:id="rId96"/>
    <p:sldId id="683" r:id="rId97"/>
    <p:sldId id="684" r:id="rId98"/>
    <p:sldId id="685" r:id="rId99"/>
    <p:sldId id="497" r:id="rId100"/>
    <p:sldId id="512"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6BB9065-1696-844F-0B44-B41FF1C01078}" name="Alejandra Cortés" initials="AC" userId="Alejandra Cortés"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0089"/>
    <a:srgbClr val="E4DF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31F988-E4B1-446B-8EAC-3AC2BEC3FA42}" v="2" dt="2026-06-19T15:18:13.605"/>
    <p1510:client id="{D4876AB4-B3FC-4BC0-AEBD-58A94BDFD845}" v="1" dt="2026-06-19T14:31:15.3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1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07" Type="http://schemas.microsoft.com/office/2016/11/relationships/changesInfo" Target="changesInfos/changesInfo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notesMaster" Target="notesMasters/notesMaster1.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presProps" Target="presProps.xml"/><Relationship Id="rId108" Type="http://schemas.microsoft.com/office/2015/10/relationships/revisionInfo" Target="revisionInfo.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microsoft.com/office/2018/10/relationships/authors" Target="authors.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ver Herrera Mejía" userId="33259626242_tp_box_2" providerId="OAuth2" clId="{928070B4-3928-4BF5-8A3B-02428762A929}"/>
    <pc:docChg chg="addSld modSld">
      <pc:chgData name="Faver Herrera Mejía" userId="33259626242_tp_box_2" providerId="OAuth2" clId="{928070B4-3928-4BF5-8A3B-02428762A929}" dt="2026-06-19T15:19:25.111" v="59" actId="14100"/>
      <pc:docMkLst>
        <pc:docMk/>
      </pc:docMkLst>
      <pc:sldChg chg="modSp mod">
        <pc:chgData name="Faver Herrera Mejía" userId="33259626242_tp_box_2" providerId="OAuth2" clId="{928070B4-3928-4BF5-8A3B-02428762A929}" dt="2026-06-19T14:28:08.621" v="28" actId="20577"/>
        <pc:sldMkLst>
          <pc:docMk/>
          <pc:sldMk cId="9191365" sldId="265"/>
        </pc:sldMkLst>
        <pc:spChg chg="mod">
          <ac:chgData name="Faver Herrera Mejía" userId="33259626242_tp_box_2" providerId="OAuth2" clId="{928070B4-3928-4BF5-8A3B-02428762A929}" dt="2026-06-19T14:28:00.271" v="20" actId="20577"/>
          <ac:spMkLst>
            <pc:docMk/>
            <pc:sldMk cId="9191365" sldId="265"/>
            <ac:spMk id="4" creationId="{692B0829-7360-8531-FF9E-7D531E7A6091}"/>
          </ac:spMkLst>
        </pc:spChg>
        <pc:spChg chg="mod">
          <ac:chgData name="Faver Herrera Mejía" userId="33259626242_tp_box_2" providerId="OAuth2" clId="{928070B4-3928-4BF5-8A3B-02428762A929}" dt="2026-06-19T14:28:08.621" v="28" actId="20577"/>
          <ac:spMkLst>
            <pc:docMk/>
            <pc:sldMk cId="9191365" sldId="265"/>
            <ac:spMk id="5" creationId="{7640F739-8B92-AE20-CC72-FD73501B27C6}"/>
          </ac:spMkLst>
        </pc:spChg>
      </pc:sldChg>
      <pc:sldChg chg="modSp mod">
        <pc:chgData name="Faver Herrera Mejía" userId="33259626242_tp_box_2" providerId="OAuth2" clId="{928070B4-3928-4BF5-8A3B-02428762A929}" dt="2026-06-19T15:19:25.111" v="59" actId="14100"/>
        <pc:sldMkLst>
          <pc:docMk/>
          <pc:sldMk cId="2900812786" sldId="497"/>
        </pc:sldMkLst>
        <pc:spChg chg="mod">
          <ac:chgData name="Faver Herrera Mejía" userId="33259626242_tp_box_2" providerId="OAuth2" clId="{928070B4-3928-4BF5-8A3B-02428762A929}" dt="2026-06-19T15:19:25.111" v="59" actId="14100"/>
          <ac:spMkLst>
            <pc:docMk/>
            <pc:sldMk cId="2900812786" sldId="497"/>
            <ac:spMk id="3" creationId="{A4230D26-77A4-9999-B174-9B6175E41799}"/>
          </ac:spMkLst>
        </pc:spChg>
      </pc:sldChg>
      <pc:sldChg chg="add">
        <pc:chgData name="Faver Herrera Mejía" userId="33259626242_tp_box_2" providerId="OAuth2" clId="{928070B4-3928-4BF5-8A3B-02428762A929}" dt="2026-06-19T14:31:15.365" v="29"/>
        <pc:sldMkLst>
          <pc:docMk/>
          <pc:sldMk cId="829329984" sldId="512"/>
        </pc:sldMkLst>
      </pc:sldChg>
    </pc:docChg>
  </pc:docChgLst>
  <pc:docChgLst>
    <pc:chgData name="Alejandra León Barrera" userId="43512263486_tp_box_2" providerId="OAuth2" clId="{CE2DED1C-98E3-404D-AA29-8769E08C8A92}"/>
    <pc:docChg chg="undo custSel addSld delSld modSld sldOrd">
      <pc:chgData name="Alejandra León Barrera" userId="43512263486_tp_box_2" providerId="OAuth2" clId="{CE2DED1C-98E3-404D-AA29-8769E08C8A92}" dt="2026-06-05T14:26:22.139" v="2421" actId="1076"/>
      <pc:docMkLst>
        <pc:docMk/>
      </pc:docMkLst>
      <pc:sldChg chg="modSp mod">
        <pc:chgData name="Alejandra León Barrera" userId="43512263486_tp_box_2" providerId="OAuth2" clId="{CE2DED1C-98E3-404D-AA29-8769E08C8A92}" dt="2026-05-25T20:24:37.026" v="2394" actId="113"/>
        <pc:sldMkLst>
          <pc:docMk/>
          <pc:sldMk cId="3460307485" sldId="390"/>
        </pc:sldMkLst>
        <pc:graphicFrameChg chg="modGraphic">
          <ac:chgData name="Alejandra León Barrera" userId="43512263486_tp_box_2" providerId="OAuth2" clId="{CE2DED1C-98E3-404D-AA29-8769E08C8A92}" dt="2026-05-25T20:24:37.026" v="2394" actId="113"/>
          <ac:graphicFrameMkLst>
            <pc:docMk/>
            <pc:sldMk cId="3460307485" sldId="390"/>
            <ac:graphicFrameMk id="6" creationId="{4673DED4-8FDF-4D14-4B12-E97032DE43BA}"/>
          </ac:graphicFrameMkLst>
        </pc:graphicFrameChg>
      </pc:sldChg>
      <pc:sldChg chg="modSp mod">
        <pc:chgData name="Alejandra León Barrera" userId="43512263486_tp_box_2" providerId="OAuth2" clId="{CE2DED1C-98E3-404D-AA29-8769E08C8A92}" dt="2026-05-25T21:04:48.479" v="2410" actId="1036"/>
        <pc:sldMkLst>
          <pc:docMk/>
          <pc:sldMk cId="318371606" sldId="602"/>
        </pc:sldMkLst>
        <pc:spChg chg="mod">
          <ac:chgData name="Alejandra León Barrera" userId="43512263486_tp_box_2" providerId="OAuth2" clId="{CE2DED1C-98E3-404D-AA29-8769E08C8A92}" dt="2026-05-25T21:04:42.678" v="2405" actId="1076"/>
          <ac:spMkLst>
            <pc:docMk/>
            <pc:sldMk cId="318371606" sldId="602"/>
            <ac:spMk id="2" creationId="{3066CD56-78F2-4676-8E44-35199B7E5E07}"/>
          </ac:spMkLst>
        </pc:spChg>
        <pc:picChg chg="mod">
          <ac:chgData name="Alejandra León Barrera" userId="43512263486_tp_box_2" providerId="OAuth2" clId="{CE2DED1C-98E3-404D-AA29-8769E08C8A92}" dt="2026-05-25T21:04:48.479" v="2410" actId="1036"/>
          <ac:picMkLst>
            <pc:docMk/>
            <pc:sldMk cId="318371606" sldId="602"/>
            <ac:picMk id="4" creationId="{6E695C4E-F7EE-BD36-3FD6-0A89F70268C4}"/>
          </ac:picMkLst>
        </pc:picChg>
      </pc:sldChg>
      <pc:sldChg chg="modSp mod">
        <pc:chgData name="Alejandra León Barrera" userId="43512263486_tp_box_2" providerId="OAuth2" clId="{CE2DED1C-98E3-404D-AA29-8769E08C8A92}" dt="2026-06-05T14:26:22.139" v="2421" actId="1076"/>
        <pc:sldMkLst>
          <pc:docMk/>
          <pc:sldMk cId="2402202940" sldId="648"/>
        </pc:sldMkLst>
        <pc:spChg chg="mod">
          <ac:chgData name="Alejandra León Barrera" userId="43512263486_tp_box_2" providerId="OAuth2" clId="{CE2DED1C-98E3-404D-AA29-8769E08C8A92}" dt="2026-06-05T14:26:20.993" v="2420" actId="1076"/>
          <ac:spMkLst>
            <pc:docMk/>
            <pc:sldMk cId="2402202940" sldId="648"/>
            <ac:spMk id="4" creationId="{C5C615B6-EC0B-8D9B-2D38-01BE81B54442}"/>
          </ac:spMkLst>
        </pc:spChg>
        <pc:spChg chg="mod">
          <ac:chgData name="Alejandra León Barrera" userId="43512263486_tp_box_2" providerId="OAuth2" clId="{CE2DED1C-98E3-404D-AA29-8769E08C8A92}" dt="2026-06-05T14:26:17.261" v="2418" actId="14100"/>
          <ac:spMkLst>
            <pc:docMk/>
            <pc:sldMk cId="2402202940" sldId="648"/>
            <ac:spMk id="7" creationId="{6DF658C3-B43A-A8DA-07BA-188C7F058C8A}"/>
          </ac:spMkLst>
        </pc:spChg>
        <pc:picChg chg="mod">
          <ac:chgData name="Alejandra León Barrera" userId="43512263486_tp_box_2" providerId="OAuth2" clId="{CE2DED1C-98E3-404D-AA29-8769E08C8A92}" dt="2026-06-05T14:26:22.139" v="2421" actId="1076"/>
          <ac:picMkLst>
            <pc:docMk/>
            <pc:sldMk cId="2402202940" sldId="648"/>
            <ac:picMk id="5" creationId="{226C5A52-365C-63FB-8524-671E9F6150E1}"/>
          </ac:picMkLst>
        </pc:picChg>
      </pc:sldChg>
      <pc:sldChg chg="modSp mod">
        <pc:chgData name="Alejandra León Barrera" userId="43512263486_tp_box_2" providerId="OAuth2" clId="{CE2DED1C-98E3-404D-AA29-8769E08C8A92}" dt="2026-05-25T21:04:14.962" v="2401" actId="6549"/>
        <pc:sldMkLst>
          <pc:docMk/>
          <pc:sldMk cId="2495834940" sldId="663"/>
        </pc:sldMkLst>
        <pc:spChg chg="mod">
          <ac:chgData name="Alejandra León Barrera" userId="43512263486_tp_box_2" providerId="OAuth2" clId="{CE2DED1C-98E3-404D-AA29-8769E08C8A92}" dt="2026-05-25T21:04:14.962" v="2401" actId="6549"/>
          <ac:spMkLst>
            <pc:docMk/>
            <pc:sldMk cId="2495834940" sldId="663"/>
            <ac:spMk id="6" creationId="{C94D9F5F-C73D-0BA9-4F2D-7ABE203AA4B1}"/>
          </ac:spMkLst>
        </pc:spChg>
        <pc:spChg chg="mod">
          <ac:chgData name="Alejandra León Barrera" userId="43512263486_tp_box_2" providerId="OAuth2" clId="{CE2DED1C-98E3-404D-AA29-8769E08C8A92}" dt="2026-05-25T21:04:05.084" v="2398" actId="1076"/>
          <ac:spMkLst>
            <pc:docMk/>
            <pc:sldMk cId="2495834940" sldId="663"/>
            <ac:spMk id="7" creationId="{84E33F88-24F1-847C-18A8-0B425142AAE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9A4A1-DC15-4D0B-B483-49B9F712378B}" type="datetimeFigureOut">
              <a:rPr lang="es-CO" smtClean="0"/>
              <a:t>19/06/2026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8B0C1C-64DB-4ECD-8E89-57383081EDC0}" type="slidenum">
              <a:rPr lang="es-CO" smtClean="0"/>
              <a:t>‹#›</a:t>
            </a:fld>
            <a:endParaRPr lang="es-CO"/>
          </a:p>
        </p:txBody>
      </p:sp>
    </p:spTree>
    <p:extLst>
      <p:ext uri="{BB962C8B-B14F-4D97-AF65-F5344CB8AC3E}">
        <p14:creationId xmlns:p14="http://schemas.microsoft.com/office/powerpoint/2010/main" val="3003233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AC8B0C1C-64DB-4ECD-8E89-57383081EDC0}" type="slidenum">
              <a:rPr lang="es-CO" smtClean="0"/>
              <a:t>6</a:t>
            </a:fld>
            <a:endParaRPr lang="es-CO"/>
          </a:p>
        </p:txBody>
      </p:sp>
    </p:spTree>
    <p:extLst>
      <p:ext uri="{BB962C8B-B14F-4D97-AF65-F5344CB8AC3E}">
        <p14:creationId xmlns:p14="http://schemas.microsoft.com/office/powerpoint/2010/main" val="3811751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6EE4D-49F5-2BA4-5949-A5CD9CBB27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5D4188-C826-BD3B-4FD2-D7B9E2B8851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CB04B01-2576-EAC5-BFFD-96E36F5ADAD8}"/>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0469767A-660E-E9A4-70B7-746725964356}"/>
              </a:ext>
            </a:extLst>
          </p:cNvPr>
          <p:cNvSpPr>
            <a:spLocks noGrp="1"/>
          </p:cNvSpPr>
          <p:nvPr>
            <p:ph type="sldNum" sz="quarter" idx="5"/>
          </p:nvPr>
        </p:nvSpPr>
        <p:spPr/>
        <p:txBody>
          <a:bodyPr/>
          <a:lstStyle/>
          <a:p>
            <a:fld id="{AC8B0C1C-64DB-4ECD-8E89-57383081EDC0}" type="slidenum">
              <a:rPr lang="es-CO" smtClean="0"/>
              <a:t>7</a:t>
            </a:fld>
            <a:endParaRPr lang="es-CO"/>
          </a:p>
        </p:txBody>
      </p:sp>
    </p:spTree>
    <p:extLst>
      <p:ext uri="{BB962C8B-B14F-4D97-AF65-F5344CB8AC3E}">
        <p14:creationId xmlns:p14="http://schemas.microsoft.com/office/powerpoint/2010/main" val="1419322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87386-833C-544E-D588-38DA2C83407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E4E706B-2070-4251-7A90-D70354B53898}"/>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9EB4475-2432-2640-567E-07C56944504E}"/>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C6BCEA93-E44D-5F79-6B07-256CE7F6B780}"/>
              </a:ext>
            </a:extLst>
          </p:cNvPr>
          <p:cNvSpPr>
            <a:spLocks noGrp="1"/>
          </p:cNvSpPr>
          <p:nvPr>
            <p:ph type="sldNum" sz="quarter" idx="5"/>
          </p:nvPr>
        </p:nvSpPr>
        <p:spPr/>
        <p:txBody>
          <a:bodyPr/>
          <a:lstStyle/>
          <a:p>
            <a:fld id="{AC8B0C1C-64DB-4ECD-8E89-57383081EDC0}" type="slidenum">
              <a:rPr lang="es-CO" smtClean="0"/>
              <a:t>72</a:t>
            </a:fld>
            <a:endParaRPr lang="es-CO"/>
          </a:p>
        </p:txBody>
      </p:sp>
    </p:spTree>
    <p:extLst>
      <p:ext uri="{BB962C8B-B14F-4D97-AF65-F5344CB8AC3E}">
        <p14:creationId xmlns:p14="http://schemas.microsoft.com/office/powerpoint/2010/main" val="5659491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a:t>Headline culpa qui official arum </a:t>
            </a:r>
            <a:r>
              <a:rPr lang="en-US" err="1"/>
              <a:t>quidem</a:t>
            </a:r>
            <a:r>
              <a:rPr lang="en-US"/>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omnis</a:t>
            </a:r>
            <a:r>
              <a:rPr lang="en-US"/>
              <a:t> </a:t>
            </a:r>
            <a:r>
              <a:rPr lang="en-US" err="1"/>
              <a:t>iste</a:t>
            </a:r>
            <a:r>
              <a:rPr lang="en-US"/>
              <a:t> </a:t>
            </a:r>
            <a:r>
              <a:rPr lang="en-US" err="1"/>
              <a:t>natus</a:t>
            </a:r>
            <a:r>
              <a:rPr lang="en-US"/>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a:t>First &amp; Last Name</a:t>
            </a:r>
            <a:br>
              <a:rPr lang="en-US"/>
            </a:br>
            <a:r>
              <a:rPr lang="en-US"/>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612427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a:t>Headline culpa qui official arum </a:t>
            </a:r>
            <a:r>
              <a:rPr lang="en-US" err="1"/>
              <a:t>quidem</a:t>
            </a:r>
            <a:r>
              <a:rPr lang="en-US"/>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a:t>First &amp; Last Name</a:t>
            </a:r>
            <a:br>
              <a:rPr lang="en-US"/>
            </a:br>
            <a:r>
              <a:rPr lang="en-US"/>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a:t>[Click to insert image]</a:t>
            </a:r>
          </a:p>
        </p:txBody>
      </p:sp>
      <p:sp>
        <p:nvSpPr>
          <p:cNvPr id="2" name="TextBox 1">
            <a:extLst>
              <a:ext uri="{FF2B5EF4-FFF2-40B4-BE49-F238E27FC236}">
                <a16:creationId xmlns:a16="http://schemas.microsoft.com/office/drawing/2014/main" id="{8F1688B8-4AFA-00EF-A18F-CE0BE044452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3745321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a:t>Headline culpa qui official arum </a:t>
            </a:r>
            <a:r>
              <a:rPr lang="en-US" err="1"/>
              <a:t>quidem</a:t>
            </a:r>
            <a:r>
              <a:rPr lang="en-US"/>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a:t>First &amp; Last Name</a:t>
            </a:r>
            <a:br>
              <a:rPr lang="en-US"/>
            </a:br>
            <a:r>
              <a:rPr lang="en-US"/>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a:t>[Click to insert image]</a:t>
            </a:r>
          </a:p>
        </p:txBody>
      </p:sp>
      <p:sp>
        <p:nvSpPr>
          <p:cNvPr id="4" name="TextBox 3">
            <a:extLst>
              <a:ext uri="{FF2B5EF4-FFF2-40B4-BE49-F238E27FC236}">
                <a16:creationId xmlns:a16="http://schemas.microsoft.com/office/drawing/2014/main" id="{D2E118B2-5580-3101-C2BB-4FB39252D744}"/>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991785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omnis</a:t>
            </a:r>
            <a:r>
              <a:rPr lang="en-US"/>
              <a:t> </a:t>
            </a:r>
            <a:r>
              <a:rPr lang="en-US" err="1"/>
              <a:t>iste</a:t>
            </a:r>
            <a:r>
              <a:rPr lang="en-US"/>
              <a:t> </a:t>
            </a:r>
            <a:r>
              <a:rPr lang="en-US" err="1"/>
              <a:t>natus</a:t>
            </a:r>
            <a:r>
              <a:rPr lang="en-US"/>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a:t>First &amp; Last Name</a:t>
            </a:r>
            <a:br>
              <a:rPr lang="en-US"/>
            </a:br>
            <a:r>
              <a:rPr lang="en-US"/>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a:t>Month, Year</a:t>
            </a:r>
          </a:p>
        </p:txBody>
      </p:sp>
      <p:sp>
        <p:nvSpPr>
          <p:cNvPr id="7" name="TextBox 6">
            <a:extLst>
              <a:ext uri="{FF2B5EF4-FFF2-40B4-BE49-F238E27FC236}">
                <a16:creationId xmlns:a16="http://schemas.microsoft.com/office/drawing/2014/main" id="{67E32664-E882-9D71-52FE-71612364F8C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428350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a:t>Headline culpa qui official arum </a:t>
            </a:r>
            <a:r>
              <a:rPr lang="en-US" err="1"/>
              <a:t>quidem</a:t>
            </a:r>
            <a:r>
              <a:rPr lang="en-US"/>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omnis</a:t>
            </a:r>
            <a:r>
              <a:rPr lang="en-US"/>
              <a:t> </a:t>
            </a:r>
            <a:r>
              <a:rPr lang="en-US" err="1"/>
              <a:t>iste</a:t>
            </a:r>
            <a:r>
              <a:rPr lang="en-US"/>
              <a:t> </a:t>
            </a:r>
            <a:r>
              <a:rPr lang="en-US" err="1"/>
              <a:t>natus</a:t>
            </a:r>
            <a:r>
              <a:rPr lang="en-US"/>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a:t>First &amp; Last Name</a:t>
            </a:r>
            <a:br>
              <a:rPr lang="en-US"/>
            </a:br>
            <a:r>
              <a:rPr lang="en-US"/>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a:t>Month, Year</a:t>
            </a:r>
          </a:p>
        </p:txBody>
      </p:sp>
      <p:sp>
        <p:nvSpPr>
          <p:cNvPr id="8" name="TextBox 7">
            <a:extLst>
              <a:ext uri="{FF2B5EF4-FFF2-40B4-BE49-F238E27FC236}">
                <a16:creationId xmlns:a16="http://schemas.microsoft.com/office/drawing/2014/main" id="{AC9D9DE1-FE9F-14AE-4A3F-F4173038006F}"/>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3292674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a:t>Headline culpa qui official arum </a:t>
            </a:r>
            <a:r>
              <a:rPr lang="en-US" err="1"/>
              <a:t>quidem</a:t>
            </a:r>
            <a:r>
              <a:rPr lang="en-US"/>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omnis</a:t>
            </a:r>
            <a:r>
              <a:rPr lang="en-US"/>
              <a:t> </a:t>
            </a:r>
            <a:r>
              <a:rPr lang="en-US" err="1"/>
              <a:t>iste</a:t>
            </a:r>
            <a:r>
              <a:rPr lang="en-US"/>
              <a:t> </a:t>
            </a:r>
            <a:r>
              <a:rPr lang="en-US" err="1"/>
              <a:t>natus</a:t>
            </a:r>
            <a:r>
              <a:rPr lang="en-US"/>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a:t>First &amp; Last Name</a:t>
            </a:r>
            <a:br>
              <a:rPr lang="en-US"/>
            </a:br>
            <a:r>
              <a:rPr lang="en-US"/>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a:t>Month, Year</a:t>
            </a:r>
          </a:p>
        </p:txBody>
      </p:sp>
      <p:sp>
        <p:nvSpPr>
          <p:cNvPr id="7" name="TextBox 6">
            <a:extLst>
              <a:ext uri="{FF2B5EF4-FFF2-40B4-BE49-F238E27FC236}">
                <a16:creationId xmlns:a16="http://schemas.microsoft.com/office/drawing/2014/main" id="{AE8FAC4F-619C-5E6B-F2B0-D001F5A51111}"/>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2367637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a:t>First &amp; Last Name</a:t>
            </a:r>
            <a:br>
              <a:rPr lang="en-US"/>
            </a:br>
            <a:r>
              <a:rPr lang="en-US"/>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a:t>Month, Year</a:t>
            </a:r>
          </a:p>
        </p:txBody>
      </p:sp>
      <p:sp>
        <p:nvSpPr>
          <p:cNvPr id="7" name="TextBox 6">
            <a:extLst>
              <a:ext uri="{FF2B5EF4-FFF2-40B4-BE49-F238E27FC236}">
                <a16:creationId xmlns:a16="http://schemas.microsoft.com/office/drawing/2014/main" id="{E35B847D-2BA6-4533-FDD7-9CCF9A96A36C}"/>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110744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176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Tree>
    <p:extLst>
      <p:ext uri="{BB962C8B-B14F-4D97-AF65-F5344CB8AC3E}">
        <p14:creationId xmlns:p14="http://schemas.microsoft.com/office/powerpoint/2010/main" val="102426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64219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26699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29799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1818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a:t>Agenda or Table of Contents</a:t>
            </a:r>
          </a:p>
        </p:txBody>
      </p:sp>
    </p:spTree>
    <p:extLst>
      <p:ext uri="{BB962C8B-B14F-4D97-AF65-F5344CB8AC3E}">
        <p14:creationId xmlns:p14="http://schemas.microsoft.com/office/powerpoint/2010/main" val="38047552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a:t>Breaker slide culpa qui official arum </a:t>
            </a:r>
            <a:r>
              <a:rPr lang="en-US" err="1"/>
              <a:t>quidem</a:t>
            </a:r>
            <a:r>
              <a:rPr lang="en-US"/>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4142522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a:t>Breaker slide culpa qui official arum </a:t>
            </a:r>
            <a:r>
              <a:rPr lang="en-US" err="1"/>
              <a:t>quidem</a:t>
            </a:r>
            <a:r>
              <a:rPr lang="en-US"/>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pic>
        <p:nvPicPr>
          <p:cNvPr id="5" name="Graphic 4">
            <a:extLst>
              <a:ext uri="{FF2B5EF4-FFF2-40B4-BE49-F238E27FC236}">
                <a16:creationId xmlns:a16="http://schemas.microsoft.com/office/drawing/2014/main" id="{BE3200C5-B5A9-AC44-9200-784DFC6336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25723501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a:t>Breaker slide culpa qui official arum </a:t>
            </a:r>
            <a:r>
              <a:rPr lang="en-US" err="1"/>
              <a:t>quidem</a:t>
            </a:r>
            <a:r>
              <a:rPr lang="en-US"/>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3334008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017A8F2F-9330-25BE-0D2E-902E66CDE2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507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5586416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468580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a:t>Headline culpa qui official arum </a:t>
            </a:r>
            <a:r>
              <a:rPr lang="en-US" err="1"/>
              <a:t>quidem</a:t>
            </a:r>
            <a:r>
              <a:rPr lang="en-US"/>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01D50BC8-C95D-425B-652A-2D581ADCD8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594818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r>
              <a:rPr lang="en-US"/>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E5FB72CE-435D-5F45-16B1-4A77B79AF3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27659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r>
              <a:rPr lang="en-US"/>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65A4C054-B1C8-E492-ADA1-D665C51553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956515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endParaRPr lang="en-US"/>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a:t>[Click to insert image]</a:t>
            </a:r>
          </a:p>
        </p:txBody>
      </p:sp>
    </p:spTree>
    <p:extLst>
      <p:ext uri="{BB962C8B-B14F-4D97-AF65-F5344CB8AC3E}">
        <p14:creationId xmlns:p14="http://schemas.microsoft.com/office/powerpoint/2010/main" val="4206579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endParaRPr lang="en-US"/>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17780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a:t>[Click to insert image]</a:t>
            </a:r>
          </a:p>
        </p:txBody>
      </p:sp>
    </p:spTree>
    <p:extLst>
      <p:ext uri="{BB962C8B-B14F-4D97-AF65-F5344CB8AC3E}">
        <p14:creationId xmlns:p14="http://schemas.microsoft.com/office/powerpoint/2010/main" val="42680499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a:t>Headline culpa qui official arum </a:t>
            </a:r>
            <a:r>
              <a:rPr lang="en-US" err="1"/>
              <a:t>quidem</a:t>
            </a:r>
            <a:endParaRPr lang="en-US"/>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a:t>Subhead culpa qui official arum </a:t>
            </a:r>
            <a:r>
              <a:rPr lang="en-US" err="1"/>
              <a:t>quidem</a:t>
            </a:r>
            <a:r>
              <a:rPr lang="en-US"/>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E2FA6E33-C1DD-C1DE-7C6F-82957792F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35501015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a:effectLst/>
                <a:latin typeface="Helvetica Neue" panose="02000503000000020004" pitchFamily="2" charset="0"/>
              </a:rPr>
              <a:t>Lorem ipsum dolor sit </a:t>
            </a:r>
            <a:r>
              <a:rPr lang="en-US" err="1">
                <a:effectLst/>
                <a:latin typeface="Helvetica Neue" panose="02000503000000020004" pitchFamily="2" charset="0"/>
              </a:rPr>
              <a:t>amet</a:t>
            </a:r>
            <a:r>
              <a:rPr lang="en-US">
                <a:effectLst/>
                <a:latin typeface="Helvetica Neue" panose="02000503000000020004" pitchFamily="2" charset="0"/>
              </a:rPr>
              <a:t>, </a:t>
            </a:r>
            <a:r>
              <a:rPr lang="en-US" err="1">
                <a:effectLst/>
                <a:latin typeface="Helvetica Neue" panose="02000503000000020004" pitchFamily="2" charset="0"/>
              </a:rPr>
              <a:t>consectetur</a:t>
            </a:r>
            <a:r>
              <a:rPr lang="en-US">
                <a:effectLst/>
                <a:latin typeface="Helvetica Neue" panose="02000503000000020004" pitchFamily="2" charset="0"/>
              </a:rPr>
              <a:t> </a:t>
            </a:r>
            <a:r>
              <a:rPr lang="en-US" err="1">
                <a:effectLst/>
                <a:latin typeface="Helvetica Neue" panose="02000503000000020004" pitchFamily="2" charset="0"/>
              </a:rPr>
              <a:t>adipiscing</a:t>
            </a:r>
            <a:r>
              <a:rPr lang="en-US">
                <a:effectLst/>
                <a:latin typeface="Helvetica Neue" panose="02000503000000020004" pitchFamily="2" charset="0"/>
              </a:rPr>
              <a:t> </a:t>
            </a:r>
            <a:r>
              <a:rPr lang="en-US" err="1">
                <a:effectLst/>
                <a:latin typeface="Helvetica Neue" panose="02000503000000020004" pitchFamily="2" charset="0"/>
              </a:rPr>
              <a:t>elit</a:t>
            </a:r>
            <a:r>
              <a:rPr lang="en-US">
                <a:effectLst/>
                <a:latin typeface="Helvetica Neue" panose="02000503000000020004" pitchFamily="2" charset="0"/>
              </a:rPr>
              <a:t> sed do </a:t>
            </a:r>
            <a:r>
              <a:rPr lang="en-US" err="1">
                <a:effectLst/>
                <a:latin typeface="Helvetica Neue" panose="02000503000000020004" pitchFamily="2" charset="0"/>
              </a:rPr>
              <a:t>eiusmod</a:t>
            </a:r>
            <a:r>
              <a:rPr lang="en-US">
                <a:effectLst/>
                <a:latin typeface="Helvetica Neue" panose="02000503000000020004" pitchFamily="2" charset="0"/>
              </a:rPr>
              <a:t> </a:t>
            </a:r>
            <a:r>
              <a:rPr lang="en-US" err="1">
                <a:effectLst/>
                <a:latin typeface="Helvetica Neue" panose="02000503000000020004" pitchFamily="2" charset="0"/>
              </a:rPr>
              <a:t>tempor</a:t>
            </a:r>
            <a:r>
              <a:rPr lang="en-US">
                <a:effectLst/>
                <a:latin typeface="Helvetica Neue" panose="02000503000000020004" pitchFamily="2" charset="0"/>
              </a:rPr>
              <a:t> </a:t>
            </a:r>
            <a:r>
              <a:rPr lang="en-US" err="1">
                <a:effectLst/>
                <a:latin typeface="Helvetica Neue" panose="02000503000000020004" pitchFamily="2" charset="0"/>
              </a:rPr>
              <a:t>incididunt</a:t>
            </a:r>
            <a:r>
              <a:rPr lang="en-US">
                <a:effectLst/>
                <a:latin typeface="Helvetica Neue" panose="02000503000000020004" pitchFamily="2" charset="0"/>
              </a:rPr>
              <a:t> </a:t>
            </a:r>
            <a:r>
              <a:rPr lang="en-US" err="1">
                <a:effectLst/>
                <a:latin typeface="Helvetica Neue" panose="02000503000000020004" pitchFamily="2" charset="0"/>
              </a:rPr>
              <a:t>ut</a:t>
            </a:r>
            <a:r>
              <a:rPr lang="en-US">
                <a:effectLst/>
                <a:latin typeface="Helvetica Neue" panose="02000503000000020004" pitchFamily="2" charset="0"/>
              </a:rPr>
              <a:t> labore et dolore magna </a:t>
            </a:r>
            <a:r>
              <a:rPr lang="en-US" err="1">
                <a:effectLst/>
                <a:latin typeface="Helvetica Neue" panose="02000503000000020004" pitchFamily="2" charset="0"/>
              </a:rPr>
              <a:t>aliqua</a:t>
            </a:r>
            <a:r>
              <a:rPr lang="en-US">
                <a:effectLst/>
                <a:latin typeface="Helvetica Neue" panose="02000503000000020004" pitchFamily="2" charset="0"/>
              </a:rPr>
              <a:t>. Ut </a:t>
            </a:r>
            <a:r>
              <a:rPr lang="en-US" err="1">
                <a:effectLst/>
                <a:latin typeface="Helvetica Neue" panose="02000503000000020004" pitchFamily="2" charset="0"/>
              </a:rPr>
              <a:t>enim</a:t>
            </a:r>
            <a:r>
              <a:rPr lang="en-US">
                <a:effectLst/>
                <a:latin typeface="Helvetica Neue" panose="02000503000000020004" pitchFamily="2" charset="0"/>
              </a:rPr>
              <a:t> ad minim </a:t>
            </a:r>
            <a:r>
              <a:rPr lang="en-US" err="1">
                <a:effectLst/>
                <a:latin typeface="Helvetica Neue" panose="02000503000000020004" pitchFamily="2" charset="0"/>
              </a:rPr>
              <a:t>veniam</a:t>
            </a:r>
            <a:r>
              <a:rPr lang="en-US">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5157707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a:effectLst/>
                <a:latin typeface="Helvetica Neue" panose="02000503000000020004" pitchFamily="2" charset="0"/>
              </a:rPr>
              <a:t>Lorem ipsum dolor sit </a:t>
            </a:r>
            <a:r>
              <a:rPr lang="en-US" err="1">
                <a:effectLst/>
                <a:latin typeface="Helvetica Neue" panose="02000503000000020004" pitchFamily="2" charset="0"/>
              </a:rPr>
              <a:t>amet</a:t>
            </a:r>
            <a:r>
              <a:rPr lang="en-US">
                <a:effectLst/>
                <a:latin typeface="Helvetica Neue" panose="02000503000000020004" pitchFamily="2" charset="0"/>
              </a:rPr>
              <a:t>, </a:t>
            </a:r>
            <a:r>
              <a:rPr lang="en-US" err="1">
                <a:effectLst/>
                <a:latin typeface="Helvetica Neue" panose="02000503000000020004" pitchFamily="2" charset="0"/>
              </a:rPr>
              <a:t>consectetur</a:t>
            </a:r>
            <a:r>
              <a:rPr lang="en-US">
                <a:effectLst/>
                <a:latin typeface="Helvetica Neue" panose="02000503000000020004" pitchFamily="2" charset="0"/>
              </a:rPr>
              <a:t> </a:t>
            </a:r>
            <a:r>
              <a:rPr lang="en-US" err="1">
                <a:effectLst/>
                <a:latin typeface="Helvetica Neue" panose="02000503000000020004" pitchFamily="2" charset="0"/>
              </a:rPr>
              <a:t>adipiscing</a:t>
            </a:r>
            <a:r>
              <a:rPr lang="en-US">
                <a:effectLst/>
                <a:latin typeface="Helvetica Neue" panose="02000503000000020004" pitchFamily="2" charset="0"/>
              </a:rPr>
              <a:t> </a:t>
            </a:r>
            <a:r>
              <a:rPr lang="en-US" err="1">
                <a:effectLst/>
                <a:latin typeface="Helvetica Neue" panose="02000503000000020004" pitchFamily="2" charset="0"/>
              </a:rPr>
              <a:t>elit</a:t>
            </a:r>
            <a:r>
              <a:rPr lang="en-US">
                <a:effectLst/>
                <a:latin typeface="Helvetica Neue" panose="02000503000000020004" pitchFamily="2" charset="0"/>
              </a:rPr>
              <a:t> sed do </a:t>
            </a:r>
            <a:r>
              <a:rPr lang="en-US" err="1">
                <a:effectLst/>
                <a:latin typeface="Helvetica Neue" panose="02000503000000020004" pitchFamily="2" charset="0"/>
              </a:rPr>
              <a:t>eiusmod</a:t>
            </a:r>
            <a:r>
              <a:rPr lang="en-US">
                <a:effectLst/>
                <a:latin typeface="Helvetica Neue" panose="02000503000000020004" pitchFamily="2" charset="0"/>
              </a:rPr>
              <a:t> </a:t>
            </a:r>
            <a:r>
              <a:rPr lang="en-US" err="1">
                <a:effectLst/>
                <a:latin typeface="Helvetica Neue" panose="02000503000000020004" pitchFamily="2" charset="0"/>
              </a:rPr>
              <a:t>tempor</a:t>
            </a:r>
            <a:r>
              <a:rPr lang="en-US">
                <a:effectLst/>
                <a:latin typeface="Helvetica Neue" panose="02000503000000020004" pitchFamily="2" charset="0"/>
              </a:rPr>
              <a:t> </a:t>
            </a:r>
            <a:r>
              <a:rPr lang="en-US" err="1">
                <a:effectLst/>
                <a:latin typeface="Helvetica Neue" panose="02000503000000020004" pitchFamily="2" charset="0"/>
              </a:rPr>
              <a:t>incididunt</a:t>
            </a:r>
            <a:r>
              <a:rPr lang="en-US">
                <a:effectLst/>
                <a:latin typeface="Helvetica Neue" panose="02000503000000020004" pitchFamily="2" charset="0"/>
              </a:rPr>
              <a:t> </a:t>
            </a:r>
            <a:r>
              <a:rPr lang="en-US" err="1">
                <a:effectLst/>
                <a:latin typeface="Helvetica Neue" panose="02000503000000020004" pitchFamily="2" charset="0"/>
              </a:rPr>
              <a:t>ut</a:t>
            </a:r>
            <a:r>
              <a:rPr lang="en-US">
                <a:effectLst/>
                <a:latin typeface="Helvetica Neue" panose="02000503000000020004" pitchFamily="2" charset="0"/>
              </a:rPr>
              <a:t> labore et dolore magna </a:t>
            </a:r>
            <a:r>
              <a:rPr lang="en-US" err="1">
                <a:effectLst/>
                <a:latin typeface="Helvetica Neue" panose="02000503000000020004" pitchFamily="2" charset="0"/>
              </a:rPr>
              <a:t>aliqua</a:t>
            </a:r>
            <a:r>
              <a:rPr lang="en-US">
                <a:effectLst/>
                <a:latin typeface="Helvetica Neue" panose="02000503000000020004" pitchFamily="2" charset="0"/>
              </a:rPr>
              <a:t>. Ut </a:t>
            </a:r>
            <a:r>
              <a:rPr lang="en-US" err="1">
                <a:effectLst/>
                <a:latin typeface="Helvetica Neue" panose="02000503000000020004" pitchFamily="2" charset="0"/>
              </a:rPr>
              <a:t>enim</a:t>
            </a:r>
            <a:r>
              <a:rPr lang="en-US">
                <a:effectLst/>
                <a:latin typeface="Helvetica Neue" panose="02000503000000020004" pitchFamily="2" charset="0"/>
              </a:rPr>
              <a:t> ad minim </a:t>
            </a:r>
            <a:r>
              <a:rPr lang="en-US" err="1">
                <a:effectLst/>
                <a:latin typeface="Helvetica Neue" panose="02000503000000020004" pitchFamily="2" charset="0"/>
              </a:rPr>
              <a:t>veniam</a:t>
            </a:r>
            <a:r>
              <a:rPr lang="en-US">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29295064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20630666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a:t>Fourth level statement</a:t>
            </a:r>
          </a:p>
        </p:txBody>
      </p:sp>
      <p:sp>
        <p:nvSpPr>
          <p:cNvPr id="2" name="Rectangle 1">
            <a:extLst>
              <a:ext uri="{FF2B5EF4-FFF2-40B4-BE49-F238E27FC236}">
                <a16:creationId xmlns:a16="http://schemas.microsoft.com/office/drawing/2014/main" id="{ABC92165-EA63-BA70-B09C-3AE3A0E3B988}"/>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34434186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userDrawn="1"/>
        </p:nvSpPr>
        <p:spPr>
          <a:xfrm>
            <a:off x="836428" y="2435962"/>
            <a:ext cx="10441173" cy="1769715"/>
          </a:xfrm>
          <a:prstGeom prst="rect">
            <a:avLst/>
          </a:prstGeom>
          <a:noFill/>
        </p:spPr>
        <p:txBody>
          <a:bodyPr wrap="square" lIns="0" tIns="0" rIns="0" bIns="0" rtlCol="0">
            <a:spAutoFit/>
          </a:bodyPr>
          <a:lstStyle/>
          <a:p>
            <a:pPr algn="ctr"/>
            <a:r>
              <a:rPr lang="en-US" sz="11500" b="1">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err="1"/>
              <a:t>PresenterEmail@Ellucian.com</a:t>
            </a:r>
            <a:endParaRPr lang="en-US"/>
          </a:p>
        </p:txBody>
      </p:sp>
      <p:pic>
        <p:nvPicPr>
          <p:cNvPr id="2" name="Graphic 1">
            <a:extLst>
              <a:ext uri="{FF2B5EF4-FFF2-40B4-BE49-F238E27FC236}">
                <a16:creationId xmlns:a16="http://schemas.microsoft.com/office/drawing/2014/main" id="{7C871F66-B895-DB0B-1D73-90E74A3951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726023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userDrawn="1"/>
        </p:nvSpPr>
        <p:spPr>
          <a:xfrm>
            <a:off x="836428" y="2544142"/>
            <a:ext cx="10441173" cy="1769715"/>
          </a:xfrm>
          <a:prstGeom prst="rect">
            <a:avLst/>
          </a:prstGeom>
          <a:noFill/>
        </p:spPr>
        <p:txBody>
          <a:bodyPr wrap="square" lIns="0" tIns="0" rIns="0" bIns="0" rtlCol="0">
            <a:spAutoFit/>
          </a:bodyPr>
          <a:lstStyle/>
          <a:p>
            <a:pPr algn="ctr"/>
            <a:r>
              <a:rPr lang="en-US" sz="11500" b="1">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8325334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09054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28223407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12434125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21961570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42640983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12500540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10292037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20811156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41637981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36776288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5627238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13624287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13526059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173837731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12762641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27818724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33491493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80025646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9723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a:t>Headline culpa qui official arum </a:t>
            </a:r>
            <a:r>
              <a:rPr lang="en-US" err="1"/>
              <a:t>quidem</a:t>
            </a:r>
            <a:r>
              <a:rPr lang="en-US"/>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omnis</a:t>
            </a:r>
            <a:r>
              <a:rPr lang="en-US"/>
              <a:t> </a:t>
            </a:r>
            <a:r>
              <a:rPr lang="en-US" err="1"/>
              <a:t>iste</a:t>
            </a:r>
            <a:r>
              <a:rPr lang="en-US"/>
              <a:t> </a:t>
            </a:r>
            <a:r>
              <a:rPr lang="en-US" err="1"/>
              <a:t>natus</a:t>
            </a:r>
            <a:r>
              <a:rPr lang="en-US"/>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a:t>First &amp; Last Name</a:t>
            </a:r>
            <a:br>
              <a:rPr lang="en-US"/>
            </a:br>
            <a:r>
              <a:rPr lang="en-US"/>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a:t>Month, Year</a:t>
            </a:r>
          </a:p>
        </p:txBody>
      </p:sp>
      <p:sp>
        <p:nvSpPr>
          <p:cNvPr id="7" name="TextBox 6">
            <a:extLst>
              <a:ext uri="{FF2B5EF4-FFF2-40B4-BE49-F238E27FC236}">
                <a16:creationId xmlns:a16="http://schemas.microsoft.com/office/drawing/2014/main" id="{AE8FAC4F-619C-5E6B-F2B0-D001F5A51111}"/>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14350687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a:t>Headline culpa qui official arum </a:t>
            </a:r>
            <a:r>
              <a:rPr lang="en-US" err="1"/>
              <a:t>quidem</a:t>
            </a:r>
            <a:r>
              <a:rPr lang="en-US"/>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omnis</a:t>
            </a:r>
            <a:r>
              <a:rPr lang="en-US"/>
              <a:t> </a:t>
            </a:r>
            <a:r>
              <a:rPr lang="en-US" err="1"/>
              <a:t>iste</a:t>
            </a:r>
            <a:r>
              <a:rPr lang="en-US"/>
              <a:t> </a:t>
            </a:r>
            <a:r>
              <a:rPr lang="en-US" err="1"/>
              <a:t>natus</a:t>
            </a:r>
            <a:r>
              <a:rPr lang="en-US"/>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a:t>First &amp; Last Name</a:t>
            </a:r>
            <a:br>
              <a:rPr lang="en-US"/>
            </a:br>
            <a:r>
              <a:rPr lang="en-US"/>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39546925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a:t>Headline culpa qui official arum </a:t>
            </a:r>
            <a:r>
              <a:rPr lang="en-US" err="1"/>
              <a:t>quidem</a:t>
            </a:r>
            <a:r>
              <a:rPr lang="en-US"/>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a:t>First &amp; Last Name</a:t>
            </a:r>
            <a:br>
              <a:rPr lang="en-US"/>
            </a:br>
            <a:r>
              <a:rPr lang="en-US"/>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226552371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a:t>Headline culpa qui official arum </a:t>
            </a:r>
            <a:r>
              <a:rPr lang="en-US" err="1"/>
              <a:t>quidem</a:t>
            </a:r>
            <a:r>
              <a:rPr lang="en-US"/>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a:t>First &amp; Last Name</a:t>
            </a:r>
            <a:br>
              <a:rPr lang="en-US"/>
            </a:br>
            <a:r>
              <a:rPr lang="en-US"/>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174119577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omnis</a:t>
            </a:r>
            <a:r>
              <a:rPr lang="en-US"/>
              <a:t> </a:t>
            </a:r>
            <a:r>
              <a:rPr lang="en-US" err="1"/>
              <a:t>iste</a:t>
            </a:r>
            <a:r>
              <a:rPr lang="en-US"/>
              <a:t> </a:t>
            </a:r>
            <a:r>
              <a:rPr lang="en-US" err="1"/>
              <a:t>natus</a:t>
            </a:r>
            <a:r>
              <a:rPr lang="en-US"/>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a:t>First &amp; Last Name</a:t>
            </a:r>
            <a:br>
              <a:rPr lang="en-US"/>
            </a:br>
            <a:r>
              <a:rPr lang="en-US"/>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73159219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a:t>Headline culpa qui official arum </a:t>
            </a:r>
            <a:r>
              <a:rPr lang="en-US" err="1"/>
              <a:t>quidem</a:t>
            </a:r>
            <a:r>
              <a:rPr lang="en-US"/>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omnis</a:t>
            </a:r>
            <a:r>
              <a:rPr lang="en-US"/>
              <a:t> </a:t>
            </a:r>
            <a:r>
              <a:rPr lang="en-US" err="1"/>
              <a:t>iste</a:t>
            </a:r>
            <a:r>
              <a:rPr lang="en-US"/>
              <a:t> </a:t>
            </a:r>
            <a:r>
              <a:rPr lang="en-US" err="1"/>
              <a:t>natus</a:t>
            </a:r>
            <a:r>
              <a:rPr lang="en-US"/>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a:t>First &amp; Last Name</a:t>
            </a:r>
            <a:br>
              <a:rPr lang="en-US"/>
            </a:br>
            <a:r>
              <a:rPr lang="en-US"/>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29256095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a:t>Headline culpa qui official arum </a:t>
            </a:r>
            <a:r>
              <a:rPr lang="en-US" err="1"/>
              <a:t>quidem</a:t>
            </a:r>
            <a:r>
              <a:rPr lang="en-US"/>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omnis</a:t>
            </a:r>
            <a:r>
              <a:rPr lang="en-US"/>
              <a:t> </a:t>
            </a:r>
            <a:r>
              <a:rPr lang="en-US" err="1"/>
              <a:t>iste</a:t>
            </a:r>
            <a:r>
              <a:rPr lang="en-US"/>
              <a:t> </a:t>
            </a:r>
            <a:r>
              <a:rPr lang="en-US" err="1"/>
              <a:t>natus</a:t>
            </a:r>
            <a:r>
              <a:rPr lang="en-US"/>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a:t>First &amp; Last Name</a:t>
            </a:r>
            <a:br>
              <a:rPr lang="en-US"/>
            </a:br>
            <a:r>
              <a:rPr lang="en-US"/>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349715702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a:t>First &amp; Last Name</a:t>
            </a:r>
            <a:br>
              <a:rPr lang="en-US"/>
            </a:br>
            <a:r>
              <a:rPr lang="en-US"/>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391308280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773353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Tree>
    <p:extLst>
      <p:ext uri="{BB962C8B-B14F-4D97-AF65-F5344CB8AC3E}">
        <p14:creationId xmlns:p14="http://schemas.microsoft.com/office/powerpoint/2010/main" val="163662118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7380704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3384646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41796156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03754985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48027350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a:t>Agenda or Table of Contents</a:t>
            </a:r>
          </a:p>
        </p:txBody>
      </p:sp>
    </p:spTree>
    <p:extLst>
      <p:ext uri="{BB962C8B-B14F-4D97-AF65-F5344CB8AC3E}">
        <p14:creationId xmlns:p14="http://schemas.microsoft.com/office/powerpoint/2010/main" val="338361231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a:t>Breaker slide culpa qui official arum </a:t>
            </a:r>
            <a:r>
              <a:rPr lang="en-US" err="1"/>
              <a:t>quidem</a:t>
            </a:r>
            <a:r>
              <a:rPr lang="en-US"/>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196853283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a:t>Breaker slide culpa qui official arum </a:t>
            </a:r>
            <a:r>
              <a:rPr lang="en-US" err="1"/>
              <a:t>quidem</a:t>
            </a:r>
            <a:r>
              <a:rPr lang="en-US"/>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347546160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a:t>Breaker slide culpa qui official arum </a:t>
            </a:r>
            <a:r>
              <a:rPr lang="en-US" err="1"/>
              <a:t>quidem</a:t>
            </a:r>
            <a:r>
              <a:rPr lang="en-US"/>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201953014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0314450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7938622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15100297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a:t>Headline culpa qui official arum </a:t>
            </a:r>
            <a:r>
              <a:rPr lang="en-US" err="1"/>
              <a:t>quidem</a:t>
            </a:r>
            <a:r>
              <a:rPr lang="en-US"/>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3062253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r>
              <a:rPr lang="en-US"/>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000626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r>
              <a:rPr lang="en-US"/>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2590022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endParaRPr lang="en-US"/>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a:t>[Click to insert image]</a:t>
            </a:r>
          </a:p>
        </p:txBody>
      </p:sp>
    </p:spTree>
    <p:extLst>
      <p:ext uri="{BB962C8B-B14F-4D97-AF65-F5344CB8AC3E}">
        <p14:creationId xmlns:p14="http://schemas.microsoft.com/office/powerpoint/2010/main" val="169340090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endParaRPr lang="en-US"/>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97996453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a:t>[Click to insert image]</a:t>
            </a:r>
          </a:p>
        </p:txBody>
      </p:sp>
    </p:spTree>
    <p:extLst>
      <p:ext uri="{BB962C8B-B14F-4D97-AF65-F5344CB8AC3E}">
        <p14:creationId xmlns:p14="http://schemas.microsoft.com/office/powerpoint/2010/main" val="223142264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a:t>Headline culpa qui official arum </a:t>
            </a:r>
            <a:r>
              <a:rPr lang="en-US" err="1"/>
              <a:t>quidem</a:t>
            </a:r>
            <a:endParaRPr lang="en-US"/>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a:t>Subhead culpa qui official arum </a:t>
            </a:r>
            <a:r>
              <a:rPr lang="en-US" err="1"/>
              <a:t>quidem</a:t>
            </a:r>
            <a:r>
              <a:rPr lang="en-US"/>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308491707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a:effectLst/>
                <a:latin typeface="Helvetica Neue" panose="02000503000000020004" pitchFamily="2" charset="0"/>
              </a:rPr>
              <a:t>Lorem ipsum dolor sit </a:t>
            </a:r>
            <a:r>
              <a:rPr lang="en-US" err="1">
                <a:effectLst/>
                <a:latin typeface="Helvetica Neue" panose="02000503000000020004" pitchFamily="2" charset="0"/>
              </a:rPr>
              <a:t>amet</a:t>
            </a:r>
            <a:r>
              <a:rPr lang="en-US">
                <a:effectLst/>
                <a:latin typeface="Helvetica Neue" panose="02000503000000020004" pitchFamily="2" charset="0"/>
              </a:rPr>
              <a:t>, </a:t>
            </a:r>
            <a:r>
              <a:rPr lang="en-US" err="1">
                <a:effectLst/>
                <a:latin typeface="Helvetica Neue" panose="02000503000000020004" pitchFamily="2" charset="0"/>
              </a:rPr>
              <a:t>consectetur</a:t>
            </a:r>
            <a:r>
              <a:rPr lang="en-US">
                <a:effectLst/>
                <a:latin typeface="Helvetica Neue" panose="02000503000000020004" pitchFamily="2" charset="0"/>
              </a:rPr>
              <a:t> </a:t>
            </a:r>
            <a:r>
              <a:rPr lang="en-US" err="1">
                <a:effectLst/>
                <a:latin typeface="Helvetica Neue" panose="02000503000000020004" pitchFamily="2" charset="0"/>
              </a:rPr>
              <a:t>adipiscing</a:t>
            </a:r>
            <a:r>
              <a:rPr lang="en-US">
                <a:effectLst/>
                <a:latin typeface="Helvetica Neue" panose="02000503000000020004" pitchFamily="2" charset="0"/>
              </a:rPr>
              <a:t> </a:t>
            </a:r>
            <a:r>
              <a:rPr lang="en-US" err="1">
                <a:effectLst/>
                <a:latin typeface="Helvetica Neue" panose="02000503000000020004" pitchFamily="2" charset="0"/>
              </a:rPr>
              <a:t>elit</a:t>
            </a:r>
            <a:r>
              <a:rPr lang="en-US">
                <a:effectLst/>
                <a:latin typeface="Helvetica Neue" panose="02000503000000020004" pitchFamily="2" charset="0"/>
              </a:rPr>
              <a:t> sed do </a:t>
            </a:r>
            <a:r>
              <a:rPr lang="en-US" err="1">
                <a:effectLst/>
                <a:latin typeface="Helvetica Neue" panose="02000503000000020004" pitchFamily="2" charset="0"/>
              </a:rPr>
              <a:t>eiusmod</a:t>
            </a:r>
            <a:r>
              <a:rPr lang="en-US">
                <a:effectLst/>
                <a:latin typeface="Helvetica Neue" panose="02000503000000020004" pitchFamily="2" charset="0"/>
              </a:rPr>
              <a:t> </a:t>
            </a:r>
            <a:r>
              <a:rPr lang="en-US" err="1">
                <a:effectLst/>
                <a:latin typeface="Helvetica Neue" panose="02000503000000020004" pitchFamily="2" charset="0"/>
              </a:rPr>
              <a:t>tempor</a:t>
            </a:r>
            <a:r>
              <a:rPr lang="en-US">
                <a:effectLst/>
                <a:latin typeface="Helvetica Neue" panose="02000503000000020004" pitchFamily="2" charset="0"/>
              </a:rPr>
              <a:t> </a:t>
            </a:r>
            <a:r>
              <a:rPr lang="en-US" err="1">
                <a:effectLst/>
                <a:latin typeface="Helvetica Neue" panose="02000503000000020004" pitchFamily="2" charset="0"/>
              </a:rPr>
              <a:t>incididunt</a:t>
            </a:r>
            <a:r>
              <a:rPr lang="en-US">
                <a:effectLst/>
                <a:latin typeface="Helvetica Neue" panose="02000503000000020004" pitchFamily="2" charset="0"/>
              </a:rPr>
              <a:t> </a:t>
            </a:r>
            <a:r>
              <a:rPr lang="en-US" err="1">
                <a:effectLst/>
                <a:latin typeface="Helvetica Neue" panose="02000503000000020004" pitchFamily="2" charset="0"/>
              </a:rPr>
              <a:t>ut</a:t>
            </a:r>
            <a:r>
              <a:rPr lang="en-US">
                <a:effectLst/>
                <a:latin typeface="Helvetica Neue" panose="02000503000000020004" pitchFamily="2" charset="0"/>
              </a:rPr>
              <a:t> labore et dolore magna </a:t>
            </a:r>
            <a:r>
              <a:rPr lang="en-US" err="1">
                <a:effectLst/>
                <a:latin typeface="Helvetica Neue" panose="02000503000000020004" pitchFamily="2" charset="0"/>
              </a:rPr>
              <a:t>aliqua</a:t>
            </a:r>
            <a:r>
              <a:rPr lang="en-US">
                <a:effectLst/>
                <a:latin typeface="Helvetica Neue" panose="02000503000000020004" pitchFamily="2" charset="0"/>
              </a:rPr>
              <a:t>. Ut </a:t>
            </a:r>
            <a:r>
              <a:rPr lang="en-US" err="1">
                <a:effectLst/>
                <a:latin typeface="Helvetica Neue" panose="02000503000000020004" pitchFamily="2" charset="0"/>
              </a:rPr>
              <a:t>enim</a:t>
            </a:r>
            <a:r>
              <a:rPr lang="en-US">
                <a:effectLst/>
                <a:latin typeface="Helvetica Neue" panose="02000503000000020004" pitchFamily="2" charset="0"/>
              </a:rPr>
              <a:t> ad minim </a:t>
            </a:r>
            <a:r>
              <a:rPr lang="en-US" err="1">
                <a:effectLst/>
                <a:latin typeface="Helvetica Neue" panose="02000503000000020004" pitchFamily="2" charset="0"/>
              </a:rPr>
              <a:t>veniam</a:t>
            </a:r>
            <a:r>
              <a:rPr lang="en-US">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86607061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a:effectLst/>
                <a:latin typeface="Helvetica Neue" panose="02000503000000020004" pitchFamily="2" charset="0"/>
              </a:rPr>
              <a:t>Lorem ipsum dolor sit </a:t>
            </a:r>
            <a:r>
              <a:rPr lang="en-US" err="1">
                <a:effectLst/>
                <a:latin typeface="Helvetica Neue" panose="02000503000000020004" pitchFamily="2" charset="0"/>
              </a:rPr>
              <a:t>amet</a:t>
            </a:r>
            <a:r>
              <a:rPr lang="en-US">
                <a:effectLst/>
                <a:latin typeface="Helvetica Neue" panose="02000503000000020004" pitchFamily="2" charset="0"/>
              </a:rPr>
              <a:t>, </a:t>
            </a:r>
            <a:r>
              <a:rPr lang="en-US" err="1">
                <a:effectLst/>
                <a:latin typeface="Helvetica Neue" panose="02000503000000020004" pitchFamily="2" charset="0"/>
              </a:rPr>
              <a:t>consectetur</a:t>
            </a:r>
            <a:r>
              <a:rPr lang="en-US">
                <a:effectLst/>
                <a:latin typeface="Helvetica Neue" panose="02000503000000020004" pitchFamily="2" charset="0"/>
              </a:rPr>
              <a:t> </a:t>
            </a:r>
            <a:r>
              <a:rPr lang="en-US" err="1">
                <a:effectLst/>
                <a:latin typeface="Helvetica Neue" panose="02000503000000020004" pitchFamily="2" charset="0"/>
              </a:rPr>
              <a:t>adipiscing</a:t>
            </a:r>
            <a:r>
              <a:rPr lang="en-US">
                <a:effectLst/>
                <a:latin typeface="Helvetica Neue" panose="02000503000000020004" pitchFamily="2" charset="0"/>
              </a:rPr>
              <a:t> </a:t>
            </a:r>
            <a:r>
              <a:rPr lang="en-US" err="1">
                <a:effectLst/>
                <a:latin typeface="Helvetica Neue" panose="02000503000000020004" pitchFamily="2" charset="0"/>
              </a:rPr>
              <a:t>elit</a:t>
            </a:r>
            <a:r>
              <a:rPr lang="en-US">
                <a:effectLst/>
                <a:latin typeface="Helvetica Neue" panose="02000503000000020004" pitchFamily="2" charset="0"/>
              </a:rPr>
              <a:t> sed do </a:t>
            </a:r>
            <a:r>
              <a:rPr lang="en-US" err="1">
                <a:effectLst/>
                <a:latin typeface="Helvetica Neue" panose="02000503000000020004" pitchFamily="2" charset="0"/>
              </a:rPr>
              <a:t>eiusmod</a:t>
            </a:r>
            <a:r>
              <a:rPr lang="en-US">
                <a:effectLst/>
                <a:latin typeface="Helvetica Neue" panose="02000503000000020004" pitchFamily="2" charset="0"/>
              </a:rPr>
              <a:t> </a:t>
            </a:r>
            <a:r>
              <a:rPr lang="en-US" err="1">
                <a:effectLst/>
                <a:latin typeface="Helvetica Neue" panose="02000503000000020004" pitchFamily="2" charset="0"/>
              </a:rPr>
              <a:t>tempor</a:t>
            </a:r>
            <a:r>
              <a:rPr lang="en-US">
                <a:effectLst/>
                <a:latin typeface="Helvetica Neue" panose="02000503000000020004" pitchFamily="2" charset="0"/>
              </a:rPr>
              <a:t> </a:t>
            </a:r>
            <a:r>
              <a:rPr lang="en-US" err="1">
                <a:effectLst/>
                <a:latin typeface="Helvetica Neue" panose="02000503000000020004" pitchFamily="2" charset="0"/>
              </a:rPr>
              <a:t>incididunt</a:t>
            </a:r>
            <a:r>
              <a:rPr lang="en-US">
                <a:effectLst/>
                <a:latin typeface="Helvetica Neue" panose="02000503000000020004" pitchFamily="2" charset="0"/>
              </a:rPr>
              <a:t> </a:t>
            </a:r>
            <a:r>
              <a:rPr lang="en-US" err="1">
                <a:effectLst/>
                <a:latin typeface="Helvetica Neue" panose="02000503000000020004" pitchFamily="2" charset="0"/>
              </a:rPr>
              <a:t>ut</a:t>
            </a:r>
            <a:r>
              <a:rPr lang="en-US">
                <a:effectLst/>
                <a:latin typeface="Helvetica Neue" panose="02000503000000020004" pitchFamily="2" charset="0"/>
              </a:rPr>
              <a:t> labore et dolore magna </a:t>
            </a:r>
            <a:r>
              <a:rPr lang="en-US" err="1">
                <a:effectLst/>
                <a:latin typeface="Helvetica Neue" panose="02000503000000020004" pitchFamily="2" charset="0"/>
              </a:rPr>
              <a:t>aliqua</a:t>
            </a:r>
            <a:r>
              <a:rPr lang="en-US">
                <a:effectLst/>
                <a:latin typeface="Helvetica Neue" panose="02000503000000020004" pitchFamily="2" charset="0"/>
              </a:rPr>
              <a:t>. Ut </a:t>
            </a:r>
            <a:r>
              <a:rPr lang="en-US" err="1">
                <a:effectLst/>
                <a:latin typeface="Helvetica Neue" panose="02000503000000020004" pitchFamily="2" charset="0"/>
              </a:rPr>
              <a:t>enim</a:t>
            </a:r>
            <a:r>
              <a:rPr lang="en-US">
                <a:effectLst/>
                <a:latin typeface="Helvetica Neue" panose="02000503000000020004" pitchFamily="2" charset="0"/>
              </a:rPr>
              <a:t> ad minim </a:t>
            </a:r>
            <a:r>
              <a:rPr lang="en-US" err="1">
                <a:effectLst/>
                <a:latin typeface="Helvetica Neue" panose="02000503000000020004" pitchFamily="2" charset="0"/>
              </a:rPr>
              <a:t>veniam</a:t>
            </a:r>
            <a:r>
              <a:rPr lang="en-US">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410264048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1980511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147058366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err="1"/>
              <a:t>PresenterEmail@Ellucian.com</a:t>
            </a:r>
            <a:endParaRPr lang="en-US"/>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313848191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287519042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84025595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168260550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973732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30771278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279772727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171308659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7880885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331448011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412266385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412490453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317117533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263215105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42560781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57806181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415187844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164062618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228491356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48897898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162652234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308317963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648803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a:t>Headline culpa qui official arum </a:t>
            </a:r>
            <a:r>
              <a:rPr lang="en-US" err="1"/>
              <a:t>quidem</a:t>
            </a:r>
            <a:r>
              <a:rPr lang="en-US"/>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omnis</a:t>
            </a:r>
            <a:r>
              <a:rPr lang="en-US"/>
              <a:t> </a:t>
            </a:r>
            <a:r>
              <a:rPr lang="en-US" err="1"/>
              <a:t>iste</a:t>
            </a:r>
            <a:r>
              <a:rPr lang="en-US"/>
              <a:t> </a:t>
            </a:r>
            <a:r>
              <a:rPr lang="en-US" err="1"/>
              <a:t>natus</a:t>
            </a:r>
            <a:r>
              <a:rPr lang="en-US"/>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a:t>First &amp; Last Name</a:t>
            </a:r>
            <a:br>
              <a:rPr lang="en-US"/>
            </a:br>
            <a:r>
              <a:rPr lang="en-US"/>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156494332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a:t>Headline culpa qui official arum </a:t>
            </a:r>
            <a:r>
              <a:rPr lang="en-US" err="1"/>
              <a:t>quidem</a:t>
            </a:r>
            <a:r>
              <a:rPr lang="en-US"/>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a:t>First &amp; Last Name</a:t>
            </a:r>
            <a:br>
              <a:rPr lang="en-US"/>
            </a:br>
            <a:r>
              <a:rPr lang="en-US"/>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20064987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a:t>Headline culpa qui official arum </a:t>
            </a:r>
            <a:r>
              <a:rPr lang="en-US" err="1"/>
              <a:t>quidem</a:t>
            </a:r>
            <a:r>
              <a:rPr lang="en-US"/>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a:t>First &amp; Last Name</a:t>
            </a:r>
            <a:br>
              <a:rPr lang="en-US"/>
            </a:br>
            <a:r>
              <a:rPr lang="en-US"/>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162221332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omnis</a:t>
            </a:r>
            <a:r>
              <a:rPr lang="en-US"/>
              <a:t> </a:t>
            </a:r>
            <a:r>
              <a:rPr lang="en-US" err="1"/>
              <a:t>iste</a:t>
            </a:r>
            <a:r>
              <a:rPr lang="en-US"/>
              <a:t> </a:t>
            </a:r>
            <a:r>
              <a:rPr lang="en-US" err="1"/>
              <a:t>natus</a:t>
            </a:r>
            <a:r>
              <a:rPr lang="en-US"/>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a:t>First &amp; Last Name</a:t>
            </a:r>
            <a:br>
              <a:rPr lang="en-US"/>
            </a:br>
            <a:r>
              <a:rPr lang="en-US"/>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249107931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a:t>Headline culpa qui official arum </a:t>
            </a:r>
            <a:r>
              <a:rPr lang="en-US" err="1"/>
              <a:t>quidem</a:t>
            </a:r>
            <a:r>
              <a:rPr lang="en-US"/>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omnis</a:t>
            </a:r>
            <a:r>
              <a:rPr lang="en-US"/>
              <a:t> </a:t>
            </a:r>
            <a:r>
              <a:rPr lang="en-US" err="1"/>
              <a:t>iste</a:t>
            </a:r>
            <a:r>
              <a:rPr lang="en-US"/>
              <a:t> </a:t>
            </a:r>
            <a:r>
              <a:rPr lang="en-US" err="1"/>
              <a:t>natus</a:t>
            </a:r>
            <a:r>
              <a:rPr lang="en-US"/>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a:t>First &amp; Last Name</a:t>
            </a:r>
            <a:br>
              <a:rPr lang="en-US"/>
            </a:br>
            <a:r>
              <a:rPr lang="en-US"/>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324965841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a:t>Headline culpa qui official arum </a:t>
            </a:r>
            <a:r>
              <a:rPr lang="en-US" err="1"/>
              <a:t>quidem</a:t>
            </a:r>
            <a:r>
              <a:rPr lang="en-US"/>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omnis</a:t>
            </a:r>
            <a:r>
              <a:rPr lang="en-US"/>
              <a:t> </a:t>
            </a:r>
            <a:r>
              <a:rPr lang="en-US" err="1"/>
              <a:t>iste</a:t>
            </a:r>
            <a:r>
              <a:rPr lang="en-US"/>
              <a:t> </a:t>
            </a:r>
            <a:r>
              <a:rPr lang="en-US" err="1"/>
              <a:t>natus</a:t>
            </a:r>
            <a:r>
              <a:rPr lang="en-US"/>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a:t>First &amp; Last Name</a:t>
            </a:r>
            <a:br>
              <a:rPr lang="en-US"/>
            </a:br>
            <a:r>
              <a:rPr lang="en-US"/>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160772612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a:t>First &amp; Last Name</a:t>
            </a:r>
            <a:br>
              <a:rPr lang="en-US"/>
            </a:br>
            <a:r>
              <a:rPr lang="en-US"/>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76663013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792287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Tree>
    <p:extLst>
      <p:ext uri="{BB962C8B-B14F-4D97-AF65-F5344CB8AC3E}">
        <p14:creationId xmlns:p14="http://schemas.microsoft.com/office/powerpoint/2010/main" val="65637051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294973287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23008679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93270292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84322866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a:t>Headline culpa qui official arum </a:t>
            </a:r>
            <a:r>
              <a:rPr lang="en-US" err="1"/>
              <a:t>quidem</a:t>
            </a:r>
            <a:r>
              <a:rPr lang="en-US"/>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72391015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a:t>Agenda item sed </a:t>
            </a:r>
            <a:r>
              <a:rPr lang="en-US" err="1"/>
              <a:t>ut</a:t>
            </a:r>
            <a:r>
              <a:rPr lang="en-US"/>
              <a:t> </a:t>
            </a:r>
            <a:r>
              <a:rPr lang="en-US" err="1"/>
              <a:t>perspiciatis</a:t>
            </a:r>
            <a:r>
              <a:rPr lang="en-US"/>
              <a:t> </a:t>
            </a:r>
            <a:r>
              <a:rPr lang="en-US" err="1"/>
              <a:t>unde</a:t>
            </a:r>
            <a:r>
              <a:rPr lang="en-US"/>
              <a:t> </a:t>
            </a:r>
            <a:r>
              <a:rPr lang="en-US" err="1"/>
              <a:t>omnis</a:t>
            </a:r>
            <a:endParaRPr lang="en-US"/>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a:t>Agenda or Table of Contents</a:t>
            </a:r>
          </a:p>
        </p:txBody>
      </p:sp>
    </p:spTree>
    <p:extLst>
      <p:ext uri="{BB962C8B-B14F-4D97-AF65-F5344CB8AC3E}">
        <p14:creationId xmlns:p14="http://schemas.microsoft.com/office/powerpoint/2010/main" val="212619389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a:t>Breaker slide culpa qui official arum </a:t>
            </a:r>
            <a:r>
              <a:rPr lang="en-US" err="1"/>
              <a:t>quidem</a:t>
            </a:r>
            <a:r>
              <a:rPr lang="en-US"/>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215102961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a:t>Breaker slide culpa qui official arum </a:t>
            </a:r>
            <a:r>
              <a:rPr lang="en-US" err="1"/>
              <a:t>quidem</a:t>
            </a:r>
            <a:r>
              <a:rPr lang="en-US"/>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152863190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a:t>Breaker slide culpa qui official arum </a:t>
            </a:r>
            <a:r>
              <a:rPr lang="en-US" err="1"/>
              <a:t>quidem</a:t>
            </a:r>
            <a:r>
              <a:rPr lang="en-US"/>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215789848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93274870"/>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18316356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r>
              <a:rPr lang="en-US"/>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2010330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a:t>Headline culpa qui official arum </a:t>
            </a:r>
            <a:r>
              <a:rPr lang="en-US" err="1"/>
              <a:t>quidem</a:t>
            </a:r>
            <a:r>
              <a:rPr lang="en-US"/>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19086158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r>
              <a:rPr lang="en-US"/>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0647695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r>
              <a:rPr lang="en-US"/>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a:t>Subhead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endParaRPr lang="en-US"/>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3169881"/>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endParaRPr lang="en-US"/>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a:t>[Click to insert image]</a:t>
            </a:r>
          </a:p>
        </p:txBody>
      </p:sp>
    </p:spTree>
    <p:extLst>
      <p:ext uri="{BB962C8B-B14F-4D97-AF65-F5344CB8AC3E}">
        <p14:creationId xmlns:p14="http://schemas.microsoft.com/office/powerpoint/2010/main" val="282960548"/>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a:t>Headline culpa qui official arum </a:t>
            </a:r>
            <a:r>
              <a:rPr lang="en-US" err="1"/>
              <a:t>quidem</a:t>
            </a:r>
            <a:endParaRPr lang="en-US"/>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a:t>Subhead culpa qui official arum </a:t>
            </a:r>
            <a:r>
              <a:rPr lang="en-US" err="1"/>
              <a:t>quidem</a:t>
            </a:r>
            <a:r>
              <a:rPr lang="en-US"/>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3232188062"/>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a:t>[Click to insert image]</a:t>
            </a:r>
          </a:p>
        </p:txBody>
      </p:sp>
    </p:spTree>
    <p:extLst>
      <p:ext uri="{BB962C8B-B14F-4D97-AF65-F5344CB8AC3E}">
        <p14:creationId xmlns:p14="http://schemas.microsoft.com/office/powerpoint/2010/main" val="1622462621"/>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a:t>Headline culpa qui official arum </a:t>
            </a:r>
            <a:r>
              <a:rPr lang="en-US" err="1"/>
              <a:t>quidem</a:t>
            </a:r>
            <a:endParaRPr lang="en-US"/>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a:t>Subhead culpa qui official arum </a:t>
            </a:r>
            <a:r>
              <a:rPr lang="en-US" err="1"/>
              <a:t>quidem</a:t>
            </a:r>
            <a:r>
              <a:rPr lang="en-US"/>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112429922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a:effectLst/>
                <a:latin typeface="Helvetica Neue" panose="02000503000000020004" pitchFamily="2" charset="0"/>
              </a:rPr>
              <a:t>Lorem ipsum dolor sit </a:t>
            </a:r>
            <a:r>
              <a:rPr lang="en-US" err="1">
                <a:effectLst/>
                <a:latin typeface="Helvetica Neue" panose="02000503000000020004" pitchFamily="2" charset="0"/>
              </a:rPr>
              <a:t>amet</a:t>
            </a:r>
            <a:r>
              <a:rPr lang="en-US">
                <a:effectLst/>
                <a:latin typeface="Helvetica Neue" panose="02000503000000020004" pitchFamily="2" charset="0"/>
              </a:rPr>
              <a:t>, </a:t>
            </a:r>
            <a:r>
              <a:rPr lang="en-US" err="1">
                <a:effectLst/>
                <a:latin typeface="Helvetica Neue" panose="02000503000000020004" pitchFamily="2" charset="0"/>
              </a:rPr>
              <a:t>consectetur</a:t>
            </a:r>
            <a:r>
              <a:rPr lang="en-US">
                <a:effectLst/>
                <a:latin typeface="Helvetica Neue" panose="02000503000000020004" pitchFamily="2" charset="0"/>
              </a:rPr>
              <a:t> </a:t>
            </a:r>
            <a:r>
              <a:rPr lang="en-US" err="1">
                <a:effectLst/>
                <a:latin typeface="Helvetica Neue" panose="02000503000000020004" pitchFamily="2" charset="0"/>
              </a:rPr>
              <a:t>adipiscing</a:t>
            </a:r>
            <a:r>
              <a:rPr lang="en-US">
                <a:effectLst/>
                <a:latin typeface="Helvetica Neue" panose="02000503000000020004" pitchFamily="2" charset="0"/>
              </a:rPr>
              <a:t> </a:t>
            </a:r>
            <a:r>
              <a:rPr lang="en-US" err="1">
                <a:effectLst/>
                <a:latin typeface="Helvetica Neue" panose="02000503000000020004" pitchFamily="2" charset="0"/>
              </a:rPr>
              <a:t>elit</a:t>
            </a:r>
            <a:r>
              <a:rPr lang="en-US">
                <a:effectLst/>
                <a:latin typeface="Helvetica Neue" panose="02000503000000020004" pitchFamily="2" charset="0"/>
              </a:rPr>
              <a:t> sed do </a:t>
            </a:r>
            <a:r>
              <a:rPr lang="en-US" err="1">
                <a:effectLst/>
                <a:latin typeface="Helvetica Neue" panose="02000503000000020004" pitchFamily="2" charset="0"/>
              </a:rPr>
              <a:t>eiusmod</a:t>
            </a:r>
            <a:r>
              <a:rPr lang="en-US">
                <a:effectLst/>
                <a:latin typeface="Helvetica Neue" panose="02000503000000020004" pitchFamily="2" charset="0"/>
              </a:rPr>
              <a:t> </a:t>
            </a:r>
            <a:r>
              <a:rPr lang="en-US" err="1">
                <a:effectLst/>
                <a:latin typeface="Helvetica Neue" panose="02000503000000020004" pitchFamily="2" charset="0"/>
              </a:rPr>
              <a:t>tempor</a:t>
            </a:r>
            <a:r>
              <a:rPr lang="en-US">
                <a:effectLst/>
                <a:latin typeface="Helvetica Neue" panose="02000503000000020004" pitchFamily="2" charset="0"/>
              </a:rPr>
              <a:t> </a:t>
            </a:r>
            <a:r>
              <a:rPr lang="en-US" err="1">
                <a:effectLst/>
                <a:latin typeface="Helvetica Neue" panose="02000503000000020004" pitchFamily="2" charset="0"/>
              </a:rPr>
              <a:t>incididunt</a:t>
            </a:r>
            <a:r>
              <a:rPr lang="en-US">
                <a:effectLst/>
                <a:latin typeface="Helvetica Neue" panose="02000503000000020004" pitchFamily="2" charset="0"/>
              </a:rPr>
              <a:t> </a:t>
            </a:r>
            <a:r>
              <a:rPr lang="en-US" err="1">
                <a:effectLst/>
                <a:latin typeface="Helvetica Neue" panose="02000503000000020004" pitchFamily="2" charset="0"/>
              </a:rPr>
              <a:t>ut</a:t>
            </a:r>
            <a:r>
              <a:rPr lang="en-US">
                <a:effectLst/>
                <a:latin typeface="Helvetica Neue" panose="02000503000000020004" pitchFamily="2" charset="0"/>
              </a:rPr>
              <a:t> labore et dolore magna </a:t>
            </a:r>
            <a:r>
              <a:rPr lang="en-US" err="1">
                <a:effectLst/>
                <a:latin typeface="Helvetica Neue" panose="02000503000000020004" pitchFamily="2" charset="0"/>
              </a:rPr>
              <a:t>aliqua</a:t>
            </a:r>
            <a:r>
              <a:rPr lang="en-US">
                <a:effectLst/>
                <a:latin typeface="Helvetica Neue" panose="02000503000000020004" pitchFamily="2" charset="0"/>
              </a:rPr>
              <a:t>. Ut </a:t>
            </a:r>
            <a:r>
              <a:rPr lang="en-US" err="1">
                <a:effectLst/>
                <a:latin typeface="Helvetica Neue" panose="02000503000000020004" pitchFamily="2" charset="0"/>
              </a:rPr>
              <a:t>enim</a:t>
            </a:r>
            <a:r>
              <a:rPr lang="en-US">
                <a:effectLst/>
                <a:latin typeface="Helvetica Neue" panose="02000503000000020004" pitchFamily="2" charset="0"/>
              </a:rPr>
              <a:t> ad minim </a:t>
            </a:r>
            <a:r>
              <a:rPr lang="en-US" err="1">
                <a:effectLst/>
                <a:latin typeface="Helvetica Neue" panose="02000503000000020004" pitchFamily="2" charset="0"/>
              </a:rPr>
              <a:t>veniam</a:t>
            </a:r>
            <a:r>
              <a:rPr lang="en-US">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236694013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a:effectLst/>
                <a:latin typeface="Helvetica Neue" panose="02000503000000020004" pitchFamily="2" charset="0"/>
              </a:rPr>
              <a:t>Lorem ipsum dolor sit </a:t>
            </a:r>
            <a:r>
              <a:rPr lang="en-US" err="1">
                <a:effectLst/>
                <a:latin typeface="Helvetica Neue" panose="02000503000000020004" pitchFamily="2" charset="0"/>
              </a:rPr>
              <a:t>amet</a:t>
            </a:r>
            <a:r>
              <a:rPr lang="en-US">
                <a:effectLst/>
                <a:latin typeface="Helvetica Neue" panose="02000503000000020004" pitchFamily="2" charset="0"/>
              </a:rPr>
              <a:t>, </a:t>
            </a:r>
            <a:r>
              <a:rPr lang="en-US" err="1">
                <a:effectLst/>
                <a:latin typeface="Helvetica Neue" panose="02000503000000020004" pitchFamily="2" charset="0"/>
              </a:rPr>
              <a:t>consectetur</a:t>
            </a:r>
            <a:r>
              <a:rPr lang="en-US">
                <a:effectLst/>
                <a:latin typeface="Helvetica Neue" panose="02000503000000020004" pitchFamily="2" charset="0"/>
              </a:rPr>
              <a:t> </a:t>
            </a:r>
            <a:r>
              <a:rPr lang="en-US" err="1">
                <a:effectLst/>
                <a:latin typeface="Helvetica Neue" panose="02000503000000020004" pitchFamily="2" charset="0"/>
              </a:rPr>
              <a:t>adipiscing</a:t>
            </a:r>
            <a:r>
              <a:rPr lang="en-US">
                <a:effectLst/>
                <a:latin typeface="Helvetica Neue" panose="02000503000000020004" pitchFamily="2" charset="0"/>
              </a:rPr>
              <a:t> </a:t>
            </a:r>
            <a:r>
              <a:rPr lang="en-US" err="1">
                <a:effectLst/>
                <a:latin typeface="Helvetica Neue" panose="02000503000000020004" pitchFamily="2" charset="0"/>
              </a:rPr>
              <a:t>elit</a:t>
            </a:r>
            <a:r>
              <a:rPr lang="en-US">
                <a:effectLst/>
                <a:latin typeface="Helvetica Neue" panose="02000503000000020004" pitchFamily="2" charset="0"/>
              </a:rPr>
              <a:t> sed do </a:t>
            </a:r>
            <a:r>
              <a:rPr lang="en-US" err="1">
                <a:effectLst/>
                <a:latin typeface="Helvetica Neue" panose="02000503000000020004" pitchFamily="2" charset="0"/>
              </a:rPr>
              <a:t>eiusmod</a:t>
            </a:r>
            <a:r>
              <a:rPr lang="en-US">
                <a:effectLst/>
                <a:latin typeface="Helvetica Neue" panose="02000503000000020004" pitchFamily="2" charset="0"/>
              </a:rPr>
              <a:t> </a:t>
            </a:r>
            <a:r>
              <a:rPr lang="en-US" err="1">
                <a:effectLst/>
                <a:latin typeface="Helvetica Neue" panose="02000503000000020004" pitchFamily="2" charset="0"/>
              </a:rPr>
              <a:t>tempor</a:t>
            </a:r>
            <a:r>
              <a:rPr lang="en-US">
                <a:effectLst/>
                <a:latin typeface="Helvetica Neue" panose="02000503000000020004" pitchFamily="2" charset="0"/>
              </a:rPr>
              <a:t> </a:t>
            </a:r>
            <a:r>
              <a:rPr lang="en-US" err="1">
                <a:effectLst/>
                <a:latin typeface="Helvetica Neue" panose="02000503000000020004" pitchFamily="2" charset="0"/>
              </a:rPr>
              <a:t>incididunt</a:t>
            </a:r>
            <a:r>
              <a:rPr lang="en-US">
                <a:effectLst/>
                <a:latin typeface="Helvetica Neue" panose="02000503000000020004" pitchFamily="2" charset="0"/>
              </a:rPr>
              <a:t> </a:t>
            </a:r>
            <a:r>
              <a:rPr lang="en-US" err="1">
                <a:effectLst/>
                <a:latin typeface="Helvetica Neue" panose="02000503000000020004" pitchFamily="2" charset="0"/>
              </a:rPr>
              <a:t>ut</a:t>
            </a:r>
            <a:r>
              <a:rPr lang="en-US">
                <a:effectLst/>
                <a:latin typeface="Helvetica Neue" panose="02000503000000020004" pitchFamily="2" charset="0"/>
              </a:rPr>
              <a:t> labore et dolore magna </a:t>
            </a:r>
            <a:r>
              <a:rPr lang="en-US" err="1">
                <a:effectLst/>
                <a:latin typeface="Helvetica Neue" panose="02000503000000020004" pitchFamily="2" charset="0"/>
              </a:rPr>
              <a:t>aliqua</a:t>
            </a:r>
            <a:r>
              <a:rPr lang="en-US">
                <a:effectLst/>
                <a:latin typeface="Helvetica Neue" panose="02000503000000020004" pitchFamily="2" charset="0"/>
              </a:rPr>
              <a:t>. Ut </a:t>
            </a:r>
            <a:r>
              <a:rPr lang="en-US" err="1">
                <a:effectLst/>
                <a:latin typeface="Helvetica Neue" panose="02000503000000020004" pitchFamily="2" charset="0"/>
              </a:rPr>
              <a:t>enim</a:t>
            </a:r>
            <a:r>
              <a:rPr lang="en-US">
                <a:effectLst/>
                <a:latin typeface="Helvetica Neue" panose="02000503000000020004" pitchFamily="2" charset="0"/>
              </a:rPr>
              <a:t> ad minim </a:t>
            </a:r>
            <a:r>
              <a:rPr lang="en-US" err="1">
                <a:effectLst/>
                <a:latin typeface="Helvetica Neue" panose="02000503000000020004" pitchFamily="2" charset="0"/>
              </a:rPr>
              <a:t>veniam</a:t>
            </a:r>
            <a:r>
              <a:rPr lang="en-US">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312849896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105948853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828981067"/>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err="1"/>
              <a:t>PresenterEmail@Ellucian.com</a:t>
            </a:r>
            <a:endParaRPr lang="en-US"/>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a:solidFill>
                  <a:schemeClr val="bg1"/>
                </a:solidFill>
              </a:rPr>
              <a:t>©2026 Ellucian. Confidential and Proprietary</a:t>
            </a:r>
          </a:p>
        </p:txBody>
      </p:sp>
    </p:spTree>
    <p:extLst>
      <p:ext uri="{BB962C8B-B14F-4D97-AF65-F5344CB8AC3E}">
        <p14:creationId xmlns:p14="http://schemas.microsoft.com/office/powerpoint/2010/main" val="327094212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13939641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94314083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a:solidFill>
                  <a:schemeClr val="bg1"/>
                </a:solidFill>
              </a:rPr>
              <a:t>©2025 Ellucian. Confidential and Proprietary</a:t>
            </a:r>
          </a:p>
        </p:txBody>
      </p:sp>
    </p:spTree>
    <p:extLst>
      <p:ext uri="{BB962C8B-B14F-4D97-AF65-F5344CB8AC3E}">
        <p14:creationId xmlns:p14="http://schemas.microsoft.com/office/powerpoint/2010/main" val="391970118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sv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3" Type="http://schemas.openxmlformats.org/officeDocument/2006/relationships/slideLayout" Target="../slideLayouts/slideLayout36.xml"/><Relationship Id="rId21" Type="http://schemas.openxmlformats.org/officeDocument/2006/relationships/theme" Target="../theme/theme2.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6.xml"/><Relationship Id="rId18" Type="http://schemas.openxmlformats.org/officeDocument/2006/relationships/slideLayout" Target="../slideLayouts/slideLayout71.xml"/><Relationship Id="rId26" Type="http://schemas.openxmlformats.org/officeDocument/2006/relationships/slideLayout" Target="../slideLayouts/slideLayout79.xml"/><Relationship Id="rId21" Type="http://schemas.openxmlformats.org/officeDocument/2006/relationships/slideLayout" Target="../slideLayouts/slideLayout74.xml"/><Relationship Id="rId34" Type="http://schemas.openxmlformats.org/officeDocument/2006/relationships/slideLayout" Target="../slideLayouts/slideLayout87.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5" Type="http://schemas.openxmlformats.org/officeDocument/2006/relationships/slideLayout" Target="../slideLayouts/slideLayout78.xml"/><Relationship Id="rId33" Type="http://schemas.openxmlformats.org/officeDocument/2006/relationships/slideLayout" Target="../slideLayouts/slideLayout86.xml"/><Relationship Id="rId38" Type="http://schemas.openxmlformats.org/officeDocument/2006/relationships/image" Target="../media/image1.svg"/><Relationship Id="rId2" Type="http://schemas.openxmlformats.org/officeDocument/2006/relationships/slideLayout" Target="../slideLayouts/slideLayout55.xml"/><Relationship Id="rId16" Type="http://schemas.openxmlformats.org/officeDocument/2006/relationships/slideLayout" Target="../slideLayouts/slideLayout69.xml"/><Relationship Id="rId20" Type="http://schemas.openxmlformats.org/officeDocument/2006/relationships/slideLayout" Target="../slideLayouts/slideLayout73.xml"/><Relationship Id="rId29" Type="http://schemas.openxmlformats.org/officeDocument/2006/relationships/slideLayout" Target="../slideLayouts/slideLayout82.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24" Type="http://schemas.openxmlformats.org/officeDocument/2006/relationships/slideLayout" Target="../slideLayouts/slideLayout77.xml"/><Relationship Id="rId32" Type="http://schemas.openxmlformats.org/officeDocument/2006/relationships/slideLayout" Target="../slideLayouts/slideLayout85.xml"/><Relationship Id="rId37" Type="http://schemas.openxmlformats.org/officeDocument/2006/relationships/theme" Target="../theme/theme3.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23" Type="http://schemas.openxmlformats.org/officeDocument/2006/relationships/slideLayout" Target="../slideLayouts/slideLayout76.xml"/><Relationship Id="rId28" Type="http://schemas.openxmlformats.org/officeDocument/2006/relationships/slideLayout" Target="../slideLayouts/slideLayout81.xml"/><Relationship Id="rId36" Type="http://schemas.openxmlformats.org/officeDocument/2006/relationships/slideLayout" Target="../slideLayouts/slideLayout89.xml"/><Relationship Id="rId10" Type="http://schemas.openxmlformats.org/officeDocument/2006/relationships/slideLayout" Target="../slideLayouts/slideLayout63.xml"/><Relationship Id="rId19" Type="http://schemas.openxmlformats.org/officeDocument/2006/relationships/slideLayout" Target="../slideLayouts/slideLayout72.xml"/><Relationship Id="rId31" Type="http://schemas.openxmlformats.org/officeDocument/2006/relationships/slideLayout" Target="../slideLayouts/slideLayout84.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slideLayout" Target="../slideLayouts/slideLayout75.xml"/><Relationship Id="rId27" Type="http://schemas.openxmlformats.org/officeDocument/2006/relationships/slideLayout" Target="../slideLayouts/slideLayout80.xml"/><Relationship Id="rId30" Type="http://schemas.openxmlformats.org/officeDocument/2006/relationships/slideLayout" Target="../slideLayouts/slideLayout83.xml"/><Relationship Id="rId35" Type="http://schemas.openxmlformats.org/officeDocument/2006/relationships/slideLayout" Target="../slideLayouts/slideLayout88.xml"/><Relationship Id="rId8" Type="http://schemas.openxmlformats.org/officeDocument/2006/relationships/slideLayout" Target="../slideLayouts/slideLayout61.xml"/><Relationship Id="rId3"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20" Type="http://schemas.openxmlformats.org/officeDocument/2006/relationships/theme" Target="../theme/theme4.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10" Type="http://schemas.openxmlformats.org/officeDocument/2006/relationships/slideLayout" Target="../slideLayouts/slideLayout99.xml"/><Relationship Id="rId19" Type="http://schemas.openxmlformats.org/officeDocument/2006/relationships/slideLayout" Target="../slideLayouts/slideLayout108.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21.xml"/><Relationship Id="rId18" Type="http://schemas.openxmlformats.org/officeDocument/2006/relationships/slideLayout" Target="../slideLayouts/slideLayout126.xml"/><Relationship Id="rId26" Type="http://schemas.openxmlformats.org/officeDocument/2006/relationships/slideLayout" Target="../slideLayouts/slideLayout134.xml"/><Relationship Id="rId21" Type="http://schemas.openxmlformats.org/officeDocument/2006/relationships/slideLayout" Target="../slideLayouts/slideLayout129.xml"/><Relationship Id="rId34" Type="http://schemas.openxmlformats.org/officeDocument/2006/relationships/slideLayout" Target="../slideLayouts/slideLayout142.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17" Type="http://schemas.openxmlformats.org/officeDocument/2006/relationships/slideLayout" Target="../slideLayouts/slideLayout125.xml"/><Relationship Id="rId25" Type="http://schemas.openxmlformats.org/officeDocument/2006/relationships/slideLayout" Target="../slideLayouts/slideLayout133.xml"/><Relationship Id="rId33" Type="http://schemas.openxmlformats.org/officeDocument/2006/relationships/slideLayout" Target="../slideLayouts/slideLayout141.xml"/><Relationship Id="rId38" Type="http://schemas.openxmlformats.org/officeDocument/2006/relationships/image" Target="../media/image1.svg"/><Relationship Id="rId2" Type="http://schemas.openxmlformats.org/officeDocument/2006/relationships/slideLayout" Target="../slideLayouts/slideLayout110.xml"/><Relationship Id="rId16" Type="http://schemas.openxmlformats.org/officeDocument/2006/relationships/slideLayout" Target="../slideLayouts/slideLayout124.xml"/><Relationship Id="rId20" Type="http://schemas.openxmlformats.org/officeDocument/2006/relationships/slideLayout" Target="../slideLayouts/slideLayout128.xml"/><Relationship Id="rId29" Type="http://schemas.openxmlformats.org/officeDocument/2006/relationships/slideLayout" Target="../slideLayouts/slideLayout137.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24" Type="http://schemas.openxmlformats.org/officeDocument/2006/relationships/slideLayout" Target="../slideLayouts/slideLayout132.xml"/><Relationship Id="rId32" Type="http://schemas.openxmlformats.org/officeDocument/2006/relationships/slideLayout" Target="../slideLayouts/slideLayout140.xml"/><Relationship Id="rId37" Type="http://schemas.openxmlformats.org/officeDocument/2006/relationships/theme" Target="../theme/theme5.xml"/><Relationship Id="rId5" Type="http://schemas.openxmlformats.org/officeDocument/2006/relationships/slideLayout" Target="../slideLayouts/slideLayout113.xml"/><Relationship Id="rId15" Type="http://schemas.openxmlformats.org/officeDocument/2006/relationships/slideLayout" Target="../slideLayouts/slideLayout123.xml"/><Relationship Id="rId23" Type="http://schemas.openxmlformats.org/officeDocument/2006/relationships/slideLayout" Target="../slideLayouts/slideLayout131.xml"/><Relationship Id="rId28" Type="http://schemas.openxmlformats.org/officeDocument/2006/relationships/slideLayout" Target="../slideLayouts/slideLayout136.xml"/><Relationship Id="rId36" Type="http://schemas.openxmlformats.org/officeDocument/2006/relationships/slideLayout" Target="../slideLayouts/slideLayout144.xml"/><Relationship Id="rId10" Type="http://schemas.openxmlformats.org/officeDocument/2006/relationships/slideLayout" Target="../slideLayouts/slideLayout118.xml"/><Relationship Id="rId19" Type="http://schemas.openxmlformats.org/officeDocument/2006/relationships/slideLayout" Target="../slideLayouts/slideLayout127.xml"/><Relationship Id="rId31" Type="http://schemas.openxmlformats.org/officeDocument/2006/relationships/slideLayout" Target="../slideLayouts/slideLayout139.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14" Type="http://schemas.openxmlformats.org/officeDocument/2006/relationships/slideLayout" Target="../slideLayouts/slideLayout122.xml"/><Relationship Id="rId22" Type="http://schemas.openxmlformats.org/officeDocument/2006/relationships/slideLayout" Target="../slideLayouts/slideLayout130.xml"/><Relationship Id="rId27" Type="http://schemas.openxmlformats.org/officeDocument/2006/relationships/slideLayout" Target="../slideLayouts/slideLayout135.xml"/><Relationship Id="rId30" Type="http://schemas.openxmlformats.org/officeDocument/2006/relationships/slideLayout" Target="../slideLayouts/slideLayout138.xml"/><Relationship Id="rId35" Type="http://schemas.openxmlformats.org/officeDocument/2006/relationships/slideLayout" Target="../slideLayouts/slideLayout143.xml"/><Relationship Id="rId8" Type="http://schemas.openxmlformats.org/officeDocument/2006/relationships/slideLayout" Target="../slideLayouts/slideLayout116.xml"/><Relationship Id="rId3"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98C54377-C373-3751-A275-A17B11FE1BB6}"/>
              </a:ext>
            </a:extLst>
          </p:cNvPr>
          <p:cNvPicPr>
            <a:picLocks noChangeAspect="1"/>
          </p:cNvPicPr>
          <p:nvPr userDrawn="1"/>
        </p:nvPicPr>
        <p:blipFill>
          <a:blip>
            <a:extLst>
              <a:ext uri="{96DAC541-7B7A-43D3-8B79-37D633B846F1}">
                <asvg:svgBlip xmlns:asvg="http://schemas.microsoft.com/office/drawing/2016/SVG/main" r:embed="rId35"/>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a:solidFill>
                  <a:schemeClr val="tx1"/>
                </a:solidFill>
              </a:rPr>
              <a:t>©2025 Ellucian. Confidential and Proprietary</a:t>
            </a:r>
          </a:p>
        </p:txBody>
      </p:sp>
    </p:spTree>
    <p:extLst>
      <p:ext uri="{BB962C8B-B14F-4D97-AF65-F5344CB8AC3E}">
        <p14:creationId xmlns:p14="http://schemas.microsoft.com/office/powerpoint/2010/main" val="1778594219"/>
      </p:ext>
    </p:extLst>
  </p:cSld>
  <p:clrMap bg1="lt1" tx1="dk1" bg2="lt2" tx2="dk2" accent1="accent1" accent2="accent2" accent3="accent3" accent4="accent4" accent5="accent5" accent6="accent6" hlink="hlink" folHlink="folHlink"/>
  <p:sldLayoutIdLst>
    <p:sldLayoutId id="2147483650" r:id="rId1"/>
    <p:sldLayoutId id="2147483719" r:id="rId2"/>
    <p:sldLayoutId id="2147483727" r:id="rId3"/>
    <p:sldLayoutId id="2147483663" r:id="rId4"/>
    <p:sldLayoutId id="2147483651" r:id="rId5"/>
    <p:sldLayoutId id="2147483718" r:id="rId6"/>
    <p:sldLayoutId id="2147483720" r:id="rId7"/>
    <p:sldLayoutId id="2147483649" r:id="rId8"/>
    <p:sldLayoutId id="2147483652" r:id="rId9"/>
    <p:sldLayoutId id="2147483653" r:id="rId10"/>
    <p:sldLayoutId id="2147483654" r:id="rId11"/>
    <p:sldLayoutId id="2147483655" r:id="rId12"/>
    <p:sldLayoutId id="2147483656" r:id="rId13"/>
    <p:sldLayoutId id="2147483721" r:id="rId14"/>
    <p:sldLayoutId id="2147483657" r:id="rId15"/>
    <p:sldLayoutId id="2147483664" r:id="rId16"/>
    <p:sldLayoutId id="2147483658" r:id="rId17"/>
    <p:sldLayoutId id="2147483659" r:id="rId18"/>
    <p:sldLayoutId id="2147483660" r:id="rId19"/>
    <p:sldLayoutId id="2147483669" r:id="rId20"/>
    <p:sldLayoutId id="2147483661" r:id="rId21"/>
    <p:sldLayoutId id="2147483662" r:id="rId22"/>
    <p:sldLayoutId id="2147483670" r:id="rId23"/>
    <p:sldLayoutId id="2147483665" r:id="rId24"/>
    <p:sldLayoutId id="2147483666" r:id="rId25"/>
    <p:sldLayoutId id="2147483694" r:id="rId26"/>
    <p:sldLayoutId id="2147483713" r:id="rId27"/>
    <p:sldLayoutId id="2147483722" r:id="rId28"/>
    <p:sldLayoutId id="2147483723" r:id="rId29"/>
    <p:sldLayoutId id="2147483715" r:id="rId30"/>
    <p:sldLayoutId id="2147483714" r:id="rId31"/>
    <p:sldLayoutId id="2147483716" r:id="rId32"/>
    <p:sldLayoutId id="2147483717" r:id="rId3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0683583"/>
      </p:ext>
    </p:extLst>
  </p:cSld>
  <p:clrMap bg1="lt1" tx1="dk1" bg2="lt2" tx2="dk2" accent1="accent1" accent2="accent2" accent3="accent3" accent4="accent4" accent5="accent5" accent6="accent6" hlink="hlink" folHlink="folHlink"/>
  <p:sldLayoutIdLst>
    <p:sldLayoutId id="2147483697" r:id="rId1"/>
    <p:sldLayoutId id="2147483726"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2" r:id="rId15"/>
    <p:sldLayoutId id="2147483728" r:id="rId16"/>
    <p:sldLayoutId id="2147483729" r:id="rId17"/>
    <p:sldLayoutId id="2147483711" r:id="rId18"/>
    <p:sldLayoutId id="2147483725" r:id="rId19"/>
    <p:sldLayoutId id="2147483730" r:id="rId20"/>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3683731102"/>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51" r:id="rId20"/>
    <p:sldLayoutId id="2147483752" r:id="rId21"/>
    <p:sldLayoutId id="2147483753" r:id="rId22"/>
    <p:sldLayoutId id="2147483754" r:id="rId23"/>
    <p:sldLayoutId id="2147483755" r:id="rId24"/>
    <p:sldLayoutId id="2147483756" r:id="rId25"/>
    <p:sldLayoutId id="2147483757" r:id="rId26"/>
    <p:sldLayoutId id="2147483758" r:id="rId27"/>
    <p:sldLayoutId id="2147483759" r:id="rId28"/>
    <p:sldLayoutId id="2147483760" r:id="rId29"/>
    <p:sldLayoutId id="2147483761" r:id="rId30"/>
    <p:sldLayoutId id="2147483762" r:id="rId31"/>
    <p:sldLayoutId id="2147483763" r:id="rId32"/>
    <p:sldLayoutId id="2147483764" r:id="rId33"/>
    <p:sldLayoutId id="2147483765" r:id="rId34"/>
    <p:sldLayoutId id="2147483766" r:id="rId35"/>
    <p:sldLayoutId id="2147483767" r:id="rId36"/>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99534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a:solidFill>
                  <a:schemeClr val="tx1"/>
                </a:solidFill>
              </a:rPr>
              <a:t>©2026 Ellucian. Confidential and Proprietary</a:t>
            </a:r>
          </a:p>
        </p:txBody>
      </p:sp>
    </p:spTree>
    <p:extLst>
      <p:ext uri="{BB962C8B-B14F-4D97-AF65-F5344CB8AC3E}">
        <p14:creationId xmlns:p14="http://schemas.microsoft.com/office/powerpoint/2010/main" val="2545081022"/>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06" r:id="rId18"/>
    <p:sldLayoutId id="2147483807" r:id="rId19"/>
    <p:sldLayoutId id="2147483808" r:id="rId20"/>
    <p:sldLayoutId id="2147483809" r:id="rId21"/>
    <p:sldLayoutId id="2147483810" r:id="rId22"/>
    <p:sldLayoutId id="2147483811" r:id="rId23"/>
    <p:sldLayoutId id="2147483812" r:id="rId24"/>
    <p:sldLayoutId id="2147483813" r:id="rId25"/>
    <p:sldLayoutId id="2147483814" r:id="rId26"/>
    <p:sldLayoutId id="2147483815" r:id="rId27"/>
    <p:sldLayoutId id="2147483816" r:id="rId28"/>
    <p:sldLayoutId id="2147483817" r:id="rId29"/>
    <p:sldLayoutId id="2147483818" r:id="rId30"/>
    <p:sldLayoutId id="2147483819" r:id="rId31"/>
    <p:sldLayoutId id="2147483820" r:id="rId32"/>
    <p:sldLayoutId id="2147483821" r:id="rId33"/>
    <p:sldLayoutId id="2147483822" r:id="rId34"/>
    <p:sldLayoutId id="2147483823" r:id="rId35"/>
    <p:sldLayoutId id="2147483824" r:id="rId36"/>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3.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4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4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3.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43.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43.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43.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43.xml"/><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43.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43.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3.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3.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3.xml"/></Relationships>
</file>

<file path=ppt/slides/_rels/slide2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3.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43.xml"/></Relationships>
</file>

<file path=ppt/slides/_rels/slide2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43.xml"/></Relationships>
</file>

<file path=ppt/slides/_rels/slide3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43.xml"/></Relationships>
</file>

<file path=ppt/slides/_rels/slide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43.xml"/></Relationships>
</file>

<file path=ppt/slides/_rels/slide3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43.xml"/></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43.xml"/></Relationships>
</file>

<file path=ppt/slides/_rels/slide3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4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3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43.xml"/></Relationships>
</file>

<file path=ppt/slides/_rels/slide3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43.xml"/></Relationships>
</file>

<file path=ppt/slides/_rels/slide3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43.xml"/></Relationships>
</file>

<file path=ppt/slides/_rels/slide3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43.xml"/></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43.xml"/></Relationships>
</file>

<file path=ppt/slides/_rels/slide4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43.xml"/></Relationships>
</file>

<file path=ppt/slides/_rels/slide4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4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43.xml"/></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43.xml"/></Relationships>
</file>

<file path=ppt/slides/_rels/slide4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43.xml"/></Relationships>
</file>

<file path=ppt/slides/_rels/slide4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43.xml"/></Relationships>
</file>

<file path=ppt/slides/_rels/slide4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43.xml"/></Relationships>
</file>

<file path=ppt/slides/_rels/slide4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4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43.xml"/></Relationships>
</file>

<file path=ppt/slides/_rels/slide5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43.xml"/></Relationships>
</file>

<file path=ppt/slides/_rels/slide5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43.xml"/></Relationships>
</file>

<file path=ppt/slides/_rels/slide5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43.xml"/></Relationships>
</file>

<file path=ppt/slides/_rels/slide5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43.xml"/></Relationships>
</file>

<file path=ppt/slides/_rels/slide5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43.xml"/></Relationships>
</file>

<file path=ppt/slides/_rels/slide5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43.xml"/></Relationships>
</file>

<file path=ppt/slides/_rels/slide5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43.xml"/></Relationships>
</file>

<file path=ppt/slides/_rels/slide5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43.xml"/></Relationships>
</file>

<file path=ppt/slides/_rels/slide5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43.xml"/></Relationships>
</file>

<file path=ppt/slides/_rels/slide6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43.xml"/></Relationships>
</file>

<file path=ppt/slides/_rels/slide6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43.xml"/></Relationships>
</file>

<file path=ppt/slides/_rels/slide6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43.xml"/></Relationships>
</file>

<file path=ppt/slides/_rels/slide6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43.xml"/></Relationships>
</file>

<file path=ppt/slides/_rels/slide6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43.xml"/></Relationships>
</file>

<file path=ppt/slides/_rels/slide6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43.xml"/></Relationships>
</file>

<file path=ppt/slides/_rels/slide6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4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6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43.xml"/></Relationships>
</file>

<file path=ppt/slides/_rels/slide6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43.xml"/></Relationships>
</file>

<file path=ppt/slides/_rels/slide7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4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7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xml"/><Relationship Id="rId1" Type="http://schemas.openxmlformats.org/officeDocument/2006/relationships/slideLayout" Target="../slideLayouts/slideLayout143.xml"/></Relationships>
</file>

<file path=ppt/slides/_rels/slide7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43.xml"/></Relationships>
</file>

<file path=ppt/slides/_rels/slide7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43.xml"/></Relationships>
</file>

<file path=ppt/slides/_rels/slide7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43.xml"/></Relationships>
</file>

<file path=ppt/slides/_rels/slide7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43.xml"/></Relationships>
</file>

<file path=ppt/slides/_rels/slide7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43.xml"/></Relationships>
</file>

<file path=ppt/slides/_rels/slide7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43.xml"/></Relationships>
</file>

<file path=ppt/slides/_rels/slide7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43.xml"/></Relationships>
</file>

<file path=ppt/slides/_rels/slide8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43.xml"/></Relationships>
</file>

<file path=ppt/slides/_rels/slide8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6.png"/><Relationship Id="rId1" Type="http://schemas.openxmlformats.org/officeDocument/2006/relationships/slideLayout" Target="../slideLayouts/slideLayout143.xml"/></Relationships>
</file>

<file path=ppt/slides/_rels/slide8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43.xml"/></Relationships>
</file>

<file path=ppt/slides/_rels/slide8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43.xml"/></Relationships>
</file>

<file path=ppt/slides/_rels/slide8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43.xml"/></Relationships>
</file>

<file path=ppt/slides/_rels/slide8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43.xml"/></Relationships>
</file>

<file path=ppt/slides/_rels/slide86.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43.xml"/></Relationships>
</file>

<file path=ppt/slides/_rels/slide8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43.xml"/></Relationships>
</file>

<file path=ppt/slides/_rels/slide8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43.xml"/></Relationships>
</file>

<file path=ppt/slides/_rels/slide8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43.xml"/></Relationships>
</file>

<file path=ppt/slides/_rels/slide9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43.xml"/></Relationships>
</file>

<file path=ppt/slides/_rels/slide91.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43.xml"/></Relationships>
</file>

<file path=ppt/slides/_rels/slide9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43.xml"/></Relationships>
</file>

<file path=ppt/slides/_rels/slide9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43.xml"/></Relationships>
</file>

<file path=ppt/slides/_rels/slide9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43.xml"/></Relationships>
</file>

<file path=ppt/slides/_rels/slide9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8BCB3F-6CDE-555F-945C-FD9DF637FF82}"/>
              </a:ext>
            </a:extLst>
          </p:cNvPr>
          <p:cNvSpPr>
            <a:spLocks noGrp="1"/>
          </p:cNvSpPr>
          <p:nvPr>
            <p:ph type="body" sz="quarter" idx="10"/>
          </p:nvPr>
        </p:nvSpPr>
        <p:spPr>
          <a:xfrm>
            <a:off x="556902" y="1950772"/>
            <a:ext cx="5427132" cy="1222707"/>
          </a:xfrm>
        </p:spPr>
        <p:txBody>
          <a:bodyPr/>
          <a:lstStyle/>
          <a:p>
            <a:r>
              <a:rPr lang="es-CO" sz="4400"/>
              <a:t>Gestionar los planes de pago</a:t>
            </a:r>
            <a:endParaRPr lang="en-US" sz="4400"/>
          </a:p>
        </p:txBody>
      </p:sp>
      <p:sp>
        <p:nvSpPr>
          <p:cNvPr id="3" name="Text Placeholder 2">
            <a:extLst>
              <a:ext uri="{FF2B5EF4-FFF2-40B4-BE49-F238E27FC236}">
                <a16:creationId xmlns:a16="http://schemas.microsoft.com/office/drawing/2014/main" id="{AFC3AF02-2178-7BEB-DC06-4BB29198D4C0}"/>
              </a:ext>
            </a:extLst>
          </p:cNvPr>
          <p:cNvSpPr>
            <a:spLocks noGrp="1"/>
          </p:cNvSpPr>
          <p:nvPr>
            <p:ph type="body" sz="quarter" idx="11"/>
          </p:nvPr>
        </p:nvSpPr>
        <p:spPr>
          <a:xfrm>
            <a:off x="556902" y="4621474"/>
            <a:ext cx="5427132" cy="324961"/>
          </a:xfrm>
        </p:spPr>
        <p:txBody>
          <a:bodyPr>
            <a:spAutoFit/>
          </a:bodyPr>
          <a:lstStyle/>
          <a:p>
            <a:r>
              <a:rPr lang="es-CO"/>
              <a:t>C</a:t>
            </a:r>
            <a:r>
              <a:rPr lang="en-US"/>
              <a:t>uenta Corriente</a:t>
            </a:r>
          </a:p>
        </p:txBody>
      </p:sp>
      <p:sp>
        <p:nvSpPr>
          <p:cNvPr id="4" name="Text Placeholder 3">
            <a:extLst>
              <a:ext uri="{FF2B5EF4-FFF2-40B4-BE49-F238E27FC236}">
                <a16:creationId xmlns:a16="http://schemas.microsoft.com/office/drawing/2014/main" id="{692B0829-7360-8531-FF9E-7D531E7A6091}"/>
              </a:ext>
            </a:extLst>
          </p:cNvPr>
          <p:cNvSpPr>
            <a:spLocks noGrp="1"/>
          </p:cNvSpPr>
          <p:nvPr>
            <p:ph type="body" sz="quarter" idx="12"/>
          </p:nvPr>
        </p:nvSpPr>
        <p:spPr>
          <a:xfrm>
            <a:off x="556902" y="5609784"/>
            <a:ext cx="3032274" cy="398058"/>
          </a:xfrm>
        </p:spPr>
        <p:txBody>
          <a:bodyPr/>
          <a:lstStyle/>
          <a:p>
            <a:r>
              <a:rPr lang="es-ES" dirty="0"/>
              <a:t>Faver Herrera Mejia</a:t>
            </a:r>
          </a:p>
          <a:p>
            <a:r>
              <a:rPr lang="es-ES" dirty="0"/>
              <a:t>Consultor</a:t>
            </a:r>
            <a:endParaRPr lang="en-US" dirty="0"/>
          </a:p>
        </p:txBody>
      </p:sp>
      <p:sp>
        <p:nvSpPr>
          <p:cNvPr id="5" name="Text Placeholder 4">
            <a:extLst>
              <a:ext uri="{FF2B5EF4-FFF2-40B4-BE49-F238E27FC236}">
                <a16:creationId xmlns:a16="http://schemas.microsoft.com/office/drawing/2014/main" id="{7640F739-8B92-AE20-CC72-FD73501B27C6}"/>
              </a:ext>
            </a:extLst>
          </p:cNvPr>
          <p:cNvSpPr>
            <a:spLocks noGrp="1"/>
          </p:cNvSpPr>
          <p:nvPr>
            <p:ph type="body" sz="quarter" idx="13"/>
          </p:nvPr>
        </p:nvSpPr>
        <p:spPr/>
        <p:txBody>
          <a:bodyPr/>
          <a:lstStyle/>
          <a:p>
            <a:r>
              <a:rPr lang="en-US" dirty="0"/>
              <a:t>Julio 2026</a:t>
            </a:r>
          </a:p>
        </p:txBody>
      </p:sp>
      <p:pic>
        <p:nvPicPr>
          <p:cNvPr id="17" name="Marcador de posición de imagen 16">
            <a:extLst>
              <a:ext uri="{FF2B5EF4-FFF2-40B4-BE49-F238E27FC236}">
                <a16:creationId xmlns:a16="http://schemas.microsoft.com/office/drawing/2014/main" id="{0E93CFF6-8A3E-E912-0863-90018EE4BEA0}"/>
              </a:ext>
            </a:extLst>
          </p:cNvPr>
          <p:cNvPicPr>
            <a:picLocks noGrp="1" noChangeAspect="1"/>
          </p:cNvPicPr>
          <p:nvPr>
            <p:ph type="pic" sz="quarter" idx="14"/>
          </p:nvPr>
        </p:nvPicPr>
        <p:blipFill>
          <a:blip r:embed="rId2"/>
          <a:srcRect l="17881" r="17881"/>
          <a:stretch>
            <a:fillRect/>
          </a:stretch>
        </p:blipFill>
        <p:spPr>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Tree>
    <p:extLst>
      <p:ext uri="{BB962C8B-B14F-4D97-AF65-F5344CB8AC3E}">
        <p14:creationId xmlns:p14="http://schemas.microsoft.com/office/powerpoint/2010/main" val="9191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2">
            <a:extLst>
              <a:ext uri="{FF2B5EF4-FFF2-40B4-BE49-F238E27FC236}">
                <a16:creationId xmlns:a16="http://schemas.microsoft.com/office/drawing/2014/main" id="{4673DED4-8FDF-4D14-4B12-E97032DE43BA}"/>
              </a:ext>
            </a:extLst>
          </p:cNvPr>
          <p:cNvGraphicFramePr>
            <a:graphicFrameLocks noGrp="1"/>
          </p:cNvGraphicFramePr>
          <p:nvPr>
            <p:extLst>
              <p:ext uri="{D42A27DB-BD31-4B8C-83A1-F6EECF244321}">
                <p14:modId xmlns:p14="http://schemas.microsoft.com/office/powerpoint/2010/main" val="4105615876"/>
              </p:ext>
            </p:extLst>
          </p:nvPr>
        </p:nvGraphicFramePr>
        <p:xfrm>
          <a:off x="574223" y="1934479"/>
          <a:ext cx="11285545" cy="2991237"/>
        </p:xfrm>
        <a:graphic>
          <a:graphicData uri="http://schemas.openxmlformats.org/drawingml/2006/table">
            <a:tbl>
              <a:tblPr>
                <a:tableStyleId>{5C22544A-7EE6-4342-B048-85BDC9FD1C3A}</a:tableStyleId>
              </a:tblPr>
              <a:tblGrid>
                <a:gridCol w="1158849">
                  <a:extLst>
                    <a:ext uri="{9D8B030D-6E8A-4147-A177-3AD203B41FA5}">
                      <a16:colId xmlns:a16="http://schemas.microsoft.com/office/drawing/2014/main" val="1835725686"/>
                    </a:ext>
                  </a:extLst>
                </a:gridCol>
                <a:gridCol w="10126696">
                  <a:extLst>
                    <a:ext uri="{9D8B030D-6E8A-4147-A177-3AD203B41FA5}">
                      <a16:colId xmlns:a16="http://schemas.microsoft.com/office/drawing/2014/main" val="52046442"/>
                    </a:ext>
                  </a:extLst>
                </a:gridCol>
              </a:tblGrid>
              <a:tr h="814199">
                <a:tc>
                  <a:txBody>
                    <a:bodyPr/>
                    <a:lstStyle/>
                    <a:p>
                      <a:r>
                        <a:rPr lang="en-US" sz="3000" b="1" kern="1200">
                          <a:solidFill>
                            <a:schemeClr val="accent1"/>
                          </a:solidFill>
                          <a:effectLst/>
                          <a:latin typeface="Helvetica Neue" panose="02000503000000020004" pitchFamily="2" charset="0"/>
                          <a:ea typeface="+mn-ea"/>
                          <a:cs typeface="+mn-cs"/>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a:solidFill>
                            <a:schemeClr val="tx1"/>
                          </a:solidFill>
                          <a:effectLst/>
                          <a:latin typeface="Helvetica Neue" panose="02000503000000020004" pitchFamily="2" charset="0"/>
                          <a:ea typeface="+mn-ea"/>
                          <a:cs typeface="+mn-cs"/>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3000" b="1" kern="1200">
                          <a:solidFill>
                            <a:schemeClr val="accent1"/>
                          </a:solidFill>
                          <a:effectLst/>
                          <a:latin typeface="Helvetica Neue" panose="02000503000000020004" pitchFamily="2" charset="0"/>
                          <a:ea typeface="+mn-ea"/>
                          <a:cs typeface="+mn-cs"/>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a:solidFill>
                            <a:schemeClr val="tx1"/>
                          </a:solidFill>
                          <a:effectLst/>
                          <a:latin typeface="Helvetica Neue" panose="02000503000000020004" pitchFamily="2" charset="0"/>
                          <a:ea typeface="+mn-ea"/>
                          <a:cs typeface="+mn-cs"/>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3000" b="1" kern="1200">
                          <a:solidFill>
                            <a:schemeClr val="accent1"/>
                          </a:solidFill>
                          <a:effectLst/>
                          <a:latin typeface="Helvetica Neue" panose="02000503000000020004" pitchFamily="2" charset="0"/>
                          <a:ea typeface="+mn-ea"/>
                          <a:cs typeface="+mn-cs"/>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CO" sz="3000" b="0" kern="1200">
                          <a:solidFill>
                            <a:schemeClr val="tx1"/>
                          </a:solidFill>
                          <a:effectLst/>
                          <a:latin typeface="Helvetica Neue" panose="02000503000000020004" pitchFamily="2" charset="0"/>
                          <a:ea typeface="+mn-ea"/>
                          <a:cs typeface="+mn-cs"/>
                        </a:rPr>
                        <a:t>Gestionar los planes de pago</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0">
                <a:tc>
                  <a:txBody>
                    <a:bodyPr/>
                    <a:lstStyle/>
                    <a:p>
                      <a:r>
                        <a:rPr lang="en-US" sz="3000" b="1" kern="1200">
                          <a:solidFill>
                            <a:schemeClr val="accent1"/>
                          </a:solidFill>
                          <a:effectLst/>
                          <a:latin typeface="Helvetica Neue" panose="02000503000000020004" pitchFamily="2" charset="0"/>
                          <a:ea typeface="+mn-ea"/>
                          <a:cs typeface="+mn-cs"/>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err="1">
                          <a:solidFill>
                            <a:schemeClr val="tx1"/>
                          </a:solidFill>
                          <a:effectLst/>
                          <a:latin typeface="Helvetica Neue" panose="02000503000000020004" pitchFamily="2" charset="0"/>
                          <a:ea typeface="+mn-ea"/>
                          <a:cs typeface="+mn-cs"/>
                        </a:rPr>
                        <a:t>Resumen</a:t>
                      </a:r>
                      <a:endParaRPr lang="en-US" sz="3000" b="0" kern="1200">
                        <a:solidFill>
                          <a:schemeClr val="tx1"/>
                        </a:solidFill>
                        <a:effectLst/>
                        <a:latin typeface="Helvetica Neue" panose="02000503000000020004" pitchFamily="2" charset="0"/>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3460307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593FF0-F34F-6C36-BB0F-89589516776B}"/>
              </a:ext>
            </a:extLst>
          </p:cNvPr>
          <p:cNvSpPr txBox="1">
            <a:spLocks/>
          </p:cNvSpPr>
          <p:nvPr/>
        </p:nvSpPr>
        <p:spPr>
          <a:xfrm>
            <a:off x="526079" y="283019"/>
            <a:ext cx="9418021" cy="70177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Overview: </a:t>
            </a:r>
            <a:r>
              <a:rPr lang="es-CO" sz="3200"/>
              <a:t>	Mapa de capacidad de negocio</a:t>
            </a:r>
            <a:r>
              <a:rPr lang="es-ES_tradnl" sz="3200"/>
              <a:t> </a:t>
            </a:r>
            <a:endParaRPr lang="en-US"/>
          </a:p>
        </p:txBody>
      </p:sp>
      <p:pic>
        <p:nvPicPr>
          <p:cNvPr id="8" name="Imagen 7">
            <a:extLst>
              <a:ext uri="{FF2B5EF4-FFF2-40B4-BE49-F238E27FC236}">
                <a16:creationId xmlns:a16="http://schemas.microsoft.com/office/drawing/2014/main" id="{C9DCAC72-8E59-43D3-DBF8-6FB117CFD62F}"/>
              </a:ext>
            </a:extLst>
          </p:cNvPr>
          <p:cNvPicPr>
            <a:picLocks noChangeAspect="1"/>
          </p:cNvPicPr>
          <p:nvPr/>
        </p:nvPicPr>
        <p:blipFill>
          <a:blip r:embed="rId2"/>
          <a:stretch>
            <a:fillRect/>
          </a:stretch>
        </p:blipFill>
        <p:spPr>
          <a:xfrm>
            <a:off x="365462" y="917432"/>
            <a:ext cx="11183409" cy="4684832"/>
          </a:xfrm>
          <a:prstGeom prst="rect">
            <a:avLst/>
          </a:prstGeom>
        </p:spPr>
      </p:pic>
      <p:sp>
        <p:nvSpPr>
          <p:cNvPr id="9" name="Rectángulo 8">
            <a:extLst>
              <a:ext uri="{FF2B5EF4-FFF2-40B4-BE49-F238E27FC236}">
                <a16:creationId xmlns:a16="http://schemas.microsoft.com/office/drawing/2014/main" id="{7C11DADF-0433-67D5-BCFF-E624B413DB32}"/>
              </a:ext>
            </a:extLst>
          </p:cNvPr>
          <p:cNvSpPr/>
          <p:nvPr/>
        </p:nvSpPr>
        <p:spPr>
          <a:xfrm>
            <a:off x="10415016" y="1683212"/>
            <a:ext cx="704088" cy="543165"/>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92336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16E66-743D-1928-26DE-8C1E7DAB450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D51AB42-514F-33BE-D706-8979FC17DF12}"/>
              </a:ext>
            </a:extLst>
          </p:cNvPr>
          <p:cNvSpPr txBox="1">
            <a:spLocks/>
          </p:cNvSpPr>
          <p:nvPr/>
        </p:nvSpPr>
        <p:spPr>
          <a:xfrm>
            <a:off x="1104900" y="685800"/>
            <a:ext cx="10477497" cy="48950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Overview: </a:t>
            </a:r>
            <a:r>
              <a:rPr lang="es-CO" sz="3200"/>
              <a:t>Gestionar Cuentas por Cobrar del Estudiante</a:t>
            </a:r>
            <a:endParaRPr lang="es-CL"/>
          </a:p>
        </p:txBody>
      </p:sp>
      <p:sp>
        <p:nvSpPr>
          <p:cNvPr id="3" name="Marcador de texto 1">
            <a:extLst>
              <a:ext uri="{FF2B5EF4-FFF2-40B4-BE49-F238E27FC236}">
                <a16:creationId xmlns:a16="http://schemas.microsoft.com/office/drawing/2014/main" id="{03C97F2C-8546-ED56-8799-AC198A5DE2B5}"/>
              </a:ext>
            </a:extLst>
          </p:cNvPr>
          <p:cNvSpPr txBox="1">
            <a:spLocks/>
          </p:cNvSpPr>
          <p:nvPr/>
        </p:nvSpPr>
        <p:spPr>
          <a:xfrm>
            <a:off x="1014984" y="1175307"/>
            <a:ext cx="9962587" cy="4507385"/>
          </a:xfrm>
          <a:prstGeom prst="rect">
            <a:avLst/>
          </a:prstGeom>
        </p:spPr>
        <p:txBody>
          <a:bodyPr anchor="ct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CB4B4"/>
              </a:buClr>
              <a:buBlip>
                <a:blip r:embed="rId2"/>
              </a:buBlip>
            </a:pPr>
            <a:r>
              <a:rPr lang="es-CO" sz="2400"/>
              <a:t> Gestionar los conceptos de configuración de la cuenta corriente</a:t>
            </a:r>
          </a:p>
          <a:p>
            <a:pPr>
              <a:buClr>
                <a:srgbClr val="0CB4B4"/>
              </a:buClr>
              <a:buBlip>
                <a:blip r:embed="rId2"/>
              </a:buBlip>
            </a:pPr>
            <a:r>
              <a:rPr lang="es-CO" sz="2400"/>
              <a:t> Gestionar los beneficios</a:t>
            </a:r>
          </a:p>
          <a:p>
            <a:pPr>
              <a:buClr>
                <a:srgbClr val="0CB4B4"/>
              </a:buClr>
              <a:buBlip>
                <a:blip r:embed="rId2"/>
              </a:buBlip>
            </a:pPr>
            <a:r>
              <a:rPr lang="es-CO" sz="2400"/>
              <a:t> </a:t>
            </a:r>
            <a:r>
              <a:rPr lang="es-CO" sz="2400" b="1">
                <a:solidFill>
                  <a:schemeClr val="accent1"/>
                </a:solidFill>
              </a:rPr>
              <a:t>Gestionar los planes de pago</a:t>
            </a:r>
          </a:p>
          <a:p>
            <a:pPr>
              <a:buClr>
                <a:srgbClr val="0CB4B4"/>
              </a:buClr>
              <a:buBlip>
                <a:blip r:embed="rId2"/>
              </a:buBlip>
            </a:pPr>
            <a:r>
              <a:rPr lang="es-CO" sz="2400"/>
              <a:t> Gestionar la matrícula</a:t>
            </a:r>
          </a:p>
          <a:p>
            <a:pPr>
              <a:buClr>
                <a:srgbClr val="0CB4B4"/>
              </a:buClr>
              <a:buBlip>
                <a:blip r:embed="rId2"/>
              </a:buBlip>
            </a:pPr>
            <a:r>
              <a:rPr lang="es-CO" sz="2400"/>
              <a:t> Gestionar los pagos</a:t>
            </a:r>
          </a:p>
          <a:p>
            <a:pPr>
              <a:buClr>
                <a:srgbClr val="0CB4B4"/>
              </a:buClr>
              <a:buBlip>
                <a:blip r:embed="rId2"/>
              </a:buBlip>
            </a:pPr>
            <a:r>
              <a:rPr lang="es-CO" sz="2400"/>
              <a:t> Gestionar los documentos de venta</a:t>
            </a:r>
          </a:p>
          <a:p>
            <a:pPr>
              <a:buClr>
                <a:srgbClr val="0CB4B4"/>
              </a:buClr>
              <a:buBlip>
                <a:blip r:embed="rId2"/>
              </a:buBlip>
            </a:pPr>
            <a:r>
              <a:rPr lang="es-CO" sz="2400"/>
              <a:t> Gestionar la cuenta corriente</a:t>
            </a:r>
          </a:p>
          <a:p>
            <a:pPr>
              <a:buClr>
                <a:srgbClr val="0CB4B4"/>
              </a:buClr>
              <a:buBlip>
                <a:blip r:embed="rId2"/>
              </a:buBlip>
            </a:pPr>
            <a:r>
              <a:rPr lang="es-CO" sz="2400"/>
              <a:t> Gestionar la generación de transacciones FI</a:t>
            </a:r>
          </a:p>
        </p:txBody>
      </p:sp>
    </p:spTree>
    <p:extLst>
      <p:ext uri="{BB962C8B-B14F-4D97-AF65-F5344CB8AC3E}">
        <p14:creationId xmlns:p14="http://schemas.microsoft.com/office/powerpoint/2010/main" val="2282972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FE961-4C2D-76D0-7F4E-B82BDE7E20E3}"/>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D61E9318-BBD1-E5E3-7109-A0E8C832DB2A}"/>
              </a:ext>
            </a:extLst>
          </p:cNvPr>
          <p:cNvSpPr txBox="1">
            <a:spLocks/>
          </p:cNvSpPr>
          <p:nvPr/>
        </p:nvSpPr>
        <p:spPr>
          <a:xfrm>
            <a:off x="842775" y="685801"/>
            <a:ext cx="10477497" cy="56692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Overview: </a:t>
            </a:r>
            <a:r>
              <a:rPr lang="es-CO" sz="3200"/>
              <a:t>Gestionar los planes de pago</a:t>
            </a:r>
          </a:p>
          <a:p>
            <a:endParaRPr lang="es-CL"/>
          </a:p>
        </p:txBody>
      </p:sp>
      <p:sp>
        <p:nvSpPr>
          <p:cNvPr id="4" name="Marcador de texto 1">
            <a:extLst>
              <a:ext uri="{FF2B5EF4-FFF2-40B4-BE49-F238E27FC236}">
                <a16:creationId xmlns:a16="http://schemas.microsoft.com/office/drawing/2014/main" id="{B78B6C4C-AB53-22B1-FEC0-FA3F40AE628F}"/>
              </a:ext>
            </a:extLst>
          </p:cNvPr>
          <p:cNvSpPr txBox="1">
            <a:spLocks/>
          </p:cNvSpPr>
          <p:nvPr/>
        </p:nvSpPr>
        <p:spPr>
          <a:xfrm>
            <a:off x="842774" y="1834764"/>
            <a:ext cx="10477497" cy="2444628"/>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es-CO"/>
              <a:t>El proceso permite redistribuir la deuda del estudiante por medio de los planes de pago que hayan sido configurados o definidos previamente por la institución.</a:t>
            </a:r>
          </a:p>
          <a:p>
            <a:pPr marL="0" indent="0">
              <a:buNone/>
            </a:pPr>
            <a:endParaRPr lang="es-CO"/>
          </a:p>
          <a:p>
            <a:pPr>
              <a:buBlip>
                <a:blip r:embed="rId2"/>
              </a:buBlip>
            </a:pPr>
            <a:r>
              <a:rPr lang="es-CO"/>
              <a:t>Comprende la definición, diseño, ejecución y seguimiento de planes de pago, permitiendo a la institución, diferir los cargos con base en un nuevo acuerdo con fechas y montos específicos distribuidos en un calendario individual con fechas específicas para recibir los pagos; puede incluir penalización o no, dependiendo de los acuerdos tomados.</a:t>
            </a:r>
          </a:p>
          <a:p>
            <a:pPr>
              <a:buBlip>
                <a:blip r:embed="rId2"/>
              </a:buBlip>
            </a:pPr>
            <a:endParaRPr lang="es-CO" sz="2000"/>
          </a:p>
          <a:p>
            <a:pPr marL="0" indent="0">
              <a:buNone/>
            </a:pPr>
            <a:endParaRPr lang="es-CL" sz="2000"/>
          </a:p>
        </p:txBody>
      </p:sp>
    </p:spTree>
    <p:extLst>
      <p:ext uri="{BB962C8B-B14F-4D97-AF65-F5344CB8AC3E}">
        <p14:creationId xmlns:p14="http://schemas.microsoft.com/office/powerpoint/2010/main" val="1170962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69356-7101-74E3-FFD8-42A26C5C2A1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763723C-5330-831A-866D-B841E31941A7}"/>
              </a:ext>
            </a:extLst>
          </p:cNvPr>
          <p:cNvSpPr txBox="1">
            <a:spLocks/>
          </p:cNvSpPr>
          <p:nvPr/>
        </p:nvSpPr>
        <p:spPr>
          <a:xfrm>
            <a:off x="889044" y="761236"/>
            <a:ext cx="8639978"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a:solidFill>
                  <a:schemeClr val="accent1"/>
                </a:solidFill>
              </a:rPr>
              <a:t>Overview: </a:t>
            </a:r>
            <a:r>
              <a:rPr lang="es-CO" sz="2800"/>
              <a:t>Gestionar Cuentas por Cobrar del Estudiante</a:t>
            </a:r>
            <a:endParaRPr lang="es-CL" sz="3000"/>
          </a:p>
        </p:txBody>
      </p:sp>
      <p:pic>
        <p:nvPicPr>
          <p:cNvPr id="4" name="Imagen 3">
            <a:extLst>
              <a:ext uri="{FF2B5EF4-FFF2-40B4-BE49-F238E27FC236}">
                <a16:creationId xmlns:a16="http://schemas.microsoft.com/office/drawing/2014/main" id="{A11A39C1-F6E6-ABC5-7FCB-EA5872D775F3}"/>
              </a:ext>
            </a:extLst>
          </p:cNvPr>
          <p:cNvPicPr>
            <a:picLocks noChangeAspect="1"/>
          </p:cNvPicPr>
          <p:nvPr/>
        </p:nvPicPr>
        <p:blipFill>
          <a:blip r:embed="rId3"/>
          <a:stretch>
            <a:fillRect/>
          </a:stretch>
        </p:blipFill>
        <p:spPr>
          <a:xfrm>
            <a:off x="1894765" y="2220814"/>
            <a:ext cx="8201302" cy="2068900"/>
          </a:xfrm>
          <a:prstGeom prst="rect">
            <a:avLst/>
          </a:prstGeom>
        </p:spPr>
      </p:pic>
    </p:spTree>
    <p:extLst>
      <p:ext uri="{BB962C8B-B14F-4D97-AF65-F5344CB8AC3E}">
        <p14:creationId xmlns:p14="http://schemas.microsoft.com/office/powerpoint/2010/main" val="3319194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14EEF-6C1A-C160-603F-F60ECA3CFE7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1B8B9E4-E83D-4BF5-92C4-053960F1CC20}"/>
              </a:ext>
            </a:extLst>
          </p:cNvPr>
          <p:cNvSpPr txBox="1">
            <a:spLocks/>
          </p:cNvSpPr>
          <p:nvPr/>
        </p:nvSpPr>
        <p:spPr>
          <a:xfrm>
            <a:off x="1354836" y="240028"/>
            <a:ext cx="8744713"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err="1">
                <a:solidFill>
                  <a:schemeClr val="accent1"/>
                </a:solidFill>
              </a:rPr>
              <a:t>Overview</a:t>
            </a:r>
            <a:r>
              <a:rPr lang="es-ES_tradnl" sz="3000">
                <a:solidFill>
                  <a:schemeClr val="accent1"/>
                </a:solidFill>
              </a:rPr>
              <a:t>: </a:t>
            </a:r>
            <a:r>
              <a:rPr lang="es-CO" sz="2800"/>
              <a:t>Gestionar los planes de pago</a:t>
            </a:r>
          </a:p>
          <a:p>
            <a:r>
              <a:rPr lang="es-CO" sz="2800"/>
              <a:t>  </a:t>
            </a:r>
            <a:endParaRPr lang="es-CL" sz="3000"/>
          </a:p>
        </p:txBody>
      </p:sp>
      <p:pic>
        <p:nvPicPr>
          <p:cNvPr id="5" name="Imagen 4">
            <a:extLst>
              <a:ext uri="{FF2B5EF4-FFF2-40B4-BE49-F238E27FC236}">
                <a16:creationId xmlns:a16="http://schemas.microsoft.com/office/drawing/2014/main" id="{2DE806F5-CD7D-D5CA-FB5C-90580DAAEA12}"/>
              </a:ext>
            </a:extLst>
          </p:cNvPr>
          <p:cNvPicPr>
            <a:picLocks noChangeAspect="1"/>
          </p:cNvPicPr>
          <p:nvPr/>
        </p:nvPicPr>
        <p:blipFill>
          <a:blip r:embed="rId3"/>
          <a:srcRect l="21299" t="1811" r="926" b="1976"/>
          <a:stretch>
            <a:fillRect/>
          </a:stretch>
        </p:blipFill>
        <p:spPr>
          <a:xfrm>
            <a:off x="1354836" y="960843"/>
            <a:ext cx="9482328" cy="5294376"/>
          </a:xfrm>
          <a:prstGeom prst="rect">
            <a:avLst/>
          </a:prstGeom>
        </p:spPr>
      </p:pic>
    </p:spTree>
    <p:extLst>
      <p:ext uri="{BB962C8B-B14F-4D97-AF65-F5344CB8AC3E}">
        <p14:creationId xmlns:p14="http://schemas.microsoft.com/office/powerpoint/2010/main" val="1587910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7B0D0-31A3-5697-ADCD-1DBB7FDC579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E58F3FB0-1246-A15C-6F05-1E2CEF64E6CA}"/>
              </a:ext>
            </a:extLst>
          </p:cNvPr>
          <p:cNvPicPr>
            <a:picLocks noChangeAspect="1"/>
          </p:cNvPicPr>
          <p:nvPr/>
        </p:nvPicPr>
        <p:blipFill>
          <a:blip r:embed="rId2"/>
          <a:stretch>
            <a:fillRect/>
          </a:stretch>
        </p:blipFill>
        <p:spPr>
          <a:xfrm>
            <a:off x="2372205" y="1243584"/>
            <a:ext cx="4949400" cy="5258738"/>
          </a:xfrm>
          <a:prstGeom prst="rect">
            <a:avLst/>
          </a:prstGeom>
        </p:spPr>
      </p:pic>
      <p:sp>
        <p:nvSpPr>
          <p:cNvPr id="4" name="CuadroTexto 3">
            <a:extLst>
              <a:ext uri="{FF2B5EF4-FFF2-40B4-BE49-F238E27FC236}">
                <a16:creationId xmlns:a16="http://schemas.microsoft.com/office/drawing/2014/main" id="{108B41F2-6092-A826-D062-7BEC12B9F49E}"/>
              </a:ext>
            </a:extLst>
          </p:cNvPr>
          <p:cNvSpPr txBox="1"/>
          <p:nvPr/>
        </p:nvSpPr>
        <p:spPr>
          <a:xfrm>
            <a:off x="6903719" y="2167128"/>
            <a:ext cx="2111475" cy="584775"/>
          </a:xfrm>
          <a:prstGeom prst="rect">
            <a:avLst/>
          </a:prstGeom>
          <a:noFill/>
        </p:spPr>
        <p:txBody>
          <a:bodyPr wrap="none" rtlCol="0">
            <a:spAutoFit/>
          </a:bodyPr>
          <a:lstStyle/>
          <a:p>
            <a:r>
              <a:rPr lang="es-ES_tradnl" sz="3200" b="1"/>
              <a:t>Todo LAC</a:t>
            </a:r>
          </a:p>
        </p:txBody>
      </p:sp>
      <p:sp>
        <p:nvSpPr>
          <p:cNvPr id="7" name="Título 3">
            <a:extLst>
              <a:ext uri="{FF2B5EF4-FFF2-40B4-BE49-F238E27FC236}">
                <a16:creationId xmlns:a16="http://schemas.microsoft.com/office/drawing/2014/main" id="{889751BF-9411-08B1-B14A-6450804DDB12}"/>
              </a:ext>
            </a:extLst>
          </p:cNvPr>
          <p:cNvSpPr txBox="1">
            <a:spLocks/>
          </p:cNvSpPr>
          <p:nvPr/>
        </p:nvSpPr>
        <p:spPr>
          <a:xfrm>
            <a:off x="854351" y="355678"/>
            <a:ext cx="10483297"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a:solidFill>
                  <a:schemeClr val="accent1"/>
                </a:solidFill>
              </a:rPr>
              <a:t>Overview: </a:t>
            </a:r>
            <a:r>
              <a:rPr lang="es-CO" sz="3000"/>
              <a:t>Gestionar los planes de pago</a:t>
            </a:r>
          </a:p>
          <a:p>
            <a:r>
              <a:rPr lang="es-ES_tradnl" sz="3000"/>
              <a:t> </a:t>
            </a:r>
            <a:endParaRPr lang="es-CL" sz="3000"/>
          </a:p>
        </p:txBody>
      </p:sp>
    </p:spTree>
    <p:extLst>
      <p:ext uri="{BB962C8B-B14F-4D97-AF65-F5344CB8AC3E}">
        <p14:creationId xmlns:p14="http://schemas.microsoft.com/office/powerpoint/2010/main" val="3240483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3101-4355-03B8-9E15-A7698836AE36}"/>
            </a:ext>
          </a:extLst>
        </p:cNvPr>
        <p:cNvGrpSpPr/>
        <p:nvPr/>
      </p:nvGrpSpPr>
      <p:grpSpPr>
        <a:xfrm>
          <a:off x="0" y="0"/>
          <a:ext cx="0" cy="0"/>
          <a:chOff x="0" y="0"/>
          <a:chExt cx="0" cy="0"/>
        </a:xfrm>
      </p:grpSpPr>
      <p:graphicFrame>
        <p:nvGraphicFramePr>
          <p:cNvPr id="3" name="Tabla 6">
            <a:extLst>
              <a:ext uri="{FF2B5EF4-FFF2-40B4-BE49-F238E27FC236}">
                <a16:creationId xmlns:a16="http://schemas.microsoft.com/office/drawing/2014/main" id="{7FB3341E-4B68-FA61-19E0-0CD352C0AF24}"/>
              </a:ext>
            </a:extLst>
          </p:cNvPr>
          <p:cNvGraphicFramePr>
            <a:graphicFrameLocks noGrp="1"/>
          </p:cNvGraphicFramePr>
          <p:nvPr>
            <p:extLst>
              <p:ext uri="{D42A27DB-BD31-4B8C-83A1-F6EECF244321}">
                <p14:modId xmlns:p14="http://schemas.microsoft.com/office/powerpoint/2010/main" val="1410695333"/>
              </p:ext>
            </p:extLst>
          </p:nvPr>
        </p:nvGraphicFramePr>
        <p:xfrm>
          <a:off x="1205196" y="1353062"/>
          <a:ext cx="9609373" cy="4315708"/>
        </p:xfrm>
        <a:graphic>
          <a:graphicData uri="http://schemas.openxmlformats.org/drawingml/2006/table">
            <a:tbl>
              <a:tblPr firstRow="1" bandRow="1">
                <a:tableStyleId>{5C22544A-7EE6-4342-B048-85BDC9FD1C3A}</a:tableStyleId>
              </a:tblPr>
              <a:tblGrid>
                <a:gridCol w="2028064">
                  <a:extLst>
                    <a:ext uri="{9D8B030D-6E8A-4147-A177-3AD203B41FA5}">
                      <a16:colId xmlns:a16="http://schemas.microsoft.com/office/drawing/2014/main" val="2298581278"/>
                    </a:ext>
                  </a:extLst>
                </a:gridCol>
                <a:gridCol w="7581309">
                  <a:extLst>
                    <a:ext uri="{9D8B030D-6E8A-4147-A177-3AD203B41FA5}">
                      <a16:colId xmlns:a16="http://schemas.microsoft.com/office/drawing/2014/main" val="1504358611"/>
                    </a:ext>
                  </a:extLst>
                </a:gridCol>
              </a:tblGrid>
              <a:tr h="488266">
                <a:tc>
                  <a:txBody>
                    <a:bodyPr/>
                    <a:lstStyle/>
                    <a:p>
                      <a:pPr algn="ctr">
                        <a:spcAft>
                          <a:spcPts val="0"/>
                        </a:spcAft>
                      </a:pPr>
                      <a:r>
                        <a:rPr lang="es-ES" sz="1800">
                          <a:effectLst/>
                        </a:rPr>
                        <a:t>Concepto</a:t>
                      </a:r>
                      <a:endParaRPr lang="es-CO" sz="200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800">
                          <a:effectLst/>
                        </a:rPr>
                        <a:t>Descripción</a:t>
                      </a:r>
                      <a:endParaRPr lang="es-CO" sz="200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631455631"/>
                  </a:ext>
                </a:extLst>
              </a:tr>
              <a:tr h="488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600" b="1" kern="1200">
                          <a:solidFill>
                            <a:schemeClr val="dk1"/>
                          </a:solidFill>
                          <a:effectLst/>
                          <a:latin typeface="+mn-lt"/>
                          <a:ea typeface="+mn-ea"/>
                          <a:cs typeface="+mn-cs"/>
                        </a:rPr>
                        <a:t>Estado de cuenta</a:t>
                      </a:r>
                      <a:endParaRPr lang="es-CO" sz="1600" b="1" kern="1200">
                        <a:solidFill>
                          <a:schemeClr val="dk1"/>
                        </a:solidFill>
                        <a:effectLst/>
                        <a:latin typeface="+mn-lt"/>
                        <a:ea typeface="+mn-ea"/>
                        <a:cs typeface="+mn-cs"/>
                      </a:endParaRP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kern="1200">
                          <a:solidFill>
                            <a:schemeClr val="dk1"/>
                          </a:solidFill>
                          <a:effectLst/>
                          <a:latin typeface="+mn-lt"/>
                          <a:ea typeface="+mn-ea"/>
                          <a:cs typeface="+mn-cs"/>
                        </a:rPr>
                        <a:t>Detalle de transacciones de cargo y pago asentadas en la cuenta del estudiante.</a:t>
                      </a:r>
                    </a:p>
                  </a:txBody>
                  <a:tcPr marL="36830" marR="36830" marT="36830" marB="36830" anchor="ctr"/>
                </a:tc>
                <a:extLst>
                  <a:ext uri="{0D108BD9-81ED-4DB2-BD59-A6C34878D82A}">
                    <a16:rowId xmlns:a16="http://schemas.microsoft.com/office/drawing/2014/main" val="1674607535"/>
                  </a:ext>
                </a:extLst>
              </a:tr>
              <a:tr h="570182">
                <a:tc>
                  <a:txBody>
                    <a:bodyPr/>
                    <a:lstStyle/>
                    <a:p>
                      <a:pPr>
                        <a:spcAft>
                          <a:spcPts val="0"/>
                        </a:spcAft>
                      </a:pPr>
                      <a:r>
                        <a:rPr lang="es-ES" sz="1600" b="1">
                          <a:effectLst/>
                        </a:rPr>
                        <a:t>Moroso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kern="1200">
                          <a:solidFill>
                            <a:schemeClr val="dk1"/>
                          </a:solidFill>
                          <a:effectLst/>
                          <a:latin typeface="+mn-lt"/>
                          <a:ea typeface="+mn-ea"/>
                          <a:cs typeface="+mn-cs"/>
                        </a:rPr>
                        <a:t>Alumno con saldo vencido</a:t>
                      </a:r>
                    </a:p>
                  </a:txBody>
                  <a:tcPr marL="36830" marR="36830" marT="36830" marB="36830" anchor="ctr"/>
                </a:tc>
                <a:extLst>
                  <a:ext uri="{0D108BD9-81ED-4DB2-BD59-A6C34878D82A}">
                    <a16:rowId xmlns:a16="http://schemas.microsoft.com/office/drawing/2014/main" val="3417766030"/>
                  </a:ext>
                </a:extLst>
              </a:tr>
              <a:tr h="570182">
                <a:tc>
                  <a:txBody>
                    <a:bodyPr/>
                    <a:lstStyle/>
                    <a:p>
                      <a:pPr>
                        <a:spcAft>
                          <a:spcPts val="0"/>
                        </a:spcAft>
                      </a:pPr>
                      <a:r>
                        <a:rPr lang="es-ES" sz="1600" b="1">
                          <a:effectLst/>
                        </a:rPr>
                        <a:t>Exención</a:t>
                      </a:r>
                      <a:endParaRPr lang="es-CO" sz="2000" b="1">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a:effectLst/>
                        </a:rPr>
                        <a:t>Beca, descuento o condonación.</a:t>
                      </a:r>
                      <a:endParaRPr lang="es-CO" sz="200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986388875"/>
                  </a:ext>
                </a:extLst>
              </a:tr>
              <a:tr h="570182">
                <a:tc>
                  <a:txBody>
                    <a:bodyPr/>
                    <a:lstStyle/>
                    <a:p>
                      <a:pPr>
                        <a:spcAft>
                          <a:spcPts val="0"/>
                        </a:spcAft>
                      </a:pPr>
                      <a:r>
                        <a:rPr lang="es-ES" sz="1600" b="1">
                          <a:effectLst/>
                        </a:rPr>
                        <a:t>Contrato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a:effectLst/>
                        </a:rPr>
                        <a:t>Mecanismo mediante el cual una empresa o tercero asume la deuda parcial o total de un estudiante.</a:t>
                      </a:r>
                      <a:endParaRPr lang="es-CO" sz="200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59410008"/>
                  </a:ext>
                </a:extLst>
              </a:tr>
              <a:tr h="570182">
                <a:tc>
                  <a:txBody>
                    <a:bodyPr/>
                    <a:lstStyle/>
                    <a:p>
                      <a:pPr>
                        <a:spcAft>
                          <a:spcPts val="0"/>
                        </a:spcAft>
                      </a:pPr>
                      <a:r>
                        <a:rPr lang="es-ES" sz="1600" b="1">
                          <a:effectLst/>
                        </a:rPr>
                        <a:t>Plan de pagos</a:t>
                      </a:r>
                      <a:endParaRPr lang="es-CO" sz="2000" b="1">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a:effectLst/>
                        </a:rPr>
                        <a:t>Mecanismo automatizado que permite dividir la deuda en un conjunto de parcialidades con nueva fecha de vencimiento, con recargos o sin recargos. </a:t>
                      </a:r>
                    </a:p>
                  </a:txBody>
                  <a:tcPr marL="36830" marR="36830" marT="36830" marB="36830" anchor="ctr"/>
                </a:tc>
                <a:extLst>
                  <a:ext uri="{0D108BD9-81ED-4DB2-BD59-A6C34878D82A}">
                    <a16:rowId xmlns:a16="http://schemas.microsoft.com/office/drawing/2014/main" val="3597378803"/>
                  </a:ext>
                </a:extLst>
              </a:tr>
              <a:tr h="570182">
                <a:tc>
                  <a:txBody>
                    <a:bodyPr/>
                    <a:lstStyle/>
                    <a:p>
                      <a:pPr>
                        <a:spcAft>
                          <a:spcPts val="0"/>
                        </a:spcAft>
                      </a:pPr>
                      <a:r>
                        <a:rPr lang="es-ES" sz="1600" b="1">
                          <a:effectLst/>
                        </a:rPr>
                        <a:t>Refinanciamiento </a:t>
                      </a:r>
                      <a:endParaRPr lang="es-CO" sz="2000" b="1">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a:effectLst/>
                        </a:rPr>
                        <a:t>Mecanismo automatizado que permite pactar nuevos convenios sobre la forma de pagar una deuda o plan de pagos que el deudor no ha podido cumplir.</a:t>
                      </a:r>
                      <a:endParaRPr lang="es-CO" sz="200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4130258538"/>
                  </a:ext>
                </a:extLst>
              </a:tr>
              <a:tr h="488266">
                <a:tc>
                  <a:txBody>
                    <a:bodyPr/>
                    <a:lstStyle/>
                    <a:p>
                      <a:pPr>
                        <a:spcAft>
                          <a:spcPts val="0"/>
                        </a:spcAft>
                      </a:pPr>
                      <a:r>
                        <a:rPr lang="es-ES" sz="1600" b="1">
                          <a:effectLst/>
                        </a:rPr>
                        <a:t>Reglas de cobro</a:t>
                      </a:r>
                      <a:endParaRPr lang="es-CO" sz="2000" b="1">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a:effectLst/>
                        </a:rPr>
                        <a:t>Lista de precios o tarifas.</a:t>
                      </a:r>
                      <a:endParaRPr lang="es-CO" sz="200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270006639"/>
                  </a:ext>
                </a:extLst>
              </a:tr>
            </a:tbl>
          </a:graphicData>
        </a:graphic>
      </p:graphicFrame>
      <p:sp>
        <p:nvSpPr>
          <p:cNvPr id="4" name="Título 3">
            <a:extLst>
              <a:ext uri="{FF2B5EF4-FFF2-40B4-BE49-F238E27FC236}">
                <a16:creationId xmlns:a16="http://schemas.microsoft.com/office/drawing/2014/main" id="{750CE1ED-E082-8249-F10E-9147F13B62BF}"/>
              </a:ext>
            </a:extLst>
          </p:cNvPr>
          <p:cNvSpPr txBox="1">
            <a:spLocks/>
          </p:cNvSpPr>
          <p:nvPr/>
        </p:nvSpPr>
        <p:spPr>
          <a:xfrm>
            <a:off x="1113757" y="515296"/>
            <a:ext cx="7042692" cy="51797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a:solidFill>
                  <a:schemeClr val="accent1"/>
                </a:solidFill>
              </a:rPr>
              <a:t>Overview: </a:t>
            </a:r>
            <a:r>
              <a:rPr lang="es-CO" sz="3000"/>
              <a:t>Gestionar los planes de pago </a:t>
            </a:r>
          </a:p>
          <a:p>
            <a:r>
              <a:rPr lang="es-ES_tradnl" sz="3000"/>
              <a:t> </a:t>
            </a:r>
            <a:endParaRPr lang="es-CL" sz="3000"/>
          </a:p>
        </p:txBody>
      </p:sp>
    </p:spTree>
    <p:extLst>
      <p:ext uri="{BB962C8B-B14F-4D97-AF65-F5344CB8AC3E}">
        <p14:creationId xmlns:p14="http://schemas.microsoft.com/office/powerpoint/2010/main" val="645989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1C026-B3A3-3ADF-337C-91FEF971D130}"/>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A540B02E-E1B9-C89A-2E04-22CDD1AE6B38}"/>
              </a:ext>
            </a:extLst>
          </p:cNvPr>
          <p:cNvSpPr txBox="1"/>
          <p:nvPr/>
        </p:nvSpPr>
        <p:spPr>
          <a:xfrm>
            <a:off x="621884" y="2296214"/>
            <a:ext cx="10762488" cy="1015663"/>
          </a:xfrm>
          <a:prstGeom prst="rect">
            <a:avLst/>
          </a:prstGeom>
          <a:noFill/>
        </p:spPr>
        <p:txBody>
          <a:bodyPr wrap="square">
            <a:spAutoFit/>
          </a:bodyPr>
          <a:lstStyle/>
          <a:p>
            <a:r>
              <a:rPr lang="es-ES" sz="6000" b="1">
                <a:solidFill>
                  <a:schemeClr val="bg1"/>
                </a:solidFill>
              </a:rPr>
              <a:t>Configuraciones Generales</a:t>
            </a:r>
            <a:endParaRPr lang="en-US" sz="6000" b="1">
              <a:solidFill>
                <a:schemeClr val="bg1"/>
              </a:solidFill>
            </a:endParaRPr>
          </a:p>
        </p:txBody>
      </p:sp>
      <p:sp>
        <p:nvSpPr>
          <p:cNvPr id="8" name="Text Placeholder 16">
            <a:extLst>
              <a:ext uri="{FF2B5EF4-FFF2-40B4-BE49-F238E27FC236}">
                <a16:creationId xmlns:a16="http://schemas.microsoft.com/office/drawing/2014/main" id="{98CDFE7F-C458-3768-8036-894EB6818BE8}"/>
              </a:ext>
            </a:extLst>
          </p:cNvPr>
          <p:cNvSpPr txBox="1">
            <a:spLocks/>
          </p:cNvSpPr>
          <p:nvPr/>
        </p:nvSpPr>
        <p:spPr>
          <a:xfrm>
            <a:off x="621884" y="3311877"/>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a:solidFill>
                  <a:schemeClr val="bg1"/>
                </a:solidFill>
              </a:rPr>
              <a:t>Gestionar los planes de pago</a:t>
            </a:r>
          </a:p>
        </p:txBody>
      </p:sp>
    </p:spTree>
    <p:extLst>
      <p:ext uri="{BB962C8B-B14F-4D97-AF65-F5344CB8AC3E}">
        <p14:creationId xmlns:p14="http://schemas.microsoft.com/office/powerpoint/2010/main" val="1904241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B90B9-AF98-C0BD-3434-24480BFD942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CA70EEF-3A2A-27A5-A89C-B9D4826196B1}"/>
              </a:ext>
            </a:extLst>
          </p:cNvPr>
          <p:cNvSpPr txBox="1">
            <a:spLocks/>
          </p:cNvSpPr>
          <p:nvPr/>
        </p:nvSpPr>
        <p:spPr>
          <a:xfrm>
            <a:off x="605810" y="366638"/>
            <a:ext cx="10674618"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Configuraciones: </a:t>
            </a:r>
            <a:r>
              <a:rPr lang="es-CO" sz="3200"/>
              <a:t>TSACTRL Control de Cobro a Alumnos </a:t>
            </a:r>
            <a:endParaRPr lang="es-CL"/>
          </a:p>
        </p:txBody>
      </p:sp>
      <p:sp>
        <p:nvSpPr>
          <p:cNvPr id="5" name="Rectángulo: esquinas redondeadas 4">
            <a:extLst>
              <a:ext uri="{FF2B5EF4-FFF2-40B4-BE49-F238E27FC236}">
                <a16:creationId xmlns:a16="http://schemas.microsoft.com/office/drawing/2014/main" id="{BF1700F3-9FEB-D517-CF64-16B283C279A4}"/>
              </a:ext>
            </a:extLst>
          </p:cNvPr>
          <p:cNvSpPr/>
          <p:nvPr/>
        </p:nvSpPr>
        <p:spPr>
          <a:xfrm>
            <a:off x="907756" y="5525592"/>
            <a:ext cx="6009910" cy="45780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Configuración requerida para habilitar el uso de planes de pago automáticos.</a:t>
            </a:r>
          </a:p>
        </p:txBody>
      </p:sp>
      <p:pic>
        <p:nvPicPr>
          <p:cNvPr id="4" name="Imagen 3">
            <a:extLst>
              <a:ext uri="{FF2B5EF4-FFF2-40B4-BE49-F238E27FC236}">
                <a16:creationId xmlns:a16="http://schemas.microsoft.com/office/drawing/2014/main" id="{55C19545-7CDC-7AA4-957D-C6D7C60475B1}"/>
              </a:ext>
            </a:extLst>
          </p:cNvPr>
          <p:cNvPicPr>
            <a:picLocks noChangeAspect="1"/>
          </p:cNvPicPr>
          <p:nvPr/>
        </p:nvPicPr>
        <p:blipFill>
          <a:blip r:embed="rId2"/>
          <a:stretch>
            <a:fillRect/>
          </a:stretch>
        </p:blipFill>
        <p:spPr>
          <a:xfrm>
            <a:off x="818505" y="1106424"/>
            <a:ext cx="10767684" cy="3703320"/>
          </a:xfrm>
          <a:prstGeom prst="rect">
            <a:avLst/>
          </a:prstGeom>
        </p:spPr>
      </p:pic>
    </p:spTree>
    <p:extLst>
      <p:ext uri="{BB962C8B-B14F-4D97-AF65-F5344CB8AC3E}">
        <p14:creationId xmlns:p14="http://schemas.microsoft.com/office/powerpoint/2010/main" val="2077119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9B0E2-4659-67C4-A6A9-669DAEB03093}"/>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5DC0D32F-6E28-6D20-F871-10A259771532}"/>
              </a:ext>
            </a:extLst>
          </p:cNvPr>
          <p:cNvPicPr>
            <a:picLocks noChangeAspect="1"/>
          </p:cNvPicPr>
          <p:nvPr/>
        </p:nvPicPr>
        <p:blipFill>
          <a:blip r:embed="rId2"/>
          <a:stretch>
            <a:fillRect/>
          </a:stretch>
        </p:blipFill>
        <p:spPr>
          <a:xfrm>
            <a:off x="1129284" y="871554"/>
            <a:ext cx="9933432" cy="4540400"/>
          </a:xfrm>
          <a:prstGeom prst="rect">
            <a:avLst/>
          </a:prstGeom>
        </p:spPr>
      </p:pic>
      <p:sp>
        <p:nvSpPr>
          <p:cNvPr id="2" name="Título 3">
            <a:extLst>
              <a:ext uri="{FF2B5EF4-FFF2-40B4-BE49-F238E27FC236}">
                <a16:creationId xmlns:a16="http://schemas.microsoft.com/office/drawing/2014/main" id="{21D73498-5497-A3B6-B676-77E5A63008DE}"/>
              </a:ext>
            </a:extLst>
          </p:cNvPr>
          <p:cNvSpPr txBox="1">
            <a:spLocks/>
          </p:cNvSpPr>
          <p:nvPr/>
        </p:nvSpPr>
        <p:spPr>
          <a:xfrm>
            <a:off x="1014723" y="254639"/>
            <a:ext cx="845846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ES_tradnl" sz="3200"/>
              <a:t>SOATERM Control de Periodo</a:t>
            </a:r>
            <a:br>
              <a:rPr lang="es-CL"/>
            </a:br>
            <a:endParaRPr lang="es-CL"/>
          </a:p>
        </p:txBody>
      </p:sp>
      <p:sp>
        <p:nvSpPr>
          <p:cNvPr id="4" name="Rectángulo: esquinas redondeadas 5">
            <a:extLst>
              <a:ext uri="{FF2B5EF4-FFF2-40B4-BE49-F238E27FC236}">
                <a16:creationId xmlns:a16="http://schemas.microsoft.com/office/drawing/2014/main" id="{6BB6A779-A49E-5A1C-2041-A2D0144D1A27}"/>
              </a:ext>
            </a:extLst>
          </p:cNvPr>
          <p:cNvSpPr/>
          <p:nvPr/>
        </p:nvSpPr>
        <p:spPr>
          <a:xfrm>
            <a:off x="1072003" y="5689797"/>
            <a:ext cx="10047993" cy="59329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SOATERM corresponde a una configuración especialmente académica, pero para el área de CXC es relevante que el </a:t>
            </a:r>
            <a:r>
              <a:rPr lang="es-CO" sz="1200" err="1"/>
              <a:t>chek</a:t>
            </a:r>
            <a:r>
              <a:rPr lang="es-CO" sz="1200"/>
              <a:t> de “Estimación en Línea” esté activo y la “fecha de corte de cargo original” posea una fecha anterior al día en que se realice el cargo.</a:t>
            </a:r>
          </a:p>
        </p:txBody>
      </p:sp>
    </p:spTree>
    <p:extLst>
      <p:ext uri="{BB962C8B-B14F-4D97-AF65-F5344CB8AC3E}">
        <p14:creationId xmlns:p14="http://schemas.microsoft.com/office/powerpoint/2010/main" val="1172934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A9205-634B-6BBE-58B7-CBC2FA0BBB0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98A360A-DBEC-4218-4394-94F3B847DD26}"/>
              </a:ext>
            </a:extLst>
          </p:cNvPr>
          <p:cNvSpPr txBox="1">
            <a:spLocks/>
          </p:cNvSpPr>
          <p:nvPr/>
        </p:nvSpPr>
        <p:spPr>
          <a:xfrm>
            <a:off x="1014723" y="254639"/>
            <a:ext cx="10223253"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ES_tradnl" sz="3200"/>
              <a:t>TSATERM Periodo de control de CXC</a:t>
            </a:r>
            <a:br>
              <a:rPr lang="es-CL"/>
            </a:br>
            <a:endParaRPr lang="es-CL"/>
          </a:p>
        </p:txBody>
      </p:sp>
      <p:sp>
        <p:nvSpPr>
          <p:cNvPr id="4" name="Rectángulo: esquinas redondeadas 5">
            <a:extLst>
              <a:ext uri="{FF2B5EF4-FFF2-40B4-BE49-F238E27FC236}">
                <a16:creationId xmlns:a16="http://schemas.microsoft.com/office/drawing/2014/main" id="{4B9C59CA-4AE1-0B76-BC53-5DE5C515584D}"/>
              </a:ext>
            </a:extLst>
          </p:cNvPr>
          <p:cNvSpPr/>
          <p:nvPr/>
        </p:nvSpPr>
        <p:spPr>
          <a:xfrm>
            <a:off x="1072002" y="5077149"/>
            <a:ext cx="10047993" cy="59329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Es requerido que en TSATERM el </a:t>
            </a:r>
            <a:r>
              <a:rPr lang="es-CO" sz="1200" err="1"/>
              <a:t>Check</a:t>
            </a:r>
            <a:r>
              <a:rPr lang="es-CO" sz="1200"/>
              <a:t> “Habilitar Periodo” se encuentre activo para permitir las transacciones en dicho periodo académico.</a:t>
            </a:r>
          </a:p>
        </p:txBody>
      </p:sp>
      <p:pic>
        <p:nvPicPr>
          <p:cNvPr id="3" name="Imagen 2">
            <a:extLst>
              <a:ext uri="{FF2B5EF4-FFF2-40B4-BE49-F238E27FC236}">
                <a16:creationId xmlns:a16="http://schemas.microsoft.com/office/drawing/2014/main" id="{184F409F-0592-C32E-A418-CA1440F91676}"/>
              </a:ext>
            </a:extLst>
          </p:cNvPr>
          <p:cNvPicPr>
            <a:picLocks noChangeAspect="1"/>
          </p:cNvPicPr>
          <p:nvPr/>
        </p:nvPicPr>
        <p:blipFill>
          <a:blip r:embed="rId2"/>
          <a:stretch>
            <a:fillRect/>
          </a:stretch>
        </p:blipFill>
        <p:spPr>
          <a:xfrm>
            <a:off x="1127010" y="1406141"/>
            <a:ext cx="9937975" cy="2891894"/>
          </a:xfrm>
          <a:prstGeom prst="rect">
            <a:avLst/>
          </a:prstGeom>
        </p:spPr>
      </p:pic>
    </p:spTree>
    <p:extLst>
      <p:ext uri="{BB962C8B-B14F-4D97-AF65-F5344CB8AC3E}">
        <p14:creationId xmlns:p14="http://schemas.microsoft.com/office/powerpoint/2010/main" val="2031896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B945C-8860-E372-91FF-264AAC2CB5E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38EFEB9-35F7-08ED-AF1C-ED12B7093A52}"/>
              </a:ext>
            </a:extLst>
          </p:cNvPr>
          <p:cNvSpPr txBox="1">
            <a:spLocks/>
          </p:cNvSpPr>
          <p:nvPr/>
        </p:nvSpPr>
        <p:spPr>
          <a:xfrm>
            <a:off x="896742" y="291215"/>
            <a:ext cx="10752714"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ES_tradnl" sz="3200"/>
              <a:t>TSADETC Control código de detalle - Alumnos</a:t>
            </a:r>
            <a:br>
              <a:rPr lang="es-CL"/>
            </a:br>
            <a:endParaRPr lang="es-CL"/>
          </a:p>
        </p:txBody>
      </p:sp>
      <p:sp>
        <p:nvSpPr>
          <p:cNvPr id="4" name="Rectángulo: esquinas redondeadas 5">
            <a:extLst>
              <a:ext uri="{FF2B5EF4-FFF2-40B4-BE49-F238E27FC236}">
                <a16:creationId xmlns:a16="http://schemas.microsoft.com/office/drawing/2014/main" id="{502E8D23-975C-A702-16ED-014E198BC04A}"/>
              </a:ext>
            </a:extLst>
          </p:cNvPr>
          <p:cNvSpPr/>
          <p:nvPr/>
        </p:nvSpPr>
        <p:spPr>
          <a:xfrm>
            <a:off x="746658" y="4070871"/>
            <a:ext cx="10826699" cy="187272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Creación de los códigos de detalles destinada a la formalización de conceptos de cobro y pago que serían registrados en la cuenta corriente.</a:t>
            </a:r>
          </a:p>
          <a:p>
            <a:endParaRPr lang="es-CO" sz="1200"/>
          </a:p>
          <a:p>
            <a:r>
              <a:rPr lang="es-CO" sz="1200"/>
              <a:t>-Códigos de detalle tipo PAGO que representen el monto principal del plan de pago que sería redistribuido en un número determinado de cuotas, mismo concepto que debería ser utilizado para saldar los diferentes conceptos de cargo a redistribuir en cuotas.</a:t>
            </a:r>
          </a:p>
          <a:p>
            <a:endParaRPr lang="es-CO" sz="1200"/>
          </a:p>
          <a:p>
            <a:r>
              <a:rPr lang="es-CO" sz="1200"/>
              <a:t>-Códigos de detalle tipo CARGO que representan las cuotas del plan de pago y los intereses por financiación que serían requeridas para redistribuir el monto principal definido para el plan de pago.</a:t>
            </a:r>
          </a:p>
        </p:txBody>
      </p:sp>
      <p:pic>
        <p:nvPicPr>
          <p:cNvPr id="6" name="Imagen 5">
            <a:extLst>
              <a:ext uri="{FF2B5EF4-FFF2-40B4-BE49-F238E27FC236}">
                <a16:creationId xmlns:a16="http://schemas.microsoft.com/office/drawing/2014/main" id="{6396295E-5786-D3F2-71EE-31C59A1D46FB}"/>
              </a:ext>
            </a:extLst>
          </p:cNvPr>
          <p:cNvPicPr>
            <a:picLocks noChangeAspect="1"/>
          </p:cNvPicPr>
          <p:nvPr/>
        </p:nvPicPr>
        <p:blipFill>
          <a:blip r:embed="rId2"/>
          <a:stretch>
            <a:fillRect/>
          </a:stretch>
        </p:blipFill>
        <p:spPr>
          <a:xfrm>
            <a:off x="682650" y="1427837"/>
            <a:ext cx="10826699" cy="2553095"/>
          </a:xfrm>
          <a:prstGeom prst="rect">
            <a:avLst/>
          </a:prstGeom>
        </p:spPr>
      </p:pic>
    </p:spTree>
    <p:extLst>
      <p:ext uri="{BB962C8B-B14F-4D97-AF65-F5344CB8AC3E}">
        <p14:creationId xmlns:p14="http://schemas.microsoft.com/office/powerpoint/2010/main" val="1450837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B75B6-85F8-C1AC-8AAA-439D1F0048EE}"/>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55CDFBB7-206C-7A76-80FC-6DB78A84CBAF}"/>
              </a:ext>
            </a:extLst>
          </p:cNvPr>
          <p:cNvSpPr txBox="1"/>
          <p:nvPr/>
        </p:nvSpPr>
        <p:spPr>
          <a:xfrm>
            <a:off x="693025" y="1983784"/>
            <a:ext cx="10261487" cy="1015663"/>
          </a:xfrm>
          <a:prstGeom prst="rect">
            <a:avLst/>
          </a:prstGeom>
          <a:noFill/>
        </p:spPr>
        <p:txBody>
          <a:bodyPr wrap="square">
            <a:spAutoFit/>
          </a:bodyPr>
          <a:lstStyle/>
          <a:p>
            <a:r>
              <a:rPr lang="es-CO" sz="6000" b="1">
                <a:solidFill>
                  <a:schemeClr val="bg1"/>
                </a:solidFill>
              </a:rPr>
              <a:t>Catálogo de Planes de Pagos</a:t>
            </a:r>
            <a:endParaRPr lang="en-US" sz="6000" b="1">
              <a:solidFill>
                <a:schemeClr val="bg1"/>
              </a:solidFill>
            </a:endParaRPr>
          </a:p>
        </p:txBody>
      </p:sp>
      <p:sp>
        <p:nvSpPr>
          <p:cNvPr id="2" name="Text Placeholder 16">
            <a:extLst>
              <a:ext uri="{FF2B5EF4-FFF2-40B4-BE49-F238E27FC236}">
                <a16:creationId xmlns:a16="http://schemas.microsoft.com/office/drawing/2014/main" id="{54D9212A-FDE8-B4F7-9272-C25C4C60BA8C}"/>
              </a:ext>
            </a:extLst>
          </p:cNvPr>
          <p:cNvSpPr txBox="1">
            <a:spLocks/>
          </p:cNvSpPr>
          <p:nvPr/>
        </p:nvSpPr>
        <p:spPr>
          <a:xfrm>
            <a:off x="693025" y="2999447"/>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a:solidFill>
                  <a:schemeClr val="bg1"/>
                </a:solidFill>
              </a:rPr>
              <a:t>Gestionar los planes de pago</a:t>
            </a:r>
          </a:p>
        </p:txBody>
      </p:sp>
    </p:spTree>
    <p:extLst>
      <p:ext uri="{BB962C8B-B14F-4D97-AF65-F5344CB8AC3E}">
        <p14:creationId xmlns:p14="http://schemas.microsoft.com/office/powerpoint/2010/main" val="2363588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E2944-E014-E26A-8244-2163B6568D5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7A23CDC-76C4-4D37-A94C-DAA4462220D1}"/>
              </a:ext>
            </a:extLst>
          </p:cNvPr>
          <p:cNvSpPr txBox="1">
            <a:spLocks/>
          </p:cNvSpPr>
          <p:nvPr/>
        </p:nvSpPr>
        <p:spPr>
          <a:xfrm>
            <a:off x="896742" y="291215"/>
            <a:ext cx="10752714"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TSAISTC Control de los códigos del Plan de Pagos – alumnos</a:t>
            </a:r>
            <a:br>
              <a:rPr lang="es-CL"/>
            </a:br>
            <a:endParaRPr lang="es-CL"/>
          </a:p>
        </p:txBody>
      </p:sp>
      <p:sp>
        <p:nvSpPr>
          <p:cNvPr id="4" name="Rectángulo: esquinas redondeadas 5">
            <a:extLst>
              <a:ext uri="{FF2B5EF4-FFF2-40B4-BE49-F238E27FC236}">
                <a16:creationId xmlns:a16="http://schemas.microsoft.com/office/drawing/2014/main" id="{E19FFC60-594A-8331-0C97-5D183F142169}"/>
              </a:ext>
            </a:extLst>
          </p:cNvPr>
          <p:cNvSpPr/>
          <p:nvPr/>
        </p:nvSpPr>
        <p:spPr>
          <a:xfrm>
            <a:off x="746658" y="4745736"/>
            <a:ext cx="10826699" cy="10058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a:t>Catálogo Planes de Pago:</a:t>
            </a:r>
          </a:p>
          <a:p>
            <a:r>
              <a:rPr lang="es-CO" sz="1200"/>
              <a:t>En la presente aplicación se enlista y preconfiguran todos los Planes de Pago que pudieran estar disponibles para su uso, esto aplica a planes de pago que sean ejecutados manualmente o bien planes de pago que por su configuración son asignados de forma masiva</a:t>
            </a:r>
          </a:p>
        </p:txBody>
      </p:sp>
      <p:pic>
        <p:nvPicPr>
          <p:cNvPr id="5" name="Imagen 4">
            <a:extLst>
              <a:ext uri="{FF2B5EF4-FFF2-40B4-BE49-F238E27FC236}">
                <a16:creationId xmlns:a16="http://schemas.microsoft.com/office/drawing/2014/main" id="{E6E777FB-7104-D047-E15A-083AEDD39297}"/>
              </a:ext>
            </a:extLst>
          </p:cNvPr>
          <p:cNvPicPr>
            <a:picLocks noChangeAspect="1"/>
          </p:cNvPicPr>
          <p:nvPr/>
        </p:nvPicPr>
        <p:blipFill>
          <a:blip r:embed="rId2"/>
          <a:stretch>
            <a:fillRect/>
          </a:stretch>
        </p:blipFill>
        <p:spPr>
          <a:xfrm>
            <a:off x="746658" y="2009257"/>
            <a:ext cx="10878856" cy="1872729"/>
          </a:xfrm>
          <a:prstGeom prst="rect">
            <a:avLst/>
          </a:prstGeom>
        </p:spPr>
      </p:pic>
    </p:spTree>
    <p:extLst>
      <p:ext uri="{BB962C8B-B14F-4D97-AF65-F5344CB8AC3E}">
        <p14:creationId xmlns:p14="http://schemas.microsoft.com/office/powerpoint/2010/main" val="1926120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7C9D2-80D0-FF5B-D38E-3E3A0826728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286C5FC-E174-6D3C-3B43-5981A3DD162A}"/>
              </a:ext>
            </a:extLst>
          </p:cNvPr>
          <p:cNvSpPr txBox="1">
            <a:spLocks/>
          </p:cNvSpPr>
          <p:nvPr/>
        </p:nvSpPr>
        <p:spPr>
          <a:xfrm>
            <a:off x="685565" y="312900"/>
            <a:ext cx="10752714"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TSAISTC Control de los códigos del Plan de Pagos – alumnos</a:t>
            </a:r>
            <a:br>
              <a:rPr lang="es-CL"/>
            </a:br>
            <a:endParaRPr lang="es-CL"/>
          </a:p>
        </p:txBody>
      </p:sp>
      <p:sp>
        <p:nvSpPr>
          <p:cNvPr id="4" name="Rectángulo: esquinas redondeadas 5">
            <a:extLst>
              <a:ext uri="{FF2B5EF4-FFF2-40B4-BE49-F238E27FC236}">
                <a16:creationId xmlns:a16="http://schemas.microsoft.com/office/drawing/2014/main" id="{470F14BA-A0BC-6A48-D97D-056178B5E44D}"/>
              </a:ext>
            </a:extLst>
          </p:cNvPr>
          <p:cNvSpPr/>
          <p:nvPr/>
        </p:nvSpPr>
        <p:spPr>
          <a:xfrm>
            <a:off x="685565" y="4789969"/>
            <a:ext cx="10826699" cy="139058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a:t>*1. Código del Plan de Pagos: </a:t>
            </a:r>
            <a:r>
              <a:rPr lang="es-CO" sz="1200"/>
              <a:t>Corresponde al código de hasta dos caracteres que identificaría al plan de pago a configurar. </a:t>
            </a:r>
          </a:p>
          <a:p>
            <a:r>
              <a:rPr lang="es-CO" sz="1200" b="1"/>
              <a:t>*2. Descripción del plan de pago</a:t>
            </a:r>
            <a:r>
              <a:rPr lang="es-CO" sz="1200"/>
              <a:t>: campo de hasta 30 caracteres para describir o referenciar el plan de pago a configurar.</a:t>
            </a:r>
          </a:p>
          <a:p>
            <a:r>
              <a:rPr lang="es-CO" sz="1200"/>
              <a:t> </a:t>
            </a:r>
            <a:r>
              <a:rPr lang="es-CO" sz="1200" b="1"/>
              <a:t> 3</a:t>
            </a:r>
            <a:r>
              <a:rPr lang="es-CO" sz="1200"/>
              <a:t>.</a:t>
            </a:r>
            <a:r>
              <a:rPr lang="es-CO" sz="1200" b="1"/>
              <a:t> Periodo</a:t>
            </a:r>
            <a:r>
              <a:rPr lang="es-CO" sz="1200"/>
              <a:t>: corresponde al periodo académico al cual inicialmente podría asignarse el plan de pago, el cual puede ser modificado en la pantalla de ejecución del plan de pago.</a:t>
            </a:r>
          </a:p>
        </p:txBody>
      </p:sp>
      <p:pic>
        <p:nvPicPr>
          <p:cNvPr id="6" name="Imagen 5">
            <a:extLst>
              <a:ext uri="{FF2B5EF4-FFF2-40B4-BE49-F238E27FC236}">
                <a16:creationId xmlns:a16="http://schemas.microsoft.com/office/drawing/2014/main" id="{3A2BFFB7-7190-64AF-2DD8-CE7C27271CE7}"/>
              </a:ext>
            </a:extLst>
          </p:cNvPr>
          <p:cNvPicPr>
            <a:picLocks noChangeAspect="1"/>
          </p:cNvPicPr>
          <p:nvPr/>
        </p:nvPicPr>
        <p:blipFill>
          <a:blip r:embed="rId2"/>
          <a:stretch>
            <a:fillRect/>
          </a:stretch>
        </p:blipFill>
        <p:spPr>
          <a:xfrm>
            <a:off x="685565" y="1693840"/>
            <a:ext cx="10824756" cy="2772677"/>
          </a:xfrm>
          <a:prstGeom prst="rect">
            <a:avLst/>
          </a:prstGeom>
        </p:spPr>
      </p:pic>
      <p:pic>
        <p:nvPicPr>
          <p:cNvPr id="8" name="Imagen 7">
            <a:extLst>
              <a:ext uri="{FF2B5EF4-FFF2-40B4-BE49-F238E27FC236}">
                <a16:creationId xmlns:a16="http://schemas.microsoft.com/office/drawing/2014/main" id="{F45E6FA7-38AB-7E01-D232-9DDE520D23DD}"/>
              </a:ext>
            </a:extLst>
          </p:cNvPr>
          <p:cNvPicPr>
            <a:picLocks noChangeAspect="1"/>
          </p:cNvPicPr>
          <p:nvPr/>
        </p:nvPicPr>
        <p:blipFill>
          <a:blip r:embed="rId3"/>
          <a:stretch>
            <a:fillRect/>
          </a:stretch>
        </p:blipFill>
        <p:spPr>
          <a:xfrm>
            <a:off x="2469185" y="2267028"/>
            <a:ext cx="162000" cy="162000"/>
          </a:xfrm>
          <a:prstGeom prst="rect">
            <a:avLst/>
          </a:prstGeom>
        </p:spPr>
      </p:pic>
      <p:pic>
        <p:nvPicPr>
          <p:cNvPr id="10" name="Imagen 9">
            <a:extLst>
              <a:ext uri="{FF2B5EF4-FFF2-40B4-BE49-F238E27FC236}">
                <a16:creationId xmlns:a16="http://schemas.microsoft.com/office/drawing/2014/main" id="{4A6FAAC2-F1BA-C708-453A-7C6EAE576D56}"/>
              </a:ext>
            </a:extLst>
          </p:cNvPr>
          <p:cNvPicPr>
            <a:picLocks noChangeAspect="1"/>
          </p:cNvPicPr>
          <p:nvPr/>
        </p:nvPicPr>
        <p:blipFill>
          <a:blip r:embed="rId4"/>
          <a:stretch>
            <a:fillRect/>
          </a:stretch>
        </p:blipFill>
        <p:spPr>
          <a:xfrm>
            <a:off x="1192075" y="2255827"/>
            <a:ext cx="162000" cy="162000"/>
          </a:xfrm>
          <a:prstGeom prst="rect">
            <a:avLst/>
          </a:prstGeom>
        </p:spPr>
      </p:pic>
      <p:pic>
        <p:nvPicPr>
          <p:cNvPr id="12" name="Imagen 11">
            <a:extLst>
              <a:ext uri="{FF2B5EF4-FFF2-40B4-BE49-F238E27FC236}">
                <a16:creationId xmlns:a16="http://schemas.microsoft.com/office/drawing/2014/main" id="{240496A9-7392-EF62-20B0-BD94E31B4924}"/>
              </a:ext>
            </a:extLst>
          </p:cNvPr>
          <p:cNvPicPr>
            <a:picLocks noChangeAspect="1"/>
          </p:cNvPicPr>
          <p:nvPr/>
        </p:nvPicPr>
        <p:blipFill>
          <a:blip r:embed="rId5"/>
          <a:stretch>
            <a:fillRect/>
          </a:stretch>
        </p:blipFill>
        <p:spPr>
          <a:xfrm>
            <a:off x="3957259" y="2267028"/>
            <a:ext cx="162000" cy="162000"/>
          </a:xfrm>
          <a:prstGeom prst="rect">
            <a:avLst/>
          </a:prstGeom>
        </p:spPr>
      </p:pic>
      <p:cxnSp>
        <p:nvCxnSpPr>
          <p:cNvPr id="14" name="Conector recto de flecha 13">
            <a:extLst>
              <a:ext uri="{FF2B5EF4-FFF2-40B4-BE49-F238E27FC236}">
                <a16:creationId xmlns:a16="http://schemas.microsoft.com/office/drawing/2014/main" id="{4622711E-4829-220C-3899-88836B0C2B40}"/>
              </a:ext>
            </a:extLst>
          </p:cNvPr>
          <p:cNvCxnSpPr/>
          <p:nvPr/>
        </p:nvCxnSpPr>
        <p:spPr>
          <a:xfrm>
            <a:off x="1273075" y="2429028"/>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B578FF29-C590-DE30-838D-2E099E25590B}"/>
              </a:ext>
            </a:extLst>
          </p:cNvPr>
          <p:cNvCxnSpPr/>
          <p:nvPr/>
        </p:nvCxnSpPr>
        <p:spPr>
          <a:xfrm>
            <a:off x="2550185" y="2438172"/>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BD14F350-B0C4-508D-609D-6B7DACBF18EB}"/>
              </a:ext>
            </a:extLst>
          </p:cNvPr>
          <p:cNvCxnSpPr/>
          <p:nvPr/>
        </p:nvCxnSpPr>
        <p:spPr>
          <a:xfrm>
            <a:off x="4034220" y="2445259"/>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0475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FDF8D-EA7F-88F3-8196-B6A38C3848D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7421A275-2687-BC5D-40EB-9B9BB8E8ECA3}"/>
              </a:ext>
            </a:extLst>
          </p:cNvPr>
          <p:cNvPicPr>
            <a:picLocks noChangeAspect="1"/>
          </p:cNvPicPr>
          <p:nvPr/>
        </p:nvPicPr>
        <p:blipFill>
          <a:blip r:embed="rId2"/>
          <a:stretch>
            <a:fillRect/>
          </a:stretch>
        </p:blipFill>
        <p:spPr>
          <a:xfrm>
            <a:off x="763650" y="1663995"/>
            <a:ext cx="10664700" cy="2727275"/>
          </a:xfrm>
          <a:prstGeom prst="rect">
            <a:avLst/>
          </a:prstGeom>
        </p:spPr>
      </p:pic>
      <p:sp>
        <p:nvSpPr>
          <p:cNvPr id="2" name="Título 3">
            <a:extLst>
              <a:ext uri="{FF2B5EF4-FFF2-40B4-BE49-F238E27FC236}">
                <a16:creationId xmlns:a16="http://schemas.microsoft.com/office/drawing/2014/main" id="{CBE94692-ECF0-A498-6494-E8C2374EF547}"/>
              </a:ext>
            </a:extLst>
          </p:cNvPr>
          <p:cNvSpPr txBox="1">
            <a:spLocks/>
          </p:cNvSpPr>
          <p:nvPr/>
        </p:nvSpPr>
        <p:spPr>
          <a:xfrm>
            <a:off x="685565" y="312900"/>
            <a:ext cx="10752714"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TSAISTC Control de los códigos del Plan de Pagos – alumnos</a:t>
            </a:r>
            <a:br>
              <a:rPr lang="es-CL"/>
            </a:br>
            <a:endParaRPr lang="es-CL"/>
          </a:p>
        </p:txBody>
      </p:sp>
      <p:sp>
        <p:nvSpPr>
          <p:cNvPr id="4" name="Rectángulo: esquinas redondeadas 5">
            <a:extLst>
              <a:ext uri="{FF2B5EF4-FFF2-40B4-BE49-F238E27FC236}">
                <a16:creationId xmlns:a16="http://schemas.microsoft.com/office/drawing/2014/main" id="{F62A0C6E-5838-5587-F1AF-4CDCFC070F2C}"/>
              </a:ext>
            </a:extLst>
          </p:cNvPr>
          <p:cNvSpPr/>
          <p:nvPr/>
        </p:nvSpPr>
        <p:spPr>
          <a:xfrm>
            <a:off x="685565" y="4789969"/>
            <a:ext cx="10826699" cy="139058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a:t>4. Código de detalle del plan:</a:t>
            </a:r>
            <a:r>
              <a:rPr lang="es-ES_tradnl" sz="1200"/>
              <a:t> Corresponde al código de detalle que representa el monto principal por el cual el plan de pago estaría redistribuyendo un conjunto de cargos.</a:t>
            </a:r>
          </a:p>
          <a:p>
            <a:pPr algn="just"/>
            <a:r>
              <a:rPr lang="es-ES_tradnl" sz="1200" b="1"/>
              <a:t>5. Monto de plan:</a:t>
            </a:r>
            <a:r>
              <a:rPr lang="es-ES_tradnl" sz="1200"/>
              <a:t> corresponde a un campo que preestablece un valor por defecto para el monto principal del plan de pago.</a:t>
            </a:r>
          </a:p>
          <a:p>
            <a:pPr algn="just"/>
            <a:r>
              <a:rPr lang="es-ES_tradnl" sz="1200" b="1"/>
              <a:t>6. Periodo de Pago:</a:t>
            </a:r>
            <a:r>
              <a:rPr lang="es-ES_tradnl" sz="1200"/>
              <a:t> correspondería a la cantidad de días de corridos que se diferenciarían las fechas de vencimiento de las cuotas del plan de pago</a:t>
            </a:r>
            <a:endParaRPr lang="es-CO" sz="1200"/>
          </a:p>
        </p:txBody>
      </p:sp>
      <p:cxnSp>
        <p:nvCxnSpPr>
          <p:cNvPr id="14" name="Conector recto de flecha 13">
            <a:extLst>
              <a:ext uri="{FF2B5EF4-FFF2-40B4-BE49-F238E27FC236}">
                <a16:creationId xmlns:a16="http://schemas.microsoft.com/office/drawing/2014/main" id="{0970355A-47F5-9CC7-896E-6F9D5BA89D09}"/>
              </a:ext>
            </a:extLst>
          </p:cNvPr>
          <p:cNvCxnSpPr/>
          <p:nvPr/>
        </p:nvCxnSpPr>
        <p:spPr>
          <a:xfrm>
            <a:off x="4592347" y="2419884"/>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C4E0A054-EA87-16D5-25F6-47838EE167FD}"/>
              </a:ext>
            </a:extLst>
          </p:cNvPr>
          <p:cNvCxnSpPr/>
          <p:nvPr/>
        </p:nvCxnSpPr>
        <p:spPr>
          <a:xfrm>
            <a:off x="5558561" y="2426971"/>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EEB42896-6F91-8421-779C-63E461E57F8B}"/>
              </a:ext>
            </a:extLst>
          </p:cNvPr>
          <p:cNvCxnSpPr/>
          <p:nvPr/>
        </p:nvCxnSpPr>
        <p:spPr>
          <a:xfrm>
            <a:off x="6649404" y="2426971"/>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9" name="Imagen 8">
            <a:extLst>
              <a:ext uri="{FF2B5EF4-FFF2-40B4-BE49-F238E27FC236}">
                <a16:creationId xmlns:a16="http://schemas.microsoft.com/office/drawing/2014/main" id="{824413B0-E2B4-233B-1708-95FAA039D0BC}"/>
              </a:ext>
            </a:extLst>
          </p:cNvPr>
          <p:cNvPicPr>
            <a:picLocks noChangeAspect="1"/>
          </p:cNvPicPr>
          <p:nvPr/>
        </p:nvPicPr>
        <p:blipFill>
          <a:blip r:embed="rId3"/>
          <a:stretch>
            <a:fillRect/>
          </a:stretch>
        </p:blipFill>
        <p:spPr>
          <a:xfrm>
            <a:off x="6568404" y="2257884"/>
            <a:ext cx="162000" cy="162000"/>
          </a:xfrm>
          <a:prstGeom prst="rect">
            <a:avLst/>
          </a:prstGeom>
        </p:spPr>
      </p:pic>
      <p:pic>
        <p:nvPicPr>
          <p:cNvPr id="13" name="Imagen 12">
            <a:extLst>
              <a:ext uri="{FF2B5EF4-FFF2-40B4-BE49-F238E27FC236}">
                <a16:creationId xmlns:a16="http://schemas.microsoft.com/office/drawing/2014/main" id="{0B85FF97-9FA7-8FDB-8F4F-89E4F6490C56}"/>
              </a:ext>
            </a:extLst>
          </p:cNvPr>
          <p:cNvPicPr>
            <a:picLocks noChangeAspect="1"/>
          </p:cNvPicPr>
          <p:nvPr/>
        </p:nvPicPr>
        <p:blipFill>
          <a:blip r:embed="rId4"/>
          <a:stretch>
            <a:fillRect/>
          </a:stretch>
        </p:blipFill>
        <p:spPr>
          <a:xfrm>
            <a:off x="5486308" y="2270724"/>
            <a:ext cx="162000" cy="162000"/>
          </a:xfrm>
          <a:prstGeom prst="rect">
            <a:avLst/>
          </a:prstGeom>
        </p:spPr>
      </p:pic>
      <p:pic>
        <p:nvPicPr>
          <p:cNvPr id="18" name="Imagen 17">
            <a:extLst>
              <a:ext uri="{FF2B5EF4-FFF2-40B4-BE49-F238E27FC236}">
                <a16:creationId xmlns:a16="http://schemas.microsoft.com/office/drawing/2014/main" id="{60849425-9FCE-CE53-8C8E-DD16F83967CF}"/>
              </a:ext>
            </a:extLst>
          </p:cNvPr>
          <p:cNvPicPr>
            <a:picLocks noChangeAspect="1"/>
          </p:cNvPicPr>
          <p:nvPr/>
        </p:nvPicPr>
        <p:blipFill>
          <a:blip r:embed="rId5"/>
          <a:stretch>
            <a:fillRect/>
          </a:stretch>
        </p:blipFill>
        <p:spPr>
          <a:xfrm>
            <a:off x="4511347" y="2257884"/>
            <a:ext cx="162000" cy="162000"/>
          </a:xfrm>
          <a:prstGeom prst="rect">
            <a:avLst/>
          </a:prstGeom>
        </p:spPr>
      </p:pic>
    </p:spTree>
    <p:extLst>
      <p:ext uri="{BB962C8B-B14F-4D97-AF65-F5344CB8AC3E}">
        <p14:creationId xmlns:p14="http://schemas.microsoft.com/office/powerpoint/2010/main" val="2261276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E4747-DD0D-3B84-86A4-06ECC28148BA}"/>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9F82AEC9-4F76-FE56-D94F-E9CF0D5E6625}"/>
              </a:ext>
            </a:extLst>
          </p:cNvPr>
          <p:cNvPicPr>
            <a:picLocks noChangeAspect="1"/>
          </p:cNvPicPr>
          <p:nvPr/>
        </p:nvPicPr>
        <p:blipFill>
          <a:blip r:embed="rId2"/>
          <a:stretch>
            <a:fillRect/>
          </a:stretch>
        </p:blipFill>
        <p:spPr>
          <a:xfrm>
            <a:off x="492311" y="1679551"/>
            <a:ext cx="11207378" cy="2528244"/>
          </a:xfrm>
          <a:prstGeom prst="rect">
            <a:avLst/>
          </a:prstGeom>
        </p:spPr>
      </p:pic>
      <p:sp>
        <p:nvSpPr>
          <p:cNvPr id="2" name="Título 3">
            <a:extLst>
              <a:ext uri="{FF2B5EF4-FFF2-40B4-BE49-F238E27FC236}">
                <a16:creationId xmlns:a16="http://schemas.microsoft.com/office/drawing/2014/main" id="{F7031FB2-DE15-6AB4-E6F7-85B697E1D920}"/>
              </a:ext>
            </a:extLst>
          </p:cNvPr>
          <p:cNvSpPr txBox="1">
            <a:spLocks/>
          </p:cNvSpPr>
          <p:nvPr/>
        </p:nvSpPr>
        <p:spPr>
          <a:xfrm>
            <a:off x="685565" y="312900"/>
            <a:ext cx="10752714"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TSAISTC Control de los códigos del Plan de Pagos – alumnos</a:t>
            </a:r>
            <a:br>
              <a:rPr lang="es-CL"/>
            </a:br>
            <a:endParaRPr lang="es-CL"/>
          </a:p>
        </p:txBody>
      </p:sp>
      <p:sp>
        <p:nvSpPr>
          <p:cNvPr id="4" name="Rectángulo: esquinas redondeadas 5">
            <a:extLst>
              <a:ext uri="{FF2B5EF4-FFF2-40B4-BE49-F238E27FC236}">
                <a16:creationId xmlns:a16="http://schemas.microsoft.com/office/drawing/2014/main" id="{A63A1766-5521-D2E8-B281-1ED58FBA7094}"/>
              </a:ext>
            </a:extLst>
          </p:cNvPr>
          <p:cNvSpPr/>
          <p:nvPr/>
        </p:nvSpPr>
        <p:spPr>
          <a:xfrm>
            <a:off x="685565" y="4789969"/>
            <a:ext cx="10826699" cy="133651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a:t>7. Código de Detalle de monto principal: </a:t>
            </a:r>
            <a:r>
              <a:rPr lang="es-ES_tradnl" sz="1200"/>
              <a:t>Corresponde al código de detalle que representa las cuotas que redistribuyen el monto principal del plan de pago.</a:t>
            </a:r>
          </a:p>
          <a:p>
            <a:pPr algn="just"/>
            <a:r>
              <a:rPr lang="es-ES_tradnl" sz="1200" b="1"/>
              <a:t>8. Número de pagos:</a:t>
            </a:r>
            <a:r>
              <a:rPr lang="es-ES_tradnl" sz="1200"/>
              <a:t> corresponde a la cantidad de cuotas por las cuales sería distribuido el monto principal del plan de pago.</a:t>
            </a:r>
          </a:p>
          <a:p>
            <a:pPr algn="just"/>
            <a:r>
              <a:rPr lang="es-ES_tradnl" sz="1200" b="1"/>
              <a:t>9. Inicio de vigencia: </a:t>
            </a:r>
            <a:r>
              <a:rPr lang="es-ES_tradnl" sz="1200"/>
              <a:t>corresponde a la fecha de vencimiento de la primera cuota, posteriormente las demás cuotas adquieren una fecha de vigencia en función a la configuración asignada al plan de pago, ya sea por “Día fijo”, “Último día del Mes” o “Usar periodo de pago”.</a:t>
            </a:r>
          </a:p>
        </p:txBody>
      </p:sp>
      <p:cxnSp>
        <p:nvCxnSpPr>
          <p:cNvPr id="14" name="Conector recto de flecha 13">
            <a:extLst>
              <a:ext uri="{FF2B5EF4-FFF2-40B4-BE49-F238E27FC236}">
                <a16:creationId xmlns:a16="http://schemas.microsoft.com/office/drawing/2014/main" id="{D7774B8F-1934-BD9C-FB00-953667E9F9D6}"/>
              </a:ext>
            </a:extLst>
          </p:cNvPr>
          <p:cNvCxnSpPr/>
          <p:nvPr/>
        </p:nvCxnSpPr>
        <p:spPr>
          <a:xfrm>
            <a:off x="8853451" y="2410740"/>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13130805-F007-0DC2-5897-616CFC83B5BF}"/>
              </a:ext>
            </a:extLst>
          </p:cNvPr>
          <p:cNvCxnSpPr/>
          <p:nvPr/>
        </p:nvCxnSpPr>
        <p:spPr>
          <a:xfrm>
            <a:off x="7844561" y="2410740"/>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CE3E4E37-B95D-C7BE-B619-4639A9CEA0B9}"/>
              </a:ext>
            </a:extLst>
          </p:cNvPr>
          <p:cNvCxnSpPr/>
          <p:nvPr/>
        </p:nvCxnSpPr>
        <p:spPr>
          <a:xfrm>
            <a:off x="6649404" y="2417827"/>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8" name="Imagen 7">
            <a:extLst>
              <a:ext uri="{FF2B5EF4-FFF2-40B4-BE49-F238E27FC236}">
                <a16:creationId xmlns:a16="http://schemas.microsoft.com/office/drawing/2014/main" id="{4EC04782-8499-759C-7186-F68E1256DAC2}"/>
              </a:ext>
            </a:extLst>
          </p:cNvPr>
          <p:cNvPicPr>
            <a:picLocks noChangeAspect="1"/>
          </p:cNvPicPr>
          <p:nvPr/>
        </p:nvPicPr>
        <p:blipFill>
          <a:blip r:embed="rId3"/>
          <a:stretch>
            <a:fillRect/>
          </a:stretch>
        </p:blipFill>
        <p:spPr>
          <a:xfrm>
            <a:off x="8772451" y="2222069"/>
            <a:ext cx="162000" cy="162000"/>
          </a:xfrm>
          <a:prstGeom prst="rect">
            <a:avLst/>
          </a:prstGeom>
        </p:spPr>
      </p:pic>
      <p:pic>
        <p:nvPicPr>
          <p:cNvPr id="11" name="Imagen 10">
            <a:extLst>
              <a:ext uri="{FF2B5EF4-FFF2-40B4-BE49-F238E27FC236}">
                <a16:creationId xmlns:a16="http://schemas.microsoft.com/office/drawing/2014/main" id="{F69BF020-CC17-5DDE-76B2-84461D08869D}"/>
              </a:ext>
            </a:extLst>
          </p:cNvPr>
          <p:cNvPicPr>
            <a:picLocks noChangeAspect="1"/>
          </p:cNvPicPr>
          <p:nvPr/>
        </p:nvPicPr>
        <p:blipFill>
          <a:blip r:embed="rId4"/>
          <a:stretch>
            <a:fillRect/>
          </a:stretch>
        </p:blipFill>
        <p:spPr>
          <a:xfrm>
            <a:off x="6568404" y="2222069"/>
            <a:ext cx="162000" cy="162000"/>
          </a:xfrm>
          <a:prstGeom prst="rect">
            <a:avLst/>
          </a:prstGeom>
        </p:spPr>
      </p:pic>
      <p:pic>
        <p:nvPicPr>
          <p:cNvPr id="17" name="Imagen 16">
            <a:extLst>
              <a:ext uri="{FF2B5EF4-FFF2-40B4-BE49-F238E27FC236}">
                <a16:creationId xmlns:a16="http://schemas.microsoft.com/office/drawing/2014/main" id="{C59F2AF8-C085-8B8D-8AD6-C45EC148F9FF}"/>
              </a:ext>
            </a:extLst>
          </p:cNvPr>
          <p:cNvPicPr>
            <a:picLocks noChangeAspect="1"/>
          </p:cNvPicPr>
          <p:nvPr/>
        </p:nvPicPr>
        <p:blipFill>
          <a:blip r:embed="rId5"/>
          <a:stretch>
            <a:fillRect/>
          </a:stretch>
        </p:blipFill>
        <p:spPr>
          <a:xfrm>
            <a:off x="7763561" y="2222069"/>
            <a:ext cx="162000" cy="162000"/>
          </a:xfrm>
          <a:prstGeom prst="rect">
            <a:avLst/>
          </a:prstGeom>
        </p:spPr>
      </p:pic>
    </p:spTree>
    <p:extLst>
      <p:ext uri="{BB962C8B-B14F-4D97-AF65-F5344CB8AC3E}">
        <p14:creationId xmlns:p14="http://schemas.microsoft.com/office/powerpoint/2010/main" val="740362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5CB25-8A22-82A7-49AC-ADF68B598426}"/>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0120206D-5CCB-6F34-E813-FD5B5AB499D9}"/>
              </a:ext>
            </a:extLst>
          </p:cNvPr>
          <p:cNvPicPr>
            <a:picLocks noChangeAspect="1"/>
          </p:cNvPicPr>
          <p:nvPr/>
        </p:nvPicPr>
        <p:blipFill>
          <a:blip r:embed="rId2"/>
          <a:stretch>
            <a:fillRect/>
          </a:stretch>
        </p:blipFill>
        <p:spPr>
          <a:xfrm>
            <a:off x="712124" y="1929409"/>
            <a:ext cx="10767752" cy="2465855"/>
          </a:xfrm>
          <a:prstGeom prst="rect">
            <a:avLst/>
          </a:prstGeom>
        </p:spPr>
      </p:pic>
      <p:sp>
        <p:nvSpPr>
          <p:cNvPr id="2" name="Título 3">
            <a:extLst>
              <a:ext uri="{FF2B5EF4-FFF2-40B4-BE49-F238E27FC236}">
                <a16:creationId xmlns:a16="http://schemas.microsoft.com/office/drawing/2014/main" id="{9B6665A3-DD87-C367-8F86-93C0581FB7CE}"/>
              </a:ext>
            </a:extLst>
          </p:cNvPr>
          <p:cNvSpPr txBox="1">
            <a:spLocks/>
          </p:cNvSpPr>
          <p:nvPr/>
        </p:nvSpPr>
        <p:spPr>
          <a:xfrm>
            <a:off x="685565" y="312900"/>
            <a:ext cx="10752714"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TSAISTC Control de los códigos del Plan de Pagos – alumnos</a:t>
            </a:r>
            <a:br>
              <a:rPr lang="es-CL"/>
            </a:br>
            <a:endParaRPr lang="es-CL"/>
          </a:p>
        </p:txBody>
      </p:sp>
      <p:sp>
        <p:nvSpPr>
          <p:cNvPr id="4" name="Rectángulo: esquinas redondeadas 5">
            <a:extLst>
              <a:ext uri="{FF2B5EF4-FFF2-40B4-BE49-F238E27FC236}">
                <a16:creationId xmlns:a16="http://schemas.microsoft.com/office/drawing/2014/main" id="{DD55D0ED-00A8-8EF4-6057-F52AB5C31D8B}"/>
              </a:ext>
            </a:extLst>
          </p:cNvPr>
          <p:cNvSpPr/>
          <p:nvPr/>
        </p:nvSpPr>
        <p:spPr>
          <a:xfrm>
            <a:off x="685565" y="4789969"/>
            <a:ext cx="10826699" cy="133651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a:t>  10. Código de detalle de interés: </a:t>
            </a:r>
            <a:r>
              <a:rPr lang="es-CO" sz="1200"/>
              <a:t>corresponde al código de detalle a asignar al plan de pago por cada cuota en el caso que dicho plan de pagos cuenta con un desarrollo de intereses considerando un sistema de amortización mediante cuotas constantes.</a:t>
            </a:r>
          </a:p>
          <a:p>
            <a:pPr algn="just"/>
            <a:r>
              <a:rPr lang="es-CO" sz="1200" b="1"/>
              <a:t>  11.</a:t>
            </a:r>
            <a:r>
              <a:rPr lang="es-CO" sz="1200"/>
              <a:t> </a:t>
            </a:r>
            <a:r>
              <a:rPr lang="es-CO" sz="1200" b="1"/>
              <a:t>Tasa de interés: </a:t>
            </a:r>
            <a:r>
              <a:rPr lang="es-CO" sz="1200"/>
              <a:t>corresponde a la tasa de interés anual por la cual se calcularían los intereses a pagar en el desarrollo del plan de pago.</a:t>
            </a:r>
          </a:p>
          <a:p>
            <a:pPr algn="just"/>
            <a:r>
              <a:rPr lang="es-CO" sz="1200" b="1"/>
              <a:t>*12</a:t>
            </a:r>
            <a:r>
              <a:rPr lang="es-CO" sz="1200"/>
              <a:t>. </a:t>
            </a:r>
            <a:r>
              <a:rPr lang="es-CO" sz="1200" b="1"/>
              <a:t>Método de cálculo</a:t>
            </a:r>
            <a:r>
              <a:rPr lang="es-CO" sz="1200"/>
              <a:t>: esta variable diferencia si en el cálculo de intereses es mensual o diaria (Estándar = tasa interés/12; Días Reales = tasa interés/365).</a:t>
            </a:r>
          </a:p>
        </p:txBody>
      </p:sp>
      <p:cxnSp>
        <p:nvCxnSpPr>
          <p:cNvPr id="14" name="Conector recto de flecha 13">
            <a:extLst>
              <a:ext uri="{FF2B5EF4-FFF2-40B4-BE49-F238E27FC236}">
                <a16:creationId xmlns:a16="http://schemas.microsoft.com/office/drawing/2014/main" id="{C3C812CF-D4F9-781E-7D8C-3E1510CE280F}"/>
              </a:ext>
            </a:extLst>
          </p:cNvPr>
          <p:cNvCxnSpPr/>
          <p:nvPr/>
        </p:nvCxnSpPr>
        <p:spPr>
          <a:xfrm>
            <a:off x="8341387" y="2557044"/>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93616885-2CEA-22B3-7D90-F98D1B578712}"/>
              </a:ext>
            </a:extLst>
          </p:cNvPr>
          <p:cNvCxnSpPr/>
          <p:nvPr/>
        </p:nvCxnSpPr>
        <p:spPr>
          <a:xfrm>
            <a:off x="9188729" y="2566188"/>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A288E14E-C9E1-AA85-75AF-1C5EBC53B9FC}"/>
              </a:ext>
            </a:extLst>
          </p:cNvPr>
          <p:cNvCxnSpPr/>
          <p:nvPr/>
        </p:nvCxnSpPr>
        <p:spPr>
          <a:xfrm>
            <a:off x="9959532" y="2566188"/>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9" name="Imagen 8">
            <a:extLst>
              <a:ext uri="{FF2B5EF4-FFF2-40B4-BE49-F238E27FC236}">
                <a16:creationId xmlns:a16="http://schemas.microsoft.com/office/drawing/2014/main" id="{1A7AB455-C736-46EC-5D10-DADB99F71C8D}"/>
              </a:ext>
            </a:extLst>
          </p:cNvPr>
          <p:cNvPicPr>
            <a:picLocks noChangeAspect="1"/>
          </p:cNvPicPr>
          <p:nvPr/>
        </p:nvPicPr>
        <p:blipFill>
          <a:blip r:embed="rId3"/>
          <a:stretch>
            <a:fillRect/>
          </a:stretch>
        </p:blipFill>
        <p:spPr>
          <a:xfrm>
            <a:off x="9107729" y="2395044"/>
            <a:ext cx="162000" cy="162000"/>
          </a:xfrm>
          <a:prstGeom prst="rect">
            <a:avLst/>
          </a:prstGeom>
        </p:spPr>
      </p:pic>
      <p:pic>
        <p:nvPicPr>
          <p:cNvPr id="12" name="Imagen 11">
            <a:extLst>
              <a:ext uri="{FF2B5EF4-FFF2-40B4-BE49-F238E27FC236}">
                <a16:creationId xmlns:a16="http://schemas.microsoft.com/office/drawing/2014/main" id="{04E15818-0371-F046-1534-D8DF033BCD8D}"/>
              </a:ext>
            </a:extLst>
          </p:cNvPr>
          <p:cNvPicPr>
            <a:picLocks noChangeAspect="1"/>
          </p:cNvPicPr>
          <p:nvPr/>
        </p:nvPicPr>
        <p:blipFill>
          <a:blip r:embed="rId4"/>
          <a:stretch>
            <a:fillRect/>
          </a:stretch>
        </p:blipFill>
        <p:spPr>
          <a:xfrm>
            <a:off x="9874071" y="2391007"/>
            <a:ext cx="162000" cy="162000"/>
          </a:xfrm>
          <a:prstGeom prst="rect">
            <a:avLst/>
          </a:prstGeom>
        </p:spPr>
      </p:pic>
      <p:pic>
        <p:nvPicPr>
          <p:cNvPr id="18" name="Imagen 17">
            <a:extLst>
              <a:ext uri="{FF2B5EF4-FFF2-40B4-BE49-F238E27FC236}">
                <a16:creationId xmlns:a16="http://schemas.microsoft.com/office/drawing/2014/main" id="{FD304968-FB16-42EE-0426-99900915FA83}"/>
              </a:ext>
            </a:extLst>
          </p:cNvPr>
          <p:cNvPicPr>
            <a:picLocks noChangeAspect="1"/>
          </p:cNvPicPr>
          <p:nvPr/>
        </p:nvPicPr>
        <p:blipFill>
          <a:blip r:embed="rId5"/>
          <a:stretch>
            <a:fillRect/>
          </a:stretch>
        </p:blipFill>
        <p:spPr>
          <a:xfrm>
            <a:off x="8260387" y="2395044"/>
            <a:ext cx="162000" cy="162000"/>
          </a:xfrm>
          <a:prstGeom prst="rect">
            <a:avLst/>
          </a:prstGeom>
        </p:spPr>
      </p:pic>
    </p:spTree>
    <p:extLst>
      <p:ext uri="{BB962C8B-B14F-4D97-AF65-F5344CB8AC3E}">
        <p14:creationId xmlns:p14="http://schemas.microsoft.com/office/powerpoint/2010/main" val="2544773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15286-631A-82D0-E71D-658718288B65}"/>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30B2F605-7E21-2C00-E9DC-BE6A3CEA3EA9}"/>
              </a:ext>
            </a:extLst>
          </p:cNvPr>
          <p:cNvPicPr>
            <a:picLocks noChangeAspect="1"/>
          </p:cNvPicPr>
          <p:nvPr/>
        </p:nvPicPr>
        <p:blipFill>
          <a:blip r:embed="rId2"/>
          <a:stretch>
            <a:fillRect/>
          </a:stretch>
        </p:blipFill>
        <p:spPr>
          <a:xfrm>
            <a:off x="720238" y="1744052"/>
            <a:ext cx="10751523" cy="2428487"/>
          </a:xfrm>
          <a:prstGeom prst="rect">
            <a:avLst/>
          </a:prstGeom>
        </p:spPr>
      </p:pic>
      <p:sp>
        <p:nvSpPr>
          <p:cNvPr id="2" name="Título 3">
            <a:extLst>
              <a:ext uri="{FF2B5EF4-FFF2-40B4-BE49-F238E27FC236}">
                <a16:creationId xmlns:a16="http://schemas.microsoft.com/office/drawing/2014/main" id="{D6D3DD35-5E8B-DBD0-807D-47AFC07159BA}"/>
              </a:ext>
            </a:extLst>
          </p:cNvPr>
          <p:cNvSpPr txBox="1">
            <a:spLocks/>
          </p:cNvSpPr>
          <p:nvPr/>
        </p:nvSpPr>
        <p:spPr>
          <a:xfrm>
            <a:off x="685565" y="312900"/>
            <a:ext cx="10752714"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TSAISTC Control de los códigos del Plan de Pagos – alumnos</a:t>
            </a:r>
            <a:br>
              <a:rPr lang="es-CL"/>
            </a:br>
            <a:endParaRPr lang="es-CL"/>
          </a:p>
        </p:txBody>
      </p:sp>
      <p:sp>
        <p:nvSpPr>
          <p:cNvPr id="4" name="Rectángulo: esquinas redondeadas 5">
            <a:extLst>
              <a:ext uri="{FF2B5EF4-FFF2-40B4-BE49-F238E27FC236}">
                <a16:creationId xmlns:a16="http://schemas.microsoft.com/office/drawing/2014/main" id="{BABC9ABF-8389-4ACE-0282-E976E62CC91B}"/>
              </a:ext>
            </a:extLst>
          </p:cNvPr>
          <p:cNvSpPr/>
          <p:nvPr/>
        </p:nvSpPr>
        <p:spPr>
          <a:xfrm>
            <a:off x="685565" y="4789969"/>
            <a:ext cx="10826699" cy="133651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a:t>13. Código de detalle de cargo por servicio: </a:t>
            </a:r>
            <a:r>
              <a:rPr lang="es-ES_tradnl" sz="1200"/>
              <a:t>Código de detalle destinado a representar un cargo asociado al servicio de generar esta redistribución del monto principal.</a:t>
            </a:r>
          </a:p>
          <a:p>
            <a:pPr algn="just"/>
            <a:r>
              <a:rPr lang="es-ES_tradnl" sz="1200" b="1"/>
              <a:t>14. Monto de cargo por servicio:</a:t>
            </a:r>
            <a:r>
              <a:rPr lang="es-ES_tradnl" sz="1200"/>
              <a:t> Monto fijo generado por el concepto de recargo asociado al servicio de generar la redistribución del monto principal.</a:t>
            </a:r>
          </a:p>
          <a:p>
            <a:pPr algn="just"/>
            <a:r>
              <a:rPr lang="es-ES_tradnl" sz="1200" b="1"/>
              <a:t>15. O porcentaje: </a:t>
            </a:r>
            <a:r>
              <a:rPr lang="es-ES_tradnl" sz="1200"/>
              <a:t>Porcentaje del monto principal que correspondería a un recargo por concepto de servicio al generar la redistribución del monto principal.</a:t>
            </a:r>
          </a:p>
        </p:txBody>
      </p:sp>
      <p:cxnSp>
        <p:nvCxnSpPr>
          <p:cNvPr id="14" name="Conector recto de flecha 13">
            <a:extLst>
              <a:ext uri="{FF2B5EF4-FFF2-40B4-BE49-F238E27FC236}">
                <a16:creationId xmlns:a16="http://schemas.microsoft.com/office/drawing/2014/main" id="{E804A6DB-8B5A-7F44-A013-1B0DEADD14AF}"/>
              </a:ext>
            </a:extLst>
          </p:cNvPr>
          <p:cNvCxnSpPr/>
          <p:nvPr/>
        </p:nvCxnSpPr>
        <p:spPr>
          <a:xfrm>
            <a:off x="5753635" y="2374164"/>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B27399C2-239B-95CD-5B01-07C75D0B35A6}"/>
              </a:ext>
            </a:extLst>
          </p:cNvPr>
          <p:cNvCxnSpPr/>
          <p:nvPr/>
        </p:nvCxnSpPr>
        <p:spPr>
          <a:xfrm>
            <a:off x="6930161" y="2381670"/>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C481D0BA-7B25-2228-03D8-1D70AF53C5DF}"/>
              </a:ext>
            </a:extLst>
          </p:cNvPr>
          <p:cNvCxnSpPr/>
          <p:nvPr/>
        </p:nvCxnSpPr>
        <p:spPr>
          <a:xfrm>
            <a:off x="8112444" y="2381670"/>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8" name="Imagen 7">
            <a:extLst>
              <a:ext uri="{FF2B5EF4-FFF2-40B4-BE49-F238E27FC236}">
                <a16:creationId xmlns:a16="http://schemas.microsoft.com/office/drawing/2014/main" id="{38D5B333-EDB2-E03E-33A9-9CCED7437417}"/>
              </a:ext>
            </a:extLst>
          </p:cNvPr>
          <p:cNvPicPr>
            <a:picLocks noChangeAspect="1"/>
          </p:cNvPicPr>
          <p:nvPr/>
        </p:nvPicPr>
        <p:blipFill>
          <a:blip r:embed="rId3"/>
          <a:stretch>
            <a:fillRect/>
          </a:stretch>
        </p:blipFill>
        <p:spPr>
          <a:xfrm>
            <a:off x="8031444" y="2151967"/>
            <a:ext cx="162000" cy="162000"/>
          </a:xfrm>
          <a:prstGeom prst="rect">
            <a:avLst/>
          </a:prstGeom>
        </p:spPr>
      </p:pic>
      <p:pic>
        <p:nvPicPr>
          <p:cNvPr id="11" name="Imagen 10">
            <a:extLst>
              <a:ext uri="{FF2B5EF4-FFF2-40B4-BE49-F238E27FC236}">
                <a16:creationId xmlns:a16="http://schemas.microsoft.com/office/drawing/2014/main" id="{F01D34BA-C621-F979-14BF-E5B0E2ACFA43}"/>
              </a:ext>
            </a:extLst>
          </p:cNvPr>
          <p:cNvPicPr>
            <a:picLocks noChangeAspect="1"/>
          </p:cNvPicPr>
          <p:nvPr/>
        </p:nvPicPr>
        <p:blipFill>
          <a:blip r:embed="rId4"/>
          <a:stretch>
            <a:fillRect/>
          </a:stretch>
        </p:blipFill>
        <p:spPr>
          <a:xfrm>
            <a:off x="6849161" y="2175362"/>
            <a:ext cx="162000" cy="162000"/>
          </a:xfrm>
          <a:prstGeom prst="rect">
            <a:avLst/>
          </a:prstGeom>
        </p:spPr>
      </p:pic>
      <p:pic>
        <p:nvPicPr>
          <p:cNvPr id="17" name="Imagen 16">
            <a:extLst>
              <a:ext uri="{FF2B5EF4-FFF2-40B4-BE49-F238E27FC236}">
                <a16:creationId xmlns:a16="http://schemas.microsoft.com/office/drawing/2014/main" id="{256A5345-DEDF-99DC-779D-D4A577765307}"/>
              </a:ext>
            </a:extLst>
          </p:cNvPr>
          <p:cNvPicPr>
            <a:picLocks noChangeAspect="1"/>
          </p:cNvPicPr>
          <p:nvPr/>
        </p:nvPicPr>
        <p:blipFill>
          <a:blip r:embed="rId5"/>
          <a:stretch>
            <a:fillRect/>
          </a:stretch>
        </p:blipFill>
        <p:spPr>
          <a:xfrm>
            <a:off x="5672635" y="2151967"/>
            <a:ext cx="162000" cy="162000"/>
          </a:xfrm>
          <a:prstGeom prst="rect">
            <a:avLst/>
          </a:prstGeom>
        </p:spPr>
      </p:pic>
    </p:spTree>
    <p:extLst>
      <p:ext uri="{BB962C8B-B14F-4D97-AF65-F5344CB8AC3E}">
        <p14:creationId xmlns:p14="http://schemas.microsoft.com/office/powerpoint/2010/main" val="3575224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D4240-7CC2-56E3-ABC6-C66843D43E30}"/>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12B1909-85BF-4E1C-33E2-9682DFAFEC2F}"/>
              </a:ext>
            </a:extLst>
          </p:cNvPr>
          <p:cNvPicPr>
            <a:picLocks noChangeAspect="1"/>
          </p:cNvPicPr>
          <p:nvPr/>
        </p:nvPicPr>
        <p:blipFill>
          <a:blip r:embed="rId2"/>
          <a:stretch>
            <a:fillRect/>
          </a:stretch>
        </p:blipFill>
        <p:spPr>
          <a:xfrm>
            <a:off x="685565" y="1662230"/>
            <a:ext cx="10792977" cy="2395323"/>
          </a:xfrm>
          <a:prstGeom prst="rect">
            <a:avLst/>
          </a:prstGeom>
        </p:spPr>
      </p:pic>
      <p:sp>
        <p:nvSpPr>
          <p:cNvPr id="2" name="Título 3">
            <a:extLst>
              <a:ext uri="{FF2B5EF4-FFF2-40B4-BE49-F238E27FC236}">
                <a16:creationId xmlns:a16="http://schemas.microsoft.com/office/drawing/2014/main" id="{224ED801-F831-4205-923D-2C5475D175E3}"/>
              </a:ext>
            </a:extLst>
          </p:cNvPr>
          <p:cNvSpPr txBox="1">
            <a:spLocks/>
          </p:cNvSpPr>
          <p:nvPr/>
        </p:nvSpPr>
        <p:spPr>
          <a:xfrm>
            <a:off x="685565" y="312900"/>
            <a:ext cx="10752714"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TSAISTC Control de los códigos del Plan de Pagos – alumnos</a:t>
            </a:r>
            <a:br>
              <a:rPr lang="es-CL"/>
            </a:br>
            <a:endParaRPr lang="es-CL"/>
          </a:p>
        </p:txBody>
      </p:sp>
      <p:sp>
        <p:nvSpPr>
          <p:cNvPr id="4" name="Rectángulo: esquinas redondeadas 5">
            <a:extLst>
              <a:ext uri="{FF2B5EF4-FFF2-40B4-BE49-F238E27FC236}">
                <a16:creationId xmlns:a16="http://schemas.microsoft.com/office/drawing/2014/main" id="{C6BD3864-72AF-61D2-7043-9B4442B547BC}"/>
              </a:ext>
            </a:extLst>
          </p:cNvPr>
          <p:cNvSpPr/>
          <p:nvPr/>
        </p:nvSpPr>
        <p:spPr>
          <a:xfrm>
            <a:off x="685565" y="4789969"/>
            <a:ext cx="10826699" cy="133651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a:t>16. Plan de pago automático:</a:t>
            </a:r>
            <a:r>
              <a:rPr lang="es-ES_tradnl" sz="1200"/>
              <a:t> </a:t>
            </a:r>
            <a:r>
              <a:rPr lang="es-ES_tradnl" sz="1200" err="1"/>
              <a:t>Check</a:t>
            </a:r>
            <a:r>
              <a:rPr lang="es-ES_tradnl" sz="1200"/>
              <a:t> requerido para considerar el plan de pago configurado como un plan de pago automático y habilitar sus posteriores configuraciones (TSAISTA y TSAISTR).</a:t>
            </a:r>
          </a:p>
          <a:p>
            <a:r>
              <a:rPr lang="es-ES_tradnl" sz="1200" b="1"/>
              <a:t>17. Prioridad: </a:t>
            </a:r>
            <a:r>
              <a:rPr lang="es-ES_tradnl" sz="1200"/>
              <a:t>utilizado para priorizar la aplicación de planes de pago automáticos ante la posibilidad que dos o más planes apliquen para un mismo estudiante según sus características académicas.</a:t>
            </a:r>
          </a:p>
        </p:txBody>
      </p:sp>
      <p:cxnSp>
        <p:nvCxnSpPr>
          <p:cNvPr id="14" name="Conector recto de flecha 13">
            <a:extLst>
              <a:ext uri="{FF2B5EF4-FFF2-40B4-BE49-F238E27FC236}">
                <a16:creationId xmlns:a16="http://schemas.microsoft.com/office/drawing/2014/main" id="{F2C59818-C31D-E900-F0C9-54A946E9B6E3}"/>
              </a:ext>
            </a:extLst>
          </p:cNvPr>
          <p:cNvCxnSpPr/>
          <p:nvPr/>
        </p:nvCxnSpPr>
        <p:spPr>
          <a:xfrm>
            <a:off x="8798587" y="2282724"/>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DCDFD12B-6D04-5856-85B0-6F5EE77C7F70}"/>
              </a:ext>
            </a:extLst>
          </p:cNvPr>
          <p:cNvCxnSpPr/>
          <p:nvPr/>
        </p:nvCxnSpPr>
        <p:spPr>
          <a:xfrm>
            <a:off x="9911105" y="2290230"/>
            <a:ext cx="0" cy="204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9" name="Imagen 8">
            <a:extLst>
              <a:ext uri="{FF2B5EF4-FFF2-40B4-BE49-F238E27FC236}">
                <a16:creationId xmlns:a16="http://schemas.microsoft.com/office/drawing/2014/main" id="{D2687F33-9543-B59E-24DC-51A3AD462330}"/>
              </a:ext>
            </a:extLst>
          </p:cNvPr>
          <p:cNvPicPr>
            <a:picLocks noChangeAspect="1"/>
          </p:cNvPicPr>
          <p:nvPr/>
        </p:nvPicPr>
        <p:blipFill>
          <a:blip r:embed="rId3"/>
          <a:stretch>
            <a:fillRect/>
          </a:stretch>
        </p:blipFill>
        <p:spPr>
          <a:xfrm>
            <a:off x="9830105" y="2120724"/>
            <a:ext cx="162000" cy="162000"/>
          </a:xfrm>
          <a:prstGeom prst="rect">
            <a:avLst/>
          </a:prstGeom>
        </p:spPr>
      </p:pic>
      <p:pic>
        <p:nvPicPr>
          <p:cNvPr id="12" name="Imagen 11">
            <a:extLst>
              <a:ext uri="{FF2B5EF4-FFF2-40B4-BE49-F238E27FC236}">
                <a16:creationId xmlns:a16="http://schemas.microsoft.com/office/drawing/2014/main" id="{20D5F28B-1FFB-18D7-8E61-E8E55FBE1905}"/>
              </a:ext>
            </a:extLst>
          </p:cNvPr>
          <p:cNvPicPr>
            <a:picLocks noChangeAspect="1"/>
          </p:cNvPicPr>
          <p:nvPr/>
        </p:nvPicPr>
        <p:blipFill>
          <a:blip r:embed="rId4"/>
          <a:stretch>
            <a:fillRect/>
          </a:stretch>
        </p:blipFill>
        <p:spPr>
          <a:xfrm>
            <a:off x="8717587" y="2120724"/>
            <a:ext cx="162000" cy="162000"/>
          </a:xfrm>
          <a:prstGeom prst="rect">
            <a:avLst/>
          </a:prstGeom>
        </p:spPr>
      </p:pic>
    </p:spTree>
    <p:extLst>
      <p:ext uri="{BB962C8B-B14F-4D97-AF65-F5344CB8AC3E}">
        <p14:creationId xmlns:p14="http://schemas.microsoft.com/office/powerpoint/2010/main" val="3152530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78F13-751B-14D8-4952-F17FA68F0415}"/>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98ACDA74-018F-882E-C608-7095CA701B88}"/>
              </a:ext>
            </a:extLst>
          </p:cNvPr>
          <p:cNvSpPr txBox="1"/>
          <p:nvPr/>
        </p:nvSpPr>
        <p:spPr>
          <a:xfrm>
            <a:off x="693025" y="1983784"/>
            <a:ext cx="10709543" cy="1015663"/>
          </a:xfrm>
          <a:prstGeom prst="rect">
            <a:avLst/>
          </a:prstGeom>
          <a:noFill/>
        </p:spPr>
        <p:txBody>
          <a:bodyPr wrap="square">
            <a:spAutoFit/>
          </a:bodyPr>
          <a:lstStyle/>
          <a:p>
            <a:r>
              <a:rPr lang="es-CO" sz="6000" b="1">
                <a:solidFill>
                  <a:schemeClr val="bg1"/>
                </a:solidFill>
              </a:rPr>
              <a:t>Configuración Planes de Pago</a:t>
            </a:r>
            <a:endParaRPr lang="en-US" sz="6000" b="1">
              <a:solidFill>
                <a:schemeClr val="bg1"/>
              </a:solidFill>
            </a:endParaRPr>
          </a:p>
        </p:txBody>
      </p:sp>
      <p:sp>
        <p:nvSpPr>
          <p:cNvPr id="2" name="Text Placeholder 16">
            <a:extLst>
              <a:ext uri="{FF2B5EF4-FFF2-40B4-BE49-F238E27FC236}">
                <a16:creationId xmlns:a16="http://schemas.microsoft.com/office/drawing/2014/main" id="{FB129CEE-4010-BB0E-2233-5B67728C39D2}"/>
              </a:ext>
            </a:extLst>
          </p:cNvPr>
          <p:cNvSpPr txBox="1">
            <a:spLocks/>
          </p:cNvSpPr>
          <p:nvPr/>
        </p:nvSpPr>
        <p:spPr>
          <a:xfrm>
            <a:off x="693025" y="2999447"/>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a:solidFill>
                  <a:schemeClr val="bg1"/>
                </a:solidFill>
              </a:rPr>
              <a:t>Gestionar los planes de pago</a:t>
            </a:r>
          </a:p>
        </p:txBody>
      </p:sp>
    </p:spTree>
    <p:extLst>
      <p:ext uri="{BB962C8B-B14F-4D97-AF65-F5344CB8AC3E}">
        <p14:creationId xmlns:p14="http://schemas.microsoft.com/office/powerpoint/2010/main" val="1130217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43587-22BA-6A17-D65E-FBB303C5516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DD0E4D2E-2C72-787E-0FBA-16924BF7179E}"/>
              </a:ext>
            </a:extLst>
          </p:cNvPr>
          <p:cNvSpPr txBox="1">
            <a:spLocks/>
          </p:cNvSpPr>
          <p:nvPr/>
        </p:nvSpPr>
        <p:spPr>
          <a:xfrm>
            <a:off x="685564" y="312900"/>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TSAISTR Reglas del plan de pagos automático </a:t>
            </a:r>
            <a:br>
              <a:rPr lang="es-CL"/>
            </a:br>
            <a:endParaRPr lang="es-CL"/>
          </a:p>
        </p:txBody>
      </p:sp>
      <p:sp>
        <p:nvSpPr>
          <p:cNvPr id="4" name="Rectángulo: esquinas redondeadas 5">
            <a:extLst>
              <a:ext uri="{FF2B5EF4-FFF2-40B4-BE49-F238E27FC236}">
                <a16:creationId xmlns:a16="http://schemas.microsoft.com/office/drawing/2014/main" id="{DAC820BC-7074-6F0D-FA3D-E8DD46F56514}"/>
              </a:ext>
            </a:extLst>
          </p:cNvPr>
          <p:cNvSpPr/>
          <p:nvPr/>
        </p:nvSpPr>
        <p:spPr>
          <a:xfrm>
            <a:off x="682650" y="4487763"/>
            <a:ext cx="10826699" cy="133651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a:t>En esta página de configuración de planes de pago automáticos se pueden definir las reglas requeridas para configurar las cuotas del plan de pago automático y los criterios para determinar el monto principal del plan de pago a distribuir.</a:t>
            </a:r>
          </a:p>
          <a:p>
            <a:pPr algn="just"/>
            <a:endParaRPr lang="es-ES_tradnl" sz="1200"/>
          </a:p>
          <a:p>
            <a:pPr algn="just"/>
            <a:r>
              <a:rPr lang="es-ES_tradnl" sz="1200"/>
              <a:t>Al igual que en el caso anterior, debemos ingresar con el ID del plan de pago y el periodo académico al cual correspondería la aplicación de estas reglas.</a:t>
            </a:r>
          </a:p>
          <a:p>
            <a:endParaRPr lang="es-ES_tradnl" sz="1200"/>
          </a:p>
        </p:txBody>
      </p:sp>
      <p:pic>
        <p:nvPicPr>
          <p:cNvPr id="6" name="Imagen 5">
            <a:extLst>
              <a:ext uri="{FF2B5EF4-FFF2-40B4-BE49-F238E27FC236}">
                <a16:creationId xmlns:a16="http://schemas.microsoft.com/office/drawing/2014/main" id="{D2574BFD-EDA0-4BD2-7111-6EA7A2A0514A}"/>
              </a:ext>
            </a:extLst>
          </p:cNvPr>
          <p:cNvPicPr>
            <a:picLocks noChangeAspect="1"/>
          </p:cNvPicPr>
          <p:nvPr/>
        </p:nvPicPr>
        <p:blipFill>
          <a:blip r:embed="rId2"/>
          <a:stretch>
            <a:fillRect/>
          </a:stretch>
        </p:blipFill>
        <p:spPr>
          <a:xfrm>
            <a:off x="809244" y="1981102"/>
            <a:ext cx="10573512" cy="1455374"/>
          </a:xfrm>
          <a:prstGeom prst="rect">
            <a:avLst/>
          </a:prstGeom>
        </p:spPr>
      </p:pic>
    </p:spTree>
    <p:extLst>
      <p:ext uri="{BB962C8B-B14F-4D97-AF65-F5344CB8AC3E}">
        <p14:creationId xmlns:p14="http://schemas.microsoft.com/office/powerpoint/2010/main" val="4059048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78687-2F63-6649-1252-0F2522CBA3A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4C894AC3-6770-78D4-AAEB-ADF455BBAC9A}"/>
              </a:ext>
            </a:extLst>
          </p:cNvPr>
          <p:cNvSpPr txBox="1">
            <a:spLocks/>
          </p:cNvSpPr>
          <p:nvPr/>
        </p:nvSpPr>
        <p:spPr>
          <a:xfrm>
            <a:off x="685564" y="312900"/>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TSAISTR Reglas del plan de pagos automático</a:t>
            </a:r>
            <a:endParaRPr lang="es-CL"/>
          </a:p>
        </p:txBody>
      </p:sp>
      <p:sp>
        <p:nvSpPr>
          <p:cNvPr id="4" name="Rectángulo: esquinas redondeadas 5">
            <a:extLst>
              <a:ext uri="{FF2B5EF4-FFF2-40B4-BE49-F238E27FC236}">
                <a16:creationId xmlns:a16="http://schemas.microsoft.com/office/drawing/2014/main" id="{2632A1D3-F667-86DF-D640-E65F76B71211}"/>
              </a:ext>
            </a:extLst>
          </p:cNvPr>
          <p:cNvSpPr/>
          <p:nvPr/>
        </p:nvSpPr>
        <p:spPr>
          <a:xfrm>
            <a:off x="890117" y="4487763"/>
            <a:ext cx="10494163" cy="61691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a:t>En la segunda ventana se debe configurar el plan de pago automático según el esquema de cuotas que desea generar. Lo primero es definir la sección “</a:t>
            </a:r>
            <a:r>
              <a:rPr lang="es-ES_tradnl" sz="1200" b="1"/>
              <a:t>Reglas de plan base para periodo</a:t>
            </a:r>
            <a:r>
              <a:rPr lang="es-ES_tradnl" sz="1200"/>
              <a:t>”. </a:t>
            </a:r>
          </a:p>
        </p:txBody>
      </p:sp>
      <p:pic>
        <p:nvPicPr>
          <p:cNvPr id="5" name="Imagen 4">
            <a:extLst>
              <a:ext uri="{FF2B5EF4-FFF2-40B4-BE49-F238E27FC236}">
                <a16:creationId xmlns:a16="http://schemas.microsoft.com/office/drawing/2014/main" id="{76939314-2D82-4F09-D96D-3F55889353D6}"/>
              </a:ext>
            </a:extLst>
          </p:cNvPr>
          <p:cNvPicPr>
            <a:picLocks noChangeAspect="1"/>
          </p:cNvPicPr>
          <p:nvPr/>
        </p:nvPicPr>
        <p:blipFill>
          <a:blip r:embed="rId2"/>
          <a:stretch>
            <a:fillRect/>
          </a:stretch>
        </p:blipFill>
        <p:spPr>
          <a:xfrm>
            <a:off x="857893" y="1365799"/>
            <a:ext cx="10619232" cy="2861370"/>
          </a:xfrm>
          <a:prstGeom prst="rect">
            <a:avLst/>
          </a:prstGeom>
        </p:spPr>
      </p:pic>
      <p:sp>
        <p:nvSpPr>
          <p:cNvPr id="7" name="Rectángulo: esquinas redondeadas 5">
            <a:extLst>
              <a:ext uri="{FF2B5EF4-FFF2-40B4-BE49-F238E27FC236}">
                <a16:creationId xmlns:a16="http://schemas.microsoft.com/office/drawing/2014/main" id="{F803596B-F2EA-714B-3FD5-8A6B529816A7}"/>
              </a:ext>
            </a:extLst>
          </p:cNvPr>
          <p:cNvSpPr/>
          <p:nvPr/>
        </p:nvSpPr>
        <p:spPr>
          <a:xfrm>
            <a:off x="890116" y="5239512"/>
            <a:ext cx="10494163" cy="1170432"/>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s-ES_tradnl" sz="1200"/>
              <a:t>En el caso de usar la distribución de cuotas por “</a:t>
            </a:r>
            <a:r>
              <a:rPr lang="es-ES_tradnl" sz="1200" b="1"/>
              <a:t>Pagos iguales por fecha</a:t>
            </a:r>
            <a:r>
              <a:rPr lang="es-ES_tradnl" sz="1200"/>
              <a:t>”, se deben especificar los campos de:</a:t>
            </a:r>
          </a:p>
          <a:p>
            <a:pPr marL="171450" indent="-171450">
              <a:buFontTx/>
              <a:buChar char="-"/>
            </a:pPr>
            <a:r>
              <a:rPr lang="es-ES_tradnl" sz="1200" b="1"/>
              <a:t>Fecha de vencimiento del primer pago:</a:t>
            </a:r>
            <a:r>
              <a:rPr lang="es-ES_tradnl" sz="1200"/>
              <a:t> fecha de vencimiento de la primera cuota y fecha referente para la generación de las demás cuotas del plan de pago de forma mensual.</a:t>
            </a:r>
          </a:p>
          <a:p>
            <a:pPr marL="171450" indent="-171450">
              <a:buFontTx/>
              <a:buChar char="-"/>
            </a:pPr>
            <a:r>
              <a:rPr lang="es-ES_tradnl" sz="1200" b="1"/>
              <a:t>Número de pagos:</a:t>
            </a:r>
            <a:r>
              <a:rPr lang="es-ES_tradnl" sz="1200"/>
              <a:t> corresponde a la cantidad de cuotas a redistribuir el monto principal que sería calculado por Banner. </a:t>
            </a:r>
          </a:p>
          <a:p>
            <a:pPr marL="171450" indent="-171450">
              <a:buFontTx/>
              <a:buChar char="-"/>
            </a:pPr>
            <a:r>
              <a:rPr lang="es-ES_tradnl" sz="1200" b="1"/>
              <a:t>Periodo de pago:</a:t>
            </a:r>
            <a:r>
              <a:rPr lang="es-ES_tradnl" sz="1200"/>
              <a:t> corresponde al periodo académico en el cual se grabarían las transacciones del plan de pago</a:t>
            </a:r>
          </a:p>
        </p:txBody>
      </p:sp>
    </p:spTree>
    <p:extLst>
      <p:ext uri="{BB962C8B-B14F-4D97-AF65-F5344CB8AC3E}">
        <p14:creationId xmlns:p14="http://schemas.microsoft.com/office/powerpoint/2010/main" val="2193990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1A5ED-F147-7F03-0D87-AAB55D9EA23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FF917D0-3739-DA5B-6BAB-BD2A75C5B0CC}"/>
              </a:ext>
            </a:extLst>
          </p:cNvPr>
          <p:cNvSpPr txBox="1">
            <a:spLocks/>
          </p:cNvSpPr>
          <p:nvPr/>
        </p:nvSpPr>
        <p:spPr>
          <a:xfrm>
            <a:off x="685564" y="312900"/>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TSAISTR Reglas del plan de pagos automático</a:t>
            </a:r>
            <a:endParaRPr lang="es-CL"/>
          </a:p>
        </p:txBody>
      </p:sp>
      <p:sp>
        <p:nvSpPr>
          <p:cNvPr id="4" name="Rectángulo: esquinas redondeadas 5">
            <a:extLst>
              <a:ext uri="{FF2B5EF4-FFF2-40B4-BE49-F238E27FC236}">
                <a16:creationId xmlns:a16="http://schemas.microsoft.com/office/drawing/2014/main" id="{8A5EBEF3-CD22-B7F3-2B57-7830591CCAEB}"/>
              </a:ext>
            </a:extLst>
          </p:cNvPr>
          <p:cNvSpPr/>
          <p:nvPr/>
        </p:nvSpPr>
        <p:spPr>
          <a:xfrm>
            <a:off x="685564" y="4875047"/>
            <a:ext cx="10494163" cy="95882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En el caso de usar la distribución de cuotas por </a:t>
            </a:r>
            <a:r>
              <a:rPr lang="es-CO" sz="1200" b="1"/>
              <a:t>“Porcentaje de Pagos”, </a:t>
            </a:r>
            <a:r>
              <a:rPr lang="es-CO" sz="1200"/>
              <a:t>se desactivan los campos fecha de vencimiento del primer pago, número de pagos y periodo de pago, pero se activa una nueva ventana de configuración en la cual se podrán definir la cantidad de cuotas, las fechas de vencimiento y la distribución porcentual de cada una frente al monto principal a ser calculado.</a:t>
            </a:r>
          </a:p>
        </p:txBody>
      </p:sp>
      <p:pic>
        <p:nvPicPr>
          <p:cNvPr id="6" name="Imagen 5">
            <a:extLst>
              <a:ext uri="{FF2B5EF4-FFF2-40B4-BE49-F238E27FC236}">
                <a16:creationId xmlns:a16="http://schemas.microsoft.com/office/drawing/2014/main" id="{31E26596-FC41-A643-F980-401427309515}"/>
              </a:ext>
            </a:extLst>
          </p:cNvPr>
          <p:cNvPicPr>
            <a:picLocks noChangeAspect="1"/>
          </p:cNvPicPr>
          <p:nvPr/>
        </p:nvPicPr>
        <p:blipFill>
          <a:blip r:embed="rId2"/>
          <a:stretch>
            <a:fillRect/>
          </a:stretch>
        </p:blipFill>
        <p:spPr>
          <a:xfrm>
            <a:off x="614054" y="1674495"/>
            <a:ext cx="10963892" cy="2826628"/>
          </a:xfrm>
          <a:prstGeom prst="rect">
            <a:avLst/>
          </a:prstGeom>
        </p:spPr>
      </p:pic>
    </p:spTree>
    <p:extLst>
      <p:ext uri="{BB962C8B-B14F-4D97-AF65-F5344CB8AC3E}">
        <p14:creationId xmlns:p14="http://schemas.microsoft.com/office/powerpoint/2010/main" val="3798119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A4A9D-9240-F9E3-DD1C-13EDC8259A7D}"/>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18D346F-00F2-9D0C-F70D-ACABD5416D8C}"/>
              </a:ext>
            </a:extLst>
          </p:cNvPr>
          <p:cNvSpPr txBox="1">
            <a:spLocks/>
          </p:cNvSpPr>
          <p:nvPr/>
        </p:nvSpPr>
        <p:spPr>
          <a:xfrm>
            <a:off x="685564" y="312900"/>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TSAISTR Reglas del plan de pagos automático</a:t>
            </a:r>
            <a:endParaRPr lang="es-CL"/>
          </a:p>
        </p:txBody>
      </p:sp>
      <p:sp>
        <p:nvSpPr>
          <p:cNvPr id="4" name="Rectángulo: esquinas redondeadas 5">
            <a:extLst>
              <a:ext uri="{FF2B5EF4-FFF2-40B4-BE49-F238E27FC236}">
                <a16:creationId xmlns:a16="http://schemas.microsoft.com/office/drawing/2014/main" id="{769A0ED8-8AA2-021A-0101-2DC4650E775B}"/>
              </a:ext>
            </a:extLst>
          </p:cNvPr>
          <p:cNvSpPr/>
          <p:nvPr/>
        </p:nvSpPr>
        <p:spPr>
          <a:xfrm>
            <a:off x="793307" y="4352544"/>
            <a:ext cx="10456861" cy="120289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a:t>Esta ventana solo se habilita cuando se selecciona el </a:t>
            </a:r>
            <a:r>
              <a:rPr lang="es-ES_tradnl" sz="1200" err="1"/>
              <a:t>check</a:t>
            </a:r>
            <a:r>
              <a:rPr lang="es-ES_tradnl" sz="1200"/>
              <a:t> de “porcentaje de pagos” en el menú anterior, acá se deben detallar la cantidad de cuotas de las cuales se compone el presente plan de pagos, la fecha de vencimiento de cada cuota y la distribución porcentual definida para cada una (suma total 100%). A diferencia de las demás configuraciones acá tanto la cantidad de cuotas, sus fechas y los montos de cada cuota pueden simular cualquier escenario requerido, permitiendo que las cuotas no estén estrictamente diferenciadas por un rango de días o de forma mensual.</a:t>
            </a:r>
          </a:p>
        </p:txBody>
      </p:sp>
      <p:pic>
        <p:nvPicPr>
          <p:cNvPr id="5" name="Imagen 4">
            <a:extLst>
              <a:ext uri="{FF2B5EF4-FFF2-40B4-BE49-F238E27FC236}">
                <a16:creationId xmlns:a16="http://schemas.microsoft.com/office/drawing/2014/main" id="{C4447C44-A2E5-1C27-66B4-19337A4EB4E1}"/>
              </a:ext>
            </a:extLst>
          </p:cNvPr>
          <p:cNvPicPr>
            <a:picLocks noChangeAspect="1"/>
          </p:cNvPicPr>
          <p:nvPr/>
        </p:nvPicPr>
        <p:blipFill>
          <a:blip r:embed="rId2"/>
          <a:stretch>
            <a:fillRect/>
          </a:stretch>
        </p:blipFill>
        <p:spPr>
          <a:xfrm>
            <a:off x="793308" y="1676758"/>
            <a:ext cx="10456861" cy="2200298"/>
          </a:xfrm>
          <a:prstGeom prst="rect">
            <a:avLst/>
          </a:prstGeom>
        </p:spPr>
      </p:pic>
    </p:spTree>
    <p:extLst>
      <p:ext uri="{BB962C8B-B14F-4D97-AF65-F5344CB8AC3E}">
        <p14:creationId xmlns:p14="http://schemas.microsoft.com/office/powerpoint/2010/main" val="1273382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A97D0-9A51-68FC-3FED-77A7FC95AF7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02C8984-5236-1DE3-3E57-71AF51C20549}"/>
              </a:ext>
            </a:extLst>
          </p:cNvPr>
          <p:cNvSpPr txBox="1">
            <a:spLocks/>
          </p:cNvSpPr>
          <p:nvPr/>
        </p:nvSpPr>
        <p:spPr>
          <a:xfrm>
            <a:off x="685564" y="312900"/>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TSAISTR Reglas del plan de pagos automático</a:t>
            </a:r>
            <a:endParaRPr lang="es-CL"/>
          </a:p>
        </p:txBody>
      </p:sp>
      <p:sp>
        <p:nvSpPr>
          <p:cNvPr id="4" name="Rectángulo: esquinas redondeadas 5">
            <a:extLst>
              <a:ext uri="{FF2B5EF4-FFF2-40B4-BE49-F238E27FC236}">
                <a16:creationId xmlns:a16="http://schemas.microsoft.com/office/drawing/2014/main" id="{01F0DA0F-7E58-6F5C-6288-BC78E3ACB4A3}"/>
              </a:ext>
            </a:extLst>
          </p:cNvPr>
          <p:cNvSpPr/>
          <p:nvPr/>
        </p:nvSpPr>
        <p:spPr>
          <a:xfrm>
            <a:off x="848918" y="4856759"/>
            <a:ext cx="10494163" cy="113256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En la siguiente ventana, en la sección </a:t>
            </a:r>
            <a:r>
              <a:rPr lang="es-CO" sz="1200" b="1"/>
              <a:t>“Información de código de categoría” </a:t>
            </a:r>
            <a:r>
              <a:rPr lang="es-CO" sz="1200"/>
              <a:t>se definen las categorías de los códigos de detalles que serían considerados de la cuenta corriente para determinar el monto principal a redistribuir por el plan de pago automático a aplicar. La sección exclusiones es una subsección de la anterior, en donde según la categoría seleccionada se puede definir los códigos de detalles que serían excluidos de dicho conjunto, y por ende excluido del propio plan de estudios.</a:t>
            </a:r>
          </a:p>
        </p:txBody>
      </p:sp>
      <p:pic>
        <p:nvPicPr>
          <p:cNvPr id="5" name="Imagen 4">
            <a:extLst>
              <a:ext uri="{FF2B5EF4-FFF2-40B4-BE49-F238E27FC236}">
                <a16:creationId xmlns:a16="http://schemas.microsoft.com/office/drawing/2014/main" id="{4579F687-AB54-C7DA-897D-7B29104118A3}"/>
              </a:ext>
            </a:extLst>
          </p:cNvPr>
          <p:cNvPicPr>
            <a:picLocks noChangeAspect="1"/>
          </p:cNvPicPr>
          <p:nvPr/>
        </p:nvPicPr>
        <p:blipFill>
          <a:blip r:embed="rId2"/>
          <a:stretch>
            <a:fillRect/>
          </a:stretch>
        </p:blipFill>
        <p:spPr>
          <a:xfrm>
            <a:off x="875691" y="1592667"/>
            <a:ext cx="10440618" cy="2988477"/>
          </a:xfrm>
          <a:prstGeom prst="rect">
            <a:avLst/>
          </a:prstGeom>
        </p:spPr>
      </p:pic>
    </p:spTree>
    <p:extLst>
      <p:ext uri="{BB962C8B-B14F-4D97-AF65-F5344CB8AC3E}">
        <p14:creationId xmlns:p14="http://schemas.microsoft.com/office/powerpoint/2010/main" val="3566235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B3AB7-75F4-7214-754B-FE50191AD7F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42CA31C9-2737-1FA0-09FE-A3D51B2D28F0}"/>
              </a:ext>
            </a:extLst>
          </p:cNvPr>
          <p:cNvSpPr txBox="1">
            <a:spLocks/>
          </p:cNvSpPr>
          <p:nvPr/>
        </p:nvSpPr>
        <p:spPr>
          <a:xfrm>
            <a:off x="685564" y="312900"/>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TSAISTR Reglas del plan de pagos automático</a:t>
            </a:r>
            <a:endParaRPr lang="es-CL"/>
          </a:p>
        </p:txBody>
      </p:sp>
      <p:sp>
        <p:nvSpPr>
          <p:cNvPr id="4" name="Rectángulo: esquinas redondeadas 5">
            <a:extLst>
              <a:ext uri="{FF2B5EF4-FFF2-40B4-BE49-F238E27FC236}">
                <a16:creationId xmlns:a16="http://schemas.microsoft.com/office/drawing/2014/main" id="{A99F2B62-4156-8F98-001E-A26E79742E76}"/>
              </a:ext>
            </a:extLst>
          </p:cNvPr>
          <p:cNvSpPr/>
          <p:nvPr/>
        </p:nvSpPr>
        <p:spPr>
          <a:xfrm>
            <a:off x="685564" y="4875047"/>
            <a:ext cx="10494163" cy="95882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En la sección </a:t>
            </a:r>
            <a:r>
              <a:rPr lang="es-CO" sz="1200" b="1"/>
              <a:t>“Información de código de detalle” </a:t>
            </a:r>
            <a:r>
              <a:rPr lang="es-CO" sz="1200"/>
              <a:t>se definen los códigos de detalles que serían considerados de la cuenta corriente para calcular el monto principal del plan de pago automático a aplicar, esta sección se complementa con a la sección anterior.</a:t>
            </a:r>
          </a:p>
        </p:txBody>
      </p:sp>
      <p:pic>
        <p:nvPicPr>
          <p:cNvPr id="5" name="Imagen 4">
            <a:extLst>
              <a:ext uri="{FF2B5EF4-FFF2-40B4-BE49-F238E27FC236}">
                <a16:creationId xmlns:a16="http://schemas.microsoft.com/office/drawing/2014/main" id="{471E8264-638B-EBD7-BC97-A2BF71A4FB02}"/>
              </a:ext>
            </a:extLst>
          </p:cNvPr>
          <p:cNvPicPr>
            <a:picLocks noChangeAspect="1"/>
          </p:cNvPicPr>
          <p:nvPr/>
        </p:nvPicPr>
        <p:blipFill>
          <a:blip r:embed="rId2"/>
          <a:stretch>
            <a:fillRect/>
          </a:stretch>
        </p:blipFill>
        <p:spPr>
          <a:xfrm>
            <a:off x="788552" y="1406521"/>
            <a:ext cx="10614896" cy="3051021"/>
          </a:xfrm>
          <a:prstGeom prst="rect">
            <a:avLst/>
          </a:prstGeom>
        </p:spPr>
      </p:pic>
    </p:spTree>
    <p:extLst>
      <p:ext uri="{BB962C8B-B14F-4D97-AF65-F5344CB8AC3E}">
        <p14:creationId xmlns:p14="http://schemas.microsoft.com/office/powerpoint/2010/main" val="11018749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8014B-87D0-1CBF-7088-22ACD5DF17ED}"/>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046A33DF-3DBA-2766-7F9E-CA8AE3BF77C0}"/>
              </a:ext>
            </a:extLst>
          </p:cNvPr>
          <p:cNvSpPr txBox="1">
            <a:spLocks/>
          </p:cNvSpPr>
          <p:nvPr/>
        </p:nvSpPr>
        <p:spPr>
          <a:xfrm>
            <a:off x="685564" y="312900"/>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TSAISTA Reglas de asignación del plan de pagos automático </a:t>
            </a:r>
            <a:endParaRPr lang="es-CL"/>
          </a:p>
        </p:txBody>
      </p:sp>
      <p:sp>
        <p:nvSpPr>
          <p:cNvPr id="4" name="Rectángulo: esquinas redondeadas 5">
            <a:extLst>
              <a:ext uri="{FF2B5EF4-FFF2-40B4-BE49-F238E27FC236}">
                <a16:creationId xmlns:a16="http://schemas.microsoft.com/office/drawing/2014/main" id="{63AD2818-9175-67BB-6D13-FF45C75B2A5A}"/>
              </a:ext>
            </a:extLst>
          </p:cNvPr>
          <p:cNvSpPr/>
          <p:nvPr/>
        </p:nvSpPr>
        <p:spPr>
          <a:xfrm>
            <a:off x="848917" y="4015511"/>
            <a:ext cx="10494163" cy="95882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En </a:t>
            </a:r>
            <a:r>
              <a:rPr lang="es-CO" sz="1200" b="1"/>
              <a:t>TSAISTA</a:t>
            </a:r>
            <a:r>
              <a:rPr lang="es-CO" sz="1200"/>
              <a:t> se deben seleccionar tanto el código del plan de pago automático como el periodo académico en el cual se desea ejecutar el plan de pago en cuestión. Particularmente en el campo “Código del Plan” solo podrán seleccionarse aquellos códigos de planes de pago que haya sido configurados con el </a:t>
            </a:r>
            <a:r>
              <a:rPr lang="es-CO" sz="1200" err="1"/>
              <a:t>check</a:t>
            </a:r>
            <a:r>
              <a:rPr lang="es-CO" sz="1200"/>
              <a:t> “Plan de pago automático” en TSAISTC.</a:t>
            </a:r>
          </a:p>
        </p:txBody>
      </p:sp>
      <p:pic>
        <p:nvPicPr>
          <p:cNvPr id="5" name="Imagen 4">
            <a:extLst>
              <a:ext uri="{FF2B5EF4-FFF2-40B4-BE49-F238E27FC236}">
                <a16:creationId xmlns:a16="http://schemas.microsoft.com/office/drawing/2014/main" id="{8D591FD9-1083-C074-6C6D-0AFD51077A67}"/>
              </a:ext>
            </a:extLst>
          </p:cNvPr>
          <p:cNvPicPr>
            <a:picLocks noChangeAspect="1"/>
          </p:cNvPicPr>
          <p:nvPr/>
        </p:nvPicPr>
        <p:blipFill>
          <a:blip r:embed="rId2"/>
          <a:stretch>
            <a:fillRect/>
          </a:stretch>
        </p:blipFill>
        <p:spPr>
          <a:xfrm>
            <a:off x="848918" y="2010085"/>
            <a:ext cx="10494163" cy="1281772"/>
          </a:xfrm>
          <a:prstGeom prst="rect">
            <a:avLst/>
          </a:prstGeom>
        </p:spPr>
      </p:pic>
    </p:spTree>
    <p:extLst>
      <p:ext uri="{BB962C8B-B14F-4D97-AF65-F5344CB8AC3E}">
        <p14:creationId xmlns:p14="http://schemas.microsoft.com/office/powerpoint/2010/main" val="1783079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4ADCF-E30C-E3A7-08DE-5D6D6578D5D6}"/>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01684527-1EFD-090D-E9C3-BB16A1F5E22D}"/>
              </a:ext>
            </a:extLst>
          </p:cNvPr>
          <p:cNvSpPr/>
          <p:nvPr/>
        </p:nvSpPr>
        <p:spPr>
          <a:xfrm>
            <a:off x="685564" y="4839855"/>
            <a:ext cx="10734287" cy="7815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Lo primero es ratificar que el </a:t>
            </a:r>
            <a:r>
              <a:rPr lang="es-CO" sz="1200" b="1"/>
              <a:t>Plan de Pago Automático </a:t>
            </a:r>
            <a:r>
              <a:rPr lang="es-CO" sz="1200"/>
              <a:t>a configurar posee un estado de Activo o inactivo en función el </a:t>
            </a:r>
            <a:r>
              <a:rPr lang="es-CO" sz="1200" err="1"/>
              <a:t>check</a:t>
            </a:r>
            <a:r>
              <a:rPr lang="es-CO" sz="1200"/>
              <a:t> “indicador de activo”.</a:t>
            </a:r>
          </a:p>
          <a:p>
            <a:pPr algn="just"/>
            <a:r>
              <a:rPr lang="es-CO" sz="1200"/>
              <a:t> </a:t>
            </a:r>
          </a:p>
          <a:p>
            <a:pPr algn="just"/>
            <a:r>
              <a:rPr lang="es-CO" sz="1200"/>
              <a:t>En el campo “Activo hasta la fecha” se define la fecha en la cual dicho plan de pago estaría activo para su asignación y aplicación.</a:t>
            </a:r>
          </a:p>
        </p:txBody>
      </p:sp>
      <p:sp>
        <p:nvSpPr>
          <p:cNvPr id="6" name="Título 3">
            <a:extLst>
              <a:ext uri="{FF2B5EF4-FFF2-40B4-BE49-F238E27FC236}">
                <a16:creationId xmlns:a16="http://schemas.microsoft.com/office/drawing/2014/main" id="{1449E90D-43E8-7591-5767-B86FD6435764}"/>
              </a:ext>
            </a:extLst>
          </p:cNvPr>
          <p:cNvSpPr txBox="1">
            <a:spLocks/>
          </p:cNvSpPr>
          <p:nvPr/>
        </p:nvSpPr>
        <p:spPr>
          <a:xfrm>
            <a:off x="685564" y="312900"/>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TSAISTA Reglas de asignación del plan de pagos automático </a:t>
            </a:r>
            <a:endParaRPr lang="es-CL"/>
          </a:p>
        </p:txBody>
      </p:sp>
      <p:pic>
        <p:nvPicPr>
          <p:cNvPr id="8" name="Imagen 7">
            <a:extLst>
              <a:ext uri="{FF2B5EF4-FFF2-40B4-BE49-F238E27FC236}">
                <a16:creationId xmlns:a16="http://schemas.microsoft.com/office/drawing/2014/main" id="{942F9650-E332-A429-668E-82B620375792}"/>
              </a:ext>
            </a:extLst>
          </p:cNvPr>
          <p:cNvPicPr>
            <a:picLocks noChangeAspect="1"/>
          </p:cNvPicPr>
          <p:nvPr/>
        </p:nvPicPr>
        <p:blipFill>
          <a:blip r:embed="rId2"/>
          <a:stretch>
            <a:fillRect/>
          </a:stretch>
        </p:blipFill>
        <p:spPr>
          <a:xfrm>
            <a:off x="772148" y="2363623"/>
            <a:ext cx="10647703" cy="1518716"/>
          </a:xfrm>
          <a:prstGeom prst="rect">
            <a:avLst/>
          </a:prstGeom>
        </p:spPr>
      </p:pic>
    </p:spTree>
    <p:extLst>
      <p:ext uri="{BB962C8B-B14F-4D97-AF65-F5344CB8AC3E}">
        <p14:creationId xmlns:p14="http://schemas.microsoft.com/office/powerpoint/2010/main" val="144860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F7722-A034-2201-F9A7-70191A474618}"/>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FE4AA5C4-DBB1-1DB5-A8E4-7C4F8D4764BB}"/>
              </a:ext>
            </a:extLst>
          </p:cNvPr>
          <p:cNvSpPr/>
          <p:nvPr/>
        </p:nvSpPr>
        <p:spPr>
          <a:xfrm>
            <a:off x="804672" y="4544569"/>
            <a:ext cx="10494163" cy="101498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En la tercera ventana se pueden configurar los niveles y las escuelas (o facultades) a los cuales este plan de pago automático pudiera ser asignado y/o aplicado, según sean los parámetros académicos de los estudiantes. Lo anterior se debe desarrollar indicando para cada registro si estos son Incluidos (I) o Excluidos (E) del proceso de asignación del mismo.</a:t>
            </a:r>
          </a:p>
        </p:txBody>
      </p:sp>
      <p:sp>
        <p:nvSpPr>
          <p:cNvPr id="3" name="Título 3">
            <a:extLst>
              <a:ext uri="{FF2B5EF4-FFF2-40B4-BE49-F238E27FC236}">
                <a16:creationId xmlns:a16="http://schemas.microsoft.com/office/drawing/2014/main" id="{25040CF9-D81F-7FF4-3471-9AC01229D367}"/>
              </a:ext>
            </a:extLst>
          </p:cNvPr>
          <p:cNvSpPr txBox="1">
            <a:spLocks/>
          </p:cNvSpPr>
          <p:nvPr/>
        </p:nvSpPr>
        <p:spPr>
          <a:xfrm>
            <a:off x="685564" y="312900"/>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TSAISTA Reglas de asignación del plan de pagos automático </a:t>
            </a:r>
            <a:endParaRPr lang="es-CL"/>
          </a:p>
        </p:txBody>
      </p:sp>
      <p:pic>
        <p:nvPicPr>
          <p:cNvPr id="6" name="Imagen 5">
            <a:extLst>
              <a:ext uri="{FF2B5EF4-FFF2-40B4-BE49-F238E27FC236}">
                <a16:creationId xmlns:a16="http://schemas.microsoft.com/office/drawing/2014/main" id="{8D2BEA7D-6F14-C65F-C591-0BDECB241DE0}"/>
              </a:ext>
            </a:extLst>
          </p:cNvPr>
          <p:cNvPicPr>
            <a:picLocks noChangeAspect="1"/>
          </p:cNvPicPr>
          <p:nvPr/>
        </p:nvPicPr>
        <p:blipFill>
          <a:blip r:embed="rId2"/>
          <a:stretch>
            <a:fillRect/>
          </a:stretch>
        </p:blipFill>
        <p:spPr>
          <a:xfrm>
            <a:off x="804672" y="1688165"/>
            <a:ext cx="10582656" cy="2508891"/>
          </a:xfrm>
          <a:prstGeom prst="rect">
            <a:avLst/>
          </a:prstGeom>
        </p:spPr>
      </p:pic>
    </p:spTree>
    <p:extLst>
      <p:ext uri="{BB962C8B-B14F-4D97-AF65-F5344CB8AC3E}">
        <p14:creationId xmlns:p14="http://schemas.microsoft.com/office/powerpoint/2010/main" val="726525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6EFF5-E33A-B5BB-5730-919295F93966}"/>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AD54426C-2C3C-2540-0202-42DE1014EF00}"/>
              </a:ext>
            </a:extLst>
          </p:cNvPr>
          <p:cNvSpPr/>
          <p:nvPr/>
        </p:nvSpPr>
        <p:spPr>
          <a:xfrm>
            <a:off x="804672" y="4462272"/>
            <a:ext cx="10494163" cy="109728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En la cuarta ventana se pueden configurar los campus y los grados a los cuales este plan de pago automático pudiera ser asignado y/o aplicado, según sean los parámetros académicos de los estudiantes. Lo anterior se debe desarrollar indicando para cada registro si estos son Incluidos (I) o Excluidos (E) del proceso de asignación del mismo.</a:t>
            </a:r>
          </a:p>
        </p:txBody>
      </p:sp>
      <p:sp>
        <p:nvSpPr>
          <p:cNvPr id="3" name="Título 3">
            <a:extLst>
              <a:ext uri="{FF2B5EF4-FFF2-40B4-BE49-F238E27FC236}">
                <a16:creationId xmlns:a16="http://schemas.microsoft.com/office/drawing/2014/main" id="{96B9BC09-5F25-699E-CD67-870A62BFCBA4}"/>
              </a:ext>
            </a:extLst>
          </p:cNvPr>
          <p:cNvSpPr txBox="1">
            <a:spLocks/>
          </p:cNvSpPr>
          <p:nvPr/>
        </p:nvSpPr>
        <p:spPr>
          <a:xfrm>
            <a:off x="685564" y="312900"/>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TSAISTA Reglas de asignación del plan de pagos automático </a:t>
            </a:r>
            <a:endParaRPr lang="es-CL"/>
          </a:p>
        </p:txBody>
      </p:sp>
      <p:pic>
        <p:nvPicPr>
          <p:cNvPr id="5" name="Imagen 4">
            <a:extLst>
              <a:ext uri="{FF2B5EF4-FFF2-40B4-BE49-F238E27FC236}">
                <a16:creationId xmlns:a16="http://schemas.microsoft.com/office/drawing/2014/main" id="{52B992AF-E40B-33F6-2D60-8CF38FCE3574}"/>
              </a:ext>
            </a:extLst>
          </p:cNvPr>
          <p:cNvPicPr>
            <a:picLocks noChangeAspect="1"/>
          </p:cNvPicPr>
          <p:nvPr/>
        </p:nvPicPr>
        <p:blipFill>
          <a:blip r:embed="rId2"/>
          <a:stretch>
            <a:fillRect/>
          </a:stretch>
        </p:blipFill>
        <p:spPr>
          <a:xfrm>
            <a:off x="844685" y="1567849"/>
            <a:ext cx="10502630" cy="2702399"/>
          </a:xfrm>
          <a:prstGeom prst="rect">
            <a:avLst/>
          </a:prstGeom>
        </p:spPr>
      </p:pic>
    </p:spTree>
    <p:extLst>
      <p:ext uri="{BB962C8B-B14F-4D97-AF65-F5344CB8AC3E}">
        <p14:creationId xmlns:p14="http://schemas.microsoft.com/office/powerpoint/2010/main" val="1021422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6EA3B-FED7-A68A-ACFD-3B8F89D84173}"/>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D0F087B4-8597-187E-F57D-2E388A400995}"/>
              </a:ext>
            </a:extLst>
          </p:cNvPr>
          <p:cNvSpPr/>
          <p:nvPr/>
        </p:nvSpPr>
        <p:spPr>
          <a:xfrm>
            <a:off x="899059" y="4480561"/>
            <a:ext cx="10399776" cy="101498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En la quinta ventana se pueden configurar las carreras y los atributos de tarifas a los cuales este plan de pago automático pudiera ser asignado y/o aplicado, según sean los parámetros académicos de los estudiantes. Lo anterior se debe desarrollar indicando para cada registro si estos son Incluidos (I) o Excluidos (E) del proceso de asignación del mismo.</a:t>
            </a:r>
          </a:p>
        </p:txBody>
      </p:sp>
      <p:sp>
        <p:nvSpPr>
          <p:cNvPr id="3" name="Título 3">
            <a:extLst>
              <a:ext uri="{FF2B5EF4-FFF2-40B4-BE49-F238E27FC236}">
                <a16:creationId xmlns:a16="http://schemas.microsoft.com/office/drawing/2014/main" id="{58E2024D-AF73-71C3-7CC2-C065F8157629}"/>
              </a:ext>
            </a:extLst>
          </p:cNvPr>
          <p:cNvSpPr txBox="1">
            <a:spLocks/>
          </p:cNvSpPr>
          <p:nvPr/>
        </p:nvSpPr>
        <p:spPr>
          <a:xfrm>
            <a:off x="685564" y="312900"/>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a:solidFill>
                  <a:schemeClr val="accent1"/>
                </a:solidFill>
              </a:rPr>
              <a:t>Configuraciones: </a:t>
            </a:r>
            <a:r>
              <a:rPr lang="es-CO" sz="3200"/>
              <a:t>TSAISTA Reglas de asignación del plan de pagos automático </a:t>
            </a:r>
            <a:endParaRPr lang="es-CL"/>
          </a:p>
        </p:txBody>
      </p:sp>
      <p:pic>
        <p:nvPicPr>
          <p:cNvPr id="5" name="Imagen 4">
            <a:extLst>
              <a:ext uri="{FF2B5EF4-FFF2-40B4-BE49-F238E27FC236}">
                <a16:creationId xmlns:a16="http://schemas.microsoft.com/office/drawing/2014/main" id="{13842B42-BCEC-3976-F6DC-0D07B86C64CF}"/>
              </a:ext>
            </a:extLst>
          </p:cNvPr>
          <p:cNvPicPr>
            <a:picLocks noChangeAspect="1"/>
          </p:cNvPicPr>
          <p:nvPr/>
        </p:nvPicPr>
        <p:blipFill>
          <a:blip r:embed="rId2"/>
          <a:stretch>
            <a:fillRect/>
          </a:stretch>
        </p:blipFill>
        <p:spPr>
          <a:xfrm>
            <a:off x="899059" y="1747029"/>
            <a:ext cx="10399776" cy="2261056"/>
          </a:xfrm>
          <a:prstGeom prst="rect">
            <a:avLst/>
          </a:prstGeom>
        </p:spPr>
      </p:pic>
    </p:spTree>
    <p:extLst>
      <p:ext uri="{BB962C8B-B14F-4D97-AF65-F5344CB8AC3E}">
        <p14:creationId xmlns:p14="http://schemas.microsoft.com/office/powerpoint/2010/main" val="7769216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05238-C1BA-3D26-6273-8EB4707651E8}"/>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1C272CB2-9A42-C4D0-A943-CBF1231BC640}"/>
              </a:ext>
            </a:extLst>
          </p:cNvPr>
          <p:cNvSpPr txBox="1"/>
          <p:nvPr/>
        </p:nvSpPr>
        <p:spPr>
          <a:xfrm>
            <a:off x="693025" y="1983784"/>
            <a:ext cx="10709543" cy="1938992"/>
          </a:xfrm>
          <a:prstGeom prst="rect">
            <a:avLst/>
          </a:prstGeom>
          <a:noFill/>
        </p:spPr>
        <p:txBody>
          <a:bodyPr wrap="square">
            <a:spAutoFit/>
          </a:bodyPr>
          <a:lstStyle/>
          <a:p>
            <a:r>
              <a:rPr lang="es-CO" sz="6000" b="1">
                <a:solidFill>
                  <a:schemeClr val="bg1"/>
                </a:solidFill>
              </a:rPr>
              <a:t>Asignación Planes de Pago</a:t>
            </a:r>
          </a:p>
          <a:p>
            <a:r>
              <a:rPr lang="es-CO" sz="6000" b="1">
                <a:solidFill>
                  <a:schemeClr val="bg1"/>
                </a:solidFill>
              </a:rPr>
              <a:t>Manual (PPM)</a:t>
            </a:r>
            <a:endParaRPr lang="en-US" sz="6000" b="1">
              <a:solidFill>
                <a:schemeClr val="bg1"/>
              </a:solidFill>
            </a:endParaRPr>
          </a:p>
        </p:txBody>
      </p:sp>
      <p:sp>
        <p:nvSpPr>
          <p:cNvPr id="2" name="Text Placeholder 16">
            <a:extLst>
              <a:ext uri="{FF2B5EF4-FFF2-40B4-BE49-F238E27FC236}">
                <a16:creationId xmlns:a16="http://schemas.microsoft.com/office/drawing/2014/main" id="{89D6689B-365F-90C1-5A61-82230F1E8384}"/>
              </a:ext>
            </a:extLst>
          </p:cNvPr>
          <p:cNvSpPr txBox="1">
            <a:spLocks/>
          </p:cNvSpPr>
          <p:nvPr/>
        </p:nvSpPr>
        <p:spPr>
          <a:xfrm>
            <a:off x="693025" y="4343615"/>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a:solidFill>
                  <a:schemeClr val="bg1"/>
                </a:solidFill>
              </a:rPr>
              <a:t>Gestionar los planes de pago</a:t>
            </a:r>
          </a:p>
        </p:txBody>
      </p:sp>
    </p:spTree>
    <p:extLst>
      <p:ext uri="{BB962C8B-B14F-4D97-AF65-F5344CB8AC3E}">
        <p14:creationId xmlns:p14="http://schemas.microsoft.com/office/powerpoint/2010/main" val="884641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CBFA8-6083-E895-432D-58245E2A9802}"/>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B8C62700-C48F-2FB6-ABA7-D949B9E664F4}"/>
              </a:ext>
            </a:extLst>
          </p:cNvPr>
          <p:cNvSpPr/>
          <p:nvPr/>
        </p:nvSpPr>
        <p:spPr>
          <a:xfrm>
            <a:off x="777040" y="5057019"/>
            <a:ext cx="10518848" cy="84047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a:t>Generación de cargos:</a:t>
            </a:r>
          </a:p>
          <a:p>
            <a:pPr algn="just"/>
            <a:r>
              <a:rPr lang="es-CO" sz="1200"/>
              <a:t>En la Página TSAAREV se puede evidenciar el cargo por concepto de matrícula generado para un estudiante.</a:t>
            </a:r>
          </a:p>
        </p:txBody>
      </p:sp>
      <p:sp>
        <p:nvSpPr>
          <p:cNvPr id="3" name="Título 3">
            <a:extLst>
              <a:ext uri="{FF2B5EF4-FFF2-40B4-BE49-F238E27FC236}">
                <a16:creationId xmlns:a16="http://schemas.microsoft.com/office/drawing/2014/main" id="{812A1768-856D-9FF8-4B8E-23A795C786E7}"/>
              </a:ext>
            </a:extLst>
          </p:cNvPr>
          <p:cNvSpPr txBox="1">
            <a:spLocks/>
          </p:cNvSpPr>
          <p:nvPr/>
        </p:nvSpPr>
        <p:spPr>
          <a:xfrm>
            <a:off x="685564" y="312900"/>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Escenario Previo: </a:t>
            </a:r>
            <a:r>
              <a:rPr lang="es-CO" sz="3200"/>
              <a:t>TSAAREV - Revisión de detalle de cuenta - alumnos </a:t>
            </a:r>
            <a:endParaRPr lang="es-CL"/>
          </a:p>
        </p:txBody>
      </p:sp>
      <p:pic>
        <p:nvPicPr>
          <p:cNvPr id="6" name="Imagen 5">
            <a:extLst>
              <a:ext uri="{FF2B5EF4-FFF2-40B4-BE49-F238E27FC236}">
                <a16:creationId xmlns:a16="http://schemas.microsoft.com/office/drawing/2014/main" id="{23E2BA2A-AD85-3209-DFE7-C89DB0C77D2F}"/>
              </a:ext>
            </a:extLst>
          </p:cNvPr>
          <p:cNvPicPr>
            <a:picLocks noChangeAspect="1"/>
          </p:cNvPicPr>
          <p:nvPr/>
        </p:nvPicPr>
        <p:blipFill>
          <a:blip r:embed="rId2"/>
          <a:stretch>
            <a:fillRect/>
          </a:stretch>
        </p:blipFill>
        <p:spPr>
          <a:xfrm>
            <a:off x="777040" y="1499616"/>
            <a:ext cx="10637920" cy="3305631"/>
          </a:xfrm>
          <a:prstGeom prst="rect">
            <a:avLst/>
          </a:prstGeom>
        </p:spPr>
      </p:pic>
    </p:spTree>
    <p:extLst>
      <p:ext uri="{BB962C8B-B14F-4D97-AF65-F5344CB8AC3E}">
        <p14:creationId xmlns:p14="http://schemas.microsoft.com/office/powerpoint/2010/main" val="30888528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BB6B0-F820-6D42-B557-CB0835A75094}"/>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059B9A37-2F12-1B90-8C84-CEA58EABF2A3}"/>
              </a:ext>
            </a:extLst>
          </p:cNvPr>
          <p:cNvSpPr/>
          <p:nvPr/>
        </p:nvSpPr>
        <p:spPr>
          <a:xfrm>
            <a:off x="786384" y="5163128"/>
            <a:ext cx="10619232" cy="12963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a:t>Plan de Pagos Manual:</a:t>
            </a:r>
          </a:p>
          <a:p>
            <a:pPr algn="just"/>
            <a:r>
              <a:rPr lang="es-CO" sz="1200"/>
              <a:t>En esta ventana se configura la generación de un Plan de Pagos basado en las variables preconfiguradas en TSAISTC, quedando en blanco aquellas que no se encuentren definidas.</a:t>
            </a:r>
          </a:p>
          <a:p>
            <a:pPr algn="just"/>
            <a:r>
              <a:rPr lang="es-CO" sz="1200"/>
              <a:t>Si bien, algunos de estos campos son preasignados en función a lo configurado en TSAISTC, varios de ellos son editables según sea requerido por el usuario que lo desarrolle.</a:t>
            </a:r>
          </a:p>
        </p:txBody>
      </p:sp>
      <p:sp>
        <p:nvSpPr>
          <p:cNvPr id="3" name="Título 3">
            <a:extLst>
              <a:ext uri="{FF2B5EF4-FFF2-40B4-BE49-F238E27FC236}">
                <a16:creationId xmlns:a16="http://schemas.microsoft.com/office/drawing/2014/main" id="{1FB52F08-4629-057F-E574-AEFB3887E958}"/>
              </a:ext>
            </a:extLst>
          </p:cNvPr>
          <p:cNvSpPr txBox="1">
            <a:spLocks/>
          </p:cNvSpPr>
          <p:nvPr/>
        </p:nvSpPr>
        <p:spPr>
          <a:xfrm>
            <a:off x="896112" y="386052"/>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Asignación: </a:t>
            </a:r>
            <a:r>
              <a:rPr lang="es-CO" sz="3200"/>
              <a:t>TSAISTL - Plan de Pagos Alumnos</a:t>
            </a:r>
            <a:endParaRPr lang="es-CL"/>
          </a:p>
        </p:txBody>
      </p:sp>
      <p:pic>
        <p:nvPicPr>
          <p:cNvPr id="5" name="Imagen 4">
            <a:extLst>
              <a:ext uri="{FF2B5EF4-FFF2-40B4-BE49-F238E27FC236}">
                <a16:creationId xmlns:a16="http://schemas.microsoft.com/office/drawing/2014/main" id="{89D1220F-7BE2-5454-D4DF-34700ED3B60C}"/>
              </a:ext>
            </a:extLst>
          </p:cNvPr>
          <p:cNvPicPr>
            <a:picLocks noChangeAspect="1"/>
          </p:cNvPicPr>
          <p:nvPr/>
        </p:nvPicPr>
        <p:blipFill>
          <a:blip r:embed="rId2"/>
          <a:stretch>
            <a:fillRect/>
          </a:stretch>
        </p:blipFill>
        <p:spPr>
          <a:xfrm>
            <a:off x="786384" y="902383"/>
            <a:ext cx="10619232" cy="4045421"/>
          </a:xfrm>
          <a:prstGeom prst="rect">
            <a:avLst/>
          </a:prstGeom>
        </p:spPr>
      </p:pic>
    </p:spTree>
    <p:extLst>
      <p:ext uri="{BB962C8B-B14F-4D97-AF65-F5344CB8AC3E}">
        <p14:creationId xmlns:p14="http://schemas.microsoft.com/office/powerpoint/2010/main" val="2418259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B5F5D-97FA-CBB3-A192-EFA60E6EFDB8}"/>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EC348D9B-2FCD-A3F1-6386-6E8C339009EB}"/>
              </a:ext>
            </a:extLst>
          </p:cNvPr>
          <p:cNvSpPr txBox="1">
            <a:spLocks/>
          </p:cNvSpPr>
          <p:nvPr/>
        </p:nvSpPr>
        <p:spPr>
          <a:xfrm>
            <a:off x="896112" y="386052"/>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Asignación: </a:t>
            </a:r>
            <a:r>
              <a:rPr lang="es-CO" sz="3200"/>
              <a:t>TSAISTL - Plan de Pagos Alumnos</a:t>
            </a:r>
            <a:endParaRPr lang="es-CL"/>
          </a:p>
        </p:txBody>
      </p:sp>
      <p:pic>
        <p:nvPicPr>
          <p:cNvPr id="5" name="Imagen 4">
            <a:extLst>
              <a:ext uri="{FF2B5EF4-FFF2-40B4-BE49-F238E27FC236}">
                <a16:creationId xmlns:a16="http://schemas.microsoft.com/office/drawing/2014/main" id="{E30EFB54-C5D3-D833-AEB2-7BAEF3F2A98C}"/>
              </a:ext>
            </a:extLst>
          </p:cNvPr>
          <p:cNvPicPr>
            <a:picLocks noChangeAspect="1"/>
          </p:cNvPicPr>
          <p:nvPr/>
        </p:nvPicPr>
        <p:blipFill>
          <a:blip r:embed="rId2"/>
          <a:stretch>
            <a:fillRect/>
          </a:stretch>
        </p:blipFill>
        <p:spPr>
          <a:xfrm>
            <a:off x="786384" y="902383"/>
            <a:ext cx="10619232" cy="4045421"/>
          </a:xfrm>
          <a:prstGeom prst="rect">
            <a:avLst/>
          </a:prstGeom>
        </p:spPr>
      </p:pic>
      <p:grpSp>
        <p:nvGrpSpPr>
          <p:cNvPr id="2" name="Grupo 1">
            <a:extLst>
              <a:ext uri="{FF2B5EF4-FFF2-40B4-BE49-F238E27FC236}">
                <a16:creationId xmlns:a16="http://schemas.microsoft.com/office/drawing/2014/main" id="{84B622DD-440E-05CF-D453-97E2C6D7EEC6}"/>
              </a:ext>
            </a:extLst>
          </p:cNvPr>
          <p:cNvGrpSpPr/>
          <p:nvPr/>
        </p:nvGrpSpPr>
        <p:grpSpPr>
          <a:xfrm>
            <a:off x="1761744" y="5062971"/>
            <a:ext cx="8668512" cy="1408977"/>
            <a:chOff x="785090" y="5256381"/>
            <a:chExt cx="6696365" cy="1408977"/>
          </a:xfrm>
        </p:grpSpPr>
        <p:sp>
          <p:nvSpPr>
            <p:cNvPr id="6" name="Rectángulo: esquinas redondeadas 5">
              <a:extLst>
                <a:ext uri="{FF2B5EF4-FFF2-40B4-BE49-F238E27FC236}">
                  <a16:creationId xmlns:a16="http://schemas.microsoft.com/office/drawing/2014/main" id="{E2F646CC-BAF7-13FA-C24A-A664B5239E16}"/>
                </a:ext>
              </a:extLst>
            </p:cNvPr>
            <p:cNvSpPr/>
            <p:nvPr/>
          </p:nvSpPr>
          <p:spPr>
            <a:xfrm>
              <a:off x="785090" y="5256381"/>
              <a:ext cx="6696365" cy="14089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a:t>Para desarrollar la ejecución de los planes de pago es necesario definir los campos:</a:t>
              </a:r>
            </a:p>
            <a:p>
              <a:pPr marL="171450" indent="-171450">
                <a:buFontTx/>
                <a:buChar char="-"/>
              </a:pPr>
              <a:r>
                <a:rPr lang="es-ES_tradnl" sz="1200"/>
                <a:t>Planes de Pago                                           </a:t>
              </a:r>
            </a:p>
            <a:p>
              <a:pPr marL="171450" indent="-171450">
                <a:buFontTx/>
                <a:buChar char="-"/>
              </a:pPr>
              <a:r>
                <a:rPr lang="es-ES_tradnl" sz="1200"/>
                <a:t>Periodo</a:t>
              </a:r>
            </a:p>
            <a:p>
              <a:pPr marL="171450" indent="-171450">
                <a:buFontTx/>
                <a:buChar char="-"/>
              </a:pPr>
              <a:r>
                <a:rPr lang="es-ES_tradnl" sz="1200"/>
                <a:t>Vencimiento del pago a plazos</a:t>
              </a:r>
            </a:p>
            <a:p>
              <a:pPr marL="171450" indent="-171450">
                <a:buFontTx/>
                <a:buChar char="-"/>
              </a:pPr>
              <a:r>
                <a:rPr lang="es-ES_tradnl" sz="1200"/>
                <a:t>Número de pagos</a:t>
              </a:r>
            </a:p>
            <a:p>
              <a:pPr marL="171450" indent="-171450">
                <a:buFontTx/>
                <a:buChar char="-"/>
              </a:pPr>
              <a:r>
                <a:rPr lang="es-ES_tradnl" sz="1200"/>
                <a:t>Periodo de pago (si aplica) </a:t>
              </a:r>
            </a:p>
          </p:txBody>
        </p:sp>
        <p:sp>
          <p:nvSpPr>
            <p:cNvPr id="7" name="Rectángulo: esquinas redondeadas 6">
              <a:extLst>
                <a:ext uri="{FF2B5EF4-FFF2-40B4-BE49-F238E27FC236}">
                  <a16:creationId xmlns:a16="http://schemas.microsoft.com/office/drawing/2014/main" id="{AD2DD3A5-4EEF-D659-EEF9-4454DBE527FD}"/>
                </a:ext>
              </a:extLst>
            </p:cNvPr>
            <p:cNvSpPr/>
            <p:nvPr/>
          </p:nvSpPr>
          <p:spPr>
            <a:xfrm>
              <a:off x="3948544" y="5688938"/>
              <a:ext cx="2803237" cy="96652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Tx/>
                <a:buChar char="-"/>
              </a:pPr>
              <a:r>
                <a:rPr lang="es-ES_tradnl" sz="1200"/>
                <a:t>Inicio de vigencia</a:t>
              </a:r>
            </a:p>
            <a:p>
              <a:pPr marL="171450" indent="-171450">
                <a:buFontTx/>
                <a:buChar char="-"/>
              </a:pPr>
              <a:r>
                <a:rPr lang="es-ES_tradnl" sz="1200"/>
                <a:t>Cód. de detalle de plan</a:t>
              </a:r>
            </a:p>
            <a:p>
              <a:pPr marL="171450" indent="-171450">
                <a:buFontTx/>
                <a:buChar char="-"/>
              </a:pPr>
              <a:r>
                <a:rPr lang="es-ES_tradnl" sz="1200"/>
                <a:t>Monto del plan</a:t>
              </a:r>
            </a:p>
            <a:p>
              <a:pPr marL="171450" indent="-171450">
                <a:buFontTx/>
                <a:buChar char="-"/>
              </a:pPr>
              <a:r>
                <a:rPr lang="es-ES_tradnl" sz="1200"/>
                <a:t>Código de detalle principal</a:t>
              </a:r>
            </a:p>
          </p:txBody>
        </p:sp>
      </p:grpSp>
    </p:spTree>
    <p:extLst>
      <p:ext uri="{BB962C8B-B14F-4D97-AF65-F5344CB8AC3E}">
        <p14:creationId xmlns:p14="http://schemas.microsoft.com/office/powerpoint/2010/main" val="12827940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906CD-1B2B-B019-C6BF-D6B0BA0D4ADD}"/>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4B4D4247-61FC-53DB-CDD0-6C7032D056F2}"/>
              </a:ext>
            </a:extLst>
          </p:cNvPr>
          <p:cNvSpPr/>
          <p:nvPr/>
        </p:nvSpPr>
        <p:spPr>
          <a:xfrm>
            <a:off x="980694" y="5345414"/>
            <a:ext cx="10230612" cy="61691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Las variables relacionadas al interés o cargo por servicio son opcionales según sea el caso del Plan de Pagos a reflejar.</a:t>
            </a:r>
          </a:p>
        </p:txBody>
      </p:sp>
      <p:sp>
        <p:nvSpPr>
          <p:cNvPr id="3" name="Título 3">
            <a:extLst>
              <a:ext uri="{FF2B5EF4-FFF2-40B4-BE49-F238E27FC236}">
                <a16:creationId xmlns:a16="http://schemas.microsoft.com/office/drawing/2014/main" id="{DFB06641-2CBA-59F3-36A8-D070BAFB3365}"/>
              </a:ext>
            </a:extLst>
          </p:cNvPr>
          <p:cNvSpPr txBox="1">
            <a:spLocks/>
          </p:cNvSpPr>
          <p:nvPr/>
        </p:nvSpPr>
        <p:spPr>
          <a:xfrm>
            <a:off x="980694" y="386052"/>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Asignación: </a:t>
            </a:r>
            <a:r>
              <a:rPr lang="es-CO" sz="3200"/>
              <a:t>TSAISTL - Plan de Pagos Alumnos</a:t>
            </a:r>
            <a:endParaRPr lang="es-CL"/>
          </a:p>
        </p:txBody>
      </p:sp>
      <p:pic>
        <p:nvPicPr>
          <p:cNvPr id="6" name="Imagen 5">
            <a:extLst>
              <a:ext uri="{FF2B5EF4-FFF2-40B4-BE49-F238E27FC236}">
                <a16:creationId xmlns:a16="http://schemas.microsoft.com/office/drawing/2014/main" id="{1E6EDB57-13FB-DA3F-2A19-4ECE16B28539}"/>
              </a:ext>
            </a:extLst>
          </p:cNvPr>
          <p:cNvPicPr>
            <a:picLocks noChangeAspect="1"/>
          </p:cNvPicPr>
          <p:nvPr/>
        </p:nvPicPr>
        <p:blipFill>
          <a:blip r:embed="rId2"/>
          <a:stretch>
            <a:fillRect/>
          </a:stretch>
        </p:blipFill>
        <p:spPr>
          <a:xfrm>
            <a:off x="1065276" y="1240711"/>
            <a:ext cx="10061448" cy="3866959"/>
          </a:xfrm>
          <a:prstGeom prst="rect">
            <a:avLst/>
          </a:prstGeom>
        </p:spPr>
      </p:pic>
    </p:spTree>
    <p:extLst>
      <p:ext uri="{BB962C8B-B14F-4D97-AF65-F5344CB8AC3E}">
        <p14:creationId xmlns:p14="http://schemas.microsoft.com/office/powerpoint/2010/main" val="12101952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07977-E778-11E5-95D5-8E8A92732EC1}"/>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DD6EB074-DCE6-FF73-A13E-DBD2C01833D6}"/>
              </a:ext>
            </a:extLst>
          </p:cNvPr>
          <p:cNvSpPr/>
          <p:nvPr/>
        </p:nvSpPr>
        <p:spPr>
          <a:xfrm>
            <a:off x="1078992" y="5372069"/>
            <a:ext cx="9939528" cy="4203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Ingresados los parámetros requeridos, al momento de guardar se generará sobre la cuenta corriente del estudiante el plan de pago configurado.</a:t>
            </a:r>
          </a:p>
        </p:txBody>
      </p:sp>
      <p:sp>
        <p:nvSpPr>
          <p:cNvPr id="3" name="Título 3">
            <a:extLst>
              <a:ext uri="{FF2B5EF4-FFF2-40B4-BE49-F238E27FC236}">
                <a16:creationId xmlns:a16="http://schemas.microsoft.com/office/drawing/2014/main" id="{E0E59C18-0CC8-9AD2-19E6-84262369733A}"/>
              </a:ext>
            </a:extLst>
          </p:cNvPr>
          <p:cNvSpPr txBox="1">
            <a:spLocks/>
          </p:cNvSpPr>
          <p:nvPr/>
        </p:nvSpPr>
        <p:spPr>
          <a:xfrm>
            <a:off x="980694" y="386052"/>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Asignación: </a:t>
            </a:r>
            <a:r>
              <a:rPr lang="es-CO" sz="3200"/>
              <a:t>TSAISTL - Plan de Pagos Alumnos</a:t>
            </a:r>
            <a:endParaRPr lang="es-CL"/>
          </a:p>
        </p:txBody>
      </p:sp>
      <p:pic>
        <p:nvPicPr>
          <p:cNvPr id="8" name="Imagen 7">
            <a:extLst>
              <a:ext uri="{FF2B5EF4-FFF2-40B4-BE49-F238E27FC236}">
                <a16:creationId xmlns:a16="http://schemas.microsoft.com/office/drawing/2014/main" id="{8A99C97D-9CC6-83E1-4F8C-DD1DCF590EE3}"/>
              </a:ext>
            </a:extLst>
          </p:cNvPr>
          <p:cNvPicPr>
            <a:picLocks noChangeAspect="1"/>
          </p:cNvPicPr>
          <p:nvPr/>
        </p:nvPicPr>
        <p:blipFill>
          <a:blip r:embed="rId2"/>
          <a:stretch>
            <a:fillRect/>
          </a:stretch>
        </p:blipFill>
        <p:spPr>
          <a:xfrm>
            <a:off x="1078992" y="1002967"/>
            <a:ext cx="9851136" cy="3739830"/>
          </a:xfrm>
          <a:prstGeom prst="rect">
            <a:avLst/>
          </a:prstGeom>
        </p:spPr>
      </p:pic>
      <p:pic>
        <p:nvPicPr>
          <p:cNvPr id="10" name="Imagen 9">
            <a:extLst>
              <a:ext uri="{FF2B5EF4-FFF2-40B4-BE49-F238E27FC236}">
                <a16:creationId xmlns:a16="http://schemas.microsoft.com/office/drawing/2014/main" id="{11DFC948-6D54-AA14-C1D3-E03B162DA050}"/>
              </a:ext>
            </a:extLst>
          </p:cNvPr>
          <p:cNvPicPr>
            <a:picLocks noChangeAspect="1"/>
          </p:cNvPicPr>
          <p:nvPr/>
        </p:nvPicPr>
        <p:blipFill>
          <a:blip r:embed="rId3"/>
          <a:stretch>
            <a:fillRect/>
          </a:stretch>
        </p:blipFill>
        <p:spPr>
          <a:xfrm>
            <a:off x="1078992" y="4724509"/>
            <a:ext cx="9851136" cy="344122"/>
          </a:xfrm>
          <a:prstGeom prst="rect">
            <a:avLst/>
          </a:prstGeom>
        </p:spPr>
      </p:pic>
      <p:sp>
        <p:nvSpPr>
          <p:cNvPr id="11" name="Rectángulo: esquinas redondeadas 5">
            <a:extLst>
              <a:ext uri="{FF2B5EF4-FFF2-40B4-BE49-F238E27FC236}">
                <a16:creationId xmlns:a16="http://schemas.microsoft.com/office/drawing/2014/main" id="{57373B03-F491-CD58-CA9F-70A5BAC801DA}"/>
              </a:ext>
            </a:extLst>
          </p:cNvPr>
          <p:cNvSpPr/>
          <p:nvPr/>
        </p:nvSpPr>
        <p:spPr>
          <a:xfrm>
            <a:off x="1078992" y="5930015"/>
            <a:ext cx="2139696" cy="4203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Indicar: Sección siguiente.</a:t>
            </a:r>
          </a:p>
        </p:txBody>
      </p:sp>
    </p:spTree>
    <p:extLst>
      <p:ext uri="{BB962C8B-B14F-4D97-AF65-F5344CB8AC3E}">
        <p14:creationId xmlns:p14="http://schemas.microsoft.com/office/powerpoint/2010/main" val="27785461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AD43A-E708-0E26-58B7-312F9EB1ACD6}"/>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13CFCF20-D484-7B9A-AC47-6FB97C7A3DBB}"/>
              </a:ext>
            </a:extLst>
          </p:cNvPr>
          <p:cNvSpPr/>
          <p:nvPr/>
        </p:nvSpPr>
        <p:spPr>
          <a:xfrm>
            <a:off x="980694" y="4559030"/>
            <a:ext cx="10230612" cy="61691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Una vez aplicado el plan de pago, este puede ser visualizado en la siguiente ventana de TSAISTL.</a:t>
            </a:r>
          </a:p>
        </p:txBody>
      </p:sp>
      <p:sp>
        <p:nvSpPr>
          <p:cNvPr id="3" name="Título 3">
            <a:extLst>
              <a:ext uri="{FF2B5EF4-FFF2-40B4-BE49-F238E27FC236}">
                <a16:creationId xmlns:a16="http://schemas.microsoft.com/office/drawing/2014/main" id="{40EB271E-1819-ED2E-0426-29425DFFCE82}"/>
              </a:ext>
            </a:extLst>
          </p:cNvPr>
          <p:cNvSpPr txBox="1">
            <a:spLocks/>
          </p:cNvSpPr>
          <p:nvPr/>
        </p:nvSpPr>
        <p:spPr>
          <a:xfrm>
            <a:off x="980694" y="550644"/>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Asignación: </a:t>
            </a:r>
            <a:r>
              <a:rPr lang="es-CO" sz="3200"/>
              <a:t>TSAISTL - Plan de Pagos Alumnos</a:t>
            </a:r>
            <a:endParaRPr lang="es-CL"/>
          </a:p>
        </p:txBody>
      </p:sp>
      <p:pic>
        <p:nvPicPr>
          <p:cNvPr id="6" name="Imagen 5">
            <a:extLst>
              <a:ext uri="{FF2B5EF4-FFF2-40B4-BE49-F238E27FC236}">
                <a16:creationId xmlns:a16="http://schemas.microsoft.com/office/drawing/2014/main" id="{A76AF080-E686-D528-8805-2B6082C89892}"/>
              </a:ext>
            </a:extLst>
          </p:cNvPr>
          <p:cNvPicPr>
            <a:picLocks noChangeAspect="1"/>
          </p:cNvPicPr>
          <p:nvPr/>
        </p:nvPicPr>
        <p:blipFill>
          <a:blip r:embed="rId2"/>
          <a:stretch>
            <a:fillRect/>
          </a:stretch>
        </p:blipFill>
        <p:spPr>
          <a:xfrm>
            <a:off x="980694" y="1803928"/>
            <a:ext cx="10440230" cy="1954141"/>
          </a:xfrm>
          <a:prstGeom prst="rect">
            <a:avLst/>
          </a:prstGeom>
        </p:spPr>
      </p:pic>
    </p:spTree>
    <p:extLst>
      <p:ext uri="{BB962C8B-B14F-4D97-AF65-F5344CB8AC3E}">
        <p14:creationId xmlns:p14="http://schemas.microsoft.com/office/powerpoint/2010/main" val="35704806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64618-B487-0622-97A4-DB6DE9A8F2D4}"/>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34B89CD9-583F-1C8A-F729-3DCEA33B381E}"/>
              </a:ext>
            </a:extLst>
          </p:cNvPr>
          <p:cNvSpPr/>
          <p:nvPr/>
        </p:nvSpPr>
        <p:spPr>
          <a:xfrm>
            <a:off x="980694" y="5082456"/>
            <a:ext cx="10230612" cy="9273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a:t>Cuenta corriente con el Plan de Pagos aplicado:</a:t>
            </a:r>
          </a:p>
          <a:p>
            <a:pPr algn="just"/>
            <a:r>
              <a:rPr lang="es-CO" sz="1200"/>
              <a:t>Los registros en la cuenta corriente del plan de pago ratifican la aplicación del mismo. En este punto las transacciones están en condiciones de ser balanceadas en función a las prioridades configuradas a cada código de detalle según corresponda.</a:t>
            </a:r>
          </a:p>
        </p:txBody>
      </p:sp>
      <p:sp>
        <p:nvSpPr>
          <p:cNvPr id="3" name="Título 3">
            <a:extLst>
              <a:ext uri="{FF2B5EF4-FFF2-40B4-BE49-F238E27FC236}">
                <a16:creationId xmlns:a16="http://schemas.microsoft.com/office/drawing/2014/main" id="{66721604-A240-BA6F-C3E0-8F9292998163}"/>
              </a:ext>
            </a:extLst>
          </p:cNvPr>
          <p:cNvSpPr txBox="1">
            <a:spLocks/>
          </p:cNvSpPr>
          <p:nvPr/>
        </p:nvSpPr>
        <p:spPr>
          <a:xfrm>
            <a:off x="980694" y="331188"/>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Asignación: </a:t>
            </a:r>
            <a:r>
              <a:rPr lang="es-CO" sz="3200"/>
              <a:t>TSAAREV - Revisión de detalle de cuenta - alumnos </a:t>
            </a:r>
            <a:endParaRPr lang="es-CL"/>
          </a:p>
        </p:txBody>
      </p:sp>
      <p:pic>
        <p:nvPicPr>
          <p:cNvPr id="5" name="Imagen 4">
            <a:extLst>
              <a:ext uri="{FF2B5EF4-FFF2-40B4-BE49-F238E27FC236}">
                <a16:creationId xmlns:a16="http://schemas.microsoft.com/office/drawing/2014/main" id="{24F452D6-655A-0B95-1F66-A0919744B05E}"/>
              </a:ext>
            </a:extLst>
          </p:cNvPr>
          <p:cNvPicPr>
            <a:picLocks noChangeAspect="1"/>
          </p:cNvPicPr>
          <p:nvPr/>
        </p:nvPicPr>
        <p:blipFill>
          <a:blip r:embed="rId2"/>
          <a:stretch>
            <a:fillRect/>
          </a:stretch>
        </p:blipFill>
        <p:spPr>
          <a:xfrm>
            <a:off x="1299044" y="1380745"/>
            <a:ext cx="9593912" cy="3500010"/>
          </a:xfrm>
          <a:prstGeom prst="rect">
            <a:avLst/>
          </a:prstGeom>
        </p:spPr>
      </p:pic>
    </p:spTree>
    <p:extLst>
      <p:ext uri="{BB962C8B-B14F-4D97-AF65-F5344CB8AC3E}">
        <p14:creationId xmlns:p14="http://schemas.microsoft.com/office/powerpoint/2010/main" val="16466313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4578F-1680-9A53-CBD5-7EEB81AB86BA}"/>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7ECB78FF-0ADD-B923-EBBB-A35F92373995}"/>
              </a:ext>
            </a:extLst>
          </p:cNvPr>
          <p:cNvSpPr txBox="1"/>
          <p:nvPr/>
        </p:nvSpPr>
        <p:spPr>
          <a:xfrm>
            <a:off x="693025" y="1983784"/>
            <a:ext cx="10709543" cy="1938992"/>
          </a:xfrm>
          <a:prstGeom prst="rect">
            <a:avLst/>
          </a:prstGeom>
          <a:noFill/>
        </p:spPr>
        <p:txBody>
          <a:bodyPr wrap="square">
            <a:spAutoFit/>
          </a:bodyPr>
          <a:lstStyle/>
          <a:p>
            <a:r>
              <a:rPr lang="es-CO" sz="6000" b="1">
                <a:solidFill>
                  <a:schemeClr val="bg1"/>
                </a:solidFill>
              </a:rPr>
              <a:t>Asignación Planes de Pago</a:t>
            </a:r>
          </a:p>
          <a:p>
            <a:r>
              <a:rPr lang="es-CO" sz="6000" b="1">
                <a:solidFill>
                  <a:schemeClr val="bg1"/>
                </a:solidFill>
              </a:rPr>
              <a:t>Automáticos (PPA)</a:t>
            </a:r>
            <a:endParaRPr lang="en-US" sz="6000" b="1">
              <a:solidFill>
                <a:schemeClr val="bg1"/>
              </a:solidFill>
            </a:endParaRPr>
          </a:p>
        </p:txBody>
      </p:sp>
      <p:sp>
        <p:nvSpPr>
          <p:cNvPr id="2" name="Text Placeholder 16">
            <a:extLst>
              <a:ext uri="{FF2B5EF4-FFF2-40B4-BE49-F238E27FC236}">
                <a16:creationId xmlns:a16="http://schemas.microsoft.com/office/drawing/2014/main" id="{17A5A718-3F0E-3D4B-FF32-D67F004B74CA}"/>
              </a:ext>
            </a:extLst>
          </p:cNvPr>
          <p:cNvSpPr txBox="1">
            <a:spLocks/>
          </p:cNvSpPr>
          <p:nvPr/>
        </p:nvSpPr>
        <p:spPr>
          <a:xfrm>
            <a:off x="693025" y="4343615"/>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a:solidFill>
                  <a:schemeClr val="bg1"/>
                </a:solidFill>
              </a:rPr>
              <a:t>Gestionar los planes de pago</a:t>
            </a:r>
          </a:p>
        </p:txBody>
      </p:sp>
    </p:spTree>
    <p:extLst>
      <p:ext uri="{BB962C8B-B14F-4D97-AF65-F5344CB8AC3E}">
        <p14:creationId xmlns:p14="http://schemas.microsoft.com/office/powerpoint/2010/main" val="36178060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E49DC-6D11-5823-2182-43EFB058045B}"/>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92FDCED6-9585-03CA-C0F2-4272724DE42B}"/>
              </a:ext>
            </a:extLst>
          </p:cNvPr>
          <p:cNvSpPr/>
          <p:nvPr/>
        </p:nvSpPr>
        <p:spPr>
          <a:xfrm>
            <a:off x="896112" y="5121027"/>
            <a:ext cx="10399776" cy="84047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a:t>Generación de cargos:</a:t>
            </a:r>
          </a:p>
          <a:p>
            <a:pPr algn="just"/>
            <a:r>
              <a:rPr lang="es-CO" sz="1200"/>
              <a:t>En la Página TSAAREV se puede evidenciar el cargo por concepto de matrícula e inscripción generado para un estudiante.</a:t>
            </a:r>
          </a:p>
        </p:txBody>
      </p:sp>
      <p:sp>
        <p:nvSpPr>
          <p:cNvPr id="3" name="Título 3">
            <a:extLst>
              <a:ext uri="{FF2B5EF4-FFF2-40B4-BE49-F238E27FC236}">
                <a16:creationId xmlns:a16="http://schemas.microsoft.com/office/drawing/2014/main" id="{908377E3-7266-29A1-D3FD-F0300B69F003}"/>
              </a:ext>
            </a:extLst>
          </p:cNvPr>
          <p:cNvSpPr txBox="1">
            <a:spLocks/>
          </p:cNvSpPr>
          <p:nvPr/>
        </p:nvSpPr>
        <p:spPr>
          <a:xfrm>
            <a:off x="685564" y="312900"/>
            <a:ext cx="1096389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Escenario Previo: </a:t>
            </a:r>
            <a:r>
              <a:rPr lang="es-CO" sz="3200"/>
              <a:t>TSAAREV - Revisión de detalle de cuenta - alumnos </a:t>
            </a:r>
            <a:endParaRPr lang="es-CL"/>
          </a:p>
        </p:txBody>
      </p:sp>
      <p:pic>
        <p:nvPicPr>
          <p:cNvPr id="5" name="Imagen 4">
            <a:extLst>
              <a:ext uri="{FF2B5EF4-FFF2-40B4-BE49-F238E27FC236}">
                <a16:creationId xmlns:a16="http://schemas.microsoft.com/office/drawing/2014/main" id="{105E2C0E-E9D9-563C-2AC9-E7574D5DB38E}"/>
              </a:ext>
            </a:extLst>
          </p:cNvPr>
          <p:cNvPicPr>
            <a:picLocks noChangeAspect="1"/>
          </p:cNvPicPr>
          <p:nvPr/>
        </p:nvPicPr>
        <p:blipFill>
          <a:blip r:embed="rId2"/>
          <a:stretch>
            <a:fillRect/>
          </a:stretch>
        </p:blipFill>
        <p:spPr>
          <a:xfrm>
            <a:off x="839460" y="1417320"/>
            <a:ext cx="10513080" cy="3413053"/>
          </a:xfrm>
          <a:prstGeom prst="rect">
            <a:avLst/>
          </a:prstGeom>
        </p:spPr>
      </p:pic>
    </p:spTree>
    <p:extLst>
      <p:ext uri="{BB962C8B-B14F-4D97-AF65-F5344CB8AC3E}">
        <p14:creationId xmlns:p14="http://schemas.microsoft.com/office/powerpoint/2010/main" val="8250123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861BE-26F7-5705-C8A3-2F0CE51DE3C2}"/>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041092C5-52D3-69BC-3E43-0B360B720A95}"/>
              </a:ext>
            </a:extLst>
          </p:cNvPr>
          <p:cNvSpPr/>
          <p:nvPr/>
        </p:nvSpPr>
        <p:spPr>
          <a:xfrm>
            <a:off x="934212" y="5004122"/>
            <a:ext cx="10323576" cy="108613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a:t>Generación de cargos:</a:t>
            </a:r>
          </a:p>
          <a:p>
            <a:pPr algn="just"/>
            <a:endParaRPr lang="es-CO" sz="1200" b="1"/>
          </a:p>
          <a:p>
            <a:pPr algn="just"/>
            <a:r>
              <a:rPr lang="es-CO" sz="1200"/>
              <a:t>En la Página TSAAREV se puede evidenciar los cargos por concepto de inscripción y matrícula generados para un segundo estudiante, además de una asignación de una Exención y un Contrato por el 50% en cada concepto.</a:t>
            </a:r>
          </a:p>
        </p:txBody>
      </p:sp>
      <p:pic>
        <p:nvPicPr>
          <p:cNvPr id="6" name="Imagen 5">
            <a:extLst>
              <a:ext uri="{FF2B5EF4-FFF2-40B4-BE49-F238E27FC236}">
                <a16:creationId xmlns:a16="http://schemas.microsoft.com/office/drawing/2014/main" id="{5EB699B3-2E41-51D3-9630-CFD7DC2FFC7B}"/>
              </a:ext>
            </a:extLst>
          </p:cNvPr>
          <p:cNvPicPr>
            <a:picLocks noChangeAspect="1"/>
          </p:cNvPicPr>
          <p:nvPr/>
        </p:nvPicPr>
        <p:blipFill>
          <a:blip r:embed="rId2"/>
          <a:stretch>
            <a:fillRect/>
          </a:stretch>
        </p:blipFill>
        <p:spPr>
          <a:xfrm>
            <a:off x="1179576" y="1310812"/>
            <a:ext cx="9832848" cy="3505133"/>
          </a:xfrm>
          <a:prstGeom prst="rect">
            <a:avLst/>
          </a:prstGeom>
        </p:spPr>
      </p:pic>
      <p:sp>
        <p:nvSpPr>
          <p:cNvPr id="7" name="Título 3">
            <a:extLst>
              <a:ext uri="{FF2B5EF4-FFF2-40B4-BE49-F238E27FC236}">
                <a16:creationId xmlns:a16="http://schemas.microsoft.com/office/drawing/2014/main" id="{0FA9005C-4E55-0153-1147-7A41C7421A03}"/>
              </a:ext>
            </a:extLst>
          </p:cNvPr>
          <p:cNvSpPr txBox="1">
            <a:spLocks/>
          </p:cNvSpPr>
          <p:nvPr/>
        </p:nvSpPr>
        <p:spPr>
          <a:xfrm>
            <a:off x="685564" y="312900"/>
            <a:ext cx="10963891"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Escenario Previo: </a:t>
            </a:r>
            <a:r>
              <a:rPr lang="es-CO" sz="3200"/>
              <a:t>TSAAREV - Revisión de detalle de cuenta - alumnos </a:t>
            </a:r>
            <a:endParaRPr lang="es-CL"/>
          </a:p>
        </p:txBody>
      </p:sp>
    </p:spTree>
    <p:extLst>
      <p:ext uri="{BB962C8B-B14F-4D97-AF65-F5344CB8AC3E}">
        <p14:creationId xmlns:p14="http://schemas.microsoft.com/office/powerpoint/2010/main" val="1827551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54EE2-93B4-6DFA-BA7D-A0AFBF659745}"/>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C063B1D7-4AE1-512E-2118-07117E4A9E12}"/>
              </a:ext>
            </a:extLst>
          </p:cNvPr>
          <p:cNvSpPr/>
          <p:nvPr/>
        </p:nvSpPr>
        <p:spPr>
          <a:xfrm>
            <a:off x="934212" y="5004122"/>
            <a:ext cx="10323576" cy="108613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a:t>Generación de cargos:</a:t>
            </a:r>
          </a:p>
          <a:p>
            <a:pPr algn="just"/>
            <a:endParaRPr lang="es-CO" sz="1200"/>
          </a:p>
          <a:p>
            <a:pPr algn="just"/>
            <a:r>
              <a:rPr lang="es-CO" sz="1200"/>
              <a:t>En la Página TSAAREV se puede evidenciar los cargos por concepto de inscripción y matrícula generados para un tercer estudiante, con la asignación de solo un contrato por 50%. </a:t>
            </a:r>
          </a:p>
          <a:p>
            <a:pPr algn="just"/>
            <a:endParaRPr lang="es-CO" sz="1200"/>
          </a:p>
        </p:txBody>
      </p:sp>
      <p:sp>
        <p:nvSpPr>
          <p:cNvPr id="7" name="Título 3">
            <a:extLst>
              <a:ext uri="{FF2B5EF4-FFF2-40B4-BE49-F238E27FC236}">
                <a16:creationId xmlns:a16="http://schemas.microsoft.com/office/drawing/2014/main" id="{18086964-C1FC-B495-52E4-D83481D33DCD}"/>
              </a:ext>
            </a:extLst>
          </p:cNvPr>
          <p:cNvSpPr txBox="1">
            <a:spLocks/>
          </p:cNvSpPr>
          <p:nvPr/>
        </p:nvSpPr>
        <p:spPr>
          <a:xfrm>
            <a:off x="685564" y="312900"/>
            <a:ext cx="10963891"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Escenario Previo: </a:t>
            </a:r>
            <a:r>
              <a:rPr lang="es-CO" sz="3200"/>
              <a:t>TSAAREV - Revisión de detalle de cuenta - alumnos </a:t>
            </a:r>
            <a:endParaRPr lang="es-CL"/>
          </a:p>
        </p:txBody>
      </p:sp>
      <p:pic>
        <p:nvPicPr>
          <p:cNvPr id="3" name="Imagen 2">
            <a:extLst>
              <a:ext uri="{FF2B5EF4-FFF2-40B4-BE49-F238E27FC236}">
                <a16:creationId xmlns:a16="http://schemas.microsoft.com/office/drawing/2014/main" id="{800F0AA2-5021-4231-CEEC-85502E265C99}"/>
              </a:ext>
            </a:extLst>
          </p:cNvPr>
          <p:cNvPicPr>
            <a:picLocks noChangeAspect="1"/>
          </p:cNvPicPr>
          <p:nvPr/>
        </p:nvPicPr>
        <p:blipFill>
          <a:blip r:embed="rId2"/>
          <a:stretch>
            <a:fillRect/>
          </a:stretch>
        </p:blipFill>
        <p:spPr>
          <a:xfrm>
            <a:off x="1006491" y="1389888"/>
            <a:ext cx="10179018" cy="3472779"/>
          </a:xfrm>
          <a:prstGeom prst="rect">
            <a:avLst/>
          </a:prstGeom>
        </p:spPr>
      </p:pic>
    </p:spTree>
    <p:extLst>
      <p:ext uri="{BB962C8B-B14F-4D97-AF65-F5344CB8AC3E}">
        <p14:creationId xmlns:p14="http://schemas.microsoft.com/office/powerpoint/2010/main" val="2524950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B0970-AA0C-FDB6-AD70-35715419B8C4}"/>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4BAE013A-AF30-BF5B-1450-2963E3EBD760}"/>
              </a:ext>
            </a:extLst>
          </p:cNvPr>
          <p:cNvSpPr/>
          <p:nvPr/>
        </p:nvSpPr>
        <p:spPr>
          <a:xfrm>
            <a:off x="980694" y="4626864"/>
            <a:ext cx="10230612" cy="118179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a:t>Selección de Población:</a:t>
            </a:r>
          </a:p>
          <a:p>
            <a:pPr algn="just"/>
            <a:endParaRPr lang="es-CO" sz="1200"/>
          </a:p>
          <a:p>
            <a:pPr algn="just"/>
            <a:r>
              <a:rPr lang="es-CO" sz="1200"/>
              <a:t>Se realiza una selección de población con el conjunto de estudiantes a los cuales se desea evaluar la asignación masiva de los planes de pago automáticos configurados.</a:t>
            </a:r>
          </a:p>
          <a:p>
            <a:pPr algn="just"/>
            <a:endParaRPr lang="es-CO" sz="1200"/>
          </a:p>
        </p:txBody>
      </p:sp>
      <p:pic>
        <p:nvPicPr>
          <p:cNvPr id="6" name="Imagen 5">
            <a:extLst>
              <a:ext uri="{FF2B5EF4-FFF2-40B4-BE49-F238E27FC236}">
                <a16:creationId xmlns:a16="http://schemas.microsoft.com/office/drawing/2014/main" id="{CCC6BFB8-FCE6-D28E-193D-FDD81BF7D4F2}"/>
              </a:ext>
            </a:extLst>
          </p:cNvPr>
          <p:cNvPicPr>
            <a:picLocks noChangeAspect="1"/>
          </p:cNvPicPr>
          <p:nvPr/>
        </p:nvPicPr>
        <p:blipFill>
          <a:blip r:embed="rId2"/>
          <a:stretch>
            <a:fillRect/>
          </a:stretch>
        </p:blipFill>
        <p:spPr>
          <a:xfrm>
            <a:off x="1066560" y="1888512"/>
            <a:ext cx="10058880" cy="1996059"/>
          </a:xfrm>
          <a:prstGeom prst="rect">
            <a:avLst/>
          </a:prstGeom>
        </p:spPr>
      </p:pic>
      <p:sp>
        <p:nvSpPr>
          <p:cNvPr id="7" name="Título 3">
            <a:extLst>
              <a:ext uri="{FF2B5EF4-FFF2-40B4-BE49-F238E27FC236}">
                <a16:creationId xmlns:a16="http://schemas.microsoft.com/office/drawing/2014/main" id="{7E0B0E46-680D-9267-4766-68EDD30AE5B5}"/>
              </a:ext>
            </a:extLst>
          </p:cNvPr>
          <p:cNvSpPr txBox="1">
            <a:spLocks/>
          </p:cNvSpPr>
          <p:nvPr/>
        </p:nvSpPr>
        <p:spPr>
          <a:xfrm>
            <a:off x="685564" y="312900"/>
            <a:ext cx="10963891"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Escenario Previo: </a:t>
            </a:r>
            <a:r>
              <a:rPr lang="es-CO" sz="3200"/>
              <a:t>GLAEXTR Datos de extracción de selección de Población</a:t>
            </a:r>
            <a:endParaRPr lang="es-CL"/>
          </a:p>
        </p:txBody>
      </p:sp>
    </p:spTree>
    <p:extLst>
      <p:ext uri="{BB962C8B-B14F-4D97-AF65-F5344CB8AC3E}">
        <p14:creationId xmlns:p14="http://schemas.microsoft.com/office/powerpoint/2010/main" val="5883835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A6DC3-B3C2-133F-3E78-E2DF8DCE6BC0}"/>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946AA5D6-3EC6-8747-0AF3-1284D5A03865}"/>
              </a:ext>
            </a:extLst>
          </p:cNvPr>
          <p:cNvSpPr/>
          <p:nvPr/>
        </p:nvSpPr>
        <p:spPr>
          <a:xfrm>
            <a:off x="1069848" y="5696712"/>
            <a:ext cx="10056864" cy="62401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El proceso </a:t>
            </a:r>
            <a:r>
              <a:rPr lang="es-CO" sz="1200" b="1"/>
              <a:t>TSPISTA</a:t>
            </a:r>
            <a:r>
              <a:rPr lang="es-CO" sz="1200"/>
              <a:t> tiene por objetivo asignar a los estudiantes los planes de pago automáticos a los cuales estén cumpliendo las reglas de asignación configuradas en cada uno. Eso puede ser realizado de forma masiva o utilizando la selección de población.</a:t>
            </a:r>
          </a:p>
        </p:txBody>
      </p:sp>
      <p:sp>
        <p:nvSpPr>
          <p:cNvPr id="7" name="Título 3">
            <a:extLst>
              <a:ext uri="{FF2B5EF4-FFF2-40B4-BE49-F238E27FC236}">
                <a16:creationId xmlns:a16="http://schemas.microsoft.com/office/drawing/2014/main" id="{86491995-FEED-4A96-62C0-5C5E56A81D21}"/>
              </a:ext>
            </a:extLst>
          </p:cNvPr>
          <p:cNvSpPr txBox="1">
            <a:spLocks/>
          </p:cNvSpPr>
          <p:nvPr/>
        </p:nvSpPr>
        <p:spPr>
          <a:xfrm>
            <a:off x="685564" y="312900"/>
            <a:ext cx="10963891"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TSPISTA - Proceso de asignación del Plan de Pagos automático</a:t>
            </a:r>
            <a:endParaRPr lang="es-CL"/>
          </a:p>
        </p:txBody>
      </p:sp>
      <p:pic>
        <p:nvPicPr>
          <p:cNvPr id="3" name="Imagen 2">
            <a:extLst>
              <a:ext uri="{FF2B5EF4-FFF2-40B4-BE49-F238E27FC236}">
                <a16:creationId xmlns:a16="http://schemas.microsoft.com/office/drawing/2014/main" id="{F1F8E805-259D-23CA-1C62-C8D5B2303376}"/>
              </a:ext>
            </a:extLst>
          </p:cNvPr>
          <p:cNvPicPr>
            <a:picLocks noChangeAspect="1"/>
          </p:cNvPicPr>
          <p:nvPr/>
        </p:nvPicPr>
        <p:blipFill>
          <a:blip r:embed="rId2"/>
          <a:stretch>
            <a:fillRect/>
          </a:stretch>
        </p:blipFill>
        <p:spPr>
          <a:xfrm>
            <a:off x="1069848" y="1227746"/>
            <a:ext cx="10056864" cy="4402508"/>
          </a:xfrm>
          <a:prstGeom prst="rect">
            <a:avLst/>
          </a:prstGeom>
        </p:spPr>
      </p:pic>
    </p:spTree>
    <p:extLst>
      <p:ext uri="{BB962C8B-B14F-4D97-AF65-F5344CB8AC3E}">
        <p14:creationId xmlns:p14="http://schemas.microsoft.com/office/powerpoint/2010/main" val="23618844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96EBD-B0DF-FC5A-494F-D68018B870A9}"/>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5D4FB068-35E4-241D-C59E-7B4BBD05B772}"/>
              </a:ext>
            </a:extLst>
          </p:cNvPr>
          <p:cNvSpPr/>
          <p:nvPr/>
        </p:nvSpPr>
        <p:spPr>
          <a:xfrm>
            <a:off x="902208" y="5769864"/>
            <a:ext cx="10387584" cy="67987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a:t>1. En la primera sección se debe definir el parámetro </a:t>
            </a:r>
            <a:r>
              <a:rPr lang="es-ES_tradnl" sz="1200" b="1"/>
              <a:t>DATABASE</a:t>
            </a:r>
            <a:r>
              <a:rPr lang="es-ES_tradnl" sz="1200"/>
              <a:t> en el campo “impresora”.</a:t>
            </a:r>
            <a:endParaRPr lang="en-US" sz="1200">
              <a:cs typeface="Arial" panose="020B0604020202020204"/>
            </a:endParaRPr>
          </a:p>
          <a:p>
            <a:r>
              <a:rPr lang="es-ES_tradnl" sz="1200"/>
              <a:t>2. En la segunda sección se deben ingresar los parámetros de configuración.</a:t>
            </a:r>
          </a:p>
          <a:p>
            <a:r>
              <a:rPr lang="es-ES_tradnl" sz="1200">
                <a:cs typeface="Arial" panose="020B0604020202020204"/>
              </a:rPr>
              <a:t>3. En la tercera sección se recomienda </a:t>
            </a:r>
            <a:r>
              <a:rPr lang="es-ES_tradnl" sz="1200"/>
              <a:t>activar el </a:t>
            </a:r>
            <a:r>
              <a:rPr lang="es-ES_tradnl" sz="1200" err="1"/>
              <a:t>check</a:t>
            </a:r>
            <a:r>
              <a:rPr lang="es-ES_tradnl" sz="1200"/>
              <a:t> “</a:t>
            </a:r>
            <a:r>
              <a:rPr lang="es-ES_tradnl" sz="1200" b="1"/>
              <a:t>guardar parámetros como</a:t>
            </a:r>
            <a:r>
              <a:rPr lang="es-ES_tradnl" sz="1200"/>
              <a:t>”, y presionar el botón “</a:t>
            </a:r>
            <a:r>
              <a:rPr lang="es-ES_tradnl" sz="1200" b="1"/>
              <a:t>Guardar”</a:t>
            </a:r>
            <a:r>
              <a:rPr lang="es-ES_tradnl" sz="1200"/>
              <a:t> para ejecutar el proceso.</a:t>
            </a:r>
            <a:endParaRPr lang="es-ES_tradnl" sz="1200">
              <a:cs typeface="Arial" panose="020B0604020202020204"/>
            </a:endParaRPr>
          </a:p>
        </p:txBody>
      </p:sp>
      <p:sp>
        <p:nvSpPr>
          <p:cNvPr id="7" name="Título 3">
            <a:extLst>
              <a:ext uri="{FF2B5EF4-FFF2-40B4-BE49-F238E27FC236}">
                <a16:creationId xmlns:a16="http://schemas.microsoft.com/office/drawing/2014/main" id="{AF841D1D-040B-622C-1C4B-71E31AD1C8B2}"/>
              </a:ext>
            </a:extLst>
          </p:cNvPr>
          <p:cNvSpPr txBox="1">
            <a:spLocks/>
          </p:cNvSpPr>
          <p:nvPr/>
        </p:nvSpPr>
        <p:spPr>
          <a:xfrm>
            <a:off x="712404" y="169875"/>
            <a:ext cx="10963891"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TSPISTA - Proceso de asignación del Plan de Pagos automático</a:t>
            </a:r>
            <a:endParaRPr lang="es-CL"/>
          </a:p>
        </p:txBody>
      </p:sp>
      <p:pic>
        <p:nvPicPr>
          <p:cNvPr id="5" name="Imagen 4">
            <a:extLst>
              <a:ext uri="{FF2B5EF4-FFF2-40B4-BE49-F238E27FC236}">
                <a16:creationId xmlns:a16="http://schemas.microsoft.com/office/drawing/2014/main" id="{74D95121-1BC9-B985-F13E-C7D656A9F6BD}"/>
              </a:ext>
            </a:extLst>
          </p:cNvPr>
          <p:cNvPicPr>
            <a:picLocks noChangeAspect="1"/>
          </p:cNvPicPr>
          <p:nvPr/>
        </p:nvPicPr>
        <p:blipFill>
          <a:blip r:embed="rId2"/>
          <a:stretch>
            <a:fillRect/>
          </a:stretch>
        </p:blipFill>
        <p:spPr>
          <a:xfrm>
            <a:off x="1099027" y="1088136"/>
            <a:ext cx="9993780" cy="4337218"/>
          </a:xfrm>
          <a:prstGeom prst="rect">
            <a:avLst/>
          </a:prstGeom>
        </p:spPr>
      </p:pic>
      <p:pic>
        <p:nvPicPr>
          <p:cNvPr id="8" name="Imagen 7">
            <a:extLst>
              <a:ext uri="{FF2B5EF4-FFF2-40B4-BE49-F238E27FC236}">
                <a16:creationId xmlns:a16="http://schemas.microsoft.com/office/drawing/2014/main" id="{1DCE0403-4869-EBE9-D8F4-6D6685CCE9D3}"/>
              </a:ext>
            </a:extLst>
          </p:cNvPr>
          <p:cNvPicPr>
            <a:picLocks noChangeAspect="1"/>
          </p:cNvPicPr>
          <p:nvPr/>
        </p:nvPicPr>
        <p:blipFill>
          <a:blip r:embed="rId3"/>
          <a:stretch>
            <a:fillRect/>
          </a:stretch>
        </p:blipFill>
        <p:spPr>
          <a:xfrm>
            <a:off x="1356241" y="5320898"/>
            <a:ext cx="9621354" cy="339871"/>
          </a:xfrm>
          <a:prstGeom prst="rect">
            <a:avLst/>
          </a:prstGeom>
        </p:spPr>
      </p:pic>
      <p:pic>
        <p:nvPicPr>
          <p:cNvPr id="10" name="Imagen 9">
            <a:extLst>
              <a:ext uri="{FF2B5EF4-FFF2-40B4-BE49-F238E27FC236}">
                <a16:creationId xmlns:a16="http://schemas.microsoft.com/office/drawing/2014/main" id="{E254ABF6-D78A-EE63-7D25-5FDD544C6C8B}"/>
              </a:ext>
            </a:extLst>
          </p:cNvPr>
          <p:cNvPicPr>
            <a:picLocks noChangeAspect="1"/>
          </p:cNvPicPr>
          <p:nvPr/>
        </p:nvPicPr>
        <p:blipFill>
          <a:blip r:embed="rId4"/>
          <a:stretch>
            <a:fillRect/>
          </a:stretch>
        </p:blipFill>
        <p:spPr>
          <a:xfrm>
            <a:off x="902208" y="3103889"/>
            <a:ext cx="162000" cy="162000"/>
          </a:xfrm>
          <a:prstGeom prst="rect">
            <a:avLst/>
          </a:prstGeom>
        </p:spPr>
      </p:pic>
      <p:pic>
        <p:nvPicPr>
          <p:cNvPr id="12" name="Imagen 11">
            <a:extLst>
              <a:ext uri="{FF2B5EF4-FFF2-40B4-BE49-F238E27FC236}">
                <a16:creationId xmlns:a16="http://schemas.microsoft.com/office/drawing/2014/main" id="{2D2AB6F2-E1F4-0923-D36B-CD369B1A12FC}"/>
              </a:ext>
            </a:extLst>
          </p:cNvPr>
          <p:cNvPicPr>
            <a:picLocks noChangeAspect="1"/>
          </p:cNvPicPr>
          <p:nvPr/>
        </p:nvPicPr>
        <p:blipFill>
          <a:blip r:embed="rId5"/>
          <a:stretch>
            <a:fillRect/>
          </a:stretch>
        </p:blipFill>
        <p:spPr>
          <a:xfrm>
            <a:off x="1194241" y="2114435"/>
            <a:ext cx="162000" cy="162000"/>
          </a:xfrm>
          <a:prstGeom prst="rect">
            <a:avLst/>
          </a:prstGeom>
        </p:spPr>
      </p:pic>
      <p:pic>
        <p:nvPicPr>
          <p:cNvPr id="14" name="Imagen 13">
            <a:extLst>
              <a:ext uri="{FF2B5EF4-FFF2-40B4-BE49-F238E27FC236}">
                <a16:creationId xmlns:a16="http://schemas.microsoft.com/office/drawing/2014/main" id="{7407B47F-5BB7-343F-1063-0B2D911A577F}"/>
              </a:ext>
            </a:extLst>
          </p:cNvPr>
          <p:cNvPicPr>
            <a:picLocks noChangeAspect="1"/>
          </p:cNvPicPr>
          <p:nvPr/>
        </p:nvPicPr>
        <p:blipFill>
          <a:blip r:embed="rId6"/>
          <a:stretch>
            <a:fillRect/>
          </a:stretch>
        </p:blipFill>
        <p:spPr>
          <a:xfrm>
            <a:off x="1625539" y="4959211"/>
            <a:ext cx="162000" cy="162000"/>
          </a:xfrm>
          <a:prstGeom prst="rect">
            <a:avLst/>
          </a:prstGeom>
        </p:spPr>
      </p:pic>
    </p:spTree>
    <p:extLst>
      <p:ext uri="{BB962C8B-B14F-4D97-AF65-F5344CB8AC3E}">
        <p14:creationId xmlns:p14="http://schemas.microsoft.com/office/powerpoint/2010/main" val="19337251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23385-686A-1501-2952-FF6C9A6E8BE7}"/>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B3A14F96-4E05-C3B0-FCC5-4E3A9606EC55}"/>
              </a:ext>
            </a:extLst>
          </p:cNvPr>
          <p:cNvSpPr/>
          <p:nvPr/>
        </p:nvSpPr>
        <p:spPr>
          <a:xfrm>
            <a:off x="1110996" y="5306759"/>
            <a:ext cx="10098024" cy="112793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a:cs typeface="Arial" panose="020B0604020202020204"/>
              </a:rPr>
              <a:t>En la segunda sección – Valores de Parámetro:</a:t>
            </a:r>
          </a:p>
          <a:p>
            <a:r>
              <a:rPr lang="es-CO" sz="1200" b="1">
                <a:cs typeface="Arial" panose="020B0604020202020204"/>
              </a:rPr>
              <a:t>01. </a:t>
            </a:r>
            <a:r>
              <a:rPr lang="es-CO" sz="1200">
                <a:cs typeface="Arial" panose="020B0604020202020204"/>
              </a:rPr>
              <a:t>Corresponde al periodo académico en el cual se evaluaría la asignación de los planes de pago automáticos en función a las variables académicas de los estudiantes.</a:t>
            </a:r>
          </a:p>
          <a:p>
            <a:r>
              <a:rPr lang="es-CO" sz="1200" b="1">
                <a:cs typeface="Arial" panose="020B0604020202020204"/>
              </a:rPr>
              <a:t>02 . </a:t>
            </a:r>
            <a:r>
              <a:rPr lang="es-CO" sz="1200">
                <a:cs typeface="Arial" panose="020B0604020202020204"/>
              </a:rPr>
              <a:t>Corresponde al plan de pago automático en particular que se desea aplicar (Opcional).</a:t>
            </a:r>
          </a:p>
          <a:p>
            <a:r>
              <a:rPr lang="es-CO" sz="1200" b="1">
                <a:cs typeface="Arial" panose="020B0604020202020204"/>
              </a:rPr>
              <a:t>03 – 04 - 05 y 06 </a:t>
            </a:r>
            <a:r>
              <a:rPr lang="es-CO" sz="1200">
                <a:cs typeface="Arial" panose="020B0604020202020204"/>
              </a:rPr>
              <a:t>– Corresponden a los parámetros de identificación de la selección de población a utilizar (Opcional).</a:t>
            </a:r>
          </a:p>
        </p:txBody>
      </p:sp>
      <p:sp>
        <p:nvSpPr>
          <p:cNvPr id="7" name="Título 3">
            <a:extLst>
              <a:ext uri="{FF2B5EF4-FFF2-40B4-BE49-F238E27FC236}">
                <a16:creationId xmlns:a16="http://schemas.microsoft.com/office/drawing/2014/main" id="{5092BB6E-887A-248C-7F06-9A7511A237F6}"/>
              </a:ext>
            </a:extLst>
          </p:cNvPr>
          <p:cNvSpPr txBox="1">
            <a:spLocks/>
          </p:cNvSpPr>
          <p:nvPr/>
        </p:nvSpPr>
        <p:spPr>
          <a:xfrm>
            <a:off x="685564" y="105292"/>
            <a:ext cx="10963891"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TSPISTA - Proceso de asignación del Plan de Pagos automático</a:t>
            </a:r>
            <a:endParaRPr lang="es-CL"/>
          </a:p>
        </p:txBody>
      </p:sp>
      <p:pic>
        <p:nvPicPr>
          <p:cNvPr id="6" name="Imagen 5">
            <a:extLst>
              <a:ext uri="{FF2B5EF4-FFF2-40B4-BE49-F238E27FC236}">
                <a16:creationId xmlns:a16="http://schemas.microsoft.com/office/drawing/2014/main" id="{363EAB24-1B5D-3313-A707-03FDB36C8BCB}"/>
              </a:ext>
            </a:extLst>
          </p:cNvPr>
          <p:cNvPicPr>
            <a:picLocks noChangeAspect="1"/>
          </p:cNvPicPr>
          <p:nvPr/>
        </p:nvPicPr>
        <p:blipFill>
          <a:blip r:embed="rId2"/>
          <a:stretch>
            <a:fillRect/>
          </a:stretch>
        </p:blipFill>
        <p:spPr>
          <a:xfrm>
            <a:off x="1289186" y="987275"/>
            <a:ext cx="9613628" cy="4185287"/>
          </a:xfrm>
          <a:prstGeom prst="rect">
            <a:avLst/>
          </a:prstGeom>
        </p:spPr>
      </p:pic>
    </p:spTree>
    <p:extLst>
      <p:ext uri="{BB962C8B-B14F-4D97-AF65-F5344CB8AC3E}">
        <p14:creationId xmlns:p14="http://schemas.microsoft.com/office/powerpoint/2010/main" val="6955750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F0446-1FE9-CBDC-68F9-B89B9C691240}"/>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246815DE-CDF0-1DA8-3F0F-80D3BD17AD04}"/>
              </a:ext>
            </a:extLst>
          </p:cNvPr>
          <p:cNvSpPr/>
          <p:nvPr/>
        </p:nvSpPr>
        <p:spPr>
          <a:xfrm>
            <a:off x="685564" y="4178807"/>
            <a:ext cx="7027164" cy="46365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cs typeface="Arial" panose="020B0604020202020204"/>
              </a:rPr>
              <a:t>Confirmación de la ejecución del proceso TSPISTA, generación de los archivos .LIS y .LOG</a:t>
            </a:r>
          </a:p>
        </p:txBody>
      </p:sp>
      <p:sp>
        <p:nvSpPr>
          <p:cNvPr id="7" name="Título 3">
            <a:extLst>
              <a:ext uri="{FF2B5EF4-FFF2-40B4-BE49-F238E27FC236}">
                <a16:creationId xmlns:a16="http://schemas.microsoft.com/office/drawing/2014/main" id="{7CFA2423-8FC8-1580-BAD0-3F4F32E90410}"/>
              </a:ext>
            </a:extLst>
          </p:cNvPr>
          <p:cNvSpPr txBox="1">
            <a:spLocks/>
          </p:cNvSpPr>
          <p:nvPr/>
        </p:nvSpPr>
        <p:spPr>
          <a:xfrm>
            <a:off x="614054" y="306460"/>
            <a:ext cx="10963891"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TSPISTA - Proceso de asignación del Plan de Pagos automático</a:t>
            </a:r>
            <a:endParaRPr lang="es-CL"/>
          </a:p>
        </p:txBody>
      </p:sp>
      <p:pic>
        <p:nvPicPr>
          <p:cNvPr id="3" name="Imagen 2">
            <a:extLst>
              <a:ext uri="{FF2B5EF4-FFF2-40B4-BE49-F238E27FC236}">
                <a16:creationId xmlns:a16="http://schemas.microsoft.com/office/drawing/2014/main" id="{1F3C9A20-9356-EE4C-8B0E-2C3BD87A607F}"/>
              </a:ext>
            </a:extLst>
          </p:cNvPr>
          <p:cNvPicPr>
            <a:picLocks noChangeAspect="1"/>
          </p:cNvPicPr>
          <p:nvPr/>
        </p:nvPicPr>
        <p:blipFill>
          <a:blip r:embed="rId2"/>
          <a:stretch>
            <a:fillRect/>
          </a:stretch>
        </p:blipFill>
        <p:spPr>
          <a:xfrm>
            <a:off x="743912" y="2112909"/>
            <a:ext cx="10704176" cy="1736715"/>
          </a:xfrm>
          <a:prstGeom prst="rect">
            <a:avLst/>
          </a:prstGeom>
        </p:spPr>
      </p:pic>
    </p:spTree>
    <p:extLst>
      <p:ext uri="{BB962C8B-B14F-4D97-AF65-F5344CB8AC3E}">
        <p14:creationId xmlns:p14="http://schemas.microsoft.com/office/powerpoint/2010/main" val="6511171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96B9-407B-4EA5-2331-0759E28DB516}"/>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93E1CD87-9174-6F71-5040-1942C1A64373}"/>
              </a:ext>
            </a:extLst>
          </p:cNvPr>
          <p:cNvSpPr/>
          <p:nvPr/>
        </p:nvSpPr>
        <p:spPr>
          <a:xfrm>
            <a:off x="775833" y="5481040"/>
            <a:ext cx="10545536" cy="84660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a:t>Revisión salida en GJIREVO:</a:t>
            </a:r>
          </a:p>
          <a:p>
            <a:pPr algn="just"/>
            <a:r>
              <a:rPr lang="es-CO" sz="1200"/>
              <a:t>Para revisar los archivos .LIS y .LOG se debe ingresar a la aplicación GJIREVO o bien en la sección superior del menú, en la opción “Relacionado” se desplegaría una serie de opciones. </a:t>
            </a:r>
          </a:p>
        </p:txBody>
      </p:sp>
      <p:sp>
        <p:nvSpPr>
          <p:cNvPr id="7" name="Título 3">
            <a:extLst>
              <a:ext uri="{FF2B5EF4-FFF2-40B4-BE49-F238E27FC236}">
                <a16:creationId xmlns:a16="http://schemas.microsoft.com/office/drawing/2014/main" id="{00DC37DF-F661-6A32-A126-03E90E5FA647}"/>
              </a:ext>
            </a:extLst>
          </p:cNvPr>
          <p:cNvSpPr txBox="1">
            <a:spLocks/>
          </p:cNvSpPr>
          <p:nvPr/>
        </p:nvSpPr>
        <p:spPr>
          <a:xfrm>
            <a:off x="614054" y="306460"/>
            <a:ext cx="10963891"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TSPISTA - Proceso de asignación del Plan de Pagos automático</a:t>
            </a:r>
            <a:endParaRPr lang="es-CL"/>
          </a:p>
        </p:txBody>
      </p:sp>
      <p:pic>
        <p:nvPicPr>
          <p:cNvPr id="6" name="Imagen 5">
            <a:extLst>
              <a:ext uri="{FF2B5EF4-FFF2-40B4-BE49-F238E27FC236}">
                <a16:creationId xmlns:a16="http://schemas.microsoft.com/office/drawing/2014/main" id="{CAC6A168-6996-ED8B-D1A3-B0FB88744390}"/>
              </a:ext>
            </a:extLst>
          </p:cNvPr>
          <p:cNvPicPr>
            <a:picLocks noChangeAspect="1"/>
          </p:cNvPicPr>
          <p:nvPr/>
        </p:nvPicPr>
        <p:blipFill>
          <a:blip r:embed="rId2"/>
          <a:stretch>
            <a:fillRect/>
          </a:stretch>
        </p:blipFill>
        <p:spPr>
          <a:xfrm>
            <a:off x="870629" y="1441532"/>
            <a:ext cx="10450740" cy="3770548"/>
          </a:xfrm>
          <a:prstGeom prst="rect">
            <a:avLst/>
          </a:prstGeom>
        </p:spPr>
      </p:pic>
    </p:spTree>
    <p:extLst>
      <p:ext uri="{BB962C8B-B14F-4D97-AF65-F5344CB8AC3E}">
        <p14:creationId xmlns:p14="http://schemas.microsoft.com/office/powerpoint/2010/main" val="37546959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19334-57E2-333B-F57D-B0A6E611C90B}"/>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7A98DFB8-4391-633A-2A14-FEBBA08CC56C}"/>
              </a:ext>
            </a:extLst>
          </p:cNvPr>
          <p:cNvSpPr/>
          <p:nvPr/>
        </p:nvSpPr>
        <p:spPr>
          <a:xfrm>
            <a:off x="1141592" y="5806440"/>
            <a:ext cx="10160392" cy="6245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a:t>Revisión salida en GJIREVO</a:t>
            </a:r>
            <a:r>
              <a:rPr lang="es-ES_tradnl" sz="1200"/>
              <a:t>:</a:t>
            </a:r>
          </a:p>
          <a:p>
            <a:pPr algn="just"/>
            <a:r>
              <a:rPr lang="es-ES_tradnl" sz="1200"/>
              <a:t>En la ventana emergente se debe seleccionar el archivo a analizar</a:t>
            </a:r>
            <a:r>
              <a:rPr lang="es-ES_tradnl" sz="1200" b="1"/>
              <a:t>, .LIS o .LOG</a:t>
            </a:r>
            <a:r>
              <a:rPr lang="es-ES_tradnl" sz="1200"/>
              <a:t>, luego dar clic al botón OK.</a:t>
            </a:r>
          </a:p>
        </p:txBody>
      </p:sp>
      <p:sp>
        <p:nvSpPr>
          <p:cNvPr id="7" name="Título 3">
            <a:extLst>
              <a:ext uri="{FF2B5EF4-FFF2-40B4-BE49-F238E27FC236}">
                <a16:creationId xmlns:a16="http://schemas.microsoft.com/office/drawing/2014/main" id="{A99DDB69-D6A4-DBC8-0503-F434574DCCC4}"/>
              </a:ext>
            </a:extLst>
          </p:cNvPr>
          <p:cNvSpPr txBox="1">
            <a:spLocks/>
          </p:cNvSpPr>
          <p:nvPr/>
        </p:nvSpPr>
        <p:spPr>
          <a:xfrm>
            <a:off x="614054" y="306460"/>
            <a:ext cx="10963891"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TSPISTA - Proceso de asignación del Plan de Pagos automático</a:t>
            </a:r>
            <a:endParaRPr lang="es-CL"/>
          </a:p>
        </p:txBody>
      </p:sp>
      <p:pic>
        <p:nvPicPr>
          <p:cNvPr id="3" name="Imagen 2">
            <a:extLst>
              <a:ext uri="{FF2B5EF4-FFF2-40B4-BE49-F238E27FC236}">
                <a16:creationId xmlns:a16="http://schemas.microsoft.com/office/drawing/2014/main" id="{8783B0BF-B5D5-DE5D-6A0F-54EE6D498760}"/>
              </a:ext>
            </a:extLst>
          </p:cNvPr>
          <p:cNvPicPr>
            <a:picLocks noChangeAspect="1"/>
          </p:cNvPicPr>
          <p:nvPr/>
        </p:nvPicPr>
        <p:blipFill>
          <a:blip r:embed="rId2"/>
          <a:stretch>
            <a:fillRect/>
          </a:stretch>
        </p:blipFill>
        <p:spPr>
          <a:xfrm>
            <a:off x="1615050" y="1256431"/>
            <a:ext cx="9187685" cy="4224609"/>
          </a:xfrm>
          <a:prstGeom prst="rect">
            <a:avLst/>
          </a:prstGeom>
        </p:spPr>
      </p:pic>
    </p:spTree>
    <p:extLst>
      <p:ext uri="{BB962C8B-B14F-4D97-AF65-F5344CB8AC3E}">
        <p14:creationId xmlns:p14="http://schemas.microsoft.com/office/powerpoint/2010/main" val="21130672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F3C84-6A1C-BBDE-7E4E-59132C76AB7E}"/>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06834F1F-79DD-2AE3-733C-42875AAC116A}"/>
              </a:ext>
            </a:extLst>
          </p:cNvPr>
          <p:cNvSpPr/>
          <p:nvPr/>
        </p:nvSpPr>
        <p:spPr>
          <a:xfrm>
            <a:off x="907371" y="5666863"/>
            <a:ext cx="5950629" cy="6245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a:t>Revisión salida en GJIREVO:</a:t>
            </a:r>
          </a:p>
          <a:p>
            <a:pPr algn="just"/>
            <a:r>
              <a:rPr lang="es-CO" sz="1200"/>
              <a:t>El archivo .LIS confirma la actualización de tres registros de estudiantes</a:t>
            </a:r>
            <a:endParaRPr lang="es-ES_tradnl" sz="1200"/>
          </a:p>
        </p:txBody>
      </p:sp>
      <p:sp>
        <p:nvSpPr>
          <p:cNvPr id="7" name="Título 3">
            <a:extLst>
              <a:ext uri="{FF2B5EF4-FFF2-40B4-BE49-F238E27FC236}">
                <a16:creationId xmlns:a16="http://schemas.microsoft.com/office/drawing/2014/main" id="{7B1E6681-B43B-67A5-C838-E3F04F5604BC}"/>
              </a:ext>
            </a:extLst>
          </p:cNvPr>
          <p:cNvSpPr txBox="1">
            <a:spLocks/>
          </p:cNvSpPr>
          <p:nvPr/>
        </p:nvSpPr>
        <p:spPr>
          <a:xfrm>
            <a:off x="614054" y="306460"/>
            <a:ext cx="10963891"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TSPISTA - Proceso de asignación del Plan de Pagos automático</a:t>
            </a:r>
            <a:endParaRPr lang="es-CL"/>
          </a:p>
        </p:txBody>
      </p:sp>
      <p:pic>
        <p:nvPicPr>
          <p:cNvPr id="5" name="Imagen 4">
            <a:extLst>
              <a:ext uri="{FF2B5EF4-FFF2-40B4-BE49-F238E27FC236}">
                <a16:creationId xmlns:a16="http://schemas.microsoft.com/office/drawing/2014/main" id="{67B05863-D107-E8D8-9D9A-67F062A4D506}"/>
              </a:ext>
            </a:extLst>
          </p:cNvPr>
          <p:cNvPicPr>
            <a:picLocks noChangeAspect="1"/>
          </p:cNvPicPr>
          <p:nvPr/>
        </p:nvPicPr>
        <p:blipFill>
          <a:blip r:embed="rId2"/>
          <a:stretch>
            <a:fillRect/>
          </a:stretch>
        </p:blipFill>
        <p:spPr>
          <a:xfrm>
            <a:off x="1197388" y="1191137"/>
            <a:ext cx="9797223" cy="4283413"/>
          </a:xfrm>
          <a:prstGeom prst="rect">
            <a:avLst/>
          </a:prstGeom>
        </p:spPr>
      </p:pic>
    </p:spTree>
    <p:extLst>
      <p:ext uri="{BB962C8B-B14F-4D97-AF65-F5344CB8AC3E}">
        <p14:creationId xmlns:p14="http://schemas.microsoft.com/office/powerpoint/2010/main" val="9147598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6425C-4E00-B1E5-082E-6704E783B30E}"/>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735FD17D-3598-6DDF-4ECB-CF8E91C62F45}"/>
              </a:ext>
            </a:extLst>
          </p:cNvPr>
          <p:cNvSpPr/>
          <p:nvPr/>
        </p:nvSpPr>
        <p:spPr>
          <a:xfrm>
            <a:off x="686649" y="5310247"/>
            <a:ext cx="5950629" cy="6245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a:t>Revisión salida en GJIREVO:</a:t>
            </a:r>
          </a:p>
          <a:p>
            <a:pPr algn="just"/>
            <a:r>
              <a:rPr lang="es-CO" sz="1200"/>
              <a:t>El archivo .LOG confirma ejecución completa.</a:t>
            </a:r>
          </a:p>
        </p:txBody>
      </p:sp>
      <p:sp>
        <p:nvSpPr>
          <p:cNvPr id="7" name="Título 3">
            <a:extLst>
              <a:ext uri="{FF2B5EF4-FFF2-40B4-BE49-F238E27FC236}">
                <a16:creationId xmlns:a16="http://schemas.microsoft.com/office/drawing/2014/main" id="{72F86289-AEFE-1A19-F03B-A6F727FA89C0}"/>
              </a:ext>
            </a:extLst>
          </p:cNvPr>
          <p:cNvSpPr txBox="1">
            <a:spLocks/>
          </p:cNvSpPr>
          <p:nvPr/>
        </p:nvSpPr>
        <p:spPr>
          <a:xfrm>
            <a:off x="614054" y="306460"/>
            <a:ext cx="10963891"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TSPISTA - Proceso de asignación del Plan de Pagos automático</a:t>
            </a:r>
            <a:endParaRPr lang="es-CL"/>
          </a:p>
        </p:txBody>
      </p:sp>
      <p:pic>
        <p:nvPicPr>
          <p:cNvPr id="3" name="Imagen 2">
            <a:extLst>
              <a:ext uri="{FF2B5EF4-FFF2-40B4-BE49-F238E27FC236}">
                <a16:creationId xmlns:a16="http://schemas.microsoft.com/office/drawing/2014/main" id="{F8EB69BB-A72D-FFFB-F4BF-DF0DC47A41BE}"/>
              </a:ext>
            </a:extLst>
          </p:cNvPr>
          <p:cNvPicPr>
            <a:picLocks noChangeAspect="1"/>
          </p:cNvPicPr>
          <p:nvPr/>
        </p:nvPicPr>
        <p:blipFill>
          <a:blip r:embed="rId2"/>
          <a:stretch>
            <a:fillRect/>
          </a:stretch>
        </p:blipFill>
        <p:spPr>
          <a:xfrm>
            <a:off x="686649" y="1468543"/>
            <a:ext cx="10818702" cy="3414353"/>
          </a:xfrm>
          <a:prstGeom prst="rect">
            <a:avLst/>
          </a:prstGeom>
        </p:spPr>
      </p:pic>
    </p:spTree>
    <p:extLst>
      <p:ext uri="{BB962C8B-B14F-4D97-AF65-F5344CB8AC3E}">
        <p14:creationId xmlns:p14="http://schemas.microsoft.com/office/powerpoint/2010/main" val="22978217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12F88-B763-BA91-631B-74452D5C5EDC}"/>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C5C615B6-EC0B-8D9B-2D38-01BE81B54442}"/>
              </a:ext>
            </a:extLst>
          </p:cNvPr>
          <p:cNvSpPr/>
          <p:nvPr/>
        </p:nvSpPr>
        <p:spPr>
          <a:xfrm>
            <a:off x="1148953" y="5238066"/>
            <a:ext cx="9583200" cy="70166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El proceso </a:t>
            </a:r>
            <a:r>
              <a:rPr lang="es-CO" sz="1200" b="1"/>
              <a:t>TSPISTT</a:t>
            </a:r>
            <a:r>
              <a:rPr lang="es-CO" sz="1200"/>
              <a:t> tiene por objetivo aplicar los planes de pago automáticos que hayan sido asignados en el proceso anterior (TSPISTA). Eso puede ser realizado de forma masiva o de forma individual.</a:t>
            </a:r>
          </a:p>
        </p:txBody>
      </p:sp>
      <p:sp>
        <p:nvSpPr>
          <p:cNvPr id="7" name="Título 3">
            <a:extLst>
              <a:ext uri="{FF2B5EF4-FFF2-40B4-BE49-F238E27FC236}">
                <a16:creationId xmlns:a16="http://schemas.microsoft.com/office/drawing/2014/main" id="{6DF658C3-B43A-A8DA-07BA-188C7F058C8A}"/>
              </a:ext>
            </a:extLst>
          </p:cNvPr>
          <p:cNvSpPr txBox="1">
            <a:spLocks/>
          </p:cNvSpPr>
          <p:nvPr/>
        </p:nvSpPr>
        <p:spPr>
          <a:xfrm>
            <a:off x="1014984" y="205876"/>
            <a:ext cx="9717169"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TSPISTT – Proceso de creación de la transacción del plan de pagos automático</a:t>
            </a:r>
            <a:endParaRPr lang="es-CL"/>
          </a:p>
        </p:txBody>
      </p:sp>
      <p:pic>
        <p:nvPicPr>
          <p:cNvPr id="5" name="Imagen 4">
            <a:extLst>
              <a:ext uri="{FF2B5EF4-FFF2-40B4-BE49-F238E27FC236}">
                <a16:creationId xmlns:a16="http://schemas.microsoft.com/office/drawing/2014/main" id="{226C5A52-365C-63FB-8524-671E9F6150E1}"/>
              </a:ext>
            </a:extLst>
          </p:cNvPr>
          <p:cNvPicPr>
            <a:picLocks noChangeAspect="1"/>
          </p:cNvPicPr>
          <p:nvPr/>
        </p:nvPicPr>
        <p:blipFill>
          <a:blip r:embed="rId2"/>
          <a:stretch>
            <a:fillRect/>
          </a:stretch>
        </p:blipFill>
        <p:spPr>
          <a:xfrm>
            <a:off x="1148953" y="1353078"/>
            <a:ext cx="9583200" cy="3529604"/>
          </a:xfrm>
          <a:prstGeom prst="rect">
            <a:avLst/>
          </a:prstGeom>
        </p:spPr>
      </p:pic>
    </p:spTree>
    <p:extLst>
      <p:ext uri="{BB962C8B-B14F-4D97-AF65-F5344CB8AC3E}">
        <p14:creationId xmlns:p14="http://schemas.microsoft.com/office/powerpoint/2010/main" val="24022029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4AB45-DF98-56FA-7CB3-C4AEEC0AEFB8}"/>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F2B1071A-1755-4DF2-530B-0F926C50FE18}"/>
              </a:ext>
            </a:extLst>
          </p:cNvPr>
          <p:cNvSpPr/>
          <p:nvPr/>
        </p:nvSpPr>
        <p:spPr>
          <a:xfrm>
            <a:off x="982276" y="5128619"/>
            <a:ext cx="10410513" cy="120889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t>En la primera sección se debe definir el parámetro </a:t>
            </a:r>
            <a:r>
              <a:rPr lang="es-CO" sz="1200" b="1"/>
              <a:t>DATABASE</a:t>
            </a:r>
            <a:r>
              <a:rPr lang="es-CO" sz="1200"/>
              <a:t> en el campo “impresora”.</a:t>
            </a:r>
          </a:p>
          <a:p>
            <a:pPr algn="just"/>
            <a:endParaRPr lang="es-CO" sz="1200"/>
          </a:p>
          <a:p>
            <a:pPr algn="just"/>
            <a:r>
              <a:rPr lang="es-CO" sz="1200"/>
              <a:t>En la segunda sección se deben ingresar los parámetros del proceso: </a:t>
            </a:r>
          </a:p>
          <a:p>
            <a:pPr algn="just"/>
            <a:r>
              <a:rPr lang="es-CO" sz="1200"/>
              <a:t>01. Corresponde al periodo académico en el cual se desea aplicar los planes de pago automáticos asignados.</a:t>
            </a:r>
          </a:p>
          <a:p>
            <a:pPr algn="just"/>
            <a:r>
              <a:rPr lang="es-CO" sz="1200"/>
              <a:t>02 . Corresponde a la aplicación individual de los planes de pago automáticos en caso de ser requerido (Opcional).</a:t>
            </a:r>
          </a:p>
        </p:txBody>
      </p:sp>
      <p:sp>
        <p:nvSpPr>
          <p:cNvPr id="7" name="Título 3">
            <a:extLst>
              <a:ext uri="{FF2B5EF4-FFF2-40B4-BE49-F238E27FC236}">
                <a16:creationId xmlns:a16="http://schemas.microsoft.com/office/drawing/2014/main" id="{522F2113-1B1D-EEB8-2ED2-A45E5ECD67DB}"/>
              </a:ext>
            </a:extLst>
          </p:cNvPr>
          <p:cNvSpPr txBox="1">
            <a:spLocks/>
          </p:cNvSpPr>
          <p:nvPr/>
        </p:nvSpPr>
        <p:spPr>
          <a:xfrm>
            <a:off x="859537" y="205876"/>
            <a:ext cx="10162032"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TSPISTT – Proceso de creación de la transacción del plan de pagos automático</a:t>
            </a:r>
            <a:endParaRPr lang="es-CL"/>
          </a:p>
        </p:txBody>
      </p:sp>
      <p:pic>
        <p:nvPicPr>
          <p:cNvPr id="3" name="Imagen 2">
            <a:extLst>
              <a:ext uri="{FF2B5EF4-FFF2-40B4-BE49-F238E27FC236}">
                <a16:creationId xmlns:a16="http://schemas.microsoft.com/office/drawing/2014/main" id="{DD0F8A2A-16F1-2233-A181-B76BC2AADDCA}"/>
              </a:ext>
            </a:extLst>
          </p:cNvPr>
          <p:cNvPicPr>
            <a:picLocks noChangeAspect="1"/>
          </p:cNvPicPr>
          <p:nvPr/>
        </p:nvPicPr>
        <p:blipFill>
          <a:blip r:embed="rId2"/>
          <a:stretch>
            <a:fillRect/>
          </a:stretch>
        </p:blipFill>
        <p:spPr>
          <a:xfrm>
            <a:off x="799211" y="1124935"/>
            <a:ext cx="10593578" cy="3962946"/>
          </a:xfrm>
          <a:prstGeom prst="rect">
            <a:avLst/>
          </a:prstGeom>
        </p:spPr>
      </p:pic>
    </p:spTree>
    <p:extLst>
      <p:ext uri="{BB962C8B-B14F-4D97-AF65-F5344CB8AC3E}">
        <p14:creationId xmlns:p14="http://schemas.microsoft.com/office/powerpoint/2010/main" val="20611227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0757B-AF52-1116-6766-4F9E8F958C48}"/>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5FE7B12C-1CAD-A645-42BF-E0F5F985D37A}"/>
              </a:ext>
            </a:extLst>
          </p:cNvPr>
          <p:cNvSpPr/>
          <p:nvPr/>
        </p:nvSpPr>
        <p:spPr>
          <a:xfrm>
            <a:off x="809244" y="5032474"/>
            <a:ext cx="6935724" cy="53357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a:t>Ingresados los parámetros, en la sección “Envío” seleccionar el </a:t>
            </a:r>
            <a:r>
              <a:rPr lang="es-ES_tradnl" sz="1200" err="1"/>
              <a:t>Check</a:t>
            </a:r>
            <a:r>
              <a:rPr lang="es-ES_tradnl" sz="1200"/>
              <a:t> “Guardar parámetros como”.</a:t>
            </a:r>
          </a:p>
        </p:txBody>
      </p:sp>
      <p:sp>
        <p:nvSpPr>
          <p:cNvPr id="7" name="Título 3">
            <a:extLst>
              <a:ext uri="{FF2B5EF4-FFF2-40B4-BE49-F238E27FC236}">
                <a16:creationId xmlns:a16="http://schemas.microsoft.com/office/drawing/2014/main" id="{CFFF89A3-1A15-70D6-215F-3A311903EF28}"/>
              </a:ext>
            </a:extLst>
          </p:cNvPr>
          <p:cNvSpPr txBox="1">
            <a:spLocks/>
          </p:cNvSpPr>
          <p:nvPr/>
        </p:nvSpPr>
        <p:spPr>
          <a:xfrm>
            <a:off x="859537" y="205876"/>
            <a:ext cx="10162032"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TSPISTT – Proceso de creación de la transacción del plan de pagos automático</a:t>
            </a:r>
            <a:endParaRPr lang="es-CL"/>
          </a:p>
        </p:txBody>
      </p:sp>
      <p:pic>
        <p:nvPicPr>
          <p:cNvPr id="5" name="Imagen 4">
            <a:extLst>
              <a:ext uri="{FF2B5EF4-FFF2-40B4-BE49-F238E27FC236}">
                <a16:creationId xmlns:a16="http://schemas.microsoft.com/office/drawing/2014/main" id="{837C7098-D670-AA80-DAEA-0137BB46C3FC}"/>
              </a:ext>
            </a:extLst>
          </p:cNvPr>
          <p:cNvPicPr>
            <a:picLocks noChangeAspect="1"/>
          </p:cNvPicPr>
          <p:nvPr/>
        </p:nvPicPr>
        <p:blipFill>
          <a:blip r:embed="rId2"/>
          <a:stretch>
            <a:fillRect/>
          </a:stretch>
        </p:blipFill>
        <p:spPr>
          <a:xfrm>
            <a:off x="809244" y="1404956"/>
            <a:ext cx="10573512" cy="2879172"/>
          </a:xfrm>
          <a:prstGeom prst="rect">
            <a:avLst/>
          </a:prstGeom>
        </p:spPr>
      </p:pic>
      <p:pic>
        <p:nvPicPr>
          <p:cNvPr id="8" name="Imagen 7">
            <a:extLst>
              <a:ext uri="{FF2B5EF4-FFF2-40B4-BE49-F238E27FC236}">
                <a16:creationId xmlns:a16="http://schemas.microsoft.com/office/drawing/2014/main" id="{6BABFD27-9F15-0E62-B9A4-DED39A087077}"/>
              </a:ext>
            </a:extLst>
          </p:cNvPr>
          <p:cNvPicPr>
            <a:picLocks noChangeAspect="1"/>
          </p:cNvPicPr>
          <p:nvPr/>
        </p:nvPicPr>
        <p:blipFill>
          <a:blip r:embed="rId3"/>
          <a:stretch>
            <a:fillRect/>
          </a:stretch>
        </p:blipFill>
        <p:spPr>
          <a:xfrm>
            <a:off x="809244" y="4065167"/>
            <a:ext cx="10573512" cy="379788"/>
          </a:xfrm>
          <a:prstGeom prst="rect">
            <a:avLst/>
          </a:prstGeom>
        </p:spPr>
      </p:pic>
      <p:sp>
        <p:nvSpPr>
          <p:cNvPr id="9" name="Rectángulo redondeado 5">
            <a:extLst>
              <a:ext uri="{FF2B5EF4-FFF2-40B4-BE49-F238E27FC236}">
                <a16:creationId xmlns:a16="http://schemas.microsoft.com/office/drawing/2014/main" id="{5A909AE9-5E45-72C9-3B0A-3ADBFD783F69}"/>
              </a:ext>
            </a:extLst>
          </p:cNvPr>
          <p:cNvSpPr/>
          <p:nvPr/>
        </p:nvSpPr>
        <p:spPr>
          <a:xfrm>
            <a:off x="8823482" y="5032474"/>
            <a:ext cx="2559274" cy="49956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a:t>Presionar el botón “Guardar”.</a:t>
            </a:r>
          </a:p>
        </p:txBody>
      </p:sp>
    </p:spTree>
    <p:extLst>
      <p:ext uri="{BB962C8B-B14F-4D97-AF65-F5344CB8AC3E}">
        <p14:creationId xmlns:p14="http://schemas.microsoft.com/office/powerpoint/2010/main" val="27658354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D7EB7-C2C0-0A54-FAB0-2F0F1175A6E1}"/>
            </a:ext>
          </a:extLst>
        </p:cNvPr>
        <p:cNvGrpSpPr/>
        <p:nvPr/>
      </p:nvGrpSpPr>
      <p:grpSpPr>
        <a:xfrm>
          <a:off x="0" y="0"/>
          <a:ext cx="0" cy="0"/>
          <a:chOff x="0" y="0"/>
          <a:chExt cx="0" cy="0"/>
        </a:xfrm>
      </p:grpSpPr>
      <p:sp>
        <p:nvSpPr>
          <p:cNvPr id="4" name="Rectángulo: esquinas redondeadas 5">
            <a:extLst>
              <a:ext uri="{FF2B5EF4-FFF2-40B4-BE49-F238E27FC236}">
                <a16:creationId xmlns:a16="http://schemas.microsoft.com/office/drawing/2014/main" id="{C4DD7BF6-DE1E-81A1-1BA4-E29A944BB4AA}"/>
              </a:ext>
            </a:extLst>
          </p:cNvPr>
          <p:cNvSpPr/>
          <p:nvPr/>
        </p:nvSpPr>
        <p:spPr>
          <a:xfrm>
            <a:off x="833916" y="4849594"/>
            <a:ext cx="6935724" cy="53357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Confirmación de la ejecución del proceso TSPISTT, generación de los archivos .LIS y .LOG</a:t>
            </a:r>
          </a:p>
        </p:txBody>
      </p:sp>
      <p:sp>
        <p:nvSpPr>
          <p:cNvPr id="7" name="Título 3">
            <a:extLst>
              <a:ext uri="{FF2B5EF4-FFF2-40B4-BE49-F238E27FC236}">
                <a16:creationId xmlns:a16="http://schemas.microsoft.com/office/drawing/2014/main" id="{50FF78E9-FC7A-90B5-B22D-E12FFD69D62D}"/>
              </a:ext>
            </a:extLst>
          </p:cNvPr>
          <p:cNvSpPr txBox="1">
            <a:spLocks/>
          </p:cNvSpPr>
          <p:nvPr/>
        </p:nvSpPr>
        <p:spPr>
          <a:xfrm>
            <a:off x="833916" y="294042"/>
            <a:ext cx="10162032"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TSPISTT – Proceso de creación de la transacción del plan de pagos automático</a:t>
            </a:r>
            <a:endParaRPr lang="es-CL"/>
          </a:p>
        </p:txBody>
      </p:sp>
      <p:pic>
        <p:nvPicPr>
          <p:cNvPr id="3" name="Imagen 2">
            <a:extLst>
              <a:ext uri="{FF2B5EF4-FFF2-40B4-BE49-F238E27FC236}">
                <a16:creationId xmlns:a16="http://schemas.microsoft.com/office/drawing/2014/main" id="{69A4A6BE-4E35-DAC4-888F-947726360DCD}"/>
              </a:ext>
            </a:extLst>
          </p:cNvPr>
          <p:cNvPicPr>
            <a:picLocks noChangeAspect="1"/>
          </p:cNvPicPr>
          <p:nvPr/>
        </p:nvPicPr>
        <p:blipFill>
          <a:blip r:embed="rId2"/>
          <a:stretch>
            <a:fillRect/>
          </a:stretch>
        </p:blipFill>
        <p:spPr>
          <a:xfrm>
            <a:off x="833916" y="2066066"/>
            <a:ext cx="10524167" cy="1681019"/>
          </a:xfrm>
          <a:prstGeom prst="rect">
            <a:avLst/>
          </a:prstGeom>
        </p:spPr>
      </p:pic>
    </p:spTree>
    <p:extLst>
      <p:ext uri="{BB962C8B-B14F-4D97-AF65-F5344CB8AC3E}">
        <p14:creationId xmlns:p14="http://schemas.microsoft.com/office/powerpoint/2010/main" val="22311609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63404-B922-6AF4-34DA-63BA537F2BB6}"/>
            </a:ext>
          </a:extLst>
        </p:cNvPr>
        <p:cNvGrpSpPr/>
        <p:nvPr/>
      </p:nvGrpSpPr>
      <p:grpSpPr>
        <a:xfrm>
          <a:off x="0" y="0"/>
          <a:ext cx="0" cy="0"/>
          <a:chOff x="0" y="0"/>
          <a:chExt cx="0" cy="0"/>
        </a:xfrm>
      </p:grpSpPr>
      <p:sp>
        <p:nvSpPr>
          <p:cNvPr id="7" name="Título 3">
            <a:extLst>
              <a:ext uri="{FF2B5EF4-FFF2-40B4-BE49-F238E27FC236}">
                <a16:creationId xmlns:a16="http://schemas.microsoft.com/office/drawing/2014/main" id="{4B6930B9-982C-74B4-A52F-640EDE738BE2}"/>
              </a:ext>
            </a:extLst>
          </p:cNvPr>
          <p:cNvSpPr txBox="1">
            <a:spLocks/>
          </p:cNvSpPr>
          <p:nvPr/>
        </p:nvSpPr>
        <p:spPr>
          <a:xfrm>
            <a:off x="859537" y="205876"/>
            <a:ext cx="10162032"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TSPISTT – Proceso de creación de la transacción del plan de pagos automático</a:t>
            </a:r>
            <a:endParaRPr lang="es-CL"/>
          </a:p>
        </p:txBody>
      </p:sp>
      <p:pic>
        <p:nvPicPr>
          <p:cNvPr id="3" name="Imagen 2">
            <a:extLst>
              <a:ext uri="{FF2B5EF4-FFF2-40B4-BE49-F238E27FC236}">
                <a16:creationId xmlns:a16="http://schemas.microsoft.com/office/drawing/2014/main" id="{8E969ADD-6180-0E45-F59B-81C2460BA258}"/>
              </a:ext>
            </a:extLst>
          </p:cNvPr>
          <p:cNvPicPr>
            <a:picLocks noChangeAspect="1"/>
          </p:cNvPicPr>
          <p:nvPr/>
        </p:nvPicPr>
        <p:blipFill>
          <a:blip r:embed="rId2"/>
          <a:stretch>
            <a:fillRect/>
          </a:stretch>
        </p:blipFill>
        <p:spPr>
          <a:xfrm>
            <a:off x="923721" y="1334939"/>
            <a:ext cx="10344557" cy="3584534"/>
          </a:xfrm>
          <a:prstGeom prst="rect">
            <a:avLst/>
          </a:prstGeom>
        </p:spPr>
      </p:pic>
      <p:sp>
        <p:nvSpPr>
          <p:cNvPr id="6" name="Rectángulo: esquinas redondeadas 5">
            <a:extLst>
              <a:ext uri="{FF2B5EF4-FFF2-40B4-BE49-F238E27FC236}">
                <a16:creationId xmlns:a16="http://schemas.microsoft.com/office/drawing/2014/main" id="{DC143BC9-461A-598A-C089-4E15F2AA7750}"/>
              </a:ext>
            </a:extLst>
          </p:cNvPr>
          <p:cNvSpPr/>
          <p:nvPr/>
        </p:nvSpPr>
        <p:spPr>
          <a:xfrm>
            <a:off x="923722" y="5347714"/>
            <a:ext cx="10344556" cy="80619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Para revisar los archivos .LIS y .LOG se debe ingresar a la aplicación GJIREVO o bien en la sección superior del menú, en la opción “Relacionado” se desplegaría una serie de aplicaciones.</a:t>
            </a:r>
          </a:p>
        </p:txBody>
      </p:sp>
    </p:spTree>
    <p:extLst>
      <p:ext uri="{BB962C8B-B14F-4D97-AF65-F5344CB8AC3E}">
        <p14:creationId xmlns:p14="http://schemas.microsoft.com/office/powerpoint/2010/main" val="33867749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F684-E637-2447-7789-899B6C6C950A}"/>
            </a:ext>
          </a:extLst>
        </p:cNvPr>
        <p:cNvGrpSpPr/>
        <p:nvPr/>
      </p:nvGrpSpPr>
      <p:grpSpPr>
        <a:xfrm>
          <a:off x="0" y="0"/>
          <a:ext cx="0" cy="0"/>
          <a:chOff x="0" y="0"/>
          <a:chExt cx="0" cy="0"/>
        </a:xfrm>
      </p:grpSpPr>
      <p:sp>
        <p:nvSpPr>
          <p:cNvPr id="7" name="Título 3">
            <a:extLst>
              <a:ext uri="{FF2B5EF4-FFF2-40B4-BE49-F238E27FC236}">
                <a16:creationId xmlns:a16="http://schemas.microsoft.com/office/drawing/2014/main" id="{5F8B3E43-1A33-6BDF-C3CF-E34E3C0DB58D}"/>
              </a:ext>
            </a:extLst>
          </p:cNvPr>
          <p:cNvSpPr txBox="1">
            <a:spLocks/>
          </p:cNvSpPr>
          <p:nvPr/>
        </p:nvSpPr>
        <p:spPr>
          <a:xfrm>
            <a:off x="859537" y="99140"/>
            <a:ext cx="10162032"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TSPISTT – Proceso de creación de la transacción del plan de pagos automático</a:t>
            </a:r>
            <a:endParaRPr lang="es-CL"/>
          </a:p>
        </p:txBody>
      </p:sp>
      <p:sp>
        <p:nvSpPr>
          <p:cNvPr id="6" name="Rectángulo: esquinas redondeadas 5">
            <a:extLst>
              <a:ext uri="{FF2B5EF4-FFF2-40B4-BE49-F238E27FC236}">
                <a16:creationId xmlns:a16="http://schemas.microsoft.com/office/drawing/2014/main" id="{84DA16A2-9E92-89AB-F9A2-0BA500E930E9}"/>
              </a:ext>
            </a:extLst>
          </p:cNvPr>
          <p:cNvSpPr/>
          <p:nvPr/>
        </p:nvSpPr>
        <p:spPr>
          <a:xfrm>
            <a:off x="923722" y="5568696"/>
            <a:ext cx="10344556" cy="79552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Ratificando que el campo “Número” cuente con la numeración asignada al proceso ejecutado, en el campo Nombre de Archivo, se despliega las opciones de los archivos .LIS y .LOG. </a:t>
            </a:r>
          </a:p>
          <a:p>
            <a:r>
              <a:rPr lang="es-CO" sz="1200"/>
              <a:t>En la ventana emergente se debe seleccionar el archivo a analizar, .LIS o .LOG, luego dar clic al botón OK.</a:t>
            </a:r>
          </a:p>
        </p:txBody>
      </p:sp>
      <p:pic>
        <p:nvPicPr>
          <p:cNvPr id="4" name="Imagen 3">
            <a:extLst>
              <a:ext uri="{FF2B5EF4-FFF2-40B4-BE49-F238E27FC236}">
                <a16:creationId xmlns:a16="http://schemas.microsoft.com/office/drawing/2014/main" id="{09D22A40-29BC-5792-B363-F707A60E6087}"/>
              </a:ext>
            </a:extLst>
          </p:cNvPr>
          <p:cNvPicPr>
            <a:picLocks noChangeAspect="1"/>
          </p:cNvPicPr>
          <p:nvPr/>
        </p:nvPicPr>
        <p:blipFill>
          <a:blip r:embed="rId2"/>
          <a:stretch>
            <a:fillRect/>
          </a:stretch>
        </p:blipFill>
        <p:spPr>
          <a:xfrm>
            <a:off x="1403604" y="1097052"/>
            <a:ext cx="9384792" cy="4357399"/>
          </a:xfrm>
          <a:prstGeom prst="rect">
            <a:avLst/>
          </a:prstGeom>
        </p:spPr>
      </p:pic>
    </p:spTree>
    <p:extLst>
      <p:ext uri="{BB962C8B-B14F-4D97-AF65-F5344CB8AC3E}">
        <p14:creationId xmlns:p14="http://schemas.microsoft.com/office/powerpoint/2010/main" val="934749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E329A-3694-842F-7D79-3155A853F8E5}"/>
            </a:ext>
          </a:extLst>
        </p:cNvPr>
        <p:cNvGrpSpPr/>
        <p:nvPr/>
      </p:nvGrpSpPr>
      <p:grpSpPr>
        <a:xfrm>
          <a:off x="0" y="0"/>
          <a:ext cx="0" cy="0"/>
          <a:chOff x="0" y="0"/>
          <a:chExt cx="0" cy="0"/>
        </a:xfrm>
      </p:grpSpPr>
      <p:sp>
        <p:nvSpPr>
          <p:cNvPr id="7" name="Título 3">
            <a:extLst>
              <a:ext uri="{FF2B5EF4-FFF2-40B4-BE49-F238E27FC236}">
                <a16:creationId xmlns:a16="http://schemas.microsoft.com/office/drawing/2014/main" id="{A27ECB34-3D59-53FA-AFCB-DFDDE66DBB12}"/>
              </a:ext>
            </a:extLst>
          </p:cNvPr>
          <p:cNvSpPr txBox="1">
            <a:spLocks/>
          </p:cNvSpPr>
          <p:nvPr/>
        </p:nvSpPr>
        <p:spPr>
          <a:xfrm>
            <a:off x="859537" y="99140"/>
            <a:ext cx="10162032"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TSPISTT – Proceso de creación de la transacción del plan de pagos automático</a:t>
            </a:r>
            <a:endParaRPr lang="es-CL"/>
          </a:p>
        </p:txBody>
      </p:sp>
      <p:sp>
        <p:nvSpPr>
          <p:cNvPr id="6" name="Rectángulo: esquinas redondeadas 5">
            <a:extLst>
              <a:ext uri="{FF2B5EF4-FFF2-40B4-BE49-F238E27FC236}">
                <a16:creationId xmlns:a16="http://schemas.microsoft.com/office/drawing/2014/main" id="{D0E06D3D-1339-A7D7-EDA6-B95613355D5A}"/>
              </a:ext>
            </a:extLst>
          </p:cNvPr>
          <p:cNvSpPr/>
          <p:nvPr/>
        </p:nvSpPr>
        <p:spPr>
          <a:xfrm>
            <a:off x="1129759" y="5879592"/>
            <a:ext cx="5559374" cy="48463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El archivo .LIS confirma la actualización de dos registros de estudiantes.</a:t>
            </a:r>
          </a:p>
        </p:txBody>
      </p:sp>
      <p:pic>
        <p:nvPicPr>
          <p:cNvPr id="3" name="Imagen 2">
            <a:extLst>
              <a:ext uri="{FF2B5EF4-FFF2-40B4-BE49-F238E27FC236}">
                <a16:creationId xmlns:a16="http://schemas.microsoft.com/office/drawing/2014/main" id="{46037BAD-1D36-7C5B-CB4E-C1A7AABA5AB7}"/>
              </a:ext>
            </a:extLst>
          </p:cNvPr>
          <p:cNvPicPr>
            <a:picLocks noChangeAspect="1"/>
          </p:cNvPicPr>
          <p:nvPr/>
        </p:nvPicPr>
        <p:blipFill>
          <a:blip r:embed="rId2"/>
          <a:stretch>
            <a:fillRect/>
          </a:stretch>
        </p:blipFill>
        <p:spPr>
          <a:xfrm>
            <a:off x="1129759" y="1178592"/>
            <a:ext cx="9932481" cy="4308563"/>
          </a:xfrm>
          <a:prstGeom prst="rect">
            <a:avLst/>
          </a:prstGeom>
        </p:spPr>
      </p:pic>
    </p:spTree>
    <p:extLst>
      <p:ext uri="{BB962C8B-B14F-4D97-AF65-F5344CB8AC3E}">
        <p14:creationId xmlns:p14="http://schemas.microsoft.com/office/powerpoint/2010/main" val="15736397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93476-2D7F-C8D0-0FC8-1E05CEC16021}"/>
            </a:ext>
          </a:extLst>
        </p:cNvPr>
        <p:cNvGrpSpPr/>
        <p:nvPr/>
      </p:nvGrpSpPr>
      <p:grpSpPr>
        <a:xfrm>
          <a:off x="0" y="0"/>
          <a:ext cx="0" cy="0"/>
          <a:chOff x="0" y="0"/>
          <a:chExt cx="0" cy="0"/>
        </a:xfrm>
      </p:grpSpPr>
      <p:sp>
        <p:nvSpPr>
          <p:cNvPr id="7" name="Título 3">
            <a:extLst>
              <a:ext uri="{FF2B5EF4-FFF2-40B4-BE49-F238E27FC236}">
                <a16:creationId xmlns:a16="http://schemas.microsoft.com/office/drawing/2014/main" id="{C148C0D4-6B98-08F8-5FD4-7E0B49C8F767}"/>
              </a:ext>
            </a:extLst>
          </p:cNvPr>
          <p:cNvSpPr txBox="1">
            <a:spLocks/>
          </p:cNvSpPr>
          <p:nvPr/>
        </p:nvSpPr>
        <p:spPr>
          <a:xfrm>
            <a:off x="859537" y="99140"/>
            <a:ext cx="10162032"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TSPISTT – Proceso de creación de la transacción del plan de pagos automático</a:t>
            </a:r>
            <a:endParaRPr lang="es-CL"/>
          </a:p>
        </p:txBody>
      </p:sp>
      <p:sp>
        <p:nvSpPr>
          <p:cNvPr id="6" name="Rectángulo: esquinas redondeadas 5">
            <a:extLst>
              <a:ext uri="{FF2B5EF4-FFF2-40B4-BE49-F238E27FC236}">
                <a16:creationId xmlns:a16="http://schemas.microsoft.com/office/drawing/2014/main" id="{8F9FB772-13D3-1C7C-E5B9-18BAB216B9CB}"/>
              </a:ext>
            </a:extLst>
          </p:cNvPr>
          <p:cNvSpPr/>
          <p:nvPr/>
        </p:nvSpPr>
        <p:spPr>
          <a:xfrm>
            <a:off x="859537" y="5340096"/>
            <a:ext cx="3529583" cy="48463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El archivo .LOG confirma ejecución completa.</a:t>
            </a:r>
          </a:p>
        </p:txBody>
      </p:sp>
      <p:pic>
        <p:nvPicPr>
          <p:cNvPr id="4" name="Imagen 3">
            <a:extLst>
              <a:ext uri="{FF2B5EF4-FFF2-40B4-BE49-F238E27FC236}">
                <a16:creationId xmlns:a16="http://schemas.microsoft.com/office/drawing/2014/main" id="{C66E64B7-11F0-A37F-D5B4-9BDFD9DA1AE3}"/>
              </a:ext>
            </a:extLst>
          </p:cNvPr>
          <p:cNvPicPr>
            <a:picLocks noChangeAspect="1"/>
          </p:cNvPicPr>
          <p:nvPr/>
        </p:nvPicPr>
        <p:blipFill>
          <a:blip r:embed="rId2"/>
          <a:stretch>
            <a:fillRect/>
          </a:stretch>
        </p:blipFill>
        <p:spPr>
          <a:xfrm>
            <a:off x="859537" y="1365075"/>
            <a:ext cx="10515121" cy="3481246"/>
          </a:xfrm>
          <a:prstGeom prst="rect">
            <a:avLst/>
          </a:prstGeom>
        </p:spPr>
      </p:pic>
    </p:spTree>
    <p:extLst>
      <p:ext uri="{BB962C8B-B14F-4D97-AF65-F5344CB8AC3E}">
        <p14:creationId xmlns:p14="http://schemas.microsoft.com/office/powerpoint/2010/main" val="1714455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499F9-8877-8437-47C4-68F691D98475}"/>
            </a:ext>
          </a:extLst>
        </p:cNvPr>
        <p:cNvGrpSpPr/>
        <p:nvPr/>
      </p:nvGrpSpPr>
      <p:grpSpPr>
        <a:xfrm>
          <a:off x="0" y="0"/>
          <a:ext cx="0" cy="0"/>
          <a:chOff x="0" y="0"/>
          <a:chExt cx="0" cy="0"/>
        </a:xfrm>
      </p:grpSpPr>
      <p:sp>
        <p:nvSpPr>
          <p:cNvPr id="7" name="Título 3">
            <a:extLst>
              <a:ext uri="{FF2B5EF4-FFF2-40B4-BE49-F238E27FC236}">
                <a16:creationId xmlns:a16="http://schemas.microsoft.com/office/drawing/2014/main" id="{B610A716-23DF-1D4B-105A-B3EF97BC7757}"/>
              </a:ext>
            </a:extLst>
          </p:cNvPr>
          <p:cNvSpPr txBox="1">
            <a:spLocks/>
          </p:cNvSpPr>
          <p:nvPr/>
        </p:nvSpPr>
        <p:spPr>
          <a:xfrm>
            <a:off x="777197" y="99140"/>
            <a:ext cx="10244372"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TSAAREV - Revisión de detalle de cuenta - alumnos</a:t>
            </a:r>
            <a:endParaRPr lang="es-CL"/>
          </a:p>
        </p:txBody>
      </p:sp>
      <p:sp>
        <p:nvSpPr>
          <p:cNvPr id="6" name="Rectángulo: esquinas redondeadas 5">
            <a:extLst>
              <a:ext uri="{FF2B5EF4-FFF2-40B4-BE49-F238E27FC236}">
                <a16:creationId xmlns:a16="http://schemas.microsoft.com/office/drawing/2014/main" id="{83EE7173-30EC-F150-7EB6-ADF9E489E0A5}"/>
              </a:ext>
            </a:extLst>
          </p:cNvPr>
          <p:cNvSpPr/>
          <p:nvPr/>
        </p:nvSpPr>
        <p:spPr>
          <a:xfrm>
            <a:off x="950977" y="5518632"/>
            <a:ext cx="10152932" cy="87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a:t>Cuenta corriente del estudiante con el Plan de Pagos aplicado:</a:t>
            </a:r>
          </a:p>
          <a:p>
            <a:r>
              <a:rPr lang="es-CO" sz="1200"/>
              <a:t>Plan de Pago Automático generado al primer estudiante, considerando solo el valor de la matrícula (MATR) en función a lo </a:t>
            </a:r>
            <a:r>
              <a:rPr lang="es-CO" sz="1200">
                <a:solidFill>
                  <a:schemeClr val="bg1"/>
                </a:solidFill>
              </a:rPr>
              <a:t>configurado y los registros de la cuenta corriente antes de su aplicación.</a:t>
            </a:r>
          </a:p>
        </p:txBody>
      </p:sp>
      <p:pic>
        <p:nvPicPr>
          <p:cNvPr id="3" name="Imagen 2">
            <a:extLst>
              <a:ext uri="{FF2B5EF4-FFF2-40B4-BE49-F238E27FC236}">
                <a16:creationId xmlns:a16="http://schemas.microsoft.com/office/drawing/2014/main" id="{454E56C1-74DE-A207-1DD9-1B86B3839290}"/>
              </a:ext>
            </a:extLst>
          </p:cNvPr>
          <p:cNvPicPr>
            <a:picLocks noChangeAspect="1"/>
          </p:cNvPicPr>
          <p:nvPr/>
        </p:nvPicPr>
        <p:blipFill>
          <a:blip r:embed="rId2"/>
          <a:srcRect b="9641"/>
          <a:stretch>
            <a:fillRect/>
          </a:stretch>
        </p:blipFill>
        <p:spPr>
          <a:xfrm>
            <a:off x="859537" y="1097052"/>
            <a:ext cx="10244372" cy="4297908"/>
          </a:xfrm>
          <a:prstGeom prst="rect">
            <a:avLst/>
          </a:prstGeom>
        </p:spPr>
      </p:pic>
    </p:spTree>
    <p:extLst>
      <p:ext uri="{BB962C8B-B14F-4D97-AF65-F5344CB8AC3E}">
        <p14:creationId xmlns:p14="http://schemas.microsoft.com/office/powerpoint/2010/main" val="274156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C6C28-0342-72C2-FE6A-1E5E26B36968}"/>
            </a:ext>
          </a:extLst>
        </p:cNvPr>
        <p:cNvGrpSpPr/>
        <p:nvPr/>
      </p:nvGrpSpPr>
      <p:grpSpPr>
        <a:xfrm>
          <a:off x="0" y="0"/>
          <a:ext cx="0" cy="0"/>
          <a:chOff x="0" y="0"/>
          <a:chExt cx="0" cy="0"/>
        </a:xfrm>
      </p:grpSpPr>
      <p:sp>
        <p:nvSpPr>
          <p:cNvPr id="7" name="Título 3">
            <a:extLst>
              <a:ext uri="{FF2B5EF4-FFF2-40B4-BE49-F238E27FC236}">
                <a16:creationId xmlns:a16="http://schemas.microsoft.com/office/drawing/2014/main" id="{81B0EC7E-7592-2E1A-1E3E-9109B3EA0A99}"/>
              </a:ext>
            </a:extLst>
          </p:cNvPr>
          <p:cNvSpPr txBox="1">
            <a:spLocks/>
          </p:cNvSpPr>
          <p:nvPr/>
        </p:nvSpPr>
        <p:spPr>
          <a:xfrm>
            <a:off x="777197" y="99140"/>
            <a:ext cx="10244372"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TSAAREV - Revisión de detalle de cuenta - alumnos</a:t>
            </a:r>
            <a:endParaRPr lang="es-CL"/>
          </a:p>
        </p:txBody>
      </p:sp>
      <p:sp>
        <p:nvSpPr>
          <p:cNvPr id="6" name="Rectángulo: esquinas redondeadas 5">
            <a:extLst>
              <a:ext uri="{FF2B5EF4-FFF2-40B4-BE49-F238E27FC236}">
                <a16:creationId xmlns:a16="http://schemas.microsoft.com/office/drawing/2014/main" id="{318F08B3-F7F8-DCFA-0E96-AF19ED2EDA6C}"/>
              </a:ext>
            </a:extLst>
          </p:cNvPr>
          <p:cNvSpPr/>
          <p:nvPr/>
        </p:nvSpPr>
        <p:spPr>
          <a:xfrm>
            <a:off x="950977" y="5518632"/>
            <a:ext cx="10152932" cy="87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a:t>Cuenta corriente del estudiante con el Plan de Pagos aplicado:</a:t>
            </a:r>
          </a:p>
          <a:p>
            <a:r>
              <a:rPr lang="es-CO" sz="1200"/>
              <a:t>Plan de Pago Automático generado al segundo estudiante, considerando solo el valor de la matrícula (MATR) en función a lo </a:t>
            </a:r>
            <a:r>
              <a:rPr lang="es-CO" sz="1200">
                <a:solidFill>
                  <a:schemeClr val="bg1"/>
                </a:solidFill>
              </a:rPr>
              <a:t>configurado y los registros de la cuenta corriente antes de su aplicación.</a:t>
            </a:r>
          </a:p>
        </p:txBody>
      </p:sp>
      <p:pic>
        <p:nvPicPr>
          <p:cNvPr id="4" name="Imagen 3">
            <a:extLst>
              <a:ext uri="{FF2B5EF4-FFF2-40B4-BE49-F238E27FC236}">
                <a16:creationId xmlns:a16="http://schemas.microsoft.com/office/drawing/2014/main" id="{55C7D979-4782-80FD-DA91-DBEA98554AC4}"/>
              </a:ext>
            </a:extLst>
          </p:cNvPr>
          <p:cNvPicPr>
            <a:picLocks noChangeAspect="1"/>
          </p:cNvPicPr>
          <p:nvPr/>
        </p:nvPicPr>
        <p:blipFill>
          <a:blip r:embed="rId2"/>
          <a:stretch>
            <a:fillRect/>
          </a:stretch>
        </p:blipFill>
        <p:spPr>
          <a:xfrm>
            <a:off x="886947" y="956957"/>
            <a:ext cx="10024872" cy="4435183"/>
          </a:xfrm>
          <a:prstGeom prst="rect">
            <a:avLst/>
          </a:prstGeom>
        </p:spPr>
      </p:pic>
    </p:spTree>
    <p:extLst>
      <p:ext uri="{BB962C8B-B14F-4D97-AF65-F5344CB8AC3E}">
        <p14:creationId xmlns:p14="http://schemas.microsoft.com/office/powerpoint/2010/main" val="38286822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FF159-BCBC-C318-DF18-F14C2446423B}"/>
            </a:ext>
          </a:extLst>
        </p:cNvPr>
        <p:cNvGrpSpPr/>
        <p:nvPr/>
      </p:nvGrpSpPr>
      <p:grpSpPr>
        <a:xfrm>
          <a:off x="0" y="0"/>
          <a:ext cx="0" cy="0"/>
          <a:chOff x="0" y="0"/>
          <a:chExt cx="0" cy="0"/>
        </a:xfrm>
      </p:grpSpPr>
      <p:sp>
        <p:nvSpPr>
          <p:cNvPr id="7" name="Título 3">
            <a:extLst>
              <a:ext uri="{FF2B5EF4-FFF2-40B4-BE49-F238E27FC236}">
                <a16:creationId xmlns:a16="http://schemas.microsoft.com/office/drawing/2014/main" id="{36BF3A6D-987A-C263-8D48-D313B11588C4}"/>
              </a:ext>
            </a:extLst>
          </p:cNvPr>
          <p:cNvSpPr txBox="1">
            <a:spLocks/>
          </p:cNvSpPr>
          <p:nvPr/>
        </p:nvSpPr>
        <p:spPr>
          <a:xfrm>
            <a:off x="777197" y="99140"/>
            <a:ext cx="10244372" cy="9979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TSAAREV - Revisión de detalle de cuenta - alumnos</a:t>
            </a:r>
            <a:endParaRPr lang="es-CL"/>
          </a:p>
        </p:txBody>
      </p:sp>
      <p:sp>
        <p:nvSpPr>
          <p:cNvPr id="6" name="Rectángulo: esquinas redondeadas 5">
            <a:extLst>
              <a:ext uri="{FF2B5EF4-FFF2-40B4-BE49-F238E27FC236}">
                <a16:creationId xmlns:a16="http://schemas.microsoft.com/office/drawing/2014/main" id="{FB3C3386-420E-1843-7396-3D96DD345966}"/>
              </a:ext>
            </a:extLst>
          </p:cNvPr>
          <p:cNvSpPr/>
          <p:nvPr/>
        </p:nvSpPr>
        <p:spPr>
          <a:xfrm>
            <a:off x="950977" y="5518632"/>
            <a:ext cx="10152932" cy="87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a:t>Cuenta corriente del estudiante con el Plan de Pagos aplicado:</a:t>
            </a:r>
          </a:p>
          <a:p>
            <a:r>
              <a:rPr lang="es-CO" sz="1200"/>
              <a:t>Plan de Pago Automático generado al tercer estudiante, considerando solo el valor de la matrícula (MATR) en función a lo configurado </a:t>
            </a:r>
            <a:r>
              <a:rPr lang="es-CO" sz="1200">
                <a:solidFill>
                  <a:schemeClr val="bg1"/>
                </a:solidFill>
              </a:rPr>
              <a:t>y los registros de la cuenta corriente antes de su aplicación.</a:t>
            </a:r>
          </a:p>
        </p:txBody>
      </p:sp>
      <p:pic>
        <p:nvPicPr>
          <p:cNvPr id="3" name="Imagen 2">
            <a:extLst>
              <a:ext uri="{FF2B5EF4-FFF2-40B4-BE49-F238E27FC236}">
                <a16:creationId xmlns:a16="http://schemas.microsoft.com/office/drawing/2014/main" id="{985EA58B-D1AF-5754-291B-3CB78CE8FA13}"/>
              </a:ext>
            </a:extLst>
          </p:cNvPr>
          <p:cNvPicPr>
            <a:picLocks noChangeAspect="1"/>
          </p:cNvPicPr>
          <p:nvPr/>
        </p:nvPicPr>
        <p:blipFill>
          <a:blip r:embed="rId2"/>
          <a:stretch>
            <a:fillRect/>
          </a:stretch>
        </p:blipFill>
        <p:spPr>
          <a:xfrm>
            <a:off x="1019533" y="1016320"/>
            <a:ext cx="10152933" cy="4368613"/>
          </a:xfrm>
          <a:prstGeom prst="rect">
            <a:avLst/>
          </a:prstGeom>
        </p:spPr>
      </p:pic>
    </p:spTree>
    <p:extLst>
      <p:ext uri="{BB962C8B-B14F-4D97-AF65-F5344CB8AC3E}">
        <p14:creationId xmlns:p14="http://schemas.microsoft.com/office/powerpoint/2010/main" val="20910066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4A3C4-E164-28F1-DA89-7F78EADD4659}"/>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97C39066-5675-DD7B-69C7-CD89F74A362A}"/>
              </a:ext>
            </a:extLst>
          </p:cNvPr>
          <p:cNvSpPr txBox="1"/>
          <p:nvPr/>
        </p:nvSpPr>
        <p:spPr>
          <a:xfrm>
            <a:off x="693025" y="2514385"/>
            <a:ext cx="10709543" cy="1015663"/>
          </a:xfrm>
          <a:prstGeom prst="rect">
            <a:avLst/>
          </a:prstGeom>
          <a:noFill/>
        </p:spPr>
        <p:txBody>
          <a:bodyPr wrap="square">
            <a:spAutoFit/>
          </a:bodyPr>
          <a:lstStyle/>
          <a:p>
            <a:r>
              <a:rPr lang="es-CO" sz="6000" b="1">
                <a:solidFill>
                  <a:schemeClr val="bg1"/>
                </a:solidFill>
              </a:rPr>
              <a:t>Consulta de Planes de Pago</a:t>
            </a:r>
            <a:endParaRPr lang="en-US" sz="6000" b="1">
              <a:solidFill>
                <a:schemeClr val="bg1"/>
              </a:solidFill>
            </a:endParaRPr>
          </a:p>
        </p:txBody>
      </p:sp>
      <p:sp>
        <p:nvSpPr>
          <p:cNvPr id="2" name="Text Placeholder 16">
            <a:extLst>
              <a:ext uri="{FF2B5EF4-FFF2-40B4-BE49-F238E27FC236}">
                <a16:creationId xmlns:a16="http://schemas.microsoft.com/office/drawing/2014/main" id="{B58E4F9C-7411-261A-DFC5-0DDC10E400DE}"/>
              </a:ext>
            </a:extLst>
          </p:cNvPr>
          <p:cNvSpPr txBox="1">
            <a:spLocks/>
          </p:cNvSpPr>
          <p:nvPr/>
        </p:nvSpPr>
        <p:spPr>
          <a:xfrm>
            <a:off x="789432" y="3530048"/>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a:solidFill>
                  <a:schemeClr val="bg1"/>
                </a:solidFill>
              </a:rPr>
              <a:t>Gestionar los planes de pago</a:t>
            </a:r>
          </a:p>
        </p:txBody>
      </p:sp>
    </p:spTree>
    <p:extLst>
      <p:ext uri="{BB962C8B-B14F-4D97-AF65-F5344CB8AC3E}">
        <p14:creationId xmlns:p14="http://schemas.microsoft.com/office/powerpoint/2010/main" val="31409238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A53C6-0C35-7F0A-7DCC-7680D020C10E}"/>
            </a:ext>
          </a:extLst>
        </p:cNvPr>
        <p:cNvGrpSpPr/>
        <p:nvPr/>
      </p:nvGrpSpPr>
      <p:grpSpPr>
        <a:xfrm>
          <a:off x="0" y="0"/>
          <a:ext cx="0" cy="0"/>
          <a:chOff x="0" y="0"/>
          <a:chExt cx="0" cy="0"/>
        </a:xfrm>
      </p:grpSpPr>
      <p:sp>
        <p:nvSpPr>
          <p:cNvPr id="7" name="Título 3">
            <a:extLst>
              <a:ext uri="{FF2B5EF4-FFF2-40B4-BE49-F238E27FC236}">
                <a16:creationId xmlns:a16="http://schemas.microsoft.com/office/drawing/2014/main" id="{89CDC152-540B-96E9-6DB9-D0FD6E6979D0}"/>
              </a:ext>
            </a:extLst>
          </p:cNvPr>
          <p:cNvSpPr txBox="1">
            <a:spLocks/>
          </p:cNvSpPr>
          <p:nvPr/>
        </p:nvSpPr>
        <p:spPr>
          <a:xfrm>
            <a:off x="866393" y="529136"/>
            <a:ext cx="10244372" cy="60494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TSAISTP – Monto del Pago del Plan de Pagos </a:t>
            </a:r>
            <a:endParaRPr lang="es-CL"/>
          </a:p>
        </p:txBody>
      </p:sp>
      <p:sp>
        <p:nvSpPr>
          <p:cNvPr id="6" name="Rectángulo: esquinas redondeadas 5">
            <a:extLst>
              <a:ext uri="{FF2B5EF4-FFF2-40B4-BE49-F238E27FC236}">
                <a16:creationId xmlns:a16="http://schemas.microsoft.com/office/drawing/2014/main" id="{EAF91789-EF32-18E2-5C91-FDD0E53F82C5}"/>
              </a:ext>
            </a:extLst>
          </p:cNvPr>
          <p:cNvSpPr/>
          <p:nvPr/>
        </p:nvSpPr>
        <p:spPr>
          <a:xfrm>
            <a:off x="827531" y="4325589"/>
            <a:ext cx="10322097" cy="87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a:t>Distribución del Plan de Pagos:</a:t>
            </a:r>
          </a:p>
          <a:p>
            <a:r>
              <a:rPr lang="es-CO" sz="1200"/>
              <a:t>En TSAISTP se requiere ingresar el ID del estudiante y el periodo académico a evaluar, posterior se debe seleccionar </a:t>
            </a:r>
            <a:r>
              <a:rPr lang="es-CO" sz="1200" b="1"/>
              <a:t>IR.</a:t>
            </a:r>
          </a:p>
        </p:txBody>
      </p:sp>
      <p:pic>
        <p:nvPicPr>
          <p:cNvPr id="8" name="Imagen 7">
            <a:extLst>
              <a:ext uri="{FF2B5EF4-FFF2-40B4-BE49-F238E27FC236}">
                <a16:creationId xmlns:a16="http://schemas.microsoft.com/office/drawing/2014/main" id="{68647DB5-5ED9-0CDA-1C84-F23AA9EB9871}"/>
              </a:ext>
            </a:extLst>
          </p:cNvPr>
          <p:cNvPicPr>
            <a:picLocks noChangeAspect="1"/>
          </p:cNvPicPr>
          <p:nvPr/>
        </p:nvPicPr>
        <p:blipFill>
          <a:blip r:embed="rId2"/>
          <a:stretch>
            <a:fillRect/>
          </a:stretch>
        </p:blipFill>
        <p:spPr>
          <a:xfrm>
            <a:off x="827531" y="2141066"/>
            <a:ext cx="10224784" cy="1630425"/>
          </a:xfrm>
          <a:prstGeom prst="rect">
            <a:avLst/>
          </a:prstGeom>
        </p:spPr>
      </p:pic>
    </p:spTree>
    <p:extLst>
      <p:ext uri="{BB962C8B-B14F-4D97-AF65-F5344CB8AC3E}">
        <p14:creationId xmlns:p14="http://schemas.microsoft.com/office/powerpoint/2010/main" val="19448868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44093-6261-94D6-4112-3F3D89A1B24B}"/>
            </a:ext>
          </a:extLst>
        </p:cNvPr>
        <p:cNvGrpSpPr/>
        <p:nvPr/>
      </p:nvGrpSpPr>
      <p:grpSpPr>
        <a:xfrm>
          <a:off x="0" y="0"/>
          <a:ext cx="0" cy="0"/>
          <a:chOff x="0" y="0"/>
          <a:chExt cx="0" cy="0"/>
        </a:xfrm>
      </p:grpSpPr>
      <p:sp>
        <p:nvSpPr>
          <p:cNvPr id="7" name="Título 3">
            <a:extLst>
              <a:ext uri="{FF2B5EF4-FFF2-40B4-BE49-F238E27FC236}">
                <a16:creationId xmlns:a16="http://schemas.microsoft.com/office/drawing/2014/main" id="{7AE35470-E5F2-629F-2326-9D2D3FF4A775}"/>
              </a:ext>
            </a:extLst>
          </p:cNvPr>
          <p:cNvSpPr txBox="1">
            <a:spLocks/>
          </p:cNvSpPr>
          <p:nvPr/>
        </p:nvSpPr>
        <p:spPr>
          <a:xfrm>
            <a:off x="761238" y="593394"/>
            <a:ext cx="10244372" cy="60494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TSAISTP – Monto del Pago del Plan de Pagos </a:t>
            </a:r>
            <a:endParaRPr lang="es-CL"/>
          </a:p>
        </p:txBody>
      </p:sp>
      <p:sp>
        <p:nvSpPr>
          <p:cNvPr id="6" name="Rectángulo: esquinas redondeadas 5">
            <a:extLst>
              <a:ext uri="{FF2B5EF4-FFF2-40B4-BE49-F238E27FC236}">
                <a16:creationId xmlns:a16="http://schemas.microsoft.com/office/drawing/2014/main" id="{3459B001-CA78-D676-2EDA-A306CB011482}"/>
              </a:ext>
            </a:extLst>
          </p:cNvPr>
          <p:cNvSpPr/>
          <p:nvPr/>
        </p:nvSpPr>
        <p:spPr>
          <a:xfrm>
            <a:off x="761238" y="4929092"/>
            <a:ext cx="10322097" cy="114252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a:t>Distribución del Plan de Pagos:</a:t>
            </a:r>
          </a:p>
          <a:p>
            <a:endParaRPr lang="es-CO" sz="1200" b="1"/>
          </a:p>
          <a:p>
            <a:r>
              <a:rPr lang="es-CO" sz="1200"/>
              <a:t>En la segunda ventana de TSAISTP se puede visualizar la distribución de las cuotas generadas en función a los planes de pago que pudiera tener un estudiante para un determinado periodo académico.</a:t>
            </a:r>
          </a:p>
        </p:txBody>
      </p:sp>
      <p:pic>
        <p:nvPicPr>
          <p:cNvPr id="3" name="Imagen 2">
            <a:extLst>
              <a:ext uri="{FF2B5EF4-FFF2-40B4-BE49-F238E27FC236}">
                <a16:creationId xmlns:a16="http://schemas.microsoft.com/office/drawing/2014/main" id="{F7E9F011-D760-03F6-7001-C1C3786A8A19}"/>
              </a:ext>
            </a:extLst>
          </p:cNvPr>
          <p:cNvPicPr>
            <a:picLocks noChangeAspect="1"/>
          </p:cNvPicPr>
          <p:nvPr/>
        </p:nvPicPr>
        <p:blipFill>
          <a:blip r:embed="rId2"/>
          <a:stretch>
            <a:fillRect/>
          </a:stretch>
        </p:blipFill>
        <p:spPr>
          <a:xfrm>
            <a:off x="793734" y="1848613"/>
            <a:ext cx="10517394" cy="2410237"/>
          </a:xfrm>
          <a:prstGeom prst="rect">
            <a:avLst/>
          </a:prstGeom>
        </p:spPr>
      </p:pic>
      <p:pic>
        <p:nvPicPr>
          <p:cNvPr id="5" name="Imagen 4">
            <a:extLst>
              <a:ext uri="{FF2B5EF4-FFF2-40B4-BE49-F238E27FC236}">
                <a16:creationId xmlns:a16="http://schemas.microsoft.com/office/drawing/2014/main" id="{B94AAC64-0613-F275-6FF4-8FD51B397A42}"/>
              </a:ext>
            </a:extLst>
          </p:cNvPr>
          <p:cNvPicPr>
            <a:picLocks noChangeAspect="1"/>
          </p:cNvPicPr>
          <p:nvPr/>
        </p:nvPicPr>
        <p:blipFill>
          <a:blip r:embed="rId3"/>
          <a:stretch>
            <a:fillRect/>
          </a:stretch>
        </p:blipFill>
        <p:spPr>
          <a:xfrm>
            <a:off x="793734" y="4258850"/>
            <a:ext cx="10517394" cy="329011"/>
          </a:xfrm>
          <a:prstGeom prst="rect">
            <a:avLst/>
          </a:prstGeom>
        </p:spPr>
      </p:pic>
    </p:spTree>
    <p:extLst>
      <p:ext uri="{BB962C8B-B14F-4D97-AF65-F5344CB8AC3E}">
        <p14:creationId xmlns:p14="http://schemas.microsoft.com/office/powerpoint/2010/main" val="30632815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EE6EA-F7DD-86D1-0414-856B0AAA61D6}"/>
            </a:ext>
          </a:extLst>
        </p:cNvPr>
        <p:cNvGrpSpPr/>
        <p:nvPr/>
      </p:nvGrpSpPr>
      <p:grpSpPr>
        <a:xfrm>
          <a:off x="0" y="0"/>
          <a:ext cx="0" cy="0"/>
          <a:chOff x="0" y="0"/>
          <a:chExt cx="0" cy="0"/>
        </a:xfrm>
      </p:grpSpPr>
      <p:sp>
        <p:nvSpPr>
          <p:cNvPr id="7" name="Título 3">
            <a:extLst>
              <a:ext uri="{FF2B5EF4-FFF2-40B4-BE49-F238E27FC236}">
                <a16:creationId xmlns:a16="http://schemas.microsoft.com/office/drawing/2014/main" id="{4CE933AB-54CB-8680-C2FA-BE78DD41C504}"/>
              </a:ext>
            </a:extLst>
          </p:cNvPr>
          <p:cNvSpPr txBox="1">
            <a:spLocks/>
          </p:cNvSpPr>
          <p:nvPr/>
        </p:nvSpPr>
        <p:spPr>
          <a:xfrm>
            <a:off x="761238" y="593394"/>
            <a:ext cx="10244372" cy="60494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Proceso: </a:t>
            </a:r>
            <a:r>
              <a:rPr lang="es-CO" sz="3200"/>
              <a:t>TSAISTP – Monto del Pago del Plan de Pagos </a:t>
            </a:r>
            <a:endParaRPr lang="es-CL"/>
          </a:p>
        </p:txBody>
      </p:sp>
      <p:sp>
        <p:nvSpPr>
          <p:cNvPr id="6" name="Rectángulo: esquinas redondeadas 5">
            <a:extLst>
              <a:ext uri="{FF2B5EF4-FFF2-40B4-BE49-F238E27FC236}">
                <a16:creationId xmlns:a16="http://schemas.microsoft.com/office/drawing/2014/main" id="{D6B94CB9-99F4-0A57-43CE-8C2B13824528}"/>
              </a:ext>
            </a:extLst>
          </p:cNvPr>
          <p:cNvSpPr/>
          <p:nvPr/>
        </p:nvSpPr>
        <p:spPr>
          <a:xfrm>
            <a:off x="779975" y="4918187"/>
            <a:ext cx="10632049" cy="91568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a:t>Distribución del Plan de Pagos:</a:t>
            </a:r>
          </a:p>
          <a:p>
            <a:endParaRPr lang="es-CO" sz="1200"/>
          </a:p>
          <a:p>
            <a:r>
              <a:rPr lang="es-CO" sz="1200"/>
              <a:t>La tercera ventana de TSAISTP muestra la configuración a detalle de la distribución de las cuotas generadas por cada plan de pago asignado al estudiante.</a:t>
            </a:r>
          </a:p>
        </p:txBody>
      </p:sp>
      <p:pic>
        <p:nvPicPr>
          <p:cNvPr id="4" name="Imagen 3">
            <a:extLst>
              <a:ext uri="{FF2B5EF4-FFF2-40B4-BE49-F238E27FC236}">
                <a16:creationId xmlns:a16="http://schemas.microsoft.com/office/drawing/2014/main" id="{B97F20F6-5CD7-778C-A7FF-C3D0BCD62716}"/>
              </a:ext>
            </a:extLst>
          </p:cNvPr>
          <p:cNvPicPr>
            <a:picLocks noChangeAspect="1"/>
          </p:cNvPicPr>
          <p:nvPr/>
        </p:nvPicPr>
        <p:blipFill>
          <a:blip r:embed="rId2"/>
          <a:stretch>
            <a:fillRect/>
          </a:stretch>
        </p:blipFill>
        <p:spPr>
          <a:xfrm>
            <a:off x="779975" y="1836604"/>
            <a:ext cx="10632049" cy="2443321"/>
          </a:xfrm>
          <a:prstGeom prst="rect">
            <a:avLst/>
          </a:prstGeom>
        </p:spPr>
      </p:pic>
    </p:spTree>
    <p:extLst>
      <p:ext uri="{BB962C8B-B14F-4D97-AF65-F5344CB8AC3E}">
        <p14:creationId xmlns:p14="http://schemas.microsoft.com/office/powerpoint/2010/main" val="42244225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7982-C623-84A1-1BE8-CEFEECD8FF19}"/>
            </a:ext>
          </a:extLst>
        </p:cNvPr>
        <p:cNvGrpSpPr/>
        <p:nvPr/>
      </p:nvGrpSpPr>
      <p:grpSpPr>
        <a:xfrm>
          <a:off x="0" y="0"/>
          <a:ext cx="0" cy="0"/>
          <a:chOff x="0" y="0"/>
          <a:chExt cx="0" cy="0"/>
        </a:xfrm>
      </p:grpSpPr>
      <p:sp>
        <p:nvSpPr>
          <p:cNvPr id="2" name="Text Placeholder 16">
            <a:extLst>
              <a:ext uri="{FF2B5EF4-FFF2-40B4-BE49-F238E27FC236}">
                <a16:creationId xmlns:a16="http://schemas.microsoft.com/office/drawing/2014/main" id="{5F08A867-A823-9073-494E-98AA6C7A78BF}"/>
              </a:ext>
            </a:extLst>
          </p:cNvPr>
          <p:cNvSpPr txBox="1">
            <a:spLocks/>
          </p:cNvSpPr>
          <p:nvPr/>
        </p:nvSpPr>
        <p:spPr>
          <a:xfrm>
            <a:off x="789432" y="3530048"/>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s-CO" sz="2000" b="1">
              <a:solidFill>
                <a:schemeClr val="bg1"/>
              </a:solidFill>
            </a:endParaRPr>
          </a:p>
        </p:txBody>
      </p:sp>
      <p:sp>
        <p:nvSpPr>
          <p:cNvPr id="6" name="CuadroTexto 5">
            <a:extLst>
              <a:ext uri="{FF2B5EF4-FFF2-40B4-BE49-F238E27FC236}">
                <a16:creationId xmlns:a16="http://schemas.microsoft.com/office/drawing/2014/main" id="{C94D9F5F-C73D-0BA9-4F2D-7ABE203AA4B1}"/>
              </a:ext>
            </a:extLst>
          </p:cNvPr>
          <p:cNvSpPr txBox="1"/>
          <p:nvPr/>
        </p:nvSpPr>
        <p:spPr>
          <a:xfrm>
            <a:off x="382524" y="1799977"/>
            <a:ext cx="11426952" cy="2862322"/>
          </a:xfrm>
          <a:prstGeom prst="rect">
            <a:avLst/>
          </a:prstGeom>
          <a:noFill/>
        </p:spPr>
        <p:txBody>
          <a:bodyPr wrap="square">
            <a:spAutoFit/>
          </a:bodyPr>
          <a:lstStyle/>
          <a:p>
            <a:r>
              <a:rPr lang="es-CO" sz="6000" b="1">
                <a:solidFill>
                  <a:schemeClr val="bg1"/>
                </a:solidFill>
              </a:rPr>
              <a:t>Gestionar la refinanciación o cambio de condiciones planes de pago</a:t>
            </a:r>
          </a:p>
        </p:txBody>
      </p:sp>
      <p:sp>
        <p:nvSpPr>
          <p:cNvPr id="7" name="Text Placeholder 16">
            <a:extLst>
              <a:ext uri="{FF2B5EF4-FFF2-40B4-BE49-F238E27FC236}">
                <a16:creationId xmlns:a16="http://schemas.microsoft.com/office/drawing/2014/main" id="{84E33F88-24F1-847C-18A8-0B425142AAE8}"/>
              </a:ext>
            </a:extLst>
          </p:cNvPr>
          <p:cNvSpPr txBox="1">
            <a:spLocks/>
          </p:cNvSpPr>
          <p:nvPr/>
        </p:nvSpPr>
        <p:spPr>
          <a:xfrm>
            <a:off x="448056" y="5357891"/>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a:solidFill>
                  <a:schemeClr val="bg1"/>
                </a:solidFill>
              </a:rPr>
              <a:t>Gestionar los planes de pago</a:t>
            </a:r>
          </a:p>
        </p:txBody>
      </p:sp>
    </p:spTree>
    <p:extLst>
      <p:ext uri="{BB962C8B-B14F-4D97-AF65-F5344CB8AC3E}">
        <p14:creationId xmlns:p14="http://schemas.microsoft.com/office/powerpoint/2010/main" val="24958349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3F9CB-A537-F84F-3FE2-A070B28DD1A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066CD56-78F2-4676-8E44-35199B7E5E07}"/>
              </a:ext>
            </a:extLst>
          </p:cNvPr>
          <p:cNvSpPr txBox="1">
            <a:spLocks/>
          </p:cNvSpPr>
          <p:nvPr/>
        </p:nvSpPr>
        <p:spPr>
          <a:xfrm>
            <a:off x="1350264" y="201225"/>
            <a:ext cx="10143746"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a:solidFill>
                  <a:schemeClr val="accent1"/>
                </a:solidFill>
              </a:rPr>
              <a:t>Overview: </a:t>
            </a:r>
            <a:r>
              <a:rPr lang="es-CO" sz="2800"/>
              <a:t>Gestionar la refinanciación o cambio de condiciones planes de pago</a:t>
            </a:r>
          </a:p>
          <a:p>
            <a:endParaRPr lang="es-CO" sz="2800"/>
          </a:p>
          <a:p>
            <a:r>
              <a:rPr lang="es-CO" sz="2800"/>
              <a:t>  </a:t>
            </a:r>
            <a:endParaRPr lang="es-CL" sz="3000"/>
          </a:p>
        </p:txBody>
      </p:sp>
      <p:pic>
        <p:nvPicPr>
          <p:cNvPr id="4" name="Imagen 3">
            <a:extLst>
              <a:ext uri="{FF2B5EF4-FFF2-40B4-BE49-F238E27FC236}">
                <a16:creationId xmlns:a16="http://schemas.microsoft.com/office/drawing/2014/main" id="{6E695C4E-F7EE-BD36-3FD6-0A89F70268C4}"/>
              </a:ext>
            </a:extLst>
          </p:cNvPr>
          <p:cNvPicPr>
            <a:picLocks noChangeAspect="1"/>
          </p:cNvPicPr>
          <p:nvPr/>
        </p:nvPicPr>
        <p:blipFill>
          <a:blip r:embed="rId3"/>
          <a:srcRect l="21225" t="2857" r="925" b="2041"/>
          <a:stretch>
            <a:fillRect/>
          </a:stretch>
        </p:blipFill>
        <p:spPr>
          <a:xfrm>
            <a:off x="1350264" y="1070759"/>
            <a:ext cx="9491472" cy="5330952"/>
          </a:xfrm>
          <a:prstGeom prst="rect">
            <a:avLst/>
          </a:prstGeom>
        </p:spPr>
      </p:pic>
    </p:spTree>
    <p:extLst>
      <p:ext uri="{BB962C8B-B14F-4D97-AF65-F5344CB8AC3E}">
        <p14:creationId xmlns:p14="http://schemas.microsoft.com/office/powerpoint/2010/main" val="3183716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9AED2-C369-E810-45D8-B59978D061A5}"/>
            </a:ext>
          </a:extLst>
        </p:cNvPr>
        <p:cNvGrpSpPr/>
        <p:nvPr/>
      </p:nvGrpSpPr>
      <p:grpSpPr>
        <a:xfrm>
          <a:off x="0" y="0"/>
          <a:ext cx="0" cy="0"/>
          <a:chOff x="0" y="0"/>
          <a:chExt cx="0" cy="0"/>
        </a:xfrm>
      </p:grpSpPr>
      <p:sp>
        <p:nvSpPr>
          <p:cNvPr id="7" name="Título 3">
            <a:extLst>
              <a:ext uri="{FF2B5EF4-FFF2-40B4-BE49-F238E27FC236}">
                <a16:creationId xmlns:a16="http://schemas.microsoft.com/office/drawing/2014/main" id="{CC20A8A0-2CE4-E582-3A21-631CB7B2CE6A}"/>
              </a:ext>
            </a:extLst>
          </p:cNvPr>
          <p:cNvSpPr txBox="1">
            <a:spLocks/>
          </p:cNvSpPr>
          <p:nvPr/>
        </p:nvSpPr>
        <p:spPr>
          <a:xfrm>
            <a:off x="859494" y="181914"/>
            <a:ext cx="10244372" cy="60494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Escenario Previo</a:t>
            </a:r>
            <a:r>
              <a:rPr lang="es-CO" sz="3200"/>
              <a:t>: TSADETC Control código detalle – alumnos </a:t>
            </a:r>
            <a:endParaRPr lang="es-CL"/>
          </a:p>
        </p:txBody>
      </p:sp>
      <p:sp>
        <p:nvSpPr>
          <p:cNvPr id="6" name="Rectángulo: esquinas redondeadas 5">
            <a:extLst>
              <a:ext uri="{FF2B5EF4-FFF2-40B4-BE49-F238E27FC236}">
                <a16:creationId xmlns:a16="http://schemas.microsoft.com/office/drawing/2014/main" id="{72E54870-7A2F-3F18-07B4-32A47F866B93}"/>
              </a:ext>
            </a:extLst>
          </p:cNvPr>
          <p:cNvSpPr/>
          <p:nvPr/>
        </p:nvSpPr>
        <p:spPr>
          <a:xfrm>
            <a:off x="973814" y="5724143"/>
            <a:ext cx="10130052" cy="74413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Este es el conjunto de códigos de detalle que utilizaría la repactación, lo cual condiciona las prioridades de estos códigos de detalle en función a las configuraciones de la institución sobre los intereses y multas.</a:t>
            </a:r>
          </a:p>
        </p:txBody>
      </p:sp>
      <p:pic>
        <p:nvPicPr>
          <p:cNvPr id="3" name="Imagen 2">
            <a:extLst>
              <a:ext uri="{FF2B5EF4-FFF2-40B4-BE49-F238E27FC236}">
                <a16:creationId xmlns:a16="http://schemas.microsoft.com/office/drawing/2014/main" id="{5CF062BF-D96A-D732-0A8D-C18A9E7800E4}"/>
              </a:ext>
            </a:extLst>
          </p:cNvPr>
          <p:cNvPicPr>
            <a:picLocks noChangeAspect="1"/>
          </p:cNvPicPr>
          <p:nvPr/>
        </p:nvPicPr>
        <p:blipFill>
          <a:blip r:embed="rId2"/>
          <a:stretch>
            <a:fillRect/>
          </a:stretch>
        </p:blipFill>
        <p:spPr>
          <a:xfrm>
            <a:off x="1153287" y="1183294"/>
            <a:ext cx="9656786" cy="4491411"/>
          </a:xfrm>
          <a:prstGeom prst="rect">
            <a:avLst/>
          </a:prstGeom>
        </p:spPr>
      </p:pic>
    </p:spTree>
    <p:extLst>
      <p:ext uri="{BB962C8B-B14F-4D97-AF65-F5344CB8AC3E}">
        <p14:creationId xmlns:p14="http://schemas.microsoft.com/office/powerpoint/2010/main" val="35868444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0DDF4-7A9B-8C71-E1DF-59242DB48A4B}"/>
            </a:ext>
          </a:extLst>
        </p:cNvPr>
        <p:cNvGrpSpPr/>
        <p:nvPr/>
      </p:nvGrpSpPr>
      <p:grpSpPr>
        <a:xfrm>
          <a:off x="0" y="0"/>
          <a:ext cx="0" cy="0"/>
          <a:chOff x="0" y="0"/>
          <a:chExt cx="0" cy="0"/>
        </a:xfrm>
      </p:grpSpPr>
      <p:sp>
        <p:nvSpPr>
          <p:cNvPr id="7" name="Título 3">
            <a:extLst>
              <a:ext uri="{FF2B5EF4-FFF2-40B4-BE49-F238E27FC236}">
                <a16:creationId xmlns:a16="http://schemas.microsoft.com/office/drawing/2014/main" id="{F6786665-7517-AF06-5CE4-E55025073137}"/>
              </a:ext>
            </a:extLst>
          </p:cNvPr>
          <p:cNvSpPr txBox="1">
            <a:spLocks/>
          </p:cNvSpPr>
          <p:nvPr/>
        </p:nvSpPr>
        <p:spPr>
          <a:xfrm>
            <a:off x="909808" y="414795"/>
            <a:ext cx="10244372" cy="9770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Repactación: </a:t>
            </a:r>
            <a:r>
              <a:rPr lang="es-CO" sz="3200"/>
              <a:t>TSAISTC - Control de los códigos del plan de pagos - alumnos </a:t>
            </a:r>
            <a:endParaRPr lang="es-CL"/>
          </a:p>
        </p:txBody>
      </p:sp>
      <p:sp>
        <p:nvSpPr>
          <p:cNvPr id="6" name="Rectángulo: esquinas redondeadas 5">
            <a:extLst>
              <a:ext uri="{FF2B5EF4-FFF2-40B4-BE49-F238E27FC236}">
                <a16:creationId xmlns:a16="http://schemas.microsoft.com/office/drawing/2014/main" id="{A1AB83AB-2508-16EF-B545-1BA0241536BB}"/>
              </a:ext>
            </a:extLst>
          </p:cNvPr>
          <p:cNvSpPr/>
          <p:nvPr/>
        </p:nvSpPr>
        <p:spPr>
          <a:xfrm>
            <a:off x="918952" y="4451082"/>
            <a:ext cx="10244372" cy="74413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Se requiere de un </a:t>
            </a:r>
            <a:r>
              <a:rPr lang="es-CO" sz="1200" b="1"/>
              <a:t>Plan De Pagos Manual</a:t>
            </a:r>
            <a:r>
              <a:rPr lang="es-CO" sz="1200"/>
              <a:t> con el cual se realizará la repactación de una deuda, esto quiere decir que el campo Plan de Pagos automático </a:t>
            </a:r>
            <a:r>
              <a:rPr lang="es-CO" sz="1200" b="1"/>
              <a:t>No</a:t>
            </a:r>
            <a:r>
              <a:rPr lang="es-CO" sz="1200"/>
              <a:t> debe estar marcado.</a:t>
            </a:r>
          </a:p>
        </p:txBody>
      </p:sp>
      <p:pic>
        <p:nvPicPr>
          <p:cNvPr id="4" name="Imagen 3">
            <a:extLst>
              <a:ext uri="{FF2B5EF4-FFF2-40B4-BE49-F238E27FC236}">
                <a16:creationId xmlns:a16="http://schemas.microsoft.com/office/drawing/2014/main" id="{622548B8-C0D0-8989-9E45-01C5D317EE13}"/>
              </a:ext>
            </a:extLst>
          </p:cNvPr>
          <p:cNvPicPr>
            <a:picLocks noChangeAspect="1"/>
          </p:cNvPicPr>
          <p:nvPr/>
        </p:nvPicPr>
        <p:blipFill>
          <a:blip r:embed="rId2"/>
          <a:stretch>
            <a:fillRect/>
          </a:stretch>
        </p:blipFill>
        <p:spPr>
          <a:xfrm>
            <a:off x="960122" y="2098715"/>
            <a:ext cx="10143744" cy="1888069"/>
          </a:xfrm>
          <a:prstGeom prst="rect">
            <a:avLst/>
          </a:prstGeom>
        </p:spPr>
      </p:pic>
    </p:spTree>
    <p:extLst>
      <p:ext uri="{BB962C8B-B14F-4D97-AF65-F5344CB8AC3E}">
        <p14:creationId xmlns:p14="http://schemas.microsoft.com/office/powerpoint/2010/main" val="29033330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0CFAF-7AB0-93D2-F32C-5030748E6F58}"/>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32DAA32C-2917-31F3-64B5-BE0E0629C60E}"/>
              </a:ext>
            </a:extLst>
          </p:cNvPr>
          <p:cNvPicPr>
            <a:picLocks noChangeAspect="1"/>
          </p:cNvPicPr>
          <p:nvPr/>
        </p:nvPicPr>
        <p:blipFill>
          <a:blip r:embed="rId2"/>
          <a:stretch>
            <a:fillRect/>
          </a:stretch>
        </p:blipFill>
        <p:spPr>
          <a:xfrm>
            <a:off x="1034590" y="842981"/>
            <a:ext cx="10122819" cy="4670852"/>
          </a:xfrm>
          <a:prstGeom prst="rect">
            <a:avLst/>
          </a:prstGeom>
        </p:spPr>
      </p:pic>
      <p:sp>
        <p:nvSpPr>
          <p:cNvPr id="7" name="Título 3">
            <a:extLst>
              <a:ext uri="{FF2B5EF4-FFF2-40B4-BE49-F238E27FC236}">
                <a16:creationId xmlns:a16="http://schemas.microsoft.com/office/drawing/2014/main" id="{E90D121D-0D80-5778-F7D0-F9F871BCDF71}"/>
              </a:ext>
            </a:extLst>
          </p:cNvPr>
          <p:cNvSpPr txBox="1">
            <a:spLocks/>
          </p:cNvSpPr>
          <p:nvPr/>
        </p:nvSpPr>
        <p:spPr>
          <a:xfrm>
            <a:off x="877413" y="243532"/>
            <a:ext cx="10244372" cy="51110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TVISIMU Renegociación del plan de pagos</a:t>
            </a:r>
            <a:endParaRPr lang="es-CL"/>
          </a:p>
        </p:txBody>
      </p:sp>
      <p:sp>
        <p:nvSpPr>
          <p:cNvPr id="6" name="Rectángulo: esquinas redondeadas 5">
            <a:extLst>
              <a:ext uri="{FF2B5EF4-FFF2-40B4-BE49-F238E27FC236}">
                <a16:creationId xmlns:a16="http://schemas.microsoft.com/office/drawing/2014/main" id="{83216226-092F-9271-0750-51827181FFA7}"/>
              </a:ext>
            </a:extLst>
          </p:cNvPr>
          <p:cNvSpPr/>
          <p:nvPr/>
        </p:nvSpPr>
        <p:spPr>
          <a:xfrm>
            <a:off x="742187" y="5513833"/>
            <a:ext cx="10707624" cy="83210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El proceso de repactación, o renegociación, solo aplica para transacciones que se encuentren en la cuenta corriente con un saldo distinto a cero, y busca poder realizar un cambio en las condiciones del plan de pagos original, realizando una redistribución de los montos adeudados, condonación de montos de capital, intereses mora y/o multas.</a:t>
            </a:r>
          </a:p>
        </p:txBody>
      </p:sp>
    </p:spTree>
    <p:extLst>
      <p:ext uri="{BB962C8B-B14F-4D97-AF65-F5344CB8AC3E}">
        <p14:creationId xmlns:p14="http://schemas.microsoft.com/office/powerpoint/2010/main" val="2518310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EF371-6A80-A3A7-0F3F-1E94B5AB0BEA}"/>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F938B2A4-5681-F160-CDF4-A3B35597AF48}"/>
              </a:ext>
            </a:extLst>
          </p:cNvPr>
          <p:cNvSpPr/>
          <p:nvPr/>
        </p:nvSpPr>
        <p:spPr>
          <a:xfrm>
            <a:off x="936827" y="5650992"/>
            <a:ext cx="10244372" cy="60305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Al ingresar a la página administrativa se visualizarán las transacciones que podrían ser repactadas, las cuales deben ser seleccionadas para realizar el proceso de repactación o renegociación.</a:t>
            </a:r>
          </a:p>
        </p:txBody>
      </p:sp>
      <p:pic>
        <p:nvPicPr>
          <p:cNvPr id="3" name="Imagen 2">
            <a:extLst>
              <a:ext uri="{FF2B5EF4-FFF2-40B4-BE49-F238E27FC236}">
                <a16:creationId xmlns:a16="http://schemas.microsoft.com/office/drawing/2014/main" id="{DAA3DA5F-D19E-E84D-95D5-3F2572378C16}"/>
              </a:ext>
            </a:extLst>
          </p:cNvPr>
          <p:cNvPicPr>
            <a:picLocks noChangeAspect="1"/>
          </p:cNvPicPr>
          <p:nvPr/>
        </p:nvPicPr>
        <p:blipFill>
          <a:blip r:embed="rId2"/>
          <a:stretch>
            <a:fillRect/>
          </a:stretch>
        </p:blipFill>
        <p:spPr>
          <a:xfrm>
            <a:off x="914400" y="856473"/>
            <a:ext cx="10363200" cy="4606467"/>
          </a:xfrm>
          <a:prstGeom prst="rect">
            <a:avLst/>
          </a:prstGeom>
        </p:spPr>
      </p:pic>
      <p:sp>
        <p:nvSpPr>
          <p:cNvPr id="5" name="Título 3">
            <a:extLst>
              <a:ext uri="{FF2B5EF4-FFF2-40B4-BE49-F238E27FC236}">
                <a16:creationId xmlns:a16="http://schemas.microsoft.com/office/drawing/2014/main" id="{B40CE878-FCA5-01F2-A7A6-E5A1E8206431}"/>
              </a:ext>
            </a:extLst>
          </p:cNvPr>
          <p:cNvSpPr txBox="1">
            <a:spLocks/>
          </p:cNvSpPr>
          <p:nvPr/>
        </p:nvSpPr>
        <p:spPr>
          <a:xfrm>
            <a:off x="877413" y="243532"/>
            <a:ext cx="10244372" cy="51110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TVISIMU Renegociación del plan de pagos</a:t>
            </a:r>
            <a:endParaRPr lang="es-CL"/>
          </a:p>
        </p:txBody>
      </p:sp>
    </p:spTree>
    <p:extLst>
      <p:ext uri="{BB962C8B-B14F-4D97-AF65-F5344CB8AC3E}">
        <p14:creationId xmlns:p14="http://schemas.microsoft.com/office/powerpoint/2010/main" val="23577008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04E1B-EB4B-F091-39B5-A5E31599EC98}"/>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E73DA7B5-A5E2-25A5-0064-20C7BDF3AF51}"/>
              </a:ext>
            </a:extLst>
          </p:cNvPr>
          <p:cNvSpPr/>
          <p:nvPr/>
        </p:nvSpPr>
        <p:spPr>
          <a:xfrm>
            <a:off x="973813" y="5562570"/>
            <a:ext cx="10244372" cy="76916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En la sección "Detalle de la renegociación del plan de pagos" se debe seleccionar en el campo "Tipo" la opción 'Cobro' y si se desea condonar monto capital, intereses o multa, se debe ingresar los valores a condonar por cantidades o por porcentaje, lo cual ha de ser definido en los campos bajo el título "Monto remitido" o "Porcentaje remitido".</a:t>
            </a:r>
          </a:p>
        </p:txBody>
      </p:sp>
      <p:sp>
        <p:nvSpPr>
          <p:cNvPr id="5" name="Título 3">
            <a:extLst>
              <a:ext uri="{FF2B5EF4-FFF2-40B4-BE49-F238E27FC236}">
                <a16:creationId xmlns:a16="http://schemas.microsoft.com/office/drawing/2014/main" id="{D5B8B406-E533-2548-4D13-2A37DBC54788}"/>
              </a:ext>
            </a:extLst>
          </p:cNvPr>
          <p:cNvSpPr txBox="1">
            <a:spLocks/>
          </p:cNvSpPr>
          <p:nvPr/>
        </p:nvSpPr>
        <p:spPr>
          <a:xfrm>
            <a:off x="877413" y="243532"/>
            <a:ext cx="10244372" cy="51110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TVISIMU Renegociación del plan de pagos</a:t>
            </a:r>
            <a:endParaRPr lang="es-CL"/>
          </a:p>
        </p:txBody>
      </p:sp>
      <p:pic>
        <p:nvPicPr>
          <p:cNvPr id="4" name="Imagen 3">
            <a:extLst>
              <a:ext uri="{FF2B5EF4-FFF2-40B4-BE49-F238E27FC236}">
                <a16:creationId xmlns:a16="http://schemas.microsoft.com/office/drawing/2014/main" id="{07AC0E77-02CC-7F57-74ED-6B50AC73C17F}"/>
              </a:ext>
            </a:extLst>
          </p:cNvPr>
          <p:cNvPicPr>
            <a:picLocks noChangeAspect="1"/>
          </p:cNvPicPr>
          <p:nvPr/>
        </p:nvPicPr>
        <p:blipFill>
          <a:blip r:embed="rId2"/>
          <a:stretch>
            <a:fillRect/>
          </a:stretch>
        </p:blipFill>
        <p:spPr>
          <a:xfrm>
            <a:off x="941222" y="910848"/>
            <a:ext cx="10309555" cy="4564126"/>
          </a:xfrm>
          <a:prstGeom prst="rect">
            <a:avLst/>
          </a:prstGeom>
        </p:spPr>
      </p:pic>
    </p:spTree>
    <p:extLst>
      <p:ext uri="{BB962C8B-B14F-4D97-AF65-F5344CB8AC3E}">
        <p14:creationId xmlns:p14="http://schemas.microsoft.com/office/powerpoint/2010/main" val="11230445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1FE44-966A-3CAD-F121-7B51406B1F1D}"/>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691E74E9-62EA-208B-0169-C2CC2EC37BE6}"/>
              </a:ext>
            </a:extLst>
          </p:cNvPr>
          <p:cNvSpPr/>
          <p:nvPr/>
        </p:nvSpPr>
        <p:spPr>
          <a:xfrm>
            <a:off x="772279" y="5562570"/>
            <a:ext cx="10454640" cy="76916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En la última sección, se puede ingresar un monto o porcentaje a pagar, previamente acordado con el estudiante, el cual sería requisito para la ejecución de la repactación, lo cual debe ser definido en el campo "Pago al Adeudo" (monto o porcentaje). Al oprimir el botón "Repactación“ se visualizará el detalle de los conceptos de cargo o pago que serían considerados en la repactación a concretarse.</a:t>
            </a:r>
          </a:p>
        </p:txBody>
      </p:sp>
      <p:sp>
        <p:nvSpPr>
          <p:cNvPr id="5" name="Título 3">
            <a:extLst>
              <a:ext uri="{FF2B5EF4-FFF2-40B4-BE49-F238E27FC236}">
                <a16:creationId xmlns:a16="http://schemas.microsoft.com/office/drawing/2014/main" id="{4A044186-5D2F-4B1F-3045-64425A972932}"/>
              </a:ext>
            </a:extLst>
          </p:cNvPr>
          <p:cNvSpPr txBox="1">
            <a:spLocks/>
          </p:cNvSpPr>
          <p:nvPr/>
        </p:nvSpPr>
        <p:spPr>
          <a:xfrm>
            <a:off x="877413" y="243532"/>
            <a:ext cx="10244372" cy="51110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TVISIMU Renegociación del plan de pagos</a:t>
            </a:r>
            <a:endParaRPr lang="es-CL"/>
          </a:p>
        </p:txBody>
      </p:sp>
      <p:pic>
        <p:nvPicPr>
          <p:cNvPr id="3" name="Imagen 2">
            <a:extLst>
              <a:ext uri="{FF2B5EF4-FFF2-40B4-BE49-F238E27FC236}">
                <a16:creationId xmlns:a16="http://schemas.microsoft.com/office/drawing/2014/main" id="{96081952-7489-49B2-325C-E70272FD5E67}"/>
              </a:ext>
            </a:extLst>
          </p:cNvPr>
          <p:cNvPicPr>
            <a:picLocks noChangeAspect="1"/>
          </p:cNvPicPr>
          <p:nvPr/>
        </p:nvPicPr>
        <p:blipFill>
          <a:blip r:embed="rId2"/>
          <a:stretch>
            <a:fillRect/>
          </a:stretch>
        </p:blipFill>
        <p:spPr>
          <a:xfrm>
            <a:off x="772279" y="754640"/>
            <a:ext cx="10454640" cy="4687128"/>
          </a:xfrm>
          <a:prstGeom prst="rect">
            <a:avLst/>
          </a:prstGeom>
        </p:spPr>
      </p:pic>
    </p:spTree>
    <p:extLst>
      <p:ext uri="{BB962C8B-B14F-4D97-AF65-F5344CB8AC3E}">
        <p14:creationId xmlns:p14="http://schemas.microsoft.com/office/powerpoint/2010/main" val="40146166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C3876-2152-5F88-2E66-9CA1DFD6AA82}"/>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108A56E4-CDBD-36F5-9314-8476A2FF546D}"/>
              </a:ext>
            </a:extLst>
          </p:cNvPr>
          <p:cNvSpPr/>
          <p:nvPr/>
        </p:nvSpPr>
        <p:spPr>
          <a:xfrm>
            <a:off x="772278" y="5660136"/>
            <a:ext cx="10454640" cy="61673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En esta sección, además, al presionar el botón "Colegiatura" se incorporarían a los montos de repactación, aquellos cargos con saldo distinto de cero asociados al arancel. </a:t>
            </a:r>
          </a:p>
        </p:txBody>
      </p:sp>
      <p:sp>
        <p:nvSpPr>
          <p:cNvPr id="5" name="Título 3">
            <a:extLst>
              <a:ext uri="{FF2B5EF4-FFF2-40B4-BE49-F238E27FC236}">
                <a16:creationId xmlns:a16="http://schemas.microsoft.com/office/drawing/2014/main" id="{30689212-DE6B-EF95-BAC8-7CFA239671C8}"/>
              </a:ext>
            </a:extLst>
          </p:cNvPr>
          <p:cNvSpPr txBox="1">
            <a:spLocks/>
          </p:cNvSpPr>
          <p:nvPr/>
        </p:nvSpPr>
        <p:spPr>
          <a:xfrm>
            <a:off x="877413" y="243532"/>
            <a:ext cx="10244372" cy="51110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TVISIMU Renegociación del plan de pagos</a:t>
            </a:r>
            <a:endParaRPr lang="es-CL"/>
          </a:p>
        </p:txBody>
      </p:sp>
      <p:pic>
        <p:nvPicPr>
          <p:cNvPr id="4" name="Imagen 3">
            <a:extLst>
              <a:ext uri="{FF2B5EF4-FFF2-40B4-BE49-F238E27FC236}">
                <a16:creationId xmlns:a16="http://schemas.microsoft.com/office/drawing/2014/main" id="{0AB019A4-A175-C954-C42C-51F4D7FF86F8}"/>
              </a:ext>
            </a:extLst>
          </p:cNvPr>
          <p:cNvPicPr>
            <a:picLocks noChangeAspect="1"/>
          </p:cNvPicPr>
          <p:nvPr/>
        </p:nvPicPr>
        <p:blipFill>
          <a:blip r:embed="rId2"/>
          <a:stretch>
            <a:fillRect/>
          </a:stretch>
        </p:blipFill>
        <p:spPr>
          <a:xfrm>
            <a:off x="973816" y="720471"/>
            <a:ext cx="9615511" cy="4368405"/>
          </a:xfrm>
          <a:prstGeom prst="rect">
            <a:avLst/>
          </a:prstGeom>
        </p:spPr>
      </p:pic>
      <p:pic>
        <p:nvPicPr>
          <p:cNvPr id="7" name="Imagen 6">
            <a:extLst>
              <a:ext uri="{FF2B5EF4-FFF2-40B4-BE49-F238E27FC236}">
                <a16:creationId xmlns:a16="http://schemas.microsoft.com/office/drawing/2014/main" id="{E7B6456F-9D2A-23DE-7B05-1C79768FC8A3}"/>
              </a:ext>
            </a:extLst>
          </p:cNvPr>
          <p:cNvPicPr>
            <a:picLocks noChangeAspect="1"/>
          </p:cNvPicPr>
          <p:nvPr/>
        </p:nvPicPr>
        <p:blipFill>
          <a:blip r:embed="rId3"/>
          <a:stretch>
            <a:fillRect/>
          </a:stretch>
        </p:blipFill>
        <p:spPr>
          <a:xfrm>
            <a:off x="973815" y="5088876"/>
            <a:ext cx="9615511" cy="350566"/>
          </a:xfrm>
          <a:prstGeom prst="rect">
            <a:avLst/>
          </a:prstGeom>
        </p:spPr>
      </p:pic>
    </p:spTree>
    <p:extLst>
      <p:ext uri="{BB962C8B-B14F-4D97-AF65-F5344CB8AC3E}">
        <p14:creationId xmlns:p14="http://schemas.microsoft.com/office/powerpoint/2010/main" val="29390327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15582-72A8-C2F5-BE51-1E8848B73D4D}"/>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A7A766EF-4F96-7497-CE44-B07905585A38}"/>
              </a:ext>
            </a:extLst>
          </p:cNvPr>
          <p:cNvSpPr/>
          <p:nvPr/>
        </p:nvSpPr>
        <p:spPr>
          <a:xfrm>
            <a:off x="868679" y="5266944"/>
            <a:ext cx="10454640" cy="72393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En la opción "Repactación" de </a:t>
            </a:r>
            <a:r>
              <a:rPr lang="es-CO" sz="1200" b="1"/>
              <a:t>TVISIMU</a:t>
            </a:r>
            <a:r>
              <a:rPr lang="es-CO" sz="1200"/>
              <a:t> se visualizan las variables de los montos que se desean repactar, ya sean estos montos de capital, gastos de cobranza, intereses por mora, condonación de interese/multas/capital, entre otros.</a:t>
            </a:r>
          </a:p>
        </p:txBody>
      </p:sp>
      <p:sp>
        <p:nvSpPr>
          <p:cNvPr id="5" name="Título 3">
            <a:extLst>
              <a:ext uri="{FF2B5EF4-FFF2-40B4-BE49-F238E27FC236}">
                <a16:creationId xmlns:a16="http://schemas.microsoft.com/office/drawing/2014/main" id="{42D65FF0-62B9-2991-AC87-352892A6F215}"/>
              </a:ext>
            </a:extLst>
          </p:cNvPr>
          <p:cNvSpPr txBox="1">
            <a:spLocks/>
          </p:cNvSpPr>
          <p:nvPr/>
        </p:nvSpPr>
        <p:spPr>
          <a:xfrm>
            <a:off x="877413" y="243532"/>
            <a:ext cx="10244372" cy="51110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TVISIMU Renegociación del plan de pagos</a:t>
            </a:r>
            <a:endParaRPr lang="es-CL"/>
          </a:p>
        </p:txBody>
      </p:sp>
      <p:pic>
        <p:nvPicPr>
          <p:cNvPr id="3" name="Imagen 2">
            <a:extLst>
              <a:ext uri="{FF2B5EF4-FFF2-40B4-BE49-F238E27FC236}">
                <a16:creationId xmlns:a16="http://schemas.microsoft.com/office/drawing/2014/main" id="{B792843E-6126-1311-9845-B6815F819ED7}"/>
              </a:ext>
            </a:extLst>
          </p:cNvPr>
          <p:cNvPicPr>
            <a:picLocks noChangeAspect="1"/>
          </p:cNvPicPr>
          <p:nvPr/>
        </p:nvPicPr>
        <p:blipFill>
          <a:blip r:embed="rId2"/>
          <a:stretch>
            <a:fillRect/>
          </a:stretch>
        </p:blipFill>
        <p:spPr>
          <a:xfrm>
            <a:off x="942838" y="1175491"/>
            <a:ext cx="10306323" cy="3460517"/>
          </a:xfrm>
          <a:prstGeom prst="rect">
            <a:avLst/>
          </a:prstGeom>
        </p:spPr>
      </p:pic>
    </p:spTree>
    <p:extLst>
      <p:ext uri="{BB962C8B-B14F-4D97-AF65-F5344CB8AC3E}">
        <p14:creationId xmlns:p14="http://schemas.microsoft.com/office/powerpoint/2010/main" val="225369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6810B-2BCE-268A-7E29-68CF4C3672A5}"/>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A5A04FD6-05AA-C8FE-FA04-AF6F4FAA08D7}"/>
              </a:ext>
            </a:extLst>
          </p:cNvPr>
          <p:cNvSpPr/>
          <p:nvPr/>
        </p:nvSpPr>
        <p:spPr>
          <a:xfrm>
            <a:off x="886557" y="4937760"/>
            <a:ext cx="10454640" cy="87937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Definidos los conceptos a considerar dentro de la repactación, al avanzar en la ventana de TVISIMU se deberá definir el plan de pagos con el cual se redistribuiría los saldos a repactar, en donde particularmente se debe definir: el código del plan de pagos, vencimiento de pago a plazos, número de pagos, monto del plan y primera fecha de vencimiento. </a:t>
            </a:r>
          </a:p>
        </p:txBody>
      </p:sp>
      <p:sp>
        <p:nvSpPr>
          <p:cNvPr id="5" name="Título 3">
            <a:extLst>
              <a:ext uri="{FF2B5EF4-FFF2-40B4-BE49-F238E27FC236}">
                <a16:creationId xmlns:a16="http://schemas.microsoft.com/office/drawing/2014/main" id="{032E1452-F9D4-5C38-70AE-C68AB3412BF2}"/>
              </a:ext>
            </a:extLst>
          </p:cNvPr>
          <p:cNvSpPr txBox="1">
            <a:spLocks/>
          </p:cNvSpPr>
          <p:nvPr/>
        </p:nvSpPr>
        <p:spPr>
          <a:xfrm>
            <a:off x="859537" y="401807"/>
            <a:ext cx="10244372" cy="51110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TVISIMU Renegociación del plan de pagos</a:t>
            </a:r>
            <a:endParaRPr lang="es-CL"/>
          </a:p>
        </p:txBody>
      </p:sp>
      <p:pic>
        <p:nvPicPr>
          <p:cNvPr id="10" name="Imagen 9">
            <a:extLst>
              <a:ext uri="{FF2B5EF4-FFF2-40B4-BE49-F238E27FC236}">
                <a16:creationId xmlns:a16="http://schemas.microsoft.com/office/drawing/2014/main" id="{F1D387BD-3521-70FD-9910-E178500E5097}"/>
              </a:ext>
            </a:extLst>
          </p:cNvPr>
          <p:cNvPicPr>
            <a:picLocks noChangeAspect="1"/>
          </p:cNvPicPr>
          <p:nvPr/>
        </p:nvPicPr>
        <p:blipFill>
          <a:blip r:embed="rId2"/>
          <a:stretch>
            <a:fillRect/>
          </a:stretch>
        </p:blipFill>
        <p:spPr>
          <a:xfrm>
            <a:off x="886557" y="4249166"/>
            <a:ext cx="10445906" cy="380840"/>
          </a:xfrm>
          <a:prstGeom prst="rect">
            <a:avLst/>
          </a:prstGeom>
        </p:spPr>
      </p:pic>
      <p:pic>
        <p:nvPicPr>
          <p:cNvPr id="16" name="Imagen 15">
            <a:extLst>
              <a:ext uri="{FF2B5EF4-FFF2-40B4-BE49-F238E27FC236}">
                <a16:creationId xmlns:a16="http://schemas.microsoft.com/office/drawing/2014/main" id="{82F2EC4A-5B51-5643-6363-C981D7694404}"/>
              </a:ext>
            </a:extLst>
          </p:cNvPr>
          <p:cNvPicPr>
            <a:picLocks noChangeAspect="1"/>
          </p:cNvPicPr>
          <p:nvPr/>
        </p:nvPicPr>
        <p:blipFill>
          <a:blip r:embed="rId3"/>
          <a:stretch>
            <a:fillRect/>
          </a:stretch>
        </p:blipFill>
        <p:spPr>
          <a:xfrm>
            <a:off x="886557" y="1253331"/>
            <a:ext cx="10504590" cy="2995835"/>
          </a:xfrm>
          <a:prstGeom prst="rect">
            <a:avLst/>
          </a:prstGeom>
        </p:spPr>
      </p:pic>
    </p:spTree>
    <p:extLst>
      <p:ext uri="{BB962C8B-B14F-4D97-AF65-F5344CB8AC3E}">
        <p14:creationId xmlns:p14="http://schemas.microsoft.com/office/powerpoint/2010/main" val="32284723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B2F21-6CD7-DBDD-934C-17A04CE4BE1F}"/>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260B512A-366C-C187-2A2A-12D67D2DB318}"/>
              </a:ext>
            </a:extLst>
          </p:cNvPr>
          <p:cNvSpPr/>
          <p:nvPr/>
        </p:nvSpPr>
        <p:spPr>
          <a:xfrm>
            <a:off x="868679" y="5123313"/>
            <a:ext cx="10454640" cy="71478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Seleccionando el botón "plan de pagos" o la opción del menú relacionado "Simulación de plan de pagos", se puede visualizar los que sería el plan de pagos final a repactar para el saldo consensuado en la repactación.</a:t>
            </a:r>
          </a:p>
        </p:txBody>
      </p:sp>
      <p:sp>
        <p:nvSpPr>
          <p:cNvPr id="5" name="Título 3">
            <a:extLst>
              <a:ext uri="{FF2B5EF4-FFF2-40B4-BE49-F238E27FC236}">
                <a16:creationId xmlns:a16="http://schemas.microsoft.com/office/drawing/2014/main" id="{9EE22E47-5903-2F82-F99C-0B0E15C5C765}"/>
              </a:ext>
            </a:extLst>
          </p:cNvPr>
          <p:cNvSpPr txBox="1">
            <a:spLocks/>
          </p:cNvSpPr>
          <p:nvPr/>
        </p:nvSpPr>
        <p:spPr>
          <a:xfrm>
            <a:off x="868679" y="462988"/>
            <a:ext cx="10244372" cy="51110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TVISIMU Renegociación del plan de pagos</a:t>
            </a:r>
            <a:endParaRPr lang="es-CL"/>
          </a:p>
        </p:txBody>
      </p:sp>
      <p:pic>
        <p:nvPicPr>
          <p:cNvPr id="3" name="Imagen 2">
            <a:extLst>
              <a:ext uri="{FF2B5EF4-FFF2-40B4-BE49-F238E27FC236}">
                <a16:creationId xmlns:a16="http://schemas.microsoft.com/office/drawing/2014/main" id="{61058FA9-3FEB-60A5-F328-9AE9DB773D03}"/>
              </a:ext>
            </a:extLst>
          </p:cNvPr>
          <p:cNvPicPr>
            <a:picLocks noChangeAspect="1"/>
          </p:cNvPicPr>
          <p:nvPr/>
        </p:nvPicPr>
        <p:blipFill>
          <a:blip r:embed="rId2"/>
          <a:stretch>
            <a:fillRect/>
          </a:stretch>
        </p:blipFill>
        <p:spPr>
          <a:xfrm>
            <a:off x="877413" y="1959421"/>
            <a:ext cx="10546246" cy="2178567"/>
          </a:xfrm>
          <a:prstGeom prst="rect">
            <a:avLst/>
          </a:prstGeom>
        </p:spPr>
      </p:pic>
    </p:spTree>
    <p:extLst>
      <p:ext uri="{BB962C8B-B14F-4D97-AF65-F5344CB8AC3E}">
        <p14:creationId xmlns:p14="http://schemas.microsoft.com/office/powerpoint/2010/main" val="20127823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15868-5DDC-EEEB-2C07-A5E80AE53A5F}"/>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FFDF1D25-994E-D7BE-8A43-729FCD6F4273}"/>
              </a:ext>
            </a:extLst>
          </p:cNvPr>
          <p:cNvSpPr/>
          <p:nvPr/>
        </p:nvSpPr>
        <p:spPr>
          <a:xfrm>
            <a:off x="868679" y="5022729"/>
            <a:ext cx="10454640" cy="71478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Si la repactación y la simulación del plan de pagos están acorde a lo requerido, el registro debe ser guardado, generando  un primer estado de avance igual a "1 – SIMULA" asociado a la simulación de la repactación definida.</a:t>
            </a:r>
          </a:p>
        </p:txBody>
      </p:sp>
      <p:sp>
        <p:nvSpPr>
          <p:cNvPr id="5" name="Título 3">
            <a:extLst>
              <a:ext uri="{FF2B5EF4-FFF2-40B4-BE49-F238E27FC236}">
                <a16:creationId xmlns:a16="http://schemas.microsoft.com/office/drawing/2014/main" id="{D6BA99A1-4EC3-EDAB-813D-A4AC9A96E230}"/>
              </a:ext>
            </a:extLst>
          </p:cNvPr>
          <p:cNvSpPr txBox="1">
            <a:spLocks/>
          </p:cNvSpPr>
          <p:nvPr/>
        </p:nvSpPr>
        <p:spPr>
          <a:xfrm>
            <a:off x="868679" y="462988"/>
            <a:ext cx="10244372" cy="51110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TVISIMU Renegociación del plan de pagos</a:t>
            </a:r>
            <a:endParaRPr lang="es-CL"/>
          </a:p>
        </p:txBody>
      </p:sp>
      <p:pic>
        <p:nvPicPr>
          <p:cNvPr id="2" name="Imagen 1">
            <a:extLst>
              <a:ext uri="{FF2B5EF4-FFF2-40B4-BE49-F238E27FC236}">
                <a16:creationId xmlns:a16="http://schemas.microsoft.com/office/drawing/2014/main" id="{6B414AAD-DB6E-DA34-7ACD-176AD28701C1}"/>
              </a:ext>
            </a:extLst>
          </p:cNvPr>
          <p:cNvPicPr>
            <a:picLocks noChangeAspect="1"/>
          </p:cNvPicPr>
          <p:nvPr/>
        </p:nvPicPr>
        <p:blipFill>
          <a:blip r:embed="rId2"/>
          <a:stretch>
            <a:fillRect/>
          </a:stretch>
        </p:blipFill>
        <p:spPr>
          <a:xfrm>
            <a:off x="868680" y="1579753"/>
            <a:ext cx="10454640" cy="2967593"/>
          </a:xfrm>
          <a:prstGeom prst="rect">
            <a:avLst/>
          </a:prstGeom>
        </p:spPr>
      </p:pic>
    </p:spTree>
    <p:extLst>
      <p:ext uri="{BB962C8B-B14F-4D97-AF65-F5344CB8AC3E}">
        <p14:creationId xmlns:p14="http://schemas.microsoft.com/office/powerpoint/2010/main" val="25345749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5149A-CA06-4A47-4846-086646EA6590}"/>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7CDA4961-268E-0CC2-0164-EAF605E3FC8D}"/>
              </a:ext>
            </a:extLst>
          </p:cNvPr>
          <p:cNvSpPr/>
          <p:nvPr/>
        </p:nvSpPr>
        <p:spPr>
          <a:xfrm>
            <a:off x="763544" y="5604918"/>
            <a:ext cx="10703031" cy="71478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La página TVASIMP presenta lo que corresponde a la visualización de la simulación definida en TVISIMU, en donde las variables propuestas inicialmente en la simulación pueden ser modificadas y ajustadas de la misma forma que se realizó en TVISIMU.</a:t>
            </a:r>
          </a:p>
        </p:txBody>
      </p:sp>
      <p:sp>
        <p:nvSpPr>
          <p:cNvPr id="5" name="Título 3">
            <a:extLst>
              <a:ext uri="{FF2B5EF4-FFF2-40B4-BE49-F238E27FC236}">
                <a16:creationId xmlns:a16="http://schemas.microsoft.com/office/drawing/2014/main" id="{F0FC69D7-560F-BF3C-4C32-1606CD28B540}"/>
              </a:ext>
            </a:extLst>
          </p:cNvPr>
          <p:cNvSpPr txBox="1">
            <a:spLocks/>
          </p:cNvSpPr>
          <p:nvPr/>
        </p:nvSpPr>
        <p:spPr>
          <a:xfrm>
            <a:off x="868679" y="323674"/>
            <a:ext cx="10244372" cy="65749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TVASIMP Preautorización de renegociación</a:t>
            </a:r>
            <a:endParaRPr lang="es-CL"/>
          </a:p>
        </p:txBody>
      </p:sp>
      <p:pic>
        <p:nvPicPr>
          <p:cNvPr id="4" name="Imagen 3">
            <a:extLst>
              <a:ext uri="{FF2B5EF4-FFF2-40B4-BE49-F238E27FC236}">
                <a16:creationId xmlns:a16="http://schemas.microsoft.com/office/drawing/2014/main" id="{C300B479-0819-DF5D-EEE1-A9732FE3C5DD}"/>
              </a:ext>
            </a:extLst>
          </p:cNvPr>
          <p:cNvPicPr>
            <a:picLocks noChangeAspect="1"/>
          </p:cNvPicPr>
          <p:nvPr/>
        </p:nvPicPr>
        <p:blipFill>
          <a:blip r:embed="rId2"/>
          <a:stretch>
            <a:fillRect/>
          </a:stretch>
        </p:blipFill>
        <p:spPr>
          <a:xfrm>
            <a:off x="644651" y="1045178"/>
            <a:ext cx="10902696" cy="4334944"/>
          </a:xfrm>
          <a:prstGeom prst="rect">
            <a:avLst/>
          </a:prstGeom>
        </p:spPr>
      </p:pic>
    </p:spTree>
    <p:extLst>
      <p:ext uri="{BB962C8B-B14F-4D97-AF65-F5344CB8AC3E}">
        <p14:creationId xmlns:p14="http://schemas.microsoft.com/office/powerpoint/2010/main" val="20564659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435BF-0D15-FC2B-0EC9-844C556B6E9B}"/>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01A4A649-5242-8142-A274-5C116E218362}"/>
              </a:ext>
            </a:extLst>
          </p:cNvPr>
          <p:cNvSpPr/>
          <p:nvPr/>
        </p:nvSpPr>
        <p:spPr>
          <a:xfrm>
            <a:off x="991709" y="5148072"/>
            <a:ext cx="10703031" cy="85159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Ya sea se hayan realizado o no modificaciones a la simulación original, si en este punto se cuenta con un escenario definitivo, esto deberá ser formalizado seleccionando la opción "Simulación Preautorizada" en el menú relacionado en la segunda ventana de TVASIMP (sección "Plan de Pagos"). Realizado esto, la simulación no podrá ser modificada, quedando a la espera de su autorización o rechazo final.</a:t>
            </a:r>
          </a:p>
        </p:txBody>
      </p:sp>
      <p:sp>
        <p:nvSpPr>
          <p:cNvPr id="5" name="Título 3">
            <a:extLst>
              <a:ext uri="{FF2B5EF4-FFF2-40B4-BE49-F238E27FC236}">
                <a16:creationId xmlns:a16="http://schemas.microsoft.com/office/drawing/2014/main" id="{16E9AE2E-6F4B-7975-07B4-84C419D53AB6}"/>
              </a:ext>
            </a:extLst>
          </p:cNvPr>
          <p:cNvSpPr txBox="1">
            <a:spLocks/>
          </p:cNvSpPr>
          <p:nvPr/>
        </p:nvSpPr>
        <p:spPr>
          <a:xfrm>
            <a:off x="868679" y="462988"/>
            <a:ext cx="10244372" cy="65749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TVASIMP Preautorización de renegociación</a:t>
            </a:r>
            <a:endParaRPr lang="es-CL"/>
          </a:p>
        </p:txBody>
      </p:sp>
      <p:pic>
        <p:nvPicPr>
          <p:cNvPr id="8" name="Imagen 7">
            <a:extLst>
              <a:ext uri="{FF2B5EF4-FFF2-40B4-BE49-F238E27FC236}">
                <a16:creationId xmlns:a16="http://schemas.microsoft.com/office/drawing/2014/main" id="{7338F4F0-099F-66E9-B984-AD1B7E66C15D}"/>
              </a:ext>
            </a:extLst>
          </p:cNvPr>
          <p:cNvPicPr>
            <a:picLocks noChangeAspect="1"/>
          </p:cNvPicPr>
          <p:nvPr/>
        </p:nvPicPr>
        <p:blipFill>
          <a:blip r:embed="rId2"/>
          <a:stretch>
            <a:fillRect/>
          </a:stretch>
        </p:blipFill>
        <p:spPr>
          <a:xfrm>
            <a:off x="930509" y="1433933"/>
            <a:ext cx="10764231" cy="3183787"/>
          </a:xfrm>
          <a:prstGeom prst="rect">
            <a:avLst/>
          </a:prstGeom>
        </p:spPr>
      </p:pic>
    </p:spTree>
    <p:extLst>
      <p:ext uri="{BB962C8B-B14F-4D97-AF65-F5344CB8AC3E}">
        <p14:creationId xmlns:p14="http://schemas.microsoft.com/office/powerpoint/2010/main" val="17043986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3D974-D925-C574-AA10-C1A8C0873E05}"/>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F3DDFF69-6B55-A11D-33A8-17FBADA5C4BD}"/>
              </a:ext>
            </a:extLst>
          </p:cNvPr>
          <p:cNvSpPr/>
          <p:nvPr/>
        </p:nvSpPr>
        <p:spPr>
          <a:xfrm>
            <a:off x="1087122" y="5245608"/>
            <a:ext cx="8069560" cy="5498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Seleccionada la </a:t>
            </a:r>
            <a:r>
              <a:rPr lang="es-CO" sz="1200" err="1"/>
              <a:t>preautorización</a:t>
            </a:r>
            <a:r>
              <a:rPr lang="es-CO" sz="1200"/>
              <a:t>, se deberá confirmar si se desea continuar en la ventana que se genera.</a:t>
            </a:r>
          </a:p>
        </p:txBody>
      </p:sp>
      <p:sp>
        <p:nvSpPr>
          <p:cNvPr id="5" name="Título 3">
            <a:extLst>
              <a:ext uri="{FF2B5EF4-FFF2-40B4-BE49-F238E27FC236}">
                <a16:creationId xmlns:a16="http://schemas.microsoft.com/office/drawing/2014/main" id="{9C30E22E-8D7B-2E17-F345-23CAD38B9C18}"/>
              </a:ext>
            </a:extLst>
          </p:cNvPr>
          <p:cNvSpPr txBox="1">
            <a:spLocks/>
          </p:cNvSpPr>
          <p:nvPr/>
        </p:nvSpPr>
        <p:spPr>
          <a:xfrm>
            <a:off x="868679" y="462988"/>
            <a:ext cx="10244372" cy="65749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TVASIMP Preautorización de renegociación</a:t>
            </a:r>
            <a:endParaRPr lang="es-CL"/>
          </a:p>
        </p:txBody>
      </p:sp>
      <p:pic>
        <p:nvPicPr>
          <p:cNvPr id="4" name="Imagen 3">
            <a:extLst>
              <a:ext uri="{FF2B5EF4-FFF2-40B4-BE49-F238E27FC236}">
                <a16:creationId xmlns:a16="http://schemas.microsoft.com/office/drawing/2014/main" id="{1A5B9863-64E5-6260-8A2F-B0A14B967979}"/>
              </a:ext>
            </a:extLst>
          </p:cNvPr>
          <p:cNvPicPr>
            <a:picLocks noChangeAspect="1"/>
          </p:cNvPicPr>
          <p:nvPr/>
        </p:nvPicPr>
        <p:blipFill>
          <a:blip r:embed="rId2"/>
          <a:stretch>
            <a:fillRect/>
          </a:stretch>
        </p:blipFill>
        <p:spPr>
          <a:xfrm>
            <a:off x="1087122" y="1229775"/>
            <a:ext cx="9807485" cy="3817713"/>
          </a:xfrm>
          <a:prstGeom prst="rect">
            <a:avLst/>
          </a:prstGeom>
        </p:spPr>
      </p:pic>
    </p:spTree>
    <p:extLst>
      <p:ext uri="{BB962C8B-B14F-4D97-AF65-F5344CB8AC3E}">
        <p14:creationId xmlns:p14="http://schemas.microsoft.com/office/powerpoint/2010/main" val="39153951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11212-DA41-7F0E-BF02-319F57FB6AF7}"/>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04FB180F-A499-C8DC-271D-4A41D9A0CE50}"/>
              </a:ext>
            </a:extLst>
          </p:cNvPr>
          <p:cNvSpPr/>
          <p:nvPr/>
        </p:nvSpPr>
        <p:spPr>
          <a:xfrm>
            <a:off x="942521" y="5550408"/>
            <a:ext cx="10306958" cy="7680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Confirmada la preautorización, se notifica de la cantidad de registros que serían generados de esta repactación, solo si esta fuera autorizada. En este punto el único registro creado en la cuenta corriente del estudiante sería el cargo asociado al concepto de "pago al adeudo", el cual se encontraría pendiente de pago para posteriormente autorizar la repactación del saldo restante.</a:t>
            </a:r>
          </a:p>
        </p:txBody>
      </p:sp>
      <p:sp>
        <p:nvSpPr>
          <p:cNvPr id="5" name="Título 3">
            <a:extLst>
              <a:ext uri="{FF2B5EF4-FFF2-40B4-BE49-F238E27FC236}">
                <a16:creationId xmlns:a16="http://schemas.microsoft.com/office/drawing/2014/main" id="{0ACD4999-7E55-B04B-E45B-3FD74C711027}"/>
              </a:ext>
            </a:extLst>
          </p:cNvPr>
          <p:cNvSpPr txBox="1">
            <a:spLocks/>
          </p:cNvSpPr>
          <p:nvPr/>
        </p:nvSpPr>
        <p:spPr>
          <a:xfrm>
            <a:off x="868679" y="462988"/>
            <a:ext cx="10244372" cy="65749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TVASIMP Preautorización de renegociación</a:t>
            </a:r>
            <a:endParaRPr lang="es-CL"/>
          </a:p>
        </p:txBody>
      </p:sp>
      <p:pic>
        <p:nvPicPr>
          <p:cNvPr id="9" name="Imagen 8">
            <a:extLst>
              <a:ext uri="{FF2B5EF4-FFF2-40B4-BE49-F238E27FC236}">
                <a16:creationId xmlns:a16="http://schemas.microsoft.com/office/drawing/2014/main" id="{9C11EF84-A8D9-61E7-46CA-8F6F33D0DFBE}"/>
              </a:ext>
            </a:extLst>
          </p:cNvPr>
          <p:cNvPicPr>
            <a:picLocks noChangeAspect="1"/>
          </p:cNvPicPr>
          <p:nvPr/>
        </p:nvPicPr>
        <p:blipFill>
          <a:blip r:embed="rId2"/>
          <a:stretch>
            <a:fillRect/>
          </a:stretch>
        </p:blipFill>
        <p:spPr>
          <a:xfrm>
            <a:off x="942520" y="1102196"/>
            <a:ext cx="10306959" cy="4207690"/>
          </a:xfrm>
          <a:prstGeom prst="rect">
            <a:avLst/>
          </a:prstGeom>
        </p:spPr>
      </p:pic>
    </p:spTree>
    <p:extLst>
      <p:ext uri="{BB962C8B-B14F-4D97-AF65-F5344CB8AC3E}">
        <p14:creationId xmlns:p14="http://schemas.microsoft.com/office/powerpoint/2010/main" val="9623041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D9C66-C11B-2001-D7C1-D4B5F4E00FCA}"/>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1ED93A09-C03B-79B2-7C0B-24467EE5AEC1}"/>
              </a:ext>
            </a:extLst>
          </p:cNvPr>
          <p:cNvSpPr/>
          <p:nvPr/>
        </p:nvSpPr>
        <p:spPr>
          <a:xfrm>
            <a:off x="942521" y="5586984"/>
            <a:ext cx="10306958" cy="55778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Confirmada la preautorización en TVASIMP, la solicitud puede ser autorizada o rechazada en la página TVASIMU, y no sería posible realizar modificaciones a la simulación.</a:t>
            </a:r>
          </a:p>
        </p:txBody>
      </p:sp>
      <p:sp>
        <p:nvSpPr>
          <p:cNvPr id="5" name="Título 3">
            <a:extLst>
              <a:ext uri="{FF2B5EF4-FFF2-40B4-BE49-F238E27FC236}">
                <a16:creationId xmlns:a16="http://schemas.microsoft.com/office/drawing/2014/main" id="{23D5C9AA-C207-7595-5B28-BBD657B39424}"/>
              </a:ext>
            </a:extLst>
          </p:cNvPr>
          <p:cNvSpPr txBox="1">
            <a:spLocks/>
          </p:cNvSpPr>
          <p:nvPr/>
        </p:nvSpPr>
        <p:spPr>
          <a:xfrm>
            <a:off x="877823" y="344116"/>
            <a:ext cx="10244372" cy="65749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TVASIMU - Autorización de renegociación.</a:t>
            </a:r>
            <a:endParaRPr lang="es-CL"/>
          </a:p>
        </p:txBody>
      </p:sp>
      <p:pic>
        <p:nvPicPr>
          <p:cNvPr id="3" name="Imagen 2">
            <a:extLst>
              <a:ext uri="{FF2B5EF4-FFF2-40B4-BE49-F238E27FC236}">
                <a16:creationId xmlns:a16="http://schemas.microsoft.com/office/drawing/2014/main" id="{1C9F2111-A993-3ACA-5D80-9A2323842501}"/>
              </a:ext>
            </a:extLst>
          </p:cNvPr>
          <p:cNvPicPr>
            <a:picLocks noChangeAspect="1"/>
          </p:cNvPicPr>
          <p:nvPr/>
        </p:nvPicPr>
        <p:blipFill>
          <a:blip r:embed="rId2"/>
          <a:stretch>
            <a:fillRect/>
          </a:stretch>
        </p:blipFill>
        <p:spPr>
          <a:xfrm>
            <a:off x="1348302" y="1001612"/>
            <a:ext cx="9495396" cy="4364620"/>
          </a:xfrm>
          <a:prstGeom prst="rect">
            <a:avLst/>
          </a:prstGeom>
        </p:spPr>
      </p:pic>
    </p:spTree>
    <p:extLst>
      <p:ext uri="{BB962C8B-B14F-4D97-AF65-F5344CB8AC3E}">
        <p14:creationId xmlns:p14="http://schemas.microsoft.com/office/powerpoint/2010/main" val="118012816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CCB8C-3116-A1E6-FC00-77E707C6DDA5}"/>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0CF84257-E814-B2AA-515A-B15BCB499392}"/>
              </a:ext>
            </a:extLst>
          </p:cNvPr>
          <p:cNvSpPr/>
          <p:nvPr/>
        </p:nvSpPr>
        <p:spPr>
          <a:xfrm>
            <a:off x="1035812" y="4560561"/>
            <a:ext cx="10086383" cy="67665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Para autorizar la simulación visualizada, se debe avanzar a la segunda ventana de "plan de pagos" y seleccionar la opción "Autorizar simulación" del menú "Relacionado".</a:t>
            </a:r>
          </a:p>
        </p:txBody>
      </p:sp>
      <p:sp>
        <p:nvSpPr>
          <p:cNvPr id="5" name="Título 3">
            <a:extLst>
              <a:ext uri="{FF2B5EF4-FFF2-40B4-BE49-F238E27FC236}">
                <a16:creationId xmlns:a16="http://schemas.microsoft.com/office/drawing/2014/main" id="{63FE7D9C-10D4-0A13-DE0A-92DC5A67F8E4}"/>
              </a:ext>
            </a:extLst>
          </p:cNvPr>
          <p:cNvSpPr txBox="1">
            <a:spLocks/>
          </p:cNvSpPr>
          <p:nvPr/>
        </p:nvSpPr>
        <p:spPr>
          <a:xfrm>
            <a:off x="877823" y="344116"/>
            <a:ext cx="10244372" cy="65749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TVASIMU - Autorización de renegociación.</a:t>
            </a:r>
            <a:endParaRPr lang="es-CL"/>
          </a:p>
        </p:txBody>
      </p:sp>
      <p:pic>
        <p:nvPicPr>
          <p:cNvPr id="4" name="Imagen 3">
            <a:extLst>
              <a:ext uri="{FF2B5EF4-FFF2-40B4-BE49-F238E27FC236}">
                <a16:creationId xmlns:a16="http://schemas.microsoft.com/office/drawing/2014/main" id="{692E5934-56BD-C22C-5EFF-62DA9192B305}"/>
              </a:ext>
            </a:extLst>
          </p:cNvPr>
          <p:cNvPicPr>
            <a:picLocks noChangeAspect="1"/>
          </p:cNvPicPr>
          <p:nvPr/>
        </p:nvPicPr>
        <p:blipFill>
          <a:blip r:embed="rId2"/>
          <a:stretch>
            <a:fillRect/>
          </a:stretch>
        </p:blipFill>
        <p:spPr>
          <a:xfrm>
            <a:off x="1035812" y="1447373"/>
            <a:ext cx="10120375" cy="2667427"/>
          </a:xfrm>
          <a:prstGeom prst="rect">
            <a:avLst/>
          </a:prstGeom>
        </p:spPr>
      </p:pic>
    </p:spTree>
    <p:extLst>
      <p:ext uri="{BB962C8B-B14F-4D97-AF65-F5344CB8AC3E}">
        <p14:creationId xmlns:p14="http://schemas.microsoft.com/office/powerpoint/2010/main" val="42346833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4DFFA-A8F2-EB2B-6DE5-7F5B37E7173A}"/>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088763F4-F3B5-7D71-E9FA-748B8DFD4BA1}"/>
              </a:ext>
            </a:extLst>
          </p:cNvPr>
          <p:cNvSpPr/>
          <p:nvPr/>
        </p:nvSpPr>
        <p:spPr>
          <a:xfrm>
            <a:off x="1169872" y="5335181"/>
            <a:ext cx="7616953" cy="52120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La opción seleccionada, genera una ventana en donde se debe confirmar si se desea realizar la renegociación.</a:t>
            </a:r>
          </a:p>
        </p:txBody>
      </p:sp>
      <p:sp>
        <p:nvSpPr>
          <p:cNvPr id="5" name="Título 3">
            <a:extLst>
              <a:ext uri="{FF2B5EF4-FFF2-40B4-BE49-F238E27FC236}">
                <a16:creationId xmlns:a16="http://schemas.microsoft.com/office/drawing/2014/main" id="{4C87357A-34BC-9B69-BA82-6EDC24FEB89E}"/>
              </a:ext>
            </a:extLst>
          </p:cNvPr>
          <p:cNvSpPr txBox="1">
            <a:spLocks/>
          </p:cNvSpPr>
          <p:nvPr/>
        </p:nvSpPr>
        <p:spPr>
          <a:xfrm>
            <a:off x="877823" y="344116"/>
            <a:ext cx="10244372" cy="65749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TVASIMU - Autorización de renegociación.</a:t>
            </a:r>
            <a:endParaRPr lang="es-CL"/>
          </a:p>
        </p:txBody>
      </p:sp>
      <p:pic>
        <p:nvPicPr>
          <p:cNvPr id="3" name="Imagen 2">
            <a:extLst>
              <a:ext uri="{FF2B5EF4-FFF2-40B4-BE49-F238E27FC236}">
                <a16:creationId xmlns:a16="http://schemas.microsoft.com/office/drawing/2014/main" id="{C5E82B71-9481-24C0-7BCB-1B953B6FD509}"/>
              </a:ext>
            </a:extLst>
          </p:cNvPr>
          <p:cNvPicPr>
            <a:picLocks noChangeAspect="1"/>
          </p:cNvPicPr>
          <p:nvPr/>
        </p:nvPicPr>
        <p:blipFill>
          <a:blip r:embed="rId2"/>
          <a:stretch>
            <a:fillRect/>
          </a:stretch>
        </p:blipFill>
        <p:spPr>
          <a:xfrm>
            <a:off x="1169872" y="1001612"/>
            <a:ext cx="9505550" cy="4073807"/>
          </a:xfrm>
          <a:prstGeom prst="rect">
            <a:avLst/>
          </a:prstGeom>
        </p:spPr>
      </p:pic>
    </p:spTree>
    <p:extLst>
      <p:ext uri="{BB962C8B-B14F-4D97-AF65-F5344CB8AC3E}">
        <p14:creationId xmlns:p14="http://schemas.microsoft.com/office/powerpoint/2010/main" val="37504655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A9589-6DD7-DC32-9C3B-ACF0E3E64AD4}"/>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EBCE62E9-32AA-3A83-AB5E-C0D790B1D30E}"/>
              </a:ext>
            </a:extLst>
          </p:cNvPr>
          <p:cNvSpPr/>
          <p:nvPr/>
        </p:nvSpPr>
        <p:spPr>
          <a:xfrm>
            <a:off x="1133296" y="5605378"/>
            <a:ext cx="9839504" cy="67665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Aceptada la última confirmación, la solicitud notifica de la cantidad de registros que serían creados en la cuenta corriente en función a los conceptos ya visualizados en la simulación.</a:t>
            </a:r>
          </a:p>
        </p:txBody>
      </p:sp>
      <p:sp>
        <p:nvSpPr>
          <p:cNvPr id="5" name="Título 3">
            <a:extLst>
              <a:ext uri="{FF2B5EF4-FFF2-40B4-BE49-F238E27FC236}">
                <a16:creationId xmlns:a16="http://schemas.microsoft.com/office/drawing/2014/main" id="{4E73852C-B43F-B8A5-785E-AF8F8A7D5AF9}"/>
              </a:ext>
            </a:extLst>
          </p:cNvPr>
          <p:cNvSpPr txBox="1">
            <a:spLocks/>
          </p:cNvSpPr>
          <p:nvPr/>
        </p:nvSpPr>
        <p:spPr>
          <a:xfrm>
            <a:off x="877823" y="344116"/>
            <a:ext cx="10244372" cy="65749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TVASIMU - Autorización de renegociación.</a:t>
            </a:r>
            <a:endParaRPr lang="es-CL"/>
          </a:p>
        </p:txBody>
      </p:sp>
      <p:pic>
        <p:nvPicPr>
          <p:cNvPr id="4" name="Imagen 3">
            <a:extLst>
              <a:ext uri="{FF2B5EF4-FFF2-40B4-BE49-F238E27FC236}">
                <a16:creationId xmlns:a16="http://schemas.microsoft.com/office/drawing/2014/main" id="{F0B89C25-69DB-E431-7986-A8FAB14C9646}"/>
              </a:ext>
            </a:extLst>
          </p:cNvPr>
          <p:cNvPicPr>
            <a:picLocks noChangeAspect="1"/>
          </p:cNvPicPr>
          <p:nvPr/>
        </p:nvPicPr>
        <p:blipFill>
          <a:blip r:embed="rId2"/>
          <a:stretch>
            <a:fillRect/>
          </a:stretch>
        </p:blipFill>
        <p:spPr>
          <a:xfrm>
            <a:off x="1133296" y="1001612"/>
            <a:ext cx="9736017" cy="4477146"/>
          </a:xfrm>
          <a:prstGeom prst="rect">
            <a:avLst/>
          </a:prstGeom>
        </p:spPr>
      </p:pic>
    </p:spTree>
    <p:extLst>
      <p:ext uri="{BB962C8B-B14F-4D97-AF65-F5344CB8AC3E}">
        <p14:creationId xmlns:p14="http://schemas.microsoft.com/office/powerpoint/2010/main" val="372536312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EDAF7-D137-7D90-20B0-B72B0B67D675}"/>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C1A6FBD3-C8B0-8B7A-9EB4-BBE87D2FF48F}"/>
              </a:ext>
            </a:extLst>
          </p:cNvPr>
          <p:cNvSpPr/>
          <p:nvPr/>
        </p:nvSpPr>
        <p:spPr>
          <a:xfrm>
            <a:off x="972490" y="5809160"/>
            <a:ext cx="9839504" cy="67665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En la cuenta corriente del estudiante, se puede visualizar la generación de las transacciones simuladas que representan la operación de repactación realizada.</a:t>
            </a:r>
          </a:p>
        </p:txBody>
      </p:sp>
      <p:sp>
        <p:nvSpPr>
          <p:cNvPr id="5" name="Título 3">
            <a:extLst>
              <a:ext uri="{FF2B5EF4-FFF2-40B4-BE49-F238E27FC236}">
                <a16:creationId xmlns:a16="http://schemas.microsoft.com/office/drawing/2014/main" id="{D57A779C-6306-5D39-E683-5840E628D582}"/>
              </a:ext>
            </a:extLst>
          </p:cNvPr>
          <p:cNvSpPr txBox="1">
            <a:spLocks/>
          </p:cNvSpPr>
          <p:nvPr/>
        </p:nvSpPr>
        <p:spPr>
          <a:xfrm>
            <a:off x="877823" y="344116"/>
            <a:ext cx="10244372" cy="97262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TSAAREV - Revisión de detalle de cuenta - alumnos</a:t>
            </a:r>
            <a:endParaRPr lang="es-CL"/>
          </a:p>
        </p:txBody>
      </p:sp>
      <p:pic>
        <p:nvPicPr>
          <p:cNvPr id="3" name="Imagen 2">
            <a:extLst>
              <a:ext uri="{FF2B5EF4-FFF2-40B4-BE49-F238E27FC236}">
                <a16:creationId xmlns:a16="http://schemas.microsoft.com/office/drawing/2014/main" id="{8005CB16-1814-AFEC-29CF-949FE62EE2BE}"/>
              </a:ext>
            </a:extLst>
          </p:cNvPr>
          <p:cNvPicPr>
            <a:picLocks noChangeAspect="1"/>
          </p:cNvPicPr>
          <p:nvPr/>
        </p:nvPicPr>
        <p:blipFill>
          <a:blip r:embed="rId2"/>
          <a:stretch>
            <a:fillRect/>
          </a:stretch>
        </p:blipFill>
        <p:spPr>
          <a:xfrm>
            <a:off x="1214020" y="1316736"/>
            <a:ext cx="9356444" cy="4196460"/>
          </a:xfrm>
          <a:prstGeom prst="rect">
            <a:avLst/>
          </a:prstGeom>
        </p:spPr>
      </p:pic>
    </p:spTree>
    <p:extLst>
      <p:ext uri="{BB962C8B-B14F-4D97-AF65-F5344CB8AC3E}">
        <p14:creationId xmlns:p14="http://schemas.microsoft.com/office/powerpoint/2010/main" val="274499158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02F90-F4F2-69F9-DD19-004F4EC51019}"/>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2099E87F-EAF6-77CC-AFB0-861099029946}"/>
              </a:ext>
            </a:extLst>
          </p:cNvPr>
          <p:cNvSpPr/>
          <p:nvPr/>
        </p:nvSpPr>
        <p:spPr>
          <a:xfrm>
            <a:off x="972490" y="5669280"/>
            <a:ext cx="10244372" cy="71595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a:t>TVISIMQ </a:t>
            </a:r>
            <a:r>
              <a:rPr lang="es-CO" sz="1200"/>
              <a:t>permite visualizar las simulaciones que hayan sido autorizadas para un estudiante en particular. En ella podrá visualizarse las transacciones repactadas, los montos o porcentajes remitidos y el estatus de la solicitud.</a:t>
            </a:r>
          </a:p>
        </p:txBody>
      </p:sp>
      <p:sp>
        <p:nvSpPr>
          <p:cNvPr id="5" name="Título 3">
            <a:extLst>
              <a:ext uri="{FF2B5EF4-FFF2-40B4-BE49-F238E27FC236}">
                <a16:creationId xmlns:a16="http://schemas.microsoft.com/office/drawing/2014/main" id="{A9AB5499-33B9-6FC7-22EE-441989B2FDDA}"/>
              </a:ext>
            </a:extLst>
          </p:cNvPr>
          <p:cNvSpPr txBox="1">
            <a:spLocks/>
          </p:cNvSpPr>
          <p:nvPr/>
        </p:nvSpPr>
        <p:spPr>
          <a:xfrm>
            <a:off x="972490" y="0"/>
            <a:ext cx="10244372" cy="97262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TVISIMQ Consulta de la renegociación del plan de pagos</a:t>
            </a:r>
            <a:endParaRPr lang="es-CL"/>
          </a:p>
        </p:txBody>
      </p:sp>
      <p:pic>
        <p:nvPicPr>
          <p:cNvPr id="4" name="Imagen 3">
            <a:extLst>
              <a:ext uri="{FF2B5EF4-FFF2-40B4-BE49-F238E27FC236}">
                <a16:creationId xmlns:a16="http://schemas.microsoft.com/office/drawing/2014/main" id="{04AC118B-BD3D-7017-7348-F39EFE16A084}"/>
              </a:ext>
            </a:extLst>
          </p:cNvPr>
          <p:cNvPicPr>
            <a:picLocks noChangeAspect="1"/>
          </p:cNvPicPr>
          <p:nvPr/>
        </p:nvPicPr>
        <p:blipFill>
          <a:blip r:embed="rId2"/>
          <a:stretch>
            <a:fillRect/>
          </a:stretch>
        </p:blipFill>
        <p:spPr>
          <a:xfrm>
            <a:off x="1237688" y="972620"/>
            <a:ext cx="9387640" cy="4149963"/>
          </a:xfrm>
          <a:prstGeom prst="rect">
            <a:avLst/>
          </a:prstGeom>
        </p:spPr>
      </p:pic>
      <p:pic>
        <p:nvPicPr>
          <p:cNvPr id="8" name="Imagen 7">
            <a:extLst>
              <a:ext uri="{FF2B5EF4-FFF2-40B4-BE49-F238E27FC236}">
                <a16:creationId xmlns:a16="http://schemas.microsoft.com/office/drawing/2014/main" id="{805963FE-68F7-2641-D21B-090E21EF0F0B}"/>
              </a:ext>
            </a:extLst>
          </p:cNvPr>
          <p:cNvPicPr>
            <a:picLocks noChangeAspect="1"/>
          </p:cNvPicPr>
          <p:nvPr/>
        </p:nvPicPr>
        <p:blipFill>
          <a:blip r:embed="rId3"/>
          <a:stretch>
            <a:fillRect/>
          </a:stretch>
        </p:blipFill>
        <p:spPr>
          <a:xfrm>
            <a:off x="1237688" y="5122583"/>
            <a:ext cx="9387640" cy="293517"/>
          </a:xfrm>
          <a:prstGeom prst="rect">
            <a:avLst/>
          </a:prstGeom>
        </p:spPr>
      </p:pic>
    </p:spTree>
    <p:extLst>
      <p:ext uri="{BB962C8B-B14F-4D97-AF65-F5344CB8AC3E}">
        <p14:creationId xmlns:p14="http://schemas.microsoft.com/office/powerpoint/2010/main" val="77314362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E473A-ADCA-D9B3-976E-DEC2C39FB2D6}"/>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46BC8834-5ABE-801C-A8B5-BBA92E65FA9F}"/>
              </a:ext>
            </a:extLst>
          </p:cNvPr>
          <p:cNvSpPr/>
          <p:nvPr/>
        </p:nvSpPr>
        <p:spPr>
          <a:xfrm>
            <a:off x="972489" y="4938350"/>
            <a:ext cx="7467423" cy="63306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a:t>TVISIMQ en la segunda ventana muestra el detalle del Plan de Pagos autorizado para la renegociación.</a:t>
            </a:r>
          </a:p>
        </p:txBody>
      </p:sp>
      <p:sp>
        <p:nvSpPr>
          <p:cNvPr id="5" name="Título 3">
            <a:extLst>
              <a:ext uri="{FF2B5EF4-FFF2-40B4-BE49-F238E27FC236}">
                <a16:creationId xmlns:a16="http://schemas.microsoft.com/office/drawing/2014/main" id="{3A61A911-CF5A-B031-DC9F-05309A8B5F0B}"/>
              </a:ext>
            </a:extLst>
          </p:cNvPr>
          <p:cNvSpPr txBox="1">
            <a:spLocks/>
          </p:cNvSpPr>
          <p:nvPr/>
        </p:nvSpPr>
        <p:spPr>
          <a:xfrm>
            <a:off x="789610" y="389836"/>
            <a:ext cx="10244372" cy="97262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a:solidFill>
                  <a:schemeClr val="accent1"/>
                </a:solidFill>
              </a:rPr>
              <a:t>Operación: </a:t>
            </a:r>
            <a:r>
              <a:rPr lang="es-CO" sz="3200"/>
              <a:t>TVISIMQ Consulta de la renegociación del plan de pagos</a:t>
            </a:r>
            <a:endParaRPr lang="es-CL"/>
          </a:p>
        </p:txBody>
      </p:sp>
      <p:pic>
        <p:nvPicPr>
          <p:cNvPr id="3" name="Imagen 2">
            <a:extLst>
              <a:ext uri="{FF2B5EF4-FFF2-40B4-BE49-F238E27FC236}">
                <a16:creationId xmlns:a16="http://schemas.microsoft.com/office/drawing/2014/main" id="{12545F67-EC40-C8A5-6483-AC63EB7BF4DA}"/>
              </a:ext>
            </a:extLst>
          </p:cNvPr>
          <p:cNvPicPr>
            <a:picLocks noChangeAspect="1"/>
          </p:cNvPicPr>
          <p:nvPr/>
        </p:nvPicPr>
        <p:blipFill>
          <a:blip r:embed="rId2"/>
          <a:stretch>
            <a:fillRect/>
          </a:stretch>
        </p:blipFill>
        <p:spPr>
          <a:xfrm>
            <a:off x="908378" y="1718487"/>
            <a:ext cx="10372595" cy="2863832"/>
          </a:xfrm>
          <a:prstGeom prst="rect">
            <a:avLst/>
          </a:prstGeom>
        </p:spPr>
      </p:pic>
    </p:spTree>
    <p:extLst>
      <p:ext uri="{BB962C8B-B14F-4D97-AF65-F5344CB8AC3E}">
        <p14:creationId xmlns:p14="http://schemas.microsoft.com/office/powerpoint/2010/main" val="3534297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0A807-D28A-EF39-6A44-2A2F47786E89}"/>
            </a:ext>
          </a:extLst>
        </p:cNvPr>
        <p:cNvGrpSpPr/>
        <p:nvPr/>
      </p:nvGrpSpPr>
      <p:grpSpPr>
        <a:xfrm>
          <a:off x="0" y="0"/>
          <a:ext cx="0" cy="0"/>
          <a:chOff x="0" y="0"/>
          <a:chExt cx="0" cy="0"/>
        </a:xfrm>
      </p:grpSpPr>
      <p:sp>
        <p:nvSpPr>
          <p:cNvPr id="2" name="Title 15">
            <a:extLst>
              <a:ext uri="{FF2B5EF4-FFF2-40B4-BE49-F238E27FC236}">
                <a16:creationId xmlns:a16="http://schemas.microsoft.com/office/drawing/2014/main" id="{EAA774FF-A16C-0516-8A83-6BE31A595B68}"/>
              </a:ext>
            </a:extLst>
          </p:cNvPr>
          <p:cNvSpPr txBox="1">
            <a:spLocks/>
          </p:cNvSpPr>
          <p:nvPr/>
        </p:nvSpPr>
        <p:spPr>
          <a:xfrm>
            <a:off x="463619" y="1349562"/>
            <a:ext cx="7092820" cy="6769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sz="3600"/>
              <a:t>RESUMEN</a:t>
            </a:r>
          </a:p>
        </p:txBody>
      </p:sp>
      <p:sp>
        <p:nvSpPr>
          <p:cNvPr id="3" name="Text Placeholder 4">
            <a:extLst>
              <a:ext uri="{FF2B5EF4-FFF2-40B4-BE49-F238E27FC236}">
                <a16:creationId xmlns:a16="http://schemas.microsoft.com/office/drawing/2014/main" id="{A4230D26-77A4-9999-B174-9B6175E41799}"/>
              </a:ext>
            </a:extLst>
          </p:cNvPr>
          <p:cNvSpPr txBox="1">
            <a:spLocks/>
          </p:cNvSpPr>
          <p:nvPr/>
        </p:nvSpPr>
        <p:spPr>
          <a:xfrm>
            <a:off x="463619" y="1887953"/>
            <a:ext cx="11264762" cy="437430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33CCCC"/>
              </a:buClr>
              <a:buNone/>
            </a:pPr>
            <a:r>
              <a:rPr lang="es-419" sz="2700" dirty="0"/>
              <a:t>Gestionar los Planes de Pago:</a:t>
            </a:r>
          </a:p>
          <a:p>
            <a:pPr>
              <a:buClr>
                <a:srgbClr val="33CCCC"/>
              </a:buClr>
              <a:buBlip>
                <a:blip r:embed="rId2"/>
              </a:buBlip>
            </a:pPr>
            <a:r>
              <a:rPr lang="es-419" sz="2700" dirty="0"/>
              <a:t> </a:t>
            </a:r>
            <a:r>
              <a:rPr lang="es-ES" sz="2700" dirty="0"/>
              <a:t>Se definen la configuración general para la aplicación de planes de pago.</a:t>
            </a:r>
          </a:p>
          <a:p>
            <a:pPr>
              <a:buClr>
                <a:srgbClr val="33CCCC"/>
              </a:buClr>
              <a:buBlip>
                <a:blip r:embed="rId2"/>
              </a:buBlip>
            </a:pPr>
            <a:r>
              <a:rPr lang="es-419" sz="2700" dirty="0"/>
              <a:t> </a:t>
            </a:r>
            <a:r>
              <a:rPr lang="es-ES" sz="2700" dirty="0"/>
              <a:t>Se define la creación del catálogo de planes de pago.</a:t>
            </a:r>
            <a:endParaRPr lang="es-419" sz="2700" dirty="0"/>
          </a:p>
          <a:p>
            <a:pPr>
              <a:buClr>
                <a:srgbClr val="33CCCC"/>
              </a:buClr>
              <a:buBlip>
                <a:blip r:embed="rId2"/>
              </a:buBlip>
            </a:pPr>
            <a:r>
              <a:rPr lang="es-419" sz="2700" dirty="0"/>
              <a:t> </a:t>
            </a:r>
            <a:r>
              <a:rPr lang="es-ES" sz="2700" dirty="0"/>
              <a:t>Se define la configuración y aplicación de los planes de pago manuales</a:t>
            </a:r>
          </a:p>
          <a:p>
            <a:pPr>
              <a:buClr>
                <a:srgbClr val="33CCCC"/>
              </a:buClr>
              <a:buBlip>
                <a:blip r:embed="rId2"/>
              </a:buBlip>
            </a:pPr>
            <a:r>
              <a:rPr lang="es-419" sz="2700" dirty="0"/>
              <a:t> </a:t>
            </a:r>
            <a:r>
              <a:rPr lang="es-ES" sz="2700" dirty="0"/>
              <a:t>Se define la configuración de los planes de pago automáticos</a:t>
            </a:r>
            <a:endParaRPr lang="es-419" sz="2700" dirty="0"/>
          </a:p>
          <a:p>
            <a:pPr>
              <a:buClr>
                <a:srgbClr val="33CCCC"/>
              </a:buClr>
              <a:buBlip>
                <a:blip r:embed="rId2"/>
              </a:buBlip>
            </a:pPr>
            <a:r>
              <a:rPr lang="es-419" sz="2700" dirty="0"/>
              <a:t> </a:t>
            </a:r>
            <a:r>
              <a:rPr lang="es-ES" sz="2700" dirty="0"/>
              <a:t>Se define la asignación y aplicación de los planes de pago automáticos</a:t>
            </a:r>
          </a:p>
          <a:p>
            <a:pPr>
              <a:buClr>
                <a:srgbClr val="33CCCC"/>
              </a:buClr>
              <a:buBlip>
                <a:blip r:embed="rId2"/>
              </a:buBlip>
            </a:pPr>
            <a:r>
              <a:rPr lang="es-419" sz="2700" dirty="0"/>
              <a:t> </a:t>
            </a:r>
            <a:r>
              <a:rPr lang="es-ES" sz="2700" dirty="0"/>
              <a:t>Se define la auditoría a los planes de pago aplicados.</a:t>
            </a:r>
            <a:endParaRPr lang="es-419" sz="2700" dirty="0"/>
          </a:p>
          <a:p>
            <a:pPr>
              <a:buClr>
                <a:srgbClr val="33CCCC"/>
              </a:buClr>
              <a:buBlip>
                <a:blip r:embed="rId2"/>
              </a:buBlip>
            </a:pPr>
            <a:r>
              <a:rPr lang="es-419" sz="2700" dirty="0">
                <a:cs typeface="Arial"/>
              </a:rPr>
              <a:t>Se define el proceso de repactación de la deuda de un estudiante.</a:t>
            </a:r>
          </a:p>
          <a:p>
            <a:pPr marL="0" indent="0">
              <a:buClr>
                <a:srgbClr val="33CCCC"/>
              </a:buClr>
              <a:buNone/>
            </a:pPr>
            <a:endParaRPr lang="es-419" sz="2700" dirty="0"/>
          </a:p>
          <a:p>
            <a:pPr marL="0" indent="0" algn="just">
              <a:buFont typeface="Arial" panose="020B0604020202020204" pitchFamily="34" charset="0"/>
              <a:buNone/>
            </a:pPr>
            <a:endParaRPr lang="es-419" sz="2700" dirty="0">
              <a:latin typeface="Helvetica Neue" panose="02000503000000020004" pitchFamily="2" charset="0"/>
            </a:endParaRPr>
          </a:p>
        </p:txBody>
      </p:sp>
    </p:spTree>
    <p:extLst>
      <p:ext uri="{BB962C8B-B14F-4D97-AF65-F5344CB8AC3E}">
        <p14:creationId xmlns:p14="http://schemas.microsoft.com/office/powerpoint/2010/main" val="290081278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555C3-54CB-FB22-24D3-CB56D25AA16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8C8C561-01AA-93BA-31A2-AAD8E5DED18B}"/>
              </a:ext>
            </a:extLst>
          </p:cNvPr>
          <p:cNvSpPr>
            <a:spLocks noGrp="1"/>
          </p:cNvSpPr>
          <p:nvPr>
            <p:ph type="body" sz="quarter" idx="11"/>
          </p:nvPr>
        </p:nvSpPr>
        <p:spPr/>
        <p:txBody>
          <a:bodyPr/>
          <a:lstStyle/>
          <a:p>
            <a:r>
              <a:rPr lang="es-CO" dirty="0"/>
              <a:t>Faver Herrera Mejia</a:t>
            </a:r>
            <a:endParaRPr lang="en-US" dirty="0"/>
          </a:p>
        </p:txBody>
      </p:sp>
      <p:sp>
        <p:nvSpPr>
          <p:cNvPr id="3" name="Text Placeholder 2">
            <a:extLst>
              <a:ext uri="{FF2B5EF4-FFF2-40B4-BE49-F238E27FC236}">
                <a16:creationId xmlns:a16="http://schemas.microsoft.com/office/drawing/2014/main" id="{E41D6D2D-BB92-CF38-BDA6-D770C4633ECA}"/>
              </a:ext>
            </a:extLst>
          </p:cNvPr>
          <p:cNvSpPr>
            <a:spLocks noGrp="1"/>
          </p:cNvSpPr>
          <p:nvPr>
            <p:ph type="body" sz="quarter" idx="12"/>
          </p:nvPr>
        </p:nvSpPr>
        <p:spPr/>
        <p:txBody>
          <a:bodyPr/>
          <a:lstStyle/>
          <a:p>
            <a:r>
              <a:rPr lang="es-CO" dirty="0"/>
              <a:t>faver.herreramejia@ellucian.com</a:t>
            </a:r>
            <a:endParaRPr lang="en-US" dirty="0"/>
          </a:p>
        </p:txBody>
      </p:sp>
    </p:spTree>
    <p:extLst>
      <p:ext uri="{BB962C8B-B14F-4D97-AF65-F5344CB8AC3E}">
        <p14:creationId xmlns:p14="http://schemas.microsoft.com/office/powerpoint/2010/main" val="829329984"/>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2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5071</Words>
  <Application>Microsoft Office PowerPoint</Application>
  <PresentationFormat>Widescreen</PresentationFormat>
  <Paragraphs>306</Paragraphs>
  <Slides>96</Slides>
  <Notes>3</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96</vt:i4>
      </vt:variant>
    </vt:vector>
  </HeadingPairs>
  <TitlesOfParts>
    <vt:vector size="107" baseType="lpstr">
      <vt:lpstr>Aptos</vt:lpstr>
      <vt:lpstr>Aptos Display</vt:lpstr>
      <vt:lpstr>Arial</vt:lpstr>
      <vt:lpstr>Courier New</vt:lpstr>
      <vt:lpstr>Helvetica Neue</vt:lpstr>
      <vt:lpstr>Wingdings</vt:lpstr>
      <vt:lpstr>Ellucian Main Layouts</vt:lpstr>
      <vt:lpstr>Ellucian Blank Layouts</vt:lpstr>
      <vt:lpstr>1_Ellucian Main Layouts</vt:lpstr>
      <vt:lpstr>1_Ellucian Blank Layouts</vt:lpstr>
      <vt:lpstr>2_Ellucian Main Layouts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DeChurch, Damien</dc:creator>
  <cp:lastModifiedBy>Herrera Mejía, Faver</cp:lastModifiedBy>
  <cp:revision>1</cp:revision>
  <dcterms:created xsi:type="dcterms:W3CDTF">2024-12-23T17:11:20Z</dcterms:created>
  <dcterms:modified xsi:type="dcterms:W3CDTF">2026-06-19T15:19:32Z</dcterms:modified>
</cp:coreProperties>
</file>
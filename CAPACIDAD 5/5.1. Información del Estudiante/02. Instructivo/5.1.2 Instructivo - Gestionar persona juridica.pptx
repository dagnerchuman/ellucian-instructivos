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3.xml" ContentType="application/vnd.openxmlformats-officedocument.theme+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1" r:id="rId2"/>
    <p:sldMasterId id="2147483771" r:id="rId3"/>
    <p:sldMasterId id="2147483808" r:id="rId4"/>
  </p:sldMasterIdLst>
  <p:notesMasterIdLst>
    <p:notesMasterId r:id="rId41"/>
  </p:notesMasterIdLst>
  <p:sldIdLst>
    <p:sldId id="257" r:id="rId5"/>
    <p:sldId id="423" r:id="rId6"/>
    <p:sldId id="476" r:id="rId7"/>
    <p:sldId id="348" r:id="rId8"/>
    <p:sldId id="349" r:id="rId9"/>
    <p:sldId id="350" r:id="rId10"/>
    <p:sldId id="421" r:id="rId11"/>
    <p:sldId id="352" r:id="rId12"/>
    <p:sldId id="469" r:id="rId13"/>
    <p:sldId id="537" r:id="rId14"/>
    <p:sldId id="513" r:id="rId15"/>
    <p:sldId id="566" r:id="rId16"/>
    <p:sldId id="567" r:id="rId17"/>
    <p:sldId id="568" r:id="rId18"/>
    <p:sldId id="569" r:id="rId19"/>
    <p:sldId id="570" r:id="rId20"/>
    <p:sldId id="571" r:id="rId21"/>
    <p:sldId id="572" r:id="rId22"/>
    <p:sldId id="573" r:id="rId23"/>
    <p:sldId id="485" r:id="rId24"/>
    <p:sldId id="538" r:id="rId25"/>
    <p:sldId id="574" r:id="rId26"/>
    <p:sldId id="575" r:id="rId27"/>
    <p:sldId id="576" r:id="rId28"/>
    <p:sldId id="585" r:id="rId29"/>
    <p:sldId id="586" r:id="rId30"/>
    <p:sldId id="587" r:id="rId31"/>
    <p:sldId id="593" r:id="rId32"/>
    <p:sldId id="588" r:id="rId33"/>
    <p:sldId id="589" r:id="rId34"/>
    <p:sldId id="590" r:id="rId35"/>
    <p:sldId id="592" r:id="rId36"/>
    <p:sldId id="609" r:id="rId37"/>
    <p:sldId id="610" r:id="rId38"/>
    <p:sldId id="1221" r:id="rId39"/>
    <p:sldId id="62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345E"/>
    <a:srgbClr val="68C184"/>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B04954-0C83-45EE-8D00-FDAB87117E21}" v="8" dt="2026-03-18T15:28:08.40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60"/>
  </p:normalViewPr>
  <p:slideViewPr>
    <p:cSldViewPr snapToGrid="0">
      <p:cViewPr varScale="1">
        <p:scale>
          <a:sx n="111" d="100"/>
          <a:sy n="111" d="100"/>
        </p:scale>
        <p:origin x="606" y="96"/>
      </p:cViewPr>
      <p:guideLst/>
    </p:cSldViewPr>
  </p:slideViewPr>
  <p:notesTextViewPr>
    <p:cViewPr>
      <p:scale>
        <a:sx n="1" d="1"/>
        <a:sy n="1" d="1"/>
      </p:scale>
      <p:origin x="0" y="0"/>
    </p:cViewPr>
  </p:notesTextViewPr>
  <p:sorterViewPr>
    <p:cViewPr>
      <p:scale>
        <a:sx n="100" d="100"/>
        <a:sy n="100" d="100"/>
      </p:scale>
      <p:origin x="0" y="-1445"/>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8/10/relationships/authors" Target="author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24-06-2026</a:t>
            </a:fld>
            <a:endParaRPr lang="es-CL"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dirty="0"/>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BC2B7043-8BBF-43F6-8395-E81293822626}" type="slidenum">
              <a:rPr lang="es-419" smtClean="0"/>
              <a:t>35</a:t>
            </a:fld>
            <a:endParaRPr lang="es-419"/>
          </a:p>
        </p:txBody>
      </p:sp>
    </p:spTree>
    <p:extLst>
      <p:ext uri="{BB962C8B-B14F-4D97-AF65-F5344CB8AC3E}">
        <p14:creationId xmlns:p14="http://schemas.microsoft.com/office/powerpoint/2010/main" val="18010937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89609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68986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65692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06509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74067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16084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68155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2861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828029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357780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738491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717533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2754294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5733698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47306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133038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427331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9017146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877146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604827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5846772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468159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9108521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397514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867401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8908795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539438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111139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894767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385331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604885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206295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865588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24-06-2026</a:t>
            </a:fld>
            <a:endParaRPr lang="es-CL" dirty="0"/>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dirty="0"/>
          </a:p>
        </p:txBody>
      </p:sp>
    </p:spTree>
    <p:extLst>
      <p:ext uri="{BB962C8B-B14F-4D97-AF65-F5344CB8AC3E}">
        <p14:creationId xmlns:p14="http://schemas.microsoft.com/office/powerpoint/2010/main" val="28732148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695547388"/>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1502746860"/>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2930117390"/>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87605920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69036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750470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859180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030580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909743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679922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379597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981148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093542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0059293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724497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081595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3679755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2921420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708068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300921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910540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845212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7245386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16482907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1909963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66654379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2303270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48938014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1702243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76776483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2831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84850934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11089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4215132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921318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7345423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6670226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97940002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96693341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578368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86335942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0238543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1755840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855654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1200378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07990054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28931051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66841106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9600549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70427777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09167809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01682247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7564125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1297238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28083406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61187985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36604160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3585614700"/>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553697911"/>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3919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7085191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2156656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34506349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5477191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18725749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99766065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78056196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90610277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8503501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65804463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89664826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96607395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671706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5042006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26250845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54102052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30272394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645720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2.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image" Target="../media/image1.svg"/><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theme" Target="../theme/theme3.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slideLayout" Target="../slideLayouts/slideLayout88.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8" Type="http://schemas.openxmlformats.org/officeDocument/2006/relationships/slideLayout" Target="../slideLayouts/slideLayout65.xml"/><Relationship Id="rId3" Type="http://schemas.openxmlformats.org/officeDocument/2006/relationships/slideLayout" Target="../slideLayouts/slideLayout6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1.xml"/><Relationship Id="rId13" Type="http://schemas.openxmlformats.org/officeDocument/2006/relationships/slideLayout" Target="../slideLayouts/slideLayout106.xml"/><Relationship Id="rId18" Type="http://schemas.openxmlformats.org/officeDocument/2006/relationships/slideLayout" Target="../slideLayouts/slideLayout111.xml"/><Relationship Id="rId3" Type="http://schemas.openxmlformats.org/officeDocument/2006/relationships/slideLayout" Target="../slideLayouts/slideLayout96.xml"/><Relationship Id="rId7" Type="http://schemas.openxmlformats.org/officeDocument/2006/relationships/slideLayout" Target="../slideLayouts/slideLayout100.xml"/><Relationship Id="rId12" Type="http://schemas.openxmlformats.org/officeDocument/2006/relationships/slideLayout" Target="../slideLayouts/slideLayout105.xml"/><Relationship Id="rId17" Type="http://schemas.openxmlformats.org/officeDocument/2006/relationships/slideLayout" Target="../slideLayouts/slideLayout110.xml"/><Relationship Id="rId2" Type="http://schemas.openxmlformats.org/officeDocument/2006/relationships/slideLayout" Target="../slideLayouts/slideLayout95.xml"/><Relationship Id="rId16" Type="http://schemas.openxmlformats.org/officeDocument/2006/relationships/slideLayout" Target="../slideLayouts/slideLayout109.xml"/><Relationship Id="rId20" Type="http://schemas.openxmlformats.org/officeDocument/2006/relationships/theme" Target="../theme/theme4.xml"/><Relationship Id="rId1" Type="http://schemas.openxmlformats.org/officeDocument/2006/relationships/slideLayout" Target="../slideLayouts/slideLayout94.xml"/><Relationship Id="rId6" Type="http://schemas.openxmlformats.org/officeDocument/2006/relationships/slideLayout" Target="../slideLayouts/slideLayout99.xml"/><Relationship Id="rId11" Type="http://schemas.openxmlformats.org/officeDocument/2006/relationships/slideLayout" Target="../slideLayouts/slideLayout104.xml"/><Relationship Id="rId5" Type="http://schemas.openxmlformats.org/officeDocument/2006/relationships/slideLayout" Target="../slideLayouts/slideLayout98.xml"/><Relationship Id="rId15" Type="http://schemas.openxmlformats.org/officeDocument/2006/relationships/slideLayout" Target="../slideLayouts/slideLayout108.xml"/><Relationship Id="rId10" Type="http://schemas.openxmlformats.org/officeDocument/2006/relationships/slideLayout" Target="../slideLayouts/slideLayout103.xml"/><Relationship Id="rId19" Type="http://schemas.openxmlformats.org/officeDocument/2006/relationships/slideLayout" Target="../slideLayouts/slideLayout112.xml"/><Relationship Id="rId4" Type="http://schemas.openxmlformats.org/officeDocument/2006/relationships/slideLayout" Target="../slideLayouts/slideLayout97.xml"/><Relationship Id="rId9" Type="http://schemas.openxmlformats.org/officeDocument/2006/relationships/slideLayout" Target="../slideLayouts/slideLayout102.xml"/><Relationship Id="rId14" Type="http://schemas.openxmlformats.org/officeDocument/2006/relationships/slideLayout" Target="../slideLayouts/slideLayout10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13482033"/>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255569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751158401"/>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 id="2147483794" r:id="rId23"/>
    <p:sldLayoutId id="2147483795" r:id="rId24"/>
    <p:sldLayoutId id="2147483796" r:id="rId25"/>
    <p:sldLayoutId id="2147483797" r:id="rId26"/>
    <p:sldLayoutId id="2147483798" r:id="rId27"/>
    <p:sldLayoutId id="2147483799" r:id="rId28"/>
    <p:sldLayoutId id="2147483800" r:id="rId29"/>
    <p:sldLayoutId id="2147483801" r:id="rId30"/>
    <p:sldLayoutId id="2147483802" r:id="rId31"/>
    <p:sldLayoutId id="2147483803" r:id="rId32"/>
    <p:sldLayoutId id="2147483804" r:id="rId33"/>
    <p:sldLayoutId id="2147483805" r:id="rId34"/>
    <p:sldLayoutId id="2147483806" r:id="rId35"/>
    <p:sldLayoutId id="2147483807" r:id="rId36"/>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2208474"/>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 id="2147483826" r:id="rId18"/>
    <p:sldLayoutId id="214748382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3.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3.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3.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3.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3.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3.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3.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3.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2.xml"/></Relationships>
</file>

<file path=ppt/slides/_rels/slide3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slideLayout" Target="../slideLayouts/slideLayout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222707"/>
          </a:xfrm>
        </p:spPr>
        <p:txBody>
          <a:bodyPr/>
          <a:lstStyle/>
          <a:p>
            <a:r>
              <a:rPr lang="es-419" sz="4400" dirty="0"/>
              <a:t>Gestionar persona jurídica</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1045158"/>
          </a:xfrm>
        </p:spPr>
        <p:txBody>
          <a:bodyPr/>
          <a:lstStyle/>
          <a:p>
            <a:r>
              <a:rPr lang="es-ES" sz="1800" dirty="0"/>
              <a:t>Instructivo</a:t>
            </a:r>
          </a:p>
          <a:p>
            <a:br>
              <a:rPr lang="es-ES" dirty="0"/>
            </a:br>
            <a:endParaRPr lang="es-CL" dirty="0"/>
          </a:p>
        </p:txBody>
      </p:sp>
      <p:pic>
        <p:nvPicPr>
          <p:cNvPr id="8" name="Marcador de posición de imagen 7">
            <a:extLst>
              <a:ext uri="{FF2B5EF4-FFF2-40B4-BE49-F238E27FC236}">
                <a16:creationId xmlns:a16="http://schemas.microsoft.com/office/drawing/2014/main" id="{4753A37C-4738-31AD-936A-9816BAF58F10}"/>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p:blipFill>
        <p:spPr/>
      </p:pic>
      <p:sp>
        <p:nvSpPr>
          <p:cNvPr id="7" name="Text Placeholder 6">
            <a:extLst>
              <a:ext uri="{FF2B5EF4-FFF2-40B4-BE49-F238E27FC236}">
                <a16:creationId xmlns:a16="http://schemas.microsoft.com/office/drawing/2014/main" id="{728755C8-EBE8-4E98-6676-4AE37535C6A7}"/>
              </a:ext>
            </a:extLst>
          </p:cNvPr>
          <p:cNvSpPr>
            <a:spLocks noGrp="1"/>
          </p:cNvSpPr>
          <p:nvPr>
            <p:ph type="body" sz="quarter" idx="12"/>
          </p:nvPr>
        </p:nvSpPr>
        <p:spPr/>
        <p:txBody>
          <a:bodyPr/>
          <a:lstStyle/>
          <a:p>
            <a:r>
              <a:rPr lang="es-CO" dirty="0"/>
              <a:t>Universidad Señor de SIPAN</a:t>
            </a:r>
          </a:p>
          <a:p>
            <a:endParaRPr lang="es-CO" dirty="0"/>
          </a:p>
        </p:txBody>
      </p:sp>
      <p:sp>
        <p:nvSpPr>
          <p:cNvPr id="10" name="Text Placeholder 9">
            <a:extLst>
              <a:ext uri="{FF2B5EF4-FFF2-40B4-BE49-F238E27FC236}">
                <a16:creationId xmlns:a16="http://schemas.microsoft.com/office/drawing/2014/main" id="{E48D56F7-A23E-3A12-0FBB-1882E0B8B2FD}"/>
              </a:ext>
            </a:extLst>
          </p:cNvPr>
          <p:cNvSpPr>
            <a:spLocks noGrp="1"/>
          </p:cNvSpPr>
          <p:nvPr>
            <p:ph type="body" sz="quarter" idx="13"/>
          </p:nvPr>
        </p:nvSpPr>
        <p:spPr/>
        <p:txBody>
          <a:bodyPr/>
          <a:lstStyle/>
          <a:p>
            <a:r>
              <a:rPr lang="es-CO" dirty="0"/>
              <a:t>Junio, 2026</a:t>
            </a:r>
          </a:p>
        </p:txBody>
      </p:sp>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persona jurídica</a:t>
            </a:r>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1896582779"/>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s-419" sz="2800" b="1" noProof="0"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Gestionar persona jurídica</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persona jurídica</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vert="horz" lIns="0" tIns="0" rIns="0" bIns="0" rtlCol="0" anchor="t" anchorCtr="0">
            <a:noAutofit/>
          </a:bodyPr>
          <a:lstStyle/>
          <a:p>
            <a:r>
              <a:rPr lang="es-ES_tradnl" dirty="0"/>
              <a:t>Overview: Mapa de Capacidades</a:t>
            </a:r>
            <a:endParaRPr lang="en-US" dirty="0"/>
          </a:p>
        </p:txBody>
      </p:sp>
      <p:pic>
        <p:nvPicPr>
          <p:cNvPr id="5" name="Picture 2">
            <a:extLst>
              <a:ext uri="{FF2B5EF4-FFF2-40B4-BE49-F238E27FC236}">
                <a16:creationId xmlns:a16="http://schemas.microsoft.com/office/drawing/2014/main" id="{E319F259-2A0B-800C-EEA2-02FD12E742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0" t="3607" r="2974"/>
          <a:stretch>
            <a:fillRect/>
          </a:stretch>
        </p:blipFill>
        <p:spPr bwMode="auto">
          <a:xfrm>
            <a:off x="609601" y="1289303"/>
            <a:ext cx="11225781" cy="457850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3284F50-F929-6894-C4B9-58CFEB67C6D6}"/>
              </a:ext>
            </a:extLst>
          </p:cNvPr>
          <p:cNvSpPr/>
          <p:nvPr/>
        </p:nvSpPr>
        <p:spPr>
          <a:xfrm>
            <a:off x="939271" y="4138583"/>
            <a:ext cx="3977785" cy="70946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733128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104900" y="1584355"/>
            <a:ext cx="9698935" cy="2539071"/>
          </a:xfrm>
        </p:spPr>
        <p:txBody>
          <a:bodyPr anchor="ctr"/>
          <a:lstStyle/>
          <a:p>
            <a:pPr marL="285750" lvl="0" indent="-285750">
              <a:buClr>
                <a:srgbClr val="0CB4B4"/>
              </a:buClr>
              <a:buFont typeface="Wingdings" panose="05000000000000000000" pitchFamily="2" charset="2"/>
              <a:buChar char="q"/>
            </a:pPr>
            <a:r>
              <a:rPr lang="es-CO" sz="2400" b="1" dirty="0"/>
              <a:t> </a:t>
            </a:r>
            <a:r>
              <a:rPr lang="es-419" sz="2400" b="1" dirty="0"/>
              <a:t>Gestionar persona jurídica</a:t>
            </a:r>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a:t>Overview: </a:t>
            </a:r>
            <a:r>
              <a:rPr lang="es-ES_tradnl" dirty="0"/>
              <a:t>Macroproceso Gestionar la información del estudiante</a:t>
            </a:r>
            <a:endParaRPr lang="es-CL" dirty="0"/>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1789044"/>
            <a:ext cx="10136257" cy="4472608"/>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ES_tradnl" sz="2200" dirty="0"/>
              <a:t>Se permite realizar la creación de personas jurídicas, teniendo como información obligatoria, el ID (identificador BANNER) , y el nombre de la empresa. </a:t>
            </a:r>
          </a:p>
          <a:p>
            <a:pPr marL="285750" indent="-285750" algn="just">
              <a:buClr>
                <a:srgbClr val="0CB4B4"/>
              </a:buClr>
              <a:buFont typeface="Wingdings" panose="05000000000000000000" pitchFamily="2" charset="2"/>
              <a:buChar char="q"/>
            </a:pPr>
            <a:r>
              <a:rPr lang="es-419" sz="2200" dirty="0"/>
              <a:t>La persona jurídica puede tener información adicional como: dirección, teléfono, email.</a:t>
            </a:r>
          </a:p>
          <a:p>
            <a:pPr marL="285750" indent="-285750" algn="just">
              <a:buClr>
                <a:srgbClr val="0CB4B4"/>
              </a:buClr>
              <a:buFont typeface="Wingdings" panose="05000000000000000000" pitchFamily="2" charset="2"/>
              <a:buChar char="q"/>
            </a:pPr>
            <a:r>
              <a:rPr lang="es-419" sz="2200" dirty="0"/>
              <a:t>La información de la persona jurídica puede ser modificada o actualizada en cualquier momento.</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a:t>Overview: </a:t>
            </a:r>
            <a:r>
              <a:rPr lang="es-ES_tradnl" dirty="0"/>
              <a:t>Proceso </a:t>
            </a:r>
            <a:r>
              <a:rPr lang="es-419" dirty="0"/>
              <a:t>gestionar persona jurídica</a:t>
            </a:r>
            <a:endParaRPr lang="es-CL" dirty="0"/>
          </a:p>
        </p:txBody>
      </p:sp>
    </p:spTree>
    <p:extLst>
      <p:ext uri="{BB962C8B-B14F-4D97-AF65-F5344CB8AC3E}">
        <p14:creationId xmlns:p14="http://schemas.microsoft.com/office/powerpoint/2010/main" val="167875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8859" y="66303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ES_tradnl" dirty="0"/>
              <a:t>Proceso </a:t>
            </a:r>
            <a:r>
              <a:rPr lang="es-419" dirty="0"/>
              <a:t>gestionar persona jurídica</a:t>
            </a:r>
            <a:endParaRPr lang="es-CL" dirty="0"/>
          </a:p>
        </p:txBody>
      </p:sp>
      <p:pic>
        <p:nvPicPr>
          <p:cNvPr id="4" name="Picture 4" descr="A diagram with text and arrows">
            <a:extLst>
              <a:ext uri="{FF2B5EF4-FFF2-40B4-BE49-F238E27FC236}">
                <a16:creationId xmlns:a16="http://schemas.microsoft.com/office/drawing/2014/main" id="{59E6E38B-25F9-3707-D36D-B21316C6AF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5498" y="1913731"/>
            <a:ext cx="6221003" cy="3030538"/>
          </a:xfrm>
          <a:prstGeom prst="rect">
            <a:avLst/>
          </a:prstGeom>
        </p:spPr>
      </p:pic>
    </p:spTree>
    <p:extLst>
      <p:ext uri="{BB962C8B-B14F-4D97-AF65-F5344CB8AC3E}">
        <p14:creationId xmlns:p14="http://schemas.microsoft.com/office/powerpoint/2010/main" val="675546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9" name="CuadroTexto 8">
            <a:extLst>
              <a:ext uri="{FF2B5EF4-FFF2-40B4-BE49-F238E27FC236}">
                <a16:creationId xmlns:a16="http://schemas.microsoft.com/office/drawing/2014/main" id="{CDA0D89D-33DC-4151-D805-A43C6E21B822}"/>
              </a:ext>
            </a:extLst>
          </p:cNvPr>
          <p:cNvSpPr txBox="1"/>
          <p:nvPr/>
        </p:nvSpPr>
        <p:spPr>
          <a:xfrm>
            <a:off x="6939975" y="2743200"/>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t>Overview</a:t>
            </a:r>
            <a:r>
              <a:rPr lang="es-ES_tradnl" dirty="0">
                <a:solidFill>
                  <a:schemeClr val="tx2"/>
                </a:solidFill>
              </a:rPr>
              <a:t>: </a:t>
            </a:r>
            <a:r>
              <a:rPr lang="es-ES_tradnl" dirty="0"/>
              <a:t>Proceso </a:t>
            </a:r>
            <a:r>
              <a:rPr lang="es-419" dirty="0"/>
              <a:t>gestionar persona jurídica</a:t>
            </a:r>
            <a:endParaRPr lang="es-CL" dirty="0"/>
          </a:p>
        </p:txBody>
      </p:sp>
      <p:pic>
        <p:nvPicPr>
          <p:cNvPr id="2" name="Picture 1">
            <a:extLst>
              <a:ext uri="{FF2B5EF4-FFF2-40B4-BE49-F238E27FC236}">
                <a16:creationId xmlns:a16="http://schemas.microsoft.com/office/drawing/2014/main" id="{77D9C668-524B-073B-77E4-EA49A874857D}"/>
              </a:ext>
            </a:extLst>
          </p:cNvPr>
          <p:cNvPicPr>
            <a:picLocks noChangeAspect="1"/>
          </p:cNvPicPr>
          <p:nvPr/>
        </p:nvPicPr>
        <p:blipFill>
          <a:blip r:embed="rId2"/>
          <a:stretch>
            <a:fillRect/>
          </a:stretch>
        </p:blipFill>
        <p:spPr>
          <a:xfrm>
            <a:off x="1580830" y="1175284"/>
            <a:ext cx="5111496" cy="5111496"/>
          </a:xfrm>
          <a:prstGeom prst="rect">
            <a:avLst/>
          </a:prstGeom>
        </p:spPr>
      </p:pic>
    </p:spTree>
    <p:extLst>
      <p:ext uri="{BB962C8B-B14F-4D97-AF65-F5344CB8AC3E}">
        <p14:creationId xmlns:p14="http://schemas.microsoft.com/office/powerpoint/2010/main" val="1448098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persona jurídica</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Tree>
    <p:extLst>
      <p:ext uri="{BB962C8B-B14F-4D97-AF65-F5344CB8AC3E}">
        <p14:creationId xmlns:p14="http://schemas.microsoft.com/office/powerpoint/2010/main" val="690636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669094"/>
          </a:xfrm>
        </p:spPr>
        <p:txBody>
          <a:bodyPr/>
          <a:lstStyle/>
          <a:p>
            <a:r>
              <a:rPr lang="es-CL" dirty="0">
                <a:solidFill>
                  <a:schemeClr val="bg1"/>
                </a:solidFill>
              </a:rPr>
              <a:t>Configuración coincidencia común</a:t>
            </a:r>
            <a:endParaRPr lang="en-US" dirty="0"/>
          </a:p>
        </p:txBody>
      </p:sp>
      <p:sp>
        <p:nvSpPr>
          <p:cNvPr id="5" name="Marcador de texto 4">
            <a:extLst>
              <a:ext uri="{FF2B5EF4-FFF2-40B4-BE49-F238E27FC236}">
                <a16:creationId xmlns:a16="http://schemas.microsoft.com/office/drawing/2014/main" id="{45F5FE9A-D07F-D91A-0483-61CB68C97654}"/>
              </a:ext>
            </a:extLst>
          </p:cNvPr>
          <p:cNvSpPr>
            <a:spLocks noGrp="1"/>
          </p:cNvSpPr>
          <p:nvPr>
            <p:ph type="body" sz="quarter" idx="11"/>
          </p:nvPr>
        </p:nvSpPr>
        <p:spPr/>
        <p:txBody>
          <a:bodyPr/>
          <a:lstStyle/>
          <a:p>
            <a:r>
              <a:rPr lang="es-419" sz="2400" dirty="0"/>
              <a:t>Gestionar persona jurídica</a:t>
            </a:r>
            <a:endParaRPr lang="es-419" dirty="0"/>
          </a:p>
        </p:txBody>
      </p:sp>
    </p:spTree>
    <p:extLst>
      <p:ext uri="{BB962C8B-B14F-4D97-AF65-F5344CB8AC3E}">
        <p14:creationId xmlns:p14="http://schemas.microsoft.com/office/powerpoint/2010/main" val="3191179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GTVCMSC</a:t>
            </a:r>
            <a:r>
              <a:rPr lang="es-419" sz="3000" b="1" dirty="0"/>
              <a:t> Validación </a:t>
            </a:r>
            <a:r>
              <a:rPr lang="es-419" sz="3000" dirty="0"/>
              <a:t>de código de origen de coincidencia común</a:t>
            </a:r>
            <a:endParaRPr lang="es-CL" dirty="0"/>
          </a:p>
        </p:txBody>
      </p:sp>
      <p:pic>
        <p:nvPicPr>
          <p:cNvPr id="19" name="Imagen 18">
            <a:extLst>
              <a:ext uri="{FF2B5EF4-FFF2-40B4-BE49-F238E27FC236}">
                <a16:creationId xmlns:a16="http://schemas.microsoft.com/office/drawing/2014/main" id="{17B2E886-55B6-1AF1-A807-B9616A2839B9}"/>
              </a:ext>
            </a:extLst>
          </p:cNvPr>
          <p:cNvPicPr>
            <a:picLocks noChangeAspect="1"/>
          </p:cNvPicPr>
          <p:nvPr/>
        </p:nvPicPr>
        <p:blipFill>
          <a:blip r:embed="rId2"/>
          <a:stretch>
            <a:fillRect/>
          </a:stretch>
        </p:blipFill>
        <p:spPr>
          <a:xfrm>
            <a:off x="1070042" y="1247853"/>
            <a:ext cx="10194587" cy="5038765"/>
          </a:xfrm>
          <a:prstGeom prst="rect">
            <a:avLst/>
          </a:prstGeom>
        </p:spPr>
      </p:pic>
      <p:sp>
        <p:nvSpPr>
          <p:cNvPr id="20" name="Rectángulo redondeado 5">
            <a:extLst>
              <a:ext uri="{FF2B5EF4-FFF2-40B4-BE49-F238E27FC236}">
                <a16:creationId xmlns:a16="http://schemas.microsoft.com/office/drawing/2014/main" id="{41C29B4F-314C-A661-3810-126C9A7742FE}"/>
              </a:ext>
            </a:extLst>
          </p:cNvPr>
          <p:cNvSpPr/>
          <p:nvPr/>
        </p:nvSpPr>
        <p:spPr>
          <a:xfrm>
            <a:off x="810247" y="4408955"/>
            <a:ext cx="10960413" cy="146292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Se debe definir un código y una descripción que identifique la coincidencia común para la creación de personas. </a:t>
            </a:r>
          </a:p>
          <a:p>
            <a:pPr marL="342900" indent="-342900">
              <a:buFont typeface="+mj-lt"/>
              <a:buAutoNum type="arabicPeriod"/>
            </a:pPr>
            <a:r>
              <a:rPr lang="es-419" sz="1400" dirty="0"/>
              <a:t>Presione la opción Insertar (+)</a:t>
            </a:r>
          </a:p>
          <a:p>
            <a:pPr marL="342900" indent="-342900">
              <a:buFont typeface="+mj-lt"/>
              <a:buAutoNum type="arabicPeriod"/>
            </a:pPr>
            <a:r>
              <a:rPr lang="es-419" sz="1400" dirty="0"/>
              <a:t>Incorpore en el campo Origen de Coincidencia el código correspondiente</a:t>
            </a:r>
          </a:p>
          <a:p>
            <a:pPr marL="342900" indent="-342900">
              <a:buFont typeface="+mj-lt"/>
              <a:buAutoNum type="arabicPeriod"/>
            </a:pPr>
            <a:r>
              <a:rPr lang="es-419" sz="1400" dirty="0"/>
              <a:t>Incorpore en el campo Descripción un nombre completo para el código.</a:t>
            </a:r>
          </a:p>
          <a:p>
            <a:pPr marL="342900" indent="-342900">
              <a:buFont typeface="+mj-lt"/>
              <a:buAutoNum type="arabicPeriod"/>
            </a:pPr>
            <a:r>
              <a:rPr lang="es-419" sz="1400" dirty="0"/>
              <a:t>Guarde los datos.</a:t>
            </a:r>
          </a:p>
          <a:p>
            <a:r>
              <a:rPr lang="es-419" sz="1100" dirty="0"/>
              <a:t>Nota: los códigos de coincidencia común estás ya creados desde migración, esta es una guía en caso de que se requiera un nuevo código/regla de coincidencia común.</a:t>
            </a:r>
          </a:p>
        </p:txBody>
      </p:sp>
      <p:sp>
        <p:nvSpPr>
          <p:cNvPr id="21" name="Rectángulo redondeado 15">
            <a:extLst>
              <a:ext uri="{FF2B5EF4-FFF2-40B4-BE49-F238E27FC236}">
                <a16:creationId xmlns:a16="http://schemas.microsoft.com/office/drawing/2014/main" id="{26EBFC1C-FD04-8476-90F2-9F72E062A79C}"/>
              </a:ext>
            </a:extLst>
          </p:cNvPr>
          <p:cNvSpPr/>
          <p:nvPr/>
        </p:nvSpPr>
        <p:spPr>
          <a:xfrm>
            <a:off x="10557710" y="1948020"/>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22" name="Rectángulo redondeado 15">
            <a:extLst>
              <a:ext uri="{FF2B5EF4-FFF2-40B4-BE49-F238E27FC236}">
                <a16:creationId xmlns:a16="http://schemas.microsoft.com/office/drawing/2014/main" id="{AE976662-CF65-50A8-2486-BE1DC6D29F64}"/>
              </a:ext>
            </a:extLst>
          </p:cNvPr>
          <p:cNvSpPr/>
          <p:nvPr/>
        </p:nvSpPr>
        <p:spPr>
          <a:xfrm>
            <a:off x="2128610" y="2442221"/>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23" name="Rectángulo redondeado 15">
            <a:extLst>
              <a:ext uri="{FF2B5EF4-FFF2-40B4-BE49-F238E27FC236}">
                <a16:creationId xmlns:a16="http://schemas.microsoft.com/office/drawing/2014/main" id="{E20730D2-673D-9CF3-B274-966C266ABA8A}"/>
              </a:ext>
            </a:extLst>
          </p:cNvPr>
          <p:cNvSpPr/>
          <p:nvPr/>
        </p:nvSpPr>
        <p:spPr>
          <a:xfrm>
            <a:off x="5226010" y="2344625"/>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24" name="Rectángulo 23">
            <a:extLst>
              <a:ext uri="{FF2B5EF4-FFF2-40B4-BE49-F238E27FC236}">
                <a16:creationId xmlns:a16="http://schemas.microsoft.com/office/drawing/2014/main" id="{488C4CC9-6575-4EF5-BE22-DBE0A61F2B92}"/>
              </a:ext>
            </a:extLst>
          </p:cNvPr>
          <p:cNvSpPr/>
          <p:nvPr/>
        </p:nvSpPr>
        <p:spPr>
          <a:xfrm>
            <a:off x="10509070" y="1763609"/>
            <a:ext cx="234824" cy="151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5" name="Rectángulo 24">
            <a:extLst>
              <a:ext uri="{FF2B5EF4-FFF2-40B4-BE49-F238E27FC236}">
                <a16:creationId xmlns:a16="http://schemas.microsoft.com/office/drawing/2014/main" id="{AF2A192B-A330-3ED7-B278-EBADBA93FD34}"/>
              </a:ext>
            </a:extLst>
          </p:cNvPr>
          <p:cNvSpPr/>
          <p:nvPr/>
        </p:nvSpPr>
        <p:spPr>
          <a:xfrm>
            <a:off x="3303467" y="2288801"/>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6" name="Rectángulo 25">
            <a:extLst>
              <a:ext uri="{FF2B5EF4-FFF2-40B4-BE49-F238E27FC236}">
                <a16:creationId xmlns:a16="http://schemas.microsoft.com/office/drawing/2014/main" id="{C5605A52-C1F4-6D1F-4409-3857F6ACD57D}"/>
              </a:ext>
            </a:extLst>
          </p:cNvPr>
          <p:cNvSpPr/>
          <p:nvPr/>
        </p:nvSpPr>
        <p:spPr>
          <a:xfrm>
            <a:off x="1070042" y="2291210"/>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7" name="Rectángulo redondeado 15">
            <a:extLst>
              <a:ext uri="{FF2B5EF4-FFF2-40B4-BE49-F238E27FC236}">
                <a16:creationId xmlns:a16="http://schemas.microsoft.com/office/drawing/2014/main" id="{3830DBCC-ACD4-3615-7D70-B3C20338709C}"/>
              </a:ext>
            </a:extLst>
          </p:cNvPr>
          <p:cNvSpPr/>
          <p:nvPr/>
        </p:nvSpPr>
        <p:spPr>
          <a:xfrm>
            <a:off x="10557708" y="5963146"/>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8" name="Rectángulo 27">
            <a:extLst>
              <a:ext uri="{FF2B5EF4-FFF2-40B4-BE49-F238E27FC236}">
                <a16:creationId xmlns:a16="http://schemas.microsoft.com/office/drawing/2014/main" id="{F82F958E-544E-40C4-97D1-6E0FF278B30C}"/>
              </a:ext>
            </a:extLst>
          </p:cNvPr>
          <p:cNvSpPr/>
          <p:nvPr/>
        </p:nvSpPr>
        <p:spPr>
          <a:xfrm>
            <a:off x="10824765" y="6056116"/>
            <a:ext cx="439863" cy="1160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822984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FF07BDA5-95BB-3879-BF2E-5B8BC26E98F7}"/>
              </a:ext>
            </a:extLst>
          </p:cNvPr>
          <p:cNvPicPr>
            <a:picLocks noChangeAspect="1"/>
          </p:cNvPicPr>
          <p:nvPr/>
        </p:nvPicPr>
        <p:blipFill>
          <a:blip r:embed="rId2"/>
          <a:stretch>
            <a:fillRect/>
          </a:stretch>
        </p:blipFill>
        <p:spPr>
          <a:xfrm>
            <a:off x="569480" y="2775159"/>
            <a:ext cx="11162307" cy="101899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GORCMSC</a:t>
            </a:r>
            <a:r>
              <a:rPr lang="es-419" sz="3000" b="1" dirty="0"/>
              <a:t> </a:t>
            </a:r>
            <a:r>
              <a:rPr lang="es-419" sz="3000" dirty="0"/>
              <a:t>Reglas de origen de coincidencia común</a:t>
            </a:r>
            <a:endParaRPr lang="es-CL" dirty="0"/>
          </a:p>
        </p:txBody>
      </p:sp>
      <p:sp>
        <p:nvSpPr>
          <p:cNvPr id="9" name="Rectángulo redondeado 5">
            <a:extLst>
              <a:ext uri="{FF2B5EF4-FFF2-40B4-BE49-F238E27FC236}">
                <a16:creationId xmlns:a16="http://schemas.microsoft.com/office/drawing/2014/main" id="{875FB84B-B67D-70A8-8EE8-5E53434709F9}"/>
              </a:ext>
            </a:extLst>
          </p:cNvPr>
          <p:cNvSpPr/>
          <p:nvPr/>
        </p:nvSpPr>
        <p:spPr>
          <a:xfrm>
            <a:off x="771374" y="4294148"/>
            <a:ext cx="10960413" cy="68902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Ingrese a la página GORCMSC:</a:t>
            </a:r>
          </a:p>
          <a:p>
            <a:pPr marL="342900" indent="-342900">
              <a:buFont typeface="+mj-lt"/>
              <a:buAutoNum type="arabicPeriod"/>
            </a:pPr>
            <a:r>
              <a:rPr lang="es-419" sz="1400" dirty="0"/>
              <a:t>En el campo Origen de coincidencia se debe ingresar o seleccionar el código creado para la regla. </a:t>
            </a:r>
          </a:p>
          <a:p>
            <a:pPr marL="342900" indent="-342900">
              <a:buFont typeface="+mj-lt"/>
              <a:buAutoNum type="arabicPeriod"/>
            </a:pPr>
            <a:r>
              <a:rPr lang="es-419" sz="1400" dirty="0"/>
              <a:t>Luego se presionar el botón Ir.</a:t>
            </a:r>
          </a:p>
        </p:txBody>
      </p:sp>
      <p:sp>
        <p:nvSpPr>
          <p:cNvPr id="11" name="Rectángulo redondeado 15">
            <a:extLst>
              <a:ext uri="{FF2B5EF4-FFF2-40B4-BE49-F238E27FC236}">
                <a16:creationId xmlns:a16="http://schemas.microsoft.com/office/drawing/2014/main" id="{26047DBD-779B-E1DD-9A98-55B1190B381F}"/>
              </a:ext>
            </a:extLst>
          </p:cNvPr>
          <p:cNvSpPr/>
          <p:nvPr/>
        </p:nvSpPr>
        <p:spPr>
          <a:xfrm>
            <a:off x="4383288" y="2994200"/>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2" name="Rectángulo redondeado 15">
            <a:extLst>
              <a:ext uri="{FF2B5EF4-FFF2-40B4-BE49-F238E27FC236}">
                <a16:creationId xmlns:a16="http://schemas.microsoft.com/office/drawing/2014/main" id="{1F96F207-9861-110F-BC01-87F007081F79}"/>
              </a:ext>
            </a:extLst>
          </p:cNvPr>
          <p:cNvSpPr/>
          <p:nvPr/>
        </p:nvSpPr>
        <p:spPr>
          <a:xfrm>
            <a:off x="10948602" y="3231731"/>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3" name="Rectángulo 12">
            <a:extLst>
              <a:ext uri="{FF2B5EF4-FFF2-40B4-BE49-F238E27FC236}">
                <a16:creationId xmlns:a16="http://schemas.microsoft.com/office/drawing/2014/main" id="{D0EB70BE-EAF3-C231-2D93-3AC03BFF9F95}"/>
              </a:ext>
            </a:extLst>
          </p:cNvPr>
          <p:cNvSpPr/>
          <p:nvPr/>
        </p:nvSpPr>
        <p:spPr>
          <a:xfrm>
            <a:off x="11323862" y="3048148"/>
            <a:ext cx="407925" cy="22749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5396D129-8E83-4B7A-3D48-68249E98B772}"/>
              </a:ext>
            </a:extLst>
          </p:cNvPr>
          <p:cNvSpPr/>
          <p:nvPr/>
        </p:nvSpPr>
        <p:spPr>
          <a:xfrm>
            <a:off x="859217" y="3069706"/>
            <a:ext cx="3407983" cy="3270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941965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B20051A0-6176-DFBF-44E7-64F023E650FB}"/>
              </a:ext>
            </a:extLst>
          </p:cNvPr>
          <p:cNvPicPr>
            <a:picLocks noChangeAspect="1"/>
          </p:cNvPicPr>
          <p:nvPr/>
        </p:nvPicPr>
        <p:blipFill>
          <a:blip r:embed="rId2"/>
          <a:stretch>
            <a:fillRect/>
          </a:stretch>
        </p:blipFill>
        <p:spPr>
          <a:xfrm>
            <a:off x="808039" y="1545194"/>
            <a:ext cx="10274091" cy="480778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GORCMSC</a:t>
            </a:r>
            <a:r>
              <a:rPr lang="es-419" sz="3000" b="1" dirty="0"/>
              <a:t> </a:t>
            </a:r>
            <a:r>
              <a:rPr lang="es-419" sz="3000" dirty="0"/>
              <a:t>Reglas de origen de coincidencia común</a:t>
            </a:r>
            <a:endParaRPr lang="es-CL" dirty="0"/>
          </a:p>
        </p:txBody>
      </p:sp>
      <p:sp>
        <p:nvSpPr>
          <p:cNvPr id="7" name="Rectángulo 6">
            <a:extLst>
              <a:ext uri="{FF2B5EF4-FFF2-40B4-BE49-F238E27FC236}">
                <a16:creationId xmlns:a16="http://schemas.microsoft.com/office/drawing/2014/main" id="{B37587D3-AB28-4D02-835D-E3ED60BA92C5}"/>
              </a:ext>
            </a:extLst>
          </p:cNvPr>
          <p:cNvSpPr/>
          <p:nvPr/>
        </p:nvSpPr>
        <p:spPr>
          <a:xfrm>
            <a:off x="808039" y="2006679"/>
            <a:ext cx="10274091" cy="88928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8" name="Rectángulo redondeado 5">
            <a:extLst>
              <a:ext uri="{FF2B5EF4-FFF2-40B4-BE49-F238E27FC236}">
                <a16:creationId xmlns:a16="http://schemas.microsoft.com/office/drawing/2014/main" id="{EC59CFC4-9115-EB02-1EA8-6762330C7A85}"/>
              </a:ext>
            </a:extLst>
          </p:cNvPr>
          <p:cNvSpPr/>
          <p:nvPr/>
        </p:nvSpPr>
        <p:spPr>
          <a:xfrm>
            <a:off x="726418" y="4320988"/>
            <a:ext cx="11148482" cy="185121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pPr marL="228600" indent="-228600">
              <a:buFont typeface="+mj-lt"/>
              <a:buAutoNum type="arabicPeriod" startAt="3"/>
            </a:pPr>
            <a:r>
              <a:rPr lang="es-419" sz="1200" dirty="0"/>
              <a:t>En el bloque  “OPCIONES Y CAPTURA DE DATOS/ACTUALIZAR – Opciones”</a:t>
            </a:r>
          </a:p>
          <a:p>
            <a:r>
              <a:rPr lang="es-419" sz="1200" dirty="0"/>
              <a:t>Se deben definir los datos de los siguientes campos para configurar la regla:</a:t>
            </a:r>
          </a:p>
          <a:p>
            <a:pPr marL="171450" indent="-171450">
              <a:buFont typeface="Arial" panose="020B0604020202020204" pitchFamily="34" charset="0"/>
              <a:buChar char="•"/>
            </a:pPr>
            <a:r>
              <a:rPr lang="es-419" sz="1200" dirty="0"/>
              <a:t>Tipo de coincidencia: Se selecciona para quien aplica la regla que se está creando, en ese caso: Empresa.</a:t>
            </a:r>
          </a:p>
          <a:p>
            <a:pPr marL="171450" indent="-171450">
              <a:buFont typeface="Arial" panose="020B0604020202020204" pitchFamily="34" charset="0"/>
              <a:buChar char="•"/>
            </a:pPr>
            <a:r>
              <a:rPr lang="es-419" sz="1200" dirty="0"/>
              <a:t>Usar para coincidencia común en-línea: Se marca utilizar la coincidencia cuando se crean las personas desde los formularios nativos de BANNER.</a:t>
            </a:r>
          </a:p>
          <a:p>
            <a:pPr marL="171450" indent="-171450">
              <a:buFont typeface="Arial" panose="020B0604020202020204" pitchFamily="34" charset="0"/>
              <a:buChar char="•"/>
            </a:pPr>
            <a:r>
              <a:rPr lang="es-419" sz="1200" dirty="0"/>
              <a:t>Transponer mes/día de la fecha:  Al estar marcado permite mostrar coincidencias, por ejemplo, solo el mes o solo el día de la fecha de nacimiento.</a:t>
            </a:r>
          </a:p>
          <a:p>
            <a:pPr marL="171450" indent="-171450">
              <a:buFont typeface="Arial" panose="020B0604020202020204" pitchFamily="34" charset="0"/>
              <a:buChar char="•"/>
            </a:pPr>
            <a:r>
              <a:rPr lang="es-419" sz="1200" dirty="0"/>
              <a:t>Transponer nombre/apellido: Al estar marcado permite buscar cuando los nombre y apellidos estén en ubicaciones diferentes.</a:t>
            </a:r>
          </a:p>
          <a:p>
            <a:pPr marL="171450" indent="-171450">
              <a:buFont typeface="Arial" panose="020B0604020202020204" pitchFamily="34" charset="0"/>
              <a:buChar char="•"/>
            </a:pPr>
            <a:r>
              <a:rPr lang="es-419" sz="1200" dirty="0"/>
              <a:t>Prevenir creación de ID en fallo de API:  Al estar marcado esta opción cuando se cree el Id siempre va a pedir la dirección, correo y teléfono para crear el id.</a:t>
            </a:r>
            <a:br>
              <a:rPr lang="es-ES_tradnl" sz="1400" dirty="0"/>
            </a:br>
            <a:endParaRPr lang="es-ES_tradnl" sz="1400" dirty="0"/>
          </a:p>
        </p:txBody>
      </p:sp>
      <p:sp>
        <p:nvSpPr>
          <p:cNvPr id="11" name="Rectángulo redondeado 15">
            <a:extLst>
              <a:ext uri="{FF2B5EF4-FFF2-40B4-BE49-F238E27FC236}">
                <a16:creationId xmlns:a16="http://schemas.microsoft.com/office/drawing/2014/main" id="{019E7F94-38ED-2195-C8BB-72C2EBFE36DA}"/>
              </a:ext>
            </a:extLst>
          </p:cNvPr>
          <p:cNvSpPr/>
          <p:nvPr/>
        </p:nvSpPr>
        <p:spPr>
          <a:xfrm>
            <a:off x="1381546" y="2023119"/>
            <a:ext cx="268541" cy="18435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Tree>
    <p:extLst>
      <p:ext uri="{BB962C8B-B14F-4D97-AF65-F5344CB8AC3E}">
        <p14:creationId xmlns:p14="http://schemas.microsoft.com/office/powerpoint/2010/main" val="929144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CEE71CB-FCA7-42AD-B152-47F60C817BBA}"/>
              </a:ext>
            </a:extLst>
          </p:cNvPr>
          <p:cNvPicPr>
            <a:picLocks noChangeAspect="1"/>
          </p:cNvPicPr>
          <p:nvPr/>
        </p:nvPicPr>
        <p:blipFill>
          <a:blip r:embed="rId2"/>
          <a:stretch>
            <a:fillRect/>
          </a:stretch>
        </p:blipFill>
        <p:spPr>
          <a:xfrm>
            <a:off x="808039" y="1545194"/>
            <a:ext cx="10274091" cy="480778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GORCMSC</a:t>
            </a:r>
            <a:r>
              <a:rPr lang="es-419" sz="3000" b="1" dirty="0"/>
              <a:t> </a:t>
            </a:r>
            <a:r>
              <a:rPr lang="es-419" sz="3000" dirty="0"/>
              <a:t>Reglas de origen de coincidencia común</a:t>
            </a:r>
            <a:endParaRPr lang="es-CL" dirty="0"/>
          </a:p>
        </p:txBody>
      </p:sp>
      <p:sp>
        <p:nvSpPr>
          <p:cNvPr id="9" name="Rectángulo 8">
            <a:extLst>
              <a:ext uri="{FF2B5EF4-FFF2-40B4-BE49-F238E27FC236}">
                <a16:creationId xmlns:a16="http://schemas.microsoft.com/office/drawing/2014/main" id="{49D2A03E-6616-3962-30B4-5EC2EEE59362}"/>
              </a:ext>
            </a:extLst>
          </p:cNvPr>
          <p:cNvSpPr/>
          <p:nvPr/>
        </p:nvSpPr>
        <p:spPr>
          <a:xfrm>
            <a:off x="808039" y="2805476"/>
            <a:ext cx="10274091" cy="48592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redondeado 5">
            <a:extLst>
              <a:ext uri="{FF2B5EF4-FFF2-40B4-BE49-F238E27FC236}">
                <a16:creationId xmlns:a16="http://schemas.microsoft.com/office/drawing/2014/main" id="{5CDF1B29-9FFE-162D-A7F9-85729C5CC99A}"/>
              </a:ext>
            </a:extLst>
          </p:cNvPr>
          <p:cNvSpPr/>
          <p:nvPr/>
        </p:nvSpPr>
        <p:spPr>
          <a:xfrm>
            <a:off x="810247" y="4875865"/>
            <a:ext cx="10748406" cy="8911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endParaRPr lang="es-ES_tradnl" sz="1200" dirty="0"/>
          </a:p>
          <a:p>
            <a:pPr marL="228600" indent="-228600">
              <a:buFont typeface="+mj-lt"/>
              <a:buAutoNum type="arabicPeriod" startAt="4"/>
            </a:pPr>
            <a:r>
              <a:rPr lang="es-419" sz="1200" dirty="0"/>
              <a:t>En el bloque  “OPCIONES Y CAPTURA DE DATOS/ACTUALIZAR – Captura de datos actualizar predefinido”, opcionalmente se pueden definir los valores predefinidos de códigos de dirección, teléfono y correo electrónico que van a estar predeterminados al momento de creación de los datos. </a:t>
            </a:r>
          </a:p>
          <a:p>
            <a:pPr marL="228600" indent="-228600">
              <a:buFont typeface="+mj-lt"/>
              <a:buAutoNum type="arabicPeriod" startAt="4"/>
            </a:pPr>
            <a:r>
              <a:rPr lang="es-419" sz="1200" dirty="0"/>
              <a:t>Guarde la información.</a:t>
            </a:r>
            <a:br>
              <a:rPr lang="es-ES_tradnl" sz="1400" dirty="0"/>
            </a:br>
            <a:br>
              <a:rPr lang="es-ES_tradnl" sz="1400" dirty="0"/>
            </a:br>
            <a:endParaRPr lang="es-ES_tradnl" sz="1400" dirty="0"/>
          </a:p>
        </p:txBody>
      </p:sp>
      <p:sp>
        <p:nvSpPr>
          <p:cNvPr id="11" name="Rectángulo redondeado 15">
            <a:extLst>
              <a:ext uri="{FF2B5EF4-FFF2-40B4-BE49-F238E27FC236}">
                <a16:creationId xmlns:a16="http://schemas.microsoft.com/office/drawing/2014/main" id="{92283B19-22D2-2855-FBBB-EBE570049108}"/>
              </a:ext>
            </a:extLst>
          </p:cNvPr>
          <p:cNvSpPr/>
          <p:nvPr/>
        </p:nvSpPr>
        <p:spPr>
          <a:xfrm>
            <a:off x="958954" y="2656054"/>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2" name="Rectángulo 11">
            <a:extLst>
              <a:ext uri="{FF2B5EF4-FFF2-40B4-BE49-F238E27FC236}">
                <a16:creationId xmlns:a16="http://schemas.microsoft.com/office/drawing/2014/main" id="{9B761A46-55A7-B287-3351-CD9ECFF903FE}"/>
              </a:ext>
            </a:extLst>
          </p:cNvPr>
          <p:cNvSpPr/>
          <p:nvPr/>
        </p:nvSpPr>
        <p:spPr>
          <a:xfrm>
            <a:off x="10655733" y="6064412"/>
            <a:ext cx="407925" cy="22749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15">
            <a:extLst>
              <a:ext uri="{FF2B5EF4-FFF2-40B4-BE49-F238E27FC236}">
                <a16:creationId xmlns:a16="http://schemas.microsoft.com/office/drawing/2014/main" id="{02986A07-15F9-0F4C-6D0A-D279D342176B}"/>
              </a:ext>
            </a:extLst>
          </p:cNvPr>
          <p:cNvSpPr/>
          <p:nvPr/>
        </p:nvSpPr>
        <p:spPr>
          <a:xfrm>
            <a:off x="10285700" y="5956554"/>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1595382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3EF8DF39-CB70-740F-FF30-BE7C689D6589}"/>
              </a:ext>
            </a:extLst>
          </p:cNvPr>
          <p:cNvPicPr>
            <a:picLocks noChangeAspect="1"/>
          </p:cNvPicPr>
          <p:nvPr/>
        </p:nvPicPr>
        <p:blipFill>
          <a:blip r:embed="rId2"/>
          <a:stretch>
            <a:fillRect/>
          </a:stretch>
        </p:blipFill>
        <p:spPr>
          <a:xfrm>
            <a:off x="837603" y="1548567"/>
            <a:ext cx="10274091" cy="480778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GORCMSC</a:t>
            </a:r>
            <a:r>
              <a:rPr lang="es-419" sz="3000" b="1" dirty="0"/>
              <a:t> </a:t>
            </a:r>
            <a:r>
              <a:rPr lang="es-419" sz="3000" dirty="0"/>
              <a:t>Reglas de origen de coincidencia común</a:t>
            </a:r>
            <a:endParaRPr lang="es-CL" dirty="0"/>
          </a:p>
        </p:txBody>
      </p:sp>
      <p:sp>
        <p:nvSpPr>
          <p:cNvPr id="7" name="Rectángulo 6">
            <a:extLst>
              <a:ext uri="{FF2B5EF4-FFF2-40B4-BE49-F238E27FC236}">
                <a16:creationId xmlns:a16="http://schemas.microsoft.com/office/drawing/2014/main" id="{2D6739AE-BC19-F5DF-386F-418D19E101B7}"/>
              </a:ext>
            </a:extLst>
          </p:cNvPr>
          <p:cNvSpPr/>
          <p:nvPr/>
        </p:nvSpPr>
        <p:spPr>
          <a:xfrm>
            <a:off x="810247" y="3291705"/>
            <a:ext cx="10274091" cy="265784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redondeado 5">
            <a:extLst>
              <a:ext uri="{FF2B5EF4-FFF2-40B4-BE49-F238E27FC236}">
                <a16:creationId xmlns:a16="http://schemas.microsoft.com/office/drawing/2014/main" id="{1FE0AC97-6F64-D2A9-1883-A49958D9086F}"/>
              </a:ext>
            </a:extLst>
          </p:cNvPr>
          <p:cNvSpPr/>
          <p:nvPr/>
        </p:nvSpPr>
        <p:spPr>
          <a:xfrm>
            <a:off x="3831353" y="2493925"/>
            <a:ext cx="7049083" cy="6261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pPr marL="342900" indent="-342900">
              <a:buFont typeface="+mj-lt"/>
              <a:buAutoNum type="arabicPeriod" startAt="6"/>
            </a:pPr>
            <a:r>
              <a:rPr lang="es-ES_tradnl" sz="1200" dirty="0">
                <a:solidFill>
                  <a:schemeClr val="bg1"/>
                </a:solidFill>
              </a:rPr>
              <a:t>Opcionalmente, </a:t>
            </a:r>
            <a:r>
              <a:rPr lang="es-419" sz="1200" dirty="0">
                <a:solidFill>
                  <a:schemeClr val="bg1"/>
                </a:solidFill>
              </a:rPr>
              <a:t>se pueden definir los códigos de dirección, teléfono, y correo electrónico que coincidan en la búsqueda. Si introduce datos en este apartado guarde la información.</a:t>
            </a:r>
            <a:br>
              <a:rPr lang="es-ES_tradnl" sz="1400" dirty="0"/>
            </a:br>
            <a:endParaRPr lang="es-ES_tradnl" sz="1400" dirty="0"/>
          </a:p>
        </p:txBody>
      </p:sp>
      <p:sp>
        <p:nvSpPr>
          <p:cNvPr id="13" name="Rectángulo redondeado 15">
            <a:extLst>
              <a:ext uri="{FF2B5EF4-FFF2-40B4-BE49-F238E27FC236}">
                <a16:creationId xmlns:a16="http://schemas.microsoft.com/office/drawing/2014/main" id="{89B55BD0-1814-1DF5-256E-86AB9D8C76A6}"/>
              </a:ext>
            </a:extLst>
          </p:cNvPr>
          <p:cNvSpPr/>
          <p:nvPr/>
        </p:nvSpPr>
        <p:spPr>
          <a:xfrm>
            <a:off x="584461" y="3279576"/>
            <a:ext cx="225786" cy="149423"/>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Tree>
    <p:extLst>
      <p:ext uri="{BB962C8B-B14F-4D97-AF65-F5344CB8AC3E}">
        <p14:creationId xmlns:p14="http://schemas.microsoft.com/office/powerpoint/2010/main" val="1615604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6794645C-EB5E-A6A4-0470-2F7F8A6EAEB4}"/>
              </a:ext>
            </a:extLst>
          </p:cNvPr>
          <p:cNvPicPr>
            <a:picLocks noChangeAspect="1"/>
          </p:cNvPicPr>
          <p:nvPr/>
        </p:nvPicPr>
        <p:blipFill>
          <a:blip r:embed="rId2"/>
          <a:stretch>
            <a:fillRect/>
          </a:stretch>
        </p:blipFill>
        <p:spPr>
          <a:xfrm>
            <a:off x="705309" y="2110586"/>
            <a:ext cx="10807193" cy="122898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GORCMRL</a:t>
            </a:r>
            <a:r>
              <a:rPr lang="es-419" sz="3000" b="1" dirty="0"/>
              <a:t> </a:t>
            </a:r>
            <a:r>
              <a:rPr lang="es-419" sz="3000" dirty="0"/>
              <a:t>Reglas de coincidencia común</a:t>
            </a:r>
            <a:endParaRPr lang="es-CL" dirty="0"/>
          </a:p>
        </p:txBody>
      </p:sp>
      <p:sp>
        <p:nvSpPr>
          <p:cNvPr id="9" name="Rectángulo 8">
            <a:extLst>
              <a:ext uri="{FF2B5EF4-FFF2-40B4-BE49-F238E27FC236}">
                <a16:creationId xmlns:a16="http://schemas.microsoft.com/office/drawing/2014/main" id="{A0429CE6-6B59-325D-51BC-2AD1BC4ED511}"/>
              </a:ext>
            </a:extLst>
          </p:cNvPr>
          <p:cNvSpPr/>
          <p:nvPr/>
        </p:nvSpPr>
        <p:spPr>
          <a:xfrm>
            <a:off x="11095341" y="2405501"/>
            <a:ext cx="407925" cy="22749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BB0B2390-7BDB-2337-7059-981D60702FAD}"/>
              </a:ext>
            </a:extLst>
          </p:cNvPr>
          <p:cNvSpPr/>
          <p:nvPr/>
        </p:nvSpPr>
        <p:spPr>
          <a:xfrm>
            <a:off x="897752" y="2396957"/>
            <a:ext cx="2851451" cy="3270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redondeado 5">
            <a:extLst>
              <a:ext uri="{FF2B5EF4-FFF2-40B4-BE49-F238E27FC236}">
                <a16:creationId xmlns:a16="http://schemas.microsoft.com/office/drawing/2014/main" id="{5D782F44-2274-E35B-F0B7-A3259DCB541D}"/>
              </a:ext>
            </a:extLst>
          </p:cNvPr>
          <p:cNvSpPr/>
          <p:nvPr/>
        </p:nvSpPr>
        <p:spPr>
          <a:xfrm>
            <a:off x="885250" y="4538077"/>
            <a:ext cx="10623177" cy="77283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Ingrese a la página GORCMRL:</a:t>
            </a:r>
          </a:p>
          <a:p>
            <a:pPr marL="342900" indent="-342900">
              <a:buFont typeface="+mj-lt"/>
              <a:buAutoNum type="arabicPeriod"/>
            </a:pPr>
            <a:r>
              <a:rPr lang="es-419" sz="1400" dirty="0"/>
              <a:t>En el campo Origen de coincidencia se debe ingresar o seleccionar el código creado para la regla. </a:t>
            </a:r>
          </a:p>
          <a:p>
            <a:pPr marL="342900" indent="-342900">
              <a:buFont typeface="+mj-lt"/>
              <a:buAutoNum type="arabicPeriod"/>
            </a:pPr>
            <a:r>
              <a:rPr lang="es-419" sz="1400" dirty="0"/>
              <a:t>Luego se presionar el botón Ir.</a:t>
            </a:r>
          </a:p>
        </p:txBody>
      </p:sp>
      <p:sp>
        <p:nvSpPr>
          <p:cNvPr id="13" name="Rectángulo redondeado 15">
            <a:extLst>
              <a:ext uri="{FF2B5EF4-FFF2-40B4-BE49-F238E27FC236}">
                <a16:creationId xmlns:a16="http://schemas.microsoft.com/office/drawing/2014/main" id="{F2B7E29E-EC21-A75E-3E91-6DBFD879F064}"/>
              </a:ext>
            </a:extLst>
          </p:cNvPr>
          <p:cNvSpPr/>
          <p:nvPr/>
        </p:nvSpPr>
        <p:spPr>
          <a:xfrm>
            <a:off x="3787766" y="2647446"/>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4" name="Rectángulo redondeado 15">
            <a:extLst>
              <a:ext uri="{FF2B5EF4-FFF2-40B4-BE49-F238E27FC236}">
                <a16:creationId xmlns:a16="http://schemas.microsoft.com/office/drawing/2014/main" id="{F5B6379D-CD2E-5D59-699B-19C0516FEC2D}"/>
              </a:ext>
            </a:extLst>
          </p:cNvPr>
          <p:cNvSpPr/>
          <p:nvPr/>
        </p:nvSpPr>
        <p:spPr>
          <a:xfrm>
            <a:off x="10686595" y="2614527"/>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2269527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8AE0E4BE-433F-12C4-0388-B0C3667E0956}"/>
              </a:ext>
            </a:extLst>
          </p:cNvPr>
          <p:cNvPicPr>
            <a:picLocks noChangeAspect="1"/>
          </p:cNvPicPr>
          <p:nvPr/>
        </p:nvPicPr>
        <p:blipFill>
          <a:blip r:embed="rId2"/>
          <a:stretch>
            <a:fillRect/>
          </a:stretch>
        </p:blipFill>
        <p:spPr>
          <a:xfrm>
            <a:off x="717453" y="1216790"/>
            <a:ext cx="10739335" cy="504491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GORCMRL</a:t>
            </a:r>
            <a:r>
              <a:rPr lang="es-419" sz="3000" b="1" dirty="0"/>
              <a:t> </a:t>
            </a:r>
            <a:r>
              <a:rPr lang="es-419" sz="3000" dirty="0"/>
              <a:t>Reglas de coincidencia común</a:t>
            </a:r>
            <a:endParaRPr lang="es-CL" dirty="0"/>
          </a:p>
        </p:txBody>
      </p:sp>
      <p:sp>
        <p:nvSpPr>
          <p:cNvPr id="10" name="Rectángulo redondeado 5">
            <a:extLst>
              <a:ext uri="{FF2B5EF4-FFF2-40B4-BE49-F238E27FC236}">
                <a16:creationId xmlns:a16="http://schemas.microsoft.com/office/drawing/2014/main" id="{EE191CD6-7275-A6A5-9A50-83D2137501F5}"/>
              </a:ext>
            </a:extLst>
          </p:cNvPr>
          <p:cNvSpPr/>
          <p:nvPr/>
        </p:nvSpPr>
        <p:spPr>
          <a:xfrm>
            <a:off x="735212" y="4272038"/>
            <a:ext cx="10757093" cy="118371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AutoNum type="arabicPeriod"/>
            </a:pPr>
            <a:r>
              <a:rPr lang="es-419" sz="1200" dirty="0"/>
              <a:t>En el bloque</a:t>
            </a:r>
            <a:r>
              <a:rPr lang="es-ES_tradnl" sz="1200" dirty="0"/>
              <a:t> “CONJUNTO DE REGLA”, se debe ingresar: </a:t>
            </a:r>
          </a:p>
          <a:p>
            <a:pPr marL="171450" indent="-171450">
              <a:buFont typeface="Arial" panose="020B0604020202020204" pitchFamily="34" charset="0"/>
              <a:buChar char="•"/>
            </a:pPr>
            <a:r>
              <a:rPr lang="es-ES_tradnl" sz="1200" b="1" i="1" u="sng" dirty="0"/>
              <a:t>Prioridad</a:t>
            </a:r>
            <a:r>
              <a:rPr lang="es-ES_tradnl" sz="1200" dirty="0"/>
              <a:t>: Se ingresa la prioridad con la cual debe ser aplicada la regla.  Se puede registrar más de una prioridad</a:t>
            </a:r>
          </a:p>
          <a:p>
            <a:pPr marL="171450" indent="-171450">
              <a:buFont typeface="Arial" panose="020B0604020202020204" pitchFamily="34" charset="0"/>
              <a:buChar char="•"/>
            </a:pPr>
            <a:r>
              <a:rPr lang="es-ES_tradnl" sz="1200" b="1" i="1" u="sng" dirty="0"/>
              <a:t>Descripción:</a:t>
            </a:r>
            <a:r>
              <a:rPr lang="es-ES_tradnl" sz="1200" dirty="0"/>
              <a:t> Se ingresa la descripción que idéntica la regla</a:t>
            </a:r>
          </a:p>
          <a:p>
            <a:pPr marL="171450" indent="-171450">
              <a:buFont typeface="Arial" panose="020B0604020202020204" pitchFamily="34" charset="0"/>
              <a:buChar char="•"/>
            </a:pPr>
            <a:r>
              <a:rPr lang="es-ES_tradnl" sz="1200" b="1" i="1" u="sng" dirty="0"/>
              <a:t>Comentario de conjunto de regla: </a:t>
            </a:r>
            <a:r>
              <a:rPr lang="es-ES_tradnl" sz="1200" dirty="0"/>
              <a:t>Se puede ingresar adicional un comentario en caso de requerir para identificar o tener presente alguna condición.</a:t>
            </a:r>
          </a:p>
          <a:p>
            <a:pPr marL="228600" indent="-228600">
              <a:buFont typeface="+mj-lt"/>
              <a:buAutoNum type="arabicPeriod" startAt="2"/>
            </a:pPr>
            <a:r>
              <a:rPr lang="es-ES_tradnl" sz="1200" dirty="0"/>
              <a:t>Guarde la información</a:t>
            </a:r>
            <a:endParaRPr lang="es-ES_tradnl" sz="1400" dirty="0"/>
          </a:p>
        </p:txBody>
      </p:sp>
      <p:sp>
        <p:nvSpPr>
          <p:cNvPr id="12" name="Rectángulo redondeado 15">
            <a:extLst>
              <a:ext uri="{FF2B5EF4-FFF2-40B4-BE49-F238E27FC236}">
                <a16:creationId xmlns:a16="http://schemas.microsoft.com/office/drawing/2014/main" id="{03050941-D8FD-DEAA-5165-42E88FCE0A7A}"/>
              </a:ext>
            </a:extLst>
          </p:cNvPr>
          <p:cNvSpPr/>
          <p:nvPr/>
        </p:nvSpPr>
        <p:spPr>
          <a:xfrm>
            <a:off x="368314" y="1554176"/>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3" name="Rectángulo 12">
            <a:extLst>
              <a:ext uri="{FF2B5EF4-FFF2-40B4-BE49-F238E27FC236}">
                <a16:creationId xmlns:a16="http://schemas.microsoft.com/office/drawing/2014/main" id="{7AEC3681-FFA8-55AC-014F-96D914751272}"/>
              </a:ext>
            </a:extLst>
          </p:cNvPr>
          <p:cNvSpPr/>
          <p:nvPr/>
        </p:nvSpPr>
        <p:spPr>
          <a:xfrm>
            <a:off x="706301" y="1703598"/>
            <a:ext cx="10768245" cy="130745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4976ED51-999B-B2AA-D5A1-CC9E7442964A}"/>
              </a:ext>
            </a:extLst>
          </p:cNvPr>
          <p:cNvSpPr/>
          <p:nvPr/>
        </p:nvSpPr>
        <p:spPr>
          <a:xfrm>
            <a:off x="11055470" y="5978788"/>
            <a:ext cx="407925" cy="22749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15">
            <a:extLst>
              <a:ext uri="{FF2B5EF4-FFF2-40B4-BE49-F238E27FC236}">
                <a16:creationId xmlns:a16="http://schemas.microsoft.com/office/drawing/2014/main" id="{9AEC7D65-A62C-1A45-E123-932025257764}"/>
              </a:ext>
            </a:extLst>
          </p:cNvPr>
          <p:cNvSpPr/>
          <p:nvPr/>
        </p:nvSpPr>
        <p:spPr>
          <a:xfrm>
            <a:off x="10646724" y="6187814"/>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2900838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06EC0A7E-1525-C6EF-9F41-B0F5966A8AE5}"/>
              </a:ext>
            </a:extLst>
          </p:cNvPr>
          <p:cNvPicPr>
            <a:picLocks noChangeAspect="1"/>
          </p:cNvPicPr>
          <p:nvPr/>
        </p:nvPicPr>
        <p:blipFill>
          <a:blip r:embed="rId2"/>
          <a:stretch>
            <a:fillRect/>
          </a:stretch>
        </p:blipFill>
        <p:spPr>
          <a:xfrm>
            <a:off x="717453" y="1216790"/>
            <a:ext cx="10739335" cy="504491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a:t>
            </a:r>
            <a:r>
              <a:rPr lang="es-419" dirty="0"/>
              <a:t>jurídica</a:t>
            </a:r>
            <a:endParaRPr lang="es-419" sz="1200"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GORCMRL</a:t>
            </a:r>
            <a:r>
              <a:rPr lang="es-419" sz="3000" b="1" dirty="0"/>
              <a:t> </a:t>
            </a:r>
            <a:r>
              <a:rPr lang="es-419" sz="3000" dirty="0"/>
              <a:t>Reglas de coincidencia común</a:t>
            </a:r>
            <a:endParaRPr lang="es-CL" dirty="0"/>
          </a:p>
        </p:txBody>
      </p:sp>
      <p:sp>
        <p:nvSpPr>
          <p:cNvPr id="10" name="Rectángulo redondeado 5">
            <a:extLst>
              <a:ext uri="{FF2B5EF4-FFF2-40B4-BE49-F238E27FC236}">
                <a16:creationId xmlns:a16="http://schemas.microsoft.com/office/drawing/2014/main" id="{D43BDD7B-ACE9-56D0-8182-A89AE2E143E4}"/>
              </a:ext>
            </a:extLst>
          </p:cNvPr>
          <p:cNvSpPr/>
          <p:nvPr/>
        </p:nvSpPr>
        <p:spPr>
          <a:xfrm>
            <a:off x="729876" y="4537557"/>
            <a:ext cx="10829088" cy="138499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3"/>
            </a:pPr>
            <a:r>
              <a:rPr lang="es-419" sz="1200" dirty="0"/>
              <a:t>En el bloque</a:t>
            </a:r>
            <a:r>
              <a:rPr lang="es-ES_tradnl" sz="1200" dirty="0"/>
              <a:t> “REGLAS” se ingresan los elementos que forman la regla:</a:t>
            </a:r>
          </a:p>
          <a:p>
            <a:pPr marL="171450" indent="-171450">
              <a:buFont typeface="Arial" panose="020B0604020202020204" pitchFamily="34" charset="0"/>
              <a:buChar char="•"/>
            </a:pPr>
            <a:r>
              <a:rPr lang="es-ES_tradnl" sz="1200" b="1" i="1" u="sng" dirty="0"/>
              <a:t>Columna</a:t>
            </a:r>
            <a:r>
              <a:rPr lang="es-ES_tradnl" sz="1200" dirty="0"/>
              <a:t>:  Se ingresan los datos que se van a usar en la comparación. Viene de tabla GORCMDD, se despliegan los datos. </a:t>
            </a:r>
          </a:p>
          <a:p>
            <a:pPr marL="171450" indent="-171450">
              <a:buFont typeface="Arial" panose="020B0604020202020204" pitchFamily="34" charset="0"/>
              <a:buChar char="•"/>
            </a:pPr>
            <a:r>
              <a:rPr lang="es-ES_tradnl" sz="1200" b="1" i="1" u="sng" dirty="0"/>
              <a:t>Elemento</a:t>
            </a:r>
            <a:r>
              <a:rPr lang="es-ES_tradnl" sz="1200" dirty="0"/>
              <a:t>. Trae por defecto la descripción del campo columna</a:t>
            </a:r>
          </a:p>
          <a:p>
            <a:pPr marL="171450" indent="-171450">
              <a:buFont typeface="Arial" panose="020B0604020202020204" pitchFamily="34" charset="0"/>
              <a:buChar char="•"/>
            </a:pPr>
            <a:r>
              <a:rPr lang="es-ES_tradnl" sz="1200" b="1" i="1" u="sng" dirty="0"/>
              <a:t>Longitud:  </a:t>
            </a:r>
            <a:r>
              <a:rPr lang="es-ES_tradnl" sz="1200" dirty="0"/>
              <a:t>Número de caracteres q usar en la comparación, se ingresa el número de acuerdo con la longitud.</a:t>
            </a:r>
          </a:p>
          <a:p>
            <a:pPr marL="171450" indent="-171450">
              <a:buFont typeface="Arial" panose="020B0604020202020204" pitchFamily="34" charset="0"/>
              <a:buChar char="•"/>
            </a:pPr>
            <a:r>
              <a:rPr lang="es-ES_tradnl" sz="1200" b="1" i="1" u="sng" dirty="0"/>
              <a:t>Coincidencia en datos nulos:</a:t>
            </a:r>
            <a:r>
              <a:rPr lang="es-ES_tradnl" sz="1200" b="1" dirty="0"/>
              <a:t> </a:t>
            </a:r>
            <a:r>
              <a:rPr lang="es-ES_tradnl" sz="1200" dirty="0"/>
              <a:t>Indica si este dato es requerido para la coincidencia común. Se debe ingresar si o no</a:t>
            </a:r>
          </a:p>
          <a:p>
            <a:pPr marL="228600" indent="-228600">
              <a:buFont typeface="+mj-lt"/>
              <a:buAutoNum type="arabicPeriod" startAt="4"/>
            </a:pPr>
            <a:r>
              <a:rPr lang="es-ES_tradnl" sz="1200" dirty="0"/>
              <a:t>Guarde la información</a:t>
            </a:r>
          </a:p>
        </p:txBody>
      </p:sp>
      <p:sp>
        <p:nvSpPr>
          <p:cNvPr id="11" name="Rectángulo redondeado 15">
            <a:extLst>
              <a:ext uri="{FF2B5EF4-FFF2-40B4-BE49-F238E27FC236}">
                <a16:creationId xmlns:a16="http://schemas.microsoft.com/office/drawing/2014/main" id="{00A95586-9D6C-2F3B-AC01-6302B66345A3}"/>
              </a:ext>
            </a:extLst>
          </p:cNvPr>
          <p:cNvSpPr/>
          <p:nvPr/>
        </p:nvSpPr>
        <p:spPr>
          <a:xfrm>
            <a:off x="681456" y="2865352"/>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3" name="Rectángulo 12">
            <a:extLst>
              <a:ext uri="{FF2B5EF4-FFF2-40B4-BE49-F238E27FC236}">
                <a16:creationId xmlns:a16="http://schemas.microsoft.com/office/drawing/2014/main" id="{9989793E-4D6D-30BC-6D6B-EFD7AC2F95B5}"/>
              </a:ext>
            </a:extLst>
          </p:cNvPr>
          <p:cNvSpPr/>
          <p:nvPr/>
        </p:nvSpPr>
        <p:spPr>
          <a:xfrm>
            <a:off x="729876" y="3014774"/>
            <a:ext cx="10768245" cy="147881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94C76D1D-F1DF-2E6A-50E8-985C7E29D24B}"/>
              </a:ext>
            </a:extLst>
          </p:cNvPr>
          <p:cNvSpPr/>
          <p:nvPr/>
        </p:nvSpPr>
        <p:spPr>
          <a:xfrm>
            <a:off x="10987224" y="5960316"/>
            <a:ext cx="448463" cy="21948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15">
            <a:extLst>
              <a:ext uri="{FF2B5EF4-FFF2-40B4-BE49-F238E27FC236}">
                <a16:creationId xmlns:a16="http://schemas.microsoft.com/office/drawing/2014/main" id="{11387B84-6077-4055-8CBD-EF296A313D3A}"/>
              </a:ext>
            </a:extLst>
          </p:cNvPr>
          <p:cNvSpPr/>
          <p:nvPr/>
        </p:nvSpPr>
        <p:spPr>
          <a:xfrm>
            <a:off x="10574025" y="6175979"/>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1583737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GUAINST</a:t>
            </a:r>
            <a:r>
              <a:rPr lang="es-419" sz="3000" b="1" dirty="0"/>
              <a:t> </a:t>
            </a:r>
            <a:r>
              <a:rPr lang="es-419" sz="3000" dirty="0"/>
              <a:t>Controles de instalación</a:t>
            </a:r>
            <a:endParaRPr lang="es-CL" dirty="0"/>
          </a:p>
        </p:txBody>
      </p:sp>
      <p:pic>
        <p:nvPicPr>
          <p:cNvPr id="7" name="Imagen 6">
            <a:extLst>
              <a:ext uri="{FF2B5EF4-FFF2-40B4-BE49-F238E27FC236}">
                <a16:creationId xmlns:a16="http://schemas.microsoft.com/office/drawing/2014/main" id="{D9143469-5D3A-5278-D2C3-EC1E69DEF3F9}"/>
              </a:ext>
            </a:extLst>
          </p:cNvPr>
          <p:cNvPicPr>
            <a:picLocks noChangeAspect="1"/>
          </p:cNvPicPr>
          <p:nvPr/>
        </p:nvPicPr>
        <p:blipFill>
          <a:blip r:embed="rId2"/>
          <a:stretch>
            <a:fillRect/>
          </a:stretch>
        </p:blipFill>
        <p:spPr>
          <a:xfrm>
            <a:off x="784411" y="954157"/>
            <a:ext cx="10411936" cy="4879916"/>
          </a:xfrm>
          <a:prstGeom prst="rect">
            <a:avLst/>
          </a:prstGeom>
        </p:spPr>
      </p:pic>
      <p:sp>
        <p:nvSpPr>
          <p:cNvPr id="9" name="Rectángulo redondeado 5">
            <a:extLst>
              <a:ext uri="{FF2B5EF4-FFF2-40B4-BE49-F238E27FC236}">
                <a16:creationId xmlns:a16="http://schemas.microsoft.com/office/drawing/2014/main" id="{84BC0292-2C72-D264-0A0F-D575701FC247}"/>
              </a:ext>
            </a:extLst>
          </p:cNvPr>
          <p:cNvSpPr/>
          <p:nvPr/>
        </p:nvSpPr>
        <p:spPr>
          <a:xfrm>
            <a:off x="1495834" y="4940683"/>
            <a:ext cx="7623820" cy="44860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Para que la coincidencia común está habilitada se debe marchar el check que se indica en la imagen. </a:t>
            </a:r>
          </a:p>
        </p:txBody>
      </p:sp>
      <p:sp>
        <p:nvSpPr>
          <p:cNvPr id="10" name="Rectángulo 9">
            <a:extLst>
              <a:ext uri="{FF2B5EF4-FFF2-40B4-BE49-F238E27FC236}">
                <a16:creationId xmlns:a16="http://schemas.microsoft.com/office/drawing/2014/main" id="{C06F8ADD-D0D0-8979-4FE0-7271C086E104}"/>
              </a:ext>
            </a:extLst>
          </p:cNvPr>
          <p:cNvSpPr/>
          <p:nvPr/>
        </p:nvSpPr>
        <p:spPr>
          <a:xfrm>
            <a:off x="1495834" y="4473260"/>
            <a:ext cx="1524457" cy="1818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605860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persona jurídica</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dirty="0"/>
              <a:t>C</a:t>
            </a:r>
            <a:r>
              <a:rPr lang="en-US" dirty="0"/>
              <a:t>REAR EMPRESA</a:t>
            </a:r>
            <a:endParaRPr lang="en-US" sz="3200" b="1" dirty="0">
              <a:solidFill>
                <a:schemeClr val="bg1"/>
              </a:solidFill>
            </a:endParaRPr>
          </a:p>
        </p:txBody>
      </p:sp>
    </p:spTree>
    <p:extLst>
      <p:ext uri="{BB962C8B-B14F-4D97-AF65-F5344CB8AC3E}">
        <p14:creationId xmlns:p14="http://schemas.microsoft.com/office/powerpoint/2010/main" val="1852400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669094"/>
          </a:xfrm>
        </p:spPr>
        <p:txBody>
          <a:bodyPr/>
          <a:lstStyle/>
          <a:p>
            <a:r>
              <a:rPr lang="es-CL" dirty="0"/>
              <a:t>Crear empresa</a:t>
            </a:r>
            <a:endParaRPr lang="en-US" dirty="0"/>
          </a:p>
        </p:txBody>
      </p:sp>
      <p:sp>
        <p:nvSpPr>
          <p:cNvPr id="4" name="Marcador de texto 3">
            <a:extLst>
              <a:ext uri="{FF2B5EF4-FFF2-40B4-BE49-F238E27FC236}">
                <a16:creationId xmlns:a16="http://schemas.microsoft.com/office/drawing/2014/main" id="{4639A553-79B2-ED6D-1A02-DC7DE4A31ED0}"/>
              </a:ext>
            </a:extLst>
          </p:cNvPr>
          <p:cNvSpPr>
            <a:spLocks noGrp="1"/>
          </p:cNvSpPr>
          <p:nvPr>
            <p:ph type="body" sz="quarter" idx="11"/>
          </p:nvPr>
        </p:nvSpPr>
        <p:spPr/>
        <p:txBody>
          <a:bodyPr/>
          <a:lstStyle/>
          <a:p>
            <a:r>
              <a:rPr lang="es-419" sz="2400" dirty="0"/>
              <a:t>Gestionar persona jurídica</a:t>
            </a:r>
            <a:endParaRPr lang="es-419" dirty="0"/>
          </a:p>
        </p:txBody>
      </p:sp>
    </p:spTree>
    <p:extLst>
      <p:ext uri="{BB962C8B-B14F-4D97-AF65-F5344CB8AC3E}">
        <p14:creationId xmlns:p14="http://schemas.microsoft.com/office/powerpoint/2010/main" val="1677234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GUAINST</a:t>
            </a:r>
            <a:r>
              <a:rPr lang="es-419" sz="3000" b="1" dirty="0"/>
              <a:t> </a:t>
            </a:r>
            <a:r>
              <a:rPr lang="es-419" sz="3000" dirty="0"/>
              <a:t>Controles de instalación</a:t>
            </a:r>
            <a:endParaRPr lang="es-CL" dirty="0"/>
          </a:p>
        </p:txBody>
      </p:sp>
      <p:pic>
        <p:nvPicPr>
          <p:cNvPr id="2" name="Imagen 1">
            <a:extLst>
              <a:ext uri="{FF2B5EF4-FFF2-40B4-BE49-F238E27FC236}">
                <a16:creationId xmlns:a16="http://schemas.microsoft.com/office/drawing/2014/main" id="{C2A4F0E3-F6AB-24D9-4965-487D36D48286}"/>
              </a:ext>
            </a:extLst>
          </p:cNvPr>
          <p:cNvPicPr>
            <a:picLocks noChangeAspect="1"/>
          </p:cNvPicPr>
          <p:nvPr/>
        </p:nvPicPr>
        <p:blipFill>
          <a:blip r:embed="rId2"/>
          <a:stretch>
            <a:fillRect/>
          </a:stretch>
        </p:blipFill>
        <p:spPr>
          <a:xfrm>
            <a:off x="969138" y="1194302"/>
            <a:ext cx="10411936" cy="4879916"/>
          </a:xfrm>
          <a:prstGeom prst="rect">
            <a:avLst/>
          </a:prstGeom>
        </p:spPr>
      </p:pic>
      <p:sp>
        <p:nvSpPr>
          <p:cNvPr id="7" name="Rectángulo 6">
            <a:extLst>
              <a:ext uri="{FF2B5EF4-FFF2-40B4-BE49-F238E27FC236}">
                <a16:creationId xmlns:a16="http://schemas.microsoft.com/office/drawing/2014/main" id="{E40B2E1B-6479-DB18-0268-1DF2145256ED}"/>
              </a:ext>
            </a:extLst>
          </p:cNvPr>
          <p:cNvSpPr/>
          <p:nvPr/>
        </p:nvSpPr>
        <p:spPr>
          <a:xfrm>
            <a:off x="1680561" y="4713405"/>
            <a:ext cx="1524457" cy="1818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9" name="Rectángulo redondeado 5">
            <a:extLst>
              <a:ext uri="{FF2B5EF4-FFF2-40B4-BE49-F238E27FC236}">
                <a16:creationId xmlns:a16="http://schemas.microsoft.com/office/drawing/2014/main" id="{589D5F6C-F8E4-B9FD-BCD9-AFD88AE36F77}"/>
              </a:ext>
            </a:extLst>
          </p:cNvPr>
          <p:cNvSpPr/>
          <p:nvPr/>
        </p:nvSpPr>
        <p:spPr>
          <a:xfrm>
            <a:off x="2166905" y="5072829"/>
            <a:ext cx="4797313" cy="44860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Premisa: La coincidencia común debe estar deshabilitada</a:t>
            </a:r>
          </a:p>
        </p:txBody>
      </p:sp>
    </p:spTree>
    <p:extLst>
      <p:ext uri="{BB962C8B-B14F-4D97-AF65-F5344CB8AC3E}">
        <p14:creationId xmlns:p14="http://schemas.microsoft.com/office/powerpoint/2010/main" val="451756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6B87575D-D543-C3E5-8323-28B476DE9847}"/>
              </a:ext>
            </a:extLst>
          </p:cNvPr>
          <p:cNvPicPr>
            <a:picLocks noChangeAspect="1"/>
          </p:cNvPicPr>
          <p:nvPr/>
        </p:nvPicPr>
        <p:blipFill>
          <a:blip r:embed="rId2"/>
          <a:stretch>
            <a:fillRect/>
          </a:stretch>
        </p:blipFill>
        <p:spPr>
          <a:xfrm>
            <a:off x="581081" y="1858443"/>
            <a:ext cx="11582399" cy="129675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general de personas</a:t>
            </a:r>
            <a:endParaRPr lang="es-CL" dirty="0"/>
          </a:p>
        </p:txBody>
      </p:sp>
      <p:sp>
        <p:nvSpPr>
          <p:cNvPr id="2" name="Rectángulo redondeado 15">
            <a:extLst>
              <a:ext uri="{FF2B5EF4-FFF2-40B4-BE49-F238E27FC236}">
                <a16:creationId xmlns:a16="http://schemas.microsoft.com/office/drawing/2014/main" id="{15C1E0AF-719B-EF64-2AE3-545B79AC7719}"/>
              </a:ext>
            </a:extLst>
          </p:cNvPr>
          <p:cNvSpPr/>
          <p:nvPr/>
        </p:nvSpPr>
        <p:spPr>
          <a:xfrm>
            <a:off x="3790086" y="2595846"/>
            <a:ext cx="270254"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42AEB3C8-D0C3-57F1-B750-16EE8576BAF0}"/>
              </a:ext>
            </a:extLst>
          </p:cNvPr>
          <p:cNvSpPr/>
          <p:nvPr/>
        </p:nvSpPr>
        <p:spPr>
          <a:xfrm>
            <a:off x="11180596" y="2357397"/>
            <a:ext cx="270254"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8" name="Rectángulo redondeado 5">
            <a:extLst>
              <a:ext uri="{FF2B5EF4-FFF2-40B4-BE49-F238E27FC236}">
                <a16:creationId xmlns:a16="http://schemas.microsoft.com/office/drawing/2014/main" id="{90DE78B1-CE6A-BC4E-B74C-7F93A90E2BB3}"/>
              </a:ext>
            </a:extLst>
          </p:cNvPr>
          <p:cNvSpPr/>
          <p:nvPr/>
        </p:nvSpPr>
        <p:spPr>
          <a:xfrm>
            <a:off x="1142452" y="3666804"/>
            <a:ext cx="10173271" cy="14316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Para crear la persona jurídica se debe ingresar a la página SPAIDEN y: </a:t>
            </a:r>
          </a:p>
          <a:p>
            <a:pPr marL="342900" indent="-342900">
              <a:buFont typeface="+mj-lt"/>
              <a:buAutoNum type="arabicPeriod"/>
            </a:pPr>
            <a:r>
              <a:rPr lang="es-ES_tradnl" sz="1400" dirty="0"/>
              <a:t>Seleccione (+), o ingrese la palabra GENERATED en el campo ID</a:t>
            </a:r>
          </a:p>
          <a:p>
            <a:pPr marL="342900" indent="-342900">
              <a:buFont typeface="+mj-lt"/>
              <a:buAutoNum type="arabicPeriod"/>
            </a:pPr>
            <a:r>
              <a:rPr lang="es-ES_tradnl" sz="1400" dirty="0"/>
              <a:t>Luego se debe presionar el botón Ir.</a:t>
            </a:r>
          </a:p>
          <a:p>
            <a:endParaRPr lang="es-ES_tradnl" sz="1400" dirty="0"/>
          </a:p>
        </p:txBody>
      </p:sp>
      <p:sp>
        <p:nvSpPr>
          <p:cNvPr id="11" name="Rectángulo 10">
            <a:extLst>
              <a:ext uri="{FF2B5EF4-FFF2-40B4-BE49-F238E27FC236}">
                <a16:creationId xmlns:a16="http://schemas.microsoft.com/office/drawing/2014/main" id="{F4F843F6-72FA-855B-1555-F33FFDAA6A73}"/>
              </a:ext>
            </a:extLst>
          </p:cNvPr>
          <p:cNvSpPr/>
          <p:nvPr/>
        </p:nvSpPr>
        <p:spPr>
          <a:xfrm>
            <a:off x="3654959" y="2385766"/>
            <a:ext cx="270254" cy="14942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11">
            <a:extLst>
              <a:ext uri="{FF2B5EF4-FFF2-40B4-BE49-F238E27FC236}">
                <a16:creationId xmlns:a16="http://schemas.microsoft.com/office/drawing/2014/main" id="{9B7C474D-F674-58B7-83EE-EBFB3AA19519}"/>
              </a:ext>
            </a:extLst>
          </p:cNvPr>
          <p:cNvSpPr/>
          <p:nvPr/>
        </p:nvSpPr>
        <p:spPr>
          <a:xfrm>
            <a:off x="11593162" y="2385766"/>
            <a:ext cx="345820" cy="1818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294243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D0F72C80-BBC4-EE70-74A3-DBFDA7141A5D}"/>
              </a:ext>
            </a:extLst>
          </p:cNvPr>
          <p:cNvPicPr>
            <a:picLocks noChangeAspect="1"/>
          </p:cNvPicPr>
          <p:nvPr/>
        </p:nvPicPr>
        <p:blipFill>
          <a:blip r:embed="rId2"/>
          <a:stretch>
            <a:fillRect/>
          </a:stretch>
        </p:blipFill>
        <p:spPr>
          <a:xfrm>
            <a:off x="521782" y="685800"/>
            <a:ext cx="11424260" cy="499923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general de personas</a:t>
            </a:r>
            <a:endParaRPr lang="es-CL" dirty="0"/>
          </a:p>
        </p:txBody>
      </p:sp>
      <p:sp>
        <p:nvSpPr>
          <p:cNvPr id="7" name="Rectángulo redondeado 5">
            <a:extLst>
              <a:ext uri="{FF2B5EF4-FFF2-40B4-BE49-F238E27FC236}">
                <a16:creationId xmlns:a16="http://schemas.microsoft.com/office/drawing/2014/main" id="{40E13B18-86E0-B2D0-21F7-93833B0450BF}"/>
              </a:ext>
            </a:extLst>
          </p:cNvPr>
          <p:cNvSpPr/>
          <p:nvPr/>
        </p:nvSpPr>
        <p:spPr>
          <a:xfrm>
            <a:off x="629786" y="5010358"/>
            <a:ext cx="10062028" cy="151964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Se despliega la pestaña para el ingreso de identificación actual. En el campo ID, se mantiene el RUT ingresado anteriormente.</a:t>
            </a:r>
          </a:p>
          <a:p>
            <a:pPr marL="342900" indent="-342900">
              <a:buFont typeface="+mj-lt"/>
              <a:buAutoNum type="arabicPeriod" startAt="3"/>
            </a:pPr>
            <a:r>
              <a:rPr lang="es-ES_tradnl" sz="1400" dirty="0"/>
              <a:t>Seleccione el Tipo de nombre en el campo correspondiente (depende de tabla de validación GTVNTYP e identifica el tipo de persona que se está creando).</a:t>
            </a:r>
          </a:p>
          <a:p>
            <a:pPr marL="342900" indent="-342900">
              <a:buFont typeface="+mj-lt"/>
              <a:buAutoNum type="arabicPeriod" startAt="3"/>
            </a:pPr>
            <a:r>
              <a:rPr lang="es-ES_tradnl" sz="1400" dirty="0"/>
              <a:t>Ingrese la razón social de la empresa que se está creando en el campo </a:t>
            </a:r>
            <a:r>
              <a:rPr lang="es-ES_tradnl" sz="1400" b="1" dirty="0"/>
              <a:t>Nombre</a:t>
            </a:r>
            <a:r>
              <a:rPr lang="es-ES_tradnl" sz="1400" dirty="0"/>
              <a:t> (bloque EMPRESA) .</a:t>
            </a:r>
          </a:p>
          <a:p>
            <a:pPr marL="342900" indent="-342900">
              <a:buFont typeface="+mj-lt"/>
              <a:buAutoNum type="arabicPeriod" startAt="3"/>
            </a:pPr>
            <a:r>
              <a:rPr lang="es-ES_tradnl" sz="1400" dirty="0"/>
              <a:t>Guarde la información</a:t>
            </a:r>
          </a:p>
          <a:p>
            <a:pPr marL="342900" indent="-342900">
              <a:buFont typeface="+mj-lt"/>
              <a:buAutoNum type="arabicPeriod" startAt="3"/>
            </a:pPr>
            <a:r>
              <a:rPr lang="es-ES_tradnl" sz="1400" dirty="0"/>
              <a:t>Se actualizan los campos del bloque  “ORIGEN DE ID Y NOMBRE”.</a:t>
            </a:r>
          </a:p>
          <a:p>
            <a:pPr marL="342900" indent="-342900">
              <a:buFont typeface="+mj-lt"/>
              <a:buAutoNum type="arabicPeriod" startAt="3"/>
            </a:pPr>
            <a:r>
              <a:rPr lang="es-ES_tradnl" sz="1400" dirty="0"/>
              <a:t>Se generará el ID de la empresa</a:t>
            </a:r>
          </a:p>
        </p:txBody>
      </p:sp>
      <p:sp>
        <p:nvSpPr>
          <p:cNvPr id="10" name="Rectángulo redondeado 15">
            <a:extLst>
              <a:ext uri="{FF2B5EF4-FFF2-40B4-BE49-F238E27FC236}">
                <a16:creationId xmlns:a16="http://schemas.microsoft.com/office/drawing/2014/main" id="{90A2ED89-17B2-7496-2410-3230159F1F9F}"/>
              </a:ext>
            </a:extLst>
          </p:cNvPr>
          <p:cNvSpPr/>
          <p:nvPr/>
        </p:nvSpPr>
        <p:spPr>
          <a:xfrm>
            <a:off x="6140512" y="1791507"/>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1" name="Rectángulo 10">
            <a:extLst>
              <a:ext uri="{FF2B5EF4-FFF2-40B4-BE49-F238E27FC236}">
                <a16:creationId xmlns:a16="http://schemas.microsoft.com/office/drawing/2014/main" id="{6A1EF3AA-F9E1-323E-B946-6E91F72FA991}"/>
              </a:ext>
            </a:extLst>
          </p:cNvPr>
          <p:cNvSpPr/>
          <p:nvPr/>
        </p:nvSpPr>
        <p:spPr>
          <a:xfrm>
            <a:off x="6376344" y="1704658"/>
            <a:ext cx="1731658" cy="22574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redondeado 15">
            <a:extLst>
              <a:ext uri="{FF2B5EF4-FFF2-40B4-BE49-F238E27FC236}">
                <a16:creationId xmlns:a16="http://schemas.microsoft.com/office/drawing/2014/main" id="{8C617639-0B4E-DAA9-26AD-F91BB35FE1BA}"/>
              </a:ext>
            </a:extLst>
          </p:cNvPr>
          <p:cNvSpPr/>
          <p:nvPr/>
        </p:nvSpPr>
        <p:spPr>
          <a:xfrm>
            <a:off x="821601" y="3708265"/>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3" name="Rectángulo 12">
            <a:extLst>
              <a:ext uri="{FF2B5EF4-FFF2-40B4-BE49-F238E27FC236}">
                <a16:creationId xmlns:a16="http://schemas.microsoft.com/office/drawing/2014/main" id="{0E11754C-7849-ED7A-C38C-55E42E741109}"/>
              </a:ext>
            </a:extLst>
          </p:cNvPr>
          <p:cNvSpPr/>
          <p:nvPr/>
        </p:nvSpPr>
        <p:spPr>
          <a:xfrm>
            <a:off x="1119304" y="3633689"/>
            <a:ext cx="3903012" cy="30232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redondeado 15">
            <a:extLst>
              <a:ext uri="{FF2B5EF4-FFF2-40B4-BE49-F238E27FC236}">
                <a16:creationId xmlns:a16="http://schemas.microsoft.com/office/drawing/2014/main" id="{C8986CA7-0D6F-57CB-94F9-70F35504B5A1}"/>
              </a:ext>
            </a:extLst>
          </p:cNvPr>
          <p:cNvSpPr/>
          <p:nvPr/>
        </p:nvSpPr>
        <p:spPr>
          <a:xfrm>
            <a:off x="10851326" y="5460901"/>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5" name="Rectángulo 14">
            <a:extLst>
              <a:ext uri="{FF2B5EF4-FFF2-40B4-BE49-F238E27FC236}">
                <a16:creationId xmlns:a16="http://schemas.microsoft.com/office/drawing/2014/main" id="{BC71AFFD-91A9-82AB-1F9F-F43082EC24BE}"/>
              </a:ext>
            </a:extLst>
          </p:cNvPr>
          <p:cNvSpPr/>
          <p:nvPr/>
        </p:nvSpPr>
        <p:spPr>
          <a:xfrm>
            <a:off x="11362399" y="5386631"/>
            <a:ext cx="565466" cy="22369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6" name="Rectángulo redondeado 15">
            <a:extLst>
              <a:ext uri="{FF2B5EF4-FFF2-40B4-BE49-F238E27FC236}">
                <a16:creationId xmlns:a16="http://schemas.microsoft.com/office/drawing/2014/main" id="{D64C1A57-52A5-82B0-8684-74FA04A35613}"/>
              </a:ext>
            </a:extLst>
          </p:cNvPr>
          <p:cNvSpPr/>
          <p:nvPr/>
        </p:nvSpPr>
        <p:spPr>
          <a:xfrm>
            <a:off x="427408" y="4167561"/>
            <a:ext cx="18874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7" name="Rectángulo 16">
            <a:extLst>
              <a:ext uri="{FF2B5EF4-FFF2-40B4-BE49-F238E27FC236}">
                <a16:creationId xmlns:a16="http://schemas.microsoft.com/office/drawing/2014/main" id="{DFD299C0-ABBD-9131-81B8-0C95004684E1}"/>
              </a:ext>
            </a:extLst>
          </p:cNvPr>
          <p:cNvSpPr/>
          <p:nvPr/>
        </p:nvSpPr>
        <p:spPr>
          <a:xfrm>
            <a:off x="643587" y="3947273"/>
            <a:ext cx="10875048" cy="10630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B63DDF18-172D-F2B6-15C0-A754F6623781}"/>
              </a:ext>
            </a:extLst>
          </p:cNvPr>
          <p:cNvSpPr/>
          <p:nvPr/>
        </p:nvSpPr>
        <p:spPr>
          <a:xfrm>
            <a:off x="1219203" y="1704657"/>
            <a:ext cx="1731658" cy="22574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0" name="Rectángulo redondeado 15">
            <a:extLst>
              <a:ext uri="{FF2B5EF4-FFF2-40B4-BE49-F238E27FC236}">
                <a16:creationId xmlns:a16="http://schemas.microsoft.com/office/drawing/2014/main" id="{A952C273-4A8C-6E64-F6AB-5943EA1BC1C8}"/>
              </a:ext>
            </a:extLst>
          </p:cNvPr>
          <p:cNvSpPr/>
          <p:nvPr/>
        </p:nvSpPr>
        <p:spPr>
          <a:xfrm>
            <a:off x="3039654" y="1740939"/>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Tree>
    <p:extLst>
      <p:ext uri="{BB962C8B-B14F-4D97-AF65-F5344CB8AC3E}">
        <p14:creationId xmlns:p14="http://schemas.microsoft.com/office/powerpoint/2010/main" val="4040976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persona jurídica</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sz="3200" b="1" dirty="0">
                <a:solidFill>
                  <a:schemeClr val="bg1"/>
                </a:solidFill>
              </a:rPr>
              <a:t>INFORMACIÓN DE </a:t>
            </a:r>
            <a:r>
              <a:rPr lang="es-419" dirty="0"/>
              <a:t>EMPRESA</a:t>
            </a:r>
            <a:endParaRPr lang="en-US" sz="3200" b="1" dirty="0">
              <a:solidFill>
                <a:schemeClr val="bg1"/>
              </a:solidFill>
            </a:endParaRPr>
          </a:p>
        </p:txBody>
      </p:sp>
    </p:spTree>
    <p:extLst>
      <p:ext uri="{BB962C8B-B14F-4D97-AF65-F5344CB8AC3E}">
        <p14:creationId xmlns:p14="http://schemas.microsoft.com/office/powerpoint/2010/main" val="3018921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669094"/>
          </a:xfrm>
        </p:spPr>
        <p:txBody>
          <a:bodyPr/>
          <a:lstStyle/>
          <a:p>
            <a:r>
              <a:rPr lang="es-CL" dirty="0"/>
              <a:t>Información general de las empresas</a:t>
            </a:r>
            <a:endParaRPr lang="en-US" dirty="0"/>
          </a:p>
        </p:txBody>
      </p:sp>
      <p:sp>
        <p:nvSpPr>
          <p:cNvPr id="4" name="Marcador de texto 3">
            <a:extLst>
              <a:ext uri="{FF2B5EF4-FFF2-40B4-BE49-F238E27FC236}">
                <a16:creationId xmlns:a16="http://schemas.microsoft.com/office/drawing/2014/main" id="{C2A5D2F5-994B-305E-4B57-07A3580BE908}"/>
              </a:ext>
            </a:extLst>
          </p:cNvPr>
          <p:cNvSpPr>
            <a:spLocks noGrp="1"/>
          </p:cNvSpPr>
          <p:nvPr>
            <p:ph type="body" sz="quarter" idx="11"/>
          </p:nvPr>
        </p:nvSpPr>
        <p:spPr/>
        <p:txBody>
          <a:bodyPr/>
          <a:lstStyle/>
          <a:p>
            <a:r>
              <a:rPr lang="es-419" sz="2400" dirty="0"/>
              <a:t>Gestionar persona jurídica</a:t>
            </a:r>
            <a:endParaRPr lang="es-419" dirty="0"/>
          </a:p>
        </p:txBody>
      </p:sp>
    </p:spTree>
    <p:extLst>
      <p:ext uri="{BB962C8B-B14F-4D97-AF65-F5344CB8AC3E}">
        <p14:creationId xmlns:p14="http://schemas.microsoft.com/office/powerpoint/2010/main" val="3491479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A77CA54-ABC8-25D0-1EB4-557EEFDDDCF7}"/>
              </a:ext>
            </a:extLst>
          </p:cNvPr>
          <p:cNvPicPr>
            <a:picLocks noChangeAspect="1"/>
          </p:cNvPicPr>
          <p:nvPr/>
        </p:nvPicPr>
        <p:blipFill>
          <a:blip r:embed="rId2"/>
          <a:stretch>
            <a:fillRect/>
          </a:stretch>
        </p:blipFill>
        <p:spPr>
          <a:xfrm>
            <a:off x="446818" y="758825"/>
            <a:ext cx="11298364" cy="491693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general de personas: </a:t>
            </a:r>
            <a:r>
              <a:rPr lang="es-419" sz="3000" dirty="0"/>
              <a:t>Pestaña Dirección</a:t>
            </a:r>
            <a:endParaRPr lang="es-CL" sz="3000" dirty="0"/>
          </a:p>
        </p:txBody>
      </p:sp>
      <p:sp>
        <p:nvSpPr>
          <p:cNvPr id="15" name="Rectángulo redondeado 5">
            <a:extLst>
              <a:ext uri="{FF2B5EF4-FFF2-40B4-BE49-F238E27FC236}">
                <a16:creationId xmlns:a16="http://schemas.microsoft.com/office/drawing/2014/main" id="{639BB238-2825-F81D-1894-8D3687A86333}"/>
              </a:ext>
            </a:extLst>
          </p:cNvPr>
          <p:cNvSpPr/>
          <p:nvPr/>
        </p:nvSpPr>
        <p:spPr>
          <a:xfrm>
            <a:off x="609601" y="4479170"/>
            <a:ext cx="10608018" cy="221983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la pestaña correspondiente a “Dirección”, se ingresa la información sobre las diferentes direcciones de la persona:</a:t>
            </a:r>
          </a:p>
          <a:p>
            <a:pPr marL="342900" indent="-342900">
              <a:buFont typeface="+mj-lt"/>
              <a:buAutoNum type="arabicPeriod"/>
            </a:pPr>
            <a:r>
              <a:rPr lang="es-ES_tradnl" sz="1200" dirty="0"/>
              <a:t>Tipo de dirección: Ingrese o seleccione el tipo de dirección que está incorporando para la persona (permanente, sostenedor, etc.)</a:t>
            </a:r>
          </a:p>
          <a:p>
            <a:pPr marL="342900" indent="-342900">
              <a:buFont typeface="+mj-lt"/>
              <a:buAutoNum type="arabicPeriod"/>
            </a:pPr>
            <a:r>
              <a:rPr lang="es-ES_tradnl" sz="1200" dirty="0"/>
              <a:t>Calle línea 1: ingrese la dirección de la empresa, según corresponda al tipo de dirección (principal o de una sucursal).</a:t>
            </a:r>
          </a:p>
          <a:p>
            <a:pPr marL="342900" indent="-342900">
              <a:buFont typeface="+mj-lt"/>
              <a:buAutoNum type="arabicPeriod"/>
            </a:pPr>
            <a:r>
              <a:rPr lang="es-ES_tradnl" sz="1200" dirty="0"/>
              <a:t>Calle línea 3: ingrese el nombre de la persona contacto de la empresa.</a:t>
            </a:r>
          </a:p>
          <a:p>
            <a:pPr marL="342900" indent="-342900">
              <a:buFont typeface="+mj-lt"/>
              <a:buAutoNum type="arabicPeriod"/>
            </a:pPr>
            <a:r>
              <a:rPr lang="es-ES_tradnl" sz="1200" dirty="0"/>
              <a:t>Calle línea 2: ingrese el nombre de fantasía o razón social de la sucursal de la empresa, si aplica.</a:t>
            </a:r>
          </a:p>
          <a:p>
            <a:pPr marL="342900" indent="-342900">
              <a:buFont typeface="+mj-lt"/>
              <a:buAutoNum type="arabicPeriod"/>
            </a:pPr>
            <a:r>
              <a:rPr lang="es-ES_tradnl" sz="1200" dirty="0"/>
              <a:t>Código postal: seleccione el código postal que corresponde a la dirección ingresada. Al seleccionar el código postal, los campos de Ciudad,  Estado o provincia (Región) , municipio (Comuna) y país se llenan automáticamente (según estén asociados en la tabla GTVZIPC).</a:t>
            </a:r>
          </a:p>
          <a:p>
            <a:pPr marL="342900" indent="-342900">
              <a:buFont typeface="+mj-lt"/>
              <a:buAutoNum type="arabicPeriod"/>
            </a:pPr>
            <a:r>
              <a:rPr lang="es-ES_tradnl" sz="1200" dirty="0"/>
              <a:t>Guarde la información ingresada.</a:t>
            </a:r>
          </a:p>
          <a:p>
            <a:pPr marL="342900" indent="-342900">
              <a:buFont typeface="+mj-lt"/>
              <a:buAutoNum type="arabicPeriod"/>
            </a:pPr>
            <a:r>
              <a:rPr lang="es-ES_tradnl" sz="1200" dirty="0"/>
              <a:t>El sistema automáticamente asigna fechas de vigencia a las direcciones incorporadas. Se puede finalizar la vigencia de una dirección ingresando en el campo “A fecha” aquella en que ya no está vigente la dirección, de manera de conservar la bitácora.</a:t>
            </a:r>
          </a:p>
          <a:p>
            <a:pPr marL="342900" indent="-342900">
              <a:buFont typeface="+mj-lt"/>
              <a:buAutoNum type="arabicPeriod"/>
            </a:pPr>
            <a:r>
              <a:rPr lang="es-ES_tradnl" sz="1200" dirty="0"/>
              <a:t>El número de secuencia se asigna automáticamente, incrementando correlativamente por tipo de dirección.</a:t>
            </a:r>
          </a:p>
        </p:txBody>
      </p:sp>
      <p:sp>
        <p:nvSpPr>
          <p:cNvPr id="16" name="Rectángulo redondeado 15">
            <a:extLst>
              <a:ext uri="{FF2B5EF4-FFF2-40B4-BE49-F238E27FC236}">
                <a16:creationId xmlns:a16="http://schemas.microsoft.com/office/drawing/2014/main" id="{34CEB9BD-A5AC-40EA-068E-41D3B2BE408E}"/>
              </a:ext>
            </a:extLst>
          </p:cNvPr>
          <p:cNvSpPr/>
          <p:nvPr/>
        </p:nvSpPr>
        <p:spPr>
          <a:xfrm>
            <a:off x="3396359" y="2204181"/>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8" name="Rectángulo redondeado 15">
            <a:extLst>
              <a:ext uri="{FF2B5EF4-FFF2-40B4-BE49-F238E27FC236}">
                <a16:creationId xmlns:a16="http://schemas.microsoft.com/office/drawing/2014/main" id="{ED63381D-7B4F-602D-A8D8-EB8FC5954A42}"/>
              </a:ext>
            </a:extLst>
          </p:cNvPr>
          <p:cNvSpPr/>
          <p:nvPr/>
        </p:nvSpPr>
        <p:spPr>
          <a:xfrm>
            <a:off x="4158659" y="2996043"/>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9" name="Rectángulo redondeado 15">
            <a:extLst>
              <a:ext uri="{FF2B5EF4-FFF2-40B4-BE49-F238E27FC236}">
                <a16:creationId xmlns:a16="http://schemas.microsoft.com/office/drawing/2014/main" id="{160BB3EC-751C-5438-630B-1307E94CD978}"/>
              </a:ext>
            </a:extLst>
          </p:cNvPr>
          <p:cNvSpPr/>
          <p:nvPr/>
        </p:nvSpPr>
        <p:spPr>
          <a:xfrm>
            <a:off x="3271042" y="4135257"/>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cxnSp>
        <p:nvCxnSpPr>
          <p:cNvPr id="20" name="Conector recto de flecha 19">
            <a:extLst>
              <a:ext uri="{FF2B5EF4-FFF2-40B4-BE49-F238E27FC236}">
                <a16:creationId xmlns:a16="http://schemas.microsoft.com/office/drawing/2014/main" id="{849D5370-23F9-0930-D274-9016CC77A741}"/>
              </a:ext>
            </a:extLst>
          </p:cNvPr>
          <p:cNvCxnSpPr>
            <a:cxnSpLocks/>
            <a:stCxn id="19" idx="3"/>
          </p:cNvCxnSpPr>
          <p:nvPr/>
        </p:nvCxnSpPr>
        <p:spPr>
          <a:xfrm flipV="1">
            <a:off x="3469786" y="1949570"/>
            <a:ext cx="3336456" cy="2261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8B0B270B-5AD9-87C5-21A4-D70C630F10B3}"/>
              </a:ext>
            </a:extLst>
          </p:cNvPr>
          <p:cNvCxnSpPr>
            <a:cxnSpLocks/>
            <a:stCxn id="19" idx="3"/>
          </p:cNvCxnSpPr>
          <p:nvPr/>
        </p:nvCxnSpPr>
        <p:spPr>
          <a:xfrm flipV="1">
            <a:off x="3469786" y="2097261"/>
            <a:ext cx="3521684" cy="2113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CBDBA143-6E6B-2081-5A02-6D4B7DAB59FA}"/>
              </a:ext>
            </a:extLst>
          </p:cNvPr>
          <p:cNvCxnSpPr>
            <a:cxnSpLocks/>
            <a:stCxn id="19" idx="3"/>
          </p:cNvCxnSpPr>
          <p:nvPr/>
        </p:nvCxnSpPr>
        <p:spPr>
          <a:xfrm flipH="1" flipV="1">
            <a:off x="3043777" y="3907339"/>
            <a:ext cx="426009" cy="303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ángulo 22">
            <a:extLst>
              <a:ext uri="{FF2B5EF4-FFF2-40B4-BE49-F238E27FC236}">
                <a16:creationId xmlns:a16="http://schemas.microsoft.com/office/drawing/2014/main" id="{F57F9879-A7AF-B1E5-1DC4-D91A983E7FE8}"/>
              </a:ext>
            </a:extLst>
          </p:cNvPr>
          <p:cNvSpPr/>
          <p:nvPr/>
        </p:nvSpPr>
        <p:spPr>
          <a:xfrm>
            <a:off x="1364792" y="2215656"/>
            <a:ext cx="1937679" cy="1508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4" name="Rectángulo 23">
            <a:extLst>
              <a:ext uri="{FF2B5EF4-FFF2-40B4-BE49-F238E27FC236}">
                <a16:creationId xmlns:a16="http://schemas.microsoft.com/office/drawing/2014/main" id="{4B090040-EDE2-B7E7-A210-DE525596CDF8}"/>
              </a:ext>
            </a:extLst>
          </p:cNvPr>
          <p:cNvSpPr/>
          <p:nvPr/>
        </p:nvSpPr>
        <p:spPr>
          <a:xfrm>
            <a:off x="1512059" y="2978869"/>
            <a:ext cx="2568224" cy="15881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5" name="Rectángulo 24">
            <a:extLst>
              <a:ext uri="{FF2B5EF4-FFF2-40B4-BE49-F238E27FC236}">
                <a16:creationId xmlns:a16="http://schemas.microsoft.com/office/drawing/2014/main" id="{E6291913-08A8-E752-A958-C6FD7D1824DC}"/>
              </a:ext>
            </a:extLst>
          </p:cNvPr>
          <p:cNvSpPr/>
          <p:nvPr/>
        </p:nvSpPr>
        <p:spPr>
          <a:xfrm>
            <a:off x="793626" y="4102802"/>
            <a:ext cx="2448896" cy="18333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cxnSp>
        <p:nvCxnSpPr>
          <p:cNvPr id="26" name="Conector recto de flecha 25">
            <a:extLst>
              <a:ext uri="{FF2B5EF4-FFF2-40B4-BE49-F238E27FC236}">
                <a16:creationId xmlns:a16="http://schemas.microsoft.com/office/drawing/2014/main" id="{39DD0D44-EE1C-FF6F-A605-5759FB77F865}"/>
              </a:ext>
            </a:extLst>
          </p:cNvPr>
          <p:cNvCxnSpPr>
            <a:cxnSpLocks/>
            <a:stCxn id="19" idx="3"/>
          </p:cNvCxnSpPr>
          <p:nvPr/>
        </p:nvCxnSpPr>
        <p:spPr>
          <a:xfrm flipH="1" flipV="1">
            <a:off x="2196421" y="4059017"/>
            <a:ext cx="1273365" cy="151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ángulo redondeado 15">
            <a:extLst>
              <a:ext uri="{FF2B5EF4-FFF2-40B4-BE49-F238E27FC236}">
                <a16:creationId xmlns:a16="http://schemas.microsoft.com/office/drawing/2014/main" id="{52539A8F-9615-2EA0-F32D-0B7FCAFC10BD}"/>
              </a:ext>
            </a:extLst>
          </p:cNvPr>
          <p:cNvSpPr/>
          <p:nvPr/>
        </p:nvSpPr>
        <p:spPr>
          <a:xfrm>
            <a:off x="11452117" y="5628315"/>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28" name="Rectángulo 27">
            <a:extLst>
              <a:ext uri="{FF2B5EF4-FFF2-40B4-BE49-F238E27FC236}">
                <a16:creationId xmlns:a16="http://schemas.microsoft.com/office/drawing/2014/main" id="{2B074568-DF70-DC4C-0FAD-F60E9F787EAA}"/>
              </a:ext>
            </a:extLst>
          </p:cNvPr>
          <p:cNvSpPr/>
          <p:nvPr/>
        </p:nvSpPr>
        <p:spPr>
          <a:xfrm>
            <a:off x="11157631" y="5393905"/>
            <a:ext cx="669589" cy="2046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9" name="Rectángulo redondeado 15">
            <a:extLst>
              <a:ext uri="{FF2B5EF4-FFF2-40B4-BE49-F238E27FC236}">
                <a16:creationId xmlns:a16="http://schemas.microsoft.com/office/drawing/2014/main" id="{A1C88CEB-208B-CB9E-68FE-BBFFF0D16C58}"/>
              </a:ext>
            </a:extLst>
          </p:cNvPr>
          <p:cNvSpPr/>
          <p:nvPr/>
        </p:nvSpPr>
        <p:spPr>
          <a:xfrm>
            <a:off x="2926549" y="1875939"/>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30" name="Rectángulo 29">
            <a:extLst>
              <a:ext uri="{FF2B5EF4-FFF2-40B4-BE49-F238E27FC236}">
                <a16:creationId xmlns:a16="http://schemas.microsoft.com/office/drawing/2014/main" id="{6E0CC46E-78CD-0CD6-5FA2-09C38FC74471}"/>
              </a:ext>
            </a:extLst>
          </p:cNvPr>
          <p:cNvSpPr/>
          <p:nvPr/>
        </p:nvSpPr>
        <p:spPr>
          <a:xfrm>
            <a:off x="1493281" y="1760838"/>
            <a:ext cx="1404747" cy="44334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1" name="Rectángulo redondeado 15">
            <a:extLst>
              <a:ext uri="{FF2B5EF4-FFF2-40B4-BE49-F238E27FC236}">
                <a16:creationId xmlns:a16="http://schemas.microsoft.com/office/drawing/2014/main" id="{C30FC055-CF1C-6716-1D07-2F59D400A85C}"/>
              </a:ext>
            </a:extLst>
          </p:cNvPr>
          <p:cNvSpPr/>
          <p:nvPr/>
        </p:nvSpPr>
        <p:spPr>
          <a:xfrm>
            <a:off x="2858467" y="2355057"/>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32" name="Rectángulo 31">
            <a:extLst>
              <a:ext uri="{FF2B5EF4-FFF2-40B4-BE49-F238E27FC236}">
                <a16:creationId xmlns:a16="http://schemas.microsoft.com/office/drawing/2014/main" id="{72F0E50A-579C-27AC-06BA-08D3DC9CC2E3}"/>
              </a:ext>
            </a:extLst>
          </p:cNvPr>
          <p:cNvSpPr/>
          <p:nvPr/>
        </p:nvSpPr>
        <p:spPr>
          <a:xfrm>
            <a:off x="1425199" y="2376577"/>
            <a:ext cx="1404747" cy="25909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35" name="Rectángulo redondeado 15">
            <a:extLst>
              <a:ext uri="{FF2B5EF4-FFF2-40B4-BE49-F238E27FC236}">
                <a16:creationId xmlns:a16="http://schemas.microsoft.com/office/drawing/2014/main" id="{26F83816-92F2-8949-09EB-B50EC6B890DC}"/>
              </a:ext>
            </a:extLst>
          </p:cNvPr>
          <p:cNvSpPr/>
          <p:nvPr/>
        </p:nvSpPr>
        <p:spPr>
          <a:xfrm>
            <a:off x="4158659" y="3167774"/>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36" name="Rectángulo 35">
            <a:extLst>
              <a:ext uri="{FF2B5EF4-FFF2-40B4-BE49-F238E27FC236}">
                <a16:creationId xmlns:a16="http://schemas.microsoft.com/office/drawing/2014/main" id="{D52AD764-7740-3909-73A5-FDDCF5C2E71F}"/>
              </a:ext>
            </a:extLst>
          </p:cNvPr>
          <p:cNvSpPr/>
          <p:nvPr/>
        </p:nvSpPr>
        <p:spPr>
          <a:xfrm>
            <a:off x="1512059" y="3150600"/>
            <a:ext cx="2568224" cy="15881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7" name="Rectángulo redondeado 15">
            <a:extLst>
              <a:ext uri="{FF2B5EF4-FFF2-40B4-BE49-F238E27FC236}">
                <a16:creationId xmlns:a16="http://schemas.microsoft.com/office/drawing/2014/main" id="{057EC913-6DA2-8A4A-2573-623C7E4CB03D}"/>
              </a:ext>
            </a:extLst>
          </p:cNvPr>
          <p:cNvSpPr/>
          <p:nvPr/>
        </p:nvSpPr>
        <p:spPr>
          <a:xfrm>
            <a:off x="4158659" y="3390401"/>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38" name="Rectángulo 37">
            <a:extLst>
              <a:ext uri="{FF2B5EF4-FFF2-40B4-BE49-F238E27FC236}">
                <a16:creationId xmlns:a16="http://schemas.microsoft.com/office/drawing/2014/main" id="{3D52CAAE-D340-8768-0DDC-CA75D1ACBEC2}"/>
              </a:ext>
            </a:extLst>
          </p:cNvPr>
          <p:cNvSpPr/>
          <p:nvPr/>
        </p:nvSpPr>
        <p:spPr>
          <a:xfrm>
            <a:off x="1512059" y="3345519"/>
            <a:ext cx="2568224" cy="15881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373045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B1891-90BA-C2ED-E596-793EDE6D74C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D2FB2E6-05E1-A967-77A6-CABD5A140E14}"/>
              </a:ext>
            </a:extLst>
          </p:cNvPr>
          <p:cNvPicPr>
            <a:picLocks noChangeAspect="1"/>
          </p:cNvPicPr>
          <p:nvPr/>
        </p:nvPicPr>
        <p:blipFill>
          <a:blip r:embed="rId2"/>
          <a:stretch>
            <a:fillRect/>
          </a:stretch>
        </p:blipFill>
        <p:spPr>
          <a:xfrm>
            <a:off x="609601" y="954157"/>
            <a:ext cx="11298364" cy="4916936"/>
          </a:xfrm>
          <a:prstGeom prst="rect">
            <a:avLst/>
          </a:prstGeom>
        </p:spPr>
      </p:pic>
      <p:sp>
        <p:nvSpPr>
          <p:cNvPr id="3" name="Marcador de texto vertical 2">
            <a:extLst>
              <a:ext uri="{FF2B5EF4-FFF2-40B4-BE49-F238E27FC236}">
                <a16:creationId xmlns:a16="http://schemas.microsoft.com/office/drawing/2014/main" id="{15CA4169-C9CD-4E6E-B8AB-562E14DC5A9B}"/>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C4A449D9-A146-5C54-258E-4ADE05075BB0}"/>
              </a:ext>
            </a:extLst>
          </p:cNvPr>
          <p:cNvSpPr>
            <a:spLocks noGrp="1"/>
          </p:cNvSpPr>
          <p:nvPr>
            <p:ph type="title"/>
          </p:nvPr>
        </p:nvSpPr>
        <p:spPr>
          <a:xfrm>
            <a:off x="810247" y="327992"/>
            <a:ext cx="10271883" cy="626165"/>
          </a:xfrm>
        </p:spPr>
        <p:txBody>
          <a:bodyPr/>
          <a:lstStyle/>
          <a:p>
            <a:r>
              <a:rPr lang="es-419" sz="3000" b="1" dirty="0"/>
              <a:t>Identificación de general de personas: </a:t>
            </a:r>
            <a:r>
              <a:rPr lang="es-419" sz="3000" dirty="0"/>
              <a:t>Pestaña Dirección</a:t>
            </a:r>
            <a:endParaRPr lang="es-CL" sz="3000" dirty="0"/>
          </a:p>
        </p:txBody>
      </p:sp>
      <p:sp>
        <p:nvSpPr>
          <p:cNvPr id="2" name="Rectángulo redondeado 5">
            <a:extLst>
              <a:ext uri="{FF2B5EF4-FFF2-40B4-BE49-F238E27FC236}">
                <a16:creationId xmlns:a16="http://schemas.microsoft.com/office/drawing/2014/main" id="{5C4A128C-16B7-7BA3-DEAD-2E5BC6CA8F28}"/>
              </a:ext>
            </a:extLst>
          </p:cNvPr>
          <p:cNvSpPr/>
          <p:nvPr/>
        </p:nvSpPr>
        <p:spPr>
          <a:xfrm>
            <a:off x="1707450" y="4220846"/>
            <a:ext cx="8777100" cy="129326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Arial" panose="020B0604020202020204" pitchFamily="34" charset="0"/>
              <a:buChar char="•"/>
            </a:pPr>
            <a:r>
              <a:rPr lang="es-ES_tradnl" sz="1400" dirty="0"/>
              <a:t>Para ingresar una segunda dirección de la empresa, como la de una sucursal, haga clic sobre el símbolo “</a:t>
            </a:r>
            <a:r>
              <a:rPr lang="es-ES_tradnl" sz="1600" b="1" dirty="0"/>
              <a:t>+</a:t>
            </a:r>
            <a:r>
              <a:rPr lang="es-ES_tradnl" sz="1400" dirty="0"/>
              <a:t>” ubicado en la parte superior de la página, esto insertará un nuevo registro para que ingrese la dirección según las instrucciones ya dadas. </a:t>
            </a:r>
          </a:p>
          <a:p>
            <a:pPr marL="285750" indent="-285750">
              <a:buFont typeface="Arial" panose="020B0604020202020204" pitchFamily="34" charset="0"/>
              <a:buChar char="•"/>
            </a:pPr>
            <a:r>
              <a:rPr lang="es-ES_tradnl" sz="1400" dirty="0"/>
              <a:t>Igualmente si se desea eliminar el registro de una dirección, haga clic sobre el símbolo “</a:t>
            </a:r>
            <a:r>
              <a:rPr lang="es-ES_tradnl" sz="1600" b="1" dirty="0"/>
              <a:t>-</a:t>
            </a:r>
            <a:r>
              <a:rPr lang="es-ES_tradnl" sz="1400" dirty="0"/>
              <a:t>”.</a:t>
            </a:r>
          </a:p>
          <a:p>
            <a:pPr marL="285750" indent="-285750">
              <a:buFont typeface="Arial" panose="020B0604020202020204" pitchFamily="34" charset="0"/>
              <a:buChar char="•"/>
            </a:pPr>
            <a:r>
              <a:rPr lang="es-ES_tradnl" sz="1400" dirty="0"/>
              <a:t>Finalmente no olvide guardar los cambios.</a:t>
            </a:r>
          </a:p>
        </p:txBody>
      </p:sp>
      <p:sp>
        <p:nvSpPr>
          <p:cNvPr id="6" name="Rectángulo 5">
            <a:extLst>
              <a:ext uri="{FF2B5EF4-FFF2-40B4-BE49-F238E27FC236}">
                <a16:creationId xmlns:a16="http://schemas.microsoft.com/office/drawing/2014/main" id="{8C8CFDE3-775E-EA11-0D9A-9E10A5D14C4C}"/>
              </a:ext>
            </a:extLst>
          </p:cNvPr>
          <p:cNvSpPr/>
          <p:nvPr/>
        </p:nvSpPr>
        <p:spPr>
          <a:xfrm>
            <a:off x="10982035" y="1691214"/>
            <a:ext cx="408953" cy="22995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09903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97B2065-2CC6-0852-0634-D10E54546329}"/>
              </a:ext>
            </a:extLst>
          </p:cNvPr>
          <p:cNvPicPr>
            <a:picLocks noChangeAspect="1"/>
          </p:cNvPicPr>
          <p:nvPr/>
        </p:nvPicPr>
        <p:blipFill>
          <a:blip r:embed="rId2"/>
          <a:stretch>
            <a:fillRect/>
          </a:stretch>
        </p:blipFill>
        <p:spPr>
          <a:xfrm>
            <a:off x="755614" y="954157"/>
            <a:ext cx="11065356" cy="485016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general de personas</a:t>
            </a:r>
            <a:r>
              <a:rPr lang="es-419" sz="3000" dirty="0"/>
              <a:t>: Pestaña Teléfono</a:t>
            </a:r>
            <a:endParaRPr lang="es-CL" sz="3000" dirty="0"/>
          </a:p>
        </p:txBody>
      </p:sp>
      <p:sp>
        <p:nvSpPr>
          <p:cNvPr id="14" name="Rectángulo redondeado 5">
            <a:extLst>
              <a:ext uri="{FF2B5EF4-FFF2-40B4-BE49-F238E27FC236}">
                <a16:creationId xmlns:a16="http://schemas.microsoft.com/office/drawing/2014/main" id="{1650D503-4E95-A899-8002-DEAB4C15A7F2}"/>
              </a:ext>
            </a:extLst>
          </p:cNvPr>
          <p:cNvSpPr/>
          <p:nvPr/>
        </p:nvSpPr>
        <p:spPr>
          <a:xfrm>
            <a:off x="1570210" y="3516950"/>
            <a:ext cx="9595006" cy="19202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pestaña “Teléfono” se ingresa el detalle de la información que a continuación se indica: </a:t>
            </a:r>
          </a:p>
          <a:p>
            <a:pPr marL="342900" indent="-342900">
              <a:buFont typeface="+mj-lt"/>
              <a:buAutoNum type="arabicPeriod"/>
            </a:pPr>
            <a:r>
              <a:rPr lang="es-ES_tradnl" sz="1400" dirty="0"/>
              <a:t>Tipo de teléfono: seleccione o ingrese el tipo de teléfono que se está incorporando para la empresa</a:t>
            </a:r>
          </a:p>
          <a:p>
            <a:pPr marL="342900" indent="-342900">
              <a:buFont typeface="+mj-lt"/>
              <a:buAutoNum type="arabicPeriod"/>
            </a:pPr>
            <a:r>
              <a:rPr lang="es-ES_tradnl" sz="1400" dirty="0"/>
              <a:t>Número de teléfono: ingrese el número de teléfono. Adicionalmente puede ingresar en el campo extensión, la extensión del teléfono, si aplica.</a:t>
            </a:r>
          </a:p>
          <a:p>
            <a:pPr marL="342900" indent="-342900">
              <a:buFont typeface="+mj-lt"/>
              <a:buAutoNum type="arabicPeriod"/>
            </a:pPr>
            <a:r>
              <a:rPr lang="es-ES_tradnl" sz="1400" dirty="0"/>
              <a:t>Se puede indicar si el teléfono es principal o si se está desactivado.</a:t>
            </a:r>
          </a:p>
          <a:p>
            <a:pPr marL="342900" indent="-342900">
              <a:buFont typeface="+mj-lt"/>
              <a:buAutoNum type="arabicPeriod"/>
            </a:pPr>
            <a:r>
              <a:rPr lang="es-ES_tradnl" sz="1400" dirty="0"/>
              <a:t>Guarde la información</a:t>
            </a:r>
            <a:br>
              <a:rPr lang="es-ES_tradnl" sz="1400" dirty="0"/>
            </a:br>
            <a:endParaRPr lang="es-ES_tradnl" sz="1400" dirty="0"/>
          </a:p>
          <a:p>
            <a:r>
              <a:rPr lang="es-ES_tradnl" sz="1200" dirty="0"/>
              <a:t>Se puede tener varios registros de teléfono (incluso del mismo tipo), insertando nuevos registros por medio del símbolo “</a:t>
            </a:r>
            <a:r>
              <a:rPr lang="es-ES_tradnl" sz="1400" b="1" dirty="0"/>
              <a:t>+</a:t>
            </a:r>
            <a:r>
              <a:rPr lang="es-ES_tradnl" sz="1200" dirty="0"/>
              <a:t>” ubicado en la parte superior de la página. Igualmente se pueden eliminar registros de teléfono haciendo clic sobre el símbolo “</a:t>
            </a:r>
            <a:r>
              <a:rPr lang="es-ES_tradnl" sz="1400" b="1" dirty="0"/>
              <a:t>-</a:t>
            </a:r>
            <a:r>
              <a:rPr lang="es-ES_tradnl" sz="1200" dirty="0"/>
              <a:t>”.</a:t>
            </a:r>
          </a:p>
        </p:txBody>
      </p:sp>
      <p:sp>
        <p:nvSpPr>
          <p:cNvPr id="15" name="Rectángulo redondeado 15">
            <a:extLst>
              <a:ext uri="{FF2B5EF4-FFF2-40B4-BE49-F238E27FC236}">
                <a16:creationId xmlns:a16="http://schemas.microsoft.com/office/drawing/2014/main" id="{B3156767-21BF-597A-AB82-5652E2F36C73}"/>
              </a:ext>
            </a:extLst>
          </p:cNvPr>
          <p:cNvSpPr/>
          <p:nvPr/>
        </p:nvSpPr>
        <p:spPr>
          <a:xfrm>
            <a:off x="3207827" y="2343987"/>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6" name="Rectángulo redondeado 15">
            <a:extLst>
              <a:ext uri="{FF2B5EF4-FFF2-40B4-BE49-F238E27FC236}">
                <a16:creationId xmlns:a16="http://schemas.microsoft.com/office/drawing/2014/main" id="{8F2B3346-239F-9BEF-2362-D5DFE092B43A}"/>
              </a:ext>
            </a:extLst>
          </p:cNvPr>
          <p:cNvSpPr/>
          <p:nvPr/>
        </p:nvSpPr>
        <p:spPr>
          <a:xfrm>
            <a:off x="6845375" y="2078022"/>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7" name="Rectángulo redondeado 15">
            <a:extLst>
              <a:ext uri="{FF2B5EF4-FFF2-40B4-BE49-F238E27FC236}">
                <a16:creationId xmlns:a16="http://schemas.microsoft.com/office/drawing/2014/main" id="{F3FA21B6-0860-8CAB-0D9F-E59BBE9CBA6E}"/>
              </a:ext>
            </a:extLst>
          </p:cNvPr>
          <p:cNvSpPr/>
          <p:nvPr/>
        </p:nvSpPr>
        <p:spPr>
          <a:xfrm>
            <a:off x="3207827" y="2002584"/>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8" name="Rectángulo 17">
            <a:extLst>
              <a:ext uri="{FF2B5EF4-FFF2-40B4-BE49-F238E27FC236}">
                <a16:creationId xmlns:a16="http://schemas.microsoft.com/office/drawing/2014/main" id="{5D2CB698-22FF-80E8-58DA-127863BC60CB}"/>
              </a:ext>
            </a:extLst>
          </p:cNvPr>
          <p:cNvSpPr/>
          <p:nvPr/>
        </p:nvSpPr>
        <p:spPr>
          <a:xfrm>
            <a:off x="987328" y="2002584"/>
            <a:ext cx="1869861" cy="16134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9" name="Rectángulo 18">
            <a:extLst>
              <a:ext uri="{FF2B5EF4-FFF2-40B4-BE49-F238E27FC236}">
                <a16:creationId xmlns:a16="http://schemas.microsoft.com/office/drawing/2014/main" id="{5EB06708-C8CA-853E-4336-BC8372639D6A}"/>
              </a:ext>
            </a:extLst>
          </p:cNvPr>
          <p:cNvSpPr/>
          <p:nvPr/>
        </p:nvSpPr>
        <p:spPr>
          <a:xfrm>
            <a:off x="910394" y="2307182"/>
            <a:ext cx="1891453" cy="4691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85E5E88C-8CC7-5571-3F01-16002149B62A}"/>
              </a:ext>
            </a:extLst>
          </p:cNvPr>
          <p:cNvSpPr/>
          <p:nvPr/>
        </p:nvSpPr>
        <p:spPr>
          <a:xfrm>
            <a:off x="7085846" y="1933810"/>
            <a:ext cx="746939" cy="68449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1" name="Rectángulo redondeado 15">
            <a:extLst>
              <a:ext uri="{FF2B5EF4-FFF2-40B4-BE49-F238E27FC236}">
                <a16:creationId xmlns:a16="http://schemas.microsoft.com/office/drawing/2014/main" id="{C027C2A2-57FD-708E-547E-7DCB99DDFB8F}"/>
              </a:ext>
            </a:extLst>
          </p:cNvPr>
          <p:cNvSpPr/>
          <p:nvPr/>
        </p:nvSpPr>
        <p:spPr>
          <a:xfrm>
            <a:off x="11065844" y="5653450"/>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2" name="Rectángulo 21">
            <a:extLst>
              <a:ext uri="{FF2B5EF4-FFF2-40B4-BE49-F238E27FC236}">
                <a16:creationId xmlns:a16="http://schemas.microsoft.com/office/drawing/2014/main" id="{2FFF936B-09CD-1419-11D4-77AB08470FD5}"/>
              </a:ext>
            </a:extLst>
          </p:cNvPr>
          <p:cNvSpPr/>
          <p:nvPr/>
        </p:nvSpPr>
        <p:spPr>
          <a:xfrm>
            <a:off x="11287549" y="5523398"/>
            <a:ext cx="445540" cy="1908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960138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5EF1D7D-AB2E-1FC2-62BA-04092CDD67A8}"/>
              </a:ext>
            </a:extLst>
          </p:cNvPr>
          <p:cNvPicPr>
            <a:picLocks noChangeAspect="1"/>
          </p:cNvPicPr>
          <p:nvPr/>
        </p:nvPicPr>
        <p:blipFill>
          <a:blip r:embed="rId2"/>
          <a:stretch>
            <a:fillRect/>
          </a:stretch>
        </p:blipFill>
        <p:spPr>
          <a:xfrm>
            <a:off x="609601" y="954157"/>
            <a:ext cx="11343454" cy="498827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general de personas: </a:t>
            </a:r>
            <a:r>
              <a:rPr lang="es-419" sz="3000" dirty="0"/>
              <a:t>Pestaña Biográfica</a:t>
            </a:r>
            <a:endParaRPr lang="es-CL" sz="3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3539648" y="3814807"/>
            <a:ext cx="8203955" cy="137603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pestaña “Biográfica”, se ingresa la siguiente información de la empresa:</a:t>
            </a:r>
          </a:p>
          <a:p>
            <a:pPr marL="342900" indent="-342900">
              <a:buFont typeface="+mj-lt"/>
              <a:buAutoNum type="arabicPeriod"/>
            </a:pPr>
            <a:r>
              <a:rPr lang="es-ES_tradnl" sz="1400" dirty="0"/>
              <a:t>NSS/NIT (en donde se ingresará el RUT de la empresa). Se recomienda ingresarlo en la página GVAADID</a:t>
            </a:r>
          </a:p>
          <a:p>
            <a:pPr marL="342900" indent="-342900">
              <a:buFont typeface="+mj-lt"/>
              <a:buAutoNum type="arabicPeriod"/>
            </a:pPr>
            <a:r>
              <a:rPr lang="es-419" sz="1400" dirty="0"/>
              <a:t>Guarde la información.</a:t>
            </a:r>
            <a:endParaRPr lang="es-ES_tradnl" sz="1400" dirty="0"/>
          </a:p>
        </p:txBody>
      </p:sp>
      <p:sp>
        <p:nvSpPr>
          <p:cNvPr id="8" name="Rectángulo redondeado 15">
            <a:extLst>
              <a:ext uri="{FF2B5EF4-FFF2-40B4-BE49-F238E27FC236}">
                <a16:creationId xmlns:a16="http://schemas.microsoft.com/office/drawing/2014/main" id="{0ED3D02E-19E3-CD1C-DB61-E27DE01F6CAA}"/>
              </a:ext>
            </a:extLst>
          </p:cNvPr>
          <p:cNvSpPr/>
          <p:nvPr/>
        </p:nvSpPr>
        <p:spPr>
          <a:xfrm>
            <a:off x="2862268" y="3175470"/>
            <a:ext cx="189570"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1" name="Rectángulo redondeado 15">
            <a:extLst>
              <a:ext uri="{FF2B5EF4-FFF2-40B4-BE49-F238E27FC236}">
                <a16:creationId xmlns:a16="http://schemas.microsoft.com/office/drawing/2014/main" id="{488BEC69-9171-1436-ABD4-98BAD72AF7DE}"/>
              </a:ext>
            </a:extLst>
          </p:cNvPr>
          <p:cNvSpPr/>
          <p:nvPr/>
        </p:nvSpPr>
        <p:spPr>
          <a:xfrm>
            <a:off x="11035698" y="5652910"/>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2" name="Rectángulo 11">
            <a:extLst>
              <a:ext uri="{FF2B5EF4-FFF2-40B4-BE49-F238E27FC236}">
                <a16:creationId xmlns:a16="http://schemas.microsoft.com/office/drawing/2014/main" id="{04896C5D-BDDB-0037-0BF5-3F7FCE3AE44E}"/>
              </a:ext>
            </a:extLst>
          </p:cNvPr>
          <p:cNvSpPr/>
          <p:nvPr/>
        </p:nvSpPr>
        <p:spPr>
          <a:xfrm>
            <a:off x="11359629" y="5669063"/>
            <a:ext cx="609602" cy="23478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1314002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F2A8EB3-1069-A079-AF93-15C6EE12E7BF}"/>
              </a:ext>
            </a:extLst>
          </p:cNvPr>
          <p:cNvPicPr>
            <a:picLocks noChangeAspect="1"/>
          </p:cNvPicPr>
          <p:nvPr/>
        </p:nvPicPr>
        <p:blipFill>
          <a:blip r:embed="rId2"/>
          <a:stretch>
            <a:fillRect/>
          </a:stretch>
        </p:blipFill>
        <p:spPr>
          <a:xfrm>
            <a:off x="757858" y="1240792"/>
            <a:ext cx="10905664" cy="472693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general de personas</a:t>
            </a:r>
            <a:br>
              <a:rPr lang="es-419" sz="3000" b="1" dirty="0"/>
            </a:br>
            <a:r>
              <a:rPr lang="es-419" sz="2000" b="1" dirty="0"/>
              <a:t>Pestaña Correo electrónico</a:t>
            </a:r>
            <a:endParaRPr lang="es-CL" sz="2000" dirty="0"/>
          </a:p>
        </p:txBody>
      </p:sp>
      <p:sp>
        <p:nvSpPr>
          <p:cNvPr id="13" name="Rectángulo redondeado 5">
            <a:extLst>
              <a:ext uri="{FF2B5EF4-FFF2-40B4-BE49-F238E27FC236}">
                <a16:creationId xmlns:a16="http://schemas.microsoft.com/office/drawing/2014/main" id="{7AEE9169-397D-2540-25D8-62E5CB4683C9}"/>
              </a:ext>
            </a:extLst>
          </p:cNvPr>
          <p:cNvSpPr/>
          <p:nvPr/>
        </p:nvSpPr>
        <p:spPr>
          <a:xfrm>
            <a:off x="995420" y="3194190"/>
            <a:ext cx="10132890" cy="252311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pestaña “Correo electrónico”, ingrese la siguiente información:</a:t>
            </a:r>
          </a:p>
          <a:p>
            <a:pPr marL="342900" indent="-342900">
              <a:buFont typeface="+mj-lt"/>
              <a:buAutoNum type="arabicPeriod"/>
            </a:pPr>
            <a:r>
              <a:rPr lang="es-ES_tradnl" sz="1400" dirty="0"/>
              <a:t>Seleccione el Tipo de correo que va a ingresar a la empresa (Institucional)</a:t>
            </a:r>
          </a:p>
          <a:p>
            <a:pPr marL="342900" indent="-342900">
              <a:buFont typeface="+mj-lt"/>
              <a:buAutoNum type="arabicPeriod"/>
            </a:pPr>
            <a:r>
              <a:rPr lang="es-ES_tradnl" sz="1400" dirty="0"/>
              <a:t>Dirección de correo</a:t>
            </a:r>
          </a:p>
          <a:p>
            <a:pPr marL="342900" indent="-342900">
              <a:buFont typeface="+mj-lt"/>
              <a:buAutoNum type="arabicPeriod"/>
            </a:pPr>
            <a:r>
              <a:rPr lang="es-ES_tradnl" sz="1400" dirty="0"/>
              <a:t>Las opciones presentadas son las siguientes:</a:t>
            </a:r>
          </a:p>
          <a:p>
            <a:pPr marL="800100" lvl="1" indent="-342900">
              <a:buFont typeface="Arial" panose="020B0604020202020204" pitchFamily="34" charset="0"/>
              <a:buChar char="•"/>
            </a:pPr>
            <a:r>
              <a:rPr lang="es-ES_tradnl" sz="1400" dirty="0"/>
              <a:t>Debe activar un correo como “Preferido”  (se marcará el Institucional como preferido)</a:t>
            </a:r>
          </a:p>
          <a:p>
            <a:pPr marL="800100" lvl="1" indent="-342900">
              <a:buFont typeface="Arial" panose="020B0604020202020204" pitchFamily="34" charset="0"/>
              <a:buChar char="•"/>
            </a:pPr>
            <a:r>
              <a:rPr lang="es-ES_tradnl" sz="1400" dirty="0"/>
              <a:t>Para la empresa no aplica Desplegar en web</a:t>
            </a:r>
          </a:p>
          <a:p>
            <a:pPr marL="800100" lvl="1" indent="-342900">
              <a:buFont typeface="Arial" panose="020B0604020202020204" pitchFamily="34" charset="0"/>
              <a:buChar char="•"/>
            </a:pPr>
            <a:r>
              <a:rPr lang="es-ES_tradnl" sz="1400" dirty="0"/>
              <a:t>Puede indicarse si un correo electrónico está inactivo mediante la opción Desactivar, si se desea mantener la bitácora.</a:t>
            </a:r>
          </a:p>
          <a:p>
            <a:r>
              <a:rPr lang="es-ES_tradnl" sz="1200" dirty="0"/>
              <a:t>Se pueden ingresar varios correos electrónicos, insertando más registros por medio del símbolo “</a:t>
            </a:r>
            <a:r>
              <a:rPr lang="es-ES_tradnl" sz="1400" b="1" dirty="0"/>
              <a:t>+</a:t>
            </a:r>
            <a:r>
              <a:rPr lang="es-ES_tradnl" sz="1200" dirty="0"/>
              <a:t>” ubicado en la parte superior de la página. Igualmente se pueden eliminar registros haciendo clic sobre el símbolo “</a:t>
            </a:r>
            <a:r>
              <a:rPr lang="es-ES_tradnl" sz="1400" b="1" dirty="0"/>
              <a:t>-</a:t>
            </a:r>
            <a:r>
              <a:rPr lang="es-ES_tradnl" sz="1200" dirty="0"/>
              <a:t>”.</a:t>
            </a:r>
          </a:p>
        </p:txBody>
      </p:sp>
      <p:sp>
        <p:nvSpPr>
          <p:cNvPr id="14" name="Rectángulo redondeado 15">
            <a:extLst>
              <a:ext uri="{FF2B5EF4-FFF2-40B4-BE49-F238E27FC236}">
                <a16:creationId xmlns:a16="http://schemas.microsoft.com/office/drawing/2014/main" id="{694BCA6E-1253-4558-F4BF-243CB8E280F0}"/>
              </a:ext>
            </a:extLst>
          </p:cNvPr>
          <p:cNvSpPr/>
          <p:nvPr/>
        </p:nvSpPr>
        <p:spPr>
          <a:xfrm>
            <a:off x="757858" y="2178189"/>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5" name="Rectángulo redondeado 15">
            <a:extLst>
              <a:ext uri="{FF2B5EF4-FFF2-40B4-BE49-F238E27FC236}">
                <a16:creationId xmlns:a16="http://schemas.microsoft.com/office/drawing/2014/main" id="{3A65F16E-2C4A-C4CD-8D10-DF9FC43C1E45}"/>
              </a:ext>
            </a:extLst>
          </p:cNvPr>
          <p:cNvSpPr/>
          <p:nvPr/>
        </p:nvSpPr>
        <p:spPr>
          <a:xfrm>
            <a:off x="3417896" y="2432578"/>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6" name="Rectángulo redondeado 15">
            <a:extLst>
              <a:ext uri="{FF2B5EF4-FFF2-40B4-BE49-F238E27FC236}">
                <a16:creationId xmlns:a16="http://schemas.microsoft.com/office/drawing/2014/main" id="{55F1941F-4856-3853-6DF1-80BDD51E9D4C}"/>
              </a:ext>
            </a:extLst>
          </p:cNvPr>
          <p:cNvSpPr/>
          <p:nvPr/>
        </p:nvSpPr>
        <p:spPr>
          <a:xfrm>
            <a:off x="4639271" y="2813384"/>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7" name="Rectángulo 16">
            <a:extLst>
              <a:ext uri="{FF2B5EF4-FFF2-40B4-BE49-F238E27FC236}">
                <a16:creationId xmlns:a16="http://schemas.microsoft.com/office/drawing/2014/main" id="{A2CFAA9C-5172-4EB1-1076-EB42D8DC174C}"/>
              </a:ext>
            </a:extLst>
          </p:cNvPr>
          <p:cNvSpPr/>
          <p:nvPr/>
        </p:nvSpPr>
        <p:spPr>
          <a:xfrm>
            <a:off x="951280" y="2280178"/>
            <a:ext cx="1567633"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34A618EA-6E3A-0756-3490-5944446A84E0}"/>
              </a:ext>
            </a:extLst>
          </p:cNvPr>
          <p:cNvSpPr/>
          <p:nvPr/>
        </p:nvSpPr>
        <p:spPr>
          <a:xfrm>
            <a:off x="928196" y="2432578"/>
            <a:ext cx="2455125"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9" name="Rectángulo 18">
            <a:extLst>
              <a:ext uri="{FF2B5EF4-FFF2-40B4-BE49-F238E27FC236}">
                <a16:creationId xmlns:a16="http://schemas.microsoft.com/office/drawing/2014/main" id="{09983FAA-B1A1-1224-0B7A-555F4C159E9E}"/>
              </a:ext>
            </a:extLst>
          </p:cNvPr>
          <p:cNvSpPr/>
          <p:nvPr/>
        </p:nvSpPr>
        <p:spPr>
          <a:xfrm>
            <a:off x="1681749" y="2813384"/>
            <a:ext cx="2957522" cy="15657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021380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D799FEB-0F69-EAC7-70A6-09ED03A1261A}"/>
              </a:ext>
            </a:extLst>
          </p:cNvPr>
          <p:cNvPicPr>
            <a:picLocks noChangeAspect="1"/>
          </p:cNvPicPr>
          <p:nvPr/>
        </p:nvPicPr>
        <p:blipFill>
          <a:blip r:embed="rId2"/>
          <a:stretch>
            <a:fillRect/>
          </a:stretch>
        </p:blipFill>
        <p:spPr>
          <a:xfrm>
            <a:off x="920594" y="1130061"/>
            <a:ext cx="11073484" cy="476904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jurídica</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general de personas</a:t>
            </a:r>
            <a:br>
              <a:rPr lang="es-419" sz="3000" b="1" dirty="0"/>
            </a:br>
            <a:r>
              <a:rPr lang="es-419" sz="2000" b="1" dirty="0"/>
              <a:t>Pestaña identificación adicional</a:t>
            </a:r>
            <a:endParaRPr lang="es-CL" sz="2000" dirty="0"/>
          </a:p>
        </p:txBody>
      </p:sp>
      <p:sp>
        <p:nvSpPr>
          <p:cNvPr id="6" name="Rectángulo redondeado 5">
            <a:extLst>
              <a:ext uri="{FF2B5EF4-FFF2-40B4-BE49-F238E27FC236}">
                <a16:creationId xmlns:a16="http://schemas.microsoft.com/office/drawing/2014/main" id="{DDB96A1C-A109-CD2F-BF88-F974C01828C6}"/>
              </a:ext>
            </a:extLst>
          </p:cNvPr>
          <p:cNvSpPr/>
          <p:nvPr/>
        </p:nvSpPr>
        <p:spPr>
          <a:xfrm>
            <a:off x="920594" y="3235036"/>
            <a:ext cx="10350812" cy="89361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En esta pestaña aparecerá el documento marcado como actual en la página GVAADID, sólo encontrarán, para aquellas que fueron migradas, el ID Legado (IDL). </a:t>
            </a:r>
          </a:p>
        </p:txBody>
      </p:sp>
    </p:spTree>
    <p:extLst>
      <p:ext uri="{BB962C8B-B14F-4D97-AF65-F5344CB8AC3E}">
        <p14:creationId xmlns:p14="http://schemas.microsoft.com/office/powerpoint/2010/main" val="2159930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DE08C-ABA2-101D-71AC-65A1771A92F0}"/>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127E7213-A6FF-1757-6996-331601CAE3BD}"/>
              </a:ext>
            </a:extLst>
          </p:cNvPr>
          <p:cNvSpPr>
            <a:spLocks noGrp="1"/>
          </p:cNvSpPr>
          <p:nvPr>
            <p:ph type="body" sz="quarter" idx="10"/>
          </p:nvPr>
        </p:nvSpPr>
        <p:spPr>
          <a:xfrm>
            <a:off x="914399" y="2238843"/>
            <a:ext cx="10363202" cy="669094"/>
          </a:xfrm>
        </p:spPr>
        <p:txBody>
          <a:bodyPr vert="horz" lIns="0" tIns="0" rIns="0" bIns="0" rtlCol="0">
            <a:spAutoFit/>
          </a:bodyPr>
          <a:lstStyle/>
          <a:p>
            <a:r>
              <a:rPr lang="es-CL" dirty="0"/>
              <a:t>Datos de cuenta bancaria</a:t>
            </a:r>
            <a:endParaRPr lang="es-419" dirty="0"/>
          </a:p>
        </p:txBody>
      </p:sp>
      <p:sp>
        <p:nvSpPr>
          <p:cNvPr id="4" name="Marcador de texto 3">
            <a:extLst>
              <a:ext uri="{FF2B5EF4-FFF2-40B4-BE49-F238E27FC236}">
                <a16:creationId xmlns:a16="http://schemas.microsoft.com/office/drawing/2014/main" id="{FB157A47-8E96-4CEB-B40C-59C1A9585472}"/>
              </a:ext>
            </a:extLst>
          </p:cNvPr>
          <p:cNvSpPr>
            <a:spLocks noGrp="1"/>
          </p:cNvSpPr>
          <p:nvPr>
            <p:ph type="body" sz="quarter" idx="11"/>
          </p:nvPr>
        </p:nvSpPr>
        <p:spPr/>
        <p:txBody>
          <a:bodyPr/>
          <a:lstStyle/>
          <a:p>
            <a:r>
              <a:rPr lang="es-419" dirty="0"/>
              <a:t>Gestionar persona jurídica</a:t>
            </a:r>
          </a:p>
        </p:txBody>
      </p:sp>
    </p:spTree>
    <p:extLst>
      <p:ext uri="{BB962C8B-B14F-4D97-AF65-F5344CB8AC3E}">
        <p14:creationId xmlns:p14="http://schemas.microsoft.com/office/powerpoint/2010/main" val="33135158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CF17B-A1AD-2A2B-04E6-2E8BC1816F9B}"/>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CD537E62-9756-E1B2-4722-1D54CE8DC431}"/>
              </a:ext>
            </a:extLst>
          </p:cNvPr>
          <p:cNvPicPr>
            <a:picLocks noChangeAspect="1"/>
          </p:cNvPicPr>
          <p:nvPr/>
        </p:nvPicPr>
        <p:blipFill>
          <a:blip r:embed="rId2"/>
          <a:stretch>
            <a:fillRect/>
          </a:stretch>
        </p:blipFill>
        <p:spPr>
          <a:xfrm>
            <a:off x="797523" y="961897"/>
            <a:ext cx="11104593" cy="5060174"/>
          </a:xfrm>
          <a:prstGeom prst="rect">
            <a:avLst/>
          </a:prstGeom>
        </p:spPr>
      </p:pic>
      <p:sp>
        <p:nvSpPr>
          <p:cNvPr id="3" name="Marcador de texto vertical 2">
            <a:extLst>
              <a:ext uri="{FF2B5EF4-FFF2-40B4-BE49-F238E27FC236}">
                <a16:creationId xmlns:a16="http://schemas.microsoft.com/office/drawing/2014/main" id="{04088856-7BB9-89C4-69F0-623E28E9BDA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D3514262-1824-1FF5-F3E2-91BAA4842A98}"/>
              </a:ext>
            </a:extLst>
          </p:cNvPr>
          <p:cNvSpPr>
            <a:spLocks noGrp="1"/>
          </p:cNvSpPr>
          <p:nvPr>
            <p:ph type="title"/>
          </p:nvPr>
        </p:nvSpPr>
        <p:spPr>
          <a:xfrm>
            <a:off x="810247" y="327992"/>
            <a:ext cx="10271883" cy="626165"/>
          </a:xfrm>
        </p:spPr>
        <p:txBody>
          <a:bodyPr/>
          <a:lstStyle/>
          <a:p>
            <a:r>
              <a:rPr lang="es-419" sz="3000" b="1" dirty="0"/>
              <a:t>Datos bancarios</a:t>
            </a:r>
            <a:br>
              <a:rPr lang="es-419" sz="3000" b="1" dirty="0"/>
            </a:br>
            <a:endParaRPr lang="es-CL" sz="2000" dirty="0"/>
          </a:p>
        </p:txBody>
      </p:sp>
      <p:sp>
        <p:nvSpPr>
          <p:cNvPr id="9" name="Rectángulo redondeado 5">
            <a:extLst>
              <a:ext uri="{FF2B5EF4-FFF2-40B4-BE49-F238E27FC236}">
                <a16:creationId xmlns:a16="http://schemas.microsoft.com/office/drawing/2014/main" id="{5A17FE48-E1F1-DA6E-1150-B46A8A00A8D9}"/>
              </a:ext>
            </a:extLst>
          </p:cNvPr>
          <p:cNvSpPr/>
          <p:nvPr/>
        </p:nvSpPr>
        <p:spPr>
          <a:xfrm>
            <a:off x="633214" y="3457024"/>
            <a:ext cx="10625948" cy="257865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La página Destinatario de depósito directo (</a:t>
            </a:r>
            <a:r>
              <a:rPr lang="es-419" sz="1400" dirty="0"/>
              <a:t>GXADIRD) </a:t>
            </a:r>
            <a:r>
              <a:rPr lang="es-ES_tradnl" sz="1400" dirty="0"/>
              <a:t> será puede utilizar para guardar la información de las cuentas bancarias de las empresas,:</a:t>
            </a:r>
          </a:p>
          <a:p>
            <a:pPr marL="342900" indent="-342900">
              <a:buFont typeface="+mj-lt"/>
              <a:buAutoNum type="arabicPeriod"/>
            </a:pPr>
            <a:r>
              <a:rPr lang="es-ES_tradnl" sz="1400" dirty="0"/>
              <a:t>Envío de banco: Seleccione el código que corresponde al banco al que pertenece la cuenta.</a:t>
            </a:r>
          </a:p>
          <a:p>
            <a:pPr marL="342900" indent="-342900">
              <a:buFont typeface="+mj-lt"/>
              <a:buAutoNum type="arabicPeriod"/>
            </a:pPr>
            <a:r>
              <a:rPr lang="es-ES_tradnl" sz="1400" dirty="0"/>
              <a:t>Tipo de dirección de proveedor: Ingrese el tipo de dirección de la persona a la que estará asociada la cuenta bancaria, esta dirección debe tenerla cargada la persona para que sea válida. Este elemento toma importancia si la empresa tiene sucursales, pues las cuentas son diferentes para cada uno.</a:t>
            </a:r>
          </a:p>
          <a:p>
            <a:pPr marL="342900" indent="-342900">
              <a:buFont typeface="+mj-lt"/>
              <a:buAutoNum type="arabicPeriod"/>
            </a:pPr>
            <a:r>
              <a:rPr lang="es-ES_tradnl" sz="1400" dirty="0"/>
              <a:t>Debe ingresar la secuencia que corresponde al tipo de dirección, según lo que tenga la empresa en SPAIDEN (ver diapositiva 27).</a:t>
            </a:r>
          </a:p>
          <a:p>
            <a:pPr marL="342900" indent="-342900">
              <a:buFont typeface="+mj-lt"/>
              <a:buAutoNum type="arabicPeriod"/>
            </a:pPr>
            <a:r>
              <a:rPr lang="es-ES_tradnl" sz="1400" dirty="0"/>
              <a:t>Número de cuenta: ingresar el número de cuenta de la empresa o la sucursal, según corresponda.</a:t>
            </a:r>
          </a:p>
          <a:p>
            <a:pPr marL="342900" indent="-342900">
              <a:buFont typeface="+mj-lt"/>
              <a:buAutoNum type="arabicPeriod"/>
            </a:pPr>
            <a:r>
              <a:rPr lang="es-ES_tradnl" sz="1400" dirty="0"/>
              <a:t>Guarde la información</a:t>
            </a:r>
          </a:p>
          <a:p>
            <a:r>
              <a:rPr lang="es-ES_tradnl" sz="1200" b="1" dirty="0"/>
              <a:t>Nota</a:t>
            </a:r>
            <a:r>
              <a:rPr lang="es-ES_tradnl" sz="1200" dirty="0"/>
              <a:t>: una empresa puede tener más de una cuenta asociada. Para agregar una nueva cuenta, inserte un nuevo registro por medio del símbolo “</a:t>
            </a:r>
            <a:r>
              <a:rPr lang="es-ES_tradnl" sz="1200" b="1" dirty="0"/>
              <a:t>+</a:t>
            </a:r>
            <a:r>
              <a:rPr lang="es-ES_tradnl" sz="1200" dirty="0"/>
              <a:t>” ubicado en la parte superior de la página. Igualmente se pueden eliminar registros haciendo clic sobre el símbolo “</a:t>
            </a:r>
            <a:r>
              <a:rPr lang="es-ES_tradnl" sz="1200" b="1" dirty="0"/>
              <a:t>-</a:t>
            </a:r>
            <a:r>
              <a:rPr lang="es-ES_tradnl" sz="1200" dirty="0"/>
              <a:t>”.</a:t>
            </a:r>
          </a:p>
        </p:txBody>
      </p:sp>
      <p:sp>
        <p:nvSpPr>
          <p:cNvPr id="2" name="Rectángulo redondeado 15">
            <a:extLst>
              <a:ext uri="{FF2B5EF4-FFF2-40B4-BE49-F238E27FC236}">
                <a16:creationId xmlns:a16="http://schemas.microsoft.com/office/drawing/2014/main" id="{CCE0F158-8544-05DF-C582-F28B544E9AD9}"/>
              </a:ext>
            </a:extLst>
          </p:cNvPr>
          <p:cNvSpPr/>
          <p:nvPr/>
        </p:nvSpPr>
        <p:spPr>
          <a:xfrm>
            <a:off x="775007" y="1639496"/>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redondeado 15">
            <a:extLst>
              <a:ext uri="{FF2B5EF4-FFF2-40B4-BE49-F238E27FC236}">
                <a16:creationId xmlns:a16="http://schemas.microsoft.com/office/drawing/2014/main" id="{107843C1-C12F-975A-E9CD-B8D1FC3D158E}"/>
              </a:ext>
            </a:extLst>
          </p:cNvPr>
          <p:cNvSpPr/>
          <p:nvPr/>
        </p:nvSpPr>
        <p:spPr>
          <a:xfrm>
            <a:off x="2278033" y="1932111"/>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1" name="Rectángulo 10">
            <a:extLst>
              <a:ext uri="{FF2B5EF4-FFF2-40B4-BE49-F238E27FC236}">
                <a16:creationId xmlns:a16="http://schemas.microsoft.com/office/drawing/2014/main" id="{338A047C-AEF3-0B86-D07C-A20CB1AA026E}"/>
              </a:ext>
            </a:extLst>
          </p:cNvPr>
          <p:cNvSpPr/>
          <p:nvPr/>
        </p:nvSpPr>
        <p:spPr>
          <a:xfrm>
            <a:off x="986431" y="2092822"/>
            <a:ext cx="1291602" cy="26796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11">
            <a:extLst>
              <a:ext uri="{FF2B5EF4-FFF2-40B4-BE49-F238E27FC236}">
                <a16:creationId xmlns:a16="http://schemas.microsoft.com/office/drawing/2014/main" id="{75804322-2681-050D-863B-1419D954C24A}"/>
              </a:ext>
            </a:extLst>
          </p:cNvPr>
          <p:cNvSpPr/>
          <p:nvPr/>
        </p:nvSpPr>
        <p:spPr>
          <a:xfrm>
            <a:off x="1051083" y="1639498"/>
            <a:ext cx="2047432" cy="14710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3819C765-3B99-9C46-9B3B-8EDF6E85EC75}"/>
              </a:ext>
            </a:extLst>
          </p:cNvPr>
          <p:cNvSpPr/>
          <p:nvPr/>
        </p:nvSpPr>
        <p:spPr>
          <a:xfrm>
            <a:off x="869938" y="1800207"/>
            <a:ext cx="1361634" cy="26796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15">
            <a:extLst>
              <a:ext uri="{FF2B5EF4-FFF2-40B4-BE49-F238E27FC236}">
                <a16:creationId xmlns:a16="http://schemas.microsoft.com/office/drawing/2014/main" id="{A79BA784-6042-AC4A-BD1C-B79B985284CF}"/>
              </a:ext>
            </a:extLst>
          </p:cNvPr>
          <p:cNvSpPr/>
          <p:nvPr/>
        </p:nvSpPr>
        <p:spPr>
          <a:xfrm>
            <a:off x="773522" y="2162438"/>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6" name="Rectángulo redondeado 15">
            <a:extLst>
              <a:ext uri="{FF2B5EF4-FFF2-40B4-BE49-F238E27FC236}">
                <a16:creationId xmlns:a16="http://schemas.microsoft.com/office/drawing/2014/main" id="{71D8FCA2-7B4D-6F07-CD7F-FFD440701238}"/>
              </a:ext>
            </a:extLst>
          </p:cNvPr>
          <p:cNvSpPr/>
          <p:nvPr/>
        </p:nvSpPr>
        <p:spPr>
          <a:xfrm>
            <a:off x="2963831" y="2585397"/>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7" name="Rectángulo 16">
            <a:extLst>
              <a:ext uri="{FF2B5EF4-FFF2-40B4-BE49-F238E27FC236}">
                <a16:creationId xmlns:a16="http://schemas.microsoft.com/office/drawing/2014/main" id="{F0ED5B91-A3F4-0F49-0303-F87A3DC7BA5A}"/>
              </a:ext>
            </a:extLst>
          </p:cNvPr>
          <p:cNvSpPr/>
          <p:nvPr/>
        </p:nvSpPr>
        <p:spPr>
          <a:xfrm>
            <a:off x="869938" y="2518731"/>
            <a:ext cx="2047432" cy="21203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redondeado 15">
            <a:extLst>
              <a:ext uri="{FF2B5EF4-FFF2-40B4-BE49-F238E27FC236}">
                <a16:creationId xmlns:a16="http://schemas.microsoft.com/office/drawing/2014/main" id="{F7A45EC8-D7D0-29BB-CC60-F775EB8E151F}"/>
              </a:ext>
            </a:extLst>
          </p:cNvPr>
          <p:cNvSpPr/>
          <p:nvPr/>
        </p:nvSpPr>
        <p:spPr>
          <a:xfrm>
            <a:off x="11170100" y="5761356"/>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9" name="Rectángulo 18">
            <a:extLst>
              <a:ext uri="{FF2B5EF4-FFF2-40B4-BE49-F238E27FC236}">
                <a16:creationId xmlns:a16="http://schemas.microsoft.com/office/drawing/2014/main" id="{BBFEB23D-67F4-D1B5-FA21-FED30FB4B28D}"/>
              </a:ext>
            </a:extLst>
          </p:cNvPr>
          <p:cNvSpPr/>
          <p:nvPr/>
        </p:nvSpPr>
        <p:spPr>
          <a:xfrm>
            <a:off x="11423471" y="5732610"/>
            <a:ext cx="473407" cy="18192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26336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419" dirty="0"/>
              <a:t>Gestionar persona jurídica</a:t>
            </a:r>
          </a:p>
        </p:txBody>
      </p:sp>
      <p:sp>
        <p:nvSpPr>
          <p:cNvPr id="3" name="Marcador de texto 2">
            <a:extLst>
              <a:ext uri="{FF2B5EF4-FFF2-40B4-BE49-F238E27FC236}">
                <a16:creationId xmlns:a16="http://schemas.microsoft.com/office/drawing/2014/main" id="{4A610FCC-0713-53EF-ADB4-AA53CA5BA34C}"/>
              </a:ext>
            </a:extLst>
          </p:cNvPr>
          <p:cNvSpPr>
            <a:spLocks noGrp="1"/>
          </p:cNvSpPr>
          <p:nvPr>
            <p:ph type="body" sz="quarter" idx="18"/>
          </p:nvPr>
        </p:nvSpPr>
        <p:spPr>
          <a:xfrm>
            <a:off x="797263" y="1580748"/>
            <a:ext cx="10597474" cy="4358629"/>
          </a:xfrm>
        </p:spPr>
        <p:txBody>
          <a:bodyPr/>
          <a:lstStyle/>
          <a:p>
            <a:r>
              <a:rPr lang="es-419" sz="2000" dirty="0"/>
              <a:t>Gestionar persona jurídica</a:t>
            </a:r>
          </a:p>
          <a:p>
            <a:pPr marL="342900" indent="-342900" algn="just">
              <a:buClr>
                <a:srgbClr val="0CB4B4"/>
              </a:buClr>
              <a:buFont typeface="Wingdings" panose="05000000000000000000" pitchFamily="2" charset="2"/>
              <a:buChar char="q"/>
            </a:pPr>
            <a:r>
              <a:rPr lang="es-ES_tradnl" dirty="0"/>
              <a:t>Una persona jurídica (ej: organización o empresa) puede crearse con el ID que se genere automáticamente</a:t>
            </a:r>
            <a:r>
              <a:rPr lang="es-419" sz="2000" dirty="0"/>
              <a:t>. </a:t>
            </a:r>
          </a:p>
          <a:p>
            <a:pPr marL="342900" indent="-342900" algn="just">
              <a:buClr>
                <a:srgbClr val="0CB4B4"/>
              </a:buClr>
              <a:buFont typeface="Wingdings" panose="05000000000000000000" pitchFamily="2" charset="2"/>
              <a:buChar char="q"/>
            </a:pPr>
            <a:r>
              <a:rPr lang="es-ES_tradnl" dirty="0"/>
              <a:t>La institución puede definir reglas de “coincidencia común” para que Banner alerte si la persona jurídica que se está intentado ingresar, está previamente creada o no</a:t>
            </a:r>
            <a:r>
              <a:rPr lang="es-419" sz="2000" dirty="0"/>
              <a:t>. </a:t>
            </a:r>
          </a:p>
          <a:p>
            <a:pPr marL="342900" indent="-342900" algn="just">
              <a:buClr>
                <a:srgbClr val="0CB4B4"/>
              </a:buClr>
              <a:buFont typeface="Wingdings" panose="05000000000000000000" pitchFamily="2" charset="2"/>
              <a:buChar char="q"/>
            </a:pPr>
            <a:r>
              <a:rPr lang="es-ES_tradnl" dirty="0"/>
              <a:t>Una persona jurídica puede tener información como Nombre de la organización, dirección, teléfono, e-mail, entre otros similares</a:t>
            </a:r>
            <a:r>
              <a:rPr lang="es-ES_tradnl" sz="2000" dirty="0"/>
              <a:t>.</a:t>
            </a:r>
            <a:endParaRPr lang="es-419" sz="2000" dirty="0"/>
          </a:p>
        </p:txBody>
      </p:sp>
      <p:sp>
        <p:nvSpPr>
          <p:cNvPr id="7" name="Title 15">
            <a:extLst>
              <a:ext uri="{FF2B5EF4-FFF2-40B4-BE49-F238E27FC236}">
                <a16:creationId xmlns:a16="http://schemas.microsoft.com/office/drawing/2014/main" id="{957F28A3-0E5D-037E-7A5A-BBEFD092D364}"/>
              </a:ext>
            </a:extLst>
          </p:cNvPr>
          <p:cNvSpPr txBox="1">
            <a:spLocks/>
          </p:cNvSpPr>
          <p:nvPr/>
        </p:nvSpPr>
        <p:spPr>
          <a:xfrm>
            <a:off x="955644" y="-201252"/>
            <a:ext cx="7092820" cy="1628192"/>
          </a:xfrm>
          <a:prstGeom prst="rect">
            <a:avLst/>
          </a:prstGeom>
        </p:spPr>
        <p:txBody>
          <a:bodyPr vert="horz" lIns="0" tIns="45720" rIns="91440" bIns="0" rtlCol="0" anchor="b" anchorCtr="0">
            <a:noAutofit/>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r>
              <a:rPr lang="en-US" sz="3600" dirty="0"/>
              <a:t>RESUMEN</a:t>
            </a:r>
          </a:p>
        </p:txBody>
      </p:sp>
    </p:spTree>
    <p:extLst>
      <p:ext uri="{BB962C8B-B14F-4D97-AF65-F5344CB8AC3E}">
        <p14:creationId xmlns:p14="http://schemas.microsoft.com/office/powerpoint/2010/main" val="30517754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noProof="0"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noProof="0" dirty="0"/>
              <a:t>Consultor</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noProof="0" dirty="0"/>
              <a:t>Correo</a:t>
            </a:r>
          </a:p>
        </p:txBody>
      </p:sp>
    </p:spTree>
    <p:extLst>
      <p:ext uri="{BB962C8B-B14F-4D97-AF65-F5344CB8AC3E}">
        <p14:creationId xmlns:p14="http://schemas.microsoft.com/office/powerpoint/2010/main" val="149292278"/>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8439</TotalTime>
  <Words>2009</Words>
  <Application>Microsoft Office PowerPoint</Application>
  <PresentationFormat>Panorámica</PresentationFormat>
  <Paragraphs>223</Paragraphs>
  <Slides>36</Slides>
  <Notes>1</Notes>
  <HiddenSlides>0</HiddenSlides>
  <MMClips>0</MMClips>
  <ScaleCrop>false</ScaleCrop>
  <HeadingPairs>
    <vt:vector size="6" baseType="variant">
      <vt:variant>
        <vt:lpstr>Fuentes usadas</vt:lpstr>
      </vt:variant>
      <vt:variant>
        <vt:i4>7</vt:i4>
      </vt:variant>
      <vt:variant>
        <vt:lpstr>Tema</vt:lpstr>
      </vt:variant>
      <vt:variant>
        <vt:i4>4</vt:i4>
      </vt:variant>
      <vt:variant>
        <vt:lpstr>Títulos de diapositiva</vt:lpstr>
      </vt:variant>
      <vt:variant>
        <vt:i4>36</vt:i4>
      </vt:variant>
    </vt:vector>
  </HeadingPairs>
  <TitlesOfParts>
    <vt:vector size="47" baseType="lpstr">
      <vt:lpstr>Aptos</vt:lpstr>
      <vt:lpstr>Aptos Display</vt:lpstr>
      <vt:lpstr>Arial</vt:lpstr>
      <vt:lpstr>Calibri</vt:lpstr>
      <vt:lpstr>Courier New</vt:lpstr>
      <vt:lpstr>Helvetica Neue</vt:lpstr>
      <vt:lpstr>Wingdings</vt:lpstr>
      <vt:lpstr>Ellucian_April 2025</vt:lpstr>
      <vt:lpstr>Ellucian Blank Layouts</vt:lpstr>
      <vt:lpstr>Ellucian Main Layouts</vt:lpstr>
      <vt:lpstr>1_Ellucian Blank Layouts</vt:lpstr>
      <vt:lpstr>Presentación de PowerPoint</vt:lpstr>
      <vt:lpstr>Presentación de PowerPoint</vt:lpstr>
      <vt:lpstr>Overview</vt:lpstr>
      <vt:lpstr>Overview: Mapa de Capacidades</vt:lpstr>
      <vt:lpstr>Overview: Macroproceso Gestionar la información del estudiante</vt:lpstr>
      <vt:lpstr>Overview: Proceso gestionar persona jurídica</vt:lpstr>
      <vt:lpstr>Presentación de PowerPoint</vt:lpstr>
      <vt:lpstr>Presentación de PowerPoint</vt:lpstr>
      <vt:lpstr>CONFIGURACIONES</vt:lpstr>
      <vt:lpstr>Presentación de PowerPoint</vt:lpstr>
      <vt:lpstr>Configuraciones: GTVCMSC Validación de código de origen de coincidencia común</vt:lpstr>
      <vt:lpstr>Configuraciones: GORCMSC Reglas de origen de coincidencia común</vt:lpstr>
      <vt:lpstr>Configuraciones: GORCMSC Reglas de origen de coincidencia común</vt:lpstr>
      <vt:lpstr>Configuraciones: GORCMSC Reglas de origen de coincidencia común</vt:lpstr>
      <vt:lpstr>Configuraciones: GORCMSC Reglas de origen de coincidencia común</vt:lpstr>
      <vt:lpstr>Configuraciones: GORCMRL Reglas de coincidencia común</vt:lpstr>
      <vt:lpstr>Configuraciones: GORCMRL Reglas de coincidencia común</vt:lpstr>
      <vt:lpstr>Configuraciones: GORCMRL Reglas de coincidencia común</vt:lpstr>
      <vt:lpstr>Configuraciones: GUAINST Controles de instalación</vt:lpstr>
      <vt:lpstr>CREAR EMPRESA</vt:lpstr>
      <vt:lpstr>Presentación de PowerPoint</vt:lpstr>
      <vt:lpstr>Configuraciones: GUAINST Controles de instalación</vt:lpstr>
      <vt:lpstr>SPAIDEN Identificación de general de personas</vt:lpstr>
      <vt:lpstr>SPAIDEN Identificación de general de personas</vt:lpstr>
      <vt:lpstr>INFORMACIÓN DE EMPRESA</vt:lpstr>
      <vt:lpstr>Presentación de PowerPoint</vt:lpstr>
      <vt:lpstr>Identificación de general de personas: Pestaña Dirección</vt:lpstr>
      <vt:lpstr>Identificación de general de personas: Pestaña Dirección</vt:lpstr>
      <vt:lpstr>Identificación de general de personas: Pestaña Teléfono</vt:lpstr>
      <vt:lpstr>Identificación de general de personas: Pestaña Biográfica</vt:lpstr>
      <vt:lpstr>SPAIDEN Identificación de general de personas Pestaña Correo electrónico</vt:lpstr>
      <vt:lpstr>SPAIDEN Identificación de general de personas Pestaña identificación adicional</vt:lpstr>
      <vt:lpstr>Presentación de PowerPoint</vt:lpstr>
      <vt:lpstr>Datos bancarios </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462</cp:revision>
  <dcterms:created xsi:type="dcterms:W3CDTF">2023-07-17T20:07:38Z</dcterms:created>
  <dcterms:modified xsi:type="dcterms:W3CDTF">2026-06-24T23:13:40Z</dcterms:modified>
</cp:coreProperties>
</file>
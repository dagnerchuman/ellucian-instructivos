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8" r:id="rId2"/>
  </p:sldMasterIdLst>
  <p:notesMasterIdLst>
    <p:notesMasterId r:id="rId38"/>
  </p:notesMasterIdLst>
  <p:sldIdLst>
    <p:sldId id="1559" r:id="rId3"/>
    <p:sldId id="423" r:id="rId4"/>
    <p:sldId id="1174" r:id="rId5"/>
    <p:sldId id="1291" r:id="rId6"/>
    <p:sldId id="1259" r:id="rId7"/>
    <p:sldId id="1250" r:id="rId8"/>
    <p:sldId id="1251" r:id="rId9"/>
    <p:sldId id="1119" r:id="rId10"/>
    <p:sldId id="1432" r:id="rId11"/>
    <p:sldId id="1459" r:id="rId12"/>
    <p:sldId id="1604" r:id="rId13"/>
    <p:sldId id="1605" r:id="rId14"/>
    <p:sldId id="1606" r:id="rId15"/>
    <p:sldId id="1607" r:id="rId16"/>
    <p:sldId id="1453" r:id="rId17"/>
    <p:sldId id="1566" r:id="rId18"/>
    <p:sldId id="1587" r:id="rId19"/>
    <p:sldId id="1588" r:id="rId20"/>
    <p:sldId id="1589" r:id="rId21"/>
    <p:sldId id="1591" r:id="rId22"/>
    <p:sldId id="1592" r:id="rId23"/>
    <p:sldId id="1593" r:id="rId24"/>
    <p:sldId id="1594" r:id="rId25"/>
    <p:sldId id="1567" r:id="rId26"/>
    <p:sldId id="1595" r:id="rId27"/>
    <p:sldId id="1596" r:id="rId28"/>
    <p:sldId id="1598" r:id="rId29"/>
    <p:sldId id="1599" r:id="rId30"/>
    <p:sldId id="1600" r:id="rId31"/>
    <p:sldId id="1601" r:id="rId32"/>
    <p:sldId id="1602" r:id="rId33"/>
    <p:sldId id="1603" r:id="rId34"/>
    <p:sldId id="1568" r:id="rId35"/>
    <p:sldId id="1221" r:id="rId36"/>
    <p:sldId id="32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snapToGrid="0">
      <p:cViewPr varScale="1">
        <p:scale>
          <a:sx n="56" d="100"/>
          <a:sy n="56" d="100"/>
        </p:scale>
        <p:origin x="1112" y="20"/>
      </p:cViewPr>
      <p:guideLst/>
    </p:cSldViewPr>
  </p:slideViewPr>
  <p:notesTextViewPr>
    <p:cViewPr>
      <p:scale>
        <a:sx n="1" d="1"/>
        <a:sy n="1" d="1"/>
      </p:scale>
      <p:origin x="0" y="0"/>
    </p:cViewPr>
  </p:notesTextViewPr>
  <p:sorterViewPr>
    <p:cViewPr>
      <p:scale>
        <a:sx n="100" d="100"/>
        <a:sy n="100" d="100"/>
      </p:scale>
      <p:origin x="0" y="-70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5/6/2026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‹Nº›</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9</a:t>
            </a:fld>
            <a:endParaRPr lang="en-US"/>
          </a:p>
        </p:txBody>
      </p:sp>
    </p:spTree>
    <p:extLst>
      <p:ext uri="{BB962C8B-B14F-4D97-AF65-F5344CB8AC3E}">
        <p14:creationId xmlns:p14="http://schemas.microsoft.com/office/powerpoint/2010/main" val="2693348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10</a:t>
            </a:fld>
            <a:endParaRPr lang="en-US"/>
          </a:p>
        </p:txBody>
      </p:sp>
    </p:spTree>
    <p:extLst>
      <p:ext uri="{BB962C8B-B14F-4D97-AF65-F5344CB8AC3E}">
        <p14:creationId xmlns:p14="http://schemas.microsoft.com/office/powerpoint/2010/main" val="865667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2975582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145445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748445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897792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8D37-9F2A-D937-5A7A-24696A751C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02C0BF-9FE3-677F-4BA6-97C1B9F275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8B96A9-BEA7-8636-6750-ADD1B4DE8B5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20D63C-2E0F-2B15-2636-90BD613636E2}"/>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4008975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5B20-3F70-AB12-C90D-FB1B483C71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556560-7653-11EB-7A5A-1A521ABEDF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0C52523-4CC9-F8BD-970E-22B21BA825C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0D1D6D6-51D0-C198-D112-83CE47EB4B8E}"/>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124596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C463-108E-CAF5-C671-6EC3FEED29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DB1A8E-3F40-004C-59DD-581EEBEDA4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F4EBFBD-F15B-B528-9C78-ED30E4FA0BE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828C0EA-555E-4EA0-9175-D443B482612B}"/>
              </a:ext>
            </a:extLst>
          </p:cNvPr>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302525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CA63-1F66-5143-7F9E-6C27B3FC72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8BB523-FC78-90E9-63D8-8838F6F0B6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45C890-9156-F5F3-349B-1554AFDCE93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25B5052-BAD7-99DD-9709-095BA75448B2}"/>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2603105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40771-9403-0AAB-A6A7-56448131FB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A528AB-9783-95D2-7B0F-41345F660B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D3AE4E-CA4E-2F91-3292-DA2D3AC9408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E27B6A5-86B8-BA7F-31F9-5EC599FE2443}"/>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2363855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D5558-A7D4-3537-32ED-417CDF72DF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DA623F-7371-8570-134F-0D86796578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1C51E3-6014-F9F5-5064-4A09AB5D90C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D531553-8969-37DF-5612-BF5304268A45}"/>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177602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AADBC-4538-CA0A-077C-BFBCEF7C9D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6556C5-F441-E5BC-A819-02E5CBF3AE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817FCF-06DA-C8C7-E0CE-40B4B5A24BD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2233A64-4608-3505-8850-95FA90E2A58D}"/>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3024380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E5D1E-B37B-1940-C67E-6F859AC1F8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DEC8E6-4255-BA31-4DB9-687927D4DA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93302D-6392-5F7B-BBE9-A5ECFFF16B6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768769E-57BD-B1C6-5A7E-C0E81308FBCF}"/>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2491613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DE0C6-4D42-A010-32D6-EEEE5CAAEA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116DBF-1B95-7249-D690-9AE761869A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A62C9B-B73D-EA47-FC6A-B1C53501E79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EB6B5BC-5135-8738-E943-4518E4335ABC}"/>
              </a:ext>
            </a:extLst>
          </p:cNvPr>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288995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B1787-E8DD-F401-C626-685DFFD3B8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E52152-C351-03A9-7DA5-D495F9CCA9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995DD7-F454-09F1-ED1C-AAEB5180C36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583B07A-46D0-E8E6-49E9-023705008A6E}"/>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2530890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94606-5895-832C-9010-7C7A5EB511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F1123C-2547-696C-F6D2-1FE7AB0489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6C57B2-AEF3-A646-BDEA-6BED8851F96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4AE7270-2B70-7906-86DF-7AD1D92B91D4}"/>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1932542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7D124-4362-F6D1-AFBC-D01EC58DCF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9F5612-7EF7-DC4B-17D6-443EAABE42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EAD99C-215F-2045-C362-A581FF39077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F036DF9-0CE9-F845-C5F6-57B7EE87EA21}"/>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858576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0155-9ACC-99FE-E4E0-10CC10DBF6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7C295F-2557-ED74-B92A-5F0DC94A4AA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C4DF39-2129-990F-F3B7-8F57F298AD5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2F4B39F-D9DB-C40F-936F-2B8CC73027CF}"/>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6643428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3F54-CCF6-311C-311C-540B9DFB71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00D6C1-159A-07EF-2720-72221BD81D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B244CD2-88D8-A60E-02AD-572E2382A13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D78AB96-6811-E8CC-8317-1442582A4590}"/>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1069561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80BC-247F-AB2A-3D23-8C46FD4338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9CD98E-32DE-0AED-6527-7DCAAC5570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6EFC08C-5AE8-09C1-95C7-48C5E64514E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6DCBE6F-9971-C18D-6BD1-2D77DBD4EFDD}"/>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8805773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FF51D-5926-BB0F-518A-BDCB4F83D4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9E69F9-2BC7-1617-E503-4CFCDDA017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1255EE-2B95-F6D1-7822-CAB3876D5B3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A9E4C43-2E75-6723-52A0-6B37356DECE5}"/>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2438752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665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58354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881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337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50970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9156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54096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182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250144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27983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27364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08131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672705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563683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370508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14573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12613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28043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56395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18937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814772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68849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37763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41246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31658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2604862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69893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13319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78628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8397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68828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915587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3182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8751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‹Nº›</a:t>
            </a:fld>
            <a:endParaRPr lang="es-419"/>
          </a:p>
        </p:txBody>
      </p:sp>
      <p:sp>
        <p:nvSpPr>
          <p:cNvPr id="3" name="Rectángulo 2">
            <a:extLst>
              <a:ext uri="{FF2B5EF4-FFF2-40B4-BE49-F238E27FC236}">
                <a16:creationId xmlns:a16="http://schemas.microsoft.com/office/drawing/2014/main" id="{B87848C8-5306-CCBF-F8E9-C7873EA77EE5}"/>
              </a:ext>
            </a:extLst>
          </p:cNvPr>
          <p:cNvSpPr/>
          <p:nvPr/>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260585537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‹Nº›</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156002014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‹Nº›</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0001765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916208526"/>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39297962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ES"/>
              <a:t>Haga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
              <a:t>Haga clic para modificar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
        <p:nvSpPr>
          <p:cNvPr id="4" name="Title 1">
            <a:extLst>
              <a:ext uri="{FF2B5EF4-FFF2-40B4-BE49-F238E27FC236}">
                <a16:creationId xmlns:a16="http://schemas.microsoft.com/office/drawing/2014/main" id="{E9B053A3-C741-2695-7B05-01BFDE7A5B80}"/>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BE41A77-31F6-FF0D-6E74-C968AED94B81}"/>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F24D042C-5C02-A763-5A59-5F73D288E94E}"/>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2CA09C9E-CFD3-215D-C6A4-FD7FF30D789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3582B5CC-4C0B-326E-6B3E-162D369D0E6A}"/>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313244341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ES"/>
              <a:t>Haga clic para modificar los estilos de texto del patrón</a:t>
            </a:r>
          </a:p>
          <a:p>
            <a:pPr marL="457189" lvl="1" indent="-457189" algn="l" defTabSz="609585" rtl="0" eaLnBrk="1" latinLnBrk="0" hangingPunct="1">
              <a:spcBef>
                <a:spcPts val="1600"/>
              </a:spcBef>
              <a:buFontTx/>
              <a:buNone/>
            </a:pPr>
            <a:r>
              <a:rPr lang="es-ES"/>
              <a:t>Segundo nivel</a:t>
            </a:r>
          </a:p>
          <a:p>
            <a:pPr marL="457189" lvl="2" indent="-457189" algn="l" defTabSz="609585" rtl="0" eaLnBrk="1" latinLnBrk="0" hangingPunct="1">
              <a:spcBef>
                <a:spcPts val="1600"/>
              </a:spcBef>
              <a:buFontTx/>
              <a:buNone/>
            </a:pPr>
            <a:r>
              <a:rPr lang="es-ES"/>
              <a:t>Tercer nivel</a:t>
            </a:r>
          </a:p>
          <a:p>
            <a:pPr marL="457189" lvl="3" indent="-457189" algn="l" defTabSz="609585" rtl="0" eaLnBrk="1" latinLnBrk="0" hangingPunct="1">
              <a:spcBef>
                <a:spcPts val="1600"/>
              </a:spcBef>
              <a:buFontTx/>
              <a:buNone/>
            </a:pPr>
            <a:r>
              <a:rPr lang="es-ES"/>
              <a:t>Cuarto nivel</a:t>
            </a:r>
          </a:p>
          <a:p>
            <a:pPr marL="457189" lvl="4" indent="-457189" algn="l" defTabSz="609585" rtl="0" eaLnBrk="1" latinLnBrk="0" hangingPunct="1">
              <a:spcBef>
                <a:spcPts val="1600"/>
              </a:spcBef>
              <a:buFontTx/>
              <a:buNone/>
            </a:pPr>
            <a:r>
              <a:rPr lang="es-ES"/>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ES"/>
              <a:t>Haga clic para modificar el estilo de título del patrón</a:t>
            </a:r>
            <a:endParaRPr lang="en-US" dirty="0"/>
          </a:p>
        </p:txBody>
      </p:sp>
    </p:spTree>
    <p:extLst>
      <p:ext uri="{BB962C8B-B14F-4D97-AF65-F5344CB8AC3E}">
        <p14:creationId xmlns:p14="http://schemas.microsoft.com/office/powerpoint/2010/main" val="24479068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ES"/>
              <a:t>Haga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90908198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53707597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56608520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5661284"/>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5280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422990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072600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61457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018466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807038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86988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16472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78097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03709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04387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92756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35308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80902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596282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83981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106316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434569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9379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2.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2423776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12" r:id="rId46"/>
    <p:sldLayoutId id="2147483713" r:id="rId47"/>
    <p:sldLayoutId id="2147483714" r:id="rId48"/>
    <p:sldLayoutId id="2147483717" r:id="rId4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088073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35.xml"/><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050630"/>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2" y="1960460"/>
            <a:ext cx="5651066" cy="2607702"/>
          </a:xfrm>
        </p:spPr>
        <p:txBody>
          <a:bodyPr/>
          <a:lstStyle/>
          <a:p>
            <a:pPr>
              <a:spcBef>
                <a:spcPts val="0"/>
              </a:spcBef>
              <a:spcAft>
                <a:spcPts val="600"/>
              </a:spcAft>
            </a:pPr>
            <a:r>
              <a:rPr lang="es-CO" sz="4800" dirty="0">
                <a:solidFill>
                  <a:schemeClr val="bg1"/>
                </a:solidFill>
              </a:rPr>
              <a:t>Gestionar el promedio de estudiantes</a:t>
            </a:r>
            <a:br>
              <a:rPr lang="es-ES" sz="4800" dirty="0">
                <a:solidFill>
                  <a:schemeClr val="bg1"/>
                </a:solidFill>
              </a:rPr>
            </a:br>
            <a:endParaRPr lang="es-ES_tradnl"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311900"/>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a:xfrm>
            <a:off x="12970" y="685800"/>
            <a:ext cx="609600" cy="5486399"/>
          </a:xfrm>
        </p:spPr>
        <p:txBody>
          <a:bodyPr/>
          <a:lstStyle/>
          <a:p>
            <a:r>
              <a:rPr lang="es-CO" dirty="0"/>
              <a:t>Gestionar el promedio de estudiantes</a:t>
            </a:r>
            <a:br>
              <a:rPr lang="es-ES" dirty="0"/>
            </a:b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2" name="Tabla 1">
            <a:extLst>
              <a:ext uri="{FF2B5EF4-FFF2-40B4-BE49-F238E27FC236}">
                <a16:creationId xmlns:a16="http://schemas.microsoft.com/office/drawing/2014/main" id="{50A96836-9A4D-6BF0-B9D3-6C4DC50DD1B4}"/>
              </a:ext>
            </a:extLst>
          </p:cNvPr>
          <p:cNvGraphicFramePr>
            <a:graphicFrameLocks noGrp="1"/>
          </p:cNvGraphicFramePr>
          <p:nvPr>
            <p:extLst>
              <p:ext uri="{D42A27DB-BD31-4B8C-83A1-F6EECF244321}">
                <p14:modId xmlns:p14="http://schemas.microsoft.com/office/powerpoint/2010/main" val="2679032800"/>
              </p:ext>
            </p:extLst>
          </p:nvPr>
        </p:nvGraphicFramePr>
        <p:xfrm>
          <a:off x="1143000" y="1414386"/>
          <a:ext cx="8916155" cy="4235192"/>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358499478"/>
                    </a:ext>
                  </a:extLst>
                </a:gridCol>
                <a:gridCol w="8103140">
                  <a:extLst>
                    <a:ext uri="{9D8B030D-6E8A-4147-A177-3AD203B41FA5}">
                      <a16:colId xmlns:a16="http://schemas.microsoft.com/office/drawing/2014/main" val="2144207271"/>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88328"/>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97843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2400" b="1" dirty="0">
                          <a:solidFill>
                            <a:schemeClr val="bg1"/>
                          </a:solidFill>
                        </a:rPr>
                        <a:t>Establecer reglas para asignaturas con múltiples aprobaciones</a:t>
                      </a:r>
                      <a:endParaRPr lang="es-ES_tradnl" sz="2400" b="1" kern="1200" noProof="0" dirty="0">
                        <a:solidFill>
                          <a:schemeClr val="bg1"/>
                        </a:solidFill>
                        <a:latin typeface="Arial"/>
                        <a:ea typeface="+mn-ea"/>
                        <a:cs typeface="Arial"/>
                      </a:endParaRPr>
                    </a:p>
                  </a:txBody>
                  <a:tcPr marB="73152"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17204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2400" b="1" dirty="0">
                          <a:solidFill>
                            <a:schemeClr val="bg1"/>
                          </a:solidFill>
                        </a:rPr>
                        <a:t>Identificar cursos repetidos</a:t>
                      </a:r>
                      <a:endParaRPr lang="es-ES_tradnl" sz="2400" b="1" kern="1200" noProof="0" dirty="0">
                        <a:solidFill>
                          <a:schemeClr val="bg1"/>
                        </a:solidFill>
                        <a:latin typeface="Arial"/>
                        <a:ea typeface="+mn-ea"/>
                        <a:cs typeface="Arial"/>
                      </a:endParaRPr>
                    </a:p>
                  </a:txBody>
                  <a:tcPr marB="73152"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5609312"/>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2400" b="1" kern="1200" noProof="0">
                          <a:solidFill>
                            <a:schemeClr val="bg1"/>
                          </a:solidFill>
                          <a:latin typeface="Arial"/>
                          <a:ea typeface="+mn-ea"/>
                          <a:cs typeface="Arial"/>
                        </a:rPr>
                        <a:t>Calcular promedios</a:t>
                      </a:r>
                      <a:endParaRPr lang="es-ES_tradnl" sz="2400" b="1" kern="1200" noProof="0" dirty="0">
                        <a:solidFill>
                          <a:schemeClr val="bg1"/>
                        </a:solidFill>
                        <a:latin typeface="Arial"/>
                        <a:ea typeface="+mn-ea"/>
                        <a:cs typeface="Arial"/>
                      </a:endParaRPr>
                    </a:p>
                  </a:txBody>
                  <a:tcPr marB="73152"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011336"/>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06</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Arial"/>
                        </a:rPr>
                        <a:t>Resumen</a:t>
                      </a:r>
                    </a:p>
                  </a:txBody>
                  <a:tcPr marB="73152"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712512"/>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CO" dirty="0"/>
              <a:t>Gestionar el promedio de estudiantes</a:t>
            </a:r>
            <a:br>
              <a:rPr lang="es-ES" dirty="0"/>
            </a:b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r>
              <a:rPr lang="es-CO" sz="2000" dirty="0"/>
              <a:t>Gestionar </a:t>
            </a:r>
            <a:r>
              <a:rPr lang="es-CL" sz="2000" dirty="0"/>
              <a:t>el promedio de estudiantes</a:t>
            </a:r>
            <a:endParaRPr lang="es-ES_tradnl" sz="2000" dirty="0"/>
          </a:p>
          <a:p>
            <a:endParaRPr lang="es-419" dirty="0"/>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13B7A307-5C70-7F03-3580-1D1730644EF5}"/>
              </a:ext>
            </a:extLst>
          </p:cNvPr>
          <p:cNvSpPr>
            <a:spLocks noGrp="1"/>
          </p:cNvSpPr>
          <p:nvPr>
            <p:ph type="body" orient="vert" sz="quarter" idx="17"/>
          </p:nvPr>
        </p:nvSpPr>
        <p:spPr>
          <a:xfrm rot="10800000">
            <a:off x="176463" y="685800"/>
            <a:ext cx="609600" cy="5486399"/>
          </a:xfrm>
        </p:spPr>
        <p:txBody>
          <a:bodyPr/>
          <a:lstStyle/>
          <a:p>
            <a:r>
              <a:rPr lang="es-CO" dirty="0"/>
              <a:t>Gestionar el promedio de estudiantes</a:t>
            </a:r>
            <a:br>
              <a:rPr lang="es-ES" dirty="0"/>
            </a:br>
            <a:endParaRPr lang="es-419" dirty="0"/>
          </a:p>
        </p:txBody>
      </p:sp>
      <p:sp>
        <p:nvSpPr>
          <p:cNvPr id="6" name="Título 5">
            <a:extLst>
              <a:ext uri="{FF2B5EF4-FFF2-40B4-BE49-F238E27FC236}">
                <a16:creationId xmlns:a16="http://schemas.microsoft.com/office/drawing/2014/main" id="{B4C967B7-80CD-9606-C5BF-C3BB1501BB64}"/>
              </a:ext>
            </a:extLst>
          </p:cNvPr>
          <p:cNvSpPr>
            <a:spLocks noGrp="1"/>
          </p:cNvSpPr>
          <p:nvPr>
            <p:ph type="title"/>
          </p:nvPr>
        </p:nvSpPr>
        <p:spPr>
          <a:xfrm>
            <a:off x="1348740" y="925830"/>
            <a:ext cx="8050527" cy="898555"/>
          </a:xfrm>
        </p:spPr>
        <p:txBody>
          <a:bodyPr/>
          <a:lstStyle/>
          <a:p>
            <a:pPr algn="ctr"/>
            <a:r>
              <a:rPr lang="es-ES_tradnl" dirty="0" err="1">
                <a:solidFill>
                  <a:schemeClr val="accent1"/>
                </a:solidFill>
              </a:rPr>
              <a:t>Overview</a:t>
            </a:r>
            <a:r>
              <a:rPr lang="es-ES_tradnl" dirty="0">
                <a:solidFill>
                  <a:schemeClr val="accent1"/>
                </a:solidFill>
              </a:rPr>
              <a:t>: </a:t>
            </a:r>
            <a:r>
              <a:rPr lang="es-CO" b="0" dirty="0">
                <a:solidFill>
                  <a:schemeClr val="accent1"/>
                </a:solidFill>
              </a:rPr>
              <a:t>Gestionar </a:t>
            </a:r>
            <a:r>
              <a:rPr lang="es-CL" b="0" dirty="0">
                <a:solidFill>
                  <a:schemeClr val="accent1"/>
                </a:solidFill>
              </a:rPr>
              <a:t>el promedio de estudiantes</a:t>
            </a:r>
            <a:endParaRPr lang="es-419" dirty="0"/>
          </a:p>
        </p:txBody>
      </p:sp>
      <p:sp>
        <p:nvSpPr>
          <p:cNvPr id="7" name="Title 12">
            <a:extLst>
              <a:ext uri="{FF2B5EF4-FFF2-40B4-BE49-F238E27FC236}">
                <a16:creationId xmlns:a16="http://schemas.microsoft.com/office/drawing/2014/main" id="{8B20F06B-F250-FF66-14E6-D5380447899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endParaRPr lang="es-ES_tradnl" dirty="0"/>
          </a:p>
        </p:txBody>
      </p:sp>
      <p:pic>
        <p:nvPicPr>
          <p:cNvPr id="1026" name="Picture 2">
            <a:extLst>
              <a:ext uri="{FF2B5EF4-FFF2-40B4-BE49-F238E27FC236}">
                <a16:creationId xmlns:a16="http://schemas.microsoft.com/office/drawing/2014/main" id="{A77FF9C2-1CDE-12AE-32C7-D57DF9BAE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208" y="2411729"/>
            <a:ext cx="10850880" cy="2034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96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A8B5C6A-74D6-0564-6174-FA71F86F4809}"/>
              </a:ext>
            </a:extLst>
          </p:cNvPr>
          <p:cNvSpPr>
            <a:spLocks noGrp="1"/>
          </p:cNvSpPr>
          <p:nvPr>
            <p:ph type="body" orient="vert" sz="quarter" idx="17"/>
          </p:nvPr>
        </p:nvSpPr>
        <p:spPr>
          <a:xfrm rot="10800000">
            <a:off x="279940" y="439580"/>
            <a:ext cx="609600" cy="5486399"/>
          </a:xfrm>
        </p:spPr>
        <p:txBody>
          <a:bodyPr/>
          <a:lstStyle/>
          <a:p>
            <a:r>
              <a:rPr lang="es-CO" dirty="0"/>
              <a:t>Gestionar el promedio de estudiantes</a:t>
            </a:r>
            <a:br>
              <a:rPr lang="es-ES" dirty="0"/>
            </a:b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4" name="Imagen 3">
            <a:extLst>
              <a:ext uri="{FF2B5EF4-FFF2-40B4-BE49-F238E27FC236}">
                <a16:creationId xmlns:a16="http://schemas.microsoft.com/office/drawing/2014/main" id="{61C0113A-FF4D-D3F6-A720-86A08D337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199" y="1304259"/>
            <a:ext cx="5235353" cy="5235353"/>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a:xfrm>
            <a:off x="1104901" y="1905002"/>
            <a:ext cx="9974904" cy="4267198"/>
          </a:xfrm>
        </p:spPr>
        <p:txBody>
          <a:bodyPr/>
          <a:lstStyle/>
          <a:p>
            <a:pPr lvl="2" algn="just"/>
            <a:r>
              <a:rPr lang="es-ES_tradnl" dirty="0"/>
              <a:t>Se deben establecer algunos criterios para establecer qué calificaciones deben incluirse o excluirse en el cálculo del promedio.</a:t>
            </a:r>
          </a:p>
          <a:p>
            <a:pPr lvl="2" algn="just"/>
            <a:r>
              <a:rPr lang="es-ES_tradnl" dirty="0"/>
              <a:t>Registro académico es la unidad encargada del proceso del cálculo de promedio y de definir en el sistema los criterios necesarios. </a:t>
            </a:r>
          </a:p>
          <a:p>
            <a:pPr marL="519112" lvl="3" indent="0" algn="just">
              <a:buNone/>
            </a:pPr>
            <a:endParaRPr lang="es-419" dirty="0"/>
          </a:p>
          <a:p>
            <a:pPr marL="0" indent="0">
              <a:buNone/>
            </a:pPr>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a:xfrm rot="10800000">
            <a:off x="167410" y="779982"/>
            <a:ext cx="609600" cy="5486399"/>
          </a:xfrm>
        </p:spPr>
        <p:txBody>
          <a:bodyPr/>
          <a:lstStyle/>
          <a:p>
            <a:r>
              <a:rPr lang="es-CO" dirty="0"/>
              <a:t>Gestionar el promedio de estudiantes</a:t>
            </a:r>
            <a:br>
              <a:rPr lang="es-ES" dirty="0"/>
            </a:br>
            <a:endParaRPr lang="es-419" dirty="0"/>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a:xfrm>
            <a:off x="1547094" y="685800"/>
            <a:ext cx="10477497" cy="898555"/>
          </a:xfrm>
        </p:spPr>
        <p:txBody>
          <a:bodyPr/>
          <a:lstStyle/>
          <a:p>
            <a:r>
              <a:rPr lang="es-ES_tradnl" sz="3467" dirty="0" err="1">
                <a:solidFill>
                  <a:schemeClr val="accent1"/>
                </a:solidFill>
              </a:rPr>
              <a:t>Overview</a:t>
            </a:r>
            <a:r>
              <a:rPr lang="es-ES_tradnl" sz="3467" dirty="0">
                <a:solidFill>
                  <a:schemeClr val="accent1"/>
                </a:solidFill>
              </a:rPr>
              <a:t>: </a:t>
            </a:r>
            <a:r>
              <a:rPr lang="es-CO" b="0" dirty="0">
                <a:solidFill>
                  <a:schemeClr val="accent1"/>
                </a:solidFill>
              </a:rPr>
              <a:t>Gestionar el promedio de estudiantes</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a:xfrm rot="10800000">
            <a:off x="192505" y="685799"/>
            <a:ext cx="609600" cy="5486399"/>
          </a:xfrm>
        </p:spPr>
        <p:txBody>
          <a:bodyPr/>
          <a:lstStyle/>
          <a:p>
            <a:r>
              <a:rPr lang="es-CO" dirty="0"/>
              <a:t>Gestionar el promedio de estudiantes</a:t>
            </a:r>
            <a:br>
              <a:rPr lang="es-ES" dirty="0"/>
            </a:br>
            <a:endParaRPr lang="es-419" dirty="0"/>
          </a:p>
        </p:txBody>
      </p:sp>
      <p:sp>
        <p:nvSpPr>
          <p:cNvPr id="13" name="Title 12"/>
          <p:cNvSpPr>
            <a:spLocks noGrp="1"/>
          </p:cNvSpPr>
          <p:nvPr>
            <p:ph type="title"/>
          </p:nvPr>
        </p:nvSpPr>
        <p:spPr>
          <a:xfrm>
            <a:off x="1521999" y="685799"/>
            <a:ext cx="10477497" cy="898555"/>
          </a:xfrm>
        </p:spPr>
        <p:txBody>
          <a:bodyPr/>
          <a:lstStyle/>
          <a:p>
            <a:r>
              <a:rPr lang="es-ES_tradnl" sz="3467" dirty="0" err="1">
                <a:solidFill>
                  <a:schemeClr val="accent1"/>
                </a:solidFill>
              </a:rPr>
              <a:t>Overview</a:t>
            </a:r>
            <a:r>
              <a:rPr lang="es-ES_tradnl" sz="3467" dirty="0">
                <a:solidFill>
                  <a:schemeClr val="accent1"/>
                </a:solidFill>
              </a:rPr>
              <a:t>: </a:t>
            </a:r>
            <a:r>
              <a:rPr lang="es-CO" b="0" dirty="0">
                <a:solidFill>
                  <a:schemeClr val="accent1"/>
                </a:solidFill>
              </a:rPr>
              <a:t>Gestionar el promedio de estudiante</a:t>
            </a:r>
            <a:endParaRPr lang="es-ES_tradnl" dirty="0">
              <a:solidFill>
                <a:schemeClr val="accent1"/>
              </a:solidFill>
            </a:endParaRPr>
          </a:p>
        </p:txBody>
      </p:sp>
      <p:sp>
        <p:nvSpPr>
          <p:cNvPr id="3" name="Marcador de texto 3">
            <a:extLst>
              <a:ext uri="{FF2B5EF4-FFF2-40B4-BE49-F238E27FC236}">
                <a16:creationId xmlns:a16="http://schemas.microsoft.com/office/drawing/2014/main" id="{C1C5E9EE-7FAC-8194-C47A-7660BA173E2F}"/>
              </a:ext>
            </a:extLst>
          </p:cNvPr>
          <p:cNvSpPr txBox="1">
            <a:spLocks/>
          </p:cNvSpPr>
          <p:nvPr/>
        </p:nvSpPr>
        <p:spPr>
          <a:xfrm>
            <a:off x="1104901" y="1905002"/>
            <a:ext cx="9974904" cy="426719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9113" lvl="2" indent="-176213" algn="just">
              <a:buClr>
                <a:schemeClr val="accent2"/>
              </a:buClr>
              <a:buFont typeface="Arial" panose="020B0604020202020204" pitchFamily="34" charset="0"/>
              <a:buChar char="•"/>
            </a:pPr>
            <a:r>
              <a:rPr lang="es-ES_tradnl" b="1" dirty="0"/>
              <a:t>Periodo: </a:t>
            </a:r>
            <a:r>
              <a:rPr lang="es-ES_tradnl" dirty="0"/>
              <a:t>Los periodos son unidades de tiempo que permiten clasificar, activar o desactivar </a:t>
            </a:r>
            <a:r>
              <a:rPr lang="es-419" dirty="0"/>
              <a:t>diferentes elementos en el sistema.</a:t>
            </a:r>
          </a:p>
          <a:p>
            <a:pPr marL="519113" lvl="2" indent="-176213" algn="just">
              <a:buClr>
                <a:schemeClr val="accent2"/>
              </a:buClr>
              <a:buFont typeface="Arial" panose="020B0604020202020204" pitchFamily="34" charset="0"/>
              <a:buChar char="•"/>
            </a:pPr>
            <a:r>
              <a:rPr lang="es-MX" b="1" dirty="0"/>
              <a:t>Calificación: </a:t>
            </a:r>
            <a:r>
              <a:rPr lang="es-CO" dirty="0"/>
              <a:t>Valoración cuantitativa de las competencias alcanzadas por el estudiante asignado a la actividad desarrolladas.</a:t>
            </a:r>
          </a:p>
          <a:p>
            <a:pPr marL="519113" lvl="2" indent="-176213" algn="just">
              <a:buClr>
                <a:schemeClr val="accent2"/>
              </a:buClr>
              <a:buFont typeface="Arial" panose="020B0604020202020204" pitchFamily="34" charset="0"/>
              <a:buChar char="•"/>
            </a:pPr>
            <a:r>
              <a:rPr lang="es-CO" b="1" dirty="0"/>
              <a:t>Múltiples aprobaciones:</a:t>
            </a:r>
            <a:r>
              <a:rPr lang="es-CO" dirty="0"/>
              <a:t> Se refiere a cuando un estudiante ha aprobado varias veces un mismo curso.</a:t>
            </a:r>
            <a:endParaRPr lang="es-ES_tradnl" dirty="0"/>
          </a:p>
          <a:p>
            <a:pPr marL="519112" lvl="3" indent="0" algn="just">
              <a:buFont typeface="Arial" panose="020B0604020202020204" pitchFamily="34" charset="0"/>
              <a:buNone/>
            </a:pPr>
            <a:endParaRPr lang="es-419" dirty="0"/>
          </a:p>
          <a:p>
            <a:pPr marL="0" indent="0">
              <a:buFont typeface="Arial" panose="020B0604020202020204" pitchFamily="34" charset="0"/>
              <a:buNone/>
            </a:pPr>
            <a:endParaRPr lang="es-419" dirty="0"/>
          </a:p>
        </p:txBody>
      </p:sp>
    </p:spTree>
    <p:extLst>
      <p:ext uri="{BB962C8B-B14F-4D97-AF65-F5344CB8AC3E}">
        <p14:creationId xmlns:p14="http://schemas.microsoft.com/office/powerpoint/2010/main" val="160080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a:xfrm>
            <a:off x="160421" y="685800"/>
            <a:ext cx="609600" cy="5486399"/>
          </a:xfrm>
        </p:spPr>
        <p:txBody>
          <a:bodyPr/>
          <a:lstStyle/>
          <a:p>
            <a:r>
              <a:rPr lang="es-CO" dirty="0"/>
              <a:t>Gestionar el promedio de estudiantes</a:t>
            </a:r>
            <a:br>
              <a:rPr lang="es-ES" dirty="0"/>
            </a:br>
            <a:endParaRPr lang="es-419" dirty="0"/>
          </a:p>
        </p:txBody>
      </p:sp>
      <p:sp>
        <p:nvSpPr>
          <p:cNvPr id="2" name="Title 1"/>
          <p:cNvSpPr>
            <a:spLocks noGrp="1"/>
          </p:cNvSpPr>
          <p:nvPr>
            <p:ph type="title"/>
          </p:nvPr>
        </p:nvSpPr>
        <p:spPr/>
        <p:txBody>
          <a:bodyPr/>
          <a:lstStyle/>
          <a:p>
            <a:r>
              <a:rPr lang="es-ES_tradnl" dirty="0"/>
              <a:t>Establecer reglas para asignaturas con múltiples aprobaciones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r>
              <a:rPr lang="es-419" dirty="0"/>
              <a:t>Para determinar si se incluye o excluye un curso repetido o equivalente del cálculo del promedio</a:t>
            </a:r>
          </a:p>
        </p:txBody>
      </p:sp>
    </p:spTree>
    <p:extLst>
      <p:ext uri="{BB962C8B-B14F-4D97-AF65-F5344CB8AC3E}">
        <p14:creationId xmlns:p14="http://schemas.microsoft.com/office/powerpoint/2010/main" val="1001964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C418F21-0131-5F7D-1B8D-3F3C030734CB}"/>
              </a:ext>
            </a:extLst>
          </p:cNvPr>
          <p:cNvPicPr>
            <a:picLocks noChangeAspect="1"/>
          </p:cNvPicPr>
          <p:nvPr/>
        </p:nvPicPr>
        <p:blipFill>
          <a:blip r:embed="rId3"/>
          <a:stretch>
            <a:fillRect/>
          </a:stretch>
        </p:blipFill>
        <p:spPr>
          <a:xfrm>
            <a:off x="484387" y="1192420"/>
            <a:ext cx="11069995" cy="5054951"/>
          </a:xfrm>
          <a:prstGeom prst="rect">
            <a:avLst/>
          </a:prstGeom>
        </p:spPr>
      </p:pic>
      <p:sp>
        <p:nvSpPr>
          <p:cNvPr id="13" name="Title 12"/>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484387" y="3831673"/>
            <a:ext cx="11084528" cy="174412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67" dirty="0"/>
              <a:t>Active las casillas , según corresponda, si el </a:t>
            </a:r>
            <a:r>
              <a:rPr lang="es-ES_tradnl" sz="1467" b="1" dirty="0"/>
              <a:t>nivel</a:t>
            </a:r>
            <a:r>
              <a:rPr lang="es-ES_tradnl" sz="1467" dirty="0"/>
              <a:t>, el </a:t>
            </a:r>
            <a:r>
              <a:rPr lang="es-ES_tradnl" sz="1467" b="1" dirty="0"/>
              <a:t>título</a:t>
            </a:r>
            <a:r>
              <a:rPr lang="es-ES_tradnl" sz="1467" dirty="0"/>
              <a:t> y/o el </a:t>
            </a:r>
            <a:r>
              <a:rPr lang="es-ES_tradnl" sz="1467" b="1" dirty="0"/>
              <a:t>tipo de horario </a:t>
            </a:r>
            <a:r>
              <a:rPr lang="es-ES_tradnl" sz="1467" dirty="0"/>
              <a:t>de los cursos, según corresponda, deben coincidir para considerarse repetidos.</a:t>
            </a:r>
          </a:p>
          <a:p>
            <a:pPr marL="342900" indent="-342900">
              <a:buFont typeface="+mj-lt"/>
              <a:buAutoNum type="arabicPeriod"/>
            </a:pPr>
            <a:r>
              <a:rPr lang="es-ES_tradnl" sz="1467" dirty="0"/>
              <a:t>Active la casilla </a:t>
            </a:r>
            <a:r>
              <a:rPr lang="es-CO" sz="1467" dirty="0"/>
              <a:t>si los cursos de transferencia se van a evaluar en el procesamiento de repetidos en la inscripción e historia académica.</a:t>
            </a:r>
          </a:p>
          <a:p>
            <a:pPr marL="342900" indent="-342900">
              <a:buFont typeface="+mj-lt"/>
              <a:buAutoNum type="arabicPeriod"/>
            </a:pPr>
            <a:r>
              <a:rPr lang="es-ES_tradnl" sz="1467" dirty="0"/>
              <a:t>Ingrese </a:t>
            </a:r>
            <a:r>
              <a:rPr lang="es-CO" sz="1467" dirty="0"/>
              <a:t>la calificación mínima que el curso debe tener para ser considerado una repetición</a:t>
            </a:r>
            <a:r>
              <a:rPr lang="es-ES_tradnl" sz="1467" dirty="0"/>
              <a:t>.</a:t>
            </a:r>
          </a:p>
          <a:p>
            <a:pPr marL="342900" indent="-342900">
              <a:buFont typeface="+mj-lt"/>
              <a:buAutoNum type="arabicPeriod"/>
            </a:pPr>
            <a:endParaRPr lang="es-ES_tradnl" sz="1467" dirty="0"/>
          </a:p>
          <a:p>
            <a:pPr marL="342900" indent="-342900">
              <a:buFont typeface="+mj-lt"/>
              <a:buAutoNum type="arabicPeriod"/>
            </a:pPr>
            <a:r>
              <a:rPr lang="es-419" sz="1467" dirty="0"/>
              <a:t>Pase al siguiente bloque.</a:t>
            </a:r>
            <a:endParaRPr lang="es-ES_tradnl" sz="1467" dirty="0"/>
          </a:p>
        </p:txBody>
      </p:sp>
      <p:sp>
        <p:nvSpPr>
          <p:cNvPr id="25" name="Rectángulo 24">
            <a:extLst>
              <a:ext uri="{FF2B5EF4-FFF2-40B4-BE49-F238E27FC236}">
                <a16:creationId xmlns:a16="http://schemas.microsoft.com/office/drawing/2014/main" id="{C05F024C-157B-4B78-9C25-998E006664FF}"/>
              </a:ext>
            </a:extLst>
          </p:cNvPr>
          <p:cNvSpPr/>
          <p:nvPr/>
        </p:nvSpPr>
        <p:spPr>
          <a:xfrm>
            <a:off x="1190468" y="2074695"/>
            <a:ext cx="4609821" cy="78166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7" name="Rectángulo redondeado 9">
            <a:extLst>
              <a:ext uri="{FF2B5EF4-FFF2-40B4-BE49-F238E27FC236}">
                <a16:creationId xmlns:a16="http://schemas.microsoft.com/office/drawing/2014/main" id="{DE9A7266-E017-4F4E-AFC7-B382BA6FBED9}"/>
              </a:ext>
            </a:extLst>
          </p:cNvPr>
          <p:cNvSpPr/>
          <p:nvPr/>
        </p:nvSpPr>
        <p:spPr>
          <a:xfrm>
            <a:off x="3928249" y="1654212"/>
            <a:ext cx="382772" cy="3713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a:t>
            </a:r>
          </a:p>
        </p:txBody>
      </p:sp>
      <p:sp>
        <p:nvSpPr>
          <p:cNvPr id="12" name="Rectángulo 11">
            <a:extLst>
              <a:ext uri="{FF2B5EF4-FFF2-40B4-BE49-F238E27FC236}">
                <a16:creationId xmlns:a16="http://schemas.microsoft.com/office/drawing/2014/main" id="{FB2689A6-FCCF-42AD-B70D-D358C38215F2}"/>
              </a:ext>
            </a:extLst>
          </p:cNvPr>
          <p:cNvSpPr/>
          <p:nvPr/>
        </p:nvSpPr>
        <p:spPr>
          <a:xfrm>
            <a:off x="6784560" y="2025603"/>
            <a:ext cx="1758273" cy="23218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16" name="Rectángulo redondeado 9">
            <a:extLst>
              <a:ext uri="{FF2B5EF4-FFF2-40B4-BE49-F238E27FC236}">
                <a16:creationId xmlns:a16="http://schemas.microsoft.com/office/drawing/2014/main" id="{22DF837D-64BD-4D89-AF24-70E345FECFA6}"/>
              </a:ext>
            </a:extLst>
          </p:cNvPr>
          <p:cNvSpPr/>
          <p:nvPr/>
        </p:nvSpPr>
        <p:spPr>
          <a:xfrm>
            <a:off x="7280924" y="1564816"/>
            <a:ext cx="382772" cy="3713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2</a:t>
            </a:r>
          </a:p>
        </p:txBody>
      </p:sp>
      <p:sp>
        <p:nvSpPr>
          <p:cNvPr id="4" name="Marcador de texto vertical 1">
            <a:extLst>
              <a:ext uri="{FF2B5EF4-FFF2-40B4-BE49-F238E27FC236}">
                <a16:creationId xmlns:a16="http://schemas.microsoft.com/office/drawing/2014/main" id="{94849772-500E-943F-DB72-85740FEE90FE}"/>
              </a:ext>
            </a:extLst>
          </p:cNvPr>
          <p:cNvSpPr txBox="1">
            <a:spLocks/>
          </p:cNvSpPr>
          <p:nvPr/>
        </p:nvSpPr>
        <p:spPr>
          <a:xfrm>
            <a:off x="-16042" y="0"/>
            <a:ext cx="609600" cy="5486399"/>
          </a:xfrm>
          <a:prstGeom prst="rect">
            <a:avLst/>
          </a:prstGeom>
        </p:spPr>
        <p:txBody>
          <a:bodyPr vert="vert270"/>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1200" spc="300" dirty="0">
                <a:solidFill>
                  <a:schemeClr val="bg1">
                    <a:lumMod val="50000"/>
                  </a:schemeClr>
                </a:solidFill>
              </a:rPr>
              <a:t>Gestionar el promedio de estudiantes</a:t>
            </a:r>
            <a:br>
              <a:rPr lang="es-ES" dirty="0"/>
            </a:br>
            <a:endParaRPr lang="es-419" dirty="0"/>
          </a:p>
        </p:txBody>
      </p:sp>
      <p:sp>
        <p:nvSpPr>
          <p:cNvPr id="6" name="Rectángulo 5">
            <a:extLst>
              <a:ext uri="{FF2B5EF4-FFF2-40B4-BE49-F238E27FC236}">
                <a16:creationId xmlns:a16="http://schemas.microsoft.com/office/drawing/2014/main" id="{0BFC4895-86E4-D854-5CD5-2FEAFA689F52}"/>
              </a:ext>
            </a:extLst>
          </p:cNvPr>
          <p:cNvSpPr/>
          <p:nvPr/>
        </p:nvSpPr>
        <p:spPr>
          <a:xfrm>
            <a:off x="6300718" y="2257786"/>
            <a:ext cx="1758273" cy="3958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8" name="Rectángulo redondeado 9">
            <a:extLst>
              <a:ext uri="{FF2B5EF4-FFF2-40B4-BE49-F238E27FC236}">
                <a16:creationId xmlns:a16="http://schemas.microsoft.com/office/drawing/2014/main" id="{5D55B624-9E5E-7BEE-6EFD-30FD235B9EF0}"/>
              </a:ext>
            </a:extLst>
          </p:cNvPr>
          <p:cNvSpPr/>
          <p:nvPr/>
        </p:nvSpPr>
        <p:spPr>
          <a:xfrm>
            <a:off x="8109526" y="2641643"/>
            <a:ext cx="382772" cy="3713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3</a:t>
            </a:r>
          </a:p>
        </p:txBody>
      </p:sp>
      <p:sp>
        <p:nvSpPr>
          <p:cNvPr id="9" name="Rectángulo redondeado 9">
            <a:extLst>
              <a:ext uri="{FF2B5EF4-FFF2-40B4-BE49-F238E27FC236}">
                <a16:creationId xmlns:a16="http://schemas.microsoft.com/office/drawing/2014/main" id="{374A2C3B-F17E-5612-C0BA-17CFF76D1CF0}"/>
              </a:ext>
            </a:extLst>
          </p:cNvPr>
          <p:cNvSpPr/>
          <p:nvPr/>
        </p:nvSpPr>
        <p:spPr>
          <a:xfrm>
            <a:off x="484387" y="5613263"/>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4</a:t>
            </a:r>
          </a:p>
        </p:txBody>
      </p:sp>
    </p:spTree>
    <p:extLst>
      <p:ext uri="{BB962C8B-B14F-4D97-AF65-F5344CB8AC3E}">
        <p14:creationId xmlns:p14="http://schemas.microsoft.com/office/powerpoint/2010/main" val="2605902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CDE8DC6-45BA-34BA-6FE9-3E5B741D6182}"/>
              </a:ext>
            </a:extLst>
          </p:cNvPr>
          <p:cNvPicPr>
            <a:picLocks noChangeAspect="1"/>
          </p:cNvPicPr>
          <p:nvPr/>
        </p:nvPicPr>
        <p:blipFill>
          <a:blip r:embed="rId3"/>
          <a:stretch>
            <a:fillRect/>
          </a:stretch>
        </p:blipFill>
        <p:spPr>
          <a:xfrm>
            <a:off x="484387" y="1415144"/>
            <a:ext cx="11069995" cy="5054951"/>
          </a:xfrm>
          <a:prstGeom prst="rect">
            <a:avLst/>
          </a:prstGeom>
        </p:spPr>
      </p:pic>
      <p:sp>
        <p:nvSpPr>
          <p:cNvPr id="24" name="Rectángulo redondeado 5">
            <a:extLst>
              <a:ext uri="{FF2B5EF4-FFF2-40B4-BE49-F238E27FC236}">
                <a16:creationId xmlns:a16="http://schemas.microsoft.com/office/drawing/2014/main" id="{85E73F45-3A19-4DD6-B712-13271ABAC45D}"/>
              </a:ext>
            </a:extLst>
          </p:cNvPr>
          <p:cNvSpPr/>
          <p:nvPr/>
        </p:nvSpPr>
        <p:spPr>
          <a:xfrm>
            <a:off x="484387" y="4676212"/>
            <a:ext cx="11069995" cy="10105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5"/>
            </a:pPr>
            <a:r>
              <a:rPr lang="es-419" sz="1467" dirty="0"/>
              <a:t>Presione para insertar un nuevo registro</a:t>
            </a:r>
            <a:r>
              <a:rPr lang="es-ES_tradnl" sz="1467" dirty="0"/>
              <a:t>.</a:t>
            </a:r>
          </a:p>
          <a:p>
            <a:pPr marL="342900" indent="-342900">
              <a:buFont typeface="+mj-lt"/>
              <a:buAutoNum type="arabicPeriod" startAt="5"/>
            </a:pPr>
            <a:r>
              <a:rPr lang="es-419" sz="1467" dirty="0"/>
              <a:t>Seleccione el </a:t>
            </a:r>
            <a:r>
              <a:rPr lang="es-CO" sz="1467" dirty="0"/>
              <a:t>código del periodo en el que se está definiendo la regla</a:t>
            </a:r>
            <a:r>
              <a:rPr lang="es-419" sz="1467" dirty="0"/>
              <a:t>.</a:t>
            </a:r>
            <a:endParaRPr lang="es-ES_tradnl" sz="1467" dirty="0"/>
          </a:p>
          <a:p>
            <a:pPr marL="342900" indent="-342900">
              <a:buFont typeface="+mj-lt"/>
              <a:buAutoNum type="arabicPeriod" startAt="5"/>
            </a:pPr>
            <a:r>
              <a:rPr lang="es-419" sz="1467" dirty="0"/>
              <a:t>Seleccione el </a:t>
            </a:r>
            <a:r>
              <a:rPr lang="es-CO" sz="1467" dirty="0"/>
              <a:t>código del nivel para el que se está definiendo la regla</a:t>
            </a:r>
            <a:r>
              <a:rPr lang="es-419" sz="1467" dirty="0"/>
              <a:t>.</a:t>
            </a:r>
            <a:endParaRPr lang="es-ES_tradnl" sz="1467" dirty="0"/>
          </a:p>
        </p:txBody>
      </p:sp>
      <p:sp>
        <p:nvSpPr>
          <p:cNvPr id="25" name="Rectángulo 24">
            <a:extLst>
              <a:ext uri="{FF2B5EF4-FFF2-40B4-BE49-F238E27FC236}">
                <a16:creationId xmlns:a16="http://schemas.microsoft.com/office/drawing/2014/main" id="{C05F024C-157B-4B78-9C25-998E006664FF}"/>
              </a:ext>
            </a:extLst>
          </p:cNvPr>
          <p:cNvSpPr/>
          <p:nvPr/>
        </p:nvSpPr>
        <p:spPr>
          <a:xfrm>
            <a:off x="10607039" y="3214543"/>
            <a:ext cx="249569" cy="21445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C667EE2C-E4B4-4111-9986-38D20B973D47}"/>
              </a:ext>
            </a:extLst>
          </p:cNvPr>
          <p:cNvSpPr/>
          <p:nvPr/>
        </p:nvSpPr>
        <p:spPr>
          <a:xfrm>
            <a:off x="484387" y="3672933"/>
            <a:ext cx="567173" cy="38471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redondeado 9">
            <a:extLst>
              <a:ext uri="{FF2B5EF4-FFF2-40B4-BE49-F238E27FC236}">
                <a16:creationId xmlns:a16="http://schemas.microsoft.com/office/drawing/2014/main" id="{CAFE6253-580E-BF5E-02BA-2A49C7A14DF9}"/>
              </a:ext>
            </a:extLst>
          </p:cNvPr>
          <p:cNvSpPr/>
          <p:nvPr/>
        </p:nvSpPr>
        <p:spPr>
          <a:xfrm>
            <a:off x="10556821" y="2834642"/>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5</a:t>
            </a:r>
          </a:p>
        </p:txBody>
      </p:sp>
      <p:sp>
        <p:nvSpPr>
          <p:cNvPr id="5" name="Rectángulo redondeado 9">
            <a:extLst>
              <a:ext uri="{FF2B5EF4-FFF2-40B4-BE49-F238E27FC236}">
                <a16:creationId xmlns:a16="http://schemas.microsoft.com/office/drawing/2014/main" id="{DEFEC060-371D-3726-DC78-6AD71790FC32}"/>
              </a:ext>
            </a:extLst>
          </p:cNvPr>
          <p:cNvSpPr/>
          <p:nvPr/>
        </p:nvSpPr>
        <p:spPr>
          <a:xfrm>
            <a:off x="876558" y="3338895"/>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6</a:t>
            </a:r>
          </a:p>
        </p:txBody>
      </p:sp>
      <p:sp>
        <p:nvSpPr>
          <p:cNvPr id="12" name="Title 12">
            <a:extLst>
              <a:ext uri="{FF2B5EF4-FFF2-40B4-BE49-F238E27FC236}">
                <a16:creationId xmlns:a16="http://schemas.microsoft.com/office/drawing/2014/main" id="{1EEEF041-1168-94A2-4F07-4FE7652CBBFB}"/>
              </a:ext>
            </a:extLst>
          </p:cNvPr>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14" name="Rectángulo 13">
            <a:extLst>
              <a:ext uri="{FF2B5EF4-FFF2-40B4-BE49-F238E27FC236}">
                <a16:creationId xmlns:a16="http://schemas.microsoft.com/office/drawing/2014/main" id="{AB604E6D-5894-48EA-F839-01E26D3197E3}"/>
              </a:ext>
            </a:extLst>
          </p:cNvPr>
          <p:cNvSpPr/>
          <p:nvPr/>
        </p:nvSpPr>
        <p:spPr>
          <a:xfrm>
            <a:off x="1177289" y="3672933"/>
            <a:ext cx="350003" cy="38471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redondeado 9">
            <a:extLst>
              <a:ext uri="{FF2B5EF4-FFF2-40B4-BE49-F238E27FC236}">
                <a16:creationId xmlns:a16="http://schemas.microsoft.com/office/drawing/2014/main" id="{64B6DE5B-31B7-12A8-6956-56378C71D744}"/>
              </a:ext>
            </a:extLst>
          </p:cNvPr>
          <p:cNvSpPr/>
          <p:nvPr/>
        </p:nvSpPr>
        <p:spPr>
          <a:xfrm>
            <a:off x="1192270" y="4140690"/>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7</a:t>
            </a:r>
          </a:p>
        </p:txBody>
      </p:sp>
    </p:spTree>
    <p:extLst>
      <p:ext uri="{BB962C8B-B14F-4D97-AF65-F5344CB8AC3E}">
        <p14:creationId xmlns:p14="http://schemas.microsoft.com/office/powerpoint/2010/main" val="1316698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CDE8DC6-45BA-34BA-6FE9-3E5B741D6182}"/>
              </a:ext>
            </a:extLst>
          </p:cNvPr>
          <p:cNvPicPr>
            <a:picLocks noChangeAspect="1"/>
          </p:cNvPicPr>
          <p:nvPr/>
        </p:nvPicPr>
        <p:blipFill>
          <a:blip r:embed="rId3"/>
          <a:stretch>
            <a:fillRect/>
          </a:stretch>
        </p:blipFill>
        <p:spPr>
          <a:xfrm>
            <a:off x="484387" y="1415144"/>
            <a:ext cx="11069995" cy="5054951"/>
          </a:xfrm>
          <a:prstGeom prst="rect">
            <a:avLst/>
          </a:prstGeom>
        </p:spPr>
      </p:pic>
      <p:sp>
        <p:nvSpPr>
          <p:cNvPr id="24" name="Rectángulo redondeado 5">
            <a:extLst>
              <a:ext uri="{FF2B5EF4-FFF2-40B4-BE49-F238E27FC236}">
                <a16:creationId xmlns:a16="http://schemas.microsoft.com/office/drawing/2014/main" id="{85E73F45-3A19-4DD6-B712-13271ABAC45D}"/>
              </a:ext>
            </a:extLst>
          </p:cNvPr>
          <p:cNvSpPr/>
          <p:nvPr/>
        </p:nvSpPr>
        <p:spPr>
          <a:xfrm>
            <a:off x="404377" y="4377006"/>
            <a:ext cx="11069995" cy="16445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8"/>
            </a:pPr>
            <a:r>
              <a:rPr lang="es-CO" sz="1467" dirty="0"/>
              <a:t>Esta regla de selección define qué curso(s) se incluirá(n) en las horas ganadas</a:t>
            </a:r>
          </a:p>
          <a:p>
            <a:r>
              <a:rPr lang="es-CO" sz="1467" dirty="0"/>
              <a:t>y aprobadas del alumno cuando existan condiciones de inscripción o aprobación  múltiple. Las opciones son:</a:t>
            </a:r>
          </a:p>
          <a:p>
            <a:pPr marL="228594" indent="-228594">
              <a:buFont typeface="Arial" panose="020B0604020202020204" pitchFamily="34" charset="0"/>
              <a:buChar char="•"/>
            </a:pPr>
            <a:r>
              <a:rPr lang="es-CO" sz="1467" b="1" dirty="0"/>
              <a:t>Primera aprobatoria</a:t>
            </a:r>
            <a:r>
              <a:rPr lang="es-CO" sz="1467" dirty="0"/>
              <a:t>: La primera ocurrencia del curso con calificación aprobada contará.</a:t>
            </a:r>
          </a:p>
          <a:p>
            <a:pPr marL="228594" indent="-228594">
              <a:buFont typeface="Arial" panose="020B0604020202020204" pitchFamily="34" charset="0"/>
              <a:buChar char="•"/>
            </a:pPr>
            <a:r>
              <a:rPr lang="es-CO" sz="1467" b="1" dirty="0"/>
              <a:t>Máxima</a:t>
            </a:r>
            <a:r>
              <a:rPr lang="es-CO" sz="1467" dirty="0"/>
              <a:t>: El curso con la calificación máxima contará.</a:t>
            </a:r>
          </a:p>
          <a:p>
            <a:pPr marL="228594" indent="-228594">
              <a:buFont typeface="Arial" panose="020B0604020202020204" pitchFamily="34" charset="0"/>
              <a:buChar char="•"/>
            </a:pPr>
            <a:r>
              <a:rPr lang="es-CO" sz="1467" b="1" dirty="0"/>
              <a:t>Última</a:t>
            </a:r>
            <a:r>
              <a:rPr lang="es-CO" sz="1467" dirty="0"/>
              <a:t>: La última ocurrencia del curso contará</a:t>
            </a:r>
          </a:p>
          <a:p>
            <a:pPr marL="228594" indent="-228594">
              <a:buFont typeface="Arial" panose="020B0604020202020204" pitchFamily="34" charset="0"/>
              <a:buChar char="•"/>
            </a:pPr>
            <a:r>
              <a:rPr lang="es-CO" sz="1467" b="1" dirty="0"/>
              <a:t>Mayor o última</a:t>
            </a:r>
            <a:r>
              <a:rPr lang="es-CO" sz="1467" dirty="0"/>
              <a:t>: La ocurrencia mayor o última del curso se contará.</a:t>
            </a:r>
          </a:p>
          <a:p>
            <a:r>
              <a:rPr lang="es-CO" sz="1333" dirty="0"/>
              <a:t>Esta regla se usa cuando hay un límite de repetición definido para el curso.</a:t>
            </a:r>
          </a:p>
        </p:txBody>
      </p:sp>
      <p:sp>
        <p:nvSpPr>
          <p:cNvPr id="12" name="Title 12">
            <a:extLst>
              <a:ext uri="{FF2B5EF4-FFF2-40B4-BE49-F238E27FC236}">
                <a16:creationId xmlns:a16="http://schemas.microsoft.com/office/drawing/2014/main" id="{1EEEF041-1168-94A2-4F07-4FE7652CBBFB}"/>
              </a:ext>
            </a:extLst>
          </p:cNvPr>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14" name="Rectángulo 13">
            <a:extLst>
              <a:ext uri="{FF2B5EF4-FFF2-40B4-BE49-F238E27FC236}">
                <a16:creationId xmlns:a16="http://schemas.microsoft.com/office/drawing/2014/main" id="{AB604E6D-5894-48EA-F839-01E26D3197E3}"/>
              </a:ext>
            </a:extLst>
          </p:cNvPr>
          <p:cNvSpPr/>
          <p:nvPr/>
        </p:nvSpPr>
        <p:spPr>
          <a:xfrm>
            <a:off x="1657349" y="3429000"/>
            <a:ext cx="1497331" cy="71169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redondeado 9">
            <a:extLst>
              <a:ext uri="{FF2B5EF4-FFF2-40B4-BE49-F238E27FC236}">
                <a16:creationId xmlns:a16="http://schemas.microsoft.com/office/drawing/2014/main" id="{64B6DE5B-31B7-12A8-6956-56378C71D744}"/>
              </a:ext>
            </a:extLst>
          </p:cNvPr>
          <p:cNvSpPr/>
          <p:nvPr/>
        </p:nvSpPr>
        <p:spPr>
          <a:xfrm>
            <a:off x="2231012" y="2985232"/>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8</a:t>
            </a:r>
          </a:p>
        </p:txBody>
      </p:sp>
    </p:spTree>
    <p:extLst>
      <p:ext uri="{BB962C8B-B14F-4D97-AF65-F5344CB8AC3E}">
        <p14:creationId xmlns:p14="http://schemas.microsoft.com/office/powerpoint/2010/main" val="3929831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CDE8DC6-45BA-34BA-6FE9-3E5B741D6182}"/>
              </a:ext>
            </a:extLst>
          </p:cNvPr>
          <p:cNvPicPr>
            <a:picLocks noChangeAspect="1"/>
          </p:cNvPicPr>
          <p:nvPr/>
        </p:nvPicPr>
        <p:blipFill>
          <a:blip r:embed="rId3"/>
          <a:stretch>
            <a:fillRect/>
          </a:stretch>
        </p:blipFill>
        <p:spPr>
          <a:xfrm>
            <a:off x="484387" y="1415144"/>
            <a:ext cx="11069995" cy="5054951"/>
          </a:xfrm>
          <a:prstGeom prst="rect">
            <a:avLst/>
          </a:prstGeom>
        </p:spPr>
      </p:pic>
      <p:sp>
        <p:nvSpPr>
          <p:cNvPr id="24" name="Rectángulo redondeado 5">
            <a:extLst>
              <a:ext uri="{FF2B5EF4-FFF2-40B4-BE49-F238E27FC236}">
                <a16:creationId xmlns:a16="http://schemas.microsoft.com/office/drawing/2014/main" id="{85E73F45-3A19-4DD6-B712-13271ABAC45D}"/>
              </a:ext>
            </a:extLst>
          </p:cNvPr>
          <p:cNvSpPr/>
          <p:nvPr/>
        </p:nvSpPr>
        <p:spPr>
          <a:xfrm>
            <a:off x="404377" y="4377006"/>
            <a:ext cx="11069995" cy="16445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9"/>
            </a:pPr>
            <a:r>
              <a:rPr lang="es-CO" sz="1400" dirty="0"/>
              <a:t>Indique la calificación mínima que puede tener un curso para ser tomado en la revisión de repetidos en el período y nivel que se está definiendo en la regla.</a:t>
            </a:r>
          </a:p>
          <a:p>
            <a:pPr marL="342900" indent="-342900">
              <a:buFont typeface="+mj-lt"/>
              <a:buAutoNum type="arabicPeriod" startAt="10"/>
            </a:pPr>
            <a:r>
              <a:rPr lang="es-CO" sz="1400" dirty="0"/>
              <a:t>Indique cómo los cursos repetidos se tratarán en el cálculo de horas y de PGA, según la regla de selección definida:</a:t>
            </a:r>
          </a:p>
          <a:p>
            <a:pPr marL="228594" indent="-228594">
              <a:buFont typeface="Arial" panose="020B0604020202020204" pitchFamily="34" charset="0"/>
              <a:buChar char="•"/>
            </a:pPr>
            <a:r>
              <a:rPr lang="es-CO" sz="1400" b="1" dirty="0"/>
              <a:t>Todo</a:t>
            </a:r>
            <a:r>
              <a:rPr lang="es-CO" sz="1400" dirty="0"/>
              <a:t>: Todos los cursos cuentan en el cálculo del promedio</a:t>
            </a:r>
            <a:r>
              <a:rPr lang="es-ES_tradnl" sz="1400" dirty="0"/>
              <a:t>.</a:t>
            </a:r>
          </a:p>
          <a:p>
            <a:pPr marL="228594" indent="-228594">
              <a:buFont typeface="Arial" panose="020B0604020202020204" pitchFamily="34" charset="0"/>
              <a:buChar char="•"/>
            </a:pPr>
            <a:r>
              <a:rPr lang="es-ES_tradnl" sz="1400" b="1" dirty="0"/>
              <a:t>Seleccionado</a:t>
            </a:r>
            <a:r>
              <a:rPr lang="es-ES_tradnl" sz="1400" dirty="0"/>
              <a:t>: se incluirán solo los cursos que surjan de la regla anterior en el cálculo del promedio.</a:t>
            </a:r>
          </a:p>
          <a:p>
            <a:pPr marL="342900" indent="-342900">
              <a:buFont typeface="+mj-lt"/>
              <a:buAutoNum type="arabicPeriod" startAt="9"/>
            </a:pPr>
            <a:endParaRPr lang="es-CO" sz="1333" dirty="0"/>
          </a:p>
        </p:txBody>
      </p:sp>
      <p:sp>
        <p:nvSpPr>
          <p:cNvPr id="12" name="Title 12">
            <a:extLst>
              <a:ext uri="{FF2B5EF4-FFF2-40B4-BE49-F238E27FC236}">
                <a16:creationId xmlns:a16="http://schemas.microsoft.com/office/drawing/2014/main" id="{1EEEF041-1168-94A2-4F07-4FE7652CBBFB}"/>
              </a:ext>
            </a:extLst>
          </p:cNvPr>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14" name="Rectángulo 13">
            <a:extLst>
              <a:ext uri="{FF2B5EF4-FFF2-40B4-BE49-F238E27FC236}">
                <a16:creationId xmlns:a16="http://schemas.microsoft.com/office/drawing/2014/main" id="{AB604E6D-5894-48EA-F839-01E26D3197E3}"/>
              </a:ext>
            </a:extLst>
          </p:cNvPr>
          <p:cNvSpPr/>
          <p:nvPr/>
        </p:nvSpPr>
        <p:spPr>
          <a:xfrm>
            <a:off x="3154679" y="3402599"/>
            <a:ext cx="1931671" cy="63219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redondeado 9">
            <a:extLst>
              <a:ext uri="{FF2B5EF4-FFF2-40B4-BE49-F238E27FC236}">
                <a16:creationId xmlns:a16="http://schemas.microsoft.com/office/drawing/2014/main" id="{64B6DE5B-31B7-12A8-6956-56378C71D744}"/>
              </a:ext>
            </a:extLst>
          </p:cNvPr>
          <p:cNvSpPr/>
          <p:nvPr/>
        </p:nvSpPr>
        <p:spPr>
          <a:xfrm>
            <a:off x="3945512" y="3019324"/>
            <a:ext cx="350003"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9</a:t>
            </a:r>
          </a:p>
        </p:txBody>
      </p:sp>
      <p:sp>
        <p:nvSpPr>
          <p:cNvPr id="3" name="Rectángulo 2">
            <a:extLst>
              <a:ext uri="{FF2B5EF4-FFF2-40B4-BE49-F238E27FC236}">
                <a16:creationId xmlns:a16="http://schemas.microsoft.com/office/drawing/2014/main" id="{492C7DB9-D369-BBD5-D6C1-27DAE063807B}"/>
              </a:ext>
            </a:extLst>
          </p:cNvPr>
          <p:cNvSpPr/>
          <p:nvPr/>
        </p:nvSpPr>
        <p:spPr>
          <a:xfrm>
            <a:off x="5086351" y="3402598"/>
            <a:ext cx="1485900" cy="63219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redondeado 9">
            <a:extLst>
              <a:ext uri="{FF2B5EF4-FFF2-40B4-BE49-F238E27FC236}">
                <a16:creationId xmlns:a16="http://schemas.microsoft.com/office/drawing/2014/main" id="{FD76A17A-13F0-A368-74C1-E5CFD5F5ACFB}"/>
              </a:ext>
            </a:extLst>
          </p:cNvPr>
          <p:cNvSpPr/>
          <p:nvPr/>
        </p:nvSpPr>
        <p:spPr>
          <a:xfrm>
            <a:off x="5654299" y="3019324"/>
            <a:ext cx="441701"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10</a:t>
            </a:r>
          </a:p>
        </p:txBody>
      </p:sp>
    </p:spTree>
    <p:extLst>
      <p:ext uri="{BB962C8B-B14F-4D97-AF65-F5344CB8AC3E}">
        <p14:creationId xmlns:p14="http://schemas.microsoft.com/office/powerpoint/2010/main" val="2607845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CDE8DC6-45BA-34BA-6FE9-3E5B741D6182}"/>
              </a:ext>
            </a:extLst>
          </p:cNvPr>
          <p:cNvPicPr>
            <a:picLocks noChangeAspect="1"/>
          </p:cNvPicPr>
          <p:nvPr/>
        </p:nvPicPr>
        <p:blipFill>
          <a:blip r:embed="rId3"/>
          <a:stretch>
            <a:fillRect/>
          </a:stretch>
        </p:blipFill>
        <p:spPr>
          <a:xfrm>
            <a:off x="484387" y="1415144"/>
            <a:ext cx="11069995" cy="5054951"/>
          </a:xfrm>
          <a:prstGeom prst="rect">
            <a:avLst/>
          </a:prstGeom>
        </p:spPr>
      </p:pic>
      <p:sp>
        <p:nvSpPr>
          <p:cNvPr id="24" name="Rectángulo redondeado 5">
            <a:extLst>
              <a:ext uri="{FF2B5EF4-FFF2-40B4-BE49-F238E27FC236}">
                <a16:creationId xmlns:a16="http://schemas.microsoft.com/office/drawing/2014/main" id="{85E73F45-3A19-4DD6-B712-13271ABAC45D}"/>
              </a:ext>
            </a:extLst>
          </p:cNvPr>
          <p:cNvSpPr/>
          <p:nvPr/>
        </p:nvSpPr>
        <p:spPr>
          <a:xfrm>
            <a:off x="404377" y="4377006"/>
            <a:ext cx="11069995" cy="17609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11"/>
            </a:pPr>
            <a:r>
              <a:rPr lang="es-CO" sz="1400" dirty="0"/>
              <a:t>Esta regla de selección define qué curso(s) se incluirá(n) en las horas ganadas</a:t>
            </a:r>
          </a:p>
          <a:p>
            <a:r>
              <a:rPr lang="es-CO" sz="1400" dirty="0"/>
              <a:t>y aprobadas del alumno cuando existan condiciones de inscripción o aprobación  múltiple. Las opciones son:</a:t>
            </a:r>
          </a:p>
          <a:p>
            <a:pPr marL="228594" indent="-228594">
              <a:buFont typeface="Arial" panose="020B0604020202020204" pitchFamily="34" charset="0"/>
              <a:buChar char="•"/>
            </a:pPr>
            <a:r>
              <a:rPr lang="es-CO" sz="1400" b="1" dirty="0"/>
              <a:t>Primera aprobatoria</a:t>
            </a:r>
            <a:r>
              <a:rPr lang="es-CO" sz="1400" dirty="0"/>
              <a:t>: La primera ocurrencia del curso con calificación aprobada contará.</a:t>
            </a:r>
          </a:p>
          <a:p>
            <a:pPr marL="228594" indent="-228594">
              <a:buFont typeface="Arial" panose="020B0604020202020204" pitchFamily="34" charset="0"/>
              <a:buChar char="•"/>
            </a:pPr>
            <a:r>
              <a:rPr lang="es-CO" sz="1400" b="1" dirty="0"/>
              <a:t>Máxima</a:t>
            </a:r>
            <a:r>
              <a:rPr lang="es-CO" sz="1400" dirty="0"/>
              <a:t>: El curso con la calificación máxima contará.</a:t>
            </a:r>
          </a:p>
          <a:p>
            <a:pPr marL="228594" indent="-228594">
              <a:buFont typeface="Arial" panose="020B0604020202020204" pitchFamily="34" charset="0"/>
              <a:buChar char="•"/>
            </a:pPr>
            <a:r>
              <a:rPr lang="es-CO" sz="1400" b="1" dirty="0"/>
              <a:t>Última</a:t>
            </a:r>
            <a:r>
              <a:rPr lang="es-CO" sz="1400" dirty="0"/>
              <a:t>: La última ocurrencia del curso contará</a:t>
            </a:r>
          </a:p>
          <a:p>
            <a:pPr marL="228594" indent="-228594">
              <a:buFont typeface="Arial" panose="020B0604020202020204" pitchFamily="34" charset="0"/>
              <a:buChar char="•"/>
            </a:pPr>
            <a:r>
              <a:rPr lang="es-CO" sz="1400" b="1" dirty="0"/>
              <a:t>Mayor o última</a:t>
            </a:r>
            <a:r>
              <a:rPr lang="es-CO" sz="1400" dirty="0"/>
              <a:t>: La ocurrencia mayor o última del curso se contará.</a:t>
            </a:r>
          </a:p>
          <a:p>
            <a:r>
              <a:rPr lang="es-CO" sz="1400" dirty="0"/>
              <a:t>Esta regla se usa cuando hay un número máximo de horas que se pueden ganar .</a:t>
            </a:r>
          </a:p>
          <a:p>
            <a:pPr marL="342900" indent="-342900">
              <a:buFont typeface="+mj-lt"/>
              <a:buAutoNum type="arabicPeriod" startAt="11"/>
            </a:pPr>
            <a:endParaRPr lang="es-CO" sz="1333" dirty="0"/>
          </a:p>
        </p:txBody>
      </p:sp>
      <p:sp>
        <p:nvSpPr>
          <p:cNvPr id="12" name="Title 12">
            <a:extLst>
              <a:ext uri="{FF2B5EF4-FFF2-40B4-BE49-F238E27FC236}">
                <a16:creationId xmlns:a16="http://schemas.microsoft.com/office/drawing/2014/main" id="{1EEEF041-1168-94A2-4F07-4FE7652CBBFB}"/>
              </a:ext>
            </a:extLst>
          </p:cNvPr>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14" name="Rectángulo 13">
            <a:extLst>
              <a:ext uri="{FF2B5EF4-FFF2-40B4-BE49-F238E27FC236}">
                <a16:creationId xmlns:a16="http://schemas.microsoft.com/office/drawing/2014/main" id="{AB604E6D-5894-48EA-F839-01E26D3197E3}"/>
              </a:ext>
            </a:extLst>
          </p:cNvPr>
          <p:cNvSpPr/>
          <p:nvPr/>
        </p:nvSpPr>
        <p:spPr>
          <a:xfrm>
            <a:off x="6595110" y="3402597"/>
            <a:ext cx="1485901" cy="63219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redondeado 9">
            <a:extLst>
              <a:ext uri="{FF2B5EF4-FFF2-40B4-BE49-F238E27FC236}">
                <a16:creationId xmlns:a16="http://schemas.microsoft.com/office/drawing/2014/main" id="{64B6DE5B-31B7-12A8-6956-56378C71D744}"/>
              </a:ext>
            </a:extLst>
          </p:cNvPr>
          <p:cNvSpPr/>
          <p:nvPr/>
        </p:nvSpPr>
        <p:spPr>
          <a:xfrm>
            <a:off x="7163058" y="3052745"/>
            <a:ext cx="441701"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11</a:t>
            </a:r>
          </a:p>
        </p:txBody>
      </p:sp>
    </p:spTree>
    <p:extLst>
      <p:ext uri="{BB962C8B-B14F-4D97-AF65-F5344CB8AC3E}">
        <p14:creationId xmlns:p14="http://schemas.microsoft.com/office/powerpoint/2010/main" val="1617624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CDE8DC6-45BA-34BA-6FE9-3E5B741D6182}"/>
              </a:ext>
            </a:extLst>
          </p:cNvPr>
          <p:cNvPicPr>
            <a:picLocks noChangeAspect="1"/>
          </p:cNvPicPr>
          <p:nvPr/>
        </p:nvPicPr>
        <p:blipFill>
          <a:blip r:embed="rId3"/>
          <a:stretch>
            <a:fillRect/>
          </a:stretch>
        </p:blipFill>
        <p:spPr>
          <a:xfrm>
            <a:off x="484387" y="1415144"/>
            <a:ext cx="11069995" cy="5054951"/>
          </a:xfrm>
          <a:prstGeom prst="rect">
            <a:avLst/>
          </a:prstGeom>
        </p:spPr>
      </p:pic>
      <p:sp>
        <p:nvSpPr>
          <p:cNvPr id="24" name="Rectángulo redondeado 5">
            <a:extLst>
              <a:ext uri="{FF2B5EF4-FFF2-40B4-BE49-F238E27FC236}">
                <a16:creationId xmlns:a16="http://schemas.microsoft.com/office/drawing/2014/main" id="{85E73F45-3A19-4DD6-B712-13271ABAC45D}"/>
              </a:ext>
            </a:extLst>
          </p:cNvPr>
          <p:cNvSpPr/>
          <p:nvPr/>
        </p:nvSpPr>
        <p:spPr>
          <a:xfrm>
            <a:off x="392947" y="4108032"/>
            <a:ext cx="11069995" cy="17609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12"/>
            </a:pPr>
            <a:r>
              <a:rPr lang="es-CO" sz="1400" dirty="0"/>
              <a:t>Indique la calificación mínima que puede tener un curso para ser tomado en la revisión de repetidos en el período y nivel que se está definiendo en la regla.</a:t>
            </a:r>
            <a:endParaRPr lang="es-ES_tradnl" sz="1400" dirty="0"/>
          </a:p>
          <a:p>
            <a:pPr marL="342900" indent="-342900">
              <a:buFont typeface="+mj-lt"/>
              <a:buAutoNum type="arabicPeriod" startAt="13"/>
            </a:pPr>
            <a:r>
              <a:rPr lang="es-CO" sz="1400" dirty="0"/>
              <a:t>Indique cómo los</a:t>
            </a:r>
          </a:p>
          <a:p>
            <a:r>
              <a:rPr lang="es-CO" sz="1400" dirty="0"/>
              <a:t>cursos repetidos se tratarán en el cálculo de horas y de PGA, según la regla de selección definida:</a:t>
            </a:r>
          </a:p>
          <a:p>
            <a:pPr marL="228594" indent="-228594">
              <a:buFont typeface="Arial" panose="020B0604020202020204" pitchFamily="34" charset="0"/>
              <a:buChar char="•"/>
            </a:pPr>
            <a:r>
              <a:rPr lang="es-CO" sz="1400" b="1" dirty="0"/>
              <a:t>Todo</a:t>
            </a:r>
            <a:r>
              <a:rPr lang="es-CO" sz="1400" dirty="0"/>
              <a:t>: Todos los cursos cuentan en el cálculo del promedio</a:t>
            </a:r>
            <a:r>
              <a:rPr lang="es-ES_tradnl" sz="1400" dirty="0"/>
              <a:t>.</a:t>
            </a:r>
          </a:p>
          <a:p>
            <a:pPr marL="228594" indent="-228594">
              <a:buFont typeface="Arial" panose="020B0604020202020204" pitchFamily="34" charset="0"/>
              <a:buChar char="•"/>
            </a:pPr>
            <a:r>
              <a:rPr lang="es-ES_tradnl" sz="1400" b="1" dirty="0"/>
              <a:t>Seleccionado</a:t>
            </a:r>
            <a:r>
              <a:rPr lang="es-ES_tradnl" sz="1400" dirty="0"/>
              <a:t>: se incluirán solo los cursos que surjan de la regla anterior en el cálculo del promedio.</a:t>
            </a:r>
          </a:p>
          <a:p>
            <a:pPr marL="342900" indent="-342900">
              <a:buFont typeface="+mj-lt"/>
              <a:buAutoNum type="arabicPeriod" startAt="14"/>
            </a:pPr>
            <a:r>
              <a:rPr lang="es-419" sz="1400" dirty="0"/>
              <a:t>Guarde la información registrada.</a:t>
            </a:r>
            <a:endParaRPr lang="es-CO" sz="1333" dirty="0"/>
          </a:p>
        </p:txBody>
      </p:sp>
      <p:sp>
        <p:nvSpPr>
          <p:cNvPr id="12" name="Title 12">
            <a:extLst>
              <a:ext uri="{FF2B5EF4-FFF2-40B4-BE49-F238E27FC236}">
                <a16:creationId xmlns:a16="http://schemas.microsoft.com/office/drawing/2014/main" id="{1EEEF041-1168-94A2-4F07-4FE7652CBBFB}"/>
              </a:ext>
            </a:extLst>
          </p:cNvPr>
          <p:cNvSpPr>
            <a:spLocks noGrp="1"/>
          </p:cNvSpPr>
          <p:nvPr>
            <p:ph type="title"/>
          </p:nvPr>
        </p:nvSpPr>
        <p:spPr>
          <a:xfrm>
            <a:off x="484387" y="213903"/>
            <a:ext cx="11267392" cy="582679"/>
          </a:xfrm>
        </p:spPr>
        <p:txBody>
          <a:bodyPr/>
          <a:lstStyle/>
          <a:p>
            <a:r>
              <a:rPr lang="es-CO" sz="3600" dirty="0">
                <a:solidFill>
                  <a:schemeClr val="accent1"/>
                </a:solidFill>
              </a:rPr>
              <a:t>Establecer reglas para asignaturas con múltiples aprobaciones</a:t>
            </a:r>
            <a:endParaRPr lang="es-ES_tradnl" sz="3600" b="1" dirty="0">
              <a:solidFill>
                <a:schemeClr val="accent1"/>
              </a:solidFill>
            </a:endParaRPr>
          </a:p>
        </p:txBody>
      </p:sp>
      <p:sp>
        <p:nvSpPr>
          <p:cNvPr id="14" name="Rectángulo 13">
            <a:extLst>
              <a:ext uri="{FF2B5EF4-FFF2-40B4-BE49-F238E27FC236}">
                <a16:creationId xmlns:a16="http://schemas.microsoft.com/office/drawing/2014/main" id="{AB604E6D-5894-48EA-F839-01E26D3197E3}"/>
              </a:ext>
            </a:extLst>
          </p:cNvPr>
          <p:cNvSpPr/>
          <p:nvPr/>
        </p:nvSpPr>
        <p:spPr>
          <a:xfrm>
            <a:off x="8069580" y="3321856"/>
            <a:ext cx="1885950" cy="72296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redondeado 9">
            <a:extLst>
              <a:ext uri="{FF2B5EF4-FFF2-40B4-BE49-F238E27FC236}">
                <a16:creationId xmlns:a16="http://schemas.microsoft.com/office/drawing/2014/main" id="{64B6DE5B-31B7-12A8-6956-56378C71D744}"/>
              </a:ext>
            </a:extLst>
          </p:cNvPr>
          <p:cNvSpPr/>
          <p:nvPr/>
        </p:nvSpPr>
        <p:spPr>
          <a:xfrm>
            <a:off x="8791704" y="2989671"/>
            <a:ext cx="441701"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12</a:t>
            </a:r>
          </a:p>
        </p:txBody>
      </p:sp>
      <p:sp>
        <p:nvSpPr>
          <p:cNvPr id="3" name="Rectángulo 2">
            <a:extLst>
              <a:ext uri="{FF2B5EF4-FFF2-40B4-BE49-F238E27FC236}">
                <a16:creationId xmlns:a16="http://schemas.microsoft.com/office/drawing/2014/main" id="{962448CC-5930-8673-A78F-07495B9B88B8}"/>
              </a:ext>
            </a:extLst>
          </p:cNvPr>
          <p:cNvSpPr/>
          <p:nvPr/>
        </p:nvSpPr>
        <p:spPr>
          <a:xfrm>
            <a:off x="9955530" y="3321856"/>
            <a:ext cx="1598852" cy="72296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redondeado 9">
            <a:extLst>
              <a:ext uri="{FF2B5EF4-FFF2-40B4-BE49-F238E27FC236}">
                <a16:creationId xmlns:a16="http://schemas.microsoft.com/office/drawing/2014/main" id="{AF3C300D-EECD-870A-06C7-D0AD18550388}"/>
              </a:ext>
            </a:extLst>
          </p:cNvPr>
          <p:cNvSpPr/>
          <p:nvPr/>
        </p:nvSpPr>
        <p:spPr>
          <a:xfrm>
            <a:off x="10534105" y="2989671"/>
            <a:ext cx="441701"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13</a:t>
            </a:r>
          </a:p>
        </p:txBody>
      </p:sp>
      <p:sp>
        <p:nvSpPr>
          <p:cNvPr id="5" name="Rectángulo redondeado 9">
            <a:extLst>
              <a:ext uri="{FF2B5EF4-FFF2-40B4-BE49-F238E27FC236}">
                <a16:creationId xmlns:a16="http://schemas.microsoft.com/office/drawing/2014/main" id="{697EFACE-35A8-2C91-3945-F26626B1D104}"/>
              </a:ext>
            </a:extLst>
          </p:cNvPr>
          <p:cNvSpPr/>
          <p:nvPr/>
        </p:nvSpPr>
        <p:spPr>
          <a:xfrm>
            <a:off x="10472600" y="6098240"/>
            <a:ext cx="441701" cy="26897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14</a:t>
            </a:r>
          </a:p>
        </p:txBody>
      </p:sp>
      <p:sp>
        <p:nvSpPr>
          <p:cNvPr id="6" name="Rectángulo 5">
            <a:extLst>
              <a:ext uri="{FF2B5EF4-FFF2-40B4-BE49-F238E27FC236}">
                <a16:creationId xmlns:a16="http://schemas.microsoft.com/office/drawing/2014/main" id="{19A3154B-52DB-90D3-2ACC-C3F2FB22D1F0}"/>
              </a:ext>
            </a:extLst>
          </p:cNvPr>
          <p:cNvSpPr/>
          <p:nvPr/>
        </p:nvSpPr>
        <p:spPr>
          <a:xfrm>
            <a:off x="10975806" y="6098240"/>
            <a:ext cx="670016" cy="32534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3615495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a:xfrm>
            <a:off x="128337" y="685800"/>
            <a:ext cx="609600" cy="5486399"/>
          </a:xfrm>
        </p:spPr>
        <p:txBody>
          <a:bodyPr/>
          <a:lstStyle/>
          <a:p>
            <a:r>
              <a:rPr lang="es-CO" dirty="0"/>
              <a:t>Gestionar el promedio de estudiantes</a:t>
            </a:r>
            <a:br>
              <a:rPr lang="es-ES" dirty="0"/>
            </a:br>
            <a:endParaRPr lang="es-419" dirty="0"/>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sz="4800" dirty="0"/>
              <a:t>Identificar cursos repetidos</a:t>
            </a:r>
            <a:endParaRPr lang="es-419" sz="4800"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ES" sz="2400" dirty="0"/>
              <a:t>Mediante el proceso, se marcan los cursos repetidos en la historia académica según las reglas definidas anteriormente</a:t>
            </a:r>
            <a:endParaRPr lang="es-ES_tradnl" sz="2400" dirty="0"/>
          </a:p>
        </p:txBody>
      </p:sp>
    </p:spTree>
    <p:extLst>
      <p:ext uri="{BB962C8B-B14F-4D97-AF65-F5344CB8AC3E}">
        <p14:creationId xmlns:p14="http://schemas.microsoft.com/office/powerpoint/2010/main" val="1209848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494F9-BD14-4F8F-DFC3-536589479090}"/>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1C0821F2-F99F-C2BD-45FD-EE5F8FAEB162}"/>
              </a:ext>
            </a:extLst>
          </p:cNvPr>
          <p:cNvPicPr>
            <a:picLocks noChangeAspect="1"/>
          </p:cNvPicPr>
          <p:nvPr/>
        </p:nvPicPr>
        <p:blipFill>
          <a:blip r:embed="rId3"/>
          <a:stretch>
            <a:fillRect/>
          </a:stretch>
        </p:blipFill>
        <p:spPr>
          <a:xfrm>
            <a:off x="809004" y="855477"/>
            <a:ext cx="11007641" cy="4665034"/>
          </a:xfrm>
          <a:prstGeom prst="rect">
            <a:avLst/>
          </a:prstGeom>
        </p:spPr>
      </p:pic>
      <p:sp>
        <p:nvSpPr>
          <p:cNvPr id="2" name="Marcador de texto vertical 1">
            <a:extLst>
              <a:ext uri="{FF2B5EF4-FFF2-40B4-BE49-F238E27FC236}">
                <a16:creationId xmlns:a16="http://schemas.microsoft.com/office/drawing/2014/main" id="{0C52B2FE-0012-28ED-37AA-5B4DAAD2C936}"/>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3FC099C8-B966-B5B1-7E34-C94B72C6E758}"/>
              </a:ext>
            </a:extLst>
          </p:cNvPr>
          <p:cNvSpPr>
            <a:spLocks noGrp="1"/>
          </p:cNvSpPr>
          <p:nvPr>
            <p:ph type="title"/>
          </p:nvPr>
        </p:nvSpPr>
        <p:spPr>
          <a:xfrm>
            <a:off x="809004" y="361273"/>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0" name="Rectángulo 9">
            <a:extLst>
              <a:ext uri="{FF2B5EF4-FFF2-40B4-BE49-F238E27FC236}">
                <a16:creationId xmlns:a16="http://schemas.microsoft.com/office/drawing/2014/main" id="{A25319A0-1855-97F1-DF1C-0093754F72F4}"/>
              </a:ext>
            </a:extLst>
          </p:cNvPr>
          <p:cNvSpPr/>
          <p:nvPr/>
        </p:nvSpPr>
        <p:spPr>
          <a:xfrm>
            <a:off x="1310710" y="1518398"/>
            <a:ext cx="1923979" cy="23563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54F5BCA0-55CB-AF17-C483-9D493D8A88DB}"/>
              </a:ext>
            </a:extLst>
          </p:cNvPr>
          <p:cNvSpPr/>
          <p:nvPr/>
        </p:nvSpPr>
        <p:spPr>
          <a:xfrm>
            <a:off x="809004" y="2911156"/>
            <a:ext cx="10887157" cy="105560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pPr marL="228600" indent="-228600">
              <a:buFontTx/>
              <a:buAutoNum type="arabicPeriod" startAt="8"/>
            </a:pPr>
            <a:endParaRPr lang="es-CO" sz="1100" dirty="0"/>
          </a:p>
          <a:p>
            <a:pPr marL="228600" indent="-228600">
              <a:buFontTx/>
              <a:buAutoNum type="arabicPeriod" startAt="8"/>
            </a:pPr>
            <a:endParaRPr lang="es-CO" sz="1100" dirty="0"/>
          </a:p>
          <a:p>
            <a:pPr marL="228600" indent="-228600">
              <a:buAutoNum type="arabicPeriod"/>
            </a:pPr>
            <a:endParaRPr lang="es-ES_tradnl" sz="1200" dirty="0"/>
          </a:p>
          <a:p>
            <a:pPr marL="228600" indent="-228600">
              <a:buAutoNum type="arabicPeriod"/>
            </a:pPr>
            <a:r>
              <a:rPr lang="es-ES_tradnl" sz="1200" dirty="0"/>
              <a:t>Ingrese al proceso SHRRPTS desde la página GJAPCTL.</a:t>
            </a:r>
          </a:p>
          <a:p>
            <a:pPr marL="228600" indent="-228600">
              <a:buFontTx/>
              <a:buAutoNum type="arabicPeriod"/>
            </a:pPr>
            <a:r>
              <a:rPr lang="es-ES_tradnl" sz="1200" dirty="0"/>
              <a:t>Presione el botón Ir.</a:t>
            </a:r>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5" name="Rectángulo redondeado 9">
            <a:extLst>
              <a:ext uri="{FF2B5EF4-FFF2-40B4-BE49-F238E27FC236}">
                <a16:creationId xmlns:a16="http://schemas.microsoft.com/office/drawing/2014/main" id="{24940EFA-6E25-AA00-28D7-C6A661DF79D3}"/>
              </a:ext>
            </a:extLst>
          </p:cNvPr>
          <p:cNvSpPr/>
          <p:nvPr/>
        </p:nvSpPr>
        <p:spPr>
          <a:xfrm>
            <a:off x="3317433" y="1518398"/>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5">
            <a:extLst>
              <a:ext uri="{FF2B5EF4-FFF2-40B4-BE49-F238E27FC236}">
                <a16:creationId xmlns:a16="http://schemas.microsoft.com/office/drawing/2014/main" id="{AD96A3C1-6991-6231-5A03-E0F2F87449CF}"/>
              </a:ext>
            </a:extLst>
          </p:cNvPr>
          <p:cNvSpPr/>
          <p:nvPr/>
        </p:nvSpPr>
        <p:spPr>
          <a:xfrm>
            <a:off x="11382996" y="1592142"/>
            <a:ext cx="390081" cy="1618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redondeado 9">
            <a:extLst>
              <a:ext uri="{FF2B5EF4-FFF2-40B4-BE49-F238E27FC236}">
                <a16:creationId xmlns:a16="http://schemas.microsoft.com/office/drawing/2014/main" id="{A3757367-8B22-B89A-F4CA-DC185F30D086}"/>
              </a:ext>
            </a:extLst>
          </p:cNvPr>
          <p:cNvSpPr/>
          <p:nvPr/>
        </p:nvSpPr>
        <p:spPr>
          <a:xfrm>
            <a:off x="11013173" y="1518398"/>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1973127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CA6D1-D913-0F57-EA56-FF558B2266C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6986700-FC17-2A5E-8A93-F32187DFBD0A}"/>
              </a:ext>
            </a:extLst>
          </p:cNvPr>
          <p:cNvPicPr>
            <a:picLocks noChangeAspect="1"/>
          </p:cNvPicPr>
          <p:nvPr/>
        </p:nvPicPr>
        <p:blipFill>
          <a:blip r:embed="rId3"/>
          <a:stretch>
            <a:fillRect/>
          </a:stretch>
        </p:blipFill>
        <p:spPr>
          <a:xfrm>
            <a:off x="680989" y="934399"/>
            <a:ext cx="11069215" cy="4986341"/>
          </a:xfrm>
          <a:prstGeom prst="rect">
            <a:avLst/>
          </a:prstGeom>
        </p:spPr>
      </p:pic>
      <p:sp>
        <p:nvSpPr>
          <p:cNvPr id="2" name="Marcador de texto vertical 1">
            <a:extLst>
              <a:ext uri="{FF2B5EF4-FFF2-40B4-BE49-F238E27FC236}">
                <a16:creationId xmlns:a16="http://schemas.microsoft.com/office/drawing/2014/main" id="{F10E13A3-183F-D625-9B4B-2A0C0CD00101}"/>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9739509B-6422-2B79-239C-8D7AD7AEE6B9}"/>
              </a:ext>
            </a:extLst>
          </p:cNvPr>
          <p:cNvSpPr>
            <a:spLocks noGrp="1"/>
          </p:cNvSpPr>
          <p:nvPr>
            <p:ph type="title"/>
          </p:nvPr>
        </p:nvSpPr>
        <p:spPr>
          <a:xfrm>
            <a:off x="680989" y="360822"/>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0" name="Rectángulo 9">
            <a:extLst>
              <a:ext uri="{FF2B5EF4-FFF2-40B4-BE49-F238E27FC236}">
                <a16:creationId xmlns:a16="http://schemas.microsoft.com/office/drawing/2014/main" id="{8F7CCE4B-6789-6DE0-906C-E4086635DD17}"/>
              </a:ext>
            </a:extLst>
          </p:cNvPr>
          <p:cNvSpPr/>
          <p:nvPr/>
        </p:nvSpPr>
        <p:spPr>
          <a:xfrm>
            <a:off x="1042104" y="1839812"/>
            <a:ext cx="1975311" cy="1804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53961461-BE51-7E57-A371-8CF8EBA25496}"/>
              </a:ext>
            </a:extLst>
          </p:cNvPr>
          <p:cNvSpPr/>
          <p:nvPr/>
        </p:nvSpPr>
        <p:spPr>
          <a:xfrm>
            <a:off x="680989" y="4625051"/>
            <a:ext cx="11015173"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pPr marL="228600" indent="-228600">
              <a:buAutoNum type="arabicPeriod" startAt="3"/>
            </a:pPr>
            <a:r>
              <a:rPr lang="es-ES_tradnl" sz="1100" dirty="0"/>
              <a:t>Defina la impresora como DATABASE</a:t>
            </a:r>
          </a:p>
          <a:p>
            <a:pPr marL="228600" indent="-228600">
              <a:buFontTx/>
              <a:buAutoNum type="arabicPeriod" startAt="3"/>
            </a:pPr>
            <a:r>
              <a:rPr lang="es-ES_tradnl" sz="1100" dirty="0"/>
              <a:t>Pase al siguiente bloque.</a:t>
            </a:r>
          </a:p>
          <a:p>
            <a:pPr marL="228600" indent="-228600">
              <a:buFontTx/>
              <a:buAutoNum type="arabicPeriod" startAt="3"/>
            </a:pPr>
            <a:r>
              <a:rPr lang="es-ES_tradnl" sz="1100" dirty="0"/>
              <a:t>Ingrese los parámetros según la tabla que se presenta en la siguiente diapositiva</a:t>
            </a:r>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5" name="Rectángulo redondeado 9">
            <a:extLst>
              <a:ext uri="{FF2B5EF4-FFF2-40B4-BE49-F238E27FC236}">
                <a16:creationId xmlns:a16="http://schemas.microsoft.com/office/drawing/2014/main" id="{CA161C29-A3D6-92E3-81B0-26B694954221}"/>
              </a:ext>
            </a:extLst>
          </p:cNvPr>
          <p:cNvSpPr/>
          <p:nvPr/>
        </p:nvSpPr>
        <p:spPr>
          <a:xfrm>
            <a:off x="3151175" y="1816050"/>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8" name="Rectángulo 7">
            <a:extLst>
              <a:ext uri="{FF2B5EF4-FFF2-40B4-BE49-F238E27FC236}">
                <a16:creationId xmlns:a16="http://schemas.microsoft.com/office/drawing/2014/main" id="{685FC8F8-8A56-2C66-EF76-7443C6B5E03F}"/>
              </a:ext>
            </a:extLst>
          </p:cNvPr>
          <p:cNvSpPr/>
          <p:nvPr/>
        </p:nvSpPr>
        <p:spPr>
          <a:xfrm>
            <a:off x="928793" y="5657850"/>
            <a:ext cx="361798" cy="2628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redondeado 9">
            <a:extLst>
              <a:ext uri="{FF2B5EF4-FFF2-40B4-BE49-F238E27FC236}">
                <a16:creationId xmlns:a16="http://schemas.microsoft.com/office/drawing/2014/main" id="{308AD834-75E4-10C1-A93B-6C7CEC90CE36}"/>
              </a:ext>
            </a:extLst>
          </p:cNvPr>
          <p:cNvSpPr/>
          <p:nvPr/>
        </p:nvSpPr>
        <p:spPr>
          <a:xfrm>
            <a:off x="1394855" y="5657850"/>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7" name="Rectángulo 6">
            <a:extLst>
              <a:ext uri="{FF2B5EF4-FFF2-40B4-BE49-F238E27FC236}">
                <a16:creationId xmlns:a16="http://schemas.microsoft.com/office/drawing/2014/main" id="{C56350CA-915B-3551-4E7B-96843C9308F7}"/>
              </a:ext>
            </a:extLst>
          </p:cNvPr>
          <p:cNvSpPr/>
          <p:nvPr/>
        </p:nvSpPr>
        <p:spPr>
          <a:xfrm>
            <a:off x="694279" y="2784191"/>
            <a:ext cx="11001884" cy="17664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91959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2BE8-E9A9-AF06-F7B8-7CCE9B3A05A4}"/>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88D7A300-9C68-05BF-646A-D35DE4CCD10B}"/>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3C968FA5-2F47-BD10-AC49-226AEF7D8757}"/>
              </a:ext>
            </a:extLst>
          </p:cNvPr>
          <p:cNvSpPr>
            <a:spLocks noGrp="1"/>
          </p:cNvSpPr>
          <p:nvPr>
            <p:ph type="title"/>
          </p:nvPr>
        </p:nvSpPr>
        <p:spPr>
          <a:xfrm>
            <a:off x="1218665" y="333686"/>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graphicFrame>
        <p:nvGraphicFramePr>
          <p:cNvPr id="4" name="Marcador de contenido 3">
            <a:extLst>
              <a:ext uri="{FF2B5EF4-FFF2-40B4-BE49-F238E27FC236}">
                <a16:creationId xmlns:a16="http://schemas.microsoft.com/office/drawing/2014/main" id="{9D67894B-2926-357F-F599-9F081B751604}"/>
              </a:ext>
            </a:extLst>
          </p:cNvPr>
          <p:cNvGraphicFramePr>
            <a:graphicFrameLocks/>
          </p:cNvGraphicFramePr>
          <p:nvPr>
            <p:extLst>
              <p:ext uri="{D42A27DB-BD31-4B8C-83A1-F6EECF244321}">
                <p14:modId xmlns:p14="http://schemas.microsoft.com/office/powerpoint/2010/main" val="3489484502"/>
              </p:ext>
            </p:extLst>
          </p:nvPr>
        </p:nvGraphicFramePr>
        <p:xfrm>
          <a:off x="1218665" y="1232241"/>
          <a:ext cx="9754670" cy="4939959"/>
        </p:xfrm>
        <a:graphic>
          <a:graphicData uri="http://schemas.openxmlformats.org/drawingml/2006/table">
            <a:tbl>
              <a:tblPr firstRow="1" bandRow="1">
                <a:tableStyleId>{5C22544A-7EE6-4342-B048-85BDC9FD1C3A}</a:tableStyleId>
              </a:tblPr>
              <a:tblGrid>
                <a:gridCol w="712647">
                  <a:extLst>
                    <a:ext uri="{9D8B030D-6E8A-4147-A177-3AD203B41FA5}">
                      <a16:colId xmlns:a16="http://schemas.microsoft.com/office/drawing/2014/main" val="249767121"/>
                    </a:ext>
                  </a:extLst>
                </a:gridCol>
                <a:gridCol w="1264876">
                  <a:extLst>
                    <a:ext uri="{9D8B030D-6E8A-4147-A177-3AD203B41FA5}">
                      <a16:colId xmlns:a16="http://schemas.microsoft.com/office/drawing/2014/main" val="915586211"/>
                    </a:ext>
                  </a:extLst>
                </a:gridCol>
                <a:gridCol w="6596832">
                  <a:extLst>
                    <a:ext uri="{9D8B030D-6E8A-4147-A177-3AD203B41FA5}">
                      <a16:colId xmlns:a16="http://schemas.microsoft.com/office/drawing/2014/main" val="523512153"/>
                    </a:ext>
                  </a:extLst>
                </a:gridCol>
                <a:gridCol w="1180315">
                  <a:extLst>
                    <a:ext uri="{9D8B030D-6E8A-4147-A177-3AD203B41FA5}">
                      <a16:colId xmlns:a16="http://schemas.microsoft.com/office/drawing/2014/main" val="1126850053"/>
                    </a:ext>
                  </a:extLst>
                </a:gridCol>
              </a:tblGrid>
              <a:tr h="509331">
                <a:tc>
                  <a:txBody>
                    <a:bodyPr/>
                    <a:lstStyle/>
                    <a:p>
                      <a:pPr marL="0" marR="0">
                        <a:lnSpc>
                          <a:spcPct val="115000"/>
                        </a:lnSpc>
                        <a:spcBef>
                          <a:spcPts val="0"/>
                        </a:spcBef>
                        <a:spcAft>
                          <a:spcPts val="0"/>
                        </a:spcAft>
                      </a:pPr>
                      <a:r>
                        <a:rPr lang="es-419" sz="950" dirty="0">
                          <a:solidFill>
                            <a:schemeClr val="bg1"/>
                          </a:solidFill>
                          <a:effectLst/>
                        </a:rPr>
                        <a:t>Número</a:t>
                      </a:r>
                      <a:endParaRPr lang="es-CO" sz="95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chemeClr val="bg1"/>
                          </a:solidFill>
                          <a:effectLst/>
                        </a:rPr>
                        <a:t>Parámetro</a:t>
                      </a:r>
                      <a:endParaRPr lang="es-CO" sz="95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bg1"/>
                          </a:solidFill>
                          <a:effectLst/>
                        </a:rPr>
                        <a:t>Valores</a:t>
                      </a:r>
                      <a:endParaRPr lang="es-CO" sz="95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bg1"/>
                          </a:solidFill>
                          <a:effectLst/>
                        </a:rPr>
                        <a:t>Requerido / Opcional</a:t>
                      </a:r>
                      <a:endParaRPr lang="es-CO" sz="95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95108">
                <a:tc>
                  <a:txBody>
                    <a:bodyPr/>
                    <a:lstStyle/>
                    <a:p>
                      <a:pPr marL="0" marR="0">
                        <a:lnSpc>
                          <a:spcPct val="115000"/>
                        </a:lnSpc>
                        <a:spcBef>
                          <a:spcPts val="0"/>
                        </a:spcBef>
                        <a:spcAft>
                          <a:spcPts val="0"/>
                        </a:spcAft>
                      </a:pPr>
                      <a:r>
                        <a:rPr lang="es-419" sz="950" dirty="0">
                          <a:solidFill>
                            <a:schemeClr val="tx1"/>
                          </a:solidFill>
                          <a:effectLst/>
                        </a:rPr>
                        <a:t>01</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950" dirty="0">
                          <a:solidFill>
                            <a:schemeClr val="tx1"/>
                          </a:solidFill>
                          <a:effectLst/>
                        </a:rPr>
                        <a:t>Código de periodo</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Seleccione el  código del período para el cual desea correr el proceso.</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rPr>
                        <a:t>R</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57562266"/>
                  </a:ext>
                </a:extLst>
              </a:tr>
              <a:tr h="299439">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02</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Código de Nivel</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1000" dirty="0">
                          <a:solidFill>
                            <a:schemeClr val="tx1"/>
                          </a:solidFill>
                          <a:effectLst/>
                          <a:latin typeface="Arial" panose="020B0604020202020204" pitchFamily="34" charset="0"/>
                          <a:cs typeface="Times New Roman" panose="02020603050405020304" pitchFamily="18" charset="0"/>
                        </a:rPr>
                        <a:t>Seleccione el código del nivel para el cual desea correr el proceso.</a:t>
                      </a:r>
                      <a:endParaRPr lang="es-CO" sz="10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rgbClr val="000000"/>
                          </a:solidFill>
                          <a:effectLst/>
                          <a:latin typeface="Arial" panose="020B0604020202020204" pitchFamily="34" charset="0"/>
                          <a:cs typeface="Arial" panose="020B0604020202020204" pitchFamily="34" charset="0"/>
                        </a:rPr>
                        <a:t>R</a:t>
                      </a:r>
                      <a:endParaRPr lang="es-CO" sz="950" dirty="0">
                        <a:solidFill>
                          <a:srgbClr val="7D7D7D"/>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509454192"/>
                  </a:ext>
                </a:extLst>
              </a:tr>
              <a:tr h="503449">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03</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Reportar o actualizar</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R si desea que solo se emita el reporte o U si desea que el proceso de corra y se emita el reporte</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R</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56190754"/>
                  </a:ext>
                </a:extLst>
              </a:tr>
              <a:tr h="717672">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04</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Imprimir trabajo transferencia</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Indique si desea que los cursos de transferencia sean incluidos en el reporte del proceso. </a:t>
                      </a:r>
                      <a:r>
                        <a:rPr lang="es-CO"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El trabajo de transferencia solo se usa en el procesamiento de evaluación de repetición cuando está definido así en las reglas (SHARPTR). Y para si, N para no.</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00244662"/>
                  </a:ext>
                </a:extLst>
              </a:tr>
              <a:tr h="503449">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05</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Código de aplicación</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lnSpc>
                          <a:spcPct val="115000"/>
                        </a:lnSpc>
                        <a:spcBef>
                          <a:spcPts val="0"/>
                        </a:spcBef>
                        <a:spcAft>
                          <a:spcPts val="0"/>
                        </a:spcAft>
                      </a:pPr>
                      <a:r>
                        <a:rPr lang="es-419"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si el proceso va a correr para una selección de población, el código de la aplicación con la que se realizó esa selección.</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990127115"/>
                  </a:ext>
                </a:extLst>
              </a:tr>
              <a:tr h="465702">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06</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Identificador de selección</a:t>
                      </a:r>
                    </a:p>
                  </a:txBody>
                  <a:tcPr marL="68580" marR="68580" marT="36195" marB="36195" anchor="ctr"/>
                </a:tc>
                <a:tc>
                  <a:txBody>
                    <a:bodyPr/>
                    <a:lstStyle/>
                    <a:p>
                      <a:pPr algn="just">
                        <a:lnSpc>
                          <a:spcPct val="115000"/>
                        </a:lnSpc>
                      </a:pPr>
                      <a:r>
                        <a:rPr lang="es-419" sz="950" dirty="0">
                          <a:solidFill>
                            <a:schemeClr val="tx1"/>
                          </a:solidFill>
                          <a:effectLst/>
                          <a:latin typeface="Arial" panose="020B0604020202020204" pitchFamily="34" charset="0"/>
                          <a:cs typeface="Times New Roman" panose="02020603050405020304" pitchFamily="18" charset="0"/>
                        </a:rPr>
                        <a:t>Ingrese el código que identifica la selección de población a la que se aplicará el proceso.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453907063"/>
                  </a:ext>
                </a:extLst>
              </a:tr>
              <a:tr h="349685">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07</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creador</a:t>
                      </a:r>
                      <a:endParaRPr lang="es-CO"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usuario que creó la selección</a:t>
                      </a:r>
                      <a:endParaRPr lang="es-CO"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658827102"/>
                  </a:ext>
                </a:extLst>
              </a:tr>
              <a:tr h="289226">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08</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usuario</a:t>
                      </a:r>
                      <a:endParaRPr lang="es-CO"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usuario que ejecuta el proceso</a:t>
                      </a:r>
                      <a:endParaRPr lang="es-CO" sz="9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633076062"/>
                  </a:ext>
                </a:extLst>
              </a:tr>
              <a:tr h="503449">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09</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Solo imprimir cursos repetidos</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N= si desea imprimir mensajes de curso no repetidos o  Y para imprimir solo los cursos repetidos.</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R</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529984638"/>
                  </a:ext>
                </a:extLst>
              </a:tr>
              <a:tr h="503449">
                <a:tc>
                  <a:txBody>
                    <a:bodyPr/>
                    <a:lstStyle/>
                    <a:p>
                      <a:pPr marL="0" marR="0">
                        <a:lnSpc>
                          <a:spcPct val="115000"/>
                        </a:lnSpc>
                        <a:spcBef>
                          <a:spcPts val="0"/>
                        </a:spcBef>
                        <a:spcAft>
                          <a:spcPts val="0"/>
                        </a:spcAft>
                      </a:pPr>
                      <a:r>
                        <a:rPr lang="es-419"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10</a:t>
                      </a:r>
                      <a:endParaRPr lang="es-CO" sz="9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CO" sz="950" dirty="0" err="1">
                          <a:solidFill>
                            <a:srgbClr val="414042"/>
                          </a:solidFill>
                          <a:effectLst/>
                          <a:latin typeface="Arial" panose="020B0604020202020204" pitchFamily="34" charset="0"/>
                          <a:ea typeface="MS PGothic" panose="020B0600070205080204" pitchFamily="34" charset="-128"/>
                          <a:cs typeface="Arial" panose="020B0604020202020204" pitchFamily="34" charset="0"/>
                        </a:rPr>
                        <a:t>Reestaclecer</a:t>
                      </a:r>
                      <a:r>
                        <a:rPr lang="es-CO"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  </a:t>
                      </a:r>
                      <a:r>
                        <a:rPr lang="es-CO" sz="950" dirty="0" err="1">
                          <a:solidFill>
                            <a:srgbClr val="414042"/>
                          </a:solidFill>
                          <a:effectLst/>
                          <a:latin typeface="Arial" panose="020B0604020202020204" pitchFamily="34" charset="0"/>
                          <a:ea typeface="MS PGothic" panose="020B0600070205080204" pitchFamily="34" charset="-128"/>
                          <a:cs typeface="Arial" panose="020B0604020202020204" pitchFamily="34" charset="0"/>
                        </a:rPr>
                        <a:t>ind</a:t>
                      </a:r>
                      <a:r>
                        <a:rPr lang="es-CO" sz="9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 de repetido</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CO" sz="9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Y para eliminar todo mensaje del indicador de repetido o  N para que la ejecución se haga como un proceso incremental</a:t>
                      </a:r>
                      <a:endParaRPr lang="es-CO" sz="9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50" dirty="0">
                          <a:solidFill>
                            <a:schemeClr val="tx1"/>
                          </a:solidFill>
                          <a:effectLst/>
                          <a:latin typeface="Arial" panose="020B0604020202020204" pitchFamily="34" charset="0"/>
                          <a:cs typeface="Times New Roman" panose="02020603050405020304" pitchFamily="18" charset="0"/>
                        </a:rPr>
                        <a:t>O</a:t>
                      </a:r>
                      <a:endParaRPr lang="es-CO" sz="9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82183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AFF9E-8FD9-EFAB-A9D9-7A892F267701}"/>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B9B48071-650B-7E3C-D4BC-4614387FCA68}"/>
              </a:ext>
            </a:extLst>
          </p:cNvPr>
          <p:cNvPicPr>
            <a:picLocks noChangeAspect="1"/>
          </p:cNvPicPr>
          <p:nvPr/>
        </p:nvPicPr>
        <p:blipFill>
          <a:blip r:embed="rId3"/>
          <a:stretch>
            <a:fillRect/>
          </a:stretch>
        </p:blipFill>
        <p:spPr>
          <a:xfrm>
            <a:off x="822960" y="949521"/>
            <a:ext cx="10992454" cy="4958958"/>
          </a:xfrm>
          <a:prstGeom prst="rect">
            <a:avLst/>
          </a:prstGeom>
        </p:spPr>
      </p:pic>
      <p:sp>
        <p:nvSpPr>
          <p:cNvPr id="2" name="Marcador de texto vertical 1">
            <a:extLst>
              <a:ext uri="{FF2B5EF4-FFF2-40B4-BE49-F238E27FC236}">
                <a16:creationId xmlns:a16="http://schemas.microsoft.com/office/drawing/2014/main" id="{3DF3BE93-BCCC-5F1E-ADDA-35A2D6B1534B}"/>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C44A03F1-CBE4-4FFC-07BF-693A6F6F8F5B}"/>
              </a:ext>
            </a:extLst>
          </p:cNvPr>
          <p:cNvSpPr>
            <a:spLocks noGrp="1"/>
          </p:cNvSpPr>
          <p:nvPr>
            <p:ph type="title"/>
          </p:nvPr>
        </p:nvSpPr>
        <p:spPr>
          <a:xfrm>
            <a:off x="822960" y="345116"/>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0" name="Rectángulo 9">
            <a:extLst>
              <a:ext uri="{FF2B5EF4-FFF2-40B4-BE49-F238E27FC236}">
                <a16:creationId xmlns:a16="http://schemas.microsoft.com/office/drawing/2014/main" id="{C3D857D1-D694-70D3-C57D-2F7CDF19A37E}"/>
              </a:ext>
            </a:extLst>
          </p:cNvPr>
          <p:cNvSpPr/>
          <p:nvPr/>
        </p:nvSpPr>
        <p:spPr>
          <a:xfrm>
            <a:off x="1117647" y="5676155"/>
            <a:ext cx="237951" cy="2323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F7C95A1F-CFD2-3C7F-41FB-2DB29EFB2D4C}"/>
              </a:ext>
            </a:extLst>
          </p:cNvPr>
          <p:cNvSpPr/>
          <p:nvPr/>
        </p:nvSpPr>
        <p:spPr>
          <a:xfrm>
            <a:off x="822960" y="3817048"/>
            <a:ext cx="10992454"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r>
              <a:rPr lang="es-CO" sz="1100" dirty="0"/>
              <a:t>6. </a:t>
            </a:r>
            <a:r>
              <a:rPr lang="es-ES_tradnl" sz="1100" dirty="0"/>
              <a:t>Toda vez que se ingresaron los parámetros, pase al siguiente bloque</a:t>
            </a:r>
          </a:p>
          <a:p>
            <a:r>
              <a:rPr lang="es-CL" sz="1100" dirty="0"/>
              <a:t>7. </a:t>
            </a:r>
            <a:r>
              <a:rPr lang="es-ES_tradnl" sz="1100" dirty="0"/>
              <a:t>Seleccione la opción enviar</a:t>
            </a:r>
          </a:p>
          <a:p>
            <a:r>
              <a:rPr lang="es-ES_tradnl" sz="1100" dirty="0"/>
              <a:t>8. Guarde la información</a:t>
            </a:r>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5" name="Rectángulo redondeado 9">
            <a:extLst>
              <a:ext uri="{FF2B5EF4-FFF2-40B4-BE49-F238E27FC236}">
                <a16:creationId xmlns:a16="http://schemas.microsoft.com/office/drawing/2014/main" id="{51378EAA-2473-9E5A-2852-C0ADD24DDC32}"/>
              </a:ext>
            </a:extLst>
          </p:cNvPr>
          <p:cNvSpPr/>
          <p:nvPr/>
        </p:nvSpPr>
        <p:spPr>
          <a:xfrm>
            <a:off x="1439973" y="5696648"/>
            <a:ext cx="251040" cy="19133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7" name="Rectángulo 6">
            <a:extLst>
              <a:ext uri="{FF2B5EF4-FFF2-40B4-BE49-F238E27FC236}">
                <a16:creationId xmlns:a16="http://schemas.microsoft.com/office/drawing/2014/main" id="{A7D403F9-1E92-1879-04D0-259E6832C474}"/>
              </a:ext>
            </a:extLst>
          </p:cNvPr>
          <p:cNvSpPr/>
          <p:nvPr/>
        </p:nvSpPr>
        <p:spPr>
          <a:xfrm>
            <a:off x="6424977" y="5009058"/>
            <a:ext cx="1530303" cy="31732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7">
            <a:extLst>
              <a:ext uri="{FF2B5EF4-FFF2-40B4-BE49-F238E27FC236}">
                <a16:creationId xmlns:a16="http://schemas.microsoft.com/office/drawing/2014/main" id="{2D3D929B-27EC-4AD3-1955-326BA327A16F}"/>
              </a:ext>
            </a:extLst>
          </p:cNvPr>
          <p:cNvSpPr/>
          <p:nvPr/>
        </p:nvSpPr>
        <p:spPr>
          <a:xfrm>
            <a:off x="11300457" y="5676155"/>
            <a:ext cx="599332" cy="2323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redondeado 9">
            <a:extLst>
              <a:ext uri="{FF2B5EF4-FFF2-40B4-BE49-F238E27FC236}">
                <a16:creationId xmlns:a16="http://schemas.microsoft.com/office/drawing/2014/main" id="{2147EBE3-8187-86ED-9E01-C2F70FDB201E}"/>
              </a:ext>
            </a:extLst>
          </p:cNvPr>
          <p:cNvSpPr/>
          <p:nvPr/>
        </p:nvSpPr>
        <p:spPr>
          <a:xfrm>
            <a:off x="8097251" y="5081253"/>
            <a:ext cx="251040" cy="19133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1" name="Rectángulo redondeado 9">
            <a:extLst>
              <a:ext uri="{FF2B5EF4-FFF2-40B4-BE49-F238E27FC236}">
                <a16:creationId xmlns:a16="http://schemas.microsoft.com/office/drawing/2014/main" id="{E3D19EB2-D5E8-2977-99F3-1DC771199A01}"/>
              </a:ext>
            </a:extLst>
          </p:cNvPr>
          <p:cNvSpPr/>
          <p:nvPr/>
        </p:nvSpPr>
        <p:spPr>
          <a:xfrm>
            <a:off x="11474603" y="5337808"/>
            <a:ext cx="251040" cy="19133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1780284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F0E27-1D70-3D9C-BAB1-9BF12FEFD01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3DAA77E-E16D-8189-A24C-97A9F6540F13}"/>
              </a:ext>
            </a:extLst>
          </p:cNvPr>
          <p:cNvPicPr>
            <a:picLocks noChangeAspect="1"/>
          </p:cNvPicPr>
          <p:nvPr/>
        </p:nvPicPr>
        <p:blipFill>
          <a:blip r:embed="rId3"/>
          <a:stretch>
            <a:fillRect/>
          </a:stretch>
        </p:blipFill>
        <p:spPr>
          <a:xfrm>
            <a:off x="680989" y="959370"/>
            <a:ext cx="11005180" cy="4458450"/>
          </a:xfrm>
          <a:prstGeom prst="rect">
            <a:avLst/>
          </a:prstGeom>
        </p:spPr>
      </p:pic>
      <p:sp>
        <p:nvSpPr>
          <p:cNvPr id="2" name="Marcador de texto vertical 1">
            <a:extLst>
              <a:ext uri="{FF2B5EF4-FFF2-40B4-BE49-F238E27FC236}">
                <a16:creationId xmlns:a16="http://schemas.microsoft.com/office/drawing/2014/main" id="{9869531E-E589-71E4-D73A-A6BFFB667E05}"/>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E8D092AD-C4D7-6CE6-8156-34B46D06E43F}"/>
              </a:ext>
            </a:extLst>
          </p:cNvPr>
          <p:cNvSpPr>
            <a:spLocks noGrp="1"/>
          </p:cNvSpPr>
          <p:nvPr>
            <p:ph type="title"/>
          </p:nvPr>
        </p:nvSpPr>
        <p:spPr>
          <a:xfrm>
            <a:off x="680989" y="387976"/>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0" name="Rectángulo 9">
            <a:extLst>
              <a:ext uri="{FF2B5EF4-FFF2-40B4-BE49-F238E27FC236}">
                <a16:creationId xmlns:a16="http://schemas.microsoft.com/office/drawing/2014/main" id="{DB115E13-2651-AA35-DC17-E55BAE2FAAAB}"/>
              </a:ext>
            </a:extLst>
          </p:cNvPr>
          <p:cNvSpPr/>
          <p:nvPr/>
        </p:nvSpPr>
        <p:spPr>
          <a:xfrm>
            <a:off x="10206989" y="1207441"/>
            <a:ext cx="412433" cy="23273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538BC1F0-B363-2517-EE99-BC98DC997038}"/>
              </a:ext>
            </a:extLst>
          </p:cNvPr>
          <p:cNvSpPr/>
          <p:nvPr/>
        </p:nvSpPr>
        <p:spPr>
          <a:xfrm>
            <a:off x="680988" y="4519265"/>
            <a:ext cx="11005179" cy="62423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r>
              <a:rPr lang="es-CL" sz="1100" dirty="0"/>
              <a:t>9. </a:t>
            </a:r>
            <a:r>
              <a:rPr lang="es-ES_tradnl" sz="1200" dirty="0"/>
              <a:t>Para revisar el resultado del proceso, selección la opción Revisar salida del Menú Relacionado.</a:t>
            </a:r>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5" name="Rectángulo redondeado 9">
            <a:extLst>
              <a:ext uri="{FF2B5EF4-FFF2-40B4-BE49-F238E27FC236}">
                <a16:creationId xmlns:a16="http://schemas.microsoft.com/office/drawing/2014/main" id="{28F98D9B-C5F2-13F7-DB3F-B9283C3EBA08}"/>
              </a:ext>
            </a:extLst>
          </p:cNvPr>
          <p:cNvSpPr/>
          <p:nvPr/>
        </p:nvSpPr>
        <p:spPr>
          <a:xfrm>
            <a:off x="9626416" y="1823977"/>
            <a:ext cx="251040" cy="19133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6" name="Rectángulo 5">
            <a:extLst>
              <a:ext uri="{FF2B5EF4-FFF2-40B4-BE49-F238E27FC236}">
                <a16:creationId xmlns:a16="http://schemas.microsoft.com/office/drawing/2014/main" id="{1AE5AA81-4E4C-173D-F7BA-BA45B7898602}"/>
              </a:ext>
            </a:extLst>
          </p:cNvPr>
          <p:cNvSpPr/>
          <p:nvPr/>
        </p:nvSpPr>
        <p:spPr>
          <a:xfrm>
            <a:off x="9933443" y="1785611"/>
            <a:ext cx="1225043" cy="2224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938397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FCC6-455B-2C71-9CAE-A802E076C78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6F5C8B0-E81C-6600-7D0C-7B2029D1F877}"/>
              </a:ext>
            </a:extLst>
          </p:cNvPr>
          <p:cNvPicPr>
            <a:picLocks noChangeAspect="1"/>
          </p:cNvPicPr>
          <p:nvPr/>
        </p:nvPicPr>
        <p:blipFill>
          <a:blip r:embed="rId3"/>
          <a:stretch>
            <a:fillRect/>
          </a:stretch>
        </p:blipFill>
        <p:spPr>
          <a:xfrm>
            <a:off x="680989" y="905197"/>
            <a:ext cx="11203496" cy="4638353"/>
          </a:xfrm>
          <a:prstGeom prst="rect">
            <a:avLst/>
          </a:prstGeom>
        </p:spPr>
      </p:pic>
      <p:sp>
        <p:nvSpPr>
          <p:cNvPr id="2" name="Marcador de texto vertical 1">
            <a:extLst>
              <a:ext uri="{FF2B5EF4-FFF2-40B4-BE49-F238E27FC236}">
                <a16:creationId xmlns:a16="http://schemas.microsoft.com/office/drawing/2014/main" id="{BB969978-549F-168C-0107-EBD2EA00178A}"/>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C48B4A74-C252-ABFF-4F56-96CA8DEF7D9E}"/>
              </a:ext>
            </a:extLst>
          </p:cNvPr>
          <p:cNvSpPr>
            <a:spLocks noGrp="1"/>
          </p:cNvSpPr>
          <p:nvPr>
            <p:ph type="title"/>
          </p:nvPr>
        </p:nvSpPr>
        <p:spPr>
          <a:xfrm>
            <a:off x="680989" y="371414"/>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0" name="Rectángulo 9">
            <a:extLst>
              <a:ext uri="{FF2B5EF4-FFF2-40B4-BE49-F238E27FC236}">
                <a16:creationId xmlns:a16="http://schemas.microsoft.com/office/drawing/2014/main" id="{A2318448-9282-F09D-A7AB-44E18701B840}"/>
              </a:ext>
            </a:extLst>
          </p:cNvPr>
          <p:cNvSpPr/>
          <p:nvPr/>
        </p:nvSpPr>
        <p:spPr>
          <a:xfrm>
            <a:off x="6116854" y="1451147"/>
            <a:ext cx="1792403" cy="1913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A42D184F-2917-17E0-527C-65B19ACC134E}"/>
              </a:ext>
            </a:extLst>
          </p:cNvPr>
          <p:cNvSpPr/>
          <p:nvPr/>
        </p:nvSpPr>
        <p:spPr>
          <a:xfrm>
            <a:off x="680989" y="5031922"/>
            <a:ext cx="11015173" cy="102541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r>
              <a:rPr lang="es-CL" sz="1100" dirty="0"/>
              <a:t>10. </a:t>
            </a:r>
            <a:r>
              <a:rPr lang="es-ES_tradnl" sz="1200" dirty="0"/>
              <a:t>Seleccione el archivo .lis para ver los resultados y presione el botón “Ir”.</a:t>
            </a:r>
          </a:p>
          <a:p>
            <a:r>
              <a:rPr lang="es-ES_tradnl" sz="1200" dirty="0"/>
              <a:t>11. El sistema muestra el número asignado al proceso automáticamente.</a:t>
            </a:r>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AA27A3E0-D66C-4076-BFF7-8EF7D4EBCD56}"/>
              </a:ext>
            </a:extLst>
          </p:cNvPr>
          <p:cNvSpPr/>
          <p:nvPr/>
        </p:nvSpPr>
        <p:spPr>
          <a:xfrm>
            <a:off x="680989" y="1634741"/>
            <a:ext cx="2199280" cy="1913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redondeado 9">
            <a:extLst>
              <a:ext uri="{FF2B5EF4-FFF2-40B4-BE49-F238E27FC236}">
                <a16:creationId xmlns:a16="http://schemas.microsoft.com/office/drawing/2014/main" id="{DF93010A-3513-FB80-A36A-8C48F5BC1410}"/>
              </a:ext>
            </a:extLst>
          </p:cNvPr>
          <p:cNvSpPr/>
          <p:nvPr/>
        </p:nvSpPr>
        <p:spPr>
          <a:xfrm>
            <a:off x="3006900" y="1665461"/>
            <a:ext cx="347659" cy="15592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11</a:t>
            </a:r>
          </a:p>
        </p:txBody>
      </p:sp>
      <p:sp>
        <p:nvSpPr>
          <p:cNvPr id="9" name="Rectángulo redondeado 9">
            <a:extLst>
              <a:ext uri="{FF2B5EF4-FFF2-40B4-BE49-F238E27FC236}">
                <a16:creationId xmlns:a16="http://schemas.microsoft.com/office/drawing/2014/main" id="{89A29D63-6485-3CC2-2192-D3D537DEA2A8}"/>
              </a:ext>
            </a:extLst>
          </p:cNvPr>
          <p:cNvSpPr/>
          <p:nvPr/>
        </p:nvSpPr>
        <p:spPr>
          <a:xfrm>
            <a:off x="8034141" y="1471619"/>
            <a:ext cx="347659" cy="15592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Tree>
    <p:extLst>
      <p:ext uri="{BB962C8B-B14F-4D97-AF65-F5344CB8AC3E}">
        <p14:creationId xmlns:p14="http://schemas.microsoft.com/office/powerpoint/2010/main" val="1289348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B442F-5924-FF7F-BC52-612645B477E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7BE8DDF-6814-8529-F344-2023460C1471}"/>
              </a:ext>
            </a:extLst>
          </p:cNvPr>
          <p:cNvPicPr>
            <a:picLocks noChangeAspect="1"/>
          </p:cNvPicPr>
          <p:nvPr/>
        </p:nvPicPr>
        <p:blipFill>
          <a:blip r:embed="rId3"/>
          <a:stretch>
            <a:fillRect/>
          </a:stretch>
        </p:blipFill>
        <p:spPr>
          <a:xfrm>
            <a:off x="680989" y="866131"/>
            <a:ext cx="11136796" cy="4894590"/>
          </a:xfrm>
          <a:prstGeom prst="rect">
            <a:avLst/>
          </a:prstGeom>
        </p:spPr>
      </p:pic>
      <p:sp>
        <p:nvSpPr>
          <p:cNvPr id="2" name="Marcador de texto vertical 1">
            <a:extLst>
              <a:ext uri="{FF2B5EF4-FFF2-40B4-BE49-F238E27FC236}">
                <a16:creationId xmlns:a16="http://schemas.microsoft.com/office/drawing/2014/main" id="{75048CFF-DECE-6B7B-9295-1790F9BCEE38}"/>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E2473710-F680-C167-59DA-00B40AA54864}"/>
              </a:ext>
            </a:extLst>
          </p:cNvPr>
          <p:cNvSpPr>
            <a:spLocks noGrp="1"/>
          </p:cNvSpPr>
          <p:nvPr>
            <p:ph type="title"/>
          </p:nvPr>
        </p:nvSpPr>
        <p:spPr>
          <a:xfrm>
            <a:off x="680987" y="386474"/>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FD6CE718-111E-7B78-ADA5-BB1569E65D4C}"/>
              </a:ext>
            </a:extLst>
          </p:cNvPr>
          <p:cNvSpPr/>
          <p:nvPr/>
        </p:nvSpPr>
        <p:spPr>
          <a:xfrm>
            <a:off x="680988" y="4663457"/>
            <a:ext cx="11136795" cy="67328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12. Puede visualizar los resultados del proceso en la página…</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87FA30F6-34F2-37AF-6800-494C60D5C07E}"/>
              </a:ext>
            </a:extLst>
          </p:cNvPr>
          <p:cNvSpPr/>
          <p:nvPr/>
        </p:nvSpPr>
        <p:spPr>
          <a:xfrm>
            <a:off x="680987" y="1627166"/>
            <a:ext cx="11136795" cy="289286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redondeado 9">
            <a:extLst>
              <a:ext uri="{FF2B5EF4-FFF2-40B4-BE49-F238E27FC236}">
                <a16:creationId xmlns:a16="http://schemas.microsoft.com/office/drawing/2014/main" id="{60C5A908-8847-3BFC-4C23-400DA8726C4E}"/>
              </a:ext>
            </a:extLst>
          </p:cNvPr>
          <p:cNvSpPr/>
          <p:nvPr/>
        </p:nvSpPr>
        <p:spPr>
          <a:xfrm>
            <a:off x="7092168" y="2198257"/>
            <a:ext cx="347659" cy="15592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12</a:t>
            </a:r>
          </a:p>
        </p:txBody>
      </p:sp>
    </p:spTree>
    <p:extLst>
      <p:ext uri="{BB962C8B-B14F-4D97-AF65-F5344CB8AC3E}">
        <p14:creationId xmlns:p14="http://schemas.microsoft.com/office/powerpoint/2010/main" val="2732656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A415B-C632-DD88-72AE-49E36CC3657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8480FA9-6B7C-D94D-81D0-B7E60F0E82E8}"/>
              </a:ext>
            </a:extLst>
          </p:cNvPr>
          <p:cNvPicPr>
            <a:picLocks noChangeAspect="1"/>
          </p:cNvPicPr>
          <p:nvPr/>
        </p:nvPicPr>
        <p:blipFill>
          <a:blip r:embed="rId3"/>
          <a:stretch>
            <a:fillRect/>
          </a:stretch>
        </p:blipFill>
        <p:spPr>
          <a:xfrm>
            <a:off x="800100" y="782963"/>
            <a:ext cx="11015661" cy="5034907"/>
          </a:xfrm>
          <a:prstGeom prst="rect">
            <a:avLst/>
          </a:prstGeom>
        </p:spPr>
      </p:pic>
      <p:sp>
        <p:nvSpPr>
          <p:cNvPr id="2" name="Marcador de texto vertical 1">
            <a:extLst>
              <a:ext uri="{FF2B5EF4-FFF2-40B4-BE49-F238E27FC236}">
                <a16:creationId xmlns:a16="http://schemas.microsoft.com/office/drawing/2014/main" id="{2CD02EA9-00D1-DCD0-BF05-9F80429B2063}"/>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FCB38A64-B3CD-F53C-439A-DCF02AC97F50}"/>
              </a:ext>
            </a:extLst>
          </p:cNvPr>
          <p:cNvSpPr>
            <a:spLocks noGrp="1"/>
          </p:cNvSpPr>
          <p:nvPr>
            <p:ph type="title"/>
          </p:nvPr>
        </p:nvSpPr>
        <p:spPr>
          <a:xfrm>
            <a:off x="800100" y="333686"/>
            <a:ext cx="10477497" cy="898555"/>
          </a:xfrm>
        </p:spPr>
        <p:txBody>
          <a:bodyPr/>
          <a:lstStyle/>
          <a:p>
            <a:r>
              <a:rPr lang="es-ES_tradnl" dirty="0">
                <a:solidFill>
                  <a:schemeClr val="accent1"/>
                </a:solidFill>
              </a:rPr>
              <a:t>Identificar cursos repetidos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69E7F226-2D36-E17D-6334-6EF243E0C6C6}"/>
              </a:ext>
            </a:extLst>
          </p:cNvPr>
          <p:cNvSpPr/>
          <p:nvPr/>
        </p:nvSpPr>
        <p:spPr>
          <a:xfrm>
            <a:off x="800100" y="5124146"/>
            <a:ext cx="10896062" cy="11430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O bien guardar el archivo mediante el menú de Herramientas</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8CE1C0C8-0970-7006-F96A-45B24640D31D}"/>
              </a:ext>
            </a:extLst>
          </p:cNvPr>
          <p:cNvSpPr/>
          <p:nvPr/>
        </p:nvSpPr>
        <p:spPr>
          <a:xfrm>
            <a:off x="9833811" y="4572001"/>
            <a:ext cx="1862351" cy="449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27108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75D2-D928-8D35-B2FA-18D693BF64CF}"/>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CF5BC4BC-BB13-1A19-6F8B-82C23EB6CDE8}"/>
              </a:ext>
            </a:extLst>
          </p:cNvPr>
          <p:cNvSpPr>
            <a:spLocks noGrp="1"/>
          </p:cNvSpPr>
          <p:nvPr>
            <p:ph type="body" orient="vert" sz="quarter" idx="10"/>
          </p:nvPr>
        </p:nvSpPr>
        <p:spPr>
          <a:xfrm>
            <a:off x="0" y="685800"/>
            <a:ext cx="609600" cy="5486399"/>
          </a:xfrm>
        </p:spPr>
        <p:txBody>
          <a:bodyPr/>
          <a:lstStyle/>
          <a:p>
            <a:r>
              <a:rPr lang="es-CO" dirty="0"/>
              <a:t>Gestionar el promedio de estudiantes</a:t>
            </a:r>
            <a:br>
              <a:rPr lang="es-ES" dirty="0"/>
            </a:br>
            <a:endParaRPr lang="es-419" dirty="0"/>
          </a:p>
        </p:txBody>
      </p:sp>
      <p:sp>
        <p:nvSpPr>
          <p:cNvPr id="4" name="Título 3">
            <a:extLst>
              <a:ext uri="{FF2B5EF4-FFF2-40B4-BE49-F238E27FC236}">
                <a16:creationId xmlns:a16="http://schemas.microsoft.com/office/drawing/2014/main" id="{6E2B843E-F566-E4AF-9B9A-113A76D8520B}"/>
              </a:ext>
            </a:extLst>
          </p:cNvPr>
          <p:cNvSpPr>
            <a:spLocks noGrp="1"/>
          </p:cNvSpPr>
          <p:nvPr>
            <p:ph type="title"/>
          </p:nvPr>
        </p:nvSpPr>
        <p:spPr/>
        <p:txBody>
          <a:bodyPr/>
          <a:lstStyle/>
          <a:p>
            <a:r>
              <a:rPr lang="es-ES_tradnl" sz="4000" dirty="0"/>
              <a:t>Calcular promedios</a:t>
            </a:r>
            <a:endParaRPr lang="es-419" dirty="0"/>
          </a:p>
        </p:txBody>
      </p:sp>
      <p:sp>
        <p:nvSpPr>
          <p:cNvPr id="6" name="Marcador de texto 5">
            <a:extLst>
              <a:ext uri="{FF2B5EF4-FFF2-40B4-BE49-F238E27FC236}">
                <a16:creationId xmlns:a16="http://schemas.microsoft.com/office/drawing/2014/main" id="{502089EC-580E-6AEF-AFAA-F08E3A40868E}"/>
              </a:ext>
            </a:extLst>
          </p:cNvPr>
          <p:cNvSpPr>
            <a:spLocks noGrp="1"/>
          </p:cNvSpPr>
          <p:nvPr>
            <p:ph type="body" sz="quarter" idx="18"/>
          </p:nvPr>
        </p:nvSpPr>
        <p:spPr/>
        <p:txBody>
          <a:bodyPr/>
          <a:lstStyle/>
          <a:p>
            <a:r>
              <a:rPr lang="es-ES_tradnl" sz="2000" dirty="0"/>
              <a:t>Se corre el proceso para que el sistema realice el cálculo del promedio de los estudiantes.</a:t>
            </a:r>
          </a:p>
        </p:txBody>
      </p:sp>
    </p:spTree>
    <p:extLst>
      <p:ext uri="{BB962C8B-B14F-4D97-AF65-F5344CB8AC3E}">
        <p14:creationId xmlns:p14="http://schemas.microsoft.com/office/powerpoint/2010/main" val="201079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DB3F2-3DDE-3611-5EB5-534B3600C24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6F16C9B-8BD5-47EC-DBF2-FEEE9AE2F85B}"/>
              </a:ext>
            </a:extLst>
          </p:cNvPr>
          <p:cNvPicPr>
            <a:picLocks noChangeAspect="1"/>
          </p:cNvPicPr>
          <p:nvPr/>
        </p:nvPicPr>
        <p:blipFill>
          <a:blip r:embed="rId3"/>
          <a:stretch>
            <a:fillRect/>
          </a:stretch>
        </p:blipFill>
        <p:spPr>
          <a:xfrm>
            <a:off x="680989" y="782963"/>
            <a:ext cx="11076500" cy="4924818"/>
          </a:xfrm>
          <a:prstGeom prst="rect">
            <a:avLst/>
          </a:prstGeom>
        </p:spPr>
      </p:pic>
      <p:sp>
        <p:nvSpPr>
          <p:cNvPr id="2" name="Marcador de texto vertical 1">
            <a:extLst>
              <a:ext uri="{FF2B5EF4-FFF2-40B4-BE49-F238E27FC236}">
                <a16:creationId xmlns:a16="http://schemas.microsoft.com/office/drawing/2014/main" id="{8256C575-6861-D503-74E6-6F91FF855241}"/>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C8727B3A-7B78-75D0-42E5-D0CCD63AB267}"/>
              </a:ext>
            </a:extLst>
          </p:cNvPr>
          <p:cNvSpPr>
            <a:spLocks noGrp="1"/>
          </p:cNvSpPr>
          <p:nvPr>
            <p:ph type="title"/>
          </p:nvPr>
        </p:nvSpPr>
        <p:spPr>
          <a:xfrm>
            <a:off x="1218665" y="333686"/>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1D1499A7-8F7A-641A-A54B-46B309610BC6}"/>
              </a:ext>
            </a:extLst>
          </p:cNvPr>
          <p:cNvSpPr/>
          <p:nvPr/>
        </p:nvSpPr>
        <p:spPr>
          <a:xfrm>
            <a:off x="680988" y="3245372"/>
            <a:ext cx="11015173" cy="11430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pPr marL="228600" indent="-228600">
              <a:buAutoNum type="arabicPeriod"/>
            </a:pPr>
            <a:r>
              <a:rPr lang="es-ES_tradnl" sz="1200" dirty="0"/>
              <a:t>Ingrese al proceso SHRCGPA desde la página GJAPCTL.</a:t>
            </a:r>
          </a:p>
          <a:p>
            <a:pPr marL="228600" indent="-228600">
              <a:buFontTx/>
              <a:buAutoNum type="arabicPeriod"/>
            </a:pPr>
            <a:r>
              <a:rPr lang="es-ES_tradnl" sz="1200" dirty="0"/>
              <a:t>Presione el botón Ir.</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B84224D9-049B-403E-2202-50377D45A1C1}"/>
              </a:ext>
            </a:extLst>
          </p:cNvPr>
          <p:cNvSpPr/>
          <p:nvPr/>
        </p:nvSpPr>
        <p:spPr>
          <a:xfrm>
            <a:off x="1008588" y="1329404"/>
            <a:ext cx="1780674" cy="24062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3AEF2F5F-0B17-7AD7-EDAE-E6461CD97836}"/>
              </a:ext>
            </a:extLst>
          </p:cNvPr>
          <p:cNvSpPr/>
          <p:nvPr/>
        </p:nvSpPr>
        <p:spPr>
          <a:xfrm>
            <a:off x="11319309" y="1332904"/>
            <a:ext cx="438180" cy="2785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7D37BC0D-663D-120E-C63C-AD6C1C3830F8}"/>
              </a:ext>
            </a:extLst>
          </p:cNvPr>
          <p:cNvSpPr/>
          <p:nvPr/>
        </p:nvSpPr>
        <p:spPr>
          <a:xfrm>
            <a:off x="2973321" y="1310446"/>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9">
            <a:extLst>
              <a:ext uri="{FF2B5EF4-FFF2-40B4-BE49-F238E27FC236}">
                <a16:creationId xmlns:a16="http://schemas.microsoft.com/office/drawing/2014/main" id="{732D0212-44FC-DE52-A10E-FA1DA1BEB1C2}"/>
              </a:ext>
            </a:extLst>
          </p:cNvPr>
          <p:cNvSpPr/>
          <p:nvPr/>
        </p:nvSpPr>
        <p:spPr>
          <a:xfrm>
            <a:off x="10937702" y="1332904"/>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183999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4274E-36A3-D8CB-C01F-F16422A4ADD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BC2AEE9-5602-54B0-EDB7-BEC11E8AB911}"/>
              </a:ext>
            </a:extLst>
          </p:cNvPr>
          <p:cNvPicPr>
            <a:picLocks noChangeAspect="1"/>
          </p:cNvPicPr>
          <p:nvPr/>
        </p:nvPicPr>
        <p:blipFill>
          <a:blip r:embed="rId3"/>
          <a:stretch>
            <a:fillRect/>
          </a:stretch>
        </p:blipFill>
        <p:spPr>
          <a:xfrm>
            <a:off x="680989" y="874772"/>
            <a:ext cx="11167710" cy="5067210"/>
          </a:xfrm>
          <a:prstGeom prst="rect">
            <a:avLst/>
          </a:prstGeom>
        </p:spPr>
      </p:pic>
      <p:sp>
        <p:nvSpPr>
          <p:cNvPr id="2" name="Marcador de texto vertical 1">
            <a:extLst>
              <a:ext uri="{FF2B5EF4-FFF2-40B4-BE49-F238E27FC236}">
                <a16:creationId xmlns:a16="http://schemas.microsoft.com/office/drawing/2014/main" id="{D8D316AD-0B98-B63A-F532-7AA9EF781C82}"/>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472056EF-BA7D-8BC8-F384-3126ABE95373}"/>
              </a:ext>
            </a:extLst>
          </p:cNvPr>
          <p:cNvSpPr>
            <a:spLocks noGrp="1"/>
          </p:cNvSpPr>
          <p:nvPr>
            <p:ph type="title"/>
          </p:nvPr>
        </p:nvSpPr>
        <p:spPr>
          <a:xfrm>
            <a:off x="1218665" y="333686"/>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65CECE90-5000-4869-4355-5DC70B0D2061}"/>
              </a:ext>
            </a:extLst>
          </p:cNvPr>
          <p:cNvSpPr/>
          <p:nvPr/>
        </p:nvSpPr>
        <p:spPr>
          <a:xfrm>
            <a:off x="629653" y="4113312"/>
            <a:ext cx="11219046"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3. Defina la impresora como DATABASE</a:t>
            </a:r>
          </a:p>
          <a:p>
            <a:r>
              <a:rPr lang="es-ES_tradnl" sz="1200" dirty="0"/>
              <a:t>4. Pase al siguiente bloque</a:t>
            </a:r>
          </a:p>
          <a:p>
            <a:r>
              <a:rPr lang="es-ES_tradnl" sz="1200" dirty="0"/>
              <a:t>5. Ingrese los parámetros según la tabla que se presenta en la siguiente diapositiva</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189A152E-988F-FD7A-0EBB-942C4977B100}"/>
              </a:ext>
            </a:extLst>
          </p:cNvPr>
          <p:cNvSpPr/>
          <p:nvPr/>
        </p:nvSpPr>
        <p:spPr>
          <a:xfrm>
            <a:off x="1042736" y="1773327"/>
            <a:ext cx="2085473" cy="2785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F2A23F61-B289-4110-2571-A724C1913344}"/>
              </a:ext>
            </a:extLst>
          </p:cNvPr>
          <p:cNvSpPr/>
          <p:nvPr/>
        </p:nvSpPr>
        <p:spPr>
          <a:xfrm>
            <a:off x="629653" y="5639276"/>
            <a:ext cx="352927" cy="2785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5718EB8E-A423-4D84-99BA-A971B78065B2}"/>
              </a:ext>
            </a:extLst>
          </p:cNvPr>
          <p:cNvSpPr/>
          <p:nvPr/>
        </p:nvSpPr>
        <p:spPr>
          <a:xfrm>
            <a:off x="3346416" y="1773327"/>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redondeado 9">
            <a:extLst>
              <a:ext uri="{FF2B5EF4-FFF2-40B4-BE49-F238E27FC236}">
                <a16:creationId xmlns:a16="http://schemas.microsoft.com/office/drawing/2014/main" id="{CF222D47-678B-4442-F0F0-2ADD5136AB19}"/>
              </a:ext>
            </a:extLst>
          </p:cNvPr>
          <p:cNvSpPr/>
          <p:nvPr/>
        </p:nvSpPr>
        <p:spPr>
          <a:xfrm>
            <a:off x="632023" y="5266247"/>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8" name="Rectángulo 7">
            <a:extLst>
              <a:ext uri="{FF2B5EF4-FFF2-40B4-BE49-F238E27FC236}">
                <a16:creationId xmlns:a16="http://schemas.microsoft.com/office/drawing/2014/main" id="{BB075AD4-13AB-5B1F-56D4-46048966AD3F}"/>
              </a:ext>
            </a:extLst>
          </p:cNvPr>
          <p:cNvSpPr/>
          <p:nvPr/>
        </p:nvSpPr>
        <p:spPr>
          <a:xfrm>
            <a:off x="680989" y="2679279"/>
            <a:ext cx="11167710" cy="12038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redondeado 9">
            <a:extLst>
              <a:ext uri="{FF2B5EF4-FFF2-40B4-BE49-F238E27FC236}">
                <a16:creationId xmlns:a16="http://schemas.microsoft.com/office/drawing/2014/main" id="{FD6B1CD1-4FB5-0E93-9C65-BC8637AEFB3A}"/>
              </a:ext>
            </a:extLst>
          </p:cNvPr>
          <p:cNvSpPr/>
          <p:nvPr/>
        </p:nvSpPr>
        <p:spPr>
          <a:xfrm>
            <a:off x="5683751" y="2354771"/>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2037408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F675F-F7D6-FA36-865B-E9601EB245E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8F2455E1-DE3A-04A2-AE6F-761327085993}"/>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370382B1-2CA2-91FE-F49A-DBB9FE0FC3CD}"/>
              </a:ext>
            </a:extLst>
          </p:cNvPr>
          <p:cNvSpPr>
            <a:spLocks noGrp="1"/>
          </p:cNvSpPr>
          <p:nvPr>
            <p:ph type="title"/>
          </p:nvPr>
        </p:nvSpPr>
        <p:spPr>
          <a:xfrm>
            <a:off x="1218665" y="333686"/>
            <a:ext cx="10477497" cy="898555"/>
          </a:xfrm>
        </p:spPr>
        <p:txBody>
          <a:bodyPr/>
          <a:lstStyle/>
          <a:p>
            <a:r>
              <a:rPr lang="es-ES_tradnl" dirty="0">
                <a:solidFill>
                  <a:schemeClr val="accent1"/>
                </a:solidFill>
              </a:rPr>
              <a:t>Calcular promedios</a:t>
            </a:r>
            <a:endParaRPr lang="es-ES_tradnl" b="0" dirty="0">
              <a:solidFill>
                <a:schemeClr val="accent1"/>
              </a:solidFill>
            </a:endParaRPr>
          </a:p>
        </p:txBody>
      </p:sp>
      <p:graphicFrame>
        <p:nvGraphicFramePr>
          <p:cNvPr id="3" name="Marcador de contenido 3">
            <a:extLst>
              <a:ext uri="{FF2B5EF4-FFF2-40B4-BE49-F238E27FC236}">
                <a16:creationId xmlns:a16="http://schemas.microsoft.com/office/drawing/2014/main" id="{66113E0B-3880-7BA1-3FD0-0AD628D770DB}"/>
              </a:ext>
            </a:extLst>
          </p:cNvPr>
          <p:cNvGraphicFramePr>
            <a:graphicFrameLocks/>
          </p:cNvGraphicFramePr>
          <p:nvPr>
            <p:extLst>
              <p:ext uri="{D42A27DB-BD31-4B8C-83A1-F6EECF244321}">
                <p14:modId xmlns:p14="http://schemas.microsoft.com/office/powerpoint/2010/main" val="3742130583"/>
              </p:ext>
            </p:extLst>
          </p:nvPr>
        </p:nvGraphicFramePr>
        <p:xfrm>
          <a:off x="1218664" y="1386240"/>
          <a:ext cx="10042892" cy="2945128"/>
        </p:xfrm>
        <a:graphic>
          <a:graphicData uri="http://schemas.openxmlformats.org/drawingml/2006/table">
            <a:tbl>
              <a:tblPr firstRow="1" bandRow="1">
                <a:tableStyleId>{5C22544A-7EE6-4342-B048-85BDC9FD1C3A}</a:tableStyleId>
              </a:tblPr>
              <a:tblGrid>
                <a:gridCol w="733704">
                  <a:extLst>
                    <a:ext uri="{9D8B030D-6E8A-4147-A177-3AD203B41FA5}">
                      <a16:colId xmlns:a16="http://schemas.microsoft.com/office/drawing/2014/main" val="249767121"/>
                    </a:ext>
                  </a:extLst>
                </a:gridCol>
                <a:gridCol w="1302249">
                  <a:extLst>
                    <a:ext uri="{9D8B030D-6E8A-4147-A177-3AD203B41FA5}">
                      <a16:colId xmlns:a16="http://schemas.microsoft.com/office/drawing/2014/main" val="915586211"/>
                    </a:ext>
                  </a:extLst>
                </a:gridCol>
                <a:gridCol w="6791749">
                  <a:extLst>
                    <a:ext uri="{9D8B030D-6E8A-4147-A177-3AD203B41FA5}">
                      <a16:colId xmlns:a16="http://schemas.microsoft.com/office/drawing/2014/main" val="523512153"/>
                    </a:ext>
                  </a:extLst>
                </a:gridCol>
                <a:gridCol w="1215190">
                  <a:extLst>
                    <a:ext uri="{9D8B030D-6E8A-4147-A177-3AD203B41FA5}">
                      <a16:colId xmlns:a16="http://schemas.microsoft.com/office/drawing/2014/main" val="1126850053"/>
                    </a:ext>
                  </a:extLst>
                </a:gridCol>
              </a:tblGrid>
              <a:tr h="540507">
                <a:tc>
                  <a:txBody>
                    <a:bodyPr/>
                    <a:lstStyle/>
                    <a:p>
                      <a:pPr marL="0" marR="0">
                        <a:lnSpc>
                          <a:spcPct val="115000"/>
                        </a:lnSpc>
                        <a:spcBef>
                          <a:spcPts val="0"/>
                        </a:spcBef>
                        <a:spcAft>
                          <a:spcPts val="0"/>
                        </a:spcAft>
                      </a:pPr>
                      <a:r>
                        <a:rPr lang="es-419" sz="1050" dirty="0">
                          <a:solidFill>
                            <a:schemeClr val="bg1"/>
                          </a:solidFill>
                          <a:effectLst/>
                        </a:rPr>
                        <a:t>Número</a:t>
                      </a:r>
                      <a:endParaRPr lang="es-CO" sz="105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1050" dirty="0">
                          <a:solidFill>
                            <a:schemeClr val="bg1"/>
                          </a:solidFill>
                          <a:effectLst/>
                        </a:rPr>
                        <a:t>Parámetro</a:t>
                      </a:r>
                      <a:endParaRPr lang="es-CO" sz="105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bg1"/>
                          </a:solidFill>
                          <a:effectLst/>
                        </a:rPr>
                        <a:t>Valores</a:t>
                      </a:r>
                      <a:endParaRPr lang="es-CO" sz="105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bg1"/>
                          </a:solidFill>
                          <a:effectLst/>
                        </a:rPr>
                        <a:t>Requerido / Opcional</a:t>
                      </a:r>
                      <a:endParaRPr lang="es-CO" sz="105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309169">
                <a:tc>
                  <a:txBody>
                    <a:bodyPr/>
                    <a:lstStyle/>
                    <a:p>
                      <a:pPr marL="0" marR="0">
                        <a:lnSpc>
                          <a:spcPct val="115000"/>
                        </a:lnSpc>
                        <a:spcBef>
                          <a:spcPts val="0"/>
                        </a:spcBef>
                        <a:spcAft>
                          <a:spcPts val="0"/>
                        </a:spcAft>
                      </a:pPr>
                      <a:r>
                        <a:rPr lang="es-419" sz="1050" dirty="0">
                          <a:solidFill>
                            <a:schemeClr val="tx1"/>
                          </a:solidFill>
                          <a:effectLst/>
                        </a:rPr>
                        <a:t>01</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1050" dirty="0">
                          <a:solidFill>
                            <a:schemeClr val="tx1"/>
                          </a:solidFill>
                          <a:effectLst/>
                        </a:rPr>
                        <a:t>Periodo</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10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Seleccione el  código del período para el cual desea correr el proceso.</a:t>
                      </a:r>
                      <a:endParaRPr lang="es-CO" sz="10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tx1"/>
                          </a:solidFill>
                          <a:effectLst/>
                        </a:rPr>
                        <a:t>R</a:t>
                      </a:r>
                      <a:endParaRPr lang="es-CO" sz="10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57562266"/>
                  </a:ext>
                </a:extLst>
              </a:tr>
              <a:tr h="765379">
                <a:tc>
                  <a:txBody>
                    <a:bodyPr/>
                    <a:lstStyle/>
                    <a:p>
                      <a:pPr marL="0" marR="0">
                        <a:lnSpc>
                          <a:spcPct val="115000"/>
                        </a:lnSpc>
                        <a:spcBef>
                          <a:spcPts val="0"/>
                        </a:spcBef>
                        <a:spcAft>
                          <a:spcPts val="0"/>
                        </a:spcAft>
                      </a:pPr>
                      <a:r>
                        <a:rPr lang="es-419"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02</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1050" dirty="0" err="1">
                          <a:solidFill>
                            <a:srgbClr val="414042"/>
                          </a:solidFill>
                          <a:effectLst/>
                          <a:latin typeface="Arial" panose="020B0604020202020204" pitchFamily="34" charset="0"/>
                          <a:ea typeface="MS PGothic" panose="020B0600070205080204" pitchFamily="34" charset="-128"/>
                          <a:cs typeface="Arial" panose="020B0604020202020204" pitchFamily="34" charset="0"/>
                        </a:rPr>
                        <a:t>Selec</a:t>
                      </a:r>
                      <a:r>
                        <a:rPr lang="es-419" sz="10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 todo, pasado o colector</a:t>
                      </a:r>
                      <a:endParaRPr lang="es-CO" sz="10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1050" dirty="0">
                          <a:solidFill>
                            <a:schemeClr val="tx1"/>
                          </a:solidFill>
                          <a:effectLst/>
                          <a:latin typeface="Arial" panose="020B0604020202020204" pitchFamily="34" charset="0"/>
                          <a:cs typeface="Times New Roman" panose="02020603050405020304" pitchFamily="18" charset="0"/>
                        </a:rPr>
                        <a:t>Indique la población sobre la cual se procesará el cálculo del promedio: </a:t>
                      </a:r>
                      <a:r>
                        <a:rPr lang="es-419" sz="1050" b="1" dirty="0">
                          <a:solidFill>
                            <a:schemeClr val="tx1"/>
                          </a:solidFill>
                          <a:effectLst/>
                          <a:latin typeface="Arial" panose="020B0604020202020204" pitchFamily="34" charset="0"/>
                          <a:cs typeface="Times New Roman" panose="02020603050405020304" pitchFamily="18" charset="0"/>
                        </a:rPr>
                        <a:t>a</a:t>
                      </a:r>
                      <a:r>
                        <a:rPr lang="es-419" sz="1050" dirty="0">
                          <a:solidFill>
                            <a:schemeClr val="tx1"/>
                          </a:solidFill>
                          <a:effectLst/>
                          <a:latin typeface="Arial" panose="020B0604020202020204" pitchFamily="34" charset="0"/>
                          <a:cs typeface="Times New Roman" panose="02020603050405020304" pitchFamily="18" charset="0"/>
                        </a:rPr>
                        <a:t> para </a:t>
                      </a:r>
                      <a:r>
                        <a:rPr lang="es-CO" sz="1050" dirty="0">
                          <a:solidFill>
                            <a:schemeClr val="tx1"/>
                          </a:solidFill>
                          <a:effectLst/>
                          <a:latin typeface="Arial" panose="020B0604020202020204" pitchFamily="34" charset="0"/>
                          <a:cs typeface="Times New Roman" panose="02020603050405020304" pitchFamily="18" charset="0"/>
                        </a:rPr>
                        <a:t>todos los alumnos del periodo, </a:t>
                      </a:r>
                      <a:r>
                        <a:rPr lang="es-CO" sz="1050" b="1" dirty="0">
                          <a:solidFill>
                            <a:schemeClr val="tx1"/>
                          </a:solidFill>
                          <a:effectLst/>
                          <a:latin typeface="Arial" panose="020B0604020202020204" pitchFamily="34" charset="0"/>
                          <a:cs typeface="Times New Roman" panose="02020603050405020304" pitchFamily="18" charset="0"/>
                        </a:rPr>
                        <a:t>r</a:t>
                      </a:r>
                      <a:r>
                        <a:rPr lang="es-CO" sz="1050" dirty="0">
                          <a:solidFill>
                            <a:schemeClr val="tx1"/>
                          </a:solidFill>
                          <a:effectLst/>
                          <a:latin typeface="Arial" panose="020B0604020202020204" pitchFamily="34" charset="0"/>
                          <a:cs typeface="Times New Roman" panose="02020603050405020304" pitchFamily="18" charset="0"/>
                        </a:rPr>
                        <a:t> solo para los alumnos cuyos historiales académicos se pasaron, o </a:t>
                      </a:r>
                      <a:r>
                        <a:rPr lang="es-CO" sz="1050" b="1" dirty="0">
                          <a:solidFill>
                            <a:schemeClr val="tx1"/>
                          </a:solidFill>
                          <a:effectLst/>
                          <a:latin typeface="Arial" panose="020B0604020202020204" pitchFamily="34" charset="0"/>
                          <a:cs typeface="Times New Roman" panose="02020603050405020304" pitchFamily="18" charset="0"/>
                        </a:rPr>
                        <a:t>c</a:t>
                      </a:r>
                      <a:r>
                        <a:rPr lang="es-CO" sz="1050" dirty="0">
                          <a:solidFill>
                            <a:schemeClr val="tx1"/>
                          </a:solidFill>
                          <a:effectLst/>
                          <a:latin typeface="Arial" panose="020B0604020202020204" pitchFamily="34" charset="0"/>
                          <a:cs typeface="Times New Roman" panose="02020603050405020304" pitchFamily="18" charset="0"/>
                        </a:rPr>
                        <a:t> para alumnos cuya información se almacenó en un archivo colector.</a:t>
                      </a:r>
                    </a:p>
                  </a:txBody>
                  <a:tcPr marL="68580" marR="68580" marT="36195" marB="36195" anchor="ctr"/>
                </a:tc>
                <a:tc>
                  <a:txBody>
                    <a:bodyPr/>
                    <a:lstStyle/>
                    <a:p>
                      <a:pPr algn="ctr">
                        <a:lnSpc>
                          <a:spcPct val="115000"/>
                        </a:lnSpc>
                      </a:pPr>
                      <a:r>
                        <a:rPr lang="es-419" sz="1050" dirty="0">
                          <a:solidFill>
                            <a:srgbClr val="000000"/>
                          </a:solidFill>
                          <a:effectLst/>
                          <a:latin typeface="Arial" panose="020B0604020202020204" pitchFamily="34" charset="0"/>
                          <a:cs typeface="Arial" panose="020B0604020202020204" pitchFamily="34" charset="0"/>
                        </a:rPr>
                        <a:t>R</a:t>
                      </a:r>
                      <a:endParaRPr lang="es-CO" sz="1050" dirty="0">
                        <a:solidFill>
                          <a:srgbClr val="7D7D7D"/>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509454192"/>
                  </a:ext>
                </a:extLst>
              </a:tr>
              <a:tr h="493329">
                <a:tc>
                  <a:txBody>
                    <a:bodyPr/>
                    <a:lstStyle/>
                    <a:p>
                      <a:pPr marL="0" marR="0">
                        <a:lnSpc>
                          <a:spcPct val="115000"/>
                        </a:lnSpc>
                        <a:spcBef>
                          <a:spcPts val="0"/>
                        </a:spcBef>
                        <a:spcAft>
                          <a:spcPts val="0"/>
                        </a:spcAft>
                      </a:pPr>
                      <a:r>
                        <a:rPr lang="es-419"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03</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Identificador de selección</a:t>
                      </a:r>
                    </a:p>
                  </a:txBody>
                  <a:tcPr marL="68580" marR="68580" marT="36195" marB="36195" anchor="ctr"/>
                </a:tc>
                <a:tc>
                  <a:txBody>
                    <a:bodyPr/>
                    <a:lstStyle/>
                    <a:p>
                      <a:pPr algn="just">
                        <a:lnSpc>
                          <a:spcPct val="115000"/>
                        </a:lnSpc>
                      </a:pPr>
                      <a:r>
                        <a:rPr lang="es-419" sz="1050" dirty="0">
                          <a:solidFill>
                            <a:schemeClr val="tx1"/>
                          </a:solidFill>
                          <a:effectLst/>
                          <a:latin typeface="Arial" panose="020B0604020202020204" pitchFamily="34" charset="0"/>
                          <a:cs typeface="Times New Roman" panose="02020603050405020304" pitchFamily="18" charset="0"/>
                        </a:rPr>
                        <a:t>Ingrese el código que identifica la selección de población a la que se aplicará el proceso.</a:t>
                      </a:r>
                      <a:endParaRPr lang="es-CO" sz="10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tx1"/>
                          </a:solidFill>
                          <a:effectLst/>
                          <a:latin typeface="Arial" panose="020B0604020202020204" pitchFamily="34" charset="0"/>
                          <a:cs typeface="Times New Roman" panose="02020603050405020304" pitchFamily="18" charset="0"/>
                        </a:rPr>
                        <a:t>O</a:t>
                      </a:r>
                      <a:endParaRPr lang="es-CO" sz="10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56190754"/>
                  </a:ext>
                </a:extLst>
              </a:tr>
              <a:tr h="534041">
                <a:tc>
                  <a:txBody>
                    <a:bodyPr/>
                    <a:lstStyle/>
                    <a:p>
                      <a:pPr marL="0" marR="0">
                        <a:lnSpc>
                          <a:spcPct val="115000"/>
                        </a:lnSpc>
                        <a:spcBef>
                          <a:spcPts val="0"/>
                        </a:spcBef>
                        <a:spcAft>
                          <a:spcPts val="0"/>
                        </a:spcAft>
                      </a:pPr>
                      <a:r>
                        <a:rPr lang="es-419"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04</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105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Código de aplicación</a:t>
                      </a:r>
                      <a:endParaRPr lang="es-CO" sz="10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lnSpc>
                          <a:spcPct val="115000"/>
                        </a:lnSpc>
                        <a:spcBef>
                          <a:spcPts val="0"/>
                        </a:spcBef>
                        <a:spcAft>
                          <a:spcPts val="0"/>
                        </a:spcAft>
                      </a:pPr>
                      <a:r>
                        <a:rPr lang="es-419" sz="105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si el proceso va a correr para una selección de población, el código de la aplicación con la que se realizó esa selección.</a:t>
                      </a:r>
                      <a:endParaRPr lang="es-CO" sz="105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tx1"/>
                          </a:solidFill>
                          <a:effectLst/>
                          <a:latin typeface="Arial" panose="020B0604020202020204" pitchFamily="34" charset="0"/>
                          <a:cs typeface="Times New Roman" panose="02020603050405020304" pitchFamily="18" charset="0"/>
                        </a:rPr>
                        <a:t>O</a:t>
                      </a:r>
                      <a:endParaRPr lang="es-CO" sz="10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00244662"/>
                  </a:ext>
                </a:extLst>
              </a:tr>
              <a:tr h="302703">
                <a:tc>
                  <a:txBody>
                    <a:bodyPr/>
                    <a:lstStyle/>
                    <a:p>
                      <a:pPr marL="0" marR="0">
                        <a:lnSpc>
                          <a:spcPct val="115000"/>
                        </a:lnSpc>
                        <a:spcBef>
                          <a:spcPts val="0"/>
                        </a:spcBef>
                        <a:spcAft>
                          <a:spcPts val="0"/>
                        </a:spcAft>
                      </a:pPr>
                      <a:r>
                        <a:rPr lang="es-419"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05</a:t>
                      </a:r>
                      <a:endParaRPr lang="es-CO" sz="105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10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de creador</a:t>
                      </a:r>
                      <a:endParaRPr lang="es-CO" sz="10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10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usuario que creó la selección</a:t>
                      </a:r>
                      <a:endParaRPr lang="es-CO" sz="105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50" dirty="0">
                          <a:solidFill>
                            <a:schemeClr val="tx1"/>
                          </a:solidFill>
                          <a:effectLst/>
                          <a:latin typeface="Arial" panose="020B0604020202020204" pitchFamily="34" charset="0"/>
                          <a:cs typeface="Times New Roman" panose="02020603050405020304" pitchFamily="18" charset="0"/>
                        </a:rPr>
                        <a:t>O</a:t>
                      </a:r>
                      <a:endParaRPr lang="es-CO" sz="105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990127115"/>
                  </a:ext>
                </a:extLst>
              </a:tr>
            </a:tbl>
          </a:graphicData>
        </a:graphic>
      </p:graphicFrame>
    </p:spTree>
    <p:extLst>
      <p:ext uri="{BB962C8B-B14F-4D97-AF65-F5344CB8AC3E}">
        <p14:creationId xmlns:p14="http://schemas.microsoft.com/office/powerpoint/2010/main" val="1409720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F50F-50BF-6676-3601-301478D163B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E2876D7-51C9-BBF9-9312-CBF4B1580B1F}"/>
              </a:ext>
            </a:extLst>
          </p:cNvPr>
          <p:cNvPicPr>
            <a:picLocks noChangeAspect="1"/>
          </p:cNvPicPr>
          <p:nvPr/>
        </p:nvPicPr>
        <p:blipFill>
          <a:blip r:embed="rId3"/>
          <a:stretch>
            <a:fillRect/>
          </a:stretch>
        </p:blipFill>
        <p:spPr>
          <a:xfrm>
            <a:off x="715573" y="863618"/>
            <a:ext cx="11084622" cy="5084795"/>
          </a:xfrm>
          <a:prstGeom prst="rect">
            <a:avLst/>
          </a:prstGeom>
        </p:spPr>
      </p:pic>
      <p:sp>
        <p:nvSpPr>
          <p:cNvPr id="2" name="Marcador de texto vertical 1">
            <a:extLst>
              <a:ext uri="{FF2B5EF4-FFF2-40B4-BE49-F238E27FC236}">
                <a16:creationId xmlns:a16="http://schemas.microsoft.com/office/drawing/2014/main" id="{AF56508E-18F9-8EEB-FA8B-0F16A2FBD217}"/>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2B5A82D3-4332-5DAD-C0DC-CFD7B6A3F56C}"/>
              </a:ext>
            </a:extLst>
          </p:cNvPr>
          <p:cNvSpPr>
            <a:spLocks noGrp="1"/>
          </p:cNvSpPr>
          <p:nvPr>
            <p:ph type="title"/>
          </p:nvPr>
        </p:nvSpPr>
        <p:spPr>
          <a:xfrm>
            <a:off x="680989" y="322256"/>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F87B435F-2BCB-46BF-BD43-21D770079D86}"/>
              </a:ext>
            </a:extLst>
          </p:cNvPr>
          <p:cNvSpPr/>
          <p:nvPr/>
        </p:nvSpPr>
        <p:spPr>
          <a:xfrm>
            <a:off x="715572" y="4581427"/>
            <a:ext cx="10980589"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6. Toda vez que se ingresaron los parámetros, pase al siguiente bloque</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83234B9D-7B0A-4E8A-32C4-6E904D4A9580}"/>
              </a:ext>
            </a:extLst>
          </p:cNvPr>
          <p:cNvSpPr/>
          <p:nvPr/>
        </p:nvSpPr>
        <p:spPr>
          <a:xfrm>
            <a:off x="978034" y="5585860"/>
            <a:ext cx="350252" cy="2566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DE3341BE-4C5A-5D56-4D54-0ADD6A3FBC07}"/>
              </a:ext>
            </a:extLst>
          </p:cNvPr>
          <p:cNvSpPr/>
          <p:nvPr/>
        </p:nvSpPr>
        <p:spPr>
          <a:xfrm>
            <a:off x="1447207" y="5563992"/>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7" name="Rectángulo 6">
            <a:extLst>
              <a:ext uri="{FF2B5EF4-FFF2-40B4-BE49-F238E27FC236}">
                <a16:creationId xmlns:a16="http://schemas.microsoft.com/office/drawing/2014/main" id="{EB512145-65DE-3156-8FF2-7B5DCFF2BED5}"/>
              </a:ext>
            </a:extLst>
          </p:cNvPr>
          <p:cNvSpPr/>
          <p:nvPr/>
        </p:nvSpPr>
        <p:spPr>
          <a:xfrm>
            <a:off x="6438162" y="4324752"/>
            <a:ext cx="1531556" cy="17266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redondeado 9">
            <a:extLst>
              <a:ext uri="{FF2B5EF4-FFF2-40B4-BE49-F238E27FC236}">
                <a16:creationId xmlns:a16="http://schemas.microsoft.com/office/drawing/2014/main" id="{3B7C0CB8-F6FB-17F3-6B9D-9DCD18579451}"/>
              </a:ext>
            </a:extLst>
          </p:cNvPr>
          <p:cNvSpPr/>
          <p:nvPr/>
        </p:nvSpPr>
        <p:spPr>
          <a:xfrm>
            <a:off x="7060400" y="3973724"/>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9" name="Rectángulo 8">
            <a:extLst>
              <a:ext uri="{FF2B5EF4-FFF2-40B4-BE49-F238E27FC236}">
                <a16:creationId xmlns:a16="http://schemas.microsoft.com/office/drawing/2014/main" id="{F1BCC376-96EF-A38F-BB25-D4E2808E0190}"/>
              </a:ext>
            </a:extLst>
          </p:cNvPr>
          <p:cNvSpPr/>
          <p:nvPr/>
        </p:nvSpPr>
        <p:spPr>
          <a:xfrm>
            <a:off x="11309684" y="5616340"/>
            <a:ext cx="490511" cy="2566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redondeado 9">
            <a:extLst>
              <a:ext uri="{FF2B5EF4-FFF2-40B4-BE49-F238E27FC236}">
                <a16:creationId xmlns:a16="http://schemas.microsoft.com/office/drawing/2014/main" id="{B4ACABB3-7015-4CE1-0BAA-CB5D803D71EF}"/>
              </a:ext>
            </a:extLst>
          </p:cNvPr>
          <p:cNvSpPr/>
          <p:nvPr/>
        </p:nvSpPr>
        <p:spPr>
          <a:xfrm>
            <a:off x="10926887" y="5616632"/>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3816904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F711-506E-C5D7-87AB-B18FF3C2C4E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4EB4E6A-8252-544E-6356-FF998B1E24A7}"/>
              </a:ext>
            </a:extLst>
          </p:cNvPr>
          <p:cNvPicPr>
            <a:picLocks noChangeAspect="1"/>
          </p:cNvPicPr>
          <p:nvPr/>
        </p:nvPicPr>
        <p:blipFill>
          <a:blip r:embed="rId3"/>
          <a:stretch>
            <a:fillRect/>
          </a:stretch>
        </p:blipFill>
        <p:spPr>
          <a:xfrm>
            <a:off x="680989" y="936048"/>
            <a:ext cx="11149481" cy="5110422"/>
          </a:xfrm>
          <a:prstGeom prst="rect">
            <a:avLst/>
          </a:prstGeom>
        </p:spPr>
      </p:pic>
      <p:sp>
        <p:nvSpPr>
          <p:cNvPr id="2" name="Marcador de texto vertical 1">
            <a:extLst>
              <a:ext uri="{FF2B5EF4-FFF2-40B4-BE49-F238E27FC236}">
                <a16:creationId xmlns:a16="http://schemas.microsoft.com/office/drawing/2014/main" id="{E7FE048C-1D63-E29E-58B2-62858A2E5695}"/>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D1B318F6-6FD8-AB99-90B7-DA1DD845FA71}"/>
              </a:ext>
            </a:extLst>
          </p:cNvPr>
          <p:cNvSpPr>
            <a:spLocks noGrp="1"/>
          </p:cNvSpPr>
          <p:nvPr>
            <p:ph type="title"/>
          </p:nvPr>
        </p:nvSpPr>
        <p:spPr>
          <a:xfrm>
            <a:off x="680988" y="323562"/>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03CA9425-2BDC-EF3B-E320-1DFB5B8AE9E4}"/>
              </a:ext>
            </a:extLst>
          </p:cNvPr>
          <p:cNvSpPr/>
          <p:nvPr/>
        </p:nvSpPr>
        <p:spPr>
          <a:xfrm>
            <a:off x="680988" y="4599540"/>
            <a:ext cx="11015173"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9. Para revisar el resultado del proceso, selección la opción Revisar salida del Menú Relacionado.</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5DA2B863-982E-313D-DA33-65AC615B2EF8}"/>
              </a:ext>
            </a:extLst>
          </p:cNvPr>
          <p:cNvSpPr/>
          <p:nvPr/>
        </p:nvSpPr>
        <p:spPr>
          <a:xfrm>
            <a:off x="10401300" y="1222117"/>
            <a:ext cx="378728" cy="1723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F74B8B26-04D5-196B-A4CB-338B3FB08A23}"/>
              </a:ext>
            </a:extLst>
          </p:cNvPr>
          <p:cNvSpPr/>
          <p:nvPr/>
        </p:nvSpPr>
        <p:spPr>
          <a:xfrm>
            <a:off x="9749226" y="1691326"/>
            <a:ext cx="287079" cy="27854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5" name="Rectángulo 4">
            <a:extLst>
              <a:ext uri="{FF2B5EF4-FFF2-40B4-BE49-F238E27FC236}">
                <a16:creationId xmlns:a16="http://schemas.microsoft.com/office/drawing/2014/main" id="{352932D8-AC57-B1F6-D283-D77666A046BD}"/>
              </a:ext>
            </a:extLst>
          </p:cNvPr>
          <p:cNvSpPr/>
          <p:nvPr/>
        </p:nvSpPr>
        <p:spPr>
          <a:xfrm>
            <a:off x="10197566" y="1699337"/>
            <a:ext cx="1164924" cy="2705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144517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5CAD5-EBCD-095C-02A5-583C6E91E01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4E484A9D-420C-69A8-46FD-B5D72796CC37}"/>
              </a:ext>
            </a:extLst>
          </p:cNvPr>
          <p:cNvPicPr>
            <a:picLocks noChangeAspect="1"/>
          </p:cNvPicPr>
          <p:nvPr/>
        </p:nvPicPr>
        <p:blipFill>
          <a:blip r:embed="rId3"/>
          <a:stretch>
            <a:fillRect/>
          </a:stretch>
        </p:blipFill>
        <p:spPr>
          <a:xfrm>
            <a:off x="680989" y="879521"/>
            <a:ext cx="10992150" cy="4926920"/>
          </a:xfrm>
          <a:prstGeom prst="rect">
            <a:avLst/>
          </a:prstGeom>
        </p:spPr>
      </p:pic>
      <p:sp>
        <p:nvSpPr>
          <p:cNvPr id="2" name="Marcador de texto vertical 1">
            <a:extLst>
              <a:ext uri="{FF2B5EF4-FFF2-40B4-BE49-F238E27FC236}">
                <a16:creationId xmlns:a16="http://schemas.microsoft.com/office/drawing/2014/main" id="{DA1743FF-C016-746F-B475-765B4DCBB3FE}"/>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923E57A6-ECB7-09EF-EE60-091DDE5E2D25}"/>
              </a:ext>
            </a:extLst>
          </p:cNvPr>
          <p:cNvSpPr>
            <a:spLocks noGrp="1"/>
          </p:cNvSpPr>
          <p:nvPr>
            <p:ph type="title"/>
          </p:nvPr>
        </p:nvSpPr>
        <p:spPr>
          <a:xfrm>
            <a:off x="680989" y="328605"/>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58917D88-FA88-F78D-9C97-0528D62894A3}"/>
              </a:ext>
            </a:extLst>
          </p:cNvPr>
          <p:cNvSpPr/>
          <p:nvPr/>
        </p:nvSpPr>
        <p:spPr>
          <a:xfrm>
            <a:off x="680989" y="4882928"/>
            <a:ext cx="10992150" cy="128425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10. El sistema muestra el número asignado al proceso automáticamente.</a:t>
            </a:r>
          </a:p>
          <a:p>
            <a:r>
              <a:rPr lang="es-ES_tradnl" sz="1200" dirty="0"/>
              <a:t>11. Seleccione el archivo .lis para ver los resultados y presione el botón “Ir”.</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E1A4FD9F-E9B2-1E7E-8A9A-4D73D90FBB93}"/>
              </a:ext>
            </a:extLst>
          </p:cNvPr>
          <p:cNvSpPr/>
          <p:nvPr/>
        </p:nvSpPr>
        <p:spPr>
          <a:xfrm>
            <a:off x="680989" y="1592982"/>
            <a:ext cx="2156396" cy="1964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EE6366EF-38D6-4F28-A755-6A7984F2B0CF}"/>
              </a:ext>
            </a:extLst>
          </p:cNvPr>
          <p:cNvSpPr/>
          <p:nvPr/>
        </p:nvSpPr>
        <p:spPr>
          <a:xfrm>
            <a:off x="2957819" y="1611164"/>
            <a:ext cx="376686" cy="17828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11</a:t>
            </a:r>
          </a:p>
        </p:txBody>
      </p:sp>
      <p:sp>
        <p:nvSpPr>
          <p:cNvPr id="5" name="Rectángulo 4">
            <a:extLst>
              <a:ext uri="{FF2B5EF4-FFF2-40B4-BE49-F238E27FC236}">
                <a16:creationId xmlns:a16="http://schemas.microsoft.com/office/drawing/2014/main" id="{A9DDEABC-F9B0-4657-4ECC-401FC1C8DE05}"/>
              </a:ext>
            </a:extLst>
          </p:cNvPr>
          <p:cNvSpPr/>
          <p:nvPr/>
        </p:nvSpPr>
        <p:spPr>
          <a:xfrm>
            <a:off x="6054764" y="1425962"/>
            <a:ext cx="1844400" cy="1639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redondeado 9">
            <a:extLst>
              <a:ext uri="{FF2B5EF4-FFF2-40B4-BE49-F238E27FC236}">
                <a16:creationId xmlns:a16="http://schemas.microsoft.com/office/drawing/2014/main" id="{C2DC7836-6270-4BFC-3937-EE643C4C0D7B}"/>
              </a:ext>
            </a:extLst>
          </p:cNvPr>
          <p:cNvSpPr/>
          <p:nvPr/>
        </p:nvSpPr>
        <p:spPr>
          <a:xfrm>
            <a:off x="8022817" y="1432882"/>
            <a:ext cx="376686" cy="17828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9" name="Rectángulo 8">
            <a:extLst>
              <a:ext uri="{FF2B5EF4-FFF2-40B4-BE49-F238E27FC236}">
                <a16:creationId xmlns:a16="http://schemas.microsoft.com/office/drawing/2014/main" id="{8F4646F9-F9BA-C705-3E5A-6D5F8EAA6B08}"/>
              </a:ext>
            </a:extLst>
          </p:cNvPr>
          <p:cNvSpPr/>
          <p:nvPr/>
        </p:nvSpPr>
        <p:spPr>
          <a:xfrm>
            <a:off x="4515524" y="3154445"/>
            <a:ext cx="3383640" cy="1639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057434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5CFEE-8223-DB25-A9B1-B9545504C9E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04F6753-C636-FF25-1D58-D3CCA21B0884}"/>
              </a:ext>
            </a:extLst>
          </p:cNvPr>
          <p:cNvPicPr>
            <a:picLocks noChangeAspect="1"/>
          </p:cNvPicPr>
          <p:nvPr/>
        </p:nvPicPr>
        <p:blipFill>
          <a:blip r:embed="rId3"/>
          <a:stretch>
            <a:fillRect/>
          </a:stretch>
        </p:blipFill>
        <p:spPr>
          <a:xfrm>
            <a:off x="680989" y="782963"/>
            <a:ext cx="10995610" cy="5000617"/>
          </a:xfrm>
          <a:prstGeom prst="rect">
            <a:avLst/>
          </a:prstGeom>
        </p:spPr>
      </p:pic>
      <p:sp>
        <p:nvSpPr>
          <p:cNvPr id="2" name="Marcador de texto vertical 1">
            <a:extLst>
              <a:ext uri="{FF2B5EF4-FFF2-40B4-BE49-F238E27FC236}">
                <a16:creationId xmlns:a16="http://schemas.microsoft.com/office/drawing/2014/main" id="{BF6CF8A9-54D8-3FEC-AC2F-5772B12CE661}"/>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6B55FFFE-CD7F-DD30-DB23-27A5DC8F8977}"/>
              </a:ext>
            </a:extLst>
          </p:cNvPr>
          <p:cNvSpPr>
            <a:spLocks noGrp="1"/>
          </p:cNvSpPr>
          <p:nvPr>
            <p:ph type="title"/>
          </p:nvPr>
        </p:nvSpPr>
        <p:spPr>
          <a:xfrm>
            <a:off x="1218665" y="333686"/>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1500BDB4-1253-7D4B-2791-7804B9A34A74}"/>
              </a:ext>
            </a:extLst>
          </p:cNvPr>
          <p:cNvSpPr/>
          <p:nvPr/>
        </p:nvSpPr>
        <p:spPr>
          <a:xfrm>
            <a:off x="678702" y="4232607"/>
            <a:ext cx="10995610" cy="89946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12. Puede visualizar los resultados del proceso en la página…</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069572C6-251E-984A-CCEF-E4F44A4615FD}"/>
              </a:ext>
            </a:extLst>
          </p:cNvPr>
          <p:cNvSpPr/>
          <p:nvPr/>
        </p:nvSpPr>
        <p:spPr>
          <a:xfrm>
            <a:off x="678702" y="1505726"/>
            <a:ext cx="11017459" cy="22776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redondeado 9">
            <a:extLst>
              <a:ext uri="{FF2B5EF4-FFF2-40B4-BE49-F238E27FC236}">
                <a16:creationId xmlns:a16="http://schemas.microsoft.com/office/drawing/2014/main" id="{154F1434-B54B-DD74-A740-AEA3D23185AA}"/>
              </a:ext>
            </a:extLst>
          </p:cNvPr>
          <p:cNvSpPr/>
          <p:nvPr/>
        </p:nvSpPr>
        <p:spPr>
          <a:xfrm>
            <a:off x="5503386" y="1295691"/>
            <a:ext cx="376686" cy="17828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12</a:t>
            </a:r>
          </a:p>
        </p:txBody>
      </p:sp>
    </p:spTree>
    <p:extLst>
      <p:ext uri="{BB962C8B-B14F-4D97-AF65-F5344CB8AC3E}">
        <p14:creationId xmlns:p14="http://schemas.microsoft.com/office/powerpoint/2010/main" val="3559969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74DF0-8F7D-8CD5-89CA-4025B059BF6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15DED58-3F0D-2AF4-7DC1-EBCAAF081040}"/>
              </a:ext>
            </a:extLst>
          </p:cNvPr>
          <p:cNvPicPr>
            <a:picLocks noChangeAspect="1"/>
          </p:cNvPicPr>
          <p:nvPr/>
        </p:nvPicPr>
        <p:blipFill>
          <a:blip r:embed="rId3"/>
          <a:stretch>
            <a:fillRect/>
          </a:stretch>
        </p:blipFill>
        <p:spPr>
          <a:xfrm>
            <a:off x="680989" y="908991"/>
            <a:ext cx="11015173" cy="5073307"/>
          </a:xfrm>
          <a:prstGeom prst="rect">
            <a:avLst/>
          </a:prstGeom>
        </p:spPr>
      </p:pic>
      <p:sp>
        <p:nvSpPr>
          <p:cNvPr id="2" name="Marcador de texto vertical 1">
            <a:extLst>
              <a:ext uri="{FF2B5EF4-FFF2-40B4-BE49-F238E27FC236}">
                <a16:creationId xmlns:a16="http://schemas.microsoft.com/office/drawing/2014/main" id="{B6A8BBEE-9A7D-4764-CDF5-805CA03929BE}"/>
              </a:ext>
            </a:extLst>
          </p:cNvPr>
          <p:cNvSpPr>
            <a:spLocks noGrp="1"/>
          </p:cNvSpPr>
          <p:nvPr>
            <p:ph type="body" orient="vert" sz="quarter" idx="17"/>
          </p:nvPr>
        </p:nvSpPr>
        <p:spPr>
          <a:xfrm rot="10800000">
            <a:off x="71388" y="685800"/>
            <a:ext cx="609600" cy="5486399"/>
          </a:xfrm>
        </p:spPr>
        <p:txBody>
          <a:bodyPr/>
          <a:lstStyle/>
          <a:p>
            <a:r>
              <a:rPr lang="es-CO" dirty="0"/>
              <a:t>Gestionar el promedio de estudiantes</a:t>
            </a:r>
            <a:br>
              <a:rPr lang="es-ES" dirty="0"/>
            </a:br>
            <a:endParaRPr lang="es-419" dirty="0"/>
          </a:p>
        </p:txBody>
      </p:sp>
      <p:sp>
        <p:nvSpPr>
          <p:cNvPr id="13" name="Title 12">
            <a:extLst>
              <a:ext uri="{FF2B5EF4-FFF2-40B4-BE49-F238E27FC236}">
                <a16:creationId xmlns:a16="http://schemas.microsoft.com/office/drawing/2014/main" id="{A04717BA-00F9-F9EA-FF4A-AD5406A5C623}"/>
              </a:ext>
            </a:extLst>
          </p:cNvPr>
          <p:cNvSpPr>
            <a:spLocks noGrp="1"/>
          </p:cNvSpPr>
          <p:nvPr>
            <p:ph type="title"/>
          </p:nvPr>
        </p:nvSpPr>
        <p:spPr>
          <a:xfrm>
            <a:off x="1218665" y="333686"/>
            <a:ext cx="10477497" cy="898555"/>
          </a:xfrm>
        </p:spPr>
        <p:txBody>
          <a:bodyPr/>
          <a:lstStyle/>
          <a:p>
            <a:r>
              <a:rPr lang="es-ES_tradnl" dirty="0">
                <a:solidFill>
                  <a:schemeClr val="accent1"/>
                </a:solidFill>
              </a:rPr>
              <a:t>Calcular promedios </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1B4DF586-CD6C-C961-B365-5F084074096B}"/>
              </a:ext>
            </a:extLst>
          </p:cNvPr>
          <p:cNvSpPr/>
          <p:nvPr/>
        </p:nvSpPr>
        <p:spPr>
          <a:xfrm>
            <a:off x="680988" y="5496835"/>
            <a:ext cx="11015173"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endParaRPr lang="es-CO" sz="1100" dirty="0"/>
          </a:p>
          <a:p>
            <a:r>
              <a:rPr lang="es-ES_tradnl" sz="1200" dirty="0"/>
              <a:t>O bien guardar el archivo mediante el menú de Herramientas</a:t>
            </a:r>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200" dirty="0"/>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
        <p:nvSpPr>
          <p:cNvPr id="6" name="Rectángulo 5">
            <a:extLst>
              <a:ext uri="{FF2B5EF4-FFF2-40B4-BE49-F238E27FC236}">
                <a16:creationId xmlns:a16="http://schemas.microsoft.com/office/drawing/2014/main" id="{4FAB7E08-AE11-5796-6552-0175746730DF}"/>
              </a:ext>
            </a:extLst>
          </p:cNvPr>
          <p:cNvSpPr/>
          <p:nvPr/>
        </p:nvSpPr>
        <p:spPr>
          <a:xfrm>
            <a:off x="9681210" y="4697933"/>
            <a:ext cx="1934942" cy="38841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08395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7060-EE39-A305-0D10-EF0173853A50}"/>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086458AC-06B3-D837-D7B6-C57816AC2817}"/>
              </a:ext>
            </a:extLst>
          </p:cNvPr>
          <p:cNvSpPr>
            <a:spLocks noGrp="1"/>
          </p:cNvSpPr>
          <p:nvPr>
            <p:ph type="body" orient="vert" sz="quarter" idx="10"/>
          </p:nvPr>
        </p:nvSpPr>
        <p:spPr>
          <a:xfrm>
            <a:off x="127000" y="685800"/>
            <a:ext cx="609600" cy="5486399"/>
          </a:xfrm>
        </p:spPr>
        <p:txBody>
          <a:bodyPr/>
          <a:lstStyle/>
          <a:p>
            <a:r>
              <a:rPr lang="es-CO" dirty="0"/>
              <a:t>Gestionar el promedio de estudiantes</a:t>
            </a:r>
            <a:br>
              <a:rPr lang="es-ES" dirty="0"/>
            </a:br>
            <a:endParaRPr lang="es-419" dirty="0"/>
          </a:p>
        </p:txBody>
      </p:sp>
      <p:sp>
        <p:nvSpPr>
          <p:cNvPr id="4" name="Título 3">
            <a:extLst>
              <a:ext uri="{FF2B5EF4-FFF2-40B4-BE49-F238E27FC236}">
                <a16:creationId xmlns:a16="http://schemas.microsoft.com/office/drawing/2014/main" id="{FA453FB3-13AB-A8AF-559B-7C58A5C0721C}"/>
              </a:ext>
            </a:extLst>
          </p:cNvPr>
          <p:cNvSpPr>
            <a:spLocks noGrp="1"/>
          </p:cNvSpPr>
          <p:nvPr>
            <p:ph type="title"/>
          </p:nvPr>
        </p:nvSpPr>
        <p:spPr/>
        <p:txBody>
          <a:bodyPr/>
          <a:lstStyle/>
          <a:p>
            <a:r>
              <a:rPr lang="es-ES_tradnl" sz="4400" dirty="0"/>
              <a:t>Resumen</a:t>
            </a:r>
            <a:endParaRPr lang="es-419" dirty="0"/>
          </a:p>
        </p:txBody>
      </p:sp>
      <p:sp>
        <p:nvSpPr>
          <p:cNvPr id="6" name="Marcador de texto 5">
            <a:extLst>
              <a:ext uri="{FF2B5EF4-FFF2-40B4-BE49-F238E27FC236}">
                <a16:creationId xmlns:a16="http://schemas.microsoft.com/office/drawing/2014/main" id="{9373EDFA-17BF-9480-22F5-24373F686E80}"/>
              </a:ext>
            </a:extLst>
          </p:cNvPr>
          <p:cNvSpPr>
            <a:spLocks noGrp="1"/>
          </p:cNvSpPr>
          <p:nvPr>
            <p:ph type="body" sz="quarter" idx="18"/>
          </p:nvPr>
        </p:nvSpPr>
        <p:spPr/>
        <p:txBody>
          <a:bodyPr/>
          <a:lstStyle/>
          <a:p>
            <a:r>
              <a:rPr lang="es-CO" sz="2400" dirty="0"/>
              <a:t>Gestionar el promedio de estudiantes</a:t>
            </a:r>
            <a:endParaRPr lang="es-ES_tradnl" sz="2400" dirty="0"/>
          </a:p>
        </p:txBody>
      </p:sp>
    </p:spTree>
    <p:extLst>
      <p:ext uri="{BB962C8B-B14F-4D97-AF65-F5344CB8AC3E}">
        <p14:creationId xmlns:p14="http://schemas.microsoft.com/office/powerpoint/2010/main" val="1304455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a:xfrm>
            <a:off x="177800" y="685800"/>
            <a:ext cx="609600" cy="5486399"/>
          </a:xfrm>
        </p:spPr>
        <p:txBody>
          <a:bodyPr/>
          <a:lstStyle/>
          <a:p>
            <a:r>
              <a:rPr lang="es-CO" dirty="0"/>
              <a:t>Gestionar el promedio de estudiantes</a:t>
            </a:r>
            <a:br>
              <a:rPr lang="es-ES" dirty="0"/>
            </a:br>
            <a:endParaRPr lang="es-419" dirty="0"/>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789568"/>
          </a:xfrm>
        </p:spPr>
        <p:txBody>
          <a:bodyPr/>
          <a:lstStyle/>
          <a:p>
            <a:pPr lvl="2" indent="-342900" algn="just">
              <a:spcBef>
                <a:spcPts val="1000"/>
              </a:spcBef>
              <a:buClr>
                <a:srgbClr val="0CB4B4"/>
              </a:buClr>
              <a:buFont typeface="Wingdings" panose="05000000000000000000" pitchFamily="2" charset="2"/>
              <a:buChar char="q"/>
            </a:pPr>
            <a:r>
              <a:rPr lang="es-419" sz="1800" dirty="0"/>
              <a:t>Los procesos asociados a este procedimiento deben correrse con posterioridad al cierre del período.</a:t>
            </a:r>
          </a:p>
          <a:p>
            <a:pPr lvl="2" indent="-342900" algn="just">
              <a:spcBef>
                <a:spcPts val="1000"/>
              </a:spcBef>
              <a:buClr>
                <a:srgbClr val="0CB4B4"/>
              </a:buClr>
              <a:buFont typeface="Wingdings" panose="05000000000000000000" pitchFamily="2" charset="2"/>
              <a:buChar char="q"/>
            </a:pPr>
            <a:r>
              <a:rPr lang="es-419" sz="1800" dirty="0"/>
              <a:t>Antes de calcular el promedio de los estudiantes, se debe definir las reglas para el tratamiento de las asignaturas con múltiples aprobaciones y correr el proceso de identificación de dichas asignaturas según las reglas definidas.</a:t>
            </a:r>
          </a:p>
          <a:p>
            <a:pPr lvl="2" indent="-342900" algn="just">
              <a:spcBef>
                <a:spcPts val="1000"/>
              </a:spcBef>
              <a:buClr>
                <a:srgbClr val="0CB4B4"/>
              </a:buClr>
              <a:buFont typeface="Wingdings" panose="05000000000000000000" pitchFamily="2" charset="2"/>
              <a:buChar char="q"/>
            </a:pPr>
            <a:r>
              <a:rPr lang="es-419" sz="1800" dirty="0"/>
              <a:t>Registro Académico debe correr el proceso de cálculo de promedio de los estudiantes. El proceso se puede correr para una selección de población en particular, para todos los alumnos inscritos en el periodo para el cual se corre el proceso o solo para los alumnos que tienen las calificaciones pasadas a historia académica.</a:t>
            </a:r>
            <a:endParaRPr lang="es-ES_tradnl" sz="1800" dirty="0"/>
          </a:p>
          <a:p>
            <a:pPr marL="0" lvl="1" algn="just">
              <a:spcBef>
                <a:spcPts val="1000"/>
              </a:spcBef>
              <a:buClr>
                <a:srgbClr val="0CB4B4"/>
              </a:buClr>
            </a:pPr>
            <a:endParaRPr lang="es-419" sz="1800" dirty="0"/>
          </a:p>
          <a:p>
            <a:pPr marL="0" lvl="1" algn="just">
              <a:spcBef>
                <a:spcPts val="1000"/>
              </a:spcBef>
              <a:buClr>
                <a:srgbClr val="0CB4B4"/>
              </a:buClr>
            </a:pPr>
            <a:endParaRPr lang="es-419" sz="1800" dirty="0"/>
          </a:p>
        </p:txBody>
      </p:sp>
    </p:spTree>
    <p:extLst>
      <p:ext uri="{BB962C8B-B14F-4D97-AF65-F5344CB8AC3E}">
        <p14:creationId xmlns:p14="http://schemas.microsoft.com/office/powerpoint/2010/main" val="3051775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07 4.3.6.1. Ejecutar procesos de cierre de periodo académico</Template>
  <TotalTime>5897</TotalTime>
  <Words>1795</Words>
  <Application>Microsoft Office PowerPoint</Application>
  <PresentationFormat>Panorámica</PresentationFormat>
  <Paragraphs>484</Paragraphs>
  <Slides>35</Slides>
  <Notes>23</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35</vt:i4>
      </vt:variant>
    </vt:vector>
  </HeadingPairs>
  <TitlesOfParts>
    <vt:vector size="43" baseType="lpstr">
      <vt:lpstr>Aptos</vt:lpstr>
      <vt:lpstr>Aptos Display</vt:lpstr>
      <vt:lpstr>Arial</vt:lpstr>
      <vt:lpstr>Courier New</vt:lpstr>
      <vt:lpstr>Helvetica Neue</vt:lpstr>
      <vt:lpstr>Wingdings</vt:lpstr>
      <vt:lpstr>Ellucian Main Layouts</vt:lpstr>
      <vt:lpstr>Ellucian Blank Layouts</vt:lpstr>
      <vt:lpstr>Gestionar el promedio de estudiantes </vt:lpstr>
      <vt:lpstr>Presentación de PowerPoint</vt:lpstr>
      <vt:lpstr>Overview</vt:lpstr>
      <vt:lpstr>Overview: Gestionar el promedio de estudiantes</vt:lpstr>
      <vt:lpstr>Overview: Región donde aplica</vt:lpstr>
      <vt:lpstr>Overview: Gestionar el promedio de estudiantes </vt:lpstr>
      <vt:lpstr>Overview: Gestionar el promedio de estudiante</vt:lpstr>
      <vt:lpstr>Establecer reglas para asignaturas con múltiples aprobaciones</vt:lpstr>
      <vt:lpstr>Establecer reglas para asignaturas con múltiples aprobaciones</vt:lpstr>
      <vt:lpstr>Establecer reglas para asignaturas con múltiples aprobaciones</vt:lpstr>
      <vt:lpstr>Establecer reglas para asignaturas con múltiples aprobaciones</vt:lpstr>
      <vt:lpstr>Establecer reglas para asignaturas con múltiples aprobaciones</vt:lpstr>
      <vt:lpstr>Establecer reglas para asignaturas con múltiples aprobaciones</vt:lpstr>
      <vt:lpstr>Establecer reglas para asignaturas con múltiples aprobaciones</vt:lpstr>
      <vt:lpstr>Identificar cursos repetidos</vt:lpstr>
      <vt:lpstr>Identificar cursos repetidos</vt:lpstr>
      <vt:lpstr>Identificar cursos repetidos</vt:lpstr>
      <vt:lpstr>Identificar cursos repetidos</vt:lpstr>
      <vt:lpstr>Identificar cursos repetidos</vt:lpstr>
      <vt:lpstr>Identificar cursos repetidos</vt:lpstr>
      <vt:lpstr>Identificar cursos repetidos</vt:lpstr>
      <vt:lpstr>Identificar cursos repetidos</vt:lpstr>
      <vt:lpstr>Identificar cursos repetidos</vt:lpstr>
      <vt:lpstr>Calcular promedios</vt:lpstr>
      <vt:lpstr>Calcular promedios </vt:lpstr>
      <vt:lpstr>Calcular promedios </vt:lpstr>
      <vt:lpstr>Calcular promedios</vt:lpstr>
      <vt:lpstr>Calcular promedios </vt:lpstr>
      <vt:lpstr>Calcular promedios </vt:lpstr>
      <vt:lpstr>Calcular promedios </vt:lpstr>
      <vt:lpstr>Calcular promedios </vt:lpstr>
      <vt:lpstr>Calcular promedios </vt:lpstr>
      <vt:lpstr>Resumen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Trapp, Eduardo</cp:lastModifiedBy>
  <cp:revision>71</cp:revision>
  <dcterms:created xsi:type="dcterms:W3CDTF">2024-10-02T00:21:55Z</dcterms:created>
  <dcterms:modified xsi:type="dcterms:W3CDTF">2026-06-05T15:34:36Z</dcterms:modified>
</cp:coreProperties>
</file>
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0" r:id="rId2"/>
  </p:sldMasterIdLst>
  <p:notesMasterIdLst>
    <p:notesMasterId r:id="rId19"/>
  </p:notesMasterIdLst>
  <p:handoutMasterIdLst>
    <p:handoutMasterId r:id="rId20"/>
  </p:handoutMasterIdLst>
  <p:sldIdLst>
    <p:sldId id="496" r:id="rId3"/>
    <p:sldId id="423" r:id="rId4"/>
    <p:sldId id="476" r:id="rId5"/>
    <p:sldId id="260" r:id="rId6"/>
    <p:sldId id="266" r:id="rId7"/>
    <p:sldId id="259" r:id="rId8"/>
    <p:sldId id="261" r:id="rId9"/>
    <p:sldId id="505" r:id="rId10"/>
    <p:sldId id="537" r:id="rId11"/>
    <p:sldId id="475" r:id="rId12"/>
    <p:sldId id="502" r:id="rId13"/>
    <p:sldId id="538" r:id="rId14"/>
    <p:sldId id="470" r:id="rId15"/>
    <p:sldId id="503" r:id="rId16"/>
    <p:sldId id="345" r:id="rId17"/>
    <p:sldId id="49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F6F11F-38AB-4845-B856-3213A1B97E19}" v="1" dt="2026-06-11T00:04:46.5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1692" y="-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olina" userId="20636364146_tp_box_2" providerId="OAuth2" clId="{44CDD4FA-DF07-4B69-BC01-0B2B69272B43}"/>
    <pc:docChg chg="modSld">
      <pc:chgData name="Sergio Molina" userId="20636364146_tp_box_2" providerId="OAuth2" clId="{44CDD4FA-DF07-4B69-BC01-0B2B69272B43}" dt="2026-06-11T00:04:53.074" v="14" actId="20577"/>
      <pc:docMkLst>
        <pc:docMk/>
      </pc:docMkLst>
      <pc:sldChg chg="modSp mod">
        <pc:chgData name="Sergio Molina" userId="20636364146_tp_box_2" providerId="OAuth2" clId="{44CDD4FA-DF07-4B69-BC01-0B2B69272B43}" dt="2026-06-11T00:04:53.074" v="14" actId="20577"/>
        <pc:sldMkLst>
          <pc:docMk/>
          <pc:sldMk cId="1226147885" sldId="496"/>
        </pc:sldMkLst>
        <pc:spChg chg="mod">
          <ac:chgData name="Sergio Molina" userId="20636364146_tp_box_2" providerId="OAuth2" clId="{44CDD4FA-DF07-4B69-BC01-0B2B69272B43}" dt="2026-06-11T00:04:46.523" v="0"/>
          <ac:spMkLst>
            <pc:docMk/>
            <pc:sldMk cId="1226147885" sldId="496"/>
            <ac:spMk id="6" creationId="{F1058994-14DF-8FFD-FA01-FFA4BBFEC016}"/>
          </ac:spMkLst>
        </pc:spChg>
        <pc:spChg chg="mod">
          <ac:chgData name="Sergio Molina" userId="20636364146_tp_box_2" providerId="OAuth2" clId="{44CDD4FA-DF07-4B69-BC01-0B2B69272B43}" dt="2026-06-11T00:04:53.074" v="14" actId="20577"/>
          <ac:spMkLst>
            <pc:docMk/>
            <pc:sldMk cId="1226147885" sldId="496"/>
            <ac:spMk id="13" creationId="{BC90C980-F946-78A1-2843-B04BE206F92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9BAF10-5392-91A5-CA86-CD83EAC63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EC74A-FC48-3D79-9013-C17D3EA9FD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7B656-651A-4B0F-970F-09AAA3C1F2F6}" type="datetimeFigureOut">
              <a:rPr lang="es-419" smtClean="0"/>
              <a:t>10/6/2026</a:t>
            </a:fld>
            <a:endParaRPr lang="es-419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84496-E0AB-28B1-FD8F-465D84AAF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432A5-99E8-352B-7C85-23A634CFE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8A9C78-7130-4B3D-A5BB-4E3C78EA4118}" type="slidenum">
              <a:rPr lang="es-419" smtClean="0"/>
              <a:t>‹#›</a:t>
            </a:fld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38814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10-06-2026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582945-6648-41CA-B880-4B10E0E03327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971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2864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3879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9032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2051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3257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5516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65454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7257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148965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83AE6C-4AE8-D802-0110-0FA0756AB8C6}"/>
              </a:ext>
            </a:extLst>
          </p:cNvPr>
          <p:cNvSpPr/>
          <p:nvPr userDrawn="1"/>
        </p:nvSpPr>
        <p:spPr>
          <a:xfrm>
            <a:off x="9165771" y="6564086"/>
            <a:ext cx="2478704" cy="1741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DD0DE-07AE-8651-FA83-4486164CF9E1}"/>
              </a:ext>
            </a:extLst>
          </p:cNvPr>
          <p:cNvSpPr txBox="1"/>
          <p:nvPr userDrawn="1"/>
        </p:nvSpPr>
        <p:spPr>
          <a:xfrm>
            <a:off x="9318172" y="6535755"/>
            <a:ext cx="25363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070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991710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200302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9452162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161001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115420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18700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5379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1870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9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753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5499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62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568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564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727728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8578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8536385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3950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67800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803798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50530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01399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28619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60082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D1727-4718-63E3-5AA8-264ADD918E5D}"/>
              </a:ext>
            </a:extLst>
          </p:cNvPr>
          <p:cNvSpPr/>
          <p:nvPr userDrawn="1"/>
        </p:nvSpPr>
        <p:spPr>
          <a:xfrm>
            <a:off x="9187543" y="6477000"/>
            <a:ext cx="2481943" cy="2444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4F8337-0256-77E0-159A-78A036B7412F}"/>
              </a:ext>
            </a:extLst>
          </p:cNvPr>
          <p:cNvSpPr txBox="1"/>
          <p:nvPr userDrawn="1"/>
        </p:nvSpPr>
        <p:spPr>
          <a:xfrm>
            <a:off x="9280068" y="6527117"/>
            <a:ext cx="248194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179787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FB0-F182-F13D-F0CB-6517D392D954}"/>
              </a:ext>
            </a:extLst>
          </p:cNvPr>
          <p:cNvSpPr/>
          <p:nvPr userDrawn="1"/>
        </p:nvSpPr>
        <p:spPr>
          <a:xfrm>
            <a:off x="9176657" y="6477000"/>
            <a:ext cx="2405740" cy="2444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EB28B-049E-4CAF-6215-E0225DDA8A38}"/>
              </a:ext>
            </a:extLst>
          </p:cNvPr>
          <p:cNvSpPr txBox="1"/>
          <p:nvPr userDrawn="1"/>
        </p:nvSpPr>
        <p:spPr>
          <a:xfrm>
            <a:off x="9176657" y="6525269"/>
            <a:ext cx="27268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082812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38487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202811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85457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3687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720114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91232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098576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040277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48599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123719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883448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03158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930089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12719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1342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7974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123566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660251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26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sv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9896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614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s-ES" sz="4400" dirty="0"/>
              <a:t>Asignar equivalencias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wrap="square">
            <a:normAutofit/>
          </a:bodyPr>
          <a:lstStyle/>
          <a:p>
            <a:r>
              <a:rPr lang="es-CL" dirty="0"/>
              <a:t>Instructivo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1058994-14DF-8FFD-FA01-FFA4BBFEC0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194925"/>
          </a:xfrm>
        </p:spPr>
        <p:txBody>
          <a:bodyPr/>
          <a:lstStyle/>
          <a:p>
            <a:r>
              <a:rPr lang="es-CL" dirty="0"/>
              <a:t>USSIPAN-Perú</a:t>
            </a:r>
          </a:p>
        </p:txBody>
      </p:sp>
      <p:pic>
        <p:nvPicPr>
          <p:cNvPr id="8" name="Marcador de posición de imagen 8" descr="Un par de personas sentadas en una mesa&#10;&#10;El contenido generado por IA puede ser incorrecto.">
            <a:extLst>
              <a:ext uri="{FF2B5EF4-FFF2-40B4-BE49-F238E27FC236}">
                <a16:creationId xmlns:a16="http://schemas.microsoft.com/office/drawing/2014/main" id="{E56D2DEC-D416-3AB5-1313-E840E25BFD9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9" r="17869"/>
          <a:stretch>
            <a:fillRect/>
          </a:stretch>
        </p:blipFill>
        <p:spPr>
          <a:xfrm>
            <a:off x="6689725" y="574675"/>
            <a:ext cx="5502275" cy="5710238"/>
          </a:xfrm>
        </p:spPr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BC90C980-F946-78A1-2843-B04BE206F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 dirty="0"/>
              <a:t>Junio, 2026</a:t>
            </a:r>
          </a:p>
        </p:txBody>
      </p:sp>
    </p:spTree>
    <p:extLst>
      <p:ext uri="{BB962C8B-B14F-4D97-AF65-F5344CB8AC3E}">
        <p14:creationId xmlns:p14="http://schemas.microsoft.com/office/powerpoint/2010/main" val="1226147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374779"/>
              </p:ext>
            </p:extLst>
          </p:nvPr>
        </p:nvGraphicFramePr>
        <p:xfrm>
          <a:off x="998524" y="1096833"/>
          <a:ext cx="9312124" cy="33874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6210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355914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 err="1">
                          <a:solidFill>
                            <a:schemeClr val="bg1"/>
                          </a:solidFill>
                        </a:rPr>
                        <a:t>Overview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Configuraciones: Asignar equivalencias por curso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Configuraciones: Asignar equivalencias por malla curricular</a:t>
                      </a:r>
                      <a:endParaRPr lang="es-419" sz="28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965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b="1" noProof="0" dirty="0" err="1">
                <a:solidFill>
                  <a:schemeClr val="bg1"/>
                </a:solidFill>
              </a:rPr>
              <a:t>Overview</a:t>
            </a:r>
            <a:endParaRPr lang="es-419" sz="3200" b="1" noProof="0" dirty="0">
              <a:solidFill>
                <a:schemeClr val="bg1"/>
              </a:solidFill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s-419" noProof="0" smtClean="0"/>
              <a:pPr/>
              <a:t>3</a:t>
            </a:fld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8E1C91-D53E-9F97-C485-846285783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n-US" dirty="0"/>
              <a:t>Overview: </a:t>
            </a:r>
            <a:r>
              <a:rPr lang="en-US" b="0" dirty="0"/>
              <a:t>Mapa de </a:t>
            </a:r>
            <a:r>
              <a:rPr lang="en-US" b="0" dirty="0" err="1"/>
              <a:t>capacidades</a:t>
            </a:r>
            <a:endParaRPr lang="es-419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5E5532-A998-508F-D976-B5AB9A86C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5525"/>
            <a:ext cx="12192000" cy="48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33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31C0327-E277-8995-30AD-95DC98DE7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419" dirty="0" err="1"/>
              <a:t>Overview</a:t>
            </a:r>
            <a:r>
              <a:rPr lang="es-419" dirty="0"/>
              <a:t>: Proceso gestionar las mallas curriculares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8A9006-C922-5FC9-18EF-DBB6C047A4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97151"/>
          </a:xfrm>
        </p:spPr>
        <p:txBody>
          <a:bodyPr/>
          <a:lstStyle/>
          <a:p>
            <a:pPr marL="0" indent="0">
              <a:buNone/>
            </a:pPr>
            <a:r>
              <a:rPr lang="es-419" dirty="0"/>
              <a:t>A continuación, se presenta el diagrama del proceso “Gestionar as mallas curriculares”, con sus responsables, las entradas y salidas correspondientes.</a:t>
            </a:r>
            <a:endParaRPr lang="es-CO" dirty="0"/>
          </a:p>
        </p:txBody>
      </p:sp>
      <p:pic>
        <p:nvPicPr>
          <p:cNvPr id="4" name="Imagen 7">
            <a:extLst>
              <a:ext uri="{FF2B5EF4-FFF2-40B4-BE49-F238E27FC236}">
                <a16:creationId xmlns:a16="http://schemas.microsoft.com/office/drawing/2014/main" id="{FDBB3697-0E33-38EE-A5B0-49F15C9B7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385" y="2151116"/>
            <a:ext cx="11716407" cy="2303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0565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BCA831-F882-A63D-CD40-063A45AA1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5849" y="361822"/>
            <a:ext cx="10948854" cy="446084"/>
          </a:xfrm>
        </p:spPr>
        <p:txBody>
          <a:bodyPr/>
          <a:lstStyle/>
          <a:p>
            <a:r>
              <a:rPr lang="en-US" dirty="0"/>
              <a:t>Overview: </a:t>
            </a:r>
            <a:r>
              <a:rPr lang="en-US" b="0" dirty="0" err="1"/>
              <a:t>Características</a:t>
            </a:r>
            <a:r>
              <a:rPr lang="en-US" b="0" dirty="0"/>
              <a:t> </a:t>
            </a:r>
            <a:r>
              <a:rPr lang="en-US" b="0" dirty="0" err="1"/>
              <a:t>generales</a:t>
            </a:r>
            <a:r>
              <a:rPr lang="en-US" b="0" dirty="0"/>
              <a:t> de </a:t>
            </a:r>
            <a:r>
              <a:rPr lang="en-US" b="0" dirty="0" err="1"/>
              <a:t>asignar</a:t>
            </a:r>
            <a:r>
              <a:rPr lang="en-US" b="0" dirty="0"/>
              <a:t> </a:t>
            </a:r>
            <a:r>
              <a:rPr lang="en-US" b="0" dirty="0" err="1"/>
              <a:t>equivalencias</a:t>
            </a:r>
            <a:endParaRPr lang="es-419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7B98E7-5920-57ED-5835-95E33A7C51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5849" y="1653161"/>
            <a:ext cx="10559980" cy="3477940"/>
          </a:xfrm>
        </p:spPr>
        <p:txBody>
          <a:bodyPr/>
          <a:lstStyle/>
          <a:p>
            <a:pPr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Los cursos para agregar como equivalentes deben haberse creado previamente a la carga de este.</a:t>
            </a:r>
          </a:p>
          <a:p>
            <a:pPr algn="just">
              <a:buClr>
                <a:srgbClr val="0CB4B4"/>
              </a:buClr>
              <a:buFont typeface="Wingdings" panose="05000000000000000000" pitchFamily="2" charset="2"/>
              <a:buChar char="§"/>
            </a:pPr>
            <a:r>
              <a:rPr lang="es-ES_tradnl" sz="2000" dirty="0"/>
              <a:t>Las equivalencias entre cursos se pueden determinar en el sistema a través de: equivalencias por cursos o  equivalencia por mallas curriculares</a:t>
            </a:r>
            <a:r>
              <a:rPr lang="es-419" sz="2000" dirty="0"/>
              <a:t>.</a:t>
            </a:r>
          </a:p>
          <a:p>
            <a:pPr lvl="2"/>
            <a:r>
              <a:rPr lang="es-ES_tradnl" sz="1800" dirty="0"/>
              <a:t>Equivalencias por curso: indicando el curso equivalente y los períodos entre los cuales esa equivalencia es válida. </a:t>
            </a:r>
          </a:p>
          <a:p>
            <a:pPr lvl="2"/>
            <a:r>
              <a:rPr lang="es-ES_tradnl" sz="1800" dirty="0"/>
              <a:t>Equivalencias por malla curricular: que permite designar en la regla de las áreas que curso o cursos son equivalentes en una relación uno a uno o uno a muchos. Esta es la configuración recomendada por </a:t>
            </a:r>
            <a:r>
              <a:rPr lang="es-ES_tradnl" sz="1800" dirty="0" err="1"/>
              <a:t>Ellucian</a:t>
            </a:r>
            <a:r>
              <a:rPr lang="es-ES_tradnl" sz="1800" dirty="0"/>
              <a:t>.</a:t>
            </a:r>
            <a:endParaRPr lang="es-419" sz="2000" dirty="0"/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81363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noProof="0" dirty="0"/>
              <a:t>CONFIGURACIONES</a:t>
            </a:r>
          </a:p>
        </p:txBody>
      </p:sp>
    </p:spTree>
    <p:extLst>
      <p:ext uri="{BB962C8B-B14F-4D97-AF65-F5344CB8AC3E}">
        <p14:creationId xmlns:p14="http://schemas.microsoft.com/office/powerpoint/2010/main" val="111843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29B5397C-3EB9-9F23-774B-45E8DCDC8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419" noProof="0" dirty="0"/>
              <a:t>Configuración requerida para a</a:t>
            </a:r>
            <a:r>
              <a:rPr lang="es-419" dirty="0"/>
              <a:t>signar equivalencias por curso</a:t>
            </a:r>
            <a:endParaRPr lang="es-419" noProof="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E0EA8B-B7EE-8D22-9310-2D484E8573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Asignar equivalencias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19117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58356A49-0DAA-0BA5-668E-863328725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09" y="1615334"/>
            <a:ext cx="10498982" cy="143866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equivalencias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94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SCADETL </a:t>
            </a:r>
            <a:r>
              <a:rPr lang="es-419" sz="3000" b="1" dirty="0"/>
              <a:t>Información detallada del curso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8" y="4563035"/>
            <a:ext cx="10823304" cy="9864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dirty="0"/>
              <a:t>Se ingresan:</a:t>
            </a:r>
          </a:p>
          <a:p>
            <a:r>
              <a:rPr lang="es-CL" sz="1100" dirty="0"/>
              <a:t>1.- Materia </a:t>
            </a:r>
          </a:p>
          <a:p>
            <a:r>
              <a:rPr lang="es-CL" sz="1100" dirty="0"/>
              <a:t>2.-Curso </a:t>
            </a:r>
          </a:p>
          <a:p>
            <a:r>
              <a:rPr lang="es-CL" sz="1100" dirty="0"/>
              <a:t>3.- El período </a:t>
            </a:r>
          </a:p>
          <a:p>
            <a:r>
              <a:rPr lang="es-CL" sz="1100" dirty="0"/>
              <a:t>Para el cual se va a ingresar la equivalencia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F93D66D-DE3F-2A57-BDB1-40737A20463A}"/>
              </a:ext>
            </a:extLst>
          </p:cNvPr>
          <p:cNvSpPr/>
          <p:nvPr/>
        </p:nvSpPr>
        <p:spPr>
          <a:xfrm>
            <a:off x="5883436" y="2183657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8" name="Rectángulo redondeado 23">
            <a:extLst>
              <a:ext uri="{FF2B5EF4-FFF2-40B4-BE49-F238E27FC236}">
                <a16:creationId xmlns:a16="http://schemas.microsoft.com/office/drawing/2014/main" id="{48C82B3B-0D99-AF2A-62ED-17F3CFC1A953}"/>
              </a:ext>
            </a:extLst>
          </p:cNvPr>
          <p:cNvSpPr/>
          <p:nvPr/>
        </p:nvSpPr>
        <p:spPr>
          <a:xfrm>
            <a:off x="1024346" y="2183658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A7D30756-2FD1-5F9B-6F94-0D952D34E217}"/>
              </a:ext>
            </a:extLst>
          </p:cNvPr>
          <p:cNvSpPr/>
          <p:nvPr/>
        </p:nvSpPr>
        <p:spPr>
          <a:xfrm>
            <a:off x="1024346" y="2383105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64333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FE628CB-38E8-E25A-7DD1-816583B86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8" y="1805782"/>
            <a:ext cx="10394830" cy="258785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ES" sz="1200" dirty="0"/>
              <a:t>Asignar equivalencias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570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b="1" dirty="0"/>
              <a:t>SCADETL </a:t>
            </a:r>
            <a:r>
              <a:rPr lang="es-419" sz="3000" b="1" dirty="0"/>
              <a:t>Información detallada del curso</a:t>
            </a: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8" y="5200539"/>
            <a:ext cx="10787446" cy="115581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100" b="1" dirty="0"/>
              <a:t>CURSO EQUIVALENTE:</a:t>
            </a:r>
            <a:br>
              <a:rPr lang="es-CL" sz="1100" dirty="0"/>
            </a:br>
            <a:r>
              <a:rPr lang="es-CL" sz="1100" dirty="0"/>
              <a:t>Se ingresa</a:t>
            </a:r>
          </a:p>
          <a:p>
            <a:r>
              <a:rPr lang="es-CL" sz="1100" dirty="0"/>
              <a:t>1.- Materia-curso equivalente al curso que se está configurando.</a:t>
            </a:r>
            <a:br>
              <a:rPr lang="es-CL" sz="1100" dirty="0"/>
            </a:br>
            <a:r>
              <a:rPr lang="es-CL" sz="1100" dirty="0"/>
              <a:t>2.1.- Período de inicio </a:t>
            </a:r>
          </a:p>
          <a:p>
            <a:r>
              <a:rPr lang="es-CL" sz="1100" dirty="0"/>
              <a:t>2.2.- Período fin </a:t>
            </a:r>
          </a:p>
          <a:p>
            <a:r>
              <a:rPr lang="es-CL" sz="1100" dirty="0"/>
              <a:t>se ingresan los períodos desde y hasta cuándo será efectiva esta equivalencia</a:t>
            </a:r>
            <a:br>
              <a:rPr lang="es-CL" sz="1100" dirty="0"/>
            </a:br>
            <a:r>
              <a:rPr lang="es-CL" sz="1100" dirty="0"/>
              <a:t>Se puede insertar varios registros de cursos equivalentes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AA00B2C5-3041-12EB-B4B4-61C809D76921}"/>
              </a:ext>
            </a:extLst>
          </p:cNvPr>
          <p:cNvSpPr/>
          <p:nvPr/>
        </p:nvSpPr>
        <p:spPr>
          <a:xfrm>
            <a:off x="1446608" y="4078172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6" name="Rectángulo redondeado 15">
            <a:extLst>
              <a:ext uri="{FF2B5EF4-FFF2-40B4-BE49-F238E27FC236}">
                <a16:creationId xmlns:a16="http://schemas.microsoft.com/office/drawing/2014/main" id="{02A1861C-AF4C-1E6E-1294-9C11AE0EBC55}"/>
              </a:ext>
            </a:extLst>
          </p:cNvPr>
          <p:cNvSpPr/>
          <p:nvPr/>
        </p:nvSpPr>
        <p:spPr>
          <a:xfrm>
            <a:off x="6096000" y="4078171"/>
            <a:ext cx="471017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2.1</a:t>
            </a:r>
          </a:p>
        </p:txBody>
      </p:sp>
      <p:sp>
        <p:nvSpPr>
          <p:cNvPr id="9" name="Rectángulo redondeado 15">
            <a:extLst>
              <a:ext uri="{FF2B5EF4-FFF2-40B4-BE49-F238E27FC236}">
                <a16:creationId xmlns:a16="http://schemas.microsoft.com/office/drawing/2014/main" id="{4AF1BF41-3D79-51FB-FA40-7D7B3227BD05}"/>
              </a:ext>
            </a:extLst>
          </p:cNvPr>
          <p:cNvSpPr/>
          <p:nvPr/>
        </p:nvSpPr>
        <p:spPr>
          <a:xfrm>
            <a:off x="8179523" y="4078171"/>
            <a:ext cx="47101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2.2</a:t>
            </a:r>
          </a:p>
        </p:txBody>
      </p:sp>
    </p:spTree>
    <p:extLst>
      <p:ext uri="{BB962C8B-B14F-4D97-AF65-F5344CB8AC3E}">
        <p14:creationId xmlns:p14="http://schemas.microsoft.com/office/powerpoint/2010/main" val="3565986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9433E-3604-6358-EBE1-8CEF28DC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vertical 1">
            <a:extLst>
              <a:ext uri="{FF2B5EF4-FFF2-40B4-BE49-F238E27FC236}">
                <a16:creationId xmlns:a16="http://schemas.microsoft.com/office/drawing/2014/main" id="{583155C3-41C4-AC68-2C7E-FB579F89CE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1333891"/>
          </a:xfrm>
        </p:spPr>
        <p:txBody>
          <a:bodyPr/>
          <a:lstStyle/>
          <a:p>
            <a:r>
              <a:rPr lang="es-419" noProof="0" dirty="0"/>
              <a:t>Configuración requerida para a</a:t>
            </a:r>
            <a:r>
              <a:rPr lang="es-419" dirty="0"/>
              <a:t>signar equivalencias por malla curricular</a:t>
            </a:r>
            <a:endParaRPr lang="es-419" noProof="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4CEADD-9494-C223-CBCB-7C45944A10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419" sz="2400" noProof="0" dirty="0"/>
              <a:t>Asignar equivalencias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568444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6E19B03-7E57-B149-B255-1EEC6C5B4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40" y="1174107"/>
            <a:ext cx="10271883" cy="256258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equivalencias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30" y="372717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8" y="5285658"/>
            <a:ext cx="10754224" cy="529290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1100" dirty="0"/>
              <a:t>En requerimientos de área bloque Anexo de curso/atributo de área, se ingresa:</a:t>
            </a:r>
          </a:p>
          <a:p>
            <a:r>
              <a:rPr lang="es-419" sz="1100" dirty="0"/>
              <a:t>1.- </a:t>
            </a:r>
            <a:r>
              <a:rPr lang="es-419" sz="1100" b="1" dirty="0"/>
              <a:t>Regla</a:t>
            </a:r>
            <a:r>
              <a:rPr lang="es-419" sz="1100" dirty="0"/>
              <a:t> a la cual se le va a ingresar la equivalencia</a:t>
            </a:r>
            <a:endParaRPr lang="en-US" sz="1100" dirty="0"/>
          </a:p>
          <a:p>
            <a:endParaRPr lang="es-CL" sz="11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C0EBD80D-AA07-06B2-FA9A-AB1927B676C8}"/>
              </a:ext>
            </a:extLst>
          </p:cNvPr>
          <p:cNvSpPr/>
          <p:nvPr/>
        </p:nvSpPr>
        <p:spPr>
          <a:xfrm>
            <a:off x="883084" y="237989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E8E7A4-2A1F-C3E2-8FC2-8DBBD9B26F6C}"/>
              </a:ext>
            </a:extLst>
          </p:cNvPr>
          <p:cNvSpPr/>
          <p:nvPr/>
        </p:nvSpPr>
        <p:spPr>
          <a:xfrm>
            <a:off x="1949570" y="2777706"/>
            <a:ext cx="517585" cy="16390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84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95D206E-747E-B996-60B4-357B774C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636" y="1608490"/>
            <a:ext cx="10769164" cy="321610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endParaRPr lang="es-ES" dirty="0"/>
          </a:p>
          <a:p>
            <a:r>
              <a:rPr lang="es-ES" sz="1200" dirty="0"/>
              <a:t>Asignar equivalencias</a:t>
            </a:r>
            <a:endParaRPr lang="en-US" dirty="0"/>
          </a:p>
          <a:p>
            <a:endParaRPr lang="es-CL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636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ES_tradnl" sz="3000" dirty="0"/>
              <a:t>SMAAREA</a:t>
            </a:r>
            <a:r>
              <a:rPr lang="es-ES_tradnl" sz="3000" b="1" dirty="0"/>
              <a:t> Requerimientos de área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1384B68-849F-CBFC-1490-3CD51BDD1B51}"/>
              </a:ext>
            </a:extLst>
          </p:cNvPr>
          <p:cNvSpPr/>
          <p:nvPr/>
        </p:nvSpPr>
        <p:spPr>
          <a:xfrm>
            <a:off x="810247" y="5495365"/>
            <a:ext cx="10951447" cy="860984"/>
          </a:xfrm>
          <a:prstGeom prst="roundRect">
            <a:avLst>
              <a:gd name="adj" fmla="val 14466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419" sz="1100" dirty="0"/>
          </a:p>
          <a:p>
            <a:r>
              <a:rPr lang="es-419" sz="1100" dirty="0"/>
              <a:t>Se ingresa la equivalencia utilizando:</a:t>
            </a:r>
            <a:br>
              <a:rPr lang="es-419" sz="1100" dirty="0"/>
            </a:br>
            <a:r>
              <a:rPr lang="es-419" sz="1100" dirty="0"/>
              <a:t>1.- </a:t>
            </a:r>
            <a:r>
              <a:rPr lang="es-419" sz="1100" b="1" dirty="0"/>
              <a:t>Conjuntos y subconjuntos </a:t>
            </a:r>
            <a:r>
              <a:rPr lang="es-419" sz="1100" dirty="0"/>
              <a:t>. S</a:t>
            </a:r>
            <a:r>
              <a:rPr lang="es-CO" sz="1100" dirty="0"/>
              <a:t>e especificará al sistema que, para cumplir la condición exigida por la regla, el estudiante debe aprobar la asignatura “original” de la regla o un grupo de asignaturas que le son equivalentes juntas. </a:t>
            </a:r>
            <a:br>
              <a:rPr lang="es-CO" sz="1100" dirty="0"/>
            </a:br>
            <a:r>
              <a:rPr lang="en-US" sz="1100" dirty="0" err="1"/>
              <a:t>Subconjuntos</a:t>
            </a:r>
            <a:r>
              <a:rPr lang="en-US" sz="1100" dirty="0"/>
              <a:t> </a:t>
            </a:r>
            <a:r>
              <a:rPr lang="en-US" sz="1100" dirty="0" err="1"/>
              <a:t>Iguales</a:t>
            </a:r>
            <a:r>
              <a:rPr lang="en-US" sz="1100" dirty="0"/>
              <a:t> </a:t>
            </a:r>
            <a:r>
              <a:rPr lang="en-US" sz="1100" dirty="0" err="1"/>
              <a:t>dentro</a:t>
            </a:r>
            <a:r>
              <a:rPr lang="en-US" sz="1100" dirty="0"/>
              <a:t> de un </a:t>
            </a:r>
            <a:r>
              <a:rPr lang="en-US" sz="1100" dirty="0" err="1"/>
              <a:t>mismo</a:t>
            </a:r>
            <a:r>
              <a:rPr lang="en-US" sz="1100" dirty="0"/>
              <a:t> conjunto = </a:t>
            </a:r>
            <a:r>
              <a:rPr lang="en-US" sz="1100" dirty="0">
                <a:solidFill>
                  <a:schemeClr val="bg1"/>
                </a:solidFill>
              </a:rPr>
              <a:t>Y</a:t>
            </a:r>
            <a:r>
              <a:rPr lang="en-US" sz="1100" dirty="0"/>
              <a:t>”</a:t>
            </a:r>
          </a:p>
          <a:p>
            <a:r>
              <a:rPr lang="en-US" sz="1100" dirty="0"/>
              <a:t>“Subconjuntos Diferentes dentro de un mismo conjunto = </a:t>
            </a:r>
            <a:r>
              <a:rPr lang="en-US" sz="1100" dirty="0">
                <a:solidFill>
                  <a:schemeClr val="bg1"/>
                </a:solidFill>
              </a:rPr>
              <a:t>O</a:t>
            </a:r>
            <a:endParaRPr lang="en-US" sz="1100" dirty="0"/>
          </a:p>
          <a:p>
            <a:endParaRPr lang="es-CL" sz="1100" dirty="0"/>
          </a:p>
        </p:txBody>
      </p:sp>
      <p:sp>
        <p:nvSpPr>
          <p:cNvPr id="10" name="Rectángulo redondeado 15">
            <a:extLst>
              <a:ext uri="{FF2B5EF4-FFF2-40B4-BE49-F238E27FC236}">
                <a16:creationId xmlns:a16="http://schemas.microsoft.com/office/drawing/2014/main" id="{8CA4BC3B-B4D3-DBD3-2715-A67EA8CCD85B}"/>
              </a:ext>
            </a:extLst>
          </p:cNvPr>
          <p:cNvSpPr/>
          <p:nvPr/>
        </p:nvSpPr>
        <p:spPr>
          <a:xfrm>
            <a:off x="1172492" y="4369544"/>
            <a:ext cx="267056" cy="151011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19561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ES" sz="1200" dirty="0"/>
              <a:t>Asignar equivalencias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24467" cy="3979659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Asignar equivalencias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Las equivalencias entre cursos se pueden cargar directamente desde la página SCADETL.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Las equivalencias también se pueden hacer efectivas desde la malla curricular, a través de la página SMAAREA, indicando cómo cumple la regla el estudiante.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pueden utilizar los conceptos de conjuntos y subconjuntos para definir las equivalencias cuando éstas se definen de uno a muchos cursos.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L" dirty="0"/>
              <a:t>Ellucian recomienda la configuración de las equivalencias por malla curricular. En esta configuración, se requiere la ejecución del CAPP, el cual leerá si se cumple la regla o no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084689-227B-A2E5-EA69-DF2CD64C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MUCHAS GRACIAS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EF50E-22E9-2C0A-4970-41D2FFEB26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Consultor.</a:t>
            </a:r>
          </a:p>
          <a:p>
            <a:r>
              <a:rPr lang="es-419" dirty="0"/>
              <a:t>Correo@ellucian.com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90" y="3652538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090" y="403975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69019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CEA309A8-FD57-42A7-831A-1C6DF3BE5D5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BP 01 - 4.1.6.2 Programar el inicio y finalizacion de Per.Acad.Regulares" id="{36489518-00D3-425C-91F5-1EE673D7B517}" vid="{B53508D9-7D69-489E-B75B-7682E6255525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EBP 01 - 4.1.6.2 Programar el inicio y finalizacion de Per.Acad.Regulares</Template>
  <TotalTime>3655</TotalTime>
  <Words>539</Words>
  <Application>Microsoft Office PowerPoint</Application>
  <PresentationFormat>Widescreen</PresentationFormat>
  <Paragraphs>80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PowerPoint Presentation</vt:lpstr>
      <vt:lpstr>PowerPoint Presentation</vt:lpstr>
      <vt:lpstr>Overview</vt:lpstr>
      <vt:lpstr>PowerPoint Presentation</vt:lpstr>
      <vt:lpstr>PowerPoint Presentation</vt:lpstr>
      <vt:lpstr>PowerPoint Presentation</vt:lpstr>
      <vt:lpstr>PowerPoint Presentation</vt:lpstr>
      <vt:lpstr>CONFIGURACIONES</vt:lpstr>
      <vt:lpstr>PowerPoint Presentation</vt:lpstr>
      <vt:lpstr>Configuraciones: SCADETL Información detallada del curso</vt:lpstr>
      <vt:lpstr>Configuraciones: SCADETL Información detallada del curso</vt:lpstr>
      <vt:lpstr>PowerPoint Presentation</vt:lpstr>
      <vt:lpstr>Configuraciones: SMAAREA Requerimientos de área </vt:lpstr>
      <vt:lpstr>Configuraciones: SMAAREA Requerimientos de área </vt:lpstr>
      <vt:lpstr>RESUMEN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510</cp:revision>
  <dcterms:created xsi:type="dcterms:W3CDTF">2023-07-17T20:07:38Z</dcterms:created>
  <dcterms:modified xsi:type="dcterms:W3CDTF">2026-06-11T00:04:55Z</dcterms:modified>
</cp:coreProperties>
</file>
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87" r:id="rId2"/>
  </p:sldMasterIdLst>
  <p:notesMasterIdLst>
    <p:notesMasterId r:id="rId43"/>
  </p:notesMasterIdLst>
  <p:sldIdLst>
    <p:sldId id="265" r:id="rId3"/>
    <p:sldId id="390" r:id="rId4"/>
    <p:sldId id="418" r:id="rId5"/>
    <p:sldId id="419" r:id="rId6"/>
    <p:sldId id="498" r:id="rId7"/>
    <p:sldId id="421" r:id="rId8"/>
    <p:sldId id="422" r:id="rId9"/>
    <p:sldId id="423" r:id="rId10"/>
    <p:sldId id="517" r:id="rId11"/>
    <p:sldId id="500" r:id="rId12"/>
    <p:sldId id="518" r:id="rId13"/>
    <p:sldId id="519" r:id="rId14"/>
    <p:sldId id="520" r:id="rId15"/>
    <p:sldId id="522" r:id="rId16"/>
    <p:sldId id="524" r:id="rId17"/>
    <p:sldId id="525" r:id="rId18"/>
    <p:sldId id="526" r:id="rId19"/>
    <p:sldId id="527" r:id="rId20"/>
    <p:sldId id="528" r:id="rId21"/>
    <p:sldId id="530" r:id="rId22"/>
    <p:sldId id="529" r:id="rId23"/>
    <p:sldId id="531" r:id="rId24"/>
    <p:sldId id="533" r:id="rId25"/>
    <p:sldId id="532" r:id="rId26"/>
    <p:sldId id="534" r:id="rId27"/>
    <p:sldId id="535" r:id="rId28"/>
    <p:sldId id="537" r:id="rId29"/>
    <p:sldId id="538" r:id="rId30"/>
    <p:sldId id="536" r:id="rId31"/>
    <p:sldId id="540" r:id="rId32"/>
    <p:sldId id="541" r:id="rId33"/>
    <p:sldId id="543" r:id="rId34"/>
    <p:sldId id="544" r:id="rId35"/>
    <p:sldId id="545" r:id="rId36"/>
    <p:sldId id="546" r:id="rId37"/>
    <p:sldId id="547" r:id="rId38"/>
    <p:sldId id="549" r:id="rId39"/>
    <p:sldId id="548" r:id="rId40"/>
    <p:sldId id="497" r:id="rId41"/>
    <p:sldId id="512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0089"/>
    <a:srgbClr val="E4DF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94"/>
  </p:normalViewPr>
  <p:slideViewPr>
    <p:cSldViewPr snapToGrid="0">
      <p:cViewPr varScale="1">
        <p:scale>
          <a:sx n="60" d="100"/>
          <a:sy n="60" d="100"/>
        </p:scale>
        <p:origin x="114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8" d="100"/>
        <a:sy n="28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ver Herrera Mejía" userId="33259626242_tp_box_2" providerId="OAuth2" clId="{928070B4-3928-4BF5-8A3B-02428762A929}"/>
    <pc:docChg chg="custSel modSld delMainMaster">
      <pc:chgData name="Faver Herrera Mejía" userId="33259626242_tp_box_2" providerId="OAuth2" clId="{928070B4-3928-4BF5-8A3B-02428762A929}" dt="2026-06-19T15:24:28.354" v="116" actId="1035"/>
      <pc:docMkLst>
        <pc:docMk/>
      </pc:docMkLst>
      <pc:sldChg chg="modSp mod">
        <pc:chgData name="Faver Herrera Mejía" userId="33259626242_tp_box_2" providerId="OAuth2" clId="{928070B4-3928-4BF5-8A3B-02428762A929}" dt="2026-06-19T14:41:42.513" v="28" actId="20577"/>
        <pc:sldMkLst>
          <pc:docMk/>
          <pc:sldMk cId="9191365" sldId="265"/>
        </pc:sldMkLst>
        <pc:spChg chg="mod">
          <ac:chgData name="Faver Herrera Mejía" userId="33259626242_tp_box_2" providerId="OAuth2" clId="{928070B4-3928-4BF5-8A3B-02428762A929}" dt="2026-06-19T14:41:38.448" v="19" actId="20577"/>
          <ac:spMkLst>
            <pc:docMk/>
            <pc:sldMk cId="9191365" sldId="265"/>
            <ac:spMk id="4" creationId="{692B0829-7360-8531-FF9E-7D531E7A6091}"/>
          </ac:spMkLst>
        </pc:spChg>
        <pc:spChg chg="mod">
          <ac:chgData name="Faver Herrera Mejía" userId="33259626242_tp_box_2" providerId="OAuth2" clId="{928070B4-3928-4BF5-8A3B-02428762A929}" dt="2026-06-19T14:41:42.513" v="28" actId="20577"/>
          <ac:spMkLst>
            <pc:docMk/>
            <pc:sldMk cId="9191365" sldId="265"/>
            <ac:spMk id="5" creationId="{7640F739-8B92-AE20-CC72-FD73501B27C6}"/>
          </ac:spMkLst>
        </pc:spChg>
      </pc:sldChg>
      <pc:sldChg chg="modSp mod">
        <pc:chgData name="Faver Herrera Mejía" userId="33259626242_tp_box_2" providerId="OAuth2" clId="{928070B4-3928-4BF5-8A3B-02428762A929}" dt="2026-06-19T15:24:28.354" v="116" actId="1035"/>
        <pc:sldMkLst>
          <pc:docMk/>
          <pc:sldMk cId="2900812786" sldId="497"/>
        </pc:sldMkLst>
        <pc:spChg chg="mod">
          <ac:chgData name="Faver Herrera Mejía" userId="33259626242_tp_box_2" providerId="OAuth2" clId="{928070B4-3928-4BF5-8A3B-02428762A929}" dt="2026-06-19T15:24:28.354" v="116" actId="1035"/>
          <ac:spMkLst>
            <pc:docMk/>
            <pc:sldMk cId="2900812786" sldId="497"/>
            <ac:spMk id="7" creationId="{231D38CA-9DC6-E135-9110-73BD25342A9C}"/>
          </ac:spMkLst>
        </pc:spChg>
      </pc:sldChg>
      <pc:sldChg chg="modSp mod">
        <pc:chgData name="Faver Herrera Mejía" userId="33259626242_tp_box_2" providerId="OAuth2" clId="{928070B4-3928-4BF5-8A3B-02428762A929}" dt="2026-06-19T14:42:48.993" v="68" actId="20577"/>
        <pc:sldMkLst>
          <pc:docMk/>
          <pc:sldMk cId="829329984" sldId="512"/>
        </pc:sldMkLst>
        <pc:spChg chg="mod">
          <ac:chgData name="Faver Herrera Mejía" userId="33259626242_tp_box_2" providerId="OAuth2" clId="{928070B4-3928-4BF5-8A3B-02428762A929}" dt="2026-06-19T14:42:37.600" v="47" actId="20577"/>
          <ac:spMkLst>
            <pc:docMk/>
            <pc:sldMk cId="829329984" sldId="512"/>
            <ac:spMk id="2" creationId="{98C8C561-01AA-93BA-31A2-AAD8E5DED18B}"/>
          </ac:spMkLst>
        </pc:spChg>
        <pc:spChg chg="mod">
          <ac:chgData name="Faver Herrera Mejía" userId="33259626242_tp_box_2" providerId="OAuth2" clId="{928070B4-3928-4BF5-8A3B-02428762A929}" dt="2026-06-19T14:42:48.993" v="68" actId="20577"/>
          <ac:spMkLst>
            <pc:docMk/>
            <pc:sldMk cId="829329984" sldId="512"/>
            <ac:spMk id="3" creationId="{E41D6D2D-BB92-CF38-BDA6-D770C4633ECA}"/>
          </ac:spMkLst>
        </pc:spChg>
      </pc:sldChg>
      <pc:sldMasterChg chg="del delSldLayout">
        <pc:chgData name="Faver Herrera Mejía" userId="33259626242_tp_box_2" providerId="OAuth2" clId="{928070B4-3928-4BF5-8A3B-02428762A929}" dt="2026-06-19T14:41:40.174" v="20"/>
        <pc:sldMasterMkLst>
          <pc:docMk/>
          <pc:sldMasterMk cId="1590683583" sldId="2147483696"/>
        </pc:sldMasterMkLst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1590683583" sldId="2147483696"/>
            <pc:sldLayoutMk cId="2510905405" sldId="2147483697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1590683583" sldId="2147483696"/>
            <pc:sldLayoutMk cId="1243412512" sldId="2147483698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1590683583" sldId="2147483696"/>
            <pc:sldLayoutMk cId="2196157052" sldId="2147483699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1590683583" sldId="2147483696"/>
            <pc:sldLayoutMk cId="4264098375" sldId="2147483700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1590683583" sldId="2147483696"/>
            <pc:sldLayoutMk cId="1250054002" sldId="2147483701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1590683583" sldId="2147483696"/>
            <pc:sldLayoutMk cId="1029203770" sldId="2147483702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1590683583" sldId="2147483696"/>
            <pc:sldLayoutMk cId="2081115607" sldId="2147483703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1590683583" sldId="2147483696"/>
            <pc:sldLayoutMk cId="4163798116" sldId="2147483704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1590683583" sldId="2147483696"/>
            <pc:sldLayoutMk cId="3677628828" sldId="2147483705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1590683583" sldId="2147483696"/>
            <pc:sldLayoutMk cId="562723882" sldId="2147483706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1590683583" sldId="2147483696"/>
            <pc:sldLayoutMk cId="1362428737" sldId="2147483707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1590683583" sldId="2147483696"/>
            <pc:sldLayoutMk cId="1352605941" sldId="2147483708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1590683583" sldId="2147483696"/>
            <pc:sldLayoutMk cId="1738377313" sldId="2147483709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1590683583" sldId="2147483696"/>
            <pc:sldLayoutMk cId="800256467" sldId="2147483711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1590683583" sldId="2147483696"/>
            <pc:sldLayoutMk cId="1276264173" sldId="2147483712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1590683583" sldId="2147483696"/>
            <pc:sldLayoutMk cId="1291972327" sldId="2147483725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1590683583" sldId="2147483696"/>
            <pc:sldLayoutMk cId="2822340711" sldId="2147483726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1590683583" sldId="2147483696"/>
            <pc:sldLayoutMk cId="2781872485" sldId="2147483728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1590683583" sldId="2147483696"/>
            <pc:sldLayoutMk cId="3349149327" sldId="2147483729"/>
          </pc:sldLayoutMkLst>
        </pc:sldLayoutChg>
      </pc:sldMasterChg>
      <pc:sldMasterChg chg="del delSldLayout">
        <pc:chgData name="Faver Herrera Mejía" userId="33259626242_tp_box_2" providerId="OAuth2" clId="{928070B4-3928-4BF5-8A3B-02428762A929}" dt="2026-06-19T14:41:40.174" v="20"/>
        <pc:sldMasterMkLst>
          <pc:docMk/>
          <pc:sldMasterMk cId="3664826730" sldId="2147483731"/>
        </pc:sldMasterMkLst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1948181508" sldId="2147483732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324280192" sldId="2147483733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2383550336" sldId="2147483734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232113520" sldId="2147483735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3645427586" sldId="2147483736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3118270670" sldId="2147483737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3619531118" sldId="2147483738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1733860154" sldId="2147483739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3495293524" sldId="2147483740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3035024606" sldId="2147483741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2836114891" sldId="2147483742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3553577078" sldId="2147483743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1874403188" sldId="2147483744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2402849371" sldId="2147483745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2681240217" sldId="2147483746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1553447736" sldId="2147483747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1818981491" sldId="2147483748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3895121057" sldId="2147483749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2060656517" sldId="2147483750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2336393717" sldId="2147483751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1253982628" sldId="2147483752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2373667837" sldId="2147483753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2752188705" sldId="2147483754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2106710463" sldId="2147483755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600878716" sldId="2147483756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3060323037" sldId="2147483757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4291003757" sldId="2147483758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3878282262" sldId="2147483759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1299584564" sldId="2147483760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1351024301" sldId="2147483761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638854954" sldId="2147483762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2631847349" sldId="2147483763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1121953204" sldId="2147483764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3579897694" sldId="2147483765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3664826730" sldId="2147483731"/>
            <pc:sldLayoutMk cId="4233368631" sldId="2147483766"/>
          </pc:sldLayoutMkLst>
        </pc:sldLayoutChg>
      </pc:sldMasterChg>
      <pc:sldMasterChg chg="del delSldLayout">
        <pc:chgData name="Faver Herrera Mejía" userId="33259626242_tp_box_2" providerId="OAuth2" clId="{928070B4-3928-4BF5-8A3B-02428762A929}" dt="2026-06-19T14:41:40.174" v="20"/>
        <pc:sldMasterMkLst>
          <pc:docMk/>
          <pc:sldMasterMk cId="4082901539" sldId="2147483767"/>
        </pc:sldMasterMkLst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082901539" sldId="2147483767"/>
            <pc:sldLayoutMk cId="861570740" sldId="2147483768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082901539" sldId="2147483767"/>
            <pc:sldLayoutMk cId="2429751145" sldId="2147483769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082901539" sldId="2147483767"/>
            <pc:sldLayoutMk cId="2142902374" sldId="2147483770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082901539" sldId="2147483767"/>
            <pc:sldLayoutMk cId="60932144" sldId="2147483771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082901539" sldId="2147483767"/>
            <pc:sldLayoutMk cId="1630467915" sldId="2147483772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082901539" sldId="2147483767"/>
            <pc:sldLayoutMk cId="3577620753" sldId="2147483773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082901539" sldId="2147483767"/>
            <pc:sldLayoutMk cId="3584269888" sldId="2147483774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082901539" sldId="2147483767"/>
            <pc:sldLayoutMk cId="2872214497" sldId="2147483775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082901539" sldId="2147483767"/>
            <pc:sldLayoutMk cId="3626354705" sldId="2147483776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082901539" sldId="2147483767"/>
            <pc:sldLayoutMk cId="2207289188" sldId="2147483777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082901539" sldId="2147483767"/>
            <pc:sldLayoutMk cId="1246602045" sldId="2147483778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082901539" sldId="2147483767"/>
            <pc:sldLayoutMk cId="4107182689" sldId="2147483779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082901539" sldId="2147483767"/>
            <pc:sldLayoutMk cId="3351167027" sldId="2147483780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082901539" sldId="2147483767"/>
            <pc:sldLayoutMk cId="918797945" sldId="2147483781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082901539" sldId="2147483767"/>
            <pc:sldLayoutMk cId="1368664747" sldId="2147483782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082901539" sldId="2147483767"/>
            <pc:sldLayoutMk cId="2220214595" sldId="2147483783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082901539" sldId="2147483767"/>
            <pc:sldLayoutMk cId="1071654224" sldId="2147483784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082901539" sldId="2147483767"/>
            <pc:sldLayoutMk cId="305723585" sldId="2147483785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082901539" sldId="2147483767"/>
            <pc:sldLayoutMk cId="3699748908" sldId="2147483786"/>
          </pc:sldLayoutMkLst>
        </pc:sldLayoutChg>
      </pc:sldMasterChg>
      <pc:sldMasterChg chg="del delSldLayout">
        <pc:chgData name="Faver Herrera Mejía" userId="33259626242_tp_box_2" providerId="OAuth2" clId="{928070B4-3928-4BF5-8A3B-02428762A929}" dt="2026-06-19T14:41:40.174" v="20"/>
        <pc:sldMasterMkLst>
          <pc:docMk/>
          <pc:sldMasterMk cId="425954116" sldId="2147483824"/>
        </pc:sldMasterMkLst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25954116" sldId="2147483824"/>
            <pc:sldLayoutMk cId="2470157503" sldId="2147483825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25954116" sldId="2147483824"/>
            <pc:sldLayoutMk cId="3206844107" sldId="2147483826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25954116" sldId="2147483824"/>
            <pc:sldLayoutMk cId="1575047382" sldId="2147483827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25954116" sldId="2147483824"/>
            <pc:sldLayoutMk cId="1551777498" sldId="2147483828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25954116" sldId="2147483824"/>
            <pc:sldLayoutMk cId="206844406" sldId="2147483829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25954116" sldId="2147483824"/>
            <pc:sldLayoutMk cId="2312683781" sldId="2147483830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25954116" sldId="2147483824"/>
            <pc:sldLayoutMk cId="351981938" sldId="2147483831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25954116" sldId="2147483824"/>
            <pc:sldLayoutMk cId="3551002587" sldId="2147483832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25954116" sldId="2147483824"/>
            <pc:sldLayoutMk cId="1695811483" sldId="2147483833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25954116" sldId="2147483824"/>
            <pc:sldLayoutMk cId="62022050" sldId="2147483834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25954116" sldId="2147483824"/>
            <pc:sldLayoutMk cId="2005892372" sldId="2147483835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25954116" sldId="2147483824"/>
            <pc:sldLayoutMk cId="492633621" sldId="2147483836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25954116" sldId="2147483824"/>
            <pc:sldLayoutMk cId="2571112932" sldId="2147483837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25954116" sldId="2147483824"/>
            <pc:sldLayoutMk cId="253763925" sldId="2147483838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25954116" sldId="2147483824"/>
            <pc:sldLayoutMk cId="2134949161" sldId="2147483839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25954116" sldId="2147483824"/>
            <pc:sldLayoutMk cId="1976614715" sldId="2147483840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25954116" sldId="2147483824"/>
            <pc:sldLayoutMk cId="3058838876" sldId="2147483841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25954116" sldId="2147483824"/>
            <pc:sldLayoutMk cId="1606097363" sldId="2147483842"/>
          </pc:sldLayoutMkLst>
        </pc:sldLayoutChg>
        <pc:sldLayoutChg chg="del">
          <pc:chgData name="Faver Herrera Mejía" userId="33259626242_tp_box_2" providerId="OAuth2" clId="{928070B4-3928-4BF5-8A3B-02428762A929}" dt="2026-06-19T14:41:40.174" v="20"/>
          <pc:sldLayoutMkLst>
            <pc:docMk/>
            <pc:sldMasterMk cId="425954116" sldId="2147483824"/>
            <pc:sldLayoutMk cId="1099116399" sldId="2147483843"/>
          </pc:sldLayoutMkLst>
        </pc:sldLayoutChg>
      </pc:sldMasterChg>
    </pc:docChg>
  </pc:docChgLst>
  <pc:docChgLst>
    <pc:chgData name="Alejandra León Barrera" userId="43512263486_tp_box_2" providerId="OAuth2" clId="{CE2DED1C-98E3-404D-AA29-8769E08C8A92}"/>
    <pc:docChg chg="undo custSel addSld delSld modSld sldOrd">
      <pc:chgData name="Alejandra León Barrera" userId="43512263486_tp_box_2" providerId="OAuth2" clId="{CE2DED1C-98E3-404D-AA29-8769E08C8A92}" dt="2026-05-26T20:22:17.497" v="783" actId="6549"/>
      <pc:docMkLst>
        <pc:docMk/>
      </pc:docMkLst>
      <pc:sldChg chg="modSp mod">
        <pc:chgData name="Alejandra León Barrera" userId="43512263486_tp_box_2" providerId="OAuth2" clId="{CE2DED1C-98E3-404D-AA29-8769E08C8A92}" dt="2026-05-26T20:22:02.093" v="782" actId="113"/>
        <pc:sldMkLst>
          <pc:docMk/>
          <pc:sldMk cId="3460307485" sldId="390"/>
        </pc:sldMkLst>
        <pc:graphicFrameChg chg="mod modGraphic">
          <ac:chgData name="Alejandra León Barrera" userId="43512263486_tp_box_2" providerId="OAuth2" clId="{CE2DED1C-98E3-404D-AA29-8769E08C8A92}" dt="2026-05-26T20:22:02.093" v="782" actId="113"/>
          <ac:graphicFrameMkLst>
            <pc:docMk/>
            <pc:sldMk cId="3460307485" sldId="390"/>
            <ac:graphicFrameMk id="6" creationId="{4673DED4-8FDF-4D14-4B12-E97032DE43BA}"/>
          </ac:graphicFrameMkLst>
        </pc:graphicFrameChg>
      </pc:sldChg>
      <pc:sldChg chg="modSp mod">
        <pc:chgData name="Alejandra León Barrera" userId="43512263486_tp_box_2" providerId="OAuth2" clId="{CE2DED1C-98E3-404D-AA29-8769E08C8A92}" dt="2026-05-26T20:22:17.497" v="783" actId="6549"/>
        <pc:sldMkLst>
          <pc:docMk/>
          <pc:sldMk cId="4170624785" sldId="500"/>
        </pc:sldMkLst>
        <pc:spChg chg="mod">
          <ac:chgData name="Alejandra León Barrera" userId="43512263486_tp_box_2" providerId="OAuth2" clId="{CE2DED1C-98E3-404D-AA29-8769E08C8A92}" dt="2026-05-26T20:22:17.497" v="783" actId="6549"/>
          <ac:spMkLst>
            <pc:docMk/>
            <pc:sldMk cId="4170624785" sldId="500"/>
            <ac:spMk id="7" creationId="{A25AA3FB-1A2F-F32B-2D30-523E55B1C24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B9A4A1-DC15-4D0B-B483-49B9F712378B}" type="datetimeFigureOut">
              <a:rPr lang="es-CO" smtClean="0"/>
              <a:t>14/07/2026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B0C1C-64DB-4ECD-8E89-57383081EDC0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3233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B0C1C-64DB-4ECD-8E89-57383081EDC0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1751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 userDrawn="1"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12427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 userDrawn="1"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45321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 userDrawn="1"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91785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 userDrawn="1"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83508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 userDrawn="1"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92674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 userDrawn="1"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 userDrawn="1"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 userDrawn="1"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 userDrawn="1"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67637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 userDrawn="1"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 userDrawn="1"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 userDrawn="1"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 userDrawn="1"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0744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176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1024268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64219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26699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97998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1818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804755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425223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723501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34008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78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641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580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818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6595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515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42065790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17780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42680499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 userDrawn="1"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501015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 userDrawn="1"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157707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 userDrawn="1"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295064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 userDrawn="1"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 userDrawn="1"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 userDrawn="1"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 userDrawn="1"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 userDrawn="1"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 userDrawn="1"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630666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 userDrawn="1"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 userDrawn="1"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 userDrawn="1"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 userDrawn="1"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 userDrawn="1"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 userDrawn="1"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434186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 userDrawn="1"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 userDrawn="1"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260230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 userDrawn="1"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 userDrawn="1"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325334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348379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303272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390447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842387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0264119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817460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8866899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749352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620626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30070171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436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2246797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41634810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00105614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613226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9940306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2334189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663361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3505684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7231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83010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27555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58522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63819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2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36221611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82444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408438588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636663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8902751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7814363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7310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7328769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2709416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29899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7054374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71978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52.xml"/><Relationship Id="rId26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55.xml"/><Relationship Id="rId34" Type="http://schemas.openxmlformats.org/officeDocument/2006/relationships/slideLayout" Target="../slideLayouts/slideLayout68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5" Type="http://schemas.openxmlformats.org/officeDocument/2006/relationships/slideLayout" Target="../slideLayouts/slideLayout59.xml"/><Relationship Id="rId33" Type="http://schemas.openxmlformats.org/officeDocument/2006/relationships/slideLayout" Target="../slideLayouts/slideLayout67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54.xml"/><Relationship Id="rId29" Type="http://schemas.openxmlformats.org/officeDocument/2006/relationships/slideLayout" Target="../slideLayouts/slideLayout63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24" Type="http://schemas.openxmlformats.org/officeDocument/2006/relationships/slideLayout" Target="../slideLayouts/slideLayout58.xml"/><Relationship Id="rId32" Type="http://schemas.openxmlformats.org/officeDocument/2006/relationships/slideLayout" Target="../slideLayouts/slideLayout66.xml"/><Relationship Id="rId37" Type="http://schemas.openxmlformats.org/officeDocument/2006/relationships/image" Target="../media/image1.svg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23" Type="http://schemas.openxmlformats.org/officeDocument/2006/relationships/slideLayout" Target="../slideLayouts/slideLayout57.xml"/><Relationship Id="rId28" Type="http://schemas.openxmlformats.org/officeDocument/2006/relationships/slideLayout" Target="../slideLayouts/slideLayout62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53.xml"/><Relationship Id="rId31" Type="http://schemas.openxmlformats.org/officeDocument/2006/relationships/slideLayout" Target="../slideLayouts/slideLayout65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6.xml"/><Relationship Id="rId27" Type="http://schemas.openxmlformats.org/officeDocument/2006/relationships/slideLayout" Target="../slideLayouts/slideLayout61.xml"/><Relationship Id="rId30" Type="http://schemas.openxmlformats.org/officeDocument/2006/relationships/slideLayout" Target="../slideLayouts/slideLayout64.xml"/><Relationship Id="rId35" Type="http://schemas.openxmlformats.org/officeDocument/2006/relationships/slideLayout" Target="../slideLayouts/slideLayout69.xml"/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78594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719" r:id="rId2"/>
    <p:sldLayoutId id="2147483727" r:id="rId3"/>
    <p:sldLayoutId id="2147483663" r:id="rId4"/>
    <p:sldLayoutId id="2147483651" r:id="rId5"/>
    <p:sldLayoutId id="2147483718" r:id="rId6"/>
    <p:sldLayoutId id="2147483720" r:id="rId7"/>
    <p:sldLayoutId id="2147483649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721" r:id="rId14"/>
    <p:sldLayoutId id="2147483657" r:id="rId15"/>
    <p:sldLayoutId id="2147483664" r:id="rId16"/>
    <p:sldLayoutId id="2147483658" r:id="rId17"/>
    <p:sldLayoutId id="2147483659" r:id="rId18"/>
    <p:sldLayoutId id="2147483660" r:id="rId19"/>
    <p:sldLayoutId id="2147483669" r:id="rId20"/>
    <p:sldLayoutId id="2147483661" r:id="rId21"/>
    <p:sldLayoutId id="2147483662" r:id="rId22"/>
    <p:sldLayoutId id="2147483670" r:id="rId23"/>
    <p:sldLayoutId id="2147483665" r:id="rId24"/>
    <p:sldLayoutId id="2147483666" r:id="rId25"/>
    <p:sldLayoutId id="2147483694" r:id="rId26"/>
    <p:sldLayoutId id="2147483713" r:id="rId27"/>
    <p:sldLayoutId id="2147483722" r:id="rId28"/>
    <p:sldLayoutId id="2147483723" r:id="rId29"/>
    <p:sldLayoutId id="2147483715" r:id="rId30"/>
    <p:sldLayoutId id="2147483714" r:id="rId31"/>
    <p:sldLayoutId id="2147483716" r:id="rId32"/>
    <p:sldLayoutId id="2147483717" r:id="rId33"/>
    <p:sldLayoutId id="2147483730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06639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  <p:sldLayoutId id="2147483800" r:id="rId13"/>
    <p:sldLayoutId id="2147483801" r:id="rId14"/>
    <p:sldLayoutId id="2147483802" r:id="rId15"/>
    <p:sldLayoutId id="2147483803" r:id="rId16"/>
    <p:sldLayoutId id="2147483804" r:id="rId17"/>
    <p:sldLayoutId id="2147483805" r:id="rId18"/>
    <p:sldLayoutId id="2147483806" r:id="rId19"/>
    <p:sldLayoutId id="2147483807" r:id="rId20"/>
    <p:sldLayoutId id="2147483808" r:id="rId21"/>
    <p:sldLayoutId id="2147483809" r:id="rId22"/>
    <p:sldLayoutId id="2147483810" r:id="rId23"/>
    <p:sldLayoutId id="2147483811" r:id="rId24"/>
    <p:sldLayoutId id="2147483812" r:id="rId25"/>
    <p:sldLayoutId id="2147483813" r:id="rId26"/>
    <p:sldLayoutId id="2147483814" r:id="rId27"/>
    <p:sldLayoutId id="2147483815" r:id="rId28"/>
    <p:sldLayoutId id="2147483816" r:id="rId29"/>
    <p:sldLayoutId id="2147483817" r:id="rId30"/>
    <p:sldLayoutId id="2147483818" r:id="rId31"/>
    <p:sldLayoutId id="2147483819" r:id="rId32"/>
    <p:sldLayoutId id="2147483820" r:id="rId33"/>
    <p:sldLayoutId id="2147483821" r:id="rId34"/>
    <p:sldLayoutId id="2147483822" r:id="rId3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8BCB3F-6CDE-555F-945C-FD9DF637FF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902" y="2566442"/>
            <a:ext cx="5427132" cy="1832105"/>
          </a:xfrm>
        </p:spPr>
        <p:txBody>
          <a:bodyPr/>
          <a:lstStyle/>
          <a:p>
            <a:r>
              <a:rPr lang="es-CO" sz="4400" dirty="0"/>
              <a:t>Gestionar los documentos de venta</a:t>
            </a:r>
            <a:endParaRPr lang="en-US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3AF02-2178-7BEB-DC06-4BB29198D4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902" y="4621474"/>
            <a:ext cx="5427132" cy="324961"/>
          </a:xfrm>
        </p:spPr>
        <p:txBody>
          <a:bodyPr>
            <a:spAutoFit/>
          </a:bodyPr>
          <a:lstStyle/>
          <a:p>
            <a:r>
              <a:rPr lang="es-CO" dirty="0"/>
              <a:t>C</a:t>
            </a:r>
            <a:r>
              <a:rPr lang="en-US" dirty="0"/>
              <a:t>uenta Corriente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B0829-7360-8531-FF9E-7D531E7A60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" dirty="0"/>
              <a:t>Faver Herrera Mejia</a:t>
            </a:r>
            <a:br>
              <a:rPr lang="es-ES" dirty="0"/>
            </a:br>
            <a:r>
              <a:rPr lang="es-ES" dirty="0"/>
              <a:t>Consultor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40F739-8B92-AE20-CC72-FD73501B27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Julio 2026</a:t>
            </a:r>
          </a:p>
        </p:txBody>
      </p:sp>
      <p:pic>
        <p:nvPicPr>
          <p:cNvPr id="18" name="Marcador de posición de imagen 17">
            <a:extLst>
              <a:ext uri="{FF2B5EF4-FFF2-40B4-BE49-F238E27FC236}">
                <a16:creationId xmlns:a16="http://schemas.microsoft.com/office/drawing/2014/main" id="{5016D2BD-5D39-9A0D-9E81-B6400D9E142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7881" r="17881"/>
          <a:stretch>
            <a:fillRect/>
          </a:stretch>
        </p:blipFill>
        <p:spPr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191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4673DED4-8FDF-4D14-4B12-E97032DE4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051957"/>
              </p:ext>
            </p:extLst>
          </p:nvPr>
        </p:nvGraphicFramePr>
        <p:xfrm>
          <a:off x="574223" y="1934479"/>
          <a:ext cx="11130097" cy="29912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8849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9971248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3000" b="1" kern="1200" dirty="0">
                          <a:solidFill>
                            <a:schemeClr val="accent1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b="0" kern="120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3000" b="1" kern="1200" dirty="0">
                          <a:solidFill>
                            <a:schemeClr val="accent1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b="0" kern="120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Configuraciones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3000" b="1" kern="1200" dirty="0">
                          <a:solidFill>
                            <a:schemeClr val="accent1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3000" b="0" kern="120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Gestionar los documentos de venta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3000" b="1" kern="1200" dirty="0">
                          <a:solidFill>
                            <a:schemeClr val="accent1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b="0" kern="1200" dirty="0" err="1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  <a:ea typeface="+mn-ea"/>
                          <a:cs typeface="+mn-cs"/>
                        </a:rPr>
                        <a:t>Resumen</a:t>
                      </a:r>
                      <a:endParaRPr lang="en-US" sz="3000" b="0" kern="1200" dirty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0307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3B593FF0-F34F-6C36-BB0F-89589516776B}"/>
              </a:ext>
            </a:extLst>
          </p:cNvPr>
          <p:cNvSpPr txBox="1">
            <a:spLocks/>
          </p:cNvSpPr>
          <p:nvPr/>
        </p:nvSpPr>
        <p:spPr>
          <a:xfrm>
            <a:off x="1382632" y="233948"/>
            <a:ext cx="9418021" cy="8985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_tradnl" sz="3200" dirty="0" err="1">
                <a:solidFill>
                  <a:schemeClr val="accent1"/>
                </a:solidFill>
              </a:rPr>
              <a:t>Overview</a:t>
            </a:r>
            <a:r>
              <a:rPr lang="es-ES_tradnl" sz="3200" dirty="0">
                <a:solidFill>
                  <a:schemeClr val="accent1"/>
                </a:solidFill>
              </a:rPr>
              <a:t>: </a:t>
            </a:r>
            <a:r>
              <a:rPr lang="es-CO" sz="3200" dirty="0"/>
              <a:t>	Mapa de capacidad de negocio</a:t>
            </a:r>
            <a:r>
              <a:rPr lang="es-ES_tradnl" sz="3200" dirty="0"/>
              <a:t> </a:t>
            </a:r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9DCAC72-8E59-43D3-DBF8-6FB117CFD6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2" t="775" b="-1"/>
          <a:stretch>
            <a:fillRect/>
          </a:stretch>
        </p:blipFill>
        <p:spPr>
          <a:xfrm>
            <a:off x="128015" y="996696"/>
            <a:ext cx="11927254" cy="5010911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C11DADF-0433-67D5-BCFF-E624B413DB32}"/>
              </a:ext>
            </a:extLst>
          </p:cNvPr>
          <p:cNvSpPr/>
          <p:nvPr/>
        </p:nvSpPr>
        <p:spPr>
          <a:xfrm>
            <a:off x="8586216" y="2322576"/>
            <a:ext cx="740664" cy="55778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21A1DC8-C68A-CA30-5658-EEC964804FF2}"/>
              </a:ext>
            </a:extLst>
          </p:cNvPr>
          <p:cNvSpPr/>
          <p:nvPr/>
        </p:nvSpPr>
        <p:spPr>
          <a:xfrm>
            <a:off x="10837228" y="2322576"/>
            <a:ext cx="740665" cy="55778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336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16E66-743D-1928-26DE-8C1E7DAB4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7D51AB42-514F-33BE-D706-8979FC17DF12}"/>
              </a:ext>
            </a:extLst>
          </p:cNvPr>
          <p:cNvSpPr txBox="1">
            <a:spLocks/>
          </p:cNvSpPr>
          <p:nvPr/>
        </p:nvSpPr>
        <p:spPr>
          <a:xfrm>
            <a:off x="1014984" y="448056"/>
            <a:ext cx="10477497" cy="8985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>
                <a:solidFill>
                  <a:schemeClr val="accent1"/>
                </a:solidFill>
              </a:rPr>
              <a:t>Overview: </a:t>
            </a:r>
            <a:r>
              <a:rPr lang="es-CO" sz="3200" dirty="0"/>
              <a:t>Capacidad Operativa Gestión de la Matrícula Financiera y Cargos a Estudiantes</a:t>
            </a:r>
            <a:endParaRPr lang="es-CL" dirty="0"/>
          </a:p>
        </p:txBody>
      </p:sp>
      <p:sp>
        <p:nvSpPr>
          <p:cNvPr id="3" name="Marcador de texto 1">
            <a:extLst>
              <a:ext uri="{FF2B5EF4-FFF2-40B4-BE49-F238E27FC236}">
                <a16:creationId xmlns:a16="http://schemas.microsoft.com/office/drawing/2014/main" id="{03C97F2C-8546-ED56-8799-AC198A5DE2B5}"/>
              </a:ext>
            </a:extLst>
          </p:cNvPr>
          <p:cNvSpPr txBox="1">
            <a:spLocks/>
          </p:cNvSpPr>
          <p:nvPr/>
        </p:nvSpPr>
        <p:spPr>
          <a:xfrm>
            <a:off x="1014984" y="1746504"/>
            <a:ext cx="9962587" cy="4006908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CB4B4"/>
              </a:buClr>
              <a:buBlip>
                <a:blip r:embed="rId2"/>
              </a:buBlip>
            </a:pPr>
            <a:r>
              <a:rPr lang="es-CO" sz="2400" dirty="0"/>
              <a:t> Gestionar los conceptos de configuración de la cuenta corriente</a:t>
            </a:r>
          </a:p>
          <a:p>
            <a:pPr>
              <a:buClr>
                <a:srgbClr val="0CB4B4"/>
              </a:buClr>
              <a:buBlip>
                <a:blip r:embed="rId2"/>
              </a:buBlip>
            </a:pPr>
            <a:r>
              <a:rPr lang="es-CO" sz="2400" dirty="0"/>
              <a:t> Gestionar los beneficios</a:t>
            </a:r>
          </a:p>
          <a:p>
            <a:pPr>
              <a:buClr>
                <a:srgbClr val="0CB4B4"/>
              </a:buClr>
              <a:buBlip>
                <a:blip r:embed="rId2"/>
              </a:buBlip>
            </a:pPr>
            <a:r>
              <a:rPr lang="es-CO" sz="2400" dirty="0"/>
              <a:t> Gestionar los planes de pago</a:t>
            </a:r>
          </a:p>
          <a:p>
            <a:pPr>
              <a:buClr>
                <a:srgbClr val="0CB4B4"/>
              </a:buClr>
              <a:buBlip>
                <a:blip r:embed="rId2"/>
              </a:buBlip>
            </a:pPr>
            <a:r>
              <a:rPr lang="es-CO" sz="2400" dirty="0"/>
              <a:t> Gestionar la matrícula</a:t>
            </a:r>
          </a:p>
          <a:p>
            <a:pPr>
              <a:buClr>
                <a:srgbClr val="0CB4B4"/>
              </a:buClr>
              <a:buBlip>
                <a:blip r:embed="rId2"/>
              </a:buBlip>
            </a:pPr>
            <a:r>
              <a:rPr lang="es-CO" sz="2400" dirty="0"/>
              <a:t> Gestionar los pagos</a:t>
            </a:r>
          </a:p>
          <a:p>
            <a:pPr>
              <a:buClr>
                <a:srgbClr val="0CB4B4"/>
              </a:buClr>
              <a:buBlip>
                <a:blip r:embed="rId2"/>
              </a:buBlip>
            </a:pPr>
            <a:r>
              <a:rPr lang="es-CO" sz="2400" dirty="0"/>
              <a:t> </a:t>
            </a:r>
            <a:r>
              <a:rPr lang="es-CO" sz="2400" b="1" dirty="0">
                <a:solidFill>
                  <a:schemeClr val="accent1"/>
                </a:solidFill>
              </a:rPr>
              <a:t>Gestionar los documentos de venta</a:t>
            </a:r>
          </a:p>
          <a:p>
            <a:pPr>
              <a:buClr>
                <a:srgbClr val="0CB4B4"/>
              </a:buClr>
              <a:buBlip>
                <a:blip r:embed="rId2"/>
              </a:buBlip>
            </a:pPr>
            <a:r>
              <a:rPr lang="es-CO" sz="2400" dirty="0"/>
              <a:t> Gestionar la cuenta corriente</a:t>
            </a:r>
          </a:p>
          <a:p>
            <a:pPr>
              <a:buClr>
                <a:srgbClr val="0CB4B4"/>
              </a:buClr>
              <a:buBlip>
                <a:blip r:embed="rId2"/>
              </a:buBlip>
            </a:pPr>
            <a:r>
              <a:rPr lang="es-CO" sz="2400" dirty="0"/>
              <a:t> Gestionar la generación de transacciones FI</a:t>
            </a:r>
          </a:p>
        </p:txBody>
      </p:sp>
    </p:spTree>
    <p:extLst>
      <p:ext uri="{BB962C8B-B14F-4D97-AF65-F5344CB8AC3E}">
        <p14:creationId xmlns:p14="http://schemas.microsoft.com/office/powerpoint/2010/main" val="2282972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A9D37-CDA9-D682-B97A-5DDF33002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3">
            <a:extLst>
              <a:ext uri="{FF2B5EF4-FFF2-40B4-BE49-F238E27FC236}">
                <a16:creationId xmlns:a16="http://schemas.microsoft.com/office/drawing/2014/main" id="{0E638EA4-C530-CFF6-F456-E83A811D4142}"/>
              </a:ext>
            </a:extLst>
          </p:cNvPr>
          <p:cNvSpPr txBox="1">
            <a:spLocks/>
          </p:cNvSpPr>
          <p:nvPr/>
        </p:nvSpPr>
        <p:spPr>
          <a:xfrm>
            <a:off x="857250" y="597881"/>
            <a:ext cx="10477497" cy="8985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dirty="0">
                <a:solidFill>
                  <a:schemeClr val="accent1"/>
                </a:solidFill>
              </a:rPr>
              <a:t>Overview: </a:t>
            </a:r>
            <a:r>
              <a:rPr lang="es-CO" sz="3200" dirty="0"/>
              <a:t>Gestionar los documentos de venta</a:t>
            </a:r>
            <a:endParaRPr lang="es-CL" dirty="0"/>
          </a:p>
        </p:txBody>
      </p:sp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48D7EFB0-139D-497B-CE16-7D4D59985C61}"/>
              </a:ext>
            </a:extLst>
          </p:cNvPr>
          <p:cNvSpPr txBox="1">
            <a:spLocks/>
          </p:cNvSpPr>
          <p:nvPr/>
        </p:nvSpPr>
        <p:spPr>
          <a:xfrm>
            <a:off x="857250" y="1496436"/>
            <a:ext cx="10477497" cy="20788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0CB4B4"/>
              </a:buClr>
              <a:buBlip>
                <a:blip r:embed="rId2"/>
              </a:buBlip>
            </a:pPr>
            <a:r>
              <a:rPr lang="es-CO" sz="2000" dirty="0"/>
              <a:t>Tiene como propósito el registro y control de las transacciones de pago que realizan los estudiantes directamente en la caja de la universidad, o por medios electrónicos, ya sea desde el portal de pago, reconocimientos pago de cedentes, entre otros. </a:t>
            </a:r>
          </a:p>
          <a:p>
            <a:pPr algn="just">
              <a:buClr>
                <a:srgbClr val="0CB4B4"/>
              </a:buClr>
              <a:buBlip>
                <a:blip r:embed="rId2"/>
              </a:buBlip>
            </a:pPr>
            <a:r>
              <a:rPr lang="es-CO" sz="2000" dirty="0"/>
              <a:t>Lo anterior se realiza por medio de la formalización de documentos con folio y registro controlado en función a las reglas de negocio que posee la institución</a:t>
            </a:r>
          </a:p>
          <a:p>
            <a:pPr marL="0" indent="0" algn="just">
              <a:buClr>
                <a:srgbClr val="0CB4B4"/>
              </a:buClr>
              <a:buNone/>
            </a:pPr>
            <a:endParaRPr lang="es-CO" sz="2000" dirty="0"/>
          </a:p>
          <a:p>
            <a:pPr marL="0" indent="0" algn="just">
              <a:buClr>
                <a:srgbClr val="0CB4B4"/>
              </a:buClr>
              <a:buNone/>
            </a:pPr>
            <a:endParaRPr lang="es-CO" sz="2000" dirty="0"/>
          </a:p>
          <a:p>
            <a:pPr marL="0" indent="0" algn="just">
              <a:buClr>
                <a:srgbClr val="0CB4B4"/>
              </a:buClr>
              <a:buNone/>
            </a:pP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882865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69356-7101-74E3-FFD8-42A26C5C2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E763723C-5330-831A-866D-B841E31941A7}"/>
              </a:ext>
            </a:extLst>
          </p:cNvPr>
          <p:cNvSpPr txBox="1">
            <a:spLocks/>
          </p:cNvSpPr>
          <p:nvPr/>
        </p:nvSpPr>
        <p:spPr>
          <a:xfrm>
            <a:off x="1330284" y="387280"/>
            <a:ext cx="7676556" cy="52879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000" dirty="0">
                <a:solidFill>
                  <a:schemeClr val="accent1"/>
                </a:solidFill>
              </a:rPr>
              <a:t>Overview: </a:t>
            </a:r>
            <a:r>
              <a:rPr lang="es-CO" sz="3000" dirty="0"/>
              <a:t>Gestionar los documentos de venta</a:t>
            </a:r>
          </a:p>
          <a:p>
            <a:r>
              <a:rPr lang="es-ES_tradnl" sz="3000" dirty="0"/>
              <a:t> </a:t>
            </a:r>
            <a:endParaRPr lang="es-CL" sz="3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E3FB808-AE84-9EA5-DE86-DA416BE286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67" r="12171" b="22666"/>
          <a:stretch>
            <a:fillRect/>
          </a:stretch>
        </p:blipFill>
        <p:spPr>
          <a:xfrm>
            <a:off x="1262631" y="1135527"/>
            <a:ext cx="9666738" cy="506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194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7B0D0-31A3-5697-ADCD-1DBB7FDC5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58F3FB0-1246-A15C-6F05-1E2CEF64E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205" y="1243584"/>
            <a:ext cx="4949400" cy="525873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08B41F2-6092-A826-D062-7BEC12B9F49E}"/>
              </a:ext>
            </a:extLst>
          </p:cNvPr>
          <p:cNvSpPr txBox="1"/>
          <p:nvPr/>
        </p:nvSpPr>
        <p:spPr>
          <a:xfrm>
            <a:off x="6903719" y="2167128"/>
            <a:ext cx="2111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/>
              <a:t>Todo LAC</a:t>
            </a:r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889751BF-9411-08B1-B14A-6450804DDB12}"/>
              </a:ext>
            </a:extLst>
          </p:cNvPr>
          <p:cNvSpPr txBox="1">
            <a:spLocks/>
          </p:cNvSpPr>
          <p:nvPr/>
        </p:nvSpPr>
        <p:spPr>
          <a:xfrm>
            <a:off x="757860" y="259264"/>
            <a:ext cx="10333811" cy="52879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000" dirty="0">
                <a:solidFill>
                  <a:schemeClr val="accent1"/>
                </a:solidFill>
              </a:rPr>
              <a:t>Overview: </a:t>
            </a:r>
            <a:r>
              <a:rPr lang="es-CO" sz="3000" dirty="0"/>
              <a:t>Gestionar los documentos de venta</a:t>
            </a:r>
          </a:p>
          <a:p>
            <a:r>
              <a:rPr lang="es-ES_tradnl" sz="3000" dirty="0"/>
              <a:t> </a:t>
            </a:r>
            <a:endParaRPr lang="es-CL" sz="3000" dirty="0"/>
          </a:p>
        </p:txBody>
      </p:sp>
    </p:spTree>
    <p:extLst>
      <p:ext uri="{BB962C8B-B14F-4D97-AF65-F5344CB8AC3E}">
        <p14:creationId xmlns:p14="http://schemas.microsoft.com/office/powerpoint/2010/main" val="3240483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83101-4355-03B8-9E15-A7698836A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6">
            <a:extLst>
              <a:ext uri="{FF2B5EF4-FFF2-40B4-BE49-F238E27FC236}">
                <a16:creationId xmlns:a16="http://schemas.microsoft.com/office/drawing/2014/main" id="{7FB3341E-4B68-FA61-19E0-0CD352C0A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695333"/>
              </p:ext>
            </p:extLst>
          </p:nvPr>
        </p:nvGraphicFramePr>
        <p:xfrm>
          <a:off x="1205196" y="1353062"/>
          <a:ext cx="9609373" cy="4315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064">
                  <a:extLst>
                    <a:ext uri="{9D8B030D-6E8A-4147-A177-3AD203B41FA5}">
                      <a16:colId xmlns:a16="http://schemas.microsoft.com/office/drawing/2014/main" val="2298581278"/>
                    </a:ext>
                  </a:extLst>
                </a:gridCol>
                <a:gridCol w="7581309">
                  <a:extLst>
                    <a:ext uri="{9D8B030D-6E8A-4147-A177-3AD203B41FA5}">
                      <a16:colId xmlns:a16="http://schemas.microsoft.com/office/drawing/2014/main" val="1504358611"/>
                    </a:ext>
                  </a:extLst>
                </a:gridCol>
              </a:tblGrid>
              <a:tr h="4882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Concepto</a:t>
                      </a:r>
                      <a:endParaRPr lang="es-CO" sz="20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effectLst/>
                        </a:rPr>
                        <a:t>Descripción</a:t>
                      </a:r>
                      <a:endParaRPr lang="es-CO" sz="200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631455631"/>
                  </a:ext>
                </a:extLst>
              </a:tr>
              <a:tr h="488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Estado de cuenta</a:t>
                      </a:r>
                      <a:endParaRPr lang="es-CO" sz="16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Detalle de transacciones de cargo y pago asentadas en la cuenta del estudiante.</a:t>
                      </a: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1674607535"/>
                  </a:ext>
                </a:extLst>
              </a:tr>
              <a:tr h="5701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</a:rPr>
                        <a:t>Moroso</a:t>
                      </a: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Alumno con saldo vencido</a:t>
                      </a: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3417766030"/>
                  </a:ext>
                </a:extLst>
              </a:tr>
              <a:tr h="5701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</a:rPr>
                        <a:t>Exención</a:t>
                      </a:r>
                      <a:endParaRPr lang="es-CO" sz="2000" b="1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Beca, descuento o condonación.</a:t>
                      </a:r>
                      <a:endParaRPr lang="es-CO" sz="2000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986388875"/>
                  </a:ext>
                </a:extLst>
              </a:tr>
              <a:tr h="5701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</a:rPr>
                        <a:t>Contrato</a:t>
                      </a: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effectLst/>
                        </a:rPr>
                        <a:t>Mecanismo mediante el cual una empresa o tercero asume la deuda parcial o total de un estudiante.</a:t>
                      </a:r>
                      <a:endParaRPr lang="es-CO" sz="2000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959410008"/>
                  </a:ext>
                </a:extLst>
              </a:tr>
              <a:tr h="5701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</a:rPr>
                        <a:t>Plan de pagos</a:t>
                      </a:r>
                      <a:endParaRPr lang="es-CO" sz="2000" b="1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Mecanismo automatizado que permite dividir la deuda en un conjunto de parcialidades con nueva fecha de vencimiento, con recargos o sin recargos. </a:t>
                      </a: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3597378803"/>
                  </a:ext>
                </a:extLst>
              </a:tr>
              <a:tr h="5701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</a:rPr>
                        <a:t>Refinanciamiento </a:t>
                      </a:r>
                      <a:endParaRPr lang="es-CO" sz="2000" b="1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Mecanismo automatizado que permite pactar nuevos convenios sobre la forma de pagar una deuda o plan de pagos que el deudor no ha podido cumplir.</a:t>
                      </a:r>
                      <a:endParaRPr lang="es-CO" sz="2000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4130258538"/>
                  </a:ext>
                </a:extLst>
              </a:tr>
              <a:tr h="48826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</a:rPr>
                        <a:t>Reglas de cobro</a:t>
                      </a:r>
                      <a:endParaRPr lang="es-CO" sz="2000" b="1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Lista de precios o tarifas.</a:t>
                      </a:r>
                      <a:endParaRPr lang="es-CO" sz="2000" dirty="0">
                        <a:solidFill>
                          <a:srgbClr val="41404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36830" marR="36830" marT="36830" marB="36830" anchor="ctr"/>
                </a:tc>
                <a:extLst>
                  <a:ext uri="{0D108BD9-81ED-4DB2-BD59-A6C34878D82A}">
                    <a16:rowId xmlns:a16="http://schemas.microsoft.com/office/drawing/2014/main" val="2270006639"/>
                  </a:ext>
                </a:extLst>
              </a:tr>
            </a:tbl>
          </a:graphicData>
        </a:graphic>
      </p:graphicFrame>
      <p:sp>
        <p:nvSpPr>
          <p:cNvPr id="4" name="Título 3">
            <a:extLst>
              <a:ext uri="{FF2B5EF4-FFF2-40B4-BE49-F238E27FC236}">
                <a16:creationId xmlns:a16="http://schemas.microsoft.com/office/drawing/2014/main" id="{750CE1ED-E082-8249-F10E-9147F13B62BF}"/>
              </a:ext>
            </a:extLst>
          </p:cNvPr>
          <p:cNvSpPr txBox="1">
            <a:spLocks/>
          </p:cNvSpPr>
          <p:nvPr/>
        </p:nvSpPr>
        <p:spPr>
          <a:xfrm>
            <a:off x="1205195" y="387280"/>
            <a:ext cx="9609373" cy="53626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000" dirty="0">
                <a:solidFill>
                  <a:schemeClr val="accent1"/>
                </a:solidFill>
              </a:rPr>
              <a:t>Overview: </a:t>
            </a:r>
            <a:r>
              <a:rPr lang="es-CO" sz="3000" dirty="0"/>
              <a:t>Gestionar los documentos de venta</a:t>
            </a:r>
            <a:r>
              <a:rPr lang="es-ES_tradnl" sz="3000" dirty="0"/>
              <a:t> </a:t>
            </a:r>
            <a:endParaRPr lang="es-CL" sz="3000" dirty="0"/>
          </a:p>
        </p:txBody>
      </p:sp>
    </p:spTree>
    <p:extLst>
      <p:ext uri="{BB962C8B-B14F-4D97-AF65-F5344CB8AC3E}">
        <p14:creationId xmlns:p14="http://schemas.microsoft.com/office/powerpoint/2010/main" val="645989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8189ACF-57C2-6B30-03EB-5F9E991675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6045" y="2989779"/>
            <a:ext cx="8313737" cy="878442"/>
          </a:xfrm>
        </p:spPr>
        <p:txBody>
          <a:bodyPr/>
          <a:lstStyle/>
          <a:p>
            <a:r>
              <a:rPr lang="en-US" dirty="0"/>
              <a:t>Configuraciones Generales</a:t>
            </a:r>
          </a:p>
          <a:p>
            <a:endParaRPr lang="es-CO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D18961A5-D875-C3C7-6910-80179D77E101}"/>
              </a:ext>
            </a:extLst>
          </p:cNvPr>
          <p:cNvSpPr txBox="1">
            <a:spLocks/>
          </p:cNvSpPr>
          <p:nvPr/>
        </p:nvSpPr>
        <p:spPr>
          <a:xfrm>
            <a:off x="566045" y="3868221"/>
            <a:ext cx="5368411" cy="3896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000" dirty="0">
                <a:solidFill>
                  <a:schemeClr val="bg1"/>
                </a:solidFill>
              </a:rPr>
              <a:t>Gestionar los documentos de venta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416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1248B-7172-2538-BB3C-DF726B27A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72B8C541-4979-C3B4-5449-B1A02861B566}"/>
              </a:ext>
            </a:extLst>
          </p:cNvPr>
          <p:cNvSpPr txBox="1">
            <a:spLocks/>
          </p:cNvSpPr>
          <p:nvPr/>
        </p:nvSpPr>
        <p:spPr>
          <a:xfrm>
            <a:off x="894525" y="229679"/>
            <a:ext cx="8734107" cy="9418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CL" sz="3200" dirty="0"/>
              <a:t>TVASDCT - Control general de los documentos de ventas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B7D8E67F-4688-A213-B551-5BC8ACDBA1DB}"/>
              </a:ext>
            </a:extLst>
          </p:cNvPr>
          <p:cNvSpPr/>
          <p:nvPr/>
        </p:nvSpPr>
        <p:spPr>
          <a:xfrm>
            <a:off x="990209" y="4383699"/>
            <a:ext cx="10211577" cy="539496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200" dirty="0"/>
              <a:t>Esta página permite el mantenimiento de configuraciones generales para Documentos de Ventas, Reembolso y Cálculo de Intereses y Mora.</a:t>
            </a:r>
            <a:endParaRPr lang="es-419" sz="1200" dirty="0">
              <a:cs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11CE47B-389D-294B-7567-23F390630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10" y="1674201"/>
            <a:ext cx="10211577" cy="2089216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25AA3FB-1A2F-F32B-2D30-523E55B1C243}"/>
              </a:ext>
            </a:extLst>
          </p:cNvPr>
          <p:cNvSpPr/>
          <p:nvPr/>
        </p:nvSpPr>
        <p:spPr>
          <a:xfrm>
            <a:off x="990209" y="5183798"/>
            <a:ext cx="10211577" cy="107069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O" sz="1200" dirty="0"/>
              <a:t>Existen dos valores para el campo </a:t>
            </a:r>
            <a:r>
              <a:rPr lang="es-CO" sz="1200" b="1" dirty="0"/>
              <a:t>“Método de cálculo de interés y multa”.</a:t>
            </a:r>
            <a:br>
              <a:rPr lang="es-CO" sz="1200" dirty="0"/>
            </a:br>
            <a:r>
              <a:rPr lang="es-CO" sz="1200" b="1" dirty="0"/>
              <a:t>1. CONFIGURACIÓN PARA COLOMBIA: </a:t>
            </a:r>
            <a:r>
              <a:rPr lang="es-CO" sz="1200" dirty="0"/>
              <a:t>que corresponde al cálculo de interese simple, aplicable a todo LAC.</a:t>
            </a:r>
            <a:br>
              <a:rPr lang="es-CO" sz="1200" dirty="0"/>
            </a:br>
            <a:r>
              <a:rPr lang="es-CO" sz="1200" b="1" dirty="0"/>
              <a:t>2. CONFIGURACIÓN PARA CHILE: </a:t>
            </a:r>
            <a:r>
              <a:rPr lang="es-CO" sz="1200" dirty="0"/>
              <a:t>aplica solo para Chile donde corresponde al cálculo de los gastos de cobranza basado en los montos de UF </a:t>
            </a:r>
            <a:r>
              <a:rPr lang="es-CO" sz="1200"/>
              <a:t>adeudados.</a:t>
            </a:r>
            <a:endParaRPr lang="es-CO" sz="12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9146817-5BAB-93C9-D2CF-95896B623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10" y="3894616"/>
            <a:ext cx="10211577" cy="32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24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E62C3-E207-7A89-7195-75651D160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95CA939E-DC8C-EDC3-3D30-EE96347E343F}"/>
              </a:ext>
            </a:extLst>
          </p:cNvPr>
          <p:cNvSpPr txBox="1">
            <a:spLocks/>
          </p:cNvSpPr>
          <p:nvPr/>
        </p:nvSpPr>
        <p:spPr>
          <a:xfrm>
            <a:off x="894525" y="229679"/>
            <a:ext cx="8734107" cy="9418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CL" sz="3200" dirty="0"/>
              <a:t>TVASDCT - Control general de los documentos de ventas </a:t>
            </a:r>
            <a:r>
              <a:rPr lang="es-CL" sz="3200" b="0" dirty="0"/>
              <a:t>1/3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FEBDCABE-8F64-0B97-F676-3BAB8B494033}"/>
              </a:ext>
            </a:extLst>
          </p:cNvPr>
          <p:cNvSpPr/>
          <p:nvPr/>
        </p:nvSpPr>
        <p:spPr>
          <a:xfrm>
            <a:off x="882817" y="5852160"/>
            <a:ext cx="10211577" cy="539496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200" dirty="0"/>
              <a:t>Las configuraciones de la sección “</a:t>
            </a:r>
            <a:r>
              <a:rPr lang="es-419" sz="1200" b="1" dirty="0"/>
              <a:t>Opciones de Configuración</a:t>
            </a:r>
            <a:r>
              <a:rPr lang="es-419" sz="1200" dirty="0"/>
              <a:t>” han de ser realizadas contando con la previa creación de los códigos de detalles definidos para repactaciones</a:t>
            </a:r>
            <a:r>
              <a:rPr lang="es-419" sz="1200" dirty="0">
                <a:cs typeface="Arial"/>
              </a:rPr>
              <a:t>.</a:t>
            </a:r>
            <a:endParaRPr lang="es-CL" sz="12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6025515-7341-7586-E34B-1D3F66889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98" y="1178221"/>
            <a:ext cx="9805416" cy="455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312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CB684-0322-FAEA-6144-FB23E65E0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ACED2D0F-B40B-4FB8-5D1E-8F9B182EC5C1}"/>
              </a:ext>
            </a:extLst>
          </p:cNvPr>
          <p:cNvSpPr txBox="1">
            <a:spLocks/>
          </p:cNvSpPr>
          <p:nvPr/>
        </p:nvSpPr>
        <p:spPr>
          <a:xfrm>
            <a:off x="894525" y="74231"/>
            <a:ext cx="8734107" cy="9418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CL" sz="3200" dirty="0"/>
              <a:t>TVASDCT - Control general de los documentos de ventas </a:t>
            </a:r>
            <a:r>
              <a:rPr lang="es-CL" sz="3200" b="0" dirty="0"/>
              <a:t>2/3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8C14CE9-5F96-0EFE-57E8-A4E941C3E5CF}"/>
              </a:ext>
            </a:extLst>
          </p:cNvPr>
          <p:cNvSpPr/>
          <p:nvPr/>
        </p:nvSpPr>
        <p:spPr>
          <a:xfrm>
            <a:off x="993425" y="5934455"/>
            <a:ext cx="10211577" cy="51565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200" dirty="0"/>
              <a:t>Las configuraciones de la sección “</a:t>
            </a:r>
            <a:r>
              <a:rPr lang="es-419" sz="1200" b="1" dirty="0"/>
              <a:t>Opciones de Configuración</a:t>
            </a:r>
            <a:r>
              <a:rPr lang="es-419" sz="1200" dirty="0"/>
              <a:t>” han de ser realizadas contando con la previa creación de los códigos de detalles definidos para repactaciones</a:t>
            </a:r>
            <a:endParaRPr lang="es-CL" sz="1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F7220DD-0A4A-F0D9-47B7-1831B13EB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998" y="1050304"/>
            <a:ext cx="10218004" cy="475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198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DDD7F-0F83-7904-C2DE-2CB74EED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4125EC3F-D9FD-4906-FE0C-4A9A8EE14E3F}"/>
              </a:ext>
            </a:extLst>
          </p:cNvPr>
          <p:cNvSpPr txBox="1">
            <a:spLocks/>
          </p:cNvSpPr>
          <p:nvPr/>
        </p:nvSpPr>
        <p:spPr>
          <a:xfrm>
            <a:off x="698687" y="263541"/>
            <a:ext cx="9227883" cy="9418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CL" sz="3200" dirty="0"/>
              <a:t>TVASDCT - Control general de los documentos de ventas </a:t>
            </a:r>
            <a:r>
              <a:rPr lang="es-CL" sz="3200" b="0" dirty="0"/>
              <a:t>3/3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4F7FEF21-1D7C-E260-666C-D31FBFA0FB39}"/>
              </a:ext>
            </a:extLst>
          </p:cNvPr>
          <p:cNvSpPr/>
          <p:nvPr/>
        </p:nvSpPr>
        <p:spPr>
          <a:xfrm>
            <a:off x="812639" y="5111495"/>
            <a:ext cx="10566721" cy="51565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419" sz="1200" dirty="0"/>
              <a:t>Las configuraciones de la sección “</a:t>
            </a:r>
            <a:r>
              <a:rPr lang="es-419" sz="1200" b="1" dirty="0"/>
              <a:t>Opciones de Configuración</a:t>
            </a:r>
            <a:r>
              <a:rPr lang="es-419" sz="1200" dirty="0"/>
              <a:t>” han de ser realizadas contando con la previa creación de los códigos de detalles definidos para repactaciones</a:t>
            </a:r>
            <a:r>
              <a:rPr lang="es-CL" sz="1200" dirty="0"/>
              <a:t>.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F51635-B0E9-6C4F-0E6F-959F11301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639" y="1342532"/>
            <a:ext cx="10566721" cy="333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995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766B930-D9CE-C064-1BCA-00F8C597EF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901" y="2815734"/>
            <a:ext cx="10982827" cy="757323"/>
          </a:xfrm>
        </p:spPr>
        <p:txBody>
          <a:bodyPr/>
          <a:lstStyle/>
          <a:p>
            <a:r>
              <a:rPr lang="es-ES" dirty="0"/>
              <a:t>Configuración Tipo de Documentos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B09895-ACF9-EDA0-4123-F25C9FF9D7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901" y="3778719"/>
            <a:ext cx="8313737" cy="324961"/>
          </a:xfrm>
        </p:spPr>
        <p:txBody>
          <a:bodyPr/>
          <a:lstStyle/>
          <a:p>
            <a:r>
              <a:rPr lang="es-CO" sz="2000" dirty="0"/>
              <a:t>Gestionar los documentos de venta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46206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80D55-E283-B3FD-12B6-116CE6DA0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08BF5541-2FAE-2517-8D61-FA27E03872B2}"/>
              </a:ext>
            </a:extLst>
          </p:cNvPr>
          <p:cNvSpPr txBox="1">
            <a:spLocks/>
          </p:cNvSpPr>
          <p:nvPr/>
        </p:nvSpPr>
        <p:spPr>
          <a:xfrm>
            <a:off x="680399" y="526762"/>
            <a:ext cx="9227883" cy="9418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CL" sz="3200" dirty="0"/>
              <a:t>TVVSDOC - Validación de código de documento de ventas</a:t>
            </a:r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D400A27-43A2-014B-C76C-688AC69CF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27" y="2094971"/>
            <a:ext cx="10647745" cy="2010685"/>
          </a:xfrm>
          <a:prstGeom prst="rect">
            <a:avLst/>
          </a:prstGeom>
        </p:spPr>
      </p:pic>
      <p:sp>
        <p:nvSpPr>
          <p:cNvPr id="7" name="Rectángulo: esquinas redondeadas 7">
            <a:extLst>
              <a:ext uri="{FF2B5EF4-FFF2-40B4-BE49-F238E27FC236}">
                <a16:creationId xmlns:a16="http://schemas.microsoft.com/office/drawing/2014/main" id="{D875181D-B455-9239-BE28-B71F6DDB94A0}"/>
              </a:ext>
            </a:extLst>
          </p:cNvPr>
          <p:cNvSpPr/>
          <p:nvPr/>
        </p:nvSpPr>
        <p:spPr>
          <a:xfrm>
            <a:off x="772127" y="4352544"/>
            <a:ext cx="10647745" cy="160121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1450" indent="-171450">
              <a:buFont typeface="Arial"/>
              <a:buChar char="•"/>
            </a:pPr>
            <a:r>
              <a:rPr lang="es-CO" sz="1200" b="1" dirty="0">
                <a:solidFill>
                  <a:srgbClr val="FFFFFF"/>
                </a:solidFill>
              </a:rPr>
              <a:t>Tipo de Documento:</a:t>
            </a:r>
            <a:r>
              <a:rPr lang="es-CO" sz="1200" dirty="0">
                <a:solidFill>
                  <a:srgbClr val="FFFFFF"/>
                </a:solidFill>
              </a:rPr>
              <a:t> El código de tipo de Documento de Venta.</a:t>
            </a:r>
            <a:endParaRPr lang="en-US" sz="1200" dirty="0">
              <a:solidFill>
                <a:srgbClr val="FFFFFF"/>
              </a:solidFill>
              <a:cs typeface="Arial" panose="020B0604020202020204"/>
            </a:endParaRPr>
          </a:p>
          <a:p>
            <a:pPr marL="171450" indent="-171450">
              <a:buFont typeface="Arial"/>
              <a:buChar char="•"/>
            </a:pPr>
            <a:r>
              <a:rPr lang="es-CO" sz="1200" b="1" dirty="0">
                <a:solidFill>
                  <a:srgbClr val="FFFFFF"/>
                </a:solidFill>
              </a:rPr>
              <a:t>Descripción:</a:t>
            </a:r>
            <a:r>
              <a:rPr lang="es-CO" sz="1200" dirty="0">
                <a:solidFill>
                  <a:srgbClr val="FFFFFF"/>
                </a:solidFill>
              </a:rPr>
              <a:t> Descripción del tipo de Documento</a:t>
            </a:r>
            <a:endParaRPr lang="en-US" sz="1200" dirty="0">
              <a:solidFill>
                <a:srgbClr val="FFFFFF"/>
              </a:solidFill>
              <a:cs typeface="Arial" panose="020B0604020202020204"/>
            </a:endParaRPr>
          </a:p>
          <a:p>
            <a:pPr marL="171450" indent="-171450">
              <a:buFont typeface="Arial"/>
              <a:buChar char="•"/>
            </a:pPr>
            <a:r>
              <a:rPr lang="es-CO" sz="1200" b="1" dirty="0">
                <a:solidFill>
                  <a:srgbClr val="FFFFFF"/>
                </a:solidFill>
              </a:rPr>
              <a:t>Impuestos: </a:t>
            </a:r>
            <a:r>
              <a:rPr lang="es-CO" sz="1200" dirty="0">
                <a:solidFill>
                  <a:srgbClr val="FFFFFF"/>
                </a:solidFill>
              </a:rPr>
              <a:t>Campo que se usa para indicar si los documentos de ventas van a incluir o no transacciones con impuestos. Donde los valores pueden ser:</a:t>
            </a:r>
            <a:endParaRPr lang="es-CO" sz="1200" dirty="0">
              <a:solidFill>
                <a:srgbClr val="FFFFFF"/>
              </a:solidFill>
              <a:cs typeface="Arial"/>
            </a:endParaRPr>
          </a:p>
          <a:p>
            <a:pPr marL="628650" lvl="1" indent="-171450">
              <a:buFont typeface="Arial"/>
              <a:buChar char="•"/>
            </a:pPr>
            <a:r>
              <a:rPr lang="es-CO" sz="1200" dirty="0">
                <a:solidFill>
                  <a:srgbClr val="FFFFFF"/>
                </a:solidFill>
              </a:rPr>
              <a:t>Y – Incluir Sólo transacciones con Impuestos</a:t>
            </a:r>
            <a:endParaRPr lang="en-US" sz="1200" dirty="0">
              <a:solidFill>
                <a:srgbClr val="FFFFFF"/>
              </a:solidFill>
              <a:cs typeface="Arial" panose="020B0604020202020204"/>
            </a:endParaRPr>
          </a:p>
          <a:p>
            <a:pPr marL="628650" lvl="1" indent="-171450">
              <a:buFont typeface="Arial"/>
              <a:buChar char="•"/>
            </a:pPr>
            <a:r>
              <a:rPr lang="es-CO" sz="1200" dirty="0">
                <a:solidFill>
                  <a:srgbClr val="FFFFFF"/>
                </a:solidFill>
              </a:rPr>
              <a:t>N – No incluir transacciones con Impuestos</a:t>
            </a:r>
            <a:endParaRPr lang="en-US" sz="1200" dirty="0">
              <a:solidFill>
                <a:srgbClr val="FFFFFF"/>
              </a:solidFill>
              <a:cs typeface="Arial" panose="020B0604020202020204"/>
            </a:endParaRPr>
          </a:p>
          <a:p>
            <a:pPr marL="628650" lvl="1" indent="-171450">
              <a:buFont typeface="Arial"/>
              <a:buChar char="•"/>
            </a:pPr>
            <a:r>
              <a:rPr lang="es-CO" sz="1200" dirty="0">
                <a:solidFill>
                  <a:srgbClr val="FFFFFF"/>
                </a:solidFill>
              </a:rPr>
              <a:t>B – Incluir transacciones con y sin impuestos en el mismo documento.</a:t>
            </a:r>
            <a:endParaRPr lang="en-US" sz="1200" dirty="0">
              <a:solidFill>
                <a:srgbClr val="FFFFFF"/>
              </a:solidFill>
              <a:cs typeface="Arial" panose="020B0604020202020204"/>
            </a:endParaRPr>
          </a:p>
          <a:p>
            <a:pPr marL="628650" lvl="1" indent="-171450">
              <a:buFont typeface="Arial"/>
              <a:buChar char="•"/>
            </a:pPr>
            <a:r>
              <a:rPr lang="es-CO" sz="1200" dirty="0">
                <a:solidFill>
                  <a:srgbClr val="FFFFFF"/>
                </a:solidFill>
              </a:rPr>
              <a:t>E – Incluir transacciones con o sin impuestos, pero la impresión es excluyente entre ambas. </a:t>
            </a:r>
            <a:endParaRPr lang="es-CL" sz="1200" dirty="0">
              <a:solidFill>
                <a:srgbClr val="FFFFFF"/>
              </a:solidFill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148427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5F674-6873-5228-721D-C47D88612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EAE613A9-6408-A43C-CFA8-8020949976B5}"/>
              </a:ext>
            </a:extLst>
          </p:cNvPr>
          <p:cNvSpPr txBox="1">
            <a:spLocks/>
          </p:cNvSpPr>
          <p:nvPr/>
        </p:nvSpPr>
        <p:spPr>
          <a:xfrm>
            <a:off x="680399" y="526762"/>
            <a:ext cx="9227883" cy="9418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CL" sz="3200" dirty="0"/>
              <a:t>TVVSDOC - Validación de código de documento de ventas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DEDA28A-BB19-5527-1401-E4F5136B9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75" y="1864619"/>
            <a:ext cx="10469650" cy="2076445"/>
          </a:xfrm>
          <a:prstGeom prst="rect">
            <a:avLst/>
          </a:prstGeom>
        </p:spPr>
      </p:pic>
      <p:sp>
        <p:nvSpPr>
          <p:cNvPr id="3" name="Rectángulo: esquinas redondeadas 7">
            <a:extLst>
              <a:ext uri="{FF2B5EF4-FFF2-40B4-BE49-F238E27FC236}">
                <a16:creationId xmlns:a16="http://schemas.microsoft.com/office/drawing/2014/main" id="{B20E638E-A4D9-9F20-FDC9-1FFB6BC87053}"/>
              </a:ext>
            </a:extLst>
          </p:cNvPr>
          <p:cNvSpPr/>
          <p:nvPr/>
        </p:nvSpPr>
        <p:spPr>
          <a:xfrm>
            <a:off x="861176" y="4233738"/>
            <a:ext cx="10469650" cy="185616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 algn="just">
              <a:buFont typeface="Arial"/>
              <a:buChar char="•"/>
            </a:pPr>
            <a:r>
              <a:rPr lang="es-CO" sz="1200" b="1" dirty="0">
                <a:solidFill>
                  <a:srgbClr val="FFFFFF"/>
                </a:solidFill>
              </a:rPr>
              <a:t>Generación de documento: </a:t>
            </a:r>
            <a:r>
              <a:rPr lang="es-CO" sz="1200" dirty="0">
                <a:solidFill>
                  <a:srgbClr val="FFFFFF"/>
                </a:solidFill>
              </a:rPr>
              <a:t>Este campo guarda el método de generación de correlativo que puede ser: </a:t>
            </a:r>
            <a:endParaRPr lang="en-US" sz="1200" dirty="0">
              <a:solidFill>
                <a:srgbClr val="FFFFFF"/>
              </a:solidFill>
              <a:cs typeface="Arial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CO" sz="1200" b="1" dirty="0">
                <a:solidFill>
                  <a:srgbClr val="FFFFFF"/>
                </a:solidFill>
              </a:rPr>
              <a:t>A - Folio Automático:</a:t>
            </a:r>
            <a:r>
              <a:rPr lang="es-CO" sz="1200" dirty="0">
                <a:solidFill>
                  <a:srgbClr val="FFFFFF"/>
                </a:solidFill>
              </a:rPr>
              <a:t> El sistema genera automáticamente el folio en base a la información definida en base al perfil de negocio, tipo de documento, rango de folios y último folio que se imprimió.</a:t>
            </a:r>
            <a:endParaRPr lang="en-US" sz="1200" dirty="0">
              <a:solidFill>
                <a:srgbClr val="FFFFFF"/>
              </a:solidFill>
              <a:cs typeface="Arial" panose="020B0604020202020204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CO" sz="1200" b="1" dirty="0">
                <a:solidFill>
                  <a:srgbClr val="FFFFFF"/>
                </a:solidFill>
              </a:rPr>
              <a:t>S – Folio Sugerido </a:t>
            </a:r>
            <a:r>
              <a:rPr lang="es-CO" sz="1200" dirty="0">
                <a:solidFill>
                  <a:srgbClr val="FFFFFF"/>
                </a:solidFill>
              </a:rPr>
              <a:t>– El sistema propone un correlativo en base a la información definida de acuerdo al tipo de documento, perfil de negocio, rango de folios, y último folio que se imprimió. Pero es sugerido y el usuario puede cambiarlo de acuerdo a las circunstancias.</a:t>
            </a:r>
            <a:endParaRPr lang="en-US" sz="1200" dirty="0">
              <a:solidFill>
                <a:srgbClr val="FFFFFF"/>
              </a:solidFill>
              <a:cs typeface="Arial"/>
            </a:endParaRPr>
          </a:p>
          <a:p>
            <a:pPr marL="742950" lvl="1" indent="-285750" algn="just">
              <a:buFont typeface="Arial"/>
              <a:buChar char="•"/>
            </a:pPr>
            <a:r>
              <a:rPr lang="es-CO" sz="1200" b="1" dirty="0">
                <a:solidFill>
                  <a:srgbClr val="FFFFFF"/>
                </a:solidFill>
              </a:rPr>
              <a:t>M – Folio Manual</a:t>
            </a:r>
            <a:r>
              <a:rPr lang="es-CO" sz="1200" dirty="0">
                <a:solidFill>
                  <a:srgbClr val="FFFFFF"/>
                </a:solidFill>
              </a:rPr>
              <a:t> – Esta opción el usuario puede capturar el folio que corresponde e imprimir directamente en el sistema en forma manual.</a:t>
            </a:r>
            <a:endParaRPr lang="en-US" sz="1200" dirty="0">
              <a:solidFill>
                <a:srgbClr val="FFFFFF"/>
              </a:solidFill>
              <a:cs typeface="Arial" panose="020B0604020202020204"/>
            </a:endParaRPr>
          </a:p>
          <a:p>
            <a:pPr marL="285750" indent="-285750" algn="just">
              <a:buFont typeface="Arial"/>
              <a:buChar char="•"/>
            </a:pPr>
            <a:r>
              <a:rPr lang="es-CO" sz="1200" b="1" dirty="0">
                <a:solidFill>
                  <a:srgbClr val="FFFFFF"/>
                </a:solidFill>
              </a:rPr>
              <a:t>Prefijo 1:</a:t>
            </a:r>
            <a:r>
              <a:rPr lang="es-CO" sz="1200" dirty="0">
                <a:solidFill>
                  <a:srgbClr val="FFFFFF"/>
                </a:solidFill>
              </a:rPr>
              <a:t> Se usa para activar el uso del prefijo 1 para el tipo de documento.</a:t>
            </a:r>
            <a:endParaRPr lang="en-US" sz="1200" dirty="0">
              <a:solidFill>
                <a:srgbClr val="FFFFFF"/>
              </a:solidFill>
              <a:cs typeface="Arial" panose="020B0604020202020204"/>
            </a:endParaRPr>
          </a:p>
          <a:p>
            <a:pPr marL="285750" indent="-285750" algn="just">
              <a:buFont typeface="Arial"/>
              <a:buChar char="•"/>
            </a:pPr>
            <a:r>
              <a:rPr lang="es-CO" sz="1200" b="1" dirty="0">
                <a:solidFill>
                  <a:srgbClr val="FFFFFF"/>
                </a:solidFill>
              </a:rPr>
              <a:t>Prefijo 2:</a:t>
            </a:r>
            <a:r>
              <a:rPr lang="es-CO" sz="1200" dirty="0">
                <a:solidFill>
                  <a:srgbClr val="FFFFFF"/>
                </a:solidFill>
              </a:rPr>
              <a:t> Se usa para activar el uso del prefijo 2 para el tipo de documento.</a:t>
            </a:r>
            <a:endParaRPr lang="en-US" sz="1200" dirty="0">
              <a:solidFill>
                <a:srgbClr val="FFFFFF"/>
              </a:solidFill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605440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52622-D9B1-5618-B5FF-B85D50DFE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D400AE8E-E4B2-963C-2BAC-7BAB2CB97BA3}"/>
              </a:ext>
            </a:extLst>
          </p:cNvPr>
          <p:cNvSpPr txBox="1">
            <a:spLocks/>
          </p:cNvSpPr>
          <p:nvPr/>
        </p:nvSpPr>
        <p:spPr>
          <a:xfrm>
            <a:off x="680399" y="526762"/>
            <a:ext cx="9227883" cy="9418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CL" sz="3200" dirty="0"/>
              <a:t>TVVSDOC - Validación de código de documento de ventas</a:t>
            </a:r>
            <a:endParaRPr lang="es-C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DA7D590-D1AF-E0DB-1875-1F12E95D1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" y="1856200"/>
            <a:ext cx="10372344" cy="2100454"/>
          </a:xfrm>
          <a:prstGeom prst="rect">
            <a:avLst/>
          </a:prstGeom>
        </p:spPr>
      </p:pic>
      <p:sp>
        <p:nvSpPr>
          <p:cNvPr id="5" name="Rectángulo: esquinas redondeadas 7">
            <a:extLst>
              <a:ext uri="{FF2B5EF4-FFF2-40B4-BE49-F238E27FC236}">
                <a16:creationId xmlns:a16="http://schemas.microsoft.com/office/drawing/2014/main" id="{C5C9A305-0AD7-67D4-672A-D0972490BAC1}"/>
              </a:ext>
            </a:extLst>
          </p:cNvPr>
          <p:cNvSpPr/>
          <p:nvPr/>
        </p:nvSpPr>
        <p:spPr>
          <a:xfrm>
            <a:off x="909829" y="4344260"/>
            <a:ext cx="10372344" cy="136159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 algn="just">
              <a:buFont typeface="Arial"/>
              <a:buChar char="•"/>
            </a:pPr>
            <a:r>
              <a:rPr lang="es-CO" sz="1200" b="1" dirty="0">
                <a:solidFill>
                  <a:srgbClr val="FFFFFF"/>
                </a:solidFill>
              </a:rPr>
              <a:t>Número de Líneas:</a:t>
            </a:r>
            <a:r>
              <a:rPr lang="es-CO" sz="1200" dirty="0">
                <a:solidFill>
                  <a:srgbClr val="FFFFFF"/>
                </a:solidFill>
              </a:rPr>
              <a:t> Número de líneas disponibles para el tipo de documento. Valores de 1 a 99.</a:t>
            </a:r>
            <a:endParaRPr lang="en-US" sz="1200" dirty="0">
              <a:solidFill>
                <a:srgbClr val="FFFFFF"/>
              </a:solidFill>
              <a:cs typeface="Arial" panose="020B0604020202020204"/>
            </a:endParaRPr>
          </a:p>
          <a:p>
            <a:pPr marL="285750" indent="-285750" algn="just">
              <a:buFont typeface="Arial"/>
              <a:buChar char="•"/>
            </a:pPr>
            <a:r>
              <a:rPr lang="es-CO" sz="1200" b="1" dirty="0">
                <a:solidFill>
                  <a:srgbClr val="FFFFFF"/>
                </a:solidFill>
              </a:rPr>
              <a:t>Generación Masiva:</a:t>
            </a:r>
            <a:r>
              <a:rPr lang="es-CO" sz="1200" dirty="0">
                <a:solidFill>
                  <a:srgbClr val="FFFFFF"/>
                </a:solidFill>
              </a:rPr>
              <a:t> Si esta seleccionado el campo, el sistema puede generar masivamente el tipo de documento. No está definido para notas de créditos y transacciones misceláneas.</a:t>
            </a:r>
            <a:endParaRPr lang="en-US" sz="1200" dirty="0">
              <a:solidFill>
                <a:srgbClr val="FFFFFF"/>
              </a:solidFill>
              <a:cs typeface="Arial" panose="020B0604020202020204"/>
            </a:endParaRPr>
          </a:p>
          <a:p>
            <a:pPr marL="285750" indent="-285750" algn="just">
              <a:buFont typeface="Arial"/>
              <a:buChar char="•"/>
            </a:pPr>
            <a:r>
              <a:rPr lang="es-CO" sz="1200" b="1" dirty="0">
                <a:solidFill>
                  <a:srgbClr val="FFFFFF"/>
                </a:solidFill>
              </a:rPr>
              <a:t>Institucional:</a:t>
            </a:r>
            <a:r>
              <a:rPr lang="es-CO" sz="1200" dirty="0">
                <a:solidFill>
                  <a:srgbClr val="FFFFFF"/>
                </a:solidFill>
              </a:rPr>
              <a:t> Se utiliza para definir el documento como institucional en la forma TVAMDIM.</a:t>
            </a:r>
            <a:endParaRPr lang="en-US" sz="1200" dirty="0">
              <a:solidFill>
                <a:srgbClr val="FFFFFF"/>
              </a:solidFill>
              <a:cs typeface="Arial" panose="020B0604020202020204"/>
            </a:endParaRPr>
          </a:p>
          <a:p>
            <a:pPr marL="285750" indent="-285750" algn="just">
              <a:buFont typeface="Arial"/>
              <a:buChar char="•"/>
            </a:pPr>
            <a:r>
              <a:rPr lang="es-CO" sz="1200" b="1" dirty="0">
                <a:solidFill>
                  <a:srgbClr val="FFFFFF"/>
                </a:solidFill>
              </a:rPr>
              <a:t>Permitir Nota de Crédito:</a:t>
            </a:r>
            <a:r>
              <a:rPr lang="es-CO" sz="1200" dirty="0">
                <a:solidFill>
                  <a:srgbClr val="FFFFFF"/>
                </a:solidFill>
              </a:rPr>
              <a:t> Cuando esta seleccionado el sistema permite notas de crédito.</a:t>
            </a:r>
            <a:endParaRPr lang="en-US" sz="1200" dirty="0">
              <a:solidFill>
                <a:srgbClr val="FFFFFF"/>
              </a:solidFill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157807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DE9B6-A38D-5160-ECF6-DBA2DF88B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47AB7039-F707-FDF0-99F9-ED66C0216CCC}"/>
              </a:ext>
            </a:extLst>
          </p:cNvPr>
          <p:cNvSpPr txBox="1">
            <a:spLocks/>
          </p:cNvSpPr>
          <p:nvPr/>
        </p:nvSpPr>
        <p:spPr>
          <a:xfrm>
            <a:off x="680399" y="526762"/>
            <a:ext cx="9227883" cy="9418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CL" sz="3200" dirty="0"/>
              <a:t>TVVSDOC - Validación de código de documento de ventas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30D9F3-C60B-43E0-BAE1-BCFB2FF73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003" y="1965960"/>
            <a:ext cx="10457993" cy="2149425"/>
          </a:xfrm>
          <a:prstGeom prst="rect">
            <a:avLst/>
          </a:prstGeom>
        </p:spPr>
      </p:pic>
      <p:sp>
        <p:nvSpPr>
          <p:cNvPr id="6" name="Rectángulo: esquinas redondeadas 7">
            <a:extLst>
              <a:ext uri="{FF2B5EF4-FFF2-40B4-BE49-F238E27FC236}">
                <a16:creationId xmlns:a16="http://schemas.microsoft.com/office/drawing/2014/main" id="{4EA7B28B-4618-7CD0-FE14-72EEF8A9E392}"/>
              </a:ext>
            </a:extLst>
          </p:cNvPr>
          <p:cNvSpPr/>
          <p:nvPr/>
        </p:nvSpPr>
        <p:spPr>
          <a:xfrm>
            <a:off x="867003" y="4334256"/>
            <a:ext cx="10457993" cy="112781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s-CO" sz="1200" b="1" dirty="0">
                <a:solidFill>
                  <a:srgbClr val="FFFFFF"/>
                </a:solidFill>
              </a:rPr>
              <a:t>Nota de Crédito:</a:t>
            </a:r>
            <a:r>
              <a:rPr lang="es-CO" sz="1200" dirty="0">
                <a:solidFill>
                  <a:srgbClr val="FFFFFF"/>
                </a:solidFill>
              </a:rPr>
              <a:t> Se selecciona cuando el documento es una Nota de Crédito.</a:t>
            </a:r>
            <a:endParaRPr lang="en-US" sz="1200" dirty="0">
              <a:solidFill>
                <a:srgbClr val="FFFFFF"/>
              </a:solidFill>
              <a:cs typeface="Arial" panose="020B0604020202020204"/>
            </a:endParaRPr>
          </a:p>
          <a:p>
            <a:pPr marL="285750" indent="-285750">
              <a:buFont typeface="Arial"/>
              <a:buChar char="•"/>
            </a:pPr>
            <a:r>
              <a:rPr lang="es-CO" sz="1200" b="1" dirty="0">
                <a:solidFill>
                  <a:srgbClr val="FFFFFF"/>
                </a:solidFill>
              </a:rPr>
              <a:t>Misceláneo:</a:t>
            </a:r>
            <a:r>
              <a:rPr lang="es-CO" sz="1200" dirty="0">
                <a:solidFill>
                  <a:srgbClr val="FFFFFF"/>
                </a:solidFill>
              </a:rPr>
              <a:t> Cuando esta seleccionado el sistema permite el manejo de transacciones misceláneas.</a:t>
            </a:r>
          </a:p>
          <a:p>
            <a:pPr marL="285750" indent="-285750">
              <a:buFont typeface="Arial"/>
              <a:buChar char="•"/>
            </a:pPr>
            <a:r>
              <a:rPr lang="es-CO" sz="1200" b="1" dirty="0">
                <a:solidFill>
                  <a:srgbClr val="FFFFFF"/>
                </a:solidFill>
              </a:rPr>
              <a:t>Permitir ID Genérico:</a:t>
            </a:r>
            <a:r>
              <a:rPr lang="es-CO" sz="1200" dirty="0">
                <a:solidFill>
                  <a:srgbClr val="FFFFFF"/>
                </a:solidFill>
              </a:rPr>
              <a:t> Cuando esta seleccionado, el sistema permite la emisión de documentos a un ID Genérico.</a:t>
            </a:r>
            <a:endParaRPr lang="en-US"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352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140A3-E057-0624-9C91-74DE62A30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A938C7BC-10AC-076B-EBF4-CD520BD39D05}"/>
              </a:ext>
            </a:extLst>
          </p:cNvPr>
          <p:cNvSpPr txBox="1">
            <a:spLocks/>
          </p:cNvSpPr>
          <p:nvPr/>
        </p:nvSpPr>
        <p:spPr>
          <a:xfrm>
            <a:off x="680399" y="526762"/>
            <a:ext cx="9227883" cy="9418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CL" sz="3200" dirty="0"/>
              <a:t>TVVSDOC - Validación de código de documento de ventas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C68378C-B0A7-18BC-9754-F21568CAB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773498"/>
            <a:ext cx="10600944" cy="2131260"/>
          </a:xfrm>
          <a:prstGeom prst="rect">
            <a:avLst/>
          </a:prstGeom>
        </p:spPr>
      </p:pic>
      <p:sp>
        <p:nvSpPr>
          <p:cNvPr id="6" name="Rectángulo: esquinas redondeadas 7">
            <a:extLst>
              <a:ext uri="{FF2B5EF4-FFF2-40B4-BE49-F238E27FC236}">
                <a16:creationId xmlns:a16="http://schemas.microsoft.com/office/drawing/2014/main" id="{9DBB07E7-D87A-CC00-EAED-78EFC4925C7A}"/>
              </a:ext>
            </a:extLst>
          </p:cNvPr>
          <p:cNvSpPr/>
          <p:nvPr/>
        </p:nvSpPr>
        <p:spPr>
          <a:xfrm>
            <a:off x="795529" y="4392117"/>
            <a:ext cx="10600944" cy="95108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 algn="just">
              <a:buFont typeface="Arial"/>
              <a:buChar char="•"/>
            </a:pPr>
            <a:r>
              <a:rPr lang="es-CO" sz="1200" b="1" dirty="0">
                <a:solidFill>
                  <a:srgbClr val="FFFFFF"/>
                </a:solidFill>
              </a:rPr>
              <a:t>Emitir a: </a:t>
            </a:r>
            <a:r>
              <a:rPr lang="es-CO" sz="1200" dirty="0">
                <a:solidFill>
                  <a:srgbClr val="FFFFFF"/>
                </a:solidFill>
              </a:rPr>
              <a:t>Cuando este indicador esta seleccionado, el sistema permite que el documento de ventas sea emitido a nombre del tutor definido en SOAFOLK. Pero mantiene el ID legal del estudiante.</a:t>
            </a:r>
            <a:endParaRPr lang="en-US" sz="1200" dirty="0">
              <a:solidFill>
                <a:srgbClr val="FFFFFF"/>
              </a:solidFill>
            </a:endParaRPr>
          </a:p>
          <a:p>
            <a:pPr marL="285750" indent="-285750" algn="just">
              <a:buFont typeface="Arial"/>
              <a:buChar char="•"/>
            </a:pPr>
            <a:r>
              <a:rPr lang="es-CO" sz="1200" b="1" dirty="0">
                <a:solidFill>
                  <a:srgbClr val="FFFFFF"/>
                </a:solidFill>
              </a:rPr>
              <a:t>Tipo de dirección de emisión:</a:t>
            </a:r>
            <a:r>
              <a:rPr lang="es-CO" sz="1200" dirty="0">
                <a:solidFill>
                  <a:srgbClr val="FFFFFF"/>
                </a:solidFill>
              </a:rPr>
              <a:t> Con este tipo de dirección, el sistema obtiene la información de dirección para ser incluida en el documento de Ventas.</a:t>
            </a:r>
            <a:endParaRPr lang="en-US"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76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7059E-9AEC-656C-1698-35FD3972B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3B5FC6C-68F0-C615-FDB3-1CE5695571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901" y="2815734"/>
            <a:ext cx="10982827" cy="669094"/>
          </a:xfrm>
        </p:spPr>
        <p:txBody>
          <a:bodyPr/>
          <a:lstStyle/>
          <a:p>
            <a:r>
              <a:rPr lang="es-ES" dirty="0"/>
              <a:t>Configuración Perfiles de Negocios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C4F1A0-57C9-4D77-F3F4-6816C5A3B4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901" y="3778719"/>
            <a:ext cx="8313737" cy="324961"/>
          </a:xfrm>
        </p:spPr>
        <p:txBody>
          <a:bodyPr/>
          <a:lstStyle/>
          <a:p>
            <a:r>
              <a:rPr lang="es-CO" sz="2000" dirty="0"/>
              <a:t>Gestionar los documentos de venta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24798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6B1B0-F989-56E7-9DB2-F22B9E6AC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B02F0742-3D5D-D7EA-744F-AE0935CF875B}"/>
              </a:ext>
            </a:extLst>
          </p:cNvPr>
          <p:cNvSpPr txBox="1">
            <a:spLocks/>
          </p:cNvSpPr>
          <p:nvPr/>
        </p:nvSpPr>
        <p:spPr>
          <a:xfrm>
            <a:off x="785444" y="596126"/>
            <a:ext cx="10621111" cy="6162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CO" sz="3200" dirty="0"/>
              <a:t>GTVFBPR - Validación de Perfil de negocio</a:t>
            </a:r>
            <a:endParaRPr lang="es-CL" dirty="0"/>
          </a:p>
        </p:txBody>
      </p:sp>
      <p:sp>
        <p:nvSpPr>
          <p:cNvPr id="7" name="Rectángulo: esquinas redondeadas 7">
            <a:extLst>
              <a:ext uri="{FF2B5EF4-FFF2-40B4-BE49-F238E27FC236}">
                <a16:creationId xmlns:a16="http://schemas.microsoft.com/office/drawing/2014/main" id="{E4C90EAC-ABFD-E9B3-C028-88FD0C4CFC44}"/>
              </a:ext>
            </a:extLst>
          </p:cNvPr>
          <p:cNvSpPr/>
          <p:nvPr/>
        </p:nvSpPr>
        <p:spPr>
          <a:xfrm>
            <a:off x="890489" y="4339810"/>
            <a:ext cx="10411021" cy="99770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CO" sz="1200" dirty="0">
                <a:solidFill>
                  <a:srgbClr val="FFFFFF"/>
                </a:solidFill>
              </a:rPr>
              <a:t>Los perfiles de negocios son categorías para ser asociadas a los distintos usuarios que contarán con la opción de emitir un conjunto de documentos de venta según corresponda a las reglas de negocios establecidas por la institución.</a:t>
            </a:r>
          </a:p>
          <a:p>
            <a:endParaRPr lang="es-CO" sz="1200" dirty="0">
              <a:solidFill>
                <a:srgbClr val="FFFFFF"/>
              </a:solidFill>
            </a:endParaRPr>
          </a:p>
          <a:p>
            <a:r>
              <a:rPr lang="es-CO" sz="1200" dirty="0">
                <a:solidFill>
                  <a:srgbClr val="FFFFFF"/>
                </a:solidFill>
              </a:rPr>
              <a:t>En general, este perfil será asociado a los cajeros, supervisores y otros funcionarios administrativos.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9C024E0-E321-0ABE-16EB-FCB07BE49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489" y="1859673"/>
            <a:ext cx="10411021" cy="200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637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7C44D-6508-908F-4AB6-143C3FEFB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F4EEE0E8-28D0-5B08-4381-59E712FAB0EC}"/>
              </a:ext>
            </a:extLst>
          </p:cNvPr>
          <p:cNvSpPr txBox="1">
            <a:spLocks/>
          </p:cNvSpPr>
          <p:nvPr/>
        </p:nvSpPr>
        <p:spPr>
          <a:xfrm>
            <a:off x="972785" y="466721"/>
            <a:ext cx="10000016" cy="99770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CO" sz="3200" dirty="0"/>
              <a:t>GOAFBPR - Asignaciones de perfil de negocio</a:t>
            </a:r>
            <a:endParaRPr lang="es-CL" dirty="0"/>
          </a:p>
        </p:txBody>
      </p:sp>
      <p:sp>
        <p:nvSpPr>
          <p:cNvPr id="7" name="Rectángulo: esquinas redondeadas 7">
            <a:extLst>
              <a:ext uri="{FF2B5EF4-FFF2-40B4-BE49-F238E27FC236}">
                <a16:creationId xmlns:a16="http://schemas.microsoft.com/office/drawing/2014/main" id="{2EABA62B-43BE-479D-C6C8-B154D90D0E49}"/>
              </a:ext>
            </a:extLst>
          </p:cNvPr>
          <p:cNvSpPr/>
          <p:nvPr/>
        </p:nvSpPr>
        <p:spPr>
          <a:xfrm>
            <a:off x="972785" y="5212080"/>
            <a:ext cx="10181559" cy="72061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CO" sz="1200" dirty="0">
                <a:solidFill>
                  <a:srgbClr val="FFFFFF"/>
                </a:solidFill>
              </a:rPr>
              <a:t>En esta página administrativa se asocia el </a:t>
            </a:r>
            <a:r>
              <a:rPr lang="es-CO" sz="1200" b="1" dirty="0">
                <a:solidFill>
                  <a:srgbClr val="FFFFFF"/>
                </a:solidFill>
              </a:rPr>
              <a:t>Perfil de Negocio </a:t>
            </a:r>
            <a:r>
              <a:rPr lang="es-CO" sz="1200" dirty="0">
                <a:solidFill>
                  <a:srgbClr val="FFFFFF"/>
                </a:solidFill>
              </a:rPr>
              <a:t>creado anteriormente con los usuarios a quienes le corresponda dicho perfil, en consideración a sus funciones a realizar.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3D23587-2C08-3453-BC3D-59AE3AA9B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52" y="1645920"/>
            <a:ext cx="10116692" cy="322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509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BE269-66B7-199D-7852-5A00291FD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BBDB009-C4DA-B9A9-2B94-1E0A2D0078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4587" y="2762054"/>
            <a:ext cx="9161206" cy="1333891"/>
          </a:xfrm>
        </p:spPr>
        <p:txBody>
          <a:bodyPr/>
          <a:lstStyle/>
          <a:p>
            <a:r>
              <a:rPr lang="es-CO" dirty="0"/>
              <a:t>Configuración Folios por Tipo de Documentos y Perfiles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18FFC3-B429-3FF0-8462-E1FB640B9C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901" y="4199343"/>
            <a:ext cx="8313737" cy="324961"/>
          </a:xfrm>
        </p:spPr>
        <p:txBody>
          <a:bodyPr/>
          <a:lstStyle/>
          <a:p>
            <a:r>
              <a:rPr lang="es-CO" sz="2000" dirty="0"/>
              <a:t>Gestionar los documentos de venta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84418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17729-87F5-C5FB-8D69-54587833F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2E87359B-DC2E-F627-5EE2-961C4B4E74D1}"/>
              </a:ext>
            </a:extLst>
          </p:cNvPr>
          <p:cNvSpPr txBox="1">
            <a:spLocks/>
          </p:cNvSpPr>
          <p:nvPr/>
        </p:nvSpPr>
        <p:spPr>
          <a:xfrm>
            <a:off x="972785" y="466721"/>
            <a:ext cx="10000016" cy="99770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CO" sz="3200" dirty="0"/>
              <a:t>TVASDSQ - Configuración de folios de documentos de venta</a:t>
            </a:r>
            <a:endParaRPr lang="es-CL" dirty="0"/>
          </a:p>
        </p:txBody>
      </p:sp>
      <p:sp>
        <p:nvSpPr>
          <p:cNvPr id="7" name="Rectángulo: esquinas redondeadas 7">
            <a:extLst>
              <a:ext uri="{FF2B5EF4-FFF2-40B4-BE49-F238E27FC236}">
                <a16:creationId xmlns:a16="http://schemas.microsoft.com/office/drawing/2014/main" id="{5FFA6EE2-1DAD-8812-0DE2-E2E1DACDBA8D}"/>
              </a:ext>
            </a:extLst>
          </p:cNvPr>
          <p:cNvSpPr/>
          <p:nvPr/>
        </p:nvSpPr>
        <p:spPr>
          <a:xfrm>
            <a:off x="1082608" y="4398264"/>
            <a:ext cx="10026781" cy="72061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s-ES_tradnl" sz="1200" dirty="0"/>
              <a:t>Para cada tipo de documento, se asigna uno o varios perfiles de negocio y a cada combinación se le asigna un número de secuencia.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0284CDD-1433-2A8C-3E13-BDCF998EB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09" y="1975805"/>
            <a:ext cx="10026781" cy="210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302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CDC98-4043-36AC-008A-EAAF8F5D4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6D9B40AE-3BD1-D8DD-296E-B65A009B3C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8341" y="1869532"/>
            <a:ext cx="8313737" cy="1998689"/>
          </a:xfrm>
        </p:spPr>
        <p:txBody>
          <a:bodyPr/>
          <a:lstStyle/>
          <a:p>
            <a:r>
              <a:rPr lang="es-CO" dirty="0"/>
              <a:t>Configuración Categoría y Códigos de Detalle por Tipo de Documento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A8B5CE23-C469-AD18-3D1E-AC1EEB300678}"/>
              </a:ext>
            </a:extLst>
          </p:cNvPr>
          <p:cNvSpPr txBox="1">
            <a:spLocks/>
          </p:cNvSpPr>
          <p:nvPr/>
        </p:nvSpPr>
        <p:spPr>
          <a:xfrm>
            <a:off x="566045" y="3868221"/>
            <a:ext cx="5368411" cy="3896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000" dirty="0">
                <a:solidFill>
                  <a:schemeClr val="bg1"/>
                </a:solidFill>
              </a:rPr>
              <a:t>Gestionar los documentos de venta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191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0F0B7-3241-83D0-274B-2AF2EF36F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C61B3410-F6BB-BDCF-472E-112B4F692CD9}"/>
              </a:ext>
            </a:extLst>
          </p:cNvPr>
          <p:cNvSpPr txBox="1">
            <a:spLocks/>
          </p:cNvSpPr>
          <p:nvPr/>
        </p:nvSpPr>
        <p:spPr>
          <a:xfrm>
            <a:off x="972784" y="466721"/>
            <a:ext cx="10210327" cy="99770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>
                <a:solidFill>
                  <a:schemeClr val="accent1"/>
                </a:solidFill>
              </a:rPr>
              <a:t>Configuraciones: </a:t>
            </a:r>
            <a:r>
              <a:rPr lang="es-CO" sz="3200" dirty="0"/>
              <a:t>TVASDDT - Configuración de los códigos de categoría y de detalle para documento de ventas</a:t>
            </a:r>
            <a:endParaRPr lang="es-CL" dirty="0"/>
          </a:p>
        </p:txBody>
      </p:sp>
      <p:sp>
        <p:nvSpPr>
          <p:cNvPr id="7" name="Rectángulo: esquinas redondeadas 7">
            <a:extLst>
              <a:ext uri="{FF2B5EF4-FFF2-40B4-BE49-F238E27FC236}">
                <a16:creationId xmlns:a16="http://schemas.microsoft.com/office/drawing/2014/main" id="{E5667F67-C9D7-9E0A-8957-29D78EA3C05C}"/>
              </a:ext>
            </a:extLst>
          </p:cNvPr>
          <p:cNvSpPr/>
          <p:nvPr/>
        </p:nvSpPr>
        <p:spPr>
          <a:xfrm>
            <a:off x="898486" y="5100402"/>
            <a:ext cx="10395027" cy="72061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s-ES_tradnl" sz="1200" dirty="0"/>
              <a:t>Por cada documento se pueden designar las categorías de los Códigos permitidos en cada uno, así como designar el Código de Detalle asignado a cada tipo de documento.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3585C31-8F4B-CF00-D90B-FA3FE8C1B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486" y="1783080"/>
            <a:ext cx="10395027" cy="299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6793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42AD6-8ABE-9B37-66A9-53798DFC0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F1D0206-EF92-12AB-52AB-3B55E80C9F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8341" y="2322833"/>
            <a:ext cx="8313737" cy="1333891"/>
          </a:xfrm>
        </p:spPr>
        <p:txBody>
          <a:bodyPr/>
          <a:lstStyle/>
          <a:p>
            <a:r>
              <a:rPr lang="en-US" dirty="0"/>
              <a:t>Generar Documentos de Cobro</a:t>
            </a:r>
            <a:endParaRPr lang="es-CO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0690DCA5-0C6A-A181-A8D2-4237A056615A}"/>
              </a:ext>
            </a:extLst>
          </p:cNvPr>
          <p:cNvSpPr txBox="1">
            <a:spLocks/>
          </p:cNvSpPr>
          <p:nvPr/>
        </p:nvSpPr>
        <p:spPr>
          <a:xfrm>
            <a:off x="566045" y="3868221"/>
            <a:ext cx="5368411" cy="3896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000" dirty="0">
                <a:solidFill>
                  <a:schemeClr val="bg1"/>
                </a:solidFill>
              </a:rPr>
              <a:t>Gestionar los documentos de venta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149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BD3C8-0564-544F-2BDD-03079BF80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46C8AE9-B5C6-3F62-9987-FEB895FD6D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901" y="3219254"/>
            <a:ext cx="9161206" cy="669094"/>
          </a:xfrm>
        </p:spPr>
        <p:txBody>
          <a:bodyPr/>
          <a:lstStyle/>
          <a:p>
            <a:r>
              <a:rPr lang="es-ES" dirty="0"/>
              <a:t>Emisión de Documento de Venta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535505-C842-E1ED-938B-8100234C45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901" y="4199343"/>
            <a:ext cx="8313737" cy="324961"/>
          </a:xfrm>
        </p:spPr>
        <p:txBody>
          <a:bodyPr/>
          <a:lstStyle/>
          <a:p>
            <a:r>
              <a:rPr lang="es-CO" sz="2000" dirty="0"/>
              <a:t>Gestionar los documentos de venta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757684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1F535-9964-D5E4-396D-8A4CD65E8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314C022F-6B0F-0284-8104-0E8408DD8573}"/>
              </a:ext>
            </a:extLst>
          </p:cNvPr>
          <p:cNvSpPr txBox="1">
            <a:spLocks/>
          </p:cNvSpPr>
          <p:nvPr/>
        </p:nvSpPr>
        <p:spPr>
          <a:xfrm>
            <a:off x="972784" y="466721"/>
            <a:ext cx="10210327" cy="99770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>
                <a:solidFill>
                  <a:schemeClr val="accent1"/>
                </a:solidFill>
              </a:rPr>
              <a:t>Operación: </a:t>
            </a:r>
            <a:r>
              <a:rPr lang="es-CO" sz="3200" dirty="0"/>
              <a:t>TVASDOC -  Impresión detallada de cuenta del alumno</a:t>
            </a:r>
            <a:endParaRPr lang="es-CL" dirty="0"/>
          </a:p>
        </p:txBody>
      </p:sp>
      <p:sp>
        <p:nvSpPr>
          <p:cNvPr id="7" name="Rectángulo: esquinas redondeadas 7">
            <a:extLst>
              <a:ext uri="{FF2B5EF4-FFF2-40B4-BE49-F238E27FC236}">
                <a16:creationId xmlns:a16="http://schemas.microsoft.com/office/drawing/2014/main" id="{EA7CD0A6-8606-6BAA-0E28-C587BA743D14}"/>
              </a:ext>
            </a:extLst>
          </p:cNvPr>
          <p:cNvSpPr/>
          <p:nvPr/>
        </p:nvSpPr>
        <p:spPr>
          <a:xfrm>
            <a:off x="1025416" y="4424743"/>
            <a:ext cx="10157695" cy="72061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s-ES_tradnl" sz="1200" dirty="0"/>
              <a:t>Ingresar el ID del alumno, elegir tipo de documento, y la divisa. Automáticamente se despliega el folio de la serie.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BE36A95-68AC-69AB-EBA2-69BE9ABCF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416" y="2105227"/>
            <a:ext cx="10141167" cy="192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204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C02DD-C864-5CB5-AA92-BD807913E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7">
            <a:extLst>
              <a:ext uri="{FF2B5EF4-FFF2-40B4-BE49-F238E27FC236}">
                <a16:creationId xmlns:a16="http://schemas.microsoft.com/office/drawing/2014/main" id="{EAEBB060-1517-62AA-734D-75565D91EC99}"/>
              </a:ext>
            </a:extLst>
          </p:cNvPr>
          <p:cNvSpPr/>
          <p:nvPr/>
        </p:nvSpPr>
        <p:spPr>
          <a:xfrm>
            <a:off x="972784" y="5144131"/>
            <a:ext cx="4451840" cy="5180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s-ES_tradnl" sz="1200" dirty="0"/>
              <a:t>Marcar las transacciones a incluir en el documento de venta.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3196938-8D2E-3CF4-0B14-2DD4B4D28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84" y="1553081"/>
            <a:ext cx="10361031" cy="3502397"/>
          </a:xfrm>
          <a:prstGeom prst="rect">
            <a:avLst/>
          </a:prstGeom>
        </p:spPr>
      </p:pic>
      <p:sp>
        <p:nvSpPr>
          <p:cNvPr id="3" name="Título 3">
            <a:extLst>
              <a:ext uri="{FF2B5EF4-FFF2-40B4-BE49-F238E27FC236}">
                <a16:creationId xmlns:a16="http://schemas.microsoft.com/office/drawing/2014/main" id="{1A597312-8690-BFCF-C12C-D9F2FE0A3CC1}"/>
              </a:ext>
            </a:extLst>
          </p:cNvPr>
          <p:cNvSpPr txBox="1">
            <a:spLocks/>
          </p:cNvSpPr>
          <p:nvPr/>
        </p:nvSpPr>
        <p:spPr>
          <a:xfrm>
            <a:off x="972784" y="466721"/>
            <a:ext cx="10210327" cy="99770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>
                <a:solidFill>
                  <a:schemeClr val="accent1"/>
                </a:solidFill>
              </a:rPr>
              <a:t>Operación: </a:t>
            </a:r>
            <a:r>
              <a:rPr lang="es-CO" sz="3200" dirty="0"/>
              <a:t>TVASDOC -  Impresión detallada de cuenta del alumno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8025673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3399B-2875-18C8-7308-47452A406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7">
            <a:extLst>
              <a:ext uri="{FF2B5EF4-FFF2-40B4-BE49-F238E27FC236}">
                <a16:creationId xmlns:a16="http://schemas.microsoft.com/office/drawing/2014/main" id="{9D386C79-491D-97E3-6081-47E0D0DEAB73}"/>
              </a:ext>
            </a:extLst>
          </p:cNvPr>
          <p:cNvSpPr/>
          <p:nvPr/>
        </p:nvSpPr>
        <p:spPr>
          <a:xfrm>
            <a:off x="1066188" y="5144131"/>
            <a:ext cx="9873590" cy="5180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_tradnl" sz="1200" dirty="0"/>
              <a:t>Seleccionadas las transacciones deseadas para la emisión del documento de ventas, se debe oprimir botón “</a:t>
            </a:r>
            <a:r>
              <a:rPr lang="es-ES_tradnl" sz="1200" b="1" dirty="0"/>
              <a:t>Crear Documento de Ventas</a:t>
            </a:r>
            <a:r>
              <a:rPr lang="es-ES_tradnl" sz="1200" dirty="0"/>
              <a:t>”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4145C2C-EED2-9763-665C-5D5ADD65B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89" y="1464428"/>
            <a:ext cx="9873589" cy="3332336"/>
          </a:xfrm>
          <a:prstGeom prst="rect">
            <a:avLst/>
          </a:prstGeom>
        </p:spPr>
      </p:pic>
      <p:sp>
        <p:nvSpPr>
          <p:cNvPr id="6" name="Título 3">
            <a:extLst>
              <a:ext uri="{FF2B5EF4-FFF2-40B4-BE49-F238E27FC236}">
                <a16:creationId xmlns:a16="http://schemas.microsoft.com/office/drawing/2014/main" id="{2414FBC0-FE63-1458-220C-5F6950D00991}"/>
              </a:ext>
            </a:extLst>
          </p:cNvPr>
          <p:cNvSpPr txBox="1">
            <a:spLocks/>
          </p:cNvSpPr>
          <p:nvPr/>
        </p:nvSpPr>
        <p:spPr>
          <a:xfrm>
            <a:off x="972784" y="466721"/>
            <a:ext cx="10210327" cy="99770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>
                <a:solidFill>
                  <a:schemeClr val="accent1"/>
                </a:solidFill>
              </a:rPr>
              <a:t>Operación: </a:t>
            </a:r>
            <a:r>
              <a:rPr lang="es-CO" sz="3200" dirty="0"/>
              <a:t>TVASDOC -  Impresión detallada de cuenta del alumno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192378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1DB67-4D13-5BE2-1228-CF22E934B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7">
            <a:extLst>
              <a:ext uri="{FF2B5EF4-FFF2-40B4-BE49-F238E27FC236}">
                <a16:creationId xmlns:a16="http://schemas.microsoft.com/office/drawing/2014/main" id="{C0879A65-87B9-100E-95FB-EA806774E75C}"/>
              </a:ext>
            </a:extLst>
          </p:cNvPr>
          <p:cNvSpPr/>
          <p:nvPr/>
        </p:nvSpPr>
        <p:spPr>
          <a:xfrm>
            <a:off x="1070748" y="5393572"/>
            <a:ext cx="2952613" cy="5180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ES_tradnl" sz="1200" dirty="0"/>
              <a:t>Confirmar emisión del Documento OK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D532768-1929-4955-D450-A9CFCD26F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48" y="1464428"/>
            <a:ext cx="10055063" cy="3679703"/>
          </a:xfrm>
          <a:prstGeom prst="rect">
            <a:avLst/>
          </a:prstGeom>
        </p:spPr>
      </p:pic>
      <p:sp>
        <p:nvSpPr>
          <p:cNvPr id="3" name="Título 3">
            <a:extLst>
              <a:ext uri="{FF2B5EF4-FFF2-40B4-BE49-F238E27FC236}">
                <a16:creationId xmlns:a16="http://schemas.microsoft.com/office/drawing/2014/main" id="{175F9843-2C08-75BE-70E1-E3807206D2C1}"/>
              </a:ext>
            </a:extLst>
          </p:cNvPr>
          <p:cNvSpPr txBox="1">
            <a:spLocks/>
          </p:cNvSpPr>
          <p:nvPr/>
        </p:nvSpPr>
        <p:spPr>
          <a:xfrm>
            <a:off x="972784" y="466721"/>
            <a:ext cx="10210327" cy="99770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>
                <a:solidFill>
                  <a:schemeClr val="accent1"/>
                </a:solidFill>
              </a:rPr>
              <a:t>Operación: </a:t>
            </a:r>
            <a:r>
              <a:rPr lang="es-CO" sz="3200" dirty="0"/>
              <a:t>TVASDOC -  Impresión detallada de cuenta del alumno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153883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828A-30F4-F430-A878-E4AC9C3FB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A2E252D-93C5-4FCB-412C-A3CCDF99B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62" y="1336412"/>
            <a:ext cx="8524875" cy="4629150"/>
          </a:xfrm>
          <a:prstGeom prst="rect">
            <a:avLst/>
          </a:prstGeom>
        </p:spPr>
      </p:pic>
      <p:sp>
        <p:nvSpPr>
          <p:cNvPr id="8" name="Título 3">
            <a:extLst>
              <a:ext uri="{FF2B5EF4-FFF2-40B4-BE49-F238E27FC236}">
                <a16:creationId xmlns:a16="http://schemas.microsoft.com/office/drawing/2014/main" id="{159C5876-10D7-4973-6E97-9DC2FC3FF179}"/>
              </a:ext>
            </a:extLst>
          </p:cNvPr>
          <p:cNvSpPr txBox="1">
            <a:spLocks/>
          </p:cNvSpPr>
          <p:nvPr/>
        </p:nvSpPr>
        <p:spPr>
          <a:xfrm>
            <a:off x="972784" y="466721"/>
            <a:ext cx="10210327" cy="99770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dirty="0">
                <a:solidFill>
                  <a:schemeClr val="accent1"/>
                </a:solidFill>
              </a:rPr>
              <a:t>Operación: </a:t>
            </a:r>
            <a:r>
              <a:rPr lang="es-CO" sz="3200" dirty="0"/>
              <a:t>TVASDOC -  Impresión detallada de cuenta del alumno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045781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7492A-7C5F-A42F-01DF-535869C8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9A09FC7-F04E-0883-AFF0-C8DEBE9E71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901" y="2865452"/>
            <a:ext cx="9161206" cy="1333891"/>
          </a:xfrm>
        </p:spPr>
        <p:txBody>
          <a:bodyPr/>
          <a:lstStyle/>
          <a:p>
            <a:r>
              <a:rPr lang="es-ES" dirty="0"/>
              <a:t>Consulta y Anulación de Documento de Venta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04B3F1-1357-8C50-9BAB-A53ED7CC95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901" y="4199343"/>
            <a:ext cx="8313737" cy="324961"/>
          </a:xfrm>
        </p:spPr>
        <p:txBody>
          <a:bodyPr/>
          <a:lstStyle/>
          <a:p>
            <a:r>
              <a:rPr lang="es-CO" sz="2000" dirty="0"/>
              <a:t>Gestionar los documentos de venta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537783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969BE-4259-FD04-B030-FE5FF6F5B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D05F675B-EAC5-7D10-E616-CE34370B1CE5}"/>
              </a:ext>
            </a:extLst>
          </p:cNvPr>
          <p:cNvSpPr txBox="1">
            <a:spLocks/>
          </p:cNvSpPr>
          <p:nvPr/>
        </p:nvSpPr>
        <p:spPr>
          <a:xfrm>
            <a:off x="892795" y="522763"/>
            <a:ext cx="10210327" cy="99770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dirty="0">
                <a:solidFill>
                  <a:schemeClr val="accent1"/>
                </a:solidFill>
              </a:rPr>
              <a:t>Operación: </a:t>
            </a:r>
            <a:r>
              <a:rPr lang="es-CO" sz="3200" dirty="0"/>
              <a:t>TVISDOC Revisión detallada de alumno-cuenta</a:t>
            </a:r>
            <a:endParaRPr lang="es-CL" dirty="0"/>
          </a:p>
        </p:txBody>
      </p:sp>
      <p:sp>
        <p:nvSpPr>
          <p:cNvPr id="7" name="Rectángulo: esquinas redondeadas 7">
            <a:extLst>
              <a:ext uri="{FF2B5EF4-FFF2-40B4-BE49-F238E27FC236}">
                <a16:creationId xmlns:a16="http://schemas.microsoft.com/office/drawing/2014/main" id="{1C66F941-99EC-FEE3-056F-AEEECB4E8097}"/>
              </a:ext>
            </a:extLst>
          </p:cNvPr>
          <p:cNvSpPr/>
          <p:nvPr/>
        </p:nvSpPr>
        <p:spPr>
          <a:xfrm>
            <a:off x="901939" y="5239512"/>
            <a:ext cx="10281173" cy="64922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s-CO" sz="1200"/>
              <a:t>Visualizando las transacciones de la cuenta corriente del estudiante, los campos "Tipo" y "Número" evidencian la relación de estas transacciones para con un documento de venta emitido.</a:t>
            </a:r>
            <a:endParaRPr lang="es-CO" sz="1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D15ECD8-B246-E3DD-D392-6E047416A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795" y="1773936"/>
            <a:ext cx="10406410" cy="311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5929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39EE8-5DA6-5D9C-C6FC-929891446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E42081EC-D4B3-09DE-5D5B-02E4C4E2E894}"/>
              </a:ext>
            </a:extLst>
          </p:cNvPr>
          <p:cNvSpPr txBox="1">
            <a:spLocks/>
          </p:cNvSpPr>
          <p:nvPr/>
        </p:nvSpPr>
        <p:spPr>
          <a:xfrm>
            <a:off x="901938" y="675529"/>
            <a:ext cx="10210327" cy="99770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dirty="0">
                <a:solidFill>
                  <a:schemeClr val="accent1"/>
                </a:solidFill>
              </a:rPr>
              <a:t>Operación: </a:t>
            </a:r>
            <a:r>
              <a:rPr lang="es-ES" sz="3200" dirty="0"/>
              <a:t> TVAMDIM – Movimientos de documentos impresos</a:t>
            </a:r>
            <a:endParaRPr lang="es-CL" dirty="0"/>
          </a:p>
        </p:txBody>
      </p:sp>
      <p:sp>
        <p:nvSpPr>
          <p:cNvPr id="7" name="Rectángulo: esquinas redondeadas 7">
            <a:extLst>
              <a:ext uri="{FF2B5EF4-FFF2-40B4-BE49-F238E27FC236}">
                <a16:creationId xmlns:a16="http://schemas.microsoft.com/office/drawing/2014/main" id="{2BB79895-812C-3070-CA23-B9FF60C5E1B3}"/>
              </a:ext>
            </a:extLst>
          </p:cNvPr>
          <p:cNvSpPr/>
          <p:nvPr/>
        </p:nvSpPr>
        <p:spPr>
          <a:xfrm>
            <a:off x="901938" y="4974336"/>
            <a:ext cx="10281173" cy="64922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s-ES_tradnl" sz="1200" dirty="0"/>
              <a:t>Para anular un documento emitido, se debe ingresar el tipo y número de documento original, seleccionar la opción "anular documento" y finalmente presionar el botón "Continuar"</a:t>
            </a:r>
            <a:endParaRPr lang="es-ES_tradnl" sz="1200" dirty="0">
              <a:cs typeface="Arial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1B85ABF-215D-0E31-55A5-04EA1D042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863" y="1883664"/>
            <a:ext cx="10160273" cy="288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5653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5B502-D4D5-66A6-6FA1-9F6388AED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2D7F08A1-4A82-D14E-D42F-365EEB701EEC}"/>
              </a:ext>
            </a:extLst>
          </p:cNvPr>
          <p:cNvSpPr txBox="1">
            <a:spLocks/>
          </p:cNvSpPr>
          <p:nvPr/>
        </p:nvSpPr>
        <p:spPr>
          <a:xfrm>
            <a:off x="892795" y="522763"/>
            <a:ext cx="10210327" cy="99770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dirty="0">
                <a:solidFill>
                  <a:schemeClr val="accent1"/>
                </a:solidFill>
              </a:rPr>
              <a:t>Operación: </a:t>
            </a:r>
            <a:r>
              <a:rPr lang="es-ES" sz="3200" dirty="0"/>
              <a:t> TVAMDIM – Movimientos de documentos impresos</a:t>
            </a:r>
            <a:endParaRPr lang="es-CL" dirty="0"/>
          </a:p>
        </p:txBody>
      </p:sp>
      <p:sp>
        <p:nvSpPr>
          <p:cNvPr id="7" name="Rectángulo: esquinas redondeadas 7">
            <a:extLst>
              <a:ext uri="{FF2B5EF4-FFF2-40B4-BE49-F238E27FC236}">
                <a16:creationId xmlns:a16="http://schemas.microsoft.com/office/drawing/2014/main" id="{C0B980DF-0E66-D05B-2CEB-A06B3BA2124B}"/>
              </a:ext>
            </a:extLst>
          </p:cNvPr>
          <p:cNvSpPr/>
          <p:nvPr/>
        </p:nvSpPr>
        <p:spPr>
          <a:xfrm>
            <a:off x="955413" y="5300954"/>
            <a:ext cx="10281173" cy="64922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s-ES_tradnl" sz="1200" dirty="0"/>
              <a:t>Posteriormente, se debe presionar el botón "</a:t>
            </a:r>
            <a:r>
              <a:rPr lang="es-ES_tradnl" sz="1200" b="1" dirty="0"/>
              <a:t>Completar</a:t>
            </a:r>
            <a:r>
              <a:rPr lang="es-ES_tradnl" sz="1200" dirty="0"/>
              <a:t>" para confirmar y realizar la anulación del documento.</a:t>
            </a:r>
            <a:endParaRPr lang="es-ES_tradnl" sz="1200" dirty="0">
              <a:cs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80EF19E-DF48-9A1A-7F16-7D00B2E65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30" y="1564105"/>
            <a:ext cx="10204056" cy="353605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62D1A221-205E-656E-43CB-D9EF00A153C8}"/>
              </a:ext>
            </a:extLst>
          </p:cNvPr>
          <p:cNvSpPr/>
          <p:nvPr/>
        </p:nvSpPr>
        <p:spPr>
          <a:xfrm>
            <a:off x="1627632" y="2395728"/>
            <a:ext cx="612648" cy="22860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02317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06FC9-7740-A132-29F1-C820003DE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A6B40DDF-792C-32FF-D81F-DD58F867E7D4}"/>
              </a:ext>
            </a:extLst>
          </p:cNvPr>
          <p:cNvSpPr txBox="1">
            <a:spLocks/>
          </p:cNvSpPr>
          <p:nvPr/>
        </p:nvSpPr>
        <p:spPr>
          <a:xfrm>
            <a:off x="892795" y="522763"/>
            <a:ext cx="10210327" cy="99770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dirty="0">
                <a:solidFill>
                  <a:schemeClr val="accent1"/>
                </a:solidFill>
              </a:rPr>
              <a:t>Operación: </a:t>
            </a:r>
            <a:r>
              <a:rPr lang="es-CO" sz="3200" dirty="0"/>
              <a:t>TVISDOC Revisión detallada de alumno-cuenta</a:t>
            </a:r>
            <a:endParaRPr lang="es-CL" dirty="0"/>
          </a:p>
        </p:txBody>
      </p:sp>
      <p:sp>
        <p:nvSpPr>
          <p:cNvPr id="7" name="Rectángulo: esquinas redondeadas 7">
            <a:extLst>
              <a:ext uri="{FF2B5EF4-FFF2-40B4-BE49-F238E27FC236}">
                <a16:creationId xmlns:a16="http://schemas.microsoft.com/office/drawing/2014/main" id="{3CF5BCD9-8781-3428-7C75-2E5CC1515014}"/>
              </a:ext>
            </a:extLst>
          </p:cNvPr>
          <p:cNvSpPr/>
          <p:nvPr/>
        </p:nvSpPr>
        <p:spPr>
          <a:xfrm>
            <a:off x="901938" y="4974336"/>
            <a:ext cx="10281173" cy="64922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s-ES_tradnl" sz="1200" dirty="0"/>
              <a:t>En </a:t>
            </a:r>
            <a:r>
              <a:rPr lang="es-ES_tradnl" sz="1200" b="1" dirty="0"/>
              <a:t>TVISDOC</a:t>
            </a:r>
            <a:r>
              <a:rPr lang="es-ES_tradnl" sz="1200" dirty="0"/>
              <a:t> Se valida el ID al cual se le realizó el proceso de anulación de documento, y se evidencia que las transacciones ya no cuentan con la asociación de dicho documento de venta.</a:t>
            </a:r>
            <a:endParaRPr lang="es-ES_tradnl" sz="1200" dirty="0">
              <a:cs typeface="Arial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E0BA244-0D85-0A23-5776-41DF34C0B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461" y="1746736"/>
            <a:ext cx="10230126" cy="300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3757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0A807-D28A-EF39-6A44-2A2F47786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5">
            <a:extLst>
              <a:ext uri="{FF2B5EF4-FFF2-40B4-BE49-F238E27FC236}">
                <a16:creationId xmlns:a16="http://schemas.microsoft.com/office/drawing/2014/main" id="{EAA774FF-A16C-0516-8A83-6BE31A595B68}"/>
              </a:ext>
            </a:extLst>
          </p:cNvPr>
          <p:cNvSpPr txBox="1">
            <a:spLocks/>
          </p:cNvSpPr>
          <p:nvPr/>
        </p:nvSpPr>
        <p:spPr>
          <a:xfrm>
            <a:off x="463619" y="1475218"/>
            <a:ext cx="2361877" cy="6066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RESUMEN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4230D26-77A4-9999-B174-9B6175E41799}"/>
              </a:ext>
            </a:extLst>
          </p:cNvPr>
          <p:cNvSpPr txBox="1">
            <a:spLocks/>
          </p:cNvSpPr>
          <p:nvPr/>
        </p:nvSpPr>
        <p:spPr>
          <a:xfrm>
            <a:off x="463619" y="2133866"/>
            <a:ext cx="11118458" cy="40225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Blip>
                <a:blip r:embed="rId2"/>
              </a:buBlip>
            </a:pPr>
            <a:endParaRPr lang="es-419" sz="2000" dirty="0">
              <a:latin typeface="Helvetica Neue" panose="02000503000000020004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1D38CA-9DC6-E135-9110-73BD25342A9C}"/>
              </a:ext>
            </a:extLst>
          </p:cNvPr>
          <p:cNvSpPr txBox="1"/>
          <p:nvPr/>
        </p:nvSpPr>
        <p:spPr>
          <a:xfrm>
            <a:off x="463619" y="2114805"/>
            <a:ext cx="1079677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/>
              <a:t>Gestionar los Documentos de Venta:</a:t>
            </a:r>
          </a:p>
          <a:p>
            <a:pPr marL="285750" indent="-285750">
              <a:buBlip>
                <a:blip r:embed="rId2"/>
              </a:buBlip>
            </a:pPr>
            <a:r>
              <a:rPr lang="es-CO" sz="2400" dirty="0"/>
              <a:t>Se definen la configuración general para la generación de documentos de ventas.</a:t>
            </a:r>
          </a:p>
          <a:p>
            <a:pPr marL="285750" indent="-285750">
              <a:buBlip>
                <a:blip r:embed="rId2"/>
              </a:buBlip>
            </a:pPr>
            <a:r>
              <a:rPr lang="es-CO" sz="2400" dirty="0"/>
              <a:t>Se define la configuración para los tipos de documentos.</a:t>
            </a:r>
          </a:p>
          <a:p>
            <a:pPr marL="285750" indent="-285750">
              <a:buBlip>
                <a:blip r:embed="rId2"/>
              </a:buBlip>
            </a:pPr>
            <a:r>
              <a:rPr lang="es-CO" sz="2400" dirty="0"/>
              <a:t>Se define la configuración para los perfiles de negocios.</a:t>
            </a:r>
          </a:p>
          <a:p>
            <a:pPr marL="285750" indent="-285750">
              <a:buBlip>
                <a:blip r:embed="rId2"/>
              </a:buBlip>
            </a:pPr>
            <a:r>
              <a:rPr lang="es-CO" sz="2400" dirty="0"/>
              <a:t>Se define la configuración para la relación del número de folio, tipo de documento y perfiles de negocio.</a:t>
            </a:r>
          </a:p>
          <a:p>
            <a:pPr marL="285750" indent="-285750">
              <a:buBlip>
                <a:blip r:embed="rId2"/>
              </a:buBlip>
            </a:pPr>
            <a:r>
              <a:rPr lang="es-CO" sz="2400" dirty="0"/>
              <a:t>Se define la configuración para la relación de los códigos de detalle con el tipo de documento.</a:t>
            </a:r>
          </a:p>
          <a:p>
            <a:pPr marL="285750" indent="-285750">
              <a:buBlip>
                <a:blip r:embed="rId2"/>
              </a:buBlip>
            </a:pPr>
            <a:r>
              <a:rPr lang="es-CO" sz="2400" dirty="0"/>
              <a:t>Se define la emisión de documentos de cobro.</a:t>
            </a:r>
          </a:p>
          <a:p>
            <a:pPr marL="285750" indent="-285750">
              <a:buBlip>
                <a:blip r:embed="rId2"/>
              </a:buBlip>
            </a:pPr>
            <a:r>
              <a:rPr lang="es-CO" sz="2400" dirty="0"/>
              <a:t>Se define la consulta y anulación de documentos de cobros emitidos.</a:t>
            </a:r>
          </a:p>
        </p:txBody>
      </p:sp>
    </p:spTree>
    <p:extLst>
      <p:ext uri="{BB962C8B-B14F-4D97-AF65-F5344CB8AC3E}">
        <p14:creationId xmlns:p14="http://schemas.microsoft.com/office/powerpoint/2010/main" val="29008127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555C3-54CB-FB22-24D3-CB56D25AA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C8C561-01AA-93BA-31A2-AAD8E5DED1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CO" dirty="0"/>
              <a:t>Faver Herrera Mejia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D6D2D-BB92-CF38-BDA6-D770C4633E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CO"/>
              <a:t>faver.herreramejia@</a:t>
            </a:r>
            <a:r>
              <a:rPr lang="es-CO" dirty="0"/>
              <a:t>ellucian.com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329984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8088</TotalTime>
  <Words>1675</Words>
  <Application>Microsoft Office PowerPoint</Application>
  <PresentationFormat>Widescreen</PresentationFormat>
  <Paragraphs>139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Aptos</vt:lpstr>
      <vt:lpstr>Aptos Display</vt:lpstr>
      <vt:lpstr>Arial</vt:lpstr>
      <vt:lpstr>Courier New</vt:lpstr>
      <vt:lpstr>Helvetica Neue</vt:lpstr>
      <vt:lpstr>Wingdings</vt:lpstr>
      <vt:lpstr>Ellucian Main Layouts</vt:lpstr>
      <vt:lpstr>2_Ellucian Main Layouts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DeChurch, Damien</dc:creator>
  <cp:lastModifiedBy>Herrera Mejía, Faver</cp:lastModifiedBy>
  <cp:revision>370</cp:revision>
  <dcterms:created xsi:type="dcterms:W3CDTF">2024-12-23T17:11:20Z</dcterms:created>
  <dcterms:modified xsi:type="dcterms:W3CDTF">2026-07-14T21:17:01Z</dcterms:modified>
</cp:coreProperties>
</file>
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</p:sldMasterIdLst>
  <p:notesMasterIdLst>
    <p:notesMasterId r:id="rId23"/>
  </p:notesMasterIdLst>
  <p:sldIdLst>
    <p:sldId id="522" r:id="rId3"/>
    <p:sldId id="423" r:id="rId4"/>
    <p:sldId id="476" r:id="rId5"/>
    <p:sldId id="523" r:id="rId6"/>
    <p:sldId id="350" r:id="rId7"/>
    <p:sldId id="421" r:id="rId8"/>
    <p:sldId id="261" r:id="rId9"/>
    <p:sldId id="343" r:id="rId10"/>
    <p:sldId id="475" r:id="rId11"/>
    <p:sldId id="515" r:id="rId12"/>
    <p:sldId id="516" r:id="rId13"/>
    <p:sldId id="517" r:id="rId14"/>
    <p:sldId id="508" r:id="rId15"/>
    <p:sldId id="519" r:id="rId16"/>
    <p:sldId id="518" r:id="rId17"/>
    <p:sldId id="520" r:id="rId18"/>
    <p:sldId id="521" r:id="rId19"/>
    <p:sldId id="513" r:id="rId20"/>
    <p:sldId id="345" r:id="rId21"/>
    <p:sldId id="5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12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7222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7678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8041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9113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2227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134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7167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04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41346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135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6825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55429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017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171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428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55068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3478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22552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6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58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817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93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20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732465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957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179433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82439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00946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84386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0429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37301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007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72614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EE07C-91FB-6F44-703B-7C9D3AE69D03}"/>
              </a:ext>
            </a:extLst>
          </p:cNvPr>
          <p:cNvSpPr/>
          <p:nvPr/>
        </p:nvSpPr>
        <p:spPr>
          <a:xfrm>
            <a:off x="9165771" y="6466114"/>
            <a:ext cx="24384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45DE5-78DB-AC6D-BDEB-F0B9704B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566" y="6466114"/>
            <a:ext cx="2200582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5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0EB780-F538-1B7A-77FB-33D4E100EB9F}"/>
              </a:ext>
            </a:extLst>
          </p:cNvPr>
          <p:cNvSpPr/>
          <p:nvPr/>
        </p:nvSpPr>
        <p:spPr>
          <a:xfrm>
            <a:off x="9165771" y="6509657"/>
            <a:ext cx="2416626" cy="348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76BEB7-8B0D-6873-D190-A19834A1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479" y="6460190"/>
            <a:ext cx="213389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709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6828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85037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579031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403617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05719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365990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32612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717764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328236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945357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817363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4742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4591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89806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198395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052156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51016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183753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7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1288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81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554561"/>
            <a:ext cx="5427132" cy="1748877"/>
          </a:xfrm>
        </p:spPr>
        <p:txBody>
          <a:bodyPr>
            <a:normAutofit/>
          </a:bodyPr>
          <a:lstStyle/>
          <a:p>
            <a:r>
              <a:rPr lang="es-ES" sz="4400" dirty="0"/>
              <a:t>Asignar bibliografía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506631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Bibliografía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Asignar Bibliografía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Asignar Bibliografía</a:t>
            </a:r>
            <a:endParaRPr lang="es-419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1839686"/>
            <a:ext cx="2531719" cy="76241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A través de este procedimiento se permiten crear los distintos tipos de bibliografías, así como crear el catálogo bibliográfico que está presente en la institución.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Una vez definido el catálogo bibliográfico, puede asignarse a los cursos como bibliografías opcionales, requeridas, etc.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Los estudiantes podrán ver el material bibliográfico asociado a sus cursos inscritos, utilizando el autoservicio.</a:t>
            </a:r>
          </a:p>
          <a:p>
            <a:pPr marL="0" indent="0">
              <a:buClr>
                <a:srgbClr val="0CB4B4"/>
              </a:buClr>
              <a:buNone/>
            </a:pPr>
            <a:endParaRPr lang="es-ES" sz="2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sz="3200" b="0" dirty="0">
                <a:solidFill>
                  <a:schemeClr val="accent1"/>
                </a:solidFill>
              </a:rPr>
              <a:t>Proceso de asignar </a:t>
            </a:r>
            <a:r>
              <a:rPr lang="es-ES_tradnl" b="0" dirty="0">
                <a:solidFill>
                  <a:schemeClr val="accent1"/>
                </a:solidFill>
              </a:rPr>
              <a:t>bibliografía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92" y="421404"/>
            <a:ext cx="10483297" cy="528791"/>
          </a:xfrm>
        </p:spPr>
        <p:txBody>
          <a:bodyPr/>
          <a:lstStyle/>
          <a:p>
            <a:r>
              <a:rPr lang="es-ES_tradnl" sz="3000" dirty="0">
                <a:solidFill>
                  <a:schemeClr val="accent1"/>
                </a:solidFill>
              </a:rPr>
              <a:t>Overview: </a:t>
            </a:r>
            <a:r>
              <a:rPr lang="es-ES_tradnl" sz="3000" b="0" dirty="0">
                <a:solidFill>
                  <a:schemeClr val="accent1"/>
                </a:solidFill>
              </a:rPr>
              <a:t>Procesos </a:t>
            </a:r>
            <a:r>
              <a:rPr lang="es-ES_tradnl" sz="2800" b="0" dirty="0">
                <a:solidFill>
                  <a:schemeClr val="accent1"/>
                </a:solidFill>
              </a:rPr>
              <a:t>de asignar bibliografía</a:t>
            </a:r>
            <a:endParaRPr lang="es-CL" sz="3000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9B771F-7781-E13B-FCB9-06144413B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13" y="2703003"/>
            <a:ext cx="11309751" cy="1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Tablas de validación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E4A922-CDCA-5DAF-7C38-040B95FF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1951102"/>
            <a:ext cx="11448707" cy="18004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400" b="0" dirty="0"/>
              <a:t>Configuraciones: </a:t>
            </a:r>
            <a:r>
              <a:rPr lang="es-ES_tradnl" sz="2400" b="1" dirty="0"/>
              <a:t>SVVBIMD </a:t>
            </a:r>
            <a:r>
              <a:rPr lang="es-419" sz="2400" dirty="0"/>
              <a:t>Validación de modelos de referencia de bibliografía</a:t>
            </a:r>
            <a:endParaRPr lang="es-CL" sz="24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939554"/>
            <a:ext cx="10682681" cy="95063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ingresan los catálogos de tipos de bibliografía, ejemplo Libro, Revista</a:t>
            </a:r>
            <a:br>
              <a:rPr lang="es-CL" sz="1100" dirty="0"/>
            </a:br>
            <a:r>
              <a:rPr lang="es-CL" sz="1100" dirty="0"/>
              <a:t>1. </a:t>
            </a:r>
            <a:r>
              <a:rPr lang="es-ES" sz="1100" dirty="0"/>
              <a:t>Para crear un registro nuevo dar en Insertar.</a:t>
            </a:r>
            <a:br>
              <a:rPr lang="es-CL" sz="1100" dirty="0"/>
            </a:br>
            <a:r>
              <a:rPr lang="es-CL" sz="1100" dirty="0"/>
              <a:t>2. Código: Se ingresa un código de dos posiciones que identifique el tipo de bibliografía</a:t>
            </a:r>
            <a:br>
              <a:rPr lang="es-CL" sz="1100" dirty="0"/>
            </a:br>
            <a:r>
              <a:rPr lang="es-CL" sz="1100" dirty="0"/>
              <a:t>3. Descripción:  Se ingresa la descripción del código de bibliografía creado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5C04CB9-A16F-8D1C-111C-8970D2F5170D}"/>
              </a:ext>
            </a:extLst>
          </p:cNvPr>
          <p:cNvSpPr/>
          <p:nvPr/>
        </p:nvSpPr>
        <p:spPr>
          <a:xfrm>
            <a:off x="11181651" y="266611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41765381-613F-EC44-E83C-14E39CB0A67F}"/>
              </a:ext>
            </a:extLst>
          </p:cNvPr>
          <p:cNvSpPr/>
          <p:nvPr/>
        </p:nvSpPr>
        <p:spPr>
          <a:xfrm>
            <a:off x="886079" y="272163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5D837C88-B2E0-5879-05DF-50C31B01B946}"/>
              </a:ext>
            </a:extLst>
          </p:cNvPr>
          <p:cNvSpPr/>
          <p:nvPr/>
        </p:nvSpPr>
        <p:spPr>
          <a:xfrm>
            <a:off x="3893837" y="272163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D747EA2-04C8-3662-1BD3-D3892656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078954"/>
            <a:ext cx="11313042" cy="166420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400" b="0" dirty="0"/>
              <a:t>Configuraciones: </a:t>
            </a:r>
            <a:r>
              <a:rPr lang="es-ES_tradnl" sz="2400" b="1" dirty="0"/>
              <a:t>SVV</a:t>
            </a:r>
            <a:r>
              <a:rPr lang="es-ES_tradnl" sz="2400" dirty="0"/>
              <a:t>BIEL</a:t>
            </a:r>
            <a:r>
              <a:rPr lang="es-ES_tradnl" sz="2400" b="1" dirty="0"/>
              <a:t> </a:t>
            </a:r>
            <a:r>
              <a:rPr lang="es-419" sz="2400" dirty="0"/>
              <a:t>Validación de elementos de bibliografía</a:t>
            </a:r>
            <a:endParaRPr lang="es-CL" sz="24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54659" y="5316072"/>
            <a:ext cx="10682681" cy="95063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ingresan los  datos de número de páginas, autor, año de publicación, entre otros</a:t>
            </a:r>
            <a:br>
              <a:rPr lang="es-CL" sz="1100" dirty="0"/>
            </a:br>
            <a:br>
              <a:rPr lang="es-CL" sz="1100" dirty="0"/>
            </a:br>
            <a:r>
              <a:rPr lang="es-CL" sz="1100" b="1" dirty="0"/>
              <a:t>1. Código: </a:t>
            </a:r>
            <a:r>
              <a:rPr lang="es-CL" sz="1100" dirty="0"/>
              <a:t>Se ingresa un código de dos posiciones que identifique el elemento de la bibliografía</a:t>
            </a:r>
            <a:br>
              <a:rPr lang="es-CL" sz="1100" dirty="0"/>
            </a:br>
            <a:r>
              <a:rPr lang="es-CL" sz="1100" dirty="0"/>
              <a:t>2. </a:t>
            </a:r>
            <a:r>
              <a:rPr lang="es-CL" sz="1100" b="1" dirty="0"/>
              <a:t>Descripción</a:t>
            </a:r>
            <a:r>
              <a:rPr lang="es-CL" sz="1100" dirty="0"/>
              <a:t>:  Se ingresa la descripción del código de elemento de bibliografía creado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4BE89900-E062-2FDF-1CA9-3108F7F5A1ED}"/>
              </a:ext>
            </a:extLst>
          </p:cNvPr>
          <p:cNvSpPr/>
          <p:nvPr/>
        </p:nvSpPr>
        <p:spPr>
          <a:xfrm>
            <a:off x="1085675" y="283554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C791CF87-BF2C-30AB-3CDE-88C6A9A3F27F}"/>
              </a:ext>
            </a:extLst>
          </p:cNvPr>
          <p:cNvSpPr/>
          <p:nvPr/>
        </p:nvSpPr>
        <p:spPr>
          <a:xfrm>
            <a:off x="3985437" y="283554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507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AF0572-343F-81D9-7D01-250E5F4CE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6" y="2555390"/>
            <a:ext cx="10792047" cy="155622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400" b="0" dirty="0"/>
              <a:t>Configuraciones: </a:t>
            </a:r>
            <a:r>
              <a:rPr lang="es-ES_tradnl" sz="2400" b="1" dirty="0"/>
              <a:t>SVV</a:t>
            </a:r>
            <a:r>
              <a:rPr lang="es-ES_tradnl" sz="2400" dirty="0"/>
              <a:t>BITY</a:t>
            </a:r>
            <a:r>
              <a:rPr lang="es-ES_tradnl" sz="2400" b="1" dirty="0"/>
              <a:t> </a:t>
            </a:r>
            <a:r>
              <a:rPr lang="es-419" sz="2400" dirty="0"/>
              <a:t>Validación de tipo de bibliografía</a:t>
            </a:r>
            <a:endParaRPr lang="es-CL" sz="24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894730"/>
            <a:ext cx="10682681" cy="95063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ingresan los  datos de tipos de bibliografía, ejemplo;  básica, complementaria.</a:t>
            </a:r>
            <a:br>
              <a:rPr lang="es-CL" sz="1100" dirty="0"/>
            </a:br>
            <a:br>
              <a:rPr lang="es-CL" sz="1100" dirty="0"/>
            </a:br>
            <a:r>
              <a:rPr lang="es-CL" sz="1100" b="1" dirty="0"/>
              <a:t>1. Código: </a:t>
            </a:r>
            <a:r>
              <a:rPr lang="es-CL" sz="1100" dirty="0"/>
              <a:t>Se ingresa un código de dos posiciones que identifique el tipo de  bibliografía</a:t>
            </a:r>
            <a:br>
              <a:rPr lang="es-CL" sz="1100" dirty="0"/>
            </a:br>
            <a:r>
              <a:rPr lang="es-CL" sz="1100" dirty="0"/>
              <a:t>2. </a:t>
            </a:r>
            <a:r>
              <a:rPr lang="es-CL" sz="1100" b="1" dirty="0"/>
              <a:t>Descripción</a:t>
            </a:r>
            <a:r>
              <a:rPr lang="es-CL" sz="1100" dirty="0"/>
              <a:t>:  Se ingresa la descripción del código de tipo de bibliografía creado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F9FEA323-4F0D-079A-31D6-B2C01C06D16E}"/>
              </a:ext>
            </a:extLst>
          </p:cNvPr>
          <p:cNvSpPr/>
          <p:nvPr/>
        </p:nvSpPr>
        <p:spPr>
          <a:xfrm>
            <a:off x="1098699" y="325799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F1B4BF24-9E39-A25D-58D7-5F119E29C779}"/>
              </a:ext>
            </a:extLst>
          </p:cNvPr>
          <p:cNvSpPr/>
          <p:nvPr/>
        </p:nvSpPr>
        <p:spPr>
          <a:xfrm>
            <a:off x="2688266" y="327606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660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Bibliografía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Crear bibliografía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3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31C74C-F13A-72E5-A8CE-C872EAFA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12" y="2547551"/>
            <a:ext cx="11255829" cy="161049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72717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b="1" dirty="0"/>
              <a:t>SVABICO </a:t>
            </a:r>
            <a:r>
              <a:rPr lang="es-419" sz="2800" dirty="0"/>
              <a:t>Configuración de bibliografía</a:t>
            </a:r>
            <a:endParaRPr lang="es-CL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090923" y="5191921"/>
            <a:ext cx="10010153" cy="95063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crea la secuencia y la estructura en la que se va a crear la bibliografía:</a:t>
            </a:r>
            <a:br>
              <a:rPr lang="es-CL" sz="1100" dirty="0"/>
            </a:br>
            <a:br>
              <a:rPr lang="es-CL" sz="1100" dirty="0"/>
            </a:br>
            <a:r>
              <a:rPr lang="es-CL" sz="1100" dirty="0"/>
              <a:t>1. </a:t>
            </a:r>
            <a:r>
              <a:rPr lang="es-CL" sz="1100" b="1" dirty="0"/>
              <a:t>Elemento: </a:t>
            </a:r>
            <a:r>
              <a:rPr lang="es-CL" sz="1100" dirty="0"/>
              <a:t>Se ingresan los elementos que componen la bibliografía ejemplo título , autor, año de publicación y la secuencia de cómo se debe mostrar.</a:t>
            </a:r>
            <a:br>
              <a:rPr lang="es-CL" sz="1100" dirty="0"/>
            </a:br>
            <a:r>
              <a:rPr lang="es-CL" sz="1100" dirty="0"/>
              <a:t>2. </a:t>
            </a:r>
            <a:r>
              <a:rPr lang="es-CL" sz="1100" b="1" dirty="0"/>
              <a:t>Formato</a:t>
            </a:r>
            <a:r>
              <a:rPr lang="es-CL" sz="1100" dirty="0"/>
              <a:t>:  En el campo de formato </a:t>
            </a:r>
            <a:r>
              <a:rPr lang="es-ES_tradnl" sz="1100" b="1" dirty="0"/>
              <a:t>B</a:t>
            </a:r>
            <a:r>
              <a:rPr lang="es-ES_tradnl" sz="1100" dirty="0"/>
              <a:t>: </a:t>
            </a:r>
            <a:r>
              <a:rPr lang="es-ES_tradnl" sz="1100" dirty="0" err="1"/>
              <a:t>bold</a:t>
            </a:r>
            <a:r>
              <a:rPr lang="es-ES_tradnl" sz="1100" dirty="0"/>
              <a:t> / negrita, </a:t>
            </a:r>
            <a:r>
              <a:rPr lang="es-ES_tradnl" sz="1100" b="1" dirty="0"/>
              <a:t>I</a:t>
            </a:r>
            <a:r>
              <a:rPr lang="es-ES_tradnl" sz="1100" dirty="0"/>
              <a:t>: </a:t>
            </a:r>
            <a:r>
              <a:rPr lang="es-ES_tradnl" sz="1100" dirty="0" err="1"/>
              <a:t>italic</a:t>
            </a:r>
            <a:r>
              <a:rPr lang="es-ES_tradnl" sz="1100" dirty="0"/>
              <a:t> / cursiva, </a:t>
            </a:r>
            <a:r>
              <a:rPr lang="es-ES_tradnl" sz="1100" b="1" dirty="0"/>
              <a:t>U</a:t>
            </a:r>
            <a:r>
              <a:rPr lang="es-ES_tradnl" sz="1100" dirty="0"/>
              <a:t>: </a:t>
            </a:r>
            <a:r>
              <a:rPr lang="es-ES_tradnl" sz="1100" dirty="0" err="1"/>
              <a:t>underline</a:t>
            </a:r>
            <a:r>
              <a:rPr lang="es-ES_tradnl" sz="1100" dirty="0"/>
              <a:t> / subrayado, </a:t>
            </a:r>
            <a:r>
              <a:rPr lang="es-ES_tradnl" sz="1100" b="1" dirty="0"/>
              <a:t>N</a:t>
            </a:r>
            <a:r>
              <a:rPr lang="es-ES_tradnl" sz="1100" dirty="0"/>
              <a:t>: normal</a:t>
            </a:r>
          </a:p>
          <a:p>
            <a:endParaRPr lang="es-ES_tradn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34ABDA6B-5EDD-88AC-8331-879479C92AD5}"/>
              </a:ext>
            </a:extLst>
          </p:cNvPr>
          <p:cNvSpPr/>
          <p:nvPr/>
        </p:nvSpPr>
        <p:spPr>
          <a:xfrm>
            <a:off x="2352832" y="370434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0B70ACED-EF24-F0FF-F987-AC49BFB477F2}"/>
              </a:ext>
            </a:extLst>
          </p:cNvPr>
          <p:cNvSpPr/>
          <p:nvPr/>
        </p:nvSpPr>
        <p:spPr>
          <a:xfrm>
            <a:off x="5962471" y="370434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089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2EFB4C-0081-7F81-DFA6-3884B60DD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3240"/>
            <a:ext cx="11430918" cy="19160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72717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b="1" dirty="0"/>
              <a:t>SVAB</a:t>
            </a:r>
            <a:r>
              <a:rPr lang="es-ES_tradnl" sz="2800" dirty="0"/>
              <a:t>IEL</a:t>
            </a:r>
            <a:r>
              <a:rPr lang="es-ES_tradnl" sz="2800" b="1" dirty="0"/>
              <a:t> </a:t>
            </a:r>
            <a:r>
              <a:rPr lang="es-419" sz="2800" dirty="0"/>
              <a:t>Configuración de elementos de bibliografía</a:t>
            </a:r>
            <a:endParaRPr lang="es-CL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167809" y="5011271"/>
            <a:ext cx="9914321" cy="116092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/>
              <a:t>Se crea configuran los elementos de la bibliografía</a:t>
            </a:r>
          </a:p>
          <a:p>
            <a:br>
              <a:rPr lang="es-CL" sz="1100" dirty="0"/>
            </a:br>
            <a:r>
              <a:rPr lang="es-CL" sz="1100" dirty="0"/>
              <a:t>1. </a:t>
            </a:r>
            <a:r>
              <a:rPr lang="es-CL" sz="1100" b="1" dirty="0"/>
              <a:t>Código de bibliografía: </a:t>
            </a:r>
            <a:r>
              <a:rPr lang="es-CL" sz="1100" dirty="0"/>
              <a:t>Se crea un código numérico que identifique la bibliografía.</a:t>
            </a:r>
            <a:br>
              <a:rPr lang="es-CL" sz="1100" dirty="0"/>
            </a:br>
            <a:r>
              <a:rPr lang="es-CL" sz="1100" dirty="0"/>
              <a:t>2. </a:t>
            </a:r>
            <a:r>
              <a:rPr lang="es-CL" sz="1100" b="1" dirty="0"/>
              <a:t>Código de elemento: </a:t>
            </a:r>
            <a:r>
              <a:rPr lang="es-CL" sz="1100" dirty="0"/>
              <a:t>Se ingresan los elementos que la componen.</a:t>
            </a:r>
          </a:p>
          <a:p>
            <a:r>
              <a:rPr lang="es-CL" sz="1100" dirty="0"/>
              <a:t>3. </a:t>
            </a:r>
            <a:r>
              <a:rPr lang="es-CL" sz="1100" b="1" dirty="0"/>
              <a:t>Texto: </a:t>
            </a:r>
            <a:r>
              <a:rPr lang="es-CL" sz="1100" dirty="0"/>
              <a:t>Se ingresa la descripción del elemento.</a:t>
            </a:r>
            <a:endParaRPr lang="es-ES_tradnl" sz="1100" dirty="0"/>
          </a:p>
          <a:p>
            <a:endParaRPr lang="es-ES_tradn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08A8144-04E5-9E79-A4BB-96357ADD5FBE}"/>
              </a:ext>
            </a:extLst>
          </p:cNvPr>
          <p:cNvSpPr/>
          <p:nvPr/>
        </p:nvSpPr>
        <p:spPr>
          <a:xfrm>
            <a:off x="1533873" y="259726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B0F24183-9AEF-21BB-77A2-9E46C9DB5C32}"/>
              </a:ext>
            </a:extLst>
          </p:cNvPr>
          <p:cNvSpPr/>
          <p:nvPr/>
        </p:nvSpPr>
        <p:spPr>
          <a:xfrm>
            <a:off x="1400345" y="328680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3784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5289BBF-3025-9339-B970-FF05562E0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622872"/>
            <a:ext cx="11321666" cy="123433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72717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b="1" dirty="0"/>
              <a:t>SV</a:t>
            </a:r>
            <a:r>
              <a:rPr lang="es-ES_tradnl" sz="2800" dirty="0"/>
              <a:t>IBIEL</a:t>
            </a:r>
            <a:r>
              <a:rPr lang="es-ES_tradnl" sz="2800" b="1" dirty="0"/>
              <a:t> </a:t>
            </a:r>
            <a:r>
              <a:rPr lang="es-419" sz="2800" b="1" dirty="0"/>
              <a:t>Consul</a:t>
            </a:r>
            <a:r>
              <a:rPr lang="es-419" sz="2800" dirty="0"/>
              <a:t>ta de elementos de bibliografía</a:t>
            </a:r>
            <a:endParaRPr lang="es-CL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643966" y="5029201"/>
            <a:ext cx="9167470" cy="10133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/>
              <a:t>Esta página está diseñada para realizar consultas de todas las bibliografías registradas en el sistema, permitiendo filtrar por ejemplo por:</a:t>
            </a:r>
          </a:p>
          <a:p>
            <a:r>
              <a:rPr lang="es-ES_tradnl" sz="1100" dirty="0"/>
              <a:t>1.- Título</a:t>
            </a:r>
          </a:p>
          <a:p>
            <a:r>
              <a:rPr lang="es-ES_tradnl" sz="1100" dirty="0"/>
              <a:t>2.- Autor </a:t>
            </a:r>
          </a:p>
          <a:p>
            <a:r>
              <a:rPr lang="es-ES_tradnl" sz="1100" dirty="0"/>
              <a:t>3.- Año.</a:t>
            </a:r>
          </a:p>
          <a:p>
            <a:r>
              <a:rPr lang="es-ES_tradnl" sz="1100" dirty="0"/>
              <a:t>Entre otros.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DBCEAFF-6CFD-2E0B-0238-305C43485F25}"/>
              </a:ext>
            </a:extLst>
          </p:cNvPr>
          <p:cNvSpPr/>
          <p:nvPr/>
        </p:nvSpPr>
        <p:spPr>
          <a:xfrm>
            <a:off x="3609397" y="335349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91FCAB3E-84CD-27B9-23A0-5800F1872AC9}"/>
              </a:ext>
            </a:extLst>
          </p:cNvPr>
          <p:cNvSpPr/>
          <p:nvPr/>
        </p:nvSpPr>
        <p:spPr>
          <a:xfrm>
            <a:off x="6876249" y="335349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1B5BA2D3-D37E-48E4-D97A-D5E4BA43FE57}"/>
              </a:ext>
            </a:extLst>
          </p:cNvPr>
          <p:cNvSpPr/>
          <p:nvPr/>
        </p:nvSpPr>
        <p:spPr>
          <a:xfrm>
            <a:off x="10143101" y="335349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8441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Bibliografía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Asignar bibliografía a un curso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31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1CC003-02EB-C832-B1EE-1BA24243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487963"/>
            <a:ext cx="11420818" cy="176302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72717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b="1" dirty="0"/>
              <a:t>SVABICR Bibliografía por curso</a:t>
            </a:r>
            <a:endParaRPr lang="es-CL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5119428"/>
            <a:ext cx="10619753" cy="10313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100" dirty="0"/>
          </a:p>
          <a:p>
            <a:r>
              <a:rPr lang="es-ES_tradnl" sz="1100" dirty="0"/>
              <a:t>Se asigna la bibliografía al curso, y a partir de un período académico</a:t>
            </a:r>
          </a:p>
          <a:p>
            <a:br>
              <a:rPr lang="es-CL" sz="1100" dirty="0"/>
            </a:br>
            <a:r>
              <a:rPr lang="es-CL" sz="1100" dirty="0"/>
              <a:t>1. </a:t>
            </a:r>
            <a:r>
              <a:rPr lang="es-CL" sz="1100" b="1" dirty="0"/>
              <a:t>Código de bibliografía: </a:t>
            </a:r>
            <a:r>
              <a:rPr lang="es-CL" sz="1100" dirty="0"/>
              <a:t>Se ingresa el código de bibliografía creado. La descripción la trae automáticamente.</a:t>
            </a:r>
            <a:endParaRPr lang="es-ES_tradnl" sz="1100" dirty="0"/>
          </a:p>
          <a:p>
            <a:r>
              <a:rPr lang="es-CL" sz="1100" dirty="0"/>
              <a:t>2. </a:t>
            </a:r>
            <a:r>
              <a:rPr lang="es-CL" sz="1100" b="1" dirty="0"/>
              <a:t>Código de tipo de bibliografía: </a:t>
            </a:r>
            <a:r>
              <a:rPr lang="es-CL" sz="1100" dirty="0"/>
              <a:t>Se ingresan el código de tipo de bibliografía. La descripción la trae automáticamente.</a:t>
            </a:r>
          </a:p>
          <a:p>
            <a:r>
              <a:rPr lang="es-ES_tradnl" sz="1100" dirty="0"/>
              <a:t>3. </a:t>
            </a:r>
            <a:r>
              <a:rPr lang="es-ES_tradnl" sz="1100" b="1" dirty="0"/>
              <a:t>Número de secuencia: </a:t>
            </a:r>
            <a:r>
              <a:rPr lang="es-ES_tradnl" sz="1100" dirty="0"/>
              <a:t>Correlativo de orden.</a:t>
            </a:r>
          </a:p>
          <a:p>
            <a:endParaRPr lang="es-ES_tradn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B6F674FA-92DC-6F10-0679-46028A4D6BC9}"/>
              </a:ext>
            </a:extLst>
          </p:cNvPr>
          <p:cNvSpPr/>
          <p:nvPr/>
        </p:nvSpPr>
        <p:spPr>
          <a:xfrm>
            <a:off x="1514405" y="366338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0326206F-EDB9-F28C-D17C-30E8770DD663}"/>
              </a:ext>
            </a:extLst>
          </p:cNvPr>
          <p:cNvSpPr/>
          <p:nvPr/>
        </p:nvSpPr>
        <p:spPr>
          <a:xfrm>
            <a:off x="6096000" y="366338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327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D3FAB3-A2B4-290C-3169-4901A9AA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170899"/>
            <a:ext cx="11376751" cy="19821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SVABISR</a:t>
            </a:r>
            <a:r>
              <a:rPr lang="es-ES_tradnl" sz="3000" b="1" dirty="0"/>
              <a:t> </a:t>
            </a:r>
            <a:r>
              <a:rPr lang="es-419" sz="3000" dirty="0"/>
              <a:t>Bibliografía por sección.</a:t>
            </a:r>
            <a:endParaRPr lang="es-CL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F7C39B-AC95-18C4-B613-46EF824BF3B0}"/>
              </a:ext>
            </a:extLst>
          </p:cNvPr>
          <p:cNvSpPr/>
          <p:nvPr/>
        </p:nvSpPr>
        <p:spPr>
          <a:xfrm>
            <a:off x="1420724" y="4885764"/>
            <a:ext cx="9050928" cy="84716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/>
              <a:t>Se asigna la bibliografía al NRC, se debe ingresar el período.</a:t>
            </a:r>
          </a:p>
          <a:p>
            <a:br>
              <a:rPr lang="es-CL" sz="1100" dirty="0"/>
            </a:br>
            <a:r>
              <a:rPr lang="es-CL" sz="1100" dirty="0"/>
              <a:t>1. </a:t>
            </a:r>
            <a:r>
              <a:rPr lang="es-CL" sz="1100" b="1" dirty="0"/>
              <a:t>Copiar de curso. </a:t>
            </a:r>
            <a:r>
              <a:rPr lang="es-CL" sz="1100" dirty="0"/>
              <a:t>Permite copiar la bibliografía del curso a la sesión.</a:t>
            </a:r>
            <a:endParaRPr lang="es-ES_tradn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C6D5F52-E034-52AD-DA20-9D1A623F75F7}"/>
              </a:ext>
            </a:extLst>
          </p:cNvPr>
          <p:cNvSpPr/>
          <p:nvPr/>
        </p:nvSpPr>
        <p:spPr>
          <a:xfrm>
            <a:off x="1460985" y="316198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03773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Bibliografía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Asignar Bibliografía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debe crear un catálogo de tipos de bibliografía. Ejemplo: revistas, paper, libros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debe crear el material bibliográfico. Ejemplo: nombre del libro, autor, año de publicación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debe asociar el material bibliográfico a los cursos según su necesidad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Los estudiantes pueden ver la bibliografía de sus cursos inscritos, en el SSB.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_tradnl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01 - 4.4.6.5 Asignar atributos y propiedades especificas</Template>
  <TotalTime>3818</TotalTime>
  <Words>743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Proceso de asignar bibliografía</vt:lpstr>
      <vt:lpstr>Overview: Procesos de asignar bibliografía</vt:lpstr>
      <vt:lpstr>PowerPoint Presentation</vt:lpstr>
      <vt:lpstr>CONFIGURACIONES</vt:lpstr>
      <vt:lpstr>Configuraciones: SVVBIMD Validación de modelos de referencia de bibliografía</vt:lpstr>
      <vt:lpstr>Configuraciones: SVVBIEL Validación de elementos de bibliografía</vt:lpstr>
      <vt:lpstr>Configuraciones: SVVBITY Validación de tipo de bibliografía</vt:lpstr>
      <vt:lpstr>Asignar Bibliografía</vt:lpstr>
      <vt:lpstr>Configuraciones: SVABICO Configuración de bibliografía</vt:lpstr>
      <vt:lpstr>Configuraciones: SVABIEL Configuración de elementos de bibliografía</vt:lpstr>
      <vt:lpstr>Configuraciones: SVIBIEL Consulta de elementos de bibliografía</vt:lpstr>
      <vt:lpstr>Asignar Bibliografía</vt:lpstr>
      <vt:lpstr>Configuraciones: SVABICR Bibliografía por curso</vt:lpstr>
      <vt:lpstr>Configuraciones: SVABISR Bibliografía por sección.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590</cp:revision>
  <dcterms:created xsi:type="dcterms:W3CDTF">2023-07-17T20:07:38Z</dcterms:created>
  <dcterms:modified xsi:type="dcterms:W3CDTF">2026-04-17T00:41:20Z</dcterms:modified>
</cp:coreProperties>
</file>
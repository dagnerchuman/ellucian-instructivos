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3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  <p:sldMasterId id="2147483754" r:id="rId2"/>
    <p:sldMasterId id="2147483774" r:id="rId3"/>
    <p:sldMasterId id="2147483812" r:id="rId4"/>
  </p:sldMasterIdLst>
  <p:notesMasterIdLst>
    <p:notesMasterId r:id="rId25"/>
  </p:notesMasterIdLst>
  <p:sldIdLst>
    <p:sldId id="736" r:id="rId5"/>
    <p:sldId id="1290" r:id="rId6"/>
    <p:sldId id="1174" r:id="rId7"/>
    <p:sldId id="1175" r:id="rId8"/>
    <p:sldId id="1291" r:id="rId9"/>
    <p:sldId id="1250" r:id="rId10"/>
    <p:sldId id="1251" r:id="rId11"/>
    <p:sldId id="1259" r:id="rId12"/>
    <p:sldId id="1119" r:id="rId13"/>
    <p:sldId id="1225" r:id="rId14"/>
    <p:sldId id="1297" r:id="rId15"/>
    <p:sldId id="1275" r:id="rId16"/>
    <p:sldId id="1298" r:id="rId17"/>
    <p:sldId id="1293" r:id="rId18"/>
    <p:sldId id="1294" r:id="rId19"/>
    <p:sldId id="1296" r:id="rId20"/>
    <p:sldId id="1299" r:id="rId21"/>
    <p:sldId id="1300" r:id="rId22"/>
    <p:sldId id="1221" r:id="rId23"/>
    <p:sldId id="62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1B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170FA7-FCBA-41B0-A951-1432D81B8EF2}" v="13" dt="2026-03-18T15:36:01.8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52AE8-C3D1-4F0C-9537-50799CDF3F70}" type="datetimeFigureOut">
              <a:rPr lang="es-419" smtClean="0"/>
              <a:t>24/6/2026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7B2D5-D921-4686-9404-D92C44D1256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58069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852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0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0CAB2-7343-ACAA-D791-BF80E8DE8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3C9DF7-B153-96E9-0670-542D723C1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E506EC5-59F0-6477-4347-F15191B52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65B404-3578-9EC2-A5A9-54D68990C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39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37CFC-06E8-013A-E0AE-371D34FB4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12F6897-DFCF-AF1D-24ED-689537CF2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1E6066B-6E94-2909-7567-29F3ECDEE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BFC69F-FF85-6983-2B9D-D7980F9BC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74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23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69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53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4D39C-38CE-A1C4-6CDE-D2E4EAFF3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AF91044-2FFD-0F9A-F319-3F9706E52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C98125C-554B-02DF-BC34-213766573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C24CBC-AD45-272B-B990-9BB505588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5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DFBB-22DF-BAB2-1F72-BF4CD66C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71A62E-E76E-A3AF-9BA9-3AD16C6A5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156E746-FE1B-9FEB-509F-260283C4F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EBD592-2B29-9932-C208-688B67CE2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23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B7043-8BBF-43F6-8395-E81293822626}" type="slidenum">
              <a:rPr lang="es-419" smtClean="0"/>
              <a:t>19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01093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80612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47803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05374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8150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71285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6393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2954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043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2993324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453008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810212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62707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221451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4652139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75343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05740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160287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61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6017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72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079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436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3028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939481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7982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700557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198938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987882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565523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249895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856328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810294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61779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88C-B055-D09C-D997-3A7FCA29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22AF2-2615-432F-038F-912A880B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FCCEB-ACCA-75CB-F0DF-3F3BC5FB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BF752-493A-48A0-84A3-5641C3FD4222}" type="datetimeFigureOut">
              <a:rPr lang="es-419" smtClean="0"/>
              <a:t>24/6/2026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BEB1F-BCFD-D511-2592-8A4609C7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C865D-B77C-F26A-FE70-2498C9B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DABF-D717-48D3-B001-F43E3E17839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90972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16640738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Slid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F00F1-D933-8AA0-E7A4-0F5CD1B344D1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400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4B49D1D-E006-95E3-C9AD-E07A51FD9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9BB8DABF-D717-48D3-B001-F43E3E17839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46363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9BB8DABF-D717-48D3-B001-F43E3E17839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19498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BB8DABF-D717-48D3-B001-F43E3E178399}" type="slidenum">
              <a:rPr lang="es-419" smtClean="0"/>
              <a:t>‹Nº›</a:t>
            </a:fld>
            <a:endParaRPr lang="es-419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88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BB8DABF-D717-48D3-B001-F43E3E178399}" type="slidenum">
              <a:rPr lang="es-419" smtClean="0"/>
              <a:t>‹Nº›</a:t>
            </a:fld>
            <a:endParaRPr lang="es-419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195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0D606AED-DD8D-9B4B-A5A1-B57A5083C0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8163" y="258373"/>
            <a:ext cx="6711912" cy="6858000"/>
          </a:xfrm>
          <a:prstGeom prst="rect">
            <a:avLst/>
          </a:prstGeom>
        </p:spPr>
      </p:pic>
      <p:sp>
        <p:nvSpPr>
          <p:cNvPr id="4" name="Trapezoid 3"/>
          <p:cNvSpPr/>
          <p:nvPr userDrawn="1"/>
        </p:nvSpPr>
        <p:spPr>
          <a:xfrm>
            <a:off x="0" y="1"/>
            <a:ext cx="9144000" cy="6874172"/>
          </a:xfrm>
          <a:custGeom>
            <a:avLst/>
            <a:gdLst>
              <a:gd name="connsiteX0" fmla="*/ 0 w 6858000"/>
              <a:gd name="connsiteY0" fmla="*/ 5148072 h 5148072"/>
              <a:gd name="connsiteX1" fmla="*/ 0 w 6858000"/>
              <a:gd name="connsiteY1" fmla="*/ 0 h 5148072"/>
              <a:gd name="connsiteX2" fmla="*/ 6858000 w 6858000"/>
              <a:gd name="connsiteY2" fmla="*/ 0 h 5148072"/>
              <a:gd name="connsiteX3" fmla="*/ 6858000 w 6858000"/>
              <a:gd name="connsiteY3" fmla="*/ 5148072 h 5148072"/>
              <a:gd name="connsiteX4" fmla="*/ 0 w 6858000"/>
              <a:gd name="connsiteY4" fmla="*/ 5148072 h 5148072"/>
              <a:gd name="connsiteX0" fmla="*/ 0 w 6858000"/>
              <a:gd name="connsiteY0" fmla="*/ 5148072 h 5155629"/>
              <a:gd name="connsiteX1" fmla="*/ 0 w 6858000"/>
              <a:gd name="connsiteY1" fmla="*/ 0 h 5155629"/>
              <a:gd name="connsiteX2" fmla="*/ 6858000 w 6858000"/>
              <a:gd name="connsiteY2" fmla="*/ 0 h 5155629"/>
              <a:gd name="connsiteX3" fmla="*/ 4840275 w 6858000"/>
              <a:gd name="connsiteY3" fmla="*/ 5155629 h 5155629"/>
              <a:gd name="connsiteX4" fmla="*/ 0 w 6858000"/>
              <a:gd name="connsiteY4" fmla="*/ 5148072 h 5155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5155629">
                <a:moveTo>
                  <a:pt x="0" y="5148072"/>
                </a:moveTo>
                <a:lnTo>
                  <a:pt x="0" y="0"/>
                </a:lnTo>
                <a:lnTo>
                  <a:pt x="6858000" y="0"/>
                </a:lnTo>
                <a:lnTo>
                  <a:pt x="4840275" y="5155629"/>
                </a:ln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61309" y="2589804"/>
            <a:ext cx="6650691" cy="2151529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64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ellucian_purpl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1631578"/>
            <a:ext cx="2327711" cy="479092"/>
          </a:xfrm>
          <a:prstGeom prst="rect">
            <a:avLst/>
          </a:prstGeom>
        </p:spPr>
      </p:pic>
      <p:sp>
        <p:nvSpPr>
          <p:cNvPr id="10" name="Text Placeholder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7200" y="5543554"/>
            <a:ext cx="6396392" cy="675417"/>
          </a:xfrm>
        </p:spPr>
        <p:txBody>
          <a:bodyPr anchor="t" anchorCtr="0">
            <a:noAutofit/>
          </a:bodyPr>
          <a:lstStyle>
            <a:lvl1pPr>
              <a:buNone/>
              <a:defRPr sz="2267" b="0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Presenter’s title</a:t>
            </a:r>
            <a:br>
              <a:rPr lang="en-US" dirty="0"/>
            </a:b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3" name="Right Triangle 2"/>
          <p:cNvSpPr/>
          <p:nvPr userDrawn="1"/>
        </p:nvSpPr>
        <p:spPr>
          <a:xfrm flipH="1" flipV="1">
            <a:off x="6604000" y="-3"/>
            <a:ext cx="5588000" cy="5608320"/>
          </a:xfrm>
          <a:prstGeom prst="rtTriangle">
            <a:avLst/>
          </a:prstGeom>
          <a:solidFill>
            <a:srgbClr val="45A1A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719592"/>
            <a:ext cx="6656832" cy="835251"/>
          </a:xfrm>
        </p:spPr>
        <p:txBody>
          <a:bodyPr anchor="b">
            <a:noAutofit/>
          </a:bodyPr>
          <a:lstStyle>
            <a:lvl1pPr>
              <a:buNone/>
              <a:defRPr sz="2267" b="1" cap="all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2891472692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2747">
          <p15:clr>
            <a:srgbClr val="FBAE40"/>
          </p15:clr>
        </p15:guide>
        <p15:guide id="2" pos="304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3559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605506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781626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210024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005527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684658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7075536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073911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055005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631043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312672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792014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7554656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858649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058681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9687067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1708161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360893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987902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7793654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6328206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393722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980206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694341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637561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5064840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36502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51802899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994959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0874722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86541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0888452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4202639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99736878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1999740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8667734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1809982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0359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9380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6216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21259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8340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6852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60730263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55516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85701986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3552106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5855036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8425622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0337901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2517465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6896396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8343097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9BB8DABF-D717-48D3-B001-F43E3E17839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027804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BB8DABF-D717-48D3-B001-F43E3E178399}" type="slidenum">
              <a:rPr lang="es-419" smtClean="0"/>
              <a:t>‹Nº›</a:t>
            </a:fld>
            <a:endParaRPr lang="es-419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6548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BB8DABF-D717-48D3-B001-F43E3E178399}" type="slidenum">
              <a:rPr lang="es-419" smtClean="0"/>
              <a:t>‹Nº›</a:t>
            </a:fld>
            <a:endParaRPr lang="es-419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9664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62495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0807556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4138651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8864407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5756004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7395602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4914731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1166539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2466263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0775666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8610953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3823894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236909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0766990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5536859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1812636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7870855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8573236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533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85.xml"/><Relationship Id="rId39" Type="http://schemas.openxmlformats.org/officeDocument/2006/relationships/image" Target="../media/image1.svg"/><Relationship Id="rId21" Type="http://schemas.openxmlformats.org/officeDocument/2006/relationships/slideLayout" Target="../slideLayouts/slideLayout80.xml"/><Relationship Id="rId34" Type="http://schemas.openxmlformats.org/officeDocument/2006/relationships/slideLayout" Target="../slideLayouts/slideLayout93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92.xml"/><Relationship Id="rId38" Type="http://schemas.openxmlformats.org/officeDocument/2006/relationships/theme" Target="../theme/theme3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29" Type="http://schemas.openxmlformats.org/officeDocument/2006/relationships/slideLayout" Target="../slideLayouts/slideLayout88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91.xml"/><Relationship Id="rId37" Type="http://schemas.openxmlformats.org/officeDocument/2006/relationships/slideLayout" Target="../slideLayouts/slideLayout96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31" Type="http://schemas.openxmlformats.org/officeDocument/2006/relationships/slideLayout" Target="../slideLayouts/slideLayout90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slideLayout" Target="../slideLayouts/slideLayout86.xml"/><Relationship Id="rId30" Type="http://schemas.openxmlformats.org/officeDocument/2006/relationships/slideLayout" Target="../slideLayouts/slideLayout89.xml"/><Relationship Id="rId35" Type="http://schemas.openxmlformats.org/officeDocument/2006/relationships/slideLayout" Target="../slideLayouts/slideLayout94.xml"/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slideLayout" Target="../slideLayouts/slideLayout109.xml"/><Relationship Id="rId18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17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112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5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06.xml"/><Relationship Id="rId19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slideLayout" Target="../slideLayouts/slideLayout1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1808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12" r:id="rId4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159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3740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  <p:sldLayoutId id="2147483792" r:id="rId18"/>
    <p:sldLayoutId id="2147483793" r:id="rId19"/>
    <p:sldLayoutId id="2147483794" r:id="rId20"/>
    <p:sldLayoutId id="2147483795" r:id="rId21"/>
    <p:sldLayoutId id="2147483796" r:id="rId22"/>
    <p:sldLayoutId id="2147483797" r:id="rId23"/>
    <p:sldLayoutId id="2147483798" r:id="rId24"/>
    <p:sldLayoutId id="2147483799" r:id="rId25"/>
    <p:sldLayoutId id="2147483800" r:id="rId26"/>
    <p:sldLayoutId id="2147483801" r:id="rId27"/>
    <p:sldLayoutId id="2147483802" r:id="rId28"/>
    <p:sldLayoutId id="2147483803" r:id="rId29"/>
    <p:sldLayoutId id="2147483804" r:id="rId30"/>
    <p:sldLayoutId id="2147483805" r:id="rId31"/>
    <p:sldLayoutId id="2147483806" r:id="rId32"/>
    <p:sldLayoutId id="2147483807" r:id="rId33"/>
    <p:sldLayoutId id="2147483808" r:id="rId34"/>
    <p:sldLayoutId id="2147483809" r:id="rId35"/>
    <p:sldLayoutId id="2147483810" r:id="rId36"/>
    <p:sldLayoutId id="2147483811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712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0895F0-437F-C04D-F761-B930B48F3F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2" y="2249757"/>
            <a:ext cx="5427132" cy="1832105"/>
          </a:xfrm>
        </p:spPr>
        <p:txBody>
          <a:bodyPr/>
          <a:lstStyle/>
          <a:p>
            <a:r>
              <a:rPr lang="es-ES" sz="4400" dirty="0"/>
              <a:t>Gestionar retenciones de personas</a:t>
            </a:r>
            <a:endParaRPr lang="es-419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487BE4-8CF0-EF0F-8BC0-30DEFD1655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2" y="4116116"/>
            <a:ext cx="5427132" cy="324961"/>
          </a:xfrm>
        </p:spPr>
        <p:txBody>
          <a:bodyPr/>
          <a:lstStyle/>
          <a:p>
            <a:r>
              <a:rPr lang="es-ES" sz="2000" dirty="0"/>
              <a:t>Instructivo</a:t>
            </a:r>
            <a:endParaRPr lang="es-419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9DBE9F-506B-830B-EB58-AA18BE99A5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EB9F084-AD81-39F1-4FB8-0FE7E03C7C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9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58C800C7-51C3-6FCC-5469-F3967E3B2E1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41117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vertical 5">
            <a:extLst>
              <a:ext uri="{FF2B5EF4-FFF2-40B4-BE49-F238E27FC236}">
                <a16:creationId xmlns:a16="http://schemas.microsoft.com/office/drawing/2014/main" id="{E0616FCD-5956-0136-85D0-980F0F860B74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  <a:p>
            <a:endParaRPr lang="es-419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563315"/>
              </p:ext>
            </p:extLst>
          </p:nvPr>
        </p:nvGraphicFramePr>
        <p:xfrm>
          <a:off x="1268704" y="1186303"/>
          <a:ext cx="8916155" cy="3503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3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248">
                <a:tc>
                  <a:txBody>
                    <a:bodyPr/>
                    <a:lstStyle/>
                    <a:p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 sz="2000" b="0" kern="1200" noProof="0" dirty="0">
                        <a:solidFill>
                          <a:srgbClr val="414042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r>
                        <a:rPr lang="es-ES_tradnl" sz="2800" b="1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Overview</a:t>
                      </a:r>
                      <a:endParaRPr lang="es-ES_tradnl" sz="2800" b="1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0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Configuraciones</a:t>
                      </a:r>
                      <a:endParaRPr lang="es-ES_tradnl" sz="2800" b="1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937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Gestionar retenciones académicas a nivel de la persona</a:t>
                      </a: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  <a:endParaRPr lang="es-419" sz="2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Resumen</a:t>
                      </a: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873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58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endParaRPr lang="es-ES_tradn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0FFDD0-47DE-C691-E644-20A42868E6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9389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CAB30CFB-BE54-C6A7-25C9-4C8187E9495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Overview: </a:t>
            </a:r>
            <a:r>
              <a:rPr lang="es-ES_tradnl" b="1" dirty="0"/>
              <a:t>Mapa de </a:t>
            </a:r>
            <a:r>
              <a:rPr lang="es-ES_tradnl" dirty="0"/>
              <a:t>capacidades</a:t>
            </a:r>
            <a:endParaRPr lang="es-ES_tradnl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C55DAC-6DFE-887F-F870-0BEAB88ABB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0" t="3607" r="2974"/>
          <a:stretch>
            <a:fillRect/>
          </a:stretch>
        </p:blipFill>
        <p:spPr bwMode="auto">
          <a:xfrm>
            <a:off x="609601" y="1289303"/>
            <a:ext cx="11225781" cy="457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0539F8-8B8C-7385-48E4-64FF4AD001A0}"/>
              </a:ext>
            </a:extLst>
          </p:cNvPr>
          <p:cNvSpPr/>
          <p:nvPr/>
        </p:nvSpPr>
        <p:spPr>
          <a:xfrm>
            <a:off x="940308" y="4172916"/>
            <a:ext cx="4034028" cy="62179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761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3B7A307-5C70-7F03-3580-1D1730644EF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B4C967B7-80CD-9606-C5BF-C3BB1501B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Overview:</a:t>
            </a:r>
            <a:r>
              <a:rPr lang="es-ES_tradnl" b="0" dirty="0"/>
              <a:t> </a:t>
            </a:r>
            <a:r>
              <a:rPr lang="es-ES_tradnl" dirty="0"/>
              <a:t>Macroproceso Conducta Estudiantil</a:t>
            </a:r>
            <a:endParaRPr lang="es-419" dirty="0"/>
          </a:p>
        </p:txBody>
      </p:sp>
      <p:sp>
        <p:nvSpPr>
          <p:cNvPr id="7" name="Title 12">
            <a:extLst>
              <a:ext uri="{FF2B5EF4-FFF2-40B4-BE49-F238E27FC236}">
                <a16:creationId xmlns:a16="http://schemas.microsoft.com/office/drawing/2014/main" id="{8B20F06B-F250-FF66-14E6-D5380447899C}"/>
              </a:ext>
            </a:extLst>
          </p:cNvPr>
          <p:cNvSpPr txBox="1">
            <a:spLocks/>
          </p:cNvSpPr>
          <p:nvPr/>
        </p:nvSpPr>
        <p:spPr>
          <a:xfrm>
            <a:off x="1104900" y="685800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dirty="0"/>
          </a:p>
        </p:txBody>
      </p:sp>
      <p:sp>
        <p:nvSpPr>
          <p:cNvPr id="8" name="Marcador de texto 1">
            <a:extLst>
              <a:ext uri="{FF2B5EF4-FFF2-40B4-BE49-F238E27FC236}">
                <a16:creationId xmlns:a16="http://schemas.microsoft.com/office/drawing/2014/main" id="{09E58EE6-D825-A130-1509-A55AA970AB76}"/>
              </a:ext>
            </a:extLst>
          </p:cNvPr>
          <p:cNvSpPr txBox="1">
            <a:spLocks/>
          </p:cNvSpPr>
          <p:nvPr/>
        </p:nvSpPr>
        <p:spPr>
          <a:xfrm>
            <a:off x="1488700" y="1399408"/>
            <a:ext cx="8519392" cy="386080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CO" sz="2400" dirty="0">
                <a:solidFill>
                  <a:schemeClr val="tx1"/>
                </a:solidFill>
              </a:rPr>
              <a:t> </a:t>
            </a:r>
            <a:r>
              <a:rPr lang="es-419" sz="2400" b="1" dirty="0">
                <a:solidFill>
                  <a:srgbClr val="7030A0"/>
                </a:solidFill>
              </a:rPr>
              <a:t>Gestionar retenciones</a:t>
            </a:r>
          </a:p>
          <a:p>
            <a:pPr marL="0" lvl="0" indent="0">
              <a:buClr>
                <a:srgbClr val="0CB4B4"/>
              </a:buClr>
              <a:buNone/>
            </a:pPr>
            <a:endParaRPr lang="es-419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960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AC3D39-B163-095B-128B-225FF6EB7D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vert="horz" lIns="0" tIns="0" rIns="0" bIns="0" rtlCol="0">
            <a:noAutofit/>
          </a:bodyPr>
          <a:lstStyle/>
          <a:p>
            <a:pPr lvl="1" algn="just">
              <a:buClr>
                <a:srgbClr val="009999"/>
              </a:buClr>
            </a:pPr>
            <a:r>
              <a:rPr lang="es-ES_tradnl" sz="2200" dirty="0"/>
              <a:t>Una persona puede tener varias retenciones</a:t>
            </a:r>
          </a:p>
          <a:p>
            <a:pPr lvl="1" algn="just">
              <a:buClr>
                <a:srgbClr val="009999"/>
              </a:buClr>
            </a:pPr>
            <a:r>
              <a:rPr lang="es-ES_tradnl" sz="2200" dirty="0"/>
              <a:t>La institución puede asignar estas retenciones por ID</a:t>
            </a:r>
          </a:p>
          <a:p>
            <a:pPr lvl="1" algn="just">
              <a:buClr>
                <a:srgbClr val="009999"/>
              </a:buClr>
            </a:pPr>
            <a:r>
              <a:rPr lang="es-ES_tradnl" sz="2200" dirty="0"/>
              <a:t>Las retenciones pueden impedir que el estudiante acceda a algunos procesos académicos o financieros de la institución, como por ejemplo: Matrícula</a:t>
            </a:r>
          </a:p>
          <a:p>
            <a:pPr algn="just">
              <a:buClr>
                <a:srgbClr val="009999"/>
              </a:buClr>
            </a:pPr>
            <a:endParaRPr lang="es-419" sz="22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1663CF-BB03-0433-33C8-DE1D5A72F64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 err="1"/>
              <a:t>Overview</a:t>
            </a:r>
            <a:r>
              <a:rPr lang="es-ES_tradnl" sz="3200" dirty="0"/>
              <a:t>: Proceso g</a:t>
            </a:r>
            <a:r>
              <a:rPr lang="es-ES_tradnl" b="1" dirty="0"/>
              <a:t>estionar retenciones </a:t>
            </a:r>
            <a:r>
              <a:rPr lang="es-ES_tradnl" dirty="0"/>
              <a:t>de personas</a:t>
            </a:r>
            <a:endParaRPr lang="es-ES_tradnl" b="1" dirty="0"/>
          </a:p>
        </p:txBody>
      </p:sp>
    </p:spTree>
    <p:extLst>
      <p:ext uri="{BB962C8B-B14F-4D97-AF65-F5344CB8AC3E}">
        <p14:creationId xmlns:p14="http://schemas.microsoft.com/office/powerpoint/2010/main" val="1491982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BB8A4AC5-A8D2-A02D-0603-CAC43E80BE2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ES_tradnl" b="1" dirty="0"/>
              <a:t>Procedimiento- </a:t>
            </a:r>
            <a:r>
              <a:rPr lang="es-ES" sz="3200" dirty="0"/>
              <a:t>Gestionar retenciones de personas</a:t>
            </a:r>
            <a:endParaRPr lang="es-ES_tradnl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308FA0D-A03F-2CE6-B276-FEA3A994E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647950"/>
            <a:ext cx="7772400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0803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A6FC09E6-FA48-6B9A-6BA5-2F7C35DA2E4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ES_tradnl" b="1" dirty="0"/>
              <a:t>Región donde aplica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7F9A8D2-DB8A-9348-9C89-4582AE2EB894}"/>
              </a:ext>
            </a:extLst>
          </p:cNvPr>
          <p:cNvSpPr txBox="1"/>
          <p:nvPr/>
        </p:nvSpPr>
        <p:spPr>
          <a:xfrm>
            <a:off x="8409273" y="3182780"/>
            <a:ext cx="1537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/>
              <a:t>Todo LAC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D02A0A-9D16-2359-BC85-3132E7455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903" y="1463039"/>
            <a:ext cx="4839619" cy="483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0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9D48FE-BD35-8481-F167-11AE2A1E1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ES" dirty="0"/>
              <a:t>Configuraciones mínimas necesarias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001964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8A56832-6946-65DF-ED07-27462C304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960" y="1059780"/>
            <a:ext cx="10732799" cy="4893798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199D2796-7A92-72E2-CB43-F83909D3F70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09650" y="273347"/>
            <a:ext cx="10477497" cy="898555"/>
          </a:xfrm>
        </p:spPr>
        <p:txBody>
          <a:bodyPr/>
          <a:lstStyle/>
          <a:p>
            <a:r>
              <a:rPr lang="es-ES_tradnl" b="0" dirty="0"/>
              <a:t>Configuraciones</a:t>
            </a:r>
            <a:r>
              <a:rPr lang="es-ES_tradnl" dirty="0"/>
              <a:t>: Códigos de Retenciones</a:t>
            </a:r>
            <a:endParaRPr lang="es-ES_tradnl" b="1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CB35AAAE-3AA8-C2D2-5E66-4D53622CC156}"/>
              </a:ext>
            </a:extLst>
          </p:cNvPr>
          <p:cNvSpPr/>
          <p:nvPr/>
        </p:nvSpPr>
        <p:spPr>
          <a:xfrm>
            <a:off x="899960" y="4770633"/>
            <a:ext cx="9768039" cy="181401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dirty="0"/>
              <a:t>En STVHLDD están definidos los códigos de las retenciones que se pueden asignar a los estudiantes que se han  contemplado, indicando los procesos que se restringen si el estudiante tiene la retención vigente. Para insertar un código nuevo debe seguir el siguiente proceso: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Debe presionar insertar (+) para la creación del nuevo registro.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Insertar un código de 02 caracteres.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Asignar una descripción.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Complementar con los </a:t>
            </a:r>
            <a:r>
              <a:rPr lang="es-ES_tradnl" sz="1200" dirty="0" err="1"/>
              <a:t>checkbox</a:t>
            </a:r>
            <a:r>
              <a:rPr lang="es-ES_tradnl" sz="1200" dirty="0"/>
              <a:t> necesarios, según los procesos “bloqueados” a la persona si tuviese la retención 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Guardar los registros creados o modificados.</a:t>
            </a:r>
          </a:p>
        </p:txBody>
      </p:sp>
      <p:sp>
        <p:nvSpPr>
          <p:cNvPr id="6" name="Rectángulo redondeado 9">
            <a:extLst>
              <a:ext uri="{FF2B5EF4-FFF2-40B4-BE49-F238E27FC236}">
                <a16:creationId xmlns:a16="http://schemas.microsoft.com/office/drawing/2014/main" id="{711CA3AC-8672-749B-D10E-FDEEA208473E}"/>
              </a:ext>
            </a:extLst>
          </p:cNvPr>
          <p:cNvSpPr/>
          <p:nvPr/>
        </p:nvSpPr>
        <p:spPr>
          <a:xfrm>
            <a:off x="10545902" y="1218089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7" name="Rectángulo redondeado 9">
            <a:extLst>
              <a:ext uri="{FF2B5EF4-FFF2-40B4-BE49-F238E27FC236}">
                <a16:creationId xmlns:a16="http://schemas.microsoft.com/office/drawing/2014/main" id="{A3A51EA0-4A54-5FAE-1A48-2ED675988996}"/>
              </a:ext>
            </a:extLst>
          </p:cNvPr>
          <p:cNvSpPr/>
          <p:nvPr/>
        </p:nvSpPr>
        <p:spPr>
          <a:xfrm>
            <a:off x="2585309" y="1793882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8257B344-ABE6-F361-8620-EC5D7830ED8B}"/>
              </a:ext>
            </a:extLst>
          </p:cNvPr>
          <p:cNvSpPr/>
          <p:nvPr/>
        </p:nvSpPr>
        <p:spPr>
          <a:xfrm>
            <a:off x="1179372" y="1779682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BC004CE4-FB7E-1E40-F028-9EA0851F83CA}"/>
              </a:ext>
            </a:extLst>
          </p:cNvPr>
          <p:cNvSpPr/>
          <p:nvPr/>
        </p:nvSpPr>
        <p:spPr>
          <a:xfrm>
            <a:off x="7011265" y="1868745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92461E67-D0F3-18E0-0839-A8B4D641B8A5}"/>
              </a:ext>
            </a:extLst>
          </p:cNvPr>
          <p:cNvSpPr/>
          <p:nvPr/>
        </p:nvSpPr>
        <p:spPr>
          <a:xfrm>
            <a:off x="11394245" y="5389285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4466DF98-45E7-EFB4-230B-6E4227D90C70}"/>
              </a:ext>
            </a:extLst>
          </p:cNvPr>
          <p:cNvSpPr/>
          <p:nvPr/>
        </p:nvSpPr>
        <p:spPr>
          <a:xfrm rot="5400000">
            <a:off x="7043146" y="-2409092"/>
            <a:ext cx="196600" cy="8301191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1490D36-5839-77D1-FF22-2FDF47E3E016}"/>
              </a:ext>
            </a:extLst>
          </p:cNvPr>
          <p:cNvSpPr/>
          <p:nvPr/>
        </p:nvSpPr>
        <p:spPr>
          <a:xfrm>
            <a:off x="10836261" y="1368471"/>
            <a:ext cx="260363" cy="13648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E51B9D6-6638-3DA4-5150-E592B2E8E606}"/>
              </a:ext>
            </a:extLst>
          </p:cNvPr>
          <p:cNvSpPr/>
          <p:nvPr/>
        </p:nvSpPr>
        <p:spPr>
          <a:xfrm>
            <a:off x="919009" y="1643202"/>
            <a:ext cx="260363" cy="13648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0020040-DD57-35C9-343B-0207D2D86456}"/>
              </a:ext>
            </a:extLst>
          </p:cNvPr>
          <p:cNvSpPr/>
          <p:nvPr/>
        </p:nvSpPr>
        <p:spPr>
          <a:xfrm>
            <a:off x="1385158" y="1643202"/>
            <a:ext cx="1190485" cy="13648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F72ECAF-418E-8BAE-9F6B-BBF12E219156}"/>
              </a:ext>
            </a:extLst>
          </p:cNvPr>
          <p:cNvSpPr/>
          <p:nvPr/>
        </p:nvSpPr>
        <p:spPr>
          <a:xfrm>
            <a:off x="11096624" y="5657191"/>
            <a:ext cx="595242" cy="19660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78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B9E90-8913-D4BC-D851-CEDABD365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9C58C74C-1698-E008-12CF-B0457022C08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3BFB70E-1B10-7B81-9D86-F6C9D5118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73347"/>
            <a:ext cx="10477497" cy="898555"/>
          </a:xfrm>
        </p:spPr>
        <p:txBody>
          <a:bodyPr/>
          <a:lstStyle/>
          <a:p>
            <a:r>
              <a:rPr lang="es-ES_tradnl" b="0" dirty="0"/>
              <a:t>Configuraciones</a:t>
            </a:r>
            <a:r>
              <a:rPr lang="es-ES_tradnl" dirty="0"/>
              <a:t>: Códigos de Retenciones</a:t>
            </a:r>
            <a:endParaRPr lang="es-ES_tradnl" b="1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3CE55F75-6BDA-7395-B07D-4DD8AC24E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371600"/>
            <a:ext cx="10591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18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13D474-EF59-2D48-B7C0-03A42597CAB9}"/>
              </a:ext>
            </a:extLst>
          </p:cNvPr>
          <p:cNvSpPr txBox="1">
            <a:spLocks/>
          </p:cNvSpPr>
          <p:nvPr/>
        </p:nvSpPr>
        <p:spPr>
          <a:xfrm>
            <a:off x="475488" y="3026292"/>
            <a:ext cx="5407861" cy="17012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900"/>
              </a:spcBef>
              <a:buFontTx/>
              <a:buNone/>
              <a:defRPr lang="en-US" sz="1600" b="1" kern="1200" spc="100">
                <a:solidFill>
                  <a:schemeClr val="bg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600" b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914400" indent="0" algn="l" defTabSz="457200" rtl="0" eaLnBrk="1" latinLnBrk="0" hangingPunct="1">
              <a:spcBef>
                <a:spcPts val="900"/>
              </a:spcBef>
              <a:buFont typeface="Arial"/>
              <a:buNone/>
              <a:defRPr lang="en-US" sz="14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13716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2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18288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2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 sz="2133" dirty="0"/>
          </a:p>
        </p:txBody>
      </p:sp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F0B92568-548A-3FDF-0A9D-BB64AC473FF2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4A62112F-A3AA-3C4D-A267-97DF7410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Gestionar retención por persona</a:t>
            </a:r>
            <a:endParaRPr lang="es-ES_tradn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194659-2111-65DA-CF8C-F931670E70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280198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5CBEB-573F-8D98-203B-22C816DC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0950FA21-9215-5D8C-F54A-633C16719D0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4CD3CF6-3CC6-02CA-6324-3CE2C1F84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143" y="431723"/>
            <a:ext cx="10477497" cy="898555"/>
          </a:xfrm>
        </p:spPr>
        <p:txBody>
          <a:bodyPr/>
          <a:lstStyle/>
          <a:p>
            <a:r>
              <a:rPr lang="es-ES_tradnl" dirty="0"/>
              <a:t>Retenciones académicas: </a:t>
            </a:r>
            <a:r>
              <a:rPr lang="es-ES_tradnl" b="1" dirty="0"/>
              <a:t>Por persona (SOAHOLD)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A15E960F-4E91-3D23-2E04-D033EDE240A1}"/>
              </a:ext>
            </a:extLst>
          </p:cNvPr>
          <p:cNvSpPr/>
          <p:nvPr/>
        </p:nvSpPr>
        <p:spPr>
          <a:xfrm>
            <a:off x="971142" y="4232322"/>
            <a:ext cx="10477498" cy="854114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419" sz="1200" dirty="0"/>
              <a:t>ID: código identificador del alumno del alumno al que desea asignar la retención.</a:t>
            </a:r>
          </a:p>
          <a:p>
            <a:pPr marL="228600" indent="-228600">
              <a:buFont typeface="+mj-lt"/>
              <a:buAutoNum type="arabicPeriod"/>
            </a:pPr>
            <a:r>
              <a:rPr lang="es-CL" sz="1200" dirty="0"/>
              <a:t>Hacer clic en el botón Ir.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3ECE140-EDA5-8D28-13D0-575CBBE8E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958" y="2336421"/>
            <a:ext cx="10325100" cy="747884"/>
          </a:xfrm>
          <a:prstGeom prst="rect">
            <a:avLst/>
          </a:prstGeom>
        </p:spPr>
      </p:pic>
      <p:sp>
        <p:nvSpPr>
          <p:cNvPr id="4" name="Rectángulo redondeado 9">
            <a:extLst>
              <a:ext uri="{FF2B5EF4-FFF2-40B4-BE49-F238E27FC236}">
                <a16:creationId xmlns:a16="http://schemas.microsoft.com/office/drawing/2014/main" id="{785E5B97-D6B4-1701-B0FA-D0B7155C49AF}"/>
              </a:ext>
            </a:extLst>
          </p:cNvPr>
          <p:cNvSpPr/>
          <p:nvPr/>
        </p:nvSpPr>
        <p:spPr>
          <a:xfrm>
            <a:off x="1309580" y="2490992"/>
            <a:ext cx="188773" cy="15038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9">
            <a:extLst>
              <a:ext uri="{FF2B5EF4-FFF2-40B4-BE49-F238E27FC236}">
                <a16:creationId xmlns:a16="http://schemas.microsoft.com/office/drawing/2014/main" id="{926857EB-0056-2317-9BC9-742382082FA7}"/>
              </a:ext>
            </a:extLst>
          </p:cNvPr>
          <p:cNvSpPr/>
          <p:nvPr/>
        </p:nvSpPr>
        <p:spPr>
          <a:xfrm>
            <a:off x="11217042" y="2781300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F01AF18-4A2A-78C2-1EE6-C5D5F917668F}"/>
              </a:ext>
            </a:extLst>
          </p:cNvPr>
          <p:cNvSpPr/>
          <p:nvPr/>
        </p:nvSpPr>
        <p:spPr>
          <a:xfrm>
            <a:off x="1539861" y="2641374"/>
            <a:ext cx="2289189" cy="139926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A51E656-9892-FB4C-DAAB-9A07B8EA7761}"/>
              </a:ext>
            </a:extLst>
          </p:cNvPr>
          <p:cNvSpPr/>
          <p:nvPr/>
        </p:nvSpPr>
        <p:spPr>
          <a:xfrm>
            <a:off x="10956679" y="2644820"/>
            <a:ext cx="301871" cy="13648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268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AAD99AF-D020-A3BB-9333-DC5948BE8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914" y="1175262"/>
            <a:ext cx="10291398" cy="4681809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4" y="354479"/>
            <a:ext cx="10477497" cy="898555"/>
          </a:xfrm>
        </p:spPr>
        <p:txBody>
          <a:bodyPr/>
          <a:lstStyle/>
          <a:p>
            <a:r>
              <a:rPr lang="es-ES_tradnl" dirty="0"/>
              <a:t>Retenciones académicas: </a:t>
            </a:r>
            <a:r>
              <a:rPr lang="es-ES_tradnl" b="1" dirty="0"/>
              <a:t>Por persona (SOAHOLD)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9A31080-B05A-6571-4245-2226C99A7160}"/>
              </a:ext>
            </a:extLst>
          </p:cNvPr>
          <p:cNvSpPr txBox="1"/>
          <p:nvPr/>
        </p:nvSpPr>
        <p:spPr>
          <a:xfrm>
            <a:off x="1405333" y="2098302"/>
            <a:ext cx="301753" cy="215444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dirty="0"/>
              <a:t>3</a:t>
            </a:r>
            <a:endParaRPr lang="en-U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53180C7-F875-CE1E-530D-9A173D225524}"/>
              </a:ext>
            </a:extLst>
          </p:cNvPr>
          <p:cNvSpPr txBox="1"/>
          <p:nvPr/>
        </p:nvSpPr>
        <p:spPr>
          <a:xfrm>
            <a:off x="3612701" y="2098302"/>
            <a:ext cx="301752" cy="184955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dirty="0"/>
              <a:t>4</a:t>
            </a:r>
            <a:endParaRPr lang="en-US" dirty="0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1C23CED-A0D2-0921-6B06-67777090C20D}"/>
              </a:ext>
            </a:extLst>
          </p:cNvPr>
          <p:cNvSpPr/>
          <p:nvPr/>
        </p:nvSpPr>
        <p:spPr>
          <a:xfrm>
            <a:off x="971143" y="3621024"/>
            <a:ext cx="10477498" cy="1639464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 startAt="3"/>
            </a:pPr>
            <a:r>
              <a:rPr lang="es-419" sz="1200" dirty="0"/>
              <a:t>Seleccione o digite el código de la retención que desea asignar al estudiante. La descripción se desplegará automáticamente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s-CL" sz="1200" dirty="0"/>
              <a:t>Si lo desea, puede ingresar una breve descripción del por qué se está asignando la retención (30 caracteres máximo) en el campo Razón.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s-CL" sz="1200" dirty="0"/>
              <a:t>Por defecto el sistema coloca como rango de fechas en los que la retención estará activa para el estudiante desde la fecha de ingreso de la retención hasta el 31-dic-2099. Modifique los valores si lo considera necesario. 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s-CO" sz="1200" b="1" dirty="0"/>
              <a:t>Marque el indicador de liberación si solo el usuario que creó la retención puede liberarla.</a:t>
            </a:r>
            <a:r>
              <a:rPr lang="es-CO" sz="1200" dirty="0"/>
              <a:t> Si no se marca, cualquier persona con acceso a la página podrá liberar la retención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s-CL" sz="1200" dirty="0"/>
              <a:t>Presione el botón Guardar.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9A35B8D-F1B6-A75B-67E1-C32E0773BF30}"/>
              </a:ext>
            </a:extLst>
          </p:cNvPr>
          <p:cNvSpPr txBox="1"/>
          <p:nvPr/>
        </p:nvSpPr>
        <p:spPr>
          <a:xfrm>
            <a:off x="6383613" y="2113546"/>
            <a:ext cx="276225" cy="184955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5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45FBFC9-CDCE-564A-031D-1695A3EBC17C}"/>
              </a:ext>
            </a:extLst>
          </p:cNvPr>
          <p:cNvSpPr/>
          <p:nvPr/>
        </p:nvSpPr>
        <p:spPr>
          <a:xfrm>
            <a:off x="1749904" y="1984738"/>
            <a:ext cx="621821" cy="18495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E5885C9-BA23-03F7-5324-688C4794CF44}"/>
              </a:ext>
            </a:extLst>
          </p:cNvPr>
          <p:cNvSpPr txBox="1"/>
          <p:nvPr/>
        </p:nvSpPr>
        <p:spPr>
          <a:xfrm>
            <a:off x="10549186" y="5468036"/>
            <a:ext cx="304596" cy="168982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7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BEA8EB8-B44E-78DC-ACEA-F872BC12A93D}"/>
              </a:ext>
            </a:extLst>
          </p:cNvPr>
          <p:cNvSpPr/>
          <p:nvPr/>
        </p:nvSpPr>
        <p:spPr>
          <a:xfrm>
            <a:off x="3914453" y="1951447"/>
            <a:ext cx="1429072" cy="18495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693C39E-70B6-7610-43CE-E863AAE65DFB}"/>
              </a:ext>
            </a:extLst>
          </p:cNvPr>
          <p:cNvSpPr/>
          <p:nvPr/>
        </p:nvSpPr>
        <p:spPr>
          <a:xfrm>
            <a:off x="6731479" y="1797776"/>
            <a:ext cx="1164746" cy="33862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12E1673-C26F-AD56-652F-F7F3FC11AC8C}"/>
              </a:ext>
            </a:extLst>
          </p:cNvPr>
          <p:cNvSpPr/>
          <p:nvPr/>
        </p:nvSpPr>
        <p:spPr>
          <a:xfrm>
            <a:off x="11039015" y="5552527"/>
            <a:ext cx="552041" cy="17543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D8A523B-4458-E97A-2FB3-54A36D655E18}"/>
              </a:ext>
            </a:extLst>
          </p:cNvPr>
          <p:cNvSpPr txBox="1"/>
          <p:nvPr/>
        </p:nvSpPr>
        <p:spPr>
          <a:xfrm>
            <a:off x="5656090" y="2146160"/>
            <a:ext cx="304596" cy="168982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6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B6BA06D-07B4-58F3-CE78-E4C104D074D7}"/>
              </a:ext>
            </a:extLst>
          </p:cNvPr>
          <p:cNvSpPr/>
          <p:nvPr/>
        </p:nvSpPr>
        <p:spPr>
          <a:xfrm>
            <a:off x="5588175" y="1951447"/>
            <a:ext cx="552041" cy="17543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937515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C51E405-40EC-8E56-0383-CCB14F9F8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1162759"/>
            <a:ext cx="10291398" cy="4681809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4" y="354479"/>
            <a:ext cx="10477497" cy="898555"/>
          </a:xfrm>
        </p:spPr>
        <p:txBody>
          <a:bodyPr/>
          <a:lstStyle/>
          <a:p>
            <a:r>
              <a:rPr lang="es-ES_tradnl" dirty="0"/>
              <a:t>Retenciones académicas: </a:t>
            </a:r>
            <a:r>
              <a:rPr lang="es-ES_tradnl" b="1" dirty="0"/>
              <a:t>Por persona (SOAHOLD)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1C23CED-A0D2-0921-6B06-67777090C20D}"/>
              </a:ext>
            </a:extLst>
          </p:cNvPr>
          <p:cNvSpPr/>
          <p:nvPr/>
        </p:nvSpPr>
        <p:spPr>
          <a:xfrm>
            <a:off x="1035764" y="4536258"/>
            <a:ext cx="10477498" cy="1064442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/>
              <a:t>Al guardar la información, el sistema mostrará el usuario que asignó la información.</a:t>
            </a:r>
          </a:p>
          <a:p>
            <a:r>
              <a:rPr lang="es-CL" sz="1200" dirty="0"/>
              <a:t>Si el usuario que asigna la retención será el único que puede modificarla/eliminarla, active el campo Indicador de liberación, de lo contrario no lo active y guarde la información.</a:t>
            </a:r>
          </a:p>
          <a:p>
            <a:r>
              <a:rPr lang="es-CL" sz="1200" dirty="0"/>
              <a:t>Si desea asignar una nueva retención al estudiante, haga clic en la opción “+” y repita los pasos descritos en la diapositiva anterior (pasos 3 al 6).</a:t>
            </a:r>
          </a:p>
          <a:p>
            <a:r>
              <a:rPr lang="es-CL" sz="1200" dirty="0"/>
              <a:t>Si desea eliminar una retención, presione la opción “–”.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C79F63A-8E7F-FD9B-07AC-19DA07C27390}"/>
              </a:ext>
            </a:extLst>
          </p:cNvPr>
          <p:cNvSpPr/>
          <p:nvPr/>
        </p:nvSpPr>
        <p:spPr>
          <a:xfrm>
            <a:off x="10696574" y="1619249"/>
            <a:ext cx="381001" cy="17145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3762531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062C6948-6E1F-E987-DFAD-C97B24E98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068" y="1628156"/>
            <a:ext cx="10308336" cy="4470891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3" y="431723"/>
            <a:ext cx="10477497" cy="898555"/>
          </a:xfrm>
        </p:spPr>
        <p:txBody>
          <a:bodyPr/>
          <a:lstStyle/>
          <a:p>
            <a:r>
              <a:rPr lang="es-ES_tradnl" dirty="0"/>
              <a:t>Retenciones académicas: </a:t>
            </a:r>
            <a:r>
              <a:rPr lang="es-ES_tradnl" b="1" dirty="0"/>
              <a:t>Asignación masiva (SOAHOLD)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1C23CED-A0D2-0921-6B06-67777090C20D}"/>
              </a:ext>
            </a:extLst>
          </p:cNvPr>
          <p:cNvSpPr/>
          <p:nvPr/>
        </p:nvSpPr>
        <p:spPr>
          <a:xfrm>
            <a:off x="971142" y="4232322"/>
            <a:ext cx="10477498" cy="854114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419" sz="1200" dirty="0"/>
              <a:t>ID: código identificador del tipo de retención que se va a liberar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dirty="0"/>
              <a:t>Descripción: ingrese una descripción de máximo 30 </a:t>
            </a:r>
            <a:r>
              <a:rPr lang="es-419" sz="1200" dirty="0" err="1"/>
              <a:t>carácteres</a:t>
            </a:r>
            <a:endParaRPr lang="es-419" sz="1200" dirty="0"/>
          </a:p>
          <a:p>
            <a:pPr marL="228600" indent="-228600">
              <a:buFont typeface="+mj-lt"/>
              <a:buAutoNum type="arabicPeriod"/>
            </a:pPr>
            <a:r>
              <a:rPr lang="es-CL" sz="1200" dirty="0"/>
              <a:t>Guarde la información</a:t>
            </a:r>
          </a:p>
        </p:txBody>
      </p:sp>
      <p:sp>
        <p:nvSpPr>
          <p:cNvPr id="4" name="Rectángulo redondeado 9">
            <a:extLst>
              <a:ext uri="{FF2B5EF4-FFF2-40B4-BE49-F238E27FC236}">
                <a16:creationId xmlns:a16="http://schemas.microsoft.com/office/drawing/2014/main" id="{96FCD0BD-755B-548F-4F88-1BD2D376CC53}"/>
              </a:ext>
            </a:extLst>
          </p:cNvPr>
          <p:cNvSpPr/>
          <p:nvPr/>
        </p:nvSpPr>
        <p:spPr>
          <a:xfrm>
            <a:off x="876755" y="2289824"/>
            <a:ext cx="188773" cy="15038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9">
            <a:extLst>
              <a:ext uri="{FF2B5EF4-FFF2-40B4-BE49-F238E27FC236}">
                <a16:creationId xmlns:a16="http://schemas.microsoft.com/office/drawing/2014/main" id="{FF5CCB3C-AF18-C7E6-E88A-C4DBB91F6523}"/>
              </a:ext>
            </a:extLst>
          </p:cNvPr>
          <p:cNvSpPr/>
          <p:nvPr/>
        </p:nvSpPr>
        <p:spPr>
          <a:xfrm>
            <a:off x="3895344" y="2332262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E2FD0E9-898E-8244-E6AD-C6B72A2283F7}"/>
              </a:ext>
            </a:extLst>
          </p:cNvPr>
          <p:cNvSpPr/>
          <p:nvPr/>
        </p:nvSpPr>
        <p:spPr>
          <a:xfrm>
            <a:off x="1169068" y="2332263"/>
            <a:ext cx="1281524" cy="15038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3B8B896-7044-122A-CA7F-86EDC7C69BC1}"/>
              </a:ext>
            </a:extLst>
          </p:cNvPr>
          <p:cNvSpPr/>
          <p:nvPr/>
        </p:nvSpPr>
        <p:spPr>
          <a:xfrm>
            <a:off x="3193423" y="2332262"/>
            <a:ext cx="701921" cy="15038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F462E35-1921-93D8-0B2E-F9C9DB44B7AA}"/>
              </a:ext>
            </a:extLst>
          </p:cNvPr>
          <p:cNvSpPr txBox="1"/>
          <p:nvPr/>
        </p:nvSpPr>
        <p:spPr>
          <a:xfrm>
            <a:off x="897990" y="108311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CO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1. Validación de retención automática TTVRHLD</a:t>
            </a:r>
          </a:p>
        </p:txBody>
      </p:sp>
    </p:spTree>
    <p:extLst>
      <p:ext uri="{BB962C8B-B14F-4D97-AF65-F5344CB8AC3E}">
        <p14:creationId xmlns:p14="http://schemas.microsoft.com/office/powerpoint/2010/main" val="422716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7EACA-9FA7-2DA5-6D49-BEB8474E8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95F1BC-BF30-C1D4-C3E4-756829EC7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78" y="1526474"/>
            <a:ext cx="11021568" cy="4748195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D1CE0405-1C7D-8ABF-8231-7D73E7E903C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145005" y="431723"/>
            <a:ext cx="609600" cy="5486399"/>
          </a:xfrm>
        </p:spPr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AA7AF76-464B-3AA1-790F-06C90F39D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143" y="431723"/>
            <a:ext cx="10477497" cy="898555"/>
          </a:xfrm>
        </p:spPr>
        <p:txBody>
          <a:bodyPr/>
          <a:lstStyle/>
          <a:p>
            <a:r>
              <a:rPr lang="es-ES_tradnl" dirty="0"/>
              <a:t>Retenciones académicas: </a:t>
            </a:r>
            <a:r>
              <a:rPr lang="es-ES_tradnl" b="1" dirty="0"/>
              <a:t>Asignación masiva (SOAHOLD)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48CEF06-1CF7-2822-DA05-C9554ED522BB}"/>
              </a:ext>
            </a:extLst>
          </p:cNvPr>
          <p:cNvSpPr/>
          <p:nvPr/>
        </p:nvSpPr>
        <p:spPr>
          <a:xfrm>
            <a:off x="971142" y="4232322"/>
            <a:ext cx="10477498" cy="1244934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419" sz="1200" dirty="0"/>
              <a:t>Código de la regla: seleccione la regla creada en la página TTVRHLD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dirty="0"/>
              <a:t>Tipo de Retención: seleccione la retención que se puede liberar o asignar masivamente.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dirty="0"/>
              <a:t>Indique si la retención se puede liberar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dirty="0"/>
              <a:t>Indique el originador que quedara en SOAHOLD, al asignar la retención (Unidad Académica)</a:t>
            </a:r>
          </a:p>
          <a:p>
            <a:pPr marL="228600" indent="-228600">
              <a:buFont typeface="+mj-lt"/>
              <a:buAutoNum type="arabicPeriod"/>
            </a:pPr>
            <a:r>
              <a:rPr lang="es-CL" sz="1200" dirty="0"/>
              <a:t>Guarde la información</a:t>
            </a:r>
          </a:p>
        </p:txBody>
      </p:sp>
      <p:sp>
        <p:nvSpPr>
          <p:cNvPr id="4" name="Rectángulo redondeado 9">
            <a:extLst>
              <a:ext uri="{FF2B5EF4-FFF2-40B4-BE49-F238E27FC236}">
                <a16:creationId xmlns:a16="http://schemas.microsoft.com/office/drawing/2014/main" id="{FD8416B2-C26E-F09A-151A-88F0A68C82E4}"/>
              </a:ext>
            </a:extLst>
          </p:cNvPr>
          <p:cNvSpPr/>
          <p:nvPr/>
        </p:nvSpPr>
        <p:spPr>
          <a:xfrm>
            <a:off x="782369" y="1936216"/>
            <a:ext cx="188773" cy="15038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9">
            <a:extLst>
              <a:ext uri="{FF2B5EF4-FFF2-40B4-BE49-F238E27FC236}">
                <a16:creationId xmlns:a16="http://schemas.microsoft.com/office/drawing/2014/main" id="{DE44AB25-783B-8B00-6B31-3BB5FD2BB055}"/>
              </a:ext>
            </a:extLst>
          </p:cNvPr>
          <p:cNvSpPr/>
          <p:nvPr/>
        </p:nvSpPr>
        <p:spPr>
          <a:xfrm>
            <a:off x="1105631" y="2310635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7C4532-42A7-93C7-7E24-A327ACF1B102}"/>
              </a:ext>
            </a:extLst>
          </p:cNvPr>
          <p:cNvSpPr/>
          <p:nvPr/>
        </p:nvSpPr>
        <p:spPr>
          <a:xfrm>
            <a:off x="1091805" y="1928314"/>
            <a:ext cx="1925715" cy="15038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1DF87D-C62E-A4A0-51CF-A0F66247FB6F}"/>
              </a:ext>
            </a:extLst>
          </p:cNvPr>
          <p:cNvSpPr/>
          <p:nvPr/>
        </p:nvSpPr>
        <p:spPr>
          <a:xfrm>
            <a:off x="2169295" y="2324535"/>
            <a:ext cx="1396865" cy="2186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01883E9-C4D0-A95C-54A1-490B182FBF1D}"/>
              </a:ext>
            </a:extLst>
          </p:cNvPr>
          <p:cNvSpPr txBox="1"/>
          <p:nvPr/>
        </p:nvSpPr>
        <p:spPr>
          <a:xfrm>
            <a:off x="897990" y="108311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CO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2. Regla de retenciones automáticas TGAHOLD</a:t>
            </a:r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A253C20D-4EC1-3B66-FD14-A39AEA4AED86}"/>
              </a:ext>
            </a:extLst>
          </p:cNvPr>
          <p:cNvSpPr/>
          <p:nvPr/>
        </p:nvSpPr>
        <p:spPr>
          <a:xfrm>
            <a:off x="1107509" y="2529257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8A6837E-194B-E8BC-8E0F-C08E61233A74}"/>
              </a:ext>
            </a:extLst>
          </p:cNvPr>
          <p:cNvSpPr/>
          <p:nvPr/>
        </p:nvSpPr>
        <p:spPr>
          <a:xfrm>
            <a:off x="2171173" y="2543157"/>
            <a:ext cx="1396865" cy="2186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redondeado 9">
            <a:extLst>
              <a:ext uri="{FF2B5EF4-FFF2-40B4-BE49-F238E27FC236}">
                <a16:creationId xmlns:a16="http://schemas.microsoft.com/office/drawing/2014/main" id="{AA859E3A-1BFC-4344-6332-B155371E374C}"/>
              </a:ext>
            </a:extLst>
          </p:cNvPr>
          <p:cNvSpPr/>
          <p:nvPr/>
        </p:nvSpPr>
        <p:spPr>
          <a:xfrm>
            <a:off x="6404330" y="2551465"/>
            <a:ext cx="380573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98126EE-40E5-6AF5-E71E-BCAC8FE5F996}"/>
              </a:ext>
            </a:extLst>
          </p:cNvPr>
          <p:cNvSpPr/>
          <p:nvPr/>
        </p:nvSpPr>
        <p:spPr>
          <a:xfrm>
            <a:off x="6969378" y="2507500"/>
            <a:ext cx="2041806" cy="2186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1434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4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7880F-59D9-43F2-855B-417E63C1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08D9A986-950E-A881-63DE-EF4FA5D7D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580" y="1618488"/>
            <a:ext cx="10737511" cy="4704319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3A34EB8F-29FA-AA7C-C9B2-3FE173D8224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74C8BC2-BA4B-2C34-A423-4E4DD6EE1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143" y="431723"/>
            <a:ext cx="10477497" cy="898555"/>
          </a:xfrm>
        </p:spPr>
        <p:txBody>
          <a:bodyPr/>
          <a:lstStyle/>
          <a:p>
            <a:r>
              <a:rPr lang="es-ES_tradnl" dirty="0"/>
              <a:t>Retenciones académicas: </a:t>
            </a:r>
            <a:r>
              <a:rPr lang="es-ES_tradnl" b="1" dirty="0"/>
              <a:t>Asignación masiva (SOAHOLD)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51907F18-5125-4236-5299-CFA7E1EE574B}"/>
              </a:ext>
            </a:extLst>
          </p:cNvPr>
          <p:cNvSpPr/>
          <p:nvPr/>
        </p:nvSpPr>
        <p:spPr>
          <a:xfrm>
            <a:off x="1073058" y="5468693"/>
            <a:ext cx="10477498" cy="854114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/>
              <a:t>Este proceso se puede ejecutar solo con selección de población.</a:t>
            </a:r>
          </a:p>
          <a:p>
            <a:r>
              <a:rPr lang="es-CL" sz="1200" dirty="0"/>
              <a:t>05: Código de la regla de retención: depende de lo configurado en TGAHOLD</a:t>
            </a:r>
          </a:p>
          <a:p>
            <a:r>
              <a:rPr lang="es-CL" sz="1200" dirty="0"/>
              <a:t>06: Modo de aplicar: A para asignar y R para liberar</a:t>
            </a:r>
          </a:p>
          <a:p>
            <a:r>
              <a:rPr lang="es-CL" sz="1200" dirty="0"/>
              <a:t>07: Modo de ejecución: U para actualizar, A: para auditar, no realiza ninguna acción.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588B7B-FA32-74EB-AEF6-A69C039A2AF4}"/>
              </a:ext>
            </a:extLst>
          </p:cNvPr>
          <p:cNvSpPr txBox="1"/>
          <p:nvPr/>
        </p:nvSpPr>
        <p:spPr>
          <a:xfrm>
            <a:off x="897990" y="108311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CO" b="1" dirty="0">
                <a:solidFill>
                  <a:srgbClr val="000000"/>
                </a:solidFill>
                <a:latin typeface="Roboto" panose="02000000000000000000" pitchFamily="2" charset="0"/>
              </a:rPr>
              <a:t>3</a:t>
            </a:r>
            <a:r>
              <a:rPr lang="es-CO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 TGPHOLD </a:t>
            </a:r>
            <a:r>
              <a:rPr lang="es-CO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Proc</a:t>
            </a:r>
            <a:r>
              <a:rPr lang="es-CO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de </a:t>
            </a:r>
            <a:r>
              <a:rPr lang="es-CO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liber</a:t>
            </a:r>
            <a:r>
              <a:rPr lang="es-CO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de </a:t>
            </a:r>
            <a:r>
              <a:rPr lang="es-CO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retenc</a:t>
            </a:r>
            <a:r>
              <a:rPr lang="es-CO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s-CO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autom</a:t>
            </a:r>
            <a:endParaRPr lang="es-CO" b="1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919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dirty="0"/>
              <a:t>Gestionar </a:t>
            </a:r>
            <a:r>
              <a:rPr lang="es-ES" dirty="0"/>
              <a:t>retenciones de personas</a:t>
            </a:r>
            <a:endParaRPr lang="es-419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610FCC-0713-53EF-ADB4-AA53CA5BA3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623880"/>
            <a:ext cx="10597474" cy="4358629"/>
          </a:xfrm>
        </p:spPr>
        <p:txBody>
          <a:bodyPr/>
          <a:lstStyle/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1800" dirty="0"/>
              <a:t>Una persona puede tener diversas retenciones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1800" dirty="0"/>
              <a:t>La institución crea los tipos de retención en STVHLDD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1800" dirty="0"/>
              <a:t>La institución asigna la retención a la persona en SOAHOLD de forma individual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1800" dirty="0"/>
              <a:t>La institución puede asignar las retenciones de forma masiva por TGPHOLD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1800" dirty="0"/>
              <a:t>Se sugiere no eliminar las retenciones, sino asignarles una fecha de fin para que se tenga el registro de todas las retenciones que ha tenido una persona.</a:t>
            </a:r>
          </a:p>
          <a:p>
            <a:endParaRPr lang="es-419" sz="1600" dirty="0"/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957F28A3-0E5D-037E-7A5A-BBEFD092D364}"/>
              </a:ext>
            </a:extLst>
          </p:cNvPr>
          <p:cNvSpPr txBox="1">
            <a:spLocks/>
          </p:cNvSpPr>
          <p:nvPr/>
        </p:nvSpPr>
        <p:spPr>
          <a:xfrm>
            <a:off x="955644" y="-201252"/>
            <a:ext cx="7092820" cy="1628192"/>
          </a:xfrm>
          <a:prstGeom prst="rect">
            <a:avLst/>
          </a:prstGeom>
        </p:spPr>
        <p:txBody>
          <a:bodyPr vert="horz" lIns="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RESUMEN</a:t>
            </a:r>
          </a:p>
        </p:txBody>
      </p:sp>
    </p:spTree>
    <p:extLst>
      <p:ext uri="{BB962C8B-B14F-4D97-AF65-F5344CB8AC3E}">
        <p14:creationId xmlns:p14="http://schemas.microsoft.com/office/powerpoint/2010/main" val="3051775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4B0D3FF-2F8B-8FC5-7AC2-84CC61ED8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noProof="0" dirty="0"/>
              <a:t>MUCHAS 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401A9-DE11-DDDF-9F42-FAAE12FE6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9043" y="4584074"/>
            <a:ext cx="10363202" cy="324961"/>
          </a:xfrm>
        </p:spPr>
        <p:txBody>
          <a:bodyPr/>
          <a:lstStyle/>
          <a:p>
            <a:pPr algn="l"/>
            <a:r>
              <a:rPr lang="es-419" sz="2000" noProof="0" dirty="0"/>
              <a:t>Consultor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490" y="4609395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543" y="4985033"/>
            <a:ext cx="274320" cy="274320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88780A86-7F59-00BD-9B1E-C1DFAC865719}"/>
              </a:ext>
            </a:extLst>
          </p:cNvPr>
          <p:cNvSpPr txBox="1">
            <a:spLocks/>
          </p:cNvSpPr>
          <p:nvPr/>
        </p:nvSpPr>
        <p:spPr>
          <a:xfrm>
            <a:off x="1229043" y="4959712"/>
            <a:ext cx="5334046" cy="32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noProof="0" dirty="0"/>
              <a:t>Correo</a:t>
            </a:r>
          </a:p>
        </p:txBody>
      </p:sp>
    </p:spTree>
    <p:extLst>
      <p:ext uri="{BB962C8B-B14F-4D97-AF65-F5344CB8AC3E}">
        <p14:creationId xmlns:p14="http://schemas.microsoft.com/office/powerpoint/2010/main" val="149292278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_April 2025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_April 2025" id="{26EA1B6D-013D-4CE8-B6BA-844450BD34AD}" vid="{76DDA76C-B383-44A4-B33A-CC50C6670FCD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" id="{A599B5A2-9FB4-43D0-8DD2-7AE7CFBE6EE5}" vid="{5FE6AC23-0F88-4612-B1AD-D84E4AF262DE}"/>
    </a:ext>
  </a:extLst>
</a:theme>
</file>

<file path=ppt/theme/theme3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Ellucian_April 2025</Template>
  <TotalTime>532</TotalTime>
  <Words>820</Words>
  <Application>Microsoft Office PowerPoint</Application>
  <PresentationFormat>Panorámica</PresentationFormat>
  <Paragraphs>120</Paragraphs>
  <Slides>20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20</vt:i4>
      </vt:variant>
    </vt:vector>
  </HeadingPairs>
  <TitlesOfParts>
    <vt:vector size="31" baseType="lpstr">
      <vt:lpstr>Aptos</vt:lpstr>
      <vt:lpstr>Aptos Display</vt:lpstr>
      <vt:lpstr>Arial</vt:lpstr>
      <vt:lpstr>Courier New</vt:lpstr>
      <vt:lpstr>Helvetica Neue</vt:lpstr>
      <vt:lpstr>Roboto</vt:lpstr>
      <vt:lpstr>Wingdings</vt:lpstr>
      <vt:lpstr>Ellucian_April 2025</vt:lpstr>
      <vt:lpstr>Ellucian Blank Layouts</vt:lpstr>
      <vt:lpstr>Ellucian Main Layouts</vt:lpstr>
      <vt:lpstr>1_Ellucian Blank Layouts</vt:lpstr>
      <vt:lpstr>Presentación de PowerPoint</vt:lpstr>
      <vt:lpstr>Presentación de PowerPoint</vt:lpstr>
      <vt:lpstr>Overview</vt:lpstr>
      <vt:lpstr>Overview: Mapa de capacidades</vt:lpstr>
      <vt:lpstr>Overview: Macroproceso Conducta Estudiantil</vt:lpstr>
      <vt:lpstr>Overview: Proceso gestionar retenciones de personas</vt:lpstr>
      <vt:lpstr>Overview: Procedimiento- Gestionar retenciones de personas</vt:lpstr>
      <vt:lpstr>Overview: Región donde aplica</vt:lpstr>
      <vt:lpstr>Configuraciones</vt:lpstr>
      <vt:lpstr>Configuraciones: Códigos de Retenciones</vt:lpstr>
      <vt:lpstr>Configuraciones: Códigos de Retenciones</vt:lpstr>
      <vt:lpstr>Gestionar retención por persona</vt:lpstr>
      <vt:lpstr>Retenciones académicas: Por persona (SOAHOLD)</vt:lpstr>
      <vt:lpstr>Retenciones académicas: Por persona (SOAHOLD)</vt:lpstr>
      <vt:lpstr>Retenciones académicas: Por persona (SOAHOLD)</vt:lpstr>
      <vt:lpstr>Retenciones académicas: Asignación masiva (SOAHOLD)</vt:lpstr>
      <vt:lpstr>Retenciones académicas: Asignación masiva (SOAHOLD)</vt:lpstr>
      <vt:lpstr>Retenciones académicas: Asignación masiva (SOAHOLD)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Ramos, Karyn</dc:creator>
  <cp:lastModifiedBy>Beltran, Nidia</cp:lastModifiedBy>
  <cp:revision>12</cp:revision>
  <dcterms:created xsi:type="dcterms:W3CDTF">2024-09-26T00:26:14Z</dcterms:created>
  <dcterms:modified xsi:type="dcterms:W3CDTF">2026-06-25T00:05:46Z</dcterms:modified>
</cp:coreProperties>
</file>
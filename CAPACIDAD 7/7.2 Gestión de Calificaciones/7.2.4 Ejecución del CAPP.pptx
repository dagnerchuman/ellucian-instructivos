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87"/>
  </p:notesMasterIdLst>
  <p:handoutMasterIdLst>
    <p:handoutMasterId r:id="rId88"/>
  </p:handoutMasterIdLst>
  <p:sldIdLst>
    <p:sldId id="257" r:id="rId3"/>
    <p:sldId id="423" r:id="rId4"/>
    <p:sldId id="476" r:id="rId5"/>
    <p:sldId id="523" r:id="rId6"/>
    <p:sldId id="349" r:id="rId7"/>
    <p:sldId id="421" r:id="rId8"/>
    <p:sldId id="352" r:id="rId9"/>
    <p:sldId id="566" r:id="rId10"/>
    <p:sldId id="571" r:id="rId11"/>
    <p:sldId id="469" r:id="rId12"/>
    <p:sldId id="355" r:id="rId13"/>
    <p:sldId id="573" r:id="rId14"/>
    <p:sldId id="574" r:id="rId15"/>
    <p:sldId id="1574" r:id="rId16"/>
    <p:sldId id="1575" r:id="rId17"/>
    <p:sldId id="599" r:id="rId18"/>
    <p:sldId id="565" r:id="rId19"/>
    <p:sldId id="583" r:id="rId20"/>
    <p:sldId id="1561" r:id="rId21"/>
    <p:sldId id="1562" r:id="rId22"/>
    <p:sldId id="1563" r:id="rId23"/>
    <p:sldId id="600" r:id="rId24"/>
    <p:sldId id="567" r:id="rId25"/>
    <p:sldId id="586" r:id="rId26"/>
    <p:sldId id="601" r:id="rId27"/>
    <p:sldId id="604" r:id="rId28"/>
    <p:sldId id="1564" r:id="rId29"/>
    <p:sldId id="543" r:id="rId30"/>
    <p:sldId id="577" r:id="rId31"/>
    <p:sldId id="1471" r:id="rId32"/>
    <p:sldId id="1524" r:id="rId33"/>
    <p:sldId id="1525" r:id="rId34"/>
    <p:sldId id="1526" r:id="rId35"/>
    <p:sldId id="1527" r:id="rId36"/>
    <p:sldId id="1565" r:id="rId37"/>
    <p:sldId id="1566" r:id="rId38"/>
    <p:sldId id="1567" r:id="rId39"/>
    <p:sldId id="1568" r:id="rId40"/>
    <p:sldId id="1569" r:id="rId41"/>
    <p:sldId id="1570" r:id="rId42"/>
    <p:sldId id="1571" r:id="rId43"/>
    <p:sldId id="1469" r:id="rId44"/>
    <p:sldId id="1447" r:id="rId45"/>
    <p:sldId id="1573" r:id="rId46"/>
    <p:sldId id="1514" r:id="rId47"/>
    <p:sldId id="1515" r:id="rId48"/>
    <p:sldId id="1516" r:id="rId49"/>
    <p:sldId id="1517" r:id="rId50"/>
    <p:sldId id="1576" r:id="rId51"/>
    <p:sldId id="1577" r:id="rId52"/>
    <p:sldId id="1578" r:id="rId53"/>
    <p:sldId id="1580" r:id="rId54"/>
    <p:sldId id="1522" r:id="rId55"/>
    <p:sldId id="1581" r:id="rId56"/>
    <p:sldId id="1582" r:id="rId57"/>
    <p:sldId id="1583" r:id="rId58"/>
    <p:sldId id="1584" r:id="rId59"/>
    <p:sldId id="1559" r:id="rId60"/>
    <p:sldId id="1535" r:id="rId61"/>
    <p:sldId id="1585" r:id="rId62"/>
    <p:sldId id="1542" r:id="rId63"/>
    <p:sldId id="1587" r:id="rId64"/>
    <p:sldId id="1590" r:id="rId65"/>
    <p:sldId id="1586" r:id="rId66"/>
    <p:sldId id="1589" r:id="rId67"/>
    <p:sldId id="1588" r:id="rId68"/>
    <p:sldId id="1554" r:id="rId69"/>
    <p:sldId id="1591" r:id="rId70"/>
    <p:sldId id="1544" r:id="rId71"/>
    <p:sldId id="1593" r:id="rId72"/>
    <p:sldId id="1592" r:id="rId73"/>
    <p:sldId id="1594" r:id="rId74"/>
    <p:sldId id="1595" r:id="rId75"/>
    <p:sldId id="1596" r:id="rId76"/>
    <p:sldId id="1597" r:id="rId77"/>
    <p:sldId id="1598" r:id="rId78"/>
    <p:sldId id="1601" r:id="rId79"/>
    <p:sldId id="1602" r:id="rId80"/>
    <p:sldId id="1599" r:id="rId81"/>
    <p:sldId id="1600" r:id="rId82"/>
    <p:sldId id="1558" r:id="rId83"/>
    <p:sldId id="345" r:id="rId84"/>
    <p:sldId id="1560" r:id="rId85"/>
    <p:sldId id="501"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A12B3B-02F9-4065-9D04-ADCB55BDDC28}" v="4" dt="2024-11-22T21:12:55.15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37" autoAdjust="0"/>
    <p:restoredTop sz="94660"/>
  </p:normalViewPr>
  <p:slideViewPr>
    <p:cSldViewPr snapToGrid="0">
      <p:cViewPr varScale="1">
        <p:scale>
          <a:sx n="107" d="100"/>
          <a:sy n="107" d="100"/>
        </p:scale>
        <p:origin x="894" y="102"/>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tableStyles" Target="tableStyle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notesMaster" Target="notesMasters/notes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5340CAF5-956A-356C-E21A-F521C5A71A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a:extLst>
              <a:ext uri="{FF2B5EF4-FFF2-40B4-BE49-F238E27FC236}">
                <a16:creationId xmlns:a16="http://schemas.microsoft.com/office/drawing/2014/main" id="{62C1A8E5-06CD-C2AC-0353-1DA900E552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38D24C-BCC5-4CDE-AD4F-5716CB84B3BA}" type="datetimeFigureOut">
              <a:rPr lang="es-419" smtClean="0"/>
              <a:t>4/6/2026</a:t>
            </a:fld>
            <a:endParaRPr lang="es-419"/>
          </a:p>
        </p:txBody>
      </p:sp>
      <p:sp>
        <p:nvSpPr>
          <p:cNvPr id="4" name="Marcador de pie de página 3">
            <a:extLst>
              <a:ext uri="{FF2B5EF4-FFF2-40B4-BE49-F238E27FC236}">
                <a16:creationId xmlns:a16="http://schemas.microsoft.com/office/drawing/2014/main" id="{C6F0EB2D-DEDE-6A67-5F1D-F53C948AA44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5" name="Marcador de número de diapositiva 4">
            <a:extLst>
              <a:ext uri="{FF2B5EF4-FFF2-40B4-BE49-F238E27FC236}">
                <a16:creationId xmlns:a16="http://schemas.microsoft.com/office/drawing/2014/main" id="{22D42448-59C7-ED9E-5E34-7C73CEAF6D0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157961-C421-40F8-B160-F4147F5F9488}" type="slidenum">
              <a:rPr lang="es-419" smtClean="0"/>
              <a:t>‹Nº›</a:t>
            </a:fld>
            <a:endParaRPr lang="es-419"/>
          </a:p>
        </p:txBody>
      </p:sp>
    </p:spTree>
    <p:extLst>
      <p:ext uri="{BB962C8B-B14F-4D97-AF65-F5344CB8AC3E}">
        <p14:creationId xmlns:p14="http://schemas.microsoft.com/office/powerpoint/2010/main" val="429247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04-06-2026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30</a:t>
            </a:fld>
            <a:endParaRPr lang="en-US"/>
          </a:p>
        </p:txBody>
      </p:sp>
    </p:spTree>
    <p:extLst>
      <p:ext uri="{BB962C8B-B14F-4D97-AF65-F5344CB8AC3E}">
        <p14:creationId xmlns:p14="http://schemas.microsoft.com/office/powerpoint/2010/main" val="36102567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3704529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675570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1415171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4026646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098D7-4AB7-3B76-BFFE-508D57B397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6035E6-4D90-F67B-CA82-F1CAD501FC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731126D-5647-85E5-3C99-03D894C3245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6C1BD8E-26CB-7792-63B0-0FC1030DBEF6}"/>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191463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45916-2EBE-4F7A-61A4-A381B70068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DBD6657-319F-71D6-407E-7743B4D15A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986EFF3-16D6-AEB7-82E9-D2E243B3126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5B430FA-F7F8-E5DA-E8E9-7A6D6D12D029}"/>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3320187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C9C7A-79DB-2329-CAFD-9974914A11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FA2F7D-FB59-6887-9DDA-F2C0CBD6160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DF0862-3C12-3CD5-1D3D-E2FB84A13AE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321DE47-A997-49C9-106B-2DC7787A4132}"/>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3698054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A87B9-158C-57C5-4F5A-2B426691A6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B0AA66-C6F1-B382-9E4F-13F80B460EA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CFF5FD-635C-C3C9-37A2-31FDB9C18C7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DF0D05C-6AA3-5185-5806-EE7B294E7F19}"/>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628277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41AC1-0614-931A-FED7-5799C814F3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CC6B65-AC51-A2F6-3233-F88BA2A0A3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9608B3-A65D-C0F7-959A-E0BE7F99603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D593AB1-2196-2C3D-7B71-8C6C867A7544}"/>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16706278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DF040-CD10-090D-3133-4EE6E317E5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629B63-43FB-C69D-E58F-4308DF3BD7C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4AE5B81-CE75-7D35-8D20-039C9F49A18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B374934-C678-BEF5-4B4B-8D7911086A26}"/>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34818031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24998-C225-FEA3-5FC4-00630245790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E62FF13-F81B-CD52-46DF-7AE1426896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F800679-FADB-69DE-5E54-80A71B85E46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1A56551-1EDB-B6E6-2929-930319ECC5F6}"/>
              </a:ext>
            </a:extLst>
          </p:cNvPr>
          <p:cNvSpPr>
            <a:spLocks noGrp="1"/>
          </p:cNvSpPr>
          <p:nvPr>
            <p:ph type="sldNum" sz="quarter" idx="5"/>
          </p:nvPr>
        </p:nvSpPr>
        <p:spPr/>
        <p:txBody>
          <a:bodyPr/>
          <a:lstStyle/>
          <a:p>
            <a:fld id="{CF541D2A-E99A-2F4F-B8C9-28142709F87F}" type="slidenum">
              <a:rPr lang="en-US" smtClean="0"/>
              <a:pPr/>
              <a:t>41</a:t>
            </a:fld>
            <a:endParaRPr lang="en-US"/>
          </a:p>
        </p:txBody>
      </p:sp>
    </p:spTree>
    <p:extLst>
      <p:ext uri="{BB962C8B-B14F-4D97-AF65-F5344CB8AC3E}">
        <p14:creationId xmlns:p14="http://schemas.microsoft.com/office/powerpoint/2010/main" val="3794615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43</a:t>
            </a:fld>
            <a:endParaRPr lang="en-US"/>
          </a:p>
        </p:txBody>
      </p:sp>
    </p:spTree>
    <p:extLst>
      <p:ext uri="{BB962C8B-B14F-4D97-AF65-F5344CB8AC3E}">
        <p14:creationId xmlns:p14="http://schemas.microsoft.com/office/powerpoint/2010/main" val="2975217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F1112-3297-1165-96D8-C53D25E8CC9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B7173BB-12E0-04B7-4A9A-F2BE7AE65E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734A3BD-2157-3589-C853-120CAEB24AF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46C7EC8-DA73-9F8A-E82C-40C433406982}"/>
              </a:ext>
            </a:extLst>
          </p:cNvPr>
          <p:cNvSpPr>
            <a:spLocks noGrp="1"/>
          </p:cNvSpPr>
          <p:nvPr>
            <p:ph type="sldNum" sz="quarter" idx="5"/>
          </p:nvPr>
        </p:nvSpPr>
        <p:spPr/>
        <p:txBody>
          <a:bodyPr/>
          <a:lstStyle/>
          <a:p>
            <a:fld id="{CF541D2A-E99A-2F4F-B8C9-28142709F87F}" type="slidenum">
              <a:rPr lang="en-US" smtClean="0"/>
              <a:pPr/>
              <a:t>44</a:t>
            </a:fld>
            <a:endParaRPr lang="en-US"/>
          </a:p>
        </p:txBody>
      </p:sp>
    </p:spTree>
    <p:extLst>
      <p:ext uri="{BB962C8B-B14F-4D97-AF65-F5344CB8AC3E}">
        <p14:creationId xmlns:p14="http://schemas.microsoft.com/office/powerpoint/2010/main" val="2379968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45</a:t>
            </a:fld>
            <a:endParaRPr lang="en-US"/>
          </a:p>
        </p:txBody>
      </p:sp>
    </p:spTree>
    <p:extLst>
      <p:ext uri="{BB962C8B-B14F-4D97-AF65-F5344CB8AC3E}">
        <p14:creationId xmlns:p14="http://schemas.microsoft.com/office/powerpoint/2010/main" val="740024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46</a:t>
            </a:fld>
            <a:endParaRPr lang="en-US"/>
          </a:p>
        </p:txBody>
      </p:sp>
    </p:spTree>
    <p:extLst>
      <p:ext uri="{BB962C8B-B14F-4D97-AF65-F5344CB8AC3E}">
        <p14:creationId xmlns:p14="http://schemas.microsoft.com/office/powerpoint/2010/main" val="2274191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47</a:t>
            </a:fld>
            <a:endParaRPr lang="en-US"/>
          </a:p>
        </p:txBody>
      </p:sp>
    </p:spTree>
    <p:extLst>
      <p:ext uri="{BB962C8B-B14F-4D97-AF65-F5344CB8AC3E}">
        <p14:creationId xmlns:p14="http://schemas.microsoft.com/office/powerpoint/2010/main" val="12600457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48</a:t>
            </a:fld>
            <a:endParaRPr lang="en-US"/>
          </a:p>
        </p:txBody>
      </p:sp>
    </p:spTree>
    <p:extLst>
      <p:ext uri="{BB962C8B-B14F-4D97-AF65-F5344CB8AC3E}">
        <p14:creationId xmlns:p14="http://schemas.microsoft.com/office/powerpoint/2010/main" val="719839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5AF3A-BE1C-E213-C5A0-3A4C63FCD7B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3F91F8-ABDC-13C4-3F46-5D8A91AD2C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B1CABE8-7803-1632-49BF-632FF33F28E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2A75783-D4F2-F894-B6C9-90EC80FD808F}"/>
              </a:ext>
            </a:extLst>
          </p:cNvPr>
          <p:cNvSpPr>
            <a:spLocks noGrp="1"/>
          </p:cNvSpPr>
          <p:nvPr>
            <p:ph type="sldNum" sz="quarter" idx="5"/>
          </p:nvPr>
        </p:nvSpPr>
        <p:spPr/>
        <p:txBody>
          <a:bodyPr/>
          <a:lstStyle/>
          <a:p>
            <a:fld id="{CF541D2A-E99A-2F4F-B8C9-28142709F87F}" type="slidenum">
              <a:rPr lang="en-US" smtClean="0"/>
              <a:pPr/>
              <a:t>49</a:t>
            </a:fld>
            <a:endParaRPr lang="en-US"/>
          </a:p>
        </p:txBody>
      </p:sp>
    </p:spTree>
    <p:extLst>
      <p:ext uri="{BB962C8B-B14F-4D97-AF65-F5344CB8AC3E}">
        <p14:creationId xmlns:p14="http://schemas.microsoft.com/office/powerpoint/2010/main" val="790788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D2C08-CF11-49A6-D8F7-EA94A73302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CA04831-C123-C737-B01A-FB05B39E6B4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05CC982-0C16-FDCA-77CC-7EC1B90D05B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3D8B449-6626-CB65-9FD0-D53708168908}"/>
              </a:ext>
            </a:extLst>
          </p:cNvPr>
          <p:cNvSpPr>
            <a:spLocks noGrp="1"/>
          </p:cNvSpPr>
          <p:nvPr>
            <p:ph type="sldNum" sz="quarter" idx="5"/>
          </p:nvPr>
        </p:nvSpPr>
        <p:spPr/>
        <p:txBody>
          <a:bodyPr/>
          <a:lstStyle/>
          <a:p>
            <a:fld id="{CF541D2A-E99A-2F4F-B8C9-28142709F87F}" type="slidenum">
              <a:rPr lang="en-US" smtClean="0"/>
              <a:pPr/>
              <a:t>50</a:t>
            </a:fld>
            <a:endParaRPr lang="en-US"/>
          </a:p>
        </p:txBody>
      </p:sp>
    </p:spTree>
    <p:extLst>
      <p:ext uri="{BB962C8B-B14F-4D97-AF65-F5344CB8AC3E}">
        <p14:creationId xmlns:p14="http://schemas.microsoft.com/office/powerpoint/2010/main" val="32734828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8C878-EDAC-91C4-9293-B1E266F14D1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DD74204-6A43-2A52-E36E-3C60566A1BD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5D8589-8CD0-434F-55E8-FB4FC572A52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1EC2383-1608-87CA-54CA-FC3491EF06DA}"/>
              </a:ext>
            </a:extLst>
          </p:cNvPr>
          <p:cNvSpPr>
            <a:spLocks noGrp="1"/>
          </p:cNvSpPr>
          <p:nvPr>
            <p:ph type="sldNum" sz="quarter" idx="5"/>
          </p:nvPr>
        </p:nvSpPr>
        <p:spPr/>
        <p:txBody>
          <a:bodyPr/>
          <a:lstStyle/>
          <a:p>
            <a:fld id="{CF541D2A-E99A-2F4F-B8C9-28142709F87F}" type="slidenum">
              <a:rPr lang="en-US" smtClean="0"/>
              <a:pPr/>
              <a:t>51</a:t>
            </a:fld>
            <a:endParaRPr lang="en-US"/>
          </a:p>
        </p:txBody>
      </p:sp>
    </p:spTree>
    <p:extLst>
      <p:ext uri="{BB962C8B-B14F-4D97-AF65-F5344CB8AC3E}">
        <p14:creationId xmlns:p14="http://schemas.microsoft.com/office/powerpoint/2010/main" val="13495652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F7C56-FFD8-09BA-D6F0-08AC56DCC6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C522446-D5A1-CD9B-4FCE-6411CE94BA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682A5E4-29AF-5113-4639-ECCB59B4F1B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A77D785-691B-1851-5669-5BF438BB15CD}"/>
              </a:ext>
            </a:extLst>
          </p:cNvPr>
          <p:cNvSpPr>
            <a:spLocks noGrp="1"/>
          </p:cNvSpPr>
          <p:nvPr>
            <p:ph type="sldNum" sz="quarter" idx="5"/>
          </p:nvPr>
        </p:nvSpPr>
        <p:spPr/>
        <p:txBody>
          <a:bodyPr/>
          <a:lstStyle/>
          <a:p>
            <a:fld id="{CF541D2A-E99A-2F4F-B8C9-28142709F87F}" type="slidenum">
              <a:rPr lang="en-US" smtClean="0"/>
              <a:pPr/>
              <a:t>52</a:t>
            </a:fld>
            <a:endParaRPr lang="en-US"/>
          </a:p>
        </p:txBody>
      </p:sp>
    </p:spTree>
    <p:extLst>
      <p:ext uri="{BB962C8B-B14F-4D97-AF65-F5344CB8AC3E}">
        <p14:creationId xmlns:p14="http://schemas.microsoft.com/office/powerpoint/2010/main" val="2571482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53</a:t>
            </a:fld>
            <a:endParaRPr lang="en-US"/>
          </a:p>
        </p:txBody>
      </p:sp>
    </p:spTree>
    <p:extLst>
      <p:ext uri="{BB962C8B-B14F-4D97-AF65-F5344CB8AC3E}">
        <p14:creationId xmlns:p14="http://schemas.microsoft.com/office/powerpoint/2010/main" val="36741151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16838-7DFC-0BF2-D9D1-91A5967498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C5CEC75-A587-800A-2D8C-93012C54AA8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2DDF7FC-CE6B-010E-C632-C9D30D1D1B1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DB59892-7795-E252-AB01-7C4FEA94AC39}"/>
              </a:ext>
            </a:extLst>
          </p:cNvPr>
          <p:cNvSpPr>
            <a:spLocks noGrp="1"/>
          </p:cNvSpPr>
          <p:nvPr>
            <p:ph type="sldNum" sz="quarter" idx="5"/>
          </p:nvPr>
        </p:nvSpPr>
        <p:spPr/>
        <p:txBody>
          <a:bodyPr/>
          <a:lstStyle/>
          <a:p>
            <a:fld id="{CF541D2A-E99A-2F4F-B8C9-28142709F87F}" type="slidenum">
              <a:rPr lang="en-US" smtClean="0"/>
              <a:pPr/>
              <a:t>54</a:t>
            </a:fld>
            <a:endParaRPr lang="en-US"/>
          </a:p>
        </p:txBody>
      </p:sp>
    </p:spTree>
    <p:extLst>
      <p:ext uri="{BB962C8B-B14F-4D97-AF65-F5344CB8AC3E}">
        <p14:creationId xmlns:p14="http://schemas.microsoft.com/office/powerpoint/2010/main" val="1993924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2E05-AA8D-9F68-AA58-3E53A90BD9B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9290385-0FEA-B5DB-6E8D-9772A63B4E4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8803B07-A008-0BD3-951C-057569FC3DC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B897B50-6E23-1720-20FA-0BBEF740AFF8}"/>
              </a:ext>
            </a:extLst>
          </p:cNvPr>
          <p:cNvSpPr>
            <a:spLocks noGrp="1"/>
          </p:cNvSpPr>
          <p:nvPr>
            <p:ph type="sldNum" sz="quarter" idx="5"/>
          </p:nvPr>
        </p:nvSpPr>
        <p:spPr/>
        <p:txBody>
          <a:bodyPr/>
          <a:lstStyle/>
          <a:p>
            <a:fld id="{CF541D2A-E99A-2F4F-B8C9-28142709F87F}" type="slidenum">
              <a:rPr lang="en-US" smtClean="0"/>
              <a:pPr/>
              <a:t>55</a:t>
            </a:fld>
            <a:endParaRPr lang="en-US"/>
          </a:p>
        </p:txBody>
      </p:sp>
    </p:spTree>
    <p:extLst>
      <p:ext uri="{BB962C8B-B14F-4D97-AF65-F5344CB8AC3E}">
        <p14:creationId xmlns:p14="http://schemas.microsoft.com/office/powerpoint/2010/main" val="1042813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C97E-1022-87C8-F002-E900766D47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AC54A1F-B769-21F4-CCC9-D8608C65CB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6EE806-ECCE-DE35-6CF4-41F2EB91840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A548078-1C93-08AE-A0AD-F3E137625DC2}"/>
              </a:ext>
            </a:extLst>
          </p:cNvPr>
          <p:cNvSpPr>
            <a:spLocks noGrp="1"/>
          </p:cNvSpPr>
          <p:nvPr>
            <p:ph type="sldNum" sz="quarter" idx="5"/>
          </p:nvPr>
        </p:nvSpPr>
        <p:spPr/>
        <p:txBody>
          <a:bodyPr/>
          <a:lstStyle/>
          <a:p>
            <a:fld id="{CF541D2A-E99A-2F4F-B8C9-28142709F87F}" type="slidenum">
              <a:rPr lang="en-US" smtClean="0"/>
              <a:pPr/>
              <a:t>56</a:t>
            </a:fld>
            <a:endParaRPr lang="en-US"/>
          </a:p>
        </p:txBody>
      </p:sp>
    </p:spTree>
    <p:extLst>
      <p:ext uri="{BB962C8B-B14F-4D97-AF65-F5344CB8AC3E}">
        <p14:creationId xmlns:p14="http://schemas.microsoft.com/office/powerpoint/2010/main" val="3878386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26F0-3402-8376-B970-4E3B453226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A7FF31-F6B1-4594-685D-9FC986D308D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5626C8-6EF2-E840-C24E-5E0B98A2582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19A1433-42D8-6851-0653-33042096CCA7}"/>
              </a:ext>
            </a:extLst>
          </p:cNvPr>
          <p:cNvSpPr>
            <a:spLocks noGrp="1"/>
          </p:cNvSpPr>
          <p:nvPr>
            <p:ph type="sldNum" sz="quarter" idx="5"/>
          </p:nvPr>
        </p:nvSpPr>
        <p:spPr/>
        <p:txBody>
          <a:bodyPr/>
          <a:lstStyle/>
          <a:p>
            <a:fld id="{CF541D2A-E99A-2F4F-B8C9-28142709F87F}" type="slidenum">
              <a:rPr lang="en-US" smtClean="0"/>
              <a:pPr/>
              <a:t>57</a:t>
            </a:fld>
            <a:endParaRPr lang="en-US"/>
          </a:p>
        </p:txBody>
      </p:sp>
    </p:spTree>
    <p:extLst>
      <p:ext uri="{BB962C8B-B14F-4D97-AF65-F5344CB8AC3E}">
        <p14:creationId xmlns:p14="http://schemas.microsoft.com/office/powerpoint/2010/main" val="6122663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59</a:t>
            </a:fld>
            <a:endParaRPr lang="en-US"/>
          </a:p>
        </p:txBody>
      </p:sp>
    </p:spTree>
    <p:extLst>
      <p:ext uri="{BB962C8B-B14F-4D97-AF65-F5344CB8AC3E}">
        <p14:creationId xmlns:p14="http://schemas.microsoft.com/office/powerpoint/2010/main" val="26230137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1336F-38B3-7D6E-AF7C-1EA03A4C83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C8C75B2-733A-CFA9-A82F-E42956A493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81791A7-E621-2AD0-59CE-F3BE14993E7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C4F82DF-5D3F-3FD9-A70F-704173A9C39A}"/>
              </a:ext>
            </a:extLst>
          </p:cNvPr>
          <p:cNvSpPr>
            <a:spLocks noGrp="1"/>
          </p:cNvSpPr>
          <p:nvPr>
            <p:ph type="sldNum" sz="quarter" idx="5"/>
          </p:nvPr>
        </p:nvSpPr>
        <p:spPr/>
        <p:txBody>
          <a:bodyPr/>
          <a:lstStyle/>
          <a:p>
            <a:fld id="{CF541D2A-E99A-2F4F-B8C9-28142709F87F}" type="slidenum">
              <a:rPr lang="en-US" smtClean="0"/>
              <a:pPr/>
              <a:t>60</a:t>
            </a:fld>
            <a:endParaRPr lang="en-US"/>
          </a:p>
        </p:txBody>
      </p:sp>
    </p:spTree>
    <p:extLst>
      <p:ext uri="{BB962C8B-B14F-4D97-AF65-F5344CB8AC3E}">
        <p14:creationId xmlns:p14="http://schemas.microsoft.com/office/powerpoint/2010/main" val="24800510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61</a:t>
            </a:fld>
            <a:endParaRPr lang="en-US"/>
          </a:p>
        </p:txBody>
      </p:sp>
    </p:spTree>
    <p:extLst>
      <p:ext uri="{BB962C8B-B14F-4D97-AF65-F5344CB8AC3E}">
        <p14:creationId xmlns:p14="http://schemas.microsoft.com/office/powerpoint/2010/main" val="38020781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A174C-3BA3-524D-C542-F0C84B977F2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7F983F0-83CA-E5B2-7FE7-8ABE33B938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3A40412-E46C-73B4-C16E-575EC629C99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4306114-E648-B593-7328-868910FF2965}"/>
              </a:ext>
            </a:extLst>
          </p:cNvPr>
          <p:cNvSpPr>
            <a:spLocks noGrp="1"/>
          </p:cNvSpPr>
          <p:nvPr>
            <p:ph type="sldNum" sz="quarter" idx="5"/>
          </p:nvPr>
        </p:nvSpPr>
        <p:spPr/>
        <p:txBody>
          <a:bodyPr/>
          <a:lstStyle/>
          <a:p>
            <a:fld id="{CF541D2A-E99A-2F4F-B8C9-28142709F87F}" type="slidenum">
              <a:rPr lang="en-US" smtClean="0"/>
              <a:pPr/>
              <a:t>62</a:t>
            </a:fld>
            <a:endParaRPr lang="en-US"/>
          </a:p>
        </p:txBody>
      </p:sp>
    </p:spTree>
    <p:extLst>
      <p:ext uri="{BB962C8B-B14F-4D97-AF65-F5344CB8AC3E}">
        <p14:creationId xmlns:p14="http://schemas.microsoft.com/office/powerpoint/2010/main" val="19834899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0DDFC-C712-D5BC-1A84-8930F0FE53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C1596B-7DA5-9730-23BF-9FE6037F9A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D37166-2E94-ACD9-A62A-F5B78B22849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78D09E0-1D60-016C-2746-196005BE8BA3}"/>
              </a:ext>
            </a:extLst>
          </p:cNvPr>
          <p:cNvSpPr>
            <a:spLocks noGrp="1"/>
          </p:cNvSpPr>
          <p:nvPr>
            <p:ph type="sldNum" sz="quarter" idx="5"/>
          </p:nvPr>
        </p:nvSpPr>
        <p:spPr/>
        <p:txBody>
          <a:bodyPr/>
          <a:lstStyle/>
          <a:p>
            <a:fld id="{CF541D2A-E99A-2F4F-B8C9-28142709F87F}" type="slidenum">
              <a:rPr lang="en-US" smtClean="0"/>
              <a:pPr/>
              <a:t>63</a:t>
            </a:fld>
            <a:endParaRPr lang="en-US"/>
          </a:p>
        </p:txBody>
      </p:sp>
    </p:spTree>
    <p:extLst>
      <p:ext uri="{BB962C8B-B14F-4D97-AF65-F5344CB8AC3E}">
        <p14:creationId xmlns:p14="http://schemas.microsoft.com/office/powerpoint/2010/main" val="20534042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A9C06-72D0-A2AB-6DAA-49EEF9AF0B0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74BB45F-734C-B6A0-FEF5-730FE0B5AA3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041475-F812-5F0B-9E43-0B8BEC8B7B4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C2F7A72-AE88-83A2-E91C-D23FA183A718}"/>
              </a:ext>
            </a:extLst>
          </p:cNvPr>
          <p:cNvSpPr>
            <a:spLocks noGrp="1"/>
          </p:cNvSpPr>
          <p:nvPr>
            <p:ph type="sldNum" sz="quarter" idx="5"/>
          </p:nvPr>
        </p:nvSpPr>
        <p:spPr/>
        <p:txBody>
          <a:bodyPr/>
          <a:lstStyle/>
          <a:p>
            <a:fld id="{CF541D2A-E99A-2F4F-B8C9-28142709F87F}" type="slidenum">
              <a:rPr lang="en-US" smtClean="0"/>
              <a:pPr/>
              <a:t>64</a:t>
            </a:fld>
            <a:endParaRPr lang="en-US"/>
          </a:p>
        </p:txBody>
      </p:sp>
    </p:spTree>
    <p:extLst>
      <p:ext uri="{BB962C8B-B14F-4D97-AF65-F5344CB8AC3E}">
        <p14:creationId xmlns:p14="http://schemas.microsoft.com/office/powerpoint/2010/main" val="890307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D0FAA-F196-9572-54F8-22C0C6F914C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428FE0E-1D82-CA7F-AD65-1058E97CD3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BB39E7-E1F9-F35D-ED7B-30327A57100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F393D95-0F14-CBBF-AE00-1BC0C794835D}"/>
              </a:ext>
            </a:extLst>
          </p:cNvPr>
          <p:cNvSpPr>
            <a:spLocks noGrp="1"/>
          </p:cNvSpPr>
          <p:nvPr>
            <p:ph type="sldNum" sz="quarter" idx="5"/>
          </p:nvPr>
        </p:nvSpPr>
        <p:spPr/>
        <p:txBody>
          <a:bodyPr/>
          <a:lstStyle/>
          <a:p>
            <a:fld id="{CF541D2A-E99A-2F4F-B8C9-28142709F87F}" type="slidenum">
              <a:rPr lang="en-US" smtClean="0"/>
              <a:pPr/>
              <a:t>65</a:t>
            </a:fld>
            <a:endParaRPr lang="en-US"/>
          </a:p>
        </p:txBody>
      </p:sp>
    </p:spTree>
    <p:extLst>
      <p:ext uri="{BB962C8B-B14F-4D97-AF65-F5344CB8AC3E}">
        <p14:creationId xmlns:p14="http://schemas.microsoft.com/office/powerpoint/2010/main" val="17497391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8A4E4-6268-7575-85C0-2361D6E4CD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24B43A-D83F-6ED0-BF89-EFBEABA7254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6C0053-0206-9A0A-026A-D5568AA349CA}"/>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102BDBD-A0D8-FCBD-53A1-AA980C1F3BBD}"/>
              </a:ext>
            </a:extLst>
          </p:cNvPr>
          <p:cNvSpPr>
            <a:spLocks noGrp="1"/>
          </p:cNvSpPr>
          <p:nvPr>
            <p:ph type="sldNum" sz="quarter" idx="5"/>
          </p:nvPr>
        </p:nvSpPr>
        <p:spPr/>
        <p:txBody>
          <a:bodyPr/>
          <a:lstStyle/>
          <a:p>
            <a:fld id="{CF541D2A-E99A-2F4F-B8C9-28142709F87F}" type="slidenum">
              <a:rPr lang="en-US" smtClean="0"/>
              <a:pPr/>
              <a:t>66</a:t>
            </a:fld>
            <a:endParaRPr lang="en-US"/>
          </a:p>
        </p:txBody>
      </p:sp>
    </p:spTree>
    <p:extLst>
      <p:ext uri="{BB962C8B-B14F-4D97-AF65-F5344CB8AC3E}">
        <p14:creationId xmlns:p14="http://schemas.microsoft.com/office/powerpoint/2010/main" val="215929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67</a:t>
            </a:fld>
            <a:endParaRPr lang="en-US"/>
          </a:p>
        </p:txBody>
      </p:sp>
    </p:spTree>
    <p:extLst>
      <p:ext uri="{BB962C8B-B14F-4D97-AF65-F5344CB8AC3E}">
        <p14:creationId xmlns:p14="http://schemas.microsoft.com/office/powerpoint/2010/main" val="37626600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9ECE0-B912-EF95-94A7-755B0805964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F02CF8-18C1-D9E4-1CB2-9846F327318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0BEDFDF-74BA-C2D1-C0B8-F173D6C2C1B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983F298-B5F9-76DD-D11C-479ECA272B08}"/>
              </a:ext>
            </a:extLst>
          </p:cNvPr>
          <p:cNvSpPr>
            <a:spLocks noGrp="1"/>
          </p:cNvSpPr>
          <p:nvPr>
            <p:ph type="sldNum" sz="quarter" idx="5"/>
          </p:nvPr>
        </p:nvSpPr>
        <p:spPr/>
        <p:txBody>
          <a:bodyPr/>
          <a:lstStyle/>
          <a:p>
            <a:fld id="{CF541D2A-E99A-2F4F-B8C9-28142709F87F}" type="slidenum">
              <a:rPr lang="en-US" smtClean="0"/>
              <a:pPr/>
              <a:t>68</a:t>
            </a:fld>
            <a:endParaRPr lang="en-US"/>
          </a:p>
        </p:txBody>
      </p:sp>
    </p:spTree>
    <p:extLst>
      <p:ext uri="{BB962C8B-B14F-4D97-AF65-F5344CB8AC3E}">
        <p14:creationId xmlns:p14="http://schemas.microsoft.com/office/powerpoint/2010/main" val="159754687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69</a:t>
            </a:fld>
            <a:endParaRPr lang="en-US"/>
          </a:p>
        </p:txBody>
      </p:sp>
    </p:spTree>
    <p:extLst>
      <p:ext uri="{BB962C8B-B14F-4D97-AF65-F5344CB8AC3E}">
        <p14:creationId xmlns:p14="http://schemas.microsoft.com/office/powerpoint/2010/main" val="2786652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8CF3F-764E-13B9-A8EA-9553D13B73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701150-FB36-3388-6551-7DBC94E9A6A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9E39E4-2B50-C1C0-9F22-8F7F397E8542}"/>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0516DF5-B208-E2E2-1403-E292779DEEF6}"/>
              </a:ext>
            </a:extLst>
          </p:cNvPr>
          <p:cNvSpPr>
            <a:spLocks noGrp="1"/>
          </p:cNvSpPr>
          <p:nvPr>
            <p:ph type="sldNum" sz="quarter" idx="5"/>
          </p:nvPr>
        </p:nvSpPr>
        <p:spPr/>
        <p:txBody>
          <a:bodyPr/>
          <a:lstStyle/>
          <a:p>
            <a:fld id="{CF541D2A-E99A-2F4F-B8C9-28142709F87F}" type="slidenum">
              <a:rPr lang="en-US" smtClean="0"/>
              <a:pPr/>
              <a:t>70</a:t>
            </a:fld>
            <a:endParaRPr lang="en-US"/>
          </a:p>
        </p:txBody>
      </p:sp>
    </p:spTree>
    <p:extLst>
      <p:ext uri="{BB962C8B-B14F-4D97-AF65-F5344CB8AC3E}">
        <p14:creationId xmlns:p14="http://schemas.microsoft.com/office/powerpoint/2010/main" val="102582779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91DB9-3FB5-C7C4-7657-28847E289B8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23774CF-A619-5327-E7D8-2768030596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7D192A-FD3B-CB2A-6A55-8556579C11C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0652546-BE8E-8903-3E71-FF77949EC3AF}"/>
              </a:ext>
            </a:extLst>
          </p:cNvPr>
          <p:cNvSpPr>
            <a:spLocks noGrp="1"/>
          </p:cNvSpPr>
          <p:nvPr>
            <p:ph type="sldNum" sz="quarter" idx="5"/>
          </p:nvPr>
        </p:nvSpPr>
        <p:spPr/>
        <p:txBody>
          <a:bodyPr/>
          <a:lstStyle/>
          <a:p>
            <a:fld id="{CF541D2A-E99A-2F4F-B8C9-28142709F87F}" type="slidenum">
              <a:rPr lang="en-US" smtClean="0"/>
              <a:pPr/>
              <a:t>71</a:t>
            </a:fld>
            <a:endParaRPr lang="en-US"/>
          </a:p>
        </p:txBody>
      </p:sp>
    </p:spTree>
    <p:extLst>
      <p:ext uri="{BB962C8B-B14F-4D97-AF65-F5344CB8AC3E}">
        <p14:creationId xmlns:p14="http://schemas.microsoft.com/office/powerpoint/2010/main" val="19937626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2C3C4-74BB-5613-7FBB-CB7869213A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BAD027-6411-E50A-1722-B636FBD751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C54500B-0816-BEC1-9830-1B721C01B1F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2B9E849-3982-CAD8-051B-FC4E50A254DE}"/>
              </a:ext>
            </a:extLst>
          </p:cNvPr>
          <p:cNvSpPr>
            <a:spLocks noGrp="1"/>
          </p:cNvSpPr>
          <p:nvPr>
            <p:ph type="sldNum" sz="quarter" idx="5"/>
          </p:nvPr>
        </p:nvSpPr>
        <p:spPr/>
        <p:txBody>
          <a:bodyPr/>
          <a:lstStyle/>
          <a:p>
            <a:fld id="{CF541D2A-E99A-2F4F-B8C9-28142709F87F}" type="slidenum">
              <a:rPr lang="en-US" smtClean="0"/>
              <a:pPr/>
              <a:t>72</a:t>
            </a:fld>
            <a:endParaRPr lang="en-US"/>
          </a:p>
        </p:txBody>
      </p:sp>
    </p:spTree>
    <p:extLst>
      <p:ext uri="{BB962C8B-B14F-4D97-AF65-F5344CB8AC3E}">
        <p14:creationId xmlns:p14="http://schemas.microsoft.com/office/powerpoint/2010/main" val="27873557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7595E-BB9E-BE7B-7412-B90A7CDDAB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B24F3E5-F844-FECD-AA9A-821D6AD08A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7AC084D-24F6-4D10-C7F1-0B5AD76C1EF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E31B97A6-8525-8B81-6A34-16114B647114}"/>
              </a:ext>
            </a:extLst>
          </p:cNvPr>
          <p:cNvSpPr>
            <a:spLocks noGrp="1"/>
          </p:cNvSpPr>
          <p:nvPr>
            <p:ph type="sldNum" sz="quarter" idx="5"/>
          </p:nvPr>
        </p:nvSpPr>
        <p:spPr/>
        <p:txBody>
          <a:bodyPr/>
          <a:lstStyle/>
          <a:p>
            <a:fld id="{CF541D2A-E99A-2F4F-B8C9-28142709F87F}" type="slidenum">
              <a:rPr lang="en-US" smtClean="0"/>
              <a:pPr/>
              <a:t>73</a:t>
            </a:fld>
            <a:endParaRPr lang="en-US"/>
          </a:p>
        </p:txBody>
      </p:sp>
    </p:spTree>
    <p:extLst>
      <p:ext uri="{BB962C8B-B14F-4D97-AF65-F5344CB8AC3E}">
        <p14:creationId xmlns:p14="http://schemas.microsoft.com/office/powerpoint/2010/main" val="33033967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0BC87-D89B-C805-62FB-42498AFC0C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1970DB6-CE83-636B-D97D-A420E54280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CA5E526-C62E-E370-E5DC-988B6597FB4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7BC5A62-4E08-B624-979A-BA3BD89E70ED}"/>
              </a:ext>
            </a:extLst>
          </p:cNvPr>
          <p:cNvSpPr>
            <a:spLocks noGrp="1"/>
          </p:cNvSpPr>
          <p:nvPr>
            <p:ph type="sldNum" sz="quarter" idx="5"/>
          </p:nvPr>
        </p:nvSpPr>
        <p:spPr/>
        <p:txBody>
          <a:bodyPr/>
          <a:lstStyle/>
          <a:p>
            <a:fld id="{CF541D2A-E99A-2F4F-B8C9-28142709F87F}" type="slidenum">
              <a:rPr lang="en-US" smtClean="0"/>
              <a:pPr/>
              <a:t>74</a:t>
            </a:fld>
            <a:endParaRPr lang="en-US"/>
          </a:p>
        </p:txBody>
      </p:sp>
    </p:spTree>
    <p:extLst>
      <p:ext uri="{BB962C8B-B14F-4D97-AF65-F5344CB8AC3E}">
        <p14:creationId xmlns:p14="http://schemas.microsoft.com/office/powerpoint/2010/main" val="1348747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17A5C-22DB-E049-8F73-2C50CE2665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039F84-F7CF-00F9-C5A0-BEB88003BF4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398BA56-6220-32B3-C8D8-D5E5F30809E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29E265D-4ADC-E420-460B-2F1EAB887873}"/>
              </a:ext>
            </a:extLst>
          </p:cNvPr>
          <p:cNvSpPr>
            <a:spLocks noGrp="1"/>
          </p:cNvSpPr>
          <p:nvPr>
            <p:ph type="sldNum" sz="quarter" idx="5"/>
          </p:nvPr>
        </p:nvSpPr>
        <p:spPr/>
        <p:txBody>
          <a:bodyPr/>
          <a:lstStyle/>
          <a:p>
            <a:fld id="{CF541D2A-E99A-2F4F-B8C9-28142709F87F}" type="slidenum">
              <a:rPr lang="en-US" smtClean="0"/>
              <a:pPr/>
              <a:t>75</a:t>
            </a:fld>
            <a:endParaRPr lang="en-US"/>
          </a:p>
        </p:txBody>
      </p:sp>
    </p:spTree>
    <p:extLst>
      <p:ext uri="{BB962C8B-B14F-4D97-AF65-F5344CB8AC3E}">
        <p14:creationId xmlns:p14="http://schemas.microsoft.com/office/powerpoint/2010/main" val="17715705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A545D-9173-131A-23CE-EA6A728A13C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C0EFDF-1EB8-4DA4-D400-CC76FBEE4EF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099DBF6-559C-DD46-8FA3-731109D7F85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5B2705B-CEDC-EDF8-5AB0-9296358F09E7}"/>
              </a:ext>
            </a:extLst>
          </p:cNvPr>
          <p:cNvSpPr>
            <a:spLocks noGrp="1"/>
          </p:cNvSpPr>
          <p:nvPr>
            <p:ph type="sldNum" sz="quarter" idx="5"/>
          </p:nvPr>
        </p:nvSpPr>
        <p:spPr/>
        <p:txBody>
          <a:bodyPr/>
          <a:lstStyle/>
          <a:p>
            <a:fld id="{CF541D2A-E99A-2F4F-B8C9-28142709F87F}" type="slidenum">
              <a:rPr lang="en-US" smtClean="0"/>
              <a:pPr/>
              <a:t>76</a:t>
            </a:fld>
            <a:endParaRPr lang="en-US"/>
          </a:p>
        </p:txBody>
      </p:sp>
    </p:spTree>
    <p:extLst>
      <p:ext uri="{BB962C8B-B14F-4D97-AF65-F5344CB8AC3E}">
        <p14:creationId xmlns:p14="http://schemas.microsoft.com/office/powerpoint/2010/main" val="373155933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6CEAD-08BA-65F2-97E0-EF65EC250A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F7B6678-C82C-AB62-5682-06CED80DE4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8884107-0B43-3B7E-C839-AC0221A135A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B5FA47B-D0A7-7E1A-A83D-91FF5C3D6A88}"/>
              </a:ext>
            </a:extLst>
          </p:cNvPr>
          <p:cNvSpPr>
            <a:spLocks noGrp="1"/>
          </p:cNvSpPr>
          <p:nvPr>
            <p:ph type="sldNum" sz="quarter" idx="5"/>
          </p:nvPr>
        </p:nvSpPr>
        <p:spPr/>
        <p:txBody>
          <a:bodyPr/>
          <a:lstStyle/>
          <a:p>
            <a:fld id="{CF541D2A-E99A-2F4F-B8C9-28142709F87F}" type="slidenum">
              <a:rPr lang="en-US" smtClean="0"/>
              <a:pPr/>
              <a:t>77</a:t>
            </a:fld>
            <a:endParaRPr lang="en-US"/>
          </a:p>
        </p:txBody>
      </p:sp>
    </p:spTree>
    <p:extLst>
      <p:ext uri="{BB962C8B-B14F-4D97-AF65-F5344CB8AC3E}">
        <p14:creationId xmlns:p14="http://schemas.microsoft.com/office/powerpoint/2010/main" val="35051574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F3080-240E-1A62-FC52-94D4C40555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5A76E1-2C3A-C02E-D27F-39CE06441A9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1EFDF7-FC8E-4AE1-E7B3-5A89BCAB7F9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F22CF42-634B-FA6A-44B6-76AD2C67F048}"/>
              </a:ext>
            </a:extLst>
          </p:cNvPr>
          <p:cNvSpPr>
            <a:spLocks noGrp="1"/>
          </p:cNvSpPr>
          <p:nvPr>
            <p:ph type="sldNum" sz="quarter" idx="5"/>
          </p:nvPr>
        </p:nvSpPr>
        <p:spPr/>
        <p:txBody>
          <a:bodyPr/>
          <a:lstStyle/>
          <a:p>
            <a:fld id="{CF541D2A-E99A-2F4F-B8C9-28142709F87F}" type="slidenum">
              <a:rPr lang="en-US" smtClean="0"/>
              <a:pPr/>
              <a:t>78</a:t>
            </a:fld>
            <a:endParaRPr lang="en-US"/>
          </a:p>
        </p:txBody>
      </p:sp>
    </p:spTree>
    <p:extLst>
      <p:ext uri="{BB962C8B-B14F-4D97-AF65-F5344CB8AC3E}">
        <p14:creationId xmlns:p14="http://schemas.microsoft.com/office/powerpoint/2010/main" val="21089618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57891-6631-96A2-476C-E6D709F3BC7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266A52-44D1-5899-4B3E-4692AE0402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EC396-035A-8288-DC4D-937EB2C05EF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BAE2580-92D0-119B-33C0-EF84D03B5A14}"/>
              </a:ext>
            </a:extLst>
          </p:cNvPr>
          <p:cNvSpPr>
            <a:spLocks noGrp="1"/>
          </p:cNvSpPr>
          <p:nvPr>
            <p:ph type="sldNum" sz="quarter" idx="5"/>
          </p:nvPr>
        </p:nvSpPr>
        <p:spPr/>
        <p:txBody>
          <a:bodyPr/>
          <a:lstStyle/>
          <a:p>
            <a:fld id="{CF541D2A-E99A-2F4F-B8C9-28142709F87F}" type="slidenum">
              <a:rPr lang="en-US" smtClean="0"/>
              <a:pPr/>
              <a:t>79</a:t>
            </a:fld>
            <a:endParaRPr lang="en-US"/>
          </a:p>
        </p:txBody>
      </p:sp>
    </p:spTree>
    <p:extLst>
      <p:ext uri="{BB962C8B-B14F-4D97-AF65-F5344CB8AC3E}">
        <p14:creationId xmlns:p14="http://schemas.microsoft.com/office/powerpoint/2010/main" val="42476013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E5FCC-B1E9-F92E-FC7C-8277D34B4B2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124900-EFAF-0997-7106-66AA50E3F43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EACECEB-979A-48E6-8A81-A4F0971559A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DBB7270-6D52-F856-C9EB-6864F9A6BF08}"/>
              </a:ext>
            </a:extLst>
          </p:cNvPr>
          <p:cNvSpPr>
            <a:spLocks noGrp="1"/>
          </p:cNvSpPr>
          <p:nvPr>
            <p:ph type="sldNum" sz="quarter" idx="5"/>
          </p:nvPr>
        </p:nvSpPr>
        <p:spPr/>
        <p:txBody>
          <a:bodyPr/>
          <a:lstStyle/>
          <a:p>
            <a:fld id="{CF541D2A-E99A-2F4F-B8C9-28142709F87F}" type="slidenum">
              <a:rPr lang="en-US" smtClean="0"/>
              <a:pPr/>
              <a:t>80</a:t>
            </a:fld>
            <a:endParaRPr lang="en-US"/>
          </a:p>
        </p:txBody>
      </p:sp>
    </p:spTree>
    <p:extLst>
      <p:ext uri="{BB962C8B-B14F-4D97-AF65-F5344CB8AC3E}">
        <p14:creationId xmlns:p14="http://schemas.microsoft.com/office/powerpoint/2010/main" val="25260122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81</a:t>
            </a:fld>
            <a:endParaRPr lang="en-US"/>
          </a:p>
        </p:txBody>
      </p:sp>
    </p:spTree>
    <p:extLst>
      <p:ext uri="{BB962C8B-B14F-4D97-AF65-F5344CB8AC3E}">
        <p14:creationId xmlns:p14="http://schemas.microsoft.com/office/powerpoint/2010/main" val="10283505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06846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790128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697870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351151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042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32503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05450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2946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75015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66787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883146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34951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748610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1945582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615085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0851711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260454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868078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551855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010758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63728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294930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78239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03364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4589531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934273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848690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02595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25035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564155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079907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819965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1093506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04-06-2026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27456781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86214372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
        <p:nvSpPr>
          <p:cNvPr id="3" name="Rectángulo 2">
            <a:extLst>
              <a:ext uri="{FF2B5EF4-FFF2-40B4-BE49-F238E27FC236}">
                <a16:creationId xmlns:a16="http://schemas.microsoft.com/office/drawing/2014/main" id="{CAA43511-3C29-613E-DDB9-DA41DE87644D}"/>
              </a:ext>
            </a:extLst>
          </p:cNvPr>
          <p:cNvSpPr/>
          <p:nvPr userDrawn="1"/>
        </p:nvSpPr>
        <p:spPr>
          <a:xfrm>
            <a:off x="9241654" y="6462944"/>
            <a:ext cx="2343705"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0F781BB2-0CB1-FEE2-5450-7A80F022E51F}"/>
              </a:ext>
            </a:extLst>
          </p:cNvPr>
          <p:cNvSpPr txBox="1"/>
          <p:nvPr userDrawn="1"/>
        </p:nvSpPr>
        <p:spPr>
          <a:xfrm>
            <a:off x="9055627" y="6498455"/>
            <a:ext cx="2715758" cy="246221"/>
          </a:xfrm>
          <a:prstGeom prst="rect">
            <a:avLst/>
          </a:prstGeom>
          <a:noFill/>
        </p:spPr>
        <p:txBody>
          <a:bodyPr wrap="square">
            <a:spAutoFit/>
          </a:bodyPr>
          <a:lstStyle/>
          <a:p>
            <a:pPr algn="r"/>
            <a:r>
              <a:rPr lang="en-US" sz="1000" dirty="0">
                <a:solidFill>
                  <a:schemeClr val="tx1"/>
                </a:solidFill>
              </a:rPr>
              <a:t>©2026 Ellucian. Confidential and Proprietary</a:t>
            </a:r>
          </a:p>
        </p:txBody>
      </p:sp>
    </p:spTree>
    <p:extLst>
      <p:ext uri="{BB962C8B-B14F-4D97-AF65-F5344CB8AC3E}">
        <p14:creationId xmlns:p14="http://schemas.microsoft.com/office/powerpoint/2010/main" val="256046037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2" name="Rectángulo 1">
            <a:extLst>
              <a:ext uri="{FF2B5EF4-FFF2-40B4-BE49-F238E27FC236}">
                <a16:creationId xmlns:a16="http://schemas.microsoft.com/office/drawing/2014/main" id="{8E70885B-574E-C207-E0E8-3BC78BBF4CF5}"/>
              </a:ext>
            </a:extLst>
          </p:cNvPr>
          <p:cNvSpPr/>
          <p:nvPr userDrawn="1"/>
        </p:nvSpPr>
        <p:spPr>
          <a:xfrm>
            <a:off x="9223899" y="6516210"/>
            <a:ext cx="2358498" cy="205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0" name="CuadroTexto 9">
            <a:extLst>
              <a:ext uri="{FF2B5EF4-FFF2-40B4-BE49-F238E27FC236}">
                <a16:creationId xmlns:a16="http://schemas.microsoft.com/office/drawing/2014/main" id="{ABE8F077-1AE2-F308-62DC-537DA67D89AD}"/>
              </a:ext>
            </a:extLst>
          </p:cNvPr>
          <p:cNvSpPr txBox="1"/>
          <p:nvPr userDrawn="1"/>
        </p:nvSpPr>
        <p:spPr>
          <a:xfrm>
            <a:off x="9143999" y="6492847"/>
            <a:ext cx="2649983" cy="246221"/>
          </a:xfrm>
          <a:prstGeom prst="rect">
            <a:avLst/>
          </a:prstGeom>
          <a:noFill/>
        </p:spPr>
        <p:txBody>
          <a:bodyPr wrap="square">
            <a:spAutoFit/>
          </a:bodyPr>
          <a:lstStyle/>
          <a:p>
            <a:pPr algn="r"/>
            <a:r>
              <a:rPr lang="en-US" sz="1000" dirty="0">
                <a:solidFill>
                  <a:schemeClr val="tx1"/>
                </a:solidFill>
              </a:rPr>
              <a:t>©2026 Ellucian. Confidential and Proprietary</a:t>
            </a:r>
          </a:p>
        </p:txBody>
      </p:sp>
    </p:spTree>
    <p:extLst>
      <p:ext uri="{BB962C8B-B14F-4D97-AF65-F5344CB8AC3E}">
        <p14:creationId xmlns:p14="http://schemas.microsoft.com/office/powerpoint/2010/main" val="1875510936"/>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73695197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
        <p:nvSpPr>
          <p:cNvPr id="3" name="Rectángulo 2">
            <a:extLst>
              <a:ext uri="{FF2B5EF4-FFF2-40B4-BE49-F238E27FC236}">
                <a16:creationId xmlns:a16="http://schemas.microsoft.com/office/drawing/2014/main" id="{8A8A354E-BBA8-D93A-E547-F6E3381D4FED}"/>
              </a:ext>
            </a:extLst>
          </p:cNvPr>
          <p:cNvSpPr/>
          <p:nvPr userDrawn="1"/>
        </p:nvSpPr>
        <p:spPr>
          <a:xfrm>
            <a:off x="9215021" y="6516210"/>
            <a:ext cx="2367376" cy="2052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F757E0F8-FA97-6BE0-499E-77D1C9FCE82A}"/>
              </a:ext>
            </a:extLst>
          </p:cNvPr>
          <p:cNvSpPr txBox="1"/>
          <p:nvPr userDrawn="1"/>
        </p:nvSpPr>
        <p:spPr>
          <a:xfrm>
            <a:off x="9078156" y="6475253"/>
            <a:ext cx="2641106" cy="246221"/>
          </a:xfrm>
          <a:prstGeom prst="rect">
            <a:avLst/>
          </a:prstGeom>
          <a:noFill/>
        </p:spPr>
        <p:txBody>
          <a:bodyPr wrap="square">
            <a:spAutoFit/>
          </a:bodyPr>
          <a:lstStyle/>
          <a:p>
            <a:pPr algn="r"/>
            <a:r>
              <a:rPr lang="en-US" sz="1000" dirty="0">
                <a:solidFill>
                  <a:schemeClr val="tx1"/>
                </a:solidFill>
              </a:rPr>
              <a:t>©2026 Ellucian. Confidential and Proprietary</a:t>
            </a:r>
          </a:p>
        </p:txBody>
      </p:sp>
    </p:spTree>
    <p:extLst>
      <p:ext uri="{BB962C8B-B14F-4D97-AF65-F5344CB8AC3E}">
        <p14:creationId xmlns:p14="http://schemas.microsoft.com/office/powerpoint/2010/main" val="1223525022"/>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893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455370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442373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826018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8074485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172494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56581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193409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854821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2475200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669100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1961721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808480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598115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604325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785099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01563845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7279539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063026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1">
            <a:extLst>
              <a:ext uri="{96DAC541-7B7A-43D3-8B79-37D633B846F1}">
                <asvg:svgBlip xmlns:asvg="http://schemas.microsoft.com/office/drawing/2016/SVG/main" r:embed="rId4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785907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2336843"/>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39.xml"/><Relationship Id="rId4" Type="http://schemas.openxmlformats.org/officeDocument/2006/relationships/image" Target="../media/image38.png"/></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2.xml"/><Relationship Id="rId1" Type="http://schemas.openxmlformats.org/officeDocument/2006/relationships/slideLayout" Target="../slideLayouts/slideLayout39.xml"/><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6.xml"/><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0.xml"/><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1.xml"/><Relationship Id="rId1" Type="http://schemas.openxmlformats.org/officeDocument/2006/relationships/slideLayout" Target="../slideLayouts/slideLayout39.xml"/><Relationship Id="rId4" Type="http://schemas.openxmlformats.org/officeDocument/2006/relationships/image" Target="../media/image59.png"/></Relationships>
</file>

<file path=ppt/slides/_rels/slide6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2.xml"/><Relationship Id="rId1" Type="http://schemas.openxmlformats.org/officeDocument/2006/relationships/slideLayout" Target="../slideLayouts/slideLayout39.xml"/></Relationships>
</file>

<file path=ppt/slides/_rels/slide6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4.xml"/><Relationship Id="rId1" Type="http://schemas.openxmlformats.org/officeDocument/2006/relationships/slideLayout" Target="../slideLayouts/slideLayout39.xml"/></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39.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6.xml"/><Relationship Id="rId1" Type="http://schemas.openxmlformats.org/officeDocument/2006/relationships/slideLayout" Target="../slideLayouts/slideLayout39.xml"/></Relationships>
</file>

<file path=ppt/slides/_rels/slide6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7.xml"/><Relationship Id="rId1" Type="http://schemas.openxmlformats.org/officeDocument/2006/relationships/slideLayout" Target="../slideLayouts/slideLayout39.xml"/></Relationships>
</file>

<file path=ppt/slides/_rels/slide6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39.xml"/></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9.xml"/><Relationship Id="rId1" Type="http://schemas.openxmlformats.org/officeDocument/2006/relationships/slideLayout" Target="../slideLayouts/slideLayout39.xml"/><Relationship Id="rId4"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0.xml"/><Relationship Id="rId1" Type="http://schemas.openxmlformats.org/officeDocument/2006/relationships/slideLayout" Target="../slideLayouts/slideLayout39.xml"/></Relationships>
</file>

<file path=ppt/slides/_rels/slide7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1.xml"/><Relationship Id="rId1" Type="http://schemas.openxmlformats.org/officeDocument/2006/relationships/slideLayout" Target="../slideLayouts/slideLayout39.xml"/></Relationships>
</file>

<file path=ppt/slides/_rels/slide7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39.xml"/></Relationships>
</file>

<file path=ppt/slides/_rels/slide7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39.xml"/></Relationships>
</file>

<file path=ppt/slides/_rels/slide7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4.xml"/><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5.xml"/><Relationship Id="rId1" Type="http://schemas.openxmlformats.org/officeDocument/2006/relationships/slideLayout" Target="../slideLayouts/slideLayout39.xml"/></Relationships>
</file>

<file path=ppt/slides/_rels/slide7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6.xml"/><Relationship Id="rId1" Type="http://schemas.openxmlformats.org/officeDocument/2006/relationships/slideLayout" Target="../slideLayouts/slideLayout39.xml"/></Relationships>
</file>

<file path=ppt/slides/_rels/slide7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7.xml"/><Relationship Id="rId1" Type="http://schemas.openxmlformats.org/officeDocument/2006/relationships/slideLayout" Target="../slideLayouts/slideLayout39.xml"/></Relationships>
</file>

<file path=ppt/slides/_rels/slide7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8.xml"/><Relationship Id="rId1" Type="http://schemas.openxmlformats.org/officeDocument/2006/relationships/slideLayout" Target="../slideLayouts/slideLayout39.xml"/></Relationships>
</file>

<file path=ppt/slides/_rels/slide8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9.xml"/><Relationship Id="rId1" Type="http://schemas.openxmlformats.org/officeDocument/2006/relationships/slideLayout" Target="../slideLayouts/slideLayout39.xml"/></Relationships>
</file>

<file path=ppt/slides/_rels/slide8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0.xml"/><Relationship Id="rId1" Type="http://schemas.openxmlformats.org/officeDocument/2006/relationships/slideLayout" Target="../slideLayouts/slideLayout3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4.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15.xml"/><Relationship Id="rId5" Type="http://schemas.openxmlformats.org/officeDocument/2006/relationships/image" Target="../media/image72.svg"/><Relationship Id="rId4"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613309"/>
          </a:xfrm>
        </p:spPr>
        <p:txBody>
          <a:bodyPr/>
          <a:lstStyle/>
          <a:p>
            <a:r>
              <a:rPr lang="es-419" sz="4400" dirty="0"/>
              <a:t>Ejecución del CAPP</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292452"/>
          </a:xfrm>
        </p:spPr>
        <p:txBody>
          <a:bodyPr/>
          <a:lstStyle/>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398058"/>
          </a:xfrm>
        </p:spPr>
        <p:txBody>
          <a:bodyPr/>
          <a:lstStyle/>
          <a:p>
            <a:r>
              <a:rPr lang="es-CL" dirty="0"/>
              <a:t>Consultor.</a:t>
            </a:r>
          </a:p>
          <a:p>
            <a:r>
              <a:rPr lang="es-CL" dirty="0"/>
              <a:t>Cargo</a:t>
            </a:r>
          </a:p>
        </p:txBody>
      </p:sp>
      <p:sp>
        <p:nvSpPr>
          <p:cNvPr id="6" name="Marcador de texto 5">
            <a:extLst>
              <a:ext uri="{FF2B5EF4-FFF2-40B4-BE49-F238E27FC236}">
                <a16:creationId xmlns:a16="http://schemas.microsoft.com/office/drawing/2014/main" id="{8B8CAF1C-3685-4E2B-0C33-5684F3DDDFC9}"/>
              </a:ext>
            </a:extLst>
          </p:cNvPr>
          <p:cNvSpPr>
            <a:spLocks noGrp="1"/>
          </p:cNvSpPr>
          <p:nvPr>
            <p:ph type="body" sz="quarter" idx="13"/>
          </p:nvPr>
        </p:nvSpPr>
        <p:spPr/>
        <p:txBody>
          <a:bodyPr/>
          <a:lstStyle/>
          <a:p>
            <a:r>
              <a:rPr lang="es-419" dirty="0"/>
              <a:t>Mes, Año</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E8CFD730-982A-C0A4-7576-1F026480C9E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Ejecución del CAPP</a:t>
            </a:r>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2325539766"/>
              </p:ext>
            </p:extLst>
          </p:nvPr>
        </p:nvGraphicFramePr>
        <p:xfrm>
          <a:off x="786088" y="1651015"/>
          <a:ext cx="9058128" cy="4070995"/>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s-419" sz="2800" b="1" noProof="0"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err="1">
                          <a:solidFill>
                            <a:schemeClr val="bg1"/>
                          </a:solidFill>
                        </a:rPr>
                        <a:t>Overview</a:t>
                      </a:r>
                      <a:endParaRPr lang="es-419" sz="2800" b="1" noProof="0" dirty="0">
                        <a:solidFill>
                          <a:schemeClr val="bg1"/>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s-419" sz="2800" b="1" noProof="0"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s-419" sz="2800" b="1" noProof="0"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Ejecución del CAPP</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s-419" sz="2800" b="1" noProof="0"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Resultados de la ejecución del CAPP</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r h="814199">
                <a:tc>
                  <a:txBody>
                    <a:bodyPr/>
                    <a:lstStyle/>
                    <a:p>
                      <a:r>
                        <a:rPr lang="es-419" sz="2800" b="1" noProof="0" dirty="0">
                          <a:solidFill>
                            <a:schemeClr val="bg1"/>
                          </a:solidFill>
                        </a:rPr>
                        <a:t>05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noProof="0"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0614881"/>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Ejecución del CAPP</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Ejecución del CAPP</a:t>
            </a:r>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53988"/>
            <a:ext cx="9418021" cy="898555"/>
          </a:xfrm>
        </p:spPr>
        <p:txBody>
          <a:bodyPr/>
          <a:lstStyle/>
          <a:p>
            <a:r>
              <a:rPr lang="es-419" sz="3200" noProof="0" dirty="0">
                <a:solidFill>
                  <a:schemeClr val="accent1"/>
                </a:solidFill>
              </a:rPr>
              <a:t>Overview: </a:t>
            </a:r>
            <a:r>
              <a:rPr lang="es-419" sz="3200" b="0" noProof="0" dirty="0">
                <a:solidFill>
                  <a:schemeClr val="accent1"/>
                </a:solidFill>
              </a:rPr>
              <a:t>Mapa de capacidades</a:t>
            </a:r>
            <a:endParaRPr lang="es-419" b="0" noProof="0" dirty="0">
              <a:solidFill>
                <a:schemeClr val="accent1"/>
              </a:solidFill>
            </a:endParaRPr>
          </a:p>
        </p:txBody>
      </p:sp>
      <p:pic>
        <p:nvPicPr>
          <p:cNvPr id="5" name="Imagen 2">
            <a:extLst>
              <a:ext uri="{FF2B5EF4-FFF2-40B4-BE49-F238E27FC236}">
                <a16:creationId xmlns:a16="http://schemas.microsoft.com/office/drawing/2014/main" id="{911D7325-C46C-1AEC-08B6-C55A90B2B5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030689"/>
            <a:ext cx="10180101" cy="4796619"/>
          </a:xfrm>
          <a:prstGeom prst="rect">
            <a:avLst/>
          </a:prstGeom>
        </p:spPr>
      </p:pic>
      <p:sp>
        <p:nvSpPr>
          <p:cNvPr id="7" name="Rectangle 6">
            <a:extLst>
              <a:ext uri="{FF2B5EF4-FFF2-40B4-BE49-F238E27FC236}">
                <a16:creationId xmlns:a16="http://schemas.microsoft.com/office/drawing/2014/main" id="{4C70E560-FD05-5A48-6D34-D3EBD8654FB8}"/>
              </a:ext>
            </a:extLst>
          </p:cNvPr>
          <p:cNvSpPr/>
          <p:nvPr/>
        </p:nvSpPr>
        <p:spPr>
          <a:xfrm>
            <a:off x="5382194" y="2619375"/>
            <a:ext cx="1713931" cy="6468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4189118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104900" y="1560126"/>
            <a:ext cx="9698935" cy="3737745"/>
          </a:xfrm>
        </p:spPr>
        <p:txBody>
          <a:bodyPr anchor="ctr"/>
          <a:lstStyle/>
          <a:p>
            <a:pPr marL="285750" lvl="0" indent="-285750" algn="just">
              <a:buClr>
                <a:srgbClr val="0CB4B4"/>
              </a:buClr>
              <a:buFont typeface="Wingdings" panose="05000000000000000000" pitchFamily="2" charset="2"/>
              <a:buChar char="q"/>
            </a:pPr>
            <a:r>
              <a:rPr lang="es-419" sz="2400" dirty="0"/>
              <a:t>Tiene como propósito administrar el proceso de inscripción y retiro de las asignaturas que los estudiantes cursarían para un periodo académico, utilizando los modelos de inscripción y sus características como lo fuera la inscripción básica, estructurada o proyectada, así como la gestión de turnos, inscripción por bloques, listas de esperas, sobrepasos, entre otros.</a:t>
            </a:r>
            <a:endParaRPr lang="es-CO" sz="2400" dirty="0"/>
          </a:p>
        </p:txBody>
      </p:sp>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a:t>
            </a:r>
            <a:endParaRPr lang="es-CL" b="0" dirty="0">
              <a:solidFill>
                <a:schemeClr val="accent1"/>
              </a:solidFill>
            </a:endParaRP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Ejecución del CAPP</a:t>
            </a:r>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 – Avance Académico – Ejecución del CAPP</a:t>
            </a:r>
          </a:p>
          <a:p>
            <a:endParaRPr lang="es-419" sz="3200" dirty="0"/>
          </a:p>
        </p:txBody>
      </p:sp>
      <p:pic>
        <p:nvPicPr>
          <p:cNvPr id="1026" name="Picture 2">
            <a:extLst>
              <a:ext uri="{FF2B5EF4-FFF2-40B4-BE49-F238E27FC236}">
                <a16:creationId xmlns:a16="http://schemas.microsoft.com/office/drawing/2014/main" id="{4727DDCB-3438-96DC-C3F9-B1DFAF45B5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714" y="1617008"/>
            <a:ext cx="8252572" cy="4210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546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Ejecución del CAPP</a:t>
            </a:r>
          </a:p>
        </p:txBody>
      </p:sp>
      <p:sp>
        <p:nvSpPr>
          <p:cNvPr id="9" name="CuadroTexto 8">
            <a:extLst>
              <a:ext uri="{FF2B5EF4-FFF2-40B4-BE49-F238E27FC236}">
                <a16:creationId xmlns:a16="http://schemas.microsoft.com/office/drawing/2014/main" id="{CDA0D89D-33DC-4151-D805-A43C6E21B822}"/>
              </a:ext>
            </a:extLst>
          </p:cNvPr>
          <p:cNvSpPr txBox="1"/>
          <p:nvPr/>
        </p:nvSpPr>
        <p:spPr>
          <a:xfrm>
            <a:off x="8419151" y="3136611"/>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 – Avance Académico</a:t>
            </a:r>
            <a:endParaRPr lang="es-CL" b="0" dirty="0">
              <a:solidFill>
                <a:schemeClr val="accent1"/>
              </a:solidFill>
            </a:endParaRPr>
          </a:p>
        </p:txBody>
      </p:sp>
      <p:pic>
        <p:nvPicPr>
          <p:cNvPr id="2" name="Picture 9" descr="A purple map of south america&#10;&#10;AI-generated content may be incorrect.">
            <a:extLst>
              <a:ext uri="{FF2B5EF4-FFF2-40B4-BE49-F238E27FC236}">
                <a16:creationId xmlns:a16="http://schemas.microsoft.com/office/drawing/2014/main" id="{FDA01C81-0A44-ADEA-A6F8-B7DA27AC8182}"/>
              </a:ext>
            </a:extLst>
          </p:cNvPr>
          <p:cNvPicPr>
            <a:picLocks noChangeAspect="1"/>
          </p:cNvPicPr>
          <p:nvPr/>
        </p:nvPicPr>
        <p:blipFill>
          <a:blip r:embed="rId2"/>
          <a:stretch>
            <a:fillRect/>
          </a:stretch>
        </p:blipFill>
        <p:spPr>
          <a:xfrm>
            <a:off x="2628959" y="1312731"/>
            <a:ext cx="5219641" cy="5219641"/>
          </a:xfrm>
          <a:prstGeom prst="rect">
            <a:avLst/>
          </a:prstGeom>
        </p:spPr>
      </p:pic>
    </p:spTree>
    <p:extLst>
      <p:ext uri="{BB962C8B-B14F-4D97-AF65-F5344CB8AC3E}">
        <p14:creationId xmlns:p14="http://schemas.microsoft.com/office/powerpoint/2010/main" val="1448098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51A2C4E-9EAB-4066-C1E1-1286B6A8930B}"/>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CL" sz="2000" dirty="0"/>
              <a:t>La ejecución del CAPP corresponde a la evaluación de nivel de cumplimiento a una currícula de estudios de un estudiante, considerando los registros de historia académica, transferencias, equivalencias y demás características asociadas en la configuración de la currícula.</a:t>
            </a:r>
          </a:p>
          <a:p>
            <a:pPr marL="285750" indent="-285750" algn="just">
              <a:buClr>
                <a:srgbClr val="0CB4B4"/>
              </a:buClr>
              <a:buFont typeface="Wingdings" panose="05000000000000000000" pitchFamily="2" charset="2"/>
              <a:buChar char="q"/>
            </a:pPr>
            <a:r>
              <a:rPr lang="es-CL" sz="2000" dirty="0"/>
              <a:t>La ejecución del CAPP puede ser realizada de forma individual (SMARQCM) o masiva (SMRBCMP) y su uso dependerá del proceso académico que lo requiera.</a:t>
            </a:r>
          </a:p>
          <a:p>
            <a:pPr marL="0" indent="0" algn="just">
              <a:buClr>
                <a:srgbClr val="0CB4B4"/>
              </a:buClr>
              <a:buNone/>
            </a:pPr>
            <a:endParaRPr lang="es-419" sz="2000" dirty="0">
              <a:solidFill>
                <a:srgbClr val="7030A0"/>
              </a:solidFill>
            </a:endParaRPr>
          </a:p>
        </p:txBody>
      </p:sp>
      <p:sp>
        <p:nvSpPr>
          <p:cNvPr id="3" name="Marcador de texto vertical 2">
            <a:extLst>
              <a:ext uri="{FF2B5EF4-FFF2-40B4-BE49-F238E27FC236}">
                <a16:creationId xmlns:a16="http://schemas.microsoft.com/office/drawing/2014/main" id="{51945B24-A53A-5B2A-A335-1B6099500175}"/>
              </a:ext>
            </a:extLst>
          </p:cNvPr>
          <p:cNvSpPr>
            <a:spLocks noGrp="1"/>
          </p:cNvSpPr>
          <p:nvPr>
            <p:ph type="body" orient="vert" sz="quarter" idx="17"/>
          </p:nvPr>
        </p:nvSpPr>
        <p:spPr/>
        <p:txBody>
          <a:bodyPr/>
          <a:lstStyle/>
          <a:p>
            <a:r>
              <a:rPr lang="es-419" sz="1200" dirty="0"/>
              <a:t>Ejecución del CAPP</a:t>
            </a:r>
          </a:p>
        </p:txBody>
      </p:sp>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 – Avance Académico – Ejecución del CAPP</a:t>
            </a:r>
          </a:p>
        </p:txBody>
      </p:sp>
    </p:spTree>
    <p:extLst>
      <p:ext uri="{BB962C8B-B14F-4D97-AF65-F5344CB8AC3E}">
        <p14:creationId xmlns:p14="http://schemas.microsoft.com/office/powerpoint/2010/main" val="4032646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FDB4A-6C5D-66C9-0DAB-224F04709DB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F53157F-56E7-72B1-5672-C6429EA156F2}"/>
              </a:ext>
            </a:extLst>
          </p:cNvPr>
          <p:cNvSpPr>
            <a:spLocks noGrp="1"/>
          </p:cNvSpPr>
          <p:nvPr>
            <p:ph type="body" sz="quarter" idx="18"/>
          </p:nvPr>
        </p:nvSpPr>
        <p:spPr>
          <a:xfrm>
            <a:off x="1027871" y="2159000"/>
            <a:ext cx="10136257" cy="4102652"/>
          </a:xfrm>
        </p:spPr>
        <p:txBody>
          <a:bodyPr vert="horz" lIns="91440" tIns="45720" rIns="91440" bIns="45720" rtlCol="0" anchor="t">
            <a:noAutofit/>
          </a:bodyPr>
          <a:lstStyle/>
          <a:p>
            <a:pPr marL="285750" indent="-285750" algn="just">
              <a:buClr>
                <a:srgbClr val="0CB4B4"/>
              </a:buClr>
              <a:buFont typeface="Wingdings" panose="05000000000000000000" pitchFamily="2" charset="2"/>
              <a:buChar char="q"/>
            </a:pPr>
            <a:r>
              <a:rPr lang="es-CL" sz="2000" dirty="0"/>
              <a:t>Los resultados de las ejecuciones del CAPP (Solicitudes) muestran el avance académico del estudiante verificando el cumplimiento de los requerimientos académicos de un programa de estudios determinado, cuyos resultados son insumos para otros procesos académicos.</a:t>
            </a:r>
          </a:p>
          <a:p>
            <a:pPr marL="285750" indent="-285750" algn="just">
              <a:buClr>
                <a:srgbClr val="0CB4B4"/>
              </a:buClr>
              <a:buFont typeface="Wingdings" panose="05000000000000000000" pitchFamily="2" charset="2"/>
              <a:buChar char="q"/>
            </a:pPr>
            <a:r>
              <a:rPr lang="es-CL" sz="2000" dirty="0"/>
              <a:t>Esta evaluación es requerida en algunos procesos académicos como inscripción de asignaturas, cierre de periodo, procesos de graduación, ajuste de historia académica, entre otros.</a:t>
            </a:r>
          </a:p>
          <a:p>
            <a:pPr marL="285750" indent="-285750" algn="just">
              <a:buClr>
                <a:srgbClr val="0CB4B4"/>
              </a:buClr>
              <a:buFont typeface="Wingdings" panose="05000000000000000000" pitchFamily="2" charset="2"/>
              <a:buChar char="q"/>
            </a:pPr>
            <a:endParaRPr lang="es-CL" sz="2000" dirty="0">
              <a:solidFill>
                <a:srgbClr val="7030A0"/>
              </a:solidFill>
            </a:endParaRPr>
          </a:p>
        </p:txBody>
      </p:sp>
      <p:sp>
        <p:nvSpPr>
          <p:cNvPr id="3" name="Marcador de texto vertical 2">
            <a:extLst>
              <a:ext uri="{FF2B5EF4-FFF2-40B4-BE49-F238E27FC236}">
                <a16:creationId xmlns:a16="http://schemas.microsoft.com/office/drawing/2014/main" id="{8A5C45E3-08F4-163E-2ACA-CE70C13185D6}"/>
              </a:ext>
            </a:extLst>
          </p:cNvPr>
          <p:cNvSpPr>
            <a:spLocks noGrp="1"/>
          </p:cNvSpPr>
          <p:nvPr>
            <p:ph type="body" orient="vert" sz="quarter" idx="17"/>
          </p:nvPr>
        </p:nvSpPr>
        <p:spPr/>
        <p:txBody>
          <a:bodyPr/>
          <a:lstStyle/>
          <a:p>
            <a:r>
              <a:rPr lang="es-419" sz="1200" dirty="0"/>
              <a:t>Ejecución del CAPP</a:t>
            </a:r>
          </a:p>
        </p:txBody>
      </p:sp>
      <p:sp>
        <p:nvSpPr>
          <p:cNvPr id="7" name="Título 3">
            <a:extLst>
              <a:ext uri="{FF2B5EF4-FFF2-40B4-BE49-F238E27FC236}">
                <a16:creationId xmlns:a16="http://schemas.microsoft.com/office/drawing/2014/main" id="{306941BD-2912-C112-1A0F-04C82E75A420}"/>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accent1"/>
                </a:solidFill>
              </a:rPr>
              <a:t>Overview: </a:t>
            </a:r>
            <a:r>
              <a:rPr lang="es-ES_tradnl" b="0" dirty="0">
                <a:solidFill>
                  <a:schemeClr val="accent1"/>
                </a:solidFill>
              </a:rPr>
              <a:t>Macroproceso </a:t>
            </a:r>
            <a:r>
              <a:rPr lang="es-419" b="0" dirty="0">
                <a:solidFill>
                  <a:schemeClr val="accent1"/>
                </a:solidFill>
              </a:rPr>
              <a:t>Gestionar la inscripción de cursos – Avance Académico – Ejecución del CAPP</a:t>
            </a:r>
          </a:p>
        </p:txBody>
      </p:sp>
    </p:spTree>
    <p:extLst>
      <p:ext uri="{BB962C8B-B14F-4D97-AF65-F5344CB8AC3E}">
        <p14:creationId xmlns:p14="http://schemas.microsoft.com/office/powerpoint/2010/main" val="2146643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Ejecución del CAPP</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B39392AB-CC9F-3DA5-CE50-736790059FBA}"/>
              </a:ext>
            </a:extLst>
          </p:cNvPr>
          <p:cNvPicPr>
            <a:picLocks noChangeAspect="1"/>
          </p:cNvPicPr>
          <p:nvPr/>
        </p:nvPicPr>
        <p:blipFill>
          <a:blip r:embed="rId2"/>
          <a:stretch>
            <a:fillRect/>
          </a:stretch>
        </p:blipFill>
        <p:spPr>
          <a:xfrm>
            <a:off x="810247" y="954158"/>
            <a:ext cx="10685477" cy="4855516"/>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accent1"/>
                </a:solidFill>
              </a:rPr>
              <a:t>Premisa: </a:t>
            </a:r>
            <a:r>
              <a:rPr lang="es-ES_tradnl" b="0" dirty="0">
                <a:solidFill>
                  <a:schemeClr val="accent1"/>
                </a:solidFill>
              </a:rPr>
              <a:t>SGASTDN</a:t>
            </a:r>
            <a:r>
              <a:rPr lang="es-419" b="0" dirty="0">
                <a:solidFill>
                  <a:schemeClr val="accent1"/>
                </a:solidFill>
              </a:rPr>
              <a:t> General de alumnos</a:t>
            </a:r>
            <a:br>
              <a:rPr lang="es-CL" dirty="0">
                <a:solidFill>
                  <a:schemeClr val="accent1"/>
                </a:solidFill>
              </a:rPr>
            </a:br>
            <a:endParaRPr lang="es-CL" dirty="0">
              <a:solidFill>
                <a:schemeClr val="accent1"/>
              </a:solidFill>
            </a:endParaRPr>
          </a:p>
        </p:txBody>
      </p:sp>
      <p:sp>
        <p:nvSpPr>
          <p:cNvPr id="12" name="Rectángulo redondeado 5">
            <a:extLst>
              <a:ext uri="{FF2B5EF4-FFF2-40B4-BE49-F238E27FC236}">
                <a16:creationId xmlns:a16="http://schemas.microsoft.com/office/drawing/2014/main" id="{D5E806EA-793C-6056-8003-0CDE8AA0F2BC}"/>
              </a:ext>
            </a:extLst>
          </p:cNvPr>
          <p:cNvSpPr/>
          <p:nvPr/>
        </p:nvSpPr>
        <p:spPr>
          <a:xfrm>
            <a:off x="2764734" y="4488873"/>
            <a:ext cx="5751193" cy="10324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las personas a evaluar en la ejecución del CAPP cuenten con registros como estudiante (Macroproceso Gestionar Estudiantes).</a:t>
            </a:r>
          </a:p>
        </p:txBody>
      </p:sp>
    </p:spTree>
    <p:extLst>
      <p:ext uri="{BB962C8B-B14F-4D97-AF65-F5344CB8AC3E}">
        <p14:creationId xmlns:p14="http://schemas.microsoft.com/office/powerpoint/2010/main" val="3328105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59EB6-1864-F6A7-32C8-EB3CC3DADABB}"/>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87446453-8AA4-37FD-24CF-2A1EDCD69670}"/>
              </a:ext>
            </a:extLst>
          </p:cNvPr>
          <p:cNvPicPr>
            <a:picLocks noChangeAspect="1"/>
          </p:cNvPicPr>
          <p:nvPr/>
        </p:nvPicPr>
        <p:blipFill>
          <a:blip r:embed="rId2"/>
          <a:stretch>
            <a:fillRect/>
          </a:stretch>
        </p:blipFill>
        <p:spPr>
          <a:xfrm>
            <a:off x="729672" y="954157"/>
            <a:ext cx="8010495" cy="3627079"/>
          </a:xfrm>
          <a:prstGeom prst="rect">
            <a:avLst/>
          </a:prstGeom>
        </p:spPr>
      </p:pic>
      <p:sp>
        <p:nvSpPr>
          <p:cNvPr id="3" name="Marcador de texto vertical 2">
            <a:extLst>
              <a:ext uri="{FF2B5EF4-FFF2-40B4-BE49-F238E27FC236}">
                <a16:creationId xmlns:a16="http://schemas.microsoft.com/office/drawing/2014/main" id="{E5334A75-CC32-3EE4-6737-1579E6857BE5}"/>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1C1669CD-6086-2E3F-4064-6F824ECD7317}"/>
              </a:ext>
            </a:extLst>
          </p:cNvPr>
          <p:cNvSpPr>
            <a:spLocks noGrp="1"/>
          </p:cNvSpPr>
          <p:nvPr>
            <p:ph type="title"/>
          </p:nvPr>
        </p:nvSpPr>
        <p:spPr>
          <a:xfrm>
            <a:off x="810247" y="327992"/>
            <a:ext cx="10271883" cy="626165"/>
          </a:xfrm>
        </p:spPr>
        <p:txBody>
          <a:bodyPr/>
          <a:lstStyle/>
          <a:p>
            <a:r>
              <a:rPr lang="es-ES_tradnl" dirty="0">
                <a:solidFill>
                  <a:schemeClr val="accent1"/>
                </a:solidFill>
              </a:rPr>
              <a:t>Premisa: </a:t>
            </a:r>
            <a:r>
              <a:rPr lang="es-ES_tradnl" b="0" dirty="0">
                <a:solidFill>
                  <a:schemeClr val="accent1"/>
                </a:solidFill>
              </a:rPr>
              <a:t>SMAPROG </a:t>
            </a:r>
            <a:r>
              <a:rPr lang="es-419" b="0" dirty="0">
                <a:solidFill>
                  <a:schemeClr val="accent1"/>
                </a:solidFill>
              </a:rPr>
              <a:t>Requerimientos de programa</a:t>
            </a:r>
            <a:br>
              <a:rPr lang="es-CL" dirty="0">
                <a:solidFill>
                  <a:schemeClr val="accent1"/>
                </a:solidFill>
              </a:rPr>
            </a:br>
            <a:endParaRPr lang="es-CL" dirty="0">
              <a:solidFill>
                <a:schemeClr val="accent1"/>
              </a:solidFill>
            </a:endParaRPr>
          </a:p>
        </p:txBody>
      </p:sp>
      <p:sp>
        <p:nvSpPr>
          <p:cNvPr id="9" name="Rectángulo 8">
            <a:extLst>
              <a:ext uri="{FF2B5EF4-FFF2-40B4-BE49-F238E27FC236}">
                <a16:creationId xmlns:a16="http://schemas.microsoft.com/office/drawing/2014/main" id="{68079460-580D-1F10-BE84-4850F9A04E76}"/>
              </a:ext>
            </a:extLst>
          </p:cNvPr>
          <p:cNvSpPr/>
          <p:nvPr/>
        </p:nvSpPr>
        <p:spPr>
          <a:xfrm>
            <a:off x="895926" y="1561850"/>
            <a:ext cx="1071419" cy="1468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pic>
        <p:nvPicPr>
          <p:cNvPr id="11" name="Imagen 10">
            <a:extLst>
              <a:ext uri="{FF2B5EF4-FFF2-40B4-BE49-F238E27FC236}">
                <a16:creationId xmlns:a16="http://schemas.microsoft.com/office/drawing/2014/main" id="{8D4B28E3-0A81-086F-CD15-5027F58D2C6A}"/>
              </a:ext>
            </a:extLst>
          </p:cNvPr>
          <p:cNvPicPr>
            <a:picLocks noChangeAspect="1"/>
          </p:cNvPicPr>
          <p:nvPr/>
        </p:nvPicPr>
        <p:blipFill>
          <a:blip r:embed="rId3"/>
          <a:stretch>
            <a:fillRect/>
          </a:stretch>
        </p:blipFill>
        <p:spPr>
          <a:xfrm>
            <a:off x="4181505" y="2761429"/>
            <a:ext cx="8010495" cy="3639614"/>
          </a:xfrm>
          <a:prstGeom prst="rect">
            <a:avLst/>
          </a:prstGeom>
        </p:spPr>
      </p:pic>
      <p:sp>
        <p:nvSpPr>
          <p:cNvPr id="12" name="Rectángulo redondeado 5">
            <a:extLst>
              <a:ext uri="{FF2B5EF4-FFF2-40B4-BE49-F238E27FC236}">
                <a16:creationId xmlns:a16="http://schemas.microsoft.com/office/drawing/2014/main" id="{A9085F5C-F8A7-25DB-7208-E168BE42DD19}"/>
              </a:ext>
            </a:extLst>
          </p:cNvPr>
          <p:cNvSpPr/>
          <p:nvPr/>
        </p:nvSpPr>
        <p:spPr>
          <a:xfrm>
            <a:off x="2283240" y="4740276"/>
            <a:ext cx="7063960" cy="107863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el programa de estudios al cual está relacionado el estudiante cuente su configuración en la página SMAPROG: que esté activo y que cuente con áreas, no cursos o atributos como parte de la configuración del CAPP (Macroproceso de Oferta Académica).</a:t>
            </a:r>
          </a:p>
        </p:txBody>
      </p:sp>
      <p:sp>
        <p:nvSpPr>
          <p:cNvPr id="13" name="Rectángulo 12">
            <a:extLst>
              <a:ext uri="{FF2B5EF4-FFF2-40B4-BE49-F238E27FC236}">
                <a16:creationId xmlns:a16="http://schemas.microsoft.com/office/drawing/2014/main" id="{34D91F67-C13C-5395-86A4-D8A8D4DD4305}"/>
              </a:ext>
            </a:extLst>
          </p:cNvPr>
          <p:cNvSpPr/>
          <p:nvPr/>
        </p:nvSpPr>
        <p:spPr>
          <a:xfrm>
            <a:off x="4181505" y="3355560"/>
            <a:ext cx="1840604" cy="12256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959300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7C87D-0CF5-A9D5-65DC-58EADFB17FA5}"/>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A82AAA5B-197F-1F73-3AE1-6240B3C28910}"/>
              </a:ext>
            </a:extLst>
          </p:cNvPr>
          <p:cNvPicPr>
            <a:picLocks noChangeAspect="1"/>
          </p:cNvPicPr>
          <p:nvPr/>
        </p:nvPicPr>
        <p:blipFill>
          <a:blip r:embed="rId2"/>
          <a:stretch>
            <a:fillRect/>
          </a:stretch>
        </p:blipFill>
        <p:spPr>
          <a:xfrm>
            <a:off x="690176" y="954157"/>
            <a:ext cx="8018851" cy="3639614"/>
          </a:xfrm>
          <a:prstGeom prst="rect">
            <a:avLst/>
          </a:prstGeom>
        </p:spPr>
      </p:pic>
      <p:sp>
        <p:nvSpPr>
          <p:cNvPr id="3" name="Marcador de texto vertical 2">
            <a:extLst>
              <a:ext uri="{FF2B5EF4-FFF2-40B4-BE49-F238E27FC236}">
                <a16:creationId xmlns:a16="http://schemas.microsoft.com/office/drawing/2014/main" id="{B099F815-59E1-F76D-9181-15A3C0D142B0}"/>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70D3AED5-0E42-D097-5302-07543951DC8B}"/>
              </a:ext>
            </a:extLst>
          </p:cNvPr>
          <p:cNvSpPr>
            <a:spLocks noGrp="1"/>
          </p:cNvSpPr>
          <p:nvPr>
            <p:ph type="title"/>
          </p:nvPr>
        </p:nvSpPr>
        <p:spPr>
          <a:xfrm>
            <a:off x="810247" y="327992"/>
            <a:ext cx="10271883" cy="626165"/>
          </a:xfrm>
        </p:spPr>
        <p:txBody>
          <a:bodyPr/>
          <a:lstStyle/>
          <a:p>
            <a:r>
              <a:rPr lang="es-ES_tradnl" dirty="0">
                <a:solidFill>
                  <a:schemeClr val="accent1"/>
                </a:solidFill>
              </a:rPr>
              <a:t>Premisa: </a:t>
            </a:r>
            <a:r>
              <a:rPr lang="es-ES_tradnl" b="0" dirty="0">
                <a:solidFill>
                  <a:schemeClr val="accent1"/>
                </a:solidFill>
              </a:rPr>
              <a:t>SMAAREA </a:t>
            </a:r>
            <a:r>
              <a:rPr lang="es-419" b="0" dirty="0">
                <a:solidFill>
                  <a:schemeClr val="accent1"/>
                </a:solidFill>
              </a:rPr>
              <a:t>Requerimientos de área</a:t>
            </a:r>
            <a:br>
              <a:rPr lang="es-CL" b="1" dirty="0">
                <a:solidFill>
                  <a:schemeClr val="accent1"/>
                </a:solidFill>
                <a:effectLst/>
              </a:rPr>
            </a:br>
            <a:endParaRPr lang="es-CL" dirty="0">
              <a:solidFill>
                <a:schemeClr val="accent1"/>
              </a:solidFill>
            </a:endParaRPr>
          </a:p>
        </p:txBody>
      </p:sp>
      <p:pic>
        <p:nvPicPr>
          <p:cNvPr id="11" name="Imagen 10">
            <a:extLst>
              <a:ext uri="{FF2B5EF4-FFF2-40B4-BE49-F238E27FC236}">
                <a16:creationId xmlns:a16="http://schemas.microsoft.com/office/drawing/2014/main" id="{D0F450F3-750D-8D49-4406-D383842399A7}"/>
              </a:ext>
            </a:extLst>
          </p:cNvPr>
          <p:cNvPicPr>
            <a:picLocks noChangeAspect="1"/>
          </p:cNvPicPr>
          <p:nvPr/>
        </p:nvPicPr>
        <p:blipFill>
          <a:blip r:embed="rId3"/>
          <a:stretch>
            <a:fillRect/>
          </a:stretch>
        </p:blipFill>
        <p:spPr>
          <a:xfrm>
            <a:off x="3719703" y="2639355"/>
            <a:ext cx="8018851" cy="3651403"/>
          </a:xfrm>
          <a:prstGeom prst="rect">
            <a:avLst/>
          </a:prstGeom>
        </p:spPr>
      </p:pic>
      <p:sp>
        <p:nvSpPr>
          <p:cNvPr id="12" name="Rectángulo redondeado 5">
            <a:extLst>
              <a:ext uri="{FF2B5EF4-FFF2-40B4-BE49-F238E27FC236}">
                <a16:creationId xmlns:a16="http://schemas.microsoft.com/office/drawing/2014/main" id="{7A311455-A60F-BA0B-5914-1764076A13EC}"/>
              </a:ext>
            </a:extLst>
          </p:cNvPr>
          <p:cNvSpPr/>
          <p:nvPr/>
        </p:nvSpPr>
        <p:spPr>
          <a:xfrm>
            <a:off x="2264342" y="5101377"/>
            <a:ext cx="6735617" cy="10708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el programa de estudios al cual está relacionado el estudiante cuente con áreas configuradas: activas y con las reglas, no cursos o atributos como parte de la configuración del CAPP (Macroproceso de Oferta Académica)</a:t>
            </a:r>
          </a:p>
        </p:txBody>
      </p:sp>
      <p:sp>
        <p:nvSpPr>
          <p:cNvPr id="13" name="Rectángulo 12">
            <a:extLst>
              <a:ext uri="{FF2B5EF4-FFF2-40B4-BE49-F238E27FC236}">
                <a16:creationId xmlns:a16="http://schemas.microsoft.com/office/drawing/2014/main" id="{9F62E21F-7993-95AC-F1BE-13F129AD07E6}"/>
              </a:ext>
            </a:extLst>
          </p:cNvPr>
          <p:cNvSpPr/>
          <p:nvPr/>
        </p:nvSpPr>
        <p:spPr>
          <a:xfrm>
            <a:off x="895926" y="1561850"/>
            <a:ext cx="1071419" cy="1468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13">
            <a:extLst>
              <a:ext uri="{FF2B5EF4-FFF2-40B4-BE49-F238E27FC236}">
                <a16:creationId xmlns:a16="http://schemas.microsoft.com/office/drawing/2014/main" id="{D702AB50-7BA5-0D85-11A7-6C78F73CA837}"/>
              </a:ext>
            </a:extLst>
          </p:cNvPr>
          <p:cNvSpPr/>
          <p:nvPr/>
        </p:nvSpPr>
        <p:spPr>
          <a:xfrm>
            <a:off x="3719703" y="3257528"/>
            <a:ext cx="1018552" cy="94501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443751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1625-A445-9618-F677-594784B76A53}"/>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567ABA2-146F-4182-2C11-6DF8845D7D40}"/>
              </a:ext>
            </a:extLst>
          </p:cNvPr>
          <p:cNvPicPr>
            <a:picLocks noChangeAspect="1"/>
          </p:cNvPicPr>
          <p:nvPr/>
        </p:nvPicPr>
        <p:blipFill>
          <a:blip r:embed="rId2"/>
          <a:stretch>
            <a:fillRect/>
          </a:stretch>
        </p:blipFill>
        <p:spPr>
          <a:xfrm>
            <a:off x="690176" y="1235611"/>
            <a:ext cx="11068954" cy="5081210"/>
          </a:xfrm>
          <a:prstGeom prst="rect">
            <a:avLst/>
          </a:prstGeom>
        </p:spPr>
      </p:pic>
      <p:sp>
        <p:nvSpPr>
          <p:cNvPr id="3" name="Marcador de texto vertical 2">
            <a:extLst>
              <a:ext uri="{FF2B5EF4-FFF2-40B4-BE49-F238E27FC236}">
                <a16:creationId xmlns:a16="http://schemas.microsoft.com/office/drawing/2014/main" id="{6E8C7790-F0AE-91DB-DB7F-93D701B3BBBF}"/>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E77B746C-CD5E-EEBD-B517-F3ABBC4D84A4}"/>
              </a:ext>
            </a:extLst>
          </p:cNvPr>
          <p:cNvSpPr>
            <a:spLocks noGrp="1"/>
          </p:cNvSpPr>
          <p:nvPr>
            <p:ph type="title"/>
          </p:nvPr>
        </p:nvSpPr>
        <p:spPr>
          <a:xfrm>
            <a:off x="810247" y="327992"/>
            <a:ext cx="10271883" cy="626165"/>
          </a:xfrm>
        </p:spPr>
        <p:txBody>
          <a:bodyPr/>
          <a:lstStyle/>
          <a:p>
            <a:r>
              <a:rPr lang="es-ES_tradnl" dirty="0">
                <a:solidFill>
                  <a:schemeClr val="accent1"/>
                </a:solidFill>
              </a:rPr>
              <a:t>Premisa: </a:t>
            </a:r>
            <a:r>
              <a:rPr lang="es-419" b="0" dirty="0">
                <a:solidFill>
                  <a:schemeClr val="accent1"/>
                </a:solidFill>
              </a:rPr>
              <a:t>Validación de código de tipo de cumplimiento (STVCPRT)</a:t>
            </a:r>
            <a:br>
              <a:rPr lang="es-CL" b="1" dirty="0">
                <a:solidFill>
                  <a:schemeClr val="accent1"/>
                </a:solidFill>
                <a:effectLst/>
              </a:rPr>
            </a:br>
            <a:endParaRPr lang="es-CL" dirty="0">
              <a:solidFill>
                <a:schemeClr val="accent1"/>
              </a:solidFill>
            </a:endParaRPr>
          </a:p>
        </p:txBody>
      </p:sp>
      <p:sp>
        <p:nvSpPr>
          <p:cNvPr id="12" name="Rectángulo redondeado 5">
            <a:extLst>
              <a:ext uri="{FF2B5EF4-FFF2-40B4-BE49-F238E27FC236}">
                <a16:creationId xmlns:a16="http://schemas.microsoft.com/office/drawing/2014/main" id="{8D8B8489-BA53-3D21-44E9-5198A1A9AA06}"/>
              </a:ext>
            </a:extLst>
          </p:cNvPr>
          <p:cNvSpPr/>
          <p:nvPr/>
        </p:nvSpPr>
        <p:spPr>
          <a:xfrm>
            <a:off x="2153506" y="2893589"/>
            <a:ext cx="6735617" cy="10708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Se requiere que  se haya configurado al menos un tipo de cumplimiento en la tabla de validación de código de tipo de cumplimiento (STVCPRT)</a:t>
            </a:r>
          </a:p>
        </p:txBody>
      </p:sp>
    </p:spTree>
    <p:extLst>
      <p:ext uri="{BB962C8B-B14F-4D97-AF65-F5344CB8AC3E}">
        <p14:creationId xmlns:p14="http://schemas.microsoft.com/office/powerpoint/2010/main" val="38543480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B3B75-6D66-A4C8-E960-42FE1D9D53E4}"/>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80FE3D7-4E8E-2A41-31C0-6C1F62B4FE5F}"/>
              </a:ext>
            </a:extLst>
          </p:cNvPr>
          <p:cNvPicPr>
            <a:picLocks noChangeAspect="1"/>
          </p:cNvPicPr>
          <p:nvPr/>
        </p:nvPicPr>
        <p:blipFill>
          <a:blip r:embed="rId2"/>
          <a:stretch>
            <a:fillRect/>
          </a:stretch>
        </p:blipFill>
        <p:spPr>
          <a:xfrm>
            <a:off x="690176" y="1261256"/>
            <a:ext cx="11068954" cy="5081210"/>
          </a:xfrm>
          <a:prstGeom prst="rect">
            <a:avLst/>
          </a:prstGeom>
        </p:spPr>
      </p:pic>
      <p:sp>
        <p:nvSpPr>
          <p:cNvPr id="3" name="Marcador de texto vertical 2">
            <a:extLst>
              <a:ext uri="{FF2B5EF4-FFF2-40B4-BE49-F238E27FC236}">
                <a16:creationId xmlns:a16="http://schemas.microsoft.com/office/drawing/2014/main" id="{05015817-A773-CB8E-180F-8AB246AB1155}"/>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39F8B972-08D6-E12E-FC09-2519AA042BB5}"/>
              </a:ext>
            </a:extLst>
          </p:cNvPr>
          <p:cNvSpPr>
            <a:spLocks noGrp="1"/>
          </p:cNvSpPr>
          <p:nvPr>
            <p:ph type="title"/>
          </p:nvPr>
        </p:nvSpPr>
        <p:spPr>
          <a:xfrm>
            <a:off x="810247" y="327992"/>
            <a:ext cx="10271883" cy="626165"/>
          </a:xfrm>
        </p:spPr>
        <p:txBody>
          <a:bodyPr/>
          <a:lstStyle/>
          <a:p>
            <a:r>
              <a:rPr lang="es-ES_tradnl" dirty="0">
                <a:solidFill>
                  <a:schemeClr val="accent1"/>
                </a:solidFill>
              </a:rPr>
              <a:t>Premisa: </a:t>
            </a:r>
            <a:r>
              <a:rPr lang="es-419" b="0" dirty="0">
                <a:solidFill>
                  <a:schemeClr val="accent1"/>
                </a:solidFill>
              </a:rPr>
              <a:t>Reglas de tipo de impresión de cumplimiento (SMACPRT)</a:t>
            </a:r>
            <a:br>
              <a:rPr lang="es-CL" b="1" dirty="0">
                <a:solidFill>
                  <a:schemeClr val="accent1"/>
                </a:solidFill>
                <a:effectLst/>
              </a:rPr>
            </a:br>
            <a:endParaRPr lang="es-CL" dirty="0">
              <a:solidFill>
                <a:schemeClr val="accent1"/>
              </a:solidFill>
            </a:endParaRPr>
          </a:p>
        </p:txBody>
      </p:sp>
      <p:sp>
        <p:nvSpPr>
          <p:cNvPr id="12" name="Rectángulo redondeado 5">
            <a:extLst>
              <a:ext uri="{FF2B5EF4-FFF2-40B4-BE49-F238E27FC236}">
                <a16:creationId xmlns:a16="http://schemas.microsoft.com/office/drawing/2014/main" id="{0B06A716-988C-5271-DC17-961CA9D3FA5B}"/>
              </a:ext>
            </a:extLst>
          </p:cNvPr>
          <p:cNvSpPr/>
          <p:nvPr/>
        </p:nvSpPr>
        <p:spPr>
          <a:xfrm>
            <a:off x="2190451" y="4140498"/>
            <a:ext cx="6735617" cy="1070822"/>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ES_tradnl" sz="1200" dirty="0"/>
              <a:t>Las Reglas de impresión del cumplimiento deben estar configuradas en la página SMACPRT</a:t>
            </a:r>
          </a:p>
        </p:txBody>
      </p:sp>
    </p:spTree>
    <p:extLst>
      <p:ext uri="{BB962C8B-B14F-4D97-AF65-F5344CB8AC3E}">
        <p14:creationId xmlns:p14="http://schemas.microsoft.com/office/powerpoint/2010/main" val="3918384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F89FA-9845-FDA4-326A-FD62F5C3793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615F30C1-4456-21C7-3DE6-758960781D6B}"/>
              </a:ext>
            </a:extLst>
          </p:cNvPr>
          <p:cNvSpPr>
            <a:spLocks noGrp="1"/>
          </p:cNvSpPr>
          <p:nvPr>
            <p:ph type="body" sz="quarter" idx="10"/>
          </p:nvPr>
        </p:nvSpPr>
        <p:spPr/>
        <p:txBody>
          <a:bodyPr/>
          <a:lstStyle/>
          <a:p>
            <a:r>
              <a:rPr lang="es-CL" dirty="0"/>
              <a:t>Configuración por default de la ejecución de CAPP</a:t>
            </a:r>
            <a:endParaRPr lang="es-419" dirty="0"/>
          </a:p>
        </p:txBody>
      </p:sp>
      <p:sp>
        <p:nvSpPr>
          <p:cNvPr id="2" name="Marcador de texto vertical 1">
            <a:extLst>
              <a:ext uri="{FF2B5EF4-FFF2-40B4-BE49-F238E27FC236}">
                <a16:creationId xmlns:a16="http://schemas.microsoft.com/office/drawing/2014/main" id="{140BF272-3669-3E67-D1E2-459D01B50F7C}"/>
              </a:ext>
            </a:extLst>
          </p:cNvPr>
          <p:cNvSpPr>
            <a:spLocks noGrp="1"/>
          </p:cNvSpPr>
          <p:nvPr>
            <p:ph type="body" sz="quarter" idx="11"/>
          </p:nvPr>
        </p:nvSpPr>
        <p:spPr/>
        <p:txBody>
          <a:bodyPr/>
          <a:lstStyle/>
          <a:p>
            <a:r>
              <a:rPr lang="es-419" sz="1200" dirty="0"/>
              <a:t>Ejecución del CAPP</a:t>
            </a:r>
          </a:p>
        </p:txBody>
      </p:sp>
    </p:spTree>
    <p:extLst>
      <p:ext uri="{BB962C8B-B14F-4D97-AF65-F5344CB8AC3E}">
        <p14:creationId xmlns:p14="http://schemas.microsoft.com/office/powerpoint/2010/main" val="33191655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64151-5B69-9B38-727B-4311E962AFBA}"/>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9C60FC0C-39F7-2DA0-E1A1-8994C605B96A}"/>
              </a:ext>
            </a:extLst>
          </p:cNvPr>
          <p:cNvPicPr>
            <a:picLocks noChangeAspect="1"/>
          </p:cNvPicPr>
          <p:nvPr/>
        </p:nvPicPr>
        <p:blipFill>
          <a:blip r:embed="rId2"/>
          <a:stretch>
            <a:fillRect/>
          </a:stretch>
        </p:blipFill>
        <p:spPr>
          <a:xfrm>
            <a:off x="810246" y="1664149"/>
            <a:ext cx="10758535" cy="903560"/>
          </a:xfrm>
          <a:prstGeom prst="rect">
            <a:avLst/>
          </a:prstGeom>
        </p:spPr>
      </p:pic>
      <p:sp>
        <p:nvSpPr>
          <p:cNvPr id="3" name="Marcador de texto vertical 2">
            <a:extLst>
              <a:ext uri="{FF2B5EF4-FFF2-40B4-BE49-F238E27FC236}">
                <a16:creationId xmlns:a16="http://schemas.microsoft.com/office/drawing/2014/main" id="{A9123117-E722-A9DF-18D2-DB2CD138A2F5}"/>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038C0CF8-EBCD-F5B5-72FD-AD7A16E99772}"/>
              </a:ext>
            </a:extLst>
          </p:cNvPr>
          <p:cNvSpPr>
            <a:spLocks noGrp="1"/>
          </p:cNvSpPr>
          <p:nvPr>
            <p:ph type="title"/>
          </p:nvPr>
        </p:nvSpPr>
        <p:spPr>
          <a:xfrm>
            <a:off x="810246" y="612729"/>
            <a:ext cx="10271883" cy="626165"/>
          </a:xfrm>
        </p:spPr>
        <p:txBody>
          <a:bodyPr/>
          <a:lstStyle/>
          <a:p>
            <a:r>
              <a:rPr lang="es-ES_tradnl" dirty="0">
                <a:solidFill>
                  <a:schemeClr val="accent1"/>
                </a:solidFill>
              </a:rPr>
              <a:t> </a:t>
            </a:r>
            <a:r>
              <a:rPr lang="es-419" dirty="0">
                <a:solidFill>
                  <a:schemeClr val="accent1"/>
                </a:solidFill>
              </a:rPr>
              <a:t>Parámetro predefinido de cumplimiento (</a:t>
            </a:r>
            <a:r>
              <a:rPr lang="es-ES_tradnl" dirty="0">
                <a:solidFill>
                  <a:schemeClr val="accent1"/>
                </a:solidFill>
              </a:rPr>
              <a:t>SMADFLT)</a:t>
            </a: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3C036331-4795-CEF8-40F5-3BFDAF45BE0B}"/>
              </a:ext>
            </a:extLst>
          </p:cNvPr>
          <p:cNvSpPr/>
          <p:nvPr/>
        </p:nvSpPr>
        <p:spPr>
          <a:xfrm>
            <a:off x="2041236" y="2866078"/>
            <a:ext cx="7656946" cy="186294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CO" sz="1200" b="1" dirty="0"/>
              <a:t> </a:t>
            </a:r>
            <a:r>
              <a:rPr lang="es-CO" sz="1200" dirty="0"/>
              <a:t>Para la ejecución del CAPP es necesario la preconfiguración de los parámetros usados en cada solicitud de cumplimiento. Para eso es necesario ingresar ala página SMADFLT y seguir los siguientes pasos:</a:t>
            </a:r>
          </a:p>
          <a:p>
            <a:pPr marL="228600" indent="-228600">
              <a:buFont typeface="+mj-lt"/>
              <a:buAutoNum type="arabicPeriod"/>
            </a:pPr>
            <a:r>
              <a:rPr lang="es-CO" sz="1200" dirty="0"/>
              <a:t>Ingresar o seleccionar el código campo ‘Código predefinido’ . Las opciones son:</a:t>
            </a:r>
          </a:p>
          <a:p>
            <a:pPr marL="685800" lvl="1" indent="-228600">
              <a:buFont typeface="Arial" panose="020B0604020202020204" pitchFamily="34" charset="0"/>
              <a:buChar char="•"/>
            </a:pPr>
            <a:r>
              <a:rPr lang="es-CO" sz="1200" dirty="0"/>
              <a:t>BATCH: corresponde a la configuración de la ejecución del CAPP masivo utilizada desde </a:t>
            </a:r>
            <a:r>
              <a:rPr lang="es-419" sz="1200" dirty="0"/>
              <a:t>SMRBCMP</a:t>
            </a:r>
            <a:endParaRPr lang="es-CO" sz="1200" dirty="0"/>
          </a:p>
          <a:p>
            <a:pPr marL="685800" lvl="1" indent="-228600">
              <a:buFont typeface="Arial" panose="020B0604020202020204" pitchFamily="34" charset="0"/>
              <a:buChar char="•"/>
            </a:pPr>
            <a:r>
              <a:rPr lang="es-CO" sz="1200" dirty="0"/>
              <a:t>ONLINE: corresponde a la configuración de la ejecución del CAPP individual  que es ejecutada desde el proceso de cumplimiento por lotes </a:t>
            </a:r>
            <a:r>
              <a:rPr lang="es-419" sz="1200" dirty="0"/>
              <a:t>SMARQCM</a:t>
            </a:r>
            <a:endParaRPr lang="es-CO" sz="1200" dirty="0"/>
          </a:p>
          <a:p>
            <a:pPr marL="685800" lvl="1" indent="-228600">
              <a:buFont typeface="Arial" panose="020B0604020202020204" pitchFamily="34" charset="0"/>
              <a:buChar char="•"/>
            </a:pPr>
            <a:r>
              <a:rPr lang="es-CO" sz="1200" dirty="0"/>
              <a:t>WEB: corresponde a la configuración de la ejecución del CAPP individual utilizada desde el Autoservicio</a:t>
            </a:r>
          </a:p>
          <a:p>
            <a:pPr marL="228600" indent="-228600">
              <a:buFont typeface="+mj-lt"/>
              <a:buAutoNum type="arabicPeriod"/>
            </a:pPr>
            <a:r>
              <a:rPr lang="es-CO" sz="1200" dirty="0"/>
              <a:t>Presione el botón Ir.</a:t>
            </a:r>
          </a:p>
        </p:txBody>
      </p:sp>
      <p:sp>
        <p:nvSpPr>
          <p:cNvPr id="12" name="Rectángulo 11">
            <a:extLst>
              <a:ext uri="{FF2B5EF4-FFF2-40B4-BE49-F238E27FC236}">
                <a16:creationId xmlns:a16="http://schemas.microsoft.com/office/drawing/2014/main" id="{80901580-B3D1-9A67-4207-E23E8AFF5DE4}"/>
              </a:ext>
            </a:extLst>
          </p:cNvPr>
          <p:cNvSpPr/>
          <p:nvPr/>
        </p:nvSpPr>
        <p:spPr>
          <a:xfrm>
            <a:off x="843909" y="1968902"/>
            <a:ext cx="1973182"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FF953219-EB83-1689-5700-F42DCAB29700}"/>
              </a:ext>
            </a:extLst>
          </p:cNvPr>
          <p:cNvSpPr/>
          <p:nvPr/>
        </p:nvSpPr>
        <p:spPr>
          <a:xfrm>
            <a:off x="2856287" y="188849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4" name="Rectángulo 13">
            <a:extLst>
              <a:ext uri="{FF2B5EF4-FFF2-40B4-BE49-F238E27FC236}">
                <a16:creationId xmlns:a16="http://schemas.microsoft.com/office/drawing/2014/main" id="{C155BAB6-5D59-4DD5-41A1-AE9C778DED98}"/>
              </a:ext>
            </a:extLst>
          </p:cNvPr>
          <p:cNvSpPr/>
          <p:nvPr/>
        </p:nvSpPr>
        <p:spPr>
          <a:xfrm>
            <a:off x="11202011" y="1962884"/>
            <a:ext cx="339062"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1572110F-9A65-B849-A295-5FDA3B52B3AE}"/>
              </a:ext>
            </a:extLst>
          </p:cNvPr>
          <p:cNvSpPr/>
          <p:nvPr/>
        </p:nvSpPr>
        <p:spPr>
          <a:xfrm>
            <a:off x="11012854" y="216666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2179425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0243E-311A-40E9-FDBE-A83441A9ABDF}"/>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797AD1D6-C114-49F2-8B08-9362921E84BA}"/>
              </a:ext>
            </a:extLst>
          </p:cNvPr>
          <p:cNvPicPr>
            <a:picLocks noChangeAspect="1"/>
          </p:cNvPicPr>
          <p:nvPr/>
        </p:nvPicPr>
        <p:blipFill>
          <a:blip r:embed="rId2"/>
          <a:stretch>
            <a:fillRect/>
          </a:stretch>
        </p:blipFill>
        <p:spPr>
          <a:xfrm>
            <a:off x="810247" y="1431922"/>
            <a:ext cx="10825836" cy="4924428"/>
          </a:xfrm>
          <a:prstGeom prst="rect">
            <a:avLst/>
          </a:prstGeom>
        </p:spPr>
      </p:pic>
      <p:sp>
        <p:nvSpPr>
          <p:cNvPr id="3" name="Marcador de texto vertical 2">
            <a:extLst>
              <a:ext uri="{FF2B5EF4-FFF2-40B4-BE49-F238E27FC236}">
                <a16:creationId xmlns:a16="http://schemas.microsoft.com/office/drawing/2014/main" id="{54C1FAFC-F97C-00DB-C3DF-BE55BCEDD9AF}"/>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711A8307-1C5C-2C99-DF5E-DBA8BC9D821D}"/>
              </a:ext>
            </a:extLst>
          </p:cNvPr>
          <p:cNvSpPr>
            <a:spLocks noGrp="1"/>
          </p:cNvSpPr>
          <p:nvPr>
            <p:ph type="title"/>
          </p:nvPr>
        </p:nvSpPr>
        <p:spPr>
          <a:xfrm>
            <a:off x="810247" y="551429"/>
            <a:ext cx="10271883" cy="626165"/>
          </a:xfrm>
        </p:spPr>
        <p:txBody>
          <a:bodyPr/>
          <a:lstStyle/>
          <a:p>
            <a:r>
              <a:rPr lang="es-ES_tradnl" dirty="0">
                <a:solidFill>
                  <a:schemeClr val="accent1"/>
                </a:solidFill>
              </a:rPr>
              <a:t> </a:t>
            </a:r>
            <a:r>
              <a:rPr lang="es-419" dirty="0">
                <a:solidFill>
                  <a:schemeClr val="accent1"/>
                </a:solidFill>
              </a:rPr>
              <a:t>Parámetro predefinido de cumplimiento (</a:t>
            </a:r>
            <a:r>
              <a:rPr lang="es-ES_tradnl" dirty="0">
                <a:solidFill>
                  <a:schemeClr val="accent1"/>
                </a:solidFill>
              </a:rPr>
              <a:t>SMADFLT)</a:t>
            </a: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3063016D-DCE6-A1DA-7EB6-7DC13AD27C5C}"/>
              </a:ext>
            </a:extLst>
          </p:cNvPr>
          <p:cNvSpPr/>
          <p:nvPr/>
        </p:nvSpPr>
        <p:spPr>
          <a:xfrm>
            <a:off x="2152072" y="3585693"/>
            <a:ext cx="7212691" cy="231634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lgn="just">
              <a:buFont typeface="+mj-lt"/>
              <a:buAutoNum type="arabicPeriod" startAt="3"/>
            </a:pPr>
            <a:r>
              <a:rPr lang="es-419" sz="1200" dirty="0"/>
              <a:t>El primer campo por definir</a:t>
            </a:r>
            <a:r>
              <a:rPr lang="es-CO" sz="1200" dirty="0"/>
              <a:t> corresponde al ‘Periodo de Evaluación’ cuyo valor es el periodo académico que por defecto estaría asociado la solicitud de cumplimiento. Puede quedar vacío.</a:t>
            </a:r>
          </a:p>
          <a:p>
            <a:pPr marL="228600" indent="-228600" algn="just">
              <a:buFont typeface="+mj-lt"/>
              <a:buAutoNum type="arabicPeriod" startAt="3"/>
            </a:pPr>
            <a:r>
              <a:rPr lang="es-CO" sz="1200" dirty="0"/>
              <a:t>Defina el orden de uso de curso que se aplicará en la ejecución del CAPP, es decir la forma en la cual serían considerados los registros de historia académica al momento de evaluar el cumplimiento a los requerimientos académicos del estudiante. Las opciones son:</a:t>
            </a:r>
          </a:p>
          <a:p>
            <a:pPr marL="685800" lvl="1" indent="-228600" algn="just">
              <a:buFont typeface="Arial" panose="020B0604020202020204" pitchFamily="34" charset="0"/>
              <a:buChar char="•"/>
            </a:pPr>
            <a:r>
              <a:rPr lang="es-419" sz="1200" dirty="0"/>
              <a:t>C: Orden cronológico por periodo. Se considera la calificación más antigua primero.</a:t>
            </a:r>
          </a:p>
          <a:p>
            <a:pPr marL="685800" lvl="1" indent="-228600" algn="just">
              <a:buFont typeface="Arial" panose="020B0604020202020204" pitchFamily="34" charset="0"/>
              <a:buChar char="•"/>
            </a:pPr>
            <a:r>
              <a:rPr lang="es-419" sz="1200" dirty="0"/>
              <a:t>T: Orden descendente por periodo. Se considera la calificación más reciente primero (predefinido).</a:t>
            </a:r>
          </a:p>
          <a:p>
            <a:pPr marL="685800" lvl="1" indent="-228600" algn="just">
              <a:buFont typeface="Arial" panose="020B0604020202020204" pitchFamily="34" charset="0"/>
              <a:buChar char="•"/>
            </a:pPr>
            <a:r>
              <a:rPr lang="es-419" sz="1200" dirty="0"/>
              <a:t>G: Orden descendente por calificación. Se considera la calificación más alta primero.</a:t>
            </a:r>
            <a:endParaRPr lang="es-CO" sz="1200" dirty="0"/>
          </a:p>
        </p:txBody>
      </p:sp>
      <p:sp>
        <p:nvSpPr>
          <p:cNvPr id="11" name="Rectángulo 10">
            <a:extLst>
              <a:ext uri="{FF2B5EF4-FFF2-40B4-BE49-F238E27FC236}">
                <a16:creationId xmlns:a16="http://schemas.microsoft.com/office/drawing/2014/main" id="{7A266834-14C7-9FF3-C2D5-116AA2D29466}"/>
              </a:ext>
            </a:extLst>
          </p:cNvPr>
          <p:cNvSpPr/>
          <p:nvPr/>
        </p:nvSpPr>
        <p:spPr>
          <a:xfrm>
            <a:off x="1117599" y="2088975"/>
            <a:ext cx="1034473"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F9508EED-484B-7874-0395-B539FF3A69E3}"/>
              </a:ext>
            </a:extLst>
          </p:cNvPr>
          <p:cNvSpPr/>
          <p:nvPr/>
        </p:nvSpPr>
        <p:spPr>
          <a:xfrm>
            <a:off x="2191269" y="214171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3" name="Rectángulo 12">
            <a:extLst>
              <a:ext uri="{FF2B5EF4-FFF2-40B4-BE49-F238E27FC236}">
                <a16:creationId xmlns:a16="http://schemas.microsoft.com/office/drawing/2014/main" id="{0D4BCA34-33C4-EC96-73B3-177F47A3AB20}"/>
              </a:ext>
            </a:extLst>
          </p:cNvPr>
          <p:cNvSpPr/>
          <p:nvPr/>
        </p:nvSpPr>
        <p:spPr>
          <a:xfrm>
            <a:off x="983858" y="2355273"/>
            <a:ext cx="1168214"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6C2254CA-990B-D3E7-0531-55579ABEF583}"/>
              </a:ext>
            </a:extLst>
          </p:cNvPr>
          <p:cNvSpPr/>
          <p:nvPr/>
        </p:nvSpPr>
        <p:spPr>
          <a:xfrm>
            <a:off x="2191268" y="240801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Tree>
    <p:extLst>
      <p:ext uri="{BB962C8B-B14F-4D97-AF65-F5344CB8AC3E}">
        <p14:creationId xmlns:p14="http://schemas.microsoft.com/office/powerpoint/2010/main" val="3434943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65737-7D20-07DD-E9CF-0BDBE77F7BD5}"/>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08C99F5B-CE87-AA05-2379-7DF9A43F50C9}"/>
              </a:ext>
            </a:extLst>
          </p:cNvPr>
          <p:cNvPicPr>
            <a:picLocks noChangeAspect="1"/>
          </p:cNvPicPr>
          <p:nvPr/>
        </p:nvPicPr>
        <p:blipFill>
          <a:blip r:embed="rId2"/>
          <a:stretch>
            <a:fillRect/>
          </a:stretch>
        </p:blipFill>
        <p:spPr>
          <a:xfrm>
            <a:off x="810247" y="1431922"/>
            <a:ext cx="10825836" cy="4924428"/>
          </a:xfrm>
          <a:prstGeom prst="rect">
            <a:avLst/>
          </a:prstGeom>
        </p:spPr>
      </p:pic>
      <p:sp>
        <p:nvSpPr>
          <p:cNvPr id="3" name="Marcador de texto vertical 2">
            <a:extLst>
              <a:ext uri="{FF2B5EF4-FFF2-40B4-BE49-F238E27FC236}">
                <a16:creationId xmlns:a16="http://schemas.microsoft.com/office/drawing/2014/main" id="{4326F94B-FF7A-632E-83A2-96123551F0F1}"/>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C21539ED-A677-74E4-0A93-68C68C06629A}"/>
              </a:ext>
            </a:extLst>
          </p:cNvPr>
          <p:cNvSpPr>
            <a:spLocks noGrp="1"/>
          </p:cNvSpPr>
          <p:nvPr>
            <p:ph type="title"/>
          </p:nvPr>
        </p:nvSpPr>
        <p:spPr>
          <a:xfrm>
            <a:off x="792861" y="596874"/>
            <a:ext cx="10271883" cy="626165"/>
          </a:xfrm>
        </p:spPr>
        <p:txBody>
          <a:bodyPr/>
          <a:lstStyle/>
          <a:p>
            <a:r>
              <a:rPr lang="es-ES_tradnl" dirty="0">
                <a:solidFill>
                  <a:schemeClr val="accent1"/>
                </a:solidFill>
              </a:rPr>
              <a:t> </a:t>
            </a:r>
            <a:r>
              <a:rPr lang="es-419" dirty="0">
                <a:solidFill>
                  <a:schemeClr val="accent1"/>
                </a:solidFill>
              </a:rPr>
              <a:t>Parámetro predefinido de cumplimiento (</a:t>
            </a:r>
            <a:r>
              <a:rPr lang="es-ES_tradnl" dirty="0">
                <a:solidFill>
                  <a:schemeClr val="accent1"/>
                </a:solidFill>
              </a:rPr>
              <a:t>SMADFLT)</a:t>
            </a: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6C5739C4-3A9D-505F-D75E-A4C69089D3AC}"/>
              </a:ext>
            </a:extLst>
          </p:cNvPr>
          <p:cNvSpPr/>
          <p:nvPr/>
        </p:nvSpPr>
        <p:spPr>
          <a:xfrm>
            <a:off x="2152073" y="3354261"/>
            <a:ext cx="7204364" cy="268632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lgn="just">
              <a:buFont typeface="+mj-lt"/>
              <a:buAutoNum type="arabicPeriod" startAt="5"/>
            </a:pPr>
            <a:r>
              <a:rPr lang="es-CO" sz="1200" dirty="0"/>
              <a:t>En el campo Valor mínimo de calificación numérica, se ingresa el valor d</a:t>
            </a:r>
            <a:r>
              <a:rPr lang="es-419" sz="1200" dirty="0"/>
              <a:t>e calificación mínima permitido para que los cursos/atributos sean considerados por el proceso de cumplimiento. El valor predefinido es 0. Se recomienda mantener este valor.</a:t>
            </a:r>
          </a:p>
          <a:p>
            <a:pPr marL="228600" indent="-228600">
              <a:buFont typeface="+mj-lt"/>
              <a:buAutoNum type="arabicPeriod" startAt="5"/>
            </a:pPr>
            <a:r>
              <a:rPr lang="es-CL" sz="1200" dirty="0"/>
              <a:t>La casilla ‘Aplicar solo curso de grado’ debe estar activa en el caso que se utilicen para la evaluación curricular, solo los registros de cursos y requerimientos académicos de un registro de grado. *</a:t>
            </a:r>
          </a:p>
          <a:p>
            <a:pPr marL="228600" indent="-228600">
              <a:buFont typeface="+mj-lt"/>
              <a:buAutoNum type="arabicPeriod" startAt="5"/>
            </a:pPr>
            <a:r>
              <a:rPr lang="es-CL" sz="1200" dirty="0"/>
              <a:t>La casilla ‘Actualizar cursos aplicados” </a:t>
            </a:r>
            <a:r>
              <a:rPr lang="es-419" sz="1200" dirty="0"/>
              <a:t>es utilizada para indicar si los cursos y requerimientos académicos a evaluar además aplicarán para un registro de grado. *</a:t>
            </a:r>
          </a:p>
          <a:p>
            <a:pPr marL="228600" indent="-228600">
              <a:buFont typeface="+mj-lt"/>
              <a:buAutoNum type="arabicPeriod" startAt="5"/>
            </a:pPr>
            <a:r>
              <a:rPr lang="es-CL" sz="1200" dirty="0"/>
              <a:t>La casilla ‘Usar cursos en progreso’  se utiliza cuando se desea dar por aprobadas las asignaturas que el estudiante pudiera estar cursando en ese momento, de esa forma, aunque no tenga calificaciones finales, darían cumplimiento a los requerimientos académicos que la utilicen. *</a:t>
            </a:r>
            <a:endParaRPr lang="es-419" sz="1200" dirty="0"/>
          </a:p>
          <a:p>
            <a:pPr algn="ctr"/>
            <a:r>
              <a:rPr lang="es-CO" sz="1100" dirty="0"/>
              <a:t>* </a:t>
            </a:r>
            <a:r>
              <a:rPr lang="es-CL" sz="1100" dirty="0"/>
              <a:t>Debido a que los registros académicos a evaluar son mayoritariamente desde los registros de estudiante general, no es necesario activar esta opción.</a:t>
            </a:r>
            <a:endParaRPr lang="es-CO" sz="1100" dirty="0"/>
          </a:p>
        </p:txBody>
      </p:sp>
      <p:sp>
        <p:nvSpPr>
          <p:cNvPr id="11" name="Rectángulo 10">
            <a:extLst>
              <a:ext uri="{FF2B5EF4-FFF2-40B4-BE49-F238E27FC236}">
                <a16:creationId xmlns:a16="http://schemas.microsoft.com/office/drawing/2014/main" id="{0A45AE12-2443-6420-171F-875EAD648FD1}"/>
              </a:ext>
            </a:extLst>
          </p:cNvPr>
          <p:cNvSpPr/>
          <p:nvPr/>
        </p:nvSpPr>
        <p:spPr>
          <a:xfrm>
            <a:off x="898481" y="2652394"/>
            <a:ext cx="1034473"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87DDAF71-FA57-DE82-5DF2-56E4492E623A}"/>
              </a:ext>
            </a:extLst>
          </p:cNvPr>
          <p:cNvSpPr/>
          <p:nvPr/>
        </p:nvSpPr>
        <p:spPr>
          <a:xfrm>
            <a:off x="1972151" y="270513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7" name="Rectángulo 6">
            <a:extLst>
              <a:ext uri="{FF2B5EF4-FFF2-40B4-BE49-F238E27FC236}">
                <a16:creationId xmlns:a16="http://schemas.microsoft.com/office/drawing/2014/main" id="{E213E353-D150-2AB9-FB31-3F776475FD2D}"/>
              </a:ext>
            </a:extLst>
          </p:cNvPr>
          <p:cNvSpPr/>
          <p:nvPr/>
        </p:nvSpPr>
        <p:spPr>
          <a:xfrm>
            <a:off x="6925209" y="2053402"/>
            <a:ext cx="1034473"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EE3EF818-5A7B-4AA1-75FE-73CB929FCF20}"/>
              </a:ext>
            </a:extLst>
          </p:cNvPr>
          <p:cNvSpPr/>
          <p:nvPr/>
        </p:nvSpPr>
        <p:spPr>
          <a:xfrm>
            <a:off x="7998879" y="2106143"/>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0" name="Rectángulo 9">
            <a:extLst>
              <a:ext uri="{FF2B5EF4-FFF2-40B4-BE49-F238E27FC236}">
                <a16:creationId xmlns:a16="http://schemas.microsoft.com/office/drawing/2014/main" id="{3B4BD5CD-9D9A-5F30-1EF2-4D18A9D89E7E}"/>
              </a:ext>
            </a:extLst>
          </p:cNvPr>
          <p:cNvSpPr/>
          <p:nvPr/>
        </p:nvSpPr>
        <p:spPr>
          <a:xfrm>
            <a:off x="6925209" y="2327593"/>
            <a:ext cx="1034473"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A6FC27DA-7EAC-28DE-1BB8-A78B0B05C759}"/>
              </a:ext>
            </a:extLst>
          </p:cNvPr>
          <p:cNvSpPr/>
          <p:nvPr/>
        </p:nvSpPr>
        <p:spPr>
          <a:xfrm>
            <a:off x="7998879" y="238033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4" name="Rectángulo 13">
            <a:extLst>
              <a:ext uri="{FF2B5EF4-FFF2-40B4-BE49-F238E27FC236}">
                <a16:creationId xmlns:a16="http://schemas.microsoft.com/office/drawing/2014/main" id="{2B424B25-5872-1965-6925-B36DD30483D5}"/>
              </a:ext>
            </a:extLst>
          </p:cNvPr>
          <p:cNvSpPr/>
          <p:nvPr/>
        </p:nvSpPr>
        <p:spPr>
          <a:xfrm>
            <a:off x="6930015" y="2610198"/>
            <a:ext cx="1034473" cy="2662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D6CB6DC-0EE7-DC83-AC88-0905C701D2C4}"/>
              </a:ext>
            </a:extLst>
          </p:cNvPr>
          <p:cNvSpPr/>
          <p:nvPr/>
        </p:nvSpPr>
        <p:spPr>
          <a:xfrm>
            <a:off x="8003685" y="2662939"/>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Tree>
    <p:extLst>
      <p:ext uri="{BB962C8B-B14F-4D97-AF65-F5344CB8AC3E}">
        <p14:creationId xmlns:p14="http://schemas.microsoft.com/office/powerpoint/2010/main" val="1052520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1EEB6-8CB5-309F-E887-540800E8BBB9}"/>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BEA1ECD1-AA78-8BFD-7D80-64570231B27C}"/>
              </a:ext>
            </a:extLst>
          </p:cNvPr>
          <p:cNvPicPr>
            <a:picLocks noChangeAspect="1"/>
          </p:cNvPicPr>
          <p:nvPr/>
        </p:nvPicPr>
        <p:blipFill>
          <a:blip r:embed="rId2"/>
          <a:stretch>
            <a:fillRect/>
          </a:stretch>
        </p:blipFill>
        <p:spPr>
          <a:xfrm>
            <a:off x="810247" y="1431922"/>
            <a:ext cx="10825836" cy="4924428"/>
          </a:xfrm>
          <a:prstGeom prst="rect">
            <a:avLst/>
          </a:prstGeom>
        </p:spPr>
      </p:pic>
      <p:sp>
        <p:nvSpPr>
          <p:cNvPr id="3" name="Marcador de texto vertical 2">
            <a:extLst>
              <a:ext uri="{FF2B5EF4-FFF2-40B4-BE49-F238E27FC236}">
                <a16:creationId xmlns:a16="http://schemas.microsoft.com/office/drawing/2014/main" id="{5E873553-DC6F-D304-64DB-4041F58BE29A}"/>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6D740705-2CF5-556F-4BA9-5A87A5A89FAD}"/>
              </a:ext>
            </a:extLst>
          </p:cNvPr>
          <p:cNvSpPr>
            <a:spLocks noGrp="1"/>
          </p:cNvSpPr>
          <p:nvPr>
            <p:ph type="title"/>
          </p:nvPr>
        </p:nvSpPr>
        <p:spPr>
          <a:xfrm>
            <a:off x="716553" y="666759"/>
            <a:ext cx="10271883" cy="626165"/>
          </a:xfrm>
        </p:spPr>
        <p:txBody>
          <a:bodyPr/>
          <a:lstStyle/>
          <a:p>
            <a:r>
              <a:rPr lang="es-ES_tradnl" dirty="0">
                <a:solidFill>
                  <a:schemeClr val="accent1"/>
                </a:solidFill>
              </a:rPr>
              <a:t> </a:t>
            </a:r>
            <a:r>
              <a:rPr lang="es-419" dirty="0">
                <a:solidFill>
                  <a:schemeClr val="accent1"/>
                </a:solidFill>
              </a:rPr>
              <a:t>Parámetro predefinido de cumplimiento (</a:t>
            </a:r>
            <a:r>
              <a:rPr lang="es-ES_tradnl" dirty="0">
                <a:solidFill>
                  <a:schemeClr val="accent1"/>
                </a:solidFill>
              </a:rPr>
              <a:t>SMADFLT)</a:t>
            </a:r>
            <a:br>
              <a:rPr lang="es-CL" dirty="0">
                <a:solidFill>
                  <a:schemeClr val="accent1"/>
                </a:solidFill>
              </a:rPr>
            </a:br>
            <a:br>
              <a:rPr lang="es-CL" b="1" dirty="0">
                <a:solidFill>
                  <a:schemeClr val="accent1"/>
                </a:solidFill>
                <a:effectLst/>
              </a:rPr>
            </a:br>
            <a:endParaRPr lang="es-CL" dirty="0">
              <a:solidFill>
                <a:schemeClr val="accent1"/>
              </a:solidFill>
            </a:endParaRPr>
          </a:p>
        </p:txBody>
      </p:sp>
      <p:sp>
        <p:nvSpPr>
          <p:cNvPr id="6" name="Rectángulo redondeado 5">
            <a:extLst>
              <a:ext uri="{FF2B5EF4-FFF2-40B4-BE49-F238E27FC236}">
                <a16:creationId xmlns:a16="http://schemas.microsoft.com/office/drawing/2014/main" id="{5EA08DA9-C78D-F37F-D148-39E75D2653CB}"/>
              </a:ext>
            </a:extLst>
          </p:cNvPr>
          <p:cNvSpPr/>
          <p:nvPr/>
        </p:nvSpPr>
        <p:spPr>
          <a:xfrm>
            <a:off x="1487056" y="4418174"/>
            <a:ext cx="8866908" cy="157622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lgn="just">
              <a:buFont typeface="+mj-lt"/>
              <a:buAutoNum type="arabicPeriod" startAt="9"/>
            </a:pPr>
            <a:r>
              <a:rPr lang="es-CL" sz="1100" dirty="0"/>
              <a:t>En la sección “Datos adicionales de cumplimiento” se han de activar todas las casillas para que la evaluación del CAPP contemple una evaluación lo más completa posibles a los requerimientos académicos del programa de estudios.</a:t>
            </a:r>
          </a:p>
          <a:p>
            <a:pPr marL="228600" indent="-228600" algn="just">
              <a:buFont typeface="+mj-lt"/>
              <a:buAutoNum type="arabicPeriod" startAt="9"/>
            </a:pPr>
            <a:r>
              <a:rPr lang="es-419" sz="1100" dirty="0"/>
              <a:t>Los campos ‘Periodo mínimo en progreso’ y ‘Periodo máximo en progreso’ corresponden al rango de tiempo de los NRC que el estudiante tenga en progreso (inscritos) y que serían considerados en la evaluación del CAPP. Por defecto estos valores deben ser 000000 y 999999 respectivamente.</a:t>
            </a:r>
          </a:p>
          <a:p>
            <a:pPr marL="228600" indent="-228600" algn="just">
              <a:buFont typeface="+mj-lt"/>
              <a:buAutoNum type="arabicPeriod" startAt="9"/>
            </a:pPr>
            <a:r>
              <a:rPr lang="es-419" sz="1100" dirty="0"/>
              <a:t>Los campos ‘Periodo de corte mínimo’ y ‘Periodo de corte máximo’ corresponden al rango de tiempo en que los registros de asignaturas (en progreso, historia académica, o transferencia) serían considerados en la evaluación del CAPP. Para que la evaluación del CAPP considere todos los registros históricos del estudiante valores deben ser 000000 y 999999 respectivamente.</a:t>
            </a:r>
            <a:endParaRPr lang="es-CO" sz="1100" dirty="0"/>
          </a:p>
        </p:txBody>
      </p:sp>
      <p:sp>
        <p:nvSpPr>
          <p:cNvPr id="11" name="Rectángulo 10">
            <a:extLst>
              <a:ext uri="{FF2B5EF4-FFF2-40B4-BE49-F238E27FC236}">
                <a16:creationId xmlns:a16="http://schemas.microsoft.com/office/drawing/2014/main" id="{9176B44C-34B5-231F-EE12-A4F1EF936A39}"/>
              </a:ext>
            </a:extLst>
          </p:cNvPr>
          <p:cNvSpPr/>
          <p:nvPr/>
        </p:nvSpPr>
        <p:spPr>
          <a:xfrm>
            <a:off x="810247" y="2921674"/>
            <a:ext cx="10825836" cy="45208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E9C5BB78-51C4-1EEE-4DEF-590CC869BFC5}"/>
              </a:ext>
            </a:extLst>
          </p:cNvPr>
          <p:cNvSpPr/>
          <p:nvPr/>
        </p:nvSpPr>
        <p:spPr>
          <a:xfrm>
            <a:off x="716553" y="2760859"/>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2" name="Rectángulo 1">
            <a:extLst>
              <a:ext uri="{FF2B5EF4-FFF2-40B4-BE49-F238E27FC236}">
                <a16:creationId xmlns:a16="http://schemas.microsoft.com/office/drawing/2014/main" id="{8996670E-7428-FAA1-A2A2-31609257A917}"/>
              </a:ext>
            </a:extLst>
          </p:cNvPr>
          <p:cNvSpPr/>
          <p:nvPr/>
        </p:nvSpPr>
        <p:spPr>
          <a:xfrm>
            <a:off x="810247" y="3373753"/>
            <a:ext cx="5378117" cy="95810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5192B8A1-03CA-0836-75C7-7974CE56C305}"/>
              </a:ext>
            </a:extLst>
          </p:cNvPr>
          <p:cNvSpPr/>
          <p:nvPr/>
        </p:nvSpPr>
        <p:spPr>
          <a:xfrm>
            <a:off x="434110" y="3775512"/>
            <a:ext cx="350054"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10</a:t>
            </a:r>
          </a:p>
        </p:txBody>
      </p:sp>
      <p:sp>
        <p:nvSpPr>
          <p:cNvPr id="17" name="Rectángulo 16">
            <a:extLst>
              <a:ext uri="{FF2B5EF4-FFF2-40B4-BE49-F238E27FC236}">
                <a16:creationId xmlns:a16="http://schemas.microsoft.com/office/drawing/2014/main" id="{962F3CAA-BCAC-3650-D2ED-D585CA8C5967}"/>
              </a:ext>
            </a:extLst>
          </p:cNvPr>
          <p:cNvSpPr/>
          <p:nvPr/>
        </p:nvSpPr>
        <p:spPr>
          <a:xfrm>
            <a:off x="6257966" y="3372468"/>
            <a:ext cx="5378117" cy="95810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94C78E45-DE2B-2072-84A9-AF24DCC90101}"/>
              </a:ext>
            </a:extLst>
          </p:cNvPr>
          <p:cNvSpPr/>
          <p:nvPr/>
        </p:nvSpPr>
        <p:spPr>
          <a:xfrm>
            <a:off x="11532802" y="4337767"/>
            <a:ext cx="350054"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Tree>
    <p:extLst>
      <p:ext uri="{BB962C8B-B14F-4D97-AF65-F5344CB8AC3E}">
        <p14:creationId xmlns:p14="http://schemas.microsoft.com/office/powerpoint/2010/main" val="583369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F37DC-57B0-A4CC-DD70-5D42C38C203B}"/>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4B1674C7-824B-4AF2-6935-1BEDE2BE89D2}"/>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96BCEEC9-A88C-7166-6DCB-9136BBFFE1AB}"/>
              </a:ext>
            </a:extLst>
          </p:cNvPr>
          <p:cNvSpPr>
            <a:spLocks noGrp="1"/>
          </p:cNvSpPr>
          <p:nvPr>
            <p:ph type="title"/>
          </p:nvPr>
        </p:nvSpPr>
        <p:spPr>
          <a:xfrm>
            <a:off x="810247" y="327992"/>
            <a:ext cx="10271883" cy="626165"/>
          </a:xfrm>
        </p:spPr>
        <p:txBody>
          <a:bodyPr/>
          <a:lstStyle/>
          <a:p>
            <a:r>
              <a:rPr lang="es-ES_tradnl" dirty="0">
                <a:solidFill>
                  <a:schemeClr val="accent1"/>
                </a:solidFill>
              </a:rPr>
              <a:t> </a:t>
            </a:r>
            <a:r>
              <a:rPr lang="es-419" dirty="0">
                <a:solidFill>
                  <a:schemeClr val="accent1"/>
                </a:solidFill>
              </a:rPr>
              <a:t>Parámetro predefinido de cumplimiento (</a:t>
            </a:r>
            <a:r>
              <a:rPr lang="es-ES_tradnl" dirty="0">
                <a:solidFill>
                  <a:schemeClr val="accent1"/>
                </a:solidFill>
              </a:rPr>
              <a:t>SMADFLT)</a:t>
            </a:r>
            <a:br>
              <a:rPr lang="es-CL" dirty="0">
                <a:solidFill>
                  <a:schemeClr val="accent1"/>
                </a:solidFill>
              </a:rPr>
            </a:br>
            <a:br>
              <a:rPr lang="es-CL" b="1" dirty="0">
                <a:solidFill>
                  <a:schemeClr val="accent1"/>
                </a:solidFill>
                <a:effectLst/>
              </a:rPr>
            </a:br>
            <a:endParaRPr lang="es-CL" dirty="0">
              <a:solidFill>
                <a:schemeClr val="accent1"/>
              </a:solidFill>
            </a:endParaRPr>
          </a:p>
        </p:txBody>
      </p:sp>
      <p:pic>
        <p:nvPicPr>
          <p:cNvPr id="7" name="Imagen 6">
            <a:extLst>
              <a:ext uri="{FF2B5EF4-FFF2-40B4-BE49-F238E27FC236}">
                <a16:creationId xmlns:a16="http://schemas.microsoft.com/office/drawing/2014/main" id="{1CC545ED-09AA-2861-C1C9-03D490F6EE5C}"/>
              </a:ext>
            </a:extLst>
          </p:cNvPr>
          <p:cNvPicPr>
            <a:picLocks noChangeAspect="1"/>
          </p:cNvPicPr>
          <p:nvPr/>
        </p:nvPicPr>
        <p:blipFill>
          <a:blip r:embed="rId2"/>
          <a:stretch>
            <a:fillRect/>
          </a:stretch>
        </p:blipFill>
        <p:spPr>
          <a:xfrm>
            <a:off x="720437" y="1308934"/>
            <a:ext cx="7490690" cy="3411601"/>
          </a:xfrm>
          <a:prstGeom prst="rect">
            <a:avLst/>
          </a:prstGeom>
        </p:spPr>
      </p:pic>
      <p:pic>
        <p:nvPicPr>
          <p:cNvPr id="10" name="Imagen 9">
            <a:extLst>
              <a:ext uri="{FF2B5EF4-FFF2-40B4-BE49-F238E27FC236}">
                <a16:creationId xmlns:a16="http://schemas.microsoft.com/office/drawing/2014/main" id="{8FED17CD-CBC9-48E2-50C8-B1F21959A8AC}"/>
              </a:ext>
            </a:extLst>
          </p:cNvPr>
          <p:cNvPicPr>
            <a:picLocks noChangeAspect="1"/>
          </p:cNvPicPr>
          <p:nvPr/>
        </p:nvPicPr>
        <p:blipFill>
          <a:blip r:embed="rId3"/>
          <a:stretch>
            <a:fillRect/>
          </a:stretch>
        </p:blipFill>
        <p:spPr>
          <a:xfrm>
            <a:off x="4257964" y="2357596"/>
            <a:ext cx="7503957" cy="3411601"/>
          </a:xfrm>
          <a:prstGeom prst="rect">
            <a:avLst/>
          </a:prstGeom>
        </p:spPr>
      </p:pic>
      <p:sp>
        <p:nvSpPr>
          <p:cNvPr id="6" name="Rectángulo redondeado 5">
            <a:extLst>
              <a:ext uri="{FF2B5EF4-FFF2-40B4-BE49-F238E27FC236}">
                <a16:creationId xmlns:a16="http://schemas.microsoft.com/office/drawing/2014/main" id="{300E1027-BD78-368F-347F-3C87738BCA59}"/>
              </a:ext>
            </a:extLst>
          </p:cNvPr>
          <p:cNvSpPr/>
          <p:nvPr/>
        </p:nvSpPr>
        <p:spPr>
          <a:xfrm>
            <a:off x="1874984" y="4730222"/>
            <a:ext cx="7324435" cy="81884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419" sz="1100" b="1" dirty="0"/>
              <a:t>Se recomienda homologar las configuraciones de la página SMADFLT para todos los códigos predefinidos .</a:t>
            </a:r>
            <a:endParaRPr lang="es-CO" sz="1100" b="1" dirty="0"/>
          </a:p>
        </p:txBody>
      </p:sp>
    </p:spTree>
    <p:extLst>
      <p:ext uri="{BB962C8B-B14F-4D97-AF65-F5344CB8AC3E}">
        <p14:creationId xmlns:p14="http://schemas.microsoft.com/office/powerpoint/2010/main" val="155841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7B501-5EE8-E83C-93B7-4A80AA1E8ECA}"/>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93C74601-7FB2-B7F5-EB19-5BD2B891ABE9}"/>
              </a:ext>
            </a:extLst>
          </p:cNvPr>
          <p:cNvSpPr>
            <a:spLocks noGrp="1"/>
          </p:cNvSpPr>
          <p:nvPr>
            <p:ph type="body" sz="quarter" idx="10"/>
          </p:nvPr>
        </p:nvSpPr>
        <p:spPr>
          <a:xfrm>
            <a:off x="914399" y="2238843"/>
            <a:ext cx="10363202" cy="669094"/>
          </a:xfrm>
        </p:spPr>
        <p:txBody>
          <a:bodyPr/>
          <a:lstStyle/>
          <a:p>
            <a:r>
              <a:rPr lang="es-CL" dirty="0"/>
              <a:t>Reglas de Web CAPP</a:t>
            </a:r>
            <a:endParaRPr lang="es-419" dirty="0"/>
          </a:p>
        </p:txBody>
      </p:sp>
      <p:sp>
        <p:nvSpPr>
          <p:cNvPr id="2" name="Marcador de texto vertical 1">
            <a:extLst>
              <a:ext uri="{FF2B5EF4-FFF2-40B4-BE49-F238E27FC236}">
                <a16:creationId xmlns:a16="http://schemas.microsoft.com/office/drawing/2014/main" id="{3B8703BB-515A-D06E-4283-91BD8513032A}"/>
              </a:ext>
            </a:extLst>
          </p:cNvPr>
          <p:cNvSpPr>
            <a:spLocks noGrp="1"/>
          </p:cNvSpPr>
          <p:nvPr>
            <p:ph type="body" sz="quarter" idx="11"/>
          </p:nvPr>
        </p:nvSpPr>
        <p:spPr/>
        <p:txBody>
          <a:bodyPr/>
          <a:lstStyle/>
          <a:p>
            <a:r>
              <a:rPr lang="es-419" sz="1200" dirty="0"/>
              <a:t>Ejecución del CAPP</a:t>
            </a:r>
          </a:p>
        </p:txBody>
      </p:sp>
    </p:spTree>
    <p:extLst>
      <p:ext uri="{BB962C8B-B14F-4D97-AF65-F5344CB8AC3E}">
        <p14:creationId xmlns:p14="http://schemas.microsoft.com/office/powerpoint/2010/main" val="3497124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D4E02-056D-8E35-AE31-A6D8B38D00C2}"/>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A0FDA218-D65D-C8BD-DD29-70CFD5846682}"/>
              </a:ext>
            </a:extLst>
          </p:cNvPr>
          <p:cNvPicPr>
            <a:picLocks noChangeAspect="1"/>
          </p:cNvPicPr>
          <p:nvPr/>
        </p:nvPicPr>
        <p:blipFill>
          <a:blip r:embed="rId2"/>
          <a:stretch>
            <a:fillRect/>
          </a:stretch>
        </p:blipFill>
        <p:spPr>
          <a:xfrm>
            <a:off x="622570" y="1395942"/>
            <a:ext cx="10762917" cy="970795"/>
          </a:xfrm>
          <a:prstGeom prst="rect">
            <a:avLst/>
          </a:prstGeom>
        </p:spPr>
      </p:pic>
      <p:sp>
        <p:nvSpPr>
          <p:cNvPr id="3" name="Marcador de texto vertical 2">
            <a:extLst>
              <a:ext uri="{FF2B5EF4-FFF2-40B4-BE49-F238E27FC236}">
                <a16:creationId xmlns:a16="http://schemas.microsoft.com/office/drawing/2014/main" id="{24E71479-2A39-EC43-250F-7AA6DA14C85B}"/>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EF2EDD08-B2AA-CE99-83E6-09181BB126C6}"/>
              </a:ext>
            </a:extLst>
          </p:cNvPr>
          <p:cNvSpPr>
            <a:spLocks noGrp="1"/>
          </p:cNvSpPr>
          <p:nvPr>
            <p:ph type="title"/>
          </p:nvPr>
        </p:nvSpPr>
        <p:spPr>
          <a:xfrm>
            <a:off x="810247" y="327992"/>
            <a:ext cx="10271883" cy="626165"/>
          </a:xfrm>
        </p:spPr>
        <p:txBody>
          <a:bodyPr/>
          <a:lstStyle/>
          <a:p>
            <a:r>
              <a:rPr lang="es-419" dirty="0">
                <a:solidFill>
                  <a:schemeClr val="accent1"/>
                </a:solidFill>
              </a:rPr>
              <a:t>Reglas </a:t>
            </a:r>
            <a:r>
              <a:rPr lang="es-419" dirty="0" err="1">
                <a:solidFill>
                  <a:schemeClr val="accent1"/>
                </a:solidFill>
              </a:rPr>
              <a:t>WebCAPP</a:t>
            </a:r>
            <a:r>
              <a:rPr lang="es-419" dirty="0">
                <a:solidFill>
                  <a:schemeClr val="accent1"/>
                </a:solidFill>
              </a:rPr>
              <a:t> (</a:t>
            </a:r>
            <a:r>
              <a:rPr lang="es-ES_tradnl" dirty="0">
                <a:solidFill>
                  <a:schemeClr val="accent1"/>
                </a:solidFill>
              </a:rPr>
              <a:t>SMAWCRL)</a:t>
            </a:r>
            <a:endParaRPr lang="es-CL" dirty="0">
              <a:solidFill>
                <a:schemeClr val="accent1"/>
              </a:solidFill>
            </a:endParaRPr>
          </a:p>
        </p:txBody>
      </p:sp>
      <p:sp>
        <p:nvSpPr>
          <p:cNvPr id="6" name="Rectángulo redondeado 5">
            <a:extLst>
              <a:ext uri="{FF2B5EF4-FFF2-40B4-BE49-F238E27FC236}">
                <a16:creationId xmlns:a16="http://schemas.microsoft.com/office/drawing/2014/main" id="{D479F3B7-F8BD-B25A-5B01-8115CF146428}"/>
              </a:ext>
            </a:extLst>
          </p:cNvPr>
          <p:cNvSpPr/>
          <p:nvPr/>
        </p:nvSpPr>
        <p:spPr>
          <a:xfrm>
            <a:off x="2834106" y="3769645"/>
            <a:ext cx="7199770" cy="15518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O" sz="1200" dirty="0"/>
              <a:t>Dentro de la configuración de la ejecución del CAPP, se requiere definir algunas características de la ejecución del CAPP por Autoservicio, para ello se requiere ingresar a SMAWCRL y seguir los siguientes pasos:</a:t>
            </a:r>
          </a:p>
          <a:p>
            <a:pPr marL="228600" indent="-228600">
              <a:buFont typeface="+mj-lt"/>
              <a:buAutoNum type="arabicPeriod"/>
            </a:pPr>
            <a:r>
              <a:rPr lang="es-CO" sz="1200" dirty="0"/>
              <a:t>Ingrese o seleccione el periodo académico a configurar.</a:t>
            </a:r>
          </a:p>
          <a:p>
            <a:pPr marL="228600" indent="-228600">
              <a:buFont typeface="+mj-lt"/>
              <a:buAutoNum type="arabicPeriod"/>
            </a:pPr>
            <a:r>
              <a:rPr lang="es-CO" sz="1200" dirty="0"/>
              <a:t>Presione el botón Ir.</a:t>
            </a:r>
          </a:p>
        </p:txBody>
      </p:sp>
      <p:sp>
        <p:nvSpPr>
          <p:cNvPr id="11" name="Rectángulo 10">
            <a:extLst>
              <a:ext uri="{FF2B5EF4-FFF2-40B4-BE49-F238E27FC236}">
                <a16:creationId xmlns:a16="http://schemas.microsoft.com/office/drawing/2014/main" id="{693ADAB7-573D-174A-5697-217DC6282BCC}"/>
              </a:ext>
            </a:extLst>
          </p:cNvPr>
          <p:cNvSpPr/>
          <p:nvPr/>
        </p:nvSpPr>
        <p:spPr>
          <a:xfrm>
            <a:off x="660615" y="1682575"/>
            <a:ext cx="1897858" cy="1977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38A8B3CE-86A4-9F5F-5349-47D06C76E357}"/>
              </a:ext>
            </a:extLst>
          </p:cNvPr>
          <p:cNvSpPr/>
          <p:nvPr/>
        </p:nvSpPr>
        <p:spPr>
          <a:xfrm>
            <a:off x="2558473" y="188957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4" name="Rectángulo 13">
            <a:extLst>
              <a:ext uri="{FF2B5EF4-FFF2-40B4-BE49-F238E27FC236}">
                <a16:creationId xmlns:a16="http://schemas.microsoft.com/office/drawing/2014/main" id="{80D16B7F-40BA-7BC4-F94E-E7B7F044F083}"/>
              </a:ext>
            </a:extLst>
          </p:cNvPr>
          <p:cNvSpPr/>
          <p:nvPr/>
        </p:nvSpPr>
        <p:spPr>
          <a:xfrm>
            <a:off x="11027953" y="1685793"/>
            <a:ext cx="339062"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A96793EA-D930-ADAF-0A05-978A01CF3E89}"/>
              </a:ext>
            </a:extLst>
          </p:cNvPr>
          <p:cNvSpPr/>
          <p:nvPr/>
        </p:nvSpPr>
        <p:spPr>
          <a:xfrm>
            <a:off x="10838796" y="188957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13395038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08CB-7150-6BAE-4B2C-BF2C5BE962CF}"/>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BA8CE30C-8B5B-E95B-C6DA-DB528CEFC026}"/>
              </a:ext>
            </a:extLst>
          </p:cNvPr>
          <p:cNvPicPr>
            <a:picLocks noChangeAspect="1"/>
          </p:cNvPicPr>
          <p:nvPr/>
        </p:nvPicPr>
        <p:blipFill>
          <a:blip r:embed="rId2"/>
          <a:stretch>
            <a:fillRect/>
          </a:stretch>
        </p:blipFill>
        <p:spPr>
          <a:xfrm>
            <a:off x="622570" y="983224"/>
            <a:ext cx="10969066" cy="4998417"/>
          </a:xfrm>
          <a:prstGeom prst="rect">
            <a:avLst/>
          </a:prstGeom>
        </p:spPr>
      </p:pic>
      <p:sp>
        <p:nvSpPr>
          <p:cNvPr id="3" name="Marcador de texto vertical 2">
            <a:extLst>
              <a:ext uri="{FF2B5EF4-FFF2-40B4-BE49-F238E27FC236}">
                <a16:creationId xmlns:a16="http://schemas.microsoft.com/office/drawing/2014/main" id="{3311C216-B41C-C7A2-E103-E3257B9C0A38}"/>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C5B4AE2B-DB90-5787-A7AF-977935388C1F}"/>
              </a:ext>
            </a:extLst>
          </p:cNvPr>
          <p:cNvSpPr>
            <a:spLocks noGrp="1"/>
          </p:cNvSpPr>
          <p:nvPr>
            <p:ph type="title"/>
          </p:nvPr>
        </p:nvSpPr>
        <p:spPr>
          <a:xfrm>
            <a:off x="810247" y="327992"/>
            <a:ext cx="10271883" cy="626165"/>
          </a:xfrm>
        </p:spPr>
        <p:txBody>
          <a:bodyPr/>
          <a:lstStyle/>
          <a:p>
            <a:r>
              <a:rPr lang="es-419" dirty="0">
                <a:solidFill>
                  <a:schemeClr val="accent1"/>
                </a:solidFill>
              </a:rPr>
              <a:t>Reglas </a:t>
            </a:r>
            <a:r>
              <a:rPr lang="es-419" dirty="0" err="1">
                <a:solidFill>
                  <a:schemeClr val="accent1"/>
                </a:solidFill>
              </a:rPr>
              <a:t>WebCAPP</a:t>
            </a:r>
            <a:r>
              <a:rPr lang="es-419" dirty="0">
                <a:solidFill>
                  <a:schemeClr val="accent1"/>
                </a:solidFill>
              </a:rPr>
              <a:t> (</a:t>
            </a:r>
            <a:r>
              <a:rPr lang="es-ES_tradnl" dirty="0">
                <a:solidFill>
                  <a:schemeClr val="accent1"/>
                </a:solidFill>
              </a:rPr>
              <a:t>SMAWCRL)</a:t>
            </a:r>
            <a:endParaRPr lang="es-CL" dirty="0">
              <a:solidFill>
                <a:schemeClr val="accent1"/>
              </a:solidFill>
            </a:endParaRPr>
          </a:p>
        </p:txBody>
      </p:sp>
      <p:sp>
        <p:nvSpPr>
          <p:cNvPr id="6" name="Rectángulo redondeado 5">
            <a:extLst>
              <a:ext uri="{FF2B5EF4-FFF2-40B4-BE49-F238E27FC236}">
                <a16:creationId xmlns:a16="http://schemas.microsoft.com/office/drawing/2014/main" id="{719A222C-9D4E-9C56-B381-C6DB4F250C1C}"/>
              </a:ext>
            </a:extLst>
          </p:cNvPr>
          <p:cNvSpPr/>
          <p:nvPr/>
        </p:nvSpPr>
        <p:spPr>
          <a:xfrm>
            <a:off x="2496115" y="4233303"/>
            <a:ext cx="7199770" cy="1325438"/>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CO" sz="1200" dirty="0"/>
              <a:t>La sección “Desplegar simulador” habilitar el despliegue de los distintos campos de información que podrían definir un plan de estudios. En este punto se sugiere habilitar todas las casillas.</a:t>
            </a:r>
          </a:p>
          <a:p>
            <a:pPr marL="228600" indent="-228600">
              <a:buFont typeface="+mj-lt"/>
              <a:buAutoNum type="arabicPeriod" startAt="3"/>
            </a:pPr>
            <a:r>
              <a:rPr lang="es-CO" sz="1200" dirty="0"/>
              <a:t>En la sección “Desplegar evaluación” se requiere que la casilla ‘</a:t>
            </a:r>
            <a:r>
              <a:rPr lang="es-CO" sz="1200" dirty="0" err="1"/>
              <a:t>Curriculum</a:t>
            </a:r>
            <a:r>
              <a:rPr lang="es-CO" sz="1200" dirty="0"/>
              <a:t> secundario’ se encuentre habilitado para poder evaluar las </a:t>
            </a:r>
            <a:r>
              <a:rPr lang="es-CO" sz="1200" dirty="0" err="1"/>
              <a:t>currículas</a:t>
            </a:r>
            <a:r>
              <a:rPr lang="es-CO" sz="1200" dirty="0"/>
              <a:t> concurrentes que pudieran tener un estudiante.</a:t>
            </a:r>
          </a:p>
          <a:p>
            <a:pPr algn="ctr"/>
            <a:r>
              <a:rPr lang="es-CO" sz="1100" dirty="0"/>
              <a:t> El resto de los campos no son necesarios de configurar en la ejecución estándar a utilizar.</a:t>
            </a:r>
          </a:p>
        </p:txBody>
      </p:sp>
      <p:sp>
        <p:nvSpPr>
          <p:cNvPr id="11" name="Rectángulo 10">
            <a:extLst>
              <a:ext uri="{FF2B5EF4-FFF2-40B4-BE49-F238E27FC236}">
                <a16:creationId xmlns:a16="http://schemas.microsoft.com/office/drawing/2014/main" id="{C294890A-4541-A9C2-4C03-61C11B456B0F}"/>
              </a:ext>
            </a:extLst>
          </p:cNvPr>
          <p:cNvSpPr/>
          <p:nvPr/>
        </p:nvSpPr>
        <p:spPr>
          <a:xfrm>
            <a:off x="669850" y="1602223"/>
            <a:ext cx="10908815" cy="110403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BE016038-DE95-D20C-4F25-222926DC552F}"/>
              </a:ext>
            </a:extLst>
          </p:cNvPr>
          <p:cNvSpPr/>
          <p:nvPr/>
        </p:nvSpPr>
        <p:spPr>
          <a:xfrm>
            <a:off x="461121" y="152181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3" name="Rectángulo 12">
            <a:extLst>
              <a:ext uri="{FF2B5EF4-FFF2-40B4-BE49-F238E27FC236}">
                <a16:creationId xmlns:a16="http://schemas.microsoft.com/office/drawing/2014/main" id="{26E271A0-5801-63BD-35FB-8F5A8E9ADC3E}"/>
              </a:ext>
            </a:extLst>
          </p:cNvPr>
          <p:cNvSpPr/>
          <p:nvPr/>
        </p:nvSpPr>
        <p:spPr>
          <a:xfrm>
            <a:off x="669850" y="2706373"/>
            <a:ext cx="10908815" cy="110403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AB3B434C-C636-7A6D-5FDC-62E9ED8D8DC7}"/>
              </a:ext>
            </a:extLst>
          </p:cNvPr>
          <p:cNvSpPr/>
          <p:nvPr/>
        </p:nvSpPr>
        <p:spPr>
          <a:xfrm>
            <a:off x="484761" y="270625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Tree>
    <p:extLst>
      <p:ext uri="{BB962C8B-B14F-4D97-AF65-F5344CB8AC3E}">
        <p14:creationId xmlns:p14="http://schemas.microsoft.com/office/powerpoint/2010/main" val="3357867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C75C1-0B5B-698F-4A3B-9714CF6A1A31}"/>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E1FC5712-02A9-921E-F6A8-78054A61A740}"/>
              </a:ext>
            </a:extLst>
          </p:cNvPr>
          <p:cNvSpPr>
            <a:spLocks noGrp="1"/>
          </p:cNvSpPr>
          <p:nvPr>
            <p:ph type="body" sz="quarter" idx="10"/>
          </p:nvPr>
        </p:nvSpPr>
        <p:spPr>
          <a:xfrm>
            <a:off x="914399" y="2238843"/>
            <a:ext cx="10363202" cy="669094"/>
          </a:xfrm>
        </p:spPr>
        <p:txBody>
          <a:bodyPr/>
          <a:lstStyle/>
          <a:p>
            <a:r>
              <a:rPr lang="es-419" dirty="0"/>
              <a:t>Reglas de despliegue PGA</a:t>
            </a:r>
          </a:p>
        </p:txBody>
      </p:sp>
      <p:sp>
        <p:nvSpPr>
          <p:cNvPr id="2" name="Marcador de texto vertical 1">
            <a:extLst>
              <a:ext uri="{FF2B5EF4-FFF2-40B4-BE49-F238E27FC236}">
                <a16:creationId xmlns:a16="http://schemas.microsoft.com/office/drawing/2014/main" id="{6DBAE5E9-0F01-298C-15C4-025D81DAA9CF}"/>
              </a:ext>
            </a:extLst>
          </p:cNvPr>
          <p:cNvSpPr>
            <a:spLocks noGrp="1"/>
          </p:cNvSpPr>
          <p:nvPr>
            <p:ph type="body" sz="quarter" idx="11"/>
          </p:nvPr>
        </p:nvSpPr>
        <p:spPr/>
        <p:txBody>
          <a:bodyPr/>
          <a:lstStyle/>
          <a:p>
            <a:r>
              <a:rPr lang="es-419" sz="1200" dirty="0"/>
              <a:t>Ejecución del CAPP</a:t>
            </a:r>
          </a:p>
        </p:txBody>
      </p:sp>
    </p:spTree>
    <p:extLst>
      <p:ext uri="{BB962C8B-B14F-4D97-AF65-F5344CB8AC3E}">
        <p14:creationId xmlns:p14="http://schemas.microsoft.com/office/powerpoint/2010/main" val="12772693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E0A26-EE55-FE9A-CCEF-84112691A7F9}"/>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E5E69922-295F-2633-D824-3D1F4DDA9C2E}"/>
              </a:ext>
            </a:extLst>
          </p:cNvPr>
          <p:cNvPicPr>
            <a:picLocks noChangeAspect="1"/>
          </p:cNvPicPr>
          <p:nvPr/>
        </p:nvPicPr>
        <p:blipFill>
          <a:blip r:embed="rId2"/>
          <a:stretch>
            <a:fillRect/>
          </a:stretch>
        </p:blipFill>
        <p:spPr>
          <a:xfrm>
            <a:off x="810247" y="1195018"/>
            <a:ext cx="10818335" cy="988105"/>
          </a:xfrm>
          <a:prstGeom prst="rect">
            <a:avLst/>
          </a:prstGeom>
        </p:spPr>
      </p:pic>
      <p:sp>
        <p:nvSpPr>
          <p:cNvPr id="3" name="Marcador de texto vertical 2">
            <a:extLst>
              <a:ext uri="{FF2B5EF4-FFF2-40B4-BE49-F238E27FC236}">
                <a16:creationId xmlns:a16="http://schemas.microsoft.com/office/drawing/2014/main" id="{B2CA9299-367A-DECC-8FC3-52BA759331A3}"/>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7687EF47-493B-7C20-CD8A-4593CB35E95E}"/>
              </a:ext>
            </a:extLst>
          </p:cNvPr>
          <p:cNvSpPr>
            <a:spLocks noGrp="1"/>
          </p:cNvSpPr>
          <p:nvPr>
            <p:ph type="title"/>
          </p:nvPr>
        </p:nvSpPr>
        <p:spPr>
          <a:xfrm>
            <a:off x="810247" y="327992"/>
            <a:ext cx="10271883" cy="626165"/>
          </a:xfrm>
        </p:spPr>
        <p:txBody>
          <a:bodyPr/>
          <a:lstStyle/>
          <a:p>
            <a:r>
              <a:rPr lang="es-419" dirty="0">
                <a:solidFill>
                  <a:schemeClr val="accent1"/>
                </a:solidFill>
              </a:rPr>
              <a:t>Reglas de despliegue PGA (</a:t>
            </a:r>
            <a:r>
              <a:rPr lang="es-ES_tradnl" dirty="0">
                <a:solidFill>
                  <a:schemeClr val="accent1"/>
                </a:solidFill>
              </a:rPr>
              <a:t>SHAGPAR</a:t>
            </a:r>
            <a:r>
              <a:rPr lang="es-419" dirty="0">
                <a:solidFill>
                  <a:schemeClr val="accent1"/>
                </a:solidFill>
              </a:rPr>
              <a:t>)</a:t>
            </a:r>
            <a:endParaRPr lang="es-CL" dirty="0">
              <a:solidFill>
                <a:schemeClr val="accent1"/>
              </a:solidFill>
            </a:endParaRPr>
          </a:p>
        </p:txBody>
      </p:sp>
      <p:sp>
        <p:nvSpPr>
          <p:cNvPr id="12" name="Rectángulo redondeado 5">
            <a:extLst>
              <a:ext uri="{FF2B5EF4-FFF2-40B4-BE49-F238E27FC236}">
                <a16:creationId xmlns:a16="http://schemas.microsoft.com/office/drawing/2014/main" id="{4FB460AE-3C07-790F-A6C7-01F40824014B}"/>
              </a:ext>
            </a:extLst>
          </p:cNvPr>
          <p:cNvSpPr/>
          <p:nvPr/>
        </p:nvSpPr>
        <p:spPr>
          <a:xfrm>
            <a:off x="2045035" y="2830384"/>
            <a:ext cx="8101929" cy="166822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Dentro de la configuración para la ejecución del CAPP se debe definir las reglas de despliegue de lo que fuera el cálculo baseline del PGA en Banner, al menos para el periodo académico 000000. Para ello se requiere ingresar a la página SHAGPAR y seguir los siguientes pasos:</a:t>
            </a:r>
          </a:p>
          <a:p>
            <a:pPr marL="342900" indent="-342900">
              <a:buFont typeface="+mj-lt"/>
              <a:buAutoNum type="arabicPeriod"/>
            </a:pPr>
            <a:r>
              <a:rPr lang="es-ES_tradnl" sz="1200" dirty="0"/>
              <a:t> Ingresar o seleccionar el período a partir del cual se configurarán las reglas.</a:t>
            </a:r>
          </a:p>
          <a:p>
            <a:pPr marL="342900" indent="-342900">
              <a:buFont typeface="+mj-lt"/>
              <a:buAutoNum type="arabicPeriod"/>
            </a:pPr>
            <a:r>
              <a:rPr lang="es-ES_tradnl" sz="1200" dirty="0"/>
              <a:t>Presionar el botón Ir.</a:t>
            </a:r>
          </a:p>
          <a:p>
            <a:pPr algn="ctr"/>
            <a:r>
              <a:rPr lang="es-ES_tradnl" sz="1100" dirty="0"/>
              <a:t>Los parámetros de entrada Nivel y Campus son opcionales, pero no aplicarían para este caso.</a:t>
            </a:r>
          </a:p>
        </p:txBody>
      </p:sp>
      <p:sp>
        <p:nvSpPr>
          <p:cNvPr id="13" name="Rectángulo 12">
            <a:extLst>
              <a:ext uri="{FF2B5EF4-FFF2-40B4-BE49-F238E27FC236}">
                <a16:creationId xmlns:a16="http://schemas.microsoft.com/office/drawing/2014/main" id="{EF04E87A-6F18-A016-6DAE-1F5CDB0F8A1B}"/>
              </a:ext>
            </a:extLst>
          </p:cNvPr>
          <p:cNvSpPr/>
          <p:nvPr/>
        </p:nvSpPr>
        <p:spPr>
          <a:xfrm>
            <a:off x="1219199" y="1492492"/>
            <a:ext cx="1582607"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BE274766-FED4-2D85-86CC-315E9A131390}"/>
              </a:ext>
            </a:extLst>
          </p:cNvPr>
          <p:cNvSpPr/>
          <p:nvPr/>
        </p:nvSpPr>
        <p:spPr>
          <a:xfrm>
            <a:off x="2822968" y="172099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5" name="Rectángulo 14">
            <a:extLst>
              <a:ext uri="{FF2B5EF4-FFF2-40B4-BE49-F238E27FC236}">
                <a16:creationId xmlns:a16="http://schemas.microsoft.com/office/drawing/2014/main" id="{E4DAD6D8-AA49-5A19-06BC-599ABFFAE51B}"/>
              </a:ext>
            </a:extLst>
          </p:cNvPr>
          <p:cNvSpPr/>
          <p:nvPr/>
        </p:nvSpPr>
        <p:spPr>
          <a:xfrm>
            <a:off x="11271287" y="1495710"/>
            <a:ext cx="339062"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00BE67FF-85A4-3786-2CA4-01F0A8643124}"/>
              </a:ext>
            </a:extLst>
          </p:cNvPr>
          <p:cNvSpPr/>
          <p:nvPr/>
        </p:nvSpPr>
        <p:spPr>
          <a:xfrm>
            <a:off x="11082130" y="169948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12612793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A32A-DBBA-59B6-DE25-4A1F87AE6D09}"/>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61CAD324-CBD2-1C50-8667-A7E29A3A77DE}"/>
              </a:ext>
            </a:extLst>
          </p:cNvPr>
          <p:cNvPicPr>
            <a:picLocks noChangeAspect="1"/>
          </p:cNvPicPr>
          <p:nvPr/>
        </p:nvPicPr>
        <p:blipFill>
          <a:blip r:embed="rId2"/>
          <a:stretch>
            <a:fillRect/>
          </a:stretch>
        </p:blipFill>
        <p:spPr>
          <a:xfrm>
            <a:off x="810247" y="974885"/>
            <a:ext cx="10800102" cy="4920923"/>
          </a:xfrm>
          <a:prstGeom prst="rect">
            <a:avLst/>
          </a:prstGeom>
        </p:spPr>
      </p:pic>
      <p:sp>
        <p:nvSpPr>
          <p:cNvPr id="3" name="Marcador de texto vertical 2">
            <a:extLst>
              <a:ext uri="{FF2B5EF4-FFF2-40B4-BE49-F238E27FC236}">
                <a16:creationId xmlns:a16="http://schemas.microsoft.com/office/drawing/2014/main" id="{6C4D7AE2-A82B-ACD0-90CE-05D698D7B522}"/>
              </a:ext>
            </a:extLst>
          </p:cNvPr>
          <p:cNvSpPr>
            <a:spLocks noGrp="1"/>
          </p:cNvSpPr>
          <p:nvPr>
            <p:ph type="body" orient="vert" sz="quarter" idx="17"/>
          </p:nvPr>
        </p:nvSpPr>
        <p:spPr/>
        <p:txBody>
          <a:bodyPr/>
          <a:lstStyle/>
          <a:p>
            <a:r>
              <a:rPr lang="es-419" sz="1200" dirty="0"/>
              <a:t>Ejecución del CAPP</a:t>
            </a:r>
          </a:p>
        </p:txBody>
      </p:sp>
      <p:sp>
        <p:nvSpPr>
          <p:cNvPr id="4" name="Título 3">
            <a:extLst>
              <a:ext uri="{FF2B5EF4-FFF2-40B4-BE49-F238E27FC236}">
                <a16:creationId xmlns:a16="http://schemas.microsoft.com/office/drawing/2014/main" id="{D57A8A53-9622-0226-B278-7F2F5054DD7A}"/>
              </a:ext>
            </a:extLst>
          </p:cNvPr>
          <p:cNvSpPr>
            <a:spLocks noGrp="1"/>
          </p:cNvSpPr>
          <p:nvPr>
            <p:ph type="title"/>
          </p:nvPr>
        </p:nvSpPr>
        <p:spPr>
          <a:xfrm>
            <a:off x="810247" y="327992"/>
            <a:ext cx="10271883" cy="626165"/>
          </a:xfrm>
        </p:spPr>
        <p:txBody>
          <a:bodyPr/>
          <a:lstStyle/>
          <a:p>
            <a:r>
              <a:rPr lang="es-419" dirty="0">
                <a:solidFill>
                  <a:schemeClr val="accent1"/>
                </a:solidFill>
              </a:rPr>
              <a:t>Reglas de despliegue PGA (</a:t>
            </a:r>
            <a:r>
              <a:rPr lang="es-ES_tradnl" dirty="0">
                <a:solidFill>
                  <a:schemeClr val="accent1"/>
                </a:solidFill>
              </a:rPr>
              <a:t>SHAGPAR</a:t>
            </a:r>
            <a:r>
              <a:rPr lang="es-419" dirty="0">
                <a:solidFill>
                  <a:schemeClr val="accent1"/>
                </a:solidFill>
              </a:rPr>
              <a:t>)</a:t>
            </a:r>
            <a:endParaRPr lang="es-CL" dirty="0">
              <a:solidFill>
                <a:schemeClr val="accent1"/>
              </a:solidFill>
            </a:endParaRPr>
          </a:p>
        </p:txBody>
      </p:sp>
      <p:sp>
        <p:nvSpPr>
          <p:cNvPr id="12" name="Rectángulo redondeado 5">
            <a:extLst>
              <a:ext uri="{FF2B5EF4-FFF2-40B4-BE49-F238E27FC236}">
                <a16:creationId xmlns:a16="http://schemas.microsoft.com/office/drawing/2014/main" id="{74814CBD-7D6B-17C1-D856-023530D6A227}"/>
              </a:ext>
            </a:extLst>
          </p:cNvPr>
          <p:cNvSpPr/>
          <p:nvPr/>
        </p:nvSpPr>
        <p:spPr>
          <a:xfrm>
            <a:off x="2045035" y="3592177"/>
            <a:ext cx="8101929" cy="1278904"/>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Active la opción “Usar regla de despliegue más reciente”  del bloque Selección de Periodo Global.</a:t>
            </a:r>
          </a:p>
          <a:p>
            <a:pPr marL="228600" indent="-228600">
              <a:buFont typeface="+mj-lt"/>
              <a:buAutoNum type="arabicPeriod" startAt="3"/>
            </a:pPr>
            <a:r>
              <a:rPr lang="es-ES_tradnl" sz="1200" dirty="0"/>
              <a:t>En el campo “Período” debe estar el mimo período de configuración del bloque clave.</a:t>
            </a:r>
          </a:p>
          <a:p>
            <a:pPr marL="228600" indent="-228600">
              <a:buFont typeface="+mj-lt"/>
              <a:buAutoNum type="arabicPeriod" startAt="3"/>
            </a:pPr>
            <a:r>
              <a:rPr lang="es-ES_tradnl" sz="1200" dirty="0"/>
              <a:t>En la sección ‘Reglas globales de PGA’ también se deben definir los parámetros con los cuales se desplegaría el PGA, considerando el número de decimales a desplegar y/o si el cálculo del  promedio responde a una regla de redondeo o de truncado.</a:t>
            </a:r>
          </a:p>
        </p:txBody>
      </p:sp>
      <p:sp>
        <p:nvSpPr>
          <p:cNvPr id="13" name="Rectángulo 12">
            <a:extLst>
              <a:ext uri="{FF2B5EF4-FFF2-40B4-BE49-F238E27FC236}">
                <a16:creationId xmlns:a16="http://schemas.microsoft.com/office/drawing/2014/main" id="{DE09B64E-4BCC-9AB7-3AF2-24A3C242D69B}"/>
              </a:ext>
            </a:extLst>
          </p:cNvPr>
          <p:cNvSpPr/>
          <p:nvPr/>
        </p:nvSpPr>
        <p:spPr>
          <a:xfrm>
            <a:off x="3870036" y="1597599"/>
            <a:ext cx="1403123" cy="22850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4D3AA30F-5EA9-0E43-181D-4FEAF1C2BC56}"/>
              </a:ext>
            </a:extLst>
          </p:cNvPr>
          <p:cNvSpPr/>
          <p:nvPr/>
        </p:nvSpPr>
        <p:spPr>
          <a:xfrm>
            <a:off x="5473805" y="182610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5" name="Rectángulo 14">
            <a:extLst>
              <a:ext uri="{FF2B5EF4-FFF2-40B4-BE49-F238E27FC236}">
                <a16:creationId xmlns:a16="http://schemas.microsoft.com/office/drawing/2014/main" id="{DAEE1687-3F96-2C53-913A-54596AA5AD80}"/>
              </a:ext>
            </a:extLst>
          </p:cNvPr>
          <p:cNvSpPr/>
          <p:nvPr/>
        </p:nvSpPr>
        <p:spPr>
          <a:xfrm>
            <a:off x="1277542" y="2114547"/>
            <a:ext cx="856058"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B1C8E2D1-D0BF-5CF9-7BBD-3462D98D57DC}"/>
              </a:ext>
            </a:extLst>
          </p:cNvPr>
          <p:cNvSpPr/>
          <p:nvPr/>
        </p:nvSpPr>
        <p:spPr>
          <a:xfrm>
            <a:off x="1088385" y="2318325"/>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7" name="Rectángulo 16">
            <a:extLst>
              <a:ext uri="{FF2B5EF4-FFF2-40B4-BE49-F238E27FC236}">
                <a16:creationId xmlns:a16="http://schemas.microsoft.com/office/drawing/2014/main" id="{A15E09A5-ABAC-FAE2-0840-3A70E7AE56BA}"/>
              </a:ext>
            </a:extLst>
          </p:cNvPr>
          <p:cNvSpPr/>
          <p:nvPr/>
        </p:nvSpPr>
        <p:spPr>
          <a:xfrm>
            <a:off x="6168197" y="2114265"/>
            <a:ext cx="3817732" cy="60596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redondeado 15">
            <a:extLst>
              <a:ext uri="{FF2B5EF4-FFF2-40B4-BE49-F238E27FC236}">
                <a16:creationId xmlns:a16="http://schemas.microsoft.com/office/drawing/2014/main" id="{FC1F39BE-A427-AF1A-CE42-176C6C036A87}"/>
              </a:ext>
            </a:extLst>
          </p:cNvPr>
          <p:cNvSpPr/>
          <p:nvPr/>
        </p:nvSpPr>
        <p:spPr>
          <a:xfrm>
            <a:off x="5979040" y="2318044"/>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1538662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FC10B-3A05-57BF-1499-4BE443582F81}"/>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1A6F1F48-76C7-92EC-513B-6FABD60CCC9C}"/>
              </a:ext>
            </a:extLst>
          </p:cNvPr>
          <p:cNvSpPr>
            <a:spLocks noGrp="1"/>
          </p:cNvSpPr>
          <p:nvPr>
            <p:ph type="body" orient="vert" sz="quarter" idx="10"/>
          </p:nvPr>
        </p:nvSpPr>
        <p:spPr/>
        <p:txBody>
          <a:bodyPr/>
          <a:lstStyle/>
          <a:p>
            <a:r>
              <a:rPr lang="es-419" sz="1200" dirty="0"/>
              <a:t>Ejecución del CAPP</a:t>
            </a:r>
          </a:p>
        </p:txBody>
      </p:sp>
      <p:sp>
        <p:nvSpPr>
          <p:cNvPr id="16" name="Title 15">
            <a:extLst>
              <a:ext uri="{FF2B5EF4-FFF2-40B4-BE49-F238E27FC236}">
                <a16:creationId xmlns:a16="http://schemas.microsoft.com/office/drawing/2014/main" id="{32E54CB5-4DB8-88B9-BEDB-F12BDD06B105}"/>
              </a:ext>
            </a:extLst>
          </p:cNvPr>
          <p:cNvSpPr>
            <a:spLocks noGrp="1"/>
          </p:cNvSpPr>
          <p:nvPr>
            <p:ph type="title"/>
          </p:nvPr>
        </p:nvSpPr>
        <p:spPr/>
        <p:txBody>
          <a:bodyPr/>
          <a:lstStyle/>
          <a:p>
            <a:r>
              <a:rPr lang="es-419" sz="3200" b="1" dirty="0">
                <a:solidFill>
                  <a:schemeClr val="bg1"/>
                </a:solidFill>
              </a:rPr>
              <a:t>Ejecución del CAPP</a:t>
            </a:r>
          </a:p>
        </p:txBody>
      </p:sp>
      <p:sp>
        <p:nvSpPr>
          <p:cNvPr id="17" name="Text Placeholder 16">
            <a:extLst>
              <a:ext uri="{FF2B5EF4-FFF2-40B4-BE49-F238E27FC236}">
                <a16:creationId xmlns:a16="http://schemas.microsoft.com/office/drawing/2014/main" id="{0AF09F94-9072-B9D7-D1C7-F044184D1F1C}"/>
              </a:ext>
            </a:extLst>
          </p:cNvPr>
          <p:cNvSpPr>
            <a:spLocks noGrp="1"/>
          </p:cNvSpPr>
          <p:nvPr>
            <p:ph type="body" sz="quarter" idx="18"/>
          </p:nvPr>
        </p:nvSpPr>
        <p:spPr>
          <a:xfrm>
            <a:off x="962494" y="3577587"/>
            <a:ext cx="7092820" cy="774441"/>
          </a:xfrm>
        </p:spPr>
        <p:txBody>
          <a:bodyPr/>
          <a:lstStyle/>
          <a:p>
            <a:endParaRPr lang="en-US" dirty="0"/>
          </a:p>
        </p:txBody>
      </p:sp>
    </p:spTree>
    <p:extLst>
      <p:ext uri="{BB962C8B-B14F-4D97-AF65-F5344CB8AC3E}">
        <p14:creationId xmlns:p14="http://schemas.microsoft.com/office/powerpoint/2010/main" val="7266577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57515577-58B4-59D4-920C-0C65865F2B6D}"/>
              </a:ext>
            </a:extLst>
          </p:cNvPr>
          <p:cNvSpPr>
            <a:spLocks noGrp="1"/>
          </p:cNvSpPr>
          <p:nvPr>
            <p:ph type="body" sz="quarter" idx="10"/>
          </p:nvPr>
        </p:nvSpPr>
        <p:spPr>
          <a:xfrm>
            <a:off x="914399" y="2238843"/>
            <a:ext cx="10363202" cy="669094"/>
          </a:xfrm>
        </p:spPr>
        <p:txBody>
          <a:bodyPr/>
          <a:lstStyle/>
          <a:p>
            <a:r>
              <a:rPr lang="es-CL" dirty="0"/>
              <a:t>Ejecución de CAPP Individual</a:t>
            </a:r>
            <a:endParaRPr lang="es-419" dirty="0"/>
          </a:p>
        </p:txBody>
      </p:sp>
      <p:sp>
        <p:nvSpPr>
          <p:cNvPr id="2" name="Marcador de texto vertical 1">
            <a:extLst>
              <a:ext uri="{FF2B5EF4-FFF2-40B4-BE49-F238E27FC236}">
                <a16:creationId xmlns:a16="http://schemas.microsoft.com/office/drawing/2014/main" id="{43D9C6C6-B470-AF17-38D1-4280F6AD91E5}"/>
              </a:ext>
            </a:extLst>
          </p:cNvPr>
          <p:cNvSpPr>
            <a:spLocks noGrp="1"/>
          </p:cNvSpPr>
          <p:nvPr>
            <p:ph type="body" sz="quarter" idx="11"/>
          </p:nvPr>
        </p:nvSpPr>
        <p:spPr/>
        <p:txBody>
          <a:bodyPr/>
          <a:lstStyle/>
          <a:p>
            <a:r>
              <a:rPr lang="es-419" sz="1200" dirty="0"/>
              <a:t>Ejecución del CAPP</a:t>
            </a:r>
          </a:p>
        </p:txBody>
      </p:sp>
    </p:spTree>
    <p:extLst>
      <p:ext uri="{BB962C8B-B14F-4D97-AF65-F5344CB8AC3E}">
        <p14:creationId xmlns:p14="http://schemas.microsoft.com/office/powerpoint/2010/main" val="18492187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E355B741-14D4-F564-0C13-A1554C1EE4B2}"/>
              </a:ext>
            </a:extLst>
          </p:cNvPr>
          <p:cNvPicPr>
            <a:picLocks noChangeAspect="1"/>
          </p:cNvPicPr>
          <p:nvPr/>
        </p:nvPicPr>
        <p:blipFill>
          <a:blip r:embed="rId3"/>
          <a:stretch>
            <a:fillRect/>
          </a:stretch>
        </p:blipFill>
        <p:spPr>
          <a:xfrm>
            <a:off x="938996" y="1412291"/>
            <a:ext cx="10477497" cy="985344"/>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br>
              <a:rPr lang="es-419" b="0" dirty="0">
                <a:solidFill>
                  <a:schemeClr val="accent1"/>
                </a:solidFill>
                <a:effectLst/>
              </a:rPr>
            </a:b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2387887" y="2851821"/>
            <a:ext cx="6446668" cy="115435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a:t>En la página SMARQCM digite el ID del estudiante al que se le ejecutará el CAPP.</a:t>
            </a:r>
          </a:p>
          <a:p>
            <a:pPr marL="228600" indent="-228600">
              <a:buFont typeface="+mj-lt"/>
              <a:buAutoNum type="arabicPeriod"/>
            </a:pPr>
            <a:r>
              <a:rPr lang="es-ES_tradnl" sz="1200"/>
              <a:t>Presione el botón Ir</a:t>
            </a:r>
            <a:r>
              <a:rPr lang="es-CO" sz="1200"/>
              <a:t>.</a:t>
            </a:r>
          </a:p>
          <a:p>
            <a:pPr marL="228600" indent="-228600">
              <a:buFont typeface="+mj-lt"/>
              <a:buAutoNum type="arabicPeriod" startAt="3"/>
            </a:pPr>
            <a:endParaRPr lang="es-CO" sz="1200"/>
          </a:p>
          <a:p>
            <a:r>
              <a:rPr lang="es-CO" sz="1200"/>
              <a:t>Si el estudiante tiene Retenciones y desea sobrepasar la restricción, active la casilla correspondiente.</a:t>
            </a:r>
            <a:endParaRPr lang="es-ES_tradnl" sz="1200" dirty="0"/>
          </a:p>
        </p:txBody>
      </p:sp>
      <p:sp>
        <p:nvSpPr>
          <p:cNvPr id="26" name="Rectángulo 25">
            <a:extLst>
              <a:ext uri="{FF2B5EF4-FFF2-40B4-BE49-F238E27FC236}">
                <a16:creationId xmlns:a16="http://schemas.microsoft.com/office/drawing/2014/main" id="{50E2063E-9977-17CE-AA92-AE5B3F0884BC}"/>
              </a:ext>
            </a:extLst>
          </p:cNvPr>
          <p:cNvSpPr/>
          <p:nvPr/>
        </p:nvSpPr>
        <p:spPr>
          <a:xfrm>
            <a:off x="1505527" y="1685063"/>
            <a:ext cx="1333224"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7" name="Rectángulo redondeado 15">
            <a:extLst>
              <a:ext uri="{FF2B5EF4-FFF2-40B4-BE49-F238E27FC236}">
                <a16:creationId xmlns:a16="http://schemas.microsoft.com/office/drawing/2014/main" id="{FDB49704-017F-81B0-CD64-17EF288F6D3A}"/>
              </a:ext>
            </a:extLst>
          </p:cNvPr>
          <p:cNvSpPr/>
          <p:nvPr/>
        </p:nvSpPr>
        <p:spPr>
          <a:xfrm>
            <a:off x="2859913" y="1913569"/>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28" name="Rectángulo 27">
            <a:extLst>
              <a:ext uri="{FF2B5EF4-FFF2-40B4-BE49-F238E27FC236}">
                <a16:creationId xmlns:a16="http://schemas.microsoft.com/office/drawing/2014/main" id="{E75CFFEF-EC96-3A95-4056-B4696621D423}"/>
              </a:ext>
            </a:extLst>
          </p:cNvPr>
          <p:cNvSpPr/>
          <p:nvPr/>
        </p:nvSpPr>
        <p:spPr>
          <a:xfrm>
            <a:off x="11086667" y="1720998"/>
            <a:ext cx="339062"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9" name="Rectángulo redondeado 15">
            <a:extLst>
              <a:ext uri="{FF2B5EF4-FFF2-40B4-BE49-F238E27FC236}">
                <a16:creationId xmlns:a16="http://schemas.microsoft.com/office/drawing/2014/main" id="{57632626-25C6-570A-8989-8EC5B4F77348}"/>
              </a:ext>
            </a:extLst>
          </p:cNvPr>
          <p:cNvSpPr/>
          <p:nvPr/>
        </p:nvSpPr>
        <p:spPr>
          <a:xfrm>
            <a:off x="10897510" y="192477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7207224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7D26BE18-0DEA-BAF8-273A-798F835A4DBB}"/>
              </a:ext>
            </a:extLst>
          </p:cNvPr>
          <p:cNvPicPr>
            <a:picLocks noChangeAspect="1"/>
          </p:cNvPicPr>
          <p:nvPr/>
        </p:nvPicPr>
        <p:blipFill>
          <a:blip r:embed="rId3"/>
          <a:stretch>
            <a:fillRect/>
          </a:stretch>
        </p:blipFill>
        <p:spPr>
          <a:xfrm>
            <a:off x="858982" y="1304216"/>
            <a:ext cx="10843491" cy="4927318"/>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br>
              <a:rPr lang="es-419" b="0" dirty="0">
                <a:solidFill>
                  <a:schemeClr val="accent1"/>
                </a:solidFill>
                <a:effectLst/>
              </a:rPr>
            </a:b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2222849" y="4672980"/>
            <a:ext cx="7558460" cy="140208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Si el estudiante no tiene ejecución de CAPP ejecutada previamente, la página queda llena con los valores que por defecto se definieron en SMADFLT para el código predefinido ONLINE.</a:t>
            </a:r>
          </a:p>
          <a:p>
            <a:endParaRPr lang="es-ES_tradnl" sz="1200" dirty="0"/>
          </a:p>
          <a:p>
            <a:r>
              <a:rPr lang="es-ES_tradnl" sz="1200" dirty="0"/>
              <a:t>Si el estudiante ya tiene una ejecución de CAPP ejecutada previamente, el sistema indicará que no se pueden hacer cambios sobre ese registro. Presione el botón OK.</a:t>
            </a:r>
          </a:p>
        </p:txBody>
      </p:sp>
    </p:spTree>
    <p:extLst>
      <p:ext uri="{BB962C8B-B14F-4D97-AF65-F5344CB8AC3E}">
        <p14:creationId xmlns:p14="http://schemas.microsoft.com/office/powerpoint/2010/main" val="11873258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8877AE6-E439-8B69-A85A-56D7E36A0330}"/>
              </a:ext>
            </a:extLst>
          </p:cNvPr>
          <p:cNvPicPr>
            <a:picLocks noChangeAspect="1"/>
          </p:cNvPicPr>
          <p:nvPr/>
        </p:nvPicPr>
        <p:blipFill>
          <a:blip r:embed="rId3"/>
          <a:stretch>
            <a:fillRect/>
          </a:stretch>
        </p:blipFill>
        <p:spPr>
          <a:xfrm>
            <a:off x="938996" y="1309240"/>
            <a:ext cx="10680349" cy="4860785"/>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405591" y="3632261"/>
            <a:ext cx="6511812" cy="84689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Para crear una nueva solicitud de verificación de cumplimiento, haga clic sobre la opción ‘</a:t>
            </a:r>
            <a:r>
              <a:rPr lang="es-ES_tradnl" sz="1400" b="1" dirty="0"/>
              <a:t>+</a:t>
            </a:r>
            <a:r>
              <a:rPr lang="es-ES_tradnl" sz="1200" dirty="0"/>
              <a:t>’.</a:t>
            </a:r>
          </a:p>
        </p:txBody>
      </p:sp>
      <p:sp>
        <p:nvSpPr>
          <p:cNvPr id="7" name="Rectángulo 6">
            <a:extLst>
              <a:ext uri="{FF2B5EF4-FFF2-40B4-BE49-F238E27FC236}">
                <a16:creationId xmlns:a16="http://schemas.microsoft.com/office/drawing/2014/main" id="{9ABD3B99-96E8-3E37-7D02-326B0A184C62}"/>
              </a:ext>
            </a:extLst>
          </p:cNvPr>
          <p:cNvSpPr/>
          <p:nvPr/>
        </p:nvSpPr>
        <p:spPr>
          <a:xfrm>
            <a:off x="10876998" y="1767180"/>
            <a:ext cx="206638" cy="20377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EC68EEDB-D4CC-6A92-3B97-B43B198254FC}"/>
              </a:ext>
            </a:extLst>
          </p:cNvPr>
          <p:cNvSpPr/>
          <p:nvPr/>
        </p:nvSpPr>
        <p:spPr>
          <a:xfrm>
            <a:off x="10687841" y="198943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Tree>
    <p:extLst>
      <p:ext uri="{BB962C8B-B14F-4D97-AF65-F5344CB8AC3E}">
        <p14:creationId xmlns:p14="http://schemas.microsoft.com/office/powerpoint/2010/main" val="10599074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6E583CCB-817A-C318-61D3-174240BFCF6A}"/>
              </a:ext>
            </a:extLst>
          </p:cNvPr>
          <p:cNvPicPr>
            <a:picLocks noChangeAspect="1"/>
          </p:cNvPicPr>
          <p:nvPr/>
        </p:nvPicPr>
        <p:blipFill>
          <a:blip r:embed="rId3"/>
          <a:stretch>
            <a:fillRect/>
          </a:stretch>
        </p:blipFill>
        <p:spPr>
          <a:xfrm>
            <a:off x="923353" y="1299415"/>
            <a:ext cx="10751411" cy="4901791"/>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3722773" y="3625193"/>
            <a:ext cx="6029795" cy="13532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nuevo registro de ejecución de CAPP hereda la configuración definida en SMADFLT para el código ONLINE.</a:t>
            </a:r>
          </a:p>
          <a:p>
            <a:pPr marL="228600" indent="-228600">
              <a:buFont typeface="+mj-lt"/>
              <a:buAutoNum type="arabicPeriod" startAt="3"/>
            </a:pPr>
            <a:endParaRPr lang="es-ES_tradnl" sz="1200" dirty="0"/>
          </a:p>
          <a:p>
            <a:pPr marL="228600" indent="-228600">
              <a:buFont typeface="+mj-lt"/>
              <a:buAutoNum type="arabicPeriod" startAt="4"/>
            </a:pPr>
            <a:r>
              <a:rPr lang="es-ES_tradnl" sz="1200" dirty="0"/>
              <a:t>Si lo desea, puede ingresar/modificar el período de ejecución el cumplimiento.</a:t>
            </a:r>
          </a:p>
          <a:p>
            <a:pPr marL="228600" indent="-228600">
              <a:buFont typeface="+mj-lt"/>
              <a:buAutoNum type="arabicPeriod" startAt="4"/>
            </a:pPr>
            <a:r>
              <a:rPr lang="es-ES_tradnl" sz="1200" dirty="0"/>
              <a:t>Pase al siguiente bloque</a:t>
            </a:r>
          </a:p>
        </p:txBody>
      </p:sp>
      <p:sp>
        <p:nvSpPr>
          <p:cNvPr id="5" name="Rectángulo 4">
            <a:extLst>
              <a:ext uri="{FF2B5EF4-FFF2-40B4-BE49-F238E27FC236}">
                <a16:creationId xmlns:a16="http://schemas.microsoft.com/office/drawing/2014/main" id="{077FF934-40C2-60BD-08FD-D6701DC6C955}"/>
              </a:ext>
            </a:extLst>
          </p:cNvPr>
          <p:cNvSpPr/>
          <p:nvPr/>
        </p:nvSpPr>
        <p:spPr>
          <a:xfrm>
            <a:off x="1224998" y="2056727"/>
            <a:ext cx="1047148" cy="29252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AE76154A-4B26-2E73-5680-CEAFAE82DDFF}"/>
              </a:ext>
            </a:extLst>
          </p:cNvPr>
          <p:cNvSpPr/>
          <p:nvPr/>
        </p:nvSpPr>
        <p:spPr>
          <a:xfrm>
            <a:off x="1035841" y="230668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
        <p:nvSpPr>
          <p:cNvPr id="12" name="Rectángulo 11">
            <a:extLst>
              <a:ext uri="{FF2B5EF4-FFF2-40B4-BE49-F238E27FC236}">
                <a16:creationId xmlns:a16="http://schemas.microsoft.com/office/drawing/2014/main" id="{39E2D3C9-768E-E678-0891-5CCB43E45F2D}"/>
              </a:ext>
            </a:extLst>
          </p:cNvPr>
          <p:cNvSpPr/>
          <p:nvPr/>
        </p:nvSpPr>
        <p:spPr>
          <a:xfrm>
            <a:off x="1197290" y="5876061"/>
            <a:ext cx="268891" cy="2222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D03BDF9B-A587-25C9-DEC5-584484CC9A44}"/>
              </a:ext>
            </a:extLst>
          </p:cNvPr>
          <p:cNvSpPr/>
          <p:nvPr/>
        </p:nvSpPr>
        <p:spPr>
          <a:xfrm>
            <a:off x="1547708" y="5715246"/>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3440086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289E9B18-F522-EC1A-1B26-6F7FBD442ED6}"/>
              </a:ext>
            </a:extLst>
          </p:cNvPr>
          <p:cNvPicPr>
            <a:picLocks noChangeAspect="1"/>
          </p:cNvPicPr>
          <p:nvPr/>
        </p:nvPicPr>
        <p:blipFill>
          <a:blip r:embed="rId3"/>
          <a:stretch>
            <a:fillRect/>
          </a:stretch>
        </p:blipFill>
        <p:spPr>
          <a:xfrm>
            <a:off x="954026" y="1312135"/>
            <a:ext cx="10628374" cy="483460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3594F1A0-FB94-013E-16FA-148DEC9E82B9}"/>
              </a:ext>
            </a:extLst>
          </p:cNvPr>
          <p:cNvSpPr/>
          <p:nvPr/>
        </p:nvSpPr>
        <p:spPr>
          <a:xfrm>
            <a:off x="2846318" y="4306017"/>
            <a:ext cx="6228051"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Aparecerán estos campos para llenar el currículum de cumplimiento. Si bien usted puede definir cada campo para el cual desea ejecutarla evaluación de CAPP (Programa, Escuela, campus, carrera, etc.) , recomendamos el siguiente procedimiento para definir el currículum de ejecución de cumplimiento:</a:t>
            </a:r>
          </a:p>
        </p:txBody>
      </p:sp>
      <p:sp>
        <p:nvSpPr>
          <p:cNvPr id="7" name="Rectángulo 6">
            <a:extLst>
              <a:ext uri="{FF2B5EF4-FFF2-40B4-BE49-F238E27FC236}">
                <a16:creationId xmlns:a16="http://schemas.microsoft.com/office/drawing/2014/main" id="{6E42B636-7DA9-93CE-9195-A03144F039ED}"/>
              </a:ext>
            </a:extLst>
          </p:cNvPr>
          <p:cNvSpPr/>
          <p:nvPr/>
        </p:nvSpPr>
        <p:spPr>
          <a:xfrm>
            <a:off x="954025" y="1770400"/>
            <a:ext cx="10628373" cy="23792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2476503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353CA-F042-0337-DDD1-DC926B137C63}"/>
            </a:ext>
          </a:extLst>
        </p:cNvPr>
        <p:cNvGrpSpPr/>
        <p:nvPr/>
      </p:nvGrpSpPr>
      <p:grpSpPr>
        <a:xfrm>
          <a:off x="0" y="0"/>
          <a:ext cx="0" cy="0"/>
          <a:chOff x="0" y="0"/>
          <a:chExt cx="0" cy="0"/>
        </a:xfrm>
      </p:grpSpPr>
      <p:grpSp>
        <p:nvGrpSpPr>
          <p:cNvPr id="10" name="Grupo 9">
            <a:extLst>
              <a:ext uri="{FF2B5EF4-FFF2-40B4-BE49-F238E27FC236}">
                <a16:creationId xmlns:a16="http://schemas.microsoft.com/office/drawing/2014/main" id="{6DFE3C5B-5601-3E88-9BB5-382F76CEA127}"/>
              </a:ext>
            </a:extLst>
          </p:cNvPr>
          <p:cNvGrpSpPr/>
          <p:nvPr/>
        </p:nvGrpSpPr>
        <p:grpSpPr>
          <a:xfrm>
            <a:off x="1592502" y="840400"/>
            <a:ext cx="8567500" cy="5210306"/>
            <a:chOff x="1592502" y="840400"/>
            <a:chExt cx="8567500" cy="5210306"/>
          </a:xfrm>
        </p:grpSpPr>
        <p:pic>
          <p:nvPicPr>
            <p:cNvPr id="5" name="Imagen 4">
              <a:extLst>
                <a:ext uri="{FF2B5EF4-FFF2-40B4-BE49-F238E27FC236}">
                  <a16:creationId xmlns:a16="http://schemas.microsoft.com/office/drawing/2014/main" id="{EDC43E02-3EC9-0EBC-AA51-0B2484EA8E7D}"/>
                </a:ext>
              </a:extLst>
            </p:cNvPr>
            <p:cNvPicPr>
              <a:picLocks noChangeAspect="1"/>
            </p:cNvPicPr>
            <p:nvPr/>
          </p:nvPicPr>
          <p:blipFill>
            <a:blip r:embed="rId3"/>
            <a:stretch>
              <a:fillRect/>
            </a:stretch>
          </p:blipFill>
          <p:spPr>
            <a:xfrm>
              <a:off x="1592502" y="840400"/>
              <a:ext cx="8544967" cy="3913282"/>
            </a:xfrm>
            <a:prstGeom prst="rect">
              <a:avLst/>
            </a:prstGeom>
          </p:spPr>
        </p:pic>
        <p:pic>
          <p:nvPicPr>
            <p:cNvPr id="9" name="Imagen 8">
              <a:extLst>
                <a:ext uri="{FF2B5EF4-FFF2-40B4-BE49-F238E27FC236}">
                  <a16:creationId xmlns:a16="http://schemas.microsoft.com/office/drawing/2014/main" id="{5E811C3B-6979-E256-A3F0-D0F9F0DF2150}"/>
                </a:ext>
              </a:extLst>
            </p:cNvPr>
            <p:cNvPicPr>
              <a:picLocks noChangeAspect="1"/>
            </p:cNvPicPr>
            <p:nvPr/>
          </p:nvPicPr>
          <p:blipFill>
            <a:blip r:embed="rId4"/>
            <a:stretch>
              <a:fillRect/>
            </a:stretch>
          </p:blipFill>
          <p:spPr>
            <a:xfrm>
              <a:off x="1592503" y="2673866"/>
              <a:ext cx="8567499" cy="3376840"/>
            </a:xfrm>
            <a:prstGeom prst="rect">
              <a:avLst/>
            </a:prstGeom>
          </p:spPr>
        </p:pic>
      </p:grpSp>
      <p:sp>
        <p:nvSpPr>
          <p:cNvPr id="2" name="Marcador de texto vertical 1">
            <a:extLst>
              <a:ext uri="{FF2B5EF4-FFF2-40B4-BE49-F238E27FC236}">
                <a16:creationId xmlns:a16="http://schemas.microsoft.com/office/drawing/2014/main" id="{C4C683CE-E1AB-8A4E-8F4A-4F16DB9AC2E6}"/>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C4037951-72E7-B7AF-6083-306713783D86}"/>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1D973AB9-B5BE-45FF-F15C-F17A31C35CDF}"/>
              </a:ext>
            </a:extLst>
          </p:cNvPr>
          <p:cNvSpPr/>
          <p:nvPr/>
        </p:nvSpPr>
        <p:spPr>
          <a:xfrm>
            <a:off x="1930400" y="4306017"/>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ES_tradnl" sz="1200" dirty="0"/>
              <a:t>Presionar el ícono correspondiente al menú de  </a:t>
            </a:r>
            <a:r>
              <a:rPr lang="es-ES_tradnl" sz="1200" b="1" dirty="0"/>
              <a:t>HERRAMIENTAS</a:t>
            </a:r>
          </a:p>
          <a:p>
            <a:pPr marL="228600" indent="-228600">
              <a:buFont typeface="+mj-lt"/>
              <a:buAutoNum type="arabicPeriod" startAt="6"/>
            </a:pPr>
            <a:r>
              <a:rPr lang="es-ES_tradnl" sz="1200" dirty="0"/>
              <a:t>Seleccionar la opción  </a:t>
            </a:r>
            <a:r>
              <a:rPr lang="es-ES_tradnl" sz="1200" b="1" dirty="0"/>
              <a:t>Copiar desde registro de alumno</a:t>
            </a:r>
            <a:endParaRPr lang="es-ES_tradnl" sz="1200" dirty="0"/>
          </a:p>
        </p:txBody>
      </p:sp>
      <p:sp>
        <p:nvSpPr>
          <p:cNvPr id="7" name="Rectángulo 6">
            <a:extLst>
              <a:ext uri="{FF2B5EF4-FFF2-40B4-BE49-F238E27FC236}">
                <a16:creationId xmlns:a16="http://schemas.microsoft.com/office/drawing/2014/main" id="{E15FAB4D-32DB-DE61-53C6-2EEA75C2CD01}"/>
              </a:ext>
            </a:extLst>
          </p:cNvPr>
          <p:cNvSpPr/>
          <p:nvPr/>
        </p:nvSpPr>
        <p:spPr>
          <a:xfrm>
            <a:off x="9893882" y="840400"/>
            <a:ext cx="243587" cy="2091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3DE68E5C-3640-8FEC-975E-FA9164B3C335}"/>
              </a:ext>
            </a:extLst>
          </p:cNvPr>
          <p:cNvSpPr/>
          <p:nvPr/>
        </p:nvSpPr>
        <p:spPr>
          <a:xfrm>
            <a:off x="10226393" y="1007850"/>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1" name="Rectángulo 10">
            <a:extLst>
              <a:ext uri="{FF2B5EF4-FFF2-40B4-BE49-F238E27FC236}">
                <a16:creationId xmlns:a16="http://schemas.microsoft.com/office/drawing/2014/main" id="{25F9F860-4DD9-A2DE-67DB-C38EF1D0EE7C}"/>
              </a:ext>
            </a:extLst>
          </p:cNvPr>
          <p:cNvSpPr/>
          <p:nvPr/>
        </p:nvSpPr>
        <p:spPr>
          <a:xfrm>
            <a:off x="8891736" y="5605163"/>
            <a:ext cx="1245733" cy="1674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CD4E8A09-C2E2-3D8B-3EE9-6A1980A6D84D}"/>
              </a:ext>
            </a:extLst>
          </p:cNvPr>
          <p:cNvSpPr/>
          <p:nvPr/>
        </p:nvSpPr>
        <p:spPr>
          <a:xfrm>
            <a:off x="8644944" y="5537308"/>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Tree>
    <p:extLst>
      <p:ext uri="{BB962C8B-B14F-4D97-AF65-F5344CB8AC3E}">
        <p14:creationId xmlns:p14="http://schemas.microsoft.com/office/powerpoint/2010/main" val="3622935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E763E-16BB-6697-D028-95BD0FD68587}"/>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01E3A0E5-96F8-6F5E-33E3-74CCB7F69814}"/>
              </a:ext>
            </a:extLst>
          </p:cNvPr>
          <p:cNvPicPr>
            <a:picLocks noChangeAspect="1"/>
          </p:cNvPicPr>
          <p:nvPr/>
        </p:nvPicPr>
        <p:blipFill>
          <a:blip r:embed="rId3"/>
          <a:stretch>
            <a:fillRect/>
          </a:stretch>
        </p:blipFill>
        <p:spPr>
          <a:xfrm>
            <a:off x="938996" y="944980"/>
            <a:ext cx="10523031" cy="4827633"/>
          </a:xfrm>
          <a:prstGeom prst="rect">
            <a:avLst/>
          </a:prstGeom>
        </p:spPr>
      </p:pic>
      <p:sp>
        <p:nvSpPr>
          <p:cNvPr id="2" name="Marcador de texto vertical 1">
            <a:extLst>
              <a:ext uri="{FF2B5EF4-FFF2-40B4-BE49-F238E27FC236}">
                <a16:creationId xmlns:a16="http://schemas.microsoft.com/office/drawing/2014/main" id="{CCD8117B-5F62-3338-82F1-C2C880BB8E8A}"/>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53E9B6A5-86C9-6B5A-08A9-C2B450FF843F}"/>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7BF1C39D-3BAD-E4C2-E1EA-0F2CBC63892A}"/>
              </a:ext>
            </a:extLst>
          </p:cNvPr>
          <p:cNvSpPr/>
          <p:nvPr/>
        </p:nvSpPr>
        <p:spPr>
          <a:xfrm>
            <a:off x="1930400" y="4306017"/>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8"/>
            </a:pPr>
            <a:r>
              <a:rPr lang="es-ES_tradnl" sz="1200" dirty="0"/>
              <a:t>Haga clic sobre el registro para el cual desea evaluar el avance del alumno. </a:t>
            </a:r>
          </a:p>
          <a:p>
            <a:pPr marL="228600" indent="-228600">
              <a:buFont typeface="+mj-lt"/>
              <a:buAutoNum type="arabicPeriod" startAt="8"/>
            </a:pPr>
            <a:r>
              <a:rPr lang="es-ES_tradnl" sz="1200" dirty="0"/>
              <a:t>Presiona el botón Seleccionar</a:t>
            </a:r>
          </a:p>
        </p:txBody>
      </p:sp>
      <p:sp>
        <p:nvSpPr>
          <p:cNvPr id="7" name="Rectángulo 6">
            <a:extLst>
              <a:ext uri="{FF2B5EF4-FFF2-40B4-BE49-F238E27FC236}">
                <a16:creationId xmlns:a16="http://schemas.microsoft.com/office/drawing/2014/main" id="{3C3B2F34-EC5D-4B49-72CA-0C24B8E4CA6F}"/>
              </a:ext>
            </a:extLst>
          </p:cNvPr>
          <p:cNvSpPr/>
          <p:nvPr/>
        </p:nvSpPr>
        <p:spPr>
          <a:xfrm>
            <a:off x="938996" y="1843535"/>
            <a:ext cx="3439040" cy="2346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254BB409-CEE5-DBFC-8237-25E9C0698084}"/>
              </a:ext>
            </a:extLst>
          </p:cNvPr>
          <p:cNvSpPr/>
          <p:nvPr/>
        </p:nvSpPr>
        <p:spPr>
          <a:xfrm>
            <a:off x="4508495" y="2078182"/>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1" name="Rectángulo 10">
            <a:extLst>
              <a:ext uri="{FF2B5EF4-FFF2-40B4-BE49-F238E27FC236}">
                <a16:creationId xmlns:a16="http://schemas.microsoft.com/office/drawing/2014/main" id="{78DC7ACC-E2E9-9B19-711C-C8A340A6E21D}"/>
              </a:ext>
            </a:extLst>
          </p:cNvPr>
          <p:cNvSpPr/>
          <p:nvPr/>
        </p:nvSpPr>
        <p:spPr>
          <a:xfrm>
            <a:off x="10520219" y="5522036"/>
            <a:ext cx="540887"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26D39825-6FD0-E23D-DA8A-AF3637E2BC71}"/>
              </a:ext>
            </a:extLst>
          </p:cNvPr>
          <p:cNvSpPr/>
          <p:nvPr/>
        </p:nvSpPr>
        <p:spPr>
          <a:xfrm>
            <a:off x="10368006" y="5361221"/>
            <a:ext cx="161449"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Tree>
    <p:extLst>
      <p:ext uri="{BB962C8B-B14F-4D97-AF65-F5344CB8AC3E}">
        <p14:creationId xmlns:p14="http://schemas.microsoft.com/office/powerpoint/2010/main" val="17634280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189DB-BDF3-87D9-9E7D-B14F4616A8D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D40C9A8-1B25-D4D3-AA59-D61E313895C6}"/>
              </a:ext>
            </a:extLst>
          </p:cNvPr>
          <p:cNvPicPr>
            <a:picLocks noChangeAspect="1"/>
          </p:cNvPicPr>
          <p:nvPr/>
        </p:nvPicPr>
        <p:blipFill>
          <a:blip r:embed="rId3"/>
          <a:stretch>
            <a:fillRect/>
          </a:stretch>
        </p:blipFill>
        <p:spPr>
          <a:xfrm>
            <a:off x="938996" y="944980"/>
            <a:ext cx="10546013" cy="4827633"/>
          </a:xfrm>
          <a:prstGeom prst="rect">
            <a:avLst/>
          </a:prstGeom>
        </p:spPr>
      </p:pic>
      <p:sp>
        <p:nvSpPr>
          <p:cNvPr id="2" name="Marcador de texto vertical 1">
            <a:extLst>
              <a:ext uri="{FF2B5EF4-FFF2-40B4-BE49-F238E27FC236}">
                <a16:creationId xmlns:a16="http://schemas.microsoft.com/office/drawing/2014/main" id="{1F0F9882-D280-3389-CA49-23C9975F66EB}"/>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A9FD5F52-8A5A-CD32-B234-622B39A495EB}"/>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888E6252-1429-9C9A-00F0-59BCFC53D56E}"/>
              </a:ext>
            </a:extLst>
          </p:cNvPr>
          <p:cNvSpPr/>
          <p:nvPr/>
        </p:nvSpPr>
        <p:spPr>
          <a:xfrm>
            <a:off x="2687782" y="3853104"/>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0"/>
            </a:pPr>
            <a:r>
              <a:rPr lang="es-ES_tradnl" sz="1200" dirty="0"/>
              <a:t>La información del registro seleccionado se copiará a esta página. </a:t>
            </a:r>
          </a:p>
          <a:p>
            <a:pPr marL="228600" indent="-228600">
              <a:buFont typeface="+mj-lt"/>
              <a:buAutoNum type="arabicPeriod" startAt="10"/>
            </a:pPr>
            <a:r>
              <a:rPr lang="es-ES_tradnl" sz="1200" dirty="0"/>
              <a:t>Guarde la información</a:t>
            </a:r>
          </a:p>
        </p:txBody>
      </p:sp>
      <p:sp>
        <p:nvSpPr>
          <p:cNvPr id="7" name="Rectángulo 6">
            <a:extLst>
              <a:ext uri="{FF2B5EF4-FFF2-40B4-BE49-F238E27FC236}">
                <a16:creationId xmlns:a16="http://schemas.microsoft.com/office/drawing/2014/main" id="{C3265197-6406-04EF-3848-06D52522AB95}"/>
              </a:ext>
            </a:extLst>
          </p:cNvPr>
          <p:cNvSpPr/>
          <p:nvPr/>
        </p:nvSpPr>
        <p:spPr>
          <a:xfrm>
            <a:off x="938995" y="1387556"/>
            <a:ext cx="10546013" cy="202297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98FE95BA-8605-C9A6-5EDD-3826893623E8}"/>
              </a:ext>
            </a:extLst>
          </p:cNvPr>
          <p:cNvSpPr/>
          <p:nvPr/>
        </p:nvSpPr>
        <p:spPr>
          <a:xfrm>
            <a:off x="508001" y="1311564"/>
            <a:ext cx="360440" cy="16625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1" name="Rectángulo 10">
            <a:extLst>
              <a:ext uri="{FF2B5EF4-FFF2-40B4-BE49-F238E27FC236}">
                <a16:creationId xmlns:a16="http://schemas.microsoft.com/office/drawing/2014/main" id="{3D031411-8599-32B0-2D86-FA2C1D234E07}"/>
              </a:ext>
            </a:extLst>
          </p:cNvPr>
          <p:cNvSpPr/>
          <p:nvPr/>
        </p:nvSpPr>
        <p:spPr>
          <a:xfrm>
            <a:off x="10999537" y="5532379"/>
            <a:ext cx="540887"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B16D6801-D6D2-6B3F-B801-453F89AA065D}"/>
              </a:ext>
            </a:extLst>
          </p:cNvPr>
          <p:cNvSpPr/>
          <p:nvPr/>
        </p:nvSpPr>
        <p:spPr>
          <a:xfrm>
            <a:off x="10575636" y="537156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1110556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89CF9-1B53-09BA-B82D-6D438313E555}"/>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710808D-9769-53B3-D300-71624E58C19B}"/>
              </a:ext>
            </a:extLst>
          </p:cNvPr>
          <p:cNvPicPr>
            <a:picLocks noChangeAspect="1"/>
          </p:cNvPicPr>
          <p:nvPr/>
        </p:nvPicPr>
        <p:blipFill>
          <a:blip r:embed="rId3"/>
          <a:stretch>
            <a:fillRect/>
          </a:stretch>
        </p:blipFill>
        <p:spPr>
          <a:xfrm>
            <a:off x="938995" y="944980"/>
            <a:ext cx="10570092" cy="4827633"/>
          </a:xfrm>
          <a:prstGeom prst="rect">
            <a:avLst/>
          </a:prstGeom>
        </p:spPr>
      </p:pic>
      <p:sp>
        <p:nvSpPr>
          <p:cNvPr id="2" name="Marcador de texto vertical 1">
            <a:extLst>
              <a:ext uri="{FF2B5EF4-FFF2-40B4-BE49-F238E27FC236}">
                <a16:creationId xmlns:a16="http://schemas.microsoft.com/office/drawing/2014/main" id="{B00E6E85-6F29-A609-A3A3-C4EC59E0CC58}"/>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D1DFE954-B5CC-18C3-1C1A-F5C752C19E25}"/>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7C267486-10A6-A393-CDC2-1C6B328E2283}"/>
              </a:ext>
            </a:extLst>
          </p:cNvPr>
          <p:cNvSpPr/>
          <p:nvPr/>
        </p:nvSpPr>
        <p:spPr>
          <a:xfrm>
            <a:off x="1598306" y="3933511"/>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2"/>
            </a:pPr>
            <a:r>
              <a:rPr lang="es-419" sz="1200" dirty="0"/>
              <a:t>Presione el ícono correspondiente al menú de  HERRAMIENTAS</a:t>
            </a:r>
          </a:p>
          <a:p>
            <a:pPr marL="228600" indent="-228600">
              <a:buFont typeface="+mj-lt"/>
              <a:buAutoNum type="arabicPeriod" startAt="12"/>
            </a:pPr>
            <a:r>
              <a:rPr lang="es-419" sz="1200" dirty="0"/>
              <a:t>Seleccionar la opción  Enviar para procesamiento</a:t>
            </a:r>
          </a:p>
        </p:txBody>
      </p:sp>
      <p:sp>
        <p:nvSpPr>
          <p:cNvPr id="11" name="Rectángulo 10">
            <a:extLst>
              <a:ext uri="{FF2B5EF4-FFF2-40B4-BE49-F238E27FC236}">
                <a16:creationId xmlns:a16="http://schemas.microsoft.com/office/drawing/2014/main" id="{12132CD4-37CB-6A48-E486-52C1371648C6}"/>
              </a:ext>
            </a:extLst>
          </p:cNvPr>
          <p:cNvSpPr/>
          <p:nvPr/>
        </p:nvSpPr>
        <p:spPr>
          <a:xfrm>
            <a:off x="11253004" y="973733"/>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BC96147F-0CE5-1C18-CBB7-6FEDF32F2B23}"/>
              </a:ext>
            </a:extLst>
          </p:cNvPr>
          <p:cNvSpPr/>
          <p:nvPr/>
        </p:nvSpPr>
        <p:spPr>
          <a:xfrm>
            <a:off x="10766788" y="78416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8" name="Rectángulo 7">
            <a:extLst>
              <a:ext uri="{FF2B5EF4-FFF2-40B4-BE49-F238E27FC236}">
                <a16:creationId xmlns:a16="http://schemas.microsoft.com/office/drawing/2014/main" id="{A778E2A8-F443-54CC-3D6E-13BF9318D788}"/>
              </a:ext>
            </a:extLst>
          </p:cNvPr>
          <p:cNvSpPr/>
          <p:nvPr/>
        </p:nvSpPr>
        <p:spPr>
          <a:xfrm>
            <a:off x="9951821" y="4042672"/>
            <a:ext cx="1464671" cy="2152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76667275-0C70-C8F6-4388-BE5AD38C085A}"/>
              </a:ext>
            </a:extLst>
          </p:cNvPr>
          <p:cNvSpPr/>
          <p:nvPr/>
        </p:nvSpPr>
        <p:spPr>
          <a:xfrm>
            <a:off x="9518683" y="388185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Tree>
    <p:extLst>
      <p:ext uri="{BB962C8B-B14F-4D97-AF65-F5344CB8AC3E}">
        <p14:creationId xmlns:p14="http://schemas.microsoft.com/office/powerpoint/2010/main" val="33807958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71D58-4286-7E95-763D-456294994DD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02AD2EA-F21D-B484-E7A4-1FD378F7D8C2}"/>
              </a:ext>
            </a:extLst>
          </p:cNvPr>
          <p:cNvPicPr>
            <a:picLocks noChangeAspect="1"/>
          </p:cNvPicPr>
          <p:nvPr/>
        </p:nvPicPr>
        <p:blipFill>
          <a:blip r:embed="rId3"/>
          <a:stretch>
            <a:fillRect/>
          </a:stretch>
        </p:blipFill>
        <p:spPr>
          <a:xfrm>
            <a:off x="938995" y="944980"/>
            <a:ext cx="10540515" cy="4827633"/>
          </a:xfrm>
          <a:prstGeom prst="rect">
            <a:avLst/>
          </a:prstGeom>
        </p:spPr>
      </p:pic>
      <p:sp>
        <p:nvSpPr>
          <p:cNvPr id="2" name="Marcador de texto vertical 1">
            <a:extLst>
              <a:ext uri="{FF2B5EF4-FFF2-40B4-BE49-F238E27FC236}">
                <a16:creationId xmlns:a16="http://schemas.microsoft.com/office/drawing/2014/main" id="{4CB20E19-0357-0E14-8034-1101E38E8263}"/>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DD5E3029-8836-7682-D89F-F695010034D1}"/>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D74FF716-F76D-5E1D-3C0F-B02EBF2E4ADD}"/>
              </a:ext>
            </a:extLst>
          </p:cNvPr>
          <p:cNvSpPr/>
          <p:nvPr/>
        </p:nvSpPr>
        <p:spPr>
          <a:xfrm>
            <a:off x="4036706" y="4099765"/>
            <a:ext cx="4322203" cy="74008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Aparecerá este mensaje mientras procesa el CAPP</a:t>
            </a:r>
          </a:p>
        </p:txBody>
      </p:sp>
    </p:spTree>
    <p:extLst>
      <p:ext uri="{BB962C8B-B14F-4D97-AF65-F5344CB8AC3E}">
        <p14:creationId xmlns:p14="http://schemas.microsoft.com/office/powerpoint/2010/main" val="9306439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D9551-71FA-F221-9E8C-A4D8A73181E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12A4F646-ECCA-F15E-E84C-7F22BC42960B}"/>
              </a:ext>
            </a:extLst>
          </p:cNvPr>
          <p:cNvPicPr>
            <a:picLocks noChangeAspect="1"/>
          </p:cNvPicPr>
          <p:nvPr/>
        </p:nvPicPr>
        <p:blipFill>
          <a:blip r:embed="rId3"/>
          <a:stretch>
            <a:fillRect/>
          </a:stretch>
        </p:blipFill>
        <p:spPr>
          <a:xfrm>
            <a:off x="938995" y="944980"/>
            <a:ext cx="10576655" cy="4827633"/>
          </a:xfrm>
          <a:prstGeom prst="rect">
            <a:avLst/>
          </a:prstGeom>
        </p:spPr>
      </p:pic>
      <p:sp>
        <p:nvSpPr>
          <p:cNvPr id="2" name="Marcador de texto vertical 1">
            <a:extLst>
              <a:ext uri="{FF2B5EF4-FFF2-40B4-BE49-F238E27FC236}">
                <a16:creationId xmlns:a16="http://schemas.microsoft.com/office/drawing/2014/main" id="{C3D4A31C-8757-204F-68D4-544F091AEA59}"/>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ABCEBA86-D81C-5919-A26E-D9D4D9AAD31A}"/>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C0B5786C-17CB-3D52-29EF-B80F1F341540}"/>
              </a:ext>
            </a:extLst>
          </p:cNvPr>
          <p:cNvSpPr/>
          <p:nvPr/>
        </p:nvSpPr>
        <p:spPr>
          <a:xfrm>
            <a:off x="3038764" y="4155183"/>
            <a:ext cx="7342908" cy="100794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Al finalizar el proceso de ejecución del CAPP, aparecerá este mensaje y el número de solicitud que se acaba de generar.</a:t>
            </a:r>
          </a:p>
          <a:p>
            <a:pPr algn="ctr"/>
            <a:endParaRPr lang="es-ES_tradnl" sz="1200" dirty="0"/>
          </a:p>
          <a:p>
            <a:pPr marL="228600" indent="-228600">
              <a:buFont typeface="+mj-lt"/>
              <a:buAutoNum type="arabicPeriod" startAt="14"/>
            </a:pPr>
            <a:r>
              <a:rPr lang="es-ES_tradnl" sz="1200" dirty="0"/>
              <a:t>Presione el botón </a:t>
            </a:r>
            <a:r>
              <a:rPr lang="es-ES_tradnl" sz="1200" b="1" dirty="0"/>
              <a:t>OK</a:t>
            </a:r>
            <a:r>
              <a:rPr lang="es-ES_tradnl" sz="1200" dirty="0"/>
              <a:t>.</a:t>
            </a:r>
          </a:p>
        </p:txBody>
      </p:sp>
    </p:spTree>
    <p:extLst>
      <p:ext uri="{BB962C8B-B14F-4D97-AF65-F5344CB8AC3E}">
        <p14:creationId xmlns:p14="http://schemas.microsoft.com/office/powerpoint/2010/main" val="20715811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1D1D2-6A3B-7895-7789-14986CFC57A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41FB53D-09BF-F7AD-138A-C0F6C6702F71}"/>
              </a:ext>
            </a:extLst>
          </p:cNvPr>
          <p:cNvPicPr>
            <a:picLocks noChangeAspect="1"/>
          </p:cNvPicPr>
          <p:nvPr/>
        </p:nvPicPr>
        <p:blipFill>
          <a:blip r:embed="rId3"/>
          <a:stretch>
            <a:fillRect/>
          </a:stretch>
        </p:blipFill>
        <p:spPr>
          <a:xfrm>
            <a:off x="883992" y="864572"/>
            <a:ext cx="10601016" cy="4838753"/>
          </a:xfrm>
          <a:prstGeom prst="rect">
            <a:avLst/>
          </a:prstGeom>
        </p:spPr>
      </p:pic>
      <p:sp>
        <p:nvSpPr>
          <p:cNvPr id="2" name="Marcador de texto vertical 1">
            <a:extLst>
              <a:ext uri="{FF2B5EF4-FFF2-40B4-BE49-F238E27FC236}">
                <a16:creationId xmlns:a16="http://schemas.microsoft.com/office/drawing/2014/main" id="{D84B4892-7649-5DA2-9907-4CD83EECEFFD}"/>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133849B9-50FD-76D0-4FBC-3B0605E700B6}"/>
              </a:ext>
            </a:extLst>
          </p:cNvPr>
          <p:cNvSpPr>
            <a:spLocks noGrp="1"/>
          </p:cNvSpPr>
          <p:nvPr>
            <p:ph type="title"/>
          </p:nvPr>
        </p:nvSpPr>
        <p:spPr>
          <a:xfrm>
            <a:off x="938996" y="304614"/>
            <a:ext cx="10477497" cy="898555"/>
          </a:xfrm>
        </p:spPr>
        <p:txBody>
          <a:bodyPr/>
          <a:lstStyle/>
          <a:p>
            <a:r>
              <a:rPr lang="es-419" dirty="0">
                <a:solidFill>
                  <a:schemeClr val="accent1"/>
                </a:solidFill>
              </a:rPr>
              <a:t>Administración de solicitud de cumplimiento (</a:t>
            </a:r>
            <a:r>
              <a:rPr lang="es-ES_tradnl" dirty="0">
                <a:solidFill>
                  <a:schemeClr val="accent1"/>
                </a:solidFill>
              </a:rPr>
              <a:t>SMARQCM)</a:t>
            </a:r>
            <a:endParaRPr lang="es-ES_tradnl" b="1" dirty="0">
              <a:solidFill>
                <a:schemeClr val="accent1"/>
              </a:solidFill>
            </a:endParaRPr>
          </a:p>
        </p:txBody>
      </p:sp>
      <p:sp>
        <p:nvSpPr>
          <p:cNvPr id="16" name="Rectángulo: esquinas redondeadas 15">
            <a:extLst>
              <a:ext uri="{FF2B5EF4-FFF2-40B4-BE49-F238E27FC236}">
                <a16:creationId xmlns:a16="http://schemas.microsoft.com/office/drawing/2014/main" id="{E61DC595-17FE-C660-7924-008A688642F8}"/>
              </a:ext>
            </a:extLst>
          </p:cNvPr>
          <p:cNvSpPr/>
          <p:nvPr/>
        </p:nvSpPr>
        <p:spPr>
          <a:xfrm>
            <a:off x="2660073" y="3933511"/>
            <a:ext cx="6082202" cy="110954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4"/>
            </a:pPr>
            <a:r>
              <a:rPr lang="es-419" sz="1200" dirty="0"/>
              <a:t>Presione el ícono correspondiente al Menú Relacionado</a:t>
            </a:r>
          </a:p>
          <a:p>
            <a:pPr marL="228600" indent="-228600">
              <a:buFont typeface="+mj-lt"/>
              <a:buAutoNum type="arabicPeriod" startAt="14"/>
            </a:pPr>
            <a:r>
              <a:rPr lang="es-419" sz="1200" dirty="0"/>
              <a:t>Seleccionar la opción  Desplegar resultados de cumplimiento (SMICRLT)</a:t>
            </a:r>
          </a:p>
          <a:p>
            <a:pPr algn="ctr"/>
            <a:r>
              <a:rPr lang="es-ES_tradnl" sz="1100" dirty="0"/>
              <a:t>El sistema va a la página </a:t>
            </a:r>
            <a:r>
              <a:rPr lang="es-ES_tradnl" sz="1100" b="1" dirty="0"/>
              <a:t>SMICRLT</a:t>
            </a:r>
            <a:r>
              <a:rPr lang="es-ES_tradnl" sz="1100" dirty="0"/>
              <a:t>, con el ID del estudiante y la solicitud que se acaba de ejecutar. A continuación, se explica cómo revisar los resultados del CAPP</a:t>
            </a:r>
            <a:endParaRPr lang="es-419" sz="1200" dirty="0"/>
          </a:p>
        </p:txBody>
      </p:sp>
      <p:sp>
        <p:nvSpPr>
          <p:cNvPr id="11" name="Rectángulo 10">
            <a:extLst>
              <a:ext uri="{FF2B5EF4-FFF2-40B4-BE49-F238E27FC236}">
                <a16:creationId xmlns:a16="http://schemas.microsoft.com/office/drawing/2014/main" id="{BC6CB04D-2E2F-B6F0-9F42-4C10DB3B22C1}"/>
              </a:ext>
            </a:extLst>
          </p:cNvPr>
          <p:cNvSpPr/>
          <p:nvPr/>
        </p:nvSpPr>
        <p:spPr>
          <a:xfrm>
            <a:off x="10492209" y="892528"/>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BB5F766B-060F-ECEC-ADCA-385239E6CD3B}"/>
              </a:ext>
            </a:extLst>
          </p:cNvPr>
          <p:cNvSpPr/>
          <p:nvPr/>
        </p:nvSpPr>
        <p:spPr>
          <a:xfrm>
            <a:off x="10020337" y="81212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8" name="Rectángulo 7">
            <a:extLst>
              <a:ext uri="{FF2B5EF4-FFF2-40B4-BE49-F238E27FC236}">
                <a16:creationId xmlns:a16="http://schemas.microsoft.com/office/drawing/2014/main" id="{C04AFD3D-572E-D903-84F2-EF1489CDBF7A}"/>
              </a:ext>
            </a:extLst>
          </p:cNvPr>
          <p:cNvSpPr/>
          <p:nvPr/>
        </p:nvSpPr>
        <p:spPr>
          <a:xfrm>
            <a:off x="10020337" y="1376682"/>
            <a:ext cx="1464671" cy="2152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1508CEF1-C00A-9C2B-0ADC-C12CDCBF0062}"/>
              </a:ext>
            </a:extLst>
          </p:cNvPr>
          <p:cNvSpPr/>
          <p:nvPr/>
        </p:nvSpPr>
        <p:spPr>
          <a:xfrm>
            <a:off x="9450004" y="140392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Tree>
    <p:extLst>
      <p:ext uri="{BB962C8B-B14F-4D97-AF65-F5344CB8AC3E}">
        <p14:creationId xmlns:p14="http://schemas.microsoft.com/office/powerpoint/2010/main" val="8415846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BE68D52F-DFBB-815A-BE4A-E861AE5C130C}"/>
              </a:ext>
            </a:extLst>
          </p:cNvPr>
          <p:cNvSpPr>
            <a:spLocks noGrp="1"/>
          </p:cNvSpPr>
          <p:nvPr>
            <p:ph type="body" sz="quarter" idx="10"/>
          </p:nvPr>
        </p:nvSpPr>
        <p:spPr>
          <a:xfrm>
            <a:off x="914399" y="2238843"/>
            <a:ext cx="10363202" cy="669094"/>
          </a:xfrm>
        </p:spPr>
        <p:txBody>
          <a:bodyPr/>
          <a:lstStyle/>
          <a:p>
            <a:r>
              <a:rPr lang="es-CO" dirty="0"/>
              <a:t>Ejecución de CAPP masiva</a:t>
            </a:r>
            <a:endParaRPr lang="es-419" dirty="0"/>
          </a:p>
        </p:txBody>
      </p:sp>
      <p:sp>
        <p:nvSpPr>
          <p:cNvPr id="2" name="Marcador de texto vertical 1">
            <a:extLst>
              <a:ext uri="{FF2B5EF4-FFF2-40B4-BE49-F238E27FC236}">
                <a16:creationId xmlns:a16="http://schemas.microsoft.com/office/drawing/2014/main" id="{0119CAD7-9D5C-9B3D-0127-7C44B913B524}"/>
              </a:ext>
            </a:extLst>
          </p:cNvPr>
          <p:cNvSpPr>
            <a:spLocks noGrp="1"/>
          </p:cNvSpPr>
          <p:nvPr>
            <p:ph type="body" sz="quarter" idx="11"/>
          </p:nvPr>
        </p:nvSpPr>
        <p:spPr/>
        <p:txBody>
          <a:bodyPr/>
          <a:lstStyle/>
          <a:p>
            <a:r>
              <a:rPr lang="es-419" sz="1200" dirty="0"/>
              <a:t>Ejecución del CAPP</a:t>
            </a:r>
          </a:p>
        </p:txBody>
      </p:sp>
      <p:sp>
        <p:nvSpPr>
          <p:cNvPr id="4" name="Text Placeholder 5">
            <a:extLst>
              <a:ext uri="{FF2B5EF4-FFF2-40B4-BE49-F238E27FC236}">
                <a16:creationId xmlns:a16="http://schemas.microsoft.com/office/drawing/2014/main" id="{1E7E5A93-636B-4E87-8B2F-10936A0B2A43}"/>
              </a:ext>
            </a:extLst>
          </p:cNvPr>
          <p:cNvSpPr txBox="1">
            <a:spLocks/>
          </p:cNvSpPr>
          <p:nvPr/>
        </p:nvSpPr>
        <p:spPr>
          <a:xfrm>
            <a:off x="475488" y="3729328"/>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31845843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D9CCD0BE-B0C8-52FB-2123-E0A59BCBC579}"/>
              </a:ext>
            </a:extLst>
          </p:cNvPr>
          <p:cNvPicPr>
            <a:picLocks noChangeAspect="1"/>
          </p:cNvPicPr>
          <p:nvPr/>
        </p:nvPicPr>
        <p:blipFill>
          <a:blip r:embed="rId3"/>
          <a:stretch>
            <a:fillRect/>
          </a:stretch>
        </p:blipFill>
        <p:spPr>
          <a:xfrm>
            <a:off x="910749" y="1184076"/>
            <a:ext cx="10895692" cy="1304584"/>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dirty="0">
              <a:solidFill>
                <a:schemeClr val="accent1"/>
              </a:solidFill>
            </a:endParaRPr>
          </a:p>
        </p:txBody>
      </p:sp>
      <p:sp>
        <p:nvSpPr>
          <p:cNvPr id="17" name="Rectángulo: esquinas redondeadas 16">
            <a:extLst>
              <a:ext uri="{FF2B5EF4-FFF2-40B4-BE49-F238E27FC236}">
                <a16:creationId xmlns:a16="http://schemas.microsoft.com/office/drawing/2014/main" id="{A8FEDCEA-35CF-433B-770D-82610F7C88EB}"/>
              </a:ext>
            </a:extLst>
          </p:cNvPr>
          <p:cNvSpPr/>
          <p:nvPr/>
        </p:nvSpPr>
        <p:spPr>
          <a:xfrm>
            <a:off x="2658892" y="3112852"/>
            <a:ext cx="6717737" cy="63229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Ingrese al proceso SMRBCMP desde la página GJAPCTL.</a:t>
            </a:r>
          </a:p>
          <a:p>
            <a:pPr marL="228600" indent="-228600">
              <a:buFont typeface="+mj-lt"/>
              <a:buAutoNum type="arabicPeriod"/>
            </a:pPr>
            <a:r>
              <a:rPr lang="es-ES_tradnl" sz="1200" dirty="0"/>
              <a:t>Presione el botón Ir</a:t>
            </a:r>
            <a:r>
              <a:rPr lang="es-CO" sz="1200" dirty="0"/>
              <a:t>.</a:t>
            </a:r>
            <a:endParaRPr lang="es-ES_tradnl" sz="1200" dirty="0"/>
          </a:p>
        </p:txBody>
      </p:sp>
      <p:sp>
        <p:nvSpPr>
          <p:cNvPr id="5" name="Rectángulo 4">
            <a:extLst>
              <a:ext uri="{FF2B5EF4-FFF2-40B4-BE49-F238E27FC236}">
                <a16:creationId xmlns:a16="http://schemas.microsoft.com/office/drawing/2014/main" id="{433A1A32-675B-7583-F5B5-09EAA5AFDEA9}"/>
              </a:ext>
            </a:extLst>
          </p:cNvPr>
          <p:cNvSpPr/>
          <p:nvPr/>
        </p:nvSpPr>
        <p:spPr>
          <a:xfrm>
            <a:off x="1498805" y="1623645"/>
            <a:ext cx="2380467" cy="260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D26C9AE5-E8F7-1FCC-1412-B3C8B8C54DF5}"/>
              </a:ext>
            </a:extLst>
          </p:cNvPr>
          <p:cNvSpPr/>
          <p:nvPr/>
        </p:nvSpPr>
        <p:spPr>
          <a:xfrm>
            <a:off x="921545" y="167166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2" name="Rectángulo 11">
            <a:extLst>
              <a:ext uri="{FF2B5EF4-FFF2-40B4-BE49-F238E27FC236}">
                <a16:creationId xmlns:a16="http://schemas.microsoft.com/office/drawing/2014/main" id="{E5CCC060-143C-C3A9-7D31-461367B00E91}"/>
              </a:ext>
            </a:extLst>
          </p:cNvPr>
          <p:cNvSpPr/>
          <p:nvPr/>
        </p:nvSpPr>
        <p:spPr>
          <a:xfrm>
            <a:off x="11281251" y="1632818"/>
            <a:ext cx="467404" cy="260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391D1AF3-D216-C3E7-7EB8-222E241E77FA}"/>
              </a:ext>
            </a:extLst>
          </p:cNvPr>
          <p:cNvSpPr/>
          <p:nvPr/>
        </p:nvSpPr>
        <p:spPr>
          <a:xfrm>
            <a:off x="10795035" y="144325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5843675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E18C-CF28-D79A-FF3A-AD2AF717BC46}"/>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7B7BC1A2-F641-A9E4-C579-3498DD56D3C6}"/>
              </a:ext>
            </a:extLst>
          </p:cNvPr>
          <p:cNvPicPr>
            <a:picLocks noChangeAspect="1"/>
          </p:cNvPicPr>
          <p:nvPr/>
        </p:nvPicPr>
        <p:blipFill>
          <a:blip r:embed="rId3"/>
          <a:stretch>
            <a:fillRect/>
          </a:stretch>
        </p:blipFill>
        <p:spPr>
          <a:xfrm>
            <a:off x="938996" y="931686"/>
            <a:ext cx="10532568" cy="5420488"/>
          </a:xfrm>
          <a:prstGeom prst="rect">
            <a:avLst/>
          </a:prstGeom>
        </p:spPr>
      </p:pic>
      <p:sp>
        <p:nvSpPr>
          <p:cNvPr id="3" name="Marcador de texto vertical 2">
            <a:extLst>
              <a:ext uri="{FF2B5EF4-FFF2-40B4-BE49-F238E27FC236}">
                <a16:creationId xmlns:a16="http://schemas.microsoft.com/office/drawing/2014/main" id="{FAD29728-F6C8-CFF6-4BF8-EB7B4A5A5614}"/>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F5602730-C702-C918-A9EB-67C54E1533EA}"/>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259788BF-7F37-94D0-951F-43DE1990C51D}"/>
              </a:ext>
            </a:extLst>
          </p:cNvPr>
          <p:cNvSpPr/>
          <p:nvPr/>
        </p:nvSpPr>
        <p:spPr>
          <a:xfrm>
            <a:off x="2861429" y="4949953"/>
            <a:ext cx="7629865" cy="8290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Defina la impresora como DATABASE</a:t>
            </a:r>
          </a:p>
          <a:p>
            <a:pPr marL="228600" indent="-228600">
              <a:buFont typeface="+mj-lt"/>
              <a:buAutoNum type="arabicPeriod" startAt="3"/>
            </a:pPr>
            <a:r>
              <a:rPr lang="es-ES_tradnl" sz="1200" dirty="0"/>
              <a:t>Pase al siguiente bloque.</a:t>
            </a:r>
          </a:p>
        </p:txBody>
      </p:sp>
      <p:sp>
        <p:nvSpPr>
          <p:cNvPr id="7" name="Rectángulo 6">
            <a:extLst>
              <a:ext uri="{FF2B5EF4-FFF2-40B4-BE49-F238E27FC236}">
                <a16:creationId xmlns:a16="http://schemas.microsoft.com/office/drawing/2014/main" id="{306C2220-3628-AC9B-3598-A3AF7D3B9D17}"/>
              </a:ext>
            </a:extLst>
          </p:cNvPr>
          <p:cNvSpPr/>
          <p:nvPr/>
        </p:nvSpPr>
        <p:spPr>
          <a:xfrm>
            <a:off x="1275378" y="1687832"/>
            <a:ext cx="2179599" cy="2055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38B55A94-3278-C5C1-CBEC-A8FEAF4490A0}"/>
              </a:ext>
            </a:extLst>
          </p:cNvPr>
          <p:cNvSpPr/>
          <p:nvPr/>
        </p:nvSpPr>
        <p:spPr>
          <a:xfrm>
            <a:off x="769595" y="184864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9" name="Rectángulo 8">
            <a:extLst>
              <a:ext uri="{FF2B5EF4-FFF2-40B4-BE49-F238E27FC236}">
                <a16:creationId xmlns:a16="http://schemas.microsoft.com/office/drawing/2014/main" id="{9BAC3B73-1EC9-5F61-3144-DA39AF8D6F9F}"/>
              </a:ext>
            </a:extLst>
          </p:cNvPr>
          <p:cNvSpPr/>
          <p:nvPr/>
        </p:nvSpPr>
        <p:spPr>
          <a:xfrm>
            <a:off x="1239009" y="5986272"/>
            <a:ext cx="361191" cy="2055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2A29E498-1B49-6063-A66D-05EE17425219}"/>
              </a:ext>
            </a:extLst>
          </p:cNvPr>
          <p:cNvSpPr/>
          <p:nvPr/>
        </p:nvSpPr>
        <p:spPr>
          <a:xfrm>
            <a:off x="1683644" y="611142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4</a:t>
            </a:r>
          </a:p>
        </p:txBody>
      </p:sp>
    </p:spTree>
    <p:extLst>
      <p:ext uri="{BB962C8B-B14F-4D97-AF65-F5344CB8AC3E}">
        <p14:creationId xmlns:p14="http://schemas.microsoft.com/office/powerpoint/2010/main" val="4023745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4B4D89D2-BE31-253F-4113-C3A72E292F28}"/>
              </a:ext>
            </a:extLst>
          </p:cNvPr>
          <p:cNvPicPr>
            <a:picLocks noChangeAspect="1"/>
          </p:cNvPicPr>
          <p:nvPr/>
        </p:nvPicPr>
        <p:blipFill>
          <a:blip r:embed="rId3"/>
          <a:stretch>
            <a:fillRect/>
          </a:stretch>
        </p:blipFill>
        <p:spPr>
          <a:xfrm>
            <a:off x="938996" y="931686"/>
            <a:ext cx="10532568" cy="5420488"/>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44B12313-8829-E712-505D-2DE8073967C1}"/>
              </a:ext>
            </a:extLst>
          </p:cNvPr>
          <p:cNvSpPr/>
          <p:nvPr/>
        </p:nvSpPr>
        <p:spPr>
          <a:xfrm>
            <a:off x="2011684" y="5130276"/>
            <a:ext cx="7629865" cy="878192"/>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CO" sz="1200" dirty="0"/>
              <a:t>Ingrese los parámetros del proceso, según la tabla que se presenta en la siguiente diapositiva. </a:t>
            </a:r>
          </a:p>
          <a:p>
            <a:pPr algn="ctr"/>
            <a:r>
              <a:rPr lang="es-CO" sz="1200" dirty="0"/>
              <a:t>Inicialmente se muestran solo 10 parámetros, amplíe los registros por página para ver todos los que se solicitan.</a:t>
            </a:r>
            <a:endParaRPr lang="es-ES_tradnl" sz="1200" dirty="0"/>
          </a:p>
        </p:txBody>
      </p:sp>
      <p:sp>
        <p:nvSpPr>
          <p:cNvPr id="15" name="Rectángulo 14">
            <a:extLst>
              <a:ext uri="{FF2B5EF4-FFF2-40B4-BE49-F238E27FC236}">
                <a16:creationId xmlns:a16="http://schemas.microsoft.com/office/drawing/2014/main" id="{44AE0719-4AE1-8E88-6AF1-D356AEB37BF8}"/>
              </a:ext>
            </a:extLst>
          </p:cNvPr>
          <p:cNvSpPr/>
          <p:nvPr/>
        </p:nvSpPr>
        <p:spPr>
          <a:xfrm>
            <a:off x="938996" y="2662522"/>
            <a:ext cx="10532568" cy="21240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21530035-9613-92B8-E2E2-6475E38BA738}"/>
              </a:ext>
            </a:extLst>
          </p:cNvPr>
          <p:cNvSpPr/>
          <p:nvPr/>
        </p:nvSpPr>
        <p:spPr>
          <a:xfrm>
            <a:off x="554236" y="248785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3223993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852394" y="272322"/>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graphicFrame>
        <p:nvGraphicFramePr>
          <p:cNvPr id="3" name="Marcador de contenido 3">
            <a:extLst>
              <a:ext uri="{FF2B5EF4-FFF2-40B4-BE49-F238E27FC236}">
                <a16:creationId xmlns:a16="http://schemas.microsoft.com/office/drawing/2014/main" id="{2E96015D-1CEB-6CC4-3EE0-9E8BBA314906}"/>
              </a:ext>
            </a:extLst>
          </p:cNvPr>
          <p:cNvGraphicFramePr>
            <a:graphicFrameLocks/>
          </p:cNvGraphicFramePr>
          <p:nvPr>
            <p:extLst>
              <p:ext uri="{D42A27DB-BD31-4B8C-83A1-F6EECF244321}">
                <p14:modId xmlns:p14="http://schemas.microsoft.com/office/powerpoint/2010/main" val="1244496346"/>
              </p:ext>
            </p:extLst>
          </p:nvPr>
        </p:nvGraphicFramePr>
        <p:xfrm>
          <a:off x="973561" y="933205"/>
          <a:ext cx="10748268" cy="5109494"/>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gn="ctr">
                        <a:lnSpc>
                          <a:spcPct val="115000"/>
                        </a:lnSpc>
                        <a:spcBef>
                          <a:spcPts val="0"/>
                        </a:spcBef>
                        <a:spcAft>
                          <a:spcPts val="0"/>
                        </a:spcAft>
                      </a:pPr>
                      <a:r>
                        <a:rPr lang="es-419" sz="1200" dirty="0">
                          <a:solidFill>
                            <a:schemeClr val="bg1"/>
                          </a:solidFill>
                          <a:effectLst/>
                        </a:rPr>
                        <a:t>Número</a:t>
                      </a:r>
                      <a:endParaRPr lang="es-CO" sz="12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marL="0" marR="0" algn="ctr">
                        <a:spcBef>
                          <a:spcPts val="0"/>
                        </a:spcBef>
                        <a:spcAft>
                          <a:spcPts val="0"/>
                        </a:spcAft>
                      </a:pPr>
                      <a:r>
                        <a:rPr lang="es-419" sz="1200" dirty="0">
                          <a:solidFill>
                            <a:schemeClr val="bg1"/>
                          </a:solidFill>
                          <a:effectLst/>
                        </a:rPr>
                        <a:t>Parámetro</a:t>
                      </a:r>
                      <a:endParaRPr lang="es-CO" sz="1200" dirty="0">
                        <a:solidFill>
                          <a:schemeClr val="bg1"/>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68580" marR="68580" marT="36195" marB="36195" anchor="ctr"/>
                </a:tc>
                <a:tc>
                  <a:txBody>
                    <a:bodyPr/>
                    <a:lstStyle/>
                    <a:p>
                      <a:pPr algn="ctr">
                        <a:lnSpc>
                          <a:spcPct val="115000"/>
                        </a:lnSpc>
                      </a:pPr>
                      <a:r>
                        <a:rPr lang="es-419" sz="1200" dirty="0">
                          <a:solidFill>
                            <a:schemeClr val="bg1"/>
                          </a:solidFill>
                          <a:effectLst/>
                        </a:rPr>
                        <a:t>Valores</a:t>
                      </a:r>
                      <a:endParaRPr lang="es-CO" sz="12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nchor="ctr"/>
                </a:tc>
                <a:tc>
                  <a:txBody>
                    <a:bodyPr/>
                    <a:lstStyle/>
                    <a:p>
                      <a:pPr algn="ctr">
                        <a:lnSpc>
                          <a:spcPct val="115000"/>
                        </a:lnSpc>
                      </a:pPr>
                      <a:r>
                        <a:rPr lang="es-419" sz="1200" dirty="0">
                          <a:solidFill>
                            <a:schemeClr val="bg1"/>
                          </a:solidFill>
                          <a:effectLst/>
                        </a:rPr>
                        <a:t>Requerido / Opcional</a:t>
                      </a:r>
                      <a:endParaRPr lang="es-CO" sz="1200" dirty="0">
                        <a:solidFill>
                          <a:schemeClr val="bg1"/>
                        </a:solidFill>
                        <a:effectLst/>
                        <a:latin typeface="Arial" panose="020B0604020202020204" pitchFamily="34" charset="0"/>
                        <a:cs typeface="Times New Roman" panose="02020603050405020304" pitchFamily="18" charset="0"/>
                      </a:endParaRPr>
                    </a:p>
                  </a:txBody>
                  <a:tcPr marL="68580" marR="68580" marT="36195" marB="36195"/>
                </a:tc>
                <a:extLst>
                  <a:ext uri="{0D108BD9-81ED-4DB2-BD59-A6C34878D82A}">
                    <a16:rowId xmlns:a16="http://schemas.microsoft.com/office/drawing/2014/main" val="1714901453"/>
                  </a:ext>
                </a:extLst>
              </a:tr>
              <a:tr h="264739">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01</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Periodo a procesar</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Ingrese el período para el cual desea correr el proceso de verificación de cumplimiento de los estudiantes.</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R</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57562266"/>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02</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Modo de ejecución</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Ingrese la letra </a:t>
                      </a:r>
                      <a:r>
                        <a:rPr lang="es-419" sz="1100" b="1" dirty="0">
                          <a:solidFill>
                            <a:schemeClr val="tx1">
                              <a:lumMod val="50000"/>
                              <a:lumOff val="50000"/>
                            </a:schemeClr>
                          </a:solidFill>
                          <a:effectLst/>
                        </a:rPr>
                        <a:t>P</a:t>
                      </a:r>
                      <a:r>
                        <a:rPr lang="es-419" sz="1100" dirty="0">
                          <a:solidFill>
                            <a:schemeClr val="tx1">
                              <a:lumMod val="50000"/>
                              <a:lumOff val="50000"/>
                            </a:schemeClr>
                          </a:solidFill>
                          <a:effectLst/>
                        </a:rPr>
                        <a:t> para que el proceso se ejecute en modo población, </a:t>
                      </a:r>
                      <a:r>
                        <a:rPr lang="es-419" sz="1100" b="1" dirty="0">
                          <a:solidFill>
                            <a:schemeClr val="tx1">
                              <a:lumMod val="50000"/>
                              <a:lumOff val="50000"/>
                            </a:schemeClr>
                          </a:solidFill>
                          <a:effectLst/>
                        </a:rPr>
                        <a:t>C</a:t>
                      </a:r>
                      <a:r>
                        <a:rPr lang="es-419" sz="1100" dirty="0">
                          <a:solidFill>
                            <a:schemeClr val="tx1">
                              <a:lumMod val="50000"/>
                              <a:lumOff val="50000"/>
                            </a:schemeClr>
                          </a:solidFill>
                          <a:effectLst/>
                        </a:rPr>
                        <a:t> para modo compilación (ejecutar solicitudes individuales pendientes, no responde a selección de población) o H para solo impresión.</a:t>
                      </a:r>
                      <a:endParaRPr lang="es-CO" sz="1100" dirty="0">
                        <a:solidFill>
                          <a:schemeClr val="tx1">
                            <a:lumMod val="50000"/>
                            <a:lumOff val="50000"/>
                          </a:schemeClr>
                        </a:solidFill>
                        <a:effectLst/>
                        <a:latin typeface="+mn-lt"/>
                        <a:cs typeface="Arial"/>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R</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509454192"/>
                  </a:ext>
                </a:extLst>
              </a:tr>
              <a:tr h="578068">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03</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Código de aplicación</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Ingrese el código correspondiente a la aplicación en la cual se crea la Población.</a:t>
                      </a:r>
                    </a:p>
                    <a:p>
                      <a:pPr marL="0" marR="0" lvl="0" indent="0" algn="l" defTabSz="914400" rtl="0" eaLnBrk="1" fontAlgn="auto" latinLnBrk="0" hangingPunct="1">
                        <a:lnSpc>
                          <a:spcPct val="115000"/>
                        </a:lnSpc>
                        <a:spcBef>
                          <a:spcPts val="0"/>
                        </a:spcBef>
                        <a:spcAft>
                          <a:spcPts val="0"/>
                        </a:spcAft>
                        <a:buClrTx/>
                        <a:buSzTx/>
                        <a:buFontTx/>
                        <a:buNone/>
                        <a:tabLst/>
                        <a:defRPr/>
                      </a:pPr>
                      <a:r>
                        <a:rPr lang="es-419" sz="1100" dirty="0">
                          <a:solidFill>
                            <a:schemeClr val="tx1">
                              <a:lumMod val="50000"/>
                              <a:lumOff val="50000"/>
                            </a:schemeClr>
                          </a:solidFill>
                          <a:effectLst/>
                        </a:rPr>
                        <a:t>Es obligatorio si en el parámetro 02 se definió el modo P.</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956190754"/>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04</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Identificador de selección</a:t>
                      </a:r>
                      <a:endParaRPr lang="es-CO" sz="1100" dirty="0">
                        <a:solidFill>
                          <a:schemeClr val="tx1">
                            <a:lumMod val="50000"/>
                            <a:lumOff val="50000"/>
                          </a:schemeClr>
                        </a:solidFill>
                        <a:effectLst/>
                        <a:latin typeface="+mn-lt"/>
                        <a:ea typeface="MS PGothic"/>
                        <a:cs typeface="Arial"/>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Ingrese el código de la selección de población a la que va a correr la verificación de cumplimiento (CAPP). </a:t>
                      </a:r>
                    </a:p>
                    <a:p>
                      <a:pPr marL="0" marR="0" algn="l">
                        <a:lnSpc>
                          <a:spcPct val="115000"/>
                        </a:lnSpc>
                        <a:spcBef>
                          <a:spcPts val="0"/>
                        </a:spcBef>
                        <a:spcAft>
                          <a:spcPts val="0"/>
                        </a:spcAft>
                      </a:pPr>
                      <a:r>
                        <a:rPr lang="es-419" sz="1100" dirty="0">
                          <a:solidFill>
                            <a:schemeClr val="tx1">
                              <a:lumMod val="50000"/>
                              <a:lumOff val="50000"/>
                            </a:schemeClr>
                          </a:solidFill>
                          <a:effectLst/>
                        </a:rPr>
                        <a:t>Es obligatorio si en el parámetro 02 se definió el modo P.</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700244662"/>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05</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ID de creador</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Ingrese el nombre del usuario que creó la población. </a:t>
                      </a:r>
                    </a:p>
                    <a:p>
                      <a:pPr marL="0" marR="0" algn="l">
                        <a:lnSpc>
                          <a:spcPct val="115000"/>
                        </a:lnSpc>
                        <a:spcBef>
                          <a:spcPts val="0"/>
                        </a:spcBef>
                        <a:spcAft>
                          <a:spcPts val="0"/>
                        </a:spcAft>
                      </a:pPr>
                      <a:r>
                        <a:rPr lang="es-419" sz="1100" dirty="0">
                          <a:solidFill>
                            <a:schemeClr val="tx1">
                              <a:lumMod val="50000"/>
                              <a:lumOff val="50000"/>
                            </a:schemeClr>
                          </a:solidFill>
                          <a:effectLst/>
                        </a:rPr>
                        <a:t>E</a:t>
                      </a:r>
                      <a:r>
                        <a:rPr lang="es-CO" sz="1100" dirty="0">
                          <a:solidFill>
                            <a:schemeClr val="tx1">
                              <a:lumMod val="50000"/>
                              <a:lumOff val="50000"/>
                            </a:schemeClr>
                          </a:solidFill>
                          <a:effectLst/>
                        </a:rPr>
                        <a:t>s obligatorio si en el parámetro 02 se definió el modo P.</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990127115"/>
                  </a:ext>
                </a:extLst>
              </a:tr>
              <a:tr h="264739">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06</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ID usuario</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Ingrese el ID del usuario que ejecuta el proceso</a:t>
                      </a:r>
                    </a:p>
                    <a:p>
                      <a:pPr marL="0" marR="0" lvl="0" indent="0" algn="l" defTabSz="914400" rtl="0" eaLnBrk="1" fontAlgn="auto" latinLnBrk="0" hangingPunct="1">
                        <a:lnSpc>
                          <a:spcPct val="115000"/>
                        </a:lnSpc>
                        <a:spcBef>
                          <a:spcPts val="0"/>
                        </a:spcBef>
                        <a:spcAft>
                          <a:spcPts val="0"/>
                        </a:spcAft>
                        <a:buClrTx/>
                        <a:buSzTx/>
                        <a:buFontTx/>
                        <a:buNone/>
                        <a:tabLst/>
                        <a:defRPr/>
                      </a:pPr>
                      <a:r>
                        <a:rPr lang="es-419" sz="1100" dirty="0">
                          <a:solidFill>
                            <a:schemeClr val="tx1">
                              <a:lumMod val="50000"/>
                              <a:lumOff val="50000"/>
                            </a:schemeClr>
                          </a:solidFill>
                          <a:effectLst/>
                        </a:rPr>
                        <a:t>E</a:t>
                      </a:r>
                      <a:r>
                        <a:rPr lang="es-CO" sz="1100" dirty="0">
                          <a:solidFill>
                            <a:schemeClr val="tx1">
                              <a:lumMod val="50000"/>
                              <a:lumOff val="50000"/>
                            </a:schemeClr>
                          </a:solidFill>
                          <a:effectLst/>
                        </a:rPr>
                        <a:t>s obligatorio si en el parámetro 02 se definió el modo P.</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453907063"/>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07</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Origen de currículum</a:t>
                      </a:r>
                      <a:endParaRPr lang="es-CO" sz="1100" dirty="0">
                        <a:solidFill>
                          <a:schemeClr val="tx1">
                            <a:lumMod val="50000"/>
                            <a:lumOff val="50000"/>
                          </a:schemeClr>
                        </a:solidFill>
                        <a:effectLst/>
                        <a:latin typeface="+mn-lt"/>
                        <a:ea typeface="MS PGothic"/>
                        <a:cs typeface="Arial"/>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Ingrese el código “S”. </a:t>
                      </a: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2658827102"/>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08</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Status de grado</a:t>
                      </a:r>
                      <a:endParaRPr lang="es-CO" sz="1100" dirty="0">
                        <a:solidFill>
                          <a:schemeClr val="tx1">
                            <a:lumMod val="50000"/>
                            <a:lumOff val="50000"/>
                          </a:schemeClr>
                        </a:solidFill>
                        <a:effectLst/>
                        <a:latin typeface="+mn-lt"/>
                        <a:ea typeface="MS PGothic"/>
                        <a:cs typeface="Arial"/>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Seleccione el código de estatus de grado. </a:t>
                      </a:r>
                    </a:p>
                    <a:p>
                      <a:pPr marL="0" marR="0" algn="l">
                        <a:lnSpc>
                          <a:spcPct val="115000"/>
                        </a:lnSpc>
                        <a:spcBef>
                          <a:spcPts val="0"/>
                        </a:spcBef>
                        <a:spcAft>
                          <a:spcPts val="0"/>
                        </a:spcAft>
                      </a:pPr>
                      <a:r>
                        <a:rPr lang="es-419" sz="1100" dirty="0">
                          <a:solidFill>
                            <a:schemeClr val="tx1">
                              <a:lumMod val="50000"/>
                              <a:lumOff val="50000"/>
                            </a:schemeClr>
                          </a:solidFill>
                          <a:effectLst/>
                        </a:rPr>
                        <a:t>Viene de la tabla de validación STVDEGS. </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1633076062"/>
                  </a:ext>
                </a:extLst>
              </a:tr>
              <a:tr h="449721">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09</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¿Imprimir población?</a:t>
                      </a:r>
                      <a:endParaRPr lang="es-CO" sz="1100" dirty="0">
                        <a:solidFill>
                          <a:schemeClr val="tx1">
                            <a:lumMod val="50000"/>
                            <a:lumOff val="50000"/>
                          </a:schemeClr>
                        </a:solidFill>
                        <a:effectLst/>
                        <a:latin typeface="+mn-lt"/>
                        <a:ea typeface="MS PGothic"/>
                        <a:cs typeface="Arial"/>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Indique si desea producir impresión para la población. </a:t>
                      </a:r>
                    </a:p>
                    <a:p>
                      <a:pPr marL="0" marR="0" algn="l">
                        <a:lnSpc>
                          <a:spcPct val="115000"/>
                        </a:lnSpc>
                        <a:spcBef>
                          <a:spcPts val="0"/>
                        </a:spcBef>
                        <a:spcAft>
                          <a:spcPts val="0"/>
                        </a:spcAft>
                      </a:pPr>
                      <a:r>
                        <a:rPr lang="es-419" sz="1100" dirty="0">
                          <a:solidFill>
                            <a:schemeClr val="tx1">
                              <a:lumMod val="50000"/>
                              <a:lumOff val="50000"/>
                            </a:schemeClr>
                          </a:solidFill>
                          <a:effectLst/>
                        </a:rPr>
                        <a:t>Y para si. </a:t>
                      </a:r>
                    </a:p>
                    <a:p>
                      <a:pPr marL="0" marR="0" algn="l">
                        <a:lnSpc>
                          <a:spcPct val="115000"/>
                        </a:lnSpc>
                        <a:spcBef>
                          <a:spcPts val="0"/>
                        </a:spcBef>
                        <a:spcAft>
                          <a:spcPts val="0"/>
                        </a:spcAft>
                      </a:pPr>
                      <a:r>
                        <a:rPr lang="es-419" sz="1100" dirty="0">
                          <a:solidFill>
                            <a:schemeClr val="tx1">
                              <a:lumMod val="50000"/>
                              <a:lumOff val="50000"/>
                            </a:schemeClr>
                          </a:solidFill>
                          <a:effectLst/>
                        </a:rPr>
                        <a:t>N para no.</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3529984638"/>
                  </a:ext>
                </a:extLst>
              </a:tr>
              <a:tr h="264739">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10</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spcBef>
                          <a:spcPts val="0"/>
                        </a:spcBef>
                        <a:spcAft>
                          <a:spcPts val="0"/>
                        </a:spcAft>
                      </a:pPr>
                      <a:r>
                        <a:rPr lang="es-419" sz="1100" dirty="0">
                          <a:solidFill>
                            <a:schemeClr val="tx1">
                              <a:lumMod val="50000"/>
                              <a:lumOff val="50000"/>
                            </a:schemeClr>
                          </a:solidFill>
                          <a:effectLst/>
                        </a:rPr>
                        <a:t>ID Impresora</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marL="0" marR="0" algn="l">
                        <a:lnSpc>
                          <a:spcPct val="115000"/>
                        </a:lnSpc>
                        <a:spcBef>
                          <a:spcPts val="0"/>
                        </a:spcBef>
                        <a:spcAft>
                          <a:spcPts val="0"/>
                        </a:spcAft>
                      </a:pPr>
                      <a:r>
                        <a:rPr lang="es-419" sz="1100" dirty="0">
                          <a:solidFill>
                            <a:schemeClr val="tx1">
                              <a:lumMod val="50000"/>
                              <a:lumOff val="50000"/>
                            </a:schemeClr>
                          </a:solidFill>
                          <a:effectLst/>
                        </a:rPr>
                        <a:t>Se deja en blanco</a:t>
                      </a:r>
                      <a:endParaRPr lang="es-CO" sz="1100" dirty="0">
                        <a:solidFill>
                          <a:schemeClr val="tx1">
                            <a:lumMod val="50000"/>
                            <a:lumOff val="50000"/>
                          </a:schemeClr>
                        </a:solidFill>
                        <a:effectLst/>
                        <a:latin typeface="+mn-lt"/>
                        <a:ea typeface="MS PGothic" panose="020B0600070205080204" pitchFamily="34" charset="-128"/>
                        <a:cs typeface="Times New Roman" panose="02020603050405020304" pitchFamily="18" charset="0"/>
                      </a:endParaRPr>
                    </a:p>
                  </a:txBody>
                  <a:tcPr marT="48260" marB="48260" anchor="ctr"/>
                </a:tc>
                <a:tc>
                  <a:txBody>
                    <a:bodyPr/>
                    <a:lstStyle/>
                    <a:p>
                      <a:pPr algn="l">
                        <a:lnSpc>
                          <a:spcPct val="115000"/>
                        </a:lnSpc>
                      </a:pPr>
                      <a:r>
                        <a:rPr lang="es-419" sz="1100" dirty="0">
                          <a:solidFill>
                            <a:schemeClr val="tx1">
                              <a:lumMod val="50000"/>
                              <a:lumOff val="50000"/>
                            </a:schemeClr>
                          </a:solidFill>
                          <a:effectLst/>
                        </a:rPr>
                        <a:t>O</a:t>
                      </a:r>
                      <a:endParaRPr lang="es-CO" sz="1100" dirty="0">
                        <a:solidFill>
                          <a:schemeClr val="tx1">
                            <a:lumMod val="50000"/>
                            <a:lumOff val="50000"/>
                          </a:schemeClr>
                        </a:solidFill>
                        <a:effectLst/>
                        <a:latin typeface="+mn-lt"/>
                        <a:cs typeface="Times New Roman" panose="02020603050405020304" pitchFamily="18" charset="0"/>
                      </a:endParaRPr>
                    </a:p>
                  </a:txBody>
                  <a:tcPr marT="48260" marB="48260" anchor="ctr"/>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3838928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F1200298-E0E6-5DF7-72BB-7161146AA1B0}"/>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852394" y="272322"/>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graphicFrame>
        <p:nvGraphicFramePr>
          <p:cNvPr id="3" name="Marcador de contenido 3">
            <a:extLst>
              <a:ext uri="{FF2B5EF4-FFF2-40B4-BE49-F238E27FC236}">
                <a16:creationId xmlns:a16="http://schemas.microsoft.com/office/drawing/2014/main" id="{2E96015D-1CEB-6CC4-3EE0-9E8BBA314906}"/>
              </a:ext>
            </a:extLst>
          </p:cNvPr>
          <p:cNvGraphicFramePr>
            <a:graphicFrameLocks/>
          </p:cNvGraphicFramePr>
          <p:nvPr>
            <p:extLst>
              <p:ext uri="{D42A27DB-BD31-4B8C-83A1-F6EECF244321}">
                <p14:modId xmlns:p14="http://schemas.microsoft.com/office/powerpoint/2010/main" val="3595516508"/>
              </p:ext>
            </p:extLst>
          </p:nvPr>
        </p:nvGraphicFramePr>
        <p:xfrm>
          <a:off x="862109" y="850691"/>
          <a:ext cx="10748268" cy="5405835"/>
        </p:xfrm>
        <a:graphic>
          <a:graphicData uri="http://schemas.openxmlformats.org/drawingml/2006/table">
            <a:tbl>
              <a:tblPr firstRow="1" bandRow="1">
                <a:tableStyleId>{5C22544A-7EE6-4342-B048-85BDC9FD1C3A}</a:tableStyleId>
              </a:tblPr>
              <a:tblGrid>
                <a:gridCol w="785237">
                  <a:extLst>
                    <a:ext uri="{9D8B030D-6E8A-4147-A177-3AD203B41FA5}">
                      <a16:colId xmlns:a16="http://schemas.microsoft.com/office/drawing/2014/main" val="249767121"/>
                    </a:ext>
                  </a:extLst>
                </a:gridCol>
                <a:gridCol w="1344325">
                  <a:extLst>
                    <a:ext uri="{9D8B030D-6E8A-4147-A177-3AD203B41FA5}">
                      <a16:colId xmlns:a16="http://schemas.microsoft.com/office/drawing/2014/main" val="915586211"/>
                    </a:ext>
                  </a:extLst>
                </a:gridCol>
                <a:gridCol w="6877455">
                  <a:extLst>
                    <a:ext uri="{9D8B030D-6E8A-4147-A177-3AD203B41FA5}">
                      <a16:colId xmlns:a16="http://schemas.microsoft.com/office/drawing/2014/main" val="523512153"/>
                    </a:ext>
                  </a:extLst>
                </a:gridCol>
                <a:gridCol w="1741251">
                  <a:extLst>
                    <a:ext uri="{9D8B030D-6E8A-4147-A177-3AD203B41FA5}">
                      <a16:colId xmlns:a16="http://schemas.microsoft.com/office/drawing/2014/main" val="1126850053"/>
                    </a:ext>
                  </a:extLst>
                </a:gridCol>
              </a:tblGrid>
              <a:tr h="493955">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Número</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Parámetro</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Valores</a:t>
                      </a:r>
                      <a:endParaRPr lang="es-CO" sz="1050" b="1" kern="1200" dirty="0">
                        <a:solidFill>
                          <a:schemeClr val="bg1"/>
                        </a:solidFill>
                        <a:effectLst/>
                        <a:latin typeface="+mn-lt"/>
                        <a:ea typeface="+mn-ea"/>
                        <a:cs typeface="+mn-cs"/>
                      </a:endParaRPr>
                    </a:p>
                  </a:txBody>
                  <a:tcPr marL="68580" marR="68580" marT="36195" marB="36195" anchor="ctr"/>
                </a:tc>
                <a:tc>
                  <a:txBody>
                    <a:bodyPr/>
                    <a:lstStyle/>
                    <a:p>
                      <a:pPr marL="0" marR="0" algn="ctr" defTabSz="914400" rtl="0" eaLnBrk="1" latinLnBrk="0" hangingPunct="1">
                        <a:lnSpc>
                          <a:spcPct val="115000"/>
                        </a:lnSpc>
                        <a:spcBef>
                          <a:spcPts val="0"/>
                        </a:spcBef>
                        <a:spcAft>
                          <a:spcPts val="0"/>
                        </a:spcAft>
                      </a:pPr>
                      <a:r>
                        <a:rPr lang="es-419" sz="1050" b="1" kern="1200" dirty="0">
                          <a:solidFill>
                            <a:schemeClr val="bg1"/>
                          </a:solidFill>
                          <a:effectLst/>
                          <a:latin typeface="+mn-lt"/>
                          <a:ea typeface="+mn-ea"/>
                          <a:cs typeface="+mn-cs"/>
                        </a:rPr>
                        <a:t>Requerido / Opcional</a:t>
                      </a:r>
                      <a:endParaRPr lang="es-CO" sz="1050" b="1" kern="1200" dirty="0">
                        <a:solidFill>
                          <a:schemeClr val="bg1"/>
                        </a:solidFill>
                        <a:effectLst/>
                        <a:latin typeface="+mn-lt"/>
                        <a:ea typeface="+mn-ea"/>
                        <a:cs typeface="+mn-cs"/>
                      </a:endParaRPr>
                    </a:p>
                  </a:txBody>
                  <a:tcPr marL="68580" marR="68580" marT="36195" marB="36195" anchor="ctr"/>
                </a:tc>
                <a:extLst>
                  <a:ext uri="{0D108BD9-81ED-4DB2-BD59-A6C34878D82A}">
                    <a16:rowId xmlns:a16="http://schemas.microsoft.com/office/drawing/2014/main" val="1714901453"/>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11</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Tipo Impresión Cumplimiento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CO" sz="1050" kern="1200" dirty="0">
                          <a:solidFill>
                            <a:schemeClr val="accent6">
                              <a:lumMod val="50000"/>
                            </a:schemeClr>
                          </a:solidFill>
                          <a:effectLst/>
                          <a:latin typeface="+mn-lt"/>
                          <a:ea typeface="+mn-ea"/>
                          <a:cs typeface="+mn-cs"/>
                        </a:rPr>
                        <a:t>Seleccione el tipo de cumplimiento para salida</a:t>
                      </a:r>
                      <a:r>
                        <a:rPr lang="es-419" sz="1050" kern="1200" dirty="0">
                          <a:solidFill>
                            <a:schemeClr val="accent6">
                              <a:lumMod val="50000"/>
                            </a:schemeClr>
                          </a:solidFill>
                          <a:effectLst/>
                          <a:latin typeface="+mn-lt"/>
                          <a:ea typeface="+mn-ea"/>
                          <a:cs typeface="+mn-cs"/>
                        </a:rPr>
                        <a:t>. </a:t>
                      </a: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57562266"/>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12</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Enviar a Asesor.</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Indique si desea enviar los resultados a los asesores de los estudiantes. Generalmente se deja en N.</a:t>
                      </a:r>
                    </a:p>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Y para si </a:t>
                      </a:r>
                    </a:p>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N para no.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1509454192"/>
                  </a:ext>
                </a:extLst>
              </a:tr>
              <a:tr h="578068">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13</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Solo Asesor Principal?</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Indique si desea enviar los resultados sólo al asesor principal de los estudiantes. </a:t>
                      </a:r>
                    </a:p>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Y para si </a:t>
                      </a:r>
                    </a:p>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N para no.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1956190754"/>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14</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Tipo Asesor </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Si el parámetro 13 se ha definido, seleccione el código del tipo de asesor al que desea enviar los resultados. Viene de la tabla STVADVR.</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170024466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15</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Jerarquía Dirección</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Se deja en blanco.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990127115"/>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16</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Fecha Selección Dirección</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Se deja en blanco.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1453907063"/>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17</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Criterio de ordenamiento</a:t>
                      </a:r>
                      <a:endParaRPr lang="es-CO" sz="1050" kern="1200" dirty="0">
                        <a:solidFill>
                          <a:schemeClr val="accent6">
                            <a:lumMod val="50000"/>
                          </a:schemeClr>
                        </a:solidFill>
                        <a:effectLst/>
                        <a:latin typeface="+mn-lt"/>
                        <a:ea typeface="+mn-ea"/>
                        <a:cs typeface="+mn-cs"/>
                      </a:endParaRPr>
                    </a:p>
                  </a:txBody>
                  <a:tcPr marT="48260" marB="48260"/>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Según se desea ordenar los resultados, se ingresa N= por nombre, Z= por código postal o P= por programa. Generalmente se usa N.</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265882710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18</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ID de sesión</a:t>
                      </a:r>
                      <a:endParaRPr lang="es-CO" sz="1050" kern="1200" dirty="0">
                        <a:solidFill>
                          <a:schemeClr val="accent6">
                            <a:lumMod val="50000"/>
                          </a:schemeClr>
                        </a:solidFill>
                        <a:effectLst/>
                        <a:latin typeface="+mn-lt"/>
                        <a:ea typeface="+mn-ea"/>
                        <a:cs typeface="+mn-cs"/>
                      </a:endParaRPr>
                    </a:p>
                  </a:txBody>
                  <a:tcPr marT="48260" marB="48260"/>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Se deja en blanco.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1633076062"/>
                  </a:ext>
                </a:extLst>
              </a:tr>
              <a:tr h="449721">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19</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Código de Parámetro por Defecto</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CO" sz="1050" kern="1200" dirty="0">
                          <a:solidFill>
                            <a:schemeClr val="accent6">
                              <a:lumMod val="50000"/>
                            </a:schemeClr>
                          </a:solidFill>
                          <a:effectLst/>
                          <a:latin typeface="+mn-lt"/>
                          <a:ea typeface="+mn-ea"/>
                          <a:cs typeface="+mn-cs"/>
                        </a:rPr>
                        <a:t>Para crear registros de solicitud de cumplimiento, por ejemplo BATCH. Generalmente se deja en blanco.</a:t>
                      </a: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3529984638"/>
                  </a:ext>
                </a:extLst>
              </a:tr>
              <a:tr h="264739">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20</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Crear Datos de SAP</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Ingrese la sigla N.</a:t>
                      </a:r>
                      <a:endParaRPr lang="es-CO" sz="1050" kern="1200" dirty="0">
                        <a:solidFill>
                          <a:schemeClr val="accent6">
                            <a:lumMod val="50000"/>
                          </a:schemeClr>
                        </a:solidFill>
                        <a:effectLst/>
                        <a:latin typeface="+mn-lt"/>
                        <a:ea typeface="+mn-ea"/>
                        <a:cs typeface="+mn-cs"/>
                      </a:endParaRPr>
                    </a:p>
                  </a:txBody>
                  <a:tcPr marT="48260" marB="48260" anchor="ctr"/>
                </a:tc>
                <a:tc>
                  <a:txBody>
                    <a:bodyPr/>
                    <a:lstStyle/>
                    <a:p>
                      <a:pPr marL="0" marR="0" algn="l" defTabSz="914400" rtl="0" eaLnBrk="1" latinLnBrk="0" hangingPunct="1">
                        <a:lnSpc>
                          <a:spcPct val="115000"/>
                        </a:lnSpc>
                        <a:spcBef>
                          <a:spcPts val="0"/>
                        </a:spcBef>
                        <a:spcAft>
                          <a:spcPts val="0"/>
                        </a:spcAft>
                      </a:pPr>
                      <a:r>
                        <a:rPr lang="es-419" sz="1050" kern="1200" dirty="0">
                          <a:solidFill>
                            <a:schemeClr val="accent6">
                              <a:lumMod val="50000"/>
                            </a:schemeClr>
                          </a:solidFill>
                          <a:effectLst/>
                          <a:latin typeface="+mn-lt"/>
                          <a:ea typeface="+mn-ea"/>
                          <a:cs typeface="+mn-cs"/>
                        </a:rPr>
                        <a:t>O</a:t>
                      </a:r>
                      <a:endParaRPr lang="es-CO" sz="1050" kern="1200" dirty="0">
                        <a:solidFill>
                          <a:schemeClr val="accent6">
                            <a:lumMod val="50000"/>
                          </a:schemeClr>
                        </a:solidFill>
                        <a:effectLst/>
                        <a:latin typeface="+mn-lt"/>
                        <a:ea typeface="+mn-ea"/>
                        <a:cs typeface="+mn-cs"/>
                      </a:endParaRPr>
                    </a:p>
                  </a:txBody>
                  <a:tcPr marT="48260" marB="48260"/>
                </a:tc>
                <a:extLst>
                  <a:ext uri="{0D108BD9-81ED-4DB2-BD59-A6C34878D82A}">
                    <a16:rowId xmlns:a16="http://schemas.microsoft.com/office/drawing/2014/main" val="4164571078"/>
                  </a:ext>
                </a:extLst>
              </a:tr>
            </a:tbl>
          </a:graphicData>
        </a:graphic>
      </p:graphicFrame>
    </p:spTree>
    <p:extLst>
      <p:ext uri="{BB962C8B-B14F-4D97-AF65-F5344CB8AC3E}">
        <p14:creationId xmlns:p14="http://schemas.microsoft.com/office/powerpoint/2010/main" val="21826209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6FB424-BB2A-C999-4149-8AE924001558}"/>
              </a:ext>
            </a:extLst>
          </p:cNvPr>
          <p:cNvPicPr>
            <a:picLocks noChangeAspect="1"/>
          </p:cNvPicPr>
          <p:nvPr/>
        </p:nvPicPr>
        <p:blipFill>
          <a:blip r:embed="rId3"/>
          <a:stretch>
            <a:fillRect/>
          </a:stretch>
        </p:blipFill>
        <p:spPr>
          <a:xfrm>
            <a:off x="920524" y="903978"/>
            <a:ext cx="10532568" cy="5420488"/>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2" name="Rectángulo: esquinas redondeadas 1">
            <a:extLst>
              <a:ext uri="{FF2B5EF4-FFF2-40B4-BE49-F238E27FC236}">
                <a16:creationId xmlns:a16="http://schemas.microsoft.com/office/drawing/2014/main" id="{0ABA462E-D066-D884-854F-5FCED1C5E5D8}"/>
              </a:ext>
            </a:extLst>
          </p:cNvPr>
          <p:cNvSpPr/>
          <p:nvPr/>
        </p:nvSpPr>
        <p:spPr>
          <a:xfrm>
            <a:off x="3320586" y="5080216"/>
            <a:ext cx="5145930" cy="56787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6"/>
            </a:pPr>
            <a:r>
              <a:rPr lang="es-419" sz="1200" dirty="0"/>
              <a:t>Toda vez que se ingresaron los parámetros, pase al siguiente bloque</a:t>
            </a:r>
            <a:r>
              <a:rPr lang="es-ES_tradnl" sz="1200" dirty="0"/>
              <a:t>.</a:t>
            </a:r>
            <a:endParaRPr lang="es-419" sz="1200" dirty="0"/>
          </a:p>
        </p:txBody>
      </p:sp>
      <p:sp>
        <p:nvSpPr>
          <p:cNvPr id="9" name="Rectángulo 8">
            <a:extLst>
              <a:ext uri="{FF2B5EF4-FFF2-40B4-BE49-F238E27FC236}">
                <a16:creationId xmlns:a16="http://schemas.microsoft.com/office/drawing/2014/main" id="{B2B8E256-DB7B-4003-087B-DB8504139615}"/>
              </a:ext>
            </a:extLst>
          </p:cNvPr>
          <p:cNvSpPr/>
          <p:nvPr/>
        </p:nvSpPr>
        <p:spPr>
          <a:xfrm>
            <a:off x="1239009" y="5986272"/>
            <a:ext cx="361191" cy="2055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9B880356-4AEF-742B-A384-5A0A53A18C52}"/>
              </a:ext>
            </a:extLst>
          </p:cNvPr>
          <p:cNvSpPr/>
          <p:nvPr/>
        </p:nvSpPr>
        <p:spPr>
          <a:xfrm>
            <a:off x="1683644" y="611142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16593887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CCFDC-876F-B96B-7296-FD478A40FD3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AE5DCD0-16CB-9F44-D6EA-69438E1F5568}"/>
              </a:ext>
            </a:extLst>
          </p:cNvPr>
          <p:cNvPicPr>
            <a:picLocks noChangeAspect="1"/>
          </p:cNvPicPr>
          <p:nvPr/>
        </p:nvPicPr>
        <p:blipFill>
          <a:blip r:embed="rId3"/>
          <a:stretch>
            <a:fillRect/>
          </a:stretch>
        </p:blipFill>
        <p:spPr>
          <a:xfrm>
            <a:off x="920524" y="903978"/>
            <a:ext cx="10532568" cy="5420488"/>
          </a:xfrm>
          <a:prstGeom prst="rect">
            <a:avLst/>
          </a:prstGeom>
        </p:spPr>
      </p:pic>
      <p:sp>
        <p:nvSpPr>
          <p:cNvPr id="3" name="Marcador de texto vertical 2">
            <a:extLst>
              <a:ext uri="{FF2B5EF4-FFF2-40B4-BE49-F238E27FC236}">
                <a16:creationId xmlns:a16="http://schemas.microsoft.com/office/drawing/2014/main" id="{ED3DE99A-D461-F6C1-45A2-C3DC5B421A5A}"/>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38917E35-F331-40CA-B571-F736341FBE08}"/>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2" name="Rectángulo: esquinas redondeadas 1">
            <a:extLst>
              <a:ext uri="{FF2B5EF4-FFF2-40B4-BE49-F238E27FC236}">
                <a16:creationId xmlns:a16="http://schemas.microsoft.com/office/drawing/2014/main" id="{644691B0-7586-00EB-7D32-5C0E518B8F18}"/>
              </a:ext>
            </a:extLst>
          </p:cNvPr>
          <p:cNvSpPr/>
          <p:nvPr/>
        </p:nvSpPr>
        <p:spPr>
          <a:xfrm>
            <a:off x="3567113" y="4465499"/>
            <a:ext cx="2572215" cy="79411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Seleccione la opción enviar.</a:t>
            </a:r>
          </a:p>
          <a:p>
            <a:pPr marL="228600" indent="-228600">
              <a:buFont typeface="+mj-lt"/>
              <a:buAutoNum type="arabicPeriod" startAt="7"/>
            </a:pPr>
            <a:r>
              <a:rPr lang="es-ES_tradnl" sz="1200" dirty="0"/>
              <a:t>Guarde la información.</a:t>
            </a:r>
            <a:endParaRPr lang="es-419" sz="1200" dirty="0"/>
          </a:p>
        </p:txBody>
      </p:sp>
      <p:sp>
        <p:nvSpPr>
          <p:cNvPr id="9" name="Rectángulo 8">
            <a:extLst>
              <a:ext uri="{FF2B5EF4-FFF2-40B4-BE49-F238E27FC236}">
                <a16:creationId xmlns:a16="http://schemas.microsoft.com/office/drawing/2014/main" id="{28A614DE-CDE0-12EA-48E9-AD465A16E1C5}"/>
              </a:ext>
            </a:extLst>
          </p:cNvPr>
          <p:cNvSpPr/>
          <p:nvPr/>
        </p:nvSpPr>
        <p:spPr>
          <a:xfrm>
            <a:off x="7584391" y="5259609"/>
            <a:ext cx="444635" cy="2450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1C746511-7779-9BF7-A299-1E34EE1D33F3}"/>
              </a:ext>
            </a:extLst>
          </p:cNvPr>
          <p:cNvSpPr/>
          <p:nvPr/>
        </p:nvSpPr>
        <p:spPr>
          <a:xfrm>
            <a:off x="8029026" y="509879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4" name="Rectángulo 3">
            <a:extLst>
              <a:ext uri="{FF2B5EF4-FFF2-40B4-BE49-F238E27FC236}">
                <a16:creationId xmlns:a16="http://schemas.microsoft.com/office/drawing/2014/main" id="{068D4428-A6C3-736A-616B-0A2AFAE35AF1}"/>
              </a:ext>
            </a:extLst>
          </p:cNvPr>
          <p:cNvSpPr/>
          <p:nvPr/>
        </p:nvSpPr>
        <p:spPr>
          <a:xfrm>
            <a:off x="10900729" y="5972494"/>
            <a:ext cx="570835" cy="24500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8CCB762F-881D-D053-F23C-A0C148FA8F2A}"/>
              </a:ext>
            </a:extLst>
          </p:cNvPr>
          <p:cNvSpPr/>
          <p:nvPr/>
        </p:nvSpPr>
        <p:spPr>
          <a:xfrm>
            <a:off x="10467592" y="579320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Tree>
    <p:extLst>
      <p:ext uri="{BB962C8B-B14F-4D97-AF65-F5344CB8AC3E}">
        <p14:creationId xmlns:p14="http://schemas.microsoft.com/office/powerpoint/2010/main" val="16471247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EC49C-035D-453C-CA38-7A82489E28B6}"/>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14B2C2B6-1719-E81C-F2B6-8FC3D318A937}"/>
              </a:ext>
            </a:extLst>
          </p:cNvPr>
          <p:cNvPicPr>
            <a:picLocks noChangeAspect="1"/>
          </p:cNvPicPr>
          <p:nvPr/>
        </p:nvPicPr>
        <p:blipFill>
          <a:blip r:embed="rId3"/>
          <a:stretch>
            <a:fillRect/>
          </a:stretch>
        </p:blipFill>
        <p:spPr>
          <a:xfrm>
            <a:off x="840509" y="991643"/>
            <a:ext cx="10852728" cy="4962379"/>
          </a:xfrm>
          <a:prstGeom prst="rect">
            <a:avLst/>
          </a:prstGeom>
        </p:spPr>
      </p:pic>
      <p:sp>
        <p:nvSpPr>
          <p:cNvPr id="3" name="Marcador de texto vertical 2">
            <a:extLst>
              <a:ext uri="{FF2B5EF4-FFF2-40B4-BE49-F238E27FC236}">
                <a16:creationId xmlns:a16="http://schemas.microsoft.com/office/drawing/2014/main" id="{D5CD3C3D-F9B1-E28F-9B23-18DD61901BFD}"/>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DA568830-3A93-B4FE-0549-DC4C4DFDC4DA}"/>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2" name="Rectángulo: esquinas redondeadas 1">
            <a:extLst>
              <a:ext uri="{FF2B5EF4-FFF2-40B4-BE49-F238E27FC236}">
                <a16:creationId xmlns:a16="http://schemas.microsoft.com/office/drawing/2014/main" id="{C81C0474-1F2A-0C3B-33C9-D36782DEE1A6}"/>
              </a:ext>
            </a:extLst>
          </p:cNvPr>
          <p:cNvSpPr/>
          <p:nvPr/>
        </p:nvSpPr>
        <p:spPr>
          <a:xfrm>
            <a:off x="4577557" y="2380726"/>
            <a:ext cx="3378632" cy="79411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419" sz="1200" dirty="0"/>
              <a:t>El sistema asignará un número al proceso ejecutado.</a:t>
            </a:r>
          </a:p>
        </p:txBody>
      </p:sp>
      <p:cxnSp>
        <p:nvCxnSpPr>
          <p:cNvPr id="12" name="Conector recto de flecha 11">
            <a:extLst>
              <a:ext uri="{FF2B5EF4-FFF2-40B4-BE49-F238E27FC236}">
                <a16:creationId xmlns:a16="http://schemas.microsoft.com/office/drawing/2014/main" id="{5E518865-420F-20F9-8813-623A445773C4}"/>
              </a:ext>
            </a:extLst>
          </p:cNvPr>
          <p:cNvCxnSpPr>
            <a:cxnSpLocks/>
            <a:stCxn id="2" idx="3"/>
          </p:cNvCxnSpPr>
          <p:nvPr/>
        </p:nvCxnSpPr>
        <p:spPr>
          <a:xfrm flipV="1">
            <a:off x="7956189" y="1468582"/>
            <a:ext cx="1668102" cy="13091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6617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E927B-0F09-2094-A291-38FADAC3A47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4BBB2FF-0ADC-55F8-5EFA-1124C5F43EF6}"/>
              </a:ext>
            </a:extLst>
          </p:cNvPr>
          <p:cNvPicPr>
            <a:picLocks noChangeAspect="1"/>
          </p:cNvPicPr>
          <p:nvPr/>
        </p:nvPicPr>
        <p:blipFill>
          <a:blip r:embed="rId3"/>
          <a:stretch>
            <a:fillRect/>
          </a:stretch>
        </p:blipFill>
        <p:spPr>
          <a:xfrm>
            <a:off x="840509" y="903979"/>
            <a:ext cx="10852728" cy="4965448"/>
          </a:xfrm>
          <a:prstGeom prst="rect">
            <a:avLst/>
          </a:prstGeom>
        </p:spPr>
      </p:pic>
      <p:sp>
        <p:nvSpPr>
          <p:cNvPr id="3" name="Marcador de texto vertical 2">
            <a:extLst>
              <a:ext uri="{FF2B5EF4-FFF2-40B4-BE49-F238E27FC236}">
                <a16:creationId xmlns:a16="http://schemas.microsoft.com/office/drawing/2014/main" id="{F59C4655-1F8D-A201-6753-D05514B5AD69}"/>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0C33748A-2630-AFCA-9889-92BCFF46A183}"/>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6" name="Rectángulo: esquinas redondeadas 5">
            <a:extLst>
              <a:ext uri="{FF2B5EF4-FFF2-40B4-BE49-F238E27FC236}">
                <a16:creationId xmlns:a16="http://schemas.microsoft.com/office/drawing/2014/main" id="{C7DE7C04-B39F-DE80-5A15-1D5644B8D89C}"/>
              </a:ext>
            </a:extLst>
          </p:cNvPr>
          <p:cNvSpPr/>
          <p:nvPr/>
        </p:nvSpPr>
        <p:spPr>
          <a:xfrm>
            <a:off x="2660073" y="3933511"/>
            <a:ext cx="6082202" cy="110954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419" sz="1200" dirty="0"/>
              <a:t>Presione el ícono correspondiente al Menú Relacionado</a:t>
            </a:r>
          </a:p>
          <a:p>
            <a:pPr marL="228600" indent="-228600">
              <a:buFont typeface="+mj-lt"/>
              <a:buAutoNum type="arabicPeriod" startAt="9"/>
            </a:pPr>
            <a:r>
              <a:rPr lang="es-419" sz="1200" dirty="0"/>
              <a:t>Seleccionar la opción  Revisar salida (GJIREVO)</a:t>
            </a:r>
          </a:p>
        </p:txBody>
      </p:sp>
      <p:sp>
        <p:nvSpPr>
          <p:cNvPr id="7" name="Rectángulo 6">
            <a:extLst>
              <a:ext uri="{FF2B5EF4-FFF2-40B4-BE49-F238E27FC236}">
                <a16:creationId xmlns:a16="http://schemas.microsoft.com/office/drawing/2014/main" id="{496279C5-7068-5F31-21E1-84DEAAE1C92E}"/>
              </a:ext>
            </a:extLst>
          </p:cNvPr>
          <p:cNvSpPr/>
          <p:nvPr/>
        </p:nvSpPr>
        <p:spPr>
          <a:xfrm>
            <a:off x="10464501" y="929472"/>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06944CBD-43DE-9B50-F2D1-2C1E5B0D7967}"/>
              </a:ext>
            </a:extLst>
          </p:cNvPr>
          <p:cNvSpPr/>
          <p:nvPr/>
        </p:nvSpPr>
        <p:spPr>
          <a:xfrm>
            <a:off x="10020337" y="81212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0" name="Rectángulo 9">
            <a:extLst>
              <a:ext uri="{FF2B5EF4-FFF2-40B4-BE49-F238E27FC236}">
                <a16:creationId xmlns:a16="http://schemas.microsoft.com/office/drawing/2014/main" id="{7CA62146-0DB0-62C9-85A8-B10C27AA91DF}"/>
              </a:ext>
            </a:extLst>
          </p:cNvPr>
          <p:cNvSpPr/>
          <p:nvPr/>
        </p:nvSpPr>
        <p:spPr>
          <a:xfrm>
            <a:off x="10205724" y="1370417"/>
            <a:ext cx="1464671" cy="2152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B801A9D-610B-174F-2220-9345D1B3828E}"/>
              </a:ext>
            </a:extLst>
          </p:cNvPr>
          <p:cNvSpPr/>
          <p:nvPr/>
        </p:nvSpPr>
        <p:spPr>
          <a:xfrm>
            <a:off x="9635391" y="139765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Tree>
    <p:extLst>
      <p:ext uri="{BB962C8B-B14F-4D97-AF65-F5344CB8AC3E}">
        <p14:creationId xmlns:p14="http://schemas.microsoft.com/office/powerpoint/2010/main" val="13305529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BB038-C266-54AA-E07A-0F7862442C8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5174EF0-B5D1-799B-2F21-D3DA7D3E45DC}"/>
              </a:ext>
            </a:extLst>
          </p:cNvPr>
          <p:cNvPicPr>
            <a:picLocks noChangeAspect="1"/>
          </p:cNvPicPr>
          <p:nvPr/>
        </p:nvPicPr>
        <p:blipFill>
          <a:blip r:embed="rId3"/>
          <a:stretch>
            <a:fillRect/>
          </a:stretch>
        </p:blipFill>
        <p:spPr>
          <a:xfrm>
            <a:off x="840509" y="892528"/>
            <a:ext cx="10852728" cy="4959793"/>
          </a:xfrm>
          <a:prstGeom prst="rect">
            <a:avLst/>
          </a:prstGeom>
        </p:spPr>
      </p:pic>
      <p:sp>
        <p:nvSpPr>
          <p:cNvPr id="3" name="Marcador de texto vertical 2">
            <a:extLst>
              <a:ext uri="{FF2B5EF4-FFF2-40B4-BE49-F238E27FC236}">
                <a16:creationId xmlns:a16="http://schemas.microsoft.com/office/drawing/2014/main" id="{DD4C3EFA-DA67-23F3-D174-2ADAFCB0ACA0}"/>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B8FB4B16-7F75-AB86-03E9-F5AF0C0A6FB3}"/>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6" name="Rectángulo: esquinas redondeadas 5">
            <a:extLst>
              <a:ext uri="{FF2B5EF4-FFF2-40B4-BE49-F238E27FC236}">
                <a16:creationId xmlns:a16="http://schemas.microsoft.com/office/drawing/2014/main" id="{F2B99D2D-9F6E-16EC-C014-6942DE8BC155}"/>
              </a:ext>
            </a:extLst>
          </p:cNvPr>
          <p:cNvSpPr/>
          <p:nvPr/>
        </p:nvSpPr>
        <p:spPr>
          <a:xfrm>
            <a:off x="1195402" y="4382324"/>
            <a:ext cx="9666562" cy="165567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1"/>
            </a:pPr>
            <a:r>
              <a:rPr lang="es-ES_tradnl" sz="1200" dirty="0"/>
              <a:t>Automáticamente, la página muestra el código  del proceso y el número asignado*</a:t>
            </a:r>
          </a:p>
          <a:p>
            <a:pPr marL="228600" indent="-228600">
              <a:buFont typeface="+mj-lt"/>
              <a:buAutoNum type="arabicPeriod" startAt="11"/>
            </a:pPr>
            <a:r>
              <a:rPr lang="es-ES_tradnl" sz="1200" dirty="0"/>
              <a:t>Presione los tres puntos del campo </a:t>
            </a:r>
            <a:r>
              <a:rPr lang="es-ES_tradnl" sz="1200" b="1" dirty="0"/>
              <a:t>Nombre de archivo</a:t>
            </a:r>
            <a:r>
              <a:rPr lang="es-ES_tradnl" sz="1200" dirty="0"/>
              <a:t>.</a:t>
            </a:r>
          </a:p>
          <a:p>
            <a:pPr marL="228600" indent="-228600">
              <a:buFont typeface="+mj-lt"/>
              <a:buAutoNum type="arabicPeriod" startAt="11"/>
            </a:pPr>
            <a:r>
              <a:rPr lang="es-ES_tradnl" sz="1200" dirty="0"/>
              <a:t>Seleccione, de la ventana que emergió, el archivo .lis que se muestra (se despliega solamente si el proceso terminó su ejecución), presionando el botón </a:t>
            </a:r>
            <a:r>
              <a:rPr lang="es-ES_tradnl" sz="1200" b="1" dirty="0"/>
              <a:t>OK</a:t>
            </a:r>
            <a:endParaRPr lang="es-419" sz="1200" dirty="0"/>
          </a:p>
          <a:p>
            <a:r>
              <a:rPr lang="es-419" sz="1100" dirty="0"/>
              <a:t>* El proceso de ejecución masiva de CAPP generalmente tarda en generar los resultados. Mientras se esté ejecutando, el sistema mostrará el mensaje “</a:t>
            </a:r>
            <a:r>
              <a:rPr lang="es-419" sz="1100" b="1" dirty="0"/>
              <a:t>*ERROR* No hay salidas guardadas para el nombre/número de proceso en la base de datos</a:t>
            </a:r>
            <a:r>
              <a:rPr lang="es-419" sz="1100" dirty="0"/>
              <a:t>”</a:t>
            </a:r>
            <a:r>
              <a:rPr lang="es-419" sz="1100" b="1" dirty="0"/>
              <a:t> </a:t>
            </a:r>
            <a:r>
              <a:rPr lang="es-419" sz="1100" dirty="0"/>
              <a:t>que desaparecerá cuando ya haya finalizado la ejecución de los CAPP y se puedan consultar los archivos de resultado.</a:t>
            </a:r>
          </a:p>
        </p:txBody>
      </p:sp>
      <p:sp>
        <p:nvSpPr>
          <p:cNvPr id="10" name="Rectángulo 9">
            <a:extLst>
              <a:ext uri="{FF2B5EF4-FFF2-40B4-BE49-F238E27FC236}">
                <a16:creationId xmlns:a16="http://schemas.microsoft.com/office/drawing/2014/main" id="{F2CBB344-1869-C36D-80CD-2D27151E52C5}"/>
              </a:ext>
            </a:extLst>
          </p:cNvPr>
          <p:cNvSpPr/>
          <p:nvPr/>
        </p:nvSpPr>
        <p:spPr>
          <a:xfrm>
            <a:off x="1195402" y="1127232"/>
            <a:ext cx="6452307" cy="1880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72E49211-A0C3-147C-7596-23081DE36E15}"/>
              </a:ext>
            </a:extLst>
          </p:cNvPr>
          <p:cNvSpPr/>
          <p:nvPr/>
        </p:nvSpPr>
        <p:spPr>
          <a:xfrm>
            <a:off x="7746196" y="102894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
        <p:nvSpPr>
          <p:cNvPr id="8" name="Rectángulo 7">
            <a:extLst>
              <a:ext uri="{FF2B5EF4-FFF2-40B4-BE49-F238E27FC236}">
                <a16:creationId xmlns:a16="http://schemas.microsoft.com/office/drawing/2014/main" id="{80B84FD6-B686-44D5-C8C9-C132E18197C5}"/>
              </a:ext>
            </a:extLst>
          </p:cNvPr>
          <p:cNvSpPr/>
          <p:nvPr/>
        </p:nvSpPr>
        <p:spPr>
          <a:xfrm>
            <a:off x="840510" y="1307461"/>
            <a:ext cx="1819564" cy="18805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FEAEE2EE-4E86-00F5-904C-E2DD6C54582F}"/>
              </a:ext>
            </a:extLst>
          </p:cNvPr>
          <p:cNvSpPr/>
          <p:nvPr/>
        </p:nvSpPr>
        <p:spPr>
          <a:xfrm>
            <a:off x="2660073" y="152463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pic>
        <p:nvPicPr>
          <p:cNvPr id="15" name="Imagen 14">
            <a:extLst>
              <a:ext uri="{FF2B5EF4-FFF2-40B4-BE49-F238E27FC236}">
                <a16:creationId xmlns:a16="http://schemas.microsoft.com/office/drawing/2014/main" id="{0CF13BB6-E558-62C0-17A9-EA76D08A05CE}"/>
              </a:ext>
            </a:extLst>
          </p:cNvPr>
          <p:cNvPicPr>
            <a:picLocks noChangeAspect="1"/>
          </p:cNvPicPr>
          <p:nvPr/>
        </p:nvPicPr>
        <p:blipFill>
          <a:blip r:embed="rId4"/>
          <a:stretch>
            <a:fillRect/>
          </a:stretch>
        </p:blipFill>
        <p:spPr>
          <a:xfrm>
            <a:off x="4034415" y="1993223"/>
            <a:ext cx="2957648" cy="2262043"/>
          </a:xfrm>
          <a:prstGeom prst="rect">
            <a:avLst/>
          </a:prstGeom>
        </p:spPr>
      </p:pic>
      <p:sp>
        <p:nvSpPr>
          <p:cNvPr id="7" name="Rectángulo 6">
            <a:extLst>
              <a:ext uri="{FF2B5EF4-FFF2-40B4-BE49-F238E27FC236}">
                <a16:creationId xmlns:a16="http://schemas.microsoft.com/office/drawing/2014/main" id="{BDF84138-9A1C-28D5-A406-30AED35D95A5}"/>
              </a:ext>
            </a:extLst>
          </p:cNvPr>
          <p:cNvSpPr/>
          <p:nvPr/>
        </p:nvSpPr>
        <p:spPr>
          <a:xfrm>
            <a:off x="6483880" y="3998733"/>
            <a:ext cx="433136"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8C8E7976-B3F0-33FA-CCF9-67C6B3CFABC2}"/>
              </a:ext>
            </a:extLst>
          </p:cNvPr>
          <p:cNvSpPr/>
          <p:nvPr/>
        </p:nvSpPr>
        <p:spPr>
          <a:xfrm>
            <a:off x="6048952" y="387167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Tree>
    <p:extLst>
      <p:ext uri="{BB962C8B-B14F-4D97-AF65-F5344CB8AC3E}">
        <p14:creationId xmlns:p14="http://schemas.microsoft.com/office/powerpoint/2010/main" val="3285604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1E716B9-BD92-E095-E360-2112D7CF8FBB}"/>
              </a:ext>
            </a:extLst>
          </p:cNvPr>
          <p:cNvPicPr>
            <a:picLocks noChangeAspect="1"/>
          </p:cNvPicPr>
          <p:nvPr/>
        </p:nvPicPr>
        <p:blipFill>
          <a:blip r:embed="rId3"/>
          <a:stretch>
            <a:fillRect/>
          </a:stretch>
        </p:blipFill>
        <p:spPr>
          <a:xfrm>
            <a:off x="775507" y="847881"/>
            <a:ext cx="11020786" cy="5048083"/>
          </a:xfrm>
          <a:prstGeom prst="rect">
            <a:avLst/>
          </a:prstGeom>
        </p:spPr>
      </p:pic>
      <p:sp>
        <p:nvSpPr>
          <p:cNvPr id="3" name="Marcador de texto vertical 2">
            <a:extLst>
              <a:ext uri="{FF2B5EF4-FFF2-40B4-BE49-F238E27FC236}">
                <a16:creationId xmlns:a16="http://schemas.microsoft.com/office/drawing/2014/main" id="{5498A589-3E85-94F0-112E-5F1906020750}"/>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5" name="Rectángulo: esquinas redondeadas 4">
            <a:extLst>
              <a:ext uri="{FF2B5EF4-FFF2-40B4-BE49-F238E27FC236}">
                <a16:creationId xmlns:a16="http://schemas.microsoft.com/office/drawing/2014/main" id="{34F17645-5DFA-97B8-88B6-233453EB93B7}"/>
              </a:ext>
            </a:extLst>
          </p:cNvPr>
          <p:cNvSpPr/>
          <p:nvPr/>
        </p:nvSpPr>
        <p:spPr>
          <a:xfrm>
            <a:off x="4009541" y="4903395"/>
            <a:ext cx="3918501" cy="604594"/>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Puede visualizar los resultados del proceso en la página.</a:t>
            </a:r>
          </a:p>
        </p:txBody>
      </p:sp>
    </p:spTree>
    <p:extLst>
      <p:ext uri="{BB962C8B-B14F-4D97-AF65-F5344CB8AC3E}">
        <p14:creationId xmlns:p14="http://schemas.microsoft.com/office/powerpoint/2010/main" val="30764502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A95DC-EE28-C307-5DCE-EA99BECA3A9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491209A-0911-9406-0278-E88D84FFEF0F}"/>
              </a:ext>
            </a:extLst>
          </p:cNvPr>
          <p:cNvPicPr>
            <a:picLocks noChangeAspect="1"/>
          </p:cNvPicPr>
          <p:nvPr/>
        </p:nvPicPr>
        <p:blipFill>
          <a:blip r:embed="rId3"/>
          <a:stretch>
            <a:fillRect/>
          </a:stretch>
        </p:blipFill>
        <p:spPr>
          <a:xfrm>
            <a:off x="775507" y="847881"/>
            <a:ext cx="11020786" cy="5039223"/>
          </a:xfrm>
          <a:prstGeom prst="rect">
            <a:avLst/>
          </a:prstGeom>
        </p:spPr>
      </p:pic>
      <p:sp>
        <p:nvSpPr>
          <p:cNvPr id="3" name="Marcador de texto vertical 2">
            <a:extLst>
              <a:ext uri="{FF2B5EF4-FFF2-40B4-BE49-F238E27FC236}">
                <a16:creationId xmlns:a16="http://schemas.microsoft.com/office/drawing/2014/main" id="{03637B53-8391-9E94-FF6E-713E8B499569}"/>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136B19E7-08D6-55D2-1D99-9B3BF329AAB7}"/>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A523B4E4-AA40-E2D1-8783-DF59F81B23A6}"/>
              </a:ext>
            </a:extLst>
          </p:cNvPr>
          <p:cNvSpPr/>
          <p:nvPr/>
        </p:nvSpPr>
        <p:spPr>
          <a:xfrm>
            <a:off x="1598306" y="3933511"/>
            <a:ext cx="7143969"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4"/>
            </a:pPr>
            <a:r>
              <a:rPr lang="es-419" sz="1200" dirty="0"/>
              <a:t>Si desea guardar los resultados del proceso, presione el ícono correspondiente al menú de  HERRAMIENTAS</a:t>
            </a:r>
          </a:p>
          <a:p>
            <a:pPr marL="228600" indent="-228600">
              <a:buFont typeface="+mj-lt"/>
              <a:buAutoNum type="arabicPeriod" startAt="14"/>
            </a:pPr>
            <a:r>
              <a:rPr lang="es-419" sz="1200" dirty="0"/>
              <a:t>Seleccione la opción  Mostrar documento (guardar e imprimir)</a:t>
            </a:r>
          </a:p>
        </p:txBody>
      </p:sp>
      <p:sp>
        <p:nvSpPr>
          <p:cNvPr id="8" name="Rectángulo 7">
            <a:extLst>
              <a:ext uri="{FF2B5EF4-FFF2-40B4-BE49-F238E27FC236}">
                <a16:creationId xmlns:a16="http://schemas.microsoft.com/office/drawing/2014/main" id="{79BA4222-16C4-EC4F-EA3E-253596420FA1}"/>
              </a:ext>
            </a:extLst>
          </p:cNvPr>
          <p:cNvSpPr/>
          <p:nvPr/>
        </p:nvSpPr>
        <p:spPr>
          <a:xfrm>
            <a:off x="11529553" y="875368"/>
            <a:ext cx="232004"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DCC3D28A-DD62-405B-CEA6-FB1A3AA72983}"/>
              </a:ext>
            </a:extLst>
          </p:cNvPr>
          <p:cNvSpPr/>
          <p:nvPr/>
        </p:nvSpPr>
        <p:spPr>
          <a:xfrm>
            <a:off x="11043337" y="685800"/>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10" name="Rectángulo 9">
            <a:extLst>
              <a:ext uri="{FF2B5EF4-FFF2-40B4-BE49-F238E27FC236}">
                <a16:creationId xmlns:a16="http://schemas.microsoft.com/office/drawing/2014/main" id="{94BF4596-8EFD-8978-422B-FC9CA56B1A01}"/>
              </a:ext>
            </a:extLst>
          </p:cNvPr>
          <p:cNvSpPr/>
          <p:nvPr/>
        </p:nvSpPr>
        <p:spPr>
          <a:xfrm>
            <a:off x="10180884" y="4042672"/>
            <a:ext cx="1464671" cy="215292"/>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D4B6DE57-B451-EE8D-C714-A68FF00C62F7}"/>
              </a:ext>
            </a:extLst>
          </p:cNvPr>
          <p:cNvSpPr/>
          <p:nvPr/>
        </p:nvSpPr>
        <p:spPr>
          <a:xfrm>
            <a:off x="9747747" y="396061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Tree>
    <p:extLst>
      <p:ext uri="{BB962C8B-B14F-4D97-AF65-F5344CB8AC3E}">
        <p14:creationId xmlns:p14="http://schemas.microsoft.com/office/powerpoint/2010/main" val="40461436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A4D6B-A766-29EF-D6B6-AA41D2AC9C7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3E0E793-1961-B397-59DF-CE633DF137ED}"/>
              </a:ext>
            </a:extLst>
          </p:cNvPr>
          <p:cNvPicPr>
            <a:picLocks noChangeAspect="1"/>
          </p:cNvPicPr>
          <p:nvPr/>
        </p:nvPicPr>
        <p:blipFill>
          <a:blip r:embed="rId3"/>
          <a:stretch>
            <a:fillRect/>
          </a:stretch>
        </p:blipFill>
        <p:spPr>
          <a:xfrm>
            <a:off x="715526" y="875368"/>
            <a:ext cx="11046031" cy="5053401"/>
          </a:xfrm>
          <a:prstGeom prst="rect">
            <a:avLst/>
          </a:prstGeom>
        </p:spPr>
      </p:pic>
      <p:sp>
        <p:nvSpPr>
          <p:cNvPr id="3" name="Marcador de texto vertical 2">
            <a:extLst>
              <a:ext uri="{FF2B5EF4-FFF2-40B4-BE49-F238E27FC236}">
                <a16:creationId xmlns:a16="http://schemas.microsoft.com/office/drawing/2014/main" id="{279CD098-212E-B50C-348A-A3EDC8BBAFA1}"/>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00B2468D-6139-DC83-F0B7-1A1B7FC7D48B}"/>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304DA1A7-EC66-8463-72AB-EE034432A208}"/>
              </a:ext>
            </a:extLst>
          </p:cNvPr>
          <p:cNvSpPr/>
          <p:nvPr/>
        </p:nvSpPr>
        <p:spPr>
          <a:xfrm>
            <a:off x="3815033" y="4302890"/>
            <a:ext cx="3388225"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6"/>
            </a:pPr>
            <a:r>
              <a:rPr lang="es-419" sz="1200" dirty="0"/>
              <a:t>Presione el botón Guardar archivo</a:t>
            </a:r>
          </a:p>
        </p:txBody>
      </p:sp>
      <p:sp>
        <p:nvSpPr>
          <p:cNvPr id="10" name="Rectángulo 9">
            <a:extLst>
              <a:ext uri="{FF2B5EF4-FFF2-40B4-BE49-F238E27FC236}">
                <a16:creationId xmlns:a16="http://schemas.microsoft.com/office/drawing/2014/main" id="{62A60299-2287-439F-2B18-AAB6BD5C4664}"/>
              </a:ext>
            </a:extLst>
          </p:cNvPr>
          <p:cNvSpPr/>
          <p:nvPr/>
        </p:nvSpPr>
        <p:spPr>
          <a:xfrm>
            <a:off x="5985163" y="3590090"/>
            <a:ext cx="852408" cy="25223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82823F17-35FE-3D9A-8EBC-CB7F02DE071A}"/>
              </a:ext>
            </a:extLst>
          </p:cNvPr>
          <p:cNvSpPr/>
          <p:nvPr/>
        </p:nvSpPr>
        <p:spPr>
          <a:xfrm>
            <a:off x="5439113" y="350968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Tree>
    <p:extLst>
      <p:ext uri="{BB962C8B-B14F-4D97-AF65-F5344CB8AC3E}">
        <p14:creationId xmlns:p14="http://schemas.microsoft.com/office/powerpoint/2010/main" val="35305243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B1973-60A0-E492-402B-392253297F2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B36FB337-85C1-09ED-629F-BBA1B4264412}"/>
              </a:ext>
            </a:extLst>
          </p:cNvPr>
          <p:cNvPicPr>
            <a:picLocks noChangeAspect="1"/>
          </p:cNvPicPr>
          <p:nvPr/>
        </p:nvPicPr>
        <p:blipFill>
          <a:blip r:embed="rId3"/>
          <a:stretch>
            <a:fillRect/>
          </a:stretch>
        </p:blipFill>
        <p:spPr>
          <a:xfrm>
            <a:off x="715526" y="740483"/>
            <a:ext cx="11046031" cy="5525899"/>
          </a:xfrm>
          <a:prstGeom prst="rect">
            <a:avLst/>
          </a:prstGeom>
        </p:spPr>
      </p:pic>
      <p:sp>
        <p:nvSpPr>
          <p:cNvPr id="3" name="Marcador de texto vertical 2">
            <a:extLst>
              <a:ext uri="{FF2B5EF4-FFF2-40B4-BE49-F238E27FC236}">
                <a16:creationId xmlns:a16="http://schemas.microsoft.com/office/drawing/2014/main" id="{5B679C16-100C-C112-5C9B-60BAD038A1BB}"/>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534E29A6-6742-4FF0-98DA-766F1F5208F9}"/>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4B83F1FA-5954-843E-9D6D-93AF126866F1}"/>
              </a:ext>
            </a:extLst>
          </p:cNvPr>
          <p:cNvSpPr/>
          <p:nvPr/>
        </p:nvSpPr>
        <p:spPr>
          <a:xfrm>
            <a:off x="2424546" y="4515326"/>
            <a:ext cx="7342908"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6"/>
            </a:pPr>
            <a:r>
              <a:rPr lang="es-419" sz="1200" dirty="0"/>
              <a:t>El sistema muestra el archivo .lis que se descarga para su consulta (por medio de un block de notas, por ejemplo)</a:t>
            </a:r>
          </a:p>
          <a:p>
            <a:pPr marL="228600" indent="-228600">
              <a:buFont typeface="+mj-lt"/>
              <a:buAutoNum type="arabicPeriod" startAt="16"/>
            </a:pPr>
            <a:r>
              <a:rPr lang="es-419" sz="1200" dirty="0"/>
              <a:t>Presione el botón OK para finalizar la operación</a:t>
            </a:r>
          </a:p>
        </p:txBody>
      </p:sp>
      <p:cxnSp>
        <p:nvCxnSpPr>
          <p:cNvPr id="6" name="Conector recto de flecha 5">
            <a:extLst>
              <a:ext uri="{FF2B5EF4-FFF2-40B4-BE49-F238E27FC236}">
                <a16:creationId xmlns:a16="http://schemas.microsoft.com/office/drawing/2014/main" id="{0E063D54-6362-CFF0-4221-C16AF3750093}"/>
              </a:ext>
            </a:extLst>
          </p:cNvPr>
          <p:cNvCxnSpPr>
            <a:cxnSpLocks/>
            <a:stCxn id="8" idx="0"/>
            <a:endCxn id="12" idx="1"/>
          </p:cNvCxnSpPr>
          <p:nvPr/>
        </p:nvCxnSpPr>
        <p:spPr>
          <a:xfrm flipV="1">
            <a:off x="6231133" y="1086061"/>
            <a:ext cx="2299555" cy="177377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ángulo 7">
            <a:extLst>
              <a:ext uri="{FF2B5EF4-FFF2-40B4-BE49-F238E27FC236}">
                <a16:creationId xmlns:a16="http://schemas.microsoft.com/office/drawing/2014/main" id="{F2B11756-359C-11DE-3488-BEE21CD93B10}"/>
              </a:ext>
            </a:extLst>
          </p:cNvPr>
          <p:cNvSpPr/>
          <p:nvPr/>
        </p:nvSpPr>
        <p:spPr>
          <a:xfrm>
            <a:off x="4869975" y="2859838"/>
            <a:ext cx="2722316" cy="149972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71EF8C55-C6FE-9D38-F7DF-F4AD574451D8}"/>
              </a:ext>
            </a:extLst>
          </p:cNvPr>
          <p:cNvSpPr/>
          <p:nvPr/>
        </p:nvSpPr>
        <p:spPr>
          <a:xfrm>
            <a:off x="8777929" y="149364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
        <p:nvSpPr>
          <p:cNvPr id="12" name="Rectángulo 11">
            <a:extLst>
              <a:ext uri="{FF2B5EF4-FFF2-40B4-BE49-F238E27FC236}">
                <a16:creationId xmlns:a16="http://schemas.microsoft.com/office/drawing/2014/main" id="{B54F8BF3-ED3F-A1C5-9D1D-41B8EF7D51A1}"/>
              </a:ext>
            </a:extLst>
          </p:cNvPr>
          <p:cNvSpPr/>
          <p:nvPr/>
        </p:nvSpPr>
        <p:spPr>
          <a:xfrm>
            <a:off x="8530688" y="722011"/>
            <a:ext cx="2580657" cy="72809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15">
            <a:extLst>
              <a:ext uri="{FF2B5EF4-FFF2-40B4-BE49-F238E27FC236}">
                <a16:creationId xmlns:a16="http://schemas.microsoft.com/office/drawing/2014/main" id="{F9810F9F-E5DA-7BE1-596C-65C68D265F62}"/>
              </a:ext>
            </a:extLst>
          </p:cNvPr>
          <p:cNvSpPr/>
          <p:nvPr/>
        </p:nvSpPr>
        <p:spPr>
          <a:xfrm>
            <a:off x="6927273" y="3916218"/>
            <a:ext cx="406400" cy="2216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7" name="Rectángulo redondeado 15">
            <a:extLst>
              <a:ext uri="{FF2B5EF4-FFF2-40B4-BE49-F238E27FC236}">
                <a16:creationId xmlns:a16="http://schemas.microsoft.com/office/drawing/2014/main" id="{D8C01E90-743D-3B35-8572-8AC10992F692}"/>
              </a:ext>
            </a:extLst>
          </p:cNvPr>
          <p:cNvSpPr/>
          <p:nvPr/>
        </p:nvSpPr>
        <p:spPr>
          <a:xfrm>
            <a:off x="6452086" y="394664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Tree>
    <p:extLst>
      <p:ext uri="{BB962C8B-B14F-4D97-AF65-F5344CB8AC3E}">
        <p14:creationId xmlns:p14="http://schemas.microsoft.com/office/powerpoint/2010/main" val="27788718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9005E-B7E3-4F5E-2A4B-EEBA3B53FC5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CD01087-477B-9B19-C206-ED37F0D7FE11}"/>
              </a:ext>
            </a:extLst>
          </p:cNvPr>
          <p:cNvPicPr>
            <a:picLocks noChangeAspect="1"/>
          </p:cNvPicPr>
          <p:nvPr/>
        </p:nvPicPr>
        <p:blipFill>
          <a:blip r:embed="rId3"/>
          <a:stretch>
            <a:fillRect/>
          </a:stretch>
        </p:blipFill>
        <p:spPr>
          <a:xfrm>
            <a:off x="715526" y="875368"/>
            <a:ext cx="11046031" cy="5053401"/>
          </a:xfrm>
          <a:prstGeom prst="rect">
            <a:avLst/>
          </a:prstGeom>
        </p:spPr>
      </p:pic>
      <p:sp>
        <p:nvSpPr>
          <p:cNvPr id="3" name="Marcador de texto vertical 2">
            <a:extLst>
              <a:ext uri="{FF2B5EF4-FFF2-40B4-BE49-F238E27FC236}">
                <a16:creationId xmlns:a16="http://schemas.microsoft.com/office/drawing/2014/main" id="{25AE6448-B63F-53F6-31B1-E508A2D3F4BF}"/>
              </a:ext>
            </a:extLst>
          </p:cNvPr>
          <p:cNvSpPr>
            <a:spLocks noGrp="1"/>
          </p:cNvSpPr>
          <p:nvPr>
            <p:ph type="body" orient="vert" sz="quarter" idx="17"/>
          </p:nvPr>
        </p:nvSpPr>
        <p:spPr>
          <a:xfrm rot="10800000">
            <a:off x="-6988" y="685800"/>
            <a:ext cx="609600" cy="5486399"/>
          </a:xfrm>
        </p:spPr>
        <p:txBody>
          <a:bodyPr/>
          <a:lstStyle/>
          <a:p>
            <a:r>
              <a:rPr lang="es-419" sz="1200" dirty="0"/>
              <a:t>Ejecución del CAPP</a:t>
            </a:r>
          </a:p>
        </p:txBody>
      </p:sp>
      <p:sp>
        <p:nvSpPr>
          <p:cNvPr id="13" name="Title 12">
            <a:extLst>
              <a:ext uri="{FF2B5EF4-FFF2-40B4-BE49-F238E27FC236}">
                <a16:creationId xmlns:a16="http://schemas.microsoft.com/office/drawing/2014/main" id="{3961EEDC-806B-EAC5-345A-ECD2A695C32B}"/>
              </a:ext>
            </a:extLst>
          </p:cNvPr>
          <p:cNvSpPr>
            <a:spLocks noGrp="1"/>
          </p:cNvSpPr>
          <p:nvPr>
            <p:ph type="title"/>
          </p:nvPr>
        </p:nvSpPr>
        <p:spPr>
          <a:xfrm>
            <a:off x="938996" y="291206"/>
            <a:ext cx="10477497" cy="898555"/>
          </a:xfrm>
        </p:spPr>
        <p:txBody>
          <a:bodyPr/>
          <a:lstStyle/>
          <a:p>
            <a:r>
              <a:rPr lang="es-419" dirty="0">
                <a:solidFill>
                  <a:schemeClr val="accent1"/>
                </a:solidFill>
              </a:rPr>
              <a:t>Proceso de cumplimiento por lotes (</a:t>
            </a:r>
            <a:r>
              <a:rPr lang="es-CL" dirty="0">
                <a:solidFill>
                  <a:schemeClr val="accent1"/>
                </a:solidFill>
              </a:rPr>
              <a:t>SMRBCMP)</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3E4A4ACB-C92A-1A6D-F2B7-F747250B62CE}"/>
              </a:ext>
            </a:extLst>
          </p:cNvPr>
          <p:cNvSpPr/>
          <p:nvPr/>
        </p:nvSpPr>
        <p:spPr>
          <a:xfrm>
            <a:off x="3815033" y="4302890"/>
            <a:ext cx="4848676" cy="821655"/>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8"/>
            </a:pPr>
            <a:r>
              <a:rPr lang="es-419" sz="1200" dirty="0"/>
              <a:t>Cierre la ventana de Extracción del archivo y salga de la página GJIREVO. </a:t>
            </a:r>
          </a:p>
        </p:txBody>
      </p:sp>
      <p:sp>
        <p:nvSpPr>
          <p:cNvPr id="10" name="Rectángulo 9">
            <a:extLst>
              <a:ext uri="{FF2B5EF4-FFF2-40B4-BE49-F238E27FC236}">
                <a16:creationId xmlns:a16="http://schemas.microsoft.com/office/drawing/2014/main" id="{47F023F1-343F-FC87-BA37-DDC9BC7182E2}"/>
              </a:ext>
            </a:extLst>
          </p:cNvPr>
          <p:cNvSpPr/>
          <p:nvPr/>
        </p:nvSpPr>
        <p:spPr>
          <a:xfrm>
            <a:off x="6777054" y="3626811"/>
            <a:ext cx="528910"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18996DF2-BA69-0F17-AFE4-32BD191EF1F3}"/>
              </a:ext>
            </a:extLst>
          </p:cNvPr>
          <p:cNvSpPr/>
          <p:nvPr/>
        </p:nvSpPr>
        <p:spPr>
          <a:xfrm>
            <a:off x="7418877" y="378762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Tree>
    <p:extLst>
      <p:ext uri="{BB962C8B-B14F-4D97-AF65-F5344CB8AC3E}">
        <p14:creationId xmlns:p14="http://schemas.microsoft.com/office/powerpoint/2010/main" val="333997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3C52B-4C07-37BB-14BF-F709B59EE5E1}"/>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E0EB00C9-02E5-5C13-526F-008C5E22E487}"/>
              </a:ext>
            </a:extLst>
          </p:cNvPr>
          <p:cNvSpPr>
            <a:spLocks noGrp="1"/>
          </p:cNvSpPr>
          <p:nvPr>
            <p:ph type="body" orient="vert" sz="quarter" idx="10"/>
          </p:nvPr>
        </p:nvSpPr>
        <p:spPr/>
        <p:txBody>
          <a:bodyPr/>
          <a:lstStyle/>
          <a:p>
            <a:r>
              <a:rPr lang="es-419" sz="1200" dirty="0"/>
              <a:t>Ejecución del CAPP</a:t>
            </a:r>
          </a:p>
        </p:txBody>
      </p:sp>
      <p:sp>
        <p:nvSpPr>
          <p:cNvPr id="7" name="Title 4">
            <a:extLst>
              <a:ext uri="{FF2B5EF4-FFF2-40B4-BE49-F238E27FC236}">
                <a16:creationId xmlns:a16="http://schemas.microsoft.com/office/drawing/2014/main" id="{7E8E8C89-F73D-0E27-D807-80C4C40DF25B}"/>
              </a:ext>
            </a:extLst>
          </p:cNvPr>
          <p:cNvSpPr>
            <a:spLocks noGrp="1"/>
          </p:cNvSpPr>
          <p:nvPr>
            <p:ph type="title"/>
          </p:nvPr>
        </p:nvSpPr>
        <p:spPr/>
        <p:txBody>
          <a:bodyPr/>
          <a:lstStyle/>
          <a:p>
            <a:r>
              <a:rPr lang="es-419" dirty="0"/>
              <a:t>Resultados de la </a:t>
            </a:r>
            <a:r>
              <a:rPr lang="es-CO" dirty="0"/>
              <a:t>Ejecución de CAPP</a:t>
            </a:r>
            <a:endParaRPr lang="es-ES_tradnl" dirty="0"/>
          </a:p>
        </p:txBody>
      </p:sp>
      <p:sp>
        <p:nvSpPr>
          <p:cNvPr id="5" name="Marcador de texto 4">
            <a:extLst>
              <a:ext uri="{FF2B5EF4-FFF2-40B4-BE49-F238E27FC236}">
                <a16:creationId xmlns:a16="http://schemas.microsoft.com/office/drawing/2014/main" id="{37268B5F-774B-BD6A-BCB6-7AC5FCEFCA77}"/>
              </a:ext>
            </a:extLst>
          </p:cNvPr>
          <p:cNvSpPr>
            <a:spLocks noGrp="1"/>
          </p:cNvSpPr>
          <p:nvPr>
            <p:ph type="body" sz="quarter" idx="18"/>
          </p:nvPr>
        </p:nvSpPr>
        <p:spPr/>
        <p:txBody>
          <a:bodyPr/>
          <a:lstStyle/>
          <a:p>
            <a:endParaRPr lang="es-419"/>
          </a:p>
        </p:txBody>
      </p:sp>
      <p:sp>
        <p:nvSpPr>
          <p:cNvPr id="4" name="Text Placeholder 5">
            <a:extLst>
              <a:ext uri="{FF2B5EF4-FFF2-40B4-BE49-F238E27FC236}">
                <a16:creationId xmlns:a16="http://schemas.microsoft.com/office/drawing/2014/main" id="{33F912E1-2D16-1842-2C35-CC6F7FBCE054}"/>
              </a:ext>
            </a:extLst>
          </p:cNvPr>
          <p:cNvSpPr txBox="1">
            <a:spLocks/>
          </p:cNvSpPr>
          <p:nvPr/>
        </p:nvSpPr>
        <p:spPr>
          <a:xfrm>
            <a:off x="475488" y="3729328"/>
            <a:ext cx="5407861" cy="1701216"/>
          </a:xfrm>
          <a:prstGeom prst="rect">
            <a:avLst/>
          </a:prstGeom>
        </p:spPr>
        <p:txBody>
          <a:bodyPr vert="horz" lIns="0" tIns="0" rIns="0" bIns="0" rtlCol="0">
            <a:noAutofit/>
          </a:bodyPr>
          <a:lstStyle>
            <a:lvl1pPr marL="0" indent="0" algn="l" defTabSz="457200" rtl="0" eaLnBrk="1" latinLnBrk="0" hangingPunct="1">
              <a:spcBef>
                <a:spcPts val="900"/>
              </a:spcBef>
              <a:buFontTx/>
              <a:buNone/>
              <a:defRPr lang="en-US" sz="1600" b="1" kern="1200" spc="100">
                <a:solidFill>
                  <a:schemeClr val="bg1">
                    <a:lumMod val="75000"/>
                  </a:schemeClr>
                </a:solidFill>
                <a:latin typeface="Arial"/>
                <a:ea typeface="+mn-ea"/>
                <a:cs typeface="Arial"/>
              </a:defRPr>
            </a:lvl1pPr>
            <a:lvl2pPr marL="457200" indent="0" algn="l" defTabSz="457200" rtl="0" eaLnBrk="1" latinLnBrk="0" hangingPunct="1">
              <a:spcBef>
                <a:spcPts val="900"/>
              </a:spcBef>
              <a:buFont typeface="Arial" panose="020B0604020202020204" pitchFamily="34" charset="0"/>
              <a:buNone/>
              <a:defRPr lang="en-US" sz="1600" b="0" kern="1200">
                <a:solidFill>
                  <a:schemeClr val="tx1"/>
                </a:solidFill>
                <a:latin typeface="Arial"/>
                <a:ea typeface="+mn-ea"/>
                <a:cs typeface="Arial"/>
              </a:defRPr>
            </a:lvl2pPr>
            <a:lvl3pPr marL="914400" indent="0" algn="l" defTabSz="457200" rtl="0" eaLnBrk="1" latinLnBrk="0" hangingPunct="1">
              <a:spcBef>
                <a:spcPts val="900"/>
              </a:spcBef>
              <a:buFont typeface="Arial"/>
              <a:buNone/>
              <a:defRPr lang="en-US" sz="1400" kern="1200">
                <a:solidFill>
                  <a:srgbClr val="414042"/>
                </a:solidFill>
                <a:latin typeface="Arial"/>
                <a:ea typeface="+mn-ea"/>
                <a:cs typeface="Arial"/>
              </a:defRPr>
            </a:lvl3pPr>
            <a:lvl4pPr marL="13716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4pPr>
            <a:lvl5pPr marL="1828800" indent="0" algn="l" defTabSz="457200" rtl="0" eaLnBrk="1" latinLnBrk="0" hangingPunct="1">
              <a:spcBef>
                <a:spcPts val="900"/>
              </a:spcBef>
              <a:buFont typeface="Arial" panose="020B0604020202020204" pitchFamily="34" charset="0"/>
              <a:buNone/>
              <a:defRPr lang="en-US" sz="1200" kern="1200">
                <a:solidFill>
                  <a:srgbClr val="414042"/>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endParaRPr lang="es-ES_tradnl" sz="2133" dirty="0"/>
          </a:p>
        </p:txBody>
      </p:sp>
    </p:spTree>
    <p:extLst>
      <p:ext uri="{BB962C8B-B14F-4D97-AF65-F5344CB8AC3E}">
        <p14:creationId xmlns:p14="http://schemas.microsoft.com/office/powerpoint/2010/main" val="877993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77175FA-D88F-7131-DAD7-DC4F7ACBD4C1}"/>
              </a:ext>
            </a:extLst>
          </p:cNvPr>
          <p:cNvPicPr>
            <a:picLocks noChangeAspect="1"/>
          </p:cNvPicPr>
          <p:nvPr/>
        </p:nvPicPr>
        <p:blipFill>
          <a:blip r:embed="rId3"/>
          <a:stretch>
            <a:fillRect/>
          </a:stretch>
        </p:blipFill>
        <p:spPr>
          <a:xfrm>
            <a:off x="794328" y="988441"/>
            <a:ext cx="10845929" cy="4950541"/>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p>
        </p:txBody>
      </p:sp>
      <p:sp>
        <p:nvSpPr>
          <p:cNvPr id="22" name="Rectángulo: esquinas redondeadas 21">
            <a:extLst>
              <a:ext uri="{FF2B5EF4-FFF2-40B4-BE49-F238E27FC236}">
                <a16:creationId xmlns:a16="http://schemas.microsoft.com/office/drawing/2014/main" id="{35633517-B82B-5C27-B5C5-CD35022B3B81}"/>
              </a:ext>
            </a:extLst>
          </p:cNvPr>
          <p:cNvSpPr/>
          <p:nvPr/>
        </p:nvSpPr>
        <p:spPr>
          <a:xfrm>
            <a:off x="2222977" y="2771047"/>
            <a:ext cx="7110987" cy="8105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En la página SMICRLT digite el ID del estudiante al que se le consultarán los resultados del CAPP.</a:t>
            </a:r>
          </a:p>
          <a:p>
            <a:pPr marL="228600" indent="-228600">
              <a:buFont typeface="+mj-lt"/>
              <a:buAutoNum type="arabicPeriod"/>
            </a:pPr>
            <a:r>
              <a:rPr lang="es-419" sz="1200" dirty="0"/>
              <a:t>Seleccione el Número de solicitud presionando los tres botones (si viene desde el menú relacionado de SMARQCM ya viene seleccionado).</a:t>
            </a:r>
          </a:p>
        </p:txBody>
      </p:sp>
      <p:sp>
        <p:nvSpPr>
          <p:cNvPr id="6" name="Rectángulo 5">
            <a:extLst>
              <a:ext uri="{FF2B5EF4-FFF2-40B4-BE49-F238E27FC236}">
                <a16:creationId xmlns:a16="http://schemas.microsoft.com/office/drawing/2014/main" id="{248CA3F0-2CE6-9CEC-2753-535B77B39070}"/>
              </a:ext>
            </a:extLst>
          </p:cNvPr>
          <p:cNvSpPr/>
          <p:nvPr/>
        </p:nvSpPr>
        <p:spPr>
          <a:xfrm>
            <a:off x="1293091" y="1203169"/>
            <a:ext cx="1246909" cy="20883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EACBB199-0571-AD98-3884-5EC60F88B2A8}"/>
              </a:ext>
            </a:extLst>
          </p:cNvPr>
          <p:cNvSpPr/>
          <p:nvPr/>
        </p:nvSpPr>
        <p:spPr>
          <a:xfrm>
            <a:off x="794328" y="146626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8" name="Rectángulo 7">
            <a:extLst>
              <a:ext uri="{FF2B5EF4-FFF2-40B4-BE49-F238E27FC236}">
                <a16:creationId xmlns:a16="http://schemas.microsoft.com/office/drawing/2014/main" id="{3AC4469D-779A-1A60-C104-4D73DACAB493}"/>
              </a:ext>
            </a:extLst>
          </p:cNvPr>
          <p:cNvSpPr/>
          <p:nvPr/>
        </p:nvSpPr>
        <p:spPr>
          <a:xfrm>
            <a:off x="5778471" y="1165062"/>
            <a:ext cx="1823056" cy="260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D85F3B63-8748-6FCF-E735-7F3F73820C2A}"/>
              </a:ext>
            </a:extLst>
          </p:cNvPr>
          <p:cNvSpPr/>
          <p:nvPr/>
        </p:nvSpPr>
        <p:spPr>
          <a:xfrm>
            <a:off x="7168390" y="146626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31331619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80A52-46BD-F0F7-80EE-2C211FA154E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B8A42F7-1C3D-91CC-B81A-D6F38CFFFBE6}"/>
              </a:ext>
            </a:extLst>
          </p:cNvPr>
          <p:cNvPicPr>
            <a:picLocks noChangeAspect="1"/>
          </p:cNvPicPr>
          <p:nvPr/>
        </p:nvPicPr>
        <p:blipFill>
          <a:blip r:embed="rId3"/>
          <a:stretch>
            <a:fillRect/>
          </a:stretch>
        </p:blipFill>
        <p:spPr>
          <a:xfrm>
            <a:off x="794328" y="988441"/>
            <a:ext cx="10845928" cy="4953614"/>
          </a:xfrm>
          <a:prstGeom prst="rect">
            <a:avLst/>
          </a:prstGeom>
        </p:spPr>
      </p:pic>
      <p:sp>
        <p:nvSpPr>
          <p:cNvPr id="2" name="Marcador de texto vertical 1">
            <a:extLst>
              <a:ext uri="{FF2B5EF4-FFF2-40B4-BE49-F238E27FC236}">
                <a16:creationId xmlns:a16="http://schemas.microsoft.com/office/drawing/2014/main" id="{99A89503-0499-7932-D200-7A2FA4E513BE}"/>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1AC4595E-1FBC-3F59-F84E-B77463BA278C}"/>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p>
        </p:txBody>
      </p:sp>
      <p:sp>
        <p:nvSpPr>
          <p:cNvPr id="22" name="Rectángulo: esquinas redondeadas 21">
            <a:extLst>
              <a:ext uri="{FF2B5EF4-FFF2-40B4-BE49-F238E27FC236}">
                <a16:creationId xmlns:a16="http://schemas.microsoft.com/office/drawing/2014/main" id="{1A296296-1E48-1E79-2C0E-F406CBB470EA}"/>
              </a:ext>
            </a:extLst>
          </p:cNvPr>
          <p:cNvSpPr/>
          <p:nvPr/>
        </p:nvSpPr>
        <p:spPr>
          <a:xfrm>
            <a:off x="4407487" y="4882398"/>
            <a:ext cx="3540514" cy="8105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419" sz="1200" dirty="0"/>
              <a:t>Seleccione la solicitud que desea consultar.</a:t>
            </a:r>
          </a:p>
          <a:p>
            <a:pPr marL="228600" indent="-228600">
              <a:buFont typeface="+mj-lt"/>
              <a:buAutoNum type="arabicPeriod" startAt="3"/>
            </a:pPr>
            <a:r>
              <a:rPr lang="es-419" sz="1200" dirty="0"/>
              <a:t>Presione el botón </a:t>
            </a:r>
            <a:r>
              <a:rPr lang="es-419" sz="1200" b="1" dirty="0"/>
              <a:t>OK</a:t>
            </a:r>
            <a:r>
              <a:rPr lang="es-419" sz="1200" dirty="0"/>
              <a:t>.</a:t>
            </a:r>
            <a:endParaRPr lang="es-CO" sz="1200" dirty="0"/>
          </a:p>
        </p:txBody>
      </p:sp>
      <p:sp>
        <p:nvSpPr>
          <p:cNvPr id="8" name="Rectángulo 7">
            <a:extLst>
              <a:ext uri="{FF2B5EF4-FFF2-40B4-BE49-F238E27FC236}">
                <a16:creationId xmlns:a16="http://schemas.microsoft.com/office/drawing/2014/main" id="{CD06B73A-B8DA-9A61-D335-35C1E41EDC0E}"/>
              </a:ext>
            </a:extLst>
          </p:cNvPr>
          <p:cNvSpPr/>
          <p:nvPr/>
        </p:nvSpPr>
        <p:spPr>
          <a:xfrm>
            <a:off x="4688580" y="3011095"/>
            <a:ext cx="3118286" cy="16081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AB6B0307-89F5-D302-4638-FC9D2C92F699}"/>
              </a:ext>
            </a:extLst>
          </p:cNvPr>
          <p:cNvSpPr/>
          <p:nvPr/>
        </p:nvSpPr>
        <p:spPr>
          <a:xfrm>
            <a:off x="4190918" y="309150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3</a:t>
            </a:r>
          </a:p>
        </p:txBody>
      </p:sp>
      <p:sp>
        <p:nvSpPr>
          <p:cNvPr id="12" name="Rectángulo 11">
            <a:extLst>
              <a:ext uri="{FF2B5EF4-FFF2-40B4-BE49-F238E27FC236}">
                <a16:creationId xmlns:a16="http://schemas.microsoft.com/office/drawing/2014/main" id="{0D7C02B8-AE99-E9A8-2017-03280C94531E}"/>
              </a:ext>
            </a:extLst>
          </p:cNvPr>
          <p:cNvSpPr/>
          <p:nvPr/>
        </p:nvSpPr>
        <p:spPr>
          <a:xfrm>
            <a:off x="7373729" y="4360402"/>
            <a:ext cx="433137" cy="2401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8569C55C-BE40-C2C8-F947-2B26340517AA}"/>
              </a:ext>
            </a:extLst>
          </p:cNvPr>
          <p:cNvSpPr/>
          <p:nvPr/>
        </p:nvSpPr>
        <p:spPr>
          <a:xfrm>
            <a:off x="7921264" y="436040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Tree>
    <p:extLst>
      <p:ext uri="{BB962C8B-B14F-4D97-AF65-F5344CB8AC3E}">
        <p14:creationId xmlns:p14="http://schemas.microsoft.com/office/powerpoint/2010/main" val="4594581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1723FD7-80B6-874B-5313-BC50F8285A94}"/>
              </a:ext>
            </a:extLst>
          </p:cNvPr>
          <p:cNvPicPr>
            <a:picLocks noChangeAspect="1"/>
          </p:cNvPicPr>
          <p:nvPr/>
        </p:nvPicPr>
        <p:blipFill>
          <a:blip r:embed="rId3"/>
          <a:stretch>
            <a:fillRect/>
          </a:stretch>
        </p:blipFill>
        <p:spPr>
          <a:xfrm>
            <a:off x="775507" y="1203169"/>
            <a:ext cx="10698822" cy="4900607"/>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8" name="Rectángulo: esquinas redondeadas 7">
            <a:extLst>
              <a:ext uri="{FF2B5EF4-FFF2-40B4-BE49-F238E27FC236}">
                <a16:creationId xmlns:a16="http://schemas.microsoft.com/office/drawing/2014/main" id="{36DB522C-F91D-2ED2-DF4C-EC3AA3126A3B}"/>
              </a:ext>
            </a:extLst>
          </p:cNvPr>
          <p:cNvSpPr/>
          <p:nvPr/>
        </p:nvSpPr>
        <p:spPr>
          <a:xfrm>
            <a:off x="4019560" y="3248202"/>
            <a:ext cx="3540514" cy="810540"/>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5"/>
            </a:pPr>
            <a:r>
              <a:rPr lang="es-419" sz="1200" dirty="0"/>
              <a:t>Presione el botón </a:t>
            </a:r>
            <a:r>
              <a:rPr lang="es-419" sz="1200" b="1" dirty="0"/>
              <a:t>Ir</a:t>
            </a:r>
            <a:r>
              <a:rPr lang="es-419" sz="1200" dirty="0"/>
              <a:t>.</a:t>
            </a:r>
            <a:endParaRPr lang="es-CO" sz="1200" dirty="0"/>
          </a:p>
        </p:txBody>
      </p:sp>
      <p:sp>
        <p:nvSpPr>
          <p:cNvPr id="10" name="Rectángulo 9">
            <a:extLst>
              <a:ext uri="{FF2B5EF4-FFF2-40B4-BE49-F238E27FC236}">
                <a16:creationId xmlns:a16="http://schemas.microsoft.com/office/drawing/2014/main" id="{2F9DC512-70E8-BCEE-F238-F32282E635BB}"/>
              </a:ext>
            </a:extLst>
          </p:cNvPr>
          <p:cNvSpPr/>
          <p:nvPr/>
        </p:nvSpPr>
        <p:spPr>
          <a:xfrm>
            <a:off x="11120582" y="1450108"/>
            <a:ext cx="360563" cy="211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90745562-2F14-8AFA-6B80-25F54F0BFC93}"/>
              </a:ext>
            </a:extLst>
          </p:cNvPr>
          <p:cNvSpPr/>
          <p:nvPr/>
        </p:nvSpPr>
        <p:spPr>
          <a:xfrm>
            <a:off x="10604492" y="1500866"/>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Tree>
    <p:extLst>
      <p:ext uri="{BB962C8B-B14F-4D97-AF65-F5344CB8AC3E}">
        <p14:creationId xmlns:p14="http://schemas.microsoft.com/office/powerpoint/2010/main" val="17884730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5F1A-AD92-8BA7-F8C8-2B1BF0BAE82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F2073B6-DD71-5B76-BDAB-70C13BF5815B}"/>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4B41D889-1218-6674-AC7E-D46DE4C031A6}"/>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751EF329-6B67-5ACF-E32E-FB3B3F02AB34}"/>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10" name="Rectángulo 9">
            <a:extLst>
              <a:ext uri="{FF2B5EF4-FFF2-40B4-BE49-F238E27FC236}">
                <a16:creationId xmlns:a16="http://schemas.microsoft.com/office/drawing/2014/main" id="{62420404-A21A-9E37-1C6F-DE664F093FA2}"/>
              </a:ext>
            </a:extLst>
          </p:cNvPr>
          <p:cNvSpPr/>
          <p:nvPr/>
        </p:nvSpPr>
        <p:spPr>
          <a:xfrm>
            <a:off x="717671" y="1395079"/>
            <a:ext cx="10846256" cy="4630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4">
            <a:extLst>
              <a:ext uri="{FF2B5EF4-FFF2-40B4-BE49-F238E27FC236}">
                <a16:creationId xmlns:a16="http://schemas.microsoft.com/office/drawing/2014/main" id="{BBDC6280-983B-8B86-63DF-F52D7D74B099}"/>
              </a:ext>
            </a:extLst>
          </p:cNvPr>
          <p:cNvSpPr/>
          <p:nvPr/>
        </p:nvSpPr>
        <p:spPr>
          <a:xfrm>
            <a:off x="717671" y="1862908"/>
            <a:ext cx="10846256" cy="203885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5">
            <a:extLst>
              <a:ext uri="{FF2B5EF4-FFF2-40B4-BE49-F238E27FC236}">
                <a16:creationId xmlns:a16="http://schemas.microsoft.com/office/drawing/2014/main" id="{BB646CD2-CCA2-3E1A-E144-4CA4ADD90E73}"/>
              </a:ext>
            </a:extLst>
          </p:cNvPr>
          <p:cNvSpPr/>
          <p:nvPr/>
        </p:nvSpPr>
        <p:spPr>
          <a:xfrm>
            <a:off x="8866910" y="2187847"/>
            <a:ext cx="360563" cy="49069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FAFD5CF6-4171-BB25-A263-B0CE5ECEDAF6}"/>
              </a:ext>
            </a:extLst>
          </p:cNvPr>
          <p:cNvSpPr/>
          <p:nvPr/>
        </p:nvSpPr>
        <p:spPr>
          <a:xfrm>
            <a:off x="8350820" y="2238605"/>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grpSp>
        <p:nvGrpSpPr>
          <p:cNvPr id="17" name="Grupo 16">
            <a:extLst>
              <a:ext uri="{FF2B5EF4-FFF2-40B4-BE49-F238E27FC236}">
                <a16:creationId xmlns:a16="http://schemas.microsoft.com/office/drawing/2014/main" id="{6CC51BE0-5303-4CA9-5B85-6DEA31058959}"/>
              </a:ext>
            </a:extLst>
          </p:cNvPr>
          <p:cNvGrpSpPr/>
          <p:nvPr/>
        </p:nvGrpSpPr>
        <p:grpSpPr>
          <a:xfrm>
            <a:off x="2253673" y="4082473"/>
            <a:ext cx="7730836" cy="1241651"/>
            <a:chOff x="2253673" y="4082473"/>
            <a:chExt cx="7730836" cy="1241651"/>
          </a:xfrm>
        </p:grpSpPr>
        <p:sp>
          <p:nvSpPr>
            <p:cNvPr id="8" name="Rectángulo: esquinas redondeadas 7">
              <a:extLst>
                <a:ext uri="{FF2B5EF4-FFF2-40B4-BE49-F238E27FC236}">
                  <a16:creationId xmlns:a16="http://schemas.microsoft.com/office/drawing/2014/main" id="{8582BB45-E91F-F7FB-49F3-207A657A16FD}"/>
                </a:ext>
              </a:extLst>
            </p:cNvPr>
            <p:cNvSpPr/>
            <p:nvPr/>
          </p:nvSpPr>
          <p:spPr>
            <a:xfrm>
              <a:off x="2253673" y="4082473"/>
              <a:ext cx="7730836" cy="124165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lnSpc>
                  <a:spcPct val="150000"/>
                </a:lnSpc>
              </a:pPr>
              <a:r>
                <a:rPr lang="es-ES_tradnl" sz="1200" dirty="0"/>
                <a:t>Se puede observar el </a:t>
              </a:r>
              <a:r>
                <a:rPr lang="es-ES_tradnl" sz="1200" b="1" dirty="0"/>
                <a:t>Programa y período catálogo </a:t>
              </a:r>
              <a:r>
                <a:rPr lang="es-ES_tradnl" sz="1200" dirty="0"/>
                <a:t>según el cual fue ejecutado el CAPP para la solicitud.</a:t>
              </a:r>
            </a:p>
            <a:p>
              <a:pPr algn="ctr">
                <a:lnSpc>
                  <a:spcPct val="150000"/>
                </a:lnSpc>
              </a:pPr>
              <a:r>
                <a:rPr lang="es-ES_tradnl" sz="1200" dirty="0"/>
                <a:t>Se visualizan las columnas </a:t>
              </a:r>
              <a:r>
                <a:rPr lang="es-ES_tradnl" sz="1200" b="1" dirty="0"/>
                <a:t>Cumple</a:t>
              </a:r>
              <a:r>
                <a:rPr lang="es-ES_tradnl" sz="1200" dirty="0"/>
                <a:t> y </a:t>
              </a:r>
              <a:r>
                <a:rPr lang="es-ES_tradnl" sz="1200" b="1" dirty="0"/>
                <a:t>No cumple</a:t>
              </a:r>
              <a:r>
                <a:rPr lang="es-ES_tradnl" sz="1200" dirty="0"/>
                <a:t>, según los resultados de la evaluación del CAPP del estudiante.</a:t>
              </a:r>
            </a:p>
            <a:p>
              <a:pPr marL="228600" indent="-228600">
                <a:buFont typeface="+mj-lt"/>
                <a:buAutoNum type="arabicPeriod" startAt="6"/>
              </a:pPr>
              <a:r>
                <a:rPr lang="es-ES_tradnl" sz="1200" dirty="0"/>
                <a:t>Al presionar el botón         (que no esté gris) se puede ver el detalle de cada requerimiento del Programa para el estudiante en la ejecución del CAPP que se está consultando. Si algún elemento no ha sido definido en el CAPP del programa, el ícono queda gris tanto en ambas columnas.</a:t>
              </a:r>
            </a:p>
          </p:txBody>
        </p:sp>
        <p:pic>
          <p:nvPicPr>
            <p:cNvPr id="16" name="Imagen 15">
              <a:extLst>
                <a:ext uri="{FF2B5EF4-FFF2-40B4-BE49-F238E27FC236}">
                  <a16:creationId xmlns:a16="http://schemas.microsoft.com/office/drawing/2014/main" id="{7B376078-6D8A-0355-E554-A6E8A69EF81C}"/>
                </a:ext>
              </a:extLst>
            </p:cNvPr>
            <p:cNvPicPr>
              <a:picLocks noChangeAspect="1"/>
            </p:cNvPicPr>
            <p:nvPr/>
          </p:nvPicPr>
          <p:blipFill>
            <a:blip r:embed="rId4"/>
            <a:stretch>
              <a:fillRect/>
            </a:stretch>
          </p:blipFill>
          <p:spPr>
            <a:xfrm>
              <a:off x="4019694" y="4719406"/>
              <a:ext cx="180975" cy="180975"/>
            </a:xfrm>
            <a:prstGeom prst="rect">
              <a:avLst/>
            </a:prstGeom>
          </p:spPr>
        </p:pic>
      </p:grpSp>
      <p:sp>
        <p:nvSpPr>
          <p:cNvPr id="3" name="Rectángulo 2">
            <a:extLst>
              <a:ext uri="{FF2B5EF4-FFF2-40B4-BE49-F238E27FC236}">
                <a16:creationId xmlns:a16="http://schemas.microsoft.com/office/drawing/2014/main" id="{EAD23B96-8107-217F-8F85-38747C024041}"/>
              </a:ext>
            </a:extLst>
          </p:cNvPr>
          <p:cNvSpPr/>
          <p:nvPr/>
        </p:nvSpPr>
        <p:spPr>
          <a:xfrm>
            <a:off x="8866910" y="2882336"/>
            <a:ext cx="360563" cy="193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Flecha: a la derecha 6">
            <a:extLst>
              <a:ext uri="{FF2B5EF4-FFF2-40B4-BE49-F238E27FC236}">
                <a16:creationId xmlns:a16="http://schemas.microsoft.com/office/drawing/2014/main" id="{8D64B605-5D64-8F79-AE85-4A34787CA620}"/>
              </a:ext>
            </a:extLst>
          </p:cNvPr>
          <p:cNvSpPr/>
          <p:nvPr/>
        </p:nvSpPr>
        <p:spPr>
          <a:xfrm rot="10800000">
            <a:off x="9102955" y="2213226"/>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6841572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080AB-689F-F4B5-7EF8-6539A4A78CC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9B7ABA7-8FF0-DBF3-1047-2E4CDA2A86B7}"/>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BA50D141-B3E9-1E67-55DE-087B3CF1A1FB}"/>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7D1EEF39-6B1C-A198-2C82-20BB8438BBFF}"/>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Flecha: a la derecha 6">
            <a:extLst>
              <a:ext uri="{FF2B5EF4-FFF2-40B4-BE49-F238E27FC236}">
                <a16:creationId xmlns:a16="http://schemas.microsoft.com/office/drawing/2014/main" id="{2DDC690B-ED9C-E5B6-DA37-57E866B09F6B}"/>
              </a:ext>
            </a:extLst>
          </p:cNvPr>
          <p:cNvSpPr/>
          <p:nvPr/>
        </p:nvSpPr>
        <p:spPr>
          <a:xfrm rot="10800000">
            <a:off x="9102955" y="2213226"/>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8914514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64B6C-D874-CC0C-AA63-BC581D89081E}"/>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83FC36A5-EAF8-8744-45F4-805B76ADA779}"/>
              </a:ext>
            </a:extLst>
          </p:cNvPr>
          <p:cNvPicPr>
            <a:picLocks noChangeAspect="1"/>
          </p:cNvPicPr>
          <p:nvPr/>
        </p:nvPicPr>
        <p:blipFill>
          <a:blip r:embed="rId3"/>
          <a:stretch>
            <a:fillRect/>
          </a:stretch>
        </p:blipFill>
        <p:spPr>
          <a:xfrm>
            <a:off x="717671" y="922056"/>
            <a:ext cx="10846256" cy="4968139"/>
          </a:xfrm>
          <a:prstGeom prst="rect">
            <a:avLst/>
          </a:prstGeom>
        </p:spPr>
      </p:pic>
      <p:sp>
        <p:nvSpPr>
          <p:cNvPr id="2" name="Marcador de texto vertical 1">
            <a:extLst>
              <a:ext uri="{FF2B5EF4-FFF2-40B4-BE49-F238E27FC236}">
                <a16:creationId xmlns:a16="http://schemas.microsoft.com/office/drawing/2014/main" id="{6B671777-F885-9042-F2EE-0CB6A4E3580F}"/>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31AD2C2A-F6A0-4CD5-6F4A-A8C979E3B809}"/>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5" name="Rectángulo 4">
            <a:extLst>
              <a:ext uri="{FF2B5EF4-FFF2-40B4-BE49-F238E27FC236}">
                <a16:creationId xmlns:a16="http://schemas.microsoft.com/office/drawing/2014/main" id="{F8C53F77-2654-A6C8-885A-539FC4C67551}"/>
              </a:ext>
            </a:extLst>
          </p:cNvPr>
          <p:cNvSpPr/>
          <p:nvPr/>
        </p:nvSpPr>
        <p:spPr>
          <a:xfrm>
            <a:off x="717671" y="1357745"/>
            <a:ext cx="10846256" cy="34913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5">
            <a:extLst>
              <a:ext uri="{FF2B5EF4-FFF2-40B4-BE49-F238E27FC236}">
                <a16:creationId xmlns:a16="http://schemas.microsoft.com/office/drawing/2014/main" id="{CB108A76-FB35-C7DB-6A91-C0BB266993C6}"/>
              </a:ext>
            </a:extLst>
          </p:cNvPr>
          <p:cNvSpPr/>
          <p:nvPr/>
        </p:nvSpPr>
        <p:spPr>
          <a:xfrm>
            <a:off x="10659466" y="5613180"/>
            <a:ext cx="360563" cy="211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45682F0D-6632-D929-6328-3184976B7052}"/>
              </a:ext>
            </a:extLst>
          </p:cNvPr>
          <p:cNvSpPr/>
          <p:nvPr/>
        </p:nvSpPr>
        <p:spPr>
          <a:xfrm>
            <a:off x="10226329" y="546160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8" name="Rectángulo: esquinas redondeadas 7">
            <a:extLst>
              <a:ext uri="{FF2B5EF4-FFF2-40B4-BE49-F238E27FC236}">
                <a16:creationId xmlns:a16="http://schemas.microsoft.com/office/drawing/2014/main" id="{C61DBEFA-2524-80E2-C708-267D269F5A83}"/>
              </a:ext>
            </a:extLst>
          </p:cNvPr>
          <p:cNvSpPr/>
          <p:nvPr/>
        </p:nvSpPr>
        <p:spPr>
          <a:xfrm>
            <a:off x="2230582" y="5003667"/>
            <a:ext cx="7730836" cy="124165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a:t>
            </a:r>
            <a:r>
              <a:rPr lang="es-ES_tradnl" sz="1200" b="1" dirty="0"/>
              <a:t>Requerimientos generales </a:t>
            </a:r>
            <a:r>
              <a:rPr lang="es-ES_tradnl" sz="1200" dirty="0"/>
              <a:t>se muestran los créditos y/o cursos requeridos por el Programa (según lo definido en la pantalla inicial SMAPROG) y los cursos y/o créditos usados por el estudiante, según lo que ha cursado y aprobado. </a:t>
            </a:r>
          </a:p>
          <a:p>
            <a:endParaRPr lang="es-ES_tradnl" sz="1200" dirty="0"/>
          </a:p>
          <a:p>
            <a:pPr marL="228600" indent="-228600">
              <a:buFont typeface="+mj-lt"/>
              <a:buAutoNum type="arabicPeriod" startAt="7"/>
            </a:pPr>
            <a:r>
              <a:rPr lang="es-ES_tradnl" sz="1200" dirty="0"/>
              <a:t>Para regresar a la página principal de SMICRLT, presione </a:t>
            </a:r>
            <a:r>
              <a:rPr lang="es-ES_tradnl" sz="1200" b="1" dirty="0"/>
              <a:t>Anular</a:t>
            </a:r>
            <a:r>
              <a:rPr lang="es-ES_tradnl" sz="1200" dirty="0"/>
              <a:t>.</a:t>
            </a:r>
          </a:p>
        </p:txBody>
      </p:sp>
    </p:spTree>
    <p:extLst>
      <p:ext uri="{BB962C8B-B14F-4D97-AF65-F5344CB8AC3E}">
        <p14:creationId xmlns:p14="http://schemas.microsoft.com/office/powerpoint/2010/main" val="322211276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E2FD3-EE24-FE62-49ED-2273C895CD5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23122CB-E340-38F0-2EE9-39CA8164DC18}"/>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696E6374-DEC4-0D14-E427-E0A1B7B387B5}"/>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A4FD50E8-AC81-3B25-E37A-703F4A53F5D8}"/>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3" name="Flecha: a la derecha 2">
            <a:extLst>
              <a:ext uri="{FF2B5EF4-FFF2-40B4-BE49-F238E27FC236}">
                <a16:creationId xmlns:a16="http://schemas.microsoft.com/office/drawing/2014/main" id="{045A5089-3D3E-FFB9-4EBA-C67236321A64}"/>
              </a:ext>
            </a:extLst>
          </p:cNvPr>
          <p:cNvSpPr/>
          <p:nvPr/>
        </p:nvSpPr>
        <p:spPr>
          <a:xfrm rot="10800000">
            <a:off x="9158373" y="2453371"/>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1489123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1ACC-EBC7-DA10-37C7-935CDCE724FC}"/>
            </a:ext>
          </a:extLst>
        </p:cNvPr>
        <p:cNvGrpSpPr/>
        <p:nvPr/>
      </p:nvGrpSpPr>
      <p:grpSpPr>
        <a:xfrm>
          <a:off x="0" y="0"/>
          <a:ext cx="0" cy="0"/>
          <a:chOff x="0" y="0"/>
          <a:chExt cx="0" cy="0"/>
        </a:xfrm>
      </p:grpSpPr>
      <p:pic>
        <p:nvPicPr>
          <p:cNvPr id="19" name="Imagen 18">
            <a:extLst>
              <a:ext uri="{FF2B5EF4-FFF2-40B4-BE49-F238E27FC236}">
                <a16:creationId xmlns:a16="http://schemas.microsoft.com/office/drawing/2014/main" id="{D18F76D2-D4CE-5E40-3003-9E0D61905628}"/>
              </a:ext>
            </a:extLst>
          </p:cNvPr>
          <p:cNvPicPr>
            <a:picLocks noChangeAspect="1"/>
          </p:cNvPicPr>
          <p:nvPr/>
        </p:nvPicPr>
        <p:blipFill>
          <a:blip r:embed="rId3"/>
          <a:stretch>
            <a:fillRect/>
          </a:stretch>
        </p:blipFill>
        <p:spPr>
          <a:xfrm>
            <a:off x="717671" y="922056"/>
            <a:ext cx="10846256" cy="4968139"/>
          </a:xfrm>
          <a:prstGeom prst="rect">
            <a:avLst/>
          </a:prstGeom>
        </p:spPr>
      </p:pic>
      <p:sp>
        <p:nvSpPr>
          <p:cNvPr id="2" name="Marcador de texto vertical 1">
            <a:extLst>
              <a:ext uri="{FF2B5EF4-FFF2-40B4-BE49-F238E27FC236}">
                <a16:creationId xmlns:a16="http://schemas.microsoft.com/office/drawing/2014/main" id="{227E4AC8-B515-4B95-2E68-FC4C009781F6}"/>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26ED7C4A-E626-858B-260A-B2CED7EA1DD2}"/>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5" name="Rectángulo 4">
            <a:extLst>
              <a:ext uri="{FF2B5EF4-FFF2-40B4-BE49-F238E27FC236}">
                <a16:creationId xmlns:a16="http://schemas.microsoft.com/office/drawing/2014/main" id="{3387DFA1-EF76-DD5A-1FDF-A7FF19C54AAD}"/>
              </a:ext>
            </a:extLst>
          </p:cNvPr>
          <p:cNvSpPr/>
          <p:nvPr/>
        </p:nvSpPr>
        <p:spPr>
          <a:xfrm>
            <a:off x="717671" y="1357745"/>
            <a:ext cx="10846256" cy="34913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5">
            <a:extLst>
              <a:ext uri="{FF2B5EF4-FFF2-40B4-BE49-F238E27FC236}">
                <a16:creationId xmlns:a16="http://schemas.microsoft.com/office/drawing/2014/main" id="{9C729D96-5054-6CA0-72D5-CB2484253B8F}"/>
              </a:ext>
            </a:extLst>
          </p:cNvPr>
          <p:cNvSpPr/>
          <p:nvPr/>
        </p:nvSpPr>
        <p:spPr>
          <a:xfrm>
            <a:off x="938996" y="5594343"/>
            <a:ext cx="360563" cy="2115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94C9539E-97F5-C7EB-7D3A-597FD83697FD}"/>
              </a:ext>
            </a:extLst>
          </p:cNvPr>
          <p:cNvSpPr/>
          <p:nvPr/>
        </p:nvSpPr>
        <p:spPr>
          <a:xfrm>
            <a:off x="505859" y="544276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8</a:t>
            </a:r>
            <a:endParaRPr lang="es-419" sz="1100" noProof="0" dirty="0"/>
          </a:p>
        </p:txBody>
      </p:sp>
      <p:sp>
        <p:nvSpPr>
          <p:cNvPr id="8" name="Rectángulo: esquinas redondeadas 7">
            <a:extLst>
              <a:ext uri="{FF2B5EF4-FFF2-40B4-BE49-F238E27FC236}">
                <a16:creationId xmlns:a16="http://schemas.microsoft.com/office/drawing/2014/main" id="{FCCB8AEA-88E9-421B-44C6-2592A450B174}"/>
              </a:ext>
            </a:extLst>
          </p:cNvPr>
          <p:cNvSpPr/>
          <p:nvPr/>
        </p:nvSpPr>
        <p:spPr>
          <a:xfrm>
            <a:off x="2230582" y="5003667"/>
            <a:ext cx="7730836" cy="124165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a:t>
            </a:r>
            <a:r>
              <a:rPr lang="es-ES_tradnl" sz="1200" b="1" dirty="0"/>
              <a:t>Requerimientos </a:t>
            </a:r>
            <a:r>
              <a:rPr lang="es-ES_tradnl" sz="1200" b="1" dirty="0" err="1"/>
              <a:t>cocurriculares</a:t>
            </a:r>
            <a:r>
              <a:rPr lang="es-ES_tradnl" sz="1200" b="1" dirty="0"/>
              <a:t> </a:t>
            </a:r>
            <a:r>
              <a:rPr lang="es-ES_tradnl" sz="1200" dirty="0"/>
              <a:t>se muestran nuevamente los créditos y/o cursos requeridos por el Programa (según lo definido en la pantalla inicial SMAPROG) y los cursos y/o créditos usados por el estudiante, según lo que ha cursado y aprobado. </a:t>
            </a:r>
          </a:p>
          <a:p>
            <a:endParaRPr lang="es-ES_tradnl" sz="1200" dirty="0"/>
          </a:p>
          <a:p>
            <a:pPr marL="228600" indent="-228600">
              <a:buFont typeface="+mj-lt"/>
              <a:buAutoNum type="arabicPeriod" startAt="8"/>
            </a:pPr>
            <a:r>
              <a:rPr lang="es-ES_tradnl" sz="1200" dirty="0"/>
              <a:t>Pase al siguiente bloque dos (2) veces</a:t>
            </a:r>
          </a:p>
        </p:txBody>
      </p:sp>
    </p:spTree>
    <p:extLst>
      <p:ext uri="{BB962C8B-B14F-4D97-AF65-F5344CB8AC3E}">
        <p14:creationId xmlns:p14="http://schemas.microsoft.com/office/powerpoint/2010/main" val="27197193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55E57C57-9C36-1EF4-532B-2B589AF693C5}"/>
              </a:ext>
            </a:extLst>
          </p:cNvPr>
          <p:cNvPicPr>
            <a:picLocks noChangeAspect="1"/>
          </p:cNvPicPr>
          <p:nvPr/>
        </p:nvPicPr>
        <p:blipFill>
          <a:blip r:embed="rId3"/>
          <a:stretch>
            <a:fillRect/>
          </a:stretch>
        </p:blipFill>
        <p:spPr>
          <a:xfrm>
            <a:off x="873759" y="1016769"/>
            <a:ext cx="10727114" cy="4871385"/>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8" name="Title 12">
            <a:extLst>
              <a:ext uri="{FF2B5EF4-FFF2-40B4-BE49-F238E27FC236}">
                <a16:creationId xmlns:a16="http://schemas.microsoft.com/office/drawing/2014/main" id="{CA034409-3D62-BCFE-00CF-C64B96DFBD54}"/>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10" name="Rectángulo: esquinas redondeadas 9">
            <a:extLst>
              <a:ext uri="{FF2B5EF4-FFF2-40B4-BE49-F238E27FC236}">
                <a16:creationId xmlns:a16="http://schemas.microsoft.com/office/drawing/2014/main" id="{283BCCE8-C1C7-BF9B-83DE-E77A95A1E90D}"/>
              </a:ext>
            </a:extLst>
          </p:cNvPr>
          <p:cNvSpPr/>
          <p:nvPr/>
        </p:nvSpPr>
        <p:spPr>
          <a:xfrm>
            <a:off x="2230582" y="3581267"/>
            <a:ext cx="7730836" cy="124165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visualiza el o los requisitos no curso que debe cumplir el alumno para el programa. Al no tener la casilla cumple marcada, el estudiante no ha cumplido con este requisito.</a:t>
            </a:r>
          </a:p>
          <a:p>
            <a:endParaRPr lang="es-ES_tradnl" sz="1200" dirty="0"/>
          </a:p>
          <a:p>
            <a:pPr marL="228600" indent="-228600">
              <a:buFont typeface="+mj-lt"/>
              <a:buAutoNum type="arabicPeriod" startAt="9"/>
            </a:pPr>
            <a:r>
              <a:rPr lang="es-ES_tradnl" sz="1200" dirty="0"/>
              <a:t>Para regresar a la página principal de SMICRLT, presione </a:t>
            </a:r>
            <a:r>
              <a:rPr lang="es-ES_tradnl" sz="1200" b="1" dirty="0"/>
              <a:t>Anular</a:t>
            </a:r>
            <a:endParaRPr lang="es-ES_tradnl" sz="1200" dirty="0"/>
          </a:p>
        </p:txBody>
      </p:sp>
      <p:sp>
        <p:nvSpPr>
          <p:cNvPr id="11" name="Rectángulo 10">
            <a:extLst>
              <a:ext uri="{FF2B5EF4-FFF2-40B4-BE49-F238E27FC236}">
                <a16:creationId xmlns:a16="http://schemas.microsoft.com/office/drawing/2014/main" id="{01C9EFDE-2678-BE99-8E7B-C4A2980DA5F6}"/>
              </a:ext>
            </a:extLst>
          </p:cNvPr>
          <p:cNvSpPr/>
          <p:nvPr/>
        </p:nvSpPr>
        <p:spPr>
          <a:xfrm>
            <a:off x="873759" y="2013527"/>
            <a:ext cx="687186" cy="26597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11">
            <a:extLst>
              <a:ext uri="{FF2B5EF4-FFF2-40B4-BE49-F238E27FC236}">
                <a16:creationId xmlns:a16="http://schemas.microsoft.com/office/drawing/2014/main" id="{3E2FDD54-75B1-7B6C-EB98-9135897E39CE}"/>
              </a:ext>
            </a:extLst>
          </p:cNvPr>
          <p:cNvSpPr/>
          <p:nvPr/>
        </p:nvSpPr>
        <p:spPr>
          <a:xfrm>
            <a:off x="10581759" y="5595021"/>
            <a:ext cx="433137" cy="20233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3" name="Rectángulo redondeado 15">
            <a:extLst>
              <a:ext uri="{FF2B5EF4-FFF2-40B4-BE49-F238E27FC236}">
                <a16:creationId xmlns:a16="http://schemas.microsoft.com/office/drawing/2014/main" id="{B1786154-3FD8-3EE0-A2B7-C6513DEC8689}"/>
              </a:ext>
            </a:extLst>
          </p:cNvPr>
          <p:cNvSpPr/>
          <p:nvPr/>
        </p:nvSpPr>
        <p:spPr>
          <a:xfrm>
            <a:off x="10139386" y="5452678"/>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Tree>
    <p:extLst>
      <p:ext uri="{BB962C8B-B14F-4D97-AF65-F5344CB8AC3E}">
        <p14:creationId xmlns:p14="http://schemas.microsoft.com/office/powerpoint/2010/main" val="27654884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95112-2B62-176A-A1B3-FA9D04454CC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75AFB15-BDD2-46A1-94BA-AE31DC2615DB}"/>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6719EC0A-9330-3B92-03D0-3A55245DEDA8}"/>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B11D26B2-B8A5-F024-F96A-74DD62762990}"/>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3" name="Flecha: a la derecha 2">
            <a:extLst>
              <a:ext uri="{FF2B5EF4-FFF2-40B4-BE49-F238E27FC236}">
                <a16:creationId xmlns:a16="http://schemas.microsoft.com/office/drawing/2014/main" id="{3B26EEAE-EE25-F962-AB68-DA7A2D363B64}"/>
              </a:ext>
            </a:extLst>
          </p:cNvPr>
          <p:cNvSpPr/>
          <p:nvPr/>
        </p:nvSpPr>
        <p:spPr>
          <a:xfrm rot="10800000">
            <a:off x="9121427" y="2905953"/>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21298671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9164977C-29EB-B779-D7E7-F13E9BBEF076}"/>
              </a:ext>
            </a:extLst>
          </p:cNvPr>
          <p:cNvPicPr>
            <a:picLocks noChangeAspect="1"/>
          </p:cNvPicPr>
          <p:nvPr/>
        </p:nvPicPr>
        <p:blipFill>
          <a:blip r:embed="rId3"/>
          <a:stretch>
            <a:fillRect/>
          </a:stretch>
        </p:blipFill>
        <p:spPr>
          <a:xfrm>
            <a:off x="609601" y="852669"/>
            <a:ext cx="10797308" cy="4903261"/>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A536BED6-C5CF-50C4-9BFA-94ECADC42F5C}"/>
              </a:ext>
            </a:extLst>
          </p:cNvPr>
          <p:cNvSpPr/>
          <p:nvPr/>
        </p:nvSpPr>
        <p:spPr>
          <a:xfrm>
            <a:off x="1219203" y="3861571"/>
            <a:ext cx="9821730" cy="87764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Se muestra la lista de áreas asociadas al programa, según el CAPP ejecutado, con los créditos y cursos otorgados al estudiante en cada una de ellas.  </a:t>
            </a:r>
          </a:p>
        </p:txBody>
      </p:sp>
      <p:sp>
        <p:nvSpPr>
          <p:cNvPr id="6" name="Rectángulo 5">
            <a:extLst>
              <a:ext uri="{FF2B5EF4-FFF2-40B4-BE49-F238E27FC236}">
                <a16:creationId xmlns:a16="http://schemas.microsoft.com/office/drawing/2014/main" id="{2723745B-5F95-8EEE-E4AB-0E9D53C77711}"/>
              </a:ext>
            </a:extLst>
          </p:cNvPr>
          <p:cNvSpPr/>
          <p:nvPr/>
        </p:nvSpPr>
        <p:spPr>
          <a:xfrm>
            <a:off x="609601" y="1285240"/>
            <a:ext cx="10846256" cy="21437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8035375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74D84-EC7C-4A30-A4F9-3EF6BEB62754}"/>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8104D655-6F35-AAC4-9AF0-56371DDBA695}"/>
              </a:ext>
            </a:extLst>
          </p:cNvPr>
          <p:cNvPicPr>
            <a:picLocks noChangeAspect="1"/>
          </p:cNvPicPr>
          <p:nvPr/>
        </p:nvPicPr>
        <p:blipFill>
          <a:blip r:embed="rId3"/>
          <a:stretch>
            <a:fillRect/>
          </a:stretch>
        </p:blipFill>
        <p:spPr>
          <a:xfrm>
            <a:off x="609601" y="852669"/>
            <a:ext cx="10797308" cy="4903261"/>
          </a:xfrm>
          <a:prstGeom prst="rect">
            <a:avLst/>
          </a:prstGeom>
        </p:spPr>
      </p:pic>
      <p:sp>
        <p:nvSpPr>
          <p:cNvPr id="2" name="Marcador de texto vertical 1">
            <a:extLst>
              <a:ext uri="{FF2B5EF4-FFF2-40B4-BE49-F238E27FC236}">
                <a16:creationId xmlns:a16="http://schemas.microsoft.com/office/drawing/2014/main" id="{DC929001-5B5B-F9DA-BAF9-300AE0771EA8}"/>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D08C3F4C-DB00-5282-8B63-64656F9C999C}"/>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6" name="Rectángulo 5">
            <a:extLst>
              <a:ext uri="{FF2B5EF4-FFF2-40B4-BE49-F238E27FC236}">
                <a16:creationId xmlns:a16="http://schemas.microsoft.com/office/drawing/2014/main" id="{1F3C3112-2BB5-19DB-B9D9-46F70C3321CD}"/>
              </a:ext>
            </a:extLst>
          </p:cNvPr>
          <p:cNvSpPr/>
          <p:nvPr/>
        </p:nvSpPr>
        <p:spPr>
          <a:xfrm>
            <a:off x="609601" y="1285240"/>
            <a:ext cx="10846256" cy="214376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7">
            <a:extLst>
              <a:ext uri="{FF2B5EF4-FFF2-40B4-BE49-F238E27FC236}">
                <a16:creationId xmlns:a16="http://schemas.microsoft.com/office/drawing/2014/main" id="{51327B00-25C3-A704-1187-75D3103B528D}"/>
              </a:ext>
            </a:extLst>
          </p:cNvPr>
          <p:cNvSpPr/>
          <p:nvPr/>
        </p:nvSpPr>
        <p:spPr>
          <a:xfrm>
            <a:off x="5732668" y="2147214"/>
            <a:ext cx="1471696" cy="24500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CEE5E2EC-D8A4-3945-E10B-EE6C4EC86341}"/>
              </a:ext>
            </a:extLst>
          </p:cNvPr>
          <p:cNvSpPr/>
          <p:nvPr/>
        </p:nvSpPr>
        <p:spPr>
          <a:xfrm>
            <a:off x="5290295" y="2004871"/>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grpSp>
        <p:nvGrpSpPr>
          <p:cNvPr id="11" name="Grupo 10">
            <a:extLst>
              <a:ext uri="{FF2B5EF4-FFF2-40B4-BE49-F238E27FC236}">
                <a16:creationId xmlns:a16="http://schemas.microsoft.com/office/drawing/2014/main" id="{FC361D91-2FBB-6247-3B17-E6650C3331F3}"/>
              </a:ext>
            </a:extLst>
          </p:cNvPr>
          <p:cNvGrpSpPr/>
          <p:nvPr/>
        </p:nvGrpSpPr>
        <p:grpSpPr>
          <a:xfrm>
            <a:off x="1357748" y="5019310"/>
            <a:ext cx="9821730" cy="1107593"/>
            <a:chOff x="1357748" y="5019310"/>
            <a:chExt cx="9821730" cy="1107593"/>
          </a:xfrm>
        </p:grpSpPr>
        <p:sp>
          <p:nvSpPr>
            <p:cNvPr id="7" name="Rectángulo: esquinas redondeadas 6">
              <a:extLst>
                <a:ext uri="{FF2B5EF4-FFF2-40B4-BE49-F238E27FC236}">
                  <a16:creationId xmlns:a16="http://schemas.microsoft.com/office/drawing/2014/main" id="{9D62F81A-6715-372E-4FD9-C59FC9838726}"/>
                </a:ext>
              </a:extLst>
            </p:cNvPr>
            <p:cNvSpPr/>
            <p:nvPr/>
          </p:nvSpPr>
          <p:spPr>
            <a:xfrm>
              <a:off x="1357748" y="5019310"/>
              <a:ext cx="9821730"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la parte inferior de la página, se observa si el estudiante cumple o no cumple con los elementos definidos para cada Área, según lo configurado en SMAAREA.</a:t>
              </a:r>
            </a:p>
            <a:p>
              <a:endParaRPr lang="es-ES_tradnl" sz="1200" dirty="0"/>
            </a:p>
            <a:p>
              <a:pPr marL="228600" indent="-228600">
                <a:buFont typeface="+mj-lt"/>
                <a:buAutoNum type="arabicPeriod" startAt="10"/>
              </a:pPr>
              <a:r>
                <a:rPr lang="es-ES_tradnl" sz="1200" dirty="0"/>
                <a:t>Seleccione el área para la cual desea consultar el cumplimiento.</a:t>
              </a:r>
            </a:p>
            <a:p>
              <a:pPr marL="228600" indent="-228600">
                <a:buFont typeface="+mj-lt"/>
                <a:buAutoNum type="arabicPeriod" startAt="10"/>
              </a:pPr>
              <a:r>
                <a:rPr lang="es-ES_tradnl" sz="1200" dirty="0"/>
                <a:t>Al presionar el botón         (que no esté gris) se puede ver el detalle de cada elemento del área que se está consultando:</a:t>
              </a:r>
            </a:p>
          </p:txBody>
        </p:sp>
        <p:pic>
          <p:nvPicPr>
            <p:cNvPr id="10" name="Imagen 9">
              <a:extLst>
                <a:ext uri="{FF2B5EF4-FFF2-40B4-BE49-F238E27FC236}">
                  <a16:creationId xmlns:a16="http://schemas.microsoft.com/office/drawing/2014/main" id="{00DBBB7E-B560-B8FA-764E-44CAB56E5DB0}"/>
                </a:ext>
              </a:extLst>
            </p:cNvPr>
            <p:cNvPicPr>
              <a:picLocks noChangeAspect="1"/>
            </p:cNvPicPr>
            <p:nvPr/>
          </p:nvPicPr>
          <p:blipFill>
            <a:blip r:embed="rId4"/>
            <a:stretch>
              <a:fillRect/>
            </a:stretch>
          </p:blipFill>
          <p:spPr>
            <a:xfrm>
              <a:off x="3128706" y="5850929"/>
              <a:ext cx="180975" cy="180975"/>
            </a:xfrm>
            <a:prstGeom prst="rect">
              <a:avLst/>
            </a:prstGeom>
          </p:spPr>
        </p:pic>
      </p:grpSp>
      <p:sp>
        <p:nvSpPr>
          <p:cNvPr id="12" name="Rectángulo 11">
            <a:extLst>
              <a:ext uri="{FF2B5EF4-FFF2-40B4-BE49-F238E27FC236}">
                <a16:creationId xmlns:a16="http://schemas.microsoft.com/office/drawing/2014/main" id="{B4A29037-1F2F-5AF8-B31F-D6682C57B486}"/>
              </a:ext>
            </a:extLst>
          </p:cNvPr>
          <p:cNvSpPr/>
          <p:nvPr/>
        </p:nvSpPr>
        <p:spPr>
          <a:xfrm>
            <a:off x="8793017" y="3843099"/>
            <a:ext cx="221673" cy="15624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826BC76B-205A-6CD2-F299-BB425228D095}"/>
              </a:ext>
            </a:extLst>
          </p:cNvPr>
          <p:cNvSpPr/>
          <p:nvPr/>
        </p:nvSpPr>
        <p:spPr>
          <a:xfrm>
            <a:off x="8310932" y="378116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34461433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F9A1E-5286-B1D4-3BD5-F9BFC4372A9C}"/>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A1ACC873-D709-9E76-C628-DDE8465D70C1}"/>
              </a:ext>
            </a:extLst>
          </p:cNvPr>
          <p:cNvPicPr>
            <a:picLocks noChangeAspect="1"/>
          </p:cNvPicPr>
          <p:nvPr/>
        </p:nvPicPr>
        <p:blipFill>
          <a:blip r:embed="rId3"/>
          <a:stretch>
            <a:fillRect/>
          </a:stretch>
        </p:blipFill>
        <p:spPr>
          <a:xfrm>
            <a:off x="609601" y="852669"/>
            <a:ext cx="10797308" cy="4903261"/>
          </a:xfrm>
          <a:prstGeom prst="rect">
            <a:avLst/>
          </a:prstGeom>
        </p:spPr>
      </p:pic>
      <p:sp>
        <p:nvSpPr>
          <p:cNvPr id="2" name="Marcador de texto vertical 1">
            <a:extLst>
              <a:ext uri="{FF2B5EF4-FFF2-40B4-BE49-F238E27FC236}">
                <a16:creationId xmlns:a16="http://schemas.microsoft.com/office/drawing/2014/main" id="{4B433079-318F-0EE3-A01C-1691BB3AB9C6}"/>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62C1736F-0216-4814-E693-E7F80963A998}"/>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15" name="Flecha: a la derecha 14">
            <a:extLst>
              <a:ext uri="{FF2B5EF4-FFF2-40B4-BE49-F238E27FC236}">
                <a16:creationId xmlns:a16="http://schemas.microsoft.com/office/drawing/2014/main" id="{4F35202B-7598-8958-0E5E-7F41B99E0823}"/>
              </a:ext>
            </a:extLst>
          </p:cNvPr>
          <p:cNvSpPr/>
          <p:nvPr/>
        </p:nvSpPr>
        <p:spPr>
          <a:xfrm rot="10800000">
            <a:off x="9093718" y="3829589"/>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9002350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22286-DB1D-BEC3-2A4F-49387B96932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985E29C6-2DFE-5B12-6718-FFA141A69E82}"/>
              </a:ext>
            </a:extLst>
          </p:cNvPr>
          <p:cNvPicPr>
            <a:picLocks noChangeAspect="1"/>
          </p:cNvPicPr>
          <p:nvPr/>
        </p:nvPicPr>
        <p:blipFill>
          <a:blip r:embed="rId3"/>
          <a:stretch>
            <a:fillRect/>
          </a:stretch>
        </p:blipFill>
        <p:spPr>
          <a:xfrm>
            <a:off x="609601" y="826096"/>
            <a:ext cx="11046566" cy="5024833"/>
          </a:xfrm>
          <a:prstGeom prst="rect">
            <a:avLst/>
          </a:prstGeom>
        </p:spPr>
      </p:pic>
      <p:sp>
        <p:nvSpPr>
          <p:cNvPr id="2" name="Marcador de texto vertical 1">
            <a:extLst>
              <a:ext uri="{FF2B5EF4-FFF2-40B4-BE49-F238E27FC236}">
                <a16:creationId xmlns:a16="http://schemas.microsoft.com/office/drawing/2014/main" id="{6ED845DD-003E-9834-6558-0D3BD180C77F}"/>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2C7E4415-759D-B588-A380-B497CEB26D61}"/>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B18A8489-F147-A492-C536-4983603F69CB}"/>
              </a:ext>
            </a:extLst>
          </p:cNvPr>
          <p:cNvSpPr/>
          <p:nvPr/>
        </p:nvSpPr>
        <p:spPr>
          <a:xfrm>
            <a:off x="1459348" y="4708999"/>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Requerimientos Generales se muestran los créditos y/o cursos </a:t>
            </a:r>
            <a:r>
              <a:rPr lang="es-ES_tradnl" sz="1200" b="1" dirty="0"/>
              <a:t>requeridos</a:t>
            </a:r>
            <a:r>
              <a:rPr lang="es-ES_tradnl" sz="1200" dirty="0"/>
              <a:t> para el área (según lo definido en la pantalla inicial SMAAREA) y los cursos y/o créditos usados por el estudiante, según lo que ha cursado y aprobado. </a:t>
            </a:r>
          </a:p>
          <a:p>
            <a:endParaRPr lang="es-ES_tradnl" sz="1200" dirty="0"/>
          </a:p>
          <a:p>
            <a:pPr marL="228600" indent="-228600">
              <a:buFont typeface="+mj-lt"/>
              <a:buAutoNum type="arabicPeriod" startAt="12"/>
            </a:pPr>
            <a:r>
              <a:rPr lang="es-ES_tradnl" sz="1200" dirty="0"/>
              <a:t>Para regresar a la página principal de las áreas, presione </a:t>
            </a:r>
            <a:r>
              <a:rPr lang="es-ES_tradnl" sz="1200" b="1" dirty="0"/>
              <a:t>Anular</a:t>
            </a:r>
            <a:r>
              <a:rPr lang="es-ES_tradnl" sz="1200" dirty="0"/>
              <a:t>.</a:t>
            </a:r>
          </a:p>
        </p:txBody>
      </p:sp>
      <p:sp>
        <p:nvSpPr>
          <p:cNvPr id="9" name="Rectángulo 8">
            <a:extLst>
              <a:ext uri="{FF2B5EF4-FFF2-40B4-BE49-F238E27FC236}">
                <a16:creationId xmlns:a16="http://schemas.microsoft.com/office/drawing/2014/main" id="{813617D1-6A2F-FBDB-2B23-78F5C4F99859}"/>
              </a:ext>
            </a:extLst>
          </p:cNvPr>
          <p:cNvSpPr/>
          <p:nvPr/>
        </p:nvSpPr>
        <p:spPr>
          <a:xfrm>
            <a:off x="609601" y="1095815"/>
            <a:ext cx="10846256" cy="34913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F6BE5FCA-6209-904E-2EFB-011808867FE5}"/>
              </a:ext>
            </a:extLst>
          </p:cNvPr>
          <p:cNvSpPr/>
          <p:nvPr/>
        </p:nvSpPr>
        <p:spPr>
          <a:xfrm>
            <a:off x="10621815" y="5544002"/>
            <a:ext cx="433137" cy="21818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2" name="Rectángulo redondeado 15">
            <a:extLst>
              <a:ext uri="{FF2B5EF4-FFF2-40B4-BE49-F238E27FC236}">
                <a16:creationId xmlns:a16="http://schemas.microsoft.com/office/drawing/2014/main" id="{6698987C-4829-C7AE-5701-4D194608AEC3}"/>
              </a:ext>
            </a:extLst>
          </p:cNvPr>
          <p:cNvSpPr/>
          <p:nvPr/>
        </p:nvSpPr>
        <p:spPr>
          <a:xfrm>
            <a:off x="10139730" y="554400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Tree>
    <p:extLst>
      <p:ext uri="{BB962C8B-B14F-4D97-AF65-F5344CB8AC3E}">
        <p14:creationId xmlns:p14="http://schemas.microsoft.com/office/powerpoint/2010/main" val="14729388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0AAF8-8A43-EA1D-E796-1F5F75EF95F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D1432DED-6B97-F3F6-C60F-6936C80191BF}"/>
              </a:ext>
            </a:extLst>
          </p:cNvPr>
          <p:cNvPicPr>
            <a:picLocks noChangeAspect="1"/>
          </p:cNvPicPr>
          <p:nvPr/>
        </p:nvPicPr>
        <p:blipFill>
          <a:blip r:embed="rId3"/>
          <a:stretch>
            <a:fillRect/>
          </a:stretch>
        </p:blipFill>
        <p:spPr>
          <a:xfrm>
            <a:off x="609601" y="852669"/>
            <a:ext cx="10797308" cy="4903261"/>
          </a:xfrm>
          <a:prstGeom prst="rect">
            <a:avLst/>
          </a:prstGeom>
        </p:spPr>
      </p:pic>
      <p:sp>
        <p:nvSpPr>
          <p:cNvPr id="2" name="Marcador de texto vertical 1">
            <a:extLst>
              <a:ext uri="{FF2B5EF4-FFF2-40B4-BE49-F238E27FC236}">
                <a16:creationId xmlns:a16="http://schemas.microsoft.com/office/drawing/2014/main" id="{D611B832-98A2-884D-DB65-22FE2A716C3D}"/>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35FFD0B1-3986-7839-646D-0D567D742E91}"/>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15" name="Flecha: a la derecha 14">
            <a:extLst>
              <a:ext uri="{FF2B5EF4-FFF2-40B4-BE49-F238E27FC236}">
                <a16:creationId xmlns:a16="http://schemas.microsoft.com/office/drawing/2014/main" id="{94C440FF-F1AA-CAE5-4E96-FB6D3F75AA78}"/>
              </a:ext>
            </a:extLst>
          </p:cNvPr>
          <p:cNvSpPr/>
          <p:nvPr/>
        </p:nvSpPr>
        <p:spPr>
          <a:xfrm rot="10800000">
            <a:off x="9010591" y="4393007"/>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94695537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2C464-44F1-DA11-24AD-98BF07201672}"/>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D9596BD1-C6FA-4E39-7565-256FE4F6AF21}"/>
              </a:ext>
            </a:extLst>
          </p:cNvPr>
          <p:cNvPicPr>
            <a:picLocks noChangeAspect="1"/>
          </p:cNvPicPr>
          <p:nvPr/>
        </p:nvPicPr>
        <p:blipFill>
          <a:blip r:embed="rId3"/>
          <a:stretch>
            <a:fillRect/>
          </a:stretch>
        </p:blipFill>
        <p:spPr>
          <a:xfrm>
            <a:off x="609601" y="826096"/>
            <a:ext cx="10797308" cy="4894555"/>
          </a:xfrm>
          <a:prstGeom prst="rect">
            <a:avLst/>
          </a:prstGeom>
        </p:spPr>
      </p:pic>
      <p:sp>
        <p:nvSpPr>
          <p:cNvPr id="2" name="Marcador de texto vertical 1">
            <a:extLst>
              <a:ext uri="{FF2B5EF4-FFF2-40B4-BE49-F238E27FC236}">
                <a16:creationId xmlns:a16="http://schemas.microsoft.com/office/drawing/2014/main" id="{8798C9A1-2EDE-98C7-F2A2-417591967EF8}"/>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90FFD0C1-CB18-4301-C09A-A06C8224B534}"/>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E3AB6491-AF51-8DA4-E1A2-42E9D59C8A68}"/>
              </a:ext>
            </a:extLst>
          </p:cNvPr>
          <p:cNvSpPr/>
          <p:nvPr/>
        </p:nvSpPr>
        <p:spPr>
          <a:xfrm>
            <a:off x="2010761" y="4204485"/>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Requerimientos de detalle se muestran las reglas definidas para el área (según lo definido en SMAAREA) . Las reglas cumplidas por el alumno estarán marcadas en la columna Cumple.</a:t>
            </a:r>
          </a:p>
        </p:txBody>
      </p:sp>
      <p:sp>
        <p:nvSpPr>
          <p:cNvPr id="14" name="Rectángulo 13">
            <a:extLst>
              <a:ext uri="{FF2B5EF4-FFF2-40B4-BE49-F238E27FC236}">
                <a16:creationId xmlns:a16="http://schemas.microsoft.com/office/drawing/2014/main" id="{8E2E8465-73F3-A932-2BDB-C782B714D6FD}"/>
              </a:ext>
            </a:extLst>
          </p:cNvPr>
          <p:cNvSpPr/>
          <p:nvPr/>
        </p:nvSpPr>
        <p:spPr>
          <a:xfrm>
            <a:off x="609601" y="1606170"/>
            <a:ext cx="258617" cy="116473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15">
            <a:extLst>
              <a:ext uri="{FF2B5EF4-FFF2-40B4-BE49-F238E27FC236}">
                <a16:creationId xmlns:a16="http://schemas.microsoft.com/office/drawing/2014/main" id="{F33A04E6-789F-F6DE-F8BB-4F9BBF65BA28}"/>
              </a:ext>
            </a:extLst>
          </p:cNvPr>
          <p:cNvSpPr/>
          <p:nvPr/>
        </p:nvSpPr>
        <p:spPr>
          <a:xfrm>
            <a:off x="616322" y="1578461"/>
            <a:ext cx="10790587" cy="123863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6296080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95973-40BC-864A-E5CA-CA4E061DEE30}"/>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887BCFB6-E694-536E-321D-915A25CA54AA}"/>
              </a:ext>
            </a:extLst>
          </p:cNvPr>
          <p:cNvPicPr>
            <a:picLocks noChangeAspect="1"/>
          </p:cNvPicPr>
          <p:nvPr/>
        </p:nvPicPr>
        <p:blipFill>
          <a:blip r:embed="rId3"/>
          <a:stretch>
            <a:fillRect/>
          </a:stretch>
        </p:blipFill>
        <p:spPr>
          <a:xfrm>
            <a:off x="609601" y="826096"/>
            <a:ext cx="10797308" cy="4894555"/>
          </a:xfrm>
          <a:prstGeom prst="rect">
            <a:avLst/>
          </a:prstGeom>
        </p:spPr>
      </p:pic>
      <p:sp>
        <p:nvSpPr>
          <p:cNvPr id="2" name="Marcador de texto vertical 1">
            <a:extLst>
              <a:ext uri="{FF2B5EF4-FFF2-40B4-BE49-F238E27FC236}">
                <a16:creationId xmlns:a16="http://schemas.microsoft.com/office/drawing/2014/main" id="{B4153BB3-AAB0-919E-F2EF-F4204F9D8DFC}"/>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B5C4EB2C-8EAE-E1A7-962E-F13752A87201}"/>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F3DD474D-6CB0-90C3-B69F-8574922A1E06}"/>
              </a:ext>
            </a:extLst>
          </p:cNvPr>
          <p:cNvSpPr/>
          <p:nvPr/>
        </p:nvSpPr>
        <p:spPr>
          <a:xfrm>
            <a:off x="1791856" y="4463103"/>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3"/>
            </a:pPr>
            <a:r>
              <a:rPr lang="es-ES_tradnl" sz="1200" dirty="0"/>
              <a:t>Si desea verificar cómo (con qué condición) cumple el estudiante la regla, haga clic sobre la regla que desea consultar.</a:t>
            </a:r>
          </a:p>
          <a:p>
            <a:pPr marL="228600" indent="-228600">
              <a:buFont typeface="+mj-lt"/>
              <a:buAutoNum type="arabicPeriod" startAt="13"/>
            </a:pPr>
            <a:r>
              <a:rPr lang="es-ES_tradnl" sz="1200" dirty="0"/>
              <a:t>Presione el botón Regla</a:t>
            </a:r>
          </a:p>
        </p:txBody>
      </p:sp>
      <p:sp>
        <p:nvSpPr>
          <p:cNvPr id="14" name="Rectángulo 13">
            <a:extLst>
              <a:ext uri="{FF2B5EF4-FFF2-40B4-BE49-F238E27FC236}">
                <a16:creationId xmlns:a16="http://schemas.microsoft.com/office/drawing/2014/main" id="{B2079B5D-2BDC-F863-AF3F-BC549A746772}"/>
              </a:ext>
            </a:extLst>
          </p:cNvPr>
          <p:cNvSpPr/>
          <p:nvPr/>
        </p:nvSpPr>
        <p:spPr>
          <a:xfrm>
            <a:off x="1422400" y="1835409"/>
            <a:ext cx="461818" cy="1596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15">
            <a:extLst>
              <a:ext uri="{FF2B5EF4-FFF2-40B4-BE49-F238E27FC236}">
                <a16:creationId xmlns:a16="http://schemas.microsoft.com/office/drawing/2014/main" id="{46868B0D-978A-21EE-4295-E4BB6F2B36AC}"/>
              </a:ext>
            </a:extLst>
          </p:cNvPr>
          <p:cNvSpPr/>
          <p:nvPr/>
        </p:nvSpPr>
        <p:spPr>
          <a:xfrm flipV="1">
            <a:off x="616322" y="1459346"/>
            <a:ext cx="418151" cy="1570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EE2B99C2-BB39-2FA9-80EC-99E6EF787D26}"/>
              </a:ext>
            </a:extLst>
          </p:cNvPr>
          <p:cNvSpPr/>
          <p:nvPr/>
        </p:nvSpPr>
        <p:spPr>
          <a:xfrm>
            <a:off x="1890939" y="1995054"/>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4" name="Rectángulo redondeado 15">
            <a:extLst>
              <a:ext uri="{FF2B5EF4-FFF2-40B4-BE49-F238E27FC236}">
                <a16:creationId xmlns:a16="http://schemas.microsoft.com/office/drawing/2014/main" id="{C8F6958E-F5D9-BAC8-8E4D-8B262E1596C5}"/>
              </a:ext>
            </a:extLst>
          </p:cNvPr>
          <p:cNvSpPr/>
          <p:nvPr/>
        </p:nvSpPr>
        <p:spPr>
          <a:xfrm>
            <a:off x="1120421" y="144162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Tree>
    <p:extLst>
      <p:ext uri="{BB962C8B-B14F-4D97-AF65-F5344CB8AC3E}">
        <p14:creationId xmlns:p14="http://schemas.microsoft.com/office/powerpoint/2010/main" val="23065843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4EE9C-C6C9-B5BA-83BB-26A8FF538F4D}"/>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40A5C889-E466-F10B-F6F0-76EFF9A15B7D}"/>
              </a:ext>
            </a:extLst>
          </p:cNvPr>
          <p:cNvPicPr>
            <a:picLocks noChangeAspect="1"/>
          </p:cNvPicPr>
          <p:nvPr/>
        </p:nvPicPr>
        <p:blipFill>
          <a:blip r:embed="rId3"/>
          <a:stretch>
            <a:fillRect/>
          </a:stretch>
        </p:blipFill>
        <p:spPr>
          <a:xfrm>
            <a:off x="627407" y="685801"/>
            <a:ext cx="10778139" cy="4894556"/>
          </a:xfrm>
          <a:prstGeom prst="rect">
            <a:avLst/>
          </a:prstGeom>
        </p:spPr>
      </p:pic>
      <p:sp>
        <p:nvSpPr>
          <p:cNvPr id="2" name="Marcador de texto vertical 1">
            <a:extLst>
              <a:ext uri="{FF2B5EF4-FFF2-40B4-BE49-F238E27FC236}">
                <a16:creationId xmlns:a16="http://schemas.microsoft.com/office/drawing/2014/main" id="{1E7A5289-ECD5-C081-4124-A7F675BFD23B}"/>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D7AF9E49-64B1-09FB-AAC6-28EC43E967E7}"/>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940DB056-9049-404C-2E38-E1858EC51BC4}"/>
              </a:ext>
            </a:extLst>
          </p:cNvPr>
          <p:cNvSpPr/>
          <p:nvPr/>
        </p:nvSpPr>
        <p:spPr>
          <a:xfrm>
            <a:off x="1791856" y="4463103"/>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5"/>
            </a:pPr>
            <a:r>
              <a:rPr lang="es-ES_tradnl" sz="1200" dirty="0"/>
              <a:t>Pase al siguiente bloque y el sistema le mostrará la condición que cumple el estudiante (columna cumple marcada).</a:t>
            </a:r>
          </a:p>
          <a:p>
            <a:pPr marL="228600" indent="-228600">
              <a:buFont typeface="+mj-lt"/>
              <a:buAutoNum type="arabicPeriod" startAt="15"/>
            </a:pPr>
            <a:r>
              <a:rPr lang="es-ES_tradnl" sz="1200" dirty="0"/>
              <a:t>Presione el botón Anular para volver a la lista de Áreas</a:t>
            </a:r>
          </a:p>
        </p:txBody>
      </p:sp>
      <p:sp>
        <p:nvSpPr>
          <p:cNvPr id="14" name="Rectángulo 13">
            <a:extLst>
              <a:ext uri="{FF2B5EF4-FFF2-40B4-BE49-F238E27FC236}">
                <a16:creationId xmlns:a16="http://schemas.microsoft.com/office/drawing/2014/main" id="{D753E211-4636-24CB-E91B-9212AC651A23}"/>
              </a:ext>
            </a:extLst>
          </p:cNvPr>
          <p:cNvSpPr/>
          <p:nvPr/>
        </p:nvSpPr>
        <p:spPr>
          <a:xfrm>
            <a:off x="623207" y="2516592"/>
            <a:ext cx="10778138" cy="44828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15">
            <a:extLst>
              <a:ext uri="{FF2B5EF4-FFF2-40B4-BE49-F238E27FC236}">
                <a16:creationId xmlns:a16="http://schemas.microsoft.com/office/drawing/2014/main" id="{9CCEE929-EEE2-4C98-9809-81726CFD1196}"/>
              </a:ext>
            </a:extLst>
          </p:cNvPr>
          <p:cNvSpPr/>
          <p:nvPr/>
        </p:nvSpPr>
        <p:spPr>
          <a:xfrm flipV="1">
            <a:off x="937746" y="5266044"/>
            <a:ext cx="253745" cy="2295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CE435538-36F1-476A-0037-3B05227927FB}"/>
              </a:ext>
            </a:extLst>
          </p:cNvPr>
          <p:cNvSpPr/>
          <p:nvPr/>
        </p:nvSpPr>
        <p:spPr>
          <a:xfrm>
            <a:off x="10238259" y="5537693"/>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
        <p:nvSpPr>
          <p:cNvPr id="4" name="Rectángulo redondeado 15">
            <a:extLst>
              <a:ext uri="{FF2B5EF4-FFF2-40B4-BE49-F238E27FC236}">
                <a16:creationId xmlns:a16="http://schemas.microsoft.com/office/drawing/2014/main" id="{8C0C10CE-95E8-2B2D-B16F-B44629EDED3D}"/>
              </a:ext>
            </a:extLst>
          </p:cNvPr>
          <p:cNvSpPr/>
          <p:nvPr/>
        </p:nvSpPr>
        <p:spPr>
          <a:xfrm>
            <a:off x="1220172" y="527148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15</a:t>
            </a:r>
            <a:endParaRPr lang="es-419" sz="1100" noProof="0" dirty="0"/>
          </a:p>
        </p:txBody>
      </p:sp>
      <p:sp>
        <p:nvSpPr>
          <p:cNvPr id="10" name="Rectángulo 9">
            <a:extLst>
              <a:ext uri="{FF2B5EF4-FFF2-40B4-BE49-F238E27FC236}">
                <a16:creationId xmlns:a16="http://schemas.microsoft.com/office/drawing/2014/main" id="{B1766835-D7EA-08E8-6EFF-14682133B298}"/>
              </a:ext>
            </a:extLst>
          </p:cNvPr>
          <p:cNvSpPr/>
          <p:nvPr/>
        </p:nvSpPr>
        <p:spPr>
          <a:xfrm flipV="1">
            <a:off x="10407745" y="5275279"/>
            <a:ext cx="408037" cy="2295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2751808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02B8-1FD3-AE0B-502D-1497FFED57EB}"/>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C089913-DB3C-9982-35E6-F207C1AE4472}"/>
              </a:ext>
            </a:extLst>
          </p:cNvPr>
          <p:cNvPicPr>
            <a:picLocks noChangeAspect="1"/>
          </p:cNvPicPr>
          <p:nvPr/>
        </p:nvPicPr>
        <p:blipFill>
          <a:blip r:embed="rId3"/>
          <a:stretch>
            <a:fillRect/>
          </a:stretch>
        </p:blipFill>
        <p:spPr>
          <a:xfrm>
            <a:off x="609601" y="685801"/>
            <a:ext cx="10800145" cy="4915812"/>
          </a:xfrm>
          <a:prstGeom prst="rect">
            <a:avLst/>
          </a:prstGeom>
        </p:spPr>
      </p:pic>
      <p:sp>
        <p:nvSpPr>
          <p:cNvPr id="2" name="Marcador de texto vertical 1">
            <a:extLst>
              <a:ext uri="{FF2B5EF4-FFF2-40B4-BE49-F238E27FC236}">
                <a16:creationId xmlns:a16="http://schemas.microsoft.com/office/drawing/2014/main" id="{5279C6B4-28CE-59B7-FF3E-45917D942233}"/>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95412D61-8294-8A8D-6C49-CECA8CD94155}"/>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87144F2A-5336-1191-395F-637291D4C046}"/>
              </a:ext>
            </a:extLst>
          </p:cNvPr>
          <p:cNvSpPr/>
          <p:nvPr/>
        </p:nvSpPr>
        <p:spPr>
          <a:xfrm>
            <a:off x="1791856" y="4463103"/>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Sistema vuelve a la ventana que muestra el resumen te las áreas anexas al programa.</a:t>
            </a:r>
          </a:p>
          <a:p>
            <a:endParaRPr lang="es-ES_tradnl" sz="1200" dirty="0"/>
          </a:p>
          <a:p>
            <a:pPr marL="228600" indent="-228600">
              <a:buFont typeface="+mj-lt"/>
              <a:buAutoNum type="arabicPeriod" startAt="17"/>
            </a:pPr>
            <a:r>
              <a:rPr lang="es-ES_tradnl" sz="1200" dirty="0"/>
              <a:t>Presione el botón Regresar para volver a los resultados del Programa (SMICRLT).</a:t>
            </a:r>
          </a:p>
        </p:txBody>
      </p:sp>
      <p:sp>
        <p:nvSpPr>
          <p:cNvPr id="16" name="Rectángulo 15">
            <a:extLst>
              <a:ext uri="{FF2B5EF4-FFF2-40B4-BE49-F238E27FC236}">
                <a16:creationId xmlns:a16="http://schemas.microsoft.com/office/drawing/2014/main" id="{02EBDFD8-FC1C-BE28-8A80-F4A192E8B3A8}"/>
              </a:ext>
            </a:extLst>
          </p:cNvPr>
          <p:cNvSpPr/>
          <p:nvPr/>
        </p:nvSpPr>
        <p:spPr>
          <a:xfrm flipV="1">
            <a:off x="609601" y="1497795"/>
            <a:ext cx="526472" cy="22959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46A0CE29-E766-350C-8D5F-C183B601B4C7}"/>
              </a:ext>
            </a:extLst>
          </p:cNvPr>
          <p:cNvSpPr/>
          <p:nvPr/>
        </p:nvSpPr>
        <p:spPr>
          <a:xfrm>
            <a:off x="1219203" y="1556908"/>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17</a:t>
            </a:r>
            <a:endParaRPr lang="es-419" sz="1100" noProof="0" dirty="0"/>
          </a:p>
        </p:txBody>
      </p:sp>
    </p:spTree>
    <p:extLst>
      <p:ext uri="{BB962C8B-B14F-4D97-AF65-F5344CB8AC3E}">
        <p14:creationId xmlns:p14="http://schemas.microsoft.com/office/powerpoint/2010/main" val="343824233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58C2D-4014-EA4B-1793-B7E78153C54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EF6EE55-9802-6639-0FBD-444BFE900B09}"/>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C0F621AF-5A87-4663-4974-B73D81F6FCB3}"/>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F6A067C8-68A9-6732-94FA-D833B81FAC18}"/>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3" name="Flecha: a la derecha 2">
            <a:extLst>
              <a:ext uri="{FF2B5EF4-FFF2-40B4-BE49-F238E27FC236}">
                <a16:creationId xmlns:a16="http://schemas.microsoft.com/office/drawing/2014/main" id="{F08712EE-2470-9B5D-F30D-C4F14AF3DA18}"/>
              </a:ext>
            </a:extLst>
          </p:cNvPr>
          <p:cNvSpPr/>
          <p:nvPr/>
        </p:nvSpPr>
        <p:spPr>
          <a:xfrm rot="10800000">
            <a:off x="4087609" y="3201516"/>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7915677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F7839-3A38-2D04-8F81-1561912596D0}"/>
            </a:ext>
          </a:extLst>
        </p:cNvPr>
        <p:cNvGrpSpPr/>
        <p:nvPr/>
      </p:nvGrpSpPr>
      <p:grpSpPr>
        <a:xfrm>
          <a:off x="0" y="0"/>
          <a:ext cx="0" cy="0"/>
          <a:chOff x="0" y="0"/>
          <a:chExt cx="0" cy="0"/>
        </a:xfrm>
      </p:grpSpPr>
      <p:pic>
        <p:nvPicPr>
          <p:cNvPr id="11" name="Imagen 10">
            <a:extLst>
              <a:ext uri="{FF2B5EF4-FFF2-40B4-BE49-F238E27FC236}">
                <a16:creationId xmlns:a16="http://schemas.microsoft.com/office/drawing/2014/main" id="{05BD4DCE-9CC8-2167-A500-90B9CDF3F6E2}"/>
              </a:ext>
            </a:extLst>
          </p:cNvPr>
          <p:cNvPicPr>
            <a:picLocks noChangeAspect="1"/>
          </p:cNvPicPr>
          <p:nvPr/>
        </p:nvPicPr>
        <p:blipFill>
          <a:blip r:embed="rId3"/>
          <a:stretch>
            <a:fillRect/>
          </a:stretch>
        </p:blipFill>
        <p:spPr>
          <a:xfrm>
            <a:off x="646549" y="685800"/>
            <a:ext cx="10763197" cy="4893383"/>
          </a:xfrm>
          <a:prstGeom prst="rect">
            <a:avLst/>
          </a:prstGeom>
        </p:spPr>
      </p:pic>
      <p:sp>
        <p:nvSpPr>
          <p:cNvPr id="2" name="Marcador de texto vertical 1">
            <a:extLst>
              <a:ext uri="{FF2B5EF4-FFF2-40B4-BE49-F238E27FC236}">
                <a16:creationId xmlns:a16="http://schemas.microsoft.com/office/drawing/2014/main" id="{56BE3EC5-D48D-8117-9A19-C9C670BB8B70}"/>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56CFB2E7-49D7-25CF-735C-2A393A1AE028}"/>
              </a:ext>
            </a:extLst>
          </p:cNvPr>
          <p:cNvSpPr>
            <a:spLocks noGrp="1"/>
          </p:cNvSpPr>
          <p:nvPr>
            <p:ph type="title"/>
          </p:nvPr>
        </p:nvSpPr>
        <p:spPr>
          <a:xfrm>
            <a:off x="613801" y="150461"/>
            <a:ext cx="11582401"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91E530C5-2C56-B21E-2819-D20EFEEAACB7}"/>
              </a:ext>
            </a:extLst>
          </p:cNvPr>
          <p:cNvSpPr/>
          <p:nvPr/>
        </p:nvSpPr>
        <p:spPr>
          <a:xfrm>
            <a:off x="1791856" y="4463103"/>
            <a:ext cx="8432797"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Cursos/Atributos/Exámenes usados desde SMICRLT, se muestran aquellos elementos, dependiendo de la configuración de las reglas, que permiten el cumplimiento de las reglas del CAPP.</a:t>
            </a:r>
          </a:p>
          <a:p>
            <a:endParaRPr lang="es-ES_tradnl" sz="1200" dirty="0"/>
          </a:p>
          <a:p>
            <a:pPr marL="228600" indent="-228600">
              <a:buFont typeface="+mj-lt"/>
              <a:buAutoNum type="arabicPeriod" startAt="18"/>
            </a:pPr>
            <a:r>
              <a:rPr lang="es-ES_tradnl" sz="1200" dirty="0"/>
              <a:t>Para ir a la página principal de SMICRLT, presione </a:t>
            </a:r>
            <a:r>
              <a:rPr lang="es-ES_tradnl" sz="1200" b="1" dirty="0"/>
              <a:t>Regresar</a:t>
            </a:r>
            <a:r>
              <a:rPr lang="es-ES_tradnl" sz="1200" dirty="0"/>
              <a:t>.</a:t>
            </a:r>
          </a:p>
        </p:txBody>
      </p:sp>
      <p:sp>
        <p:nvSpPr>
          <p:cNvPr id="16" name="Rectángulo 15">
            <a:extLst>
              <a:ext uri="{FF2B5EF4-FFF2-40B4-BE49-F238E27FC236}">
                <a16:creationId xmlns:a16="http://schemas.microsoft.com/office/drawing/2014/main" id="{68A62432-42B8-7891-199E-538C99F2C17A}"/>
              </a:ext>
            </a:extLst>
          </p:cNvPr>
          <p:cNvSpPr/>
          <p:nvPr/>
        </p:nvSpPr>
        <p:spPr>
          <a:xfrm flipV="1">
            <a:off x="609601" y="1717722"/>
            <a:ext cx="10935850" cy="6771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FD289692-297C-8704-F267-63BC5235E455}"/>
              </a:ext>
            </a:extLst>
          </p:cNvPr>
          <p:cNvSpPr/>
          <p:nvPr/>
        </p:nvSpPr>
        <p:spPr>
          <a:xfrm>
            <a:off x="1215003" y="1448792"/>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
        <p:nvSpPr>
          <p:cNvPr id="12" name="Rectángulo 11">
            <a:extLst>
              <a:ext uri="{FF2B5EF4-FFF2-40B4-BE49-F238E27FC236}">
                <a16:creationId xmlns:a16="http://schemas.microsoft.com/office/drawing/2014/main" id="{84233B4A-5033-D166-7808-BE50C11C276A}"/>
              </a:ext>
            </a:extLst>
          </p:cNvPr>
          <p:cNvSpPr/>
          <p:nvPr/>
        </p:nvSpPr>
        <p:spPr>
          <a:xfrm flipV="1">
            <a:off x="642349" y="1529200"/>
            <a:ext cx="539906"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8458122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C4E98-64EF-A38B-9AA2-8486120B1901}"/>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AB8044D4-AC58-E23A-B3E6-BE770615AC96}"/>
              </a:ext>
            </a:extLst>
          </p:cNvPr>
          <p:cNvPicPr>
            <a:picLocks noChangeAspect="1"/>
          </p:cNvPicPr>
          <p:nvPr/>
        </p:nvPicPr>
        <p:blipFill>
          <a:blip r:embed="rId3"/>
          <a:stretch>
            <a:fillRect/>
          </a:stretch>
        </p:blipFill>
        <p:spPr>
          <a:xfrm>
            <a:off x="717671" y="959560"/>
            <a:ext cx="10846256" cy="4976384"/>
          </a:xfrm>
          <a:prstGeom prst="rect">
            <a:avLst/>
          </a:prstGeom>
        </p:spPr>
      </p:pic>
      <p:sp>
        <p:nvSpPr>
          <p:cNvPr id="2" name="Marcador de texto vertical 1">
            <a:extLst>
              <a:ext uri="{FF2B5EF4-FFF2-40B4-BE49-F238E27FC236}">
                <a16:creationId xmlns:a16="http://schemas.microsoft.com/office/drawing/2014/main" id="{1C6473D8-1962-873F-C1B9-1BD3E41C3D1F}"/>
              </a:ext>
            </a:extLst>
          </p:cNvPr>
          <p:cNvSpPr>
            <a:spLocks noGrp="1"/>
          </p:cNvSpPr>
          <p:nvPr>
            <p:ph type="body" orient="vert" sz="quarter" idx="17"/>
          </p:nvPr>
        </p:nvSpPr>
        <p:spPr/>
        <p:txBody>
          <a:bodyPr/>
          <a:lstStyle/>
          <a:p>
            <a:r>
              <a:rPr lang="es-419" sz="1200" dirty="0"/>
              <a:t>Ejecución del CAPP</a:t>
            </a:r>
          </a:p>
        </p:txBody>
      </p:sp>
      <p:sp>
        <p:nvSpPr>
          <p:cNvPr id="13" name="Title 12">
            <a:extLst>
              <a:ext uri="{FF2B5EF4-FFF2-40B4-BE49-F238E27FC236}">
                <a16:creationId xmlns:a16="http://schemas.microsoft.com/office/drawing/2014/main" id="{51349214-7C4F-6335-D715-F76C2D1D59BD}"/>
              </a:ext>
            </a:extLst>
          </p:cNvPr>
          <p:cNvSpPr>
            <a:spLocks noGrp="1"/>
          </p:cNvSpPr>
          <p:nvPr>
            <p:ph type="title"/>
          </p:nvPr>
        </p:nvSpPr>
        <p:spPr>
          <a:xfrm>
            <a:off x="938996" y="304614"/>
            <a:ext cx="10477497" cy="898555"/>
          </a:xfrm>
        </p:spPr>
        <p:txBody>
          <a:bodyPr/>
          <a:lstStyle/>
          <a:p>
            <a:r>
              <a:rPr lang="es-419" dirty="0">
                <a:solidFill>
                  <a:schemeClr val="accent1"/>
                </a:solidFill>
              </a:rPr>
              <a:t>Consulta de resultados de cumplimiento (</a:t>
            </a:r>
            <a:r>
              <a:rPr lang="es-ES_tradnl" dirty="0">
                <a:solidFill>
                  <a:schemeClr val="accent1"/>
                </a:solidFill>
              </a:rPr>
              <a:t>SMICRLT)</a:t>
            </a:r>
            <a:endParaRPr lang="es-ES_tradnl" b="1" dirty="0">
              <a:solidFill>
                <a:schemeClr val="accent1"/>
              </a:solidFill>
            </a:endParaRPr>
          </a:p>
        </p:txBody>
      </p:sp>
      <p:sp>
        <p:nvSpPr>
          <p:cNvPr id="3" name="Flecha: a la derecha 2">
            <a:extLst>
              <a:ext uri="{FF2B5EF4-FFF2-40B4-BE49-F238E27FC236}">
                <a16:creationId xmlns:a16="http://schemas.microsoft.com/office/drawing/2014/main" id="{3D9D83AC-C487-0FE3-BEA5-1C78AC961F77}"/>
              </a:ext>
            </a:extLst>
          </p:cNvPr>
          <p:cNvSpPr/>
          <p:nvPr/>
        </p:nvSpPr>
        <p:spPr>
          <a:xfrm rot="10800000">
            <a:off x="9241500" y="3286937"/>
            <a:ext cx="249036" cy="160815"/>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34757748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37A49BB-3EC2-C770-0040-7EF21E18AE67}"/>
              </a:ext>
            </a:extLst>
          </p:cNvPr>
          <p:cNvPicPr>
            <a:picLocks noChangeAspect="1"/>
          </p:cNvPicPr>
          <p:nvPr/>
        </p:nvPicPr>
        <p:blipFill>
          <a:blip r:embed="rId3"/>
          <a:stretch>
            <a:fillRect/>
          </a:stretch>
        </p:blipFill>
        <p:spPr>
          <a:xfrm>
            <a:off x="701414" y="967552"/>
            <a:ext cx="10991822" cy="4992119"/>
          </a:xfrm>
          <a:prstGeom prst="rect">
            <a:avLst/>
          </a:prstGeom>
        </p:spPr>
      </p:pic>
      <p:sp>
        <p:nvSpPr>
          <p:cNvPr id="2" name="Marcador de texto vertical 1">
            <a:extLst>
              <a:ext uri="{FF2B5EF4-FFF2-40B4-BE49-F238E27FC236}">
                <a16:creationId xmlns:a16="http://schemas.microsoft.com/office/drawing/2014/main" id="{2446FF69-C663-323F-CB85-1D7473A0B19B}"/>
              </a:ext>
            </a:extLst>
          </p:cNvPr>
          <p:cNvSpPr>
            <a:spLocks noGrp="1"/>
          </p:cNvSpPr>
          <p:nvPr>
            <p:ph type="body" orient="vert" sz="quarter" idx="17"/>
          </p:nvPr>
        </p:nvSpPr>
        <p:spPr/>
        <p:txBody>
          <a:bodyPr/>
          <a:lstStyle/>
          <a:p>
            <a:r>
              <a:rPr lang="es-419" sz="1200" dirty="0"/>
              <a:t>Ejecución del CAPP</a:t>
            </a:r>
          </a:p>
        </p:txBody>
      </p:sp>
      <p:sp>
        <p:nvSpPr>
          <p:cNvPr id="13" name="Title 12"/>
          <p:cNvSpPr>
            <a:spLocks noGrp="1"/>
          </p:cNvSpPr>
          <p:nvPr>
            <p:ph type="title"/>
          </p:nvPr>
        </p:nvSpPr>
        <p:spPr>
          <a:xfrm>
            <a:off x="625735" y="304065"/>
            <a:ext cx="11582401" cy="898555"/>
          </a:xfrm>
        </p:spPr>
        <p:txBody>
          <a:bodyPr/>
          <a:lstStyle/>
          <a:p>
            <a:r>
              <a:rPr lang="es-ES_tradnl" dirty="0">
                <a:solidFill>
                  <a:schemeClr val="accent1"/>
                </a:solidFill>
              </a:rPr>
              <a:t>Proceso: SMICRLT </a:t>
            </a:r>
            <a:r>
              <a:rPr lang="es-419" b="0" dirty="0">
                <a:solidFill>
                  <a:schemeClr val="accent1"/>
                </a:solidFill>
              </a:rPr>
              <a:t>Consulta de resultados de cumplimiento</a:t>
            </a:r>
            <a:endParaRPr lang="es-ES_tradnl" b="1" dirty="0">
              <a:solidFill>
                <a:schemeClr val="accent1"/>
              </a:solidFill>
            </a:endParaRPr>
          </a:p>
        </p:txBody>
      </p:sp>
      <p:sp>
        <p:nvSpPr>
          <p:cNvPr id="7" name="Rectángulo: esquinas redondeadas 6">
            <a:extLst>
              <a:ext uri="{FF2B5EF4-FFF2-40B4-BE49-F238E27FC236}">
                <a16:creationId xmlns:a16="http://schemas.microsoft.com/office/drawing/2014/main" id="{46E8C9B2-0F16-9AF5-D605-8AD099A4D75F}"/>
              </a:ext>
            </a:extLst>
          </p:cNvPr>
          <p:cNvSpPr/>
          <p:nvPr/>
        </p:nvSpPr>
        <p:spPr>
          <a:xfrm>
            <a:off x="2112816" y="3633342"/>
            <a:ext cx="8160326" cy="110759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acceder a Cursos/Atributos/Exámenes No usados desde SMICRLT, se muestran aquellos elementos, cursados por el estudiante que no son parte del CAPP del programa o que no se usan para el cumplimiento del mismo.</a:t>
            </a:r>
          </a:p>
          <a:p>
            <a:endParaRPr lang="es-ES_tradnl" sz="1200" dirty="0"/>
          </a:p>
          <a:p>
            <a:pPr marL="228600" indent="-228600">
              <a:buFont typeface="+mj-lt"/>
              <a:buAutoNum type="arabicPeriod" startAt="19"/>
            </a:pPr>
            <a:r>
              <a:rPr lang="es-ES_tradnl" sz="1200" dirty="0"/>
              <a:t>Para ir a la página principal de SMICRLT, presione </a:t>
            </a:r>
            <a:r>
              <a:rPr lang="es-ES_tradnl" sz="1200" b="1" dirty="0"/>
              <a:t>Regresar</a:t>
            </a:r>
            <a:r>
              <a:rPr lang="es-ES_tradnl" sz="1200" dirty="0"/>
              <a:t>.</a:t>
            </a:r>
          </a:p>
        </p:txBody>
      </p:sp>
      <p:sp>
        <p:nvSpPr>
          <p:cNvPr id="9" name="Rectángulo 8">
            <a:extLst>
              <a:ext uri="{FF2B5EF4-FFF2-40B4-BE49-F238E27FC236}">
                <a16:creationId xmlns:a16="http://schemas.microsoft.com/office/drawing/2014/main" id="{66094794-9FCD-36FE-A330-E14C012F7CAD}"/>
              </a:ext>
            </a:extLst>
          </p:cNvPr>
          <p:cNvSpPr/>
          <p:nvPr/>
        </p:nvSpPr>
        <p:spPr>
          <a:xfrm flipV="1">
            <a:off x="692724" y="2013287"/>
            <a:ext cx="11000511" cy="80938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3F393A70-0B30-57DA-D268-8E37E0BB6289}"/>
              </a:ext>
            </a:extLst>
          </p:cNvPr>
          <p:cNvSpPr/>
          <p:nvPr/>
        </p:nvSpPr>
        <p:spPr>
          <a:xfrm>
            <a:off x="1298127" y="1744357"/>
            <a:ext cx="433137" cy="16081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18</a:t>
            </a:r>
            <a:endParaRPr lang="es-419" sz="1100" noProof="0" dirty="0"/>
          </a:p>
        </p:txBody>
      </p:sp>
      <p:sp>
        <p:nvSpPr>
          <p:cNvPr id="14" name="Rectángulo 13">
            <a:extLst>
              <a:ext uri="{FF2B5EF4-FFF2-40B4-BE49-F238E27FC236}">
                <a16:creationId xmlns:a16="http://schemas.microsoft.com/office/drawing/2014/main" id="{84155EF0-A9F3-A694-9CF4-C8118110E7AE}"/>
              </a:ext>
            </a:extLst>
          </p:cNvPr>
          <p:cNvSpPr/>
          <p:nvPr/>
        </p:nvSpPr>
        <p:spPr>
          <a:xfrm flipV="1">
            <a:off x="725473" y="1824765"/>
            <a:ext cx="539906" cy="16081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7619345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Ejecución del CAPP</a:t>
            </a:r>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a:xfrm>
            <a:off x="984827" y="1071135"/>
            <a:ext cx="7092820" cy="1628192"/>
          </a:xfrm>
        </p:spPr>
        <p:txBody>
          <a:bodyPr/>
          <a:lstStyle/>
          <a:p>
            <a:r>
              <a:rPr lang="en-US" sz="3600" dirty="0"/>
              <a:t>RESUMEN</a:t>
            </a:r>
          </a:p>
        </p:txBody>
      </p:sp>
      <p:sp>
        <p:nvSpPr>
          <p:cNvPr id="4" name="Marcador de texto 3">
            <a:extLst>
              <a:ext uri="{FF2B5EF4-FFF2-40B4-BE49-F238E27FC236}">
                <a16:creationId xmlns:a16="http://schemas.microsoft.com/office/drawing/2014/main" id="{848470D1-1D6F-26FE-2530-27B54A6142F1}"/>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31134856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1EEE4-7059-ECDB-8A53-379AE272D299}"/>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6D4E0D97-4904-DA91-963D-21664991F021}"/>
              </a:ext>
            </a:extLst>
          </p:cNvPr>
          <p:cNvSpPr>
            <a:spLocks noGrp="1"/>
          </p:cNvSpPr>
          <p:nvPr>
            <p:ph type="body" sz="quarter" idx="18"/>
          </p:nvPr>
        </p:nvSpPr>
        <p:spPr/>
        <p:txBody>
          <a:bodyPr/>
          <a:lstStyle/>
          <a:p>
            <a:pPr marL="342900" indent="-342900" algn="just">
              <a:buClr>
                <a:srgbClr val="0CB4B4"/>
              </a:buClr>
              <a:buFont typeface="Wingdings" panose="05000000000000000000" pitchFamily="2" charset="2"/>
              <a:buChar char="q"/>
            </a:pPr>
            <a:r>
              <a:rPr lang="es-419" sz="1800" dirty="0"/>
              <a:t>Banner permite identificar el avance académico del estudiante mediante la ejecución del CAPP ya sea de forma individual (SMARQCM) o masiva (SMRBCMP). Esto lo realiza considerando la historia académica que posea el estudiante, los cursos en progreso y las transferencias formalizadas del mismo. </a:t>
            </a:r>
          </a:p>
          <a:p>
            <a:pPr marL="342900" indent="-342900" algn="just">
              <a:buClr>
                <a:srgbClr val="0CB4B4"/>
              </a:buClr>
              <a:buFont typeface="Wingdings" panose="05000000000000000000" pitchFamily="2" charset="2"/>
              <a:buChar char="q"/>
            </a:pPr>
            <a:r>
              <a:rPr lang="es-419" sz="1800" dirty="0"/>
              <a:t>Los resultados de la ejecución del CAPP muestra el nivel de cumplimiento a los requerimientos académicos asociados al plan de estudios, visualizando las condiciones a nivel de programa, áreas y reglas de áreas, adicionalmente la evaluación de no-cursos y atributos (SMICRLT).</a:t>
            </a:r>
          </a:p>
        </p:txBody>
      </p:sp>
      <p:sp>
        <p:nvSpPr>
          <p:cNvPr id="10" name="Vertical Text Placeholder 9">
            <a:extLst>
              <a:ext uri="{FF2B5EF4-FFF2-40B4-BE49-F238E27FC236}">
                <a16:creationId xmlns:a16="http://schemas.microsoft.com/office/drawing/2014/main" id="{BC9FC4C7-0646-7AB7-C6E9-8737D623D106}"/>
              </a:ext>
            </a:extLst>
          </p:cNvPr>
          <p:cNvSpPr>
            <a:spLocks noGrp="1"/>
          </p:cNvSpPr>
          <p:nvPr>
            <p:ph type="body" orient="vert" sz="quarter" idx="17"/>
          </p:nvPr>
        </p:nvSpPr>
        <p:spPr/>
        <p:txBody>
          <a:bodyPr/>
          <a:lstStyle/>
          <a:p>
            <a:r>
              <a:rPr lang="es-419" sz="1200" dirty="0"/>
              <a:t>Ejecución del CAPP</a:t>
            </a:r>
          </a:p>
        </p:txBody>
      </p:sp>
      <p:sp>
        <p:nvSpPr>
          <p:cNvPr id="16" name="Title 15">
            <a:extLst>
              <a:ext uri="{FF2B5EF4-FFF2-40B4-BE49-F238E27FC236}">
                <a16:creationId xmlns:a16="http://schemas.microsoft.com/office/drawing/2014/main" id="{159BFC44-D82C-B019-11C2-51D4A9EA9640}"/>
              </a:ext>
            </a:extLst>
          </p:cNvPr>
          <p:cNvSpPr>
            <a:spLocks noGrp="1"/>
          </p:cNvSpPr>
          <p:nvPr>
            <p:ph type="title"/>
          </p:nvPr>
        </p:nvSpPr>
        <p:spPr/>
        <p:txBody>
          <a:bodyPr/>
          <a:lstStyle/>
          <a:p>
            <a:r>
              <a:rPr lang="en-US" sz="3600" dirty="0"/>
              <a:t>RESUMEN</a:t>
            </a:r>
          </a:p>
        </p:txBody>
      </p:sp>
    </p:spTree>
    <p:extLst>
      <p:ext uri="{BB962C8B-B14F-4D97-AF65-F5344CB8AC3E}">
        <p14:creationId xmlns:p14="http://schemas.microsoft.com/office/powerpoint/2010/main" val="150218534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Karyn Ramos G.</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karyn.ramos@ellucian.com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Ellucian_April 2025</Template>
  <TotalTime>16709</TotalTime>
  <Words>4203</Words>
  <Application>Microsoft Office PowerPoint</Application>
  <PresentationFormat>Panorámica</PresentationFormat>
  <Paragraphs>539</Paragraphs>
  <Slides>84</Slides>
  <Notes>50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84</vt:i4>
      </vt:variant>
    </vt:vector>
  </HeadingPairs>
  <TitlesOfParts>
    <vt:vector size="93"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Macroproceso Gestionar la inscripción de cursos</vt:lpstr>
      <vt:lpstr>Presentación de PowerPoint</vt:lpstr>
      <vt:lpstr>Presentación de PowerPoint</vt:lpstr>
      <vt:lpstr>Presentación de PowerPoint</vt:lpstr>
      <vt:lpstr>Presentación de PowerPoint</vt:lpstr>
      <vt:lpstr>CONFIGURACIONES</vt:lpstr>
      <vt:lpstr>Premisa: SGASTDN General de alumnos </vt:lpstr>
      <vt:lpstr>Premisa: SMAPROG Requerimientos de programa </vt:lpstr>
      <vt:lpstr>Premisa: SMAAREA Requerimientos de área </vt:lpstr>
      <vt:lpstr>Premisa: Validación de código de tipo de cumplimiento (STVCPRT) </vt:lpstr>
      <vt:lpstr>Premisa: Reglas de tipo de impresión de cumplimiento (SMACPRT) </vt:lpstr>
      <vt:lpstr>Presentación de PowerPoint</vt:lpstr>
      <vt:lpstr> Parámetro predefinido de cumplimiento (SMADFLT) </vt:lpstr>
      <vt:lpstr> Parámetro predefinido de cumplimiento (SMADFLT) </vt:lpstr>
      <vt:lpstr> Parámetro predefinido de cumplimiento (SMADFLT) </vt:lpstr>
      <vt:lpstr> Parámetro predefinido de cumplimiento (SMADFLT)  </vt:lpstr>
      <vt:lpstr> Parámetro predefinido de cumplimiento (SMADFLT)  </vt:lpstr>
      <vt:lpstr>Presentación de PowerPoint</vt:lpstr>
      <vt:lpstr>Reglas WebCAPP (SMAWCRL)</vt:lpstr>
      <vt:lpstr>Reglas WebCAPP (SMAWCRL)</vt:lpstr>
      <vt:lpstr>Presentación de PowerPoint</vt:lpstr>
      <vt:lpstr>Reglas de despliegue PGA (SHAGPAR)</vt:lpstr>
      <vt:lpstr>Reglas de despliegue PGA (SHAGPAR)</vt:lpstr>
      <vt:lpstr>Ejecución del CAPP</vt:lpstr>
      <vt:lpstr>Presentación de PowerPoint</vt:lpstr>
      <vt:lpstr>Administración de solicitud de cumplimiento (SMARQCM) </vt:lpstr>
      <vt:lpstr>Administración de solicitud de cumplimiento (SMARQCM) </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Administración de solicitud de cumplimiento (SMARQCM)</vt:lpstr>
      <vt:lpstr>Presentación de PowerPoint</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Proceso de cumplimiento por lotes (SMRBCMP)</vt:lpstr>
      <vt:lpstr>Resultados de la Ejecución de CAPP</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Consulta de resultados de cumplimiento (SMICRLT)</vt:lpstr>
      <vt:lpstr>Proceso: SMICRLT Consulta de resultados de cumplimiento</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Trapp, Eduardo</cp:lastModifiedBy>
  <cp:revision>302</cp:revision>
  <dcterms:created xsi:type="dcterms:W3CDTF">2023-07-17T20:07:38Z</dcterms:created>
  <dcterms:modified xsi:type="dcterms:W3CDTF">2026-06-04T21:36:25Z</dcterms:modified>
</cp:coreProperties>
</file>
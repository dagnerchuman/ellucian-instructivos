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4.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5.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6.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5" r:id="rId2"/>
  </p:sldMasterIdLst>
  <p:notesMasterIdLst>
    <p:notesMasterId r:id="rId63"/>
  </p:notesMasterIdLst>
  <p:sldIdLst>
    <p:sldId id="1424" r:id="rId3"/>
    <p:sldId id="423" r:id="rId4"/>
    <p:sldId id="1174" r:id="rId5"/>
    <p:sldId id="569" r:id="rId6"/>
    <p:sldId id="1250" r:id="rId7"/>
    <p:sldId id="1251" r:id="rId8"/>
    <p:sldId id="261" r:id="rId9"/>
    <p:sldId id="1292" r:id="rId10"/>
    <p:sldId id="1119" r:id="rId11"/>
    <p:sldId id="1396" r:id="rId12"/>
    <p:sldId id="1226" r:id="rId13"/>
    <p:sldId id="1377" r:id="rId14"/>
    <p:sldId id="1397" r:id="rId15"/>
    <p:sldId id="1354" r:id="rId16"/>
    <p:sldId id="1355" r:id="rId17"/>
    <p:sldId id="1398" r:id="rId18"/>
    <p:sldId id="1364" r:id="rId19"/>
    <p:sldId id="1378" r:id="rId20"/>
    <p:sldId id="1380" r:id="rId21"/>
    <p:sldId id="1381" r:id="rId22"/>
    <p:sldId id="1267" r:id="rId23"/>
    <p:sldId id="1399" r:id="rId24"/>
    <p:sldId id="1390" r:id="rId25"/>
    <p:sldId id="1391" r:id="rId26"/>
    <p:sldId id="1393" r:id="rId27"/>
    <p:sldId id="1394" r:id="rId28"/>
    <p:sldId id="1395" r:id="rId29"/>
    <p:sldId id="1400" r:id="rId30"/>
    <p:sldId id="1401" r:id="rId31"/>
    <p:sldId id="1403" r:id="rId32"/>
    <p:sldId id="1402" r:id="rId33"/>
    <p:sldId id="1260" r:id="rId34"/>
    <p:sldId id="1252" r:id="rId35"/>
    <p:sldId id="1288" r:id="rId36"/>
    <p:sldId id="1383" r:id="rId37"/>
    <p:sldId id="1382" r:id="rId38"/>
    <p:sldId id="1385" r:id="rId39"/>
    <p:sldId id="1386" r:id="rId40"/>
    <p:sldId id="1295" r:id="rId41"/>
    <p:sldId id="1296" r:id="rId42"/>
    <p:sldId id="1387" r:id="rId43"/>
    <p:sldId id="1388" r:id="rId44"/>
    <p:sldId id="1279" r:id="rId45"/>
    <p:sldId id="1408" r:id="rId46"/>
    <p:sldId id="1409" r:id="rId47"/>
    <p:sldId id="1410" r:id="rId48"/>
    <p:sldId id="1411" r:id="rId49"/>
    <p:sldId id="1412" r:id="rId50"/>
    <p:sldId id="1413" r:id="rId51"/>
    <p:sldId id="1369" r:id="rId52"/>
    <p:sldId id="1414" r:id="rId53"/>
    <p:sldId id="1415" r:id="rId54"/>
    <p:sldId id="1416" r:id="rId55"/>
    <p:sldId id="1417" r:id="rId56"/>
    <p:sldId id="1419" r:id="rId57"/>
    <p:sldId id="1421" r:id="rId58"/>
    <p:sldId id="1420" r:id="rId59"/>
    <p:sldId id="1422" r:id="rId60"/>
    <p:sldId id="1221" r:id="rId61"/>
    <p:sldId id="32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B0E21E-6FA4-4C0F-8813-ECE557E1D535}" v="3" dt="2026-01-09T13:32:25.42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Paredes" userId="FxJLcaSKK36zSHp3MDdbjtNSYsHsDCbw29i73g7K6wM=" providerId="None" clId="Web-{4DB0E21E-6FA4-4C0F-8813-ECE557E1D535}"/>
    <pc:docChg chg="modSld">
      <pc:chgData name="Claudio Paredes" userId="FxJLcaSKK36zSHp3MDdbjtNSYsHsDCbw29i73g7K6wM=" providerId="None" clId="Web-{4DB0E21E-6FA4-4C0F-8813-ECE557E1D535}" dt="2026-01-09T13:32:25.422" v="1"/>
      <pc:docMkLst>
        <pc:docMk/>
      </pc:docMkLst>
      <pc:sldChg chg="modSp">
        <pc:chgData name="Claudio Paredes" userId="FxJLcaSKK36zSHp3MDdbjtNSYsHsDCbw29i73g7K6wM=" providerId="None" clId="Web-{4DB0E21E-6FA4-4C0F-8813-ECE557E1D535}" dt="2026-01-09T13:31:45.326" v="0" actId="20577"/>
        <pc:sldMkLst>
          <pc:docMk/>
          <pc:sldMk cId="293615744" sldId="1226"/>
        </pc:sldMkLst>
        <pc:spChg chg="mod">
          <ac:chgData name="Claudio Paredes" userId="FxJLcaSKK36zSHp3MDdbjtNSYsHsDCbw29i73g7K6wM=" providerId="None" clId="Web-{4DB0E21E-6FA4-4C0F-8813-ECE557E1D535}" dt="2026-01-09T13:31:45.326" v="0" actId="20577"/>
          <ac:spMkLst>
            <pc:docMk/>
            <pc:sldMk cId="293615744" sldId="1226"/>
            <ac:spMk id="13" creationId="{00000000-0000-0000-0000-000000000000}"/>
          </ac:spMkLst>
        </pc:spChg>
      </pc:sldChg>
      <pc:sldChg chg="delSp">
        <pc:chgData name="Claudio Paredes" userId="FxJLcaSKK36zSHp3MDdbjtNSYsHsDCbw29i73g7K6wM=" providerId="None" clId="Web-{4DB0E21E-6FA4-4C0F-8813-ECE557E1D535}" dt="2026-01-09T13:32:25.422" v="1"/>
        <pc:sldMkLst>
          <pc:docMk/>
          <pc:sldMk cId="4157420525" sldId="1386"/>
        </pc:sldMkLst>
        <pc:spChg chg="del">
          <ac:chgData name="Claudio Paredes" userId="FxJLcaSKK36zSHp3MDdbjtNSYsHsDCbw29i73g7K6wM=" providerId="None" clId="Web-{4DB0E21E-6FA4-4C0F-8813-ECE557E1D535}" dt="2026-01-09T13:32:25.422" v="1"/>
          <ac:spMkLst>
            <pc:docMk/>
            <pc:sldMk cId="4157420525" sldId="1386"/>
            <ac:spMk id="14" creationId="{3F75FBAC-87AC-11CC-7313-8168B9B1F6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17/4/2026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4009972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36264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1380028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392958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745587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23538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153952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2105037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373918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1843319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4209462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919433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2356429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225019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830306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1622947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320713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2479190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4129665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3672176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14645335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4115841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584492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2569440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3276527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3920613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14578605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4216163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31507591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15870025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9668816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57689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41754135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2054886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2792495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19267726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600246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961467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58</a:t>
            </a:fld>
            <a:endParaRPr lang="en-US"/>
          </a:p>
        </p:txBody>
      </p:sp>
    </p:spTree>
    <p:extLst>
      <p:ext uri="{BB962C8B-B14F-4D97-AF65-F5344CB8AC3E}">
        <p14:creationId xmlns:p14="http://schemas.microsoft.com/office/powerpoint/2010/main" val="12565246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0439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7766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0865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68591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2392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5175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1109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988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82911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D4952E35-DC4C-47CF-1A1F-2DCCDB6A3815}"/>
              </a:ext>
            </a:extLst>
          </p:cNvPr>
          <p:cNvSpPr/>
          <p:nvPr userDrawn="1"/>
        </p:nvSpPr>
        <p:spPr>
          <a:xfrm>
            <a:off x="9165771" y="6509657"/>
            <a:ext cx="2478704" cy="348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2EAEE877-AF7F-60D5-ECC2-B807BA0B3D32}"/>
              </a:ext>
            </a:extLst>
          </p:cNvPr>
          <p:cNvPicPr>
            <a:picLocks noChangeAspect="1"/>
          </p:cNvPicPr>
          <p:nvPr userDrawn="1"/>
        </p:nvPicPr>
        <p:blipFill>
          <a:blip r:embed="rId2"/>
          <a:stretch>
            <a:fillRect/>
          </a:stretch>
        </p:blipFill>
        <p:spPr>
          <a:xfrm>
            <a:off x="9594688" y="6496178"/>
            <a:ext cx="2158643" cy="257248"/>
          </a:xfrm>
          <a:prstGeom prst="rect">
            <a:avLst/>
          </a:prstGeom>
        </p:spPr>
      </p:pic>
    </p:spTree>
    <p:extLst>
      <p:ext uri="{BB962C8B-B14F-4D97-AF65-F5344CB8AC3E}">
        <p14:creationId xmlns:p14="http://schemas.microsoft.com/office/powerpoint/2010/main" val="158539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654553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735923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149686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499305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867735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5942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89028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3497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37251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01721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91732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6534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89874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728200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0694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28098672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704211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46608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97571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090804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17888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291306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693469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136053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angle 2">
            <a:extLst>
              <a:ext uri="{FF2B5EF4-FFF2-40B4-BE49-F238E27FC236}">
                <a16:creationId xmlns:a16="http://schemas.microsoft.com/office/drawing/2014/main" id="{D57D1D59-697E-BB65-522C-C3CD52FA10DD}"/>
              </a:ext>
            </a:extLst>
          </p:cNvPr>
          <p:cNvSpPr/>
          <p:nvPr userDrawn="1"/>
        </p:nvSpPr>
        <p:spPr>
          <a:xfrm>
            <a:off x="9154886" y="6433457"/>
            <a:ext cx="2503714"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820CCD22-9F0D-C177-A1FE-51F06263CE6F}"/>
              </a:ext>
            </a:extLst>
          </p:cNvPr>
          <p:cNvPicPr>
            <a:picLocks noChangeAspect="1"/>
          </p:cNvPicPr>
          <p:nvPr userDrawn="1"/>
        </p:nvPicPr>
        <p:blipFill>
          <a:blip r:embed="rId2"/>
          <a:stretch>
            <a:fillRect/>
          </a:stretch>
        </p:blipFill>
        <p:spPr>
          <a:xfrm>
            <a:off x="9633857" y="6433456"/>
            <a:ext cx="2146492" cy="365125"/>
          </a:xfrm>
          <a:prstGeom prst="rect">
            <a:avLst/>
          </a:prstGeom>
        </p:spPr>
      </p:pic>
    </p:spTree>
    <p:extLst>
      <p:ext uri="{BB962C8B-B14F-4D97-AF65-F5344CB8AC3E}">
        <p14:creationId xmlns:p14="http://schemas.microsoft.com/office/powerpoint/2010/main" val="43169474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72746C1F-0287-08E3-6ED7-7CCAFB303983}"/>
              </a:ext>
            </a:extLst>
          </p:cNvPr>
          <p:cNvSpPr/>
          <p:nvPr userDrawn="1"/>
        </p:nvSpPr>
        <p:spPr>
          <a:xfrm>
            <a:off x="9220200" y="6520543"/>
            <a:ext cx="2362197" cy="20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797C2C03-3F24-0313-3E1D-06C78041DE52}"/>
              </a:ext>
            </a:extLst>
          </p:cNvPr>
          <p:cNvPicPr>
            <a:picLocks noChangeAspect="1"/>
          </p:cNvPicPr>
          <p:nvPr userDrawn="1"/>
        </p:nvPicPr>
        <p:blipFill>
          <a:blip r:embed="rId2"/>
          <a:stretch>
            <a:fillRect/>
          </a:stretch>
        </p:blipFill>
        <p:spPr>
          <a:xfrm>
            <a:off x="9644624" y="6492847"/>
            <a:ext cx="2090303" cy="228627"/>
          </a:xfrm>
          <a:prstGeom prst="rect">
            <a:avLst/>
          </a:prstGeom>
        </p:spPr>
      </p:pic>
    </p:spTree>
    <p:extLst>
      <p:ext uri="{BB962C8B-B14F-4D97-AF65-F5344CB8AC3E}">
        <p14:creationId xmlns:p14="http://schemas.microsoft.com/office/powerpoint/2010/main" val="220742056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angle 2">
            <a:extLst>
              <a:ext uri="{FF2B5EF4-FFF2-40B4-BE49-F238E27FC236}">
                <a16:creationId xmlns:a16="http://schemas.microsoft.com/office/drawing/2014/main" id="{08ADA77A-07FF-87C6-B9EF-8BAC744FC19C}"/>
              </a:ext>
            </a:extLst>
          </p:cNvPr>
          <p:cNvSpPr/>
          <p:nvPr userDrawn="1"/>
        </p:nvSpPr>
        <p:spPr>
          <a:xfrm>
            <a:off x="9263743" y="6487886"/>
            <a:ext cx="2318654" cy="2335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33BC3C9A-CC63-C38E-079B-1EBAE767BD06}"/>
              </a:ext>
            </a:extLst>
          </p:cNvPr>
          <p:cNvPicPr>
            <a:picLocks noChangeAspect="1"/>
          </p:cNvPicPr>
          <p:nvPr userDrawn="1"/>
        </p:nvPicPr>
        <p:blipFill>
          <a:blip r:embed="rId2"/>
          <a:stretch>
            <a:fillRect/>
          </a:stretch>
        </p:blipFill>
        <p:spPr>
          <a:xfrm>
            <a:off x="9446736" y="6487886"/>
            <a:ext cx="2135661" cy="233588"/>
          </a:xfrm>
          <a:prstGeom prst="rect">
            <a:avLst/>
          </a:prstGeom>
        </p:spPr>
      </p:pic>
    </p:spTree>
    <p:extLst>
      <p:ext uri="{BB962C8B-B14F-4D97-AF65-F5344CB8AC3E}">
        <p14:creationId xmlns:p14="http://schemas.microsoft.com/office/powerpoint/2010/main" val="208056492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E8FF8367-4A41-4D3B-B9D3-119C5BFC157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3AC43CAA-9ECC-E65E-3FF8-9CA7B5B95166}"/>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D7F89BB8-D20F-2964-A70D-0D0D95D5623F}"/>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B835471D-46F9-4D21-FAC1-C9DB3E100C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1BC811EA-163B-961D-9583-69F16891177D}"/>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3BB17C3A-3243-225E-8F0D-067540943243}"/>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3997147284"/>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913981492"/>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6DF2BC13-D767-F8A2-B8A0-5415159D4781}"/>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8D9A8AD4-5708-E942-6C7F-5D349D3995EA}"/>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B2E379A8-8711-70C3-7AC3-E5CBA8217EF2}"/>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D85A9CBD-CE72-5C31-734A-ED1C5CDF82A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F1978695-EFED-73E2-7D80-5817ACB5DA37}"/>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86901085"/>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364574118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29505769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Tree>
    <p:extLst>
      <p:ext uri="{BB962C8B-B14F-4D97-AF65-F5344CB8AC3E}">
        <p14:creationId xmlns:p14="http://schemas.microsoft.com/office/powerpoint/2010/main" val="133580977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1005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061184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687933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086493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243470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78345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47950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866830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73837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901409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624666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023894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392787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936010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621953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975062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504106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92818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5726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theme" Target="../theme/theme2.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482530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7" r:id="rId37"/>
    <p:sldLayoutId id="2147483758" r:id="rId38"/>
    <p:sldLayoutId id="2147483759" r:id="rId39"/>
    <p:sldLayoutId id="2147483760" r:id="rId40"/>
    <p:sldLayoutId id="2147483761" r:id="rId41"/>
    <p:sldLayoutId id="2147483762" r:id="rId42"/>
    <p:sldLayoutId id="2147483763" r:id="rId43"/>
    <p:sldLayoutId id="2147483712" r:id="rId44"/>
    <p:sldLayoutId id="2147483713" r:id="rId45"/>
    <p:sldLayoutId id="2147483714" r:id="rId46"/>
    <p:sldLayoutId id="2147483717" r:id="rId4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331383"/>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4.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5.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6.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37.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35.xml"/><Relationship Id="rId5" Type="http://schemas.openxmlformats.org/officeDocument/2006/relationships/image" Target="../media/image66.sv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3" y="2635045"/>
            <a:ext cx="5651066" cy="1748877"/>
          </a:xfrm>
        </p:spPr>
        <p:txBody>
          <a:bodyPr/>
          <a:lstStyle/>
          <a:p>
            <a:pPr>
              <a:spcBef>
                <a:spcPts val="0"/>
              </a:spcBef>
              <a:spcAft>
                <a:spcPts val="600"/>
              </a:spcAft>
            </a:pPr>
            <a:r>
              <a:rPr lang="es-CO" sz="4200" dirty="0">
                <a:solidFill>
                  <a:schemeClr val="bg1"/>
                </a:solidFill>
                <a:latin typeface="+mn-lt"/>
                <a:ea typeface="+mn-ea"/>
                <a:cs typeface="+mn-cs"/>
              </a:rPr>
              <a:t>Gestionar la asistencia a clases</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dirty="0"/>
              <a:t>Gestionar la asistencia a clases</a:t>
            </a:r>
            <a:endParaRPr lang="es-419" dirty="0"/>
          </a:p>
        </p:txBody>
      </p:sp>
      <p:graphicFrame>
        <p:nvGraphicFramePr>
          <p:cNvPr id="2" name="Table 2">
            <a:extLst>
              <a:ext uri="{FF2B5EF4-FFF2-40B4-BE49-F238E27FC236}">
                <a16:creationId xmlns:a16="http://schemas.microsoft.com/office/drawing/2014/main" id="{44956DCE-5A92-5930-324C-F989C4B31FFF}"/>
              </a:ext>
            </a:extLst>
          </p:cNvPr>
          <p:cNvGraphicFramePr>
            <a:graphicFrameLocks noGrp="1"/>
          </p:cNvGraphicFramePr>
          <p:nvPr>
            <p:extLst>
              <p:ext uri="{D42A27DB-BD31-4B8C-83A1-F6EECF244321}">
                <p14:modId xmlns:p14="http://schemas.microsoft.com/office/powerpoint/2010/main" val="3373026217"/>
              </p:ext>
            </p:extLst>
          </p:nvPr>
        </p:nvGraphicFramePr>
        <p:xfrm>
          <a:off x="1255734" y="778669"/>
          <a:ext cx="8916155" cy="4904181"/>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20000"/>
                    </a:ext>
                  </a:extLst>
                </a:gridCol>
                <a:gridCol w="8103140">
                  <a:extLst>
                    <a:ext uri="{9D8B030D-6E8A-4147-A177-3AD203B41FA5}">
                      <a16:colId xmlns:a16="http://schemas.microsoft.com/office/drawing/2014/main" val="20001"/>
                    </a:ext>
                  </a:extLst>
                </a:gridCol>
              </a:tblGrid>
              <a:tr h="802833">
                <a:tc>
                  <a:txBody>
                    <a:bodyPr/>
                    <a:lstStyle/>
                    <a:p>
                      <a:r>
                        <a:rPr lang="es-ES_tradnl" sz="28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2000" b="0" kern="1200" noProof="0" dirty="0">
                        <a:solidFill>
                          <a:srgbClr val="414042"/>
                        </a:solidFill>
                        <a:latin typeface="Arial"/>
                        <a:ea typeface="+mn-ea"/>
                        <a:cs typeface="Arial"/>
                      </a:endParaRPr>
                    </a:p>
                    <a:p>
                      <a:r>
                        <a:rPr lang="es-ES_tradnl" sz="2800" b="1" kern="1200" noProof="0" dirty="0" err="1">
                          <a:solidFill>
                            <a:schemeClr val="bg1"/>
                          </a:solidFill>
                          <a:latin typeface="+mn-lt"/>
                          <a:ea typeface="+mn-ea"/>
                          <a:cs typeface="+mn-cs"/>
                        </a:rPr>
                        <a:t>Overview</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noProof="0" dirty="0">
                          <a:solidFill>
                            <a:schemeClr val="bg1"/>
                          </a:solidFill>
                          <a:latin typeface="+mn-lt"/>
                          <a:ea typeface="+mn-ea"/>
                          <a:cs typeface="+mn-cs"/>
                        </a:rPr>
                        <a:t>Configuraciones </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800" b="1" kern="1200" noProof="0" dirty="0">
                          <a:solidFill>
                            <a:schemeClr val="bg1"/>
                          </a:solidFill>
                          <a:latin typeface="+mn-lt"/>
                          <a:ea typeface="+mn-ea"/>
                          <a:cs typeface="+mn-cs"/>
                        </a:rPr>
                        <a:t>Reglas de Control de Asistencia</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Registro de asistencia</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5873710"/>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a:solidFill>
                            <a:schemeClr val="bg1"/>
                          </a:solidFill>
                          <a:latin typeface="+mn-lt"/>
                          <a:ea typeface="+mn-ea"/>
                          <a:cs typeface="+mn-cs"/>
                        </a:rPr>
                        <a:t>Pasar asistencia a calificaciones</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7201081"/>
                  </a:ext>
                </a:extLst>
              </a:tr>
              <a:tr h="802833">
                <a:tc>
                  <a:txBody>
                    <a:bodyPr/>
                    <a:lstStyle/>
                    <a:p>
                      <a:pPr marL="0" algn="l" defTabSz="914400" rtl="0" eaLnBrk="1" latinLnBrk="0" hangingPunct="1"/>
                      <a:r>
                        <a:rPr lang="es-419" sz="2800" b="1" kern="1200">
                          <a:solidFill>
                            <a:schemeClr val="bg1"/>
                          </a:solidFill>
                          <a:latin typeface="+mn-lt"/>
                          <a:ea typeface="+mn-ea"/>
                          <a:cs typeface="+mn-cs"/>
                        </a:rPr>
                        <a:t>06</a:t>
                      </a:r>
                      <a:endParaRPr lang="es-419" sz="2800" b="1" kern="1200" dirty="0">
                        <a:solidFill>
                          <a:schemeClr val="bg1"/>
                        </a:solidFill>
                        <a:latin typeface="+mn-lt"/>
                        <a:ea typeface="+mn-ea"/>
                        <a:cs typeface="+mn-cs"/>
                      </a:endParaRP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21296"/>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CO" sz="1200" dirty="0"/>
              <a:t>Gestionar la asistencia a clases</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Gestionar la asistencia a clases</a:t>
            </a:r>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39345" y="2662645"/>
            <a:ext cx="1624395" cy="6291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p:txBody>
          <a:bodyPr/>
          <a:lstStyle/>
          <a:p>
            <a:pPr lvl="1" algn="just"/>
            <a:r>
              <a:rPr lang="es-CO" sz="1600" dirty="0"/>
              <a:t>Mediante este procedimiento se crean las reglas de procesamiento para que los docentes puedan llevar el control de asistencia de los alumnos a sus clases.</a:t>
            </a:r>
          </a:p>
          <a:p>
            <a:pPr lvl="1" algn="just"/>
            <a:r>
              <a:rPr lang="es-CO" dirty="0"/>
              <a:t>La configuración del control de asistencia se puede hacer a nivel de período, parte de período, curso y NRC o a nivel específico de las sesiones de clase de los NRC.</a:t>
            </a:r>
          </a:p>
          <a:p>
            <a:pPr lvl="1" algn="just"/>
            <a:r>
              <a:rPr lang="es-CO" dirty="0"/>
              <a:t>Se deben realizar algunas configuraciones adicionales para el cálculo de los porcentajes de asistencia y para el despliegue del control de asistencia para docentes y alumnos.</a:t>
            </a:r>
          </a:p>
          <a:p>
            <a:pPr lvl="1" algn="just"/>
            <a:r>
              <a:rPr lang="es-CO" sz="1600" dirty="0"/>
              <a:t>A través de las páginas de Autoservicio los miembros docentes podrán llevar el control de asistencia de sus cursos.</a:t>
            </a:r>
          </a:p>
          <a:p>
            <a:pPr lvl="1" algn="just"/>
            <a:r>
              <a:rPr lang="es-CO" dirty="0"/>
              <a:t>Al final del período, </a:t>
            </a:r>
            <a:r>
              <a:rPr lang="es-PE" dirty="0"/>
              <a:t>se debe enviar el porcentaje de asistencia del alumno a un componente de calificación y poder llevar a cabo la política de pérdida del curso por inasistencia.</a:t>
            </a:r>
            <a:endParaRPr lang="es-CO" dirty="0"/>
          </a:p>
          <a:p>
            <a:pPr lvl="1" algn="just"/>
            <a:endParaRPr lang="es-CO" sz="1600" dirty="0"/>
          </a:p>
          <a:p>
            <a:pPr marL="0" lvl="1" indent="0">
              <a:buNone/>
            </a:pPr>
            <a:endParaRPr lang="es-CO" sz="1600" dirty="0"/>
          </a:p>
          <a:p>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Gestionar la asistencia a clases</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CO" sz="3200" dirty="0">
                <a:solidFill>
                  <a:schemeClr val="accent1"/>
                </a:solidFill>
              </a:rPr>
              <a:t>Gestionar la asistencia a clases</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p:txBody>
          <a:bodyPr/>
          <a:lstStyle/>
          <a:p>
            <a:r>
              <a:rPr lang="es-419" sz="1200" dirty="0"/>
              <a:t>Gestionar la asistencia a clases</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dirty="0">
                <a:solidFill>
                  <a:schemeClr val="accent1"/>
                </a:solidFill>
              </a:rPr>
              <a:t>Registrar la asistencia a clases</a:t>
            </a:r>
            <a:br>
              <a:rPr lang="es-CO" dirty="0">
                <a:solidFill>
                  <a:schemeClr val="accent1"/>
                </a:solidFill>
              </a:rPr>
            </a:br>
            <a:endParaRPr lang="es-ES_tradnl" dirty="0">
              <a:solidFill>
                <a:schemeClr val="accent1"/>
              </a:solidFill>
            </a:endParaRPr>
          </a:p>
        </p:txBody>
      </p:sp>
      <p:pic>
        <p:nvPicPr>
          <p:cNvPr id="1026" name="Picture 2">
            <a:extLst>
              <a:ext uri="{FF2B5EF4-FFF2-40B4-BE49-F238E27FC236}">
                <a16:creationId xmlns:a16="http://schemas.microsoft.com/office/drawing/2014/main" id="{92EBAC76-5833-D458-016D-13E76ADDF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899" y="1135077"/>
            <a:ext cx="7681626" cy="562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Gestionar la asistencia a clases</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419" sz="3200" dirty="0">
                <a:solidFill>
                  <a:schemeClr val="accent1"/>
                </a:solidFill>
              </a:rPr>
              <a:t>Gestionar la asistencia a clases</a:t>
            </a:r>
            <a:br>
              <a:rPr lang="es-419" dirty="0">
                <a:solidFill>
                  <a:schemeClr val="accent1"/>
                </a:solidFill>
              </a:rPr>
            </a:br>
            <a:endParaRPr lang="es-ES_tradnl" dirty="0">
              <a:solidFill>
                <a:schemeClr val="accent1"/>
              </a:solidFill>
            </a:endParaRPr>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891766958"/>
              </p:ext>
            </p:extLst>
          </p:nvPr>
        </p:nvGraphicFramePr>
        <p:xfrm>
          <a:off x="961414" y="1494885"/>
          <a:ext cx="10620983" cy="4299194"/>
        </p:xfrm>
        <a:graphic>
          <a:graphicData uri="http://schemas.openxmlformats.org/drawingml/2006/table">
            <a:tbl>
              <a:tblPr firstRow="1" bandRow="1">
                <a:tableStyleId>{5C22544A-7EE6-4342-B048-85BDC9FD1C3A}</a:tableStyleId>
              </a:tblPr>
              <a:tblGrid>
                <a:gridCol w="1241039">
                  <a:extLst>
                    <a:ext uri="{9D8B030D-6E8A-4147-A177-3AD203B41FA5}">
                      <a16:colId xmlns:a16="http://schemas.microsoft.com/office/drawing/2014/main" val="34381708"/>
                    </a:ext>
                  </a:extLst>
                </a:gridCol>
                <a:gridCol w="9379944">
                  <a:extLst>
                    <a:ext uri="{9D8B030D-6E8A-4147-A177-3AD203B41FA5}">
                      <a16:colId xmlns:a16="http://schemas.microsoft.com/office/drawing/2014/main" val="1628494477"/>
                    </a:ext>
                  </a:extLst>
                </a:gridCol>
              </a:tblGrid>
              <a:tr h="447263">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1283977">
                <a:tc>
                  <a:txBody>
                    <a:bodyPr/>
                    <a:lstStyle/>
                    <a:p>
                      <a:pPr>
                        <a:spcAft>
                          <a:spcPts val="0"/>
                        </a:spcAft>
                      </a:pPr>
                      <a:r>
                        <a:rPr lang="es-ES" sz="1200" b="1" dirty="0">
                          <a:effectLst/>
                        </a:rPr>
                        <a:t>Número de Referencia de Curso (NRC)</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419" sz="1200" dirty="0"/>
                        <a:t>Valor numérico único, en un periodo, que identifica la oferta de un curso en un horario específico y con uno o varios docentes que lo dictan.</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1283977">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Sesión de clases</a:t>
                      </a:r>
                    </a:p>
                  </a:txBody>
                  <a:tcPr marL="36830" marR="36830" marT="36830" marB="36830" anchor="ctr"/>
                </a:tc>
                <a:tc>
                  <a:txBody>
                    <a:bodyPr/>
                    <a:lstStyle/>
                    <a:p>
                      <a:pPr algn="just">
                        <a:spcAft>
                          <a:spcPts val="0"/>
                        </a:spcAft>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Periodos temporales programados para la interacción entre estudiantes y profesores en cada NRC</a:t>
                      </a:r>
                    </a:p>
                  </a:txBody>
                  <a:tcPr marL="36830" marR="36830" marT="36830" marB="36830" anchor="ctr"/>
                </a:tc>
                <a:extLst>
                  <a:ext uri="{0D108BD9-81ED-4DB2-BD59-A6C34878D82A}">
                    <a16:rowId xmlns:a16="http://schemas.microsoft.com/office/drawing/2014/main" val="2980877216"/>
                  </a:ext>
                </a:extLst>
              </a:tr>
              <a:tr h="1283977">
                <a:tc>
                  <a:txBody>
                    <a:bodyPr/>
                    <a:lstStyle/>
                    <a:p>
                      <a:pPr>
                        <a:spcAft>
                          <a:spcPts val="0"/>
                        </a:spcAft>
                      </a:pPr>
                      <a:r>
                        <a:rPr lang="es-419"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Unidad de Control de Asistencia</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Criterio bajo en cual los docentes cargarán las asistencias o inasistencias en el autoservicio. Las opciones son:</a:t>
                      </a:r>
                    </a:p>
                    <a:p>
                      <a:pPr marL="628650" lvl="1" indent="-171450" algn="just">
                        <a:spcAft>
                          <a:spcPts val="0"/>
                        </a:spcAft>
                        <a:buFont typeface="Arial" panose="020B0604020202020204" pitchFamily="34" charset="0"/>
                        <a:buChar char="•"/>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Presente/Ausente: los docentes cargarán tanto la asistencia como la inasistencia de los alumnos para cada sesión de clases de los NRC, sin especificar las horas.</a:t>
                      </a:r>
                    </a:p>
                    <a:p>
                      <a:pPr marL="628650" lvl="1" indent="-171450" algn="just">
                        <a:spcAft>
                          <a:spcPts val="0"/>
                        </a:spcAft>
                        <a:buFont typeface="Arial" panose="020B0604020202020204" pitchFamily="34" charset="0"/>
                        <a:buChar char="•"/>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Horas de presencia: los docentes cargarán las horas/minutos de asistencia de los alumnos a cada sesión de clases de los NRC</a:t>
                      </a:r>
                    </a:p>
                    <a:p>
                      <a:pPr marL="628650" lvl="1" indent="-171450" algn="just">
                        <a:spcAft>
                          <a:spcPts val="0"/>
                        </a:spcAft>
                        <a:buFont typeface="Arial" panose="020B0604020202020204" pitchFamily="34" charset="0"/>
                        <a:buChar char="•"/>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Horas de ausencia: los docentes cargarán las horas/minutos de inasistencia de los alumnos a cada sesión de clases de los NRC</a:t>
                      </a:r>
                    </a:p>
                  </a:txBody>
                  <a:tcPr marL="36830" marR="36830" marT="36830" marB="36830" anchor="ctr"/>
                </a:tc>
                <a:extLst>
                  <a:ext uri="{0D108BD9-81ED-4DB2-BD59-A6C34878D82A}">
                    <a16:rowId xmlns:a16="http://schemas.microsoft.com/office/drawing/2014/main" val="3102681404"/>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Gestionar la asistencia a clases</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Control de período</a:t>
            </a:r>
            <a:endParaRPr lang="es-ES_tradnl"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4832290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E74B374-A9A1-7306-6773-D0C383150005}"/>
              </a:ext>
            </a:extLst>
          </p:cNvPr>
          <p:cNvPicPr>
            <a:picLocks noChangeAspect="1"/>
          </p:cNvPicPr>
          <p:nvPr/>
        </p:nvPicPr>
        <p:blipFill>
          <a:blip r:embed="rId3"/>
          <a:stretch>
            <a:fillRect/>
          </a:stretch>
        </p:blipFill>
        <p:spPr>
          <a:xfrm>
            <a:off x="787570" y="1017052"/>
            <a:ext cx="10543032" cy="4504248"/>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Control de </a:t>
            </a:r>
            <a:r>
              <a:rPr lang="es-ES_tradnl" dirty="0">
                <a:solidFill>
                  <a:schemeClr val="accent1"/>
                </a:solidFill>
              </a:rPr>
              <a:t>período</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4602988" y="4897273"/>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Solo los períodos que tengan activa la opción </a:t>
            </a:r>
            <a:r>
              <a:rPr lang="es-ES_tradnl" sz="1200" b="1" dirty="0">
                <a:solidFill>
                  <a:schemeClr val="bg1"/>
                </a:solidFill>
                <a:cs typeface="Arial"/>
              </a:rPr>
              <a:t>Control de período </a:t>
            </a:r>
            <a:r>
              <a:rPr lang="es-ES_tradnl" sz="1200" b="1">
                <a:solidFill>
                  <a:schemeClr val="bg1"/>
                </a:solidFill>
                <a:cs typeface="Arial"/>
              </a:rPr>
              <a:t>web maestro</a:t>
            </a:r>
            <a:r>
              <a:rPr lang="es-ES_tradnl" sz="1200">
                <a:solidFill>
                  <a:schemeClr val="bg1"/>
                </a:solidFill>
                <a:cs typeface="Arial"/>
              </a:rPr>
              <a:t>, </a:t>
            </a:r>
            <a:r>
              <a:rPr lang="es-ES_tradnl" sz="1200" dirty="0">
                <a:solidFill>
                  <a:schemeClr val="bg1"/>
                </a:solidFill>
                <a:cs typeface="Arial"/>
              </a:rPr>
              <a:t>la página </a:t>
            </a:r>
            <a:r>
              <a:rPr lang="es-ES_tradnl" sz="1200" b="1" dirty="0">
                <a:solidFill>
                  <a:schemeClr val="bg1"/>
                </a:solidFill>
                <a:cs typeface="Arial"/>
              </a:rPr>
              <a:t>SOATERM</a:t>
            </a:r>
            <a:r>
              <a:rPr lang="es-ES_tradnl" sz="1200" dirty="0">
                <a:solidFill>
                  <a:schemeClr val="bg1"/>
                </a:solidFill>
                <a:cs typeface="Arial"/>
              </a:rPr>
              <a:t> (pestaña Inscripción) se mostrarán en los autoservicios. </a:t>
            </a:r>
          </a:p>
        </p:txBody>
      </p:sp>
    </p:spTree>
    <p:extLst>
      <p:ext uri="{BB962C8B-B14F-4D97-AF65-F5344CB8AC3E}">
        <p14:creationId xmlns:p14="http://schemas.microsoft.com/office/powerpoint/2010/main" val="293615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B0CC303-3A6D-07E7-4B0D-7AB43CD9925E}"/>
              </a:ext>
            </a:extLst>
          </p:cNvPr>
          <p:cNvPicPr>
            <a:picLocks noChangeAspect="1"/>
          </p:cNvPicPr>
          <p:nvPr/>
        </p:nvPicPr>
        <p:blipFill>
          <a:blip r:embed="rId3"/>
          <a:stretch>
            <a:fillRect/>
          </a:stretch>
        </p:blipFill>
        <p:spPr>
          <a:xfrm>
            <a:off x="853105" y="1218867"/>
            <a:ext cx="10604328" cy="4470235"/>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Control de período (SOATERM)</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2728790" y="5500048"/>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la pestaña </a:t>
            </a:r>
            <a:r>
              <a:rPr lang="es-ES_tradnl" sz="1200" b="1" dirty="0">
                <a:solidFill>
                  <a:schemeClr val="bg1"/>
                </a:solidFill>
                <a:cs typeface="Arial"/>
              </a:rPr>
              <a:t>Controles de inscripción de partes de período y web </a:t>
            </a:r>
            <a:r>
              <a:rPr lang="es-ES_tradnl" sz="1200" dirty="0">
                <a:solidFill>
                  <a:schemeClr val="bg1"/>
                </a:solidFill>
                <a:cs typeface="Arial"/>
              </a:rPr>
              <a:t>de la página </a:t>
            </a:r>
            <a:r>
              <a:rPr lang="es-ES_tradnl" sz="1200" b="1" dirty="0">
                <a:solidFill>
                  <a:schemeClr val="bg1"/>
                </a:solidFill>
                <a:cs typeface="Arial"/>
              </a:rPr>
              <a:t>SOATERM</a:t>
            </a:r>
            <a:r>
              <a:rPr lang="es-ES_tradnl" sz="1200" dirty="0">
                <a:solidFill>
                  <a:schemeClr val="bg1"/>
                </a:solidFill>
                <a:cs typeface="Arial"/>
              </a:rPr>
              <a:t> deben estar las fechas de inicio y fin en las que los docentes podrán acceder a autoservicios, incluyendo la asistencia, para el período configurado.</a:t>
            </a:r>
          </a:p>
        </p:txBody>
      </p:sp>
    </p:spTree>
    <p:extLst>
      <p:ext uri="{BB962C8B-B14F-4D97-AF65-F5344CB8AC3E}">
        <p14:creationId xmlns:p14="http://schemas.microsoft.com/office/powerpoint/2010/main" val="178364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Perfil de acceso de los docentes</a:t>
            </a:r>
            <a:endParaRPr lang="es-ES_tradnl"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191782742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BE292AC-1527-A91A-7484-2EC363650571}"/>
              </a:ext>
            </a:extLst>
          </p:cNvPr>
          <p:cNvPicPr>
            <a:picLocks noChangeAspect="1"/>
          </p:cNvPicPr>
          <p:nvPr/>
        </p:nvPicPr>
        <p:blipFill>
          <a:blip r:embed="rId3"/>
          <a:stretch>
            <a:fillRect/>
          </a:stretch>
        </p:blipFill>
        <p:spPr>
          <a:xfrm>
            <a:off x="939588" y="1316735"/>
            <a:ext cx="10612851" cy="4963003"/>
          </a:xfrm>
          <a:prstGeom prst="rect">
            <a:avLst/>
          </a:prstGeom>
        </p:spPr>
      </p:pic>
      <p:sp>
        <p:nvSpPr>
          <p:cNvPr id="2" name="Marcador de texto vertical 1">
            <a:extLst>
              <a:ext uri="{FF2B5EF4-FFF2-40B4-BE49-F238E27FC236}">
                <a16:creationId xmlns:a16="http://schemas.microsoft.com/office/drawing/2014/main" id="{8138B725-C426-4132-9A89-C7A5DD2722AF}"/>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939588" y="511401"/>
            <a:ext cx="10477497" cy="898555"/>
          </a:xfrm>
        </p:spPr>
        <p:txBody>
          <a:bodyPr/>
          <a:lstStyle/>
          <a:p>
            <a:r>
              <a:rPr lang="es-ES_tradnl" dirty="0">
                <a:solidFill>
                  <a:schemeClr val="accent1"/>
                </a:solidFill>
              </a:rPr>
              <a:t>Perfil de acceso de los docentes</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70A051DA-0BF5-9528-0AC8-C96E5D29EA31}"/>
              </a:ext>
            </a:extLst>
          </p:cNvPr>
          <p:cNvSpPr/>
          <p:nvPr/>
        </p:nvSpPr>
        <p:spPr>
          <a:xfrm>
            <a:off x="3046562" y="4881739"/>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El proceso </a:t>
            </a:r>
            <a:r>
              <a:rPr lang="es-ES_tradnl" sz="1200" b="1" dirty="0"/>
              <a:t>ENTERATTEND</a:t>
            </a:r>
            <a:r>
              <a:rPr lang="es-ES_tradnl" sz="1200" dirty="0"/>
              <a:t> debe estar configurado para los Docentes y/ o Asesores, según la política de la institución en el autoservicio. A continuación, se indican los principales aspectos de esta configuración.</a:t>
            </a:r>
          </a:p>
        </p:txBody>
      </p:sp>
      <p:sp>
        <p:nvSpPr>
          <p:cNvPr id="6" name="Rectángulo 5">
            <a:extLst>
              <a:ext uri="{FF2B5EF4-FFF2-40B4-BE49-F238E27FC236}">
                <a16:creationId xmlns:a16="http://schemas.microsoft.com/office/drawing/2014/main" id="{D218B566-ACA1-B046-44AF-D7FD27264917}"/>
              </a:ext>
            </a:extLst>
          </p:cNvPr>
          <p:cNvSpPr/>
          <p:nvPr/>
        </p:nvSpPr>
        <p:spPr>
          <a:xfrm>
            <a:off x="939588" y="4388983"/>
            <a:ext cx="9621732" cy="20116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902529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04D66AB-D7F3-832A-123F-68DDBBD68E7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61398" y="478137"/>
            <a:ext cx="10477497" cy="898555"/>
          </a:xfrm>
        </p:spPr>
        <p:txBody>
          <a:bodyPr/>
          <a:lstStyle/>
          <a:p>
            <a:r>
              <a:rPr lang="es-ES_tradnl" dirty="0">
                <a:solidFill>
                  <a:schemeClr val="accent1"/>
                </a:solidFill>
              </a:rPr>
              <a:t>Perfil de acceso de los docentes</a:t>
            </a:r>
            <a:endParaRPr lang="es-ES_tradnl" b="1" dirty="0">
              <a:solidFill>
                <a:schemeClr val="accent1"/>
              </a:solidFill>
            </a:endParaRPr>
          </a:p>
        </p:txBody>
      </p:sp>
      <p:graphicFrame>
        <p:nvGraphicFramePr>
          <p:cNvPr id="3" name="Tabla 2">
            <a:extLst>
              <a:ext uri="{FF2B5EF4-FFF2-40B4-BE49-F238E27FC236}">
                <a16:creationId xmlns:a16="http://schemas.microsoft.com/office/drawing/2014/main" id="{0D4312AB-AD18-4B15-82B2-BB508E802216}"/>
              </a:ext>
            </a:extLst>
          </p:cNvPr>
          <p:cNvGraphicFramePr>
            <a:graphicFrameLocks noGrp="1"/>
          </p:cNvGraphicFramePr>
          <p:nvPr>
            <p:extLst>
              <p:ext uri="{D42A27DB-BD31-4B8C-83A1-F6EECF244321}">
                <p14:modId xmlns:p14="http://schemas.microsoft.com/office/powerpoint/2010/main" val="3396521346"/>
              </p:ext>
            </p:extLst>
          </p:nvPr>
        </p:nvGraphicFramePr>
        <p:xfrm>
          <a:off x="1052728" y="1122679"/>
          <a:ext cx="10086543" cy="5049520"/>
        </p:xfrm>
        <a:graphic>
          <a:graphicData uri="http://schemas.openxmlformats.org/drawingml/2006/table">
            <a:tbl>
              <a:tblPr firstRow="1" bandRow="1">
                <a:tableStyleId>{5C22544A-7EE6-4342-B048-85BDC9FD1C3A}</a:tableStyleId>
              </a:tblPr>
              <a:tblGrid>
                <a:gridCol w="1946614">
                  <a:extLst>
                    <a:ext uri="{9D8B030D-6E8A-4147-A177-3AD203B41FA5}">
                      <a16:colId xmlns:a16="http://schemas.microsoft.com/office/drawing/2014/main" val="202264394"/>
                    </a:ext>
                  </a:extLst>
                </a:gridCol>
                <a:gridCol w="8139929">
                  <a:extLst>
                    <a:ext uri="{9D8B030D-6E8A-4147-A177-3AD203B41FA5}">
                      <a16:colId xmlns:a16="http://schemas.microsoft.com/office/drawing/2014/main" val="1024685917"/>
                    </a:ext>
                  </a:extLst>
                </a:gridCol>
              </a:tblGrid>
              <a:tr h="370840">
                <a:tc>
                  <a:txBody>
                    <a:bodyPr/>
                    <a:lstStyle/>
                    <a:p>
                      <a:r>
                        <a:rPr lang="es-419" sz="1600" dirty="0"/>
                        <a:t>Concepto</a:t>
                      </a:r>
                    </a:p>
                  </a:txBody>
                  <a:tcPr/>
                </a:tc>
                <a:tc>
                  <a:txBody>
                    <a:bodyPr/>
                    <a:lstStyle/>
                    <a:p>
                      <a:r>
                        <a:rPr lang="es-419" sz="1600" dirty="0"/>
                        <a:t>Descripción</a:t>
                      </a:r>
                    </a:p>
                  </a:txBody>
                  <a:tcPr/>
                </a:tc>
                <a:extLst>
                  <a:ext uri="{0D108BD9-81ED-4DB2-BD59-A6C34878D82A}">
                    <a16:rowId xmlns:a16="http://schemas.microsoft.com/office/drawing/2014/main" val="1034691894"/>
                  </a:ext>
                </a:extLst>
              </a:tr>
              <a:tr h="370840">
                <a:tc>
                  <a:txBody>
                    <a:bodyPr/>
                    <a:lstStyle/>
                    <a:p>
                      <a:r>
                        <a:rPr lang="es-419" sz="1400" dirty="0"/>
                        <a:t>Docente o asesor</a:t>
                      </a:r>
                    </a:p>
                  </a:txBody>
                  <a:tcPr/>
                </a:tc>
                <a:tc>
                  <a:txBody>
                    <a:bodyPr/>
                    <a:lstStyle/>
                    <a:p>
                      <a:r>
                        <a:rPr lang="es-419" sz="1400" dirty="0"/>
                        <a:t>Se selecciona el perfil que tendrá acceso al proceso.</a:t>
                      </a:r>
                    </a:p>
                  </a:txBody>
                  <a:tcPr/>
                </a:tc>
                <a:extLst>
                  <a:ext uri="{0D108BD9-81ED-4DB2-BD59-A6C34878D82A}">
                    <a16:rowId xmlns:a16="http://schemas.microsoft.com/office/drawing/2014/main" val="1550262179"/>
                  </a:ext>
                </a:extLst>
              </a:tr>
              <a:tr h="370840">
                <a:tc>
                  <a:txBody>
                    <a:bodyPr/>
                    <a:lstStyle/>
                    <a:p>
                      <a:r>
                        <a:rPr lang="es-419" sz="1400" dirty="0"/>
                        <a:t>Proceso disponible en el autoservicio</a:t>
                      </a:r>
                    </a:p>
                  </a:txBody>
                  <a:tcPr/>
                </a:tc>
                <a:tc>
                  <a:txBody>
                    <a:bodyPr/>
                    <a:lstStyle/>
                    <a:p>
                      <a:r>
                        <a:rPr lang="es-419" sz="1400" dirty="0"/>
                        <a:t>Este indicador debe estar marcado para la regla de proceso a usar en el autoservicio</a:t>
                      </a:r>
                    </a:p>
                  </a:txBody>
                  <a:tcPr/>
                </a:tc>
                <a:extLst>
                  <a:ext uri="{0D108BD9-81ED-4DB2-BD59-A6C34878D82A}">
                    <a16:rowId xmlns:a16="http://schemas.microsoft.com/office/drawing/2014/main" val="2543645826"/>
                  </a:ext>
                </a:extLst>
              </a:tr>
              <a:tr h="370840">
                <a:tc>
                  <a:txBody>
                    <a:bodyPr/>
                    <a:lstStyle/>
                    <a:p>
                      <a:r>
                        <a:rPr lang="es-419" sz="1400" dirty="0"/>
                        <a:t>Control de NIP</a:t>
                      </a:r>
                    </a:p>
                  </a:txBody>
                  <a:tcPr/>
                </a:tc>
                <a:tc>
                  <a:txBody>
                    <a:bodyPr/>
                    <a:lstStyle/>
                    <a:p>
                      <a:r>
                        <a:rPr lang="es-419" sz="1400" dirty="0"/>
                        <a:t>La configuración de este indicador no aplica para control de asistencia.</a:t>
                      </a:r>
                    </a:p>
                  </a:txBody>
                  <a:tcPr/>
                </a:tc>
                <a:extLst>
                  <a:ext uri="{0D108BD9-81ED-4DB2-BD59-A6C34878D82A}">
                    <a16:rowId xmlns:a16="http://schemas.microsoft.com/office/drawing/2014/main" val="1582196101"/>
                  </a:ext>
                </a:extLst>
              </a:tr>
              <a:tr h="370840">
                <a:tc>
                  <a:txBody>
                    <a:bodyPr/>
                    <a:lstStyle/>
                    <a:p>
                      <a:r>
                        <a:rPr lang="es-419" sz="1400" dirty="0"/>
                        <a:t>Todos los accesos</a:t>
                      </a:r>
                    </a:p>
                  </a:txBody>
                  <a:tcPr/>
                </a:tc>
                <a:tc>
                  <a:txBody>
                    <a:bodyPr/>
                    <a:lstStyle/>
                    <a:p>
                      <a:r>
                        <a:rPr lang="es-419" sz="1400" dirty="0"/>
                        <a:t>Cuando este indicador está seleccionado, no se solicita ninguna seguridad para ingresar al proceso.</a:t>
                      </a:r>
                    </a:p>
                  </a:txBody>
                  <a:tcPr/>
                </a:tc>
                <a:extLst>
                  <a:ext uri="{0D108BD9-81ED-4DB2-BD59-A6C34878D82A}">
                    <a16:rowId xmlns:a16="http://schemas.microsoft.com/office/drawing/2014/main" val="736871640"/>
                  </a:ext>
                </a:extLst>
              </a:tr>
              <a:tr h="370840">
                <a:tc>
                  <a:txBody>
                    <a:bodyPr/>
                    <a:lstStyle/>
                    <a:p>
                      <a:r>
                        <a:rPr lang="es-419" sz="1400" dirty="0"/>
                        <a:t>Relación</a:t>
                      </a:r>
                    </a:p>
                  </a:txBody>
                  <a:tcPr/>
                </a:tc>
                <a:tc>
                  <a:txBody>
                    <a:bodyPr/>
                    <a:lstStyle/>
                    <a:p>
                      <a:r>
                        <a:rPr lang="es-419" sz="1400" kern="1200" dirty="0">
                          <a:solidFill>
                            <a:schemeClr val="dk1"/>
                          </a:solidFill>
                          <a:latin typeface="+mn-lt"/>
                          <a:ea typeface="+mn-ea"/>
                          <a:cs typeface="+mn-cs"/>
                        </a:rPr>
                        <a:t>Cuando este indicador está seleccionado, el docente o asesor debe cumplir con lo siguiente para poder realizar las acciones del proceso correspondiente:</a:t>
                      </a:r>
                    </a:p>
                    <a:p>
                      <a:pPr marL="285750" indent="-285750">
                        <a:buFont typeface="Arial" panose="020B0604020202020204" pitchFamily="34" charset="0"/>
                        <a:buChar char="•"/>
                      </a:pPr>
                      <a:r>
                        <a:rPr lang="es-419" sz="1400" kern="1200" dirty="0">
                          <a:solidFill>
                            <a:schemeClr val="dk1"/>
                          </a:solidFill>
                          <a:latin typeface="+mn-lt"/>
                          <a:ea typeface="+mn-ea"/>
                          <a:cs typeface="+mn-cs"/>
                        </a:rPr>
                        <a:t>El docente debe tener una relación de enseñanza con el alumno, de que es el instructor para una sección (NRC) en la que está inscrito el alumno. No tiene que ser el instructor principal.</a:t>
                      </a:r>
                    </a:p>
                    <a:p>
                      <a:pPr marL="285750" indent="-285750">
                        <a:buFont typeface="Arial" panose="020B0604020202020204" pitchFamily="34" charset="0"/>
                        <a:buChar char="•"/>
                      </a:pPr>
                      <a:r>
                        <a:rPr lang="es-419" sz="1400" kern="1200" dirty="0">
                          <a:solidFill>
                            <a:schemeClr val="dk1"/>
                          </a:solidFill>
                          <a:latin typeface="+mn-lt"/>
                          <a:ea typeface="+mn-ea"/>
                          <a:cs typeface="+mn-cs"/>
                        </a:rPr>
                        <a:t>El asesor debe tener una relación de asesor con el alumno, que está relacionado con el alumno en la página Asesor múltiple (SGAADVR). No tiene que ser el asesor principal.</a:t>
                      </a:r>
                    </a:p>
                  </a:txBody>
                  <a:tcPr/>
                </a:tc>
                <a:extLst>
                  <a:ext uri="{0D108BD9-81ED-4DB2-BD59-A6C34878D82A}">
                    <a16:rowId xmlns:a16="http://schemas.microsoft.com/office/drawing/2014/main" val="76560121"/>
                  </a:ext>
                </a:extLst>
              </a:tr>
              <a:tr h="370840">
                <a:tc>
                  <a:txBody>
                    <a:bodyPr/>
                    <a:lstStyle/>
                    <a:p>
                      <a:r>
                        <a:rPr lang="es-419" sz="1400" dirty="0"/>
                        <a:t>Principal</a:t>
                      </a:r>
                    </a:p>
                  </a:txBody>
                  <a:tcPr/>
                </a:tc>
                <a:tc>
                  <a:txBody>
                    <a:bodyPr/>
                    <a:lstStyle/>
                    <a:p>
                      <a:pPr marL="0" indent="0">
                        <a:buFont typeface="Arial" panose="020B0604020202020204" pitchFamily="34" charset="0"/>
                        <a:buNone/>
                      </a:pPr>
                      <a:r>
                        <a:rPr lang="es-419" sz="1400" kern="1200" dirty="0">
                          <a:solidFill>
                            <a:schemeClr val="dk1"/>
                          </a:solidFill>
                          <a:latin typeface="+mn-lt"/>
                          <a:ea typeface="+mn-ea"/>
                          <a:cs typeface="+mn-cs"/>
                        </a:rPr>
                        <a:t>Cuando este indicador está seleccionado, el docente debe ser el instructor principal y el asesor debe ser el asesor principal para poder realizar las acciones del proceso correspondiente:</a:t>
                      </a:r>
                    </a:p>
                    <a:p>
                      <a:pPr marL="285750" indent="-285750">
                        <a:buFont typeface="Arial" panose="020B0604020202020204" pitchFamily="34" charset="0"/>
                        <a:buChar char="•"/>
                      </a:pPr>
                      <a:r>
                        <a:rPr lang="es-419" sz="1400" kern="1200" dirty="0">
                          <a:solidFill>
                            <a:schemeClr val="dk1"/>
                          </a:solidFill>
                          <a:latin typeface="+mn-lt"/>
                          <a:ea typeface="+mn-ea"/>
                          <a:cs typeface="+mn-cs"/>
                        </a:rPr>
                        <a:t>El docente debe tener el Indicador de principal seleccionado en la página Horario (SSASECT).</a:t>
                      </a:r>
                    </a:p>
                    <a:p>
                      <a:pPr marL="285750" indent="-285750">
                        <a:buFont typeface="Arial" panose="020B0604020202020204" pitchFamily="34" charset="0"/>
                        <a:buChar char="•"/>
                      </a:pPr>
                      <a:r>
                        <a:rPr lang="es-419" sz="1400" kern="1200" dirty="0">
                          <a:solidFill>
                            <a:schemeClr val="dk1"/>
                          </a:solidFill>
                          <a:latin typeface="+mn-lt"/>
                          <a:ea typeface="+mn-ea"/>
                          <a:cs typeface="+mn-cs"/>
                        </a:rPr>
                        <a:t>El asesor debe tener el Indicador de principal seleccionado en la página Asesor múltiple (SGAADVR).</a:t>
                      </a:r>
                    </a:p>
                  </a:txBody>
                  <a:tcPr/>
                </a:tc>
                <a:extLst>
                  <a:ext uri="{0D108BD9-81ED-4DB2-BD59-A6C34878D82A}">
                    <a16:rowId xmlns:a16="http://schemas.microsoft.com/office/drawing/2014/main" val="228352512"/>
                  </a:ext>
                </a:extLst>
              </a:tr>
              <a:tr h="370840">
                <a:tc>
                  <a:txBody>
                    <a:bodyPr/>
                    <a:lstStyle/>
                    <a:p>
                      <a:r>
                        <a:rPr lang="es-419" sz="1400" dirty="0"/>
                        <a:t>Verificación de tipo de atributo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419" sz="1400" dirty="0"/>
                        <a:t>La configuración de este indicador no aplica para control de asistencia.</a:t>
                      </a:r>
                    </a:p>
                  </a:txBody>
                  <a:tcPr/>
                </a:tc>
                <a:extLst>
                  <a:ext uri="{0D108BD9-81ED-4DB2-BD59-A6C34878D82A}">
                    <a16:rowId xmlns:a16="http://schemas.microsoft.com/office/drawing/2014/main" val="3412855451"/>
                  </a:ext>
                </a:extLst>
              </a:tr>
            </a:tbl>
          </a:graphicData>
        </a:graphic>
      </p:graphicFrame>
    </p:spTree>
    <p:extLst>
      <p:ext uri="{BB962C8B-B14F-4D97-AF65-F5344CB8AC3E}">
        <p14:creationId xmlns:p14="http://schemas.microsoft.com/office/powerpoint/2010/main" val="4228153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Reglas de validación</a:t>
            </a:r>
            <a:endParaRPr lang="es-ES_tradnl" dirty="0"/>
          </a:p>
        </p:txBody>
      </p:sp>
      <p:sp>
        <p:nvSpPr>
          <p:cNvPr id="3" name="Marcador de texto 2">
            <a:extLst>
              <a:ext uri="{FF2B5EF4-FFF2-40B4-BE49-F238E27FC236}">
                <a16:creationId xmlns:a16="http://schemas.microsoft.com/office/drawing/2014/main" id="{FBA970A5-415F-34F2-697B-CC8953946AA3}"/>
              </a:ext>
            </a:extLst>
          </p:cNvPr>
          <p:cNvSpPr>
            <a:spLocks noGrp="1"/>
          </p:cNvSpPr>
          <p:nvPr>
            <p:ph type="body" sz="quarter" idx="18"/>
          </p:nvPr>
        </p:nvSpPr>
        <p:spPr/>
        <p:txBody>
          <a:bodyPr/>
          <a:lstStyle/>
          <a:p>
            <a:r>
              <a:rPr lang="es-419" dirty="0"/>
              <a:t>GTVSDAX</a:t>
            </a:r>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149243579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BAB4BD7-36FF-B347-A71B-BB3D0AF7AA92}"/>
              </a:ext>
            </a:extLst>
          </p:cNvPr>
          <p:cNvPicPr>
            <a:picLocks noChangeAspect="1"/>
          </p:cNvPicPr>
          <p:nvPr/>
        </p:nvPicPr>
        <p:blipFill>
          <a:blip r:embed="rId3"/>
          <a:stretch>
            <a:fillRect/>
          </a:stretch>
        </p:blipFill>
        <p:spPr>
          <a:xfrm>
            <a:off x="829650" y="974672"/>
            <a:ext cx="10532700" cy="490865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Clases anuladas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568102" y="4979676"/>
            <a:ext cx="7431933" cy="162686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de </a:t>
            </a:r>
            <a:r>
              <a:rPr lang="es-CO" sz="1200" b="1" dirty="0"/>
              <a:t>CLASSCANCL</a:t>
            </a:r>
            <a:r>
              <a:rPr lang="es-CO" sz="1200" dirty="0"/>
              <a:t> se usa para indicar si las clases anuladas se incluyen o excluyen del cálculo del porcentaje de asistencia. Las opciones son:</a:t>
            </a:r>
          </a:p>
          <a:p>
            <a:pPr marL="171450" indent="-171450">
              <a:buFont typeface="Arial" panose="020B0604020202020204" pitchFamily="34" charset="0"/>
              <a:buChar char="•"/>
            </a:pPr>
            <a:r>
              <a:rPr lang="es-CO" sz="1200" b="1" dirty="0"/>
              <a:t>N</a:t>
            </a:r>
            <a:r>
              <a:rPr lang="es-CO" sz="1200" dirty="0"/>
              <a:t>: las clases anuladas se toman en cuenta en el porcentaje de asistencia pero los alumnos se toman como ausentes.  </a:t>
            </a:r>
          </a:p>
          <a:p>
            <a:pPr marL="171450" indent="-171450">
              <a:buFont typeface="Arial" panose="020B0604020202020204" pitchFamily="34" charset="0"/>
              <a:buChar char="•"/>
            </a:pPr>
            <a:r>
              <a:rPr lang="es-CO" sz="1200" b="1" dirty="0"/>
              <a:t>Y</a:t>
            </a:r>
            <a:r>
              <a:rPr lang="es-CO" sz="1200" dirty="0"/>
              <a:t>: las clases anuladas se toman en cuenta en el porcentaje de asistencia pero los alumnos se toman como presentes.</a:t>
            </a:r>
          </a:p>
          <a:p>
            <a:pPr marL="171450" indent="-171450">
              <a:buFont typeface="Arial" panose="020B0604020202020204" pitchFamily="34" charset="0"/>
              <a:buChar char="•"/>
            </a:pPr>
            <a:r>
              <a:rPr lang="es-CO" sz="1200" b="1" dirty="0"/>
              <a:t>I</a:t>
            </a:r>
            <a:r>
              <a:rPr lang="es-CO" sz="1200" dirty="0"/>
              <a:t>: los datos no se consideran para el porcentaje de asistencia.</a:t>
            </a:r>
          </a:p>
        </p:txBody>
      </p:sp>
      <p:sp>
        <p:nvSpPr>
          <p:cNvPr id="25" name="Rectángulo 24">
            <a:extLst>
              <a:ext uri="{FF2B5EF4-FFF2-40B4-BE49-F238E27FC236}">
                <a16:creationId xmlns:a16="http://schemas.microsoft.com/office/drawing/2014/main" id="{C05F024C-157B-4B78-9C25-998E006664FF}"/>
              </a:ext>
            </a:extLst>
          </p:cNvPr>
          <p:cNvSpPr/>
          <p:nvPr/>
        </p:nvSpPr>
        <p:spPr>
          <a:xfrm>
            <a:off x="986919" y="2447481"/>
            <a:ext cx="1470347" cy="2125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105646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0F1FE8E-91C5-93E1-D213-902B85827BCC}"/>
              </a:ext>
            </a:extLst>
          </p:cNvPr>
          <p:cNvPicPr>
            <a:picLocks noChangeAspect="1"/>
          </p:cNvPicPr>
          <p:nvPr/>
        </p:nvPicPr>
        <p:blipFill>
          <a:blip r:embed="rId3"/>
          <a:stretch>
            <a:fillRect/>
          </a:stretch>
        </p:blipFill>
        <p:spPr>
          <a:xfrm>
            <a:off x="884852" y="1281192"/>
            <a:ext cx="10671141" cy="500958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Ausencias notificadas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331395" y="4825874"/>
            <a:ext cx="7529209" cy="1495687"/>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de </a:t>
            </a:r>
            <a:r>
              <a:rPr lang="es-CO" sz="1200" b="1" dirty="0"/>
              <a:t>NOTIFYABS</a:t>
            </a:r>
            <a:r>
              <a:rPr lang="es-CO" sz="1200" dirty="0"/>
              <a:t> se usa para indicar si cuando el alumno tiene una ausencia notificada, ésta se incluirá o excluirá del cálculo del porcentaje de asistencia. Las opciones son:</a:t>
            </a:r>
          </a:p>
          <a:p>
            <a:pPr marL="228594" indent="-228594">
              <a:buFont typeface="Arial" panose="020B0604020202020204" pitchFamily="34" charset="0"/>
              <a:buChar char="•"/>
            </a:pPr>
            <a:r>
              <a:rPr lang="es-CO" sz="1200" b="1" dirty="0"/>
              <a:t>N</a:t>
            </a:r>
            <a:r>
              <a:rPr lang="es-CO" sz="1200" dirty="0"/>
              <a:t>: las ausencias notificadas se excluyen del cálculo del porcentaje de asistencia.</a:t>
            </a:r>
          </a:p>
          <a:p>
            <a:pPr marL="228594" indent="-228594">
              <a:buFont typeface="Arial" panose="020B0604020202020204" pitchFamily="34" charset="0"/>
              <a:buChar char="•"/>
            </a:pPr>
            <a:r>
              <a:rPr lang="es-CO" sz="1200" b="1" dirty="0"/>
              <a:t>Y</a:t>
            </a:r>
            <a:r>
              <a:rPr lang="es-CO" sz="1200" dirty="0"/>
              <a:t>: las ausencias notificadas cuentan como presente.</a:t>
            </a:r>
          </a:p>
          <a:p>
            <a:pPr marL="228594" indent="-228594">
              <a:buFont typeface="Arial" panose="020B0604020202020204" pitchFamily="34" charset="0"/>
              <a:buChar char="•"/>
            </a:pPr>
            <a:r>
              <a:rPr lang="es-CO" sz="1200" b="1" dirty="0"/>
              <a:t>I</a:t>
            </a:r>
            <a:r>
              <a:rPr lang="es-CO" sz="1200" dirty="0"/>
              <a:t>: las ausencias notificadas no se incluyen como presencia ni como presencia.</a:t>
            </a:r>
          </a:p>
          <a:p>
            <a:endParaRPr lang="es-CO" sz="1200" b="1" dirty="0"/>
          </a:p>
        </p:txBody>
      </p:sp>
      <p:sp>
        <p:nvSpPr>
          <p:cNvPr id="25" name="Rectángulo 24">
            <a:extLst>
              <a:ext uri="{FF2B5EF4-FFF2-40B4-BE49-F238E27FC236}">
                <a16:creationId xmlns:a16="http://schemas.microsoft.com/office/drawing/2014/main" id="{C05F024C-157B-4B78-9C25-998E006664FF}"/>
              </a:ext>
            </a:extLst>
          </p:cNvPr>
          <p:cNvSpPr/>
          <p:nvPr/>
        </p:nvSpPr>
        <p:spPr>
          <a:xfrm>
            <a:off x="1116229" y="2780145"/>
            <a:ext cx="1377590" cy="2311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49200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8814F41-8867-10A2-A81D-6AC1BE382A47}"/>
              </a:ext>
            </a:extLst>
          </p:cNvPr>
          <p:cNvPicPr>
            <a:picLocks noChangeAspect="1"/>
          </p:cNvPicPr>
          <p:nvPr/>
        </p:nvPicPr>
        <p:blipFill>
          <a:blip r:embed="rId3"/>
          <a:stretch>
            <a:fillRect/>
          </a:stretch>
        </p:blipFill>
        <p:spPr>
          <a:xfrm>
            <a:off x="829650" y="1412895"/>
            <a:ext cx="10383295" cy="488275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Número de registros en autoservicios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358996" y="4937465"/>
            <a:ext cx="7529209" cy="102044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a:t>
            </a:r>
            <a:r>
              <a:rPr lang="es-CO" sz="1200" b="1" dirty="0"/>
              <a:t>RECPERPAGE</a:t>
            </a:r>
            <a:r>
              <a:rPr lang="es-CO" sz="1200" dirty="0"/>
              <a:t> se usa para indicar el número de registros (alumnos) que se despliegan en una página de Autoservicio cuando el docente está registrando la asistencia. </a:t>
            </a:r>
          </a:p>
          <a:p>
            <a:r>
              <a:rPr lang="es-CO" sz="1200" dirty="0"/>
              <a:t>Por defecto se definen 10, pero puede actualizarse el valor.</a:t>
            </a:r>
          </a:p>
        </p:txBody>
      </p:sp>
      <p:sp>
        <p:nvSpPr>
          <p:cNvPr id="25" name="Rectángulo 24">
            <a:extLst>
              <a:ext uri="{FF2B5EF4-FFF2-40B4-BE49-F238E27FC236}">
                <a16:creationId xmlns:a16="http://schemas.microsoft.com/office/drawing/2014/main" id="{C05F024C-157B-4B78-9C25-998E006664FF}"/>
              </a:ext>
            </a:extLst>
          </p:cNvPr>
          <p:cNvSpPr/>
          <p:nvPr/>
        </p:nvSpPr>
        <p:spPr>
          <a:xfrm>
            <a:off x="1097755" y="2855847"/>
            <a:ext cx="1506900" cy="21986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0421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1D3596A-B14E-9792-E57E-8D162E1CF736}"/>
              </a:ext>
            </a:extLst>
          </p:cNvPr>
          <p:cNvPicPr>
            <a:picLocks noChangeAspect="1"/>
          </p:cNvPicPr>
          <p:nvPr/>
        </p:nvPicPr>
        <p:blipFill>
          <a:blip r:embed="rId3"/>
          <a:stretch>
            <a:fillRect/>
          </a:stretch>
        </p:blipFill>
        <p:spPr>
          <a:xfrm>
            <a:off x="829650" y="1281192"/>
            <a:ext cx="10635791" cy="5031868"/>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Límites de porcentaje de asistencia</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617833" y="5162868"/>
            <a:ext cx="7529209" cy="123210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Las reglas </a:t>
            </a:r>
            <a:r>
              <a:rPr lang="es-CO" sz="1200" b="1" dirty="0"/>
              <a:t>CUTOFFHIGH</a:t>
            </a:r>
            <a:r>
              <a:rPr lang="es-CO" sz="1200" dirty="0"/>
              <a:t>  y </a:t>
            </a:r>
            <a:r>
              <a:rPr lang="es-CO" sz="1200" b="1" dirty="0"/>
              <a:t>CUTOFFLOW </a:t>
            </a:r>
            <a:r>
              <a:rPr lang="es-CO" sz="1200" dirty="0"/>
              <a:t>se usan para </a:t>
            </a:r>
            <a:r>
              <a:rPr lang="es-419" sz="1200" dirty="0"/>
              <a:t>para el despliegue del porcentaje de asistencia en diferentes colores, en el autoservicio, como alerta ante un nivel bajo de asistencia. Los valores ingresados definen el siguiente criterio para los límites de porcentaje:</a:t>
            </a:r>
          </a:p>
          <a:p>
            <a:pPr algn="ctr"/>
            <a:r>
              <a:rPr lang="en-US" sz="1200" dirty="0"/>
              <a:t>Baja </a:t>
            </a:r>
            <a:r>
              <a:rPr lang="en-US" sz="1200" dirty="0" err="1"/>
              <a:t>asistencia</a:t>
            </a:r>
            <a:r>
              <a:rPr lang="en-US" sz="1200" dirty="0"/>
              <a:t> &lt;= CUTOFFLOW &lt; </a:t>
            </a:r>
            <a:r>
              <a:rPr lang="en-US" sz="1200" dirty="0" err="1"/>
              <a:t>asistencia</a:t>
            </a:r>
            <a:r>
              <a:rPr lang="en-US" sz="1200" dirty="0"/>
              <a:t> ‘acceptable’ &lt;= CUTOFFHIGH &lt; </a:t>
            </a:r>
            <a:r>
              <a:rPr lang="en-US" sz="1200" dirty="0" err="1"/>
              <a:t>alta</a:t>
            </a:r>
            <a:r>
              <a:rPr lang="en-US" sz="1200" dirty="0"/>
              <a:t> </a:t>
            </a:r>
            <a:r>
              <a:rPr lang="en-US" sz="1200" dirty="0" err="1"/>
              <a:t>asistencia</a:t>
            </a:r>
            <a:endParaRPr lang="es-CO" sz="1200" dirty="0"/>
          </a:p>
        </p:txBody>
      </p:sp>
      <p:sp>
        <p:nvSpPr>
          <p:cNvPr id="25" name="Rectángulo 24">
            <a:extLst>
              <a:ext uri="{FF2B5EF4-FFF2-40B4-BE49-F238E27FC236}">
                <a16:creationId xmlns:a16="http://schemas.microsoft.com/office/drawing/2014/main" id="{C05F024C-157B-4B78-9C25-998E006664FF}"/>
              </a:ext>
            </a:extLst>
          </p:cNvPr>
          <p:cNvSpPr/>
          <p:nvPr/>
        </p:nvSpPr>
        <p:spPr>
          <a:xfrm>
            <a:off x="1013154" y="2273897"/>
            <a:ext cx="1319607" cy="19230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1A427DFD-3FD0-3855-6A95-E4A91F56A376}"/>
              </a:ext>
            </a:extLst>
          </p:cNvPr>
          <p:cNvSpPr/>
          <p:nvPr/>
        </p:nvSpPr>
        <p:spPr>
          <a:xfrm>
            <a:off x="1013154" y="4464920"/>
            <a:ext cx="1319607" cy="1645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086887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2BCF838-2D84-4A32-481C-9C365DB389BD}"/>
              </a:ext>
            </a:extLst>
          </p:cNvPr>
          <p:cNvPicPr>
            <a:picLocks noChangeAspect="1"/>
          </p:cNvPicPr>
          <p:nvPr/>
        </p:nvPicPr>
        <p:blipFill>
          <a:blip r:embed="rId3"/>
          <a:stretch>
            <a:fillRect/>
          </a:stretch>
        </p:blipFill>
        <p:spPr>
          <a:xfrm>
            <a:off x="857251" y="1362816"/>
            <a:ext cx="10477498" cy="4940875"/>
          </a:xfrm>
          <a:prstGeom prst="rect">
            <a:avLst/>
          </a:prstGeom>
        </p:spPr>
      </p:pic>
      <p:sp>
        <p:nvSpPr>
          <p:cNvPr id="5" name="Marcador de texto vertical 4">
            <a:extLst>
              <a:ext uri="{FF2B5EF4-FFF2-40B4-BE49-F238E27FC236}">
                <a16:creationId xmlns:a16="http://schemas.microsoft.com/office/drawing/2014/main" id="{70565971-23ED-0DF2-5286-918D46BCAF51}"/>
              </a:ext>
            </a:extLst>
          </p:cNvPr>
          <p:cNvSpPr>
            <a:spLocks noGrp="1"/>
          </p:cNvSpPr>
          <p:nvPr>
            <p:ph type="body" orient="vert" sz="quarter" idx="17"/>
          </p:nvPr>
        </p:nvSpPr>
        <p:spPr/>
        <p:txBody>
          <a:bodyPr/>
          <a:lstStyle/>
          <a:p>
            <a:r>
              <a:rPr lang="es-419" dirty="0"/>
              <a:t>Gestionar asistencia a clases</a:t>
            </a:r>
          </a:p>
        </p:txBody>
      </p:sp>
      <p:sp>
        <p:nvSpPr>
          <p:cNvPr id="13" name="Title 12"/>
          <p:cNvSpPr>
            <a:spLocks noGrp="1"/>
          </p:cNvSpPr>
          <p:nvPr>
            <p:ph type="title"/>
          </p:nvPr>
        </p:nvSpPr>
        <p:spPr>
          <a:xfrm>
            <a:off x="857251" y="382476"/>
            <a:ext cx="10477497" cy="898555"/>
          </a:xfrm>
        </p:spPr>
        <p:txBody>
          <a:bodyPr/>
          <a:lstStyle/>
          <a:p>
            <a:r>
              <a:rPr lang="es-ES_tradnl" b="1" dirty="0">
                <a:solidFill>
                  <a:schemeClr val="accent1"/>
                </a:solidFill>
              </a:rPr>
              <a:t>Reglas de validación: Visualización de sesiones en autoservicios</a:t>
            </a:r>
          </a:p>
        </p:txBody>
      </p:sp>
      <p:sp>
        <p:nvSpPr>
          <p:cNvPr id="6" name="Rectángulo redondeado 5">
            <a:extLst>
              <a:ext uri="{FF2B5EF4-FFF2-40B4-BE49-F238E27FC236}">
                <a16:creationId xmlns:a16="http://schemas.microsoft.com/office/drawing/2014/main" id="{D8A67FA1-D0B5-1589-D9D6-2191369C6DC9}"/>
              </a:ext>
            </a:extLst>
          </p:cNvPr>
          <p:cNvSpPr/>
          <p:nvPr/>
        </p:nvSpPr>
        <p:spPr>
          <a:xfrm>
            <a:off x="2358996" y="4360233"/>
            <a:ext cx="7529209" cy="15976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a:t>
            </a:r>
            <a:r>
              <a:rPr lang="es-CO" sz="1200" b="1" dirty="0"/>
              <a:t>NOMEET</a:t>
            </a:r>
            <a:r>
              <a:rPr lang="es-CO" sz="1200" dirty="0"/>
              <a:t> se usa para cómo visualizarán las sesiones de clases tanto los docentes como los estudiantes. Las opciones son:</a:t>
            </a:r>
          </a:p>
          <a:p>
            <a:pPr marL="228594" indent="-228594">
              <a:buFont typeface="Arial" panose="020B0604020202020204" pitchFamily="34" charset="0"/>
              <a:buChar char="•"/>
            </a:pPr>
            <a:r>
              <a:rPr lang="es-ES_tradnl" sz="1200" b="1" dirty="0"/>
              <a:t>N</a:t>
            </a:r>
            <a:r>
              <a:rPr lang="es-ES_tradnl" sz="1200" dirty="0"/>
              <a:t>: si desea que el profesor y los estudiantes solo visualicen </a:t>
            </a:r>
            <a:r>
              <a:rPr lang="es-CO" sz="1200" dirty="0"/>
              <a:t>las clases que tienen días específicos de la semana y horas en los días programados para los NRC.</a:t>
            </a:r>
          </a:p>
          <a:p>
            <a:pPr marL="228594" indent="-228594">
              <a:buFont typeface="Arial" panose="020B0604020202020204" pitchFamily="34" charset="0"/>
              <a:buChar char="•"/>
            </a:pPr>
            <a:r>
              <a:rPr lang="es-CO" sz="1200" b="1" dirty="0"/>
              <a:t>Y</a:t>
            </a:r>
            <a:r>
              <a:rPr lang="es-CO" sz="1200" dirty="0"/>
              <a:t>: los docentes y estudiantes podrán visualizar en el autoservicio todas las clases, aun aquellas sin horas programadas en los NRC.</a:t>
            </a:r>
          </a:p>
        </p:txBody>
      </p:sp>
      <p:sp>
        <p:nvSpPr>
          <p:cNvPr id="7" name="Rectángulo 6">
            <a:extLst>
              <a:ext uri="{FF2B5EF4-FFF2-40B4-BE49-F238E27FC236}">
                <a16:creationId xmlns:a16="http://schemas.microsoft.com/office/drawing/2014/main" id="{87B5CDAE-D231-DAC1-F798-F2EF5EBD7728}"/>
              </a:ext>
            </a:extLst>
          </p:cNvPr>
          <p:cNvSpPr/>
          <p:nvPr/>
        </p:nvSpPr>
        <p:spPr>
          <a:xfrm>
            <a:off x="1263645" y="2369265"/>
            <a:ext cx="1470347" cy="2570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69136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Despliegue de nombre del alumno</a:t>
            </a:r>
            <a:endParaRPr lang="es-ES_tradnl"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1172937429"/>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617D030-AD87-D895-A4B6-3246942B32C9}"/>
              </a:ext>
            </a:extLst>
          </p:cNvPr>
          <p:cNvPicPr>
            <a:picLocks noChangeAspect="1"/>
          </p:cNvPicPr>
          <p:nvPr/>
        </p:nvPicPr>
        <p:blipFill>
          <a:blip r:embed="rId3"/>
          <a:stretch>
            <a:fillRect/>
          </a:stretch>
        </p:blipFill>
        <p:spPr>
          <a:xfrm>
            <a:off x="685800" y="1115204"/>
            <a:ext cx="10962861" cy="521194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1313236" y="3236356"/>
            <a:ext cx="8677070" cy="114717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página </a:t>
            </a:r>
            <a:r>
              <a:rPr lang="es-419" sz="1200" b="1" dirty="0"/>
              <a:t>GUANDSP</a:t>
            </a:r>
            <a:r>
              <a:rPr lang="es-419" sz="1200" dirty="0"/>
              <a:t> existen reglas de despliegue de nombre predefinidas. Antes de crear una nueva regla, verifique si una de las que ya existen corresponde a lo requerido por la institución.</a:t>
            </a:r>
          </a:p>
          <a:p>
            <a:r>
              <a:rPr lang="es-419" sz="1200" dirty="0"/>
              <a:t>A continuación, se muestran la definición de la regla LEGAL, como ejemplo para su definición:</a:t>
            </a:r>
            <a:endParaRPr lang="es-CO" sz="1200" dirty="0"/>
          </a:p>
        </p:txBody>
      </p:sp>
    </p:spTree>
    <p:extLst>
      <p:ext uri="{BB962C8B-B14F-4D97-AF65-F5344CB8AC3E}">
        <p14:creationId xmlns:p14="http://schemas.microsoft.com/office/powerpoint/2010/main" val="2310770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EE44B10-B2CB-0031-4F61-E02FFE3BC088}"/>
              </a:ext>
            </a:extLst>
          </p:cNvPr>
          <p:cNvPicPr>
            <a:picLocks noChangeAspect="1"/>
          </p:cNvPicPr>
          <p:nvPr/>
        </p:nvPicPr>
        <p:blipFill>
          <a:blip r:embed="rId3"/>
          <a:stretch>
            <a:fillRect/>
          </a:stretch>
        </p:blipFill>
        <p:spPr>
          <a:xfrm>
            <a:off x="685800" y="1115204"/>
            <a:ext cx="10962861" cy="521194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569891" y="2191173"/>
            <a:ext cx="10792459" cy="10828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335755" y="3936337"/>
            <a:ext cx="9260730"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Único, bloque </a:t>
            </a:r>
            <a:r>
              <a:rPr lang="es-419" sz="1200" b="1" dirty="0"/>
              <a:t>Regla de nombre único</a:t>
            </a:r>
            <a:r>
              <a:rPr lang="es-419" sz="1200" dirty="0"/>
              <a:t>, se visualizan:</a:t>
            </a:r>
          </a:p>
          <a:p>
            <a:pPr marL="171450" indent="-171450">
              <a:buFont typeface="Arial" panose="020B0604020202020204" pitchFamily="34" charset="0"/>
              <a:buChar char="•"/>
            </a:pPr>
            <a:r>
              <a:rPr lang="es-419" sz="1200" dirty="0"/>
              <a:t>El </a:t>
            </a:r>
            <a:r>
              <a:rPr lang="es-419" sz="1200" b="1" dirty="0"/>
              <a:t>nombre de uso</a:t>
            </a:r>
          </a:p>
          <a:p>
            <a:pPr marL="171450" indent="-171450">
              <a:buFont typeface="Arial" panose="020B0604020202020204" pitchFamily="34" charset="0"/>
              <a:buChar char="•"/>
            </a:pPr>
            <a:r>
              <a:rPr lang="es-419" sz="1200" dirty="0"/>
              <a:t>La </a:t>
            </a:r>
            <a:r>
              <a:rPr lang="es-419" sz="1200" b="1" dirty="0"/>
              <a:t>prioridad</a:t>
            </a:r>
            <a:r>
              <a:rPr lang="es-419" sz="1200" dirty="0"/>
              <a:t> que se da a esta regla</a:t>
            </a:r>
            <a:r>
              <a:rPr lang="es-CO" sz="1200" dirty="0"/>
              <a:t> (en aquellos procesos en los que no haya una regla establecida, se aplica el orden de prioridad)</a:t>
            </a:r>
          </a:p>
          <a:p>
            <a:pPr marL="171450" indent="-171450">
              <a:buFont typeface="Arial" panose="020B0604020202020204" pitchFamily="34" charset="0"/>
              <a:buChar char="•"/>
            </a:pPr>
            <a:r>
              <a:rPr lang="es-419" sz="1200" dirty="0"/>
              <a:t>El </a:t>
            </a:r>
            <a:r>
              <a:rPr lang="es-419" sz="1200" b="1" dirty="0"/>
              <a:t>tipo de nombre </a:t>
            </a:r>
            <a:r>
              <a:rPr lang="es-419" sz="1200" dirty="0"/>
              <a:t>que debe tomar de la página SPAIDEN. Si el valor es ***, toma el registro actual de la persona en SPAIDEN.</a:t>
            </a:r>
          </a:p>
          <a:p>
            <a:pPr marL="171450" indent="-171450">
              <a:buFont typeface="Arial" panose="020B0604020202020204" pitchFamily="34" charset="0"/>
              <a:buChar char="•"/>
            </a:pPr>
            <a:r>
              <a:rPr lang="es-419" sz="1200" b="1" dirty="0"/>
              <a:t>Activo</a:t>
            </a:r>
            <a:r>
              <a:rPr lang="es-419" sz="1200" dirty="0"/>
              <a:t> (si está marcado se puede usar la regla)</a:t>
            </a:r>
          </a:p>
          <a:p>
            <a:pPr marL="171450" indent="-171450">
              <a:buFont typeface="Arial" panose="020B0604020202020204" pitchFamily="34" charset="0"/>
              <a:buChar char="•"/>
            </a:pPr>
            <a:r>
              <a:rPr lang="es-419" sz="1200" b="1" dirty="0"/>
              <a:t>Longitud máxima</a:t>
            </a:r>
            <a:r>
              <a:rPr lang="es-419" sz="1200" dirty="0"/>
              <a:t>, en donde está definido el máximo de caracteres que se visualizarán en el nombre a desplegar</a:t>
            </a:r>
          </a:p>
          <a:p>
            <a:pPr marL="171450" indent="-171450">
              <a:buFont typeface="Arial" panose="020B0604020202020204" pitchFamily="34" charset="0"/>
              <a:buChar char="•"/>
            </a:pPr>
            <a:r>
              <a:rPr lang="es-419" sz="1200" b="1" dirty="0"/>
              <a:t>Comentarios</a:t>
            </a:r>
            <a:r>
              <a:rPr lang="es-419" sz="1200" dirty="0"/>
              <a:t>, si aplica.</a:t>
            </a:r>
          </a:p>
        </p:txBody>
      </p:sp>
    </p:spTree>
    <p:extLst>
      <p:ext uri="{BB962C8B-B14F-4D97-AF65-F5344CB8AC3E}">
        <p14:creationId xmlns:p14="http://schemas.microsoft.com/office/powerpoint/2010/main" val="1984198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75A9C85-22D5-4D36-818F-6CC2A32DE1E4}"/>
              </a:ext>
            </a:extLst>
          </p:cNvPr>
          <p:cNvPicPr>
            <a:picLocks noChangeAspect="1"/>
          </p:cNvPicPr>
          <p:nvPr/>
        </p:nvPicPr>
        <p:blipFill>
          <a:blip r:embed="rId3"/>
          <a:stretch>
            <a:fillRect/>
          </a:stretch>
        </p:blipFill>
        <p:spPr>
          <a:xfrm>
            <a:off x="829650" y="1118624"/>
            <a:ext cx="10968098" cy="520113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901825" y="2311954"/>
            <a:ext cx="10792459" cy="230750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273031" y="4658368"/>
            <a:ext cx="9260730"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a:t>
            </a:r>
            <a:r>
              <a:rPr lang="es-419" sz="1200" b="1" dirty="0"/>
              <a:t>Único</a:t>
            </a:r>
            <a:r>
              <a:rPr lang="es-419" sz="1200" dirty="0"/>
              <a:t>, bloque </a:t>
            </a:r>
            <a:r>
              <a:rPr lang="es-419" sz="1200" b="1" dirty="0"/>
              <a:t>Secuencia de nombre</a:t>
            </a:r>
            <a:r>
              <a:rPr lang="es-419" sz="1200" dirty="0"/>
              <a:t>, se visualiza el orden en el que la regla organizará los elementos de SPAIDEN para el despliegue del nombre. En la imagen de esta diapositiva la regla ordena el nombre de la siguiente manera:</a:t>
            </a:r>
          </a:p>
          <a:p>
            <a:pPr marL="228600" indent="-228600">
              <a:buAutoNum type="arabicPeriod"/>
            </a:pPr>
            <a:r>
              <a:rPr lang="es-419" sz="1200" dirty="0"/>
              <a:t>Nombre</a:t>
            </a:r>
          </a:p>
          <a:p>
            <a:pPr marL="228600" indent="-228600">
              <a:buAutoNum type="arabicPeriod"/>
            </a:pPr>
            <a:r>
              <a:rPr lang="es-419" sz="1200" dirty="0"/>
              <a:t>Prefijo de apellido</a:t>
            </a:r>
          </a:p>
          <a:p>
            <a:pPr marL="228600" indent="-228600">
              <a:buAutoNum type="arabicPeriod"/>
            </a:pPr>
            <a:r>
              <a:rPr lang="es-419" sz="1200" dirty="0"/>
              <a:t>Apellido</a:t>
            </a:r>
          </a:p>
          <a:p>
            <a:r>
              <a:rPr lang="es-419" sz="1200" dirty="0"/>
              <a:t>Todos los elementos los trae de SPAIDEN.</a:t>
            </a:r>
          </a:p>
        </p:txBody>
      </p:sp>
    </p:spTree>
    <p:extLst>
      <p:ext uri="{BB962C8B-B14F-4D97-AF65-F5344CB8AC3E}">
        <p14:creationId xmlns:p14="http://schemas.microsoft.com/office/powerpoint/2010/main" val="1981411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5F13C51-76C0-510B-58AB-0C6B64825E62}"/>
              </a:ext>
            </a:extLst>
          </p:cNvPr>
          <p:cNvPicPr>
            <a:picLocks noChangeAspect="1"/>
          </p:cNvPicPr>
          <p:nvPr/>
        </p:nvPicPr>
        <p:blipFill>
          <a:blip r:embed="rId3"/>
          <a:stretch>
            <a:fillRect/>
          </a:stretch>
        </p:blipFill>
        <p:spPr>
          <a:xfrm>
            <a:off x="829650" y="1118624"/>
            <a:ext cx="10968098" cy="520113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754360" y="5326951"/>
            <a:ext cx="10683279" cy="11446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890226" y="2503428"/>
            <a:ext cx="9002037"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a:t>
            </a:r>
            <a:r>
              <a:rPr lang="es-419" sz="1200" b="1" dirty="0"/>
              <a:t>Único</a:t>
            </a:r>
            <a:r>
              <a:rPr lang="es-419" sz="1200" dirty="0"/>
              <a:t>, bloque </a:t>
            </a:r>
            <a:r>
              <a:rPr lang="es-419" sz="1200" b="1" dirty="0"/>
              <a:t>Secuencia de literal</a:t>
            </a:r>
            <a:r>
              <a:rPr lang="es-419" sz="1200" dirty="0"/>
              <a:t>, se visualiza, si aplica, el ordenen que se agregaría un literal o símbolo que se agregue en el despliegue del nombre. La secuencia de nombre y la secuencia de literal deben estar “combinadas”. En la imagen de esta diapositiva la regla ordena el nombre de la siguiente manera:</a:t>
            </a:r>
          </a:p>
          <a:p>
            <a:pPr marL="228600" indent="-228600">
              <a:buAutoNum type="arabicPeriod"/>
            </a:pPr>
            <a:r>
              <a:rPr lang="es-419" sz="1200" dirty="0"/>
              <a:t>Apellido</a:t>
            </a:r>
          </a:p>
          <a:p>
            <a:pPr marL="228600" indent="-228600">
              <a:buAutoNum type="arabicPeriod"/>
            </a:pPr>
            <a:r>
              <a:rPr lang="es-419" sz="1200" dirty="0"/>
              <a:t>El símbolo </a:t>
            </a:r>
            <a:r>
              <a:rPr lang="es-419" sz="1200" b="1" dirty="0"/>
              <a:t>,</a:t>
            </a:r>
            <a:r>
              <a:rPr lang="es-419" sz="1200" dirty="0"/>
              <a:t> </a:t>
            </a:r>
          </a:p>
          <a:p>
            <a:pPr marL="228600" indent="-228600">
              <a:buAutoNum type="arabicPeriod"/>
            </a:pPr>
            <a:r>
              <a:rPr lang="es-419" sz="1200" dirty="0"/>
              <a:t>Nombre</a:t>
            </a:r>
          </a:p>
          <a:p>
            <a:r>
              <a:rPr lang="es-419" sz="1200" dirty="0"/>
              <a:t>Los símbolos o literales siempre deben estar ingresados entre corchetes.</a:t>
            </a:r>
          </a:p>
        </p:txBody>
      </p:sp>
    </p:spTree>
    <p:extLst>
      <p:ext uri="{BB962C8B-B14F-4D97-AF65-F5344CB8AC3E}">
        <p14:creationId xmlns:p14="http://schemas.microsoft.com/office/powerpoint/2010/main" val="260215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81EDE7B-929E-C04F-EF23-31D3D64F6B3D}"/>
              </a:ext>
            </a:extLst>
          </p:cNvPr>
          <p:cNvPicPr>
            <a:picLocks noChangeAspect="1"/>
          </p:cNvPicPr>
          <p:nvPr/>
        </p:nvPicPr>
        <p:blipFill>
          <a:blip r:embed="rId3"/>
          <a:stretch>
            <a:fillRect/>
          </a:stretch>
        </p:blipFill>
        <p:spPr>
          <a:xfrm>
            <a:off x="609600" y="1253299"/>
            <a:ext cx="10707043" cy="505207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1742449" y="1740491"/>
            <a:ext cx="674056" cy="15925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332332" y="4218531"/>
            <a:ext cx="9002037"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Font typeface="+mj-lt"/>
              <a:buAutoNum type="arabicPeriod"/>
            </a:pPr>
            <a:r>
              <a:rPr lang="es-419" sz="1200" dirty="0"/>
              <a:t>Si desea </a:t>
            </a:r>
            <a:r>
              <a:rPr lang="es-419" sz="1200" dirty="0" err="1"/>
              <a:t>pre-visualizar</a:t>
            </a:r>
            <a:r>
              <a:rPr lang="es-419" sz="1200" dirty="0"/>
              <a:t> el despliegue del nombre en las reglas existentes, presione la pestaña </a:t>
            </a:r>
            <a:r>
              <a:rPr lang="es-419" sz="1200" b="1" dirty="0"/>
              <a:t>Reglas de Prueba</a:t>
            </a:r>
          </a:p>
          <a:p>
            <a:pPr marL="228600" indent="-228600">
              <a:buFont typeface="+mj-lt"/>
              <a:buAutoNum type="arabicPeriod"/>
            </a:pPr>
            <a:r>
              <a:rPr lang="es-419" sz="1200" dirty="0"/>
              <a:t>Ingrese un </a:t>
            </a:r>
            <a:r>
              <a:rPr lang="es-419" sz="1200" b="1" dirty="0"/>
              <a:t>ID</a:t>
            </a:r>
            <a:r>
              <a:rPr lang="es-419" sz="1200" dirty="0"/>
              <a:t> de una persona que exista en el sistema</a:t>
            </a:r>
          </a:p>
          <a:p>
            <a:pPr marL="228600" indent="-228600">
              <a:buFont typeface="+mj-lt"/>
              <a:buAutoNum type="arabicPeriod"/>
            </a:pPr>
            <a:r>
              <a:rPr lang="es-419" sz="1200" dirty="0"/>
              <a:t>Digite el código del nombre de </a:t>
            </a:r>
            <a:r>
              <a:rPr lang="es-419" sz="1200" b="1" dirty="0"/>
              <a:t>Uso</a:t>
            </a:r>
            <a:r>
              <a:rPr lang="es-419" sz="1200" dirty="0"/>
              <a:t> que desea visualizar</a:t>
            </a:r>
          </a:p>
          <a:p>
            <a:pPr marL="228600" indent="-228600">
              <a:buFont typeface="+mj-lt"/>
              <a:buAutoNum type="arabicPeriod"/>
            </a:pPr>
            <a:r>
              <a:rPr lang="es-419" sz="1200" dirty="0"/>
              <a:t>Presione el botón </a:t>
            </a:r>
            <a:r>
              <a:rPr lang="es-419" sz="1200" b="1" dirty="0"/>
              <a:t>Prueba</a:t>
            </a:r>
          </a:p>
          <a:p>
            <a:pPr marL="228600" indent="-228600">
              <a:buFont typeface="+mj-lt"/>
              <a:buAutoNum type="arabicPeriod"/>
            </a:pPr>
            <a:r>
              <a:rPr lang="es-419" sz="1200" dirty="0"/>
              <a:t>El sistema desplegará el ejemplo de cómo se desplegará el nombre de la persona a la que pertenece el ID</a:t>
            </a:r>
            <a:r>
              <a:rPr lang="es-419" sz="1200" b="1" dirty="0"/>
              <a:t>. </a:t>
            </a:r>
          </a:p>
          <a:p>
            <a:endParaRPr lang="es-419" sz="1200" b="1" dirty="0"/>
          </a:p>
          <a:p>
            <a:r>
              <a:rPr lang="es-419" sz="1200" dirty="0"/>
              <a:t>En la diapositiva siguiente se muestran los resultados para las reglas de uso vistas en este apartado para la misma persona</a:t>
            </a:r>
          </a:p>
        </p:txBody>
      </p:sp>
      <p:sp>
        <p:nvSpPr>
          <p:cNvPr id="8" name="CuadroTexto 7">
            <a:extLst>
              <a:ext uri="{FF2B5EF4-FFF2-40B4-BE49-F238E27FC236}">
                <a16:creationId xmlns:a16="http://schemas.microsoft.com/office/drawing/2014/main" id="{19B282D5-B118-FC92-0A95-4643EBBBFB33}"/>
              </a:ext>
            </a:extLst>
          </p:cNvPr>
          <p:cNvSpPr txBox="1"/>
          <p:nvPr/>
        </p:nvSpPr>
        <p:spPr>
          <a:xfrm>
            <a:off x="1362514" y="1688758"/>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1</a:t>
            </a:r>
            <a:endParaRPr lang="en-US" dirty="0"/>
          </a:p>
        </p:txBody>
      </p:sp>
      <p:sp>
        <p:nvSpPr>
          <p:cNvPr id="10" name="CuadroTexto 9">
            <a:extLst>
              <a:ext uri="{FF2B5EF4-FFF2-40B4-BE49-F238E27FC236}">
                <a16:creationId xmlns:a16="http://schemas.microsoft.com/office/drawing/2014/main" id="{E2405009-64BB-02A0-8F72-1C4086EE5640}"/>
              </a:ext>
            </a:extLst>
          </p:cNvPr>
          <p:cNvSpPr txBox="1"/>
          <p:nvPr/>
        </p:nvSpPr>
        <p:spPr>
          <a:xfrm>
            <a:off x="733976" y="1936410"/>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2</a:t>
            </a:r>
            <a:endParaRPr lang="en-US" dirty="0"/>
          </a:p>
        </p:txBody>
      </p:sp>
      <p:sp>
        <p:nvSpPr>
          <p:cNvPr id="12" name="CuadroTexto 11">
            <a:extLst>
              <a:ext uri="{FF2B5EF4-FFF2-40B4-BE49-F238E27FC236}">
                <a16:creationId xmlns:a16="http://schemas.microsoft.com/office/drawing/2014/main" id="{E3249A59-F33C-CD57-BC50-2688DFA866DE}"/>
              </a:ext>
            </a:extLst>
          </p:cNvPr>
          <p:cNvSpPr txBox="1"/>
          <p:nvPr/>
        </p:nvSpPr>
        <p:spPr>
          <a:xfrm>
            <a:off x="1957706" y="2095301"/>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15" name="CuadroTexto 14">
            <a:extLst>
              <a:ext uri="{FF2B5EF4-FFF2-40B4-BE49-F238E27FC236}">
                <a16:creationId xmlns:a16="http://schemas.microsoft.com/office/drawing/2014/main" id="{56D0AA85-B600-23FD-291F-57E7B383BE68}"/>
              </a:ext>
            </a:extLst>
          </p:cNvPr>
          <p:cNvSpPr txBox="1"/>
          <p:nvPr/>
        </p:nvSpPr>
        <p:spPr>
          <a:xfrm>
            <a:off x="6239952" y="2044132"/>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4</a:t>
            </a:r>
          </a:p>
        </p:txBody>
      </p:sp>
    </p:spTree>
    <p:extLst>
      <p:ext uri="{BB962C8B-B14F-4D97-AF65-F5344CB8AC3E}">
        <p14:creationId xmlns:p14="http://schemas.microsoft.com/office/powerpoint/2010/main" val="2313427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AB4FB50-AB71-91A7-8A7A-E37C1173566F}"/>
              </a:ext>
            </a:extLst>
          </p:cNvPr>
          <p:cNvPicPr>
            <a:picLocks noChangeAspect="1"/>
          </p:cNvPicPr>
          <p:nvPr/>
        </p:nvPicPr>
        <p:blipFill>
          <a:blip r:embed="rId3"/>
          <a:stretch>
            <a:fillRect/>
          </a:stretch>
        </p:blipFill>
        <p:spPr>
          <a:xfrm>
            <a:off x="695739" y="1186302"/>
            <a:ext cx="10823714" cy="513447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1106807" y="1926340"/>
            <a:ext cx="976716" cy="1912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360243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2729441-874B-6D22-E0E3-D4D49512AD21}"/>
              </a:ext>
            </a:extLst>
          </p:cNvPr>
          <p:cNvPicPr>
            <a:picLocks noChangeAspect="1"/>
          </p:cNvPicPr>
          <p:nvPr/>
        </p:nvPicPr>
        <p:blipFill>
          <a:blip r:embed="rId3"/>
          <a:stretch>
            <a:fillRect/>
          </a:stretch>
        </p:blipFill>
        <p:spPr>
          <a:xfrm>
            <a:off x="695738" y="1153823"/>
            <a:ext cx="10883349" cy="517228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1392316" y="1655677"/>
            <a:ext cx="426545" cy="1284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996119" y="4218531"/>
            <a:ext cx="7431932" cy="104215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Toda vez que haya decidido qué regla de uso va a usar para el despliegue del nombre de los alumnos en el control de asistencia:</a:t>
            </a:r>
          </a:p>
          <a:p>
            <a:endParaRPr lang="es-419" sz="1200" dirty="0"/>
          </a:p>
          <a:p>
            <a:pPr marL="228600" indent="-228600">
              <a:buFont typeface="+mj-lt"/>
              <a:buAutoNum type="arabicPeriod"/>
            </a:pPr>
            <a:r>
              <a:rPr lang="es-419" sz="1200" dirty="0"/>
              <a:t>En la pestaña Jerarquía, presione la opción </a:t>
            </a:r>
            <a:r>
              <a:rPr lang="es-419" sz="1200" b="1" dirty="0"/>
              <a:t>Filtrar</a:t>
            </a:r>
          </a:p>
        </p:txBody>
      </p:sp>
      <p:sp>
        <p:nvSpPr>
          <p:cNvPr id="8" name="CuadroTexto 7">
            <a:extLst>
              <a:ext uri="{FF2B5EF4-FFF2-40B4-BE49-F238E27FC236}">
                <a16:creationId xmlns:a16="http://schemas.microsoft.com/office/drawing/2014/main" id="{19B282D5-B118-FC92-0A95-4643EBBBFB33}"/>
              </a:ext>
            </a:extLst>
          </p:cNvPr>
          <p:cNvSpPr txBox="1"/>
          <p:nvPr/>
        </p:nvSpPr>
        <p:spPr>
          <a:xfrm>
            <a:off x="11277334" y="1535316"/>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Flecha: hacia la izquierda 8">
            <a:extLst>
              <a:ext uri="{FF2B5EF4-FFF2-40B4-BE49-F238E27FC236}">
                <a16:creationId xmlns:a16="http://schemas.microsoft.com/office/drawing/2014/main" id="{FFCBC2F8-0A27-AC6B-2406-AEA0A9DF66E6}"/>
              </a:ext>
            </a:extLst>
          </p:cNvPr>
          <p:cNvSpPr/>
          <p:nvPr/>
        </p:nvSpPr>
        <p:spPr>
          <a:xfrm rot="10800000">
            <a:off x="11167853" y="126663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0600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D562CFE-5DB6-E756-E709-A92E37D2BAB7}"/>
              </a:ext>
            </a:extLst>
          </p:cNvPr>
          <p:cNvPicPr>
            <a:picLocks noChangeAspect="1"/>
          </p:cNvPicPr>
          <p:nvPr/>
        </p:nvPicPr>
        <p:blipFill>
          <a:blip r:embed="rId3"/>
          <a:stretch>
            <a:fillRect/>
          </a:stretch>
        </p:blipFill>
        <p:spPr>
          <a:xfrm>
            <a:off x="506896" y="1076600"/>
            <a:ext cx="11032434" cy="525737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1545031" y="1118936"/>
            <a:ext cx="674056" cy="15925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545375" y="3910519"/>
            <a:ext cx="7610302" cy="89494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Font typeface="+mj-lt"/>
              <a:buAutoNum type="arabicPeriod" startAt="2"/>
            </a:pPr>
            <a:r>
              <a:rPr lang="es-419" sz="1200" dirty="0"/>
              <a:t>Ingrese en la ventana que emerge el valor </a:t>
            </a:r>
            <a:r>
              <a:rPr lang="es-419" sz="1200" b="1" dirty="0" err="1"/>
              <a:t>Faculty</a:t>
            </a:r>
            <a:r>
              <a:rPr lang="es-419" sz="1200" b="1" dirty="0"/>
              <a:t> </a:t>
            </a:r>
            <a:r>
              <a:rPr lang="es-419" sz="1200" b="1" dirty="0" err="1"/>
              <a:t>Attendance</a:t>
            </a:r>
            <a:r>
              <a:rPr lang="es-419" sz="1200" b="1" dirty="0"/>
              <a:t> Tracking</a:t>
            </a:r>
            <a:r>
              <a:rPr lang="es-419" sz="1200" dirty="0"/>
              <a:t> en el campo Aplicación (es la aplicación de control de asistencia)</a:t>
            </a:r>
          </a:p>
          <a:p>
            <a:pPr marL="228600" indent="-228600">
              <a:buFont typeface="+mj-lt"/>
              <a:buAutoNum type="arabicPeriod" startAt="2"/>
            </a:pPr>
            <a:r>
              <a:rPr lang="es-419" sz="1200" dirty="0"/>
              <a:t>Presione el botón </a:t>
            </a:r>
            <a:r>
              <a:rPr lang="es-419" sz="1200" b="1" dirty="0"/>
              <a:t>Ir</a:t>
            </a:r>
          </a:p>
        </p:txBody>
      </p:sp>
      <p:sp>
        <p:nvSpPr>
          <p:cNvPr id="10" name="CuadroTexto 9">
            <a:extLst>
              <a:ext uri="{FF2B5EF4-FFF2-40B4-BE49-F238E27FC236}">
                <a16:creationId xmlns:a16="http://schemas.microsoft.com/office/drawing/2014/main" id="{E2405009-64BB-02A0-8F72-1C4086EE5640}"/>
              </a:ext>
            </a:extLst>
          </p:cNvPr>
          <p:cNvSpPr txBox="1"/>
          <p:nvPr/>
        </p:nvSpPr>
        <p:spPr>
          <a:xfrm>
            <a:off x="1426611" y="2158010"/>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5" name="CuadroTexto 14">
            <a:extLst>
              <a:ext uri="{FF2B5EF4-FFF2-40B4-BE49-F238E27FC236}">
                <a16:creationId xmlns:a16="http://schemas.microsoft.com/office/drawing/2014/main" id="{56D0AA85-B600-23FD-291F-57E7B383BE68}"/>
              </a:ext>
            </a:extLst>
          </p:cNvPr>
          <p:cNvSpPr txBox="1"/>
          <p:nvPr/>
        </p:nvSpPr>
        <p:spPr>
          <a:xfrm>
            <a:off x="11310472" y="2158010"/>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1363047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53F7516-B977-149A-5942-FBBAC99BC207}"/>
              </a:ext>
            </a:extLst>
          </p:cNvPr>
          <p:cNvPicPr>
            <a:picLocks noChangeAspect="1"/>
          </p:cNvPicPr>
          <p:nvPr/>
        </p:nvPicPr>
        <p:blipFill>
          <a:blip r:embed="rId3"/>
          <a:stretch>
            <a:fillRect/>
          </a:stretch>
        </p:blipFill>
        <p:spPr>
          <a:xfrm>
            <a:off x="609601" y="939574"/>
            <a:ext cx="11251096" cy="5329158"/>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634085" y="3696784"/>
            <a:ext cx="9455642" cy="112174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El sistema muestra solo los registros que corresponden a la aplicación de control de asistencias.</a:t>
            </a:r>
          </a:p>
          <a:p>
            <a:pPr marL="228600" indent="-228600">
              <a:buFont typeface="+mj-lt"/>
              <a:buAutoNum type="arabicPeriod" startAt="4"/>
            </a:pPr>
            <a:r>
              <a:rPr lang="es-419" sz="1200" dirty="0"/>
              <a:t>Ingrese el código de nombre de </a:t>
            </a:r>
            <a:r>
              <a:rPr lang="es-419" sz="1200" b="1" dirty="0"/>
              <a:t>Uso</a:t>
            </a:r>
            <a:r>
              <a:rPr lang="es-419" sz="1200" dirty="0"/>
              <a:t> que aplicará en la aplicación para que de esa manera se muestren los nombres de los alumnos.</a:t>
            </a:r>
          </a:p>
          <a:p>
            <a:pPr marL="228600" indent="-228600">
              <a:buFont typeface="+mj-lt"/>
              <a:buAutoNum type="arabicPeriod" startAt="4"/>
            </a:pPr>
            <a:r>
              <a:rPr lang="es-419" sz="1200" dirty="0"/>
              <a:t>Guarde la información.</a:t>
            </a:r>
          </a:p>
          <a:p>
            <a:r>
              <a:rPr lang="es-419" sz="1200" dirty="0"/>
              <a:t>  </a:t>
            </a:r>
          </a:p>
        </p:txBody>
      </p:sp>
      <p:sp>
        <p:nvSpPr>
          <p:cNvPr id="15" name="CuadroTexto 14">
            <a:extLst>
              <a:ext uri="{FF2B5EF4-FFF2-40B4-BE49-F238E27FC236}">
                <a16:creationId xmlns:a16="http://schemas.microsoft.com/office/drawing/2014/main" id="{56D0AA85-B600-23FD-291F-57E7B383BE68}"/>
              </a:ext>
            </a:extLst>
          </p:cNvPr>
          <p:cNvSpPr txBox="1"/>
          <p:nvPr/>
        </p:nvSpPr>
        <p:spPr>
          <a:xfrm>
            <a:off x="6764241" y="2246577"/>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4" name="CuadroTexto 3">
            <a:extLst>
              <a:ext uri="{FF2B5EF4-FFF2-40B4-BE49-F238E27FC236}">
                <a16:creationId xmlns:a16="http://schemas.microsoft.com/office/drawing/2014/main" id="{5861DD74-CDD2-DA12-7506-107467F69CC6}"/>
              </a:ext>
            </a:extLst>
          </p:cNvPr>
          <p:cNvSpPr txBox="1"/>
          <p:nvPr/>
        </p:nvSpPr>
        <p:spPr>
          <a:xfrm>
            <a:off x="10938850" y="6053288"/>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17" name="Rectángulo 16">
            <a:extLst>
              <a:ext uri="{FF2B5EF4-FFF2-40B4-BE49-F238E27FC236}">
                <a16:creationId xmlns:a16="http://schemas.microsoft.com/office/drawing/2014/main" id="{5979B1FA-1129-2CE4-CDB8-2F9BFC3B78F3}"/>
              </a:ext>
            </a:extLst>
          </p:cNvPr>
          <p:cNvSpPr/>
          <p:nvPr/>
        </p:nvSpPr>
        <p:spPr>
          <a:xfrm>
            <a:off x="7447781" y="1992023"/>
            <a:ext cx="1684166" cy="10478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56922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_tradnl" dirty="0"/>
              <a:t>Gestionar la asistencia a clases </a:t>
            </a:r>
          </a:p>
        </p:txBody>
      </p:sp>
      <p:sp>
        <p:nvSpPr>
          <p:cNvPr id="2" name="Title 1"/>
          <p:cNvSpPr>
            <a:spLocks noGrp="1"/>
          </p:cNvSpPr>
          <p:nvPr>
            <p:ph type="title"/>
          </p:nvPr>
        </p:nvSpPr>
        <p:spPr/>
        <p:txBody>
          <a:bodyPr/>
          <a:lstStyle/>
          <a:p>
            <a:r>
              <a:rPr lang="es-ES_tradnl" dirty="0"/>
              <a:t>Reglas de Control de Asistencia</a:t>
            </a:r>
          </a:p>
        </p:txBody>
      </p:sp>
      <p:sp>
        <p:nvSpPr>
          <p:cNvPr id="3" name="Marcador de texto 2">
            <a:extLst>
              <a:ext uri="{FF2B5EF4-FFF2-40B4-BE49-F238E27FC236}">
                <a16:creationId xmlns:a16="http://schemas.microsoft.com/office/drawing/2014/main" id="{23A23D2F-F4F9-1CD1-DFF2-2B1F36C9C6EA}"/>
              </a:ext>
            </a:extLst>
          </p:cNvPr>
          <p:cNvSpPr>
            <a:spLocks noGrp="1"/>
          </p:cNvSpPr>
          <p:nvPr>
            <p:ph type="body" sz="quarter" idx="18"/>
          </p:nvPr>
        </p:nvSpPr>
        <p:spPr/>
        <p:txBody>
          <a:bodyPr/>
          <a:lstStyle/>
          <a:p>
            <a:r>
              <a:rPr lang="es-ES" dirty="0"/>
              <a:t>Habilitando el control de asistencia para los profesores en las fechas y modos que se configuren</a:t>
            </a:r>
            <a:endParaRPr lang="es-ES_tradnl" dirty="0"/>
          </a:p>
        </p:txBody>
      </p:sp>
    </p:spTree>
    <p:extLst>
      <p:ext uri="{BB962C8B-B14F-4D97-AF65-F5344CB8AC3E}">
        <p14:creationId xmlns:p14="http://schemas.microsoft.com/office/powerpoint/2010/main" val="2014513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A nivel de periodo</a:t>
            </a:r>
            <a:endParaRPr lang="es-ES_tradnl" dirty="0"/>
          </a:p>
        </p:txBody>
      </p:sp>
      <p:sp>
        <p:nvSpPr>
          <p:cNvPr id="3" name="Marcador de texto 2">
            <a:extLst>
              <a:ext uri="{FF2B5EF4-FFF2-40B4-BE49-F238E27FC236}">
                <a16:creationId xmlns:a16="http://schemas.microsoft.com/office/drawing/2014/main" id="{FBA970A5-415F-34F2-697B-CC8953946AA3}"/>
              </a:ext>
            </a:extLst>
          </p:cNvPr>
          <p:cNvSpPr>
            <a:spLocks noGrp="1"/>
          </p:cNvSpPr>
          <p:nvPr>
            <p:ph type="body" sz="quarter" idx="18"/>
          </p:nvPr>
        </p:nvSpPr>
        <p:spPr/>
        <p:txBody>
          <a:bodyPr/>
          <a:lstStyle/>
          <a:p>
            <a:r>
              <a:rPr lang="es-ES_tradnl" sz="1800" dirty="0"/>
              <a:t>Reglas para las partes de período, materias y/o NRC</a:t>
            </a:r>
          </a:p>
          <a:p>
            <a:endParaRPr lang="es-419"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3315124115"/>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344BEEA-63B4-0CA7-5BD5-286DD73489D9}"/>
              </a:ext>
            </a:extLst>
          </p:cNvPr>
          <p:cNvPicPr>
            <a:picLocks noChangeAspect="1"/>
          </p:cNvPicPr>
          <p:nvPr/>
        </p:nvPicPr>
        <p:blipFill>
          <a:blip r:embed="rId3"/>
          <a:stretch>
            <a:fillRect/>
          </a:stretch>
        </p:blipFill>
        <p:spPr>
          <a:xfrm>
            <a:off x="857251" y="1107569"/>
            <a:ext cx="11013326" cy="5199301"/>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57251" y="277860"/>
            <a:ext cx="10477497" cy="898555"/>
          </a:xfrm>
        </p:spPr>
        <p:txBody>
          <a:bodyPr/>
          <a:lstStyle/>
          <a:p>
            <a:r>
              <a:rPr lang="es-ES_tradnl" dirty="0">
                <a:solidFill>
                  <a:schemeClr val="accent1"/>
                </a:solidFill>
              </a:rPr>
              <a:t>Reglas de Control de Asistencia a</a:t>
            </a:r>
            <a:r>
              <a:rPr lang="es-ES" b="1" dirty="0">
                <a:solidFill>
                  <a:schemeClr val="accent1"/>
                </a:solidFill>
              </a:rPr>
              <a:t> nivel de periodo</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981069" y="1675404"/>
            <a:ext cx="301753" cy="215444"/>
          </a:xfrm>
          <a:prstGeom prst="rect">
            <a:avLst/>
          </a:prstGeom>
          <a:solidFill>
            <a:schemeClr val="accent1"/>
          </a:solidFill>
          <a:ln>
            <a:solidFill>
              <a:schemeClr val="accent1"/>
            </a:solidFill>
          </a:ln>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290635" y="5040563"/>
            <a:ext cx="9823862" cy="7098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ES_tradnl" sz="1100" b="1" dirty="0"/>
              <a:t>SOAATRK</a:t>
            </a:r>
            <a:r>
              <a:rPr lang="es-ES_tradnl" sz="1100" dirty="0"/>
              <a:t>, digite o seleccione el período para el cual definirá las reglas</a:t>
            </a:r>
          </a:p>
          <a:p>
            <a:pPr marL="342900" indent="-342900" algn="just">
              <a:buFont typeface="+mj-lt"/>
              <a:buAutoNum type="arabicPeriod"/>
            </a:pPr>
            <a:r>
              <a:rPr lang="es-CL" sz="1100" dirty="0"/>
              <a:t>Hacer clic en el botón </a:t>
            </a:r>
            <a:r>
              <a:rPr lang="es-CL" sz="1100" b="1" dirty="0"/>
              <a:t>Ir</a:t>
            </a:r>
            <a:r>
              <a:rPr lang="es-CL" sz="1100" dirty="0"/>
              <a:t>.</a:t>
            </a:r>
          </a:p>
        </p:txBody>
      </p:sp>
      <p:sp>
        <p:nvSpPr>
          <p:cNvPr id="10" name="CuadroTexto 9">
            <a:extLst>
              <a:ext uri="{FF2B5EF4-FFF2-40B4-BE49-F238E27FC236}">
                <a16:creationId xmlns:a16="http://schemas.microsoft.com/office/drawing/2014/main" id="{FF9D4EDB-DA57-0D13-CF4B-7BA7E9A465DE}"/>
              </a:ext>
            </a:extLst>
          </p:cNvPr>
          <p:cNvSpPr txBox="1"/>
          <p:nvPr/>
        </p:nvSpPr>
        <p:spPr>
          <a:xfrm>
            <a:off x="11210931" y="1675404"/>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Tree>
    <p:extLst>
      <p:ext uri="{BB962C8B-B14F-4D97-AF65-F5344CB8AC3E}">
        <p14:creationId xmlns:p14="http://schemas.microsoft.com/office/powerpoint/2010/main" val="1547845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DB82E1B-5C1A-3536-FB2F-BC2D4AE78FBF}"/>
              </a:ext>
            </a:extLst>
          </p:cNvPr>
          <p:cNvPicPr>
            <a:picLocks noChangeAspect="1"/>
          </p:cNvPicPr>
          <p:nvPr/>
        </p:nvPicPr>
        <p:blipFill>
          <a:blip r:embed="rId3"/>
          <a:stretch>
            <a:fillRect/>
          </a:stretch>
        </p:blipFill>
        <p:spPr>
          <a:xfrm>
            <a:off x="777240" y="1208721"/>
            <a:ext cx="10799064" cy="509814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57251" y="277860"/>
            <a:ext cx="10477497" cy="898555"/>
          </a:xfrm>
        </p:spPr>
        <p:txBody>
          <a:bodyPr/>
          <a:lstStyle/>
          <a:p>
            <a:r>
              <a:rPr lang="es-ES_tradnl" dirty="0">
                <a:solidFill>
                  <a:schemeClr val="accent1"/>
                </a:solidFill>
              </a:rPr>
              <a:t>Reglas de Control de Asistencia a</a:t>
            </a:r>
            <a:r>
              <a:rPr lang="es-ES" b="1" dirty="0">
                <a:solidFill>
                  <a:schemeClr val="accent1"/>
                </a:solidFill>
              </a:rPr>
              <a:t> nivel de periodo</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1364202" y="2226727"/>
            <a:ext cx="301753" cy="215444"/>
          </a:xfrm>
          <a:prstGeom prst="rect">
            <a:avLst/>
          </a:prstGeom>
          <a:solidFill>
            <a:schemeClr val="accent1"/>
          </a:solidFill>
        </p:spPr>
        <p:txBody>
          <a:bodyPr wrap="square" rtlCol="0">
            <a:spAutoFit/>
          </a:bodyPr>
          <a:lstStyle/>
          <a:p>
            <a:r>
              <a:rPr lang="es-CO" sz="800" b="1" dirty="0">
                <a:solidFill>
                  <a:schemeClr val="bg1"/>
                </a:solidFill>
              </a:rPr>
              <a:t>3a</a:t>
            </a:r>
            <a:endParaRPr lang="en-US" sz="800" b="1" dirty="0">
              <a:solidFill>
                <a:schemeClr val="bg1"/>
              </a:solidFill>
            </a:endParaRP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290635" y="3891064"/>
            <a:ext cx="9823862" cy="18593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3. Ingrese el o los criterios a los que procederá a definir las reglas de control de asistencia:</a:t>
            </a:r>
          </a:p>
          <a:p>
            <a:pPr marL="342900" indent="-342900" algn="just">
              <a:buFont typeface="+mj-lt"/>
              <a:buAutoNum type="alphaLcParenR"/>
            </a:pPr>
            <a:r>
              <a:rPr lang="es-419" sz="1100" dirty="0"/>
              <a:t>Por </a:t>
            </a:r>
            <a:r>
              <a:rPr lang="es-419" sz="1100" b="1" dirty="0"/>
              <a:t>parte de período</a:t>
            </a:r>
            <a:r>
              <a:rPr lang="es-419" sz="1100" dirty="0"/>
              <a:t>: Ingrese o seleccione la parte de período para la que definirá la regla. Para poder seleccionarla, debe estar definida en SOATERM para el período, se lo contrario el sistema arrojará un error. La descripción se desplegará automáticamente. Si define la regla (fechas, despliegue unidad de control) solo por parte de período, ésta aplicará para todos los NRC programados en la parte de período correspondiente.</a:t>
            </a:r>
          </a:p>
          <a:p>
            <a:pPr marL="342900" indent="-342900" algn="just">
              <a:buFont typeface="+mj-lt"/>
              <a:buAutoNum type="alphaLcParenR"/>
            </a:pPr>
            <a:r>
              <a:rPr lang="es-CL" sz="1100" dirty="0"/>
              <a:t>Por </a:t>
            </a:r>
            <a:r>
              <a:rPr lang="es-CL" sz="1100" b="1" dirty="0"/>
              <a:t>materia</a:t>
            </a:r>
            <a:r>
              <a:rPr lang="es-CL" sz="1100" dirty="0"/>
              <a:t>: Ingrese o seleccione el código correspondiente a la materia para la que definirá la regla. Su descripción se despliega automáticamente. Si define la regla de control de asistencia por materia, los criterios definidos aplican para todos los NRC programados en el período que tengan como materia el código ingresado. </a:t>
            </a:r>
          </a:p>
        </p:txBody>
      </p:sp>
      <p:sp>
        <p:nvSpPr>
          <p:cNvPr id="9" name="Flecha: hacia la izquierda 8">
            <a:extLst>
              <a:ext uri="{FF2B5EF4-FFF2-40B4-BE49-F238E27FC236}">
                <a16:creationId xmlns:a16="http://schemas.microsoft.com/office/drawing/2014/main" id="{F9BE45A3-50E2-4D78-5FA8-CE8D4F611D59}"/>
              </a:ext>
            </a:extLst>
          </p:cNvPr>
          <p:cNvSpPr/>
          <p:nvPr/>
        </p:nvSpPr>
        <p:spPr>
          <a:xfrm rot="10800000">
            <a:off x="1821791" y="170708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FF9D4EDB-DA57-0D13-CF4B-7BA7E9A465DE}"/>
              </a:ext>
            </a:extLst>
          </p:cNvPr>
          <p:cNvSpPr txBox="1"/>
          <p:nvPr/>
        </p:nvSpPr>
        <p:spPr>
          <a:xfrm>
            <a:off x="3495343" y="2334449"/>
            <a:ext cx="339044"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3b</a:t>
            </a:r>
          </a:p>
        </p:txBody>
      </p:sp>
      <p:sp>
        <p:nvSpPr>
          <p:cNvPr id="11" name="Flecha: hacia la izquierda 10">
            <a:extLst>
              <a:ext uri="{FF2B5EF4-FFF2-40B4-BE49-F238E27FC236}">
                <a16:creationId xmlns:a16="http://schemas.microsoft.com/office/drawing/2014/main" id="{35944360-B85C-B984-BB73-D1646473119C}"/>
              </a:ext>
            </a:extLst>
          </p:cNvPr>
          <p:cNvSpPr/>
          <p:nvPr/>
        </p:nvSpPr>
        <p:spPr>
          <a:xfrm rot="10800000">
            <a:off x="3897421" y="179272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8252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FE9992-8557-C60B-E5E3-806C89754B2C}"/>
              </a:ext>
            </a:extLst>
          </p:cNvPr>
          <p:cNvPicPr>
            <a:picLocks noChangeAspect="1"/>
          </p:cNvPicPr>
          <p:nvPr/>
        </p:nvPicPr>
        <p:blipFill>
          <a:blip r:embed="rId3"/>
          <a:stretch>
            <a:fillRect/>
          </a:stretch>
        </p:blipFill>
        <p:spPr>
          <a:xfrm>
            <a:off x="768096" y="1162523"/>
            <a:ext cx="10863072" cy="5164783"/>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57251" y="277860"/>
            <a:ext cx="10477497" cy="898555"/>
          </a:xfrm>
        </p:spPr>
        <p:txBody>
          <a:bodyPr/>
          <a:lstStyle/>
          <a:p>
            <a:r>
              <a:rPr lang="es-ES_tradnl" dirty="0">
                <a:solidFill>
                  <a:schemeClr val="accent1"/>
                </a:solidFill>
              </a:rPr>
              <a:t>Reglas de Control de Asistencia a</a:t>
            </a:r>
            <a:r>
              <a:rPr lang="es-ES" b="1" dirty="0">
                <a:solidFill>
                  <a:schemeClr val="accent1"/>
                </a:solidFill>
              </a:rPr>
              <a:t> nivel de periodo</a:t>
            </a: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184067" y="2973979"/>
            <a:ext cx="9823862" cy="106999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lphaLcParenR" startAt="3"/>
            </a:pPr>
            <a:r>
              <a:rPr lang="es-CL" sz="1100" dirty="0"/>
              <a:t>Por </a:t>
            </a:r>
            <a:r>
              <a:rPr lang="es-CL" sz="1100" b="1" dirty="0"/>
              <a:t>materia-número de curso</a:t>
            </a:r>
            <a:r>
              <a:rPr lang="es-CL" sz="1100" dirty="0"/>
              <a:t>: Ingrese o seleccione el código correspondiente a la materia y el número del curso de la asignatura para el que definirá la regla. Si define la regla de control de asistencia por materia, los criterios definidos aplican para todos los NRC programados en el período que correspondan curso (materia y número de curso) ingresados. En el ejemplo, todos los NRC del curso identificado en catálogo como TID-01072.</a:t>
            </a:r>
          </a:p>
          <a:p>
            <a:pPr marL="342900" indent="-342900" algn="just">
              <a:buFont typeface="+mj-lt"/>
              <a:buAutoNum type="alphaLcParenR" startAt="3"/>
            </a:pPr>
            <a:r>
              <a:rPr lang="es-CL" sz="1100" dirty="0"/>
              <a:t>Por </a:t>
            </a:r>
            <a:r>
              <a:rPr lang="es-CL" sz="1100" b="1" dirty="0"/>
              <a:t>NRC</a:t>
            </a:r>
            <a:r>
              <a:rPr lang="es-CL" sz="1100" dirty="0"/>
              <a:t>: Ingrese o seleccione el NRC para el cual se define la regla. Al agregar el NRC, automáticamente se llenan los campos parte de período, materia y número de curso. En este caso, las fechas y unidad de control que se configuren aplicarán solo al NRC ingresado. En el ejemplo, para el NRC 24109.</a:t>
            </a:r>
          </a:p>
        </p:txBody>
      </p:sp>
      <p:sp>
        <p:nvSpPr>
          <p:cNvPr id="14" name="CuadroTexto 13">
            <a:extLst>
              <a:ext uri="{FF2B5EF4-FFF2-40B4-BE49-F238E27FC236}">
                <a16:creationId xmlns:a16="http://schemas.microsoft.com/office/drawing/2014/main" id="{4C9CD134-27A1-B91E-0EC5-25A709585AA6}"/>
              </a:ext>
            </a:extLst>
          </p:cNvPr>
          <p:cNvSpPr txBox="1"/>
          <p:nvPr/>
        </p:nvSpPr>
        <p:spPr>
          <a:xfrm>
            <a:off x="3415014" y="2472365"/>
            <a:ext cx="301753" cy="215444"/>
          </a:xfrm>
          <a:prstGeom prst="rect">
            <a:avLst/>
          </a:prstGeom>
          <a:solidFill>
            <a:schemeClr val="accent1"/>
          </a:solidFill>
        </p:spPr>
        <p:txBody>
          <a:bodyPr wrap="square" rtlCol="0">
            <a:spAutoFit/>
          </a:bodyPr>
          <a:lstStyle/>
          <a:p>
            <a:r>
              <a:rPr lang="es-CO" sz="800" b="1" dirty="0">
                <a:solidFill>
                  <a:schemeClr val="bg1"/>
                </a:solidFill>
              </a:rPr>
              <a:t>3c</a:t>
            </a:r>
            <a:endParaRPr lang="en-US" sz="800" b="1" dirty="0">
              <a:solidFill>
                <a:schemeClr val="bg1"/>
              </a:solidFill>
            </a:endParaRPr>
          </a:p>
        </p:txBody>
      </p:sp>
      <p:sp>
        <p:nvSpPr>
          <p:cNvPr id="17" name="CuadroTexto 16">
            <a:extLst>
              <a:ext uri="{FF2B5EF4-FFF2-40B4-BE49-F238E27FC236}">
                <a16:creationId xmlns:a16="http://schemas.microsoft.com/office/drawing/2014/main" id="{4A7E8153-CBF5-5291-CD91-EED212F5F8A9}"/>
              </a:ext>
            </a:extLst>
          </p:cNvPr>
          <p:cNvSpPr txBox="1"/>
          <p:nvPr/>
        </p:nvSpPr>
        <p:spPr>
          <a:xfrm>
            <a:off x="5910771" y="2598587"/>
            <a:ext cx="370455"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dirty="0"/>
              <a:t>3d</a:t>
            </a:r>
            <a:endParaRPr lang="en-US" dirty="0"/>
          </a:p>
        </p:txBody>
      </p:sp>
      <p:sp>
        <p:nvSpPr>
          <p:cNvPr id="5" name="Rectángulo: esquinas redondeadas 4">
            <a:extLst>
              <a:ext uri="{FF2B5EF4-FFF2-40B4-BE49-F238E27FC236}">
                <a16:creationId xmlns:a16="http://schemas.microsoft.com/office/drawing/2014/main" id="{F107BF3E-6FBB-AC74-C508-D34C7271AFE6}"/>
              </a:ext>
            </a:extLst>
          </p:cNvPr>
          <p:cNvSpPr/>
          <p:nvPr/>
        </p:nvSpPr>
        <p:spPr>
          <a:xfrm>
            <a:off x="1116162" y="4116914"/>
            <a:ext cx="9823862" cy="106999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100" dirty="0"/>
              <a:t>Nota: Se puede configurar criterios combinados según lo que se indica a continuación:</a:t>
            </a:r>
          </a:p>
          <a:p>
            <a:pPr marL="171450" indent="-171450" algn="just">
              <a:buFont typeface="Arial" panose="020B0604020202020204" pitchFamily="34" charset="0"/>
              <a:buChar char="•"/>
            </a:pPr>
            <a:r>
              <a:rPr lang="es-CL" sz="1100" dirty="0"/>
              <a:t>Período + materia: la regla aplicaría para todos los NRC programados en la parte de período ingresada y que correspondan a cursos de la materia definida.</a:t>
            </a:r>
          </a:p>
          <a:p>
            <a:pPr marL="171450" indent="-171450" algn="just">
              <a:buFont typeface="Arial" panose="020B0604020202020204" pitchFamily="34" charset="0"/>
              <a:buChar char="•"/>
            </a:pPr>
            <a:r>
              <a:rPr lang="es-CL" sz="1100" dirty="0"/>
              <a:t>Período + materia + curso: la regla aplicaría para todos los NRC programados en la parte de período ingresada y que corresponden a la materia-curso configuradas.</a:t>
            </a:r>
          </a:p>
        </p:txBody>
      </p:sp>
    </p:spTree>
    <p:extLst>
      <p:ext uri="{BB962C8B-B14F-4D97-AF65-F5344CB8AC3E}">
        <p14:creationId xmlns:p14="http://schemas.microsoft.com/office/powerpoint/2010/main" val="3672377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BE5C0C85-025D-62E2-5B3C-BD1A850ABCC9}"/>
              </a:ext>
            </a:extLst>
          </p:cNvPr>
          <p:cNvPicPr>
            <a:picLocks noChangeAspect="1"/>
          </p:cNvPicPr>
          <p:nvPr/>
        </p:nvPicPr>
        <p:blipFill>
          <a:blip r:embed="rId3"/>
          <a:stretch>
            <a:fillRect/>
          </a:stretch>
        </p:blipFill>
        <p:spPr>
          <a:xfrm>
            <a:off x="768096" y="1162523"/>
            <a:ext cx="10863072" cy="5164783"/>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57251" y="277860"/>
            <a:ext cx="10477497" cy="898555"/>
          </a:xfrm>
        </p:spPr>
        <p:txBody>
          <a:bodyPr/>
          <a:lstStyle/>
          <a:p>
            <a:r>
              <a:rPr lang="es-ES_tradnl" dirty="0">
                <a:solidFill>
                  <a:schemeClr val="accent1"/>
                </a:solidFill>
              </a:rPr>
              <a:t>Reglas de Control de Asistencia a</a:t>
            </a:r>
            <a:r>
              <a:rPr lang="es-ES" b="1" dirty="0">
                <a:solidFill>
                  <a:schemeClr val="accent1"/>
                </a:solidFill>
              </a:rPr>
              <a:t> nivel de periodo</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3C689CB6-91DC-DD34-4EEC-513AA012F987}"/>
              </a:ext>
            </a:extLst>
          </p:cNvPr>
          <p:cNvSpPr/>
          <p:nvPr/>
        </p:nvSpPr>
        <p:spPr>
          <a:xfrm>
            <a:off x="1288375" y="3871361"/>
            <a:ext cx="9823862" cy="156023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4"/>
            </a:pPr>
            <a:r>
              <a:rPr lang="es-CL" sz="1100" dirty="0"/>
              <a:t>Marque la casilla </a:t>
            </a:r>
            <a:r>
              <a:rPr lang="es-CL" sz="1100" b="1" dirty="0"/>
              <a:t>Desplegar clase </a:t>
            </a:r>
            <a:r>
              <a:rPr lang="es-CL" sz="1100" dirty="0"/>
              <a:t>para indicar que el</a:t>
            </a:r>
            <a:r>
              <a:rPr lang="es-419" sz="1100" dirty="0"/>
              <a:t> control de asistencia está activo para la regla.</a:t>
            </a:r>
          </a:p>
          <a:p>
            <a:pPr marL="228600" indent="-228600" algn="just">
              <a:buFont typeface="+mj-lt"/>
              <a:buAutoNum type="arabicPeriod" startAt="4"/>
            </a:pPr>
            <a:r>
              <a:rPr lang="es-CL" sz="1100" dirty="0"/>
              <a:t>Seleccione en el campo la </a:t>
            </a:r>
            <a:r>
              <a:rPr lang="es-CL" sz="1100" b="1" dirty="0"/>
              <a:t>Unidad de control</a:t>
            </a:r>
            <a:r>
              <a:rPr lang="es-CL" sz="1100" dirty="0"/>
              <a:t>.</a:t>
            </a:r>
          </a:p>
          <a:p>
            <a:pPr marL="228600" indent="-228600" algn="just">
              <a:buFont typeface="+mj-lt"/>
              <a:buAutoNum type="arabicPeriod" startAt="4"/>
            </a:pPr>
            <a:r>
              <a:rPr lang="es-CL" sz="1100" dirty="0"/>
              <a:t>Marque la casilla </a:t>
            </a:r>
            <a:r>
              <a:rPr lang="es-CL" sz="1100" b="1" dirty="0"/>
              <a:t>Control de asistencia a clase</a:t>
            </a:r>
            <a:r>
              <a:rPr lang="es-CL" sz="1100" dirty="0"/>
              <a:t>, para que el </a:t>
            </a:r>
            <a:r>
              <a:rPr lang="es-419" sz="1100" dirty="0"/>
              <a:t>registro de la asistencia esté disponible para la regla en el autoservicio.</a:t>
            </a:r>
          </a:p>
          <a:p>
            <a:pPr marL="228600" indent="-228600" algn="just">
              <a:buFont typeface="+mj-lt"/>
              <a:buAutoNum type="arabicPeriod" startAt="4"/>
            </a:pPr>
            <a:r>
              <a:rPr lang="es-419" sz="1100" dirty="0"/>
              <a:t>Ingrese las fechas entre las cuales el docente podrá ingresar el control de asistencia para los cursos que se definan en la regla en los campos </a:t>
            </a:r>
            <a:r>
              <a:rPr lang="es-419" sz="1100" b="1" dirty="0"/>
              <a:t>Fecha de inicio de control</a:t>
            </a:r>
            <a:r>
              <a:rPr lang="es-419" sz="1100" dirty="0"/>
              <a:t> y </a:t>
            </a:r>
            <a:r>
              <a:rPr lang="es-419" sz="1100" b="1" dirty="0"/>
              <a:t>Fecha de fin de control</a:t>
            </a:r>
            <a:r>
              <a:rPr lang="es-419" sz="1100" dirty="0"/>
              <a:t>. Las fechas incluyen las que se indiquen en los campos indicados.</a:t>
            </a:r>
          </a:p>
          <a:p>
            <a:pPr marL="228600" indent="-228600" algn="just">
              <a:buFont typeface="+mj-lt"/>
              <a:buAutoNum type="arabicPeriod" startAt="4"/>
            </a:pPr>
            <a:r>
              <a:rPr lang="es-419" sz="1100" dirty="0"/>
              <a:t>Guarde la información. </a:t>
            </a:r>
            <a:r>
              <a:rPr lang="es-ES_tradnl" sz="1100" dirty="0"/>
              <a:t>Al guardar, el sistema asigna un </a:t>
            </a:r>
            <a:r>
              <a:rPr lang="es-CO" sz="1100" dirty="0"/>
              <a:t>número de secuencia único asignado a la regla</a:t>
            </a:r>
            <a:r>
              <a:rPr lang="es-CL" sz="1100" dirty="0"/>
              <a:t>.</a:t>
            </a:r>
            <a:endParaRPr lang="es-ES_tradnl" sz="1050" dirty="0"/>
          </a:p>
        </p:txBody>
      </p:sp>
      <p:sp>
        <p:nvSpPr>
          <p:cNvPr id="3" name="CuadroTexto 2">
            <a:extLst>
              <a:ext uri="{FF2B5EF4-FFF2-40B4-BE49-F238E27FC236}">
                <a16:creationId xmlns:a16="http://schemas.microsoft.com/office/drawing/2014/main" id="{A65F3021-D0DC-2425-F265-EA228A4468C1}"/>
              </a:ext>
            </a:extLst>
          </p:cNvPr>
          <p:cNvSpPr txBox="1"/>
          <p:nvPr/>
        </p:nvSpPr>
        <p:spPr>
          <a:xfrm>
            <a:off x="6630671" y="2196367"/>
            <a:ext cx="301753" cy="215444"/>
          </a:xfrm>
          <a:prstGeom prst="rect">
            <a:avLst/>
          </a:prstGeom>
          <a:solidFill>
            <a:schemeClr val="accent1"/>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6" name="CuadroTexto 5">
            <a:extLst>
              <a:ext uri="{FF2B5EF4-FFF2-40B4-BE49-F238E27FC236}">
                <a16:creationId xmlns:a16="http://schemas.microsoft.com/office/drawing/2014/main" id="{7A95BABF-8343-93F7-1965-40982BFDB18A}"/>
              </a:ext>
            </a:extLst>
          </p:cNvPr>
          <p:cNvSpPr txBox="1"/>
          <p:nvPr/>
        </p:nvSpPr>
        <p:spPr>
          <a:xfrm>
            <a:off x="7304752" y="2308444"/>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5</a:t>
            </a:r>
            <a:endParaRPr lang="en-US" dirty="0"/>
          </a:p>
        </p:txBody>
      </p:sp>
      <p:sp>
        <p:nvSpPr>
          <p:cNvPr id="9" name="CuadroTexto 8">
            <a:extLst>
              <a:ext uri="{FF2B5EF4-FFF2-40B4-BE49-F238E27FC236}">
                <a16:creationId xmlns:a16="http://schemas.microsoft.com/office/drawing/2014/main" id="{7A2F78E6-C67B-F214-8C61-C9124D19C87B}"/>
              </a:ext>
            </a:extLst>
          </p:cNvPr>
          <p:cNvSpPr txBox="1"/>
          <p:nvPr/>
        </p:nvSpPr>
        <p:spPr>
          <a:xfrm>
            <a:off x="8351160" y="2357344"/>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6</a:t>
            </a:r>
            <a:endParaRPr lang="en-US" dirty="0"/>
          </a:p>
        </p:txBody>
      </p:sp>
      <p:sp>
        <p:nvSpPr>
          <p:cNvPr id="11" name="CuadroTexto 10">
            <a:extLst>
              <a:ext uri="{FF2B5EF4-FFF2-40B4-BE49-F238E27FC236}">
                <a16:creationId xmlns:a16="http://schemas.microsoft.com/office/drawing/2014/main" id="{1E439D3C-9059-1C41-413E-8C9CB995404F}"/>
              </a:ext>
            </a:extLst>
          </p:cNvPr>
          <p:cNvSpPr txBox="1"/>
          <p:nvPr/>
        </p:nvSpPr>
        <p:spPr>
          <a:xfrm>
            <a:off x="9076140" y="2635965"/>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7</a:t>
            </a:r>
            <a:endParaRPr lang="en-US" dirty="0"/>
          </a:p>
        </p:txBody>
      </p:sp>
      <p:sp>
        <p:nvSpPr>
          <p:cNvPr id="14" name="Rectángulo 13">
            <a:extLst>
              <a:ext uri="{FF2B5EF4-FFF2-40B4-BE49-F238E27FC236}">
                <a16:creationId xmlns:a16="http://schemas.microsoft.com/office/drawing/2014/main" id="{3F75FBAC-87AC-11CC-7313-8168B9B1F647}"/>
              </a:ext>
            </a:extLst>
          </p:cNvPr>
          <p:cNvSpPr/>
          <p:nvPr/>
        </p:nvSpPr>
        <p:spPr>
          <a:xfrm>
            <a:off x="9471361" y="2620206"/>
            <a:ext cx="1915463" cy="16972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5" name="CuadroTexto 14">
            <a:extLst>
              <a:ext uri="{FF2B5EF4-FFF2-40B4-BE49-F238E27FC236}">
                <a16:creationId xmlns:a16="http://schemas.microsoft.com/office/drawing/2014/main" id="{4CD050E8-627A-6F92-C78E-6591ED158E1A}"/>
              </a:ext>
            </a:extLst>
          </p:cNvPr>
          <p:cNvSpPr txBox="1"/>
          <p:nvPr/>
        </p:nvSpPr>
        <p:spPr>
          <a:xfrm>
            <a:off x="10852638" y="5930145"/>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8</a:t>
            </a:r>
            <a:endParaRPr lang="en-US" dirty="0"/>
          </a:p>
        </p:txBody>
      </p:sp>
    </p:spTree>
    <p:extLst>
      <p:ext uri="{BB962C8B-B14F-4D97-AF65-F5344CB8AC3E}">
        <p14:creationId xmlns:p14="http://schemas.microsoft.com/office/powerpoint/2010/main" val="1424886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3A4AC72-DB04-F0AE-3F0B-DB44E2681CBF}"/>
              </a:ext>
            </a:extLst>
          </p:cNvPr>
          <p:cNvPicPr>
            <a:picLocks noChangeAspect="1"/>
          </p:cNvPicPr>
          <p:nvPr/>
        </p:nvPicPr>
        <p:blipFill>
          <a:blip r:embed="rId3"/>
          <a:stretch>
            <a:fillRect/>
          </a:stretch>
        </p:blipFill>
        <p:spPr>
          <a:xfrm>
            <a:off x="768096" y="1162523"/>
            <a:ext cx="10863072" cy="5164783"/>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57251" y="277860"/>
            <a:ext cx="10477497" cy="898555"/>
          </a:xfrm>
        </p:spPr>
        <p:txBody>
          <a:bodyPr/>
          <a:lstStyle/>
          <a:p>
            <a:r>
              <a:rPr lang="es-ES_tradnl" dirty="0">
                <a:solidFill>
                  <a:schemeClr val="accent1"/>
                </a:solidFill>
              </a:rPr>
              <a:t>Reglas de Control de Asistencia a</a:t>
            </a:r>
            <a:r>
              <a:rPr lang="es-ES" b="1" dirty="0">
                <a:solidFill>
                  <a:schemeClr val="accent1"/>
                </a:solidFill>
              </a:rPr>
              <a:t> nivel de periodo</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3C689CB6-91DC-DD34-4EEC-513AA012F987}"/>
              </a:ext>
            </a:extLst>
          </p:cNvPr>
          <p:cNvSpPr/>
          <p:nvPr/>
        </p:nvSpPr>
        <p:spPr>
          <a:xfrm>
            <a:off x="1288375" y="3871362"/>
            <a:ext cx="9823862" cy="62423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9"/>
            </a:pPr>
            <a:r>
              <a:rPr lang="es-419" sz="1100" dirty="0"/>
              <a:t>Para ingresar una nueva regla, presione el botón </a:t>
            </a:r>
            <a:r>
              <a:rPr lang="es-419" sz="1100" b="1" dirty="0"/>
              <a:t>Insertar</a:t>
            </a:r>
            <a:r>
              <a:rPr lang="es-419" sz="1100" dirty="0"/>
              <a:t> e inicie el procedimiento nuevamente para la nueva regla.</a:t>
            </a:r>
            <a:endParaRPr lang="es-ES_tradnl" sz="1050" dirty="0"/>
          </a:p>
        </p:txBody>
      </p:sp>
      <p:sp>
        <p:nvSpPr>
          <p:cNvPr id="11" name="CuadroTexto 10">
            <a:extLst>
              <a:ext uri="{FF2B5EF4-FFF2-40B4-BE49-F238E27FC236}">
                <a16:creationId xmlns:a16="http://schemas.microsoft.com/office/drawing/2014/main" id="{1E439D3C-9059-1C41-413E-8C9CB995404F}"/>
              </a:ext>
            </a:extLst>
          </p:cNvPr>
          <p:cNvSpPr txBox="1"/>
          <p:nvPr/>
        </p:nvSpPr>
        <p:spPr>
          <a:xfrm>
            <a:off x="10810484" y="1654186"/>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Tree>
    <p:extLst>
      <p:ext uri="{BB962C8B-B14F-4D97-AF65-F5344CB8AC3E}">
        <p14:creationId xmlns:p14="http://schemas.microsoft.com/office/powerpoint/2010/main" val="4157420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E2B4B4EB-1203-692A-ADDC-B75409188708}"/>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A nivel de las sesiones de los NRC</a:t>
            </a:r>
            <a:endParaRPr lang="es-ES_tradnl" dirty="0"/>
          </a:p>
        </p:txBody>
      </p:sp>
      <p:sp>
        <p:nvSpPr>
          <p:cNvPr id="3" name="Marcador de texto 2">
            <a:extLst>
              <a:ext uri="{FF2B5EF4-FFF2-40B4-BE49-F238E27FC236}">
                <a16:creationId xmlns:a16="http://schemas.microsoft.com/office/drawing/2014/main" id="{4C207C8C-750B-F5D3-3F29-67D3D18C42B5}"/>
              </a:ext>
            </a:extLst>
          </p:cNvPr>
          <p:cNvSpPr>
            <a:spLocks noGrp="1"/>
          </p:cNvSpPr>
          <p:nvPr>
            <p:ph type="body" sz="quarter" idx="18"/>
          </p:nvPr>
        </p:nvSpPr>
        <p:spPr/>
        <p:txBody>
          <a:bodyPr/>
          <a:lstStyle/>
          <a:p>
            <a:r>
              <a:rPr lang="es-419" dirty="0"/>
              <a:t>Para cada reunión o sesión el docente tendrá fechas definidas para cargar la asistencia</a:t>
            </a:r>
          </a:p>
        </p:txBody>
      </p:sp>
    </p:spTree>
    <p:extLst>
      <p:ext uri="{BB962C8B-B14F-4D97-AF65-F5344CB8AC3E}">
        <p14:creationId xmlns:p14="http://schemas.microsoft.com/office/powerpoint/2010/main" val="7717273"/>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38ED0E2-3DEA-745A-521C-F9E947B1D7AC}"/>
              </a:ext>
            </a:extLst>
          </p:cNvPr>
          <p:cNvPicPr>
            <a:picLocks noChangeAspect="1"/>
          </p:cNvPicPr>
          <p:nvPr/>
        </p:nvPicPr>
        <p:blipFill>
          <a:blip r:embed="rId3"/>
          <a:stretch>
            <a:fillRect/>
          </a:stretch>
        </p:blipFill>
        <p:spPr>
          <a:xfrm>
            <a:off x="812800" y="1261790"/>
            <a:ext cx="10663809" cy="5059472"/>
          </a:xfrm>
          <a:prstGeom prst="rect">
            <a:avLst/>
          </a:prstGeom>
        </p:spPr>
      </p:pic>
      <p:sp>
        <p:nvSpPr>
          <p:cNvPr id="5" name="Marcador de texto vertical 4">
            <a:extLst>
              <a:ext uri="{FF2B5EF4-FFF2-40B4-BE49-F238E27FC236}">
                <a16:creationId xmlns:a16="http://schemas.microsoft.com/office/drawing/2014/main" id="{C09D06C0-4369-4D8F-298D-B325ACBDA37C}"/>
              </a:ext>
            </a:extLst>
          </p:cNvPr>
          <p:cNvSpPr>
            <a:spLocks noGrp="1"/>
          </p:cNvSpPr>
          <p:nvPr>
            <p:ph type="body" orient="vert" sz="quarter" idx="17"/>
          </p:nvPr>
        </p:nvSpPr>
        <p:spPr/>
        <p:txBody>
          <a:bodyPr/>
          <a:lstStyle/>
          <a:p>
            <a:r>
              <a:rPr lang="es-419" dirty="0"/>
              <a:t>Gestionar la asistencia a clases</a:t>
            </a:r>
          </a:p>
        </p:txBody>
      </p:sp>
      <p:sp>
        <p:nvSpPr>
          <p:cNvPr id="10" name="Title 12">
            <a:extLst>
              <a:ext uri="{FF2B5EF4-FFF2-40B4-BE49-F238E27FC236}">
                <a16:creationId xmlns:a16="http://schemas.microsoft.com/office/drawing/2014/main" id="{8A563E71-3A21-49AB-BE93-0772684C04A3}"/>
              </a:ext>
            </a:extLst>
          </p:cNvPr>
          <p:cNvSpPr>
            <a:spLocks noGrp="1"/>
          </p:cNvSpPr>
          <p:nvPr>
            <p:ph type="title"/>
          </p:nvPr>
        </p:nvSpPr>
        <p:spPr>
          <a:xfrm>
            <a:off x="999112" y="340064"/>
            <a:ext cx="10477497" cy="898555"/>
          </a:xfrm>
        </p:spPr>
        <p:txBody>
          <a:bodyPr/>
          <a:lstStyle/>
          <a:p>
            <a:r>
              <a:rPr lang="es-ES_tradnl" dirty="0">
                <a:solidFill>
                  <a:schemeClr val="accent1"/>
                </a:solidFill>
              </a:rPr>
              <a:t>Reglas de Control de Asistencia</a:t>
            </a:r>
            <a:r>
              <a:rPr lang="es-419" dirty="0">
                <a:solidFill>
                  <a:schemeClr val="accent1"/>
                </a:solidFill>
              </a:rPr>
              <a:t> a</a:t>
            </a:r>
            <a:r>
              <a:rPr lang="es-ES" b="1" dirty="0">
                <a:solidFill>
                  <a:schemeClr val="accent1"/>
                </a:solidFill>
              </a:rPr>
              <a:t> nivel de las sesiones de los NRC</a:t>
            </a:r>
            <a:endParaRPr lang="es-ES_tradnl" b="1" dirty="0">
              <a:solidFill>
                <a:schemeClr val="accent1"/>
              </a:solidFill>
            </a:endParaRPr>
          </a:p>
        </p:txBody>
      </p:sp>
      <p:sp>
        <p:nvSpPr>
          <p:cNvPr id="6" name="CuadroTexto 5">
            <a:extLst>
              <a:ext uri="{FF2B5EF4-FFF2-40B4-BE49-F238E27FC236}">
                <a16:creationId xmlns:a16="http://schemas.microsoft.com/office/drawing/2014/main" id="{957412E4-A49D-7169-4272-337AD3EA4DD9}"/>
              </a:ext>
            </a:extLst>
          </p:cNvPr>
          <p:cNvSpPr txBox="1"/>
          <p:nvPr/>
        </p:nvSpPr>
        <p:spPr>
          <a:xfrm>
            <a:off x="848235" y="1761694"/>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7" name="Rectángulo: esquinas redondeadas 6">
            <a:extLst>
              <a:ext uri="{FF2B5EF4-FFF2-40B4-BE49-F238E27FC236}">
                <a16:creationId xmlns:a16="http://schemas.microsoft.com/office/drawing/2014/main" id="{B32D1C46-1800-3C91-9036-9CA8B13362EF}"/>
              </a:ext>
            </a:extLst>
          </p:cNvPr>
          <p:cNvSpPr/>
          <p:nvPr/>
        </p:nvSpPr>
        <p:spPr>
          <a:xfrm>
            <a:off x="1290635" y="5040563"/>
            <a:ext cx="9823862" cy="7098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ES_tradnl" sz="1100" b="1" dirty="0"/>
              <a:t>SOAATMT</a:t>
            </a:r>
            <a:r>
              <a:rPr lang="es-ES_tradnl" sz="1100" dirty="0"/>
              <a:t>, digite o seleccione el </a:t>
            </a:r>
            <a:r>
              <a:rPr lang="es-ES_tradnl" sz="1100" b="1" dirty="0"/>
              <a:t>período</a:t>
            </a:r>
            <a:r>
              <a:rPr lang="es-ES_tradnl" sz="1100" dirty="0"/>
              <a:t> para el cual definirá las reglas</a:t>
            </a:r>
          </a:p>
          <a:p>
            <a:pPr marL="342900" indent="-342900" algn="just">
              <a:buFont typeface="+mj-lt"/>
              <a:buAutoNum type="arabicPeriod"/>
            </a:pPr>
            <a:r>
              <a:rPr lang="es-ES_tradnl" sz="1100" dirty="0"/>
              <a:t>Ingrese, o seleccione, el </a:t>
            </a:r>
            <a:r>
              <a:rPr lang="es-ES_tradnl" sz="1100" b="1" dirty="0"/>
              <a:t>NRC</a:t>
            </a:r>
            <a:r>
              <a:rPr lang="es-ES_tradnl" sz="1100" dirty="0"/>
              <a:t> para el cual definirá las reglas</a:t>
            </a:r>
          </a:p>
          <a:p>
            <a:pPr marL="342900" indent="-342900" algn="just">
              <a:buFont typeface="+mj-lt"/>
              <a:buAutoNum type="arabicPeriod"/>
            </a:pPr>
            <a:r>
              <a:rPr lang="es-CL" sz="1100" dirty="0"/>
              <a:t>Hacer clic en el botón </a:t>
            </a:r>
            <a:r>
              <a:rPr lang="es-CL" sz="1100" b="1" dirty="0"/>
              <a:t>Ir</a:t>
            </a:r>
            <a:r>
              <a:rPr lang="es-CL" sz="1100" dirty="0"/>
              <a:t>.</a:t>
            </a:r>
          </a:p>
        </p:txBody>
      </p:sp>
      <p:sp>
        <p:nvSpPr>
          <p:cNvPr id="13" name="CuadroTexto 12">
            <a:extLst>
              <a:ext uri="{FF2B5EF4-FFF2-40B4-BE49-F238E27FC236}">
                <a16:creationId xmlns:a16="http://schemas.microsoft.com/office/drawing/2014/main" id="{660E34FF-9CE9-4CF9-4DF1-E55F9E6687FA}"/>
              </a:ext>
            </a:extLst>
          </p:cNvPr>
          <p:cNvSpPr txBox="1"/>
          <p:nvPr/>
        </p:nvSpPr>
        <p:spPr>
          <a:xfrm>
            <a:off x="10843360" y="1787890"/>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3</a:t>
            </a:r>
          </a:p>
        </p:txBody>
      </p:sp>
      <p:sp>
        <p:nvSpPr>
          <p:cNvPr id="17" name="CuadroTexto 16">
            <a:extLst>
              <a:ext uri="{FF2B5EF4-FFF2-40B4-BE49-F238E27FC236}">
                <a16:creationId xmlns:a16="http://schemas.microsoft.com/office/drawing/2014/main" id="{043AF09E-FB85-94B4-5773-14E2ED18C759}"/>
              </a:ext>
            </a:extLst>
          </p:cNvPr>
          <p:cNvSpPr txBox="1"/>
          <p:nvPr/>
        </p:nvSpPr>
        <p:spPr>
          <a:xfrm>
            <a:off x="5860669" y="1798565"/>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2</a:t>
            </a:r>
            <a:endParaRPr lang="en-US" dirty="0"/>
          </a:p>
        </p:txBody>
      </p:sp>
    </p:spTree>
    <p:extLst>
      <p:ext uri="{BB962C8B-B14F-4D97-AF65-F5344CB8AC3E}">
        <p14:creationId xmlns:p14="http://schemas.microsoft.com/office/powerpoint/2010/main" val="13962204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726C3D7-0102-444A-1B5E-2F6FC1DCFBC8}"/>
              </a:ext>
            </a:extLst>
          </p:cNvPr>
          <p:cNvPicPr>
            <a:picLocks noChangeAspect="1"/>
          </p:cNvPicPr>
          <p:nvPr/>
        </p:nvPicPr>
        <p:blipFill>
          <a:blip r:embed="rId3"/>
          <a:stretch>
            <a:fillRect/>
          </a:stretch>
        </p:blipFill>
        <p:spPr>
          <a:xfrm>
            <a:off x="878425" y="1329154"/>
            <a:ext cx="10236072" cy="4843045"/>
          </a:xfrm>
          <a:prstGeom prst="rect">
            <a:avLst/>
          </a:prstGeom>
        </p:spPr>
      </p:pic>
      <p:sp>
        <p:nvSpPr>
          <p:cNvPr id="5" name="Marcador de texto vertical 4">
            <a:extLst>
              <a:ext uri="{FF2B5EF4-FFF2-40B4-BE49-F238E27FC236}">
                <a16:creationId xmlns:a16="http://schemas.microsoft.com/office/drawing/2014/main" id="{C09D06C0-4369-4D8F-298D-B325ACBDA37C}"/>
              </a:ext>
            </a:extLst>
          </p:cNvPr>
          <p:cNvSpPr>
            <a:spLocks noGrp="1"/>
          </p:cNvSpPr>
          <p:nvPr>
            <p:ph type="body" orient="vert" sz="quarter" idx="17"/>
          </p:nvPr>
        </p:nvSpPr>
        <p:spPr/>
        <p:txBody>
          <a:bodyPr/>
          <a:lstStyle/>
          <a:p>
            <a:r>
              <a:rPr lang="es-419" dirty="0"/>
              <a:t>Gestionar la asistencia a clases</a:t>
            </a:r>
          </a:p>
        </p:txBody>
      </p:sp>
      <p:sp>
        <p:nvSpPr>
          <p:cNvPr id="10" name="Title 12">
            <a:extLst>
              <a:ext uri="{FF2B5EF4-FFF2-40B4-BE49-F238E27FC236}">
                <a16:creationId xmlns:a16="http://schemas.microsoft.com/office/drawing/2014/main" id="{8A563E71-3A21-49AB-BE93-0772684C04A3}"/>
              </a:ext>
            </a:extLst>
          </p:cNvPr>
          <p:cNvSpPr>
            <a:spLocks noGrp="1"/>
          </p:cNvSpPr>
          <p:nvPr>
            <p:ph type="title"/>
          </p:nvPr>
        </p:nvSpPr>
        <p:spPr>
          <a:xfrm>
            <a:off x="999112" y="340064"/>
            <a:ext cx="10477497" cy="898555"/>
          </a:xfrm>
        </p:spPr>
        <p:txBody>
          <a:bodyPr/>
          <a:lstStyle/>
          <a:p>
            <a:r>
              <a:rPr lang="es-ES_tradnl" dirty="0">
                <a:solidFill>
                  <a:schemeClr val="accent1"/>
                </a:solidFill>
              </a:rPr>
              <a:t>Reglas de Control de Asistencia</a:t>
            </a:r>
            <a:r>
              <a:rPr lang="es-419" dirty="0">
                <a:solidFill>
                  <a:schemeClr val="accent1"/>
                </a:solidFill>
              </a:rPr>
              <a:t> a</a:t>
            </a:r>
            <a:r>
              <a:rPr lang="es-ES" b="1" dirty="0">
                <a:solidFill>
                  <a:schemeClr val="accent1"/>
                </a:solidFill>
              </a:rPr>
              <a:t> nivel de las sesiones de los NRC</a:t>
            </a:r>
            <a:endParaRPr lang="es-ES_tradnl" b="1" dirty="0">
              <a:solidFill>
                <a:schemeClr val="accent1"/>
              </a:solidFill>
            </a:endParaRPr>
          </a:p>
        </p:txBody>
      </p:sp>
      <p:sp>
        <p:nvSpPr>
          <p:cNvPr id="6" name="CuadroTexto 5">
            <a:extLst>
              <a:ext uri="{FF2B5EF4-FFF2-40B4-BE49-F238E27FC236}">
                <a16:creationId xmlns:a16="http://schemas.microsoft.com/office/drawing/2014/main" id="{957412E4-A49D-7169-4272-337AD3EA4DD9}"/>
              </a:ext>
            </a:extLst>
          </p:cNvPr>
          <p:cNvSpPr txBox="1"/>
          <p:nvPr/>
        </p:nvSpPr>
        <p:spPr>
          <a:xfrm>
            <a:off x="495156" y="2486903"/>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7" name="Rectángulo: esquinas redondeadas 6">
            <a:extLst>
              <a:ext uri="{FF2B5EF4-FFF2-40B4-BE49-F238E27FC236}">
                <a16:creationId xmlns:a16="http://schemas.microsoft.com/office/drawing/2014/main" id="{B32D1C46-1800-3C91-9036-9CA8B13362EF}"/>
              </a:ext>
            </a:extLst>
          </p:cNvPr>
          <p:cNvSpPr/>
          <p:nvPr/>
        </p:nvSpPr>
        <p:spPr>
          <a:xfrm>
            <a:off x="1290635" y="5040563"/>
            <a:ext cx="9823862" cy="7098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419" sz="1100" dirty="0"/>
              <a:t>El sistema muestra los datos correspondientes al NRC seleccionado en el área identificada como </a:t>
            </a:r>
            <a:r>
              <a:rPr lang="es-419" sz="1100" b="1" dirty="0"/>
              <a:t>Detalles de  Regla (solo lectura).</a:t>
            </a:r>
          </a:p>
          <a:p>
            <a:pPr marL="342900" indent="-342900" algn="just">
              <a:buFont typeface="+mj-lt"/>
              <a:buAutoNum type="arabicPeriod" startAt="4"/>
            </a:pPr>
            <a:r>
              <a:rPr lang="es-419" sz="1100" dirty="0"/>
              <a:t>Igualmente, se muestran las sesiones programadas para el NRC en el área denominada </a:t>
            </a:r>
            <a:r>
              <a:rPr lang="es-419" sz="1100" b="1" dirty="0"/>
              <a:t>Reuniones de sección (solo lectura)</a:t>
            </a:r>
            <a:r>
              <a:rPr lang="es-419" sz="1100" dirty="0"/>
              <a:t>.</a:t>
            </a:r>
          </a:p>
          <a:p>
            <a:pPr marL="342900" indent="-342900" algn="just">
              <a:buFont typeface="+mj-lt"/>
              <a:buAutoNum type="arabicPeriod" startAt="4"/>
            </a:pPr>
            <a:endParaRPr lang="es-CL" sz="1100" dirty="0"/>
          </a:p>
        </p:txBody>
      </p:sp>
      <p:sp>
        <p:nvSpPr>
          <p:cNvPr id="13" name="CuadroTexto 12">
            <a:extLst>
              <a:ext uri="{FF2B5EF4-FFF2-40B4-BE49-F238E27FC236}">
                <a16:creationId xmlns:a16="http://schemas.microsoft.com/office/drawing/2014/main" id="{660E34FF-9CE9-4CF9-4DF1-E55F9E6687FA}"/>
              </a:ext>
            </a:extLst>
          </p:cNvPr>
          <p:cNvSpPr txBox="1"/>
          <p:nvPr/>
        </p:nvSpPr>
        <p:spPr>
          <a:xfrm>
            <a:off x="461293" y="3642954"/>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5</a:t>
            </a:r>
          </a:p>
        </p:txBody>
      </p:sp>
      <p:sp>
        <p:nvSpPr>
          <p:cNvPr id="14" name="Flecha: hacia la izquierda 13">
            <a:extLst>
              <a:ext uri="{FF2B5EF4-FFF2-40B4-BE49-F238E27FC236}">
                <a16:creationId xmlns:a16="http://schemas.microsoft.com/office/drawing/2014/main" id="{D51F1C72-3D95-362A-BB4B-58D4FDDF678A}"/>
              </a:ext>
            </a:extLst>
          </p:cNvPr>
          <p:cNvSpPr/>
          <p:nvPr/>
        </p:nvSpPr>
        <p:spPr>
          <a:xfrm rot="10800000">
            <a:off x="1054110" y="329919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7F5ACB2C-EF0E-E6AD-9954-2E69693A2E2D}"/>
              </a:ext>
            </a:extLst>
          </p:cNvPr>
          <p:cNvSpPr/>
          <p:nvPr/>
        </p:nvSpPr>
        <p:spPr>
          <a:xfrm>
            <a:off x="866269" y="2004291"/>
            <a:ext cx="10236071" cy="14052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9" name="Rectángulo 8">
            <a:extLst>
              <a:ext uri="{FF2B5EF4-FFF2-40B4-BE49-F238E27FC236}">
                <a16:creationId xmlns:a16="http://schemas.microsoft.com/office/drawing/2014/main" id="{ADB8409B-AD81-E813-6BDE-05F2A1FD5A6C}"/>
              </a:ext>
            </a:extLst>
          </p:cNvPr>
          <p:cNvSpPr/>
          <p:nvPr/>
        </p:nvSpPr>
        <p:spPr>
          <a:xfrm>
            <a:off x="883560" y="3422275"/>
            <a:ext cx="10225801" cy="7333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41509872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0BE0BE3-1215-8768-A766-DD1837214E05}"/>
              </a:ext>
            </a:extLst>
          </p:cNvPr>
          <p:cNvPicPr>
            <a:picLocks noChangeAspect="1"/>
          </p:cNvPicPr>
          <p:nvPr/>
        </p:nvPicPr>
        <p:blipFill>
          <a:blip r:embed="rId3"/>
          <a:stretch>
            <a:fillRect/>
          </a:stretch>
        </p:blipFill>
        <p:spPr>
          <a:xfrm>
            <a:off x="878425" y="1329154"/>
            <a:ext cx="10236072" cy="4843045"/>
          </a:xfrm>
          <a:prstGeom prst="rect">
            <a:avLst/>
          </a:prstGeom>
          <a:ln>
            <a:solidFill>
              <a:schemeClr val="accent1"/>
            </a:solidFill>
          </a:ln>
        </p:spPr>
      </p:pic>
      <p:sp>
        <p:nvSpPr>
          <p:cNvPr id="5" name="Marcador de texto vertical 4">
            <a:extLst>
              <a:ext uri="{FF2B5EF4-FFF2-40B4-BE49-F238E27FC236}">
                <a16:creationId xmlns:a16="http://schemas.microsoft.com/office/drawing/2014/main" id="{C09D06C0-4369-4D8F-298D-B325ACBDA37C}"/>
              </a:ext>
            </a:extLst>
          </p:cNvPr>
          <p:cNvSpPr>
            <a:spLocks noGrp="1"/>
          </p:cNvSpPr>
          <p:nvPr>
            <p:ph type="body" orient="vert" sz="quarter" idx="17"/>
          </p:nvPr>
        </p:nvSpPr>
        <p:spPr/>
        <p:txBody>
          <a:bodyPr/>
          <a:lstStyle/>
          <a:p>
            <a:r>
              <a:rPr lang="es-419" dirty="0"/>
              <a:t>Gestionar la asistencia a clases</a:t>
            </a:r>
          </a:p>
        </p:txBody>
      </p:sp>
      <p:sp>
        <p:nvSpPr>
          <p:cNvPr id="10" name="Title 12">
            <a:extLst>
              <a:ext uri="{FF2B5EF4-FFF2-40B4-BE49-F238E27FC236}">
                <a16:creationId xmlns:a16="http://schemas.microsoft.com/office/drawing/2014/main" id="{8A563E71-3A21-49AB-BE93-0772684C04A3}"/>
              </a:ext>
            </a:extLst>
          </p:cNvPr>
          <p:cNvSpPr>
            <a:spLocks noGrp="1"/>
          </p:cNvSpPr>
          <p:nvPr>
            <p:ph type="title"/>
          </p:nvPr>
        </p:nvSpPr>
        <p:spPr>
          <a:xfrm>
            <a:off x="999112" y="340064"/>
            <a:ext cx="10477497" cy="898555"/>
          </a:xfrm>
        </p:spPr>
        <p:txBody>
          <a:bodyPr/>
          <a:lstStyle/>
          <a:p>
            <a:r>
              <a:rPr lang="es-ES_tradnl" dirty="0">
                <a:solidFill>
                  <a:schemeClr val="accent1"/>
                </a:solidFill>
              </a:rPr>
              <a:t>Reglas de Control de Asistencia</a:t>
            </a:r>
            <a:r>
              <a:rPr lang="es-419" dirty="0">
                <a:solidFill>
                  <a:schemeClr val="accent1"/>
                </a:solidFill>
              </a:rPr>
              <a:t> a</a:t>
            </a:r>
            <a:r>
              <a:rPr lang="es-ES" b="1" dirty="0">
                <a:solidFill>
                  <a:schemeClr val="accent1"/>
                </a:solidFill>
              </a:rPr>
              <a:t> nivel de las sesiones de los NRC</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B32D1C46-1800-3C91-9036-9CA8B13362EF}"/>
              </a:ext>
            </a:extLst>
          </p:cNvPr>
          <p:cNvSpPr/>
          <p:nvPr/>
        </p:nvSpPr>
        <p:spPr>
          <a:xfrm>
            <a:off x="1290635" y="4601183"/>
            <a:ext cx="9823862" cy="143322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6"/>
            </a:pPr>
            <a:r>
              <a:rPr lang="es-419" sz="1000" dirty="0"/>
              <a:t>Haga clic sobre la sesión o reunión para la cual va a definir la regla de control de asistencia.</a:t>
            </a:r>
            <a:endParaRPr lang="es-419" sz="1000" b="1" dirty="0"/>
          </a:p>
          <a:p>
            <a:pPr marL="342900" indent="-342900" algn="just">
              <a:buFont typeface="+mj-lt"/>
              <a:buAutoNum type="arabicPeriod" startAt="6"/>
            </a:pPr>
            <a:r>
              <a:rPr lang="es-419" sz="1000" dirty="0"/>
              <a:t>Ingrese los criterios de la regla de control que está configurando, bajo los mismos criterios descritos en la página SOAATRK:</a:t>
            </a:r>
          </a:p>
          <a:p>
            <a:pPr marL="800100" lvl="1" indent="-342900" algn="just">
              <a:buFont typeface="Arial" panose="020B0604020202020204" pitchFamily="34" charset="0"/>
              <a:buChar char="•"/>
            </a:pPr>
            <a:r>
              <a:rPr lang="es-419" sz="1000" dirty="0"/>
              <a:t>Active </a:t>
            </a:r>
            <a:r>
              <a:rPr lang="es-419" sz="1000" b="1" dirty="0"/>
              <a:t>Desplegar clase </a:t>
            </a:r>
            <a:r>
              <a:rPr lang="es-419" sz="1000" dirty="0"/>
              <a:t>para que la regla se considere activa</a:t>
            </a:r>
          </a:p>
          <a:p>
            <a:pPr marL="800100" lvl="1" indent="-342900" algn="just">
              <a:buFont typeface="Arial" panose="020B0604020202020204" pitchFamily="34" charset="0"/>
              <a:buChar char="•"/>
            </a:pPr>
            <a:r>
              <a:rPr lang="es-419" sz="1000" dirty="0"/>
              <a:t>Ingrese en </a:t>
            </a:r>
            <a:r>
              <a:rPr lang="es-419" sz="1000" b="1" dirty="0"/>
              <a:t>Unidad de Control </a:t>
            </a:r>
            <a:r>
              <a:rPr lang="es-419" sz="1000" dirty="0"/>
              <a:t>la opción Presente/Ausente</a:t>
            </a:r>
          </a:p>
          <a:p>
            <a:pPr marL="800100" lvl="1" indent="-342900" algn="just">
              <a:buFont typeface="Arial" panose="020B0604020202020204" pitchFamily="34" charset="0"/>
              <a:buChar char="•"/>
            </a:pPr>
            <a:r>
              <a:rPr lang="es-419" sz="1000" dirty="0"/>
              <a:t>Active la casilla </a:t>
            </a:r>
            <a:r>
              <a:rPr lang="es-419" sz="1000" b="1" dirty="0"/>
              <a:t>Control de asistencia </a:t>
            </a:r>
            <a:r>
              <a:rPr lang="es-419" sz="1000" dirty="0"/>
              <a:t>para que el docente pueda registrar la asistencia en el autoservicio</a:t>
            </a:r>
          </a:p>
          <a:p>
            <a:pPr marL="800100" lvl="1" indent="-342900" algn="just">
              <a:buFont typeface="Arial" panose="020B0604020202020204" pitchFamily="34" charset="0"/>
              <a:buChar char="•"/>
            </a:pPr>
            <a:r>
              <a:rPr lang="es-419" sz="1000" dirty="0"/>
              <a:t>Ingrese las </a:t>
            </a:r>
            <a:r>
              <a:rPr lang="es-419" sz="1000" b="1" dirty="0"/>
              <a:t>fechas</a:t>
            </a:r>
            <a:r>
              <a:rPr lang="es-419" sz="1000" dirty="0"/>
              <a:t> entre las cuales el docente podrá cargar el control de asistencia.</a:t>
            </a:r>
          </a:p>
          <a:p>
            <a:pPr marL="342900" indent="-342900" algn="just">
              <a:buFont typeface="+mj-lt"/>
              <a:buAutoNum type="arabicPeriod" startAt="8"/>
            </a:pPr>
            <a:r>
              <a:rPr lang="es-419" sz="1000" b="1" dirty="0"/>
              <a:t>Guarde</a:t>
            </a:r>
            <a:r>
              <a:rPr lang="es-419" sz="1000" dirty="0"/>
              <a:t> la información.</a:t>
            </a:r>
          </a:p>
          <a:p>
            <a:pPr algn="just"/>
            <a:r>
              <a:rPr lang="es-ES_tradnl" sz="1000" dirty="0"/>
              <a:t>El proceso debe repetirse por cada sesión de clases programada para el NRC</a:t>
            </a:r>
          </a:p>
          <a:p>
            <a:pPr marL="342900" indent="-342900" algn="just">
              <a:buFont typeface="+mj-lt"/>
              <a:buAutoNum type="arabicPeriod" startAt="8"/>
            </a:pPr>
            <a:endParaRPr lang="es-419" sz="1100" dirty="0"/>
          </a:p>
        </p:txBody>
      </p:sp>
      <p:sp>
        <p:nvSpPr>
          <p:cNvPr id="13" name="CuadroTexto 12">
            <a:extLst>
              <a:ext uri="{FF2B5EF4-FFF2-40B4-BE49-F238E27FC236}">
                <a16:creationId xmlns:a16="http://schemas.microsoft.com/office/drawing/2014/main" id="{660E34FF-9CE9-4CF9-4DF1-E55F9E6687FA}"/>
              </a:ext>
            </a:extLst>
          </p:cNvPr>
          <p:cNvSpPr txBox="1"/>
          <p:nvPr/>
        </p:nvSpPr>
        <p:spPr>
          <a:xfrm>
            <a:off x="617945" y="3702616"/>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6</a:t>
            </a:r>
          </a:p>
        </p:txBody>
      </p:sp>
      <p:sp>
        <p:nvSpPr>
          <p:cNvPr id="9" name="Rectángulo 8">
            <a:extLst>
              <a:ext uri="{FF2B5EF4-FFF2-40B4-BE49-F238E27FC236}">
                <a16:creationId xmlns:a16="http://schemas.microsoft.com/office/drawing/2014/main" id="{91F562D6-9411-A5E5-7278-9604C88199C6}"/>
              </a:ext>
            </a:extLst>
          </p:cNvPr>
          <p:cNvSpPr/>
          <p:nvPr/>
        </p:nvSpPr>
        <p:spPr>
          <a:xfrm flipV="1">
            <a:off x="977964" y="3729290"/>
            <a:ext cx="10236071" cy="18877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518F3E3E-80B8-268D-5A36-194C66BB4713}"/>
              </a:ext>
            </a:extLst>
          </p:cNvPr>
          <p:cNvSpPr txBox="1"/>
          <p:nvPr/>
        </p:nvSpPr>
        <p:spPr>
          <a:xfrm>
            <a:off x="609067" y="4300316"/>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7</a:t>
            </a:r>
          </a:p>
        </p:txBody>
      </p:sp>
      <p:sp>
        <p:nvSpPr>
          <p:cNvPr id="16" name="Rectángulo 15">
            <a:extLst>
              <a:ext uri="{FF2B5EF4-FFF2-40B4-BE49-F238E27FC236}">
                <a16:creationId xmlns:a16="http://schemas.microsoft.com/office/drawing/2014/main" id="{2BB3B0E3-3513-6167-7452-E13FC6918544}"/>
              </a:ext>
            </a:extLst>
          </p:cNvPr>
          <p:cNvSpPr/>
          <p:nvPr/>
        </p:nvSpPr>
        <p:spPr>
          <a:xfrm flipV="1">
            <a:off x="953300" y="4170250"/>
            <a:ext cx="10260735" cy="43093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CuadroTexto 16">
            <a:extLst>
              <a:ext uri="{FF2B5EF4-FFF2-40B4-BE49-F238E27FC236}">
                <a16:creationId xmlns:a16="http://schemas.microsoft.com/office/drawing/2014/main" id="{BDB26AC3-FC05-93DC-82A5-70CE5237C7A5}"/>
              </a:ext>
            </a:extLst>
          </p:cNvPr>
          <p:cNvSpPr txBox="1"/>
          <p:nvPr/>
        </p:nvSpPr>
        <p:spPr>
          <a:xfrm>
            <a:off x="10496295" y="6034412"/>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8</a:t>
            </a:r>
          </a:p>
        </p:txBody>
      </p:sp>
    </p:spTree>
    <p:extLst>
      <p:ext uri="{BB962C8B-B14F-4D97-AF65-F5344CB8AC3E}">
        <p14:creationId xmlns:p14="http://schemas.microsoft.com/office/powerpoint/2010/main" val="2633083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7DF9F4DC-4C80-F6A2-24CF-5D61CF617A86}"/>
              </a:ext>
            </a:extLst>
          </p:cNvPr>
          <p:cNvSpPr>
            <a:spLocks noGrp="1"/>
          </p:cNvSpPr>
          <p:nvPr>
            <p:ph type="body" orient="vert" sz="quarter" idx="10"/>
          </p:nvPr>
        </p:nvSpPr>
        <p:spPr/>
        <p:txBody>
          <a:bodyPr/>
          <a:lstStyle/>
          <a:p>
            <a:r>
              <a:rPr lang="es-419" dirty="0"/>
              <a:t>Gestionar la asistencia a clases</a:t>
            </a:r>
          </a:p>
        </p:txBody>
      </p:sp>
      <p:sp>
        <p:nvSpPr>
          <p:cNvPr id="2" name="Title 1"/>
          <p:cNvSpPr>
            <a:spLocks noGrp="1"/>
          </p:cNvSpPr>
          <p:nvPr>
            <p:ph type="title"/>
          </p:nvPr>
        </p:nvSpPr>
        <p:spPr/>
        <p:txBody>
          <a:bodyPr/>
          <a:lstStyle/>
          <a:p>
            <a:r>
              <a:rPr lang="es-ES_tradnl" dirty="0"/>
              <a:t>Registro de Asistencia</a:t>
            </a:r>
          </a:p>
        </p:txBody>
      </p:sp>
      <p:sp>
        <p:nvSpPr>
          <p:cNvPr id="4" name="Marcador de texto 3">
            <a:extLst>
              <a:ext uri="{FF2B5EF4-FFF2-40B4-BE49-F238E27FC236}">
                <a16:creationId xmlns:a16="http://schemas.microsoft.com/office/drawing/2014/main" id="{80291AFB-8D43-C85C-20F1-6AF33F64CE71}"/>
              </a:ext>
            </a:extLst>
          </p:cNvPr>
          <p:cNvSpPr>
            <a:spLocks noGrp="1"/>
          </p:cNvSpPr>
          <p:nvPr>
            <p:ph type="body" sz="quarter" idx="18"/>
          </p:nvPr>
        </p:nvSpPr>
        <p:spPr/>
        <p:txBody>
          <a:bodyPr/>
          <a:lstStyle/>
          <a:p>
            <a:r>
              <a:rPr lang="es-ES_tradnl" dirty="0"/>
              <a:t>Los docentes en Autoservicio llevan a cabo el control de asistencia</a:t>
            </a:r>
          </a:p>
          <a:p>
            <a:endParaRPr lang="es-419" dirty="0"/>
          </a:p>
        </p:txBody>
      </p:sp>
    </p:spTree>
    <p:extLst>
      <p:ext uri="{BB962C8B-B14F-4D97-AF65-F5344CB8AC3E}">
        <p14:creationId xmlns:p14="http://schemas.microsoft.com/office/powerpoint/2010/main" val="1048294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37D42BD-2E49-E541-0DAE-10B710A3BD72}"/>
              </a:ext>
            </a:extLst>
          </p:cNvPr>
          <p:cNvPicPr>
            <a:picLocks noChangeAspect="1"/>
          </p:cNvPicPr>
          <p:nvPr/>
        </p:nvPicPr>
        <p:blipFill>
          <a:blip r:embed="rId3"/>
          <a:stretch>
            <a:fillRect/>
          </a:stretch>
        </p:blipFill>
        <p:spPr>
          <a:xfrm>
            <a:off x="609601" y="1427558"/>
            <a:ext cx="11107700" cy="4667901"/>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771089" y="4318047"/>
            <a:ext cx="4649821"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docente deberá presionar el botón “Pasar lista” correspondiente al NRC y sesión para la cual desea registrar la asistencia de los alumnos.</a:t>
            </a:r>
          </a:p>
        </p:txBody>
      </p:sp>
    </p:spTree>
    <p:extLst>
      <p:ext uri="{BB962C8B-B14F-4D97-AF65-F5344CB8AC3E}">
        <p14:creationId xmlns:p14="http://schemas.microsoft.com/office/powerpoint/2010/main" val="552362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D1E47D9-C626-825C-C59C-A74F03A55F94}"/>
              </a:ext>
            </a:extLst>
          </p:cNvPr>
          <p:cNvPicPr>
            <a:picLocks noChangeAspect="1"/>
          </p:cNvPicPr>
          <p:nvPr/>
        </p:nvPicPr>
        <p:blipFill>
          <a:blip r:embed="rId3"/>
          <a:stretch>
            <a:fillRect/>
          </a:stretch>
        </p:blipFill>
        <p:spPr>
          <a:xfrm>
            <a:off x="609601" y="1221168"/>
            <a:ext cx="10917174" cy="4877481"/>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25" name="Rectángulo 24">
            <a:extLst>
              <a:ext uri="{FF2B5EF4-FFF2-40B4-BE49-F238E27FC236}">
                <a16:creationId xmlns:a16="http://schemas.microsoft.com/office/drawing/2014/main" id="{C05F024C-157B-4B78-9C25-998E006664FF}"/>
              </a:ext>
            </a:extLst>
          </p:cNvPr>
          <p:cNvSpPr/>
          <p:nvPr/>
        </p:nvSpPr>
        <p:spPr>
          <a:xfrm>
            <a:off x="7791855" y="2234158"/>
            <a:ext cx="1050587" cy="25612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837233" y="5088649"/>
            <a:ext cx="4649821" cy="14126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Para cada estudiante de la lista, registre la asistencia o ausencia, haciendo clic sobre el círculo correspondiente a la sesión del día seleccionado.</a:t>
            </a:r>
          </a:p>
          <a:p>
            <a:pPr algn="ctr"/>
            <a:endParaRPr lang="es-ES_tradnl" sz="1100" dirty="0"/>
          </a:p>
          <a:p>
            <a:pPr algn="ctr"/>
            <a:r>
              <a:rPr lang="es-ES_tradnl" sz="1100" dirty="0"/>
              <a:t>Solo se pueden cargar asistencias para fechas anteriores a la fecha en que se está ingresando al sistema, no se pueden ingresar asistencias en días futuros.</a:t>
            </a:r>
          </a:p>
        </p:txBody>
      </p:sp>
      <p:sp>
        <p:nvSpPr>
          <p:cNvPr id="7" name="Rectángulo 6">
            <a:extLst>
              <a:ext uri="{FF2B5EF4-FFF2-40B4-BE49-F238E27FC236}">
                <a16:creationId xmlns:a16="http://schemas.microsoft.com/office/drawing/2014/main" id="{38ECF026-326E-F338-88AD-AC3F1911DAFC}"/>
              </a:ext>
            </a:extLst>
          </p:cNvPr>
          <p:cNvSpPr/>
          <p:nvPr/>
        </p:nvSpPr>
        <p:spPr>
          <a:xfrm>
            <a:off x="7791855" y="2564862"/>
            <a:ext cx="1050587" cy="2726987"/>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844278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C1038F7-215F-2915-2B88-F8F23AEE969D}"/>
              </a:ext>
            </a:extLst>
          </p:cNvPr>
          <p:cNvPicPr>
            <a:picLocks noChangeAspect="1"/>
          </p:cNvPicPr>
          <p:nvPr/>
        </p:nvPicPr>
        <p:blipFill>
          <a:blip r:embed="rId3"/>
          <a:stretch>
            <a:fillRect/>
          </a:stretch>
        </p:blipFill>
        <p:spPr>
          <a:xfrm>
            <a:off x="670755" y="1620921"/>
            <a:ext cx="10850489" cy="4877481"/>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819840" y="5291849"/>
            <a:ext cx="4649821" cy="14126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buFont typeface="Arial" panose="020B0604020202020204" pitchFamily="34" charset="0"/>
              <a:buChar char="•"/>
            </a:pPr>
            <a:r>
              <a:rPr lang="es-ES_tradnl" sz="1100" dirty="0"/>
              <a:t>La marca verde con el símbolo “</a:t>
            </a:r>
            <a:r>
              <a:rPr lang="es-ES_tradnl" sz="1100" dirty="0">
                <a:sym typeface="Wingdings" panose="05000000000000000000" pitchFamily="2" charset="2"/>
              </a:rPr>
              <a:t></a:t>
            </a:r>
            <a:r>
              <a:rPr lang="es-ES_tradnl" sz="1100" dirty="0"/>
              <a:t>” significa que el estudiante asistió a la sesión</a:t>
            </a:r>
          </a:p>
          <a:p>
            <a:pPr marL="228594" indent="-228594">
              <a:buFont typeface="Arial" panose="020B0604020202020204" pitchFamily="34" charset="0"/>
              <a:buChar char="•"/>
            </a:pPr>
            <a:r>
              <a:rPr lang="es-ES_tradnl" sz="1100" dirty="0"/>
              <a:t>El círculo rojo con el símbolo “-” quiere decir que el alumno estuvo ausente en la sesión.</a:t>
            </a:r>
          </a:p>
        </p:txBody>
      </p:sp>
      <p:sp>
        <p:nvSpPr>
          <p:cNvPr id="7" name="Rectángulo 6">
            <a:extLst>
              <a:ext uri="{FF2B5EF4-FFF2-40B4-BE49-F238E27FC236}">
                <a16:creationId xmlns:a16="http://schemas.microsoft.com/office/drawing/2014/main" id="{38ECF026-326E-F338-88AD-AC3F1911DAFC}"/>
              </a:ext>
            </a:extLst>
          </p:cNvPr>
          <p:cNvSpPr/>
          <p:nvPr/>
        </p:nvSpPr>
        <p:spPr>
          <a:xfrm>
            <a:off x="7636213" y="2964873"/>
            <a:ext cx="768878" cy="232697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991513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26078FF-A87E-E657-021E-1C4970FBE91C}"/>
              </a:ext>
            </a:extLst>
          </p:cNvPr>
          <p:cNvPicPr>
            <a:picLocks noChangeAspect="1"/>
          </p:cNvPicPr>
          <p:nvPr/>
        </p:nvPicPr>
        <p:blipFill>
          <a:blip r:embed="rId3"/>
          <a:stretch>
            <a:fillRect/>
          </a:stretch>
        </p:blipFill>
        <p:spPr>
          <a:xfrm>
            <a:off x="609601" y="1493496"/>
            <a:ext cx="10783805" cy="4887007"/>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5057202" y="3287951"/>
            <a:ext cx="3863062" cy="7587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registrar las ausencias y/o asistencias de los estudiantes, el sistema irá calculando el % de asistencia de cada uno de ellos.</a:t>
            </a:r>
          </a:p>
        </p:txBody>
      </p:sp>
      <p:sp>
        <p:nvSpPr>
          <p:cNvPr id="7" name="Rectángulo 6">
            <a:extLst>
              <a:ext uri="{FF2B5EF4-FFF2-40B4-BE49-F238E27FC236}">
                <a16:creationId xmlns:a16="http://schemas.microsoft.com/office/drawing/2014/main" id="{38ECF026-326E-F338-88AD-AC3F1911DAFC}"/>
              </a:ext>
            </a:extLst>
          </p:cNvPr>
          <p:cNvSpPr/>
          <p:nvPr/>
        </p:nvSpPr>
        <p:spPr>
          <a:xfrm>
            <a:off x="10846340" y="2418913"/>
            <a:ext cx="493551" cy="295104"/>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939214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80E24B9-B23E-15BE-6B52-24140D817FC3}"/>
              </a:ext>
            </a:extLst>
          </p:cNvPr>
          <p:cNvPicPr>
            <a:picLocks noChangeAspect="1"/>
          </p:cNvPicPr>
          <p:nvPr/>
        </p:nvPicPr>
        <p:blipFill>
          <a:blip r:embed="rId3"/>
          <a:stretch>
            <a:fillRect/>
          </a:stretch>
        </p:blipFill>
        <p:spPr>
          <a:xfrm>
            <a:off x="1046538" y="1584355"/>
            <a:ext cx="10381672" cy="4704905"/>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891062" y="2280660"/>
            <a:ext cx="3696511" cy="306446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Mediante el botón </a:t>
            </a:r>
            <a:r>
              <a:rPr lang="es-ES_tradnl" sz="1100" b="1" dirty="0"/>
              <a:t>Actualizar</a:t>
            </a:r>
            <a:r>
              <a:rPr lang="es-ES_tradnl" sz="1100" dirty="0"/>
              <a:t> todo, se presentan las siguientes opciones:</a:t>
            </a:r>
          </a:p>
          <a:p>
            <a:pPr marL="228594" indent="-228594">
              <a:buFont typeface="Arial" panose="020B0604020202020204" pitchFamily="34" charset="0"/>
              <a:buChar char="•"/>
            </a:pPr>
            <a:r>
              <a:rPr lang="es-CO" sz="1100" dirty="0"/>
              <a:t>Actualizar los registros vacíos como presente, aplica si ha registrado sólo a los estudiantes ausentes para marcar como asistente al resto de los alumnos.</a:t>
            </a:r>
          </a:p>
          <a:p>
            <a:pPr marL="228594" indent="-228594">
              <a:buFont typeface="Arial" panose="020B0604020202020204" pitchFamily="34" charset="0"/>
              <a:buChar char="•"/>
            </a:pPr>
            <a:r>
              <a:rPr lang="es-CO" sz="1100" dirty="0"/>
              <a:t>Actualizar los registros vacíos como ausente, aplica si ha registrado sólo a los estudiantes que no asistieron y desea marcar al resto como presentes.</a:t>
            </a:r>
          </a:p>
          <a:p>
            <a:pPr marL="228594" indent="-228594">
              <a:buFont typeface="Arial" panose="020B0604020202020204" pitchFamily="34" charset="0"/>
              <a:buChar char="•"/>
            </a:pPr>
            <a:r>
              <a:rPr lang="es-CO" sz="1100" dirty="0"/>
              <a:t>Marcar todos como presente, aplica para registrar a todos los alumnos con asistencia para el día señalado</a:t>
            </a:r>
          </a:p>
          <a:p>
            <a:pPr marL="228594" indent="-228594">
              <a:buFont typeface="Arial" panose="020B0604020202020204" pitchFamily="34" charset="0"/>
              <a:buChar char="•"/>
            </a:pPr>
            <a:r>
              <a:rPr lang="es-CO" sz="1100" dirty="0"/>
              <a:t>Marcar todos como ausente, aplica para registrar inasistencia a todos los estudiantes para el día señalado.</a:t>
            </a:r>
            <a:endParaRPr lang="es-ES_tradnl" sz="1100" dirty="0"/>
          </a:p>
        </p:txBody>
      </p:sp>
      <p:sp>
        <p:nvSpPr>
          <p:cNvPr id="7" name="Rectángulo 6">
            <a:extLst>
              <a:ext uri="{FF2B5EF4-FFF2-40B4-BE49-F238E27FC236}">
                <a16:creationId xmlns:a16="http://schemas.microsoft.com/office/drawing/2014/main" id="{38ECF026-326E-F338-88AD-AC3F1911DAFC}"/>
              </a:ext>
            </a:extLst>
          </p:cNvPr>
          <p:cNvSpPr/>
          <p:nvPr/>
        </p:nvSpPr>
        <p:spPr>
          <a:xfrm>
            <a:off x="1046538" y="2171926"/>
            <a:ext cx="2251139" cy="97983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632977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586895E-56CD-B2C3-D7AD-F17FB506F6A4}"/>
              </a:ext>
            </a:extLst>
          </p:cNvPr>
          <p:cNvPicPr>
            <a:picLocks noChangeAspect="1"/>
          </p:cNvPicPr>
          <p:nvPr/>
        </p:nvPicPr>
        <p:blipFill>
          <a:blip r:embed="rId3"/>
          <a:stretch>
            <a:fillRect/>
          </a:stretch>
        </p:blipFill>
        <p:spPr>
          <a:xfrm>
            <a:off x="904114" y="1543110"/>
            <a:ext cx="10879068" cy="4782217"/>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891062" y="2280661"/>
            <a:ext cx="3103125" cy="285554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Mediante el botón </a:t>
            </a:r>
            <a:r>
              <a:rPr lang="es-ES_tradnl" sz="1100" b="1" dirty="0"/>
              <a:t>Clase</a:t>
            </a:r>
            <a:r>
              <a:rPr lang="es-ES_tradnl" sz="1100" dirty="0"/>
              <a:t>, se presentan las siguientes opciones:</a:t>
            </a:r>
          </a:p>
          <a:p>
            <a:pPr marL="228594" indent="-228594">
              <a:buFont typeface="Arial" panose="020B0604020202020204" pitchFamily="34" charset="0"/>
              <a:buChar char="•"/>
            </a:pPr>
            <a:r>
              <a:rPr lang="es-CO" sz="1100" dirty="0"/>
              <a:t>Anular esta reunión de clase: para una fecha específica, al seleccionar esta opción el sistema no contabiliza las horas de asistencia/inasistencia de los alumnos. </a:t>
            </a:r>
          </a:p>
          <a:p>
            <a:pPr marL="228594" indent="-228594">
              <a:buFont typeface="Arial" panose="020B0604020202020204" pitchFamily="34" charset="0"/>
              <a:buChar char="•"/>
            </a:pPr>
            <a:r>
              <a:rPr lang="es-CO" sz="1100" dirty="0"/>
              <a:t>Actualizar la fecha de última asistencia del NRC: sólo si se ha modificado la programación académica, Ud. debe seleccionar esta opción para que se modifiquen las sesiones.</a:t>
            </a:r>
          </a:p>
          <a:p>
            <a:pPr marL="228594" indent="-228594">
              <a:buFont typeface="Arial" panose="020B0604020202020204" pitchFamily="34" charset="0"/>
              <a:buChar char="•"/>
            </a:pPr>
            <a:r>
              <a:rPr lang="es-CO" sz="1100" dirty="0"/>
              <a:t>Actualizar el total de horas del NRC: si se ha eliminado alguna sesión de clases.</a:t>
            </a:r>
          </a:p>
        </p:txBody>
      </p:sp>
      <p:sp>
        <p:nvSpPr>
          <p:cNvPr id="7" name="Rectángulo 6">
            <a:extLst>
              <a:ext uri="{FF2B5EF4-FFF2-40B4-BE49-F238E27FC236}">
                <a16:creationId xmlns:a16="http://schemas.microsoft.com/office/drawing/2014/main" id="{38ECF026-326E-F338-88AD-AC3F1911DAFC}"/>
              </a:ext>
            </a:extLst>
          </p:cNvPr>
          <p:cNvSpPr/>
          <p:nvPr/>
        </p:nvSpPr>
        <p:spPr>
          <a:xfrm>
            <a:off x="1892845" y="2184311"/>
            <a:ext cx="1035182" cy="1842939"/>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00363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A6C2033-37C3-15A7-297F-A315B5CDDBF4}"/>
              </a:ext>
            </a:extLst>
          </p:cNvPr>
          <p:cNvPicPr>
            <a:picLocks noChangeAspect="1"/>
          </p:cNvPicPr>
          <p:nvPr/>
        </p:nvPicPr>
        <p:blipFill>
          <a:blip r:embed="rId3"/>
          <a:stretch>
            <a:fillRect/>
          </a:stretch>
        </p:blipFill>
        <p:spPr>
          <a:xfrm>
            <a:off x="670755" y="1266139"/>
            <a:ext cx="10850489" cy="4906060"/>
          </a:xfrm>
          <a:prstGeom prst="rect">
            <a:avLst/>
          </a:prstGeom>
        </p:spPr>
      </p:pic>
      <p:sp>
        <p:nvSpPr>
          <p:cNvPr id="6" name="Marcador de texto vertical 5">
            <a:extLst>
              <a:ext uri="{FF2B5EF4-FFF2-40B4-BE49-F238E27FC236}">
                <a16:creationId xmlns:a16="http://schemas.microsoft.com/office/drawing/2014/main" id="{E2BD3197-9861-F431-84EE-0C58F3D5CE53}"/>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773A8C7C-C741-5EF7-437A-A49D40D27DFA}"/>
              </a:ext>
            </a:extLst>
          </p:cNvPr>
          <p:cNvSpPr/>
          <p:nvPr/>
        </p:nvSpPr>
        <p:spPr>
          <a:xfrm>
            <a:off x="8508455" y="4727049"/>
            <a:ext cx="3073942" cy="112621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dirty="0"/>
              <a:t>Si activa la opción </a:t>
            </a:r>
            <a:r>
              <a:rPr lang="es-CO" sz="1100" b="1" dirty="0"/>
              <a:t>Ausencia notificada</a:t>
            </a:r>
            <a:r>
              <a:rPr lang="es-CO" sz="1100" dirty="0"/>
              <a:t>, el sistema automáticamente incorporará la inasistencia al estudiante seleccionado. </a:t>
            </a:r>
          </a:p>
        </p:txBody>
      </p:sp>
      <p:sp>
        <p:nvSpPr>
          <p:cNvPr id="15" name="Rectángulo 14">
            <a:extLst>
              <a:ext uri="{FF2B5EF4-FFF2-40B4-BE49-F238E27FC236}">
                <a16:creationId xmlns:a16="http://schemas.microsoft.com/office/drawing/2014/main" id="{56AFB469-03AE-C71D-1E40-B9FAA8ACCA2E}"/>
              </a:ext>
            </a:extLst>
          </p:cNvPr>
          <p:cNvSpPr/>
          <p:nvPr/>
        </p:nvSpPr>
        <p:spPr>
          <a:xfrm>
            <a:off x="670755" y="3578585"/>
            <a:ext cx="7619433" cy="56659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cxnSp>
        <p:nvCxnSpPr>
          <p:cNvPr id="17" name="Conector recto de flecha 16">
            <a:extLst>
              <a:ext uri="{FF2B5EF4-FFF2-40B4-BE49-F238E27FC236}">
                <a16:creationId xmlns:a16="http://schemas.microsoft.com/office/drawing/2014/main" id="{C292F858-5D75-9FC3-3444-821CBA124B84}"/>
              </a:ext>
            </a:extLst>
          </p:cNvPr>
          <p:cNvCxnSpPr>
            <a:cxnSpLocks/>
          </p:cNvCxnSpPr>
          <p:nvPr/>
        </p:nvCxnSpPr>
        <p:spPr>
          <a:xfrm>
            <a:off x="8508455" y="3649445"/>
            <a:ext cx="4270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06451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06274E-CB78-BF67-1F8B-E89AE2F7751B}"/>
              </a:ext>
            </a:extLst>
          </p:cNvPr>
          <p:cNvPicPr>
            <a:picLocks noChangeAspect="1"/>
          </p:cNvPicPr>
          <p:nvPr/>
        </p:nvPicPr>
        <p:blipFill>
          <a:blip r:embed="rId3"/>
          <a:stretch>
            <a:fillRect/>
          </a:stretch>
        </p:blipFill>
        <p:spPr>
          <a:xfrm>
            <a:off x="642176" y="1389982"/>
            <a:ext cx="10907647" cy="4782217"/>
          </a:xfrm>
          <a:prstGeom prst="rect">
            <a:avLst/>
          </a:prstGeom>
        </p:spPr>
      </p:pic>
      <p:sp>
        <p:nvSpPr>
          <p:cNvPr id="6" name="Marcador de texto vertical 5">
            <a:extLst>
              <a:ext uri="{FF2B5EF4-FFF2-40B4-BE49-F238E27FC236}">
                <a16:creationId xmlns:a16="http://schemas.microsoft.com/office/drawing/2014/main" id="{E2BD3197-9861-F431-84EE-0C58F3D5CE53}"/>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15" name="Rectángulo 14">
            <a:extLst>
              <a:ext uri="{FF2B5EF4-FFF2-40B4-BE49-F238E27FC236}">
                <a16:creationId xmlns:a16="http://schemas.microsoft.com/office/drawing/2014/main" id="{56AFB469-03AE-C71D-1E40-B9FAA8ACCA2E}"/>
              </a:ext>
            </a:extLst>
          </p:cNvPr>
          <p:cNvSpPr/>
          <p:nvPr/>
        </p:nvSpPr>
        <p:spPr>
          <a:xfrm>
            <a:off x="8920264" y="3647873"/>
            <a:ext cx="2501510" cy="1637560"/>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esquinas redondeadas 3">
            <a:extLst>
              <a:ext uri="{FF2B5EF4-FFF2-40B4-BE49-F238E27FC236}">
                <a16:creationId xmlns:a16="http://schemas.microsoft.com/office/drawing/2014/main" id="{6976B68B-DE43-6CFE-635C-4C25EDC6F1C2}"/>
              </a:ext>
            </a:extLst>
          </p:cNvPr>
          <p:cNvSpPr/>
          <p:nvPr/>
        </p:nvSpPr>
        <p:spPr>
          <a:xfrm>
            <a:off x="5761207" y="5205463"/>
            <a:ext cx="3073942" cy="112621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dirty="0"/>
              <a:t>Al activarlo, el sistema permite ingresar un comentario por parte del profesor para la ausencia justificada del estudiante.</a:t>
            </a:r>
          </a:p>
        </p:txBody>
      </p:sp>
    </p:spTree>
    <p:extLst>
      <p:ext uri="{BB962C8B-B14F-4D97-AF65-F5344CB8AC3E}">
        <p14:creationId xmlns:p14="http://schemas.microsoft.com/office/powerpoint/2010/main" val="2831160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C9704F1-E639-E1CE-315C-96A1EAFA1E74}"/>
              </a:ext>
            </a:extLst>
          </p:cNvPr>
          <p:cNvPicPr>
            <a:picLocks noChangeAspect="1"/>
          </p:cNvPicPr>
          <p:nvPr/>
        </p:nvPicPr>
        <p:blipFill>
          <a:blip r:embed="rId3"/>
          <a:stretch>
            <a:fillRect/>
          </a:stretch>
        </p:blipFill>
        <p:spPr>
          <a:xfrm>
            <a:off x="912658" y="1060321"/>
            <a:ext cx="10793331" cy="4782217"/>
          </a:xfrm>
          <a:prstGeom prst="rect">
            <a:avLst/>
          </a:prstGeom>
          <a:ln>
            <a:solidFill>
              <a:schemeClr val="accent1"/>
            </a:solidFill>
          </a:ln>
        </p:spPr>
      </p:pic>
      <p:sp>
        <p:nvSpPr>
          <p:cNvPr id="6" name="Marcador de texto vertical 5">
            <a:extLst>
              <a:ext uri="{FF2B5EF4-FFF2-40B4-BE49-F238E27FC236}">
                <a16:creationId xmlns:a16="http://schemas.microsoft.com/office/drawing/2014/main" id="{E2BD3197-9861-F431-84EE-0C58F3D5CE53}"/>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15" name="Rectángulo 14">
            <a:extLst>
              <a:ext uri="{FF2B5EF4-FFF2-40B4-BE49-F238E27FC236}">
                <a16:creationId xmlns:a16="http://schemas.microsoft.com/office/drawing/2014/main" id="{56AFB469-03AE-C71D-1E40-B9FAA8ACCA2E}"/>
              </a:ext>
            </a:extLst>
          </p:cNvPr>
          <p:cNvSpPr/>
          <p:nvPr/>
        </p:nvSpPr>
        <p:spPr>
          <a:xfrm>
            <a:off x="8939718" y="4085617"/>
            <a:ext cx="885217" cy="291830"/>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esquinas redondeadas 3">
            <a:extLst>
              <a:ext uri="{FF2B5EF4-FFF2-40B4-BE49-F238E27FC236}">
                <a16:creationId xmlns:a16="http://schemas.microsoft.com/office/drawing/2014/main" id="{6976B68B-DE43-6CFE-635C-4C25EDC6F1C2}"/>
              </a:ext>
            </a:extLst>
          </p:cNvPr>
          <p:cNvSpPr/>
          <p:nvPr/>
        </p:nvSpPr>
        <p:spPr>
          <a:xfrm>
            <a:off x="8436371" y="4742522"/>
            <a:ext cx="3001858" cy="105515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dirty="0"/>
              <a:t>Mediante el botón Ausencia extendida, el profesor puede ingresar un rango de fechas en los que el estudiante ha avisado de sus inasistencias.</a:t>
            </a:r>
          </a:p>
        </p:txBody>
      </p:sp>
      <p:pic>
        <p:nvPicPr>
          <p:cNvPr id="10" name="Imagen 9">
            <a:extLst>
              <a:ext uri="{FF2B5EF4-FFF2-40B4-BE49-F238E27FC236}">
                <a16:creationId xmlns:a16="http://schemas.microsoft.com/office/drawing/2014/main" id="{674D3B03-C600-4151-7283-D62F6E7EC2DC}"/>
              </a:ext>
            </a:extLst>
          </p:cNvPr>
          <p:cNvPicPr>
            <a:picLocks noChangeAspect="1"/>
          </p:cNvPicPr>
          <p:nvPr/>
        </p:nvPicPr>
        <p:blipFill>
          <a:blip r:embed="rId4"/>
          <a:stretch>
            <a:fillRect/>
          </a:stretch>
        </p:blipFill>
        <p:spPr>
          <a:xfrm>
            <a:off x="3821730" y="4505071"/>
            <a:ext cx="2821427" cy="1816155"/>
          </a:xfrm>
          <a:prstGeom prst="rect">
            <a:avLst/>
          </a:prstGeom>
        </p:spPr>
      </p:pic>
      <p:sp>
        <p:nvSpPr>
          <p:cNvPr id="11" name="Rectángulo 10">
            <a:extLst>
              <a:ext uri="{FF2B5EF4-FFF2-40B4-BE49-F238E27FC236}">
                <a16:creationId xmlns:a16="http://schemas.microsoft.com/office/drawing/2014/main" id="{79F9B3FA-4B0F-B92E-3B90-5867D4A4F449}"/>
              </a:ext>
            </a:extLst>
          </p:cNvPr>
          <p:cNvSpPr/>
          <p:nvPr/>
        </p:nvSpPr>
        <p:spPr>
          <a:xfrm>
            <a:off x="912658" y="3791399"/>
            <a:ext cx="7619433" cy="56659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cxnSp>
        <p:nvCxnSpPr>
          <p:cNvPr id="14" name="Conector recto de flecha 13">
            <a:extLst>
              <a:ext uri="{FF2B5EF4-FFF2-40B4-BE49-F238E27FC236}">
                <a16:creationId xmlns:a16="http://schemas.microsoft.com/office/drawing/2014/main" id="{A7383AC6-3503-B423-0D12-9169700792FD}"/>
              </a:ext>
            </a:extLst>
          </p:cNvPr>
          <p:cNvCxnSpPr>
            <a:stCxn id="11" idx="3"/>
          </p:cNvCxnSpPr>
          <p:nvPr/>
        </p:nvCxnSpPr>
        <p:spPr>
          <a:xfrm>
            <a:off x="8532091" y="4074695"/>
            <a:ext cx="407627" cy="117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BCFAF512-4A0B-7279-5AF1-E7B1848ACA5B}"/>
              </a:ext>
            </a:extLst>
          </p:cNvPr>
          <p:cNvCxnSpPr/>
          <p:nvPr/>
        </p:nvCxnSpPr>
        <p:spPr>
          <a:xfrm flipH="1">
            <a:off x="6643157" y="4357991"/>
            <a:ext cx="2296561" cy="1055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633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7F35C6F-CC25-F166-C213-62C31DC32226}"/>
              </a:ext>
            </a:extLst>
          </p:cNvPr>
          <p:cNvPicPr>
            <a:picLocks noChangeAspect="1"/>
          </p:cNvPicPr>
          <p:nvPr/>
        </p:nvPicPr>
        <p:blipFill>
          <a:blip r:embed="rId3"/>
          <a:stretch>
            <a:fillRect/>
          </a:stretch>
        </p:blipFill>
        <p:spPr>
          <a:xfrm>
            <a:off x="904114" y="1450048"/>
            <a:ext cx="10879068" cy="5010849"/>
          </a:xfrm>
          <a:prstGeom prst="rect">
            <a:avLst/>
          </a:prstGeom>
        </p:spPr>
      </p:pic>
      <p:sp>
        <p:nvSpPr>
          <p:cNvPr id="6" name="Marcador de texto vertical 5">
            <a:extLst>
              <a:ext uri="{FF2B5EF4-FFF2-40B4-BE49-F238E27FC236}">
                <a16:creationId xmlns:a16="http://schemas.microsoft.com/office/drawing/2014/main" id="{E2BD3197-9861-F431-84EE-0C58F3D5CE53}"/>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p:txBody>
          <a:bodyPr/>
          <a:lstStyle/>
          <a:p>
            <a:r>
              <a:rPr lang="es-ES_tradnl" dirty="0">
                <a:solidFill>
                  <a:schemeClr val="accent1"/>
                </a:solidFill>
              </a:rPr>
              <a:t>Registro de Asistencia</a:t>
            </a:r>
            <a:endParaRPr lang="es-ES_tradnl" b="1" dirty="0">
              <a:solidFill>
                <a:schemeClr val="accent1"/>
              </a:solidFill>
            </a:endParaRPr>
          </a:p>
        </p:txBody>
      </p:sp>
      <p:sp>
        <p:nvSpPr>
          <p:cNvPr id="4" name="Rectángulo: esquinas redondeadas 3">
            <a:extLst>
              <a:ext uri="{FF2B5EF4-FFF2-40B4-BE49-F238E27FC236}">
                <a16:creationId xmlns:a16="http://schemas.microsoft.com/office/drawing/2014/main" id="{6976B68B-DE43-6CFE-635C-4C25EDC6F1C2}"/>
              </a:ext>
            </a:extLst>
          </p:cNvPr>
          <p:cNvSpPr/>
          <p:nvPr/>
        </p:nvSpPr>
        <p:spPr>
          <a:xfrm>
            <a:off x="7473333" y="4584141"/>
            <a:ext cx="3073942" cy="97734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dirty="0"/>
              <a:t>Al guardar la información de ausencia extendida, con un comentario en el campo </a:t>
            </a:r>
            <a:r>
              <a:rPr lang="es-CO" sz="1100" b="1" dirty="0"/>
              <a:t>notificación</a:t>
            </a:r>
            <a:r>
              <a:rPr lang="es-CO" sz="1100" dirty="0"/>
              <a:t>, todas las sesiones comprendidas entre las fechas indicadas se marcan como ausencia notificada.</a:t>
            </a:r>
          </a:p>
        </p:txBody>
      </p:sp>
      <p:sp>
        <p:nvSpPr>
          <p:cNvPr id="11" name="Rectángulo 10">
            <a:extLst>
              <a:ext uri="{FF2B5EF4-FFF2-40B4-BE49-F238E27FC236}">
                <a16:creationId xmlns:a16="http://schemas.microsoft.com/office/drawing/2014/main" id="{79F9B3FA-4B0F-B92E-3B90-5867D4A4F449}"/>
              </a:ext>
            </a:extLst>
          </p:cNvPr>
          <p:cNvSpPr/>
          <p:nvPr/>
        </p:nvSpPr>
        <p:spPr>
          <a:xfrm>
            <a:off x="912658" y="3791399"/>
            <a:ext cx="7619433" cy="56659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6487866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905A58A-CC29-50E9-860F-A9DEEF1CB564}"/>
              </a:ext>
            </a:extLst>
          </p:cNvPr>
          <p:cNvPicPr>
            <a:picLocks noChangeAspect="1"/>
          </p:cNvPicPr>
          <p:nvPr/>
        </p:nvPicPr>
        <p:blipFill>
          <a:blip r:embed="rId3"/>
          <a:stretch>
            <a:fillRect/>
          </a:stretch>
        </p:blipFill>
        <p:spPr>
          <a:xfrm>
            <a:off x="841773" y="1004548"/>
            <a:ext cx="10840963" cy="4848902"/>
          </a:xfrm>
          <a:prstGeom prst="rect">
            <a:avLst/>
          </a:prstGeom>
        </p:spPr>
      </p:pic>
      <p:sp>
        <p:nvSpPr>
          <p:cNvPr id="6" name="Marcador de texto vertical 5">
            <a:extLst>
              <a:ext uri="{FF2B5EF4-FFF2-40B4-BE49-F238E27FC236}">
                <a16:creationId xmlns:a16="http://schemas.microsoft.com/office/drawing/2014/main" id="{E2BD3197-9861-F431-84EE-0C58F3D5CE53}"/>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1104900" y="555270"/>
            <a:ext cx="10477497" cy="898555"/>
          </a:xfrm>
        </p:spPr>
        <p:txBody>
          <a:bodyPr/>
          <a:lstStyle/>
          <a:p>
            <a:r>
              <a:rPr lang="es-ES_tradnl" dirty="0">
                <a:solidFill>
                  <a:schemeClr val="accent1"/>
                </a:solidFill>
              </a:rPr>
              <a:t>Registro de Asistencia</a:t>
            </a:r>
            <a:endParaRPr lang="es-ES_tradnl" b="1" dirty="0">
              <a:solidFill>
                <a:schemeClr val="accent1"/>
              </a:solidFill>
            </a:endParaRPr>
          </a:p>
        </p:txBody>
      </p:sp>
      <p:sp>
        <p:nvSpPr>
          <p:cNvPr id="11" name="Rectángulo 10">
            <a:extLst>
              <a:ext uri="{FF2B5EF4-FFF2-40B4-BE49-F238E27FC236}">
                <a16:creationId xmlns:a16="http://schemas.microsoft.com/office/drawing/2014/main" id="{79F9B3FA-4B0F-B92E-3B90-5867D4A4F449}"/>
              </a:ext>
            </a:extLst>
          </p:cNvPr>
          <p:cNvSpPr/>
          <p:nvPr/>
        </p:nvSpPr>
        <p:spPr>
          <a:xfrm>
            <a:off x="912659" y="3325566"/>
            <a:ext cx="7619433" cy="56659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pic>
        <p:nvPicPr>
          <p:cNvPr id="9" name="Imagen 8">
            <a:extLst>
              <a:ext uri="{FF2B5EF4-FFF2-40B4-BE49-F238E27FC236}">
                <a16:creationId xmlns:a16="http://schemas.microsoft.com/office/drawing/2014/main" id="{475AF4A6-1A4B-A1A4-2FEC-7BC07AD37816}"/>
              </a:ext>
            </a:extLst>
          </p:cNvPr>
          <p:cNvPicPr>
            <a:picLocks noChangeAspect="1"/>
          </p:cNvPicPr>
          <p:nvPr/>
        </p:nvPicPr>
        <p:blipFill>
          <a:blip r:embed="rId4"/>
          <a:stretch>
            <a:fillRect/>
          </a:stretch>
        </p:blipFill>
        <p:spPr>
          <a:xfrm>
            <a:off x="4337725" y="4279075"/>
            <a:ext cx="2617551" cy="1703486"/>
          </a:xfrm>
          <a:prstGeom prst="rect">
            <a:avLst/>
          </a:prstGeom>
        </p:spPr>
      </p:pic>
      <p:sp>
        <p:nvSpPr>
          <p:cNvPr id="16" name="Rectángulo: esquinas redondeadas 15">
            <a:extLst>
              <a:ext uri="{FF2B5EF4-FFF2-40B4-BE49-F238E27FC236}">
                <a16:creationId xmlns:a16="http://schemas.microsoft.com/office/drawing/2014/main" id="{A4B09EC9-1684-35BF-55DA-09AF71531702}"/>
              </a:ext>
            </a:extLst>
          </p:cNvPr>
          <p:cNvSpPr/>
          <p:nvPr/>
        </p:nvSpPr>
        <p:spPr>
          <a:xfrm>
            <a:off x="8037537" y="4584141"/>
            <a:ext cx="3073942" cy="97734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dirty="0"/>
              <a:t>Al guardar la información de ausencia extendida, sin comentarios, todas las sesiones comprendidas entre las fechas indicadas se marcan como ausencia injustificada.</a:t>
            </a:r>
          </a:p>
        </p:txBody>
      </p:sp>
      <p:cxnSp>
        <p:nvCxnSpPr>
          <p:cNvPr id="21" name="Conector recto de flecha 20">
            <a:extLst>
              <a:ext uri="{FF2B5EF4-FFF2-40B4-BE49-F238E27FC236}">
                <a16:creationId xmlns:a16="http://schemas.microsoft.com/office/drawing/2014/main" id="{DE8AB7A9-EFF0-92AB-D6BA-30D58C595142}"/>
              </a:ext>
            </a:extLst>
          </p:cNvPr>
          <p:cNvCxnSpPr>
            <a:cxnSpLocks/>
          </p:cNvCxnSpPr>
          <p:nvPr/>
        </p:nvCxnSpPr>
        <p:spPr>
          <a:xfrm flipV="1">
            <a:off x="6974732" y="5408579"/>
            <a:ext cx="963038" cy="152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A1F2E539-EABA-DACB-F127-084B99654F49}"/>
              </a:ext>
            </a:extLst>
          </p:cNvPr>
          <p:cNvCxnSpPr>
            <a:endCxn id="11" idx="3"/>
          </p:cNvCxnSpPr>
          <p:nvPr/>
        </p:nvCxnSpPr>
        <p:spPr>
          <a:xfrm flipH="1" flipV="1">
            <a:off x="8532092" y="3608862"/>
            <a:ext cx="1042416" cy="975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626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7DF9F4DC-4C80-F6A2-24CF-5D61CF617A86}"/>
              </a:ext>
            </a:extLst>
          </p:cNvPr>
          <p:cNvSpPr>
            <a:spLocks noGrp="1"/>
          </p:cNvSpPr>
          <p:nvPr>
            <p:ph type="body" orient="vert" sz="quarter" idx="10"/>
          </p:nvPr>
        </p:nvSpPr>
        <p:spPr/>
        <p:txBody>
          <a:bodyPr/>
          <a:lstStyle/>
          <a:p>
            <a:r>
              <a:rPr lang="es-419" dirty="0"/>
              <a:t>Gestionar la asistencia a clases</a:t>
            </a:r>
          </a:p>
        </p:txBody>
      </p:sp>
      <p:sp>
        <p:nvSpPr>
          <p:cNvPr id="2" name="Title 1"/>
          <p:cNvSpPr>
            <a:spLocks noGrp="1"/>
          </p:cNvSpPr>
          <p:nvPr>
            <p:ph type="title"/>
          </p:nvPr>
        </p:nvSpPr>
        <p:spPr/>
        <p:txBody>
          <a:bodyPr/>
          <a:lstStyle/>
          <a:p>
            <a:r>
              <a:rPr lang="es-ES_tradnl" sz="3200" b="1" kern="1200" noProof="0" dirty="0">
                <a:solidFill>
                  <a:schemeClr val="bg1"/>
                </a:solidFill>
                <a:latin typeface="+mn-lt"/>
                <a:ea typeface="+mn-ea"/>
                <a:cs typeface="+mn-cs"/>
              </a:rPr>
              <a:t>Pasar asistencia a calificaciones</a:t>
            </a:r>
            <a:endParaRPr lang="es-ES_tradnl" dirty="0"/>
          </a:p>
        </p:txBody>
      </p:sp>
      <p:sp>
        <p:nvSpPr>
          <p:cNvPr id="4" name="Marcador de texto 3">
            <a:extLst>
              <a:ext uri="{FF2B5EF4-FFF2-40B4-BE49-F238E27FC236}">
                <a16:creationId xmlns:a16="http://schemas.microsoft.com/office/drawing/2014/main" id="{80291AFB-8D43-C85C-20F1-6AF33F64CE71}"/>
              </a:ext>
            </a:extLst>
          </p:cNvPr>
          <p:cNvSpPr>
            <a:spLocks noGrp="1"/>
          </p:cNvSpPr>
          <p:nvPr>
            <p:ph type="body" sz="quarter" idx="18"/>
          </p:nvPr>
        </p:nvSpPr>
        <p:spPr/>
        <p:txBody>
          <a:bodyPr/>
          <a:lstStyle/>
          <a:p>
            <a:r>
              <a:rPr lang="es-ES_tradnl" dirty="0"/>
              <a:t>Al final del semestre</a:t>
            </a:r>
          </a:p>
          <a:p>
            <a:endParaRPr lang="es-419" dirty="0"/>
          </a:p>
        </p:txBody>
      </p:sp>
    </p:spTree>
    <p:extLst>
      <p:ext uri="{BB962C8B-B14F-4D97-AF65-F5344CB8AC3E}">
        <p14:creationId xmlns:p14="http://schemas.microsoft.com/office/powerpoint/2010/main" val="39537889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FBBA4D6-C52A-DE09-3EC3-B89BAE55831B}"/>
              </a:ext>
            </a:extLst>
          </p:cNvPr>
          <p:cNvPicPr>
            <a:picLocks noChangeAspect="1"/>
          </p:cNvPicPr>
          <p:nvPr/>
        </p:nvPicPr>
        <p:blipFill>
          <a:blip r:embed="rId3"/>
          <a:stretch>
            <a:fillRect/>
          </a:stretch>
        </p:blipFill>
        <p:spPr>
          <a:xfrm>
            <a:off x="892262" y="1419786"/>
            <a:ext cx="11164858" cy="5020376"/>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1104900" y="588520"/>
            <a:ext cx="10477497" cy="898555"/>
          </a:xfrm>
        </p:spPr>
        <p:txBody>
          <a:bodyPr/>
          <a:lstStyle/>
          <a:p>
            <a:r>
              <a:rPr lang="es-ES_tradnl" dirty="0">
                <a:solidFill>
                  <a:schemeClr val="accent1"/>
                </a:solidFill>
              </a:rPr>
              <a:t>Pasar asistencia a calificaciones</a:t>
            </a:r>
          </a:p>
        </p:txBody>
      </p:sp>
      <p:sp>
        <p:nvSpPr>
          <p:cNvPr id="25" name="Rectángulo 24">
            <a:extLst>
              <a:ext uri="{FF2B5EF4-FFF2-40B4-BE49-F238E27FC236}">
                <a16:creationId xmlns:a16="http://schemas.microsoft.com/office/drawing/2014/main" id="{C05F024C-157B-4B78-9C25-998E006664FF}"/>
              </a:ext>
            </a:extLst>
          </p:cNvPr>
          <p:cNvSpPr/>
          <p:nvPr/>
        </p:nvSpPr>
        <p:spPr>
          <a:xfrm>
            <a:off x="1867711" y="2062463"/>
            <a:ext cx="486384" cy="349997"/>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771089" y="1557293"/>
            <a:ext cx="4649821"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finalizar el semestre, cuando ya el porcentaje de asistencia ha sido calculado con el total de las sesiones, el docente debe presionar el botón </a:t>
            </a:r>
            <a:r>
              <a:rPr lang="es-ES_tradnl" sz="1100" b="1" dirty="0"/>
              <a:t>Clase</a:t>
            </a:r>
            <a:r>
              <a:rPr lang="es-ES_tradnl" sz="1100" dirty="0"/>
              <a:t> y hacer clic sobre la opción </a:t>
            </a:r>
            <a:r>
              <a:rPr lang="es-ES_tradnl" sz="1100" b="1" dirty="0"/>
              <a:t>Actualizar la asistencia en el libro de calificaciones</a:t>
            </a:r>
            <a:r>
              <a:rPr lang="es-ES_tradnl" sz="1100" dirty="0"/>
              <a:t>.</a:t>
            </a:r>
          </a:p>
        </p:txBody>
      </p:sp>
      <p:sp>
        <p:nvSpPr>
          <p:cNvPr id="7" name="Rectángulo 6">
            <a:extLst>
              <a:ext uri="{FF2B5EF4-FFF2-40B4-BE49-F238E27FC236}">
                <a16:creationId xmlns:a16="http://schemas.microsoft.com/office/drawing/2014/main" id="{73132F03-62BD-C9E1-7B57-0683D8169137}"/>
              </a:ext>
            </a:extLst>
          </p:cNvPr>
          <p:cNvSpPr/>
          <p:nvPr/>
        </p:nvSpPr>
        <p:spPr>
          <a:xfrm>
            <a:off x="1877439" y="3376667"/>
            <a:ext cx="953309" cy="553307"/>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43602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5C898D0-0AC5-9587-2555-287264B92B9E}"/>
              </a:ext>
            </a:extLst>
          </p:cNvPr>
          <p:cNvPicPr>
            <a:picLocks noChangeAspect="1"/>
          </p:cNvPicPr>
          <p:nvPr/>
        </p:nvPicPr>
        <p:blipFill>
          <a:blip r:embed="rId3"/>
          <a:stretch>
            <a:fillRect/>
          </a:stretch>
        </p:blipFill>
        <p:spPr>
          <a:xfrm>
            <a:off x="627118" y="1413683"/>
            <a:ext cx="10955279" cy="4972744"/>
          </a:xfrm>
          <a:prstGeom prst="rect">
            <a:avLst/>
          </a:prstGeom>
          <a:ln>
            <a:solidFill>
              <a:schemeClr val="accent1"/>
            </a:solidFill>
          </a:ln>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1104900" y="588520"/>
            <a:ext cx="10477497" cy="898555"/>
          </a:xfrm>
        </p:spPr>
        <p:txBody>
          <a:bodyPr/>
          <a:lstStyle/>
          <a:p>
            <a:r>
              <a:rPr lang="es-ES_tradnl" dirty="0">
                <a:solidFill>
                  <a:schemeClr val="accent1"/>
                </a:solidFill>
              </a:rPr>
              <a:t>Pasar asistencia a calificaciones</a:t>
            </a:r>
          </a:p>
        </p:txBody>
      </p:sp>
      <p:sp>
        <p:nvSpPr>
          <p:cNvPr id="25" name="Rectángulo 24">
            <a:extLst>
              <a:ext uri="{FF2B5EF4-FFF2-40B4-BE49-F238E27FC236}">
                <a16:creationId xmlns:a16="http://schemas.microsoft.com/office/drawing/2014/main" id="{C05F024C-157B-4B78-9C25-998E006664FF}"/>
              </a:ext>
            </a:extLst>
          </p:cNvPr>
          <p:cNvSpPr/>
          <p:nvPr/>
        </p:nvSpPr>
        <p:spPr>
          <a:xfrm>
            <a:off x="11096013" y="1887463"/>
            <a:ext cx="486384" cy="349997"/>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657600" y="1528346"/>
            <a:ext cx="3550598" cy="7578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docente debe confirmar el paso del porcentaje asistencia al componente de calificaciones.</a:t>
            </a:r>
          </a:p>
        </p:txBody>
      </p:sp>
    </p:spTree>
    <p:extLst>
      <p:ext uri="{BB962C8B-B14F-4D97-AF65-F5344CB8AC3E}">
        <p14:creationId xmlns:p14="http://schemas.microsoft.com/office/powerpoint/2010/main" val="28403045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0E95869-F4BD-6334-0ECA-5AF3F32FFB23}"/>
              </a:ext>
            </a:extLst>
          </p:cNvPr>
          <p:cNvPicPr>
            <a:picLocks noChangeAspect="1"/>
          </p:cNvPicPr>
          <p:nvPr/>
        </p:nvPicPr>
        <p:blipFill>
          <a:blip r:embed="rId3"/>
          <a:stretch>
            <a:fillRect/>
          </a:stretch>
        </p:blipFill>
        <p:spPr>
          <a:xfrm>
            <a:off x="609601" y="1399722"/>
            <a:ext cx="11212490" cy="5068007"/>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1104900" y="588520"/>
            <a:ext cx="10477497" cy="898555"/>
          </a:xfrm>
        </p:spPr>
        <p:txBody>
          <a:bodyPr/>
          <a:lstStyle/>
          <a:p>
            <a:r>
              <a:rPr lang="es-ES_tradnl" dirty="0">
                <a:solidFill>
                  <a:schemeClr val="accent1"/>
                </a:solidFill>
              </a:rPr>
              <a:t>Pasar asistencia a calificaciones</a:t>
            </a:r>
          </a:p>
        </p:txBody>
      </p:sp>
      <p:sp>
        <p:nvSpPr>
          <p:cNvPr id="25" name="Rectángulo 24">
            <a:extLst>
              <a:ext uri="{FF2B5EF4-FFF2-40B4-BE49-F238E27FC236}">
                <a16:creationId xmlns:a16="http://schemas.microsoft.com/office/drawing/2014/main" id="{C05F024C-157B-4B78-9C25-998E006664FF}"/>
              </a:ext>
            </a:extLst>
          </p:cNvPr>
          <p:cNvSpPr/>
          <p:nvPr/>
        </p:nvSpPr>
        <p:spPr>
          <a:xfrm>
            <a:off x="8990218" y="1399722"/>
            <a:ext cx="2754788" cy="419350"/>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657600" y="1528346"/>
            <a:ext cx="3550598" cy="7578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sistema indicará el número de registros (estudiantes) que fueron actualizados.</a:t>
            </a:r>
          </a:p>
        </p:txBody>
      </p:sp>
    </p:spTree>
    <p:extLst>
      <p:ext uri="{BB962C8B-B14F-4D97-AF65-F5344CB8AC3E}">
        <p14:creationId xmlns:p14="http://schemas.microsoft.com/office/powerpoint/2010/main" val="24794968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Gestionar la asistencia a clases</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Mediante este procedimiento se permite a los docentes tener control de la asistencia y ausencia de las clases de los alumnos usando un criterio específico.</a:t>
            </a:r>
          </a:p>
          <a:p>
            <a:pPr marL="342900" lvl="1" indent="-342900" algn="just">
              <a:spcBef>
                <a:spcPts val="1000"/>
              </a:spcBef>
              <a:buClr>
                <a:srgbClr val="0CB4B4"/>
              </a:buClr>
              <a:buFont typeface="Wingdings" panose="05000000000000000000" pitchFamily="2" charset="2"/>
              <a:buChar char="q"/>
            </a:pPr>
            <a:r>
              <a:rPr lang="es-419" sz="1800" dirty="0"/>
              <a:t>El control de asistencia por parte del profesor se puede configurar a nivel de período, parte de período, curso y NRC  o para cada una de las sesiones de clases programadas para los NRC.</a:t>
            </a:r>
          </a:p>
          <a:p>
            <a:pPr marL="342900" lvl="1" indent="-342900" algn="just">
              <a:spcBef>
                <a:spcPts val="1000"/>
              </a:spcBef>
              <a:buClr>
                <a:srgbClr val="0CB4B4"/>
              </a:buClr>
              <a:buFont typeface="Wingdings" panose="05000000000000000000" pitchFamily="2" charset="2"/>
              <a:buChar char="q"/>
            </a:pPr>
            <a:r>
              <a:rPr lang="es-419" sz="1800" dirty="0"/>
              <a:t>El despliegue de datos y el procesamiento de asistencias en el Autoservicio son configurados desde GTVSDAX.</a:t>
            </a:r>
          </a:p>
          <a:p>
            <a:pPr marL="342900" lvl="1" indent="-342900" algn="just">
              <a:spcBef>
                <a:spcPts val="1000"/>
              </a:spcBef>
              <a:buClr>
                <a:srgbClr val="0CB4B4"/>
              </a:buClr>
              <a:buFont typeface="Wingdings" panose="05000000000000000000" pitchFamily="2" charset="2"/>
              <a:buChar char="q"/>
            </a:pPr>
            <a:r>
              <a:rPr lang="es-419" sz="1800" dirty="0"/>
              <a:t>Los días festivos se pueden excluir del  cálculo de asistencia de los estudiantes mediante la página SSAEXCL.</a:t>
            </a:r>
          </a:p>
          <a:p>
            <a:pPr marL="342900" lvl="1" indent="-342900" algn="just">
              <a:spcBef>
                <a:spcPts val="1000"/>
              </a:spcBef>
              <a:buClr>
                <a:srgbClr val="0CB4B4"/>
              </a:buClr>
              <a:buFont typeface="Wingdings" panose="05000000000000000000" pitchFamily="2" charset="2"/>
              <a:buChar char="q"/>
            </a:pPr>
            <a:r>
              <a:rPr lang="es-419" sz="1800" dirty="0"/>
              <a:t>En este instructivo se incluye el registro de asistencias y/ ausencias de los alumnos a las sesiones de clases, por parte del docente mediante el Autoservicio, así como el pase el porcentaje de asistencia al componente de calificaciones.</a:t>
            </a:r>
          </a:p>
        </p:txBody>
      </p:sp>
    </p:spTree>
    <p:extLst>
      <p:ext uri="{BB962C8B-B14F-4D97-AF65-F5344CB8AC3E}">
        <p14:creationId xmlns:p14="http://schemas.microsoft.com/office/powerpoint/2010/main" val="3051775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2.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3.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4.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5.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6.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1897</TotalTime>
  <Words>3642</Words>
  <Application>Microsoft Office PowerPoint</Application>
  <PresentationFormat>Widescreen</PresentationFormat>
  <Paragraphs>359</Paragraphs>
  <Slides>60</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60</vt:i4>
      </vt:variant>
    </vt:vector>
  </HeadingPairs>
  <TitlesOfParts>
    <vt:vector size="68" baseType="lpstr">
      <vt:lpstr>Aptos</vt:lpstr>
      <vt:lpstr>Aptos Display</vt:lpstr>
      <vt:lpstr>Arial</vt:lpstr>
      <vt:lpstr>Courier New</vt:lpstr>
      <vt:lpstr>Helvetica Neue</vt:lpstr>
      <vt:lpstr>Wingdings</vt:lpstr>
      <vt:lpstr>Ellucian Main Layouts</vt:lpstr>
      <vt:lpstr>Ellucian Blank Layouts</vt:lpstr>
      <vt:lpstr>Gestionar la asistencia a clases </vt:lpstr>
      <vt:lpstr>PowerPoint Presentation</vt:lpstr>
      <vt:lpstr>Overview</vt:lpstr>
      <vt:lpstr>Overview: Mapa de capacidades</vt:lpstr>
      <vt:lpstr>Overview: Gestionar la asistencia a clases </vt:lpstr>
      <vt:lpstr>Overview: Registrar la asistencia a clases </vt:lpstr>
      <vt:lpstr>PowerPoint Presentation</vt:lpstr>
      <vt:lpstr>Overview: Gestionar la asistencia a clases </vt:lpstr>
      <vt:lpstr>Configuraciones</vt:lpstr>
      <vt:lpstr>Control de período</vt:lpstr>
      <vt:lpstr> Control de período</vt:lpstr>
      <vt:lpstr> Control de período (SOATERM)</vt:lpstr>
      <vt:lpstr>Perfil de acceso de los docentes</vt:lpstr>
      <vt:lpstr>Perfil de acceso de los docentes</vt:lpstr>
      <vt:lpstr>Perfil de acceso de los docentes</vt:lpstr>
      <vt:lpstr>Reglas de validación</vt:lpstr>
      <vt:lpstr>Reglas de validación: Clases anuladas</vt:lpstr>
      <vt:lpstr>Reglas de validación: Ausencias notificadas</vt:lpstr>
      <vt:lpstr>Reglas de validación: Número de registros en autoservicios</vt:lpstr>
      <vt:lpstr>Reglas de validación: Límites de porcentaje de asistencia</vt:lpstr>
      <vt:lpstr>Reglas de validación: Visualización de sesiones en autoservicios</vt:lpstr>
      <vt:lpstr>Despliegue de nombre del alumno</vt:lpstr>
      <vt:lpstr>Despliegue de nombre del alumno en asistencia</vt:lpstr>
      <vt:lpstr>Despliegue de nombre del alumno en asistencia</vt:lpstr>
      <vt:lpstr>Despliegue de nombre del alumno en asistencia</vt:lpstr>
      <vt:lpstr>Despliegue de nombre del alumno en asistencia</vt:lpstr>
      <vt:lpstr>Despliegue de nombre del alumno en asistencia</vt:lpstr>
      <vt:lpstr>Despliegue de nombre del alumno en asistencia</vt:lpstr>
      <vt:lpstr>Despliegue de nombre del alumno en asistencia</vt:lpstr>
      <vt:lpstr>Despliegue de nombre del alumno en asistencia</vt:lpstr>
      <vt:lpstr>Despliegue de nombre del alumno en asistencia</vt:lpstr>
      <vt:lpstr>Reglas de Control de Asistencia</vt:lpstr>
      <vt:lpstr>A nivel de periodo</vt:lpstr>
      <vt:lpstr>Reglas de Control de Asistencia a nivel de periodo</vt:lpstr>
      <vt:lpstr>Reglas de Control de Asistencia a nivel de periodo</vt:lpstr>
      <vt:lpstr>Reglas de Control de Asistencia a nivel de periodo</vt:lpstr>
      <vt:lpstr>Reglas de Control de Asistencia a nivel de periodo</vt:lpstr>
      <vt:lpstr>Reglas de Control de Asistencia a nivel de periodo</vt:lpstr>
      <vt:lpstr>A nivel de las sesiones de los NRC</vt:lpstr>
      <vt:lpstr>Reglas de Control de Asistencia a nivel de las sesiones de los NRC</vt:lpstr>
      <vt:lpstr>Reglas de Control de Asistencia a nivel de las sesiones de los NRC</vt:lpstr>
      <vt:lpstr>Reglas de Control de Asistencia a nivel de las sesiones de los NRC</vt:lpstr>
      <vt:lpstr>Registro de Asistencia</vt:lpstr>
      <vt:lpstr>Registro de Asistencia</vt:lpstr>
      <vt:lpstr>Registro de Asistencia</vt:lpstr>
      <vt:lpstr>Registro de Asistencia</vt:lpstr>
      <vt:lpstr>Registro de Asistencia</vt:lpstr>
      <vt:lpstr>Registro de Asistencia</vt:lpstr>
      <vt:lpstr>Registro de Asistencia</vt:lpstr>
      <vt:lpstr>Registro de Asistencia</vt:lpstr>
      <vt:lpstr>Registro de Asistencia</vt:lpstr>
      <vt:lpstr>Registro de Asistencia</vt:lpstr>
      <vt:lpstr>Registro de Asistencia</vt:lpstr>
      <vt:lpstr>Registro de Asistencia</vt:lpstr>
      <vt:lpstr>Pasar asistencia a calificaciones</vt:lpstr>
      <vt:lpstr>Pasar asistencia a calificaciones</vt:lpstr>
      <vt:lpstr>Pasar asistencia a calificaciones</vt:lpstr>
      <vt:lpstr>Pasar asistencia a calificaciones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Trapp, Eduardo</cp:lastModifiedBy>
  <cp:revision>45</cp:revision>
  <dcterms:created xsi:type="dcterms:W3CDTF">2024-10-02T00:21:55Z</dcterms:created>
  <dcterms:modified xsi:type="dcterms:W3CDTF">2026-04-17T17:21:31Z</dcterms:modified>
</cp:coreProperties>
</file>
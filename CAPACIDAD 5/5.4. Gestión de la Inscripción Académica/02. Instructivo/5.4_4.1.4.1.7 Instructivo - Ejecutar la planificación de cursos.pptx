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2" r:id="rId2"/>
  </p:sldMasterIdLst>
  <p:notesMasterIdLst>
    <p:notesMasterId r:id="rId44"/>
  </p:notesMasterIdLst>
  <p:sldIdLst>
    <p:sldId id="257" r:id="rId3"/>
    <p:sldId id="423" r:id="rId4"/>
    <p:sldId id="476" r:id="rId5"/>
    <p:sldId id="1632" r:id="rId6"/>
    <p:sldId id="1633" r:id="rId7"/>
    <p:sldId id="1634" r:id="rId8"/>
    <p:sldId id="1635" r:id="rId9"/>
    <p:sldId id="352" r:id="rId10"/>
    <p:sldId id="566" r:id="rId11"/>
    <p:sldId id="421" r:id="rId12"/>
    <p:sldId id="469" r:id="rId13"/>
    <p:sldId id="1580" r:id="rId14"/>
    <p:sldId id="1581" r:id="rId15"/>
    <p:sldId id="1614" r:id="rId16"/>
    <p:sldId id="1584" r:id="rId17"/>
    <p:sldId id="1613" r:id="rId18"/>
    <p:sldId id="543" r:id="rId19"/>
    <p:sldId id="1603" r:id="rId20"/>
    <p:sldId id="1586" r:id="rId21"/>
    <p:sldId id="1588" r:id="rId22"/>
    <p:sldId id="1590" r:id="rId23"/>
    <p:sldId id="1615" r:id="rId24"/>
    <p:sldId id="1616" r:id="rId25"/>
    <p:sldId id="1618" r:id="rId26"/>
    <p:sldId id="1617" r:id="rId27"/>
    <p:sldId id="1619" r:id="rId28"/>
    <p:sldId id="1620" r:id="rId29"/>
    <p:sldId id="1621" r:id="rId30"/>
    <p:sldId id="1622" r:id="rId31"/>
    <p:sldId id="1623" r:id="rId32"/>
    <p:sldId id="1624" r:id="rId33"/>
    <p:sldId id="1625" r:id="rId34"/>
    <p:sldId id="1626" r:id="rId35"/>
    <p:sldId id="1604" r:id="rId36"/>
    <p:sldId id="1627" r:id="rId37"/>
    <p:sldId id="1628" r:id="rId38"/>
    <p:sldId id="1607" r:id="rId39"/>
    <p:sldId id="1630" r:id="rId40"/>
    <p:sldId id="345" r:id="rId41"/>
    <p:sldId id="1631" r:id="rId42"/>
    <p:sldId id="50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3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DC9B-8900-3467-DCC6-90AD3637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E9E9C7-EFCA-DC36-F313-FEA8BAF46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0719DE-9B66-0571-96DE-2A0F174B1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020BDF-1917-6CBA-1AF6-389C020FF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16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DA463-8786-C4B3-3FD8-35204A29C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1E492AC-28C5-6E0F-3D1A-A98AEA93F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4A9221-5DA1-1C4F-CB47-DDA47DFBA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60ED2C-8239-E127-0571-0450F4503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29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FC3A1-31A1-691A-A5B9-BDE8AF82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CC5567-3E7C-C487-D6CD-3077C64D5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5A77CF-B585-9FD9-9BF6-787D043C1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7B057A-F3A5-DA1D-C8EA-8EC98F3CB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85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37F16-1019-B654-A500-DDC26B35C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AB2E06-EB53-DD06-143E-B851A9194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2A11FB-D177-2313-D21A-A52C09703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3D503F-490B-3B94-7707-8936BD53F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36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14B50-B254-58AE-93A2-EA6208DB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A3801CF-326A-45C5-94BE-8765131D8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96D7B9-39E7-C113-1AD3-BDBEA1EB1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E33DDA-7F3B-7753-E984-2F94C27BE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17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1BA9-7008-82A6-3529-06FEA36AE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44D2650-D24D-8DFB-B3C2-105C34B31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FB8F83-092B-4A9D-46C7-D25AC4F5B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0DA2A1-4A1A-9B28-232A-A2270B8AE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64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FD802-CCA9-F7BA-B71F-FE991387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3CEE1F1-3358-733D-8C78-2F81DF8B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E36C0E-145F-F724-DB53-2E57DD318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56FCF0-7AEA-F90A-F557-C0AD3739B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16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5A2B7-6523-FD8F-CF59-AC080739B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921236-B45D-E9CE-152B-EE7680385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0BAAED-96E7-94F0-F2DB-9FF295345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800701-E32F-9A30-FD38-0D94061B1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27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DCBA5-9919-8C21-1E1F-E258892E4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BDF681-F493-E6A6-9C60-EFF9A3D5F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65D9C3A-BCBD-A505-EABE-DCB59F627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437ABB-AE62-1917-C085-B30B1F4A0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88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7D054-ED8D-CAE1-6868-CD2B8D6F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56BE0B-E87C-3EF1-EB6B-436B4A32D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C94911B-1A66-F1B7-571E-0E7E8C757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4CEE04-1E17-3C80-9912-322098297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00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2F37C-1BB2-D7E5-5326-C395B879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676ACF4-BA4D-F992-0C41-E28A52EA2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BCFCD54-54CB-DECE-DD11-B41CCB76D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BDE432-DDE3-9ACC-37D7-84C70DDE0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50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BE799-FF68-5221-D138-22D109EF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CEDDE9-A43B-7F32-4BA9-586EA2166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022C07-98BC-E5AA-C44B-3FD986F8F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A1A8F2-7ABF-CC54-A64A-B2DC4F3C5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98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12F2C-183C-24BA-D597-F3079FA4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9404C-2DFA-B1D8-AD2A-DC9F0D96B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01522D-30E2-FA59-9A3B-E9FBA7F5D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E76276-2E1C-4525-5098-B4DB0D20A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710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77D95-E411-6A5D-3BFE-101D65D9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692B67-42E4-7CEB-CF79-2872CD49A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83E7AA-8E43-9D05-48D3-24AA61E61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00FD2C-87DF-DCC0-A4FD-EF71F2E70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91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4FE2D-051F-2067-155C-A2E29FC5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DD4722-1C2F-713D-9E86-E839B65F6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85D64F-2BCD-210F-9677-7283CFFFB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BEAD9B-D6DE-CA8F-0BE9-B6D103C68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1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C1CA1-906C-8CC5-3DB8-78BE7F26A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61F0D7-5E68-4BB6-F816-951B23CAD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47620C1-033C-BE4A-B3E6-E8B8063C7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470C70-2187-3940-7450-7BA3EAEBF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121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3D2E-54FA-741B-6753-BD50DDEC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5999B78-AEAE-903B-FA64-F46EE25BD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AD3633-6BE9-27C4-5DF1-89697918B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0B004E-3E96-9AE6-B2F7-6660C9629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47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C99D-8AA0-0E56-345A-149A2848F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EC6A950-AE4B-6395-B4E7-CD7085ABB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57C56C-0188-EA58-2BE7-56B259A1B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A1C31D-F1AA-D13B-5615-1BF40416D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865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29E18-A6CB-93BF-1B7A-65084A25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07C8C2-5B83-B928-6142-B67166795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7661746-3AA5-720B-E753-880A73CB4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7C0C3A-1077-3BF4-BA6B-D77474E3D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82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9B09A-1B3A-EDE8-9E18-CFF89B6A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EC3A202-5BD6-32EA-B708-4E947052C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44A0761-5C4B-186B-36BE-2A03C678B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BAE550-FE36-E284-03A4-6FF88E6DC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37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CD989-FF17-CE07-E224-97570062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3611AAC-201D-55C9-9B41-F48C00FCF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6C7E4C-A8CB-2451-E184-D7D2E5E0B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1765F-562A-EA28-A080-D6E92A6E8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597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B9BE8-FD81-2710-341C-5B2A1D521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8BD099F-4F63-2C55-E7C0-1F0DD148F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3C1D40-0872-9738-982A-DCB206988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C64386-2694-FD1D-512F-A74F60299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996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9479A-220A-7B4E-DEC8-ACE1A2B5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9BAC9C-B4A6-E315-D6AE-1CA50859B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B13DD80-4B38-1D70-F733-B38E22E2C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F5E838-3D20-CEE6-FC45-DEAF7A674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727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BC352-B36A-BB7E-1F2F-AA8A4864E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4BA523-4F94-F244-F835-6E301E99A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365B36-9F05-A77A-88FF-E2B7C123B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912B64-0C89-7943-2B40-9A8B8BEA4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05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7711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1218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98321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8781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9613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4633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58847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939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20615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69214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829983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847164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458724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876919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74304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99402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00826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95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31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008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50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411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2383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2203937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90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9498797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636912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635231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053480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681206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963004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852618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16189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29482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49410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9001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2023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7233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541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4015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978496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647295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8132116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568803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338352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831316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621423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559545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737775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908202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860124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410973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140816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679244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3356665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20499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252716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87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1936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  <p:sldLayoutId id="2147483749" r:id="rId38"/>
    <p:sldLayoutId id="2147483750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953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1832105"/>
          </a:xfrm>
        </p:spPr>
        <p:txBody>
          <a:bodyPr/>
          <a:lstStyle/>
          <a:p>
            <a:r>
              <a:rPr lang="es-419" sz="4400" dirty="0"/>
              <a:t>Ejecutar la planificación de cursos</a:t>
            </a:r>
            <a:endParaRPr lang="es-CL" dirty="0">
              <a:latin typeface="+mj-lt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F17AF-28D3-D529-32AF-17D3B44889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674095"/>
          </a:xfrm>
        </p:spPr>
        <p:txBody>
          <a:bodyPr/>
          <a:lstStyle/>
          <a:p>
            <a:endParaRPr lang="es-ES" sz="1800" dirty="0"/>
          </a:p>
          <a:p>
            <a:r>
              <a:rPr lang="es-ES" sz="1800" dirty="0"/>
              <a:t>Instructivo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A6B18F-EA2A-7CBC-3E93-C1F7F4E03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194925"/>
          </a:xfrm>
        </p:spPr>
        <p:txBody>
          <a:bodyPr/>
          <a:lstStyle/>
          <a:p>
            <a:r>
              <a:rPr lang="es-CL" dirty="0"/>
              <a:t>Universidad Señor de SIPAN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DDA290E-ED30-7B65-91E1-480E8999E5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419" dirty="0"/>
              <a:t>Julio, 2026</a:t>
            </a:r>
          </a:p>
        </p:txBody>
      </p:sp>
      <p:pic>
        <p:nvPicPr>
          <p:cNvPr id="9" name="Marcador de posición de imagen 8" descr="Un grupo de folletos sobre una mesa de madera&#10;&#10;El contenido generado por IA puede ser incorrecto.">
            <a:extLst>
              <a:ext uri="{FF2B5EF4-FFF2-40B4-BE49-F238E27FC236}">
                <a16:creationId xmlns:a16="http://schemas.microsoft.com/office/drawing/2014/main" id="{A1243F8F-F4EC-B924-09FB-952639C449A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1" r="178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065612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dirty="0">
                          <a:solidFill>
                            <a:schemeClr val="bg1"/>
                          </a:solidFill>
                        </a:rPr>
                        <a:t>Ejecutar la planificación de cursos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/>
              <a:t>Gestionar la carga de trabajo docente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AC1633D-9215-2128-452C-BEE52AEB6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>
                <a:solidFill>
                  <a:schemeClr val="tx2"/>
                </a:solidFill>
              </a:rPr>
              <a:t>Mapa de capacidades</a:t>
            </a:r>
            <a:endParaRPr lang="en-US" dirty="0"/>
          </a:p>
        </p:txBody>
      </p:sp>
      <p:pic>
        <p:nvPicPr>
          <p:cNvPr id="2" name="Imagen 2">
            <a:extLst>
              <a:ext uri="{FF2B5EF4-FFF2-40B4-BE49-F238E27FC236}">
                <a16:creationId xmlns:a16="http://schemas.microsoft.com/office/drawing/2014/main" id="{CD767F04-A4F8-7CF9-45B1-8070B8889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140417"/>
            <a:ext cx="10180101" cy="47966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6A4735-976B-631C-3E5A-3509C44EC4B5}"/>
              </a:ext>
            </a:extLst>
          </p:cNvPr>
          <p:cNvSpPr/>
          <p:nvPr/>
        </p:nvSpPr>
        <p:spPr>
          <a:xfrm>
            <a:off x="1463336" y="4713818"/>
            <a:ext cx="3986487" cy="67286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021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31009" y="1584355"/>
            <a:ext cx="9698935" cy="3737745"/>
          </a:xfrm>
        </p:spPr>
        <p:txBody>
          <a:bodyPr anchor="ctr"/>
          <a:lstStyle/>
          <a:p>
            <a:pPr marL="0" lvl="0" indent="0" algn="just">
              <a:buClr>
                <a:srgbClr val="0CB4B4"/>
              </a:buClr>
              <a:buNone/>
            </a:pPr>
            <a:r>
              <a:rPr lang="es-CO" sz="2000" dirty="0"/>
              <a:t>Tiene como propósito </a:t>
            </a:r>
            <a:r>
              <a:rPr lang="es-CO" sz="2000" b="1" dirty="0"/>
              <a:t>administrar el registro y retiro de asignaturas</a:t>
            </a:r>
            <a:r>
              <a:rPr lang="es-CO" sz="2000" dirty="0"/>
              <a:t> que los estudiantes cursarán en un periodo académico. Para ello utiliza los distintos </a:t>
            </a:r>
            <a:r>
              <a:rPr lang="es-CO" sz="2000" b="1" dirty="0"/>
              <a:t>modelos de inscripción</a:t>
            </a:r>
            <a:r>
              <a:rPr lang="es-CO" sz="2000" dirty="0"/>
              <a:t> definidos por la institución —como inscripción básica, estructurada o proyectada— y opera en conjunto con funcionalidades complementarias como la </a:t>
            </a:r>
            <a:r>
              <a:rPr lang="es-CO" sz="2000" b="1" dirty="0"/>
              <a:t>gestión de turnos</a:t>
            </a:r>
            <a:r>
              <a:rPr lang="es-CO" sz="2000" dirty="0"/>
              <a:t>, </a:t>
            </a:r>
            <a:r>
              <a:rPr lang="es-CO" sz="2000" b="1" dirty="0"/>
              <a:t>inscripción por bloques</a:t>
            </a:r>
            <a:r>
              <a:rPr lang="es-CO" sz="2000" dirty="0"/>
              <a:t>, </a:t>
            </a:r>
            <a:r>
              <a:rPr lang="es-CO" sz="2000" b="1" dirty="0"/>
              <a:t>listas de espera</a:t>
            </a:r>
            <a:r>
              <a:rPr lang="es-CO" sz="2000" dirty="0"/>
              <a:t>, </a:t>
            </a:r>
            <a:r>
              <a:rPr lang="es-CO" sz="2000" b="1" dirty="0"/>
              <a:t>sobrepasos</a:t>
            </a:r>
            <a:r>
              <a:rPr lang="es-CO" sz="2000" dirty="0"/>
              <a:t>, entre otras herramientas que permiten controlar y organizar el proceso de matrícula de manera eficiente.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Proyección Académica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 err="1">
                <a:solidFill>
                  <a:schemeClr val="tx2"/>
                </a:solidFill>
              </a:rPr>
              <a:t>Overview</a:t>
            </a:r>
            <a:r>
              <a:rPr lang="es-ES_tradnl" dirty="0">
                <a:solidFill>
                  <a:schemeClr val="tx2"/>
                </a:solidFill>
              </a:rPr>
              <a:t>: Capacidad operativa </a:t>
            </a:r>
            <a:r>
              <a:rPr lang="es-419" dirty="0">
                <a:solidFill>
                  <a:schemeClr val="tx2"/>
                </a:solidFill>
              </a:rPr>
              <a:t>Gestionar la inscripción de cursos</a:t>
            </a:r>
            <a:endParaRPr lang="es-C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01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4354" y="1500996"/>
            <a:ext cx="10136257" cy="467120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rgbClr val="7030A0"/>
                </a:solidFill>
              </a:rPr>
              <a:t> </a:t>
            </a:r>
            <a:r>
              <a:rPr lang="es-ES" sz="2400" b="1" dirty="0">
                <a:solidFill>
                  <a:srgbClr val="7030A0"/>
                </a:solidFill>
              </a:rPr>
              <a:t>Ejecutar Proyección Académica</a:t>
            </a:r>
          </a:p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2400" b="1" dirty="0">
                <a:solidFill>
                  <a:srgbClr val="7030A0"/>
                </a:solidFill>
              </a:rPr>
              <a:t> </a:t>
            </a:r>
            <a:r>
              <a:rPr lang="es-ES" sz="2400" dirty="0">
                <a:solidFill>
                  <a:srgbClr val="7030A0"/>
                </a:solidFill>
              </a:rPr>
              <a:t>Ejecutar Planificación de cursos</a:t>
            </a:r>
          </a:p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rgbClr val="7030A0"/>
                </a:solidFill>
              </a:rPr>
              <a:t>Inscripción de Cursos por Autoservicio Básico</a:t>
            </a:r>
          </a:p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rgbClr val="7030A0"/>
                </a:solidFill>
              </a:rPr>
              <a:t>Inscripción de Cursos por Autoservicio por Bloques</a:t>
            </a:r>
          </a:p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rgbClr val="7030A0"/>
                </a:solidFill>
              </a:rPr>
              <a:t>Inscripción de Cursos por Autoservicio Estructurado</a:t>
            </a:r>
          </a:p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v"/>
            </a:pPr>
            <a:r>
              <a:rPr lang="es-CO" sz="2400" dirty="0">
                <a:solidFill>
                  <a:srgbClr val="7030A0"/>
                </a:solidFill>
              </a:rPr>
              <a:t>Inscripción de Cursos por </a:t>
            </a:r>
            <a:r>
              <a:rPr lang="es-CO" sz="2400" dirty="0" err="1">
                <a:solidFill>
                  <a:srgbClr val="7030A0"/>
                </a:solidFill>
              </a:rPr>
              <a:t>Backoffice</a:t>
            </a:r>
            <a:endParaRPr lang="es-CO" sz="2400" dirty="0">
              <a:solidFill>
                <a:srgbClr val="7030A0"/>
              </a:solidFill>
            </a:endParaRPr>
          </a:p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rgbClr val="7030A0"/>
                </a:solidFill>
              </a:rPr>
              <a:t>Inscripción de cursos por </a:t>
            </a:r>
            <a:r>
              <a:rPr lang="es-ES" sz="2400" dirty="0" err="1">
                <a:solidFill>
                  <a:srgbClr val="7030A0"/>
                </a:solidFill>
              </a:rPr>
              <a:t>Backoffice</a:t>
            </a:r>
            <a:r>
              <a:rPr lang="es-ES" sz="2400" dirty="0">
                <a:solidFill>
                  <a:srgbClr val="7030A0"/>
                </a:solidFill>
              </a:rPr>
              <a:t> por Bloques</a:t>
            </a:r>
          </a:p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rgbClr val="7030A0"/>
                </a:solidFill>
              </a:rPr>
              <a:t>Inscripción de cursos por Lista de Espera</a:t>
            </a:r>
          </a:p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rgbClr val="7030A0"/>
                </a:solidFill>
              </a:rPr>
              <a:t>Gestionar Sobrepasos de Inscripción</a:t>
            </a:r>
          </a:p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rgbClr val="7030A0"/>
                </a:solidFill>
              </a:rPr>
              <a:t>Gestionar Retiro de Cursos por Autoservicio</a:t>
            </a:r>
          </a:p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ES" sz="2400" dirty="0">
              <a:solidFill>
                <a:srgbClr val="7030A0"/>
              </a:solidFill>
            </a:endParaRPr>
          </a:p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ES" sz="2400" dirty="0">
              <a:solidFill>
                <a:srgbClr val="7030A0"/>
              </a:solidFill>
            </a:endParaRPr>
          </a:p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ES" sz="2400" dirty="0">
              <a:solidFill>
                <a:srgbClr val="7030A0"/>
              </a:solidFill>
            </a:endParaRPr>
          </a:p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ES" sz="2400" dirty="0">
              <a:solidFill>
                <a:srgbClr val="7030A0"/>
              </a:solidFill>
            </a:endParaRP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Proyección Académica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354" y="236522"/>
            <a:ext cx="10477497" cy="898555"/>
          </a:xfrm>
        </p:spPr>
        <p:txBody>
          <a:bodyPr/>
          <a:lstStyle/>
          <a:p>
            <a:r>
              <a:rPr lang="es-ES_tradnl" sz="3200" dirty="0" err="1">
                <a:solidFill>
                  <a:schemeClr val="tx2"/>
                </a:solidFill>
              </a:rPr>
              <a:t>Overview</a:t>
            </a:r>
            <a:r>
              <a:rPr lang="es-ES_tradnl" dirty="0">
                <a:solidFill>
                  <a:schemeClr val="tx2"/>
                </a:solidFill>
              </a:rPr>
              <a:t>: Capacidad operativa </a:t>
            </a:r>
            <a:r>
              <a:rPr lang="es-419" dirty="0">
                <a:solidFill>
                  <a:schemeClr val="tx2"/>
                </a:solidFill>
              </a:rPr>
              <a:t>Gestionar la inscripción de cursos</a:t>
            </a:r>
            <a:endParaRPr lang="es-C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93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Proyección Académica</a:t>
            </a:r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4900" y="45212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 err="1">
                <a:solidFill>
                  <a:schemeClr val="tx2"/>
                </a:solidFill>
              </a:rPr>
              <a:t>Overview</a:t>
            </a:r>
            <a:r>
              <a:rPr lang="es-ES_tradnl" dirty="0">
                <a:solidFill>
                  <a:schemeClr val="tx2"/>
                </a:solidFill>
              </a:rPr>
              <a:t>: Capacidad operativa </a:t>
            </a:r>
            <a:r>
              <a:rPr lang="es-419" dirty="0">
                <a:solidFill>
                  <a:schemeClr val="tx2"/>
                </a:solidFill>
              </a:rPr>
              <a:t>Gestionar la inscripción de cursos</a:t>
            </a:r>
            <a:endParaRPr lang="es-419" sz="3200" dirty="0"/>
          </a:p>
        </p:txBody>
      </p:sp>
      <p:pic>
        <p:nvPicPr>
          <p:cNvPr id="2" name="Picture 49">
            <a:extLst>
              <a:ext uri="{FF2B5EF4-FFF2-40B4-BE49-F238E27FC236}">
                <a16:creationId xmlns:a16="http://schemas.microsoft.com/office/drawing/2014/main" id="{F747E82D-4004-F481-DBFE-93BF2BFB3E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" r="840" b="2225"/>
          <a:stretch>
            <a:fillRect/>
          </a:stretch>
        </p:blipFill>
        <p:spPr bwMode="auto">
          <a:xfrm>
            <a:off x="1457864" y="1803624"/>
            <a:ext cx="9622905" cy="337222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79735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pic>
        <p:nvPicPr>
          <p:cNvPr id="8" name="Imagen 7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171DEDFE-F050-E179-A066-C9F72BC68D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57" t="34650" b="2103"/>
          <a:stretch/>
        </p:blipFill>
        <p:spPr>
          <a:xfrm>
            <a:off x="3082543" y="1323474"/>
            <a:ext cx="4750021" cy="504971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8921175" y="2785533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104674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tx2"/>
                </a:solidFill>
              </a:rPr>
              <a:t>Overview: Macroproceso </a:t>
            </a:r>
            <a:r>
              <a:rPr lang="es-419" dirty="0">
                <a:solidFill>
                  <a:schemeClr val="tx2"/>
                </a:solidFill>
              </a:rPr>
              <a:t>Gestionar la inscripción de cursos – Inscripción de Cursos</a:t>
            </a:r>
          </a:p>
        </p:txBody>
      </p:sp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5A6BF-A195-B50F-C3BB-73FFCB63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51A2C4E-9EAB-4066-C1E1-1286B6A893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2159000"/>
            <a:ext cx="10136257" cy="410265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419" sz="2000" dirty="0">
                <a:solidFill>
                  <a:srgbClr val="7030A0"/>
                </a:solidFill>
              </a:rPr>
              <a:t>La planificación de cursos consiste en ofrecer al estudiante la posibilidad de crear uno o más planes de inscripción en Registration, lo cual consiste en un conjunto de cursos y/o secciones las cuales al estudiante gustaría inscribir cuando el proceso oficial de inscripción haya iniciado.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419" sz="2000" dirty="0">
                <a:solidFill>
                  <a:srgbClr val="7030A0"/>
                </a:solidFill>
              </a:rPr>
              <a:t>Este proceso le permite escoger de forma temprana los cursos y NRC que el estudiante le gustaría inscribir optimizando los tiempos del proceso de inscripción propiamente tal. Además, esta planificación representa un insumo para la institución frente posibles ajustes a la programación de forma preventiva.</a:t>
            </a:r>
          </a:p>
          <a:p>
            <a:pPr marL="0" indent="0" algn="just">
              <a:buClr>
                <a:srgbClr val="0CB4B4"/>
              </a:buClr>
              <a:buNone/>
            </a:pPr>
            <a:endParaRPr lang="es-419" sz="2000" dirty="0">
              <a:solidFill>
                <a:srgbClr val="7030A0"/>
              </a:solidFill>
            </a:endParaRP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945B24-A53A-5B2A-A335-1B609950017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66B5A0C4-0379-D054-42EB-7E956BE2ED30}"/>
              </a:ext>
            </a:extLst>
          </p:cNvPr>
          <p:cNvSpPr txBox="1">
            <a:spLocks/>
          </p:cNvSpPr>
          <p:nvPr/>
        </p:nvSpPr>
        <p:spPr>
          <a:xfrm>
            <a:off x="1104900" y="45212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tx2"/>
                </a:solidFill>
              </a:rPr>
              <a:t>Overview: Procedimiento </a:t>
            </a:r>
            <a:r>
              <a:rPr lang="es-419" dirty="0">
                <a:solidFill>
                  <a:schemeClr val="tx2"/>
                </a:solidFill>
              </a:rPr>
              <a:t>Ejecutar la planificación de cursos</a:t>
            </a:r>
          </a:p>
        </p:txBody>
      </p:sp>
    </p:spTree>
    <p:extLst>
      <p:ext uri="{BB962C8B-B14F-4D97-AF65-F5344CB8AC3E}">
        <p14:creationId xmlns:p14="http://schemas.microsoft.com/office/powerpoint/2010/main" val="403264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4900" y="45212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tx2"/>
                </a:solidFill>
              </a:rPr>
              <a:t>Overview: Macroproceso </a:t>
            </a:r>
            <a:r>
              <a:rPr lang="es-419" dirty="0">
                <a:solidFill>
                  <a:schemeClr val="tx2"/>
                </a:solidFill>
              </a:rPr>
              <a:t>Gestionar la inscripción de cursos – Inscripción de Cursos - Ejecutar la planificación de cursos</a:t>
            </a:r>
          </a:p>
          <a:p>
            <a:endParaRPr lang="es-419" sz="3200" dirty="0"/>
          </a:p>
        </p:txBody>
      </p:sp>
      <p:pic>
        <p:nvPicPr>
          <p:cNvPr id="2" name="Picture 15" descr="A diagram of a diagram&#10;&#10;AI-generated content may be incorrect.">
            <a:extLst>
              <a:ext uri="{FF2B5EF4-FFF2-40B4-BE49-F238E27FC236}">
                <a16:creationId xmlns:a16="http://schemas.microsoft.com/office/drawing/2014/main" id="{F29FBA1A-DDC4-AA3C-1654-D4CF68739D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1" t="5091" r="1283" b="4977"/>
          <a:stretch>
            <a:fillRect/>
          </a:stretch>
        </p:blipFill>
        <p:spPr bwMode="auto">
          <a:xfrm>
            <a:off x="1565129" y="2102343"/>
            <a:ext cx="10069428" cy="298724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FBD7-CCFD-A0BF-BD15-42AD93747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D7DFDC4-15E5-B40E-AC65-8736F1BA4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74" y="1211874"/>
            <a:ext cx="10477497" cy="1310506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065B4447-D643-48A2-B5F7-0FEA4E446C8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4F7CDE7-D2C9-A7CB-3930-E83C5C157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91" y="322193"/>
            <a:ext cx="10477497" cy="89855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Control de periodo (SOATERM)</a:t>
            </a:r>
            <a:br>
              <a:rPr lang="es-419" b="0" dirty="0">
                <a:effectLst/>
              </a:rPr>
            </a:br>
            <a:endParaRPr lang="es-ES_tradnl" b="1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B31CDCC-1E7A-2BD9-7AF2-14D88354B868}"/>
              </a:ext>
            </a:extLst>
          </p:cNvPr>
          <p:cNvSpPr/>
          <p:nvPr/>
        </p:nvSpPr>
        <p:spPr>
          <a:xfrm>
            <a:off x="1988561" y="3428999"/>
            <a:ext cx="8143539" cy="121615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200" dirty="0"/>
              <a:t>Para configurar la planificación, se requiere ingresar a la página SOATERM y seguir los siguientes pasos:</a:t>
            </a:r>
          </a:p>
          <a:p>
            <a:pPr algn="ctr"/>
            <a:endParaRPr lang="es-ES_tradnl" sz="1200" dirty="0"/>
          </a:p>
          <a:p>
            <a:pPr marL="228600" indent="-228600" algn="just">
              <a:buFont typeface="+mj-lt"/>
              <a:buAutoNum type="arabicPeriod"/>
            </a:pPr>
            <a:r>
              <a:rPr lang="es-ES_tradnl" sz="1200" dirty="0"/>
              <a:t> Ingrese o seleccione el Periodo Académico para el cual se habilitará la planificación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ES_tradnl" sz="1200" dirty="0"/>
              <a:t>Presione el botón ‘Ir’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D1C4E1-15EA-9FA9-DE17-DA49774DA0E2}"/>
              </a:ext>
            </a:extLst>
          </p:cNvPr>
          <p:cNvSpPr/>
          <p:nvPr/>
        </p:nvSpPr>
        <p:spPr>
          <a:xfrm>
            <a:off x="1438656" y="1567643"/>
            <a:ext cx="1755648" cy="2186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FF95DDA4-F928-100E-D303-ECC33299EE62}"/>
              </a:ext>
            </a:extLst>
          </p:cNvPr>
          <p:cNvSpPr/>
          <p:nvPr/>
        </p:nvSpPr>
        <p:spPr>
          <a:xfrm>
            <a:off x="3194305" y="1870402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1</a:t>
            </a:r>
            <a:endParaRPr lang="es-419" sz="1100" noProof="0" dirty="0"/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562ECEC4-74E4-D25B-EC92-2EBDA791AEE7}"/>
              </a:ext>
            </a:extLst>
          </p:cNvPr>
          <p:cNvSpPr/>
          <p:nvPr/>
        </p:nvSpPr>
        <p:spPr>
          <a:xfrm>
            <a:off x="10695663" y="1705933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2</a:t>
            </a:r>
            <a:endParaRPr lang="es-419" sz="1100" noProof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244C056-79BF-EC88-AF00-187DBD4AF6CD}"/>
              </a:ext>
            </a:extLst>
          </p:cNvPr>
          <p:cNvSpPr/>
          <p:nvPr/>
        </p:nvSpPr>
        <p:spPr>
          <a:xfrm>
            <a:off x="10997184" y="1567733"/>
            <a:ext cx="414612" cy="21860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661232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74A1-EC05-370D-05B3-CD494214A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19F264AA-5D1E-8CD3-6914-598A5B5EE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07" y="887685"/>
            <a:ext cx="10812836" cy="4682405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71C006D8-0BA8-0988-D2F7-D359EC8F069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8826C76-408F-3AA6-41DD-5FEC2AA17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Control de periodo (SOATERM)</a:t>
            </a:r>
            <a:br>
              <a:rPr lang="es-419" b="0" dirty="0">
                <a:effectLst/>
              </a:rPr>
            </a:br>
            <a:endParaRPr lang="es-ES_tradnl" b="1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CEB3846-3A62-E75F-4751-E044DE8B7CF5}"/>
              </a:ext>
            </a:extLst>
          </p:cNvPr>
          <p:cNvSpPr/>
          <p:nvPr/>
        </p:nvSpPr>
        <p:spPr>
          <a:xfrm>
            <a:off x="1986448" y="2261002"/>
            <a:ext cx="7084400" cy="1935769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200" dirty="0"/>
              <a:t>En la primera pestaña de SOATERM se debe de activar uno o varios modelos de inscripción permitidos en el periodo académico.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84014E7-4FAD-7195-FF34-0E6C5FCCD8BB}"/>
              </a:ext>
            </a:extLst>
          </p:cNvPr>
          <p:cNvSpPr/>
          <p:nvPr/>
        </p:nvSpPr>
        <p:spPr>
          <a:xfrm>
            <a:off x="1572768" y="4298651"/>
            <a:ext cx="2560320" cy="28554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CB14DB9-98F3-5F88-C121-39BF1067A46B}"/>
              </a:ext>
            </a:extLst>
          </p:cNvPr>
          <p:cNvSpPr/>
          <p:nvPr/>
        </p:nvSpPr>
        <p:spPr>
          <a:xfrm>
            <a:off x="836467" y="1487424"/>
            <a:ext cx="609602" cy="15992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034484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62DCC-677F-94F2-34E4-825AA135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AEB6CC1-EC9C-6C71-918C-4CB55E586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74" y="876299"/>
            <a:ext cx="10670243" cy="4634887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1B243F62-AC67-7A5A-885B-F8E8C58D053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1FEA5A8-D9ED-ED71-9682-66C85190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91" y="322193"/>
            <a:ext cx="10477497" cy="89855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Control de periodo (SOATERM)</a:t>
            </a:r>
            <a:br>
              <a:rPr lang="es-419" b="0" dirty="0">
                <a:effectLst/>
              </a:rPr>
            </a:br>
            <a:endParaRPr lang="es-ES_tradnl" b="1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FB9C818-CACB-23AA-8835-64CCAB108F3B}"/>
              </a:ext>
            </a:extLst>
          </p:cNvPr>
          <p:cNvSpPr/>
          <p:nvPr/>
        </p:nvSpPr>
        <p:spPr>
          <a:xfrm>
            <a:off x="1988561" y="3428999"/>
            <a:ext cx="8143539" cy="121615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200" dirty="0"/>
              <a:t>Acceder a la tercera pestaña de SOATERM, ‘Controles de procesamiento WEB’ </a:t>
            </a:r>
          </a:p>
          <a:p>
            <a:pPr algn="ctr"/>
            <a:endParaRPr lang="es-ES_tradnl" sz="1200" dirty="0"/>
          </a:p>
          <a:p>
            <a:pPr marL="228600" indent="-228600">
              <a:buFont typeface="+mj-lt"/>
              <a:buAutoNum type="arabicPeriod" startAt="3"/>
            </a:pPr>
            <a:r>
              <a:rPr lang="es-ES_tradnl" sz="1200" dirty="0"/>
              <a:t>Desplace hacia abajo la página hasta encontrar la sección de información ‘Planificación en autoservicio’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1793990-DF14-F4BD-63D3-2CC8B4A048BD}"/>
              </a:ext>
            </a:extLst>
          </p:cNvPr>
          <p:cNvSpPr/>
          <p:nvPr/>
        </p:nvSpPr>
        <p:spPr>
          <a:xfrm>
            <a:off x="3072384" y="1430342"/>
            <a:ext cx="1511808" cy="21860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6631FB41-F7E3-A70A-A499-8C27D5F4635F}"/>
              </a:ext>
            </a:extLst>
          </p:cNvPr>
          <p:cNvSpPr/>
          <p:nvPr/>
        </p:nvSpPr>
        <p:spPr>
          <a:xfrm>
            <a:off x="11262011" y="4037075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943556CE-D430-1BBF-0443-059A041B7A39}"/>
              </a:ext>
            </a:extLst>
          </p:cNvPr>
          <p:cNvSpPr/>
          <p:nvPr/>
        </p:nvSpPr>
        <p:spPr>
          <a:xfrm>
            <a:off x="11520281" y="3230880"/>
            <a:ext cx="177487" cy="193852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79818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1C39B-E6D9-16A4-2B84-45F93AB6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3C7D7A9-2271-B4AA-BDA5-84278FC8B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96" y="889253"/>
            <a:ext cx="10765324" cy="4664749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ACB54C06-DF5A-389A-33C4-0B8CE65B6F8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04F5E81-BE3D-2D26-F27A-01EE87CE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Control de periodo (SOATERM)</a:t>
            </a:r>
            <a:br>
              <a:rPr lang="es-419" b="0" dirty="0">
                <a:effectLst/>
              </a:rPr>
            </a:br>
            <a:endParaRPr lang="es-ES_tradnl" b="1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307BB6AC-4067-8D8A-67C0-A396A8263F94}"/>
              </a:ext>
            </a:extLst>
          </p:cNvPr>
          <p:cNvSpPr/>
          <p:nvPr/>
        </p:nvSpPr>
        <p:spPr>
          <a:xfrm>
            <a:off x="2106387" y="4392118"/>
            <a:ext cx="9084201" cy="1431281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200" dirty="0"/>
              <a:t>En la sección de información ‘Planificación en autoservicio’, se debe : 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s-ES_tradnl" sz="1200" dirty="0"/>
              <a:t>Activar la casilla ‘Periodo Abierto para planificación en autoservicio’, para que se habilite la planificación en ese período.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s-ES_tradnl" sz="1200" dirty="0"/>
              <a:t>Defina un valor numérico del capo ‘Planes máximos para periodo’ y para indicar hasta cuántos planes puede hacer el estudiante.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C892826-9441-6A57-2738-A3CAC71CF1E2}"/>
              </a:ext>
            </a:extLst>
          </p:cNvPr>
          <p:cNvSpPr/>
          <p:nvPr/>
        </p:nvSpPr>
        <p:spPr>
          <a:xfrm>
            <a:off x="1877568" y="3013067"/>
            <a:ext cx="2060448" cy="21781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982A3922-2466-7841-10C0-A9EA00837E62}"/>
              </a:ext>
            </a:extLst>
          </p:cNvPr>
          <p:cNvSpPr/>
          <p:nvPr/>
        </p:nvSpPr>
        <p:spPr>
          <a:xfrm>
            <a:off x="3964302" y="3230881"/>
            <a:ext cx="303109" cy="16016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4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222751C-1A41-EDB4-7FDF-C586F78E951A}"/>
              </a:ext>
            </a:extLst>
          </p:cNvPr>
          <p:cNvSpPr/>
          <p:nvPr/>
        </p:nvSpPr>
        <p:spPr>
          <a:xfrm>
            <a:off x="1112739" y="3232550"/>
            <a:ext cx="1654845" cy="37797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82CDBC6F-E044-C858-FEBE-903FA2C82FC7}"/>
              </a:ext>
            </a:extLst>
          </p:cNvPr>
          <p:cNvSpPr/>
          <p:nvPr/>
        </p:nvSpPr>
        <p:spPr>
          <a:xfrm>
            <a:off x="2793870" y="3530447"/>
            <a:ext cx="303109" cy="16016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5</a:t>
            </a:r>
            <a:endParaRPr lang="es-419" sz="1100" noProof="0" dirty="0"/>
          </a:p>
        </p:txBody>
      </p:sp>
    </p:spTree>
    <p:extLst>
      <p:ext uri="{BB962C8B-B14F-4D97-AF65-F5344CB8AC3E}">
        <p14:creationId xmlns:p14="http://schemas.microsoft.com/office/powerpoint/2010/main" val="2193805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B39AB-20DA-568E-C815-1F5ECB2BC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8A292869-E05F-DBE6-49A2-446E11CD1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96" y="889253"/>
            <a:ext cx="10765324" cy="4664749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7A832531-5534-7917-67E3-276CB3C41B4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C0E1DA3-63BA-D0E0-17F2-9E30EF57D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91" y="322193"/>
            <a:ext cx="10477497" cy="89855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Control de periodo (SOATERM)</a:t>
            </a:r>
            <a:br>
              <a:rPr lang="es-419" b="0" dirty="0">
                <a:effectLst/>
              </a:rPr>
            </a:br>
            <a:endParaRPr lang="es-ES_tradnl" b="1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0C37C22-DEE7-5EA5-B336-E10364546610}"/>
              </a:ext>
            </a:extLst>
          </p:cNvPr>
          <p:cNvSpPr/>
          <p:nvPr/>
        </p:nvSpPr>
        <p:spPr>
          <a:xfrm>
            <a:off x="1805681" y="4191571"/>
            <a:ext cx="8155183" cy="1757242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200" dirty="0"/>
              <a:t>Adicional a lo anterior, puede:</a:t>
            </a:r>
          </a:p>
          <a:p>
            <a:pPr algn="ctr"/>
            <a:endParaRPr lang="es-ES_tradnl" sz="1200" dirty="0"/>
          </a:p>
          <a:p>
            <a:pPr marL="228600" indent="-228600">
              <a:buFont typeface="+mj-lt"/>
              <a:buAutoNum type="arabicPeriod" startAt="6"/>
            </a:pPr>
            <a:r>
              <a:rPr lang="es-ES_tradnl" sz="1200" dirty="0"/>
              <a:t>Activar la casilla ‘Desplegar planes de autoservicio en inscripción’  para habilitar </a:t>
            </a:r>
            <a:r>
              <a:rPr lang="es-CL" sz="1200" dirty="0"/>
              <a:t>que </a:t>
            </a:r>
            <a:r>
              <a:rPr lang="es-419" sz="1200" dirty="0"/>
              <a:t>los planes creados por el estudiante estén disponibles cuando inscriba los cursos en el período</a:t>
            </a:r>
            <a:endParaRPr lang="es-ES_tradnl" sz="1200" dirty="0"/>
          </a:p>
          <a:p>
            <a:pPr marL="228600" indent="-228600">
              <a:buFont typeface="+mj-lt"/>
              <a:buAutoNum type="arabicPeriod" startAt="6"/>
            </a:pPr>
            <a:r>
              <a:rPr lang="es-ES_tradnl" sz="1200" dirty="0"/>
              <a:t>Activar la opción  ‘Permitir agregar secciones de curso a plan’, </a:t>
            </a:r>
            <a:r>
              <a:rPr lang="es-419" sz="1200" dirty="0"/>
              <a:t>y que pueda agregar secciones (no solo cursos) a dicho plan. Esta opción requiere que se haya realizado la programación académica para el período en cuestión.</a:t>
            </a:r>
          </a:p>
          <a:p>
            <a:pPr marL="228600" indent="-228600">
              <a:buFont typeface="+mj-lt"/>
              <a:buAutoNum type="arabicPeriod" startAt="6"/>
            </a:pPr>
            <a:r>
              <a:rPr lang="es-419" sz="1200" dirty="0"/>
              <a:t>Guarde la información.</a:t>
            </a:r>
          </a:p>
          <a:p>
            <a:pPr algn="ctr"/>
            <a:endParaRPr lang="es-419" sz="1200" u="sng" dirty="0"/>
          </a:p>
          <a:p>
            <a:pPr algn="ctr"/>
            <a:r>
              <a:rPr lang="es-419" sz="1200" dirty="0"/>
              <a:t>Los demás campos nos serían utilizados por lo cual quedan desactivados.</a:t>
            </a:r>
            <a:endParaRPr lang="es-ES_tradnl" sz="12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6D22998-3EA1-68AB-252B-603C6F68E56F}"/>
              </a:ext>
            </a:extLst>
          </p:cNvPr>
          <p:cNvSpPr/>
          <p:nvPr/>
        </p:nvSpPr>
        <p:spPr>
          <a:xfrm>
            <a:off x="5308024" y="3059462"/>
            <a:ext cx="2177864" cy="16081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D355D1BA-74F9-5105-6761-029E4ABD1DC5}"/>
              </a:ext>
            </a:extLst>
          </p:cNvPr>
          <p:cNvSpPr/>
          <p:nvPr/>
        </p:nvSpPr>
        <p:spPr>
          <a:xfrm>
            <a:off x="7557013" y="2979055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6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6D22998-3EA1-68AB-252B-603C6F68E56F}"/>
              </a:ext>
            </a:extLst>
          </p:cNvPr>
          <p:cNvSpPr/>
          <p:nvPr/>
        </p:nvSpPr>
        <p:spPr>
          <a:xfrm>
            <a:off x="5308024" y="3256867"/>
            <a:ext cx="2177864" cy="16081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9" name="Rectángulo redondeado 15">
            <a:extLst>
              <a:ext uri="{FF2B5EF4-FFF2-40B4-BE49-F238E27FC236}">
                <a16:creationId xmlns:a16="http://schemas.microsoft.com/office/drawing/2014/main" id="{DD2D0063-1C6A-2766-5556-F8DF0F9E20D5}"/>
              </a:ext>
            </a:extLst>
          </p:cNvPr>
          <p:cNvSpPr/>
          <p:nvPr/>
        </p:nvSpPr>
        <p:spPr>
          <a:xfrm>
            <a:off x="7557013" y="3424499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7</a:t>
            </a:r>
            <a:endParaRPr lang="es-419" sz="1100" noProof="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58A4F3C-3E07-1ACA-8D6B-8C3677C52F24}"/>
              </a:ext>
            </a:extLst>
          </p:cNvPr>
          <p:cNvSpPr/>
          <p:nvPr/>
        </p:nvSpPr>
        <p:spPr>
          <a:xfrm>
            <a:off x="11132559" y="5193792"/>
            <a:ext cx="599883" cy="27452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1" name="Rectángulo redondeado 15">
            <a:extLst>
              <a:ext uri="{FF2B5EF4-FFF2-40B4-BE49-F238E27FC236}">
                <a16:creationId xmlns:a16="http://schemas.microsoft.com/office/drawing/2014/main" id="{68B7FF7D-2F0E-C1E3-886F-F7C6549EDB15}"/>
              </a:ext>
            </a:extLst>
          </p:cNvPr>
          <p:cNvSpPr/>
          <p:nvPr/>
        </p:nvSpPr>
        <p:spPr>
          <a:xfrm>
            <a:off x="10874289" y="5027703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53755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FC10B-3A05-57BF-1499-4BE443582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1A6F1F48-76C7-92EC-513B-6FABD60CCC9C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32E54CB5-4DB8-88B9-BEDB-F12BDD06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dirty="0"/>
              <a:t>Ejecutar la planificación de cursos</a:t>
            </a:r>
            <a:endParaRPr lang="es-419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AF09F94-9072-B9D7-D1C7-F044184D1F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2494" y="3577587"/>
            <a:ext cx="7092820" cy="77444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657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A47C0-3064-6A36-B823-0C607B74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EFD292-30E6-A67B-74F4-C35642F875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CL" dirty="0"/>
              <a:t>Creación de Planes</a:t>
            </a:r>
            <a:endParaRPr lang="es-419" dirty="0"/>
          </a:p>
        </p:txBody>
      </p:sp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B6CED18C-10C1-481B-071D-884B9E51D7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40207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07F80-946E-A913-EBF2-0D875552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6B11225-FA3C-4A04-C978-46DB23246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37" y="970933"/>
            <a:ext cx="10233804" cy="4916132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EDA2DCB9-8A6A-716B-E8AD-D420D9596E7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2654B69-2DD3-8E60-8291-491333C1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91" y="322193"/>
            <a:ext cx="10477497" cy="89855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Creación de un Plan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7699D87-7432-825C-E208-23064362D6CF}"/>
              </a:ext>
            </a:extLst>
          </p:cNvPr>
          <p:cNvSpPr/>
          <p:nvPr/>
        </p:nvSpPr>
        <p:spPr>
          <a:xfrm>
            <a:off x="1310209" y="4434929"/>
            <a:ext cx="7443648" cy="1283119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L" sz="1200" dirty="0"/>
              <a:t>Para realizar la planificación de asignaturas, el estudiante debe ingresar por su portal de autoservicio y seleccionar la tarjeta “Abrir el tablero de inscripciones”</a:t>
            </a:r>
          </a:p>
          <a:p>
            <a:pPr algn="ctr"/>
            <a:endParaRPr lang="es-CL" sz="1200" dirty="0"/>
          </a:p>
          <a:p>
            <a:pPr algn="ctr"/>
            <a:r>
              <a:rPr lang="es-CL" sz="1100" dirty="0"/>
              <a:t>La imagen que se presenta es referencial, pues el diseño definitivo del portal depende de las decisiones del equipo la Institución</a:t>
            </a:r>
            <a:endParaRPr lang="es-ES_tradnl" sz="11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2B4BC0A-69C8-5FDE-98F7-D926FD32AA6E}"/>
              </a:ext>
            </a:extLst>
          </p:cNvPr>
          <p:cNvSpPr/>
          <p:nvPr/>
        </p:nvSpPr>
        <p:spPr>
          <a:xfrm>
            <a:off x="3864634" y="3328808"/>
            <a:ext cx="2231366" cy="53582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198893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A5FF-CD38-0824-DDFB-A7126F82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0FED11E-E2A8-2613-1F20-FF8DF9FF1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91" y="1187075"/>
            <a:ext cx="10684677" cy="466119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6C5412AF-93F7-31B1-500B-56220D113D2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3F45A42-ECF4-C077-B301-F9F3DEA1A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91" y="322193"/>
            <a:ext cx="10477497" cy="89855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23EB63F-8FA4-D903-9366-A87644FB91DB}"/>
              </a:ext>
            </a:extLst>
          </p:cNvPr>
          <p:cNvSpPr/>
          <p:nvPr/>
        </p:nvSpPr>
        <p:spPr>
          <a:xfrm>
            <a:off x="2435734" y="3535847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CL" sz="1200" dirty="0"/>
              <a:t>Toda vez que se ha accedido al menú de Inscripción,  se debe ingresar a la opción ‘Planificar’</a:t>
            </a:r>
            <a:endParaRPr lang="es-ES_tradnl" sz="12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1177D5-E141-4032-9B48-3F821378835A}"/>
              </a:ext>
            </a:extLst>
          </p:cNvPr>
          <p:cNvSpPr/>
          <p:nvPr/>
        </p:nvSpPr>
        <p:spPr>
          <a:xfrm>
            <a:off x="1074159" y="2366158"/>
            <a:ext cx="2741937" cy="45019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6EF629D5-986C-D949-4971-526779DDF695}"/>
              </a:ext>
            </a:extLst>
          </p:cNvPr>
          <p:cNvSpPr/>
          <p:nvPr/>
        </p:nvSpPr>
        <p:spPr>
          <a:xfrm>
            <a:off x="3884763" y="2893622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00623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019F-7891-63AB-8C14-8775FB53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8EF7595-C2D5-DBF8-7239-A6FFF09AD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31" y="1453957"/>
            <a:ext cx="10777812" cy="4718242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762DBEAF-2AD9-A9A9-3E41-D2B2CAD8183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E6A46F2-814D-C057-212F-FE8239DFD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91" y="322193"/>
            <a:ext cx="10477497" cy="898555"/>
          </a:xfrm>
        </p:spPr>
        <p:txBody>
          <a:bodyPr/>
          <a:lstStyle/>
          <a:p>
            <a:r>
              <a:rPr lang="es-ES_tradnl" dirty="0"/>
              <a:t>Proceso: </a:t>
            </a:r>
            <a:r>
              <a:rPr lang="es-ES_tradnl" b="0" dirty="0"/>
              <a:t>Planificación de Asignaturas y/o NRCs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1DC48CB-5F58-7289-27AA-A4DF92141B9B}"/>
              </a:ext>
            </a:extLst>
          </p:cNvPr>
          <p:cNvSpPr/>
          <p:nvPr/>
        </p:nvSpPr>
        <p:spPr>
          <a:xfrm>
            <a:off x="2435734" y="3535847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2"/>
            </a:pPr>
            <a:r>
              <a:rPr lang="es-CL" sz="1200" dirty="0"/>
              <a:t>Ya dentro del módulo de planificación se debe seleccionar </a:t>
            </a:r>
            <a:r>
              <a:rPr lang="es-419" sz="1200" dirty="0"/>
              <a:t>el Periodo Académico a planificar</a:t>
            </a:r>
            <a:r>
              <a:rPr lang="es-CL" sz="1200" dirty="0"/>
              <a:t>. La lista de periodos desplegada dependerá de las configuraciones de SOATERM que tenga cada uno de esos periodos.</a:t>
            </a:r>
            <a:endParaRPr lang="es-ES_tradnl" sz="12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93A4684-9B88-04B8-C3BB-DA9CF028CCE6}"/>
              </a:ext>
            </a:extLst>
          </p:cNvPr>
          <p:cNvSpPr/>
          <p:nvPr/>
        </p:nvSpPr>
        <p:spPr>
          <a:xfrm>
            <a:off x="885531" y="1899940"/>
            <a:ext cx="1772325" cy="152905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7266990D-BF7B-69FF-FA61-9D28BA07F86A}"/>
              </a:ext>
            </a:extLst>
          </p:cNvPr>
          <p:cNvSpPr/>
          <p:nvPr/>
        </p:nvSpPr>
        <p:spPr>
          <a:xfrm>
            <a:off x="2687132" y="1882019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15748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47F6-3574-20F6-0305-7ECE75CF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B0B7B948-ADEB-EC2A-0ABF-D4C88EF6F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2" y="869324"/>
            <a:ext cx="10764322" cy="4714449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7264806D-700B-C1F6-486C-AD34D91C2E7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D236B77E-6BCF-724B-5AE7-75483C563E75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DAF13F7-F9DA-456F-6BEC-71F31605B67B}"/>
              </a:ext>
            </a:extLst>
          </p:cNvPr>
          <p:cNvSpPr/>
          <p:nvPr/>
        </p:nvSpPr>
        <p:spPr>
          <a:xfrm>
            <a:off x="2435734" y="3535847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3"/>
            </a:pPr>
            <a:r>
              <a:rPr lang="es-CO" sz="1200" dirty="0"/>
              <a:t>Una vez seleccionado el periodo académico, se habilitará el campo </a:t>
            </a:r>
            <a:r>
              <a:rPr lang="es-CO" sz="1200" b="1" dirty="0"/>
              <a:t>Plan de estudios</a:t>
            </a:r>
            <a:r>
              <a:rPr lang="es-CO" sz="1200" dirty="0"/>
              <a:t>, en el cual deberá seleccionarse el plan correspondiente al estudiante para realizar la planificación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CL" sz="1200" dirty="0"/>
              <a:t>Luego de ello, presionar el botón ‘Continuar’</a:t>
            </a:r>
            <a:endParaRPr lang="es-ES_tradnl" sz="12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3DCF03E-A664-CC84-39DD-279DCE2701C5}"/>
              </a:ext>
            </a:extLst>
          </p:cNvPr>
          <p:cNvSpPr/>
          <p:nvPr/>
        </p:nvSpPr>
        <p:spPr>
          <a:xfrm>
            <a:off x="866039" y="2042833"/>
            <a:ext cx="1772325" cy="32241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FA813D95-FD83-7010-E826-1C70B33A9223}"/>
              </a:ext>
            </a:extLst>
          </p:cNvPr>
          <p:cNvSpPr/>
          <p:nvPr/>
        </p:nvSpPr>
        <p:spPr>
          <a:xfrm>
            <a:off x="2667640" y="2284841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CDA3C4C-03EE-6FC3-1AEE-F121BC8C0752}"/>
              </a:ext>
            </a:extLst>
          </p:cNvPr>
          <p:cNvSpPr/>
          <p:nvPr/>
        </p:nvSpPr>
        <p:spPr>
          <a:xfrm>
            <a:off x="870931" y="2455199"/>
            <a:ext cx="628685" cy="16081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6A633A8E-C0EC-E269-16F4-1848BEE7C927}"/>
              </a:ext>
            </a:extLst>
          </p:cNvPr>
          <p:cNvSpPr/>
          <p:nvPr/>
        </p:nvSpPr>
        <p:spPr>
          <a:xfrm>
            <a:off x="1579105" y="2588789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22829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E938C-587C-2FB3-3321-7F9EA63BA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B76E524-2FCA-BEBA-1B4A-B7059AF05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2" y="869324"/>
            <a:ext cx="10725035" cy="4714449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88575AFC-6602-D5E5-5118-F6E004C7AAD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C8E5FF72-F724-8457-D65F-333A5B690324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D74F26B-E2CD-E660-B2A6-836220A0DDD0}"/>
              </a:ext>
            </a:extLst>
          </p:cNvPr>
          <p:cNvSpPr/>
          <p:nvPr/>
        </p:nvSpPr>
        <p:spPr>
          <a:xfrm>
            <a:off x="2435734" y="3535847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5"/>
            </a:pPr>
            <a:r>
              <a:rPr lang="es-CL" sz="1200" dirty="0"/>
              <a:t>La acción anterior nos llevará al menú principal de la planificación, en donde el estudiante podrá crear un plan nuevo presionando el botón ‘Crear nuevo plan’.</a:t>
            </a:r>
            <a:endParaRPr lang="es-ES_tradnl" sz="12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73D8933-8651-1215-08ED-8EF4138A1C5F}"/>
              </a:ext>
            </a:extLst>
          </p:cNvPr>
          <p:cNvSpPr/>
          <p:nvPr/>
        </p:nvSpPr>
        <p:spPr>
          <a:xfrm>
            <a:off x="895315" y="2229283"/>
            <a:ext cx="1165133" cy="31884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2A2B1BD0-AE4C-D373-A765-F0653C06D0D4}"/>
              </a:ext>
            </a:extLst>
          </p:cNvPr>
          <p:cNvSpPr/>
          <p:nvPr/>
        </p:nvSpPr>
        <p:spPr>
          <a:xfrm>
            <a:off x="2083000" y="2479914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97444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85BC5-CF5F-E44C-C80F-4C7851EE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5A166F8-C7BC-545C-351D-207ABC3B2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2" y="952815"/>
            <a:ext cx="10850964" cy="474942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DFA63A8D-A372-BE68-3D44-E362909E312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79518FE8-38A9-5BE2-FF68-968F2D6A4619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1B0B1A7-79AB-2258-3DF7-BC078368B23F}"/>
              </a:ext>
            </a:extLst>
          </p:cNvPr>
          <p:cNvSpPr/>
          <p:nvPr/>
        </p:nvSpPr>
        <p:spPr>
          <a:xfrm>
            <a:off x="1984630" y="5023271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6"/>
            </a:pPr>
            <a:r>
              <a:rPr lang="es-CL" sz="1200" dirty="0"/>
              <a:t>Desde la pestaña Proyecciones, el estudiante podrá cargar a la planificación una asignatura y/o un NRC(si hubiere programación académica) de las asignaturas que le fueran proyectadas; o…</a:t>
            </a:r>
            <a:endParaRPr lang="es-ES_tradnl" sz="12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795F070-403C-B743-AD77-6B8FBFE39059}"/>
              </a:ext>
            </a:extLst>
          </p:cNvPr>
          <p:cNvSpPr/>
          <p:nvPr/>
        </p:nvSpPr>
        <p:spPr>
          <a:xfrm>
            <a:off x="7478995" y="2218944"/>
            <a:ext cx="2945165" cy="162153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7EBE9EEA-8E2E-911A-15F6-159B50D399CD}"/>
              </a:ext>
            </a:extLst>
          </p:cNvPr>
          <p:cNvSpPr/>
          <p:nvPr/>
        </p:nvSpPr>
        <p:spPr>
          <a:xfrm>
            <a:off x="7141520" y="2058130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6</a:t>
            </a:r>
            <a:endParaRPr lang="es-419" sz="1100" noProof="0" dirty="0"/>
          </a:p>
        </p:txBody>
      </p:sp>
    </p:spTree>
    <p:extLst>
      <p:ext uri="{BB962C8B-B14F-4D97-AF65-F5344CB8AC3E}">
        <p14:creationId xmlns:p14="http://schemas.microsoft.com/office/powerpoint/2010/main" val="326945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32388-D03A-211B-FD2C-142B5CF5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543831D-AFC6-8A7C-4D66-9C1480633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2" y="976922"/>
            <a:ext cx="10850964" cy="4766819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EDCB1F62-6F0A-3101-A0C3-2D828AE5234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7D4787C6-D317-21DC-53BC-E4FFB2A04F39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B3DF200-5A90-C414-5529-344FFB5D7363}"/>
              </a:ext>
            </a:extLst>
          </p:cNvPr>
          <p:cNvSpPr/>
          <p:nvPr/>
        </p:nvSpPr>
        <p:spPr>
          <a:xfrm>
            <a:off x="2270380" y="4613889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7"/>
            </a:pPr>
            <a:r>
              <a:rPr lang="es-CL" sz="1200" dirty="0"/>
              <a:t>Desde la pestaña Encontrar clases puede realizar una búsqueda de una asignatura e incorporarla en su plan.</a:t>
            </a:r>
            <a:endParaRPr lang="es-ES_tradnl" sz="12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A045652-9F96-AAC6-6C1C-F04E4F32E787}"/>
              </a:ext>
            </a:extLst>
          </p:cNvPr>
          <p:cNvSpPr/>
          <p:nvPr/>
        </p:nvSpPr>
        <p:spPr>
          <a:xfrm>
            <a:off x="768012" y="1738794"/>
            <a:ext cx="4547700" cy="211387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5825ADF4-FC53-9BA5-77A8-DEFFA4AF97E7}"/>
              </a:ext>
            </a:extLst>
          </p:cNvPr>
          <p:cNvSpPr/>
          <p:nvPr/>
        </p:nvSpPr>
        <p:spPr>
          <a:xfrm>
            <a:off x="5474123" y="1754322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7</a:t>
            </a:r>
            <a:endParaRPr lang="es-419" sz="1100" noProof="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3118C34-4FB0-D8D5-7B04-FE3044D7A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712" y="2016470"/>
            <a:ext cx="6108276" cy="13212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544E040-A401-E0CE-AD4A-9050657694AB}"/>
              </a:ext>
            </a:extLst>
          </p:cNvPr>
          <p:cNvCxnSpPr/>
          <p:nvPr/>
        </p:nvCxnSpPr>
        <p:spPr>
          <a:xfrm flipV="1">
            <a:off x="2694432" y="2279904"/>
            <a:ext cx="2779691" cy="926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2461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CEC7A-9192-6A21-AA41-209577387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1CD2940-D890-CD9C-033B-8D2EB1824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2" y="952815"/>
            <a:ext cx="10850964" cy="474942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54C1CE50-5CA5-8566-FAAE-5C7D799ED70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CEA7C382-20D6-6205-E67D-0B26F5BFE021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997F9CF-352E-7AA7-4579-5076B1EEFD84}"/>
              </a:ext>
            </a:extLst>
          </p:cNvPr>
          <p:cNvSpPr/>
          <p:nvPr/>
        </p:nvSpPr>
        <p:spPr>
          <a:xfrm>
            <a:off x="2346495" y="3931166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8"/>
            </a:pPr>
            <a:r>
              <a:rPr lang="es-419" sz="1200" dirty="0"/>
              <a:t>Al presionar el botón ‘agregar curso’ el estudiante estaría cargando a su planificación la asignatura como tal</a:t>
            </a:r>
            <a:endParaRPr lang="es-ES_tradnl" sz="12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67B6522-D682-648F-9443-4E6513CBA1D6}"/>
              </a:ext>
            </a:extLst>
          </p:cNvPr>
          <p:cNvSpPr/>
          <p:nvPr/>
        </p:nvSpPr>
        <p:spPr>
          <a:xfrm>
            <a:off x="9229725" y="2495550"/>
            <a:ext cx="695325" cy="25717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33D4AC8C-760F-92B1-B55C-98772F23F15B}"/>
              </a:ext>
            </a:extLst>
          </p:cNvPr>
          <p:cNvSpPr/>
          <p:nvPr/>
        </p:nvSpPr>
        <p:spPr>
          <a:xfrm>
            <a:off x="8892250" y="2495550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8</a:t>
            </a:r>
            <a:endParaRPr lang="es-419" sz="1100" noProof="0" dirty="0"/>
          </a:p>
        </p:txBody>
      </p:sp>
    </p:spTree>
    <p:extLst>
      <p:ext uri="{BB962C8B-B14F-4D97-AF65-F5344CB8AC3E}">
        <p14:creationId xmlns:p14="http://schemas.microsoft.com/office/powerpoint/2010/main" val="4280533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17B2C-54FF-4B31-21D6-EE72D543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DA839AF-304E-BB84-9078-472244DE5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952816"/>
            <a:ext cx="10804592" cy="474942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7A6D1591-634B-E926-8311-91B2DF2BFD1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FEE15F33-4CA4-9A98-C93D-9B701FCFEC76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32D3BA1-670A-B607-E3FE-3BBA5FAD40FB}"/>
              </a:ext>
            </a:extLst>
          </p:cNvPr>
          <p:cNvSpPr/>
          <p:nvPr/>
        </p:nvSpPr>
        <p:spPr>
          <a:xfrm>
            <a:off x="1931967" y="2246923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9"/>
            </a:pPr>
            <a:r>
              <a:rPr lang="es-419" sz="1200" dirty="0"/>
              <a:t>Tras haber cargado la asignatura, se podrá ver en la sección inferior derecha que esta asignatura aún se encontraría pendiente por planificar.</a:t>
            </a:r>
          </a:p>
          <a:p>
            <a:pPr marL="228600" indent="-228600">
              <a:buFont typeface="+mj-lt"/>
              <a:buAutoNum type="arabicPeriod" startAt="9"/>
            </a:pPr>
            <a:r>
              <a:rPr lang="es-419" sz="1200" dirty="0"/>
              <a:t>También puede eliminar una asignatura que haya agregado al plan.</a:t>
            </a:r>
            <a:endParaRPr lang="es-ES_tradnl" sz="12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0275F10-BEE3-C6D8-77C0-414F531C81EA}"/>
              </a:ext>
            </a:extLst>
          </p:cNvPr>
          <p:cNvSpPr/>
          <p:nvPr/>
        </p:nvSpPr>
        <p:spPr>
          <a:xfrm>
            <a:off x="6267069" y="4243563"/>
            <a:ext cx="5193411" cy="23090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CB0B6469-0471-D3ED-B12B-81F5D7323789}"/>
              </a:ext>
            </a:extLst>
          </p:cNvPr>
          <p:cNvSpPr/>
          <p:nvPr/>
        </p:nvSpPr>
        <p:spPr>
          <a:xfrm>
            <a:off x="5893018" y="4055374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9</a:t>
            </a:r>
            <a:endParaRPr lang="es-419" sz="1100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E021875-4450-0504-68CC-8B553CA04AE0}"/>
              </a:ext>
            </a:extLst>
          </p:cNvPr>
          <p:cNvSpPr/>
          <p:nvPr/>
        </p:nvSpPr>
        <p:spPr>
          <a:xfrm>
            <a:off x="10247757" y="4511495"/>
            <a:ext cx="469011" cy="59359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9B6A90AA-FB71-F973-B44D-7C7E781F7B5E}"/>
              </a:ext>
            </a:extLst>
          </p:cNvPr>
          <p:cNvSpPr/>
          <p:nvPr/>
        </p:nvSpPr>
        <p:spPr>
          <a:xfrm>
            <a:off x="10715532" y="4972899"/>
            <a:ext cx="469010" cy="1692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49346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09C4-7C4F-1F29-4665-A510DE618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0D5E7B6-4761-56A6-7099-3C11C7DB0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995523"/>
            <a:ext cx="10804592" cy="4729965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46218556-5AA0-3C1E-6876-8C978831A5A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25A47DB0-B3E6-1777-B4D3-3A1529A89947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8CAB5B6-5B46-5FF6-BB47-E695F04898DC}"/>
              </a:ext>
            </a:extLst>
          </p:cNvPr>
          <p:cNvSpPr/>
          <p:nvPr/>
        </p:nvSpPr>
        <p:spPr>
          <a:xfrm>
            <a:off x="1980735" y="4979195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11"/>
            </a:pPr>
            <a:r>
              <a:rPr lang="es-419" sz="1200" dirty="0"/>
              <a:t>Cargadas las asignaturas y/o NRC que el estudiante desee dejar determinados en la planificación, se debe seleccionar el botón ‘guardar plan’ para concretar la planificación.</a:t>
            </a:r>
            <a:endParaRPr lang="es-ES_tradnl" sz="12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77DB4B-41B6-E002-8D60-DFB6261FF4EF}"/>
              </a:ext>
            </a:extLst>
          </p:cNvPr>
          <p:cNvSpPr/>
          <p:nvPr/>
        </p:nvSpPr>
        <p:spPr>
          <a:xfrm>
            <a:off x="10850880" y="5484997"/>
            <a:ext cx="789245" cy="26487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45F61E7E-A5EA-A8D9-0938-F4D28D8C099D}"/>
              </a:ext>
            </a:extLst>
          </p:cNvPr>
          <p:cNvSpPr/>
          <p:nvPr/>
        </p:nvSpPr>
        <p:spPr>
          <a:xfrm>
            <a:off x="10369678" y="5315778"/>
            <a:ext cx="469010" cy="1692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1871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AB756-54D9-B635-375D-BA2C8B63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BC165A7-03A9-722E-7455-0822F1D99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995523"/>
            <a:ext cx="10804592" cy="4729965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473A5860-8540-4212-DC56-9BD68AEF4F9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5DDBA779-217C-58E5-B284-52B98C1F4CC9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A4052E5-DD88-CABA-29EE-A4638936DBD3}"/>
              </a:ext>
            </a:extLst>
          </p:cNvPr>
          <p:cNvSpPr/>
          <p:nvPr/>
        </p:nvSpPr>
        <p:spPr>
          <a:xfrm>
            <a:off x="1980735" y="4979195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11"/>
            </a:pPr>
            <a:r>
              <a:rPr lang="es-419" sz="1200" dirty="0"/>
              <a:t>Cargadas las asignaturas y/o NRC que el estudiante desee dejar determinados en la planificación, se debe seleccionar el botón ‘guardar plan’ para concretar la planificación.</a:t>
            </a:r>
            <a:endParaRPr lang="es-ES_tradnl" sz="12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C5490CF-25BD-55DA-022A-9BDF52F32FB9}"/>
              </a:ext>
            </a:extLst>
          </p:cNvPr>
          <p:cNvSpPr/>
          <p:nvPr/>
        </p:nvSpPr>
        <p:spPr>
          <a:xfrm>
            <a:off x="10850880" y="5484997"/>
            <a:ext cx="789245" cy="26487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5FE9AF60-EF02-A1A5-5D3C-341A2D4E5D01}"/>
              </a:ext>
            </a:extLst>
          </p:cNvPr>
          <p:cNvSpPr/>
          <p:nvPr/>
        </p:nvSpPr>
        <p:spPr>
          <a:xfrm>
            <a:off x="10369678" y="5315778"/>
            <a:ext cx="469010" cy="1692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83639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9E167-E45C-8662-1E9C-417484B7B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76E8FCE-6921-15DD-A068-5FB81F409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995523"/>
            <a:ext cx="10882632" cy="475435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F2B75701-1953-9C7E-7907-4CECA1C83AE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EB83DE0F-1A95-5134-6E85-3F8D1C03F6D4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A02FE92-3E0C-72FB-1F55-8A7FF0EA4A6C}"/>
              </a:ext>
            </a:extLst>
          </p:cNvPr>
          <p:cNvSpPr/>
          <p:nvPr/>
        </p:nvSpPr>
        <p:spPr>
          <a:xfrm>
            <a:off x="2200191" y="5146559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12"/>
            </a:pPr>
            <a:r>
              <a:rPr lang="es-CL" sz="1200" dirty="0"/>
              <a:t>En una ventana emergente se solicitará darle un nombre a la planificación realizada, </a:t>
            </a:r>
          </a:p>
          <a:p>
            <a:pPr marL="228600" indent="-228600">
              <a:buFont typeface="+mj-lt"/>
              <a:buAutoNum type="arabicPeriod" startAt="12"/>
            </a:pPr>
            <a:r>
              <a:rPr lang="es-CL" sz="1200" dirty="0"/>
              <a:t>Posteriormente debe presionar el botón ‘Guardar’</a:t>
            </a:r>
            <a:r>
              <a:rPr lang="es-419" sz="1200" dirty="0"/>
              <a:t>.</a:t>
            </a:r>
            <a:endParaRPr lang="es-ES_tradnl" sz="12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BB5B089-F8B3-9275-7736-2D8B1972AEF8}"/>
              </a:ext>
            </a:extLst>
          </p:cNvPr>
          <p:cNvSpPr/>
          <p:nvPr/>
        </p:nvSpPr>
        <p:spPr>
          <a:xfrm>
            <a:off x="5510784" y="3575102"/>
            <a:ext cx="1377696" cy="20441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CE211126-309A-B3BF-5176-C7D7E6D2853C}"/>
              </a:ext>
            </a:extLst>
          </p:cNvPr>
          <p:cNvSpPr/>
          <p:nvPr/>
        </p:nvSpPr>
        <p:spPr>
          <a:xfrm>
            <a:off x="5013771" y="3538526"/>
            <a:ext cx="469010" cy="1692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66D617B-70A4-31F3-FD5D-F5CC819EE8C9}"/>
              </a:ext>
            </a:extLst>
          </p:cNvPr>
          <p:cNvSpPr/>
          <p:nvPr/>
        </p:nvSpPr>
        <p:spPr>
          <a:xfrm>
            <a:off x="6717792" y="3925824"/>
            <a:ext cx="365760" cy="20441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3DCD2251-A870-F178-39EF-B5C8D7F77A66}"/>
              </a:ext>
            </a:extLst>
          </p:cNvPr>
          <p:cNvSpPr/>
          <p:nvPr/>
        </p:nvSpPr>
        <p:spPr>
          <a:xfrm>
            <a:off x="7095744" y="3961023"/>
            <a:ext cx="469010" cy="1692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  <a:r>
              <a:rPr lang="es-419" sz="1100" dirty="0"/>
              <a:t>3</a:t>
            </a:r>
            <a:endParaRPr lang="es-419" sz="1100" noProof="0" dirty="0"/>
          </a:p>
        </p:txBody>
      </p:sp>
    </p:spTree>
    <p:extLst>
      <p:ext uri="{BB962C8B-B14F-4D97-AF65-F5344CB8AC3E}">
        <p14:creationId xmlns:p14="http://schemas.microsoft.com/office/powerpoint/2010/main" val="2385605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49438-7AA5-81EA-AB30-D1B0DE4F2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3B699B3-8BFD-92C1-1290-CDE9F5B1A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995523"/>
            <a:ext cx="10937877" cy="4784465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3158C5AB-F54A-4688-AA4D-1ECA4D85836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DC83E469-DFB0-5726-2A19-B60970642548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7713CAC-207A-9083-3FC0-6675799995C0}"/>
              </a:ext>
            </a:extLst>
          </p:cNvPr>
          <p:cNvSpPr/>
          <p:nvPr/>
        </p:nvSpPr>
        <p:spPr>
          <a:xfrm>
            <a:off x="2200191" y="5146559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14"/>
            </a:pPr>
            <a:r>
              <a:rPr lang="es-419" sz="1200" dirty="0"/>
              <a:t>Cargada la planificación podrá visualizarse en el campo Estatus de las asignaturas y/o </a:t>
            </a:r>
            <a:r>
              <a:rPr lang="es-419" sz="1200" dirty="0" err="1"/>
              <a:t>NRCs</a:t>
            </a:r>
            <a:r>
              <a:rPr lang="es-419" sz="1200" dirty="0"/>
              <a:t> planificados el estado ‘Planificado’.</a:t>
            </a:r>
            <a:endParaRPr lang="es-ES_tradnl" sz="12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858E6E-6964-C363-4C41-6CCBA7CF0C16}"/>
              </a:ext>
            </a:extLst>
          </p:cNvPr>
          <p:cNvSpPr/>
          <p:nvPr/>
        </p:nvSpPr>
        <p:spPr>
          <a:xfrm>
            <a:off x="9363456" y="4331773"/>
            <a:ext cx="950976" cy="43661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2FE0CD8F-C33D-BDCC-2BBD-B7850F1EF162}"/>
              </a:ext>
            </a:extLst>
          </p:cNvPr>
          <p:cNvSpPr/>
          <p:nvPr/>
        </p:nvSpPr>
        <p:spPr>
          <a:xfrm>
            <a:off x="10318879" y="4247163"/>
            <a:ext cx="469010" cy="1692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854394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DEB43-263A-4F53-BE9B-75796789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12F8A94-9AA5-DD05-0EBD-26B2C3CC3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2" y="1025410"/>
            <a:ext cx="10937877" cy="480718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E7800366-9B52-6EC4-97BF-EFD671E29F0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981C06B4-C559-4006-70E0-79A2FA12E66A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CCE0012-9EE0-1294-8574-4113A24F5C81}"/>
              </a:ext>
            </a:extLst>
          </p:cNvPr>
          <p:cNvSpPr/>
          <p:nvPr/>
        </p:nvSpPr>
        <p:spPr>
          <a:xfrm>
            <a:off x="1858815" y="4293119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15"/>
            </a:pPr>
            <a:r>
              <a:rPr lang="es-419" sz="1200" dirty="0"/>
              <a:t>Al volver a la página Seleccionar Plan, se muestra el plan guardado y permite al estudiante crear un nuevo plan (dependiendo de la cantidad de planes que se tiene configurado permitir al estudiante)</a:t>
            </a:r>
            <a:endParaRPr lang="es-ES_tradnl" sz="12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91C725D-9744-7887-BEB9-C109E76440DF}"/>
              </a:ext>
            </a:extLst>
          </p:cNvPr>
          <p:cNvSpPr/>
          <p:nvPr/>
        </p:nvSpPr>
        <p:spPr>
          <a:xfrm>
            <a:off x="2889504" y="1236553"/>
            <a:ext cx="950976" cy="21429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8CAE2C6F-16FC-E70D-3814-A7116F147BC2}"/>
              </a:ext>
            </a:extLst>
          </p:cNvPr>
          <p:cNvSpPr/>
          <p:nvPr/>
        </p:nvSpPr>
        <p:spPr>
          <a:xfrm>
            <a:off x="3942865" y="1136138"/>
            <a:ext cx="469010" cy="1692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48645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5D992-D7A6-637C-6814-242A1168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533C44-10B5-DE4B-0D63-ED7D231E7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2" y="1025410"/>
            <a:ext cx="10937877" cy="480718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80965CD2-5944-69FD-BC07-C8D56562295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2A987685-0E6D-B29C-8219-AE19AD241CFE}"/>
              </a:ext>
            </a:extLst>
          </p:cNvPr>
          <p:cNvSpPr txBox="1">
            <a:spLocks/>
          </p:cNvSpPr>
          <p:nvPr/>
        </p:nvSpPr>
        <p:spPr>
          <a:xfrm>
            <a:off x="946491" y="32219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tx2"/>
                </a:solidFill>
              </a:rPr>
              <a:t>Creación de un Plan</a:t>
            </a:r>
            <a:endParaRPr lang="es-ES_tradnl" b="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85AE801-42A0-A2C7-E614-021CE043A26D}"/>
              </a:ext>
            </a:extLst>
          </p:cNvPr>
          <p:cNvSpPr/>
          <p:nvPr/>
        </p:nvSpPr>
        <p:spPr>
          <a:xfrm>
            <a:off x="1858815" y="4293119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16"/>
            </a:pPr>
            <a:r>
              <a:rPr lang="es-419" sz="1200" dirty="0"/>
              <a:t>El estudiante puede editar o eliminar un  plan creado mediante los botones correspondientes.</a:t>
            </a:r>
            <a:endParaRPr lang="es-ES_tradnl" sz="12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8EADEE1-C16F-E5FE-C9BC-401A4C906FF1}"/>
              </a:ext>
            </a:extLst>
          </p:cNvPr>
          <p:cNvSpPr/>
          <p:nvPr/>
        </p:nvSpPr>
        <p:spPr>
          <a:xfrm>
            <a:off x="10473012" y="2649784"/>
            <a:ext cx="1085004" cy="31287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0681B529-1B5A-63C0-D27B-48AD25F5A0F0}"/>
              </a:ext>
            </a:extLst>
          </p:cNvPr>
          <p:cNvSpPr/>
          <p:nvPr/>
        </p:nvSpPr>
        <p:spPr>
          <a:xfrm>
            <a:off x="9916945" y="2503105"/>
            <a:ext cx="469010" cy="1692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271602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BE864-BA42-04FD-DCF4-D603871C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3726DA-B7B7-7BFA-06DA-A6E4F9EE8A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CL" dirty="0"/>
              <a:t>Visualización de los planes en la Inscripción</a:t>
            </a:r>
            <a:endParaRPr lang="es-419" dirty="0"/>
          </a:p>
        </p:txBody>
      </p:sp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FF68C03D-674C-6F98-FECB-327DE8FDFD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950715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B7D6-C53B-3B63-FCA6-406E9C4C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C752F2F-D9B7-4162-B673-883299AB9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37" y="970933"/>
            <a:ext cx="10233804" cy="4916132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78BE3C67-C58F-82B3-90EB-65C2089CE01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4BC9E2C-9421-B060-CABD-ACC623CC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91" y="322193"/>
            <a:ext cx="10477497" cy="898555"/>
          </a:xfrm>
        </p:spPr>
        <p:txBody>
          <a:bodyPr/>
          <a:lstStyle/>
          <a:p>
            <a:r>
              <a:rPr lang="es-419" dirty="0">
                <a:solidFill>
                  <a:schemeClr val="tx2"/>
                </a:solidFill>
              </a:rPr>
              <a:t>Visualización de los planes en la Inscripción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0710F6A-97FB-B570-18CD-58110D0E790A}"/>
              </a:ext>
            </a:extLst>
          </p:cNvPr>
          <p:cNvSpPr/>
          <p:nvPr/>
        </p:nvSpPr>
        <p:spPr>
          <a:xfrm>
            <a:off x="1750156" y="4353666"/>
            <a:ext cx="7443648" cy="898555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L" sz="1200" dirty="0"/>
              <a:t>Para realizar la inscripción de asignaturas o NRC por planificación, el estudiante debe ingresar por su portal de autoservicio y seleccionar la tarjeta de “Abrir el tablero de Inscripciones”</a:t>
            </a:r>
          </a:p>
        </p:txBody>
      </p:sp>
    </p:spTree>
    <p:extLst>
      <p:ext uri="{BB962C8B-B14F-4D97-AF65-F5344CB8AC3E}">
        <p14:creationId xmlns:p14="http://schemas.microsoft.com/office/powerpoint/2010/main" val="39691036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D3FE4-1184-0154-2BF9-835FAD24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5104680-9D41-6B27-A9FB-63B1F635B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91" y="1187075"/>
            <a:ext cx="10684677" cy="466119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CA810972-EA1B-F954-B6A7-2BBFFC1833A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7361549-007C-BEE5-7161-74C4C6D32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91" y="322193"/>
            <a:ext cx="10477497" cy="898555"/>
          </a:xfrm>
        </p:spPr>
        <p:txBody>
          <a:bodyPr/>
          <a:lstStyle/>
          <a:p>
            <a:r>
              <a:rPr lang="es-419" dirty="0">
                <a:solidFill>
                  <a:schemeClr val="tx2"/>
                </a:solidFill>
              </a:rPr>
              <a:t>Visualización de los planes en la Inscripción</a:t>
            </a:r>
            <a:endParaRPr lang="es-ES_tradnl" b="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3FE3545-9867-DA0E-67DA-DE4063777935}"/>
              </a:ext>
            </a:extLst>
          </p:cNvPr>
          <p:cNvSpPr/>
          <p:nvPr/>
        </p:nvSpPr>
        <p:spPr>
          <a:xfrm>
            <a:off x="2435734" y="3535847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CL" sz="1200" dirty="0"/>
              <a:t>Después se debe ingresar a la opción ‘inscribirse a clases’</a:t>
            </a:r>
            <a:endParaRPr lang="es-ES_tradnl" sz="12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251053F-F67E-8A80-CF00-EA1AFA3D2D21}"/>
              </a:ext>
            </a:extLst>
          </p:cNvPr>
          <p:cNvSpPr/>
          <p:nvPr/>
        </p:nvSpPr>
        <p:spPr>
          <a:xfrm>
            <a:off x="5451087" y="1928103"/>
            <a:ext cx="2741937" cy="45019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2C6F5073-F113-4512-F65B-5E16BB4217C1}"/>
              </a:ext>
            </a:extLst>
          </p:cNvPr>
          <p:cNvSpPr/>
          <p:nvPr/>
        </p:nvSpPr>
        <p:spPr>
          <a:xfrm>
            <a:off x="8271644" y="2235032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85784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75662-3B92-8D43-8158-B6D01C7DD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33131E3-05B7-A631-C485-557F4F3E8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91" y="950921"/>
            <a:ext cx="10994826" cy="4956156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4C5D352B-5A6B-6D74-57C5-660A8A258B0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CD505BA-C95D-FC8E-F5C6-42EFE3C31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91" y="322193"/>
            <a:ext cx="10477497" cy="898555"/>
          </a:xfrm>
        </p:spPr>
        <p:txBody>
          <a:bodyPr/>
          <a:lstStyle/>
          <a:p>
            <a:r>
              <a:rPr lang="es-419" dirty="0">
                <a:solidFill>
                  <a:schemeClr val="tx2"/>
                </a:solidFill>
              </a:rPr>
              <a:t>Visualización de los planes en la Inscripción</a:t>
            </a:r>
            <a:endParaRPr lang="es-ES_tradnl" b="0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A6429FF-2067-D083-341A-3CF3397EB649}"/>
              </a:ext>
            </a:extLst>
          </p:cNvPr>
          <p:cNvSpPr/>
          <p:nvPr/>
        </p:nvSpPr>
        <p:spPr>
          <a:xfrm>
            <a:off x="2435734" y="3535847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2"/>
            </a:pPr>
            <a:r>
              <a:rPr lang="es-CL" sz="1200" dirty="0"/>
              <a:t>El estudiante debe seleccionar el Período para inscribirse</a:t>
            </a:r>
          </a:p>
          <a:p>
            <a:pPr marL="228600" indent="-228600">
              <a:buFont typeface="+mj-lt"/>
              <a:buAutoNum type="arabicPeriod" startAt="2"/>
            </a:pPr>
            <a:r>
              <a:rPr lang="es-CL" sz="1200" dirty="0"/>
              <a:t>Seleccionará, también, el Plan de estudios para el que desea inscribirse.</a:t>
            </a:r>
          </a:p>
          <a:p>
            <a:pPr marL="228600" indent="-228600">
              <a:buFont typeface="+mj-lt"/>
              <a:buAutoNum type="arabicPeriod" startAt="2"/>
            </a:pPr>
            <a:r>
              <a:rPr lang="es-CL" sz="1200" dirty="0"/>
              <a:t>Presione el botón Continuar</a:t>
            </a:r>
            <a:endParaRPr lang="es-ES_tradnl" sz="12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8A2C51-E032-C65C-BD60-3B6405479E3F}"/>
              </a:ext>
            </a:extLst>
          </p:cNvPr>
          <p:cNvSpPr/>
          <p:nvPr/>
        </p:nvSpPr>
        <p:spPr>
          <a:xfrm>
            <a:off x="1064765" y="2080621"/>
            <a:ext cx="1702819" cy="19775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6B19EAE3-CD12-FF61-62CB-105F05A481F2}"/>
              </a:ext>
            </a:extLst>
          </p:cNvPr>
          <p:cNvSpPr/>
          <p:nvPr/>
        </p:nvSpPr>
        <p:spPr>
          <a:xfrm>
            <a:off x="2846204" y="1878294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2</a:t>
            </a:r>
            <a:endParaRPr lang="es-419" sz="1100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8267155-DC71-8D11-0E57-E3184C8ACCEA}"/>
              </a:ext>
            </a:extLst>
          </p:cNvPr>
          <p:cNvSpPr/>
          <p:nvPr/>
        </p:nvSpPr>
        <p:spPr>
          <a:xfrm>
            <a:off x="1064765" y="2368927"/>
            <a:ext cx="1702819" cy="19775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7A6C8DDD-3B59-242D-C825-EC07A24382FE}"/>
              </a:ext>
            </a:extLst>
          </p:cNvPr>
          <p:cNvSpPr/>
          <p:nvPr/>
        </p:nvSpPr>
        <p:spPr>
          <a:xfrm>
            <a:off x="2767584" y="2616247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3</a:t>
            </a:r>
            <a:endParaRPr lang="es-419" sz="1100" noProof="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EB6FFA3-2379-52DD-EBB8-55F92F613FB8}"/>
              </a:ext>
            </a:extLst>
          </p:cNvPr>
          <p:cNvSpPr/>
          <p:nvPr/>
        </p:nvSpPr>
        <p:spPr>
          <a:xfrm>
            <a:off x="1064765" y="2616247"/>
            <a:ext cx="654307" cy="22463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61DED349-601E-A10B-15AF-F142614C8C4E}"/>
              </a:ext>
            </a:extLst>
          </p:cNvPr>
          <p:cNvSpPr/>
          <p:nvPr/>
        </p:nvSpPr>
        <p:spPr>
          <a:xfrm>
            <a:off x="1626796" y="2890449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4</a:t>
            </a:r>
            <a:endParaRPr lang="es-419" sz="1100" noProof="0" dirty="0"/>
          </a:p>
        </p:txBody>
      </p:sp>
    </p:spTree>
    <p:extLst>
      <p:ext uri="{BB962C8B-B14F-4D97-AF65-F5344CB8AC3E}">
        <p14:creationId xmlns:p14="http://schemas.microsoft.com/office/powerpoint/2010/main" val="3365859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D025C-9222-8362-37A5-14C65DC4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1028B14-44CD-7D4F-4255-F814AE781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1190344"/>
            <a:ext cx="11518879" cy="435685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D731ABA7-9C95-73E3-CEE9-40E7C774FCA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4B770D7-2A75-252E-050F-E843CDBD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91" y="322193"/>
            <a:ext cx="10477497" cy="898555"/>
          </a:xfrm>
        </p:spPr>
        <p:txBody>
          <a:bodyPr/>
          <a:lstStyle/>
          <a:p>
            <a:r>
              <a:rPr lang="es-419" dirty="0">
                <a:solidFill>
                  <a:schemeClr val="tx2"/>
                </a:solidFill>
              </a:rPr>
              <a:t>Visualización de los planes en la Inscripción</a:t>
            </a:r>
            <a:endParaRPr lang="es-ES_tradnl" b="0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8F2ECFE-FFD7-C3BC-AD58-32FA8ACD6543}"/>
              </a:ext>
            </a:extLst>
          </p:cNvPr>
          <p:cNvSpPr/>
          <p:nvPr/>
        </p:nvSpPr>
        <p:spPr>
          <a:xfrm>
            <a:off x="2346495" y="4535591"/>
            <a:ext cx="7499010" cy="101160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5"/>
            </a:pPr>
            <a:r>
              <a:rPr lang="es-CL" sz="1200" dirty="0"/>
              <a:t>Haga clic sobre la pestaña Planes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es-CL" sz="1200" dirty="0"/>
              <a:t>El alumno visualizará los planes creados para el período.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es-CL" sz="1200" dirty="0"/>
              <a:t>El estudiante podrá ver las secciones programadas para cada una de las asignaturas del Plan y proceder con su inscripción (se profundiza en el instructivo correspondiente el procedimiento de inscripción de los cursos)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7E3D16C-4113-FD26-30F2-86A0D3724B75}"/>
              </a:ext>
            </a:extLst>
          </p:cNvPr>
          <p:cNvSpPr/>
          <p:nvPr/>
        </p:nvSpPr>
        <p:spPr>
          <a:xfrm>
            <a:off x="1961646" y="2023288"/>
            <a:ext cx="541005" cy="19775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C100923F-EB8F-2D36-7632-88B11AE7BABA}"/>
              </a:ext>
            </a:extLst>
          </p:cNvPr>
          <p:cNvSpPr/>
          <p:nvPr/>
        </p:nvSpPr>
        <p:spPr>
          <a:xfrm>
            <a:off x="2613290" y="2057577"/>
            <a:ext cx="258270" cy="1608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3F02529-2250-A2AB-B075-32895D15CBB0}"/>
              </a:ext>
            </a:extLst>
          </p:cNvPr>
          <p:cNvSpPr/>
          <p:nvPr/>
        </p:nvSpPr>
        <p:spPr>
          <a:xfrm>
            <a:off x="656183" y="2218391"/>
            <a:ext cx="11394919" cy="224146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7961759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41657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3C2015-A460-6564-40B9-53C704EFA9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8E4C1-9AF7-B674-6405-FEF5273E1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DF83D1A-9176-3D7C-CD96-239DA98452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419" sz="2000" dirty="0"/>
              <a:t>Ellucian Student permite que el estudiante pueda realizar la planificación de las asignaturas y/o NRC que desea inscribir para un determinado periodo académico. Este acto puede ser realizado de forma anticipada al rango de tiempo asociado a la inscripción de asignaturas.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419" sz="2000" dirty="0"/>
              <a:t>La planificación puede ser realizada a nivel de asignaturas y/o a nivel de NRC, donde el estudiante pudiera planificar tantos planes de estudios como haya sido definido en SOATERM (campo: </a:t>
            </a:r>
            <a:r>
              <a:rPr lang="es-ES_tradnl" sz="2000" dirty="0"/>
              <a:t>Planes máximos para periodo).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ES_tradnl" sz="2000" dirty="0"/>
              <a:t>El uso de la planificación representa una optimización al proceso de inscripción de asignaturas del estudiante y un insumo para el ajuste a la programación académica en función a la demanda de NRC y asignaturas que pudieran expresar los estudiantes por este mecanismo.</a:t>
            </a:r>
            <a:endParaRPr lang="es-419" sz="2000" dirty="0"/>
          </a:p>
        </p:txBody>
      </p:sp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531010F8-A157-6FCE-8700-83F3CBB352B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planificación de cursos</a:t>
            </a:r>
            <a:endParaRPr lang="es-419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3889D18-1BEE-384B-E8A3-181000AC5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2D97A0A-4F62-74F5-79F4-2DE8E7C38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33012239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dirty="0"/>
              <a:t>Nidia Beltran.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 err="1"/>
              <a:t>Nidia.</a:t>
            </a:r>
            <a:r>
              <a:rPr lang="es-419" err="1"/>
              <a:t>beltrann</a:t>
            </a:r>
            <a:r>
              <a:rPr lang="es-419"/>
              <a:t>@ellucian.com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192274581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A599B5A2-9FB4-43D0-8DD2-7AE7CFBE6EE5}" vid="{5FE6AC23-0F88-4612-B1AD-D84E4AF26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Ellucian_April 2025</Template>
  <TotalTime>12121</TotalTime>
  <Words>1659</Words>
  <Application>Microsoft Office PowerPoint</Application>
  <PresentationFormat>Panorámica</PresentationFormat>
  <Paragraphs>215</Paragraphs>
  <Slides>41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41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Ellucian_April 2025</vt:lpstr>
      <vt:lpstr>Ellucian Blank Layouts</vt:lpstr>
      <vt:lpstr>Presentación de PowerPoint</vt:lpstr>
      <vt:lpstr>Presentación de PowerPoint</vt:lpstr>
      <vt:lpstr>Overview</vt:lpstr>
      <vt:lpstr>Overview: Mapa de capacidades</vt:lpstr>
      <vt:lpstr>Overview: Capacidad operativa Gestionar la inscripción de cursos</vt:lpstr>
      <vt:lpstr>Overview: Capacidad operativa Gestionar la inscripción de cursos</vt:lpstr>
      <vt:lpstr>Presentación de PowerPoint</vt:lpstr>
      <vt:lpstr>Presentación de PowerPoint</vt:lpstr>
      <vt:lpstr>Presentación de PowerPoint</vt:lpstr>
      <vt:lpstr>Presentación de PowerPoint</vt:lpstr>
      <vt:lpstr>CONFIGURACIONES</vt:lpstr>
      <vt:lpstr>Control de periodo (SOATERM) </vt:lpstr>
      <vt:lpstr>Control de periodo (SOATERM) </vt:lpstr>
      <vt:lpstr>Control de periodo (SOATERM) </vt:lpstr>
      <vt:lpstr>Control de periodo (SOATERM) </vt:lpstr>
      <vt:lpstr>Control de periodo (SOATERM) </vt:lpstr>
      <vt:lpstr>Ejecutar la planificación de cursos</vt:lpstr>
      <vt:lpstr>Presentación de PowerPoint</vt:lpstr>
      <vt:lpstr>Creación de un Plan</vt:lpstr>
      <vt:lpstr>Creación de un Plan</vt:lpstr>
      <vt:lpstr>Proceso: Planificación de Asignaturas y/o NRCs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Visualización de los planes en la Inscripción</vt:lpstr>
      <vt:lpstr>Visualización de los planes en la Inscripción</vt:lpstr>
      <vt:lpstr>Visualización de los planes en la Inscripción</vt:lpstr>
      <vt:lpstr>Visualización de los planes en la Inscripción</vt:lpstr>
      <vt:lpstr>RESUMEN</vt:lpstr>
      <vt:lpstr>RESUMEN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Beltran, Nidia</cp:lastModifiedBy>
  <cp:revision>269</cp:revision>
  <dcterms:created xsi:type="dcterms:W3CDTF">2023-07-17T20:07:38Z</dcterms:created>
  <dcterms:modified xsi:type="dcterms:W3CDTF">2026-07-07T02:35:17Z</dcterms:modified>
</cp:coreProperties>
</file>
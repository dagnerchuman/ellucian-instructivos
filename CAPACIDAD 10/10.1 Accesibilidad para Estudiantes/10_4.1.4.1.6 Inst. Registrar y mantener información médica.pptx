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3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  <p:sldMasterId id="2147483771" r:id="rId3"/>
    <p:sldMasterId id="2147483808" r:id="rId4"/>
  </p:sldMasterIdLst>
  <p:notesMasterIdLst>
    <p:notesMasterId r:id="rId31"/>
  </p:notesMasterIdLst>
  <p:sldIdLst>
    <p:sldId id="257" r:id="rId5"/>
    <p:sldId id="423" r:id="rId6"/>
    <p:sldId id="476" r:id="rId7"/>
    <p:sldId id="348" r:id="rId8"/>
    <p:sldId id="1235" r:id="rId9"/>
    <p:sldId id="421" r:id="rId10"/>
    <p:sldId id="352" r:id="rId11"/>
    <p:sldId id="469" r:id="rId12"/>
    <p:sldId id="513" r:id="rId13"/>
    <p:sldId id="1236" r:id="rId14"/>
    <p:sldId id="1237" r:id="rId15"/>
    <p:sldId id="1238" r:id="rId16"/>
    <p:sldId id="1239" r:id="rId17"/>
    <p:sldId id="1240" r:id="rId18"/>
    <p:sldId id="1241" r:id="rId19"/>
    <p:sldId id="485" r:id="rId20"/>
    <p:sldId id="574" r:id="rId21"/>
    <p:sldId id="585" r:id="rId22"/>
    <p:sldId id="1242" r:id="rId23"/>
    <p:sldId id="1243" r:id="rId24"/>
    <p:sldId id="1244" r:id="rId25"/>
    <p:sldId id="1245" r:id="rId26"/>
    <p:sldId id="1247" r:id="rId27"/>
    <p:sldId id="1249" r:id="rId28"/>
    <p:sldId id="1248" r:id="rId29"/>
    <p:sldId id="62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45E"/>
    <a:srgbClr val="68C184"/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F00BBA-9A77-488A-8AAF-E64DFF847627}" v="10" dt="2026-03-18T15:21:54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85893" autoAdjust="0"/>
  </p:normalViewPr>
  <p:slideViewPr>
    <p:cSldViewPr snapToGrid="0">
      <p:cViewPr varScale="1">
        <p:scale>
          <a:sx n="95" d="100"/>
          <a:sy n="95" d="100"/>
        </p:scale>
        <p:origin x="12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45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23-07-2026</a:t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02280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5303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9549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7210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4337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1675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635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8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273860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30126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253562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65554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126366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380531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86222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31168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68802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03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23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664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96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35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85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789786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2065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2075943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668921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271407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357331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76806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333166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09436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354247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23-07-2026</a:t>
            </a:fld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756613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41995718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86875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6773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9903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hank You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03D972-8851-6EE3-D913-3D4C74067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63" y="2368123"/>
            <a:ext cx="7317783" cy="1060877"/>
          </a:xfrm>
        </p:spPr>
        <p:txBody>
          <a:bodyPr lIns="0" tIns="0" rIns="0" bIns="0" anchor="b" anchorCtr="0">
            <a:noAutofit/>
          </a:bodyPr>
          <a:lstStyle>
            <a:lvl1pPr algn="l"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0ADAADE-0CF2-DF2B-3082-1BEAE603B9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7143" y="3730027"/>
            <a:ext cx="6858001" cy="642631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Presenters Name </a:t>
            </a:r>
          </a:p>
          <a:p>
            <a:r>
              <a:rPr lang="en-US" dirty="0" err="1"/>
              <a:t>email@ellucian.com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966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9972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026984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490718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992295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435477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385966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491155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314930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949162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849725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2812508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688394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860349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24117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722376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046385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681770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075849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80190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591755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879955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44452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6708334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778444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84914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0520599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5815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58144093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13747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488344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163222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94170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4513280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71658729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983817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2827438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1831422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47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3070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298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4971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889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3368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14114967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3140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6890402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4514569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5175746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4696210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7991456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9917197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9587697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003869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611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679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9528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5626800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4713595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6539870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923097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058938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7343578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4717630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1864032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356074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2778002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2972743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4624522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484560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7141502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5861251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2508035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3668845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369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image" Target="../media/image1.svg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87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theme" Target="../theme/theme3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89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110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04.xml"/><Relationship Id="rId19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2514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49" r:id="rId38"/>
    <p:sldLayoutId id="2147483750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68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19371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421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  <p:sldLayoutId id="214748382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167179"/>
          </a:xfrm>
        </p:spPr>
        <p:txBody>
          <a:bodyPr/>
          <a:lstStyle/>
          <a:p>
            <a:r>
              <a:rPr lang="es-CL" dirty="0">
                <a:latin typeface="+mj-lt"/>
              </a:rPr>
              <a:t>Registrar y mantener información médica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292452"/>
          </a:xfrm>
        </p:spPr>
        <p:txBody>
          <a:bodyPr/>
          <a:lstStyle/>
          <a:p>
            <a:r>
              <a:rPr lang="es-ES" sz="1800" dirty="0"/>
              <a:t>Instructivo</a:t>
            </a:r>
          </a:p>
        </p:txBody>
      </p:sp>
      <p:pic>
        <p:nvPicPr>
          <p:cNvPr id="9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AF1DC92B-2585-E7B6-19BC-3139FA2C70E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4F8B2E-53B0-980D-D582-B3346DAA3B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385" y="5398769"/>
            <a:ext cx="3032274" cy="194925"/>
          </a:xfrm>
        </p:spPr>
        <p:txBody>
          <a:bodyPr/>
          <a:lstStyle/>
          <a:p>
            <a:r>
              <a:rPr lang="es-CO" dirty="0"/>
              <a:t>Universidad Señor de SIPAN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2A9BCF-2144-2F43-8E4E-363B1798E9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O" dirty="0"/>
              <a:t>Julio, 2026</a:t>
            </a:r>
          </a:p>
        </p:txBody>
      </p:sp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persona natural</a:t>
            </a:r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467789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Registrar y mantener información médica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persona natural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persona natural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s-ES_tradnl" dirty="0"/>
              <a:t>Overview: Mapa de capacidades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CD86584-3813-004E-3696-5BB232753E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3607" r="2974"/>
          <a:stretch>
            <a:fillRect/>
          </a:stretch>
        </p:blipFill>
        <p:spPr bwMode="auto">
          <a:xfrm>
            <a:off x="609601" y="1289303"/>
            <a:ext cx="11225781" cy="45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791E00-6A81-316C-AA90-C0CA3861559B}"/>
              </a:ext>
            </a:extLst>
          </p:cNvPr>
          <p:cNvSpPr/>
          <p:nvPr/>
        </p:nvSpPr>
        <p:spPr>
          <a:xfrm>
            <a:off x="5295480" y="4210259"/>
            <a:ext cx="2652765" cy="69467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31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2622620"/>
            <a:ext cx="9698935" cy="1215850"/>
          </a:xfrm>
        </p:spPr>
        <p:txBody>
          <a:bodyPr anchor="ctr"/>
          <a:lstStyle/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CO" sz="2400" b="1" dirty="0">
                <a:solidFill>
                  <a:srgbClr val="7030A0"/>
                </a:solidFill>
              </a:rPr>
              <a:t> </a:t>
            </a:r>
            <a:r>
              <a:rPr lang="es-419" sz="2400" b="1" dirty="0">
                <a:solidFill>
                  <a:srgbClr val="7030A0"/>
                </a:solidFill>
              </a:rPr>
              <a:t>Gestión de Información médica</a:t>
            </a:r>
          </a:p>
          <a:p>
            <a:pPr marL="0" lvl="0" indent="0">
              <a:buClr>
                <a:srgbClr val="0CB4B4"/>
              </a:buClr>
              <a:buNone/>
            </a:pPr>
            <a:endParaRPr lang="es-CO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persona natural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Capacidad operativa Accesibilidad para Estudiantes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66586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8859" y="66303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Procedimiento Registrar y mantener la información médica</a:t>
            </a:r>
            <a:endParaRPr lang="es-CL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5C6BAF3-C281-8164-0D89-49E658108D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62" y="2462618"/>
            <a:ext cx="10800574" cy="18589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 persona natural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/>
              <a:t>Overview: Proceso </a:t>
            </a:r>
            <a:r>
              <a:rPr lang="es-419" dirty="0"/>
              <a:t>gestionar persona natural</a:t>
            </a:r>
            <a:endParaRPr lang="es-C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CC31F3-27E2-57DE-525A-B969AFFE9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0" y="1175284"/>
            <a:ext cx="5111496" cy="51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persona natural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B53D1DA2-CBBF-9D33-4DA8-D60B78F4A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87" y="1270861"/>
            <a:ext cx="10960413" cy="473499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CO" sz="3000" dirty="0"/>
              <a:t>Validación del código de tipo de discapacidad (STVDISA)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745136" y="3916520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Para crear un nuevo registro que identifique una discapacidad, 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2 caracteres que identificará la discapacidad.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 de la capacidad.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FE591FC-1F56-6926-8C59-8E12749581A4}"/>
              </a:ext>
            </a:extLst>
          </p:cNvPr>
          <p:cNvSpPr/>
          <p:nvPr/>
        </p:nvSpPr>
        <p:spPr>
          <a:xfrm>
            <a:off x="10557708" y="174826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EF30D8D0-BF3C-1B08-03B7-F688E5167AC9}"/>
              </a:ext>
            </a:extLst>
          </p:cNvPr>
          <p:cNvSpPr/>
          <p:nvPr/>
        </p:nvSpPr>
        <p:spPr>
          <a:xfrm>
            <a:off x="2072850" y="2927597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3F203362-AD1C-991F-A8D4-224B8453F416}"/>
              </a:ext>
            </a:extLst>
          </p:cNvPr>
          <p:cNvSpPr/>
          <p:nvPr/>
        </p:nvSpPr>
        <p:spPr>
          <a:xfrm>
            <a:off x="4669140" y="2810997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03BE4630-188A-920B-C1D0-99811120F5DA}"/>
              </a:ext>
            </a:extLst>
          </p:cNvPr>
          <p:cNvSpPr/>
          <p:nvPr/>
        </p:nvSpPr>
        <p:spPr>
          <a:xfrm>
            <a:off x="11028491" y="588764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6F0294-BF44-2872-2F8E-91A0637DC841}"/>
              </a:ext>
            </a:extLst>
          </p:cNvPr>
          <p:cNvSpPr/>
          <p:nvPr/>
        </p:nvSpPr>
        <p:spPr>
          <a:xfrm>
            <a:off x="10927284" y="1597250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B784445-5479-D6FB-447D-00BB7E8685FD}"/>
              </a:ext>
            </a:extLst>
          </p:cNvPr>
          <p:cNvSpPr/>
          <p:nvPr/>
        </p:nvSpPr>
        <p:spPr>
          <a:xfrm>
            <a:off x="2750574" y="2721426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4E97223-3755-C2DD-B506-C71AE6EA1D7C}"/>
              </a:ext>
            </a:extLst>
          </p:cNvPr>
          <p:cNvSpPr/>
          <p:nvPr/>
        </p:nvSpPr>
        <p:spPr>
          <a:xfrm>
            <a:off x="733530" y="2721426"/>
            <a:ext cx="1662136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7C8012-E03F-1C20-4087-D16076DE11EC}"/>
              </a:ext>
            </a:extLst>
          </p:cNvPr>
          <p:cNvSpPr/>
          <p:nvPr/>
        </p:nvSpPr>
        <p:spPr>
          <a:xfrm>
            <a:off x="11334542" y="5812134"/>
            <a:ext cx="536620" cy="15101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2984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F94A-F7FE-789B-E064-83C5F037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8DCC775-9B25-62DC-B26C-04EA32B9C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30" y="1455294"/>
            <a:ext cx="11143334" cy="4730825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9A90241B-EFCB-5415-8091-F60231133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CO" sz="3000" dirty="0"/>
              <a:t>Validación del código de equipo médico (STVMDEQ)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470B506D-4415-722D-2ED6-BCF47F196964}"/>
              </a:ext>
            </a:extLst>
          </p:cNvPr>
          <p:cNvSpPr/>
          <p:nvPr/>
        </p:nvSpPr>
        <p:spPr>
          <a:xfrm>
            <a:off x="745136" y="3916520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Codifique los equipos médicos que puede requerir un estudiante. Para crear un nuevo registro,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3 caracteres que identificará el equipo médico.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B12A4808-5DE0-4500-127D-78407DFA3EC0}"/>
              </a:ext>
            </a:extLst>
          </p:cNvPr>
          <p:cNvSpPr/>
          <p:nvPr/>
        </p:nvSpPr>
        <p:spPr>
          <a:xfrm>
            <a:off x="10557708" y="174826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2F68B63A-017C-4318-75DF-2B4410894ACF}"/>
              </a:ext>
            </a:extLst>
          </p:cNvPr>
          <p:cNvSpPr/>
          <p:nvPr/>
        </p:nvSpPr>
        <p:spPr>
          <a:xfrm>
            <a:off x="2084456" y="3393176"/>
            <a:ext cx="267056" cy="22300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C6C8E583-3CA5-0C47-CC19-107437A99652}"/>
              </a:ext>
            </a:extLst>
          </p:cNvPr>
          <p:cNvSpPr/>
          <p:nvPr/>
        </p:nvSpPr>
        <p:spPr>
          <a:xfrm>
            <a:off x="5840550" y="3195283"/>
            <a:ext cx="267056" cy="22300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33C0ABC3-671D-441D-0DCF-89030DE74612}"/>
              </a:ext>
            </a:extLst>
          </p:cNvPr>
          <p:cNvSpPr/>
          <p:nvPr/>
        </p:nvSpPr>
        <p:spPr>
          <a:xfrm>
            <a:off x="11028491" y="588764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12FB832-D1D4-8CFC-AE9F-A88180B157B6}"/>
              </a:ext>
            </a:extLst>
          </p:cNvPr>
          <p:cNvSpPr/>
          <p:nvPr/>
        </p:nvSpPr>
        <p:spPr>
          <a:xfrm>
            <a:off x="10911079" y="1792069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DCE0735-66E8-0C7B-B9B6-BBF3D02C3ECF}"/>
              </a:ext>
            </a:extLst>
          </p:cNvPr>
          <p:cNvSpPr/>
          <p:nvPr/>
        </p:nvSpPr>
        <p:spPr>
          <a:xfrm>
            <a:off x="3719474" y="3185328"/>
            <a:ext cx="1922544" cy="2230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E6964A4-6CF9-DC6C-65D7-68AD87A07C99}"/>
              </a:ext>
            </a:extLst>
          </p:cNvPr>
          <p:cNvSpPr/>
          <p:nvPr/>
        </p:nvSpPr>
        <p:spPr>
          <a:xfrm>
            <a:off x="745136" y="3183059"/>
            <a:ext cx="1662136" cy="23522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67AF4F-B812-7F43-E533-24D535F504C9}"/>
              </a:ext>
            </a:extLst>
          </p:cNvPr>
          <p:cNvSpPr/>
          <p:nvPr/>
        </p:nvSpPr>
        <p:spPr>
          <a:xfrm>
            <a:off x="11295547" y="6033474"/>
            <a:ext cx="536620" cy="15101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477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BFB9D-138B-C642-1F23-078984B7C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14D000D-440A-41D9-84C4-D787FE245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5" y="1424956"/>
            <a:ext cx="10944295" cy="4705933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01FE19BF-A678-D39F-9A58-332E14068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CO" sz="3000" dirty="0"/>
              <a:t>Validación del código médico (STVMEDI)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D9B3AE80-90D0-1E75-0E9D-C75FAB8241DB}"/>
              </a:ext>
            </a:extLst>
          </p:cNvPr>
          <p:cNvSpPr/>
          <p:nvPr/>
        </p:nvSpPr>
        <p:spPr>
          <a:xfrm>
            <a:off x="745136" y="3916520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Para crear una condición médica que pueda tener un estudiante,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10 caracteres.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D5637FB8-1014-E130-85C1-0E25B98E1B70}"/>
              </a:ext>
            </a:extLst>
          </p:cNvPr>
          <p:cNvSpPr/>
          <p:nvPr/>
        </p:nvSpPr>
        <p:spPr>
          <a:xfrm>
            <a:off x="10557708" y="174826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00EED5B8-40A6-5D9B-569A-EA38272AEF88}"/>
              </a:ext>
            </a:extLst>
          </p:cNvPr>
          <p:cNvSpPr/>
          <p:nvPr/>
        </p:nvSpPr>
        <p:spPr>
          <a:xfrm>
            <a:off x="2472383" y="232419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8B154775-B3E1-159E-8DA2-610B44E2D5FE}"/>
              </a:ext>
            </a:extLst>
          </p:cNvPr>
          <p:cNvSpPr/>
          <p:nvPr/>
        </p:nvSpPr>
        <p:spPr>
          <a:xfrm>
            <a:off x="5863610" y="2359831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DCBC5B89-558B-3F6D-0428-4F703DB8A356}"/>
              </a:ext>
            </a:extLst>
          </p:cNvPr>
          <p:cNvSpPr/>
          <p:nvPr/>
        </p:nvSpPr>
        <p:spPr>
          <a:xfrm>
            <a:off x="11028491" y="588764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D8B9358-EA7A-E6E0-3D14-A083BD0E022C}"/>
              </a:ext>
            </a:extLst>
          </p:cNvPr>
          <p:cNvSpPr/>
          <p:nvPr/>
        </p:nvSpPr>
        <p:spPr>
          <a:xfrm>
            <a:off x="10911079" y="1792069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87640CC-C1FC-9D0F-EF97-7285AB13E243}"/>
              </a:ext>
            </a:extLst>
          </p:cNvPr>
          <p:cNvSpPr/>
          <p:nvPr/>
        </p:nvSpPr>
        <p:spPr>
          <a:xfrm>
            <a:off x="3778207" y="2359832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DC312FF-5723-E711-4722-9F80EE4C65D1}"/>
              </a:ext>
            </a:extLst>
          </p:cNvPr>
          <p:cNvSpPr/>
          <p:nvPr/>
        </p:nvSpPr>
        <p:spPr>
          <a:xfrm>
            <a:off x="810247" y="2355694"/>
            <a:ext cx="1662136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133309-09D1-9596-2DFB-932B473C68E5}"/>
              </a:ext>
            </a:extLst>
          </p:cNvPr>
          <p:cNvSpPr/>
          <p:nvPr/>
        </p:nvSpPr>
        <p:spPr>
          <a:xfrm>
            <a:off x="11295547" y="6033474"/>
            <a:ext cx="536620" cy="15101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7158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F06A5-9D22-D3E7-5F5C-577A18BF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53F6745-AF2E-0694-6655-CF3AD5D4C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32" y="1099991"/>
            <a:ext cx="10901808" cy="4718608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73E1064-3B53-76A3-196E-5488EC3D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85239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CO" sz="3000" dirty="0"/>
              <a:t>Validación de proveedor de servicio (STVSPRV)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2DEE6425-9DF5-5C4D-1477-EF793B18BC8B}"/>
              </a:ext>
            </a:extLst>
          </p:cNvPr>
          <p:cNvSpPr/>
          <p:nvPr/>
        </p:nvSpPr>
        <p:spPr>
          <a:xfrm>
            <a:off x="745136" y="3916520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Para crear una unidad de apoyo al estudiante,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2 caracteres.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42294521-1243-0408-31CF-2CF42828CC9C}"/>
              </a:ext>
            </a:extLst>
          </p:cNvPr>
          <p:cNvSpPr/>
          <p:nvPr/>
        </p:nvSpPr>
        <p:spPr>
          <a:xfrm>
            <a:off x="10526611" y="159983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FD89DD06-994D-470B-CD1F-6AF6FFBCBDF3}"/>
              </a:ext>
            </a:extLst>
          </p:cNvPr>
          <p:cNvSpPr/>
          <p:nvPr/>
        </p:nvSpPr>
        <p:spPr>
          <a:xfrm>
            <a:off x="2472383" y="232419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2C3ACB8D-31F5-A642-469F-9582B76846F5}"/>
              </a:ext>
            </a:extLst>
          </p:cNvPr>
          <p:cNvSpPr/>
          <p:nvPr/>
        </p:nvSpPr>
        <p:spPr>
          <a:xfrm>
            <a:off x="5863610" y="2359831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D5F8C90E-960E-24C5-C9D6-7F151A1BC9CC}"/>
              </a:ext>
            </a:extLst>
          </p:cNvPr>
          <p:cNvSpPr/>
          <p:nvPr/>
        </p:nvSpPr>
        <p:spPr>
          <a:xfrm>
            <a:off x="10894963" y="568250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42E82F7-D613-8F9D-D429-18B95D22BD23}"/>
              </a:ext>
            </a:extLst>
          </p:cNvPr>
          <p:cNvSpPr/>
          <p:nvPr/>
        </p:nvSpPr>
        <p:spPr>
          <a:xfrm>
            <a:off x="10793667" y="1448828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6A2653-E97E-2F54-2639-334BD10EFAA6}"/>
              </a:ext>
            </a:extLst>
          </p:cNvPr>
          <p:cNvSpPr/>
          <p:nvPr/>
        </p:nvSpPr>
        <p:spPr>
          <a:xfrm>
            <a:off x="3778207" y="2359832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3CFB97F-92B5-35D8-C4FC-70E06B869F5A}"/>
              </a:ext>
            </a:extLst>
          </p:cNvPr>
          <p:cNvSpPr/>
          <p:nvPr/>
        </p:nvSpPr>
        <p:spPr>
          <a:xfrm>
            <a:off x="810247" y="2355694"/>
            <a:ext cx="1662136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833E3B6-948B-0D48-36EC-B5656ECF3DD7}"/>
              </a:ext>
            </a:extLst>
          </p:cNvPr>
          <p:cNvSpPr/>
          <p:nvPr/>
        </p:nvSpPr>
        <p:spPr>
          <a:xfrm>
            <a:off x="11162019" y="5606997"/>
            <a:ext cx="536620" cy="15101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8107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67BA-90C7-B8C7-0765-F3D6DCE5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7DBC26A-B0F7-501D-9E80-7F7EE25E0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36" y="1099991"/>
            <a:ext cx="11226117" cy="4842983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69FCBBE4-B19C-5426-F271-F34B68F17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85239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CO" sz="3000" dirty="0"/>
              <a:t>Validación de código de servicio (STVSSER)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F60D19B4-29C4-9FFF-6FB0-1B29F318A1F5}"/>
              </a:ext>
            </a:extLst>
          </p:cNvPr>
          <p:cNvSpPr/>
          <p:nvPr/>
        </p:nvSpPr>
        <p:spPr>
          <a:xfrm>
            <a:off x="745136" y="3916520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Para crear  los códigos de servicio que se le pueden brindar al estudiante,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4 caracteres.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CB67B778-23DB-E0F6-70EE-5A8FEE33BAAA}"/>
              </a:ext>
            </a:extLst>
          </p:cNvPr>
          <p:cNvSpPr/>
          <p:nvPr/>
        </p:nvSpPr>
        <p:spPr>
          <a:xfrm>
            <a:off x="10697662" y="150080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F5B4AA4C-3A31-AFF0-667D-70B58D37DEEE}"/>
              </a:ext>
            </a:extLst>
          </p:cNvPr>
          <p:cNvSpPr/>
          <p:nvPr/>
        </p:nvSpPr>
        <p:spPr>
          <a:xfrm>
            <a:off x="2407272" y="237722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EFD95B7A-246F-E346-7CAB-CE3E5A2EA181}"/>
              </a:ext>
            </a:extLst>
          </p:cNvPr>
          <p:cNvSpPr/>
          <p:nvPr/>
        </p:nvSpPr>
        <p:spPr>
          <a:xfrm>
            <a:off x="4730400" y="237722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CF52DA5F-C100-9890-F4C0-CE48E783DB94}"/>
              </a:ext>
            </a:extLst>
          </p:cNvPr>
          <p:cNvSpPr/>
          <p:nvPr/>
        </p:nvSpPr>
        <p:spPr>
          <a:xfrm>
            <a:off x="10894963" y="568250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841C73C-9292-35F7-927B-0EC8EC8DEC08}"/>
              </a:ext>
            </a:extLst>
          </p:cNvPr>
          <p:cNvSpPr/>
          <p:nvPr/>
        </p:nvSpPr>
        <p:spPr>
          <a:xfrm>
            <a:off x="10964718" y="1500800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CAC27D-C485-A637-C343-1C68D8229AA0}"/>
              </a:ext>
            </a:extLst>
          </p:cNvPr>
          <p:cNvSpPr/>
          <p:nvPr/>
        </p:nvSpPr>
        <p:spPr>
          <a:xfrm>
            <a:off x="2674328" y="2405842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10941CD-6570-D6E5-A303-A6F3230CC83C}"/>
              </a:ext>
            </a:extLst>
          </p:cNvPr>
          <p:cNvSpPr/>
          <p:nvPr/>
        </p:nvSpPr>
        <p:spPr>
          <a:xfrm>
            <a:off x="745136" y="2408723"/>
            <a:ext cx="1662136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572C20F-A5DB-FD92-E87D-AD815C5EEB3C}"/>
              </a:ext>
            </a:extLst>
          </p:cNvPr>
          <p:cNvSpPr/>
          <p:nvPr/>
        </p:nvSpPr>
        <p:spPr>
          <a:xfrm>
            <a:off x="11162019" y="5606997"/>
            <a:ext cx="536620" cy="15101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0204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0B52-EE99-242D-7257-D289CC2B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D0832C81-1138-FE37-2DD2-FACF9D42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92" y="1024486"/>
            <a:ext cx="11409300" cy="4968085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69992E6-18E7-0B8E-D11C-B32DE4AA5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85239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CO" sz="3000" dirty="0"/>
              <a:t>Validación de resultados de servicio (STVSSRS)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90C2A1E2-74B4-91E8-FDD1-73DA512BD775}"/>
              </a:ext>
            </a:extLst>
          </p:cNvPr>
          <p:cNvSpPr/>
          <p:nvPr/>
        </p:nvSpPr>
        <p:spPr>
          <a:xfrm>
            <a:off x="745136" y="3916520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Para crear  el estado del resultado en que puede quedar un servicio que se le pueden brindar al estudiante,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2 caracteres.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5F06E227-6771-3217-93D0-094F756912D2}"/>
              </a:ext>
            </a:extLst>
          </p:cNvPr>
          <p:cNvSpPr/>
          <p:nvPr/>
        </p:nvSpPr>
        <p:spPr>
          <a:xfrm>
            <a:off x="10815074" y="1507834"/>
            <a:ext cx="267056" cy="20299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59695A97-DC0C-7457-265F-14477C7D8D63}"/>
              </a:ext>
            </a:extLst>
          </p:cNvPr>
          <p:cNvSpPr/>
          <p:nvPr/>
        </p:nvSpPr>
        <p:spPr>
          <a:xfrm>
            <a:off x="2182828" y="2302998"/>
            <a:ext cx="267056" cy="20299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36057981-570A-2867-5BEA-0178924F5C33}"/>
              </a:ext>
            </a:extLst>
          </p:cNvPr>
          <p:cNvSpPr/>
          <p:nvPr/>
        </p:nvSpPr>
        <p:spPr>
          <a:xfrm>
            <a:off x="5237112" y="2350970"/>
            <a:ext cx="267056" cy="20299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47C4ADBE-9E71-CD9A-B9DC-7FE21608F994}"/>
              </a:ext>
            </a:extLst>
          </p:cNvPr>
          <p:cNvSpPr/>
          <p:nvPr/>
        </p:nvSpPr>
        <p:spPr>
          <a:xfrm>
            <a:off x="11072135" y="5747952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F68DB6F-AEA8-3D76-723C-6DB75BC18F53}"/>
              </a:ext>
            </a:extLst>
          </p:cNvPr>
          <p:cNvSpPr/>
          <p:nvPr/>
        </p:nvSpPr>
        <p:spPr>
          <a:xfrm>
            <a:off x="10964718" y="1326811"/>
            <a:ext cx="234824" cy="2029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AA00322-F30D-A931-42D4-F7F81BDB8A3E}"/>
              </a:ext>
            </a:extLst>
          </p:cNvPr>
          <p:cNvSpPr/>
          <p:nvPr/>
        </p:nvSpPr>
        <p:spPr>
          <a:xfrm>
            <a:off x="3253752" y="2341267"/>
            <a:ext cx="1922544" cy="20299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3B3B597-6701-17AE-45A0-0D1CF504CA89}"/>
              </a:ext>
            </a:extLst>
          </p:cNvPr>
          <p:cNvSpPr/>
          <p:nvPr/>
        </p:nvSpPr>
        <p:spPr>
          <a:xfrm>
            <a:off x="520692" y="2331648"/>
            <a:ext cx="1662136" cy="21411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2207782-BC27-B89E-A84C-2F5C29CFEA09}"/>
              </a:ext>
            </a:extLst>
          </p:cNvPr>
          <p:cNvSpPr/>
          <p:nvPr/>
        </p:nvSpPr>
        <p:spPr>
          <a:xfrm>
            <a:off x="11360490" y="5747952"/>
            <a:ext cx="621636" cy="17112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1923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D9762-332D-04AD-BAA8-41930881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4857C8E-C161-93DD-EF84-E0D4B71D3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92" y="1208580"/>
            <a:ext cx="11538857" cy="5026828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B4CC0236-CF69-5869-3289-F287B808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85239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CO" sz="3000" dirty="0"/>
              <a:t>Validación de resultados de servicio (STVSSRS)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BDA0D9BC-6885-94DD-6C13-075474310025}"/>
              </a:ext>
            </a:extLst>
          </p:cNvPr>
          <p:cNvSpPr/>
          <p:nvPr/>
        </p:nvSpPr>
        <p:spPr>
          <a:xfrm>
            <a:off x="745136" y="3916520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Para crear  el estado en que puede quedar un servicio que se le pueden brindar al estudiante,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2 caracteres.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46AC3E97-C795-F518-A138-3640682A04C0}"/>
              </a:ext>
            </a:extLst>
          </p:cNvPr>
          <p:cNvSpPr/>
          <p:nvPr/>
        </p:nvSpPr>
        <p:spPr>
          <a:xfrm>
            <a:off x="10815074" y="1507834"/>
            <a:ext cx="267056" cy="20299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99CE09CD-6515-A3FC-0E8D-E939447C26C0}"/>
              </a:ext>
            </a:extLst>
          </p:cNvPr>
          <p:cNvSpPr/>
          <p:nvPr/>
        </p:nvSpPr>
        <p:spPr>
          <a:xfrm>
            <a:off x="2182828" y="2302998"/>
            <a:ext cx="267056" cy="20299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CC1A68BB-3022-0D00-6EF6-C1C9E502265B}"/>
              </a:ext>
            </a:extLst>
          </p:cNvPr>
          <p:cNvSpPr/>
          <p:nvPr/>
        </p:nvSpPr>
        <p:spPr>
          <a:xfrm>
            <a:off x="4893120" y="2342775"/>
            <a:ext cx="267056" cy="20299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D3542FFC-9036-76FA-B1D6-5735863B774E}"/>
              </a:ext>
            </a:extLst>
          </p:cNvPr>
          <p:cNvSpPr/>
          <p:nvPr/>
        </p:nvSpPr>
        <p:spPr>
          <a:xfrm>
            <a:off x="11082660" y="599167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F888C5D-0302-42FA-EA99-B59365090D36}"/>
              </a:ext>
            </a:extLst>
          </p:cNvPr>
          <p:cNvSpPr/>
          <p:nvPr/>
        </p:nvSpPr>
        <p:spPr>
          <a:xfrm>
            <a:off x="11072135" y="1507834"/>
            <a:ext cx="234824" cy="2029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697124F-FC71-2AC4-E46D-DECF572E4F86}"/>
              </a:ext>
            </a:extLst>
          </p:cNvPr>
          <p:cNvSpPr/>
          <p:nvPr/>
        </p:nvSpPr>
        <p:spPr>
          <a:xfrm>
            <a:off x="2843758" y="2331648"/>
            <a:ext cx="1922544" cy="20299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446B5B1-2C4D-1902-A447-452C37D2C143}"/>
              </a:ext>
            </a:extLst>
          </p:cNvPr>
          <p:cNvSpPr/>
          <p:nvPr/>
        </p:nvSpPr>
        <p:spPr>
          <a:xfrm>
            <a:off x="520692" y="2331648"/>
            <a:ext cx="1662136" cy="21411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86555C8-A5E7-0599-8227-033965ACE2E3}"/>
              </a:ext>
            </a:extLst>
          </p:cNvPr>
          <p:cNvSpPr/>
          <p:nvPr/>
        </p:nvSpPr>
        <p:spPr>
          <a:xfrm>
            <a:off x="11437913" y="5898962"/>
            <a:ext cx="621636" cy="33644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6653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Citas/Contactos de persona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40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07732F1F-CA7D-E90E-7995-23A767522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04" y="1057669"/>
            <a:ext cx="11187628" cy="4870526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b="0" dirty="0">
                <a:solidFill>
                  <a:schemeClr val="accent1"/>
                </a:solidFill>
              </a:rPr>
              <a:t>Citas/Contactos de persona (SOAAPPT)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257AC88F-5975-A264-5749-E82508B54E4B}"/>
              </a:ext>
            </a:extLst>
          </p:cNvPr>
          <p:cNvSpPr/>
          <p:nvPr/>
        </p:nvSpPr>
        <p:spPr>
          <a:xfrm>
            <a:off x="1351226" y="4938001"/>
            <a:ext cx="9989127" cy="126183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En los bloques de citas:</a:t>
            </a:r>
          </a:p>
          <a:p>
            <a:r>
              <a:rPr lang="es-ES_tradnl" sz="1400" dirty="0"/>
              <a:t>1. Fecha de cita,  De hora, A hora: ingrese el día, hora inicial y final de la cita o entrevista.</a:t>
            </a:r>
          </a:p>
          <a:p>
            <a:r>
              <a:rPr lang="es-ES_tradnl" sz="1400" dirty="0"/>
              <a:t>2. Código de origen: puede ingresar la Universidad o Institución de procedencia.</a:t>
            </a:r>
          </a:p>
          <a:p>
            <a:r>
              <a:rPr lang="es-ES_tradnl" sz="1400" dirty="0"/>
              <a:t>4. Resultado de Entrevista: ingrese que resultado que obtuvo el estudiante.</a:t>
            </a:r>
          </a:p>
          <a:p>
            <a:r>
              <a:rPr lang="es-ES_tradnl" sz="1400" dirty="0"/>
              <a:t>5. Tipo de contacto: por que medio se contacto al estudiante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B0A42CF0-DCF8-5608-490A-BDF26D179CFD}"/>
              </a:ext>
            </a:extLst>
          </p:cNvPr>
          <p:cNvSpPr/>
          <p:nvPr/>
        </p:nvSpPr>
        <p:spPr>
          <a:xfrm>
            <a:off x="949930" y="1884288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D50CE9C4-54C5-35B1-8927-611E6B413664}"/>
              </a:ext>
            </a:extLst>
          </p:cNvPr>
          <p:cNvSpPr/>
          <p:nvPr/>
        </p:nvSpPr>
        <p:spPr>
          <a:xfrm>
            <a:off x="949930" y="2079802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816EF4FE-38D1-0C79-CF0C-82AE268D0826}"/>
              </a:ext>
            </a:extLst>
          </p:cNvPr>
          <p:cNvSpPr/>
          <p:nvPr/>
        </p:nvSpPr>
        <p:spPr>
          <a:xfrm>
            <a:off x="979304" y="2339248"/>
            <a:ext cx="186799" cy="15317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21" name="Rectángulo redondeado 15">
            <a:extLst>
              <a:ext uri="{FF2B5EF4-FFF2-40B4-BE49-F238E27FC236}">
                <a16:creationId xmlns:a16="http://schemas.microsoft.com/office/drawing/2014/main" id="{D5C31816-5095-3A34-B70C-E5205A9AA6F5}"/>
              </a:ext>
            </a:extLst>
          </p:cNvPr>
          <p:cNvSpPr/>
          <p:nvPr/>
        </p:nvSpPr>
        <p:spPr>
          <a:xfrm>
            <a:off x="6573118" y="2351404"/>
            <a:ext cx="186799" cy="15317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23" name="Rectángulo redondeado 15">
            <a:extLst>
              <a:ext uri="{FF2B5EF4-FFF2-40B4-BE49-F238E27FC236}">
                <a16:creationId xmlns:a16="http://schemas.microsoft.com/office/drawing/2014/main" id="{3C4C4129-943C-3643-C23D-E2E4127988F1}"/>
              </a:ext>
            </a:extLst>
          </p:cNvPr>
          <p:cNvSpPr/>
          <p:nvPr/>
        </p:nvSpPr>
        <p:spPr>
          <a:xfrm>
            <a:off x="780367" y="3878320"/>
            <a:ext cx="186799" cy="15317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51756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Información médica </a:t>
            </a:r>
            <a:r>
              <a:rPr lang="es-CO" b="0" dirty="0">
                <a:solidFill>
                  <a:schemeClr val="accent1"/>
                </a:solidFill>
              </a:rPr>
              <a:t>GOAMEDI</a:t>
            </a:r>
            <a:r>
              <a:rPr lang="es-CO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18921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F5B32-6739-489C-E490-97B3E0AF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BACA18D-15F2-CFD5-7548-3F929A66E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44" y="1004270"/>
            <a:ext cx="11299652" cy="484945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77AAA2F5-B567-78F4-4481-14AC958C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b="0" dirty="0">
                <a:solidFill>
                  <a:schemeClr val="accent1"/>
                </a:solidFill>
              </a:rPr>
              <a:t>Información médica (GOAMEDI)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2AAC75BF-69B1-BEA0-66C8-42ECF6590231}"/>
              </a:ext>
            </a:extLst>
          </p:cNvPr>
          <p:cNvSpPr/>
          <p:nvPr/>
        </p:nvSpPr>
        <p:spPr>
          <a:xfrm>
            <a:off x="1329107" y="4174326"/>
            <a:ext cx="9989127" cy="126183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Está página se puede utilizar par ingresar información de las enfermedades que tenga un estudiante. Tenga en cuenta:</a:t>
            </a:r>
          </a:p>
          <a:p>
            <a:pPr marL="342900" indent="-342900">
              <a:buAutoNum type="arabicPeriod"/>
            </a:pPr>
            <a:r>
              <a:rPr lang="es-ES_tradnl" sz="1400" dirty="0"/>
              <a:t>Código médico: enfermedad que tiene el estudiante. Depende de STVMEDI.</a:t>
            </a:r>
          </a:p>
          <a:p>
            <a:pPr marL="342900" indent="-342900">
              <a:buAutoNum type="arabicPeriod"/>
            </a:pPr>
            <a:r>
              <a:rPr lang="es-ES_tradnl" sz="1400" dirty="0"/>
              <a:t>Fecha médica: Fecha en que fue detectada la enfermedad.</a:t>
            </a:r>
          </a:p>
          <a:p>
            <a:pPr marL="342900" indent="-342900">
              <a:buAutoNum type="arabicPeriod"/>
            </a:pPr>
            <a:r>
              <a:rPr lang="es-ES_tradnl" sz="1400" dirty="0"/>
              <a:t>Guarde la información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98A53A48-ADBC-2563-6798-6257696175A7}"/>
              </a:ext>
            </a:extLst>
          </p:cNvPr>
          <p:cNvSpPr/>
          <p:nvPr/>
        </p:nvSpPr>
        <p:spPr>
          <a:xfrm>
            <a:off x="3354060" y="1812697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F1C4714E-6209-ACA5-4E36-C6C0F9229519}"/>
              </a:ext>
            </a:extLst>
          </p:cNvPr>
          <p:cNvSpPr/>
          <p:nvPr/>
        </p:nvSpPr>
        <p:spPr>
          <a:xfrm>
            <a:off x="3354059" y="2099449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D99033A2-9E1D-D0C0-3F81-BC912B04EE39}"/>
              </a:ext>
            </a:extLst>
          </p:cNvPr>
          <p:cNvSpPr/>
          <p:nvPr/>
        </p:nvSpPr>
        <p:spPr>
          <a:xfrm>
            <a:off x="11131435" y="5700553"/>
            <a:ext cx="186799" cy="15317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30904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98C37-3407-EAB5-00A2-D2E6C6C3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B5E3400-EF37-BD9A-2369-EB5195AE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Información médica </a:t>
            </a:r>
            <a:r>
              <a:rPr lang="es-CO" b="0" dirty="0">
                <a:solidFill>
                  <a:schemeClr val="accent1"/>
                </a:solidFill>
              </a:rPr>
              <a:t>GOAMEDI</a:t>
            </a:r>
            <a:r>
              <a:rPr lang="es-CO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34607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26E6C-DCDD-5B59-C700-896E9383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7B67AF-5806-A599-24EA-2E4AB288C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27" y="1912527"/>
            <a:ext cx="10572407" cy="1169358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C5B1B70C-DF56-282C-054A-D12BE4BB8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b="0" dirty="0">
                <a:solidFill>
                  <a:schemeClr val="accent1"/>
                </a:solidFill>
              </a:rPr>
              <a:t>Servicios de discapacidad del alumno</a:t>
            </a:r>
            <a:r>
              <a:rPr lang="es-ES_tradnl" b="0" dirty="0">
                <a:solidFill>
                  <a:schemeClr val="accent1"/>
                </a:solidFill>
              </a:rPr>
              <a:t>(SGADISA)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66A3A52A-6C83-76A7-626B-80E9EE77F521}"/>
              </a:ext>
            </a:extLst>
          </p:cNvPr>
          <p:cNvSpPr/>
          <p:nvPr/>
        </p:nvSpPr>
        <p:spPr>
          <a:xfrm>
            <a:off x="1329107" y="4174326"/>
            <a:ext cx="9989127" cy="126183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Está página permite mantener un historial de las discapacidades que pueda tener un estudiante, por periodo académico:</a:t>
            </a:r>
          </a:p>
          <a:p>
            <a:pPr marL="342900" indent="-342900">
              <a:buAutoNum type="arabicPeriod"/>
            </a:pPr>
            <a:r>
              <a:rPr lang="es-CO" sz="1400" dirty="0"/>
              <a:t>ID: Ingrese o busque el estudiante al que desea registrar una discapacidad.</a:t>
            </a:r>
          </a:p>
          <a:p>
            <a:pPr marL="342900" indent="-342900">
              <a:buAutoNum type="arabicPeriod"/>
            </a:pPr>
            <a:r>
              <a:rPr lang="es-ES_tradnl" sz="1400" dirty="0"/>
              <a:t>Periodo: Ingrese el periodo a partir del cual empieza la incapacidad. Se puede dejar en blanco</a:t>
            </a:r>
          </a:p>
          <a:p>
            <a:pPr marL="342900" indent="-342900">
              <a:buAutoNum type="arabicPeriod"/>
            </a:pPr>
            <a:r>
              <a:rPr lang="es-ES_tradnl" sz="1400" dirty="0"/>
              <a:t>Seleccione IR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0777217C-B208-FD4D-8D74-AC91D0602FA8}"/>
              </a:ext>
            </a:extLst>
          </p:cNvPr>
          <p:cNvSpPr/>
          <p:nvPr/>
        </p:nvSpPr>
        <p:spPr>
          <a:xfrm>
            <a:off x="1202215" y="2397376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720C4DA4-B909-7898-4000-34B8D362F8D7}"/>
              </a:ext>
            </a:extLst>
          </p:cNvPr>
          <p:cNvSpPr/>
          <p:nvPr/>
        </p:nvSpPr>
        <p:spPr>
          <a:xfrm>
            <a:off x="5743131" y="2475343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990942A0-7867-730B-C174-9B09352EAE9F}"/>
              </a:ext>
            </a:extLst>
          </p:cNvPr>
          <p:cNvSpPr/>
          <p:nvPr/>
        </p:nvSpPr>
        <p:spPr>
          <a:xfrm>
            <a:off x="10669211" y="2497206"/>
            <a:ext cx="186799" cy="15317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42402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2B74-33DB-5DFB-2E11-A3C3D353F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2CF5AC1-73EA-992C-4B9B-A1491C025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66" y="989890"/>
            <a:ext cx="11167068" cy="4809982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5B1E3154-3494-B0E7-FF3A-7A1F6D57A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b="0" dirty="0">
                <a:solidFill>
                  <a:schemeClr val="accent1"/>
                </a:solidFill>
              </a:rPr>
              <a:t>Servicios de discapacidad del alumno</a:t>
            </a:r>
            <a:r>
              <a:rPr lang="es-ES_tradnl" b="0" dirty="0">
                <a:solidFill>
                  <a:schemeClr val="accent1"/>
                </a:solidFill>
              </a:rPr>
              <a:t>(SGADISA)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DECB76F8-0E67-C34C-720F-5876967D318D}"/>
              </a:ext>
            </a:extLst>
          </p:cNvPr>
          <p:cNvSpPr/>
          <p:nvPr/>
        </p:nvSpPr>
        <p:spPr>
          <a:xfrm>
            <a:off x="951624" y="3730449"/>
            <a:ext cx="9989127" cy="248948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Tenga en cuenta:</a:t>
            </a:r>
          </a:p>
          <a:p>
            <a:r>
              <a:rPr lang="es-ES_tradnl" sz="1400" dirty="0"/>
              <a:t>4.   Periodo: Periodo en que se reporta la incapacidad. Depende de STVTERM </a:t>
            </a:r>
          </a:p>
          <a:p>
            <a:r>
              <a:rPr lang="es-ES_tradnl" sz="1400" dirty="0"/>
              <a:t>5.   Código de la discapacidad: indique la discapacidad que presenta el estudiante. Depende de STVDISA, la descripción se autocompletará.</a:t>
            </a:r>
          </a:p>
          <a:p>
            <a:r>
              <a:rPr lang="es-ES_tradnl" sz="1400" dirty="0"/>
              <a:t>6.   Código médico:  </a:t>
            </a:r>
            <a:r>
              <a:rPr lang="es-CO" sz="1400" dirty="0"/>
              <a:t>Seleccione o ingrese el código médico correspondiente. Este puede representar la enfermedad relacionada con la discapacidad o el seguro médico que brinda cobertura al estudiante. La información disponible depende de la configuración definida en STVMEDI.</a:t>
            </a:r>
            <a:endParaRPr lang="es-ES_tradnl" sz="1400" dirty="0"/>
          </a:p>
          <a:p>
            <a:r>
              <a:rPr lang="es-ES_tradnl" sz="1400" dirty="0"/>
              <a:t>7.   Código del servicio: indicar la </a:t>
            </a:r>
            <a:r>
              <a:rPr lang="es-419" sz="1400" dirty="0"/>
              <a:t>unidad de apoyo de la Institución. Depende de STVSPSR</a:t>
            </a:r>
          </a:p>
          <a:p>
            <a:r>
              <a:rPr lang="es-419" sz="1400" dirty="0"/>
              <a:t>8.   Vigencia de(fecha): fecha de inicio con el seguro</a:t>
            </a:r>
          </a:p>
          <a:p>
            <a:r>
              <a:rPr lang="es-419" sz="1400" dirty="0"/>
              <a:t>9 .  Vigencia a(fecha): fecha final del seguro.</a:t>
            </a:r>
            <a:endParaRPr lang="es-ES_tradnl" sz="1400" dirty="0"/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6EC22AFC-EC0A-04FF-9BF6-21504AA18810}"/>
              </a:ext>
            </a:extLst>
          </p:cNvPr>
          <p:cNvSpPr/>
          <p:nvPr/>
        </p:nvSpPr>
        <p:spPr>
          <a:xfrm>
            <a:off x="1202215" y="2206715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2A340548-0AC2-BEC6-7E9C-68F7CF22506E}"/>
              </a:ext>
            </a:extLst>
          </p:cNvPr>
          <p:cNvSpPr/>
          <p:nvPr/>
        </p:nvSpPr>
        <p:spPr>
          <a:xfrm>
            <a:off x="2841593" y="2206715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C67E7BC7-6299-B4DB-8E44-EB9DD8CB84EF}"/>
              </a:ext>
            </a:extLst>
          </p:cNvPr>
          <p:cNvSpPr/>
          <p:nvPr/>
        </p:nvSpPr>
        <p:spPr>
          <a:xfrm>
            <a:off x="11382643" y="2159232"/>
            <a:ext cx="186799" cy="15317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34837EBB-199F-77E7-75F5-1DDBB03D2489}"/>
              </a:ext>
            </a:extLst>
          </p:cNvPr>
          <p:cNvSpPr/>
          <p:nvPr/>
        </p:nvSpPr>
        <p:spPr>
          <a:xfrm>
            <a:off x="6997215" y="2206715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189E8922-7E1F-5291-5276-55393C62121F}"/>
              </a:ext>
            </a:extLst>
          </p:cNvPr>
          <p:cNvSpPr/>
          <p:nvPr/>
        </p:nvSpPr>
        <p:spPr>
          <a:xfrm>
            <a:off x="8229185" y="2206715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4E710A35-1746-FD07-D6DD-F74E674A1885}"/>
              </a:ext>
            </a:extLst>
          </p:cNvPr>
          <p:cNvSpPr/>
          <p:nvPr/>
        </p:nvSpPr>
        <p:spPr>
          <a:xfrm>
            <a:off x="9411397" y="2206715"/>
            <a:ext cx="253783" cy="15593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41776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1F3F-D5E6-BB22-F628-EBE1B2C9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DE72BAE-87D8-3B76-EEA2-648E6FF0F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14" y="1045033"/>
            <a:ext cx="11167068" cy="4809982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D731177-6F90-9009-BAD4-701ACE1A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b="0" dirty="0">
                <a:solidFill>
                  <a:schemeClr val="accent1"/>
                </a:solidFill>
              </a:rPr>
              <a:t>Servicios de discapacidad del alumno</a:t>
            </a:r>
            <a:r>
              <a:rPr lang="es-ES_tradnl" b="0" dirty="0">
                <a:solidFill>
                  <a:schemeClr val="accent1"/>
                </a:solidFill>
              </a:rPr>
              <a:t>(SGADISA)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9B5BC765-0863-F0D5-C4A9-126E8E49FBB5}"/>
              </a:ext>
            </a:extLst>
          </p:cNvPr>
          <p:cNvSpPr/>
          <p:nvPr/>
        </p:nvSpPr>
        <p:spPr>
          <a:xfrm>
            <a:off x="1091184" y="3635367"/>
            <a:ext cx="9989127" cy="322301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Tenga en cuenta:</a:t>
            </a:r>
          </a:p>
          <a:p>
            <a:r>
              <a:rPr lang="es-ES_tradnl" sz="1400" dirty="0"/>
              <a:t>10.  </a:t>
            </a:r>
            <a:r>
              <a:rPr lang="es-ES_tradnl" sz="1400" b="1" dirty="0"/>
              <a:t>Tipo de servicio</a:t>
            </a:r>
            <a:r>
              <a:rPr lang="es-ES_tradnl" sz="1400" dirty="0"/>
              <a:t>: Indique si al estudiante se le presto algún servicio. Ejem: Terapia Física o Asesoría.</a:t>
            </a:r>
          </a:p>
          <a:p>
            <a:r>
              <a:rPr lang="es-ES_tradnl" sz="1400" dirty="0"/>
              <a:t>11.  </a:t>
            </a:r>
            <a:r>
              <a:rPr lang="es-ES_tradnl" sz="1400" b="1" dirty="0"/>
              <a:t>Código del estatus:  </a:t>
            </a:r>
            <a:r>
              <a:rPr lang="es-ES_tradnl" sz="1400" dirty="0"/>
              <a:t>indique si el servicio se encuentra activo o finalizado. Depende de STVSSST.</a:t>
            </a:r>
          </a:p>
          <a:p>
            <a:r>
              <a:rPr lang="es-ES_tradnl" sz="1400" dirty="0"/>
              <a:t>12.  </a:t>
            </a:r>
            <a:r>
              <a:rPr lang="es-ES_tradnl" sz="1400" b="1" dirty="0"/>
              <a:t>Código Proporcionado:  </a:t>
            </a:r>
            <a:r>
              <a:rPr lang="es-CO" sz="1400" dirty="0"/>
              <a:t>Seleccione o ingrese si el servicio fue aceptado o rechazado. Depende de STVSEPR. </a:t>
            </a:r>
            <a:endParaRPr lang="es-ES_tradnl" sz="1400" dirty="0"/>
          </a:p>
          <a:p>
            <a:r>
              <a:rPr lang="es-ES_tradnl" sz="1400" dirty="0"/>
              <a:t>13.  </a:t>
            </a:r>
            <a:r>
              <a:rPr lang="es-ES_tradnl" sz="1400" b="1" dirty="0"/>
              <a:t>Código del Proveedor: </a:t>
            </a:r>
            <a:r>
              <a:rPr lang="es-ES_tradnl" sz="1400" dirty="0"/>
              <a:t>indicar la </a:t>
            </a:r>
            <a:r>
              <a:rPr lang="es-419" sz="1400" dirty="0"/>
              <a:t>unidad de apoyo de la Institución que le está prestando el servicio. Depende de STVSPRV</a:t>
            </a:r>
          </a:p>
          <a:p>
            <a:r>
              <a:rPr lang="es-419" sz="1400" dirty="0"/>
              <a:t>14. </a:t>
            </a:r>
            <a:r>
              <a:rPr lang="es-ES_tradnl" sz="1400" b="1" dirty="0"/>
              <a:t>Código de exención: </a:t>
            </a:r>
            <a:r>
              <a:rPr lang="es-ES_tradnl" sz="1400" dirty="0"/>
              <a:t>no se utilizará.</a:t>
            </a:r>
            <a:r>
              <a:rPr lang="es-CO" sz="1400" dirty="0"/>
              <a:t> </a:t>
            </a:r>
            <a:endParaRPr lang="es-419" sz="1400" dirty="0"/>
          </a:p>
          <a:p>
            <a:r>
              <a:rPr lang="es-419" sz="1400" dirty="0"/>
              <a:t>15.  </a:t>
            </a:r>
            <a:r>
              <a:rPr lang="es-419" sz="1400" b="1" dirty="0"/>
              <a:t>Resultado</a:t>
            </a:r>
            <a:r>
              <a:rPr lang="es-419" sz="1400" dirty="0"/>
              <a:t>: resultado del servicio prestado. Depende de STVSSRS.</a:t>
            </a:r>
          </a:p>
          <a:p>
            <a:pPr marL="342900" indent="-342900">
              <a:buAutoNum type="arabicPeriod" startAt="16"/>
            </a:pPr>
            <a:r>
              <a:rPr lang="es-419" sz="1400" b="1" dirty="0"/>
              <a:t>Originador</a:t>
            </a:r>
            <a:r>
              <a:rPr lang="es-419" sz="1400" dirty="0"/>
              <a:t>: Se puede indicar que dependencia o Unidad solicito el servicio. </a:t>
            </a:r>
          </a:p>
          <a:p>
            <a:pPr marL="342900" indent="-342900">
              <a:buAutoNum type="arabicPeriod" startAt="16"/>
            </a:pPr>
            <a:r>
              <a:rPr lang="es-419" sz="1400" b="1" dirty="0"/>
              <a:t>Campus</a:t>
            </a:r>
            <a:r>
              <a:rPr lang="es-419" sz="1400" dirty="0"/>
              <a:t>: la sede dónde fue atendido el servicio. Depende de STVCAMP</a:t>
            </a:r>
          </a:p>
          <a:p>
            <a:pPr marL="342900" indent="-342900">
              <a:buAutoNum type="arabicPeriod" startAt="16"/>
            </a:pPr>
            <a:r>
              <a:rPr lang="es-419" sz="1400" dirty="0"/>
              <a:t> </a:t>
            </a:r>
            <a:r>
              <a:rPr lang="es-419" sz="1400" b="1" dirty="0"/>
              <a:t>Contactos</a:t>
            </a:r>
            <a:r>
              <a:rPr lang="es-419" sz="1400" dirty="0"/>
              <a:t>: cuantas fueron aprobadas al estudiante al estudiante.</a:t>
            </a:r>
          </a:p>
          <a:p>
            <a:pPr marL="342900" indent="-342900">
              <a:buAutoNum type="arabicPeriod" startAt="16"/>
            </a:pPr>
            <a:r>
              <a:rPr lang="es-419" sz="1400" dirty="0"/>
              <a:t>Fecha inicio del servicio</a:t>
            </a:r>
          </a:p>
          <a:p>
            <a:pPr marL="342900" indent="-342900">
              <a:buAutoNum type="arabicPeriod" startAt="16"/>
            </a:pPr>
            <a:r>
              <a:rPr lang="es-419" sz="1400" dirty="0"/>
              <a:t>Fecha de fin del servicio</a:t>
            </a:r>
          </a:p>
          <a:p>
            <a:pPr marL="342900" indent="-342900">
              <a:buAutoNum type="arabicPeriod" startAt="16"/>
            </a:pPr>
            <a:r>
              <a:rPr lang="es-419" sz="1400" dirty="0"/>
              <a:t>Guarde la información</a:t>
            </a:r>
            <a:endParaRPr lang="es-ES_tradnl" sz="1400" dirty="0"/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3C7269FE-05DF-348A-82C8-23058D76836C}"/>
              </a:ext>
            </a:extLst>
          </p:cNvPr>
          <p:cNvSpPr/>
          <p:nvPr/>
        </p:nvSpPr>
        <p:spPr>
          <a:xfrm>
            <a:off x="556464" y="3372057"/>
            <a:ext cx="380675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4F6FBFF5-5206-2DC3-D501-320010AC7551}"/>
              </a:ext>
            </a:extLst>
          </p:cNvPr>
          <p:cNvSpPr/>
          <p:nvPr/>
        </p:nvSpPr>
        <p:spPr>
          <a:xfrm>
            <a:off x="1695877" y="3372057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11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843F677A-8570-0C4C-5A76-9476212F41F8}"/>
              </a:ext>
            </a:extLst>
          </p:cNvPr>
          <p:cNvSpPr/>
          <p:nvPr/>
        </p:nvSpPr>
        <p:spPr>
          <a:xfrm>
            <a:off x="11463166" y="5812967"/>
            <a:ext cx="434082" cy="245338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14960905-DBA7-D44C-0AA3-266EFB8FD260}"/>
              </a:ext>
            </a:extLst>
          </p:cNvPr>
          <p:cNvSpPr/>
          <p:nvPr/>
        </p:nvSpPr>
        <p:spPr>
          <a:xfrm>
            <a:off x="2718650" y="3346286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DFB307E4-74A6-7656-71D7-BC57D1A4B47B}"/>
              </a:ext>
            </a:extLst>
          </p:cNvPr>
          <p:cNvSpPr/>
          <p:nvPr/>
        </p:nvSpPr>
        <p:spPr>
          <a:xfrm>
            <a:off x="3848615" y="3333817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4A37935D-BA22-E981-14E3-BEA93552B45A}"/>
              </a:ext>
            </a:extLst>
          </p:cNvPr>
          <p:cNvSpPr/>
          <p:nvPr/>
        </p:nvSpPr>
        <p:spPr>
          <a:xfrm>
            <a:off x="6122083" y="3354799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15</a:t>
            </a:r>
          </a:p>
        </p:txBody>
      </p:sp>
      <p:sp>
        <p:nvSpPr>
          <p:cNvPr id="5" name="Rectángulo redondeado 15">
            <a:extLst>
              <a:ext uri="{FF2B5EF4-FFF2-40B4-BE49-F238E27FC236}">
                <a16:creationId xmlns:a16="http://schemas.microsoft.com/office/drawing/2014/main" id="{1A332159-462B-17AB-07E6-09EA5929A270}"/>
              </a:ext>
            </a:extLst>
          </p:cNvPr>
          <p:cNvSpPr/>
          <p:nvPr/>
        </p:nvSpPr>
        <p:spPr>
          <a:xfrm>
            <a:off x="6808571" y="3346286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16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254095A4-D9F4-E5DD-739F-B496AB405100}"/>
              </a:ext>
            </a:extLst>
          </p:cNvPr>
          <p:cNvSpPr/>
          <p:nvPr/>
        </p:nvSpPr>
        <p:spPr>
          <a:xfrm>
            <a:off x="5099310" y="3390017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14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352919E5-D455-7B0F-0A0E-77F6378FCB2F}"/>
              </a:ext>
            </a:extLst>
          </p:cNvPr>
          <p:cNvSpPr/>
          <p:nvPr/>
        </p:nvSpPr>
        <p:spPr>
          <a:xfrm>
            <a:off x="7539917" y="3333817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17</a:t>
            </a:r>
          </a:p>
        </p:txBody>
      </p:sp>
      <p:sp>
        <p:nvSpPr>
          <p:cNvPr id="18" name="Rectángulo redondeado 15">
            <a:extLst>
              <a:ext uri="{FF2B5EF4-FFF2-40B4-BE49-F238E27FC236}">
                <a16:creationId xmlns:a16="http://schemas.microsoft.com/office/drawing/2014/main" id="{B409FE3A-5237-1434-CDC6-E98EE8B90F33}"/>
              </a:ext>
            </a:extLst>
          </p:cNvPr>
          <p:cNvSpPr/>
          <p:nvPr/>
        </p:nvSpPr>
        <p:spPr>
          <a:xfrm>
            <a:off x="8466747" y="3349171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18</a:t>
            </a:r>
          </a:p>
        </p:txBody>
      </p:sp>
      <p:sp>
        <p:nvSpPr>
          <p:cNvPr id="20" name="Rectángulo redondeado 15">
            <a:extLst>
              <a:ext uri="{FF2B5EF4-FFF2-40B4-BE49-F238E27FC236}">
                <a16:creationId xmlns:a16="http://schemas.microsoft.com/office/drawing/2014/main" id="{EBBC45E4-0EDF-65A5-A25D-F44FA11D8322}"/>
              </a:ext>
            </a:extLst>
          </p:cNvPr>
          <p:cNvSpPr/>
          <p:nvPr/>
        </p:nvSpPr>
        <p:spPr>
          <a:xfrm>
            <a:off x="9398174" y="3390017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19</a:t>
            </a:r>
          </a:p>
        </p:txBody>
      </p:sp>
      <p:sp>
        <p:nvSpPr>
          <p:cNvPr id="22" name="Rectángulo redondeado 15">
            <a:extLst>
              <a:ext uri="{FF2B5EF4-FFF2-40B4-BE49-F238E27FC236}">
                <a16:creationId xmlns:a16="http://schemas.microsoft.com/office/drawing/2014/main" id="{2D89147E-C7BA-30D8-4DD1-92206A3C2E51}"/>
              </a:ext>
            </a:extLst>
          </p:cNvPr>
          <p:cNvSpPr/>
          <p:nvPr/>
        </p:nvSpPr>
        <p:spPr>
          <a:xfrm>
            <a:off x="10450873" y="3324700"/>
            <a:ext cx="489878" cy="2453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90644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9DC91-A7F6-23BF-B890-1EDA0B6B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056440-1171-B361-E2E1-CB9872637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Resumen</a:t>
            </a:r>
            <a:r>
              <a:rPr lang="es-CO" b="0" dirty="0" err="1">
                <a:solidFill>
                  <a:schemeClr val="accent1"/>
                </a:solidFill>
              </a:rPr>
              <a:t>GOAMEDI</a:t>
            </a:r>
            <a:r>
              <a:rPr lang="es-CO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72623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53532-8FA4-FBC9-D8D9-743E01A7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78CB5C3-FDD5-07C0-CD02-81F8FC08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b="0" dirty="0">
                <a:solidFill>
                  <a:schemeClr val="accent1"/>
                </a:solidFill>
              </a:rPr>
              <a:t>RESUMEN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6DF01842-4C2D-A598-AF8E-588206E5F8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623880"/>
            <a:ext cx="10597474" cy="4358629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CO" dirty="0"/>
              <a:t>SGADISA – Discapacidad del Estudiante: página utilizada para registrar y administrar la información relacionada con las discapacidades de los estudiantes. </a:t>
            </a:r>
          </a:p>
          <a:p>
            <a:pPr marL="168275" lvl="1" indent="0" algn="just">
              <a:buClr>
                <a:schemeClr val="tx1"/>
              </a:buClr>
              <a:buNone/>
            </a:pPr>
            <a:r>
              <a:rPr lang="es-CO" dirty="0"/>
              <a:t>Permite ingresar datos como el tipo de discapacidad, fechas de vigencia, códigos médicos asociados y demás información requerida para el seguimiento y cumplimiento de normativas institucionales.</a:t>
            </a:r>
          </a:p>
          <a:p>
            <a:pPr marL="168275" lvl="1" indent="0" algn="just">
              <a:buClr>
                <a:schemeClr val="tx1"/>
              </a:buClr>
              <a:buNone/>
            </a:pPr>
            <a:endParaRPr lang="es-CO" dirty="0"/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CO" dirty="0"/>
              <a:t>GOAMEDI – Validación de Códigos Médicos: página para consultar y realizar el mantenimiento de las enfermedades que pueda tener un estudiante. </a:t>
            </a:r>
          </a:p>
          <a:p>
            <a:pPr marL="0" indent="0" algn="just">
              <a:buClr>
                <a:schemeClr val="tx1"/>
              </a:buClr>
              <a:buNone/>
            </a:pPr>
            <a:endParaRPr lang="es-CO" dirty="0"/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CO" dirty="0"/>
              <a:t>SOAAPPT </a:t>
            </a:r>
            <a:r>
              <a:rPr lang="es-419" dirty="0"/>
              <a:t>Citas/Contactos de persona: </a:t>
            </a:r>
            <a:r>
              <a:rPr lang="es-CO" dirty="0"/>
              <a:t> Página utilizada para registrar, consultar y dar seguimiento a las citas, entrevistas, reuniones o contactos realizados con los estudiantes.</a:t>
            </a:r>
          </a:p>
          <a:p>
            <a:pPr marL="0" indent="0" algn="just">
              <a:buClr>
                <a:schemeClr val="tx1"/>
              </a:buClr>
              <a:buNone/>
            </a:pP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221750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dirty="0"/>
              <a:t>Nidia Beltran</a:t>
            </a:r>
            <a:endParaRPr lang="es-419" sz="2000" noProof="0" dirty="0"/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n</a:t>
            </a:r>
            <a:r>
              <a:rPr lang="es-419" noProof="0"/>
              <a:t>idia</a:t>
            </a:r>
            <a:r>
              <a:rPr lang="es-419" noProof="0" dirty="0" err="1"/>
              <a:t>.</a:t>
            </a:r>
            <a:r>
              <a:rPr lang="es-419" noProof="0" err="1"/>
              <a:t>beltran</a:t>
            </a:r>
            <a:r>
              <a:rPr lang="es-419" noProof="0"/>
              <a:t>@ellucian.com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A599B5A2-9FB4-43D0-8DD2-7AE7CFBE6EE5}" vid="{5FE6AC23-0F88-4612-B1AD-D84E4AF262DE}"/>
    </a:ext>
  </a:extLst>
</a:theme>
</file>

<file path=ppt/theme/theme3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Ellucian_April 2025</Template>
  <TotalTime>31136</TotalTime>
  <Words>1208</Words>
  <Application>Microsoft Office PowerPoint</Application>
  <PresentationFormat>Panorámica</PresentationFormat>
  <Paragraphs>177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26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Ellucian_April 2025</vt:lpstr>
      <vt:lpstr>Ellucian Blank Layouts</vt:lpstr>
      <vt:lpstr>Ellucian Main Layouts</vt:lpstr>
      <vt:lpstr>1_Ellucian Blank Layouts</vt:lpstr>
      <vt:lpstr>Presentación de PowerPoint</vt:lpstr>
      <vt:lpstr>Presentación de PowerPoint</vt:lpstr>
      <vt:lpstr>Overview</vt:lpstr>
      <vt:lpstr>Overview: Mapa de capacidades</vt:lpstr>
      <vt:lpstr>Overview: Capacidad operativa Accesibilidad para Estudiantes</vt:lpstr>
      <vt:lpstr>Presentación de PowerPoint</vt:lpstr>
      <vt:lpstr>Presentación de PowerPoint</vt:lpstr>
      <vt:lpstr>CONFIGURACIONES</vt:lpstr>
      <vt:lpstr>Configuraciones: Validación del código de tipo de discapacidad (STVDISA)</vt:lpstr>
      <vt:lpstr>Configuraciones: Validación del código de equipo médico (STVMDEQ)</vt:lpstr>
      <vt:lpstr>Configuraciones: Validación del código médico (STVMEDI)</vt:lpstr>
      <vt:lpstr>Configuraciones: Validación de proveedor de servicio (STVSPRV)</vt:lpstr>
      <vt:lpstr>Configuraciones: Validación de código de servicio (STVSSER)</vt:lpstr>
      <vt:lpstr>Configuraciones: Validación de resultados de servicio (STVSSRS)</vt:lpstr>
      <vt:lpstr>Configuraciones: Validación de resultados de servicio (STVSSRS)</vt:lpstr>
      <vt:lpstr>Citas/Contactos de persona</vt:lpstr>
      <vt:lpstr>Citas/Contactos de persona (SOAAPPT)</vt:lpstr>
      <vt:lpstr>Información médica GOAMEDI </vt:lpstr>
      <vt:lpstr>Información médica (GOAMEDI)</vt:lpstr>
      <vt:lpstr>Información médica GOAMEDI </vt:lpstr>
      <vt:lpstr>Servicios de discapacidad del alumno(SGADISA)</vt:lpstr>
      <vt:lpstr>Servicios de discapacidad del alumno(SGADISA)</vt:lpstr>
      <vt:lpstr>Servicios de discapacidad del alumno(SGADISA)</vt:lpstr>
      <vt:lpstr>ResumenGOAMEDI </vt:lpstr>
      <vt:lpstr>RESUMEN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Beltran, Nidia</cp:lastModifiedBy>
  <cp:revision>442</cp:revision>
  <dcterms:created xsi:type="dcterms:W3CDTF">2023-07-17T20:07:38Z</dcterms:created>
  <dcterms:modified xsi:type="dcterms:W3CDTF">2026-07-23T21:36:12Z</dcterms:modified>
</cp:coreProperties>
</file>
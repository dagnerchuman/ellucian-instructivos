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3.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 id="2147483753" r:id="rId2"/>
    <p:sldMasterId id="2147483773" r:id="rId3"/>
    <p:sldMasterId id="2147483811" r:id="rId4"/>
  </p:sldMasterIdLst>
  <p:notesMasterIdLst>
    <p:notesMasterId r:id="rId22"/>
  </p:notesMasterIdLst>
  <p:sldIdLst>
    <p:sldId id="1322" r:id="rId5"/>
    <p:sldId id="1290" r:id="rId6"/>
    <p:sldId id="1174" r:id="rId7"/>
    <p:sldId id="1175" r:id="rId8"/>
    <p:sldId id="1291" r:id="rId9"/>
    <p:sldId id="1250" r:id="rId10"/>
    <p:sldId id="1251" r:id="rId11"/>
    <p:sldId id="1259" r:id="rId12"/>
    <p:sldId id="1292" r:id="rId13"/>
    <p:sldId id="1119" r:id="rId14"/>
    <p:sldId id="1225" r:id="rId15"/>
    <p:sldId id="1295" r:id="rId16"/>
    <p:sldId id="1276" r:id="rId17"/>
    <p:sldId id="1297" r:id="rId18"/>
    <p:sldId id="1298" r:id="rId19"/>
    <p:sldId id="1299" r:id="rId20"/>
    <p:sldId id="62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1B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Molina" userId="20636364146_tp_box_2" providerId="OAuth2" clId="{44CDD4FA-DF07-4B69-BC01-0B2B69272B43}"/>
    <pc:docChg chg="delSld modSld">
      <pc:chgData name="Sergio Molina" userId="20636364146_tp_box_2" providerId="OAuth2" clId="{44CDD4FA-DF07-4B69-BC01-0B2B69272B43}" dt="2026-06-30T20:43:55.125" v="2" actId="47"/>
      <pc:docMkLst>
        <pc:docMk/>
      </pc:docMkLst>
      <pc:sldChg chg="modSp mod">
        <pc:chgData name="Sergio Molina" userId="20636364146_tp_box_2" providerId="OAuth2" clId="{44CDD4FA-DF07-4B69-BC01-0B2B69272B43}" dt="2026-06-30T20:43:15.900" v="1" actId="14100"/>
        <pc:sldMkLst>
          <pc:docMk/>
          <pc:sldMk cId="2297615308" sldId="1175"/>
        </pc:sldMkLst>
        <pc:spChg chg="mod">
          <ac:chgData name="Sergio Molina" userId="20636364146_tp_box_2" providerId="OAuth2" clId="{44CDD4FA-DF07-4B69-BC01-0B2B69272B43}" dt="2026-06-30T20:43:15.900" v="1" actId="14100"/>
          <ac:spMkLst>
            <pc:docMk/>
            <pc:sldMk cId="2297615308" sldId="1175"/>
            <ac:spMk id="5" creationId="{8747A31B-1EF7-747A-8612-A2304AC29F31}"/>
          </ac:spMkLst>
        </pc:spChg>
      </pc:sldChg>
      <pc:sldChg chg="del">
        <pc:chgData name="Sergio Molina" userId="20636364146_tp_box_2" providerId="OAuth2" clId="{44CDD4FA-DF07-4B69-BC01-0B2B69272B43}" dt="2026-06-30T20:43:55.125" v="2" actId="47"/>
        <pc:sldMkLst>
          <pc:docMk/>
          <pc:sldMk cId="4280198414" sldId="1275"/>
        </pc:sldMkLst>
      </pc:sldChg>
      <pc:sldChg chg="del">
        <pc:chgData name="Sergio Molina" userId="20636364146_tp_box_2" providerId="OAuth2" clId="{44CDD4FA-DF07-4B69-BC01-0B2B69272B43}" dt="2026-06-30T20:43:55.125" v="2" actId="47"/>
        <pc:sldMkLst>
          <pc:docMk/>
          <pc:sldMk cId="937515020" sldId="1293"/>
        </pc:sldMkLst>
      </pc:sldChg>
      <pc:sldChg chg="del">
        <pc:chgData name="Sergio Molina" userId="20636364146_tp_box_2" providerId="OAuth2" clId="{44CDD4FA-DF07-4B69-BC01-0B2B69272B43}" dt="2026-06-30T20:43:55.125" v="2" actId="47"/>
        <pc:sldMkLst>
          <pc:docMk/>
          <pc:sldMk cId="3762531096" sldId="1294"/>
        </pc:sldMkLst>
      </pc:sldChg>
      <pc:sldChg chg="del">
        <pc:chgData name="Sergio Molina" userId="20636364146_tp_box_2" providerId="OAuth2" clId="{44CDD4FA-DF07-4B69-BC01-0B2B69272B43}" dt="2026-06-30T20:43:55.125" v="2" actId="47"/>
        <pc:sldMkLst>
          <pc:docMk/>
          <pc:sldMk cId="4227168108" sldId="12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A52AE8-C3D1-4F0C-9537-50799CDF3F70}" type="datetimeFigureOut">
              <a:rPr lang="es-419" smtClean="0"/>
              <a:t>30/6/2026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B7B2D5-D921-4686-9404-D92C44D12565}" type="slidenum">
              <a:rPr lang="es-419" smtClean="0"/>
              <a:t>‹#›</a:t>
            </a:fld>
            <a:endParaRPr lang="es-419"/>
          </a:p>
        </p:txBody>
      </p:sp>
    </p:spTree>
    <p:extLst>
      <p:ext uri="{BB962C8B-B14F-4D97-AF65-F5344CB8AC3E}">
        <p14:creationId xmlns:p14="http://schemas.microsoft.com/office/powerpoint/2010/main" val="1458069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23400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2643054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4052005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7852306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430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0626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64528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17746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98863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89656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20977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0234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502876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75342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554788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1363739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939773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4253796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846076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73370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103555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5274809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55523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0428141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419473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7514853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8980511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2143527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19726964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7208422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97886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457399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258573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640513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641808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871557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194191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Blank Slide Dark">
    <p:bg>
      <p:bgPr>
        <a:solidFill>
          <a:schemeClr val="tx2"/>
        </a:solidFill>
        <a:effectLst/>
      </p:bgPr>
    </p:bg>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4BF00F1-D933-8AA0-E7A4-0F5CD1B344D1}"/>
              </a:ext>
            </a:extLst>
          </p:cNvPr>
          <p:cNvSpPr>
            <a:spLocks noGrp="1"/>
          </p:cNvSpPr>
          <p:nvPr>
            <p:ph type="body" orient="vert" sz="quarter" idx="10" hasCustomPrompt="1"/>
          </p:nvPr>
        </p:nvSpPr>
        <p:spPr>
          <a:xfrm>
            <a:off x="0" y="685800"/>
            <a:ext cx="609600" cy="5486400"/>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SECTION TITLE</a:t>
            </a:r>
          </a:p>
        </p:txBody>
      </p:sp>
      <p:sp>
        <p:nvSpPr>
          <p:cNvPr id="5" name="Slide Number Placeholder 5">
            <a:extLst>
              <a:ext uri="{FF2B5EF4-FFF2-40B4-BE49-F238E27FC236}">
                <a16:creationId xmlns:a16="http://schemas.microsoft.com/office/drawing/2014/main" id="{74B49D1D-E006-95E3-C9AD-E07A51FD99C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9BB8DABF-D717-48D3-B001-F43E3E178399}" type="slidenum">
              <a:rPr lang="es-419" smtClean="0"/>
              <a:t>‹#›</a:t>
            </a:fld>
            <a:endParaRPr lang="es-419"/>
          </a:p>
        </p:txBody>
      </p:sp>
    </p:spTree>
    <p:extLst>
      <p:ext uri="{BB962C8B-B14F-4D97-AF65-F5344CB8AC3E}">
        <p14:creationId xmlns:p14="http://schemas.microsoft.com/office/powerpoint/2010/main" val="3669388417"/>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9BB8DABF-D717-48D3-B001-F43E3E178399}" type="slidenum">
              <a:rPr lang="es-419" smtClean="0"/>
              <a:t>‹#›</a:t>
            </a:fld>
            <a:endParaRPr lang="es-419"/>
          </a:p>
        </p:txBody>
      </p:sp>
    </p:spTree>
    <p:extLst>
      <p:ext uri="{BB962C8B-B14F-4D97-AF65-F5344CB8AC3E}">
        <p14:creationId xmlns:p14="http://schemas.microsoft.com/office/powerpoint/2010/main" val="3390901114"/>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9BB8DABF-D717-48D3-B001-F43E3E178399}" type="slidenum">
              <a:rPr lang="es-419" smtClean="0"/>
              <a:t>‹#›</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Tree>
    <p:extLst>
      <p:ext uri="{BB962C8B-B14F-4D97-AF65-F5344CB8AC3E}">
        <p14:creationId xmlns:p14="http://schemas.microsoft.com/office/powerpoint/2010/main" val="8367600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9BB8DABF-D717-48D3-B001-F43E3E178399}" type="slidenum">
              <a:rPr lang="es-419" smtClean="0"/>
              <a:t>‹#›</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Tree>
    <p:extLst>
      <p:ext uri="{BB962C8B-B14F-4D97-AF65-F5344CB8AC3E}">
        <p14:creationId xmlns:p14="http://schemas.microsoft.com/office/powerpoint/2010/main" val="286981308"/>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2891472692"/>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20383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7069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702220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0528609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747244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90302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043516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6419815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5529230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3313949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26611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018417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333623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972939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208772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2800127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1467692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2032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54394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1974370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3408220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8567057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012767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37710493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09613150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90462586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592829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11402087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696904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1433887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8130030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522991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1916617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14349686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7464417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11081137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28414481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90288597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387247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58666247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04317476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3925874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8067153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57114951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183822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75266306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9803942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85085464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02925826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88394566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81304872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80882045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679043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9BB8DABF-D717-48D3-B001-F43E3E178399}" type="slidenum">
              <a:rPr lang="es-419" smtClean="0"/>
              <a:t>‹#›</a:t>
            </a:fld>
            <a:endParaRPr lang="es-419"/>
          </a:p>
        </p:txBody>
      </p:sp>
    </p:spTree>
    <p:extLst>
      <p:ext uri="{BB962C8B-B14F-4D97-AF65-F5344CB8AC3E}">
        <p14:creationId xmlns:p14="http://schemas.microsoft.com/office/powerpoint/2010/main" val="3681552820"/>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9BB8DABF-D717-48D3-B001-F43E3E178399}" type="slidenum">
              <a:rPr lang="es-419" smtClean="0"/>
              <a:t>‹#›</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Tree>
    <p:extLst>
      <p:ext uri="{BB962C8B-B14F-4D97-AF65-F5344CB8AC3E}">
        <p14:creationId xmlns:p14="http://schemas.microsoft.com/office/powerpoint/2010/main" val="876297941"/>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9BB8DABF-D717-48D3-B001-F43E3E178399}" type="slidenum">
              <a:rPr lang="es-419" smtClean="0"/>
              <a:t>‹#›</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Tree>
    <p:extLst>
      <p:ext uri="{BB962C8B-B14F-4D97-AF65-F5344CB8AC3E}">
        <p14:creationId xmlns:p14="http://schemas.microsoft.com/office/powerpoint/2010/main" val="4023846558"/>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1808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62247506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81166723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59310207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9944252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2641030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59565291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67251356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15006274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16157065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99424212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09683445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45065479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18512137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48595144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27708841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37987109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21613133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005277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2.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9" Type="http://schemas.openxmlformats.org/officeDocument/2006/relationships/image" Target="../media/image1.png"/><Relationship Id="rId21" Type="http://schemas.openxmlformats.org/officeDocument/2006/relationships/slideLayout" Target="../slideLayouts/slideLayout78.xml"/><Relationship Id="rId34" Type="http://schemas.openxmlformats.org/officeDocument/2006/relationships/slideLayout" Target="../slideLayouts/slideLayout91.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theme" Target="../theme/theme3.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slideLayout" Target="../slideLayouts/slideLayout94.xml"/><Relationship Id="rId40" Type="http://schemas.openxmlformats.org/officeDocument/2006/relationships/image" Target="../media/image2.svg"/><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slideLayout" Target="../slideLayouts/slideLayout88.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8" Type="http://schemas.openxmlformats.org/officeDocument/2006/relationships/slideLayout" Target="../slideLayouts/slideLayout65.xml"/><Relationship Id="rId3" Type="http://schemas.openxmlformats.org/officeDocument/2006/relationships/slideLayout" Target="../slideLayouts/slideLayout6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slideLayout" Target="../slideLayouts/slideLayout107.xml"/><Relationship Id="rId18" Type="http://schemas.openxmlformats.org/officeDocument/2006/relationships/slideLayout" Target="../slideLayouts/slideLayout112.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17" Type="http://schemas.openxmlformats.org/officeDocument/2006/relationships/slideLayout" Target="../slideLayouts/slideLayout111.xml"/><Relationship Id="rId2" Type="http://schemas.openxmlformats.org/officeDocument/2006/relationships/slideLayout" Target="../slideLayouts/slideLayout96.xml"/><Relationship Id="rId16" Type="http://schemas.openxmlformats.org/officeDocument/2006/relationships/slideLayout" Target="../slideLayouts/slideLayout110.xml"/><Relationship Id="rId20" Type="http://schemas.openxmlformats.org/officeDocument/2006/relationships/theme" Target="../theme/theme4.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5" Type="http://schemas.openxmlformats.org/officeDocument/2006/relationships/slideLayout" Target="../slideLayouts/slideLayout109.xml"/><Relationship Id="rId10" Type="http://schemas.openxmlformats.org/officeDocument/2006/relationships/slideLayout" Target="../slideLayouts/slideLayout104.xml"/><Relationship Id="rId19" Type="http://schemas.openxmlformats.org/officeDocument/2006/relationships/slideLayout" Target="../slideLayouts/slideLayout113.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9757340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8" r:id="rId34"/>
    <p:sldLayoutId id="2147483749" r:id="rId35"/>
    <p:sldLayoutId id="2147483750" r:id="rId36"/>
    <p:sldLayoutId id="2147483751" r:id="rId37"/>
    <p:sldLayoutId id="2147483712"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7887817"/>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 id="2147483772"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675314183"/>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 id="2147483791" r:id="rId18"/>
    <p:sldLayoutId id="2147483792" r:id="rId19"/>
    <p:sldLayoutId id="2147483793" r:id="rId20"/>
    <p:sldLayoutId id="2147483794" r:id="rId21"/>
    <p:sldLayoutId id="2147483795" r:id="rId22"/>
    <p:sldLayoutId id="2147483796" r:id="rId23"/>
    <p:sldLayoutId id="2147483797" r:id="rId24"/>
    <p:sldLayoutId id="2147483798" r:id="rId25"/>
    <p:sldLayoutId id="2147483799" r:id="rId26"/>
    <p:sldLayoutId id="2147483800" r:id="rId27"/>
    <p:sldLayoutId id="2147483801" r:id="rId28"/>
    <p:sldLayoutId id="2147483802" r:id="rId29"/>
    <p:sldLayoutId id="2147483803" r:id="rId30"/>
    <p:sldLayoutId id="2147483804" r:id="rId31"/>
    <p:sldLayoutId id="2147483805" r:id="rId32"/>
    <p:sldLayoutId id="2147483806" r:id="rId33"/>
    <p:sldLayoutId id="2147483807" r:id="rId34"/>
    <p:sldLayoutId id="2147483808" r:id="rId35"/>
    <p:sldLayoutId id="2147483809" r:id="rId36"/>
    <p:sldLayoutId id="2147483810" r:id="rId37"/>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025099"/>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 id="2147483824" r:id="rId13"/>
    <p:sldLayoutId id="2147483825" r:id="rId14"/>
    <p:sldLayoutId id="2147483826" r:id="rId15"/>
    <p:sldLayoutId id="2147483827" r:id="rId16"/>
    <p:sldLayoutId id="2147483828" r:id="rId17"/>
    <p:sldLayoutId id="2147483829" r:id="rId18"/>
    <p:sldLayoutId id="2147483830"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xml"/><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4.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9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9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93.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9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1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3.xml"/><Relationship Id="rId5" Type="http://schemas.openxmlformats.org/officeDocument/2006/relationships/image" Target="../media/image26.sv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2" name="Title 1"/>
          <p:cNvSpPr>
            <a:spLocks noGrp="1"/>
          </p:cNvSpPr>
          <p:nvPr>
            <p:ph type="title" idx="4294967295"/>
          </p:nvPr>
        </p:nvSpPr>
        <p:spPr>
          <a:xfrm>
            <a:off x="556902" y="2100263"/>
            <a:ext cx="5651500" cy="1749425"/>
          </a:xfrm>
        </p:spPr>
        <p:txBody>
          <a:bodyPr/>
          <a:lstStyle/>
          <a:p>
            <a:pPr>
              <a:spcBef>
                <a:spcPts val="0"/>
              </a:spcBef>
              <a:spcAft>
                <a:spcPts val="600"/>
              </a:spcAft>
            </a:pPr>
            <a:r>
              <a:rPr lang="es-ES" sz="4200" dirty="0">
                <a:solidFill>
                  <a:schemeClr val="bg1"/>
                </a:solidFill>
                <a:latin typeface="+mn-lt"/>
                <a:ea typeface="+mn-ea"/>
                <a:cs typeface="+mn-cs"/>
              </a:rPr>
              <a:t>Asignar o actualizar retenciones</a:t>
            </a:r>
            <a:br>
              <a:rPr lang="es-419" sz="4200" dirty="0">
                <a:solidFill>
                  <a:schemeClr val="bg1"/>
                </a:solidFill>
                <a:latin typeface="+mn-lt"/>
                <a:ea typeface="+mn-ea"/>
                <a:cs typeface="+mn-cs"/>
              </a:rPr>
            </a:br>
            <a:endParaRPr lang="es-ES_tradnl" sz="4200" dirty="0">
              <a:solidFill>
                <a:schemeClr val="bg1"/>
              </a:solidFill>
              <a:latin typeface="+mn-lt"/>
              <a:ea typeface="+mn-ea"/>
              <a:cs typeface="+mn-cs"/>
            </a:endParaRPr>
          </a:p>
        </p:txBody>
      </p:sp>
      <p:sp>
        <p:nvSpPr>
          <p:cNvPr id="12" name="Text Placeholder 11">
            <a:extLst>
              <a:ext uri="{FF2B5EF4-FFF2-40B4-BE49-F238E27FC236}">
                <a16:creationId xmlns:a16="http://schemas.microsoft.com/office/drawing/2014/main" id="{1F36166E-FF53-5DF3-80C2-D8D7EB74A871}"/>
              </a:ext>
            </a:extLst>
          </p:cNvPr>
          <p:cNvSpPr>
            <a:spLocks noGrp="1"/>
          </p:cNvSpPr>
          <p:nvPr>
            <p:ph type="body" sz="quarter" idx="12"/>
          </p:nvPr>
        </p:nvSpPr>
        <p:spPr>
          <a:xfrm>
            <a:off x="620910" y="5234880"/>
            <a:ext cx="3032274" cy="398058"/>
          </a:xfrm>
        </p:spPr>
        <p:txBody>
          <a:bodyPr/>
          <a:lstStyle/>
          <a:p>
            <a:endParaRPr lang="es-CO"/>
          </a:p>
        </p:txBody>
      </p:sp>
      <p:sp>
        <p:nvSpPr>
          <p:cNvPr id="15" name="Marcador de texto 5">
            <a:extLst>
              <a:ext uri="{FF2B5EF4-FFF2-40B4-BE49-F238E27FC236}">
                <a16:creationId xmlns:a16="http://schemas.microsoft.com/office/drawing/2014/main" id="{FD61A954-B54C-7D94-F4E9-0359EAD33A73}"/>
              </a:ext>
            </a:extLst>
          </p:cNvPr>
          <p:cNvSpPr txBox="1">
            <a:spLocks/>
          </p:cNvSpPr>
          <p:nvPr/>
        </p:nvSpPr>
        <p:spPr>
          <a:xfrm>
            <a:off x="620910" y="5874153"/>
            <a:ext cx="2228873" cy="194925"/>
          </a:xfrm>
          <a:prstGeom prst="rect">
            <a:avLst/>
          </a:prstGeom>
        </p:spPr>
        <p:txBody>
          <a:bodyPr vert="horz" lIns="0" tIns="0" rIns="0" bIns="0" rtlCol="0">
            <a:spAutoFit/>
          </a:bodyPr>
          <a:lstStyle>
            <a:lvl1pPr marL="0" indent="0" algn="l" defTabSz="914400" rtl="0" eaLnBrk="1" latinLnBrk="0" hangingPunct="1">
              <a:lnSpc>
                <a:spcPct val="110000"/>
              </a:lnSpc>
              <a:spcBef>
                <a:spcPts val="0"/>
              </a:spcBef>
              <a:spcAft>
                <a:spcPts val="0"/>
              </a:spcAft>
              <a:buFont typeface="Arial" panose="020B0604020202020204" pitchFamily="34" charset="0"/>
              <a:buNone/>
              <a:defRPr sz="12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a:t>Mes, Año</a:t>
            </a:r>
            <a:endParaRPr lang="es-419" dirty="0"/>
          </a:p>
        </p:txBody>
      </p:sp>
      <p:sp>
        <p:nvSpPr>
          <p:cNvPr id="16" name="Marcador de texto 3">
            <a:extLst>
              <a:ext uri="{FF2B5EF4-FFF2-40B4-BE49-F238E27FC236}">
                <a16:creationId xmlns:a16="http://schemas.microsoft.com/office/drawing/2014/main" id="{01BC6757-8472-0EB1-4547-4558CED3BC44}"/>
              </a:ext>
            </a:extLst>
          </p:cNvPr>
          <p:cNvSpPr txBox="1">
            <a:spLocks/>
          </p:cNvSpPr>
          <p:nvPr/>
        </p:nvSpPr>
        <p:spPr>
          <a:xfrm>
            <a:off x="556902" y="3429000"/>
            <a:ext cx="5427132" cy="292452"/>
          </a:xfrm>
          <a:prstGeom prst="rect">
            <a:avLst/>
          </a:prstGeom>
        </p:spPr>
        <p:txBody>
          <a:bodyPr vert="horz"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sz="1800"/>
              <a:t>Instructivo</a:t>
            </a:r>
            <a:endParaRPr lang="es-419" dirty="0"/>
          </a:p>
        </p:txBody>
      </p:sp>
    </p:spTree>
    <p:extLst>
      <p:ext uri="{BB962C8B-B14F-4D97-AF65-F5344CB8AC3E}">
        <p14:creationId xmlns:p14="http://schemas.microsoft.com/office/powerpoint/2010/main" val="2250606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9B079538-813F-9222-1BBD-41637301C228}"/>
              </a:ext>
            </a:extLst>
          </p:cNvPr>
          <p:cNvSpPr>
            <a:spLocks noGrp="1"/>
          </p:cNvSpPr>
          <p:nvPr>
            <p:ph type="body" orient="vert" sz="quarter" idx="4294967295"/>
          </p:nvPr>
        </p:nvSpPr>
        <p:spPr>
          <a:xfrm>
            <a:off x="0" y="685800"/>
            <a:ext cx="609600" cy="5486400"/>
          </a:xfrm>
          <a:prstGeom prst="rect">
            <a:avLst/>
          </a:prstGeom>
        </p:spPr>
        <p:txBody>
          <a:bodyPr vert="vert270" lIns="0" tIns="0" rIns="0" bIns="0" rtlCol="0" anchor="ctr" anchorCtr="0">
            <a:noAutofit/>
          </a:bodyPr>
          <a:lstStyle/>
          <a:p>
            <a:pPr marL="0" indent="0" algn="ctr">
              <a:buNone/>
            </a:pPr>
            <a:r>
              <a:rPr lang="es-ES" sz="1200" spc="300" dirty="0">
                <a:solidFill>
                  <a:schemeClr val="bg1"/>
                </a:solidFill>
              </a:rPr>
              <a:t>Asignar o </a:t>
            </a:r>
            <a:r>
              <a:rPr lang="es-ES" sz="1200" spc="300">
                <a:solidFill>
                  <a:schemeClr val="bg1"/>
                </a:solidFill>
              </a:rPr>
              <a:t>actualizar retenciones</a:t>
            </a:r>
            <a:endParaRPr lang="es-419" sz="1200" spc="300"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2707084897"/>
              </p:ext>
            </p:extLst>
          </p:nvPr>
        </p:nvGraphicFramePr>
        <p:xfrm>
          <a:off x="1268704" y="1378326"/>
          <a:ext cx="8916155" cy="4519554"/>
        </p:xfrm>
        <a:graphic>
          <a:graphicData uri="http://schemas.openxmlformats.org/drawingml/2006/table">
            <a:tbl>
              <a:tblPr firstRow="1" bandRow="1">
                <a:tableStyleId>{5C22544A-7EE6-4342-B048-85BDC9FD1C3A}</a:tableStyleId>
              </a:tblPr>
              <a:tblGrid>
                <a:gridCol w="813015">
                  <a:extLst>
                    <a:ext uri="{9D8B030D-6E8A-4147-A177-3AD203B41FA5}">
                      <a16:colId xmlns:a16="http://schemas.microsoft.com/office/drawing/2014/main" val="20000"/>
                    </a:ext>
                  </a:extLst>
                </a:gridCol>
                <a:gridCol w="8103140">
                  <a:extLst>
                    <a:ext uri="{9D8B030D-6E8A-4147-A177-3AD203B41FA5}">
                      <a16:colId xmlns:a16="http://schemas.microsoft.com/office/drawing/2014/main" val="20001"/>
                    </a:ext>
                  </a:extLst>
                </a:gridCol>
              </a:tblGrid>
              <a:tr h="802833">
                <a:tc>
                  <a:txBody>
                    <a:bodyPr/>
                    <a:lstStyle/>
                    <a:p>
                      <a:r>
                        <a:rPr lang="es-ES_tradnl" sz="2800" b="1" kern="1200" noProof="0" dirty="0">
                          <a:solidFill>
                            <a:schemeClr val="bg1"/>
                          </a:solidFill>
                          <a:latin typeface="+mn-lt"/>
                          <a:ea typeface="+mn-ea"/>
                          <a:cs typeface="+mn-cs"/>
                        </a:rPr>
                        <a:t>01</a:t>
                      </a:r>
                    </a:p>
                  </a:txBody>
                  <a:tcPr marL="121920" marR="121920" marT="60960" marB="60960"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s-ES_tradnl" sz="2000" b="0" kern="1200" noProof="0" dirty="0">
                        <a:solidFill>
                          <a:srgbClr val="414042"/>
                        </a:solidFill>
                        <a:latin typeface="Arial"/>
                        <a:ea typeface="+mn-ea"/>
                        <a:cs typeface="Arial"/>
                      </a:endParaRPr>
                    </a:p>
                    <a:p>
                      <a:r>
                        <a:rPr lang="es-ES_tradnl" sz="2800" b="1" kern="1200" noProof="0" dirty="0" err="1">
                          <a:solidFill>
                            <a:schemeClr val="bg1"/>
                          </a:solidFill>
                          <a:latin typeface="+mn-lt"/>
                          <a:ea typeface="+mn-ea"/>
                          <a:cs typeface="+mn-cs"/>
                        </a:rPr>
                        <a:t>Overview</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02833">
                <a:tc>
                  <a:txBody>
                    <a:bodyPr/>
                    <a:lstStyle/>
                    <a:p>
                      <a:pPr marL="0" algn="l" defTabSz="914400" rtl="0" eaLnBrk="1" latinLnBrk="0" hangingPunct="1"/>
                      <a:r>
                        <a:rPr lang="es-ES_tradnl" sz="2800" b="1" kern="1200" noProof="0" dirty="0">
                          <a:solidFill>
                            <a:schemeClr val="bg1"/>
                          </a:solidFill>
                          <a:latin typeface="+mn-lt"/>
                          <a:ea typeface="+mn-ea"/>
                          <a:cs typeface="+mn-cs"/>
                        </a:rPr>
                        <a:t>02</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800" b="1" kern="1200" noProof="0" dirty="0">
                          <a:solidFill>
                            <a:schemeClr val="bg1"/>
                          </a:solidFill>
                          <a:latin typeface="+mn-lt"/>
                          <a:ea typeface="+mn-ea"/>
                          <a:cs typeface="+mn-cs"/>
                        </a:rPr>
                        <a:t>Configuraciones</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02833">
                <a:tc>
                  <a:txBody>
                    <a:bodyPr/>
                    <a:lstStyle/>
                    <a:p>
                      <a:pPr marL="0" algn="l" defTabSz="914400" rtl="0" eaLnBrk="1" latinLnBrk="0" hangingPunct="1"/>
                      <a:r>
                        <a:rPr lang="es-ES_tradnl" sz="2800" b="1" kern="1200" noProof="0" dirty="0">
                          <a:solidFill>
                            <a:schemeClr val="bg1"/>
                          </a:solidFill>
                          <a:latin typeface="+mn-lt"/>
                          <a:ea typeface="+mn-ea"/>
                          <a:cs typeface="+mn-cs"/>
                        </a:rPr>
                        <a:t>03</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800" b="1" kern="1200" noProof="0" dirty="0">
                          <a:solidFill>
                            <a:schemeClr val="bg1"/>
                          </a:solidFill>
                          <a:latin typeface="+mn-lt"/>
                          <a:ea typeface="+mn-ea"/>
                          <a:cs typeface="+mn-cs"/>
                        </a:rPr>
                        <a:t>Gestionar retenciones académicas a nivel de la persona</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02833">
                <a:tc>
                  <a:txBody>
                    <a:bodyPr/>
                    <a:lstStyle/>
                    <a:p>
                      <a:pPr marL="0" algn="l" defTabSz="914400" rtl="0" eaLnBrk="1" latinLnBrk="0" hangingPunct="1"/>
                      <a:r>
                        <a:rPr lang="es-419" sz="2800" b="1" kern="1200" dirty="0">
                          <a:solidFill>
                            <a:schemeClr val="bg1"/>
                          </a:solidFill>
                          <a:latin typeface="+mn-lt"/>
                          <a:ea typeface="+mn-ea"/>
                          <a:cs typeface="+mn-cs"/>
                        </a:rPr>
                        <a:t>04</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800" b="1" kern="1200" noProof="0" dirty="0">
                          <a:solidFill>
                            <a:schemeClr val="bg1"/>
                          </a:solidFill>
                          <a:latin typeface="+mn-lt"/>
                          <a:ea typeface="+mn-ea"/>
                          <a:cs typeface="+mn-cs"/>
                        </a:rPr>
                        <a:t>Gestionar retenciones académicas a nivel del plan de estudios</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5873710"/>
                  </a:ext>
                </a:extLst>
              </a:tr>
              <a:tr h="802833">
                <a:tc>
                  <a:txBody>
                    <a:bodyPr/>
                    <a:lstStyle/>
                    <a:p>
                      <a:pPr marL="0" algn="l" defTabSz="914400" rtl="0" eaLnBrk="1" latinLnBrk="0" hangingPunct="1"/>
                      <a:r>
                        <a:rPr lang="es-ES_tradnl" sz="2800" b="1" kern="1200" noProof="0" dirty="0">
                          <a:solidFill>
                            <a:schemeClr val="bg1"/>
                          </a:solidFill>
                          <a:latin typeface="+mn-lt"/>
                          <a:ea typeface="+mn-ea"/>
                          <a:cs typeface="+mn-cs"/>
                        </a:rPr>
                        <a:t>05</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800" b="1" kern="1200" noProof="0" dirty="0">
                          <a:solidFill>
                            <a:schemeClr val="bg1"/>
                          </a:solidFill>
                          <a:latin typeface="+mn-lt"/>
                          <a:ea typeface="+mn-ea"/>
                          <a:cs typeface="+mn-cs"/>
                        </a:rPr>
                        <a:t>Resumen</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327243"/>
                  </a:ext>
                </a:extLst>
              </a:tr>
            </a:tbl>
          </a:graphicData>
        </a:graphic>
      </p:graphicFrame>
    </p:spTree>
    <p:extLst>
      <p:ext uri="{BB962C8B-B14F-4D97-AF65-F5344CB8AC3E}">
        <p14:creationId xmlns:p14="http://schemas.microsoft.com/office/powerpoint/2010/main" val="320258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ES" sz="1200" dirty="0"/>
              <a:t>Asignar o actualizar retenciones</a:t>
            </a:r>
            <a:endParaRPr lang="es-ES_tradnl"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3" name="Marcador de texto 2">
            <a:extLst>
              <a:ext uri="{FF2B5EF4-FFF2-40B4-BE49-F238E27FC236}">
                <a16:creationId xmlns:a16="http://schemas.microsoft.com/office/drawing/2014/main" id="{4A0FFDD0-47DE-C691-E644-20A42868E635}"/>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CAB30CFB-BE54-C6A7-25C9-4C8187E94955}"/>
              </a:ext>
            </a:extLst>
          </p:cNvPr>
          <p:cNvSpPr>
            <a:spLocks noGrp="1"/>
          </p:cNvSpPr>
          <p:nvPr>
            <p:ph type="body" orient="vert" sz="quarter" idx="17"/>
          </p:nvPr>
        </p:nvSpPr>
        <p:spPr/>
        <p:txBody>
          <a:bodyPr/>
          <a:lstStyle/>
          <a:p>
            <a:r>
              <a:rPr lang="es-ES" sz="1200" dirty="0"/>
              <a:t>Asignar o actualizar retenciones</a:t>
            </a:r>
            <a:endParaRPr lang="es-419" dirty="0"/>
          </a:p>
        </p:txBody>
      </p:sp>
      <p:sp>
        <p:nvSpPr>
          <p:cNvPr id="13" name="Title 12"/>
          <p:cNvSpPr>
            <a:spLocks noGrp="1"/>
          </p:cNvSpPr>
          <p:nvPr>
            <p:ph type="title"/>
          </p:nvPr>
        </p:nvSpPr>
        <p:spPr/>
        <p:txBody>
          <a:bodyPr/>
          <a:lstStyle/>
          <a:p>
            <a:r>
              <a:rPr lang="es-ES_tradnl" dirty="0"/>
              <a:t>Overview: </a:t>
            </a:r>
            <a:r>
              <a:rPr lang="es-ES_tradnl" b="1" dirty="0"/>
              <a:t>Mapa de </a:t>
            </a:r>
            <a:r>
              <a:rPr lang="es-ES_tradnl" dirty="0"/>
              <a:t>Capacidades</a:t>
            </a:r>
            <a:endParaRPr lang="es-ES_tradnl" b="1" dirty="0"/>
          </a:p>
        </p:txBody>
      </p:sp>
      <p:pic>
        <p:nvPicPr>
          <p:cNvPr id="4" name="Picture 2">
            <a:extLst>
              <a:ext uri="{FF2B5EF4-FFF2-40B4-BE49-F238E27FC236}">
                <a16:creationId xmlns:a16="http://schemas.microsoft.com/office/drawing/2014/main" id="{0991BD2D-626E-0D7A-0068-EC0A1AD1E14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0" t="3607" r="2974"/>
          <a:stretch>
            <a:fillRect/>
          </a:stretch>
        </p:blipFill>
        <p:spPr bwMode="auto">
          <a:xfrm>
            <a:off x="609601" y="1365503"/>
            <a:ext cx="11225781" cy="457850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747A31B-1EF7-747A-8612-A2304AC29F31}"/>
              </a:ext>
            </a:extLst>
          </p:cNvPr>
          <p:cNvSpPr/>
          <p:nvPr/>
        </p:nvSpPr>
        <p:spPr>
          <a:xfrm>
            <a:off x="947275" y="3654756"/>
            <a:ext cx="2122496" cy="62179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297615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13B7A307-5C70-7F03-3580-1D1730644EF5}"/>
              </a:ext>
            </a:extLst>
          </p:cNvPr>
          <p:cNvSpPr>
            <a:spLocks noGrp="1"/>
          </p:cNvSpPr>
          <p:nvPr>
            <p:ph type="body" orient="vert" sz="quarter" idx="17"/>
          </p:nvPr>
        </p:nvSpPr>
        <p:spPr/>
        <p:txBody>
          <a:bodyPr/>
          <a:lstStyle/>
          <a:p>
            <a:r>
              <a:rPr lang="es-ES" sz="1200" dirty="0"/>
              <a:t>Asignar o actualizar retenciones</a:t>
            </a:r>
            <a:endParaRPr lang="es-419" dirty="0"/>
          </a:p>
        </p:txBody>
      </p:sp>
      <p:sp>
        <p:nvSpPr>
          <p:cNvPr id="6" name="Título 5">
            <a:extLst>
              <a:ext uri="{FF2B5EF4-FFF2-40B4-BE49-F238E27FC236}">
                <a16:creationId xmlns:a16="http://schemas.microsoft.com/office/drawing/2014/main" id="{B4C967B7-80CD-9606-C5BF-C3BB1501BB64}"/>
              </a:ext>
            </a:extLst>
          </p:cNvPr>
          <p:cNvSpPr>
            <a:spLocks noGrp="1"/>
          </p:cNvSpPr>
          <p:nvPr>
            <p:ph type="title"/>
          </p:nvPr>
        </p:nvSpPr>
        <p:spPr/>
        <p:txBody>
          <a:bodyPr/>
          <a:lstStyle/>
          <a:p>
            <a:r>
              <a:rPr lang="es-ES_tradnl" dirty="0"/>
              <a:t>Overview: Procedimiento conducta estudiantil</a:t>
            </a:r>
            <a:br>
              <a:rPr lang="es-ES_tradnl" b="0" dirty="0"/>
            </a:br>
            <a:endParaRPr lang="es-419" b="0" dirty="0"/>
          </a:p>
        </p:txBody>
      </p:sp>
      <p:sp>
        <p:nvSpPr>
          <p:cNvPr id="7" name="Title 12">
            <a:extLst>
              <a:ext uri="{FF2B5EF4-FFF2-40B4-BE49-F238E27FC236}">
                <a16:creationId xmlns:a16="http://schemas.microsoft.com/office/drawing/2014/main" id="{8B20F06B-F250-FF66-14E6-D5380447899C}"/>
              </a:ext>
            </a:extLst>
          </p:cNvPr>
          <p:cNvSpPr txBox="1">
            <a:spLocks/>
          </p:cNvSpPr>
          <p:nvPr/>
        </p:nvSpPr>
        <p:spPr>
          <a:xfrm>
            <a:off x="1104900" y="68580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endParaRPr lang="es-ES_tradnl" dirty="0"/>
          </a:p>
        </p:txBody>
      </p:sp>
      <p:sp>
        <p:nvSpPr>
          <p:cNvPr id="8" name="Marcador de texto 1">
            <a:extLst>
              <a:ext uri="{FF2B5EF4-FFF2-40B4-BE49-F238E27FC236}">
                <a16:creationId xmlns:a16="http://schemas.microsoft.com/office/drawing/2014/main" id="{09E58EE6-D825-A130-1509-A55AA970AB76}"/>
              </a:ext>
            </a:extLst>
          </p:cNvPr>
          <p:cNvSpPr txBox="1">
            <a:spLocks/>
          </p:cNvSpPr>
          <p:nvPr/>
        </p:nvSpPr>
        <p:spPr>
          <a:xfrm>
            <a:off x="1488700" y="1399408"/>
            <a:ext cx="8519392" cy="3860800"/>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9999"/>
              </a:buClr>
              <a:buFont typeface="Wingdings" panose="05000000000000000000" pitchFamily="2" charset="2"/>
              <a:buChar char="q"/>
            </a:pPr>
            <a:r>
              <a:rPr lang="es-CO" sz="2400" b="1" dirty="0">
                <a:solidFill>
                  <a:schemeClr val="tx1"/>
                </a:solidFill>
              </a:rPr>
              <a:t>Asignar o actualizar retenciones a estudiantes</a:t>
            </a:r>
            <a:endParaRPr lang="es-CO" sz="2400" b="1" dirty="0">
              <a:solidFill>
                <a:srgbClr val="7030A0"/>
              </a:solidFill>
            </a:endParaRPr>
          </a:p>
        </p:txBody>
      </p:sp>
    </p:spTree>
    <p:extLst>
      <p:ext uri="{BB962C8B-B14F-4D97-AF65-F5344CB8AC3E}">
        <p14:creationId xmlns:p14="http://schemas.microsoft.com/office/powerpoint/2010/main" val="1728960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AC3D39-B163-095B-128B-225FF6EB7D00}"/>
              </a:ext>
            </a:extLst>
          </p:cNvPr>
          <p:cNvSpPr>
            <a:spLocks noGrp="1"/>
          </p:cNvSpPr>
          <p:nvPr>
            <p:ph type="body" sz="quarter" idx="18"/>
          </p:nvPr>
        </p:nvSpPr>
        <p:spPr/>
        <p:txBody>
          <a:bodyPr vert="horz" lIns="0" tIns="0" rIns="0" bIns="0" rtlCol="0">
            <a:noAutofit/>
          </a:bodyPr>
          <a:lstStyle/>
          <a:p>
            <a:pPr lvl="1" algn="just">
              <a:buClr>
                <a:srgbClr val="009999"/>
              </a:buClr>
            </a:pPr>
            <a:r>
              <a:rPr lang="es-ES_tradnl" sz="2200" dirty="0"/>
              <a:t>Una persona o un estudiante puede tener varias retenciones.</a:t>
            </a:r>
          </a:p>
          <a:p>
            <a:pPr lvl="1" algn="just">
              <a:buClr>
                <a:srgbClr val="009999"/>
              </a:buClr>
            </a:pPr>
            <a:r>
              <a:rPr lang="es-ES_tradnl" sz="2200" dirty="0"/>
              <a:t>La institución puede asignar estas retenciones por ID o por plan de estudios.</a:t>
            </a:r>
          </a:p>
          <a:p>
            <a:pPr lvl="1" algn="just">
              <a:buClr>
                <a:srgbClr val="009999"/>
              </a:buClr>
            </a:pPr>
            <a:r>
              <a:rPr lang="es-ES_tradnl" sz="2200" dirty="0"/>
              <a:t>La institución puede definir reglas para asignar estas retenciones.</a:t>
            </a:r>
          </a:p>
          <a:p>
            <a:pPr algn="just">
              <a:buClr>
                <a:srgbClr val="009999"/>
              </a:buClr>
            </a:pPr>
            <a:endParaRPr lang="es-419" sz="2200" dirty="0"/>
          </a:p>
        </p:txBody>
      </p:sp>
      <p:sp>
        <p:nvSpPr>
          <p:cNvPr id="3" name="Marcador de texto vertical 2">
            <a:extLst>
              <a:ext uri="{FF2B5EF4-FFF2-40B4-BE49-F238E27FC236}">
                <a16:creationId xmlns:a16="http://schemas.microsoft.com/office/drawing/2014/main" id="{E81663CF-BB03-0433-33C8-DE1D5A72F64D}"/>
              </a:ext>
            </a:extLst>
          </p:cNvPr>
          <p:cNvSpPr>
            <a:spLocks noGrp="1"/>
          </p:cNvSpPr>
          <p:nvPr>
            <p:ph type="body" orient="vert" sz="quarter" idx="17"/>
          </p:nvPr>
        </p:nvSpPr>
        <p:spPr/>
        <p:txBody>
          <a:bodyPr/>
          <a:lstStyle/>
          <a:p>
            <a:r>
              <a:rPr lang="es-ES" sz="1200" dirty="0"/>
              <a:t>Asignar o actualizar retenciones</a:t>
            </a:r>
            <a:endParaRPr lang="es-419" dirty="0"/>
          </a:p>
        </p:txBody>
      </p:sp>
      <p:sp>
        <p:nvSpPr>
          <p:cNvPr id="13" name="Title 12"/>
          <p:cNvSpPr>
            <a:spLocks noGrp="1"/>
          </p:cNvSpPr>
          <p:nvPr>
            <p:ph type="title"/>
          </p:nvPr>
        </p:nvSpPr>
        <p:spPr/>
        <p:txBody>
          <a:bodyPr/>
          <a:lstStyle/>
          <a:p>
            <a:r>
              <a:rPr lang="es-ES_tradnl" dirty="0" err="1"/>
              <a:t>Overview</a:t>
            </a:r>
            <a:r>
              <a:rPr lang="es-ES_tradnl" dirty="0"/>
              <a:t>: </a:t>
            </a:r>
            <a:r>
              <a:rPr lang="es-ES_tradnl" b="1" dirty="0"/>
              <a:t>Gestionar retenciones académicas</a:t>
            </a:r>
          </a:p>
        </p:txBody>
      </p:sp>
    </p:spTree>
    <p:extLst>
      <p:ext uri="{BB962C8B-B14F-4D97-AF65-F5344CB8AC3E}">
        <p14:creationId xmlns:p14="http://schemas.microsoft.com/office/powerpoint/2010/main" val="149198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BB8A4AC5-A8D2-A02D-0603-CAC43E80BE26}"/>
              </a:ext>
            </a:extLst>
          </p:cNvPr>
          <p:cNvSpPr>
            <a:spLocks noGrp="1"/>
          </p:cNvSpPr>
          <p:nvPr>
            <p:ph type="body" orient="vert" sz="quarter" idx="17"/>
          </p:nvPr>
        </p:nvSpPr>
        <p:spPr/>
        <p:txBody>
          <a:bodyPr/>
          <a:lstStyle/>
          <a:p>
            <a:r>
              <a:rPr lang="es-ES" sz="1200" dirty="0"/>
              <a:t>Asignar o actualizar retenciones</a:t>
            </a:r>
            <a:endParaRPr lang="es-419" dirty="0"/>
          </a:p>
        </p:txBody>
      </p:sp>
      <p:sp>
        <p:nvSpPr>
          <p:cNvPr id="13" name="Title 12"/>
          <p:cNvSpPr>
            <a:spLocks noGrp="1"/>
          </p:cNvSpPr>
          <p:nvPr>
            <p:ph type="title"/>
          </p:nvPr>
        </p:nvSpPr>
        <p:spPr/>
        <p:txBody>
          <a:bodyPr/>
          <a:lstStyle/>
          <a:p>
            <a:r>
              <a:rPr lang="es-ES_tradnl" dirty="0" err="1"/>
              <a:t>Overview</a:t>
            </a:r>
            <a:r>
              <a:rPr lang="es-ES_tradnl" dirty="0"/>
              <a:t>: </a:t>
            </a:r>
            <a:r>
              <a:rPr lang="es-ES_tradnl" b="1" dirty="0"/>
              <a:t>Procedimiento- </a:t>
            </a:r>
            <a:r>
              <a:rPr lang="es-ES" sz="3200" dirty="0"/>
              <a:t>Asignar o actualizar retenciones</a:t>
            </a:r>
            <a:endParaRPr lang="es-ES_tradnl" b="1" dirty="0"/>
          </a:p>
        </p:txBody>
      </p:sp>
      <p:pic>
        <p:nvPicPr>
          <p:cNvPr id="5" name="Picture 6" descr="A diagram of a computer&#10;&#10;Description automatically generated">
            <a:extLst>
              <a:ext uri="{FF2B5EF4-FFF2-40B4-BE49-F238E27FC236}">
                <a16:creationId xmlns:a16="http://schemas.microsoft.com/office/drawing/2014/main" id="{582D7736-AD8E-A19B-C576-FC7B9E814C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4393" y="1476728"/>
            <a:ext cx="7523988" cy="4114341"/>
          </a:xfrm>
          <a:prstGeom prst="rect">
            <a:avLst/>
          </a:prstGeom>
        </p:spPr>
      </p:pic>
    </p:spTree>
    <p:extLst>
      <p:ext uri="{BB962C8B-B14F-4D97-AF65-F5344CB8AC3E}">
        <p14:creationId xmlns:p14="http://schemas.microsoft.com/office/powerpoint/2010/main" val="1600803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A6FC09E6-FA48-6B9A-6BA5-2F7C35DA2E46}"/>
              </a:ext>
            </a:extLst>
          </p:cNvPr>
          <p:cNvSpPr>
            <a:spLocks noGrp="1"/>
          </p:cNvSpPr>
          <p:nvPr>
            <p:ph type="body" orient="vert" sz="quarter" idx="17"/>
          </p:nvPr>
        </p:nvSpPr>
        <p:spPr/>
        <p:txBody>
          <a:bodyPr/>
          <a:lstStyle/>
          <a:p>
            <a:r>
              <a:rPr lang="es-ES" sz="1200" dirty="0"/>
              <a:t>Asignar o actualizar retenciones</a:t>
            </a:r>
            <a:endParaRPr lang="es-419" dirty="0"/>
          </a:p>
        </p:txBody>
      </p:sp>
      <p:sp>
        <p:nvSpPr>
          <p:cNvPr id="13" name="Title 12"/>
          <p:cNvSpPr>
            <a:spLocks noGrp="1"/>
          </p:cNvSpPr>
          <p:nvPr>
            <p:ph type="title"/>
          </p:nvPr>
        </p:nvSpPr>
        <p:spPr/>
        <p:txBody>
          <a:bodyPr/>
          <a:lstStyle/>
          <a:p>
            <a:r>
              <a:rPr lang="es-ES_tradnl" dirty="0" err="1"/>
              <a:t>Overview</a:t>
            </a:r>
            <a:r>
              <a:rPr lang="es-ES_tradnl" dirty="0"/>
              <a:t>: </a:t>
            </a:r>
            <a:r>
              <a:rPr lang="es-ES_tradnl" b="1" dirty="0"/>
              <a:t>Región donde aplica</a:t>
            </a:r>
          </a:p>
        </p:txBody>
      </p:sp>
      <p:sp>
        <p:nvSpPr>
          <p:cNvPr id="14" name="CuadroTexto 13">
            <a:extLst>
              <a:ext uri="{FF2B5EF4-FFF2-40B4-BE49-F238E27FC236}">
                <a16:creationId xmlns:a16="http://schemas.microsoft.com/office/drawing/2014/main" id="{67F9A8D2-DB8A-9348-9C89-4582AE2EB894}"/>
              </a:ext>
            </a:extLst>
          </p:cNvPr>
          <p:cNvSpPr txBox="1"/>
          <p:nvPr/>
        </p:nvSpPr>
        <p:spPr>
          <a:xfrm>
            <a:off x="8409273" y="3182780"/>
            <a:ext cx="1537152" cy="461665"/>
          </a:xfrm>
          <a:prstGeom prst="rect">
            <a:avLst/>
          </a:prstGeom>
          <a:noFill/>
        </p:spPr>
        <p:txBody>
          <a:bodyPr wrap="none" rtlCol="0">
            <a:spAutoFit/>
          </a:bodyPr>
          <a:lstStyle/>
          <a:p>
            <a:r>
              <a:rPr lang="es-ES_tradnl" sz="2400" dirty="0"/>
              <a:t>Todo LAC</a:t>
            </a:r>
          </a:p>
        </p:txBody>
      </p:sp>
      <p:pic>
        <p:nvPicPr>
          <p:cNvPr id="3" name="Picture 2">
            <a:extLst>
              <a:ext uri="{FF2B5EF4-FFF2-40B4-BE49-F238E27FC236}">
                <a16:creationId xmlns:a16="http://schemas.microsoft.com/office/drawing/2014/main" id="{FEA1E42D-046B-C687-B6AF-C15ECC025653}"/>
              </a:ext>
            </a:extLst>
          </p:cNvPr>
          <p:cNvPicPr>
            <a:picLocks noChangeAspect="1"/>
          </p:cNvPicPr>
          <p:nvPr/>
        </p:nvPicPr>
        <p:blipFill>
          <a:blip r:embed="rId2"/>
          <a:stretch>
            <a:fillRect/>
          </a:stretch>
        </p:blipFill>
        <p:spPr>
          <a:xfrm>
            <a:off x="2245575" y="1584355"/>
            <a:ext cx="5111496" cy="5111496"/>
          </a:xfrm>
          <a:prstGeom prst="rect">
            <a:avLst/>
          </a:prstGeom>
        </p:spPr>
      </p:pic>
    </p:spTree>
    <p:extLst>
      <p:ext uri="{BB962C8B-B14F-4D97-AF65-F5344CB8AC3E}">
        <p14:creationId xmlns:p14="http://schemas.microsoft.com/office/powerpoint/2010/main" val="140520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33C43E5D-5D90-9AA1-C4E7-B8A2D164D43C}"/>
              </a:ext>
            </a:extLst>
          </p:cNvPr>
          <p:cNvSpPr>
            <a:spLocks noGrp="1"/>
          </p:cNvSpPr>
          <p:nvPr>
            <p:ph type="body" orient="vert" sz="quarter" idx="17"/>
          </p:nvPr>
        </p:nvSpPr>
        <p:spPr/>
        <p:txBody>
          <a:bodyPr/>
          <a:lstStyle/>
          <a:p>
            <a:r>
              <a:rPr lang="es-ES" sz="1200" dirty="0"/>
              <a:t>Asignar o actualizar retenciones</a:t>
            </a:r>
            <a:endParaRPr lang="es-419" dirty="0"/>
          </a:p>
        </p:txBody>
      </p:sp>
      <p:sp>
        <p:nvSpPr>
          <p:cNvPr id="13" name="Title 12"/>
          <p:cNvSpPr>
            <a:spLocks noGrp="1"/>
          </p:cNvSpPr>
          <p:nvPr>
            <p:ph type="title"/>
          </p:nvPr>
        </p:nvSpPr>
        <p:spPr/>
        <p:txBody>
          <a:bodyPr/>
          <a:lstStyle/>
          <a:p>
            <a:r>
              <a:rPr lang="es-ES_tradnl" b="0" dirty="0" err="1">
                <a:solidFill>
                  <a:schemeClr val="bg2">
                    <a:lumMod val="25000"/>
                  </a:schemeClr>
                </a:solidFill>
              </a:rPr>
              <a:t>Overview</a:t>
            </a:r>
            <a:r>
              <a:rPr lang="es-ES_tradnl" b="0" dirty="0">
                <a:solidFill>
                  <a:schemeClr val="bg2">
                    <a:lumMod val="25000"/>
                  </a:schemeClr>
                </a:solidFill>
              </a:rPr>
              <a:t>: </a:t>
            </a:r>
            <a:r>
              <a:rPr lang="es-ES" sz="3200" dirty="0"/>
              <a:t>Actualizar características del estudiante</a:t>
            </a:r>
            <a:endParaRPr lang="es-ES_tradnl" b="1" dirty="0"/>
          </a:p>
        </p:txBody>
      </p:sp>
      <p:graphicFrame>
        <p:nvGraphicFramePr>
          <p:cNvPr id="5" name="Tabla 4">
            <a:extLst>
              <a:ext uri="{FF2B5EF4-FFF2-40B4-BE49-F238E27FC236}">
                <a16:creationId xmlns:a16="http://schemas.microsoft.com/office/drawing/2014/main" id="{C2FBF0DB-AA49-19BE-7699-FE95F7C4143B}"/>
              </a:ext>
            </a:extLst>
          </p:cNvPr>
          <p:cNvGraphicFramePr>
            <a:graphicFrameLocks noGrp="1"/>
          </p:cNvGraphicFramePr>
          <p:nvPr>
            <p:extLst>
              <p:ext uri="{D42A27DB-BD31-4B8C-83A1-F6EECF244321}">
                <p14:modId xmlns:p14="http://schemas.microsoft.com/office/powerpoint/2010/main" val="3661150954"/>
              </p:ext>
            </p:extLst>
          </p:nvPr>
        </p:nvGraphicFramePr>
        <p:xfrm>
          <a:off x="838200" y="1825625"/>
          <a:ext cx="10620983" cy="707263"/>
        </p:xfrm>
        <a:graphic>
          <a:graphicData uri="http://schemas.openxmlformats.org/drawingml/2006/table">
            <a:tbl>
              <a:tblPr firstRow="1" bandRow="1">
                <a:tableStyleId>{5C22544A-7EE6-4342-B048-85BDC9FD1C3A}</a:tableStyleId>
              </a:tblPr>
              <a:tblGrid>
                <a:gridCol w="1241039">
                  <a:extLst>
                    <a:ext uri="{9D8B030D-6E8A-4147-A177-3AD203B41FA5}">
                      <a16:colId xmlns:a16="http://schemas.microsoft.com/office/drawing/2014/main" val="34381708"/>
                    </a:ext>
                  </a:extLst>
                </a:gridCol>
                <a:gridCol w="9379944">
                  <a:extLst>
                    <a:ext uri="{9D8B030D-6E8A-4147-A177-3AD203B41FA5}">
                      <a16:colId xmlns:a16="http://schemas.microsoft.com/office/drawing/2014/main" val="1628494477"/>
                    </a:ext>
                  </a:extLst>
                </a:gridCol>
              </a:tblGrid>
              <a:tr h="232140">
                <a:tc>
                  <a:txBody>
                    <a:bodyPr/>
                    <a:lstStyle/>
                    <a:p>
                      <a:pPr algn="ctr">
                        <a:spcAft>
                          <a:spcPts val="0"/>
                        </a:spcAft>
                      </a:pPr>
                      <a:r>
                        <a:rPr lang="es-ES" sz="1200" dirty="0">
                          <a:effectLst/>
                        </a:rPr>
                        <a:t>Concepto</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200" dirty="0">
                          <a:effectLst/>
                        </a:rPr>
                        <a:t>Descripción</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379149428"/>
                  </a:ext>
                </a:extLst>
              </a:tr>
              <a:tr h="450723">
                <a:tc>
                  <a:txBody>
                    <a:bodyPr/>
                    <a:lstStyle/>
                    <a:p>
                      <a:pPr>
                        <a:spcAft>
                          <a:spcPts val="0"/>
                        </a:spcAft>
                      </a:pPr>
                      <a:r>
                        <a:rPr lang="es-ES" sz="1200" b="1" dirty="0">
                          <a:effectLst/>
                        </a:rPr>
                        <a:t>Retención</a:t>
                      </a:r>
                      <a:endPar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419" sz="12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Estado o atributo que la institución asigna a una persona o estudiante para impedir que realice ciertas acciones en la universidad.</a:t>
                      </a:r>
                    </a:p>
                    <a:p>
                      <a:pPr algn="just">
                        <a:spcAft>
                          <a:spcPts val="0"/>
                        </a:spcAft>
                      </a:pPr>
                      <a:endParaRPr lang="es-419" sz="12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227877135"/>
                  </a:ext>
                </a:extLst>
              </a:tr>
            </a:tbl>
          </a:graphicData>
        </a:graphic>
      </p:graphicFrame>
    </p:spTree>
    <p:extLst>
      <p:ext uri="{BB962C8B-B14F-4D97-AF65-F5344CB8AC3E}">
        <p14:creationId xmlns:p14="http://schemas.microsoft.com/office/powerpoint/2010/main" val="190034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ES" sz="1200" dirty="0"/>
              <a:t>Asignar o actualizar retenciones</a:t>
            </a:r>
            <a:endParaRPr lang="es-419" dirty="0"/>
          </a:p>
        </p:txBody>
      </p:sp>
      <p:sp>
        <p:nvSpPr>
          <p:cNvPr id="2" name="Title 1"/>
          <p:cNvSpPr>
            <a:spLocks noGrp="1"/>
          </p:cNvSpPr>
          <p:nvPr>
            <p:ph type="title"/>
          </p:nvPr>
        </p:nvSpPr>
        <p:spPr/>
        <p:txBody>
          <a:bodyPr/>
          <a:lstStyle/>
          <a:p>
            <a:r>
              <a:rPr lang="es-ES_tradnl" dirty="0"/>
              <a:t>Configuraciones</a:t>
            </a:r>
          </a:p>
        </p:txBody>
      </p:sp>
      <p:sp>
        <p:nvSpPr>
          <p:cNvPr id="3" name="Marcador de texto 2">
            <a:extLst>
              <a:ext uri="{FF2B5EF4-FFF2-40B4-BE49-F238E27FC236}">
                <a16:creationId xmlns:a16="http://schemas.microsoft.com/office/drawing/2014/main" id="{F29D48FE-BD35-8481-F167-11AE2A1E174C}"/>
              </a:ext>
            </a:extLst>
          </p:cNvPr>
          <p:cNvSpPr>
            <a:spLocks noGrp="1"/>
          </p:cNvSpPr>
          <p:nvPr>
            <p:ph type="body" sz="quarter" idx="18"/>
          </p:nvPr>
        </p:nvSpPr>
        <p:spPr/>
        <p:txBody>
          <a:bodyPr/>
          <a:lstStyle/>
          <a:p>
            <a:r>
              <a:rPr lang="es-ES" dirty="0"/>
              <a:t>Configuraciones mínimas necesarias.</a:t>
            </a:r>
            <a:endParaRPr lang="es-ES_tradnl" dirty="0"/>
          </a:p>
        </p:txBody>
      </p:sp>
    </p:spTree>
    <p:extLst>
      <p:ext uri="{BB962C8B-B14F-4D97-AF65-F5344CB8AC3E}">
        <p14:creationId xmlns:p14="http://schemas.microsoft.com/office/powerpoint/2010/main" val="1001964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08A18F5-6D7A-2B08-F05C-F23424582154}"/>
              </a:ext>
            </a:extLst>
          </p:cNvPr>
          <p:cNvPicPr>
            <a:picLocks noChangeAspect="1"/>
          </p:cNvPicPr>
          <p:nvPr/>
        </p:nvPicPr>
        <p:blipFill>
          <a:blip r:embed="rId3"/>
          <a:stretch>
            <a:fillRect/>
          </a:stretch>
        </p:blipFill>
        <p:spPr>
          <a:xfrm>
            <a:off x="953685" y="879360"/>
            <a:ext cx="10589425" cy="4999181"/>
          </a:xfrm>
          <a:prstGeom prst="rect">
            <a:avLst/>
          </a:prstGeom>
        </p:spPr>
      </p:pic>
      <p:sp>
        <p:nvSpPr>
          <p:cNvPr id="2" name="Marcador de texto vertical 1">
            <a:extLst>
              <a:ext uri="{FF2B5EF4-FFF2-40B4-BE49-F238E27FC236}">
                <a16:creationId xmlns:a16="http://schemas.microsoft.com/office/drawing/2014/main" id="{199D2796-7A92-72E2-CB43-F83909D3F70E}"/>
              </a:ext>
            </a:extLst>
          </p:cNvPr>
          <p:cNvSpPr>
            <a:spLocks noGrp="1"/>
          </p:cNvSpPr>
          <p:nvPr>
            <p:ph type="body" orient="vert" sz="quarter" idx="17"/>
          </p:nvPr>
        </p:nvSpPr>
        <p:spPr/>
        <p:txBody>
          <a:bodyPr/>
          <a:lstStyle/>
          <a:p>
            <a:r>
              <a:rPr lang="es-ES" sz="1200" dirty="0"/>
              <a:t>Asignar o actualizar retenciones</a:t>
            </a:r>
            <a:endParaRPr lang="es-419" dirty="0"/>
          </a:p>
        </p:txBody>
      </p:sp>
      <p:sp>
        <p:nvSpPr>
          <p:cNvPr id="13" name="Title 12"/>
          <p:cNvSpPr>
            <a:spLocks noGrp="1"/>
          </p:cNvSpPr>
          <p:nvPr>
            <p:ph type="title"/>
          </p:nvPr>
        </p:nvSpPr>
        <p:spPr>
          <a:xfrm>
            <a:off x="1009650" y="273347"/>
            <a:ext cx="10477497" cy="898555"/>
          </a:xfrm>
        </p:spPr>
        <p:txBody>
          <a:bodyPr/>
          <a:lstStyle/>
          <a:p>
            <a:r>
              <a:rPr lang="es-ES_tradnl" b="0" dirty="0"/>
              <a:t>Configuraciones</a:t>
            </a:r>
            <a:r>
              <a:rPr lang="es-ES_tradnl" dirty="0"/>
              <a:t>: Códigos de Retenciones</a:t>
            </a:r>
            <a:endParaRPr lang="es-ES_tradnl" b="1" dirty="0"/>
          </a:p>
        </p:txBody>
      </p:sp>
      <p:sp>
        <p:nvSpPr>
          <p:cNvPr id="8" name="Rectángulo redondeado 5">
            <a:extLst>
              <a:ext uri="{FF2B5EF4-FFF2-40B4-BE49-F238E27FC236}">
                <a16:creationId xmlns:a16="http://schemas.microsoft.com/office/drawing/2014/main" id="{CB35AAAE-3AA8-C2D2-5E66-4D53622CC156}"/>
              </a:ext>
            </a:extLst>
          </p:cNvPr>
          <p:cNvSpPr/>
          <p:nvPr/>
        </p:nvSpPr>
        <p:spPr>
          <a:xfrm>
            <a:off x="1009650" y="4147596"/>
            <a:ext cx="8939364" cy="159112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100" dirty="0"/>
              <a:t>En STVHLDD están definidos los códigos de las retenciones que se pueden asignar a los estudiantes que se han  contemplado para la Institución, indicando los procesos que se restringen si el estudiante tiene la retención vigente. Para insertar un código nuevo debe seguir el siguiente proceso:</a:t>
            </a:r>
          </a:p>
          <a:p>
            <a:pPr marL="342900" indent="-342900" algn="just">
              <a:buFont typeface="+mj-lt"/>
              <a:buAutoNum type="arabicPeriod"/>
            </a:pPr>
            <a:r>
              <a:rPr lang="es-ES_tradnl" sz="1100" dirty="0"/>
              <a:t>Debe presionar insertar para la creación del nuevo registro.</a:t>
            </a:r>
          </a:p>
          <a:p>
            <a:pPr marL="342900" indent="-342900" algn="just">
              <a:buFont typeface="+mj-lt"/>
              <a:buAutoNum type="arabicPeriod"/>
            </a:pPr>
            <a:r>
              <a:rPr lang="es-ES_tradnl" sz="1100" dirty="0"/>
              <a:t>Insertar un código de 02 caracteres.</a:t>
            </a:r>
          </a:p>
          <a:p>
            <a:pPr marL="342900" indent="-342900" algn="just">
              <a:buFont typeface="+mj-lt"/>
              <a:buAutoNum type="arabicPeriod"/>
            </a:pPr>
            <a:r>
              <a:rPr lang="es-ES_tradnl" sz="1100" dirty="0"/>
              <a:t>Asignar, crear una descripción.</a:t>
            </a:r>
          </a:p>
          <a:p>
            <a:pPr marL="342900" indent="-342900" algn="just">
              <a:buFont typeface="+mj-lt"/>
              <a:buAutoNum type="arabicPeriod"/>
            </a:pPr>
            <a:r>
              <a:rPr lang="es-ES_tradnl" sz="1100" dirty="0"/>
              <a:t>Complementar con los </a:t>
            </a:r>
            <a:r>
              <a:rPr lang="es-ES_tradnl" sz="1100" dirty="0" err="1"/>
              <a:t>checkbox</a:t>
            </a:r>
            <a:r>
              <a:rPr lang="es-ES_tradnl" sz="1100" dirty="0"/>
              <a:t> necesarios.</a:t>
            </a:r>
          </a:p>
          <a:p>
            <a:pPr marL="342900" indent="-342900" algn="just">
              <a:buFont typeface="+mj-lt"/>
              <a:buAutoNum type="arabicPeriod"/>
            </a:pPr>
            <a:r>
              <a:rPr lang="es-ES_tradnl" sz="1100" dirty="0"/>
              <a:t>Guardar los registros creados o modificados.</a:t>
            </a:r>
          </a:p>
        </p:txBody>
      </p:sp>
      <p:sp>
        <p:nvSpPr>
          <p:cNvPr id="6" name="Rectángulo redondeado 9">
            <a:extLst>
              <a:ext uri="{FF2B5EF4-FFF2-40B4-BE49-F238E27FC236}">
                <a16:creationId xmlns:a16="http://schemas.microsoft.com/office/drawing/2014/main" id="{711CA3AC-8672-749B-D10E-FDEEA208473E}"/>
              </a:ext>
            </a:extLst>
          </p:cNvPr>
          <p:cNvSpPr/>
          <p:nvPr/>
        </p:nvSpPr>
        <p:spPr>
          <a:xfrm>
            <a:off x="10753803" y="1195477"/>
            <a:ext cx="260362" cy="2186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redondeado 9">
            <a:extLst>
              <a:ext uri="{FF2B5EF4-FFF2-40B4-BE49-F238E27FC236}">
                <a16:creationId xmlns:a16="http://schemas.microsoft.com/office/drawing/2014/main" id="{A3A51EA0-4A54-5FAE-1A48-2ED675988996}"/>
              </a:ext>
            </a:extLst>
          </p:cNvPr>
          <p:cNvSpPr/>
          <p:nvPr/>
        </p:nvSpPr>
        <p:spPr>
          <a:xfrm>
            <a:off x="2466957" y="1821800"/>
            <a:ext cx="260362" cy="2186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9" name="Rectángulo redondeado 9">
            <a:extLst>
              <a:ext uri="{FF2B5EF4-FFF2-40B4-BE49-F238E27FC236}">
                <a16:creationId xmlns:a16="http://schemas.microsoft.com/office/drawing/2014/main" id="{8257B344-ABE6-F361-8620-EC5D7830ED8B}"/>
              </a:ext>
            </a:extLst>
          </p:cNvPr>
          <p:cNvSpPr/>
          <p:nvPr/>
        </p:nvSpPr>
        <p:spPr>
          <a:xfrm>
            <a:off x="1108052" y="1801478"/>
            <a:ext cx="260362" cy="2186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0" name="Rectángulo redondeado 9">
            <a:extLst>
              <a:ext uri="{FF2B5EF4-FFF2-40B4-BE49-F238E27FC236}">
                <a16:creationId xmlns:a16="http://schemas.microsoft.com/office/drawing/2014/main" id="{BC004CE4-FB7E-1E40-F028-9EA0851F83CA}"/>
              </a:ext>
            </a:extLst>
          </p:cNvPr>
          <p:cNvSpPr/>
          <p:nvPr/>
        </p:nvSpPr>
        <p:spPr>
          <a:xfrm>
            <a:off x="6710362" y="2176828"/>
            <a:ext cx="260362" cy="2186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1" name="Rectángulo redondeado 9">
            <a:extLst>
              <a:ext uri="{FF2B5EF4-FFF2-40B4-BE49-F238E27FC236}">
                <a16:creationId xmlns:a16="http://schemas.microsoft.com/office/drawing/2014/main" id="{92461E67-D0F3-18E0-0839-A8B4D641B8A5}"/>
              </a:ext>
            </a:extLst>
          </p:cNvPr>
          <p:cNvSpPr/>
          <p:nvPr/>
        </p:nvSpPr>
        <p:spPr>
          <a:xfrm>
            <a:off x="10774715" y="5553212"/>
            <a:ext cx="260362" cy="2186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2" name="Cerrar llave 11">
            <a:extLst>
              <a:ext uri="{FF2B5EF4-FFF2-40B4-BE49-F238E27FC236}">
                <a16:creationId xmlns:a16="http://schemas.microsoft.com/office/drawing/2014/main" id="{4466DF98-45E7-EFB4-230B-6E4227D90C70}"/>
              </a:ext>
            </a:extLst>
          </p:cNvPr>
          <p:cNvSpPr/>
          <p:nvPr/>
        </p:nvSpPr>
        <p:spPr>
          <a:xfrm rot="5400000">
            <a:off x="6738846" y="-785559"/>
            <a:ext cx="203394" cy="550863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Tree>
    <p:extLst>
      <p:ext uri="{BB962C8B-B14F-4D97-AF65-F5344CB8AC3E}">
        <p14:creationId xmlns:p14="http://schemas.microsoft.com/office/powerpoint/2010/main" val="260786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313D474-EF59-2D48-B7C0-03A42597CAB9}"/>
              </a:ext>
            </a:extLst>
          </p:cNvPr>
          <p:cNvSpPr txBox="1">
            <a:spLocks/>
          </p:cNvSpPr>
          <p:nvPr/>
        </p:nvSpPr>
        <p:spPr>
          <a:xfrm>
            <a:off x="475488" y="3026292"/>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
        <p:nvSpPr>
          <p:cNvPr id="2" name="Marcador de texto vertical 1">
            <a:extLst>
              <a:ext uri="{FF2B5EF4-FFF2-40B4-BE49-F238E27FC236}">
                <a16:creationId xmlns:a16="http://schemas.microsoft.com/office/drawing/2014/main" id="{F0B92568-548A-3FDF-0A9D-BB64AC473FF2}"/>
              </a:ext>
            </a:extLst>
          </p:cNvPr>
          <p:cNvSpPr>
            <a:spLocks noGrp="1"/>
          </p:cNvSpPr>
          <p:nvPr>
            <p:ph type="body" orient="vert" sz="quarter" idx="10"/>
          </p:nvPr>
        </p:nvSpPr>
        <p:spPr/>
        <p:txBody>
          <a:bodyPr/>
          <a:lstStyle/>
          <a:p>
            <a:r>
              <a:rPr lang="es-ES" sz="1200" dirty="0"/>
              <a:t>Asignar o actualizar retenciones</a:t>
            </a:r>
            <a:endParaRPr lang="es-419" dirty="0"/>
          </a:p>
        </p:txBody>
      </p:sp>
      <p:sp>
        <p:nvSpPr>
          <p:cNvPr id="7" name="Title 4">
            <a:extLst>
              <a:ext uri="{FF2B5EF4-FFF2-40B4-BE49-F238E27FC236}">
                <a16:creationId xmlns:a16="http://schemas.microsoft.com/office/drawing/2014/main" id="{4A62112F-A3AA-3C4D-A267-97DF7410D190}"/>
              </a:ext>
            </a:extLst>
          </p:cNvPr>
          <p:cNvSpPr>
            <a:spLocks noGrp="1"/>
          </p:cNvSpPr>
          <p:nvPr>
            <p:ph type="title"/>
          </p:nvPr>
        </p:nvSpPr>
        <p:spPr/>
        <p:txBody>
          <a:bodyPr/>
          <a:lstStyle/>
          <a:p>
            <a:r>
              <a:rPr lang="es-ES" dirty="0"/>
              <a:t>Gestionar retención académica por Plan de estudios</a:t>
            </a:r>
            <a:endParaRPr lang="es-ES_tradnl" dirty="0"/>
          </a:p>
        </p:txBody>
      </p:sp>
      <p:sp>
        <p:nvSpPr>
          <p:cNvPr id="3" name="Marcador de texto 2">
            <a:extLst>
              <a:ext uri="{FF2B5EF4-FFF2-40B4-BE49-F238E27FC236}">
                <a16:creationId xmlns:a16="http://schemas.microsoft.com/office/drawing/2014/main" id="{CC194659-2111-65DA-CF8C-F931670E7027}"/>
              </a:ext>
            </a:extLst>
          </p:cNvPr>
          <p:cNvSpPr>
            <a:spLocks noGrp="1"/>
          </p:cNvSpPr>
          <p:nvPr>
            <p:ph type="body" sz="quarter" idx="18"/>
          </p:nvPr>
        </p:nvSpPr>
        <p:spPr/>
        <p:txBody>
          <a:bodyPr/>
          <a:lstStyle/>
          <a:p>
            <a:r>
              <a:rPr lang="es-419" dirty="0"/>
              <a:t>Afecta al estudiante solamente en el programa que corresponda al plan de estudios al que se le asigna la retención.</a:t>
            </a:r>
          </a:p>
        </p:txBody>
      </p:sp>
    </p:spTree>
    <p:extLst>
      <p:ext uri="{BB962C8B-B14F-4D97-AF65-F5344CB8AC3E}">
        <p14:creationId xmlns:p14="http://schemas.microsoft.com/office/powerpoint/2010/main" val="55189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35C0E5B-B5CC-E7A1-AC81-6D898CD6C2C1}"/>
              </a:ext>
            </a:extLst>
          </p:cNvPr>
          <p:cNvPicPr>
            <a:picLocks noChangeAspect="1"/>
          </p:cNvPicPr>
          <p:nvPr/>
        </p:nvPicPr>
        <p:blipFill>
          <a:blip r:embed="rId3"/>
          <a:stretch>
            <a:fillRect/>
          </a:stretch>
        </p:blipFill>
        <p:spPr>
          <a:xfrm>
            <a:off x="884903" y="1248697"/>
            <a:ext cx="10704476" cy="5064363"/>
          </a:xfrm>
          <a:prstGeom prst="rect">
            <a:avLst/>
          </a:prstGeom>
        </p:spPr>
      </p:pic>
      <p:sp>
        <p:nvSpPr>
          <p:cNvPr id="5" name="Marcador de texto vertical 4">
            <a:extLst>
              <a:ext uri="{FF2B5EF4-FFF2-40B4-BE49-F238E27FC236}">
                <a16:creationId xmlns:a16="http://schemas.microsoft.com/office/drawing/2014/main" id="{46122D14-E4FA-4647-3558-9021D99E607C}"/>
              </a:ext>
            </a:extLst>
          </p:cNvPr>
          <p:cNvSpPr>
            <a:spLocks noGrp="1"/>
          </p:cNvSpPr>
          <p:nvPr>
            <p:ph type="body" orient="vert" sz="quarter" idx="17"/>
          </p:nvPr>
        </p:nvSpPr>
        <p:spPr/>
        <p:txBody>
          <a:bodyPr/>
          <a:lstStyle/>
          <a:p>
            <a:r>
              <a:rPr lang="es-ES" sz="1200" dirty="0"/>
              <a:t>Asignar o actualizar retenciones</a:t>
            </a:r>
            <a:endParaRPr lang="es-419" dirty="0"/>
          </a:p>
        </p:txBody>
      </p:sp>
      <p:sp>
        <p:nvSpPr>
          <p:cNvPr id="13" name="Title 12"/>
          <p:cNvSpPr>
            <a:spLocks noGrp="1"/>
          </p:cNvSpPr>
          <p:nvPr>
            <p:ph type="title"/>
          </p:nvPr>
        </p:nvSpPr>
        <p:spPr>
          <a:xfrm>
            <a:off x="971143" y="431723"/>
            <a:ext cx="10477497" cy="898555"/>
          </a:xfrm>
        </p:spPr>
        <p:txBody>
          <a:bodyPr/>
          <a:lstStyle/>
          <a:p>
            <a:r>
              <a:rPr lang="es-ES_tradnl" dirty="0"/>
              <a:t>Retenciones académicas: </a:t>
            </a:r>
            <a:r>
              <a:rPr lang="es-ES_tradnl" b="1" dirty="0"/>
              <a:t>Por Plan de estudios (SGASTHD)</a:t>
            </a:r>
          </a:p>
        </p:txBody>
      </p:sp>
      <p:sp>
        <p:nvSpPr>
          <p:cNvPr id="11" name="CuadroTexto 10">
            <a:extLst>
              <a:ext uri="{FF2B5EF4-FFF2-40B4-BE49-F238E27FC236}">
                <a16:creationId xmlns:a16="http://schemas.microsoft.com/office/drawing/2014/main" id="{49A31080-B05A-6571-4245-2226C99A7160}"/>
              </a:ext>
            </a:extLst>
          </p:cNvPr>
          <p:cNvSpPr txBox="1"/>
          <p:nvPr/>
        </p:nvSpPr>
        <p:spPr>
          <a:xfrm>
            <a:off x="1062303" y="1771068"/>
            <a:ext cx="301753" cy="215444"/>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1</a:t>
            </a:r>
            <a:endParaRPr lang="en-US" dirty="0"/>
          </a:p>
        </p:txBody>
      </p:sp>
      <p:sp>
        <p:nvSpPr>
          <p:cNvPr id="20" name="CuadroTexto 19">
            <a:extLst>
              <a:ext uri="{FF2B5EF4-FFF2-40B4-BE49-F238E27FC236}">
                <a16:creationId xmlns:a16="http://schemas.microsoft.com/office/drawing/2014/main" id="{153180C7-F875-CE1E-530D-9A173D225524}"/>
              </a:ext>
            </a:extLst>
          </p:cNvPr>
          <p:cNvSpPr txBox="1"/>
          <p:nvPr/>
        </p:nvSpPr>
        <p:spPr>
          <a:xfrm>
            <a:off x="10813236" y="1812834"/>
            <a:ext cx="301753" cy="215444"/>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2</a:t>
            </a:r>
            <a:endParaRPr lang="en-US" dirty="0"/>
          </a:p>
        </p:txBody>
      </p:sp>
      <p:sp>
        <p:nvSpPr>
          <p:cNvPr id="22" name="Rectángulo: esquinas redondeadas 21">
            <a:extLst>
              <a:ext uri="{FF2B5EF4-FFF2-40B4-BE49-F238E27FC236}">
                <a16:creationId xmlns:a16="http://schemas.microsoft.com/office/drawing/2014/main" id="{F1C23CED-A0D2-0921-6B06-67777090C20D}"/>
              </a:ext>
            </a:extLst>
          </p:cNvPr>
          <p:cNvSpPr/>
          <p:nvPr/>
        </p:nvSpPr>
        <p:spPr>
          <a:xfrm>
            <a:off x="971143" y="5100463"/>
            <a:ext cx="10477498" cy="8541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a:pPr>
            <a:r>
              <a:rPr lang="es-419" sz="1100" b="1" dirty="0"/>
              <a:t>ID</a:t>
            </a:r>
            <a:r>
              <a:rPr lang="es-419" sz="1100" dirty="0"/>
              <a:t>: código identificador del alumno del alumno al que desea asignar el atributo.</a:t>
            </a:r>
          </a:p>
          <a:p>
            <a:pPr marL="342900" indent="-342900" algn="just">
              <a:buFont typeface="+mj-lt"/>
              <a:buAutoNum type="arabicPeriod"/>
            </a:pPr>
            <a:r>
              <a:rPr lang="es-CL" sz="1100" dirty="0"/>
              <a:t>Hacer clic en el botón </a:t>
            </a:r>
            <a:r>
              <a:rPr lang="es-CL" sz="1100" b="1" dirty="0"/>
              <a:t>Ir</a:t>
            </a:r>
            <a:r>
              <a:rPr lang="es-CL" sz="1100" dirty="0"/>
              <a:t>.</a:t>
            </a:r>
          </a:p>
        </p:txBody>
      </p:sp>
    </p:spTree>
    <p:extLst>
      <p:ext uri="{BB962C8B-B14F-4D97-AF65-F5344CB8AC3E}">
        <p14:creationId xmlns:p14="http://schemas.microsoft.com/office/powerpoint/2010/main" val="1614247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772614A-F18F-42F5-2AF6-0000E235EA24}"/>
              </a:ext>
            </a:extLst>
          </p:cNvPr>
          <p:cNvPicPr>
            <a:picLocks noChangeAspect="1"/>
          </p:cNvPicPr>
          <p:nvPr/>
        </p:nvPicPr>
        <p:blipFill>
          <a:blip r:embed="rId3"/>
          <a:stretch>
            <a:fillRect/>
          </a:stretch>
        </p:blipFill>
        <p:spPr>
          <a:xfrm>
            <a:off x="835742" y="1270773"/>
            <a:ext cx="10649882" cy="5047311"/>
          </a:xfrm>
          <a:prstGeom prst="rect">
            <a:avLst/>
          </a:prstGeom>
        </p:spPr>
      </p:pic>
      <p:sp>
        <p:nvSpPr>
          <p:cNvPr id="5" name="Marcador de texto vertical 4">
            <a:extLst>
              <a:ext uri="{FF2B5EF4-FFF2-40B4-BE49-F238E27FC236}">
                <a16:creationId xmlns:a16="http://schemas.microsoft.com/office/drawing/2014/main" id="{46122D14-E4FA-4647-3558-9021D99E607C}"/>
              </a:ext>
            </a:extLst>
          </p:cNvPr>
          <p:cNvSpPr>
            <a:spLocks noGrp="1"/>
          </p:cNvSpPr>
          <p:nvPr>
            <p:ph type="body" orient="vert" sz="quarter" idx="17"/>
          </p:nvPr>
        </p:nvSpPr>
        <p:spPr/>
        <p:txBody>
          <a:bodyPr/>
          <a:lstStyle/>
          <a:p>
            <a:r>
              <a:rPr lang="es-ES" sz="1200" dirty="0"/>
              <a:t>Asignar o actualizar retenciones</a:t>
            </a:r>
            <a:endParaRPr lang="es-419" dirty="0"/>
          </a:p>
        </p:txBody>
      </p:sp>
      <p:sp>
        <p:nvSpPr>
          <p:cNvPr id="13" name="Title 12"/>
          <p:cNvSpPr>
            <a:spLocks noGrp="1"/>
          </p:cNvSpPr>
          <p:nvPr>
            <p:ph type="title"/>
          </p:nvPr>
        </p:nvSpPr>
        <p:spPr>
          <a:xfrm>
            <a:off x="1008127" y="103472"/>
            <a:ext cx="10477497" cy="898555"/>
          </a:xfrm>
        </p:spPr>
        <p:txBody>
          <a:bodyPr/>
          <a:lstStyle/>
          <a:p>
            <a:r>
              <a:rPr lang="es-ES_tradnl" dirty="0"/>
              <a:t>Retenciones académicas: </a:t>
            </a:r>
            <a:r>
              <a:rPr lang="es-ES_tradnl" b="1" dirty="0"/>
              <a:t>Por Plan de estudios (SGASTHD)</a:t>
            </a:r>
          </a:p>
        </p:txBody>
      </p:sp>
      <p:sp>
        <p:nvSpPr>
          <p:cNvPr id="11" name="CuadroTexto 10">
            <a:extLst>
              <a:ext uri="{FF2B5EF4-FFF2-40B4-BE49-F238E27FC236}">
                <a16:creationId xmlns:a16="http://schemas.microsoft.com/office/drawing/2014/main" id="{49A31080-B05A-6571-4245-2226C99A7160}"/>
              </a:ext>
            </a:extLst>
          </p:cNvPr>
          <p:cNvSpPr txBox="1"/>
          <p:nvPr/>
        </p:nvSpPr>
        <p:spPr>
          <a:xfrm>
            <a:off x="609601" y="2317488"/>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3</a:t>
            </a:r>
            <a:endParaRPr lang="en-US" dirty="0"/>
          </a:p>
        </p:txBody>
      </p:sp>
      <p:sp>
        <p:nvSpPr>
          <p:cNvPr id="20" name="CuadroTexto 19">
            <a:extLst>
              <a:ext uri="{FF2B5EF4-FFF2-40B4-BE49-F238E27FC236}">
                <a16:creationId xmlns:a16="http://schemas.microsoft.com/office/drawing/2014/main" id="{153180C7-F875-CE1E-530D-9A173D225524}"/>
              </a:ext>
            </a:extLst>
          </p:cNvPr>
          <p:cNvSpPr txBox="1"/>
          <p:nvPr/>
        </p:nvSpPr>
        <p:spPr>
          <a:xfrm>
            <a:off x="2464910" y="2288608"/>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4</a:t>
            </a:r>
            <a:endParaRPr lang="en-US" dirty="0"/>
          </a:p>
        </p:txBody>
      </p:sp>
      <p:sp>
        <p:nvSpPr>
          <p:cNvPr id="22" name="Rectángulo: esquinas redondeadas 21">
            <a:extLst>
              <a:ext uri="{FF2B5EF4-FFF2-40B4-BE49-F238E27FC236}">
                <a16:creationId xmlns:a16="http://schemas.microsoft.com/office/drawing/2014/main" id="{F1C23CED-A0D2-0921-6B06-67777090C20D}"/>
              </a:ext>
            </a:extLst>
          </p:cNvPr>
          <p:cNvSpPr/>
          <p:nvPr/>
        </p:nvSpPr>
        <p:spPr>
          <a:xfrm>
            <a:off x="1100367" y="4797018"/>
            <a:ext cx="10477498" cy="122565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3"/>
            </a:pPr>
            <a:r>
              <a:rPr lang="es-419" sz="1100" dirty="0"/>
              <a:t>Seleccione o digite el </a:t>
            </a:r>
            <a:r>
              <a:rPr lang="es-419" sz="1100" b="1" dirty="0"/>
              <a:t>código de la retención </a:t>
            </a:r>
            <a:r>
              <a:rPr lang="es-419" sz="1100" dirty="0"/>
              <a:t>que desea asignar al estudiante. Si descripción se desplegará automáticamente</a:t>
            </a:r>
          </a:p>
          <a:p>
            <a:pPr marL="342900" indent="-342900" algn="just">
              <a:buFont typeface="+mj-lt"/>
              <a:buAutoNum type="arabicPeriod" startAt="3"/>
            </a:pPr>
            <a:r>
              <a:rPr lang="es-419" sz="1100" dirty="0"/>
              <a:t>Seleccione o digite el </a:t>
            </a:r>
            <a:r>
              <a:rPr lang="es-419" sz="1100" b="1" dirty="0"/>
              <a:t>Plan de estudios </a:t>
            </a:r>
            <a:r>
              <a:rPr lang="es-419" sz="1100" dirty="0"/>
              <a:t>para el cual se asigna la retención.</a:t>
            </a:r>
          </a:p>
          <a:p>
            <a:pPr marL="342900" indent="-342900" algn="just">
              <a:buFont typeface="+mj-lt"/>
              <a:buAutoNum type="arabicPeriod" startAt="3"/>
            </a:pPr>
            <a:r>
              <a:rPr lang="es-CL" sz="1100" dirty="0"/>
              <a:t>Si lo desea, puede ingresar una breve descripción del por qué se está asignando la retención (30 caracteres máximo) en el campo </a:t>
            </a:r>
            <a:r>
              <a:rPr lang="es-CL" sz="1100" b="1" dirty="0"/>
              <a:t>Razón</a:t>
            </a:r>
            <a:r>
              <a:rPr lang="es-CL" sz="1100" dirty="0"/>
              <a:t>.</a:t>
            </a:r>
          </a:p>
          <a:p>
            <a:pPr marL="342900" indent="-342900" algn="just">
              <a:buFont typeface="+mj-lt"/>
              <a:buAutoNum type="arabicPeriod" startAt="3"/>
            </a:pPr>
            <a:r>
              <a:rPr lang="es-CL" sz="1100" dirty="0"/>
              <a:t>Por defecto el sistema coloca la fecha de asignación del código como la fecha inicial de la retención. Modifique el valor si así lo desea e ingrese la fecha final de dicha asignación en el campo </a:t>
            </a:r>
            <a:r>
              <a:rPr lang="es-CL" sz="1100" b="1" dirty="0"/>
              <a:t>A*.</a:t>
            </a:r>
          </a:p>
          <a:p>
            <a:pPr marL="342900" indent="-342900" algn="just">
              <a:buFont typeface="+mj-lt"/>
              <a:buAutoNum type="arabicPeriod" startAt="3"/>
            </a:pPr>
            <a:r>
              <a:rPr lang="es-CL" sz="1100" dirty="0"/>
              <a:t>Presione el botón </a:t>
            </a:r>
            <a:r>
              <a:rPr lang="es-CL" sz="1100" b="1" dirty="0"/>
              <a:t>Guardar</a:t>
            </a:r>
            <a:r>
              <a:rPr lang="es-CL" sz="1100" dirty="0"/>
              <a:t>.</a:t>
            </a:r>
          </a:p>
        </p:txBody>
      </p:sp>
      <p:sp>
        <p:nvSpPr>
          <p:cNvPr id="4" name="CuadroTexto 3">
            <a:extLst>
              <a:ext uri="{FF2B5EF4-FFF2-40B4-BE49-F238E27FC236}">
                <a16:creationId xmlns:a16="http://schemas.microsoft.com/office/drawing/2014/main" id="{D9A35B8D-F1B6-A75B-67E1-C32E0773BF30}"/>
              </a:ext>
            </a:extLst>
          </p:cNvPr>
          <p:cNvSpPr txBox="1"/>
          <p:nvPr/>
        </p:nvSpPr>
        <p:spPr>
          <a:xfrm>
            <a:off x="4399311" y="2323963"/>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5</a:t>
            </a:r>
          </a:p>
        </p:txBody>
      </p:sp>
      <p:sp>
        <p:nvSpPr>
          <p:cNvPr id="9" name="CuadroTexto 8">
            <a:extLst>
              <a:ext uri="{FF2B5EF4-FFF2-40B4-BE49-F238E27FC236}">
                <a16:creationId xmlns:a16="http://schemas.microsoft.com/office/drawing/2014/main" id="{AE5885C9-BA23-03F7-5324-688C4794CF44}"/>
              </a:ext>
            </a:extLst>
          </p:cNvPr>
          <p:cNvSpPr txBox="1"/>
          <p:nvPr/>
        </p:nvSpPr>
        <p:spPr>
          <a:xfrm>
            <a:off x="10502153" y="6071311"/>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7</a:t>
            </a:r>
          </a:p>
        </p:txBody>
      </p:sp>
      <p:sp>
        <p:nvSpPr>
          <p:cNvPr id="12" name="CuadroTexto 11">
            <a:extLst>
              <a:ext uri="{FF2B5EF4-FFF2-40B4-BE49-F238E27FC236}">
                <a16:creationId xmlns:a16="http://schemas.microsoft.com/office/drawing/2014/main" id="{9BAC9F27-6505-71B4-7783-59B5F32084A8}"/>
              </a:ext>
            </a:extLst>
          </p:cNvPr>
          <p:cNvSpPr txBox="1"/>
          <p:nvPr/>
        </p:nvSpPr>
        <p:spPr>
          <a:xfrm>
            <a:off x="6824390" y="2323963"/>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6</a:t>
            </a:r>
          </a:p>
        </p:txBody>
      </p:sp>
      <p:sp>
        <p:nvSpPr>
          <p:cNvPr id="15" name="Rectángulo 14">
            <a:extLst>
              <a:ext uri="{FF2B5EF4-FFF2-40B4-BE49-F238E27FC236}">
                <a16:creationId xmlns:a16="http://schemas.microsoft.com/office/drawing/2014/main" id="{8ACA5743-5434-088C-C916-515DB4E50FC1}"/>
              </a:ext>
            </a:extLst>
          </p:cNvPr>
          <p:cNvSpPr/>
          <p:nvPr/>
        </p:nvSpPr>
        <p:spPr>
          <a:xfrm>
            <a:off x="7241766" y="2159848"/>
            <a:ext cx="1201410" cy="36991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4134989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041C62D-F871-9F48-6624-26657727825A}"/>
              </a:ext>
            </a:extLst>
          </p:cNvPr>
          <p:cNvPicPr>
            <a:picLocks noChangeAspect="1"/>
          </p:cNvPicPr>
          <p:nvPr/>
        </p:nvPicPr>
        <p:blipFill>
          <a:blip r:embed="rId3"/>
          <a:stretch>
            <a:fillRect/>
          </a:stretch>
        </p:blipFill>
        <p:spPr>
          <a:xfrm>
            <a:off x="589572" y="1101213"/>
            <a:ext cx="11002257" cy="5220050"/>
          </a:xfrm>
          <a:prstGeom prst="rect">
            <a:avLst/>
          </a:prstGeom>
        </p:spPr>
      </p:pic>
      <p:sp>
        <p:nvSpPr>
          <p:cNvPr id="5" name="Marcador de texto vertical 4">
            <a:extLst>
              <a:ext uri="{FF2B5EF4-FFF2-40B4-BE49-F238E27FC236}">
                <a16:creationId xmlns:a16="http://schemas.microsoft.com/office/drawing/2014/main" id="{46122D14-E4FA-4647-3558-9021D99E607C}"/>
              </a:ext>
            </a:extLst>
          </p:cNvPr>
          <p:cNvSpPr>
            <a:spLocks noGrp="1"/>
          </p:cNvSpPr>
          <p:nvPr>
            <p:ph type="body" orient="vert" sz="quarter" idx="17"/>
          </p:nvPr>
        </p:nvSpPr>
        <p:spPr/>
        <p:txBody>
          <a:bodyPr/>
          <a:lstStyle/>
          <a:p>
            <a:r>
              <a:rPr lang="es-ES" sz="1200" dirty="0"/>
              <a:t>Asignar o actualizar retenciones</a:t>
            </a:r>
            <a:endParaRPr lang="es-419" dirty="0"/>
          </a:p>
        </p:txBody>
      </p:sp>
      <p:sp>
        <p:nvSpPr>
          <p:cNvPr id="13" name="Title 12"/>
          <p:cNvSpPr>
            <a:spLocks noGrp="1"/>
          </p:cNvSpPr>
          <p:nvPr>
            <p:ph type="title"/>
          </p:nvPr>
        </p:nvSpPr>
        <p:spPr>
          <a:xfrm>
            <a:off x="1008127" y="103472"/>
            <a:ext cx="10477497" cy="898555"/>
          </a:xfrm>
        </p:spPr>
        <p:txBody>
          <a:bodyPr/>
          <a:lstStyle/>
          <a:p>
            <a:r>
              <a:rPr lang="es-ES_tradnl" dirty="0"/>
              <a:t>Retenciones académicas: </a:t>
            </a:r>
            <a:r>
              <a:rPr lang="es-ES_tradnl" b="1" dirty="0"/>
              <a:t>Por Plan de estudios (SGASTHD)</a:t>
            </a:r>
          </a:p>
        </p:txBody>
      </p:sp>
      <p:sp>
        <p:nvSpPr>
          <p:cNvPr id="9" name="CuadroTexto 8">
            <a:extLst>
              <a:ext uri="{FF2B5EF4-FFF2-40B4-BE49-F238E27FC236}">
                <a16:creationId xmlns:a16="http://schemas.microsoft.com/office/drawing/2014/main" id="{AE5885C9-BA23-03F7-5324-688C4794CF44}"/>
              </a:ext>
            </a:extLst>
          </p:cNvPr>
          <p:cNvSpPr txBox="1"/>
          <p:nvPr/>
        </p:nvSpPr>
        <p:spPr>
          <a:xfrm>
            <a:off x="10521713" y="1818122"/>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8</a:t>
            </a:r>
          </a:p>
        </p:txBody>
      </p:sp>
      <p:sp>
        <p:nvSpPr>
          <p:cNvPr id="8" name="Rectángulo: esquinas redondeadas 7">
            <a:extLst>
              <a:ext uri="{FF2B5EF4-FFF2-40B4-BE49-F238E27FC236}">
                <a16:creationId xmlns:a16="http://schemas.microsoft.com/office/drawing/2014/main" id="{FC1B79E4-E622-2A87-A008-1070A501442A}"/>
              </a:ext>
            </a:extLst>
          </p:cNvPr>
          <p:cNvSpPr/>
          <p:nvPr/>
        </p:nvSpPr>
        <p:spPr>
          <a:xfrm>
            <a:off x="1124929" y="3428998"/>
            <a:ext cx="10477498" cy="138911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just"/>
            <a:r>
              <a:rPr lang="es-CL" sz="1100" dirty="0"/>
              <a:t>Al guardar la información, el sistema mostrará el usuario que asignó la información.</a:t>
            </a:r>
          </a:p>
          <a:p>
            <a:pPr algn="just"/>
            <a:r>
              <a:rPr lang="es-CL" sz="1100" dirty="0"/>
              <a:t>Si el usuario que asigna la retención será el </a:t>
            </a:r>
            <a:r>
              <a:rPr lang="es-CL" sz="1100" u="sng" dirty="0"/>
              <a:t>único</a:t>
            </a:r>
            <a:r>
              <a:rPr lang="es-CL" sz="1100" dirty="0"/>
              <a:t> que puede modificarla/eliminarla, active el campo </a:t>
            </a:r>
            <a:r>
              <a:rPr lang="es-CL" sz="1100" b="1" dirty="0"/>
              <a:t>Indicador de liberación, </a:t>
            </a:r>
            <a:r>
              <a:rPr lang="es-CL" sz="1100" dirty="0"/>
              <a:t>de lo contrario no y guarde la información.</a:t>
            </a:r>
          </a:p>
          <a:p>
            <a:pPr marL="228600" indent="-228600" algn="just">
              <a:buFont typeface="+mj-lt"/>
              <a:buAutoNum type="arabicPeriod" startAt="8"/>
            </a:pPr>
            <a:r>
              <a:rPr lang="es-CL" sz="1100" dirty="0"/>
              <a:t>Si desea asignar una nueva retención al estudiante, haga clic en la opción </a:t>
            </a:r>
            <a:r>
              <a:rPr lang="es-CL" sz="1100" b="1" dirty="0"/>
              <a:t>Insertar</a:t>
            </a:r>
            <a:r>
              <a:rPr lang="es-CL" sz="1100"/>
              <a:t> y repita los pasos descritos en la diapositiva anterior (pasos 3 al 7).</a:t>
            </a:r>
            <a:endParaRPr lang="es-CL" sz="1100">
              <a:cs typeface="Arial"/>
            </a:endParaRPr>
          </a:p>
          <a:p>
            <a:pPr algn="just"/>
            <a:r>
              <a:rPr lang="es-CL" sz="1100" dirty="0"/>
              <a:t>En el bloque Detalles de retención de persona se visualizarán, en caso de que existan, las retenciones que el estudiante tenga cargadas a nivel de persona </a:t>
            </a:r>
            <a:r>
              <a:rPr lang="es-CL" sz="1100"/>
              <a:t>(SOAHOLD).</a:t>
            </a:r>
            <a:endParaRPr lang="es-CL" sz="1100">
              <a:cs typeface="Arial"/>
            </a:endParaRPr>
          </a:p>
          <a:p>
            <a:pPr algn="just"/>
            <a:endParaRPr lang="es-CL" sz="1100" dirty="0"/>
          </a:p>
        </p:txBody>
      </p:sp>
    </p:spTree>
    <p:extLst>
      <p:ext uri="{BB962C8B-B14F-4D97-AF65-F5344CB8AC3E}">
        <p14:creationId xmlns:p14="http://schemas.microsoft.com/office/powerpoint/2010/main" val="2285649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ES" dirty="0"/>
              <a:t>Actualizar características del estudiante</a:t>
            </a:r>
            <a:endParaRPr lang="es-ES_tradnl" dirty="0"/>
          </a:p>
        </p:txBody>
      </p:sp>
      <p:sp>
        <p:nvSpPr>
          <p:cNvPr id="2" name="Title 1"/>
          <p:cNvSpPr>
            <a:spLocks noGrp="1"/>
          </p:cNvSpPr>
          <p:nvPr>
            <p:ph type="title"/>
          </p:nvPr>
        </p:nvSpPr>
        <p:spPr>
          <a:xfrm>
            <a:off x="1041838" y="-414703"/>
            <a:ext cx="7092820" cy="1628192"/>
          </a:xfrm>
        </p:spPr>
        <p:txBody>
          <a:bodyPr/>
          <a:lstStyle/>
          <a:p>
            <a:r>
              <a:rPr lang="es-ES_tradnl" dirty="0"/>
              <a:t>RESUMEN</a:t>
            </a:r>
          </a:p>
        </p:txBody>
      </p:sp>
      <p:sp>
        <p:nvSpPr>
          <p:cNvPr id="3" name="Marcador de texto 2">
            <a:extLst>
              <a:ext uri="{FF2B5EF4-FFF2-40B4-BE49-F238E27FC236}">
                <a16:creationId xmlns:a16="http://schemas.microsoft.com/office/drawing/2014/main" id="{7265C9B1-9A40-D4C2-C235-4FDA7BF66EFE}"/>
              </a:ext>
            </a:extLst>
          </p:cNvPr>
          <p:cNvSpPr>
            <a:spLocks noGrp="1"/>
          </p:cNvSpPr>
          <p:nvPr>
            <p:ph type="body" sz="quarter" idx="18"/>
          </p:nvPr>
        </p:nvSpPr>
        <p:spPr>
          <a:xfrm>
            <a:off x="1041838" y="1687104"/>
            <a:ext cx="10067596" cy="3399903"/>
          </a:xfrm>
        </p:spPr>
        <p:txBody>
          <a:bodyPr/>
          <a:lstStyle/>
          <a:p>
            <a:pPr marL="342900" lvl="1" indent="-342900" algn="just">
              <a:spcBef>
                <a:spcPts val="1000"/>
              </a:spcBef>
              <a:buClr>
                <a:srgbClr val="0CB4B4"/>
              </a:buClr>
              <a:buFont typeface="Wingdings" panose="05000000000000000000" pitchFamily="2" charset="2"/>
              <a:buChar char="q"/>
            </a:pPr>
            <a:r>
              <a:rPr lang="es-419" sz="2000" dirty="0"/>
              <a:t>Una persona o estudiante puede tener diversas retenciones</a:t>
            </a:r>
          </a:p>
          <a:p>
            <a:pPr marL="342900" lvl="1" indent="-342900" algn="just">
              <a:spcBef>
                <a:spcPts val="1000"/>
              </a:spcBef>
              <a:buClr>
                <a:srgbClr val="0CB4B4"/>
              </a:buClr>
              <a:buFont typeface="Wingdings" panose="05000000000000000000" pitchFamily="2" charset="2"/>
              <a:buChar char="q"/>
            </a:pPr>
            <a:r>
              <a:rPr lang="es-419" sz="2000" dirty="0"/>
              <a:t>La institución crea los tipos de retención en STVHLDD</a:t>
            </a:r>
          </a:p>
          <a:p>
            <a:pPr marL="342900" lvl="1" indent="-342900" algn="just">
              <a:spcBef>
                <a:spcPts val="1000"/>
              </a:spcBef>
              <a:buClr>
                <a:srgbClr val="0CB4B4"/>
              </a:buClr>
              <a:buFont typeface="Wingdings" panose="05000000000000000000" pitchFamily="2" charset="2"/>
              <a:buChar char="q"/>
            </a:pPr>
            <a:r>
              <a:rPr lang="es-419" sz="2000" dirty="0"/>
              <a:t>La institución asigna la retención por plan de estudio en SGASTHD</a:t>
            </a:r>
          </a:p>
          <a:p>
            <a:pPr marL="342900" lvl="1" indent="-342900" algn="just">
              <a:spcBef>
                <a:spcPts val="1000"/>
              </a:spcBef>
              <a:buClr>
                <a:srgbClr val="0CB4B4"/>
              </a:buClr>
              <a:buFont typeface="Wingdings" panose="05000000000000000000" pitchFamily="2" charset="2"/>
              <a:buChar char="q"/>
            </a:pPr>
            <a:r>
              <a:rPr lang="es-419" sz="2000" dirty="0"/>
              <a:t>La institución asigna la retención a la persona en SOAHOLD</a:t>
            </a:r>
          </a:p>
          <a:p>
            <a:endParaRPr lang="es-419" sz="2000" dirty="0"/>
          </a:p>
        </p:txBody>
      </p:sp>
    </p:spTree>
    <p:extLst>
      <p:ext uri="{BB962C8B-B14F-4D97-AF65-F5344CB8AC3E}">
        <p14:creationId xmlns:p14="http://schemas.microsoft.com/office/powerpoint/2010/main" val="1235984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noProof="0"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noProof="0" dirty="0"/>
              <a:t>Consultor</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noProof="0" dirty="0"/>
              <a:t>Correo</a:t>
            </a:r>
          </a:p>
        </p:txBody>
      </p:sp>
    </p:spTree>
    <p:extLst>
      <p:ext uri="{BB962C8B-B14F-4D97-AF65-F5344CB8AC3E}">
        <p14:creationId xmlns:p14="http://schemas.microsoft.com/office/powerpoint/2010/main" val="149292278"/>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96DF7355-EBEE-4711-B1B0-2A2483E511D1}" vid="{BB407EE2-72E0-46A0-AE3E-DB2EC49F911B}"/>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96DF7355-EBEE-4711-B1B0-2A2483E511D1}" vid="{302A0643-E7C6-43F6-8998-732C0CFA7EE2}"/>
    </a:ext>
  </a:extLst>
</a:theme>
</file>

<file path=ppt/theme/theme3.xml><?xml version="1.0" encoding="utf-8"?>
<a:theme xmlns:a="http://schemas.openxmlformats.org/drawingml/2006/main" name="1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Ellucian-PPT-Template-2025-V5</Template>
  <TotalTime>564</TotalTime>
  <Words>645</Words>
  <Application>Microsoft Office PowerPoint</Application>
  <PresentationFormat>Widescreen</PresentationFormat>
  <Paragraphs>96</Paragraphs>
  <Slides>17</Slides>
  <Notes>5</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17</vt:i4>
      </vt:variant>
    </vt:vector>
  </HeadingPairs>
  <TitlesOfParts>
    <vt:vector size="27" baseType="lpstr">
      <vt:lpstr>Aptos</vt:lpstr>
      <vt:lpstr>Aptos Display</vt:lpstr>
      <vt:lpstr>Arial</vt:lpstr>
      <vt:lpstr>Courier New</vt:lpstr>
      <vt:lpstr>Helvetica Neue</vt:lpstr>
      <vt:lpstr>Wingdings</vt:lpstr>
      <vt:lpstr>Ellucian Main Layouts</vt:lpstr>
      <vt:lpstr>Ellucian Blank Layouts</vt:lpstr>
      <vt:lpstr>1_Ellucian Main Layouts</vt:lpstr>
      <vt:lpstr>1_Ellucian Blank Layouts</vt:lpstr>
      <vt:lpstr>Asignar o actualizar retenciones </vt:lpstr>
      <vt:lpstr>PowerPoint Presentation</vt:lpstr>
      <vt:lpstr>Overview</vt:lpstr>
      <vt:lpstr>Overview: Mapa de Capacidades</vt:lpstr>
      <vt:lpstr>Overview: Procedimiento conducta estudiantil </vt:lpstr>
      <vt:lpstr>Overview: Gestionar retenciones académicas</vt:lpstr>
      <vt:lpstr>Overview: Procedimiento- Asignar o actualizar retenciones</vt:lpstr>
      <vt:lpstr>Overview: Región donde aplica</vt:lpstr>
      <vt:lpstr>Overview: Actualizar características del estudiante</vt:lpstr>
      <vt:lpstr>Configuraciones</vt:lpstr>
      <vt:lpstr>Configuraciones: Códigos de Retenciones</vt:lpstr>
      <vt:lpstr>Gestionar retención académica por Plan de estudios</vt:lpstr>
      <vt:lpstr>Retenciones académicas: Por Plan de estudios (SGASTHD)</vt:lpstr>
      <vt:lpstr>Retenciones académicas: Por Plan de estudios (SGASTHD)</vt:lpstr>
      <vt:lpstr>Retenciones académicas: Por Plan de estudios (SGASTHD)</vt:lpstr>
      <vt:lpstr>RESUMEN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Molina, Sergio</cp:lastModifiedBy>
  <cp:revision>12</cp:revision>
  <dcterms:created xsi:type="dcterms:W3CDTF">2024-09-26T00:26:14Z</dcterms:created>
  <dcterms:modified xsi:type="dcterms:W3CDTF">2026-06-30T20:44:05Z</dcterms:modified>
</cp:coreProperties>
</file>
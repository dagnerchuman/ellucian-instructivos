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2.xml" ContentType="application/vnd.openxmlformats-officedocument.theme+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theme/theme3.xml" ContentType="application/vnd.openxmlformats-officedocument.theme+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theme/theme4.xml" ContentType="application/vnd.openxmlformats-officedocument.theme+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96" r:id="rId2"/>
    <p:sldMasterId id="2147483731" r:id="rId3"/>
    <p:sldMasterId id="2147483768" r:id="rId4"/>
    <p:sldMasterId id="2147483788" r:id="rId5"/>
  </p:sldMasterIdLst>
  <p:notesMasterIdLst>
    <p:notesMasterId r:id="rId214"/>
  </p:notesMasterIdLst>
  <p:sldIdLst>
    <p:sldId id="265" r:id="rId6"/>
    <p:sldId id="390" r:id="rId7"/>
    <p:sldId id="418" r:id="rId8"/>
    <p:sldId id="419" r:id="rId9"/>
    <p:sldId id="422" r:id="rId10"/>
    <p:sldId id="421" r:id="rId11"/>
    <p:sldId id="507" r:id="rId12"/>
    <p:sldId id="423" r:id="rId13"/>
    <p:sldId id="509" r:id="rId14"/>
    <p:sldId id="685" r:id="rId15"/>
    <p:sldId id="508" r:id="rId16"/>
    <p:sldId id="498" r:id="rId17"/>
    <p:sldId id="424" r:id="rId18"/>
    <p:sldId id="499" r:id="rId19"/>
    <p:sldId id="500" r:id="rId20"/>
    <p:sldId id="501" r:id="rId21"/>
    <p:sldId id="502" r:id="rId22"/>
    <p:sldId id="503" r:id="rId23"/>
    <p:sldId id="504" r:id="rId24"/>
    <p:sldId id="505" r:id="rId25"/>
    <p:sldId id="512" r:id="rId26"/>
    <p:sldId id="506" r:id="rId27"/>
    <p:sldId id="513" r:id="rId28"/>
    <p:sldId id="586" r:id="rId29"/>
    <p:sldId id="515" r:id="rId30"/>
    <p:sldId id="510" r:id="rId31"/>
    <p:sldId id="516" r:id="rId32"/>
    <p:sldId id="517" r:id="rId33"/>
    <p:sldId id="518" r:id="rId34"/>
    <p:sldId id="519" r:id="rId35"/>
    <p:sldId id="520" r:id="rId36"/>
    <p:sldId id="521" r:id="rId37"/>
    <p:sldId id="522" r:id="rId38"/>
    <p:sldId id="523" r:id="rId39"/>
    <p:sldId id="529" r:id="rId40"/>
    <p:sldId id="530" r:id="rId41"/>
    <p:sldId id="531" r:id="rId42"/>
    <p:sldId id="532" r:id="rId43"/>
    <p:sldId id="524" r:id="rId44"/>
    <p:sldId id="588" r:id="rId45"/>
    <p:sldId id="587" r:id="rId46"/>
    <p:sldId id="589" r:id="rId47"/>
    <p:sldId id="591" r:id="rId48"/>
    <p:sldId id="540" r:id="rId49"/>
    <p:sldId id="592" r:id="rId50"/>
    <p:sldId id="542" r:id="rId51"/>
    <p:sldId id="543" r:id="rId52"/>
    <p:sldId id="534" r:id="rId53"/>
    <p:sldId id="544" r:id="rId54"/>
    <p:sldId id="593" r:id="rId55"/>
    <p:sldId id="546" r:id="rId56"/>
    <p:sldId id="599" r:id="rId57"/>
    <p:sldId id="547" r:id="rId58"/>
    <p:sldId id="548" r:id="rId59"/>
    <p:sldId id="549" r:id="rId60"/>
    <p:sldId id="550" r:id="rId61"/>
    <p:sldId id="551" r:id="rId62"/>
    <p:sldId id="552" r:id="rId63"/>
    <p:sldId id="553" r:id="rId64"/>
    <p:sldId id="554" r:id="rId65"/>
    <p:sldId id="555" r:id="rId66"/>
    <p:sldId id="535" r:id="rId67"/>
    <p:sldId id="600" r:id="rId68"/>
    <p:sldId id="557" r:id="rId69"/>
    <p:sldId id="536" r:id="rId70"/>
    <p:sldId id="558" r:id="rId71"/>
    <p:sldId id="559" r:id="rId72"/>
    <p:sldId id="560" r:id="rId73"/>
    <p:sldId id="594" r:id="rId74"/>
    <p:sldId id="562" r:id="rId75"/>
    <p:sldId id="563" r:id="rId76"/>
    <p:sldId id="595" r:id="rId77"/>
    <p:sldId id="565" r:id="rId78"/>
    <p:sldId id="596" r:id="rId79"/>
    <p:sldId id="567" r:id="rId80"/>
    <p:sldId id="568" r:id="rId81"/>
    <p:sldId id="569" r:id="rId82"/>
    <p:sldId id="570" r:id="rId83"/>
    <p:sldId id="571" r:id="rId84"/>
    <p:sldId id="572" r:id="rId85"/>
    <p:sldId id="573" r:id="rId86"/>
    <p:sldId id="574" r:id="rId87"/>
    <p:sldId id="575" r:id="rId88"/>
    <p:sldId id="576" r:id="rId89"/>
    <p:sldId id="577" r:id="rId90"/>
    <p:sldId id="578" r:id="rId91"/>
    <p:sldId id="579" r:id="rId92"/>
    <p:sldId id="580" r:id="rId93"/>
    <p:sldId id="582" r:id="rId94"/>
    <p:sldId id="583" r:id="rId95"/>
    <p:sldId id="584" r:id="rId96"/>
    <p:sldId id="585" r:id="rId97"/>
    <p:sldId id="602" r:id="rId98"/>
    <p:sldId id="605" r:id="rId99"/>
    <p:sldId id="606" r:id="rId100"/>
    <p:sldId id="604" r:id="rId101"/>
    <p:sldId id="612" r:id="rId102"/>
    <p:sldId id="613" r:id="rId103"/>
    <p:sldId id="614" r:id="rId104"/>
    <p:sldId id="615" r:id="rId105"/>
    <p:sldId id="616" r:id="rId106"/>
    <p:sldId id="617" r:id="rId107"/>
    <p:sldId id="618" r:id="rId108"/>
    <p:sldId id="619" r:id="rId109"/>
    <p:sldId id="620" r:id="rId110"/>
    <p:sldId id="611" r:id="rId111"/>
    <p:sldId id="621" r:id="rId112"/>
    <p:sldId id="623" r:id="rId113"/>
    <p:sldId id="622" r:id="rId114"/>
    <p:sldId id="624" r:id="rId115"/>
    <p:sldId id="625" r:id="rId116"/>
    <p:sldId id="626" r:id="rId117"/>
    <p:sldId id="627" r:id="rId118"/>
    <p:sldId id="628" r:id="rId119"/>
    <p:sldId id="629" r:id="rId120"/>
    <p:sldId id="630" r:id="rId121"/>
    <p:sldId id="631" r:id="rId122"/>
    <p:sldId id="632" r:id="rId123"/>
    <p:sldId id="633" r:id="rId124"/>
    <p:sldId id="634" r:id="rId125"/>
    <p:sldId id="635" r:id="rId126"/>
    <p:sldId id="636" r:id="rId127"/>
    <p:sldId id="637" r:id="rId128"/>
    <p:sldId id="638" r:id="rId129"/>
    <p:sldId id="639" r:id="rId130"/>
    <p:sldId id="640" r:id="rId131"/>
    <p:sldId id="641" r:id="rId132"/>
    <p:sldId id="642" r:id="rId133"/>
    <p:sldId id="643" r:id="rId134"/>
    <p:sldId id="644" r:id="rId135"/>
    <p:sldId id="689" r:id="rId136"/>
    <p:sldId id="690" r:id="rId137"/>
    <p:sldId id="692" r:id="rId138"/>
    <p:sldId id="693" r:id="rId139"/>
    <p:sldId id="694" r:id="rId140"/>
    <p:sldId id="695" r:id="rId141"/>
    <p:sldId id="696" r:id="rId142"/>
    <p:sldId id="697" r:id="rId143"/>
    <p:sldId id="698" r:id="rId144"/>
    <p:sldId id="716" r:id="rId145"/>
    <p:sldId id="699" r:id="rId146"/>
    <p:sldId id="700" r:id="rId147"/>
    <p:sldId id="701" r:id="rId148"/>
    <p:sldId id="706" r:id="rId149"/>
    <p:sldId id="702" r:id="rId150"/>
    <p:sldId id="703" r:id="rId151"/>
    <p:sldId id="704" r:id="rId152"/>
    <p:sldId id="705" r:id="rId153"/>
    <p:sldId id="687" r:id="rId154"/>
    <p:sldId id="688" r:id="rId155"/>
    <p:sldId id="645" r:id="rId156"/>
    <p:sldId id="646" r:id="rId157"/>
    <p:sldId id="647" r:id="rId158"/>
    <p:sldId id="648" r:id="rId159"/>
    <p:sldId id="649" r:id="rId160"/>
    <p:sldId id="650" r:id="rId161"/>
    <p:sldId id="651" r:id="rId162"/>
    <p:sldId id="652" r:id="rId163"/>
    <p:sldId id="653" r:id="rId164"/>
    <p:sldId id="654" r:id="rId165"/>
    <p:sldId id="655" r:id="rId166"/>
    <p:sldId id="656" r:id="rId167"/>
    <p:sldId id="657" r:id="rId168"/>
    <p:sldId id="658" r:id="rId169"/>
    <p:sldId id="659" r:id="rId170"/>
    <p:sldId id="660" r:id="rId171"/>
    <p:sldId id="661" r:id="rId172"/>
    <p:sldId id="662" r:id="rId173"/>
    <p:sldId id="663" r:id="rId174"/>
    <p:sldId id="664" r:id="rId175"/>
    <p:sldId id="666" r:id="rId176"/>
    <p:sldId id="667" r:id="rId177"/>
    <p:sldId id="668" r:id="rId178"/>
    <p:sldId id="708" r:id="rId179"/>
    <p:sldId id="709" r:id="rId180"/>
    <p:sldId id="710" r:id="rId181"/>
    <p:sldId id="711" r:id="rId182"/>
    <p:sldId id="712" r:id="rId183"/>
    <p:sldId id="714" r:id="rId184"/>
    <p:sldId id="713" r:id="rId185"/>
    <p:sldId id="715" r:id="rId186"/>
    <p:sldId id="717" r:id="rId187"/>
    <p:sldId id="718" r:id="rId188"/>
    <p:sldId id="719" r:id="rId189"/>
    <p:sldId id="720" r:id="rId190"/>
    <p:sldId id="721" r:id="rId191"/>
    <p:sldId id="722" r:id="rId192"/>
    <p:sldId id="723" r:id="rId193"/>
    <p:sldId id="724" r:id="rId194"/>
    <p:sldId id="727" r:id="rId195"/>
    <p:sldId id="725" r:id="rId196"/>
    <p:sldId id="726" r:id="rId197"/>
    <p:sldId id="707" r:id="rId198"/>
    <p:sldId id="669" r:id="rId199"/>
    <p:sldId id="670" r:id="rId200"/>
    <p:sldId id="671" r:id="rId201"/>
    <p:sldId id="672" r:id="rId202"/>
    <p:sldId id="673" r:id="rId203"/>
    <p:sldId id="674" r:id="rId204"/>
    <p:sldId id="676" r:id="rId205"/>
    <p:sldId id="675" r:id="rId206"/>
    <p:sldId id="677" r:id="rId207"/>
    <p:sldId id="678" r:id="rId208"/>
    <p:sldId id="679" r:id="rId209"/>
    <p:sldId id="680" r:id="rId210"/>
    <p:sldId id="681" r:id="rId211"/>
    <p:sldId id="683" r:id="rId212"/>
    <p:sldId id="601" r:id="rId2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6BB9065-1696-844F-0B44-B41FF1C01078}" name="Alejandra Cortés" initials="AC" userId="Alejandra Cortés" providerId="None"/>
  <p188:author id="{5BAD63EE-A7FE-4ECB-8F1F-E36E6885EA6A}" name="Alejandra León Barrera" initials="ALB" userId="Alejandra León Barrera"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E0089"/>
    <a:srgbClr val="E4DFD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BD515A6-0DA5-44D5-B439-2E378407BBA5}" v="76" dt="2026-07-03T21:59:59.77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950" autoAdjust="0"/>
    <p:restoredTop sz="94694"/>
  </p:normalViewPr>
  <p:slideViewPr>
    <p:cSldViewPr snapToGrid="0">
      <p:cViewPr varScale="1">
        <p:scale>
          <a:sx n="105" d="100"/>
          <a:sy n="105" d="100"/>
        </p:scale>
        <p:origin x="894" y="96"/>
      </p:cViewPr>
      <p:guideLst/>
    </p:cSldViewPr>
  </p:slideViewPr>
  <p:notesTextViewPr>
    <p:cViewPr>
      <p:scale>
        <a:sx n="1" d="1"/>
        <a:sy n="1" d="1"/>
      </p:scale>
      <p:origin x="0" y="0"/>
    </p:cViewPr>
  </p:notesTextViewPr>
  <p:sorterViewPr>
    <p:cViewPr>
      <p:scale>
        <a:sx n="28" d="100"/>
        <a:sy n="28" d="100"/>
      </p:scale>
      <p:origin x="0" y="0"/>
    </p:cViewPr>
  </p:sorter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2.xml"/><Relationship Id="rId21" Type="http://schemas.openxmlformats.org/officeDocument/2006/relationships/slide" Target="slides/slide16.xml"/><Relationship Id="rId42" Type="http://schemas.openxmlformats.org/officeDocument/2006/relationships/slide" Target="slides/slide37.xml"/><Relationship Id="rId63" Type="http://schemas.openxmlformats.org/officeDocument/2006/relationships/slide" Target="slides/slide58.xml"/><Relationship Id="rId84" Type="http://schemas.openxmlformats.org/officeDocument/2006/relationships/slide" Target="slides/slide79.xml"/><Relationship Id="rId138" Type="http://schemas.openxmlformats.org/officeDocument/2006/relationships/slide" Target="slides/slide133.xml"/><Relationship Id="rId159" Type="http://schemas.openxmlformats.org/officeDocument/2006/relationships/slide" Target="slides/slide154.xml"/><Relationship Id="rId170" Type="http://schemas.openxmlformats.org/officeDocument/2006/relationships/slide" Target="slides/slide165.xml"/><Relationship Id="rId191" Type="http://schemas.openxmlformats.org/officeDocument/2006/relationships/slide" Target="slides/slide186.xml"/><Relationship Id="rId205" Type="http://schemas.openxmlformats.org/officeDocument/2006/relationships/slide" Target="slides/slide200.xml"/><Relationship Id="rId107" Type="http://schemas.openxmlformats.org/officeDocument/2006/relationships/slide" Target="slides/slide102.xml"/><Relationship Id="rId11" Type="http://schemas.openxmlformats.org/officeDocument/2006/relationships/slide" Target="slides/slide6.xml"/><Relationship Id="rId32" Type="http://schemas.openxmlformats.org/officeDocument/2006/relationships/slide" Target="slides/slide27.xml"/><Relationship Id="rId53" Type="http://schemas.openxmlformats.org/officeDocument/2006/relationships/slide" Target="slides/slide48.xml"/><Relationship Id="rId74" Type="http://schemas.openxmlformats.org/officeDocument/2006/relationships/slide" Target="slides/slide69.xml"/><Relationship Id="rId128" Type="http://schemas.openxmlformats.org/officeDocument/2006/relationships/slide" Target="slides/slide123.xml"/><Relationship Id="rId149" Type="http://schemas.openxmlformats.org/officeDocument/2006/relationships/slide" Target="slides/slide144.xml"/><Relationship Id="rId5" Type="http://schemas.openxmlformats.org/officeDocument/2006/relationships/slideMaster" Target="slideMasters/slideMaster5.xml"/><Relationship Id="rId95" Type="http://schemas.openxmlformats.org/officeDocument/2006/relationships/slide" Target="slides/slide90.xml"/><Relationship Id="rId160" Type="http://schemas.openxmlformats.org/officeDocument/2006/relationships/slide" Target="slides/slide155.xml"/><Relationship Id="rId181" Type="http://schemas.openxmlformats.org/officeDocument/2006/relationships/slide" Target="slides/slide176.xml"/><Relationship Id="rId216" Type="http://schemas.openxmlformats.org/officeDocument/2006/relationships/viewProps" Target="viewProps.xml"/><Relationship Id="rId22" Type="http://schemas.openxmlformats.org/officeDocument/2006/relationships/slide" Target="slides/slide17.xml"/><Relationship Id="rId43" Type="http://schemas.openxmlformats.org/officeDocument/2006/relationships/slide" Target="slides/slide38.xml"/><Relationship Id="rId64" Type="http://schemas.openxmlformats.org/officeDocument/2006/relationships/slide" Target="slides/slide59.xml"/><Relationship Id="rId118" Type="http://schemas.openxmlformats.org/officeDocument/2006/relationships/slide" Target="slides/slide113.xml"/><Relationship Id="rId139" Type="http://schemas.openxmlformats.org/officeDocument/2006/relationships/slide" Target="slides/slide134.xml"/><Relationship Id="rId85" Type="http://schemas.openxmlformats.org/officeDocument/2006/relationships/slide" Target="slides/slide80.xml"/><Relationship Id="rId150" Type="http://schemas.openxmlformats.org/officeDocument/2006/relationships/slide" Target="slides/slide145.xml"/><Relationship Id="rId171" Type="http://schemas.openxmlformats.org/officeDocument/2006/relationships/slide" Target="slides/slide166.xml"/><Relationship Id="rId192" Type="http://schemas.openxmlformats.org/officeDocument/2006/relationships/slide" Target="slides/slide187.xml"/><Relationship Id="rId206" Type="http://schemas.openxmlformats.org/officeDocument/2006/relationships/slide" Target="slides/slide201.xml"/><Relationship Id="rId12" Type="http://schemas.openxmlformats.org/officeDocument/2006/relationships/slide" Target="slides/slide7.xml"/><Relationship Id="rId33" Type="http://schemas.openxmlformats.org/officeDocument/2006/relationships/slide" Target="slides/slide28.xml"/><Relationship Id="rId108" Type="http://schemas.openxmlformats.org/officeDocument/2006/relationships/slide" Target="slides/slide103.xml"/><Relationship Id="rId129" Type="http://schemas.openxmlformats.org/officeDocument/2006/relationships/slide" Target="slides/slide124.xml"/><Relationship Id="rId54" Type="http://schemas.openxmlformats.org/officeDocument/2006/relationships/slide" Target="slides/slide49.xml"/><Relationship Id="rId75" Type="http://schemas.openxmlformats.org/officeDocument/2006/relationships/slide" Target="slides/slide70.xml"/><Relationship Id="rId96" Type="http://schemas.openxmlformats.org/officeDocument/2006/relationships/slide" Target="slides/slide91.xml"/><Relationship Id="rId140" Type="http://schemas.openxmlformats.org/officeDocument/2006/relationships/slide" Target="slides/slide135.xml"/><Relationship Id="rId161" Type="http://schemas.openxmlformats.org/officeDocument/2006/relationships/slide" Target="slides/slide156.xml"/><Relationship Id="rId182" Type="http://schemas.openxmlformats.org/officeDocument/2006/relationships/slide" Target="slides/slide177.xml"/><Relationship Id="rId217" Type="http://schemas.openxmlformats.org/officeDocument/2006/relationships/theme" Target="theme/theme1.xml"/><Relationship Id="rId6" Type="http://schemas.openxmlformats.org/officeDocument/2006/relationships/slide" Target="slides/slide1.xml"/><Relationship Id="rId23" Type="http://schemas.openxmlformats.org/officeDocument/2006/relationships/slide" Target="slides/slide18.xml"/><Relationship Id="rId119" Type="http://schemas.openxmlformats.org/officeDocument/2006/relationships/slide" Target="slides/slide114.xml"/><Relationship Id="rId44" Type="http://schemas.openxmlformats.org/officeDocument/2006/relationships/slide" Target="slides/slide39.xml"/><Relationship Id="rId65" Type="http://schemas.openxmlformats.org/officeDocument/2006/relationships/slide" Target="slides/slide60.xml"/><Relationship Id="rId86" Type="http://schemas.openxmlformats.org/officeDocument/2006/relationships/slide" Target="slides/slide81.xml"/><Relationship Id="rId130" Type="http://schemas.openxmlformats.org/officeDocument/2006/relationships/slide" Target="slides/slide125.xml"/><Relationship Id="rId151" Type="http://schemas.openxmlformats.org/officeDocument/2006/relationships/slide" Target="slides/slide146.xml"/><Relationship Id="rId172" Type="http://schemas.openxmlformats.org/officeDocument/2006/relationships/slide" Target="slides/slide167.xml"/><Relationship Id="rId193" Type="http://schemas.openxmlformats.org/officeDocument/2006/relationships/slide" Target="slides/slide188.xml"/><Relationship Id="rId207" Type="http://schemas.openxmlformats.org/officeDocument/2006/relationships/slide" Target="slides/slide202.xml"/><Relationship Id="rId13" Type="http://schemas.openxmlformats.org/officeDocument/2006/relationships/slide" Target="slides/slide8.xml"/><Relationship Id="rId109" Type="http://schemas.openxmlformats.org/officeDocument/2006/relationships/slide" Target="slides/slide104.xml"/><Relationship Id="rId34" Type="http://schemas.openxmlformats.org/officeDocument/2006/relationships/slide" Target="slides/slide29.xml"/><Relationship Id="rId55" Type="http://schemas.openxmlformats.org/officeDocument/2006/relationships/slide" Target="slides/slide50.xml"/><Relationship Id="rId76" Type="http://schemas.openxmlformats.org/officeDocument/2006/relationships/slide" Target="slides/slide71.xml"/><Relationship Id="rId97" Type="http://schemas.openxmlformats.org/officeDocument/2006/relationships/slide" Target="slides/slide92.xml"/><Relationship Id="rId120" Type="http://schemas.openxmlformats.org/officeDocument/2006/relationships/slide" Target="slides/slide115.xml"/><Relationship Id="rId141" Type="http://schemas.openxmlformats.org/officeDocument/2006/relationships/slide" Target="slides/slide136.xml"/><Relationship Id="rId7" Type="http://schemas.openxmlformats.org/officeDocument/2006/relationships/slide" Target="slides/slide2.xml"/><Relationship Id="rId162" Type="http://schemas.openxmlformats.org/officeDocument/2006/relationships/slide" Target="slides/slide157.xml"/><Relationship Id="rId183" Type="http://schemas.openxmlformats.org/officeDocument/2006/relationships/slide" Target="slides/slide178.xml"/><Relationship Id="rId218" Type="http://schemas.openxmlformats.org/officeDocument/2006/relationships/tableStyles" Target="tableStyles.xml"/><Relationship Id="rId24" Type="http://schemas.openxmlformats.org/officeDocument/2006/relationships/slide" Target="slides/slide19.xml"/><Relationship Id="rId45" Type="http://schemas.openxmlformats.org/officeDocument/2006/relationships/slide" Target="slides/slide40.xml"/><Relationship Id="rId66" Type="http://schemas.openxmlformats.org/officeDocument/2006/relationships/slide" Target="slides/slide61.xml"/><Relationship Id="rId87" Type="http://schemas.openxmlformats.org/officeDocument/2006/relationships/slide" Target="slides/slide82.xml"/><Relationship Id="rId110" Type="http://schemas.openxmlformats.org/officeDocument/2006/relationships/slide" Target="slides/slide105.xml"/><Relationship Id="rId131" Type="http://schemas.openxmlformats.org/officeDocument/2006/relationships/slide" Target="slides/slide126.xml"/><Relationship Id="rId152" Type="http://schemas.openxmlformats.org/officeDocument/2006/relationships/slide" Target="slides/slide147.xml"/><Relationship Id="rId173" Type="http://schemas.openxmlformats.org/officeDocument/2006/relationships/slide" Target="slides/slide168.xml"/><Relationship Id="rId194" Type="http://schemas.openxmlformats.org/officeDocument/2006/relationships/slide" Target="slides/slide189.xml"/><Relationship Id="rId208" Type="http://schemas.openxmlformats.org/officeDocument/2006/relationships/slide" Target="slides/slide203.xml"/><Relationship Id="rId14" Type="http://schemas.openxmlformats.org/officeDocument/2006/relationships/slide" Target="slides/slide9.xml"/><Relationship Id="rId30" Type="http://schemas.openxmlformats.org/officeDocument/2006/relationships/slide" Target="slides/slide25.xml"/><Relationship Id="rId35" Type="http://schemas.openxmlformats.org/officeDocument/2006/relationships/slide" Target="slides/slide30.xml"/><Relationship Id="rId56" Type="http://schemas.openxmlformats.org/officeDocument/2006/relationships/slide" Target="slides/slide51.xml"/><Relationship Id="rId77" Type="http://schemas.openxmlformats.org/officeDocument/2006/relationships/slide" Target="slides/slide72.xml"/><Relationship Id="rId100" Type="http://schemas.openxmlformats.org/officeDocument/2006/relationships/slide" Target="slides/slide95.xml"/><Relationship Id="rId105" Type="http://schemas.openxmlformats.org/officeDocument/2006/relationships/slide" Target="slides/slide100.xml"/><Relationship Id="rId126" Type="http://schemas.openxmlformats.org/officeDocument/2006/relationships/slide" Target="slides/slide121.xml"/><Relationship Id="rId147" Type="http://schemas.openxmlformats.org/officeDocument/2006/relationships/slide" Target="slides/slide142.xml"/><Relationship Id="rId168" Type="http://schemas.openxmlformats.org/officeDocument/2006/relationships/slide" Target="slides/slide163.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93" Type="http://schemas.openxmlformats.org/officeDocument/2006/relationships/slide" Target="slides/slide88.xml"/><Relationship Id="rId98" Type="http://schemas.openxmlformats.org/officeDocument/2006/relationships/slide" Target="slides/slide93.xml"/><Relationship Id="rId121" Type="http://schemas.openxmlformats.org/officeDocument/2006/relationships/slide" Target="slides/slide116.xml"/><Relationship Id="rId142" Type="http://schemas.openxmlformats.org/officeDocument/2006/relationships/slide" Target="slides/slide137.xml"/><Relationship Id="rId163" Type="http://schemas.openxmlformats.org/officeDocument/2006/relationships/slide" Target="slides/slide158.xml"/><Relationship Id="rId184" Type="http://schemas.openxmlformats.org/officeDocument/2006/relationships/slide" Target="slides/slide179.xml"/><Relationship Id="rId189" Type="http://schemas.openxmlformats.org/officeDocument/2006/relationships/slide" Target="slides/slide184.xml"/><Relationship Id="rId219" Type="http://schemas.microsoft.com/office/2015/10/relationships/revisionInfo" Target="revisionInfo.xml"/><Relationship Id="rId3" Type="http://schemas.openxmlformats.org/officeDocument/2006/relationships/slideMaster" Target="slideMasters/slideMaster3.xml"/><Relationship Id="rId214" Type="http://schemas.openxmlformats.org/officeDocument/2006/relationships/notesMaster" Target="notesMasters/notesMaster1.xml"/><Relationship Id="rId25" Type="http://schemas.openxmlformats.org/officeDocument/2006/relationships/slide" Target="slides/slide20.xml"/><Relationship Id="rId46" Type="http://schemas.openxmlformats.org/officeDocument/2006/relationships/slide" Target="slides/slide41.xml"/><Relationship Id="rId67" Type="http://schemas.openxmlformats.org/officeDocument/2006/relationships/slide" Target="slides/slide62.xml"/><Relationship Id="rId116" Type="http://schemas.openxmlformats.org/officeDocument/2006/relationships/slide" Target="slides/slide111.xml"/><Relationship Id="rId137" Type="http://schemas.openxmlformats.org/officeDocument/2006/relationships/slide" Target="slides/slide132.xml"/><Relationship Id="rId158" Type="http://schemas.openxmlformats.org/officeDocument/2006/relationships/slide" Target="slides/slide153.xml"/><Relationship Id="rId20" Type="http://schemas.openxmlformats.org/officeDocument/2006/relationships/slide" Target="slides/slide15.xml"/><Relationship Id="rId41" Type="http://schemas.openxmlformats.org/officeDocument/2006/relationships/slide" Target="slides/slide36.xml"/><Relationship Id="rId62" Type="http://schemas.openxmlformats.org/officeDocument/2006/relationships/slide" Target="slides/slide57.xml"/><Relationship Id="rId83" Type="http://schemas.openxmlformats.org/officeDocument/2006/relationships/slide" Target="slides/slide78.xml"/><Relationship Id="rId88" Type="http://schemas.openxmlformats.org/officeDocument/2006/relationships/slide" Target="slides/slide83.xml"/><Relationship Id="rId111" Type="http://schemas.openxmlformats.org/officeDocument/2006/relationships/slide" Target="slides/slide106.xml"/><Relationship Id="rId132" Type="http://schemas.openxmlformats.org/officeDocument/2006/relationships/slide" Target="slides/slide127.xml"/><Relationship Id="rId153" Type="http://schemas.openxmlformats.org/officeDocument/2006/relationships/slide" Target="slides/slide148.xml"/><Relationship Id="rId174" Type="http://schemas.openxmlformats.org/officeDocument/2006/relationships/slide" Target="slides/slide169.xml"/><Relationship Id="rId179" Type="http://schemas.openxmlformats.org/officeDocument/2006/relationships/slide" Target="slides/slide174.xml"/><Relationship Id="rId195" Type="http://schemas.openxmlformats.org/officeDocument/2006/relationships/slide" Target="slides/slide190.xml"/><Relationship Id="rId209" Type="http://schemas.openxmlformats.org/officeDocument/2006/relationships/slide" Target="slides/slide204.xml"/><Relationship Id="rId190" Type="http://schemas.openxmlformats.org/officeDocument/2006/relationships/slide" Target="slides/slide185.xml"/><Relationship Id="rId204" Type="http://schemas.openxmlformats.org/officeDocument/2006/relationships/slide" Target="slides/slide199.xml"/><Relationship Id="rId220" Type="http://schemas.microsoft.com/office/2018/10/relationships/authors" Target="authors.xml"/><Relationship Id="rId15" Type="http://schemas.openxmlformats.org/officeDocument/2006/relationships/slide" Target="slides/slide10.xml"/><Relationship Id="rId36" Type="http://schemas.openxmlformats.org/officeDocument/2006/relationships/slide" Target="slides/slide31.xml"/><Relationship Id="rId57" Type="http://schemas.openxmlformats.org/officeDocument/2006/relationships/slide" Target="slides/slide52.xml"/><Relationship Id="rId106" Type="http://schemas.openxmlformats.org/officeDocument/2006/relationships/slide" Target="slides/slide101.xml"/><Relationship Id="rId127" Type="http://schemas.openxmlformats.org/officeDocument/2006/relationships/slide" Target="slides/slide122.xml"/><Relationship Id="rId10" Type="http://schemas.openxmlformats.org/officeDocument/2006/relationships/slide" Target="slides/slide5.xml"/><Relationship Id="rId31" Type="http://schemas.openxmlformats.org/officeDocument/2006/relationships/slide" Target="slides/slide26.xml"/><Relationship Id="rId52" Type="http://schemas.openxmlformats.org/officeDocument/2006/relationships/slide" Target="slides/slide47.xml"/><Relationship Id="rId73" Type="http://schemas.openxmlformats.org/officeDocument/2006/relationships/slide" Target="slides/slide68.xml"/><Relationship Id="rId78" Type="http://schemas.openxmlformats.org/officeDocument/2006/relationships/slide" Target="slides/slide73.xml"/><Relationship Id="rId94" Type="http://schemas.openxmlformats.org/officeDocument/2006/relationships/slide" Target="slides/slide89.xml"/><Relationship Id="rId99" Type="http://schemas.openxmlformats.org/officeDocument/2006/relationships/slide" Target="slides/slide94.xml"/><Relationship Id="rId101" Type="http://schemas.openxmlformats.org/officeDocument/2006/relationships/slide" Target="slides/slide96.xml"/><Relationship Id="rId122" Type="http://schemas.openxmlformats.org/officeDocument/2006/relationships/slide" Target="slides/slide117.xml"/><Relationship Id="rId143" Type="http://schemas.openxmlformats.org/officeDocument/2006/relationships/slide" Target="slides/slide138.xml"/><Relationship Id="rId148" Type="http://schemas.openxmlformats.org/officeDocument/2006/relationships/slide" Target="slides/slide143.xml"/><Relationship Id="rId164" Type="http://schemas.openxmlformats.org/officeDocument/2006/relationships/slide" Target="slides/slide159.xml"/><Relationship Id="rId169" Type="http://schemas.openxmlformats.org/officeDocument/2006/relationships/slide" Target="slides/slide164.xml"/><Relationship Id="rId185" Type="http://schemas.openxmlformats.org/officeDocument/2006/relationships/slide" Target="slides/slide180.xml"/><Relationship Id="rId4" Type="http://schemas.openxmlformats.org/officeDocument/2006/relationships/slideMaster" Target="slideMasters/slideMaster4.xml"/><Relationship Id="rId9" Type="http://schemas.openxmlformats.org/officeDocument/2006/relationships/slide" Target="slides/slide4.xml"/><Relationship Id="rId180" Type="http://schemas.openxmlformats.org/officeDocument/2006/relationships/slide" Target="slides/slide175.xml"/><Relationship Id="rId210" Type="http://schemas.openxmlformats.org/officeDocument/2006/relationships/slide" Target="slides/slide205.xml"/><Relationship Id="rId215" Type="http://schemas.openxmlformats.org/officeDocument/2006/relationships/presProps" Target="presProps.xml"/><Relationship Id="rId26" Type="http://schemas.openxmlformats.org/officeDocument/2006/relationships/slide" Target="slides/slide21.xml"/><Relationship Id="rId47" Type="http://schemas.openxmlformats.org/officeDocument/2006/relationships/slide" Target="slides/slide42.xml"/><Relationship Id="rId68" Type="http://schemas.openxmlformats.org/officeDocument/2006/relationships/slide" Target="slides/slide63.xml"/><Relationship Id="rId89" Type="http://schemas.openxmlformats.org/officeDocument/2006/relationships/slide" Target="slides/slide84.xml"/><Relationship Id="rId112" Type="http://schemas.openxmlformats.org/officeDocument/2006/relationships/slide" Target="slides/slide107.xml"/><Relationship Id="rId133" Type="http://schemas.openxmlformats.org/officeDocument/2006/relationships/slide" Target="slides/slide128.xml"/><Relationship Id="rId154" Type="http://schemas.openxmlformats.org/officeDocument/2006/relationships/slide" Target="slides/slide149.xml"/><Relationship Id="rId175" Type="http://schemas.openxmlformats.org/officeDocument/2006/relationships/slide" Target="slides/slide170.xml"/><Relationship Id="rId196" Type="http://schemas.openxmlformats.org/officeDocument/2006/relationships/slide" Target="slides/slide191.xml"/><Relationship Id="rId200" Type="http://schemas.openxmlformats.org/officeDocument/2006/relationships/slide" Target="slides/slide195.xml"/><Relationship Id="rId16" Type="http://schemas.openxmlformats.org/officeDocument/2006/relationships/slide" Target="slides/slide11.xml"/><Relationship Id="rId37" Type="http://schemas.openxmlformats.org/officeDocument/2006/relationships/slide" Target="slides/slide32.xml"/><Relationship Id="rId58" Type="http://schemas.openxmlformats.org/officeDocument/2006/relationships/slide" Target="slides/slide53.xml"/><Relationship Id="rId79" Type="http://schemas.openxmlformats.org/officeDocument/2006/relationships/slide" Target="slides/slide74.xml"/><Relationship Id="rId102" Type="http://schemas.openxmlformats.org/officeDocument/2006/relationships/slide" Target="slides/slide97.xml"/><Relationship Id="rId123" Type="http://schemas.openxmlformats.org/officeDocument/2006/relationships/slide" Target="slides/slide118.xml"/><Relationship Id="rId144" Type="http://schemas.openxmlformats.org/officeDocument/2006/relationships/slide" Target="slides/slide139.xml"/><Relationship Id="rId90" Type="http://schemas.openxmlformats.org/officeDocument/2006/relationships/slide" Target="slides/slide85.xml"/><Relationship Id="rId165" Type="http://schemas.openxmlformats.org/officeDocument/2006/relationships/slide" Target="slides/slide160.xml"/><Relationship Id="rId186" Type="http://schemas.openxmlformats.org/officeDocument/2006/relationships/slide" Target="slides/slide181.xml"/><Relationship Id="rId211" Type="http://schemas.openxmlformats.org/officeDocument/2006/relationships/slide" Target="slides/slide206.xml"/><Relationship Id="rId27" Type="http://schemas.openxmlformats.org/officeDocument/2006/relationships/slide" Target="slides/slide22.xml"/><Relationship Id="rId48" Type="http://schemas.openxmlformats.org/officeDocument/2006/relationships/slide" Target="slides/slide43.xml"/><Relationship Id="rId69" Type="http://schemas.openxmlformats.org/officeDocument/2006/relationships/slide" Target="slides/slide64.xml"/><Relationship Id="rId113" Type="http://schemas.openxmlformats.org/officeDocument/2006/relationships/slide" Target="slides/slide108.xml"/><Relationship Id="rId134" Type="http://schemas.openxmlformats.org/officeDocument/2006/relationships/slide" Target="slides/slide129.xml"/><Relationship Id="rId80" Type="http://schemas.openxmlformats.org/officeDocument/2006/relationships/slide" Target="slides/slide75.xml"/><Relationship Id="rId155" Type="http://schemas.openxmlformats.org/officeDocument/2006/relationships/slide" Target="slides/slide150.xml"/><Relationship Id="rId176" Type="http://schemas.openxmlformats.org/officeDocument/2006/relationships/slide" Target="slides/slide171.xml"/><Relationship Id="rId197" Type="http://schemas.openxmlformats.org/officeDocument/2006/relationships/slide" Target="slides/slide192.xml"/><Relationship Id="rId201" Type="http://schemas.openxmlformats.org/officeDocument/2006/relationships/slide" Target="slides/slide196.xml"/><Relationship Id="rId17" Type="http://schemas.openxmlformats.org/officeDocument/2006/relationships/slide" Target="slides/slide12.xml"/><Relationship Id="rId38" Type="http://schemas.openxmlformats.org/officeDocument/2006/relationships/slide" Target="slides/slide33.xml"/><Relationship Id="rId59" Type="http://schemas.openxmlformats.org/officeDocument/2006/relationships/slide" Target="slides/slide54.xml"/><Relationship Id="rId103" Type="http://schemas.openxmlformats.org/officeDocument/2006/relationships/slide" Target="slides/slide98.xml"/><Relationship Id="rId124" Type="http://schemas.openxmlformats.org/officeDocument/2006/relationships/slide" Target="slides/slide119.xml"/><Relationship Id="rId70" Type="http://schemas.openxmlformats.org/officeDocument/2006/relationships/slide" Target="slides/slide65.xml"/><Relationship Id="rId91" Type="http://schemas.openxmlformats.org/officeDocument/2006/relationships/slide" Target="slides/slide86.xml"/><Relationship Id="rId145" Type="http://schemas.openxmlformats.org/officeDocument/2006/relationships/slide" Target="slides/slide140.xml"/><Relationship Id="rId166" Type="http://schemas.openxmlformats.org/officeDocument/2006/relationships/slide" Target="slides/slide161.xml"/><Relationship Id="rId187" Type="http://schemas.openxmlformats.org/officeDocument/2006/relationships/slide" Target="slides/slide182.xml"/><Relationship Id="rId1" Type="http://schemas.openxmlformats.org/officeDocument/2006/relationships/slideMaster" Target="slideMasters/slideMaster1.xml"/><Relationship Id="rId212" Type="http://schemas.openxmlformats.org/officeDocument/2006/relationships/slide" Target="slides/slide207.xml"/><Relationship Id="rId28" Type="http://schemas.openxmlformats.org/officeDocument/2006/relationships/slide" Target="slides/slide23.xml"/><Relationship Id="rId49" Type="http://schemas.openxmlformats.org/officeDocument/2006/relationships/slide" Target="slides/slide44.xml"/><Relationship Id="rId114" Type="http://schemas.openxmlformats.org/officeDocument/2006/relationships/slide" Target="slides/slide109.xml"/><Relationship Id="rId60" Type="http://schemas.openxmlformats.org/officeDocument/2006/relationships/slide" Target="slides/slide55.xml"/><Relationship Id="rId81" Type="http://schemas.openxmlformats.org/officeDocument/2006/relationships/slide" Target="slides/slide76.xml"/><Relationship Id="rId135" Type="http://schemas.openxmlformats.org/officeDocument/2006/relationships/slide" Target="slides/slide130.xml"/><Relationship Id="rId156" Type="http://schemas.openxmlformats.org/officeDocument/2006/relationships/slide" Target="slides/slide151.xml"/><Relationship Id="rId177" Type="http://schemas.openxmlformats.org/officeDocument/2006/relationships/slide" Target="slides/slide172.xml"/><Relationship Id="rId198" Type="http://schemas.openxmlformats.org/officeDocument/2006/relationships/slide" Target="slides/slide193.xml"/><Relationship Id="rId202" Type="http://schemas.openxmlformats.org/officeDocument/2006/relationships/slide" Target="slides/slide197.xml"/><Relationship Id="rId18" Type="http://schemas.openxmlformats.org/officeDocument/2006/relationships/slide" Target="slides/slide13.xml"/><Relationship Id="rId39" Type="http://schemas.openxmlformats.org/officeDocument/2006/relationships/slide" Target="slides/slide34.xml"/><Relationship Id="rId50" Type="http://schemas.openxmlformats.org/officeDocument/2006/relationships/slide" Target="slides/slide45.xml"/><Relationship Id="rId104" Type="http://schemas.openxmlformats.org/officeDocument/2006/relationships/slide" Target="slides/slide99.xml"/><Relationship Id="rId125" Type="http://schemas.openxmlformats.org/officeDocument/2006/relationships/slide" Target="slides/slide120.xml"/><Relationship Id="rId146" Type="http://schemas.openxmlformats.org/officeDocument/2006/relationships/slide" Target="slides/slide141.xml"/><Relationship Id="rId167" Type="http://schemas.openxmlformats.org/officeDocument/2006/relationships/slide" Target="slides/slide162.xml"/><Relationship Id="rId188" Type="http://schemas.openxmlformats.org/officeDocument/2006/relationships/slide" Target="slides/slide183.xml"/><Relationship Id="rId71" Type="http://schemas.openxmlformats.org/officeDocument/2006/relationships/slide" Target="slides/slide66.xml"/><Relationship Id="rId92" Type="http://schemas.openxmlformats.org/officeDocument/2006/relationships/slide" Target="slides/slide87.xml"/><Relationship Id="rId213" Type="http://schemas.openxmlformats.org/officeDocument/2006/relationships/slide" Target="slides/slide208.xml"/><Relationship Id="rId2" Type="http://schemas.openxmlformats.org/officeDocument/2006/relationships/slideMaster" Target="slideMasters/slideMaster2.xml"/><Relationship Id="rId29" Type="http://schemas.openxmlformats.org/officeDocument/2006/relationships/slide" Target="slides/slide24.xml"/><Relationship Id="rId40" Type="http://schemas.openxmlformats.org/officeDocument/2006/relationships/slide" Target="slides/slide35.xml"/><Relationship Id="rId115" Type="http://schemas.openxmlformats.org/officeDocument/2006/relationships/slide" Target="slides/slide110.xml"/><Relationship Id="rId136" Type="http://schemas.openxmlformats.org/officeDocument/2006/relationships/slide" Target="slides/slide131.xml"/><Relationship Id="rId157" Type="http://schemas.openxmlformats.org/officeDocument/2006/relationships/slide" Target="slides/slide152.xml"/><Relationship Id="rId178" Type="http://schemas.openxmlformats.org/officeDocument/2006/relationships/slide" Target="slides/slide173.xml"/><Relationship Id="rId61" Type="http://schemas.openxmlformats.org/officeDocument/2006/relationships/slide" Target="slides/slide56.xml"/><Relationship Id="rId82" Type="http://schemas.openxmlformats.org/officeDocument/2006/relationships/slide" Target="slides/slide77.xml"/><Relationship Id="rId199" Type="http://schemas.openxmlformats.org/officeDocument/2006/relationships/slide" Target="slides/slide194.xml"/><Relationship Id="rId203" Type="http://schemas.openxmlformats.org/officeDocument/2006/relationships/slide" Target="slides/slide198.xml"/><Relationship Id="rId19"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B9A4A1-DC15-4D0B-B483-49B9F712378B}" type="datetimeFigureOut">
              <a:rPr lang="es-CO" smtClean="0"/>
              <a:t>3/07/2026</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C8B0C1C-64DB-4ECD-8E89-57383081EDC0}" type="slidenum">
              <a:rPr lang="es-CO" smtClean="0"/>
              <a:t>‹Nº›</a:t>
            </a:fld>
            <a:endParaRPr lang="es-CO"/>
          </a:p>
        </p:txBody>
      </p:sp>
    </p:spTree>
    <p:extLst>
      <p:ext uri="{BB962C8B-B14F-4D97-AF65-F5344CB8AC3E}">
        <p14:creationId xmlns:p14="http://schemas.microsoft.com/office/powerpoint/2010/main" val="30032338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CO"/>
          </a:p>
        </p:txBody>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AC8B0C1C-64DB-4ECD-8E89-57383081EDC0}" type="slidenum">
              <a:rPr lang="es-CO" smtClean="0"/>
              <a:t>6</a:t>
            </a:fld>
            <a:endParaRPr lang="es-CO"/>
          </a:p>
        </p:txBody>
      </p:sp>
    </p:spTree>
    <p:extLst>
      <p:ext uri="{BB962C8B-B14F-4D97-AF65-F5344CB8AC3E}">
        <p14:creationId xmlns:p14="http://schemas.microsoft.com/office/powerpoint/2010/main" val="38117517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F5DC63-BFAB-96A8-ADC7-FC3055662E0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88BD553-248E-0B74-CE36-5D4BA6F41DCD}"/>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505AD30F-C25B-0784-6255-72D8FCD9516E}"/>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BBB05C91-87FB-3358-BBD4-3F3657383AF1}"/>
              </a:ext>
            </a:extLst>
          </p:cNvPr>
          <p:cNvSpPr>
            <a:spLocks noGrp="1"/>
          </p:cNvSpPr>
          <p:nvPr>
            <p:ph type="sldNum" sz="quarter" idx="5"/>
          </p:nvPr>
        </p:nvSpPr>
        <p:spPr/>
        <p:txBody>
          <a:bodyPr/>
          <a:lstStyle/>
          <a:p>
            <a:fld id="{AC8B0C1C-64DB-4ECD-8E89-57383081EDC0}" type="slidenum">
              <a:rPr lang="es-CO" smtClean="0"/>
              <a:t>7</a:t>
            </a:fld>
            <a:endParaRPr lang="es-CO"/>
          </a:p>
        </p:txBody>
      </p:sp>
    </p:spTree>
    <p:extLst>
      <p:ext uri="{BB962C8B-B14F-4D97-AF65-F5344CB8AC3E}">
        <p14:creationId xmlns:p14="http://schemas.microsoft.com/office/powerpoint/2010/main" val="7638538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06EE4D-49F5-2BA4-5949-A5CD9CBB27E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75D4188-C826-BD3B-4FD2-D7B9E2B88511}"/>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ECB04B01-2576-EAC5-BFFD-96E36F5ADAD8}"/>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0469767A-660E-E9A4-70B7-746725964356}"/>
              </a:ext>
            </a:extLst>
          </p:cNvPr>
          <p:cNvSpPr>
            <a:spLocks noGrp="1"/>
          </p:cNvSpPr>
          <p:nvPr>
            <p:ph type="sldNum" sz="quarter" idx="5"/>
          </p:nvPr>
        </p:nvSpPr>
        <p:spPr/>
        <p:txBody>
          <a:bodyPr/>
          <a:lstStyle/>
          <a:p>
            <a:fld id="{AC8B0C1C-64DB-4ECD-8E89-57383081EDC0}" type="slidenum">
              <a:rPr lang="es-CO" smtClean="0"/>
              <a:t>11</a:t>
            </a:fld>
            <a:endParaRPr lang="es-CO"/>
          </a:p>
        </p:txBody>
      </p:sp>
    </p:spTree>
    <p:extLst>
      <p:ext uri="{BB962C8B-B14F-4D97-AF65-F5344CB8AC3E}">
        <p14:creationId xmlns:p14="http://schemas.microsoft.com/office/powerpoint/2010/main" val="14193227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276F44-EC3C-7087-FFB3-8D5BFE3F1FD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416BFDE-5F2E-C671-C152-99979F82FF9B}"/>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B8F6E449-B246-F87A-ECB1-D6EA9761BE66}"/>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D597E993-FB79-AE16-6EC7-5D184D8A3823}"/>
              </a:ext>
            </a:extLst>
          </p:cNvPr>
          <p:cNvSpPr>
            <a:spLocks noGrp="1"/>
          </p:cNvSpPr>
          <p:nvPr>
            <p:ph type="sldNum" sz="quarter" idx="5"/>
          </p:nvPr>
        </p:nvSpPr>
        <p:spPr/>
        <p:txBody>
          <a:bodyPr/>
          <a:lstStyle/>
          <a:p>
            <a:fld id="{AC8B0C1C-64DB-4ECD-8E89-57383081EDC0}" type="slidenum">
              <a:rPr lang="es-CO" smtClean="0"/>
              <a:t>95</a:t>
            </a:fld>
            <a:endParaRPr lang="es-CO"/>
          </a:p>
        </p:txBody>
      </p:sp>
    </p:spTree>
    <p:extLst>
      <p:ext uri="{BB962C8B-B14F-4D97-AF65-F5344CB8AC3E}">
        <p14:creationId xmlns:p14="http://schemas.microsoft.com/office/powerpoint/2010/main" val="373773314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svg"/><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4.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4.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9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4.xml"/></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10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10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10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4.xml"/></Relationships>
</file>

<file path=ppt/slideLayouts/_rels/slideLayout10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10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4.xml"/></Relationships>
</file>

<file path=ppt/slideLayouts/_rels/slideLayout10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4.xml"/></Relationships>
</file>

<file path=ppt/slideLayouts/_rels/slideLayout10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4.xml"/></Relationships>
</file>

<file path=ppt/slideLayouts/_rels/slideLayout10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4.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5.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5.xml"/></Relationships>
</file>

<file path=ppt/slideLayouts/_rels/slideLayout11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5.xml"/></Relationships>
</file>

<file path=ppt/slideLayouts/_rels/slideLayout11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5.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5.xml"/></Relationships>
</file>

<file path=ppt/slideLayouts/_rels/slideLayout11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5.xml"/></Relationships>
</file>

<file path=ppt/slideLayouts/_rels/slideLayout11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5.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svg"/><Relationship Id="rId1" Type="http://schemas.openxmlformats.org/officeDocument/2006/relationships/slideMaster" Target="../slideMasters/slideMaster5.xml"/></Relationships>
</file>

<file path=ppt/slideLayouts/_rels/slideLayout12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5.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5.xml"/></Relationships>
</file>

<file path=ppt/slideLayouts/_rels/slideLayout126.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5.xml"/></Relationships>
</file>

<file path=ppt/slideLayouts/_rels/slideLayout12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5.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5.xml"/></Relationships>
</file>

<file path=ppt/slideLayouts/_rels/slideLayout12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5.xml"/></Relationships>
</file>

<file path=ppt/slideLayouts/_rels/slideLayout13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5.xml"/></Relationships>
</file>

<file path=ppt/slideLayouts/_rels/slideLayout13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5.xml"/></Relationships>
</file>

<file path=ppt/slideLayouts/_rels/slideLayout13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5.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5.xml"/></Relationships>
</file>

<file path=ppt/slideLayouts/_rels/slideLayout13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svg"/><Relationship Id="rId1" Type="http://schemas.openxmlformats.org/officeDocument/2006/relationships/slideMaster" Target="../slideMasters/slideMaster5.xml"/></Relationships>
</file>

<file path=ppt/slideLayouts/_rels/slideLayout13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3.svg"/><Relationship Id="rId1" Type="http://schemas.openxmlformats.org/officeDocument/2006/relationships/slideMaster" Target="../slideMasters/slideMaster5.xml"/></Relationships>
</file>

<file path=ppt/slideLayouts/_rels/slideLayout13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5.xml"/></Relationships>
</file>

<file path=ppt/slideLayouts/_rels/slideLayout14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5.xml"/></Relationships>
</file>

<file path=ppt/slideLayouts/_rels/slideLayout14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5.xml"/></Relationships>
</file>

<file path=ppt/slideLayouts/_rels/slideLayout14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5.xml"/></Relationships>
</file>

<file path=ppt/slideLayouts/_rels/slideLayout14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5.xml"/></Relationships>
</file>

<file path=ppt/slideLayouts/_rels/slideLayout14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userDrawn="1"/>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pic>
        <p:nvPicPr>
          <p:cNvPr id="2" name="Graphic 1">
            <a:extLst>
              <a:ext uri="{FF2B5EF4-FFF2-40B4-BE49-F238E27FC236}">
                <a16:creationId xmlns:a16="http://schemas.microsoft.com/office/drawing/2014/main" id="{5A8556FD-943F-2CA8-3B15-1C7401E71D1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Box 4">
            <a:extLst>
              <a:ext uri="{FF2B5EF4-FFF2-40B4-BE49-F238E27FC236}">
                <a16:creationId xmlns:a16="http://schemas.microsoft.com/office/drawing/2014/main" id="{C6B12A91-8583-2E4C-B1C8-7E1F64EF24C9}"/>
              </a:ext>
            </a:extLst>
          </p:cNvPr>
          <p:cNvSpPr txBox="1"/>
          <p:nvPr userDrawn="1"/>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6124270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Purple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userDrawn="1"/>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bg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2" name="TextBox 1">
            <a:extLst>
              <a:ext uri="{FF2B5EF4-FFF2-40B4-BE49-F238E27FC236}">
                <a16:creationId xmlns:a16="http://schemas.microsoft.com/office/drawing/2014/main" id="{8F1688B8-4AFA-00EF-A18F-CE0BE044452E}"/>
              </a:ext>
            </a:extLst>
          </p:cNvPr>
          <p:cNvSpPr txBox="1"/>
          <p:nvPr userDrawn="1"/>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7453210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Green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userDrawn="1"/>
        </p:nvSpPr>
        <p:spPr>
          <a:xfrm>
            <a:off x="0" y="0"/>
            <a:ext cx="12192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tx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tx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 name="TextBox 3">
            <a:extLst>
              <a:ext uri="{FF2B5EF4-FFF2-40B4-BE49-F238E27FC236}">
                <a16:creationId xmlns:a16="http://schemas.microsoft.com/office/drawing/2014/main" id="{D2E118B2-5580-3101-C2BB-4FB39252D744}"/>
              </a:ext>
            </a:extLst>
          </p:cNvPr>
          <p:cNvSpPr txBox="1"/>
          <p:nvPr userDrawn="1"/>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9917859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ark 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userDrawn="1"/>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0A86818C-B6FC-21B3-0821-EE3D8DAE5AE3}"/>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2BC038CA-3E14-5783-3761-76D8A4C63EC0}"/>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0" name="Graphic 9">
            <a:extLst>
              <a:ext uri="{FF2B5EF4-FFF2-40B4-BE49-F238E27FC236}">
                <a16:creationId xmlns:a16="http://schemas.microsoft.com/office/drawing/2014/main" id="{A9D3FE11-F167-1622-761B-F4BFADB0B0E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EBAA974E-55D6-2A02-03A4-AAB7F36BF1B1}"/>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69C30255-143C-EB1C-95B6-9319F7AB9F7D}"/>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sp>
        <p:nvSpPr>
          <p:cNvPr id="7" name="TextBox 6">
            <a:extLst>
              <a:ext uri="{FF2B5EF4-FFF2-40B4-BE49-F238E27FC236}">
                <a16:creationId xmlns:a16="http://schemas.microsoft.com/office/drawing/2014/main" id="{67E32664-E882-9D71-52FE-71612364F8CE}"/>
              </a:ext>
            </a:extLst>
          </p:cNvPr>
          <p:cNvSpPr txBox="1"/>
          <p:nvPr userDrawn="1"/>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42835080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Warm Gray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p:cNvSpPr>
          <p:nvPr userDrawn="1"/>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A2941D41-B5B7-CCE1-1B2C-89AAD5DACBE0}"/>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tx1"/>
                </a:solidFill>
              </a:defRPr>
            </a:lvl1pPr>
          </a:lstStyle>
          <a:p>
            <a:pPr lvl="0"/>
            <a:r>
              <a:rPr lang="en-US" dirty="0"/>
              <a:t>Headline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6600B585-62A4-8333-3077-9DD14A781807}"/>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1" name="Graphic 10">
            <a:extLst>
              <a:ext uri="{FF2B5EF4-FFF2-40B4-BE49-F238E27FC236}">
                <a16:creationId xmlns:a16="http://schemas.microsoft.com/office/drawing/2014/main" id="{21C3DEEA-3CCE-EBD2-6CE3-835C44C810E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74440542-6D19-B6BD-7831-2A113C1E6A79}"/>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30B08173-A7BE-6F86-6CDE-43EC9BEEB3CB}"/>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8" name="TextBox 7">
            <a:extLst>
              <a:ext uri="{FF2B5EF4-FFF2-40B4-BE49-F238E27FC236}">
                <a16:creationId xmlns:a16="http://schemas.microsoft.com/office/drawing/2014/main" id="{AC9D9DE1-FE9F-14AE-4A3F-F4173038006F}"/>
              </a:ext>
            </a:extLst>
          </p:cNvPr>
          <p:cNvSpPr txBox="1"/>
          <p:nvPr userDrawn="1"/>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2926741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2C Cov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userDrawn="1"/>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userDrawn="1"/>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userDrawn="1"/>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7">
            <a:extLst>
              <a:ext uri="{FF2B5EF4-FFF2-40B4-BE49-F238E27FC236}">
                <a16:creationId xmlns:a16="http://schemas.microsoft.com/office/drawing/2014/main" id="{52C18FF9-32C7-751D-36F8-EF5124DF2BE2}"/>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23" name="Text Placeholder 17">
            <a:extLst>
              <a:ext uri="{FF2B5EF4-FFF2-40B4-BE49-F238E27FC236}">
                <a16:creationId xmlns:a16="http://schemas.microsoft.com/office/drawing/2014/main" id="{D8DE661F-53B2-6E8E-9238-FE6484215B1A}"/>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26" name="Graphic 25">
            <a:extLst>
              <a:ext uri="{FF2B5EF4-FFF2-40B4-BE49-F238E27FC236}">
                <a16:creationId xmlns:a16="http://schemas.microsoft.com/office/drawing/2014/main" id="{2590016B-4462-F023-25AF-B00C9285325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7C710057-3FB3-19E3-5D75-F018F116AE47}"/>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6" name="Text Placeholder 17">
            <a:extLst>
              <a:ext uri="{FF2B5EF4-FFF2-40B4-BE49-F238E27FC236}">
                <a16:creationId xmlns:a16="http://schemas.microsoft.com/office/drawing/2014/main" id="{C41EE674-4BC9-86D6-67E5-FF509240DDED}"/>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AE8FAC4F-619C-5E6B-F2B0-D001F5A51111}"/>
              </a:ext>
            </a:extLst>
          </p:cNvPr>
          <p:cNvSpPr txBox="1"/>
          <p:nvPr userDrawn="1"/>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3676370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2C Cover Image">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userDrawn="1"/>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userDrawn="1"/>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userDrawn="1"/>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FBB43B24-12DD-1DD6-963C-7ADA857CCDC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A39E11EF-D17E-E6F4-B66D-C68ABBCCF813}"/>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64D279B7-3D21-DC76-5BCE-6A2D109B8EDB}"/>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3" name="Picture Placeholder 12">
            <a:extLst>
              <a:ext uri="{FF2B5EF4-FFF2-40B4-BE49-F238E27FC236}">
                <a16:creationId xmlns:a16="http://schemas.microsoft.com/office/drawing/2014/main" id="{04B738B6-E606-753D-F43C-ADBDF91B7E2D}"/>
              </a:ext>
            </a:extLst>
          </p:cNvPr>
          <p:cNvSpPr>
            <a:spLocks noGrp="1"/>
          </p:cNvSpPr>
          <p:nvPr>
            <p:ph type="pic" sz="quarter" idx="16" hasCustomPrompt="1"/>
          </p:nvPr>
        </p:nvSpPr>
        <p:spPr>
          <a:xfrm>
            <a:off x="6689725" y="355598"/>
            <a:ext cx="5502275" cy="6146801"/>
          </a:xfrm>
          <a:custGeom>
            <a:avLst/>
            <a:gdLst>
              <a:gd name="connsiteX0" fmla="*/ 0 w 5502275"/>
              <a:gd name="connsiteY0" fmla="*/ 0 h 6135556"/>
              <a:gd name="connsiteX1" fmla="*/ 5502275 w 5502275"/>
              <a:gd name="connsiteY1" fmla="*/ 0 h 6135556"/>
              <a:gd name="connsiteX2" fmla="*/ 5502275 w 5502275"/>
              <a:gd name="connsiteY2" fmla="*/ 218283 h 6135556"/>
              <a:gd name="connsiteX3" fmla="*/ 5502275 w 5502275"/>
              <a:gd name="connsiteY3" fmla="*/ 1268413 h 6135556"/>
              <a:gd name="connsiteX4" fmla="*/ 5502275 w 5502275"/>
              <a:gd name="connsiteY4" fmla="*/ 1731805 h 6135556"/>
              <a:gd name="connsiteX5" fmla="*/ 2676409 w 5502275"/>
              <a:gd name="connsiteY5" fmla="*/ 1731805 h 6135556"/>
              <a:gd name="connsiteX6" fmla="*/ 2676409 w 5502275"/>
              <a:gd name="connsiteY6" fmla="*/ 2311877 h 6135556"/>
              <a:gd name="connsiteX7" fmla="*/ 4972425 w 5502275"/>
              <a:gd name="connsiteY7" fmla="*/ 2311877 h 6135556"/>
              <a:gd name="connsiteX8" fmla="*/ 4972425 w 5502275"/>
              <a:gd name="connsiteY8" fmla="*/ 3825399 h 6135556"/>
              <a:gd name="connsiteX9" fmla="*/ 2676409 w 5502275"/>
              <a:gd name="connsiteY9" fmla="*/ 3825399 h 6135556"/>
              <a:gd name="connsiteX10" fmla="*/ 2676409 w 5502275"/>
              <a:gd name="connsiteY10" fmla="*/ 4414997 h 6135556"/>
              <a:gd name="connsiteX11" fmla="*/ 5502275 w 5502275"/>
              <a:gd name="connsiteY11" fmla="*/ 4414997 h 6135556"/>
              <a:gd name="connsiteX12" fmla="*/ 5502275 w 5502275"/>
              <a:gd name="connsiteY12" fmla="*/ 4867143 h 6135556"/>
              <a:gd name="connsiteX13" fmla="*/ 5502275 w 5502275"/>
              <a:gd name="connsiteY13" fmla="*/ 5928519 h 6135556"/>
              <a:gd name="connsiteX14" fmla="*/ 5502275 w 5502275"/>
              <a:gd name="connsiteY14" fmla="*/ 6135556 h 6135556"/>
              <a:gd name="connsiteX15" fmla="*/ 0 w 5502275"/>
              <a:gd name="connsiteY15" fmla="*/ 6135556 h 6135556"/>
              <a:gd name="connsiteX16" fmla="*/ 0 w 5502275"/>
              <a:gd name="connsiteY16" fmla="*/ 4867143 h 6135556"/>
              <a:gd name="connsiteX17" fmla="*/ 501 w 5502275"/>
              <a:gd name="connsiteY17" fmla="*/ 4867143 h 6135556"/>
              <a:gd name="connsiteX18" fmla="*/ 501 w 5502275"/>
              <a:gd name="connsiteY18" fmla="*/ 1268413 h 6135556"/>
              <a:gd name="connsiteX19" fmla="*/ 0 w 5502275"/>
              <a:gd name="connsiteY19" fmla="*/ 1268413 h 6135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502275" h="6135556">
                <a:moveTo>
                  <a:pt x="0" y="0"/>
                </a:moveTo>
                <a:lnTo>
                  <a:pt x="5502275" y="0"/>
                </a:lnTo>
                <a:lnTo>
                  <a:pt x="5502275" y="218283"/>
                </a:lnTo>
                <a:lnTo>
                  <a:pt x="5502275" y="1268413"/>
                </a:lnTo>
                <a:lnTo>
                  <a:pt x="5502275" y="1731805"/>
                </a:lnTo>
                <a:lnTo>
                  <a:pt x="2676409" y="1731805"/>
                </a:lnTo>
                <a:lnTo>
                  <a:pt x="2676409" y="2311877"/>
                </a:lnTo>
                <a:lnTo>
                  <a:pt x="4972425" y="2311877"/>
                </a:lnTo>
                <a:lnTo>
                  <a:pt x="4972425" y="3825399"/>
                </a:lnTo>
                <a:lnTo>
                  <a:pt x="2676409" y="3825399"/>
                </a:lnTo>
                <a:lnTo>
                  <a:pt x="2676409" y="4414997"/>
                </a:lnTo>
                <a:lnTo>
                  <a:pt x="5502275" y="4414997"/>
                </a:lnTo>
                <a:lnTo>
                  <a:pt x="5502275" y="4867143"/>
                </a:lnTo>
                <a:lnTo>
                  <a:pt x="5502275" y="5928519"/>
                </a:lnTo>
                <a:lnTo>
                  <a:pt x="5502275" y="6135556"/>
                </a:lnTo>
                <a:lnTo>
                  <a:pt x="0" y="6135556"/>
                </a:lnTo>
                <a:lnTo>
                  <a:pt x="0" y="4867143"/>
                </a:lnTo>
                <a:lnTo>
                  <a:pt x="501" y="4867143"/>
                </a:lnTo>
                <a:lnTo>
                  <a:pt x="501" y="1268413"/>
                </a:lnTo>
                <a:lnTo>
                  <a:pt x="0" y="1268413"/>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10" name="Text Placeholder 17">
            <a:extLst>
              <a:ext uri="{FF2B5EF4-FFF2-40B4-BE49-F238E27FC236}">
                <a16:creationId xmlns:a16="http://schemas.microsoft.com/office/drawing/2014/main" id="{1E88AEE2-3A55-B667-5D40-BB6299F48205}"/>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11" name="Text Placeholder 17">
            <a:extLst>
              <a:ext uri="{FF2B5EF4-FFF2-40B4-BE49-F238E27FC236}">
                <a16:creationId xmlns:a16="http://schemas.microsoft.com/office/drawing/2014/main" id="{D376FEF2-D482-FF48-0E21-E85BCDCAE008}"/>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E35B847D-2BA6-4533-FDD7-9CCF9A96A36C}"/>
              </a:ext>
            </a:extLst>
          </p:cNvPr>
          <p:cNvSpPr txBox="1"/>
          <p:nvPr userDrawn="1"/>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1074416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8761763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Headline">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Tree>
    <p:extLst>
      <p:ext uri="{BB962C8B-B14F-4D97-AF65-F5344CB8AC3E}">
        <p14:creationId xmlns:p14="http://schemas.microsoft.com/office/powerpoint/2010/main" val="10242686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01">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8599914" cy="278794"/>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229208"/>
            <a:ext cx="8599914" cy="597151"/>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012872"/>
            <a:ext cx="8599572" cy="989438"/>
          </a:xfrm>
        </p:spPr>
        <p:txBody>
          <a:bodyPr wrap="square">
            <a:spAutoFit/>
          </a:body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31642192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02">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529440"/>
            <a:ext cx="4757015" cy="989438"/>
          </a:xfrm>
        </p:spPr>
        <p:txBody>
          <a:bodyPr wrap="square">
            <a:spAutoFit/>
          </a:bodyPr>
          <a:lstStyle/>
          <a:p>
            <a:pPr lvl="0"/>
            <a:r>
              <a:rPr lang="en-US" dirty="0"/>
              <a:t>Click to edit Master text styles</a:t>
            </a:r>
          </a:p>
          <a:p>
            <a:pPr lvl="1"/>
            <a:r>
              <a:rPr lang="en-US" dirty="0"/>
              <a:t>Second level</a:t>
            </a:r>
          </a:p>
          <a:p>
            <a:pPr lvl="2"/>
            <a:r>
              <a:rPr lang="en-US" dirty="0"/>
              <a:t>Third level</a:t>
            </a:r>
          </a:p>
        </p:txBody>
      </p:sp>
      <p:sp>
        <p:nvSpPr>
          <p:cNvPr id="4" name="Text Placeholder 17">
            <a:extLst>
              <a:ext uri="{FF2B5EF4-FFF2-40B4-BE49-F238E27FC236}">
                <a16:creationId xmlns:a16="http://schemas.microsoft.com/office/drawing/2014/main" id="{D20FA87A-09E8-BDB2-1C69-54F54B22BE31}"/>
              </a:ext>
            </a:extLst>
          </p:cNvPr>
          <p:cNvSpPr>
            <a:spLocks noGrp="1"/>
          </p:cNvSpPr>
          <p:nvPr>
            <p:ph type="body" sz="quarter" idx="15" hasCustomPrompt="1"/>
          </p:nvPr>
        </p:nvSpPr>
        <p:spPr>
          <a:xfrm>
            <a:off x="630383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6" name="Text Placeholder 8">
            <a:extLst>
              <a:ext uri="{FF2B5EF4-FFF2-40B4-BE49-F238E27FC236}">
                <a16:creationId xmlns:a16="http://schemas.microsoft.com/office/drawing/2014/main" id="{349B6786-5FA4-2087-2C3C-22F8A8E171CC}"/>
              </a:ext>
            </a:extLst>
          </p:cNvPr>
          <p:cNvSpPr>
            <a:spLocks noGrp="1"/>
          </p:cNvSpPr>
          <p:nvPr>
            <p:ph type="body" sz="quarter" idx="16" hasCustomPrompt="1"/>
          </p:nvPr>
        </p:nvSpPr>
        <p:spPr>
          <a:xfrm>
            <a:off x="630383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7" name="Text Placeholder 12">
            <a:extLst>
              <a:ext uri="{FF2B5EF4-FFF2-40B4-BE49-F238E27FC236}">
                <a16:creationId xmlns:a16="http://schemas.microsoft.com/office/drawing/2014/main" id="{86BD890A-D326-FD3F-EDA2-9599F756B623}"/>
              </a:ext>
            </a:extLst>
          </p:cNvPr>
          <p:cNvSpPr>
            <a:spLocks noGrp="1"/>
          </p:cNvSpPr>
          <p:nvPr>
            <p:ph type="body" sz="quarter" idx="17"/>
          </p:nvPr>
        </p:nvSpPr>
        <p:spPr>
          <a:xfrm>
            <a:off x="6303555" y="3529440"/>
            <a:ext cx="4757015" cy="989438"/>
          </a:xfrm>
        </p:spPr>
        <p:txBody>
          <a:bodyPr wrap="square">
            <a:spAutoFit/>
          </a:body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31266995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03">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3216914" cy="989438"/>
          </a:xfrm>
        </p:spPr>
        <p:txBody>
          <a:bodyPr wrap="square">
            <a:spAutoFit/>
          </a:bodyPr>
          <a:lstStyle/>
          <a:p>
            <a:pPr lvl="0"/>
            <a:r>
              <a:rPr lang="en-US" dirty="0"/>
              <a:t>Click to edit Master text styles</a:t>
            </a:r>
          </a:p>
          <a:p>
            <a:pPr lvl="1"/>
            <a:r>
              <a:rPr lang="en-US" dirty="0"/>
              <a:t>Second level</a:t>
            </a:r>
          </a:p>
          <a:p>
            <a:pPr lvl="2"/>
            <a:r>
              <a:rPr lang="en-US" dirty="0"/>
              <a:t>Third level</a:t>
            </a:r>
          </a:p>
        </p:txBody>
      </p:sp>
      <p:sp>
        <p:nvSpPr>
          <p:cNvPr id="16" name="Text Placeholder 17">
            <a:extLst>
              <a:ext uri="{FF2B5EF4-FFF2-40B4-BE49-F238E27FC236}">
                <a16:creationId xmlns:a16="http://schemas.microsoft.com/office/drawing/2014/main" id="{5A431E8C-C0AC-DBC9-2391-1C619D591E69}"/>
              </a:ext>
            </a:extLst>
          </p:cNvPr>
          <p:cNvSpPr>
            <a:spLocks noGrp="1"/>
          </p:cNvSpPr>
          <p:nvPr>
            <p:ph type="body" sz="quarter" idx="15" hasCustomPrompt="1"/>
          </p:nvPr>
        </p:nvSpPr>
        <p:spPr>
          <a:xfrm>
            <a:off x="439375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7" name="Text Placeholder 8">
            <a:extLst>
              <a:ext uri="{FF2B5EF4-FFF2-40B4-BE49-F238E27FC236}">
                <a16:creationId xmlns:a16="http://schemas.microsoft.com/office/drawing/2014/main" id="{7C89246B-18AE-5DA8-795F-679BD7C0617D}"/>
              </a:ext>
            </a:extLst>
          </p:cNvPr>
          <p:cNvSpPr>
            <a:spLocks noGrp="1"/>
          </p:cNvSpPr>
          <p:nvPr>
            <p:ph type="body" sz="quarter" idx="16" hasCustomPrompt="1"/>
          </p:nvPr>
        </p:nvSpPr>
        <p:spPr>
          <a:xfrm>
            <a:off x="439375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8" name="Text Placeholder 12">
            <a:extLst>
              <a:ext uri="{FF2B5EF4-FFF2-40B4-BE49-F238E27FC236}">
                <a16:creationId xmlns:a16="http://schemas.microsoft.com/office/drawing/2014/main" id="{4F617632-1F8F-2092-32FC-7367A36B4B50}"/>
              </a:ext>
            </a:extLst>
          </p:cNvPr>
          <p:cNvSpPr>
            <a:spLocks noGrp="1"/>
          </p:cNvSpPr>
          <p:nvPr>
            <p:ph type="body" sz="quarter" idx="17"/>
          </p:nvPr>
        </p:nvSpPr>
        <p:spPr>
          <a:xfrm>
            <a:off x="4393475" y="3740277"/>
            <a:ext cx="3216914" cy="989438"/>
          </a:xfrm>
        </p:spPr>
        <p:txBody>
          <a:bodyPr wrap="square">
            <a:spAutoFit/>
          </a:bodyPr>
          <a:lstStyle/>
          <a:p>
            <a:pPr lvl="0"/>
            <a:r>
              <a:rPr lang="en-US" dirty="0"/>
              <a:t>Click to edit Master text styles</a:t>
            </a:r>
          </a:p>
          <a:p>
            <a:pPr lvl="1"/>
            <a:r>
              <a:rPr lang="en-US" dirty="0"/>
              <a:t>Second level</a:t>
            </a:r>
          </a:p>
          <a:p>
            <a:pPr lvl="2"/>
            <a:r>
              <a:rPr lang="en-US" dirty="0"/>
              <a:t>Third level</a:t>
            </a:r>
          </a:p>
        </p:txBody>
      </p:sp>
      <p:sp>
        <p:nvSpPr>
          <p:cNvPr id="19" name="Text Placeholder 17">
            <a:extLst>
              <a:ext uri="{FF2B5EF4-FFF2-40B4-BE49-F238E27FC236}">
                <a16:creationId xmlns:a16="http://schemas.microsoft.com/office/drawing/2014/main" id="{03C76AD3-B446-33B3-D6A6-D34A7B1A9CA9}"/>
              </a:ext>
            </a:extLst>
          </p:cNvPr>
          <p:cNvSpPr>
            <a:spLocks noGrp="1"/>
          </p:cNvSpPr>
          <p:nvPr>
            <p:ph type="body" sz="quarter" idx="18" hasCustomPrompt="1"/>
          </p:nvPr>
        </p:nvSpPr>
        <p:spPr>
          <a:xfrm>
            <a:off x="826471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20" name="Text Placeholder 8">
            <a:extLst>
              <a:ext uri="{FF2B5EF4-FFF2-40B4-BE49-F238E27FC236}">
                <a16:creationId xmlns:a16="http://schemas.microsoft.com/office/drawing/2014/main" id="{EA4DB68B-5ABD-7BD4-0D0C-E218D955694D}"/>
              </a:ext>
            </a:extLst>
          </p:cNvPr>
          <p:cNvSpPr>
            <a:spLocks noGrp="1"/>
          </p:cNvSpPr>
          <p:nvPr>
            <p:ph type="body" sz="quarter" idx="19" hasCustomPrompt="1"/>
          </p:nvPr>
        </p:nvSpPr>
        <p:spPr>
          <a:xfrm>
            <a:off x="826471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21" name="Text Placeholder 12">
            <a:extLst>
              <a:ext uri="{FF2B5EF4-FFF2-40B4-BE49-F238E27FC236}">
                <a16:creationId xmlns:a16="http://schemas.microsoft.com/office/drawing/2014/main" id="{9E284295-AA76-A820-A4B4-F649763A5346}"/>
              </a:ext>
            </a:extLst>
          </p:cNvPr>
          <p:cNvSpPr>
            <a:spLocks noGrp="1"/>
          </p:cNvSpPr>
          <p:nvPr>
            <p:ph type="body" sz="quarter" idx="20"/>
          </p:nvPr>
        </p:nvSpPr>
        <p:spPr>
          <a:xfrm>
            <a:off x="8264435" y="3740277"/>
            <a:ext cx="3216914" cy="989438"/>
          </a:xfrm>
        </p:spPr>
        <p:txBody>
          <a:bodyPr wrap="square">
            <a:spAutoFit/>
          </a:body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8297998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04">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86"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86"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2478986" cy="1294137"/>
          </a:xfrm>
        </p:spPr>
        <p:txBody>
          <a:bodyPr wrap="square">
            <a:spAutoFit/>
          </a:bodyPr>
          <a:lstStyle/>
          <a:p>
            <a:pPr lvl="0"/>
            <a:r>
              <a:rPr lang="en-US" dirty="0"/>
              <a:t>Click to edit Master text styles</a:t>
            </a:r>
          </a:p>
          <a:p>
            <a:pPr lvl="1"/>
            <a:r>
              <a:rPr lang="en-US" dirty="0"/>
              <a:t>Second level</a:t>
            </a:r>
          </a:p>
          <a:p>
            <a:pPr lvl="2"/>
            <a:r>
              <a:rPr lang="en-US" dirty="0"/>
              <a:t>Third level</a:t>
            </a:r>
          </a:p>
        </p:txBody>
      </p:sp>
      <p:sp>
        <p:nvSpPr>
          <p:cNvPr id="4" name="Text Placeholder 17">
            <a:extLst>
              <a:ext uri="{FF2B5EF4-FFF2-40B4-BE49-F238E27FC236}">
                <a16:creationId xmlns:a16="http://schemas.microsoft.com/office/drawing/2014/main" id="{A7841F65-A264-9942-011F-C0257234F038}"/>
              </a:ext>
            </a:extLst>
          </p:cNvPr>
          <p:cNvSpPr>
            <a:spLocks noGrp="1"/>
          </p:cNvSpPr>
          <p:nvPr>
            <p:ph type="body" sz="quarter" idx="15" hasCustomPrompt="1"/>
          </p:nvPr>
        </p:nvSpPr>
        <p:spPr>
          <a:xfrm>
            <a:off x="3370044"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6" name="Text Placeholder 8">
            <a:extLst>
              <a:ext uri="{FF2B5EF4-FFF2-40B4-BE49-F238E27FC236}">
                <a16:creationId xmlns:a16="http://schemas.microsoft.com/office/drawing/2014/main" id="{C15516F4-558F-C634-22F7-1F2C190C2A1A}"/>
              </a:ext>
            </a:extLst>
          </p:cNvPr>
          <p:cNvSpPr>
            <a:spLocks noGrp="1"/>
          </p:cNvSpPr>
          <p:nvPr>
            <p:ph type="body" sz="quarter" idx="16" hasCustomPrompt="1"/>
          </p:nvPr>
        </p:nvSpPr>
        <p:spPr>
          <a:xfrm>
            <a:off x="3370044"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7" name="Text Placeholder 12">
            <a:extLst>
              <a:ext uri="{FF2B5EF4-FFF2-40B4-BE49-F238E27FC236}">
                <a16:creationId xmlns:a16="http://schemas.microsoft.com/office/drawing/2014/main" id="{D46D04B0-DA90-F948-8623-D10B3ED438A3}"/>
              </a:ext>
            </a:extLst>
          </p:cNvPr>
          <p:cNvSpPr>
            <a:spLocks noGrp="1"/>
          </p:cNvSpPr>
          <p:nvPr>
            <p:ph type="body" sz="quarter" idx="17"/>
          </p:nvPr>
        </p:nvSpPr>
        <p:spPr>
          <a:xfrm>
            <a:off x="3369773" y="3740277"/>
            <a:ext cx="2478986" cy="1294137"/>
          </a:xfrm>
        </p:spPr>
        <p:txBody>
          <a:bodyPr wrap="square">
            <a:spAutoFit/>
          </a:bodyPr>
          <a:lstStyle/>
          <a:p>
            <a:pPr lvl="0"/>
            <a:r>
              <a:rPr lang="en-US" dirty="0"/>
              <a:t>Click to edit Master text styles</a:t>
            </a:r>
          </a:p>
          <a:p>
            <a:pPr lvl="1"/>
            <a:r>
              <a:rPr lang="en-US" dirty="0"/>
              <a:t>Second level</a:t>
            </a:r>
          </a:p>
          <a:p>
            <a:pPr lvl="2"/>
            <a:r>
              <a:rPr lang="en-US" dirty="0"/>
              <a:t>Third level</a:t>
            </a:r>
          </a:p>
        </p:txBody>
      </p:sp>
      <p:sp>
        <p:nvSpPr>
          <p:cNvPr id="8" name="Text Placeholder 17">
            <a:extLst>
              <a:ext uri="{FF2B5EF4-FFF2-40B4-BE49-F238E27FC236}">
                <a16:creationId xmlns:a16="http://schemas.microsoft.com/office/drawing/2014/main" id="{C45E5508-18D4-B8A0-9554-18C8CC7BA633}"/>
              </a:ext>
            </a:extLst>
          </p:cNvPr>
          <p:cNvSpPr>
            <a:spLocks noGrp="1"/>
          </p:cNvSpPr>
          <p:nvPr>
            <p:ph type="body" sz="quarter" idx="18" hasCustomPrompt="1"/>
          </p:nvPr>
        </p:nvSpPr>
        <p:spPr>
          <a:xfrm>
            <a:off x="6217771"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0" name="Text Placeholder 8">
            <a:extLst>
              <a:ext uri="{FF2B5EF4-FFF2-40B4-BE49-F238E27FC236}">
                <a16:creationId xmlns:a16="http://schemas.microsoft.com/office/drawing/2014/main" id="{9B9FC0B2-A2E1-EE23-DD92-95D99FB7FCBC}"/>
              </a:ext>
            </a:extLst>
          </p:cNvPr>
          <p:cNvSpPr>
            <a:spLocks noGrp="1"/>
          </p:cNvSpPr>
          <p:nvPr>
            <p:ph type="body" sz="quarter" idx="19" hasCustomPrompt="1"/>
          </p:nvPr>
        </p:nvSpPr>
        <p:spPr>
          <a:xfrm>
            <a:off x="6217771"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1" name="Text Placeholder 12">
            <a:extLst>
              <a:ext uri="{FF2B5EF4-FFF2-40B4-BE49-F238E27FC236}">
                <a16:creationId xmlns:a16="http://schemas.microsoft.com/office/drawing/2014/main" id="{9AD3BD22-757B-EEDC-2BED-851D01FAD009}"/>
              </a:ext>
            </a:extLst>
          </p:cNvPr>
          <p:cNvSpPr>
            <a:spLocks noGrp="1"/>
          </p:cNvSpPr>
          <p:nvPr>
            <p:ph type="body" sz="quarter" idx="20"/>
          </p:nvPr>
        </p:nvSpPr>
        <p:spPr>
          <a:xfrm>
            <a:off x="6217500" y="3740277"/>
            <a:ext cx="2478986" cy="1294137"/>
          </a:xfrm>
        </p:spPr>
        <p:txBody>
          <a:bodyPr wrap="square">
            <a:spAutoFit/>
          </a:bodyPr>
          <a:lstStyle/>
          <a:p>
            <a:pPr lvl="0"/>
            <a:r>
              <a:rPr lang="en-US" dirty="0"/>
              <a:t>Click to edit Master text styles</a:t>
            </a:r>
          </a:p>
          <a:p>
            <a:pPr lvl="1"/>
            <a:r>
              <a:rPr lang="en-US" dirty="0"/>
              <a:t>Second level</a:t>
            </a:r>
          </a:p>
          <a:p>
            <a:pPr lvl="2"/>
            <a:r>
              <a:rPr lang="en-US" dirty="0"/>
              <a:t>Third level</a:t>
            </a:r>
          </a:p>
        </p:txBody>
      </p:sp>
      <p:sp>
        <p:nvSpPr>
          <p:cNvPr id="12" name="Text Placeholder 17">
            <a:extLst>
              <a:ext uri="{FF2B5EF4-FFF2-40B4-BE49-F238E27FC236}">
                <a16:creationId xmlns:a16="http://schemas.microsoft.com/office/drawing/2014/main" id="{5E75D8B7-36BA-C036-3008-ED7181EA29CE}"/>
              </a:ext>
            </a:extLst>
          </p:cNvPr>
          <p:cNvSpPr>
            <a:spLocks noGrp="1"/>
          </p:cNvSpPr>
          <p:nvPr>
            <p:ph type="body" sz="quarter" idx="21" hasCustomPrompt="1"/>
          </p:nvPr>
        </p:nvSpPr>
        <p:spPr>
          <a:xfrm>
            <a:off x="9065399"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4" name="Text Placeholder 8">
            <a:extLst>
              <a:ext uri="{FF2B5EF4-FFF2-40B4-BE49-F238E27FC236}">
                <a16:creationId xmlns:a16="http://schemas.microsoft.com/office/drawing/2014/main" id="{BD2C72CE-2AC1-03E8-EC6E-6628A5C8EE8B}"/>
              </a:ext>
            </a:extLst>
          </p:cNvPr>
          <p:cNvSpPr>
            <a:spLocks noGrp="1"/>
          </p:cNvSpPr>
          <p:nvPr>
            <p:ph type="body" sz="quarter" idx="22" hasCustomPrompt="1"/>
          </p:nvPr>
        </p:nvSpPr>
        <p:spPr>
          <a:xfrm>
            <a:off x="9065399"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5" name="Text Placeholder 12">
            <a:extLst>
              <a:ext uri="{FF2B5EF4-FFF2-40B4-BE49-F238E27FC236}">
                <a16:creationId xmlns:a16="http://schemas.microsoft.com/office/drawing/2014/main" id="{C86AC0A8-2096-FDDC-FEAB-27E8D3456BF7}"/>
              </a:ext>
            </a:extLst>
          </p:cNvPr>
          <p:cNvSpPr>
            <a:spLocks noGrp="1"/>
          </p:cNvSpPr>
          <p:nvPr>
            <p:ph type="body" sz="quarter" idx="23"/>
          </p:nvPr>
        </p:nvSpPr>
        <p:spPr>
          <a:xfrm>
            <a:off x="9065128" y="3740277"/>
            <a:ext cx="2478986" cy="1294137"/>
          </a:xfrm>
        </p:spPr>
        <p:txBody>
          <a:bodyPr wrap="square">
            <a:spAutoFit/>
          </a:body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2118188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userDrawn="1"/>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1CE7E595-5C3F-0BAF-330D-65E2AD801F66}"/>
              </a:ext>
            </a:extLst>
          </p:cNvPr>
          <p:cNvSpPr>
            <a:spLocks noGrp="1"/>
          </p:cNvSpPr>
          <p:nvPr>
            <p:ph type="body" sz="quarter" idx="18" hasCustomPrompt="1"/>
          </p:nvPr>
        </p:nvSpPr>
        <p:spPr>
          <a:xfrm>
            <a:off x="4571323" y="1133918"/>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9" name="Text Placeholder 7">
            <a:extLst>
              <a:ext uri="{FF2B5EF4-FFF2-40B4-BE49-F238E27FC236}">
                <a16:creationId xmlns:a16="http://schemas.microsoft.com/office/drawing/2014/main" id="{00B49552-BA81-9DEE-DBCE-F9356D66374D}"/>
              </a:ext>
            </a:extLst>
          </p:cNvPr>
          <p:cNvSpPr>
            <a:spLocks noGrp="1"/>
          </p:cNvSpPr>
          <p:nvPr>
            <p:ph type="body" sz="quarter" idx="19" hasCustomPrompt="1"/>
          </p:nvPr>
        </p:nvSpPr>
        <p:spPr>
          <a:xfrm>
            <a:off x="4571323" y="1793136"/>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0" name="Text Placeholder 7">
            <a:extLst>
              <a:ext uri="{FF2B5EF4-FFF2-40B4-BE49-F238E27FC236}">
                <a16:creationId xmlns:a16="http://schemas.microsoft.com/office/drawing/2014/main" id="{03CD231C-30AC-3339-A90C-FF099FDCE126}"/>
              </a:ext>
            </a:extLst>
          </p:cNvPr>
          <p:cNvSpPr>
            <a:spLocks noGrp="1"/>
          </p:cNvSpPr>
          <p:nvPr>
            <p:ph type="body" sz="quarter" idx="20" hasCustomPrompt="1"/>
          </p:nvPr>
        </p:nvSpPr>
        <p:spPr>
          <a:xfrm>
            <a:off x="4571323" y="2452355"/>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1" name="Text Placeholder 7">
            <a:extLst>
              <a:ext uri="{FF2B5EF4-FFF2-40B4-BE49-F238E27FC236}">
                <a16:creationId xmlns:a16="http://schemas.microsoft.com/office/drawing/2014/main" id="{8982B152-EDC0-3186-CD84-DAB96BF42494}"/>
              </a:ext>
            </a:extLst>
          </p:cNvPr>
          <p:cNvSpPr>
            <a:spLocks noGrp="1"/>
          </p:cNvSpPr>
          <p:nvPr>
            <p:ph type="body" sz="quarter" idx="21" hasCustomPrompt="1"/>
          </p:nvPr>
        </p:nvSpPr>
        <p:spPr>
          <a:xfrm>
            <a:off x="4571323" y="3111573"/>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8" name="Text Placeholder 7">
            <a:extLst>
              <a:ext uri="{FF2B5EF4-FFF2-40B4-BE49-F238E27FC236}">
                <a16:creationId xmlns:a16="http://schemas.microsoft.com/office/drawing/2014/main" id="{356610AF-C4CC-A0BF-AEC5-6E3BDD36D990}"/>
              </a:ext>
            </a:extLst>
          </p:cNvPr>
          <p:cNvSpPr>
            <a:spLocks noGrp="1"/>
          </p:cNvSpPr>
          <p:nvPr>
            <p:ph type="body" sz="quarter" idx="22" hasCustomPrompt="1"/>
          </p:nvPr>
        </p:nvSpPr>
        <p:spPr>
          <a:xfrm>
            <a:off x="4571323" y="3770791"/>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9" name="Text Placeholder 7">
            <a:extLst>
              <a:ext uri="{FF2B5EF4-FFF2-40B4-BE49-F238E27FC236}">
                <a16:creationId xmlns:a16="http://schemas.microsoft.com/office/drawing/2014/main" id="{71249665-4BF1-BC80-9E3E-27C6AC131E05}"/>
              </a:ext>
            </a:extLst>
          </p:cNvPr>
          <p:cNvSpPr>
            <a:spLocks noGrp="1"/>
          </p:cNvSpPr>
          <p:nvPr>
            <p:ph type="body" sz="quarter" idx="23" hasCustomPrompt="1"/>
          </p:nvPr>
        </p:nvSpPr>
        <p:spPr>
          <a:xfrm>
            <a:off x="4571323" y="4430010"/>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20" name="Text Placeholder 7">
            <a:extLst>
              <a:ext uri="{FF2B5EF4-FFF2-40B4-BE49-F238E27FC236}">
                <a16:creationId xmlns:a16="http://schemas.microsoft.com/office/drawing/2014/main" id="{5AF120EB-8D6E-49DB-0DA5-20F61C819518}"/>
              </a:ext>
            </a:extLst>
          </p:cNvPr>
          <p:cNvSpPr>
            <a:spLocks noGrp="1"/>
          </p:cNvSpPr>
          <p:nvPr>
            <p:ph type="body" sz="quarter" idx="24" hasCustomPrompt="1"/>
          </p:nvPr>
        </p:nvSpPr>
        <p:spPr>
          <a:xfrm>
            <a:off x="4571323" y="5089229"/>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pic>
        <p:nvPicPr>
          <p:cNvPr id="21" name="Graphic 20">
            <a:extLst>
              <a:ext uri="{FF2B5EF4-FFF2-40B4-BE49-F238E27FC236}">
                <a16:creationId xmlns:a16="http://schemas.microsoft.com/office/drawing/2014/main" id="{B6EDFCBE-296B-864F-13E7-245D40ED0C39}"/>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647542" y="1793136"/>
            <a:ext cx="789191" cy="789191"/>
          </a:xfrm>
          <a:prstGeom prst="rect">
            <a:avLst/>
          </a:prstGeom>
        </p:spPr>
      </p:pic>
      <p:pic>
        <p:nvPicPr>
          <p:cNvPr id="22" name="Graphic 21">
            <a:extLst>
              <a:ext uri="{FF2B5EF4-FFF2-40B4-BE49-F238E27FC236}">
                <a16:creationId xmlns:a16="http://schemas.microsoft.com/office/drawing/2014/main" id="{D5A0CFA2-F296-A8B7-CB70-C9D00D9E3C9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 Placeholder 17">
            <a:extLst>
              <a:ext uri="{FF2B5EF4-FFF2-40B4-BE49-F238E27FC236}">
                <a16:creationId xmlns:a16="http://schemas.microsoft.com/office/drawing/2014/main" id="{7CD097DB-9618-CDB1-1F1F-B033BC4801EA}"/>
              </a:ext>
            </a:extLst>
          </p:cNvPr>
          <p:cNvSpPr>
            <a:spLocks noGrp="1"/>
          </p:cNvSpPr>
          <p:nvPr>
            <p:ph type="body" sz="quarter" idx="10" hasCustomPrompt="1"/>
          </p:nvPr>
        </p:nvSpPr>
        <p:spPr>
          <a:xfrm>
            <a:off x="352660" y="2735750"/>
            <a:ext cx="3358665" cy="944810"/>
          </a:xfrm>
        </p:spPr>
        <p:txBody>
          <a:bodyPr wrap="square">
            <a:spAutoFit/>
          </a:bodyPr>
          <a:lstStyle>
            <a:lvl1pPr marL="0" indent="0" algn="ctr">
              <a:lnSpc>
                <a:spcPct val="90000"/>
              </a:lnSpc>
              <a:spcBef>
                <a:spcPts val="0"/>
              </a:spcBef>
              <a:buNone/>
              <a:defRPr sz="3400" b="1">
                <a:solidFill>
                  <a:schemeClr val="bg1"/>
                </a:solidFill>
              </a:defRPr>
            </a:lvl1pPr>
          </a:lstStyle>
          <a:p>
            <a:pPr lvl="0"/>
            <a:r>
              <a:rPr lang="en-US" dirty="0"/>
              <a:t>Agenda or Table of Contents</a:t>
            </a:r>
          </a:p>
        </p:txBody>
      </p:sp>
    </p:spTree>
    <p:extLst>
      <p:ext uri="{BB962C8B-B14F-4D97-AF65-F5344CB8AC3E}">
        <p14:creationId xmlns:p14="http://schemas.microsoft.com/office/powerpoint/2010/main" val="38047552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reaker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userDrawn="1"/>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11D55CDA-462C-A7FF-EE12-3FDD8DDBC2F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10" name="TextBox 9">
            <a:extLst>
              <a:ext uri="{FF2B5EF4-FFF2-40B4-BE49-F238E27FC236}">
                <a16:creationId xmlns:a16="http://schemas.microsoft.com/office/drawing/2014/main" id="{490D0730-EC65-31BF-A4FA-992A99E0E4CF}"/>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414252230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reaker Dark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userDrawn="1"/>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BE3200C5-B5A9-AC44-9200-784DFC63364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A2BD6F6F-F10E-C53F-032B-188519D8D1C8}"/>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2" name="TextBox 1">
            <a:extLst>
              <a:ext uri="{FF2B5EF4-FFF2-40B4-BE49-F238E27FC236}">
                <a16:creationId xmlns:a16="http://schemas.microsoft.com/office/drawing/2014/main" id="{8460C111-1CB1-186F-BF66-55001B5779EA}"/>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57235014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reaker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userDrawn="1"/>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tx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8E4133EC-B264-3D5F-9CF5-94A59CFE1B1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642BD9AE-C83A-9EF9-F573-61A0E81EA594}"/>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33400819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PUR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userDrawn="1"/>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563089" y="3740277"/>
            <a:ext cx="5232717" cy="1684948"/>
          </a:xfrm>
        </p:spPr>
        <p:txBody>
          <a:bodyPr wrap="square">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 name="Graphic 1">
            <a:extLst>
              <a:ext uri="{FF2B5EF4-FFF2-40B4-BE49-F238E27FC236}">
                <a16:creationId xmlns:a16="http://schemas.microsoft.com/office/drawing/2014/main" id="{017A8F2F-9330-25BE-0D2E-902E66CDE27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2150781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Gray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userDrawn="1"/>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2" name="Graphic 11">
            <a:extLst>
              <a:ext uri="{FF2B5EF4-FFF2-40B4-BE49-F238E27FC236}">
                <a16:creationId xmlns:a16="http://schemas.microsoft.com/office/drawing/2014/main" id="{989C4F93-BF72-9EDD-88A7-D0623456593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255864167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Green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userDrawn="1"/>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2" name="Graphic 11">
            <a:extLst>
              <a:ext uri="{FF2B5EF4-FFF2-40B4-BE49-F238E27FC236}">
                <a16:creationId xmlns:a16="http://schemas.microsoft.com/office/drawing/2014/main" id="{AB1728AA-35B4-4BD9-8922-5A10B50EFB7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4685806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PUR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userDrawn="1"/>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 name="Graphic 1">
            <a:extLst>
              <a:ext uri="{FF2B5EF4-FFF2-40B4-BE49-F238E27FC236}">
                <a16:creationId xmlns:a16="http://schemas.microsoft.com/office/drawing/2014/main" id="{01D50BC8-C95D-425B-652A-2D581ADCD81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25948180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Gray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userDrawn="1"/>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9" name="Graphic 8">
            <a:extLst>
              <a:ext uri="{FF2B5EF4-FFF2-40B4-BE49-F238E27FC236}">
                <a16:creationId xmlns:a16="http://schemas.microsoft.com/office/drawing/2014/main" id="{E5FB72CE-435D-5F45-16B1-4A77B79AF3C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62765955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Green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userDrawn="1"/>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9" name="Graphic 8">
            <a:extLst>
              <a:ext uri="{FF2B5EF4-FFF2-40B4-BE49-F238E27FC236}">
                <a16:creationId xmlns:a16="http://schemas.microsoft.com/office/drawing/2014/main" id="{65A4C054-B1C8-E492-ADA1-D665C51553F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59565154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Image-Right">
    <p:spTree>
      <p:nvGrpSpPr>
        <p:cNvPr id="1" name=""/>
        <p:cNvGrpSpPr/>
        <p:nvPr/>
      </p:nvGrpSpPr>
      <p:grpSpPr>
        <a:xfrm>
          <a:off x="0" y="0"/>
          <a:ext cx="0" cy="0"/>
          <a:chOff x="0" y="0"/>
          <a:chExt cx="0" cy="0"/>
        </a:xfrm>
      </p:grpSpPr>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38630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38630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386035" y="4139291"/>
            <a:ext cx="5008456" cy="1684948"/>
          </a:xfrm>
        </p:spPr>
        <p:txBody>
          <a:bodyPr wrap="square">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6096000" y="0"/>
            <a:ext cx="6096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42065790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Image-Lef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6096000" cy="6858000"/>
          </a:xfrm>
        </p:spPr>
        <p:txBody>
          <a:bodyPr anchor="ctr" anchorCtr="0">
            <a:noAutofit/>
          </a:bodyPr>
          <a:lstStyle>
            <a:lvl1pPr marL="0" indent="0" algn="ctr">
              <a:buNone/>
              <a:defRPr/>
            </a:lvl1pPr>
          </a:lstStyle>
          <a:p>
            <a:r>
              <a:rPr lang="en-US" dirty="0"/>
              <a:t>[Click to insert image]</a:t>
            </a:r>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666491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66518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66518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664915" y="4139291"/>
            <a:ext cx="5008456" cy="1684948"/>
          </a:xfrm>
        </p:spPr>
        <p:txBody>
          <a:bodyPr wrap="square">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16177800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Full Page Ima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12192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426804996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EFrame Image Purple">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5AACD76F-5A98-DE42-2012-2E4698A70B32}"/>
              </a:ext>
            </a:extLst>
          </p:cNvPr>
          <p:cNvSpPr/>
          <p:nvPr userDrawn="1"/>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Picture Placeholder 43">
            <a:extLst>
              <a:ext uri="{FF2B5EF4-FFF2-40B4-BE49-F238E27FC236}">
                <a16:creationId xmlns:a16="http://schemas.microsoft.com/office/drawing/2014/main" id="{C5980322-EF45-73EA-F45B-05C3C55E7CE2}"/>
              </a:ext>
            </a:extLst>
          </p:cNvPr>
          <p:cNvSpPr>
            <a:spLocks noGrp="1"/>
          </p:cNvSpPr>
          <p:nvPr>
            <p:ph type="pic" sz="quarter" idx="13" hasCustomPrompt="1"/>
          </p:nvPr>
        </p:nvSpPr>
        <p:spPr>
          <a:xfrm>
            <a:off x="5337810" y="573881"/>
            <a:ext cx="6854190" cy="5710237"/>
          </a:xfrm>
          <a:custGeom>
            <a:avLst/>
            <a:gdLst>
              <a:gd name="connsiteX0" fmla="*/ 0 w 6854190"/>
              <a:gd name="connsiteY0" fmla="*/ 0 h 5710237"/>
              <a:gd name="connsiteX1" fmla="*/ 3816350 w 6854190"/>
              <a:gd name="connsiteY1" fmla="*/ 0 h 5710237"/>
              <a:gd name="connsiteX2" fmla="*/ 3816350 w 6854190"/>
              <a:gd name="connsiteY2" fmla="*/ 1 h 5710237"/>
              <a:gd name="connsiteX3" fmla="*/ 6854190 w 6854190"/>
              <a:gd name="connsiteY3" fmla="*/ 1 h 5710237"/>
              <a:gd name="connsiteX4" fmla="*/ 6854190 w 6854190"/>
              <a:gd name="connsiteY4" fmla="*/ 1513523 h 5710237"/>
              <a:gd name="connsiteX5" fmla="*/ 3816350 w 6854190"/>
              <a:gd name="connsiteY5" fmla="*/ 1513523 h 5710237"/>
              <a:gd name="connsiteX6" fmla="*/ 3816350 w 6854190"/>
              <a:gd name="connsiteY6" fmla="*/ 2093595 h 5710237"/>
              <a:gd name="connsiteX7" fmla="*/ 6284595 w 6854190"/>
              <a:gd name="connsiteY7" fmla="*/ 2093595 h 5710237"/>
              <a:gd name="connsiteX8" fmla="*/ 6284595 w 6854190"/>
              <a:gd name="connsiteY8" fmla="*/ 3607117 h 5710237"/>
              <a:gd name="connsiteX9" fmla="*/ 3816350 w 6854190"/>
              <a:gd name="connsiteY9" fmla="*/ 3607117 h 5710237"/>
              <a:gd name="connsiteX10" fmla="*/ 3816350 w 6854190"/>
              <a:gd name="connsiteY10" fmla="*/ 4196715 h 5710237"/>
              <a:gd name="connsiteX11" fmla="*/ 6854190 w 6854190"/>
              <a:gd name="connsiteY11" fmla="*/ 4196715 h 5710237"/>
              <a:gd name="connsiteX12" fmla="*/ 6854190 w 6854190"/>
              <a:gd name="connsiteY12" fmla="*/ 5710237 h 5710237"/>
              <a:gd name="connsiteX13" fmla="*/ 3816350 w 6854190"/>
              <a:gd name="connsiteY13" fmla="*/ 5710237 h 5710237"/>
              <a:gd name="connsiteX14" fmla="*/ 3037840 w 6854190"/>
              <a:gd name="connsiteY14" fmla="*/ 5710237 h 5710237"/>
              <a:gd name="connsiteX15" fmla="*/ 0 w 6854190"/>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854190" h="5710237">
                <a:moveTo>
                  <a:pt x="0" y="0"/>
                </a:moveTo>
                <a:lnTo>
                  <a:pt x="3816350" y="0"/>
                </a:lnTo>
                <a:lnTo>
                  <a:pt x="3816350" y="1"/>
                </a:lnTo>
                <a:lnTo>
                  <a:pt x="6854190" y="1"/>
                </a:lnTo>
                <a:lnTo>
                  <a:pt x="6854190" y="1513523"/>
                </a:lnTo>
                <a:lnTo>
                  <a:pt x="3816350" y="1513523"/>
                </a:lnTo>
                <a:lnTo>
                  <a:pt x="3816350" y="2093595"/>
                </a:lnTo>
                <a:lnTo>
                  <a:pt x="6284595" y="2093595"/>
                </a:lnTo>
                <a:lnTo>
                  <a:pt x="6284595" y="3607117"/>
                </a:lnTo>
                <a:lnTo>
                  <a:pt x="3816350" y="3607117"/>
                </a:lnTo>
                <a:lnTo>
                  <a:pt x="3816350" y="4196715"/>
                </a:lnTo>
                <a:lnTo>
                  <a:pt x="6854190" y="4196715"/>
                </a:lnTo>
                <a:lnTo>
                  <a:pt x="6854190" y="5710237"/>
                </a:lnTo>
                <a:lnTo>
                  <a:pt x="3816350" y="5710237"/>
                </a:lnTo>
                <a:lnTo>
                  <a:pt x="3037840"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7" name="Text Placeholder 17">
            <a:extLst>
              <a:ext uri="{FF2B5EF4-FFF2-40B4-BE49-F238E27FC236}">
                <a16:creationId xmlns:a16="http://schemas.microsoft.com/office/drawing/2014/main" id="{72A36242-E96D-BCC5-8B9A-F727F91C17DD}"/>
              </a:ext>
            </a:extLst>
          </p:cNvPr>
          <p:cNvSpPr>
            <a:spLocks noGrp="1"/>
          </p:cNvSpPr>
          <p:nvPr>
            <p:ph type="body" sz="quarter" idx="10" hasCustomPrompt="1"/>
          </p:nvPr>
        </p:nvSpPr>
        <p:spPr>
          <a:xfrm>
            <a:off x="386035" y="1112251"/>
            <a:ext cx="4317994" cy="944810"/>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endParaRPr lang="en-US" dirty="0"/>
          </a:p>
        </p:txBody>
      </p:sp>
      <p:sp>
        <p:nvSpPr>
          <p:cNvPr id="48" name="Text Placeholder 17">
            <a:extLst>
              <a:ext uri="{FF2B5EF4-FFF2-40B4-BE49-F238E27FC236}">
                <a16:creationId xmlns:a16="http://schemas.microsoft.com/office/drawing/2014/main" id="{E033C30C-F4BF-DEFA-8C82-E924E66CF321}"/>
              </a:ext>
            </a:extLst>
          </p:cNvPr>
          <p:cNvSpPr>
            <a:spLocks noGrp="1"/>
          </p:cNvSpPr>
          <p:nvPr>
            <p:ph type="body" sz="quarter" idx="12" hasCustomPrompt="1"/>
          </p:nvPr>
        </p:nvSpPr>
        <p:spPr>
          <a:xfrm>
            <a:off x="386305" y="2467715"/>
            <a:ext cx="4317775" cy="555793"/>
          </a:xfrm>
        </p:spPr>
        <p:txBody>
          <a:bodyPr wrap="square">
            <a:spAutoFit/>
          </a:bodyPr>
          <a:lstStyle>
            <a:lvl1pPr marL="0" indent="0">
              <a:lnSpc>
                <a:spcPct val="90000"/>
              </a:lnSpc>
              <a:spcBef>
                <a:spcPts val="0"/>
              </a:spcBef>
              <a:buNone/>
              <a:defRPr sz="2000" b="1">
                <a:solidFill>
                  <a:schemeClr val="bg1"/>
                </a:solidFill>
              </a:defRPr>
            </a:lvl1pPr>
          </a:lstStyle>
          <a:p>
            <a:pPr lvl="0"/>
            <a:r>
              <a:rPr lang="en-US" dirty="0"/>
              <a:t>Subhead culpa qui official arum </a:t>
            </a:r>
            <a:r>
              <a:rPr lang="en-US" dirty="0" err="1"/>
              <a:t>quidem</a:t>
            </a:r>
            <a:r>
              <a:rPr lang="en-US" dirty="0"/>
              <a:t> rerum facilis</a:t>
            </a:r>
          </a:p>
        </p:txBody>
      </p:sp>
      <p:sp>
        <p:nvSpPr>
          <p:cNvPr id="49" name="Text Placeholder 8">
            <a:extLst>
              <a:ext uri="{FF2B5EF4-FFF2-40B4-BE49-F238E27FC236}">
                <a16:creationId xmlns:a16="http://schemas.microsoft.com/office/drawing/2014/main" id="{A0F481E4-FC0E-C80A-C2EC-B76F27D262A7}"/>
              </a:ext>
            </a:extLst>
          </p:cNvPr>
          <p:cNvSpPr>
            <a:spLocks noGrp="1"/>
          </p:cNvSpPr>
          <p:nvPr>
            <p:ph type="body" sz="quarter" idx="14" hasCustomPrompt="1"/>
          </p:nvPr>
        </p:nvSpPr>
        <p:spPr>
          <a:xfrm>
            <a:off x="386305" y="3130525"/>
            <a:ext cx="4317775" cy="901850"/>
          </a:xfrm>
        </p:spPr>
        <p:txBody>
          <a:bodyPr wrap="square">
            <a:spAutoFit/>
          </a:bodyPr>
          <a:lstStyle>
            <a:lvl1pPr marL="0" indent="0">
              <a:buNone/>
              <a:defRPr sz="1800">
                <a:solidFill>
                  <a:schemeClr val="bg1"/>
                </a:solidFill>
              </a:defRPr>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a:t>
            </a:r>
          </a:p>
        </p:txBody>
      </p:sp>
      <p:sp>
        <p:nvSpPr>
          <p:cNvPr id="50" name="Text Placeholder 12">
            <a:extLst>
              <a:ext uri="{FF2B5EF4-FFF2-40B4-BE49-F238E27FC236}">
                <a16:creationId xmlns:a16="http://schemas.microsoft.com/office/drawing/2014/main" id="{F28319CA-55ED-F435-6422-E7CAE3A4E5C8}"/>
              </a:ext>
            </a:extLst>
          </p:cNvPr>
          <p:cNvSpPr>
            <a:spLocks noGrp="1"/>
          </p:cNvSpPr>
          <p:nvPr>
            <p:ph type="body" sz="quarter" idx="15"/>
          </p:nvPr>
        </p:nvSpPr>
        <p:spPr>
          <a:xfrm>
            <a:off x="386035" y="4155118"/>
            <a:ext cx="4317603" cy="1684948"/>
          </a:xfrm>
        </p:spPr>
        <p:txBody>
          <a:bodyPr wrap="square">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 name="Graphic 1">
            <a:extLst>
              <a:ext uri="{FF2B5EF4-FFF2-40B4-BE49-F238E27FC236}">
                <a16:creationId xmlns:a16="http://schemas.microsoft.com/office/drawing/2014/main" id="{E2FA6E33-C1DD-C1DE-7C6F-82957792F31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8D073452-E314-EB2D-1FC4-135DC2D7775F}"/>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4" name="TextBox 3">
            <a:extLst>
              <a:ext uri="{FF2B5EF4-FFF2-40B4-BE49-F238E27FC236}">
                <a16:creationId xmlns:a16="http://schemas.microsoft.com/office/drawing/2014/main" id="{A28DAA59-27D2-784E-D2A1-F51D07814DEC}"/>
              </a:ext>
            </a:extLst>
          </p:cNvPr>
          <p:cNvSpPr txBox="1"/>
          <p:nvPr userDrawn="1"/>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55010158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Quote Purpl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userDrawn="1"/>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bg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bg1"/>
                </a:solidFill>
              </a:defRPr>
            </a:lvl1pPr>
          </a:lstStyle>
          <a:p>
            <a:pPr lvl="0"/>
            <a:r>
              <a:rPr lang="en-US" dirty="0"/>
              <a:t>First &amp; Last Name</a:t>
            </a:r>
          </a:p>
        </p:txBody>
      </p:sp>
      <p:pic>
        <p:nvPicPr>
          <p:cNvPr id="5" name="Graphic 4">
            <a:extLst>
              <a:ext uri="{FF2B5EF4-FFF2-40B4-BE49-F238E27FC236}">
                <a16:creationId xmlns:a16="http://schemas.microsoft.com/office/drawing/2014/main" id="{11D55CDA-462C-A7FF-EE12-3FDD8DDBC2F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2" name="Text Placeholder 17">
            <a:extLst>
              <a:ext uri="{FF2B5EF4-FFF2-40B4-BE49-F238E27FC236}">
                <a16:creationId xmlns:a16="http://schemas.microsoft.com/office/drawing/2014/main" id="{D05DB1F1-ACC3-B191-E3E7-7348B83D3D7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bg1"/>
                </a:solidFill>
              </a:defRPr>
            </a:lvl1pPr>
          </a:lstStyle>
          <a:p>
            <a:pPr lvl="0"/>
            <a:r>
              <a:rPr lang="en-US" dirty="0"/>
              <a:t>Title and Company or Institution</a:t>
            </a:r>
          </a:p>
        </p:txBody>
      </p:sp>
      <p:pic>
        <p:nvPicPr>
          <p:cNvPr id="4" name="Graphic 3">
            <a:extLst>
              <a:ext uri="{FF2B5EF4-FFF2-40B4-BE49-F238E27FC236}">
                <a16:creationId xmlns:a16="http://schemas.microsoft.com/office/drawing/2014/main" id="{3F44E2C7-6484-3A24-48A0-1EC4CE2E334F}"/>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5618540" y="1374718"/>
            <a:ext cx="954921" cy="954921"/>
          </a:xfrm>
          <a:prstGeom prst="rect">
            <a:avLst/>
          </a:prstGeom>
        </p:spPr>
      </p:pic>
      <p:sp>
        <p:nvSpPr>
          <p:cNvPr id="8" name="TextBox 7">
            <a:extLst>
              <a:ext uri="{FF2B5EF4-FFF2-40B4-BE49-F238E27FC236}">
                <a16:creationId xmlns:a16="http://schemas.microsoft.com/office/drawing/2014/main" id="{56538370-0C99-95AF-B7F2-D3F6183791A0}"/>
              </a:ext>
            </a:extLst>
          </p:cNvPr>
          <p:cNvSpPr txBox="1"/>
          <p:nvPr userDrawn="1"/>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51577076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Quote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userDrawn="1"/>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8E4133EC-B264-3D5F-9CF5-94A59CFE1B1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 Placeholder 17">
            <a:extLst>
              <a:ext uri="{FF2B5EF4-FFF2-40B4-BE49-F238E27FC236}">
                <a16:creationId xmlns:a16="http://schemas.microsoft.com/office/drawing/2014/main" id="{97C25E61-6B43-DBD5-C2CE-87847F39AAE2}"/>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tx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4" name="Text Placeholder 17">
            <a:extLst>
              <a:ext uri="{FF2B5EF4-FFF2-40B4-BE49-F238E27FC236}">
                <a16:creationId xmlns:a16="http://schemas.microsoft.com/office/drawing/2014/main" id="{FCEE0479-D5F9-CE3F-36E7-238BA0F4577F}"/>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tx1"/>
                </a:solidFill>
              </a:defRPr>
            </a:lvl1pPr>
          </a:lstStyle>
          <a:p>
            <a:pPr lvl="0"/>
            <a:r>
              <a:rPr lang="en-US" dirty="0"/>
              <a:t>First &amp; Last Name</a:t>
            </a:r>
          </a:p>
        </p:txBody>
      </p:sp>
      <p:sp>
        <p:nvSpPr>
          <p:cNvPr id="8" name="Text Placeholder 17">
            <a:extLst>
              <a:ext uri="{FF2B5EF4-FFF2-40B4-BE49-F238E27FC236}">
                <a16:creationId xmlns:a16="http://schemas.microsoft.com/office/drawing/2014/main" id="{A76AF4FC-9A53-DBD9-C4E3-8F3D9D7DB7D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tx1"/>
                </a:solidFill>
              </a:defRPr>
            </a:lvl1pPr>
          </a:lstStyle>
          <a:p>
            <a:pPr lvl="0"/>
            <a:r>
              <a:rPr lang="en-US" dirty="0"/>
              <a:t>Title and Company or Institution</a:t>
            </a:r>
          </a:p>
        </p:txBody>
      </p:sp>
      <p:pic>
        <p:nvPicPr>
          <p:cNvPr id="11" name="Graphic 10">
            <a:extLst>
              <a:ext uri="{FF2B5EF4-FFF2-40B4-BE49-F238E27FC236}">
                <a16:creationId xmlns:a16="http://schemas.microsoft.com/office/drawing/2014/main" id="{FF551E89-4ED8-FCF0-7E9B-2446F24111F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5618540" y="1374718"/>
            <a:ext cx="954921" cy="954921"/>
          </a:xfrm>
          <a:prstGeom prst="rect">
            <a:avLst/>
          </a:prstGeom>
        </p:spPr>
      </p:pic>
      <p:sp>
        <p:nvSpPr>
          <p:cNvPr id="6" name="TextBox 5">
            <a:extLst>
              <a:ext uri="{FF2B5EF4-FFF2-40B4-BE49-F238E27FC236}">
                <a16:creationId xmlns:a16="http://schemas.microsoft.com/office/drawing/2014/main" id="{759FA4B8-B22A-02CB-D4E5-CDAF1F338C84}"/>
              </a:ext>
            </a:extLst>
          </p:cNvPr>
          <p:cNvSpPr txBox="1"/>
          <p:nvPr userDrawn="1"/>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92950644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Purple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userDrawn="1"/>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userDrawn="1"/>
        </p:nvSpPr>
        <p:spPr>
          <a:xfrm>
            <a:off x="0" y="2311400"/>
            <a:ext cx="12192000" cy="22225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userDrawn="1"/>
        </p:nvSpPr>
        <p:spPr>
          <a:xfrm>
            <a:off x="0" y="4254500"/>
            <a:ext cx="12192000" cy="147319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userDrawn="1"/>
        </p:nvSpPr>
        <p:spPr>
          <a:xfrm>
            <a:off x="0" y="5562599"/>
            <a:ext cx="12192000" cy="8815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CC5AC45-371A-D1F2-3506-59FB4F407F5D}"/>
              </a:ext>
            </a:extLst>
          </p:cNvPr>
          <p:cNvSpPr/>
          <p:nvPr userDrawn="1"/>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solidFill>
                  <a:schemeClr val="bg1"/>
                </a:solidFill>
              </a:defRPr>
            </a:lvl1pPr>
          </a:lstStyle>
          <a:p>
            <a:pPr lvl="0"/>
            <a:r>
              <a:rPr lang="en-US" dirty="0"/>
              <a:t>Fourth level statement</a:t>
            </a:r>
          </a:p>
        </p:txBody>
      </p:sp>
      <p:pic>
        <p:nvPicPr>
          <p:cNvPr id="2" name="Graphic 1">
            <a:extLst>
              <a:ext uri="{FF2B5EF4-FFF2-40B4-BE49-F238E27FC236}">
                <a16:creationId xmlns:a16="http://schemas.microsoft.com/office/drawing/2014/main" id="{320A3CFF-FF3A-806C-4272-4BD562E4527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83CB4FD4-52E5-7743-832E-878711B6912D}"/>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6" name="TextBox 5">
            <a:extLst>
              <a:ext uri="{FF2B5EF4-FFF2-40B4-BE49-F238E27FC236}">
                <a16:creationId xmlns:a16="http://schemas.microsoft.com/office/drawing/2014/main" id="{8955BA75-BCED-43A8-374C-ED5B5EB749B9}"/>
              </a:ext>
            </a:extLst>
          </p:cNvPr>
          <p:cNvSpPr txBox="1"/>
          <p:nvPr userDrawn="1"/>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06306668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Green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userDrawn="1"/>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userDrawn="1"/>
        </p:nvSpPr>
        <p:spPr>
          <a:xfrm>
            <a:off x="0" y="2311400"/>
            <a:ext cx="12192000" cy="2222500"/>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userDrawn="1"/>
        </p:nvSpPr>
        <p:spPr>
          <a:xfrm>
            <a:off x="0" y="4254500"/>
            <a:ext cx="12192000" cy="1473199"/>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userDrawn="1"/>
        </p:nvSpPr>
        <p:spPr>
          <a:xfrm>
            <a:off x="0" y="5562599"/>
            <a:ext cx="12192000" cy="88157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lvl1pPr>
          </a:lstStyle>
          <a:p>
            <a:pPr lvl="0"/>
            <a:r>
              <a:rPr lang="en-US" dirty="0"/>
              <a:t>Fourth level statement</a:t>
            </a:r>
          </a:p>
        </p:txBody>
      </p:sp>
      <p:sp>
        <p:nvSpPr>
          <p:cNvPr id="2" name="Rectangle 1">
            <a:extLst>
              <a:ext uri="{FF2B5EF4-FFF2-40B4-BE49-F238E27FC236}">
                <a16:creationId xmlns:a16="http://schemas.microsoft.com/office/drawing/2014/main" id="{ABC92165-EA63-BA70-B09C-3AE3A0E3B988}"/>
              </a:ext>
            </a:extLst>
          </p:cNvPr>
          <p:cNvSpPr/>
          <p:nvPr userDrawn="1"/>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B8487BB2-49A0-1AD0-6AEA-A6BA00965FB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D645B4-C9BC-C447-40CC-BED53F5C40F2}"/>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4" name="TextBox 3">
            <a:extLst>
              <a:ext uri="{FF2B5EF4-FFF2-40B4-BE49-F238E27FC236}">
                <a16:creationId xmlns:a16="http://schemas.microsoft.com/office/drawing/2014/main" id="{06D9A09A-FC77-0C42-3399-4228AB66473E}"/>
              </a:ext>
            </a:extLst>
          </p:cNvPr>
          <p:cNvSpPr txBox="1"/>
          <p:nvPr userDrawn="1"/>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44341869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userDrawn="1"/>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035BE7A-2092-E334-9925-A2CD0ED61EC1}"/>
              </a:ext>
            </a:extLst>
          </p:cNvPr>
          <p:cNvSpPr txBox="1"/>
          <p:nvPr userDrawn="1"/>
        </p:nvSpPr>
        <p:spPr>
          <a:xfrm>
            <a:off x="836428" y="2435962"/>
            <a:ext cx="10441173" cy="1769715"/>
          </a:xfrm>
          <a:prstGeom prst="rect">
            <a:avLst/>
          </a:prstGeom>
          <a:noFill/>
        </p:spPr>
        <p:txBody>
          <a:bodyPr wrap="square" lIns="0" tIns="0" rIns="0" bIns="0" rtlCol="0">
            <a:spAutoFit/>
          </a:bodyPr>
          <a:lstStyle/>
          <a:p>
            <a:pPr algn="ctr"/>
            <a:r>
              <a:rPr lang="en-US" sz="11500" b="1" dirty="0">
                <a:solidFill>
                  <a:schemeClr val="bg1"/>
                </a:solidFill>
              </a:rPr>
              <a:t>Thank You</a:t>
            </a:r>
          </a:p>
        </p:txBody>
      </p:sp>
      <p:sp>
        <p:nvSpPr>
          <p:cNvPr id="9" name="Text Placeholder 17">
            <a:extLst>
              <a:ext uri="{FF2B5EF4-FFF2-40B4-BE49-F238E27FC236}">
                <a16:creationId xmlns:a16="http://schemas.microsoft.com/office/drawing/2014/main" id="{C141F636-6F6B-39E0-D74A-E2DC465DEF1A}"/>
              </a:ext>
            </a:extLst>
          </p:cNvPr>
          <p:cNvSpPr>
            <a:spLocks noGrp="1"/>
          </p:cNvSpPr>
          <p:nvPr>
            <p:ph type="body" sz="quarter" idx="11" hasCustomPrompt="1"/>
          </p:nvPr>
        </p:nvSpPr>
        <p:spPr>
          <a:xfrm>
            <a:off x="2556897" y="4302308"/>
            <a:ext cx="7078206" cy="389915"/>
          </a:xfrm>
        </p:spPr>
        <p:txBody>
          <a:bodyPr>
            <a:spAutoFit/>
          </a:bodyPr>
          <a:lstStyle>
            <a:lvl1pPr marL="0" indent="0" algn="ctr">
              <a:spcBef>
                <a:spcPts val="0"/>
              </a:spcBef>
              <a:buNone/>
              <a:defRPr sz="2400" b="1">
                <a:solidFill>
                  <a:schemeClr val="bg1"/>
                </a:solidFill>
              </a:defRPr>
            </a:lvl1pPr>
          </a:lstStyle>
          <a:p>
            <a:pPr lvl="0"/>
            <a:r>
              <a:rPr lang="en-US" dirty="0"/>
              <a:t>Presenter Name</a:t>
            </a:r>
          </a:p>
        </p:txBody>
      </p:sp>
      <p:sp>
        <p:nvSpPr>
          <p:cNvPr id="11" name="Text Placeholder 17">
            <a:extLst>
              <a:ext uri="{FF2B5EF4-FFF2-40B4-BE49-F238E27FC236}">
                <a16:creationId xmlns:a16="http://schemas.microsoft.com/office/drawing/2014/main" id="{15F716EA-D293-96D7-C5A7-61FE08272CBD}"/>
              </a:ext>
            </a:extLst>
          </p:cNvPr>
          <p:cNvSpPr>
            <a:spLocks noGrp="1"/>
          </p:cNvSpPr>
          <p:nvPr>
            <p:ph type="body" sz="quarter" idx="12" hasCustomPrompt="1"/>
          </p:nvPr>
        </p:nvSpPr>
        <p:spPr>
          <a:xfrm>
            <a:off x="2556897" y="4735941"/>
            <a:ext cx="7078206" cy="324961"/>
          </a:xfrm>
        </p:spPr>
        <p:txBody>
          <a:bodyPr>
            <a:spAutoFit/>
          </a:bodyPr>
          <a:lstStyle>
            <a:lvl1pPr marL="0" indent="0" algn="ctr">
              <a:spcBef>
                <a:spcPts val="0"/>
              </a:spcBef>
              <a:buNone/>
              <a:defRPr sz="2000" b="0">
                <a:solidFill>
                  <a:schemeClr val="bg1"/>
                </a:solidFill>
              </a:defRPr>
            </a:lvl1pPr>
          </a:lstStyle>
          <a:p>
            <a:pPr lvl="0"/>
            <a:r>
              <a:rPr lang="en-US" dirty="0" err="1"/>
              <a:t>PresenterEmail@Ellucian.com</a:t>
            </a:r>
            <a:endParaRPr lang="en-US" dirty="0"/>
          </a:p>
        </p:txBody>
      </p:sp>
      <p:pic>
        <p:nvPicPr>
          <p:cNvPr id="2" name="Graphic 1">
            <a:extLst>
              <a:ext uri="{FF2B5EF4-FFF2-40B4-BE49-F238E27FC236}">
                <a16:creationId xmlns:a16="http://schemas.microsoft.com/office/drawing/2014/main" id="{7C871F66-B895-DB0B-1D73-90E74A3951C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53435677-394B-4E5D-4CD3-2D77A2110358}"/>
              </a:ext>
            </a:extLst>
          </p:cNvPr>
          <p:cNvSpPr txBox="1"/>
          <p:nvPr userDrawn="1"/>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72602306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Question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userDrawn="1"/>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5" name="TextBox 4">
            <a:extLst>
              <a:ext uri="{FF2B5EF4-FFF2-40B4-BE49-F238E27FC236}">
                <a16:creationId xmlns:a16="http://schemas.microsoft.com/office/drawing/2014/main" id="{58229B27-8CB8-A4DF-B214-C621F3644437}"/>
              </a:ext>
            </a:extLst>
          </p:cNvPr>
          <p:cNvSpPr txBox="1"/>
          <p:nvPr userDrawn="1"/>
        </p:nvSpPr>
        <p:spPr>
          <a:xfrm>
            <a:off x="836428" y="2544142"/>
            <a:ext cx="10441173" cy="1769715"/>
          </a:xfrm>
          <a:prstGeom prst="rect">
            <a:avLst/>
          </a:prstGeom>
          <a:noFill/>
        </p:spPr>
        <p:txBody>
          <a:bodyPr wrap="square" lIns="0" tIns="0" rIns="0" bIns="0" rtlCol="0">
            <a:spAutoFit/>
          </a:bodyPr>
          <a:lstStyle/>
          <a:p>
            <a:pPr algn="ctr"/>
            <a:r>
              <a:rPr lang="en-US" sz="11500" b="1" dirty="0">
                <a:solidFill>
                  <a:schemeClr val="accent1"/>
                </a:solidFill>
              </a:rPr>
              <a:t>Questions?</a:t>
            </a:r>
          </a:p>
        </p:txBody>
      </p:sp>
      <p:pic>
        <p:nvPicPr>
          <p:cNvPr id="2" name="Graphic 1">
            <a:extLst>
              <a:ext uri="{FF2B5EF4-FFF2-40B4-BE49-F238E27FC236}">
                <a16:creationId xmlns:a16="http://schemas.microsoft.com/office/drawing/2014/main" id="{C0225686-2493-61CB-BED8-8CD6B90C882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6" name="TextBox 5">
            <a:extLst>
              <a:ext uri="{FF2B5EF4-FFF2-40B4-BE49-F238E27FC236}">
                <a16:creationId xmlns:a16="http://schemas.microsoft.com/office/drawing/2014/main" id="{3757E6F9-39D1-A7B6-72FA-6CB25BEA039E}"/>
              </a:ext>
            </a:extLst>
          </p:cNvPr>
          <p:cNvSpPr txBox="1"/>
          <p:nvPr userDrawn="1"/>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83253343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1090540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Blank Footer Black">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981C625F-C66F-1373-141C-E36C160D0D3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A8E6E8FD-F743-B760-4565-52A5B0B667B8}"/>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4" name="TextBox 3">
            <a:extLst>
              <a:ext uri="{FF2B5EF4-FFF2-40B4-BE49-F238E27FC236}">
                <a16:creationId xmlns:a16="http://schemas.microsoft.com/office/drawing/2014/main" id="{8DF76087-D7C9-C1C3-5E17-263AB892AD6D}"/>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82234071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B Purple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a:extLst>
              <a:ext uri="{FF2B5EF4-FFF2-40B4-BE49-F238E27FC236}">
                <a16:creationId xmlns:a16="http://schemas.microsoft.com/office/drawing/2014/main" id="{EE1FD067-74D8-0E64-F510-C09BEC15D05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10" name="TextBox 9">
            <a:extLst>
              <a:ext uri="{FF2B5EF4-FFF2-40B4-BE49-F238E27FC236}">
                <a16:creationId xmlns:a16="http://schemas.microsoft.com/office/drawing/2014/main" id="{116E64D5-8E4A-3059-BC15-EB884BE08EC3}"/>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0DFD1F0B-69D7-F3A9-055F-2A986648AD27}"/>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24341251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B Purple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609600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6DB79317-11D6-0AF3-4B54-BDA534C904B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C7209B0-4D3E-B28A-692D-AB3B431BDB03}"/>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2" name="TextBox 1">
            <a:extLst>
              <a:ext uri="{FF2B5EF4-FFF2-40B4-BE49-F238E27FC236}">
                <a16:creationId xmlns:a16="http://schemas.microsoft.com/office/drawing/2014/main" id="{65158A56-C172-10B2-D489-16D7DACEC5FE}"/>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19615705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B Gray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0ABA3577-65BA-7CC4-5395-E38F2A7AC77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E135DE03-26E8-0184-A39C-5A462BDC2DCF}"/>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5" name="TextBox 4">
            <a:extLst>
              <a:ext uri="{FF2B5EF4-FFF2-40B4-BE49-F238E27FC236}">
                <a16:creationId xmlns:a16="http://schemas.microsoft.com/office/drawing/2014/main" id="{19F91899-8397-C452-E914-5DA32F2E64BE}"/>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426409837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B Gray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609600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695EB3C-8530-E0C8-4217-5508CF63DB5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59450D81-7260-A5B0-C045-065E98F3D872}"/>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C8E4D3A3-6199-EF4C-2D38-F8DA60A48FEE}"/>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25005400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B Green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40CB40AC-8E27-B4CE-FE98-617281F6189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08A44510-D9B6-3D27-0025-27FFAAD9F8AE}"/>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6" name="TextBox 5">
            <a:extLst>
              <a:ext uri="{FF2B5EF4-FFF2-40B4-BE49-F238E27FC236}">
                <a16:creationId xmlns:a16="http://schemas.microsoft.com/office/drawing/2014/main" id="{B9DBE2C0-3213-6D2D-4479-AD9B8089A641}"/>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02920377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B Green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609600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61839101-BBAA-D670-10CD-40BF5E0392E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CCF7E87-236E-67B1-F9B1-5ACC27A1C0BF}"/>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8B6E2BFF-AA3C-F635-EDE7-1D4D95732292}"/>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08111560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B Purple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788CB9F-7B69-6D25-41A0-F5D4BFE324C9}"/>
              </a:ext>
            </a:extLst>
          </p:cNvPr>
          <p:cNvSpPr/>
          <p:nvPr userDrawn="1"/>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2E0AAAEA-1F16-516A-417D-DC9DF964E80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66FD55EF-B73C-D814-E528-7EF5EBB86F1C}"/>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4" name="TextBox 3">
            <a:extLst>
              <a:ext uri="{FF2B5EF4-FFF2-40B4-BE49-F238E27FC236}">
                <a16:creationId xmlns:a16="http://schemas.microsoft.com/office/drawing/2014/main" id="{4077C5A4-055F-072E-16C5-84527D1FFDB1}"/>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416379811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B Purple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8A5C8E9-F647-20C1-E64B-5FADBF7E8499}"/>
              </a:ext>
            </a:extLst>
          </p:cNvPr>
          <p:cNvSpPr/>
          <p:nvPr userDrawn="1"/>
        </p:nvSpPr>
        <p:spPr>
          <a:xfrm>
            <a:off x="8128016"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C66E5DE2-889D-3DE4-3572-3DCEEA210F8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7C932288-F84C-D66E-3E63-ED023CEAD978}"/>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12AA4C6E-89CC-BA61-A575-3A36232457CA}"/>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67762882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B Gray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3401B5-FB7E-EDEB-5D87-90FA593EF7F8}"/>
              </a:ext>
            </a:extLst>
          </p:cNvPr>
          <p:cNvSpPr/>
          <p:nvPr userDrawn="1"/>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9D04E6AC-3638-47BF-6BFD-E68AF8093AD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AC033454-6E80-8B9B-BBCB-6434F5D21BAD}"/>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6" name="TextBox 5">
            <a:extLst>
              <a:ext uri="{FF2B5EF4-FFF2-40B4-BE49-F238E27FC236}">
                <a16:creationId xmlns:a16="http://schemas.microsoft.com/office/drawing/2014/main" id="{6F42D7DB-F5BA-604F-2A99-DBAB5A8DE7ED}"/>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56272388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B Gray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8128016"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145C3B88-0182-B843-BB3B-F145067D5C9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CC84ADAE-B350-C159-D672-6F29FE4CC4FD}"/>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3" name="TextBox 2">
            <a:extLst>
              <a:ext uri="{FF2B5EF4-FFF2-40B4-BE49-F238E27FC236}">
                <a16:creationId xmlns:a16="http://schemas.microsoft.com/office/drawing/2014/main" id="{83FB9DF3-A55E-DBF2-C049-8624E2CA3238}"/>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36242873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B Green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3401B5-FB7E-EDEB-5D87-90FA593EF7F8}"/>
              </a:ext>
            </a:extLst>
          </p:cNvPr>
          <p:cNvSpPr/>
          <p:nvPr userDrawn="1"/>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3668F462-6E9A-C654-C321-DFBF69C7A66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2F75F911-FCDF-6D37-1A4E-6CFB26AAEB35}"/>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6" name="TextBox 5">
            <a:extLst>
              <a:ext uri="{FF2B5EF4-FFF2-40B4-BE49-F238E27FC236}">
                <a16:creationId xmlns:a16="http://schemas.microsoft.com/office/drawing/2014/main" id="{6F4A93C5-2125-4620-62DB-C8E3A6CA982A}"/>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35260594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B Green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8128016"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CE396D46-CDE6-66B6-0A7B-6DEC14B972B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462404-BF65-8481-4332-5DF7AD5ED1C9}"/>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3" name="TextBox 2">
            <a:extLst>
              <a:ext uri="{FF2B5EF4-FFF2-40B4-BE49-F238E27FC236}">
                <a16:creationId xmlns:a16="http://schemas.microsoft.com/office/drawing/2014/main" id="{CC6232A2-9E4F-3C88-D771-7120FAD75090}"/>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73837731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Blan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221DA2E6-F483-60DE-DF61-B60C10DBDE89}"/>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27626417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Blank Dar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A593DCF4-AC60-B9D8-A985-C1CFC1A5AD75}"/>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78187248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Blank Dark Green">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EFFC058F-486D-43DF-4B5C-09387CA4F8E1}"/>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34914932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Blank Warm Gray">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9FF5FB22-C2EA-99F6-EF38-AD4BBB0C345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603AEA50-DA2C-915C-545F-713FCDF35A3F}"/>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3" name="TextBox 2">
            <a:extLst>
              <a:ext uri="{FF2B5EF4-FFF2-40B4-BE49-F238E27FC236}">
                <a16:creationId xmlns:a16="http://schemas.microsoft.com/office/drawing/2014/main" id="{9D0EA6DE-76EE-C5B8-0477-8D50A19F0758}"/>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80025646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197232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C2C Cov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userDrawn="1"/>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userDrawn="1"/>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userDrawn="1"/>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7">
            <a:extLst>
              <a:ext uri="{FF2B5EF4-FFF2-40B4-BE49-F238E27FC236}">
                <a16:creationId xmlns:a16="http://schemas.microsoft.com/office/drawing/2014/main" id="{52C18FF9-32C7-751D-36F8-EF5124DF2BE2}"/>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23" name="Text Placeholder 17">
            <a:extLst>
              <a:ext uri="{FF2B5EF4-FFF2-40B4-BE49-F238E27FC236}">
                <a16:creationId xmlns:a16="http://schemas.microsoft.com/office/drawing/2014/main" id="{D8DE661F-53B2-6E8E-9238-FE6484215B1A}"/>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26" name="Graphic 25">
            <a:extLst>
              <a:ext uri="{FF2B5EF4-FFF2-40B4-BE49-F238E27FC236}">
                <a16:creationId xmlns:a16="http://schemas.microsoft.com/office/drawing/2014/main" id="{2590016B-4462-F023-25AF-B00C9285325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7C710057-3FB3-19E3-5D75-F018F116AE47}"/>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6" name="Text Placeholder 17">
            <a:extLst>
              <a:ext uri="{FF2B5EF4-FFF2-40B4-BE49-F238E27FC236}">
                <a16:creationId xmlns:a16="http://schemas.microsoft.com/office/drawing/2014/main" id="{C41EE674-4BC9-86D6-67E5-FF509240DDED}"/>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AE8FAC4F-619C-5E6B-F2B0-D001F5A51111}"/>
              </a:ext>
            </a:extLst>
          </p:cNvPr>
          <p:cNvSpPr txBox="1"/>
          <p:nvPr userDrawn="1"/>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43506874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pic>
        <p:nvPicPr>
          <p:cNvPr id="2" name="Graphic 1">
            <a:extLst>
              <a:ext uri="{FF2B5EF4-FFF2-40B4-BE49-F238E27FC236}">
                <a16:creationId xmlns:a16="http://schemas.microsoft.com/office/drawing/2014/main" id="{5A8556FD-943F-2CA8-3B15-1C7401E71D1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Box 4">
            <a:extLst>
              <a:ext uri="{FF2B5EF4-FFF2-40B4-BE49-F238E27FC236}">
                <a16:creationId xmlns:a16="http://schemas.microsoft.com/office/drawing/2014/main" id="{C6B12A91-8583-2E4C-B1C8-7E1F64EF24C9}"/>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395469259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Purple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bg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2" name="TextBox 1">
            <a:extLst>
              <a:ext uri="{FF2B5EF4-FFF2-40B4-BE49-F238E27FC236}">
                <a16:creationId xmlns:a16="http://schemas.microsoft.com/office/drawing/2014/main" id="{8F1688B8-4AFA-00EF-A18F-CE0BE044452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226552371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Green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tx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tx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 name="TextBox 3">
            <a:extLst>
              <a:ext uri="{FF2B5EF4-FFF2-40B4-BE49-F238E27FC236}">
                <a16:creationId xmlns:a16="http://schemas.microsoft.com/office/drawing/2014/main" id="{D2E118B2-5580-3101-C2BB-4FB39252D744}"/>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1741195771"/>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Dark 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0A86818C-B6FC-21B3-0821-EE3D8DAE5AE3}"/>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2BC038CA-3E14-5783-3761-76D8A4C63EC0}"/>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0" name="Graphic 9">
            <a:extLst>
              <a:ext uri="{FF2B5EF4-FFF2-40B4-BE49-F238E27FC236}">
                <a16:creationId xmlns:a16="http://schemas.microsoft.com/office/drawing/2014/main" id="{A9D3FE11-F167-1622-761B-F4BFADB0B0E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EBAA974E-55D6-2A02-03A4-AAB7F36BF1B1}"/>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69C30255-143C-EB1C-95B6-9319F7AB9F7D}"/>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sp>
        <p:nvSpPr>
          <p:cNvPr id="7" name="TextBox 6">
            <a:extLst>
              <a:ext uri="{FF2B5EF4-FFF2-40B4-BE49-F238E27FC236}">
                <a16:creationId xmlns:a16="http://schemas.microsoft.com/office/drawing/2014/main" id="{67E32664-E882-9D71-52FE-71612364F8C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73159219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Warm Gray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A2941D41-B5B7-CCE1-1B2C-89AAD5DACBE0}"/>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tx1"/>
                </a:solidFill>
              </a:defRPr>
            </a:lvl1pPr>
          </a:lstStyle>
          <a:p>
            <a:pPr lvl="0"/>
            <a:r>
              <a:rPr lang="en-US" dirty="0"/>
              <a:t>Headline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6600B585-62A4-8333-3077-9DD14A781807}"/>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1" name="Graphic 10">
            <a:extLst>
              <a:ext uri="{FF2B5EF4-FFF2-40B4-BE49-F238E27FC236}">
                <a16:creationId xmlns:a16="http://schemas.microsoft.com/office/drawing/2014/main" id="{21C3DEEA-3CCE-EBD2-6CE3-835C44C810E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74440542-6D19-B6BD-7831-2A113C1E6A79}"/>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30B08173-A7BE-6F86-6CDE-43EC9BEEB3CB}"/>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8" name="TextBox 7">
            <a:extLst>
              <a:ext uri="{FF2B5EF4-FFF2-40B4-BE49-F238E27FC236}">
                <a16:creationId xmlns:a16="http://schemas.microsoft.com/office/drawing/2014/main" id="{AC9D9DE1-FE9F-14AE-4A3F-F4173038006F}"/>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292560958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C2C Cov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7">
            <a:extLst>
              <a:ext uri="{FF2B5EF4-FFF2-40B4-BE49-F238E27FC236}">
                <a16:creationId xmlns:a16="http://schemas.microsoft.com/office/drawing/2014/main" id="{52C18FF9-32C7-751D-36F8-EF5124DF2BE2}"/>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23" name="Text Placeholder 17">
            <a:extLst>
              <a:ext uri="{FF2B5EF4-FFF2-40B4-BE49-F238E27FC236}">
                <a16:creationId xmlns:a16="http://schemas.microsoft.com/office/drawing/2014/main" id="{D8DE661F-53B2-6E8E-9238-FE6484215B1A}"/>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26" name="Graphic 25">
            <a:extLst>
              <a:ext uri="{FF2B5EF4-FFF2-40B4-BE49-F238E27FC236}">
                <a16:creationId xmlns:a16="http://schemas.microsoft.com/office/drawing/2014/main" id="{2590016B-4462-F023-25AF-B00C9285325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7C710057-3FB3-19E3-5D75-F018F116AE47}"/>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6" name="Text Placeholder 17">
            <a:extLst>
              <a:ext uri="{FF2B5EF4-FFF2-40B4-BE49-F238E27FC236}">
                <a16:creationId xmlns:a16="http://schemas.microsoft.com/office/drawing/2014/main" id="{C41EE674-4BC9-86D6-67E5-FF509240DDED}"/>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AE8FAC4F-619C-5E6B-F2B0-D001F5A51111}"/>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3497157025"/>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C2C Cover Image">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FBB43B24-12DD-1DD6-963C-7ADA857CCDC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A39E11EF-D17E-E6F4-B66D-C68ABBCCF813}"/>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64D279B7-3D21-DC76-5BCE-6A2D109B8EDB}"/>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3" name="Picture Placeholder 12">
            <a:extLst>
              <a:ext uri="{FF2B5EF4-FFF2-40B4-BE49-F238E27FC236}">
                <a16:creationId xmlns:a16="http://schemas.microsoft.com/office/drawing/2014/main" id="{04B738B6-E606-753D-F43C-ADBDF91B7E2D}"/>
              </a:ext>
            </a:extLst>
          </p:cNvPr>
          <p:cNvSpPr>
            <a:spLocks noGrp="1"/>
          </p:cNvSpPr>
          <p:nvPr>
            <p:ph type="pic" sz="quarter" idx="16" hasCustomPrompt="1"/>
          </p:nvPr>
        </p:nvSpPr>
        <p:spPr>
          <a:xfrm>
            <a:off x="6689725" y="355598"/>
            <a:ext cx="5502275" cy="6146801"/>
          </a:xfrm>
          <a:custGeom>
            <a:avLst/>
            <a:gdLst>
              <a:gd name="connsiteX0" fmla="*/ 0 w 5502275"/>
              <a:gd name="connsiteY0" fmla="*/ 0 h 6135556"/>
              <a:gd name="connsiteX1" fmla="*/ 5502275 w 5502275"/>
              <a:gd name="connsiteY1" fmla="*/ 0 h 6135556"/>
              <a:gd name="connsiteX2" fmla="*/ 5502275 w 5502275"/>
              <a:gd name="connsiteY2" fmla="*/ 218283 h 6135556"/>
              <a:gd name="connsiteX3" fmla="*/ 5502275 w 5502275"/>
              <a:gd name="connsiteY3" fmla="*/ 1268413 h 6135556"/>
              <a:gd name="connsiteX4" fmla="*/ 5502275 w 5502275"/>
              <a:gd name="connsiteY4" fmla="*/ 1731805 h 6135556"/>
              <a:gd name="connsiteX5" fmla="*/ 2676409 w 5502275"/>
              <a:gd name="connsiteY5" fmla="*/ 1731805 h 6135556"/>
              <a:gd name="connsiteX6" fmla="*/ 2676409 w 5502275"/>
              <a:gd name="connsiteY6" fmla="*/ 2311877 h 6135556"/>
              <a:gd name="connsiteX7" fmla="*/ 4972425 w 5502275"/>
              <a:gd name="connsiteY7" fmla="*/ 2311877 h 6135556"/>
              <a:gd name="connsiteX8" fmla="*/ 4972425 w 5502275"/>
              <a:gd name="connsiteY8" fmla="*/ 3825399 h 6135556"/>
              <a:gd name="connsiteX9" fmla="*/ 2676409 w 5502275"/>
              <a:gd name="connsiteY9" fmla="*/ 3825399 h 6135556"/>
              <a:gd name="connsiteX10" fmla="*/ 2676409 w 5502275"/>
              <a:gd name="connsiteY10" fmla="*/ 4414997 h 6135556"/>
              <a:gd name="connsiteX11" fmla="*/ 5502275 w 5502275"/>
              <a:gd name="connsiteY11" fmla="*/ 4414997 h 6135556"/>
              <a:gd name="connsiteX12" fmla="*/ 5502275 w 5502275"/>
              <a:gd name="connsiteY12" fmla="*/ 4867143 h 6135556"/>
              <a:gd name="connsiteX13" fmla="*/ 5502275 w 5502275"/>
              <a:gd name="connsiteY13" fmla="*/ 5928519 h 6135556"/>
              <a:gd name="connsiteX14" fmla="*/ 5502275 w 5502275"/>
              <a:gd name="connsiteY14" fmla="*/ 6135556 h 6135556"/>
              <a:gd name="connsiteX15" fmla="*/ 0 w 5502275"/>
              <a:gd name="connsiteY15" fmla="*/ 6135556 h 6135556"/>
              <a:gd name="connsiteX16" fmla="*/ 0 w 5502275"/>
              <a:gd name="connsiteY16" fmla="*/ 4867143 h 6135556"/>
              <a:gd name="connsiteX17" fmla="*/ 501 w 5502275"/>
              <a:gd name="connsiteY17" fmla="*/ 4867143 h 6135556"/>
              <a:gd name="connsiteX18" fmla="*/ 501 w 5502275"/>
              <a:gd name="connsiteY18" fmla="*/ 1268413 h 6135556"/>
              <a:gd name="connsiteX19" fmla="*/ 0 w 5502275"/>
              <a:gd name="connsiteY19" fmla="*/ 1268413 h 6135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502275" h="6135556">
                <a:moveTo>
                  <a:pt x="0" y="0"/>
                </a:moveTo>
                <a:lnTo>
                  <a:pt x="5502275" y="0"/>
                </a:lnTo>
                <a:lnTo>
                  <a:pt x="5502275" y="218283"/>
                </a:lnTo>
                <a:lnTo>
                  <a:pt x="5502275" y="1268413"/>
                </a:lnTo>
                <a:lnTo>
                  <a:pt x="5502275" y="1731805"/>
                </a:lnTo>
                <a:lnTo>
                  <a:pt x="2676409" y="1731805"/>
                </a:lnTo>
                <a:lnTo>
                  <a:pt x="2676409" y="2311877"/>
                </a:lnTo>
                <a:lnTo>
                  <a:pt x="4972425" y="2311877"/>
                </a:lnTo>
                <a:lnTo>
                  <a:pt x="4972425" y="3825399"/>
                </a:lnTo>
                <a:lnTo>
                  <a:pt x="2676409" y="3825399"/>
                </a:lnTo>
                <a:lnTo>
                  <a:pt x="2676409" y="4414997"/>
                </a:lnTo>
                <a:lnTo>
                  <a:pt x="5502275" y="4414997"/>
                </a:lnTo>
                <a:lnTo>
                  <a:pt x="5502275" y="4867143"/>
                </a:lnTo>
                <a:lnTo>
                  <a:pt x="5502275" y="5928519"/>
                </a:lnTo>
                <a:lnTo>
                  <a:pt x="5502275" y="6135556"/>
                </a:lnTo>
                <a:lnTo>
                  <a:pt x="0" y="6135556"/>
                </a:lnTo>
                <a:lnTo>
                  <a:pt x="0" y="4867143"/>
                </a:lnTo>
                <a:lnTo>
                  <a:pt x="501" y="4867143"/>
                </a:lnTo>
                <a:lnTo>
                  <a:pt x="501" y="1268413"/>
                </a:lnTo>
                <a:lnTo>
                  <a:pt x="0" y="1268413"/>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10" name="Text Placeholder 17">
            <a:extLst>
              <a:ext uri="{FF2B5EF4-FFF2-40B4-BE49-F238E27FC236}">
                <a16:creationId xmlns:a16="http://schemas.microsoft.com/office/drawing/2014/main" id="{1E88AEE2-3A55-B667-5D40-BB6299F48205}"/>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11" name="Text Placeholder 17">
            <a:extLst>
              <a:ext uri="{FF2B5EF4-FFF2-40B4-BE49-F238E27FC236}">
                <a16:creationId xmlns:a16="http://schemas.microsoft.com/office/drawing/2014/main" id="{D376FEF2-D482-FF48-0E21-E85BCDCAE008}"/>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E35B847D-2BA6-4533-FDD7-9CCF9A96A36C}"/>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3913082808"/>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86773353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Headline">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Tree>
    <p:extLst>
      <p:ext uri="{BB962C8B-B14F-4D97-AF65-F5344CB8AC3E}">
        <p14:creationId xmlns:p14="http://schemas.microsoft.com/office/powerpoint/2010/main" val="163662118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Headline-Copy">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6" name="Text Placeholder 5">
            <a:extLst>
              <a:ext uri="{FF2B5EF4-FFF2-40B4-BE49-F238E27FC236}">
                <a16:creationId xmlns:a16="http://schemas.microsoft.com/office/drawing/2014/main" id="{9D09DD77-3C7C-EEB6-765D-0ED3FE5F28B3}"/>
              </a:ext>
            </a:extLst>
          </p:cNvPr>
          <p:cNvSpPr>
            <a:spLocks noGrp="1"/>
          </p:cNvSpPr>
          <p:nvPr>
            <p:ph type="body" sz="quarter" idx="11"/>
          </p:nvPr>
        </p:nvSpPr>
        <p:spPr>
          <a:xfrm>
            <a:off x="522287" y="1056958"/>
            <a:ext cx="11122188" cy="510063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Tree>
    <p:extLst>
      <p:ext uri="{BB962C8B-B14F-4D97-AF65-F5344CB8AC3E}">
        <p14:creationId xmlns:p14="http://schemas.microsoft.com/office/powerpoint/2010/main" val="273807046"/>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Content-01">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8599914" cy="278794"/>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229208"/>
            <a:ext cx="8599914" cy="597151"/>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012872"/>
            <a:ext cx="8599572"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433846468"/>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Content-02">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529440"/>
            <a:ext cx="4757015"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4" name="Text Placeholder 17">
            <a:extLst>
              <a:ext uri="{FF2B5EF4-FFF2-40B4-BE49-F238E27FC236}">
                <a16:creationId xmlns:a16="http://schemas.microsoft.com/office/drawing/2014/main" id="{D20FA87A-09E8-BDB2-1C69-54F54B22BE31}"/>
              </a:ext>
            </a:extLst>
          </p:cNvPr>
          <p:cNvSpPr>
            <a:spLocks noGrp="1"/>
          </p:cNvSpPr>
          <p:nvPr>
            <p:ph type="body" sz="quarter" idx="15" hasCustomPrompt="1"/>
          </p:nvPr>
        </p:nvSpPr>
        <p:spPr>
          <a:xfrm>
            <a:off x="630383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6" name="Text Placeholder 8">
            <a:extLst>
              <a:ext uri="{FF2B5EF4-FFF2-40B4-BE49-F238E27FC236}">
                <a16:creationId xmlns:a16="http://schemas.microsoft.com/office/drawing/2014/main" id="{349B6786-5FA4-2087-2C3C-22F8A8E171CC}"/>
              </a:ext>
            </a:extLst>
          </p:cNvPr>
          <p:cNvSpPr>
            <a:spLocks noGrp="1"/>
          </p:cNvSpPr>
          <p:nvPr>
            <p:ph type="body" sz="quarter" idx="16" hasCustomPrompt="1"/>
          </p:nvPr>
        </p:nvSpPr>
        <p:spPr>
          <a:xfrm>
            <a:off x="630383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7" name="Text Placeholder 12">
            <a:extLst>
              <a:ext uri="{FF2B5EF4-FFF2-40B4-BE49-F238E27FC236}">
                <a16:creationId xmlns:a16="http://schemas.microsoft.com/office/drawing/2014/main" id="{86BD890A-D326-FD3F-EDA2-9599F756B623}"/>
              </a:ext>
            </a:extLst>
          </p:cNvPr>
          <p:cNvSpPr>
            <a:spLocks noGrp="1"/>
          </p:cNvSpPr>
          <p:nvPr>
            <p:ph type="body" sz="quarter" idx="17"/>
          </p:nvPr>
        </p:nvSpPr>
        <p:spPr>
          <a:xfrm>
            <a:off x="6303555" y="3529440"/>
            <a:ext cx="4757015"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1417961567"/>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Content-03">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3216914"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16" name="Text Placeholder 17">
            <a:extLst>
              <a:ext uri="{FF2B5EF4-FFF2-40B4-BE49-F238E27FC236}">
                <a16:creationId xmlns:a16="http://schemas.microsoft.com/office/drawing/2014/main" id="{5A431E8C-C0AC-DBC9-2391-1C619D591E69}"/>
              </a:ext>
            </a:extLst>
          </p:cNvPr>
          <p:cNvSpPr>
            <a:spLocks noGrp="1"/>
          </p:cNvSpPr>
          <p:nvPr>
            <p:ph type="body" sz="quarter" idx="15" hasCustomPrompt="1"/>
          </p:nvPr>
        </p:nvSpPr>
        <p:spPr>
          <a:xfrm>
            <a:off x="439375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7" name="Text Placeholder 8">
            <a:extLst>
              <a:ext uri="{FF2B5EF4-FFF2-40B4-BE49-F238E27FC236}">
                <a16:creationId xmlns:a16="http://schemas.microsoft.com/office/drawing/2014/main" id="{7C89246B-18AE-5DA8-795F-679BD7C0617D}"/>
              </a:ext>
            </a:extLst>
          </p:cNvPr>
          <p:cNvSpPr>
            <a:spLocks noGrp="1"/>
          </p:cNvSpPr>
          <p:nvPr>
            <p:ph type="body" sz="quarter" idx="16" hasCustomPrompt="1"/>
          </p:nvPr>
        </p:nvSpPr>
        <p:spPr>
          <a:xfrm>
            <a:off x="439375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8" name="Text Placeholder 12">
            <a:extLst>
              <a:ext uri="{FF2B5EF4-FFF2-40B4-BE49-F238E27FC236}">
                <a16:creationId xmlns:a16="http://schemas.microsoft.com/office/drawing/2014/main" id="{4F617632-1F8F-2092-32FC-7367A36B4B50}"/>
              </a:ext>
            </a:extLst>
          </p:cNvPr>
          <p:cNvSpPr>
            <a:spLocks noGrp="1"/>
          </p:cNvSpPr>
          <p:nvPr>
            <p:ph type="body" sz="quarter" idx="17"/>
          </p:nvPr>
        </p:nvSpPr>
        <p:spPr>
          <a:xfrm>
            <a:off x="4393475" y="3740277"/>
            <a:ext cx="3216914"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19" name="Text Placeholder 17">
            <a:extLst>
              <a:ext uri="{FF2B5EF4-FFF2-40B4-BE49-F238E27FC236}">
                <a16:creationId xmlns:a16="http://schemas.microsoft.com/office/drawing/2014/main" id="{03C76AD3-B446-33B3-D6A6-D34A7B1A9CA9}"/>
              </a:ext>
            </a:extLst>
          </p:cNvPr>
          <p:cNvSpPr>
            <a:spLocks noGrp="1"/>
          </p:cNvSpPr>
          <p:nvPr>
            <p:ph type="body" sz="quarter" idx="18" hasCustomPrompt="1"/>
          </p:nvPr>
        </p:nvSpPr>
        <p:spPr>
          <a:xfrm>
            <a:off x="826471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20" name="Text Placeholder 8">
            <a:extLst>
              <a:ext uri="{FF2B5EF4-FFF2-40B4-BE49-F238E27FC236}">
                <a16:creationId xmlns:a16="http://schemas.microsoft.com/office/drawing/2014/main" id="{EA4DB68B-5ABD-7BD4-0D0C-E218D955694D}"/>
              </a:ext>
            </a:extLst>
          </p:cNvPr>
          <p:cNvSpPr>
            <a:spLocks noGrp="1"/>
          </p:cNvSpPr>
          <p:nvPr>
            <p:ph type="body" sz="quarter" idx="19" hasCustomPrompt="1"/>
          </p:nvPr>
        </p:nvSpPr>
        <p:spPr>
          <a:xfrm>
            <a:off x="826471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21" name="Text Placeholder 12">
            <a:extLst>
              <a:ext uri="{FF2B5EF4-FFF2-40B4-BE49-F238E27FC236}">
                <a16:creationId xmlns:a16="http://schemas.microsoft.com/office/drawing/2014/main" id="{9E284295-AA76-A820-A4B4-F649763A5346}"/>
              </a:ext>
            </a:extLst>
          </p:cNvPr>
          <p:cNvSpPr>
            <a:spLocks noGrp="1"/>
          </p:cNvSpPr>
          <p:nvPr>
            <p:ph type="body" sz="quarter" idx="20"/>
          </p:nvPr>
        </p:nvSpPr>
        <p:spPr>
          <a:xfrm>
            <a:off x="8264435" y="3740277"/>
            <a:ext cx="3216914"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1037549855"/>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Content-04">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86"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86"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4" name="Text Placeholder 17">
            <a:extLst>
              <a:ext uri="{FF2B5EF4-FFF2-40B4-BE49-F238E27FC236}">
                <a16:creationId xmlns:a16="http://schemas.microsoft.com/office/drawing/2014/main" id="{A7841F65-A264-9942-011F-C0257234F038}"/>
              </a:ext>
            </a:extLst>
          </p:cNvPr>
          <p:cNvSpPr>
            <a:spLocks noGrp="1"/>
          </p:cNvSpPr>
          <p:nvPr>
            <p:ph type="body" sz="quarter" idx="15" hasCustomPrompt="1"/>
          </p:nvPr>
        </p:nvSpPr>
        <p:spPr>
          <a:xfrm>
            <a:off x="3370044"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6" name="Text Placeholder 8">
            <a:extLst>
              <a:ext uri="{FF2B5EF4-FFF2-40B4-BE49-F238E27FC236}">
                <a16:creationId xmlns:a16="http://schemas.microsoft.com/office/drawing/2014/main" id="{C15516F4-558F-C634-22F7-1F2C190C2A1A}"/>
              </a:ext>
            </a:extLst>
          </p:cNvPr>
          <p:cNvSpPr>
            <a:spLocks noGrp="1"/>
          </p:cNvSpPr>
          <p:nvPr>
            <p:ph type="body" sz="quarter" idx="16" hasCustomPrompt="1"/>
          </p:nvPr>
        </p:nvSpPr>
        <p:spPr>
          <a:xfrm>
            <a:off x="3370044"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7" name="Text Placeholder 12">
            <a:extLst>
              <a:ext uri="{FF2B5EF4-FFF2-40B4-BE49-F238E27FC236}">
                <a16:creationId xmlns:a16="http://schemas.microsoft.com/office/drawing/2014/main" id="{D46D04B0-DA90-F948-8623-D10B3ED438A3}"/>
              </a:ext>
            </a:extLst>
          </p:cNvPr>
          <p:cNvSpPr>
            <a:spLocks noGrp="1"/>
          </p:cNvSpPr>
          <p:nvPr>
            <p:ph type="body" sz="quarter" idx="17"/>
          </p:nvPr>
        </p:nvSpPr>
        <p:spPr>
          <a:xfrm>
            <a:off x="3369773"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8" name="Text Placeholder 17">
            <a:extLst>
              <a:ext uri="{FF2B5EF4-FFF2-40B4-BE49-F238E27FC236}">
                <a16:creationId xmlns:a16="http://schemas.microsoft.com/office/drawing/2014/main" id="{C45E5508-18D4-B8A0-9554-18C8CC7BA633}"/>
              </a:ext>
            </a:extLst>
          </p:cNvPr>
          <p:cNvSpPr>
            <a:spLocks noGrp="1"/>
          </p:cNvSpPr>
          <p:nvPr>
            <p:ph type="body" sz="quarter" idx="18" hasCustomPrompt="1"/>
          </p:nvPr>
        </p:nvSpPr>
        <p:spPr>
          <a:xfrm>
            <a:off x="6217771"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0" name="Text Placeholder 8">
            <a:extLst>
              <a:ext uri="{FF2B5EF4-FFF2-40B4-BE49-F238E27FC236}">
                <a16:creationId xmlns:a16="http://schemas.microsoft.com/office/drawing/2014/main" id="{9B9FC0B2-A2E1-EE23-DD92-95D99FB7FCBC}"/>
              </a:ext>
            </a:extLst>
          </p:cNvPr>
          <p:cNvSpPr>
            <a:spLocks noGrp="1"/>
          </p:cNvSpPr>
          <p:nvPr>
            <p:ph type="body" sz="quarter" idx="19" hasCustomPrompt="1"/>
          </p:nvPr>
        </p:nvSpPr>
        <p:spPr>
          <a:xfrm>
            <a:off x="6217771"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1" name="Text Placeholder 12">
            <a:extLst>
              <a:ext uri="{FF2B5EF4-FFF2-40B4-BE49-F238E27FC236}">
                <a16:creationId xmlns:a16="http://schemas.microsoft.com/office/drawing/2014/main" id="{9AD3BD22-757B-EEDC-2BED-851D01FAD009}"/>
              </a:ext>
            </a:extLst>
          </p:cNvPr>
          <p:cNvSpPr>
            <a:spLocks noGrp="1"/>
          </p:cNvSpPr>
          <p:nvPr>
            <p:ph type="body" sz="quarter" idx="20"/>
          </p:nvPr>
        </p:nvSpPr>
        <p:spPr>
          <a:xfrm>
            <a:off x="6217500"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12" name="Text Placeholder 17">
            <a:extLst>
              <a:ext uri="{FF2B5EF4-FFF2-40B4-BE49-F238E27FC236}">
                <a16:creationId xmlns:a16="http://schemas.microsoft.com/office/drawing/2014/main" id="{5E75D8B7-36BA-C036-3008-ED7181EA29CE}"/>
              </a:ext>
            </a:extLst>
          </p:cNvPr>
          <p:cNvSpPr>
            <a:spLocks noGrp="1"/>
          </p:cNvSpPr>
          <p:nvPr>
            <p:ph type="body" sz="quarter" idx="21" hasCustomPrompt="1"/>
          </p:nvPr>
        </p:nvSpPr>
        <p:spPr>
          <a:xfrm>
            <a:off x="9065399"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4" name="Text Placeholder 8">
            <a:extLst>
              <a:ext uri="{FF2B5EF4-FFF2-40B4-BE49-F238E27FC236}">
                <a16:creationId xmlns:a16="http://schemas.microsoft.com/office/drawing/2014/main" id="{BD2C72CE-2AC1-03E8-EC6E-6628A5C8EE8B}"/>
              </a:ext>
            </a:extLst>
          </p:cNvPr>
          <p:cNvSpPr>
            <a:spLocks noGrp="1"/>
          </p:cNvSpPr>
          <p:nvPr>
            <p:ph type="body" sz="quarter" idx="22" hasCustomPrompt="1"/>
          </p:nvPr>
        </p:nvSpPr>
        <p:spPr>
          <a:xfrm>
            <a:off x="9065399"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5" name="Text Placeholder 12">
            <a:extLst>
              <a:ext uri="{FF2B5EF4-FFF2-40B4-BE49-F238E27FC236}">
                <a16:creationId xmlns:a16="http://schemas.microsoft.com/office/drawing/2014/main" id="{C86AC0A8-2096-FDDC-FEAB-27E8D3456BF7}"/>
              </a:ext>
            </a:extLst>
          </p:cNvPr>
          <p:cNvSpPr>
            <a:spLocks noGrp="1"/>
          </p:cNvSpPr>
          <p:nvPr>
            <p:ph type="body" sz="quarter" idx="23"/>
          </p:nvPr>
        </p:nvSpPr>
        <p:spPr>
          <a:xfrm>
            <a:off x="9065128"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1480273504"/>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1CE7E595-5C3F-0BAF-330D-65E2AD801F66}"/>
              </a:ext>
            </a:extLst>
          </p:cNvPr>
          <p:cNvSpPr>
            <a:spLocks noGrp="1"/>
          </p:cNvSpPr>
          <p:nvPr>
            <p:ph type="body" sz="quarter" idx="18" hasCustomPrompt="1"/>
          </p:nvPr>
        </p:nvSpPr>
        <p:spPr>
          <a:xfrm>
            <a:off x="4571323" y="1133918"/>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9" name="Text Placeholder 7">
            <a:extLst>
              <a:ext uri="{FF2B5EF4-FFF2-40B4-BE49-F238E27FC236}">
                <a16:creationId xmlns:a16="http://schemas.microsoft.com/office/drawing/2014/main" id="{00B49552-BA81-9DEE-DBCE-F9356D66374D}"/>
              </a:ext>
            </a:extLst>
          </p:cNvPr>
          <p:cNvSpPr>
            <a:spLocks noGrp="1"/>
          </p:cNvSpPr>
          <p:nvPr>
            <p:ph type="body" sz="quarter" idx="19" hasCustomPrompt="1"/>
          </p:nvPr>
        </p:nvSpPr>
        <p:spPr>
          <a:xfrm>
            <a:off x="4571323" y="1793136"/>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0" name="Text Placeholder 7">
            <a:extLst>
              <a:ext uri="{FF2B5EF4-FFF2-40B4-BE49-F238E27FC236}">
                <a16:creationId xmlns:a16="http://schemas.microsoft.com/office/drawing/2014/main" id="{03CD231C-30AC-3339-A90C-FF099FDCE126}"/>
              </a:ext>
            </a:extLst>
          </p:cNvPr>
          <p:cNvSpPr>
            <a:spLocks noGrp="1"/>
          </p:cNvSpPr>
          <p:nvPr>
            <p:ph type="body" sz="quarter" idx="20" hasCustomPrompt="1"/>
          </p:nvPr>
        </p:nvSpPr>
        <p:spPr>
          <a:xfrm>
            <a:off x="4571323" y="2452355"/>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1" name="Text Placeholder 7">
            <a:extLst>
              <a:ext uri="{FF2B5EF4-FFF2-40B4-BE49-F238E27FC236}">
                <a16:creationId xmlns:a16="http://schemas.microsoft.com/office/drawing/2014/main" id="{8982B152-EDC0-3186-CD84-DAB96BF42494}"/>
              </a:ext>
            </a:extLst>
          </p:cNvPr>
          <p:cNvSpPr>
            <a:spLocks noGrp="1"/>
          </p:cNvSpPr>
          <p:nvPr>
            <p:ph type="body" sz="quarter" idx="21" hasCustomPrompt="1"/>
          </p:nvPr>
        </p:nvSpPr>
        <p:spPr>
          <a:xfrm>
            <a:off x="4571323" y="3111573"/>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8" name="Text Placeholder 7">
            <a:extLst>
              <a:ext uri="{FF2B5EF4-FFF2-40B4-BE49-F238E27FC236}">
                <a16:creationId xmlns:a16="http://schemas.microsoft.com/office/drawing/2014/main" id="{356610AF-C4CC-A0BF-AEC5-6E3BDD36D990}"/>
              </a:ext>
            </a:extLst>
          </p:cNvPr>
          <p:cNvSpPr>
            <a:spLocks noGrp="1"/>
          </p:cNvSpPr>
          <p:nvPr>
            <p:ph type="body" sz="quarter" idx="22" hasCustomPrompt="1"/>
          </p:nvPr>
        </p:nvSpPr>
        <p:spPr>
          <a:xfrm>
            <a:off x="4571323" y="3770791"/>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9" name="Text Placeholder 7">
            <a:extLst>
              <a:ext uri="{FF2B5EF4-FFF2-40B4-BE49-F238E27FC236}">
                <a16:creationId xmlns:a16="http://schemas.microsoft.com/office/drawing/2014/main" id="{71249665-4BF1-BC80-9E3E-27C6AC131E05}"/>
              </a:ext>
            </a:extLst>
          </p:cNvPr>
          <p:cNvSpPr>
            <a:spLocks noGrp="1"/>
          </p:cNvSpPr>
          <p:nvPr>
            <p:ph type="body" sz="quarter" idx="23" hasCustomPrompt="1"/>
          </p:nvPr>
        </p:nvSpPr>
        <p:spPr>
          <a:xfrm>
            <a:off x="4571323" y="4430010"/>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20" name="Text Placeholder 7">
            <a:extLst>
              <a:ext uri="{FF2B5EF4-FFF2-40B4-BE49-F238E27FC236}">
                <a16:creationId xmlns:a16="http://schemas.microsoft.com/office/drawing/2014/main" id="{5AF120EB-8D6E-49DB-0DA5-20F61C819518}"/>
              </a:ext>
            </a:extLst>
          </p:cNvPr>
          <p:cNvSpPr>
            <a:spLocks noGrp="1"/>
          </p:cNvSpPr>
          <p:nvPr>
            <p:ph type="body" sz="quarter" idx="24" hasCustomPrompt="1"/>
          </p:nvPr>
        </p:nvSpPr>
        <p:spPr>
          <a:xfrm>
            <a:off x="4571323" y="5089229"/>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pic>
        <p:nvPicPr>
          <p:cNvPr id="21" name="Graphic 20">
            <a:extLst>
              <a:ext uri="{FF2B5EF4-FFF2-40B4-BE49-F238E27FC236}">
                <a16:creationId xmlns:a16="http://schemas.microsoft.com/office/drawing/2014/main" id="{B6EDFCBE-296B-864F-13E7-245D40ED0C39}"/>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647542" y="1793136"/>
            <a:ext cx="789191" cy="789191"/>
          </a:xfrm>
          <a:prstGeom prst="rect">
            <a:avLst/>
          </a:prstGeom>
        </p:spPr>
      </p:pic>
      <p:pic>
        <p:nvPicPr>
          <p:cNvPr id="22" name="Graphic 21">
            <a:extLst>
              <a:ext uri="{FF2B5EF4-FFF2-40B4-BE49-F238E27FC236}">
                <a16:creationId xmlns:a16="http://schemas.microsoft.com/office/drawing/2014/main" id="{D5A0CFA2-F296-A8B7-CB70-C9D00D9E3C9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 Placeholder 17">
            <a:extLst>
              <a:ext uri="{FF2B5EF4-FFF2-40B4-BE49-F238E27FC236}">
                <a16:creationId xmlns:a16="http://schemas.microsoft.com/office/drawing/2014/main" id="{7CD097DB-9618-CDB1-1F1F-B033BC4801EA}"/>
              </a:ext>
            </a:extLst>
          </p:cNvPr>
          <p:cNvSpPr>
            <a:spLocks noGrp="1"/>
          </p:cNvSpPr>
          <p:nvPr>
            <p:ph type="body" sz="quarter" idx="10" hasCustomPrompt="1"/>
          </p:nvPr>
        </p:nvSpPr>
        <p:spPr>
          <a:xfrm>
            <a:off x="352660" y="2735750"/>
            <a:ext cx="3358665" cy="944810"/>
          </a:xfrm>
        </p:spPr>
        <p:txBody>
          <a:bodyPr wrap="square">
            <a:spAutoFit/>
          </a:bodyPr>
          <a:lstStyle>
            <a:lvl1pPr marL="0" indent="0" algn="ctr">
              <a:lnSpc>
                <a:spcPct val="90000"/>
              </a:lnSpc>
              <a:spcBef>
                <a:spcPts val="0"/>
              </a:spcBef>
              <a:buNone/>
              <a:defRPr sz="3400" b="1">
                <a:solidFill>
                  <a:schemeClr val="bg1"/>
                </a:solidFill>
              </a:defRPr>
            </a:lvl1pPr>
          </a:lstStyle>
          <a:p>
            <a:pPr lvl="0"/>
            <a:r>
              <a:rPr lang="en-US" dirty="0"/>
              <a:t>Agenda or Table of Contents</a:t>
            </a:r>
          </a:p>
        </p:txBody>
      </p:sp>
    </p:spTree>
    <p:extLst>
      <p:ext uri="{BB962C8B-B14F-4D97-AF65-F5344CB8AC3E}">
        <p14:creationId xmlns:p14="http://schemas.microsoft.com/office/powerpoint/2010/main" val="3383612311"/>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Breaker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10" name="TextBox 9">
            <a:extLst>
              <a:ext uri="{FF2B5EF4-FFF2-40B4-BE49-F238E27FC236}">
                <a16:creationId xmlns:a16="http://schemas.microsoft.com/office/drawing/2014/main" id="{490D0730-EC65-31BF-A4FA-992A99E0E4CF}"/>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1968532839"/>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Breaker Dark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BE3200C5-B5A9-AC44-9200-784DFC63364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A2BD6F6F-F10E-C53F-032B-188519D8D1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2" name="TextBox 1">
            <a:extLst>
              <a:ext uri="{FF2B5EF4-FFF2-40B4-BE49-F238E27FC236}">
                <a16:creationId xmlns:a16="http://schemas.microsoft.com/office/drawing/2014/main" id="{8460C111-1CB1-186F-BF66-55001B5779EA}"/>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3475461607"/>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Breaker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tx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642BD9AE-C83A-9EF9-F573-61A0E81EA594}"/>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2019530141"/>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PUR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563089" y="3740277"/>
            <a:ext cx="523271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2" name="Graphic 1">
            <a:extLst>
              <a:ext uri="{FF2B5EF4-FFF2-40B4-BE49-F238E27FC236}">
                <a16:creationId xmlns:a16="http://schemas.microsoft.com/office/drawing/2014/main" id="{017A8F2F-9330-25BE-0D2E-902E66CDE27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603144503"/>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Gray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12" name="Graphic 11">
            <a:extLst>
              <a:ext uri="{FF2B5EF4-FFF2-40B4-BE49-F238E27FC236}">
                <a16:creationId xmlns:a16="http://schemas.microsoft.com/office/drawing/2014/main" id="{989C4F93-BF72-9EDD-88A7-D0623456593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279386227"/>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Green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12" name="Graphic 11">
            <a:extLst>
              <a:ext uri="{FF2B5EF4-FFF2-40B4-BE49-F238E27FC236}">
                <a16:creationId xmlns:a16="http://schemas.microsoft.com/office/drawing/2014/main" id="{AB1728AA-35B4-4BD9-8922-5A10B50EFB7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151002976"/>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PUR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2" name="Graphic 1">
            <a:extLst>
              <a:ext uri="{FF2B5EF4-FFF2-40B4-BE49-F238E27FC236}">
                <a16:creationId xmlns:a16="http://schemas.microsoft.com/office/drawing/2014/main" id="{01D50BC8-C95D-425B-652A-2D581ADCD81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2330622530"/>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Gray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9" name="Graphic 8">
            <a:extLst>
              <a:ext uri="{FF2B5EF4-FFF2-40B4-BE49-F238E27FC236}">
                <a16:creationId xmlns:a16="http://schemas.microsoft.com/office/drawing/2014/main" id="{E5FB72CE-435D-5F45-16B1-4A77B79AF3C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0006260"/>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Green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9" name="Graphic 8">
            <a:extLst>
              <a:ext uri="{FF2B5EF4-FFF2-40B4-BE49-F238E27FC236}">
                <a16:creationId xmlns:a16="http://schemas.microsoft.com/office/drawing/2014/main" id="{65A4C054-B1C8-E492-ADA1-D665C51553F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725900220"/>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Image-Right">
    <p:spTree>
      <p:nvGrpSpPr>
        <p:cNvPr id="1" name=""/>
        <p:cNvGrpSpPr/>
        <p:nvPr/>
      </p:nvGrpSpPr>
      <p:grpSpPr>
        <a:xfrm>
          <a:off x="0" y="0"/>
          <a:ext cx="0" cy="0"/>
          <a:chOff x="0" y="0"/>
          <a:chExt cx="0" cy="0"/>
        </a:xfrm>
      </p:grpSpPr>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38630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38630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386035" y="4139291"/>
            <a:ext cx="5008456"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6096000" y="0"/>
            <a:ext cx="6096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1693400902"/>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Image-Lef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6096000" cy="6858000"/>
          </a:xfrm>
        </p:spPr>
        <p:txBody>
          <a:bodyPr anchor="ctr" anchorCtr="0">
            <a:noAutofit/>
          </a:bodyPr>
          <a:lstStyle>
            <a:lvl1pPr marL="0" indent="0" algn="ctr">
              <a:buNone/>
              <a:defRPr/>
            </a:lvl1pPr>
          </a:lstStyle>
          <a:p>
            <a:r>
              <a:rPr lang="en-US" dirty="0"/>
              <a:t>[Click to insert image]</a:t>
            </a:r>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666491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66518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66518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664915" y="4139291"/>
            <a:ext cx="5008456"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Tree>
    <p:extLst>
      <p:ext uri="{BB962C8B-B14F-4D97-AF65-F5344CB8AC3E}">
        <p14:creationId xmlns:p14="http://schemas.microsoft.com/office/powerpoint/2010/main" val="3979964532"/>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Full Page Ima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12192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2231422644"/>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EFrame Image Purple">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5AACD76F-5A98-DE42-2012-2E4698A70B32}"/>
              </a:ext>
            </a:extLst>
          </p:cNvPr>
          <p:cNvSpPr/>
          <p:nvPr/>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Picture Placeholder 43">
            <a:extLst>
              <a:ext uri="{FF2B5EF4-FFF2-40B4-BE49-F238E27FC236}">
                <a16:creationId xmlns:a16="http://schemas.microsoft.com/office/drawing/2014/main" id="{C5980322-EF45-73EA-F45B-05C3C55E7CE2}"/>
              </a:ext>
            </a:extLst>
          </p:cNvPr>
          <p:cNvSpPr>
            <a:spLocks noGrp="1"/>
          </p:cNvSpPr>
          <p:nvPr>
            <p:ph type="pic" sz="quarter" idx="13" hasCustomPrompt="1"/>
          </p:nvPr>
        </p:nvSpPr>
        <p:spPr>
          <a:xfrm>
            <a:off x="5337810" y="573881"/>
            <a:ext cx="6854190" cy="5710237"/>
          </a:xfrm>
          <a:custGeom>
            <a:avLst/>
            <a:gdLst>
              <a:gd name="connsiteX0" fmla="*/ 0 w 6854190"/>
              <a:gd name="connsiteY0" fmla="*/ 0 h 5710237"/>
              <a:gd name="connsiteX1" fmla="*/ 3816350 w 6854190"/>
              <a:gd name="connsiteY1" fmla="*/ 0 h 5710237"/>
              <a:gd name="connsiteX2" fmla="*/ 3816350 w 6854190"/>
              <a:gd name="connsiteY2" fmla="*/ 1 h 5710237"/>
              <a:gd name="connsiteX3" fmla="*/ 6854190 w 6854190"/>
              <a:gd name="connsiteY3" fmla="*/ 1 h 5710237"/>
              <a:gd name="connsiteX4" fmla="*/ 6854190 w 6854190"/>
              <a:gd name="connsiteY4" fmla="*/ 1513523 h 5710237"/>
              <a:gd name="connsiteX5" fmla="*/ 3816350 w 6854190"/>
              <a:gd name="connsiteY5" fmla="*/ 1513523 h 5710237"/>
              <a:gd name="connsiteX6" fmla="*/ 3816350 w 6854190"/>
              <a:gd name="connsiteY6" fmla="*/ 2093595 h 5710237"/>
              <a:gd name="connsiteX7" fmla="*/ 6284595 w 6854190"/>
              <a:gd name="connsiteY7" fmla="*/ 2093595 h 5710237"/>
              <a:gd name="connsiteX8" fmla="*/ 6284595 w 6854190"/>
              <a:gd name="connsiteY8" fmla="*/ 3607117 h 5710237"/>
              <a:gd name="connsiteX9" fmla="*/ 3816350 w 6854190"/>
              <a:gd name="connsiteY9" fmla="*/ 3607117 h 5710237"/>
              <a:gd name="connsiteX10" fmla="*/ 3816350 w 6854190"/>
              <a:gd name="connsiteY10" fmla="*/ 4196715 h 5710237"/>
              <a:gd name="connsiteX11" fmla="*/ 6854190 w 6854190"/>
              <a:gd name="connsiteY11" fmla="*/ 4196715 h 5710237"/>
              <a:gd name="connsiteX12" fmla="*/ 6854190 w 6854190"/>
              <a:gd name="connsiteY12" fmla="*/ 5710237 h 5710237"/>
              <a:gd name="connsiteX13" fmla="*/ 3816350 w 6854190"/>
              <a:gd name="connsiteY13" fmla="*/ 5710237 h 5710237"/>
              <a:gd name="connsiteX14" fmla="*/ 3037840 w 6854190"/>
              <a:gd name="connsiteY14" fmla="*/ 5710237 h 5710237"/>
              <a:gd name="connsiteX15" fmla="*/ 0 w 6854190"/>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854190" h="5710237">
                <a:moveTo>
                  <a:pt x="0" y="0"/>
                </a:moveTo>
                <a:lnTo>
                  <a:pt x="3816350" y="0"/>
                </a:lnTo>
                <a:lnTo>
                  <a:pt x="3816350" y="1"/>
                </a:lnTo>
                <a:lnTo>
                  <a:pt x="6854190" y="1"/>
                </a:lnTo>
                <a:lnTo>
                  <a:pt x="6854190" y="1513523"/>
                </a:lnTo>
                <a:lnTo>
                  <a:pt x="3816350" y="1513523"/>
                </a:lnTo>
                <a:lnTo>
                  <a:pt x="3816350" y="2093595"/>
                </a:lnTo>
                <a:lnTo>
                  <a:pt x="6284595" y="2093595"/>
                </a:lnTo>
                <a:lnTo>
                  <a:pt x="6284595" y="3607117"/>
                </a:lnTo>
                <a:lnTo>
                  <a:pt x="3816350" y="3607117"/>
                </a:lnTo>
                <a:lnTo>
                  <a:pt x="3816350" y="4196715"/>
                </a:lnTo>
                <a:lnTo>
                  <a:pt x="6854190" y="4196715"/>
                </a:lnTo>
                <a:lnTo>
                  <a:pt x="6854190" y="5710237"/>
                </a:lnTo>
                <a:lnTo>
                  <a:pt x="3816350" y="5710237"/>
                </a:lnTo>
                <a:lnTo>
                  <a:pt x="3037840"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7" name="Text Placeholder 17">
            <a:extLst>
              <a:ext uri="{FF2B5EF4-FFF2-40B4-BE49-F238E27FC236}">
                <a16:creationId xmlns:a16="http://schemas.microsoft.com/office/drawing/2014/main" id="{72A36242-E96D-BCC5-8B9A-F727F91C17DD}"/>
              </a:ext>
            </a:extLst>
          </p:cNvPr>
          <p:cNvSpPr>
            <a:spLocks noGrp="1"/>
          </p:cNvSpPr>
          <p:nvPr>
            <p:ph type="body" sz="quarter" idx="10" hasCustomPrompt="1"/>
          </p:nvPr>
        </p:nvSpPr>
        <p:spPr>
          <a:xfrm>
            <a:off x="386035" y="1112251"/>
            <a:ext cx="4317994" cy="944810"/>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endParaRPr lang="en-US" dirty="0"/>
          </a:p>
        </p:txBody>
      </p:sp>
      <p:sp>
        <p:nvSpPr>
          <p:cNvPr id="48" name="Text Placeholder 17">
            <a:extLst>
              <a:ext uri="{FF2B5EF4-FFF2-40B4-BE49-F238E27FC236}">
                <a16:creationId xmlns:a16="http://schemas.microsoft.com/office/drawing/2014/main" id="{E033C30C-F4BF-DEFA-8C82-E924E66CF321}"/>
              </a:ext>
            </a:extLst>
          </p:cNvPr>
          <p:cNvSpPr>
            <a:spLocks noGrp="1"/>
          </p:cNvSpPr>
          <p:nvPr>
            <p:ph type="body" sz="quarter" idx="12" hasCustomPrompt="1"/>
          </p:nvPr>
        </p:nvSpPr>
        <p:spPr>
          <a:xfrm>
            <a:off x="386305" y="2467715"/>
            <a:ext cx="4317775" cy="555793"/>
          </a:xfrm>
        </p:spPr>
        <p:txBody>
          <a:bodyPr wrap="square">
            <a:spAutoFit/>
          </a:bodyPr>
          <a:lstStyle>
            <a:lvl1pPr marL="0" indent="0">
              <a:lnSpc>
                <a:spcPct val="90000"/>
              </a:lnSpc>
              <a:spcBef>
                <a:spcPts val="0"/>
              </a:spcBef>
              <a:buNone/>
              <a:defRPr sz="2000" b="1">
                <a:solidFill>
                  <a:schemeClr val="bg1"/>
                </a:solidFill>
              </a:defRPr>
            </a:lvl1pPr>
          </a:lstStyle>
          <a:p>
            <a:pPr lvl="0"/>
            <a:r>
              <a:rPr lang="en-US" dirty="0"/>
              <a:t>Subhead culpa qui official arum </a:t>
            </a:r>
            <a:r>
              <a:rPr lang="en-US" dirty="0" err="1"/>
              <a:t>quidem</a:t>
            </a:r>
            <a:r>
              <a:rPr lang="en-US" dirty="0"/>
              <a:t> rerum facilis</a:t>
            </a:r>
          </a:p>
        </p:txBody>
      </p:sp>
      <p:sp>
        <p:nvSpPr>
          <p:cNvPr id="49" name="Text Placeholder 8">
            <a:extLst>
              <a:ext uri="{FF2B5EF4-FFF2-40B4-BE49-F238E27FC236}">
                <a16:creationId xmlns:a16="http://schemas.microsoft.com/office/drawing/2014/main" id="{A0F481E4-FC0E-C80A-C2EC-B76F27D262A7}"/>
              </a:ext>
            </a:extLst>
          </p:cNvPr>
          <p:cNvSpPr>
            <a:spLocks noGrp="1"/>
          </p:cNvSpPr>
          <p:nvPr>
            <p:ph type="body" sz="quarter" idx="14" hasCustomPrompt="1"/>
          </p:nvPr>
        </p:nvSpPr>
        <p:spPr>
          <a:xfrm>
            <a:off x="386305" y="3130525"/>
            <a:ext cx="4317775" cy="901850"/>
          </a:xfrm>
        </p:spPr>
        <p:txBody>
          <a:bodyPr wrap="square">
            <a:spAutoFit/>
          </a:bodyPr>
          <a:lstStyle>
            <a:lvl1pPr marL="0" indent="0">
              <a:buNone/>
              <a:defRPr sz="1800">
                <a:solidFill>
                  <a:schemeClr val="bg1"/>
                </a:solidFill>
              </a:defRPr>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a:t>
            </a:r>
          </a:p>
        </p:txBody>
      </p:sp>
      <p:sp>
        <p:nvSpPr>
          <p:cNvPr id="50" name="Text Placeholder 12">
            <a:extLst>
              <a:ext uri="{FF2B5EF4-FFF2-40B4-BE49-F238E27FC236}">
                <a16:creationId xmlns:a16="http://schemas.microsoft.com/office/drawing/2014/main" id="{F28319CA-55ED-F435-6422-E7CAE3A4E5C8}"/>
              </a:ext>
            </a:extLst>
          </p:cNvPr>
          <p:cNvSpPr>
            <a:spLocks noGrp="1"/>
          </p:cNvSpPr>
          <p:nvPr>
            <p:ph type="body" sz="quarter" idx="15"/>
          </p:nvPr>
        </p:nvSpPr>
        <p:spPr>
          <a:xfrm>
            <a:off x="386035" y="4155118"/>
            <a:ext cx="4317603" cy="1684948"/>
          </a:xfrm>
        </p:spPr>
        <p:txBody>
          <a:bodyPr wrap="square">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2" name="Graphic 1">
            <a:extLst>
              <a:ext uri="{FF2B5EF4-FFF2-40B4-BE49-F238E27FC236}">
                <a16:creationId xmlns:a16="http://schemas.microsoft.com/office/drawing/2014/main" id="{E2FA6E33-C1DD-C1DE-7C6F-82957792F31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8D073452-E314-EB2D-1FC4-135DC2D7775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4" name="TextBox 3">
            <a:extLst>
              <a:ext uri="{FF2B5EF4-FFF2-40B4-BE49-F238E27FC236}">
                <a16:creationId xmlns:a16="http://schemas.microsoft.com/office/drawing/2014/main" id="{A28DAA59-27D2-784E-D2A1-F51D07814DEC}"/>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3084917075"/>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Quote Purpl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bg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bg1"/>
                </a:solidFill>
              </a:defRPr>
            </a:lvl1pPr>
          </a:lstStyle>
          <a:p>
            <a:pPr lvl="0"/>
            <a:r>
              <a:rPr lang="en-US" dirty="0"/>
              <a:t>First &amp; Last Name</a:t>
            </a:r>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2" name="Text Placeholder 17">
            <a:extLst>
              <a:ext uri="{FF2B5EF4-FFF2-40B4-BE49-F238E27FC236}">
                <a16:creationId xmlns:a16="http://schemas.microsoft.com/office/drawing/2014/main" id="{D05DB1F1-ACC3-B191-E3E7-7348B83D3D7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bg1"/>
                </a:solidFill>
              </a:defRPr>
            </a:lvl1pPr>
          </a:lstStyle>
          <a:p>
            <a:pPr lvl="0"/>
            <a:r>
              <a:rPr lang="en-US" dirty="0"/>
              <a:t>Title and Company or Institution</a:t>
            </a:r>
          </a:p>
        </p:txBody>
      </p:sp>
      <p:pic>
        <p:nvPicPr>
          <p:cNvPr id="4" name="Graphic 3">
            <a:extLst>
              <a:ext uri="{FF2B5EF4-FFF2-40B4-BE49-F238E27FC236}">
                <a16:creationId xmlns:a16="http://schemas.microsoft.com/office/drawing/2014/main" id="{3F44E2C7-6484-3A24-48A0-1EC4CE2E334F}"/>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618540" y="1374718"/>
            <a:ext cx="954921" cy="954921"/>
          </a:xfrm>
          <a:prstGeom prst="rect">
            <a:avLst/>
          </a:prstGeom>
        </p:spPr>
      </p:pic>
      <p:sp>
        <p:nvSpPr>
          <p:cNvPr id="8" name="TextBox 7">
            <a:extLst>
              <a:ext uri="{FF2B5EF4-FFF2-40B4-BE49-F238E27FC236}">
                <a16:creationId xmlns:a16="http://schemas.microsoft.com/office/drawing/2014/main" id="{56538370-0C99-95AF-B7F2-D3F6183791A0}"/>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866070615"/>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Quote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 Placeholder 17">
            <a:extLst>
              <a:ext uri="{FF2B5EF4-FFF2-40B4-BE49-F238E27FC236}">
                <a16:creationId xmlns:a16="http://schemas.microsoft.com/office/drawing/2014/main" id="{97C25E61-6B43-DBD5-C2CE-87847F39AAE2}"/>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tx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4" name="Text Placeholder 17">
            <a:extLst>
              <a:ext uri="{FF2B5EF4-FFF2-40B4-BE49-F238E27FC236}">
                <a16:creationId xmlns:a16="http://schemas.microsoft.com/office/drawing/2014/main" id="{FCEE0479-D5F9-CE3F-36E7-238BA0F4577F}"/>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tx1"/>
                </a:solidFill>
              </a:defRPr>
            </a:lvl1pPr>
          </a:lstStyle>
          <a:p>
            <a:pPr lvl="0"/>
            <a:r>
              <a:rPr lang="en-US" dirty="0"/>
              <a:t>First &amp; Last Name</a:t>
            </a:r>
          </a:p>
        </p:txBody>
      </p:sp>
      <p:sp>
        <p:nvSpPr>
          <p:cNvPr id="8" name="Text Placeholder 17">
            <a:extLst>
              <a:ext uri="{FF2B5EF4-FFF2-40B4-BE49-F238E27FC236}">
                <a16:creationId xmlns:a16="http://schemas.microsoft.com/office/drawing/2014/main" id="{A76AF4FC-9A53-DBD9-C4E3-8F3D9D7DB7D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tx1"/>
                </a:solidFill>
              </a:defRPr>
            </a:lvl1pPr>
          </a:lstStyle>
          <a:p>
            <a:pPr lvl="0"/>
            <a:r>
              <a:rPr lang="en-US" dirty="0"/>
              <a:t>Title and Company or Institution</a:t>
            </a:r>
          </a:p>
        </p:txBody>
      </p:sp>
      <p:pic>
        <p:nvPicPr>
          <p:cNvPr id="11" name="Graphic 10">
            <a:extLst>
              <a:ext uri="{FF2B5EF4-FFF2-40B4-BE49-F238E27FC236}">
                <a16:creationId xmlns:a16="http://schemas.microsoft.com/office/drawing/2014/main" id="{FF551E89-4ED8-FCF0-7E9B-2446F24111FB}"/>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618540" y="1374718"/>
            <a:ext cx="954921" cy="954921"/>
          </a:xfrm>
          <a:prstGeom prst="rect">
            <a:avLst/>
          </a:prstGeom>
        </p:spPr>
      </p:pic>
      <p:sp>
        <p:nvSpPr>
          <p:cNvPr id="6" name="TextBox 5">
            <a:extLst>
              <a:ext uri="{FF2B5EF4-FFF2-40B4-BE49-F238E27FC236}">
                <a16:creationId xmlns:a16="http://schemas.microsoft.com/office/drawing/2014/main" id="{759FA4B8-B22A-02CB-D4E5-CDAF1F338C84}"/>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4102640486"/>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Purple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73109"/>
            <a:ext cx="12192000" cy="8815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CC5AC45-371A-D1F2-3506-59FB4F407F5D}"/>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solidFill>
                  <a:schemeClr val="bg1"/>
                </a:solidFill>
              </a:defRPr>
            </a:lvl1pPr>
          </a:lstStyle>
          <a:p>
            <a:pPr lvl="0"/>
            <a:r>
              <a:rPr lang="en-US" dirty="0"/>
              <a:t>Fourth level statement</a:t>
            </a:r>
          </a:p>
        </p:txBody>
      </p:sp>
      <p:pic>
        <p:nvPicPr>
          <p:cNvPr id="2" name="Graphic 1">
            <a:extLst>
              <a:ext uri="{FF2B5EF4-FFF2-40B4-BE49-F238E27FC236}">
                <a16:creationId xmlns:a16="http://schemas.microsoft.com/office/drawing/2014/main" id="{320A3CFF-FF3A-806C-4272-4BD562E4527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83CB4FD4-52E5-7743-832E-878711B6912D}"/>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6" name="TextBox 5">
            <a:extLst>
              <a:ext uri="{FF2B5EF4-FFF2-40B4-BE49-F238E27FC236}">
                <a16:creationId xmlns:a16="http://schemas.microsoft.com/office/drawing/2014/main" id="{8955BA75-BCED-43A8-374C-ED5B5EB749B9}"/>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19805118"/>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Green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lvl1pPr>
          </a:lstStyle>
          <a:p>
            <a:pPr lvl="0"/>
            <a:r>
              <a:rPr lang="en-US" dirty="0"/>
              <a:t>Fourth level statement</a:t>
            </a:r>
          </a:p>
        </p:txBody>
      </p:sp>
      <p:sp>
        <p:nvSpPr>
          <p:cNvPr id="2" name="Rectangle 1">
            <a:extLst>
              <a:ext uri="{FF2B5EF4-FFF2-40B4-BE49-F238E27FC236}">
                <a16:creationId xmlns:a16="http://schemas.microsoft.com/office/drawing/2014/main" id="{ABC92165-EA63-BA70-B09C-3AE3A0E3B988}"/>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B8487BB2-49A0-1AD0-6AEA-A6BA00965FB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D645B4-C9BC-C447-40CC-BED53F5C40F2}"/>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4" name="TextBox 3">
            <a:extLst>
              <a:ext uri="{FF2B5EF4-FFF2-40B4-BE49-F238E27FC236}">
                <a16:creationId xmlns:a16="http://schemas.microsoft.com/office/drawing/2014/main" id="{06D9A09A-FC77-0C42-3399-4228AB66473E}"/>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1470583664"/>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035BE7A-2092-E334-9925-A2CD0ED61EC1}"/>
              </a:ext>
            </a:extLst>
          </p:cNvPr>
          <p:cNvSpPr txBox="1"/>
          <p:nvPr/>
        </p:nvSpPr>
        <p:spPr>
          <a:xfrm>
            <a:off x="836428" y="2435962"/>
            <a:ext cx="10441173" cy="1769715"/>
          </a:xfrm>
          <a:prstGeom prst="rect">
            <a:avLst/>
          </a:prstGeom>
          <a:noFill/>
        </p:spPr>
        <p:txBody>
          <a:bodyPr wrap="square" lIns="0" tIns="0" rIns="0" bIns="0" rtlCol="0">
            <a:spAutoFit/>
          </a:bodyPr>
          <a:lstStyle/>
          <a:p>
            <a:pPr algn="ctr"/>
            <a:r>
              <a:rPr lang="en-US" sz="11500" b="1" dirty="0">
                <a:solidFill>
                  <a:schemeClr val="bg1"/>
                </a:solidFill>
              </a:rPr>
              <a:t>Thank You</a:t>
            </a:r>
          </a:p>
        </p:txBody>
      </p:sp>
      <p:sp>
        <p:nvSpPr>
          <p:cNvPr id="9" name="Text Placeholder 17">
            <a:extLst>
              <a:ext uri="{FF2B5EF4-FFF2-40B4-BE49-F238E27FC236}">
                <a16:creationId xmlns:a16="http://schemas.microsoft.com/office/drawing/2014/main" id="{C141F636-6F6B-39E0-D74A-E2DC465DEF1A}"/>
              </a:ext>
            </a:extLst>
          </p:cNvPr>
          <p:cNvSpPr>
            <a:spLocks noGrp="1"/>
          </p:cNvSpPr>
          <p:nvPr>
            <p:ph type="body" sz="quarter" idx="11" hasCustomPrompt="1"/>
          </p:nvPr>
        </p:nvSpPr>
        <p:spPr>
          <a:xfrm>
            <a:off x="2556897" y="4302308"/>
            <a:ext cx="7078206" cy="389915"/>
          </a:xfrm>
        </p:spPr>
        <p:txBody>
          <a:bodyPr>
            <a:spAutoFit/>
          </a:bodyPr>
          <a:lstStyle>
            <a:lvl1pPr marL="0" indent="0" algn="ctr">
              <a:spcBef>
                <a:spcPts val="0"/>
              </a:spcBef>
              <a:buNone/>
              <a:defRPr sz="2400" b="1">
                <a:solidFill>
                  <a:schemeClr val="bg1"/>
                </a:solidFill>
              </a:defRPr>
            </a:lvl1pPr>
          </a:lstStyle>
          <a:p>
            <a:pPr lvl="0"/>
            <a:r>
              <a:rPr lang="en-US" dirty="0"/>
              <a:t>Presenter Name</a:t>
            </a:r>
          </a:p>
        </p:txBody>
      </p:sp>
      <p:sp>
        <p:nvSpPr>
          <p:cNvPr id="11" name="Text Placeholder 17">
            <a:extLst>
              <a:ext uri="{FF2B5EF4-FFF2-40B4-BE49-F238E27FC236}">
                <a16:creationId xmlns:a16="http://schemas.microsoft.com/office/drawing/2014/main" id="{15F716EA-D293-96D7-C5A7-61FE08272CBD}"/>
              </a:ext>
            </a:extLst>
          </p:cNvPr>
          <p:cNvSpPr>
            <a:spLocks noGrp="1"/>
          </p:cNvSpPr>
          <p:nvPr>
            <p:ph type="body" sz="quarter" idx="12" hasCustomPrompt="1"/>
          </p:nvPr>
        </p:nvSpPr>
        <p:spPr>
          <a:xfrm>
            <a:off x="2556897" y="4735941"/>
            <a:ext cx="7078206" cy="324961"/>
          </a:xfrm>
        </p:spPr>
        <p:txBody>
          <a:bodyPr>
            <a:spAutoFit/>
          </a:bodyPr>
          <a:lstStyle>
            <a:lvl1pPr marL="0" indent="0" algn="ctr">
              <a:spcBef>
                <a:spcPts val="0"/>
              </a:spcBef>
              <a:buNone/>
              <a:defRPr sz="2000" b="0">
                <a:solidFill>
                  <a:schemeClr val="bg1"/>
                </a:solidFill>
              </a:defRPr>
            </a:lvl1pPr>
          </a:lstStyle>
          <a:p>
            <a:pPr lvl="0"/>
            <a:r>
              <a:rPr lang="en-US" dirty="0" err="1"/>
              <a:t>PresenterEmail@Ellucian.com</a:t>
            </a:r>
            <a:endParaRPr lang="en-US" dirty="0"/>
          </a:p>
        </p:txBody>
      </p:sp>
      <p:pic>
        <p:nvPicPr>
          <p:cNvPr id="2" name="Graphic 1">
            <a:extLst>
              <a:ext uri="{FF2B5EF4-FFF2-40B4-BE49-F238E27FC236}">
                <a16:creationId xmlns:a16="http://schemas.microsoft.com/office/drawing/2014/main" id="{7C871F66-B895-DB0B-1D73-90E74A3951C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53435677-394B-4E5D-4CD3-2D77A2110358}"/>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3138481910"/>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Question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5" name="TextBox 4">
            <a:extLst>
              <a:ext uri="{FF2B5EF4-FFF2-40B4-BE49-F238E27FC236}">
                <a16:creationId xmlns:a16="http://schemas.microsoft.com/office/drawing/2014/main" id="{58229B27-8CB8-A4DF-B214-C621F3644437}"/>
              </a:ext>
            </a:extLst>
          </p:cNvPr>
          <p:cNvSpPr txBox="1"/>
          <p:nvPr/>
        </p:nvSpPr>
        <p:spPr>
          <a:xfrm>
            <a:off x="836428" y="2544142"/>
            <a:ext cx="10441173" cy="1769715"/>
          </a:xfrm>
          <a:prstGeom prst="rect">
            <a:avLst/>
          </a:prstGeom>
          <a:noFill/>
        </p:spPr>
        <p:txBody>
          <a:bodyPr wrap="square" lIns="0" tIns="0" rIns="0" bIns="0" rtlCol="0">
            <a:spAutoFit/>
          </a:bodyPr>
          <a:lstStyle/>
          <a:p>
            <a:pPr algn="ctr"/>
            <a:r>
              <a:rPr lang="en-US" sz="11500" b="1" dirty="0">
                <a:solidFill>
                  <a:schemeClr val="accent1"/>
                </a:solidFill>
              </a:rPr>
              <a:t>Questions?</a:t>
            </a:r>
          </a:p>
        </p:txBody>
      </p:sp>
      <p:pic>
        <p:nvPicPr>
          <p:cNvPr id="2" name="Graphic 1">
            <a:extLst>
              <a:ext uri="{FF2B5EF4-FFF2-40B4-BE49-F238E27FC236}">
                <a16:creationId xmlns:a16="http://schemas.microsoft.com/office/drawing/2014/main" id="{C0225686-2493-61CB-BED8-8CD6B90C882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6" name="TextBox 5">
            <a:extLst>
              <a:ext uri="{FF2B5EF4-FFF2-40B4-BE49-F238E27FC236}">
                <a16:creationId xmlns:a16="http://schemas.microsoft.com/office/drawing/2014/main" id="{3757E6F9-39D1-A7B6-72FA-6CB25BEA039E}"/>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2875190425"/>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userDrawn="1">
  <p:cSld name="Blank Footer Black">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981C625F-C66F-1373-141C-E36C160D0D3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A8E6E8FD-F743-B760-4565-52A5B0B667B8}"/>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4" name="TextBox 3">
            <a:extLst>
              <a:ext uri="{FF2B5EF4-FFF2-40B4-BE49-F238E27FC236}">
                <a16:creationId xmlns:a16="http://schemas.microsoft.com/office/drawing/2014/main" id="{8DF76087-D7C9-C1C3-5E17-263AB892AD6D}"/>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840255953"/>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userDrawn="1">
  <p:cSld name="Blan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221DA2E6-F483-60DE-DF61-B60C10DBDE89}"/>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682605500"/>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En bl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3449737321"/>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Blank Footer Black">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981C625F-C66F-1373-141C-E36C160D0D3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A8E6E8FD-F743-B760-4565-52A5B0B667B8}"/>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4" name="TextBox 3">
            <a:extLst>
              <a:ext uri="{FF2B5EF4-FFF2-40B4-BE49-F238E27FC236}">
                <a16:creationId xmlns:a16="http://schemas.microsoft.com/office/drawing/2014/main" id="{8DF76087-D7C9-C1C3-5E17-263AB892AD6D}"/>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307712788"/>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B Purple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a:extLst>
              <a:ext uri="{FF2B5EF4-FFF2-40B4-BE49-F238E27FC236}">
                <a16:creationId xmlns:a16="http://schemas.microsoft.com/office/drawing/2014/main" id="{EE1FD067-74D8-0E64-F510-C09BEC15D05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10" name="TextBox 9">
            <a:extLst>
              <a:ext uri="{FF2B5EF4-FFF2-40B4-BE49-F238E27FC236}">
                <a16:creationId xmlns:a16="http://schemas.microsoft.com/office/drawing/2014/main" id="{116E64D5-8E4A-3059-BC15-EB884BE08EC3}"/>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0DFD1F0B-69D7-F3A9-055F-2A986648AD27}"/>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2797727271"/>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B Purple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609600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6DB79317-11D6-0AF3-4B54-BDA534C904B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C7209B0-4D3E-B28A-692D-AB3B431BDB03}"/>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2" name="TextBox 1">
            <a:extLst>
              <a:ext uri="{FF2B5EF4-FFF2-40B4-BE49-F238E27FC236}">
                <a16:creationId xmlns:a16="http://schemas.microsoft.com/office/drawing/2014/main" id="{65158A56-C172-10B2-D489-16D7DACEC5FE}"/>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1713086590"/>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B Gray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0ABA3577-65BA-7CC4-5395-E38F2A7AC77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E135DE03-26E8-0184-A39C-5A462BDC2DCF}"/>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5" name="TextBox 4">
            <a:extLst>
              <a:ext uri="{FF2B5EF4-FFF2-40B4-BE49-F238E27FC236}">
                <a16:creationId xmlns:a16="http://schemas.microsoft.com/office/drawing/2014/main" id="{19F91899-8397-C452-E914-5DA32F2E64BE}"/>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78808853"/>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B Gray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609600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695EB3C-8530-E0C8-4217-5508CF63DB5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59450D81-7260-A5B0-C045-065E98F3D872}"/>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C8E4D3A3-6199-EF4C-2D38-F8DA60A48FEE}"/>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3314480119"/>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B Green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40CB40AC-8E27-B4CE-FE98-617281F6189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08A44510-D9B6-3D27-0025-27FFAAD9F8AE}"/>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6" name="TextBox 5">
            <a:extLst>
              <a:ext uri="{FF2B5EF4-FFF2-40B4-BE49-F238E27FC236}">
                <a16:creationId xmlns:a16="http://schemas.microsoft.com/office/drawing/2014/main" id="{B9DBE2C0-3213-6D2D-4479-AD9B8089A641}"/>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4122663857"/>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B Green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609600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61839101-BBAA-D670-10CD-40BF5E0392E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CCF7E87-236E-67B1-F9B1-5ACC27A1C0BF}"/>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8B6E2BFF-AA3C-F635-EDE7-1D4D95732292}"/>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4124904534"/>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B Purple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788CB9F-7B69-6D25-41A0-F5D4BFE324C9}"/>
              </a:ext>
            </a:extLst>
          </p:cNvPr>
          <p:cNvSpPr/>
          <p:nvPr userDrawn="1"/>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2E0AAAEA-1F16-516A-417D-DC9DF964E80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66FD55EF-B73C-D814-E528-7EF5EBB86F1C}"/>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4" name="TextBox 3">
            <a:extLst>
              <a:ext uri="{FF2B5EF4-FFF2-40B4-BE49-F238E27FC236}">
                <a16:creationId xmlns:a16="http://schemas.microsoft.com/office/drawing/2014/main" id="{4077C5A4-055F-072E-16C5-84527D1FFDB1}"/>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3171175338"/>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B Purple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8A5C8E9-F647-20C1-E64B-5FADBF7E8499}"/>
              </a:ext>
            </a:extLst>
          </p:cNvPr>
          <p:cNvSpPr/>
          <p:nvPr userDrawn="1"/>
        </p:nvSpPr>
        <p:spPr>
          <a:xfrm>
            <a:off x="8128016"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C66E5DE2-889D-3DE4-3572-3DCEEA210F8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7C932288-F84C-D66E-3E63-ED023CEAD978}"/>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12AA4C6E-89CC-BA61-A575-3A36232457CA}"/>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2632151058"/>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B Gray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3401B5-FB7E-EDEB-5D87-90FA593EF7F8}"/>
              </a:ext>
            </a:extLst>
          </p:cNvPr>
          <p:cNvSpPr/>
          <p:nvPr userDrawn="1"/>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9D04E6AC-3638-47BF-6BFD-E68AF8093AD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AC033454-6E80-8B9B-BBCB-6434F5D21BAD}"/>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6" name="TextBox 5">
            <a:extLst>
              <a:ext uri="{FF2B5EF4-FFF2-40B4-BE49-F238E27FC236}">
                <a16:creationId xmlns:a16="http://schemas.microsoft.com/office/drawing/2014/main" id="{6F42D7DB-F5BA-604F-2A99-DBAB5A8DE7ED}"/>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425607819"/>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B Gray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8128016"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145C3B88-0182-B843-BB3B-F145067D5C9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CC84ADAE-B350-C159-D672-6F29FE4CC4FD}"/>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3" name="TextBox 2">
            <a:extLst>
              <a:ext uri="{FF2B5EF4-FFF2-40B4-BE49-F238E27FC236}">
                <a16:creationId xmlns:a16="http://schemas.microsoft.com/office/drawing/2014/main" id="{83FB9DF3-A55E-DBF2-C049-8624E2CA3238}"/>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578061814"/>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B Green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3401B5-FB7E-EDEB-5D87-90FA593EF7F8}"/>
              </a:ext>
            </a:extLst>
          </p:cNvPr>
          <p:cNvSpPr/>
          <p:nvPr userDrawn="1"/>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3668F462-6E9A-C654-C321-DFBF69C7A66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2F75F911-FCDF-6D37-1A4E-6CFB26AAEB35}"/>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6" name="TextBox 5">
            <a:extLst>
              <a:ext uri="{FF2B5EF4-FFF2-40B4-BE49-F238E27FC236}">
                <a16:creationId xmlns:a16="http://schemas.microsoft.com/office/drawing/2014/main" id="{6F4A93C5-2125-4620-62DB-C8E3A6CA982A}"/>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4151878442"/>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B Green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8128016"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CE396D46-CDE6-66B6-0A7B-6DEC14B972B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462404-BF65-8481-4332-5DF7AD5ED1C9}"/>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3" name="TextBox 2">
            <a:extLst>
              <a:ext uri="{FF2B5EF4-FFF2-40B4-BE49-F238E27FC236}">
                <a16:creationId xmlns:a16="http://schemas.microsoft.com/office/drawing/2014/main" id="{CC6232A2-9E4F-3C88-D771-7120FAD75090}"/>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1640626189"/>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Blan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221DA2E6-F483-60DE-DF61-B60C10DBDE89}"/>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2284913568"/>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Blank Dar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A593DCF4-AC60-B9D8-A985-C1CFC1A5AD75}"/>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488978983"/>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Blank Dark Green">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EFFC058F-486D-43DF-4B5C-09387CA4F8E1}"/>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1626522342"/>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Blank Warm Gray">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9FF5FB22-C2EA-99F6-EF38-AD4BBB0C345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603AEA50-DA2C-915C-545F-713FCDF35A3F}"/>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3" name="TextBox 2">
            <a:extLst>
              <a:ext uri="{FF2B5EF4-FFF2-40B4-BE49-F238E27FC236}">
                <a16:creationId xmlns:a16="http://schemas.microsoft.com/office/drawing/2014/main" id="{9D0EA6DE-76EE-C5B8-0477-8D50A19F0758}"/>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3083179638"/>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526488035"/>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p:cSld name="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pic>
        <p:nvPicPr>
          <p:cNvPr id="2" name="Graphic 1">
            <a:extLst>
              <a:ext uri="{FF2B5EF4-FFF2-40B4-BE49-F238E27FC236}">
                <a16:creationId xmlns:a16="http://schemas.microsoft.com/office/drawing/2014/main" id="{5A8556FD-943F-2CA8-3B15-1C7401E71D1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Box 4">
            <a:extLst>
              <a:ext uri="{FF2B5EF4-FFF2-40B4-BE49-F238E27FC236}">
                <a16:creationId xmlns:a16="http://schemas.microsoft.com/office/drawing/2014/main" id="{C6B12A91-8583-2E4C-B1C8-7E1F64EF24C9}"/>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1564943326"/>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p:cSld name="Purple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bg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2" name="TextBox 1">
            <a:extLst>
              <a:ext uri="{FF2B5EF4-FFF2-40B4-BE49-F238E27FC236}">
                <a16:creationId xmlns:a16="http://schemas.microsoft.com/office/drawing/2014/main" id="{8F1688B8-4AFA-00EF-A18F-CE0BE044452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200649877"/>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p:cSld name="Green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tx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tx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 name="TextBox 3">
            <a:extLst>
              <a:ext uri="{FF2B5EF4-FFF2-40B4-BE49-F238E27FC236}">
                <a16:creationId xmlns:a16="http://schemas.microsoft.com/office/drawing/2014/main" id="{D2E118B2-5580-3101-C2BB-4FB39252D744}"/>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1622213321"/>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p:cSld name="Dark 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0A86818C-B6FC-21B3-0821-EE3D8DAE5AE3}"/>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2BC038CA-3E14-5783-3761-76D8A4C63EC0}"/>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0" name="Graphic 9">
            <a:extLst>
              <a:ext uri="{FF2B5EF4-FFF2-40B4-BE49-F238E27FC236}">
                <a16:creationId xmlns:a16="http://schemas.microsoft.com/office/drawing/2014/main" id="{A9D3FE11-F167-1622-761B-F4BFADB0B0E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EBAA974E-55D6-2A02-03A4-AAB7F36BF1B1}"/>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69C30255-143C-EB1C-95B6-9319F7AB9F7D}"/>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sp>
        <p:nvSpPr>
          <p:cNvPr id="7" name="TextBox 6">
            <a:extLst>
              <a:ext uri="{FF2B5EF4-FFF2-40B4-BE49-F238E27FC236}">
                <a16:creationId xmlns:a16="http://schemas.microsoft.com/office/drawing/2014/main" id="{67E32664-E882-9D71-52FE-71612364F8C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2491079317"/>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p:cSld name="Warm Gray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A2941D41-B5B7-CCE1-1B2C-89AAD5DACBE0}"/>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tx1"/>
                </a:solidFill>
              </a:defRPr>
            </a:lvl1pPr>
          </a:lstStyle>
          <a:p>
            <a:pPr lvl="0"/>
            <a:r>
              <a:rPr lang="en-US" dirty="0"/>
              <a:t>Headline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6600B585-62A4-8333-3077-9DD14A781807}"/>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1" name="Graphic 10">
            <a:extLst>
              <a:ext uri="{FF2B5EF4-FFF2-40B4-BE49-F238E27FC236}">
                <a16:creationId xmlns:a16="http://schemas.microsoft.com/office/drawing/2014/main" id="{21C3DEEA-3CCE-EBD2-6CE3-835C44C810E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74440542-6D19-B6BD-7831-2A113C1E6A79}"/>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30B08173-A7BE-6F86-6CDE-43EC9BEEB3CB}"/>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8" name="TextBox 7">
            <a:extLst>
              <a:ext uri="{FF2B5EF4-FFF2-40B4-BE49-F238E27FC236}">
                <a16:creationId xmlns:a16="http://schemas.microsoft.com/office/drawing/2014/main" id="{AC9D9DE1-FE9F-14AE-4A3F-F4173038006F}"/>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3249658413"/>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p:cSld name="C2C Cov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7">
            <a:extLst>
              <a:ext uri="{FF2B5EF4-FFF2-40B4-BE49-F238E27FC236}">
                <a16:creationId xmlns:a16="http://schemas.microsoft.com/office/drawing/2014/main" id="{52C18FF9-32C7-751D-36F8-EF5124DF2BE2}"/>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23" name="Text Placeholder 17">
            <a:extLst>
              <a:ext uri="{FF2B5EF4-FFF2-40B4-BE49-F238E27FC236}">
                <a16:creationId xmlns:a16="http://schemas.microsoft.com/office/drawing/2014/main" id="{D8DE661F-53B2-6E8E-9238-FE6484215B1A}"/>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26" name="Graphic 25">
            <a:extLst>
              <a:ext uri="{FF2B5EF4-FFF2-40B4-BE49-F238E27FC236}">
                <a16:creationId xmlns:a16="http://schemas.microsoft.com/office/drawing/2014/main" id="{2590016B-4462-F023-25AF-B00C9285325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7C710057-3FB3-19E3-5D75-F018F116AE47}"/>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6" name="Text Placeholder 17">
            <a:extLst>
              <a:ext uri="{FF2B5EF4-FFF2-40B4-BE49-F238E27FC236}">
                <a16:creationId xmlns:a16="http://schemas.microsoft.com/office/drawing/2014/main" id="{C41EE674-4BC9-86D6-67E5-FF509240DDED}"/>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AE8FAC4F-619C-5E6B-F2B0-D001F5A51111}"/>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1607726124"/>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p:cSld name="C2C Cover Image">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FBB43B24-12DD-1DD6-963C-7ADA857CCDC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A39E11EF-D17E-E6F4-B66D-C68ABBCCF813}"/>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64D279B7-3D21-DC76-5BCE-6A2D109B8EDB}"/>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3" name="Picture Placeholder 12">
            <a:extLst>
              <a:ext uri="{FF2B5EF4-FFF2-40B4-BE49-F238E27FC236}">
                <a16:creationId xmlns:a16="http://schemas.microsoft.com/office/drawing/2014/main" id="{04B738B6-E606-753D-F43C-ADBDF91B7E2D}"/>
              </a:ext>
            </a:extLst>
          </p:cNvPr>
          <p:cNvSpPr>
            <a:spLocks noGrp="1"/>
          </p:cNvSpPr>
          <p:nvPr>
            <p:ph type="pic" sz="quarter" idx="16" hasCustomPrompt="1"/>
          </p:nvPr>
        </p:nvSpPr>
        <p:spPr>
          <a:xfrm>
            <a:off x="6689725" y="355598"/>
            <a:ext cx="5502275" cy="6146801"/>
          </a:xfrm>
          <a:custGeom>
            <a:avLst/>
            <a:gdLst>
              <a:gd name="connsiteX0" fmla="*/ 0 w 5502275"/>
              <a:gd name="connsiteY0" fmla="*/ 0 h 6135556"/>
              <a:gd name="connsiteX1" fmla="*/ 5502275 w 5502275"/>
              <a:gd name="connsiteY1" fmla="*/ 0 h 6135556"/>
              <a:gd name="connsiteX2" fmla="*/ 5502275 w 5502275"/>
              <a:gd name="connsiteY2" fmla="*/ 218283 h 6135556"/>
              <a:gd name="connsiteX3" fmla="*/ 5502275 w 5502275"/>
              <a:gd name="connsiteY3" fmla="*/ 1268413 h 6135556"/>
              <a:gd name="connsiteX4" fmla="*/ 5502275 w 5502275"/>
              <a:gd name="connsiteY4" fmla="*/ 1731805 h 6135556"/>
              <a:gd name="connsiteX5" fmla="*/ 2676409 w 5502275"/>
              <a:gd name="connsiteY5" fmla="*/ 1731805 h 6135556"/>
              <a:gd name="connsiteX6" fmla="*/ 2676409 w 5502275"/>
              <a:gd name="connsiteY6" fmla="*/ 2311877 h 6135556"/>
              <a:gd name="connsiteX7" fmla="*/ 4972425 w 5502275"/>
              <a:gd name="connsiteY7" fmla="*/ 2311877 h 6135556"/>
              <a:gd name="connsiteX8" fmla="*/ 4972425 w 5502275"/>
              <a:gd name="connsiteY8" fmla="*/ 3825399 h 6135556"/>
              <a:gd name="connsiteX9" fmla="*/ 2676409 w 5502275"/>
              <a:gd name="connsiteY9" fmla="*/ 3825399 h 6135556"/>
              <a:gd name="connsiteX10" fmla="*/ 2676409 w 5502275"/>
              <a:gd name="connsiteY10" fmla="*/ 4414997 h 6135556"/>
              <a:gd name="connsiteX11" fmla="*/ 5502275 w 5502275"/>
              <a:gd name="connsiteY11" fmla="*/ 4414997 h 6135556"/>
              <a:gd name="connsiteX12" fmla="*/ 5502275 w 5502275"/>
              <a:gd name="connsiteY12" fmla="*/ 4867143 h 6135556"/>
              <a:gd name="connsiteX13" fmla="*/ 5502275 w 5502275"/>
              <a:gd name="connsiteY13" fmla="*/ 5928519 h 6135556"/>
              <a:gd name="connsiteX14" fmla="*/ 5502275 w 5502275"/>
              <a:gd name="connsiteY14" fmla="*/ 6135556 h 6135556"/>
              <a:gd name="connsiteX15" fmla="*/ 0 w 5502275"/>
              <a:gd name="connsiteY15" fmla="*/ 6135556 h 6135556"/>
              <a:gd name="connsiteX16" fmla="*/ 0 w 5502275"/>
              <a:gd name="connsiteY16" fmla="*/ 4867143 h 6135556"/>
              <a:gd name="connsiteX17" fmla="*/ 501 w 5502275"/>
              <a:gd name="connsiteY17" fmla="*/ 4867143 h 6135556"/>
              <a:gd name="connsiteX18" fmla="*/ 501 w 5502275"/>
              <a:gd name="connsiteY18" fmla="*/ 1268413 h 6135556"/>
              <a:gd name="connsiteX19" fmla="*/ 0 w 5502275"/>
              <a:gd name="connsiteY19" fmla="*/ 1268413 h 6135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502275" h="6135556">
                <a:moveTo>
                  <a:pt x="0" y="0"/>
                </a:moveTo>
                <a:lnTo>
                  <a:pt x="5502275" y="0"/>
                </a:lnTo>
                <a:lnTo>
                  <a:pt x="5502275" y="218283"/>
                </a:lnTo>
                <a:lnTo>
                  <a:pt x="5502275" y="1268413"/>
                </a:lnTo>
                <a:lnTo>
                  <a:pt x="5502275" y="1731805"/>
                </a:lnTo>
                <a:lnTo>
                  <a:pt x="2676409" y="1731805"/>
                </a:lnTo>
                <a:lnTo>
                  <a:pt x="2676409" y="2311877"/>
                </a:lnTo>
                <a:lnTo>
                  <a:pt x="4972425" y="2311877"/>
                </a:lnTo>
                <a:lnTo>
                  <a:pt x="4972425" y="3825399"/>
                </a:lnTo>
                <a:lnTo>
                  <a:pt x="2676409" y="3825399"/>
                </a:lnTo>
                <a:lnTo>
                  <a:pt x="2676409" y="4414997"/>
                </a:lnTo>
                <a:lnTo>
                  <a:pt x="5502275" y="4414997"/>
                </a:lnTo>
                <a:lnTo>
                  <a:pt x="5502275" y="4867143"/>
                </a:lnTo>
                <a:lnTo>
                  <a:pt x="5502275" y="5928519"/>
                </a:lnTo>
                <a:lnTo>
                  <a:pt x="5502275" y="6135556"/>
                </a:lnTo>
                <a:lnTo>
                  <a:pt x="0" y="6135556"/>
                </a:lnTo>
                <a:lnTo>
                  <a:pt x="0" y="4867143"/>
                </a:lnTo>
                <a:lnTo>
                  <a:pt x="501" y="4867143"/>
                </a:lnTo>
                <a:lnTo>
                  <a:pt x="501" y="1268413"/>
                </a:lnTo>
                <a:lnTo>
                  <a:pt x="0" y="1268413"/>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10" name="Text Placeholder 17">
            <a:extLst>
              <a:ext uri="{FF2B5EF4-FFF2-40B4-BE49-F238E27FC236}">
                <a16:creationId xmlns:a16="http://schemas.microsoft.com/office/drawing/2014/main" id="{1E88AEE2-3A55-B667-5D40-BB6299F48205}"/>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11" name="Text Placeholder 17">
            <a:extLst>
              <a:ext uri="{FF2B5EF4-FFF2-40B4-BE49-F238E27FC236}">
                <a16:creationId xmlns:a16="http://schemas.microsoft.com/office/drawing/2014/main" id="{D376FEF2-D482-FF48-0E21-E85BCDCAE008}"/>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E35B847D-2BA6-4533-FDD7-9CCF9A96A36C}"/>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766630134"/>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387922876"/>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p:cSld name="Headline">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Tree>
    <p:extLst>
      <p:ext uri="{BB962C8B-B14F-4D97-AF65-F5344CB8AC3E}">
        <p14:creationId xmlns:p14="http://schemas.microsoft.com/office/powerpoint/2010/main" val="656370516"/>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p:cSld name="Headline-Copy">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6" name="Text Placeholder 5">
            <a:extLst>
              <a:ext uri="{FF2B5EF4-FFF2-40B4-BE49-F238E27FC236}">
                <a16:creationId xmlns:a16="http://schemas.microsoft.com/office/drawing/2014/main" id="{9D09DD77-3C7C-EEB6-765D-0ED3FE5F28B3}"/>
              </a:ext>
            </a:extLst>
          </p:cNvPr>
          <p:cNvSpPr>
            <a:spLocks noGrp="1"/>
          </p:cNvSpPr>
          <p:nvPr>
            <p:ph type="body" sz="quarter" idx="11"/>
          </p:nvPr>
        </p:nvSpPr>
        <p:spPr>
          <a:xfrm>
            <a:off x="522287" y="1056958"/>
            <a:ext cx="11122188" cy="5100637"/>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Tree>
    <p:extLst>
      <p:ext uri="{BB962C8B-B14F-4D97-AF65-F5344CB8AC3E}">
        <p14:creationId xmlns:p14="http://schemas.microsoft.com/office/powerpoint/2010/main" val="2949732871"/>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p:cSld name="Content-01">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8599914" cy="278794"/>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229208"/>
            <a:ext cx="8599914" cy="597151"/>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012872"/>
            <a:ext cx="8599572"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Tree>
    <p:extLst>
      <p:ext uri="{BB962C8B-B14F-4D97-AF65-F5344CB8AC3E}">
        <p14:creationId xmlns:p14="http://schemas.microsoft.com/office/powerpoint/2010/main" val="3230086795"/>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p:cSld name="Content-02">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529440"/>
            <a:ext cx="4757015"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4" name="Text Placeholder 17">
            <a:extLst>
              <a:ext uri="{FF2B5EF4-FFF2-40B4-BE49-F238E27FC236}">
                <a16:creationId xmlns:a16="http://schemas.microsoft.com/office/drawing/2014/main" id="{D20FA87A-09E8-BDB2-1C69-54F54B22BE31}"/>
              </a:ext>
            </a:extLst>
          </p:cNvPr>
          <p:cNvSpPr>
            <a:spLocks noGrp="1"/>
          </p:cNvSpPr>
          <p:nvPr>
            <p:ph type="body" sz="quarter" idx="15" hasCustomPrompt="1"/>
          </p:nvPr>
        </p:nvSpPr>
        <p:spPr>
          <a:xfrm>
            <a:off x="630383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6" name="Text Placeholder 8">
            <a:extLst>
              <a:ext uri="{FF2B5EF4-FFF2-40B4-BE49-F238E27FC236}">
                <a16:creationId xmlns:a16="http://schemas.microsoft.com/office/drawing/2014/main" id="{349B6786-5FA4-2087-2C3C-22F8A8E171CC}"/>
              </a:ext>
            </a:extLst>
          </p:cNvPr>
          <p:cNvSpPr>
            <a:spLocks noGrp="1"/>
          </p:cNvSpPr>
          <p:nvPr>
            <p:ph type="body" sz="quarter" idx="16" hasCustomPrompt="1"/>
          </p:nvPr>
        </p:nvSpPr>
        <p:spPr>
          <a:xfrm>
            <a:off x="630383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7" name="Text Placeholder 12">
            <a:extLst>
              <a:ext uri="{FF2B5EF4-FFF2-40B4-BE49-F238E27FC236}">
                <a16:creationId xmlns:a16="http://schemas.microsoft.com/office/drawing/2014/main" id="{86BD890A-D326-FD3F-EDA2-9599F756B623}"/>
              </a:ext>
            </a:extLst>
          </p:cNvPr>
          <p:cNvSpPr>
            <a:spLocks noGrp="1"/>
          </p:cNvSpPr>
          <p:nvPr>
            <p:ph type="body" sz="quarter" idx="17"/>
          </p:nvPr>
        </p:nvSpPr>
        <p:spPr>
          <a:xfrm>
            <a:off x="6303555" y="3529440"/>
            <a:ext cx="4757015"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Tree>
    <p:extLst>
      <p:ext uri="{BB962C8B-B14F-4D97-AF65-F5344CB8AC3E}">
        <p14:creationId xmlns:p14="http://schemas.microsoft.com/office/powerpoint/2010/main" val="932702925"/>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p:cSld name="Content-03">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3216914"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16" name="Text Placeholder 17">
            <a:extLst>
              <a:ext uri="{FF2B5EF4-FFF2-40B4-BE49-F238E27FC236}">
                <a16:creationId xmlns:a16="http://schemas.microsoft.com/office/drawing/2014/main" id="{5A431E8C-C0AC-DBC9-2391-1C619D591E69}"/>
              </a:ext>
            </a:extLst>
          </p:cNvPr>
          <p:cNvSpPr>
            <a:spLocks noGrp="1"/>
          </p:cNvSpPr>
          <p:nvPr>
            <p:ph type="body" sz="quarter" idx="15" hasCustomPrompt="1"/>
          </p:nvPr>
        </p:nvSpPr>
        <p:spPr>
          <a:xfrm>
            <a:off x="439375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7" name="Text Placeholder 8">
            <a:extLst>
              <a:ext uri="{FF2B5EF4-FFF2-40B4-BE49-F238E27FC236}">
                <a16:creationId xmlns:a16="http://schemas.microsoft.com/office/drawing/2014/main" id="{7C89246B-18AE-5DA8-795F-679BD7C0617D}"/>
              </a:ext>
            </a:extLst>
          </p:cNvPr>
          <p:cNvSpPr>
            <a:spLocks noGrp="1"/>
          </p:cNvSpPr>
          <p:nvPr>
            <p:ph type="body" sz="quarter" idx="16" hasCustomPrompt="1"/>
          </p:nvPr>
        </p:nvSpPr>
        <p:spPr>
          <a:xfrm>
            <a:off x="439375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8" name="Text Placeholder 12">
            <a:extLst>
              <a:ext uri="{FF2B5EF4-FFF2-40B4-BE49-F238E27FC236}">
                <a16:creationId xmlns:a16="http://schemas.microsoft.com/office/drawing/2014/main" id="{4F617632-1F8F-2092-32FC-7367A36B4B50}"/>
              </a:ext>
            </a:extLst>
          </p:cNvPr>
          <p:cNvSpPr>
            <a:spLocks noGrp="1"/>
          </p:cNvSpPr>
          <p:nvPr>
            <p:ph type="body" sz="quarter" idx="17"/>
          </p:nvPr>
        </p:nvSpPr>
        <p:spPr>
          <a:xfrm>
            <a:off x="4393475" y="3740277"/>
            <a:ext cx="3216914"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19" name="Text Placeholder 17">
            <a:extLst>
              <a:ext uri="{FF2B5EF4-FFF2-40B4-BE49-F238E27FC236}">
                <a16:creationId xmlns:a16="http://schemas.microsoft.com/office/drawing/2014/main" id="{03C76AD3-B446-33B3-D6A6-D34A7B1A9CA9}"/>
              </a:ext>
            </a:extLst>
          </p:cNvPr>
          <p:cNvSpPr>
            <a:spLocks noGrp="1"/>
          </p:cNvSpPr>
          <p:nvPr>
            <p:ph type="body" sz="quarter" idx="18" hasCustomPrompt="1"/>
          </p:nvPr>
        </p:nvSpPr>
        <p:spPr>
          <a:xfrm>
            <a:off x="826471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20" name="Text Placeholder 8">
            <a:extLst>
              <a:ext uri="{FF2B5EF4-FFF2-40B4-BE49-F238E27FC236}">
                <a16:creationId xmlns:a16="http://schemas.microsoft.com/office/drawing/2014/main" id="{EA4DB68B-5ABD-7BD4-0D0C-E218D955694D}"/>
              </a:ext>
            </a:extLst>
          </p:cNvPr>
          <p:cNvSpPr>
            <a:spLocks noGrp="1"/>
          </p:cNvSpPr>
          <p:nvPr>
            <p:ph type="body" sz="quarter" idx="19" hasCustomPrompt="1"/>
          </p:nvPr>
        </p:nvSpPr>
        <p:spPr>
          <a:xfrm>
            <a:off x="826471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21" name="Text Placeholder 12">
            <a:extLst>
              <a:ext uri="{FF2B5EF4-FFF2-40B4-BE49-F238E27FC236}">
                <a16:creationId xmlns:a16="http://schemas.microsoft.com/office/drawing/2014/main" id="{9E284295-AA76-A820-A4B4-F649763A5346}"/>
              </a:ext>
            </a:extLst>
          </p:cNvPr>
          <p:cNvSpPr>
            <a:spLocks noGrp="1"/>
          </p:cNvSpPr>
          <p:nvPr>
            <p:ph type="body" sz="quarter" idx="20"/>
          </p:nvPr>
        </p:nvSpPr>
        <p:spPr>
          <a:xfrm>
            <a:off x="8264435" y="3740277"/>
            <a:ext cx="3216914"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Tree>
    <p:extLst>
      <p:ext uri="{BB962C8B-B14F-4D97-AF65-F5344CB8AC3E}">
        <p14:creationId xmlns:p14="http://schemas.microsoft.com/office/powerpoint/2010/main" val="1843228668"/>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p:cSld name="Content-04">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86"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86"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2478986" cy="1294137"/>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4" name="Text Placeholder 17">
            <a:extLst>
              <a:ext uri="{FF2B5EF4-FFF2-40B4-BE49-F238E27FC236}">
                <a16:creationId xmlns:a16="http://schemas.microsoft.com/office/drawing/2014/main" id="{A7841F65-A264-9942-011F-C0257234F038}"/>
              </a:ext>
            </a:extLst>
          </p:cNvPr>
          <p:cNvSpPr>
            <a:spLocks noGrp="1"/>
          </p:cNvSpPr>
          <p:nvPr>
            <p:ph type="body" sz="quarter" idx="15" hasCustomPrompt="1"/>
          </p:nvPr>
        </p:nvSpPr>
        <p:spPr>
          <a:xfrm>
            <a:off x="3370044"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6" name="Text Placeholder 8">
            <a:extLst>
              <a:ext uri="{FF2B5EF4-FFF2-40B4-BE49-F238E27FC236}">
                <a16:creationId xmlns:a16="http://schemas.microsoft.com/office/drawing/2014/main" id="{C15516F4-558F-C634-22F7-1F2C190C2A1A}"/>
              </a:ext>
            </a:extLst>
          </p:cNvPr>
          <p:cNvSpPr>
            <a:spLocks noGrp="1"/>
          </p:cNvSpPr>
          <p:nvPr>
            <p:ph type="body" sz="quarter" idx="16" hasCustomPrompt="1"/>
          </p:nvPr>
        </p:nvSpPr>
        <p:spPr>
          <a:xfrm>
            <a:off x="3370044"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7" name="Text Placeholder 12">
            <a:extLst>
              <a:ext uri="{FF2B5EF4-FFF2-40B4-BE49-F238E27FC236}">
                <a16:creationId xmlns:a16="http://schemas.microsoft.com/office/drawing/2014/main" id="{D46D04B0-DA90-F948-8623-D10B3ED438A3}"/>
              </a:ext>
            </a:extLst>
          </p:cNvPr>
          <p:cNvSpPr>
            <a:spLocks noGrp="1"/>
          </p:cNvSpPr>
          <p:nvPr>
            <p:ph type="body" sz="quarter" idx="17"/>
          </p:nvPr>
        </p:nvSpPr>
        <p:spPr>
          <a:xfrm>
            <a:off x="3369773" y="3740277"/>
            <a:ext cx="2478986" cy="1294137"/>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8" name="Text Placeholder 17">
            <a:extLst>
              <a:ext uri="{FF2B5EF4-FFF2-40B4-BE49-F238E27FC236}">
                <a16:creationId xmlns:a16="http://schemas.microsoft.com/office/drawing/2014/main" id="{C45E5508-18D4-B8A0-9554-18C8CC7BA633}"/>
              </a:ext>
            </a:extLst>
          </p:cNvPr>
          <p:cNvSpPr>
            <a:spLocks noGrp="1"/>
          </p:cNvSpPr>
          <p:nvPr>
            <p:ph type="body" sz="quarter" idx="18" hasCustomPrompt="1"/>
          </p:nvPr>
        </p:nvSpPr>
        <p:spPr>
          <a:xfrm>
            <a:off x="6217771"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0" name="Text Placeholder 8">
            <a:extLst>
              <a:ext uri="{FF2B5EF4-FFF2-40B4-BE49-F238E27FC236}">
                <a16:creationId xmlns:a16="http://schemas.microsoft.com/office/drawing/2014/main" id="{9B9FC0B2-A2E1-EE23-DD92-95D99FB7FCBC}"/>
              </a:ext>
            </a:extLst>
          </p:cNvPr>
          <p:cNvSpPr>
            <a:spLocks noGrp="1"/>
          </p:cNvSpPr>
          <p:nvPr>
            <p:ph type="body" sz="quarter" idx="19" hasCustomPrompt="1"/>
          </p:nvPr>
        </p:nvSpPr>
        <p:spPr>
          <a:xfrm>
            <a:off x="6217771"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1" name="Text Placeholder 12">
            <a:extLst>
              <a:ext uri="{FF2B5EF4-FFF2-40B4-BE49-F238E27FC236}">
                <a16:creationId xmlns:a16="http://schemas.microsoft.com/office/drawing/2014/main" id="{9AD3BD22-757B-EEDC-2BED-851D01FAD009}"/>
              </a:ext>
            </a:extLst>
          </p:cNvPr>
          <p:cNvSpPr>
            <a:spLocks noGrp="1"/>
          </p:cNvSpPr>
          <p:nvPr>
            <p:ph type="body" sz="quarter" idx="20"/>
          </p:nvPr>
        </p:nvSpPr>
        <p:spPr>
          <a:xfrm>
            <a:off x="6217500" y="3740277"/>
            <a:ext cx="2478986" cy="1294137"/>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12" name="Text Placeholder 17">
            <a:extLst>
              <a:ext uri="{FF2B5EF4-FFF2-40B4-BE49-F238E27FC236}">
                <a16:creationId xmlns:a16="http://schemas.microsoft.com/office/drawing/2014/main" id="{5E75D8B7-36BA-C036-3008-ED7181EA29CE}"/>
              </a:ext>
            </a:extLst>
          </p:cNvPr>
          <p:cNvSpPr>
            <a:spLocks noGrp="1"/>
          </p:cNvSpPr>
          <p:nvPr>
            <p:ph type="body" sz="quarter" idx="21" hasCustomPrompt="1"/>
          </p:nvPr>
        </p:nvSpPr>
        <p:spPr>
          <a:xfrm>
            <a:off x="9065399"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4" name="Text Placeholder 8">
            <a:extLst>
              <a:ext uri="{FF2B5EF4-FFF2-40B4-BE49-F238E27FC236}">
                <a16:creationId xmlns:a16="http://schemas.microsoft.com/office/drawing/2014/main" id="{BD2C72CE-2AC1-03E8-EC6E-6628A5C8EE8B}"/>
              </a:ext>
            </a:extLst>
          </p:cNvPr>
          <p:cNvSpPr>
            <a:spLocks noGrp="1"/>
          </p:cNvSpPr>
          <p:nvPr>
            <p:ph type="body" sz="quarter" idx="22" hasCustomPrompt="1"/>
          </p:nvPr>
        </p:nvSpPr>
        <p:spPr>
          <a:xfrm>
            <a:off x="9065399"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5" name="Text Placeholder 12">
            <a:extLst>
              <a:ext uri="{FF2B5EF4-FFF2-40B4-BE49-F238E27FC236}">
                <a16:creationId xmlns:a16="http://schemas.microsoft.com/office/drawing/2014/main" id="{C86AC0A8-2096-FDDC-FEAB-27E8D3456BF7}"/>
              </a:ext>
            </a:extLst>
          </p:cNvPr>
          <p:cNvSpPr>
            <a:spLocks noGrp="1"/>
          </p:cNvSpPr>
          <p:nvPr>
            <p:ph type="body" sz="quarter" idx="23"/>
          </p:nvPr>
        </p:nvSpPr>
        <p:spPr>
          <a:xfrm>
            <a:off x="9065128" y="3740277"/>
            <a:ext cx="2478986" cy="1294137"/>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Tree>
    <p:extLst>
      <p:ext uri="{BB962C8B-B14F-4D97-AF65-F5344CB8AC3E}">
        <p14:creationId xmlns:p14="http://schemas.microsoft.com/office/powerpoint/2010/main" val="1723910154"/>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1CE7E595-5C3F-0BAF-330D-65E2AD801F66}"/>
              </a:ext>
            </a:extLst>
          </p:cNvPr>
          <p:cNvSpPr>
            <a:spLocks noGrp="1"/>
          </p:cNvSpPr>
          <p:nvPr>
            <p:ph type="body" sz="quarter" idx="18" hasCustomPrompt="1"/>
          </p:nvPr>
        </p:nvSpPr>
        <p:spPr>
          <a:xfrm>
            <a:off x="4571323" y="1133918"/>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9" name="Text Placeholder 7">
            <a:extLst>
              <a:ext uri="{FF2B5EF4-FFF2-40B4-BE49-F238E27FC236}">
                <a16:creationId xmlns:a16="http://schemas.microsoft.com/office/drawing/2014/main" id="{00B49552-BA81-9DEE-DBCE-F9356D66374D}"/>
              </a:ext>
            </a:extLst>
          </p:cNvPr>
          <p:cNvSpPr>
            <a:spLocks noGrp="1"/>
          </p:cNvSpPr>
          <p:nvPr>
            <p:ph type="body" sz="quarter" idx="19" hasCustomPrompt="1"/>
          </p:nvPr>
        </p:nvSpPr>
        <p:spPr>
          <a:xfrm>
            <a:off x="4571323" y="1793136"/>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0" name="Text Placeholder 7">
            <a:extLst>
              <a:ext uri="{FF2B5EF4-FFF2-40B4-BE49-F238E27FC236}">
                <a16:creationId xmlns:a16="http://schemas.microsoft.com/office/drawing/2014/main" id="{03CD231C-30AC-3339-A90C-FF099FDCE126}"/>
              </a:ext>
            </a:extLst>
          </p:cNvPr>
          <p:cNvSpPr>
            <a:spLocks noGrp="1"/>
          </p:cNvSpPr>
          <p:nvPr>
            <p:ph type="body" sz="quarter" idx="20" hasCustomPrompt="1"/>
          </p:nvPr>
        </p:nvSpPr>
        <p:spPr>
          <a:xfrm>
            <a:off x="4571323" y="2452355"/>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1" name="Text Placeholder 7">
            <a:extLst>
              <a:ext uri="{FF2B5EF4-FFF2-40B4-BE49-F238E27FC236}">
                <a16:creationId xmlns:a16="http://schemas.microsoft.com/office/drawing/2014/main" id="{8982B152-EDC0-3186-CD84-DAB96BF42494}"/>
              </a:ext>
            </a:extLst>
          </p:cNvPr>
          <p:cNvSpPr>
            <a:spLocks noGrp="1"/>
          </p:cNvSpPr>
          <p:nvPr>
            <p:ph type="body" sz="quarter" idx="21" hasCustomPrompt="1"/>
          </p:nvPr>
        </p:nvSpPr>
        <p:spPr>
          <a:xfrm>
            <a:off x="4571323" y="3111573"/>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8" name="Text Placeholder 7">
            <a:extLst>
              <a:ext uri="{FF2B5EF4-FFF2-40B4-BE49-F238E27FC236}">
                <a16:creationId xmlns:a16="http://schemas.microsoft.com/office/drawing/2014/main" id="{356610AF-C4CC-A0BF-AEC5-6E3BDD36D990}"/>
              </a:ext>
            </a:extLst>
          </p:cNvPr>
          <p:cNvSpPr>
            <a:spLocks noGrp="1"/>
          </p:cNvSpPr>
          <p:nvPr>
            <p:ph type="body" sz="quarter" idx="22" hasCustomPrompt="1"/>
          </p:nvPr>
        </p:nvSpPr>
        <p:spPr>
          <a:xfrm>
            <a:off x="4571323" y="3770791"/>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9" name="Text Placeholder 7">
            <a:extLst>
              <a:ext uri="{FF2B5EF4-FFF2-40B4-BE49-F238E27FC236}">
                <a16:creationId xmlns:a16="http://schemas.microsoft.com/office/drawing/2014/main" id="{71249665-4BF1-BC80-9E3E-27C6AC131E05}"/>
              </a:ext>
            </a:extLst>
          </p:cNvPr>
          <p:cNvSpPr>
            <a:spLocks noGrp="1"/>
          </p:cNvSpPr>
          <p:nvPr>
            <p:ph type="body" sz="quarter" idx="23" hasCustomPrompt="1"/>
          </p:nvPr>
        </p:nvSpPr>
        <p:spPr>
          <a:xfrm>
            <a:off x="4571323" y="4430010"/>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20" name="Text Placeholder 7">
            <a:extLst>
              <a:ext uri="{FF2B5EF4-FFF2-40B4-BE49-F238E27FC236}">
                <a16:creationId xmlns:a16="http://schemas.microsoft.com/office/drawing/2014/main" id="{5AF120EB-8D6E-49DB-0DA5-20F61C819518}"/>
              </a:ext>
            </a:extLst>
          </p:cNvPr>
          <p:cNvSpPr>
            <a:spLocks noGrp="1"/>
          </p:cNvSpPr>
          <p:nvPr>
            <p:ph type="body" sz="quarter" idx="24" hasCustomPrompt="1"/>
          </p:nvPr>
        </p:nvSpPr>
        <p:spPr>
          <a:xfrm>
            <a:off x="4571323" y="5089229"/>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pic>
        <p:nvPicPr>
          <p:cNvPr id="21" name="Graphic 20">
            <a:extLst>
              <a:ext uri="{FF2B5EF4-FFF2-40B4-BE49-F238E27FC236}">
                <a16:creationId xmlns:a16="http://schemas.microsoft.com/office/drawing/2014/main" id="{B6EDFCBE-296B-864F-13E7-245D40ED0C39}"/>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647542" y="1793136"/>
            <a:ext cx="789191" cy="789191"/>
          </a:xfrm>
          <a:prstGeom prst="rect">
            <a:avLst/>
          </a:prstGeom>
        </p:spPr>
      </p:pic>
      <p:pic>
        <p:nvPicPr>
          <p:cNvPr id="22" name="Graphic 21">
            <a:extLst>
              <a:ext uri="{FF2B5EF4-FFF2-40B4-BE49-F238E27FC236}">
                <a16:creationId xmlns:a16="http://schemas.microsoft.com/office/drawing/2014/main" id="{D5A0CFA2-F296-A8B7-CB70-C9D00D9E3C9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 Placeholder 17">
            <a:extLst>
              <a:ext uri="{FF2B5EF4-FFF2-40B4-BE49-F238E27FC236}">
                <a16:creationId xmlns:a16="http://schemas.microsoft.com/office/drawing/2014/main" id="{7CD097DB-9618-CDB1-1F1F-B033BC4801EA}"/>
              </a:ext>
            </a:extLst>
          </p:cNvPr>
          <p:cNvSpPr>
            <a:spLocks noGrp="1"/>
          </p:cNvSpPr>
          <p:nvPr>
            <p:ph type="body" sz="quarter" idx="10" hasCustomPrompt="1"/>
          </p:nvPr>
        </p:nvSpPr>
        <p:spPr>
          <a:xfrm>
            <a:off x="352660" y="2735750"/>
            <a:ext cx="3358665" cy="944810"/>
          </a:xfrm>
        </p:spPr>
        <p:txBody>
          <a:bodyPr wrap="square">
            <a:spAutoFit/>
          </a:bodyPr>
          <a:lstStyle>
            <a:lvl1pPr marL="0" indent="0" algn="ctr">
              <a:lnSpc>
                <a:spcPct val="90000"/>
              </a:lnSpc>
              <a:spcBef>
                <a:spcPts val="0"/>
              </a:spcBef>
              <a:buNone/>
              <a:defRPr sz="3400" b="1">
                <a:solidFill>
                  <a:schemeClr val="bg1"/>
                </a:solidFill>
              </a:defRPr>
            </a:lvl1pPr>
          </a:lstStyle>
          <a:p>
            <a:pPr lvl="0"/>
            <a:r>
              <a:rPr lang="en-US" dirty="0"/>
              <a:t>Agenda or Table of Contents</a:t>
            </a:r>
          </a:p>
        </p:txBody>
      </p:sp>
    </p:spTree>
    <p:extLst>
      <p:ext uri="{BB962C8B-B14F-4D97-AF65-F5344CB8AC3E}">
        <p14:creationId xmlns:p14="http://schemas.microsoft.com/office/powerpoint/2010/main" val="2126193895"/>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p:cSld name="Breaker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10" name="TextBox 9">
            <a:extLst>
              <a:ext uri="{FF2B5EF4-FFF2-40B4-BE49-F238E27FC236}">
                <a16:creationId xmlns:a16="http://schemas.microsoft.com/office/drawing/2014/main" id="{490D0730-EC65-31BF-A4FA-992A99E0E4CF}"/>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2151029610"/>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p:cSld name="Breaker Dark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BE3200C5-B5A9-AC44-9200-784DFC63364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A2BD6F6F-F10E-C53F-032B-188519D8D1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2" name="TextBox 1">
            <a:extLst>
              <a:ext uri="{FF2B5EF4-FFF2-40B4-BE49-F238E27FC236}">
                <a16:creationId xmlns:a16="http://schemas.microsoft.com/office/drawing/2014/main" id="{8460C111-1CB1-186F-BF66-55001B5779EA}"/>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1528631903"/>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p:cSld name="Breaker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tx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642BD9AE-C83A-9EF9-F573-61A0E81EA594}"/>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2157898480"/>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p:cSld name="PUR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563089" y="3740277"/>
            <a:ext cx="523271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2" name="Graphic 1">
            <a:extLst>
              <a:ext uri="{FF2B5EF4-FFF2-40B4-BE49-F238E27FC236}">
                <a16:creationId xmlns:a16="http://schemas.microsoft.com/office/drawing/2014/main" id="{017A8F2F-9330-25BE-0D2E-902E66CDE27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893274870"/>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p:cSld name="Gray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12" name="Graphic 11">
            <a:extLst>
              <a:ext uri="{FF2B5EF4-FFF2-40B4-BE49-F238E27FC236}">
                <a16:creationId xmlns:a16="http://schemas.microsoft.com/office/drawing/2014/main" id="{989C4F93-BF72-9EDD-88A7-D0623456593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183163564"/>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p:cSld name="Green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12" name="Graphic 11">
            <a:extLst>
              <a:ext uri="{FF2B5EF4-FFF2-40B4-BE49-F238E27FC236}">
                <a16:creationId xmlns:a16="http://schemas.microsoft.com/office/drawing/2014/main" id="{AB1728AA-35B4-4BD9-8922-5A10B50EFB7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220103304"/>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p:cSld name="PUR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2" name="Graphic 1">
            <a:extLst>
              <a:ext uri="{FF2B5EF4-FFF2-40B4-BE49-F238E27FC236}">
                <a16:creationId xmlns:a16="http://schemas.microsoft.com/office/drawing/2014/main" id="{01D50BC8-C95D-425B-652A-2D581ADCD81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4190861589"/>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p:cSld name="Gray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9" name="Graphic 8">
            <a:extLst>
              <a:ext uri="{FF2B5EF4-FFF2-40B4-BE49-F238E27FC236}">
                <a16:creationId xmlns:a16="http://schemas.microsoft.com/office/drawing/2014/main" id="{E5FB72CE-435D-5F45-16B1-4A77B79AF3C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206476953"/>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p:cSld name="Green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9" name="Graphic 8">
            <a:extLst>
              <a:ext uri="{FF2B5EF4-FFF2-40B4-BE49-F238E27FC236}">
                <a16:creationId xmlns:a16="http://schemas.microsoft.com/office/drawing/2014/main" id="{65A4C054-B1C8-E492-ADA1-D665C51553F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73169881"/>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p:cSld name="Image-Right">
    <p:spTree>
      <p:nvGrpSpPr>
        <p:cNvPr id="1" name=""/>
        <p:cNvGrpSpPr/>
        <p:nvPr/>
      </p:nvGrpSpPr>
      <p:grpSpPr>
        <a:xfrm>
          <a:off x="0" y="0"/>
          <a:ext cx="0" cy="0"/>
          <a:chOff x="0" y="0"/>
          <a:chExt cx="0" cy="0"/>
        </a:xfrm>
      </p:grpSpPr>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38630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38630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386035" y="4139291"/>
            <a:ext cx="5008456"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6096000" y="0"/>
            <a:ext cx="6096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282960548"/>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p:cSld name="Image-Lef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6096000" cy="6858000"/>
          </a:xfrm>
        </p:spPr>
        <p:txBody>
          <a:bodyPr anchor="ctr" anchorCtr="0">
            <a:noAutofit/>
          </a:bodyPr>
          <a:lstStyle>
            <a:lvl1pPr marL="0" indent="0" algn="ctr">
              <a:buNone/>
              <a:defRPr/>
            </a:lvl1pPr>
          </a:lstStyle>
          <a:p>
            <a:r>
              <a:rPr lang="en-US" dirty="0"/>
              <a:t>[Click to insert image]</a:t>
            </a:r>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666491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66518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66518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664915" y="4139291"/>
            <a:ext cx="5008456"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Tree>
    <p:extLst>
      <p:ext uri="{BB962C8B-B14F-4D97-AF65-F5344CB8AC3E}">
        <p14:creationId xmlns:p14="http://schemas.microsoft.com/office/powerpoint/2010/main" val="3232188062"/>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p:cSld name="Full Page Ima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12192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1622462621"/>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p:cSld name="EFrame Image Purple">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5AACD76F-5A98-DE42-2012-2E4698A70B32}"/>
              </a:ext>
            </a:extLst>
          </p:cNvPr>
          <p:cNvSpPr/>
          <p:nvPr/>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Picture Placeholder 43">
            <a:extLst>
              <a:ext uri="{FF2B5EF4-FFF2-40B4-BE49-F238E27FC236}">
                <a16:creationId xmlns:a16="http://schemas.microsoft.com/office/drawing/2014/main" id="{C5980322-EF45-73EA-F45B-05C3C55E7CE2}"/>
              </a:ext>
            </a:extLst>
          </p:cNvPr>
          <p:cNvSpPr>
            <a:spLocks noGrp="1"/>
          </p:cNvSpPr>
          <p:nvPr>
            <p:ph type="pic" sz="quarter" idx="13" hasCustomPrompt="1"/>
          </p:nvPr>
        </p:nvSpPr>
        <p:spPr>
          <a:xfrm>
            <a:off x="5337810" y="573881"/>
            <a:ext cx="6854190" cy="5710237"/>
          </a:xfrm>
          <a:custGeom>
            <a:avLst/>
            <a:gdLst>
              <a:gd name="connsiteX0" fmla="*/ 0 w 6854190"/>
              <a:gd name="connsiteY0" fmla="*/ 0 h 5710237"/>
              <a:gd name="connsiteX1" fmla="*/ 3816350 w 6854190"/>
              <a:gd name="connsiteY1" fmla="*/ 0 h 5710237"/>
              <a:gd name="connsiteX2" fmla="*/ 3816350 w 6854190"/>
              <a:gd name="connsiteY2" fmla="*/ 1 h 5710237"/>
              <a:gd name="connsiteX3" fmla="*/ 6854190 w 6854190"/>
              <a:gd name="connsiteY3" fmla="*/ 1 h 5710237"/>
              <a:gd name="connsiteX4" fmla="*/ 6854190 w 6854190"/>
              <a:gd name="connsiteY4" fmla="*/ 1513523 h 5710237"/>
              <a:gd name="connsiteX5" fmla="*/ 3816350 w 6854190"/>
              <a:gd name="connsiteY5" fmla="*/ 1513523 h 5710237"/>
              <a:gd name="connsiteX6" fmla="*/ 3816350 w 6854190"/>
              <a:gd name="connsiteY6" fmla="*/ 2093595 h 5710237"/>
              <a:gd name="connsiteX7" fmla="*/ 6284595 w 6854190"/>
              <a:gd name="connsiteY7" fmla="*/ 2093595 h 5710237"/>
              <a:gd name="connsiteX8" fmla="*/ 6284595 w 6854190"/>
              <a:gd name="connsiteY8" fmla="*/ 3607117 h 5710237"/>
              <a:gd name="connsiteX9" fmla="*/ 3816350 w 6854190"/>
              <a:gd name="connsiteY9" fmla="*/ 3607117 h 5710237"/>
              <a:gd name="connsiteX10" fmla="*/ 3816350 w 6854190"/>
              <a:gd name="connsiteY10" fmla="*/ 4196715 h 5710237"/>
              <a:gd name="connsiteX11" fmla="*/ 6854190 w 6854190"/>
              <a:gd name="connsiteY11" fmla="*/ 4196715 h 5710237"/>
              <a:gd name="connsiteX12" fmla="*/ 6854190 w 6854190"/>
              <a:gd name="connsiteY12" fmla="*/ 5710237 h 5710237"/>
              <a:gd name="connsiteX13" fmla="*/ 3816350 w 6854190"/>
              <a:gd name="connsiteY13" fmla="*/ 5710237 h 5710237"/>
              <a:gd name="connsiteX14" fmla="*/ 3037840 w 6854190"/>
              <a:gd name="connsiteY14" fmla="*/ 5710237 h 5710237"/>
              <a:gd name="connsiteX15" fmla="*/ 0 w 6854190"/>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854190" h="5710237">
                <a:moveTo>
                  <a:pt x="0" y="0"/>
                </a:moveTo>
                <a:lnTo>
                  <a:pt x="3816350" y="0"/>
                </a:lnTo>
                <a:lnTo>
                  <a:pt x="3816350" y="1"/>
                </a:lnTo>
                <a:lnTo>
                  <a:pt x="6854190" y="1"/>
                </a:lnTo>
                <a:lnTo>
                  <a:pt x="6854190" y="1513523"/>
                </a:lnTo>
                <a:lnTo>
                  <a:pt x="3816350" y="1513523"/>
                </a:lnTo>
                <a:lnTo>
                  <a:pt x="3816350" y="2093595"/>
                </a:lnTo>
                <a:lnTo>
                  <a:pt x="6284595" y="2093595"/>
                </a:lnTo>
                <a:lnTo>
                  <a:pt x="6284595" y="3607117"/>
                </a:lnTo>
                <a:lnTo>
                  <a:pt x="3816350" y="3607117"/>
                </a:lnTo>
                <a:lnTo>
                  <a:pt x="3816350" y="4196715"/>
                </a:lnTo>
                <a:lnTo>
                  <a:pt x="6854190" y="4196715"/>
                </a:lnTo>
                <a:lnTo>
                  <a:pt x="6854190" y="5710237"/>
                </a:lnTo>
                <a:lnTo>
                  <a:pt x="3816350" y="5710237"/>
                </a:lnTo>
                <a:lnTo>
                  <a:pt x="3037840"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7" name="Text Placeholder 17">
            <a:extLst>
              <a:ext uri="{FF2B5EF4-FFF2-40B4-BE49-F238E27FC236}">
                <a16:creationId xmlns:a16="http://schemas.microsoft.com/office/drawing/2014/main" id="{72A36242-E96D-BCC5-8B9A-F727F91C17DD}"/>
              </a:ext>
            </a:extLst>
          </p:cNvPr>
          <p:cNvSpPr>
            <a:spLocks noGrp="1"/>
          </p:cNvSpPr>
          <p:nvPr>
            <p:ph type="body" sz="quarter" idx="10" hasCustomPrompt="1"/>
          </p:nvPr>
        </p:nvSpPr>
        <p:spPr>
          <a:xfrm>
            <a:off x="386035" y="1112251"/>
            <a:ext cx="4317994" cy="944810"/>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endParaRPr lang="en-US" dirty="0"/>
          </a:p>
        </p:txBody>
      </p:sp>
      <p:sp>
        <p:nvSpPr>
          <p:cNvPr id="48" name="Text Placeholder 17">
            <a:extLst>
              <a:ext uri="{FF2B5EF4-FFF2-40B4-BE49-F238E27FC236}">
                <a16:creationId xmlns:a16="http://schemas.microsoft.com/office/drawing/2014/main" id="{E033C30C-F4BF-DEFA-8C82-E924E66CF321}"/>
              </a:ext>
            </a:extLst>
          </p:cNvPr>
          <p:cNvSpPr>
            <a:spLocks noGrp="1"/>
          </p:cNvSpPr>
          <p:nvPr>
            <p:ph type="body" sz="quarter" idx="12" hasCustomPrompt="1"/>
          </p:nvPr>
        </p:nvSpPr>
        <p:spPr>
          <a:xfrm>
            <a:off x="386305" y="2467715"/>
            <a:ext cx="4317775" cy="555793"/>
          </a:xfrm>
        </p:spPr>
        <p:txBody>
          <a:bodyPr wrap="square">
            <a:spAutoFit/>
          </a:bodyPr>
          <a:lstStyle>
            <a:lvl1pPr marL="0" indent="0">
              <a:lnSpc>
                <a:spcPct val="90000"/>
              </a:lnSpc>
              <a:spcBef>
                <a:spcPts val="0"/>
              </a:spcBef>
              <a:buNone/>
              <a:defRPr sz="2000" b="1">
                <a:solidFill>
                  <a:schemeClr val="bg1"/>
                </a:solidFill>
              </a:defRPr>
            </a:lvl1pPr>
          </a:lstStyle>
          <a:p>
            <a:pPr lvl="0"/>
            <a:r>
              <a:rPr lang="en-US" dirty="0"/>
              <a:t>Subhead culpa qui official arum </a:t>
            </a:r>
            <a:r>
              <a:rPr lang="en-US" dirty="0" err="1"/>
              <a:t>quidem</a:t>
            </a:r>
            <a:r>
              <a:rPr lang="en-US" dirty="0"/>
              <a:t> rerum facilis</a:t>
            </a:r>
          </a:p>
        </p:txBody>
      </p:sp>
      <p:sp>
        <p:nvSpPr>
          <p:cNvPr id="49" name="Text Placeholder 8">
            <a:extLst>
              <a:ext uri="{FF2B5EF4-FFF2-40B4-BE49-F238E27FC236}">
                <a16:creationId xmlns:a16="http://schemas.microsoft.com/office/drawing/2014/main" id="{A0F481E4-FC0E-C80A-C2EC-B76F27D262A7}"/>
              </a:ext>
            </a:extLst>
          </p:cNvPr>
          <p:cNvSpPr>
            <a:spLocks noGrp="1"/>
          </p:cNvSpPr>
          <p:nvPr>
            <p:ph type="body" sz="quarter" idx="14" hasCustomPrompt="1"/>
          </p:nvPr>
        </p:nvSpPr>
        <p:spPr>
          <a:xfrm>
            <a:off x="386305" y="3130525"/>
            <a:ext cx="4317775" cy="901850"/>
          </a:xfrm>
        </p:spPr>
        <p:txBody>
          <a:bodyPr wrap="square">
            <a:spAutoFit/>
          </a:bodyPr>
          <a:lstStyle>
            <a:lvl1pPr marL="0" indent="0">
              <a:buNone/>
              <a:defRPr sz="1800">
                <a:solidFill>
                  <a:schemeClr val="bg1"/>
                </a:solidFill>
              </a:defRPr>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a:t>
            </a:r>
          </a:p>
        </p:txBody>
      </p:sp>
      <p:sp>
        <p:nvSpPr>
          <p:cNvPr id="50" name="Text Placeholder 12">
            <a:extLst>
              <a:ext uri="{FF2B5EF4-FFF2-40B4-BE49-F238E27FC236}">
                <a16:creationId xmlns:a16="http://schemas.microsoft.com/office/drawing/2014/main" id="{F28319CA-55ED-F435-6422-E7CAE3A4E5C8}"/>
              </a:ext>
            </a:extLst>
          </p:cNvPr>
          <p:cNvSpPr>
            <a:spLocks noGrp="1"/>
          </p:cNvSpPr>
          <p:nvPr>
            <p:ph type="body" sz="quarter" idx="15"/>
          </p:nvPr>
        </p:nvSpPr>
        <p:spPr>
          <a:xfrm>
            <a:off x="386035" y="4155118"/>
            <a:ext cx="4317603" cy="1684948"/>
          </a:xfrm>
        </p:spPr>
        <p:txBody>
          <a:bodyPr wrap="square">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2" name="Graphic 1">
            <a:extLst>
              <a:ext uri="{FF2B5EF4-FFF2-40B4-BE49-F238E27FC236}">
                <a16:creationId xmlns:a16="http://schemas.microsoft.com/office/drawing/2014/main" id="{E2FA6E33-C1DD-C1DE-7C6F-82957792F31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8D073452-E314-EB2D-1FC4-135DC2D7775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4" name="TextBox 3">
            <a:extLst>
              <a:ext uri="{FF2B5EF4-FFF2-40B4-BE49-F238E27FC236}">
                <a16:creationId xmlns:a16="http://schemas.microsoft.com/office/drawing/2014/main" id="{A28DAA59-27D2-784E-D2A1-F51D07814DEC}"/>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1124299224"/>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p:cSld name="Quote Purpl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bg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bg1"/>
                </a:solidFill>
              </a:defRPr>
            </a:lvl1pPr>
          </a:lstStyle>
          <a:p>
            <a:pPr lvl="0"/>
            <a:r>
              <a:rPr lang="en-US" dirty="0"/>
              <a:t>First &amp; Last Name</a:t>
            </a:r>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2" name="Text Placeholder 17">
            <a:extLst>
              <a:ext uri="{FF2B5EF4-FFF2-40B4-BE49-F238E27FC236}">
                <a16:creationId xmlns:a16="http://schemas.microsoft.com/office/drawing/2014/main" id="{D05DB1F1-ACC3-B191-E3E7-7348B83D3D7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bg1"/>
                </a:solidFill>
              </a:defRPr>
            </a:lvl1pPr>
          </a:lstStyle>
          <a:p>
            <a:pPr lvl="0"/>
            <a:r>
              <a:rPr lang="en-US" dirty="0"/>
              <a:t>Title and Company or Institution</a:t>
            </a:r>
          </a:p>
        </p:txBody>
      </p:sp>
      <p:pic>
        <p:nvPicPr>
          <p:cNvPr id="4" name="Graphic 3">
            <a:extLst>
              <a:ext uri="{FF2B5EF4-FFF2-40B4-BE49-F238E27FC236}">
                <a16:creationId xmlns:a16="http://schemas.microsoft.com/office/drawing/2014/main" id="{3F44E2C7-6484-3A24-48A0-1EC4CE2E334F}"/>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618540" y="1374718"/>
            <a:ext cx="954921" cy="954921"/>
          </a:xfrm>
          <a:prstGeom prst="rect">
            <a:avLst/>
          </a:prstGeom>
        </p:spPr>
      </p:pic>
      <p:sp>
        <p:nvSpPr>
          <p:cNvPr id="8" name="TextBox 7">
            <a:extLst>
              <a:ext uri="{FF2B5EF4-FFF2-40B4-BE49-F238E27FC236}">
                <a16:creationId xmlns:a16="http://schemas.microsoft.com/office/drawing/2014/main" id="{56538370-0C99-95AF-B7F2-D3F6183791A0}"/>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2366940139"/>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p:cSld name="Quote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 Placeholder 17">
            <a:extLst>
              <a:ext uri="{FF2B5EF4-FFF2-40B4-BE49-F238E27FC236}">
                <a16:creationId xmlns:a16="http://schemas.microsoft.com/office/drawing/2014/main" id="{97C25E61-6B43-DBD5-C2CE-87847F39AAE2}"/>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tx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4" name="Text Placeholder 17">
            <a:extLst>
              <a:ext uri="{FF2B5EF4-FFF2-40B4-BE49-F238E27FC236}">
                <a16:creationId xmlns:a16="http://schemas.microsoft.com/office/drawing/2014/main" id="{FCEE0479-D5F9-CE3F-36E7-238BA0F4577F}"/>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tx1"/>
                </a:solidFill>
              </a:defRPr>
            </a:lvl1pPr>
          </a:lstStyle>
          <a:p>
            <a:pPr lvl="0"/>
            <a:r>
              <a:rPr lang="en-US" dirty="0"/>
              <a:t>First &amp; Last Name</a:t>
            </a:r>
          </a:p>
        </p:txBody>
      </p:sp>
      <p:sp>
        <p:nvSpPr>
          <p:cNvPr id="8" name="Text Placeholder 17">
            <a:extLst>
              <a:ext uri="{FF2B5EF4-FFF2-40B4-BE49-F238E27FC236}">
                <a16:creationId xmlns:a16="http://schemas.microsoft.com/office/drawing/2014/main" id="{A76AF4FC-9A53-DBD9-C4E3-8F3D9D7DB7D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tx1"/>
                </a:solidFill>
              </a:defRPr>
            </a:lvl1pPr>
          </a:lstStyle>
          <a:p>
            <a:pPr lvl="0"/>
            <a:r>
              <a:rPr lang="en-US" dirty="0"/>
              <a:t>Title and Company or Institution</a:t>
            </a:r>
          </a:p>
        </p:txBody>
      </p:sp>
      <p:pic>
        <p:nvPicPr>
          <p:cNvPr id="11" name="Graphic 10">
            <a:extLst>
              <a:ext uri="{FF2B5EF4-FFF2-40B4-BE49-F238E27FC236}">
                <a16:creationId xmlns:a16="http://schemas.microsoft.com/office/drawing/2014/main" id="{FF551E89-4ED8-FCF0-7E9B-2446F24111FB}"/>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618540" y="1374718"/>
            <a:ext cx="954921" cy="954921"/>
          </a:xfrm>
          <a:prstGeom prst="rect">
            <a:avLst/>
          </a:prstGeom>
        </p:spPr>
      </p:pic>
      <p:sp>
        <p:nvSpPr>
          <p:cNvPr id="6" name="TextBox 5">
            <a:extLst>
              <a:ext uri="{FF2B5EF4-FFF2-40B4-BE49-F238E27FC236}">
                <a16:creationId xmlns:a16="http://schemas.microsoft.com/office/drawing/2014/main" id="{759FA4B8-B22A-02CB-D4E5-CDAF1F338C84}"/>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3128498965"/>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p:cSld name="Purple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73109"/>
            <a:ext cx="12192000" cy="8815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CC5AC45-371A-D1F2-3506-59FB4F407F5D}"/>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solidFill>
                  <a:schemeClr val="bg1"/>
                </a:solidFill>
              </a:defRPr>
            </a:lvl1pPr>
          </a:lstStyle>
          <a:p>
            <a:pPr lvl="0"/>
            <a:r>
              <a:rPr lang="en-US" dirty="0"/>
              <a:t>Fourth level statement</a:t>
            </a:r>
          </a:p>
        </p:txBody>
      </p:sp>
      <p:pic>
        <p:nvPicPr>
          <p:cNvPr id="2" name="Graphic 1">
            <a:extLst>
              <a:ext uri="{FF2B5EF4-FFF2-40B4-BE49-F238E27FC236}">
                <a16:creationId xmlns:a16="http://schemas.microsoft.com/office/drawing/2014/main" id="{320A3CFF-FF3A-806C-4272-4BD562E4527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83CB4FD4-52E5-7743-832E-878711B6912D}"/>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6" name="TextBox 5">
            <a:extLst>
              <a:ext uri="{FF2B5EF4-FFF2-40B4-BE49-F238E27FC236}">
                <a16:creationId xmlns:a16="http://schemas.microsoft.com/office/drawing/2014/main" id="{8955BA75-BCED-43A8-374C-ED5B5EB749B9}"/>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1059488536"/>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p:cSld name="Green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lvl1pPr>
          </a:lstStyle>
          <a:p>
            <a:pPr lvl="0"/>
            <a:r>
              <a:rPr lang="en-US" dirty="0"/>
              <a:t>Fourth level statement</a:t>
            </a:r>
          </a:p>
        </p:txBody>
      </p:sp>
      <p:sp>
        <p:nvSpPr>
          <p:cNvPr id="2" name="Rectangle 1">
            <a:extLst>
              <a:ext uri="{FF2B5EF4-FFF2-40B4-BE49-F238E27FC236}">
                <a16:creationId xmlns:a16="http://schemas.microsoft.com/office/drawing/2014/main" id="{ABC92165-EA63-BA70-B09C-3AE3A0E3B988}"/>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B8487BB2-49A0-1AD0-6AEA-A6BA00965FB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D645B4-C9BC-C447-40CC-BED53F5C40F2}"/>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4" name="TextBox 3">
            <a:extLst>
              <a:ext uri="{FF2B5EF4-FFF2-40B4-BE49-F238E27FC236}">
                <a16:creationId xmlns:a16="http://schemas.microsoft.com/office/drawing/2014/main" id="{06D9A09A-FC77-0C42-3399-4228AB66473E}"/>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828981067"/>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035BE7A-2092-E334-9925-A2CD0ED61EC1}"/>
              </a:ext>
            </a:extLst>
          </p:cNvPr>
          <p:cNvSpPr txBox="1"/>
          <p:nvPr/>
        </p:nvSpPr>
        <p:spPr>
          <a:xfrm>
            <a:off x="836428" y="2435962"/>
            <a:ext cx="10441173" cy="1769715"/>
          </a:xfrm>
          <a:prstGeom prst="rect">
            <a:avLst/>
          </a:prstGeom>
          <a:noFill/>
        </p:spPr>
        <p:txBody>
          <a:bodyPr wrap="square" lIns="0" tIns="0" rIns="0" bIns="0" rtlCol="0">
            <a:spAutoFit/>
          </a:bodyPr>
          <a:lstStyle/>
          <a:p>
            <a:pPr algn="ctr"/>
            <a:r>
              <a:rPr lang="en-US" sz="11500" b="1" dirty="0">
                <a:solidFill>
                  <a:schemeClr val="bg1"/>
                </a:solidFill>
              </a:rPr>
              <a:t>Thank You</a:t>
            </a:r>
          </a:p>
        </p:txBody>
      </p:sp>
      <p:sp>
        <p:nvSpPr>
          <p:cNvPr id="9" name="Text Placeholder 17">
            <a:extLst>
              <a:ext uri="{FF2B5EF4-FFF2-40B4-BE49-F238E27FC236}">
                <a16:creationId xmlns:a16="http://schemas.microsoft.com/office/drawing/2014/main" id="{C141F636-6F6B-39E0-D74A-E2DC465DEF1A}"/>
              </a:ext>
            </a:extLst>
          </p:cNvPr>
          <p:cNvSpPr>
            <a:spLocks noGrp="1"/>
          </p:cNvSpPr>
          <p:nvPr>
            <p:ph type="body" sz="quarter" idx="11" hasCustomPrompt="1"/>
          </p:nvPr>
        </p:nvSpPr>
        <p:spPr>
          <a:xfrm>
            <a:off x="2556897" y="4302308"/>
            <a:ext cx="7078206" cy="389915"/>
          </a:xfrm>
        </p:spPr>
        <p:txBody>
          <a:bodyPr>
            <a:spAutoFit/>
          </a:bodyPr>
          <a:lstStyle>
            <a:lvl1pPr marL="0" indent="0" algn="ctr">
              <a:spcBef>
                <a:spcPts val="0"/>
              </a:spcBef>
              <a:buNone/>
              <a:defRPr sz="2400" b="1">
                <a:solidFill>
                  <a:schemeClr val="bg1"/>
                </a:solidFill>
              </a:defRPr>
            </a:lvl1pPr>
          </a:lstStyle>
          <a:p>
            <a:pPr lvl="0"/>
            <a:r>
              <a:rPr lang="en-US" dirty="0"/>
              <a:t>Presenter Name</a:t>
            </a:r>
          </a:p>
        </p:txBody>
      </p:sp>
      <p:sp>
        <p:nvSpPr>
          <p:cNvPr id="11" name="Text Placeholder 17">
            <a:extLst>
              <a:ext uri="{FF2B5EF4-FFF2-40B4-BE49-F238E27FC236}">
                <a16:creationId xmlns:a16="http://schemas.microsoft.com/office/drawing/2014/main" id="{15F716EA-D293-96D7-C5A7-61FE08272CBD}"/>
              </a:ext>
            </a:extLst>
          </p:cNvPr>
          <p:cNvSpPr>
            <a:spLocks noGrp="1"/>
          </p:cNvSpPr>
          <p:nvPr>
            <p:ph type="body" sz="quarter" idx="12" hasCustomPrompt="1"/>
          </p:nvPr>
        </p:nvSpPr>
        <p:spPr>
          <a:xfrm>
            <a:off x="2556897" y="4735941"/>
            <a:ext cx="7078206" cy="324961"/>
          </a:xfrm>
        </p:spPr>
        <p:txBody>
          <a:bodyPr>
            <a:spAutoFit/>
          </a:bodyPr>
          <a:lstStyle>
            <a:lvl1pPr marL="0" indent="0" algn="ctr">
              <a:spcBef>
                <a:spcPts val="0"/>
              </a:spcBef>
              <a:buNone/>
              <a:defRPr sz="2000" b="0">
                <a:solidFill>
                  <a:schemeClr val="bg1"/>
                </a:solidFill>
              </a:defRPr>
            </a:lvl1pPr>
          </a:lstStyle>
          <a:p>
            <a:pPr lvl="0"/>
            <a:r>
              <a:rPr lang="en-US" dirty="0" err="1"/>
              <a:t>PresenterEmail@Ellucian.com</a:t>
            </a:r>
            <a:endParaRPr lang="en-US" dirty="0"/>
          </a:p>
        </p:txBody>
      </p:sp>
      <p:pic>
        <p:nvPicPr>
          <p:cNvPr id="2" name="Graphic 1">
            <a:extLst>
              <a:ext uri="{FF2B5EF4-FFF2-40B4-BE49-F238E27FC236}">
                <a16:creationId xmlns:a16="http://schemas.microsoft.com/office/drawing/2014/main" id="{7C871F66-B895-DB0B-1D73-90E74A3951C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53435677-394B-4E5D-4CD3-2D77A2110358}"/>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3270942123"/>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p:cSld name="Question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5" name="TextBox 4">
            <a:extLst>
              <a:ext uri="{FF2B5EF4-FFF2-40B4-BE49-F238E27FC236}">
                <a16:creationId xmlns:a16="http://schemas.microsoft.com/office/drawing/2014/main" id="{58229B27-8CB8-A4DF-B214-C621F3644437}"/>
              </a:ext>
            </a:extLst>
          </p:cNvPr>
          <p:cNvSpPr txBox="1"/>
          <p:nvPr/>
        </p:nvSpPr>
        <p:spPr>
          <a:xfrm>
            <a:off x="836428" y="2544142"/>
            <a:ext cx="10441173" cy="1769715"/>
          </a:xfrm>
          <a:prstGeom prst="rect">
            <a:avLst/>
          </a:prstGeom>
          <a:noFill/>
        </p:spPr>
        <p:txBody>
          <a:bodyPr wrap="square" lIns="0" tIns="0" rIns="0" bIns="0" rtlCol="0">
            <a:spAutoFit/>
          </a:bodyPr>
          <a:lstStyle/>
          <a:p>
            <a:pPr algn="ctr"/>
            <a:r>
              <a:rPr lang="en-US" sz="11500" b="1" dirty="0">
                <a:solidFill>
                  <a:schemeClr val="accent1"/>
                </a:solidFill>
              </a:rPr>
              <a:t>Questions?</a:t>
            </a:r>
          </a:p>
        </p:txBody>
      </p:sp>
      <p:pic>
        <p:nvPicPr>
          <p:cNvPr id="2" name="Graphic 1">
            <a:extLst>
              <a:ext uri="{FF2B5EF4-FFF2-40B4-BE49-F238E27FC236}">
                <a16:creationId xmlns:a16="http://schemas.microsoft.com/office/drawing/2014/main" id="{C0225686-2493-61CB-BED8-8CD6B90C882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6" name="TextBox 5">
            <a:extLst>
              <a:ext uri="{FF2B5EF4-FFF2-40B4-BE49-F238E27FC236}">
                <a16:creationId xmlns:a16="http://schemas.microsoft.com/office/drawing/2014/main" id="{3757E6F9-39D1-A7B6-72FA-6CB25BEA039E}"/>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139396419"/>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userDrawn="1">
  <p:cSld name="Blank Footer Black">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981C625F-C66F-1373-141C-E36C160D0D3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A8E6E8FD-F743-B760-4565-52A5B0B667B8}"/>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4" name="TextBox 3">
            <a:extLst>
              <a:ext uri="{FF2B5EF4-FFF2-40B4-BE49-F238E27FC236}">
                <a16:creationId xmlns:a16="http://schemas.microsoft.com/office/drawing/2014/main" id="{8DF76087-D7C9-C1C3-5E17-263AB892AD6D}"/>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943140838"/>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userDrawn="1">
  <p:cSld name="Blan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221DA2E6-F483-60DE-DF61-B60C10DBDE89}"/>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91970118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image" Target="../media/image1.svg"/><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slideLayout" Target="../slideLayouts/slideLayout46.xml"/><Relationship Id="rId18" Type="http://schemas.openxmlformats.org/officeDocument/2006/relationships/slideLayout" Target="../slideLayouts/slideLayout51.xml"/><Relationship Id="rId3" Type="http://schemas.openxmlformats.org/officeDocument/2006/relationships/slideLayout" Target="../slideLayouts/slideLayout36.xml"/><Relationship Id="rId21" Type="http://schemas.openxmlformats.org/officeDocument/2006/relationships/theme" Target="../theme/theme2.xml"/><Relationship Id="rId7" Type="http://schemas.openxmlformats.org/officeDocument/2006/relationships/slideLayout" Target="../slideLayouts/slideLayout40.xml"/><Relationship Id="rId12" Type="http://schemas.openxmlformats.org/officeDocument/2006/relationships/slideLayout" Target="../slideLayouts/slideLayout45.xml"/><Relationship Id="rId17" Type="http://schemas.openxmlformats.org/officeDocument/2006/relationships/slideLayout" Target="../slideLayouts/slideLayout50.xml"/><Relationship Id="rId2" Type="http://schemas.openxmlformats.org/officeDocument/2006/relationships/slideLayout" Target="../slideLayouts/slideLayout35.xml"/><Relationship Id="rId16" Type="http://schemas.openxmlformats.org/officeDocument/2006/relationships/slideLayout" Target="../slideLayouts/slideLayout49.xml"/><Relationship Id="rId20" Type="http://schemas.openxmlformats.org/officeDocument/2006/relationships/slideLayout" Target="../slideLayouts/slideLayout53.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5" Type="http://schemas.openxmlformats.org/officeDocument/2006/relationships/slideLayout" Target="../slideLayouts/slideLayout48.xml"/><Relationship Id="rId10" Type="http://schemas.openxmlformats.org/officeDocument/2006/relationships/slideLayout" Target="../slideLayouts/slideLayout43.xml"/><Relationship Id="rId19" Type="http://schemas.openxmlformats.org/officeDocument/2006/relationships/slideLayout" Target="../slideLayouts/slideLayout52.xml"/><Relationship Id="rId4" Type="http://schemas.openxmlformats.org/officeDocument/2006/relationships/slideLayout" Target="../slideLayouts/slideLayout37.xml"/><Relationship Id="rId9" Type="http://schemas.openxmlformats.org/officeDocument/2006/relationships/slideLayout" Target="../slideLayouts/slideLayout42.xml"/><Relationship Id="rId14" Type="http://schemas.openxmlformats.org/officeDocument/2006/relationships/slideLayout" Target="../slideLayouts/slideLayout47.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66.xml"/><Relationship Id="rId18" Type="http://schemas.openxmlformats.org/officeDocument/2006/relationships/slideLayout" Target="../slideLayouts/slideLayout71.xml"/><Relationship Id="rId26" Type="http://schemas.openxmlformats.org/officeDocument/2006/relationships/slideLayout" Target="../slideLayouts/slideLayout79.xml"/><Relationship Id="rId21" Type="http://schemas.openxmlformats.org/officeDocument/2006/relationships/slideLayout" Target="../slideLayouts/slideLayout74.xml"/><Relationship Id="rId34" Type="http://schemas.openxmlformats.org/officeDocument/2006/relationships/slideLayout" Target="../slideLayouts/slideLayout87.xml"/><Relationship Id="rId7" Type="http://schemas.openxmlformats.org/officeDocument/2006/relationships/slideLayout" Target="../slideLayouts/slideLayout60.xml"/><Relationship Id="rId12" Type="http://schemas.openxmlformats.org/officeDocument/2006/relationships/slideLayout" Target="../slideLayouts/slideLayout65.xml"/><Relationship Id="rId17" Type="http://schemas.openxmlformats.org/officeDocument/2006/relationships/slideLayout" Target="../slideLayouts/slideLayout70.xml"/><Relationship Id="rId25" Type="http://schemas.openxmlformats.org/officeDocument/2006/relationships/slideLayout" Target="../slideLayouts/slideLayout78.xml"/><Relationship Id="rId33" Type="http://schemas.openxmlformats.org/officeDocument/2006/relationships/slideLayout" Target="../slideLayouts/slideLayout86.xml"/><Relationship Id="rId38" Type="http://schemas.openxmlformats.org/officeDocument/2006/relationships/image" Target="../media/image1.svg"/><Relationship Id="rId2" Type="http://schemas.openxmlformats.org/officeDocument/2006/relationships/slideLayout" Target="../slideLayouts/slideLayout55.xml"/><Relationship Id="rId16" Type="http://schemas.openxmlformats.org/officeDocument/2006/relationships/slideLayout" Target="../slideLayouts/slideLayout69.xml"/><Relationship Id="rId20" Type="http://schemas.openxmlformats.org/officeDocument/2006/relationships/slideLayout" Target="../slideLayouts/slideLayout73.xml"/><Relationship Id="rId29" Type="http://schemas.openxmlformats.org/officeDocument/2006/relationships/slideLayout" Target="../slideLayouts/slideLayout82.xml"/><Relationship Id="rId1" Type="http://schemas.openxmlformats.org/officeDocument/2006/relationships/slideLayout" Target="../slideLayouts/slideLayout54.xml"/><Relationship Id="rId6" Type="http://schemas.openxmlformats.org/officeDocument/2006/relationships/slideLayout" Target="../slideLayouts/slideLayout59.xml"/><Relationship Id="rId11" Type="http://schemas.openxmlformats.org/officeDocument/2006/relationships/slideLayout" Target="../slideLayouts/slideLayout64.xml"/><Relationship Id="rId24" Type="http://schemas.openxmlformats.org/officeDocument/2006/relationships/slideLayout" Target="../slideLayouts/slideLayout77.xml"/><Relationship Id="rId32" Type="http://schemas.openxmlformats.org/officeDocument/2006/relationships/slideLayout" Target="../slideLayouts/slideLayout85.xml"/><Relationship Id="rId37" Type="http://schemas.openxmlformats.org/officeDocument/2006/relationships/theme" Target="../theme/theme3.xml"/><Relationship Id="rId5" Type="http://schemas.openxmlformats.org/officeDocument/2006/relationships/slideLayout" Target="../slideLayouts/slideLayout58.xml"/><Relationship Id="rId15" Type="http://schemas.openxmlformats.org/officeDocument/2006/relationships/slideLayout" Target="../slideLayouts/slideLayout68.xml"/><Relationship Id="rId23" Type="http://schemas.openxmlformats.org/officeDocument/2006/relationships/slideLayout" Target="../slideLayouts/slideLayout76.xml"/><Relationship Id="rId28" Type="http://schemas.openxmlformats.org/officeDocument/2006/relationships/slideLayout" Target="../slideLayouts/slideLayout81.xml"/><Relationship Id="rId36" Type="http://schemas.openxmlformats.org/officeDocument/2006/relationships/slideLayout" Target="../slideLayouts/slideLayout89.xml"/><Relationship Id="rId10" Type="http://schemas.openxmlformats.org/officeDocument/2006/relationships/slideLayout" Target="../slideLayouts/slideLayout63.xml"/><Relationship Id="rId19" Type="http://schemas.openxmlformats.org/officeDocument/2006/relationships/slideLayout" Target="../slideLayouts/slideLayout72.xml"/><Relationship Id="rId31" Type="http://schemas.openxmlformats.org/officeDocument/2006/relationships/slideLayout" Target="../slideLayouts/slideLayout84.xml"/><Relationship Id="rId4" Type="http://schemas.openxmlformats.org/officeDocument/2006/relationships/slideLayout" Target="../slideLayouts/slideLayout57.xml"/><Relationship Id="rId9" Type="http://schemas.openxmlformats.org/officeDocument/2006/relationships/slideLayout" Target="../slideLayouts/slideLayout62.xml"/><Relationship Id="rId14" Type="http://schemas.openxmlformats.org/officeDocument/2006/relationships/slideLayout" Target="../slideLayouts/slideLayout67.xml"/><Relationship Id="rId22" Type="http://schemas.openxmlformats.org/officeDocument/2006/relationships/slideLayout" Target="../slideLayouts/slideLayout75.xml"/><Relationship Id="rId27" Type="http://schemas.openxmlformats.org/officeDocument/2006/relationships/slideLayout" Target="../slideLayouts/slideLayout80.xml"/><Relationship Id="rId30" Type="http://schemas.openxmlformats.org/officeDocument/2006/relationships/slideLayout" Target="../slideLayouts/slideLayout83.xml"/><Relationship Id="rId35" Type="http://schemas.openxmlformats.org/officeDocument/2006/relationships/slideLayout" Target="../slideLayouts/slideLayout88.xml"/><Relationship Id="rId8" Type="http://schemas.openxmlformats.org/officeDocument/2006/relationships/slideLayout" Target="../slideLayouts/slideLayout61.xml"/><Relationship Id="rId3" Type="http://schemas.openxmlformats.org/officeDocument/2006/relationships/slideLayout" Target="../slideLayouts/slideLayout5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97.xml"/><Relationship Id="rId13" Type="http://schemas.openxmlformats.org/officeDocument/2006/relationships/slideLayout" Target="../slideLayouts/slideLayout102.xml"/><Relationship Id="rId18" Type="http://schemas.openxmlformats.org/officeDocument/2006/relationships/slideLayout" Target="../slideLayouts/slideLayout107.xml"/><Relationship Id="rId3" Type="http://schemas.openxmlformats.org/officeDocument/2006/relationships/slideLayout" Target="../slideLayouts/slideLayout92.xml"/><Relationship Id="rId7" Type="http://schemas.openxmlformats.org/officeDocument/2006/relationships/slideLayout" Target="../slideLayouts/slideLayout96.xml"/><Relationship Id="rId12" Type="http://schemas.openxmlformats.org/officeDocument/2006/relationships/slideLayout" Target="../slideLayouts/slideLayout101.xml"/><Relationship Id="rId17" Type="http://schemas.openxmlformats.org/officeDocument/2006/relationships/slideLayout" Target="../slideLayouts/slideLayout106.xml"/><Relationship Id="rId2" Type="http://schemas.openxmlformats.org/officeDocument/2006/relationships/slideLayout" Target="../slideLayouts/slideLayout91.xml"/><Relationship Id="rId16" Type="http://schemas.openxmlformats.org/officeDocument/2006/relationships/slideLayout" Target="../slideLayouts/slideLayout105.xml"/><Relationship Id="rId20" Type="http://schemas.openxmlformats.org/officeDocument/2006/relationships/theme" Target="../theme/theme4.xml"/><Relationship Id="rId1" Type="http://schemas.openxmlformats.org/officeDocument/2006/relationships/slideLayout" Target="../slideLayouts/slideLayout90.xml"/><Relationship Id="rId6" Type="http://schemas.openxmlformats.org/officeDocument/2006/relationships/slideLayout" Target="../slideLayouts/slideLayout95.xml"/><Relationship Id="rId11" Type="http://schemas.openxmlformats.org/officeDocument/2006/relationships/slideLayout" Target="../slideLayouts/slideLayout100.xml"/><Relationship Id="rId5" Type="http://schemas.openxmlformats.org/officeDocument/2006/relationships/slideLayout" Target="../slideLayouts/slideLayout94.xml"/><Relationship Id="rId15" Type="http://schemas.openxmlformats.org/officeDocument/2006/relationships/slideLayout" Target="../slideLayouts/slideLayout104.xml"/><Relationship Id="rId10" Type="http://schemas.openxmlformats.org/officeDocument/2006/relationships/slideLayout" Target="../slideLayouts/slideLayout99.xml"/><Relationship Id="rId19" Type="http://schemas.openxmlformats.org/officeDocument/2006/relationships/slideLayout" Target="../slideLayouts/slideLayout108.xml"/><Relationship Id="rId4" Type="http://schemas.openxmlformats.org/officeDocument/2006/relationships/slideLayout" Target="../slideLayouts/slideLayout93.xml"/><Relationship Id="rId9" Type="http://schemas.openxmlformats.org/officeDocument/2006/relationships/slideLayout" Target="../slideLayouts/slideLayout98.xml"/><Relationship Id="rId14" Type="http://schemas.openxmlformats.org/officeDocument/2006/relationships/slideLayout" Target="../slideLayouts/slideLayout103.xml"/></Relationships>
</file>

<file path=ppt/slideMasters/_rels/slideMaster5.xml.rels><?xml version="1.0" encoding="UTF-8" standalone="yes"?>
<Relationships xmlns="http://schemas.openxmlformats.org/package/2006/relationships"><Relationship Id="rId13" Type="http://schemas.openxmlformats.org/officeDocument/2006/relationships/slideLayout" Target="../slideLayouts/slideLayout121.xml"/><Relationship Id="rId18" Type="http://schemas.openxmlformats.org/officeDocument/2006/relationships/slideLayout" Target="../slideLayouts/slideLayout126.xml"/><Relationship Id="rId26" Type="http://schemas.openxmlformats.org/officeDocument/2006/relationships/slideLayout" Target="../slideLayouts/slideLayout134.xml"/><Relationship Id="rId21" Type="http://schemas.openxmlformats.org/officeDocument/2006/relationships/slideLayout" Target="../slideLayouts/slideLayout129.xml"/><Relationship Id="rId34" Type="http://schemas.openxmlformats.org/officeDocument/2006/relationships/slideLayout" Target="../slideLayouts/slideLayout142.xml"/><Relationship Id="rId7" Type="http://schemas.openxmlformats.org/officeDocument/2006/relationships/slideLayout" Target="../slideLayouts/slideLayout115.xml"/><Relationship Id="rId12" Type="http://schemas.openxmlformats.org/officeDocument/2006/relationships/slideLayout" Target="../slideLayouts/slideLayout120.xml"/><Relationship Id="rId17" Type="http://schemas.openxmlformats.org/officeDocument/2006/relationships/slideLayout" Target="../slideLayouts/slideLayout125.xml"/><Relationship Id="rId25" Type="http://schemas.openxmlformats.org/officeDocument/2006/relationships/slideLayout" Target="../slideLayouts/slideLayout133.xml"/><Relationship Id="rId33" Type="http://schemas.openxmlformats.org/officeDocument/2006/relationships/slideLayout" Target="../slideLayouts/slideLayout141.xml"/><Relationship Id="rId38" Type="http://schemas.openxmlformats.org/officeDocument/2006/relationships/image" Target="../media/image1.svg"/><Relationship Id="rId2" Type="http://schemas.openxmlformats.org/officeDocument/2006/relationships/slideLayout" Target="../slideLayouts/slideLayout110.xml"/><Relationship Id="rId16" Type="http://schemas.openxmlformats.org/officeDocument/2006/relationships/slideLayout" Target="../slideLayouts/slideLayout124.xml"/><Relationship Id="rId20" Type="http://schemas.openxmlformats.org/officeDocument/2006/relationships/slideLayout" Target="../slideLayouts/slideLayout128.xml"/><Relationship Id="rId29" Type="http://schemas.openxmlformats.org/officeDocument/2006/relationships/slideLayout" Target="../slideLayouts/slideLayout137.xml"/><Relationship Id="rId1" Type="http://schemas.openxmlformats.org/officeDocument/2006/relationships/slideLayout" Target="../slideLayouts/slideLayout109.xml"/><Relationship Id="rId6" Type="http://schemas.openxmlformats.org/officeDocument/2006/relationships/slideLayout" Target="../slideLayouts/slideLayout114.xml"/><Relationship Id="rId11" Type="http://schemas.openxmlformats.org/officeDocument/2006/relationships/slideLayout" Target="../slideLayouts/slideLayout119.xml"/><Relationship Id="rId24" Type="http://schemas.openxmlformats.org/officeDocument/2006/relationships/slideLayout" Target="../slideLayouts/slideLayout132.xml"/><Relationship Id="rId32" Type="http://schemas.openxmlformats.org/officeDocument/2006/relationships/slideLayout" Target="../slideLayouts/slideLayout140.xml"/><Relationship Id="rId37" Type="http://schemas.openxmlformats.org/officeDocument/2006/relationships/theme" Target="../theme/theme5.xml"/><Relationship Id="rId5" Type="http://schemas.openxmlformats.org/officeDocument/2006/relationships/slideLayout" Target="../slideLayouts/slideLayout113.xml"/><Relationship Id="rId15" Type="http://schemas.openxmlformats.org/officeDocument/2006/relationships/slideLayout" Target="../slideLayouts/slideLayout123.xml"/><Relationship Id="rId23" Type="http://schemas.openxmlformats.org/officeDocument/2006/relationships/slideLayout" Target="../slideLayouts/slideLayout131.xml"/><Relationship Id="rId28" Type="http://schemas.openxmlformats.org/officeDocument/2006/relationships/slideLayout" Target="../slideLayouts/slideLayout136.xml"/><Relationship Id="rId36" Type="http://schemas.openxmlformats.org/officeDocument/2006/relationships/slideLayout" Target="../slideLayouts/slideLayout144.xml"/><Relationship Id="rId10" Type="http://schemas.openxmlformats.org/officeDocument/2006/relationships/slideLayout" Target="../slideLayouts/slideLayout118.xml"/><Relationship Id="rId19" Type="http://schemas.openxmlformats.org/officeDocument/2006/relationships/slideLayout" Target="../slideLayouts/slideLayout127.xml"/><Relationship Id="rId31" Type="http://schemas.openxmlformats.org/officeDocument/2006/relationships/slideLayout" Target="../slideLayouts/slideLayout139.xml"/><Relationship Id="rId4" Type="http://schemas.openxmlformats.org/officeDocument/2006/relationships/slideLayout" Target="../slideLayouts/slideLayout112.xml"/><Relationship Id="rId9" Type="http://schemas.openxmlformats.org/officeDocument/2006/relationships/slideLayout" Target="../slideLayouts/slideLayout117.xml"/><Relationship Id="rId14" Type="http://schemas.openxmlformats.org/officeDocument/2006/relationships/slideLayout" Target="../slideLayouts/slideLayout122.xml"/><Relationship Id="rId22" Type="http://schemas.openxmlformats.org/officeDocument/2006/relationships/slideLayout" Target="../slideLayouts/slideLayout130.xml"/><Relationship Id="rId27" Type="http://schemas.openxmlformats.org/officeDocument/2006/relationships/slideLayout" Target="../slideLayouts/slideLayout135.xml"/><Relationship Id="rId30" Type="http://schemas.openxmlformats.org/officeDocument/2006/relationships/slideLayout" Target="../slideLayouts/slideLayout138.xml"/><Relationship Id="rId35" Type="http://schemas.openxmlformats.org/officeDocument/2006/relationships/slideLayout" Target="../slideLayouts/slideLayout143.xml"/><Relationship Id="rId8" Type="http://schemas.openxmlformats.org/officeDocument/2006/relationships/slideLayout" Target="../slideLayouts/slideLayout116.xml"/><Relationship Id="rId3" Type="http://schemas.openxmlformats.org/officeDocument/2006/relationships/slideLayout" Target="../slideLayouts/slideLayout11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AE723A-1CD3-C976-D546-D7B1E1A72778}"/>
              </a:ext>
            </a:extLst>
          </p:cNvPr>
          <p:cNvSpPr>
            <a:spLocks noGrp="1"/>
          </p:cNvSpPr>
          <p:nvPr>
            <p:ph type="title"/>
          </p:nvPr>
        </p:nvSpPr>
        <p:spPr>
          <a:xfrm>
            <a:off x="838200" y="365125"/>
            <a:ext cx="10515600" cy="613309"/>
          </a:xfrm>
          <a:prstGeom prst="rect">
            <a:avLst/>
          </a:prstGeom>
        </p:spPr>
        <p:txBody>
          <a:bodyPr vert="horz" lIns="0" tIns="0" rIns="0" bIns="0" rtlCol="0" anchor="t" anchorCtr="0">
            <a:spAutoFit/>
          </a:bodyPr>
          <a:lstStyle/>
          <a:p>
            <a:r>
              <a:rPr lang="en-US" dirty="0"/>
              <a:t>Click to edit Master title style</a:t>
            </a:r>
          </a:p>
        </p:txBody>
      </p:sp>
      <p:sp>
        <p:nvSpPr>
          <p:cNvPr id="3" name="Text Placeholder 2">
            <a:extLst>
              <a:ext uri="{FF2B5EF4-FFF2-40B4-BE49-F238E27FC236}">
                <a16:creationId xmlns:a16="http://schemas.microsoft.com/office/drawing/2014/main" id="{CF5A2E2D-CDA6-D65D-5A28-67459EB16D90}"/>
              </a:ext>
            </a:extLst>
          </p:cNvPr>
          <p:cNvSpPr>
            <a:spLocks noGrp="1"/>
          </p:cNvSpPr>
          <p:nvPr>
            <p:ph type="body" idx="1"/>
          </p:nvPr>
        </p:nvSpPr>
        <p:spPr>
          <a:xfrm>
            <a:off x="838200" y="1825625"/>
            <a:ext cx="10515600" cy="1684948"/>
          </a:xfrm>
          <a:prstGeom prst="rect">
            <a:avLst/>
          </a:prstGeom>
        </p:spPr>
        <p:txBody>
          <a:bodyPr vert="horz" lIns="0" tIns="0" rIns="0" bIns="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6" name="Graphic 5">
            <a:extLst>
              <a:ext uri="{FF2B5EF4-FFF2-40B4-BE49-F238E27FC236}">
                <a16:creationId xmlns:a16="http://schemas.microsoft.com/office/drawing/2014/main" id="{98C54377-C373-3751-A275-A17B11FE1BB6}"/>
              </a:ext>
            </a:extLst>
          </p:cNvPr>
          <p:cNvPicPr>
            <a:picLocks noChangeAspect="1"/>
          </p:cNvPicPr>
          <p:nvPr userDrawn="1"/>
        </p:nvPicPr>
        <p:blipFill>
          <a:blip>
            <a:extLst>
              <a:ext uri="{96DAC541-7B7A-43D3-8B79-37D633B846F1}">
                <asvg:svgBlip xmlns:asvg="http://schemas.microsoft.com/office/drawing/2016/SVG/main" r:embed="rId35"/>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E00D8F4A-848B-F513-FE1A-5A86C8B8CF84}"/>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4" name="TextBox 3">
            <a:extLst>
              <a:ext uri="{FF2B5EF4-FFF2-40B4-BE49-F238E27FC236}">
                <a16:creationId xmlns:a16="http://schemas.microsoft.com/office/drawing/2014/main" id="{EDA225B6-A2B9-C109-E112-6ACDED1B4458}"/>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778594219"/>
      </p:ext>
    </p:extLst>
  </p:cSld>
  <p:clrMap bg1="lt1" tx1="dk1" bg2="lt2" tx2="dk2" accent1="accent1" accent2="accent2" accent3="accent3" accent4="accent4" accent5="accent5" accent6="accent6" hlink="hlink" folHlink="folHlink"/>
  <p:sldLayoutIdLst>
    <p:sldLayoutId id="2147483650" r:id="rId1"/>
    <p:sldLayoutId id="2147483719" r:id="rId2"/>
    <p:sldLayoutId id="2147483727" r:id="rId3"/>
    <p:sldLayoutId id="2147483663" r:id="rId4"/>
    <p:sldLayoutId id="2147483651" r:id="rId5"/>
    <p:sldLayoutId id="2147483718" r:id="rId6"/>
    <p:sldLayoutId id="2147483720" r:id="rId7"/>
    <p:sldLayoutId id="2147483649" r:id="rId8"/>
    <p:sldLayoutId id="2147483652" r:id="rId9"/>
    <p:sldLayoutId id="2147483653" r:id="rId10"/>
    <p:sldLayoutId id="2147483654" r:id="rId11"/>
    <p:sldLayoutId id="2147483655" r:id="rId12"/>
    <p:sldLayoutId id="2147483656" r:id="rId13"/>
    <p:sldLayoutId id="2147483721" r:id="rId14"/>
    <p:sldLayoutId id="2147483657" r:id="rId15"/>
    <p:sldLayoutId id="2147483664" r:id="rId16"/>
    <p:sldLayoutId id="2147483658" r:id="rId17"/>
    <p:sldLayoutId id="2147483659" r:id="rId18"/>
    <p:sldLayoutId id="2147483660" r:id="rId19"/>
    <p:sldLayoutId id="2147483669" r:id="rId20"/>
    <p:sldLayoutId id="2147483661" r:id="rId21"/>
    <p:sldLayoutId id="2147483662" r:id="rId22"/>
    <p:sldLayoutId id="2147483670" r:id="rId23"/>
    <p:sldLayoutId id="2147483665" r:id="rId24"/>
    <p:sldLayoutId id="2147483666" r:id="rId25"/>
    <p:sldLayoutId id="2147483694" r:id="rId26"/>
    <p:sldLayoutId id="2147483713" r:id="rId27"/>
    <p:sldLayoutId id="2147483722" r:id="rId28"/>
    <p:sldLayoutId id="2147483723" r:id="rId29"/>
    <p:sldLayoutId id="2147483715" r:id="rId30"/>
    <p:sldLayoutId id="2147483714" r:id="rId31"/>
    <p:sldLayoutId id="2147483716" r:id="rId32"/>
    <p:sldLayoutId id="2147483717" r:id="rId33"/>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90683583"/>
      </p:ext>
    </p:extLst>
  </p:cSld>
  <p:clrMap bg1="lt1" tx1="dk1" bg2="lt2" tx2="dk2" accent1="accent1" accent2="accent2" accent3="accent3" accent4="accent4" accent5="accent5" accent6="accent6" hlink="hlink" folHlink="folHlink"/>
  <p:sldLayoutIdLst>
    <p:sldLayoutId id="2147483697" r:id="rId1"/>
    <p:sldLayoutId id="2147483726"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 id="2147483708" r:id="rId13"/>
    <p:sldLayoutId id="2147483709" r:id="rId14"/>
    <p:sldLayoutId id="2147483712" r:id="rId15"/>
    <p:sldLayoutId id="2147483728" r:id="rId16"/>
    <p:sldLayoutId id="2147483729" r:id="rId17"/>
    <p:sldLayoutId id="2147483711" r:id="rId18"/>
    <p:sldLayoutId id="2147483725" r:id="rId19"/>
    <p:sldLayoutId id="2147483730" r:id="rId20"/>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AE723A-1CD3-C976-D546-D7B1E1A72778}"/>
              </a:ext>
            </a:extLst>
          </p:cNvPr>
          <p:cNvSpPr>
            <a:spLocks noGrp="1"/>
          </p:cNvSpPr>
          <p:nvPr>
            <p:ph type="title"/>
          </p:nvPr>
        </p:nvSpPr>
        <p:spPr>
          <a:xfrm>
            <a:off x="838200" y="365125"/>
            <a:ext cx="10515600" cy="613309"/>
          </a:xfrm>
          <a:prstGeom prst="rect">
            <a:avLst/>
          </a:prstGeom>
        </p:spPr>
        <p:txBody>
          <a:bodyPr vert="horz" lIns="0" tIns="0" rIns="0" bIns="0" rtlCol="0" anchor="t" anchorCtr="0">
            <a:spAutoFit/>
          </a:bodyPr>
          <a:lstStyle/>
          <a:p>
            <a:r>
              <a:rPr lang="es-ES"/>
              <a:t>Haga clic para modificar el estilo de título del patrón</a:t>
            </a:r>
            <a:endParaRPr lang="en-US" dirty="0"/>
          </a:p>
        </p:txBody>
      </p:sp>
      <p:sp>
        <p:nvSpPr>
          <p:cNvPr id="3" name="Text Placeholder 2">
            <a:extLst>
              <a:ext uri="{FF2B5EF4-FFF2-40B4-BE49-F238E27FC236}">
                <a16:creationId xmlns:a16="http://schemas.microsoft.com/office/drawing/2014/main" id="{CF5A2E2D-CDA6-D65D-5A28-67459EB16D90}"/>
              </a:ext>
            </a:extLst>
          </p:cNvPr>
          <p:cNvSpPr>
            <a:spLocks noGrp="1"/>
          </p:cNvSpPr>
          <p:nvPr>
            <p:ph type="body" idx="1"/>
          </p:nvPr>
        </p:nvSpPr>
        <p:spPr>
          <a:xfrm>
            <a:off x="838200" y="1825625"/>
            <a:ext cx="10515600" cy="1684948"/>
          </a:xfrm>
          <a:prstGeom prst="rect">
            <a:avLst/>
          </a:prstGeom>
        </p:spPr>
        <p:txBody>
          <a:bodyPr vert="horz" lIns="0" tIns="0" rIns="0" bIns="0" rtlCol="0">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6" name="Graphic 5">
            <a:extLst>
              <a:ext uri="{FF2B5EF4-FFF2-40B4-BE49-F238E27FC236}">
                <a16:creationId xmlns:a16="http://schemas.microsoft.com/office/drawing/2014/main" id="{98C54377-C373-3751-A275-A17B11FE1BB6}"/>
              </a:ext>
            </a:extLst>
          </p:cNvPr>
          <p:cNvPicPr>
            <a:picLocks noChangeAspect="1"/>
          </p:cNvPicPr>
          <p:nvPr/>
        </p:nvPicPr>
        <p:blipFill>
          <a:blip>
            <a:extLst>
              <a:ext uri="{96DAC541-7B7A-43D3-8B79-37D633B846F1}">
                <asvg:svgBlip xmlns:asvg="http://schemas.microsoft.com/office/drawing/2016/SVG/main" r:embed="rId38"/>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E00D8F4A-848B-F513-FE1A-5A86C8B8CF84}"/>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4" name="TextBox 3">
            <a:extLst>
              <a:ext uri="{FF2B5EF4-FFF2-40B4-BE49-F238E27FC236}">
                <a16:creationId xmlns:a16="http://schemas.microsoft.com/office/drawing/2014/main" id="{EDA225B6-A2B9-C109-E112-6ACDED1B4458}"/>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3683731102"/>
      </p:ext>
    </p:extLst>
  </p:cSld>
  <p:clrMap bg1="lt1" tx1="dk1" bg2="lt2" tx2="dk2" accent1="accent1" accent2="accent2" accent3="accent3" accent4="accent4" accent5="accent5" accent6="accent6" hlink="hlink" folHlink="folHlink"/>
  <p:sldLayoutIdLst>
    <p:sldLayoutId id="2147483732" r:id="rId1"/>
    <p:sldLayoutId id="2147483733" r:id="rId2"/>
    <p:sldLayoutId id="2147483734" r:id="rId3"/>
    <p:sldLayoutId id="2147483735" r:id="rId4"/>
    <p:sldLayoutId id="2147483736" r:id="rId5"/>
    <p:sldLayoutId id="2147483737" r:id="rId6"/>
    <p:sldLayoutId id="2147483738" r:id="rId7"/>
    <p:sldLayoutId id="2147483739" r:id="rId8"/>
    <p:sldLayoutId id="2147483740" r:id="rId9"/>
    <p:sldLayoutId id="2147483741" r:id="rId10"/>
    <p:sldLayoutId id="2147483742" r:id="rId11"/>
    <p:sldLayoutId id="2147483743" r:id="rId12"/>
    <p:sldLayoutId id="2147483744" r:id="rId13"/>
    <p:sldLayoutId id="2147483745" r:id="rId14"/>
    <p:sldLayoutId id="2147483746" r:id="rId15"/>
    <p:sldLayoutId id="2147483747" r:id="rId16"/>
    <p:sldLayoutId id="2147483748" r:id="rId17"/>
    <p:sldLayoutId id="2147483749" r:id="rId18"/>
    <p:sldLayoutId id="2147483750" r:id="rId19"/>
    <p:sldLayoutId id="2147483751" r:id="rId20"/>
    <p:sldLayoutId id="2147483752" r:id="rId21"/>
    <p:sldLayoutId id="2147483753" r:id="rId22"/>
    <p:sldLayoutId id="2147483754" r:id="rId23"/>
    <p:sldLayoutId id="2147483755" r:id="rId24"/>
    <p:sldLayoutId id="2147483756" r:id="rId25"/>
    <p:sldLayoutId id="2147483757" r:id="rId26"/>
    <p:sldLayoutId id="2147483758" r:id="rId27"/>
    <p:sldLayoutId id="2147483759" r:id="rId28"/>
    <p:sldLayoutId id="2147483760" r:id="rId29"/>
    <p:sldLayoutId id="2147483761" r:id="rId30"/>
    <p:sldLayoutId id="2147483762" r:id="rId31"/>
    <p:sldLayoutId id="2147483763" r:id="rId32"/>
    <p:sldLayoutId id="2147483764" r:id="rId33"/>
    <p:sldLayoutId id="2147483765" r:id="rId34"/>
    <p:sldLayoutId id="2147483766" r:id="rId35"/>
    <p:sldLayoutId id="2147483767" r:id="rId36"/>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27995343"/>
      </p:ext>
    </p:extLst>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 id="2147483780" r:id="rId12"/>
    <p:sldLayoutId id="2147483781" r:id="rId13"/>
    <p:sldLayoutId id="2147483782" r:id="rId14"/>
    <p:sldLayoutId id="2147483783" r:id="rId15"/>
    <p:sldLayoutId id="2147483784" r:id="rId16"/>
    <p:sldLayoutId id="2147483785" r:id="rId17"/>
    <p:sldLayoutId id="2147483786" r:id="rId18"/>
    <p:sldLayoutId id="2147483787" r:id="rId19"/>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AE723A-1CD3-C976-D546-D7B1E1A72778}"/>
              </a:ext>
            </a:extLst>
          </p:cNvPr>
          <p:cNvSpPr>
            <a:spLocks noGrp="1"/>
          </p:cNvSpPr>
          <p:nvPr>
            <p:ph type="title"/>
          </p:nvPr>
        </p:nvSpPr>
        <p:spPr>
          <a:xfrm>
            <a:off x="838200" y="365125"/>
            <a:ext cx="10515600" cy="613309"/>
          </a:xfrm>
          <a:prstGeom prst="rect">
            <a:avLst/>
          </a:prstGeom>
        </p:spPr>
        <p:txBody>
          <a:bodyPr vert="horz" lIns="0" tIns="0" rIns="0" bIns="0" rtlCol="0" anchor="t" anchorCtr="0">
            <a:spAutoFit/>
          </a:bodyPr>
          <a:lstStyle/>
          <a:p>
            <a:r>
              <a:rPr lang="es-MX"/>
              <a:t>Haz clic para modificar el estilo de título del patrón</a:t>
            </a:r>
            <a:endParaRPr lang="en-US" dirty="0"/>
          </a:p>
        </p:txBody>
      </p:sp>
      <p:sp>
        <p:nvSpPr>
          <p:cNvPr id="3" name="Text Placeholder 2">
            <a:extLst>
              <a:ext uri="{FF2B5EF4-FFF2-40B4-BE49-F238E27FC236}">
                <a16:creationId xmlns:a16="http://schemas.microsoft.com/office/drawing/2014/main" id="{CF5A2E2D-CDA6-D65D-5A28-67459EB16D90}"/>
              </a:ext>
            </a:extLst>
          </p:cNvPr>
          <p:cNvSpPr>
            <a:spLocks noGrp="1"/>
          </p:cNvSpPr>
          <p:nvPr>
            <p:ph type="body" idx="1"/>
          </p:nvPr>
        </p:nvSpPr>
        <p:spPr>
          <a:xfrm>
            <a:off x="838200" y="1825625"/>
            <a:ext cx="10515600" cy="1684948"/>
          </a:xfrm>
          <a:prstGeom prst="rect">
            <a:avLst/>
          </a:prstGeom>
        </p:spPr>
        <p:txBody>
          <a:bodyPr vert="horz" lIns="0" tIns="0" rIns="0" bIns="0" rtlCol="0">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6" name="Graphic 5">
            <a:extLst>
              <a:ext uri="{FF2B5EF4-FFF2-40B4-BE49-F238E27FC236}">
                <a16:creationId xmlns:a16="http://schemas.microsoft.com/office/drawing/2014/main" id="{98C54377-C373-3751-A275-A17B11FE1BB6}"/>
              </a:ext>
            </a:extLst>
          </p:cNvPr>
          <p:cNvPicPr>
            <a:picLocks noChangeAspect="1"/>
          </p:cNvPicPr>
          <p:nvPr/>
        </p:nvPicPr>
        <p:blipFill>
          <a:blip>
            <a:extLst>
              <a:ext uri="{96DAC541-7B7A-43D3-8B79-37D633B846F1}">
                <asvg:svgBlip xmlns:asvg="http://schemas.microsoft.com/office/drawing/2016/SVG/main" r:embed="rId38"/>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E00D8F4A-848B-F513-FE1A-5A86C8B8CF84}"/>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4" name="TextBox 3">
            <a:extLst>
              <a:ext uri="{FF2B5EF4-FFF2-40B4-BE49-F238E27FC236}">
                <a16:creationId xmlns:a16="http://schemas.microsoft.com/office/drawing/2014/main" id="{EDA225B6-A2B9-C109-E112-6ACDED1B4458}"/>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2545081022"/>
      </p:ext>
    </p:extLst>
  </p:cSld>
  <p:clrMap bg1="lt1" tx1="dk1" bg2="lt2" tx2="dk2" accent1="accent1" accent2="accent2" accent3="accent3" accent4="accent4" accent5="accent5" accent6="accent6" hlink="hlink" folHlink="folHlink"/>
  <p:sldLayoutIdLst>
    <p:sldLayoutId id="2147483789" r:id="rId1"/>
    <p:sldLayoutId id="2147483790" r:id="rId2"/>
    <p:sldLayoutId id="2147483791" r:id="rId3"/>
    <p:sldLayoutId id="2147483792" r:id="rId4"/>
    <p:sldLayoutId id="2147483793" r:id="rId5"/>
    <p:sldLayoutId id="2147483794" r:id="rId6"/>
    <p:sldLayoutId id="2147483795" r:id="rId7"/>
    <p:sldLayoutId id="2147483796" r:id="rId8"/>
    <p:sldLayoutId id="2147483797" r:id="rId9"/>
    <p:sldLayoutId id="2147483798" r:id="rId10"/>
    <p:sldLayoutId id="2147483799" r:id="rId11"/>
    <p:sldLayoutId id="2147483800" r:id="rId12"/>
    <p:sldLayoutId id="2147483801" r:id="rId13"/>
    <p:sldLayoutId id="2147483802" r:id="rId14"/>
    <p:sldLayoutId id="2147483803" r:id="rId15"/>
    <p:sldLayoutId id="2147483804" r:id="rId16"/>
    <p:sldLayoutId id="2147483805" r:id="rId17"/>
    <p:sldLayoutId id="2147483806" r:id="rId18"/>
    <p:sldLayoutId id="2147483807" r:id="rId19"/>
    <p:sldLayoutId id="2147483808" r:id="rId20"/>
    <p:sldLayoutId id="2147483809" r:id="rId21"/>
    <p:sldLayoutId id="2147483810" r:id="rId22"/>
    <p:sldLayoutId id="2147483811" r:id="rId23"/>
    <p:sldLayoutId id="2147483812" r:id="rId24"/>
    <p:sldLayoutId id="2147483813" r:id="rId25"/>
    <p:sldLayoutId id="2147483814" r:id="rId26"/>
    <p:sldLayoutId id="2147483815" r:id="rId27"/>
    <p:sldLayoutId id="2147483816" r:id="rId28"/>
    <p:sldLayoutId id="2147483817" r:id="rId29"/>
    <p:sldLayoutId id="2147483818" r:id="rId30"/>
    <p:sldLayoutId id="2147483819" r:id="rId31"/>
    <p:sldLayoutId id="2147483820" r:id="rId32"/>
    <p:sldLayoutId id="2147483821" r:id="rId33"/>
    <p:sldLayoutId id="2147483822" r:id="rId34"/>
    <p:sldLayoutId id="2147483823" r:id="rId35"/>
    <p:sldLayoutId id="2147483824" r:id="rId36"/>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11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4.xml"/></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43.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43.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43.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143.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14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3.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4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4.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14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4.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43.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43.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43.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43.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43.xml"/><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43.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43.xml"/><Relationship Id="rId6" Type="http://schemas.openxmlformats.org/officeDocument/2006/relationships/image" Target="../media/image24.png"/><Relationship Id="rId5" Type="http://schemas.openxmlformats.org/officeDocument/2006/relationships/image" Target="../media/image20.png"/><Relationship Id="rId4" Type="http://schemas.openxmlformats.org/officeDocument/2006/relationships/image" Target="../media/image19.png"/></Relationships>
</file>

<file path=ppt/slides/_rels/slide2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4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4.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6.png"/><Relationship Id="rId1" Type="http://schemas.openxmlformats.org/officeDocument/2006/relationships/slideLayout" Target="../slideLayouts/slideLayout143.xml"/><Relationship Id="rId5" Type="http://schemas.openxmlformats.org/officeDocument/2006/relationships/image" Target="../media/image24.png"/><Relationship Id="rId4" Type="http://schemas.openxmlformats.org/officeDocument/2006/relationships/image" Target="../media/image20.png"/></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43.xml"/><Relationship Id="rId4" Type="http://schemas.openxmlformats.org/officeDocument/2006/relationships/image" Target="../media/image23.png"/></Relationships>
</file>

<file path=ppt/slides/_rels/slide2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43.xml"/><Relationship Id="rId4" Type="http://schemas.openxmlformats.org/officeDocument/2006/relationships/image" Target="../media/image31.png"/></Relationships>
</file>

<file path=ppt/slides/_rels/slide2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43.xml"/></Relationships>
</file>

<file path=ppt/slides/_rels/slide2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43.xml"/></Relationships>
</file>

<file path=ppt/slides/_rels/slide2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43.xml"/></Relationships>
</file>

<file path=ppt/slides/_rels/slide2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143.xml"/><Relationship Id="rId4" Type="http://schemas.openxmlformats.org/officeDocument/2006/relationships/image" Target="../media/image38.png"/></Relationships>
</file>

<file path=ppt/slides/_rels/slide2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143.xml"/><Relationship Id="rId4" Type="http://schemas.openxmlformats.org/officeDocument/2006/relationships/image" Target="../media/image41.png"/></Relationships>
</file>

<file path=ppt/slides/_rels/slide30.xml.rels><?xml version="1.0" encoding="UTF-8" standalone="yes"?>
<Relationships xmlns="http://schemas.openxmlformats.org/package/2006/relationships"><Relationship Id="rId3" Type="http://schemas.openxmlformats.org/officeDocument/2006/relationships/image" Target="../media/image43.png"/><Relationship Id="rId7" Type="http://schemas.openxmlformats.org/officeDocument/2006/relationships/image" Target="../media/image47.png"/><Relationship Id="rId2" Type="http://schemas.openxmlformats.org/officeDocument/2006/relationships/image" Target="../media/image42.png"/><Relationship Id="rId1" Type="http://schemas.openxmlformats.org/officeDocument/2006/relationships/slideLayout" Target="../slideLayouts/slideLayout143.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3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143.xml"/></Relationships>
</file>

<file path=ppt/slides/_rels/slide3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143.xml"/><Relationship Id="rId5" Type="http://schemas.openxmlformats.org/officeDocument/2006/relationships/image" Target="../media/image53.png"/><Relationship Id="rId4" Type="http://schemas.openxmlformats.org/officeDocument/2006/relationships/image" Target="../media/image52.png"/></Relationships>
</file>

<file path=ppt/slides/_rels/slide33.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143.xml"/></Relationships>
</file>

<file path=ppt/slides/_rels/slide34.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14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4.xml"/></Relationships>
</file>

<file path=ppt/slides/_rels/slide36.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143.xml"/></Relationships>
</file>

<file path=ppt/slides/_rels/slide37.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143.xml"/></Relationships>
</file>

<file path=ppt/slides/_rels/slide3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58.png"/><Relationship Id="rId1" Type="http://schemas.openxmlformats.org/officeDocument/2006/relationships/slideLayout" Target="../slideLayouts/slideLayout143.xml"/><Relationship Id="rId4" Type="http://schemas.openxmlformats.org/officeDocument/2006/relationships/image" Target="../media/image20.png"/></Relationships>
</file>

<file path=ppt/slides/_rels/slide3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59.png"/><Relationship Id="rId1" Type="http://schemas.openxmlformats.org/officeDocument/2006/relationships/slideLayout" Target="../slideLayouts/slideLayout143.xml"/></Relationships>
</file>

<file path=ppt/slides/_rels/slide4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60.png"/><Relationship Id="rId1" Type="http://schemas.openxmlformats.org/officeDocument/2006/relationships/slideLayout" Target="../slideLayouts/slideLayout143.xml"/></Relationships>
</file>

<file path=ppt/slides/_rels/slide4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61.png"/><Relationship Id="rId1" Type="http://schemas.openxmlformats.org/officeDocument/2006/relationships/slideLayout" Target="../slideLayouts/slideLayout143.xml"/></Relationships>
</file>

<file path=ppt/slides/_rels/slide42.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143.xml"/></Relationships>
</file>

<file path=ppt/slides/_rels/slide43.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1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44.xml"/></Relationships>
</file>

<file path=ppt/slides/_rels/slide45.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143.xml"/></Relationships>
</file>

<file path=ppt/slides/_rels/slide46.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143.xml"/></Relationships>
</file>

<file path=ppt/slides/_rels/slide47.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143.xml"/></Relationships>
</file>

<file path=ppt/slides/_rels/slide48.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143.xml"/></Relationships>
</file>

<file path=ppt/slides/_rels/slide49.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143.xml"/></Relationships>
</file>

<file path=ppt/slides/_rels/slide50.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143.xml"/></Relationships>
</file>

<file path=ppt/slides/_rels/slide51.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143.xml"/></Relationships>
</file>

<file path=ppt/slides/_rels/slide52.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143.xml"/></Relationships>
</file>

<file path=ppt/slides/_rels/slide53.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143.xml"/></Relationships>
</file>

<file path=ppt/slides/_rels/slide54.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143.xml"/></Relationships>
</file>

<file path=ppt/slides/_rels/slide55.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143.xml"/></Relationships>
</file>

<file path=ppt/slides/_rels/slide56.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143.xml"/></Relationships>
</file>

<file path=ppt/slides/_rels/slide57.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143.xml"/></Relationships>
</file>

<file path=ppt/slides/_rels/slide58.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143.xml"/></Relationships>
</file>

<file path=ppt/slides/_rels/slide59.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143.xml"/></Relationships>
</file>

<file path=ppt/slides/_rels/slide60.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143.xml"/></Relationships>
</file>

<file path=ppt/slides/_rels/slide61.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143.xml"/></Relationships>
</file>

<file path=ppt/slides/_rels/slide62.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143.xml"/></Relationships>
</file>

<file path=ppt/slides/_rels/slide63.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14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44.xml"/></Relationships>
</file>

<file path=ppt/slides/_rels/slide65.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143.xml"/></Relationships>
</file>

<file path=ppt/slides/_rels/slide66.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143.xml"/></Relationships>
</file>

<file path=ppt/slides/_rels/slide67.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143.xml"/></Relationships>
</file>

<file path=ppt/slides/_rels/slide68.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143.xml"/></Relationships>
</file>

<file path=ppt/slides/_rels/slide69.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143.xml"/></Relationships>
</file>

<file path=ppt/slides/_rels/slide70.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143.xml"/></Relationships>
</file>

<file path=ppt/slides/_rels/slide71.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143.xml"/></Relationships>
</file>

<file path=ppt/slides/_rels/slide72.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143.xml"/></Relationships>
</file>

<file path=ppt/slides/_rels/slide73.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143.xml"/></Relationships>
</file>

<file path=ppt/slides/_rels/slide74.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143.xml"/></Relationships>
</file>

<file path=ppt/slides/_rels/slide75.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png"/><Relationship Id="rId1" Type="http://schemas.openxmlformats.org/officeDocument/2006/relationships/slideLayout" Target="../slideLayouts/slideLayout143.xml"/></Relationships>
</file>

<file path=ppt/slides/_rels/slide76.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14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44.xml"/></Relationships>
</file>

<file path=ppt/slides/_rels/slide78.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143.xml"/></Relationships>
</file>

<file path=ppt/slides/_rels/slide7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96.png"/><Relationship Id="rId1" Type="http://schemas.openxmlformats.org/officeDocument/2006/relationships/slideLayout" Target="../slideLayouts/slideLayout143.xml"/><Relationship Id="rId4" Type="http://schemas.openxmlformats.org/officeDocument/2006/relationships/image" Target="../media/image20.png"/></Relationships>
</file>

<file path=ppt/slides/_rels/slide8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97.png"/><Relationship Id="rId1" Type="http://schemas.openxmlformats.org/officeDocument/2006/relationships/slideLayout" Target="../slideLayouts/slideLayout143.xml"/></Relationships>
</file>

<file path=ppt/slides/_rels/slide8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98.png"/><Relationship Id="rId1" Type="http://schemas.openxmlformats.org/officeDocument/2006/relationships/slideLayout" Target="../slideLayouts/slideLayout143.xml"/><Relationship Id="rId5" Type="http://schemas.openxmlformats.org/officeDocument/2006/relationships/image" Target="../media/image30.png"/><Relationship Id="rId4" Type="http://schemas.openxmlformats.org/officeDocument/2006/relationships/image" Target="../media/image23.png"/></Relationships>
</file>

<file path=ppt/slides/_rels/slide82.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99.png"/><Relationship Id="rId1" Type="http://schemas.openxmlformats.org/officeDocument/2006/relationships/slideLayout" Target="../slideLayouts/slideLayout143.xml"/><Relationship Id="rId4" Type="http://schemas.openxmlformats.org/officeDocument/2006/relationships/image" Target="../media/image31.png"/></Relationships>
</file>

<file path=ppt/slides/_rels/slide8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101.png"/><Relationship Id="rId1" Type="http://schemas.openxmlformats.org/officeDocument/2006/relationships/slideLayout" Target="../slideLayouts/slideLayout143.xml"/><Relationship Id="rId4" Type="http://schemas.openxmlformats.org/officeDocument/2006/relationships/image" Target="../media/image38.png"/></Relationships>
</file>

<file path=ppt/slides/_rels/slide8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102.png"/><Relationship Id="rId1" Type="http://schemas.openxmlformats.org/officeDocument/2006/relationships/slideLayout" Target="../slideLayouts/slideLayout143.xml"/></Relationships>
</file>

<file path=ppt/slides/_rels/slide8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103.png"/><Relationship Id="rId1" Type="http://schemas.openxmlformats.org/officeDocument/2006/relationships/slideLayout" Target="../slideLayouts/slideLayout143.xml"/></Relationships>
</file>

<file path=ppt/slides/_rels/slide86.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image" Target="../media/image104.png"/><Relationship Id="rId1" Type="http://schemas.openxmlformats.org/officeDocument/2006/relationships/slideLayout" Target="../slideLayouts/slideLayout143.xml"/><Relationship Id="rId5" Type="http://schemas.openxmlformats.org/officeDocument/2006/relationships/image" Target="../media/image47.png"/><Relationship Id="rId4" Type="http://schemas.openxmlformats.org/officeDocument/2006/relationships/image" Target="../media/image41.png"/></Relationships>
</file>

<file path=ppt/slides/_rels/slide8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106.png"/><Relationship Id="rId1" Type="http://schemas.openxmlformats.org/officeDocument/2006/relationships/slideLayout" Target="../slideLayouts/slideLayout143.xml"/></Relationships>
</file>

<file path=ppt/slides/_rels/slide8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107.png"/><Relationship Id="rId1" Type="http://schemas.openxmlformats.org/officeDocument/2006/relationships/slideLayout" Target="../slideLayouts/slideLayout143.xml"/><Relationship Id="rId4" Type="http://schemas.openxmlformats.org/officeDocument/2006/relationships/image" Target="../media/image44.png"/></Relationships>
</file>

<file path=ppt/slides/_rels/slide8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108.png"/><Relationship Id="rId1" Type="http://schemas.openxmlformats.org/officeDocument/2006/relationships/slideLayout" Target="../slideLayouts/slideLayout143.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49.png"/></Relationships>
</file>

<file path=ppt/slides/_rels/slide90.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image" Target="../media/image109.png"/><Relationship Id="rId1" Type="http://schemas.openxmlformats.org/officeDocument/2006/relationships/slideLayout" Target="../slideLayouts/slideLayout143.xml"/></Relationships>
</file>

<file path=ppt/slides/_rels/slide91.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image" Target="../media/image111.png"/><Relationship Id="rId1" Type="http://schemas.openxmlformats.org/officeDocument/2006/relationships/slideLayout" Target="../slideLayouts/slideLayout143.xml"/></Relationships>
</file>

<file path=ppt/slides/_rels/slide92.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Layout" Target="../slideLayouts/slideLayout143.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44.xml"/></Relationships>
</file>

<file path=ppt/slides/_rels/slide9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43.xml"/></Relationships>
</file>

<file path=ppt/slides/_rels/slide95.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4.xml"/><Relationship Id="rId1" Type="http://schemas.openxmlformats.org/officeDocument/2006/relationships/slideLayout" Target="../slideLayouts/slideLayout143.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44.xml"/></Relationships>
</file>

<file path=ppt/slides/_rels/slide9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43.xml"/></Relationships>
</file>

<file path=ppt/slides/_rels/slide9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43.xml"/></Relationships>
</file>

<file path=ppt/slides/_rels/slide9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43.xml"/></Relationships>
</file>

<file path=ppt/slides/_rels/slide10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43.xml"/></Relationships>
</file>

<file path=ppt/slides/_rels/slide10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43.xml"/></Relationships>
</file>

<file path=ppt/slides/_rels/slide10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43.xml"/></Relationships>
</file>

<file path=ppt/slides/_rels/slide10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43.xml"/><Relationship Id="rId6" Type="http://schemas.openxmlformats.org/officeDocument/2006/relationships/image" Target="../media/image24.png"/><Relationship Id="rId5" Type="http://schemas.openxmlformats.org/officeDocument/2006/relationships/image" Target="../media/image20.png"/><Relationship Id="rId4" Type="http://schemas.openxmlformats.org/officeDocument/2006/relationships/image" Target="../media/image19.png"/></Relationships>
</file>

<file path=ppt/slides/_rels/slide104.xml.rels><?xml version="1.0" encoding="UTF-8" standalone="yes"?>
<Relationships xmlns="http://schemas.openxmlformats.org/package/2006/relationships"><Relationship Id="rId2" Type="http://schemas.openxmlformats.org/officeDocument/2006/relationships/image" Target="../media/image115.png"/><Relationship Id="rId1" Type="http://schemas.openxmlformats.org/officeDocument/2006/relationships/slideLayout" Target="../slideLayouts/slideLayout143.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44.xml"/></Relationships>
</file>

<file path=ppt/slides/_rels/slide106.xml.rels><?xml version="1.0" encoding="UTF-8" standalone="yes"?>
<Relationships xmlns="http://schemas.openxmlformats.org/package/2006/relationships"><Relationship Id="rId2" Type="http://schemas.openxmlformats.org/officeDocument/2006/relationships/image" Target="../media/image116.png"/><Relationship Id="rId1" Type="http://schemas.openxmlformats.org/officeDocument/2006/relationships/slideLayout" Target="../slideLayouts/slideLayout143.xml"/></Relationships>
</file>

<file path=ppt/slides/_rels/slide107.xml.rels><?xml version="1.0" encoding="UTF-8" standalone="yes"?>
<Relationships xmlns="http://schemas.openxmlformats.org/package/2006/relationships"><Relationship Id="rId2" Type="http://schemas.openxmlformats.org/officeDocument/2006/relationships/image" Target="../media/image117.png"/><Relationship Id="rId1" Type="http://schemas.openxmlformats.org/officeDocument/2006/relationships/slideLayout" Target="../slideLayouts/slideLayout143.xml"/></Relationships>
</file>

<file path=ppt/slides/_rels/slide108.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image" Target="../media/image118.png"/><Relationship Id="rId1" Type="http://schemas.openxmlformats.org/officeDocument/2006/relationships/slideLayout" Target="../slideLayouts/slideLayout143.xml"/></Relationships>
</file>

<file path=ppt/slides/_rels/slide109.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image" Target="../media/image120.png"/><Relationship Id="rId1" Type="http://schemas.openxmlformats.org/officeDocument/2006/relationships/slideLayout" Target="../slideLayouts/slideLayout143.xml"/></Relationships>
</file>

<file path=ppt/slides/_rels/slide110.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image" Target="../media/image122.png"/><Relationship Id="rId1" Type="http://schemas.openxmlformats.org/officeDocument/2006/relationships/slideLayout" Target="../slideLayouts/slideLayout143.xml"/></Relationships>
</file>

<file path=ppt/slides/_rels/slide111.xml.rels><?xml version="1.0" encoding="UTF-8" standalone="yes"?>
<Relationships xmlns="http://schemas.openxmlformats.org/package/2006/relationships"><Relationship Id="rId2" Type="http://schemas.openxmlformats.org/officeDocument/2006/relationships/image" Target="../media/image124.png"/><Relationship Id="rId1" Type="http://schemas.openxmlformats.org/officeDocument/2006/relationships/slideLayout" Target="../slideLayouts/slideLayout143.xml"/></Relationships>
</file>

<file path=ppt/slides/_rels/slide112.xml.rels><?xml version="1.0" encoding="UTF-8" standalone="yes"?>
<Relationships xmlns="http://schemas.openxmlformats.org/package/2006/relationships"><Relationship Id="rId2" Type="http://schemas.openxmlformats.org/officeDocument/2006/relationships/image" Target="../media/image125.png"/><Relationship Id="rId1" Type="http://schemas.openxmlformats.org/officeDocument/2006/relationships/slideLayout" Target="../slideLayouts/slideLayout143.xml"/></Relationships>
</file>

<file path=ppt/slides/_rels/slide113.xml.rels><?xml version="1.0" encoding="UTF-8" standalone="yes"?>
<Relationships xmlns="http://schemas.openxmlformats.org/package/2006/relationships"><Relationship Id="rId2" Type="http://schemas.openxmlformats.org/officeDocument/2006/relationships/image" Target="../media/image126.png"/><Relationship Id="rId1" Type="http://schemas.openxmlformats.org/officeDocument/2006/relationships/slideLayout" Target="../slideLayouts/slideLayout143.xml"/></Relationships>
</file>

<file path=ppt/slides/_rels/slide114.xml.rels><?xml version="1.0" encoding="UTF-8" standalone="yes"?>
<Relationships xmlns="http://schemas.openxmlformats.org/package/2006/relationships"><Relationship Id="rId2" Type="http://schemas.openxmlformats.org/officeDocument/2006/relationships/image" Target="../media/image127.png"/><Relationship Id="rId1" Type="http://schemas.openxmlformats.org/officeDocument/2006/relationships/slideLayout" Target="../slideLayouts/slideLayout143.xml"/></Relationships>
</file>

<file path=ppt/slides/_rels/slide115.xml.rels><?xml version="1.0" encoding="UTF-8" standalone="yes"?>
<Relationships xmlns="http://schemas.openxmlformats.org/package/2006/relationships"><Relationship Id="rId2" Type="http://schemas.openxmlformats.org/officeDocument/2006/relationships/image" Target="../media/image128.png"/><Relationship Id="rId1" Type="http://schemas.openxmlformats.org/officeDocument/2006/relationships/slideLayout" Target="../slideLayouts/slideLayout143.xml"/></Relationships>
</file>

<file path=ppt/slides/_rels/slide116.xml.rels><?xml version="1.0" encoding="UTF-8" standalone="yes"?>
<Relationships xmlns="http://schemas.openxmlformats.org/package/2006/relationships"><Relationship Id="rId2" Type="http://schemas.openxmlformats.org/officeDocument/2006/relationships/image" Target="../media/image129.png"/><Relationship Id="rId1" Type="http://schemas.openxmlformats.org/officeDocument/2006/relationships/slideLayout" Target="../slideLayouts/slideLayout143.xml"/></Relationships>
</file>

<file path=ppt/slides/_rels/slide117.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143.xml"/></Relationships>
</file>

<file path=ppt/slides/_rels/slide118.xml.rels><?xml version="1.0" encoding="UTF-8" standalone="yes"?>
<Relationships xmlns="http://schemas.openxmlformats.org/package/2006/relationships"><Relationship Id="rId2" Type="http://schemas.openxmlformats.org/officeDocument/2006/relationships/image" Target="../media/image131.png"/><Relationship Id="rId1" Type="http://schemas.openxmlformats.org/officeDocument/2006/relationships/slideLayout" Target="../slideLayouts/slideLayout143.xml"/></Relationships>
</file>

<file path=ppt/slides/_rels/slide119.xml.rels><?xml version="1.0" encoding="UTF-8" standalone="yes"?>
<Relationships xmlns="http://schemas.openxmlformats.org/package/2006/relationships"><Relationship Id="rId2" Type="http://schemas.openxmlformats.org/officeDocument/2006/relationships/image" Target="../media/image132.png"/><Relationship Id="rId1" Type="http://schemas.openxmlformats.org/officeDocument/2006/relationships/slideLayout" Target="../slideLayouts/slideLayout143.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44.xml"/></Relationships>
</file>

<file path=ppt/slides/_rels/slide121.xml.rels><?xml version="1.0" encoding="UTF-8" standalone="yes"?>
<Relationships xmlns="http://schemas.openxmlformats.org/package/2006/relationships"><Relationship Id="rId2" Type="http://schemas.openxmlformats.org/officeDocument/2006/relationships/image" Target="../media/image133.png"/><Relationship Id="rId1" Type="http://schemas.openxmlformats.org/officeDocument/2006/relationships/slideLayout" Target="../slideLayouts/slideLayout143.xml"/></Relationships>
</file>

<file path=ppt/slides/_rels/slide122.xml.rels><?xml version="1.0" encoding="UTF-8" standalone="yes"?>
<Relationships xmlns="http://schemas.openxmlformats.org/package/2006/relationships"><Relationship Id="rId2" Type="http://schemas.openxmlformats.org/officeDocument/2006/relationships/image" Target="../media/image134.png"/><Relationship Id="rId1" Type="http://schemas.openxmlformats.org/officeDocument/2006/relationships/slideLayout" Target="../slideLayouts/slideLayout143.xml"/></Relationships>
</file>

<file path=ppt/slides/_rels/slide123.xml.rels><?xml version="1.0" encoding="UTF-8" standalone="yes"?>
<Relationships xmlns="http://schemas.openxmlformats.org/package/2006/relationships"><Relationship Id="rId2" Type="http://schemas.openxmlformats.org/officeDocument/2006/relationships/image" Target="../media/image135.png"/><Relationship Id="rId1" Type="http://schemas.openxmlformats.org/officeDocument/2006/relationships/slideLayout" Target="../slideLayouts/slideLayout143.xml"/></Relationships>
</file>

<file path=ppt/slides/_rels/slide124.xml.rels><?xml version="1.0" encoding="UTF-8" standalone="yes"?>
<Relationships xmlns="http://schemas.openxmlformats.org/package/2006/relationships"><Relationship Id="rId2" Type="http://schemas.openxmlformats.org/officeDocument/2006/relationships/image" Target="../media/image136.png"/><Relationship Id="rId1" Type="http://schemas.openxmlformats.org/officeDocument/2006/relationships/slideLayout" Target="../slideLayouts/slideLayout143.xml"/></Relationships>
</file>

<file path=ppt/slides/_rels/slide125.xml.rels><?xml version="1.0" encoding="UTF-8" standalone="yes"?>
<Relationships xmlns="http://schemas.openxmlformats.org/package/2006/relationships"><Relationship Id="rId2" Type="http://schemas.openxmlformats.org/officeDocument/2006/relationships/image" Target="../media/image137.png"/><Relationship Id="rId1" Type="http://schemas.openxmlformats.org/officeDocument/2006/relationships/slideLayout" Target="../slideLayouts/slideLayout143.xml"/></Relationships>
</file>

<file path=ppt/slides/_rels/slide126.xml.rels><?xml version="1.0" encoding="UTF-8" standalone="yes"?>
<Relationships xmlns="http://schemas.openxmlformats.org/package/2006/relationships"><Relationship Id="rId2" Type="http://schemas.openxmlformats.org/officeDocument/2006/relationships/image" Target="../media/image138.png"/><Relationship Id="rId1" Type="http://schemas.openxmlformats.org/officeDocument/2006/relationships/slideLayout" Target="../slideLayouts/slideLayout143.xml"/></Relationships>
</file>

<file path=ppt/slides/_rels/slide127.xml.rels><?xml version="1.0" encoding="UTF-8" standalone="yes"?>
<Relationships xmlns="http://schemas.openxmlformats.org/package/2006/relationships"><Relationship Id="rId2" Type="http://schemas.openxmlformats.org/officeDocument/2006/relationships/image" Target="../media/image139.png"/><Relationship Id="rId1" Type="http://schemas.openxmlformats.org/officeDocument/2006/relationships/slideLayout" Target="../slideLayouts/slideLayout143.xml"/></Relationships>
</file>

<file path=ppt/slides/_rels/slide128.xml.rels><?xml version="1.0" encoding="UTF-8" standalone="yes"?>
<Relationships xmlns="http://schemas.openxmlformats.org/package/2006/relationships"><Relationship Id="rId2" Type="http://schemas.openxmlformats.org/officeDocument/2006/relationships/image" Target="../media/image140.png"/><Relationship Id="rId1" Type="http://schemas.openxmlformats.org/officeDocument/2006/relationships/slideLayout" Target="../slideLayouts/slideLayout143.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44.xml"/></Relationships>
</file>

<file path=ppt/slides/_rels/slide130.xml.rels><?xml version="1.0" encoding="UTF-8" standalone="yes"?>
<Relationships xmlns="http://schemas.openxmlformats.org/package/2006/relationships"><Relationship Id="rId2" Type="http://schemas.openxmlformats.org/officeDocument/2006/relationships/image" Target="../media/image141.png"/><Relationship Id="rId1" Type="http://schemas.openxmlformats.org/officeDocument/2006/relationships/slideLayout" Target="../slideLayouts/slideLayout143.xml"/></Relationships>
</file>

<file path=ppt/slides/_rels/slide131.xml.rels><?xml version="1.0" encoding="UTF-8" standalone="yes"?>
<Relationships xmlns="http://schemas.openxmlformats.org/package/2006/relationships"><Relationship Id="rId2" Type="http://schemas.openxmlformats.org/officeDocument/2006/relationships/image" Target="../media/image142.png"/><Relationship Id="rId1" Type="http://schemas.openxmlformats.org/officeDocument/2006/relationships/slideLayout" Target="../slideLayouts/slideLayout143.xml"/></Relationships>
</file>

<file path=ppt/slides/_rels/slide132.xml.rels><?xml version="1.0" encoding="UTF-8" standalone="yes"?>
<Relationships xmlns="http://schemas.openxmlformats.org/package/2006/relationships"><Relationship Id="rId2" Type="http://schemas.openxmlformats.org/officeDocument/2006/relationships/image" Target="../media/image143.png"/><Relationship Id="rId1" Type="http://schemas.openxmlformats.org/officeDocument/2006/relationships/slideLayout" Target="../slideLayouts/slideLayout143.xml"/></Relationships>
</file>

<file path=ppt/slides/_rels/slide133.xml.rels><?xml version="1.0" encoding="UTF-8" standalone="yes"?>
<Relationships xmlns="http://schemas.openxmlformats.org/package/2006/relationships"><Relationship Id="rId2" Type="http://schemas.openxmlformats.org/officeDocument/2006/relationships/image" Target="../media/image144.png"/><Relationship Id="rId1" Type="http://schemas.openxmlformats.org/officeDocument/2006/relationships/slideLayout" Target="../slideLayouts/slideLayout143.xml"/></Relationships>
</file>

<file path=ppt/slides/_rels/slide13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45.png"/><Relationship Id="rId1" Type="http://schemas.openxmlformats.org/officeDocument/2006/relationships/slideLayout" Target="../slideLayouts/slideLayout143.xml"/><Relationship Id="rId4" Type="http://schemas.openxmlformats.org/officeDocument/2006/relationships/image" Target="../media/image20.png"/></Relationships>
</file>

<file path=ppt/slides/_rels/slide13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46.png"/><Relationship Id="rId1" Type="http://schemas.openxmlformats.org/officeDocument/2006/relationships/slideLayout" Target="../slideLayouts/slideLayout143.xml"/></Relationships>
</file>

<file path=ppt/slides/_rels/slide13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47.png"/><Relationship Id="rId1" Type="http://schemas.openxmlformats.org/officeDocument/2006/relationships/slideLayout" Target="../slideLayouts/slideLayout143.xml"/><Relationship Id="rId4" Type="http://schemas.openxmlformats.org/officeDocument/2006/relationships/image" Target="../media/image23.png"/></Relationships>
</file>

<file path=ppt/slides/_rels/slide137.xml.rels><?xml version="1.0" encoding="UTF-8" standalone="yes"?>
<Relationships xmlns="http://schemas.openxmlformats.org/package/2006/relationships"><Relationship Id="rId3" Type="http://schemas.openxmlformats.org/officeDocument/2006/relationships/image" Target="../media/image149.png"/><Relationship Id="rId2" Type="http://schemas.openxmlformats.org/officeDocument/2006/relationships/image" Target="../media/image148.png"/><Relationship Id="rId1" Type="http://schemas.openxmlformats.org/officeDocument/2006/relationships/slideLayout" Target="../slideLayouts/slideLayout143.xml"/><Relationship Id="rId5" Type="http://schemas.openxmlformats.org/officeDocument/2006/relationships/image" Target="../media/image31.png"/><Relationship Id="rId4" Type="http://schemas.openxmlformats.org/officeDocument/2006/relationships/image" Target="../media/image30.png"/></Relationships>
</file>

<file path=ppt/slides/_rels/slide13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150.png"/><Relationship Id="rId1" Type="http://schemas.openxmlformats.org/officeDocument/2006/relationships/slideLayout" Target="../slideLayouts/slideLayout143.xml"/><Relationship Id="rId4" Type="http://schemas.openxmlformats.org/officeDocument/2006/relationships/image" Target="../media/image38.png"/></Relationships>
</file>

<file path=ppt/slides/_rels/slide139.xml.rels><?xml version="1.0" encoding="UTF-8" standalone="yes"?>
<Relationships xmlns="http://schemas.openxmlformats.org/package/2006/relationships"><Relationship Id="rId2" Type="http://schemas.openxmlformats.org/officeDocument/2006/relationships/image" Target="../media/image151.png"/><Relationship Id="rId1" Type="http://schemas.openxmlformats.org/officeDocument/2006/relationships/slideLayout" Target="../slideLayouts/slideLayout143.xml"/></Relationships>
</file>

<file path=ppt/slides/_rels/slide14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52.png"/><Relationship Id="rId1" Type="http://schemas.openxmlformats.org/officeDocument/2006/relationships/slideLayout" Target="../slideLayouts/slideLayout143.xml"/></Relationships>
</file>

<file path=ppt/slides/_rels/slide14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53.png"/><Relationship Id="rId1" Type="http://schemas.openxmlformats.org/officeDocument/2006/relationships/slideLayout" Target="../slideLayouts/slideLayout143.xml"/></Relationships>
</file>

<file path=ppt/slides/_rels/slide142.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image" Target="../media/image154.png"/><Relationship Id="rId1" Type="http://schemas.openxmlformats.org/officeDocument/2006/relationships/slideLayout" Target="../slideLayouts/slideLayout143.xml"/><Relationship Id="rId5" Type="http://schemas.openxmlformats.org/officeDocument/2006/relationships/image" Target="../media/image24.png"/><Relationship Id="rId4" Type="http://schemas.openxmlformats.org/officeDocument/2006/relationships/image" Target="../media/image23.png"/></Relationships>
</file>

<file path=ppt/slides/_rels/slide14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56.png"/><Relationship Id="rId1" Type="http://schemas.openxmlformats.org/officeDocument/2006/relationships/slideLayout" Target="../slideLayouts/slideLayout143.xml"/></Relationships>
</file>

<file path=ppt/slides/_rels/slide14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57.png"/><Relationship Id="rId1" Type="http://schemas.openxmlformats.org/officeDocument/2006/relationships/slideLayout" Target="../slideLayouts/slideLayout143.xml"/><Relationship Id="rId4" Type="http://schemas.openxmlformats.org/officeDocument/2006/relationships/image" Target="../media/image31.png"/></Relationships>
</file>

<file path=ppt/slides/_rels/slide14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158.png"/><Relationship Id="rId1" Type="http://schemas.openxmlformats.org/officeDocument/2006/relationships/slideLayout" Target="../slideLayouts/slideLayout143.xml"/><Relationship Id="rId6" Type="http://schemas.openxmlformats.org/officeDocument/2006/relationships/image" Target="../media/image40.png"/><Relationship Id="rId5" Type="http://schemas.openxmlformats.org/officeDocument/2006/relationships/image" Target="../media/image37.png"/><Relationship Id="rId4" Type="http://schemas.openxmlformats.org/officeDocument/2006/relationships/image" Target="../media/image38.png"/></Relationships>
</file>

<file path=ppt/slides/_rels/slide14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159.png"/><Relationship Id="rId1" Type="http://schemas.openxmlformats.org/officeDocument/2006/relationships/slideLayout" Target="../slideLayouts/slideLayout143.xml"/></Relationships>
</file>

<file path=ppt/slides/_rels/slide14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160.png"/><Relationship Id="rId1" Type="http://schemas.openxmlformats.org/officeDocument/2006/relationships/slideLayout" Target="../slideLayouts/slideLayout143.xml"/></Relationships>
</file>

<file path=ppt/slides/_rels/slide148.xml.rels><?xml version="1.0" encoding="UTF-8" standalone="yes"?>
<Relationships xmlns="http://schemas.openxmlformats.org/package/2006/relationships"><Relationship Id="rId2" Type="http://schemas.openxmlformats.org/officeDocument/2006/relationships/image" Target="../media/image161.png"/><Relationship Id="rId1" Type="http://schemas.openxmlformats.org/officeDocument/2006/relationships/slideLayout" Target="../slideLayouts/slideLayout143.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44.xml"/></Relationships>
</file>

<file path=ppt/slides/_rels/slide150.xml.rels><?xml version="1.0" encoding="UTF-8" standalone="yes"?>
<Relationships xmlns="http://schemas.openxmlformats.org/package/2006/relationships"><Relationship Id="rId2" Type="http://schemas.openxmlformats.org/officeDocument/2006/relationships/image" Target="../media/image162.png"/><Relationship Id="rId1" Type="http://schemas.openxmlformats.org/officeDocument/2006/relationships/slideLayout" Target="../slideLayouts/slideLayout143.xml"/></Relationships>
</file>

<file path=ppt/slides/_rels/slide151.xml.rels><?xml version="1.0" encoding="UTF-8" standalone="yes"?>
<Relationships xmlns="http://schemas.openxmlformats.org/package/2006/relationships"><Relationship Id="rId2" Type="http://schemas.openxmlformats.org/officeDocument/2006/relationships/image" Target="../media/image163.png"/><Relationship Id="rId1" Type="http://schemas.openxmlformats.org/officeDocument/2006/relationships/slideLayout" Target="../slideLayouts/slideLayout143.xml"/></Relationships>
</file>

<file path=ppt/slides/_rels/slide152.xml.rels><?xml version="1.0" encoding="UTF-8" standalone="yes"?>
<Relationships xmlns="http://schemas.openxmlformats.org/package/2006/relationships"><Relationship Id="rId2" Type="http://schemas.openxmlformats.org/officeDocument/2006/relationships/image" Target="../media/image164.png"/><Relationship Id="rId1" Type="http://schemas.openxmlformats.org/officeDocument/2006/relationships/slideLayout" Target="../slideLayouts/slideLayout143.xml"/></Relationships>
</file>

<file path=ppt/slides/_rels/slide153.xml.rels><?xml version="1.0" encoding="UTF-8" standalone="yes"?>
<Relationships xmlns="http://schemas.openxmlformats.org/package/2006/relationships"><Relationship Id="rId2" Type="http://schemas.openxmlformats.org/officeDocument/2006/relationships/image" Target="../media/image165.png"/><Relationship Id="rId1" Type="http://schemas.openxmlformats.org/officeDocument/2006/relationships/slideLayout" Target="../slideLayouts/slideLayout143.xml"/></Relationships>
</file>

<file path=ppt/slides/_rels/slide154.xml.rels><?xml version="1.0" encoding="UTF-8" standalone="yes"?>
<Relationships xmlns="http://schemas.openxmlformats.org/package/2006/relationships"><Relationship Id="rId2" Type="http://schemas.openxmlformats.org/officeDocument/2006/relationships/image" Target="../media/image166.png"/><Relationship Id="rId1" Type="http://schemas.openxmlformats.org/officeDocument/2006/relationships/slideLayout" Target="../slideLayouts/slideLayout143.xml"/></Relationships>
</file>

<file path=ppt/slides/_rels/slide155.xml.rels><?xml version="1.0" encoding="UTF-8" standalone="yes"?>
<Relationships xmlns="http://schemas.openxmlformats.org/package/2006/relationships"><Relationship Id="rId2" Type="http://schemas.openxmlformats.org/officeDocument/2006/relationships/image" Target="../media/image167.png"/><Relationship Id="rId1" Type="http://schemas.openxmlformats.org/officeDocument/2006/relationships/slideLayout" Target="../slideLayouts/slideLayout143.xml"/></Relationships>
</file>

<file path=ppt/slides/_rels/slide156.xml.rels><?xml version="1.0" encoding="UTF-8" standalone="yes"?>
<Relationships xmlns="http://schemas.openxmlformats.org/package/2006/relationships"><Relationship Id="rId2" Type="http://schemas.openxmlformats.org/officeDocument/2006/relationships/image" Target="../media/image168.png"/><Relationship Id="rId1" Type="http://schemas.openxmlformats.org/officeDocument/2006/relationships/slideLayout" Target="../slideLayouts/slideLayout143.xml"/></Relationships>
</file>

<file path=ppt/slides/_rels/slide157.xml.rels><?xml version="1.0" encoding="UTF-8" standalone="yes"?>
<Relationships xmlns="http://schemas.openxmlformats.org/package/2006/relationships"><Relationship Id="rId2" Type="http://schemas.openxmlformats.org/officeDocument/2006/relationships/image" Target="../media/image168.png"/><Relationship Id="rId1" Type="http://schemas.openxmlformats.org/officeDocument/2006/relationships/slideLayout" Target="../slideLayouts/slideLayout143.xml"/></Relationships>
</file>

<file path=ppt/slides/_rels/slide158.xml.rels><?xml version="1.0" encoding="UTF-8" standalone="yes"?>
<Relationships xmlns="http://schemas.openxmlformats.org/package/2006/relationships"><Relationship Id="rId2" Type="http://schemas.openxmlformats.org/officeDocument/2006/relationships/image" Target="../media/image169.png"/><Relationship Id="rId1" Type="http://schemas.openxmlformats.org/officeDocument/2006/relationships/slideLayout" Target="../slideLayouts/slideLayout143.xml"/></Relationships>
</file>

<file path=ppt/slides/_rels/slide159.xml.rels><?xml version="1.0" encoding="UTF-8" standalone="yes"?>
<Relationships xmlns="http://schemas.openxmlformats.org/package/2006/relationships"><Relationship Id="rId2" Type="http://schemas.openxmlformats.org/officeDocument/2006/relationships/image" Target="../media/image169.png"/><Relationship Id="rId1" Type="http://schemas.openxmlformats.org/officeDocument/2006/relationships/slideLayout" Target="../slideLayouts/slideLayout143.xml"/></Relationships>
</file>

<file path=ppt/slides/_rels/slide160.xml.rels><?xml version="1.0" encoding="UTF-8" standalone="yes"?>
<Relationships xmlns="http://schemas.openxmlformats.org/package/2006/relationships"><Relationship Id="rId2" Type="http://schemas.openxmlformats.org/officeDocument/2006/relationships/image" Target="../media/image169.png"/><Relationship Id="rId1" Type="http://schemas.openxmlformats.org/officeDocument/2006/relationships/slideLayout" Target="../slideLayouts/slideLayout143.xml"/></Relationships>
</file>

<file path=ppt/slides/_rels/slide161.xml.rels><?xml version="1.0" encoding="UTF-8" standalone="yes"?>
<Relationships xmlns="http://schemas.openxmlformats.org/package/2006/relationships"><Relationship Id="rId2" Type="http://schemas.openxmlformats.org/officeDocument/2006/relationships/image" Target="../media/image170.png"/><Relationship Id="rId1" Type="http://schemas.openxmlformats.org/officeDocument/2006/relationships/slideLayout" Target="../slideLayouts/slideLayout143.xml"/></Relationships>
</file>

<file path=ppt/slides/_rels/slide162.xml.rels><?xml version="1.0" encoding="UTF-8" standalone="yes"?>
<Relationships xmlns="http://schemas.openxmlformats.org/package/2006/relationships"><Relationship Id="rId2" Type="http://schemas.openxmlformats.org/officeDocument/2006/relationships/image" Target="../media/image170.png"/><Relationship Id="rId1" Type="http://schemas.openxmlformats.org/officeDocument/2006/relationships/slideLayout" Target="../slideLayouts/slideLayout143.xml"/></Relationships>
</file>

<file path=ppt/slides/_rels/slide163.xml.rels><?xml version="1.0" encoding="UTF-8" standalone="yes"?>
<Relationships xmlns="http://schemas.openxmlformats.org/package/2006/relationships"><Relationship Id="rId3" Type="http://schemas.openxmlformats.org/officeDocument/2006/relationships/image" Target="../media/image172.png"/><Relationship Id="rId2" Type="http://schemas.openxmlformats.org/officeDocument/2006/relationships/image" Target="../media/image171.png"/><Relationship Id="rId1" Type="http://schemas.openxmlformats.org/officeDocument/2006/relationships/slideLayout" Target="../slideLayouts/slideLayout143.xml"/></Relationships>
</file>

<file path=ppt/slides/_rels/slide164.xml.rels><?xml version="1.0" encoding="UTF-8" standalone="yes"?>
<Relationships xmlns="http://schemas.openxmlformats.org/package/2006/relationships"><Relationship Id="rId2" Type="http://schemas.openxmlformats.org/officeDocument/2006/relationships/image" Target="../media/image173.png"/><Relationship Id="rId1" Type="http://schemas.openxmlformats.org/officeDocument/2006/relationships/slideLayout" Target="../slideLayouts/slideLayout143.xml"/></Relationships>
</file>

<file path=ppt/slides/_rels/slide165.xml.rels><?xml version="1.0" encoding="UTF-8" standalone="yes"?>
<Relationships xmlns="http://schemas.openxmlformats.org/package/2006/relationships"><Relationship Id="rId2" Type="http://schemas.openxmlformats.org/officeDocument/2006/relationships/image" Target="../media/image174.png"/><Relationship Id="rId1" Type="http://schemas.openxmlformats.org/officeDocument/2006/relationships/slideLayout" Target="../slideLayouts/slideLayout143.xml"/></Relationships>
</file>

<file path=ppt/slides/_rels/slide166.xml.rels><?xml version="1.0" encoding="UTF-8" standalone="yes"?>
<Relationships xmlns="http://schemas.openxmlformats.org/package/2006/relationships"><Relationship Id="rId2" Type="http://schemas.openxmlformats.org/officeDocument/2006/relationships/image" Target="../media/image175.png"/><Relationship Id="rId1" Type="http://schemas.openxmlformats.org/officeDocument/2006/relationships/slideLayout" Target="../slideLayouts/slideLayout143.xml"/></Relationships>
</file>

<file path=ppt/slides/_rels/slide167.xml.rels><?xml version="1.0" encoding="UTF-8" standalone="yes"?>
<Relationships xmlns="http://schemas.openxmlformats.org/package/2006/relationships"><Relationship Id="rId2" Type="http://schemas.openxmlformats.org/officeDocument/2006/relationships/image" Target="../media/image176.png"/><Relationship Id="rId1" Type="http://schemas.openxmlformats.org/officeDocument/2006/relationships/slideLayout" Target="../slideLayouts/slideLayout143.xml"/></Relationships>
</file>

<file path=ppt/slides/_rels/slide168.xml.rels><?xml version="1.0" encoding="UTF-8" standalone="yes"?>
<Relationships xmlns="http://schemas.openxmlformats.org/package/2006/relationships"><Relationship Id="rId2" Type="http://schemas.openxmlformats.org/officeDocument/2006/relationships/image" Target="../media/image177.png"/><Relationship Id="rId1" Type="http://schemas.openxmlformats.org/officeDocument/2006/relationships/slideLayout" Target="../slideLayouts/slideLayout143.xml"/></Relationships>
</file>

<file path=ppt/slides/_rels/slide169.xml.rels><?xml version="1.0" encoding="UTF-8" standalone="yes"?>
<Relationships xmlns="http://schemas.openxmlformats.org/package/2006/relationships"><Relationship Id="rId2" Type="http://schemas.openxmlformats.org/officeDocument/2006/relationships/image" Target="../media/image178.png"/><Relationship Id="rId1" Type="http://schemas.openxmlformats.org/officeDocument/2006/relationships/slideLayout" Target="../slideLayouts/slideLayout143.xml"/></Relationships>
</file>

<file path=ppt/slides/_rels/slide170.xml.rels><?xml version="1.0" encoding="UTF-8" standalone="yes"?>
<Relationships xmlns="http://schemas.openxmlformats.org/package/2006/relationships"><Relationship Id="rId2" Type="http://schemas.openxmlformats.org/officeDocument/2006/relationships/image" Target="../media/image179.png"/><Relationship Id="rId1" Type="http://schemas.openxmlformats.org/officeDocument/2006/relationships/slideLayout" Target="../slideLayouts/slideLayout143.xml"/></Relationships>
</file>

<file path=ppt/slides/_rels/slide171.xml.rels><?xml version="1.0" encoding="UTF-8" standalone="yes"?>
<Relationships xmlns="http://schemas.openxmlformats.org/package/2006/relationships"><Relationship Id="rId2" Type="http://schemas.openxmlformats.org/officeDocument/2006/relationships/image" Target="../media/image180.png"/><Relationship Id="rId1" Type="http://schemas.openxmlformats.org/officeDocument/2006/relationships/slideLayout" Target="../slideLayouts/slideLayout143.xml"/></Relationships>
</file>

<file path=ppt/slides/_rels/slide172.xml.rels><?xml version="1.0" encoding="UTF-8" standalone="yes"?>
<Relationships xmlns="http://schemas.openxmlformats.org/package/2006/relationships"><Relationship Id="rId2" Type="http://schemas.openxmlformats.org/officeDocument/2006/relationships/image" Target="../media/image181.png"/><Relationship Id="rId1" Type="http://schemas.openxmlformats.org/officeDocument/2006/relationships/slideLayout" Target="../slideLayouts/slideLayout143.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44.xml"/></Relationships>
</file>

<file path=ppt/slides/_rels/slide174.xml.rels><?xml version="1.0" encoding="UTF-8" standalone="yes"?>
<Relationships xmlns="http://schemas.openxmlformats.org/package/2006/relationships"><Relationship Id="rId2" Type="http://schemas.openxmlformats.org/officeDocument/2006/relationships/image" Target="../media/image182.png"/><Relationship Id="rId1" Type="http://schemas.openxmlformats.org/officeDocument/2006/relationships/slideLayout" Target="../slideLayouts/slideLayout143.xml"/></Relationships>
</file>

<file path=ppt/slides/_rels/slide175.xml.rels><?xml version="1.0" encoding="UTF-8" standalone="yes"?>
<Relationships xmlns="http://schemas.openxmlformats.org/package/2006/relationships"><Relationship Id="rId2" Type="http://schemas.openxmlformats.org/officeDocument/2006/relationships/image" Target="../media/image183.png"/><Relationship Id="rId1" Type="http://schemas.openxmlformats.org/officeDocument/2006/relationships/slideLayout" Target="../slideLayouts/slideLayout143.xml"/></Relationships>
</file>

<file path=ppt/slides/_rels/slide17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4.png"/><Relationship Id="rId1" Type="http://schemas.openxmlformats.org/officeDocument/2006/relationships/slideLayout" Target="../slideLayouts/slideLayout143.xml"/><Relationship Id="rId4" Type="http://schemas.openxmlformats.org/officeDocument/2006/relationships/image" Target="../media/image20.png"/></Relationships>
</file>

<file path=ppt/slides/_rels/slide17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85.png"/><Relationship Id="rId1" Type="http://schemas.openxmlformats.org/officeDocument/2006/relationships/slideLayout" Target="../slideLayouts/slideLayout143.xml"/></Relationships>
</file>

<file path=ppt/slides/_rels/slide17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86.png"/><Relationship Id="rId1" Type="http://schemas.openxmlformats.org/officeDocument/2006/relationships/slideLayout" Target="../slideLayouts/slideLayout143.xml"/><Relationship Id="rId4" Type="http://schemas.openxmlformats.org/officeDocument/2006/relationships/image" Target="../media/image23.png"/></Relationships>
</file>

<file path=ppt/slides/_rels/slide179.xml.rels><?xml version="1.0" encoding="UTF-8" standalone="yes"?>
<Relationships xmlns="http://schemas.openxmlformats.org/package/2006/relationships"><Relationship Id="rId3" Type="http://schemas.openxmlformats.org/officeDocument/2006/relationships/image" Target="../media/image188.png"/><Relationship Id="rId2" Type="http://schemas.openxmlformats.org/officeDocument/2006/relationships/image" Target="../media/image187.png"/><Relationship Id="rId1" Type="http://schemas.openxmlformats.org/officeDocument/2006/relationships/slideLayout" Target="../slideLayouts/slideLayout143.xml"/><Relationship Id="rId5" Type="http://schemas.openxmlformats.org/officeDocument/2006/relationships/image" Target="../media/image31.png"/><Relationship Id="rId4" Type="http://schemas.openxmlformats.org/officeDocument/2006/relationships/image" Target="../media/image30.png"/></Relationships>
</file>

<file path=ppt/slides/_rels/slide18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189.png"/><Relationship Id="rId1" Type="http://schemas.openxmlformats.org/officeDocument/2006/relationships/slideLayout" Target="../slideLayouts/slideLayout143.xml"/><Relationship Id="rId4" Type="http://schemas.openxmlformats.org/officeDocument/2006/relationships/image" Target="../media/image38.png"/></Relationships>
</file>

<file path=ppt/slides/_rels/slide181.xml.rels><?xml version="1.0" encoding="UTF-8" standalone="yes"?>
<Relationships xmlns="http://schemas.openxmlformats.org/package/2006/relationships"><Relationship Id="rId2" Type="http://schemas.openxmlformats.org/officeDocument/2006/relationships/image" Target="../media/image190.png"/><Relationship Id="rId1" Type="http://schemas.openxmlformats.org/officeDocument/2006/relationships/slideLayout" Target="../slideLayouts/slideLayout143.xml"/></Relationships>
</file>

<file path=ppt/slides/_rels/slide182.xml.rels><?xml version="1.0" encoding="UTF-8" standalone="yes"?>
<Relationships xmlns="http://schemas.openxmlformats.org/package/2006/relationships"><Relationship Id="rId2" Type="http://schemas.openxmlformats.org/officeDocument/2006/relationships/image" Target="../media/image191.png"/><Relationship Id="rId1" Type="http://schemas.openxmlformats.org/officeDocument/2006/relationships/slideLayout" Target="../slideLayouts/slideLayout143.xml"/></Relationships>
</file>

<file path=ppt/slides/_rels/slide183.xml.rels><?xml version="1.0" encoding="UTF-8" standalone="yes"?>
<Relationships xmlns="http://schemas.openxmlformats.org/package/2006/relationships"><Relationship Id="rId2" Type="http://schemas.openxmlformats.org/officeDocument/2006/relationships/image" Target="../media/image192.png"/><Relationship Id="rId1" Type="http://schemas.openxmlformats.org/officeDocument/2006/relationships/slideLayout" Target="../slideLayouts/slideLayout143.xml"/></Relationships>
</file>

<file path=ppt/slides/_rels/slide184.xml.rels><?xml version="1.0" encoding="UTF-8" standalone="yes"?>
<Relationships xmlns="http://schemas.openxmlformats.org/package/2006/relationships"><Relationship Id="rId3" Type="http://schemas.openxmlformats.org/officeDocument/2006/relationships/image" Target="../media/image194.png"/><Relationship Id="rId2" Type="http://schemas.openxmlformats.org/officeDocument/2006/relationships/image" Target="../media/image193.png"/><Relationship Id="rId1" Type="http://schemas.openxmlformats.org/officeDocument/2006/relationships/slideLayout" Target="../slideLayouts/slideLayout143.xml"/></Relationships>
</file>

<file path=ppt/slides/_rels/slide185.xml.rels><?xml version="1.0" encoding="UTF-8" standalone="yes"?>
<Relationships xmlns="http://schemas.openxmlformats.org/package/2006/relationships"><Relationship Id="rId2" Type="http://schemas.openxmlformats.org/officeDocument/2006/relationships/image" Target="../media/image195.png"/><Relationship Id="rId1" Type="http://schemas.openxmlformats.org/officeDocument/2006/relationships/slideLayout" Target="../slideLayouts/slideLayout143.xml"/></Relationships>
</file>

<file path=ppt/slides/_rels/slide186.xml.rels><?xml version="1.0" encoding="UTF-8" standalone="yes"?>
<Relationships xmlns="http://schemas.openxmlformats.org/package/2006/relationships"><Relationship Id="rId2" Type="http://schemas.openxmlformats.org/officeDocument/2006/relationships/image" Target="../media/image196.png"/><Relationship Id="rId1" Type="http://schemas.openxmlformats.org/officeDocument/2006/relationships/slideLayout" Target="../slideLayouts/slideLayout143.xml"/></Relationships>
</file>

<file path=ppt/slides/_rels/slide187.xml.rels><?xml version="1.0" encoding="UTF-8" standalone="yes"?>
<Relationships xmlns="http://schemas.openxmlformats.org/package/2006/relationships"><Relationship Id="rId2" Type="http://schemas.openxmlformats.org/officeDocument/2006/relationships/image" Target="../media/image197.png"/><Relationship Id="rId1" Type="http://schemas.openxmlformats.org/officeDocument/2006/relationships/slideLayout" Target="../slideLayouts/slideLayout143.xml"/></Relationships>
</file>

<file path=ppt/slides/_rels/slide188.xml.rels><?xml version="1.0" encoding="UTF-8" standalone="yes"?>
<Relationships xmlns="http://schemas.openxmlformats.org/package/2006/relationships"><Relationship Id="rId2" Type="http://schemas.openxmlformats.org/officeDocument/2006/relationships/image" Target="../media/image198.png"/><Relationship Id="rId1" Type="http://schemas.openxmlformats.org/officeDocument/2006/relationships/slideLayout" Target="../slideLayouts/slideLayout143.xml"/></Relationships>
</file>

<file path=ppt/slides/_rels/slide189.xml.rels><?xml version="1.0" encoding="UTF-8" standalone="yes"?>
<Relationships xmlns="http://schemas.openxmlformats.org/package/2006/relationships"><Relationship Id="rId2" Type="http://schemas.openxmlformats.org/officeDocument/2006/relationships/image" Target="../media/image199.png"/><Relationship Id="rId1" Type="http://schemas.openxmlformats.org/officeDocument/2006/relationships/slideLayout" Target="../slideLayouts/slideLayout143.xml"/></Relationships>
</file>

<file path=ppt/slides/_rels/slide190.xml.rels><?xml version="1.0" encoding="UTF-8" standalone="yes"?>
<Relationships xmlns="http://schemas.openxmlformats.org/package/2006/relationships"><Relationship Id="rId2" Type="http://schemas.openxmlformats.org/officeDocument/2006/relationships/image" Target="../media/image200.png"/><Relationship Id="rId1" Type="http://schemas.openxmlformats.org/officeDocument/2006/relationships/slideLayout" Target="../slideLayouts/slideLayout143.xml"/></Relationships>
</file>

<file path=ppt/slides/_rels/slide191.xml.rels><?xml version="1.0" encoding="UTF-8" standalone="yes"?>
<Relationships xmlns="http://schemas.openxmlformats.org/package/2006/relationships"><Relationship Id="rId2" Type="http://schemas.openxmlformats.org/officeDocument/2006/relationships/image" Target="../media/image201.png"/><Relationship Id="rId1" Type="http://schemas.openxmlformats.org/officeDocument/2006/relationships/slideLayout" Target="../slideLayouts/slideLayout143.xml"/></Relationships>
</file>

<file path=ppt/slides/_rels/slide192.xml.rels><?xml version="1.0" encoding="UTF-8" standalone="yes"?>
<Relationships xmlns="http://schemas.openxmlformats.org/package/2006/relationships"><Relationship Id="rId2" Type="http://schemas.openxmlformats.org/officeDocument/2006/relationships/image" Target="../media/image202.png"/><Relationship Id="rId1" Type="http://schemas.openxmlformats.org/officeDocument/2006/relationships/slideLayout" Target="../slideLayouts/slideLayout143.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144.xml"/></Relationships>
</file>

<file path=ppt/slides/_rels/slide194.xml.rels><?xml version="1.0" encoding="UTF-8" standalone="yes"?>
<Relationships xmlns="http://schemas.openxmlformats.org/package/2006/relationships"><Relationship Id="rId2" Type="http://schemas.openxmlformats.org/officeDocument/2006/relationships/image" Target="../media/image203.png"/><Relationship Id="rId1" Type="http://schemas.openxmlformats.org/officeDocument/2006/relationships/slideLayout" Target="../slideLayouts/slideLayout143.xml"/></Relationships>
</file>

<file path=ppt/slides/_rels/slide195.xml.rels><?xml version="1.0" encoding="UTF-8" standalone="yes"?>
<Relationships xmlns="http://schemas.openxmlformats.org/package/2006/relationships"><Relationship Id="rId2" Type="http://schemas.openxmlformats.org/officeDocument/2006/relationships/image" Target="../media/image204.png"/><Relationship Id="rId1" Type="http://schemas.openxmlformats.org/officeDocument/2006/relationships/slideLayout" Target="../slideLayouts/slideLayout143.xml"/></Relationships>
</file>

<file path=ppt/slides/_rels/slide196.xml.rels><?xml version="1.0" encoding="UTF-8" standalone="yes"?>
<Relationships xmlns="http://schemas.openxmlformats.org/package/2006/relationships"><Relationship Id="rId2" Type="http://schemas.openxmlformats.org/officeDocument/2006/relationships/image" Target="../media/image205.png"/><Relationship Id="rId1" Type="http://schemas.openxmlformats.org/officeDocument/2006/relationships/slideLayout" Target="../slideLayouts/slideLayout143.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144.xml"/></Relationships>
</file>

<file path=ppt/slides/_rels/slide198.xml.rels><?xml version="1.0" encoding="UTF-8" standalone="yes"?>
<Relationships xmlns="http://schemas.openxmlformats.org/package/2006/relationships"><Relationship Id="rId2" Type="http://schemas.openxmlformats.org/officeDocument/2006/relationships/image" Target="../media/image206.png"/><Relationship Id="rId1" Type="http://schemas.openxmlformats.org/officeDocument/2006/relationships/slideLayout" Target="../slideLayouts/slideLayout143.xml"/></Relationships>
</file>

<file path=ppt/slides/_rels/slide199.xml.rels><?xml version="1.0" encoding="UTF-8" standalone="yes"?>
<Relationships xmlns="http://schemas.openxmlformats.org/package/2006/relationships"><Relationship Id="rId2" Type="http://schemas.openxmlformats.org/officeDocument/2006/relationships/image" Target="../media/image207.png"/><Relationship Id="rId1" Type="http://schemas.openxmlformats.org/officeDocument/2006/relationships/slideLayout" Target="../slideLayouts/slideLayout143.xml"/></Relationships>
</file>

<file path=ppt/slides/_rels/slide200.xml.rels><?xml version="1.0" encoding="UTF-8" standalone="yes"?>
<Relationships xmlns="http://schemas.openxmlformats.org/package/2006/relationships"><Relationship Id="rId3" Type="http://schemas.openxmlformats.org/officeDocument/2006/relationships/image" Target="../media/image209.png"/><Relationship Id="rId2" Type="http://schemas.openxmlformats.org/officeDocument/2006/relationships/image" Target="../media/image208.png"/><Relationship Id="rId1" Type="http://schemas.openxmlformats.org/officeDocument/2006/relationships/slideLayout" Target="../slideLayouts/slideLayout143.xml"/></Relationships>
</file>

<file path=ppt/slides/_rels/slide201.xml.rels><?xml version="1.0" encoding="UTF-8" standalone="yes"?>
<Relationships xmlns="http://schemas.openxmlformats.org/package/2006/relationships"><Relationship Id="rId2" Type="http://schemas.openxmlformats.org/officeDocument/2006/relationships/image" Target="../media/image210.png"/><Relationship Id="rId1" Type="http://schemas.openxmlformats.org/officeDocument/2006/relationships/slideLayout" Target="../slideLayouts/slideLayout143.xml"/></Relationships>
</file>

<file path=ppt/slides/_rels/slide202.xml.rels><?xml version="1.0" encoding="UTF-8" standalone="yes"?>
<Relationships xmlns="http://schemas.openxmlformats.org/package/2006/relationships"><Relationship Id="rId2" Type="http://schemas.openxmlformats.org/officeDocument/2006/relationships/image" Target="../media/image211.png"/><Relationship Id="rId1" Type="http://schemas.openxmlformats.org/officeDocument/2006/relationships/slideLayout" Target="../slideLayouts/slideLayout143.xml"/></Relationships>
</file>

<file path=ppt/slides/_rels/slide203.xml.rels><?xml version="1.0" encoding="UTF-8" standalone="yes"?>
<Relationships xmlns="http://schemas.openxmlformats.org/package/2006/relationships"><Relationship Id="rId2" Type="http://schemas.openxmlformats.org/officeDocument/2006/relationships/image" Target="../media/image212.png"/><Relationship Id="rId1" Type="http://schemas.openxmlformats.org/officeDocument/2006/relationships/slideLayout" Target="../slideLayouts/slideLayout143.xml"/></Relationships>
</file>

<file path=ppt/slides/_rels/slide204.xml.rels><?xml version="1.0" encoding="UTF-8" standalone="yes"?>
<Relationships xmlns="http://schemas.openxmlformats.org/package/2006/relationships"><Relationship Id="rId2" Type="http://schemas.openxmlformats.org/officeDocument/2006/relationships/image" Target="../media/image213.png"/><Relationship Id="rId1" Type="http://schemas.openxmlformats.org/officeDocument/2006/relationships/slideLayout" Target="../slideLayouts/slideLayout143.xml"/></Relationships>
</file>

<file path=ppt/slides/_rels/slide205.xml.rels><?xml version="1.0" encoding="UTF-8" standalone="yes"?>
<Relationships xmlns="http://schemas.openxmlformats.org/package/2006/relationships"><Relationship Id="rId2" Type="http://schemas.openxmlformats.org/officeDocument/2006/relationships/image" Target="../media/image214.png"/><Relationship Id="rId1" Type="http://schemas.openxmlformats.org/officeDocument/2006/relationships/slideLayout" Target="../slideLayouts/slideLayout143.xml"/></Relationships>
</file>

<file path=ppt/slides/_rels/slide206.xml.rels><?xml version="1.0" encoding="UTF-8" standalone="yes"?>
<Relationships xmlns="http://schemas.openxmlformats.org/package/2006/relationships"><Relationship Id="rId2" Type="http://schemas.openxmlformats.org/officeDocument/2006/relationships/image" Target="../media/image215.png"/><Relationship Id="rId1" Type="http://schemas.openxmlformats.org/officeDocument/2006/relationships/slideLayout" Target="../slideLayouts/slideLayout143.xml"/></Relationships>
</file>

<file path=ppt/slides/_rels/slide20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14.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14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E8BCB3F-6CDE-555F-945C-FD9DF637FF82}"/>
              </a:ext>
            </a:extLst>
          </p:cNvPr>
          <p:cNvSpPr>
            <a:spLocks noGrp="1"/>
          </p:cNvSpPr>
          <p:nvPr>
            <p:ph type="body" sz="quarter" idx="10"/>
          </p:nvPr>
        </p:nvSpPr>
        <p:spPr>
          <a:xfrm>
            <a:off x="556902" y="1950772"/>
            <a:ext cx="5427132" cy="1222707"/>
          </a:xfrm>
        </p:spPr>
        <p:txBody>
          <a:bodyPr/>
          <a:lstStyle/>
          <a:p>
            <a:r>
              <a:rPr lang="es-CO" sz="4400" dirty="0"/>
              <a:t>Gestionar los Beneficios</a:t>
            </a:r>
            <a:endParaRPr lang="en-US" sz="4400" dirty="0"/>
          </a:p>
        </p:txBody>
      </p:sp>
      <p:sp>
        <p:nvSpPr>
          <p:cNvPr id="3" name="Text Placeholder 2">
            <a:extLst>
              <a:ext uri="{FF2B5EF4-FFF2-40B4-BE49-F238E27FC236}">
                <a16:creationId xmlns:a16="http://schemas.microsoft.com/office/drawing/2014/main" id="{AFC3AF02-2178-7BEB-DC06-4BB29198D4C0}"/>
              </a:ext>
            </a:extLst>
          </p:cNvPr>
          <p:cNvSpPr>
            <a:spLocks noGrp="1"/>
          </p:cNvSpPr>
          <p:nvPr>
            <p:ph type="body" sz="quarter" idx="11"/>
          </p:nvPr>
        </p:nvSpPr>
        <p:spPr>
          <a:xfrm>
            <a:off x="556902" y="4621474"/>
            <a:ext cx="5427132" cy="324961"/>
          </a:xfrm>
        </p:spPr>
        <p:txBody>
          <a:bodyPr>
            <a:spAutoFit/>
          </a:bodyPr>
          <a:lstStyle/>
          <a:p>
            <a:r>
              <a:rPr lang="es-CO" dirty="0"/>
              <a:t>C</a:t>
            </a:r>
            <a:r>
              <a:rPr lang="en-US" dirty="0"/>
              <a:t>uenta Corriente</a:t>
            </a:r>
          </a:p>
        </p:txBody>
      </p:sp>
      <p:sp>
        <p:nvSpPr>
          <p:cNvPr id="4" name="Text Placeholder 3">
            <a:extLst>
              <a:ext uri="{FF2B5EF4-FFF2-40B4-BE49-F238E27FC236}">
                <a16:creationId xmlns:a16="http://schemas.microsoft.com/office/drawing/2014/main" id="{692B0829-7360-8531-FF9E-7D531E7A6091}"/>
              </a:ext>
            </a:extLst>
          </p:cNvPr>
          <p:cNvSpPr>
            <a:spLocks noGrp="1"/>
          </p:cNvSpPr>
          <p:nvPr>
            <p:ph type="body" sz="quarter" idx="12"/>
          </p:nvPr>
        </p:nvSpPr>
        <p:spPr/>
        <p:txBody>
          <a:bodyPr/>
          <a:lstStyle/>
          <a:p>
            <a:r>
              <a:rPr lang="es-ES" dirty="0"/>
              <a:t>Faver Herrera Mejia</a:t>
            </a:r>
            <a:br>
              <a:rPr lang="es-ES" dirty="0"/>
            </a:br>
            <a:r>
              <a:rPr lang="es-ES" dirty="0"/>
              <a:t>Consultor</a:t>
            </a:r>
            <a:endParaRPr lang="en-US" dirty="0"/>
          </a:p>
        </p:txBody>
      </p:sp>
      <p:sp>
        <p:nvSpPr>
          <p:cNvPr id="5" name="Text Placeholder 4">
            <a:extLst>
              <a:ext uri="{FF2B5EF4-FFF2-40B4-BE49-F238E27FC236}">
                <a16:creationId xmlns:a16="http://schemas.microsoft.com/office/drawing/2014/main" id="{7640F739-8B92-AE20-CC72-FD73501B27C6}"/>
              </a:ext>
            </a:extLst>
          </p:cNvPr>
          <p:cNvSpPr>
            <a:spLocks noGrp="1"/>
          </p:cNvSpPr>
          <p:nvPr>
            <p:ph type="body" sz="quarter" idx="13"/>
          </p:nvPr>
        </p:nvSpPr>
        <p:spPr/>
        <p:txBody>
          <a:bodyPr/>
          <a:lstStyle/>
          <a:p>
            <a:r>
              <a:rPr lang="en-US" dirty="0"/>
              <a:t>Julio 2026</a:t>
            </a:r>
          </a:p>
        </p:txBody>
      </p:sp>
      <p:pic>
        <p:nvPicPr>
          <p:cNvPr id="17" name="Marcador de posición de imagen 16">
            <a:extLst>
              <a:ext uri="{FF2B5EF4-FFF2-40B4-BE49-F238E27FC236}">
                <a16:creationId xmlns:a16="http://schemas.microsoft.com/office/drawing/2014/main" id="{0E93CFF6-8A3E-E912-0863-90018EE4BEA0}"/>
              </a:ext>
            </a:extLst>
          </p:cNvPr>
          <p:cNvPicPr>
            <a:picLocks noGrp="1" noChangeAspect="1"/>
          </p:cNvPicPr>
          <p:nvPr>
            <p:ph type="pic" sz="quarter" idx="14"/>
          </p:nvPr>
        </p:nvPicPr>
        <p:blipFill>
          <a:blip r:embed="rId2"/>
          <a:srcRect l="17881" r="17881"/>
          <a:stretch>
            <a:fillRect/>
          </a:stretch>
        </p:blipFill>
        <p:spPr>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pic>
    </p:spTree>
    <p:extLst>
      <p:ext uri="{BB962C8B-B14F-4D97-AF65-F5344CB8AC3E}">
        <p14:creationId xmlns:p14="http://schemas.microsoft.com/office/powerpoint/2010/main" val="91913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2">
            <a:extLst>
              <a:ext uri="{FF2B5EF4-FFF2-40B4-BE49-F238E27FC236}">
                <a16:creationId xmlns:a16="http://schemas.microsoft.com/office/drawing/2014/main" id="{4673DED4-8FDF-4D14-4B12-E97032DE43BA}"/>
              </a:ext>
            </a:extLst>
          </p:cNvPr>
          <p:cNvGraphicFramePr>
            <a:graphicFrameLocks noGrp="1"/>
          </p:cNvGraphicFramePr>
          <p:nvPr>
            <p:extLst>
              <p:ext uri="{D42A27DB-BD31-4B8C-83A1-F6EECF244321}">
                <p14:modId xmlns:p14="http://schemas.microsoft.com/office/powerpoint/2010/main" val="1542121530"/>
              </p:ext>
            </p:extLst>
          </p:nvPr>
        </p:nvGraphicFramePr>
        <p:xfrm>
          <a:off x="574223" y="1934479"/>
          <a:ext cx="11285545" cy="2991237"/>
        </p:xfrm>
        <a:graphic>
          <a:graphicData uri="http://schemas.openxmlformats.org/drawingml/2006/table">
            <a:tbl>
              <a:tblPr>
                <a:tableStyleId>{5C22544A-7EE6-4342-B048-85BDC9FD1C3A}</a:tableStyleId>
              </a:tblPr>
              <a:tblGrid>
                <a:gridCol w="1158849">
                  <a:extLst>
                    <a:ext uri="{9D8B030D-6E8A-4147-A177-3AD203B41FA5}">
                      <a16:colId xmlns:a16="http://schemas.microsoft.com/office/drawing/2014/main" val="1835725686"/>
                    </a:ext>
                  </a:extLst>
                </a:gridCol>
                <a:gridCol w="10126696">
                  <a:extLst>
                    <a:ext uri="{9D8B030D-6E8A-4147-A177-3AD203B41FA5}">
                      <a16:colId xmlns:a16="http://schemas.microsoft.com/office/drawing/2014/main" val="52046442"/>
                    </a:ext>
                  </a:extLst>
                </a:gridCol>
              </a:tblGrid>
              <a:tr h="814199">
                <a:tc>
                  <a:txBody>
                    <a:bodyPr/>
                    <a:lstStyle/>
                    <a:p>
                      <a:r>
                        <a:rPr lang="en-US" sz="3000" b="1" kern="1200" dirty="0">
                          <a:solidFill>
                            <a:schemeClr val="accent1"/>
                          </a:solidFill>
                          <a:effectLst/>
                          <a:latin typeface="Helvetica Neue" panose="02000503000000020004" pitchFamily="2" charset="0"/>
                          <a:ea typeface="+mn-ea"/>
                          <a:cs typeface="+mn-cs"/>
                        </a:rPr>
                        <a:t>01</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3000" b="0" kern="1200" dirty="0">
                          <a:solidFill>
                            <a:schemeClr val="tx1"/>
                          </a:solidFill>
                          <a:effectLst/>
                          <a:latin typeface="Helvetica Neue" panose="02000503000000020004" pitchFamily="2" charset="0"/>
                          <a:ea typeface="+mn-ea"/>
                          <a:cs typeface="+mn-cs"/>
                        </a:rPr>
                        <a:t>Overview</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41948859"/>
                  </a:ext>
                </a:extLst>
              </a:tr>
              <a:tr h="814199">
                <a:tc>
                  <a:txBody>
                    <a:bodyPr/>
                    <a:lstStyle/>
                    <a:p>
                      <a:r>
                        <a:rPr lang="en-US" sz="3000" b="1" kern="1200" dirty="0">
                          <a:solidFill>
                            <a:schemeClr val="accent1"/>
                          </a:solidFill>
                          <a:effectLst/>
                          <a:latin typeface="Helvetica Neue" panose="02000503000000020004" pitchFamily="2" charset="0"/>
                          <a:ea typeface="+mn-ea"/>
                          <a:cs typeface="+mn-cs"/>
                        </a:rPr>
                        <a:t>02</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3000" b="0" kern="1200" dirty="0">
                          <a:solidFill>
                            <a:schemeClr val="tx1"/>
                          </a:solidFill>
                          <a:effectLst/>
                          <a:latin typeface="Helvetica Neue" panose="02000503000000020004" pitchFamily="2" charset="0"/>
                          <a:ea typeface="+mn-ea"/>
                          <a:cs typeface="+mn-cs"/>
                        </a:rPr>
                        <a:t>Configuraciones</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24980871"/>
                  </a:ext>
                </a:extLst>
              </a:tr>
              <a:tr h="814199">
                <a:tc>
                  <a:txBody>
                    <a:bodyPr/>
                    <a:lstStyle/>
                    <a:p>
                      <a:r>
                        <a:rPr lang="en-US" sz="3000" b="1" kern="1200" dirty="0">
                          <a:solidFill>
                            <a:schemeClr val="accent1"/>
                          </a:solidFill>
                          <a:effectLst/>
                          <a:latin typeface="Helvetica Neue" panose="02000503000000020004" pitchFamily="2" charset="0"/>
                          <a:ea typeface="+mn-ea"/>
                          <a:cs typeface="+mn-cs"/>
                        </a:rPr>
                        <a:t>03</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s-CO" sz="3000" b="0" kern="1200" dirty="0">
                          <a:solidFill>
                            <a:schemeClr val="tx1"/>
                          </a:solidFill>
                          <a:effectLst/>
                          <a:latin typeface="Helvetica Neue" panose="02000503000000020004" pitchFamily="2" charset="0"/>
                          <a:ea typeface="+mn-ea"/>
                          <a:cs typeface="+mn-cs"/>
                        </a:rPr>
                        <a:t>Gestionar los beneficios</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19936347"/>
                  </a:ext>
                </a:extLst>
              </a:tr>
              <a:tr h="0">
                <a:tc>
                  <a:txBody>
                    <a:bodyPr/>
                    <a:lstStyle/>
                    <a:p>
                      <a:r>
                        <a:rPr lang="en-US" sz="3000" b="1" kern="1200" dirty="0">
                          <a:solidFill>
                            <a:schemeClr val="accent1"/>
                          </a:solidFill>
                          <a:effectLst/>
                          <a:latin typeface="Helvetica Neue" panose="02000503000000020004" pitchFamily="2" charset="0"/>
                          <a:ea typeface="+mn-ea"/>
                          <a:cs typeface="+mn-cs"/>
                        </a:rPr>
                        <a:t>04</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3000" b="0" kern="1200" dirty="0" err="1">
                          <a:solidFill>
                            <a:schemeClr val="tx1"/>
                          </a:solidFill>
                          <a:effectLst/>
                          <a:latin typeface="Helvetica Neue" panose="02000503000000020004" pitchFamily="2" charset="0"/>
                          <a:ea typeface="+mn-ea"/>
                          <a:cs typeface="+mn-cs"/>
                        </a:rPr>
                        <a:t>Resumen</a:t>
                      </a:r>
                      <a:endParaRPr lang="en-US" sz="3000" b="0" kern="1200" dirty="0">
                        <a:solidFill>
                          <a:schemeClr val="tx1"/>
                        </a:solidFill>
                        <a:effectLst/>
                        <a:latin typeface="Helvetica Neue" panose="02000503000000020004" pitchFamily="2" charset="0"/>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33436290"/>
                  </a:ext>
                </a:extLst>
              </a:tr>
            </a:tbl>
          </a:graphicData>
        </a:graphic>
      </p:graphicFrame>
    </p:spTree>
    <p:extLst>
      <p:ext uri="{BB962C8B-B14F-4D97-AF65-F5344CB8AC3E}">
        <p14:creationId xmlns:p14="http://schemas.microsoft.com/office/powerpoint/2010/main" val="34603074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3B593FF0-F34F-6C36-BB0F-89589516776B}"/>
              </a:ext>
            </a:extLst>
          </p:cNvPr>
          <p:cNvSpPr txBox="1">
            <a:spLocks/>
          </p:cNvSpPr>
          <p:nvPr/>
        </p:nvSpPr>
        <p:spPr>
          <a:xfrm>
            <a:off x="526079" y="283019"/>
            <a:ext cx="9418021" cy="70177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Overview: </a:t>
            </a:r>
            <a:r>
              <a:rPr lang="es-CO" sz="3200" dirty="0"/>
              <a:t>	Mapa de capacidad de negocio</a:t>
            </a:r>
            <a:r>
              <a:rPr lang="es-ES_tradnl" sz="3200" dirty="0"/>
              <a:t> </a:t>
            </a:r>
            <a:endParaRPr lang="en-US" dirty="0"/>
          </a:p>
        </p:txBody>
      </p:sp>
      <p:pic>
        <p:nvPicPr>
          <p:cNvPr id="8" name="Imagen 7">
            <a:extLst>
              <a:ext uri="{FF2B5EF4-FFF2-40B4-BE49-F238E27FC236}">
                <a16:creationId xmlns:a16="http://schemas.microsoft.com/office/drawing/2014/main" id="{C9DCAC72-8E59-43D3-DBF8-6FB117CFD62F}"/>
              </a:ext>
            </a:extLst>
          </p:cNvPr>
          <p:cNvPicPr>
            <a:picLocks noChangeAspect="1"/>
          </p:cNvPicPr>
          <p:nvPr/>
        </p:nvPicPr>
        <p:blipFill>
          <a:blip r:embed="rId2"/>
          <a:stretch>
            <a:fillRect/>
          </a:stretch>
        </p:blipFill>
        <p:spPr>
          <a:xfrm>
            <a:off x="365462" y="917432"/>
            <a:ext cx="11183409" cy="4684832"/>
          </a:xfrm>
          <a:prstGeom prst="rect">
            <a:avLst/>
          </a:prstGeom>
        </p:spPr>
      </p:pic>
      <p:sp>
        <p:nvSpPr>
          <p:cNvPr id="9" name="Rectángulo 8">
            <a:extLst>
              <a:ext uri="{FF2B5EF4-FFF2-40B4-BE49-F238E27FC236}">
                <a16:creationId xmlns:a16="http://schemas.microsoft.com/office/drawing/2014/main" id="{7C11DADF-0433-67D5-BCFF-E624B413DB32}"/>
              </a:ext>
            </a:extLst>
          </p:cNvPr>
          <p:cNvSpPr/>
          <p:nvPr/>
        </p:nvSpPr>
        <p:spPr>
          <a:xfrm>
            <a:off x="9720072" y="1683212"/>
            <a:ext cx="704088" cy="543165"/>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2923362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516E66-743D-1928-26DE-8C1E7DAB4506}"/>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7D51AB42-514F-33BE-D706-8979FC17DF12}"/>
              </a:ext>
            </a:extLst>
          </p:cNvPr>
          <p:cNvSpPr txBox="1">
            <a:spLocks/>
          </p:cNvSpPr>
          <p:nvPr/>
        </p:nvSpPr>
        <p:spPr>
          <a:xfrm>
            <a:off x="1104900" y="685800"/>
            <a:ext cx="10477497" cy="489507"/>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Overview: </a:t>
            </a:r>
            <a:r>
              <a:rPr lang="es-CO" sz="3200" dirty="0"/>
              <a:t>Gestionar Cuentas por Cobrar del Estudiante</a:t>
            </a:r>
            <a:endParaRPr lang="es-CL" dirty="0"/>
          </a:p>
        </p:txBody>
      </p:sp>
      <p:sp>
        <p:nvSpPr>
          <p:cNvPr id="3" name="Marcador de texto 1">
            <a:extLst>
              <a:ext uri="{FF2B5EF4-FFF2-40B4-BE49-F238E27FC236}">
                <a16:creationId xmlns:a16="http://schemas.microsoft.com/office/drawing/2014/main" id="{03C97F2C-8546-ED56-8799-AC198A5DE2B5}"/>
              </a:ext>
            </a:extLst>
          </p:cNvPr>
          <p:cNvSpPr txBox="1">
            <a:spLocks/>
          </p:cNvSpPr>
          <p:nvPr/>
        </p:nvSpPr>
        <p:spPr>
          <a:xfrm>
            <a:off x="1014984" y="1175307"/>
            <a:ext cx="9962587" cy="4507385"/>
          </a:xfrm>
          <a:prstGeom prst="rect">
            <a:avLst/>
          </a:prstGeom>
        </p:spPr>
        <p:txBody>
          <a:bodyPr anchor="ctr"/>
          <a:lst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rgbClr val="0CB4B4"/>
              </a:buClr>
              <a:buBlip>
                <a:blip r:embed="rId2"/>
              </a:buBlip>
            </a:pPr>
            <a:r>
              <a:rPr lang="es-CO" sz="2400" dirty="0"/>
              <a:t> Gestionar los conceptos de configuración de la cuenta corriente</a:t>
            </a:r>
          </a:p>
          <a:p>
            <a:pPr>
              <a:buClr>
                <a:srgbClr val="0CB4B4"/>
              </a:buClr>
              <a:buBlip>
                <a:blip r:embed="rId2"/>
              </a:buBlip>
            </a:pPr>
            <a:r>
              <a:rPr lang="es-CO" sz="2400" dirty="0"/>
              <a:t> </a:t>
            </a:r>
            <a:r>
              <a:rPr lang="es-CO" sz="2400" b="1" dirty="0">
                <a:solidFill>
                  <a:schemeClr val="accent1"/>
                </a:solidFill>
              </a:rPr>
              <a:t>Gestionar los beneficios</a:t>
            </a:r>
          </a:p>
          <a:p>
            <a:pPr>
              <a:buClr>
                <a:srgbClr val="0CB4B4"/>
              </a:buClr>
              <a:buBlip>
                <a:blip r:embed="rId2"/>
              </a:buBlip>
            </a:pPr>
            <a:r>
              <a:rPr lang="es-CO" sz="2400" dirty="0"/>
              <a:t> Gestionar los planes de pago</a:t>
            </a:r>
          </a:p>
          <a:p>
            <a:pPr>
              <a:buClr>
                <a:srgbClr val="0CB4B4"/>
              </a:buClr>
              <a:buBlip>
                <a:blip r:embed="rId2"/>
              </a:buBlip>
            </a:pPr>
            <a:r>
              <a:rPr lang="es-CO" sz="2400" dirty="0"/>
              <a:t> Gestionar la matrícula</a:t>
            </a:r>
          </a:p>
          <a:p>
            <a:pPr>
              <a:buClr>
                <a:srgbClr val="0CB4B4"/>
              </a:buClr>
              <a:buBlip>
                <a:blip r:embed="rId2"/>
              </a:buBlip>
            </a:pPr>
            <a:r>
              <a:rPr lang="es-CO" sz="2400" dirty="0"/>
              <a:t> Gestionar los pagos</a:t>
            </a:r>
          </a:p>
          <a:p>
            <a:pPr>
              <a:buClr>
                <a:srgbClr val="0CB4B4"/>
              </a:buClr>
              <a:buBlip>
                <a:blip r:embed="rId2"/>
              </a:buBlip>
            </a:pPr>
            <a:r>
              <a:rPr lang="es-CO" sz="2400" dirty="0"/>
              <a:t> Gestionar los documentos de venta</a:t>
            </a:r>
          </a:p>
          <a:p>
            <a:pPr>
              <a:buClr>
                <a:srgbClr val="0CB4B4"/>
              </a:buClr>
              <a:buBlip>
                <a:blip r:embed="rId2"/>
              </a:buBlip>
            </a:pPr>
            <a:r>
              <a:rPr lang="es-CO" sz="2400" dirty="0"/>
              <a:t> Gestionar la cuenta corriente</a:t>
            </a:r>
          </a:p>
          <a:p>
            <a:pPr>
              <a:buClr>
                <a:srgbClr val="0CB4B4"/>
              </a:buClr>
              <a:buBlip>
                <a:blip r:embed="rId2"/>
              </a:buBlip>
            </a:pPr>
            <a:r>
              <a:rPr lang="es-CO" sz="2400" dirty="0"/>
              <a:t> Gestionar la generación de transacciones FI</a:t>
            </a:r>
          </a:p>
        </p:txBody>
      </p:sp>
    </p:spTree>
    <p:extLst>
      <p:ext uri="{BB962C8B-B14F-4D97-AF65-F5344CB8AC3E}">
        <p14:creationId xmlns:p14="http://schemas.microsoft.com/office/powerpoint/2010/main" val="22829723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D7B0D0-31A3-5697-ADCD-1DBB7FDC5798}"/>
            </a:ext>
          </a:extLst>
        </p:cNvPr>
        <p:cNvGrpSpPr/>
        <p:nvPr/>
      </p:nvGrpSpPr>
      <p:grpSpPr>
        <a:xfrm>
          <a:off x="0" y="0"/>
          <a:ext cx="0" cy="0"/>
          <a:chOff x="0" y="0"/>
          <a:chExt cx="0" cy="0"/>
        </a:xfrm>
      </p:grpSpPr>
      <p:pic>
        <p:nvPicPr>
          <p:cNvPr id="6" name="Imagen 5">
            <a:extLst>
              <a:ext uri="{FF2B5EF4-FFF2-40B4-BE49-F238E27FC236}">
                <a16:creationId xmlns:a16="http://schemas.microsoft.com/office/drawing/2014/main" id="{E58F3FB0-1246-A15C-6F05-1E2CEF64E6CA}"/>
              </a:ext>
            </a:extLst>
          </p:cNvPr>
          <p:cNvPicPr>
            <a:picLocks noChangeAspect="1"/>
          </p:cNvPicPr>
          <p:nvPr/>
        </p:nvPicPr>
        <p:blipFill>
          <a:blip r:embed="rId2"/>
          <a:stretch>
            <a:fillRect/>
          </a:stretch>
        </p:blipFill>
        <p:spPr>
          <a:xfrm>
            <a:off x="2372205" y="1243584"/>
            <a:ext cx="4949400" cy="5258738"/>
          </a:xfrm>
          <a:prstGeom prst="rect">
            <a:avLst/>
          </a:prstGeom>
        </p:spPr>
      </p:pic>
      <p:sp>
        <p:nvSpPr>
          <p:cNvPr id="4" name="CuadroTexto 3">
            <a:extLst>
              <a:ext uri="{FF2B5EF4-FFF2-40B4-BE49-F238E27FC236}">
                <a16:creationId xmlns:a16="http://schemas.microsoft.com/office/drawing/2014/main" id="{108B41F2-6092-A826-D062-7BEC12B9F49E}"/>
              </a:ext>
            </a:extLst>
          </p:cNvPr>
          <p:cNvSpPr txBox="1"/>
          <p:nvPr/>
        </p:nvSpPr>
        <p:spPr>
          <a:xfrm>
            <a:off x="6903719" y="2167128"/>
            <a:ext cx="2111475" cy="584775"/>
          </a:xfrm>
          <a:prstGeom prst="rect">
            <a:avLst/>
          </a:prstGeom>
          <a:noFill/>
        </p:spPr>
        <p:txBody>
          <a:bodyPr wrap="none" rtlCol="0">
            <a:spAutoFit/>
          </a:bodyPr>
          <a:lstStyle/>
          <a:p>
            <a:r>
              <a:rPr lang="es-ES_tradnl" sz="3200" b="1" dirty="0"/>
              <a:t>Todo LAC</a:t>
            </a:r>
          </a:p>
        </p:txBody>
      </p:sp>
      <p:sp>
        <p:nvSpPr>
          <p:cNvPr id="7" name="Título 3">
            <a:extLst>
              <a:ext uri="{FF2B5EF4-FFF2-40B4-BE49-F238E27FC236}">
                <a16:creationId xmlns:a16="http://schemas.microsoft.com/office/drawing/2014/main" id="{889751BF-9411-08B1-B14A-6450804DDB12}"/>
              </a:ext>
            </a:extLst>
          </p:cNvPr>
          <p:cNvSpPr txBox="1">
            <a:spLocks/>
          </p:cNvSpPr>
          <p:nvPr/>
        </p:nvSpPr>
        <p:spPr>
          <a:xfrm>
            <a:off x="854351" y="355678"/>
            <a:ext cx="10483297" cy="528791"/>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000" dirty="0">
                <a:solidFill>
                  <a:schemeClr val="accent1"/>
                </a:solidFill>
              </a:rPr>
              <a:t>Overview: </a:t>
            </a:r>
            <a:r>
              <a:rPr lang="es-CO" sz="3000" dirty="0"/>
              <a:t>Gestionar los beneficios</a:t>
            </a:r>
          </a:p>
          <a:p>
            <a:r>
              <a:rPr lang="es-ES_tradnl" sz="3000" dirty="0"/>
              <a:t> </a:t>
            </a:r>
            <a:endParaRPr lang="es-CL" sz="3000" dirty="0"/>
          </a:p>
        </p:txBody>
      </p:sp>
    </p:spTree>
    <p:extLst>
      <p:ext uri="{BB962C8B-B14F-4D97-AF65-F5344CB8AC3E}">
        <p14:creationId xmlns:p14="http://schemas.microsoft.com/office/powerpoint/2010/main" val="32404838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169356-7101-74E3-FFD8-42A26C5C2A17}"/>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E763723C-5330-831A-866D-B841E31941A7}"/>
              </a:ext>
            </a:extLst>
          </p:cNvPr>
          <p:cNvSpPr txBox="1">
            <a:spLocks/>
          </p:cNvSpPr>
          <p:nvPr/>
        </p:nvSpPr>
        <p:spPr>
          <a:xfrm>
            <a:off x="1227372" y="715516"/>
            <a:ext cx="8639978" cy="528791"/>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000" dirty="0">
                <a:solidFill>
                  <a:schemeClr val="accent1"/>
                </a:solidFill>
              </a:rPr>
              <a:t>Overview: </a:t>
            </a:r>
            <a:r>
              <a:rPr lang="es-CO" sz="2800" dirty="0"/>
              <a:t>Gestionar Cuentas por Cobrar del Estudiante</a:t>
            </a:r>
            <a:endParaRPr lang="es-CL" sz="3000" dirty="0"/>
          </a:p>
        </p:txBody>
      </p:sp>
      <p:pic>
        <p:nvPicPr>
          <p:cNvPr id="5" name="Imagen 4">
            <a:extLst>
              <a:ext uri="{FF2B5EF4-FFF2-40B4-BE49-F238E27FC236}">
                <a16:creationId xmlns:a16="http://schemas.microsoft.com/office/drawing/2014/main" id="{AAFE23D0-849C-1054-67F3-1F52789942CB}"/>
              </a:ext>
            </a:extLst>
          </p:cNvPr>
          <p:cNvPicPr>
            <a:picLocks noChangeAspect="1"/>
          </p:cNvPicPr>
          <p:nvPr/>
        </p:nvPicPr>
        <p:blipFill>
          <a:blip r:embed="rId3"/>
          <a:stretch>
            <a:fillRect/>
          </a:stretch>
        </p:blipFill>
        <p:spPr>
          <a:xfrm>
            <a:off x="1304400" y="1843215"/>
            <a:ext cx="9583200" cy="2695787"/>
          </a:xfrm>
          <a:prstGeom prst="rect">
            <a:avLst/>
          </a:prstGeom>
        </p:spPr>
      </p:pic>
    </p:spTree>
    <p:extLst>
      <p:ext uri="{BB962C8B-B14F-4D97-AF65-F5344CB8AC3E}">
        <p14:creationId xmlns:p14="http://schemas.microsoft.com/office/powerpoint/2010/main" val="33191941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04026D-4396-D11C-F580-7B7A4ECDE6DE}"/>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0881BEF7-AC8B-84CB-9E1B-C2858C1E6920}"/>
              </a:ext>
            </a:extLst>
          </p:cNvPr>
          <p:cNvSpPr txBox="1">
            <a:spLocks/>
          </p:cNvSpPr>
          <p:nvPr/>
        </p:nvSpPr>
        <p:spPr>
          <a:xfrm>
            <a:off x="1304400" y="669796"/>
            <a:ext cx="7599756" cy="528791"/>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000" dirty="0">
                <a:solidFill>
                  <a:schemeClr val="accent1"/>
                </a:solidFill>
              </a:rPr>
              <a:t>Overview: </a:t>
            </a:r>
            <a:r>
              <a:rPr lang="es-CO" sz="2800" dirty="0"/>
              <a:t>Gestionar los beneficios </a:t>
            </a:r>
            <a:endParaRPr lang="es-CL" sz="3000" dirty="0"/>
          </a:p>
        </p:txBody>
      </p:sp>
      <p:pic>
        <p:nvPicPr>
          <p:cNvPr id="3" name="Imagen 2">
            <a:extLst>
              <a:ext uri="{FF2B5EF4-FFF2-40B4-BE49-F238E27FC236}">
                <a16:creationId xmlns:a16="http://schemas.microsoft.com/office/drawing/2014/main" id="{F2A05EC4-E9F0-1714-55AF-5CE982F55796}"/>
              </a:ext>
            </a:extLst>
          </p:cNvPr>
          <p:cNvPicPr>
            <a:picLocks noChangeAspect="1"/>
          </p:cNvPicPr>
          <p:nvPr/>
        </p:nvPicPr>
        <p:blipFill>
          <a:blip r:embed="rId3"/>
          <a:stretch>
            <a:fillRect/>
          </a:stretch>
        </p:blipFill>
        <p:spPr>
          <a:xfrm>
            <a:off x="1304400" y="1951100"/>
            <a:ext cx="9583200" cy="2377371"/>
          </a:xfrm>
          <a:prstGeom prst="rect">
            <a:avLst/>
          </a:prstGeom>
        </p:spPr>
      </p:pic>
    </p:spTree>
    <p:extLst>
      <p:ext uri="{BB962C8B-B14F-4D97-AF65-F5344CB8AC3E}">
        <p14:creationId xmlns:p14="http://schemas.microsoft.com/office/powerpoint/2010/main" val="28025882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C83101-4355-03B8-9E15-A7698836AE36}"/>
            </a:ext>
          </a:extLst>
        </p:cNvPr>
        <p:cNvGrpSpPr/>
        <p:nvPr/>
      </p:nvGrpSpPr>
      <p:grpSpPr>
        <a:xfrm>
          <a:off x="0" y="0"/>
          <a:ext cx="0" cy="0"/>
          <a:chOff x="0" y="0"/>
          <a:chExt cx="0" cy="0"/>
        </a:xfrm>
      </p:grpSpPr>
      <p:graphicFrame>
        <p:nvGraphicFramePr>
          <p:cNvPr id="3" name="Tabla 6">
            <a:extLst>
              <a:ext uri="{FF2B5EF4-FFF2-40B4-BE49-F238E27FC236}">
                <a16:creationId xmlns:a16="http://schemas.microsoft.com/office/drawing/2014/main" id="{7FB3341E-4B68-FA61-19E0-0CD352C0AF24}"/>
              </a:ext>
            </a:extLst>
          </p:cNvPr>
          <p:cNvGraphicFramePr>
            <a:graphicFrameLocks noGrp="1"/>
          </p:cNvGraphicFramePr>
          <p:nvPr>
            <p:extLst>
              <p:ext uri="{D42A27DB-BD31-4B8C-83A1-F6EECF244321}">
                <p14:modId xmlns:p14="http://schemas.microsoft.com/office/powerpoint/2010/main" val="1410695333"/>
              </p:ext>
            </p:extLst>
          </p:nvPr>
        </p:nvGraphicFramePr>
        <p:xfrm>
          <a:off x="1205196" y="1353062"/>
          <a:ext cx="9609373" cy="4315708"/>
        </p:xfrm>
        <a:graphic>
          <a:graphicData uri="http://schemas.openxmlformats.org/drawingml/2006/table">
            <a:tbl>
              <a:tblPr firstRow="1" bandRow="1">
                <a:tableStyleId>{5C22544A-7EE6-4342-B048-85BDC9FD1C3A}</a:tableStyleId>
              </a:tblPr>
              <a:tblGrid>
                <a:gridCol w="2028064">
                  <a:extLst>
                    <a:ext uri="{9D8B030D-6E8A-4147-A177-3AD203B41FA5}">
                      <a16:colId xmlns:a16="http://schemas.microsoft.com/office/drawing/2014/main" val="2298581278"/>
                    </a:ext>
                  </a:extLst>
                </a:gridCol>
                <a:gridCol w="7581309">
                  <a:extLst>
                    <a:ext uri="{9D8B030D-6E8A-4147-A177-3AD203B41FA5}">
                      <a16:colId xmlns:a16="http://schemas.microsoft.com/office/drawing/2014/main" val="1504358611"/>
                    </a:ext>
                  </a:extLst>
                </a:gridCol>
              </a:tblGrid>
              <a:tr h="488266">
                <a:tc>
                  <a:txBody>
                    <a:bodyPr/>
                    <a:lstStyle/>
                    <a:p>
                      <a:pPr algn="ctr">
                        <a:spcAft>
                          <a:spcPts val="0"/>
                        </a:spcAft>
                      </a:pPr>
                      <a:r>
                        <a:rPr lang="es-ES" sz="1800" dirty="0">
                          <a:effectLst/>
                        </a:rPr>
                        <a:t>Concepto</a:t>
                      </a:r>
                      <a:endParaRPr lang="es-CO" sz="2000" dirty="0">
                        <a:solidFill>
                          <a:srgbClr val="FFFFFF"/>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tc>
                  <a:txBody>
                    <a:bodyPr/>
                    <a:lstStyle/>
                    <a:p>
                      <a:pPr algn="ctr">
                        <a:spcAft>
                          <a:spcPts val="0"/>
                        </a:spcAft>
                      </a:pPr>
                      <a:r>
                        <a:rPr lang="es-ES" sz="1800" dirty="0">
                          <a:effectLst/>
                        </a:rPr>
                        <a:t>Descripción</a:t>
                      </a:r>
                      <a:endParaRPr lang="es-CO" sz="2000" dirty="0">
                        <a:solidFill>
                          <a:srgbClr val="FFFFFF"/>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extLst>
                  <a:ext uri="{0D108BD9-81ED-4DB2-BD59-A6C34878D82A}">
                    <a16:rowId xmlns:a16="http://schemas.microsoft.com/office/drawing/2014/main" val="631455631"/>
                  </a:ext>
                </a:extLst>
              </a:tr>
              <a:tr h="48826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600" b="1" kern="1200" dirty="0">
                          <a:solidFill>
                            <a:schemeClr val="dk1"/>
                          </a:solidFill>
                          <a:effectLst/>
                          <a:latin typeface="+mn-lt"/>
                          <a:ea typeface="+mn-ea"/>
                          <a:cs typeface="+mn-cs"/>
                        </a:rPr>
                        <a:t>Estado de cuenta</a:t>
                      </a:r>
                      <a:endParaRPr lang="es-CO" sz="1600" b="1" kern="1200" dirty="0">
                        <a:solidFill>
                          <a:schemeClr val="dk1"/>
                        </a:solidFill>
                        <a:effectLst/>
                        <a:latin typeface="+mn-lt"/>
                        <a:ea typeface="+mn-ea"/>
                        <a:cs typeface="+mn-cs"/>
                      </a:endParaRPr>
                    </a:p>
                  </a:txBody>
                  <a:tcPr marL="36830" marR="36830" marT="36830" marB="36830" anchor="ct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s-ES" sz="1600" kern="1200" dirty="0">
                          <a:solidFill>
                            <a:schemeClr val="dk1"/>
                          </a:solidFill>
                          <a:effectLst/>
                          <a:latin typeface="+mn-lt"/>
                          <a:ea typeface="+mn-ea"/>
                          <a:cs typeface="+mn-cs"/>
                        </a:rPr>
                        <a:t>Detalle de transacciones de cargo y pago asentadas en la cuenta del estudiante.</a:t>
                      </a:r>
                    </a:p>
                  </a:txBody>
                  <a:tcPr marL="36830" marR="36830" marT="36830" marB="36830" anchor="ctr"/>
                </a:tc>
                <a:extLst>
                  <a:ext uri="{0D108BD9-81ED-4DB2-BD59-A6C34878D82A}">
                    <a16:rowId xmlns:a16="http://schemas.microsoft.com/office/drawing/2014/main" val="1674607535"/>
                  </a:ext>
                </a:extLst>
              </a:tr>
              <a:tr h="570182">
                <a:tc>
                  <a:txBody>
                    <a:bodyPr/>
                    <a:lstStyle/>
                    <a:p>
                      <a:pPr>
                        <a:spcAft>
                          <a:spcPts val="0"/>
                        </a:spcAft>
                      </a:pPr>
                      <a:r>
                        <a:rPr lang="es-ES" sz="1600" b="1" dirty="0">
                          <a:effectLst/>
                        </a:rPr>
                        <a:t>Moroso</a:t>
                      </a:r>
                    </a:p>
                  </a:txBody>
                  <a:tcPr marL="36830" marR="36830" marT="36830" marB="36830" anchor="ct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s-CO" sz="1600" kern="1200" dirty="0">
                          <a:solidFill>
                            <a:schemeClr val="dk1"/>
                          </a:solidFill>
                          <a:effectLst/>
                          <a:latin typeface="+mn-lt"/>
                          <a:ea typeface="+mn-ea"/>
                          <a:cs typeface="+mn-cs"/>
                        </a:rPr>
                        <a:t>Alumno con saldo vencido</a:t>
                      </a:r>
                    </a:p>
                  </a:txBody>
                  <a:tcPr marL="36830" marR="36830" marT="36830" marB="36830" anchor="ctr"/>
                </a:tc>
                <a:extLst>
                  <a:ext uri="{0D108BD9-81ED-4DB2-BD59-A6C34878D82A}">
                    <a16:rowId xmlns:a16="http://schemas.microsoft.com/office/drawing/2014/main" val="3417766030"/>
                  </a:ext>
                </a:extLst>
              </a:tr>
              <a:tr h="570182">
                <a:tc>
                  <a:txBody>
                    <a:bodyPr/>
                    <a:lstStyle/>
                    <a:p>
                      <a:pPr>
                        <a:spcAft>
                          <a:spcPts val="0"/>
                        </a:spcAft>
                      </a:pPr>
                      <a:r>
                        <a:rPr lang="es-ES" sz="1600" b="1" dirty="0">
                          <a:effectLst/>
                        </a:rPr>
                        <a:t>Exención</a:t>
                      </a:r>
                      <a:endParaRPr lang="es-CO" sz="2000" b="1"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tc>
                  <a:txBody>
                    <a:bodyPr/>
                    <a:lstStyle/>
                    <a:p>
                      <a:pPr algn="just">
                        <a:spcAft>
                          <a:spcPts val="0"/>
                        </a:spcAft>
                      </a:pPr>
                      <a:r>
                        <a:rPr lang="es-ES" sz="1600" dirty="0">
                          <a:effectLst/>
                        </a:rPr>
                        <a:t>Beca, descuento o condonación.</a:t>
                      </a:r>
                      <a:endParaRPr lang="es-CO" sz="2000"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extLst>
                  <a:ext uri="{0D108BD9-81ED-4DB2-BD59-A6C34878D82A}">
                    <a16:rowId xmlns:a16="http://schemas.microsoft.com/office/drawing/2014/main" val="986388875"/>
                  </a:ext>
                </a:extLst>
              </a:tr>
              <a:tr h="570182">
                <a:tc>
                  <a:txBody>
                    <a:bodyPr/>
                    <a:lstStyle/>
                    <a:p>
                      <a:pPr>
                        <a:spcAft>
                          <a:spcPts val="0"/>
                        </a:spcAft>
                      </a:pPr>
                      <a:r>
                        <a:rPr lang="es-ES" sz="1600" b="1" dirty="0">
                          <a:effectLst/>
                        </a:rPr>
                        <a:t>Contrato</a:t>
                      </a:r>
                    </a:p>
                  </a:txBody>
                  <a:tcPr marL="36830" marR="36830" marT="36830" marB="36830" anchor="ct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s-ES" sz="1600" dirty="0">
                          <a:effectLst/>
                        </a:rPr>
                        <a:t>Mecanismo mediante el cual una empresa o tercero asume la deuda parcial o total de un estudiante.</a:t>
                      </a:r>
                      <a:endParaRPr lang="es-CO" sz="2000"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extLst>
                  <a:ext uri="{0D108BD9-81ED-4DB2-BD59-A6C34878D82A}">
                    <a16:rowId xmlns:a16="http://schemas.microsoft.com/office/drawing/2014/main" val="2959410008"/>
                  </a:ext>
                </a:extLst>
              </a:tr>
              <a:tr h="570182">
                <a:tc>
                  <a:txBody>
                    <a:bodyPr/>
                    <a:lstStyle/>
                    <a:p>
                      <a:pPr>
                        <a:spcAft>
                          <a:spcPts val="0"/>
                        </a:spcAft>
                      </a:pPr>
                      <a:r>
                        <a:rPr lang="es-ES" sz="1600" b="1" dirty="0">
                          <a:effectLst/>
                        </a:rPr>
                        <a:t>Plan de pagos</a:t>
                      </a:r>
                      <a:endParaRPr lang="es-CO" sz="2000" b="1"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tc>
                  <a:txBody>
                    <a:bodyPr/>
                    <a:lstStyle/>
                    <a:p>
                      <a:pPr algn="just">
                        <a:spcAft>
                          <a:spcPts val="0"/>
                        </a:spcAft>
                      </a:pPr>
                      <a:r>
                        <a:rPr lang="es-ES" sz="1600" dirty="0">
                          <a:effectLst/>
                        </a:rPr>
                        <a:t>Mecanismo automatizado que permite dividir la deuda en un conjunto de parcialidades con nueva fecha de vencimiento, con recargos o sin recargos. </a:t>
                      </a:r>
                    </a:p>
                  </a:txBody>
                  <a:tcPr marL="36830" marR="36830" marT="36830" marB="36830" anchor="ctr"/>
                </a:tc>
                <a:extLst>
                  <a:ext uri="{0D108BD9-81ED-4DB2-BD59-A6C34878D82A}">
                    <a16:rowId xmlns:a16="http://schemas.microsoft.com/office/drawing/2014/main" val="3597378803"/>
                  </a:ext>
                </a:extLst>
              </a:tr>
              <a:tr h="570182">
                <a:tc>
                  <a:txBody>
                    <a:bodyPr/>
                    <a:lstStyle/>
                    <a:p>
                      <a:pPr>
                        <a:spcAft>
                          <a:spcPts val="0"/>
                        </a:spcAft>
                      </a:pPr>
                      <a:r>
                        <a:rPr lang="es-ES" sz="1600" b="1" dirty="0">
                          <a:effectLst/>
                        </a:rPr>
                        <a:t>Refinanciamiento </a:t>
                      </a:r>
                      <a:endParaRPr lang="es-CO" sz="2000" b="1"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tc>
                  <a:txBody>
                    <a:bodyPr/>
                    <a:lstStyle/>
                    <a:p>
                      <a:pPr algn="just">
                        <a:spcAft>
                          <a:spcPts val="0"/>
                        </a:spcAft>
                      </a:pPr>
                      <a:r>
                        <a:rPr lang="es-ES" sz="1600" dirty="0">
                          <a:effectLst/>
                        </a:rPr>
                        <a:t>Mecanismo automatizado que permite pactar nuevos convenios sobre la forma de pagar una deuda o plan de pagos que el deudor no ha podido cumplir.</a:t>
                      </a:r>
                      <a:endParaRPr lang="es-CO" sz="2000"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extLst>
                  <a:ext uri="{0D108BD9-81ED-4DB2-BD59-A6C34878D82A}">
                    <a16:rowId xmlns:a16="http://schemas.microsoft.com/office/drawing/2014/main" val="4130258538"/>
                  </a:ext>
                </a:extLst>
              </a:tr>
              <a:tr h="488266">
                <a:tc>
                  <a:txBody>
                    <a:bodyPr/>
                    <a:lstStyle/>
                    <a:p>
                      <a:pPr>
                        <a:spcAft>
                          <a:spcPts val="0"/>
                        </a:spcAft>
                      </a:pPr>
                      <a:r>
                        <a:rPr lang="es-ES" sz="1600" b="1" dirty="0">
                          <a:effectLst/>
                        </a:rPr>
                        <a:t>Reglas de cobro</a:t>
                      </a:r>
                      <a:endParaRPr lang="es-CO" sz="2000" b="1"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tc>
                  <a:txBody>
                    <a:bodyPr/>
                    <a:lstStyle/>
                    <a:p>
                      <a:pPr algn="just">
                        <a:spcAft>
                          <a:spcPts val="0"/>
                        </a:spcAft>
                      </a:pPr>
                      <a:r>
                        <a:rPr lang="es-ES" sz="1600" dirty="0">
                          <a:effectLst/>
                        </a:rPr>
                        <a:t>Lista de precios o tarifas.</a:t>
                      </a:r>
                      <a:endParaRPr lang="es-CO" sz="2000"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extLst>
                  <a:ext uri="{0D108BD9-81ED-4DB2-BD59-A6C34878D82A}">
                    <a16:rowId xmlns:a16="http://schemas.microsoft.com/office/drawing/2014/main" val="2270006639"/>
                  </a:ext>
                </a:extLst>
              </a:tr>
            </a:tbl>
          </a:graphicData>
        </a:graphic>
      </p:graphicFrame>
      <p:sp>
        <p:nvSpPr>
          <p:cNvPr id="4" name="Título 3">
            <a:extLst>
              <a:ext uri="{FF2B5EF4-FFF2-40B4-BE49-F238E27FC236}">
                <a16:creationId xmlns:a16="http://schemas.microsoft.com/office/drawing/2014/main" id="{750CE1ED-E082-8249-F10E-9147F13B62BF}"/>
              </a:ext>
            </a:extLst>
          </p:cNvPr>
          <p:cNvSpPr txBox="1">
            <a:spLocks/>
          </p:cNvSpPr>
          <p:nvPr/>
        </p:nvSpPr>
        <p:spPr>
          <a:xfrm>
            <a:off x="1205196" y="368992"/>
            <a:ext cx="10483297" cy="362528"/>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000" dirty="0">
                <a:solidFill>
                  <a:schemeClr val="accent1"/>
                </a:solidFill>
              </a:rPr>
              <a:t>Overview: </a:t>
            </a:r>
            <a:r>
              <a:rPr lang="es-CO" sz="3000" dirty="0"/>
              <a:t>Gestionar los beneficios</a:t>
            </a:r>
          </a:p>
          <a:p>
            <a:r>
              <a:rPr lang="es-ES_tradnl" sz="3000" dirty="0"/>
              <a:t> </a:t>
            </a:r>
            <a:endParaRPr lang="es-CL" sz="3000" dirty="0"/>
          </a:p>
        </p:txBody>
      </p:sp>
    </p:spTree>
    <p:extLst>
      <p:ext uri="{BB962C8B-B14F-4D97-AF65-F5344CB8AC3E}">
        <p14:creationId xmlns:p14="http://schemas.microsoft.com/office/powerpoint/2010/main" val="6459895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AFE961-4C2D-76D0-7F4E-B82BDE7E20E3}"/>
            </a:ext>
          </a:extLst>
        </p:cNvPr>
        <p:cNvGrpSpPr/>
        <p:nvPr/>
      </p:nvGrpSpPr>
      <p:grpSpPr>
        <a:xfrm>
          <a:off x="0" y="0"/>
          <a:ext cx="0" cy="0"/>
          <a:chOff x="0" y="0"/>
          <a:chExt cx="0" cy="0"/>
        </a:xfrm>
      </p:grpSpPr>
      <p:sp>
        <p:nvSpPr>
          <p:cNvPr id="3" name="Título 3">
            <a:extLst>
              <a:ext uri="{FF2B5EF4-FFF2-40B4-BE49-F238E27FC236}">
                <a16:creationId xmlns:a16="http://schemas.microsoft.com/office/drawing/2014/main" id="{D61E9318-BBD1-E5E3-7109-A0E8C832DB2A}"/>
              </a:ext>
            </a:extLst>
          </p:cNvPr>
          <p:cNvSpPr txBox="1">
            <a:spLocks/>
          </p:cNvSpPr>
          <p:nvPr/>
        </p:nvSpPr>
        <p:spPr>
          <a:xfrm>
            <a:off x="857251" y="740665"/>
            <a:ext cx="7637525" cy="566928"/>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dirty="0">
                <a:solidFill>
                  <a:schemeClr val="accent1"/>
                </a:solidFill>
              </a:rPr>
              <a:t>Overview: </a:t>
            </a:r>
            <a:r>
              <a:rPr lang="es-CO" sz="3200" dirty="0"/>
              <a:t>Gestión de becas y descuentos</a:t>
            </a:r>
            <a:endParaRPr lang="es-CL" dirty="0"/>
          </a:p>
        </p:txBody>
      </p:sp>
      <p:sp>
        <p:nvSpPr>
          <p:cNvPr id="4" name="Marcador de texto 1">
            <a:extLst>
              <a:ext uri="{FF2B5EF4-FFF2-40B4-BE49-F238E27FC236}">
                <a16:creationId xmlns:a16="http://schemas.microsoft.com/office/drawing/2014/main" id="{B78B6C4C-AB53-22B1-FEC0-FA3F40AE628F}"/>
              </a:ext>
            </a:extLst>
          </p:cNvPr>
          <p:cNvSpPr txBox="1">
            <a:spLocks/>
          </p:cNvSpPr>
          <p:nvPr/>
        </p:nvSpPr>
        <p:spPr>
          <a:xfrm>
            <a:off x="857251" y="1651884"/>
            <a:ext cx="10477497" cy="2618364"/>
          </a:xfrm>
          <a:prstGeom prst="rect">
            <a:avLst/>
          </a:prstGeom>
        </p:spPr>
        <p:txBody>
          <a:bodyPr/>
          <a:lst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Blip>
                <a:blip r:embed="rId2"/>
              </a:buBlip>
            </a:pPr>
            <a:r>
              <a:rPr lang="es-CO" dirty="0"/>
              <a:t>Se definen los conceptos, porcentajes y prioridades con que se aplicarán beneficios tales como descuentos, o becas que disminuyen los importes de los cargos en los estados de cuenta, los alumnos a quienes se autorizan y su rolado para el siguiente periodo lectivo.</a:t>
            </a:r>
          </a:p>
          <a:p>
            <a:pPr marL="0" indent="0">
              <a:buNone/>
            </a:pPr>
            <a:endParaRPr lang="es-CO" dirty="0"/>
          </a:p>
          <a:p>
            <a:pPr>
              <a:buBlip>
                <a:blip r:embed="rId2"/>
              </a:buBlip>
            </a:pPr>
            <a:r>
              <a:rPr lang="es-CO" dirty="0"/>
              <a:t>Adicional tiene como propósito habilitar a la institución para celebrar contratos con terceros quienes desean cubrir parcial o totalmente los cargos de uno o varios alumnos, transfiriendo la deuda del alumno hacia el tercero.</a:t>
            </a:r>
          </a:p>
          <a:p>
            <a:pPr marL="0" indent="0">
              <a:buNone/>
            </a:pPr>
            <a:endParaRPr lang="es-CO" sz="2000" dirty="0"/>
          </a:p>
          <a:p>
            <a:pPr>
              <a:buBlip>
                <a:blip r:embed="rId2"/>
              </a:buBlip>
            </a:pPr>
            <a:endParaRPr lang="es-CL" sz="2000" dirty="0"/>
          </a:p>
        </p:txBody>
      </p:sp>
    </p:spTree>
    <p:extLst>
      <p:ext uri="{BB962C8B-B14F-4D97-AF65-F5344CB8AC3E}">
        <p14:creationId xmlns:p14="http://schemas.microsoft.com/office/powerpoint/2010/main" val="11709620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C93946-6418-4195-1F33-0A00926A500A}"/>
            </a:ext>
          </a:extLst>
        </p:cNvPr>
        <p:cNvGrpSpPr/>
        <p:nvPr/>
      </p:nvGrpSpPr>
      <p:grpSpPr>
        <a:xfrm>
          <a:off x="0" y="0"/>
          <a:ext cx="0" cy="0"/>
          <a:chOff x="0" y="0"/>
          <a:chExt cx="0" cy="0"/>
        </a:xfrm>
      </p:grpSpPr>
      <p:sp>
        <p:nvSpPr>
          <p:cNvPr id="6" name="CuadroTexto 5">
            <a:extLst>
              <a:ext uri="{FF2B5EF4-FFF2-40B4-BE49-F238E27FC236}">
                <a16:creationId xmlns:a16="http://schemas.microsoft.com/office/drawing/2014/main" id="{9206E689-79C6-C0C2-AE73-E271BB09BFD9}"/>
              </a:ext>
            </a:extLst>
          </p:cNvPr>
          <p:cNvSpPr txBox="1"/>
          <p:nvPr/>
        </p:nvSpPr>
        <p:spPr>
          <a:xfrm>
            <a:off x="550164" y="2602492"/>
            <a:ext cx="11256264" cy="1015663"/>
          </a:xfrm>
          <a:prstGeom prst="rect">
            <a:avLst/>
          </a:prstGeom>
          <a:noFill/>
        </p:spPr>
        <p:txBody>
          <a:bodyPr wrap="square">
            <a:spAutoFit/>
          </a:bodyPr>
          <a:lstStyle/>
          <a:p>
            <a:r>
              <a:rPr lang="es-CO" sz="6000" b="1" dirty="0">
                <a:solidFill>
                  <a:schemeClr val="bg1"/>
                </a:solidFill>
              </a:rPr>
              <a:t>Gestionar becas y descuentos</a:t>
            </a:r>
            <a:endParaRPr lang="en-US" sz="6000" b="1" dirty="0">
              <a:solidFill>
                <a:schemeClr val="bg1"/>
              </a:solidFill>
            </a:endParaRPr>
          </a:p>
        </p:txBody>
      </p:sp>
    </p:spTree>
    <p:extLst>
      <p:ext uri="{BB962C8B-B14F-4D97-AF65-F5344CB8AC3E}">
        <p14:creationId xmlns:p14="http://schemas.microsoft.com/office/powerpoint/2010/main" val="8543767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814EEF-6C1A-C160-603F-F60ECA3CFE72}"/>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31B8B9E4-E83D-4BF5-92C4-053960F1CC20}"/>
              </a:ext>
            </a:extLst>
          </p:cNvPr>
          <p:cNvSpPr txBox="1">
            <a:spLocks/>
          </p:cNvSpPr>
          <p:nvPr/>
        </p:nvSpPr>
        <p:spPr>
          <a:xfrm>
            <a:off x="1304400" y="541780"/>
            <a:ext cx="7601714" cy="528791"/>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000" dirty="0">
                <a:solidFill>
                  <a:schemeClr val="accent1"/>
                </a:solidFill>
              </a:rPr>
              <a:t>Overview: </a:t>
            </a:r>
            <a:r>
              <a:rPr lang="es-CO" sz="2800" dirty="0"/>
              <a:t>Gestionar las becas y descuentos</a:t>
            </a:r>
            <a:endParaRPr lang="es-CL" sz="3000" dirty="0"/>
          </a:p>
        </p:txBody>
      </p:sp>
      <p:pic>
        <p:nvPicPr>
          <p:cNvPr id="5" name="Imagen 4">
            <a:extLst>
              <a:ext uri="{FF2B5EF4-FFF2-40B4-BE49-F238E27FC236}">
                <a16:creationId xmlns:a16="http://schemas.microsoft.com/office/drawing/2014/main" id="{BDE09829-EFD6-982E-F486-356C52F64FAE}"/>
              </a:ext>
            </a:extLst>
          </p:cNvPr>
          <p:cNvPicPr>
            <a:picLocks noChangeAspect="1"/>
          </p:cNvPicPr>
          <p:nvPr/>
        </p:nvPicPr>
        <p:blipFill>
          <a:blip r:embed="rId3"/>
          <a:stretch>
            <a:fillRect/>
          </a:stretch>
        </p:blipFill>
        <p:spPr>
          <a:xfrm>
            <a:off x="1304400" y="1271862"/>
            <a:ext cx="9583200" cy="4314276"/>
          </a:xfrm>
          <a:prstGeom prst="rect">
            <a:avLst/>
          </a:prstGeom>
        </p:spPr>
      </p:pic>
    </p:spTree>
    <p:extLst>
      <p:ext uri="{BB962C8B-B14F-4D97-AF65-F5344CB8AC3E}">
        <p14:creationId xmlns:p14="http://schemas.microsoft.com/office/powerpoint/2010/main" val="15879106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91C026-B3A3-3ADF-337C-91FEF971D130}"/>
            </a:ext>
          </a:extLst>
        </p:cNvPr>
        <p:cNvGrpSpPr/>
        <p:nvPr/>
      </p:nvGrpSpPr>
      <p:grpSpPr>
        <a:xfrm>
          <a:off x="0" y="0"/>
          <a:ext cx="0" cy="0"/>
          <a:chOff x="0" y="0"/>
          <a:chExt cx="0" cy="0"/>
        </a:xfrm>
      </p:grpSpPr>
      <p:sp>
        <p:nvSpPr>
          <p:cNvPr id="5" name="CuadroTexto 4">
            <a:extLst>
              <a:ext uri="{FF2B5EF4-FFF2-40B4-BE49-F238E27FC236}">
                <a16:creationId xmlns:a16="http://schemas.microsoft.com/office/drawing/2014/main" id="{A540B02E-E1B9-C89A-2E04-22CDD1AE6B38}"/>
              </a:ext>
            </a:extLst>
          </p:cNvPr>
          <p:cNvSpPr txBox="1"/>
          <p:nvPr/>
        </p:nvSpPr>
        <p:spPr>
          <a:xfrm>
            <a:off x="612648" y="1834396"/>
            <a:ext cx="10762488" cy="1015663"/>
          </a:xfrm>
          <a:prstGeom prst="rect">
            <a:avLst/>
          </a:prstGeom>
          <a:noFill/>
        </p:spPr>
        <p:txBody>
          <a:bodyPr wrap="square">
            <a:spAutoFit/>
          </a:bodyPr>
          <a:lstStyle/>
          <a:p>
            <a:r>
              <a:rPr lang="es-ES" sz="6000" b="1" dirty="0">
                <a:solidFill>
                  <a:schemeClr val="bg1"/>
                </a:solidFill>
              </a:rPr>
              <a:t>Configuraciones Generales</a:t>
            </a:r>
            <a:endParaRPr lang="en-US" sz="6000" b="1" dirty="0">
              <a:solidFill>
                <a:schemeClr val="bg1"/>
              </a:solidFill>
            </a:endParaRPr>
          </a:p>
        </p:txBody>
      </p:sp>
      <p:sp>
        <p:nvSpPr>
          <p:cNvPr id="8" name="Text Placeholder 16">
            <a:extLst>
              <a:ext uri="{FF2B5EF4-FFF2-40B4-BE49-F238E27FC236}">
                <a16:creationId xmlns:a16="http://schemas.microsoft.com/office/drawing/2014/main" id="{98CDFE7F-C458-3768-8036-894EB6818BE8}"/>
              </a:ext>
            </a:extLst>
          </p:cNvPr>
          <p:cNvSpPr txBox="1">
            <a:spLocks/>
          </p:cNvSpPr>
          <p:nvPr/>
        </p:nvSpPr>
        <p:spPr>
          <a:xfrm>
            <a:off x="612648" y="3023795"/>
            <a:ext cx="7092820" cy="661237"/>
          </a:xfrm>
          <a:prstGeom prst="rect">
            <a:avLst/>
          </a:prstGeom>
        </p:spPr>
        <p:txBody>
          <a:bodyPr/>
          <a:lst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CO" sz="2000" b="1" dirty="0">
                <a:solidFill>
                  <a:schemeClr val="bg1"/>
                </a:solidFill>
              </a:rPr>
              <a:t>Gestionar becas y descuentos</a:t>
            </a:r>
          </a:p>
        </p:txBody>
      </p:sp>
    </p:spTree>
    <p:extLst>
      <p:ext uri="{BB962C8B-B14F-4D97-AF65-F5344CB8AC3E}">
        <p14:creationId xmlns:p14="http://schemas.microsoft.com/office/powerpoint/2010/main" val="19042411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3B90B9-AF98-C0BD-3434-24480BFD9420}"/>
            </a:ext>
          </a:extLst>
        </p:cNvPr>
        <p:cNvGrpSpPr/>
        <p:nvPr/>
      </p:nvGrpSpPr>
      <p:grpSpPr>
        <a:xfrm>
          <a:off x="0" y="0"/>
          <a:ext cx="0" cy="0"/>
          <a:chOff x="0" y="0"/>
          <a:chExt cx="0" cy="0"/>
        </a:xfrm>
      </p:grpSpPr>
      <p:pic>
        <p:nvPicPr>
          <p:cNvPr id="8" name="Imagen 7">
            <a:extLst>
              <a:ext uri="{FF2B5EF4-FFF2-40B4-BE49-F238E27FC236}">
                <a16:creationId xmlns:a16="http://schemas.microsoft.com/office/drawing/2014/main" id="{E7F0E5B4-FFB2-9EAF-4CD2-310D48E5B735}"/>
              </a:ext>
            </a:extLst>
          </p:cNvPr>
          <p:cNvPicPr>
            <a:picLocks noChangeAspect="1"/>
          </p:cNvPicPr>
          <p:nvPr/>
        </p:nvPicPr>
        <p:blipFill>
          <a:blip r:embed="rId2"/>
          <a:stretch>
            <a:fillRect/>
          </a:stretch>
        </p:blipFill>
        <p:spPr>
          <a:xfrm>
            <a:off x="1188459" y="671914"/>
            <a:ext cx="9180837" cy="4878475"/>
          </a:xfrm>
          <a:prstGeom prst="rect">
            <a:avLst/>
          </a:prstGeom>
        </p:spPr>
      </p:pic>
      <p:sp>
        <p:nvSpPr>
          <p:cNvPr id="2" name="Título 3">
            <a:extLst>
              <a:ext uri="{FF2B5EF4-FFF2-40B4-BE49-F238E27FC236}">
                <a16:creationId xmlns:a16="http://schemas.microsoft.com/office/drawing/2014/main" id="{8CA70EEF-3A2A-27A5-A89C-B9D4826196B1}"/>
              </a:ext>
            </a:extLst>
          </p:cNvPr>
          <p:cNvSpPr txBox="1">
            <a:spLocks/>
          </p:cNvSpPr>
          <p:nvPr/>
        </p:nvSpPr>
        <p:spPr>
          <a:xfrm>
            <a:off x="1014723" y="124133"/>
            <a:ext cx="9354573" cy="465466"/>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Configuraciones: </a:t>
            </a:r>
            <a:r>
              <a:rPr lang="es-ES_tradnl" sz="3200" dirty="0"/>
              <a:t>TGACTRL </a:t>
            </a:r>
            <a:r>
              <a:rPr lang="es-CL" sz="3200" dirty="0"/>
              <a:t>Control de cobro de CXC</a:t>
            </a:r>
            <a:br>
              <a:rPr lang="es-CL" dirty="0"/>
            </a:br>
            <a:endParaRPr lang="es-CL" dirty="0"/>
          </a:p>
        </p:txBody>
      </p:sp>
      <p:sp>
        <p:nvSpPr>
          <p:cNvPr id="5" name="Rectángulo: esquinas redondeadas 4">
            <a:extLst>
              <a:ext uri="{FF2B5EF4-FFF2-40B4-BE49-F238E27FC236}">
                <a16:creationId xmlns:a16="http://schemas.microsoft.com/office/drawing/2014/main" id="{BF1700F3-9FEB-D517-CF64-16B283C279A4}"/>
              </a:ext>
            </a:extLst>
          </p:cNvPr>
          <p:cNvSpPr/>
          <p:nvPr/>
        </p:nvSpPr>
        <p:spPr>
          <a:xfrm>
            <a:off x="760464" y="5632704"/>
            <a:ext cx="10045967" cy="78699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 sz="1200" dirty="0"/>
              <a:t>Parámetros generales de configuración de cuenta corriente – </a:t>
            </a:r>
            <a:r>
              <a:rPr lang="es-ES" sz="1200" b="1" dirty="0"/>
              <a:t>MULTIDIVISA.</a:t>
            </a:r>
          </a:p>
          <a:p>
            <a:endParaRPr lang="es-ES" sz="600" b="1" dirty="0"/>
          </a:p>
          <a:p>
            <a:r>
              <a:rPr lang="es-ES" sz="1200" b="1" dirty="0"/>
              <a:t>Nota: </a:t>
            </a:r>
            <a:r>
              <a:rPr lang="es-ES" sz="1200" dirty="0"/>
              <a:t>La configuración de esta página administrativa se detalla en el instructivo </a:t>
            </a:r>
            <a:r>
              <a:rPr lang="es-ES" sz="1200" b="1" dirty="0"/>
              <a:t>11.1.1 Instructivo CxC - </a:t>
            </a:r>
            <a:r>
              <a:rPr lang="es-CO" sz="1200" b="1" dirty="0"/>
              <a:t>Gestionar los conceptos de configuración de la cuenta corriente</a:t>
            </a:r>
            <a:r>
              <a:rPr lang="es-ES" sz="1200" b="1" dirty="0"/>
              <a:t> .</a:t>
            </a:r>
            <a:endParaRPr lang="es-CL" sz="1200" dirty="0"/>
          </a:p>
        </p:txBody>
      </p:sp>
    </p:spTree>
    <p:extLst>
      <p:ext uri="{BB962C8B-B14F-4D97-AF65-F5344CB8AC3E}">
        <p14:creationId xmlns:p14="http://schemas.microsoft.com/office/powerpoint/2010/main" val="20771191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9B0E2-4659-67C4-A6A9-669DAEB03093}"/>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21D73498-5497-A3B6-B676-77E5A63008DE}"/>
              </a:ext>
            </a:extLst>
          </p:cNvPr>
          <p:cNvSpPr txBox="1">
            <a:spLocks/>
          </p:cNvSpPr>
          <p:nvPr/>
        </p:nvSpPr>
        <p:spPr>
          <a:xfrm>
            <a:off x="758691" y="229478"/>
            <a:ext cx="10674618" cy="61691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algn="just"/>
            <a:r>
              <a:rPr lang="es-ES_tradnl" sz="3200" dirty="0">
                <a:solidFill>
                  <a:schemeClr val="accent1"/>
                </a:solidFill>
              </a:rPr>
              <a:t>Configuraciones: </a:t>
            </a:r>
            <a:r>
              <a:rPr lang="es-ES_tradnl" sz="3200" dirty="0"/>
              <a:t>TSACTRL Control de Cobro a Alumnos </a:t>
            </a:r>
            <a:r>
              <a:rPr lang="es-ES_tradnl" sz="3200" b="0" dirty="0"/>
              <a:t>1/3</a:t>
            </a:r>
            <a:br>
              <a:rPr lang="es-CL" dirty="0"/>
            </a:br>
            <a:endParaRPr lang="es-CL" dirty="0"/>
          </a:p>
        </p:txBody>
      </p:sp>
      <p:sp>
        <p:nvSpPr>
          <p:cNvPr id="3" name="Rectángulo: esquinas redondeadas 2">
            <a:extLst>
              <a:ext uri="{FF2B5EF4-FFF2-40B4-BE49-F238E27FC236}">
                <a16:creationId xmlns:a16="http://schemas.microsoft.com/office/drawing/2014/main" id="{522331C4-2221-9AA9-61A7-906440409C42}"/>
              </a:ext>
            </a:extLst>
          </p:cNvPr>
          <p:cNvSpPr/>
          <p:nvPr/>
        </p:nvSpPr>
        <p:spPr>
          <a:xfrm>
            <a:off x="841249" y="5592067"/>
            <a:ext cx="3705513" cy="580131"/>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 sz="1200" dirty="0"/>
              <a:t>Parámetros generales de configuración. </a:t>
            </a:r>
            <a:endParaRPr lang="es-CL" sz="1200" dirty="0"/>
          </a:p>
        </p:txBody>
      </p:sp>
      <p:sp>
        <p:nvSpPr>
          <p:cNvPr id="4" name="Rectángulo: esquinas redondeadas 5">
            <a:extLst>
              <a:ext uri="{FF2B5EF4-FFF2-40B4-BE49-F238E27FC236}">
                <a16:creationId xmlns:a16="http://schemas.microsoft.com/office/drawing/2014/main" id="{6BB6A779-A49E-5A1C-2041-A2D0144D1A27}"/>
              </a:ext>
            </a:extLst>
          </p:cNvPr>
          <p:cNvSpPr/>
          <p:nvPr/>
        </p:nvSpPr>
        <p:spPr>
          <a:xfrm>
            <a:off x="841249" y="4818657"/>
            <a:ext cx="10509504" cy="593297"/>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dirty="0"/>
              <a:t>Al finalizar de diligenciar los campos, se presiona el botón para pasar a la siguiente sección o presionar la combinación de teclas </a:t>
            </a:r>
            <a:r>
              <a:rPr lang="es-ES_tradnl" sz="1200" b="1" dirty="0"/>
              <a:t>Alt</a:t>
            </a:r>
            <a:r>
              <a:rPr lang="es-ES_tradnl" sz="1200" dirty="0"/>
              <a:t> + </a:t>
            </a:r>
            <a:r>
              <a:rPr lang="es-ES_tradnl" sz="1200" b="1" dirty="0" err="1"/>
              <a:t>Av</a:t>
            </a:r>
            <a:r>
              <a:rPr lang="es-ES_tradnl" sz="1200" b="1" dirty="0"/>
              <a:t> </a:t>
            </a:r>
            <a:r>
              <a:rPr lang="es-ES_tradnl" sz="1200" b="1" dirty="0" err="1"/>
              <a:t>Pag</a:t>
            </a:r>
            <a:r>
              <a:rPr lang="es-ES_tradnl" sz="1200" dirty="0" err="1"/>
              <a:t>.</a:t>
            </a:r>
            <a:endParaRPr lang="es-ES_tradnl" sz="1200" dirty="0"/>
          </a:p>
        </p:txBody>
      </p:sp>
      <p:sp>
        <p:nvSpPr>
          <p:cNvPr id="14" name="Rectángulo 13">
            <a:extLst>
              <a:ext uri="{FF2B5EF4-FFF2-40B4-BE49-F238E27FC236}">
                <a16:creationId xmlns:a16="http://schemas.microsoft.com/office/drawing/2014/main" id="{A5E55194-0ECD-7533-78B2-D52AF9D96964}"/>
              </a:ext>
            </a:extLst>
          </p:cNvPr>
          <p:cNvSpPr/>
          <p:nvPr/>
        </p:nvSpPr>
        <p:spPr>
          <a:xfrm>
            <a:off x="1124712" y="4072989"/>
            <a:ext cx="438912" cy="339402"/>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6" name="Imagen 5">
            <a:extLst>
              <a:ext uri="{FF2B5EF4-FFF2-40B4-BE49-F238E27FC236}">
                <a16:creationId xmlns:a16="http://schemas.microsoft.com/office/drawing/2014/main" id="{C6030342-3AB4-62E2-88D5-EB6AA8908633}"/>
              </a:ext>
            </a:extLst>
          </p:cNvPr>
          <p:cNvPicPr>
            <a:picLocks noChangeAspect="1"/>
          </p:cNvPicPr>
          <p:nvPr/>
        </p:nvPicPr>
        <p:blipFill>
          <a:blip r:embed="rId2"/>
          <a:srcRect l="786" b="557"/>
          <a:stretch>
            <a:fillRect/>
          </a:stretch>
        </p:blipFill>
        <p:spPr>
          <a:xfrm>
            <a:off x="841249" y="846394"/>
            <a:ext cx="10426946" cy="3792150"/>
          </a:xfrm>
          <a:prstGeom prst="rect">
            <a:avLst/>
          </a:prstGeom>
        </p:spPr>
      </p:pic>
    </p:spTree>
    <p:extLst>
      <p:ext uri="{BB962C8B-B14F-4D97-AF65-F5344CB8AC3E}">
        <p14:creationId xmlns:p14="http://schemas.microsoft.com/office/powerpoint/2010/main" val="11729340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6DF2C7-0B98-9745-027E-FF2399E299BD}"/>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15DF46C8-E574-939C-8333-2C09531C6F54}"/>
              </a:ext>
            </a:extLst>
          </p:cNvPr>
          <p:cNvSpPr txBox="1">
            <a:spLocks/>
          </p:cNvSpPr>
          <p:nvPr/>
        </p:nvSpPr>
        <p:spPr>
          <a:xfrm>
            <a:off x="758691" y="229478"/>
            <a:ext cx="10674618" cy="61691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algn="just"/>
            <a:r>
              <a:rPr lang="es-ES_tradnl" sz="3200" dirty="0">
                <a:solidFill>
                  <a:schemeClr val="accent1"/>
                </a:solidFill>
              </a:rPr>
              <a:t>Configuraciones: </a:t>
            </a:r>
            <a:r>
              <a:rPr lang="es-ES_tradnl" sz="3200" dirty="0"/>
              <a:t>TSACTRL Control de Cobro a Alumnos </a:t>
            </a:r>
            <a:r>
              <a:rPr lang="es-ES_tradnl" sz="3200" b="0" dirty="0"/>
              <a:t>2/3</a:t>
            </a:r>
            <a:br>
              <a:rPr lang="es-CL" dirty="0"/>
            </a:br>
            <a:endParaRPr lang="es-CL" dirty="0"/>
          </a:p>
        </p:txBody>
      </p:sp>
      <p:sp>
        <p:nvSpPr>
          <p:cNvPr id="3" name="Rectángulo: esquinas redondeadas 2">
            <a:extLst>
              <a:ext uri="{FF2B5EF4-FFF2-40B4-BE49-F238E27FC236}">
                <a16:creationId xmlns:a16="http://schemas.microsoft.com/office/drawing/2014/main" id="{7A7DF200-3E1E-3C26-D16A-EC1EC4A5B5A5}"/>
              </a:ext>
            </a:extLst>
          </p:cNvPr>
          <p:cNvSpPr/>
          <p:nvPr/>
        </p:nvSpPr>
        <p:spPr>
          <a:xfrm>
            <a:off x="1030084" y="4697969"/>
            <a:ext cx="10131825" cy="1300495"/>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ES" sz="1200" dirty="0"/>
              <a:t>Para pasar a la sección Parámetros generales de configuración de reglas de procesamiento de contratos, exenciones y contabilidad por programa, utilice la combinación de teclas </a:t>
            </a:r>
            <a:r>
              <a:rPr lang="es-ES" sz="1200" b="1" dirty="0"/>
              <a:t>Alt + </a:t>
            </a:r>
            <a:r>
              <a:rPr lang="es-ES" sz="1200" b="1" dirty="0" err="1"/>
              <a:t>Av</a:t>
            </a:r>
            <a:r>
              <a:rPr lang="es-ES" sz="1200" b="1" dirty="0"/>
              <a:t> Pág</a:t>
            </a:r>
            <a:r>
              <a:rPr lang="es-ES" sz="1200" dirty="0"/>
              <a:t>.</a:t>
            </a:r>
          </a:p>
          <a:p>
            <a:pPr algn="just"/>
            <a:r>
              <a:rPr lang="es-ES" sz="1200" b="1" dirty="0"/>
              <a:t>Pasar contratos y Pasar exenciones:</a:t>
            </a:r>
            <a:r>
              <a:rPr lang="es-ES" sz="1200" dirty="0"/>
              <a:t> Active este campo si la institución requiere pasar contratos y/o exenciones de un periodo a otro de forma masiva.</a:t>
            </a:r>
          </a:p>
          <a:p>
            <a:pPr algn="just"/>
            <a:r>
              <a:rPr lang="es-ES" sz="1200" b="1" dirty="0"/>
              <a:t>Pasar alumnos:</a:t>
            </a:r>
            <a:r>
              <a:rPr lang="es-ES" sz="1200" dirty="0"/>
              <a:t> Active este campo si la institución requiere pasar alumnos de contratos y exenciones de un periodo a otro de forma masiva.</a:t>
            </a:r>
            <a:endParaRPr lang="es-CL" sz="1200" dirty="0"/>
          </a:p>
        </p:txBody>
      </p:sp>
      <p:pic>
        <p:nvPicPr>
          <p:cNvPr id="8" name="Imagen 7">
            <a:extLst>
              <a:ext uri="{FF2B5EF4-FFF2-40B4-BE49-F238E27FC236}">
                <a16:creationId xmlns:a16="http://schemas.microsoft.com/office/drawing/2014/main" id="{A59FDE86-31FC-11DC-921C-7154A9F0FA1E}"/>
              </a:ext>
            </a:extLst>
          </p:cNvPr>
          <p:cNvPicPr>
            <a:picLocks noChangeAspect="1"/>
          </p:cNvPicPr>
          <p:nvPr/>
        </p:nvPicPr>
        <p:blipFill>
          <a:blip r:embed="rId2"/>
          <a:stretch>
            <a:fillRect/>
          </a:stretch>
        </p:blipFill>
        <p:spPr>
          <a:xfrm>
            <a:off x="902369" y="955984"/>
            <a:ext cx="10387256" cy="3418590"/>
          </a:xfrm>
          <a:prstGeom prst="rect">
            <a:avLst/>
          </a:prstGeom>
        </p:spPr>
      </p:pic>
    </p:spTree>
    <p:extLst>
      <p:ext uri="{BB962C8B-B14F-4D97-AF65-F5344CB8AC3E}">
        <p14:creationId xmlns:p14="http://schemas.microsoft.com/office/powerpoint/2010/main" val="6738614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D7F8DA-4246-EEC6-DC1D-313972A6FDDE}"/>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7F90697F-1981-FD1A-1395-8C8232F130F1}"/>
              </a:ext>
            </a:extLst>
          </p:cNvPr>
          <p:cNvSpPr txBox="1">
            <a:spLocks/>
          </p:cNvSpPr>
          <p:nvPr/>
        </p:nvSpPr>
        <p:spPr>
          <a:xfrm>
            <a:off x="773999" y="145814"/>
            <a:ext cx="10674618" cy="61691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algn="just"/>
            <a:r>
              <a:rPr lang="es-ES_tradnl" sz="3200" dirty="0">
                <a:solidFill>
                  <a:schemeClr val="accent1"/>
                </a:solidFill>
              </a:rPr>
              <a:t>Configuraciones: </a:t>
            </a:r>
            <a:r>
              <a:rPr lang="es-ES_tradnl" sz="3200" dirty="0"/>
              <a:t>TSACTRL Control de Cobro a Alumnos </a:t>
            </a:r>
            <a:r>
              <a:rPr lang="es-ES_tradnl" sz="3200" b="0" dirty="0"/>
              <a:t>3/3</a:t>
            </a:r>
            <a:br>
              <a:rPr lang="es-CL" dirty="0"/>
            </a:br>
            <a:endParaRPr lang="es-CL" dirty="0"/>
          </a:p>
        </p:txBody>
      </p:sp>
      <p:sp>
        <p:nvSpPr>
          <p:cNvPr id="3" name="Rectángulo: esquinas redondeadas 2">
            <a:extLst>
              <a:ext uri="{FF2B5EF4-FFF2-40B4-BE49-F238E27FC236}">
                <a16:creationId xmlns:a16="http://schemas.microsoft.com/office/drawing/2014/main" id="{82F53F1C-ECB8-82CD-DC1A-55076C4B2E90}"/>
              </a:ext>
            </a:extLst>
          </p:cNvPr>
          <p:cNvSpPr/>
          <p:nvPr/>
        </p:nvSpPr>
        <p:spPr>
          <a:xfrm>
            <a:off x="773999" y="4636008"/>
            <a:ext cx="10674618" cy="181051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ES" sz="1200" b="1" dirty="0"/>
              <a:t>Orden de procesamiento de crédito </a:t>
            </a:r>
            <a:r>
              <a:rPr lang="es-ES" sz="1200" dirty="0"/>
              <a:t>las opciones son:</a:t>
            </a:r>
          </a:p>
          <a:p>
            <a:pPr algn="just"/>
            <a:r>
              <a:rPr lang="es-ES" sz="1200" i="1" dirty="0"/>
              <a:t>Contratos primero: </a:t>
            </a:r>
            <a:r>
              <a:rPr lang="es-ES" sz="1200" dirty="0"/>
              <a:t>active este campo si la institución requiere que los contratos se procesen antes que las exenciones.</a:t>
            </a:r>
          </a:p>
          <a:p>
            <a:pPr algn="just"/>
            <a:r>
              <a:rPr lang="es-ES" sz="1200" i="1" dirty="0"/>
              <a:t>Exenciones primero</a:t>
            </a:r>
            <a:r>
              <a:rPr lang="es-ES" sz="1200" dirty="0"/>
              <a:t>: active este campo si la institución requiere que las exenciones se procesen antes que los contratos.</a:t>
            </a:r>
          </a:p>
          <a:p>
            <a:pPr algn="just"/>
            <a:r>
              <a:rPr lang="es-ES" sz="1200" dirty="0"/>
              <a:t>Esto implica que, si un estudiante tiene asignado un contrato y una exención para un mismo periodo, primero se procesará la exención y luego el contrato se calculará bajo el monto restante.</a:t>
            </a:r>
          </a:p>
          <a:p>
            <a:pPr algn="just"/>
            <a:r>
              <a:rPr lang="es-ES" sz="1200" b="1" dirty="0"/>
              <a:t>Autorización de alumno requerida para contratos: </a:t>
            </a:r>
            <a:r>
              <a:rPr lang="es-ES" sz="1200" dirty="0"/>
              <a:t>active este campo si la institución requiere que los alumnos sean autorizados por defecto en la página TSACONT, campo Autorizar.</a:t>
            </a:r>
          </a:p>
          <a:p>
            <a:pPr algn="just"/>
            <a:r>
              <a:rPr lang="es-ES" sz="1200" b="1" dirty="0"/>
              <a:t>Permitir captura preautorizada de número de autorización: </a:t>
            </a:r>
            <a:r>
              <a:rPr lang="es-ES" sz="1200" dirty="0"/>
              <a:t>le permite ingresar un número de autorización de transacción antes de que un alumno esté autorizado.</a:t>
            </a:r>
            <a:endParaRPr lang="es-CL" sz="1200" dirty="0"/>
          </a:p>
        </p:txBody>
      </p:sp>
      <p:pic>
        <p:nvPicPr>
          <p:cNvPr id="5" name="Imagen 4">
            <a:extLst>
              <a:ext uri="{FF2B5EF4-FFF2-40B4-BE49-F238E27FC236}">
                <a16:creationId xmlns:a16="http://schemas.microsoft.com/office/drawing/2014/main" id="{41EBA9DF-F256-0E3B-7536-444CB6F87C58}"/>
              </a:ext>
            </a:extLst>
          </p:cNvPr>
          <p:cNvPicPr>
            <a:picLocks noChangeAspect="1"/>
          </p:cNvPicPr>
          <p:nvPr/>
        </p:nvPicPr>
        <p:blipFill>
          <a:blip r:embed="rId2"/>
          <a:stretch>
            <a:fillRect/>
          </a:stretch>
        </p:blipFill>
        <p:spPr>
          <a:xfrm>
            <a:off x="773998" y="927275"/>
            <a:ext cx="10744529" cy="3433308"/>
          </a:xfrm>
          <a:prstGeom prst="rect">
            <a:avLst/>
          </a:prstGeom>
        </p:spPr>
      </p:pic>
    </p:spTree>
    <p:extLst>
      <p:ext uri="{BB962C8B-B14F-4D97-AF65-F5344CB8AC3E}">
        <p14:creationId xmlns:p14="http://schemas.microsoft.com/office/powerpoint/2010/main" val="27610061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52FF5D-BEDA-AB17-37E3-3C111E2584E0}"/>
            </a:ext>
          </a:extLst>
        </p:cNvPr>
        <p:cNvGrpSpPr/>
        <p:nvPr/>
      </p:nvGrpSpPr>
      <p:grpSpPr>
        <a:xfrm>
          <a:off x="0" y="0"/>
          <a:ext cx="0" cy="0"/>
          <a:chOff x="0" y="0"/>
          <a:chExt cx="0" cy="0"/>
        </a:xfrm>
      </p:grpSpPr>
      <p:pic>
        <p:nvPicPr>
          <p:cNvPr id="6" name="Imagen 5">
            <a:extLst>
              <a:ext uri="{FF2B5EF4-FFF2-40B4-BE49-F238E27FC236}">
                <a16:creationId xmlns:a16="http://schemas.microsoft.com/office/drawing/2014/main" id="{5B184965-E472-71C2-16DD-498313055125}"/>
              </a:ext>
            </a:extLst>
          </p:cNvPr>
          <p:cNvPicPr>
            <a:picLocks noChangeAspect="1"/>
          </p:cNvPicPr>
          <p:nvPr/>
        </p:nvPicPr>
        <p:blipFill>
          <a:blip r:embed="rId2"/>
          <a:stretch>
            <a:fillRect/>
          </a:stretch>
        </p:blipFill>
        <p:spPr>
          <a:xfrm>
            <a:off x="758690" y="1437890"/>
            <a:ext cx="10456295" cy="1606346"/>
          </a:xfrm>
          <a:prstGeom prst="rect">
            <a:avLst/>
          </a:prstGeom>
        </p:spPr>
      </p:pic>
      <p:sp>
        <p:nvSpPr>
          <p:cNvPr id="2" name="Título 3">
            <a:extLst>
              <a:ext uri="{FF2B5EF4-FFF2-40B4-BE49-F238E27FC236}">
                <a16:creationId xmlns:a16="http://schemas.microsoft.com/office/drawing/2014/main" id="{3D483F22-5504-6746-6AE0-01D4E764EA7C}"/>
              </a:ext>
            </a:extLst>
          </p:cNvPr>
          <p:cNvSpPr txBox="1">
            <a:spLocks/>
          </p:cNvSpPr>
          <p:nvPr/>
        </p:nvSpPr>
        <p:spPr>
          <a:xfrm>
            <a:off x="758691" y="516265"/>
            <a:ext cx="10674618" cy="61691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algn="just"/>
            <a:r>
              <a:rPr lang="es-ES_tradnl" sz="3200" dirty="0">
                <a:solidFill>
                  <a:schemeClr val="accent1"/>
                </a:solidFill>
              </a:rPr>
              <a:t>Configuraciones: </a:t>
            </a:r>
            <a:r>
              <a:rPr lang="es-ES_tradnl" sz="3200" dirty="0"/>
              <a:t>SOATERM Control de Periodo</a:t>
            </a:r>
            <a:endParaRPr lang="es-CL" dirty="0"/>
          </a:p>
        </p:txBody>
      </p:sp>
      <p:sp>
        <p:nvSpPr>
          <p:cNvPr id="3" name="Rectangle: Rounded Corners 15">
            <a:extLst>
              <a:ext uri="{FF2B5EF4-FFF2-40B4-BE49-F238E27FC236}">
                <a16:creationId xmlns:a16="http://schemas.microsoft.com/office/drawing/2014/main" id="{140B0F04-0809-37A7-A32C-185DC3B5666A}"/>
              </a:ext>
            </a:extLst>
          </p:cNvPr>
          <p:cNvSpPr/>
          <p:nvPr/>
        </p:nvSpPr>
        <p:spPr>
          <a:xfrm>
            <a:off x="758691" y="3429000"/>
            <a:ext cx="5023799" cy="471765"/>
          </a:xfrm>
          <a:prstGeom prst="roundRect">
            <a:avLst/>
          </a:prstGeom>
          <a:ln>
            <a:solidFill>
              <a:schemeClr val="accent1"/>
            </a:solidFill>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p>
            <a:pPr defTabSz="457200">
              <a:defRPr/>
            </a:pPr>
            <a:r>
              <a:rPr lang="es-ES" sz="1200" dirty="0">
                <a:solidFill>
                  <a:schemeClr val="bg1"/>
                </a:solidFill>
                <a:cs typeface="Arial"/>
              </a:rPr>
              <a:t>1. Diligenciar el campo Periodo</a:t>
            </a:r>
            <a:endParaRPr lang="en-US" sz="1200" dirty="0">
              <a:solidFill>
                <a:schemeClr val="bg1"/>
              </a:solidFill>
            </a:endParaRPr>
          </a:p>
        </p:txBody>
      </p:sp>
      <p:sp>
        <p:nvSpPr>
          <p:cNvPr id="4" name="Rectangle: Rounded Corners 17">
            <a:extLst>
              <a:ext uri="{FF2B5EF4-FFF2-40B4-BE49-F238E27FC236}">
                <a16:creationId xmlns:a16="http://schemas.microsoft.com/office/drawing/2014/main" id="{CCBE3096-8348-BA6F-5B6B-A173AE5DE647}"/>
              </a:ext>
            </a:extLst>
          </p:cNvPr>
          <p:cNvSpPr/>
          <p:nvPr/>
        </p:nvSpPr>
        <p:spPr>
          <a:xfrm>
            <a:off x="758690" y="4119389"/>
            <a:ext cx="5023800" cy="533130"/>
          </a:xfrm>
          <a:prstGeom prst="roundRect">
            <a:avLst/>
          </a:prstGeom>
          <a:ln>
            <a:solidFill>
              <a:schemeClr val="accent1"/>
            </a:solidFill>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p>
            <a:pPr defTabSz="457200">
              <a:defRPr/>
            </a:pPr>
            <a:r>
              <a:rPr lang="es-ES" sz="1200" dirty="0">
                <a:solidFill>
                  <a:schemeClr val="bg1"/>
                </a:solidFill>
                <a:cs typeface="Arial"/>
              </a:rPr>
              <a:t>2. Presionar el botón </a:t>
            </a:r>
            <a:r>
              <a:rPr lang="es-ES" sz="1200" b="1" dirty="0">
                <a:solidFill>
                  <a:schemeClr val="bg1"/>
                </a:solidFill>
                <a:cs typeface="Arial"/>
              </a:rPr>
              <a:t>Ir</a:t>
            </a:r>
            <a:r>
              <a:rPr lang="es-ES" sz="1200" dirty="0">
                <a:solidFill>
                  <a:schemeClr val="bg1"/>
                </a:solidFill>
                <a:cs typeface="Arial"/>
              </a:rPr>
              <a:t> para pasar a la siguiente sección.</a:t>
            </a:r>
            <a:endParaRPr lang="en-US" sz="1200" dirty="0">
              <a:solidFill>
                <a:schemeClr val="bg1"/>
              </a:solidFill>
            </a:endParaRPr>
          </a:p>
        </p:txBody>
      </p:sp>
      <p:pic>
        <p:nvPicPr>
          <p:cNvPr id="13" name="Imagen 12">
            <a:extLst>
              <a:ext uri="{FF2B5EF4-FFF2-40B4-BE49-F238E27FC236}">
                <a16:creationId xmlns:a16="http://schemas.microsoft.com/office/drawing/2014/main" id="{468B9BE5-15AC-91D9-7E78-C9514A1E7465}"/>
              </a:ext>
            </a:extLst>
          </p:cNvPr>
          <p:cNvPicPr>
            <a:picLocks noChangeAspect="1"/>
          </p:cNvPicPr>
          <p:nvPr/>
        </p:nvPicPr>
        <p:blipFill>
          <a:blip r:embed="rId3"/>
          <a:stretch>
            <a:fillRect/>
          </a:stretch>
        </p:blipFill>
        <p:spPr>
          <a:xfrm>
            <a:off x="10616489" y="2076845"/>
            <a:ext cx="162000" cy="162000"/>
          </a:xfrm>
          <a:prstGeom prst="rect">
            <a:avLst/>
          </a:prstGeom>
        </p:spPr>
      </p:pic>
      <p:pic>
        <p:nvPicPr>
          <p:cNvPr id="15" name="Imagen 14">
            <a:extLst>
              <a:ext uri="{FF2B5EF4-FFF2-40B4-BE49-F238E27FC236}">
                <a16:creationId xmlns:a16="http://schemas.microsoft.com/office/drawing/2014/main" id="{892561D2-303B-3A2C-A4EC-2CEB5889C4DE}"/>
              </a:ext>
            </a:extLst>
          </p:cNvPr>
          <p:cNvPicPr>
            <a:picLocks noChangeAspect="1"/>
          </p:cNvPicPr>
          <p:nvPr/>
        </p:nvPicPr>
        <p:blipFill>
          <a:blip r:embed="rId4"/>
          <a:stretch>
            <a:fillRect/>
          </a:stretch>
        </p:blipFill>
        <p:spPr>
          <a:xfrm>
            <a:off x="3961639" y="2047356"/>
            <a:ext cx="162000" cy="162000"/>
          </a:xfrm>
          <a:prstGeom prst="rect">
            <a:avLst/>
          </a:prstGeom>
        </p:spPr>
      </p:pic>
    </p:spTree>
    <p:extLst>
      <p:ext uri="{BB962C8B-B14F-4D97-AF65-F5344CB8AC3E}">
        <p14:creationId xmlns:p14="http://schemas.microsoft.com/office/powerpoint/2010/main" val="28566551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72442C-12CA-E7EA-6D6A-FFAECB43EA3C}"/>
            </a:ext>
          </a:extLst>
        </p:cNvPr>
        <p:cNvGrpSpPr/>
        <p:nvPr/>
      </p:nvGrpSpPr>
      <p:grpSpPr>
        <a:xfrm>
          <a:off x="0" y="0"/>
          <a:ext cx="0" cy="0"/>
          <a:chOff x="0" y="0"/>
          <a:chExt cx="0" cy="0"/>
        </a:xfrm>
      </p:grpSpPr>
      <p:pic>
        <p:nvPicPr>
          <p:cNvPr id="11" name="Imagen 10">
            <a:extLst>
              <a:ext uri="{FF2B5EF4-FFF2-40B4-BE49-F238E27FC236}">
                <a16:creationId xmlns:a16="http://schemas.microsoft.com/office/drawing/2014/main" id="{27C09FE5-DF22-DA28-CC4C-4752E469E86A}"/>
              </a:ext>
            </a:extLst>
          </p:cNvPr>
          <p:cNvPicPr>
            <a:picLocks noChangeAspect="1"/>
          </p:cNvPicPr>
          <p:nvPr/>
        </p:nvPicPr>
        <p:blipFill>
          <a:blip r:embed="rId2"/>
          <a:stretch>
            <a:fillRect/>
          </a:stretch>
        </p:blipFill>
        <p:spPr>
          <a:xfrm>
            <a:off x="1271016" y="766573"/>
            <a:ext cx="9481408" cy="4315573"/>
          </a:xfrm>
          <a:prstGeom prst="rect">
            <a:avLst/>
          </a:prstGeom>
        </p:spPr>
      </p:pic>
      <p:sp>
        <p:nvSpPr>
          <p:cNvPr id="2" name="Título 3">
            <a:extLst>
              <a:ext uri="{FF2B5EF4-FFF2-40B4-BE49-F238E27FC236}">
                <a16:creationId xmlns:a16="http://schemas.microsoft.com/office/drawing/2014/main" id="{BB319EEB-19AF-7E32-72B5-229926AD20C2}"/>
              </a:ext>
            </a:extLst>
          </p:cNvPr>
          <p:cNvSpPr txBox="1">
            <a:spLocks/>
          </p:cNvSpPr>
          <p:nvPr/>
        </p:nvSpPr>
        <p:spPr>
          <a:xfrm>
            <a:off x="758691" y="229478"/>
            <a:ext cx="10674618" cy="61691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Configuraciones: </a:t>
            </a:r>
            <a:r>
              <a:rPr lang="es-ES_tradnl" sz="3200" dirty="0"/>
              <a:t>SOATERM Control de Periodo</a:t>
            </a:r>
            <a:br>
              <a:rPr lang="es-CL" dirty="0"/>
            </a:br>
            <a:endParaRPr lang="es-CL" dirty="0"/>
          </a:p>
        </p:txBody>
      </p:sp>
      <p:sp>
        <p:nvSpPr>
          <p:cNvPr id="3" name="Rectángulo: esquinas redondeadas 2">
            <a:extLst>
              <a:ext uri="{FF2B5EF4-FFF2-40B4-BE49-F238E27FC236}">
                <a16:creationId xmlns:a16="http://schemas.microsoft.com/office/drawing/2014/main" id="{6BD473DD-C548-B305-6EBA-6FD19E9B7240}"/>
              </a:ext>
            </a:extLst>
          </p:cNvPr>
          <p:cNvSpPr/>
          <p:nvPr/>
        </p:nvSpPr>
        <p:spPr>
          <a:xfrm>
            <a:off x="599795" y="5175504"/>
            <a:ext cx="10992409" cy="1082809"/>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ES" sz="1200" dirty="0"/>
              <a:t>Esta página corresponde a una configuración especialmente académica, pero para el área de CxC es relevante que los chek de los campos “Estimación en Línea” estén activos y la “fecha de corte de cargo original” posea una fecha anterior al día en que se realice el cargo.</a:t>
            </a:r>
          </a:p>
          <a:p>
            <a:pPr algn="just"/>
            <a:r>
              <a:rPr lang="es-ES" sz="1200" b="1" dirty="0"/>
              <a:t>Nota: </a:t>
            </a:r>
            <a:r>
              <a:rPr lang="es-ES" sz="1200" dirty="0"/>
              <a:t>La configuración de esta página administrativa se detalla en el instructivo </a:t>
            </a:r>
            <a:r>
              <a:rPr lang="es-ES" sz="1200" b="1" dirty="0">
                <a:solidFill>
                  <a:schemeClr val="accent6">
                    <a:lumMod val="40000"/>
                    <a:lumOff val="60000"/>
                  </a:schemeClr>
                </a:solidFill>
              </a:rPr>
              <a:t>BCD 01 - 4.1.6.2 Programar el inicio y finalización de </a:t>
            </a:r>
            <a:r>
              <a:rPr lang="es-ES" sz="1200" b="1" dirty="0" err="1">
                <a:solidFill>
                  <a:schemeClr val="accent6">
                    <a:lumMod val="40000"/>
                    <a:lumOff val="60000"/>
                  </a:schemeClr>
                </a:solidFill>
              </a:rPr>
              <a:t>Per.Acad.Regulares</a:t>
            </a:r>
            <a:r>
              <a:rPr lang="es-ES" sz="1200" b="1" dirty="0">
                <a:solidFill>
                  <a:schemeClr val="accent6">
                    <a:lumMod val="40000"/>
                    <a:lumOff val="60000"/>
                  </a:schemeClr>
                </a:solidFill>
              </a:rPr>
              <a:t>.</a:t>
            </a:r>
          </a:p>
        </p:txBody>
      </p:sp>
    </p:spTree>
    <p:extLst>
      <p:ext uri="{BB962C8B-B14F-4D97-AF65-F5344CB8AC3E}">
        <p14:creationId xmlns:p14="http://schemas.microsoft.com/office/powerpoint/2010/main" val="40933337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C25875-E67E-5BA6-965E-C2CEB777CAAE}"/>
            </a:ext>
          </a:extLst>
        </p:cNvPr>
        <p:cNvGrpSpPr/>
        <p:nvPr/>
      </p:nvGrpSpPr>
      <p:grpSpPr>
        <a:xfrm>
          <a:off x="0" y="0"/>
          <a:ext cx="0" cy="0"/>
          <a:chOff x="0" y="0"/>
          <a:chExt cx="0" cy="0"/>
        </a:xfrm>
      </p:grpSpPr>
      <p:pic>
        <p:nvPicPr>
          <p:cNvPr id="8" name="Imagen 7">
            <a:extLst>
              <a:ext uri="{FF2B5EF4-FFF2-40B4-BE49-F238E27FC236}">
                <a16:creationId xmlns:a16="http://schemas.microsoft.com/office/drawing/2014/main" id="{25BAE79F-ACBD-F51E-AD88-646E9771B697}"/>
              </a:ext>
            </a:extLst>
          </p:cNvPr>
          <p:cNvPicPr>
            <a:picLocks noChangeAspect="1"/>
          </p:cNvPicPr>
          <p:nvPr/>
        </p:nvPicPr>
        <p:blipFill>
          <a:blip r:embed="rId2"/>
          <a:stretch>
            <a:fillRect/>
          </a:stretch>
        </p:blipFill>
        <p:spPr>
          <a:xfrm>
            <a:off x="852359" y="923149"/>
            <a:ext cx="10233382" cy="2596617"/>
          </a:xfrm>
          <a:prstGeom prst="rect">
            <a:avLst/>
          </a:prstGeom>
        </p:spPr>
      </p:pic>
      <p:sp>
        <p:nvSpPr>
          <p:cNvPr id="2" name="Título 3">
            <a:extLst>
              <a:ext uri="{FF2B5EF4-FFF2-40B4-BE49-F238E27FC236}">
                <a16:creationId xmlns:a16="http://schemas.microsoft.com/office/drawing/2014/main" id="{07195C74-9B09-2607-4B78-8B1DC3672EB6}"/>
              </a:ext>
            </a:extLst>
          </p:cNvPr>
          <p:cNvSpPr txBox="1">
            <a:spLocks/>
          </p:cNvSpPr>
          <p:nvPr/>
        </p:nvSpPr>
        <p:spPr>
          <a:xfrm>
            <a:off x="758691" y="229478"/>
            <a:ext cx="10674618" cy="61691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algn="just"/>
            <a:r>
              <a:rPr lang="es-ES_tradnl" sz="3200" dirty="0">
                <a:solidFill>
                  <a:schemeClr val="accent1"/>
                </a:solidFill>
              </a:rPr>
              <a:t>Configuraciones: </a:t>
            </a:r>
            <a:r>
              <a:rPr lang="es-ES_tradnl" sz="3200" dirty="0"/>
              <a:t>TSATERM Periodo de control de CXC</a:t>
            </a:r>
            <a:endParaRPr lang="es-CL" dirty="0"/>
          </a:p>
        </p:txBody>
      </p:sp>
      <p:sp>
        <p:nvSpPr>
          <p:cNvPr id="3" name="Rectángulo: esquinas redondeadas 2">
            <a:extLst>
              <a:ext uri="{FF2B5EF4-FFF2-40B4-BE49-F238E27FC236}">
                <a16:creationId xmlns:a16="http://schemas.microsoft.com/office/drawing/2014/main" id="{6373CE17-998D-A28C-6D2D-6D193CA345D3}"/>
              </a:ext>
            </a:extLst>
          </p:cNvPr>
          <p:cNvSpPr/>
          <p:nvPr/>
        </p:nvSpPr>
        <p:spPr>
          <a:xfrm>
            <a:off x="878456" y="3744132"/>
            <a:ext cx="4089505" cy="737561"/>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 sz="1200" dirty="0"/>
              <a:t>1. Es requerido que en esta forma el Check “Habilitar Periodo” se encuentre activo para permitir las transacciones en dicho periodo académico.</a:t>
            </a:r>
          </a:p>
        </p:txBody>
      </p:sp>
      <p:sp>
        <p:nvSpPr>
          <p:cNvPr id="4" name="Rectángulo: esquinas redondeadas 5">
            <a:extLst>
              <a:ext uri="{FF2B5EF4-FFF2-40B4-BE49-F238E27FC236}">
                <a16:creationId xmlns:a16="http://schemas.microsoft.com/office/drawing/2014/main" id="{63DA8BFC-3451-1446-C9F7-013A8C76A56D}"/>
              </a:ext>
            </a:extLst>
          </p:cNvPr>
          <p:cNvSpPr/>
          <p:nvPr/>
        </p:nvSpPr>
        <p:spPr>
          <a:xfrm>
            <a:off x="878456" y="4636542"/>
            <a:ext cx="4089505" cy="737561"/>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 sz="1200" dirty="0"/>
              <a:t>2. Active esta opción para desplegar la información de cuenta resumida y ordenada por código de detalle; los cargos se despliegan primero, luego los pagos. Los registros con un neto de cero se suprimen.</a:t>
            </a:r>
          </a:p>
        </p:txBody>
      </p:sp>
      <p:sp>
        <p:nvSpPr>
          <p:cNvPr id="5" name="Rectángulo: esquinas redondeadas 5">
            <a:extLst>
              <a:ext uri="{FF2B5EF4-FFF2-40B4-BE49-F238E27FC236}">
                <a16:creationId xmlns:a16="http://schemas.microsoft.com/office/drawing/2014/main" id="{F779BD7F-BAC6-3CC8-C6CD-A0D29B2950BF}"/>
              </a:ext>
            </a:extLst>
          </p:cNvPr>
          <p:cNvSpPr/>
          <p:nvPr/>
        </p:nvSpPr>
        <p:spPr>
          <a:xfrm>
            <a:off x="6095999" y="3764215"/>
            <a:ext cx="5337310" cy="737561"/>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 sz="1200" dirty="0"/>
              <a:t>3. Esta fecha controla el cálculo de la fecha de vigencia de vencimiento actual. El valor predefinido para este campo es la fecha de inicio del periodo como se especifica en </a:t>
            </a:r>
            <a:r>
              <a:rPr lang="es-ES" sz="1200" b="1" dirty="0"/>
              <a:t>STVTERM.</a:t>
            </a:r>
          </a:p>
        </p:txBody>
      </p:sp>
      <p:sp>
        <p:nvSpPr>
          <p:cNvPr id="6" name="Rectángulo: esquinas redondeadas 5">
            <a:extLst>
              <a:ext uri="{FF2B5EF4-FFF2-40B4-BE49-F238E27FC236}">
                <a16:creationId xmlns:a16="http://schemas.microsoft.com/office/drawing/2014/main" id="{40C68C1A-8F63-B098-1B00-B6DF35C56E5A}"/>
              </a:ext>
            </a:extLst>
          </p:cNvPr>
          <p:cNvSpPr/>
          <p:nvPr/>
        </p:nvSpPr>
        <p:spPr>
          <a:xfrm>
            <a:off x="6095999" y="4636542"/>
            <a:ext cx="5337310" cy="1645386"/>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 sz="1200" dirty="0"/>
              <a:t>4. Seleccione una de las siguientes opciones para indicar los totales calculados que desea desplegar en la sección </a:t>
            </a:r>
            <a:r>
              <a:rPr lang="es-ES" sz="1200" b="1" dirty="0"/>
              <a:t>«Detalle de cuenta» </a:t>
            </a:r>
            <a:r>
              <a:rPr lang="es-ES" sz="1200" dirty="0"/>
              <a:t>en la página </a:t>
            </a:r>
            <a:r>
              <a:rPr lang="es-ES" sz="1200" b="1" dirty="0"/>
              <a:t>«Detalle de cuenta para el periodo».</a:t>
            </a:r>
          </a:p>
          <a:p>
            <a:r>
              <a:rPr lang="es-ES" sz="1200" i="1" dirty="0"/>
              <a:t>Solo saldo de cuenta: </a:t>
            </a:r>
            <a:r>
              <a:rPr lang="es-ES" sz="1200" dirty="0"/>
              <a:t>desplegar el total de saldo de cuenta del alumno global.</a:t>
            </a:r>
          </a:p>
          <a:p>
            <a:r>
              <a:rPr lang="es-ES" sz="1200" i="1" dirty="0"/>
              <a:t>Saldo y vencimiento actual: </a:t>
            </a:r>
            <a:r>
              <a:rPr lang="es-ES" sz="1200" dirty="0"/>
              <a:t>desplegar tanto el total de saldo de cuenta como el vencimiento actual. Si el monto vencido actual es menor a cero, se despliega cero.</a:t>
            </a:r>
          </a:p>
        </p:txBody>
      </p:sp>
      <p:pic>
        <p:nvPicPr>
          <p:cNvPr id="20" name="Imagen 19">
            <a:extLst>
              <a:ext uri="{FF2B5EF4-FFF2-40B4-BE49-F238E27FC236}">
                <a16:creationId xmlns:a16="http://schemas.microsoft.com/office/drawing/2014/main" id="{E999F6A6-7FC2-DC79-A527-83749B9F1A87}"/>
              </a:ext>
            </a:extLst>
          </p:cNvPr>
          <p:cNvPicPr>
            <a:picLocks noChangeAspect="1"/>
          </p:cNvPicPr>
          <p:nvPr/>
        </p:nvPicPr>
        <p:blipFill>
          <a:blip r:embed="rId3"/>
          <a:stretch>
            <a:fillRect/>
          </a:stretch>
        </p:blipFill>
        <p:spPr>
          <a:xfrm>
            <a:off x="8483650" y="2354286"/>
            <a:ext cx="162000" cy="162000"/>
          </a:xfrm>
          <a:prstGeom prst="rect">
            <a:avLst/>
          </a:prstGeom>
        </p:spPr>
      </p:pic>
      <p:pic>
        <p:nvPicPr>
          <p:cNvPr id="22" name="Imagen 21">
            <a:extLst>
              <a:ext uri="{FF2B5EF4-FFF2-40B4-BE49-F238E27FC236}">
                <a16:creationId xmlns:a16="http://schemas.microsoft.com/office/drawing/2014/main" id="{3E774F14-EF32-2028-BCA9-F5E0BC5E1D9F}"/>
              </a:ext>
            </a:extLst>
          </p:cNvPr>
          <p:cNvPicPr>
            <a:picLocks noChangeAspect="1"/>
          </p:cNvPicPr>
          <p:nvPr/>
        </p:nvPicPr>
        <p:blipFill>
          <a:blip r:embed="rId4"/>
          <a:stretch>
            <a:fillRect/>
          </a:stretch>
        </p:blipFill>
        <p:spPr>
          <a:xfrm>
            <a:off x="2922573" y="2613204"/>
            <a:ext cx="162000" cy="162000"/>
          </a:xfrm>
          <a:prstGeom prst="rect">
            <a:avLst/>
          </a:prstGeom>
        </p:spPr>
      </p:pic>
      <p:pic>
        <p:nvPicPr>
          <p:cNvPr id="24" name="Imagen 23">
            <a:extLst>
              <a:ext uri="{FF2B5EF4-FFF2-40B4-BE49-F238E27FC236}">
                <a16:creationId xmlns:a16="http://schemas.microsoft.com/office/drawing/2014/main" id="{76AB6FEA-452C-15D5-06D1-97BBDF7EE1ED}"/>
              </a:ext>
            </a:extLst>
          </p:cNvPr>
          <p:cNvPicPr>
            <a:picLocks noChangeAspect="1"/>
          </p:cNvPicPr>
          <p:nvPr/>
        </p:nvPicPr>
        <p:blipFill>
          <a:blip r:embed="rId5"/>
          <a:stretch>
            <a:fillRect/>
          </a:stretch>
        </p:blipFill>
        <p:spPr>
          <a:xfrm>
            <a:off x="2856927" y="1910362"/>
            <a:ext cx="162000" cy="162000"/>
          </a:xfrm>
          <a:prstGeom prst="rect">
            <a:avLst/>
          </a:prstGeom>
        </p:spPr>
      </p:pic>
      <p:pic>
        <p:nvPicPr>
          <p:cNvPr id="26" name="Imagen 25">
            <a:extLst>
              <a:ext uri="{FF2B5EF4-FFF2-40B4-BE49-F238E27FC236}">
                <a16:creationId xmlns:a16="http://schemas.microsoft.com/office/drawing/2014/main" id="{A3B5E7BB-FED7-D5D0-1462-5CFAF0514328}"/>
              </a:ext>
            </a:extLst>
          </p:cNvPr>
          <p:cNvPicPr>
            <a:picLocks noChangeAspect="1"/>
          </p:cNvPicPr>
          <p:nvPr/>
        </p:nvPicPr>
        <p:blipFill>
          <a:blip r:embed="rId6"/>
          <a:stretch>
            <a:fillRect/>
          </a:stretch>
        </p:blipFill>
        <p:spPr>
          <a:xfrm>
            <a:off x="8482126" y="1971021"/>
            <a:ext cx="162000" cy="162000"/>
          </a:xfrm>
          <a:prstGeom prst="rect">
            <a:avLst/>
          </a:prstGeom>
        </p:spPr>
      </p:pic>
    </p:spTree>
    <p:extLst>
      <p:ext uri="{BB962C8B-B14F-4D97-AF65-F5344CB8AC3E}">
        <p14:creationId xmlns:p14="http://schemas.microsoft.com/office/powerpoint/2010/main" val="30675985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FE6BA2-EF92-4F5B-5907-3037330E343C}"/>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7F98FC43-5A01-C3ED-A4A9-89E44C5450CE}"/>
              </a:ext>
            </a:extLst>
          </p:cNvPr>
          <p:cNvSpPr txBox="1">
            <a:spLocks/>
          </p:cNvSpPr>
          <p:nvPr/>
        </p:nvSpPr>
        <p:spPr>
          <a:xfrm>
            <a:off x="704088" y="330062"/>
            <a:ext cx="10674618" cy="937471"/>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algn="just"/>
            <a:r>
              <a:rPr lang="es-ES_tradnl" sz="3200" dirty="0">
                <a:solidFill>
                  <a:schemeClr val="accent1"/>
                </a:solidFill>
              </a:rPr>
              <a:t>Configuraciones: </a:t>
            </a:r>
            <a:r>
              <a:rPr lang="es-ES_tradnl" sz="3200" dirty="0"/>
              <a:t>TSADETC Control código de detalle - Alumnos</a:t>
            </a:r>
            <a:endParaRPr lang="es-CL" dirty="0"/>
          </a:p>
        </p:txBody>
      </p:sp>
      <p:sp>
        <p:nvSpPr>
          <p:cNvPr id="3" name="Rectángulo: esquinas redondeadas 2">
            <a:extLst>
              <a:ext uri="{FF2B5EF4-FFF2-40B4-BE49-F238E27FC236}">
                <a16:creationId xmlns:a16="http://schemas.microsoft.com/office/drawing/2014/main" id="{662E7D75-F31C-5A67-2C1C-CD02C6246411}"/>
              </a:ext>
            </a:extLst>
          </p:cNvPr>
          <p:cNvSpPr/>
          <p:nvPr/>
        </p:nvSpPr>
        <p:spPr>
          <a:xfrm>
            <a:off x="758691" y="4992754"/>
            <a:ext cx="10672039" cy="969134"/>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ES" sz="1200" dirty="0"/>
              <a:t>Creación de los códigos de detalles que representen los beneficios a otorgar como un </a:t>
            </a:r>
            <a:r>
              <a:rPr lang="es-ES" sz="1300" b="1" dirty="0"/>
              <a:t>PAGO</a:t>
            </a:r>
            <a:r>
              <a:rPr lang="es-ES" sz="1200" dirty="0"/>
              <a:t> sobre la cuenta corriente del estudiante.</a:t>
            </a:r>
          </a:p>
          <a:p>
            <a:pPr algn="just"/>
            <a:endParaRPr lang="es-ES" sz="600" b="1" dirty="0"/>
          </a:p>
          <a:p>
            <a:pPr algn="just"/>
            <a:r>
              <a:rPr lang="es-ES" sz="1200" b="1" dirty="0"/>
              <a:t>Nota:</a:t>
            </a:r>
            <a:r>
              <a:rPr lang="es-ES" sz="1200" dirty="0"/>
              <a:t> La configuración de esta página administrativa se detalla en el instructivo </a:t>
            </a:r>
            <a:r>
              <a:rPr lang="es-ES" sz="1200" b="1" dirty="0"/>
              <a:t>11.1 Instructivo </a:t>
            </a:r>
            <a:r>
              <a:rPr lang="es-ES" sz="1200" b="1" dirty="0" err="1"/>
              <a:t>CxC</a:t>
            </a:r>
            <a:r>
              <a:rPr lang="es-ES" sz="1200" b="1" dirty="0"/>
              <a:t> - </a:t>
            </a:r>
            <a:r>
              <a:rPr lang="es-CO" sz="1200" b="1" dirty="0"/>
              <a:t>Gestionar los conceptos de configuración de la cuenta corriente</a:t>
            </a:r>
            <a:endParaRPr lang="es-CL" sz="1200" dirty="0"/>
          </a:p>
        </p:txBody>
      </p:sp>
      <p:pic>
        <p:nvPicPr>
          <p:cNvPr id="4" name="Imagen 3">
            <a:extLst>
              <a:ext uri="{FF2B5EF4-FFF2-40B4-BE49-F238E27FC236}">
                <a16:creationId xmlns:a16="http://schemas.microsoft.com/office/drawing/2014/main" id="{9237C5E1-50FF-AF06-1BE9-6F4DCBDB8134}"/>
              </a:ext>
            </a:extLst>
          </p:cNvPr>
          <p:cNvPicPr>
            <a:picLocks noChangeAspect="1"/>
          </p:cNvPicPr>
          <p:nvPr/>
        </p:nvPicPr>
        <p:blipFill>
          <a:blip r:embed="rId2"/>
          <a:srcRect l="511"/>
          <a:stretch>
            <a:fillRect/>
          </a:stretch>
        </p:blipFill>
        <p:spPr>
          <a:xfrm>
            <a:off x="730360" y="2232007"/>
            <a:ext cx="10728699" cy="1796272"/>
          </a:xfrm>
          <a:prstGeom prst="rect">
            <a:avLst/>
          </a:prstGeom>
        </p:spPr>
      </p:pic>
    </p:spTree>
    <p:extLst>
      <p:ext uri="{BB962C8B-B14F-4D97-AF65-F5344CB8AC3E}">
        <p14:creationId xmlns:p14="http://schemas.microsoft.com/office/powerpoint/2010/main" val="337472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DA809B-47E9-8F52-7D2D-2A504A8FBABE}"/>
            </a:ext>
          </a:extLst>
        </p:cNvPr>
        <p:cNvGrpSpPr/>
        <p:nvPr/>
      </p:nvGrpSpPr>
      <p:grpSpPr>
        <a:xfrm>
          <a:off x="0" y="0"/>
          <a:ext cx="0" cy="0"/>
          <a:chOff x="0" y="0"/>
          <a:chExt cx="0" cy="0"/>
        </a:xfrm>
      </p:grpSpPr>
      <p:sp>
        <p:nvSpPr>
          <p:cNvPr id="5" name="CuadroTexto 4">
            <a:extLst>
              <a:ext uri="{FF2B5EF4-FFF2-40B4-BE49-F238E27FC236}">
                <a16:creationId xmlns:a16="http://schemas.microsoft.com/office/drawing/2014/main" id="{2C051653-3909-EB96-92D5-155F190D0F54}"/>
              </a:ext>
            </a:extLst>
          </p:cNvPr>
          <p:cNvSpPr txBox="1"/>
          <p:nvPr/>
        </p:nvSpPr>
        <p:spPr>
          <a:xfrm>
            <a:off x="711313" y="1672888"/>
            <a:ext cx="10261487" cy="1938992"/>
          </a:xfrm>
          <a:prstGeom prst="rect">
            <a:avLst/>
          </a:prstGeom>
          <a:noFill/>
        </p:spPr>
        <p:txBody>
          <a:bodyPr wrap="square">
            <a:spAutoFit/>
          </a:bodyPr>
          <a:lstStyle/>
          <a:p>
            <a:r>
              <a:rPr lang="es-ES" sz="6000" b="1" dirty="0">
                <a:solidFill>
                  <a:schemeClr val="bg1"/>
                </a:solidFill>
              </a:rPr>
              <a:t>Configuración y Asignación de Exenciones</a:t>
            </a:r>
            <a:endParaRPr lang="en-US" sz="6000" b="1" dirty="0">
              <a:solidFill>
                <a:schemeClr val="bg1"/>
              </a:solidFill>
            </a:endParaRPr>
          </a:p>
        </p:txBody>
      </p:sp>
      <p:sp>
        <p:nvSpPr>
          <p:cNvPr id="2" name="Text Placeholder 16">
            <a:extLst>
              <a:ext uri="{FF2B5EF4-FFF2-40B4-BE49-F238E27FC236}">
                <a16:creationId xmlns:a16="http://schemas.microsoft.com/office/drawing/2014/main" id="{A996BD9B-58A8-6546-4E23-6229A24237AB}"/>
              </a:ext>
            </a:extLst>
          </p:cNvPr>
          <p:cNvSpPr txBox="1">
            <a:spLocks/>
          </p:cNvSpPr>
          <p:nvPr/>
        </p:nvSpPr>
        <p:spPr>
          <a:xfrm>
            <a:off x="718538" y="3709595"/>
            <a:ext cx="7092820" cy="774441"/>
          </a:xfrm>
          <a:prstGeom prst="rect">
            <a:avLst/>
          </a:prstGeom>
        </p:spPr>
        <p:txBody>
          <a:bodyPr/>
          <a:lst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CO" sz="2000" b="1" dirty="0">
                <a:solidFill>
                  <a:schemeClr val="bg1"/>
                </a:solidFill>
              </a:rPr>
              <a:t>Gestionar los beneficios</a:t>
            </a:r>
          </a:p>
        </p:txBody>
      </p:sp>
    </p:spTree>
    <p:extLst>
      <p:ext uri="{BB962C8B-B14F-4D97-AF65-F5344CB8AC3E}">
        <p14:creationId xmlns:p14="http://schemas.microsoft.com/office/powerpoint/2010/main" val="40095736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0F73A-91D3-8DA7-8B01-F331CB913213}"/>
            </a:ext>
          </a:extLst>
        </p:cNvPr>
        <p:cNvGrpSpPr/>
        <p:nvPr/>
      </p:nvGrpSpPr>
      <p:grpSpPr>
        <a:xfrm>
          <a:off x="0" y="0"/>
          <a:ext cx="0" cy="0"/>
          <a:chOff x="0" y="0"/>
          <a:chExt cx="0" cy="0"/>
        </a:xfrm>
      </p:grpSpPr>
      <p:pic>
        <p:nvPicPr>
          <p:cNvPr id="8" name="Imagen 7">
            <a:extLst>
              <a:ext uri="{FF2B5EF4-FFF2-40B4-BE49-F238E27FC236}">
                <a16:creationId xmlns:a16="http://schemas.microsoft.com/office/drawing/2014/main" id="{F16642FC-8F2F-06ED-1EEF-56B71B0D60D6}"/>
              </a:ext>
            </a:extLst>
          </p:cNvPr>
          <p:cNvPicPr>
            <a:picLocks noChangeAspect="1"/>
          </p:cNvPicPr>
          <p:nvPr/>
        </p:nvPicPr>
        <p:blipFill>
          <a:blip r:embed="rId2"/>
          <a:stretch>
            <a:fillRect/>
          </a:stretch>
        </p:blipFill>
        <p:spPr>
          <a:xfrm>
            <a:off x="1237449" y="1625233"/>
            <a:ext cx="9583200" cy="1186176"/>
          </a:xfrm>
          <a:prstGeom prst="rect">
            <a:avLst/>
          </a:prstGeom>
        </p:spPr>
      </p:pic>
      <p:sp>
        <p:nvSpPr>
          <p:cNvPr id="2" name="Título 3">
            <a:extLst>
              <a:ext uri="{FF2B5EF4-FFF2-40B4-BE49-F238E27FC236}">
                <a16:creationId xmlns:a16="http://schemas.microsoft.com/office/drawing/2014/main" id="{51953B25-C873-D8E2-0336-371AB651FAC8}"/>
              </a:ext>
            </a:extLst>
          </p:cNvPr>
          <p:cNvSpPr txBox="1">
            <a:spLocks/>
          </p:cNvSpPr>
          <p:nvPr/>
        </p:nvSpPr>
        <p:spPr>
          <a:xfrm>
            <a:off x="1237449" y="414303"/>
            <a:ext cx="9166326" cy="96521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algn="just"/>
            <a:r>
              <a:rPr lang="es-ES_tradnl" sz="3200" dirty="0">
                <a:solidFill>
                  <a:schemeClr val="accent1"/>
                </a:solidFill>
              </a:rPr>
              <a:t>Configuraciones: </a:t>
            </a:r>
            <a:r>
              <a:rPr lang="es-ES_tradnl" sz="3200" dirty="0"/>
              <a:t>TSAEXPT Autorización de </a:t>
            </a:r>
          </a:p>
          <a:p>
            <a:r>
              <a:rPr lang="es-ES_tradnl" sz="3200" dirty="0"/>
              <a:t>Exenciones </a:t>
            </a:r>
            <a:r>
              <a:rPr lang="es-ES_tradnl" sz="3200" b="0" dirty="0"/>
              <a:t>(1/6)</a:t>
            </a:r>
            <a:br>
              <a:rPr lang="es-CL" dirty="0"/>
            </a:br>
            <a:endParaRPr lang="es-CL" dirty="0"/>
          </a:p>
        </p:txBody>
      </p:sp>
      <p:sp>
        <p:nvSpPr>
          <p:cNvPr id="3" name="Rectángulo: esquinas redondeadas 2">
            <a:extLst>
              <a:ext uri="{FF2B5EF4-FFF2-40B4-BE49-F238E27FC236}">
                <a16:creationId xmlns:a16="http://schemas.microsoft.com/office/drawing/2014/main" id="{8CBBB30A-8E52-5457-BDE5-411AA0F606AA}"/>
              </a:ext>
            </a:extLst>
          </p:cNvPr>
          <p:cNvSpPr/>
          <p:nvPr/>
        </p:nvSpPr>
        <p:spPr>
          <a:xfrm>
            <a:off x="1196883" y="2945360"/>
            <a:ext cx="9583200" cy="55275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ES" sz="1200" b="1" dirty="0"/>
              <a:t>1. </a:t>
            </a:r>
            <a:r>
              <a:rPr lang="es-ES" sz="1200" dirty="0"/>
              <a:t>La creación de una exención requiere la definición de un código de exención numérico de hasta 8 caracteres y la asociación de dicho registro a un periodo académico.</a:t>
            </a:r>
            <a:endParaRPr lang="es-CL" sz="1200" dirty="0"/>
          </a:p>
        </p:txBody>
      </p:sp>
      <p:sp>
        <p:nvSpPr>
          <p:cNvPr id="4" name="Rectangle: Rounded Corners 14">
            <a:extLst>
              <a:ext uri="{FF2B5EF4-FFF2-40B4-BE49-F238E27FC236}">
                <a16:creationId xmlns:a16="http://schemas.microsoft.com/office/drawing/2014/main" id="{F259DD9B-2FA9-A501-09CD-CC0A0AFE89D6}"/>
              </a:ext>
            </a:extLst>
          </p:cNvPr>
          <p:cNvSpPr/>
          <p:nvPr/>
        </p:nvSpPr>
        <p:spPr>
          <a:xfrm>
            <a:off x="1196883" y="5232767"/>
            <a:ext cx="9583200" cy="834717"/>
          </a:xfrm>
          <a:prstGeom prst="roundRect">
            <a:avLst/>
          </a:prstGeom>
          <a:solidFill>
            <a:schemeClr val="accent2">
              <a:lumMod val="20000"/>
              <a:lumOff val="80000"/>
            </a:schemeClr>
          </a:solidFill>
          <a:ln>
            <a:solidFill>
              <a:schemeClr val="accent2"/>
            </a:solidFill>
          </a:ln>
        </p:spPr>
        <p:style>
          <a:lnRef idx="2">
            <a:schemeClr val="accent2"/>
          </a:lnRef>
          <a:fillRef idx="1">
            <a:schemeClr val="lt1"/>
          </a:fillRef>
          <a:effectRef idx="0">
            <a:schemeClr val="accent2"/>
          </a:effectRef>
          <a:fontRef idx="minor">
            <a:schemeClr val="dk1"/>
          </a:fontRef>
        </p:style>
        <p:txBody>
          <a:bodyPr rtlCol="0" anchor="ctr"/>
          <a:lstStyle/>
          <a:p>
            <a:pPr algn="just"/>
            <a:r>
              <a:rPr lang="es-CO" sz="1200" b="1" dirty="0"/>
              <a:t>Nota</a:t>
            </a:r>
            <a:r>
              <a:rPr lang="es-CO" sz="1200" dirty="0"/>
              <a:t>: </a:t>
            </a:r>
            <a:r>
              <a:rPr lang="es-ES" sz="1200" dirty="0"/>
              <a:t>La creación de exenciones debe ser realizada para todos los periodos académicos que se desea tenerla disponible, esto puede ser realizado uno a uno o bien rolando configuraciones de un periodo a otro (periodo origen -&gt; periodo destino).</a:t>
            </a:r>
            <a:endParaRPr lang="es-CL" sz="1200" dirty="0"/>
          </a:p>
        </p:txBody>
      </p:sp>
      <p:sp>
        <p:nvSpPr>
          <p:cNvPr id="5" name="Rectángulo: esquinas redondeadas 5">
            <a:extLst>
              <a:ext uri="{FF2B5EF4-FFF2-40B4-BE49-F238E27FC236}">
                <a16:creationId xmlns:a16="http://schemas.microsoft.com/office/drawing/2014/main" id="{A1F48794-5C59-DB79-54D4-42B9A69B13FC}"/>
              </a:ext>
            </a:extLst>
          </p:cNvPr>
          <p:cNvSpPr/>
          <p:nvPr/>
        </p:nvSpPr>
        <p:spPr>
          <a:xfrm>
            <a:off x="1196883" y="3680927"/>
            <a:ext cx="5730279" cy="449324"/>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ES" sz="1200" b="1" dirty="0"/>
              <a:t>2. </a:t>
            </a:r>
            <a:r>
              <a:rPr lang="es-ES" sz="1200" dirty="0"/>
              <a:t>Se debe realizar la asociación de dicho registro a un periodo académico.</a:t>
            </a:r>
            <a:endParaRPr lang="es-CL" sz="1200" dirty="0"/>
          </a:p>
        </p:txBody>
      </p:sp>
      <p:sp>
        <p:nvSpPr>
          <p:cNvPr id="6" name="Rectángulo: esquinas redondeadas 5">
            <a:extLst>
              <a:ext uri="{FF2B5EF4-FFF2-40B4-BE49-F238E27FC236}">
                <a16:creationId xmlns:a16="http://schemas.microsoft.com/office/drawing/2014/main" id="{05DB2B96-0064-CEBF-9945-AE2252CD1758}"/>
              </a:ext>
            </a:extLst>
          </p:cNvPr>
          <p:cNvSpPr/>
          <p:nvPr/>
        </p:nvSpPr>
        <p:spPr>
          <a:xfrm>
            <a:off x="1196883" y="4313687"/>
            <a:ext cx="5730279" cy="449324"/>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ES" sz="1200" b="1" dirty="0"/>
              <a:t>3. </a:t>
            </a:r>
            <a:r>
              <a:rPr lang="es-ES" sz="1200" dirty="0"/>
              <a:t>Presione el botón </a:t>
            </a:r>
            <a:r>
              <a:rPr lang="es-ES" sz="1200" b="1" dirty="0"/>
              <a:t>Ir</a:t>
            </a:r>
            <a:r>
              <a:rPr lang="es-ES" sz="1200" dirty="0"/>
              <a:t> para pasar a la siguiente sección.</a:t>
            </a:r>
            <a:endParaRPr lang="es-CL" sz="1200" dirty="0"/>
          </a:p>
        </p:txBody>
      </p:sp>
      <p:pic>
        <p:nvPicPr>
          <p:cNvPr id="14" name="Imagen 13">
            <a:extLst>
              <a:ext uri="{FF2B5EF4-FFF2-40B4-BE49-F238E27FC236}">
                <a16:creationId xmlns:a16="http://schemas.microsoft.com/office/drawing/2014/main" id="{47F971C6-E8DF-5616-2C39-4246AD747095}"/>
              </a:ext>
            </a:extLst>
          </p:cNvPr>
          <p:cNvPicPr>
            <a:picLocks noChangeAspect="1"/>
          </p:cNvPicPr>
          <p:nvPr/>
        </p:nvPicPr>
        <p:blipFill>
          <a:blip r:embed="rId3"/>
          <a:stretch>
            <a:fillRect/>
          </a:stretch>
        </p:blipFill>
        <p:spPr>
          <a:xfrm>
            <a:off x="7620119" y="2178419"/>
            <a:ext cx="162000" cy="162000"/>
          </a:xfrm>
          <a:prstGeom prst="rect">
            <a:avLst/>
          </a:prstGeom>
        </p:spPr>
      </p:pic>
      <p:pic>
        <p:nvPicPr>
          <p:cNvPr id="15" name="Imagen 14">
            <a:extLst>
              <a:ext uri="{FF2B5EF4-FFF2-40B4-BE49-F238E27FC236}">
                <a16:creationId xmlns:a16="http://schemas.microsoft.com/office/drawing/2014/main" id="{9E9680A5-64F8-ED1A-419C-E200F6A44CD8}"/>
              </a:ext>
            </a:extLst>
          </p:cNvPr>
          <p:cNvPicPr>
            <a:picLocks noChangeAspect="1"/>
          </p:cNvPicPr>
          <p:nvPr/>
        </p:nvPicPr>
        <p:blipFill>
          <a:blip r:embed="rId4"/>
          <a:stretch>
            <a:fillRect/>
          </a:stretch>
        </p:blipFill>
        <p:spPr>
          <a:xfrm>
            <a:off x="3192122" y="2167440"/>
            <a:ext cx="162000" cy="162000"/>
          </a:xfrm>
          <a:prstGeom prst="rect">
            <a:avLst/>
          </a:prstGeom>
        </p:spPr>
      </p:pic>
      <p:pic>
        <p:nvPicPr>
          <p:cNvPr id="16" name="Imagen 15">
            <a:extLst>
              <a:ext uri="{FF2B5EF4-FFF2-40B4-BE49-F238E27FC236}">
                <a16:creationId xmlns:a16="http://schemas.microsoft.com/office/drawing/2014/main" id="{DF954A8F-18FA-2D17-A681-E5AD183F8FAA}"/>
              </a:ext>
            </a:extLst>
          </p:cNvPr>
          <p:cNvPicPr>
            <a:picLocks noChangeAspect="1"/>
          </p:cNvPicPr>
          <p:nvPr/>
        </p:nvPicPr>
        <p:blipFill>
          <a:blip r:embed="rId5"/>
          <a:stretch>
            <a:fillRect/>
          </a:stretch>
        </p:blipFill>
        <p:spPr>
          <a:xfrm>
            <a:off x="10139500" y="2182596"/>
            <a:ext cx="162000" cy="162000"/>
          </a:xfrm>
          <a:prstGeom prst="rect">
            <a:avLst/>
          </a:prstGeom>
        </p:spPr>
      </p:pic>
      <p:sp>
        <p:nvSpPr>
          <p:cNvPr id="18" name="Rectángulo 17">
            <a:extLst>
              <a:ext uri="{FF2B5EF4-FFF2-40B4-BE49-F238E27FC236}">
                <a16:creationId xmlns:a16="http://schemas.microsoft.com/office/drawing/2014/main" id="{934084CD-0B2E-4A11-DD80-DFE2A6210129}"/>
              </a:ext>
            </a:extLst>
          </p:cNvPr>
          <p:cNvSpPr/>
          <p:nvPr/>
        </p:nvSpPr>
        <p:spPr>
          <a:xfrm>
            <a:off x="10422063" y="2162854"/>
            <a:ext cx="414116" cy="229320"/>
          </a:xfrm>
          <a:prstGeom prst="rect">
            <a:avLst/>
          </a:prstGeom>
          <a:noFill/>
          <a:ln w="28575">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40340751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C001CE-F89F-002E-D712-AADFB185E6F0}"/>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C56A498C-4EF5-4021-48B4-0C352F9276A0}"/>
              </a:ext>
            </a:extLst>
          </p:cNvPr>
          <p:cNvPicPr>
            <a:picLocks noChangeAspect="1"/>
          </p:cNvPicPr>
          <p:nvPr/>
        </p:nvPicPr>
        <p:blipFill>
          <a:blip r:embed="rId2"/>
          <a:stretch>
            <a:fillRect/>
          </a:stretch>
        </p:blipFill>
        <p:spPr>
          <a:xfrm>
            <a:off x="1304400" y="1460960"/>
            <a:ext cx="9583200" cy="2091484"/>
          </a:xfrm>
          <a:prstGeom prst="rect">
            <a:avLst/>
          </a:prstGeom>
        </p:spPr>
      </p:pic>
      <p:sp>
        <p:nvSpPr>
          <p:cNvPr id="2" name="Título 3">
            <a:extLst>
              <a:ext uri="{FF2B5EF4-FFF2-40B4-BE49-F238E27FC236}">
                <a16:creationId xmlns:a16="http://schemas.microsoft.com/office/drawing/2014/main" id="{00F802A6-6F03-B5FC-9904-4B2FF3B390A8}"/>
              </a:ext>
            </a:extLst>
          </p:cNvPr>
          <p:cNvSpPr txBox="1">
            <a:spLocks/>
          </p:cNvSpPr>
          <p:nvPr/>
        </p:nvSpPr>
        <p:spPr>
          <a:xfrm>
            <a:off x="1212149" y="440341"/>
            <a:ext cx="9726573" cy="61691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Configuraciones: </a:t>
            </a:r>
            <a:r>
              <a:rPr lang="es-ES_tradnl" sz="3200" dirty="0"/>
              <a:t>TSAEXPT Autorización de </a:t>
            </a:r>
          </a:p>
          <a:p>
            <a:r>
              <a:rPr lang="es-ES_tradnl" sz="3200" dirty="0"/>
              <a:t>Exenciones </a:t>
            </a:r>
            <a:r>
              <a:rPr lang="es-ES_tradnl" sz="3200" b="0" dirty="0"/>
              <a:t>(2/6)</a:t>
            </a:r>
            <a:br>
              <a:rPr lang="es-CL" dirty="0"/>
            </a:br>
            <a:endParaRPr lang="es-CL" dirty="0"/>
          </a:p>
        </p:txBody>
      </p:sp>
      <p:sp>
        <p:nvSpPr>
          <p:cNvPr id="3" name="Rectángulo: esquinas redondeadas 2">
            <a:extLst>
              <a:ext uri="{FF2B5EF4-FFF2-40B4-BE49-F238E27FC236}">
                <a16:creationId xmlns:a16="http://schemas.microsoft.com/office/drawing/2014/main" id="{4F830F5F-99AA-804B-4614-151B3BD678C0}"/>
              </a:ext>
            </a:extLst>
          </p:cNvPr>
          <p:cNvSpPr/>
          <p:nvPr/>
        </p:nvSpPr>
        <p:spPr>
          <a:xfrm>
            <a:off x="1304400" y="3728192"/>
            <a:ext cx="9562635" cy="468167"/>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ES" sz="1200" dirty="0"/>
              <a:t>4. Una vez se define código de exención y periodo académico, se debe crear la descripción de la exención con hasta 30 caracteres.</a:t>
            </a:r>
            <a:endParaRPr lang="es-CL" sz="1200" dirty="0"/>
          </a:p>
        </p:txBody>
      </p:sp>
      <p:sp>
        <p:nvSpPr>
          <p:cNvPr id="4" name="Rectángulo: esquinas redondeadas 11">
            <a:extLst>
              <a:ext uri="{FF2B5EF4-FFF2-40B4-BE49-F238E27FC236}">
                <a16:creationId xmlns:a16="http://schemas.microsoft.com/office/drawing/2014/main" id="{52D80A82-FEC7-2882-3FCD-FDB02242B94B}"/>
              </a:ext>
            </a:extLst>
          </p:cNvPr>
          <p:cNvSpPr/>
          <p:nvPr/>
        </p:nvSpPr>
        <p:spPr>
          <a:xfrm>
            <a:off x="1283835" y="4487114"/>
            <a:ext cx="9583200" cy="1095117"/>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ES" sz="1200" dirty="0"/>
              <a:t>5. Adicionalmente se debe definir el código de detalle con el cual sería representada la aplicación del beneficio del estudiante en su cuenta corriente, dicho código de detalle debe ser de tipo PAGO y debe estar creado previamente en la página administrativa TSADETC.</a:t>
            </a:r>
            <a:endParaRPr lang="es-CL" sz="1200" dirty="0"/>
          </a:p>
        </p:txBody>
      </p:sp>
      <p:pic>
        <p:nvPicPr>
          <p:cNvPr id="13" name="Imagen 12">
            <a:extLst>
              <a:ext uri="{FF2B5EF4-FFF2-40B4-BE49-F238E27FC236}">
                <a16:creationId xmlns:a16="http://schemas.microsoft.com/office/drawing/2014/main" id="{877BA69A-B44A-A3EE-511A-AE5BF1A1AF7B}"/>
              </a:ext>
            </a:extLst>
          </p:cNvPr>
          <p:cNvPicPr>
            <a:picLocks noChangeAspect="1"/>
          </p:cNvPicPr>
          <p:nvPr/>
        </p:nvPicPr>
        <p:blipFill>
          <a:blip r:embed="rId3"/>
          <a:stretch>
            <a:fillRect/>
          </a:stretch>
        </p:blipFill>
        <p:spPr>
          <a:xfrm>
            <a:off x="8469618" y="2503885"/>
            <a:ext cx="162000" cy="162000"/>
          </a:xfrm>
          <a:prstGeom prst="rect">
            <a:avLst/>
          </a:prstGeom>
        </p:spPr>
      </p:pic>
      <p:pic>
        <p:nvPicPr>
          <p:cNvPr id="15" name="Imagen 14">
            <a:extLst>
              <a:ext uri="{FF2B5EF4-FFF2-40B4-BE49-F238E27FC236}">
                <a16:creationId xmlns:a16="http://schemas.microsoft.com/office/drawing/2014/main" id="{5957193C-3968-7858-5603-1FC8C5AA75ED}"/>
              </a:ext>
            </a:extLst>
          </p:cNvPr>
          <p:cNvPicPr>
            <a:picLocks noChangeAspect="1"/>
          </p:cNvPicPr>
          <p:nvPr/>
        </p:nvPicPr>
        <p:blipFill>
          <a:blip r:embed="rId4"/>
          <a:stretch>
            <a:fillRect/>
          </a:stretch>
        </p:blipFill>
        <p:spPr>
          <a:xfrm>
            <a:off x="3560384" y="2503885"/>
            <a:ext cx="162000" cy="162000"/>
          </a:xfrm>
          <a:prstGeom prst="rect">
            <a:avLst/>
          </a:prstGeom>
        </p:spPr>
      </p:pic>
    </p:spTree>
    <p:extLst>
      <p:ext uri="{BB962C8B-B14F-4D97-AF65-F5344CB8AC3E}">
        <p14:creationId xmlns:p14="http://schemas.microsoft.com/office/powerpoint/2010/main" val="20045256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C31516-42AD-4874-9F59-F5830CC7C382}"/>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F8BF26A7-5BBE-772B-2BEC-795C6E70CE73}"/>
              </a:ext>
            </a:extLst>
          </p:cNvPr>
          <p:cNvPicPr>
            <a:picLocks noChangeAspect="1"/>
          </p:cNvPicPr>
          <p:nvPr/>
        </p:nvPicPr>
        <p:blipFill>
          <a:blip r:embed="rId2"/>
          <a:stretch>
            <a:fillRect/>
          </a:stretch>
        </p:blipFill>
        <p:spPr>
          <a:xfrm>
            <a:off x="1401337" y="1566602"/>
            <a:ext cx="9583200" cy="2008223"/>
          </a:xfrm>
          <a:prstGeom prst="rect">
            <a:avLst/>
          </a:prstGeom>
        </p:spPr>
      </p:pic>
      <p:sp>
        <p:nvSpPr>
          <p:cNvPr id="2" name="Título 3">
            <a:extLst>
              <a:ext uri="{FF2B5EF4-FFF2-40B4-BE49-F238E27FC236}">
                <a16:creationId xmlns:a16="http://schemas.microsoft.com/office/drawing/2014/main" id="{4C0BF13D-2AC6-7C0F-D53A-764E4D7DD8A6}"/>
              </a:ext>
            </a:extLst>
          </p:cNvPr>
          <p:cNvSpPr txBox="1">
            <a:spLocks/>
          </p:cNvSpPr>
          <p:nvPr/>
        </p:nvSpPr>
        <p:spPr>
          <a:xfrm>
            <a:off x="1401336" y="397757"/>
            <a:ext cx="8943093" cy="89651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Configuraciones: </a:t>
            </a:r>
            <a:r>
              <a:rPr lang="es-ES_tradnl" sz="3200" dirty="0"/>
              <a:t>TSAEXPT Autorización de </a:t>
            </a:r>
          </a:p>
          <a:p>
            <a:r>
              <a:rPr lang="es-ES_tradnl" sz="3200" dirty="0"/>
              <a:t>Exenciones </a:t>
            </a:r>
            <a:r>
              <a:rPr lang="es-ES_tradnl" sz="3200" b="0" dirty="0"/>
              <a:t>(2/6)</a:t>
            </a:r>
            <a:br>
              <a:rPr lang="es-CL" dirty="0"/>
            </a:br>
            <a:endParaRPr lang="es-CL" dirty="0"/>
          </a:p>
        </p:txBody>
      </p:sp>
      <p:sp>
        <p:nvSpPr>
          <p:cNvPr id="5" name="Rectángulo: esquinas redondeadas 4">
            <a:extLst>
              <a:ext uri="{FF2B5EF4-FFF2-40B4-BE49-F238E27FC236}">
                <a16:creationId xmlns:a16="http://schemas.microsoft.com/office/drawing/2014/main" id="{913F23F2-53F9-C1EC-D736-82D6597BAB42}"/>
              </a:ext>
            </a:extLst>
          </p:cNvPr>
          <p:cNvSpPr/>
          <p:nvPr/>
        </p:nvSpPr>
        <p:spPr>
          <a:xfrm>
            <a:off x="1401336" y="3778893"/>
            <a:ext cx="9583199" cy="89651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 sz="1200" dirty="0"/>
              <a:t>6. En la sección “opciones de paso”, inicialmente la exención adquiere la configuración determinada en la forma TSACTRL, pero puede ser editada según las características de gestión y control del propio beneficio. Es así como la imagen refleja un beneficio que tendría activa la opción de rolar el beneficio propiamente tal de un periodo académico a otro.</a:t>
            </a:r>
            <a:endParaRPr lang="es-CL" sz="1200" dirty="0"/>
          </a:p>
        </p:txBody>
      </p:sp>
      <p:sp>
        <p:nvSpPr>
          <p:cNvPr id="7" name="Rectángulo: esquinas redondeadas 11">
            <a:extLst>
              <a:ext uri="{FF2B5EF4-FFF2-40B4-BE49-F238E27FC236}">
                <a16:creationId xmlns:a16="http://schemas.microsoft.com/office/drawing/2014/main" id="{1162C6CB-7811-CEC1-B8C5-B87A77BBDBF3}"/>
              </a:ext>
            </a:extLst>
          </p:cNvPr>
          <p:cNvSpPr/>
          <p:nvPr/>
        </p:nvSpPr>
        <p:spPr>
          <a:xfrm>
            <a:off x="1401336" y="4969272"/>
            <a:ext cx="9583199" cy="627411"/>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ES" sz="1200" dirty="0"/>
              <a:t>7. El </a:t>
            </a:r>
            <a:r>
              <a:rPr lang="es-ES" sz="1200" dirty="0" err="1"/>
              <a:t>check</a:t>
            </a:r>
            <a:r>
              <a:rPr lang="es-ES" sz="1200" dirty="0"/>
              <a:t> del campo Pasar alumnos no se encuentra marcado, lo que implica que los estudiantes no serán rolados o copiados de un periodo a otro.</a:t>
            </a:r>
            <a:endParaRPr lang="es-CL" sz="1200" dirty="0"/>
          </a:p>
        </p:txBody>
      </p:sp>
      <p:pic>
        <p:nvPicPr>
          <p:cNvPr id="12" name="Imagen 11">
            <a:extLst>
              <a:ext uri="{FF2B5EF4-FFF2-40B4-BE49-F238E27FC236}">
                <a16:creationId xmlns:a16="http://schemas.microsoft.com/office/drawing/2014/main" id="{35CDD317-82C8-9FCE-09B3-2861BDD32703}"/>
              </a:ext>
            </a:extLst>
          </p:cNvPr>
          <p:cNvPicPr>
            <a:picLocks noChangeAspect="1"/>
          </p:cNvPicPr>
          <p:nvPr/>
        </p:nvPicPr>
        <p:blipFill>
          <a:blip r:embed="rId3"/>
          <a:stretch>
            <a:fillRect/>
          </a:stretch>
        </p:blipFill>
        <p:spPr>
          <a:xfrm>
            <a:off x="3584753" y="3267000"/>
            <a:ext cx="162000" cy="162000"/>
          </a:xfrm>
          <a:prstGeom prst="rect">
            <a:avLst/>
          </a:prstGeom>
        </p:spPr>
      </p:pic>
      <p:pic>
        <p:nvPicPr>
          <p:cNvPr id="16" name="Imagen 15">
            <a:extLst>
              <a:ext uri="{FF2B5EF4-FFF2-40B4-BE49-F238E27FC236}">
                <a16:creationId xmlns:a16="http://schemas.microsoft.com/office/drawing/2014/main" id="{2C6B772A-677E-24F4-0FF6-C885493BD545}"/>
              </a:ext>
            </a:extLst>
          </p:cNvPr>
          <p:cNvPicPr>
            <a:picLocks noChangeAspect="1"/>
          </p:cNvPicPr>
          <p:nvPr/>
        </p:nvPicPr>
        <p:blipFill>
          <a:blip r:embed="rId4"/>
          <a:stretch>
            <a:fillRect/>
          </a:stretch>
        </p:blipFill>
        <p:spPr>
          <a:xfrm>
            <a:off x="8083659" y="2999646"/>
            <a:ext cx="162000" cy="162000"/>
          </a:xfrm>
          <a:prstGeom prst="rect">
            <a:avLst/>
          </a:prstGeom>
        </p:spPr>
      </p:pic>
    </p:spTree>
    <p:extLst>
      <p:ext uri="{BB962C8B-B14F-4D97-AF65-F5344CB8AC3E}">
        <p14:creationId xmlns:p14="http://schemas.microsoft.com/office/powerpoint/2010/main" val="37496771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92912-143A-B461-64E3-0C2009E9F29F}"/>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1895A8FA-7477-CE3C-2985-0030C917F26D}"/>
              </a:ext>
            </a:extLst>
          </p:cNvPr>
          <p:cNvSpPr txBox="1">
            <a:spLocks/>
          </p:cNvSpPr>
          <p:nvPr/>
        </p:nvSpPr>
        <p:spPr>
          <a:xfrm>
            <a:off x="1179315" y="479233"/>
            <a:ext cx="9482589" cy="908068"/>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Configuraciones: </a:t>
            </a:r>
            <a:r>
              <a:rPr lang="es-ES_tradnl" sz="3200" dirty="0"/>
              <a:t>TSAEXPT Autorización de </a:t>
            </a:r>
          </a:p>
          <a:p>
            <a:r>
              <a:rPr lang="es-ES_tradnl" sz="3200" dirty="0"/>
              <a:t>Exenciones </a:t>
            </a:r>
            <a:r>
              <a:rPr lang="es-ES_tradnl" sz="3200" b="0" dirty="0"/>
              <a:t>(3/6)</a:t>
            </a:r>
            <a:endParaRPr lang="es-CL" dirty="0"/>
          </a:p>
        </p:txBody>
      </p:sp>
      <p:sp>
        <p:nvSpPr>
          <p:cNvPr id="3" name="Rectángulo: esquinas redondeadas 2">
            <a:extLst>
              <a:ext uri="{FF2B5EF4-FFF2-40B4-BE49-F238E27FC236}">
                <a16:creationId xmlns:a16="http://schemas.microsoft.com/office/drawing/2014/main" id="{40DE2A30-F7EB-C9A5-B812-925CFDAAE376}"/>
              </a:ext>
            </a:extLst>
          </p:cNvPr>
          <p:cNvSpPr/>
          <p:nvPr/>
        </p:nvSpPr>
        <p:spPr>
          <a:xfrm>
            <a:off x="1304400" y="3607018"/>
            <a:ext cx="9583200" cy="112043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 sz="1200" dirty="0"/>
              <a:t>En la siguiente sección, se configura el porcentaje de cobertura que tendría el beneficio, el monto mínimo requerido para activar la asignación del beneficio, el monto máximo que el beneficio podría asignar, el origen de las transacciones de la cuenta corriente que serían consideradas, además de la prioridad con que estas reglas serían consideradas para determinar las transacciones y montos referenciales que cubriría el beneficio.</a:t>
            </a:r>
            <a:endParaRPr lang="es-CL" sz="1200" dirty="0"/>
          </a:p>
        </p:txBody>
      </p:sp>
      <p:sp>
        <p:nvSpPr>
          <p:cNvPr id="4" name="Rectangle: Rounded Corners 14">
            <a:extLst>
              <a:ext uri="{FF2B5EF4-FFF2-40B4-BE49-F238E27FC236}">
                <a16:creationId xmlns:a16="http://schemas.microsoft.com/office/drawing/2014/main" id="{C3E4D055-CDD8-541D-D075-697744295F49}"/>
              </a:ext>
            </a:extLst>
          </p:cNvPr>
          <p:cNvSpPr/>
          <p:nvPr/>
        </p:nvSpPr>
        <p:spPr>
          <a:xfrm>
            <a:off x="1304400" y="5355380"/>
            <a:ext cx="8316193" cy="462791"/>
          </a:xfrm>
          <a:prstGeom prst="roundRect">
            <a:avLst/>
          </a:prstGeom>
          <a:solidFill>
            <a:schemeClr val="accent2">
              <a:lumMod val="20000"/>
              <a:lumOff val="80000"/>
            </a:schemeClr>
          </a:solidFill>
          <a:ln>
            <a:solidFill>
              <a:schemeClr val="accent2"/>
            </a:solidFill>
          </a:ln>
        </p:spPr>
        <p:style>
          <a:lnRef idx="2">
            <a:schemeClr val="accent2"/>
          </a:lnRef>
          <a:fillRef idx="1">
            <a:schemeClr val="lt1"/>
          </a:fillRef>
          <a:effectRef idx="0">
            <a:schemeClr val="accent2"/>
          </a:effectRef>
          <a:fontRef idx="minor">
            <a:schemeClr val="dk1"/>
          </a:fontRef>
        </p:style>
        <p:txBody>
          <a:bodyPr rtlCol="0" anchor="ctr"/>
          <a:lstStyle/>
          <a:p>
            <a:pPr algn="just"/>
            <a:r>
              <a:rPr lang="es-ES_tradnl" sz="1200" dirty="0">
                <a:solidFill>
                  <a:schemeClr val="dk1"/>
                </a:solidFill>
              </a:rPr>
              <a:t>Si la funcionalidad de multimoneda se encuentra activa no es posible configurar exenciones a </a:t>
            </a:r>
            <a:r>
              <a:rPr lang="es-ES_tradnl" sz="1200" b="1" dirty="0">
                <a:solidFill>
                  <a:schemeClr val="dk1"/>
                </a:solidFill>
              </a:rPr>
              <a:t>NIVEL DE CUENTA.</a:t>
            </a:r>
          </a:p>
        </p:txBody>
      </p:sp>
      <p:pic>
        <p:nvPicPr>
          <p:cNvPr id="6" name="Imagen 5">
            <a:extLst>
              <a:ext uri="{FF2B5EF4-FFF2-40B4-BE49-F238E27FC236}">
                <a16:creationId xmlns:a16="http://schemas.microsoft.com/office/drawing/2014/main" id="{8E20DEEA-5FD7-250B-F46F-B2DE7CAC7D19}"/>
              </a:ext>
            </a:extLst>
          </p:cNvPr>
          <p:cNvPicPr>
            <a:picLocks noChangeAspect="1"/>
          </p:cNvPicPr>
          <p:nvPr/>
        </p:nvPicPr>
        <p:blipFill>
          <a:blip r:embed="rId2"/>
          <a:stretch>
            <a:fillRect/>
          </a:stretch>
        </p:blipFill>
        <p:spPr>
          <a:xfrm>
            <a:off x="1304400" y="1649309"/>
            <a:ext cx="9583200" cy="1695701"/>
          </a:xfrm>
          <a:prstGeom prst="rect">
            <a:avLst/>
          </a:prstGeom>
        </p:spPr>
      </p:pic>
    </p:spTree>
    <p:extLst>
      <p:ext uri="{BB962C8B-B14F-4D97-AF65-F5344CB8AC3E}">
        <p14:creationId xmlns:p14="http://schemas.microsoft.com/office/powerpoint/2010/main" val="33311033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AF2BED-212B-E4C3-2BCE-9AEF027ED452}"/>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C47F7F65-1AEE-2284-13E6-9E7AC35BF853}"/>
              </a:ext>
            </a:extLst>
          </p:cNvPr>
          <p:cNvSpPr txBox="1">
            <a:spLocks/>
          </p:cNvSpPr>
          <p:nvPr/>
        </p:nvSpPr>
        <p:spPr>
          <a:xfrm>
            <a:off x="1087714" y="573879"/>
            <a:ext cx="10016572" cy="888204"/>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Configuraciones: </a:t>
            </a:r>
            <a:r>
              <a:rPr lang="es-ES_tradnl" sz="3200" dirty="0"/>
              <a:t>TSAEXPT Autorización de </a:t>
            </a:r>
          </a:p>
          <a:p>
            <a:r>
              <a:rPr lang="es-ES_tradnl" sz="3200" dirty="0"/>
              <a:t>Exenciones </a:t>
            </a:r>
            <a:r>
              <a:rPr lang="es-ES_tradnl" sz="3200" b="0" dirty="0"/>
              <a:t>(4/6)</a:t>
            </a:r>
            <a:endParaRPr lang="es-CL" dirty="0"/>
          </a:p>
        </p:txBody>
      </p:sp>
      <p:sp>
        <p:nvSpPr>
          <p:cNvPr id="3" name="Rectángulo: esquinas redondeadas 2">
            <a:extLst>
              <a:ext uri="{FF2B5EF4-FFF2-40B4-BE49-F238E27FC236}">
                <a16:creationId xmlns:a16="http://schemas.microsoft.com/office/drawing/2014/main" id="{5F43BCA0-4CBE-1D95-97C8-1F0174FFA2B7}"/>
              </a:ext>
            </a:extLst>
          </p:cNvPr>
          <p:cNvSpPr/>
          <p:nvPr/>
        </p:nvSpPr>
        <p:spPr>
          <a:xfrm>
            <a:off x="1164632" y="3496959"/>
            <a:ext cx="9583200" cy="888204"/>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 sz="1200" dirty="0"/>
              <a:t>En la siguiente sección, se configuran los campos mencionados en la sección anterior, pero se agrega la diferenciación de las transacciones por medio de las categorías de los códigos de detalles de los cargos en la cuenta corriente que serían considerados para determinar las transacciones y el monto referencial que podría cubrir la asignación de beneficios.</a:t>
            </a:r>
            <a:endParaRPr lang="es-CL" sz="1200" dirty="0"/>
          </a:p>
        </p:txBody>
      </p:sp>
      <p:sp>
        <p:nvSpPr>
          <p:cNvPr id="4" name="Rectangle: Rounded Corners 14">
            <a:extLst>
              <a:ext uri="{FF2B5EF4-FFF2-40B4-BE49-F238E27FC236}">
                <a16:creationId xmlns:a16="http://schemas.microsoft.com/office/drawing/2014/main" id="{B54D8289-922F-51C6-940D-110969D3C3AF}"/>
              </a:ext>
            </a:extLst>
          </p:cNvPr>
          <p:cNvSpPr/>
          <p:nvPr/>
        </p:nvSpPr>
        <p:spPr>
          <a:xfrm>
            <a:off x="1164631" y="4846320"/>
            <a:ext cx="9583200" cy="475431"/>
          </a:xfrm>
          <a:prstGeom prst="roundRect">
            <a:avLst/>
          </a:prstGeom>
          <a:solidFill>
            <a:schemeClr val="accent2">
              <a:lumMod val="20000"/>
              <a:lumOff val="80000"/>
            </a:schemeClr>
          </a:solidFill>
          <a:ln>
            <a:solidFill>
              <a:schemeClr val="accent2"/>
            </a:solidFill>
          </a:ln>
        </p:spPr>
        <p:style>
          <a:lnRef idx="2">
            <a:schemeClr val="accent2"/>
          </a:lnRef>
          <a:fillRef idx="1">
            <a:schemeClr val="lt1"/>
          </a:fillRef>
          <a:effectRef idx="0">
            <a:schemeClr val="accent2"/>
          </a:effectRef>
          <a:fontRef idx="minor">
            <a:schemeClr val="dk1"/>
          </a:fontRef>
        </p:style>
        <p:txBody>
          <a:bodyPr rtlCol="0" anchor="ctr"/>
          <a:lstStyle/>
          <a:p>
            <a:pPr algn="just"/>
            <a:r>
              <a:rPr lang="es-ES_tradnl" sz="1200" dirty="0">
                <a:solidFill>
                  <a:schemeClr val="dk1"/>
                </a:solidFill>
              </a:rPr>
              <a:t>Si la funcionalidad de multimoneda se encuentra activa no es posible configurar exenciones a </a:t>
            </a:r>
            <a:r>
              <a:rPr lang="es-ES_tradnl" sz="1200" b="1" dirty="0">
                <a:solidFill>
                  <a:schemeClr val="dk1"/>
                </a:solidFill>
              </a:rPr>
              <a:t>NIVEL DE CÓDIGO DE CATEGORÍA</a:t>
            </a:r>
            <a:r>
              <a:rPr lang="es-ES_tradnl" sz="1200" dirty="0">
                <a:solidFill>
                  <a:schemeClr val="dk1"/>
                </a:solidFill>
              </a:rPr>
              <a:t>.</a:t>
            </a:r>
          </a:p>
        </p:txBody>
      </p:sp>
      <p:pic>
        <p:nvPicPr>
          <p:cNvPr id="6" name="Imagen 5">
            <a:extLst>
              <a:ext uri="{FF2B5EF4-FFF2-40B4-BE49-F238E27FC236}">
                <a16:creationId xmlns:a16="http://schemas.microsoft.com/office/drawing/2014/main" id="{EE4F0918-62E5-EFF3-F26D-E86F8986C4D4}"/>
              </a:ext>
            </a:extLst>
          </p:cNvPr>
          <p:cNvPicPr>
            <a:picLocks noChangeAspect="1"/>
          </p:cNvPicPr>
          <p:nvPr/>
        </p:nvPicPr>
        <p:blipFill>
          <a:blip r:embed="rId2"/>
          <a:stretch>
            <a:fillRect/>
          </a:stretch>
        </p:blipFill>
        <p:spPr>
          <a:xfrm>
            <a:off x="1164631" y="1686504"/>
            <a:ext cx="9583200" cy="1518075"/>
          </a:xfrm>
          <a:prstGeom prst="rect">
            <a:avLst/>
          </a:prstGeom>
        </p:spPr>
      </p:pic>
    </p:spTree>
    <p:extLst>
      <p:ext uri="{BB962C8B-B14F-4D97-AF65-F5344CB8AC3E}">
        <p14:creationId xmlns:p14="http://schemas.microsoft.com/office/powerpoint/2010/main" val="19044713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492829-9FAB-8B1F-108C-B1C2007CF279}"/>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8E438BDE-3583-40C0-C683-D6A7FA85A770}"/>
              </a:ext>
            </a:extLst>
          </p:cNvPr>
          <p:cNvSpPr txBox="1">
            <a:spLocks/>
          </p:cNvSpPr>
          <p:nvPr/>
        </p:nvSpPr>
        <p:spPr>
          <a:xfrm>
            <a:off x="1145680" y="733627"/>
            <a:ext cx="9619786" cy="1020543"/>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Configuraciones: </a:t>
            </a:r>
            <a:r>
              <a:rPr lang="es-ES_tradnl" sz="3200" dirty="0"/>
              <a:t>TSAEXPT Autorización de </a:t>
            </a:r>
          </a:p>
          <a:p>
            <a:r>
              <a:rPr lang="es-ES_tradnl" sz="3200" dirty="0"/>
              <a:t>Exenciones </a:t>
            </a:r>
            <a:r>
              <a:rPr lang="es-ES_tradnl" sz="3200" b="0" dirty="0"/>
              <a:t>(5/6)</a:t>
            </a:r>
            <a:br>
              <a:rPr lang="es-CL" dirty="0"/>
            </a:br>
            <a:endParaRPr lang="es-CL" dirty="0"/>
          </a:p>
        </p:txBody>
      </p:sp>
      <p:sp>
        <p:nvSpPr>
          <p:cNvPr id="3" name="Rectángulo: esquinas redondeadas 2">
            <a:extLst>
              <a:ext uri="{FF2B5EF4-FFF2-40B4-BE49-F238E27FC236}">
                <a16:creationId xmlns:a16="http://schemas.microsoft.com/office/drawing/2014/main" id="{0C0FAAD0-8F93-DCA4-21E7-636E13B0C48D}"/>
              </a:ext>
            </a:extLst>
          </p:cNvPr>
          <p:cNvSpPr/>
          <p:nvPr/>
        </p:nvSpPr>
        <p:spPr>
          <a:xfrm>
            <a:off x="1145680" y="4298390"/>
            <a:ext cx="9619786" cy="1020543"/>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 sz="1200" b="1" dirty="0"/>
              <a:t>8. </a:t>
            </a:r>
            <a:r>
              <a:rPr lang="es-ES" sz="1200" dirty="0"/>
              <a:t>En esta sección, la Exención es configurada a nivel de códigos de detalle que serían considerados dentro de la cuenta corriente para determinar las transacciones y el monto referencial de cargos que cubriría la asignación de beneficios. Esto permite diferenciar de forma muy detallada los conceptos considerados dentro de la cuenta corriente.</a:t>
            </a:r>
            <a:endParaRPr lang="es-CL" sz="1200" dirty="0"/>
          </a:p>
        </p:txBody>
      </p:sp>
      <p:pic>
        <p:nvPicPr>
          <p:cNvPr id="10" name="Imagen 9">
            <a:extLst>
              <a:ext uri="{FF2B5EF4-FFF2-40B4-BE49-F238E27FC236}">
                <a16:creationId xmlns:a16="http://schemas.microsoft.com/office/drawing/2014/main" id="{1970689C-F494-8B7F-FB61-65D848DB9163}"/>
              </a:ext>
            </a:extLst>
          </p:cNvPr>
          <p:cNvPicPr>
            <a:picLocks noChangeAspect="1"/>
          </p:cNvPicPr>
          <p:nvPr/>
        </p:nvPicPr>
        <p:blipFill>
          <a:blip r:embed="rId2"/>
          <a:stretch>
            <a:fillRect/>
          </a:stretch>
        </p:blipFill>
        <p:spPr>
          <a:xfrm>
            <a:off x="924155" y="2920410"/>
            <a:ext cx="162000" cy="162000"/>
          </a:xfrm>
          <a:prstGeom prst="rect">
            <a:avLst/>
          </a:prstGeom>
        </p:spPr>
      </p:pic>
      <p:pic>
        <p:nvPicPr>
          <p:cNvPr id="5" name="Imagen 4">
            <a:extLst>
              <a:ext uri="{FF2B5EF4-FFF2-40B4-BE49-F238E27FC236}">
                <a16:creationId xmlns:a16="http://schemas.microsoft.com/office/drawing/2014/main" id="{60A2813A-CB69-6B47-4B3B-32919BA00EC7}"/>
              </a:ext>
            </a:extLst>
          </p:cNvPr>
          <p:cNvPicPr>
            <a:picLocks noChangeAspect="1"/>
          </p:cNvPicPr>
          <p:nvPr/>
        </p:nvPicPr>
        <p:blipFill>
          <a:blip r:embed="rId3"/>
          <a:stretch>
            <a:fillRect/>
          </a:stretch>
        </p:blipFill>
        <p:spPr>
          <a:xfrm>
            <a:off x="1182266" y="2024733"/>
            <a:ext cx="9583200" cy="1859322"/>
          </a:xfrm>
          <a:prstGeom prst="rect">
            <a:avLst/>
          </a:prstGeom>
        </p:spPr>
      </p:pic>
    </p:spTree>
    <p:extLst>
      <p:ext uri="{BB962C8B-B14F-4D97-AF65-F5344CB8AC3E}">
        <p14:creationId xmlns:p14="http://schemas.microsoft.com/office/powerpoint/2010/main" val="33329536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63365E-CA7C-E5AC-155A-803EAC9F965B}"/>
            </a:ext>
          </a:extLst>
        </p:cNvPr>
        <p:cNvGrpSpPr/>
        <p:nvPr/>
      </p:nvGrpSpPr>
      <p:grpSpPr>
        <a:xfrm>
          <a:off x="0" y="0"/>
          <a:ext cx="0" cy="0"/>
          <a:chOff x="0" y="0"/>
          <a:chExt cx="0" cy="0"/>
        </a:xfrm>
      </p:grpSpPr>
      <p:pic>
        <p:nvPicPr>
          <p:cNvPr id="8" name="Imagen 7">
            <a:extLst>
              <a:ext uri="{FF2B5EF4-FFF2-40B4-BE49-F238E27FC236}">
                <a16:creationId xmlns:a16="http://schemas.microsoft.com/office/drawing/2014/main" id="{2A36B852-56EC-6B51-DBB9-3414AABFD0A6}"/>
              </a:ext>
            </a:extLst>
          </p:cNvPr>
          <p:cNvPicPr>
            <a:picLocks noChangeAspect="1"/>
          </p:cNvPicPr>
          <p:nvPr/>
        </p:nvPicPr>
        <p:blipFill>
          <a:blip r:embed="rId2"/>
          <a:stretch>
            <a:fillRect/>
          </a:stretch>
        </p:blipFill>
        <p:spPr>
          <a:xfrm>
            <a:off x="1300046" y="1177479"/>
            <a:ext cx="9583200" cy="1825704"/>
          </a:xfrm>
          <a:prstGeom prst="rect">
            <a:avLst/>
          </a:prstGeom>
        </p:spPr>
      </p:pic>
      <p:sp>
        <p:nvSpPr>
          <p:cNvPr id="2" name="Título 3">
            <a:extLst>
              <a:ext uri="{FF2B5EF4-FFF2-40B4-BE49-F238E27FC236}">
                <a16:creationId xmlns:a16="http://schemas.microsoft.com/office/drawing/2014/main" id="{AAB22767-2E8B-33CF-41EE-B96BE15C1A74}"/>
              </a:ext>
            </a:extLst>
          </p:cNvPr>
          <p:cNvSpPr txBox="1">
            <a:spLocks/>
          </p:cNvSpPr>
          <p:nvPr/>
        </p:nvSpPr>
        <p:spPr>
          <a:xfrm>
            <a:off x="754337" y="317940"/>
            <a:ext cx="10674618" cy="61691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algn="just"/>
            <a:r>
              <a:rPr lang="es-ES_tradnl" sz="3200" dirty="0">
                <a:solidFill>
                  <a:schemeClr val="accent1"/>
                </a:solidFill>
              </a:rPr>
              <a:t>Configuraciones: </a:t>
            </a:r>
            <a:r>
              <a:rPr lang="es-ES_tradnl" sz="3200" dirty="0"/>
              <a:t>TSAEXPT Autorización de Exenciones </a:t>
            </a:r>
            <a:r>
              <a:rPr lang="es-ES_tradnl" sz="3200" b="0" dirty="0"/>
              <a:t>(6/6)</a:t>
            </a:r>
            <a:endParaRPr lang="es-CL" dirty="0"/>
          </a:p>
        </p:txBody>
      </p:sp>
      <p:sp>
        <p:nvSpPr>
          <p:cNvPr id="3" name="Rectangle: Rounded Corners 14">
            <a:extLst>
              <a:ext uri="{FF2B5EF4-FFF2-40B4-BE49-F238E27FC236}">
                <a16:creationId xmlns:a16="http://schemas.microsoft.com/office/drawing/2014/main" id="{5233BB41-541D-A3EE-9B9B-32231BA723BC}"/>
              </a:ext>
            </a:extLst>
          </p:cNvPr>
          <p:cNvSpPr/>
          <p:nvPr/>
        </p:nvSpPr>
        <p:spPr>
          <a:xfrm>
            <a:off x="1300046" y="5570793"/>
            <a:ext cx="8026834" cy="469469"/>
          </a:xfrm>
          <a:prstGeom prst="roundRect">
            <a:avLst/>
          </a:prstGeom>
          <a:solidFill>
            <a:schemeClr val="accent2">
              <a:lumMod val="20000"/>
              <a:lumOff val="80000"/>
            </a:schemeClr>
          </a:solidFill>
          <a:ln>
            <a:solidFill>
              <a:schemeClr val="accent2"/>
            </a:solidFill>
          </a:ln>
        </p:spPr>
        <p:style>
          <a:lnRef idx="2">
            <a:schemeClr val="accent2"/>
          </a:lnRef>
          <a:fillRef idx="1">
            <a:schemeClr val="lt1"/>
          </a:fillRef>
          <a:effectRef idx="0">
            <a:schemeClr val="accent2"/>
          </a:effectRef>
          <a:fontRef idx="minor">
            <a:schemeClr val="dk1"/>
          </a:fontRef>
        </p:style>
        <p:txBody>
          <a:bodyPr rtlCol="0" anchor="ctr"/>
          <a:lstStyle/>
          <a:p>
            <a:pPr algn="just"/>
            <a:r>
              <a:rPr lang="es-ES_tradnl" sz="1200" dirty="0">
                <a:solidFill>
                  <a:schemeClr val="dk1"/>
                </a:solidFill>
              </a:rPr>
              <a:t>Esta sección SI debe ser utilizada para la configuración de exenciones, sobre todo considerando el uso de multidivisa.</a:t>
            </a:r>
          </a:p>
        </p:txBody>
      </p:sp>
      <p:sp>
        <p:nvSpPr>
          <p:cNvPr id="4" name="Rectángulo: esquinas redondeadas 1">
            <a:extLst>
              <a:ext uri="{FF2B5EF4-FFF2-40B4-BE49-F238E27FC236}">
                <a16:creationId xmlns:a16="http://schemas.microsoft.com/office/drawing/2014/main" id="{F8AA04BC-5A51-7C28-E3B4-8A2B752CC46E}"/>
              </a:ext>
            </a:extLst>
          </p:cNvPr>
          <p:cNvSpPr/>
          <p:nvPr/>
        </p:nvSpPr>
        <p:spPr>
          <a:xfrm>
            <a:off x="1300046" y="4310934"/>
            <a:ext cx="9583200" cy="740713"/>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L" sz="1200" b="1" dirty="0"/>
              <a:t>10. </a:t>
            </a:r>
            <a:r>
              <a:rPr lang="es-CL" sz="1200" dirty="0"/>
              <a:t>E</a:t>
            </a:r>
            <a:r>
              <a:rPr lang="es-ES" sz="1200" dirty="0"/>
              <a:t>l origen de las transacciones de la cuenta corriente, que en este caso deberá corresponder a letra A (“</a:t>
            </a:r>
            <a:r>
              <a:rPr lang="es-ES" sz="1200" dirty="0" err="1"/>
              <a:t>All</a:t>
            </a:r>
            <a:r>
              <a:rPr lang="es-ES" sz="1200" dirty="0"/>
              <a:t>”) considerando así todos los orígenes posibles de la cuenta corriente, y la prioridad con que dicha regla sería aplicada dentro del resto de las condiciones.</a:t>
            </a:r>
            <a:endParaRPr lang="es-CL" sz="1200" dirty="0"/>
          </a:p>
        </p:txBody>
      </p:sp>
      <p:sp>
        <p:nvSpPr>
          <p:cNvPr id="5" name="Rectángulo: esquinas redondeadas 1">
            <a:extLst>
              <a:ext uri="{FF2B5EF4-FFF2-40B4-BE49-F238E27FC236}">
                <a16:creationId xmlns:a16="http://schemas.microsoft.com/office/drawing/2014/main" id="{588FA8B9-4530-091D-6ABA-BF404733152B}"/>
              </a:ext>
            </a:extLst>
          </p:cNvPr>
          <p:cNvSpPr/>
          <p:nvPr/>
        </p:nvSpPr>
        <p:spPr>
          <a:xfrm>
            <a:off x="1300046" y="3332213"/>
            <a:ext cx="9583200" cy="740713"/>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 sz="1200" b="1" dirty="0"/>
              <a:t>9. </a:t>
            </a:r>
            <a:r>
              <a:rPr lang="es-ES" sz="1200" dirty="0"/>
              <a:t>En esta sección se podría configurar el porcentaje de cobertura que tendría el beneficio frente al código de detalle referido, el monto mínimo requerido para activar la asignación del beneficio, el monto máximo que el beneficio podría asignar.</a:t>
            </a:r>
            <a:endParaRPr lang="es-CL" sz="1200" dirty="0"/>
          </a:p>
        </p:txBody>
      </p:sp>
      <p:pic>
        <p:nvPicPr>
          <p:cNvPr id="13" name="Imagen 12">
            <a:extLst>
              <a:ext uri="{FF2B5EF4-FFF2-40B4-BE49-F238E27FC236}">
                <a16:creationId xmlns:a16="http://schemas.microsoft.com/office/drawing/2014/main" id="{111866A0-CB62-FAAF-6E9B-765128FC66C7}"/>
              </a:ext>
            </a:extLst>
          </p:cNvPr>
          <p:cNvPicPr>
            <a:picLocks noChangeAspect="1"/>
          </p:cNvPicPr>
          <p:nvPr/>
        </p:nvPicPr>
        <p:blipFill>
          <a:blip r:embed="rId3"/>
          <a:stretch>
            <a:fillRect/>
          </a:stretch>
        </p:blipFill>
        <p:spPr>
          <a:xfrm>
            <a:off x="9512848" y="2090331"/>
            <a:ext cx="162000" cy="162000"/>
          </a:xfrm>
          <a:prstGeom prst="rect">
            <a:avLst/>
          </a:prstGeom>
        </p:spPr>
      </p:pic>
      <p:pic>
        <p:nvPicPr>
          <p:cNvPr id="15" name="Imagen 14">
            <a:extLst>
              <a:ext uri="{FF2B5EF4-FFF2-40B4-BE49-F238E27FC236}">
                <a16:creationId xmlns:a16="http://schemas.microsoft.com/office/drawing/2014/main" id="{990BBFC0-C777-4784-0ECA-1F48F29ECC40}"/>
              </a:ext>
            </a:extLst>
          </p:cNvPr>
          <p:cNvPicPr>
            <a:picLocks noChangeAspect="1"/>
          </p:cNvPicPr>
          <p:nvPr/>
        </p:nvPicPr>
        <p:blipFill>
          <a:blip r:embed="rId4"/>
          <a:stretch>
            <a:fillRect/>
          </a:stretch>
        </p:blipFill>
        <p:spPr>
          <a:xfrm>
            <a:off x="5191316" y="2090331"/>
            <a:ext cx="162000" cy="162000"/>
          </a:xfrm>
          <a:prstGeom prst="rect">
            <a:avLst/>
          </a:prstGeom>
        </p:spPr>
      </p:pic>
    </p:spTree>
    <p:extLst>
      <p:ext uri="{BB962C8B-B14F-4D97-AF65-F5344CB8AC3E}">
        <p14:creationId xmlns:p14="http://schemas.microsoft.com/office/powerpoint/2010/main" val="14522725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B4FA7E-C337-EC6F-527B-307CB217EF54}"/>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C02AE86A-51FC-DC0A-D799-3B22CB3B74C0}"/>
              </a:ext>
            </a:extLst>
          </p:cNvPr>
          <p:cNvPicPr>
            <a:picLocks noChangeAspect="1"/>
          </p:cNvPicPr>
          <p:nvPr/>
        </p:nvPicPr>
        <p:blipFill>
          <a:blip r:embed="rId2"/>
          <a:stretch>
            <a:fillRect/>
          </a:stretch>
        </p:blipFill>
        <p:spPr>
          <a:xfrm>
            <a:off x="1198286" y="1572012"/>
            <a:ext cx="9583200" cy="2850952"/>
          </a:xfrm>
          <a:prstGeom prst="rect">
            <a:avLst/>
          </a:prstGeom>
        </p:spPr>
      </p:pic>
      <p:sp>
        <p:nvSpPr>
          <p:cNvPr id="2" name="Título 3">
            <a:extLst>
              <a:ext uri="{FF2B5EF4-FFF2-40B4-BE49-F238E27FC236}">
                <a16:creationId xmlns:a16="http://schemas.microsoft.com/office/drawing/2014/main" id="{E655FC7D-CB2E-2719-56BB-9E9D87E91216}"/>
              </a:ext>
            </a:extLst>
          </p:cNvPr>
          <p:cNvSpPr txBox="1">
            <a:spLocks/>
          </p:cNvSpPr>
          <p:nvPr/>
        </p:nvSpPr>
        <p:spPr>
          <a:xfrm>
            <a:off x="1198286" y="404132"/>
            <a:ext cx="9747082" cy="61691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Configuraciones: </a:t>
            </a:r>
            <a:r>
              <a:rPr lang="es-ES_tradnl" sz="3200" dirty="0"/>
              <a:t>TSAEXPT Autorización de Exenciones </a:t>
            </a:r>
            <a:r>
              <a:rPr lang="es-ES_tradnl" sz="3200" b="0" dirty="0"/>
              <a:t>(6/6)</a:t>
            </a:r>
            <a:br>
              <a:rPr lang="es-CL" dirty="0"/>
            </a:br>
            <a:endParaRPr lang="es-CL" dirty="0"/>
          </a:p>
        </p:txBody>
      </p:sp>
      <p:sp>
        <p:nvSpPr>
          <p:cNvPr id="3" name="Rectángulo: esquinas redondeadas 2">
            <a:extLst>
              <a:ext uri="{FF2B5EF4-FFF2-40B4-BE49-F238E27FC236}">
                <a16:creationId xmlns:a16="http://schemas.microsoft.com/office/drawing/2014/main" id="{88DAD9A0-2F99-98BA-156C-C35DCB53FE14}"/>
              </a:ext>
            </a:extLst>
          </p:cNvPr>
          <p:cNvSpPr/>
          <p:nvPr/>
        </p:nvSpPr>
        <p:spPr>
          <a:xfrm>
            <a:off x="1198286" y="4637642"/>
            <a:ext cx="9583200" cy="672573"/>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 sz="1200" b="1" dirty="0"/>
              <a:t>11. </a:t>
            </a:r>
            <a:r>
              <a:rPr lang="es-ES" sz="1200" dirty="0"/>
              <a:t>En la última sección se encuentra la lista de los estudiantes a quienes se le asignaría la exención configurada, para ello es obligatorio al menos ingresar el ID del estudiante, dado que los demás campos son opcionales, pero implican parámetros que podrían influir en el monto final aplicado al estudiante.</a:t>
            </a:r>
            <a:endParaRPr lang="es-CL" sz="1200" dirty="0"/>
          </a:p>
        </p:txBody>
      </p:sp>
      <p:sp>
        <p:nvSpPr>
          <p:cNvPr id="4" name="Rectángulo: esquinas redondeadas 5">
            <a:extLst>
              <a:ext uri="{FF2B5EF4-FFF2-40B4-BE49-F238E27FC236}">
                <a16:creationId xmlns:a16="http://schemas.microsoft.com/office/drawing/2014/main" id="{CCCCA9B4-3C83-15FD-C762-EF704069E90E}"/>
              </a:ext>
            </a:extLst>
          </p:cNvPr>
          <p:cNvSpPr/>
          <p:nvPr/>
        </p:nvSpPr>
        <p:spPr>
          <a:xfrm>
            <a:off x="1198286" y="5476439"/>
            <a:ext cx="9583200" cy="616915"/>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 sz="1200" b="1" dirty="0"/>
              <a:t>12. </a:t>
            </a:r>
            <a:r>
              <a:rPr lang="es-ES" sz="1200" dirty="0"/>
              <a:t>En particular, el check </a:t>
            </a:r>
            <a:r>
              <a:rPr lang="es-ES" sz="1200" b="1" dirty="0"/>
              <a:t>PASAR</a:t>
            </a:r>
            <a:r>
              <a:rPr lang="es-ES" sz="1200" dirty="0"/>
              <a:t> solo estará habilitado cuando la configuración general de la exención permita el paso de estudiantes de un periodo académico a otro.</a:t>
            </a:r>
            <a:endParaRPr lang="es-CL" sz="1200" dirty="0"/>
          </a:p>
        </p:txBody>
      </p:sp>
      <p:pic>
        <p:nvPicPr>
          <p:cNvPr id="6" name="Imagen 5">
            <a:extLst>
              <a:ext uri="{FF2B5EF4-FFF2-40B4-BE49-F238E27FC236}">
                <a16:creationId xmlns:a16="http://schemas.microsoft.com/office/drawing/2014/main" id="{602A7E1E-BDE2-C257-B3BF-979A983B3C75}"/>
              </a:ext>
            </a:extLst>
          </p:cNvPr>
          <p:cNvPicPr>
            <a:picLocks noChangeAspect="1"/>
          </p:cNvPicPr>
          <p:nvPr/>
        </p:nvPicPr>
        <p:blipFill>
          <a:blip r:embed="rId3"/>
          <a:stretch>
            <a:fillRect/>
          </a:stretch>
        </p:blipFill>
        <p:spPr>
          <a:xfrm>
            <a:off x="964430" y="2388297"/>
            <a:ext cx="162000" cy="162000"/>
          </a:xfrm>
          <a:prstGeom prst="rect">
            <a:avLst/>
          </a:prstGeom>
        </p:spPr>
      </p:pic>
      <p:pic>
        <p:nvPicPr>
          <p:cNvPr id="9" name="Imagen 8">
            <a:extLst>
              <a:ext uri="{FF2B5EF4-FFF2-40B4-BE49-F238E27FC236}">
                <a16:creationId xmlns:a16="http://schemas.microsoft.com/office/drawing/2014/main" id="{4DC94908-967A-9E8B-613A-81A623F4D9BE}"/>
              </a:ext>
            </a:extLst>
          </p:cNvPr>
          <p:cNvPicPr>
            <a:picLocks noChangeAspect="1"/>
          </p:cNvPicPr>
          <p:nvPr/>
        </p:nvPicPr>
        <p:blipFill>
          <a:blip r:embed="rId4"/>
          <a:stretch>
            <a:fillRect/>
          </a:stretch>
        </p:blipFill>
        <p:spPr>
          <a:xfrm>
            <a:off x="4154731" y="2388297"/>
            <a:ext cx="162000" cy="162000"/>
          </a:xfrm>
          <a:prstGeom prst="rect">
            <a:avLst/>
          </a:prstGeom>
        </p:spPr>
      </p:pic>
    </p:spTree>
    <p:extLst>
      <p:ext uri="{BB962C8B-B14F-4D97-AF65-F5344CB8AC3E}">
        <p14:creationId xmlns:p14="http://schemas.microsoft.com/office/powerpoint/2010/main" val="35382139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2E96D8-E630-5B8F-4A01-3866BEDFD341}"/>
            </a:ext>
          </a:extLst>
        </p:cNvPr>
        <p:cNvGrpSpPr/>
        <p:nvPr/>
      </p:nvGrpSpPr>
      <p:grpSpPr>
        <a:xfrm>
          <a:off x="0" y="0"/>
          <a:ext cx="0" cy="0"/>
          <a:chOff x="0" y="0"/>
          <a:chExt cx="0" cy="0"/>
        </a:xfrm>
      </p:grpSpPr>
      <p:pic>
        <p:nvPicPr>
          <p:cNvPr id="6" name="Imagen 5">
            <a:extLst>
              <a:ext uri="{FF2B5EF4-FFF2-40B4-BE49-F238E27FC236}">
                <a16:creationId xmlns:a16="http://schemas.microsoft.com/office/drawing/2014/main" id="{33F0A08E-1F5B-0441-37EA-A4B99BA61218}"/>
              </a:ext>
            </a:extLst>
          </p:cNvPr>
          <p:cNvPicPr>
            <a:picLocks noChangeAspect="1"/>
          </p:cNvPicPr>
          <p:nvPr/>
        </p:nvPicPr>
        <p:blipFill>
          <a:blip r:embed="rId2"/>
          <a:stretch>
            <a:fillRect/>
          </a:stretch>
        </p:blipFill>
        <p:spPr>
          <a:xfrm>
            <a:off x="1326660" y="1181845"/>
            <a:ext cx="9583200" cy="2862968"/>
          </a:xfrm>
          <a:prstGeom prst="rect">
            <a:avLst/>
          </a:prstGeom>
        </p:spPr>
      </p:pic>
      <p:sp>
        <p:nvSpPr>
          <p:cNvPr id="2" name="Título 3">
            <a:extLst>
              <a:ext uri="{FF2B5EF4-FFF2-40B4-BE49-F238E27FC236}">
                <a16:creationId xmlns:a16="http://schemas.microsoft.com/office/drawing/2014/main" id="{08C2BC11-7640-0FCC-E5CA-1E257CADF337}"/>
              </a:ext>
            </a:extLst>
          </p:cNvPr>
          <p:cNvSpPr txBox="1">
            <a:spLocks/>
          </p:cNvSpPr>
          <p:nvPr/>
        </p:nvSpPr>
        <p:spPr>
          <a:xfrm>
            <a:off x="1258092" y="147908"/>
            <a:ext cx="9720335" cy="939394"/>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Configuraciones: </a:t>
            </a:r>
            <a:r>
              <a:rPr lang="es-ES_tradnl" sz="3200" dirty="0"/>
              <a:t>TSAEXPT Autorización de </a:t>
            </a:r>
          </a:p>
          <a:p>
            <a:r>
              <a:rPr lang="es-ES_tradnl" sz="3200" dirty="0"/>
              <a:t>Exenciones </a:t>
            </a:r>
            <a:r>
              <a:rPr lang="es-ES_tradnl" sz="3200" b="0" dirty="0"/>
              <a:t>(6/6)</a:t>
            </a:r>
            <a:br>
              <a:rPr lang="es-CL" dirty="0"/>
            </a:br>
            <a:endParaRPr lang="es-CL" dirty="0"/>
          </a:p>
        </p:txBody>
      </p:sp>
      <p:sp>
        <p:nvSpPr>
          <p:cNvPr id="3" name="Rectángulo: esquinas redondeadas 2">
            <a:extLst>
              <a:ext uri="{FF2B5EF4-FFF2-40B4-BE49-F238E27FC236}">
                <a16:creationId xmlns:a16="http://schemas.microsoft.com/office/drawing/2014/main" id="{46FCCC6E-0900-0DE5-60B8-BFF5F5C29392}"/>
              </a:ext>
            </a:extLst>
          </p:cNvPr>
          <p:cNvSpPr/>
          <p:nvPr/>
        </p:nvSpPr>
        <p:spPr>
          <a:xfrm>
            <a:off x="1358097" y="4233899"/>
            <a:ext cx="9674028" cy="2095247"/>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 sz="1200" b="1" dirty="0"/>
              <a:t>13. Periodo de expiración:</a:t>
            </a:r>
            <a:r>
              <a:rPr lang="es-ES" sz="1200" dirty="0"/>
              <a:t> se refiere al último periodo académico en el cual el estudiante gozaría del beneficio en cuestión, bajo el supuesto que dicho beneficio es rolado periodo a periodo. </a:t>
            </a:r>
          </a:p>
          <a:p>
            <a:r>
              <a:rPr lang="es-ES" sz="1200" b="1" dirty="0"/>
              <a:t>14. Prioridad:</a:t>
            </a:r>
            <a:r>
              <a:rPr lang="es-ES" sz="1200" dirty="0"/>
              <a:t> se aplica en el caso que el estudiante goce de más de un beneficio asignado para el periodo, donde se generaría el orden en el cual dichos beneficios serían aplicados. </a:t>
            </a:r>
          </a:p>
          <a:p>
            <a:r>
              <a:rPr lang="es-ES" sz="1200" b="1" dirty="0"/>
              <a:t>15. Monto máximo:</a:t>
            </a:r>
            <a:r>
              <a:rPr lang="es-ES" sz="1200" dirty="0"/>
              <a:t> correspondería al monto máximo que este estudiante en particular podría recibir, independiente a la configuración porcentual o el monto máximo configurado para el beneficio. </a:t>
            </a:r>
          </a:p>
          <a:p>
            <a:r>
              <a:rPr lang="es-ES" sz="1200" b="1" dirty="0"/>
              <a:t>16. Plan de Estudios:</a:t>
            </a:r>
            <a:r>
              <a:rPr lang="es-ES" sz="1200" dirty="0"/>
              <a:t> es un campo opcional que hace referencia al plan de estudios del estudiante y del cual se estaría relacionando la asignación del beneficio. </a:t>
            </a:r>
          </a:p>
          <a:p>
            <a:r>
              <a:rPr lang="es-ES" sz="1200" b="1" dirty="0"/>
              <a:t>17. Nombre del plan de estudios:</a:t>
            </a:r>
            <a:r>
              <a:rPr lang="es-ES" sz="1200" dirty="0"/>
              <a:t> muestra la descripción del campo anterior, por lo cual no es editable en este apartado.</a:t>
            </a:r>
            <a:endParaRPr lang="es-CL" sz="1200" dirty="0"/>
          </a:p>
        </p:txBody>
      </p:sp>
      <p:cxnSp>
        <p:nvCxnSpPr>
          <p:cNvPr id="29" name="Conector recto de flecha 28">
            <a:extLst>
              <a:ext uri="{FF2B5EF4-FFF2-40B4-BE49-F238E27FC236}">
                <a16:creationId xmlns:a16="http://schemas.microsoft.com/office/drawing/2014/main" id="{81F15D40-F8D4-8263-9E2F-C84993791B73}"/>
              </a:ext>
            </a:extLst>
          </p:cNvPr>
          <p:cNvCxnSpPr>
            <a:cxnSpLocks/>
          </p:cNvCxnSpPr>
          <p:nvPr/>
        </p:nvCxnSpPr>
        <p:spPr>
          <a:xfrm>
            <a:off x="5347767" y="1915804"/>
            <a:ext cx="0" cy="18288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1" name="Conector recto de flecha 30">
            <a:extLst>
              <a:ext uri="{FF2B5EF4-FFF2-40B4-BE49-F238E27FC236}">
                <a16:creationId xmlns:a16="http://schemas.microsoft.com/office/drawing/2014/main" id="{8E52CEE2-120E-23E2-E203-093125122078}"/>
              </a:ext>
            </a:extLst>
          </p:cNvPr>
          <p:cNvCxnSpPr>
            <a:cxnSpLocks/>
          </p:cNvCxnSpPr>
          <p:nvPr/>
        </p:nvCxnSpPr>
        <p:spPr>
          <a:xfrm>
            <a:off x="6195111" y="1903612"/>
            <a:ext cx="0" cy="18288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2" name="Conector recto de flecha 31">
            <a:extLst>
              <a:ext uri="{FF2B5EF4-FFF2-40B4-BE49-F238E27FC236}">
                <a16:creationId xmlns:a16="http://schemas.microsoft.com/office/drawing/2014/main" id="{E466BF8A-6BE4-BF08-9F72-4FB76040A280}"/>
              </a:ext>
            </a:extLst>
          </p:cNvPr>
          <p:cNvCxnSpPr>
            <a:cxnSpLocks/>
          </p:cNvCxnSpPr>
          <p:nvPr/>
        </p:nvCxnSpPr>
        <p:spPr>
          <a:xfrm>
            <a:off x="6914439" y="1909708"/>
            <a:ext cx="0" cy="18288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3" name="Conector recto de flecha 32">
            <a:extLst>
              <a:ext uri="{FF2B5EF4-FFF2-40B4-BE49-F238E27FC236}">
                <a16:creationId xmlns:a16="http://schemas.microsoft.com/office/drawing/2014/main" id="{7FBED83F-961B-152B-3C3B-9D9FD934B9A0}"/>
              </a:ext>
            </a:extLst>
          </p:cNvPr>
          <p:cNvCxnSpPr>
            <a:cxnSpLocks/>
          </p:cNvCxnSpPr>
          <p:nvPr/>
        </p:nvCxnSpPr>
        <p:spPr>
          <a:xfrm>
            <a:off x="8182407" y="1906660"/>
            <a:ext cx="0" cy="18288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4" name="Conector recto de flecha 33">
            <a:extLst>
              <a:ext uri="{FF2B5EF4-FFF2-40B4-BE49-F238E27FC236}">
                <a16:creationId xmlns:a16="http://schemas.microsoft.com/office/drawing/2014/main" id="{9CDB43FF-1569-1AFD-BF1A-7D43794AED90}"/>
              </a:ext>
            </a:extLst>
          </p:cNvPr>
          <p:cNvCxnSpPr>
            <a:cxnSpLocks/>
          </p:cNvCxnSpPr>
          <p:nvPr/>
        </p:nvCxnSpPr>
        <p:spPr>
          <a:xfrm>
            <a:off x="9557511" y="1906660"/>
            <a:ext cx="0" cy="18288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5" name="Imagen 4">
            <a:extLst>
              <a:ext uri="{FF2B5EF4-FFF2-40B4-BE49-F238E27FC236}">
                <a16:creationId xmlns:a16="http://schemas.microsoft.com/office/drawing/2014/main" id="{2DE4D2C2-D7DC-F9AE-3873-2CD60DB84D84}"/>
              </a:ext>
            </a:extLst>
          </p:cNvPr>
          <p:cNvPicPr>
            <a:picLocks noChangeAspect="1"/>
          </p:cNvPicPr>
          <p:nvPr/>
        </p:nvPicPr>
        <p:blipFill>
          <a:blip r:embed="rId3"/>
          <a:stretch>
            <a:fillRect/>
          </a:stretch>
        </p:blipFill>
        <p:spPr>
          <a:xfrm>
            <a:off x="9476511" y="1726904"/>
            <a:ext cx="162000" cy="162000"/>
          </a:xfrm>
          <a:prstGeom prst="rect">
            <a:avLst/>
          </a:prstGeom>
        </p:spPr>
      </p:pic>
      <p:pic>
        <p:nvPicPr>
          <p:cNvPr id="8" name="Imagen 7">
            <a:extLst>
              <a:ext uri="{FF2B5EF4-FFF2-40B4-BE49-F238E27FC236}">
                <a16:creationId xmlns:a16="http://schemas.microsoft.com/office/drawing/2014/main" id="{B7AFBCCF-19AA-F8BE-1255-A150539EC7EC}"/>
              </a:ext>
            </a:extLst>
          </p:cNvPr>
          <p:cNvPicPr>
            <a:picLocks noChangeAspect="1"/>
          </p:cNvPicPr>
          <p:nvPr/>
        </p:nvPicPr>
        <p:blipFill>
          <a:blip r:embed="rId4"/>
          <a:stretch>
            <a:fillRect/>
          </a:stretch>
        </p:blipFill>
        <p:spPr>
          <a:xfrm>
            <a:off x="8101407" y="1726904"/>
            <a:ext cx="162000" cy="162000"/>
          </a:xfrm>
          <a:prstGeom prst="rect">
            <a:avLst/>
          </a:prstGeom>
        </p:spPr>
      </p:pic>
      <p:pic>
        <p:nvPicPr>
          <p:cNvPr id="10" name="Imagen 9">
            <a:extLst>
              <a:ext uri="{FF2B5EF4-FFF2-40B4-BE49-F238E27FC236}">
                <a16:creationId xmlns:a16="http://schemas.microsoft.com/office/drawing/2014/main" id="{87BB2F1E-63EE-E0D2-3C9B-316051E8D4F1}"/>
              </a:ext>
            </a:extLst>
          </p:cNvPr>
          <p:cNvPicPr>
            <a:picLocks noChangeAspect="1"/>
          </p:cNvPicPr>
          <p:nvPr/>
        </p:nvPicPr>
        <p:blipFill>
          <a:blip r:embed="rId5"/>
          <a:stretch>
            <a:fillRect/>
          </a:stretch>
        </p:blipFill>
        <p:spPr>
          <a:xfrm>
            <a:off x="6840326" y="1717760"/>
            <a:ext cx="162000" cy="162000"/>
          </a:xfrm>
          <a:prstGeom prst="rect">
            <a:avLst/>
          </a:prstGeom>
        </p:spPr>
      </p:pic>
      <p:pic>
        <p:nvPicPr>
          <p:cNvPr id="12" name="Imagen 11">
            <a:extLst>
              <a:ext uri="{FF2B5EF4-FFF2-40B4-BE49-F238E27FC236}">
                <a16:creationId xmlns:a16="http://schemas.microsoft.com/office/drawing/2014/main" id="{5A938FE4-90D4-9817-7468-B802CEC6CEB6}"/>
              </a:ext>
            </a:extLst>
          </p:cNvPr>
          <p:cNvPicPr>
            <a:picLocks noChangeAspect="1"/>
          </p:cNvPicPr>
          <p:nvPr/>
        </p:nvPicPr>
        <p:blipFill>
          <a:blip r:embed="rId6"/>
          <a:stretch>
            <a:fillRect/>
          </a:stretch>
        </p:blipFill>
        <p:spPr>
          <a:xfrm>
            <a:off x="6118260" y="1717760"/>
            <a:ext cx="162000" cy="162000"/>
          </a:xfrm>
          <a:prstGeom prst="rect">
            <a:avLst/>
          </a:prstGeom>
        </p:spPr>
      </p:pic>
      <p:pic>
        <p:nvPicPr>
          <p:cNvPr id="14" name="Imagen 13">
            <a:extLst>
              <a:ext uri="{FF2B5EF4-FFF2-40B4-BE49-F238E27FC236}">
                <a16:creationId xmlns:a16="http://schemas.microsoft.com/office/drawing/2014/main" id="{0E92779C-FF23-35A4-DC2B-C303B5B3B777}"/>
              </a:ext>
            </a:extLst>
          </p:cNvPr>
          <p:cNvPicPr>
            <a:picLocks noChangeAspect="1"/>
          </p:cNvPicPr>
          <p:nvPr/>
        </p:nvPicPr>
        <p:blipFill>
          <a:blip r:embed="rId7"/>
          <a:stretch>
            <a:fillRect/>
          </a:stretch>
        </p:blipFill>
        <p:spPr>
          <a:xfrm>
            <a:off x="5261626" y="1722143"/>
            <a:ext cx="162000" cy="162000"/>
          </a:xfrm>
          <a:prstGeom prst="rect">
            <a:avLst/>
          </a:prstGeom>
        </p:spPr>
      </p:pic>
    </p:spTree>
    <p:extLst>
      <p:ext uri="{BB962C8B-B14F-4D97-AF65-F5344CB8AC3E}">
        <p14:creationId xmlns:p14="http://schemas.microsoft.com/office/powerpoint/2010/main" val="407301298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B8A7BC-0AAA-64DA-B54E-84A51A8EC0AB}"/>
            </a:ext>
          </a:extLst>
        </p:cNvPr>
        <p:cNvGrpSpPr/>
        <p:nvPr/>
      </p:nvGrpSpPr>
      <p:grpSpPr>
        <a:xfrm>
          <a:off x="0" y="0"/>
          <a:ext cx="0" cy="0"/>
          <a:chOff x="0" y="0"/>
          <a:chExt cx="0" cy="0"/>
        </a:xfrm>
      </p:grpSpPr>
      <p:pic>
        <p:nvPicPr>
          <p:cNvPr id="6" name="Imagen 5">
            <a:extLst>
              <a:ext uri="{FF2B5EF4-FFF2-40B4-BE49-F238E27FC236}">
                <a16:creationId xmlns:a16="http://schemas.microsoft.com/office/drawing/2014/main" id="{D249D617-663C-8601-37E4-5DD96B65C139}"/>
              </a:ext>
            </a:extLst>
          </p:cNvPr>
          <p:cNvPicPr>
            <a:picLocks noChangeAspect="1"/>
          </p:cNvPicPr>
          <p:nvPr/>
        </p:nvPicPr>
        <p:blipFill>
          <a:blip r:embed="rId2"/>
          <a:stretch>
            <a:fillRect/>
          </a:stretch>
        </p:blipFill>
        <p:spPr>
          <a:xfrm>
            <a:off x="1285296" y="1497589"/>
            <a:ext cx="9583200" cy="2957607"/>
          </a:xfrm>
          <a:prstGeom prst="rect">
            <a:avLst/>
          </a:prstGeom>
        </p:spPr>
      </p:pic>
      <p:sp>
        <p:nvSpPr>
          <p:cNvPr id="2" name="Título 3">
            <a:extLst>
              <a:ext uri="{FF2B5EF4-FFF2-40B4-BE49-F238E27FC236}">
                <a16:creationId xmlns:a16="http://schemas.microsoft.com/office/drawing/2014/main" id="{46C9CF8D-81FF-DFA3-A58D-4F9C595FF90A}"/>
              </a:ext>
            </a:extLst>
          </p:cNvPr>
          <p:cNvSpPr txBox="1">
            <a:spLocks/>
          </p:cNvSpPr>
          <p:nvPr/>
        </p:nvSpPr>
        <p:spPr>
          <a:xfrm>
            <a:off x="1190112" y="415717"/>
            <a:ext cx="9811773" cy="930011"/>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Configuraciones: </a:t>
            </a:r>
            <a:r>
              <a:rPr lang="es-ES_tradnl" sz="3200" dirty="0"/>
              <a:t>TSAEXPT Autorización de </a:t>
            </a:r>
          </a:p>
          <a:p>
            <a:r>
              <a:rPr lang="es-ES_tradnl" sz="3200" dirty="0"/>
              <a:t>Exenciones </a:t>
            </a:r>
            <a:r>
              <a:rPr lang="es-ES_tradnl" sz="3200" b="0" dirty="0"/>
              <a:t>(6/6)</a:t>
            </a:r>
            <a:endParaRPr lang="es-CL" dirty="0"/>
          </a:p>
        </p:txBody>
      </p:sp>
      <p:sp>
        <p:nvSpPr>
          <p:cNvPr id="3" name="Rectángulo: esquinas redondeadas 2">
            <a:extLst>
              <a:ext uri="{FF2B5EF4-FFF2-40B4-BE49-F238E27FC236}">
                <a16:creationId xmlns:a16="http://schemas.microsoft.com/office/drawing/2014/main" id="{3B04AA09-7C79-B6C5-B7A3-A813221B678E}"/>
              </a:ext>
            </a:extLst>
          </p:cNvPr>
          <p:cNvSpPr/>
          <p:nvPr/>
        </p:nvSpPr>
        <p:spPr>
          <a:xfrm>
            <a:off x="1304399" y="4758917"/>
            <a:ext cx="9583200" cy="747971"/>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 sz="1200" b="1" dirty="0"/>
              <a:t>18</a:t>
            </a:r>
            <a:r>
              <a:rPr lang="es-ES" sz="1200" dirty="0"/>
              <a:t>. Cuando se desee revocar una exención, asignar la letra </a:t>
            </a:r>
            <a:r>
              <a:rPr lang="es-ES" sz="1200" b="1" dirty="0"/>
              <a:t>D</a:t>
            </a:r>
            <a:r>
              <a:rPr lang="es-ES" sz="1200" dirty="0"/>
              <a:t> en el campo </a:t>
            </a:r>
            <a:r>
              <a:rPr lang="es-ES" sz="1200" b="1" dirty="0"/>
              <a:t>Eliminar</a:t>
            </a:r>
            <a:r>
              <a:rPr lang="es-ES" sz="1200" dirty="0"/>
              <a:t>. Posteriormente se debe ejecutar el proceso </a:t>
            </a:r>
            <a:r>
              <a:rPr lang="es-ES" sz="1200" b="1" dirty="0"/>
              <a:t>TSASPAY</a:t>
            </a:r>
            <a:r>
              <a:rPr lang="es-ES" sz="1200" dirty="0"/>
              <a:t> para que las transacciones de la reversión se generen y visualicen en la cuenta corriente </a:t>
            </a:r>
            <a:r>
              <a:rPr lang="es-ES" sz="1200" b="1" dirty="0"/>
              <a:t>TSAAREV.</a:t>
            </a:r>
            <a:endParaRPr lang="es-CL" sz="1200" b="1" dirty="0"/>
          </a:p>
        </p:txBody>
      </p:sp>
      <p:pic>
        <p:nvPicPr>
          <p:cNvPr id="5" name="Imagen 4">
            <a:extLst>
              <a:ext uri="{FF2B5EF4-FFF2-40B4-BE49-F238E27FC236}">
                <a16:creationId xmlns:a16="http://schemas.microsoft.com/office/drawing/2014/main" id="{1338CFA0-50DD-7128-97F0-2F9689FC5351}"/>
              </a:ext>
            </a:extLst>
          </p:cNvPr>
          <p:cNvPicPr>
            <a:picLocks noChangeAspect="1"/>
          </p:cNvPicPr>
          <p:nvPr/>
        </p:nvPicPr>
        <p:blipFill>
          <a:blip r:embed="rId3"/>
          <a:stretch>
            <a:fillRect/>
          </a:stretch>
        </p:blipFill>
        <p:spPr>
          <a:xfrm>
            <a:off x="1095603" y="2444155"/>
            <a:ext cx="162000" cy="162000"/>
          </a:xfrm>
          <a:prstGeom prst="rect">
            <a:avLst/>
          </a:prstGeom>
        </p:spPr>
      </p:pic>
    </p:spTree>
    <p:extLst>
      <p:ext uri="{BB962C8B-B14F-4D97-AF65-F5344CB8AC3E}">
        <p14:creationId xmlns:p14="http://schemas.microsoft.com/office/powerpoint/2010/main" val="25726196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DA0CA3-6862-1095-7D6F-BBE8B3C3D78C}"/>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C12342FE-6817-A914-4FFD-E1F712727307}"/>
              </a:ext>
            </a:extLst>
          </p:cNvPr>
          <p:cNvSpPr txBox="1">
            <a:spLocks/>
          </p:cNvSpPr>
          <p:nvPr/>
        </p:nvSpPr>
        <p:spPr>
          <a:xfrm>
            <a:off x="1171464" y="219555"/>
            <a:ext cx="9683759" cy="94113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Configuraciones: </a:t>
            </a:r>
            <a:r>
              <a:rPr lang="es-ES_tradnl" sz="3200" dirty="0"/>
              <a:t>TSAEXPT Autorización de </a:t>
            </a:r>
          </a:p>
          <a:p>
            <a:r>
              <a:rPr lang="es-ES_tradnl" sz="3200" dirty="0"/>
              <a:t>Exenciones </a:t>
            </a:r>
            <a:r>
              <a:rPr lang="es-ES_tradnl" sz="3200" b="0" dirty="0"/>
              <a:t>(6/6)</a:t>
            </a:r>
            <a:endParaRPr lang="es-CL" dirty="0"/>
          </a:p>
        </p:txBody>
      </p:sp>
      <p:sp>
        <p:nvSpPr>
          <p:cNvPr id="3" name="Rectángulo: esquinas redondeadas 2">
            <a:extLst>
              <a:ext uri="{FF2B5EF4-FFF2-40B4-BE49-F238E27FC236}">
                <a16:creationId xmlns:a16="http://schemas.microsoft.com/office/drawing/2014/main" id="{35CD00F9-0A70-58B8-3B17-F428580FB83F}"/>
              </a:ext>
            </a:extLst>
          </p:cNvPr>
          <p:cNvSpPr/>
          <p:nvPr/>
        </p:nvSpPr>
        <p:spPr>
          <a:xfrm>
            <a:off x="1255755" y="4399560"/>
            <a:ext cx="9598329" cy="742298"/>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 sz="1200" b="1" dirty="0"/>
              <a:t>19.</a:t>
            </a:r>
            <a:r>
              <a:rPr lang="es-ES" sz="1200" dirty="0"/>
              <a:t> Es importante notar que al registrar a un estudiante en esta sección estamos asignando el beneficio al estudiante, pero este aún no estaría siendo aplicado sobre la cuenta corriente del estudiante, para ello se debe ejecutar el proceso </a:t>
            </a:r>
            <a:r>
              <a:rPr lang="es-ES" sz="1200" b="1" dirty="0"/>
              <a:t>TSASPAY</a:t>
            </a:r>
            <a:r>
              <a:rPr lang="es-ES" sz="1200" dirty="0"/>
              <a:t> o </a:t>
            </a:r>
            <a:r>
              <a:rPr lang="es-ES" sz="1200" b="1" dirty="0"/>
              <a:t>TSRSBIL.</a:t>
            </a:r>
            <a:endParaRPr lang="es-CL" sz="1200" b="1" dirty="0"/>
          </a:p>
        </p:txBody>
      </p:sp>
      <p:sp>
        <p:nvSpPr>
          <p:cNvPr id="4" name="Rectángulo: esquinas redondeadas 9">
            <a:extLst>
              <a:ext uri="{FF2B5EF4-FFF2-40B4-BE49-F238E27FC236}">
                <a16:creationId xmlns:a16="http://schemas.microsoft.com/office/drawing/2014/main" id="{8AFE6B02-1252-B9F5-0E3B-98114A648ACE}"/>
              </a:ext>
            </a:extLst>
          </p:cNvPr>
          <p:cNvSpPr/>
          <p:nvPr/>
        </p:nvSpPr>
        <p:spPr>
          <a:xfrm>
            <a:off x="1252464" y="5415388"/>
            <a:ext cx="5443506" cy="423019"/>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L" sz="1200" b="1" dirty="0"/>
              <a:t>20.</a:t>
            </a:r>
            <a:r>
              <a:rPr lang="es-CL" sz="1200" dirty="0"/>
              <a:t> Para finalizar, se hace </a:t>
            </a:r>
            <a:r>
              <a:rPr lang="es-CL" sz="1200" dirty="0" err="1"/>
              <a:t>click</a:t>
            </a:r>
            <a:r>
              <a:rPr lang="es-CL" sz="1200" dirty="0"/>
              <a:t> en el botón </a:t>
            </a:r>
            <a:r>
              <a:rPr lang="es-CL" sz="1200" b="1" dirty="0"/>
              <a:t>Guardar</a:t>
            </a:r>
            <a:r>
              <a:rPr lang="es-CL" sz="1200" dirty="0"/>
              <a:t> o se digita la tecla </a:t>
            </a:r>
            <a:r>
              <a:rPr lang="es-CL" sz="1200" b="1" dirty="0"/>
              <a:t>F10</a:t>
            </a:r>
            <a:r>
              <a:rPr lang="es-CL" sz="1200" dirty="0"/>
              <a:t>.</a:t>
            </a:r>
          </a:p>
        </p:txBody>
      </p:sp>
      <p:pic>
        <p:nvPicPr>
          <p:cNvPr id="6" name="Imagen 5">
            <a:extLst>
              <a:ext uri="{FF2B5EF4-FFF2-40B4-BE49-F238E27FC236}">
                <a16:creationId xmlns:a16="http://schemas.microsoft.com/office/drawing/2014/main" id="{9B8429F0-348F-C976-A484-049AA9DE41CB}"/>
              </a:ext>
            </a:extLst>
          </p:cNvPr>
          <p:cNvPicPr>
            <a:picLocks noChangeAspect="1"/>
          </p:cNvPicPr>
          <p:nvPr/>
        </p:nvPicPr>
        <p:blipFill>
          <a:blip r:embed="rId2"/>
          <a:stretch>
            <a:fillRect/>
          </a:stretch>
        </p:blipFill>
        <p:spPr>
          <a:xfrm>
            <a:off x="1270884" y="1263069"/>
            <a:ext cx="9583200" cy="2539223"/>
          </a:xfrm>
          <a:prstGeom prst="rect">
            <a:avLst/>
          </a:prstGeom>
        </p:spPr>
      </p:pic>
      <p:pic>
        <p:nvPicPr>
          <p:cNvPr id="11" name="Imagen 10">
            <a:extLst>
              <a:ext uri="{FF2B5EF4-FFF2-40B4-BE49-F238E27FC236}">
                <a16:creationId xmlns:a16="http://schemas.microsoft.com/office/drawing/2014/main" id="{CD9454E5-FD7C-D41F-C261-58AA63245436}"/>
              </a:ext>
            </a:extLst>
          </p:cNvPr>
          <p:cNvPicPr>
            <a:picLocks noChangeAspect="1"/>
          </p:cNvPicPr>
          <p:nvPr/>
        </p:nvPicPr>
        <p:blipFill>
          <a:blip r:embed="rId3"/>
          <a:stretch>
            <a:fillRect/>
          </a:stretch>
        </p:blipFill>
        <p:spPr>
          <a:xfrm>
            <a:off x="1270884" y="3791790"/>
            <a:ext cx="9583200" cy="334240"/>
          </a:xfrm>
          <a:prstGeom prst="rect">
            <a:avLst/>
          </a:prstGeom>
        </p:spPr>
      </p:pic>
      <p:pic>
        <p:nvPicPr>
          <p:cNvPr id="7" name="Imagen 6">
            <a:extLst>
              <a:ext uri="{FF2B5EF4-FFF2-40B4-BE49-F238E27FC236}">
                <a16:creationId xmlns:a16="http://schemas.microsoft.com/office/drawing/2014/main" id="{291D32EA-5D15-7B2E-1F5E-26C325C94B8E}"/>
              </a:ext>
            </a:extLst>
          </p:cNvPr>
          <p:cNvPicPr>
            <a:picLocks noChangeAspect="1"/>
          </p:cNvPicPr>
          <p:nvPr/>
        </p:nvPicPr>
        <p:blipFill>
          <a:blip r:embed="rId4"/>
          <a:stretch>
            <a:fillRect/>
          </a:stretch>
        </p:blipFill>
        <p:spPr>
          <a:xfrm>
            <a:off x="1090464" y="3541011"/>
            <a:ext cx="162000" cy="162000"/>
          </a:xfrm>
          <a:prstGeom prst="rect">
            <a:avLst/>
          </a:prstGeom>
        </p:spPr>
      </p:pic>
      <p:pic>
        <p:nvPicPr>
          <p:cNvPr id="9" name="Imagen 8">
            <a:extLst>
              <a:ext uri="{FF2B5EF4-FFF2-40B4-BE49-F238E27FC236}">
                <a16:creationId xmlns:a16="http://schemas.microsoft.com/office/drawing/2014/main" id="{5B3A1520-EAFD-335B-67A0-CAA9069498AD}"/>
              </a:ext>
            </a:extLst>
          </p:cNvPr>
          <p:cNvPicPr>
            <a:picLocks noChangeAspect="1"/>
          </p:cNvPicPr>
          <p:nvPr/>
        </p:nvPicPr>
        <p:blipFill>
          <a:blip r:embed="rId5"/>
          <a:stretch>
            <a:fillRect/>
          </a:stretch>
        </p:blipFill>
        <p:spPr>
          <a:xfrm>
            <a:off x="10949708" y="3851647"/>
            <a:ext cx="162000" cy="162000"/>
          </a:xfrm>
          <a:prstGeom prst="rect">
            <a:avLst/>
          </a:prstGeom>
        </p:spPr>
      </p:pic>
    </p:spTree>
    <p:extLst>
      <p:ext uri="{BB962C8B-B14F-4D97-AF65-F5344CB8AC3E}">
        <p14:creationId xmlns:p14="http://schemas.microsoft.com/office/powerpoint/2010/main" val="42573714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79ECF5-4038-4A18-3E28-B60E3934454C}"/>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518B61DA-5EA1-4F72-A54F-C39D4900AFA0}"/>
              </a:ext>
            </a:extLst>
          </p:cNvPr>
          <p:cNvSpPr txBox="1">
            <a:spLocks/>
          </p:cNvSpPr>
          <p:nvPr/>
        </p:nvSpPr>
        <p:spPr>
          <a:xfrm>
            <a:off x="1120599" y="582500"/>
            <a:ext cx="10674618" cy="1015848"/>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Configuraciones: </a:t>
            </a:r>
            <a:r>
              <a:rPr lang="es-ES_tradnl" sz="3200" dirty="0"/>
              <a:t>TSAEXPP Autorización de Exención de persona</a:t>
            </a:r>
            <a:br>
              <a:rPr lang="es-CL" dirty="0"/>
            </a:br>
            <a:endParaRPr lang="es-CL" dirty="0"/>
          </a:p>
        </p:txBody>
      </p:sp>
      <p:sp>
        <p:nvSpPr>
          <p:cNvPr id="3" name="Rectángulo: esquinas redondeadas 2">
            <a:extLst>
              <a:ext uri="{FF2B5EF4-FFF2-40B4-BE49-F238E27FC236}">
                <a16:creationId xmlns:a16="http://schemas.microsoft.com/office/drawing/2014/main" id="{00C25C4C-77D0-BC45-147A-C8ABF39DC815}"/>
              </a:ext>
            </a:extLst>
          </p:cNvPr>
          <p:cNvSpPr/>
          <p:nvPr/>
        </p:nvSpPr>
        <p:spPr>
          <a:xfrm>
            <a:off x="1229849" y="4645850"/>
            <a:ext cx="9580746" cy="1015848"/>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 sz="1200" dirty="0"/>
              <a:t>La página </a:t>
            </a:r>
            <a:r>
              <a:rPr lang="es-ES" sz="1300" b="1" dirty="0"/>
              <a:t>TSAEXPP</a:t>
            </a:r>
            <a:r>
              <a:rPr lang="es-ES" sz="1200" dirty="0"/>
              <a:t> realiza las mismas funcionalidades de la página administrativa anterior (TSAEXPT), siendo destinada solo para la asignación y des asignación de las exenciones, y no para la configuración de estas. Esto en el plano de poder asignar de forma diferenciada las responsabilidades de configuración y/o asignación dentro de las exenciones.</a:t>
            </a:r>
            <a:endParaRPr lang="es-CL" sz="1200" dirty="0"/>
          </a:p>
        </p:txBody>
      </p:sp>
      <p:pic>
        <p:nvPicPr>
          <p:cNvPr id="6" name="Imagen 5">
            <a:extLst>
              <a:ext uri="{FF2B5EF4-FFF2-40B4-BE49-F238E27FC236}">
                <a16:creationId xmlns:a16="http://schemas.microsoft.com/office/drawing/2014/main" id="{BA113DF7-984E-9D80-5897-F321AE81FC53}"/>
              </a:ext>
            </a:extLst>
          </p:cNvPr>
          <p:cNvPicPr>
            <a:picLocks noChangeAspect="1"/>
          </p:cNvPicPr>
          <p:nvPr/>
        </p:nvPicPr>
        <p:blipFill>
          <a:blip r:embed="rId2"/>
          <a:stretch>
            <a:fillRect/>
          </a:stretch>
        </p:blipFill>
        <p:spPr>
          <a:xfrm>
            <a:off x="1227395" y="1704226"/>
            <a:ext cx="9583200" cy="2574144"/>
          </a:xfrm>
          <a:prstGeom prst="rect">
            <a:avLst/>
          </a:prstGeom>
        </p:spPr>
      </p:pic>
    </p:spTree>
    <p:extLst>
      <p:ext uri="{BB962C8B-B14F-4D97-AF65-F5344CB8AC3E}">
        <p14:creationId xmlns:p14="http://schemas.microsoft.com/office/powerpoint/2010/main" val="421752560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FE67F2-5EC9-EEB1-67EA-E7782583435B}"/>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369339C8-1BDB-9951-0425-53A850E3453D}"/>
              </a:ext>
            </a:extLst>
          </p:cNvPr>
          <p:cNvSpPr txBox="1">
            <a:spLocks/>
          </p:cNvSpPr>
          <p:nvPr/>
        </p:nvSpPr>
        <p:spPr>
          <a:xfrm>
            <a:off x="1193863" y="361505"/>
            <a:ext cx="10426063" cy="937471"/>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Configuraciones: </a:t>
            </a:r>
            <a:r>
              <a:rPr lang="es-ES_tradnl" sz="3200" dirty="0"/>
              <a:t>TSIAUTH Consultar historial de Contrato/Exención</a:t>
            </a:r>
            <a:br>
              <a:rPr lang="es-CL" dirty="0"/>
            </a:br>
            <a:endParaRPr lang="es-CL" dirty="0"/>
          </a:p>
        </p:txBody>
      </p:sp>
      <p:sp>
        <p:nvSpPr>
          <p:cNvPr id="3" name="Rectángulo: esquinas redondeadas 2">
            <a:extLst>
              <a:ext uri="{FF2B5EF4-FFF2-40B4-BE49-F238E27FC236}">
                <a16:creationId xmlns:a16="http://schemas.microsoft.com/office/drawing/2014/main" id="{2D1AD242-4DEC-3866-6E03-1D3E3245A5A8}"/>
              </a:ext>
            </a:extLst>
          </p:cNvPr>
          <p:cNvSpPr/>
          <p:nvPr/>
        </p:nvSpPr>
        <p:spPr>
          <a:xfrm>
            <a:off x="1304398" y="4918138"/>
            <a:ext cx="9569459" cy="577227"/>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 sz="1200" dirty="0"/>
              <a:t>En la aplicación </a:t>
            </a:r>
            <a:r>
              <a:rPr lang="es-ES" sz="1200" b="1" dirty="0"/>
              <a:t>TSIAUTH</a:t>
            </a:r>
            <a:r>
              <a:rPr lang="es-ES" sz="1200" dirty="0"/>
              <a:t> se visualizarían todas las asignaciones o des asignaciones de Exenciones y/o Contratos que posee un determinado estudiante.</a:t>
            </a:r>
            <a:endParaRPr lang="es-CL" sz="1200" dirty="0"/>
          </a:p>
        </p:txBody>
      </p:sp>
      <p:pic>
        <p:nvPicPr>
          <p:cNvPr id="6" name="Imagen 5">
            <a:extLst>
              <a:ext uri="{FF2B5EF4-FFF2-40B4-BE49-F238E27FC236}">
                <a16:creationId xmlns:a16="http://schemas.microsoft.com/office/drawing/2014/main" id="{C7DEBDB2-48E6-13F4-A1C5-F1071B11B894}"/>
              </a:ext>
            </a:extLst>
          </p:cNvPr>
          <p:cNvPicPr>
            <a:picLocks noChangeAspect="1"/>
          </p:cNvPicPr>
          <p:nvPr/>
        </p:nvPicPr>
        <p:blipFill>
          <a:blip r:embed="rId2"/>
          <a:stretch>
            <a:fillRect/>
          </a:stretch>
        </p:blipFill>
        <p:spPr>
          <a:xfrm>
            <a:off x="1304400" y="1819725"/>
            <a:ext cx="9583200" cy="2112989"/>
          </a:xfrm>
          <a:prstGeom prst="rect">
            <a:avLst/>
          </a:prstGeom>
        </p:spPr>
      </p:pic>
    </p:spTree>
    <p:extLst>
      <p:ext uri="{BB962C8B-B14F-4D97-AF65-F5344CB8AC3E}">
        <p14:creationId xmlns:p14="http://schemas.microsoft.com/office/powerpoint/2010/main" val="362895271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486CAC-3930-1CB4-FAAD-16BDA12A9DB1}"/>
            </a:ext>
          </a:extLst>
        </p:cNvPr>
        <p:cNvGrpSpPr/>
        <p:nvPr/>
      </p:nvGrpSpPr>
      <p:grpSpPr>
        <a:xfrm>
          <a:off x="0" y="0"/>
          <a:ext cx="0" cy="0"/>
          <a:chOff x="0" y="0"/>
          <a:chExt cx="0" cy="0"/>
        </a:xfrm>
      </p:grpSpPr>
      <p:sp>
        <p:nvSpPr>
          <p:cNvPr id="5" name="CuadroTexto 4">
            <a:extLst>
              <a:ext uri="{FF2B5EF4-FFF2-40B4-BE49-F238E27FC236}">
                <a16:creationId xmlns:a16="http://schemas.microsoft.com/office/drawing/2014/main" id="{3C6B78CC-6729-07CF-9DFD-03FC6BEBCE47}"/>
              </a:ext>
            </a:extLst>
          </p:cNvPr>
          <p:cNvSpPr txBox="1"/>
          <p:nvPr/>
        </p:nvSpPr>
        <p:spPr>
          <a:xfrm>
            <a:off x="711313" y="1672888"/>
            <a:ext cx="10261487" cy="1938992"/>
          </a:xfrm>
          <a:prstGeom prst="rect">
            <a:avLst/>
          </a:prstGeom>
          <a:noFill/>
        </p:spPr>
        <p:txBody>
          <a:bodyPr wrap="square">
            <a:spAutoFit/>
          </a:bodyPr>
          <a:lstStyle/>
          <a:p>
            <a:r>
              <a:rPr lang="es-ES" sz="6000" b="1" dirty="0">
                <a:solidFill>
                  <a:schemeClr val="bg1"/>
                </a:solidFill>
              </a:rPr>
              <a:t>Aplicación Individual de Exenciones</a:t>
            </a:r>
            <a:endParaRPr lang="en-US" sz="6000" b="1" dirty="0">
              <a:solidFill>
                <a:schemeClr val="bg1"/>
              </a:solidFill>
            </a:endParaRPr>
          </a:p>
        </p:txBody>
      </p:sp>
      <p:sp>
        <p:nvSpPr>
          <p:cNvPr id="2" name="Text Placeholder 16">
            <a:extLst>
              <a:ext uri="{FF2B5EF4-FFF2-40B4-BE49-F238E27FC236}">
                <a16:creationId xmlns:a16="http://schemas.microsoft.com/office/drawing/2014/main" id="{A6900DD1-5525-6113-C497-D0C97E351501}"/>
              </a:ext>
            </a:extLst>
          </p:cNvPr>
          <p:cNvSpPr txBox="1">
            <a:spLocks/>
          </p:cNvSpPr>
          <p:nvPr/>
        </p:nvSpPr>
        <p:spPr>
          <a:xfrm>
            <a:off x="711313" y="3857275"/>
            <a:ext cx="7092820" cy="774441"/>
          </a:xfrm>
          <a:prstGeom prst="rect">
            <a:avLst/>
          </a:prstGeom>
        </p:spPr>
        <p:txBody>
          <a:bodyPr/>
          <a:lst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CO" sz="2000" b="1" dirty="0">
                <a:solidFill>
                  <a:schemeClr val="bg1"/>
                </a:solidFill>
              </a:rPr>
              <a:t>Gestionar los beneficios</a:t>
            </a:r>
          </a:p>
        </p:txBody>
      </p:sp>
    </p:spTree>
    <p:extLst>
      <p:ext uri="{BB962C8B-B14F-4D97-AF65-F5344CB8AC3E}">
        <p14:creationId xmlns:p14="http://schemas.microsoft.com/office/powerpoint/2010/main" val="372262507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81619E-D882-D751-9847-AB38EFC62BF9}"/>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747F4402-2207-C417-13CE-24CE730D432F}"/>
              </a:ext>
            </a:extLst>
          </p:cNvPr>
          <p:cNvSpPr txBox="1">
            <a:spLocks/>
          </p:cNvSpPr>
          <p:nvPr/>
        </p:nvSpPr>
        <p:spPr>
          <a:xfrm>
            <a:off x="1234179" y="317167"/>
            <a:ext cx="10674618" cy="977530"/>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Escenario Previo: </a:t>
            </a:r>
            <a:r>
              <a:rPr lang="es-ES_tradnl" sz="3200" dirty="0"/>
              <a:t>TSAAREV Revisión de detalle de </a:t>
            </a:r>
          </a:p>
          <a:p>
            <a:r>
              <a:rPr lang="es-ES_tradnl" sz="3200" dirty="0"/>
              <a:t>cuenta - alumnos</a:t>
            </a:r>
            <a:br>
              <a:rPr lang="es-CL" dirty="0"/>
            </a:br>
            <a:endParaRPr lang="es-CL" dirty="0"/>
          </a:p>
        </p:txBody>
      </p:sp>
      <p:sp>
        <p:nvSpPr>
          <p:cNvPr id="3" name="Rectángulo: esquinas redondeadas 2">
            <a:extLst>
              <a:ext uri="{FF2B5EF4-FFF2-40B4-BE49-F238E27FC236}">
                <a16:creationId xmlns:a16="http://schemas.microsoft.com/office/drawing/2014/main" id="{ABA1C1B3-B1F6-6E65-88C9-583382F76E7B}"/>
              </a:ext>
            </a:extLst>
          </p:cNvPr>
          <p:cNvSpPr/>
          <p:nvPr/>
        </p:nvSpPr>
        <p:spPr>
          <a:xfrm>
            <a:off x="1304400" y="4969054"/>
            <a:ext cx="9583200" cy="876537"/>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 sz="1200" b="1" dirty="0"/>
              <a:t>Aplicación individual de la Exención al estudiante:</a:t>
            </a:r>
          </a:p>
          <a:p>
            <a:endParaRPr lang="es-ES" sz="1200" b="1" dirty="0"/>
          </a:p>
          <a:p>
            <a:r>
              <a:rPr lang="es-ES" sz="1200" b="1" dirty="0"/>
              <a:t>TSAAREV</a:t>
            </a:r>
            <a:r>
              <a:rPr lang="es-ES" sz="1200" dirty="0"/>
              <a:t> muestra los cargos por concepto de Arancel, Matrícula o Colegiatura generados, previo a la asignación o aplicación de beneficios.</a:t>
            </a:r>
            <a:endParaRPr lang="es-CL" sz="1200" dirty="0"/>
          </a:p>
        </p:txBody>
      </p:sp>
      <p:pic>
        <p:nvPicPr>
          <p:cNvPr id="7" name="Imagen 6">
            <a:extLst>
              <a:ext uri="{FF2B5EF4-FFF2-40B4-BE49-F238E27FC236}">
                <a16:creationId xmlns:a16="http://schemas.microsoft.com/office/drawing/2014/main" id="{7D6E0E2D-0186-5FCC-4672-8C584A22AFBC}"/>
              </a:ext>
            </a:extLst>
          </p:cNvPr>
          <p:cNvPicPr>
            <a:picLocks noChangeAspect="1"/>
          </p:cNvPicPr>
          <p:nvPr/>
        </p:nvPicPr>
        <p:blipFill>
          <a:blip r:embed="rId2"/>
          <a:stretch>
            <a:fillRect/>
          </a:stretch>
        </p:blipFill>
        <p:spPr>
          <a:xfrm>
            <a:off x="1304400" y="1441533"/>
            <a:ext cx="9583200" cy="3239392"/>
          </a:xfrm>
          <a:prstGeom prst="rect">
            <a:avLst/>
          </a:prstGeom>
        </p:spPr>
      </p:pic>
    </p:spTree>
    <p:extLst>
      <p:ext uri="{BB962C8B-B14F-4D97-AF65-F5344CB8AC3E}">
        <p14:creationId xmlns:p14="http://schemas.microsoft.com/office/powerpoint/2010/main" val="188728804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06AE2-3C34-2935-6E1E-C52198A61A55}"/>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B06FCEAE-946D-9CC1-73B9-1CEFF8E04F2F}"/>
              </a:ext>
            </a:extLst>
          </p:cNvPr>
          <p:cNvSpPr txBox="1">
            <a:spLocks/>
          </p:cNvSpPr>
          <p:nvPr/>
        </p:nvSpPr>
        <p:spPr>
          <a:xfrm>
            <a:off x="1152100" y="437027"/>
            <a:ext cx="9887800" cy="979350"/>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Escenario Previo: </a:t>
            </a:r>
            <a:r>
              <a:rPr lang="es-ES_tradnl" sz="3200" dirty="0"/>
              <a:t>TSAEXPP</a:t>
            </a:r>
            <a:r>
              <a:rPr lang="es-ES_tradnl" sz="3200" b="0" dirty="0"/>
              <a:t> </a:t>
            </a:r>
            <a:r>
              <a:rPr lang="es-ES_tradnl" sz="3200" dirty="0"/>
              <a:t>Autorización de exención de Persona</a:t>
            </a:r>
            <a:endParaRPr lang="es-CL" dirty="0"/>
          </a:p>
        </p:txBody>
      </p:sp>
      <p:sp>
        <p:nvSpPr>
          <p:cNvPr id="3" name="Rectángulo: esquinas redondeadas 2">
            <a:extLst>
              <a:ext uri="{FF2B5EF4-FFF2-40B4-BE49-F238E27FC236}">
                <a16:creationId xmlns:a16="http://schemas.microsoft.com/office/drawing/2014/main" id="{391C4539-EC1F-40BD-FF90-60C25F788219}"/>
              </a:ext>
            </a:extLst>
          </p:cNvPr>
          <p:cNvSpPr/>
          <p:nvPr/>
        </p:nvSpPr>
        <p:spPr>
          <a:xfrm>
            <a:off x="1261404" y="4343400"/>
            <a:ext cx="9669192" cy="979351"/>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ES" sz="1200" b="1" dirty="0"/>
              <a:t>Aplicación individual de la Exención al estudiante:</a:t>
            </a:r>
          </a:p>
          <a:p>
            <a:pPr algn="just"/>
            <a:endParaRPr lang="es-ES" sz="1200" b="1" dirty="0"/>
          </a:p>
          <a:p>
            <a:pPr algn="just"/>
            <a:r>
              <a:rPr lang="es-ES" sz="1200" dirty="0"/>
              <a:t>Asignación en </a:t>
            </a:r>
            <a:r>
              <a:rPr lang="es-ES" sz="1300" b="1" dirty="0"/>
              <a:t>TSAEXPP</a:t>
            </a:r>
            <a:r>
              <a:rPr lang="es-ES" sz="1200" dirty="0"/>
              <a:t> del estudiante a la “EXENCIÓN” con cobertura de hasta el 50% del código de detalle ARAN. (ver configuración en </a:t>
            </a:r>
            <a:r>
              <a:rPr lang="es-ES" sz="1200" b="1" dirty="0"/>
              <a:t>TSAEXPT </a:t>
            </a:r>
            <a:r>
              <a:rPr lang="es-ES" sz="1200" dirty="0"/>
              <a:t>en la página 27 de esta presentación)</a:t>
            </a:r>
            <a:endParaRPr lang="es-CL" sz="1200" dirty="0"/>
          </a:p>
        </p:txBody>
      </p:sp>
      <p:pic>
        <p:nvPicPr>
          <p:cNvPr id="6" name="Imagen 5">
            <a:extLst>
              <a:ext uri="{FF2B5EF4-FFF2-40B4-BE49-F238E27FC236}">
                <a16:creationId xmlns:a16="http://schemas.microsoft.com/office/drawing/2014/main" id="{E76B489A-D6A5-FE19-C261-DCF16981D142}"/>
              </a:ext>
            </a:extLst>
          </p:cNvPr>
          <p:cNvPicPr>
            <a:picLocks noChangeAspect="1"/>
          </p:cNvPicPr>
          <p:nvPr/>
        </p:nvPicPr>
        <p:blipFill>
          <a:blip r:embed="rId2"/>
          <a:stretch>
            <a:fillRect/>
          </a:stretch>
        </p:blipFill>
        <p:spPr>
          <a:xfrm>
            <a:off x="1304400" y="1662617"/>
            <a:ext cx="9583200" cy="2434543"/>
          </a:xfrm>
          <a:prstGeom prst="rect">
            <a:avLst/>
          </a:prstGeom>
        </p:spPr>
      </p:pic>
    </p:spTree>
    <p:extLst>
      <p:ext uri="{BB962C8B-B14F-4D97-AF65-F5344CB8AC3E}">
        <p14:creationId xmlns:p14="http://schemas.microsoft.com/office/powerpoint/2010/main" val="63306753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4BBED3-920C-11B1-27A5-EEC297F47D3E}"/>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C94D3F90-16BD-F309-6253-D562528E5F53}"/>
              </a:ext>
            </a:extLst>
          </p:cNvPr>
          <p:cNvPicPr>
            <a:picLocks noChangeAspect="1"/>
          </p:cNvPicPr>
          <p:nvPr/>
        </p:nvPicPr>
        <p:blipFill>
          <a:blip r:embed="rId2"/>
          <a:stretch>
            <a:fillRect/>
          </a:stretch>
        </p:blipFill>
        <p:spPr>
          <a:xfrm>
            <a:off x="1304400" y="1581455"/>
            <a:ext cx="9583200" cy="1847545"/>
          </a:xfrm>
          <a:prstGeom prst="rect">
            <a:avLst/>
          </a:prstGeom>
        </p:spPr>
      </p:pic>
      <p:sp>
        <p:nvSpPr>
          <p:cNvPr id="2" name="Título 3">
            <a:extLst>
              <a:ext uri="{FF2B5EF4-FFF2-40B4-BE49-F238E27FC236}">
                <a16:creationId xmlns:a16="http://schemas.microsoft.com/office/drawing/2014/main" id="{87767DEA-0557-5457-1B39-69EABC2BEDBE}"/>
              </a:ext>
            </a:extLst>
          </p:cNvPr>
          <p:cNvSpPr txBox="1">
            <a:spLocks/>
          </p:cNvSpPr>
          <p:nvPr/>
        </p:nvSpPr>
        <p:spPr>
          <a:xfrm>
            <a:off x="1200629" y="825887"/>
            <a:ext cx="6675381" cy="61691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Operación: </a:t>
            </a:r>
            <a:r>
              <a:rPr lang="es-ES_tradnl" sz="3200" dirty="0"/>
              <a:t>TSASPAY Pago del alumno</a:t>
            </a:r>
            <a:br>
              <a:rPr lang="es-CL" dirty="0"/>
            </a:br>
            <a:endParaRPr lang="es-CL" dirty="0"/>
          </a:p>
        </p:txBody>
      </p:sp>
      <p:sp>
        <p:nvSpPr>
          <p:cNvPr id="3" name="Rectángulo: esquinas redondeadas 2">
            <a:extLst>
              <a:ext uri="{FF2B5EF4-FFF2-40B4-BE49-F238E27FC236}">
                <a16:creationId xmlns:a16="http://schemas.microsoft.com/office/drawing/2014/main" id="{2FE27AD9-61AB-B0AE-E3FF-64C800F8FDC5}"/>
              </a:ext>
            </a:extLst>
          </p:cNvPr>
          <p:cNvSpPr/>
          <p:nvPr/>
        </p:nvSpPr>
        <p:spPr>
          <a:xfrm>
            <a:off x="1304400" y="3851009"/>
            <a:ext cx="9583200" cy="75741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ES" sz="1200" b="1" dirty="0"/>
              <a:t>Aplicación individual de la Exención al estudiante</a:t>
            </a:r>
            <a:r>
              <a:rPr lang="es-ES" sz="1200" dirty="0"/>
              <a:t>:</a:t>
            </a:r>
          </a:p>
          <a:p>
            <a:pPr algn="just"/>
            <a:r>
              <a:rPr lang="es-ES" sz="1200" b="1" dirty="0"/>
              <a:t>1.</a:t>
            </a:r>
            <a:r>
              <a:rPr lang="es-ES" sz="1200" dirty="0"/>
              <a:t> Para la aplicación individual del beneficio, se debe ingresar a la página administrativa TSASPAY señalar periodo académico, ID del estudiante. </a:t>
            </a:r>
            <a:endParaRPr lang="es-CL" sz="1200" dirty="0"/>
          </a:p>
        </p:txBody>
      </p:sp>
      <p:sp>
        <p:nvSpPr>
          <p:cNvPr id="4" name="Rectángulo: esquinas redondeadas 5">
            <a:extLst>
              <a:ext uri="{FF2B5EF4-FFF2-40B4-BE49-F238E27FC236}">
                <a16:creationId xmlns:a16="http://schemas.microsoft.com/office/drawing/2014/main" id="{997174EA-F325-913B-1F61-F242F0F20D55}"/>
              </a:ext>
            </a:extLst>
          </p:cNvPr>
          <p:cNvSpPr/>
          <p:nvPr/>
        </p:nvSpPr>
        <p:spPr>
          <a:xfrm>
            <a:off x="1304400" y="4920700"/>
            <a:ext cx="4179070" cy="492234"/>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ES" sz="1200" b="1" dirty="0"/>
              <a:t>2.</a:t>
            </a:r>
            <a:r>
              <a:rPr lang="es-ES" sz="1200" dirty="0"/>
              <a:t> Presionar el botón </a:t>
            </a:r>
            <a:r>
              <a:rPr lang="es-ES" sz="1200" b="1" dirty="0"/>
              <a:t>Ir</a:t>
            </a:r>
            <a:r>
              <a:rPr lang="es-ES" sz="1200" dirty="0"/>
              <a:t> para pasar a la siguiente sección.</a:t>
            </a:r>
            <a:endParaRPr lang="es-CL" sz="1200" dirty="0"/>
          </a:p>
        </p:txBody>
      </p:sp>
      <p:pic>
        <p:nvPicPr>
          <p:cNvPr id="13" name="Imagen 12">
            <a:extLst>
              <a:ext uri="{FF2B5EF4-FFF2-40B4-BE49-F238E27FC236}">
                <a16:creationId xmlns:a16="http://schemas.microsoft.com/office/drawing/2014/main" id="{033C9B62-B351-76BA-6FA9-A84C4F963FF0}"/>
              </a:ext>
            </a:extLst>
          </p:cNvPr>
          <p:cNvPicPr>
            <a:picLocks noChangeAspect="1"/>
          </p:cNvPicPr>
          <p:nvPr/>
        </p:nvPicPr>
        <p:blipFill>
          <a:blip r:embed="rId3"/>
          <a:stretch>
            <a:fillRect/>
          </a:stretch>
        </p:blipFill>
        <p:spPr>
          <a:xfrm>
            <a:off x="10191170" y="2227652"/>
            <a:ext cx="162000" cy="162000"/>
          </a:xfrm>
          <a:prstGeom prst="rect">
            <a:avLst/>
          </a:prstGeom>
        </p:spPr>
      </p:pic>
      <p:pic>
        <p:nvPicPr>
          <p:cNvPr id="15" name="Imagen 14">
            <a:extLst>
              <a:ext uri="{FF2B5EF4-FFF2-40B4-BE49-F238E27FC236}">
                <a16:creationId xmlns:a16="http://schemas.microsoft.com/office/drawing/2014/main" id="{6F731789-7F61-4FFB-DCD6-E6686615280B}"/>
              </a:ext>
            </a:extLst>
          </p:cNvPr>
          <p:cNvPicPr>
            <a:picLocks noChangeAspect="1"/>
          </p:cNvPicPr>
          <p:nvPr/>
        </p:nvPicPr>
        <p:blipFill>
          <a:blip r:embed="rId4"/>
          <a:stretch>
            <a:fillRect/>
          </a:stretch>
        </p:blipFill>
        <p:spPr>
          <a:xfrm>
            <a:off x="1304400" y="2227652"/>
            <a:ext cx="162000" cy="162000"/>
          </a:xfrm>
          <a:prstGeom prst="rect">
            <a:avLst/>
          </a:prstGeom>
        </p:spPr>
      </p:pic>
    </p:spTree>
    <p:extLst>
      <p:ext uri="{BB962C8B-B14F-4D97-AF65-F5344CB8AC3E}">
        <p14:creationId xmlns:p14="http://schemas.microsoft.com/office/powerpoint/2010/main" val="53619860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865A6E-68B3-009C-E4F4-024B00D59990}"/>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FC658546-247B-10DD-2CFE-D8C9C9AD1EF9}"/>
              </a:ext>
            </a:extLst>
          </p:cNvPr>
          <p:cNvPicPr>
            <a:picLocks noChangeAspect="1"/>
          </p:cNvPicPr>
          <p:nvPr/>
        </p:nvPicPr>
        <p:blipFill>
          <a:blip r:embed="rId2"/>
          <a:stretch>
            <a:fillRect/>
          </a:stretch>
        </p:blipFill>
        <p:spPr>
          <a:xfrm>
            <a:off x="1304400" y="800115"/>
            <a:ext cx="9583200" cy="4433867"/>
          </a:xfrm>
          <a:prstGeom prst="rect">
            <a:avLst/>
          </a:prstGeom>
        </p:spPr>
      </p:pic>
      <p:sp>
        <p:nvSpPr>
          <p:cNvPr id="2" name="Título 3">
            <a:extLst>
              <a:ext uri="{FF2B5EF4-FFF2-40B4-BE49-F238E27FC236}">
                <a16:creationId xmlns:a16="http://schemas.microsoft.com/office/drawing/2014/main" id="{59C9145A-24C6-6754-EF1A-C2A8B60BFB9C}"/>
              </a:ext>
            </a:extLst>
          </p:cNvPr>
          <p:cNvSpPr txBox="1">
            <a:spLocks/>
          </p:cNvSpPr>
          <p:nvPr/>
        </p:nvSpPr>
        <p:spPr>
          <a:xfrm>
            <a:off x="1211834" y="167764"/>
            <a:ext cx="10674618" cy="54776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Operación: </a:t>
            </a:r>
            <a:r>
              <a:rPr lang="es-ES_tradnl" sz="3200" dirty="0"/>
              <a:t>TSASPAY Pago de alumno</a:t>
            </a:r>
            <a:br>
              <a:rPr lang="es-CL" dirty="0"/>
            </a:br>
            <a:endParaRPr lang="es-CL" dirty="0"/>
          </a:p>
        </p:txBody>
      </p:sp>
      <p:sp>
        <p:nvSpPr>
          <p:cNvPr id="3" name="Rectángulo: esquinas redondeadas 2">
            <a:extLst>
              <a:ext uri="{FF2B5EF4-FFF2-40B4-BE49-F238E27FC236}">
                <a16:creationId xmlns:a16="http://schemas.microsoft.com/office/drawing/2014/main" id="{ACDF7D74-1C2E-062F-0687-D6DB7F564D35}"/>
              </a:ext>
            </a:extLst>
          </p:cNvPr>
          <p:cNvSpPr/>
          <p:nvPr/>
        </p:nvSpPr>
        <p:spPr>
          <a:xfrm>
            <a:off x="1304400" y="5421448"/>
            <a:ext cx="9583200" cy="93772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ES" sz="1200" b="1" dirty="0"/>
              <a:t>Aplicación individual de la Exención al estudiante</a:t>
            </a:r>
            <a:r>
              <a:rPr lang="es-ES" sz="1200" dirty="0"/>
              <a:t>:</a:t>
            </a:r>
          </a:p>
          <a:p>
            <a:pPr algn="just"/>
            <a:r>
              <a:rPr lang="es-ES" sz="1200" b="1" dirty="0"/>
              <a:t>3.</a:t>
            </a:r>
            <a:r>
              <a:rPr lang="es-ES" sz="1200" dirty="0"/>
              <a:t> Una vez se accede la aplicación, se cargaría la asignación o des asignación del beneficio según corresponda. En la ventana emergente “Aceptar cargos”, se deberá seleccionar el botón “Regresar”, accediendo a la ventana posterior, donde se visualiza la transacción asignada.</a:t>
            </a:r>
          </a:p>
        </p:txBody>
      </p:sp>
      <p:pic>
        <p:nvPicPr>
          <p:cNvPr id="11" name="Imagen 10">
            <a:extLst>
              <a:ext uri="{FF2B5EF4-FFF2-40B4-BE49-F238E27FC236}">
                <a16:creationId xmlns:a16="http://schemas.microsoft.com/office/drawing/2014/main" id="{E0D81292-9714-CED4-A1C8-95C668AC4EED}"/>
              </a:ext>
            </a:extLst>
          </p:cNvPr>
          <p:cNvPicPr>
            <a:picLocks noChangeAspect="1"/>
          </p:cNvPicPr>
          <p:nvPr/>
        </p:nvPicPr>
        <p:blipFill>
          <a:blip r:embed="rId3"/>
          <a:stretch>
            <a:fillRect/>
          </a:stretch>
        </p:blipFill>
        <p:spPr>
          <a:xfrm>
            <a:off x="6760751" y="4638797"/>
            <a:ext cx="162000" cy="162000"/>
          </a:xfrm>
          <a:prstGeom prst="rect">
            <a:avLst/>
          </a:prstGeom>
        </p:spPr>
      </p:pic>
    </p:spTree>
    <p:extLst>
      <p:ext uri="{BB962C8B-B14F-4D97-AF65-F5344CB8AC3E}">
        <p14:creationId xmlns:p14="http://schemas.microsoft.com/office/powerpoint/2010/main" val="264776431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7F95CE-4FEB-0BDA-2863-B7A1D3B8E29F}"/>
            </a:ext>
          </a:extLst>
        </p:cNvPr>
        <p:cNvGrpSpPr/>
        <p:nvPr/>
      </p:nvGrpSpPr>
      <p:grpSpPr>
        <a:xfrm>
          <a:off x="0" y="0"/>
          <a:ext cx="0" cy="0"/>
          <a:chOff x="0" y="0"/>
          <a:chExt cx="0" cy="0"/>
        </a:xfrm>
      </p:grpSpPr>
      <p:pic>
        <p:nvPicPr>
          <p:cNvPr id="6" name="Imagen 5">
            <a:extLst>
              <a:ext uri="{FF2B5EF4-FFF2-40B4-BE49-F238E27FC236}">
                <a16:creationId xmlns:a16="http://schemas.microsoft.com/office/drawing/2014/main" id="{4F42E1E2-CD47-9907-443E-3734A8883E0C}"/>
              </a:ext>
            </a:extLst>
          </p:cNvPr>
          <p:cNvPicPr>
            <a:picLocks noChangeAspect="1"/>
          </p:cNvPicPr>
          <p:nvPr/>
        </p:nvPicPr>
        <p:blipFill>
          <a:blip r:embed="rId2"/>
          <a:stretch>
            <a:fillRect/>
          </a:stretch>
        </p:blipFill>
        <p:spPr>
          <a:xfrm>
            <a:off x="1304400" y="1090066"/>
            <a:ext cx="9583200" cy="4034768"/>
          </a:xfrm>
          <a:prstGeom prst="rect">
            <a:avLst/>
          </a:prstGeom>
        </p:spPr>
      </p:pic>
      <p:sp>
        <p:nvSpPr>
          <p:cNvPr id="2" name="Título 3">
            <a:extLst>
              <a:ext uri="{FF2B5EF4-FFF2-40B4-BE49-F238E27FC236}">
                <a16:creationId xmlns:a16="http://schemas.microsoft.com/office/drawing/2014/main" id="{C0770CE9-31A9-BE26-5CA6-6E8BAE277E4C}"/>
              </a:ext>
            </a:extLst>
          </p:cNvPr>
          <p:cNvSpPr txBox="1">
            <a:spLocks/>
          </p:cNvSpPr>
          <p:nvPr/>
        </p:nvSpPr>
        <p:spPr>
          <a:xfrm>
            <a:off x="1209101" y="450799"/>
            <a:ext cx="6775965" cy="61691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Operación: </a:t>
            </a:r>
            <a:r>
              <a:rPr lang="es-ES_tradnl" sz="3200" dirty="0"/>
              <a:t>TSASPAY Pago de alumno</a:t>
            </a:r>
            <a:br>
              <a:rPr lang="es-CL" dirty="0"/>
            </a:br>
            <a:endParaRPr lang="es-CL" dirty="0"/>
          </a:p>
        </p:txBody>
      </p:sp>
      <p:sp>
        <p:nvSpPr>
          <p:cNvPr id="5" name="Rectángulo: esquinas redondeadas 4">
            <a:extLst>
              <a:ext uri="{FF2B5EF4-FFF2-40B4-BE49-F238E27FC236}">
                <a16:creationId xmlns:a16="http://schemas.microsoft.com/office/drawing/2014/main" id="{911F89BF-8A9C-24F9-64BE-52536955E482}"/>
              </a:ext>
            </a:extLst>
          </p:cNvPr>
          <p:cNvSpPr/>
          <p:nvPr/>
        </p:nvSpPr>
        <p:spPr>
          <a:xfrm>
            <a:off x="1304400" y="5303215"/>
            <a:ext cx="4377883" cy="704088"/>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 sz="1200" b="1" dirty="0"/>
              <a:t>Aplicación individual de la Exención al estudiante</a:t>
            </a:r>
            <a:r>
              <a:rPr lang="es-ES" sz="1200" dirty="0"/>
              <a:t>:</a:t>
            </a:r>
          </a:p>
          <a:p>
            <a:r>
              <a:rPr lang="es-ES" sz="1200" b="1" dirty="0"/>
              <a:t>4. </a:t>
            </a:r>
            <a:r>
              <a:rPr lang="es-ES" sz="1200" dirty="0"/>
              <a:t>Confirmación de la aplicación de beneficio.</a:t>
            </a:r>
          </a:p>
        </p:txBody>
      </p:sp>
      <p:pic>
        <p:nvPicPr>
          <p:cNvPr id="9" name="Imagen 8">
            <a:extLst>
              <a:ext uri="{FF2B5EF4-FFF2-40B4-BE49-F238E27FC236}">
                <a16:creationId xmlns:a16="http://schemas.microsoft.com/office/drawing/2014/main" id="{F7A4CA10-7A34-2501-5D1B-6421EBDED87F}"/>
              </a:ext>
            </a:extLst>
          </p:cNvPr>
          <p:cNvPicPr>
            <a:picLocks noChangeAspect="1"/>
          </p:cNvPicPr>
          <p:nvPr/>
        </p:nvPicPr>
        <p:blipFill>
          <a:blip r:embed="rId3"/>
          <a:stretch>
            <a:fillRect/>
          </a:stretch>
        </p:blipFill>
        <p:spPr>
          <a:xfrm>
            <a:off x="1067369" y="3107450"/>
            <a:ext cx="162000" cy="162000"/>
          </a:xfrm>
          <a:prstGeom prst="rect">
            <a:avLst/>
          </a:prstGeom>
        </p:spPr>
      </p:pic>
    </p:spTree>
    <p:extLst>
      <p:ext uri="{BB962C8B-B14F-4D97-AF65-F5344CB8AC3E}">
        <p14:creationId xmlns:p14="http://schemas.microsoft.com/office/powerpoint/2010/main" val="49844313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7F95AC-A835-E076-6763-5294A782277D}"/>
            </a:ext>
          </a:extLst>
        </p:cNvPr>
        <p:cNvGrpSpPr/>
        <p:nvPr/>
      </p:nvGrpSpPr>
      <p:grpSpPr>
        <a:xfrm>
          <a:off x="0" y="0"/>
          <a:ext cx="0" cy="0"/>
          <a:chOff x="0" y="0"/>
          <a:chExt cx="0" cy="0"/>
        </a:xfrm>
      </p:grpSpPr>
      <p:pic>
        <p:nvPicPr>
          <p:cNvPr id="6" name="Imagen 5">
            <a:extLst>
              <a:ext uri="{FF2B5EF4-FFF2-40B4-BE49-F238E27FC236}">
                <a16:creationId xmlns:a16="http://schemas.microsoft.com/office/drawing/2014/main" id="{C025C41C-59F5-DFF6-27A6-5C82109F7F01}"/>
              </a:ext>
            </a:extLst>
          </p:cNvPr>
          <p:cNvPicPr>
            <a:picLocks noChangeAspect="1"/>
          </p:cNvPicPr>
          <p:nvPr/>
        </p:nvPicPr>
        <p:blipFill>
          <a:blip r:embed="rId2"/>
          <a:stretch>
            <a:fillRect/>
          </a:stretch>
        </p:blipFill>
        <p:spPr>
          <a:xfrm>
            <a:off x="1047035" y="1302177"/>
            <a:ext cx="9583200" cy="3460738"/>
          </a:xfrm>
          <a:prstGeom prst="rect">
            <a:avLst/>
          </a:prstGeom>
        </p:spPr>
      </p:pic>
      <p:sp>
        <p:nvSpPr>
          <p:cNvPr id="2" name="Título 3">
            <a:extLst>
              <a:ext uri="{FF2B5EF4-FFF2-40B4-BE49-F238E27FC236}">
                <a16:creationId xmlns:a16="http://schemas.microsoft.com/office/drawing/2014/main" id="{8A5CAB5D-D64D-16BA-C213-0F4B51969448}"/>
              </a:ext>
            </a:extLst>
          </p:cNvPr>
          <p:cNvSpPr txBox="1">
            <a:spLocks/>
          </p:cNvSpPr>
          <p:nvPr/>
        </p:nvSpPr>
        <p:spPr>
          <a:xfrm>
            <a:off x="936664" y="320918"/>
            <a:ext cx="9871544" cy="91352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Operación: </a:t>
            </a:r>
            <a:r>
              <a:rPr lang="es-ES_tradnl" sz="3200" dirty="0"/>
              <a:t>TSAAREV Revisión de detalle de </a:t>
            </a:r>
          </a:p>
          <a:p>
            <a:r>
              <a:rPr lang="es-ES_tradnl" sz="3200" dirty="0"/>
              <a:t>cuenta - alumnos</a:t>
            </a:r>
            <a:br>
              <a:rPr lang="es-CL" dirty="0"/>
            </a:br>
            <a:endParaRPr lang="es-CL" dirty="0"/>
          </a:p>
        </p:txBody>
      </p:sp>
      <p:sp>
        <p:nvSpPr>
          <p:cNvPr id="3" name="Rectángulo: esquinas redondeadas 2">
            <a:extLst>
              <a:ext uri="{FF2B5EF4-FFF2-40B4-BE49-F238E27FC236}">
                <a16:creationId xmlns:a16="http://schemas.microsoft.com/office/drawing/2014/main" id="{E4E441E9-89B8-54C5-B34F-9C604A298A7D}"/>
              </a:ext>
            </a:extLst>
          </p:cNvPr>
          <p:cNvSpPr/>
          <p:nvPr/>
        </p:nvSpPr>
        <p:spPr>
          <a:xfrm>
            <a:off x="1126427" y="5101428"/>
            <a:ext cx="9434893" cy="771739"/>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b="1" dirty="0"/>
              <a:t>Estado de cuenta del alumno con la Exención aplicada:</a:t>
            </a:r>
          </a:p>
          <a:p>
            <a:r>
              <a:rPr lang="es-ES" sz="1200" b="1" dirty="0"/>
              <a:t>5. </a:t>
            </a:r>
            <a:r>
              <a:rPr lang="es-ES" sz="1200" dirty="0"/>
              <a:t>En la cuenta corriente se visualiza la transacción del tipo pago que conceptualiza la asignación y aplicación del beneficio utilizado en el ejemplo.</a:t>
            </a:r>
            <a:endParaRPr lang="es-CL" sz="1200" dirty="0"/>
          </a:p>
        </p:txBody>
      </p:sp>
      <p:pic>
        <p:nvPicPr>
          <p:cNvPr id="5" name="Imagen 4">
            <a:extLst>
              <a:ext uri="{FF2B5EF4-FFF2-40B4-BE49-F238E27FC236}">
                <a16:creationId xmlns:a16="http://schemas.microsoft.com/office/drawing/2014/main" id="{3D0862DB-4565-BBD0-8AF1-41A2C579E5AE}"/>
              </a:ext>
            </a:extLst>
          </p:cNvPr>
          <p:cNvPicPr>
            <a:picLocks noChangeAspect="1"/>
          </p:cNvPicPr>
          <p:nvPr/>
        </p:nvPicPr>
        <p:blipFill>
          <a:blip r:embed="rId3"/>
          <a:stretch>
            <a:fillRect/>
          </a:stretch>
        </p:blipFill>
        <p:spPr>
          <a:xfrm>
            <a:off x="6114288" y="2760818"/>
            <a:ext cx="162000" cy="162000"/>
          </a:xfrm>
          <a:prstGeom prst="rect">
            <a:avLst/>
          </a:prstGeom>
        </p:spPr>
      </p:pic>
    </p:spTree>
    <p:extLst>
      <p:ext uri="{BB962C8B-B14F-4D97-AF65-F5344CB8AC3E}">
        <p14:creationId xmlns:p14="http://schemas.microsoft.com/office/powerpoint/2010/main" val="123593145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7232DD-EC17-7719-0EE9-701831F91805}"/>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8868D531-DB45-6F28-9D46-B7FA898EDBEA}"/>
              </a:ext>
            </a:extLst>
          </p:cNvPr>
          <p:cNvPicPr>
            <a:picLocks noChangeAspect="1"/>
          </p:cNvPicPr>
          <p:nvPr/>
        </p:nvPicPr>
        <p:blipFill>
          <a:blip r:embed="rId2"/>
          <a:stretch>
            <a:fillRect/>
          </a:stretch>
        </p:blipFill>
        <p:spPr>
          <a:xfrm>
            <a:off x="1304400" y="1122064"/>
            <a:ext cx="9583200" cy="4705312"/>
          </a:xfrm>
          <a:prstGeom prst="rect">
            <a:avLst/>
          </a:prstGeom>
        </p:spPr>
      </p:pic>
      <p:sp>
        <p:nvSpPr>
          <p:cNvPr id="2" name="Título 3">
            <a:extLst>
              <a:ext uri="{FF2B5EF4-FFF2-40B4-BE49-F238E27FC236}">
                <a16:creationId xmlns:a16="http://schemas.microsoft.com/office/drawing/2014/main" id="{64AD77FB-C526-EE9F-A035-9FFA7AE33E7E}"/>
              </a:ext>
            </a:extLst>
          </p:cNvPr>
          <p:cNvSpPr txBox="1">
            <a:spLocks/>
          </p:cNvSpPr>
          <p:nvPr/>
        </p:nvSpPr>
        <p:spPr>
          <a:xfrm>
            <a:off x="1235833" y="171966"/>
            <a:ext cx="9720333" cy="950098"/>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Operación: </a:t>
            </a:r>
            <a:r>
              <a:rPr lang="es-ES_tradnl" sz="3200" dirty="0"/>
              <a:t>TSAAREV Revisión de detalle de </a:t>
            </a:r>
          </a:p>
          <a:p>
            <a:r>
              <a:rPr lang="es-ES_tradnl" sz="3200" dirty="0"/>
              <a:t>cuenta - alumnos</a:t>
            </a:r>
            <a:endParaRPr lang="es-CL" dirty="0"/>
          </a:p>
        </p:txBody>
      </p:sp>
      <p:sp>
        <p:nvSpPr>
          <p:cNvPr id="3" name="Rectángulo: esquinas redondeadas 2">
            <a:extLst>
              <a:ext uri="{FF2B5EF4-FFF2-40B4-BE49-F238E27FC236}">
                <a16:creationId xmlns:a16="http://schemas.microsoft.com/office/drawing/2014/main" id="{5524632E-8A15-BD69-2D04-C0C4D6AC51B6}"/>
              </a:ext>
            </a:extLst>
          </p:cNvPr>
          <p:cNvSpPr/>
          <p:nvPr/>
        </p:nvSpPr>
        <p:spPr>
          <a:xfrm>
            <a:off x="1304400" y="5669280"/>
            <a:ext cx="8064502" cy="60448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L" sz="1200" b="1" dirty="0"/>
              <a:t>Aplicar Transacciones</a:t>
            </a:r>
            <a:r>
              <a:rPr lang="es-CL" sz="1200" dirty="0"/>
              <a:t>:</a:t>
            </a:r>
          </a:p>
          <a:p>
            <a:r>
              <a:rPr lang="es-CL" sz="1200" dirty="0"/>
              <a:t>Para balancear el saldo, en la aplicación TSAAREV en Herramientas, opción “Aplicar transacciones” (</a:t>
            </a:r>
            <a:r>
              <a:rPr lang="es-ES_tradnl" sz="1200" dirty="0"/>
              <a:t>TGRAPPL).</a:t>
            </a:r>
            <a:r>
              <a:rPr lang="es-CL" sz="1200" dirty="0"/>
              <a:t>  </a:t>
            </a:r>
          </a:p>
        </p:txBody>
      </p:sp>
    </p:spTree>
    <p:extLst>
      <p:ext uri="{BB962C8B-B14F-4D97-AF65-F5344CB8AC3E}">
        <p14:creationId xmlns:p14="http://schemas.microsoft.com/office/powerpoint/2010/main" val="42946291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2F4534-29F1-16DA-3A53-B21C45F25C42}"/>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06127034-EBD5-7CF9-160A-5EB7599145B4}"/>
              </a:ext>
            </a:extLst>
          </p:cNvPr>
          <p:cNvPicPr>
            <a:picLocks noChangeAspect="1"/>
          </p:cNvPicPr>
          <p:nvPr/>
        </p:nvPicPr>
        <p:blipFill>
          <a:blip r:embed="rId2"/>
          <a:stretch>
            <a:fillRect/>
          </a:stretch>
        </p:blipFill>
        <p:spPr>
          <a:xfrm>
            <a:off x="1304400" y="1733929"/>
            <a:ext cx="9583200" cy="2841501"/>
          </a:xfrm>
          <a:prstGeom prst="rect">
            <a:avLst/>
          </a:prstGeom>
        </p:spPr>
      </p:pic>
      <p:sp>
        <p:nvSpPr>
          <p:cNvPr id="2" name="Título 3">
            <a:extLst>
              <a:ext uri="{FF2B5EF4-FFF2-40B4-BE49-F238E27FC236}">
                <a16:creationId xmlns:a16="http://schemas.microsoft.com/office/drawing/2014/main" id="{1A068831-7A2C-55A5-7E53-CC5B7D4AF329}"/>
              </a:ext>
            </a:extLst>
          </p:cNvPr>
          <p:cNvSpPr txBox="1">
            <a:spLocks/>
          </p:cNvSpPr>
          <p:nvPr/>
        </p:nvSpPr>
        <p:spPr>
          <a:xfrm>
            <a:off x="1167181" y="562221"/>
            <a:ext cx="9857637" cy="922666"/>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Operación: </a:t>
            </a:r>
            <a:r>
              <a:rPr lang="es-ES_tradnl" sz="3200" dirty="0"/>
              <a:t>TSAAREV Revisión de detalle de </a:t>
            </a:r>
          </a:p>
          <a:p>
            <a:r>
              <a:rPr lang="es-ES_tradnl" sz="3200" dirty="0"/>
              <a:t>cuenta - alumnos</a:t>
            </a:r>
            <a:endParaRPr lang="es-CL" sz="3200" dirty="0"/>
          </a:p>
          <a:p>
            <a:br>
              <a:rPr lang="es-CL" dirty="0"/>
            </a:br>
            <a:endParaRPr lang="es-CL" dirty="0"/>
          </a:p>
        </p:txBody>
      </p:sp>
      <p:sp>
        <p:nvSpPr>
          <p:cNvPr id="3" name="Rectángulo: esquinas redondeadas 2">
            <a:extLst>
              <a:ext uri="{FF2B5EF4-FFF2-40B4-BE49-F238E27FC236}">
                <a16:creationId xmlns:a16="http://schemas.microsoft.com/office/drawing/2014/main" id="{551C5504-F316-C23D-2993-2842CE4F670B}"/>
              </a:ext>
            </a:extLst>
          </p:cNvPr>
          <p:cNvSpPr/>
          <p:nvPr/>
        </p:nvSpPr>
        <p:spPr>
          <a:xfrm>
            <a:off x="1304400" y="4992623"/>
            <a:ext cx="2604654" cy="516007"/>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L" sz="1200" dirty="0"/>
              <a:t>Estado de cuenta balanceado.</a:t>
            </a:r>
          </a:p>
        </p:txBody>
      </p:sp>
      <p:cxnSp>
        <p:nvCxnSpPr>
          <p:cNvPr id="12" name="Conector recto de flecha 11">
            <a:extLst>
              <a:ext uri="{FF2B5EF4-FFF2-40B4-BE49-F238E27FC236}">
                <a16:creationId xmlns:a16="http://schemas.microsoft.com/office/drawing/2014/main" id="{8E87168F-F136-5700-61AF-44FA85C62289}"/>
              </a:ext>
            </a:extLst>
          </p:cNvPr>
          <p:cNvCxnSpPr>
            <a:cxnSpLocks/>
          </p:cNvCxnSpPr>
          <p:nvPr/>
        </p:nvCxnSpPr>
        <p:spPr>
          <a:xfrm flipH="1">
            <a:off x="5321808" y="3154680"/>
            <a:ext cx="35661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9" name="Conector recto de flecha 18">
            <a:extLst>
              <a:ext uri="{FF2B5EF4-FFF2-40B4-BE49-F238E27FC236}">
                <a16:creationId xmlns:a16="http://schemas.microsoft.com/office/drawing/2014/main" id="{04E92EA7-4CC8-1E11-F228-CECBE86D1901}"/>
              </a:ext>
            </a:extLst>
          </p:cNvPr>
          <p:cNvCxnSpPr>
            <a:cxnSpLocks/>
          </p:cNvCxnSpPr>
          <p:nvPr/>
        </p:nvCxnSpPr>
        <p:spPr>
          <a:xfrm flipH="1">
            <a:off x="5330952" y="3297936"/>
            <a:ext cx="35661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0368491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D1CA72-9D63-D9FB-F1B1-016413EE4D25}"/>
            </a:ext>
          </a:extLst>
        </p:cNvPr>
        <p:cNvGrpSpPr/>
        <p:nvPr/>
      </p:nvGrpSpPr>
      <p:grpSpPr>
        <a:xfrm>
          <a:off x="0" y="0"/>
          <a:ext cx="0" cy="0"/>
          <a:chOff x="0" y="0"/>
          <a:chExt cx="0" cy="0"/>
        </a:xfrm>
      </p:grpSpPr>
      <p:sp>
        <p:nvSpPr>
          <p:cNvPr id="5" name="CuadroTexto 4">
            <a:extLst>
              <a:ext uri="{FF2B5EF4-FFF2-40B4-BE49-F238E27FC236}">
                <a16:creationId xmlns:a16="http://schemas.microsoft.com/office/drawing/2014/main" id="{86118ED2-81A9-0D83-5015-F1FEA4934278}"/>
              </a:ext>
            </a:extLst>
          </p:cNvPr>
          <p:cNvSpPr txBox="1"/>
          <p:nvPr/>
        </p:nvSpPr>
        <p:spPr>
          <a:xfrm>
            <a:off x="711313" y="1672888"/>
            <a:ext cx="10261487" cy="1938992"/>
          </a:xfrm>
          <a:prstGeom prst="rect">
            <a:avLst/>
          </a:prstGeom>
          <a:noFill/>
        </p:spPr>
        <p:txBody>
          <a:bodyPr wrap="square">
            <a:spAutoFit/>
          </a:bodyPr>
          <a:lstStyle/>
          <a:p>
            <a:r>
              <a:rPr lang="es-ES" sz="6000" b="1" dirty="0">
                <a:solidFill>
                  <a:schemeClr val="bg1"/>
                </a:solidFill>
              </a:rPr>
              <a:t>Aplicación Masiva de Exenciones</a:t>
            </a:r>
            <a:endParaRPr lang="en-US" sz="6000" b="1" dirty="0">
              <a:solidFill>
                <a:schemeClr val="bg1"/>
              </a:solidFill>
            </a:endParaRPr>
          </a:p>
        </p:txBody>
      </p:sp>
      <p:sp>
        <p:nvSpPr>
          <p:cNvPr id="8" name="Text Placeholder 16">
            <a:extLst>
              <a:ext uri="{FF2B5EF4-FFF2-40B4-BE49-F238E27FC236}">
                <a16:creationId xmlns:a16="http://schemas.microsoft.com/office/drawing/2014/main" id="{56CFFC12-DD06-7B43-6220-526BDFF4095E}"/>
              </a:ext>
            </a:extLst>
          </p:cNvPr>
          <p:cNvSpPr txBox="1">
            <a:spLocks/>
          </p:cNvSpPr>
          <p:nvPr/>
        </p:nvSpPr>
        <p:spPr>
          <a:xfrm>
            <a:off x="711313" y="3942370"/>
            <a:ext cx="7092820" cy="774441"/>
          </a:xfrm>
          <a:prstGeom prst="rect">
            <a:avLst/>
          </a:prstGeom>
        </p:spPr>
        <p:txBody>
          <a:bodyPr/>
          <a:lst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CO" sz="2000" b="1" dirty="0">
                <a:solidFill>
                  <a:schemeClr val="bg1"/>
                </a:solidFill>
              </a:rPr>
              <a:t>Gestionar los beneficios</a:t>
            </a:r>
          </a:p>
          <a:p>
            <a:pPr marL="0" indent="0">
              <a:buNone/>
            </a:pPr>
            <a:endParaRPr lang="en-US" sz="2000" b="1" dirty="0">
              <a:solidFill>
                <a:schemeClr val="bg1"/>
              </a:solidFill>
            </a:endParaRPr>
          </a:p>
        </p:txBody>
      </p:sp>
    </p:spTree>
    <p:extLst>
      <p:ext uri="{BB962C8B-B14F-4D97-AF65-F5344CB8AC3E}">
        <p14:creationId xmlns:p14="http://schemas.microsoft.com/office/powerpoint/2010/main" val="306759736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341140-776F-C1C6-30ED-FAE825AD0895}"/>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BA54E077-4795-6BDB-3686-3096A8106BCB}"/>
              </a:ext>
            </a:extLst>
          </p:cNvPr>
          <p:cNvSpPr txBox="1">
            <a:spLocks/>
          </p:cNvSpPr>
          <p:nvPr/>
        </p:nvSpPr>
        <p:spPr>
          <a:xfrm>
            <a:off x="1186072" y="529513"/>
            <a:ext cx="10092876" cy="1059826"/>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Escenario Previo:</a:t>
            </a:r>
            <a:r>
              <a:rPr lang="es-ES_tradnl" sz="3200" dirty="0">
                <a:solidFill>
                  <a:schemeClr val="tx2"/>
                </a:solidFill>
              </a:rPr>
              <a:t> </a:t>
            </a:r>
            <a:r>
              <a:rPr lang="es-ES_tradnl" sz="3200" dirty="0"/>
              <a:t>TSAAREV Revisión de detalle de </a:t>
            </a:r>
          </a:p>
          <a:p>
            <a:r>
              <a:rPr lang="es-ES_tradnl" sz="3200" dirty="0"/>
              <a:t>cuenta - alumnos</a:t>
            </a:r>
            <a:endParaRPr lang="es-CL" dirty="0"/>
          </a:p>
        </p:txBody>
      </p:sp>
      <p:sp>
        <p:nvSpPr>
          <p:cNvPr id="3" name="Rectángulo: esquinas redondeadas 2">
            <a:extLst>
              <a:ext uri="{FF2B5EF4-FFF2-40B4-BE49-F238E27FC236}">
                <a16:creationId xmlns:a16="http://schemas.microsoft.com/office/drawing/2014/main" id="{E1C33C05-B918-9F75-ADD6-0DF390E661E1}"/>
              </a:ext>
            </a:extLst>
          </p:cNvPr>
          <p:cNvSpPr/>
          <p:nvPr/>
        </p:nvSpPr>
        <p:spPr>
          <a:xfrm>
            <a:off x="1268368" y="4881799"/>
            <a:ext cx="9583200" cy="824057"/>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 sz="1200" b="1" dirty="0"/>
              <a:t>Aplicación masiva de Exenciones:</a:t>
            </a:r>
          </a:p>
          <a:p>
            <a:r>
              <a:rPr lang="es-ES" sz="1200" b="1" dirty="0"/>
              <a:t>TSAAREV</a:t>
            </a:r>
            <a:r>
              <a:rPr lang="es-ES" sz="1200" dirty="0"/>
              <a:t> en donde se muestran los cargos por concepto de matrícula y Colegiatura generados, previo a la asignación o aplicación de beneficios.</a:t>
            </a:r>
            <a:endParaRPr lang="es-CL" sz="1200" dirty="0"/>
          </a:p>
        </p:txBody>
      </p:sp>
      <p:pic>
        <p:nvPicPr>
          <p:cNvPr id="6" name="Imagen 5">
            <a:extLst>
              <a:ext uri="{FF2B5EF4-FFF2-40B4-BE49-F238E27FC236}">
                <a16:creationId xmlns:a16="http://schemas.microsoft.com/office/drawing/2014/main" id="{B8F339A7-6D02-EE6A-DE55-4F310D4808A8}"/>
              </a:ext>
            </a:extLst>
          </p:cNvPr>
          <p:cNvPicPr>
            <a:picLocks noChangeAspect="1"/>
          </p:cNvPicPr>
          <p:nvPr/>
        </p:nvPicPr>
        <p:blipFill>
          <a:blip r:embed="rId2"/>
          <a:stretch>
            <a:fillRect/>
          </a:stretch>
        </p:blipFill>
        <p:spPr>
          <a:xfrm>
            <a:off x="1268367" y="1747601"/>
            <a:ext cx="9583200" cy="2729487"/>
          </a:xfrm>
          <a:prstGeom prst="rect">
            <a:avLst/>
          </a:prstGeom>
        </p:spPr>
      </p:pic>
    </p:spTree>
    <p:extLst>
      <p:ext uri="{BB962C8B-B14F-4D97-AF65-F5344CB8AC3E}">
        <p14:creationId xmlns:p14="http://schemas.microsoft.com/office/powerpoint/2010/main" val="79418378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26E14E-7D38-BE93-77FC-C6441D2020DB}"/>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7478B991-5070-3862-A428-AAB12BBCA53D}"/>
              </a:ext>
            </a:extLst>
          </p:cNvPr>
          <p:cNvSpPr txBox="1">
            <a:spLocks/>
          </p:cNvSpPr>
          <p:nvPr/>
        </p:nvSpPr>
        <p:spPr>
          <a:xfrm>
            <a:off x="1164133" y="699849"/>
            <a:ext cx="9863733" cy="88737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Escenario Previo: </a:t>
            </a:r>
            <a:r>
              <a:rPr lang="es-ES_tradnl" sz="3200" dirty="0"/>
              <a:t>TSAEXPP</a:t>
            </a:r>
            <a:r>
              <a:rPr lang="es-ES_tradnl" sz="3200" b="0" dirty="0"/>
              <a:t>- </a:t>
            </a:r>
            <a:r>
              <a:rPr lang="es-ES_tradnl" sz="3200" dirty="0"/>
              <a:t>Autorización de exención de Persona</a:t>
            </a:r>
            <a:endParaRPr lang="es-CL" dirty="0"/>
          </a:p>
        </p:txBody>
      </p:sp>
      <p:sp>
        <p:nvSpPr>
          <p:cNvPr id="3" name="Rectángulo: esquinas redondeadas 2">
            <a:extLst>
              <a:ext uri="{FF2B5EF4-FFF2-40B4-BE49-F238E27FC236}">
                <a16:creationId xmlns:a16="http://schemas.microsoft.com/office/drawing/2014/main" id="{84BFAF35-D6AD-7333-5EBA-DC2B54050F33}"/>
              </a:ext>
            </a:extLst>
          </p:cNvPr>
          <p:cNvSpPr/>
          <p:nvPr/>
        </p:nvSpPr>
        <p:spPr>
          <a:xfrm>
            <a:off x="1304400" y="4714235"/>
            <a:ext cx="9583200" cy="88737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ES" sz="1200" b="1" dirty="0"/>
              <a:t>Aplicación masiva de Exenciones:</a:t>
            </a:r>
          </a:p>
          <a:p>
            <a:pPr algn="just"/>
            <a:r>
              <a:rPr lang="es-ES" sz="1200" dirty="0"/>
              <a:t>Asignación de beneficios a dos estudiantes al “DESCUENTOS BENEFICIOS” con cobertura de hasta el 50% del código de detalle ARAN, en donde contarían con un monto máximo de cobertura de 1.500 y 3.000 respectivamente.</a:t>
            </a:r>
            <a:endParaRPr lang="es-CL" sz="1200" dirty="0"/>
          </a:p>
        </p:txBody>
      </p:sp>
      <p:pic>
        <p:nvPicPr>
          <p:cNvPr id="7" name="Imagen 6">
            <a:extLst>
              <a:ext uri="{FF2B5EF4-FFF2-40B4-BE49-F238E27FC236}">
                <a16:creationId xmlns:a16="http://schemas.microsoft.com/office/drawing/2014/main" id="{142B722D-32A5-042E-0382-A5EC3552FEF2}"/>
              </a:ext>
            </a:extLst>
          </p:cNvPr>
          <p:cNvPicPr>
            <a:picLocks noChangeAspect="1"/>
          </p:cNvPicPr>
          <p:nvPr/>
        </p:nvPicPr>
        <p:blipFill>
          <a:blip r:embed="rId2"/>
          <a:stretch>
            <a:fillRect/>
          </a:stretch>
        </p:blipFill>
        <p:spPr>
          <a:xfrm>
            <a:off x="1304400" y="1832466"/>
            <a:ext cx="9583200" cy="2436999"/>
          </a:xfrm>
          <a:prstGeom prst="rect">
            <a:avLst/>
          </a:prstGeom>
        </p:spPr>
      </p:pic>
    </p:spTree>
    <p:extLst>
      <p:ext uri="{BB962C8B-B14F-4D97-AF65-F5344CB8AC3E}">
        <p14:creationId xmlns:p14="http://schemas.microsoft.com/office/powerpoint/2010/main" val="172223284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14081F-DAE2-4CCD-73BC-9E0FB0432CE9}"/>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6F97D9B1-951D-0DA8-6B42-74AA3E88FBDA}"/>
              </a:ext>
            </a:extLst>
          </p:cNvPr>
          <p:cNvSpPr txBox="1">
            <a:spLocks/>
          </p:cNvSpPr>
          <p:nvPr/>
        </p:nvSpPr>
        <p:spPr>
          <a:xfrm>
            <a:off x="1225035" y="708822"/>
            <a:ext cx="9662566" cy="950098"/>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Escenario Previo:</a:t>
            </a:r>
            <a:r>
              <a:rPr lang="es-ES_tradnl" sz="3200" dirty="0">
                <a:solidFill>
                  <a:schemeClr val="tx2"/>
                </a:solidFill>
              </a:rPr>
              <a:t> </a:t>
            </a:r>
            <a:r>
              <a:rPr lang="es-ES_tradnl" sz="3200" dirty="0"/>
              <a:t>GLAEXTR</a:t>
            </a:r>
            <a:r>
              <a:rPr lang="es-ES_tradnl" sz="3200" b="0" dirty="0"/>
              <a:t> – </a:t>
            </a:r>
            <a:r>
              <a:rPr lang="es-ES_tradnl" sz="3200" dirty="0"/>
              <a:t>Datos de extracción de Selección de Población</a:t>
            </a:r>
            <a:br>
              <a:rPr lang="es-CL" dirty="0"/>
            </a:br>
            <a:endParaRPr lang="es-CL" dirty="0"/>
          </a:p>
        </p:txBody>
      </p:sp>
      <p:sp>
        <p:nvSpPr>
          <p:cNvPr id="3" name="Rectángulo: esquinas redondeadas 2">
            <a:extLst>
              <a:ext uri="{FF2B5EF4-FFF2-40B4-BE49-F238E27FC236}">
                <a16:creationId xmlns:a16="http://schemas.microsoft.com/office/drawing/2014/main" id="{0DB9BCF6-9B60-E2D2-938D-4A0D16BCC29B}"/>
              </a:ext>
            </a:extLst>
          </p:cNvPr>
          <p:cNvSpPr/>
          <p:nvPr/>
        </p:nvSpPr>
        <p:spPr>
          <a:xfrm>
            <a:off x="1225035" y="3764464"/>
            <a:ext cx="9662565" cy="1904815"/>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ES" sz="1200" b="1" dirty="0"/>
              <a:t>Aplicación masiva de Exenciones:</a:t>
            </a:r>
          </a:p>
          <a:p>
            <a:pPr algn="just"/>
            <a:r>
              <a:rPr lang="es-ES" sz="1200" dirty="0"/>
              <a:t>Se realiza una selección de población con el conjunto de estudiantes que se desea aplicar masivamente los beneficios que tengan previamente asignados.</a:t>
            </a:r>
          </a:p>
          <a:p>
            <a:pPr algn="just"/>
            <a:endParaRPr lang="es-ES" sz="1200" dirty="0"/>
          </a:p>
          <a:p>
            <a:pPr algn="just"/>
            <a:r>
              <a:rPr lang="es-ES" sz="1200" b="1" dirty="0"/>
              <a:t>Nota</a:t>
            </a:r>
            <a:r>
              <a:rPr lang="es-ES" sz="1200" dirty="0"/>
              <a:t>: la selección de población puede generarse:</a:t>
            </a:r>
          </a:p>
          <a:p>
            <a:pPr marL="171450" indent="-171450" algn="just">
              <a:buFont typeface="Arial" panose="020B0604020202020204" pitchFamily="34" charset="0"/>
              <a:buChar char="•"/>
            </a:pPr>
            <a:r>
              <a:rPr lang="es-ES" sz="1200" dirty="0"/>
              <a:t>De forma manual</a:t>
            </a:r>
          </a:p>
          <a:p>
            <a:pPr marL="171450" indent="-171450" algn="just">
              <a:buFont typeface="Arial" panose="020B0604020202020204" pitchFamily="34" charset="0"/>
              <a:buChar char="•"/>
            </a:pPr>
            <a:r>
              <a:rPr lang="es-ES" sz="1200" dirty="0"/>
              <a:t>Por reglas de selección</a:t>
            </a:r>
          </a:p>
          <a:p>
            <a:pPr marL="171450" indent="-171450" algn="just">
              <a:buFont typeface="Arial" panose="020B0604020202020204" pitchFamily="34" charset="0"/>
              <a:buChar char="•"/>
            </a:pPr>
            <a:r>
              <a:rPr lang="es-ES" sz="1200" dirty="0"/>
              <a:t>Por carga de archivo .</a:t>
            </a:r>
            <a:r>
              <a:rPr lang="es-ES" sz="1200" dirty="0" err="1"/>
              <a:t>csv</a:t>
            </a:r>
            <a:endParaRPr lang="es-ES" sz="1200" dirty="0"/>
          </a:p>
          <a:p>
            <a:pPr algn="just"/>
            <a:r>
              <a:rPr lang="es-ES" sz="1200" dirty="0"/>
              <a:t>Para ampliar el detalle de cada proceso, consultar el instructivo </a:t>
            </a:r>
            <a:r>
              <a:rPr lang="es-ES" sz="1200" b="1" dirty="0">
                <a:solidFill>
                  <a:schemeClr val="accent6">
                    <a:lumMod val="40000"/>
                    <a:lumOff val="60000"/>
                  </a:schemeClr>
                </a:solidFill>
              </a:rPr>
              <a:t>BCD  09 - 4.5.6.1 Generar Selecciones de Población</a:t>
            </a:r>
            <a:r>
              <a:rPr lang="es-ES" sz="1200" dirty="0"/>
              <a:t>.</a:t>
            </a:r>
            <a:endParaRPr lang="es-CL" sz="1200" dirty="0"/>
          </a:p>
        </p:txBody>
      </p:sp>
      <p:pic>
        <p:nvPicPr>
          <p:cNvPr id="7" name="Imagen 6">
            <a:extLst>
              <a:ext uri="{FF2B5EF4-FFF2-40B4-BE49-F238E27FC236}">
                <a16:creationId xmlns:a16="http://schemas.microsoft.com/office/drawing/2014/main" id="{35ABA7C6-90E8-2FDB-3023-A9F3F21E0B46}"/>
              </a:ext>
            </a:extLst>
          </p:cNvPr>
          <p:cNvPicPr>
            <a:picLocks noChangeAspect="1"/>
          </p:cNvPicPr>
          <p:nvPr/>
        </p:nvPicPr>
        <p:blipFill>
          <a:blip r:embed="rId2"/>
          <a:stretch>
            <a:fillRect/>
          </a:stretch>
        </p:blipFill>
        <p:spPr>
          <a:xfrm>
            <a:off x="1304400" y="1959823"/>
            <a:ext cx="9583200" cy="1404004"/>
          </a:xfrm>
          <a:prstGeom prst="rect">
            <a:avLst/>
          </a:prstGeom>
        </p:spPr>
      </p:pic>
    </p:spTree>
    <p:extLst>
      <p:ext uri="{BB962C8B-B14F-4D97-AF65-F5344CB8AC3E}">
        <p14:creationId xmlns:p14="http://schemas.microsoft.com/office/powerpoint/2010/main" val="271572343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3649A6-B909-565F-CAFD-EA172A704B39}"/>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9F5CACC0-AECA-62B3-2ECE-3B0EC6A6CA54}"/>
              </a:ext>
            </a:extLst>
          </p:cNvPr>
          <p:cNvSpPr txBox="1">
            <a:spLocks/>
          </p:cNvSpPr>
          <p:nvPr/>
        </p:nvSpPr>
        <p:spPr>
          <a:xfrm>
            <a:off x="1217845" y="147706"/>
            <a:ext cx="9669755" cy="850670"/>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Operación: </a:t>
            </a:r>
            <a:r>
              <a:rPr lang="es-ES_tradnl" sz="3200" dirty="0"/>
              <a:t>TSRCBIL/ TSRRBIL Estado de cuentas de cobro de alumnos</a:t>
            </a:r>
            <a:br>
              <a:rPr lang="es-CL" dirty="0"/>
            </a:br>
            <a:endParaRPr lang="es-CL" dirty="0"/>
          </a:p>
        </p:txBody>
      </p:sp>
      <p:sp>
        <p:nvSpPr>
          <p:cNvPr id="3" name="Rectángulo redondeado 5">
            <a:extLst>
              <a:ext uri="{FF2B5EF4-FFF2-40B4-BE49-F238E27FC236}">
                <a16:creationId xmlns:a16="http://schemas.microsoft.com/office/drawing/2014/main" id="{D3303D75-D08D-6B7A-42EE-C1ED43A1AA5D}"/>
              </a:ext>
            </a:extLst>
          </p:cNvPr>
          <p:cNvSpPr/>
          <p:nvPr/>
        </p:nvSpPr>
        <p:spPr>
          <a:xfrm>
            <a:off x="1304400" y="5235790"/>
            <a:ext cx="9583200" cy="939083"/>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b="1" dirty="0"/>
              <a:t>Aplicación masiva de Exenciones / Contratos asignados a Estudiantes</a:t>
            </a:r>
            <a:r>
              <a:rPr lang="es-ES_tradnl" sz="1200" dirty="0"/>
              <a:t>:</a:t>
            </a:r>
          </a:p>
          <a:p>
            <a:r>
              <a:rPr lang="es-ES_tradnl" sz="1200" dirty="0"/>
              <a:t>En la sección “Control de Impresora”, campo “Impresora” se debe asignar la sentencia </a:t>
            </a:r>
            <a:r>
              <a:rPr lang="es-ES_tradnl" sz="1200" b="1" dirty="0"/>
              <a:t>DATABASE</a:t>
            </a:r>
            <a:r>
              <a:rPr lang="es-ES_tradnl" sz="1200" dirty="0"/>
              <a:t>. </a:t>
            </a:r>
          </a:p>
          <a:p>
            <a:r>
              <a:rPr lang="es-ES_tradnl" sz="1200" dirty="0"/>
              <a:t>Luego, en la sección de “Valores de Parámetro”, se deben asignar los parámetros principales para la ejecución del proceso según corresponda.</a:t>
            </a:r>
          </a:p>
        </p:txBody>
      </p:sp>
      <p:pic>
        <p:nvPicPr>
          <p:cNvPr id="6" name="Imagen 5">
            <a:extLst>
              <a:ext uri="{FF2B5EF4-FFF2-40B4-BE49-F238E27FC236}">
                <a16:creationId xmlns:a16="http://schemas.microsoft.com/office/drawing/2014/main" id="{7CB83637-9B4D-B951-4A43-1EEEF18117A7}"/>
              </a:ext>
            </a:extLst>
          </p:cNvPr>
          <p:cNvPicPr>
            <a:picLocks noChangeAspect="1"/>
          </p:cNvPicPr>
          <p:nvPr/>
        </p:nvPicPr>
        <p:blipFill>
          <a:blip r:embed="rId2"/>
          <a:stretch>
            <a:fillRect/>
          </a:stretch>
        </p:blipFill>
        <p:spPr>
          <a:xfrm>
            <a:off x="1304400" y="1152668"/>
            <a:ext cx="9583200" cy="3871293"/>
          </a:xfrm>
          <a:prstGeom prst="rect">
            <a:avLst/>
          </a:prstGeom>
        </p:spPr>
      </p:pic>
    </p:spTree>
    <p:extLst>
      <p:ext uri="{BB962C8B-B14F-4D97-AF65-F5344CB8AC3E}">
        <p14:creationId xmlns:p14="http://schemas.microsoft.com/office/powerpoint/2010/main" val="259325212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269378-DD30-A722-E30D-F22CCA07CE0D}"/>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5B739AAC-8289-F840-58A9-53F7A7AB81D2}"/>
              </a:ext>
            </a:extLst>
          </p:cNvPr>
          <p:cNvSpPr txBox="1">
            <a:spLocks/>
          </p:cNvSpPr>
          <p:nvPr/>
        </p:nvSpPr>
        <p:spPr>
          <a:xfrm>
            <a:off x="1197603" y="312328"/>
            <a:ext cx="9583200" cy="100496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Operación: </a:t>
            </a:r>
            <a:r>
              <a:rPr lang="es-ES_tradnl" sz="3200" dirty="0"/>
              <a:t>TSRCBIL/ TSRRBIL Estado de cuentas de cobro de alumnos</a:t>
            </a:r>
            <a:br>
              <a:rPr lang="es-CL" dirty="0"/>
            </a:br>
            <a:endParaRPr lang="es-CL" dirty="0"/>
          </a:p>
        </p:txBody>
      </p:sp>
      <p:sp>
        <p:nvSpPr>
          <p:cNvPr id="4" name="Rectángulo redondeado 5">
            <a:extLst>
              <a:ext uri="{FF2B5EF4-FFF2-40B4-BE49-F238E27FC236}">
                <a16:creationId xmlns:a16="http://schemas.microsoft.com/office/drawing/2014/main" id="{8E60BFE2-7D33-F862-2829-DBB0D4B529E5}"/>
              </a:ext>
            </a:extLst>
          </p:cNvPr>
          <p:cNvSpPr/>
          <p:nvPr/>
        </p:nvSpPr>
        <p:spPr>
          <a:xfrm>
            <a:off x="1304401" y="4706117"/>
            <a:ext cx="9583200" cy="1669186"/>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b="1" dirty="0"/>
              <a:t>Parámetros:</a:t>
            </a:r>
          </a:p>
          <a:p>
            <a:r>
              <a:rPr lang="es-ES_tradnl" sz="1200" b="1" dirty="0"/>
              <a:t>*01 </a:t>
            </a:r>
            <a:r>
              <a:rPr lang="es-ES_tradnl" sz="1200" dirty="0"/>
              <a:t>- Código numérico de 06 caracteres que representa el Periodo académico al cual se desea aplicar las exenciones y/o contratos.</a:t>
            </a:r>
          </a:p>
          <a:p>
            <a:r>
              <a:rPr lang="es-ES_tradnl" sz="1200" b="1" dirty="0"/>
              <a:t>*02 </a:t>
            </a:r>
            <a:r>
              <a:rPr lang="es-ES_tradnl" sz="1200" dirty="0"/>
              <a:t>-</a:t>
            </a:r>
            <a:r>
              <a:rPr lang="es-ES_tradnl" sz="1200" b="1" dirty="0"/>
              <a:t> </a:t>
            </a:r>
            <a:r>
              <a:rPr lang="es-ES_tradnl" sz="1200" dirty="0"/>
              <a:t>Corresponde a la fecha de ejecución del proceso.</a:t>
            </a:r>
          </a:p>
          <a:p>
            <a:r>
              <a:rPr lang="es-ES_tradnl" sz="1200" b="1" dirty="0"/>
              <a:t>*03</a:t>
            </a:r>
            <a:r>
              <a:rPr lang="es-ES_tradnl" sz="1200" dirty="0"/>
              <a:t> - Ingresar tipo de dirección para imprimir en factura. Generalmente se utiliza 1MA – dirección postal.</a:t>
            </a:r>
          </a:p>
          <a:p>
            <a:r>
              <a:rPr lang="es-ES_tradnl" sz="1200" b="1" dirty="0"/>
              <a:t>  04</a:t>
            </a:r>
            <a:r>
              <a:rPr lang="es-ES_tradnl" sz="1200" dirty="0"/>
              <a:t> - Campo en blanco genera proceso de toda la población requerida, ingresar ID si se desea ejecutar proceso especifico.</a:t>
            </a:r>
          </a:p>
          <a:p>
            <a:r>
              <a:rPr lang="es-ES_tradnl" sz="1200" b="1" dirty="0"/>
              <a:t>  05</a:t>
            </a:r>
            <a:r>
              <a:rPr lang="es-ES_tradnl" sz="1200" dirty="0"/>
              <a:t> - Indicar impresora destino, parámetro que generalmente se deja en blanco.</a:t>
            </a:r>
          </a:p>
          <a:p>
            <a:r>
              <a:rPr lang="es-ES_tradnl" sz="1200" b="1" dirty="0"/>
              <a:t>*06, 07, 08, 09 </a:t>
            </a:r>
            <a:r>
              <a:rPr lang="es-ES_tradnl" sz="1200" dirty="0"/>
              <a:t>– Corresponden a los parámetros de identificación de la selección de población a utilizar.</a:t>
            </a:r>
          </a:p>
          <a:p>
            <a:r>
              <a:rPr lang="es-ES_tradnl" sz="1200" b="1" dirty="0"/>
              <a:t>*10 </a:t>
            </a:r>
            <a:r>
              <a:rPr lang="es-ES_tradnl" sz="1200" dirty="0"/>
              <a:t>-</a:t>
            </a:r>
            <a:r>
              <a:rPr lang="es-ES_tradnl" sz="1200" b="1" dirty="0"/>
              <a:t> </a:t>
            </a:r>
            <a:r>
              <a:rPr lang="es-ES_tradnl" sz="1200" dirty="0"/>
              <a:t>Campo que generalmente se ejecuta en N,</a:t>
            </a:r>
            <a:r>
              <a:rPr lang="es-ES_tradnl" sz="1200" b="1" dirty="0"/>
              <a:t> </a:t>
            </a:r>
            <a:r>
              <a:rPr lang="en-US" sz="1200" dirty="0">
                <a:effectLst/>
              </a:rPr>
              <a:t>Ingresar </a:t>
            </a:r>
            <a:r>
              <a:rPr lang="en-US" sz="1200" b="1" dirty="0">
                <a:effectLst/>
              </a:rPr>
              <a:t>Y</a:t>
            </a:r>
            <a:r>
              <a:rPr lang="en-US" sz="1200" dirty="0">
                <a:effectLst/>
              </a:rPr>
              <a:t> para iniciar ciclo de espera de este proceso e impresora.</a:t>
            </a:r>
            <a:r>
              <a:rPr lang="es-ES_tradnl" sz="1200" b="1" dirty="0">
                <a:effectLst/>
              </a:rPr>
              <a:t> </a:t>
            </a:r>
            <a:endParaRPr lang="es-ES_tradnl" sz="1200" dirty="0"/>
          </a:p>
        </p:txBody>
      </p:sp>
      <p:pic>
        <p:nvPicPr>
          <p:cNvPr id="6" name="Imagen 5">
            <a:extLst>
              <a:ext uri="{FF2B5EF4-FFF2-40B4-BE49-F238E27FC236}">
                <a16:creationId xmlns:a16="http://schemas.microsoft.com/office/drawing/2014/main" id="{FF35A556-6103-2F97-B54A-8E722661D698}"/>
              </a:ext>
            </a:extLst>
          </p:cNvPr>
          <p:cNvPicPr>
            <a:picLocks noChangeAspect="1"/>
          </p:cNvPicPr>
          <p:nvPr/>
        </p:nvPicPr>
        <p:blipFill>
          <a:blip r:embed="rId2"/>
          <a:stretch>
            <a:fillRect/>
          </a:stretch>
        </p:blipFill>
        <p:spPr>
          <a:xfrm>
            <a:off x="1304400" y="1317290"/>
            <a:ext cx="9583200" cy="3131144"/>
          </a:xfrm>
          <a:prstGeom prst="rect">
            <a:avLst/>
          </a:prstGeom>
        </p:spPr>
      </p:pic>
    </p:spTree>
    <p:extLst>
      <p:ext uri="{BB962C8B-B14F-4D97-AF65-F5344CB8AC3E}">
        <p14:creationId xmlns:p14="http://schemas.microsoft.com/office/powerpoint/2010/main" val="257171654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FEF705-A49B-88F7-3270-61D29FF2648C}"/>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1B14CBC4-5E41-BA1D-48DD-12EB41F84978}"/>
              </a:ext>
            </a:extLst>
          </p:cNvPr>
          <p:cNvSpPr txBox="1">
            <a:spLocks/>
          </p:cNvSpPr>
          <p:nvPr/>
        </p:nvSpPr>
        <p:spPr>
          <a:xfrm>
            <a:off x="1078992" y="275722"/>
            <a:ext cx="9829800" cy="100496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Operación: </a:t>
            </a:r>
            <a:r>
              <a:rPr lang="es-ES_tradnl" sz="3200" dirty="0"/>
              <a:t>TSRCBIL/ TSRRBIL Estado de cuentas de </a:t>
            </a:r>
          </a:p>
          <a:p>
            <a:r>
              <a:rPr lang="es-ES_tradnl" sz="3200" dirty="0"/>
              <a:t>cobro de alumnos</a:t>
            </a:r>
            <a:br>
              <a:rPr lang="es-CL" dirty="0"/>
            </a:br>
            <a:endParaRPr lang="es-CL" dirty="0"/>
          </a:p>
        </p:txBody>
      </p:sp>
      <p:sp>
        <p:nvSpPr>
          <p:cNvPr id="5" name="Rectángulo redondeado 5">
            <a:extLst>
              <a:ext uri="{FF2B5EF4-FFF2-40B4-BE49-F238E27FC236}">
                <a16:creationId xmlns:a16="http://schemas.microsoft.com/office/drawing/2014/main" id="{70ADA143-6FE8-E53C-3495-FE609AE3B935}"/>
              </a:ext>
            </a:extLst>
          </p:cNvPr>
          <p:cNvSpPr/>
          <p:nvPr/>
        </p:nvSpPr>
        <p:spPr>
          <a:xfrm>
            <a:off x="1181087" y="4873648"/>
            <a:ext cx="9583200" cy="144391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b="1" dirty="0"/>
              <a:t>Parámetros:</a:t>
            </a:r>
          </a:p>
          <a:p>
            <a:r>
              <a:rPr lang="es-ES_tradnl" sz="1200" b="1" dirty="0"/>
              <a:t>*11 </a:t>
            </a:r>
            <a:r>
              <a:rPr lang="es-ES_tradnl" sz="1200" dirty="0"/>
              <a:t>–</a:t>
            </a:r>
            <a:r>
              <a:rPr lang="es-ES" sz="1200" dirty="0"/>
              <a:t>I</a:t>
            </a:r>
            <a:r>
              <a:rPr lang="es-ES" sz="1200" dirty="0">
                <a:effectLst/>
              </a:rPr>
              <a:t>ngresar Y para incluir cobros de intervalo de inscripción en ejecución del cobro, generalmente se ejecuta en N.  </a:t>
            </a:r>
            <a:endParaRPr lang="es-ES_tradnl" sz="1200" dirty="0"/>
          </a:p>
          <a:p>
            <a:r>
              <a:rPr lang="es-ES_tradnl" sz="1200" b="1" dirty="0"/>
              <a:t>  12 </a:t>
            </a:r>
            <a:r>
              <a:rPr lang="es-ES_tradnl" sz="1200" dirty="0"/>
              <a:t>–</a:t>
            </a:r>
            <a:r>
              <a:rPr lang="es-ES_tradnl" sz="1200" b="1" dirty="0"/>
              <a:t> </a:t>
            </a:r>
            <a:r>
              <a:rPr lang="es-ES" sz="1200" dirty="0">
                <a:effectLst/>
              </a:rPr>
              <a:t>Ingresar Y o N según corresponda.</a:t>
            </a:r>
            <a:endParaRPr lang="es-ES_tradnl" sz="1200" b="1" dirty="0"/>
          </a:p>
          <a:p>
            <a:r>
              <a:rPr lang="es-ES_tradnl" sz="1200" b="1" dirty="0"/>
              <a:t>  13 </a:t>
            </a:r>
            <a:r>
              <a:rPr lang="es-ES_tradnl" sz="1200" dirty="0"/>
              <a:t>-</a:t>
            </a:r>
            <a:r>
              <a:rPr lang="es-ES_tradnl" sz="1200" b="1" dirty="0"/>
              <a:t> </a:t>
            </a:r>
            <a:r>
              <a:rPr lang="es-ES_tradnl" sz="1200" dirty="0"/>
              <a:t>Ingresar </a:t>
            </a:r>
            <a:r>
              <a:rPr lang="es-ES_tradnl" sz="1200" b="1" dirty="0"/>
              <a:t>Y</a:t>
            </a:r>
            <a:r>
              <a:rPr lang="es-ES_tradnl" sz="1200" dirty="0"/>
              <a:t> para </a:t>
            </a:r>
            <a:r>
              <a:rPr lang="es-ES" sz="1200" dirty="0">
                <a:effectLst/>
              </a:rPr>
              <a:t>Actualizar y </a:t>
            </a:r>
            <a:r>
              <a:rPr lang="es-ES" sz="1200" dirty="0"/>
              <a:t>A</a:t>
            </a:r>
            <a:r>
              <a:rPr lang="es-ES" sz="1200" dirty="0">
                <a:effectLst/>
              </a:rPr>
              <a:t>ceptar cargos en </a:t>
            </a:r>
            <a:r>
              <a:rPr lang="es-ES" sz="1200" dirty="0" err="1">
                <a:effectLst/>
              </a:rPr>
              <a:t>CxC</a:t>
            </a:r>
            <a:r>
              <a:rPr lang="es-ES" sz="1200" dirty="0">
                <a:effectLst/>
              </a:rPr>
              <a:t> si se crean nuevos créditos en cuenta.</a:t>
            </a:r>
            <a:r>
              <a:rPr lang="es-ES_tradnl" sz="1200" dirty="0"/>
              <a:t> </a:t>
            </a:r>
          </a:p>
          <a:p>
            <a:r>
              <a:rPr lang="es-ES_tradnl" sz="1200" b="1" dirty="0"/>
              <a:t>*14 </a:t>
            </a:r>
            <a:r>
              <a:rPr lang="es-ES_tradnl" sz="1200" dirty="0"/>
              <a:t>- </a:t>
            </a:r>
            <a:r>
              <a:rPr lang="es-ES_tradnl" sz="1200" b="1" dirty="0"/>
              <a:t> </a:t>
            </a:r>
            <a:r>
              <a:rPr lang="es-ES_tradnl" sz="1200" dirty="0"/>
              <a:t>Campo para seleccionar según opciones habilitadas, generalmente se ejecuta con la opción APPLYCRED que calcula y aplica créditos por contrato, exención y depósitos. </a:t>
            </a:r>
          </a:p>
          <a:p>
            <a:r>
              <a:rPr lang="es-ES_tradnl" sz="1200" b="1" dirty="0"/>
              <a:t>  15 </a:t>
            </a:r>
            <a:r>
              <a:rPr lang="es-ES_tradnl" sz="1200" dirty="0"/>
              <a:t>- </a:t>
            </a:r>
            <a:r>
              <a:rPr lang="es-ES" sz="1200" dirty="0">
                <a:effectLst/>
              </a:rPr>
              <a:t>Código de divisa en el que se producirán las facturas/estados de cuenta. Campo no obligatorio se puede ejecutar en blanco.</a:t>
            </a:r>
            <a:endParaRPr lang="es-ES_tradnl" sz="1200" b="1" dirty="0"/>
          </a:p>
        </p:txBody>
      </p:sp>
      <p:pic>
        <p:nvPicPr>
          <p:cNvPr id="4" name="Imagen 3">
            <a:extLst>
              <a:ext uri="{FF2B5EF4-FFF2-40B4-BE49-F238E27FC236}">
                <a16:creationId xmlns:a16="http://schemas.microsoft.com/office/drawing/2014/main" id="{8DA5FFA4-1C72-9B5B-A203-CFD6AA5B25AA}"/>
              </a:ext>
            </a:extLst>
          </p:cNvPr>
          <p:cNvPicPr>
            <a:picLocks noChangeAspect="1"/>
          </p:cNvPicPr>
          <p:nvPr/>
        </p:nvPicPr>
        <p:blipFill>
          <a:blip r:embed="rId2"/>
          <a:stretch>
            <a:fillRect/>
          </a:stretch>
        </p:blipFill>
        <p:spPr>
          <a:xfrm>
            <a:off x="1181086" y="1389175"/>
            <a:ext cx="9583200" cy="3221075"/>
          </a:xfrm>
          <a:prstGeom prst="rect">
            <a:avLst/>
          </a:prstGeom>
        </p:spPr>
      </p:pic>
    </p:spTree>
    <p:extLst>
      <p:ext uri="{BB962C8B-B14F-4D97-AF65-F5344CB8AC3E}">
        <p14:creationId xmlns:p14="http://schemas.microsoft.com/office/powerpoint/2010/main" val="321641426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1A0D08-BEB2-085E-5530-F84E2F19F8EB}"/>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C919A5AB-E7F2-EC93-7A5F-4665DA277ED3}"/>
              </a:ext>
            </a:extLst>
          </p:cNvPr>
          <p:cNvSpPr txBox="1">
            <a:spLocks/>
          </p:cNvSpPr>
          <p:nvPr/>
        </p:nvSpPr>
        <p:spPr>
          <a:xfrm>
            <a:off x="1222792" y="295568"/>
            <a:ext cx="10082240" cy="100496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Operación: </a:t>
            </a:r>
            <a:r>
              <a:rPr lang="es-ES_tradnl" sz="3200" dirty="0"/>
              <a:t>TSRCBIL/ TSRRBIL Estado de cuentas de </a:t>
            </a:r>
          </a:p>
          <a:p>
            <a:r>
              <a:rPr lang="es-ES_tradnl" sz="3200" dirty="0"/>
              <a:t>cobro de alumnos</a:t>
            </a:r>
            <a:br>
              <a:rPr lang="es-CL" dirty="0"/>
            </a:br>
            <a:endParaRPr lang="es-CL" dirty="0"/>
          </a:p>
        </p:txBody>
      </p:sp>
      <p:sp>
        <p:nvSpPr>
          <p:cNvPr id="3" name="Rectángulo redondeado 5">
            <a:extLst>
              <a:ext uri="{FF2B5EF4-FFF2-40B4-BE49-F238E27FC236}">
                <a16:creationId xmlns:a16="http://schemas.microsoft.com/office/drawing/2014/main" id="{0BEB2004-3096-02AF-97D5-F0A84BB95719}"/>
              </a:ext>
            </a:extLst>
          </p:cNvPr>
          <p:cNvSpPr/>
          <p:nvPr/>
        </p:nvSpPr>
        <p:spPr>
          <a:xfrm>
            <a:off x="1222792" y="4937760"/>
            <a:ext cx="9618139" cy="1438296"/>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b="1" dirty="0"/>
              <a:t>Parámetros:</a:t>
            </a:r>
          </a:p>
          <a:p>
            <a:r>
              <a:rPr lang="es-ES_tradnl" sz="1200" b="1" dirty="0"/>
              <a:t>*16 </a:t>
            </a:r>
            <a:r>
              <a:rPr lang="es-ES_tradnl" sz="1200" dirty="0"/>
              <a:t>- </a:t>
            </a:r>
            <a:r>
              <a:rPr lang="en-US" sz="1200" dirty="0">
                <a:effectLst/>
              </a:rPr>
              <a:t>Ingresar fecha de cobro.</a:t>
            </a:r>
          </a:p>
          <a:p>
            <a:r>
              <a:rPr lang="en-US" sz="1200" b="1" dirty="0"/>
              <a:t>*17</a:t>
            </a:r>
            <a:r>
              <a:rPr lang="en-US" sz="1200" dirty="0"/>
              <a:t> </a:t>
            </a:r>
            <a:r>
              <a:rPr lang="es-ES_tradnl" sz="1200" dirty="0"/>
              <a:t>- Ingresar fecha de vencimiento.</a:t>
            </a:r>
            <a:r>
              <a:rPr lang="en-US" sz="1200" dirty="0"/>
              <a:t> </a:t>
            </a:r>
          </a:p>
          <a:p>
            <a:r>
              <a:rPr lang="en-US" sz="1200" b="1" dirty="0"/>
              <a:t>*18</a:t>
            </a:r>
            <a:r>
              <a:rPr lang="en-US" sz="1200" dirty="0"/>
              <a:t> </a:t>
            </a:r>
            <a:r>
              <a:rPr lang="es-ES_tradnl" sz="1200" dirty="0"/>
              <a:t>- Ingresar </a:t>
            </a:r>
            <a:r>
              <a:rPr lang="es-ES_tradnl" sz="1200" b="1" dirty="0"/>
              <a:t>Y</a:t>
            </a:r>
            <a:r>
              <a:rPr lang="es-ES_tradnl" sz="1200" dirty="0"/>
              <a:t> para imprimir detalles futuros (utilizado). </a:t>
            </a:r>
          </a:p>
          <a:p>
            <a:r>
              <a:rPr lang="es-ES_tradnl" sz="1200" b="1" dirty="0"/>
              <a:t>  19</a:t>
            </a:r>
            <a:r>
              <a:rPr lang="es-ES_tradnl" sz="1200" dirty="0"/>
              <a:t> - </a:t>
            </a:r>
            <a:r>
              <a:rPr lang="es-ES" sz="1200" dirty="0">
                <a:effectLst/>
              </a:rPr>
              <a:t>Fecha a usar en lugar de 31-DIC-99 al imprimir elementos futuros. Campo no obligatorio generalmente se ejecuta en blanco.</a:t>
            </a:r>
          </a:p>
          <a:p>
            <a:r>
              <a:rPr lang="es-ES" sz="1200" b="1" dirty="0"/>
              <a:t>  20</a:t>
            </a:r>
            <a:r>
              <a:rPr lang="es-ES" sz="1200" dirty="0"/>
              <a:t> -</a:t>
            </a:r>
            <a:r>
              <a:rPr lang="es-ES_tradnl" sz="1200" b="1" dirty="0"/>
              <a:t> </a:t>
            </a:r>
            <a:r>
              <a:rPr lang="es-ES_tradnl" sz="1200" dirty="0"/>
              <a:t>Campo para seleccionar según opciones habilitadas, generalmente se ejecuta con la opción ZN</a:t>
            </a:r>
            <a:r>
              <a:rPr lang="es-ES" sz="1200" dirty="0"/>
              <a:t> imprime en Zip Código y alfa/último</a:t>
            </a:r>
          </a:p>
          <a:p>
            <a:r>
              <a:rPr lang="es-ES" sz="1200" dirty="0"/>
              <a:t>orden de nombres (predeterminado).</a:t>
            </a:r>
            <a:endParaRPr lang="es-ES_tradnl" sz="1200" dirty="0"/>
          </a:p>
        </p:txBody>
      </p:sp>
      <p:pic>
        <p:nvPicPr>
          <p:cNvPr id="4" name="Imagen 3">
            <a:extLst>
              <a:ext uri="{FF2B5EF4-FFF2-40B4-BE49-F238E27FC236}">
                <a16:creationId xmlns:a16="http://schemas.microsoft.com/office/drawing/2014/main" id="{56DA6360-269B-77DB-84E2-B9B357590A6E}"/>
              </a:ext>
            </a:extLst>
          </p:cNvPr>
          <p:cNvPicPr>
            <a:picLocks noChangeAspect="1"/>
          </p:cNvPicPr>
          <p:nvPr/>
        </p:nvPicPr>
        <p:blipFill>
          <a:blip r:embed="rId2"/>
          <a:stretch>
            <a:fillRect/>
          </a:stretch>
        </p:blipFill>
        <p:spPr>
          <a:xfrm>
            <a:off x="1257731" y="1448392"/>
            <a:ext cx="9583200" cy="3221075"/>
          </a:xfrm>
          <a:prstGeom prst="rect">
            <a:avLst/>
          </a:prstGeom>
        </p:spPr>
      </p:pic>
    </p:spTree>
    <p:extLst>
      <p:ext uri="{BB962C8B-B14F-4D97-AF65-F5344CB8AC3E}">
        <p14:creationId xmlns:p14="http://schemas.microsoft.com/office/powerpoint/2010/main" val="10246619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FBAFA4-BEE3-ED8F-F604-2A6D2BA6E918}"/>
            </a:ext>
          </a:extLst>
        </p:cNvPr>
        <p:cNvGrpSpPr/>
        <p:nvPr/>
      </p:nvGrpSpPr>
      <p:grpSpPr>
        <a:xfrm>
          <a:off x="0" y="0"/>
          <a:ext cx="0" cy="0"/>
          <a:chOff x="0" y="0"/>
          <a:chExt cx="0" cy="0"/>
        </a:xfrm>
      </p:grpSpPr>
      <p:pic>
        <p:nvPicPr>
          <p:cNvPr id="6" name="Imagen 5">
            <a:extLst>
              <a:ext uri="{FF2B5EF4-FFF2-40B4-BE49-F238E27FC236}">
                <a16:creationId xmlns:a16="http://schemas.microsoft.com/office/drawing/2014/main" id="{6EE66563-E470-D662-E8F7-9B0C15A67796}"/>
              </a:ext>
            </a:extLst>
          </p:cNvPr>
          <p:cNvPicPr>
            <a:picLocks noChangeAspect="1"/>
          </p:cNvPicPr>
          <p:nvPr/>
        </p:nvPicPr>
        <p:blipFill>
          <a:blip r:embed="rId2"/>
          <a:stretch>
            <a:fillRect/>
          </a:stretch>
        </p:blipFill>
        <p:spPr>
          <a:xfrm>
            <a:off x="1304400" y="1111333"/>
            <a:ext cx="9583200" cy="4099900"/>
          </a:xfrm>
          <a:prstGeom prst="rect">
            <a:avLst/>
          </a:prstGeom>
        </p:spPr>
      </p:pic>
      <p:sp>
        <p:nvSpPr>
          <p:cNvPr id="2" name="Título 3">
            <a:extLst>
              <a:ext uri="{FF2B5EF4-FFF2-40B4-BE49-F238E27FC236}">
                <a16:creationId xmlns:a16="http://schemas.microsoft.com/office/drawing/2014/main" id="{39123BD6-540A-7B0C-35F8-3EC7AD989653}"/>
              </a:ext>
            </a:extLst>
          </p:cNvPr>
          <p:cNvSpPr txBox="1">
            <a:spLocks/>
          </p:cNvSpPr>
          <p:nvPr/>
        </p:nvSpPr>
        <p:spPr>
          <a:xfrm>
            <a:off x="1304401" y="106371"/>
            <a:ext cx="9583200" cy="100496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Operación: </a:t>
            </a:r>
            <a:r>
              <a:rPr lang="es-ES_tradnl" sz="3200" dirty="0"/>
              <a:t>TSRCBIL/ TSRRBIL Estado de cuentas de </a:t>
            </a:r>
          </a:p>
          <a:p>
            <a:r>
              <a:rPr lang="es-ES_tradnl" sz="3200" dirty="0"/>
              <a:t>cobro de alumnos</a:t>
            </a:r>
            <a:br>
              <a:rPr lang="es-CL" dirty="0"/>
            </a:br>
            <a:endParaRPr lang="es-CL" dirty="0"/>
          </a:p>
        </p:txBody>
      </p:sp>
      <p:sp>
        <p:nvSpPr>
          <p:cNvPr id="5" name="Rectángulo redondeado 5">
            <a:extLst>
              <a:ext uri="{FF2B5EF4-FFF2-40B4-BE49-F238E27FC236}">
                <a16:creationId xmlns:a16="http://schemas.microsoft.com/office/drawing/2014/main" id="{D4A77743-C584-CE63-DD83-E61661EE402B}"/>
              </a:ext>
            </a:extLst>
          </p:cNvPr>
          <p:cNvSpPr/>
          <p:nvPr/>
        </p:nvSpPr>
        <p:spPr>
          <a:xfrm>
            <a:off x="1304400" y="5284385"/>
            <a:ext cx="9583200" cy="1280805"/>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b="1" dirty="0"/>
              <a:t>Parámetros: </a:t>
            </a:r>
          </a:p>
          <a:p>
            <a:r>
              <a:rPr lang="es-ES_tradnl" sz="1200" b="1" dirty="0"/>
              <a:t>21</a:t>
            </a:r>
            <a:r>
              <a:rPr lang="es-ES_tradnl" sz="1200" dirty="0"/>
              <a:t> - </a:t>
            </a:r>
            <a:r>
              <a:rPr lang="es-ES" sz="1200" dirty="0">
                <a:effectLst/>
              </a:rPr>
              <a:t>Ingr</a:t>
            </a:r>
            <a:r>
              <a:rPr lang="es-ES" sz="1200" dirty="0"/>
              <a:t>esar </a:t>
            </a:r>
            <a:r>
              <a:rPr lang="es-ES" sz="1200" b="1" dirty="0">
                <a:effectLst/>
              </a:rPr>
              <a:t>Y</a:t>
            </a:r>
            <a:r>
              <a:rPr lang="es-ES" sz="1200" dirty="0">
                <a:effectLst/>
              </a:rPr>
              <a:t> para Crear </a:t>
            </a:r>
            <a:r>
              <a:rPr lang="es-ES" sz="1200" dirty="0" err="1"/>
              <a:t>c</a:t>
            </a:r>
            <a:r>
              <a:rPr lang="es-ES" sz="1200" dirty="0" err="1">
                <a:effectLst/>
              </a:rPr>
              <a:t>réd</a:t>
            </a:r>
            <a:r>
              <a:rPr lang="es-ES" sz="1200" dirty="0">
                <a:effectLst/>
              </a:rPr>
              <a:t> </a:t>
            </a:r>
            <a:r>
              <a:rPr lang="es-ES" sz="1200" dirty="0" err="1">
                <a:effectLst/>
              </a:rPr>
              <a:t>contr</a:t>
            </a:r>
            <a:r>
              <a:rPr lang="es-ES" sz="1200" dirty="0">
                <a:effectLst/>
              </a:rPr>
              <a:t>, </a:t>
            </a:r>
            <a:r>
              <a:rPr lang="es-ES" sz="1200" dirty="0" err="1">
                <a:effectLst/>
              </a:rPr>
              <a:t>dep</a:t>
            </a:r>
            <a:r>
              <a:rPr lang="es-ES" sz="1200" dirty="0">
                <a:effectLst/>
              </a:rPr>
              <a:t>, </a:t>
            </a:r>
            <a:r>
              <a:rPr lang="es-ES" sz="1200" dirty="0" err="1">
                <a:effectLst/>
              </a:rPr>
              <a:t>exenc</a:t>
            </a:r>
            <a:endParaRPr lang="es-ES_tradnl" sz="1200" dirty="0"/>
          </a:p>
          <a:p>
            <a:r>
              <a:rPr lang="es-ES_tradnl" sz="1200" b="1" dirty="0"/>
              <a:t>22</a:t>
            </a:r>
            <a:r>
              <a:rPr lang="es-ES_tradnl" sz="1200" dirty="0"/>
              <a:t> - Ingresar </a:t>
            </a:r>
            <a:r>
              <a:rPr lang="es-ES_tradnl" sz="1200" b="1" dirty="0"/>
              <a:t>N </a:t>
            </a:r>
            <a:r>
              <a:rPr lang="es-ES_tradnl" sz="1200" dirty="0"/>
              <a:t>para Incluir saldos en cero. Generalmente se ejecuta en N.</a:t>
            </a:r>
          </a:p>
          <a:p>
            <a:r>
              <a:rPr lang="es-ES_tradnl" sz="1200" b="1" dirty="0"/>
              <a:t>23 </a:t>
            </a:r>
            <a:r>
              <a:rPr lang="es-ES_tradnl" sz="1200" dirty="0"/>
              <a:t>- Campo </a:t>
            </a:r>
            <a:r>
              <a:rPr lang="es-CO" sz="1200" dirty="0"/>
              <a:t>Saldo mínimo de cuenta ingresar -9999999.99</a:t>
            </a:r>
            <a:endParaRPr lang="es-ES_tradnl" sz="1200" dirty="0"/>
          </a:p>
          <a:p>
            <a:r>
              <a:rPr lang="es-ES_tradnl" sz="1200" b="1" dirty="0"/>
              <a:t>24 </a:t>
            </a:r>
            <a:r>
              <a:rPr lang="es-ES_tradnl" sz="1200" dirty="0"/>
              <a:t>- </a:t>
            </a:r>
            <a:r>
              <a:rPr lang="es-ES" sz="1200" dirty="0">
                <a:effectLst/>
              </a:rPr>
              <a:t>Ingresar % para </a:t>
            </a:r>
            <a:r>
              <a:rPr lang="es-ES" sz="1200" dirty="0" err="1">
                <a:effectLst/>
              </a:rPr>
              <a:t>Cód</a:t>
            </a:r>
            <a:r>
              <a:rPr lang="es-ES" sz="1200" dirty="0">
                <a:effectLst/>
              </a:rPr>
              <a:t> detalles cobro (% válido)</a:t>
            </a:r>
          </a:p>
          <a:p>
            <a:r>
              <a:rPr lang="es-ES" sz="1200" b="1" dirty="0"/>
              <a:t>25 – </a:t>
            </a:r>
            <a:r>
              <a:rPr lang="es-ES" sz="1200" dirty="0">
                <a:effectLst/>
              </a:rPr>
              <a:t>Ingresar %</a:t>
            </a:r>
            <a:r>
              <a:rPr lang="es-ES" sz="1200" dirty="0"/>
              <a:t> </a:t>
            </a:r>
            <a:r>
              <a:rPr lang="es-ES" sz="1200" dirty="0" err="1"/>
              <a:t>Cta</a:t>
            </a:r>
            <a:r>
              <a:rPr lang="es-ES" sz="1200" dirty="0"/>
              <a:t> P-persona, C-compañía o %</a:t>
            </a:r>
            <a:r>
              <a:rPr lang="es-ES_tradnl" sz="1200" dirty="0"/>
              <a:t> </a:t>
            </a:r>
          </a:p>
        </p:txBody>
      </p:sp>
    </p:spTree>
    <p:extLst>
      <p:ext uri="{BB962C8B-B14F-4D97-AF65-F5344CB8AC3E}">
        <p14:creationId xmlns:p14="http://schemas.microsoft.com/office/powerpoint/2010/main" val="267205205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1CF52F-DACC-0FBA-4733-1CCBB17333AD}"/>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B92FD6CA-D5AD-3267-AF30-A765C36FE280}"/>
              </a:ext>
            </a:extLst>
          </p:cNvPr>
          <p:cNvSpPr txBox="1">
            <a:spLocks/>
          </p:cNvSpPr>
          <p:nvPr/>
        </p:nvSpPr>
        <p:spPr>
          <a:xfrm>
            <a:off x="1383368" y="74554"/>
            <a:ext cx="9656066" cy="100496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Operación: </a:t>
            </a:r>
            <a:r>
              <a:rPr lang="es-ES_tradnl" sz="3200" dirty="0"/>
              <a:t>TSRCBIL/ TSRRBIL Estado de cuentas de </a:t>
            </a:r>
          </a:p>
          <a:p>
            <a:r>
              <a:rPr lang="es-ES_tradnl" sz="3200" dirty="0"/>
              <a:t>cobro de alumnos</a:t>
            </a:r>
            <a:br>
              <a:rPr lang="es-CL" dirty="0"/>
            </a:br>
            <a:endParaRPr lang="es-CL" dirty="0"/>
          </a:p>
        </p:txBody>
      </p:sp>
      <p:sp>
        <p:nvSpPr>
          <p:cNvPr id="5" name="Rectángulo redondeado 5">
            <a:extLst>
              <a:ext uri="{FF2B5EF4-FFF2-40B4-BE49-F238E27FC236}">
                <a16:creationId xmlns:a16="http://schemas.microsoft.com/office/drawing/2014/main" id="{91FCB296-961A-1980-0702-57D40CFB089B}"/>
              </a:ext>
            </a:extLst>
          </p:cNvPr>
          <p:cNvSpPr/>
          <p:nvPr/>
        </p:nvSpPr>
        <p:spPr>
          <a:xfrm>
            <a:off x="1463276" y="5225681"/>
            <a:ext cx="9583200" cy="1280805"/>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b="1" dirty="0"/>
              <a:t>Parámetros: </a:t>
            </a:r>
          </a:p>
          <a:p>
            <a:r>
              <a:rPr lang="es-ES_tradnl" sz="1200" b="1" dirty="0"/>
              <a:t>*26</a:t>
            </a:r>
            <a:r>
              <a:rPr lang="es-ES_tradnl" sz="1200" dirty="0"/>
              <a:t> - </a:t>
            </a:r>
            <a:r>
              <a:rPr lang="es-ES" sz="1200" dirty="0">
                <a:effectLst/>
              </a:rPr>
              <a:t>Ingr</a:t>
            </a:r>
            <a:r>
              <a:rPr lang="es-ES" sz="1200" dirty="0"/>
              <a:t>esar </a:t>
            </a:r>
            <a:r>
              <a:rPr lang="es-ES" sz="1200" b="1" dirty="0">
                <a:effectLst/>
              </a:rPr>
              <a:t>Y</a:t>
            </a:r>
            <a:r>
              <a:rPr lang="es-ES" sz="1200" dirty="0">
                <a:effectLst/>
              </a:rPr>
              <a:t> para imprimir notas.</a:t>
            </a:r>
            <a:endParaRPr lang="es-ES_tradnl" sz="1200" dirty="0"/>
          </a:p>
          <a:p>
            <a:r>
              <a:rPr lang="es-ES_tradnl" sz="1200" b="1" dirty="0"/>
              <a:t>*27</a:t>
            </a:r>
            <a:r>
              <a:rPr lang="es-ES_tradnl" sz="1200" dirty="0"/>
              <a:t> - Ingresar </a:t>
            </a:r>
            <a:r>
              <a:rPr lang="es-ES_tradnl" sz="1200" b="1" dirty="0"/>
              <a:t>Y </a:t>
            </a:r>
            <a:r>
              <a:rPr lang="es-ES_tradnl" sz="1200" dirty="0"/>
              <a:t>para imprimir depósitos. Generalmente se ejecuta en Y.</a:t>
            </a:r>
          </a:p>
          <a:p>
            <a:r>
              <a:rPr lang="es-ES_tradnl" sz="1200" b="1" dirty="0"/>
              <a:t>*28 </a:t>
            </a:r>
            <a:r>
              <a:rPr lang="es-ES_tradnl" sz="1200" dirty="0"/>
              <a:t>- Campo para seleccionar según opciones habilitadas, </a:t>
            </a:r>
            <a:r>
              <a:rPr lang="es-ES" sz="1200" dirty="0">
                <a:effectLst/>
              </a:rPr>
              <a:t>N-ninguno, C-solo contrato, E-solo exención, B- ambos.</a:t>
            </a:r>
            <a:endParaRPr lang="es-ES_tradnl" sz="1200" dirty="0"/>
          </a:p>
          <a:p>
            <a:r>
              <a:rPr lang="es-ES_tradnl" sz="1200" b="1" dirty="0"/>
              <a:t>  29 </a:t>
            </a:r>
            <a:r>
              <a:rPr lang="es-ES_tradnl" sz="1200" dirty="0"/>
              <a:t>- </a:t>
            </a:r>
            <a:r>
              <a:rPr lang="es-ES" sz="1200" dirty="0">
                <a:effectLst/>
              </a:rPr>
              <a:t>Ingresar Y para hacer cálculos dinámicos de monto vencido y planes pago plazos. Campo no obligatorio se puede ejecutar en blanco.</a:t>
            </a:r>
          </a:p>
          <a:p>
            <a:r>
              <a:rPr lang="es-ES" sz="1200" b="1" dirty="0"/>
              <a:t>  30 – </a:t>
            </a:r>
            <a:r>
              <a:rPr lang="es-ES" sz="1200" dirty="0">
                <a:effectLst/>
              </a:rPr>
              <a:t>Ingresar Y p/imprimir notas ayuda </a:t>
            </a:r>
            <a:r>
              <a:rPr lang="es-ES" sz="1200" dirty="0" err="1">
                <a:effectLst/>
              </a:rPr>
              <a:t>financ</a:t>
            </a:r>
            <a:r>
              <a:rPr lang="es-ES" sz="1200" dirty="0">
                <a:effectLst/>
              </a:rPr>
              <a:t> p/</a:t>
            </a:r>
            <a:r>
              <a:rPr lang="es-ES" sz="1200" dirty="0" err="1">
                <a:effectLst/>
              </a:rPr>
              <a:t>prdo</a:t>
            </a:r>
            <a:r>
              <a:rPr lang="es-ES" sz="1200" dirty="0">
                <a:effectLst/>
              </a:rPr>
              <a:t> </a:t>
            </a:r>
            <a:r>
              <a:rPr lang="es-ES" sz="1200" dirty="0" err="1">
                <a:effectLst/>
              </a:rPr>
              <a:t>ejec</a:t>
            </a:r>
            <a:r>
              <a:rPr lang="es-ES" sz="1200" dirty="0">
                <a:effectLst/>
              </a:rPr>
              <a:t> aplicable o </a:t>
            </a:r>
            <a:r>
              <a:rPr lang="es-ES" sz="1200" dirty="0" err="1">
                <a:effectLst/>
              </a:rPr>
              <a:t>interv</a:t>
            </a:r>
            <a:r>
              <a:rPr lang="es-ES" sz="1200" dirty="0">
                <a:effectLst/>
              </a:rPr>
              <a:t> </a:t>
            </a:r>
            <a:r>
              <a:rPr lang="es-ES" sz="1200" dirty="0" err="1">
                <a:effectLst/>
              </a:rPr>
              <a:t>inscr</a:t>
            </a:r>
            <a:r>
              <a:rPr lang="es-ES" sz="1200" dirty="0"/>
              <a:t>, generalmente se ejecuta en N.</a:t>
            </a:r>
            <a:r>
              <a:rPr lang="es-ES_tradnl" sz="1200" dirty="0"/>
              <a:t> </a:t>
            </a:r>
          </a:p>
        </p:txBody>
      </p:sp>
      <p:pic>
        <p:nvPicPr>
          <p:cNvPr id="3" name="Imagen 2">
            <a:extLst>
              <a:ext uri="{FF2B5EF4-FFF2-40B4-BE49-F238E27FC236}">
                <a16:creationId xmlns:a16="http://schemas.microsoft.com/office/drawing/2014/main" id="{AAC40FC6-CC26-635F-19CD-FAEDF6201475}"/>
              </a:ext>
            </a:extLst>
          </p:cNvPr>
          <p:cNvPicPr>
            <a:picLocks noChangeAspect="1"/>
          </p:cNvPicPr>
          <p:nvPr/>
        </p:nvPicPr>
        <p:blipFill>
          <a:blip r:embed="rId2"/>
          <a:stretch>
            <a:fillRect/>
          </a:stretch>
        </p:blipFill>
        <p:spPr>
          <a:xfrm>
            <a:off x="1463275" y="991916"/>
            <a:ext cx="9583200" cy="4099900"/>
          </a:xfrm>
          <a:prstGeom prst="rect">
            <a:avLst/>
          </a:prstGeom>
        </p:spPr>
      </p:pic>
    </p:spTree>
    <p:extLst>
      <p:ext uri="{BB962C8B-B14F-4D97-AF65-F5344CB8AC3E}">
        <p14:creationId xmlns:p14="http://schemas.microsoft.com/office/powerpoint/2010/main" val="202475714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469116-C62A-B12D-6706-AA2E6BD0E7DE}"/>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320DDF12-3251-8A75-6001-5D7FD3CCD30D}"/>
              </a:ext>
            </a:extLst>
          </p:cNvPr>
          <p:cNvSpPr txBox="1">
            <a:spLocks/>
          </p:cNvSpPr>
          <p:nvPr/>
        </p:nvSpPr>
        <p:spPr>
          <a:xfrm>
            <a:off x="1171714" y="165994"/>
            <a:ext cx="9427725" cy="100496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Operación: </a:t>
            </a:r>
            <a:r>
              <a:rPr lang="es-ES_tradnl" sz="3200" dirty="0"/>
              <a:t>TSRCBIL/ TSRRBIL Estado de cuentas de </a:t>
            </a:r>
          </a:p>
          <a:p>
            <a:r>
              <a:rPr lang="es-ES_tradnl" sz="3200" dirty="0"/>
              <a:t>cobro de alumnos</a:t>
            </a:r>
            <a:br>
              <a:rPr lang="es-CL" dirty="0"/>
            </a:br>
            <a:endParaRPr lang="es-CL" dirty="0"/>
          </a:p>
        </p:txBody>
      </p:sp>
      <p:sp>
        <p:nvSpPr>
          <p:cNvPr id="3" name="Rectángulo redondeado 5">
            <a:extLst>
              <a:ext uri="{FF2B5EF4-FFF2-40B4-BE49-F238E27FC236}">
                <a16:creationId xmlns:a16="http://schemas.microsoft.com/office/drawing/2014/main" id="{6AFD777E-F3D9-836F-26FE-C5F3300A31D3}"/>
              </a:ext>
            </a:extLst>
          </p:cNvPr>
          <p:cNvSpPr/>
          <p:nvPr/>
        </p:nvSpPr>
        <p:spPr>
          <a:xfrm>
            <a:off x="1375165" y="4711424"/>
            <a:ext cx="9441670" cy="181395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dirty="0"/>
              <a:t>Parámetros:</a:t>
            </a:r>
          </a:p>
          <a:p>
            <a:r>
              <a:rPr lang="es-ES_tradnl" sz="1200" b="1" dirty="0"/>
              <a:t>*31 -</a:t>
            </a:r>
            <a:r>
              <a:rPr lang="es-ES_tradnl" sz="1200" dirty="0"/>
              <a:t> </a:t>
            </a:r>
            <a:r>
              <a:rPr lang="es-ES" sz="1200" dirty="0">
                <a:effectLst/>
              </a:rPr>
              <a:t>Ingresar Y si desea notas de ayuda financiera para afectar monto vencido</a:t>
            </a:r>
            <a:endParaRPr lang="es-ES_tradnl" sz="1200" dirty="0"/>
          </a:p>
          <a:p>
            <a:r>
              <a:rPr lang="es-ES_tradnl" sz="1200" b="1" dirty="0"/>
              <a:t>*32</a:t>
            </a:r>
            <a:r>
              <a:rPr lang="es-ES_tradnl" sz="1200" dirty="0"/>
              <a:t> - </a:t>
            </a:r>
            <a:r>
              <a:rPr lang="es-ES" sz="1200" dirty="0"/>
              <a:t>Ingresar Y múltiples fechas de vencimiento </a:t>
            </a:r>
            <a:r>
              <a:rPr lang="es-ES" sz="1200" dirty="0" err="1"/>
              <a:t>ó</a:t>
            </a:r>
            <a:r>
              <a:rPr lang="es-ES" sz="1200" dirty="0"/>
              <a:t> ingresar N las fechas de vencimiento no existen (por defecto), generalmente se ejecuta en N. </a:t>
            </a:r>
            <a:r>
              <a:rPr lang="es-ES" sz="1200" dirty="0">
                <a:effectLst/>
              </a:rPr>
              <a:t> </a:t>
            </a:r>
            <a:endParaRPr lang="es-ES_tradnl" sz="1200" dirty="0"/>
          </a:p>
          <a:p>
            <a:r>
              <a:rPr lang="es-ES_tradnl" sz="1200" b="1" dirty="0"/>
              <a:t>*33</a:t>
            </a:r>
            <a:r>
              <a:rPr lang="es-ES_tradnl" sz="1200" dirty="0"/>
              <a:t> - Ingresar Y para imprimir reporte de control, N para no imprimirlo.</a:t>
            </a:r>
          </a:p>
          <a:p>
            <a:r>
              <a:rPr lang="es-ES_tradnl" sz="1200" b="1" dirty="0"/>
              <a:t>*34</a:t>
            </a:r>
            <a:r>
              <a:rPr lang="es-ES_tradnl" sz="1200" dirty="0"/>
              <a:t> - Ingresar según opciones disponibles.</a:t>
            </a:r>
          </a:p>
          <a:p>
            <a:r>
              <a:rPr lang="es-ES_tradnl" sz="1200" b="1" dirty="0"/>
              <a:t>  35</a:t>
            </a:r>
            <a:r>
              <a:rPr lang="es-ES_tradnl" sz="1200" dirty="0"/>
              <a:t> – Actualizar indicadores de aceptar CXC si existe </a:t>
            </a:r>
            <a:r>
              <a:rPr lang="es-ES_tradnl" sz="1200" dirty="0" err="1"/>
              <a:t>desemb</a:t>
            </a:r>
            <a:r>
              <a:rPr lang="es-ES_tradnl" sz="1200" dirty="0"/>
              <a:t> ayuda financiera en la cuenta.</a:t>
            </a:r>
          </a:p>
          <a:p>
            <a:r>
              <a:rPr lang="es-ES_tradnl" sz="1200" b="1" dirty="0"/>
              <a:t>  36</a:t>
            </a:r>
            <a:r>
              <a:rPr lang="es-ES_tradnl" sz="1200" dirty="0"/>
              <a:t> – Cargar estados de cuenta de facturación Y/N.</a:t>
            </a:r>
          </a:p>
          <a:p>
            <a:r>
              <a:rPr lang="es-ES_tradnl" sz="1200" b="1" dirty="0"/>
              <a:t>  37 – </a:t>
            </a:r>
            <a:r>
              <a:rPr lang="es-ES_tradnl" sz="1200" dirty="0"/>
              <a:t>Ingresar</a:t>
            </a:r>
            <a:r>
              <a:rPr lang="es-ES_tradnl" sz="1200" b="1" dirty="0"/>
              <a:t> N </a:t>
            </a:r>
            <a:r>
              <a:rPr lang="es-ES_tradnl" sz="1200" dirty="0"/>
              <a:t>para Usar la </a:t>
            </a:r>
            <a:r>
              <a:rPr lang="es-ES_tradnl" sz="1200" dirty="0" err="1"/>
              <a:t>config</a:t>
            </a:r>
            <a:r>
              <a:rPr lang="es-ES_tradnl" sz="1200" dirty="0"/>
              <a:t>. de TSADDRL  </a:t>
            </a:r>
          </a:p>
        </p:txBody>
      </p:sp>
      <p:pic>
        <p:nvPicPr>
          <p:cNvPr id="5" name="Imagen 4">
            <a:extLst>
              <a:ext uri="{FF2B5EF4-FFF2-40B4-BE49-F238E27FC236}">
                <a16:creationId xmlns:a16="http://schemas.microsoft.com/office/drawing/2014/main" id="{388816D1-A7B0-80F1-9D43-2F28B6C5B666}"/>
              </a:ext>
            </a:extLst>
          </p:cNvPr>
          <p:cNvPicPr>
            <a:picLocks noChangeAspect="1"/>
          </p:cNvPicPr>
          <p:nvPr/>
        </p:nvPicPr>
        <p:blipFill>
          <a:blip r:embed="rId2"/>
          <a:stretch>
            <a:fillRect/>
          </a:stretch>
        </p:blipFill>
        <p:spPr>
          <a:xfrm>
            <a:off x="1484400" y="1134380"/>
            <a:ext cx="9223200" cy="3562196"/>
          </a:xfrm>
          <a:prstGeom prst="rect">
            <a:avLst/>
          </a:prstGeom>
        </p:spPr>
      </p:pic>
    </p:spTree>
    <p:extLst>
      <p:ext uri="{BB962C8B-B14F-4D97-AF65-F5344CB8AC3E}">
        <p14:creationId xmlns:p14="http://schemas.microsoft.com/office/powerpoint/2010/main" val="166760069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9BA0DE-7465-C5D7-20DC-E97098299B0A}"/>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63E73D89-F3D5-7ABB-98AE-EA88BB196E0C}"/>
              </a:ext>
            </a:extLst>
          </p:cNvPr>
          <p:cNvSpPr txBox="1">
            <a:spLocks/>
          </p:cNvSpPr>
          <p:nvPr/>
        </p:nvSpPr>
        <p:spPr>
          <a:xfrm>
            <a:off x="1185554" y="401623"/>
            <a:ext cx="9702045" cy="100496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Operación: </a:t>
            </a:r>
            <a:r>
              <a:rPr lang="es-ES_tradnl" sz="3200" dirty="0"/>
              <a:t>TSRCBIL/ TSRRBIL Estado de cuentas de </a:t>
            </a:r>
          </a:p>
          <a:p>
            <a:r>
              <a:rPr lang="es-ES_tradnl" sz="3200" dirty="0"/>
              <a:t>cobro de alumnos</a:t>
            </a:r>
            <a:br>
              <a:rPr lang="es-CL" dirty="0"/>
            </a:br>
            <a:endParaRPr lang="es-CL" dirty="0"/>
          </a:p>
        </p:txBody>
      </p:sp>
      <p:sp>
        <p:nvSpPr>
          <p:cNvPr id="3" name="Rectángulo redondeado 5">
            <a:extLst>
              <a:ext uri="{FF2B5EF4-FFF2-40B4-BE49-F238E27FC236}">
                <a16:creationId xmlns:a16="http://schemas.microsoft.com/office/drawing/2014/main" id="{3CB37970-AC74-9BA5-BEAD-2F4D73154230}"/>
              </a:ext>
            </a:extLst>
          </p:cNvPr>
          <p:cNvSpPr/>
          <p:nvPr/>
        </p:nvSpPr>
        <p:spPr>
          <a:xfrm>
            <a:off x="1304399" y="5171780"/>
            <a:ext cx="9583200" cy="55897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dirty="0"/>
              <a:t>Ingresados los parámetros, en la sección “Envío” seleccionar el Check “Guardar parámetros como” esto permite guardar parámetros predefinidos para una futura ejecución, y dar al botón “Guardar”.</a:t>
            </a:r>
          </a:p>
        </p:txBody>
      </p:sp>
      <p:pic>
        <p:nvPicPr>
          <p:cNvPr id="5" name="Imagen 4">
            <a:extLst>
              <a:ext uri="{FF2B5EF4-FFF2-40B4-BE49-F238E27FC236}">
                <a16:creationId xmlns:a16="http://schemas.microsoft.com/office/drawing/2014/main" id="{07C82BA0-9754-13D0-C3ED-F8CD7286C4AA}"/>
              </a:ext>
            </a:extLst>
          </p:cNvPr>
          <p:cNvPicPr>
            <a:picLocks noChangeAspect="1"/>
          </p:cNvPicPr>
          <p:nvPr/>
        </p:nvPicPr>
        <p:blipFill>
          <a:blip r:embed="rId2"/>
          <a:stretch>
            <a:fillRect/>
          </a:stretch>
        </p:blipFill>
        <p:spPr>
          <a:xfrm>
            <a:off x="1304399" y="1498175"/>
            <a:ext cx="9583200" cy="3322843"/>
          </a:xfrm>
          <a:prstGeom prst="rect">
            <a:avLst/>
          </a:prstGeom>
        </p:spPr>
      </p:pic>
    </p:spTree>
    <p:extLst>
      <p:ext uri="{BB962C8B-B14F-4D97-AF65-F5344CB8AC3E}">
        <p14:creationId xmlns:p14="http://schemas.microsoft.com/office/powerpoint/2010/main" val="3683069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5D7654-CD75-013B-CA93-179A13C4C55F}"/>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FEA0F739-64A9-0097-D62F-A53B2C7D1548}"/>
              </a:ext>
            </a:extLst>
          </p:cNvPr>
          <p:cNvSpPr txBox="1">
            <a:spLocks/>
          </p:cNvSpPr>
          <p:nvPr/>
        </p:nvSpPr>
        <p:spPr>
          <a:xfrm>
            <a:off x="1208401" y="728431"/>
            <a:ext cx="9775197" cy="100496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Operación: </a:t>
            </a:r>
            <a:r>
              <a:rPr lang="es-ES_tradnl" sz="3200" dirty="0"/>
              <a:t>TSRCBIL/ TSRRBIL Estado de cuentas de </a:t>
            </a:r>
          </a:p>
          <a:p>
            <a:r>
              <a:rPr lang="es-ES_tradnl" sz="3200" dirty="0"/>
              <a:t>cobro de alumnos</a:t>
            </a:r>
            <a:br>
              <a:rPr lang="es-CL" dirty="0"/>
            </a:br>
            <a:endParaRPr lang="es-CL" dirty="0"/>
          </a:p>
        </p:txBody>
      </p:sp>
      <p:sp>
        <p:nvSpPr>
          <p:cNvPr id="3" name="Rectángulo redondeado 5">
            <a:extLst>
              <a:ext uri="{FF2B5EF4-FFF2-40B4-BE49-F238E27FC236}">
                <a16:creationId xmlns:a16="http://schemas.microsoft.com/office/drawing/2014/main" id="{C8127B10-7580-3911-709E-12A492DD4D73}"/>
              </a:ext>
            </a:extLst>
          </p:cNvPr>
          <p:cNvSpPr/>
          <p:nvPr/>
        </p:nvSpPr>
        <p:spPr>
          <a:xfrm>
            <a:off x="1304400" y="4555344"/>
            <a:ext cx="6382328" cy="569264"/>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dirty="0"/>
              <a:t>Confirmación de la ejecución del Proceso. Generación de los archivos .LIS y .LOG</a:t>
            </a:r>
          </a:p>
        </p:txBody>
      </p:sp>
      <p:pic>
        <p:nvPicPr>
          <p:cNvPr id="6" name="Imagen 5">
            <a:extLst>
              <a:ext uri="{FF2B5EF4-FFF2-40B4-BE49-F238E27FC236}">
                <a16:creationId xmlns:a16="http://schemas.microsoft.com/office/drawing/2014/main" id="{DE573FB3-7E3A-E0D6-435E-B9BD45329175}"/>
              </a:ext>
            </a:extLst>
          </p:cNvPr>
          <p:cNvPicPr>
            <a:picLocks noChangeAspect="1"/>
          </p:cNvPicPr>
          <p:nvPr/>
        </p:nvPicPr>
        <p:blipFill>
          <a:blip r:embed="rId2"/>
          <a:stretch>
            <a:fillRect/>
          </a:stretch>
        </p:blipFill>
        <p:spPr>
          <a:xfrm>
            <a:off x="1304400" y="2302656"/>
            <a:ext cx="9583200" cy="1194775"/>
          </a:xfrm>
          <a:prstGeom prst="rect">
            <a:avLst/>
          </a:prstGeom>
        </p:spPr>
      </p:pic>
    </p:spTree>
    <p:extLst>
      <p:ext uri="{BB962C8B-B14F-4D97-AF65-F5344CB8AC3E}">
        <p14:creationId xmlns:p14="http://schemas.microsoft.com/office/powerpoint/2010/main" val="232457740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C3FFF1-C4AC-4D3B-A225-D23D2B09F296}"/>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A53483B0-4EFA-F2C7-D471-548D5CA3DF15}"/>
              </a:ext>
            </a:extLst>
          </p:cNvPr>
          <p:cNvPicPr>
            <a:picLocks noChangeAspect="1"/>
          </p:cNvPicPr>
          <p:nvPr/>
        </p:nvPicPr>
        <p:blipFill>
          <a:blip r:embed="rId2"/>
          <a:stretch>
            <a:fillRect/>
          </a:stretch>
        </p:blipFill>
        <p:spPr>
          <a:xfrm>
            <a:off x="1304400" y="1501873"/>
            <a:ext cx="9583200" cy="3638409"/>
          </a:xfrm>
          <a:prstGeom prst="rect">
            <a:avLst/>
          </a:prstGeom>
        </p:spPr>
      </p:pic>
      <p:sp>
        <p:nvSpPr>
          <p:cNvPr id="2" name="Título 3">
            <a:extLst>
              <a:ext uri="{FF2B5EF4-FFF2-40B4-BE49-F238E27FC236}">
                <a16:creationId xmlns:a16="http://schemas.microsoft.com/office/drawing/2014/main" id="{C4ACF06B-32FD-726B-8EEF-AA051AE6FB80}"/>
              </a:ext>
            </a:extLst>
          </p:cNvPr>
          <p:cNvSpPr txBox="1">
            <a:spLocks/>
          </p:cNvSpPr>
          <p:nvPr/>
        </p:nvSpPr>
        <p:spPr>
          <a:xfrm>
            <a:off x="1215891" y="422026"/>
            <a:ext cx="9671709" cy="100496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Operación: </a:t>
            </a:r>
            <a:r>
              <a:rPr lang="es-ES_tradnl" sz="3200" dirty="0"/>
              <a:t>TSRCBIL/ TSRRBIL Estado de cuentas de </a:t>
            </a:r>
          </a:p>
          <a:p>
            <a:r>
              <a:rPr lang="es-ES_tradnl" sz="3200" dirty="0"/>
              <a:t>cobro de alumnos</a:t>
            </a:r>
            <a:br>
              <a:rPr lang="es-CL" dirty="0"/>
            </a:br>
            <a:endParaRPr lang="es-CL" dirty="0"/>
          </a:p>
        </p:txBody>
      </p:sp>
      <p:sp>
        <p:nvSpPr>
          <p:cNvPr id="3" name="Rectángulo redondeado 5">
            <a:extLst>
              <a:ext uri="{FF2B5EF4-FFF2-40B4-BE49-F238E27FC236}">
                <a16:creationId xmlns:a16="http://schemas.microsoft.com/office/drawing/2014/main" id="{C29DB8C8-0B87-5627-4C72-FFFE442C01D7}"/>
              </a:ext>
            </a:extLst>
          </p:cNvPr>
          <p:cNvSpPr/>
          <p:nvPr/>
        </p:nvSpPr>
        <p:spPr>
          <a:xfrm>
            <a:off x="1304400" y="5477255"/>
            <a:ext cx="9583200" cy="725453"/>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b="1" dirty="0"/>
              <a:t>Revisión salida en GJIREVO</a:t>
            </a:r>
            <a:r>
              <a:rPr lang="es-ES_tradnl" sz="1200" dirty="0"/>
              <a:t>:</a:t>
            </a:r>
          </a:p>
          <a:p>
            <a:r>
              <a:rPr lang="es-ES_tradnl" sz="1200" dirty="0"/>
              <a:t>Para revisar los archivos .LIS y .LOG se debe ingresar a la aplicación GJIREVO o bien en la sección superior del menú, en la opción “Relacionado” se desplegaría una serie de opciones. </a:t>
            </a:r>
          </a:p>
        </p:txBody>
      </p:sp>
    </p:spTree>
    <p:extLst>
      <p:ext uri="{BB962C8B-B14F-4D97-AF65-F5344CB8AC3E}">
        <p14:creationId xmlns:p14="http://schemas.microsoft.com/office/powerpoint/2010/main" val="302041448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6C5F14-4A08-8F70-BF03-09F6FC02BDD4}"/>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614D76DA-0213-5CD0-8BE7-0217E05136F0}"/>
              </a:ext>
            </a:extLst>
          </p:cNvPr>
          <p:cNvSpPr txBox="1">
            <a:spLocks/>
          </p:cNvSpPr>
          <p:nvPr/>
        </p:nvSpPr>
        <p:spPr>
          <a:xfrm>
            <a:off x="1198052" y="901681"/>
            <a:ext cx="9583200" cy="100496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Operación: </a:t>
            </a:r>
            <a:r>
              <a:rPr lang="es-ES_tradnl" sz="3200" dirty="0"/>
              <a:t>TSRCBIL/ TSRRBIL Estado de cuentas de </a:t>
            </a:r>
          </a:p>
          <a:p>
            <a:r>
              <a:rPr lang="es-ES_tradnl" sz="3200" dirty="0"/>
              <a:t>cobro de alumnos</a:t>
            </a:r>
            <a:br>
              <a:rPr lang="es-CL" dirty="0"/>
            </a:br>
            <a:endParaRPr lang="es-CL" dirty="0"/>
          </a:p>
        </p:txBody>
      </p:sp>
      <p:sp>
        <p:nvSpPr>
          <p:cNvPr id="4" name="Rectángulo redondeado 5">
            <a:extLst>
              <a:ext uri="{FF2B5EF4-FFF2-40B4-BE49-F238E27FC236}">
                <a16:creationId xmlns:a16="http://schemas.microsoft.com/office/drawing/2014/main" id="{8FCEEDCE-9BBA-A7FD-E854-A170EF74DC80}"/>
              </a:ext>
            </a:extLst>
          </p:cNvPr>
          <p:cNvSpPr/>
          <p:nvPr/>
        </p:nvSpPr>
        <p:spPr>
          <a:xfrm>
            <a:off x="1198052" y="4104458"/>
            <a:ext cx="9583200" cy="850393"/>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ES_tradnl" sz="1200" b="1" dirty="0"/>
              <a:t>Revisión salida en GJIREVO</a:t>
            </a:r>
            <a:r>
              <a:rPr lang="es-ES_tradnl" sz="1200" dirty="0"/>
              <a:t>:</a:t>
            </a:r>
          </a:p>
          <a:p>
            <a:pPr algn="just"/>
            <a:r>
              <a:rPr lang="es-ES_tradnl" sz="1200" dirty="0"/>
              <a:t>Ratificando que el campo “Número” cuente con la numeración asignada al proceso ejecutado, en el campo Nombre de Archivo, se despliega las opciones de los archivos </a:t>
            </a:r>
            <a:r>
              <a:rPr lang="es-ES_tradnl" sz="1200" b="1" dirty="0"/>
              <a:t>.LIS y .LOG. </a:t>
            </a:r>
          </a:p>
        </p:txBody>
      </p:sp>
      <p:pic>
        <p:nvPicPr>
          <p:cNvPr id="5" name="Imagen 4">
            <a:extLst>
              <a:ext uri="{FF2B5EF4-FFF2-40B4-BE49-F238E27FC236}">
                <a16:creationId xmlns:a16="http://schemas.microsoft.com/office/drawing/2014/main" id="{BA2F6FE2-E6E3-4876-B44A-24C080E9A7D7}"/>
              </a:ext>
            </a:extLst>
          </p:cNvPr>
          <p:cNvPicPr>
            <a:picLocks noChangeAspect="1"/>
          </p:cNvPicPr>
          <p:nvPr/>
        </p:nvPicPr>
        <p:blipFill>
          <a:blip r:embed="rId2"/>
          <a:stretch>
            <a:fillRect/>
          </a:stretch>
        </p:blipFill>
        <p:spPr>
          <a:xfrm>
            <a:off x="1198052" y="2184062"/>
            <a:ext cx="9583200" cy="1642977"/>
          </a:xfrm>
          <a:prstGeom prst="rect">
            <a:avLst/>
          </a:prstGeom>
        </p:spPr>
      </p:pic>
    </p:spTree>
    <p:extLst>
      <p:ext uri="{BB962C8B-B14F-4D97-AF65-F5344CB8AC3E}">
        <p14:creationId xmlns:p14="http://schemas.microsoft.com/office/powerpoint/2010/main" val="267269582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4AEF72-06BB-7FFC-0717-69B335C072EA}"/>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0E1278B7-AC52-8498-4FA0-22CD96987A16}"/>
              </a:ext>
            </a:extLst>
          </p:cNvPr>
          <p:cNvSpPr txBox="1">
            <a:spLocks/>
          </p:cNvSpPr>
          <p:nvPr/>
        </p:nvSpPr>
        <p:spPr>
          <a:xfrm>
            <a:off x="1483546" y="134493"/>
            <a:ext cx="9656325" cy="100496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Operación: </a:t>
            </a:r>
            <a:r>
              <a:rPr lang="es-ES_tradnl" sz="3200" dirty="0"/>
              <a:t>TSRCBIL/ TSRRBIL Estado de cuentas de </a:t>
            </a:r>
          </a:p>
          <a:p>
            <a:r>
              <a:rPr lang="es-ES_tradnl" sz="3200" dirty="0"/>
              <a:t>cobro de alumnos</a:t>
            </a:r>
            <a:br>
              <a:rPr lang="es-CL" dirty="0"/>
            </a:br>
            <a:endParaRPr lang="es-CL" dirty="0"/>
          </a:p>
        </p:txBody>
      </p:sp>
      <p:sp>
        <p:nvSpPr>
          <p:cNvPr id="3" name="Rectángulo redondeado 5">
            <a:extLst>
              <a:ext uri="{FF2B5EF4-FFF2-40B4-BE49-F238E27FC236}">
                <a16:creationId xmlns:a16="http://schemas.microsoft.com/office/drawing/2014/main" id="{D01AC118-760B-74F0-6D48-687E3CD776A4}"/>
              </a:ext>
            </a:extLst>
          </p:cNvPr>
          <p:cNvSpPr/>
          <p:nvPr/>
        </p:nvSpPr>
        <p:spPr>
          <a:xfrm>
            <a:off x="1483546" y="5718545"/>
            <a:ext cx="9223200" cy="578268"/>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ES_tradnl" sz="1200" b="1" dirty="0"/>
              <a:t>Revisión salida en GJIREVO</a:t>
            </a:r>
            <a:r>
              <a:rPr lang="es-ES_tradnl" sz="1200" dirty="0"/>
              <a:t>:</a:t>
            </a:r>
          </a:p>
          <a:p>
            <a:pPr algn="just"/>
            <a:r>
              <a:rPr lang="es-ES_tradnl" sz="1200" dirty="0"/>
              <a:t>En la ventana emergente se debe seleccionar el archivo a analizar</a:t>
            </a:r>
            <a:r>
              <a:rPr lang="es-ES_tradnl" sz="1200" b="1" dirty="0"/>
              <a:t>, .LIS o .LOG</a:t>
            </a:r>
            <a:r>
              <a:rPr lang="es-ES_tradnl" sz="1200" dirty="0"/>
              <a:t>, luego dar clic al botón OK.</a:t>
            </a:r>
          </a:p>
        </p:txBody>
      </p:sp>
      <p:pic>
        <p:nvPicPr>
          <p:cNvPr id="6" name="Imagen 5">
            <a:extLst>
              <a:ext uri="{FF2B5EF4-FFF2-40B4-BE49-F238E27FC236}">
                <a16:creationId xmlns:a16="http://schemas.microsoft.com/office/drawing/2014/main" id="{F6E7CE39-026C-6641-3914-CD30FE131607}"/>
              </a:ext>
            </a:extLst>
          </p:cNvPr>
          <p:cNvPicPr>
            <a:picLocks noChangeAspect="1"/>
          </p:cNvPicPr>
          <p:nvPr/>
        </p:nvPicPr>
        <p:blipFill>
          <a:blip r:embed="rId2"/>
          <a:stretch>
            <a:fillRect/>
          </a:stretch>
        </p:blipFill>
        <p:spPr>
          <a:xfrm>
            <a:off x="1483546" y="1139455"/>
            <a:ext cx="9223200" cy="4276867"/>
          </a:xfrm>
          <a:prstGeom prst="rect">
            <a:avLst/>
          </a:prstGeom>
        </p:spPr>
      </p:pic>
    </p:spTree>
    <p:extLst>
      <p:ext uri="{BB962C8B-B14F-4D97-AF65-F5344CB8AC3E}">
        <p14:creationId xmlns:p14="http://schemas.microsoft.com/office/powerpoint/2010/main" val="191354789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291486-5482-4A32-F412-6DAD0C5750FE}"/>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8B7853EF-D027-EB36-0004-9342DCDB09D1}"/>
              </a:ext>
            </a:extLst>
          </p:cNvPr>
          <p:cNvSpPr txBox="1">
            <a:spLocks/>
          </p:cNvSpPr>
          <p:nvPr/>
        </p:nvSpPr>
        <p:spPr>
          <a:xfrm>
            <a:off x="1148965" y="309078"/>
            <a:ext cx="9894069" cy="100496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Operación: </a:t>
            </a:r>
            <a:r>
              <a:rPr lang="es-ES_tradnl" sz="3200" dirty="0"/>
              <a:t>TSRCBIL/ TSRRBIL Estado de cuentas de </a:t>
            </a:r>
          </a:p>
          <a:p>
            <a:r>
              <a:rPr lang="es-ES_tradnl" sz="3200" dirty="0"/>
              <a:t>cobro de alumnos</a:t>
            </a:r>
            <a:br>
              <a:rPr lang="es-CL" dirty="0"/>
            </a:br>
            <a:endParaRPr lang="es-CL" dirty="0"/>
          </a:p>
        </p:txBody>
      </p:sp>
      <p:sp>
        <p:nvSpPr>
          <p:cNvPr id="3" name="Rectángulo redondeado 5">
            <a:extLst>
              <a:ext uri="{FF2B5EF4-FFF2-40B4-BE49-F238E27FC236}">
                <a16:creationId xmlns:a16="http://schemas.microsoft.com/office/drawing/2014/main" id="{486CCF79-6CCE-52EE-9E13-9F55883DBF66}"/>
              </a:ext>
            </a:extLst>
          </p:cNvPr>
          <p:cNvSpPr/>
          <p:nvPr/>
        </p:nvSpPr>
        <p:spPr>
          <a:xfrm>
            <a:off x="1304400" y="5367528"/>
            <a:ext cx="5992512" cy="574393"/>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ES_tradnl" sz="1200" b="1" dirty="0"/>
              <a:t>Revisión salida en GJIREVO .LIS:</a:t>
            </a:r>
          </a:p>
          <a:p>
            <a:pPr algn="just"/>
            <a:r>
              <a:rPr lang="es-ES_tradnl" sz="1200" dirty="0"/>
              <a:t>El archivo .LIS confirma la actualización del registro del estudiante.</a:t>
            </a:r>
          </a:p>
        </p:txBody>
      </p:sp>
      <p:pic>
        <p:nvPicPr>
          <p:cNvPr id="5" name="Imagen 4">
            <a:extLst>
              <a:ext uri="{FF2B5EF4-FFF2-40B4-BE49-F238E27FC236}">
                <a16:creationId xmlns:a16="http://schemas.microsoft.com/office/drawing/2014/main" id="{20763DF1-DF70-1F93-B163-3BE7D4FAC356}"/>
              </a:ext>
            </a:extLst>
          </p:cNvPr>
          <p:cNvPicPr>
            <a:picLocks noChangeAspect="1"/>
          </p:cNvPicPr>
          <p:nvPr/>
        </p:nvPicPr>
        <p:blipFill>
          <a:blip r:embed="rId2"/>
          <a:stretch>
            <a:fillRect/>
          </a:stretch>
        </p:blipFill>
        <p:spPr>
          <a:xfrm>
            <a:off x="1304400" y="1314040"/>
            <a:ext cx="9583200" cy="3811273"/>
          </a:xfrm>
          <a:prstGeom prst="rect">
            <a:avLst/>
          </a:prstGeom>
        </p:spPr>
      </p:pic>
    </p:spTree>
    <p:extLst>
      <p:ext uri="{BB962C8B-B14F-4D97-AF65-F5344CB8AC3E}">
        <p14:creationId xmlns:p14="http://schemas.microsoft.com/office/powerpoint/2010/main" val="277510668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D8077A-A052-AE02-6306-F231B524F244}"/>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C5BC741F-2A8F-4075-3A45-3B0EB9BC04D8}"/>
              </a:ext>
            </a:extLst>
          </p:cNvPr>
          <p:cNvSpPr txBox="1">
            <a:spLocks/>
          </p:cNvSpPr>
          <p:nvPr/>
        </p:nvSpPr>
        <p:spPr>
          <a:xfrm>
            <a:off x="1197603" y="458602"/>
            <a:ext cx="9583200" cy="100496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Operación: </a:t>
            </a:r>
            <a:r>
              <a:rPr lang="es-ES_tradnl" sz="3200" dirty="0"/>
              <a:t>TSRCBIL/ TSRRBIL Estado de cuentas de </a:t>
            </a:r>
          </a:p>
          <a:p>
            <a:r>
              <a:rPr lang="es-ES_tradnl" sz="3200" dirty="0"/>
              <a:t>cobro de alumnos</a:t>
            </a:r>
            <a:br>
              <a:rPr lang="es-CL" dirty="0"/>
            </a:br>
            <a:endParaRPr lang="es-CL" dirty="0"/>
          </a:p>
        </p:txBody>
      </p:sp>
      <p:sp>
        <p:nvSpPr>
          <p:cNvPr id="3" name="Rectángulo redondeado 5">
            <a:extLst>
              <a:ext uri="{FF2B5EF4-FFF2-40B4-BE49-F238E27FC236}">
                <a16:creationId xmlns:a16="http://schemas.microsoft.com/office/drawing/2014/main" id="{5067BF4C-4E08-F152-E7B1-8E552C5FCD23}"/>
              </a:ext>
            </a:extLst>
          </p:cNvPr>
          <p:cNvSpPr/>
          <p:nvPr/>
        </p:nvSpPr>
        <p:spPr>
          <a:xfrm>
            <a:off x="1304400" y="5328111"/>
            <a:ext cx="6074808" cy="63476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b="1" dirty="0"/>
              <a:t>Revisión salida en GJIREVO .LOG:</a:t>
            </a:r>
          </a:p>
          <a:p>
            <a:r>
              <a:rPr lang="es-ES_tradnl" sz="1200" dirty="0"/>
              <a:t>El archivo .LOG confirma ejecución completa.</a:t>
            </a:r>
          </a:p>
        </p:txBody>
      </p:sp>
      <p:pic>
        <p:nvPicPr>
          <p:cNvPr id="6" name="Imagen 5">
            <a:extLst>
              <a:ext uri="{FF2B5EF4-FFF2-40B4-BE49-F238E27FC236}">
                <a16:creationId xmlns:a16="http://schemas.microsoft.com/office/drawing/2014/main" id="{5E0DC5CF-69DF-04BA-1469-DADFD8AA36BC}"/>
              </a:ext>
            </a:extLst>
          </p:cNvPr>
          <p:cNvPicPr>
            <a:picLocks noChangeAspect="1"/>
          </p:cNvPicPr>
          <p:nvPr/>
        </p:nvPicPr>
        <p:blipFill>
          <a:blip r:embed="rId2"/>
          <a:stretch>
            <a:fillRect/>
          </a:stretch>
        </p:blipFill>
        <p:spPr>
          <a:xfrm>
            <a:off x="1304400" y="1529889"/>
            <a:ext cx="9583200" cy="3309020"/>
          </a:xfrm>
          <a:prstGeom prst="rect">
            <a:avLst/>
          </a:prstGeom>
        </p:spPr>
      </p:pic>
    </p:spTree>
    <p:extLst>
      <p:ext uri="{BB962C8B-B14F-4D97-AF65-F5344CB8AC3E}">
        <p14:creationId xmlns:p14="http://schemas.microsoft.com/office/powerpoint/2010/main" val="33032123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EAFACB-DF3B-56D4-C963-55C60E9184EE}"/>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E3C197C6-FF5F-19FF-9E4A-B3B55994D555}"/>
              </a:ext>
            </a:extLst>
          </p:cNvPr>
          <p:cNvSpPr txBox="1">
            <a:spLocks/>
          </p:cNvSpPr>
          <p:nvPr/>
        </p:nvSpPr>
        <p:spPr>
          <a:xfrm>
            <a:off x="1206747" y="374726"/>
            <a:ext cx="9391149" cy="946179"/>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Operación: </a:t>
            </a:r>
            <a:r>
              <a:rPr lang="es-ES_tradnl" sz="3200" dirty="0"/>
              <a:t>TSAAREV Revisión de detalle de </a:t>
            </a:r>
          </a:p>
          <a:p>
            <a:r>
              <a:rPr lang="es-ES_tradnl" sz="3200" dirty="0"/>
              <a:t>cuenta - alumnos</a:t>
            </a:r>
            <a:endParaRPr lang="es-CL" dirty="0"/>
          </a:p>
        </p:txBody>
      </p:sp>
      <p:sp>
        <p:nvSpPr>
          <p:cNvPr id="4" name="Rectángulo: esquinas redondeadas 3">
            <a:extLst>
              <a:ext uri="{FF2B5EF4-FFF2-40B4-BE49-F238E27FC236}">
                <a16:creationId xmlns:a16="http://schemas.microsoft.com/office/drawing/2014/main" id="{05CB4B1A-4B26-B1EE-84C6-52C7D24284B0}"/>
              </a:ext>
            </a:extLst>
          </p:cNvPr>
          <p:cNvSpPr/>
          <p:nvPr/>
        </p:nvSpPr>
        <p:spPr>
          <a:xfrm>
            <a:off x="1304400" y="5270526"/>
            <a:ext cx="8594434" cy="730514"/>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ES" sz="1200" b="1" dirty="0"/>
              <a:t>Estado de cuenta del alumno con la exención aplicada:</a:t>
            </a:r>
          </a:p>
          <a:p>
            <a:pPr algn="just"/>
            <a:r>
              <a:rPr lang="es-ES" sz="1200" dirty="0"/>
              <a:t>TSAAREV cuenta corriente del primer estudiante se puede observar la asignación y aplicación masiva de exenciones.</a:t>
            </a:r>
            <a:endParaRPr lang="es-CL" sz="1200" dirty="0"/>
          </a:p>
        </p:txBody>
      </p:sp>
      <p:pic>
        <p:nvPicPr>
          <p:cNvPr id="6" name="Imagen 5">
            <a:extLst>
              <a:ext uri="{FF2B5EF4-FFF2-40B4-BE49-F238E27FC236}">
                <a16:creationId xmlns:a16="http://schemas.microsoft.com/office/drawing/2014/main" id="{29F947A5-BFCA-5733-8AC8-7DEEB60F4687}"/>
              </a:ext>
            </a:extLst>
          </p:cNvPr>
          <p:cNvPicPr>
            <a:picLocks noChangeAspect="1"/>
          </p:cNvPicPr>
          <p:nvPr/>
        </p:nvPicPr>
        <p:blipFill>
          <a:blip r:embed="rId2"/>
          <a:stretch>
            <a:fillRect/>
          </a:stretch>
        </p:blipFill>
        <p:spPr>
          <a:xfrm>
            <a:off x="1304400" y="1448965"/>
            <a:ext cx="9583200" cy="3385831"/>
          </a:xfrm>
          <a:prstGeom prst="rect">
            <a:avLst/>
          </a:prstGeom>
        </p:spPr>
      </p:pic>
    </p:spTree>
    <p:extLst>
      <p:ext uri="{BB962C8B-B14F-4D97-AF65-F5344CB8AC3E}">
        <p14:creationId xmlns:p14="http://schemas.microsoft.com/office/powerpoint/2010/main" val="273877722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F36E73-73B4-9CBC-E2DC-BC1CFF923E40}"/>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78B0ABDD-6F1B-8DC5-35D1-967210CEF2E5}"/>
              </a:ext>
            </a:extLst>
          </p:cNvPr>
          <p:cNvSpPr txBox="1">
            <a:spLocks/>
          </p:cNvSpPr>
          <p:nvPr/>
        </p:nvSpPr>
        <p:spPr>
          <a:xfrm>
            <a:off x="1151883" y="374726"/>
            <a:ext cx="9189981" cy="946179"/>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Operación: </a:t>
            </a:r>
            <a:r>
              <a:rPr lang="es-ES_tradnl" sz="3200" dirty="0"/>
              <a:t>TSAAREV Revisión de detalle de </a:t>
            </a:r>
          </a:p>
          <a:p>
            <a:r>
              <a:rPr lang="es-ES_tradnl" sz="3200" dirty="0"/>
              <a:t>cuenta - alumnos</a:t>
            </a:r>
            <a:endParaRPr lang="es-CL" dirty="0"/>
          </a:p>
        </p:txBody>
      </p:sp>
      <p:sp>
        <p:nvSpPr>
          <p:cNvPr id="4" name="Rectángulo: esquinas redondeadas 3">
            <a:extLst>
              <a:ext uri="{FF2B5EF4-FFF2-40B4-BE49-F238E27FC236}">
                <a16:creationId xmlns:a16="http://schemas.microsoft.com/office/drawing/2014/main" id="{99F1241E-8F93-B248-752B-60EB58B9C6A9}"/>
              </a:ext>
            </a:extLst>
          </p:cNvPr>
          <p:cNvSpPr/>
          <p:nvPr/>
        </p:nvSpPr>
        <p:spPr>
          <a:xfrm>
            <a:off x="1304400" y="5006719"/>
            <a:ext cx="8594434" cy="624368"/>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ES" sz="1200" b="1" dirty="0"/>
              <a:t>Estado de cuenta del alumno con la exención aplicada:</a:t>
            </a:r>
          </a:p>
          <a:p>
            <a:pPr algn="just"/>
            <a:r>
              <a:rPr lang="es-ES" sz="1200" b="1" dirty="0"/>
              <a:t>TSAAREV</a:t>
            </a:r>
            <a:r>
              <a:rPr lang="es-ES" sz="1200" dirty="0"/>
              <a:t> cuenta corriente del primer estudiante se puede observar la asignación y aplicación masiva de exenciones.</a:t>
            </a:r>
            <a:endParaRPr lang="es-CL" sz="1200" dirty="0"/>
          </a:p>
        </p:txBody>
      </p:sp>
      <p:pic>
        <p:nvPicPr>
          <p:cNvPr id="5" name="Imagen 4">
            <a:extLst>
              <a:ext uri="{FF2B5EF4-FFF2-40B4-BE49-F238E27FC236}">
                <a16:creationId xmlns:a16="http://schemas.microsoft.com/office/drawing/2014/main" id="{BBA10621-E018-BC8D-E063-C9241F7CAD30}"/>
              </a:ext>
            </a:extLst>
          </p:cNvPr>
          <p:cNvPicPr>
            <a:picLocks noChangeAspect="1"/>
          </p:cNvPicPr>
          <p:nvPr/>
        </p:nvPicPr>
        <p:blipFill>
          <a:blip r:embed="rId2"/>
          <a:stretch>
            <a:fillRect/>
          </a:stretch>
        </p:blipFill>
        <p:spPr>
          <a:xfrm>
            <a:off x="1304400" y="1392793"/>
            <a:ext cx="9583200" cy="3402261"/>
          </a:xfrm>
          <a:prstGeom prst="rect">
            <a:avLst/>
          </a:prstGeom>
        </p:spPr>
      </p:pic>
    </p:spTree>
    <p:extLst>
      <p:ext uri="{BB962C8B-B14F-4D97-AF65-F5344CB8AC3E}">
        <p14:creationId xmlns:p14="http://schemas.microsoft.com/office/powerpoint/2010/main" val="234914171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1DD72-2B06-F88D-6A58-36C08921D548}"/>
            </a:ext>
          </a:extLst>
        </p:cNvPr>
        <p:cNvGrpSpPr/>
        <p:nvPr/>
      </p:nvGrpSpPr>
      <p:grpSpPr>
        <a:xfrm>
          <a:off x="0" y="0"/>
          <a:ext cx="0" cy="0"/>
          <a:chOff x="0" y="0"/>
          <a:chExt cx="0" cy="0"/>
        </a:xfrm>
      </p:grpSpPr>
      <p:sp>
        <p:nvSpPr>
          <p:cNvPr id="5" name="CuadroTexto 4">
            <a:extLst>
              <a:ext uri="{FF2B5EF4-FFF2-40B4-BE49-F238E27FC236}">
                <a16:creationId xmlns:a16="http://schemas.microsoft.com/office/drawing/2014/main" id="{531CA999-34C9-A534-3E44-5260FB02D7EE}"/>
              </a:ext>
            </a:extLst>
          </p:cNvPr>
          <p:cNvSpPr txBox="1"/>
          <p:nvPr/>
        </p:nvSpPr>
        <p:spPr>
          <a:xfrm>
            <a:off x="702169" y="2157520"/>
            <a:ext cx="10261487" cy="1015663"/>
          </a:xfrm>
          <a:prstGeom prst="rect">
            <a:avLst/>
          </a:prstGeom>
          <a:noFill/>
        </p:spPr>
        <p:txBody>
          <a:bodyPr wrap="square">
            <a:spAutoFit/>
          </a:bodyPr>
          <a:lstStyle/>
          <a:p>
            <a:r>
              <a:rPr lang="es-ES" sz="6000" b="1" dirty="0">
                <a:solidFill>
                  <a:schemeClr val="bg1"/>
                </a:solidFill>
              </a:rPr>
              <a:t>Rolado de Exenciones</a:t>
            </a:r>
            <a:endParaRPr lang="en-US" sz="6000" b="1" dirty="0">
              <a:solidFill>
                <a:schemeClr val="bg1"/>
              </a:solidFill>
            </a:endParaRPr>
          </a:p>
        </p:txBody>
      </p:sp>
      <p:sp>
        <p:nvSpPr>
          <p:cNvPr id="2" name="Text Placeholder 16">
            <a:extLst>
              <a:ext uri="{FF2B5EF4-FFF2-40B4-BE49-F238E27FC236}">
                <a16:creationId xmlns:a16="http://schemas.microsoft.com/office/drawing/2014/main" id="{EDE15877-8DBE-CBB7-6D83-D92F85C3C00E}"/>
              </a:ext>
            </a:extLst>
          </p:cNvPr>
          <p:cNvSpPr txBox="1">
            <a:spLocks/>
          </p:cNvSpPr>
          <p:nvPr/>
        </p:nvSpPr>
        <p:spPr>
          <a:xfrm>
            <a:off x="702169" y="3429000"/>
            <a:ext cx="7092820" cy="774441"/>
          </a:xfrm>
          <a:prstGeom prst="rect">
            <a:avLst/>
          </a:prstGeom>
        </p:spPr>
        <p:txBody>
          <a:bodyPr/>
          <a:lst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CO" sz="2000" b="1" dirty="0">
                <a:solidFill>
                  <a:schemeClr val="bg1"/>
                </a:solidFill>
              </a:rPr>
              <a:t>Gestionar los beneficios</a:t>
            </a:r>
          </a:p>
        </p:txBody>
      </p:sp>
    </p:spTree>
    <p:extLst>
      <p:ext uri="{BB962C8B-B14F-4D97-AF65-F5344CB8AC3E}">
        <p14:creationId xmlns:p14="http://schemas.microsoft.com/office/powerpoint/2010/main" val="206194785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08D813-34CD-F590-7E52-092152615727}"/>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6922B1D3-2193-A1CA-07AF-3685E406CF65}"/>
              </a:ext>
            </a:extLst>
          </p:cNvPr>
          <p:cNvSpPr txBox="1">
            <a:spLocks/>
          </p:cNvSpPr>
          <p:nvPr/>
        </p:nvSpPr>
        <p:spPr>
          <a:xfrm>
            <a:off x="1371339" y="203281"/>
            <a:ext cx="10674618" cy="61691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Operación: </a:t>
            </a:r>
            <a:r>
              <a:rPr lang="es-ES_tradnl" sz="3200" dirty="0"/>
              <a:t>TSRROLL Paso de Contrato y Exención</a:t>
            </a:r>
            <a:br>
              <a:rPr lang="es-CL" dirty="0"/>
            </a:br>
            <a:endParaRPr lang="es-CL" dirty="0"/>
          </a:p>
        </p:txBody>
      </p:sp>
      <p:sp>
        <p:nvSpPr>
          <p:cNvPr id="3" name="Rectángulo redondeado 5">
            <a:extLst>
              <a:ext uri="{FF2B5EF4-FFF2-40B4-BE49-F238E27FC236}">
                <a16:creationId xmlns:a16="http://schemas.microsoft.com/office/drawing/2014/main" id="{9AC5B766-DD97-57C4-29D2-964FECBE0B0C}"/>
              </a:ext>
            </a:extLst>
          </p:cNvPr>
          <p:cNvSpPr/>
          <p:nvPr/>
        </p:nvSpPr>
        <p:spPr>
          <a:xfrm>
            <a:off x="1509849" y="5941117"/>
            <a:ext cx="9583200" cy="578847"/>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ES_tradnl" sz="1200" dirty="0"/>
              <a:t>Tras acceder al proceso </a:t>
            </a:r>
            <a:r>
              <a:rPr lang="es-ES_tradnl" sz="1200" b="1" dirty="0"/>
              <a:t>TSRROLL</a:t>
            </a:r>
            <a:r>
              <a:rPr lang="es-ES_tradnl" sz="1200" dirty="0"/>
              <a:t>, en la sección “Control de Impresora” campo “Impresora” se debe asignar la sentencia </a:t>
            </a:r>
            <a:r>
              <a:rPr lang="es-ES_tradnl" sz="1200" b="1" dirty="0"/>
              <a:t>DATABASE</a:t>
            </a:r>
            <a:r>
              <a:rPr lang="es-ES_tradnl" sz="1200" dirty="0"/>
              <a:t>. Luego, en la sección de “Valores de Parámetro”, se deben asignar los parámetros principales para la ejecución del proceso según corresponda.</a:t>
            </a:r>
          </a:p>
        </p:txBody>
      </p:sp>
      <p:sp>
        <p:nvSpPr>
          <p:cNvPr id="4" name="Rectangle: Rounded Corners 14">
            <a:extLst>
              <a:ext uri="{FF2B5EF4-FFF2-40B4-BE49-F238E27FC236}">
                <a16:creationId xmlns:a16="http://schemas.microsoft.com/office/drawing/2014/main" id="{CB95DCBA-A129-FC5E-0D1B-9ACFB817A6A2}"/>
              </a:ext>
            </a:extLst>
          </p:cNvPr>
          <p:cNvSpPr/>
          <p:nvPr/>
        </p:nvSpPr>
        <p:spPr>
          <a:xfrm>
            <a:off x="1509848" y="5329166"/>
            <a:ext cx="5629791" cy="463705"/>
          </a:xfrm>
          <a:prstGeom prst="roundRect">
            <a:avLst/>
          </a:prstGeom>
          <a:solidFill>
            <a:schemeClr val="accent3">
              <a:lumMod val="10000"/>
              <a:lumOff val="90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just"/>
            <a:r>
              <a:rPr lang="es-ES_tradnl" sz="1200" b="1" dirty="0"/>
              <a:t>Rolado de un periodo a otro</a:t>
            </a:r>
            <a:r>
              <a:rPr lang="es-ES_tradnl" sz="1200" dirty="0"/>
              <a:t>:</a:t>
            </a:r>
          </a:p>
          <a:p>
            <a:pPr algn="just"/>
            <a:r>
              <a:rPr lang="es-ES_tradnl" sz="1200" dirty="0"/>
              <a:t>Esta aplicación se puede ejecutar tanto para exenciones como para contratos.</a:t>
            </a:r>
          </a:p>
        </p:txBody>
      </p:sp>
      <p:pic>
        <p:nvPicPr>
          <p:cNvPr id="7" name="Imagen 6">
            <a:extLst>
              <a:ext uri="{FF2B5EF4-FFF2-40B4-BE49-F238E27FC236}">
                <a16:creationId xmlns:a16="http://schemas.microsoft.com/office/drawing/2014/main" id="{6D5F09D0-DA6A-13AD-A6A9-A20527F5A190}"/>
              </a:ext>
            </a:extLst>
          </p:cNvPr>
          <p:cNvPicPr>
            <a:picLocks noChangeAspect="1"/>
          </p:cNvPicPr>
          <p:nvPr/>
        </p:nvPicPr>
        <p:blipFill>
          <a:blip r:embed="rId2"/>
          <a:stretch>
            <a:fillRect/>
          </a:stretch>
        </p:blipFill>
        <p:spPr>
          <a:xfrm>
            <a:off x="1509848" y="764096"/>
            <a:ext cx="9583200" cy="4416824"/>
          </a:xfrm>
          <a:prstGeom prst="rect">
            <a:avLst/>
          </a:prstGeom>
        </p:spPr>
      </p:pic>
    </p:spTree>
    <p:extLst>
      <p:ext uri="{BB962C8B-B14F-4D97-AF65-F5344CB8AC3E}">
        <p14:creationId xmlns:p14="http://schemas.microsoft.com/office/powerpoint/2010/main" val="301377361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B1629D-41D0-36F1-1045-C123DB6A264E}"/>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073957B1-3D5D-2EE9-A53F-F06A514AF12B}"/>
              </a:ext>
            </a:extLst>
          </p:cNvPr>
          <p:cNvSpPr txBox="1">
            <a:spLocks/>
          </p:cNvSpPr>
          <p:nvPr/>
        </p:nvSpPr>
        <p:spPr>
          <a:xfrm>
            <a:off x="1170171" y="657112"/>
            <a:ext cx="9089397" cy="61691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Operación: </a:t>
            </a:r>
            <a:r>
              <a:rPr lang="es-ES_tradnl" sz="3200" dirty="0"/>
              <a:t>TSRROLL Paso de Contrato y Exención</a:t>
            </a:r>
            <a:br>
              <a:rPr lang="es-CL" dirty="0"/>
            </a:br>
            <a:endParaRPr lang="es-CL" dirty="0"/>
          </a:p>
        </p:txBody>
      </p:sp>
      <p:grpSp>
        <p:nvGrpSpPr>
          <p:cNvPr id="5" name="Grupo 4">
            <a:extLst>
              <a:ext uri="{FF2B5EF4-FFF2-40B4-BE49-F238E27FC236}">
                <a16:creationId xmlns:a16="http://schemas.microsoft.com/office/drawing/2014/main" id="{FFD49B8B-8587-22E9-55AE-F3F309DC35A9}"/>
              </a:ext>
            </a:extLst>
          </p:cNvPr>
          <p:cNvGrpSpPr/>
          <p:nvPr/>
        </p:nvGrpSpPr>
        <p:grpSpPr>
          <a:xfrm>
            <a:off x="1304400" y="4682714"/>
            <a:ext cx="9695832" cy="1096162"/>
            <a:chOff x="1044391" y="5649427"/>
            <a:chExt cx="8090296" cy="1096162"/>
          </a:xfrm>
        </p:grpSpPr>
        <p:sp>
          <p:nvSpPr>
            <p:cNvPr id="7" name="Rectángulo redondeado 5">
              <a:extLst>
                <a:ext uri="{FF2B5EF4-FFF2-40B4-BE49-F238E27FC236}">
                  <a16:creationId xmlns:a16="http://schemas.microsoft.com/office/drawing/2014/main" id="{F27E73C3-B9BD-6767-B5FC-E248640F3520}"/>
                </a:ext>
              </a:extLst>
            </p:cNvPr>
            <p:cNvSpPr/>
            <p:nvPr/>
          </p:nvSpPr>
          <p:spPr>
            <a:xfrm>
              <a:off x="1044391" y="5649427"/>
              <a:ext cx="3700182" cy="109616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ES_tradnl" sz="1200" dirty="0"/>
                <a:t>Parámetros:</a:t>
              </a:r>
            </a:p>
            <a:p>
              <a:pPr algn="just"/>
              <a:r>
                <a:rPr lang="es-ES_tradnl" sz="1200" b="1" dirty="0"/>
                <a:t>01 -</a:t>
              </a:r>
              <a:r>
                <a:rPr lang="es-ES_tradnl" sz="1200" dirty="0"/>
                <a:t> Periodo de origen de los datos</a:t>
              </a:r>
            </a:p>
            <a:p>
              <a:pPr algn="just"/>
              <a:r>
                <a:rPr lang="es-ES_tradnl" sz="1200" b="1" dirty="0"/>
                <a:t>02 - </a:t>
              </a:r>
              <a:r>
                <a:rPr lang="es-ES_tradnl" sz="1200" dirty="0"/>
                <a:t>Periodo de </a:t>
              </a:r>
              <a:r>
                <a:rPr lang="es-ES_tradnl" sz="1200" dirty="0">
                  <a:solidFill>
                    <a:schemeClr val="bg1"/>
                  </a:solidFill>
                </a:rPr>
                <a:t>destino de los datos</a:t>
              </a:r>
            </a:p>
            <a:p>
              <a:pPr algn="just"/>
              <a:r>
                <a:rPr lang="es-ES_tradnl" sz="1200" b="1" dirty="0">
                  <a:solidFill>
                    <a:schemeClr val="bg1"/>
                  </a:solidFill>
                </a:rPr>
                <a:t>03</a:t>
              </a:r>
              <a:r>
                <a:rPr lang="es-ES_tradnl" sz="1200" dirty="0">
                  <a:solidFill>
                    <a:schemeClr val="bg1"/>
                  </a:solidFill>
                </a:rPr>
                <a:t> - Modo de Ejecución: U (Audita (A) o Actualizar (U))</a:t>
              </a:r>
            </a:p>
            <a:p>
              <a:pPr algn="just"/>
              <a:r>
                <a:rPr lang="es-ES_tradnl" sz="1200" b="1" dirty="0">
                  <a:solidFill>
                    <a:schemeClr val="bg1"/>
                  </a:solidFill>
                </a:rPr>
                <a:t>04</a:t>
              </a:r>
              <a:r>
                <a:rPr lang="es-ES_tradnl" sz="1200" dirty="0">
                  <a:solidFill>
                    <a:schemeClr val="bg1"/>
                  </a:solidFill>
                </a:rPr>
                <a:t> - Pasar Contrato : N (Activar para rolar contratos)</a:t>
              </a:r>
            </a:p>
          </p:txBody>
        </p:sp>
        <p:sp>
          <p:nvSpPr>
            <p:cNvPr id="8" name="Rectángulo redondeado 5">
              <a:extLst>
                <a:ext uri="{FF2B5EF4-FFF2-40B4-BE49-F238E27FC236}">
                  <a16:creationId xmlns:a16="http://schemas.microsoft.com/office/drawing/2014/main" id="{145010B5-599A-B3D7-61B0-DF8B6BA8B6F0}"/>
                </a:ext>
              </a:extLst>
            </p:cNvPr>
            <p:cNvSpPr/>
            <p:nvPr/>
          </p:nvSpPr>
          <p:spPr>
            <a:xfrm>
              <a:off x="5434504" y="5649427"/>
              <a:ext cx="3700183" cy="109616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ES_tradnl" sz="1200" b="1" dirty="0">
                  <a:solidFill>
                    <a:schemeClr val="bg1"/>
                  </a:solidFill>
                </a:rPr>
                <a:t>05</a:t>
              </a:r>
              <a:r>
                <a:rPr lang="es-ES_tradnl" sz="1200" dirty="0">
                  <a:solidFill>
                    <a:schemeClr val="bg1"/>
                  </a:solidFill>
                </a:rPr>
                <a:t> - Pasar ID Contrato Origen : </a:t>
              </a:r>
              <a:r>
                <a:rPr lang="es-ES_tradnl" sz="1200" dirty="0" err="1">
                  <a:solidFill>
                    <a:schemeClr val="bg1"/>
                  </a:solidFill>
                </a:rPr>
                <a:t>Null</a:t>
              </a:r>
              <a:endParaRPr lang="es-ES_tradnl" sz="1200" dirty="0">
                <a:solidFill>
                  <a:schemeClr val="bg1"/>
                </a:solidFill>
              </a:endParaRPr>
            </a:p>
            <a:p>
              <a:pPr algn="just"/>
              <a:r>
                <a:rPr lang="es-ES_tradnl" sz="1200" b="1" dirty="0">
                  <a:solidFill>
                    <a:schemeClr val="bg1"/>
                  </a:solidFill>
                </a:rPr>
                <a:t>06 </a:t>
              </a:r>
              <a:r>
                <a:rPr lang="es-ES_tradnl" sz="1200" dirty="0">
                  <a:solidFill>
                    <a:schemeClr val="bg1"/>
                  </a:solidFill>
                </a:rPr>
                <a:t>- Pasar ID Contrato Destino : </a:t>
              </a:r>
              <a:r>
                <a:rPr lang="es-ES_tradnl" sz="1200" dirty="0" err="1">
                  <a:solidFill>
                    <a:schemeClr val="bg1"/>
                  </a:solidFill>
                </a:rPr>
                <a:t>Null</a:t>
              </a:r>
              <a:endParaRPr lang="es-ES_tradnl" sz="1200" dirty="0">
                <a:solidFill>
                  <a:schemeClr val="bg1"/>
                </a:solidFill>
              </a:endParaRPr>
            </a:p>
            <a:p>
              <a:pPr algn="just"/>
              <a:r>
                <a:rPr lang="es-ES_tradnl" sz="1200" b="1" dirty="0">
                  <a:solidFill>
                    <a:schemeClr val="bg1"/>
                  </a:solidFill>
                </a:rPr>
                <a:t>07 </a:t>
              </a:r>
              <a:r>
                <a:rPr lang="es-ES_tradnl" sz="1200" dirty="0">
                  <a:solidFill>
                    <a:schemeClr val="bg1"/>
                  </a:solidFill>
                </a:rPr>
                <a:t>- Pasar Texto de Nro. Contrato : N</a:t>
              </a:r>
            </a:p>
            <a:p>
              <a:pPr algn="just"/>
              <a:r>
                <a:rPr lang="es-ES_tradnl" sz="1200" b="1" dirty="0">
                  <a:solidFill>
                    <a:schemeClr val="bg1"/>
                  </a:solidFill>
                </a:rPr>
                <a:t>08 </a:t>
              </a:r>
              <a:r>
                <a:rPr lang="es-ES_tradnl" sz="1200" dirty="0">
                  <a:solidFill>
                    <a:schemeClr val="bg1"/>
                  </a:solidFill>
                </a:rPr>
                <a:t>- Pasar texto de alumno de Contrato : N</a:t>
              </a:r>
            </a:p>
            <a:p>
              <a:pPr algn="just"/>
              <a:r>
                <a:rPr lang="es-ES_tradnl" sz="1200" b="1" dirty="0">
                  <a:solidFill>
                    <a:schemeClr val="bg1"/>
                  </a:solidFill>
                </a:rPr>
                <a:t>*09 - </a:t>
              </a:r>
              <a:r>
                <a:rPr lang="es-ES_tradnl" sz="1200" dirty="0">
                  <a:solidFill>
                    <a:schemeClr val="bg1"/>
                  </a:solidFill>
                </a:rPr>
                <a:t>Pasar Exenciones: </a:t>
              </a:r>
              <a:r>
                <a:rPr lang="es-ES_tradnl" sz="1200" b="1" dirty="0">
                  <a:solidFill>
                    <a:schemeClr val="bg1"/>
                  </a:solidFill>
                </a:rPr>
                <a:t>Y</a:t>
              </a:r>
              <a:r>
                <a:rPr lang="es-ES_tradnl" sz="1200" dirty="0">
                  <a:solidFill>
                    <a:schemeClr val="bg1"/>
                  </a:solidFill>
                </a:rPr>
                <a:t> </a:t>
              </a:r>
              <a:r>
                <a:rPr lang="es-ES_tradnl" sz="1200" b="1" dirty="0">
                  <a:solidFill>
                    <a:schemeClr val="bg1"/>
                  </a:solidFill>
                </a:rPr>
                <a:t>(Activar para rolar Exenciones)</a:t>
              </a:r>
            </a:p>
          </p:txBody>
        </p:sp>
      </p:grpSp>
      <p:pic>
        <p:nvPicPr>
          <p:cNvPr id="10" name="Imagen 9">
            <a:extLst>
              <a:ext uri="{FF2B5EF4-FFF2-40B4-BE49-F238E27FC236}">
                <a16:creationId xmlns:a16="http://schemas.microsoft.com/office/drawing/2014/main" id="{E9621821-91E3-26DF-2E47-52A3485CEA14}"/>
              </a:ext>
            </a:extLst>
          </p:cNvPr>
          <p:cNvPicPr>
            <a:picLocks noChangeAspect="1"/>
          </p:cNvPicPr>
          <p:nvPr/>
        </p:nvPicPr>
        <p:blipFill>
          <a:blip r:embed="rId2"/>
          <a:stretch>
            <a:fillRect/>
          </a:stretch>
        </p:blipFill>
        <p:spPr>
          <a:xfrm>
            <a:off x="1304400" y="1361000"/>
            <a:ext cx="9583200" cy="2999436"/>
          </a:xfrm>
          <a:prstGeom prst="rect">
            <a:avLst/>
          </a:prstGeom>
        </p:spPr>
      </p:pic>
    </p:spTree>
    <p:extLst>
      <p:ext uri="{BB962C8B-B14F-4D97-AF65-F5344CB8AC3E}">
        <p14:creationId xmlns:p14="http://schemas.microsoft.com/office/powerpoint/2010/main" val="62966084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2DC666-FC6C-EC38-6B04-6922EF9972E1}"/>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871F7E49-E554-EEAE-1A70-8C4CD3B84A52}"/>
              </a:ext>
            </a:extLst>
          </p:cNvPr>
          <p:cNvSpPr txBox="1">
            <a:spLocks/>
          </p:cNvSpPr>
          <p:nvPr/>
        </p:nvSpPr>
        <p:spPr>
          <a:xfrm>
            <a:off x="1206747" y="410285"/>
            <a:ext cx="9153405" cy="61691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Operación: </a:t>
            </a:r>
            <a:r>
              <a:rPr lang="es-ES_tradnl" sz="3200" dirty="0"/>
              <a:t>TSRROLL Paso de Contrato y Exención</a:t>
            </a:r>
            <a:br>
              <a:rPr lang="es-CL" dirty="0"/>
            </a:br>
            <a:endParaRPr lang="es-CL" dirty="0"/>
          </a:p>
        </p:txBody>
      </p:sp>
      <p:sp>
        <p:nvSpPr>
          <p:cNvPr id="3" name="Rectángulo redondeado 5">
            <a:extLst>
              <a:ext uri="{FF2B5EF4-FFF2-40B4-BE49-F238E27FC236}">
                <a16:creationId xmlns:a16="http://schemas.microsoft.com/office/drawing/2014/main" id="{5FB1B665-6BAD-0060-D725-F8C1983BA68E}"/>
              </a:ext>
            </a:extLst>
          </p:cNvPr>
          <p:cNvSpPr/>
          <p:nvPr/>
        </p:nvSpPr>
        <p:spPr>
          <a:xfrm>
            <a:off x="1298964" y="5445287"/>
            <a:ext cx="6574020" cy="499563"/>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dirty="0"/>
              <a:t>Ingresados los parámetros, en la sección “Envío” seleccionar el Check “Guardar parámetros como”.</a:t>
            </a:r>
          </a:p>
        </p:txBody>
      </p:sp>
      <p:sp>
        <p:nvSpPr>
          <p:cNvPr id="4" name="Rectángulo redondeado 5">
            <a:extLst>
              <a:ext uri="{FF2B5EF4-FFF2-40B4-BE49-F238E27FC236}">
                <a16:creationId xmlns:a16="http://schemas.microsoft.com/office/drawing/2014/main" id="{DCACCDCB-F8E6-DCA5-7280-64DEB6CE506C}"/>
              </a:ext>
            </a:extLst>
          </p:cNvPr>
          <p:cNvSpPr/>
          <p:nvPr/>
        </p:nvSpPr>
        <p:spPr>
          <a:xfrm>
            <a:off x="8322890" y="5445286"/>
            <a:ext cx="2559274" cy="499563"/>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dirty="0"/>
              <a:t>Presionar el botón “Guardar”.</a:t>
            </a:r>
          </a:p>
        </p:txBody>
      </p:sp>
      <p:pic>
        <p:nvPicPr>
          <p:cNvPr id="6" name="Imagen 5">
            <a:extLst>
              <a:ext uri="{FF2B5EF4-FFF2-40B4-BE49-F238E27FC236}">
                <a16:creationId xmlns:a16="http://schemas.microsoft.com/office/drawing/2014/main" id="{5F215001-EDF8-24C3-E0EF-81B55EA19BEA}"/>
              </a:ext>
            </a:extLst>
          </p:cNvPr>
          <p:cNvPicPr>
            <a:picLocks noChangeAspect="1"/>
          </p:cNvPicPr>
          <p:nvPr/>
        </p:nvPicPr>
        <p:blipFill>
          <a:blip r:embed="rId2"/>
          <a:stretch>
            <a:fillRect/>
          </a:stretch>
        </p:blipFill>
        <p:spPr>
          <a:xfrm>
            <a:off x="1298964" y="1162931"/>
            <a:ext cx="9583200" cy="3583717"/>
          </a:xfrm>
          <a:prstGeom prst="rect">
            <a:avLst/>
          </a:prstGeom>
        </p:spPr>
      </p:pic>
      <p:pic>
        <p:nvPicPr>
          <p:cNvPr id="8" name="Imagen 7">
            <a:extLst>
              <a:ext uri="{FF2B5EF4-FFF2-40B4-BE49-F238E27FC236}">
                <a16:creationId xmlns:a16="http://schemas.microsoft.com/office/drawing/2014/main" id="{11DCE387-3176-3252-3AB3-FFF26A4FBFFD}"/>
              </a:ext>
            </a:extLst>
          </p:cNvPr>
          <p:cNvPicPr>
            <a:picLocks noChangeAspect="1"/>
          </p:cNvPicPr>
          <p:nvPr/>
        </p:nvPicPr>
        <p:blipFill>
          <a:blip r:embed="rId3"/>
          <a:stretch>
            <a:fillRect/>
          </a:stretch>
        </p:blipFill>
        <p:spPr>
          <a:xfrm>
            <a:off x="1298964" y="4807499"/>
            <a:ext cx="9583200" cy="339582"/>
          </a:xfrm>
          <a:prstGeom prst="rect">
            <a:avLst/>
          </a:prstGeom>
        </p:spPr>
      </p:pic>
    </p:spTree>
    <p:extLst>
      <p:ext uri="{BB962C8B-B14F-4D97-AF65-F5344CB8AC3E}">
        <p14:creationId xmlns:p14="http://schemas.microsoft.com/office/powerpoint/2010/main" val="295403111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40DAC7-A94A-6F77-3BD2-78FE5D928B36}"/>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E9C9D699-3982-C2F3-55BD-53FF40B97CEA}"/>
              </a:ext>
            </a:extLst>
          </p:cNvPr>
          <p:cNvSpPr txBox="1">
            <a:spLocks/>
          </p:cNvSpPr>
          <p:nvPr/>
        </p:nvSpPr>
        <p:spPr>
          <a:xfrm>
            <a:off x="1179315" y="1055051"/>
            <a:ext cx="8979669" cy="61691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Operación: </a:t>
            </a:r>
            <a:r>
              <a:rPr lang="es-ES_tradnl" sz="3200" dirty="0"/>
              <a:t>TSRROLL Paso de Contrato y Exención</a:t>
            </a:r>
            <a:br>
              <a:rPr lang="es-CL" dirty="0"/>
            </a:br>
            <a:endParaRPr lang="es-CL" dirty="0"/>
          </a:p>
        </p:txBody>
      </p:sp>
      <p:sp>
        <p:nvSpPr>
          <p:cNvPr id="3" name="Rectángulo redondeado 5">
            <a:extLst>
              <a:ext uri="{FF2B5EF4-FFF2-40B4-BE49-F238E27FC236}">
                <a16:creationId xmlns:a16="http://schemas.microsoft.com/office/drawing/2014/main" id="{35D8421F-FF33-EC68-92EA-069F5B2930BB}"/>
              </a:ext>
            </a:extLst>
          </p:cNvPr>
          <p:cNvSpPr/>
          <p:nvPr/>
        </p:nvSpPr>
        <p:spPr>
          <a:xfrm>
            <a:off x="1371339" y="3903853"/>
            <a:ext cx="6687127" cy="543113"/>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dirty="0"/>
              <a:t>Confirmación de la ejecución del Proceso. Generación de los archivos .LIS y .LOG</a:t>
            </a:r>
          </a:p>
        </p:txBody>
      </p:sp>
      <p:pic>
        <p:nvPicPr>
          <p:cNvPr id="5" name="Imagen 4">
            <a:extLst>
              <a:ext uri="{FF2B5EF4-FFF2-40B4-BE49-F238E27FC236}">
                <a16:creationId xmlns:a16="http://schemas.microsoft.com/office/drawing/2014/main" id="{FF93FB66-8CD8-D1AC-18D0-6EDDAFB000EC}"/>
              </a:ext>
            </a:extLst>
          </p:cNvPr>
          <p:cNvPicPr>
            <a:picLocks noChangeAspect="1"/>
          </p:cNvPicPr>
          <p:nvPr/>
        </p:nvPicPr>
        <p:blipFill>
          <a:blip r:embed="rId2"/>
          <a:stretch>
            <a:fillRect/>
          </a:stretch>
        </p:blipFill>
        <p:spPr>
          <a:xfrm>
            <a:off x="1304400" y="1976511"/>
            <a:ext cx="9583200" cy="1533112"/>
          </a:xfrm>
          <a:prstGeom prst="rect">
            <a:avLst/>
          </a:prstGeom>
        </p:spPr>
      </p:pic>
    </p:spTree>
    <p:extLst>
      <p:ext uri="{BB962C8B-B14F-4D97-AF65-F5344CB8AC3E}">
        <p14:creationId xmlns:p14="http://schemas.microsoft.com/office/powerpoint/2010/main" val="286069721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36F429-3098-DB18-3A31-CFF8EFA8C211}"/>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F5E121BF-754D-7C99-AE0A-82B565E71D9C}"/>
              </a:ext>
            </a:extLst>
          </p:cNvPr>
          <p:cNvSpPr txBox="1">
            <a:spLocks/>
          </p:cNvSpPr>
          <p:nvPr/>
        </p:nvSpPr>
        <p:spPr>
          <a:xfrm>
            <a:off x="1215891" y="604556"/>
            <a:ext cx="9308853" cy="61691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Operación: </a:t>
            </a:r>
            <a:r>
              <a:rPr lang="es-ES_tradnl" sz="3200" dirty="0"/>
              <a:t>TSRROLL Paso de Contrato y Exención</a:t>
            </a:r>
            <a:br>
              <a:rPr lang="es-CL" dirty="0"/>
            </a:br>
            <a:endParaRPr lang="es-CL" dirty="0"/>
          </a:p>
        </p:txBody>
      </p:sp>
      <p:sp>
        <p:nvSpPr>
          <p:cNvPr id="3" name="Rectángulo redondeado 5">
            <a:extLst>
              <a:ext uri="{FF2B5EF4-FFF2-40B4-BE49-F238E27FC236}">
                <a16:creationId xmlns:a16="http://schemas.microsoft.com/office/drawing/2014/main" id="{EC655447-2A42-F255-7825-9FC89775CE2A}"/>
              </a:ext>
            </a:extLst>
          </p:cNvPr>
          <p:cNvSpPr/>
          <p:nvPr/>
        </p:nvSpPr>
        <p:spPr>
          <a:xfrm>
            <a:off x="1215891" y="4855463"/>
            <a:ext cx="9671709" cy="805205"/>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b="1" dirty="0"/>
              <a:t>Revisión salida en GJIREVO</a:t>
            </a:r>
            <a:r>
              <a:rPr lang="es-ES_tradnl" sz="1200" dirty="0"/>
              <a:t>:</a:t>
            </a:r>
          </a:p>
          <a:p>
            <a:r>
              <a:rPr lang="es-ES_tradnl" sz="1200" dirty="0"/>
              <a:t>Para revisar los archivos .LIS y .LOG se debe ingresar a la aplicación GJIREVO o bien en la sección superior del menú, en la opción “Relacionado” se desplegaría una serie de opciones, </a:t>
            </a:r>
          </a:p>
        </p:txBody>
      </p:sp>
      <p:pic>
        <p:nvPicPr>
          <p:cNvPr id="5" name="Imagen 4">
            <a:extLst>
              <a:ext uri="{FF2B5EF4-FFF2-40B4-BE49-F238E27FC236}">
                <a16:creationId xmlns:a16="http://schemas.microsoft.com/office/drawing/2014/main" id="{FA2873A0-9F15-1502-D3D3-CD8FD5B671E4}"/>
              </a:ext>
            </a:extLst>
          </p:cNvPr>
          <p:cNvPicPr>
            <a:picLocks noChangeAspect="1"/>
          </p:cNvPicPr>
          <p:nvPr/>
        </p:nvPicPr>
        <p:blipFill>
          <a:blip r:embed="rId2"/>
          <a:stretch>
            <a:fillRect/>
          </a:stretch>
        </p:blipFill>
        <p:spPr>
          <a:xfrm>
            <a:off x="1304400" y="1486040"/>
            <a:ext cx="9583200" cy="2960989"/>
          </a:xfrm>
          <a:prstGeom prst="rect">
            <a:avLst/>
          </a:prstGeom>
        </p:spPr>
      </p:pic>
    </p:spTree>
    <p:extLst>
      <p:ext uri="{BB962C8B-B14F-4D97-AF65-F5344CB8AC3E}">
        <p14:creationId xmlns:p14="http://schemas.microsoft.com/office/powerpoint/2010/main" val="428761653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3D57AE-77CC-C268-BE5B-93E34044B573}"/>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7F75BA5A-1903-BC13-F520-A86B2496E766}"/>
              </a:ext>
            </a:extLst>
          </p:cNvPr>
          <p:cNvSpPr txBox="1">
            <a:spLocks/>
          </p:cNvSpPr>
          <p:nvPr/>
        </p:nvSpPr>
        <p:spPr>
          <a:xfrm>
            <a:off x="1170170" y="963611"/>
            <a:ext cx="9717427" cy="61691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Operación: </a:t>
            </a:r>
            <a:r>
              <a:rPr lang="es-ES_tradnl" sz="3200" dirty="0"/>
              <a:t>TSRROLL Paso de Contrato y Exención</a:t>
            </a:r>
            <a:br>
              <a:rPr lang="es-CL" dirty="0"/>
            </a:br>
            <a:endParaRPr lang="es-CL" dirty="0"/>
          </a:p>
        </p:txBody>
      </p:sp>
      <p:sp>
        <p:nvSpPr>
          <p:cNvPr id="3" name="Rectángulo redondeado 5">
            <a:extLst>
              <a:ext uri="{FF2B5EF4-FFF2-40B4-BE49-F238E27FC236}">
                <a16:creationId xmlns:a16="http://schemas.microsoft.com/office/drawing/2014/main" id="{AFED3785-573A-BCE7-07C4-19E34DEFD8ED}"/>
              </a:ext>
            </a:extLst>
          </p:cNvPr>
          <p:cNvSpPr/>
          <p:nvPr/>
        </p:nvSpPr>
        <p:spPr>
          <a:xfrm>
            <a:off x="1304397" y="3999002"/>
            <a:ext cx="9583200" cy="76068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ES_tradnl" sz="1200" dirty="0"/>
              <a:t>Ratificando que el campo “Número” cuente con la numeración asignada al proceso ejecutado, en el campo Nombre de Archivo, se despliega las opciones de los archivos .LIS y .LOG. </a:t>
            </a:r>
          </a:p>
        </p:txBody>
      </p:sp>
      <p:pic>
        <p:nvPicPr>
          <p:cNvPr id="5" name="Imagen 4">
            <a:extLst>
              <a:ext uri="{FF2B5EF4-FFF2-40B4-BE49-F238E27FC236}">
                <a16:creationId xmlns:a16="http://schemas.microsoft.com/office/drawing/2014/main" id="{E0D7C4A5-4B67-859A-4262-AF8A0522EDDC}"/>
              </a:ext>
            </a:extLst>
          </p:cNvPr>
          <p:cNvPicPr>
            <a:picLocks noChangeAspect="1"/>
          </p:cNvPicPr>
          <p:nvPr/>
        </p:nvPicPr>
        <p:blipFill>
          <a:blip r:embed="rId2"/>
          <a:stretch>
            <a:fillRect/>
          </a:stretch>
        </p:blipFill>
        <p:spPr>
          <a:xfrm>
            <a:off x="1304397" y="1868253"/>
            <a:ext cx="9583200" cy="1672069"/>
          </a:xfrm>
          <a:prstGeom prst="rect">
            <a:avLst/>
          </a:prstGeom>
        </p:spPr>
      </p:pic>
    </p:spTree>
    <p:extLst>
      <p:ext uri="{BB962C8B-B14F-4D97-AF65-F5344CB8AC3E}">
        <p14:creationId xmlns:p14="http://schemas.microsoft.com/office/powerpoint/2010/main" val="304836465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67132B-0B88-CE3D-A9E5-8CCF8EC9AEA3}"/>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E4E3ECB2-5140-945B-89D0-97DE8481AEDF}"/>
              </a:ext>
            </a:extLst>
          </p:cNvPr>
          <p:cNvSpPr txBox="1">
            <a:spLocks/>
          </p:cNvSpPr>
          <p:nvPr/>
        </p:nvSpPr>
        <p:spPr>
          <a:xfrm>
            <a:off x="1215891" y="510245"/>
            <a:ext cx="8952237" cy="61691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Operación: </a:t>
            </a:r>
            <a:r>
              <a:rPr lang="es-ES_tradnl" sz="3200" dirty="0"/>
              <a:t>TSRROLL Paso de Contrato y Exención</a:t>
            </a:r>
            <a:br>
              <a:rPr lang="es-CL" dirty="0"/>
            </a:br>
            <a:endParaRPr lang="es-CL" dirty="0"/>
          </a:p>
        </p:txBody>
      </p:sp>
      <p:sp>
        <p:nvSpPr>
          <p:cNvPr id="4" name="Rectángulo redondeado 5">
            <a:extLst>
              <a:ext uri="{FF2B5EF4-FFF2-40B4-BE49-F238E27FC236}">
                <a16:creationId xmlns:a16="http://schemas.microsoft.com/office/drawing/2014/main" id="{32D4180A-C3FF-D6BE-7872-74D4B6569A18}"/>
              </a:ext>
            </a:extLst>
          </p:cNvPr>
          <p:cNvSpPr/>
          <p:nvPr/>
        </p:nvSpPr>
        <p:spPr>
          <a:xfrm>
            <a:off x="1304400" y="5553638"/>
            <a:ext cx="9512952" cy="51022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dirty="0"/>
              <a:t>En la ventana emergente se debe seleccionar el archivo a analizar, .LIS o .LOG, luego dar clic al botón OK.</a:t>
            </a:r>
          </a:p>
        </p:txBody>
      </p:sp>
      <p:pic>
        <p:nvPicPr>
          <p:cNvPr id="7" name="Imagen 6">
            <a:extLst>
              <a:ext uri="{FF2B5EF4-FFF2-40B4-BE49-F238E27FC236}">
                <a16:creationId xmlns:a16="http://schemas.microsoft.com/office/drawing/2014/main" id="{213819D9-F15E-CE9C-FC76-B67EDEE56C5E}"/>
              </a:ext>
            </a:extLst>
          </p:cNvPr>
          <p:cNvPicPr>
            <a:picLocks noChangeAspect="1"/>
          </p:cNvPicPr>
          <p:nvPr/>
        </p:nvPicPr>
        <p:blipFill>
          <a:blip r:embed="rId2"/>
          <a:stretch>
            <a:fillRect/>
          </a:stretch>
        </p:blipFill>
        <p:spPr>
          <a:xfrm>
            <a:off x="1304400" y="1127160"/>
            <a:ext cx="9583200" cy="4426478"/>
          </a:xfrm>
          <a:prstGeom prst="rect">
            <a:avLst/>
          </a:prstGeom>
        </p:spPr>
      </p:pic>
    </p:spTree>
    <p:extLst>
      <p:ext uri="{BB962C8B-B14F-4D97-AF65-F5344CB8AC3E}">
        <p14:creationId xmlns:p14="http://schemas.microsoft.com/office/powerpoint/2010/main" val="38381747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937972-CD68-ACE4-AB32-7F549546A94F}"/>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340742F0-03A4-8549-28FE-F5651F043A21}"/>
              </a:ext>
            </a:extLst>
          </p:cNvPr>
          <p:cNvSpPr txBox="1">
            <a:spLocks/>
          </p:cNvSpPr>
          <p:nvPr/>
        </p:nvSpPr>
        <p:spPr>
          <a:xfrm>
            <a:off x="1179315" y="826451"/>
            <a:ext cx="9107685" cy="61691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Operación: </a:t>
            </a:r>
            <a:r>
              <a:rPr lang="es-ES_tradnl" sz="3200" dirty="0"/>
              <a:t>TSRROLL Paso de Contrato y Exención</a:t>
            </a:r>
            <a:br>
              <a:rPr lang="es-CL" dirty="0"/>
            </a:br>
            <a:endParaRPr lang="es-CL" dirty="0"/>
          </a:p>
        </p:txBody>
      </p:sp>
      <p:sp>
        <p:nvSpPr>
          <p:cNvPr id="4" name="Rectángulo redondeado 5">
            <a:extLst>
              <a:ext uri="{FF2B5EF4-FFF2-40B4-BE49-F238E27FC236}">
                <a16:creationId xmlns:a16="http://schemas.microsoft.com/office/drawing/2014/main" id="{AD6FC5D3-3251-00F5-7D48-3CC6CD04F280}"/>
              </a:ext>
            </a:extLst>
          </p:cNvPr>
          <p:cNvSpPr/>
          <p:nvPr/>
        </p:nvSpPr>
        <p:spPr>
          <a:xfrm>
            <a:off x="1304400" y="4728945"/>
            <a:ext cx="4931703" cy="468714"/>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dirty="0"/>
              <a:t>El archivo .LIS confirma la actualización de los registros de exención.</a:t>
            </a:r>
          </a:p>
        </p:txBody>
      </p:sp>
      <p:pic>
        <p:nvPicPr>
          <p:cNvPr id="7" name="Imagen 6">
            <a:extLst>
              <a:ext uri="{FF2B5EF4-FFF2-40B4-BE49-F238E27FC236}">
                <a16:creationId xmlns:a16="http://schemas.microsoft.com/office/drawing/2014/main" id="{7B04ED51-81E4-E6F9-CDC5-C5238F58FEA2}"/>
              </a:ext>
            </a:extLst>
          </p:cNvPr>
          <p:cNvPicPr>
            <a:picLocks noChangeAspect="1"/>
          </p:cNvPicPr>
          <p:nvPr/>
        </p:nvPicPr>
        <p:blipFill>
          <a:blip r:embed="rId2"/>
          <a:stretch>
            <a:fillRect/>
          </a:stretch>
        </p:blipFill>
        <p:spPr>
          <a:xfrm>
            <a:off x="1304400" y="1550838"/>
            <a:ext cx="9583200" cy="2708188"/>
          </a:xfrm>
          <a:prstGeom prst="rect">
            <a:avLst/>
          </a:prstGeom>
        </p:spPr>
      </p:pic>
    </p:spTree>
    <p:extLst>
      <p:ext uri="{BB962C8B-B14F-4D97-AF65-F5344CB8AC3E}">
        <p14:creationId xmlns:p14="http://schemas.microsoft.com/office/powerpoint/2010/main" val="177240670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0C99E0-CE3E-445A-B0BC-84B22DA9EED2}"/>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3E5A4B60-67C7-D8AD-BE09-18B76C7945A8}"/>
              </a:ext>
            </a:extLst>
          </p:cNvPr>
          <p:cNvSpPr txBox="1">
            <a:spLocks/>
          </p:cNvSpPr>
          <p:nvPr/>
        </p:nvSpPr>
        <p:spPr>
          <a:xfrm>
            <a:off x="1133595" y="707579"/>
            <a:ext cx="8933949" cy="61691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Operación: </a:t>
            </a:r>
            <a:r>
              <a:rPr lang="es-ES_tradnl" sz="3200" dirty="0"/>
              <a:t>TSRROLL Paso de Contrato y Exención</a:t>
            </a:r>
            <a:br>
              <a:rPr lang="es-CL" dirty="0"/>
            </a:br>
            <a:endParaRPr lang="es-CL" dirty="0"/>
          </a:p>
        </p:txBody>
      </p:sp>
      <p:sp>
        <p:nvSpPr>
          <p:cNvPr id="4" name="Rectángulo redondeado 5">
            <a:extLst>
              <a:ext uri="{FF2B5EF4-FFF2-40B4-BE49-F238E27FC236}">
                <a16:creationId xmlns:a16="http://schemas.microsoft.com/office/drawing/2014/main" id="{B0C48B5C-641E-C9BD-B2DC-1A5CE6F24B3F}"/>
              </a:ext>
            </a:extLst>
          </p:cNvPr>
          <p:cNvSpPr/>
          <p:nvPr/>
        </p:nvSpPr>
        <p:spPr>
          <a:xfrm>
            <a:off x="1304400" y="4700694"/>
            <a:ext cx="4938021" cy="468714"/>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dirty="0"/>
              <a:t>El archivo .LIS confirma la actualización de los registros de exención.</a:t>
            </a:r>
          </a:p>
        </p:txBody>
      </p:sp>
      <p:pic>
        <p:nvPicPr>
          <p:cNvPr id="5" name="Imagen 4">
            <a:extLst>
              <a:ext uri="{FF2B5EF4-FFF2-40B4-BE49-F238E27FC236}">
                <a16:creationId xmlns:a16="http://schemas.microsoft.com/office/drawing/2014/main" id="{0FB88FAD-E204-4ADB-980A-B3C4D27A2A34}"/>
              </a:ext>
            </a:extLst>
          </p:cNvPr>
          <p:cNvPicPr>
            <a:picLocks noChangeAspect="1"/>
          </p:cNvPicPr>
          <p:nvPr/>
        </p:nvPicPr>
        <p:blipFill>
          <a:blip r:embed="rId2"/>
          <a:stretch>
            <a:fillRect/>
          </a:stretch>
        </p:blipFill>
        <p:spPr>
          <a:xfrm>
            <a:off x="1304400" y="1440486"/>
            <a:ext cx="9583200" cy="2881941"/>
          </a:xfrm>
          <a:prstGeom prst="rect">
            <a:avLst/>
          </a:prstGeom>
        </p:spPr>
      </p:pic>
    </p:spTree>
    <p:extLst>
      <p:ext uri="{BB962C8B-B14F-4D97-AF65-F5344CB8AC3E}">
        <p14:creationId xmlns:p14="http://schemas.microsoft.com/office/powerpoint/2010/main" val="367695816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3E8006-BF04-268B-D731-1E0944D8BD62}"/>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10D2F8D2-2B4F-7720-EB5A-7DB4CB536D3D}"/>
              </a:ext>
            </a:extLst>
          </p:cNvPr>
          <p:cNvSpPr txBox="1">
            <a:spLocks/>
          </p:cNvSpPr>
          <p:nvPr/>
        </p:nvSpPr>
        <p:spPr>
          <a:xfrm>
            <a:off x="1234179" y="588707"/>
            <a:ext cx="9025389" cy="61691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Operación: </a:t>
            </a:r>
            <a:r>
              <a:rPr lang="es-ES_tradnl" sz="3200" dirty="0"/>
              <a:t>TSRROLL Paso de Contrato y Exención</a:t>
            </a:r>
            <a:br>
              <a:rPr lang="es-CL" dirty="0"/>
            </a:br>
            <a:endParaRPr lang="es-CL" dirty="0"/>
          </a:p>
        </p:txBody>
      </p:sp>
      <p:sp>
        <p:nvSpPr>
          <p:cNvPr id="3" name="Rectángulo redondeado 5">
            <a:extLst>
              <a:ext uri="{FF2B5EF4-FFF2-40B4-BE49-F238E27FC236}">
                <a16:creationId xmlns:a16="http://schemas.microsoft.com/office/drawing/2014/main" id="{1DB323F5-B840-04B4-3622-FF445D287DDE}"/>
              </a:ext>
            </a:extLst>
          </p:cNvPr>
          <p:cNvSpPr/>
          <p:nvPr/>
        </p:nvSpPr>
        <p:spPr>
          <a:xfrm>
            <a:off x="1304400" y="4935275"/>
            <a:ext cx="3602997" cy="508696"/>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dirty="0"/>
              <a:t>El archivo .LOG confirma ejecución completa.</a:t>
            </a:r>
          </a:p>
        </p:txBody>
      </p:sp>
      <p:pic>
        <p:nvPicPr>
          <p:cNvPr id="7" name="Imagen 6">
            <a:extLst>
              <a:ext uri="{FF2B5EF4-FFF2-40B4-BE49-F238E27FC236}">
                <a16:creationId xmlns:a16="http://schemas.microsoft.com/office/drawing/2014/main" id="{3522CD8D-71AB-9524-48A6-83A43215EB57}"/>
              </a:ext>
            </a:extLst>
          </p:cNvPr>
          <p:cNvPicPr>
            <a:picLocks noChangeAspect="1"/>
          </p:cNvPicPr>
          <p:nvPr/>
        </p:nvPicPr>
        <p:blipFill>
          <a:blip r:embed="rId2"/>
          <a:stretch>
            <a:fillRect/>
          </a:stretch>
        </p:blipFill>
        <p:spPr>
          <a:xfrm>
            <a:off x="1304400" y="1329442"/>
            <a:ext cx="9583200" cy="3152828"/>
          </a:xfrm>
          <a:prstGeom prst="rect">
            <a:avLst/>
          </a:prstGeom>
        </p:spPr>
      </p:pic>
    </p:spTree>
    <p:extLst>
      <p:ext uri="{BB962C8B-B14F-4D97-AF65-F5344CB8AC3E}">
        <p14:creationId xmlns:p14="http://schemas.microsoft.com/office/powerpoint/2010/main" val="31404893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AB1A35-07F0-E6BD-D942-B9E87B521A33}"/>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E8BAD7A5-C7FC-5340-11D4-46B713D3263B}"/>
              </a:ext>
            </a:extLst>
          </p:cNvPr>
          <p:cNvSpPr txBox="1">
            <a:spLocks/>
          </p:cNvSpPr>
          <p:nvPr/>
        </p:nvSpPr>
        <p:spPr>
          <a:xfrm>
            <a:off x="1156277" y="1057207"/>
            <a:ext cx="8853472" cy="61691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Operación: </a:t>
            </a:r>
            <a:r>
              <a:rPr lang="es-ES_tradnl" sz="3200" dirty="0"/>
              <a:t>TSAEXPT - </a:t>
            </a:r>
            <a:r>
              <a:rPr lang="en-US" sz="3200" dirty="0"/>
              <a:t>Autorización de exención</a:t>
            </a:r>
            <a:br>
              <a:rPr lang="es-CL" dirty="0"/>
            </a:br>
            <a:endParaRPr lang="es-CL" dirty="0"/>
          </a:p>
        </p:txBody>
      </p:sp>
      <p:sp>
        <p:nvSpPr>
          <p:cNvPr id="4" name="Rectángulo redondeado 5">
            <a:extLst>
              <a:ext uri="{FF2B5EF4-FFF2-40B4-BE49-F238E27FC236}">
                <a16:creationId xmlns:a16="http://schemas.microsoft.com/office/drawing/2014/main" id="{E68D2AFC-11CD-349F-8EEF-731820D182E5}"/>
              </a:ext>
            </a:extLst>
          </p:cNvPr>
          <p:cNvSpPr/>
          <p:nvPr/>
        </p:nvSpPr>
        <p:spPr>
          <a:xfrm>
            <a:off x="1156277" y="3837453"/>
            <a:ext cx="7929928" cy="505947"/>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dirty="0"/>
              <a:t>Para consulta de las exenciones roladas, hacer </a:t>
            </a:r>
            <a:r>
              <a:rPr lang="es-ES_tradnl" sz="1200" dirty="0" err="1"/>
              <a:t>click</a:t>
            </a:r>
            <a:r>
              <a:rPr lang="es-ES_tradnl" sz="1200" dirty="0"/>
              <a:t> en el botón        del campo Código de exención.</a:t>
            </a:r>
          </a:p>
        </p:txBody>
      </p:sp>
      <p:pic>
        <p:nvPicPr>
          <p:cNvPr id="5" name="Picture 10">
            <a:extLst>
              <a:ext uri="{FF2B5EF4-FFF2-40B4-BE49-F238E27FC236}">
                <a16:creationId xmlns:a16="http://schemas.microsoft.com/office/drawing/2014/main" id="{4A563855-F2BE-2815-A844-5B66D1EE4C4E}"/>
              </a:ext>
            </a:extLst>
          </p:cNvPr>
          <p:cNvPicPr>
            <a:picLocks noChangeAspect="1"/>
          </p:cNvPicPr>
          <p:nvPr/>
        </p:nvPicPr>
        <p:blipFill>
          <a:blip r:embed="rId2"/>
          <a:stretch>
            <a:fillRect/>
          </a:stretch>
        </p:blipFill>
        <p:spPr>
          <a:xfrm>
            <a:off x="5476326" y="3970095"/>
            <a:ext cx="228600" cy="222373"/>
          </a:xfrm>
          <a:prstGeom prst="rect">
            <a:avLst/>
          </a:prstGeom>
        </p:spPr>
      </p:pic>
      <p:pic>
        <p:nvPicPr>
          <p:cNvPr id="8" name="Imagen 7">
            <a:extLst>
              <a:ext uri="{FF2B5EF4-FFF2-40B4-BE49-F238E27FC236}">
                <a16:creationId xmlns:a16="http://schemas.microsoft.com/office/drawing/2014/main" id="{D4022E5A-C550-B2C3-ACCF-4F9F4898175B}"/>
              </a:ext>
            </a:extLst>
          </p:cNvPr>
          <p:cNvPicPr>
            <a:picLocks noChangeAspect="1"/>
          </p:cNvPicPr>
          <p:nvPr/>
        </p:nvPicPr>
        <p:blipFill>
          <a:blip r:embed="rId3"/>
          <a:stretch>
            <a:fillRect/>
          </a:stretch>
        </p:blipFill>
        <p:spPr>
          <a:xfrm>
            <a:off x="1156277" y="2181794"/>
            <a:ext cx="9583200" cy="1147987"/>
          </a:xfrm>
          <a:prstGeom prst="rect">
            <a:avLst/>
          </a:prstGeom>
        </p:spPr>
      </p:pic>
    </p:spTree>
    <p:extLst>
      <p:ext uri="{BB962C8B-B14F-4D97-AF65-F5344CB8AC3E}">
        <p14:creationId xmlns:p14="http://schemas.microsoft.com/office/powerpoint/2010/main" val="424111818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063572-0340-4C74-8DCC-4681571ED62B}"/>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69595AE7-50FB-ACF4-4A4D-E73205CE2CBE}"/>
              </a:ext>
            </a:extLst>
          </p:cNvPr>
          <p:cNvSpPr txBox="1">
            <a:spLocks/>
          </p:cNvSpPr>
          <p:nvPr/>
        </p:nvSpPr>
        <p:spPr>
          <a:xfrm>
            <a:off x="1089255" y="991491"/>
            <a:ext cx="8393073" cy="61691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Operación: </a:t>
            </a:r>
            <a:r>
              <a:rPr lang="es-ES_tradnl" sz="3200" dirty="0"/>
              <a:t>TSAEXPT - </a:t>
            </a:r>
            <a:r>
              <a:rPr lang="en-US" sz="3200" dirty="0"/>
              <a:t>Autorización de exención</a:t>
            </a:r>
            <a:br>
              <a:rPr lang="es-CL" dirty="0"/>
            </a:br>
            <a:endParaRPr lang="es-CL" dirty="0"/>
          </a:p>
        </p:txBody>
      </p:sp>
      <p:sp>
        <p:nvSpPr>
          <p:cNvPr id="3" name="Rectángulo redondeado 5">
            <a:extLst>
              <a:ext uri="{FF2B5EF4-FFF2-40B4-BE49-F238E27FC236}">
                <a16:creationId xmlns:a16="http://schemas.microsoft.com/office/drawing/2014/main" id="{E78F4732-B0D7-4255-8478-1EBCA7056258}"/>
              </a:ext>
            </a:extLst>
          </p:cNvPr>
          <p:cNvSpPr/>
          <p:nvPr/>
        </p:nvSpPr>
        <p:spPr>
          <a:xfrm>
            <a:off x="1187038" y="4032238"/>
            <a:ext cx="9583200" cy="676921"/>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dirty="0"/>
              <a:t>Se abre la página Consulta de exención, en la que se puede filtrar el periodo recientemente rolado para validar que el resultado obtenido fue el esperado.</a:t>
            </a:r>
          </a:p>
        </p:txBody>
      </p:sp>
      <p:pic>
        <p:nvPicPr>
          <p:cNvPr id="9" name="Imagen 8">
            <a:extLst>
              <a:ext uri="{FF2B5EF4-FFF2-40B4-BE49-F238E27FC236}">
                <a16:creationId xmlns:a16="http://schemas.microsoft.com/office/drawing/2014/main" id="{F6E0A396-7F22-6E06-F970-6437C6966498}"/>
              </a:ext>
            </a:extLst>
          </p:cNvPr>
          <p:cNvPicPr>
            <a:picLocks noChangeAspect="1"/>
          </p:cNvPicPr>
          <p:nvPr/>
        </p:nvPicPr>
        <p:blipFill>
          <a:blip r:embed="rId2"/>
          <a:stretch>
            <a:fillRect/>
          </a:stretch>
        </p:blipFill>
        <p:spPr>
          <a:xfrm>
            <a:off x="1187037" y="1840932"/>
            <a:ext cx="9583200" cy="1762830"/>
          </a:xfrm>
          <a:prstGeom prst="rect">
            <a:avLst/>
          </a:prstGeom>
        </p:spPr>
      </p:pic>
    </p:spTree>
    <p:extLst>
      <p:ext uri="{BB962C8B-B14F-4D97-AF65-F5344CB8AC3E}">
        <p14:creationId xmlns:p14="http://schemas.microsoft.com/office/powerpoint/2010/main" val="58823108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2A4E53-BEA3-978C-DC74-A750AF39B4BF}"/>
            </a:ext>
          </a:extLst>
        </p:cNvPr>
        <p:cNvGrpSpPr/>
        <p:nvPr/>
      </p:nvGrpSpPr>
      <p:grpSpPr>
        <a:xfrm>
          <a:off x="0" y="0"/>
          <a:ext cx="0" cy="0"/>
          <a:chOff x="0" y="0"/>
          <a:chExt cx="0" cy="0"/>
        </a:xfrm>
      </p:grpSpPr>
      <p:sp>
        <p:nvSpPr>
          <p:cNvPr id="5" name="CuadroTexto 4">
            <a:extLst>
              <a:ext uri="{FF2B5EF4-FFF2-40B4-BE49-F238E27FC236}">
                <a16:creationId xmlns:a16="http://schemas.microsoft.com/office/drawing/2014/main" id="{F5DF767C-5DF1-4193-1BF2-5BB84CBC4E6E}"/>
              </a:ext>
            </a:extLst>
          </p:cNvPr>
          <p:cNvSpPr txBox="1"/>
          <p:nvPr/>
        </p:nvSpPr>
        <p:spPr>
          <a:xfrm>
            <a:off x="711313" y="1672888"/>
            <a:ext cx="10261487" cy="1938992"/>
          </a:xfrm>
          <a:prstGeom prst="rect">
            <a:avLst/>
          </a:prstGeom>
          <a:noFill/>
        </p:spPr>
        <p:txBody>
          <a:bodyPr wrap="square">
            <a:spAutoFit/>
          </a:bodyPr>
          <a:lstStyle/>
          <a:p>
            <a:r>
              <a:rPr lang="es-ES" sz="6000" b="1" dirty="0">
                <a:solidFill>
                  <a:schemeClr val="bg1"/>
                </a:solidFill>
              </a:rPr>
              <a:t>Cargador de Becas (exenciones)</a:t>
            </a:r>
            <a:endParaRPr lang="en-US" sz="6000" b="1" dirty="0">
              <a:solidFill>
                <a:schemeClr val="bg1"/>
              </a:solidFill>
            </a:endParaRPr>
          </a:p>
        </p:txBody>
      </p:sp>
      <p:sp>
        <p:nvSpPr>
          <p:cNvPr id="2" name="Text Placeholder 16">
            <a:extLst>
              <a:ext uri="{FF2B5EF4-FFF2-40B4-BE49-F238E27FC236}">
                <a16:creationId xmlns:a16="http://schemas.microsoft.com/office/drawing/2014/main" id="{611B9EDA-8D97-F916-BC39-5FC3E545233F}"/>
              </a:ext>
            </a:extLst>
          </p:cNvPr>
          <p:cNvSpPr txBox="1">
            <a:spLocks/>
          </p:cNvSpPr>
          <p:nvPr/>
        </p:nvSpPr>
        <p:spPr>
          <a:xfrm>
            <a:off x="711313" y="3773603"/>
            <a:ext cx="7092820" cy="774441"/>
          </a:xfrm>
          <a:prstGeom prst="rect">
            <a:avLst/>
          </a:prstGeom>
        </p:spPr>
        <p:txBody>
          <a:bodyPr/>
          <a:lst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CO" sz="2000" b="1" dirty="0">
                <a:solidFill>
                  <a:schemeClr val="bg1"/>
                </a:solidFill>
              </a:rPr>
              <a:t>Gestionar los beneficios</a:t>
            </a:r>
          </a:p>
        </p:txBody>
      </p:sp>
    </p:spTree>
    <p:extLst>
      <p:ext uri="{BB962C8B-B14F-4D97-AF65-F5344CB8AC3E}">
        <p14:creationId xmlns:p14="http://schemas.microsoft.com/office/powerpoint/2010/main" val="223925714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6A882C-2044-05CB-445A-0F5CBDF9C739}"/>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6FE0FCC6-10DB-ACEF-33E5-FEB9DFD7CE28}"/>
              </a:ext>
            </a:extLst>
          </p:cNvPr>
          <p:cNvSpPr txBox="1">
            <a:spLocks/>
          </p:cNvSpPr>
          <p:nvPr/>
        </p:nvSpPr>
        <p:spPr>
          <a:xfrm>
            <a:off x="1179315" y="756863"/>
            <a:ext cx="8769357" cy="61691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Escenario Previo:</a:t>
            </a:r>
            <a:r>
              <a:rPr lang="es-ES_tradnl" sz="3200" dirty="0">
                <a:solidFill>
                  <a:schemeClr val="tx2"/>
                </a:solidFill>
              </a:rPr>
              <a:t> </a:t>
            </a:r>
            <a:r>
              <a:rPr lang="es-ES_tradnl" sz="3200" dirty="0"/>
              <a:t>Cargador de Becas - Template</a:t>
            </a:r>
            <a:br>
              <a:rPr lang="es-CL" dirty="0"/>
            </a:br>
            <a:endParaRPr lang="es-CL" dirty="0"/>
          </a:p>
        </p:txBody>
      </p:sp>
      <p:sp>
        <p:nvSpPr>
          <p:cNvPr id="4" name="Rectángulo redondeado 5">
            <a:extLst>
              <a:ext uri="{FF2B5EF4-FFF2-40B4-BE49-F238E27FC236}">
                <a16:creationId xmlns:a16="http://schemas.microsoft.com/office/drawing/2014/main" id="{47696565-2D2B-568F-CA4D-3E8103328FCC}"/>
              </a:ext>
            </a:extLst>
          </p:cNvPr>
          <p:cNvSpPr/>
          <p:nvPr/>
        </p:nvSpPr>
        <p:spPr>
          <a:xfrm>
            <a:off x="1304401" y="4583751"/>
            <a:ext cx="9583200" cy="763311"/>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dirty="0"/>
              <a:t>El cargador de becas permite cargar masivamente </a:t>
            </a:r>
            <a:r>
              <a:rPr lang="es-ES_tradnl" sz="1200" dirty="0" err="1"/>
              <a:t>IDs</a:t>
            </a:r>
            <a:r>
              <a:rPr lang="es-ES_tradnl" sz="1200" dirty="0"/>
              <a:t> a la página administrativa </a:t>
            </a:r>
            <a:r>
              <a:rPr lang="es-ES_tradnl" sz="1200" b="1" dirty="0"/>
              <a:t>TSAEXPT </a:t>
            </a:r>
            <a:r>
              <a:rPr lang="es-ES_tradnl" sz="1200" dirty="0"/>
              <a:t>y utiliza un </a:t>
            </a:r>
            <a:r>
              <a:rPr lang="es-ES_tradnl" sz="1200" dirty="0" err="1"/>
              <a:t>template</a:t>
            </a:r>
            <a:r>
              <a:rPr lang="es-ES_tradnl" sz="1200" dirty="0"/>
              <a:t> con campos que se deben diligenciar según corresponda. El </a:t>
            </a:r>
            <a:r>
              <a:rPr lang="es-ES_tradnl" sz="1200" dirty="0" err="1"/>
              <a:t>template</a:t>
            </a:r>
            <a:r>
              <a:rPr lang="es-ES_tradnl" sz="1200" dirty="0"/>
              <a:t> debe estar guardado en formato .</a:t>
            </a:r>
            <a:r>
              <a:rPr lang="es-ES_tradnl" sz="1200" dirty="0" err="1"/>
              <a:t>csv</a:t>
            </a:r>
            <a:r>
              <a:rPr lang="es-ES_tradnl" sz="1200" dirty="0"/>
              <a:t> delimitado por comas.</a:t>
            </a:r>
          </a:p>
        </p:txBody>
      </p:sp>
      <p:pic>
        <p:nvPicPr>
          <p:cNvPr id="5" name="Imagen 4">
            <a:extLst>
              <a:ext uri="{FF2B5EF4-FFF2-40B4-BE49-F238E27FC236}">
                <a16:creationId xmlns:a16="http://schemas.microsoft.com/office/drawing/2014/main" id="{5359C95E-B649-7AC0-53C3-F3D086359EBD}"/>
              </a:ext>
            </a:extLst>
          </p:cNvPr>
          <p:cNvPicPr>
            <a:picLocks noChangeAspect="1"/>
          </p:cNvPicPr>
          <p:nvPr/>
        </p:nvPicPr>
        <p:blipFill>
          <a:blip r:embed="rId2"/>
          <a:stretch>
            <a:fillRect/>
          </a:stretch>
        </p:blipFill>
        <p:spPr>
          <a:xfrm>
            <a:off x="1304400" y="1576587"/>
            <a:ext cx="9583200" cy="2467435"/>
          </a:xfrm>
          <a:prstGeom prst="rect">
            <a:avLst/>
          </a:prstGeom>
        </p:spPr>
      </p:pic>
    </p:spTree>
    <p:extLst>
      <p:ext uri="{BB962C8B-B14F-4D97-AF65-F5344CB8AC3E}">
        <p14:creationId xmlns:p14="http://schemas.microsoft.com/office/powerpoint/2010/main" val="82625467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E5D24F-CECA-9B82-27A6-0D232F4785D4}"/>
            </a:ext>
          </a:extLst>
        </p:cNvPr>
        <p:cNvGrpSpPr/>
        <p:nvPr/>
      </p:nvGrpSpPr>
      <p:grpSpPr>
        <a:xfrm>
          <a:off x="0" y="0"/>
          <a:ext cx="0" cy="0"/>
          <a:chOff x="0" y="0"/>
          <a:chExt cx="0" cy="0"/>
        </a:xfrm>
      </p:grpSpPr>
      <p:pic>
        <p:nvPicPr>
          <p:cNvPr id="11" name="Imagen 10">
            <a:extLst>
              <a:ext uri="{FF2B5EF4-FFF2-40B4-BE49-F238E27FC236}">
                <a16:creationId xmlns:a16="http://schemas.microsoft.com/office/drawing/2014/main" id="{A5D15B6A-D3BD-F37E-066F-1E132690C5CB}"/>
              </a:ext>
            </a:extLst>
          </p:cNvPr>
          <p:cNvPicPr>
            <a:picLocks noChangeAspect="1"/>
          </p:cNvPicPr>
          <p:nvPr/>
        </p:nvPicPr>
        <p:blipFill>
          <a:blip r:embed="rId2"/>
          <a:stretch>
            <a:fillRect/>
          </a:stretch>
        </p:blipFill>
        <p:spPr>
          <a:xfrm>
            <a:off x="1304400" y="2257554"/>
            <a:ext cx="9583200" cy="1832743"/>
          </a:xfrm>
          <a:prstGeom prst="rect">
            <a:avLst/>
          </a:prstGeom>
        </p:spPr>
      </p:pic>
      <p:sp>
        <p:nvSpPr>
          <p:cNvPr id="2" name="Título 3">
            <a:extLst>
              <a:ext uri="{FF2B5EF4-FFF2-40B4-BE49-F238E27FC236}">
                <a16:creationId xmlns:a16="http://schemas.microsoft.com/office/drawing/2014/main" id="{11D9FDE3-5675-A6E7-F478-B3EDB5760B33}"/>
              </a:ext>
            </a:extLst>
          </p:cNvPr>
          <p:cNvSpPr txBox="1">
            <a:spLocks/>
          </p:cNvSpPr>
          <p:nvPr/>
        </p:nvSpPr>
        <p:spPr>
          <a:xfrm>
            <a:off x="1215891" y="912759"/>
            <a:ext cx="9436869" cy="902636"/>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Operación: </a:t>
            </a:r>
            <a:r>
              <a:rPr lang="es-ES_tradnl" sz="3200" dirty="0"/>
              <a:t>GJAJFLU </a:t>
            </a:r>
            <a:r>
              <a:rPr lang="es-ES" sz="3200" dirty="0"/>
              <a:t>Importar archivo al servidor de </a:t>
            </a:r>
          </a:p>
          <a:p>
            <a:r>
              <a:rPr lang="es-ES" sz="3200" dirty="0"/>
              <a:t>envío de trabajos</a:t>
            </a:r>
          </a:p>
          <a:p>
            <a:pPr algn="just"/>
            <a:endParaRPr lang="es-CL" dirty="0"/>
          </a:p>
        </p:txBody>
      </p:sp>
      <p:sp>
        <p:nvSpPr>
          <p:cNvPr id="4" name="Rectángulo redondeado 5">
            <a:extLst>
              <a:ext uri="{FF2B5EF4-FFF2-40B4-BE49-F238E27FC236}">
                <a16:creationId xmlns:a16="http://schemas.microsoft.com/office/drawing/2014/main" id="{362C109C-365D-0EA0-BA43-3E2A7E0D0BEB}"/>
              </a:ext>
            </a:extLst>
          </p:cNvPr>
          <p:cNvSpPr/>
          <p:nvPr/>
        </p:nvSpPr>
        <p:spPr>
          <a:xfrm>
            <a:off x="1304400" y="4090297"/>
            <a:ext cx="9583200" cy="578847"/>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b="1" dirty="0"/>
              <a:t>1. </a:t>
            </a:r>
            <a:r>
              <a:rPr lang="es-ES_tradnl" sz="1200" dirty="0"/>
              <a:t>En la página </a:t>
            </a:r>
            <a:r>
              <a:rPr lang="es-ES" sz="1200" dirty="0"/>
              <a:t>Importar archivo al servidor de envío de trabajos se selecciona el proceso en el que se desea guardar el archivo (</a:t>
            </a:r>
            <a:r>
              <a:rPr lang="es-ES" sz="1200" b="1" dirty="0"/>
              <a:t>TSPESTU</a:t>
            </a:r>
            <a:r>
              <a:rPr lang="es-ES" sz="1200" dirty="0"/>
              <a:t>), en la opción “TRABAJO”. </a:t>
            </a:r>
            <a:endParaRPr lang="es-ES_tradnl" sz="1200" dirty="0"/>
          </a:p>
        </p:txBody>
      </p:sp>
      <p:sp>
        <p:nvSpPr>
          <p:cNvPr id="5" name="Rectángulo redondeado 5">
            <a:extLst>
              <a:ext uri="{FF2B5EF4-FFF2-40B4-BE49-F238E27FC236}">
                <a16:creationId xmlns:a16="http://schemas.microsoft.com/office/drawing/2014/main" id="{E271B38F-31C1-9254-B7D3-16DE07ADC50E}"/>
              </a:ext>
            </a:extLst>
          </p:cNvPr>
          <p:cNvSpPr/>
          <p:nvPr/>
        </p:nvSpPr>
        <p:spPr>
          <a:xfrm>
            <a:off x="1304400" y="4865773"/>
            <a:ext cx="3744730" cy="464327"/>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ES_tradnl" sz="1200" b="1" dirty="0"/>
              <a:t>2</a:t>
            </a:r>
            <a:r>
              <a:rPr lang="es-ES_tradnl" sz="1200" dirty="0"/>
              <a:t>. Hacer </a:t>
            </a:r>
            <a:r>
              <a:rPr lang="es-ES_tradnl" sz="1200" dirty="0" err="1"/>
              <a:t>click</a:t>
            </a:r>
            <a:r>
              <a:rPr lang="es-ES_tradnl" sz="1200" dirty="0"/>
              <a:t> en el IR para ingresar parámetros.</a:t>
            </a:r>
          </a:p>
        </p:txBody>
      </p:sp>
      <p:pic>
        <p:nvPicPr>
          <p:cNvPr id="6" name="Imagen 5">
            <a:extLst>
              <a:ext uri="{FF2B5EF4-FFF2-40B4-BE49-F238E27FC236}">
                <a16:creationId xmlns:a16="http://schemas.microsoft.com/office/drawing/2014/main" id="{358C08A4-D723-CAD5-0A24-E617D2471F70}"/>
              </a:ext>
            </a:extLst>
          </p:cNvPr>
          <p:cNvPicPr>
            <a:picLocks noChangeAspect="1"/>
          </p:cNvPicPr>
          <p:nvPr/>
        </p:nvPicPr>
        <p:blipFill>
          <a:blip r:embed="rId3"/>
          <a:stretch>
            <a:fillRect/>
          </a:stretch>
        </p:blipFill>
        <p:spPr>
          <a:xfrm>
            <a:off x="10259873" y="2871846"/>
            <a:ext cx="162000" cy="162000"/>
          </a:xfrm>
          <a:prstGeom prst="rect">
            <a:avLst/>
          </a:prstGeom>
        </p:spPr>
      </p:pic>
      <p:pic>
        <p:nvPicPr>
          <p:cNvPr id="9" name="Imagen 8">
            <a:extLst>
              <a:ext uri="{FF2B5EF4-FFF2-40B4-BE49-F238E27FC236}">
                <a16:creationId xmlns:a16="http://schemas.microsoft.com/office/drawing/2014/main" id="{7E80798F-1994-637C-C0CB-72F52CD930D5}"/>
              </a:ext>
            </a:extLst>
          </p:cNvPr>
          <p:cNvPicPr>
            <a:picLocks noChangeAspect="1"/>
          </p:cNvPicPr>
          <p:nvPr/>
        </p:nvPicPr>
        <p:blipFill>
          <a:blip r:embed="rId4"/>
          <a:stretch>
            <a:fillRect/>
          </a:stretch>
        </p:blipFill>
        <p:spPr>
          <a:xfrm>
            <a:off x="1475539" y="2871846"/>
            <a:ext cx="162000" cy="162000"/>
          </a:xfrm>
          <a:prstGeom prst="rect">
            <a:avLst/>
          </a:prstGeom>
        </p:spPr>
      </p:pic>
    </p:spTree>
    <p:extLst>
      <p:ext uri="{BB962C8B-B14F-4D97-AF65-F5344CB8AC3E}">
        <p14:creationId xmlns:p14="http://schemas.microsoft.com/office/powerpoint/2010/main" val="104105635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B9A664-C908-56C7-79CA-9B95F9B22474}"/>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AE19C5CA-38F8-7664-73F4-92AC8A280DE6}"/>
              </a:ext>
            </a:extLst>
          </p:cNvPr>
          <p:cNvSpPr txBox="1">
            <a:spLocks/>
          </p:cNvSpPr>
          <p:nvPr/>
        </p:nvSpPr>
        <p:spPr>
          <a:xfrm>
            <a:off x="1102491" y="505247"/>
            <a:ext cx="9747765" cy="902636"/>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algn="just"/>
            <a:r>
              <a:rPr lang="es-ES_tradnl" sz="3200" dirty="0">
                <a:solidFill>
                  <a:schemeClr val="accent1"/>
                </a:solidFill>
              </a:rPr>
              <a:t>Operación: </a:t>
            </a:r>
            <a:r>
              <a:rPr lang="es-ES_tradnl" sz="3200" dirty="0"/>
              <a:t>GJAJFLU </a:t>
            </a:r>
            <a:r>
              <a:rPr lang="es-ES" sz="3200" dirty="0"/>
              <a:t>Importar archivo al servidor de </a:t>
            </a:r>
          </a:p>
          <a:p>
            <a:pPr algn="just"/>
            <a:r>
              <a:rPr lang="es-ES" sz="3200" dirty="0"/>
              <a:t>envío de trabajos</a:t>
            </a:r>
          </a:p>
          <a:p>
            <a:pPr algn="just"/>
            <a:endParaRPr lang="es-CL" dirty="0"/>
          </a:p>
        </p:txBody>
      </p:sp>
      <p:sp>
        <p:nvSpPr>
          <p:cNvPr id="7" name="Rectángulo redondeado 5">
            <a:extLst>
              <a:ext uri="{FF2B5EF4-FFF2-40B4-BE49-F238E27FC236}">
                <a16:creationId xmlns:a16="http://schemas.microsoft.com/office/drawing/2014/main" id="{0C13ACB2-738E-DFAA-479F-E2CAA0C60B27}"/>
              </a:ext>
            </a:extLst>
          </p:cNvPr>
          <p:cNvSpPr/>
          <p:nvPr/>
        </p:nvSpPr>
        <p:spPr>
          <a:xfrm>
            <a:off x="1188576" y="4992624"/>
            <a:ext cx="6135768" cy="398398"/>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dirty="0"/>
              <a:t>Se da click en </a:t>
            </a:r>
            <a:r>
              <a:rPr lang="es-CO" sz="1200" b="1" dirty="0"/>
              <a:t>INSERTAR</a:t>
            </a:r>
            <a:r>
              <a:rPr lang="es-CO" sz="1200" dirty="0"/>
              <a:t> para que se pueda incluir el template nuevo.</a:t>
            </a:r>
            <a:endParaRPr lang="es-ES_tradnl" sz="1200" dirty="0"/>
          </a:p>
        </p:txBody>
      </p:sp>
      <p:pic>
        <p:nvPicPr>
          <p:cNvPr id="4" name="Imagen 3">
            <a:extLst>
              <a:ext uri="{FF2B5EF4-FFF2-40B4-BE49-F238E27FC236}">
                <a16:creationId xmlns:a16="http://schemas.microsoft.com/office/drawing/2014/main" id="{76E5BDB6-2938-046A-4CAE-308C94EF1ED4}"/>
              </a:ext>
            </a:extLst>
          </p:cNvPr>
          <p:cNvPicPr>
            <a:picLocks noChangeAspect="1"/>
          </p:cNvPicPr>
          <p:nvPr/>
        </p:nvPicPr>
        <p:blipFill>
          <a:blip r:embed="rId2"/>
          <a:stretch>
            <a:fillRect/>
          </a:stretch>
        </p:blipFill>
        <p:spPr>
          <a:xfrm>
            <a:off x="1188576" y="1591809"/>
            <a:ext cx="9583200" cy="3062827"/>
          </a:xfrm>
          <a:prstGeom prst="rect">
            <a:avLst/>
          </a:prstGeom>
        </p:spPr>
      </p:pic>
      <p:pic>
        <p:nvPicPr>
          <p:cNvPr id="5" name="Imagen 4">
            <a:extLst>
              <a:ext uri="{FF2B5EF4-FFF2-40B4-BE49-F238E27FC236}">
                <a16:creationId xmlns:a16="http://schemas.microsoft.com/office/drawing/2014/main" id="{F1835BD7-7E70-7C78-977F-4C6D2D777B5B}"/>
              </a:ext>
            </a:extLst>
          </p:cNvPr>
          <p:cNvPicPr>
            <a:picLocks noChangeAspect="1"/>
          </p:cNvPicPr>
          <p:nvPr/>
        </p:nvPicPr>
        <p:blipFill>
          <a:blip r:embed="rId3"/>
          <a:stretch>
            <a:fillRect/>
          </a:stretch>
        </p:blipFill>
        <p:spPr>
          <a:xfrm>
            <a:off x="4608235" y="2672755"/>
            <a:ext cx="162000" cy="162000"/>
          </a:xfrm>
          <a:prstGeom prst="rect">
            <a:avLst/>
          </a:prstGeom>
        </p:spPr>
      </p:pic>
    </p:spTree>
    <p:extLst>
      <p:ext uri="{BB962C8B-B14F-4D97-AF65-F5344CB8AC3E}">
        <p14:creationId xmlns:p14="http://schemas.microsoft.com/office/powerpoint/2010/main" val="419669754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4FAB0E-7688-BB91-1C61-CB1A1440871A}"/>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8022A99C-BE7E-46F3-282D-8EECDA78E51A}"/>
              </a:ext>
            </a:extLst>
          </p:cNvPr>
          <p:cNvSpPr txBox="1">
            <a:spLocks/>
          </p:cNvSpPr>
          <p:nvPr/>
        </p:nvSpPr>
        <p:spPr>
          <a:xfrm>
            <a:off x="1459876" y="257366"/>
            <a:ext cx="9272247" cy="902636"/>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algn="just"/>
            <a:r>
              <a:rPr lang="es-ES_tradnl" sz="3200" dirty="0">
                <a:solidFill>
                  <a:schemeClr val="accent1"/>
                </a:solidFill>
              </a:rPr>
              <a:t>Operación: </a:t>
            </a:r>
            <a:r>
              <a:rPr lang="es-ES_tradnl" sz="3200" dirty="0"/>
              <a:t>GJAJFLU </a:t>
            </a:r>
            <a:r>
              <a:rPr lang="es-ES" sz="3200" dirty="0"/>
              <a:t>Importar archivo al servidor de </a:t>
            </a:r>
          </a:p>
          <a:p>
            <a:pPr algn="just"/>
            <a:r>
              <a:rPr lang="es-ES" sz="3200" dirty="0"/>
              <a:t>envío de trabajos</a:t>
            </a:r>
          </a:p>
          <a:p>
            <a:pPr algn="just"/>
            <a:endParaRPr lang="es-CL" dirty="0"/>
          </a:p>
        </p:txBody>
      </p:sp>
      <p:sp>
        <p:nvSpPr>
          <p:cNvPr id="5" name="Rectángulo redondeado 5">
            <a:extLst>
              <a:ext uri="{FF2B5EF4-FFF2-40B4-BE49-F238E27FC236}">
                <a16:creationId xmlns:a16="http://schemas.microsoft.com/office/drawing/2014/main" id="{F6E4AE98-0FB8-ADC9-6A1E-2BE3D14E7D50}"/>
              </a:ext>
            </a:extLst>
          </p:cNvPr>
          <p:cNvSpPr/>
          <p:nvPr/>
        </p:nvSpPr>
        <p:spPr>
          <a:xfrm>
            <a:off x="1618488" y="5879591"/>
            <a:ext cx="3468449" cy="407997"/>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O" sz="1200" dirty="0"/>
              <a:t>Se selecciona archivo, y se da </a:t>
            </a:r>
            <a:r>
              <a:rPr lang="es-CO" sz="1200" dirty="0" err="1"/>
              <a:t>click</a:t>
            </a:r>
            <a:r>
              <a:rPr lang="es-CO" sz="1200" dirty="0"/>
              <a:t> en ABRIR.</a:t>
            </a:r>
            <a:endParaRPr lang="es-ES_tradnl" sz="1200" dirty="0"/>
          </a:p>
        </p:txBody>
      </p:sp>
      <p:pic>
        <p:nvPicPr>
          <p:cNvPr id="4" name="Imagen 3">
            <a:extLst>
              <a:ext uri="{FF2B5EF4-FFF2-40B4-BE49-F238E27FC236}">
                <a16:creationId xmlns:a16="http://schemas.microsoft.com/office/drawing/2014/main" id="{8AA11B5A-E893-7875-37C6-80FC91DEFE0B}"/>
              </a:ext>
            </a:extLst>
          </p:cNvPr>
          <p:cNvPicPr>
            <a:picLocks noChangeAspect="1"/>
          </p:cNvPicPr>
          <p:nvPr/>
        </p:nvPicPr>
        <p:blipFill>
          <a:blip r:embed="rId2"/>
          <a:stretch>
            <a:fillRect/>
          </a:stretch>
        </p:blipFill>
        <p:spPr>
          <a:xfrm>
            <a:off x="1618488" y="1219441"/>
            <a:ext cx="8833073" cy="4358940"/>
          </a:xfrm>
          <a:prstGeom prst="rect">
            <a:avLst/>
          </a:prstGeom>
        </p:spPr>
      </p:pic>
      <p:pic>
        <p:nvPicPr>
          <p:cNvPr id="6" name="Imagen 5">
            <a:extLst>
              <a:ext uri="{FF2B5EF4-FFF2-40B4-BE49-F238E27FC236}">
                <a16:creationId xmlns:a16="http://schemas.microsoft.com/office/drawing/2014/main" id="{B7B61206-8189-2DB9-5871-0409183A544F}"/>
              </a:ext>
            </a:extLst>
          </p:cNvPr>
          <p:cNvPicPr>
            <a:picLocks noChangeAspect="1"/>
          </p:cNvPicPr>
          <p:nvPr/>
        </p:nvPicPr>
        <p:blipFill>
          <a:blip r:embed="rId3"/>
          <a:stretch>
            <a:fillRect/>
          </a:stretch>
        </p:blipFill>
        <p:spPr>
          <a:xfrm>
            <a:off x="5900456" y="4045001"/>
            <a:ext cx="162000" cy="162000"/>
          </a:xfrm>
          <a:prstGeom prst="rect">
            <a:avLst/>
          </a:prstGeom>
        </p:spPr>
      </p:pic>
      <p:pic>
        <p:nvPicPr>
          <p:cNvPr id="8" name="Imagen 7">
            <a:extLst>
              <a:ext uri="{FF2B5EF4-FFF2-40B4-BE49-F238E27FC236}">
                <a16:creationId xmlns:a16="http://schemas.microsoft.com/office/drawing/2014/main" id="{14F60271-2A86-B3DD-6A0C-D2820539E5A3}"/>
              </a:ext>
            </a:extLst>
          </p:cNvPr>
          <p:cNvPicPr>
            <a:picLocks noChangeAspect="1"/>
          </p:cNvPicPr>
          <p:nvPr/>
        </p:nvPicPr>
        <p:blipFill>
          <a:blip r:embed="rId4"/>
          <a:stretch>
            <a:fillRect/>
          </a:stretch>
        </p:blipFill>
        <p:spPr>
          <a:xfrm>
            <a:off x="4740593" y="2165033"/>
            <a:ext cx="162000" cy="162000"/>
          </a:xfrm>
          <a:prstGeom prst="rect">
            <a:avLst/>
          </a:prstGeom>
        </p:spPr>
      </p:pic>
      <p:pic>
        <p:nvPicPr>
          <p:cNvPr id="10" name="Imagen 9">
            <a:extLst>
              <a:ext uri="{FF2B5EF4-FFF2-40B4-BE49-F238E27FC236}">
                <a16:creationId xmlns:a16="http://schemas.microsoft.com/office/drawing/2014/main" id="{A2DB046D-9BC2-DDDA-A8A7-8FC095C46DB8}"/>
              </a:ext>
            </a:extLst>
          </p:cNvPr>
          <p:cNvPicPr>
            <a:picLocks noChangeAspect="1"/>
          </p:cNvPicPr>
          <p:nvPr/>
        </p:nvPicPr>
        <p:blipFill>
          <a:blip r:embed="rId5"/>
          <a:stretch>
            <a:fillRect/>
          </a:stretch>
        </p:blipFill>
        <p:spPr>
          <a:xfrm>
            <a:off x="8081849" y="5103953"/>
            <a:ext cx="162000" cy="162000"/>
          </a:xfrm>
          <a:prstGeom prst="rect">
            <a:avLst/>
          </a:prstGeom>
        </p:spPr>
      </p:pic>
    </p:spTree>
    <p:extLst>
      <p:ext uri="{BB962C8B-B14F-4D97-AF65-F5344CB8AC3E}">
        <p14:creationId xmlns:p14="http://schemas.microsoft.com/office/powerpoint/2010/main" val="90012981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6F80A6-F2EF-C50E-E650-215546C5036A}"/>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E441A9FE-9F49-EDE7-97CF-48CCD9DE0BB2}"/>
              </a:ext>
            </a:extLst>
          </p:cNvPr>
          <p:cNvSpPr txBox="1">
            <a:spLocks/>
          </p:cNvSpPr>
          <p:nvPr/>
        </p:nvSpPr>
        <p:spPr>
          <a:xfrm>
            <a:off x="1304400" y="293440"/>
            <a:ext cx="9583200" cy="902636"/>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algn="just"/>
            <a:r>
              <a:rPr lang="es-ES_tradnl" sz="3200" dirty="0">
                <a:solidFill>
                  <a:schemeClr val="accent1"/>
                </a:solidFill>
              </a:rPr>
              <a:t>Operación: </a:t>
            </a:r>
            <a:r>
              <a:rPr lang="es-ES_tradnl" sz="3200" dirty="0"/>
              <a:t>GJAJFLU </a:t>
            </a:r>
            <a:r>
              <a:rPr lang="es-ES" sz="3200" dirty="0"/>
              <a:t>Importar archivo al servidor de </a:t>
            </a:r>
          </a:p>
          <a:p>
            <a:pPr algn="just"/>
            <a:r>
              <a:rPr lang="es-ES" sz="3200" dirty="0"/>
              <a:t>envío de trabajos</a:t>
            </a:r>
          </a:p>
          <a:p>
            <a:pPr algn="just"/>
            <a:endParaRPr lang="es-CL" dirty="0"/>
          </a:p>
        </p:txBody>
      </p:sp>
      <p:sp>
        <p:nvSpPr>
          <p:cNvPr id="5" name="Rectángulo redondeado 5">
            <a:extLst>
              <a:ext uri="{FF2B5EF4-FFF2-40B4-BE49-F238E27FC236}">
                <a16:creationId xmlns:a16="http://schemas.microsoft.com/office/drawing/2014/main" id="{A2F133BB-97DB-8C1D-00B4-DACDCF1F63FF}"/>
              </a:ext>
            </a:extLst>
          </p:cNvPr>
          <p:cNvSpPr/>
          <p:nvPr/>
        </p:nvSpPr>
        <p:spPr>
          <a:xfrm>
            <a:off x="1395840" y="5253978"/>
            <a:ext cx="7699509" cy="50655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dirty="0"/>
              <a:t>Se confirma que el nombre del archivo coincida con el </a:t>
            </a:r>
            <a:r>
              <a:rPr lang="es-CO" sz="1200" dirty="0" err="1"/>
              <a:t>template</a:t>
            </a:r>
            <a:r>
              <a:rPr lang="es-CO" sz="1200" dirty="0"/>
              <a:t> que se selecciono, se da </a:t>
            </a:r>
            <a:r>
              <a:rPr lang="es-CO" sz="1200" dirty="0" err="1"/>
              <a:t>click</a:t>
            </a:r>
            <a:r>
              <a:rPr lang="es-CO" sz="1200" dirty="0"/>
              <a:t> en </a:t>
            </a:r>
            <a:r>
              <a:rPr lang="es-CO" sz="1200" b="1" dirty="0"/>
              <a:t>GUARDAR</a:t>
            </a:r>
            <a:r>
              <a:rPr lang="es-CO" sz="1200" dirty="0"/>
              <a:t>.</a:t>
            </a:r>
            <a:endParaRPr lang="es-ES_tradnl" sz="1200" dirty="0"/>
          </a:p>
        </p:txBody>
      </p:sp>
      <p:pic>
        <p:nvPicPr>
          <p:cNvPr id="4" name="Imagen 3">
            <a:extLst>
              <a:ext uri="{FF2B5EF4-FFF2-40B4-BE49-F238E27FC236}">
                <a16:creationId xmlns:a16="http://schemas.microsoft.com/office/drawing/2014/main" id="{4B76E547-B8C2-6123-7A64-40AF14F2AE54}"/>
              </a:ext>
            </a:extLst>
          </p:cNvPr>
          <p:cNvPicPr>
            <a:picLocks noChangeAspect="1"/>
          </p:cNvPicPr>
          <p:nvPr/>
        </p:nvPicPr>
        <p:blipFill>
          <a:blip r:embed="rId2"/>
          <a:stretch>
            <a:fillRect/>
          </a:stretch>
        </p:blipFill>
        <p:spPr>
          <a:xfrm>
            <a:off x="1395840" y="1417145"/>
            <a:ext cx="9583200" cy="3032848"/>
          </a:xfrm>
          <a:prstGeom prst="rect">
            <a:avLst/>
          </a:prstGeom>
        </p:spPr>
      </p:pic>
      <p:pic>
        <p:nvPicPr>
          <p:cNvPr id="7" name="Imagen 6">
            <a:extLst>
              <a:ext uri="{FF2B5EF4-FFF2-40B4-BE49-F238E27FC236}">
                <a16:creationId xmlns:a16="http://schemas.microsoft.com/office/drawing/2014/main" id="{09D5B2E3-EA0D-1D09-0BAA-9B6D14FB6938}"/>
              </a:ext>
            </a:extLst>
          </p:cNvPr>
          <p:cNvPicPr>
            <a:picLocks noChangeAspect="1"/>
          </p:cNvPicPr>
          <p:nvPr/>
        </p:nvPicPr>
        <p:blipFill>
          <a:blip r:embed="rId3"/>
          <a:stretch>
            <a:fillRect/>
          </a:stretch>
        </p:blipFill>
        <p:spPr>
          <a:xfrm>
            <a:off x="1395840" y="4449993"/>
            <a:ext cx="9583200" cy="334414"/>
          </a:xfrm>
          <a:prstGeom prst="rect">
            <a:avLst/>
          </a:prstGeom>
        </p:spPr>
      </p:pic>
      <p:pic>
        <p:nvPicPr>
          <p:cNvPr id="6" name="Imagen 5">
            <a:extLst>
              <a:ext uri="{FF2B5EF4-FFF2-40B4-BE49-F238E27FC236}">
                <a16:creationId xmlns:a16="http://schemas.microsoft.com/office/drawing/2014/main" id="{6EF97D90-1075-1FDF-1DFB-D764DE5C182F}"/>
              </a:ext>
            </a:extLst>
          </p:cNvPr>
          <p:cNvPicPr>
            <a:picLocks noChangeAspect="1"/>
          </p:cNvPicPr>
          <p:nvPr/>
        </p:nvPicPr>
        <p:blipFill>
          <a:blip r:embed="rId4"/>
          <a:stretch>
            <a:fillRect/>
          </a:stretch>
        </p:blipFill>
        <p:spPr>
          <a:xfrm>
            <a:off x="1258680" y="3053883"/>
            <a:ext cx="162000" cy="162000"/>
          </a:xfrm>
          <a:prstGeom prst="rect">
            <a:avLst/>
          </a:prstGeom>
        </p:spPr>
      </p:pic>
    </p:spTree>
    <p:extLst>
      <p:ext uri="{BB962C8B-B14F-4D97-AF65-F5344CB8AC3E}">
        <p14:creationId xmlns:p14="http://schemas.microsoft.com/office/powerpoint/2010/main" val="25260290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747E67-4C82-1287-1AA1-828A204FAAE8}"/>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EBE0B0B1-F6CB-CBB2-3D86-77E92AD8A550}"/>
              </a:ext>
            </a:extLst>
          </p:cNvPr>
          <p:cNvSpPr txBox="1">
            <a:spLocks/>
          </p:cNvSpPr>
          <p:nvPr/>
        </p:nvSpPr>
        <p:spPr>
          <a:xfrm>
            <a:off x="1197603" y="463060"/>
            <a:ext cx="9482589" cy="902636"/>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algn="just"/>
            <a:r>
              <a:rPr lang="es-ES_tradnl" sz="3200" dirty="0">
                <a:solidFill>
                  <a:schemeClr val="accent1"/>
                </a:solidFill>
              </a:rPr>
              <a:t>Operación: </a:t>
            </a:r>
            <a:r>
              <a:rPr lang="es-ES_tradnl" sz="3200" dirty="0"/>
              <a:t>GJAJFLU </a:t>
            </a:r>
            <a:r>
              <a:rPr lang="es-ES" sz="3200" dirty="0"/>
              <a:t>Importar archivo al servidor de </a:t>
            </a:r>
          </a:p>
          <a:p>
            <a:pPr algn="just"/>
            <a:r>
              <a:rPr lang="es-ES" sz="3200" dirty="0"/>
              <a:t>envío de trabajos</a:t>
            </a:r>
          </a:p>
          <a:p>
            <a:pPr algn="just"/>
            <a:endParaRPr lang="es-CL" dirty="0"/>
          </a:p>
        </p:txBody>
      </p:sp>
      <p:sp>
        <p:nvSpPr>
          <p:cNvPr id="5" name="Rectángulo redondeado 5">
            <a:extLst>
              <a:ext uri="{FF2B5EF4-FFF2-40B4-BE49-F238E27FC236}">
                <a16:creationId xmlns:a16="http://schemas.microsoft.com/office/drawing/2014/main" id="{4BE6BCBB-9C71-39BC-4FD2-AA5BF661A085}"/>
              </a:ext>
            </a:extLst>
          </p:cNvPr>
          <p:cNvSpPr/>
          <p:nvPr/>
        </p:nvSpPr>
        <p:spPr>
          <a:xfrm>
            <a:off x="1304400" y="5046778"/>
            <a:ext cx="7848744" cy="457919"/>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dirty="0"/>
              <a:t>El proceso genera la </a:t>
            </a:r>
            <a:r>
              <a:rPr lang="es-CO" sz="1200" b="1" dirty="0"/>
              <a:t>RUTA DEL ARCHIVO </a:t>
            </a:r>
            <a:r>
              <a:rPr lang="es-CO" sz="1200" dirty="0"/>
              <a:t>y se evidencia el mensaje de guardado con éxito en la parte superior.</a:t>
            </a:r>
            <a:endParaRPr lang="es-ES_tradnl" sz="1200" dirty="0"/>
          </a:p>
        </p:txBody>
      </p:sp>
      <p:pic>
        <p:nvPicPr>
          <p:cNvPr id="4" name="Imagen 3">
            <a:extLst>
              <a:ext uri="{FF2B5EF4-FFF2-40B4-BE49-F238E27FC236}">
                <a16:creationId xmlns:a16="http://schemas.microsoft.com/office/drawing/2014/main" id="{725668DD-69CA-1E87-B293-BA1EDBA368A5}"/>
              </a:ext>
            </a:extLst>
          </p:cNvPr>
          <p:cNvPicPr>
            <a:picLocks noChangeAspect="1"/>
          </p:cNvPicPr>
          <p:nvPr/>
        </p:nvPicPr>
        <p:blipFill>
          <a:blip r:embed="rId2"/>
          <a:stretch>
            <a:fillRect/>
          </a:stretch>
        </p:blipFill>
        <p:spPr>
          <a:xfrm>
            <a:off x="1304400" y="1651529"/>
            <a:ext cx="9583200" cy="3109416"/>
          </a:xfrm>
          <a:prstGeom prst="rect">
            <a:avLst/>
          </a:prstGeom>
        </p:spPr>
      </p:pic>
      <p:pic>
        <p:nvPicPr>
          <p:cNvPr id="6" name="Imagen 5">
            <a:extLst>
              <a:ext uri="{FF2B5EF4-FFF2-40B4-BE49-F238E27FC236}">
                <a16:creationId xmlns:a16="http://schemas.microsoft.com/office/drawing/2014/main" id="{E6BDC2A9-EC29-A949-3E63-7C7B3FAC4E33}"/>
              </a:ext>
            </a:extLst>
          </p:cNvPr>
          <p:cNvPicPr>
            <a:picLocks noChangeAspect="1"/>
          </p:cNvPicPr>
          <p:nvPr/>
        </p:nvPicPr>
        <p:blipFill>
          <a:blip r:embed="rId3"/>
          <a:stretch>
            <a:fillRect/>
          </a:stretch>
        </p:blipFill>
        <p:spPr>
          <a:xfrm>
            <a:off x="3609329" y="4328465"/>
            <a:ext cx="162000" cy="162000"/>
          </a:xfrm>
          <a:prstGeom prst="rect">
            <a:avLst/>
          </a:prstGeom>
        </p:spPr>
      </p:pic>
      <p:pic>
        <p:nvPicPr>
          <p:cNvPr id="8" name="Imagen 7">
            <a:extLst>
              <a:ext uri="{FF2B5EF4-FFF2-40B4-BE49-F238E27FC236}">
                <a16:creationId xmlns:a16="http://schemas.microsoft.com/office/drawing/2014/main" id="{3E4075ED-4DAB-1DB4-33E9-B743ACCEE2F7}"/>
              </a:ext>
            </a:extLst>
          </p:cNvPr>
          <p:cNvPicPr>
            <a:picLocks noChangeAspect="1"/>
          </p:cNvPicPr>
          <p:nvPr/>
        </p:nvPicPr>
        <p:blipFill>
          <a:blip r:embed="rId4"/>
          <a:stretch>
            <a:fillRect/>
          </a:stretch>
        </p:blipFill>
        <p:spPr>
          <a:xfrm>
            <a:off x="8233601" y="2256473"/>
            <a:ext cx="162000" cy="162000"/>
          </a:xfrm>
          <a:prstGeom prst="rect">
            <a:avLst/>
          </a:prstGeom>
        </p:spPr>
      </p:pic>
    </p:spTree>
    <p:extLst>
      <p:ext uri="{BB962C8B-B14F-4D97-AF65-F5344CB8AC3E}">
        <p14:creationId xmlns:p14="http://schemas.microsoft.com/office/powerpoint/2010/main" val="93804531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819B59-75AD-9CCE-424D-EE2EFA5FC679}"/>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ADA95ECB-5A32-5693-8CC5-2B1ABEBC1ED5}"/>
              </a:ext>
            </a:extLst>
          </p:cNvPr>
          <p:cNvSpPr txBox="1">
            <a:spLocks/>
          </p:cNvSpPr>
          <p:nvPr/>
        </p:nvSpPr>
        <p:spPr>
          <a:xfrm>
            <a:off x="1232741" y="570470"/>
            <a:ext cx="9702045" cy="554293"/>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algn="just"/>
            <a:r>
              <a:rPr lang="es-ES_tradnl" sz="3200" dirty="0">
                <a:solidFill>
                  <a:schemeClr val="accent1"/>
                </a:solidFill>
              </a:rPr>
              <a:t>Operación:</a:t>
            </a:r>
            <a:r>
              <a:rPr lang="es-ES_tradnl" sz="3200" dirty="0">
                <a:solidFill>
                  <a:schemeClr val="tx2"/>
                </a:solidFill>
              </a:rPr>
              <a:t> </a:t>
            </a:r>
            <a:r>
              <a:rPr lang="en-US" sz="3200" cap="all" dirty="0"/>
              <a:t>TSPESTU</a:t>
            </a:r>
            <a:r>
              <a:rPr lang="es-ES_tradnl" sz="3200" dirty="0"/>
              <a:t> </a:t>
            </a:r>
            <a:r>
              <a:rPr lang="en-US" sz="3200" dirty="0"/>
              <a:t>Exención de carga </a:t>
            </a:r>
            <a:r>
              <a:rPr lang="en-US" sz="3200" dirty="0" err="1"/>
              <a:t>estudiantil</a:t>
            </a:r>
            <a:endParaRPr lang="es-ES" sz="3200" dirty="0"/>
          </a:p>
          <a:p>
            <a:pPr algn="just"/>
            <a:endParaRPr lang="es-CL" dirty="0"/>
          </a:p>
        </p:txBody>
      </p:sp>
      <p:sp>
        <p:nvSpPr>
          <p:cNvPr id="5" name="Rectángulo redondeado 5">
            <a:extLst>
              <a:ext uri="{FF2B5EF4-FFF2-40B4-BE49-F238E27FC236}">
                <a16:creationId xmlns:a16="http://schemas.microsoft.com/office/drawing/2014/main" id="{BAF631BF-065E-A0C6-7BC3-7F87BBC99B38}"/>
              </a:ext>
            </a:extLst>
          </p:cNvPr>
          <p:cNvSpPr/>
          <p:nvPr/>
        </p:nvSpPr>
        <p:spPr>
          <a:xfrm>
            <a:off x="1351586" y="5270968"/>
            <a:ext cx="9583200" cy="638831"/>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dirty="0"/>
              <a:t>En la sección </a:t>
            </a:r>
            <a:r>
              <a:rPr lang="es-ES_tradnl" sz="1200" b="1" dirty="0"/>
              <a:t>“Control de Impresora”, </a:t>
            </a:r>
            <a:r>
              <a:rPr lang="es-ES_tradnl" sz="1200" dirty="0"/>
              <a:t>campo “Impresora” se debe asignar la sentencia </a:t>
            </a:r>
            <a:r>
              <a:rPr lang="es-ES_tradnl" sz="1200" b="1" dirty="0"/>
              <a:t>DATABASE</a:t>
            </a:r>
            <a:r>
              <a:rPr lang="es-ES_tradnl" sz="1200" dirty="0"/>
              <a:t>. Luego, en la sección de “Valores de Parámetro”, se deben asignar los parámetros principales para la ejecución del proceso según corresponda.</a:t>
            </a:r>
          </a:p>
        </p:txBody>
      </p:sp>
      <p:pic>
        <p:nvPicPr>
          <p:cNvPr id="4" name="Imagen 3">
            <a:extLst>
              <a:ext uri="{FF2B5EF4-FFF2-40B4-BE49-F238E27FC236}">
                <a16:creationId xmlns:a16="http://schemas.microsoft.com/office/drawing/2014/main" id="{8BC90B48-4C5E-D87B-B4BF-96FF6600004E}"/>
              </a:ext>
            </a:extLst>
          </p:cNvPr>
          <p:cNvPicPr>
            <a:picLocks noChangeAspect="1"/>
          </p:cNvPicPr>
          <p:nvPr/>
        </p:nvPicPr>
        <p:blipFill>
          <a:blip r:embed="rId2"/>
          <a:stretch>
            <a:fillRect/>
          </a:stretch>
        </p:blipFill>
        <p:spPr>
          <a:xfrm>
            <a:off x="1351586" y="1372471"/>
            <a:ext cx="9583200" cy="3540640"/>
          </a:xfrm>
          <a:prstGeom prst="rect">
            <a:avLst/>
          </a:prstGeom>
        </p:spPr>
      </p:pic>
      <p:pic>
        <p:nvPicPr>
          <p:cNvPr id="6" name="Imagen 5">
            <a:extLst>
              <a:ext uri="{FF2B5EF4-FFF2-40B4-BE49-F238E27FC236}">
                <a16:creationId xmlns:a16="http://schemas.microsoft.com/office/drawing/2014/main" id="{6B34408C-2673-5621-930B-546804F223DE}"/>
              </a:ext>
            </a:extLst>
          </p:cNvPr>
          <p:cNvPicPr>
            <a:picLocks noChangeAspect="1"/>
          </p:cNvPicPr>
          <p:nvPr/>
        </p:nvPicPr>
        <p:blipFill>
          <a:blip r:embed="rId3"/>
          <a:stretch>
            <a:fillRect/>
          </a:stretch>
        </p:blipFill>
        <p:spPr>
          <a:xfrm>
            <a:off x="1517563" y="2343571"/>
            <a:ext cx="162000" cy="162000"/>
          </a:xfrm>
          <a:prstGeom prst="rect">
            <a:avLst/>
          </a:prstGeom>
        </p:spPr>
      </p:pic>
    </p:spTree>
    <p:extLst>
      <p:ext uri="{BB962C8B-B14F-4D97-AF65-F5344CB8AC3E}">
        <p14:creationId xmlns:p14="http://schemas.microsoft.com/office/powerpoint/2010/main" val="2277124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48B83A-8575-9EB9-4A5C-5E2491C0AF11}"/>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2905AF6F-7E04-49B0-C4F4-402494340E6C}"/>
              </a:ext>
            </a:extLst>
          </p:cNvPr>
          <p:cNvSpPr txBox="1">
            <a:spLocks/>
          </p:cNvSpPr>
          <p:nvPr/>
        </p:nvSpPr>
        <p:spPr>
          <a:xfrm>
            <a:off x="1215890" y="539411"/>
            <a:ext cx="9061966" cy="61802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algn="just"/>
            <a:r>
              <a:rPr lang="es-ES_tradnl" sz="3200" dirty="0">
                <a:solidFill>
                  <a:schemeClr val="accent1"/>
                </a:solidFill>
              </a:rPr>
              <a:t>Operación: </a:t>
            </a:r>
            <a:r>
              <a:rPr lang="en-US" sz="3200" cap="all" dirty="0"/>
              <a:t>TSPESTU</a:t>
            </a:r>
            <a:r>
              <a:rPr lang="es-ES_tradnl" sz="3200" dirty="0"/>
              <a:t> </a:t>
            </a:r>
            <a:r>
              <a:rPr lang="en-US" sz="3200" dirty="0" err="1"/>
              <a:t>Exención</a:t>
            </a:r>
            <a:r>
              <a:rPr lang="en-US" sz="3200" dirty="0"/>
              <a:t> de carga </a:t>
            </a:r>
            <a:r>
              <a:rPr lang="en-US" sz="3200" dirty="0" err="1"/>
              <a:t>estudiantil</a:t>
            </a:r>
            <a:endParaRPr lang="es-ES" sz="3200" dirty="0"/>
          </a:p>
          <a:p>
            <a:pPr algn="just"/>
            <a:endParaRPr lang="es-CL" dirty="0"/>
          </a:p>
        </p:txBody>
      </p:sp>
      <p:sp>
        <p:nvSpPr>
          <p:cNvPr id="3" name="Rectángulo redondeado 5">
            <a:extLst>
              <a:ext uri="{FF2B5EF4-FFF2-40B4-BE49-F238E27FC236}">
                <a16:creationId xmlns:a16="http://schemas.microsoft.com/office/drawing/2014/main" id="{A3038034-515D-04F8-2A68-0F846106EC6C}"/>
              </a:ext>
            </a:extLst>
          </p:cNvPr>
          <p:cNvSpPr/>
          <p:nvPr/>
        </p:nvSpPr>
        <p:spPr>
          <a:xfrm>
            <a:off x="1304399" y="4884567"/>
            <a:ext cx="6583099" cy="1273961"/>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b="1" dirty="0"/>
              <a:t>Parámetros:</a:t>
            </a:r>
          </a:p>
          <a:p>
            <a:r>
              <a:rPr lang="es-ES_tradnl" sz="1200" b="1" dirty="0"/>
              <a:t>1 </a:t>
            </a:r>
            <a:r>
              <a:rPr lang="es-ES_tradnl" sz="1200" dirty="0"/>
              <a:t>–</a:t>
            </a:r>
            <a:r>
              <a:rPr lang="es-ES" sz="1200" dirty="0"/>
              <a:t>I</a:t>
            </a:r>
            <a:r>
              <a:rPr lang="es-ES" sz="1200" dirty="0">
                <a:effectLst/>
              </a:rPr>
              <a:t>ngresar el código de la exención.</a:t>
            </a:r>
            <a:endParaRPr lang="es-ES_tradnl" sz="1200" dirty="0"/>
          </a:p>
          <a:p>
            <a:r>
              <a:rPr lang="es-ES_tradnl" sz="1200" b="1" dirty="0"/>
              <a:t>2 </a:t>
            </a:r>
            <a:r>
              <a:rPr lang="es-ES_tradnl" sz="1200" dirty="0"/>
              <a:t>–</a:t>
            </a:r>
            <a:r>
              <a:rPr lang="es-ES_tradnl" sz="1200" b="1" dirty="0"/>
              <a:t> </a:t>
            </a:r>
            <a:r>
              <a:rPr lang="es-ES" sz="1200" dirty="0">
                <a:effectLst/>
              </a:rPr>
              <a:t>Ingresar </a:t>
            </a:r>
            <a:r>
              <a:rPr lang="es-ES" sz="1200" dirty="0"/>
              <a:t>el periodo académico.</a:t>
            </a:r>
            <a:endParaRPr lang="es-ES_tradnl" sz="1200" b="1" dirty="0"/>
          </a:p>
          <a:p>
            <a:r>
              <a:rPr lang="es-ES_tradnl" sz="1200" b="1" dirty="0"/>
              <a:t>3 </a:t>
            </a:r>
            <a:r>
              <a:rPr lang="es-ES_tradnl" sz="1200" dirty="0"/>
              <a:t>-</a:t>
            </a:r>
            <a:r>
              <a:rPr lang="es-ES_tradnl" sz="1200" b="1" dirty="0"/>
              <a:t> </a:t>
            </a:r>
            <a:r>
              <a:rPr lang="es-ES_tradnl" sz="1200" dirty="0"/>
              <a:t>Ingresar la ruta del archivo que genero GJAJFLU (no incluir el nombre del archivo).</a:t>
            </a:r>
          </a:p>
          <a:p>
            <a:r>
              <a:rPr lang="es-ES_tradnl" sz="1200" b="1" dirty="0"/>
              <a:t>4 </a:t>
            </a:r>
            <a:r>
              <a:rPr lang="es-ES_tradnl" sz="1200" dirty="0"/>
              <a:t>- </a:t>
            </a:r>
            <a:r>
              <a:rPr lang="es-ES_tradnl" sz="1200" b="1" dirty="0"/>
              <a:t> </a:t>
            </a:r>
            <a:r>
              <a:rPr lang="es-ES_tradnl" sz="1200" dirty="0"/>
              <a:t>Ingresar el nombre del archivo que se cargo en GJAJFLU.</a:t>
            </a:r>
          </a:p>
          <a:p>
            <a:r>
              <a:rPr lang="es-ES_tradnl" sz="1200" b="1" dirty="0"/>
              <a:t>5 </a:t>
            </a:r>
            <a:r>
              <a:rPr lang="es-ES_tradnl" sz="1200" dirty="0"/>
              <a:t>– Ingresar Modo de Ejecución= A (Auditoria), U (Actualizar).</a:t>
            </a:r>
            <a:endParaRPr lang="es-ES_tradnl" sz="1200" b="1" dirty="0"/>
          </a:p>
        </p:txBody>
      </p:sp>
      <p:pic>
        <p:nvPicPr>
          <p:cNvPr id="5" name="Imagen 4">
            <a:extLst>
              <a:ext uri="{FF2B5EF4-FFF2-40B4-BE49-F238E27FC236}">
                <a16:creationId xmlns:a16="http://schemas.microsoft.com/office/drawing/2014/main" id="{901A1EDA-302C-0535-5665-CDCE7C0EFD5C}"/>
              </a:ext>
            </a:extLst>
          </p:cNvPr>
          <p:cNvPicPr>
            <a:picLocks noChangeAspect="1"/>
          </p:cNvPicPr>
          <p:nvPr/>
        </p:nvPicPr>
        <p:blipFill>
          <a:blip r:embed="rId2"/>
          <a:stretch>
            <a:fillRect/>
          </a:stretch>
        </p:blipFill>
        <p:spPr>
          <a:xfrm>
            <a:off x="1304399" y="1336452"/>
            <a:ext cx="9583200" cy="3232706"/>
          </a:xfrm>
          <a:prstGeom prst="rect">
            <a:avLst/>
          </a:prstGeom>
        </p:spPr>
      </p:pic>
      <p:pic>
        <p:nvPicPr>
          <p:cNvPr id="6" name="Imagen 5">
            <a:extLst>
              <a:ext uri="{FF2B5EF4-FFF2-40B4-BE49-F238E27FC236}">
                <a16:creationId xmlns:a16="http://schemas.microsoft.com/office/drawing/2014/main" id="{C66BE5B1-EB00-A450-AC75-9ABE906E74E7}"/>
              </a:ext>
            </a:extLst>
          </p:cNvPr>
          <p:cNvPicPr>
            <a:picLocks noChangeAspect="1"/>
          </p:cNvPicPr>
          <p:nvPr/>
        </p:nvPicPr>
        <p:blipFill>
          <a:blip r:embed="rId3"/>
          <a:stretch>
            <a:fillRect/>
          </a:stretch>
        </p:blipFill>
        <p:spPr>
          <a:xfrm>
            <a:off x="1099610" y="2453299"/>
            <a:ext cx="162000" cy="162000"/>
          </a:xfrm>
          <a:prstGeom prst="rect">
            <a:avLst/>
          </a:prstGeom>
        </p:spPr>
      </p:pic>
    </p:spTree>
    <p:extLst>
      <p:ext uri="{BB962C8B-B14F-4D97-AF65-F5344CB8AC3E}">
        <p14:creationId xmlns:p14="http://schemas.microsoft.com/office/powerpoint/2010/main" val="322032472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F2B1E2-B1F2-088E-DB7E-B35A15C26800}"/>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E4A459B0-AA23-CCED-375C-87A9A617C8C7}"/>
              </a:ext>
            </a:extLst>
          </p:cNvPr>
          <p:cNvSpPr txBox="1">
            <a:spLocks/>
          </p:cNvSpPr>
          <p:nvPr/>
        </p:nvSpPr>
        <p:spPr>
          <a:xfrm>
            <a:off x="1182886" y="496810"/>
            <a:ext cx="9071109" cy="639166"/>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algn="just"/>
            <a:r>
              <a:rPr lang="es-ES_tradnl" sz="3200" dirty="0">
                <a:solidFill>
                  <a:schemeClr val="accent1"/>
                </a:solidFill>
              </a:rPr>
              <a:t>Operación: </a:t>
            </a:r>
            <a:r>
              <a:rPr lang="en-US" sz="3200" cap="all" dirty="0"/>
              <a:t>TSPESTU</a:t>
            </a:r>
            <a:r>
              <a:rPr lang="es-ES_tradnl" sz="3200" dirty="0"/>
              <a:t> </a:t>
            </a:r>
            <a:r>
              <a:rPr lang="en-US" sz="3200" dirty="0" err="1"/>
              <a:t>Exención</a:t>
            </a:r>
            <a:r>
              <a:rPr lang="en-US" sz="3200" dirty="0"/>
              <a:t> de carga </a:t>
            </a:r>
            <a:r>
              <a:rPr lang="en-US" sz="3200" dirty="0" err="1"/>
              <a:t>estudiantil</a:t>
            </a:r>
            <a:endParaRPr lang="es-ES" sz="3200" dirty="0"/>
          </a:p>
          <a:p>
            <a:pPr algn="just"/>
            <a:endParaRPr lang="es-CL" dirty="0"/>
          </a:p>
        </p:txBody>
      </p:sp>
      <p:sp>
        <p:nvSpPr>
          <p:cNvPr id="3" name="Rectángulo redondeado 5">
            <a:extLst>
              <a:ext uri="{FF2B5EF4-FFF2-40B4-BE49-F238E27FC236}">
                <a16:creationId xmlns:a16="http://schemas.microsoft.com/office/drawing/2014/main" id="{9AFDC44B-CA9C-EEFD-4461-A22344969700}"/>
              </a:ext>
            </a:extLst>
          </p:cNvPr>
          <p:cNvSpPr/>
          <p:nvPr/>
        </p:nvSpPr>
        <p:spPr>
          <a:xfrm>
            <a:off x="1304400" y="5130921"/>
            <a:ext cx="6428232" cy="499563"/>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dirty="0"/>
              <a:t>Ingresados los parámetros, en la sección “Envío” seleccionar el Check “Guardar parámetros como”.</a:t>
            </a:r>
          </a:p>
        </p:txBody>
      </p:sp>
      <p:sp>
        <p:nvSpPr>
          <p:cNvPr id="4" name="Rectángulo redondeado 5">
            <a:extLst>
              <a:ext uri="{FF2B5EF4-FFF2-40B4-BE49-F238E27FC236}">
                <a16:creationId xmlns:a16="http://schemas.microsoft.com/office/drawing/2014/main" id="{3683E937-9F8A-E6E5-BD23-7DC95CD8E353}"/>
              </a:ext>
            </a:extLst>
          </p:cNvPr>
          <p:cNvSpPr/>
          <p:nvPr/>
        </p:nvSpPr>
        <p:spPr>
          <a:xfrm>
            <a:off x="8328326" y="5130921"/>
            <a:ext cx="2559274" cy="499563"/>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dirty="0"/>
              <a:t>Presionar el botón “Guardar”.</a:t>
            </a:r>
          </a:p>
        </p:txBody>
      </p:sp>
      <p:pic>
        <p:nvPicPr>
          <p:cNvPr id="6" name="Imagen 5">
            <a:extLst>
              <a:ext uri="{FF2B5EF4-FFF2-40B4-BE49-F238E27FC236}">
                <a16:creationId xmlns:a16="http://schemas.microsoft.com/office/drawing/2014/main" id="{9CF28A73-38B6-1704-55F6-EAD6870D9E61}"/>
              </a:ext>
            </a:extLst>
          </p:cNvPr>
          <p:cNvPicPr>
            <a:picLocks noChangeAspect="1"/>
          </p:cNvPicPr>
          <p:nvPr/>
        </p:nvPicPr>
        <p:blipFill>
          <a:blip r:embed="rId2"/>
          <a:stretch>
            <a:fillRect/>
          </a:stretch>
        </p:blipFill>
        <p:spPr>
          <a:xfrm>
            <a:off x="1304400" y="1227516"/>
            <a:ext cx="9583200" cy="3222758"/>
          </a:xfrm>
          <a:prstGeom prst="rect">
            <a:avLst/>
          </a:prstGeom>
        </p:spPr>
      </p:pic>
      <p:pic>
        <p:nvPicPr>
          <p:cNvPr id="8" name="Imagen 7">
            <a:extLst>
              <a:ext uri="{FF2B5EF4-FFF2-40B4-BE49-F238E27FC236}">
                <a16:creationId xmlns:a16="http://schemas.microsoft.com/office/drawing/2014/main" id="{930AB386-EC97-7EF9-FA9B-4CBBEA32060A}"/>
              </a:ext>
            </a:extLst>
          </p:cNvPr>
          <p:cNvPicPr>
            <a:picLocks noChangeAspect="1"/>
          </p:cNvPicPr>
          <p:nvPr/>
        </p:nvPicPr>
        <p:blipFill>
          <a:blip r:embed="rId3"/>
          <a:stretch>
            <a:fillRect/>
          </a:stretch>
        </p:blipFill>
        <p:spPr>
          <a:xfrm>
            <a:off x="1304400" y="4458505"/>
            <a:ext cx="9583200" cy="358436"/>
          </a:xfrm>
          <a:prstGeom prst="rect">
            <a:avLst/>
          </a:prstGeom>
        </p:spPr>
      </p:pic>
      <p:pic>
        <p:nvPicPr>
          <p:cNvPr id="7" name="Imagen 6">
            <a:extLst>
              <a:ext uri="{FF2B5EF4-FFF2-40B4-BE49-F238E27FC236}">
                <a16:creationId xmlns:a16="http://schemas.microsoft.com/office/drawing/2014/main" id="{319EBBD2-5961-17C8-CDD2-AC7684F2B09B}"/>
              </a:ext>
            </a:extLst>
          </p:cNvPr>
          <p:cNvPicPr>
            <a:picLocks noChangeAspect="1"/>
          </p:cNvPicPr>
          <p:nvPr/>
        </p:nvPicPr>
        <p:blipFill>
          <a:blip r:embed="rId4"/>
          <a:stretch>
            <a:fillRect/>
          </a:stretch>
        </p:blipFill>
        <p:spPr>
          <a:xfrm>
            <a:off x="1947331" y="4000813"/>
            <a:ext cx="162000" cy="162000"/>
          </a:xfrm>
          <a:prstGeom prst="rect">
            <a:avLst/>
          </a:prstGeom>
        </p:spPr>
      </p:pic>
      <p:pic>
        <p:nvPicPr>
          <p:cNvPr id="10" name="Imagen 9">
            <a:extLst>
              <a:ext uri="{FF2B5EF4-FFF2-40B4-BE49-F238E27FC236}">
                <a16:creationId xmlns:a16="http://schemas.microsoft.com/office/drawing/2014/main" id="{188A74E8-7929-C9B9-034C-A1C39EF2C628}"/>
              </a:ext>
            </a:extLst>
          </p:cNvPr>
          <p:cNvPicPr>
            <a:picLocks noChangeAspect="1"/>
          </p:cNvPicPr>
          <p:nvPr/>
        </p:nvPicPr>
        <p:blipFill>
          <a:blip r:embed="rId5"/>
          <a:stretch>
            <a:fillRect/>
          </a:stretch>
        </p:blipFill>
        <p:spPr>
          <a:xfrm>
            <a:off x="10121486" y="4523526"/>
            <a:ext cx="162000" cy="162000"/>
          </a:xfrm>
          <a:prstGeom prst="rect">
            <a:avLst/>
          </a:prstGeom>
        </p:spPr>
      </p:pic>
    </p:spTree>
    <p:extLst>
      <p:ext uri="{BB962C8B-B14F-4D97-AF65-F5344CB8AC3E}">
        <p14:creationId xmlns:p14="http://schemas.microsoft.com/office/powerpoint/2010/main" val="32316296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41FF43-917B-7DB8-BF0F-CF0FF8C09FA9}"/>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EF348CBA-B13F-ACAD-CCC6-8A30FCF610E2}"/>
              </a:ext>
            </a:extLst>
          </p:cNvPr>
          <p:cNvSpPr txBox="1">
            <a:spLocks/>
          </p:cNvSpPr>
          <p:nvPr/>
        </p:nvSpPr>
        <p:spPr>
          <a:xfrm>
            <a:off x="1170171" y="956957"/>
            <a:ext cx="9345429" cy="658730"/>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algn="just"/>
            <a:r>
              <a:rPr lang="es-ES_tradnl" sz="3200" dirty="0">
                <a:solidFill>
                  <a:schemeClr val="accent1"/>
                </a:solidFill>
              </a:rPr>
              <a:t>Operación:</a:t>
            </a:r>
            <a:r>
              <a:rPr lang="es-ES_tradnl" sz="3200" dirty="0">
                <a:solidFill>
                  <a:schemeClr val="tx2"/>
                </a:solidFill>
              </a:rPr>
              <a:t> </a:t>
            </a:r>
            <a:r>
              <a:rPr lang="en-US" sz="3200" cap="all" dirty="0"/>
              <a:t>TSPESTU</a:t>
            </a:r>
            <a:r>
              <a:rPr lang="es-ES_tradnl" sz="3200" dirty="0"/>
              <a:t> </a:t>
            </a:r>
            <a:r>
              <a:rPr lang="en-US" sz="3200" dirty="0" err="1"/>
              <a:t>Exención</a:t>
            </a:r>
            <a:r>
              <a:rPr lang="en-US" sz="3200" dirty="0"/>
              <a:t> de carga </a:t>
            </a:r>
            <a:r>
              <a:rPr lang="en-US" sz="3200" dirty="0" err="1"/>
              <a:t>estudiantil</a:t>
            </a:r>
            <a:endParaRPr lang="es-ES" sz="3200" dirty="0"/>
          </a:p>
          <a:p>
            <a:pPr algn="just"/>
            <a:endParaRPr lang="es-CL" dirty="0"/>
          </a:p>
        </p:txBody>
      </p:sp>
      <p:sp>
        <p:nvSpPr>
          <p:cNvPr id="3" name="Rectángulo redondeado 5">
            <a:extLst>
              <a:ext uri="{FF2B5EF4-FFF2-40B4-BE49-F238E27FC236}">
                <a16:creationId xmlns:a16="http://schemas.microsoft.com/office/drawing/2014/main" id="{10F263DA-D1F6-4A63-D4A0-F2CF30D46D48}"/>
              </a:ext>
            </a:extLst>
          </p:cNvPr>
          <p:cNvSpPr/>
          <p:nvPr/>
        </p:nvSpPr>
        <p:spPr>
          <a:xfrm>
            <a:off x="1304401" y="4147808"/>
            <a:ext cx="6029088" cy="457929"/>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dirty="0"/>
              <a:t>Confirmación de la ejecución del Proceso. Generación de los archivos .</a:t>
            </a:r>
            <a:r>
              <a:rPr lang="es-ES_tradnl" sz="1200" b="1" dirty="0"/>
              <a:t>LIS y .LOG</a:t>
            </a:r>
          </a:p>
        </p:txBody>
      </p:sp>
      <p:pic>
        <p:nvPicPr>
          <p:cNvPr id="5" name="Imagen 4">
            <a:extLst>
              <a:ext uri="{FF2B5EF4-FFF2-40B4-BE49-F238E27FC236}">
                <a16:creationId xmlns:a16="http://schemas.microsoft.com/office/drawing/2014/main" id="{E9914A10-6A00-2A64-8EF8-FB4ABB655F76}"/>
              </a:ext>
            </a:extLst>
          </p:cNvPr>
          <p:cNvPicPr>
            <a:picLocks noChangeAspect="1"/>
          </p:cNvPicPr>
          <p:nvPr/>
        </p:nvPicPr>
        <p:blipFill>
          <a:blip r:embed="rId2"/>
          <a:stretch>
            <a:fillRect/>
          </a:stretch>
        </p:blipFill>
        <p:spPr>
          <a:xfrm>
            <a:off x="1304400" y="1918749"/>
            <a:ext cx="9583200" cy="1840813"/>
          </a:xfrm>
          <a:prstGeom prst="rect">
            <a:avLst/>
          </a:prstGeom>
        </p:spPr>
      </p:pic>
      <p:pic>
        <p:nvPicPr>
          <p:cNvPr id="6" name="Imagen 5">
            <a:extLst>
              <a:ext uri="{FF2B5EF4-FFF2-40B4-BE49-F238E27FC236}">
                <a16:creationId xmlns:a16="http://schemas.microsoft.com/office/drawing/2014/main" id="{E7C79803-468C-6544-6B80-9A2164F5871F}"/>
              </a:ext>
            </a:extLst>
          </p:cNvPr>
          <p:cNvPicPr>
            <a:picLocks noChangeAspect="1"/>
          </p:cNvPicPr>
          <p:nvPr/>
        </p:nvPicPr>
        <p:blipFill>
          <a:blip r:embed="rId3"/>
          <a:stretch>
            <a:fillRect/>
          </a:stretch>
        </p:blipFill>
        <p:spPr>
          <a:xfrm>
            <a:off x="6491899" y="2306995"/>
            <a:ext cx="162000" cy="162000"/>
          </a:xfrm>
          <a:prstGeom prst="rect">
            <a:avLst/>
          </a:prstGeom>
        </p:spPr>
      </p:pic>
    </p:spTree>
    <p:extLst>
      <p:ext uri="{BB962C8B-B14F-4D97-AF65-F5344CB8AC3E}">
        <p14:creationId xmlns:p14="http://schemas.microsoft.com/office/powerpoint/2010/main" val="347129361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211510-E8D0-8635-E752-54DCD0E81E4F}"/>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45B7C2AF-9EF9-EF42-F4E8-6FC890374943}"/>
              </a:ext>
            </a:extLst>
          </p:cNvPr>
          <p:cNvSpPr txBox="1">
            <a:spLocks/>
          </p:cNvSpPr>
          <p:nvPr/>
        </p:nvSpPr>
        <p:spPr>
          <a:xfrm>
            <a:off x="1179315" y="660579"/>
            <a:ext cx="9226557" cy="71835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algn="just"/>
            <a:r>
              <a:rPr lang="es-ES_tradnl" sz="3200" dirty="0">
                <a:solidFill>
                  <a:schemeClr val="accent1"/>
                </a:solidFill>
              </a:rPr>
              <a:t>Operación: </a:t>
            </a:r>
            <a:r>
              <a:rPr lang="en-US" sz="3200" cap="all" dirty="0"/>
              <a:t>TSPESTU</a:t>
            </a:r>
            <a:r>
              <a:rPr lang="es-ES_tradnl" sz="3200" dirty="0"/>
              <a:t> </a:t>
            </a:r>
            <a:r>
              <a:rPr lang="en-US" sz="3200" dirty="0" err="1"/>
              <a:t>Exención</a:t>
            </a:r>
            <a:r>
              <a:rPr lang="en-US" sz="3200" dirty="0"/>
              <a:t> de carga </a:t>
            </a:r>
            <a:r>
              <a:rPr lang="en-US" sz="3200" dirty="0" err="1"/>
              <a:t>estudiantil</a:t>
            </a:r>
            <a:endParaRPr lang="es-ES" sz="3200" dirty="0"/>
          </a:p>
          <a:p>
            <a:pPr algn="just"/>
            <a:endParaRPr lang="es-CL" dirty="0"/>
          </a:p>
        </p:txBody>
      </p:sp>
      <p:sp>
        <p:nvSpPr>
          <p:cNvPr id="3" name="Rectángulo redondeado 5">
            <a:extLst>
              <a:ext uri="{FF2B5EF4-FFF2-40B4-BE49-F238E27FC236}">
                <a16:creationId xmlns:a16="http://schemas.microsoft.com/office/drawing/2014/main" id="{5B9A307B-CB1F-BCC9-07E1-FC23BD303BE8}"/>
              </a:ext>
            </a:extLst>
          </p:cNvPr>
          <p:cNvSpPr/>
          <p:nvPr/>
        </p:nvSpPr>
        <p:spPr>
          <a:xfrm>
            <a:off x="1304400" y="5038343"/>
            <a:ext cx="9583200" cy="747829"/>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b="1" dirty="0"/>
              <a:t>Revisión salida en GJIREVO</a:t>
            </a:r>
            <a:r>
              <a:rPr lang="es-ES_tradnl" sz="1200" dirty="0"/>
              <a:t>:</a:t>
            </a:r>
          </a:p>
          <a:p>
            <a:r>
              <a:rPr lang="es-ES_tradnl" sz="1200" dirty="0"/>
              <a:t>Para revisar los archivos .LIS y .LOG se debe ingresar a la aplicación GJIREVO o bien en la sección superior del menú, en la opción “Relacionado” se desplegaría una serie de opciones, dar clic en </a:t>
            </a:r>
            <a:r>
              <a:rPr lang="es-ES_tradnl" sz="1200" b="1" dirty="0"/>
              <a:t>Revisar Salida. </a:t>
            </a:r>
            <a:endParaRPr lang="es-ES_tradnl" sz="1200" dirty="0"/>
          </a:p>
        </p:txBody>
      </p:sp>
      <p:pic>
        <p:nvPicPr>
          <p:cNvPr id="5" name="Imagen 4">
            <a:extLst>
              <a:ext uri="{FF2B5EF4-FFF2-40B4-BE49-F238E27FC236}">
                <a16:creationId xmlns:a16="http://schemas.microsoft.com/office/drawing/2014/main" id="{413F6DB7-3DD1-C80C-92B4-032B4A2CFF05}"/>
              </a:ext>
            </a:extLst>
          </p:cNvPr>
          <p:cNvPicPr>
            <a:picLocks noChangeAspect="1"/>
          </p:cNvPicPr>
          <p:nvPr/>
        </p:nvPicPr>
        <p:blipFill>
          <a:blip r:embed="rId2"/>
          <a:stretch>
            <a:fillRect/>
          </a:stretch>
        </p:blipFill>
        <p:spPr>
          <a:xfrm>
            <a:off x="1304400" y="1540838"/>
            <a:ext cx="9583200" cy="3022586"/>
          </a:xfrm>
          <a:prstGeom prst="rect">
            <a:avLst/>
          </a:prstGeom>
        </p:spPr>
      </p:pic>
      <p:pic>
        <p:nvPicPr>
          <p:cNvPr id="6" name="Imagen 5">
            <a:extLst>
              <a:ext uri="{FF2B5EF4-FFF2-40B4-BE49-F238E27FC236}">
                <a16:creationId xmlns:a16="http://schemas.microsoft.com/office/drawing/2014/main" id="{B6ED91B2-E125-51B7-D20E-DDD0BDC6E07C}"/>
              </a:ext>
            </a:extLst>
          </p:cNvPr>
          <p:cNvPicPr>
            <a:picLocks noChangeAspect="1"/>
          </p:cNvPicPr>
          <p:nvPr/>
        </p:nvPicPr>
        <p:blipFill>
          <a:blip r:embed="rId3"/>
          <a:stretch>
            <a:fillRect/>
          </a:stretch>
        </p:blipFill>
        <p:spPr>
          <a:xfrm>
            <a:off x="10915032" y="1847849"/>
            <a:ext cx="162000" cy="162000"/>
          </a:xfrm>
          <a:prstGeom prst="rect">
            <a:avLst/>
          </a:prstGeom>
        </p:spPr>
      </p:pic>
      <p:pic>
        <p:nvPicPr>
          <p:cNvPr id="8" name="Imagen 7">
            <a:extLst>
              <a:ext uri="{FF2B5EF4-FFF2-40B4-BE49-F238E27FC236}">
                <a16:creationId xmlns:a16="http://schemas.microsoft.com/office/drawing/2014/main" id="{F340816C-0FE8-9D3A-7F44-2D0006D90603}"/>
              </a:ext>
            </a:extLst>
          </p:cNvPr>
          <p:cNvPicPr>
            <a:picLocks noChangeAspect="1"/>
          </p:cNvPicPr>
          <p:nvPr/>
        </p:nvPicPr>
        <p:blipFill>
          <a:blip r:embed="rId4"/>
          <a:stretch>
            <a:fillRect/>
          </a:stretch>
        </p:blipFill>
        <p:spPr>
          <a:xfrm>
            <a:off x="8918755" y="2411275"/>
            <a:ext cx="162000" cy="162000"/>
          </a:xfrm>
          <a:prstGeom prst="rect">
            <a:avLst/>
          </a:prstGeom>
        </p:spPr>
      </p:pic>
    </p:spTree>
    <p:extLst>
      <p:ext uri="{BB962C8B-B14F-4D97-AF65-F5344CB8AC3E}">
        <p14:creationId xmlns:p14="http://schemas.microsoft.com/office/powerpoint/2010/main" val="106123297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908903-6466-0745-4C1A-C297207AA770}"/>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926DCF54-D994-E631-B503-D9FC4731576B}"/>
              </a:ext>
            </a:extLst>
          </p:cNvPr>
          <p:cNvSpPr txBox="1">
            <a:spLocks/>
          </p:cNvSpPr>
          <p:nvPr/>
        </p:nvSpPr>
        <p:spPr>
          <a:xfrm>
            <a:off x="1197864" y="278575"/>
            <a:ext cx="9180576" cy="545149"/>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algn="just"/>
            <a:r>
              <a:rPr lang="es-ES_tradnl" sz="3200" dirty="0">
                <a:solidFill>
                  <a:schemeClr val="accent1"/>
                </a:solidFill>
              </a:rPr>
              <a:t>Operación: </a:t>
            </a:r>
            <a:r>
              <a:rPr lang="en-US" sz="3200" cap="all" dirty="0"/>
              <a:t>TSPESTU</a:t>
            </a:r>
            <a:r>
              <a:rPr lang="es-ES_tradnl" sz="3200" dirty="0"/>
              <a:t> </a:t>
            </a:r>
            <a:r>
              <a:rPr lang="en-US" sz="3200" dirty="0" err="1"/>
              <a:t>Exención</a:t>
            </a:r>
            <a:r>
              <a:rPr lang="en-US" sz="3200" dirty="0"/>
              <a:t> de carga </a:t>
            </a:r>
            <a:r>
              <a:rPr lang="en-US" sz="3200" dirty="0" err="1"/>
              <a:t>estudiantil</a:t>
            </a:r>
            <a:endParaRPr lang="es-ES" sz="3200" dirty="0"/>
          </a:p>
          <a:p>
            <a:pPr algn="just"/>
            <a:endParaRPr lang="es-CL" dirty="0"/>
          </a:p>
        </p:txBody>
      </p:sp>
      <p:sp>
        <p:nvSpPr>
          <p:cNvPr id="8" name="Rectángulo redondeado 5">
            <a:extLst>
              <a:ext uri="{FF2B5EF4-FFF2-40B4-BE49-F238E27FC236}">
                <a16:creationId xmlns:a16="http://schemas.microsoft.com/office/drawing/2014/main" id="{635D088C-84A8-F1D0-0275-5A45B8C534DC}"/>
              </a:ext>
            </a:extLst>
          </p:cNvPr>
          <p:cNvSpPr/>
          <p:nvPr/>
        </p:nvSpPr>
        <p:spPr>
          <a:xfrm>
            <a:off x="1304400" y="5726889"/>
            <a:ext cx="9583200" cy="722497"/>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ES_tradnl" sz="1200" b="1" dirty="0"/>
              <a:t>Revisión salida en GJIREVO</a:t>
            </a:r>
            <a:r>
              <a:rPr lang="es-ES_tradnl" sz="1200" dirty="0"/>
              <a:t>:</a:t>
            </a:r>
          </a:p>
          <a:p>
            <a:pPr algn="just"/>
            <a:r>
              <a:rPr lang="es-ES_tradnl" sz="1200" dirty="0"/>
              <a:t>Ratificando que el campo “Número” cuente con la numeración asignada al proceso ejecutado, en el campo Nombre de Archivo, se despliega las opciones de los archivos .LIS y .LOG. </a:t>
            </a:r>
          </a:p>
        </p:txBody>
      </p:sp>
      <p:pic>
        <p:nvPicPr>
          <p:cNvPr id="10" name="Imagen 9">
            <a:extLst>
              <a:ext uri="{FF2B5EF4-FFF2-40B4-BE49-F238E27FC236}">
                <a16:creationId xmlns:a16="http://schemas.microsoft.com/office/drawing/2014/main" id="{32C8FDDF-70B1-2A3D-80C5-59BFFE5B72DD}"/>
              </a:ext>
            </a:extLst>
          </p:cNvPr>
          <p:cNvPicPr>
            <a:picLocks noChangeAspect="1"/>
          </p:cNvPicPr>
          <p:nvPr/>
        </p:nvPicPr>
        <p:blipFill>
          <a:blip r:embed="rId2"/>
          <a:stretch>
            <a:fillRect/>
          </a:stretch>
        </p:blipFill>
        <p:spPr>
          <a:xfrm>
            <a:off x="1304400" y="823724"/>
            <a:ext cx="9583200" cy="4719265"/>
          </a:xfrm>
          <a:prstGeom prst="rect">
            <a:avLst/>
          </a:prstGeom>
        </p:spPr>
      </p:pic>
      <p:pic>
        <p:nvPicPr>
          <p:cNvPr id="12" name="Imagen 11">
            <a:extLst>
              <a:ext uri="{FF2B5EF4-FFF2-40B4-BE49-F238E27FC236}">
                <a16:creationId xmlns:a16="http://schemas.microsoft.com/office/drawing/2014/main" id="{409333C9-9AA8-52AB-215F-7085DB22A988}"/>
              </a:ext>
            </a:extLst>
          </p:cNvPr>
          <p:cNvPicPr>
            <a:picLocks noChangeAspect="1"/>
          </p:cNvPicPr>
          <p:nvPr/>
        </p:nvPicPr>
        <p:blipFill>
          <a:blip r:embed="rId3"/>
          <a:stretch>
            <a:fillRect/>
          </a:stretch>
        </p:blipFill>
        <p:spPr>
          <a:xfrm>
            <a:off x="1188720" y="1629691"/>
            <a:ext cx="162000" cy="162000"/>
          </a:xfrm>
          <a:prstGeom prst="rect">
            <a:avLst/>
          </a:prstGeom>
        </p:spPr>
      </p:pic>
      <p:pic>
        <p:nvPicPr>
          <p:cNvPr id="14" name="Imagen 13">
            <a:extLst>
              <a:ext uri="{FF2B5EF4-FFF2-40B4-BE49-F238E27FC236}">
                <a16:creationId xmlns:a16="http://schemas.microsoft.com/office/drawing/2014/main" id="{C3CD3074-3C41-691B-8083-2BF506E5EC29}"/>
              </a:ext>
            </a:extLst>
          </p:cNvPr>
          <p:cNvPicPr>
            <a:picLocks noChangeAspect="1"/>
          </p:cNvPicPr>
          <p:nvPr/>
        </p:nvPicPr>
        <p:blipFill>
          <a:blip r:embed="rId4"/>
          <a:stretch>
            <a:fillRect/>
          </a:stretch>
        </p:blipFill>
        <p:spPr>
          <a:xfrm>
            <a:off x="4119259" y="3215307"/>
            <a:ext cx="162000" cy="162000"/>
          </a:xfrm>
          <a:prstGeom prst="rect">
            <a:avLst/>
          </a:prstGeom>
        </p:spPr>
      </p:pic>
      <p:pic>
        <p:nvPicPr>
          <p:cNvPr id="16" name="Imagen 15">
            <a:extLst>
              <a:ext uri="{FF2B5EF4-FFF2-40B4-BE49-F238E27FC236}">
                <a16:creationId xmlns:a16="http://schemas.microsoft.com/office/drawing/2014/main" id="{081883E2-6FC7-C955-D6F7-A4E34954CB8F}"/>
              </a:ext>
            </a:extLst>
          </p:cNvPr>
          <p:cNvPicPr>
            <a:picLocks noChangeAspect="1"/>
          </p:cNvPicPr>
          <p:nvPr/>
        </p:nvPicPr>
        <p:blipFill>
          <a:blip r:embed="rId5"/>
          <a:stretch>
            <a:fillRect/>
          </a:stretch>
        </p:blipFill>
        <p:spPr>
          <a:xfrm>
            <a:off x="7944043" y="4838131"/>
            <a:ext cx="162000" cy="162000"/>
          </a:xfrm>
          <a:prstGeom prst="rect">
            <a:avLst/>
          </a:prstGeom>
        </p:spPr>
      </p:pic>
      <p:pic>
        <p:nvPicPr>
          <p:cNvPr id="18" name="Imagen 17">
            <a:extLst>
              <a:ext uri="{FF2B5EF4-FFF2-40B4-BE49-F238E27FC236}">
                <a16:creationId xmlns:a16="http://schemas.microsoft.com/office/drawing/2014/main" id="{1BF4B8D5-A7D9-8781-D241-219A66D8D0FB}"/>
              </a:ext>
            </a:extLst>
          </p:cNvPr>
          <p:cNvPicPr>
            <a:picLocks noChangeAspect="1"/>
          </p:cNvPicPr>
          <p:nvPr/>
        </p:nvPicPr>
        <p:blipFill>
          <a:blip r:embed="rId6"/>
          <a:stretch>
            <a:fillRect/>
          </a:stretch>
        </p:blipFill>
        <p:spPr>
          <a:xfrm>
            <a:off x="10297440" y="1475539"/>
            <a:ext cx="162000" cy="162000"/>
          </a:xfrm>
          <a:prstGeom prst="rect">
            <a:avLst/>
          </a:prstGeom>
        </p:spPr>
      </p:pic>
    </p:spTree>
    <p:extLst>
      <p:ext uri="{BB962C8B-B14F-4D97-AF65-F5344CB8AC3E}">
        <p14:creationId xmlns:p14="http://schemas.microsoft.com/office/powerpoint/2010/main" val="332574807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0F07E0-B2D5-D911-C4B0-603AAC4FE6A5}"/>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E0242ED4-EEEF-38FD-85BF-5E5EC5453570}"/>
              </a:ext>
            </a:extLst>
          </p:cNvPr>
          <p:cNvSpPr txBox="1">
            <a:spLocks/>
          </p:cNvSpPr>
          <p:nvPr/>
        </p:nvSpPr>
        <p:spPr>
          <a:xfrm>
            <a:off x="992124" y="515497"/>
            <a:ext cx="9130284" cy="560199"/>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algn="just"/>
            <a:r>
              <a:rPr lang="es-ES_tradnl" sz="3200" dirty="0">
                <a:solidFill>
                  <a:schemeClr val="accent1"/>
                </a:solidFill>
              </a:rPr>
              <a:t>Operación: </a:t>
            </a:r>
            <a:r>
              <a:rPr lang="en-US" sz="3200" cap="all" dirty="0"/>
              <a:t>TSPESTU</a:t>
            </a:r>
            <a:r>
              <a:rPr lang="es-ES_tradnl" sz="3200" dirty="0"/>
              <a:t> </a:t>
            </a:r>
            <a:r>
              <a:rPr lang="en-US" sz="3200" dirty="0" err="1"/>
              <a:t>Exención</a:t>
            </a:r>
            <a:r>
              <a:rPr lang="en-US" sz="3200" dirty="0"/>
              <a:t> de carga </a:t>
            </a:r>
            <a:r>
              <a:rPr lang="en-US" sz="3200" dirty="0" err="1"/>
              <a:t>estudiantil</a:t>
            </a:r>
            <a:endParaRPr lang="es-ES" sz="3200" dirty="0"/>
          </a:p>
          <a:p>
            <a:pPr algn="just"/>
            <a:endParaRPr lang="es-CL" dirty="0"/>
          </a:p>
        </p:txBody>
      </p:sp>
      <p:sp>
        <p:nvSpPr>
          <p:cNvPr id="4" name="Rectángulo redondeado 5">
            <a:extLst>
              <a:ext uri="{FF2B5EF4-FFF2-40B4-BE49-F238E27FC236}">
                <a16:creationId xmlns:a16="http://schemas.microsoft.com/office/drawing/2014/main" id="{4C34597D-CB00-13FE-B913-39003137D815}"/>
              </a:ext>
            </a:extLst>
          </p:cNvPr>
          <p:cNvSpPr/>
          <p:nvPr/>
        </p:nvSpPr>
        <p:spPr>
          <a:xfrm>
            <a:off x="1092420" y="5363184"/>
            <a:ext cx="4997196" cy="468714"/>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dirty="0"/>
              <a:t>El archivo .LIS confirma la actualización de los registros de exención.</a:t>
            </a:r>
          </a:p>
        </p:txBody>
      </p:sp>
      <p:pic>
        <p:nvPicPr>
          <p:cNvPr id="5" name="Imagen 4">
            <a:extLst>
              <a:ext uri="{FF2B5EF4-FFF2-40B4-BE49-F238E27FC236}">
                <a16:creationId xmlns:a16="http://schemas.microsoft.com/office/drawing/2014/main" id="{28EF60A8-6E26-57EC-1768-5EA58275690D}"/>
              </a:ext>
            </a:extLst>
          </p:cNvPr>
          <p:cNvPicPr>
            <a:picLocks noChangeAspect="1"/>
          </p:cNvPicPr>
          <p:nvPr/>
        </p:nvPicPr>
        <p:blipFill>
          <a:blip r:embed="rId2"/>
          <a:stretch>
            <a:fillRect/>
          </a:stretch>
        </p:blipFill>
        <p:spPr>
          <a:xfrm>
            <a:off x="1092420" y="1260459"/>
            <a:ext cx="9583200" cy="3742344"/>
          </a:xfrm>
          <a:prstGeom prst="rect">
            <a:avLst/>
          </a:prstGeom>
        </p:spPr>
      </p:pic>
      <p:pic>
        <p:nvPicPr>
          <p:cNvPr id="6" name="Imagen 5">
            <a:extLst>
              <a:ext uri="{FF2B5EF4-FFF2-40B4-BE49-F238E27FC236}">
                <a16:creationId xmlns:a16="http://schemas.microsoft.com/office/drawing/2014/main" id="{2AA84A60-6D23-D26C-FF59-02B710B0E841}"/>
              </a:ext>
            </a:extLst>
          </p:cNvPr>
          <p:cNvPicPr>
            <a:picLocks noChangeAspect="1"/>
          </p:cNvPicPr>
          <p:nvPr/>
        </p:nvPicPr>
        <p:blipFill>
          <a:blip r:embed="rId3"/>
          <a:stretch>
            <a:fillRect/>
          </a:stretch>
        </p:blipFill>
        <p:spPr>
          <a:xfrm>
            <a:off x="875844" y="2526451"/>
            <a:ext cx="162000" cy="162000"/>
          </a:xfrm>
          <a:prstGeom prst="rect">
            <a:avLst/>
          </a:prstGeom>
        </p:spPr>
      </p:pic>
    </p:spTree>
    <p:extLst>
      <p:ext uri="{BB962C8B-B14F-4D97-AF65-F5344CB8AC3E}">
        <p14:creationId xmlns:p14="http://schemas.microsoft.com/office/powerpoint/2010/main" val="165113024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A1DF69-F674-56DD-2FB5-B3CD57861C6B}"/>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A43FF71E-6223-1468-7097-6E68F5F01CC6}"/>
              </a:ext>
            </a:extLst>
          </p:cNvPr>
          <p:cNvSpPr txBox="1">
            <a:spLocks/>
          </p:cNvSpPr>
          <p:nvPr/>
        </p:nvSpPr>
        <p:spPr>
          <a:xfrm>
            <a:off x="1188459" y="366081"/>
            <a:ext cx="9171693" cy="508696"/>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algn="just"/>
            <a:r>
              <a:rPr lang="es-ES_tradnl" sz="3200" dirty="0">
                <a:solidFill>
                  <a:schemeClr val="accent1"/>
                </a:solidFill>
              </a:rPr>
              <a:t>Operación: </a:t>
            </a:r>
            <a:r>
              <a:rPr lang="en-US" sz="3200" cap="all" dirty="0"/>
              <a:t>TSPESTU</a:t>
            </a:r>
            <a:r>
              <a:rPr lang="es-ES_tradnl" sz="3200" dirty="0"/>
              <a:t> </a:t>
            </a:r>
            <a:r>
              <a:rPr lang="en-US" sz="3200" dirty="0" err="1"/>
              <a:t>Exención</a:t>
            </a:r>
            <a:r>
              <a:rPr lang="en-US" sz="3200" dirty="0"/>
              <a:t> de carga </a:t>
            </a:r>
            <a:r>
              <a:rPr lang="en-US" sz="3200" dirty="0" err="1"/>
              <a:t>estudiantil</a:t>
            </a:r>
            <a:endParaRPr lang="es-ES" sz="3200" dirty="0"/>
          </a:p>
          <a:p>
            <a:pPr algn="just"/>
            <a:endParaRPr lang="es-CL" dirty="0"/>
          </a:p>
        </p:txBody>
      </p:sp>
      <p:sp>
        <p:nvSpPr>
          <p:cNvPr id="3" name="Rectángulo redondeado 5">
            <a:extLst>
              <a:ext uri="{FF2B5EF4-FFF2-40B4-BE49-F238E27FC236}">
                <a16:creationId xmlns:a16="http://schemas.microsoft.com/office/drawing/2014/main" id="{9B2652EC-0DD3-0CFA-E618-2F4E222FFEF9}"/>
              </a:ext>
            </a:extLst>
          </p:cNvPr>
          <p:cNvSpPr/>
          <p:nvPr/>
        </p:nvSpPr>
        <p:spPr>
          <a:xfrm>
            <a:off x="1304400" y="5507547"/>
            <a:ext cx="3282957" cy="508696"/>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dirty="0"/>
              <a:t>El archivo .LOG confirma ejecución completa.</a:t>
            </a:r>
          </a:p>
        </p:txBody>
      </p:sp>
      <p:pic>
        <p:nvPicPr>
          <p:cNvPr id="5" name="Imagen 4">
            <a:extLst>
              <a:ext uri="{FF2B5EF4-FFF2-40B4-BE49-F238E27FC236}">
                <a16:creationId xmlns:a16="http://schemas.microsoft.com/office/drawing/2014/main" id="{211EE5C8-19E8-1DC5-D73C-DBD0B6A81090}"/>
              </a:ext>
            </a:extLst>
          </p:cNvPr>
          <p:cNvPicPr>
            <a:picLocks noChangeAspect="1"/>
          </p:cNvPicPr>
          <p:nvPr/>
        </p:nvPicPr>
        <p:blipFill>
          <a:blip r:embed="rId2"/>
          <a:stretch>
            <a:fillRect/>
          </a:stretch>
        </p:blipFill>
        <p:spPr>
          <a:xfrm>
            <a:off x="1304400" y="1079863"/>
            <a:ext cx="9583200" cy="4222598"/>
          </a:xfrm>
          <a:prstGeom prst="rect">
            <a:avLst/>
          </a:prstGeom>
        </p:spPr>
      </p:pic>
      <p:pic>
        <p:nvPicPr>
          <p:cNvPr id="6" name="Imagen 5">
            <a:extLst>
              <a:ext uri="{FF2B5EF4-FFF2-40B4-BE49-F238E27FC236}">
                <a16:creationId xmlns:a16="http://schemas.microsoft.com/office/drawing/2014/main" id="{7CF52729-5354-2FCD-ACF3-C67C2AA6CC30}"/>
              </a:ext>
            </a:extLst>
          </p:cNvPr>
          <p:cNvPicPr>
            <a:picLocks noChangeAspect="1"/>
          </p:cNvPicPr>
          <p:nvPr/>
        </p:nvPicPr>
        <p:blipFill>
          <a:blip r:embed="rId3"/>
          <a:stretch>
            <a:fillRect/>
          </a:stretch>
        </p:blipFill>
        <p:spPr>
          <a:xfrm>
            <a:off x="1116603" y="4940467"/>
            <a:ext cx="162000" cy="162000"/>
          </a:xfrm>
          <a:prstGeom prst="rect">
            <a:avLst/>
          </a:prstGeom>
        </p:spPr>
      </p:pic>
    </p:spTree>
    <p:extLst>
      <p:ext uri="{BB962C8B-B14F-4D97-AF65-F5344CB8AC3E}">
        <p14:creationId xmlns:p14="http://schemas.microsoft.com/office/powerpoint/2010/main" val="398196898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E8A379-67DF-A9AA-DE55-8D2E4E57FB21}"/>
            </a:ext>
          </a:extLst>
        </p:cNvPr>
        <p:cNvGrpSpPr/>
        <p:nvPr/>
      </p:nvGrpSpPr>
      <p:grpSpPr>
        <a:xfrm>
          <a:off x="0" y="0"/>
          <a:ext cx="0" cy="0"/>
          <a:chOff x="0" y="0"/>
          <a:chExt cx="0" cy="0"/>
        </a:xfrm>
      </p:grpSpPr>
      <p:sp>
        <p:nvSpPr>
          <p:cNvPr id="3" name="Título 3">
            <a:extLst>
              <a:ext uri="{FF2B5EF4-FFF2-40B4-BE49-F238E27FC236}">
                <a16:creationId xmlns:a16="http://schemas.microsoft.com/office/drawing/2014/main" id="{15043A6F-2762-9A8F-6C76-3891F5D27D45}"/>
              </a:ext>
            </a:extLst>
          </p:cNvPr>
          <p:cNvSpPr txBox="1">
            <a:spLocks/>
          </p:cNvSpPr>
          <p:nvPr/>
        </p:nvSpPr>
        <p:spPr>
          <a:xfrm>
            <a:off x="1082989" y="1086568"/>
            <a:ext cx="8902259" cy="61691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Resultado: </a:t>
            </a:r>
            <a:r>
              <a:rPr lang="es-ES_tradnl" sz="3200" dirty="0"/>
              <a:t>TSAEXPT - </a:t>
            </a:r>
            <a:r>
              <a:rPr lang="en-US" sz="3200" dirty="0"/>
              <a:t>Autorización de exención</a:t>
            </a:r>
            <a:br>
              <a:rPr lang="es-CL" dirty="0"/>
            </a:br>
            <a:endParaRPr lang="es-CL" dirty="0"/>
          </a:p>
        </p:txBody>
      </p:sp>
      <p:sp>
        <p:nvSpPr>
          <p:cNvPr id="4" name="Rectángulo redondeado 5">
            <a:extLst>
              <a:ext uri="{FF2B5EF4-FFF2-40B4-BE49-F238E27FC236}">
                <a16:creationId xmlns:a16="http://schemas.microsoft.com/office/drawing/2014/main" id="{5B151A4C-6355-B1B1-D4D2-9D50AE2F9017}"/>
              </a:ext>
            </a:extLst>
          </p:cNvPr>
          <p:cNvSpPr/>
          <p:nvPr/>
        </p:nvSpPr>
        <p:spPr>
          <a:xfrm>
            <a:off x="1198930" y="4294951"/>
            <a:ext cx="4156523" cy="508696"/>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dirty="0"/>
              <a:t>Se valida el registro de los </a:t>
            </a:r>
            <a:r>
              <a:rPr lang="es-ES_tradnl" sz="1200" dirty="0" err="1"/>
              <a:t>ID´s</a:t>
            </a:r>
            <a:r>
              <a:rPr lang="es-ES_tradnl" sz="1200" dirty="0"/>
              <a:t> cargados por </a:t>
            </a:r>
            <a:r>
              <a:rPr lang="es-ES_tradnl" sz="1200" dirty="0" err="1"/>
              <a:t>template</a:t>
            </a:r>
            <a:r>
              <a:rPr lang="es-ES_tradnl" sz="1200" dirty="0"/>
              <a:t>.</a:t>
            </a:r>
          </a:p>
        </p:txBody>
      </p:sp>
      <p:pic>
        <p:nvPicPr>
          <p:cNvPr id="6" name="Imagen 5">
            <a:extLst>
              <a:ext uri="{FF2B5EF4-FFF2-40B4-BE49-F238E27FC236}">
                <a16:creationId xmlns:a16="http://schemas.microsoft.com/office/drawing/2014/main" id="{7F2DA49D-59A4-795B-57F9-938C05D9FB31}"/>
              </a:ext>
            </a:extLst>
          </p:cNvPr>
          <p:cNvPicPr>
            <a:picLocks noChangeAspect="1"/>
          </p:cNvPicPr>
          <p:nvPr/>
        </p:nvPicPr>
        <p:blipFill>
          <a:blip r:embed="rId2"/>
          <a:stretch>
            <a:fillRect/>
          </a:stretch>
        </p:blipFill>
        <p:spPr>
          <a:xfrm>
            <a:off x="1198930" y="1949190"/>
            <a:ext cx="9583200" cy="1830611"/>
          </a:xfrm>
          <a:prstGeom prst="rect">
            <a:avLst/>
          </a:prstGeom>
        </p:spPr>
      </p:pic>
    </p:spTree>
    <p:extLst>
      <p:ext uri="{BB962C8B-B14F-4D97-AF65-F5344CB8AC3E}">
        <p14:creationId xmlns:p14="http://schemas.microsoft.com/office/powerpoint/2010/main" val="159627784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7B70B4-2830-9397-2973-031924A93205}"/>
            </a:ext>
          </a:extLst>
        </p:cNvPr>
        <p:cNvGrpSpPr/>
        <p:nvPr/>
      </p:nvGrpSpPr>
      <p:grpSpPr>
        <a:xfrm>
          <a:off x="0" y="0"/>
          <a:ext cx="0" cy="0"/>
          <a:chOff x="0" y="0"/>
          <a:chExt cx="0" cy="0"/>
        </a:xfrm>
      </p:grpSpPr>
      <p:sp>
        <p:nvSpPr>
          <p:cNvPr id="5" name="CuadroTexto 4">
            <a:extLst>
              <a:ext uri="{FF2B5EF4-FFF2-40B4-BE49-F238E27FC236}">
                <a16:creationId xmlns:a16="http://schemas.microsoft.com/office/drawing/2014/main" id="{EC594508-4941-A9AB-7530-C5417307D4A7}"/>
              </a:ext>
            </a:extLst>
          </p:cNvPr>
          <p:cNvSpPr txBox="1"/>
          <p:nvPr/>
        </p:nvSpPr>
        <p:spPr>
          <a:xfrm>
            <a:off x="591312" y="2145292"/>
            <a:ext cx="11173968" cy="1938992"/>
          </a:xfrm>
          <a:prstGeom prst="rect">
            <a:avLst/>
          </a:prstGeom>
          <a:noFill/>
        </p:spPr>
        <p:txBody>
          <a:bodyPr wrap="square">
            <a:spAutoFit/>
          </a:bodyPr>
          <a:lstStyle/>
          <a:p>
            <a:r>
              <a:rPr lang="es-CO" sz="6000" b="1" dirty="0">
                <a:solidFill>
                  <a:schemeClr val="bg1"/>
                </a:solidFill>
              </a:rPr>
              <a:t>Gestión de contratos y convenios</a:t>
            </a:r>
            <a:r>
              <a:rPr lang="en-US" sz="6000" b="1" dirty="0">
                <a:solidFill>
                  <a:schemeClr val="bg1"/>
                </a:solidFill>
              </a:rPr>
              <a:t> </a:t>
            </a:r>
          </a:p>
        </p:txBody>
      </p:sp>
    </p:spTree>
    <p:extLst>
      <p:ext uri="{BB962C8B-B14F-4D97-AF65-F5344CB8AC3E}">
        <p14:creationId xmlns:p14="http://schemas.microsoft.com/office/powerpoint/2010/main" val="381543304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50D1B9-7EF5-A8D3-CB01-0F8A4D7152F9}"/>
            </a:ext>
          </a:extLst>
        </p:cNvPr>
        <p:cNvGrpSpPr/>
        <p:nvPr/>
      </p:nvGrpSpPr>
      <p:grpSpPr>
        <a:xfrm>
          <a:off x="0" y="0"/>
          <a:ext cx="0" cy="0"/>
          <a:chOff x="0" y="0"/>
          <a:chExt cx="0" cy="0"/>
        </a:xfrm>
      </p:grpSpPr>
      <p:sp>
        <p:nvSpPr>
          <p:cNvPr id="3" name="Título 3">
            <a:extLst>
              <a:ext uri="{FF2B5EF4-FFF2-40B4-BE49-F238E27FC236}">
                <a16:creationId xmlns:a16="http://schemas.microsoft.com/office/drawing/2014/main" id="{29939073-34D5-F581-9802-4EA6DE2CF340}"/>
              </a:ext>
            </a:extLst>
          </p:cNvPr>
          <p:cNvSpPr txBox="1">
            <a:spLocks/>
          </p:cNvSpPr>
          <p:nvPr/>
        </p:nvSpPr>
        <p:spPr>
          <a:xfrm>
            <a:off x="835914" y="914400"/>
            <a:ext cx="8734806" cy="566928"/>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dirty="0">
                <a:solidFill>
                  <a:schemeClr val="accent1"/>
                </a:solidFill>
              </a:rPr>
              <a:t>Overview: </a:t>
            </a:r>
            <a:r>
              <a:rPr lang="es-CO" sz="3200" dirty="0"/>
              <a:t>Gestión de contratos y convenios </a:t>
            </a:r>
            <a:endParaRPr lang="es-CL" dirty="0"/>
          </a:p>
        </p:txBody>
      </p:sp>
      <p:sp>
        <p:nvSpPr>
          <p:cNvPr id="4" name="Marcador de texto 1">
            <a:extLst>
              <a:ext uri="{FF2B5EF4-FFF2-40B4-BE49-F238E27FC236}">
                <a16:creationId xmlns:a16="http://schemas.microsoft.com/office/drawing/2014/main" id="{4EAC5D95-FC5B-A8DE-7EFB-B3765FD4A0C8}"/>
              </a:ext>
            </a:extLst>
          </p:cNvPr>
          <p:cNvSpPr txBox="1">
            <a:spLocks/>
          </p:cNvSpPr>
          <p:nvPr/>
        </p:nvSpPr>
        <p:spPr>
          <a:xfrm>
            <a:off x="835914" y="1907916"/>
            <a:ext cx="10319765" cy="3468756"/>
          </a:xfrm>
          <a:prstGeom prst="rect">
            <a:avLst/>
          </a:prstGeom>
        </p:spPr>
        <p:txBody>
          <a:bodyPr/>
          <a:lst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Blip>
                <a:blip r:embed="rId2"/>
              </a:buBlip>
            </a:pPr>
            <a:r>
              <a:rPr lang="es-CO" dirty="0"/>
              <a:t>Tiene como propósito la elaboración, ejecución y seguimiento de los contratos celebrados entre la universidad y terceros como empresas privadas y gubernamentales que desean apoyar el crecimiento profesional de sus empleados, y deciden pagar parcial o totalmente los estudios de su personal.</a:t>
            </a:r>
          </a:p>
          <a:p>
            <a:pPr algn="just">
              <a:buBlip>
                <a:blip r:embed="rId2"/>
              </a:buBlip>
            </a:pPr>
            <a:endParaRPr lang="es-CO" dirty="0"/>
          </a:p>
          <a:p>
            <a:pPr algn="just">
              <a:buBlip>
                <a:blip r:embed="rId2"/>
              </a:buBlip>
            </a:pPr>
            <a:r>
              <a:rPr lang="es-CO" dirty="0"/>
              <a:t>El proceso comprende la elaboración de un contrato entre la empresa externa y la universidad, donde se establecen las reglas y los mecanismos de asignación y aplicación, se identifican los conceptos de cargos a cubrir, los montos y/o porcentajes máximos de cobertura, así como los códigos de detalles que representarán los conceptos de Cargo y Pago generados por dicho contrato, entre otros.</a:t>
            </a:r>
          </a:p>
          <a:p>
            <a:pPr marL="0" indent="0" algn="just">
              <a:buNone/>
            </a:pPr>
            <a:endParaRPr lang="es-CO" sz="2000" dirty="0"/>
          </a:p>
          <a:p>
            <a:pPr algn="just">
              <a:buBlip>
                <a:blip r:embed="rId2"/>
              </a:buBlip>
            </a:pPr>
            <a:endParaRPr lang="es-CL" sz="2000" dirty="0"/>
          </a:p>
        </p:txBody>
      </p:sp>
    </p:spTree>
    <p:extLst>
      <p:ext uri="{BB962C8B-B14F-4D97-AF65-F5344CB8AC3E}">
        <p14:creationId xmlns:p14="http://schemas.microsoft.com/office/powerpoint/2010/main" val="2549373187"/>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2CE217-8451-35DB-25AF-2505789FC02E}"/>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0CD3F03B-F36A-889C-0B18-70A99736C2F2}"/>
              </a:ext>
            </a:extLst>
          </p:cNvPr>
          <p:cNvSpPr txBox="1">
            <a:spLocks/>
          </p:cNvSpPr>
          <p:nvPr/>
        </p:nvSpPr>
        <p:spPr>
          <a:xfrm>
            <a:off x="1304400" y="578356"/>
            <a:ext cx="8744713" cy="528791"/>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000" dirty="0">
                <a:solidFill>
                  <a:schemeClr val="accent1"/>
                </a:solidFill>
              </a:rPr>
              <a:t>Overview: </a:t>
            </a:r>
            <a:r>
              <a:rPr lang="es-CO" sz="2800" dirty="0"/>
              <a:t>Gestionar los contratos y convenios</a:t>
            </a:r>
            <a:endParaRPr lang="es-CL" sz="3000" dirty="0"/>
          </a:p>
        </p:txBody>
      </p:sp>
      <p:pic>
        <p:nvPicPr>
          <p:cNvPr id="5" name="Imagen 4">
            <a:extLst>
              <a:ext uri="{FF2B5EF4-FFF2-40B4-BE49-F238E27FC236}">
                <a16:creationId xmlns:a16="http://schemas.microsoft.com/office/drawing/2014/main" id="{AF10E453-A08C-771B-5F82-E8738EE59AEF}"/>
              </a:ext>
            </a:extLst>
          </p:cNvPr>
          <p:cNvPicPr>
            <a:picLocks noChangeAspect="1"/>
          </p:cNvPicPr>
          <p:nvPr/>
        </p:nvPicPr>
        <p:blipFill>
          <a:blip r:embed="rId3"/>
          <a:srcRect l="18975"/>
          <a:stretch>
            <a:fillRect/>
          </a:stretch>
        </p:blipFill>
        <p:spPr>
          <a:xfrm>
            <a:off x="1304400" y="1308315"/>
            <a:ext cx="9583200" cy="4802916"/>
          </a:xfrm>
          <a:prstGeom prst="rect">
            <a:avLst/>
          </a:prstGeom>
        </p:spPr>
      </p:pic>
    </p:spTree>
    <p:extLst>
      <p:ext uri="{BB962C8B-B14F-4D97-AF65-F5344CB8AC3E}">
        <p14:creationId xmlns:p14="http://schemas.microsoft.com/office/powerpoint/2010/main" val="2276541714"/>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147956-BB0B-F1CB-7B33-04E83FF6A635}"/>
            </a:ext>
          </a:extLst>
        </p:cNvPr>
        <p:cNvGrpSpPr/>
        <p:nvPr/>
      </p:nvGrpSpPr>
      <p:grpSpPr>
        <a:xfrm>
          <a:off x="0" y="0"/>
          <a:ext cx="0" cy="0"/>
          <a:chOff x="0" y="0"/>
          <a:chExt cx="0" cy="0"/>
        </a:xfrm>
      </p:grpSpPr>
      <p:sp>
        <p:nvSpPr>
          <p:cNvPr id="5" name="CuadroTexto 4">
            <a:extLst>
              <a:ext uri="{FF2B5EF4-FFF2-40B4-BE49-F238E27FC236}">
                <a16:creationId xmlns:a16="http://schemas.microsoft.com/office/drawing/2014/main" id="{7002EEC1-69D7-AA4B-AE8E-DD3C806C4F67}"/>
              </a:ext>
            </a:extLst>
          </p:cNvPr>
          <p:cNvSpPr txBox="1"/>
          <p:nvPr/>
        </p:nvSpPr>
        <p:spPr>
          <a:xfrm>
            <a:off x="603504" y="2492764"/>
            <a:ext cx="10762488" cy="1015663"/>
          </a:xfrm>
          <a:prstGeom prst="rect">
            <a:avLst/>
          </a:prstGeom>
          <a:noFill/>
        </p:spPr>
        <p:txBody>
          <a:bodyPr wrap="square">
            <a:spAutoFit/>
          </a:bodyPr>
          <a:lstStyle/>
          <a:p>
            <a:r>
              <a:rPr lang="es-ES" sz="6000" b="1" dirty="0">
                <a:solidFill>
                  <a:schemeClr val="bg1"/>
                </a:solidFill>
              </a:rPr>
              <a:t>Configuraciones Generales</a:t>
            </a:r>
            <a:endParaRPr lang="en-US" sz="6000" b="1" dirty="0">
              <a:solidFill>
                <a:schemeClr val="bg1"/>
              </a:solidFill>
            </a:endParaRPr>
          </a:p>
        </p:txBody>
      </p:sp>
      <p:sp>
        <p:nvSpPr>
          <p:cNvPr id="2" name="Text Placeholder 16">
            <a:extLst>
              <a:ext uri="{FF2B5EF4-FFF2-40B4-BE49-F238E27FC236}">
                <a16:creationId xmlns:a16="http://schemas.microsoft.com/office/drawing/2014/main" id="{D1686E54-0298-5452-898C-B63C2A20F734}"/>
              </a:ext>
            </a:extLst>
          </p:cNvPr>
          <p:cNvSpPr txBox="1">
            <a:spLocks/>
          </p:cNvSpPr>
          <p:nvPr/>
        </p:nvSpPr>
        <p:spPr>
          <a:xfrm>
            <a:off x="603504" y="3682163"/>
            <a:ext cx="7092820" cy="533221"/>
          </a:xfrm>
          <a:prstGeom prst="rect">
            <a:avLst/>
          </a:prstGeom>
        </p:spPr>
        <p:txBody>
          <a:bodyPr/>
          <a:lst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CO" sz="2000" b="1" dirty="0">
                <a:solidFill>
                  <a:schemeClr val="bg1"/>
                </a:solidFill>
              </a:rPr>
              <a:t>Gestionar los contratos y convenios</a:t>
            </a:r>
          </a:p>
        </p:txBody>
      </p:sp>
    </p:spTree>
    <p:extLst>
      <p:ext uri="{BB962C8B-B14F-4D97-AF65-F5344CB8AC3E}">
        <p14:creationId xmlns:p14="http://schemas.microsoft.com/office/powerpoint/2010/main" val="3597310060"/>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5E099E-8AFD-F877-C753-6F04430217E7}"/>
            </a:ext>
          </a:extLst>
        </p:cNvPr>
        <p:cNvGrpSpPr/>
        <p:nvPr/>
      </p:nvGrpSpPr>
      <p:grpSpPr>
        <a:xfrm>
          <a:off x="0" y="0"/>
          <a:ext cx="0" cy="0"/>
          <a:chOff x="0" y="0"/>
          <a:chExt cx="0" cy="0"/>
        </a:xfrm>
      </p:grpSpPr>
      <p:pic>
        <p:nvPicPr>
          <p:cNvPr id="8" name="Imagen 7">
            <a:extLst>
              <a:ext uri="{FF2B5EF4-FFF2-40B4-BE49-F238E27FC236}">
                <a16:creationId xmlns:a16="http://schemas.microsoft.com/office/drawing/2014/main" id="{6135681A-2A3B-B39A-FC5A-655574500290}"/>
              </a:ext>
            </a:extLst>
          </p:cNvPr>
          <p:cNvPicPr>
            <a:picLocks noChangeAspect="1"/>
          </p:cNvPicPr>
          <p:nvPr/>
        </p:nvPicPr>
        <p:blipFill>
          <a:blip r:embed="rId2"/>
          <a:stretch>
            <a:fillRect/>
          </a:stretch>
        </p:blipFill>
        <p:spPr>
          <a:xfrm>
            <a:off x="1188459" y="671914"/>
            <a:ext cx="9180837" cy="4878475"/>
          </a:xfrm>
          <a:prstGeom prst="rect">
            <a:avLst/>
          </a:prstGeom>
        </p:spPr>
      </p:pic>
      <p:sp>
        <p:nvSpPr>
          <p:cNvPr id="2" name="Título 3">
            <a:extLst>
              <a:ext uri="{FF2B5EF4-FFF2-40B4-BE49-F238E27FC236}">
                <a16:creationId xmlns:a16="http://schemas.microsoft.com/office/drawing/2014/main" id="{32406C13-1D5A-CF6D-6534-28435258D865}"/>
              </a:ext>
            </a:extLst>
          </p:cNvPr>
          <p:cNvSpPr txBox="1">
            <a:spLocks/>
          </p:cNvSpPr>
          <p:nvPr/>
        </p:nvSpPr>
        <p:spPr>
          <a:xfrm>
            <a:off x="1014723" y="124133"/>
            <a:ext cx="9354573" cy="465466"/>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Configuraciones: </a:t>
            </a:r>
            <a:r>
              <a:rPr lang="es-ES_tradnl" sz="3200" dirty="0"/>
              <a:t>TGACTRL </a:t>
            </a:r>
            <a:r>
              <a:rPr lang="es-CL" sz="3200" dirty="0"/>
              <a:t>Control de cobro de CXC</a:t>
            </a:r>
            <a:br>
              <a:rPr lang="es-CL" dirty="0"/>
            </a:br>
            <a:endParaRPr lang="es-CL" dirty="0"/>
          </a:p>
        </p:txBody>
      </p:sp>
      <p:sp>
        <p:nvSpPr>
          <p:cNvPr id="5" name="Rectángulo: esquinas redondeadas 4">
            <a:extLst>
              <a:ext uri="{FF2B5EF4-FFF2-40B4-BE49-F238E27FC236}">
                <a16:creationId xmlns:a16="http://schemas.microsoft.com/office/drawing/2014/main" id="{22052116-0BB6-228A-2CBE-AB1785550CBA}"/>
              </a:ext>
            </a:extLst>
          </p:cNvPr>
          <p:cNvSpPr/>
          <p:nvPr/>
        </p:nvSpPr>
        <p:spPr>
          <a:xfrm>
            <a:off x="1145280" y="5632704"/>
            <a:ext cx="9354573" cy="78699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 sz="1200" dirty="0"/>
              <a:t>Parámetros generales de configuración de cuenta corriente – </a:t>
            </a:r>
            <a:r>
              <a:rPr lang="es-ES" sz="1200" b="1" dirty="0"/>
              <a:t>MULTIDIVISA.</a:t>
            </a:r>
          </a:p>
          <a:p>
            <a:endParaRPr lang="es-ES" sz="600" b="1" dirty="0"/>
          </a:p>
          <a:p>
            <a:r>
              <a:rPr lang="es-ES" sz="1200" b="1" dirty="0"/>
              <a:t>Nota: </a:t>
            </a:r>
            <a:r>
              <a:rPr lang="es-ES" sz="1200" dirty="0"/>
              <a:t>La configuración de esta página administrativa se detalla en el instructivo </a:t>
            </a:r>
            <a:r>
              <a:rPr lang="es-ES" sz="1200" b="1" dirty="0"/>
              <a:t>11.1.1 Instructivo CxC - </a:t>
            </a:r>
            <a:r>
              <a:rPr lang="es-CO" sz="1200" b="1" dirty="0"/>
              <a:t>Gestionar los conceptos de configuración de la cuenta corriente</a:t>
            </a:r>
            <a:r>
              <a:rPr lang="es-ES" sz="1200" b="1" dirty="0"/>
              <a:t> .</a:t>
            </a:r>
            <a:endParaRPr lang="es-CL" sz="1200" dirty="0"/>
          </a:p>
        </p:txBody>
      </p:sp>
    </p:spTree>
    <p:extLst>
      <p:ext uri="{BB962C8B-B14F-4D97-AF65-F5344CB8AC3E}">
        <p14:creationId xmlns:p14="http://schemas.microsoft.com/office/powerpoint/2010/main" val="428879513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4CD6D7-D79F-A7D1-B18A-87C4118397DE}"/>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1A3B7C80-756D-D4E3-91B6-1F8FAB765F16}"/>
              </a:ext>
            </a:extLst>
          </p:cNvPr>
          <p:cNvSpPr txBox="1">
            <a:spLocks/>
          </p:cNvSpPr>
          <p:nvPr/>
        </p:nvSpPr>
        <p:spPr>
          <a:xfrm>
            <a:off x="1304400" y="156095"/>
            <a:ext cx="9583200" cy="923776"/>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Configuraciones: </a:t>
            </a:r>
            <a:r>
              <a:rPr lang="es-ES_tradnl" sz="3200" dirty="0"/>
              <a:t>TSACTRL Control de Cobro a Alumnos </a:t>
            </a:r>
            <a:r>
              <a:rPr lang="es-ES_tradnl" sz="3200" b="0" dirty="0"/>
              <a:t>1/3</a:t>
            </a:r>
            <a:br>
              <a:rPr lang="es-CL" dirty="0"/>
            </a:br>
            <a:endParaRPr lang="es-CL" dirty="0"/>
          </a:p>
        </p:txBody>
      </p:sp>
      <p:sp>
        <p:nvSpPr>
          <p:cNvPr id="3" name="Rectángulo: esquinas redondeadas 2">
            <a:extLst>
              <a:ext uri="{FF2B5EF4-FFF2-40B4-BE49-F238E27FC236}">
                <a16:creationId xmlns:a16="http://schemas.microsoft.com/office/drawing/2014/main" id="{6116764B-72DC-1D2E-874F-47B7B0950EEA}"/>
              </a:ext>
            </a:extLst>
          </p:cNvPr>
          <p:cNvSpPr/>
          <p:nvPr/>
        </p:nvSpPr>
        <p:spPr>
          <a:xfrm>
            <a:off x="1304400" y="5821716"/>
            <a:ext cx="3705513" cy="447006"/>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 sz="1200" dirty="0"/>
              <a:t>Parámetros generales de configuración. </a:t>
            </a:r>
            <a:endParaRPr lang="es-CL" sz="1200" dirty="0"/>
          </a:p>
        </p:txBody>
      </p:sp>
      <p:sp>
        <p:nvSpPr>
          <p:cNvPr id="4" name="Rectángulo: esquinas redondeadas 5">
            <a:extLst>
              <a:ext uri="{FF2B5EF4-FFF2-40B4-BE49-F238E27FC236}">
                <a16:creationId xmlns:a16="http://schemas.microsoft.com/office/drawing/2014/main" id="{6DE6938A-2CB5-1234-5284-94E516F90D94}"/>
              </a:ext>
            </a:extLst>
          </p:cNvPr>
          <p:cNvSpPr/>
          <p:nvPr/>
        </p:nvSpPr>
        <p:spPr>
          <a:xfrm>
            <a:off x="1304400" y="5145061"/>
            <a:ext cx="9583200" cy="447006"/>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dirty="0"/>
              <a:t>Al finalizar de diligenciar los campos, se presiona el botón para pasar a la siguiente sección o presionar la combinación de teclas </a:t>
            </a:r>
            <a:r>
              <a:rPr lang="es-ES_tradnl" sz="1200" b="1" dirty="0"/>
              <a:t>Alt</a:t>
            </a:r>
            <a:r>
              <a:rPr lang="es-ES_tradnl" sz="1200" dirty="0"/>
              <a:t> + </a:t>
            </a:r>
            <a:r>
              <a:rPr lang="es-ES_tradnl" sz="1200" b="1" dirty="0" err="1"/>
              <a:t>Av</a:t>
            </a:r>
            <a:r>
              <a:rPr lang="es-ES_tradnl" sz="1200" b="1" dirty="0"/>
              <a:t> </a:t>
            </a:r>
            <a:r>
              <a:rPr lang="es-ES_tradnl" sz="1200" b="1" dirty="0" err="1"/>
              <a:t>Pag</a:t>
            </a:r>
            <a:r>
              <a:rPr lang="es-ES_tradnl" sz="1200" dirty="0" err="1"/>
              <a:t>.</a:t>
            </a:r>
            <a:endParaRPr lang="es-ES_tradnl" sz="1200" dirty="0"/>
          </a:p>
        </p:txBody>
      </p:sp>
      <p:pic>
        <p:nvPicPr>
          <p:cNvPr id="6" name="Imagen 5">
            <a:extLst>
              <a:ext uri="{FF2B5EF4-FFF2-40B4-BE49-F238E27FC236}">
                <a16:creationId xmlns:a16="http://schemas.microsoft.com/office/drawing/2014/main" id="{0B7CBC92-31F9-F537-969C-BF7E52314EF3}"/>
              </a:ext>
            </a:extLst>
          </p:cNvPr>
          <p:cNvPicPr>
            <a:picLocks noChangeAspect="1"/>
          </p:cNvPicPr>
          <p:nvPr/>
        </p:nvPicPr>
        <p:blipFill>
          <a:blip r:embed="rId2"/>
          <a:srcRect l="786" b="557"/>
          <a:stretch>
            <a:fillRect/>
          </a:stretch>
        </p:blipFill>
        <p:spPr>
          <a:xfrm>
            <a:off x="1304400" y="1206619"/>
            <a:ext cx="9583200" cy="3485290"/>
          </a:xfrm>
          <a:prstGeom prst="rect">
            <a:avLst/>
          </a:prstGeom>
        </p:spPr>
      </p:pic>
    </p:spTree>
    <p:extLst>
      <p:ext uri="{BB962C8B-B14F-4D97-AF65-F5344CB8AC3E}">
        <p14:creationId xmlns:p14="http://schemas.microsoft.com/office/powerpoint/2010/main" val="211517171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C7BE8B-8A32-3D39-B24C-83423ECEB6B0}"/>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11CCD1AF-2715-C937-FD26-868423D2534F}"/>
              </a:ext>
            </a:extLst>
          </p:cNvPr>
          <p:cNvSpPr txBox="1">
            <a:spLocks/>
          </p:cNvSpPr>
          <p:nvPr/>
        </p:nvSpPr>
        <p:spPr>
          <a:xfrm>
            <a:off x="1304396" y="220334"/>
            <a:ext cx="9336285" cy="876946"/>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Configuraciones: </a:t>
            </a:r>
            <a:r>
              <a:rPr lang="es-ES_tradnl" sz="3200" dirty="0"/>
              <a:t>TSACTRL Control de Cobro a </a:t>
            </a:r>
          </a:p>
          <a:p>
            <a:r>
              <a:rPr lang="es-ES_tradnl" sz="3200" dirty="0"/>
              <a:t>Alumnos </a:t>
            </a:r>
            <a:r>
              <a:rPr lang="es-ES_tradnl" sz="3200" b="0" dirty="0"/>
              <a:t>2/3</a:t>
            </a:r>
            <a:br>
              <a:rPr lang="es-CL" dirty="0"/>
            </a:br>
            <a:endParaRPr lang="es-CL" dirty="0"/>
          </a:p>
        </p:txBody>
      </p:sp>
      <p:sp>
        <p:nvSpPr>
          <p:cNvPr id="3" name="Rectángulo: esquinas redondeadas 2">
            <a:extLst>
              <a:ext uri="{FF2B5EF4-FFF2-40B4-BE49-F238E27FC236}">
                <a16:creationId xmlns:a16="http://schemas.microsoft.com/office/drawing/2014/main" id="{5DE176E6-FF81-201C-3DA5-DE1300A51D30}"/>
              </a:ext>
            </a:extLst>
          </p:cNvPr>
          <p:cNvSpPr/>
          <p:nvPr/>
        </p:nvSpPr>
        <p:spPr>
          <a:xfrm>
            <a:off x="1304397" y="4679681"/>
            <a:ext cx="9583200" cy="1446799"/>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 sz="1200" dirty="0"/>
              <a:t>Para pasar a la sección Parámetros generales de configuración de reglas de procesamiento de contratos, exenciones y contabilidad por programa, utilice la combinación de teclas </a:t>
            </a:r>
            <a:r>
              <a:rPr lang="es-ES" sz="1200" b="1" dirty="0"/>
              <a:t>Alt + </a:t>
            </a:r>
            <a:r>
              <a:rPr lang="es-ES" sz="1200" b="1" dirty="0" err="1"/>
              <a:t>Av</a:t>
            </a:r>
            <a:r>
              <a:rPr lang="es-ES" sz="1200" b="1" dirty="0"/>
              <a:t> Pág</a:t>
            </a:r>
            <a:r>
              <a:rPr lang="es-ES" sz="1200" dirty="0"/>
              <a:t>.</a:t>
            </a:r>
          </a:p>
          <a:p>
            <a:endParaRPr lang="es-ES" sz="1200" dirty="0"/>
          </a:p>
          <a:p>
            <a:r>
              <a:rPr lang="es-ES" sz="1200" b="1" dirty="0"/>
              <a:t>Pasar contratos y Pasar exenciones:</a:t>
            </a:r>
            <a:r>
              <a:rPr lang="es-ES" sz="1200" dirty="0"/>
              <a:t> Active este campo si la institución requiere pasar contratos y/o exenciones de un periodo a otro de forma masiva.</a:t>
            </a:r>
          </a:p>
          <a:p>
            <a:r>
              <a:rPr lang="es-ES" sz="1200" b="1" dirty="0"/>
              <a:t>Pasar alumnos:</a:t>
            </a:r>
            <a:r>
              <a:rPr lang="es-ES" sz="1200" dirty="0"/>
              <a:t> Active este campo si la institución requiere pasar alumnos de contratos y exenciones de un periodo a otro de forma masiva.</a:t>
            </a:r>
            <a:endParaRPr lang="es-CL" sz="1200" dirty="0"/>
          </a:p>
        </p:txBody>
      </p:sp>
      <p:pic>
        <p:nvPicPr>
          <p:cNvPr id="8" name="Imagen 7">
            <a:extLst>
              <a:ext uri="{FF2B5EF4-FFF2-40B4-BE49-F238E27FC236}">
                <a16:creationId xmlns:a16="http://schemas.microsoft.com/office/drawing/2014/main" id="{39426D29-4920-102E-331B-0833F25BC653}"/>
              </a:ext>
            </a:extLst>
          </p:cNvPr>
          <p:cNvPicPr>
            <a:picLocks noChangeAspect="1"/>
          </p:cNvPicPr>
          <p:nvPr/>
        </p:nvPicPr>
        <p:blipFill>
          <a:blip r:embed="rId2"/>
          <a:stretch>
            <a:fillRect/>
          </a:stretch>
        </p:blipFill>
        <p:spPr>
          <a:xfrm>
            <a:off x="1304397" y="1311498"/>
            <a:ext cx="9583200" cy="3153964"/>
          </a:xfrm>
          <a:prstGeom prst="rect">
            <a:avLst/>
          </a:prstGeom>
        </p:spPr>
      </p:pic>
    </p:spTree>
    <p:extLst>
      <p:ext uri="{BB962C8B-B14F-4D97-AF65-F5344CB8AC3E}">
        <p14:creationId xmlns:p14="http://schemas.microsoft.com/office/powerpoint/2010/main" val="210454164"/>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D5C27B-74AD-5669-BA13-DAB726371DA6}"/>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308554AC-DA9A-A6AC-CF80-5B41F82E4B4C}"/>
              </a:ext>
            </a:extLst>
          </p:cNvPr>
          <p:cNvSpPr txBox="1">
            <a:spLocks/>
          </p:cNvSpPr>
          <p:nvPr/>
        </p:nvSpPr>
        <p:spPr>
          <a:xfrm>
            <a:off x="1304400" y="151189"/>
            <a:ext cx="9028369" cy="89660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Configuraciones: </a:t>
            </a:r>
            <a:r>
              <a:rPr lang="es-ES_tradnl" sz="3200" dirty="0"/>
              <a:t>TSACTRL Control de Cobro a </a:t>
            </a:r>
          </a:p>
          <a:p>
            <a:r>
              <a:rPr lang="es-ES_tradnl" sz="3200" dirty="0"/>
              <a:t>Alumnos </a:t>
            </a:r>
            <a:r>
              <a:rPr lang="es-ES_tradnl" sz="3200" b="0" dirty="0"/>
              <a:t>3/3</a:t>
            </a:r>
            <a:br>
              <a:rPr lang="es-CL" dirty="0"/>
            </a:br>
            <a:endParaRPr lang="es-CL" dirty="0"/>
          </a:p>
        </p:txBody>
      </p:sp>
      <p:sp>
        <p:nvSpPr>
          <p:cNvPr id="3" name="Rectángulo: esquinas redondeadas 2">
            <a:extLst>
              <a:ext uri="{FF2B5EF4-FFF2-40B4-BE49-F238E27FC236}">
                <a16:creationId xmlns:a16="http://schemas.microsoft.com/office/drawing/2014/main" id="{B528367B-974B-8F55-C3A2-F7DAEE8187FE}"/>
              </a:ext>
            </a:extLst>
          </p:cNvPr>
          <p:cNvSpPr/>
          <p:nvPr/>
        </p:nvSpPr>
        <p:spPr>
          <a:xfrm>
            <a:off x="1319708" y="4498848"/>
            <a:ext cx="9583200" cy="1956816"/>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 sz="1200" b="1" dirty="0"/>
              <a:t>Orden de procesamiento de crédito </a:t>
            </a:r>
            <a:r>
              <a:rPr lang="es-ES" sz="1200" dirty="0"/>
              <a:t>las opciones son:</a:t>
            </a:r>
          </a:p>
          <a:p>
            <a:r>
              <a:rPr lang="es-ES" sz="1200" i="1" dirty="0"/>
              <a:t>Contratos primero: </a:t>
            </a:r>
            <a:r>
              <a:rPr lang="es-ES" sz="1200" dirty="0"/>
              <a:t>active este campo si la institución requiere que los contratos se procesen antes que las exenciones.</a:t>
            </a:r>
          </a:p>
          <a:p>
            <a:r>
              <a:rPr lang="es-ES" sz="1200" i="1" dirty="0"/>
              <a:t>Exenciones primero</a:t>
            </a:r>
            <a:r>
              <a:rPr lang="es-ES" sz="1200" dirty="0"/>
              <a:t>: active este campo si la institución requiere que las exenciones se procesen antes que los contratos.</a:t>
            </a:r>
          </a:p>
          <a:p>
            <a:r>
              <a:rPr lang="es-ES" sz="1200" dirty="0"/>
              <a:t>Esto implica que, si un estudiante tiene asignado un contrato y una exención para un mismo periodo, primero se procesará la exención y luego el contrato se calculará bajo el monto restante.</a:t>
            </a:r>
          </a:p>
          <a:p>
            <a:r>
              <a:rPr lang="es-ES" sz="1200" b="1" dirty="0"/>
              <a:t>Autorización de alumno requerida para contratos: </a:t>
            </a:r>
            <a:r>
              <a:rPr lang="es-ES" sz="1200" dirty="0"/>
              <a:t>active este campo si la institución requiere que los alumnos sean autorizados por defecto en la página TSACONT, campo Autorizar.</a:t>
            </a:r>
          </a:p>
          <a:p>
            <a:r>
              <a:rPr lang="es-ES" sz="1200" b="1" dirty="0"/>
              <a:t>Permitir captura preautorizada de número de autorización: </a:t>
            </a:r>
            <a:r>
              <a:rPr lang="es-ES" sz="1200" dirty="0"/>
              <a:t>le permite ingresar un número de autorización de transacción antes de que un alumno esté autorizado.</a:t>
            </a:r>
            <a:endParaRPr lang="es-CL" sz="1200" dirty="0"/>
          </a:p>
        </p:txBody>
      </p:sp>
      <p:pic>
        <p:nvPicPr>
          <p:cNvPr id="5" name="Imagen 4">
            <a:extLst>
              <a:ext uri="{FF2B5EF4-FFF2-40B4-BE49-F238E27FC236}">
                <a16:creationId xmlns:a16="http://schemas.microsoft.com/office/drawing/2014/main" id="{B4B2AFA7-9480-901C-AF0F-3C2E53BA2881}"/>
              </a:ext>
            </a:extLst>
          </p:cNvPr>
          <p:cNvPicPr>
            <a:picLocks noChangeAspect="1"/>
          </p:cNvPicPr>
          <p:nvPr/>
        </p:nvPicPr>
        <p:blipFill>
          <a:blip r:embed="rId2"/>
          <a:stretch>
            <a:fillRect/>
          </a:stretch>
        </p:blipFill>
        <p:spPr>
          <a:xfrm>
            <a:off x="1304400" y="1177404"/>
            <a:ext cx="9583200" cy="3062217"/>
          </a:xfrm>
          <a:prstGeom prst="rect">
            <a:avLst/>
          </a:prstGeom>
        </p:spPr>
      </p:pic>
    </p:spTree>
    <p:extLst>
      <p:ext uri="{BB962C8B-B14F-4D97-AF65-F5344CB8AC3E}">
        <p14:creationId xmlns:p14="http://schemas.microsoft.com/office/powerpoint/2010/main" val="4262910202"/>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DB57CE-9636-4E39-D138-883B50E87600}"/>
            </a:ext>
          </a:extLst>
        </p:cNvPr>
        <p:cNvGrpSpPr/>
        <p:nvPr/>
      </p:nvGrpSpPr>
      <p:grpSpPr>
        <a:xfrm>
          <a:off x="0" y="0"/>
          <a:ext cx="0" cy="0"/>
          <a:chOff x="0" y="0"/>
          <a:chExt cx="0" cy="0"/>
        </a:xfrm>
      </p:grpSpPr>
      <p:pic>
        <p:nvPicPr>
          <p:cNvPr id="6" name="Imagen 5">
            <a:extLst>
              <a:ext uri="{FF2B5EF4-FFF2-40B4-BE49-F238E27FC236}">
                <a16:creationId xmlns:a16="http://schemas.microsoft.com/office/drawing/2014/main" id="{40881E12-98CB-B5A3-4989-480454628C01}"/>
              </a:ext>
            </a:extLst>
          </p:cNvPr>
          <p:cNvPicPr>
            <a:picLocks noChangeAspect="1"/>
          </p:cNvPicPr>
          <p:nvPr/>
        </p:nvPicPr>
        <p:blipFill>
          <a:blip r:embed="rId2"/>
          <a:stretch>
            <a:fillRect/>
          </a:stretch>
        </p:blipFill>
        <p:spPr>
          <a:xfrm>
            <a:off x="1304400" y="1842755"/>
            <a:ext cx="9583200" cy="1472217"/>
          </a:xfrm>
          <a:prstGeom prst="rect">
            <a:avLst/>
          </a:prstGeom>
        </p:spPr>
      </p:pic>
      <p:sp>
        <p:nvSpPr>
          <p:cNvPr id="2" name="Título 3">
            <a:extLst>
              <a:ext uri="{FF2B5EF4-FFF2-40B4-BE49-F238E27FC236}">
                <a16:creationId xmlns:a16="http://schemas.microsoft.com/office/drawing/2014/main" id="{4AFBE723-7C4A-BAAB-6525-833173B61912}"/>
              </a:ext>
            </a:extLst>
          </p:cNvPr>
          <p:cNvSpPr txBox="1">
            <a:spLocks/>
          </p:cNvSpPr>
          <p:nvPr/>
        </p:nvSpPr>
        <p:spPr>
          <a:xfrm>
            <a:off x="1207052" y="614564"/>
            <a:ext cx="9107685" cy="61691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algn="just"/>
            <a:r>
              <a:rPr lang="es-ES_tradnl" sz="3200" dirty="0">
                <a:solidFill>
                  <a:schemeClr val="accent1"/>
                </a:solidFill>
              </a:rPr>
              <a:t>Configuraciones: </a:t>
            </a:r>
            <a:r>
              <a:rPr lang="es-ES_tradnl" sz="3200" dirty="0"/>
              <a:t>SOATERM Control de Periodo</a:t>
            </a:r>
            <a:endParaRPr lang="es-CL" dirty="0"/>
          </a:p>
        </p:txBody>
      </p:sp>
      <p:sp>
        <p:nvSpPr>
          <p:cNvPr id="3" name="Rectangle: Rounded Corners 15">
            <a:extLst>
              <a:ext uri="{FF2B5EF4-FFF2-40B4-BE49-F238E27FC236}">
                <a16:creationId xmlns:a16="http://schemas.microsoft.com/office/drawing/2014/main" id="{FBA5B697-B20A-2965-B79D-2BA22A74805F}"/>
              </a:ext>
            </a:extLst>
          </p:cNvPr>
          <p:cNvSpPr/>
          <p:nvPr/>
        </p:nvSpPr>
        <p:spPr>
          <a:xfrm>
            <a:off x="1304401" y="3666936"/>
            <a:ext cx="4328304" cy="399789"/>
          </a:xfrm>
          <a:prstGeom prst="roundRect">
            <a:avLst/>
          </a:prstGeom>
          <a:ln>
            <a:solidFill>
              <a:schemeClr val="accent1"/>
            </a:solidFill>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p>
            <a:pPr defTabSz="457200">
              <a:defRPr/>
            </a:pPr>
            <a:r>
              <a:rPr lang="es-ES" sz="1200" b="1" dirty="0">
                <a:solidFill>
                  <a:schemeClr val="bg1"/>
                </a:solidFill>
                <a:cs typeface="Arial"/>
              </a:rPr>
              <a:t>1. </a:t>
            </a:r>
            <a:r>
              <a:rPr lang="es-ES" sz="1200" dirty="0">
                <a:solidFill>
                  <a:schemeClr val="bg1"/>
                </a:solidFill>
                <a:cs typeface="Arial"/>
              </a:rPr>
              <a:t>Diligenciar el campo Periodo</a:t>
            </a:r>
            <a:endParaRPr lang="en-US" sz="1200" dirty="0">
              <a:solidFill>
                <a:schemeClr val="bg1"/>
              </a:solidFill>
            </a:endParaRPr>
          </a:p>
        </p:txBody>
      </p:sp>
      <p:sp>
        <p:nvSpPr>
          <p:cNvPr id="4" name="Rectangle: Rounded Corners 17">
            <a:extLst>
              <a:ext uri="{FF2B5EF4-FFF2-40B4-BE49-F238E27FC236}">
                <a16:creationId xmlns:a16="http://schemas.microsoft.com/office/drawing/2014/main" id="{DBCBEDF8-7219-11F3-333C-3D77E3D8BB69}"/>
              </a:ext>
            </a:extLst>
          </p:cNvPr>
          <p:cNvSpPr/>
          <p:nvPr/>
        </p:nvSpPr>
        <p:spPr>
          <a:xfrm>
            <a:off x="1304399" y="4427833"/>
            <a:ext cx="4328304" cy="399789"/>
          </a:xfrm>
          <a:prstGeom prst="roundRect">
            <a:avLst/>
          </a:prstGeom>
          <a:ln>
            <a:solidFill>
              <a:schemeClr val="accent1"/>
            </a:solidFill>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p>
            <a:pPr defTabSz="457200">
              <a:defRPr/>
            </a:pPr>
            <a:r>
              <a:rPr lang="es-ES" sz="1200" b="1" dirty="0">
                <a:solidFill>
                  <a:schemeClr val="bg1"/>
                </a:solidFill>
                <a:cs typeface="Arial"/>
              </a:rPr>
              <a:t> </a:t>
            </a:r>
            <a:r>
              <a:rPr lang="es-ES" sz="1200" dirty="0">
                <a:solidFill>
                  <a:schemeClr val="bg1"/>
                </a:solidFill>
                <a:cs typeface="Arial"/>
              </a:rPr>
              <a:t>Presionar el botón </a:t>
            </a:r>
            <a:r>
              <a:rPr lang="es-ES" sz="1200" b="1" dirty="0">
                <a:solidFill>
                  <a:schemeClr val="bg1"/>
                </a:solidFill>
                <a:cs typeface="Arial"/>
              </a:rPr>
              <a:t>Ir</a:t>
            </a:r>
            <a:r>
              <a:rPr lang="es-ES" sz="1200" dirty="0">
                <a:solidFill>
                  <a:schemeClr val="bg1"/>
                </a:solidFill>
                <a:cs typeface="Arial"/>
              </a:rPr>
              <a:t> para pasar a la siguiente sección.</a:t>
            </a:r>
            <a:endParaRPr lang="en-US" sz="1200" dirty="0">
              <a:solidFill>
                <a:schemeClr val="bg1"/>
              </a:solidFill>
            </a:endParaRPr>
          </a:p>
        </p:txBody>
      </p:sp>
    </p:spTree>
    <p:extLst>
      <p:ext uri="{BB962C8B-B14F-4D97-AF65-F5344CB8AC3E}">
        <p14:creationId xmlns:p14="http://schemas.microsoft.com/office/powerpoint/2010/main" val="923065995"/>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56593B-4653-11E5-F507-2927092770A4}"/>
            </a:ext>
          </a:extLst>
        </p:cNvPr>
        <p:cNvGrpSpPr/>
        <p:nvPr/>
      </p:nvGrpSpPr>
      <p:grpSpPr>
        <a:xfrm>
          <a:off x="0" y="0"/>
          <a:ext cx="0" cy="0"/>
          <a:chOff x="0" y="0"/>
          <a:chExt cx="0" cy="0"/>
        </a:xfrm>
      </p:grpSpPr>
      <p:pic>
        <p:nvPicPr>
          <p:cNvPr id="11" name="Imagen 10">
            <a:extLst>
              <a:ext uri="{FF2B5EF4-FFF2-40B4-BE49-F238E27FC236}">
                <a16:creationId xmlns:a16="http://schemas.microsoft.com/office/drawing/2014/main" id="{F9D06226-3B6E-E592-AA6F-515BC39C4E7A}"/>
              </a:ext>
            </a:extLst>
          </p:cNvPr>
          <p:cNvPicPr>
            <a:picLocks noChangeAspect="1"/>
          </p:cNvPicPr>
          <p:nvPr/>
        </p:nvPicPr>
        <p:blipFill>
          <a:blip r:embed="rId2"/>
          <a:stretch>
            <a:fillRect/>
          </a:stretch>
        </p:blipFill>
        <p:spPr>
          <a:xfrm>
            <a:off x="1271016" y="766573"/>
            <a:ext cx="9583200" cy="4361905"/>
          </a:xfrm>
          <a:prstGeom prst="rect">
            <a:avLst/>
          </a:prstGeom>
        </p:spPr>
      </p:pic>
      <p:sp>
        <p:nvSpPr>
          <p:cNvPr id="2" name="Título 3">
            <a:extLst>
              <a:ext uri="{FF2B5EF4-FFF2-40B4-BE49-F238E27FC236}">
                <a16:creationId xmlns:a16="http://schemas.microsoft.com/office/drawing/2014/main" id="{D6F68A4D-75BB-228F-FC71-107061714EA5}"/>
              </a:ext>
            </a:extLst>
          </p:cNvPr>
          <p:cNvSpPr txBox="1">
            <a:spLocks/>
          </p:cNvSpPr>
          <p:nvPr/>
        </p:nvSpPr>
        <p:spPr>
          <a:xfrm>
            <a:off x="1199591" y="181501"/>
            <a:ext cx="8504181" cy="61691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Configuraciones: </a:t>
            </a:r>
            <a:r>
              <a:rPr lang="es-ES_tradnl" sz="3200" dirty="0"/>
              <a:t>SOATERM Control de Periodo</a:t>
            </a:r>
            <a:br>
              <a:rPr lang="es-CL" dirty="0"/>
            </a:br>
            <a:endParaRPr lang="es-CL" dirty="0"/>
          </a:p>
        </p:txBody>
      </p:sp>
      <p:sp>
        <p:nvSpPr>
          <p:cNvPr id="3" name="Rectángulo: esquinas redondeadas 2">
            <a:extLst>
              <a:ext uri="{FF2B5EF4-FFF2-40B4-BE49-F238E27FC236}">
                <a16:creationId xmlns:a16="http://schemas.microsoft.com/office/drawing/2014/main" id="{0C7A8B6B-AED6-6F17-1A4B-F4F3576B2951}"/>
              </a:ext>
            </a:extLst>
          </p:cNvPr>
          <p:cNvSpPr/>
          <p:nvPr/>
        </p:nvSpPr>
        <p:spPr>
          <a:xfrm>
            <a:off x="1199591" y="5285232"/>
            <a:ext cx="9654625" cy="1082809"/>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 sz="1200" dirty="0"/>
              <a:t>Esta página corresponde a una configuración especialmente académica, pero para el área de CxC es relevante que los chek de los campos “Estimación en Línea” estén activos y la “fecha de corte de cargo original” posea una fecha anterior al día en que se realice el cargo.</a:t>
            </a:r>
          </a:p>
          <a:p>
            <a:r>
              <a:rPr lang="es-ES" sz="1200" b="1" dirty="0"/>
              <a:t>Nota: </a:t>
            </a:r>
            <a:r>
              <a:rPr lang="es-ES" sz="1200" dirty="0"/>
              <a:t>La configuración de esta página administrativa se detalla en el instructivo </a:t>
            </a:r>
            <a:r>
              <a:rPr lang="es-ES" sz="1200" b="1" dirty="0">
                <a:solidFill>
                  <a:schemeClr val="accent6">
                    <a:lumMod val="40000"/>
                    <a:lumOff val="60000"/>
                  </a:schemeClr>
                </a:solidFill>
              </a:rPr>
              <a:t>EBP 01 - 4.1.6.2 Programar el inicio y finalización de </a:t>
            </a:r>
            <a:r>
              <a:rPr lang="es-ES" sz="1200" b="1" dirty="0" err="1">
                <a:solidFill>
                  <a:schemeClr val="accent6">
                    <a:lumMod val="40000"/>
                    <a:lumOff val="60000"/>
                  </a:schemeClr>
                </a:solidFill>
              </a:rPr>
              <a:t>Per.Acad.Regulares</a:t>
            </a:r>
            <a:r>
              <a:rPr lang="es-ES" sz="1200" b="1" dirty="0">
                <a:solidFill>
                  <a:schemeClr val="accent6">
                    <a:lumMod val="40000"/>
                    <a:lumOff val="60000"/>
                  </a:schemeClr>
                </a:solidFill>
              </a:rPr>
              <a:t>.</a:t>
            </a:r>
          </a:p>
        </p:txBody>
      </p:sp>
    </p:spTree>
    <p:extLst>
      <p:ext uri="{BB962C8B-B14F-4D97-AF65-F5344CB8AC3E}">
        <p14:creationId xmlns:p14="http://schemas.microsoft.com/office/powerpoint/2010/main" val="3041019800"/>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7C1054-5537-25E3-5E8A-64CDAEF20874}"/>
            </a:ext>
          </a:extLst>
        </p:cNvPr>
        <p:cNvGrpSpPr/>
        <p:nvPr/>
      </p:nvGrpSpPr>
      <p:grpSpPr>
        <a:xfrm>
          <a:off x="0" y="0"/>
          <a:ext cx="0" cy="0"/>
          <a:chOff x="0" y="0"/>
          <a:chExt cx="0" cy="0"/>
        </a:xfrm>
      </p:grpSpPr>
      <p:pic>
        <p:nvPicPr>
          <p:cNvPr id="8" name="Imagen 7">
            <a:extLst>
              <a:ext uri="{FF2B5EF4-FFF2-40B4-BE49-F238E27FC236}">
                <a16:creationId xmlns:a16="http://schemas.microsoft.com/office/drawing/2014/main" id="{C9BF6496-DA43-94D5-29A5-E4145B888ADB}"/>
              </a:ext>
            </a:extLst>
          </p:cNvPr>
          <p:cNvPicPr>
            <a:picLocks noChangeAspect="1"/>
          </p:cNvPicPr>
          <p:nvPr/>
        </p:nvPicPr>
        <p:blipFill>
          <a:blip r:embed="rId2"/>
          <a:stretch>
            <a:fillRect/>
          </a:stretch>
        </p:blipFill>
        <p:spPr>
          <a:xfrm>
            <a:off x="1304399" y="1079442"/>
            <a:ext cx="9583200" cy="2431640"/>
          </a:xfrm>
          <a:prstGeom prst="rect">
            <a:avLst/>
          </a:prstGeom>
        </p:spPr>
      </p:pic>
      <p:sp>
        <p:nvSpPr>
          <p:cNvPr id="2" name="Título 3">
            <a:extLst>
              <a:ext uri="{FF2B5EF4-FFF2-40B4-BE49-F238E27FC236}">
                <a16:creationId xmlns:a16="http://schemas.microsoft.com/office/drawing/2014/main" id="{58A31776-C952-C93E-5B14-1375239DE86A}"/>
              </a:ext>
            </a:extLst>
          </p:cNvPr>
          <p:cNvSpPr txBox="1">
            <a:spLocks/>
          </p:cNvSpPr>
          <p:nvPr/>
        </p:nvSpPr>
        <p:spPr>
          <a:xfrm>
            <a:off x="1194684" y="395144"/>
            <a:ext cx="9802629" cy="61691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algn="just"/>
            <a:r>
              <a:rPr lang="es-ES_tradnl" sz="3200" dirty="0">
                <a:solidFill>
                  <a:schemeClr val="accent1"/>
                </a:solidFill>
              </a:rPr>
              <a:t>Configuraciones: </a:t>
            </a:r>
            <a:r>
              <a:rPr lang="es-ES_tradnl" sz="3200" dirty="0"/>
              <a:t>TSATERM Periodo de control de CXC</a:t>
            </a:r>
            <a:endParaRPr lang="es-CL" dirty="0"/>
          </a:p>
        </p:txBody>
      </p:sp>
      <p:sp>
        <p:nvSpPr>
          <p:cNvPr id="3" name="Rectángulo: esquinas redondeadas 2">
            <a:extLst>
              <a:ext uri="{FF2B5EF4-FFF2-40B4-BE49-F238E27FC236}">
                <a16:creationId xmlns:a16="http://schemas.microsoft.com/office/drawing/2014/main" id="{66C2F5DE-6AB6-62F2-BE79-FE60A0F446B5}"/>
              </a:ext>
            </a:extLst>
          </p:cNvPr>
          <p:cNvSpPr/>
          <p:nvPr/>
        </p:nvSpPr>
        <p:spPr>
          <a:xfrm>
            <a:off x="1213214" y="3638498"/>
            <a:ext cx="4089505" cy="863278"/>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 sz="1200" b="1" dirty="0"/>
              <a:t>1. </a:t>
            </a:r>
            <a:r>
              <a:rPr lang="es-ES" sz="1200" dirty="0"/>
              <a:t>Es requerido que en esta forma el Check “Habilitar Periodo” se encuentre activo para permitir las transacciones en dicho periodo académico.</a:t>
            </a:r>
          </a:p>
        </p:txBody>
      </p:sp>
      <p:sp>
        <p:nvSpPr>
          <p:cNvPr id="4" name="Rectángulo: esquinas redondeadas 5">
            <a:extLst>
              <a:ext uri="{FF2B5EF4-FFF2-40B4-BE49-F238E27FC236}">
                <a16:creationId xmlns:a16="http://schemas.microsoft.com/office/drawing/2014/main" id="{30E4E633-58CD-7D53-F435-B4FB30390737}"/>
              </a:ext>
            </a:extLst>
          </p:cNvPr>
          <p:cNvSpPr/>
          <p:nvPr/>
        </p:nvSpPr>
        <p:spPr>
          <a:xfrm>
            <a:off x="1213214" y="4879849"/>
            <a:ext cx="4089505" cy="987018"/>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 sz="1200" b="1" dirty="0"/>
              <a:t>2. </a:t>
            </a:r>
            <a:r>
              <a:rPr lang="es-ES" sz="1200" dirty="0"/>
              <a:t>Active esta opción para desplegar la información de cuenta resumida y ordenada por código de detalle; los cargos se despliegan primero, luego los pagos. Los registros con un neto de cero se suprimen.</a:t>
            </a:r>
          </a:p>
        </p:txBody>
      </p:sp>
      <p:sp>
        <p:nvSpPr>
          <p:cNvPr id="5" name="Rectángulo: esquinas redondeadas 5">
            <a:extLst>
              <a:ext uri="{FF2B5EF4-FFF2-40B4-BE49-F238E27FC236}">
                <a16:creationId xmlns:a16="http://schemas.microsoft.com/office/drawing/2014/main" id="{299CAF81-A79B-087B-2471-29C1D0F3383D}"/>
              </a:ext>
            </a:extLst>
          </p:cNvPr>
          <p:cNvSpPr/>
          <p:nvPr/>
        </p:nvSpPr>
        <p:spPr>
          <a:xfrm>
            <a:off x="5660003" y="3669211"/>
            <a:ext cx="5227596" cy="737561"/>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 sz="1200" b="1" dirty="0"/>
              <a:t>3. </a:t>
            </a:r>
            <a:r>
              <a:rPr lang="es-ES" sz="1200" dirty="0"/>
              <a:t>Esta fecha controla el cálculo de la fecha de vigencia de vencimiento actual. El valor predefinido para este campo es la fecha de inicio del periodo como se especifica en </a:t>
            </a:r>
            <a:r>
              <a:rPr lang="es-ES" sz="1200" b="1" dirty="0"/>
              <a:t>STVTERM.</a:t>
            </a:r>
          </a:p>
        </p:txBody>
      </p:sp>
      <p:sp>
        <p:nvSpPr>
          <p:cNvPr id="6" name="Rectángulo: esquinas redondeadas 5">
            <a:extLst>
              <a:ext uri="{FF2B5EF4-FFF2-40B4-BE49-F238E27FC236}">
                <a16:creationId xmlns:a16="http://schemas.microsoft.com/office/drawing/2014/main" id="{31A5CB8D-6223-06EF-581F-5BB4EB62DA21}"/>
              </a:ext>
            </a:extLst>
          </p:cNvPr>
          <p:cNvSpPr/>
          <p:nvPr/>
        </p:nvSpPr>
        <p:spPr>
          <a:xfrm>
            <a:off x="5660003" y="4564901"/>
            <a:ext cx="5227596" cy="1645386"/>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 sz="1200" b="1" dirty="0"/>
              <a:t>4. </a:t>
            </a:r>
            <a:r>
              <a:rPr lang="es-ES" sz="1200" dirty="0"/>
              <a:t>Seleccione una de las siguientes opciones para indicar los totales calculados que desea desplegar en la sección </a:t>
            </a:r>
            <a:r>
              <a:rPr lang="es-ES" sz="1200" b="1" dirty="0"/>
              <a:t>«Detalle de cuenta» </a:t>
            </a:r>
            <a:r>
              <a:rPr lang="es-ES" sz="1200" dirty="0"/>
              <a:t>en la página </a:t>
            </a:r>
            <a:r>
              <a:rPr lang="es-ES" sz="1200" b="1" dirty="0"/>
              <a:t>«Detalle de cuenta para el periodo».</a:t>
            </a:r>
          </a:p>
          <a:p>
            <a:r>
              <a:rPr lang="es-ES" sz="1200" i="1" dirty="0"/>
              <a:t>Solo saldo de cuenta: </a:t>
            </a:r>
            <a:r>
              <a:rPr lang="es-ES" sz="1200" dirty="0"/>
              <a:t>desplegar el total de saldo de cuenta del alumno global.</a:t>
            </a:r>
          </a:p>
          <a:p>
            <a:r>
              <a:rPr lang="es-ES" sz="1200" i="1" dirty="0"/>
              <a:t>Saldo y vencimiento actual: </a:t>
            </a:r>
            <a:r>
              <a:rPr lang="es-ES" sz="1200" dirty="0"/>
              <a:t>desplegar tanto el total de saldo de cuenta como el vencimiento actual. Si el monto vencido actual es menor a cero, se despliega cero.</a:t>
            </a:r>
          </a:p>
        </p:txBody>
      </p:sp>
      <p:pic>
        <p:nvPicPr>
          <p:cNvPr id="20" name="Imagen 19">
            <a:extLst>
              <a:ext uri="{FF2B5EF4-FFF2-40B4-BE49-F238E27FC236}">
                <a16:creationId xmlns:a16="http://schemas.microsoft.com/office/drawing/2014/main" id="{30CDCBCE-3240-F974-B72A-83D0FEF218DB}"/>
              </a:ext>
            </a:extLst>
          </p:cNvPr>
          <p:cNvPicPr>
            <a:picLocks noChangeAspect="1"/>
          </p:cNvPicPr>
          <p:nvPr/>
        </p:nvPicPr>
        <p:blipFill>
          <a:blip r:embed="rId3"/>
          <a:stretch>
            <a:fillRect/>
          </a:stretch>
        </p:blipFill>
        <p:spPr>
          <a:xfrm>
            <a:off x="8478848" y="2295262"/>
            <a:ext cx="162000" cy="162000"/>
          </a:xfrm>
          <a:prstGeom prst="rect">
            <a:avLst/>
          </a:prstGeom>
        </p:spPr>
      </p:pic>
      <p:pic>
        <p:nvPicPr>
          <p:cNvPr id="22" name="Imagen 21">
            <a:extLst>
              <a:ext uri="{FF2B5EF4-FFF2-40B4-BE49-F238E27FC236}">
                <a16:creationId xmlns:a16="http://schemas.microsoft.com/office/drawing/2014/main" id="{BD4AD65E-DAD9-9D13-2431-090D17663123}"/>
              </a:ext>
            </a:extLst>
          </p:cNvPr>
          <p:cNvPicPr>
            <a:picLocks noChangeAspect="1"/>
          </p:cNvPicPr>
          <p:nvPr/>
        </p:nvPicPr>
        <p:blipFill>
          <a:blip r:embed="rId4"/>
          <a:stretch>
            <a:fillRect/>
          </a:stretch>
        </p:blipFill>
        <p:spPr>
          <a:xfrm>
            <a:off x="3257967" y="2584919"/>
            <a:ext cx="162000" cy="162000"/>
          </a:xfrm>
          <a:prstGeom prst="rect">
            <a:avLst/>
          </a:prstGeom>
        </p:spPr>
      </p:pic>
      <p:pic>
        <p:nvPicPr>
          <p:cNvPr id="24" name="Imagen 23">
            <a:extLst>
              <a:ext uri="{FF2B5EF4-FFF2-40B4-BE49-F238E27FC236}">
                <a16:creationId xmlns:a16="http://schemas.microsoft.com/office/drawing/2014/main" id="{26DE3C9E-750F-E797-5B1B-DC6A5623B939}"/>
              </a:ext>
            </a:extLst>
          </p:cNvPr>
          <p:cNvPicPr>
            <a:picLocks noChangeAspect="1"/>
          </p:cNvPicPr>
          <p:nvPr/>
        </p:nvPicPr>
        <p:blipFill>
          <a:blip r:embed="rId5"/>
          <a:stretch>
            <a:fillRect/>
          </a:stretch>
        </p:blipFill>
        <p:spPr>
          <a:xfrm>
            <a:off x="3176967" y="1971021"/>
            <a:ext cx="162000" cy="162000"/>
          </a:xfrm>
          <a:prstGeom prst="rect">
            <a:avLst/>
          </a:prstGeom>
        </p:spPr>
      </p:pic>
      <p:pic>
        <p:nvPicPr>
          <p:cNvPr id="26" name="Imagen 25">
            <a:extLst>
              <a:ext uri="{FF2B5EF4-FFF2-40B4-BE49-F238E27FC236}">
                <a16:creationId xmlns:a16="http://schemas.microsoft.com/office/drawing/2014/main" id="{5F882295-798F-D29C-53B4-0D427ED8612D}"/>
              </a:ext>
            </a:extLst>
          </p:cNvPr>
          <p:cNvPicPr>
            <a:picLocks noChangeAspect="1"/>
          </p:cNvPicPr>
          <p:nvPr/>
        </p:nvPicPr>
        <p:blipFill>
          <a:blip r:embed="rId6"/>
          <a:stretch>
            <a:fillRect/>
          </a:stretch>
        </p:blipFill>
        <p:spPr>
          <a:xfrm>
            <a:off x="8559848" y="1971021"/>
            <a:ext cx="162000" cy="162000"/>
          </a:xfrm>
          <a:prstGeom prst="rect">
            <a:avLst/>
          </a:prstGeom>
        </p:spPr>
      </p:pic>
    </p:spTree>
    <p:extLst>
      <p:ext uri="{BB962C8B-B14F-4D97-AF65-F5344CB8AC3E}">
        <p14:creationId xmlns:p14="http://schemas.microsoft.com/office/powerpoint/2010/main" val="2611142773"/>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61578E-B1C5-7B06-93D6-E0DC879D47CC}"/>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B19FC743-7D1C-447C-46A8-7D91D435E63E}"/>
              </a:ext>
            </a:extLst>
          </p:cNvPr>
          <p:cNvSpPr txBox="1">
            <a:spLocks/>
          </p:cNvSpPr>
          <p:nvPr/>
        </p:nvSpPr>
        <p:spPr>
          <a:xfrm>
            <a:off x="1161288" y="752069"/>
            <a:ext cx="9671709" cy="937471"/>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Configuraciones: </a:t>
            </a:r>
            <a:r>
              <a:rPr lang="es-ES_tradnl" sz="3200" dirty="0"/>
              <a:t>TSADETC Control código de detalle - Alumnos</a:t>
            </a:r>
            <a:endParaRPr lang="es-CL" dirty="0"/>
          </a:p>
        </p:txBody>
      </p:sp>
      <p:sp>
        <p:nvSpPr>
          <p:cNvPr id="3" name="Rectángulo: esquinas redondeadas 2">
            <a:extLst>
              <a:ext uri="{FF2B5EF4-FFF2-40B4-BE49-F238E27FC236}">
                <a16:creationId xmlns:a16="http://schemas.microsoft.com/office/drawing/2014/main" id="{AA0E55BF-6AB1-64C2-D75A-24E3ACB1C00B}"/>
              </a:ext>
            </a:extLst>
          </p:cNvPr>
          <p:cNvSpPr/>
          <p:nvPr/>
        </p:nvSpPr>
        <p:spPr>
          <a:xfrm>
            <a:off x="1249797" y="4640628"/>
            <a:ext cx="9583200" cy="969134"/>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 sz="1200" dirty="0"/>
              <a:t>Creación de los códigos de detalles que representen los beneficios a otorgar como un </a:t>
            </a:r>
            <a:r>
              <a:rPr lang="es-ES" sz="1300" b="1" dirty="0"/>
              <a:t>PAGO</a:t>
            </a:r>
            <a:r>
              <a:rPr lang="es-ES" sz="1200" dirty="0"/>
              <a:t> sobre la cuenta corriente del estudiante.</a:t>
            </a:r>
          </a:p>
          <a:p>
            <a:endParaRPr lang="es-ES" sz="600" b="1" dirty="0"/>
          </a:p>
          <a:p>
            <a:r>
              <a:rPr lang="es-ES" sz="1200" b="1" dirty="0"/>
              <a:t>Nota:</a:t>
            </a:r>
            <a:r>
              <a:rPr lang="es-ES" sz="1200" dirty="0"/>
              <a:t> La configuración de esta página administrativa se detalla en el instructivo </a:t>
            </a:r>
            <a:r>
              <a:rPr lang="es-ES" sz="1200" b="1" dirty="0"/>
              <a:t>11.1 Instructivo </a:t>
            </a:r>
            <a:r>
              <a:rPr lang="es-ES" sz="1200" b="1" dirty="0" err="1"/>
              <a:t>CxC</a:t>
            </a:r>
            <a:r>
              <a:rPr lang="es-ES" sz="1200" b="1" dirty="0"/>
              <a:t> - </a:t>
            </a:r>
            <a:r>
              <a:rPr lang="es-CO" sz="1200" b="1" dirty="0"/>
              <a:t>Gestionar los conceptos de configuración de la cuenta corriente</a:t>
            </a:r>
            <a:endParaRPr lang="es-CL" sz="1200" dirty="0"/>
          </a:p>
        </p:txBody>
      </p:sp>
      <p:pic>
        <p:nvPicPr>
          <p:cNvPr id="8" name="Imagen 7">
            <a:extLst>
              <a:ext uri="{FF2B5EF4-FFF2-40B4-BE49-F238E27FC236}">
                <a16:creationId xmlns:a16="http://schemas.microsoft.com/office/drawing/2014/main" id="{8370088E-3E28-F2ED-C0F4-B0EA4B06C412}"/>
              </a:ext>
            </a:extLst>
          </p:cNvPr>
          <p:cNvPicPr>
            <a:picLocks noChangeAspect="1"/>
          </p:cNvPicPr>
          <p:nvPr/>
        </p:nvPicPr>
        <p:blipFill>
          <a:blip r:embed="rId2"/>
          <a:stretch>
            <a:fillRect/>
          </a:stretch>
        </p:blipFill>
        <p:spPr>
          <a:xfrm>
            <a:off x="1205542" y="1900461"/>
            <a:ext cx="9583200" cy="2529246"/>
          </a:xfrm>
          <a:prstGeom prst="rect">
            <a:avLst/>
          </a:prstGeom>
        </p:spPr>
      </p:pic>
    </p:spTree>
    <p:extLst>
      <p:ext uri="{BB962C8B-B14F-4D97-AF65-F5344CB8AC3E}">
        <p14:creationId xmlns:p14="http://schemas.microsoft.com/office/powerpoint/2010/main" val="752693416"/>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6FF19E-11D1-5E8D-801D-8EA879158D53}"/>
            </a:ext>
          </a:extLst>
        </p:cNvPr>
        <p:cNvGrpSpPr/>
        <p:nvPr/>
      </p:nvGrpSpPr>
      <p:grpSpPr>
        <a:xfrm>
          <a:off x="0" y="0"/>
          <a:ext cx="0" cy="0"/>
          <a:chOff x="0" y="0"/>
          <a:chExt cx="0" cy="0"/>
        </a:xfrm>
      </p:grpSpPr>
      <p:sp>
        <p:nvSpPr>
          <p:cNvPr id="5" name="CuadroTexto 4">
            <a:extLst>
              <a:ext uri="{FF2B5EF4-FFF2-40B4-BE49-F238E27FC236}">
                <a16:creationId xmlns:a16="http://schemas.microsoft.com/office/drawing/2014/main" id="{7EA3E942-C87D-B763-AD29-BDAFD1328B09}"/>
              </a:ext>
            </a:extLst>
          </p:cNvPr>
          <p:cNvSpPr txBox="1"/>
          <p:nvPr/>
        </p:nvSpPr>
        <p:spPr>
          <a:xfrm>
            <a:off x="612648" y="1788676"/>
            <a:ext cx="10762488" cy="1938992"/>
          </a:xfrm>
          <a:prstGeom prst="rect">
            <a:avLst/>
          </a:prstGeom>
          <a:noFill/>
        </p:spPr>
        <p:txBody>
          <a:bodyPr wrap="square">
            <a:spAutoFit/>
          </a:bodyPr>
          <a:lstStyle/>
          <a:p>
            <a:r>
              <a:rPr lang="es-CO" sz="6000" b="1" dirty="0">
                <a:solidFill>
                  <a:schemeClr val="bg1"/>
                </a:solidFill>
              </a:rPr>
              <a:t>Configuración y Asignación de Contratos</a:t>
            </a:r>
            <a:endParaRPr lang="en-US" sz="6000" b="1" dirty="0">
              <a:solidFill>
                <a:schemeClr val="bg1"/>
              </a:solidFill>
            </a:endParaRPr>
          </a:p>
        </p:txBody>
      </p:sp>
      <p:sp>
        <p:nvSpPr>
          <p:cNvPr id="2" name="Text Placeholder 16">
            <a:extLst>
              <a:ext uri="{FF2B5EF4-FFF2-40B4-BE49-F238E27FC236}">
                <a16:creationId xmlns:a16="http://schemas.microsoft.com/office/drawing/2014/main" id="{A5B009F5-8D80-EA36-9532-61AEB722AA9C}"/>
              </a:ext>
            </a:extLst>
          </p:cNvPr>
          <p:cNvSpPr txBox="1">
            <a:spLocks/>
          </p:cNvSpPr>
          <p:nvPr/>
        </p:nvSpPr>
        <p:spPr>
          <a:xfrm>
            <a:off x="612648" y="3855899"/>
            <a:ext cx="3374136" cy="533221"/>
          </a:xfrm>
          <a:prstGeom prst="rect">
            <a:avLst/>
          </a:prstGeom>
        </p:spPr>
        <p:txBody>
          <a:bodyPr/>
          <a:lst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CO" sz="2000" b="1" dirty="0">
                <a:solidFill>
                  <a:schemeClr val="bg1"/>
                </a:solidFill>
              </a:rPr>
              <a:t>Gestionar los beneficios</a:t>
            </a:r>
          </a:p>
        </p:txBody>
      </p:sp>
    </p:spTree>
    <p:extLst>
      <p:ext uri="{BB962C8B-B14F-4D97-AF65-F5344CB8AC3E}">
        <p14:creationId xmlns:p14="http://schemas.microsoft.com/office/powerpoint/2010/main" val="767181332"/>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A561B4-4101-C03D-45B3-B0C957956645}"/>
            </a:ext>
          </a:extLst>
        </p:cNvPr>
        <p:cNvGrpSpPr/>
        <p:nvPr/>
      </p:nvGrpSpPr>
      <p:grpSpPr>
        <a:xfrm>
          <a:off x="0" y="0"/>
          <a:ext cx="0" cy="0"/>
          <a:chOff x="0" y="0"/>
          <a:chExt cx="0" cy="0"/>
        </a:xfrm>
      </p:grpSpPr>
      <p:sp>
        <p:nvSpPr>
          <p:cNvPr id="3" name="Título 3">
            <a:extLst>
              <a:ext uri="{FF2B5EF4-FFF2-40B4-BE49-F238E27FC236}">
                <a16:creationId xmlns:a16="http://schemas.microsoft.com/office/drawing/2014/main" id="{02ED67E2-8A65-F7F6-D1F7-BBA82BB9CB1C}"/>
              </a:ext>
            </a:extLst>
          </p:cNvPr>
          <p:cNvSpPr txBox="1">
            <a:spLocks/>
          </p:cNvSpPr>
          <p:nvPr/>
        </p:nvSpPr>
        <p:spPr>
          <a:xfrm>
            <a:off x="1117717" y="557784"/>
            <a:ext cx="9733266" cy="950199"/>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dirty="0">
                <a:solidFill>
                  <a:schemeClr val="accent1"/>
                </a:solidFill>
              </a:rPr>
              <a:t>Configuraciones: </a:t>
            </a:r>
            <a:r>
              <a:rPr lang="es-CO" sz="3200" dirty="0"/>
              <a:t>TSACONT Autorización de Contrato </a:t>
            </a:r>
            <a:r>
              <a:rPr lang="es-CO" sz="3200" b="0" dirty="0"/>
              <a:t>1/6</a:t>
            </a:r>
            <a:br>
              <a:rPr lang="es-ES_tradnl" sz="3200" b="0" dirty="0"/>
            </a:br>
            <a:endParaRPr lang="es-CL" b="0" dirty="0"/>
          </a:p>
        </p:txBody>
      </p:sp>
      <p:sp>
        <p:nvSpPr>
          <p:cNvPr id="4" name="Rectángulo redondeado 5">
            <a:extLst>
              <a:ext uri="{FF2B5EF4-FFF2-40B4-BE49-F238E27FC236}">
                <a16:creationId xmlns:a16="http://schemas.microsoft.com/office/drawing/2014/main" id="{B4705FA6-B2DB-F49F-D4EE-0710B490617B}"/>
              </a:ext>
            </a:extLst>
          </p:cNvPr>
          <p:cNvSpPr/>
          <p:nvPr/>
        </p:nvSpPr>
        <p:spPr>
          <a:xfrm>
            <a:off x="1267783" y="3913214"/>
            <a:ext cx="9583200" cy="704506"/>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dirty="0"/>
              <a:t>La creación de un contrato requiere la definición de un código numérico desde 1 hasta 9 parámetros, mismo que es asociado al ID del tercero con el cual la institución celebraría el contrato en cuestión. </a:t>
            </a:r>
          </a:p>
        </p:txBody>
      </p:sp>
      <p:pic>
        <p:nvPicPr>
          <p:cNvPr id="5" name="Imagen 4">
            <a:extLst>
              <a:ext uri="{FF2B5EF4-FFF2-40B4-BE49-F238E27FC236}">
                <a16:creationId xmlns:a16="http://schemas.microsoft.com/office/drawing/2014/main" id="{4CC38898-6606-E5E8-563B-E7CBA8607966}"/>
              </a:ext>
            </a:extLst>
          </p:cNvPr>
          <p:cNvPicPr>
            <a:picLocks noChangeAspect="1"/>
          </p:cNvPicPr>
          <p:nvPr/>
        </p:nvPicPr>
        <p:blipFill>
          <a:blip r:embed="rId2"/>
          <a:stretch>
            <a:fillRect/>
          </a:stretch>
        </p:blipFill>
        <p:spPr>
          <a:xfrm>
            <a:off x="1267783" y="1985159"/>
            <a:ext cx="9583200" cy="1183542"/>
          </a:xfrm>
          <a:prstGeom prst="rect">
            <a:avLst/>
          </a:prstGeom>
        </p:spPr>
      </p:pic>
      <p:sp>
        <p:nvSpPr>
          <p:cNvPr id="7" name="Rectángulo redondeado 5">
            <a:extLst>
              <a:ext uri="{FF2B5EF4-FFF2-40B4-BE49-F238E27FC236}">
                <a16:creationId xmlns:a16="http://schemas.microsoft.com/office/drawing/2014/main" id="{CEF6D24E-71DC-88CF-5544-285205B54C7A}"/>
              </a:ext>
            </a:extLst>
          </p:cNvPr>
          <p:cNvSpPr/>
          <p:nvPr/>
        </p:nvSpPr>
        <p:spPr>
          <a:xfrm>
            <a:off x="1267783" y="4978068"/>
            <a:ext cx="9583200" cy="646643"/>
          </a:xfrm>
          <a:prstGeom prst="roundRect">
            <a:avLst/>
          </a:prstGeom>
          <a:ln/>
        </p:spPr>
        <p:style>
          <a:lnRef idx="1">
            <a:schemeClr val="accent2"/>
          </a:lnRef>
          <a:fillRef idx="2">
            <a:schemeClr val="accent2"/>
          </a:fillRef>
          <a:effectRef idx="1">
            <a:schemeClr val="accent2"/>
          </a:effectRef>
          <a:fontRef idx="minor">
            <a:schemeClr val="dk1"/>
          </a:fontRef>
        </p:style>
        <p:txBody>
          <a:bodyPr rtlCol="0" anchor="ctr"/>
          <a:lstStyle/>
          <a:p>
            <a:r>
              <a:rPr lang="es-CO" sz="1200" dirty="0"/>
              <a:t>La creación de los contratos debe ser realizada para todos los periodos académicos que se desea tener disponible la asignación y aplicación de los mismos, esto puede ser realizado uno a uno o bien rolando las configuraciones de un periodo a otro.</a:t>
            </a:r>
          </a:p>
        </p:txBody>
      </p:sp>
    </p:spTree>
    <p:extLst>
      <p:ext uri="{BB962C8B-B14F-4D97-AF65-F5344CB8AC3E}">
        <p14:creationId xmlns:p14="http://schemas.microsoft.com/office/powerpoint/2010/main" val="2097341540"/>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FF75FA-CE73-4334-B6C1-9CC3FC7C77CF}"/>
            </a:ext>
          </a:extLst>
        </p:cNvPr>
        <p:cNvGrpSpPr/>
        <p:nvPr/>
      </p:nvGrpSpPr>
      <p:grpSpPr>
        <a:xfrm>
          <a:off x="0" y="0"/>
          <a:ext cx="0" cy="0"/>
          <a:chOff x="0" y="0"/>
          <a:chExt cx="0" cy="0"/>
        </a:xfrm>
      </p:grpSpPr>
      <p:sp>
        <p:nvSpPr>
          <p:cNvPr id="3" name="Título 3">
            <a:extLst>
              <a:ext uri="{FF2B5EF4-FFF2-40B4-BE49-F238E27FC236}">
                <a16:creationId xmlns:a16="http://schemas.microsoft.com/office/drawing/2014/main" id="{AC87E3E3-CA33-4844-39E2-36588A90A7D0}"/>
              </a:ext>
            </a:extLst>
          </p:cNvPr>
          <p:cNvSpPr txBox="1">
            <a:spLocks/>
          </p:cNvSpPr>
          <p:nvPr/>
        </p:nvSpPr>
        <p:spPr>
          <a:xfrm>
            <a:off x="1142698" y="568446"/>
            <a:ext cx="9708285" cy="922026"/>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dirty="0">
                <a:solidFill>
                  <a:schemeClr val="accent1"/>
                </a:solidFill>
              </a:rPr>
              <a:t>Configuraciones: </a:t>
            </a:r>
            <a:r>
              <a:rPr lang="es-CO" sz="3200" dirty="0"/>
              <a:t>TSACONT Autorización de Contrato </a:t>
            </a:r>
            <a:r>
              <a:rPr lang="es-CO" sz="3200" b="0" dirty="0"/>
              <a:t>2/6</a:t>
            </a:r>
            <a:br>
              <a:rPr lang="es-ES_tradnl" sz="3200" b="0" dirty="0"/>
            </a:br>
            <a:endParaRPr lang="es-CL" b="0" dirty="0"/>
          </a:p>
        </p:txBody>
      </p:sp>
      <p:sp>
        <p:nvSpPr>
          <p:cNvPr id="4" name="Rectángulo redondeado 5">
            <a:extLst>
              <a:ext uri="{FF2B5EF4-FFF2-40B4-BE49-F238E27FC236}">
                <a16:creationId xmlns:a16="http://schemas.microsoft.com/office/drawing/2014/main" id="{9D0EBBBE-0BFC-0162-5802-90C1FC9A8EF7}"/>
              </a:ext>
            </a:extLst>
          </p:cNvPr>
          <p:cNvSpPr/>
          <p:nvPr/>
        </p:nvSpPr>
        <p:spPr>
          <a:xfrm>
            <a:off x="1205240" y="4297680"/>
            <a:ext cx="9583200" cy="1298448"/>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dirty="0"/>
              <a:t>Una vez se ingresa a la forma con ID del tercero, número del contrato y periodo académico, se debe crear una descripción del contrato que referencie el beneficio que representa teniendo un máximo hasta 30 caracteres. </a:t>
            </a:r>
          </a:p>
          <a:p>
            <a:endParaRPr lang="es-CO" sz="1200" dirty="0"/>
          </a:p>
          <a:p>
            <a:r>
              <a:rPr lang="es-CO" sz="1200" dirty="0"/>
              <a:t>Adicionalmente se debe definir los códigos de detalles con el cual se representaría la aplicación del beneficio para el pago sobre la cuenta corriente del estudiante y el cargo sobre la cuenta corriente del tercero. Ambos códigos de detalle deben estar creados previamente en la forma </a:t>
            </a:r>
            <a:r>
              <a:rPr lang="es-CO" sz="1200" b="1" dirty="0"/>
              <a:t>TSADETC.</a:t>
            </a:r>
          </a:p>
        </p:txBody>
      </p:sp>
      <p:pic>
        <p:nvPicPr>
          <p:cNvPr id="6" name="Imagen 5">
            <a:extLst>
              <a:ext uri="{FF2B5EF4-FFF2-40B4-BE49-F238E27FC236}">
                <a16:creationId xmlns:a16="http://schemas.microsoft.com/office/drawing/2014/main" id="{F04F176B-C43C-1A4B-1869-C9F7CB1C778A}"/>
              </a:ext>
            </a:extLst>
          </p:cNvPr>
          <p:cNvPicPr>
            <a:picLocks noChangeAspect="1"/>
          </p:cNvPicPr>
          <p:nvPr/>
        </p:nvPicPr>
        <p:blipFill>
          <a:blip r:embed="rId2"/>
          <a:stretch>
            <a:fillRect/>
          </a:stretch>
        </p:blipFill>
        <p:spPr>
          <a:xfrm>
            <a:off x="1205240" y="1780538"/>
            <a:ext cx="9583200" cy="2095701"/>
          </a:xfrm>
          <a:prstGeom prst="rect">
            <a:avLst/>
          </a:prstGeom>
        </p:spPr>
      </p:pic>
    </p:spTree>
    <p:extLst>
      <p:ext uri="{BB962C8B-B14F-4D97-AF65-F5344CB8AC3E}">
        <p14:creationId xmlns:p14="http://schemas.microsoft.com/office/powerpoint/2010/main" val="609222956"/>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9E5015-20EA-BAD5-0EA9-85B77C829A7A}"/>
            </a:ext>
          </a:extLst>
        </p:cNvPr>
        <p:cNvGrpSpPr/>
        <p:nvPr/>
      </p:nvGrpSpPr>
      <p:grpSpPr>
        <a:xfrm>
          <a:off x="0" y="0"/>
          <a:ext cx="0" cy="0"/>
          <a:chOff x="0" y="0"/>
          <a:chExt cx="0" cy="0"/>
        </a:xfrm>
      </p:grpSpPr>
      <p:sp>
        <p:nvSpPr>
          <p:cNvPr id="3" name="Título 3">
            <a:extLst>
              <a:ext uri="{FF2B5EF4-FFF2-40B4-BE49-F238E27FC236}">
                <a16:creationId xmlns:a16="http://schemas.microsoft.com/office/drawing/2014/main" id="{459AA7BE-57BB-999E-131C-84431A74E6D1}"/>
              </a:ext>
            </a:extLst>
          </p:cNvPr>
          <p:cNvSpPr txBox="1">
            <a:spLocks/>
          </p:cNvSpPr>
          <p:nvPr/>
        </p:nvSpPr>
        <p:spPr>
          <a:xfrm>
            <a:off x="1015907" y="848298"/>
            <a:ext cx="10012982" cy="61691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dirty="0">
                <a:solidFill>
                  <a:schemeClr val="accent1"/>
                </a:solidFill>
              </a:rPr>
              <a:t>Configuraciones: </a:t>
            </a:r>
            <a:r>
              <a:rPr lang="es-CO" sz="3200" dirty="0"/>
              <a:t>TSACONT Autorización de Contrato </a:t>
            </a:r>
            <a:r>
              <a:rPr lang="es-CO" sz="3200" b="0" dirty="0"/>
              <a:t>2/6</a:t>
            </a:r>
            <a:br>
              <a:rPr lang="es-ES_tradnl" sz="3200" b="0" dirty="0"/>
            </a:br>
            <a:endParaRPr lang="es-CL" b="0" dirty="0"/>
          </a:p>
        </p:txBody>
      </p:sp>
      <p:sp>
        <p:nvSpPr>
          <p:cNvPr id="4" name="Rectángulo redondeado 5">
            <a:extLst>
              <a:ext uri="{FF2B5EF4-FFF2-40B4-BE49-F238E27FC236}">
                <a16:creationId xmlns:a16="http://schemas.microsoft.com/office/drawing/2014/main" id="{105D8046-1190-F50C-DE61-F152E3A03A01}"/>
              </a:ext>
            </a:extLst>
          </p:cNvPr>
          <p:cNvSpPr/>
          <p:nvPr/>
        </p:nvSpPr>
        <p:spPr>
          <a:xfrm>
            <a:off x="1304400" y="4901184"/>
            <a:ext cx="9546583" cy="891845"/>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dirty="0"/>
              <a:t>En la sección </a:t>
            </a:r>
            <a:r>
              <a:rPr lang="es-CO" sz="1200" b="1" dirty="0"/>
              <a:t>“opciones de paso de contrato” </a:t>
            </a:r>
            <a:r>
              <a:rPr lang="es-CO" sz="1200" dirty="0"/>
              <a:t>inicialmente los contratos adquieren la configuración determinada en la forma TSACTRL, pero esta puede ser editada según las características de gestión y control del propio beneficio. Es así como la imagen refleja un contrato que tendría activa la opción de rolar el beneficio propiamente tal de un periodo académico a otro y los estudiantes beneficiados.</a:t>
            </a:r>
          </a:p>
        </p:txBody>
      </p:sp>
      <p:pic>
        <p:nvPicPr>
          <p:cNvPr id="5" name="Imagen 4">
            <a:extLst>
              <a:ext uri="{FF2B5EF4-FFF2-40B4-BE49-F238E27FC236}">
                <a16:creationId xmlns:a16="http://schemas.microsoft.com/office/drawing/2014/main" id="{32ED0950-F745-D6A4-785E-4872CCC5BEDE}"/>
              </a:ext>
            </a:extLst>
          </p:cNvPr>
          <p:cNvPicPr>
            <a:picLocks noChangeAspect="1"/>
          </p:cNvPicPr>
          <p:nvPr/>
        </p:nvPicPr>
        <p:blipFill>
          <a:blip r:embed="rId2"/>
          <a:stretch>
            <a:fillRect/>
          </a:stretch>
        </p:blipFill>
        <p:spPr>
          <a:xfrm>
            <a:off x="1304400" y="1811743"/>
            <a:ext cx="9583200" cy="2117393"/>
          </a:xfrm>
          <a:prstGeom prst="rect">
            <a:avLst/>
          </a:prstGeom>
        </p:spPr>
      </p:pic>
      <p:pic>
        <p:nvPicPr>
          <p:cNvPr id="8" name="Imagen 7">
            <a:extLst>
              <a:ext uri="{FF2B5EF4-FFF2-40B4-BE49-F238E27FC236}">
                <a16:creationId xmlns:a16="http://schemas.microsoft.com/office/drawing/2014/main" id="{A62208C4-3160-8751-2AFC-AA248ABAF86C}"/>
              </a:ext>
            </a:extLst>
          </p:cNvPr>
          <p:cNvPicPr>
            <a:picLocks noChangeAspect="1"/>
          </p:cNvPicPr>
          <p:nvPr/>
        </p:nvPicPr>
        <p:blipFill>
          <a:blip r:embed="rId3"/>
          <a:stretch>
            <a:fillRect/>
          </a:stretch>
        </p:blipFill>
        <p:spPr>
          <a:xfrm>
            <a:off x="1304400" y="3987560"/>
            <a:ext cx="9583200" cy="319607"/>
          </a:xfrm>
          <a:prstGeom prst="rect">
            <a:avLst/>
          </a:prstGeom>
        </p:spPr>
      </p:pic>
    </p:spTree>
    <p:extLst>
      <p:ext uri="{BB962C8B-B14F-4D97-AF65-F5344CB8AC3E}">
        <p14:creationId xmlns:p14="http://schemas.microsoft.com/office/powerpoint/2010/main" val="4154869778"/>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A1A4E-D80C-9A68-1A41-29C412D2DE0A}"/>
            </a:ext>
          </a:extLst>
        </p:cNvPr>
        <p:cNvGrpSpPr/>
        <p:nvPr/>
      </p:nvGrpSpPr>
      <p:grpSpPr>
        <a:xfrm>
          <a:off x="0" y="0"/>
          <a:ext cx="0" cy="0"/>
          <a:chOff x="0" y="0"/>
          <a:chExt cx="0" cy="0"/>
        </a:xfrm>
      </p:grpSpPr>
      <p:sp>
        <p:nvSpPr>
          <p:cNvPr id="3" name="Título 3">
            <a:extLst>
              <a:ext uri="{FF2B5EF4-FFF2-40B4-BE49-F238E27FC236}">
                <a16:creationId xmlns:a16="http://schemas.microsoft.com/office/drawing/2014/main" id="{B466361C-BBB9-E06D-1410-28DF16F9F407}"/>
              </a:ext>
            </a:extLst>
          </p:cNvPr>
          <p:cNvSpPr txBox="1">
            <a:spLocks/>
          </p:cNvSpPr>
          <p:nvPr/>
        </p:nvSpPr>
        <p:spPr>
          <a:xfrm>
            <a:off x="1168860" y="705962"/>
            <a:ext cx="9682123" cy="907807"/>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dirty="0">
                <a:solidFill>
                  <a:schemeClr val="accent1"/>
                </a:solidFill>
              </a:rPr>
              <a:t>Configuraciones: </a:t>
            </a:r>
            <a:r>
              <a:rPr lang="es-CO" sz="3200" dirty="0"/>
              <a:t>TSACONT Autorización de Contrato </a:t>
            </a:r>
            <a:r>
              <a:rPr lang="es-CO" sz="3200" b="0" dirty="0"/>
              <a:t>3/6</a:t>
            </a:r>
            <a:br>
              <a:rPr lang="es-ES_tradnl" sz="3200" b="0" dirty="0"/>
            </a:br>
            <a:endParaRPr lang="es-CL" b="0" dirty="0"/>
          </a:p>
        </p:txBody>
      </p:sp>
      <p:sp>
        <p:nvSpPr>
          <p:cNvPr id="4" name="Rectángulo redondeado 5">
            <a:extLst>
              <a:ext uri="{FF2B5EF4-FFF2-40B4-BE49-F238E27FC236}">
                <a16:creationId xmlns:a16="http://schemas.microsoft.com/office/drawing/2014/main" id="{407AAA3D-A94D-F528-F1C3-45E9D1D6888D}"/>
              </a:ext>
            </a:extLst>
          </p:cNvPr>
          <p:cNvSpPr/>
          <p:nvPr/>
        </p:nvSpPr>
        <p:spPr>
          <a:xfrm>
            <a:off x="1267783" y="4055227"/>
            <a:ext cx="9512993" cy="859537"/>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dirty="0"/>
              <a:t>En la siguiente sección, se configura el </a:t>
            </a:r>
            <a:r>
              <a:rPr lang="es-CO" sz="1200" b="1" dirty="0"/>
              <a:t>PORCENTAJE</a:t>
            </a:r>
            <a:r>
              <a:rPr lang="es-CO" sz="1200" dirty="0"/>
              <a:t> de cobertura que tendría el beneficio, el monto mínimo requerido para activar la asignación, el monto máximo que el beneficio podría asignar, el origen de las transacciones de la cuenta corriente que serían consideradas, además de la prioridad con que estas reglas serían consideradas para determinar las transacciones y montos referenciales que cubriría el beneficio.</a:t>
            </a:r>
          </a:p>
        </p:txBody>
      </p:sp>
      <p:pic>
        <p:nvPicPr>
          <p:cNvPr id="5" name="Imagen 4">
            <a:extLst>
              <a:ext uri="{FF2B5EF4-FFF2-40B4-BE49-F238E27FC236}">
                <a16:creationId xmlns:a16="http://schemas.microsoft.com/office/drawing/2014/main" id="{BE0EFC2D-C46D-E666-2573-B03E93D7E347}"/>
              </a:ext>
            </a:extLst>
          </p:cNvPr>
          <p:cNvPicPr>
            <a:picLocks noChangeAspect="1"/>
          </p:cNvPicPr>
          <p:nvPr/>
        </p:nvPicPr>
        <p:blipFill>
          <a:blip r:embed="rId2"/>
          <a:stretch>
            <a:fillRect/>
          </a:stretch>
        </p:blipFill>
        <p:spPr>
          <a:xfrm>
            <a:off x="1232679" y="1793617"/>
            <a:ext cx="9583200" cy="1458205"/>
          </a:xfrm>
          <a:prstGeom prst="rect">
            <a:avLst/>
          </a:prstGeom>
        </p:spPr>
      </p:pic>
      <p:sp>
        <p:nvSpPr>
          <p:cNvPr id="7" name="Rectángulo redondeado 5">
            <a:extLst>
              <a:ext uri="{FF2B5EF4-FFF2-40B4-BE49-F238E27FC236}">
                <a16:creationId xmlns:a16="http://schemas.microsoft.com/office/drawing/2014/main" id="{AC45C401-DEC5-8E01-2FCB-62EEC889A58E}"/>
              </a:ext>
            </a:extLst>
          </p:cNvPr>
          <p:cNvSpPr/>
          <p:nvPr/>
        </p:nvSpPr>
        <p:spPr>
          <a:xfrm>
            <a:off x="1267783" y="5257799"/>
            <a:ext cx="8275622" cy="440335"/>
          </a:xfrm>
          <a:prstGeom prst="roundRect">
            <a:avLst/>
          </a:prstGeom>
          <a:ln/>
        </p:spPr>
        <p:style>
          <a:lnRef idx="1">
            <a:schemeClr val="accent2"/>
          </a:lnRef>
          <a:fillRef idx="2">
            <a:schemeClr val="accent2"/>
          </a:fillRef>
          <a:effectRef idx="1">
            <a:schemeClr val="accent2"/>
          </a:effectRef>
          <a:fontRef idx="minor">
            <a:schemeClr val="dk1"/>
          </a:fontRef>
        </p:style>
        <p:txBody>
          <a:bodyPr rtlCol="0" anchor="ctr"/>
          <a:lstStyle/>
          <a:p>
            <a:pPr algn="just"/>
            <a:r>
              <a:rPr lang="es-CO" sz="1200" dirty="0"/>
              <a:t>Si la funcionalidad de multimoneda se encuentra activa no es posible configurar exenciones a </a:t>
            </a:r>
            <a:r>
              <a:rPr lang="es-CO" sz="1200" b="1" dirty="0"/>
              <a:t>NIVEL DE CUENTA.</a:t>
            </a:r>
          </a:p>
        </p:txBody>
      </p:sp>
      <p:pic>
        <p:nvPicPr>
          <p:cNvPr id="9" name="Imagen 8">
            <a:extLst>
              <a:ext uri="{FF2B5EF4-FFF2-40B4-BE49-F238E27FC236}">
                <a16:creationId xmlns:a16="http://schemas.microsoft.com/office/drawing/2014/main" id="{5A6AB5AF-D840-F48D-CB2C-E03CDCDA4686}"/>
              </a:ext>
            </a:extLst>
          </p:cNvPr>
          <p:cNvPicPr>
            <a:picLocks noChangeAspect="1"/>
          </p:cNvPicPr>
          <p:nvPr/>
        </p:nvPicPr>
        <p:blipFill>
          <a:blip r:embed="rId3"/>
          <a:stretch>
            <a:fillRect/>
          </a:stretch>
        </p:blipFill>
        <p:spPr>
          <a:xfrm>
            <a:off x="1267783" y="3251822"/>
            <a:ext cx="9583200" cy="324601"/>
          </a:xfrm>
          <a:prstGeom prst="rect">
            <a:avLst/>
          </a:prstGeom>
        </p:spPr>
      </p:pic>
    </p:spTree>
    <p:extLst>
      <p:ext uri="{BB962C8B-B14F-4D97-AF65-F5344CB8AC3E}">
        <p14:creationId xmlns:p14="http://schemas.microsoft.com/office/powerpoint/2010/main" val="2926797934"/>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3E2E1-E2E1-2B34-37F0-35B0BDCC097F}"/>
            </a:ext>
          </a:extLst>
        </p:cNvPr>
        <p:cNvGrpSpPr/>
        <p:nvPr/>
      </p:nvGrpSpPr>
      <p:grpSpPr>
        <a:xfrm>
          <a:off x="0" y="0"/>
          <a:ext cx="0" cy="0"/>
          <a:chOff x="0" y="0"/>
          <a:chExt cx="0" cy="0"/>
        </a:xfrm>
      </p:grpSpPr>
      <p:sp>
        <p:nvSpPr>
          <p:cNvPr id="3" name="Título 3">
            <a:extLst>
              <a:ext uri="{FF2B5EF4-FFF2-40B4-BE49-F238E27FC236}">
                <a16:creationId xmlns:a16="http://schemas.microsoft.com/office/drawing/2014/main" id="{000FCEB1-157B-4B2B-FBFF-ECDBA28EBF7B}"/>
              </a:ext>
            </a:extLst>
          </p:cNvPr>
          <p:cNvSpPr txBox="1">
            <a:spLocks/>
          </p:cNvSpPr>
          <p:nvPr/>
        </p:nvSpPr>
        <p:spPr>
          <a:xfrm>
            <a:off x="1106122" y="644140"/>
            <a:ext cx="9762332" cy="859537"/>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dirty="0">
                <a:solidFill>
                  <a:schemeClr val="accent1"/>
                </a:solidFill>
              </a:rPr>
              <a:t>Configuraciones: </a:t>
            </a:r>
            <a:r>
              <a:rPr lang="es-CO" sz="3200" dirty="0"/>
              <a:t>TSACONT Autorización de Contrato </a:t>
            </a:r>
            <a:r>
              <a:rPr lang="es-CO" sz="3200" b="0" dirty="0"/>
              <a:t>4/6</a:t>
            </a:r>
            <a:br>
              <a:rPr lang="es-ES_tradnl" sz="3200" b="0" dirty="0"/>
            </a:br>
            <a:endParaRPr lang="es-CL" b="0" dirty="0"/>
          </a:p>
        </p:txBody>
      </p:sp>
      <p:sp>
        <p:nvSpPr>
          <p:cNvPr id="4" name="Rectángulo redondeado 5">
            <a:extLst>
              <a:ext uri="{FF2B5EF4-FFF2-40B4-BE49-F238E27FC236}">
                <a16:creationId xmlns:a16="http://schemas.microsoft.com/office/drawing/2014/main" id="{64ECB91B-A6C4-9048-5AF9-EA0CA79EFDDA}"/>
              </a:ext>
            </a:extLst>
          </p:cNvPr>
          <p:cNvSpPr/>
          <p:nvPr/>
        </p:nvSpPr>
        <p:spPr>
          <a:xfrm>
            <a:off x="1193814" y="4202684"/>
            <a:ext cx="9583200" cy="859537"/>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dirty="0"/>
              <a:t>En la siguiente sección, se configuran los campos mencionados en el cuadro anterior, pero se agrega la diferenciación de las transacciones por medio de las </a:t>
            </a:r>
            <a:r>
              <a:rPr lang="es-CO" sz="1200" b="1" dirty="0"/>
              <a:t>CATEGORIAS</a:t>
            </a:r>
            <a:r>
              <a:rPr lang="es-CO" sz="1200" dirty="0"/>
              <a:t> de los códigos de detalle de cargos en la cuenta corriente que serían considerados para determinar las transacciones y el monto referencial de cargos que podría cubrir la asignación de beneficios.</a:t>
            </a:r>
          </a:p>
        </p:txBody>
      </p:sp>
      <p:pic>
        <p:nvPicPr>
          <p:cNvPr id="6" name="Imagen 5">
            <a:extLst>
              <a:ext uri="{FF2B5EF4-FFF2-40B4-BE49-F238E27FC236}">
                <a16:creationId xmlns:a16="http://schemas.microsoft.com/office/drawing/2014/main" id="{6C056C91-466C-F6B8-BDEA-F5EF6F18631F}"/>
              </a:ext>
            </a:extLst>
          </p:cNvPr>
          <p:cNvPicPr>
            <a:picLocks noChangeAspect="1"/>
          </p:cNvPicPr>
          <p:nvPr/>
        </p:nvPicPr>
        <p:blipFill>
          <a:blip r:embed="rId2"/>
          <a:stretch>
            <a:fillRect/>
          </a:stretch>
        </p:blipFill>
        <p:spPr>
          <a:xfrm>
            <a:off x="1193814" y="1853261"/>
            <a:ext cx="9583200" cy="1549710"/>
          </a:xfrm>
          <a:prstGeom prst="rect">
            <a:avLst/>
          </a:prstGeom>
        </p:spPr>
      </p:pic>
      <p:sp>
        <p:nvSpPr>
          <p:cNvPr id="8" name="Rectángulo redondeado 5">
            <a:extLst>
              <a:ext uri="{FF2B5EF4-FFF2-40B4-BE49-F238E27FC236}">
                <a16:creationId xmlns:a16="http://schemas.microsoft.com/office/drawing/2014/main" id="{A814A642-CC36-9EE4-5D96-BA7ED89E2A22}"/>
              </a:ext>
            </a:extLst>
          </p:cNvPr>
          <p:cNvSpPr/>
          <p:nvPr/>
        </p:nvSpPr>
        <p:spPr>
          <a:xfrm>
            <a:off x="1193814" y="5330952"/>
            <a:ext cx="9098582" cy="505734"/>
          </a:xfrm>
          <a:prstGeom prst="roundRect">
            <a:avLst/>
          </a:prstGeom>
          <a:ln/>
        </p:spPr>
        <p:style>
          <a:lnRef idx="1">
            <a:schemeClr val="accent2"/>
          </a:lnRef>
          <a:fillRef idx="2">
            <a:schemeClr val="accent2"/>
          </a:fillRef>
          <a:effectRef idx="1">
            <a:schemeClr val="accent2"/>
          </a:effectRef>
          <a:fontRef idx="minor">
            <a:schemeClr val="dk1"/>
          </a:fontRef>
        </p:style>
        <p:txBody>
          <a:bodyPr rtlCol="0" anchor="ctr"/>
          <a:lstStyle/>
          <a:p>
            <a:r>
              <a:rPr lang="es-CO" sz="1200" dirty="0"/>
              <a:t>Si la funcionalidad de multimoneda se encuentra activa no es posible configurar exenciones a </a:t>
            </a:r>
            <a:r>
              <a:rPr lang="es-CO" sz="1200" b="1" dirty="0"/>
              <a:t>NIVEL DE CÓDIGO DE CATEGORÍA</a:t>
            </a:r>
            <a:r>
              <a:rPr lang="es-CO" sz="1200" dirty="0"/>
              <a:t>.</a:t>
            </a:r>
          </a:p>
        </p:txBody>
      </p:sp>
      <p:pic>
        <p:nvPicPr>
          <p:cNvPr id="10" name="Imagen 9">
            <a:extLst>
              <a:ext uri="{FF2B5EF4-FFF2-40B4-BE49-F238E27FC236}">
                <a16:creationId xmlns:a16="http://schemas.microsoft.com/office/drawing/2014/main" id="{850821B4-E882-B998-8B60-D2BF4E5DEE1C}"/>
              </a:ext>
            </a:extLst>
          </p:cNvPr>
          <p:cNvPicPr>
            <a:picLocks noChangeAspect="1"/>
          </p:cNvPicPr>
          <p:nvPr/>
        </p:nvPicPr>
        <p:blipFill>
          <a:blip r:embed="rId3"/>
          <a:stretch>
            <a:fillRect/>
          </a:stretch>
        </p:blipFill>
        <p:spPr>
          <a:xfrm>
            <a:off x="1193814" y="3455030"/>
            <a:ext cx="9583200" cy="294637"/>
          </a:xfrm>
          <a:prstGeom prst="rect">
            <a:avLst/>
          </a:prstGeom>
        </p:spPr>
      </p:pic>
    </p:spTree>
    <p:extLst>
      <p:ext uri="{BB962C8B-B14F-4D97-AF65-F5344CB8AC3E}">
        <p14:creationId xmlns:p14="http://schemas.microsoft.com/office/powerpoint/2010/main" val="1422660383"/>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15761E-96F8-1C02-FECB-5ACD28984080}"/>
            </a:ext>
          </a:extLst>
        </p:cNvPr>
        <p:cNvGrpSpPr/>
        <p:nvPr/>
      </p:nvGrpSpPr>
      <p:grpSpPr>
        <a:xfrm>
          <a:off x="0" y="0"/>
          <a:ext cx="0" cy="0"/>
          <a:chOff x="0" y="0"/>
          <a:chExt cx="0" cy="0"/>
        </a:xfrm>
      </p:grpSpPr>
      <p:sp>
        <p:nvSpPr>
          <p:cNvPr id="3" name="Título 3">
            <a:extLst>
              <a:ext uri="{FF2B5EF4-FFF2-40B4-BE49-F238E27FC236}">
                <a16:creationId xmlns:a16="http://schemas.microsoft.com/office/drawing/2014/main" id="{CA3C1C80-AE35-4646-6BA9-C8B31966159D}"/>
              </a:ext>
            </a:extLst>
          </p:cNvPr>
          <p:cNvSpPr txBox="1">
            <a:spLocks/>
          </p:cNvSpPr>
          <p:nvPr/>
        </p:nvSpPr>
        <p:spPr>
          <a:xfrm>
            <a:off x="1124410" y="696546"/>
            <a:ext cx="9726573" cy="923857"/>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dirty="0">
                <a:solidFill>
                  <a:schemeClr val="accent1"/>
                </a:solidFill>
              </a:rPr>
              <a:t>Configuraciones: </a:t>
            </a:r>
            <a:r>
              <a:rPr lang="es-CO" sz="3200" dirty="0"/>
              <a:t>TSACONT Autorización de Contrato </a:t>
            </a:r>
            <a:r>
              <a:rPr lang="es-CO" sz="3200" b="0" dirty="0"/>
              <a:t>5/6</a:t>
            </a:r>
            <a:br>
              <a:rPr lang="es-ES_tradnl" sz="3200" b="0" dirty="0"/>
            </a:br>
            <a:endParaRPr lang="es-CL" b="0" dirty="0"/>
          </a:p>
        </p:txBody>
      </p:sp>
      <p:sp>
        <p:nvSpPr>
          <p:cNvPr id="4" name="Rectángulo redondeado 5">
            <a:extLst>
              <a:ext uri="{FF2B5EF4-FFF2-40B4-BE49-F238E27FC236}">
                <a16:creationId xmlns:a16="http://schemas.microsoft.com/office/drawing/2014/main" id="{9B4F3840-77F5-5D9E-3B08-9AB60FBAD4F6}"/>
              </a:ext>
            </a:extLst>
          </p:cNvPr>
          <p:cNvSpPr/>
          <p:nvPr/>
        </p:nvSpPr>
        <p:spPr>
          <a:xfrm>
            <a:off x="1267784" y="3914027"/>
            <a:ext cx="9583200" cy="859537"/>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O" sz="1200" dirty="0"/>
              <a:t>En esta sección, el contrato es configurado a nivel de </a:t>
            </a:r>
            <a:r>
              <a:rPr lang="es-CO" sz="1200" b="1" dirty="0"/>
              <a:t>CÓDIGO DE DETALLE, </a:t>
            </a:r>
            <a:r>
              <a:rPr lang="es-CO" sz="1200" dirty="0"/>
              <a:t>el cual corresponde a las transacciones consideradas dentro de la cuenta corriente para determinar el monto referencial de cargos que cubriría la asignación del contrato o convenio.</a:t>
            </a:r>
          </a:p>
        </p:txBody>
      </p:sp>
      <p:sp>
        <p:nvSpPr>
          <p:cNvPr id="8" name="Rectángulo redondeado 5">
            <a:extLst>
              <a:ext uri="{FF2B5EF4-FFF2-40B4-BE49-F238E27FC236}">
                <a16:creationId xmlns:a16="http://schemas.microsoft.com/office/drawing/2014/main" id="{7B588CC3-FD65-7C42-2576-9703191566F6}"/>
              </a:ext>
            </a:extLst>
          </p:cNvPr>
          <p:cNvSpPr/>
          <p:nvPr/>
        </p:nvSpPr>
        <p:spPr>
          <a:xfrm>
            <a:off x="1267783" y="5193791"/>
            <a:ext cx="6949702" cy="505734"/>
          </a:xfrm>
          <a:prstGeom prst="roundRect">
            <a:avLst/>
          </a:prstGeom>
          <a:ln/>
        </p:spPr>
        <p:style>
          <a:lnRef idx="1">
            <a:schemeClr val="accent2"/>
          </a:lnRef>
          <a:fillRef idx="2">
            <a:schemeClr val="accent2"/>
          </a:fillRef>
          <a:effectRef idx="1">
            <a:schemeClr val="accent2"/>
          </a:effectRef>
          <a:fontRef idx="minor">
            <a:schemeClr val="dk1"/>
          </a:fontRef>
        </p:style>
        <p:txBody>
          <a:bodyPr rtlCol="0" anchor="ctr"/>
          <a:lstStyle/>
          <a:p>
            <a:pPr algn="just"/>
            <a:r>
              <a:rPr lang="es-CO" sz="1200" dirty="0"/>
              <a:t>Dado el uso de la multidivisa, esta sección SI debe ser utilizada para la configuración de contratos.</a:t>
            </a:r>
          </a:p>
        </p:txBody>
      </p:sp>
      <p:pic>
        <p:nvPicPr>
          <p:cNvPr id="5" name="Imagen 4">
            <a:extLst>
              <a:ext uri="{FF2B5EF4-FFF2-40B4-BE49-F238E27FC236}">
                <a16:creationId xmlns:a16="http://schemas.microsoft.com/office/drawing/2014/main" id="{BDCD005C-E472-3BCB-AC00-BD5D9657ABF6}"/>
              </a:ext>
            </a:extLst>
          </p:cNvPr>
          <p:cNvPicPr>
            <a:picLocks noChangeAspect="1"/>
          </p:cNvPicPr>
          <p:nvPr/>
        </p:nvPicPr>
        <p:blipFill>
          <a:blip r:embed="rId2"/>
          <a:stretch>
            <a:fillRect/>
          </a:stretch>
        </p:blipFill>
        <p:spPr>
          <a:xfrm>
            <a:off x="1267783" y="1945706"/>
            <a:ext cx="9583200" cy="1548094"/>
          </a:xfrm>
          <a:prstGeom prst="rect">
            <a:avLst/>
          </a:prstGeom>
        </p:spPr>
      </p:pic>
    </p:spTree>
    <p:extLst>
      <p:ext uri="{BB962C8B-B14F-4D97-AF65-F5344CB8AC3E}">
        <p14:creationId xmlns:p14="http://schemas.microsoft.com/office/powerpoint/2010/main" val="3501651959"/>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28605C-C53E-06BB-D989-0798C96E2E78}"/>
            </a:ext>
          </a:extLst>
        </p:cNvPr>
        <p:cNvGrpSpPr/>
        <p:nvPr/>
      </p:nvGrpSpPr>
      <p:grpSpPr>
        <a:xfrm>
          <a:off x="0" y="0"/>
          <a:ext cx="0" cy="0"/>
          <a:chOff x="0" y="0"/>
          <a:chExt cx="0" cy="0"/>
        </a:xfrm>
      </p:grpSpPr>
      <p:sp>
        <p:nvSpPr>
          <p:cNvPr id="3" name="Título 3">
            <a:extLst>
              <a:ext uri="{FF2B5EF4-FFF2-40B4-BE49-F238E27FC236}">
                <a16:creationId xmlns:a16="http://schemas.microsoft.com/office/drawing/2014/main" id="{E8BF6A6E-50E1-A591-771F-8A4E1E40563A}"/>
              </a:ext>
            </a:extLst>
          </p:cNvPr>
          <p:cNvSpPr txBox="1">
            <a:spLocks/>
          </p:cNvSpPr>
          <p:nvPr/>
        </p:nvSpPr>
        <p:spPr>
          <a:xfrm>
            <a:off x="1168704" y="820972"/>
            <a:ext cx="9682279" cy="898100"/>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dirty="0">
                <a:solidFill>
                  <a:schemeClr val="accent1"/>
                </a:solidFill>
              </a:rPr>
              <a:t>Configuraciones: </a:t>
            </a:r>
            <a:r>
              <a:rPr lang="es-CO" sz="3200" dirty="0"/>
              <a:t>TSACONT Autorización de Contrato </a:t>
            </a:r>
            <a:r>
              <a:rPr lang="es-CO" sz="3200" b="0" dirty="0"/>
              <a:t>5/6</a:t>
            </a:r>
            <a:br>
              <a:rPr lang="es-ES_tradnl" sz="3200" b="0" dirty="0"/>
            </a:br>
            <a:endParaRPr lang="es-CL" b="0" dirty="0"/>
          </a:p>
        </p:txBody>
      </p:sp>
      <p:sp>
        <p:nvSpPr>
          <p:cNvPr id="4" name="Rectángulo redondeado 5">
            <a:extLst>
              <a:ext uri="{FF2B5EF4-FFF2-40B4-BE49-F238E27FC236}">
                <a16:creationId xmlns:a16="http://schemas.microsoft.com/office/drawing/2014/main" id="{447CB334-25CF-4B88-C4E1-7BB2A5611795}"/>
              </a:ext>
            </a:extLst>
          </p:cNvPr>
          <p:cNvSpPr/>
          <p:nvPr/>
        </p:nvSpPr>
        <p:spPr>
          <a:xfrm>
            <a:off x="1267784" y="3856489"/>
            <a:ext cx="9583200" cy="1563624"/>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 sz="1200" dirty="0"/>
              <a:t>Adicional al código de detalle referido se configura: </a:t>
            </a:r>
          </a:p>
          <a:p>
            <a:endParaRPr lang="es-ES" sz="1200" dirty="0"/>
          </a:p>
          <a:p>
            <a:pPr marL="171450" indent="-171450">
              <a:buFont typeface="Arial" panose="020B0604020202020204" pitchFamily="34" charset="0"/>
              <a:buChar char="•"/>
            </a:pPr>
            <a:r>
              <a:rPr lang="es-ES" sz="1200" dirty="0"/>
              <a:t>El campo “Prioridad” define el orden de aplicación en la cuenta corriente.</a:t>
            </a:r>
          </a:p>
          <a:p>
            <a:pPr marL="171450" indent="-171450">
              <a:buFont typeface="Arial" panose="020B0604020202020204" pitchFamily="34" charset="0"/>
              <a:buChar char="•"/>
            </a:pPr>
            <a:r>
              <a:rPr lang="es-ES" sz="1200" dirty="0"/>
              <a:t>El campo “Porcentaje” indica que cobertura tendría el contrato o convenio.</a:t>
            </a:r>
          </a:p>
          <a:p>
            <a:pPr marL="171450" indent="-171450">
              <a:buFont typeface="Arial" panose="020B0604020202020204" pitchFamily="34" charset="0"/>
              <a:buChar char="•"/>
            </a:pPr>
            <a:r>
              <a:rPr lang="es-ES" sz="1200" dirty="0"/>
              <a:t>El campo “Monto mínimo se registra para activar la asignación y el Monto máximo que el pago podría cubrir. </a:t>
            </a:r>
          </a:p>
          <a:p>
            <a:pPr marL="171450" indent="-171450">
              <a:buFont typeface="Arial" panose="020B0604020202020204" pitchFamily="34" charset="0"/>
              <a:buChar char="•"/>
            </a:pPr>
            <a:r>
              <a:rPr lang="es-ES" sz="1200" dirty="0"/>
              <a:t>El campo “Indicador de origen” deberá poseer la letra A (“</a:t>
            </a:r>
            <a:r>
              <a:rPr lang="es-ES" sz="1200" dirty="0" err="1"/>
              <a:t>All</a:t>
            </a:r>
            <a:r>
              <a:rPr lang="es-ES" sz="1200" dirty="0"/>
              <a:t>”) para considerar así todos los orígenes posibles de la cuenta corriente. </a:t>
            </a:r>
          </a:p>
        </p:txBody>
      </p:sp>
      <p:pic>
        <p:nvPicPr>
          <p:cNvPr id="6" name="Imagen 5">
            <a:extLst>
              <a:ext uri="{FF2B5EF4-FFF2-40B4-BE49-F238E27FC236}">
                <a16:creationId xmlns:a16="http://schemas.microsoft.com/office/drawing/2014/main" id="{81A0186B-7956-8C8D-C267-B3F6055FEE88}"/>
              </a:ext>
            </a:extLst>
          </p:cNvPr>
          <p:cNvPicPr>
            <a:picLocks noChangeAspect="1"/>
          </p:cNvPicPr>
          <p:nvPr/>
        </p:nvPicPr>
        <p:blipFill>
          <a:blip r:embed="rId2"/>
          <a:stretch>
            <a:fillRect/>
          </a:stretch>
        </p:blipFill>
        <p:spPr>
          <a:xfrm>
            <a:off x="1267783" y="1937687"/>
            <a:ext cx="9583200" cy="1613014"/>
          </a:xfrm>
          <a:prstGeom prst="rect">
            <a:avLst/>
          </a:prstGeom>
        </p:spPr>
      </p:pic>
    </p:spTree>
    <p:extLst>
      <p:ext uri="{BB962C8B-B14F-4D97-AF65-F5344CB8AC3E}">
        <p14:creationId xmlns:p14="http://schemas.microsoft.com/office/powerpoint/2010/main" val="1128858631"/>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817692-B9DE-12E8-FABA-0901E461CE91}"/>
            </a:ext>
          </a:extLst>
        </p:cNvPr>
        <p:cNvGrpSpPr/>
        <p:nvPr/>
      </p:nvGrpSpPr>
      <p:grpSpPr>
        <a:xfrm>
          <a:off x="0" y="0"/>
          <a:ext cx="0" cy="0"/>
          <a:chOff x="0" y="0"/>
          <a:chExt cx="0" cy="0"/>
        </a:xfrm>
      </p:grpSpPr>
      <p:sp>
        <p:nvSpPr>
          <p:cNvPr id="3" name="Título 3">
            <a:extLst>
              <a:ext uri="{FF2B5EF4-FFF2-40B4-BE49-F238E27FC236}">
                <a16:creationId xmlns:a16="http://schemas.microsoft.com/office/drawing/2014/main" id="{D370700A-0FE0-315F-0D51-CEC3753DFC3B}"/>
              </a:ext>
            </a:extLst>
          </p:cNvPr>
          <p:cNvSpPr txBox="1">
            <a:spLocks/>
          </p:cNvSpPr>
          <p:nvPr/>
        </p:nvSpPr>
        <p:spPr>
          <a:xfrm>
            <a:off x="1106163" y="694509"/>
            <a:ext cx="9781437" cy="951411"/>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dirty="0">
                <a:solidFill>
                  <a:schemeClr val="accent1"/>
                </a:solidFill>
              </a:rPr>
              <a:t>Configuraciones: </a:t>
            </a:r>
            <a:r>
              <a:rPr lang="es-CO" sz="3200" dirty="0"/>
              <a:t>TSACONT Autorización de Contrato </a:t>
            </a:r>
            <a:r>
              <a:rPr lang="es-CO" sz="3200" b="0" dirty="0"/>
              <a:t>5/6</a:t>
            </a:r>
            <a:br>
              <a:rPr lang="es-ES_tradnl" sz="3200" b="0" dirty="0"/>
            </a:br>
            <a:endParaRPr lang="es-CL" b="0" dirty="0"/>
          </a:p>
        </p:txBody>
      </p:sp>
      <p:sp>
        <p:nvSpPr>
          <p:cNvPr id="4" name="Rectángulo redondeado 5">
            <a:extLst>
              <a:ext uri="{FF2B5EF4-FFF2-40B4-BE49-F238E27FC236}">
                <a16:creationId xmlns:a16="http://schemas.microsoft.com/office/drawing/2014/main" id="{6EFF84BB-D742-9892-57A7-09716C67B8C5}"/>
              </a:ext>
            </a:extLst>
          </p:cNvPr>
          <p:cNvSpPr/>
          <p:nvPr/>
        </p:nvSpPr>
        <p:spPr>
          <a:xfrm>
            <a:off x="1304400" y="3941064"/>
            <a:ext cx="9583200" cy="877824"/>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dirty="0"/>
              <a:t>La última sección posee el listado de estudiantes a quienes se le estaría asignando el contrato o convenio configurado, para ello es obligatorio ingresar el ID del estudiante y, según corresponda, configurar los demás campos opcionales. El </a:t>
            </a:r>
            <a:r>
              <a:rPr lang="es-CO" sz="1200" dirty="0" err="1"/>
              <a:t>check</a:t>
            </a:r>
            <a:r>
              <a:rPr lang="es-CO" sz="1200" dirty="0"/>
              <a:t> </a:t>
            </a:r>
            <a:r>
              <a:rPr lang="es-CO" sz="1200" b="1" dirty="0"/>
              <a:t>PASAR</a:t>
            </a:r>
            <a:r>
              <a:rPr lang="es-CO" sz="1200" dirty="0"/>
              <a:t> solo estará habilitado cuando la configuración general de contrato permita el paso de estudiantes de un periodo académico a otro.</a:t>
            </a:r>
          </a:p>
        </p:txBody>
      </p:sp>
      <p:pic>
        <p:nvPicPr>
          <p:cNvPr id="5" name="Imagen 4">
            <a:extLst>
              <a:ext uri="{FF2B5EF4-FFF2-40B4-BE49-F238E27FC236}">
                <a16:creationId xmlns:a16="http://schemas.microsoft.com/office/drawing/2014/main" id="{CF89C4D2-F67D-4814-ABF3-81ECBB7F38B1}"/>
              </a:ext>
            </a:extLst>
          </p:cNvPr>
          <p:cNvPicPr>
            <a:picLocks noChangeAspect="1"/>
          </p:cNvPicPr>
          <p:nvPr/>
        </p:nvPicPr>
        <p:blipFill>
          <a:blip r:embed="rId2"/>
          <a:stretch>
            <a:fillRect/>
          </a:stretch>
        </p:blipFill>
        <p:spPr>
          <a:xfrm>
            <a:off x="1304400" y="1875913"/>
            <a:ext cx="9583200" cy="1553087"/>
          </a:xfrm>
          <a:prstGeom prst="rect">
            <a:avLst/>
          </a:prstGeom>
        </p:spPr>
      </p:pic>
    </p:spTree>
    <p:extLst>
      <p:ext uri="{BB962C8B-B14F-4D97-AF65-F5344CB8AC3E}">
        <p14:creationId xmlns:p14="http://schemas.microsoft.com/office/powerpoint/2010/main" val="3020268808"/>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ABC5AB-03F4-2038-8B81-E88C7F2D05EC}"/>
            </a:ext>
          </a:extLst>
        </p:cNvPr>
        <p:cNvGrpSpPr/>
        <p:nvPr/>
      </p:nvGrpSpPr>
      <p:grpSpPr>
        <a:xfrm>
          <a:off x="0" y="0"/>
          <a:ext cx="0" cy="0"/>
          <a:chOff x="0" y="0"/>
          <a:chExt cx="0" cy="0"/>
        </a:xfrm>
      </p:grpSpPr>
      <p:sp>
        <p:nvSpPr>
          <p:cNvPr id="3" name="Título 3">
            <a:extLst>
              <a:ext uri="{FF2B5EF4-FFF2-40B4-BE49-F238E27FC236}">
                <a16:creationId xmlns:a16="http://schemas.microsoft.com/office/drawing/2014/main" id="{B53BB776-71D5-86C8-AB79-BF474FE449D4}"/>
              </a:ext>
            </a:extLst>
          </p:cNvPr>
          <p:cNvSpPr txBox="1">
            <a:spLocks/>
          </p:cNvSpPr>
          <p:nvPr/>
        </p:nvSpPr>
        <p:spPr>
          <a:xfrm>
            <a:off x="1106122" y="814473"/>
            <a:ext cx="9744861" cy="872947"/>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dirty="0">
                <a:solidFill>
                  <a:schemeClr val="accent1"/>
                </a:solidFill>
              </a:rPr>
              <a:t>Configuraciones: </a:t>
            </a:r>
            <a:r>
              <a:rPr lang="es-CO" sz="3200" dirty="0"/>
              <a:t>TSACONT Autorización de Contrato </a:t>
            </a:r>
            <a:r>
              <a:rPr lang="es-CO" sz="3200" b="0" dirty="0"/>
              <a:t>6/6</a:t>
            </a:r>
            <a:br>
              <a:rPr lang="es-ES_tradnl" sz="3200" b="0" dirty="0"/>
            </a:br>
            <a:endParaRPr lang="es-CL" b="0" dirty="0"/>
          </a:p>
        </p:txBody>
      </p:sp>
      <p:sp>
        <p:nvSpPr>
          <p:cNvPr id="4" name="Rectángulo redondeado 5">
            <a:extLst>
              <a:ext uri="{FF2B5EF4-FFF2-40B4-BE49-F238E27FC236}">
                <a16:creationId xmlns:a16="http://schemas.microsoft.com/office/drawing/2014/main" id="{4C41B3C2-37CA-6DE9-184A-49B11B09C1E1}"/>
              </a:ext>
            </a:extLst>
          </p:cNvPr>
          <p:cNvSpPr/>
          <p:nvPr/>
        </p:nvSpPr>
        <p:spPr>
          <a:xfrm>
            <a:off x="1174778" y="3721608"/>
            <a:ext cx="9676206" cy="208711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171450" indent="-171450">
              <a:buFont typeface="Arial" panose="020B0604020202020204" pitchFamily="34" charset="0"/>
              <a:buChar char="•"/>
            </a:pPr>
            <a:r>
              <a:rPr lang="es-CO" sz="1200" dirty="0"/>
              <a:t>El campo periodo de expiración se refiere al último periodo académico en el cual el estudiante contaría con el cargo por concepto de contrato o convenio en cuestión, bajo el supuesto que dicho beneficio es rolado periodo a periodo. </a:t>
            </a:r>
          </a:p>
          <a:p>
            <a:pPr marL="171450" indent="-171450">
              <a:buFont typeface="Arial" panose="020B0604020202020204" pitchFamily="34" charset="0"/>
              <a:buChar char="•"/>
            </a:pPr>
            <a:r>
              <a:rPr lang="es-CO" sz="1200" dirty="0"/>
              <a:t>Autorizar: Indicador de autorización. Puede autorizar a los alumnos para un contrato de la siguiente manera: Individualmente por el campo Autorizar. - Universalmente, para todos los alumnos en el contrato seleccionando Autorización automática en el menú de opciones. </a:t>
            </a:r>
          </a:p>
          <a:p>
            <a:pPr marL="171450" indent="-171450">
              <a:buFont typeface="Arial" panose="020B0604020202020204" pitchFamily="34" charset="0"/>
              <a:buChar char="•"/>
            </a:pPr>
            <a:r>
              <a:rPr lang="es-CO" sz="1200" dirty="0"/>
              <a:t>Número de autorización: El número de autorización emitido por el tercero.</a:t>
            </a:r>
          </a:p>
          <a:p>
            <a:pPr marL="171450" indent="-171450">
              <a:buFont typeface="Arial" panose="020B0604020202020204" pitchFamily="34" charset="0"/>
              <a:buChar char="•"/>
            </a:pPr>
            <a:r>
              <a:rPr lang="es-CO" sz="1200" dirty="0"/>
              <a:t>El campo de prioridad es obligatorio y se aplica para el caso que el estudiante goce de más de un pago con contrato y/o convenio por periodo, representando el orden en el cual dichos pagos serían aplicados sobre la cuenta corriente.</a:t>
            </a:r>
          </a:p>
          <a:p>
            <a:pPr marL="171450" indent="-171450">
              <a:buFont typeface="Arial" panose="020B0604020202020204" pitchFamily="34" charset="0"/>
              <a:buChar char="•"/>
            </a:pPr>
            <a:r>
              <a:rPr lang="es-CO" sz="1200" dirty="0"/>
              <a:t>Monto máximo correspondería al monto máximo que este estudiante en particular podría recibir, su definición no posee validaciones respecto a la configuración porcentual o el monto máximo configurado para el contrato o convenio, esto último se genera en el proceso de aplicación.</a:t>
            </a:r>
          </a:p>
        </p:txBody>
      </p:sp>
      <p:pic>
        <p:nvPicPr>
          <p:cNvPr id="6" name="Imagen 5">
            <a:extLst>
              <a:ext uri="{FF2B5EF4-FFF2-40B4-BE49-F238E27FC236}">
                <a16:creationId xmlns:a16="http://schemas.microsoft.com/office/drawing/2014/main" id="{2615CBDB-AFB9-4DDB-1446-38516E0E6081}"/>
              </a:ext>
            </a:extLst>
          </p:cNvPr>
          <p:cNvPicPr>
            <a:picLocks noChangeAspect="1"/>
          </p:cNvPicPr>
          <p:nvPr/>
        </p:nvPicPr>
        <p:blipFill>
          <a:blip r:embed="rId2"/>
          <a:stretch>
            <a:fillRect/>
          </a:stretch>
        </p:blipFill>
        <p:spPr>
          <a:xfrm>
            <a:off x="1267783" y="1980028"/>
            <a:ext cx="9583200" cy="1448972"/>
          </a:xfrm>
          <a:prstGeom prst="rect">
            <a:avLst/>
          </a:prstGeom>
        </p:spPr>
      </p:pic>
    </p:spTree>
    <p:extLst>
      <p:ext uri="{BB962C8B-B14F-4D97-AF65-F5344CB8AC3E}">
        <p14:creationId xmlns:p14="http://schemas.microsoft.com/office/powerpoint/2010/main" val="3029795595"/>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33A87F-BAEC-CDF4-AEF0-547E3983A0EE}"/>
            </a:ext>
          </a:extLst>
        </p:cNvPr>
        <p:cNvGrpSpPr/>
        <p:nvPr/>
      </p:nvGrpSpPr>
      <p:grpSpPr>
        <a:xfrm>
          <a:off x="0" y="0"/>
          <a:ext cx="0" cy="0"/>
          <a:chOff x="0" y="0"/>
          <a:chExt cx="0" cy="0"/>
        </a:xfrm>
      </p:grpSpPr>
      <p:sp>
        <p:nvSpPr>
          <p:cNvPr id="3" name="Título 3">
            <a:extLst>
              <a:ext uri="{FF2B5EF4-FFF2-40B4-BE49-F238E27FC236}">
                <a16:creationId xmlns:a16="http://schemas.microsoft.com/office/drawing/2014/main" id="{5DAD8721-AC3E-98E2-562F-F4CBD78B32E9}"/>
              </a:ext>
            </a:extLst>
          </p:cNvPr>
          <p:cNvSpPr txBox="1">
            <a:spLocks/>
          </p:cNvSpPr>
          <p:nvPr/>
        </p:nvSpPr>
        <p:spPr>
          <a:xfrm>
            <a:off x="1197562" y="582996"/>
            <a:ext cx="9690037" cy="836311"/>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dirty="0">
                <a:solidFill>
                  <a:schemeClr val="accent1"/>
                </a:solidFill>
              </a:rPr>
              <a:t>Configuraciones: </a:t>
            </a:r>
            <a:r>
              <a:rPr lang="es-CO" sz="3200" dirty="0"/>
              <a:t>TSACONT Autorización de Contrato </a:t>
            </a:r>
            <a:r>
              <a:rPr lang="es-CO" sz="3200" b="0" dirty="0"/>
              <a:t>6/6</a:t>
            </a:r>
            <a:br>
              <a:rPr lang="es-ES_tradnl" sz="3200" b="0" dirty="0"/>
            </a:br>
            <a:endParaRPr lang="es-CL" b="0" dirty="0"/>
          </a:p>
        </p:txBody>
      </p:sp>
      <p:sp>
        <p:nvSpPr>
          <p:cNvPr id="4" name="Rectángulo redondeado 5">
            <a:extLst>
              <a:ext uri="{FF2B5EF4-FFF2-40B4-BE49-F238E27FC236}">
                <a16:creationId xmlns:a16="http://schemas.microsoft.com/office/drawing/2014/main" id="{F1744C53-2A2F-0271-414C-39D73AC88D14}"/>
              </a:ext>
            </a:extLst>
          </p:cNvPr>
          <p:cNvSpPr/>
          <p:nvPr/>
        </p:nvSpPr>
        <p:spPr>
          <a:xfrm>
            <a:off x="1304400" y="3705700"/>
            <a:ext cx="9583200" cy="202310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171450" indent="-171450">
              <a:buFont typeface="Arial" panose="020B0604020202020204" pitchFamily="34" charset="0"/>
              <a:buChar char="•"/>
            </a:pPr>
            <a:r>
              <a:rPr lang="es-CO" sz="1200" dirty="0"/>
              <a:t>El campo “Texto” actualmente se encuentra deshabilitado. </a:t>
            </a:r>
          </a:p>
          <a:p>
            <a:pPr marL="171450" indent="-171450">
              <a:buFont typeface="Arial" panose="020B0604020202020204" pitchFamily="34" charset="0"/>
              <a:buChar char="•"/>
            </a:pPr>
            <a:endParaRPr lang="es-CO" sz="1200" dirty="0"/>
          </a:p>
          <a:p>
            <a:pPr marL="171450" indent="-171450">
              <a:buFont typeface="Arial" panose="020B0604020202020204" pitchFamily="34" charset="0"/>
              <a:buChar char="•"/>
            </a:pPr>
            <a:r>
              <a:rPr lang="es-CO" sz="1200" dirty="0"/>
              <a:t>El campo “Número de referencia de patrocinador” es un campo alfa numérico de hasta 30 parámetros destinado a referenciar el posible patrocinador si así fuera requerido. </a:t>
            </a:r>
          </a:p>
          <a:p>
            <a:pPr marL="171450" indent="-171450">
              <a:buFont typeface="Arial" panose="020B0604020202020204" pitchFamily="34" charset="0"/>
              <a:buChar char="•"/>
            </a:pPr>
            <a:endParaRPr lang="es-CO" sz="1200" dirty="0"/>
          </a:p>
          <a:p>
            <a:pPr marL="171450" indent="-171450">
              <a:buFont typeface="Arial" panose="020B0604020202020204" pitchFamily="34" charset="0"/>
              <a:buChar char="•"/>
            </a:pPr>
            <a:r>
              <a:rPr lang="es-CO" sz="1200" dirty="0"/>
              <a:t>El “Plan de Estudios” es un campo opcional que hace referencia al plan de estudios del estudiante, dentro del periodo académico configurado y del cual se estaría relacionando la asignación del contrato o convenio. </a:t>
            </a:r>
          </a:p>
          <a:p>
            <a:endParaRPr lang="es-CO" sz="1200" dirty="0"/>
          </a:p>
          <a:p>
            <a:pPr marL="171450" indent="-171450">
              <a:buFont typeface="Arial" panose="020B0604020202020204" pitchFamily="34" charset="0"/>
              <a:buChar char="•"/>
            </a:pPr>
            <a:r>
              <a:rPr lang="es-CO" sz="1200" dirty="0"/>
              <a:t>El campo “Nombre del plan de estudios” muestra la descripción del campo anterior, por lo cual no es editable en este apartado.</a:t>
            </a:r>
          </a:p>
        </p:txBody>
      </p:sp>
      <p:pic>
        <p:nvPicPr>
          <p:cNvPr id="5" name="Imagen 4">
            <a:extLst>
              <a:ext uri="{FF2B5EF4-FFF2-40B4-BE49-F238E27FC236}">
                <a16:creationId xmlns:a16="http://schemas.microsoft.com/office/drawing/2014/main" id="{40E9A932-FA36-2A5B-9D63-0A682267FAA9}"/>
              </a:ext>
            </a:extLst>
          </p:cNvPr>
          <p:cNvPicPr>
            <a:picLocks noChangeAspect="1"/>
          </p:cNvPicPr>
          <p:nvPr/>
        </p:nvPicPr>
        <p:blipFill>
          <a:blip r:embed="rId2"/>
          <a:stretch>
            <a:fillRect/>
          </a:stretch>
        </p:blipFill>
        <p:spPr>
          <a:xfrm>
            <a:off x="1304399" y="1840892"/>
            <a:ext cx="9583200" cy="1443223"/>
          </a:xfrm>
          <a:prstGeom prst="rect">
            <a:avLst/>
          </a:prstGeom>
        </p:spPr>
      </p:pic>
    </p:spTree>
    <p:extLst>
      <p:ext uri="{BB962C8B-B14F-4D97-AF65-F5344CB8AC3E}">
        <p14:creationId xmlns:p14="http://schemas.microsoft.com/office/powerpoint/2010/main" val="4166723588"/>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245F75-6525-C0DB-575D-53CF95450587}"/>
            </a:ext>
          </a:extLst>
        </p:cNvPr>
        <p:cNvGrpSpPr/>
        <p:nvPr/>
      </p:nvGrpSpPr>
      <p:grpSpPr>
        <a:xfrm>
          <a:off x="0" y="0"/>
          <a:ext cx="0" cy="0"/>
          <a:chOff x="0" y="0"/>
          <a:chExt cx="0" cy="0"/>
        </a:xfrm>
      </p:grpSpPr>
      <p:sp>
        <p:nvSpPr>
          <p:cNvPr id="3" name="Título 3">
            <a:extLst>
              <a:ext uri="{FF2B5EF4-FFF2-40B4-BE49-F238E27FC236}">
                <a16:creationId xmlns:a16="http://schemas.microsoft.com/office/drawing/2014/main" id="{894CD09F-41AE-9919-058C-13BC6DD41CD9}"/>
              </a:ext>
            </a:extLst>
          </p:cNvPr>
          <p:cNvSpPr txBox="1">
            <a:spLocks/>
          </p:cNvSpPr>
          <p:nvPr/>
        </p:nvSpPr>
        <p:spPr>
          <a:xfrm>
            <a:off x="1158817" y="922469"/>
            <a:ext cx="9874363" cy="61691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dirty="0">
                <a:solidFill>
                  <a:schemeClr val="accent1"/>
                </a:solidFill>
              </a:rPr>
              <a:t>Configuraciones: </a:t>
            </a:r>
            <a:r>
              <a:rPr lang="es-CO" sz="3200" dirty="0"/>
              <a:t>TSACONT Autorización de Contrato </a:t>
            </a:r>
            <a:r>
              <a:rPr lang="es-CO" sz="3200" b="0" dirty="0"/>
              <a:t>6/6</a:t>
            </a:r>
            <a:br>
              <a:rPr lang="es-ES_tradnl" sz="3200" b="0" dirty="0"/>
            </a:br>
            <a:endParaRPr lang="es-CL" b="0" dirty="0"/>
          </a:p>
        </p:txBody>
      </p:sp>
      <p:sp>
        <p:nvSpPr>
          <p:cNvPr id="4" name="Rectángulo redondeado 5">
            <a:extLst>
              <a:ext uri="{FF2B5EF4-FFF2-40B4-BE49-F238E27FC236}">
                <a16:creationId xmlns:a16="http://schemas.microsoft.com/office/drawing/2014/main" id="{D34A2395-9179-1B94-463B-F3A104E860C3}"/>
              </a:ext>
            </a:extLst>
          </p:cNvPr>
          <p:cNvSpPr/>
          <p:nvPr/>
        </p:nvSpPr>
        <p:spPr>
          <a:xfrm>
            <a:off x="1304400" y="3794760"/>
            <a:ext cx="9583200" cy="877824"/>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 sz="1200" dirty="0"/>
              <a:t>Es importante mencionar que en este punto de la configuración el estudiante solo sería asignado al contrato y/o convenio, pero esto no implica que dicho Pago se vea reflejado en su cuenta corriente, para ello posteriormente se debe ejecutar el proceso </a:t>
            </a:r>
            <a:r>
              <a:rPr lang="es-ES" sz="1200" b="1" dirty="0"/>
              <a:t>TSASPAY o TSRSBIL </a:t>
            </a:r>
            <a:r>
              <a:rPr lang="es-ES" sz="1200" dirty="0"/>
              <a:t>generando así la “aplicación del contrato o convenio”.</a:t>
            </a:r>
            <a:endParaRPr lang="es-CL" sz="1200" dirty="0"/>
          </a:p>
        </p:txBody>
      </p:sp>
      <p:pic>
        <p:nvPicPr>
          <p:cNvPr id="6" name="Imagen 5">
            <a:extLst>
              <a:ext uri="{FF2B5EF4-FFF2-40B4-BE49-F238E27FC236}">
                <a16:creationId xmlns:a16="http://schemas.microsoft.com/office/drawing/2014/main" id="{7578BD6E-24A9-3C54-A6C7-102726F6607D}"/>
              </a:ext>
            </a:extLst>
          </p:cNvPr>
          <p:cNvPicPr>
            <a:picLocks noChangeAspect="1"/>
          </p:cNvPicPr>
          <p:nvPr/>
        </p:nvPicPr>
        <p:blipFill>
          <a:blip r:embed="rId2"/>
          <a:stretch>
            <a:fillRect/>
          </a:stretch>
        </p:blipFill>
        <p:spPr>
          <a:xfrm>
            <a:off x="1304399" y="2030721"/>
            <a:ext cx="9583200" cy="1398279"/>
          </a:xfrm>
          <a:prstGeom prst="rect">
            <a:avLst/>
          </a:prstGeom>
        </p:spPr>
      </p:pic>
    </p:spTree>
    <p:extLst>
      <p:ext uri="{BB962C8B-B14F-4D97-AF65-F5344CB8AC3E}">
        <p14:creationId xmlns:p14="http://schemas.microsoft.com/office/powerpoint/2010/main" val="415344131"/>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F4DBA4-582A-1FC6-426A-1AF5A7E05546}"/>
            </a:ext>
          </a:extLst>
        </p:cNvPr>
        <p:cNvGrpSpPr/>
        <p:nvPr/>
      </p:nvGrpSpPr>
      <p:grpSpPr>
        <a:xfrm>
          <a:off x="0" y="0"/>
          <a:ext cx="0" cy="0"/>
          <a:chOff x="0" y="0"/>
          <a:chExt cx="0" cy="0"/>
        </a:xfrm>
      </p:grpSpPr>
      <p:sp>
        <p:nvSpPr>
          <p:cNvPr id="3" name="Título 3">
            <a:extLst>
              <a:ext uri="{FF2B5EF4-FFF2-40B4-BE49-F238E27FC236}">
                <a16:creationId xmlns:a16="http://schemas.microsoft.com/office/drawing/2014/main" id="{9255EB70-6A72-7447-1B31-F15F8FCB6FE8}"/>
              </a:ext>
            </a:extLst>
          </p:cNvPr>
          <p:cNvSpPr txBox="1">
            <a:spLocks/>
          </p:cNvSpPr>
          <p:nvPr/>
        </p:nvSpPr>
        <p:spPr>
          <a:xfrm>
            <a:off x="1123071" y="926945"/>
            <a:ext cx="9727912" cy="883567"/>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dirty="0">
                <a:solidFill>
                  <a:schemeClr val="accent1"/>
                </a:solidFill>
              </a:rPr>
              <a:t>Configuraciones: </a:t>
            </a:r>
            <a:r>
              <a:rPr lang="es-CO" sz="3200" dirty="0"/>
              <a:t>TSACONT Autorización de Contrato </a:t>
            </a:r>
            <a:r>
              <a:rPr lang="es-CO" sz="3200" b="0" dirty="0"/>
              <a:t>6/6</a:t>
            </a:r>
            <a:br>
              <a:rPr lang="es-ES_tradnl" sz="3200" b="0" dirty="0"/>
            </a:br>
            <a:endParaRPr lang="es-CL" b="0" dirty="0"/>
          </a:p>
        </p:txBody>
      </p:sp>
      <p:sp>
        <p:nvSpPr>
          <p:cNvPr id="4" name="Rectángulo redondeado 5">
            <a:extLst>
              <a:ext uri="{FF2B5EF4-FFF2-40B4-BE49-F238E27FC236}">
                <a16:creationId xmlns:a16="http://schemas.microsoft.com/office/drawing/2014/main" id="{DB4435D4-05C3-A42F-F1BC-8FDE67F9D7AE}"/>
              </a:ext>
            </a:extLst>
          </p:cNvPr>
          <p:cNvSpPr/>
          <p:nvPr/>
        </p:nvSpPr>
        <p:spPr>
          <a:xfrm>
            <a:off x="1267784" y="4092244"/>
            <a:ext cx="9583200" cy="616915"/>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dirty="0"/>
              <a:t>Para desaplicar el Pago por concepto de contrato y/o convenio, en el campo “Eliminar” se debe asignar el parámetro </a:t>
            </a:r>
            <a:r>
              <a:rPr lang="es-CO" sz="1200" b="1" dirty="0"/>
              <a:t>‘D’. </a:t>
            </a:r>
            <a:r>
              <a:rPr lang="es-CO" sz="1200" dirty="0"/>
              <a:t>Si el beneficio fue previamente aplicado, se debe volver a ejecutar los procesos </a:t>
            </a:r>
            <a:r>
              <a:rPr lang="es-CO" sz="1200" b="1" dirty="0"/>
              <a:t>TSASPAY o TSRSBIL </a:t>
            </a:r>
            <a:r>
              <a:rPr lang="es-CO" sz="1200" dirty="0"/>
              <a:t>para desaplicar el Pago en el estado de cuenta del estudiante. </a:t>
            </a:r>
          </a:p>
        </p:txBody>
      </p:sp>
      <p:pic>
        <p:nvPicPr>
          <p:cNvPr id="5" name="Imagen 4">
            <a:extLst>
              <a:ext uri="{FF2B5EF4-FFF2-40B4-BE49-F238E27FC236}">
                <a16:creationId xmlns:a16="http://schemas.microsoft.com/office/drawing/2014/main" id="{D1BEC751-36E0-4B9D-FA6B-F1E7C3024BB3}"/>
              </a:ext>
            </a:extLst>
          </p:cNvPr>
          <p:cNvPicPr>
            <a:picLocks noChangeAspect="1"/>
          </p:cNvPicPr>
          <p:nvPr/>
        </p:nvPicPr>
        <p:blipFill>
          <a:blip r:embed="rId2"/>
          <a:stretch>
            <a:fillRect/>
          </a:stretch>
        </p:blipFill>
        <p:spPr>
          <a:xfrm>
            <a:off x="1267783" y="2118913"/>
            <a:ext cx="9583200" cy="1398278"/>
          </a:xfrm>
          <a:prstGeom prst="rect">
            <a:avLst/>
          </a:prstGeom>
        </p:spPr>
      </p:pic>
    </p:spTree>
    <p:extLst>
      <p:ext uri="{BB962C8B-B14F-4D97-AF65-F5344CB8AC3E}">
        <p14:creationId xmlns:p14="http://schemas.microsoft.com/office/powerpoint/2010/main" val="250292921"/>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35593A-DBD2-A018-2281-025BDF4D66F4}"/>
            </a:ext>
          </a:extLst>
        </p:cNvPr>
        <p:cNvGrpSpPr/>
        <p:nvPr/>
      </p:nvGrpSpPr>
      <p:grpSpPr>
        <a:xfrm>
          <a:off x="0" y="0"/>
          <a:ext cx="0" cy="0"/>
          <a:chOff x="0" y="0"/>
          <a:chExt cx="0" cy="0"/>
        </a:xfrm>
      </p:grpSpPr>
      <p:sp>
        <p:nvSpPr>
          <p:cNvPr id="3" name="Título 3">
            <a:extLst>
              <a:ext uri="{FF2B5EF4-FFF2-40B4-BE49-F238E27FC236}">
                <a16:creationId xmlns:a16="http://schemas.microsoft.com/office/drawing/2014/main" id="{5B2A18BD-A501-A2DE-9C36-5A124B14DCEE}"/>
              </a:ext>
            </a:extLst>
          </p:cNvPr>
          <p:cNvSpPr txBox="1">
            <a:spLocks/>
          </p:cNvSpPr>
          <p:nvPr/>
        </p:nvSpPr>
        <p:spPr>
          <a:xfrm>
            <a:off x="1212912" y="827836"/>
            <a:ext cx="9692942" cy="61691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dirty="0">
                <a:solidFill>
                  <a:schemeClr val="accent1"/>
                </a:solidFill>
              </a:rPr>
              <a:t>Operación: </a:t>
            </a:r>
            <a:r>
              <a:rPr lang="es-CO" sz="3200" dirty="0"/>
              <a:t>TSACONP Autorización de contrato de </a:t>
            </a:r>
          </a:p>
          <a:p>
            <a:r>
              <a:rPr lang="es-CO" sz="3200" dirty="0"/>
              <a:t>Persona</a:t>
            </a:r>
            <a:endParaRPr lang="es-CL" b="0" dirty="0"/>
          </a:p>
        </p:txBody>
      </p:sp>
      <p:sp>
        <p:nvSpPr>
          <p:cNvPr id="4" name="Rectángulo redondeado 5">
            <a:extLst>
              <a:ext uri="{FF2B5EF4-FFF2-40B4-BE49-F238E27FC236}">
                <a16:creationId xmlns:a16="http://schemas.microsoft.com/office/drawing/2014/main" id="{678E38CB-6E06-7F44-D79E-FB1D76DF8194}"/>
              </a:ext>
            </a:extLst>
          </p:cNvPr>
          <p:cNvSpPr/>
          <p:nvPr/>
        </p:nvSpPr>
        <p:spPr>
          <a:xfrm>
            <a:off x="1267784" y="3995928"/>
            <a:ext cx="9583200" cy="1106424"/>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dirty="0"/>
              <a:t>La forma </a:t>
            </a:r>
            <a:r>
              <a:rPr lang="es-CO" sz="1200" b="1" dirty="0"/>
              <a:t>TSACONP</a:t>
            </a:r>
            <a:r>
              <a:rPr lang="es-CO" sz="1200" dirty="0"/>
              <a:t> posee las mismas funcionalidades de la última sección de la forma </a:t>
            </a:r>
            <a:r>
              <a:rPr lang="es-CO" sz="1200" b="1" dirty="0"/>
              <a:t>TSACONT</a:t>
            </a:r>
            <a:r>
              <a:rPr lang="es-CO" sz="1200" dirty="0"/>
              <a:t>. Esta forma está orientada solo para la asignación y/o des asignación de los contratos y/o convenios.</a:t>
            </a:r>
          </a:p>
          <a:p>
            <a:endParaRPr lang="es-CO" sz="1200" dirty="0"/>
          </a:p>
          <a:p>
            <a:r>
              <a:rPr lang="es-CO" sz="1200" dirty="0"/>
              <a:t>La existencia de esta forma tiene por objetivo poder diferenciar las responsabilidades de configuración de las responsabilidades de asignación.</a:t>
            </a:r>
          </a:p>
        </p:txBody>
      </p:sp>
      <p:pic>
        <p:nvPicPr>
          <p:cNvPr id="6" name="Imagen 5">
            <a:extLst>
              <a:ext uri="{FF2B5EF4-FFF2-40B4-BE49-F238E27FC236}">
                <a16:creationId xmlns:a16="http://schemas.microsoft.com/office/drawing/2014/main" id="{3C9D3DA0-7EC1-5FDE-6569-A13FC87AE649}"/>
              </a:ext>
            </a:extLst>
          </p:cNvPr>
          <p:cNvPicPr>
            <a:picLocks noChangeAspect="1"/>
          </p:cNvPicPr>
          <p:nvPr/>
        </p:nvPicPr>
        <p:blipFill>
          <a:blip r:embed="rId2"/>
          <a:stretch>
            <a:fillRect/>
          </a:stretch>
        </p:blipFill>
        <p:spPr>
          <a:xfrm>
            <a:off x="1267783" y="2003163"/>
            <a:ext cx="9583200" cy="1662953"/>
          </a:xfrm>
          <a:prstGeom prst="rect">
            <a:avLst/>
          </a:prstGeom>
        </p:spPr>
      </p:pic>
    </p:spTree>
    <p:extLst>
      <p:ext uri="{BB962C8B-B14F-4D97-AF65-F5344CB8AC3E}">
        <p14:creationId xmlns:p14="http://schemas.microsoft.com/office/powerpoint/2010/main" val="2054276072"/>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15FB9B-AE27-5782-FB4B-7358A6BEC476}"/>
            </a:ext>
          </a:extLst>
        </p:cNvPr>
        <p:cNvGrpSpPr/>
        <p:nvPr/>
      </p:nvGrpSpPr>
      <p:grpSpPr>
        <a:xfrm>
          <a:off x="0" y="0"/>
          <a:ext cx="0" cy="0"/>
          <a:chOff x="0" y="0"/>
          <a:chExt cx="0" cy="0"/>
        </a:xfrm>
      </p:grpSpPr>
      <p:sp>
        <p:nvSpPr>
          <p:cNvPr id="3" name="Título 3">
            <a:extLst>
              <a:ext uri="{FF2B5EF4-FFF2-40B4-BE49-F238E27FC236}">
                <a16:creationId xmlns:a16="http://schemas.microsoft.com/office/drawing/2014/main" id="{3C94F18C-E8DE-0D2E-9468-59713BEE0878}"/>
              </a:ext>
            </a:extLst>
          </p:cNvPr>
          <p:cNvSpPr txBox="1">
            <a:spLocks/>
          </p:cNvSpPr>
          <p:nvPr/>
        </p:nvSpPr>
        <p:spPr>
          <a:xfrm>
            <a:off x="1098653" y="497620"/>
            <a:ext cx="9994694" cy="989831"/>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dirty="0">
                <a:solidFill>
                  <a:schemeClr val="accent1"/>
                </a:solidFill>
              </a:rPr>
              <a:t>Operación: </a:t>
            </a:r>
            <a:r>
              <a:rPr lang="es-CO" sz="3200" dirty="0"/>
              <a:t>TSIAUTH Consultar historial de Contrato/Exención</a:t>
            </a:r>
            <a:endParaRPr lang="es-CL" b="0" dirty="0"/>
          </a:p>
        </p:txBody>
      </p:sp>
      <p:sp>
        <p:nvSpPr>
          <p:cNvPr id="4" name="Rectángulo redondeado 5">
            <a:extLst>
              <a:ext uri="{FF2B5EF4-FFF2-40B4-BE49-F238E27FC236}">
                <a16:creationId xmlns:a16="http://schemas.microsoft.com/office/drawing/2014/main" id="{48AF3C61-860E-EEBA-1314-AF33801C98B7}"/>
              </a:ext>
            </a:extLst>
          </p:cNvPr>
          <p:cNvSpPr/>
          <p:nvPr/>
        </p:nvSpPr>
        <p:spPr>
          <a:xfrm>
            <a:off x="1235744" y="4423435"/>
            <a:ext cx="9583200" cy="605765"/>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dirty="0"/>
              <a:t>En la aplicación </a:t>
            </a:r>
            <a:r>
              <a:rPr lang="es-CO" sz="1200" b="1" dirty="0"/>
              <a:t>TSIAUTH</a:t>
            </a:r>
            <a:r>
              <a:rPr lang="es-CO" sz="1200" dirty="0"/>
              <a:t> se visualiza el histórico de todas las asignaciones o </a:t>
            </a:r>
            <a:r>
              <a:rPr lang="es-CO" sz="1200" dirty="0" err="1"/>
              <a:t>des-asignaciones</a:t>
            </a:r>
            <a:r>
              <a:rPr lang="es-CO" sz="1200" dirty="0"/>
              <a:t> de Exenciones y/o Contratos que posee un determinado estudiante.</a:t>
            </a:r>
          </a:p>
        </p:txBody>
      </p:sp>
      <p:pic>
        <p:nvPicPr>
          <p:cNvPr id="5" name="Imagen 4">
            <a:extLst>
              <a:ext uri="{FF2B5EF4-FFF2-40B4-BE49-F238E27FC236}">
                <a16:creationId xmlns:a16="http://schemas.microsoft.com/office/drawing/2014/main" id="{1CC9E0CE-5768-890F-F75E-5BA4138025E9}"/>
              </a:ext>
            </a:extLst>
          </p:cNvPr>
          <p:cNvPicPr>
            <a:picLocks noChangeAspect="1"/>
          </p:cNvPicPr>
          <p:nvPr/>
        </p:nvPicPr>
        <p:blipFill>
          <a:blip r:embed="rId2"/>
          <a:stretch>
            <a:fillRect/>
          </a:stretch>
        </p:blipFill>
        <p:spPr>
          <a:xfrm>
            <a:off x="1235744" y="1906187"/>
            <a:ext cx="9583200" cy="2098511"/>
          </a:xfrm>
          <a:prstGeom prst="rect">
            <a:avLst/>
          </a:prstGeom>
        </p:spPr>
      </p:pic>
    </p:spTree>
    <p:extLst>
      <p:ext uri="{BB962C8B-B14F-4D97-AF65-F5344CB8AC3E}">
        <p14:creationId xmlns:p14="http://schemas.microsoft.com/office/powerpoint/2010/main" val="4258329646"/>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0BF65F-71B9-E95E-EECA-2222F024140C}"/>
            </a:ext>
          </a:extLst>
        </p:cNvPr>
        <p:cNvGrpSpPr/>
        <p:nvPr/>
      </p:nvGrpSpPr>
      <p:grpSpPr>
        <a:xfrm>
          <a:off x="0" y="0"/>
          <a:ext cx="0" cy="0"/>
          <a:chOff x="0" y="0"/>
          <a:chExt cx="0" cy="0"/>
        </a:xfrm>
      </p:grpSpPr>
      <p:sp>
        <p:nvSpPr>
          <p:cNvPr id="5" name="CuadroTexto 4">
            <a:extLst>
              <a:ext uri="{FF2B5EF4-FFF2-40B4-BE49-F238E27FC236}">
                <a16:creationId xmlns:a16="http://schemas.microsoft.com/office/drawing/2014/main" id="{8CD709C5-BB7D-6354-1E4A-0E9AD16C6768}"/>
              </a:ext>
            </a:extLst>
          </p:cNvPr>
          <p:cNvSpPr txBox="1"/>
          <p:nvPr/>
        </p:nvSpPr>
        <p:spPr>
          <a:xfrm>
            <a:off x="612648" y="1788676"/>
            <a:ext cx="10762488" cy="1938992"/>
          </a:xfrm>
          <a:prstGeom prst="rect">
            <a:avLst/>
          </a:prstGeom>
          <a:noFill/>
        </p:spPr>
        <p:txBody>
          <a:bodyPr wrap="square">
            <a:spAutoFit/>
          </a:bodyPr>
          <a:lstStyle/>
          <a:p>
            <a:r>
              <a:rPr lang="es-CO" sz="6000" b="1" dirty="0">
                <a:solidFill>
                  <a:schemeClr val="bg1"/>
                </a:solidFill>
              </a:rPr>
              <a:t>Aplicación Individual de Contratos y convenios</a:t>
            </a:r>
            <a:endParaRPr lang="en-US" sz="6000" b="1" dirty="0">
              <a:solidFill>
                <a:schemeClr val="bg1"/>
              </a:solidFill>
            </a:endParaRPr>
          </a:p>
        </p:txBody>
      </p:sp>
      <p:sp>
        <p:nvSpPr>
          <p:cNvPr id="2" name="Text Placeholder 16">
            <a:extLst>
              <a:ext uri="{FF2B5EF4-FFF2-40B4-BE49-F238E27FC236}">
                <a16:creationId xmlns:a16="http://schemas.microsoft.com/office/drawing/2014/main" id="{9B27964C-9DD9-A6B9-ADBA-20D89CE3AD5A}"/>
              </a:ext>
            </a:extLst>
          </p:cNvPr>
          <p:cNvSpPr txBox="1">
            <a:spLocks/>
          </p:cNvSpPr>
          <p:nvPr/>
        </p:nvSpPr>
        <p:spPr>
          <a:xfrm>
            <a:off x="612648" y="3855899"/>
            <a:ext cx="3374136" cy="533221"/>
          </a:xfrm>
          <a:prstGeom prst="rect">
            <a:avLst/>
          </a:prstGeom>
        </p:spPr>
        <p:txBody>
          <a:bodyPr/>
          <a:lst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CO" sz="2000" b="1" dirty="0">
                <a:solidFill>
                  <a:schemeClr val="bg1"/>
                </a:solidFill>
              </a:rPr>
              <a:t>Gestionar los beneficios</a:t>
            </a:r>
          </a:p>
        </p:txBody>
      </p:sp>
    </p:spTree>
    <p:extLst>
      <p:ext uri="{BB962C8B-B14F-4D97-AF65-F5344CB8AC3E}">
        <p14:creationId xmlns:p14="http://schemas.microsoft.com/office/powerpoint/2010/main" val="3645668183"/>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ACCF58-F5EB-28C5-1357-5F8898194CE7}"/>
            </a:ext>
          </a:extLst>
        </p:cNvPr>
        <p:cNvGrpSpPr/>
        <p:nvPr/>
      </p:nvGrpSpPr>
      <p:grpSpPr>
        <a:xfrm>
          <a:off x="0" y="0"/>
          <a:ext cx="0" cy="0"/>
          <a:chOff x="0" y="0"/>
          <a:chExt cx="0" cy="0"/>
        </a:xfrm>
      </p:grpSpPr>
      <p:sp>
        <p:nvSpPr>
          <p:cNvPr id="3" name="Título 3">
            <a:extLst>
              <a:ext uri="{FF2B5EF4-FFF2-40B4-BE49-F238E27FC236}">
                <a16:creationId xmlns:a16="http://schemas.microsoft.com/office/drawing/2014/main" id="{C8D93274-E31C-8FC7-3BA0-58C0D1321F78}"/>
              </a:ext>
            </a:extLst>
          </p:cNvPr>
          <p:cNvSpPr txBox="1">
            <a:spLocks/>
          </p:cNvSpPr>
          <p:nvPr/>
        </p:nvSpPr>
        <p:spPr>
          <a:xfrm>
            <a:off x="1167267" y="381769"/>
            <a:ext cx="9921542" cy="989831"/>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dirty="0">
                <a:solidFill>
                  <a:schemeClr val="accent1"/>
                </a:solidFill>
              </a:rPr>
              <a:t>Escenario Previo: </a:t>
            </a:r>
            <a:r>
              <a:rPr lang="es-CO" sz="3200" dirty="0"/>
              <a:t>TSAAREV Revisión de detalle de </a:t>
            </a:r>
          </a:p>
          <a:p>
            <a:r>
              <a:rPr lang="es-CO" sz="3200" dirty="0"/>
              <a:t>cuenta - alumnos</a:t>
            </a:r>
            <a:endParaRPr lang="es-CL" b="0" dirty="0"/>
          </a:p>
        </p:txBody>
      </p:sp>
      <p:sp>
        <p:nvSpPr>
          <p:cNvPr id="4" name="Rectángulo redondeado 5">
            <a:extLst>
              <a:ext uri="{FF2B5EF4-FFF2-40B4-BE49-F238E27FC236}">
                <a16:creationId xmlns:a16="http://schemas.microsoft.com/office/drawing/2014/main" id="{210593FD-F1B6-2877-C414-17FD301ADD82}"/>
              </a:ext>
            </a:extLst>
          </p:cNvPr>
          <p:cNvSpPr/>
          <p:nvPr/>
        </p:nvSpPr>
        <p:spPr>
          <a:xfrm>
            <a:off x="1336439" y="4983480"/>
            <a:ext cx="9583200" cy="768096"/>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dirty="0"/>
              <a:t>Generación de cargos para aplicación individual de contrato y/o convenios:</a:t>
            </a:r>
          </a:p>
          <a:p>
            <a:endParaRPr lang="es-CO" sz="1200" dirty="0"/>
          </a:p>
          <a:p>
            <a:r>
              <a:rPr lang="es-CO" sz="1200" dirty="0"/>
              <a:t>En </a:t>
            </a:r>
            <a:r>
              <a:rPr lang="es-CO" sz="1200" b="1" dirty="0"/>
              <a:t>TSAAREV</a:t>
            </a:r>
            <a:r>
              <a:rPr lang="es-CO" sz="1200" dirty="0"/>
              <a:t> se puede visualizar los cargos por concepto de inscripción y matrícula generados, previo a la asignación o aplicación de Pago por concepto de contrato o convenio.</a:t>
            </a:r>
          </a:p>
        </p:txBody>
      </p:sp>
      <p:pic>
        <p:nvPicPr>
          <p:cNvPr id="6" name="Imagen 5">
            <a:extLst>
              <a:ext uri="{FF2B5EF4-FFF2-40B4-BE49-F238E27FC236}">
                <a16:creationId xmlns:a16="http://schemas.microsoft.com/office/drawing/2014/main" id="{975B2BCE-0EA9-5FA6-3EF9-5F6187768619}"/>
              </a:ext>
            </a:extLst>
          </p:cNvPr>
          <p:cNvPicPr>
            <a:picLocks noChangeAspect="1"/>
          </p:cNvPicPr>
          <p:nvPr/>
        </p:nvPicPr>
        <p:blipFill>
          <a:blip r:embed="rId2"/>
          <a:stretch>
            <a:fillRect/>
          </a:stretch>
        </p:blipFill>
        <p:spPr>
          <a:xfrm>
            <a:off x="1336438" y="1490472"/>
            <a:ext cx="9583200" cy="3126150"/>
          </a:xfrm>
          <a:prstGeom prst="rect">
            <a:avLst/>
          </a:prstGeom>
        </p:spPr>
      </p:pic>
    </p:spTree>
    <p:extLst>
      <p:ext uri="{BB962C8B-B14F-4D97-AF65-F5344CB8AC3E}">
        <p14:creationId xmlns:p14="http://schemas.microsoft.com/office/powerpoint/2010/main" val="1092894690"/>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39EAC6-7466-2DC5-EE0E-DDB377C7ACC6}"/>
            </a:ext>
          </a:extLst>
        </p:cNvPr>
        <p:cNvGrpSpPr/>
        <p:nvPr/>
      </p:nvGrpSpPr>
      <p:grpSpPr>
        <a:xfrm>
          <a:off x="0" y="0"/>
          <a:ext cx="0" cy="0"/>
          <a:chOff x="0" y="0"/>
          <a:chExt cx="0" cy="0"/>
        </a:xfrm>
      </p:grpSpPr>
      <p:sp>
        <p:nvSpPr>
          <p:cNvPr id="3" name="Título 3">
            <a:extLst>
              <a:ext uri="{FF2B5EF4-FFF2-40B4-BE49-F238E27FC236}">
                <a16:creationId xmlns:a16="http://schemas.microsoft.com/office/drawing/2014/main" id="{4D869EE3-A680-96AB-EB33-5A6A7E746A0D}"/>
              </a:ext>
            </a:extLst>
          </p:cNvPr>
          <p:cNvSpPr txBox="1">
            <a:spLocks/>
          </p:cNvSpPr>
          <p:nvPr/>
        </p:nvSpPr>
        <p:spPr>
          <a:xfrm>
            <a:off x="1197713" y="661800"/>
            <a:ext cx="9308894" cy="578351"/>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dirty="0">
                <a:solidFill>
                  <a:schemeClr val="accent1"/>
                </a:solidFill>
              </a:rPr>
              <a:t>Escenario Previo: </a:t>
            </a:r>
            <a:r>
              <a:rPr lang="es-CO" sz="3200" dirty="0"/>
              <a:t>TSACONT Autorización de contrato  </a:t>
            </a:r>
            <a:endParaRPr lang="es-CL" b="0" dirty="0"/>
          </a:p>
        </p:txBody>
      </p:sp>
      <p:sp>
        <p:nvSpPr>
          <p:cNvPr id="4" name="Rectángulo redondeado 5">
            <a:extLst>
              <a:ext uri="{FF2B5EF4-FFF2-40B4-BE49-F238E27FC236}">
                <a16:creationId xmlns:a16="http://schemas.microsoft.com/office/drawing/2014/main" id="{E6649191-80A7-DE27-CC9A-D69568DCA432}"/>
              </a:ext>
            </a:extLst>
          </p:cNvPr>
          <p:cNvSpPr/>
          <p:nvPr/>
        </p:nvSpPr>
        <p:spPr>
          <a:xfrm>
            <a:off x="1304400" y="4454260"/>
            <a:ext cx="9583200" cy="913268"/>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dirty="0"/>
              <a:t>Configuración del contrato o convenio:</a:t>
            </a:r>
          </a:p>
          <a:p>
            <a:r>
              <a:rPr lang="es-CO" sz="1200" dirty="0"/>
              <a:t>Concepto de pago configurado con el código de detalle “CONP” el cual se verá reflejado en la cuenta corriente del estudiante. Concepto de cargo configurado por el código de detalle “CONT” el cual se verá reflejado por el tercero.</a:t>
            </a:r>
          </a:p>
        </p:txBody>
      </p:sp>
      <p:pic>
        <p:nvPicPr>
          <p:cNvPr id="5" name="Imagen 4">
            <a:extLst>
              <a:ext uri="{FF2B5EF4-FFF2-40B4-BE49-F238E27FC236}">
                <a16:creationId xmlns:a16="http://schemas.microsoft.com/office/drawing/2014/main" id="{DB200E51-5CF7-605D-8A52-8EC8CB7E3632}"/>
              </a:ext>
            </a:extLst>
          </p:cNvPr>
          <p:cNvPicPr>
            <a:picLocks noChangeAspect="1"/>
          </p:cNvPicPr>
          <p:nvPr/>
        </p:nvPicPr>
        <p:blipFill>
          <a:blip r:embed="rId2"/>
          <a:stretch>
            <a:fillRect/>
          </a:stretch>
        </p:blipFill>
        <p:spPr>
          <a:xfrm>
            <a:off x="1304400" y="1641938"/>
            <a:ext cx="9583200" cy="2231088"/>
          </a:xfrm>
          <a:prstGeom prst="rect">
            <a:avLst/>
          </a:prstGeom>
        </p:spPr>
      </p:pic>
    </p:spTree>
    <p:extLst>
      <p:ext uri="{BB962C8B-B14F-4D97-AF65-F5344CB8AC3E}">
        <p14:creationId xmlns:p14="http://schemas.microsoft.com/office/powerpoint/2010/main" val="185687284"/>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79863B-8CB1-6899-8581-D5BA29BFFC82}"/>
            </a:ext>
          </a:extLst>
        </p:cNvPr>
        <p:cNvGrpSpPr/>
        <p:nvPr/>
      </p:nvGrpSpPr>
      <p:grpSpPr>
        <a:xfrm>
          <a:off x="0" y="0"/>
          <a:ext cx="0" cy="0"/>
          <a:chOff x="0" y="0"/>
          <a:chExt cx="0" cy="0"/>
        </a:xfrm>
      </p:grpSpPr>
      <p:sp>
        <p:nvSpPr>
          <p:cNvPr id="3" name="Título 3">
            <a:extLst>
              <a:ext uri="{FF2B5EF4-FFF2-40B4-BE49-F238E27FC236}">
                <a16:creationId xmlns:a16="http://schemas.microsoft.com/office/drawing/2014/main" id="{31F8CE53-A768-305F-FAB5-A3CBC68E8D87}"/>
              </a:ext>
            </a:extLst>
          </p:cNvPr>
          <p:cNvSpPr txBox="1">
            <a:spLocks/>
          </p:cNvSpPr>
          <p:nvPr/>
        </p:nvSpPr>
        <p:spPr>
          <a:xfrm>
            <a:off x="1183962" y="912861"/>
            <a:ext cx="9308894" cy="578351"/>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dirty="0">
                <a:solidFill>
                  <a:schemeClr val="accent1"/>
                </a:solidFill>
              </a:rPr>
              <a:t>Escenario Previo: </a:t>
            </a:r>
            <a:r>
              <a:rPr lang="es-CO" sz="3200" dirty="0"/>
              <a:t>TSACONT Autorización de contrato  </a:t>
            </a:r>
            <a:endParaRPr lang="es-CL" b="0" dirty="0"/>
          </a:p>
        </p:txBody>
      </p:sp>
      <p:sp>
        <p:nvSpPr>
          <p:cNvPr id="4" name="Rectángulo redondeado 5">
            <a:extLst>
              <a:ext uri="{FF2B5EF4-FFF2-40B4-BE49-F238E27FC236}">
                <a16:creationId xmlns:a16="http://schemas.microsoft.com/office/drawing/2014/main" id="{E4D04155-6A72-E14D-CF65-E6448D0661E4}"/>
              </a:ext>
            </a:extLst>
          </p:cNvPr>
          <p:cNvSpPr/>
          <p:nvPr/>
        </p:nvSpPr>
        <p:spPr>
          <a:xfrm>
            <a:off x="1304399" y="4013069"/>
            <a:ext cx="9583200" cy="913268"/>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dirty="0"/>
              <a:t>Asignación de Contrato:</a:t>
            </a:r>
          </a:p>
          <a:p>
            <a:endParaRPr lang="es-CO" sz="1200" dirty="0"/>
          </a:p>
          <a:p>
            <a:r>
              <a:rPr lang="es-CO" sz="1200" dirty="0"/>
              <a:t>Asignación del estudiante al “CONTRATO” con cobertura de hasta el 100% del concepto MATR, en donde el estudiante contaría con un monto máximo de cobertura de hasta 2.000.000 (inferior al monto de matrícula  registrado en la cuenta corriente).</a:t>
            </a:r>
          </a:p>
        </p:txBody>
      </p:sp>
      <p:pic>
        <p:nvPicPr>
          <p:cNvPr id="2" name="Imagen 1">
            <a:extLst>
              <a:ext uri="{FF2B5EF4-FFF2-40B4-BE49-F238E27FC236}">
                <a16:creationId xmlns:a16="http://schemas.microsoft.com/office/drawing/2014/main" id="{6B76090E-7A72-7E23-0156-AFDC4FF4A0CC}"/>
              </a:ext>
            </a:extLst>
          </p:cNvPr>
          <p:cNvPicPr>
            <a:picLocks noChangeAspect="1"/>
          </p:cNvPicPr>
          <p:nvPr/>
        </p:nvPicPr>
        <p:blipFill>
          <a:blip r:embed="rId2"/>
          <a:stretch>
            <a:fillRect/>
          </a:stretch>
        </p:blipFill>
        <p:spPr>
          <a:xfrm>
            <a:off x="1304398" y="1945239"/>
            <a:ext cx="9583200" cy="1613803"/>
          </a:xfrm>
          <a:prstGeom prst="rect">
            <a:avLst/>
          </a:prstGeom>
        </p:spPr>
      </p:pic>
    </p:spTree>
    <p:extLst>
      <p:ext uri="{BB962C8B-B14F-4D97-AF65-F5344CB8AC3E}">
        <p14:creationId xmlns:p14="http://schemas.microsoft.com/office/powerpoint/2010/main" val="383011763"/>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CB92D8-DA25-8A95-FB93-7490BC390B04}"/>
            </a:ext>
          </a:extLst>
        </p:cNvPr>
        <p:cNvGrpSpPr/>
        <p:nvPr/>
      </p:nvGrpSpPr>
      <p:grpSpPr>
        <a:xfrm>
          <a:off x="0" y="0"/>
          <a:ext cx="0" cy="0"/>
          <a:chOff x="0" y="0"/>
          <a:chExt cx="0" cy="0"/>
        </a:xfrm>
      </p:grpSpPr>
      <p:sp>
        <p:nvSpPr>
          <p:cNvPr id="3" name="Título 3">
            <a:extLst>
              <a:ext uri="{FF2B5EF4-FFF2-40B4-BE49-F238E27FC236}">
                <a16:creationId xmlns:a16="http://schemas.microsoft.com/office/drawing/2014/main" id="{AEFB0DB1-ED31-A775-7037-5D428131422D}"/>
              </a:ext>
            </a:extLst>
          </p:cNvPr>
          <p:cNvSpPr txBox="1">
            <a:spLocks/>
          </p:cNvSpPr>
          <p:nvPr/>
        </p:nvSpPr>
        <p:spPr>
          <a:xfrm>
            <a:off x="1220538" y="630366"/>
            <a:ext cx="9308894" cy="578351"/>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dirty="0">
                <a:solidFill>
                  <a:schemeClr val="accent1"/>
                </a:solidFill>
              </a:rPr>
              <a:t>Operación: </a:t>
            </a:r>
            <a:r>
              <a:rPr lang="es-CO" sz="3200" dirty="0"/>
              <a:t>TSASPAY Pago del alumno  </a:t>
            </a:r>
            <a:endParaRPr lang="es-CL" b="0" dirty="0"/>
          </a:p>
        </p:txBody>
      </p:sp>
      <p:sp>
        <p:nvSpPr>
          <p:cNvPr id="4" name="Rectángulo redondeado 5">
            <a:extLst>
              <a:ext uri="{FF2B5EF4-FFF2-40B4-BE49-F238E27FC236}">
                <a16:creationId xmlns:a16="http://schemas.microsoft.com/office/drawing/2014/main" id="{0DE0CDE5-83D9-94BC-3791-0A3A34C0444E}"/>
              </a:ext>
            </a:extLst>
          </p:cNvPr>
          <p:cNvSpPr/>
          <p:nvPr/>
        </p:nvSpPr>
        <p:spPr>
          <a:xfrm>
            <a:off x="1304399" y="3982205"/>
            <a:ext cx="9583200" cy="913268"/>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dirty="0"/>
              <a:t>Aplicación Individual del contrato en la cuenta corriente del estudiante:</a:t>
            </a:r>
          </a:p>
          <a:p>
            <a:r>
              <a:rPr lang="es-CO" sz="1200" dirty="0"/>
              <a:t>Para la aplicación individual del contrato o convenio, se debe ingresar a TSASPAY, señalar el periodo académico, ID del estudiante e ingresar por medio del botón “Ir”. </a:t>
            </a:r>
          </a:p>
        </p:txBody>
      </p:sp>
      <p:pic>
        <p:nvPicPr>
          <p:cNvPr id="5" name="Imagen 4">
            <a:extLst>
              <a:ext uri="{FF2B5EF4-FFF2-40B4-BE49-F238E27FC236}">
                <a16:creationId xmlns:a16="http://schemas.microsoft.com/office/drawing/2014/main" id="{13F98AD1-2F7F-DF88-AE7F-5464DF8466F9}"/>
              </a:ext>
            </a:extLst>
          </p:cNvPr>
          <p:cNvPicPr>
            <a:picLocks noChangeAspect="1"/>
          </p:cNvPicPr>
          <p:nvPr/>
        </p:nvPicPr>
        <p:blipFill>
          <a:blip r:embed="rId2"/>
          <a:stretch>
            <a:fillRect/>
          </a:stretch>
        </p:blipFill>
        <p:spPr>
          <a:xfrm>
            <a:off x="1304398" y="1761922"/>
            <a:ext cx="9583200" cy="1667078"/>
          </a:xfrm>
          <a:prstGeom prst="rect">
            <a:avLst/>
          </a:prstGeom>
        </p:spPr>
      </p:pic>
    </p:spTree>
    <p:extLst>
      <p:ext uri="{BB962C8B-B14F-4D97-AF65-F5344CB8AC3E}">
        <p14:creationId xmlns:p14="http://schemas.microsoft.com/office/powerpoint/2010/main" val="2110192971"/>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FFF0E9-F278-C2BE-052A-A8A337253B7D}"/>
            </a:ext>
          </a:extLst>
        </p:cNvPr>
        <p:cNvGrpSpPr/>
        <p:nvPr/>
      </p:nvGrpSpPr>
      <p:grpSpPr>
        <a:xfrm>
          <a:off x="0" y="0"/>
          <a:ext cx="0" cy="0"/>
          <a:chOff x="0" y="0"/>
          <a:chExt cx="0" cy="0"/>
        </a:xfrm>
      </p:grpSpPr>
      <p:sp>
        <p:nvSpPr>
          <p:cNvPr id="3" name="Título 3">
            <a:extLst>
              <a:ext uri="{FF2B5EF4-FFF2-40B4-BE49-F238E27FC236}">
                <a16:creationId xmlns:a16="http://schemas.microsoft.com/office/drawing/2014/main" id="{503F632A-E507-3AD3-ACE5-55BCCA929190}"/>
              </a:ext>
            </a:extLst>
          </p:cNvPr>
          <p:cNvSpPr txBox="1">
            <a:spLocks/>
          </p:cNvSpPr>
          <p:nvPr/>
        </p:nvSpPr>
        <p:spPr>
          <a:xfrm>
            <a:off x="1220538" y="87266"/>
            <a:ext cx="9308894" cy="578351"/>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dirty="0">
                <a:solidFill>
                  <a:schemeClr val="accent1"/>
                </a:solidFill>
              </a:rPr>
              <a:t>Operación: </a:t>
            </a:r>
            <a:r>
              <a:rPr lang="es-CO" sz="3200" dirty="0"/>
              <a:t>TSASPAY Pago del alumno  </a:t>
            </a:r>
            <a:endParaRPr lang="es-CL" b="0" dirty="0"/>
          </a:p>
        </p:txBody>
      </p:sp>
      <p:sp>
        <p:nvSpPr>
          <p:cNvPr id="4" name="Rectángulo redondeado 5">
            <a:extLst>
              <a:ext uri="{FF2B5EF4-FFF2-40B4-BE49-F238E27FC236}">
                <a16:creationId xmlns:a16="http://schemas.microsoft.com/office/drawing/2014/main" id="{97A1DE12-089C-ACDD-F913-AD6E0CD0DEC7}"/>
              </a:ext>
            </a:extLst>
          </p:cNvPr>
          <p:cNvSpPr/>
          <p:nvPr/>
        </p:nvSpPr>
        <p:spPr>
          <a:xfrm>
            <a:off x="1304399" y="5614032"/>
            <a:ext cx="9583200" cy="578351"/>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 sz="1200" dirty="0"/>
              <a:t>Luego de acceder a la aplicación, se carga la asignación o des asignación del contrato según corresponda. En la ventana emergente, se deberá seleccionar el botón “Regresar”, accediendo a la ventana posterior, donde se visualiza la transacción asignada.</a:t>
            </a:r>
            <a:endParaRPr lang="es-CL" sz="1200" dirty="0"/>
          </a:p>
        </p:txBody>
      </p:sp>
      <p:pic>
        <p:nvPicPr>
          <p:cNvPr id="5" name="Imagen 4">
            <a:extLst>
              <a:ext uri="{FF2B5EF4-FFF2-40B4-BE49-F238E27FC236}">
                <a16:creationId xmlns:a16="http://schemas.microsoft.com/office/drawing/2014/main" id="{BF57F2A8-77CC-E7AD-038A-4B3C4D7EC9CC}"/>
              </a:ext>
            </a:extLst>
          </p:cNvPr>
          <p:cNvPicPr>
            <a:picLocks noChangeAspect="1"/>
          </p:cNvPicPr>
          <p:nvPr/>
        </p:nvPicPr>
        <p:blipFill>
          <a:blip r:embed="rId2"/>
          <a:stretch>
            <a:fillRect/>
          </a:stretch>
        </p:blipFill>
        <p:spPr>
          <a:xfrm>
            <a:off x="1304398" y="665617"/>
            <a:ext cx="9583200" cy="4784086"/>
          </a:xfrm>
          <a:prstGeom prst="rect">
            <a:avLst/>
          </a:prstGeom>
        </p:spPr>
      </p:pic>
    </p:spTree>
    <p:extLst>
      <p:ext uri="{BB962C8B-B14F-4D97-AF65-F5344CB8AC3E}">
        <p14:creationId xmlns:p14="http://schemas.microsoft.com/office/powerpoint/2010/main" val="465764899"/>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EE69B3-68D1-D283-DFB1-36B281F7948C}"/>
            </a:ext>
          </a:extLst>
        </p:cNvPr>
        <p:cNvGrpSpPr/>
        <p:nvPr/>
      </p:nvGrpSpPr>
      <p:grpSpPr>
        <a:xfrm>
          <a:off x="0" y="0"/>
          <a:ext cx="0" cy="0"/>
          <a:chOff x="0" y="0"/>
          <a:chExt cx="0" cy="0"/>
        </a:xfrm>
      </p:grpSpPr>
      <p:sp>
        <p:nvSpPr>
          <p:cNvPr id="3" name="Título 3">
            <a:extLst>
              <a:ext uri="{FF2B5EF4-FFF2-40B4-BE49-F238E27FC236}">
                <a16:creationId xmlns:a16="http://schemas.microsoft.com/office/drawing/2014/main" id="{024CB36F-AD5A-4FED-E31B-95FB919F6E55}"/>
              </a:ext>
            </a:extLst>
          </p:cNvPr>
          <p:cNvSpPr txBox="1">
            <a:spLocks/>
          </p:cNvSpPr>
          <p:nvPr/>
        </p:nvSpPr>
        <p:spPr>
          <a:xfrm>
            <a:off x="1156530" y="424056"/>
            <a:ext cx="9308894" cy="578351"/>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dirty="0">
                <a:solidFill>
                  <a:schemeClr val="accent1"/>
                </a:solidFill>
              </a:rPr>
              <a:t>Operación: </a:t>
            </a:r>
            <a:r>
              <a:rPr lang="es-CO" sz="3200" dirty="0"/>
              <a:t>TSASPAY Pago del alumno  </a:t>
            </a:r>
            <a:endParaRPr lang="es-CL" b="0" dirty="0"/>
          </a:p>
        </p:txBody>
      </p:sp>
      <p:sp>
        <p:nvSpPr>
          <p:cNvPr id="4" name="Rectángulo redondeado 5">
            <a:extLst>
              <a:ext uri="{FF2B5EF4-FFF2-40B4-BE49-F238E27FC236}">
                <a16:creationId xmlns:a16="http://schemas.microsoft.com/office/drawing/2014/main" id="{9B71CBE3-24BB-620F-C570-DE5C3D6BBB5D}"/>
              </a:ext>
            </a:extLst>
          </p:cNvPr>
          <p:cNvSpPr/>
          <p:nvPr/>
        </p:nvSpPr>
        <p:spPr>
          <a:xfrm>
            <a:off x="1412562" y="5349240"/>
            <a:ext cx="3534343" cy="448056"/>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O" sz="1200" dirty="0"/>
              <a:t>Confirmación de la aplicación del contrato.</a:t>
            </a:r>
          </a:p>
        </p:txBody>
      </p:sp>
      <p:pic>
        <p:nvPicPr>
          <p:cNvPr id="5" name="Imagen 4">
            <a:extLst>
              <a:ext uri="{FF2B5EF4-FFF2-40B4-BE49-F238E27FC236}">
                <a16:creationId xmlns:a16="http://schemas.microsoft.com/office/drawing/2014/main" id="{61821137-32A5-D3C3-B121-914534B6CBF1}"/>
              </a:ext>
            </a:extLst>
          </p:cNvPr>
          <p:cNvPicPr>
            <a:picLocks noChangeAspect="1"/>
          </p:cNvPicPr>
          <p:nvPr/>
        </p:nvPicPr>
        <p:blipFill>
          <a:blip r:embed="rId2"/>
          <a:stretch>
            <a:fillRect/>
          </a:stretch>
        </p:blipFill>
        <p:spPr>
          <a:xfrm>
            <a:off x="1304400" y="1060704"/>
            <a:ext cx="9583200" cy="4045573"/>
          </a:xfrm>
          <a:prstGeom prst="rect">
            <a:avLst/>
          </a:prstGeom>
        </p:spPr>
      </p:pic>
    </p:spTree>
    <p:extLst>
      <p:ext uri="{BB962C8B-B14F-4D97-AF65-F5344CB8AC3E}">
        <p14:creationId xmlns:p14="http://schemas.microsoft.com/office/powerpoint/2010/main" val="1798632689"/>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106A61-22F4-284D-4143-9632A7A4F76C}"/>
            </a:ext>
          </a:extLst>
        </p:cNvPr>
        <p:cNvGrpSpPr/>
        <p:nvPr/>
      </p:nvGrpSpPr>
      <p:grpSpPr>
        <a:xfrm>
          <a:off x="0" y="0"/>
          <a:ext cx="0" cy="0"/>
          <a:chOff x="0" y="0"/>
          <a:chExt cx="0" cy="0"/>
        </a:xfrm>
      </p:grpSpPr>
      <p:sp>
        <p:nvSpPr>
          <p:cNvPr id="3" name="Título 3">
            <a:extLst>
              <a:ext uri="{FF2B5EF4-FFF2-40B4-BE49-F238E27FC236}">
                <a16:creationId xmlns:a16="http://schemas.microsoft.com/office/drawing/2014/main" id="{804D5379-36D8-4CA9-01E3-C37581A57A34}"/>
              </a:ext>
            </a:extLst>
          </p:cNvPr>
          <p:cNvSpPr txBox="1">
            <a:spLocks/>
          </p:cNvSpPr>
          <p:nvPr/>
        </p:nvSpPr>
        <p:spPr>
          <a:xfrm>
            <a:off x="1268486" y="454921"/>
            <a:ext cx="9308894" cy="578351"/>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dirty="0">
                <a:solidFill>
                  <a:schemeClr val="accent1"/>
                </a:solidFill>
              </a:rPr>
              <a:t>Operación: </a:t>
            </a:r>
            <a:r>
              <a:rPr lang="es-CO" sz="3200" dirty="0"/>
              <a:t>TSAAREV Revisión de detalle de cuenta - alumnos</a:t>
            </a:r>
            <a:endParaRPr lang="es-CL" b="0" dirty="0"/>
          </a:p>
        </p:txBody>
      </p:sp>
      <p:sp>
        <p:nvSpPr>
          <p:cNvPr id="4" name="Rectángulo redondeado 5">
            <a:extLst>
              <a:ext uri="{FF2B5EF4-FFF2-40B4-BE49-F238E27FC236}">
                <a16:creationId xmlns:a16="http://schemas.microsoft.com/office/drawing/2014/main" id="{AED55115-63E7-5769-C6F9-D6BC948EA11F}"/>
              </a:ext>
            </a:extLst>
          </p:cNvPr>
          <p:cNvSpPr/>
          <p:nvPr/>
        </p:nvSpPr>
        <p:spPr>
          <a:xfrm>
            <a:off x="1304400" y="4956048"/>
            <a:ext cx="9583200" cy="704088"/>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dirty="0"/>
              <a:t>Estado de cuenta del estudiante con el contrato aplicado:</a:t>
            </a:r>
          </a:p>
          <a:p>
            <a:r>
              <a:rPr lang="es-CO" sz="1200" dirty="0"/>
              <a:t>En la cuenta corriente del estudiante se visualiza la transacción de tipo PAGO</a:t>
            </a:r>
            <a:r>
              <a:rPr lang="es-CO" sz="1200" b="1" dirty="0">
                <a:solidFill>
                  <a:schemeClr val="accent6">
                    <a:lumMod val="60000"/>
                    <a:lumOff val="40000"/>
                  </a:schemeClr>
                </a:solidFill>
              </a:rPr>
              <a:t>-CONP </a:t>
            </a:r>
            <a:r>
              <a:rPr lang="es-CO" sz="1200" dirty="0"/>
              <a:t>que refleja la asignación y aplicación del beneficio utilizado en el ejemplo.</a:t>
            </a:r>
          </a:p>
        </p:txBody>
      </p:sp>
      <p:pic>
        <p:nvPicPr>
          <p:cNvPr id="5" name="Imagen 4">
            <a:extLst>
              <a:ext uri="{FF2B5EF4-FFF2-40B4-BE49-F238E27FC236}">
                <a16:creationId xmlns:a16="http://schemas.microsoft.com/office/drawing/2014/main" id="{E1A641DE-A992-262B-3195-AD216E69AE82}"/>
              </a:ext>
            </a:extLst>
          </p:cNvPr>
          <p:cNvPicPr>
            <a:picLocks noChangeAspect="1"/>
          </p:cNvPicPr>
          <p:nvPr/>
        </p:nvPicPr>
        <p:blipFill>
          <a:blip r:embed="rId2"/>
          <a:stretch>
            <a:fillRect/>
          </a:stretch>
        </p:blipFill>
        <p:spPr>
          <a:xfrm>
            <a:off x="1304400" y="1426466"/>
            <a:ext cx="9583200" cy="3326111"/>
          </a:xfrm>
          <a:prstGeom prst="rect">
            <a:avLst/>
          </a:prstGeom>
        </p:spPr>
      </p:pic>
    </p:spTree>
    <p:extLst>
      <p:ext uri="{BB962C8B-B14F-4D97-AF65-F5344CB8AC3E}">
        <p14:creationId xmlns:p14="http://schemas.microsoft.com/office/powerpoint/2010/main" val="3476339584"/>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6DD74D-290C-4E29-5E0D-92AA61CBCE3A}"/>
            </a:ext>
          </a:extLst>
        </p:cNvPr>
        <p:cNvGrpSpPr/>
        <p:nvPr/>
      </p:nvGrpSpPr>
      <p:grpSpPr>
        <a:xfrm>
          <a:off x="0" y="0"/>
          <a:ext cx="0" cy="0"/>
          <a:chOff x="0" y="0"/>
          <a:chExt cx="0" cy="0"/>
        </a:xfrm>
      </p:grpSpPr>
      <p:sp>
        <p:nvSpPr>
          <p:cNvPr id="3" name="Título 3">
            <a:extLst>
              <a:ext uri="{FF2B5EF4-FFF2-40B4-BE49-F238E27FC236}">
                <a16:creationId xmlns:a16="http://schemas.microsoft.com/office/drawing/2014/main" id="{148E988F-7AD1-AEC5-FBAA-3537FF397633}"/>
              </a:ext>
            </a:extLst>
          </p:cNvPr>
          <p:cNvSpPr txBox="1">
            <a:spLocks/>
          </p:cNvSpPr>
          <p:nvPr/>
        </p:nvSpPr>
        <p:spPr>
          <a:xfrm>
            <a:off x="1065090" y="208033"/>
            <a:ext cx="9308894" cy="578351"/>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dirty="0">
                <a:solidFill>
                  <a:schemeClr val="accent1"/>
                </a:solidFill>
              </a:rPr>
              <a:t>Operación: </a:t>
            </a:r>
            <a:r>
              <a:rPr lang="es-CO" sz="3200" dirty="0"/>
              <a:t>TSAAREV Revisión de detalle de </a:t>
            </a:r>
          </a:p>
          <a:p>
            <a:r>
              <a:rPr lang="es-CO" sz="3200" dirty="0"/>
              <a:t>cuenta - alumnos</a:t>
            </a:r>
            <a:endParaRPr lang="es-CL" b="0" dirty="0"/>
          </a:p>
        </p:txBody>
      </p:sp>
      <p:sp>
        <p:nvSpPr>
          <p:cNvPr id="4" name="Rectángulo redondeado 5">
            <a:extLst>
              <a:ext uri="{FF2B5EF4-FFF2-40B4-BE49-F238E27FC236}">
                <a16:creationId xmlns:a16="http://schemas.microsoft.com/office/drawing/2014/main" id="{52101A17-121F-14D0-2897-FC288FB5DE04}"/>
              </a:ext>
            </a:extLst>
          </p:cNvPr>
          <p:cNvSpPr/>
          <p:nvPr/>
        </p:nvSpPr>
        <p:spPr>
          <a:xfrm>
            <a:off x="1131333" y="5532120"/>
            <a:ext cx="9583200" cy="704088"/>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 sz="1200" b="1" dirty="0"/>
              <a:t>Estado de cuenta del tercer con el contrato aplicado:</a:t>
            </a:r>
          </a:p>
          <a:p>
            <a:r>
              <a:rPr lang="es-ES" sz="1200" dirty="0"/>
              <a:t>En la cuenta corriente del tercero se visualiza la transacción del tipo CARGO-</a:t>
            </a:r>
            <a:r>
              <a:rPr lang="es-ES" sz="1200" b="1" dirty="0">
                <a:solidFill>
                  <a:schemeClr val="bg1"/>
                </a:solidFill>
              </a:rPr>
              <a:t>CONT</a:t>
            </a:r>
            <a:r>
              <a:rPr lang="es-ES" sz="1200" dirty="0"/>
              <a:t> que refleja la asignación y aplicación del beneficio utilizado en el ejemplo.</a:t>
            </a:r>
            <a:endParaRPr lang="es-CL" sz="1200" dirty="0"/>
          </a:p>
        </p:txBody>
      </p:sp>
      <p:pic>
        <p:nvPicPr>
          <p:cNvPr id="5" name="Imagen 4">
            <a:extLst>
              <a:ext uri="{FF2B5EF4-FFF2-40B4-BE49-F238E27FC236}">
                <a16:creationId xmlns:a16="http://schemas.microsoft.com/office/drawing/2014/main" id="{E277AD58-5F92-2EEC-DD8F-41EB7FAB294A}"/>
              </a:ext>
            </a:extLst>
          </p:cNvPr>
          <p:cNvPicPr>
            <a:picLocks noChangeAspect="1"/>
          </p:cNvPicPr>
          <p:nvPr/>
        </p:nvPicPr>
        <p:blipFill>
          <a:blip r:embed="rId2"/>
          <a:stretch>
            <a:fillRect/>
          </a:stretch>
        </p:blipFill>
        <p:spPr>
          <a:xfrm>
            <a:off x="1131333" y="1170430"/>
            <a:ext cx="9583200" cy="4263648"/>
          </a:xfrm>
          <a:prstGeom prst="rect">
            <a:avLst/>
          </a:prstGeom>
        </p:spPr>
      </p:pic>
    </p:spTree>
    <p:extLst>
      <p:ext uri="{BB962C8B-B14F-4D97-AF65-F5344CB8AC3E}">
        <p14:creationId xmlns:p14="http://schemas.microsoft.com/office/powerpoint/2010/main" val="2380616707"/>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E90CF5-FFC6-7C5B-D286-4F67BBCE9843}"/>
            </a:ext>
          </a:extLst>
        </p:cNvPr>
        <p:cNvGrpSpPr/>
        <p:nvPr/>
      </p:nvGrpSpPr>
      <p:grpSpPr>
        <a:xfrm>
          <a:off x="0" y="0"/>
          <a:ext cx="0" cy="0"/>
          <a:chOff x="0" y="0"/>
          <a:chExt cx="0" cy="0"/>
        </a:xfrm>
      </p:grpSpPr>
      <p:sp>
        <p:nvSpPr>
          <p:cNvPr id="5" name="CuadroTexto 4">
            <a:extLst>
              <a:ext uri="{FF2B5EF4-FFF2-40B4-BE49-F238E27FC236}">
                <a16:creationId xmlns:a16="http://schemas.microsoft.com/office/drawing/2014/main" id="{912DFA09-6952-FEA6-5C19-180CF26C2B86}"/>
              </a:ext>
            </a:extLst>
          </p:cNvPr>
          <p:cNvSpPr txBox="1"/>
          <p:nvPr/>
        </p:nvSpPr>
        <p:spPr>
          <a:xfrm>
            <a:off x="612648" y="2032605"/>
            <a:ext cx="10844784" cy="1938992"/>
          </a:xfrm>
          <a:prstGeom prst="rect">
            <a:avLst/>
          </a:prstGeom>
          <a:noFill/>
        </p:spPr>
        <p:txBody>
          <a:bodyPr wrap="square">
            <a:spAutoFit/>
          </a:bodyPr>
          <a:lstStyle/>
          <a:p>
            <a:r>
              <a:rPr lang="es-CO" sz="6000" b="1" dirty="0">
                <a:solidFill>
                  <a:schemeClr val="bg1"/>
                </a:solidFill>
              </a:rPr>
              <a:t>Cargar Masiva de </a:t>
            </a:r>
            <a:r>
              <a:rPr lang="es-CO" sz="6000" b="1" dirty="0" err="1">
                <a:solidFill>
                  <a:schemeClr val="bg1"/>
                </a:solidFill>
              </a:rPr>
              <a:t>IDs</a:t>
            </a:r>
            <a:r>
              <a:rPr lang="es-CO" sz="6000" b="1" dirty="0">
                <a:solidFill>
                  <a:schemeClr val="bg1"/>
                </a:solidFill>
              </a:rPr>
              <a:t> a un contrato</a:t>
            </a:r>
            <a:endParaRPr lang="en-US" sz="6000" b="1" dirty="0">
              <a:solidFill>
                <a:schemeClr val="bg1"/>
              </a:solidFill>
            </a:endParaRPr>
          </a:p>
        </p:txBody>
      </p:sp>
      <p:sp>
        <p:nvSpPr>
          <p:cNvPr id="2" name="Text Placeholder 16">
            <a:extLst>
              <a:ext uri="{FF2B5EF4-FFF2-40B4-BE49-F238E27FC236}">
                <a16:creationId xmlns:a16="http://schemas.microsoft.com/office/drawing/2014/main" id="{4E620DA6-035A-4EAA-5575-00D515688092}"/>
              </a:ext>
            </a:extLst>
          </p:cNvPr>
          <p:cNvSpPr txBox="1">
            <a:spLocks/>
          </p:cNvSpPr>
          <p:nvPr/>
        </p:nvSpPr>
        <p:spPr>
          <a:xfrm>
            <a:off x="612648" y="4063037"/>
            <a:ext cx="3374136" cy="533221"/>
          </a:xfrm>
          <a:prstGeom prst="rect">
            <a:avLst/>
          </a:prstGeom>
        </p:spPr>
        <p:txBody>
          <a:bodyPr/>
          <a:lst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CO" sz="2000" b="1" dirty="0">
                <a:solidFill>
                  <a:schemeClr val="bg1"/>
                </a:solidFill>
              </a:rPr>
              <a:t>Gestionar los beneficios</a:t>
            </a:r>
          </a:p>
        </p:txBody>
      </p:sp>
    </p:spTree>
    <p:extLst>
      <p:ext uri="{BB962C8B-B14F-4D97-AF65-F5344CB8AC3E}">
        <p14:creationId xmlns:p14="http://schemas.microsoft.com/office/powerpoint/2010/main" val="3054176082"/>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775593-409D-6C75-BCC6-590B75E39075}"/>
            </a:ext>
          </a:extLst>
        </p:cNvPr>
        <p:cNvGrpSpPr/>
        <p:nvPr/>
      </p:nvGrpSpPr>
      <p:grpSpPr>
        <a:xfrm>
          <a:off x="0" y="0"/>
          <a:ext cx="0" cy="0"/>
          <a:chOff x="0" y="0"/>
          <a:chExt cx="0" cy="0"/>
        </a:xfrm>
      </p:grpSpPr>
      <p:sp>
        <p:nvSpPr>
          <p:cNvPr id="3" name="Título 3">
            <a:extLst>
              <a:ext uri="{FF2B5EF4-FFF2-40B4-BE49-F238E27FC236}">
                <a16:creationId xmlns:a16="http://schemas.microsoft.com/office/drawing/2014/main" id="{6476D093-2905-6319-98A7-43EFD958FECC}"/>
              </a:ext>
            </a:extLst>
          </p:cNvPr>
          <p:cNvSpPr txBox="1">
            <a:spLocks/>
          </p:cNvSpPr>
          <p:nvPr/>
        </p:nvSpPr>
        <p:spPr>
          <a:xfrm>
            <a:off x="1163337" y="552072"/>
            <a:ext cx="10520358" cy="578351"/>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dirty="0">
                <a:solidFill>
                  <a:schemeClr val="accent1"/>
                </a:solidFill>
              </a:rPr>
              <a:t>Escenario Previo: </a:t>
            </a:r>
            <a:r>
              <a:rPr lang="es-CO" sz="3200" dirty="0"/>
              <a:t>TSAAREV Revisión de detalle de </a:t>
            </a:r>
          </a:p>
          <a:p>
            <a:r>
              <a:rPr lang="es-CO" sz="3200" dirty="0"/>
              <a:t>cuenta – alumno</a:t>
            </a:r>
            <a:endParaRPr lang="es-CL" b="0" dirty="0"/>
          </a:p>
        </p:txBody>
      </p:sp>
      <p:sp>
        <p:nvSpPr>
          <p:cNvPr id="4" name="Rectángulo redondeado 5">
            <a:extLst>
              <a:ext uri="{FF2B5EF4-FFF2-40B4-BE49-F238E27FC236}">
                <a16:creationId xmlns:a16="http://schemas.microsoft.com/office/drawing/2014/main" id="{C85C1D63-487B-9C66-160F-D23349CB3F72}"/>
              </a:ext>
            </a:extLst>
          </p:cNvPr>
          <p:cNvSpPr/>
          <p:nvPr/>
        </p:nvSpPr>
        <p:spPr>
          <a:xfrm>
            <a:off x="1304400" y="5276089"/>
            <a:ext cx="9583200" cy="704088"/>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 sz="1200" b="1" dirty="0"/>
              <a:t>Generación de cargos:</a:t>
            </a:r>
          </a:p>
          <a:p>
            <a:r>
              <a:rPr lang="es-ES" sz="1200" dirty="0"/>
              <a:t>Cargos por concepto de matrícula e inscripción generados para un primer estudiante, previo a la asignación o aplicación de contrato o convenio.</a:t>
            </a:r>
            <a:endParaRPr lang="es-CL" sz="1200" dirty="0"/>
          </a:p>
        </p:txBody>
      </p:sp>
      <p:pic>
        <p:nvPicPr>
          <p:cNvPr id="5" name="Imagen 4">
            <a:extLst>
              <a:ext uri="{FF2B5EF4-FFF2-40B4-BE49-F238E27FC236}">
                <a16:creationId xmlns:a16="http://schemas.microsoft.com/office/drawing/2014/main" id="{A1F5119A-0AC1-61C0-EBFE-BD901E7F756E}"/>
              </a:ext>
            </a:extLst>
          </p:cNvPr>
          <p:cNvPicPr>
            <a:picLocks noChangeAspect="1"/>
          </p:cNvPicPr>
          <p:nvPr/>
        </p:nvPicPr>
        <p:blipFill>
          <a:blip r:embed="rId2"/>
          <a:stretch>
            <a:fillRect/>
          </a:stretch>
        </p:blipFill>
        <p:spPr>
          <a:xfrm>
            <a:off x="1304400" y="1801081"/>
            <a:ext cx="9583200" cy="3091032"/>
          </a:xfrm>
          <a:prstGeom prst="rect">
            <a:avLst/>
          </a:prstGeom>
        </p:spPr>
      </p:pic>
    </p:spTree>
    <p:extLst>
      <p:ext uri="{BB962C8B-B14F-4D97-AF65-F5344CB8AC3E}">
        <p14:creationId xmlns:p14="http://schemas.microsoft.com/office/powerpoint/2010/main" val="3036421513"/>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2E9271-0A5B-6659-7DE2-29BFC4CFCA53}"/>
            </a:ext>
          </a:extLst>
        </p:cNvPr>
        <p:cNvGrpSpPr/>
        <p:nvPr/>
      </p:nvGrpSpPr>
      <p:grpSpPr>
        <a:xfrm>
          <a:off x="0" y="0"/>
          <a:ext cx="0" cy="0"/>
          <a:chOff x="0" y="0"/>
          <a:chExt cx="0" cy="0"/>
        </a:xfrm>
      </p:grpSpPr>
      <p:sp>
        <p:nvSpPr>
          <p:cNvPr id="3" name="Título 3">
            <a:extLst>
              <a:ext uri="{FF2B5EF4-FFF2-40B4-BE49-F238E27FC236}">
                <a16:creationId xmlns:a16="http://schemas.microsoft.com/office/drawing/2014/main" id="{3C72F94F-060D-4B30-2DE4-7BAEF02A8D9C}"/>
              </a:ext>
            </a:extLst>
          </p:cNvPr>
          <p:cNvSpPr txBox="1">
            <a:spLocks/>
          </p:cNvSpPr>
          <p:nvPr/>
        </p:nvSpPr>
        <p:spPr>
          <a:xfrm>
            <a:off x="1163337" y="552072"/>
            <a:ext cx="10520358" cy="578351"/>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dirty="0">
                <a:solidFill>
                  <a:schemeClr val="accent1"/>
                </a:solidFill>
              </a:rPr>
              <a:t>Escenario Previo: </a:t>
            </a:r>
            <a:r>
              <a:rPr lang="es-CO" sz="3200" dirty="0"/>
              <a:t>TSAAREV Revisión de detalle de </a:t>
            </a:r>
          </a:p>
          <a:p>
            <a:r>
              <a:rPr lang="es-CO" sz="3200" dirty="0"/>
              <a:t>cuenta – alumno</a:t>
            </a:r>
            <a:endParaRPr lang="es-CL" b="0" dirty="0"/>
          </a:p>
        </p:txBody>
      </p:sp>
      <p:sp>
        <p:nvSpPr>
          <p:cNvPr id="4" name="Rectángulo redondeado 5">
            <a:extLst>
              <a:ext uri="{FF2B5EF4-FFF2-40B4-BE49-F238E27FC236}">
                <a16:creationId xmlns:a16="http://schemas.microsoft.com/office/drawing/2014/main" id="{9131C361-D255-7EDC-0056-318B8E977A4F}"/>
              </a:ext>
            </a:extLst>
          </p:cNvPr>
          <p:cNvSpPr/>
          <p:nvPr/>
        </p:nvSpPr>
        <p:spPr>
          <a:xfrm>
            <a:off x="1304400" y="4951476"/>
            <a:ext cx="9583200" cy="704088"/>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 sz="1200" b="1" dirty="0"/>
              <a:t>Generación de cargos:</a:t>
            </a:r>
          </a:p>
          <a:p>
            <a:r>
              <a:rPr lang="es-ES" sz="1200" dirty="0"/>
              <a:t>Cargos por concepto de matrícula e inscripción generados para un primer estudiante, previo a la asignación o aplicación de contrato o convenio.</a:t>
            </a:r>
            <a:endParaRPr lang="es-CL" sz="1200" dirty="0"/>
          </a:p>
        </p:txBody>
      </p:sp>
      <p:pic>
        <p:nvPicPr>
          <p:cNvPr id="5" name="Imagen 4">
            <a:extLst>
              <a:ext uri="{FF2B5EF4-FFF2-40B4-BE49-F238E27FC236}">
                <a16:creationId xmlns:a16="http://schemas.microsoft.com/office/drawing/2014/main" id="{5468D82B-AF0E-626D-364A-091683AEF62C}"/>
              </a:ext>
            </a:extLst>
          </p:cNvPr>
          <p:cNvPicPr>
            <a:picLocks noChangeAspect="1"/>
          </p:cNvPicPr>
          <p:nvPr/>
        </p:nvPicPr>
        <p:blipFill>
          <a:blip r:embed="rId2"/>
          <a:stretch>
            <a:fillRect/>
          </a:stretch>
        </p:blipFill>
        <p:spPr>
          <a:xfrm>
            <a:off x="1304400" y="1613099"/>
            <a:ext cx="9583200" cy="3207745"/>
          </a:xfrm>
          <a:prstGeom prst="rect">
            <a:avLst/>
          </a:prstGeom>
        </p:spPr>
      </p:pic>
    </p:spTree>
    <p:extLst>
      <p:ext uri="{BB962C8B-B14F-4D97-AF65-F5344CB8AC3E}">
        <p14:creationId xmlns:p14="http://schemas.microsoft.com/office/powerpoint/2010/main" val="2048883967"/>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F1038B-F1B5-1790-8C25-53FC534CE441}"/>
            </a:ext>
          </a:extLst>
        </p:cNvPr>
        <p:cNvGrpSpPr/>
        <p:nvPr/>
      </p:nvGrpSpPr>
      <p:grpSpPr>
        <a:xfrm>
          <a:off x="0" y="0"/>
          <a:ext cx="0" cy="0"/>
          <a:chOff x="0" y="0"/>
          <a:chExt cx="0" cy="0"/>
        </a:xfrm>
      </p:grpSpPr>
      <p:sp>
        <p:nvSpPr>
          <p:cNvPr id="3" name="Título 3">
            <a:extLst>
              <a:ext uri="{FF2B5EF4-FFF2-40B4-BE49-F238E27FC236}">
                <a16:creationId xmlns:a16="http://schemas.microsoft.com/office/drawing/2014/main" id="{C4C4807A-AFA5-9319-3D32-1CCA39C348E8}"/>
              </a:ext>
            </a:extLst>
          </p:cNvPr>
          <p:cNvSpPr txBox="1">
            <a:spLocks/>
          </p:cNvSpPr>
          <p:nvPr/>
        </p:nvSpPr>
        <p:spPr>
          <a:xfrm>
            <a:off x="1163337" y="552072"/>
            <a:ext cx="10520358" cy="578351"/>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dirty="0">
                <a:solidFill>
                  <a:schemeClr val="accent1"/>
                </a:solidFill>
              </a:rPr>
              <a:t>Escenario Previo: </a:t>
            </a:r>
            <a:r>
              <a:rPr lang="es-CO" sz="3200" dirty="0"/>
              <a:t>TSAAREV Revisión de detalle de </a:t>
            </a:r>
          </a:p>
          <a:p>
            <a:r>
              <a:rPr lang="es-CO" sz="3200" dirty="0"/>
              <a:t>cuenta – alumno</a:t>
            </a:r>
            <a:endParaRPr lang="es-CL" b="0" dirty="0"/>
          </a:p>
        </p:txBody>
      </p:sp>
      <p:sp>
        <p:nvSpPr>
          <p:cNvPr id="4" name="Rectángulo redondeado 5">
            <a:extLst>
              <a:ext uri="{FF2B5EF4-FFF2-40B4-BE49-F238E27FC236}">
                <a16:creationId xmlns:a16="http://schemas.microsoft.com/office/drawing/2014/main" id="{A0AC8296-5EDB-C67E-A64E-9C606B4BEEC5}"/>
              </a:ext>
            </a:extLst>
          </p:cNvPr>
          <p:cNvSpPr/>
          <p:nvPr/>
        </p:nvSpPr>
        <p:spPr>
          <a:xfrm>
            <a:off x="1368408" y="4929028"/>
            <a:ext cx="9583200" cy="704088"/>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 sz="1200" b="1" dirty="0"/>
              <a:t>Generación de cargos:</a:t>
            </a:r>
          </a:p>
          <a:p>
            <a:r>
              <a:rPr lang="es-ES" sz="1200" dirty="0"/>
              <a:t>Cargos por concepto de matrícula e inscripción generados para un primer estudiante, previo a la asignación o aplicación de contrato o convenio.</a:t>
            </a:r>
            <a:endParaRPr lang="es-CL" sz="1200" dirty="0"/>
          </a:p>
        </p:txBody>
      </p:sp>
      <p:pic>
        <p:nvPicPr>
          <p:cNvPr id="5" name="Imagen 4">
            <a:extLst>
              <a:ext uri="{FF2B5EF4-FFF2-40B4-BE49-F238E27FC236}">
                <a16:creationId xmlns:a16="http://schemas.microsoft.com/office/drawing/2014/main" id="{8C1E299A-A4CE-E648-B45E-44065FC88D2A}"/>
              </a:ext>
            </a:extLst>
          </p:cNvPr>
          <p:cNvPicPr>
            <a:picLocks noChangeAspect="1"/>
          </p:cNvPicPr>
          <p:nvPr/>
        </p:nvPicPr>
        <p:blipFill>
          <a:blip r:embed="rId2"/>
          <a:stretch>
            <a:fillRect/>
          </a:stretch>
        </p:blipFill>
        <p:spPr>
          <a:xfrm>
            <a:off x="1304400" y="1622648"/>
            <a:ext cx="9583200" cy="3112791"/>
          </a:xfrm>
          <a:prstGeom prst="rect">
            <a:avLst/>
          </a:prstGeom>
        </p:spPr>
      </p:pic>
    </p:spTree>
    <p:extLst>
      <p:ext uri="{BB962C8B-B14F-4D97-AF65-F5344CB8AC3E}">
        <p14:creationId xmlns:p14="http://schemas.microsoft.com/office/powerpoint/2010/main" val="3871717845"/>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2781E6-0132-33C3-77DB-D4C7837FF145}"/>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D074048F-C1A5-5651-A6AA-0216D286EBC9}"/>
              </a:ext>
            </a:extLst>
          </p:cNvPr>
          <p:cNvSpPr txBox="1">
            <a:spLocks/>
          </p:cNvSpPr>
          <p:nvPr/>
        </p:nvSpPr>
        <p:spPr>
          <a:xfrm>
            <a:off x="1304400" y="419943"/>
            <a:ext cx="9583200" cy="905937"/>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Escenario Previo:</a:t>
            </a:r>
            <a:r>
              <a:rPr lang="es-ES_tradnl" sz="3200" dirty="0">
                <a:solidFill>
                  <a:schemeClr val="tx2"/>
                </a:solidFill>
              </a:rPr>
              <a:t> </a:t>
            </a:r>
            <a:r>
              <a:rPr lang="es-CO" sz="3200" dirty="0"/>
              <a:t>Carga de alumnos en contratos</a:t>
            </a:r>
            <a:r>
              <a:rPr lang="es-ES_tradnl" sz="3200" dirty="0"/>
              <a:t> - Template</a:t>
            </a:r>
            <a:br>
              <a:rPr lang="es-CL" dirty="0"/>
            </a:br>
            <a:endParaRPr lang="es-CL" dirty="0"/>
          </a:p>
        </p:txBody>
      </p:sp>
      <p:sp>
        <p:nvSpPr>
          <p:cNvPr id="4" name="Rectángulo redondeado 5">
            <a:extLst>
              <a:ext uri="{FF2B5EF4-FFF2-40B4-BE49-F238E27FC236}">
                <a16:creationId xmlns:a16="http://schemas.microsoft.com/office/drawing/2014/main" id="{829EA580-806A-5C68-395C-ED4C21CBC704}"/>
              </a:ext>
            </a:extLst>
          </p:cNvPr>
          <p:cNvSpPr/>
          <p:nvPr/>
        </p:nvSpPr>
        <p:spPr>
          <a:xfrm>
            <a:off x="1304400" y="4858070"/>
            <a:ext cx="9583200" cy="763311"/>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dirty="0"/>
              <a:t>El cargador de alumnos en contratos permite cargar masivamente </a:t>
            </a:r>
            <a:r>
              <a:rPr lang="es-ES_tradnl" sz="1200" dirty="0" err="1"/>
              <a:t>IDs</a:t>
            </a:r>
            <a:r>
              <a:rPr lang="es-ES_tradnl" sz="1200" dirty="0"/>
              <a:t> a la página administrativa TSACONT y utiliza un template con campos que se deben diligenciar según corresponda. El </a:t>
            </a:r>
            <a:r>
              <a:rPr lang="es-ES_tradnl" sz="1200" dirty="0" err="1"/>
              <a:t>template</a:t>
            </a:r>
            <a:r>
              <a:rPr lang="es-ES_tradnl" sz="1200" dirty="0"/>
              <a:t> debe estar guardado en formato .</a:t>
            </a:r>
            <a:r>
              <a:rPr lang="es-ES_tradnl" sz="1200" dirty="0" err="1"/>
              <a:t>csv</a:t>
            </a:r>
            <a:r>
              <a:rPr lang="es-ES_tradnl" sz="1200" dirty="0"/>
              <a:t> delimitado por comas.</a:t>
            </a:r>
          </a:p>
        </p:txBody>
      </p:sp>
      <p:pic>
        <p:nvPicPr>
          <p:cNvPr id="6" name="Imagen 5">
            <a:extLst>
              <a:ext uri="{FF2B5EF4-FFF2-40B4-BE49-F238E27FC236}">
                <a16:creationId xmlns:a16="http://schemas.microsoft.com/office/drawing/2014/main" id="{C07EE3FB-35AA-7BE5-22D5-44BE7593C7CE}"/>
              </a:ext>
            </a:extLst>
          </p:cNvPr>
          <p:cNvPicPr>
            <a:picLocks noChangeAspect="1"/>
          </p:cNvPicPr>
          <p:nvPr/>
        </p:nvPicPr>
        <p:blipFill>
          <a:blip r:embed="rId2"/>
          <a:stretch>
            <a:fillRect/>
          </a:stretch>
        </p:blipFill>
        <p:spPr>
          <a:xfrm>
            <a:off x="1304400" y="1840025"/>
            <a:ext cx="9583200" cy="2503900"/>
          </a:xfrm>
          <a:prstGeom prst="rect">
            <a:avLst/>
          </a:prstGeom>
        </p:spPr>
      </p:pic>
    </p:spTree>
    <p:extLst>
      <p:ext uri="{BB962C8B-B14F-4D97-AF65-F5344CB8AC3E}">
        <p14:creationId xmlns:p14="http://schemas.microsoft.com/office/powerpoint/2010/main" val="2607008936"/>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2453E1-23B9-798E-8549-5F8A637EE3B5}"/>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C9700C78-BF36-48C8-E246-41C6DCEB61C9}"/>
              </a:ext>
            </a:extLst>
          </p:cNvPr>
          <p:cNvSpPr txBox="1">
            <a:spLocks/>
          </p:cNvSpPr>
          <p:nvPr/>
        </p:nvSpPr>
        <p:spPr>
          <a:xfrm>
            <a:off x="1215891" y="912759"/>
            <a:ext cx="9436869" cy="902636"/>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Operación: </a:t>
            </a:r>
            <a:r>
              <a:rPr lang="es-ES_tradnl" sz="3200" dirty="0"/>
              <a:t>GJAJFLU </a:t>
            </a:r>
            <a:r>
              <a:rPr lang="es-ES" sz="3200" dirty="0"/>
              <a:t>Importar archivo al servidor de </a:t>
            </a:r>
          </a:p>
          <a:p>
            <a:r>
              <a:rPr lang="es-ES" sz="3200" dirty="0"/>
              <a:t>envío de trabajos</a:t>
            </a:r>
          </a:p>
          <a:p>
            <a:pPr algn="just"/>
            <a:endParaRPr lang="es-CL" dirty="0"/>
          </a:p>
        </p:txBody>
      </p:sp>
      <p:sp>
        <p:nvSpPr>
          <p:cNvPr id="4" name="Rectángulo redondeado 5">
            <a:extLst>
              <a:ext uri="{FF2B5EF4-FFF2-40B4-BE49-F238E27FC236}">
                <a16:creationId xmlns:a16="http://schemas.microsoft.com/office/drawing/2014/main" id="{65568469-F49B-65AC-30AD-6DC595B7D9F8}"/>
              </a:ext>
            </a:extLst>
          </p:cNvPr>
          <p:cNvSpPr/>
          <p:nvPr/>
        </p:nvSpPr>
        <p:spPr>
          <a:xfrm>
            <a:off x="1304400" y="3756980"/>
            <a:ext cx="9583200" cy="578847"/>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b="1" dirty="0"/>
              <a:t>1. </a:t>
            </a:r>
            <a:r>
              <a:rPr lang="es-ES_tradnl" sz="1200" dirty="0"/>
              <a:t>En la página </a:t>
            </a:r>
            <a:r>
              <a:rPr lang="es-ES" sz="1200" dirty="0"/>
              <a:t>Importar archivo al servidor de envío de trabajos se selecciona el proceso en el que se desea guardar el archivo (</a:t>
            </a:r>
            <a:r>
              <a:rPr lang="es-ES" sz="1200" b="1" dirty="0"/>
              <a:t>TSPCSTU</a:t>
            </a:r>
            <a:r>
              <a:rPr lang="es-ES" sz="1200" dirty="0"/>
              <a:t>), en la opción </a:t>
            </a:r>
            <a:r>
              <a:rPr lang="es-ES" sz="1200" b="1" dirty="0"/>
              <a:t>“TRABAJO”. </a:t>
            </a:r>
            <a:endParaRPr lang="es-ES_tradnl" sz="1200" b="1" dirty="0"/>
          </a:p>
        </p:txBody>
      </p:sp>
      <p:sp>
        <p:nvSpPr>
          <p:cNvPr id="5" name="Rectángulo redondeado 5">
            <a:extLst>
              <a:ext uri="{FF2B5EF4-FFF2-40B4-BE49-F238E27FC236}">
                <a16:creationId xmlns:a16="http://schemas.microsoft.com/office/drawing/2014/main" id="{DB250D3F-E69D-DD14-F5AE-167011CB81D1}"/>
              </a:ext>
            </a:extLst>
          </p:cNvPr>
          <p:cNvSpPr/>
          <p:nvPr/>
        </p:nvSpPr>
        <p:spPr>
          <a:xfrm>
            <a:off x="1304400" y="4532456"/>
            <a:ext cx="3744730" cy="464327"/>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ES_tradnl" sz="1200" b="1" dirty="0"/>
              <a:t>2</a:t>
            </a:r>
            <a:r>
              <a:rPr lang="es-ES_tradnl" sz="1200" dirty="0"/>
              <a:t>. Hacer </a:t>
            </a:r>
            <a:r>
              <a:rPr lang="es-ES_tradnl" sz="1200" dirty="0" err="1"/>
              <a:t>click</a:t>
            </a:r>
            <a:r>
              <a:rPr lang="es-ES_tradnl" sz="1200" dirty="0"/>
              <a:t> en el IR para ingresar parámetros.</a:t>
            </a:r>
          </a:p>
        </p:txBody>
      </p:sp>
      <p:pic>
        <p:nvPicPr>
          <p:cNvPr id="6" name="Imagen 5">
            <a:extLst>
              <a:ext uri="{FF2B5EF4-FFF2-40B4-BE49-F238E27FC236}">
                <a16:creationId xmlns:a16="http://schemas.microsoft.com/office/drawing/2014/main" id="{8652F39E-10C0-C5D6-35EE-9DD89F864DFE}"/>
              </a:ext>
            </a:extLst>
          </p:cNvPr>
          <p:cNvPicPr>
            <a:picLocks noChangeAspect="1"/>
          </p:cNvPicPr>
          <p:nvPr/>
        </p:nvPicPr>
        <p:blipFill>
          <a:blip r:embed="rId2"/>
          <a:stretch>
            <a:fillRect/>
          </a:stretch>
        </p:blipFill>
        <p:spPr>
          <a:xfrm>
            <a:off x="1304400" y="2205387"/>
            <a:ext cx="9583200" cy="1161600"/>
          </a:xfrm>
          <a:prstGeom prst="rect">
            <a:avLst/>
          </a:prstGeom>
        </p:spPr>
      </p:pic>
      <p:pic>
        <p:nvPicPr>
          <p:cNvPr id="9" name="Imagen 8">
            <a:extLst>
              <a:ext uri="{FF2B5EF4-FFF2-40B4-BE49-F238E27FC236}">
                <a16:creationId xmlns:a16="http://schemas.microsoft.com/office/drawing/2014/main" id="{791E3D7A-81A1-086D-0635-DFA8EBD7569A}"/>
              </a:ext>
            </a:extLst>
          </p:cNvPr>
          <p:cNvPicPr>
            <a:picLocks noChangeAspect="1"/>
          </p:cNvPicPr>
          <p:nvPr/>
        </p:nvPicPr>
        <p:blipFill>
          <a:blip r:embed="rId3"/>
          <a:stretch>
            <a:fillRect/>
          </a:stretch>
        </p:blipFill>
        <p:spPr>
          <a:xfrm>
            <a:off x="10314737" y="2824820"/>
            <a:ext cx="162000" cy="162000"/>
          </a:xfrm>
          <a:prstGeom prst="rect">
            <a:avLst/>
          </a:prstGeom>
        </p:spPr>
      </p:pic>
      <p:pic>
        <p:nvPicPr>
          <p:cNvPr id="11" name="Imagen 10">
            <a:extLst>
              <a:ext uri="{FF2B5EF4-FFF2-40B4-BE49-F238E27FC236}">
                <a16:creationId xmlns:a16="http://schemas.microsoft.com/office/drawing/2014/main" id="{3D90FA8E-D271-B4FE-0632-E9106F3771CF}"/>
              </a:ext>
            </a:extLst>
          </p:cNvPr>
          <p:cNvPicPr>
            <a:picLocks noChangeAspect="1"/>
          </p:cNvPicPr>
          <p:nvPr/>
        </p:nvPicPr>
        <p:blipFill>
          <a:blip r:embed="rId4"/>
          <a:stretch>
            <a:fillRect/>
          </a:stretch>
        </p:blipFill>
        <p:spPr>
          <a:xfrm>
            <a:off x="1557835" y="2813619"/>
            <a:ext cx="162000" cy="162000"/>
          </a:xfrm>
          <a:prstGeom prst="rect">
            <a:avLst/>
          </a:prstGeom>
        </p:spPr>
      </p:pic>
    </p:spTree>
    <p:extLst>
      <p:ext uri="{BB962C8B-B14F-4D97-AF65-F5344CB8AC3E}">
        <p14:creationId xmlns:p14="http://schemas.microsoft.com/office/powerpoint/2010/main" val="681609566"/>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1D1072-C061-6110-E496-1C0C40863606}"/>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345669FC-26D4-33DA-0FD9-17C0A7EB0A40}"/>
              </a:ext>
            </a:extLst>
          </p:cNvPr>
          <p:cNvSpPr txBox="1">
            <a:spLocks/>
          </p:cNvSpPr>
          <p:nvPr/>
        </p:nvSpPr>
        <p:spPr>
          <a:xfrm>
            <a:off x="1102491" y="505247"/>
            <a:ext cx="9747765" cy="902636"/>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algn="just"/>
            <a:r>
              <a:rPr lang="es-ES_tradnl" sz="3200" dirty="0">
                <a:solidFill>
                  <a:schemeClr val="accent1"/>
                </a:solidFill>
              </a:rPr>
              <a:t>Operación: </a:t>
            </a:r>
            <a:r>
              <a:rPr lang="es-ES_tradnl" sz="3200" dirty="0"/>
              <a:t>GJAJFLU </a:t>
            </a:r>
            <a:r>
              <a:rPr lang="es-ES" sz="3200" dirty="0"/>
              <a:t>Importar archivo al servidor de </a:t>
            </a:r>
          </a:p>
          <a:p>
            <a:pPr algn="just"/>
            <a:r>
              <a:rPr lang="es-ES" sz="3200" dirty="0"/>
              <a:t>envío de trabajos</a:t>
            </a:r>
          </a:p>
          <a:p>
            <a:pPr algn="just"/>
            <a:endParaRPr lang="es-CL" dirty="0"/>
          </a:p>
        </p:txBody>
      </p:sp>
      <p:sp>
        <p:nvSpPr>
          <p:cNvPr id="7" name="Rectángulo redondeado 5">
            <a:extLst>
              <a:ext uri="{FF2B5EF4-FFF2-40B4-BE49-F238E27FC236}">
                <a16:creationId xmlns:a16="http://schemas.microsoft.com/office/drawing/2014/main" id="{90550932-1CA5-EE18-2202-7690D6604DAF}"/>
              </a:ext>
            </a:extLst>
          </p:cNvPr>
          <p:cNvSpPr/>
          <p:nvPr/>
        </p:nvSpPr>
        <p:spPr>
          <a:xfrm>
            <a:off x="1274661" y="5134881"/>
            <a:ext cx="5354739" cy="489838"/>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dirty="0"/>
              <a:t>Se da click en </a:t>
            </a:r>
            <a:r>
              <a:rPr lang="es-CO" sz="1200" b="1" dirty="0"/>
              <a:t>INSERTAR </a:t>
            </a:r>
            <a:r>
              <a:rPr lang="es-CO" sz="1200" dirty="0"/>
              <a:t>para que se pueda incluir el </a:t>
            </a:r>
            <a:r>
              <a:rPr lang="es-CO" sz="1200" b="1" dirty="0"/>
              <a:t>TEMPLATE NUEVO.</a:t>
            </a:r>
            <a:endParaRPr lang="es-ES_tradnl" sz="1200" b="1" dirty="0"/>
          </a:p>
        </p:txBody>
      </p:sp>
      <p:pic>
        <p:nvPicPr>
          <p:cNvPr id="5" name="Imagen 4">
            <a:extLst>
              <a:ext uri="{FF2B5EF4-FFF2-40B4-BE49-F238E27FC236}">
                <a16:creationId xmlns:a16="http://schemas.microsoft.com/office/drawing/2014/main" id="{A4634788-6036-452B-5634-160DFD6C3A10}"/>
              </a:ext>
            </a:extLst>
          </p:cNvPr>
          <p:cNvPicPr>
            <a:picLocks noChangeAspect="1"/>
          </p:cNvPicPr>
          <p:nvPr/>
        </p:nvPicPr>
        <p:blipFill>
          <a:blip r:embed="rId2"/>
          <a:stretch>
            <a:fillRect/>
          </a:stretch>
        </p:blipFill>
        <p:spPr>
          <a:xfrm>
            <a:off x="1274661" y="1607623"/>
            <a:ext cx="9583200" cy="3169404"/>
          </a:xfrm>
          <a:prstGeom prst="rect">
            <a:avLst/>
          </a:prstGeom>
        </p:spPr>
      </p:pic>
      <p:pic>
        <p:nvPicPr>
          <p:cNvPr id="8" name="Imagen 7">
            <a:extLst>
              <a:ext uri="{FF2B5EF4-FFF2-40B4-BE49-F238E27FC236}">
                <a16:creationId xmlns:a16="http://schemas.microsoft.com/office/drawing/2014/main" id="{F0E6BE99-D81B-DA36-8903-7CA866A273E9}"/>
              </a:ext>
            </a:extLst>
          </p:cNvPr>
          <p:cNvPicPr>
            <a:picLocks noChangeAspect="1"/>
          </p:cNvPicPr>
          <p:nvPr/>
        </p:nvPicPr>
        <p:blipFill>
          <a:blip r:embed="rId3"/>
          <a:stretch>
            <a:fillRect/>
          </a:stretch>
        </p:blipFill>
        <p:spPr>
          <a:xfrm>
            <a:off x="4480219" y="2919643"/>
            <a:ext cx="162000" cy="162000"/>
          </a:xfrm>
          <a:prstGeom prst="rect">
            <a:avLst/>
          </a:prstGeom>
        </p:spPr>
      </p:pic>
    </p:spTree>
    <p:extLst>
      <p:ext uri="{BB962C8B-B14F-4D97-AF65-F5344CB8AC3E}">
        <p14:creationId xmlns:p14="http://schemas.microsoft.com/office/powerpoint/2010/main" val="2429398246"/>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FC1CD2-8F42-AB7F-5C16-0DE618A77504}"/>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2B799678-3018-7D5A-5E3C-C773F1C75F38}"/>
              </a:ext>
            </a:extLst>
          </p:cNvPr>
          <p:cNvSpPr txBox="1">
            <a:spLocks/>
          </p:cNvSpPr>
          <p:nvPr/>
        </p:nvSpPr>
        <p:spPr>
          <a:xfrm>
            <a:off x="1459876" y="108648"/>
            <a:ext cx="9272247" cy="902636"/>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algn="just"/>
            <a:r>
              <a:rPr lang="es-ES_tradnl" sz="3200" dirty="0">
                <a:solidFill>
                  <a:schemeClr val="accent1"/>
                </a:solidFill>
              </a:rPr>
              <a:t>Operación: </a:t>
            </a:r>
            <a:r>
              <a:rPr lang="es-ES_tradnl" sz="3200" dirty="0"/>
              <a:t>GJAJFLU </a:t>
            </a:r>
            <a:r>
              <a:rPr lang="es-ES" sz="3200" dirty="0"/>
              <a:t>Importar archivo al servidor de </a:t>
            </a:r>
          </a:p>
          <a:p>
            <a:pPr algn="just"/>
            <a:r>
              <a:rPr lang="es-ES" sz="3200" dirty="0"/>
              <a:t>envío de trabajos</a:t>
            </a:r>
          </a:p>
          <a:p>
            <a:pPr algn="just"/>
            <a:endParaRPr lang="es-CL" dirty="0"/>
          </a:p>
        </p:txBody>
      </p:sp>
      <p:sp>
        <p:nvSpPr>
          <p:cNvPr id="5" name="Rectángulo redondeado 5">
            <a:extLst>
              <a:ext uri="{FF2B5EF4-FFF2-40B4-BE49-F238E27FC236}">
                <a16:creationId xmlns:a16="http://schemas.microsoft.com/office/drawing/2014/main" id="{8CB743A6-90D9-2A70-2A85-7BA4167835C7}"/>
              </a:ext>
            </a:extLst>
          </p:cNvPr>
          <p:cNvSpPr/>
          <p:nvPr/>
        </p:nvSpPr>
        <p:spPr>
          <a:xfrm>
            <a:off x="1601307" y="5753607"/>
            <a:ext cx="3468449" cy="50655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dirty="0"/>
              <a:t>Se selecciona archivo, y se da </a:t>
            </a:r>
            <a:r>
              <a:rPr lang="es-CO" sz="1200" dirty="0" err="1"/>
              <a:t>click</a:t>
            </a:r>
            <a:r>
              <a:rPr lang="es-CO" sz="1200" dirty="0"/>
              <a:t> en </a:t>
            </a:r>
            <a:r>
              <a:rPr lang="es-CO" sz="1200" b="1" dirty="0"/>
              <a:t>ABRIR.</a:t>
            </a:r>
            <a:endParaRPr lang="es-ES_tradnl" sz="1200" b="1" dirty="0"/>
          </a:p>
        </p:txBody>
      </p:sp>
      <p:pic>
        <p:nvPicPr>
          <p:cNvPr id="6" name="Imagen 5">
            <a:extLst>
              <a:ext uri="{FF2B5EF4-FFF2-40B4-BE49-F238E27FC236}">
                <a16:creationId xmlns:a16="http://schemas.microsoft.com/office/drawing/2014/main" id="{51F74609-93E5-B5A1-F5B3-B42F782C76AB}"/>
              </a:ext>
            </a:extLst>
          </p:cNvPr>
          <p:cNvPicPr>
            <a:picLocks noChangeAspect="1"/>
          </p:cNvPicPr>
          <p:nvPr/>
        </p:nvPicPr>
        <p:blipFill>
          <a:blip r:embed="rId2"/>
          <a:stretch>
            <a:fillRect/>
          </a:stretch>
        </p:blipFill>
        <p:spPr>
          <a:xfrm>
            <a:off x="1601307" y="1011284"/>
            <a:ext cx="8824791" cy="4584844"/>
          </a:xfrm>
          <a:prstGeom prst="rect">
            <a:avLst/>
          </a:prstGeom>
        </p:spPr>
      </p:pic>
      <p:pic>
        <p:nvPicPr>
          <p:cNvPr id="8" name="Imagen 7">
            <a:extLst>
              <a:ext uri="{FF2B5EF4-FFF2-40B4-BE49-F238E27FC236}">
                <a16:creationId xmlns:a16="http://schemas.microsoft.com/office/drawing/2014/main" id="{FC65E6C6-24E4-B90A-D7B7-D250275F7B18}"/>
              </a:ext>
            </a:extLst>
          </p:cNvPr>
          <p:cNvPicPr>
            <a:picLocks noChangeAspect="1"/>
          </p:cNvPicPr>
          <p:nvPr/>
        </p:nvPicPr>
        <p:blipFill>
          <a:blip r:embed="rId3"/>
          <a:stretch>
            <a:fillRect/>
          </a:stretch>
        </p:blipFill>
        <p:spPr>
          <a:xfrm>
            <a:off x="7608113" y="4749089"/>
            <a:ext cx="162000" cy="162000"/>
          </a:xfrm>
          <a:prstGeom prst="rect">
            <a:avLst/>
          </a:prstGeom>
        </p:spPr>
      </p:pic>
      <p:pic>
        <p:nvPicPr>
          <p:cNvPr id="10" name="Imagen 9">
            <a:extLst>
              <a:ext uri="{FF2B5EF4-FFF2-40B4-BE49-F238E27FC236}">
                <a16:creationId xmlns:a16="http://schemas.microsoft.com/office/drawing/2014/main" id="{EF36EB7E-5B2A-F3D5-C6A6-D01D308A7C70}"/>
              </a:ext>
            </a:extLst>
          </p:cNvPr>
          <p:cNvPicPr>
            <a:picLocks noChangeAspect="1"/>
          </p:cNvPicPr>
          <p:nvPr/>
        </p:nvPicPr>
        <p:blipFill>
          <a:blip r:embed="rId4"/>
          <a:stretch>
            <a:fillRect/>
          </a:stretch>
        </p:blipFill>
        <p:spPr>
          <a:xfrm>
            <a:off x="4704017" y="3847529"/>
            <a:ext cx="162000" cy="162000"/>
          </a:xfrm>
          <a:prstGeom prst="rect">
            <a:avLst/>
          </a:prstGeom>
        </p:spPr>
      </p:pic>
    </p:spTree>
    <p:extLst>
      <p:ext uri="{BB962C8B-B14F-4D97-AF65-F5344CB8AC3E}">
        <p14:creationId xmlns:p14="http://schemas.microsoft.com/office/powerpoint/2010/main" val="2618013496"/>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5392FC-C228-349C-1ED1-A80EA26BD9F4}"/>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11E7DB8B-6975-68BD-010B-B8230DB91648}"/>
              </a:ext>
            </a:extLst>
          </p:cNvPr>
          <p:cNvSpPr txBox="1">
            <a:spLocks/>
          </p:cNvSpPr>
          <p:nvPr/>
        </p:nvSpPr>
        <p:spPr>
          <a:xfrm>
            <a:off x="1167240" y="357448"/>
            <a:ext cx="9583200" cy="902636"/>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algn="just"/>
            <a:r>
              <a:rPr lang="es-ES_tradnl" sz="3200" dirty="0">
                <a:solidFill>
                  <a:schemeClr val="accent1"/>
                </a:solidFill>
              </a:rPr>
              <a:t>Operación: </a:t>
            </a:r>
            <a:r>
              <a:rPr lang="es-ES_tradnl" sz="3200" dirty="0"/>
              <a:t>GJAJFLU </a:t>
            </a:r>
            <a:r>
              <a:rPr lang="es-ES" sz="3200" dirty="0"/>
              <a:t>Importar archivo al servidor de </a:t>
            </a:r>
          </a:p>
          <a:p>
            <a:pPr algn="just"/>
            <a:r>
              <a:rPr lang="es-ES" sz="3200" dirty="0"/>
              <a:t>envío de trabajos</a:t>
            </a:r>
          </a:p>
          <a:p>
            <a:pPr algn="just"/>
            <a:endParaRPr lang="es-CL" dirty="0"/>
          </a:p>
        </p:txBody>
      </p:sp>
      <p:sp>
        <p:nvSpPr>
          <p:cNvPr id="5" name="Rectángulo redondeado 5">
            <a:extLst>
              <a:ext uri="{FF2B5EF4-FFF2-40B4-BE49-F238E27FC236}">
                <a16:creationId xmlns:a16="http://schemas.microsoft.com/office/drawing/2014/main" id="{42184DAA-49F3-8306-E707-4A52A08264AC}"/>
              </a:ext>
            </a:extLst>
          </p:cNvPr>
          <p:cNvSpPr/>
          <p:nvPr/>
        </p:nvSpPr>
        <p:spPr>
          <a:xfrm>
            <a:off x="1347528" y="5327130"/>
            <a:ext cx="7699509" cy="50655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dirty="0"/>
              <a:t>Se confirma que el nombre del archivo coincida con el </a:t>
            </a:r>
            <a:r>
              <a:rPr lang="es-CO" sz="1200" dirty="0" err="1"/>
              <a:t>template</a:t>
            </a:r>
            <a:r>
              <a:rPr lang="es-CO" sz="1200" dirty="0"/>
              <a:t> que se selecciono, se da </a:t>
            </a:r>
            <a:r>
              <a:rPr lang="es-CO" sz="1200" dirty="0" err="1"/>
              <a:t>click</a:t>
            </a:r>
            <a:r>
              <a:rPr lang="es-CO" sz="1200" dirty="0"/>
              <a:t> en </a:t>
            </a:r>
            <a:r>
              <a:rPr lang="es-CO" sz="1200" b="1" dirty="0"/>
              <a:t>GUARDAR</a:t>
            </a:r>
            <a:r>
              <a:rPr lang="es-CO" sz="1200" dirty="0"/>
              <a:t>.</a:t>
            </a:r>
            <a:endParaRPr lang="es-ES_tradnl" sz="1200" dirty="0"/>
          </a:p>
        </p:txBody>
      </p:sp>
      <p:pic>
        <p:nvPicPr>
          <p:cNvPr id="6" name="Imagen 5">
            <a:extLst>
              <a:ext uri="{FF2B5EF4-FFF2-40B4-BE49-F238E27FC236}">
                <a16:creationId xmlns:a16="http://schemas.microsoft.com/office/drawing/2014/main" id="{CF906AB1-984F-7B1E-CC8B-AD936EB6089A}"/>
              </a:ext>
            </a:extLst>
          </p:cNvPr>
          <p:cNvPicPr>
            <a:picLocks noChangeAspect="1"/>
          </p:cNvPicPr>
          <p:nvPr/>
        </p:nvPicPr>
        <p:blipFill>
          <a:blip r:embed="rId2"/>
          <a:stretch>
            <a:fillRect/>
          </a:stretch>
        </p:blipFill>
        <p:spPr>
          <a:xfrm>
            <a:off x="1304400" y="1462619"/>
            <a:ext cx="9583200" cy="3131145"/>
          </a:xfrm>
          <a:prstGeom prst="rect">
            <a:avLst/>
          </a:prstGeom>
        </p:spPr>
      </p:pic>
      <p:pic>
        <p:nvPicPr>
          <p:cNvPr id="9" name="Imagen 8">
            <a:extLst>
              <a:ext uri="{FF2B5EF4-FFF2-40B4-BE49-F238E27FC236}">
                <a16:creationId xmlns:a16="http://schemas.microsoft.com/office/drawing/2014/main" id="{A7CFF105-A04C-D92B-9372-65C0E3FAD8F2}"/>
              </a:ext>
            </a:extLst>
          </p:cNvPr>
          <p:cNvPicPr>
            <a:picLocks noChangeAspect="1"/>
          </p:cNvPicPr>
          <p:nvPr/>
        </p:nvPicPr>
        <p:blipFill>
          <a:blip r:embed="rId3"/>
          <a:stretch>
            <a:fillRect/>
          </a:stretch>
        </p:blipFill>
        <p:spPr>
          <a:xfrm>
            <a:off x="1304400" y="4593764"/>
            <a:ext cx="9583200" cy="384527"/>
          </a:xfrm>
          <a:prstGeom prst="rect">
            <a:avLst/>
          </a:prstGeom>
        </p:spPr>
      </p:pic>
      <p:pic>
        <p:nvPicPr>
          <p:cNvPr id="11" name="Imagen 10">
            <a:extLst>
              <a:ext uri="{FF2B5EF4-FFF2-40B4-BE49-F238E27FC236}">
                <a16:creationId xmlns:a16="http://schemas.microsoft.com/office/drawing/2014/main" id="{EAC497D2-AAB5-5D86-6D46-C1A0338721BB}"/>
              </a:ext>
            </a:extLst>
          </p:cNvPr>
          <p:cNvPicPr>
            <a:picLocks noChangeAspect="1"/>
          </p:cNvPicPr>
          <p:nvPr/>
        </p:nvPicPr>
        <p:blipFill>
          <a:blip r:embed="rId4"/>
          <a:stretch>
            <a:fillRect/>
          </a:stretch>
        </p:blipFill>
        <p:spPr>
          <a:xfrm>
            <a:off x="1185528" y="3086248"/>
            <a:ext cx="162000" cy="162000"/>
          </a:xfrm>
          <a:prstGeom prst="rect">
            <a:avLst/>
          </a:prstGeom>
        </p:spPr>
      </p:pic>
      <p:pic>
        <p:nvPicPr>
          <p:cNvPr id="13" name="Imagen 12">
            <a:extLst>
              <a:ext uri="{FF2B5EF4-FFF2-40B4-BE49-F238E27FC236}">
                <a16:creationId xmlns:a16="http://schemas.microsoft.com/office/drawing/2014/main" id="{223A76D1-ABCB-7ADE-2A05-D1A9911DF65E}"/>
              </a:ext>
            </a:extLst>
          </p:cNvPr>
          <p:cNvPicPr>
            <a:picLocks noChangeAspect="1"/>
          </p:cNvPicPr>
          <p:nvPr/>
        </p:nvPicPr>
        <p:blipFill>
          <a:blip r:embed="rId5"/>
          <a:stretch>
            <a:fillRect/>
          </a:stretch>
        </p:blipFill>
        <p:spPr>
          <a:xfrm>
            <a:off x="10153841" y="4663525"/>
            <a:ext cx="162000" cy="162000"/>
          </a:xfrm>
          <a:prstGeom prst="rect">
            <a:avLst/>
          </a:prstGeom>
        </p:spPr>
      </p:pic>
    </p:spTree>
    <p:extLst>
      <p:ext uri="{BB962C8B-B14F-4D97-AF65-F5344CB8AC3E}">
        <p14:creationId xmlns:p14="http://schemas.microsoft.com/office/powerpoint/2010/main" val="2844686404"/>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25FC3-A06E-C89C-90E3-82287664BD37}"/>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667F25C5-F9F2-9FBE-013B-1BF3D7C9C98E}"/>
              </a:ext>
            </a:extLst>
          </p:cNvPr>
          <p:cNvSpPr txBox="1">
            <a:spLocks/>
          </p:cNvSpPr>
          <p:nvPr/>
        </p:nvSpPr>
        <p:spPr>
          <a:xfrm>
            <a:off x="1197603" y="463060"/>
            <a:ext cx="9482589" cy="902636"/>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algn="just"/>
            <a:r>
              <a:rPr lang="es-ES_tradnl" sz="3200" dirty="0">
                <a:solidFill>
                  <a:schemeClr val="accent1"/>
                </a:solidFill>
              </a:rPr>
              <a:t>Operación: </a:t>
            </a:r>
            <a:r>
              <a:rPr lang="es-ES_tradnl" sz="3200" dirty="0"/>
              <a:t>GJAJFLU </a:t>
            </a:r>
            <a:r>
              <a:rPr lang="es-ES" sz="3200" dirty="0"/>
              <a:t>Importar archivo al servidor de </a:t>
            </a:r>
          </a:p>
          <a:p>
            <a:pPr algn="just"/>
            <a:r>
              <a:rPr lang="es-ES" sz="3200" dirty="0"/>
              <a:t>envío de trabajos</a:t>
            </a:r>
          </a:p>
          <a:p>
            <a:pPr algn="just"/>
            <a:endParaRPr lang="es-CL" dirty="0"/>
          </a:p>
        </p:txBody>
      </p:sp>
      <p:sp>
        <p:nvSpPr>
          <p:cNvPr id="5" name="Rectángulo redondeado 5">
            <a:extLst>
              <a:ext uri="{FF2B5EF4-FFF2-40B4-BE49-F238E27FC236}">
                <a16:creationId xmlns:a16="http://schemas.microsoft.com/office/drawing/2014/main" id="{FFB5C5D5-8981-EC67-C671-567B45996108}"/>
              </a:ext>
            </a:extLst>
          </p:cNvPr>
          <p:cNvSpPr/>
          <p:nvPr/>
        </p:nvSpPr>
        <p:spPr>
          <a:xfrm>
            <a:off x="1304400" y="5046777"/>
            <a:ext cx="7931040" cy="50655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dirty="0"/>
              <a:t>El proceso genera la </a:t>
            </a:r>
            <a:r>
              <a:rPr lang="es-CO" sz="1200" b="1" dirty="0"/>
              <a:t>RUTA DEL ARCHIVO </a:t>
            </a:r>
            <a:r>
              <a:rPr lang="es-CO" sz="1200" dirty="0"/>
              <a:t>y se evidencia el mensaje de guardado con éxito en la parte superior.</a:t>
            </a:r>
            <a:endParaRPr lang="es-ES_tradnl" sz="1200" dirty="0"/>
          </a:p>
        </p:txBody>
      </p:sp>
      <p:pic>
        <p:nvPicPr>
          <p:cNvPr id="6" name="Imagen 5">
            <a:extLst>
              <a:ext uri="{FF2B5EF4-FFF2-40B4-BE49-F238E27FC236}">
                <a16:creationId xmlns:a16="http://schemas.microsoft.com/office/drawing/2014/main" id="{5B5F0477-9C85-B368-0464-02F5C3994126}"/>
              </a:ext>
            </a:extLst>
          </p:cNvPr>
          <p:cNvPicPr>
            <a:picLocks noChangeAspect="1"/>
          </p:cNvPicPr>
          <p:nvPr/>
        </p:nvPicPr>
        <p:blipFill>
          <a:blip r:embed="rId2"/>
          <a:stretch>
            <a:fillRect/>
          </a:stretch>
        </p:blipFill>
        <p:spPr>
          <a:xfrm>
            <a:off x="1304400" y="1663940"/>
            <a:ext cx="9583200" cy="3084593"/>
          </a:xfrm>
          <a:prstGeom prst="rect">
            <a:avLst/>
          </a:prstGeom>
        </p:spPr>
      </p:pic>
      <p:pic>
        <p:nvPicPr>
          <p:cNvPr id="8" name="Imagen 7">
            <a:extLst>
              <a:ext uri="{FF2B5EF4-FFF2-40B4-BE49-F238E27FC236}">
                <a16:creationId xmlns:a16="http://schemas.microsoft.com/office/drawing/2014/main" id="{E10C23CB-999B-7F67-CC32-24C42C238CE9}"/>
              </a:ext>
            </a:extLst>
          </p:cNvPr>
          <p:cNvPicPr>
            <a:picLocks noChangeAspect="1"/>
          </p:cNvPicPr>
          <p:nvPr/>
        </p:nvPicPr>
        <p:blipFill>
          <a:blip r:embed="rId3"/>
          <a:stretch>
            <a:fillRect/>
          </a:stretch>
        </p:blipFill>
        <p:spPr>
          <a:xfrm>
            <a:off x="3731057" y="4327666"/>
            <a:ext cx="162000" cy="162000"/>
          </a:xfrm>
          <a:prstGeom prst="rect">
            <a:avLst/>
          </a:prstGeom>
        </p:spPr>
      </p:pic>
      <p:pic>
        <p:nvPicPr>
          <p:cNvPr id="10" name="Imagen 9">
            <a:extLst>
              <a:ext uri="{FF2B5EF4-FFF2-40B4-BE49-F238E27FC236}">
                <a16:creationId xmlns:a16="http://schemas.microsoft.com/office/drawing/2014/main" id="{8F06FCC5-1E8F-A81D-9305-6D0D448E6145}"/>
              </a:ext>
            </a:extLst>
          </p:cNvPr>
          <p:cNvPicPr>
            <a:picLocks noChangeAspect="1"/>
          </p:cNvPicPr>
          <p:nvPr/>
        </p:nvPicPr>
        <p:blipFill>
          <a:blip r:embed="rId4"/>
          <a:stretch>
            <a:fillRect/>
          </a:stretch>
        </p:blipFill>
        <p:spPr>
          <a:xfrm>
            <a:off x="8279321" y="2293049"/>
            <a:ext cx="162000" cy="162000"/>
          </a:xfrm>
          <a:prstGeom prst="rect">
            <a:avLst/>
          </a:prstGeom>
        </p:spPr>
      </p:pic>
    </p:spTree>
    <p:extLst>
      <p:ext uri="{BB962C8B-B14F-4D97-AF65-F5344CB8AC3E}">
        <p14:creationId xmlns:p14="http://schemas.microsoft.com/office/powerpoint/2010/main" val="1005437427"/>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A7BC37-8E89-C14C-094D-5629C55AA8A0}"/>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3BE535AE-E71B-C293-E85A-EE759AB3C6F7}"/>
              </a:ext>
            </a:extLst>
          </p:cNvPr>
          <p:cNvSpPr txBox="1">
            <a:spLocks/>
          </p:cNvSpPr>
          <p:nvPr/>
        </p:nvSpPr>
        <p:spPr>
          <a:xfrm>
            <a:off x="1244977" y="704816"/>
            <a:ext cx="9702045" cy="554293"/>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Proceso:</a:t>
            </a:r>
            <a:r>
              <a:rPr lang="es-ES_tradnl" sz="3200" dirty="0">
                <a:solidFill>
                  <a:schemeClr val="tx2"/>
                </a:solidFill>
              </a:rPr>
              <a:t> </a:t>
            </a:r>
            <a:r>
              <a:rPr lang="en-US" sz="3200" cap="all" dirty="0"/>
              <a:t>TSPCSTU</a:t>
            </a:r>
            <a:r>
              <a:rPr lang="es-ES_tradnl" sz="3200" dirty="0"/>
              <a:t> </a:t>
            </a:r>
            <a:r>
              <a:rPr lang="es-CO" sz="3200" dirty="0"/>
              <a:t>Carga de alumnos en contratos</a:t>
            </a:r>
            <a:endParaRPr lang="es-ES" sz="3200" dirty="0"/>
          </a:p>
          <a:p>
            <a:pPr algn="just"/>
            <a:endParaRPr lang="es-CL" dirty="0"/>
          </a:p>
        </p:txBody>
      </p:sp>
      <p:sp>
        <p:nvSpPr>
          <p:cNvPr id="5" name="Rectángulo redondeado 5">
            <a:extLst>
              <a:ext uri="{FF2B5EF4-FFF2-40B4-BE49-F238E27FC236}">
                <a16:creationId xmlns:a16="http://schemas.microsoft.com/office/drawing/2014/main" id="{05057DD0-EDCD-2B76-5627-2316AECE92EF}"/>
              </a:ext>
            </a:extLst>
          </p:cNvPr>
          <p:cNvSpPr/>
          <p:nvPr/>
        </p:nvSpPr>
        <p:spPr>
          <a:xfrm>
            <a:off x="1363822" y="4035595"/>
            <a:ext cx="9583200" cy="554293"/>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dirty="0"/>
              <a:t>Se debe ingresar al proceso </a:t>
            </a:r>
            <a:r>
              <a:rPr lang="es-CO" sz="1200" b="1" dirty="0"/>
              <a:t>TSPCSTU</a:t>
            </a:r>
            <a:r>
              <a:rPr lang="es-CO" sz="1200" dirty="0"/>
              <a:t>, correspondiente al cargue masivo de alumnos por contrato, con el fin de registrar y procesar la información de los estudiantes de manera masiva según los parámetros establecidos.</a:t>
            </a:r>
          </a:p>
        </p:txBody>
      </p:sp>
      <p:pic>
        <p:nvPicPr>
          <p:cNvPr id="10" name="Imagen 9">
            <a:extLst>
              <a:ext uri="{FF2B5EF4-FFF2-40B4-BE49-F238E27FC236}">
                <a16:creationId xmlns:a16="http://schemas.microsoft.com/office/drawing/2014/main" id="{9922F32C-7D6B-ACFE-0A10-9841FE52130C}"/>
              </a:ext>
            </a:extLst>
          </p:cNvPr>
          <p:cNvPicPr>
            <a:picLocks noChangeAspect="1"/>
          </p:cNvPicPr>
          <p:nvPr/>
        </p:nvPicPr>
        <p:blipFill>
          <a:blip r:embed="rId2"/>
          <a:stretch>
            <a:fillRect/>
          </a:stretch>
        </p:blipFill>
        <p:spPr>
          <a:xfrm>
            <a:off x="1363822" y="1992993"/>
            <a:ext cx="9583200" cy="1658823"/>
          </a:xfrm>
          <a:prstGeom prst="rect">
            <a:avLst/>
          </a:prstGeom>
        </p:spPr>
      </p:pic>
    </p:spTree>
    <p:extLst>
      <p:ext uri="{BB962C8B-B14F-4D97-AF65-F5344CB8AC3E}">
        <p14:creationId xmlns:p14="http://schemas.microsoft.com/office/powerpoint/2010/main" val="3552917399"/>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76E22C-5AED-BD0E-E32E-CC090DB7F994}"/>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D1279E93-8777-2431-D4BC-2E0A480641DD}"/>
              </a:ext>
            </a:extLst>
          </p:cNvPr>
          <p:cNvSpPr txBox="1">
            <a:spLocks/>
          </p:cNvSpPr>
          <p:nvPr/>
        </p:nvSpPr>
        <p:spPr>
          <a:xfrm>
            <a:off x="1292163" y="284180"/>
            <a:ext cx="9702045" cy="554293"/>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Proceso:</a:t>
            </a:r>
            <a:r>
              <a:rPr lang="es-ES_tradnl" sz="3200" dirty="0">
                <a:solidFill>
                  <a:schemeClr val="tx2"/>
                </a:solidFill>
              </a:rPr>
              <a:t> </a:t>
            </a:r>
            <a:r>
              <a:rPr lang="en-US" sz="3200" cap="all" dirty="0"/>
              <a:t>TSPCSTU</a:t>
            </a:r>
            <a:r>
              <a:rPr lang="es-ES_tradnl" sz="3200" dirty="0"/>
              <a:t> </a:t>
            </a:r>
            <a:r>
              <a:rPr lang="es-CO" sz="3200" dirty="0"/>
              <a:t>Carga de alumnos en contratos</a:t>
            </a:r>
            <a:endParaRPr lang="es-ES" sz="3200" dirty="0"/>
          </a:p>
          <a:p>
            <a:pPr algn="just"/>
            <a:endParaRPr lang="es-CL" dirty="0"/>
          </a:p>
        </p:txBody>
      </p:sp>
      <p:sp>
        <p:nvSpPr>
          <p:cNvPr id="5" name="Rectángulo redondeado 5">
            <a:extLst>
              <a:ext uri="{FF2B5EF4-FFF2-40B4-BE49-F238E27FC236}">
                <a16:creationId xmlns:a16="http://schemas.microsoft.com/office/drawing/2014/main" id="{E43BDEFA-B20D-58AF-1D3D-E7F1F9623D09}"/>
              </a:ext>
            </a:extLst>
          </p:cNvPr>
          <p:cNvSpPr/>
          <p:nvPr/>
        </p:nvSpPr>
        <p:spPr>
          <a:xfrm>
            <a:off x="1411008" y="5417272"/>
            <a:ext cx="9583200" cy="928664"/>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dirty="0"/>
              <a:t>En la sección </a:t>
            </a:r>
            <a:r>
              <a:rPr lang="es-ES_tradnl" sz="1200" b="1" dirty="0"/>
              <a:t>“Control de Impresora”</a:t>
            </a:r>
            <a:r>
              <a:rPr lang="es-ES_tradnl" sz="1200" dirty="0"/>
              <a:t>, campo “Impresora” se debe asignar la sentencia </a:t>
            </a:r>
            <a:r>
              <a:rPr lang="es-ES_tradnl" sz="1200" b="1" dirty="0"/>
              <a:t>DATABASE</a:t>
            </a:r>
            <a:r>
              <a:rPr lang="es-ES_tradnl" sz="1200" dirty="0"/>
              <a:t>. </a:t>
            </a:r>
          </a:p>
          <a:p>
            <a:r>
              <a:rPr lang="es-ES_tradnl" sz="1200" dirty="0"/>
              <a:t>Luego, en la sección de “Valores de Parámetro”, se deben asignar los parámetros principales para la ejecución del proceso según corresponda.</a:t>
            </a:r>
          </a:p>
        </p:txBody>
      </p:sp>
      <p:pic>
        <p:nvPicPr>
          <p:cNvPr id="6" name="Imagen 5">
            <a:extLst>
              <a:ext uri="{FF2B5EF4-FFF2-40B4-BE49-F238E27FC236}">
                <a16:creationId xmlns:a16="http://schemas.microsoft.com/office/drawing/2014/main" id="{F81E3ECA-DAB0-3F69-3C32-94B30CD31EDA}"/>
              </a:ext>
            </a:extLst>
          </p:cNvPr>
          <p:cNvPicPr>
            <a:picLocks noChangeAspect="1"/>
          </p:cNvPicPr>
          <p:nvPr/>
        </p:nvPicPr>
        <p:blipFill>
          <a:blip r:embed="rId2"/>
          <a:stretch>
            <a:fillRect/>
          </a:stretch>
        </p:blipFill>
        <p:spPr>
          <a:xfrm>
            <a:off x="1351585" y="1037174"/>
            <a:ext cx="9583200" cy="4181396"/>
          </a:xfrm>
          <a:prstGeom prst="rect">
            <a:avLst/>
          </a:prstGeom>
        </p:spPr>
      </p:pic>
      <p:pic>
        <p:nvPicPr>
          <p:cNvPr id="8" name="Imagen 7">
            <a:extLst>
              <a:ext uri="{FF2B5EF4-FFF2-40B4-BE49-F238E27FC236}">
                <a16:creationId xmlns:a16="http://schemas.microsoft.com/office/drawing/2014/main" id="{D299D99E-5189-552C-24E3-896CC71AE54B}"/>
              </a:ext>
            </a:extLst>
          </p:cNvPr>
          <p:cNvPicPr>
            <a:picLocks noChangeAspect="1"/>
          </p:cNvPicPr>
          <p:nvPr/>
        </p:nvPicPr>
        <p:blipFill>
          <a:blip r:embed="rId3"/>
          <a:stretch>
            <a:fillRect/>
          </a:stretch>
        </p:blipFill>
        <p:spPr>
          <a:xfrm>
            <a:off x="1508419" y="2005243"/>
            <a:ext cx="162000" cy="162000"/>
          </a:xfrm>
          <a:prstGeom prst="rect">
            <a:avLst/>
          </a:prstGeom>
        </p:spPr>
      </p:pic>
    </p:spTree>
    <p:extLst>
      <p:ext uri="{BB962C8B-B14F-4D97-AF65-F5344CB8AC3E}">
        <p14:creationId xmlns:p14="http://schemas.microsoft.com/office/powerpoint/2010/main" val="2715506054"/>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B56BE2-5520-27CE-54DE-6B033D39E6D1}"/>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215988E7-D461-D851-6FE9-E5D8A75C1D28}"/>
              </a:ext>
            </a:extLst>
          </p:cNvPr>
          <p:cNvSpPr txBox="1">
            <a:spLocks/>
          </p:cNvSpPr>
          <p:nvPr/>
        </p:nvSpPr>
        <p:spPr>
          <a:xfrm>
            <a:off x="1215890" y="539411"/>
            <a:ext cx="9671710" cy="61802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Proceso:</a:t>
            </a:r>
            <a:r>
              <a:rPr lang="es-CO" sz="3200" dirty="0"/>
              <a:t>TSPCSTU Carga de alumnos en contratos</a:t>
            </a:r>
            <a:endParaRPr lang="es-ES" sz="3200" dirty="0"/>
          </a:p>
          <a:p>
            <a:endParaRPr lang="es-CL" dirty="0"/>
          </a:p>
        </p:txBody>
      </p:sp>
      <p:sp>
        <p:nvSpPr>
          <p:cNvPr id="3" name="Rectángulo redondeado 5">
            <a:extLst>
              <a:ext uri="{FF2B5EF4-FFF2-40B4-BE49-F238E27FC236}">
                <a16:creationId xmlns:a16="http://schemas.microsoft.com/office/drawing/2014/main" id="{01C697C2-6A47-DAF7-8988-45854D558201}"/>
              </a:ext>
            </a:extLst>
          </p:cNvPr>
          <p:cNvSpPr/>
          <p:nvPr/>
        </p:nvSpPr>
        <p:spPr>
          <a:xfrm>
            <a:off x="1304399" y="4867885"/>
            <a:ext cx="6583099" cy="1369929"/>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b="1" dirty="0"/>
              <a:t>Parámetros:</a:t>
            </a:r>
          </a:p>
          <a:p>
            <a:pPr marL="228600" indent="-228600">
              <a:buFont typeface="+mj-lt"/>
              <a:buAutoNum type="arabicPeriod"/>
            </a:pPr>
            <a:r>
              <a:rPr lang="es-ES" sz="1200" dirty="0"/>
              <a:t>I</a:t>
            </a:r>
            <a:r>
              <a:rPr lang="es-ES" sz="1200" dirty="0">
                <a:effectLst/>
              </a:rPr>
              <a:t>ngresar el ID de contrato.</a:t>
            </a:r>
            <a:endParaRPr lang="es-ES_tradnl" sz="1200" dirty="0"/>
          </a:p>
          <a:p>
            <a:pPr marL="228600" indent="-228600">
              <a:buFont typeface="+mj-lt"/>
              <a:buAutoNum type="arabicPeriod"/>
            </a:pPr>
            <a:r>
              <a:rPr lang="es-ES" sz="1200" dirty="0">
                <a:effectLst/>
              </a:rPr>
              <a:t>Ingresar el Número de contrato</a:t>
            </a:r>
          </a:p>
          <a:p>
            <a:pPr marL="228600" indent="-228600">
              <a:buFont typeface="+mj-lt"/>
              <a:buAutoNum type="arabicPeriod"/>
            </a:pPr>
            <a:r>
              <a:rPr lang="es-ES" sz="1200" dirty="0"/>
              <a:t>Ingresar periodo </a:t>
            </a:r>
            <a:endParaRPr lang="es-ES" sz="1200" dirty="0">
              <a:effectLst/>
            </a:endParaRPr>
          </a:p>
          <a:p>
            <a:pPr marL="228600" indent="-228600">
              <a:buFont typeface="+mj-lt"/>
              <a:buAutoNum type="arabicPeriod"/>
            </a:pPr>
            <a:r>
              <a:rPr lang="es-ES_tradnl" sz="1200" dirty="0"/>
              <a:t>Ingresar la ruta del archivo que genero GJAJFLU (no incluir el nombre del archivo).</a:t>
            </a:r>
          </a:p>
          <a:p>
            <a:pPr marL="228600" indent="-228600">
              <a:buFont typeface="+mj-lt"/>
              <a:buAutoNum type="arabicPeriod"/>
            </a:pPr>
            <a:r>
              <a:rPr lang="es-ES_tradnl" sz="1200" dirty="0"/>
              <a:t>Ingresar el nombre del archivo que se cargo en GJAJFLU.</a:t>
            </a:r>
          </a:p>
          <a:p>
            <a:pPr marL="228600" indent="-228600">
              <a:buFont typeface="+mj-lt"/>
              <a:buAutoNum type="arabicPeriod"/>
            </a:pPr>
            <a:r>
              <a:rPr lang="es-ES_tradnl" sz="1200" dirty="0"/>
              <a:t>Ingresar Modo de Ejecución= A (Auditoria), U (Actualizar).</a:t>
            </a:r>
          </a:p>
        </p:txBody>
      </p:sp>
      <p:pic>
        <p:nvPicPr>
          <p:cNvPr id="6" name="Imagen 5">
            <a:extLst>
              <a:ext uri="{FF2B5EF4-FFF2-40B4-BE49-F238E27FC236}">
                <a16:creationId xmlns:a16="http://schemas.microsoft.com/office/drawing/2014/main" id="{6445BE37-533E-B3AE-F0CC-982A750341F9}"/>
              </a:ext>
            </a:extLst>
          </p:cNvPr>
          <p:cNvPicPr>
            <a:picLocks noChangeAspect="1"/>
          </p:cNvPicPr>
          <p:nvPr/>
        </p:nvPicPr>
        <p:blipFill>
          <a:blip r:embed="rId2"/>
          <a:stretch>
            <a:fillRect/>
          </a:stretch>
        </p:blipFill>
        <p:spPr>
          <a:xfrm>
            <a:off x="1304399" y="1305150"/>
            <a:ext cx="9583200" cy="3209421"/>
          </a:xfrm>
          <a:prstGeom prst="rect">
            <a:avLst/>
          </a:prstGeom>
        </p:spPr>
      </p:pic>
      <p:pic>
        <p:nvPicPr>
          <p:cNvPr id="8" name="Imagen 7">
            <a:extLst>
              <a:ext uri="{FF2B5EF4-FFF2-40B4-BE49-F238E27FC236}">
                <a16:creationId xmlns:a16="http://schemas.microsoft.com/office/drawing/2014/main" id="{F4F03756-1D59-17D7-36C2-08FBBB705AEC}"/>
              </a:ext>
            </a:extLst>
          </p:cNvPr>
          <p:cNvPicPr>
            <a:picLocks noChangeAspect="1"/>
          </p:cNvPicPr>
          <p:nvPr/>
        </p:nvPicPr>
        <p:blipFill>
          <a:blip r:embed="rId3"/>
          <a:stretch>
            <a:fillRect/>
          </a:stretch>
        </p:blipFill>
        <p:spPr>
          <a:xfrm>
            <a:off x="1116602" y="2472233"/>
            <a:ext cx="162000" cy="162000"/>
          </a:xfrm>
          <a:prstGeom prst="rect">
            <a:avLst/>
          </a:prstGeom>
        </p:spPr>
      </p:pic>
    </p:spTree>
    <p:extLst>
      <p:ext uri="{BB962C8B-B14F-4D97-AF65-F5344CB8AC3E}">
        <p14:creationId xmlns:p14="http://schemas.microsoft.com/office/powerpoint/2010/main" val="3932371767"/>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C68147-4140-C46C-EB68-08A47F656523}"/>
            </a:ext>
          </a:extLst>
        </p:cNvPr>
        <p:cNvGrpSpPr/>
        <p:nvPr/>
      </p:nvGrpSpPr>
      <p:grpSpPr>
        <a:xfrm>
          <a:off x="0" y="0"/>
          <a:ext cx="0" cy="0"/>
          <a:chOff x="0" y="0"/>
          <a:chExt cx="0" cy="0"/>
        </a:xfrm>
      </p:grpSpPr>
      <p:sp>
        <p:nvSpPr>
          <p:cNvPr id="3" name="Rectángulo redondeado 5">
            <a:extLst>
              <a:ext uri="{FF2B5EF4-FFF2-40B4-BE49-F238E27FC236}">
                <a16:creationId xmlns:a16="http://schemas.microsoft.com/office/drawing/2014/main" id="{34EA6C3D-0847-785D-FA8D-E0381D7A3FD1}"/>
              </a:ext>
            </a:extLst>
          </p:cNvPr>
          <p:cNvSpPr/>
          <p:nvPr/>
        </p:nvSpPr>
        <p:spPr>
          <a:xfrm>
            <a:off x="1304400" y="5130921"/>
            <a:ext cx="6428232" cy="499563"/>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dirty="0"/>
              <a:t>Ingresados los parámetros, en la sección “Envío” seleccionar el Check </a:t>
            </a:r>
            <a:r>
              <a:rPr lang="es-ES_tradnl" sz="1200" b="1" dirty="0"/>
              <a:t>“Guardar parámetros como”.</a:t>
            </a:r>
          </a:p>
        </p:txBody>
      </p:sp>
      <p:sp>
        <p:nvSpPr>
          <p:cNvPr id="4" name="Rectángulo redondeado 5">
            <a:extLst>
              <a:ext uri="{FF2B5EF4-FFF2-40B4-BE49-F238E27FC236}">
                <a16:creationId xmlns:a16="http://schemas.microsoft.com/office/drawing/2014/main" id="{A0B26108-01A4-389B-E8D8-F0FCBE354E9C}"/>
              </a:ext>
            </a:extLst>
          </p:cNvPr>
          <p:cNvSpPr/>
          <p:nvPr/>
        </p:nvSpPr>
        <p:spPr>
          <a:xfrm>
            <a:off x="8328326" y="5122914"/>
            <a:ext cx="2559274" cy="499563"/>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dirty="0"/>
              <a:t>Presionar el botón </a:t>
            </a:r>
            <a:r>
              <a:rPr lang="es-ES_tradnl" sz="1200" b="1" dirty="0"/>
              <a:t>“Guardar”.</a:t>
            </a:r>
          </a:p>
        </p:txBody>
      </p:sp>
      <p:sp>
        <p:nvSpPr>
          <p:cNvPr id="7" name="Título 3">
            <a:extLst>
              <a:ext uri="{FF2B5EF4-FFF2-40B4-BE49-F238E27FC236}">
                <a16:creationId xmlns:a16="http://schemas.microsoft.com/office/drawing/2014/main" id="{FE1DE96A-29C7-0B49-2796-4BAE94966882}"/>
              </a:ext>
            </a:extLst>
          </p:cNvPr>
          <p:cNvSpPr txBox="1">
            <a:spLocks/>
          </p:cNvSpPr>
          <p:nvPr/>
        </p:nvSpPr>
        <p:spPr>
          <a:xfrm>
            <a:off x="1215890" y="471297"/>
            <a:ext cx="9671710" cy="61802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Proceso:</a:t>
            </a:r>
            <a:r>
              <a:rPr lang="es-CO" sz="3200" dirty="0"/>
              <a:t>TSPCSTU Carga de alumnos en contratos</a:t>
            </a:r>
            <a:endParaRPr lang="es-ES" sz="3200" dirty="0"/>
          </a:p>
          <a:p>
            <a:endParaRPr lang="es-CL" dirty="0"/>
          </a:p>
        </p:txBody>
      </p:sp>
      <p:pic>
        <p:nvPicPr>
          <p:cNvPr id="10" name="Imagen 9">
            <a:extLst>
              <a:ext uri="{FF2B5EF4-FFF2-40B4-BE49-F238E27FC236}">
                <a16:creationId xmlns:a16="http://schemas.microsoft.com/office/drawing/2014/main" id="{CCE42B09-0E16-653C-E311-38B1F3ACC774}"/>
              </a:ext>
            </a:extLst>
          </p:cNvPr>
          <p:cNvPicPr>
            <a:picLocks noChangeAspect="1"/>
          </p:cNvPicPr>
          <p:nvPr/>
        </p:nvPicPr>
        <p:blipFill>
          <a:blip r:embed="rId2"/>
          <a:stretch>
            <a:fillRect/>
          </a:stretch>
        </p:blipFill>
        <p:spPr>
          <a:xfrm>
            <a:off x="1304400" y="1227516"/>
            <a:ext cx="9583200" cy="3247696"/>
          </a:xfrm>
          <a:prstGeom prst="rect">
            <a:avLst/>
          </a:prstGeom>
        </p:spPr>
      </p:pic>
      <p:pic>
        <p:nvPicPr>
          <p:cNvPr id="12" name="Imagen 11">
            <a:extLst>
              <a:ext uri="{FF2B5EF4-FFF2-40B4-BE49-F238E27FC236}">
                <a16:creationId xmlns:a16="http://schemas.microsoft.com/office/drawing/2014/main" id="{20E052E9-9A2D-5AF8-EE47-AF9F847BDC25}"/>
              </a:ext>
            </a:extLst>
          </p:cNvPr>
          <p:cNvPicPr>
            <a:picLocks noChangeAspect="1"/>
          </p:cNvPicPr>
          <p:nvPr/>
        </p:nvPicPr>
        <p:blipFill>
          <a:blip r:embed="rId3"/>
          <a:stretch>
            <a:fillRect/>
          </a:stretch>
        </p:blipFill>
        <p:spPr>
          <a:xfrm>
            <a:off x="1304400" y="4363378"/>
            <a:ext cx="9583200" cy="439688"/>
          </a:xfrm>
          <a:prstGeom prst="rect">
            <a:avLst/>
          </a:prstGeom>
        </p:spPr>
      </p:pic>
      <p:pic>
        <p:nvPicPr>
          <p:cNvPr id="14" name="Imagen 13">
            <a:extLst>
              <a:ext uri="{FF2B5EF4-FFF2-40B4-BE49-F238E27FC236}">
                <a16:creationId xmlns:a16="http://schemas.microsoft.com/office/drawing/2014/main" id="{CAF8C56E-5EB9-9E57-7BA2-7CD23B6CE3FC}"/>
              </a:ext>
            </a:extLst>
          </p:cNvPr>
          <p:cNvPicPr>
            <a:picLocks noChangeAspect="1"/>
          </p:cNvPicPr>
          <p:nvPr/>
        </p:nvPicPr>
        <p:blipFill>
          <a:blip r:embed="rId4"/>
          <a:stretch>
            <a:fillRect/>
          </a:stretch>
        </p:blipFill>
        <p:spPr>
          <a:xfrm>
            <a:off x="10177577" y="4477269"/>
            <a:ext cx="162000" cy="162000"/>
          </a:xfrm>
          <a:prstGeom prst="rect">
            <a:avLst/>
          </a:prstGeom>
        </p:spPr>
      </p:pic>
      <p:pic>
        <p:nvPicPr>
          <p:cNvPr id="16" name="Imagen 15">
            <a:extLst>
              <a:ext uri="{FF2B5EF4-FFF2-40B4-BE49-F238E27FC236}">
                <a16:creationId xmlns:a16="http://schemas.microsoft.com/office/drawing/2014/main" id="{7C1B37CF-C139-B815-5D79-09727D771B80}"/>
              </a:ext>
            </a:extLst>
          </p:cNvPr>
          <p:cNvPicPr>
            <a:picLocks noChangeAspect="1"/>
          </p:cNvPicPr>
          <p:nvPr/>
        </p:nvPicPr>
        <p:blipFill>
          <a:blip r:embed="rId5"/>
          <a:stretch>
            <a:fillRect/>
          </a:stretch>
        </p:blipFill>
        <p:spPr>
          <a:xfrm>
            <a:off x="1777291" y="3972276"/>
            <a:ext cx="162000" cy="162000"/>
          </a:xfrm>
          <a:prstGeom prst="rect">
            <a:avLst/>
          </a:prstGeom>
        </p:spPr>
      </p:pic>
    </p:spTree>
    <p:extLst>
      <p:ext uri="{BB962C8B-B14F-4D97-AF65-F5344CB8AC3E}">
        <p14:creationId xmlns:p14="http://schemas.microsoft.com/office/powerpoint/2010/main" val="2564498726"/>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24CE6160-C9E2-7A0B-FBE1-A7CF0538E20D}"/>
              </a:ext>
            </a:extLst>
          </p:cNvPr>
          <p:cNvPicPr>
            <a:picLocks noChangeAspect="1"/>
          </p:cNvPicPr>
          <p:nvPr/>
        </p:nvPicPr>
        <p:blipFill>
          <a:blip r:embed="rId2"/>
          <a:stretch>
            <a:fillRect/>
          </a:stretch>
        </p:blipFill>
        <p:spPr>
          <a:xfrm>
            <a:off x="1304400" y="2285238"/>
            <a:ext cx="9583200" cy="1467428"/>
          </a:xfrm>
          <a:prstGeom prst="rect">
            <a:avLst/>
          </a:prstGeom>
        </p:spPr>
      </p:pic>
      <p:sp>
        <p:nvSpPr>
          <p:cNvPr id="5" name="Título 3">
            <a:extLst>
              <a:ext uri="{FF2B5EF4-FFF2-40B4-BE49-F238E27FC236}">
                <a16:creationId xmlns:a16="http://schemas.microsoft.com/office/drawing/2014/main" id="{5D03478E-BEFA-242F-46FB-01A278CA2E20}"/>
              </a:ext>
            </a:extLst>
          </p:cNvPr>
          <p:cNvSpPr txBox="1">
            <a:spLocks/>
          </p:cNvSpPr>
          <p:nvPr/>
        </p:nvSpPr>
        <p:spPr>
          <a:xfrm>
            <a:off x="1260145" y="654177"/>
            <a:ext cx="9671710" cy="61802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Proceso:</a:t>
            </a:r>
            <a:r>
              <a:rPr lang="es-CO" sz="3200" dirty="0"/>
              <a:t>TSPCSTU Carga de alumnos en contratos</a:t>
            </a:r>
            <a:endParaRPr lang="es-ES" sz="3200" dirty="0"/>
          </a:p>
          <a:p>
            <a:endParaRPr lang="es-CL" dirty="0"/>
          </a:p>
        </p:txBody>
      </p:sp>
      <p:sp>
        <p:nvSpPr>
          <p:cNvPr id="7" name="Rectángulo redondeado 5">
            <a:extLst>
              <a:ext uri="{FF2B5EF4-FFF2-40B4-BE49-F238E27FC236}">
                <a16:creationId xmlns:a16="http://schemas.microsoft.com/office/drawing/2014/main" id="{22320353-6BAA-3BFB-725A-F1B3AEA18362}"/>
              </a:ext>
            </a:extLst>
          </p:cNvPr>
          <p:cNvSpPr/>
          <p:nvPr/>
        </p:nvSpPr>
        <p:spPr>
          <a:xfrm>
            <a:off x="1304400" y="4336944"/>
            <a:ext cx="7647576" cy="543113"/>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dirty="0"/>
              <a:t>Confirmación de la ejecución del Proceso, se generación de los archivos </a:t>
            </a:r>
            <a:r>
              <a:rPr lang="es-ES_tradnl" sz="1200" b="1" dirty="0"/>
              <a:t>.LIS y .LOG </a:t>
            </a:r>
            <a:r>
              <a:rPr lang="es-ES_tradnl" sz="1200" dirty="0"/>
              <a:t> como lo indica la imagen. </a:t>
            </a:r>
            <a:endParaRPr lang="es-ES_tradnl" sz="1200" b="1" dirty="0"/>
          </a:p>
        </p:txBody>
      </p:sp>
      <p:pic>
        <p:nvPicPr>
          <p:cNvPr id="9" name="Imagen 8">
            <a:extLst>
              <a:ext uri="{FF2B5EF4-FFF2-40B4-BE49-F238E27FC236}">
                <a16:creationId xmlns:a16="http://schemas.microsoft.com/office/drawing/2014/main" id="{40F75943-9E23-815B-66B5-E5B25D795C6A}"/>
              </a:ext>
            </a:extLst>
          </p:cNvPr>
          <p:cNvPicPr>
            <a:picLocks noChangeAspect="1"/>
          </p:cNvPicPr>
          <p:nvPr/>
        </p:nvPicPr>
        <p:blipFill>
          <a:blip r:embed="rId3"/>
          <a:stretch>
            <a:fillRect/>
          </a:stretch>
        </p:blipFill>
        <p:spPr>
          <a:xfrm>
            <a:off x="6543209" y="2642571"/>
            <a:ext cx="162000" cy="162000"/>
          </a:xfrm>
          <a:prstGeom prst="rect">
            <a:avLst/>
          </a:prstGeom>
        </p:spPr>
      </p:pic>
    </p:spTree>
    <p:extLst>
      <p:ext uri="{BB962C8B-B14F-4D97-AF65-F5344CB8AC3E}">
        <p14:creationId xmlns:p14="http://schemas.microsoft.com/office/powerpoint/2010/main" val="2691548547"/>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6F917-40D4-7328-30A8-EB18B5CA07C1}"/>
            </a:ext>
          </a:extLst>
        </p:cNvPr>
        <p:cNvGrpSpPr/>
        <p:nvPr/>
      </p:nvGrpSpPr>
      <p:grpSpPr>
        <a:xfrm>
          <a:off x="0" y="0"/>
          <a:ext cx="0" cy="0"/>
          <a:chOff x="0" y="0"/>
          <a:chExt cx="0" cy="0"/>
        </a:xfrm>
      </p:grpSpPr>
      <p:sp>
        <p:nvSpPr>
          <p:cNvPr id="3" name="Rectángulo redondeado 5">
            <a:extLst>
              <a:ext uri="{FF2B5EF4-FFF2-40B4-BE49-F238E27FC236}">
                <a16:creationId xmlns:a16="http://schemas.microsoft.com/office/drawing/2014/main" id="{9D67265A-8322-1232-B73F-3D8ED9E88998}"/>
              </a:ext>
            </a:extLst>
          </p:cNvPr>
          <p:cNvSpPr/>
          <p:nvPr/>
        </p:nvSpPr>
        <p:spPr>
          <a:xfrm>
            <a:off x="1304400" y="5024227"/>
            <a:ext cx="9583200" cy="93802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b="1" dirty="0"/>
              <a:t>Revisión salida en GJIREVO</a:t>
            </a:r>
            <a:r>
              <a:rPr lang="es-ES_tradnl" sz="1200" dirty="0"/>
              <a:t>:</a:t>
            </a:r>
          </a:p>
          <a:p>
            <a:r>
              <a:rPr lang="es-ES_tradnl" sz="1200" dirty="0"/>
              <a:t>Para revisar los archivos .LIS y .LOG se debe ingresar a la aplicación </a:t>
            </a:r>
            <a:r>
              <a:rPr lang="es-ES_tradnl" sz="1200" b="1" dirty="0"/>
              <a:t>GJIREVO</a:t>
            </a:r>
            <a:r>
              <a:rPr lang="es-ES_tradnl" sz="1200" dirty="0"/>
              <a:t> o bien en la sección superior del menú, en la opción </a:t>
            </a:r>
            <a:r>
              <a:rPr lang="es-ES_tradnl" sz="1200" b="1" dirty="0"/>
              <a:t>“Relacionado</a:t>
            </a:r>
            <a:r>
              <a:rPr lang="es-ES_tradnl" sz="1200" dirty="0"/>
              <a:t>” se desplegaría una serie de opciones, dar clic en </a:t>
            </a:r>
            <a:r>
              <a:rPr lang="es-ES_tradnl" sz="1200" b="1" dirty="0"/>
              <a:t>Revisar Salida. </a:t>
            </a:r>
          </a:p>
        </p:txBody>
      </p:sp>
      <p:sp>
        <p:nvSpPr>
          <p:cNvPr id="6" name="Título 3">
            <a:extLst>
              <a:ext uri="{FF2B5EF4-FFF2-40B4-BE49-F238E27FC236}">
                <a16:creationId xmlns:a16="http://schemas.microsoft.com/office/drawing/2014/main" id="{40468116-CBC9-242B-AA4B-012713A77369}"/>
              </a:ext>
            </a:extLst>
          </p:cNvPr>
          <p:cNvSpPr txBox="1">
            <a:spLocks/>
          </p:cNvSpPr>
          <p:nvPr/>
        </p:nvSpPr>
        <p:spPr>
          <a:xfrm>
            <a:off x="1215890" y="398145"/>
            <a:ext cx="9671710" cy="61802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Proceso:</a:t>
            </a:r>
            <a:r>
              <a:rPr lang="es-CO" sz="3200" dirty="0"/>
              <a:t>TSPCSTU Carga de alumnos en contratos</a:t>
            </a:r>
            <a:endParaRPr lang="es-ES" sz="3200" dirty="0"/>
          </a:p>
          <a:p>
            <a:endParaRPr lang="es-CL" dirty="0"/>
          </a:p>
        </p:txBody>
      </p:sp>
      <p:pic>
        <p:nvPicPr>
          <p:cNvPr id="8" name="Imagen 7">
            <a:extLst>
              <a:ext uri="{FF2B5EF4-FFF2-40B4-BE49-F238E27FC236}">
                <a16:creationId xmlns:a16="http://schemas.microsoft.com/office/drawing/2014/main" id="{167305DF-36DC-91B6-A407-1F7991C7AEF2}"/>
              </a:ext>
            </a:extLst>
          </p:cNvPr>
          <p:cNvPicPr>
            <a:picLocks noChangeAspect="1"/>
          </p:cNvPicPr>
          <p:nvPr/>
        </p:nvPicPr>
        <p:blipFill>
          <a:blip r:embed="rId2"/>
          <a:stretch>
            <a:fillRect/>
          </a:stretch>
        </p:blipFill>
        <p:spPr>
          <a:xfrm>
            <a:off x="1348655" y="1364762"/>
            <a:ext cx="9583200" cy="3390825"/>
          </a:xfrm>
          <a:prstGeom prst="rect">
            <a:avLst/>
          </a:prstGeom>
        </p:spPr>
      </p:pic>
      <p:pic>
        <p:nvPicPr>
          <p:cNvPr id="14" name="Imagen 13">
            <a:extLst>
              <a:ext uri="{FF2B5EF4-FFF2-40B4-BE49-F238E27FC236}">
                <a16:creationId xmlns:a16="http://schemas.microsoft.com/office/drawing/2014/main" id="{AD268396-F6A2-44B6-0F2F-D8C72584ED2A}"/>
              </a:ext>
            </a:extLst>
          </p:cNvPr>
          <p:cNvPicPr>
            <a:picLocks noChangeAspect="1"/>
          </p:cNvPicPr>
          <p:nvPr/>
        </p:nvPicPr>
        <p:blipFill>
          <a:blip r:embed="rId3"/>
          <a:stretch>
            <a:fillRect/>
          </a:stretch>
        </p:blipFill>
        <p:spPr>
          <a:xfrm>
            <a:off x="10950143" y="1704137"/>
            <a:ext cx="162000" cy="162000"/>
          </a:xfrm>
          <a:prstGeom prst="rect">
            <a:avLst/>
          </a:prstGeom>
        </p:spPr>
      </p:pic>
      <p:pic>
        <p:nvPicPr>
          <p:cNvPr id="16" name="Imagen 15">
            <a:extLst>
              <a:ext uri="{FF2B5EF4-FFF2-40B4-BE49-F238E27FC236}">
                <a16:creationId xmlns:a16="http://schemas.microsoft.com/office/drawing/2014/main" id="{87B5CE0F-A4BC-C5E9-DB21-48E43560992F}"/>
              </a:ext>
            </a:extLst>
          </p:cNvPr>
          <p:cNvPicPr>
            <a:picLocks noChangeAspect="1"/>
          </p:cNvPicPr>
          <p:nvPr/>
        </p:nvPicPr>
        <p:blipFill>
          <a:blip r:embed="rId4"/>
          <a:stretch>
            <a:fillRect/>
          </a:stretch>
        </p:blipFill>
        <p:spPr>
          <a:xfrm>
            <a:off x="8937689" y="2247329"/>
            <a:ext cx="162000" cy="162000"/>
          </a:xfrm>
          <a:prstGeom prst="rect">
            <a:avLst/>
          </a:prstGeom>
        </p:spPr>
      </p:pic>
    </p:spTree>
    <p:extLst>
      <p:ext uri="{BB962C8B-B14F-4D97-AF65-F5344CB8AC3E}">
        <p14:creationId xmlns:p14="http://schemas.microsoft.com/office/powerpoint/2010/main" val="4134771201"/>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8ED10C-EAFB-0634-865A-EC416DBF58A0}"/>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3471B8F9-C05C-94DD-82AD-61EDB57EE79A}"/>
              </a:ext>
            </a:extLst>
          </p:cNvPr>
          <p:cNvPicPr>
            <a:picLocks noChangeAspect="1"/>
          </p:cNvPicPr>
          <p:nvPr/>
        </p:nvPicPr>
        <p:blipFill>
          <a:blip r:embed="rId2"/>
          <a:stretch>
            <a:fillRect/>
          </a:stretch>
        </p:blipFill>
        <p:spPr>
          <a:xfrm>
            <a:off x="1304400" y="1071031"/>
            <a:ext cx="9583200" cy="4304699"/>
          </a:xfrm>
          <a:prstGeom prst="rect">
            <a:avLst/>
          </a:prstGeom>
        </p:spPr>
      </p:pic>
      <p:sp>
        <p:nvSpPr>
          <p:cNvPr id="6" name="Título 3">
            <a:extLst>
              <a:ext uri="{FF2B5EF4-FFF2-40B4-BE49-F238E27FC236}">
                <a16:creationId xmlns:a16="http://schemas.microsoft.com/office/drawing/2014/main" id="{950938C9-E2B7-7220-58F6-69C360052FCA}"/>
              </a:ext>
            </a:extLst>
          </p:cNvPr>
          <p:cNvSpPr txBox="1">
            <a:spLocks/>
          </p:cNvSpPr>
          <p:nvPr/>
        </p:nvSpPr>
        <p:spPr>
          <a:xfrm>
            <a:off x="1260145" y="327440"/>
            <a:ext cx="9671710" cy="61802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Resultado:</a:t>
            </a:r>
            <a:r>
              <a:rPr lang="es-CO" sz="3200" dirty="0"/>
              <a:t>TSPCSTU Carga de alumnos en contratos</a:t>
            </a:r>
            <a:endParaRPr lang="es-ES" sz="3200" dirty="0"/>
          </a:p>
          <a:p>
            <a:endParaRPr lang="es-CL" dirty="0"/>
          </a:p>
        </p:txBody>
      </p:sp>
      <p:sp>
        <p:nvSpPr>
          <p:cNvPr id="8" name="Rectángulo redondeado 5">
            <a:extLst>
              <a:ext uri="{FF2B5EF4-FFF2-40B4-BE49-F238E27FC236}">
                <a16:creationId xmlns:a16="http://schemas.microsoft.com/office/drawing/2014/main" id="{CDB091CA-666E-464A-C86B-E2D1365D67FF}"/>
              </a:ext>
            </a:extLst>
          </p:cNvPr>
          <p:cNvSpPr/>
          <p:nvPr/>
        </p:nvSpPr>
        <p:spPr>
          <a:xfrm>
            <a:off x="1304400" y="5516981"/>
            <a:ext cx="8351404" cy="704568"/>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ES_tradnl" sz="1200" b="1" dirty="0"/>
              <a:t>Revisión salida en GJIREVO</a:t>
            </a:r>
            <a:r>
              <a:rPr lang="es-ES_tradnl" sz="1200" dirty="0"/>
              <a:t>:</a:t>
            </a:r>
          </a:p>
          <a:p>
            <a:pPr algn="just"/>
            <a:r>
              <a:rPr lang="es-ES_tradnl" sz="1200" dirty="0"/>
              <a:t>En la ventana emergente se debe seleccionar el archivo a analizar, .</a:t>
            </a:r>
            <a:r>
              <a:rPr lang="es-ES_tradnl" sz="1200" b="1" dirty="0"/>
              <a:t>LIS o .LOG</a:t>
            </a:r>
            <a:r>
              <a:rPr lang="es-ES_tradnl" sz="1200" dirty="0"/>
              <a:t>, luego dar clic al botón </a:t>
            </a:r>
            <a:r>
              <a:rPr lang="es-ES_tradnl" sz="1200" b="1" dirty="0"/>
              <a:t>OK.</a:t>
            </a:r>
          </a:p>
        </p:txBody>
      </p:sp>
      <p:pic>
        <p:nvPicPr>
          <p:cNvPr id="18" name="Imagen 17">
            <a:extLst>
              <a:ext uri="{FF2B5EF4-FFF2-40B4-BE49-F238E27FC236}">
                <a16:creationId xmlns:a16="http://schemas.microsoft.com/office/drawing/2014/main" id="{CA4D25CD-0FE9-3985-FF6A-D90B384E8293}"/>
              </a:ext>
            </a:extLst>
          </p:cNvPr>
          <p:cNvPicPr>
            <a:picLocks noChangeAspect="1"/>
          </p:cNvPicPr>
          <p:nvPr/>
        </p:nvPicPr>
        <p:blipFill>
          <a:blip r:embed="rId3"/>
          <a:stretch>
            <a:fillRect/>
          </a:stretch>
        </p:blipFill>
        <p:spPr>
          <a:xfrm>
            <a:off x="3493313" y="1850441"/>
            <a:ext cx="162000" cy="162000"/>
          </a:xfrm>
          <a:prstGeom prst="rect">
            <a:avLst/>
          </a:prstGeom>
        </p:spPr>
      </p:pic>
      <p:pic>
        <p:nvPicPr>
          <p:cNvPr id="20" name="Imagen 19">
            <a:extLst>
              <a:ext uri="{FF2B5EF4-FFF2-40B4-BE49-F238E27FC236}">
                <a16:creationId xmlns:a16="http://schemas.microsoft.com/office/drawing/2014/main" id="{ECE64923-9AE9-2368-F327-7AFDA59DF556}"/>
              </a:ext>
            </a:extLst>
          </p:cNvPr>
          <p:cNvPicPr>
            <a:picLocks noChangeAspect="1"/>
          </p:cNvPicPr>
          <p:nvPr/>
        </p:nvPicPr>
        <p:blipFill>
          <a:blip r:embed="rId4"/>
          <a:stretch>
            <a:fillRect/>
          </a:stretch>
        </p:blipFill>
        <p:spPr>
          <a:xfrm>
            <a:off x="4116403" y="3527489"/>
            <a:ext cx="162000" cy="162000"/>
          </a:xfrm>
          <a:prstGeom prst="rect">
            <a:avLst/>
          </a:prstGeom>
        </p:spPr>
      </p:pic>
      <p:pic>
        <p:nvPicPr>
          <p:cNvPr id="22" name="Imagen 21">
            <a:extLst>
              <a:ext uri="{FF2B5EF4-FFF2-40B4-BE49-F238E27FC236}">
                <a16:creationId xmlns:a16="http://schemas.microsoft.com/office/drawing/2014/main" id="{676AED88-8B77-EF6C-2A57-B2C26BE8E97C}"/>
              </a:ext>
            </a:extLst>
          </p:cNvPr>
          <p:cNvPicPr>
            <a:picLocks noChangeAspect="1"/>
          </p:cNvPicPr>
          <p:nvPr/>
        </p:nvPicPr>
        <p:blipFill>
          <a:blip r:embed="rId5"/>
          <a:stretch>
            <a:fillRect/>
          </a:stretch>
        </p:blipFill>
        <p:spPr>
          <a:xfrm>
            <a:off x="7962331" y="5039299"/>
            <a:ext cx="162000" cy="162000"/>
          </a:xfrm>
          <a:prstGeom prst="rect">
            <a:avLst/>
          </a:prstGeom>
        </p:spPr>
      </p:pic>
      <p:pic>
        <p:nvPicPr>
          <p:cNvPr id="24" name="Imagen 23">
            <a:extLst>
              <a:ext uri="{FF2B5EF4-FFF2-40B4-BE49-F238E27FC236}">
                <a16:creationId xmlns:a16="http://schemas.microsoft.com/office/drawing/2014/main" id="{590DA880-D286-C48E-2231-243FC4C42AE4}"/>
              </a:ext>
            </a:extLst>
          </p:cNvPr>
          <p:cNvPicPr>
            <a:picLocks noChangeAspect="1"/>
          </p:cNvPicPr>
          <p:nvPr/>
        </p:nvPicPr>
        <p:blipFill>
          <a:blip r:embed="rId6"/>
          <a:stretch>
            <a:fillRect/>
          </a:stretch>
        </p:blipFill>
        <p:spPr>
          <a:xfrm>
            <a:off x="10306891" y="1707341"/>
            <a:ext cx="162000" cy="162000"/>
          </a:xfrm>
          <a:prstGeom prst="rect">
            <a:avLst/>
          </a:prstGeom>
        </p:spPr>
      </p:pic>
    </p:spTree>
    <p:extLst>
      <p:ext uri="{BB962C8B-B14F-4D97-AF65-F5344CB8AC3E}">
        <p14:creationId xmlns:p14="http://schemas.microsoft.com/office/powerpoint/2010/main" val="3237215427"/>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316CF-5B62-50A6-125A-268B621E3295}"/>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B7BF2F21-EA2E-B99F-FFBF-5E8CE1350528}"/>
              </a:ext>
            </a:extLst>
          </p:cNvPr>
          <p:cNvPicPr>
            <a:picLocks noChangeAspect="1"/>
          </p:cNvPicPr>
          <p:nvPr/>
        </p:nvPicPr>
        <p:blipFill>
          <a:blip r:embed="rId2"/>
          <a:stretch>
            <a:fillRect/>
          </a:stretch>
        </p:blipFill>
        <p:spPr>
          <a:xfrm>
            <a:off x="1304400" y="1089152"/>
            <a:ext cx="9583200" cy="4152720"/>
          </a:xfrm>
          <a:prstGeom prst="rect">
            <a:avLst/>
          </a:prstGeom>
        </p:spPr>
      </p:pic>
      <p:sp>
        <p:nvSpPr>
          <p:cNvPr id="6" name="Título 3">
            <a:extLst>
              <a:ext uri="{FF2B5EF4-FFF2-40B4-BE49-F238E27FC236}">
                <a16:creationId xmlns:a16="http://schemas.microsoft.com/office/drawing/2014/main" id="{807613DF-1EBC-DDF1-D84E-0804A7B8831A}"/>
              </a:ext>
            </a:extLst>
          </p:cNvPr>
          <p:cNvSpPr txBox="1">
            <a:spLocks/>
          </p:cNvSpPr>
          <p:nvPr/>
        </p:nvSpPr>
        <p:spPr>
          <a:xfrm>
            <a:off x="1260145" y="354872"/>
            <a:ext cx="9671710" cy="61802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Resultado:</a:t>
            </a:r>
            <a:r>
              <a:rPr lang="es-CO" sz="3200" dirty="0"/>
              <a:t>TSPCSTU Carga de alumnos en contratos</a:t>
            </a:r>
            <a:endParaRPr lang="es-ES" sz="3200" dirty="0"/>
          </a:p>
          <a:p>
            <a:endParaRPr lang="es-CL" dirty="0"/>
          </a:p>
        </p:txBody>
      </p:sp>
      <p:sp>
        <p:nvSpPr>
          <p:cNvPr id="8" name="Rectángulo redondeado 5">
            <a:extLst>
              <a:ext uri="{FF2B5EF4-FFF2-40B4-BE49-F238E27FC236}">
                <a16:creationId xmlns:a16="http://schemas.microsoft.com/office/drawing/2014/main" id="{C0AEA676-7AF3-8E65-40AD-CE12A54D02A4}"/>
              </a:ext>
            </a:extLst>
          </p:cNvPr>
          <p:cNvSpPr/>
          <p:nvPr/>
        </p:nvSpPr>
        <p:spPr>
          <a:xfrm>
            <a:off x="1304400" y="5534491"/>
            <a:ext cx="6970920" cy="468714"/>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dirty="0"/>
              <a:t>El archivo</a:t>
            </a:r>
            <a:r>
              <a:rPr lang="es-ES_tradnl" sz="1200" b="1" dirty="0"/>
              <a:t> .LIS </a:t>
            </a:r>
            <a:r>
              <a:rPr lang="es-ES_tradnl" sz="1200" dirty="0"/>
              <a:t>confirma el registro de los alumnos de manera correcta en el contrato indicado. </a:t>
            </a:r>
          </a:p>
        </p:txBody>
      </p:sp>
      <p:pic>
        <p:nvPicPr>
          <p:cNvPr id="10" name="Imagen 9">
            <a:extLst>
              <a:ext uri="{FF2B5EF4-FFF2-40B4-BE49-F238E27FC236}">
                <a16:creationId xmlns:a16="http://schemas.microsoft.com/office/drawing/2014/main" id="{0A77E072-41DD-A142-C3BE-0F249B3F99B4}"/>
              </a:ext>
            </a:extLst>
          </p:cNvPr>
          <p:cNvPicPr>
            <a:picLocks noChangeAspect="1"/>
          </p:cNvPicPr>
          <p:nvPr/>
        </p:nvPicPr>
        <p:blipFill>
          <a:blip r:embed="rId3"/>
          <a:stretch>
            <a:fillRect/>
          </a:stretch>
        </p:blipFill>
        <p:spPr>
          <a:xfrm>
            <a:off x="1098145" y="3256004"/>
            <a:ext cx="162000" cy="162000"/>
          </a:xfrm>
          <a:prstGeom prst="rect">
            <a:avLst/>
          </a:prstGeom>
        </p:spPr>
      </p:pic>
    </p:spTree>
    <p:extLst>
      <p:ext uri="{BB962C8B-B14F-4D97-AF65-F5344CB8AC3E}">
        <p14:creationId xmlns:p14="http://schemas.microsoft.com/office/powerpoint/2010/main" val="1176176691"/>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FEDE25-E75B-0519-C7D5-A7164949B48E}"/>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E20217AE-2F62-0809-4AF1-5FEE860F2D1D}"/>
              </a:ext>
            </a:extLst>
          </p:cNvPr>
          <p:cNvPicPr>
            <a:picLocks noChangeAspect="1"/>
          </p:cNvPicPr>
          <p:nvPr/>
        </p:nvPicPr>
        <p:blipFill>
          <a:blip r:embed="rId2"/>
          <a:stretch>
            <a:fillRect/>
          </a:stretch>
        </p:blipFill>
        <p:spPr>
          <a:xfrm>
            <a:off x="1304400" y="1397067"/>
            <a:ext cx="9583200" cy="3496167"/>
          </a:xfrm>
          <a:prstGeom prst="rect">
            <a:avLst/>
          </a:prstGeom>
        </p:spPr>
      </p:pic>
      <p:sp>
        <p:nvSpPr>
          <p:cNvPr id="6" name="Título 3">
            <a:extLst>
              <a:ext uri="{FF2B5EF4-FFF2-40B4-BE49-F238E27FC236}">
                <a16:creationId xmlns:a16="http://schemas.microsoft.com/office/drawing/2014/main" id="{20494832-BD53-D4E7-AA3A-619604B75BF4}"/>
              </a:ext>
            </a:extLst>
          </p:cNvPr>
          <p:cNvSpPr txBox="1">
            <a:spLocks/>
          </p:cNvSpPr>
          <p:nvPr/>
        </p:nvSpPr>
        <p:spPr>
          <a:xfrm>
            <a:off x="1260145" y="400592"/>
            <a:ext cx="9671710" cy="61802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Resultado:</a:t>
            </a:r>
            <a:r>
              <a:rPr lang="es-CO" sz="3200" dirty="0"/>
              <a:t>TSPCSTU Carga de alumnos en contratos</a:t>
            </a:r>
            <a:endParaRPr lang="es-ES" sz="3200" dirty="0"/>
          </a:p>
          <a:p>
            <a:endParaRPr lang="es-CL" dirty="0"/>
          </a:p>
        </p:txBody>
      </p:sp>
      <p:sp>
        <p:nvSpPr>
          <p:cNvPr id="8" name="Rectángulo redondeado 5">
            <a:extLst>
              <a:ext uri="{FF2B5EF4-FFF2-40B4-BE49-F238E27FC236}">
                <a16:creationId xmlns:a16="http://schemas.microsoft.com/office/drawing/2014/main" id="{0EC36DBD-093C-F4F4-C8F2-6D40D8495827}"/>
              </a:ext>
            </a:extLst>
          </p:cNvPr>
          <p:cNvSpPr/>
          <p:nvPr/>
        </p:nvSpPr>
        <p:spPr>
          <a:xfrm>
            <a:off x="1304400" y="5370387"/>
            <a:ext cx="3282957" cy="508696"/>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dirty="0"/>
              <a:t>El archivo </a:t>
            </a:r>
            <a:r>
              <a:rPr lang="es-ES_tradnl" sz="1200" b="1" dirty="0"/>
              <a:t>.LOG </a:t>
            </a:r>
            <a:r>
              <a:rPr lang="es-ES_tradnl" sz="1200" dirty="0"/>
              <a:t>confirma ejecución completa.</a:t>
            </a:r>
          </a:p>
        </p:txBody>
      </p:sp>
      <p:pic>
        <p:nvPicPr>
          <p:cNvPr id="10" name="Imagen 9">
            <a:extLst>
              <a:ext uri="{FF2B5EF4-FFF2-40B4-BE49-F238E27FC236}">
                <a16:creationId xmlns:a16="http://schemas.microsoft.com/office/drawing/2014/main" id="{5625C4C5-88B7-7896-DE08-5D675A24ED07}"/>
              </a:ext>
            </a:extLst>
          </p:cNvPr>
          <p:cNvPicPr>
            <a:picLocks noChangeAspect="1"/>
          </p:cNvPicPr>
          <p:nvPr/>
        </p:nvPicPr>
        <p:blipFill>
          <a:blip r:embed="rId3"/>
          <a:stretch>
            <a:fillRect/>
          </a:stretch>
        </p:blipFill>
        <p:spPr>
          <a:xfrm>
            <a:off x="1107289" y="3523147"/>
            <a:ext cx="162000" cy="162000"/>
          </a:xfrm>
          <a:prstGeom prst="rect">
            <a:avLst/>
          </a:prstGeom>
        </p:spPr>
      </p:pic>
    </p:spTree>
    <p:extLst>
      <p:ext uri="{BB962C8B-B14F-4D97-AF65-F5344CB8AC3E}">
        <p14:creationId xmlns:p14="http://schemas.microsoft.com/office/powerpoint/2010/main" val="858451083"/>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97DAA3-E851-8D34-8939-9166C13281B1}"/>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04187F10-4A4E-3C82-0A8C-48CD8A3AF528}"/>
              </a:ext>
            </a:extLst>
          </p:cNvPr>
          <p:cNvPicPr>
            <a:picLocks noChangeAspect="1"/>
          </p:cNvPicPr>
          <p:nvPr/>
        </p:nvPicPr>
        <p:blipFill>
          <a:blip r:embed="rId2"/>
          <a:stretch>
            <a:fillRect/>
          </a:stretch>
        </p:blipFill>
        <p:spPr>
          <a:xfrm>
            <a:off x="1304400" y="1922458"/>
            <a:ext cx="9583200" cy="2095234"/>
          </a:xfrm>
          <a:prstGeom prst="rect">
            <a:avLst/>
          </a:prstGeom>
        </p:spPr>
      </p:pic>
      <p:sp>
        <p:nvSpPr>
          <p:cNvPr id="6" name="Título 3">
            <a:extLst>
              <a:ext uri="{FF2B5EF4-FFF2-40B4-BE49-F238E27FC236}">
                <a16:creationId xmlns:a16="http://schemas.microsoft.com/office/drawing/2014/main" id="{08AF74B1-C367-9792-B9BB-5A8F0D299D34}"/>
              </a:ext>
            </a:extLst>
          </p:cNvPr>
          <p:cNvSpPr txBox="1">
            <a:spLocks/>
          </p:cNvSpPr>
          <p:nvPr/>
        </p:nvSpPr>
        <p:spPr>
          <a:xfrm>
            <a:off x="1260145" y="729776"/>
            <a:ext cx="9671710" cy="61802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Resultado: </a:t>
            </a:r>
            <a:r>
              <a:rPr lang="es-CO" sz="3200" dirty="0"/>
              <a:t>TSACONT Autorización de Contrato </a:t>
            </a:r>
          </a:p>
          <a:p>
            <a:r>
              <a:rPr lang="es-ES_tradnl" sz="3200" dirty="0">
                <a:solidFill>
                  <a:schemeClr val="accent1"/>
                </a:solidFill>
              </a:rPr>
              <a:t> </a:t>
            </a:r>
            <a:endParaRPr lang="es-ES" sz="3200" dirty="0"/>
          </a:p>
          <a:p>
            <a:endParaRPr lang="es-CL" dirty="0"/>
          </a:p>
        </p:txBody>
      </p:sp>
      <p:sp>
        <p:nvSpPr>
          <p:cNvPr id="10" name="Rectángulo redondeado 5">
            <a:extLst>
              <a:ext uri="{FF2B5EF4-FFF2-40B4-BE49-F238E27FC236}">
                <a16:creationId xmlns:a16="http://schemas.microsoft.com/office/drawing/2014/main" id="{2127461E-3D03-F86A-6F70-82236A58A0F0}"/>
              </a:ext>
            </a:extLst>
          </p:cNvPr>
          <p:cNvSpPr/>
          <p:nvPr/>
        </p:nvSpPr>
        <p:spPr>
          <a:xfrm>
            <a:off x="1304400" y="4562856"/>
            <a:ext cx="5004960" cy="410176"/>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dirty="0"/>
              <a:t>Se valida en </a:t>
            </a:r>
            <a:r>
              <a:rPr lang="es-ES_tradnl" sz="1200" b="1" dirty="0"/>
              <a:t>TSACONT </a:t>
            </a:r>
            <a:r>
              <a:rPr lang="es-ES_tradnl" sz="1200" dirty="0"/>
              <a:t>el registro de los </a:t>
            </a:r>
            <a:r>
              <a:rPr lang="es-ES_tradnl" sz="1200" dirty="0" err="1"/>
              <a:t>ID´s</a:t>
            </a:r>
            <a:r>
              <a:rPr lang="es-ES_tradnl" sz="1200" dirty="0"/>
              <a:t> cargados por template.</a:t>
            </a:r>
          </a:p>
        </p:txBody>
      </p:sp>
    </p:spTree>
    <p:extLst>
      <p:ext uri="{BB962C8B-B14F-4D97-AF65-F5344CB8AC3E}">
        <p14:creationId xmlns:p14="http://schemas.microsoft.com/office/powerpoint/2010/main" val="211697286"/>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8E35E8-6467-DD73-C7AB-A775B8206C15}"/>
            </a:ext>
          </a:extLst>
        </p:cNvPr>
        <p:cNvGrpSpPr/>
        <p:nvPr/>
      </p:nvGrpSpPr>
      <p:grpSpPr>
        <a:xfrm>
          <a:off x="0" y="0"/>
          <a:ext cx="0" cy="0"/>
          <a:chOff x="0" y="0"/>
          <a:chExt cx="0" cy="0"/>
        </a:xfrm>
      </p:grpSpPr>
      <p:sp>
        <p:nvSpPr>
          <p:cNvPr id="5" name="CuadroTexto 4">
            <a:extLst>
              <a:ext uri="{FF2B5EF4-FFF2-40B4-BE49-F238E27FC236}">
                <a16:creationId xmlns:a16="http://schemas.microsoft.com/office/drawing/2014/main" id="{C5A93A9E-DD44-FA73-A8BE-17BA6E56A249}"/>
              </a:ext>
            </a:extLst>
          </p:cNvPr>
          <p:cNvSpPr txBox="1"/>
          <p:nvPr/>
        </p:nvSpPr>
        <p:spPr>
          <a:xfrm>
            <a:off x="612648" y="2620780"/>
            <a:ext cx="10762488" cy="1015663"/>
          </a:xfrm>
          <a:prstGeom prst="rect">
            <a:avLst/>
          </a:prstGeom>
          <a:noFill/>
        </p:spPr>
        <p:txBody>
          <a:bodyPr wrap="square">
            <a:spAutoFit/>
          </a:bodyPr>
          <a:lstStyle/>
          <a:p>
            <a:r>
              <a:rPr lang="es-CO" sz="6000" b="1" dirty="0">
                <a:solidFill>
                  <a:schemeClr val="bg1"/>
                </a:solidFill>
              </a:rPr>
              <a:t>Aplicación Masiva de Contrato</a:t>
            </a:r>
            <a:endParaRPr lang="en-US" sz="6000" b="1" dirty="0">
              <a:solidFill>
                <a:schemeClr val="bg1"/>
              </a:solidFill>
            </a:endParaRPr>
          </a:p>
        </p:txBody>
      </p:sp>
      <p:sp>
        <p:nvSpPr>
          <p:cNvPr id="2" name="Text Placeholder 16">
            <a:extLst>
              <a:ext uri="{FF2B5EF4-FFF2-40B4-BE49-F238E27FC236}">
                <a16:creationId xmlns:a16="http://schemas.microsoft.com/office/drawing/2014/main" id="{CBDE042A-46AC-A860-0AEE-EAFDC21B5AD0}"/>
              </a:ext>
            </a:extLst>
          </p:cNvPr>
          <p:cNvSpPr txBox="1">
            <a:spLocks/>
          </p:cNvSpPr>
          <p:nvPr/>
        </p:nvSpPr>
        <p:spPr>
          <a:xfrm>
            <a:off x="612648" y="3855899"/>
            <a:ext cx="3374136" cy="533221"/>
          </a:xfrm>
          <a:prstGeom prst="rect">
            <a:avLst/>
          </a:prstGeom>
        </p:spPr>
        <p:txBody>
          <a:bodyPr/>
          <a:lst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CO" sz="2000" b="1" dirty="0">
                <a:solidFill>
                  <a:schemeClr val="bg1"/>
                </a:solidFill>
              </a:rPr>
              <a:t>Gestionar los beneficios</a:t>
            </a:r>
          </a:p>
        </p:txBody>
      </p:sp>
    </p:spTree>
    <p:extLst>
      <p:ext uri="{BB962C8B-B14F-4D97-AF65-F5344CB8AC3E}">
        <p14:creationId xmlns:p14="http://schemas.microsoft.com/office/powerpoint/2010/main" val="530644373"/>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AA417D-8212-9C6C-C61D-8508E3E20407}"/>
            </a:ext>
          </a:extLst>
        </p:cNvPr>
        <p:cNvGrpSpPr/>
        <p:nvPr/>
      </p:nvGrpSpPr>
      <p:grpSpPr>
        <a:xfrm>
          <a:off x="0" y="0"/>
          <a:ext cx="0" cy="0"/>
          <a:chOff x="0" y="0"/>
          <a:chExt cx="0" cy="0"/>
        </a:xfrm>
      </p:grpSpPr>
      <p:sp>
        <p:nvSpPr>
          <p:cNvPr id="3" name="Título 3">
            <a:extLst>
              <a:ext uri="{FF2B5EF4-FFF2-40B4-BE49-F238E27FC236}">
                <a16:creationId xmlns:a16="http://schemas.microsoft.com/office/drawing/2014/main" id="{5D4789EC-E26A-8645-0A95-F66DAF280FAD}"/>
              </a:ext>
            </a:extLst>
          </p:cNvPr>
          <p:cNvSpPr txBox="1">
            <a:spLocks/>
          </p:cNvSpPr>
          <p:nvPr/>
        </p:nvSpPr>
        <p:spPr>
          <a:xfrm>
            <a:off x="1163337" y="552072"/>
            <a:ext cx="10520358" cy="578351"/>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dirty="0">
                <a:solidFill>
                  <a:schemeClr val="accent1"/>
                </a:solidFill>
              </a:rPr>
              <a:t>Escenario Previo: </a:t>
            </a:r>
            <a:r>
              <a:rPr lang="es-CO" sz="3200" dirty="0"/>
              <a:t>TSAAREV Revisión de detalle de </a:t>
            </a:r>
          </a:p>
          <a:p>
            <a:r>
              <a:rPr lang="es-CO" sz="3200" dirty="0"/>
              <a:t>cuenta – alumno</a:t>
            </a:r>
            <a:endParaRPr lang="es-CL" b="0" dirty="0"/>
          </a:p>
        </p:txBody>
      </p:sp>
      <p:sp>
        <p:nvSpPr>
          <p:cNvPr id="4" name="Rectángulo redondeado 5">
            <a:extLst>
              <a:ext uri="{FF2B5EF4-FFF2-40B4-BE49-F238E27FC236}">
                <a16:creationId xmlns:a16="http://schemas.microsoft.com/office/drawing/2014/main" id="{4C440ED2-4974-3BE7-C2A2-4E5869DC7A3A}"/>
              </a:ext>
            </a:extLst>
          </p:cNvPr>
          <p:cNvSpPr/>
          <p:nvPr/>
        </p:nvSpPr>
        <p:spPr>
          <a:xfrm>
            <a:off x="1163337" y="5303521"/>
            <a:ext cx="9583200" cy="704088"/>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 sz="1200" b="1" dirty="0"/>
              <a:t>Generación de cargos:</a:t>
            </a:r>
          </a:p>
          <a:p>
            <a:r>
              <a:rPr lang="es-ES" sz="1200" dirty="0"/>
              <a:t>Cargos por concepto de matrícula e inscripción generados para un primer estudiante, previo a la asignación o aplicación de contrato o convenio.</a:t>
            </a:r>
            <a:endParaRPr lang="es-CL" sz="1200" dirty="0"/>
          </a:p>
        </p:txBody>
      </p:sp>
      <p:pic>
        <p:nvPicPr>
          <p:cNvPr id="7" name="Imagen 6">
            <a:extLst>
              <a:ext uri="{FF2B5EF4-FFF2-40B4-BE49-F238E27FC236}">
                <a16:creationId xmlns:a16="http://schemas.microsoft.com/office/drawing/2014/main" id="{8F5FA8AF-2FDB-9748-AC77-F2431FA8C981}"/>
              </a:ext>
            </a:extLst>
          </p:cNvPr>
          <p:cNvPicPr>
            <a:picLocks noChangeAspect="1"/>
          </p:cNvPicPr>
          <p:nvPr/>
        </p:nvPicPr>
        <p:blipFill>
          <a:blip r:embed="rId2"/>
          <a:stretch>
            <a:fillRect/>
          </a:stretch>
        </p:blipFill>
        <p:spPr>
          <a:xfrm>
            <a:off x="1163337" y="1651078"/>
            <a:ext cx="9583200" cy="3419358"/>
          </a:xfrm>
          <a:prstGeom prst="rect">
            <a:avLst/>
          </a:prstGeom>
        </p:spPr>
      </p:pic>
    </p:spTree>
    <p:extLst>
      <p:ext uri="{BB962C8B-B14F-4D97-AF65-F5344CB8AC3E}">
        <p14:creationId xmlns:p14="http://schemas.microsoft.com/office/powerpoint/2010/main" val="2851095266"/>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ADF7C0-2376-2F55-8ADC-916126DEF2B3}"/>
            </a:ext>
          </a:extLst>
        </p:cNvPr>
        <p:cNvGrpSpPr/>
        <p:nvPr/>
      </p:nvGrpSpPr>
      <p:grpSpPr>
        <a:xfrm>
          <a:off x="0" y="0"/>
          <a:ext cx="0" cy="0"/>
          <a:chOff x="0" y="0"/>
          <a:chExt cx="0" cy="0"/>
        </a:xfrm>
      </p:grpSpPr>
      <p:sp>
        <p:nvSpPr>
          <p:cNvPr id="3" name="Título 3">
            <a:extLst>
              <a:ext uri="{FF2B5EF4-FFF2-40B4-BE49-F238E27FC236}">
                <a16:creationId xmlns:a16="http://schemas.microsoft.com/office/drawing/2014/main" id="{9748C42D-1F1C-0A6E-5B52-FAB870CFCA41}"/>
              </a:ext>
            </a:extLst>
          </p:cNvPr>
          <p:cNvSpPr txBox="1">
            <a:spLocks/>
          </p:cNvSpPr>
          <p:nvPr/>
        </p:nvSpPr>
        <p:spPr>
          <a:xfrm>
            <a:off x="1183962" y="428415"/>
            <a:ext cx="9304206" cy="852671"/>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dirty="0">
                <a:solidFill>
                  <a:schemeClr val="accent1"/>
                </a:solidFill>
              </a:rPr>
              <a:t>Escenario Previo: </a:t>
            </a:r>
            <a:r>
              <a:rPr lang="es-CO" sz="3200" dirty="0"/>
              <a:t>TSAAREV Revisión de detalle de </a:t>
            </a:r>
          </a:p>
          <a:p>
            <a:r>
              <a:rPr lang="es-CO" sz="3200" dirty="0"/>
              <a:t>cuenta – alumno</a:t>
            </a:r>
            <a:endParaRPr lang="es-CL" b="0" dirty="0"/>
          </a:p>
        </p:txBody>
      </p:sp>
      <p:sp>
        <p:nvSpPr>
          <p:cNvPr id="4" name="Rectángulo redondeado 5">
            <a:extLst>
              <a:ext uri="{FF2B5EF4-FFF2-40B4-BE49-F238E27FC236}">
                <a16:creationId xmlns:a16="http://schemas.microsoft.com/office/drawing/2014/main" id="{1C3121C3-A1B8-FC57-0F1D-EAE5F59AB037}"/>
              </a:ext>
            </a:extLst>
          </p:cNvPr>
          <p:cNvSpPr/>
          <p:nvPr/>
        </p:nvSpPr>
        <p:spPr>
          <a:xfrm>
            <a:off x="1349002" y="5218019"/>
            <a:ext cx="9493995" cy="73152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O" sz="1200" b="1" dirty="0"/>
              <a:t>Generación de cargos:</a:t>
            </a:r>
          </a:p>
          <a:p>
            <a:pPr algn="just"/>
            <a:r>
              <a:rPr lang="es-CO" sz="1200" dirty="0"/>
              <a:t>Cargos por concepto de matrícula e inscripción generados para un segundo estudiante, previo a la asignación o aplicación de contrato o convenio.</a:t>
            </a:r>
          </a:p>
        </p:txBody>
      </p:sp>
      <p:pic>
        <p:nvPicPr>
          <p:cNvPr id="8" name="Imagen 7">
            <a:extLst>
              <a:ext uri="{FF2B5EF4-FFF2-40B4-BE49-F238E27FC236}">
                <a16:creationId xmlns:a16="http://schemas.microsoft.com/office/drawing/2014/main" id="{DFF5A8E5-B44A-139A-7AE1-BCF11FDF9300}"/>
              </a:ext>
            </a:extLst>
          </p:cNvPr>
          <p:cNvPicPr>
            <a:picLocks noChangeAspect="1"/>
          </p:cNvPicPr>
          <p:nvPr/>
        </p:nvPicPr>
        <p:blipFill>
          <a:blip r:embed="rId2"/>
          <a:stretch>
            <a:fillRect/>
          </a:stretch>
        </p:blipFill>
        <p:spPr>
          <a:xfrm>
            <a:off x="1295925" y="1501469"/>
            <a:ext cx="9583200" cy="3496167"/>
          </a:xfrm>
          <a:prstGeom prst="rect">
            <a:avLst/>
          </a:prstGeom>
        </p:spPr>
      </p:pic>
    </p:spTree>
    <p:extLst>
      <p:ext uri="{BB962C8B-B14F-4D97-AF65-F5344CB8AC3E}">
        <p14:creationId xmlns:p14="http://schemas.microsoft.com/office/powerpoint/2010/main" val="858904556"/>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D0A6E3-93C4-AF90-D2EA-4EF1D20B5E52}"/>
            </a:ext>
          </a:extLst>
        </p:cNvPr>
        <p:cNvGrpSpPr/>
        <p:nvPr/>
      </p:nvGrpSpPr>
      <p:grpSpPr>
        <a:xfrm>
          <a:off x="0" y="0"/>
          <a:ext cx="0" cy="0"/>
          <a:chOff x="0" y="0"/>
          <a:chExt cx="0" cy="0"/>
        </a:xfrm>
      </p:grpSpPr>
      <p:sp>
        <p:nvSpPr>
          <p:cNvPr id="3" name="Título 3">
            <a:extLst>
              <a:ext uri="{FF2B5EF4-FFF2-40B4-BE49-F238E27FC236}">
                <a16:creationId xmlns:a16="http://schemas.microsoft.com/office/drawing/2014/main" id="{65F674C0-BBD8-D405-4E1E-D09E758C4AB9}"/>
              </a:ext>
            </a:extLst>
          </p:cNvPr>
          <p:cNvSpPr txBox="1">
            <a:spLocks/>
          </p:cNvSpPr>
          <p:nvPr/>
        </p:nvSpPr>
        <p:spPr>
          <a:xfrm>
            <a:off x="1163337" y="505775"/>
            <a:ext cx="9724263" cy="901824"/>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dirty="0">
                <a:solidFill>
                  <a:schemeClr val="accent1"/>
                </a:solidFill>
              </a:rPr>
              <a:t>Escenario Previo: </a:t>
            </a:r>
            <a:r>
              <a:rPr lang="es-CO" sz="3200" dirty="0"/>
              <a:t>TSACONP Autorización de contrato por Persona</a:t>
            </a:r>
            <a:endParaRPr lang="es-CL" b="0" dirty="0"/>
          </a:p>
        </p:txBody>
      </p:sp>
      <p:sp>
        <p:nvSpPr>
          <p:cNvPr id="4" name="Rectángulo redondeado 5">
            <a:extLst>
              <a:ext uri="{FF2B5EF4-FFF2-40B4-BE49-F238E27FC236}">
                <a16:creationId xmlns:a16="http://schemas.microsoft.com/office/drawing/2014/main" id="{2BC3B9F4-DB07-691C-7DEE-F96F44210D31}"/>
              </a:ext>
            </a:extLst>
          </p:cNvPr>
          <p:cNvSpPr/>
          <p:nvPr/>
        </p:nvSpPr>
        <p:spPr>
          <a:xfrm>
            <a:off x="1304400" y="4556489"/>
            <a:ext cx="9583200" cy="850393"/>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dirty="0"/>
              <a:t>Asignación de Contrato:</a:t>
            </a:r>
          </a:p>
          <a:p>
            <a:r>
              <a:rPr lang="es-CO" sz="1200" dirty="0"/>
              <a:t>Asignación del primer y segundo estudiante al contrato </a:t>
            </a:r>
            <a:r>
              <a:rPr lang="es-CO" sz="1200" b="1" dirty="0"/>
              <a:t>“EMPRESA PRUEBA 2026” </a:t>
            </a:r>
            <a:r>
              <a:rPr lang="es-CO" sz="1200" dirty="0"/>
              <a:t>con cobertura de hasta el 50% del concepto MATR, en donde se tiene un monto máximo de cobertura de $ 2.300.000 para el primer estudiante, y sin monto máximo definido para el segundo estudiante.</a:t>
            </a:r>
          </a:p>
        </p:txBody>
      </p:sp>
      <p:pic>
        <p:nvPicPr>
          <p:cNvPr id="5" name="Imagen 4">
            <a:extLst>
              <a:ext uri="{FF2B5EF4-FFF2-40B4-BE49-F238E27FC236}">
                <a16:creationId xmlns:a16="http://schemas.microsoft.com/office/drawing/2014/main" id="{C029A598-2013-3F40-B360-8E92BA1EA2F9}"/>
              </a:ext>
            </a:extLst>
          </p:cNvPr>
          <p:cNvPicPr>
            <a:picLocks noChangeAspect="1"/>
          </p:cNvPicPr>
          <p:nvPr/>
        </p:nvPicPr>
        <p:blipFill>
          <a:blip r:embed="rId2"/>
          <a:stretch>
            <a:fillRect/>
          </a:stretch>
        </p:blipFill>
        <p:spPr>
          <a:xfrm>
            <a:off x="1304400" y="1792225"/>
            <a:ext cx="9583200" cy="2328207"/>
          </a:xfrm>
          <a:prstGeom prst="rect">
            <a:avLst/>
          </a:prstGeom>
        </p:spPr>
      </p:pic>
    </p:spTree>
    <p:extLst>
      <p:ext uri="{BB962C8B-B14F-4D97-AF65-F5344CB8AC3E}">
        <p14:creationId xmlns:p14="http://schemas.microsoft.com/office/powerpoint/2010/main" val="1308190745"/>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BB999-F9FD-5A89-1E02-4E2103B1BF41}"/>
            </a:ext>
          </a:extLst>
        </p:cNvPr>
        <p:cNvGrpSpPr/>
        <p:nvPr/>
      </p:nvGrpSpPr>
      <p:grpSpPr>
        <a:xfrm>
          <a:off x="0" y="0"/>
          <a:ext cx="0" cy="0"/>
          <a:chOff x="0" y="0"/>
          <a:chExt cx="0" cy="0"/>
        </a:xfrm>
      </p:grpSpPr>
      <p:sp>
        <p:nvSpPr>
          <p:cNvPr id="3" name="Título 3">
            <a:extLst>
              <a:ext uri="{FF2B5EF4-FFF2-40B4-BE49-F238E27FC236}">
                <a16:creationId xmlns:a16="http://schemas.microsoft.com/office/drawing/2014/main" id="{0129305B-A0D2-D45D-0116-47AF8545B371}"/>
              </a:ext>
            </a:extLst>
          </p:cNvPr>
          <p:cNvSpPr txBox="1">
            <a:spLocks/>
          </p:cNvSpPr>
          <p:nvPr/>
        </p:nvSpPr>
        <p:spPr>
          <a:xfrm>
            <a:off x="1227447" y="646945"/>
            <a:ext cx="9651678" cy="944111"/>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dirty="0">
                <a:solidFill>
                  <a:schemeClr val="accent1"/>
                </a:solidFill>
              </a:rPr>
              <a:t>Escenario Previo: </a:t>
            </a:r>
            <a:r>
              <a:rPr lang="es-CO" sz="3200" dirty="0"/>
              <a:t>GLAEXTR Datos de extracción de selección de Población</a:t>
            </a:r>
            <a:endParaRPr lang="es-CL" b="0" dirty="0"/>
          </a:p>
        </p:txBody>
      </p:sp>
      <p:sp>
        <p:nvSpPr>
          <p:cNvPr id="4" name="Rectángulo redondeado 5">
            <a:extLst>
              <a:ext uri="{FF2B5EF4-FFF2-40B4-BE49-F238E27FC236}">
                <a16:creationId xmlns:a16="http://schemas.microsoft.com/office/drawing/2014/main" id="{507B7A8D-01EC-31F5-7EFF-6FB73FB92F1E}"/>
              </a:ext>
            </a:extLst>
          </p:cNvPr>
          <p:cNvSpPr/>
          <p:nvPr/>
        </p:nvSpPr>
        <p:spPr>
          <a:xfrm>
            <a:off x="1295925" y="4325111"/>
            <a:ext cx="9583200" cy="850393"/>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dirty="0"/>
              <a:t>Selección de Población:</a:t>
            </a:r>
          </a:p>
          <a:p>
            <a:r>
              <a:rPr lang="es-CO" sz="1200" dirty="0"/>
              <a:t>Se realiza una selección de población con el conjunto de estudiantes que se desea aplicar masivamente el contrato o convenio que tengan previamente asignados.</a:t>
            </a:r>
          </a:p>
        </p:txBody>
      </p:sp>
      <p:pic>
        <p:nvPicPr>
          <p:cNvPr id="6" name="Imagen 5">
            <a:extLst>
              <a:ext uri="{FF2B5EF4-FFF2-40B4-BE49-F238E27FC236}">
                <a16:creationId xmlns:a16="http://schemas.microsoft.com/office/drawing/2014/main" id="{2531E061-921C-F599-FF0A-5F860F9866D4}"/>
              </a:ext>
            </a:extLst>
          </p:cNvPr>
          <p:cNvPicPr>
            <a:picLocks noChangeAspect="1"/>
          </p:cNvPicPr>
          <p:nvPr/>
        </p:nvPicPr>
        <p:blipFill>
          <a:blip r:embed="rId2"/>
          <a:stretch>
            <a:fillRect/>
          </a:stretch>
        </p:blipFill>
        <p:spPr>
          <a:xfrm>
            <a:off x="1295925" y="2029969"/>
            <a:ext cx="9583200" cy="2027504"/>
          </a:xfrm>
          <a:prstGeom prst="rect">
            <a:avLst/>
          </a:prstGeom>
        </p:spPr>
      </p:pic>
    </p:spTree>
    <p:extLst>
      <p:ext uri="{BB962C8B-B14F-4D97-AF65-F5344CB8AC3E}">
        <p14:creationId xmlns:p14="http://schemas.microsoft.com/office/powerpoint/2010/main" val="1709133181"/>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622E34-92F3-2877-BC8B-2102C8D46AF9}"/>
            </a:ext>
          </a:extLst>
        </p:cNvPr>
        <p:cNvGrpSpPr/>
        <p:nvPr/>
      </p:nvGrpSpPr>
      <p:grpSpPr>
        <a:xfrm>
          <a:off x="0" y="0"/>
          <a:ext cx="0" cy="0"/>
          <a:chOff x="0" y="0"/>
          <a:chExt cx="0" cy="0"/>
        </a:xfrm>
      </p:grpSpPr>
      <p:sp>
        <p:nvSpPr>
          <p:cNvPr id="3" name="Título 3">
            <a:extLst>
              <a:ext uri="{FF2B5EF4-FFF2-40B4-BE49-F238E27FC236}">
                <a16:creationId xmlns:a16="http://schemas.microsoft.com/office/drawing/2014/main" id="{5D2A7EE2-8660-0DCB-DB6D-9515BA067E30}"/>
              </a:ext>
            </a:extLst>
          </p:cNvPr>
          <p:cNvSpPr txBox="1">
            <a:spLocks/>
          </p:cNvSpPr>
          <p:nvPr/>
        </p:nvSpPr>
        <p:spPr>
          <a:xfrm>
            <a:off x="1068426" y="114753"/>
            <a:ext cx="9758070" cy="850393"/>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dirty="0">
                <a:solidFill>
                  <a:schemeClr val="accent1"/>
                </a:solidFill>
              </a:rPr>
              <a:t>Proceso : </a:t>
            </a:r>
            <a:r>
              <a:rPr lang="es-CO" sz="3200" dirty="0"/>
              <a:t>TSRCBIL/ TSRRBIL Estado de cuentas </a:t>
            </a:r>
          </a:p>
          <a:p>
            <a:r>
              <a:rPr lang="es-CO" sz="3200" dirty="0"/>
              <a:t>de cobro de alumnos</a:t>
            </a:r>
            <a:endParaRPr lang="es-CL" b="0" dirty="0"/>
          </a:p>
        </p:txBody>
      </p:sp>
      <p:sp>
        <p:nvSpPr>
          <p:cNvPr id="4" name="Rectángulo redondeado 5">
            <a:extLst>
              <a:ext uri="{FF2B5EF4-FFF2-40B4-BE49-F238E27FC236}">
                <a16:creationId xmlns:a16="http://schemas.microsoft.com/office/drawing/2014/main" id="{CCD4D114-3E55-FF20-A661-1DD9BE7F7324}"/>
              </a:ext>
            </a:extLst>
          </p:cNvPr>
          <p:cNvSpPr/>
          <p:nvPr/>
        </p:nvSpPr>
        <p:spPr>
          <a:xfrm>
            <a:off x="1171812" y="5586983"/>
            <a:ext cx="9583200" cy="850393"/>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dirty="0"/>
              <a:t>Aplicación masiva de Contratos o convenios asignados a Estudiantes:</a:t>
            </a:r>
          </a:p>
          <a:p>
            <a:r>
              <a:rPr lang="es-CO" sz="1200" dirty="0"/>
              <a:t>En la sección “Control de Impresora”, campo “Impresora” se debe asignar la sentencia </a:t>
            </a:r>
            <a:r>
              <a:rPr lang="es-CO" sz="1200" b="1" dirty="0"/>
              <a:t>DATABASE. </a:t>
            </a:r>
            <a:r>
              <a:rPr lang="es-CO" sz="1200" dirty="0"/>
              <a:t>Luego, en la sección de “Valores de Parámetro”, se deben asignar los parámetros principales para la ejecución del proceso según corresponda.</a:t>
            </a:r>
          </a:p>
        </p:txBody>
      </p:sp>
      <p:pic>
        <p:nvPicPr>
          <p:cNvPr id="5" name="Imagen 4">
            <a:extLst>
              <a:ext uri="{FF2B5EF4-FFF2-40B4-BE49-F238E27FC236}">
                <a16:creationId xmlns:a16="http://schemas.microsoft.com/office/drawing/2014/main" id="{249D8B4A-A7F1-4B37-10E7-FACA0DDC31A4}"/>
              </a:ext>
            </a:extLst>
          </p:cNvPr>
          <p:cNvPicPr>
            <a:picLocks noChangeAspect="1"/>
          </p:cNvPicPr>
          <p:nvPr/>
        </p:nvPicPr>
        <p:blipFill>
          <a:blip r:embed="rId2"/>
          <a:stretch>
            <a:fillRect/>
          </a:stretch>
        </p:blipFill>
        <p:spPr>
          <a:xfrm>
            <a:off x="1171812" y="1026282"/>
            <a:ext cx="9583200" cy="4438429"/>
          </a:xfrm>
          <a:prstGeom prst="rect">
            <a:avLst/>
          </a:prstGeom>
        </p:spPr>
      </p:pic>
    </p:spTree>
    <p:extLst>
      <p:ext uri="{BB962C8B-B14F-4D97-AF65-F5344CB8AC3E}">
        <p14:creationId xmlns:p14="http://schemas.microsoft.com/office/powerpoint/2010/main" val="103445639"/>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4C6D66-3847-C8B3-1ABD-30F93BA76981}"/>
            </a:ext>
          </a:extLst>
        </p:cNvPr>
        <p:cNvGrpSpPr/>
        <p:nvPr/>
      </p:nvGrpSpPr>
      <p:grpSpPr>
        <a:xfrm>
          <a:off x="0" y="0"/>
          <a:ext cx="0" cy="0"/>
          <a:chOff x="0" y="0"/>
          <a:chExt cx="0" cy="0"/>
        </a:xfrm>
      </p:grpSpPr>
      <p:sp>
        <p:nvSpPr>
          <p:cNvPr id="3" name="Título 3">
            <a:extLst>
              <a:ext uri="{FF2B5EF4-FFF2-40B4-BE49-F238E27FC236}">
                <a16:creationId xmlns:a16="http://schemas.microsoft.com/office/drawing/2014/main" id="{447FB86F-3187-43FB-AACB-28C1D1CBCB3F}"/>
              </a:ext>
            </a:extLst>
          </p:cNvPr>
          <p:cNvSpPr txBox="1">
            <a:spLocks/>
          </p:cNvSpPr>
          <p:nvPr/>
        </p:nvSpPr>
        <p:spPr>
          <a:xfrm>
            <a:off x="1229013" y="105964"/>
            <a:ext cx="8948259" cy="87439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dirty="0">
                <a:solidFill>
                  <a:schemeClr val="accent1"/>
                </a:solidFill>
              </a:rPr>
              <a:t>Operación : </a:t>
            </a:r>
            <a:r>
              <a:rPr lang="es-CO" sz="3200" dirty="0"/>
              <a:t>TSRCBIL/ TSRRBIL Estado de cuentas </a:t>
            </a:r>
          </a:p>
          <a:p>
            <a:r>
              <a:rPr lang="es-CO" sz="3200" dirty="0"/>
              <a:t>de cobro de alumnos</a:t>
            </a:r>
            <a:endParaRPr lang="es-CL" b="0" dirty="0"/>
          </a:p>
        </p:txBody>
      </p:sp>
      <p:sp>
        <p:nvSpPr>
          <p:cNvPr id="4" name="Rectángulo redondeado 5">
            <a:extLst>
              <a:ext uri="{FF2B5EF4-FFF2-40B4-BE49-F238E27FC236}">
                <a16:creationId xmlns:a16="http://schemas.microsoft.com/office/drawing/2014/main" id="{C102E4D3-0AA9-E6F1-3B29-2D8125755A39}"/>
              </a:ext>
            </a:extLst>
          </p:cNvPr>
          <p:cNvSpPr/>
          <p:nvPr/>
        </p:nvSpPr>
        <p:spPr>
          <a:xfrm>
            <a:off x="1304400" y="4818887"/>
            <a:ext cx="9583200" cy="1709927"/>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dirty="0"/>
              <a:t>Parámetros:</a:t>
            </a:r>
          </a:p>
          <a:p>
            <a:r>
              <a:rPr lang="es-CO" sz="1200" b="1" dirty="0"/>
              <a:t>*01 </a:t>
            </a:r>
            <a:r>
              <a:rPr lang="es-CO" sz="1200" dirty="0"/>
              <a:t>- Código numérico de 06 caracteres que representa el Periodo académico al cual se desea aplicar las exenciones y/o contratos.</a:t>
            </a:r>
          </a:p>
          <a:p>
            <a:r>
              <a:rPr lang="es-CO" sz="1200" b="1" dirty="0"/>
              <a:t>*02 </a:t>
            </a:r>
            <a:r>
              <a:rPr lang="es-CO" sz="1200" dirty="0"/>
              <a:t>- Corresponde a la fecha de ejecución del proceso.</a:t>
            </a:r>
          </a:p>
          <a:p>
            <a:r>
              <a:rPr lang="es-CO" sz="1200" b="1" dirty="0"/>
              <a:t>*03 </a:t>
            </a:r>
            <a:r>
              <a:rPr lang="es-CO" sz="1200" dirty="0"/>
              <a:t>- Ingresar tipo de dirección para imprimir en factura. Generalmente se utiliza 1MA – dirección postal.</a:t>
            </a:r>
          </a:p>
          <a:p>
            <a:r>
              <a:rPr lang="es-CO" sz="1200" b="1" dirty="0"/>
              <a:t>04</a:t>
            </a:r>
            <a:r>
              <a:rPr lang="es-CO" sz="1200" dirty="0"/>
              <a:t> - Campo en blanco genera proceso de toda la población requerida, ingresar ID si se desea ejecutar proceso especifico.</a:t>
            </a:r>
          </a:p>
          <a:p>
            <a:r>
              <a:rPr lang="es-CO" sz="1200" b="1" dirty="0"/>
              <a:t>05</a:t>
            </a:r>
            <a:r>
              <a:rPr lang="es-CO" sz="1200" dirty="0"/>
              <a:t> - Indicar impresora destino, parámetro que generalmente se deja en blanco.</a:t>
            </a:r>
          </a:p>
          <a:p>
            <a:r>
              <a:rPr lang="es-CO" sz="1200" b="1" dirty="0"/>
              <a:t>*06, 07, 08, 09 </a:t>
            </a:r>
            <a:r>
              <a:rPr lang="es-CO" sz="1200" dirty="0"/>
              <a:t>– Corresponden a los parámetros de identificación de la selección de población a utilizar.</a:t>
            </a:r>
          </a:p>
          <a:p>
            <a:r>
              <a:rPr lang="es-CO" sz="1200" b="1" dirty="0"/>
              <a:t>*10 </a:t>
            </a:r>
            <a:r>
              <a:rPr lang="es-CO" sz="1200" dirty="0"/>
              <a:t>- Campo que generalmente se ejecuta en N, Ingresar Y para iniciar ciclo de espera de este proceso e impresora. </a:t>
            </a:r>
          </a:p>
        </p:txBody>
      </p:sp>
      <p:pic>
        <p:nvPicPr>
          <p:cNvPr id="6" name="Imagen 5">
            <a:extLst>
              <a:ext uri="{FF2B5EF4-FFF2-40B4-BE49-F238E27FC236}">
                <a16:creationId xmlns:a16="http://schemas.microsoft.com/office/drawing/2014/main" id="{25B9D499-9524-E9D6-C89B-B671EC95BBEA}"/>
              </a:ext>
            </a:extLst>
          </p:cNvPr>
          <p:cNvPicPr>
            <a:picLocks noChangeAspect="1"/>
          </p:cNvPicPr>
          <p:nvPr/>
        </p:nvPicPr>
        <p:blipFill>
          <a:blip r:embed="rId2"/>
          <a:stretch>
            <a:fillRect/>
          </a:stretch>
        </p:blipFill>
        <p:spPr>
          <a:xfrm>
            <a:off x="1304400" y="1119956"/>
            <a:ext cx="9583200" cy="3559331"/>
          </a:xfrm>
          <a:prstGeom prst="rect">
            <a:avLst/>
          </a:prstGeom>
        </p:spPr>
      </p:pic>
    </p:spTree>
    <p:extLst>
      <p:ext uri="{BB962C8B-B14F-4D97-AF65-F5344CB8AC3E}">
        <p14:creationId xmlns:p14="http://schemas.microsoft.com/office/powerpoint/2010/main" val="2420104549"/>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92DE6C-EC2C-3003-9D5B-AD747FC9FC91}"/>
            </a:ext>
          </a:extLst>
        </p:cNvPr>
        <p:cNvGrpSpPr/>
        <p:nvPr/>
      </p:nvGrpSpPr>
      <p:grpSpPr>
        <a:xfrm>
          <a:off x="0" y="0"/>
          <a:ext cx="0" cy="0"/>
          <a:chOff x="0" y="0"/>
          <a:chExt cx="0" cy="0"/>
        </a:xfrm>
      </p:grpSpPr>
      <p:sp>
        <p:nvSpPr>
          <p:cNvPr id="3" name="Título 3">
            <a:extLst>
              <a:ext uri="{FF2B5EF4-FFF2-40B4-BE49-F238E27FC236}">
                <a16:creationId xmlns:a16="http://schemas.microsoft.com/office/drawing/2014/main" id="{DA5F065B-FA86-D41C-5656-7A25BF628EB5}"/>
              </a:ext>
            </a:extLst>
          </p:cNvPr>
          <p:cNvSpPr txBox="1">
            <a:spLocks/>
          </p:cNvSpPr>
          <p:nvPr/>
        </p:nvSpPr>
        <p:spPr>
          <a:xfrm>
            <a:off x="1304400" y="131448"/>
            <a:ext cx="9478611" cy="815909"/>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dirty="0">
                <a:solidFill>
                  <a:schemeClr val="accent1"/>
                </a:solidFill>
              </a:rPr>
              <a:t>Operación : </a:t>
            </a:r>
            <a:r>
              <a:rPr lang="es-CO" sz="3200" dirty="0"/>
              <a:t>TSRCBIL/ TSRRBIL Estado de cuentas </a:t>
            </a:r>
          </a:p>
          <a:p>
            <a:r>
              <a:rPr lang="es-CO" sz="3200" dirty="0"/>
              <a:t>de cobro de alumnos</a:t>
            </a:r>
            <a:endParaRPr lang="es-CL" b="0" dirty="0"/>
          </a:p>
        </p:txBody>
      </p:sp>
      <p:sp>
        <p:nvSpPr>
          <p:cNvPr id="4" name="Rectángulo redondeado 5">
            <a:extLst>
              <a:ext uri="{FF2B5EF4-FFF2-40B4-BE49-F238E27FC236}">
                <a16:creationId xmlns:a16="http://schemas.microsoft.com/office/drawing/2014/main" id="{AFAFB3FE-AA03-1568-5EBE-64E3BFD0C2DD}"/>
              </a:ext>
            </a:extLst>
          </p:cNvPr>
          <p:cNvSpPr/>
          <p:nvPr/>
        </p:nvSpPr>
        <p:spPr>
          <a:xfrm>
            <a:off x="1304400" y="4825070"/>
            <a:ext cx="9583200" cy="1389887"/>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dirty="0"/>
              <a:t>Parámetros:</a:t>
            </a:r>
          </a:p>
          <a:p>
            <a:r>
              <a:rPr lang="es-CO" sz="1200" b="1" dirty="0"/>
              <a:t>*11 </a:t>
            </a:r>
            <a:r>
              <a:rPr lang="es-CO" sz="1200" dirty="0"/>
              <a:t>- Ingresar tiempo (en segundos) de pausa de proceso antes de iniciar ejecución, el valor predeterminado es 60. </a:t>
            </a:r>
          </a:p>
          <a:p>
            <a:r>
              <a:rPr lang="es-CO" sz="1200" b="1" dirty="0"/>
              <a:t>12</a:t>
            </a:r>
            <a:r>
              <a:rPr lang="es-CO" sz="1200" dirty="0"/>
              <a:t> - Reglas a usar para cobro por horario (debe existir en forma TSASBRL). Campo No obligatorio y generalmente se ejecuta en blanco. </a:t>
            </a:r>
          </a:p>
          <a:p>
            <a:r>
              <a:rPr lang="es-CO" sz="1200" b="1" dirty="0"/>
              <a:t>13</a:t>
            </a:r>
            <a:r>
              <a:rPr lang="es-CO" sz="1200" dirty="0"/>
              <a:t> - Ingresar Código de campus </a:t>
            </a:r>
            <a:r>
              <a:rPr lang="es-CO" sz="1200" dirty="0" err="1"/>
              <a:t>ó</a:t>
            </a:r>
            <a:r>
              <a:rPr lang="es-CO" sz="1200" dirty="0"/>
              <a:t> % para imprimir en cobro por horario. Campo No obligatorio y generalmente se ejecuta en blanco.</a:t>
            </a:r>
          </a:p>
          <a:p>
            <a:r>
              <a:rPr lang="es-CO" sz="1200" b="1" dirty="0"/>
              <a:t>*14 </a:t>
            </a:r>
            <a:r>
              <a:rPr lang="es-CO" sz="1200" dirty="0"/>
              <a:t>– Ingresar Y para Actualizar y aceptar cargos en </a:t>
            </a:r>
            <a:r>
              <a:rPr lang="es-CO" sz="1200" dirty="0" err="1"/>
              <a:t>CxC</a:t>
            </a:r>
            <a:r>
              <a:rPr lang="es-CO" sz="1200" dirty="0"/>
              <a:t> si se crean nuevos créditos en cuenta.  </a:t>
            </a:r>
          </a:p>
          <a:p>
            <a:r>
              <a:rPr lang="es-CO" sz="1200" b="1" dirty="0"/>
              <a:t>*15 </a:t>
            </a:r>
            <a:r>
              <a:rPr lang="es-CO" sz="1200" dirty="0"/>
              <a:t>-  Campo para seleccionar según opciones habilitadas, generalmente se ejecuta con la opción APPLYCRED que calcula y aplica créditos por contrato, exención y depósitos. </a:t>
            </a:r>
          </a:p>
        </p:txBody>
      </p:sp>
      <p:pic>
        <p:nvPicPr>
          <p:cNvPr id="5" name="Imagen 4">
            <a:extLst>
              <a:ext uri="{FF2B5EF4-FFF2-40B4-BE49-F238E27FC236}">
                <a16:creationId xmlns:a16="http://schemas.microsoft.com/office/drawing/2014/main" id="{F8085821-F2D5-028B-9A9D-D80E35F2A3E1}"/>
              </a:ext>
            </a:extLst>
          </p:cNvPr>
          <p:cNvPicPr>
            <a:picLocks noChangeAspect="1"/>
          </p:cNvPicPr>
          <p:nvPr/>
        </p:nvPicPr>
        <p:blipFill>
          <a:blip r:embed="rId2"/>
          <a:stretch>
            <a:fillRect/>
          </a:stretch>
        </p:blipFill>
        <p:spPr>
          <a:xfrm>
            <a:off x="1304400" y="1127461"/>
            <a:ext cx="9583200" cy="3517505"/>
          </a:xfrm>
          <a:prstGeom prst="rect">
            <a:avLst/>
          </a:prstGeom>
        </p:spPr>
      </p:pic>
    </p:spTree>
    <p:extLst>
      <p:ext uri="{BB962C8B-B14F-4D97-AF65-F5344CB8AC3E}">
        <p14:creationId xmlns:p14="http://schemas.microsoft.com/office/powerpoint/2010/main" val="2224564940"/>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AF932A-B118-01F1-9BD0-016694F2C581}"/>
            </a:ext>
          </a:extLst>
        </p:cNvPr>
        <p:cNvGrpSpPr/>
        <p:nvPr/>
      </p:nvGrpSpPr>
      <p:grpSpPr>
        <a:xfrm>
          <a:off x="0" y="0"/>
          <a:ext cx="0" cy="0"/>
          <a:chOff x="0" y="0"/>
          <a:chExt cx="0" cy="0"/>
        </a:xfrm>
      </p:grpSpPr>
      <p:sp>
        <p:nvSpPr>
          <p:cNvPr id="3" name="Título 3">
            <a:extLst>
              <a:ext uri="{FF2B5EF4-FFF2-40B4-BE49-F238E27FC236}">
                <a16:creationId xmlns:a16="http://schemas.microsoft.com/office/drawing/2014/main" id="{0AC4500A-B662-0238-03FA-0FF695BFCBCE}"/>
              </a:ext>
            </a:extLst>
          </p:cNvPr>
          <p:cNvSpPr txBox="1">
            <a:spLocks/>
          </p:cNvSpPr>
          <p:nvPr/>
        </p:nvSpPr>
        <p:spPr>
          <a:xfrm>
            <a:off x="1212960" y="198112"/>
            <a:ext cx="9304875" cy="96583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dirty="0">
                <a:solidFill>
                  <a:schemeClr val="accent1"/>
                </a:solidFill>
              </a:rPr>
              <a:t>Operación : </a:t>
            </a:r>
            <a:r>
              <a:rPr lang="es-CO" sz="3200" dirty="0"/>
              <a:t>TSRCBIL/ TSRRBIL Estado de cuentas </a:t>
            </a:r>
          </a:p>
          <a:p>
            <a:r>
              <a:rPr lang="es-CO" sz="3200" dirty="0"/>
              <a:t>de cobro de alumnos</a:t>
            </a:r>
            <a:endParaRPr lang="es-CL" b="0" dirty="0"/>
          </a:p>
        </p:txBody>
      </p:sp>
      <p:sp>
        <p:nvSpPr>
          <p:cNvPr id="4" name="Rectángulo redondeado 5">
            <a:extLst>
              <a:ext uri="{FF2B5EF4-FFF2-40B4-BE49-F238E27FC236}">
                <a16:creationId xmlns:a16="http://schemas.microsoft.com/office/drawing/2014/main" id="{26FD6A1A-4C20-3B3B-1343-F118930255B1}"/>
              </a:ext>
            </a:extLst>
          </p:cNvPr>
          <p:cNvSpPr/>
          <p:nvPr/>
        </p:nvSpPr>
        <p:spPr>
          <a:xfrm>
            <a:off x="1304400" y="5129784"/>
            <a:ext cx="9583200" cy="1234439"/>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dirty="0"/>
              <a:t>Parámetros:</a:t>
            </a:r>
          </a:p>
          <a:p>
            <a:r>
              <a:rPr lang="es-CO" sz="1200" b="1" dirty="0"/>
              <a:t>16 </a:t>
            </a:r>
            <a:r>
              <a:rPr lang="es-CO" sz="1200" dirty="0"/>
              <a:t>- Código de divisa en el que se producirán las facturas/estados de cuenta. Campo no obligatorio se puede ejecutar en blanco.</a:t>
            </a:r>
          </a:p>
          <a:p>
            <a:r>
              <a:rPr lang="es-CO" sz="1200" b="1" dirty="0"/>
              <a:t>*17 </a:t>
            </a:r>
            <a:r>
              <a:rPr lang="es-CO" sz="1200" dirty="0"/>
              <a:t>- Ingresar fecha de cobro.</a:t>
            </a:r>
          </a:p>
          <a:p>
            <a:r>
              <a:rPr lang="es-CO" sz="1200" b="1" dirty="0"/>
              <a:t>*18 </a:t>
            </a:r>
            <a:r>
              <a:rPr lang="es-CO" sz="1200" dirty="0"/>
              <a:t>- Ingresar fecha de vencimiento. </a:t>
            </a:r>
          </a:p>
          <a:p>
            <a:r>
              <a:rPr lang="es-CO" sz="1200" b="1" dirty="0"/>
              <a:t>*19 </a:t>
            </a:r>
            <a:r>
              <a:rPr lang="es-CO" sz="1200" dirty="0"/>
              <a:t>- Ingresar Y para imprimir detalles futuros (utilizado). </a:t>
            </a:r>
          </a:p>
          <a:p>
            <a:r>
              <a:rPr lang="es-CO" sz="1200" b="1" dirty="0"/>
              <a:t>20</a:t>
            </a:r>
            <a:r>
              <a:rPr lang="es-CO" sz="1200" dirty="0"/>
              <a:t> - Fecha a usar en lugar de 31-DIC-99 al imprimir elementos futuros. Campo no obligatorio generalmente se ejecuta en blanco.</a:t>
            </a:r>
          </a:p>
        </p:txBody>
      </p:sp>
      <p:pic>
        <p:nvPicPr>
          <p:cNvPr id="5" name="Imagen 4">
            <a:extLst>
              <a:ext uri="{FF2B5EF4-FFF2-40B4-BE49-F238E27FC236}">
                <a16:creationId xmlns:a16="http://schemas.microsoft.com/office/drawing/2014/main" id="{0DA78A11-3C71-24E3-5C0D-99DA4F2C5C38}"/>
              </a:ext>
            </a:extLst>
          </p:cNvPr>
          <p:cNvPicPr>
            <a:picLocks noChangeAspect="1"/>
          </p:cNvPicPr>
          <p:nvPr/>
        </p:nvPicPr>
        <p:blipFill>
          <a:blip r:embed="rId2"/>
          <a:stretch>
            <a:fillRect/>
          </a:stretch>
        </p:blipFill>
        <p:spPr>
          <a:xfrm>
            <a:off x="1304400" y="1319485"/>
            <a:ext cx="9583200" cy="3517505"/>
          </a:xfrm>
          <a:prstGeom prst="rect">
            <a:avLst/>
          </a:prstGeom>
        </p:spPr>
      </p:pic>
    </p:spTree>
    <p:extLst>
      <p:ext uri="{BB962C8B-B14F-4D97-AF65-F5344CB8AC3E}">
        <p14:creationId xmlns:p14="http://schemas.microsoft.com/office/powerpoint/2010/main" val="2915781254"/>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35AF5C-D7D6-4C7C-EC13-C8861F008D10}"/>
            </a:ext>
          </a:extLst>
        </p:cNvPr>
        <p:cNvGrpSpPr/>
        <p:nvPr/>
      </p:nvGrpSpPr>
      <p:grpSpPr>
        <a:xfrm>
          <a:off x="0" y="0"/>
          <a:ext cx="0" cy="0"/>
          <a:chOff x="0" y="0"/>
          <a:chExt cx="0" cy="0"/>
        </a:xfrm>
      </p:grpSpPr>
      <p:sp>
        <p:nvSpPr>
          <p:cNvPr id="3" name="Título 3">
            <a:extLst>
              <a:ext uri="{FF2B5EF4-FFF2-40B4-BE49-F238E27FC236}">
                <a16:creationId xmlns:a16="http://schemas.microsoft.com/office/drawing/2014/main" id="{6C70A833-15B7-4743-0566-9D5986661D71}"/>
              </a:ext>
            </a:extLst>
          </p:cNvPr>
          <p:cNvSpPr txBox="1">
            <a:spLocks/>
          </p:cNvSpPr>
          <p:nvPr/>
        </p:nvSpPr>
        <p:spPr>
          <a:xfrm>
            <a:off x="1201581" y="257364"/>
            <a:ext cx="8884251" cy="934967"/>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dirty="0">
                <a:solidFill>
                  <a:schemeClr val="accent1"/>
                </a:solidFill>
              </a:rPr>
              <a:t>Operación : </a:t>
            </a:r>
            <a:r>
              <a:rPr lang="es-CO" sz="3200" dirty="0"/>
              <a:t>TSRCBIL/ TSRRBIL Estado de cuentas </a:t>
            </a:r>
          </a:p>
          <a:p>
            <a:r>
              <a:rPr lang="es-CO" sz="3200" dirty="0"/>
              <a:t>de cobro de alumnos</a:t>
            </a:r>
            <a:endParaRPr lang="es-CL" b="0" dirty="0"/>
          </a:p>
        </p:txBody>
      </p:sp>
      <p:sp>
        <p:nvSpPr>
          <p:cNvPr id="4" name="Rectángulo redondeado 5">
            <a:extLst>
              <a:ext uri="{FF2B5EF4-FFF2-40B4-BE49-F238E27FC236}">
                <a16:creationId xmlns:a16="http://schemas.microsoft.com/office/drawing/2014/main" id="{FB7FAF28-86B6-475A-E181-963143587D98}"/>
              </a:ext>
            </a:extLst>
          </p:cNvPr>
          <p:cNvSpPr/>
          <p:nvPr/>
        </p:nvSpPr>
        <p:spPr>
          <a:xfrm>
            <a:off x="1304399" y="5065776"/>
            <a:ext cx="9583200" cy="1234439"/>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dirty="0"/>
              <a:t>Parámetros:</a:t>
            </a:r>
          </a:p>
          <a:p>
            <a:r>
              <a:rPr lang="es-CO" sz="1200" b="1" dirty="0"/>
              <a:t>*21 </a:t>
            </a:r>
            <a:r>
              <a:rPr lang="es-CO" sz="1200" dirty="0"/>
              <a:t>- Campo para seleccionar según opciones habilitadas, generalmente se ejecuta con la opción ZN imprime en Zip Código y alfa/último</a:t>
            </a:r>
          </a:p>
          <a:p>
            <a:r>
              <a:rPr lang="es-CO" sz="1200" dirty="0"/>
              <a:t>orden de nombres (predeterminado).</a:t>
            </a:r>
          </a:p>
          <a:p>
            <a:r>
              <a:rPr lang="es-CO" sz="1200" b="1" dirty="0"/>
              <a:t>*22 </a:t>
            </a:r>
            <a:r>
              <a:rPr lang="es-CO" sz="1200" dirty="0"/>
              <a:t>- Activa la generación de cargos por Exenciones y/o Contratos = Y</a:t>
            </a:r>
          </a:p>
          <a:p>
            <a:r>
              <a:rPr lang="es-CO" sz="1200" b="1" dirty="0"/>
              <a:t>23</a:t>
            </a:r>
            <a:r>
              <a:rPr lang="es-CO" sz="1200" dirty="0"/>
              <a:t> - Incluir alumnos con saldo vencido en cero = N </a:t>
            </a:r>
          </a:p>
          <a:p>
            <a:r>
              <a:rPr lang="es-CO" sz="1200" b="1" dirty="0"/>
              <a:t>24</a:t>
            </a:r>
            <a:r>
              <a:rPr lang="es-CO" sz="1200" dirty="0"/>
              <a:t> - Parámetro = -9999999,99 </a:t>
            </a:r>
          </a:p>
        </p:txBody>
      </p:sp>
      <p:pic>
        <p:nvPicPr>
          <p:cNvPr id="6" name="Imagen 5">
            <a:extLst>
              <a:ext uri="{FF2B5EF4-FFF2-40B4-BE49-F238E27FC236}">
                <a16:creationId xmlns:a16="http://schemas.microsoft.com/office/drawing/2014/main" id="{F912BCC9-92BC-5F19-E540-4845E5933371}"/>
              </a:ext>
            </a:extLst>
          </p:cNvPr>
          <p:cNvPicPr>
            <a:picLocks noChangeAspect="1"/>
          </p:cNvPicPr>
          <p:nvPr/>
        </p:nvPicPr>
        <p:blipFill>
          <a:blip r:embed="rId2"/>
          <a:stretch>
            <a:fillRect/>
          </a:stretch>
        </p:blipFill>
        <p:spPr>
          <a:xfrm>
            <a:off x="1304399" y="1318248"/>
            <a:ext cx="9583200" cy="3495695"/>
          </a:xfrm>
          <a:prstGeom prst="rect">
            <a:avLst/>
          </a:prstGeom>
        </p:spPr>
      </p:pic>
    </p:spTree>
    <p:extLst>
      <p:ext uri="{BB962C8B-B14F-4D97-AF65-F5344CB8AC3E}">
        <p14:creationId xmlns:p14="http://schemas.microsoft.com/office/powerpoint/2010/main" val="3434458107"/>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BAD3F8-6B77-63BC-DB67-533653BAB6AD}"/>
            </a:ext>
          </a:extLst>
        </p:cNvPr>
        <p:cNvGrpSpPr/>
        <p:nvPr/>
      </p:nvGrpSpPr>
      <p:grpSpPr>
        <a:xfrm>
          <a:off x="0" y="0"/>
          <a:ext cx="0" cy="0"/>
          <a:chOff x="0" y="0"/>
          <a:chExt cx="0" cy="0"/>
        </a:xfrm>
      </p:grpSpPr>
      <p:sp>
        <p:nvSpPr>
          <p:cNvPr id="3" name="Título 3">
            <a:extLst>
              <a:ext uri="{FF2B5EF4-FFF2-40B4-BE49-F238E27FC236}">
                <a16:creationId xmlns:a16="http://schemas.microsoft.com/office/drawing/2014/main" id="{585CDCEF-4648-511B-3435-6B32A06DB3BC}"/>
              </a:ext>
            </a:extLst>
          </p:cNvPr>
          <p:cNvSpPr txBox="1">
            <a:spLocks/>
          </p:cNvSpPr>
          <p:nvPr/>
        </p:nvSpPr>
        <p:spPr>
          <a:xfrm>
            <a:off x="1117998" y="224782"/>
            <a:ext cx="9956004" cy="963927"/>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dirty="0">
                <a:solidFill>
                  <a:schemeClr val="accent1"/>
                </a:solidFill>
              </a:rPr>
              <a:t>Operación : </a:t>
            </a:r>
            <a:r>
              <a:rPr lang="es-CO" sz="3200" dirty="0"/>
              <a:t>TSRCBIL/ TSRRBIL Estado de cuentas </a:t>
            </a:r>
          </a:p>
          <a:p>
            <a:r>
              <a:rPr lang="es-CO" sz="3200" dirty="0"/>
              <a:t>de cobro de alumnos</a:t>
            </a:r>
            <a:endParaRPr lang="es-CL" b="0" dirty="0"/>
          </a:p>
        </p:txBody>
      </p:sp>
      <p:sp>
        <p:nvSpPr>
          <p:cNvPr id="4" name="Rectángulo redondeado 5">
            <a:extLst>
              <a:ext uri="{FF2B5EF4-FFF2-40B4-BE49-F238E27FC236}">
                <a16:creationId xmlns:a16="http://schemas.microsoft.com/office/drawing/2014/main" id="{B594C5A1-1B5A-985F-0D02-C7D52B72A6E6}"/>
              </a:ext>
            </a:extLst>
          </p:cNvPr>
          <p:cNvSpPr/>
          <p:nvPr/>
        </p:nvSpPr>
        <p:spPr>
          <a:xfrm>
            <a:off x="1425609" y="5090160"/>
            <a:ext cx="9461991" cy="1234439"/>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b="1" dirty="0"/>
              <a:t>Parámetros:</a:t>
            </a:r>
          </a:p>
          <a:p>
            <a:r>
              <a:rPr lang="es-ES_tradnl" sz="1200" b="1" dirty="0"/>
              <a:t>*25 </a:t>
            </a:r>
            <a:r>
              <a:rPr lang="es-ES_tradnl" sz="1200" dirty="0"/>
              <a:t>- Campo Control de código detallado (TSADETC) página % Todo (predeterminado). Generalmente se ejecuta en </a:t>
            </a:r>
            <a:r>
              <a:rPr lang="es-ES_tradnl" sz="1200" b="1" dirty="0"/>
              <a:t>%</a:t>
            </a:r>
            <a:r>
              <a:rPr lang="es-ES_tradnl" sz="1200" dirty="0"/>
              <a:t>.</a:t>
            </a:r>
          </a:p>
          <a:p>
            <a:r>
              <a:rPr lang="es-ES_tradnl" sz="1200" b="1" dirty="0"/>
              <a:t>*26 </a:t>
            </a:r>
            <a:r>
              <a:rPr lang="es-ES_tradnl" sz="1200" dirty="0"/>
              <a:t>- Seleccionar P - C - </a:t>
            </a:r>
            <a:r>
              <a:rPr lang="es-ES_tradnl" sz="1200" dirty="0" err="1"/>
              <a:t>ó</a:t>
            </a:r>
            <a:r>
              <a:rPr lang="es-ES_tradnl" sz="1200" dirty="0"/>
              <a:t> %. Generalmente se ejecutado en </a:t>
            </a:r>
            <a:r>
              <a:rPr lang="es-ES_tradnl" sz="1200" b="1" dirty="0"/>
              <a:t>%</a:t>
            </a:r>
            <a:r>
              <a:rPr lang="es-ES_tradnl" sz="1200" dirty="0"/>
              <a:t> para todas las cuentas.</a:t>
            </a:r>
            <a:r>
              <a:rPr lang="es-ES_tradnl" sz="1200" b="1" dirty="0"/>
              <a:t> </a:t>
            </a:r>
          </a:p>
          <a:p>
            <a:r>
              <a:rPr lang="es-ES_tradnl" sz="1200" b="1" dirty="0"/>
              <a:t>*27</a:t>
            </a:r>
            <a:r>
              <a:rPr lang="es-ES_tradnl" sz="1200" dirty="0"/>
              <a:t> - </a:t>
            </a:r>
            <a:r>
              <a:rPr lang="es-ES" sz="1200" dirty="0"/>
              <a:t>Ingresar </a:t>
            </a:r>
            <a:r>
              <a:rPr lang="es-ES" sz="1200" b="1" dirty="0"/>
              <a:t>Y</a:t>
            </a:r>
            <a:r>
              <a:rPr lang="es-ES" sz="1200" dirty="0"/>
              <a:t> para imprimir notas.</a:t>
            </a:r>
            <a:endParaRPr lang="es-ES_tradnl" sz="1200" dirty="0"/>
          </a:p>
          <a:p>
            <a:r>
              <a:rPr lang="es-ES_tradnl" sz="1200" b="1" dirty="0"/>
              <a:t>*28</a:t>
            </a:r>
            <a:r>
              <a:rPr lang="es-ES_tradnl" sz="1200" dirty="0"/>
              <a:t> - Ingresar </a:t>
            </a:r>
            <a:r>
              <a:rPr lang="es-ES_tradnl" sz="1200" b="1" dirty="0"/>
              <a:t>Y </a:t>
            </a:r>
            <a:r>
              <a:rPr lang="es-ES_tradnl" sz="1200" dirty="0"/>
              <a:t>para imprimir depósitos. Generalmente se ejecuta en Y.</a:t>
            </a:r>
          </a:p>
        </p:txBody>
      </p:sp>
      <p:pic>
        <p:nvPicPr>
          <p:cNvPr id="6" name="Imagen 5">
            <a:extLst>
              <a:ext uri="{FF2B5EF4-FFF2-40B4-BE49-F238E27FC236}">
                <a16:creationId xmlns:a16="http://schemas.microsoft.com/office/drawing/2014/main" id="{ED005B3D-DE0C-E718-C0F6-A2F31F6B6579}"/>
              </a:ext>
            </a:extLst>
          </p:cNvPr>
          <p:cNvPicPr>
            <a:picLocks noChangeAspect="1"/>
          </p:cNvPicPr>
          <p:nvPr/>
        </p:nvPicPr>
        <p:blipFill>
          <a:blip r:embed="rId2"/>
          <a:stretch>
            <a:fillRect/>
          </a:stretch>
        </p:blipFill>
        <p:spPr>
          <a:xfrm>
            <a:off x="1304400" y="1349361"/>
            <a:ext cx="9583200" cy="3495695"/>
          </a:xfrm>
          <a:prstGeom prst="rect">
            <a:avLst/>
          </a:prstGeom>
        </p:spPr>
      </p:pic>
    </p:spTree>
    <p:extLst>
      <p:ext uri="{BB962C8B-B14F-4D97-AF65-F5344CB8AC3E}">
        <p14:creationId xmlns:p14="http://schemas.microsoft.com/office/powerpoint/2010/main" val="2089468641"/>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C15167-17C4-ED55-E8AF-CCC76F0E7D7C}"/>
            </a:ext>
          </a:extLst>
        </p:cNvPr>
        <p:cNvGrpSpPr/>
        <p:nvPr/>
      </p:nvGrpSpPr>
      <p:grpSpPr>
        <a:xfrm>
          <a:off x="0" y="0"/>
          <a:ext cx="0" cy="0"/>
          <a:chOff x="0" y="0"/>
          <a:chExt cx="0" cy="0"/>
        </a:xfrm>
      </p:grpSpPr>
      <p:sp>
        <p:nvSpPr>
          <p:cNvPr id="3" name="Título 3">
            <a:extLst>
              <a:ext uri="{FF2B5EF4-FFF2-40B4-BE49-F238E27FC236}">
                <a16:creationId xmlns:a16="http://schemas.microsoft.com/office/drawing/2014/main" id="{19FFE3F5-29E2-0735-0E47-9A6B0BA61130}"/>
              </a:ext>
            </a:extLst>
          </p:cNvPr>
          <p:cNvSpPr txBox="1">
            <a:spLocks/>
          </p:cNvSpPr>
          <p:nvPr/>
        </p:nvSpPr>
        <p:spPr>
          <a:xfrm>
            <a:off x="1178721" y="298183"/>
            <a:ext cx="9213054" cy="963927"/>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dirty="0">
                <a:solidFill>
                  <a:schemeClr val="accent1"/>
                </a:solidFill>
              </a:rPr>
              <a:t>Operación : </a:t>
            </a:r>
            <a:r>
              <a:rPr lang="es-CO" sz="3200" dirty="0"/>
              <a:t>TSRCBIL/ TSRRBIL Estado de cuentas </a:t>
            </a:r>
          </a:p>
          <a:p>
            <a:r>
              <a:rPr lang="es-CO" sz="3200" dirty="0"/>
              <a:t>de cobro de alumnos</a:t>
            </a:r>
            <a:endParaRPr lang="es-CL" b="0" dirty="0"/>
          </a:p>
        </p:txBody>
      </p:sp>
      <p:sp>
        <p:nvSpPr>
          <p:cNvPr id="4" name="Rectángulo redondeado 5">
            <a:extLst>
              <a:ext uri="{FF2B5EF4-FFF2-40B4-BE49-F238E27FC236}">
                <a16:creationId xmlns:a16="http://schemas.microsoft.com/office/drawing/2014/main" id="{3C6A110E-071F-613D-D47E-7295703FBB84}"/>
              </a:ext>
            </a:extLst>
          </p:cNvPr>
          <p:cNvSpPr/>
          <p:nvPr/>
        </p:nvSpPr>
        <p:spPr>
          <a:xfrm>
            <a:off x="1347524" y="5082300"/>
            <a:ext cx="9540075" cy="795527"/>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b="1" dirty="0"/>
              <a:t>Parámetros:</a:t>
            </a:r>
          </a:p>
          <a:p>
            <a:r>
              <a:rPr lang="es-ES_tradnl" sz="1200" b="1" dirty="0"/>
              <a:t>*29 </a:t>
            </a:r>
            <a:r>
              <a:rPr lang="es-ES_tradnl" sz="1200" dirty="0"/>
              <a:t>- Campo para seleccionar según opciones habilitadas, </a:t>
            </a:r>
            <a:r>
              <a:rPr lang="es-ES" sz="1200" dirty="0"/>
              <a:t>N-ninguno, C-solo contrato, E-solo exención, B- ambos.</a:t>
            </a:r>
            <a:endParaRPr lang="es-ES_tradnl" sz="1200" dirty="0"/>
          </a:p>
          <a:p>
            <a:r>
              <a:rPr lang="es-ES_tradnl" sz="1200" b="1" dirty="0"/>
              <a:t>30 </a:t>
            </a:r>
            <a:r>
              <a:rPr lang="es-ES_tradnl" sz="1200" dirty="0"/>
              <a:t>- </a:t>
            </a:r>
            <a:r>
              <a:rPr lang="es-ES" sz="1200" dirty="0"/>
              <a:t>Ingresar Y para hacer cálculos dinámicos de monto vencido y planes pago plazos. Campo no obligatorio se puede ejecutar en blanco.</a:t>
            </a:r>
            <a:endParaRPr lang="es-ES_tradnl" sz="1200" b="1" dirty="0"/>
          </a:p>
        </p:txBody>
      </p:sp>
      <p:pic>
        <p:nvPicPr>
          <p:cNvPr id="6" name="Imagen 5">
            <a:extLst>
              <a:ext uri="{FF2B5EF4-FFF2-40B4-BE49-F238E27FC236}">
                <a16:creationId xmlns:a16="http://schemas.microsoft.com/office/drawing/2014/main" id="{2C499995-6A52-A508-AF37-B66BF7BCB990}"/>
              </a:ext>
            </a:extLst>
          </p:cNvPr>
          <p:cNvPicPr>
            <a:picLocks noChangeAspect="1"/>
          </p:cNvPicPr>
          <p:nvPr/>
        </p:nvPicPr>
        <p:blipFill>
          <a:blip r:embed="rId2"/>
          <a:stretch>
            <a:fillRect/>
          </a:stretch>
        </p:blipFill>
        <p:spPr>
          <a:xfrm>
            <a:off x="1304400" y="1377936"/>
            <a:ext cx="9583200" cy="3495695"/>
          </a:xfrm>
          <a:prstGeom prst="rect">
            <a:avLst/>
          </a:prstGeom>
        </p:spPr>
      </p:pic>
    </p:spTree>
    <p:extLst>
      <p:ext uri="{BB962C8B-B14F-4D97-AF65-F5344CB8AC3E}">
        <p14:creationId xmlns:p14="http://schemas.microsoft.com/office/powerpoint/2010/main" val="718055489"/>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43924-33F9-62D3-319D-B43C6943305D}"/>
            </a:ext>
          </a:extLst>
        </p:cNvPr>
        <p:cNvGrpSpPr/>
        <p:nvPr/>
      </p:nvGrpSpPr>
      <p:grpSpPr>
        <a:xfrm>
          <a:off x="0" y="0"/>
          <a:ext cx="0" cy="0"/>
          <a:chOff x="0" y="0"/>
          <a:chExt cx="0" cy="0"/>
        </a:xfrm>
      </p:grpSpPr>
      <p:sp>
        <p:nvSpPr>
          <p:cNvPr id="3" name="Título 3">
            <a:extLst>
              <a:ext uri="{FF2B5EF4-FFF2-40B4-BE49-F238E27FC236}">
                <a16:creationId xmlns:a16="http://schemas.microsoft.com/office/drawing/2014/main" id="{C8A73415-9453-EF4D-102F-18E95ECB442B}"/>
              </a:ext>
            </a:extLst>
          </p:cNvPr>
          <p:cNvSpPr txBox="1">
            <a:spLocks/>
          </p:cNvSpPr>
          <p:nvPr/>
        </p:nvSpPr>
        <p:spPr>
          <a:xfrm>
            <a:off x="1235871" y="287380"/>
            <a:ext cx="9127329" cy="893653"/>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dirty="0">
                <a:solidFill>
                  <a:schemeClr val="accent1"/>
                </a:solidFill>
              </a:rPr>
              <a:t>Operación : </a:t>
            </a:r>
            <a:r>
              <a:rPr lang="es-CO" sz="3200" dirty="0"/>
              <a:t>TSRCBIL/ TSRRBIL Estado de cuentas </a:t>
            </a:r>
          </a:p>
          <a:p>
            <a:r>
              <a:rPr lang="es-CO" sz="3200" dirty="0"/>
              <a:t>de cobro de alumnos</a:t>
            </a:r>
            <a:endParaRPr lang="es-CL" b="0" dirty="0"/>
          </a:p>
        </p:txBody>
      </p:sp>
      <p:sp>
        <p:nvSpPr>
          <p:cNvPr id="4" name="Rectángulo redondeado 5">
            <a:extLst>
              <a:ext uri="{FF2B5EF4-FFF2-40B4-BE49-F238E27FC236}">
                <a16:creationId xmlns:a16="http://schemas.microsoft.com/office/drawing/2014/main" id="{CE514AA1-7FD5-EC95-53CA-4E72352192E2}"/>
              </a:ext>
            </a:extLst>
          </p:cNvPr>
          <p:cNvSpPr/>
          <p:nvPr/>
        </p:nvSpPr>
        <p:spPr>
          <a:xfrm>
            <a:off x="1235871" y="4957225"/>
            <a:ext cx="9651729" cy="133880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b="1" dirty="0"/>
              <a:t>Parámetros:</a:t>
            </a:r>
          </a:p>
          <a:p>
            <a:r>
              <a:rPr lang="es-ES_tradnl" sz="1200" b="1" dirty="0"/>
              <a:t>*31 </a:t>
            </a:r>
            <a:r>
              <a:rPr lang="es-ES_tradnl" sz="1200" dirty="0"/>
              <a:t>- </a:t>
            </a:r>
            <a:r>
              <a:rPr lang="es-ES" sz="1200" dirty="0"/>
              <a:t>Ingresar Y para incluir cobros de intervalo de inscripción en ejecución del cobro, generalmente se ejecuta en N.  </a:t>
            </a:r>
          </a:p>
          <a:p>
            <a:r>
              <a:rPr lang="es-ES_tradnl" sz="1200" b="1" dirty="0"/>
              <a:t>*32</a:t>
            </a:r>
            <a:r>
              <a:rPr lang="es-ES_tradnl" sz="1200" dirty="0"/>
              <a:t> - </a:t>
            </a:r>
            <a:r>
              <a:rPr lang="es-ES" sz="1200" dirty="0"/>
              <a:t>Ingresar Y múltiples fechas de vencimiento </a:t>
            </a:r>
            <a:r>
              <a:rPr lang="es-ES" sz="1200" dirty="0" err="1"/>
              <a:t>ó</a:t>
            </a:r>
            <a:r>
              <a:rPr lang="es-ES" sz="1200" dirty="0"/>
              <a:t> ingresar N las fechas de vencimiento no existen (por defecto), generalmente se ejecuta en N.  </a:t>
            </a:r>
            <a:endParaRPr lang="es-ES_tradnl" sz="1200" dirty="0"/>
          </a:p>
          <a:p>
            <a:r>
              <a:rPr lang="es-ES_tradnl" sz="1200" b="1" dirty="0"/>
              <a:t>*33</a:t>
            </a:r>
            <a:r>
              <a:rPr lang="es-ES_tradnl" sz="1200" dirty="0"/>
              <a:t> - </a:t>
            </a:r>
            <a:r>
              <a:rPr lang="es-ES" sz="1200" dirty="0"/>
              <a:t>Ingresar Y p/imprimir notas ayuda </a:t>
            </a:r>
            <a:r>
              <a:rPr lang="es-ES" sz="1200" dirty="0" err="1"/>
              <a:t>financ</a:t>
            </a:r>
            <a:r>
              <a:rPr lang="es-ES" sz="1200" dirty="0"/>
              <a:t> p/</a:t>
            </a:r>
            <a:r>
              <a:rPr lang="es-ES" sz="1200" dirty="0" err="1"/>
              <a:t>prdo</a:t>
            </a:r>
            <a:r>
              <a:rPr lang="es-ES" sz="1200" dirty="0"/>
              <a:t> </a:t>
            </a:r>
            <a:r>
              <a:rPr lang="es-ES" sz="1200" dirty="0" err="1"/>
              <a:t>ejec</a:t>
            </a:r>
            <a:r>
              <a:rPr lang="es-ES" sz="1200" dirty="0"/>
              <a:t> aplicable o </a:t>
            </a:r>
            <a:r>
              <a:rPr lang="es-ES" sz="1200" dirty="0" err="1"/>
              <a:t>interv</a:t>
            </a:r>
            <a:r>
              <a:rPr lang="es-ES" sz="1200" dirty="0"/>
              <a:t> </a:t>
            </a:r>
            <a:r>
              <a:rPr lang="es-ES" sz="1200" dirty="0" err="1"/>
              <a:t>inscr</a:t>
            </a:r>
            <a:r>
              <a:rPr lang="es-ES" sz="1200" dirty="0"/>
              <a:t>, generalmente se ejecuta en N.</a:t>
            </a:r>
            <a:r>
              <a:rPr lang="es-ES_tradnl" sz="1200" dirty="0"/>
              <a:t> </a:t>
            </a:r>
          </a:p>
          <a:p>
            <a:r>
              <a:rPr lang="es-ES_tradnl" sz="1200" b="1" dirty="0"/>
              <a:t>*34</a:t>
            </a:r>
            <a:r>
              <a:rPr lang="es-ES_tradnl" sz="1200" dirty="0"/>
              <a:t> - </a:t>
            </a:r>
            <a:r>
              <a:rPr lang="es-ES" sz="1200" dirty="0"/>
              <a:t>Ingresar Y si desea notas de ayuda financiera para afectar monto vencido.</a:t>
            </a:r>
            <a:endParaRPr lang="es-ES_tradnl" sz="1200" dirty="0"/>
          </a:p>
        </p:txBody>
      </p:sp>
      <p:pic>
        <p:nvPicPr>
          <p:cNvPr id="5" name="Imagen 4">
            <a:extLst>
              <a:ext uri="{FF2B5EF4-FFF2-40B4-BE49-F238E27FC236}">
                <a16:creationId xmlns:a16="http://schemas.microsoft.com/office/drawing/2014/main" id="{5EE3DE42-FC9A-F380-0C3C-6AEDC4EFEDD8}"/>
              </a:ext>
            </a:extLst>
          </p:cNvPr>
          <p:cNvPicPr>
            <a:picLocks noChangeAspect="1"/>
          </p:cNvPicPr>
          <p:nvPr/>
        </p:nvPicPr>
        <p:blipFill>
          <a:blip r:embed="rId2"/>
          <a:stretch>
            <a:fillRect/>
          </a:stretch>
        </p:blipFill>
        <p:spPr>
          <a:xfrm>
            <a:off x="1304400" y="1336966"/>
            <a:ext cx="9583200" cy="3340887"/>
          </a:xfrm>
          <a:prstGeom prst="rect">
            <a:avLst/>
          </a:prstGeom>
        </p:spPr>
      </p:pic>
    </p:spTree>
    <p:extLst>
      <p:ext uri="{BB962C8B-B14F-4D97-AF65-F5344CB8AC3E}">
        <p14:creationId xmlns:p14="http://schemas.microsoft.com/office/powerpoint/2010/main" val="1964316539"/>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CF33E6-DD8B-7EC6-9839-257E10CCD31A}"/>
            </a:ext>
          </a:extLst>
        </p:cNvPr>
        <p:cNvGrpSpPr/>
        <p:nvPr/>
      </p:nvGrpSpPr>
      <p:grpSpPr>
        <a:xfrm>
          <a:off x="0" y="0"/>
          <a:ext cx="0" cy="0"/>
          <a:chOff x="0" y="0"/>
          <a:chExt cx="0" cy="0"/>
        </a:xfrm>
      </p:grpSpPr>
      <p:sp>
        <p:nvSpPr>
          <p:cNvPr id="3" name="Título 3">
            <a:extLst>
              <a:ext uri="{FF2B5EF4-FFF2-40B4-BE49-F238E27FC236}">
                <a16:creationId xmlns:a16="http://schemas.microsoft.com/office/drawing/2014/main" id="{488A2537-7423-5D18-7B4C-76444A0F0545}"/>
              </a:ext>
            </a:extLst>
          </p:cNvPr>
          <p:cNvSpPr txBox="1">
            <a:spLocks/>
          </p:cNvSpPr>
          <p:nvPr/>
        </p:nvSpPr>
        <p:spPr>
          <a:xfrm>
            <a:off x="1216821" y="258805"/>
            <a:ext cx="9583200" cy="1007953"/>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dirty="0">
                <a:solidFill>
                  <a:schemeClr val="accent1"/>
                </a:solidFill>
              </a:rPr>
              <a:t>Operación : </a:t>
            </a:r>
            <a:r>
              <a:rPr lang="es-CO" sz="3200" dirty="0"/>
              <a:t>TSRCBIL/ TSRRBIL Estado de cuentas </a:t>
            </a:r>
          </a:p>
          <a:p>
            <a:r>
              <a:rPr lang="es-CO" sz="3200" dirty="0"/>
              <a:t>de cobro de alumnos</a:t>
            </a:r>
            <a:endParaRPr lang="es-CL" b="0" dirty="0"/>
          </a:p>
        </p:txBody>
      </p:sp>
      <p:sp>
        <p:nvSpPr>
          <p:cNvPr id="4" name="Rectángulo redondeado 5">
            <a:extLst>
              <a:ext uri="{FF2B5EF4-FFF2-40B4-BE49-F238E27FC236}">
                <a16:creationId xmlns:a16="http://schemas.microsoft.com/office/drawing/2014/main" id="{F3E56847-8745-B5E6-F8AB-E9C32B9C3F66}"/>
              </a:ext>
            </a:extLst>
          </p:cNvPr>
          <p:cNvSpPr/>
          <p:nvPr/>
        </p:nvSpPr>
        <p:spPr>
          <a:xfrm>
            <a:off x="1380600" y="4900075"/>
            <a:ext cx="9507000" cy="1127618"/>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b="1" dirty="0"/>
              <a:t>Parámetros:</a:t>
            </a:r>
          </a:p>
          <a:p>
            <a:r>
              <a:rPr lang="es-ES_tradnl" sz="1200" b="1" dirty="0"/>
              <a:t>*35 </a:t>
            </a:r>
            <a:r>
              <a:rPr lang="es-ES_tradnl" sz="1200" dirty="0"/>
              <a:t>- Campo para seleccionar según opciones habilitadas, N-Ninguno, F-ayuda financiera, B-ambos F y O, O</a:t>
            </a:r>
            <a:r>
              <a:rPr lang="es-ES" sz="1200" dirty="0"/>
              <a:t>-otras no </a:t>
            </a:r>
            <a:r>
              <a:rPr lang="es-ES" sz="1200" dirty="0" err="1"/>
              <a:t>ayd</a:t>
            </a:r>
            <a:r>
              <a:rPr lang="es-ES" sz="1200" dirty="0"/>
              <a:t> fin/</a:t>
            </a:r>
            <a:r>
              <a:rPr lang="es-ES" sz="1200" dirty="0" err="1"/>
              <a:t>contr</a:t>
            </a:r>
            <a:r>
              <a:rPr lang="es-ES" sz="1200" dirty="0"/>
              <a:t>/</a:t>
            </a:r>
            <a:r>
              <a:rPr lang="es-ES" sz="1200" dirty="0" err="1"/>
              <a:t>exen</a:t>
            </a:r>
            <a:endParaRPr lang="es-ES_tradnl" sz="1200" dirty="0"/>
          </a:p>
          <a:p>
            <a:r>
              <a:rPr lang="es-ES_tradnl" sz="1200" b="1" dirty="0"/>
              <a:t>*36</a:t>
            </a:r>
            <a:r>
              <a:rPr lang="es-ES_tradnl" sz="1200" dirty="0"/>
              <a:t> - </a:t>
            </a:r>
            <a:r>
              <a:rPr lang="es-ES" sz="1200" dirty="0"/>
              <a:t>Ingresar Y p/imprimir nota indicando </a:t>
            </a:r>
            <a:r>
              <a:rPr lang="es-ES" sz="1200" dirty="0" err="1"/>
              <a:t>prdo</a:t>
            </a:r>
            <a:r>
              <a:rPr lang="es-ES" sz="1200" dirty="0"/>
              <a:t> incluidos en intervalo inscripción.</a:t>
            </a:r>
            <a:endParaRPr lang="es-ES_tradnl" sz="1200" dirty="0"/>
          </a:p>
          <a:p>
            <a:r>
              <a:rPr lang="es-ES_tradnl" sz="1200" b="1" dirty="0"/>
              <a:t>*37</a:t>
            </a:r>
            <a:r>
              <a:rPr lang="es-ES_tradnl" sz="1200" dirty="0"/>
              <a:t> - Y para imprimir reporte de control, se puede ejecutar en N.</a:t>
            </a:r>
          </a:p>
          <a:p>
            <a:r>
              <a:rPr lang="es-ES_tradnl" sz="1200" b="1" dirty="0"/>
              <a:t>*38</a:t>
            </a:r>
            <a:r>
              <a:rPr lang="es-ES_tradnl" sz="1200" dirty="0"/>
              <a:t> -</a:t>
            </a:r>
            <a:r>
              <a:rPr lang="es-ES" sz="1200" dirty="0"/>
              <a:t> </a:t>
            </a:r>
            <a:r>
              <a:rPr lang="es-ES" sz="1200" dirty="0" err="1"/>
              <a:t>Impr</a:t>
            </a:r>
            <a:r>
              <a:rPr lang="es-ES" sz="1200" dirty="0"/>
              <a:t> dirección expandida para:1=sobre con ventana,2=sobre sin ventana,3=</a:t>
            </a:r>
            <a:r>
              <a:rPr lang="es-ES" sz="1200" dirty="0" err="1"/>
              <a:t>ning</a:t>
            </a:r>
            <a:endParaRPr lang="es-ES_tradnl" sz="1200" dirty="0"/>
          </a:p>
        </p:txBody>
      </p:sp>
      <p:pic>
        <p:nvPicPr>
          <p:cNvPr id="5" name="Imagen 4">
            <a:extLst>
              <a:ext uri="{FF2B5EF4-FFF2-40B4-BE49-F238E27FC236}">
                <a16:creationId xmlns:a16="http://schemas.microsoft.com/office/drawing/2014/main" id="{69A3F0C0-3380-F80A-FB34-D660F2958C29}"/>
              </a:ext>
            </a:extLst>
          </p:cNvPr>
          <p:cNvPicPr>
            <a:picLocks noChangeAspect="1"/>
          </p:cNvPicPr>
          <p:nvPr/>
        </p:nvPicPr>
        <p:blipFill>
          <a:blip r:embed="rId2"/>
          <a:stretch>
            <a:fillRect/>
          </a:stretch>
        </p:blipFill>
        <p:spPr>
          <a:xfrm>
            <a:off x="1304400" y="1394116"/>
            <a:ext cx="9583200" cy="3340887"/>
          </a:xfrm>
          <a:prstGeom prst="rect">
            <a:avLst/>
          </a:prstGeom>
        </p:spPr>
      </p:pic>
    </p:spTree>
    <p:extLst>
      <p:ext uri="{BB962C8B-B14F-4D97-AF65-F5344CB8AC3E}">
        <p14:creationId xmlns:p14="http://schemas.microsoft.com/office/powerpoint/2010/main" val="1692975173"/>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166C3C-B9D8-C462-D2CA-A6732D201BB3}"/>
            </a:ext>
          </a:extLst>
        </p:cNvPr>
        <p:cNvGrpSpPr/>
        <p:nvPr/>
      </p:nvGrpSpPr>
      <p:grpSpPr>
        <a:xfrm>
          <a:off x="0" y="0"/>
          <a:ext cx="0" cy="0"/>
          <a:chOff x="0" y="0"/>
          <a:chExt cx="0" cy="0"/>
        </a:xfrm>
      </p:grpSpPr>
      <p:sp>
        <p:nvSpPr>
          <p:cNvPr id="3" name="Título 3">
            <a:extLst>
              <a:ext uri="{FF2B5EF4-FFF2-40B4-BE49-F238E27FC236}">
                <a16:creationId xmlns:a16="http://schemas.microsoft.com/office/drawing/2014/main" id="{744BA113-4D79-765B-BDA5-BABDCA5B81B9}"/>
              </a:ext>
            </a:extLst>
          </p:cNvPr>
          <p:cNvSpPr txBox="1">
            <a:spLocks/>
          </p:cNvSpPr>
          <p:nvPr/>
        </p:nvSpPr>
        <p:spPr>
          <a:xfrm>
            <a:off x="1197771" y="168148"/>
            <a:ext cx="9308304" cy="1046777"/>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dirty="0">
                <a:solidFill>
                  <a:schemeClr val="accent1"/>
                </a:solidFill>
              </a:rPr>
              <a:t>Operación : </a:t>
            </a:r>
            <a:r>
              <a:rPr lang="es-CO" sz="3200" dirty="0"/>
              <a:t>TSRCBIL/ TSRRBIL Estado de cuentas </a:t>
            </a:r>
          </a:p>
          <a:p>
            <a:r>
              <a:rPr lang="es-CO" sz="3200" dirty="0"/>
              <a:t>de cobro de alumnos</a:t>
            </a:r>
            <a:endParaRPr lang="es-CL" b="0" dirty="0"/>
          </a:p>
        </p:txBody>
      </p:sp>
      <p:sp>
        <p:nvSpPr>
          <p:cNvPr id="4" name="Rectángulo redondeado 5">
            <a:extLst>
              <a:ext uri="{FF2B5EF4-FFF2-40B4-BE49-F238E27FC236}">
                <a16:creationId xmlns:a16="http://schemas.microsoft.com/office/drawing/2014/main" id="{6E2ADFDB-D2AC-6761-645C-2498363FC7FF}"/>
              </a:ext>
            </a:extLst>
          </p:cNvPr>
          <p:cNvSpPr/>
          <p:nvPr/>
        </p:nvSpPr>
        <p:spPr>
          <a:xfrm>
            <a:off x="1265953" y="5317198"/>
            <a:ext cx="9621647" cy="57835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dirty="0"/>
              <a:t>Ingresados los parámetros, en la sección “Envío” seleccionar el Check “Guardar parámetros como” esto permite guardar parámetros predefinidos para una futura ejecución, y dar al botón “Guardar”.</a:t>
            </a:r>
          </a:p>
        </p:txBody>
      </p:sp>
      <p:pic>
        <p:nvPicPr>
          <p:cNvPr id="6" name="Imagen 5">
            <a:extLst>
              <a:ext uri="{FF2B5EF4-FFF2-40B4-BE49-F238E27FC236}">
                <a16:creationId xmlns:a16="http://schemas.microsoft.com/office/drawing/2014/main" id="{4275AE08-634B-9A6C-1BB0-B949D25D428A}"/>
              </a:ext>
            </a:extLst>
          </p:cNvPr>
          <p:cNvPicPr>
            <a:picLocks noChangeAspect="1"/>
          </p:cNvPicPr>
          <p:nvPr/>
        </p:nvPicPr>
        <p:blipFill>
          <a:blip r:embed="rId2"/>
          <a:stretch>
            <a:fillRect/>
          </a:stretch>
        </p:blipFill>
        <p:spPr>
          <a:xfrm>
            <a:off x="1265953" y="1251626"/>
            <a:ext cx="9583200" cy="3387899"/>
          </a:xfrm>
          <a:prstGeom prst="rect">
            <a:avLst/>
          </a:prstGeom>
        </p:spPr>
      </p:pic>
      <p:pic>
        <p:nvPicPr>
          <p:cNvPr id="8" name="Imagen 7">
            <a:extLst>
              <a:ext uri="{FF2B5EF4-FFF2-40B4-BE49-F238E27FC236}">
                <a16:creationId xmlns:a16="http://schemas.microsoft.com/office/drawing/2014/main" id="{B00FE081-793E-1C06-296F-D85A5ABE4EBA}"/>
              </a:ext>
            </a:extLst>
          </p:cNvPr>
          <p:cNvPicPr>
            <a:picLocks noChangeAspect="1"/>
          </p:cNvPicPr>
          <p:nvPr/>
        </p:nvPicPr>
        <p:blipFill>
          <a:blip r:embed="rId3"/>
          <a:stretch>
            <a:fillRect/>
          </a:stretch>
        </p:blipFill>
        <p:spPr>
          <a:xfrm>
            <a:off x="1304400" y="4712926"/>
            <a:ext cx="9583200" cy="304625"/>
          </a:xfrm>
          <a:prstGeom prst="rect">
            <a:avLst/>
          </a:prstGeom>
        </p:spPr>
      </p:pic>
    </p:spTree>
    <p:extLst>
      <p:ext uri="{BB962C8B-B14F-4D97-AF65-F5344CB8AC3E}">
        <p14:creationId xmlns:p14="http://schemas.microsoft.com/office/powerpoint/2010/main" val="1375734906"/>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6A7DCB-E2A2-AD1A-2F7C-75D286CEB2CF}"/>
            </a:ext>
          </a:extLst>
        </p:cNvPr>
        <p:cNvGrpSpPr/>
        <p:nvPr/>
      </p:nvGrpSpPr>
      <p:grpSpPr>
        <a:xfrm>
          <a:off x="0" y="0"/>
          <a:ext cx="0" cy="0"/>
          <a:chOff x="0" y="0"/>
          <a:chExt cx="0" cy="0"/>
        </a:xfrm>
      </p:grpSpPr>
      <p:sp>
        <p:nvSpPr>
          <p:cNvPr id="3" name="Título 3">
            <a:extLst>
              <a:ext uri="{FF2B5EF4-FFF2-40B4-BE49-F238E27FC236}">
                <a16:creationId xmlns:a16="http://schemas.microsoft.com/office/drawing/2014/main" id="{0DBFEB15-F04C-1B71-27A2-C2A39B882380}"/>
              </a:ext>
            </a:extLst>
          </p:cNvPr>
          <p:cNvSpPr txBox="1">
            <a:spLocks/>
          </p:cNvSpPr>
          <p:nvPr/>
        </p:nvSpPr>
        <p:spPr>
          <a:xfrm>
            <a:off x="1198296" y="779148"/>
            <a:ext cx="9689304" cy="1078227"/>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dirty="0">
                <a:solidFill>
                  <a:schemeClr val="accent1"/>
                </a:solidFill>
              </a:rPr>
              <a:t>Operación : </a:t>
            </a:r>
            <a:r>
              <a:rPr lang="es-CO" sz="3200" dirty="0"/>
              <a:t>TSRCBIL/ TSRRBIL Estado de cuentas </a:t>
            </a:r>
          </a:p>
          <a:p>
            <a:r>
              <a:rPr lang="es-CO" sz="3200" dirty="0"/>
              <a:t>de cobro de alumnos</a:t>
            </a:r>
            <a:endParaRPr lang="es-CL" b="0" dirty="0"/>
          </a:p>
        </p:txBody>
      </p:sp>
      <p:sp>
        <p:nvSpPr>
          <p:cNvPr id="4" name="Rectángulo redondeado 5">
            <a:extLst>
              <a:ext uri="{FF2B5EF4-FFF2-40B4-BE49-F238E27FC236}">
                <a16:creationId xmlns:a16="http://schemas.microsoft.com/office/drawing/2014/main" id="{1B17E7EC-C663-17F0-045D-A438A79CA8F2}"/>
              </a:ext>
            </a:extLst>
          </p:cNvPr>
          <p:cNvSpPr/>
          <p:nvPr/>
        </p:nvSpPr>
        <p:spPr>
          <a:xfrm>
            <a:off x="1304400" y="4257124"/>
            <a:ext cx="5660161" cy="57835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dirty="0"/>
              <a:t>Confirmación de la ejecución del Proceso. Generación de los archivos .LIS y .LOG</a:t>
            </a:r>
          </a:p>
        </p:txBody>
      </p:sp>
      <p:pic>
        <p:nvPicPr>
          <p:cNvPr id="5" name="Imagen 4">
            <a:extLst>
              <a:ext uri="{FF2B5EF4-FFF2-40B4-BE49-F238E27FC236}">
                <a16:creationId xmlns:a16="http://schemas.microsoft.com/office/drawing/2014/main" id="{4E1D5BCC-2908-7EF0-689A-0DD19907E9F3}"/>
              </a:ext>
            </a:extLst>
          </p:cNvPr>
          <p:cNvPicPr>
            <a:picLocks noChangeAspect="1"/>
          </p:cNvPicPr>
          <p:nvPr/>
        </p:nvPicPr>
        <p:blipFill>
          <a:blip r:embed="rId2"/>
          <a:stretch>
            <a:fillRect/>
          </a:stretch>
        </p:blipFill>
        <p:spPr>
          <a:xfrm>
            <a:off x="1304400" y="2440830"/>
            <a:ext cx="9583200" cy="1232839"/>
          </a:xfrm>
          <a:prstGeom prst="rect">
            <a:avLst/>
          </a:prstGeom>
        </p:spPr>
      </p:pic>
    </p:spTree>
    <p:extLst>
      <p:ext uri="{BB962C8B-B14F-4D97-AF65-F5344CB8AC3E}">
        <p14:creationId xmlns:p14="http://schemas.microsoft.com/office/powerpoint/2010/main" val="4240689568"/>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311DA4-42F0-43B4-DEC3-12A2DACE484A}"/>
            </a:ext>
          </a:extLst>
        </p:cNvPr>
        <p:cNvGrpSpPr/>
        <p:nvPr/>
      </p:nvGrpSpPr>
      <p:grpSpPr>
        <a:xfrm>
          <a:off x="0" y="0"/>
          <a:ext cx="0" cy="0"/>
          <a:chOff x="0" y="0"/>
          <a:chExt cx="0" cy="0"/>
        </a:xfrm>
      </p:grpSpPr>
      <p:sp>
        <p:nvSpPr>
          <p:cNvPr id="3" name="Título 3">
            <a:extLst>
              <a:ext uri="{FF2B5EF4-FFF2-40B4-BE49-F238E27FC236}">
                <a16:creationId xmlns:a16="http://schemas.microsoft.com/office/drawing/2014/main" id="{5CB047C1-69E4-E2FA-AC1B-D082633F573E}"/>
              </a:ext>
            </a:extLst>
          </p:cNvPr>
          <p:cNvSpPr txBox="1">
            <a:spLocks/>
          </p:cNvSpPr>
          <p:nvPr/>
        </p:nvSpPr>
        <p:spPr>
          <a:xfrm>
            <a:off x="1175178" y="417729"/>
            <a:ext cx="9102297" cy="886364"/>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dirty="0">
                <a:solidFill>
                  <a:schemeClr val="accent1"/>
                </a:solidFill>
              </a:rPr>
              <a:t>Operación : </a:t>
            </a:r>
            <a:r>
              <a:rPr lang="es-CO" sz="3200" dirty="0"/>
              <a:t>TSRCBIL/ TSRRBIL Estado de cuentas </a:t>
            </a:r>
          </a:p>
          <a:p>
            <a:r>
              <a:rPr lang="es-CO" sz="3200" dirty="0"/>
              <a:t>de cobro de alumnos</a:t>
            </a:r>
            <a:endParaRPr lang="es-CL" b="0" dirty="0"/>
          </a:p>
        </p:txBody>
      </p:sp>
      <p:sp>
        <p:nvSpPr>
          <p:cNvPr id="4" name="Rectángulo redondeado 5">
            <a:extLst>
              <a:ext uri="{FF2B5EF4-FFF2-40B4-BE49-F238E27FC236}">
                <a16:creationId xmlns:a16="http://schemas.microsoft.com/office/drawing/2014/main" id="{B74D49E0-1A23-4253-A1D9-02E87DCF2732}"/>
              </a:ext>
            </a:extLst>
          </p:cNvPr>
          <p:cNvSpPr/>
          <p:nvPr/>
        </p:nvSpPr>
        <p:spPr>
          <a:xfrm>
            <a:off x="1304400" y="5060972"/>
            <a:ext cx="9583200" cy="80757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b="1" dirty="0"/>
              <a:t>Revisión salida en GJIREVO</a:t>
            </a:r>
            <a:r>
              <a:rPr lang="es-ES_tradnl" sz="1200" dirty="0"/>
              <a:t>:</a:t>
            </a:r>
          </a:p>
          <a:p>
            <a:r>
              <a:rPr lang="es-ES_tradnl" sz="1200" dirty="0"/>
              <a:t>Para revisar los archivos .LIS y .LOG se debe ingresar a la aplicación GJIREVO o bien en la sección superior del menú, en la opción “Relacionado” se desplegaría una serie de opciones.</a:t>
            </a:r>
          </a:p>
        </p:txBody>
      </p:sp>
      <p:pic>
        <p:nvPicPr>
          <p:cNvPr id="6" name="Imagen 5">
            <a:extLst>
              <a:ext uri="{FF2B5EF4-FFF2-40B4-BE49-F238E27FC236}">
                <a16:creationId xmlns:a16="http://schemas.microsoft.com/office/drawing/2014/main" id="{45F2E683-9DF8-8BA2-58D0-41BD4BBE5CE4}"/>
              </a:ext>
            </a:extLst>
          </p:cNvPr>
          <p:cNvPicPr>
            <a:picLocks noChangeAspect="1"/>
          </p:cNvPicPr>
          <p:nvPr/>
        </p:nvPicPr>
        <p:blipFill>
          <a:blip r:embed="rId2"/>
          <a:stretch>
            <a:fillRect/>
          </a:stretch>
        </p:blipFill>
        <p:spPr>
          <a:xfrm>
            <a:off x="1304399" y="1507543"/>
            <a:ext cx="9583200" cy="3156054"/>
          </a:xfrm>
          <a:prstGeom prst="rect">
            <a:avLst/>
          </a:prstGeom>
        </p:spPr>
      </p:pic>
    </p:spTree>
    <p:extLst>
      <p:ext uri="{BB962C8B-B14F-4D97-AF65-F5344CB8AC3E}">
        <p14:creationId xmlns:p14="http://schemas.microsoft.com/office/powerpoint/2010/main" val="1875389037"/>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CB98D1-4879-9EA6-F2DA-724721846904}"/>
            </a:ext>
          </a:extLst>
        </p:cNvPr>
        <p:cNvGrpSpPr/>
        <p:nvPr/>
      </p:nvGrpSpPr>
      <p:grpSpPr>
        <a:xfrm>
          <a:off x="0" y="0"/>
          <a:ext cx="0" cy="0"/>
          <a:chOff x="0" y="0"/>
          <a:chExt cx="0" cy="0"/>
        </a:xfrm>
      </p:grpSpPr>
      <p:sp>
        <p:nvSpPr>
          <p:cNvPr id="3" name="Título 3">
            <a:extLst>
              <a:ext uri="{FF2B5EF4-FFF2-40B4-BE49-F238E27FC236}">
                <a16:creationId xmlns:a16="http://schemas.microsoft.com/office/drawing/2014/main" id="{718C5397-91D1-D5EF-805C-4B0EB2B6A2F2}"/>
              </a:ext>
            </a:extLst>
          </p:cNvPr>
          <p:cNvSpPr txBox="1">
            <a:spLocks/>
          </p:cNvSpPr>
          <p:nvPr/>
        </p:nvSpPr>
        <p:spPr>
          <a:xfrm>
            <a:off x="1134639" y="744419"/>
            <a:ext cx="9104736" cy="928474"/>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dirty="0">
                <a:solidFill>
                  <a:schemeClr val="accent1"/>
                </a:solidFill>
              </a:rPr>
              <a:t>Operación : </a:t>
            </a:r>
            <a:r>
              <a:rPr lang="es-CO" sz="3200" dirty="0"/>
              <a:t>TSRCBIL/ TSRRBIL Estado de cuentas </a:t>
            </a:r>
          </a:p>
          <a:p>
            <a:r>
              <a:rPr lang="es-CO" sz="3200" dirty="0"/>
              <a:t>de cobro de alumnos</a:t>
            </a:r>
            <a:endParaRPr lang="es-CL" b="0" dirty="0"/>
          </a:p>
        </p:txBody>
      </p:sp>
      <p:sp>
        <p:nvSpPr>
          <p:cNvPr id="4" name="Rectángulo redondeado 5">
            <a:extLst>
              <a:ext uri="{FF2B5EF4-FFF2-40B4-BE49-F238E27FC236}">
                <a16:creationId xmlns:a16="http://schemas.microsoft.com/office/drawing/2014/main" id="{B69B9DD1-4AEF-83D0-D136-71B941B04966}"/>
              </a:ext>
            </a:extLst>
          </p:cNvPr>
          <p:cNvSpPr/>
          <p:nvPr/>
        </p:nvSpPr>
        <p:spPr>
          <a:xfrm>
            <a:off x="1250794" y="4237959"/>
            <a:ext cx="9583200" cy="80757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dirty="0"/>
              <a:t>Revisión salida en GJIREVO:</a:t>
            </a:r>
          </a:p>
          <a:p>
            <a:r>
              <a:rPr lang="es-CO" sz="1200" dirty="0"/>
              <a:t>Ratificando que el campo “Número” cuente con la numeración asignada al proceso ejecutado, en el campo Nombre de Archivo, se despliega las opciones de los archivos .LIS y .LOG. </a:t>
            </a:r>
          </a:p>
        </p:txBody>
      </p:sp>
      <p:pic>
        <p:nvPicPr>
          <p:cNvPr id="5" name="Imagen 4">
            <a:extLst>
              <a:ext uri="{FF2B5EF4-FFF2-40B4-BE49-F238E27FC236}">
                <a16:creationId xmlns:a16="http://schemas.microsoft.com/office/drawing/2014/main" id="{F7902DCA-9907-2196-0673-C4CE47C17731}"/>
              </a:ext>
            </a:extLst>
          </p:cNvPr>
          <p:cNvPicPr>
            <a:picLocks noChangeAspect="1"/>
          </p:cNvPicPr>
          <p:nvPr/>
        </p:nvPicPr>
        <p:blipFill>
          <a:blip r:embed="rId2"/>
          <a:stretch>
            <a:fillRect/>
          </a:stretch>
        </p:blipFill>
        <p:spPr>
          <a:xfrm>
            <a:off x="1250793" y="2241677"/>
            <a:ext cx="9583200" cy="1427498"/>
          </a:xfrm>
          <a:prstGeom prst="rect">
            <a:avLst/>
          </a:prstGeom>
        </p:spPr>
      </p:pic>
    </p:spTree>
    <p:extLst>
      <p:ext uri="{BB962C8B-B14F-4D97-AF65-F5344CB8AC3E}">
        <p14:creationId xmlns:p14="http://schemas.microsoft.com/office/powerpoint/2010/main" val="1911950009"/>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0169D7-0218-EF9E-7AC7-F4E25664E14C}"/>
            </a:ext>
          </a:extLst>
        </p:cNvPr>
        <p:cNvGrpSpPr/>
        <p:nvPr/>
      </p:nvGrpSpPr>
      <p:grpSpPr>
        <a:xfrm>
          <a:off x="0" y="0"/>
          <a:ext cx="0" cy="0"/>
          <a:chOff x="0" y="0"/>
          <a:chExt cx="0" cy="0"/>
        </a:xfrm>
      </p:grpSpPr>
      <p:sp>
        <p:nvSpPr>
          <p:cNvPr id="3" name="Título 3">
            <a:extLst>
              <a:ext uri="{FF2B5EF4-FFF2-40B4-BE49-F238E27FC236}">
                <a16:creationId xmlns:a16="http://schemas.microsoft.com/office/drawing/2014/main" id="{284A02AD-6CAE-63CB-0055-EF016616110B}"/>
              </a:ext>
            </a:extLst>
          </p:cNvPr>
          <p:cNvSpPr txBox="1">
            <a:spLocks/>
          </p:cNvSpPr>
          <p:nvPr/>
        </p:nvSpPr>
        <p:spPr>
          <a:xfrm>
            <a:off x="1255740" y="264980"/>
            <a:ext cx="9942936" cy="923740"/>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dirty="0">
                <a:solidFill>
                  <a:schemeClr val="accent1"/>
                </a:solidFill>
              </a:rPr>
              <a:t>Operación : </a:t>
            </a:r>
            <a:r>
              <a:rPr lang="es-CO" sz="3200" dirty="0"/>
              <a:t>TSRCBIL/ TSRRBIL Estado de cuentas de cobro de alumnos</a:t>
            </a:r>
            <a:endParaRPr lang="es-CL" b="0" dirty="0"/>
          </a:p>
        </p:txBody>
      </p:sp>
      <p:sp>
        <p:nvSpPr>
          <p:cNvPr id="4" name="Rectángulo redondeado 5">
            <a:extLst>
              <a:ext uri="{FF2B5EF4-FFF2-40B4-BE49-F238E27FC236}">
                <a16:creationId xmlns:a16="http://schemas.microsoft.com/office/drawing/2014/main" id="{9C739399-DF0C-DC0C-5309-3A59F7FB8E1A}"/>
              </a:ext>
            </a:extLst>
          </p:cNvPr>
          <p:cNvSpPr/>
          <p:nvPr/>
        </p:nvSpPr>
        <p:spPr>
          <a:xfrm>
            <a:off x="1511518" y="5496274"/>
            <a:ext cx="9583201" cy="80757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dirty="0"/>
              <a:t>Revisión salida en GJIREVO:</a:t>
            </a:r>
          </a:p>
          <a:p>
            <a:r>
              <a:rPr lang="es-CO" sz="1200" dirty="0"/>
              <a:t>Ratificando que el campo “Número” cuente con la numeración asignada al proceso ejecutado, en el campo Nombre de Archivo, se despliega las opciones de los archivos .LIS y .LOG. </a:t>
            </a:r>
          </a:p>
        </p:txBody>
      </p:sp>
      <p:pic>
        <p:nvPicPr>
          <p:cNvPr id="6" name="Imagen 5">
            <a:extLst>
              <a:ext uri="{FF2B5EF4-FFF2-40B4-BE49-F238E27FC236}">
                <a16:creationId xmlns:a16="http://schemas.microsoft.com/office/drawing/2014/main" id="{26144E90-0550-E260-EB85-EB1CDDFD6F1B}"/>
              </a:ext>
            </a:extLst>
          </p:cNvPr>
          <p:cNvPicPr>
            <a:picLocks noChangeAspect="1"/>
          </p:cNvPicPr>
          <p:nvPr/>
        </p:nvPicPr>
        <p:blipFill>
          <a:blip r:embed="rId2"/>
          <a:stretch>
            <a:fillRect/>
          </a:stretch>
        </p:blipFill>
        <p:spPr>
          <a:xfrm>
            <a:off x="1511520" y="1312060"/>
            <a:ext cx="9583200" cy="4184214"/>
          </a:xfrm>
          <a:prstGeom prst="rect">
            <a:avLst/>
          </a:prstGeom>
        </p:spPr>
      </p:pic>
    </p:spTree>
    <p:extLst>
      <p:ext uri="{BB962C8B-B14F-4D97-AF65-F5344CB8AC3E}">
        <p14:creationId xmlns:p14="http://schemas.microsoft.com/office/powerpoint/2010/main" val="992827857"/>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7BF6AE-EEF0-3F3C-68A4-D9E315DEB8F7}"/>
            </a:ext>
          </a:extLst>
        </p:cNvPr>
        <p:cNvGrpSpPr/>
        <p:nvPr/>
      </p:nvGrpSpPr>
      <p:grpSpPr>
        <a:xfrm>
          <a:off x="0" y="0"/>
          <a:ext cx="0" cy="0"/>
          <a:chOff x="0" y="0"/>
          <a:chExt cx="0" cy="0"/>
        </a:xfrm>
      </p:grpSpPr>
      <p:sp>
        <p:nvSpPr>
          <p:cNvPr id="3" name="Título 3">
            <a:extLst>
              <a:ext uri="{FF2B5EF4-FFF2-40B4-BE49-F238E27FC236}">
                <a16:creationId xmlns:a16="http://schemas.microsoft.com/office/drawing/2014/main" id="{FE860CC0-F45B-A7C5-172D-03DF8B4E87D1}"/>
              </a:ext>
            </a:extLst>
          </p:cNvPr>
          <p:cNvSpPr txBox="1">
            <a:spLocks/>
          </p:cNvSpPr>
          <p:nvPr/>
        </p:nvSpPr>
        <p:spPr>
          <a:xfrm>
            <a:off x="1199409" y="361591"/>
            <a:ext cx="9068541" cy="943333"/>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dirty="0">
                <a:solidFill>
                  <a:schemeClr val="accent1"/>
                </a:solidFill>
              </a:rPr>
              <a:t>Operación : </a:t>
            </a:r>
            <a:r>
              <a:rPr lang="es-CO" sz="3200" dirty="0"/>
              <a:t>TSRCBIL/ TSRRBIL Estado de cuentas </a:t>
            </a:r>
          </a:p>
          <a:p>
            <a:r>
              <a:rPr lang="es-CO" sz="3200" dirty="0"/>
              <a:t>de cobro de alumnos</a:t>
            </a:r>
            <a:endParaRPr lang="es-CL" b="0" dirty="0"/>
          </a:p>
        </p:txBody>
      </p:sp>
      <p:sp>
        <p:nvSpPr>
          <p:cNvPr id="4" name="Rectángulo redondeado 5">
            <a:extLst>
              <a:ext uri="{FF2B5EF4-FFF2-40B4-BE49-F238E27FC236}">
                <a16:creationId xmlns:a16="http://schemas.microsoft.com/office/drawing/2014/main" id="{537C3BEA-423A-A607-6D7C-4A68DA6278DF}"/>
              </a:ext>
            </a:extLst>
          </p:cNvPr>
          <p:cNvSpPr/>
          <p:nvPr/>
        </p:nvSpPr>
        <p:spPr>
          <a:xfrm>
            <a:off x="1304400" y="5453261"/>
            <a:ext cx="5342673" cy="553054"/>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dirty="0"/>
              <a:t>Revisión salida en GJIREVO .LIS:</a:t>
            </a:r>
          </a:p>
          <a:p>
            <a:r>
              <a:rPr lang="es-CO" sz="1200" dirty="0"/>
              <a:t>El archivo .LIS confirma la actualización de dos registros de estudiantes.</a:t>
            </a:r>
          </a:p>
        </p:txBody>
      </p:sp>
      <p:pic>
        <p:nvPicPr>
          <p:cNvPr id="5" name="Imagen 4">
            <a:extLst>
              <a:ext uri="{FF2B5EF4-FFF2-40B4-BE49-F238E27FC236}">
                <a16:creationId xmlns:a16="http://schemas.microsoft.com/office/drawing/2014/main" id="{51BC345B-B403-6598-3244-9DC57BC08290}"/>
              </a:ext>
            </a:extLst>
          </p:cNvPr>
          <p:cNvPicPr>
            <a:picLocks noChangeAspect="1"/>
          </p:cNvPicPr>
          <p:nvPr/>
        </p:nvPicPr>
        <p:blipFill>
          <a:blip r:embed="rId2"/>
          <a:stretch>
            <a:fillRect/>
          </a:stretch>
        </p:blipFill>
        <p:spPr>
          <a:xfrm>
            <a:off x="1304400" y="1404739"/>
            <a:ext cx="9583200" cy="3728464"/>
          </a:xfrm>
          <a:prstGeom prst="rect">
            <a:avLst/>
          </a:prstGeom>
        </p:spPr>
      </p:pic>
    </p:spTree>
    <p:extLst>
      <p:ext uri="{BB962C8B-B14F-4D97-AF65-F5344CB8AC3E}">
        <p14:creationId xmlns:p14="http://schemas.microsoft.com/office/powerpoint/2010/main" val="502229183"/>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E13BF1-A0B8-51DB-F504-18EF2FC2E8C0}"/>
            </a:ext>
          </a:extLst>
        </p:cNvPr>
        <p:cNvGrpSpPr/>
        <p:nvPr/>
      </p:nvGrpSpPr>
      <p:grpSpPr>
        <a:xfrm>
          <a:off x="0" y="0"/>
          <a:ext cx="0" cy="0"/>
          <a:chOff x="0" y="0"/>
          <a:chExt cx="0" cy="0"/>
        </a:xfrm>
      </p:grpSpPr>
      <p:sp>
        <p:nvSpPr>
          <p:cNvPr id="3" name="Título 3">
            <a:extLst>
              <a:ext uri="{FF2B5EF4-FFF2-40B4-BE49-F238E27FC236}">
                <a16:creationId xmlns:a16="http://schemas.microsoft.com/office/drawing/2014/main" id="{B1299CE1-C972-77FA-4063-5AE4DB194EF6}"/>
              </a:ext>
            </a:extLst>
          </p:cNvPr>
          <p:cNvSpPr txBox="1">
            <a:spLocks/>
          </p:cNvSpPr>
          <p:nvPr/>
        </p:nvSpPr>
        <p:spPr>
          <a:xfrm>
            <a:off x="1073225" y="665053"/>
            <a:ext cx="9185200" cy="937943"/>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dirty="0">
                <a:solidFill>
                  <a:schemeClr val="accent1"/>
                </a:solidFill>
              </a:rPr>
              <a:t>Operación : </a:t>
            </a:r>
            <a:r>
              <a:rPr lang="es-CO" sz="3200" dirty="0"/>
              <a:t>TSRCBIL/ TSRRBIL Estado de cuentas </a:t>
            </a:r>
          </a:p>
          <a:p>
            <a:r>
              <a:rPr lang="es-CO" sz="3200" dirty="0"/>
              <a:t>de cobro de alumnos</a:t>
            </a:r>
            <a:endParaRPr lang="es-CL" b="0" dirty="0"/>
          </a:p>
        </p:txBody>
      </p:sp>
      <p:sp>
        <p:nvSpPr>
          <p:cNvPr id="4" name="Rectángulo redondeado 5">
            <a:extLst>
              <a:ext uri="{FF2B5EF4-FFF2-40B4-BE49-F238E27FC236}">
                <a16:creationId xmlns:a16="http://schemas.microsoft.com/office/drawing/2014/main" id="{1BE878AF-DEB3-3830-2D91-71552723C6AA}"/>
              </a:ext>
            </a:extLst>
          </p:cNvPr>
          <p:cNvSpPr/>
          <p:nvPr/>
        </p:nvSpPr>
        <p:spPr>
          <a:xfrm>
            <a:off x="1189379" y="5273456"/>
            <a:ext cx="3448864" cy="548164"/>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dirty="0"/>
              <a:t>Revisión salida en GJIREVO .LOG:</a:t>
            </a:r>
          </a:p>
          <a:p>
            <a:r>
              <a:rPr lang="es-CO" sz="1200" dirty="0"/>
              <a:t>El archivo .LOG confirma ejecución completa</a:t>
            </a:r>
          </a:p>
        </p:txBody>
      </p:sp>
      <p:pic>
        <p:nvPicPr>
          <p:cNvPr id="5" name="Imagen 4">
            <a:extLst>
              <a:ext uri="{FF2B5EF4-FFF2-40B4-BE49-F238E27FC236}">
                <a16:creationId xmlns:a16="http://schemas.microsoft.com/office/drawing/2014/main" id="{CD6220EA-0780-53F9-73FA-616681BFA794}"/>
              </a:ext>
            </a:extLst>
          </p:cNvPr>
          <p:cNvPicPr>
            <a:picLocks noChangeAspect="1"/>
          </p:cNvPicPr>
          <p:nvPr/>
        </p:nvPicPr>
        <p:blipFill>
          <a:blip r:embed="rId2"/>
          <a:stretch>
            <a:fillRect/>
          </a:stretch>
        </p:blipFill>
        <p:spPr>
          <a:xfrm>
            <a:off x="1189379" y="1803619"/>
            <a:ext cx="9583200" cy="3087642"/>
          </a:xfrm>
          <a:prstGeom prst="rect">
            <a:avLst/>
          </a:prstGeom>
        </p:spPr>
      </p:pic>
    </p:spTree>
    <p:extLst>
      <p:ext uri="{BB962C8B-B14F-4D97-AF65-F5344CB8AC3E}">
        <p14:creationId xmlns:p14="http://schemas.microsoft.com/office/powerpoint/2010/main" val="3925524850"/>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BFF796-2843-F926-67A0-80DC22B31816}"/>
            </a:ext>
          </a:extLst>
        </p:cNvPr>
        <p:cNvGrpSpPr/>
        <p:nvPr/>
      </p:nvGrpSpPr>
      <p:grpSpPr>
        <a:xfrm>
          <a:off x="0" y="0"/>
          <a:ext cx="0" cy="0"/>
          <a:chOff x="0" y="0"/>
          <a:chExt cx="0" cy="0"/>
        </a:xfrm>
      </p:grpSpPr>
      <p:sp>
        <p:nvSpPr>
          <p:cNvPr id="3" name="Título 3">
            <a:extLst>
              <a:ext uri="{FF2B5EF4-FFF2-40B4-BE49-F238E27FC236}">
                <a16:creationId xmlns:a16="http://schemas.microsoft.com/office/drawing/2014/main" id="{30DC4A4B-DC32-8A63-E7CA-F713317DD4F9}"/>
              </a:ext>
            </a:extLst>
          </p:cNvPr>
          <p:cNvSpPr txBox="1">
            <a:spLocks/>
          </p:cNvSpPr>
          <p:nvPr/>
        </p:nvSpPr>
        <p:spPr>
          <a:xfrm>
            <a:off x="1304400" y="334297"/>
            <a:ext cx="8287303" cy="854210"/>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dirty="0">
                <a:solidFill>
                  <a:schemeClr val="accent1"/>
                </a:solidFill>
              </a:rPr>
              <a:t>Operación: </a:t>
            </a:r>
            <a:r>
              <a:rPr lang="es-CO" sz="3200" dirty="0"/>
              <a:t>TSAAREV Revisión de detalle de </a:t>
            </a:r>
          </a:p>
          <a:p>
            <a:r>
              <a:rPr lang="es-CO" sz="3200" dirty="0"/>
              <a:t>cuenta - alumnos</a:t>
            </a:r>
            <a:endParaRPr lang="es-CL" b="0" dirty="0"/>
          </a:p>
        </p:txBody>
      </p:sp>
      <p:sp>
        <p:nvSpPr>
          <p:cNvPr id="4" name="Rectángulo redondeado 5">
            <a:extLst>
              <a:ext uri="{FF2B5EF4-FFF2-40B4-BE49-F238E27FC236}">
                <a16:creationId xmlns:a16="http://schemas.microsoft.com/office/drawing/2014/main" id="{A4F73C1E-FA75-AE22-B3E5-DE8734117E13}"/>
              </a:ext>
            </a:extLst>
          </p:cNvPr>
          <p:cNvSpPr/>
          <p:nvPr/>
        </p:nvSpPr>
        <p:spPr>
          <a:xfrm>
            <a:off x="1304401" y="5420570"/>
            <a:ext cx="9583200" cy="72003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ES" sz="1200" b="1" dirty="0"/>
              <a:t>Estado de cuenta del alumno con el contrato aplicado:</a:t>
            </a:r>
          </a:p>
          <a:p>
            <a:pPr algn="just"/>
            <a:r>
              <a:rPr lang="es-ES" sz="1200" dirty="0"/>
              <a:t>TSAAREV cuenta corriente del primer estudiante se puede observar la asignación y aplicación masiva del contrato.</a:t>
            </a:r>
            <a:endParaRPr lang="es-CL" sz="1200" dirty="0"/>
          </a:p>
        </p:txBody>
      </p:sp>
      <p:pic>
        <p:nvPicPr>
          <p:cNvPr id="7" name="Imagen 6">
            <a:extLst>
              <a:ext uri="{FF2B5EF4-FFF2-40B4-BE49-F238E27FC236}">
                <a16:creationId xmlns:a16="http://schemas.microsoft.com/office/drawing/2014/main" id="{AD5E7345-DFEF-7011-604E-4976B7D70079}"/>
              </a:ext>
            </a:extLst>
          </p:cNvPr>
          <p:cNvPicPr>
            <a:picLocks noChangeAspect="1"/>
          </p:cNvPicPr>
          <p:nvPr/>
        </p:nvPicPr>
        <p:blipFill>
          <a:blip r:embed="rId2"/>
          <a:stretch>
            <a:fillRect/>
          </a:stretch>
        </p:blipFill>
        <p:spPr>
          <a:xfrm>
            <a:off x="1304400" y="1401075"/>
            <a:ext cx="9583200" cy="3819283"/>
          </a:xfrm>
          <a:prstGeom prst="rect">
            <a:avLst/>
          </a:prstGeom>
        </p:spPr>
      </p:pic>
    </p:spTree>
    <p:extLst>
      <p:ext uri="{BB962C8B-B14F-4D97-AF65-F5344CB8AC3E}">
        <p14:creationId xmlns:p14="http://schemas.microsoft.com/office/powerpoint/2010/main" val="1610239527"/>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DEBA3D-6CD5-214F-80EE-866A98721347}"/>
            </a:ext>
          </a:extLst>
        </p:cNvPr>
        <p:cNvGrpSpPr/>
        <p:nvPr/>
      </p:nvGrpSpPr>
      <p:grpSpPr>
        <a:xfrm>
          <a:off x="0" y="0"/>
          <a:ext cx="0" cy="0"/>
          <a:chOff x="0" y="0"/>
          <a:chExt cx="0" cy="0"/>
        </a:xfrm>
      </p:grpSpPr>
      <p:sp>
        <p:nvSpPr>
          <p:cNvPr id="3" name="Título 3">
            <a:extLst>
              <a:ext uri="{FF2B5EF4-FFF2-40B4-BE49-F238E27FC236}">
                <a16:creationId xmlns:a16="http://schemas.microsoft.com/office/drawing/2014/main" id="{CB79161E-2D0B-B29C-5D93-651F169EE41B}"/>
              </a:ext>
            </a:extLst>
          </p:cNvPr>
          <p:cNvSpPr txBox="1">
            <a:spLocks/>
          </p:cNvSpPr>
          <p:nvPr/>
        </p:nvSpPr>
        <p:spPr>
          <a:xfrm>
            <a:off x="1174597" y="385741"/>
            <a:ext cx="8468920" cy="933991"/>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dirty="0">
                <a:solidFill>
                  <a:schemeClr val="accent1"/>
                </a:solidFill>
              </a:rPr>
              <a:t>Operación: </a:t>
            </a:r>
            <a:r>
              <a:rPr lang="es-CO" sz="3200" dirty="0"/>
              <a:t>TSAAREV Revisión de detalle de </a:t>
            </a:r>
          </a:p>
          <a:p>
            <a:r>
              <a:rPr lang="es-CO" sz="3200" dirty="0"/>
              <a:t>cuenta - alumnos</a:t>
            </a:r>
            <a:endParaRPr lang="es-CL" b="0" dirty="0"/>
          </a:p>
        </p:txBody>
      </p:sp>
      <p:sp>
        <p:nvSpPr>
          <p:cNvPr id="4" name="Rectángulo redondeado 5">
            <a:extLst>
              <a:ext uri="{FF2B5EF4-FFF2-40B4-BE49-F238E27FC236}">
                <a16:creationId xmlns:a16="http://schemas.microsoft.com/office/drawing/2014/main" id="{0EB67024-122D-A798-59EC-FF79819E55FF}"/>
              </a:ext>
            </a:extLst>
          </p:cNvPr>
          <p:cNvSpPr/>
          <p:nvPr/>
        </p:nvSpPr>
        <p:spPr>
          <a:xfrm>
            <a:off x="1374622" y="5459578"/>
            <a:ext cx="8468920" cy="724246"/>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dirty="0"/>
              <a:t>Estado de cuenta del alumno con el contrato aplicado:</a:t>
            </a:r>
          </a:p>
          <a:p>
            <a:r>
              <a:rPr lang="es-CO" sz="1200" dirty="0"/>
              <a:t>TSAAREV cuenta corriente del segundo estudiante se puede observar la asignación y aplicación masiva del contrato</a:t>
            </a:r>
          </a:p>
        </p:txBody>
      </p:sp>
      <p:pic>
        <p:nvPicPr>
          <p:cNvPr id="5" name="Imagen 4">
            <a:extLst>
              <a:ext uri="{FF2B5EF4-FFF2-40B4-BE49-F238E27FC236}">
                <a16:creationId xmlns:a16="http://schemas.microsoft.com/office/drawing/2014/main" id="{F17F00D3-A68D-C03F-A32B-D83684FD2592}"/>
              </a:ext>
            </a:extLst>
          </p:cNvPr>
          <p:cNvPicPr>
            <a:picLocks noChangeAspect="1"/>
          </p:cNvPicPr>
          <p:nvPr/>
        </p:nvPicPr>
        <p:blipFill>
          <a:blip r:embed="rId2"/>
          <a:stretch>
            <a:fillRect/>
          </a:stretch>
        </p:blipFill>
        <p:spPr>
          <a:xfrm>
            <a:off x="1304400" y="1398422"/>
            <a:ext cx="9583200" cy="3837288"/>
          </a:xfrm>
          <a:prstGeom prst="rect">
            <a:avLst/>
          </a:prstGeom>
        </p:spPr>
      </p:pic>
    </p:spTree>
    <p:extLst>
      <p:ext uri="{BB962C8B-B14F-4D97-AF65-F5344CB8AC3E}">
        <p14:creationId xmlns:p14="http://schemas.microsoft.com/office/powerpoint/2010/main" val="3111696212"/>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8421F2-5C67-DCBC-DFE6-A1709ED64085}"/>
            </a:ext>
          </a:extLst>
        </p:cNvPr>
        <p:cNvGrpSpPr/>
        <p:nvPr/>
      </p:nvGrpSpPr>
      <p:grpSpPr>
        <a:xfrm>
          <a:off x="0" y="0"/>
          <a:ext cx="0" cy="0"/>
          <a:chOff x="0" y="0"/>
          <a:chExt cx="0" cy="0"/>
        </a:xfrm>
      </p:grpSpPr>
      <p:sp>
        <p:nvSpPr>
          <p:cNvPr id="3" name="Título 3">
            <a:extLst>
              <a:ext uri="{FF2B5EF4-FFF2-40B4-BE49-F238E27FC236}">
                <a16:creationId xmlns:a16="http://schemas.microsoft.com/office/drawing/2014/main" id="{86BBCF30-06A9-C31C-D27A-A71C0D7350DD}"/>
              </a:ext>
            </a:extLst>
          </p:cNvPr>
          <p:cNvSpPr txBox="1">
            <a:spLocks/>
          </p:cNvSpPr>
          <p:nvPr/>
        </p:nvSpPr>
        <p:spPr>
          <a:xfrm>
            <a:off x="1197771" y="189498"/>
            <a:ext cx="8889204" cy="824481"/>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dirty="0">
                <a:solidFill>
                  <a:schemeClr val="accent1"/>
                </a:solidFill>
              </a:rPr>
              <a:t>Operación: </a:t>
            </a:r>
            <a:r>
              <a:rPr lang="es-CO" sz="3200" dirty="0"/>
              <a:t>TSAAREV Revisión de detalle de </a:t>
            </a:r>
          </a:p>
          <a:p>
            <a:r>
              <a:rPr lang="es-CO" sz="3200" dirty="0"/>
              <a:t>cuenta - alumnos</a:t>
            </a:r>
            <a:endParaRPr lang="es-CL" b="0" dirty="0"/>
          </a:p>
        </p:txBody>
      </p:sp>
      <p:sp>
        <p:nvSpPr>
          <p:cNvPr id="4" name="Rectángulo redondeado 5">
            <a:extLst>
              <a:ext uri="{FF2B5EF4-FFF2-40B4-BE49-F238E27FC236}">
                <a16:creationId xmlns:a16="http://schemas.microsoft.com/office/drawing/2014/main" id="{7E5CC1D2-F12C-FCDB-D9AC-A49C9DFB54C2}"/>
              </a:ext>
            </a:extLst>
          </p:cNvPr>
          <p:cNvSpPr/>
          <p:nvPr/>
        </p:nvSpPr>
        <p:spPr>
          <a:xfrm>
            <a:off x="1304400" y="5627402"/>
            <a:ext cx="9583200" cy="73339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dirty="0"/>
              <a:t>Estado de cuenta del tercero con el cargo de los contratos aplicados:</a:t>
            </a:r>
          </a:p>
          <a:p>
            <a:r>
              <a:rPr lang="es-CO" sz="1200" dirty="0"/>
              <a:t>En la cuenta corriente del </a:t>
            </a:r>
            <a:r>
              <a:rPr lang="es-CO" sz="1200" b="1" dirty="0"/>
              <a:t>tercero</a:t>
            </a:r>
            <a:r>
              <a:rPr lang="es-CO" sz="1200" dirty="0"/>
              <a:t> se refleja la asignación y aplicación masiva de los contratos del primer y segundo estudiante</a:t>
            </a:r>
          </a:p>
        </p:txBody>
      </p:sp>
      <p:pic>
        <p:nvPicPr>
          <p:cNvPr id="5" name="Imagen 4">
            <a:extLst>
              <a:ext uri="{FF2B5EF4-FFF2-40B4-BE49-F238E27FC236}">
                <a16:creationId xmlns:a16="http://schemas.microsoft.com/office/drawing/2014/main" id="{3FCDABFF-15C7-DAD8-F178-FF8B2B35F086}"/>
              </a:ext>
            </a:extLst>
          </p:cNvPr>
          <p:cNvPicPr>
            <a:picLocks noChangeAspect="1"/>
          </p:cNvPicPr>
          <p:nvPr/>
        </p:nvPicPr>
        <p:blipFill>
          <a:blip r:embed="rId2"/>
          <a:stretch>
            <a:fillRect/>
          </a:stretch>
        </p:blipFill>
        <p:spPr>
          <a:xfrm>
            <a:off x="1304400" y="1125065"/>
            <a:ext cx="9583200" cy="4391251"/>
          </a:xfrm>
          <a:prstGeom prst="rect">
            <a:avLst/>
          </a:prstGeom>
        </p:spPr>
      </p:pic>
    </p:spTree>
    <p:extLst>
      <p:ext uri="{BB962C8B-B14F-4D97-AF65-F5344CB8AC3E}">
        <p14:creationId xmlns:p14="http://schemas.microsoft.com/office/powerpoint/2010/main" val="2690395614"/>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0D5663-9F99-A8D2-0C43-2DE86E5D43C7}"/>
            </a:ext>
          </a:extLst>
        </p:cNvPr>
        <p:cNvGrpSpPr/>
        <p:nvPr/>
      </p:nvGrpSpPr>
      <p:grpSpPr>
        <a:xfrm>
          <a:off x="0" y="0"/>
          <a:ext cx="0" cy="0"/>
          <a:chOff x="0" y="0"/>
          <a:chExt cx="0" cy="0"/>
        </a:xfrm>
      </p:grpSpPr>
      <p:sp>
        <p:nvSpPr>
          <p:cNvPr id="5" name="CuadroTexto 4">
            <a:extLst>
              <a:ext uri="{FF2B5EF4-FFF2-40B4-BE49-F238E27FC236}">
                <a16:creationId xmlns:a16="http://schemas.microsoft.com/office/drawing/2014/main" id="{68324F5A-3874-8CA3-1E00-F9F6CCB71636}"/>
              </a:ext>
            </a:extLst>
          </p:cNvPr>
          <p:cNvSpPr txBox="1"/>
          <p:nvPr/>
        </p:nvSpPr>
        <p:spPr>
          <a:xfrm>
            <a:off x="530352" y="2337316"/>
            <a:ext cx="10762488" cy="1015663"/>
          </a:xfrm>
          <a:prstGeom prst="rect">
            <a:avLst/>
          </a:prstGeom>
          <a:noFill/>
        </p:spPr>
        <p:txBody>
          <a:bodyPr wrap="square">
            <a:spAutoFit/>
          </a:bodyPr>
          <a:lstStyle/>
          <a:p>
            <a:r>
              <a:rPr lang="es-CO" sz="6000" b="1" dirty="0">
                <a:solidFill>
                  <a:schemeClr val="bg1"/>
                </a:solidFill>
              </a:rPr>
              <a:t>Pago Masivo de Contratos</a:t>
            </a:r>
            <a:endParaRPr lang="en-US" sz="6000" b="1" dirty="0">
              <a:solidFill>
                <a:schemeClr val="bg1"/>
              </a:solidFill>
            </a:endParaRPr>
          </a:p>
        </p:txBody>
      </p:sp>
      <p:sp>
        <p:nvSpPr>
          <p:cNvPr id="2" name="Text Placeholder 16">
            <a:extLst>
              <a:ext uri="{FF2B5EF4-FFF2-40B4-BE49-F238E27FC236}">
                <a16:creationId xmlns:a16="http://schemas.microsoft.com/office/drawing/2014/main" id="{AC35F722-3C04-2E9C-26C0-E9D351163D61}"/>
              </a:ext>
            </a:extLst>
          </p:cNvPr>
          <p:cNvSpPr txBox="1">
            <a:spLocks/>
          </p:cNvSpPr>
          <p:nvPr/>
        </p:nvSpPr>
        <p:spPr>
          <a:xfrm>
            <a:off x="612648" y="3855899"/>
            <a:ext cx="3374136" cy="533221"/>
          </a:xfrm>
          <a:prstGeom prst="rect">
            <a:avLst/>
          </a:prstGeom>
        </p:spPr>
        <p:txBody>
          <a:bodyPr/>
          <a:lst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CO" sz="2000" b="1" dirty="0">
                <a:solidFill>
                  <a:schemeClr val="bg1"/>
                </a:solidFill>
              </a:rPr>
              <a:t>Gestionar los beneficios</a:t>
            </a:r>
          </a:p>
        </p:txBody>
      </p:sp>
    </p:spTree>
    <p:extLst>
      <p:ext uri="{BB962C8B-B14F-4D97-AF65-F5344CB8AC3E}">
        <p14:creationId xmlns:p14="http://schemas.microsoft.com/office/powerpoint/2010/main" val="3627908766"/>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F1545-8CB0-B66F-F2E8-3BE42AC10760}"/>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36C8E2B9-484F-D4E7-E6A7-0C015B28F229}"/>
              </a:ext>
            </a:extLst>
          </p:cNvPr>
          <p:cNvSpPr txBox="1">
            <a:spLocks/>
          </p:cNvSpPr>
          <p:nvPr/>
        </p:nvSpPr>
        <p:spPr>
          <a:xfrm>
            <a:off x="1304400" y="182198"/>
            <a:ext cx="9583200" cy="905937"/>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Escenario Previo:</a:t>
            </a:r>
            <a:r>
              <a:rPr lang="es-ES_tradnl" sz="3200" dirty="0">
                <a:solidFill>
                  <a:schemeClr val="tx2"/>
                </a:solidFill>
              </a:rPr>
              <a:t> </a:t>
            </a:r>
            <a:r>
              <a:rPr lang="es-CO" sz="3200" dirty="0"/>
              <a:t>TSAAREV Revisión de detalle de </a:t>
            </a:r>
          </a:p>
          <a:p>
            <a:r>
              <a:rPr lang="es-CO" sz="3200" dirty="0"/>
              <a:t>cuenta - alumnos</a:t>
            </a:r>
            <a:endParaRPr lang="es-CL" sz="3200" b="0" dirty="0"/>
          </a:p>
          <a:p>
            <a:br>
              <a:rPr lang="es-CL" dirty="0"/>
            </a:br>
            <a:endParaRPr lang="es-CL" dirty="0"/>
          </a:p>
        </p:txBody>
      </p:sp>
      <p:sp>
        <p:nvSpPr>
          <p:cNvPr id="4" name="Rectángulo redondeado 5">
            <a:extLst>
              <a:ext uri="{FF2B5EF4-FFF2-40B4-BE49-F238E27FC236}">
                <a16:creationId xmlns:a16="http://schemas.microsoft.com/office/drawing/2014/main" id="{7073553F-6273-0D6F-4130-59F57980AC49}"/>
              </a:ext>
            </a:extLst>
          </p:cNvPr>
          <p:cNvSpPr/>
          <p:nvPr/>
        </p:nvSpPr>
        <p:spPr>
          <a:xfrm>
            <a:off x="1304400" y="5598734"/>
            <a:ext cx="9583200" cy="763311"/>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dirty="0"/>
              <a:t>Se debe ingresar a </a:t>
            </a:r>
            <a:r>
              <a:rPr lang="es-CO" sz="1200" b="1" dirty="0"/>
              <a:t>TSAAREV</a:t>
            </a:r>
            <a:r>
              <a:rPr lang="es-CO" sz="1200" dirty="0"/>
              <a:t> con el ID del contrato, registrar el pago correspondiente y seleccionar la opción </a:t>
            </a:r>
            <a:r>
              <a:rPr lang="es-CO" sz="1200" b="1" dirty="0"/>
              <a:t>“Detalle de contrato” </a:t>
            </a:r>
            <a:r>
              <a:rPr lang="es-CO" sz="1200" dirty="0"/>
              <a:t>para continuar con el proceso.</a:t>
            </a:r>
          </a:p>
        </p:txBody>
      </p:sp>
      <p:pic>
        <p:nvPicPr>
          <p:cNvPr id="8" name="Imagen 7">
            <a:extLst>
              <a:ext uri="{FF2B5EF4-FFF2-40B4-BE49-F238E27FC236}">
                <a16:creationId xmlns:a16="http://schemas.microsoft.com/office/drawing/2014/main" id="{1309E5A0-499F-8F52-A836-985E130F991C}"/>
              </a:ext>
            </a:extLst>
          </p:cNvPr>
          <p:cNvPicPr>
            <a:picLocks noChangeAspect="1"/>
          </p:cNvPicPr>
          <p:nvPr/>
        </p:nvPicPr>
        <p:blipFill>
          <a:blip r:embed="rId2"/>
          <a:stretch>
            <a:fillRect/>
          </a:stretch>
        </p:blipFill>
        <p:spPr>
          <a:xfrm>
            <a:off x="1304400" y="1156898"/>
            <a:ext cx="9583200" cy="4254201"/>
          </a:xfrm>
          <a:prstGeom prst="rect">
            <a:avLst/>
          </a:prstGeom>
        </p:spPr>
      </p:pic>
    </p:spTree>
    <p:extLst>
      <p:ext uri="{BB962C8B-B14F-4D97-AF65-F5344CB8AC3E}">
        <p14:creationId xmlns:p14="http://schemas.microsoft.com/office/powerpoint/2010/main" val="2520291621"/>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7B541A-F2D8-574E-822A-321C67FC4614}"/>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0D56D0E8-6F02-79EA-8059-CEC25B1D1BD3}"/>
              </a:ext>
            </a:extLst>
          </p:cNvPr>
          <p:cNvSpPr txBox="1">
            <a:spLocks/>
          </p:cNvSpPr>
          <p:nvPr/>
        </p:nvSpPr>
        <p:spPr>
          <a:xfrm>
            <a:off x="1304400" y="529671"/>
            <a:ext cx="9583200" cy="905937"/>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Escenario Previo:</a:t>
            </a:r>
            <a:r>
              <a:rPr lang="es-ES_tradnl" sz="3200" dirty="0">
                <a:solidFill>
                  <a:schemeClr val="tx2"/>
                </a:solidFill>
              </a:rPr>
              <a:t> </a:t>
            </a:r>
            <a:r>
              <a:rPr lang="es-ES_tradnl" sz="3200" dirty="0"/>
              <a:t>Pagar contratos masivamente - Template</a:t>
            </a:r>
            <a:br>
              <a:rPr lang="es-CL" dirty="0"/>
            </a:br>
            <a:endParaRPr lang="es-CL" dirty="0"/>
          </a:p>
        </p:txBody>
      </p:sp>
      <p:sp>
        <p:nvSpPr>
          <p:cNvPr id="4" name="Rectángulo redondeado 5">
            <a:extLst>
              <a:ext uri="{FF2B5EF4-FFF2-40B4-BE49-F238E27FC236}">
                <a16:creationId xmlns:a16="http://schemas.microsoft.com/office/drawing/2014/main" id="{22DBB044-5981-9872-5552-CC447ADE6E01}"/>
              </a:ext>
            </a:extLst>
          </p:cNvPr>
          <p:cNvSpPr/>
          <p:nvPr/>
        </p:nvSpPr>
        <p:spPr>
          <a:xfrm>
            <a:off x="1304400" y="4931222"/>
            <a:ext cx="9583200" cy="763311"/>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dirty="0"/>
              <a:t>El template para pagos masivos de contratos permite registrar múltiples ID de contrato en la página administrativa </a:t>
            </a:r>
            <a:r>
              <a:rPr lang="es-CO" sz="1200" b="1" dirty="0"/>
              <a:t>TSACONR</a:t>
            </a:r>
            <a:r>
              <a:rPr lang="es-CO" sz="1200" dirty="0"/>
              <a:t>. Para su correcta carga, es necesario completar los campos requeridos según corresponda en cada registro. Asimismo, el archivo debe guardarse en formato .csv delimitado por comas antes de su carga al sistema.</a:t>
            </a:r>
          </a:p>
        </p:txBody>
      </p:sp>
      <p:pic>
        <p:nvPicPr>
          <p:cNvPr id="5" name="Imagen 4">
            <a:extLst>
              <a:ext uri="{FF2B5EF4-FFF2-40B4-BE49-F238E27FC236}">
                <a16:creationId xmlns:a16="http://schemas.microsoft.com/office/drawing/2014/main" id="{3535291E-F179-EAD0-DBBE-229FC3CF40C2}"/>
              </a:ext>
            </a:extLst>
          </p:cNvPr>
          <p:cNvPicPr>
            <a:picLocks noChangeAspect="1"/>
          </p:cNvPicPr>
          <p:nvPr/>
        </p:nvPicPr>
        <p:blipFill>
          <a:blip r:embed="rId2"/>
          <a:stretch>
            <a:fillRect/>
          </a:stretch>
        </p:blipFill>
        <p:spPr>
          <a:xfrm>
            <a:off x="1304400" y="1838402"/>
            <a:ext cx="9583200" cy="2507145"/>
          </a:xfrm>
          <a:prstGeom prst="rect">
            <a:avLst/>
          </a:prstGeom>
        </p:spPr>
      </p:pic>
    </p:spTree>
    <p:extLst>
      <p:ext uri="{BB962C8B-B14F-4D97-AF65-F5344CB8AC3E}">
        <p14:creationId xmlns:p14="http://schemas.microsoft.com/office/powerpoint/2010/main" val="3404861679"/>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E765BA-3A17-5B28-849C-0FD4AE4F02A9}"/>
            </a:ext>
          </a:extLst>
        </p:cNvPr>
        <p:cNvGrpSpPr/>
        <p:nvPr/>
      </p:nvGrpSpPr>
      <p:grpSpPr>
        <a:xfrm>
          <a:off x="0" y="0"/>
          <a:ext cx="0" cy="0"/>
          <a:chOff x="0" y="0"/>
          <a:chExt cx="0" cy="0"/>
        </a:xfrm>
      </p:grpSpPr>
      <p:pic>
        <p:nvPicPr>
          <p:cNvPr id="10" name="Imagen 9">
            <a:extLst>
              <a:ext uri="{FF2B5EF4-FFF2-40B4-BE49-F238E27FC236}">
                <a16:creationId xmlns:a16="http://schemas.microsoft.com/office/drawing/2014/main" id="{703257A2-5FEC-9A98-1F55-BAFC576ECEDE}"/>
              </a:ext>
            </a:extLst>
          </p:cNvPr>
          <p:cNvPicPr>
            <a:picLocks noChangeAspect="1"/>
          </p:cNvPicPr>
          <p:nvPr/>
        </p:nvPicPr>
        <p:blipFill>
          <a:blip r:embed="rId2"/>
          <a:stretch>
            <a:fillRect/>
          </a:stretch>
        </p:blipFill>
        <p:spPr>
          <a:xfrm>
            <a:off x="1304400" y="2135812"/>
            <a:ext cx="9583200" cy="1702016"/>
          </a:xfrm>
          <a:prstGeom prst="rect">
            <a:avLst/>
          </a:prstGeom>
        </p:spPr>
      </p:pic>
      <p:sp>
        <p:nvSpPr>
          <p:cNvPr id="2" name="Título 3">
            <a:extLst>
              <a:ext uri="{FF2B5EF4-FFF2-40B4-BE49-F238E27FC236}">
                <a16:creationId xmlns:a16="http://schemas.microsoft.com/office/drawing/2014/main" id="{CDE53485-0FCD-E208-A369-C5EF2877DD45}"/>
              </a:ext>
            </a:extLst>
          </p:cNvPr>
          <p:cNvSpPr txBox="1">
            <a:spLocks/>
          </p:cNvSpPr>
          <p:nvPr/>
        </p:nvSpPr>
        <p:spPr>
          <a:xfrm>
            <a:off x="1215891" y="912759"/>
            <a:ext cx="9436869" cy="902636"/>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Operación: </a:t>
            </a:r>
            <a:r>
              <a:rPr lang="es-ES_tradnl" sz="3200" dirty="0"/>
              <a:t>GJAJFLU </a:t>
            </a:r>
            <a:r>
              <a:rPr lang="es-ES" sz="3200" dirty="0"/>
              <a:t>Importar archivo al servidor de </a:t>
            </a:r>
          </a:p>
          <a:p>
            <a:r>
              <a:rPr lang="es-ES" sz="3200" dirty="0"/>
              <a:t>envío de trabajos</a:t>
            </a:r>
          </a:p>
          <a:p>
            <a:pPr algn="just"/>
            <a:endParaRPr lang="es-CL" dirty="0"/>
          </a:p>
        </p:txBody>
      </p:sp>
      <p:sp>
        <p:nvSpPr>
          <p:cNvPr id="4" name="Rectángulo redondeado 5">
            <a:extLst>
              <a:ext uri="{FF2B5EF4-FFF2-40B4-BE49-F238E27FC236}">
                <a16:creationId xmlns:a16="http://schemas.microsoft.com/office/drawing/2014/main" id="{39BA8A06-3783-0F5D-245E-EF15709F8903}"/>
              </a:ext>
            </a:extLst>
          </p:cNvPr>
          <p:cNvSpPr/>
          <p:nvPr/>
        </p:nvSpPr>
        <p:spPr>
          <a:xfrm>
            <a:off x="1304400" y="3756980"/>
            <a:ext cx="9583200" cy="578847"/>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b="1" dirty="0"/>
              <a:t>1. </a:t>
            </a:r>
            <a:r>
              <a:rPr lang="es-ES_tradnl" sz="1200" dirty="0"/>
              <a:t>En la página </a:t>
            </a:r>
            <a:r>
              <a:rPr lang="es-ES" sz="1200" dirty="0"/>
              <a:t>Importar archivo al servidor de envío de trabajos se selecciona el proceso en el que se desea guardar el archivo (</a:t>
            </a:r>
            <a:r>
              <a:rPr lang="es-ES" sz="1200" b="1" dirty="0"/>
              <a:t>TSPCPDT</a:t>
            </a:r>
            <a:r>
              <a:rPr lang="es-ES" sz="1200" dirty="0"/>
              <a:t>), en la opción </a:t>
            </a:r>
            <a:r>
              <a:rPr lang="es-ES" sz="1200" b="1" dirty="0"/>
              <a:t>“TRABAJO”. </a:t>
            </a:r>
            <a:endParaRPr lang="es-ES_tradnl" sz="1200" b="1" dirty="0"/>
          </a:p>
        </p:txBody>
      </p:sp>
      <p:sp>
        <p:nvSpPr>
          <p:cNvPr id="5" name="Rectángulo redondeado 5">
            <a:extLst>
              <a:ext uri="{FF2B5EF4-FFF2-40B4-BE49-F238E27FC236}">
                <a16:creationId xmlns:a16="http://schemas.microsoft.com/office/drawing/2014/main" id="{88714A45-DA1E-B3F8-A776-D5057F129C38}"/>
              </a:ext>
            </a:extLst>
          </p:cNvPr>
          <p:cNvSpPr/>
          <p:nvPr/>
        </p:nvSpPr>
        <p:spPr>
          <a:xfrm>
            <a:off x="1304400" y="4532456"/>
            <a:ext cx="3744730" cy="464327"/>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ES_tradnl" sz="1200" b="1" dirty="0"/>
              <a:t>2</a:t>
            </a:r>
            <a:r>
              <a:rPr lang="es-ES_tradnl" sz="1200" dirty="0"/>
              <a:t>. Hacer </a:t>
            </a:r>
            <a:r>
              <a:rPr lang="es-ES_tradnl" sz="1200" dirty="0" err="1"/>
              <a:t>click</a:t>
            </a:r>
            <a:r>
              <a:rPr lang="es-ES_tradnl" sz="1200" dirty="0"/>
              <a:t> en el IR para ingresar parámetros.</a:t>
            </a:r>
          </a:p>
        </p:txBody>
      </p:sp>
      <p:pic>
        <p:nvPicPr>
          <p:cNvPr id="9" name="Imagen 8">
            <a:extLst>
              <a:ext uri="{FF2B5EF4-FFF2-40B4-BE49-F238E27FC236}">
                <a16:creationId xmlns:a16="http://schemas.microsoft.com/office/drawing/2014/main" id="{42609D24-1ED4-B74E-6EE6-CDEC082FB9BA}"/>
              </a:ext>
            </a:extLst>
          </p:cNvPr>
          <p:cNvPicPr>
            <a:picLocks noChangeAspect="1"/>
          </p:cNvPicPr>
          <p:nvPr/>
        </p:nvPicPr>
        <p:blipFill>
          <a:blip r:embed="rId3"/>
          <a:stretch>
            <a:fillRect/>
          </a:stretch>
        </p:blipFill>
        <p:spPr>
          <a:xfrm>
            <a:off x="10259873" y="2743820"/>
            <a:ext cx="162000" cy="162000"/>
          </a:xfrm>
          <a:prstGeom prst="rect">
            <a:avLst/>
          </a:prstGeom>
        </p:spPr>
      </p:pic>
      <p:pic>
        <p:nvPicPr>
          <p:cNvPr id="11" name="Imagen 10">
            <a:extLst>
              <a:ext uri="{FF2B5EF4-FFF2-40B4-BE49-F238E27FC236}">
                <a16:creationId xmlns:a16="http://schemas.microsoft.com/office/drawing/2014/main" id="{3F5B86FE-548D-E708-68A0-911F0FB42679}"/>
              </a:ext>
            </a:extLst>
          </p:cNvPr>
          <p:cNvPicPr>
            <a:picLocks noChangeAspect="1"/>
          </p:cNvPicPr>
          <p:nvPr/>
        </p:nvPicPr>
        <p:blipFill>
          <a:blip r:embed="rId4"/>
          <a:stretch>
            <a:fillRect/>
          </a:stretch>
        </p:blipFill>
        <p:spPr>
          <a:xfrm>
            <a:off x="1438963" y="2743820"/>
            <a:ext cx="162000" cy="162000"/>
          </a:xfrm>
          <a:prstGeom prst="rect">
            <a:avLst/>
          </a:prstGeom>
        </p:spPr>
      </p:pic>
    </p:spTree>
    <p:extLst>
      <p:ext uri="{BB962C8B-B14F-4D97-AF65-F5344CB8AC3E}">
        <p14:creationId xmlns:p14="http://schemas.microsoft.com/office/powerpoint/2010/main" val="2307559388"/>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F35FBA-A6EE-48B9-99E6-BA013AE16BFA}"/>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AA0B91CC-6628-1DC4-568B-CF7E99B96264}"/>
              </a:ext>
            </a:extLst>
          </p:cNvPr>
          <p:cNvPicPr>
            <a:picLocks noChangeAspect="1"/>
          </p:cNvPicPr>
          <p:nvPr/>
        </p:nvPicPr>
        <p:blipFill>
          <a:blip r:embed="rId2"/>
          <a:stretch>
            <a:fillRect/>
          </a:stretch>
        </p:blipFill>
        <p:spPr>
          <a:xfrm>
            <a:off x="1184773" y="1707491"/>
            <a:ext cx="9583200" cy="3127781"/>
          </a:xfrm>
          <a:prstGeom prst="rect">
            <a:avLst/>
          </a:prstGeom>
        </p:spPr>
      </p:pic>
      <p:sp>
        <p:nvSpPr>
          <p:cNvPr id="2" name="Título 3">
            <a:extLst>
              <a:ext uri="{FF2B5EF4-FFF2-40B4-BE49-F238E27FC236}">
                <a16:creationId xmlns:a16="http://schemas.microsoft.com/office/drawing/2014/main" id="{E1B4F418-7795-FB69-7346-7AEFBAB60344}"/>
              </a:ext>
            </a:extLst>
          </p:cNvPr>
          <p:cNvSpPr txBox="1">
            <a:spLocks/>
          </p:cNvSpPr>
          <p:nvPr/>
        </p:nvSpPr>
        <p:spPr>
          <a:xfrm>
            <a:off x="1102491" y="505247"/>
            <a:ext cx="9747765" cy="902636"/>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algn="just"/>
            <a:r>
              <a:rPr lang="es-ES_tradnl" sz="3200" dirty="0">
                <a:solidFill>
                  <a:schemeClr val="accent1"/>
                </a:solidFill>
              </a:rPr>
              <a:t>Operación: </a:t>
            </a:r>
            <a:r>
              <a:rPr lang="es-ES_tradnl" sz="3200" dirty="0"/>
              <a:t>GJAJFLU </a:t>
            </a:r>
            <a:r>
              <a:rPr lang="es-ES" sz="3200" dirty="0"/>
              <a:t>Importar archivo al servidor de </a:t>
            </a:r>
          </a:p>
          <a:p>
            <a:pPr algn="just"/>
            <a:r>
              <a:rPr lang="es-ES" sz="3200" dirty="0"/>
              <a:t>envío de trabajos</a:t>
            </a:r>
          </a:p>
          <a:p>
            <a:pPr algn="just"/>
            <a:endParaRPr lang="es-CL" dirty="0"/>
          </a:p>
        </p:txBody>
      </p:sp>
      <p:sp>
        <p:nvSpPr>
          <p:cNvPr id="7" name="Rectángulo redondeado 5">
            <a:extLst>
              <a:ext uri="{FF2B5EF4-FFF2-40B4-BE49-F238E27FC236}">
                <a16:creationId xmlns:a16="http://schemas.microsoft.com/office/drawing/2014/main" id="{16445E80-EEEC-56AF-18F1-95967D5D2BCD}"/>
              </a:ext>
            </a:extLst>
          </p:cNvPr>
          <p:cNvSpPr/>
          <p:nvPr/>
        </p:nvSpPr>
        <p:spPr>
          <a:xfrm>
            <a:off x="1274661" y="5134881"/>
            <a:ext cx="5354739" cy="489838"/>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dirty="0"/>
              <a:t>Se da click en </a:t>
            </a:r>
            <a:r>
              <a:rPr lang="es-CO" sz="1200" b="1" dirty="0"/>
              <a:t>INSERTAR </a:t>
            </a:r>
            <a:r>
              <a:rPr lang="es-CO" sz="1200" dirty="0"/>
              <a:t>para que se pueda incluir el </a:t>
            </a:r>
            <a:r>
              <a:rPr lang="es-CO" sz="1200" b="1" dirty="0"/>
              <a:t>TEMPLATE NUEVO.</a:t>
            </a:r>
            <a:endParaRPr lang="es-ES_tradnl" sz="1200" b="1" dirty="0"/>
          </a:p>
        </p:txBody>
      </p:sp>
      <p:pic>
        <p:nvPicPr>
          <p:cNvPr id="8" name="Imagen 7">
            <a:extLst>
              <a:ext uri="{FF2B5EF4-FFF2-40B4-BE49-F238E27FC236}">
                <a16:creationId xmlns:a16="http://schemas.microsoft.com/office/drawing/2014/main" id="{63CEFA49-5FFD-66F0-D7C3-F267EC3D186D}"/>
              </a:ext>
            </a:extLst>
          </p:cNvPr>
          <p:cNvPicPr>
            <a:picLocks noChangeAspect="1"/>
          </p:cNvPicPr>
          <p:nvPr/>
        </p:nvPicPr>
        <p:blipFill>
          <a:blip r:embed="rId3"/>
          <a:stretch>
            <a:fillRect/>
          </a:stretch>
        </p:blipFill>
        <p:spPr>
          <a:xfrm>
            <a:off x="4553371" y="2819059"/>
            <a:ext cx="162000" cy="162000"/>
          </a:xfrm>
          <a:prstGeom prst="rect">
            <a:avLst/>
          </a:prstGeom>
        </p:spPr>
      </p:pic>
    </p:spTree>
    <p:extLst>
      <p:ext uri="{BB962C8B-B14F-4D97-AF65-F5344CB8AC3E}">
        <p14:creationId xmlns:p14="http://schemas.microsoft.com/office/powerpoint/2010/main" val="1593738188"/>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A245E9-2735-CD2E-35C3-B17E3ACBDA7D}"/>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3AF02B0B-5A8E-91E4-7350-0F9099111E40}"/>
              </a:ext>
            </a:extLst>
          </p:cNvPr>
          <p:cNvPicPr>
            <a:picLocks noChangeAspect="1"/>
          </p:cNvPicPr>
          <p:nvPr/>
        </p:nvPicPr>
        <p:blipFill>
          <a:blip r:embed="rId2"/>
          <a:stretch>
            <a:fillRect/>
          </a:stretch>
        </p:blipFill>
        <p:spPr>
          <a:xfrm>
            <a:off x="1304400" y="1040588"/>
            <a:ext cx="9583200" cy="4966294"/>
          </a:xfrm>
          <a:prstGeom prst="rect">
            <a:avLst/>
          </a:prstGeom>
        </p:spPr>
      </p:pic>
      <p:sp>
        <p:nvSpPr>
          <p:cNvPr id="2" name="Título 3">
            <a:extLst>
              <a:ext uri="{FF2B5EF4-FFF2-40B4-BE49-F238E27FC236}">
                <a16:creationId xmlns:a16="http://schemas.microsoft.com/office/drawing/2014/main" id="{317BA48D-92D9-8CC4-819F-700252E80C8E}"/>
              </a:ext>
            </a:extLst>
          </p:cNvPr>
          <p:cNvSpPr txBox="1">
            <a:spLocks/>
          </p:cNvSpPr>
          <p:nvPr/>
        </p:nvSpPr>
        <p:spPr>
          <a:xfrm>
            <a:off x="1185556" y="137952"/>
            <a:ext cx="9272247" cy="902636"/>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algn="just"/>
            <a:r>
              <a:rPr lang="es-ES_tradnl" sz="3200" dirty="0">
                <a:solidFill>
                  <a:schemeClr val="accent1"/>
                </a:solidFill>
              </a:rPr>
              <a:t>Operación: </a:t>
            </a:r>
            <a:r>
              <a:rPr lang="es-ES_tradnl" sz="3200" dirty="0"/>
              <a:t>GJAJFLU </a:t>
            </a:r>
            <a:r>
              <a:rPr lang="es-ES" sz="3200" dirty="0"/>
              <a:t>Importar archivo al servidor de </a:t>
            </a:r>
          </a:p>
          <a:p>
            <a:pPr algn="just"/>
            <a:r>
              <a:rPr lang="es-ES" sz="3200" dirty="0"/>
              <a:t>envío de trabajos</a:t>
            </a:r>
          </a:p>
          <a:p>
            <a:pPr algn="just"/>
            <a:endParaRPr lang="es-CL" dirty="0"/>
          </a:p>
        </p:txBody>
      </p:sp>
      <p:sp>
        <p:nvSpPr>
          <p:cNvPr id="5" name="Rectángulo redondeado 5">
            <a:extLst>
              <a:ext uri="{FF2B5EF4-FFF2-40B4-BE49-F238E27FC236}">
                <a16:creationId xmlns:a16="http://schemas.microsoft.com/office/drawing/2014/main" id="{27561AA7-43EC-E48E-0E22-9A03A116093F}"/>
              </a:ext>
            </a:extLst>
          </p:cNvPr>
          <p:cNvSpPr/>
          <p:nvPr/>
        </p:nvSpPr>
        <p:spPr>
          <a:xfrm>
            <a:off x="1304400" y="6006882"/>
            <a:ext cx="3468449" cy="397203"/>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dirty="0"/>
              <a:t>Se selecciona archivo, y se da </a:t>
            </a:r>
            <a:r>
              <a:rPr lang="es-CO" sz="1200" dirty="0" err="1"/>
              <a:t>click</a:t>
            </a:r>
            <a:r>
              <a:rPr lang="es-CO" sz="1200" dirty="0"/>
              <a:t> en </a:t>
            </a:r>
            <a:r>
              <a:rPr lang="es-CO" sz="1200" b="1" dirty="0"/>
              <a:t>ABRIR.</a:t>
            </a:r>
            <a:endParaRPr lang="es-ES_tradnl" sz="1200" b="1" dirty="0"/>
          </a:p>
        </p:txBody>
      </p:sp>
      <p:pic>
        <p:nvPicPr>
          <p:cNvPr id="8" name="Imagen 7">
            <a:extLst>
              <a:ext uri="{FF2B5EF4-FFF2-40B4-BE49-F238E27FC236}">
                <a16:creationId xmlns:a16="http://schemas.microsoft.com/office/drawing/2014/main" id="{CE949B2A-6431-B8A2-19DE-EDF4BDA6450F}"/>
              </a:ext>
            </a:extLst>
          </p:cNvPr>
          <p:cNvPicPr>
            <a:picLocks noChangeAspect="1"/>
          </p:cNvPicPr>
          <p:nvPr/>
        </p:nvPicPr>
        <p:blipFill>
          <a:blip r:embed="rId3"/>
          <a:stretch>
            <a:fillRect/>
          </a:stretch>
        </p:blipFill>
        <p:spPr>
          <a:xfrm>
            <a:off x="7992161" y="5306873"/>
            <a:ext cx="162000" cy="162000"/>
          </a:xfrm>
          <a:prstGeom prst="rect">
            <a:avLst/>
          </a:prstGeom>
        </p:spPr>
      </p:pic>
      <p:pic>
        <p:nvPicPr>
          <p:cNvPr id="10" name="Imagen 9">
            <a:extLst>
              <a:ext uri="{FF2B5EF4-FFF2-40B4-BE49-F238E27FC236}">
                <a16:creationId xmlns:a16="http://schemas.microsoft.com/office/drawing/2014/main" id="{C8A9AF84-F832-2EDA-8B19-8068304E60AB}"/>
              </a:ext>
            </a:extLst>
          </p:cNvPr>
          <p:cNvPicPr>
            <a:picLocks noChangeAspect="1"/>
          </p:cNvPicPr>
          <p:nvPr/>
        </p:nvPicPr>
        <p:blipFill>
          <a:blip r:embed="rId4"/>
          <a:stretch>
            <a:fillRect/>
          </a:stretch>
        </p:blipFill>
        <p:spPr>
          <a:xfrm>
            <a:off x="4475417" y="4268153"/>
            <a:ext cx="162000" cy="162000"/>
          </a:xfrm>
          <a:prstGeom prst="rect">
            <a:avLst/>
          </a:prstGeom>
        </p:spPr>
      </p:pic>
    </p:spTree>
    <p:extLst>
      <p:ext uri="{BB962C8B-B14F-4D97-AF65-F5344CB8AC3E}">
        <p14:creationId xmlns:p14="http://schemas.microsoft.com/office/powerpoint/2010/main" val="306100709"/>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0518E3-531C-1C94-6C84-298B42F9CF39}"/>
            </a:ext>
          </a:extLst>
        </p:cNvPr>
        <p:cNvGrpSpPr/>
        <p:nvPr/>
      </p:nvGrpSpPr>
      <p:grpSpPr>
        <a:xfrm>
          <a:off x="0" y="0"/>
          <a:ext cx="0" cy="0"/>
          <a:chOff x="0" y="0"/>
          <a:chExt cx="0" cy="0"/>
        </a:xfrm>
      </p:grpSpPr>
      <p:pic>
        <p:nvPicPr>
          <p:cNvPr id="8" name="Imagen 7">
            <a:extLst>
              <a:ext uri="{FF2B5EF4-FFF2-40B4-BE49-F238E27FC236}">
                <a16:creationId xmlns:a16="http://schemas.microsoft.com/office/drawing/2014/main" id="{EFB18AE8-C921-62A4-89FC-9CA96DB563D6}"/>
              </a:ext>
            </a:extLst>
          </p:cNvPr>
          <p:cNvPicPr>
            <a:picLocks noChangeAspect="1"/>
          </p:cNvPicPr>
          <p:nvPr/>
        </p:nvPicPr>
        <p:blipFill>
          <a:blip r:embed="rId2"/>
          <a:stretch>
            <a:fillRect/>
          </a:stretch>
        </p:blipFill>
        <p:spPr>
          <a:xfrm>
            <a:off x="1301808" y="4708652"/>
            <a:ext cx="9583200" cy="429472"/>
          </a:xfrm>
          <a:prstGeom prst="rect">
            <a:avLst/>
          </a:prstGeom>
        </p:spPr>
      </p:pic>
      <p:pic>
        <p:nvPicPr>
          <p:cNvPr id="4" name="Imagen 3">
            <a:extLst>
              <a:ext uri="{FF2B5EF4-FFF2-40B4-BE49-F238E27FC236}">
                <a16:creationId xmlns:a16="http://schemas.microsoft.com/office/drawing/2014/main" id="{255754B8-2F95-0355-4809-39CCE6DB3BBA}"/>
              </a:ext>
            </a:extLst>
          </p:cNvPr>
          <p:cNvPicPr>
            <a:picLocks noChangeAspect="1"/>
          </p:cNvPicPr>
          <p:nvPr/>
        </p:nvPicPr>
        <p:blipFill>
          <a:blip r:embed="rId3"/>
          <a:stretch>
            <a:fillRect/>
          </a:stretch>
        </p:blipFill>
        <p:spPr>
          <a:xfrm>
            <a:off x="1304400" y="1607242"/>
            <a:ext cx="9583200" cy="3139411"/>
          </a:xfrm>
          <a:prstGeom prst="rect">
            <a:avLst/>
          </a:prstGeom>
        </p:spPr>
      </p:pic>
      <p:sp>
        <p:nvSpPr>
          <p:cNvPr id="2" name="Título 3">
            <a:extLst>
              <a:ext uri="{FF2B5EF4-FFF2-40B4-BE49-F238E27FC236}">
                <a16:creationId xmlns:a16="http://schemas.microsoft.com/office/drawing/2014/main" id="{9135F2AF-B397-15A0-06FE-C9EE434206AD}"/>
              </a:ext>
            </a:extLst>
          </p:cNvPr>
          <p:cNvSpPr txBox="1">
            <a:spLocks/>
          </p:cNvSpPr>
          <p:nvPr/>
        </p:nvSpPr>
        <p:spPr>
          <a:xfrm>
            <a:off x="1167240" y="357448"/>
            <a:ext cx="9583200" cy="902636"/>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algn="just"/>
            <a:r>
              <a:rPr lang="es-ES_tradnl" sz="3200" dirty="0">
                <a:solidFill>
                  <a:schemeClr val="accent1"/>
                </a:solidFill>
              </a:rPr>
              <a:t>Operación: </a:t>
            </a:r>
            <a:r>
              <a:rPr lang="es-ES_tradnl" sz="3200" dirty="0"/>
              <a:t>GJAJFLU </a:t>
            </a:r>
            <a:r>
              <a:rPr lang="es-ES" sz="3200" dirty="0"/>
              <a:t>Importar archivo al servidor de </a:t>
            </a:r>
          </a:p>
          <a:p>
            <a:pPr algn="just"/>
            <a:r>
              <a:rPr lang="es-ES" sz="3200" dirty="0"/>
              <a:t>envío de trabajos</a:t>
            </a:r>
          </a:p>
          <a:p>
            <a:pPr algn="just"/>
            <a:endParaRPr lang="es-CL" dirty="0"/>
          </a:p>
        </p:txBody>
      </p:sp>
      <p:sp>
        <p:nvSpPr>
          <p:cNvPr id="5" name="Rectángulo redondeado 5">
            <a:extLst>
              <a:ext uri="{FF2B5EF4-FFF2-40B4-BE49-F238E27FC236}">
                <a16:creationId xmlns:a16="http://schemas.microsoft.com/office/drawing/2014/main" id="{71652E78-6E81-50E6-CF7C-65D6DB390F3C}"/>
              </a:ext>
            </a:extLst>
          </p:cNvPr>
          <p:cNvSpPr/>
          <p:nvPr/>
        </p:nvSpPr>
        <p:spPr>
          <a:xfrm>
            <a:off x="1301808" y="5449928"/>
            <a:ext cx="7699509" cy="42947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dirty="0"/>
              <a:t>Se confirma que el nombre del archivo coincida con el </a:t>
            </a:r>
            <a:r>
              <a:rPr lang="es-CO" sz="1200" dirty="0" err="1"/>
              <a:t>template</a:t>
            </a:r>
            <a:r>
              <a:rPr lang="es-CO" sz="1200" dirty="0"/>
              <a:t> que se selecciono, se da </a:t>
            </a:r>
            <a:r>
              <a:rPr lang="es-CO" sz="1200" dirty="0" err="1"/>
              <a:t>click</a:t>
            </a:r>
            <a:r>
              <a:rPr lang="es-CO" sz="1200" dirty="0"/>
              <a:t> en </a:t>
            </a:r>
            <a:r>
              <a:rPr lang="es-CO" sz="1200" b="1" dirty="0"/>
              <a:t>GUARDAR</a:t>
            </a:r>
            <a:r>
              <a:rPr lang="es-CO" sz="1200" dirty="0"/>
              <a:t>.</a:t>
            </a:r>
            <a:endParaRPr lang="es-ES_tradnl" sz="1200" dirty="0"/>
          </a:p>
        </p:txBody>
      </p:sp>
      <p:pic>
        <p:nvPicPr>
          <p:cNvPr id="11" name="Imagen 10">
            <a:extLst>
              <a:ext uri="{FF2B5EF4-FFF2-40B4-BE49-F238E27FC236}">
                <a16:creationId xmlns:a16="http://schemas.microsoft.com/office/drawing/2014/main" id="{0F581189-D476-0CEF-F6D8-C48AFEDF6206}"/>
              </a:ext>
            </a:extLst>
          </p:cNvPr>
          <p:cNvPicPr>
            <a:picLocks noChangeAspect="1"/>
          </p:cNvPicPr>
          <p:nvPr/>
        </p:nvPicPr>
        <p:blipFill>
          <a:blip r:embed="rId4"/>
          <a:stretch>
            <a:fillRect/>
          </a:stretch>
        </p:blipFill>
        <p:spPr>
          <a:xfrm>
            <a:off x="1139808" y="2903368"/>
            <a:ext cx="162000" cy="162000"/>
          </a:xfrm>
          <a:prstGeom prst="rect">
            <a:avLst/>
          </a:prstGeom>
        </p:spPr>
      </p:pic>
      <p:pic>
        <p:nvPicPr>
          <p:cNvPr id="13" name="Imagen 12">
            <a:extLst>
              <a:ext uri="{FF2B5EF4-FFF2-40B4-BE49-F238E27FC236}">
                <a16:creationId xmlns:a16="http://schemas.microsoft.com/office/drawing/2014/main" id="{8637A38E-81F7-6E1A-900E-79AFAB2EDA47}"/>
              </a:ext>
            </a:extLst>
          </p:cNvPr>
          <p:cNvPicPr>
            <a:picLocks noChangeAspect="1"/>
          </p:cNvPicPr>
          <p:nvPr/>
        </p:nvPicPr>
        <p:blipFill>
          <a:blip r:embed="rId5"/>
          <a:stretch>
            <a:fillRect/>
          </a:stretch>
        </p:blipFill>
        <p:spPr>
          <a:xfrm>
            <a:off x="10162985" y="4889737"/>
            <a:ext cx="162000" cy="162000"/>
          </a:xfrm>
          <a:prstGeom prst="rect">
            <a:avLst/>
          </a:prstGeom>
        </p:spPr>
      </p:pic>
    </p:spTree>
    <p:extLst>
      <p:ext uri="{BB962C8B-B14F-4D97-AF65-F5344CB8AC3E}">
        <p14:creationId xmlns:p14="http://schemas.microsoft.com/office/powerpoint/2010/main" val="3268790875"/>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5E5078-BC7F-32AA-594D-FC06F18F5C73}"/>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CD892921-8768-49E5-5459-75CA2EB00F32}"/>
              </a:ext>
            </a:extLst>
          </p:cNvPr>
          <p:cNvPicPr>
            <a:picLocks noChangeAspect="1"/>
          </p:cNvPicPr>
          <p:nvPr/>
        </p:nvPicPr>
        <p:blipFill>
          <a:blip r:embed="rId2"/>
          <a:stretch>
            <a:fillRect/>
          </a:stretch>
        </p:blipFill>
        <p:spPr>
          <a:xfrm>
            <a:off x="1197603" y="1643161"/>
            <a:ext cx="9583200" cy="3126150"/>
          </a:xfrm>
          <a:prstGeom prst="rect">
            <a:avLst/>
          </a:prstGeom>
        </p:spPr>
      </p:pic>
      <p:sp>
        <p:nvSpPr>
          <p:cNvPr id="2" name="Título 3">
            <a:extLst>
              <a:ext uri="{FF2B5EF4-FFF2-40B4-BE49-F238E27FC236}">
                <a16:creationId xmlns:a16="http://schemas.microsoft.com/office/drawing/2014/main" id="{C45B23B4-CEF3-F2F5-8FB3-4CE136A061AB}"/>
              </a:ext>
            </a:extLst>
          </p:cNvPr>
          <p:cNvSpPr txBox="1">
            <a:spLocks/>
          </p:cNvSpPr>
          <p:nvPr/>
        </p:nvSpPr>
        <p:spPr>
          <a:xfrm>
            <a:off x="1197603" y="463060"/>
            <a:ext cx="9482589" cy="902636"/>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algn="just"/>
            <a:r>
              <a:rPr lang="es-ES_tradnl" sz="3200" dirty="0">
                <a:solidFill>
                  <a:schemeClr val="accent1"/>
                </a:solidFill>
              </a:rPr>
              <a:t>Operación: </a:t>
            </a:r>
            <a:r>
              <a:rPr lang="es-ES_tradnl" sz="3200" dirty="0"/>
              <a:t>GJAJFLU </a:t>
            </a:r>
            <a:r>
              <a:rPr lang="es-ES" sz="3200" dirty="0"/>
              <a:t>Importar archivo al servidor de </a:t>
            </a:r>
          </a:p>
          <a:p>
            <a:pPr algn="just"/>
            <a:r>
              <a:rPr lang="es-ES" sz="3200" dirty="0"/>
              <a:t>envío de trabajos</a:t>
            </a:r>
          </a:p>
          <a:p>
            <a:pPr algn="just"/>
            <a:endParaRPr lang="es-CL" dirty="0"/>
          </a:p>
        </p:txBody>
      </p:sp>
      <p:sp>
        <p:nvSpPr>
          <p:cNvPr id="5" name="Rectángulo redondeado 5">
            <a:extLst>
              <a:ext uri="{FF2B5EF4-FFF2-40B4-BE49-F238E27FC236}">
                <a16:creationId xmlns:a16="http://schemas.microsoft.com/office/drawing/2014/main" id="{44C234B5-C677-26E6-8732-51BFF6C0C56C}"/>
              </a:ext>
            </a:extLst>
          </p:cNvPr>
          <p:cNvSpPr/>
          <p:nvPr/>
        </p:nvSpPr>
        <p:spPr>
          <a:xfrm>
            <a:off x="1197603" y="5139554"/>
            <a:ext cx="7931040" cy="417869"/>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dirty="0"/>
              <a:t>El proceso genera la </a:t>
            </a:r>
            <a:r>
              <a:rPr lang="es-CO" sz="1200" b="1" dirty="0"/>
              <a:t>RUTA DEL ARCHIVO </a:t>
            </a:r>
            <a:r>
              <a:rPr lang="es-CO" sz="1200" dirty="0"/>
              <a:t>y se evidencia el mensaje de guardado con éxito en la parte superior.</a:t>
            </a:r>
            <a:endParaRPr lang="es-ES_tradnl" sz="1200" dirty="0"/>
          </a:p>
        </p:txBody>
      </p:sp>
      <p:pic>
        <p:nvPicPr>
          <p:cNvPr id="8" name="Imagen 7">
            <a:extLst>
              <a:ext uri="{FF2B5EF4-FFF2-40B4-BE49-F238E27FC236}">
                <a16:creationId xmlns:a16="http://schemas.microsoft.com/office/drawing/2014/main" id="{AEC2F6D2-3448-739E-84EC-F5AA6A272F7A}"/>
              </a:ext>
            </a:extLst>
          </p:cNvPr>
          <p:cNvPicPr>
            <a:picLocks noChangeAspect="1"/>
          </p:cNvPicPr>
          <p:nvPr/>
        </p:nvPicPr>
        <p:blipFill>
          <a:blip r:embed="rId3"/>
          <a:stretch>
            <a:fillRect/>
          </a:stretch>
        </p:blipFill>
        <p:spPr>
          <a:xfrm>
            <a:off x="3849929" y="4327666"/>
            <a:ext cx="162000" cy="162000"/>
          </a:xfrm>
          <a:prstGeom prst="rect">
            <a:avLst/>
          </a:prstGeom>
        </p:spPr>
      </p:pic>
      <p:pic>
        <p:nvPicPr>
          <p:cNvPr id="10" name="Imagen 9">
            <a:extLst>
              <a:ext uri="{FF2B5EF4-FFF2-40B4-BE49-F238E27FC236}">
                <a16:creationId xmlns:a16="http://schemas.microsoft.com/office/drawing/2014/main" id="{B18B8E56-E086-A490-A5C9-27BB54482D6D}"/>
              </a:ext>
            </a:extLst>
          </p:cNvPr>
          <p:cNvPicPr>
            <a:picLocks noChangeAspect="1"/>
          </p:cNvPicPr>
          <p:nvPr/>
        </p:nvPicPr>
        <p:blipFill>
          <a:blip r:embed="rId4"/>
          <a:stretch>
            <a:fillRect/>
          </a:stretch>
        </p:blipFill>
        <p:spPr>
          <a:xfrm>
            <a:off x="8142161" y="2293049"/>
            <a:ext cx="162000" cy="162000"/>
          </a:xfrm>
          <a:prstGeom prst="rect">
            <a:avLst/>
          </a:prstGeom>
        </p:spPr>
      </p:pic>
    </p:spTree>
    <p:extLst>
      <p:ext uri="{BB962C8B-B14F-4D97-AF65-F5344CB8AC3E}">
        <p14:creationId xmlns:p14="http://schemas.microsoft.com/office/powerpoint/2010/main" val="3958353817"/>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E8C9EF-C133-070E-58B6-9B6156168337}"/>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B105410B-8EFD-1428-74FE-AD01B042FBDE}"/>
              </a:ext>
            </a:extLst>
          </p:cNvPr>
          <p:cNvSpPr txBox="1">
            <a:spLocks/>
          </p:cNvSpPr>
          <p:nvPr/>
        </p:nvSpPr>
        <p:spPr>
          <a:xfrm>
            <a:off x="1144394" y="951692"/>
            <a:ext cx="9642622" cy="554293"/>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Proceso:</a:t>
            </a:r>
            <a:r>
              <a:rPr lang="es-ES_tradnl" sz="3200" dirty="0">
                <a:solidFill>
                  <a:schemeClr val="tx2"/>
                </a:solidFill>
              </a:rPr>
              <a:t> </a:t>
            </a:r>
            <a:r>
              <a:rPr lang="es-ES_tradnl" sz="3200" dirty="0"/>
              <a:t>TSPCPDT </a:t>
            </a:r>
            <a:r>
              <a:rPr lang="es-CO" sz="3200" dirty="0"/>
              <a:t>Carga de pago de contratos </a:t>
            </a:r>
            <a:endParaRPr lang="es-ES" sz="3200" dirty="0"/>
          </a:p>
          <a:p>
            <a:pPr algn="just"/>
            <a:endParaRPr lang="es-CL" dirty="0"/>
          </a:p>
        </p:txBody>
      </p:sp>
      <p:sp>
        <p:nvSpPr>
          <p:cNvPr id="5" name="Rectángulo redondeado 5">
            <a:extLst>
              <a:ext uri="{FF2B5EF4-FFF2-40B4-BE49-F238E27FC236}">
                <a16:creationId xmlns:a16="http://schemas.microsoft.com/office/drawing/2014/main" id="{34F4A8AC-0992-D203-0D6A-3444B4EB2790}"/>
              </a:ext>
            </a:extLst>
          </p:cNvPr>
          <p:cNvSpPr/>
          <p:nvPr/>
        </p:nvSpPr>
        <p:spPr>
          <a:xfrm>
            <a:off x="1304400" y="4183229"/>
            <a:ext cx="9583200" cy="64131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dirty="0"/>
              <a:t>Se debe ingresar al proceso </a:t>
            </a:r>
            <a:r>
              <a:rPr lang="es-CO" sz="1200" b="1" dirty="0"/>
              <a:t>TSPCPDT</a:t>
            </a:r>
            <a:r>
              <a:rPr lang="es-CO" sz="1200" dirty="0"/>
              <a:t>, correspondiente a la carga de pago de contratos, con el fin de registrar y procesar de manera masiva la información de los pagos asociados a los contratos.</a:t>
            </a:r>
            <a:endParaRPr lang="es-ES_tradnl" sz="1200" dirty="0"/>
          </a:p>
        </p:txBody>
      </p:sp>
      <p:pic>
        <p:nvPicPr>
          <p:cNvPr id="4" name="Imagen 3">
            <a:extLst>
              <a:ext uri="{FF2B5EF4-FFF2-40B4-BE49-F238E27FC236}">
                <a16:creationId xmlns:a16="http://schemas.microsoft.com/office/drawing/2014/main" id="{4459F7D2-2D65-5154-09D6-CBE741BD41C8}"/>
              </a:ext>
            </a:extLst>
          </p:cNvPr>
          <p:cNvPicPr>
            <a:picLocks noChangeAspect="1"/>
          </p:cNvPicPr>
          <p:nvPr/>
        </p:nvPicPr>
        <p:blipFill>
          <a:blip r:embed="rId2"/>
          <a:stretch>
            <a:fillRect/>
          </a:stretch>
        </p:blipFill>
        <p:spPr>
          <a:xfrm>
            <a:off x="1304400" y="2099644"/>
            <a:ext cx="9583200" cy="1672940"/>
          </a:xfrm>
          <a:prstGeom prst="rect">
            <a:avLst/>
          </a:prstGeom>
        </p:spPr>
      </p:pic>
    </p:spTree>
    <p:extLst>
      <p:ext uri="{BB962C8B-B14F-4D97-AF65-F5344CB8AC3E}">
        <p14:creationId xmlns:p14="http://schemas.microsoft.com/office/powerpoint/2010/main" val="2717444720"/>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C155CB-0F0D-EAC2-236F-919EA24949A7}"/>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25239EE7-FEF2-32FE-9383-8D59F9E404D5}"/>
              </a:ext>
            </a:extLst>
          </p:cNvPr>
          <p:cNvSpPr txBox="1">
            <a:spLocks/>
          </p:cNvSpPr>
          <p:nvPr/>
        </p:nvSpPr>
        <p:spPr>
          <a:xfrm>
            <a:off x="1292163" y="284180"/>
            <a:ext cx="9702045" cy="554293"/>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Proceso:</a:t>
            </a:r>
            <a:r>
              <a:rPr lang="es-ES_tradnl" sz="3200" dirty="0">
                <a:solidFill>
                  <a:schemeClr val="tx2"/>
                </a:solidFill>
              </a:rPr>
              <a:t> </a:t>
            </a:r>
            <a:r>
              <a:rPr lang="es-ES_tradnl" sz="3200" dirty="0"/>
              <a:t>TSPCPDT </a:t>
            </a:r>
            <a:r>
              <a:rPr lang="es-CO" sz="3200" dirty="0"/>
              <a:t>Carga de pago de contratos </a:t>
            </a:r>
            <a:endParaRPr lang="es-ES" sz="3200" dirty="0"/>
          </a:p>
          <a:p>
            <a:pPr algn="just"/>
            <a:endParaRPr lang="es-CL" dirty="0"/>
          </a:p>
        </p:txBody>
      </p:sp>
      <p:sp>
        <p:nvSpPr>
          <p:cNvPr id="5" name="Rectángulo redondeado 5">
            <a:extLst>
              <a:ext uri="{FF2B5EF4-FFF2-40B4-BE49-F238E27FC236}">
                <a16:creationId xmlns:a16="http://schemas.microsoft.com/office/drawing/2014/main" id="{9A009FEB-0A4B-3111-3EAB-4BDD23B84FAE}"/>
              </a:ext>
            </a:extLst>
          </p:cNvPr>
          <p:cNvSpPr/>
          <p:nvPr/>
        </p:nvSpPr>
        <p:spPr>
          <a:xfrm>
            <a:off x="1411008" y="5455477"/>
            <a:ext cx="9583200" cy="722376"/>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dirty="0"/>
              <a:t>En la sección </a:t>
            </a:r>
            <a:r>
              <a:rPr lang="es-ES_tradnl" sz="1200" b="1" dirty="0"/>
              <a:t>“Control de Impresora”</a:t>
            </a:r>
            <a:r>
              <a:rPr lang="es-ES_tradnl" sz="1200" dirty="0"/>
              <a:t>, campo “Impresora” se debe asignar la sentencia </a:t>
            </a:r>
            <a:r>
              <a:rPr lang="es-ES_tradnl" sz="1200" b="1" dirty="0"/>
              <a:t>DATABASE</a:t>
            </a:r>
            <a:r>
              <a:rPr lang="es-ES_tradnl" sz="1200" dirty="0"/>
              <a:t>. </a:t>
            </a:r>
          </a:p>
          <a:p>
            <a:r>
              <a:rPr lang="es-ES_tradnl" sz="1200" dirty="0"/>
              <a:t>Luego, en la sección de “Valores de Parámetro”, se deben asignar los parámetros principales para la ejecución del proceso según corresponda.</a:t>
            </a:r>
          </a:p>
        </p:txBody>
      </p:sp>
      <p:pic>
        <p:nvPicPr>
          <p:cNvPr id="4" name="Imagen 3">
            <a:extLst>
              <a:ext uri="{FF2B5EF4-FFF2-40B4-BE49-F238E27FC236}">
                <a16:creationId xmlns:a16="http://schemas.microsoft.com/office/drawing/2014/main" id="{D990E38A-4308-9C4B-CCA5-8DEF2771007E}"/>
              </a:ext>
            </a:extLst>
          </p:cNvPr>
          <p:cNvPicPr>
            <a:picLocks noChangeAspect="1"/>
          </p:cNvPicPr>
          <p:nvPr/>
        </p:nvPicPr>
        <p:blipFill>
          <a:blip r:embed="rId2"/>
          <a:stretch>
            <a:fillRect/>
          </a:stretch>
        </p:blipFill>
        <p:spPr>
          <a:xfrm>
            <a:off x="1351585" y="1123023"/>
            <a:ext cx="9583200" cy="4047904"/>
          </a:xfrm>
          <a:prstGeom prst="rect">
            <a:avLst/>
          </a:prstGeom>
        </p:spPr>
      </p:pic>
    </p:spTree>
    <p:extLst>
      <p:ext uri="{BB962C8B-B14F-4D97-AF65-F5344CB8AC3E}">
        <p14:creationId xmlns:p14="http://schemas.microsoft.com/office/powerpoint/2010/main" val="1749435612"/>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EEB523-0036-4F59-ABF1-6940BED273ED}"/>
            </a:ext>
          </a:extLst>
        </p:cNvPr>
        <p:cNvGrpSpPr/>
        <p:nvPr/>
      </p:nvGrpSpPr>
      <p:grpSpPr>
        <a:xfrm>
          <a:off x="0" y="0"/>
          <a:ext cx="0" cy="0"/>
          <a:chOff x="0" y="0"/>
          <a:chExt cx="0" cy="0"/>
        </a:xfrm>
      </p:grpSpPr>
      <p:sp>
        <p:nvSpPr>
          <p:cNvPr id="3" name="Rectángulo redondeado 5">
            <a:extLst>
              <a:ext uri="{FF2B5EF4-FFF2-40B4-BE49-F238E27FC236}">
                <a16:creationId xmlns:a16="http://schemas.microsoft.com/office/drawing/2014/main" id="{1AB11A0F-0AB6-3DFD-4CC2-FBF1370C2733}"/>
              </a:ext>
            </a:extLst>
          </p:cNvPr>
          <p:cNvSpPr/>
          <p:nvPr/>
        </p:nvSpPr>
        <p:spPr>
          <a:xfrm>
            <a:off x="1304399" y="4867885"/>
            <a:ext cx="6583099" cy="1369929"/>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b="1" dirty="0"/>
              <a:t>Parámetros:</a:t>
            </a:r>
          </a:p>
          <a:p>
            <a:pPr marL="228600" indent="-228600">
              <a:buFont typeface="+mj-lt"/>
              <a:buAutoNum type="arabicPeriod"/>
            </a:pPr>
            <a:r>
              <a:rPr lang="es-ES" sz="1200" dirty="0"/>
              <a:t>I</a:t>
            </a:r>
            <a:r>
              <a:rPr lang="es-ES" sz="1200" dirty="0">
                <a:effectLst/>
              </a:rPr>
              <a:t>ngresar el ID de contrato.</a:t>
            </a:r>
            <a:endParaRPr lang="es-ES_tradnl" sz="1200" dirty="0"/>
          </a:p>
          <a:p>
            <a:pPr marL="228600" indent="-228600">
              <a:buFont typeface="+mj-lt"/>
              <a:buAutoNum type="arabicPeriod"/>
            </a:pPr>
            <a:r>
              <a:rPr lang="es-ES" sz="1200" dirty="0">
                <a:effectLst/>
              </a:rPr>
              <a:t>Ingresar el Número transacción de pago.</a:t>
            </a:r>
          </a:p>
          <a:p>
            <a:pPr marL="228600" indent="-228600">
              <a:buFont typeface="+mj-lt"/>
              <a:buAutoNum type="arabicPeriod"/>
            </a:pPr>
            <a:r>
              <a:rPr lang="es-ES_tradnl" sz="1200" dirty="0"/>
              <a:t>Ingresar la ruta del archivo que genero GJAJFLU (no incluir el nombre del archivo).</a:t>
            </a:r>
          </a:p>
          <a:p>
            <a:pPr marL="228600" indent="-228600">
              <a:buFont typeface="+mj-lt"/>
              <a:buAutoNum type="arabicPeriod"/>
            </a:pPr>
            <a:r>
              <a:rPr lang="es-ES_tradnl" sz="1200" dirty="0"/>
              <a:t>Ingresar el nombre del archivo que se cargo en GJAJFLU.</a:t>
            </a:r>
          </a:p>
          <a:p>
            <a:pPr marL="228600" indent="-228600">
              <a:buFont typeface="+mj-lt"/>
              <a:buAutoNum type="arabicPeriod"/>
            </a:pPr>
            <a:r>
              <a:rPr lang="es-ES_tradnl" sz="1200" dirty="0"/>
              <a:t>Ingresar Modo de Ejecución= A (Auditoria), U (Actualizar).</a:t>
            </a:r>
          </a:p>
        </p:txBody>
      </p:sp>
      <p:pic>
        <p:nvPicPr>
          <p:cNvPr id="5" name="Imagen 4">
            <a:extLst>
              <a:ext uri="{FF2B5EF4-FFF2-40B4-BE49-F238E27FC236}">
                <a16:creationId xmlns:a16="http://schemas.microsoft.com/office/drawing/2014/main" id="{52E7B6A3-6BA8-D615-93D8-46A590BC370D}"/>
              </a:ext>
            </a:extLst>
          </p:cNvPr>
          <p:cNvPicPr>
            <a:picLocks noChangeAspect="1"/>
          </p:cNvPicPr>
          <p:nvPr/>
        </p:nvPicPr>
        <p:blipFill>
          <a:blip r:embed="rId2"/>
          <a:stretch>
            <a:fillRect/>
          </a:stretch>
        </p:blipFill>
        <p:spPr>
          <a:xfrm>
            <a:off x="1304400" y="1428803"/>
            <a:ext cx="9583200" cy="3167711"/>
          </a:xfrm>
          <a:prstGeom prst="rect">
            <a:avLst/>
          </a:prstGeom>
        </p:spPr>
      </p:pic>
      <p:sp>
        <p:nvSpPr>
          <p:cNvPr id="9" name="Título 3">
            <a:extLst>
              <a:ext uri="{FF2B5EF4-FFF2-40B4-BE49-F238E27FC236}">
                <a16:creationId xmlns:a16="http://schemas.microsoft.com/office/drawing/2014/main" id="{0E47A3F6-2CBA-23FF-84A1-AB19CA80B3FF}"/>
              </a:ext>
            </a:extLst>
          </p:cNvPr>
          <p:cNvSpPr txBox="1">
            <a:spLocks/>
          </p:cNvSpPr>
          <p:nvPr/>
        </p:nvSpPr>
        <p:spPr>
          <a:xfrm>
            <a:off x="1185555" y="461678"/>
            <a:ext cx="9702045" cy="554293"/>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Proceso:</a:t>
            </a:r>
            <a:r>
              <a:rPr lang="es-ES_tradnl" sz="3200" dirty="0">
                <a:solidFill>
                  <a:schemeClr val="tx2"/>
                </a:solidFill>
              </a:rPr>
              <a:t> </a:t>
            </a:r>
            <a:r>
              <a:rPr lang="es-ES_tradnl" sz="3200" dirty="0"/>
              <a:t>TSPCPDT </a:t>
            </a:r>
            <a:r>
              <a:rPr lang="es-CO" sz="3200" dirty="0"/>
              <a:t>Carga de pago de contratos </a:t>
            </a:r>
            <a:endParaRPr lang="es-ES" sz="3200" dirty="0"/>
          </a:p>
          <a:p>
            <a:pPr algn="just"/>
            <a:endParaRPr lang="es-CL" dirty="0"/>
          </a:p>
        </p:txBody>
      </p:sp>
    </p:spTree>
    <p:extLst>
      <p:ext uri="{BB962C8B-B14F-4D97-AF65-F5344CB8AC3E}">
        <p14:creationId xmlns:p14="http://schemas.microsoft.com/office/powerpoint/2010/main" val="2510221576"/>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15C185-7E37-668C-5048-6686D0C27D84}"/>
            </a:ext>
          </a:extLst>
        </p:cNvPr>
        <p:cNvGrpSpPr/>
        <p:nvPr/>
      </p:nvGrpSpPr>
      <p:grpSpPr>
        <a:xfrm>
          <a:off x="0" y="0"/>
          <a:ext cx="0" cy="0"/>
          <a:chOff x="0" y="0"/>
          <a:chExt cx="0" cy="0"/>
        </a:xfrm>
      </p:grpSpPr>
      <p:pic>
        <p:nvPicPr>
          <p:cNvPr id="8" name="Imagen 7">
            <a:extLst>
              <a:ext uri="{FF2B5EF4-FFF2-40B4-BE49-F238E27FC236}">
                <a16:creationId xmlns:a16="http://schemas.microsoft.com/office/drawing/2014/main" id="{64DDD87F-7D1C-E03E-64DE-D987DDD0E8E2}"/>
              </a:ext>
            </a:extLst>
          </p:cNvPr>
          <p:cNvPicPr>
            <a:picLocks noChangeAspect="1"/>
          </p:cNvPicPr>
          <p:nvPr/>
        </p:nvPicPr>
        <p:blipFill>
          <a:blip r:embed="rId2"/>
          <a:stretch>
            <a:fillRect/>
          </a:stretch>
        </p:blipFill>
        <p:spPr>
          <a:xfrm>
            <a:off x="1304400" y="4477269"/>
            <a:ext cx="9583200" cy="425142"/>
          </a:xfrm>
          <a:prstGeom prst="rect">
            <a:avLst/>
          </a:prstGeom>
        </p:spPr>
      </p:pic>
      <p:pic>
        <p:nvPicPr>
          <p:cNvPr id="5" name="Imagen 4">
            <a:extLst>
              <a:ext uri="{FF2B5EF4-FFF2-40B4-BE49-F238E27FC236}">
                <a16:creationId xmlns:a16="http://schemas.microsoft.com/office/drawing/2014/main" id="{B4446343-DF57-245C-7754-2648838951FB}"/>
              </a:ext>
            </a:extLst>
          </p:cNvPr>
          <p:cNvPicPr>
            <a:picLocks noChangeAspect="1"/>
          </p:cNvPicPr>
          <p:nvPr/>
        </p:nvPicPr>
        <p:blipFill>
          <a:blip r:embed="rId3"/>
          <a:stretch>
            <a:fillRect/>
          </a:stretch>
        </p:blipFill>
        <p:spPr>
          <a:xfrm>
            <a:off x="1260145" y="1322861"/>
            <a:ext cx="9583200" cy="3154408"/>
          </a:xfrm>
          <a:prstGeom prst="rect">
            <a:avLst/>
          </a:prstGeom>
        </p:spPr>
      </p:pic>
      <p:sp>
        <p:nvSpPr>
          <p:cNvPr id="3" name="Rectángulo redondeado 5">
            <a:extLst>
              <a:ext uri="{FF2B5EF4-FFF2-40B4-BE49-F238E27FC236}">
                <a16:creationId xmlns:a16="http://schemas.microsoft.com/office/drawing/2014/main" id="{9A56CFC0-26D2-23C0-4963-5390F82AC751}"/>
              </a:ext>
            </a:extLst>
          </p:cNvPr>
          <p:cNvSpPr/>
          <p:nvPr/>
        </p:nvSpPr>
        <p:spPr>
          <a:xfrm>
            <a:off x="1304400" y="5130921"/>
            <a:ext cx="6428232" cy="499563"/>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dirty="0"/>
              <a:t>Ingresados los parámetros, en la sección “Envío” seleccionar el Check </a:t>
            </a:r>
            <a:r>
              <a:rPr lang="es-ES_tradnl" sz="1200" b="1" dirty="0"/>
              <a:t>“Guardar parámetros como”.</a:t>
            </a:r>
          </a:p>
        </p:txBody>
      </p:sp>
      <p:sp>
        <p:nvSpPr>
          <p:cNvPr id="4" name="Rectángulo redondeado 5">
            <a:extLst>
              <a:ext uri="{FF2B5EF4-FFF2-40B4-BE49-F238E27FC236}">
                <a16:creationId xmlns:a16="http://schemas.microsoft.com/office/drawing/2014/main" id="{B7D1E48E-E680-D876-D0E0-25975E896373}"/>
              </a:ext>
            </a:extLst>
          </p:cNvPr>
          <p:cNvSpPr/>
          <p:nvPr/>
        </p:nvSpPr>
        <p:spPr>
          <a:xfrm>
            <a:off x="8328326" y="5122914"/>
            <a:ext cx="2559274" cy="499563"/>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dirty="0"/>
              <a:t>Presionar el botón </a:t>
            </a:r>
            <a:r>
              <a:rPr lang="es-ES_tradnl" sz="1200" b="1" dirty="0"/>
              <a:t>“Guardar”.</a:t>
            </a:r>
          </a:p>
        </p:txBody>
      </p:sp>
      <p:sp>
        <p:nvSpPr>
          <p:cNvPr id="11" name="Título 3">
            <a:extLst>
              <a:ext uri="{FF2B5EF4-FFF2-40B4-BE49-F238E27FC236}">
                <a16:creationId xmlns:a16="http://schemas.microsoft.com/office/drawing/2014/main" id="{9A0C7B3D-3E97-574B-E575-4C13E9837790}"/>
              </a:ext>
            </a:extLst>
          </p:cNvPr>
          <p:cNvSpPr txBox="1">
            <a:spLocks/>
          </p:cNvSpPr>
          <p:nvPr/>
        </p:nvSpPr>
        <p:spPr>
          <a:xfrm>
            <a:off x="1185555" y="540058"/>
            <a:ext cx="9702045" cy="554293"/>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Proceso:</a:t>
            </a:r>
            <a:r>
              <a:rPr lang="es-ES_tradnl" sz="3200" dirty="0">
                <a:solidFill>
                  <a:schemeClr val="tx2"/>
                </a:solidFill>
              </a:rPr>
              <a:t> </a:t>
            </a:r>
            <a:r>
              <a:rPr lang="es-ES_tradnl" sz="3200" dirty="0"/>
              <a:t>TSPCPDT </a:t>
            </a:r>
            <a:r>
              <a:rPr lang="es-CO" sz="3200" dirty="0"/>
              <a:t>Carga de pago de contratos </a:t>
            </a:r>
            <a:endParaRPr lang="es-ES" sz="3200" dirty="0"/>
          </a:p>
          <a:p>
            <a:pPr algn="just"/>
            <a:endParaRPr lang="es-CL" dirty="0"/>
          </a:p>
        </p:txBody>
      </p:sp>
    </p:spTree>
    <p:extLst>
      <p:ext uri="{BB962C8B-B14F-4D97-AF65-F5344CB8AC3E}">
        <p14:creationId xmlns:p14="http://schemas.microsoft.com/office/powerpoint/2010/main" val="2862669668"/>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D5C6C9-56E3-8215-84F5-E8BD42928814}"/>
            </a:ext>
          </a:extLst>
        </p:cNvPr>
        <p:cNvGrpSpPr/>
        <p:nvPr/>
      </p:nvGrpSpPr>
      <p:grpSpPr>
        <a:xfrm>
          <a:off x="0" y="0"/>
          <a:ext cx="0" cy="0"/>
          <a:chOff x="0" y="0"/>
          <a:chExt cx="0" cy="0"/>
        </a:xfrm>
      </p:grpSpPr>
      <p:sp>
        <p:nvSpPr>
          <p:cNvPr id="7" name="Rectángulo redondeado 5">
            <a:extLst>
              <a:ext uri="{FF2B5EF4-FFF2-40B4-BE49-F238E27FC236}">
                <a16:creationId xmlns:a16="http://schemas.microsoft.com/office/drawing/2014/main" id="{CF5CF230-5DF7-5922-7EA4-96D396842E9C}"/>
              </a:ext>
            </a:extLst>
          </p:cNvPr>
          <p:cNvSpPr/>
          <p:nvPr/>
        </p:nvSpPr>
        <p:spPr>
          <a:xfrm>
            <a:off x="1304400" y="4124823"/>
            <a:ext cx="7647576" cy="424241"/>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dirty="0"/>
              <a:t>Confirmación de la ejecución del Proceso, se generación de los archivos </a:t>
            </a:r>
            <a:r>
              <a:rPr lang="es-ES_tradnl" sz="1200" b="1" dirty="0"/>
              <a:t>.LIS y .LOG </a:t>
            </a:r>
            <a:r>
              <a:rPr lang="es-ES_tradnl" sz="1200" dirty="0"/>
              <a:t> como lo indica la imagen. </a:t>
            </a:r>
            <a:endParaRPr lang="es-ES_tradnl" sz="1200" b="1" dirty="0"/>
          </a:p>
        </p:txBody>
      </p:sp>
      <p:pic>
        <p:nvPicPr>
          <p:cNvPr id="4" name="Imagen 3">
            <a:extLst>
              <a:ext uri="{FF2B5EF4-FFF2-40B4-BE49-F238E27FC236}">
                <a16:creationId xmlns:a16="http://schemas.microsoft.com/office/drawing/2014/main" id="{54995233-F580-DE82-966A-B7A2671DE24F}"/>
              </a:ext>
            </a:extLst>
          </p:cNvPr>
          <p:cNvPicPr>
            <a:picLocks noChangeAspect="1"/>
          </p:cNvPicPr>
          <p:nvPr/>
        </p:nvPicPr>
        <p:blipFill>
          <a:blip r:embed="rId2"/>
          <a:stretch>
            <a:fillRect/>
          </a:stretch>
        </p:blipFill>
        <p:spPr>
          <a:xfrm>
            <a:off x="1304400" y="2055884"/>
            <a:ext cx="9583200" cy="1497375"/>
          </a:xfrm>
          <a:prstGeom prst="rect">
            <a:avLst/>
          </a:prstGeom>
        </p:spPr>
      </p:pic>
      <p:sp>
        <p:nvSpPr>
          <p:cNvPr id="8" name="Título 3">
            <a:extLst>
              <a:ext uri="{FF2B5EF4-FFF2-40B4-BE49-F238E27FC236}">
                <a16:creationId xmlns:a16="http://schemas.microsoft.com/office/drawing/2014/main" id="{D006E966-63E3-780A-B8AA-FA19AF0E736C}"/>
              </a:ext>
            </a:extLst>
          </p:cNvPr>
          <p:cNvSpPr txBox="1">
            <a:spLocks/>
          </p:cNvSpPr>
          <p:nvPr/>
        </p:nvSpPr>
        <p:spPr>
          <a:xfrm>
            <a:off x="1244977" y="668228"/>
            <a:ext cx="9702045" cy="554293"/>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Proceso:</a:t>
            </a:r>
            <a:r>
              <a:rPr lang="es-ES_tradnl" sz="3200" dirty="0">
                <a:solidFill>
                  <a:schemeClr val="tx2"/>
                </a:solidFill>
              </a:rPr>
              <a:t> </a:t>
            </a:r>
            <a:r>
              <a:rPr lang="es-ES_tradnl" sz="3200" dirty="0"/>
              <a:t>TSPCPDT </a:t>
            </a:r>
            <a:r>
              <a:rPr lang="es-CO" sz="3200" dirty="0"/>
              <a:t>Carga de pago de contratos </a:t>
            </a:r>
            <a:endParaRPr lang="es-ES" sz="3200" dirty="0"/>
          </a:p>
          <a:p>
            <a:pPr algn="just"/>
            <a:endParaRPr lang="es-CL" dirty="0"/>
          </a:p>
        </p:txBody>
      </p:sp>
    </p:spTree>
    <p:extLst>
      <p:ext uri="{BB962C8B-B14F-4D97-AF65-F5344CB8AC3E}">
        <p14:creationId xmlns:p14="http://schemas.microsoft.com/office/powerpoint/2010/main" val="2703985514"/>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43DD0D-B4E2-16C5-7356-E3E7F1751E96}"/>
            </a:ext>
          </a:extLst>
        </p:cNvPr>
        <p:cNvGrpSpPr/>
        <p:nvPr/>
      </p:nvGrpSpPr>
      <p:grpSpPr>
        <a:xfrm>
          <a:off x="0" y="0"/>
          <a:ext cx="0" cy="0"/>
          <a:chOff x="0" y="0"/>
          <a:chExt cx="0" cy="0"/>
        </a:xfrm>
      </p:grpSpPr>
      <p:sp>
        <p:nvSpPr>
          <p:cNvPr id="3" name="Rectángulo redondeado 5">
            <a:extLst>
              <a:ext uri="{FF2B5EF4-FFF2-40B4-BE49-F238E27FC236}">
                <a16:creationId xmlns:a16="http://schemas.microsoft.com/office/drawing/2014/main" id="{EA2D8E21-0EBB-62A7-8907-B457AFF06A16}"/>
              </a:ext>
            </a:extLst>
          </p:cNvPr>
          <p:cNvSpPr/>
          <p:nvPr/>
        </p:nvSpPr>
        <p:spPr>
          <a:xfrm>
            <a:off x="1304400" y="5157215"/>
            <a:ext cx="9583200" cy="768457"/>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b="1" dirty="0"/>
              <a:t>Revisión salida en GJIREVO</a:t>
            </a:r>
            <a:r>
              <a:rPr lang="es-ES_tradnl" sz="1200" dirty="0"/>
              <a:t>:</a:t>
            </a:r>
          </a:p>
          <a:p>
            <a:r>
              <a:rPr lang="es-ES_tradnl" sz="1200" dirty="0"/>
              <a:t>Para revisar los archivos .LIS y .LOG se debe ingresar a la aplicación </a:t>
            </a:r>
            <a:r>
              <a:rPr lang="es-ES_tradnl" sz="1200" b="1" dirty="0"/>
              <a:t>GJIREVO</a:t>
            </a:r>
            <a:r>
              <a:rPr lang="es-ES_tradnl" sz="1200" dirty="0"/>
              <a:t> o bien en la sección superior del menú, en la opción </a:t>
            </a:r>
            <a:r>
              <a:rPr lang="es-ES_tradnl" sz="1200" b="1" dirty="0"/>
              <a:t>“Relacionado</a:t>
            </a:r>
            <a:r>
              <a:rPr lang="es-ES_tradnl" sz="1200" dirty="0"/>
              <a:t>” se desplegaría una serie de opciones, </a:t>
            </a:r>
          </a:p>
        </p:txBody>
      </p:sp>
      <p:pic>
        <p:nvPicPr>
          <p:cNvPr id="4" name="Imagen 3">
            <a:extLst>
              <a:ext uri="{FF2B5EF4-FFF2-40B4-BE49-F238E27FC236}">
                <a16:creationId xmlns:a16="http://schemas.microsoft.com/office/drawing/2014/main" id="{D8CC0D22-0986-BFAB-CA0B-78FEDC9AFFC6}"/>
              </a:ext>
            </a:extLst>
          </p:cNvPr>
          <p:cNvPicPr>
            <a:picLocks noChangeAspect="1"/>
          </p:cNvPicPr>
          <p:nvPr/>
        </p:nvPicPr>
        <p:blipFill>
          <a:blip r:embed="rId2"/>
          <a:stretch>
            <a:fillRect/>
          </a:stretch>
        </p:blipFill>
        <p:spPr>
          <a:xfrm>
            <a:off x="1304400" y="1443818"/>
            <a:ext cx="9583200" cy="3359111"/>
          </a:xfrm>
          <a:prstGeom prst="rect">
            <a:avLst/>
          </a:prstGeom>
        </p:spPr>
      </p:pic>
      <p:sp>
        <p:nvSpPr>
          <p:cNvPr id="7" name="Título 3">
            <a:extLst>
              <a:ext uri="{FF2B5EF4-FFF2-40B4-BE49-F238E27FC236}">
                <a16:creationId xmlns:a16="http://schemas.microsoft.com/office/drawing/2014/main" id="{D4B9B429-99E5-B502-E074-FF282FDAB726}"/>
              </a:ext>
            </a:extLst>
          </p:cNvPr>
          <p:cNvSpPr txBox="1">
            <a:spLocks/>
          </p:cNvSpPr>
          <p:nvPr/>
        </p:nvSpPr>
        <p:spPr>
          <a:xfrm>
            <a:off x="1244977" y="618604"/>
            <a:ext cx="9702045" cy="554293"/>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Proceso:</a:t>
            </a:r>
            <a:r>
              <a:rPr lang="es-ES_tradnl" sz="3200" dirty="0">
                <a:solidFill>
                  <a:schemeClr val="tx2"/>
                </a:solidFill>
              </a:rPr>
              <a:t> </a:t>
            </a:r>
            <a:r>
              <a:rPr lang="es-ES_tradnl" sz="3200" dirty="0"/>
              <a:t>TSPCPDT </a:t>
            </a:r>
            <a:r>
              <a:rPr lang="es-CO" sz="3200" dirty="0"/>
              <a:t>Carga de pago de contratos </a:t>
            </a:r>
            <a:endParaRPr lang="es-ES" sz="3200" dirty="0"/>
          </a:p>
          <a:p>
            <a:pPr algn="just"/>
            <a:endParaRPr lang="es-CL" dirty="0"/>
          </a:p>
        </p:txBody>
      </p:sp>
    </p:spTree>
    <p:extLst>
      <p:ext uri="{BB962C8B-B14F-4D97-AF65-F5344CB8AC3E}">
        <p14:creationId xmlns:p14="http://schemas.microsoft.com/office/powerpoint/2010/main" val="4215351956"/>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3E3919-761E-114B-951E-4038354C684D}"/>
            </a:ext>
          </a:extLst>
        </p:cNvPr>
        <p:cNvGrpSpPr/>
        <p:nvPr/>
      </p:nvGrpSpPr>
      <p:grpSpPr>
        <a:xfrm>
          <a:off x="0" y="0"/>
          <a:ext cx="0" cy="0"/>
          <a:chOff x="0" y="0"/>
          <a:chExt cx="0" cy="0"/>
        </a:xfrm>
      </p:grpSpPr>
      <p:sp>
        <p:nvSpPr>
          <p:cNvPr id="8" name="Rectángulo redondeado 5">
            <a:extLst>
              <a:ext uri="{FF2B5EF4-FFF2-40B4-BE49-F238E27FC236}">
                <a16:creationId xmlns:a16="http://schemas.microsoft.com/office/drawing/2014/main" id="{B0C9D149-210D-2A7E-03EF-DBC7D92EB0A2}"/>
              </a:ext>
            </a:extLst>
          </p:cNvPr>
          <p:cNvSpPr/>
          <p:nvPr/>
        </p:nvSpPr>
        <p:spPr>
          <a:xfrm>
            <a:off x="1304400" y="5516981"/>
            <a:ext cx="8351404" cy="704568"/>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ES_tradnl" sz="1200" b="1" dirty="0"/>
              <a:t>Revisión salida en GJIREVO</a:t>
            </a:r>
            <a:r>
              <a:rPr lang="es-ES_tradnl" sz="1200" dirty="0"/>
              <a:t>:</a:t>
            </a:r>
          </a:p>
          <a:p>
            <a:pPr algn="just"/>
            <a:r>
              <a:rPr lang="es-ES_tradnl" sz="1200" dirty="0"/>
              <a:t>En la ventana emergente se debe seleccionar el archivo a analizar, .</a:t>
            </a:r>
            <a:r>
              <a:rPr lang="es-ES_tradnl" sz="1200" b="1" dirty="0"/>
              <a:t>LIS o .LOG</a:t>
            </a:r>
            <a:r>
              <a:rPr lang="es-ES_tradnl" sz="1200" dirty="0"/>
              <a:t>, luego dar clic al botón </a:t>
            </a:r>
            <a:r>
              <a:rPr lang="es-ES_tradnl" sz="1200" b="1" dirty="0"/>
              <a:t>OK.</a:t>
            </a:r>
          </a:p>
        </p:txBody>
      </p:sp>
      <p:pic>
        <p:nvPicPr>
          <p:cNvPr id="3" name="Imagen 2">
            <a:extLst>
              <a:ext uri="{FF2B5EF4-FFF2-40B4-BE49-F238E27FC236}">
                <a16:creationId xmlns:a16="http://schemas.microsoft.com/office/drawing/2014/main" id="{46E177EB-9DF7-BD88-453D-82160672F920}"/>
              </a:ext>
            </a:extLst>
          </p:cNvPr>
          <p:cNvPicPr>
            <a:picLocks noChangeAspect="1"/>
          </p:cNvPicPr>
          <p:nvPr/>
        </p:nvPicPr>
        <p:blipFill>
          <a:blip r:embed="rId2"/>
          <a:stretch>
            <a:fillRect/>
          </a:stretch>
        </p:blipFill>
        <p:spPr>
          <a:xfrm>
            <a:off x="1304400" y="945462"/>
            <a:ext cx="9583200" cy="4489157"/>
          </a:xfrm>
          <a:prstGeom prst="rect">
            <a:avLst/>
          </a:prstGeom>
        </p:spPr>
      </p:pic>
      <p:sp>
        <p:nvSpPr>
          <p:cNvPr id="7" name="Título 3">
            <a:extLst>
              <a:ext uri="{FF2B5EF4-FFF2-40B4-BE49-F238E27FC236}">
                <a16:creationId xmlns:a16="http://schemas.microsoft.com/office/drawing/2014/main" id="{28B647F2-8AB9-A6AC-2CEC-211169095EED}"/>
              </a:ext>
            </a:extLst>
          </p:cNvPr>
          <p:cNvSpPr txBox="1">
            <a:spLocks/>
          </p:cNvSpPr>
          <p:nvPr/>
        </p:nvSpPr>
        <p:spPr>
          <a:xfrm>
            <a:off x="1244977" y="308807"/>
            <a:ext cx="9702045" cy="554293"/>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Proceso:</a:t>
            </a:r>
            <a:r>
              <a:rPr lang="es-ES_tradnl" sz="3200" dirty="0">
                <a:solidFill>
                  <a:schemeClr val="tx2"/>
                </a:solidFill>
              </a:rPr>
              <a:t> </a:t>
            </a:r>
            <a:r>
              <a:rPr lang="es-ES_tradnl" sz="3200" dirty="0"/>
              <a:t>TSPCPDT </a:t>
            </a:r>
            <a:r>
              <a:rPr lang="es-CO" sz="3200" dirty="0"/>
              <a:t>Carga de pago de contratos </a:t>
            </a:r>
            <a:endParaRPr lang="es-ES" sz="3200" dirty="0"/>
          </a:p>
          <a:p>
            <a:pPr algn="just"/>
            <a:endParaRPr lang="es-CL" dirty="0"/>
          </a:p>
        </p:txBody>
      </p:sp>
    </p:spTree>
    <p:extLst>
      <p:ext uri="{BB962C8B-B14F-4D97-AF65-F5344CB8AC3E}">
        <p14:creationId xmlns:p14="http://schemas.microsoft.com/office/powerpoint/2010/main" val="350149238"/>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8B0D98-A359-0A68-955E-AB7518A3124C}"/>
            </a:ext>
          </a:extLst>
        </p:cNvPr>
        <p:cNvGrpSpPr/>
        <p:nvPr/>
      </p:nvGrpSpPr>
      <p:grpSpPr>
        <a:xfrm>
          <a:off x="0" y="0"/>
          <a:ext cx="0" cy="0"/>
          <a:chOff x="0" y="0"/>
          <a:chExt cx="0" cy="0"/>
        </a:xfrm>
      </p:grpSpPr>
      <p:sp>
        <p:nvSpPr>
          <p:cNvPr id="8" name="Rectángulo redondeado 5">
            <a:extLst>
              <a:ext uri="{FF2B5EF4-FFF2-40B4-BE49-F238E27FC236}">
                <a16:creationId xmlns:a16="http://schemas.microsoft.com/office/drawing/2014/main" id="{8C5C9188-D237-697F-95C6-365A7FF82935}"/>
              </a:ext>
            </a:extLst>
          </p:cNvPr>
          <p:cNvSpPr/>
          <p:nvPr/>
        </p:nvSpPr>
        <p:spPr>
          <a:xfrm>
            <a:off x="1395840" y="5405674"/>
            <a:ext cx="6970920" cy="468714"/>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dirty="0"/>
              <a:t>El archivo</a:t>
            </a:r>
            <a:r>
              <a:rPr lang="es-ES_tradnl" sz="1200" b="1" dirty="0"/>
              <a:t> .LIS </a:t>
            </a:r>
            <a:r>
              <a:rPr lang="es-ES_tradnl" sz="1200" dirty="0"/>
              <a:t>confirma el registro de los alumnos de manera correcta en el contrato indicado. </a:t>
            </a:r>
          </a:p>
        </p:txBody>
      </p:sp>
      <p:sp>
        <p:nvSpPr>
          <p:cNvPr id="4" name="Título 3">
            <a:extLst>
              <a:ext uri="{FF2B5EF4-FFF2-40B4-BE49-F238E27FC236}">
                <a16:creationId xmlns:a16="http://schemas.microsoft.com/office/drawing/2014/main" id="{E584ECA3-2923-8E01-16DF-9D3D8A902CD9}"/>
              </a:ext>
            </a:extLst>
          </p:cNvPr>
          <p:cNvSpPr txBox="1">
            <a:spLocks/>
          </p:cNvSpPr>
          <p:nvPr/>
        </p:nvSpPr>
        <p:spPr>
          <a:xfrm>
            <a:off x="1244977" y="308807"/>
            <a:ext cx="9702045" cy="554293"/>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Proceso:</a:t>
            </a:r>
            <a:r>
              <a:rPr lang="es-ES_tradnl" sz="3200" dirty="0">
                <a:solidFill>
                  <a:schemeClr val="tx2"/>
                </a:solidFill>
              </a:rPr>
              <a:t> </a:t>
            </a:r>
            <a:r>
              <a:rPr lang="es-ES_tradnl" sz="3200" dirty="0"/>
              <a:t>TSPCPDT </a:t>
            </a:r>
            <a:r>
              <a:rPr lang="es-CO" sz="3200" dirty="0"/>
              <a:t>Carga de pago de contratos </a:t>
            </a:r>
            <a:endParaRPr lang="es-ES" sz="3200" dirty="0"/>
          </a:p>
          <a:p>
            <a:pPr algn="just"/>
            <a:endParaRPr lang="es-CL" dirty="0"/>
          </a:p>
        </p:txBody>
      </p:sp>
      <p:pic>
        <p:nvPicPr>
          <p:cNvPr id="7" name="Imagen 6">
            <a:extLst>
              <a:ext uri="{FF2B5EF4-FFF2-40B4-BE49-F238E27FC236}">
                <a16:creationId xmlns:a16="http://schemas.microsoft.com/office/drawing/2014/main" id="{77B36908-5376-9BD8-DEF4-C095259F6E06}"/>
              </a:ext>
            </a:extLst>
          </p:cNvPr>
          <p:cNvPicPr>
            <a:picLocks noChangeAspect="1"/>
          </p:cNvPicPr>
          <p:nvPr/>
        </p:nvPicPr>
        <p:blipFill>
          <a:blip r:embed="rId2"/>
          <a:stretch>
            <a:fillRect/>
          </a:stretch>
        </p:blipFill>
        <p:spPr>
          <a:xfrm>
            <a:off x="1304400" y="1044460"/>
            <a:ext cx="9583200" cy="4179854"/>
          </a:xfrm>
          <a:prstGeom prst="rect">
            <a:avLst/>
          </a:prstGeom>
        </p:spPr>
      </p:pic>
    </p:spTree>
    <p:extLst>
      <p:ext uri="{BB962C8B-B14F-4D97-AF65-F5344CB8AC3E}">
        <p14:creationId xmlns:p14="http://schemas.microsoft.com/office/powerpoint/2010/main" val="1357374938"/>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9C35C3-711C-822A-DC74-976739F8E99F}"/>
            </a:ext>
          </a:extLst>
        </p:cNvPr>
        <p:cNvGrpSpPr/>
        <p:nvPr/>
      </p:nvGrpSpPr>
      <p:grpSpPr>
        <a:xfrm>
          <a:off x="0" y="0"/>
          <a:ext cx="0" cy="0"/>
          <a:chOff x="0" y="0"/>
          <a:chExt cx="0" cy="0"/>
        </a:xfrm>
      </p:grpSpPr>
      <p:sp>
        <p:nvSpPr>
          <p:cNvPr id="8" name="Rectángulo redondeado 5">
            <a:extLst>
              <a:ext uri="{FF2B5EF4-FFF2-40B4-BE49-F238E27FC236}">
                <a16:creationId xmlns:a16="http://schemas.microsoft.com/office/drawing/2014/main" id="{EC5FA1DD-311C-335E-EA66-B0D32F50074B}"/>
              </a:ext>
            </a:extLst>
          </p:cNvPr>
          <p:cNvSpPr/>
          <p:nvPr/>
        </p:nvSpPr>
        <p:spPr>
          <a:xfrm>
            <a:off x="1304399" y="5254570"/>
            <a:ext cx="3282957" cy="508696"/>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dirty="0"/>
              <a:t>El archivo </a:t>
            </a:r>
            <a:r>
              <a:rPr lang="es-ES_tradnl" sz="1200" b="1" dirty="0"/>
              <a:t>.LOG </a:t>
            </a:r>
            <a:r>
              <a:rPr lang="es-ES_tradnl" sz="1200" dirty="0"/>
              <a:t>confirma ejecución completa.</a:t>
            </a:r>
          </a:p>
        </p:txBody>
      </p:sp>
      <p:pic>
        <p:nvPicPr>
          <p:cNvPr id="7" name="Imagen 6">
            <a:extLst>
              <a:ext uri="{FF2B5EF4-FFF2-40B4-BE49-F238E27FC236}">
                <a16:creationId xmlns:a16="http://schemas.microsoft.com/office/drawing/2014/main" id="{AC6E4E97-1FB2-B274-8E00-702ADAE19BBF}"/>
              </a:ext>
            </a:extLst>
          </p:cNvPr>
          <p:cNvPicPr>
            <a:picLocks noChangeAspect="1"/>
          </p:cNvPicPr>
          <p:nvPr/>
        </p:nvPicPr>
        <p:blipFill>
          <a:blip r:embed="rId2"/>
          <a:stretch>
            <a:fillRect/>
          </a:stretch>
        </p:blipFill>
        <p:spPr>
          <a:xfrm>
            <a:off x="1304399" y="1374571"/>
            <a:ext cx="9583200" cy="3484345"/>
          </a:xfrm>
          <a:prstGeom prst="rect">
            <a:avLst/>
          </a:prstGeom>
        </p:spPr>
      </p:pic>
      <p:sp>
        <p:nvSpPr>
          <p:cNvPr id="11" name="Título 3">
            <a:extLst>
              <a:ext uri="{FF2B5EF4-FFF2-40B4-BE49-F238E27FC236}">
                <a16:creationId xmlns:a16="http://schemas.microsoft.com/office/drawing/2014/main" id="{CA5E464E-5010-81C7-D11E-F79DC8DFB0A9}"/>
              </a:ext>
            </a:extLst>
          </p:cNvPr>
          <p:cNvSpPr txBox="1">
            <a:spLocks/>
          </p:cNvSpPr>
          <p:nvPr/>
        </p:nvSpPr>
        <p:spPr>
          <a:xfrm>
            <a:off x="1244976" y="424624"/>
            <a:ext cx="9702045" cy="554293"/>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Proceso:</a:t>
            </a:r>
            <a:r>
              <a:rPr lang="es-ES_tradnl" sz="3200" dirty="0">
                <a:solidFill>
                  <a:schemeClr val="tx2"/>
                </a:solidFill>
              </a:rPr>
              <a:t> </a:t>
            </a:r>
            <a:r>
              <a:rPr lang="es-ES_tradnl" sz="3200" dirty="0"/>
              <a:t>TSPCPDT </a:t>
            </a:r>
            <a:r>
              <a:rPr lang="es-CO" sz="3200" dirty="0"/>
              <a:t>Carga de pago de contratos </a:t>
            </a:r>
            <a:endParaRPr lang="es-ES" sz="3200" dirty="0"/>
          </a:p>
          <a:p>
            <a:pPr algn="just"/>
            <a:endParaRPr lang="es-CL" dirty="0"/>
          </a:p>
        </p:txBody>
      </p:sp>
    </p:spTree>
    <p:extLst>
      <p:ext uri="{BB962C8B-B14F-4D97-AF65-F5344CB8AC3E}">
        <p14:creationId xmlns:p14="http://schemas.microsoft.com/office/powerpoint/2010/main" val="1413027885"/>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1FD557-502D-C22C-B231-26D41DEF6E21}"/>
            </a:ext>
          </a:extLst>
        </p:cNvPr>
        <p:cNvGrpSpPr/>
        <p:nvPr/>
      </p:nvGrpSpPr>
      <p:grpSpPr>
        <a:xfrm>
          <a:off x="0" y="0"/>
          <a:ext cx="0" cy="0"/>
          <a:chOff x="0" y="0"/>
          <a:chExt cx="0" cy="0"/>
        </a:xfrm>
      </p:grpSpPr>
      <p:sp>
        <p:nvSpPr>
          <p:cNvPr id="3" name="Título 3">
            <a:extLst>
              <a:ext uri="{FF2B5EF4-FFF2-40B4-BE49-F238E27FC236}">
                <a16:creationId xmlns:a16="http://schemas.microsoft.com/office/drawing/2014/main" id="{CBE09039-C2FA-6F41-D369-EBD92928B93D}"/>
              </a:ext>
            </a:extLst>
          </p:cNvPr>
          <p:cNvSpPr txBox="1">
            <a:spLocks/>
          </p:cNvSpPr>
          <p:nvPr/>
        </p:nvSpPr>
        <p:spPr>
          <a:xfrm>
            <a:off x="1187788" y="591234"/>
            <a:ext cx="7371640" cy="578351"/>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dirty="0">
                <a:solidFill>
                  <a:schemeClr val="accent1"/>
                </a:solidFill>
              </a:rPr>
              <a:t>Operación: </a:t>
            </a:r>
            <a:r>
              <a:rPr lang="es-CO" sz="3200" dirty="0"/>
              <a:t>TSACONR Revisar Contrato</a:t>
            </a:r>
            <a:endParaRPr lang="es-CL" b="0" dirty="0"/>
          </a:p>
        </p:txBody>
      </p:sp>
      <p:pic>
        <p:nvPicPr>
          <p:cNvPr id="5" name="Imagen 4">
            <a:extLst>
              <a:ext uri="{FF2B5EF4-FFF2-40B4-BE49-F238E27FC236}">
                <a16:creationId xmlns:a16="http://schemas.microsoft.com/office/drawing/2014/main" id="{BA1E6167-26AD-A11B-4738-C77A2A2BE179}"/>
              </a:ext>
            </a:extLst>
          </p:cNvPr>
          <p:cNvPicPr>
            <a:picLocks noChangeAspect="1"/>
          </p:cNvPicPr>
          <p:nvPr/>
        </p:nvPicPr>
        <p:blipFill>
          <a:blip r:embed="rId2"/>
          <a:stretch>
            <a:fillRect/>
          </a:stretch>
        </p:blipFill>
        <p:spPr>
          <a:xfrm>
            <a:off x="1304400" y="1587715"/>
            <a:ext cx="9583200" cy="2520841"/>
          </a:xfrm>
          <a:prstGeom prst="rect">
            <a:avLst/>
          </a:prstGeom>
        </p:spPr>
      </p:pic>
      <p:sp>
        <p:nvSpPr>
          <p:cNvPr id="8" name="Rectángulo redondeado 5">
            <a:extLst>
              <a:ext uri="{FF2B5EF4-FFF2-40B4-BE49-F238E27FC236}">
                <a16:creationId xmlns:a16="http://schemas.microsoft.com/office/drawing/2014/main" id="{1559A638-7BB9-960B-FDDC-06360AD68463}"/>
              </a:ext>
            </a:extLst>
          </p:cNvPr>
          <p:cNvSpPr/>
          <p:nvPr/>
        </p:nvSpPr>
        <p:spPr>
          <a:xfrm>
            <a:off x="1304400" y="4745735"/>
            <a:ext cx="9583200" cy="524549"/>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dirty="0"/>
              <a:t>La consulta TSACONR permite visualizar y verificar el historial de transacciones, cargos y pagos asociados a un contrato.</a:t>
            </a:r>
          </a:p>
        </p:txBody>
      </p:sp>
    </p:spTree>
    <p:extLst>
      <p:ext uri="{BB962C8B-B14F-4D97-AF65-F5344CB8AC3E}">
        <p14:creationId xmlns:p14="http://schemas.microsoft.com/office/powerpoint/2010/main" val="1092888681"/>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25FA3E-CFCB-E653-32AF-5D2E26AFAE10}"/>
            </a:ext>
          </a:extLst>
        </p:cNvPr>
        <p:cNvGrpSpPr/>
        <p:nvPr/>
      </p:nvGrpSpPr>
      <p:grpSpPr>
        <a:xfrm>
          <a:off x="0" y="0"/>
          <a:ext cx="0" cy="0"/>
          <a:chOff x="0" y="0"/>
          <a:chExt cx="0" cy="0"/>
        </a:xfrm>
      </p:grpSpPr>
      <p:sp>
        <p:nvSpPr>
          <p:cNvPr id="8" name="Rectángulo redondeado 5">
            <a:extLst>
              <a:ext uri="{FF2B5EF4-FFF2-40B4-BE49-F238E27FC236}">
                <a16:creationId xmlns:a16="http://schemas.microsoft.com/office/drawing/2014/main" id="{6A73DD67-7D5A-ED1B-E16F-12C19E10CF3A}"/>
              </a:ext>
            </a:extLst>
          </p:cNvPr>
          <p:cNvSpPr/>
          <p:nvPr/>
        </p:nvSpPr>
        <p:spPr>
          <a:xfrm>
            <a:off x="1304399" y="4096281"/>
            <a:ext cx="9583200" cy="706634"/>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dirty="0"/>
              <a:t>Ingrese a la consulta </a:t>
            </a:r>
            <a:r>
              <a:rPr lang="es-CO" sz="1200" b="1" dirty="0"/>
              <a:t>TSACPDT</a:t>
            </a:r>
            <a:r>
              <a:rPr lang="es-CO" sz="1200" dirty="0"/>
              <a:t> para registrar o consultar los detalles de los pagos recibidos de los patrocinadores de contratos. Este proceso permite asociar los pagos a los estudiantes correspondientes y actualizar la información cuando sea necesario.</a:t>
            </a:r>
          </a:p>
        </p:txBody>
      </p:sp>
      <p:sp>
        <p:nvSpPr>
          <p:cNvPr id="11" name="Título 3">
            <a:extLst>
              <a:ext uri="{FF2B5EF4-FFF2-40B4-BE49-F238E27FC236}">
                <a16:creationId xmlns:a16="http://schemas.microsoft.com/office/drawing/2014/main" id="{F0AD4D05-72CD-3488-9EA4-57373DC4C2E5}"/>
              </a:ext>
            </a:extLst>
          </p:cNvPr>
          <p:cNvSpPr txBox="1">
            <a:spLocks/>
          </p:cNvSpPr>
          <p:nvPr/>
        </p:nvSpPr>
        <p:spPr>
          <a:xfrm>
            <a:off x="1185554" y="540441"/>
            <a:ext cx="9702045" cy="554293"/>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Operación:</a:t>
            </a:r>
            <a:r>
              <a:rPr lang="es-ES_tradnl" sz="3200" dirty="0">
                <a:solidFill>
                  <a:schemeClr val="tx2"/>
                </a:solidFill>
              </a:rPr>
              <a:t> </a:t>
            </a:r>
            <a:r>
              <a:rPr lang="es-ES_tradnl" sz="3200" dirty="0"/>
              <a:t>TSACPDT </a:t>
            </a:r>
            <a:r>
              <a:rPr lang="es-CO" sz="3200" dirty="0"/>
              <a:t>Detalle de pago de contrato</a:t>
            </a:r>
          </a:p>
          <a:p>
            <a:endParaRPr lang="es-CL" dirty="0"/>
          </a:p>
        </p:txBody>
      </p:sp>
      <p:pic>
        <p:nvPicPr>
          <p:cNvPr id="5" name="Imagen 4">
            <a:extLst>
              <a:ext uri="{FF2B5EF4-FFF2-40B4-BE49-F238E27FC236}">
                <a16:creationId xmlns:a16="http://schemas.microsoft.com/office/drawing/2014/main" id="{AED7D7C4-4CC8-6197-3D0E-51ED734C2AEC}"/>
              </a:ext>
            </a:extLst>
          </p:cNvPr>
          <p:cNvPicPr>
            <a:picLocks noChangeAspect="1"/>
          </p:cNvPicPr>
          <p:nvPr/>
        </p:nvPicPr>
        <p:blipFill>
          <a:blip r:embed="rId2"/>
          <a:stretch>
            <a:fillRect/>
          </a:stretch>
        </p:blipFill>
        <p:spPr>
          <a:xfrm>
            <a:off x="1304399" y="1801368"/>
            <a:ext cx="9583200" cy="1941596"/>
          </a:xfrm>
          <a:prstGeom prst="rect">
            <a:avLst/>
          </a:prstGeom>
        </p:spPr>
      </p:pic>
    </p:spTree>
    <p:extLst>
      <p:ext uri="{BB962C8B-B14F-4D97-AF65-F5344CB8AC3E}">
        <p14:creationId xmlns:p14="http://schemas.microsoft.com/office/powerpoint/2010/main" val="446336246"/>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46E466-E02B-0191-3585-60EB89021E6C}"/>
            </a:ext>
          </a:extLst>
        </p:cNvPr>
        <p:cNvGrpSpPr/>
        <p:nvPr/>
      </p:nvGrpSpPr>
      <p:grpSpPr>
        <a:xfrm>
          <a:off x="0" y="0"/>
          <a:ext cx="0" cy="0"/>
          <a:chOff x="0" y="0"/>
          <a:chExt cx="0" cy="0"/>
        </a:xfrm>
      </p:grpSpPr>
      <p:sp>
        <p:nvSpPr>
          <p:cNvPr id="8" name="Rectángulo redondeado 5">
            <a:extLst>
              <a:ext uri="{FF2B5EF4-FFF2-40B4-BE49-F238E27FC236}">
                <a16:creationId xmlns:a16="http://schemas.microsoft.com/office/drawing/2014/main" id="{D9072052-BAF3-8601-B160-33FBABFD042A}"/>
              </a:ext>
            </a:extLst>
          </p:cNvPr>
          <p:cNvSpPr/>
          <p:nvPr/>
        </p:nvSpPr>
        <p:spPr>
          <a:xfrm>
            <a:off x="1185553" y="4760989"/>
            <a:ext cx="9583200" cy="679275"/>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dirty="0"/>
              <a:t>La consulta</a:t>
            </a:r>
            <a:r>
              <a:rPr lang="es-CO" sz="1200" b="1" dirty="0"/>
              <a:t> TSACPDT </a:t>
            </a:r>
            <a:r>
              <a:rPr lang="es-CO" sz="1200" dirty="0"/>
              <a:t>permite visualizar y administrar el detalle de los pagos aplicados a los estudiantes asociados a un contrato, verificando valores asignados, saldos y totales del proceso.</a:t>
            </a:r>
          </a:p>
        </p:txBody>
      </p:sp>
      <p:sp>
        <p:nvSpPr>
          <p:cNvPr id="11" name="Título 3">
            <a:extLst>
              <a:ext uri="{FF2B5EF4-FFF2-40B4-BE49-F238E27FC236}">
                <a16:creationId xmlns:a16="http://schemas.microsoft.com/office/drawing/2014/main" id="{FD624653-D9C5-D422-71D7-66B605016B38}"/>
              </a:ext>
            </a:extLst>
          </p:cNvPr>
          <p:cNvSpPr txBox="1">
            <a:spLocks/>
          </p:cNvSpPr>
          <p:nvPr/>
        </p:nvSpPr>
        <p:spPr>
          <a:xfrm>
            <a:off x="1185553" y="695878"/>
            <a:ext cx="9702045" cy="554293"/>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Operación:</a:t>
            </a:r>
            <a:r>
              <a:rPr lang="es-ES_tradnl" sz="3200" dirty="0">
                <a:solidFill>
                  <a:schemeClr val="tx2"/>
                </a:solidFill>
              </a:rPr>
              <a:t> </a:t>
            </a:r>
            <a:r>
              <a:rPr lang="es-ES_tradnl" sz="3200" dirty="0"/>
              <a:t>TSACPDT </a:t>
            </a:r>
            <a:r>
              <a:rPr lang="es-CO" sz="3200" dirty="0"/>
              <a:t>Detalle de pago de contrato</a:t>
            </a:r>
          </a:p>
          <a:p>
            <a:endParaRPr lang="es-CL" dirty="0"/>
          </a:p>
        </p:txBody>
      </p:sp>
      <p:pic>
        <p:nvPicPr>
          <p:cNvPr id="3" name="Imagen 2">
            <a:extLst>
              <a:ext uri="{FF2B5EF4-FFF2-40B4-BE49-F238E27FC236}">
                <a16:creationId xmlns:a16="http://schemas.microsoft.com/office/drawing/2014/main" id="{8ADEBA4B-F2AE-780E-756C-007075A357B7}"/>
              </a:ext>
            </a:extLst>
          </p:cNvPr>
          <p:cNvPicPr>
            <a:picLocks noChangeAspect="1"/>
          </p:cNvPicPr>
          <p:nvPr/>
        </p:nvPicPr>
        <p:blipFill>
          <a:blip r:embed="rId2"/>
          <a:stretch>
            <a:fillRect/>
          </a:stretch>
        </p:blipFill>
        <p:spPr>
          <a:xfrm>
            <a:off x="1244975" y="1724163"/>
            <a:ext cx="9583200" cy="2562833"/>
          </a:xfrm>
          <a:prstGeom prst="rect">
            <a:avLst/>
          </a:prstGeom>
        </p:spPr>
      </p:pic>
    </p:spTree>
    <p:extLst>
      <p:ext uri="{BB962C8B-B14F-4D97-AF65-F5344CB8AC3E}">
        <p14:creationId xmlns:p14="http://schemas.microsoft.com/office/powerpoint/2010/main" val="723081195"/>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958CE3-9198-6452-5557-9D6C1BCB6F5C}"/>
            </a:ext>
          </a:extLst>
        </p:cNvPr>
        <p:cNvGrpSpPr/>
        <p:nvPr/>
      </p:nvGrpSpPr>
      <p:grpSpPr>
        <a:xfrm>
          <a:off x="0" y="0"/>
          <a:ext cx="0" cy="0"/>
          <a:chOff x="0" y="0"/>
          <a:chExt cx="0" cy="0"/>
        </a:xfrm>
      </p:grpSpPr>
      <p:sp>
        <p:nvSpPr>
          <p:cNvPr id="5" name="CuadroTexto 4">
            <a:extLst>
              <a:ext uri="{FF2B5EF4-FFF2-40B4-BE49-F238E27FC236}">
                <a16:creationId xmlns:a16="http://schemas.microsoft.com/office/drawing/2014/main" id="{AF7E904F-972E-87D8-294D-13C9C6334130}"/>
              </a:ext>
            </a:extLst>
          </p:cNvPr>
          <p:cNvSpPr txBox="1"/>
          <p:nvPr/>
        </p:nvSpPr>
        <p:spPr>
          <a:xfrm>
            <a:off x="612648" y="1843540"/>
            <a:ext cx="10762488" cy="1938992"/>
          </a:xfrm>
          <a:prstGeom prst="rect">
            <a:avLst/>
          </a:prstGeom>
          <a:noFill/>
        </p:spPr>
        <p:txBody>
          <a:bodyPr wrap="square">
            <a:spAutoFit/>
          </a:bodyPr>
          <a:lstStyle/>
          <a:p>
            <a:r>
              <a:rPr lang="es-CO" sz="6000" b="1" dirty="0">
                <a:solidFill>
                  <a:schemeClr val="bg1"/>
                </a:solidFill>
              </a:rPr>
              <a:t>Gestión de Contratos Aplicados</a:t>
            </a:r>
            <a:endParaRPr lang="en-US" sz="6000" b="1" dirty="0">
              <a:solidFill>
                <a:schemeClr val="bg1"/>
              </a:solidFill>
            </a:endParaRPr>
          </a:p>
        </p:txBody>
      </p:sp>
      <p:sp>
        <p:nvSpPr>
          <p:cNvPr id="2" name="Text Placeholder 16">
            <a:extLst>
              <a:ext uri="{FF2B5EF4-FFF2-40B4-BE49-F238E27FC236}">
                <a16:creationId xmlns:a16="http://schemas.microsoft.com/office/drawing/2014/main" id="{CD2E387A-9789-DDBB-81D6-EDA51B8216A1}"/>
              </a:ext>
            </a:extLst>
          </p:cNvPr>
          <p:cNvSpPr txBox="1">
            <a:spLocks/>
          </p:cNvSpPr>
          <p:nvPr/>
        </p:nvSpPr>
        <p:spPr>
          <a:xfrm>
            <a:off x="612648" y="3855899"/>
            <a:ext cx="3374136" cy="533221"/>
          </a:xfrm>
          <a:prstGeom prst="rect">
            <a:avLst/>
          </a:prstGeom>
        </p:spPr>
        <p:txBody>
          <a:bodyPr/>
          <a:lst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CO" sz="2000" b="1" dirty="0">
                <a:solidFill>
                  <a:schemeClr val="bg1"/>
                </a:solidFill>
              </a:rPr>
              <a:t>Gestionar los beneficios</a:t>
            </a:r>
          </a:p>
        </p:txBody>
      </p:sp>
    </p:spTree>
    <p:extLst>
      <p:ext uri="{BB962C8B-B14F-4D97-AF65-F5344CB8AC3E}">
        <p14:creationId xmlns:p14="http://schemas.microsoft.com/office/powerpoint/2010/main" val="1275663839"/>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4E9FEC-4318-FD59-0756-62C69BAC8CE4}"/>
            </a:ext>
          </a:extLst>
        </p:cNvPr>
        <p:cNvGrpSpPr/>
        <p:nvPr/>
      </p:nvGrpSpPr>
      <p:grpSpPr>
        <a:xfrm>
          <a:off x="0" y="0"/>
          <a:ext cx="0" cy="0"/>
          <a:chOff x="0" y="0"/>
          <a:chExt cx="0" cy="0"/>
        </a:xfrm>
      </p:grpSpPr>
      <p:sp>
        <p:nvSpPr>
          <p:cNvPr id="3" name="Título 3">
            <a:extLst>
              <a:ext uri="{FF2B5EF4-FFF2-40B4-BE49-F238E27FC236}">
                <a16:creationId xmlns:a16="http://schemas.microsoft.com/office/drawing/2014/main" id="{18C11E5E-D558-2AB6-C65F-6C548D09EAD3}"/>
              </a:ext>
            </a:extLst>
          </p:cNvPr>
          <p:cNvSpPr txBox="1">
            <a:spLocks/>
          </p:cNvSpPr>
          <p:nvPr/>
        </p:nvSpPr>
        <p:spPr>
          <a:xfrm>
            <a:off x="1160356" y="508938"/>
            <a:ext cx="7371640" cy="578351"/>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dirty="0">
                <a:solidFill>
                  <a:schemeClr val="accent1"/>
                </a:solidFill>
              </a:rPr>
              <a:t>Operación: </a:t>
            </a:r>
            <a:r>
              <a:rPr lang="es-CO" sz="3200" dirty="0"/>
              <a:t>TSACONR Revisar Contrato</a:t>
            </a:r>
            <a:endParaRPr lang="es-CL" b="0" dirty="0"/>
          </a:p>
        </p:txBody>
      </p:sp>
      <p:sp>
        <p:nvSpPr>
          <p:cNvPr id="4" name="Rectángulo redondeado 5">
            <a:extLst>
              <a:ext uri="{FF2B5EF4-FFF2-40B4-BE49-F238E27FC236}">
                <a16:creationId xmlns:a16="http://schemas.microsoft.com/office/drawing/2014/main" id="{F82B6C2F-81B7-9F9A-A97F-EAE339B03B77}"/>
              </a:ext>
            </a:extLst>
          </p:cNvPr>
          <p:cNvSpPr/>
          <p:nvPr/>
        </p:nvSpPr>
        <p:spPr>
          <a:xfrm>
            <a:off x="1304398" y="3697754"/>
            <a:ext cx="9476639" cy="73339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dirty="0"/>
              <a:t>Revisión contrato aplicado con el tercero:</a:t>
            </a:r>
          </a:p>
          <a:p>
            <a:r>
              <a:rPr lang="es-CO" sz="1200" dirty="0"/>
              <a:t>Al ingresar a la forma </a:t>
            </a:r>
            <a:r>
              <a:rPr lang="es-CO" sz="1200" b="1" dirty="0"/>
              <a:t>TSACONR</a:t>
            </a:r>
            <a:r>
              <a:rPr lang="es-CO" sz="1200" dirty="0"/>
              <a:t>, se podrán visualizar todos los contratos celebrados por parte de un ID de un tercero identificando, además los estudiantes a quienes le corresponde respectivamente ese cargo generado en la cuenta corriente del tercero.</a:t>
            </a:r>
          </a:p>
        </p:txBody>
      </p:sp>
      <p:sp>
        <p:nvSpPr>
          <p:cNvPr id="6" name="Rectángulo redondeado 5">
            <a:extLst>
              <a:ext uri="{FF2B5EF4-FFF2-40B4-BE49-F238E27FC236}">
                <a16:creationId xmlns:a16="http://schemas.microsoft.com/office/drawing/2014/main" id="{2A12CB67-DB9D-3D50-10EE-E7BC3014BDD8}"/>
              </a:ext>
            </a:extLst>
          </p:cNvPr>
          <p:cNvSpPr/>
          <p:nvPr/>
        </p:nvSpPr>
        <p:spPr>
          <a:xfrm>
            <a:off x="1304399" y="4890472"/>
            <a:ext cx="9476639" cy="610009"/>
          </a:xfrm>
          <a:prstGeom prst="roundRect">
            <a:avLst/>
          </a:prstGeom>
          <a:ln/>
        </p:spPr>
        <p:style>
          <a:lnRef idx="1">
            <a:schemeClr val="accent2"/>
          </a:lnRef>
          <a:fillRef idx="2">
            <a:schemeClr val="accent2"/>
          </a:fillRef>
          <a:effectRef idx="1">
            <a:schemeClr val="accent2"/>
          </a:effectRef>
          <a:fontRef idx="minor">
            <a:schemeClr val="dk1"/>
          </a:fontRef>
        </p:style>
        <p:txBody>
          <a:bodyPr rtlCol="0" anchor="ctr"/>
          <a:lstStyle/>
          <a:p>
            <a:r>
              <a:rPr lang="es-ES" sz="1200" dirty="0"/>
              <a:t>Para acceder a la información es necesario ingresar el ID del tercero, y como opcionales se pueden utilizar el número de contrato, el periodo académico y/o el ID de un alumno en particular.</a:t>
            </a:r>
            <a:endParaRPr lang="es-CL" sz="1200" dirty="0"/>
          </a:p>
        </p:txBody>
      </p:sp>
      <p:pic>
        <p:nvPicPr>
          <p:cNvPr id="9" name="Imagen 8">
            <a:extLst>
              <a:ext uri="{FF2B5EF4-FFF2-40B4-BE49-F238E27FC236}">
                <a16:creationId xmlns:a16="http://schemas.microsoft.com/office/drawing/2014/main" id="{1A8954AD-0497-3CDC-6CF9-B0FD55476BF4}"/>
              </a:ext>
            </a:extLst>
          </p:cNvPr>
          <p:cNvPicPr>
            <a:picLocks noChangeAspect="1"/>
          </p:cNvPicPr>
          <p:nvPr/>
        </p:nvPicPr>
        <p:blipFill>
          <a:blip r:embed="rId2"/>
          <a:stretch>
            <a:fillRect/>
          </a:stretch>
        </p:blipFill>
        <p:spPr>
          <a:xfrm>
            <a:off x="1304400" y="1662523"/>
            <a:ext cx="9583200" cy="1386845"/>
          </a:xfrm>
          <a:prstGeom prst="rect">
            <a:avLst/>
          </a:prstGeom>
        </p:spPr>
      </p:pic>
    </p:spTree>
    <p:extLst>
      <p:ext uri="{BB962C8B-B14F-4D97-AF65-F5344CB8AC3E}">
        <p14:creationId xmlns:p14="http://schemas.microsoft.com/office/powerpoint/2010/main" val="233577386"/>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D8A72-2CC9-9386-E260-936E1B7B6DA0}"/>
            </a:ext>
          </a:extLst>
        </p:cNvPr>
        <p:cNvGrpSpPr/>
        <p:nvPr/>
      </p:nvGrpSpPr>
      <p:grpSpPr>
        <a:xfrm>
          <a:off x="0" y="0"/>
          <a:ext cx="0" cy="0"/>
          <a:chOff x="0" y="0"/>
          <a:chExt cx="0" cy="0"/>
        </a:xfrm>
      </p:grpSpPr>
      <p:sp>
        <p:nvSpPr>
          <p:cNvPr id="3" name="Título 3">
            <a:extLst>
              <a:ext uri="{FF2B5EF4-FFF2-40B4-BE49-F238E27FC236}">
                <a16:creationId xmlns:a16="http://schemas.microsoft.com/office/drawing/2014/main" id="{CCE2D8CE-42B8-43E4-F80F-E7282C6FC654}"/>
              </a:ext>
            </a:extLst>
          </p:cNvPr>
          <p:cNvSpPr txBox="1">
            <a:spLocks/>
          </p:cNvSpPr>
          <p:nvPr/>
        </p:nvSpPr>
        <p:spPr>
          <a:xfrm>
            <a:off x="892250" y="516419"/>
            <a:ext cx="7371640" cy="578351"/>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dirty="0">
                <a:solidFill>
                  <a:schemeClr val="accent1"/>
                </a:solidFill>
              </a:rPr>
              <a:t>Operación: </a:t>
            </a:r>
            <a:r>
              <a:rPr lang="es-CO" sz="3200" dirty="0"/>
              <a:t>TSACONR Revisar Contrato</a:t>
            </a:r>
            <a:endParaRPr lang="es-CL" b="0" dirty="0"/>
          </a:p>
        </p:txBody>
      </p:sp>
      <p:sp>
        <p:nvSpPr>
          <p:cNvPr id="4" name="Rectángulo redondeado 5">
            <a:extLst>
              <a:ext uri="{FF2B5EF4-FFF2-40B4-BE49-F238E27FC236}">
                <a16:creationId xmlns:a16="http://schemas.microsoft.com/office/drawing/2014/main" id="{C97A8B90-650D-4B0C-1E00-B8B8A09F73E1}"/>
              </a:ext>
            </a:extLst>
          </p:cNvPr>
          <p:cNvSpPr/>
          <p:nvPr/>
        </p:nvSpPr>
        <p:spPr>
          <a:xfrm>
            <a:off x="1029436" y="5147565"/>
            <a:ext cx="9583200" cy="73339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ES" sz="1200" b="1" dirty="0"/>
              <a:t>Revisión contrato aplicado con el tercero:</a:t>
            </a:r>
          </a:p>
          <a:p>
            <a:pPr algn="just"/>
            <a:r>
              <a:rPr lang="es-ES" sz="1200" dirty="0"/>
              <a:t>Al ingresar a la forma se puede visualizar la relación entre el ID del estudiante y la transacción de cargo generado por la aplicación asociados por contratos. Adicionalmente a dicha transacción se visualizan los valores de cargo y saldo respectivo.</a:t>
            </a:r>
            <a:endParaRPr lang="es-CL" sz="1200" dirty="0"/>
          </a:p>
        </p:txBody>
      </p:sp>
      <p:pic>
        <p:nvPicPr>
          <p:cNvPr id="5" name="Imagen 4">
            <a:extLst>
              <a:ext uri="{FF2B5EF4-FFF2-40B4-BE49-F238E27FC236}">
                <a16:creationId xmlns:a16="http://schemas.microsoft.com/office/drawing/2014/main" id="{EA41DA1D-D3DC-825C-AE59-D5BFFD08FDA8}"/>
              </a:ext>
            </a:extLst>
          </p:cNvPr>
          <p:cNvPicPr>
            <a:picLocks noChangeAspect="1"/>
          </p:cNvPicPr>
          <p:nvPr/>
        </p:nvPicPr>
        <p:blipFill>
          <a:blip r:embed="rId2"/>
          <a:stretch>
            <a:fillRect/>
          </a:stretch>
        </p:blipFill>
        <p:spPr>
          <a:xfrm>
            <a:off x="995764" y="1178474"/>
            <a:ext cx="9583200" cy="3681992"/>
          </a:xfrm>
          <a:prstGeom prst="rect">
            <a:avLst/>
          </a:prstGeom>
        </p:spPr>
      </p:pic>
    </p:spTree>
    <p:extLst>
      <p:ext uri="{BB962C8B-B14F-4D97-AF65-F5344CB8AC3E}">
        <p14:creationId xmlns:p14="http://schemas.microsoft.com/office/powerpoint/2010/main" val="3503503150"/>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A52A55-EF4D-745E-DC46-C692A46D5D77}"/>
            </a:ext>
          </a:extLst>
        </p:cNvPr>
        <p:cNvGrpSpPr/>
        <p:nvPr/>
      </p:nvGrpSpPr>
      <p:grpSpPr>
        <a:xfrm>
          <a:off x="0" y="0"/>
          <a:ext cx="0" cy="0"/>
          <a:chOff x="0" y="0"/>
          <a:chExt cx="0" cy="0"/>
        </a:xfrm>
      </p:grpSpPr>
      <p:sp>
        <p:nvSpPr>
          <p:cNvPr id="3" name="Título 3">
            <a:extLst>
              <a:ext uri="{FF2B5EF4-FFF2-40B4-BE49-F238E27FC236}">
                <a16:creationId xmlns:a16="http://schemas.microsoft.com/office/drawing/2014/main" id="{E091E026-F72A-000F-68C4-DB3453426682}"/>
              </a:ext>
            </a:extLst>
          </p:cNvPr>
          <p:cNvSpPr txBox="1">
            <a:spLocks/>
          </p:cNvSpPr>
          <p:nvPr/>
        </p:nvSpPr>
        <p:spPr>
          <a:xfrm>
            <a:off x="1178644" y="479596"/>
            <a:ext cx="7371640" cy="578351"/>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dirty="0">
                <a:solidFill>
                  <a:schemeClr val="accent1"/>
                </a:solidFill>
              </a:rPr>
              <a:t>Operación: </a:t>
            </a:r>
            <a:r>
              <a:rPr lang="es-CO" sz="3200" dirty="0"/>
              <a:t>TSACONR Revisar Contrato</a:t>
            </a:r>
            <a:endParaRPr lang="es-CL" b="0" dirty="0"/>
          </a:p>
        </p:txBody>
      </p:sp>
      <p:sp>
        <p:nvSpPr>
          <p:cNvPr id="4" name="Rectángulo redondeado 5">
            <a:extLst>
              <a:ext uri="{FF2B5EF4-FFF2-40B4-BE49-F238E27FC236}">
                <a16:creationId xmlns:a16="http://schemas.microsoft.com/office/drawing/2014/main" id="{5FDED5FF-9581-C2C1-1B79-26081CDA7592}"/>
              </a:ext>
            </a:extLst>
          </p:cNvPr>
          <p:cNvSpPr/>
          <p:nvPr/>
        </p:nvSpPr>
        <p:spPr>
          <a:xfrm>
            <a:off x="1178644" y="5019167"/>
            <a:ext cx="9583200" cy="876807"/>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O" sz="1200" b="1" dirty="0"/>
              <a:t>Revisión contrato aplicado con el tercero:</a:t>
            </a:r>
          </a:p>
          <a:p>
            <a:pPr algn="just"/>
            <a:r>
              <a:rPr lang="es-CO" sz="1200" dirty="0"/>
              <a:t>En la pestaña referencia cruzada, se visualiza el código de detalle y el origen de la transacción del cargo, del cual se calculó el monto que finalmente fue aplicado en la cuenta corriente de cada estudiante por el proceso </a:t>
            </a:r>
            <a:r>
              <a:rPr lang="es-CO" sz="1200" b="1" dirty="0"/>
              <a:t>TSASPAY </a:t>
            </a:r>
            <a:r>
              <a:rPr lang="es-CO" sz="1200" dirty="0"/>
              <a:t>o</a:t>
            </a:r>
            <a:r>
              <a:rPr lang="es-CO" sz="1200" b="1" dirty="0"/>
              <a:t> TSRRBIL</a:t>
            </a:r>
          </a:p>
        </p:txBody>
      </p:sp>
      <p:pic>
        <p:nvPicPr>
          <p:cNvPr id="5" name="Imagen 4">
            <a:extLst>
              <a:ext uri="{FF2B5EF4-FFF2-40B4-BE49-F238E27FC236}">
                <a16:creationId xmlns:a16="http://schemas.microsoft.com/office/drawing/2014/main" id="{CCBAFCAB-D825-0856-4C7C-50BA1499329A}"/>
              </a:ext>
            </a:extLst>
          </p:cNvPr>
          <p:cNvPicPr>
            <a:picLocks noChangeAspect="1"/>
          </p:cNvPicPr>
          <p:nvPr/>
        </p:nvPicPr>
        <p:blipFill>
          <a:blip r:embed="rId2"/>
          <a:stretch>
            <a:fillRect/>
          </a:stretch>
        </p:blipFill>
        <p:spPr>
          <a:xfrm>
            <a:off x="1178644" y="1181975"/>
            <a:ext cx="9583200" cy="3604965"/>
          </a:xfrm>
          <a:prstGeom prst="rect">
            <a:avLst/>
          </a:prstGeom>
        </p:spPr>
      </p:pic>
    </p:spTree>
    <p:extLst>
      <p:ext uri="{BB962C8B-B14F-4D97-AF65-F5344CB8AC3E}">
        <p14:creationId xmlns:p14="http://schemas.microsoft.com/office/powerpoint/2010/main" val="2891374810"/>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DD74B1-A15D-7299-5BB8-09D8E61BB0F0}"/>
            </a:ext>
          </a:extLst>
        </p:cNvPr>
        <p:cNvGrpSpPr/>
        <p:nvPr/>
      </p:nvGrpSpPr>
      <p:grpSpPr>
        <a:xfrm>
          <a:off x="0" y="0"/>
          <a:ext cx="0" cy="0"/>
          <a:chOff x="0" y="0"/>
          <a:chExt cx="0" cy="0"/>
        </a:xfrm>
      </p:grpSpPr>
      <p:sp>
        <p:nvSpPr>
          <p:cNvPr id="5" name="CuadroTexto 4">
            <a:extLst>
              <a:ext uri="{FF2B5EF4-FFF2-40B4-BE49-F238E27FC236}">
                <a16:creationId xmlns:a16="http://schemas.microsoft.com/office/drawing/2014/main" id="{81761D34-7CC5-62F6-002E-47306F1AD826}"/>
              </a:ext>
            </a:extLst>
          </p:cNvPr>
          <p:cNvSpPr txBox="1"/>
          <p:nvPr/>
        </p:nvSpPr>
        <p:spPr>
          <a:xfrm>
            <a:off x="612648" y="2840236"/>
            <a:ext cx="10762488" cy="1015663"/>
          </a:xfrm>
          <a:prstGeom prst="rect">
            <a:avLst/>
          </a:prstGeom>
          <a:noFill/>
        </p:spPr>
        <p:txBody>
          <a:bodyPr wrap="square">
            <a:spAutoFit/>
          </a:bodyPr>
          <a:lstStyle/>
          <a:p>
            <a:r>
              <a:rPr lang="es-CO" sz="6000" b="1" dirty="0">
                <a:solidFill>
                  <a:schemeClr val="bg1"/>
                </a:solidFill>
              </a:rPr>
              <a:t>Rolado de Contratos</a:t>
            </a:r>
            <a:endParaRPr lang="en-US" sz="6000" b="1" dirty="0">
              <a:solidFill>
                <a:schemeClr val="bg1"/>
              </a:solidFill>
            </a:endParaRPr>
          </a:p>
        </p:txBody>
      </p:sp>
      <p:sp>
        <p:nvSpPr>
          <p:cNvPr id="2" name="Text Placeholder 16">
            <a:extLst>
              <a:ext uri="{FF2B5EF4-FFF2-40B4-BE49-F238E27FC236}">
                <a16:creationId xmlns:a16="http://schemas.microsoft.com/office/drawing/2014/main" id="{BCEA3987-9DB1-13E4-53EF-3F263B4589B5}"/>
              </a:ext>
            </a:extLst>
          </p:cNvPr>
          <p:cNvSpPr txBox="1">
            <a:spLocks/>
          </p:cNvSpPr>
          <p:nvPr/>
        </p:nvSpPr>
        <p:spPr>
          <a:xfrm>
            <a:off x="612648" y="3855899"/>
            <a:ext cx="3374136" cy="533221"/>
          </a:xfrm>
          <a:prstGeom prst="rect">
            <a:avLst/>
          </a:prstGeom>
        </p:spPr>
        <p:txBody>
          <a:bodyPr/>
          <a:lst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CO" sz="2000" b="1" dirty="0">
                <a:solidFill>
                  <a:schemeClr val="bg1"/>
                </a:solidFill>
              </a:rPr>
              <a:t>Gestionar los beneficios</a:t>
            </a:r>
          </a:p>
        </p:txBody>
      </p:sp>
    </p:spTree>
    <p:extLst>
      <p:ext uri="{BB962C8B-B14F-4D97-AF65-F5344CB8AC3E}">
        <p14:creationId xmlns:p14="http://schemas.microsoft.com/office/powerpoint/2010/main" val="3089441785"/>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C5AE6F-9521-A884-1C83-309A3A8358BB}"/>
            </a:ext>
          </a:extLst>
        </p:cNvPr>
        <p:cNvGrpSpPr/>
        <p:nvPr/>
      </p:nvGrpSpPr>
      <p:grpSpPr>
        <a:xfrm>
          <a:off x="0" y="0"/>
          <a:ext cx="0" cy="0"/>
          <a:chOff x="0" y="0"/>
          <a:chExt cx="0" cy="0"/>
        </a:xfrm>
      </p:grpSpPr>
      <p:sp>
        <p:nvSpPr>
          <p:cNvPr id="3" name="Título 3">
            <a:extLst>
              <a:ext uri="{FF2B5EF4-FFF2-40B4-BE49-F238E27FC236}">
                <a16:creationId xmlns:a16="http://schemas.microsoft.com/office/drawing/2014/main" id="{E3FD5E12-4D29-7A18-30A1-FB6470FD310E}"/>
              </a:ext>
            </a:extLst>
          </p:cNvPr>
          <p:cNvSpPr txBox="1">
            <a:spLocks/>
          </p:cNvSpPr>
          <p:nvPr/>
        </p:nvSpPr>
        <p:spPr>
          <a:xfrm>
            <a:off x="1186001" y="126103"/>
            <a:ext cx="7371640" cy="578351"/>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dirty="0">
                <a:solidFill>
                  <a:schemeClr val="accent1"/>
                </a:solidFill>
              </a:rPr>
              <a:t>Operación: </a:t>
            </a:r>
            <a:r>
              <a:rPr lang="es-CO" sz="3200" dirty="0"/>
              <a:t>TSRROLL Paso de Contratos</a:t>
            </a:r>
            <a:endParaRPr lang="es-CL" b="0" dirty="0"/>
          </a:p>
        </p:txBody>
      </p:sp>
      <p:sp>
        <p:nvSpPr>
          <p:cNvPr id="4" name="Rectángulo redondeado 5">
            <a:extLst>
              <a:ext uri="{FF2B5EF4-FFF2-40B4-BE49-F238E27FC236}">
                <a16:creationId xmlns:a16="http://schemas.microsoft.com/office/drawing/2014/main" id="{2D6AD2B6-93A6-3FC6-2CC4-4732689D0D85}"/>
              </a:ext>
            </a:extLst>
          </p:cNvPr>
          <p:cNvSpPr/>
          <p:nvPr/>
        </p:nvSpPr>
        <p:spPr>
          <a:xfrm>
            <a:off x="1304400" y="5131649"/>
            <a:ext cx="5570272" cy="384998"/>
          </a:xfrm>
          <a:prstGeom prst="roundRect">
            <a:avLst/>
          </a:prstGeom>
          <a:ln/>
        </p:spPr>
        <p:style>
          <a:lnRef idx="1">
            <a:schemeClr val="accent2"/>
          </a:lnRef>
          <a:fillRef idx="2">
            <a:schemeClr val="accent2"/>
          </a:fillRef>
          <a:effectRef idx="1">
            <a:schemeClr val="accent2"/>
          </a:effectRef>
          <a:fontRef idx="minor">
            <a:schemeClr val="dk1"/>
          </a:fontRef>
        </p:style>
        <p:txBody>
          <a:bodyPr rtlCol="0" anchor="ctr"/>
          <a:lstStyle/>
          <a:p>
            <a:pPr algn="just"/>
            <a:r>
              <a:rPr lang="es-ES_tradnl" sz="1200" b="1" dirty="0"/>
              <a:t>Rolado de un periodo a otro</a:t>
            </a:r>
            <a:r>
              <a:rPr lang="es-ES_tradnl" sz="1200" dirty="0"/>
              <a:t>:</a:t>
            </a:r>
          </a:p>
          <a:p>
            <a:pPr algn="just"/>
            <a:r>
              <a:rPr lang="es-ES_tradnl" sz="1200" dirty="0"/>
              <a:t>Esta aplicación se puede ejecutar tanto para exenciones como para contratos.</a:t>
            </a:r>
          </a:p>
        </p:txBody>
      </p:sp>
      <p:pic>
        <p:nvPicPr>
          <p:cNvPr id="5" name="Imagen 4">
            <a:extLst>
              <a:ext uri="{FF2B5EF4-FFF2-40B4-BE49-F238E27FC236}">
                <a16:creationId xmlns:a16="http://schemas.microsoft.com/office/drawing/2014/main" id="{2A1F25B7-2A07-3793-4213-F0F698EEC9FC}"/>
              </a:ext>
            </a:extLst>
          </p:cNvPr>
          <p:cNvPicPr>
            <a:picLocks noChangeAspect="1"/>
          </p:cNvPicPr>
          <p:nvPr/>
        </p:nvPicPr>
        <p:blipFill>
          <a:blip r:embed="rId2"/>
          <a:stretch>
            <a:fillRect/>
          </a:stretch>
        </p:blipFill>
        <p:spPr>
          <a:xfrm>
            <a:off x="1304400" y="704454"/>
            <a:ext cx="9583200" cy="4301436"/>
          </a:xfrm>
          <a:prstGeom prst="rect">
            <a:avLst/>
          </a:prstGeom>
        </p:spPr>
      </p:pic>
      <p:sp>
        <p:nvSpPr>
          <p:cNvPr id="6" name="Rectángulo redondeado 5">
            <a:extLst>
              <a:ext uri="{FF2B5EF4-FFF2-40B4-BE49-F238E27FC236}">
                <a16:creationId xmlns:a16="http://schemas.microsoft.com/office/drawing/2014/main" id="{309AB799-BFAE-8BC9-2B41-F26D534CD7E7}"/>
              </a:ext>
            </a:extLst>
          </p:cNvPr>
          <p:cNvSpPr/>
          <p:nvPr/>
        </p:nvSpPr>
        <p:spPr>
          <a:xfrm>
            <a:off x="1304400" y="5642406"/>
            <a:ext cx="9583200" cy="620869"/>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ES_tradnl" sz="1200" dirty="0"/>
              <a:t>Tras acceder al proceso TSRROLL, en la sección “Control de Impresora” campo “Impresora” se debe asignar la sentencia </a:t>
            </a:r>
            <a:r>
              <a:rPr lang="es-ES_tradnl" sz="1200" b="1" dirty="0"/>
              <a:t>DATABASE</a:t>
            </a:r>
            <a:r>
              <a:rPr lang="es-ES_tradnl" sz="1200" dirty="0"/>
              <a:t>. Luego, en la sección de “Valores de Parámetro”, se deben asignar los parámetros principales para la ejecución del proceso según corresponda</a:t>
            </a:r>
            <a:endParaRPr lang="es-ES" sz="1200" b="1" dirty="0"/>
          </a:p>
        </p:txBody>
      </p:sp>
    </p:spTree>
    <p:extLst>
      <p:ext uri="{BB962C8B-B14F-4D97-AF65-F5344CB8AC3E}">
        <p14:creationId xmlns:p14="http://schemas.microsoft.com/office/powerpoint/2010/main" val="4030865425"/>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93A0AD-5E3E-2344-603F-D9E9CAB431FD}"/>
            </a:ext>
          </a:extLst>
        </p:cNvPr>
        <p:cNvGrpSpPr/>
        <p:nvPr/>
      </p:nvGrpSpPr>
      <p:grpSpPr>
        <a:xfrm>
          <a:off x="0" y="0"/>
          <a:ext cx="0" cy="0"/>
          <a:chOff x="0" y="0"/>
          <a:chExt cx="0" cy="0"/>
        </a:xfrm>
      </p:grpSpPr>
      <p:sp>
        <p:nvSpPr>
          <p:cNvPr id="3" name="Título 3">
            <a:extLst>
              <a:ext uri="{FF2B5EF4-FFF2-40B4-BE49-F238E27FC236}">
                <a16:creationId xmlns:a16="http://schemas.microsoft.com/office/drawing/2014/main" id="{6382510F-CF71-55B0-A4D2-4018115AB341}"/>
              </a:ext>
            </a:extLst>
          </p:cNvPr>
          <p:cNvSpPr txBox="1">
            <a:spLocks/>
          </p:cNvSpPr>
          <p:nvPr/>
        </p:nvSpPr>
        <p:spPr>
          <a:xfrm>
            <a:off x="1120867" y="126103"/>
            <a:ext cx="7371640" cy="578351"/>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dirty="0">
                <a:solidFill>
                  <a:schemeClr val="accent1"/>
                </a:solidFill>
              </a:rPr>
              <a:t>Operación: </a:t>
            </a:r>
            <a:r>
              <a:rPr lang="es-CO" sz="3200" dirty="0"/>
              <a:t>TSRROLL Paso de Contratos</a:t>
            </a:r>
            <a:endParaRPr lang="es-CL" b="0" dirty="0"/>
          </a:p>
        </p:txBody>
      </p:sp>
      <p:pic>
        <p:nvPicPr>
          <p:cNvPr id="2" name="Imagen 1">
            <a:extLst>
              <a:ext uri="{FF2B5EF4-FFF2-40B4-BE49-F238E27FC236}">
                <a16:creationId xmlns:a16="http://schemas.microsoft.com/office/drawing/2014/main" id="{9E25D175-9739-540B-0BAD-9B4D76F16133}"/>
              </a:ext>
            </a:extLst>
          </p:cNvPr>
          <p:cNvPicPr>
            <a:picLocks noChangeAspect="1"/>
          </p:cNvPicPr>
          <p:nvPr/>
        </p:nvPicPr>
        <p:blipFill>
          <a:blip r:embed="rId2"/>
          <a:stretch>
            <a:fillRect/>
          </a:stretch>
        </p:blipFill>
        <p:spPr>
          <a:xfrm>
            <a:off x="1120867" y="755051"/>
            <a:ext cx="9583200" cy="4320460"/>
          </a:xfrm>
          <a:prstGeom prst="rect">
            <a:avLst/>
          </a:prstGeom>
        </p:spPr>
      </p:pic>
      <p:sp>
        <p:nvSpPr>
          <p:cNvPr id="7" name="Rectángulo redondeado 5">
            <a:extLst>
              <a:ext uri="{FF2B5EF4-FFF2-40B4-BE49-F238E27FC236}">
                <a16:creationId xmlns:a16="http://schemas.microsoft.com/office/drawing/2014/main" id="{9F0C01F8-AFFC-DBBF-F3A8-603C183CF8D2}"/>
              </a:ext>
            </a:extLst>
          </p:cNvPr>
          <p:cNvSpPr/>
          <p:nvPr/>
        </p:nvSpPr>
        <p:spPr>
          <a:xfrm>
            <a:off x="1218320" y="5126108"/>
            <a:ext cx="4166528" cy="109616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ES_tradnl" sz="1200" dirty="0"/>
              <a:t>Parámetros:</a:t>
            </a:r>
          </a:p>
          <a:p>
            <a:pPr algn="just"/>
            <a:r>
              <a:rPr lang="es-ES_tradnl" sz="1200" b="1" dirty="0"/>
              <a:t>01 -</a:t>
            </a:r>
            <a:r>
              <a:rPr lang="es-ES_tradnl" sz="1200" dirty="0"/>
              <a:t> Periodo de origen de los datos</a:t>
            </a:r>
          </a:p>
          <a:p>
            <a:pPr algn="just"/>
            <a:r>
              <a:rPr lang="es-ES_tradnl" sz="1200" b="1" dirty="0"/>
              <a:t>02 - </a:t>
            </a:r>
            <a:r>
              <a:rPr lang="es-ES_tradnl" sz="1200" dirty="0"/>
              <a:t>Periodo de </a:t>
            </a:r>
            <a:r>
              <a:rPr lang="es-ES_tradnl" sz="1200" dirty="0">
                <a:solidFill>
                  <a:schemeClr val="bg1"/>
                </a:solidFill>
              </a:rPr>
              <a:t>destino de los datos</a:t>
            </a:r>
          </a:p>
          <a:p>
            <a:pPr algn="just"/>
            <a:r>
              <a:rPr lang="es-ES_tradnl" sz="1200" b="1" dirty="0">
                <a:solidFill>
                  <a:schemeClr val="bg1"/>
                </a:solidFill>
              </a:rPr>
              <a:t>03</a:t>
            </a:r>
            <a:r>
              <a:rPr lang="es-ES_tradnl" sz="1200" dirty="0">
                <a:solidFill>
                  <a:schemeClr val="bg1"/>
                </a:solidFill>
              </a:rPr>
              <a:t> - Modo de Ejecución = U (Audita (A) o Actualizar (U))</a:t>
            </a:r>
          </a:p>
          <a:p>
            <a:pPr algn="just"/>
            <a:r>
              <a:rPr lang="es-ES_tradnl" sz="1200" b="1" dirty="0">
                <a:solidFill>
                  <a:schemeClr val="bg1"/>
                </a:solidFill>
              </a:rPr>
              <a:t>04</a:t>
            </a:r>
            <a:r>
              <a:rPr lang="es-ES_tradnl" sz="1200" dirty="0">
                <a:solidFill>
                  <a:schemeClr val="bg1"/>
                </a:solidFill>
              </a:rPr>
              <a:t> - Pasar Contrato = Y (Activar para rolar contratos)</a:t>
            </a:r>
          </a:p>
        </p:txBody>
      </p:sp>
      <p:sp>
        <p:nvSpPr>
          <p:cNvPr id="8" name="Rectángulo redondeado 5">
            <a:extLst>
              <a:ext uri="{FF2B5EF4-FFF2-40B4-BE49-F238E27FC236}">
                <a16:creationId xmlns:a16="http://schemas.microsoft.com/office/drawing/2014/main" id="{57C20ADD-CB0C-CEDC-AAD3-01260CFBF9F4}"/>
              </a:ext>
            </a:extLst>
          </p:cNvPr>
          <p:cNvSpPr/>
          <p:nvPr/>
        </p:nvSpPr>
        <p:spPr>
          <a:xfrm>
            <a:off x="6045624" y="5146816"/>
            <a:ext cx="4658443" cy="109616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ES_tradnl" sz="1200" b="1" dirty="0">
                <a:solidFill>
                  <a:schemeClr val="bg1"/>
                </a:solidFill>
              </a:rPr>
              <a:t>05</a:t>
            </a:r>
            <a:r>
              <a:rPr lang="es-ES_tradnl" sz="1200" dirty="0">
                <a:solidFill>
                  <a:schemeClr val="bg1"/>
                </a:solidFill>
              </a:rPr>
              <a:t> - Pasar ID Contrato Origen = Campo opcional </a:t>
            </a:r>
          </a:p>
          <a:p>
            <a:pPr algn="just"/>
            <a:r>
              <a:rPr lang="es-ES_tradnl" sz="1200" b="1" dirty="0">
                <a:solidFill>
                  <a:schemeClr val="bg1"/>
                </a:solidFill>
              </a:rPr>
              <a:t>06 </a:t>
            </a:r>
            <a:r>
              <a:rPr lang="es-ES_tradnl" sz="1200" dirty="0">
                <a:solidFill>
                  <a:schemeClr val="bg1"/>
                </a:solidFill>
              </a:rPr>
              <a:t>- Pasar ID Contrato Destino = Campo opcional</a:t>
            </a:r>
          </a:p>
          <a:p>
            <a:pPr algn="just"/>
            <a:r>
              <a:rPr lang="es-ES_tradnl" sz="1200" b="1" dirty="0">
                <a:solidFill>
                  <a:schemeClr val="bg1"/>
                </a:solidFill>
              </a:rPr>
              <a:t>07 </a:t>
            </a:r>
            <a:r>
              <a:rPr lang="es-ES_tradnl" sz="1200" dirty="0">
                <a:solidFill>
                  <a:schemeClr val="bg1"/>
                </a:solidFill>
              </a:rPr>
              <a:t>- Pasar Texto de Nro. Contrato = Y</a:t>
            </a:r>
          </a:p>
          <a:p>
            <a:pPr algn="just"/>
            <a:r>
              <a:rPr lang="es-ES_tradnl" sz="1200" b="1" dirty="0">
                <a:solidFill>
                  <a:schemeClr val="bg1"/>
                </a:solidFill>
              </a:rPr>
              <a:t>08 </a:t>
            </a:r>
            <a:r>
              <a:rPr lang="es-ES_tradnl" sz="1200" dirty="0">
                <a:solidFill>
                  <a:schemeClr val="bg1"/>
                </a:solidFill>
              </a:rPr>
              <a:t>- Pasar texto de alumno de Contrato = Y</a:t>
            </a:r>
          </a:p>
          <a:p>
            <a:pPr algn="just"/>
            <a:r>
              <a:rPr lang="es-ES_tradnl" sz="1200" b="1" dirty="0">
                <a:solidFill>
                  <a:schemeClr val="bg1"/>
                </a:solidFill>
              </a:rPr>
              <a:t>*09 - </a:t>
            </a:r>
            <a:r>
              <a:rPr lang="es-ES_tradnl" sz="1200" dirty="0">
                <a:solidFill>
                  <a:schemeClr val="bg1"/>
                </a:solidFill>
              </a:rPr>
              <a:t>Pasar Exenciones: </a:t>
            </a:r>
            <a:r>
              <a:rPr lang="es-ES_tradnl" sz="1200" b="1" dirty="0">
                <a:solidFill>
                  <a:schemeClr val="bg1"/>
                </a:solidFill>
              </a:rPr>
              <a:t>N</a:t>
            </a:r>
            <a:r>
              <a:rPr lang="es-ES_tradnl" sz="1200" dirty="0">
                <a:solidFill>
                  <a:schemeClr val="bg1"/>
                </a:solidFill>
              </a:rPr>
              <a:t> </a:t>
            </a:r>
            <a:r>
              <a:rPr lang="es-ES_tradnl" sz="1200" b="1" dirty="0">
                <a:solidFill>
                  <a:schemeClr val="bg1"/>
                </a:solidFill>
              </a:rPr>
              <a:t>(Activar para rolar Exenciones)</a:t>
            </a:r>
          </a:p>
        </p:txBody>
      </p:sp>
    </p:spTree>
    <p:extLst>
      <p:ext uri="{BB962C8B-B14F-4D97-AF65-F5344CB8AC3E}">
        <p14:creationId xmlns:p14="http://schemas.microsoft.com/office/powerpoint/2010/main" val="3576020538"/>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43B4D9-AF49-60DF-4406-B27786013009}"/>
            </a:ext>
          </a:extLst>
        </p:cNvPr>
        <p:cNvGrpSpPr/>
        <p:nvPr/>
      </p:nvGrpSpPr>
      <p:grpSpPr>
        <a:xfrm>
          <a:off x="0" y="0"/>
          <a:ext cx="0" cy="0"/>
          <a:chOff x="0" y="0"/>
          <a:chExt cx="0" cy="0"/>
        </a:xfrm>
      </p:grpSpPr>
      <p:sp>
        <p:nvSpPr>
          <p:cNvPr id="3" name="Título 3">
            <a:extLst>
              <a:ext uri="{FF2B5EF4-FFF2-40B4-BE49-F238E27FC236}">
                <a16:creationId xmlns:a16="http://schemas.microsoft.com/office/drawing/2014/main" id="{26E32C0B-DD81-A6AB-245C-EC075D9D0DA8}"/>
              </a:ext>
            </a:extLst>
          </p:cNvPr>
          <p:cNvSpPr txBox="1">
            <a:spLocks/>
          </p:cNvSpPr>
          <p:nvPr/>
        </p:nvSpPr>
        <p:spPr>
          <a:xfrm>
            <a:off x="1163141" y="224757"/>
            <a:ext cx="7371640" cy="578351"/>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dirty="0">
                <a:solidFill>
                  <a:schemeClr val="accent1"/>
                </a:solidFill>
              </a:rPr>
              <a:t>Operación: </a:t>
            </a:r>
            <a:r>
              <a:rPr lang="es-CO" sz="3200" dirty="0"/>
              <a:t>TSRROLL Paso de Contratos</a:t>
            </a:r>
            <a:endParaRPr lang="es-CL" b="0" dirty="0"/>
          </a:p>
        </p:txBody>
      </p:sp>
      <p:sp>
        <p:nvSpPr>
          <p:cNvPr id="8" name="Rectángulo redondeado 5">
            <a:extLst>
              <a:ext uri="{FF2B5EF4-FFF2-40B4-BE49-F238E27FC236}">
                <a16:creationId xmlns:a16="http://schemas.microsoft.com/office/drawing/2014/main" id="{E2816AD6-DE43-9064-C88D-5B36030D56C4}"/>
              </a:ext>
            </a:extLst>
          </p:cNvPr>
          <p:cNvSpPr/>
          <p:nvPr/>
        </p:nvSpPr>
        <p:spPr>
          <a:xfrm>
            <a:off x="1304400" y="5744497"/>
            <a:ext cx="8792363" cy="459736"/>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dirty="0"/>
              <a:t>Ingresados los parámetros, en la sección “Envío” seleccionar el Check “Guardar parámetros como” y dar al botón “Guardar”.</a:t>
            </a:r>
          </a:p>
        </p:txBody>
      </p:sp>
      <p:pic>
        <p:nvPicPr>
          <p:cNvPr id="5" name="Imagen 4">
            <a:extLst>
              <a:ext uri="{FF2B5EF4-FFF2-40B4-BE49-F238E27FC236}">
                <a16:creationId xmlns:a16="http://schemas.microsoft.com/office/drawing/2014/main" id="{FFA65039-3E94-E6AE-BD90-FB6F3B1B27A5}"/>
              </a:ext>
            </a:extLst>
          </p:cNvPr>
          <p:cNvPicPr>
            <a:picLocks noChangeAspect="1"/>
          </p:cNvPicPr>
          <p:nvPr/>
        </p:nvPicPr>
        <p:blipFill>
          <a:blip r:embed="rId2"/>
          <a:stretch>
            <a:fillRect/>
          </a:stretch>
        </p:blipFill>
        <p:spPr>
          <a:xfrm>
            <a:off x="1304400" y="803108"/>
            <a:ext cx="9583200" cy="4283552"/>
          </a:xfrm>
          <a:prstGeom prst="rect">
            <a:avLst/>
          </a:prstGeom>
        </p:spPr>
      </p:pic>
      <p:pic>
        <p:nvPicPr>
          <p:cNvPr id="9" name="Imagen 8">
            <a:extLst>
              <a:ext uri="{FF2B5EF4-FFF2-40B4-BE49-F238E27FC236}">
                <a16:creationId xmlns:a16="http://schemas.microsoft.com/office/drawing/2014/main" id="{492BBB40-88FC-D4DA-ED6F-2457233D769B}"/>
              </a:ext>
            </a:extLst>
          </p:cNvPr>
          <p:cNvPicPr>
            <a:picLocks noChangeAspect="1"/>
          </p:cNvPicPr>
          <p:nvPr/>
        </p:nvPicPr>
        <p:blipFill>
          <a:blip r:embed="rId3"/>
          <a:stretch>
            <a:fillRect/>
          </a:stretch>
        </p:blipFill>
        <p:spPr>
          <a:xfrm>
            <a:off x="1304400" y="5115073"/>
            <a:ext cx="9583200" cy="329080"/>
          </a:xfrm>
          <a:prstGeom prst="rect">
            <a:avLst/>
          </a:prstGeom>
        </p:spPr>
      </p:pic>
    </p:spTree>
    <p:extLst>
      <p:ext uri="{BB962C8B-B14F-4D97-AF65-F5344CB8AC3E}">
        <p14:creationId xmlns:p14="http://schemas.microsoft.com/office/powerpoint/2010/main" val="3728215561"/>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6BE5FE-8C1D-3CC4-6BB1-86ECAA607D93}"/>
            </a:ext>
          </a:extLst>
        </p:cNvPr>
        <p:cNvGrpSpPr/>
        <p:nvPr/>
      </p:nvGrpSpPr>
      <p:grpSpPr>
        <a:xfrm>
          <a:off x="0" y="0"/>
          <a:ext cx="0" cy="0"/>
          <a:chOff x="0" y="0"/>
          <a:chExt cx="0" cy="0"/>
        </a:xfrm>
      </p:grpSpPr>
      <p:sp>
        <p:nvSpPr>
          <p:cNvPr id="3" name="Título 3">
            <a:extLst>
              <a:ext uri="{FF2B5EF4-FFF2-40B4-BE49-F238E27FC236}">
                <a16:creationId xmlns:a16="http://schemas.microsoft.com/office/drawing/2014/main" id="{913F45E9-C7E1-872B-ABE7-1429A93A4D59}"/>
              </a:ext>
            </a:extLst>
          </p:cNvPr>
          <p:cNvSpPr txBox="1">
            <a:spLocks/>
          </p:cNvSpPr>
          <p:nvPr/>
        </p:nvSpPr>
        <p:spPr>
          <a:xfrm>
            <a:off x="1183767" y="887895"/>
            <a:ext cx="7371640" cy="578351"/>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dirty="0">
                <a:solidFill>
                  <a:schemeClr val="accent1"/>
                </a:solidFill>
              </a:rPr>
              <a:t>Operación: </a:t>
            </a:r>
            <a:r>
              <a:rPr lang="es-CO" sz="3200" dirty="0"/>
              <a:t>TSRROLL Paso de Contratos</a:t>
            </a:r>
            <a:endParaRPr lang="es-CL" b="0" dirty="0"/>
          </a:p>
        </p:txBody>
      </p:sp>
      <p:sp>
        <p:nvSpPr>
          <p:cNvPr id="7" name="Rectángulo redondeado 5">
            <a:extLst>
              <a:ext uri="{FF2B5EF4-FFF2-40B4-BE49-F238E27FC236}">
                <a16:creationId xmlns:a16="http://schemas.microsoft.com/office/drawing/2014/main" id="{D159E05C-E2D9-8E90-CE76-ADBC30CB03B7}"/>
              </a:ext>
            </a:extLst>
          </p:cNvPr>
          <p:cNvSpPr/>
          <p:nvPr/>
        </p:nvSpPr>
        <p:spPr>
          <a:xfrm>
            <a:off x="1304400" y="3600017"/>
            <a:ext cx="5829825" cy="50727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O" sz="1200">
                <a:solidFill>
                  <a:schemeClr val="bg1"/>
                </a:solidFill>
              </a:rPr>
              <a:t>Confirmación de la ejecución del Proceso. Generación de los archivos .LIS y .LOG</a:t>
            </a:r>
            <a:endParaRPr lang="es-CO" sz="1200" dirty="0">
              <a:solidFill>
                <a:schemeClr val="bg1"/>
              </a:solidFill>
            </a:endParaRPr>
          </a:p>
        </p:txBody>
      </p:sp>
      <p:pic>
        <p:nvPicPr>
          <p:cNvPr id="5" name="Imagen 4">
            <a:extLst>
              <a:ext uri="{FF2B5EF4-FFF2-40B4-BE49-F238E27FC236}">
                <a16:creationId xmlns:a16="http://schemas.microsoft.com/office/drawing/2014/main" id="{9A0E39EC-1589-BFFC-CACA-949A048B7D17}"/>
              </a:ext>
            </a:extLst>
          </p:cNvPr>
          <p:cNvPicPr>
            <a:picLocks noChangeAspect="1"/>
          </p:cNvPicPr>
          <p:nvPr/>
        </p:nvPicPr>
        <p:blipFill>
          <a:blip r:embed="rId2"/>
          <a:stretch>
            <a:fillRect/>
          </a:stretch>
        </p:blipFill>
        <p:spPr>
          <a:xfrm>
            <a:off x="1304400" y="1922609"/>
            <a:ext cx="9583200" cy="1221045"/>
          </a:xfrm>
          <a:prstGeom prst="rect">
            <a:avLst/>
          </a:prstGeom>
        </p:spPr>
      </p:pic>
    </p:spTree>
    <p:extLst>
      <p:ext uri="{BB962C8B-B14F-4D97-AF65-F5344CB8AC3E}">
        <p14:creationId xmlns:p14="http://schemas.microsoft.com/office/powerpoint/2010/main" val="2294920045"/>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041C5F-6725-FC44-9AAF-424B830941BC}"/>
            </a:ext>
          </a:extLst>
        </p:cNvPr>
        <p:cNvGrpSpPr/>
        <p:nvPr/>
      </p:nvGrpSpPr>
      <p:grpSpPr>
        <a:xfrm>
          <a:off x="0" y="0"/>
          <a:ext cx="0" cy="0"/>
          <a:chOff x="0" y="0"/>
          <a:chExt cx="0" cy="0"/>
        </a:xfrm>
      </p:grpSpPr>
      <p:sp>
        <p:nvSpPr>
          <p:cNvPr id="3" name="Título 3">
            <a:extLst>
              <a:ext uri="{FF2B5EF4-FFF2-40B4-BE49-F238E27FC236}">
                <a16:creationId xmlns:a16="http://schemas.microsoft.com/office/drawing/2014/main" id="{7202EE17-D527-CF40-F572-DA3B3CF7C2B6}"/>
              </a:ext>
            </a:extLst>
          </p:cNvPr>
          <p:cNvSpPr txBox="1">
            <a:spLocks/>
          </p:cNvSpPr>
          <p:nvPr/>
        </p:nvSpPr>
        <p:spPr>
          <a:xfrm>
            <a:off x="1164717" y="729492"/>
            <a:ext cx="7371640" cy="578351"/>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dirty="0">
                <a:solidFill>
                  <a:schemeClr val="accent1"/>
                </a:solidFill>
              </a:rPr>
              <a:t>Operación: </a:t>
            </a:r>
            <a:r>
              <a:rPr lang="es-CO" sz="3200" dirty="0"/>
              <a:t>TSRROLL Paso de Contratos</a:t>
            </a:r>
            <a:endParaRPr lang="es-CL" b="0" dirty="0"/>
          </a:p>
        </p:txBody>
      </p:sp>
      <p:sp>
        <p:nvSpPr>
          <p:cNvPr id="7" name="Rectángulo redondeado 5">
            <a:extLst>
              <a:ext uri="{FF2B5EF4-FFF2-40B4-BE49-F238E27FC236}">
                <a16:creationId xmlns:a16="http://schemas.microsoft.com/office/drawing/2014/main" id="{81DB5660-00EE-BE02-01EA-D7BBDC1DDD56}"/>
              </a:ext>
            </a:extLst>
          </p:cNvPr>
          <p:cNvSpPr/>
          <p:nvPr/>
        </p:nvSpPr>
        <p:spPr>
          <a:xfrm>
            <a:off x="1205129" y="5114106"/>
            <a:ext cx="9610843" cy="801679"/>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b="1" dirty="0"/>
              <a:t>Revisión salida en GJIREVO</a:t>
            </a:r>
            <a:r>
              <a:rPr lang="es-ES_tradnl" sz="1200" dirty="0"/>
              <a:t>:</a:t>
            </a:r>
          </a:p>
          <a:p>
            <a:r>
              <a:rPr lang="es-ES_tradnl" sz="1200" dirty="0"/>
              <a:t>Para revisar los archivos .LIS y .LOG se debe ingresar a la aplicación GJIREVO o bien en la sección superior del menú, en la opción “Relacionado” se desplegaría una serie de opciones.</a:t>
            </a:r>
          </a:p>
        </p:txBody>
      </p:sp>
      <p:pic>
        <p:nvPicPr>
          <p:cNvPr id="2" name="Imagen 1">
            <a:extLst>
              <a:ext uri="{FF2B5EF4-FFF2-40B4-BE49-F238E27FC236}">
                <a16:creationId xmlns:a16="http://schemas.microsoft.com/office/drawing/2014/main" id="{8D6BF707-5EA7-9952-19C4-36A7BF620BEF}"/>
              </a:ext>
            </a:extLst>
          </p:cNvPr>
          <p:cNvPicPr>
            <a:picLocks noChangeAspect="1"/>
          </p:cNvPicPr>
          <p:nvPr/>
        </p:nvPicPr>
        <p:blipFill>
          <a:blip r:embed="rId2"/>
          <a:stretch>
            <a:fillRect/>
          </a:stretch>
        </p:blipFill>
        <p:spPr>
          <a:xfrm>
            <a:off x="1232772" y="1451738"/>
            <a:ext cx="9583200" cy="3124523"/>
          </a:xfrm>
          <a:prstGeom prst="rect">
            <a:avLst/>
          </a:prstGeom>
        </p:spPr>
      </p:pic>
    </p:spTree>
    <p:extLst>
      <p:ext uri="{BB962C8B-B14F-4D97-AF65-F5344CB8AC3E}">
        <p14:creationId xmlns:p14="http://schemas.microsoft.com/office/powerpoint/2010/main" val="2721619338"/>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DB441A-97E1-4EC1-FC7C-17B4197A8567}"/>
            </a:ext>
          </a:extLst>
        </p:cNvPr>
        <p:cNvGrpSpPr/>
        <p:nvPr/>
      </p:nvGrpSpPr>
      <p:grpSpPr>
        <a:xfrm>
          <a:off x="0" y="0"/>
          <a:ext cx="0" cy="0"/>
          <a:chOff x="0" y="0"/>
          <a:chExt cx="0" cy="0"/>
        </a:xfrm>
      </p:grpSpPr>
      <p:sp>
        <p:nvSpPr>
          <p:cNvPr id="3" name="Título 3">
            <a:extLst>
              <a:ext uri="{FF2B5EF4-FFF2-40B4-BE49-F238E27FC236}">
                <a16:creationId xmlns:a16="http://schemas.microsoft.com/office/drawing/2014/main" id="{9E835ADE-0F0A-9AC3-30B7-3052BBE55D22}"/>
              </a:ext>
            </a:extLst>
          </p:cNvPr>
          <p:cNvSpPr txBox="1">
            <a:spLocks/>
          </p:cNvSpPr>
          <p:nvPr/>
        </p:nvSpPr>
        <p:spPr>
          <a:xfrm>
            <a:off x="1167384" y="532426"/>
            <a:ext cx="7371640" cy="578351"/>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dirty="0">
                <a:solidFill>
                  <a:schemeClr val="accent1"/>
                </a:solidFill>
              </a:rPr>
              <a:t>Operación: </a:t>
            </a:r>
            <a:r>
              <a:rPr lang="es-CO" sz="3200" dirty="0"/>
              <a:t>TSRROLL Paso de Contratos</a:t>
            </a:r>
            <a:endParaRPr lang="es-CL" b="0" dirty="0"/>
          </a:p>
        </p:txBody>
      </p:sp>
      <p:sp>
        <p:nvSpPr>
          <p:cNvPr id="7" name="Rectángulo redondeado 5">
            <a:extLst>
              <a:ext uri="{FF2B5EF4-FFF2-40B4-BE49-F238E27FC236}">
                <a16:creationId xmlns:a16="http://schemas.microsoft.com/office/drawing/2014/main" id="{075B7535-0CE2-D0F4-8633-F0D4C62BAE29}"/>
              </a:ext>
            </a:extLst>
          </p:cNvPr>
          <p:cNvSpPr/>
          <p:nvPr/>
        </p:nvSpPr>
        <p:spPr>
          <a:xfrm>
            <a:off x="1304400" y="5754695"/>
            <a:ext cx="7371640" cy="578351"/>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dirty="0"/>
              <a:t>Revisión del archivo .LIS y .LOG. </a:t>
            </a:r>
          </a:p>
          <a:p>
            <a:r>
              <a:rPr lang="es-ES_tradnl" sz="1200" dirty="0"/>
              <a:t>En la ventana emergente se debe seleccionar el archivo a revisar, .LIS o .LOG, seleccionando el botón OK</a:t>
            </a:r>
          </a:p>
        </p:txBody>
      </p:sp>
      <p:pic>
        <p:nvPicPr>
          <p:cNvPr id="4" name="Imagen 3">
            <a:extLst>
              <a:ext uri="{FF2B5EF4-FFF2-40B4-BE49-F238E27FC236}">
                <a16:creationId xmlns:a16="http://schemas.microsoft.com/office/drawing/2014/main" id="{6189B667-2768-BA8B-BD9E-BF6F2A50FDF0}"/>
              </a:ext>
            </a:extLst>
          </p:cNvPr>
          <p:cNvPicPr>
            <a:picLocks noChangeAspect="1"/>
          </p:cNvPicPr>
          <p:nvPr/>
        </p:nvPicPr>
        <p:blipFill>
          <a:blip r:embed="rId2"/>
          <a:stretch>
            <a:fillRect/>
          </a:stretch>
        </p:blipFill>
        <p:spPr>
          <a:xfrm>
            <a:off x="1304400" y="1202953"/>
            <a:ext cx="9583200" cy="4433794"/>
          </a:xfrm>
          <a:prstGeom prst="rect">
            <a:avLst/>
          </a:prstGeom>
        </p:spPr>
      </p:pic>
    </p:spTree>
    <p:extLst>
      <p:ext uri="{BB962C8B-B14F-4D97-AF65-F5344CB8AC3E}">
        <p14:creationId xmlns:p14="http://schemas.microsoft.com/office/powerpoint/2010/main" val="2988813683"/>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5B843F-8477-A080-6C26-DDBEE91E37FA}"/>
            </a:ext>
          </a:extLst>
        </p:cNvPr>
        <p:cNvGrpSpPr/>
        <p:nvPr/>
      </p:nvGrpSpPr>
      <p:grpSpPr>
        <a:xfrm>
          <a:off x="0" y="0"/>
          <a:ext cx="0" cy="0"/>
          <a:chOff x="0" y="0"/>
          <a:chExt cx="0" cy="0"/>
        </a:xfrm>
      </p:grpSpPr>
      <p:sp>
        <p:nvSpPr>
          <p:cNvPr id="3" name="Título 3">
            <a:extLst>
              <a:ext uri="{FF2B5EF4-FFF2-40B4-BE49-F238E27FC236}">
                <a16:creationId xmlns:a16="http://schemas.microsoft.com/office/drawing/2014/main" id="{026F3C9E-20F5-4422-0914-A419648FF7D5}"/>
              </a:ext>
            </a:extLst>
          </p:cNvPr>
          <p:cNvSpPr txBox="1">
            <a:spLocks/>
          </p:cNvSpPr>
          <p:nvPr/>
        </p:nvSpPr>
        <p:spPr>
          <a:xfrm>
            <a:off x="1186434" y="505564"/>
            <a:ext cx="7371640" cy="578351"/>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dirty="0">
                <a:solidFill>
                  <a:schemeClr val="accent1"/>
                </a:solidFill>
              </a:rPr>
              <a:t>Operación: </a:t>
            </a:r>
            <a:r>
              <a:rPr lang="es-CO" sz="3200" dirty="0"/>
              <a:t>TSRROLL Paso de Contratos</a:t>
            </a:r>
            <a:endParaRPr lang="es-CL" b="0" dirty="0"/>
          </a:p>
        </p:txBody>
      </p:sp>
      <p:sp>
        <p:nvSpPr>
          <p:cNvPr id="7" name="Rectángulo redondeado 5">
            <a:extLst>
              <a:ext uri="{FF2B5EF4-FFF2-40B4-BE49-F238E27FC236}">
                <a16:creationId xmlns:a16="http://schemas.microsoft.com/office/drawing/2014/main" id="{FAD4B8E8-73F6-509B-79E6-F05AEC6A6D2F}"/>
              </a:ext>
            </a:extLst>
          </p:cNvPr>
          <p:cNvSpPr/>
          <p:nvPr/>
        </p:nvSpPr>
        <p:spPr>
          <a:xfrm>
            <a:off x="1304400" y="5511546"/>
            <a:ext cx="5153550" cy="494564"/>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dirty="0"/>
              <a:t>El archivo .LIS confirma la actualización de los registros de contrato.</a:t>
            </a:r>
          </a:p>
        </p:txBody>
      </p:sp>
      <p:pic>
        <p:nvPicPr>
          <p:cNvPr id="4" name="Imagen 3">
            <a:extLst>
              <a:ext uri="{FF2B5EF4-FFF2-40B4-BE49-F238E27FC236}">
                <a16:creationId xmlns:a16="http://schemas.microsoft.com/office/drawing/2014/main" id="{27AE4211-7CAA-000B-0F99-425CCFB337B9}"/>
              </a:ext>
            </a:extLst>
          </p:cNvPr>
          <p:cNvPicPr>
            <a:picLocks noChangeAspect="1"/>
          </p:cNvPicPr>
          <p:nvPr/>
        </p:nvPicPr>
        <p:blipFill>
          <a:blip r:embed="rId2"/>
          <a:stretch>
            <a:fillRect/>
          </a:stretch>
        </p:blipFill>
        <p:spPr>
          <a:xfrm>
            <a:off x="1304400" y="1167777"/>
            <a:ext cx="9583200" cy="3874487"/>
          </a:xfrm>
          <a:prstGeom prst="rect">
            <a:avLst/>
          </a:prstGeom>
        </p:spPr>
      </p:pic>
    </p:spTree>
    <p:extLst>
      <p:ext uri="{BB962C8B-B14F-4D97-AF65-F5344CB8AC3E}">
        <p14:creationId xmlns:p14="http://schemas.microsoft.com/office/powerpoint/2010/main" val="3417008115"/>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1B16F6-349C-BA7D-0CCC-6C30104AF3CC}"/>
            </a:ext>
          </a:extLst>
        </p:cNvPr>
        <p:cNvGrpSpPr/>
        <p:nvPr/>
      </p:nvGrpSpPr>
      <p:grpSpPr>
        <a:xfrm>
          <a:off x="0" y="0"/>
          <a:ext cx="0" cy="0"/>
          <a:chOff x="0" y="0"/>
          <a:chExt cx="0" cy="0"/>
        </a:xfrm>
      </p:grpSpPr>
      <p:sp>
        <p:nvSpPr>
          <p:cNvPr id="3" name="Título 3">
            <a:extLst>
              <a:ext uri="{FF2B5EF4-FFF2-40B4-BE49-F238E27FC236}">
                <a16:creationId xmlns:a16="http://schemas.microsoft.com/office/drawing/2014/main" id="{19D8251F-C705-C479-E7DD-FB84A13F90A3}"/>
              </a:ext>
            </a:extLst>
          </p:cNvPr>
          <p:cNvSpPr txBox="1">
            <a:spLocks/>
          </p:cNvSpPr>
          <p:nvPr/>
        </p:nvSpPr>
        <p:spPr>
          <a:xfrm>
            <a:off x="1218675" y="606195"/>
            <a:ext cx="7371640" cy="578351"/>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dirty="0">
                <a:solidFill>
                  <a:schemeClr val="accent1"/>
                </a:solidFill>
              </a:rPr>
              <a:t>Operación: </a:t>
            </a:r>
            <a:r>
              <a:rPr lang="es-CO" sz="3200" dirty="0"/>
              <a:t>TSRROLL Paso de Contratos</a:t>
            </a:r>
            <a:endParaRPr lang="es-CL" b="0" dirty="0"/>
          </a:p>
        </p:txBody>
      </p:sp>
      <p:sp>
        <p:nvSpPr>
          <p:cNvPr id="7" name="Rectángulo redondeado 5">
            <a:extLst>
              <a:ext uri="{FF2B5EF4-FFF2-40B4-BE49-F238E27FC236}">
                <a16:creationId xmlns:a16="http://schemas.microsoft.com/office/drawing/2014/main" id="{2FE640D0-09EB-5BC6-2DC5-1BB26E516544}"/>
              </a:ext>
            </a:extLst>
          </p:cNvPr>
          <p:cNvSpPr/>
          <p:nvPr/>
        </p:nvSpPr>
        <p:spPr>
          <a:xfrm>
            <a:off x="1304400" y="4961815"/>
            <a:ext cx="3479292" cy="494564"/>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dirty="0"/>
              <a:t>El archivo .LOG confirma ejecución completa.</a:t>
            </a:r>
          </a:p>
        </p:txBody>
      </p:sp>
      <p:pic>
        <p:nvPicPr>
          <p:cNvPr id="4" name="Imagen 3">
            <a:extLst>
              <a:ext uri="{FF2B5EF4-FFF2-40B4-BE49-F238E27FC236}">
                <a16:creationId xmlns:a16="http://schemas.microsoft.com/office/drawing/2014/main" id="{31A76DFB-B07A-B3D7-3D93-DF06D8D1F56E}"/>
              </a:ext>
            </a:extLst>
          </p:cNvPr>
          <p:cNvPicPr>
            <a:picLocks noChangeAspect="1"/>
          </p:cNvPicPr>
          <p:nvPr/>
        </p:nvPicPr>
        <p:blipFill>
          <a:blip r:embed="rId2"/>
          <a:stretch>
            <a:fillRect/>
          </a:stretch>
        </p:blipFill>
        <p:spPr>
          <a:xfrm>
            <a:off x="1304400" y="1401621"/>
            <a:ext cx="9583200" cy="3126044"/>
          </a:xfrm>
          <a:prstGeom prst="rect">
            <a:avLst/>
          </a:prstGeom>
        </p:spPr>
      </p:pic>
    </p:spTree>
    <p:extLst>
      <p:ext uri="{BB962C8B-B14F-4D97-AF65-F5344CB8AC3E}">
        <p14:creationId xmlns:p14="http://schemas.microsoft.com/office/powerpoint/2010/main" val="2628189660"/>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AEE0B8-EE73-BF20-E59D-E09CFA56DF5E}"/>
            </a:ext>
          </a:extLst>
        </p:cNvPr>
        <p:cNvGrpSpPr/>
        <p:nvPr/>
      </p:nvGrpSpPr>
      <p:grpSpPr>
        <a:xfrm>
          <a:off x="0" y="0"/>
          <a:ext cx="0" cy="0"/>
          <a:chOff x="0" y="0"/>
          <a:chExt cx="0" cy="0"/>
        </a:xfrm>
      </p:grpSpPr>
      <p:sp>
        <p:nvSpPr>
          <p:cNvPr id="3" name="Título 3">
            <a:extLst>
              <a:ext uri="{FF2B5EF4-FFF2-40B4-BE49-F238E27FC236}">
                <a16:creationId xmlns:a16="http://schemas.microsoft.com/office/drawing/2014/main" id="{DB7B084B-777E-A0AE-3B81-BA72CB1000F6}"/>
              </a:ext>
            </a:extLst>
          </p:cNvPr>
          <p:cNvSpPr txBox="1">
            <a:spLocks/>
          </p:cNvSpPr>
          <p:nvPr/>
        </p:nvSpPr>
        <p:spPr>
          <a:xfrm>
            <a:off x="1227582" y="914579"/>
            <a:ext cx="9043416" cy="578351"/>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dirty="0">
                <a:solidFill>
                  <a:schemeClr val="accent1"/>
                </a:solidFill>
              </a:rPr>
              <a:t>Operación: </a:t>
            </a:r>
            <a:r>
              <a:rPr lang="es-CO" sz="3200" dirty="0"/>
              <a:t>TSACONT Autorización de contrato </a:t>
            </a:r>
            <a:endParaRPr lang="es-CL" b="0" dirty="0"/>
          </a:p>
        </p:txBody>
      </p:sp>
      <p:sp>
        <p:nvSpPr>
          <p:cNvPr id="7" name="Rectángulo redondeado 5">
            <a:extLst>
              <a:ext uri="{FF2B5EF4-FFF2-40B4-BE49-F238E27FC236}">
                <a16:creationId xmlns:a16="http://schemas.microsoft.com/office/drawing/2014/main" id="{C87853E9-2618-80A4-BA24-7329829F4E9E}"/>
              </a:ext>
            </a:extLst>
          </p:cNvPr>
          <p:cNvSpPr/>
          <p:nvPr/>
        </p:nvSpPr>
        <p:spPr>
          <a:xfrm>
            <a:off x="1304400" y="4086882"/>
            <a:ext cx="2948940" cy="494564"/>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dirty="0"/>
              <a:t>Se ratifica el rolado de contrato.</a:t>
            </a:r>
          </a:p>
        </p:txBody>
      </p:sp>
      <p:pic>
        <p:nvPicPr>
          <p:cNvPr id="4" name="Imagen 3">
            <a:extLst>
              <a:ext uri="{FF2B5EF4-FFF2-40B4-BE49-F238E27FC236}">
                <a16:creationId xmlns:a16="http://schemas.microsoft.com/office/drawing/2014/main" id="{86CC674E-9A4C-6931-117A-57AE73481353}"/>
              </a:ext>
            </a:extLst>
          </p:cNvPr>
          <p:cNvPicPr>
            <a:picLocks noChangeAspect="1"/>
          </p:cNvPicPr>
          <p:nvPr/>
        </p:nvPicPr>
        <p:blipFill>
          <a:blip r:embed="rId2"/>
          <a:stretch>
            <a:fillRect/>
          </a:stretch>
        </p:blipFill>
        <p:spPr>
          <a:xfrm>
            <a:off x="1304400" y="1974872"/>
            <a:ext cx="9583200" cy="1726477"/>
          </a:xfrm>
          <a:prstGeom prst="rect">
            <a:avLst/>
          </a:prstGeom>
        </p:spPr>
      </p:pic>
    </p:spTree>
    <p:extLst>
      <p:ext uri="{BB962C8B-B14F-4D97-AF65-F5344CB8AC3E}">
        <p14:creationId xmlns:p14="http://schemas.microsoft.com/office/powerpoint/2010/main" val="1328859892"/>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C8D118-A6B6-BD43-E932-856B4D8D73AF}"/>
            </a:ext>
          </a:extLst>
        </p:cNvPr>
        <p:cNvGrpSpPr/>
        <p:nvPr/>
      </p:nvGrpSpPr>
      <p:grpSpPr>
        <a:xfrm>
          <a:off x="0" y="0"/>
          <a:ext cx="0" cy="0"/>
          <a:chOff x="0" y="0"/>
          <a:chExt cx="0" cy="0"/>
        </a:xfrm>
      </p:grpSpPr>
      <p:sp>
        <p:nvSpPr>
          <p:cNvPr id="2" name="Title 15">
            <a:extLst>
              <a:ext uri="{FF2B5EF4-FFF2-40B4-BE49-F238E27FC236}">
                <a16:creationId xmlns:a16="http://schemas.microsoft.com/office/drawing/2014/main" id="{F5CCB064-7500-D9DD-398D-5973895DD421}"/>
              </a:ext>
            </a:extLst>
          </p:cNvPr>
          <p:cNvSpPr txBox="1">
            <a:spLocks/>
          </p:cNvSpPr>
          <p:nvPr/>
        </p:nvSpPr>
        <p:spPr>
          <a:xfrm>
            <a:off x="463619" y="1328914"/>
            <a:ext cx="2526469" cy="676936"/>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n-US" sz="3600" dirty="0"/>
              <a:t>RESUMEN</a:t>
            </a:r>
          </a:p>
        </p:txBody>
      </p:sp>
      <p:sp>
        <p:nvSpPr>
          <p:cNvPr id="3" name="Text Placeholder 4">
            <a:extLst>
              <a:ext uri="{FF2B5EF4-FFF2-40B4-BE49-F238E27FC236}">
                <a16:creationId xmlns:a16="http://schemas.microsoft.com/office/drawing/2014/main" id="{36F1ED7D-A819-4E75-9852-6F246389EAAD}"/>
              </a:ext>
            </a:extLst>
          </p:cNvPr>
          <p:cNvSpPr txBox="1">
            <a:spLocks/>
          </p:cNvSpPr>
          <p:nvPr/>
        </p:nvSpPr>
        <p:spPr>
          <a:xfrm>
            <a:off x="463619" y="1941842"/>
            <a:ext cx="11118458" cy="4266453"/>
          </a:xfrm>
          <a:prstGeom prst="rect">
            <a:avLst/>
          </a:prstGeom>
        </p:spPr>
        <p:txBody>
          <a:bodyPr/>
          <a:lst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
                <a:srgbClr val="33CCCC"/>
              </a:buClr>
              <a:buNone/>
            </a:pPr>
            <a:r>
              <a:rPr lang="es-419" sz="1600" dirty="0"/>
              <a:t>Gestionar los beneficios: </a:t>
            </a:r>
          </a:p>
          <a:p>
            <a:pPr>
              <a:buClr>
                <a:srgbClr val="33CCCC"/>
              </a:buClr>
              <a:buBlip>
                <a:blip r:embed="rId2"/>
              </a:buBlip>
            </a:pPr>
            <a:r>
              <a:rPr lang="es-419" sz="1600" dirty="0"/>
              <a:t> Se definen las configuraciones generales.</a:t>
            </a:r>
          </a:p>
          <a:p>
            <a:pPr>
              <a:buClr>
                <a:srgbClr val="33CCCC"/>
              </a:buClr>
              <a:buBlip>
                <a:blip r:embed="rId2"/>
              </a:buBlip>
            </a:pPr>
            <a:r>
              <a:rPr lang="es-419" sz="1600" dirty="0"/>
              <a:t> Se definen la configuración y asignación de exenciones.</a:t>
            </a:r>
          </a:p>
          <a:p>
            <a:pPr>
              <a:buClr>
                <a:srgbClr val="33CCCC"/>
              </a:buClr>
              <a:buBlip>
                <a:blip r:embed="rId2"/>
              </a:buBlip>
            </a:pPr>
            <a:r>
              <a:rPr lang="es-419" sz="1600" dirty="0"/>
              <a:t> Se define la aplicación individual de exenciones.</a:t>
            </a:r>
          </a:p>
          <a:p>
            <a:pPr>
              <a:buClr>
                <a:srgbClr val="33CCCC"/>
              </a:buClr>
              <a:buBlip>
                <a:blip r:embed="rId2"/>
              </a:buBlip>
            </a:pPr>
            <a:r>
              <a:rPr lang="es-419" sz="1600" dirty="0"/>
              <a:t> Se define la aplicación masiva de exenciones.</a:t>
            </a:r>
          </a:p>
          <a:p>
            <a:pPr>
              <a:buClr>
                <a:srgbClr val="33CCCC"/>
              </a:buClr>
              <a:buBlip>
                <a:blip r:embed="rId2"/>
              </a:buBlip>
            </a:pPr>
            <a:r>
              <a:rPr lang="es-419" sz="1600" dirty="0"/>
              <a:t> Se define el rolado de exenciones.</a:t>
            </a:r>
          </a:p>
          <a:p>
            <a:pPr>
              <a:buClr>
                <a:srgbClr val="33CCCC"/>
              </a:buClr>
              <a:buBlip>
                <a:blip r:embed="rId2"/>
              </a:buBlip>
            </a:pPr>
            <a:r>
              <a:rPr lang="es-419" sz="1600" dirty="0"/>
              <a:t> Se define la carga masiva de exenciones. </a:t>
            </a:r>
          </a:p>
          <a:p>
            <a:pPr>
              <a:buClr>
                <a:srgbClr val="45A1AA"/>
              </a:buClr>
              <a:buBlip>
                <a:blip r:embed="rId2"/>
              </a:buBlip>
            </a:pPr>
            <a:r>
              <a:rPr lang="es-419" sz="1600" dirty="0"/>
              <a:t>Se definen la configuración y asignación de contratos.</a:t>
            </a:r>
          </a:p>
          <a:p>
            <a:pPr>
              <a:buClr>
                <a:srgbClr val="45A1AA"/>
              </a:buClr>
              <a:buBlip>
                <a:blip r:embed="rId2"/>
              </a:buBlip>
            </a:pPr>
            <a:r>
              <a:rPr lang="es-419" sz="1600" dirty="0"/>
              <a:t>Se define la aplicación individual de contratos.</a:t>
            </a:r>
          </a:p>
          <a:p>
            <a:pPr>
              <a:buClr>
                <a:srgbClr val="45A1AA"/>
              </a:buClr>
              <a:buBlip>
                <a:blip r:embed="rId2"/>
              </a:buBlip>
            </a:pPr>
            <a:r>
              <a:rPr lang="es-419" sz="1600" dirty="0"/>
              <a:t>Se define la aplicación masiva de contratos.</a:t>
            </a:r>
          </a:p>
          <a:p>
            <a:pPr>
              <a:buClr>
                <a:srgbClr val="45A1AA"/>
              </a:buClr>
              <a:buBlip>
                <a:blip r:embed="rId2"/>
              </a:buBlip>
            </a:pPr>
            <a:r>
              <a:rPr lang="es-419" sz="1600" dirty="0"/>
              <a:t>Se define la gestión de contratos aplicados.</a:t>
            </a:r>
          </a:p>
          <a:p>
            <a:pPr>
              <a:buClr>
                <a:srgbClr val="45A1AA"/>
              </a:buClr>
              <a:buBlip>
                <a:blip r:embed="rId2"/>
              </a:buBlip>
            </a:pPr>
            <a:r>
              <a:rPr lang="es-419" sz="1600" dirty="0"/>
              <a:t>Se define el rolado de contratos.</a:t>
            </a:r>
            <a:endParaRPr lang="es-419" sz="1600" dirty="0">
              <a:latin typeface="Helvetica Neue" panose="02000503000000020004" pitchFamily="2" charset="0"/>
            </a:endParaRPr>
          </a:p>
        </p:txBody>
      </p:sp>
    </p:spTree>
    <p:extLst>
      <p:ext uri="{BB962C8B-B14F-4D97-AF65-F5344CB8AC3E}">
        <p14:creationId xmlns:p14="http://schemas.microsoft.com/office/powerpoint/2010/main" val="4056197800"/>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8555C3-54CB-FB22-24D3-CB56D25AA166}"/>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98C8C561-01AA-93BA-31A2-AAD8E5DED18B}"/>
              </a:ext>
            </a:extLst>
          </p:cNvPr>
          <p:cNvSpPr>
            <a:spLocks noGrp="1"/>
          </p:cNvSpPr>
          <p:nvPr>
            <p:ph type="body" sz="quarter" idx="11"/>
          </p:nvPr>
        </p:nvSpPr>
        <p:spPr/>
        <p:txBody>
          <a:bodyPr/>
          <a:lstStyle/>
          <a:p>
            <a:r>
              <a:rPr lang="es-CO" dirty="0"/>
              <a:t>Faver Herrera Mejia</a:t>
            </a:r>
            <a:endParaRPr lang="en-US" dirty="0"/>
          </a:p>
        </p:txBody>
      </p:sp>
      <p:sp>
        <p:nvSpPr>
          <p:cNvPr id="3" name="Text Placeholder 2">
            <a:extLst>
              <a:ext uri="{FF2B5EF4-FFF2-40B4-BE49-F238E27FC236}">
                <a16:creationId xmlns:a16="http://schemas.microsoft.com/office/drawing/2014/main" id="{E41D6D2D-BB92-CF38-BDA6-D770C4633ECA}"/>
              </a:ext>
            </a:extLst>
          </p:cNvPr>
          <p:cNvSpPr>
            <a:spLocks noGrp="1"/>
          </p:cNvSpPr>
          <p:nvPr>
            <p:ph type="body" sz="quarter" idx="12"/>
          </p:nvPr>
        </p:nvSpPr>
        <p:spPr/>
        <p:txBody>
          <a:bodyPr/>
          <a:lstStyle/>
          <a:p>
            <a:r>
              <a:rPr lang="es-CO"/>
              <a:t>faver.herreramejia@</a:t>
            </a:r>
            <a:r>
              <a:rPr lang="es-CO" dirty="0"/>
              <a:t>ellucian.com</a:t>
            </a:r>
            <a:endParaRPr lang="en-US" dirty="0"/>
          </a:p>
        </p:txBody>
      </p:sp>
    </p:spTree>
    <p:extLst>
      <p:ext uri="{BB962C8B-B14F-4D97-AF65-F5344CB8AC3E}">
        <p14:creationId xmlns:p14="http://schemas.microsoft.com/office/powerpoint/2010/main" val="829329984"/>
      </p:ext>
    </p:extLst>
  </p:cSld>
  <p:clrMapOvr>
    <a:masterClrMapping/>
  </p:clrMapOvr>
</p:sld>
</file>

<file path=ppt/theme/theme1.xml><?xml version="1.0" encoding="utf-8"?>
<a:theme xmlns:a="http://schemas.openxmlformats.org/drawingml/2006/main" name="Ellucian Main Layouts">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Ellucian Blank Layouts">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1_Ellucian Main Layouts">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1_Ellucian Blank Layouts">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2_Ellucian Main Layouts">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6.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13236</TotalTime>
  <Words>10976</Words>
  <Application>Microsoft Office PowerPoint</Application>
  <PresentationFormat>Panorámica</PresentationFormat>
  <Paragraphs>795</Paragraphs>
  <Slides>208</Slides>
  <Notes>4</Notes>
  <HiddenSlides>0</HiddenSlides>
  <MMClips>0</MMClips>
  <ScaleCrop>false</ScaleCrop>
  <HeadingPairs>
    <vt:vector size="6" baseType="variant">
      <vt:variant>
        <vt:lpstr>Fuentes usadas</vt:lpstr>
      </vt:variant>
      <vt:variant>
        <vt:i4>6</vt:i4>
      </vt:variant>
      <vt:variant>
        <vt:lpstr>Tema</vt:lpstr>
      </vt:variant>
      <vt:variant>
        <vt:i4>5</vt:i4>
      </vt:variant>
      <vt:variant>
        <vt:lpstr>Títulos de diapositiva</vt:lpstr>
      </vt:variant>
      <vt:variant>
        <vt:i4>208</vt:i4>
      </vt:variant>
    </vt:vector>
  </HeadingPairs>
  <TitlesOfParts>
    <vt:vector size="219" baseType="lpstr">
      <vt:lpstr>Aptos</vt:lpstr>
      <vt:lpstr>Aptos Display</vt:lpstr>
      <vt:lpstr>Arial</vt:lpstr>
      <vt:lpstr>Courier New</vt:lpstr>
      <vt:lpstr>Helvetica Neue</vt:lpstr>
      <vt:lpstr>Wingdings</vt:lpstr>
      <vt:lpstr>Ellucian Main Layouts</vt:lpstr>
      <vt:lpstr>Ellucian Blank Layouts</vt:lpstr>
      <vt:lpstr>1_Ellucian Main Layouts</vt:lpstr>
      <vt:lpstr>1_Ellucian Blank Layouts</vt:lpstr>
      <vt:lpstr>2_Ellucian Main Layouts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DeChurch, Damien</dc:creator>
  <cp:lastModifiedBy>León Barrera, Alejandra</cp:lastModifiedBy>
  <cp:revision>393</cp:revision>
  <dcterms:created xsi:type="dcterms:W3CDTF">2024-12-23T17:11:20Z</dcterms:created>
  <dcterms:modified xsi:type="dcterms:W3CDTF">2026-07-03T23:14:48Z</dcterms:modified>
</cp:coreProperties>
</file>
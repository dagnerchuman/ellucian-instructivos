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  <p:sldMasterId id="2147483753" r:id="rId2"/>
  </p:sldMasterIdLst>
  <p:notesMasterIdLst>
    <p:notesMasterId r:id="rId31"/>
  </p:notesMasterIdLst>
  <p:sldIdLst>
    <p:sldId id="1333" r:id="rId3"/>
    <p:sldId id="712" r:id="rId4"/>
    <p:sldId id="1174" r:id="rId5"/>
    <p:sldId id="1175" r:id="rId6"/>
    <p:sldId id="1291" r:id="rId7"/>
    <p:sldId id="1250" r:id="rId8"/>
    <p:sldId id="1251" r:id="rId9"/>
    <p:sldId id="1259" r:id="rId10"/>
    <p:sldId id="1119" r:id="rId11"/>
    <p:sldId id="1301" r:id="rId12"/>
    <p:sldId id="1318" r:id="rId13"/>
    <p:sldId id="1324" r:id="rId14"/>
    <p:sldId id="1320" r:id="rId15"/>
    <p:sldId id="1334" r:id="rId16"/>
    <p:sldId id="1325" r:id="rId17"/>
    <p:sldId id="1275" r:id="rId18"/>
    <p:sldId id="1296" r:id="rId19"/>
    <p:sldId id="1321" r:id="rId20"/>
    <p:sldId id="1322" r:id="rId21"/>
    <p:sldId id="1323" r:id="rId22"/>
    <p:sldId id="1326" r:id="rId23"/>
    <p:sldId id="1327" r:id="rId24"/>
    <p:sldId id="1328" r:id="rId25"/>
    <p:sldId id="1329" r:id="rId26"/>
    <p:sldId id="1330" r:id="rId27"/>
    <p:sldId id="1331" r:id="rId28"/>
    <p:sldId id="1332" r:id="rId29"/>
    <p:sldId id="129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8BC6B7A-7FD7-B090-A9A9-A059FE64FB02}" name="DIANA CAROLINA VARON DIAZ" initials="DD" userId="F3WulOO1zdW9+LORcwUsQgtHX8O05KiAsqyo1/aqNxE=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3B9A5B-8BC1-40FF-AB43-A81F92C86F21}" v="7" dt="2024-10-30T14:34:41.5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70" d="100"/>
          <a:sy n="70" d="100"/>
        </p:scale>
        <p:origin x="5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38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A CAROLINA VARON DIAZ" userId="F3WulOO1zdW9+LORcwUsQgtHX8O05KiAsqyo1/aqNxE=" providerId="None" clId="Web-{5F3B9A5B-8BC1-40FF-AB43-A81F92C86F21}"/>
    <pc:docChg chg="mod modSld">
      <pc:chgData name="DIANA CAROLINA VARON DIAZ" userId="F3WulOO1zdW9+LORcwUsQgtHX8O05KiAsqyo1/aqNxE=" providerId="None" clId="Web-{5F3B9A5B-8BC1-40FF-AB43-A81F92C86F21}" dt="2024-10-30T14:34:41.539" v="4"/>
      <pc:docMkLst>
        <pc:docMk/>
      </pc:docMkLst>
      <pc:sldChg chg="modSp">
        <pc:chgData name="DIANA CAROLINA VARON DIAZ" userId="F3WulOO1zdW9+LORcwUsQgtHX8O05KiAsqyo1/aqNxE=" providerId="None" clId="Web-{5F3B9A5B-8BC1-40FF-AB43-A81F92C86F21}" dt="2024-10-30T14:28:12.558" v="3" actId="20577"/>
        <pc:sldMkLst>
          <pc:docMk/>
          <pc:sldMk cId="2625279432" sldId="1301"/>
        </pc:sldMkLst>
        <pc:spChg chg="mod">
          <ac:chgData name="DIANA CAROLINA VARON DIAZ" userId="F3WulOO1zdW9+LORcwUsQgtHX8O05KiAsqyo1/aqNxE=" providerId="None" clId="Web-{5F3B9A5B-8BC1-40FF-AB43-A81F92C86F21}" dt="2024-10-30T14:28:12.558" v="3" actId="20577"/>
          <ac:spMkLst>
            <pc:docMk/>
            <pc:sldMk cId="2625279432" sldId="1301"/>
            <ac:spMk id="19" creationId="{5B2A6FCB-CC81-6223-152A-FEA8E1135B4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A52AE8-C3D1-4F0C-9537-50799CDF3F70}" type="datetimeFigureOut">
              <a:rPr lang="es-419" smtClean="0"/>
              <a:t>30/6/2026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7B2D5-D921-4686-9404-D92C44D12565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58069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852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96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68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9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050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C0CC6-447B-77E8-747D-3408D496A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2D8BFE8-C44E-4F08-14CA-28B07E64A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8A8F5E1-7FE5-4CFB-0F88-2A63CDC46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4F8A56-81F6-3587-3FDA-8993DC26E5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813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343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536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5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627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1538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824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2072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6501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1531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8315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82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79853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17399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07502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0751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1703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09490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10191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4747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1492423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2977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993486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35105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211754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01525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949877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968942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491398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465462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139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7832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1489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3189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8261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3682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5070775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2983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36371017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809944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069342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972504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7310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023463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884050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914520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688038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9BB8DABF-D717-48D3-B001-F43E3E178399}" type="slidenum">
              <a:rPr lang="es-419" smtClean="0"/>
              <a:t>‹#›</a:t>
            </a:fld>
            <a:endParaRPr lang="es-419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716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9BB8DABF-D717-48D3-B001-F43E3E178399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7297517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Slide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3">
            <a:extLst>
              <a:ext uri="{FF2B5EF4-FFF2-40B4-BE49-F238E27FC236}">
                <a16:creationId xmlns:a16="http://schemas.microsoft.com/office/drawing/2014/main" id="{615AF287-335F-BB55-C118-E2B304809BF5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02A5F3B-3ABB-9E8C-64CA-3C1440FE2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9BB8DABF-D717-48D3-B001-F43E3E178399}" type="slidenum">
              <a:rPr lang="es-419" smtClean="0"/>
              <a:t>‹#›</a:t>
            </a:fld>
            <a:endParaRPr lang="es-419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6075AE4F-120B-4A06-3546-84A4BC13F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6015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>
            <a:extLst>
              <a:ext uri="{FF2B5EF4-FFF2-40B4-BE49-F238E27FC236}">
                <a16:creationId xmlns:a16="http://schemas.microsoft.com/office/drawing/2014/main" id="{0D606AED-DD8D-9B4B-A5A1-B57A5083C0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8163" y="258373"/>
            <a:ext cx="6711912" cy="6858000"/>
          </a:xfrm>
          <a:prstGeom prst="rect">
            <a:avLst/>
          </a:prstGeom>
        </p:spPr>
      </p:pic>
      <p:sp>
        <p:nvSpPr>
          <p:cNvPr id="4" name="Trapezoid 3"/>
          <p:cNvSpPr/>
          <p:nvPr userDrawn="1"/>
        </p:nvSpPr>
        <p:spPr>
          <a:xfrm>
            <a:off x="0" y="1"/>
            <a:ext cx="9144000" cy="6874172"/>
          </a:xfrm>
          <a:custGeom>
            <a:avLst/>
            <a:gdLst>
              <a:gd name="connsiteX0" fmla="*/ 0 w 6858000"/>
              <a:gd name="connsiteY0" fmla="*/ 5148072 h 5148072"/>
              <a:gd name="connsiteX1" fmla="*/ 0 w 6858000"/>
              <a:gd name="connsiteY1" fmla="*/ 0 h 5148072"/>
              <a:gd name="connsiteX2" fmla="*/ 6858000 w 6858000"/>
              <a:gd name="connsiteY2" fmla="*/ 0 h 5148072"/>
              <a:gd name="connsiteX3" fmla="*/ 6858000 w 6858000"/>
              <a:gd name="connsiteY3" fmla="*/ 5148072 h 5148072"/>
              <a:gd name="connsiteX4" fmla="*/ 0 w 6858000"/>
              <a:gd name="connsiteY4" fmla="*/ 5148072 h 5148072"/>
              <a:gd name="connsiteX0" fmla="*/ 0 w 6858000"/>
              <a:gd name="connsiteY0" fmla="*/ 5148072 h 5155629"/>
              <a:gd name="connsiteX1" fmla="*/ 0 w 6858000"/>
              <a:gd name="connsiteY1" fmla="*/ 0 h 5155629"/>
              <a:gd name="connsiteX2" fmla="*/ 6858000 w 6858000"/>
              <a:gd name="connsiteY2" fmla="*/ 0 h 5155629"/>
              <a:gd name="connsiteX3" fmla="*/ 4840275 w 6858000"/>
              <a:gd name="connsiteY3" fmla="*/ 5155629 h 5155629"/>
              <a:gd name="connsiteX4" fmla="*/ 0 w 6858000"/>
              <a:gd name="connsiteY4" fmla="*/ 5148072 h 5155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5155629">
                <a:moveTo>
                  <a:pt x="0" y="5148072"/>
                </a:moveTo>
                <a:lnTo>
                  <a:pt x="0" y="0"/>
                </a:lnTo>
                <a:lnTo>
                  <a:pt x="6858000" y="0"/>
                </a:lnTo>
                <a:lnTo>
                  <a:pt x="4840275" y="5155629"/>
                </a:lnTo>
                <a:lnTo>
                  <a:pt x="0" y="51480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461309" y="2589804"/>
            <a:ext cx="6650691" cy="2151529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640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 descr="ellucian_purpl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310" y="1631578"/>
            <a:ext cx="2327711" cy="479092"/>
          </a:xfrm>
          <a:prstGeom prst="rect">
            <a:avLst/>
          </a:prstGeom>
        </p:spPr>
      </p:pic>
      <p:sp>
        <p:nvSpPr>
          <p:cNvPr id="10" name="Text Placeholder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7200" y="5543554"/>
            <a:ext cx="6396392" cy="675417"/>
          </a:xfrm>
        </p:spPr>
        <p:txBody>
          <a:bodyPr anchor="t" anchorCtr="0">
            <a:noAutofit/>
          </a:bodyPr>
          <a:lstStyle>
            <a:lvl1pPr>
              <a:buNone/>
              <a:defRPr sz="2267" b="0" spc="0" baseline="0">
                <a:solidFill>
                  <a:schemeClr val="accent2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Presenter’s title</a:t>
            </a:r>
            <a:br>
              <a:rPr lang="en-US" dirty="0"/>
            </a:br>
            <a:r>
              <a:rPr lang="en-US" dirty="0" err="1"/>
              <a:t>Ellucian</a:t>
            </a:r>
            <a:endParaRPr lang="en-US" dirty="0"/>
          </a:p>
        </p:txBody>
      </p:sp>
      <p:sp>
        <p:nvSpPr>
          <p:cNvPr id="3" name="Right Triangle 2"/>
          <p:cNvSpPr/>
          <p:nvPr userDrawn="1"/>
        </p:nvSpPr>
        <p:spPr>
          <a:xfrm flipH="1" flipV="1">
            <a:off x="6604000" y="-3"/>
            <a:ext cx="5588000" cy="5608320"/>
          </a:xfrm>
          <a:prstGeom prst="rtTriangle">
            <a:avLst/>
          </a:prstGeom>
          <a:solidFill>
            <a:srgbClr val="45A1AA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719592"/>
            <a:ext cx="6656832" cy="835251"/>
          </a:xfrm>
        </p:spPr>
        <p:txBody>
          <a:bodyPr anchor="b">
            <a:noAutofit/>
          </a:bodyPr>
          <a:lstStyle>
            <a:lvl1pPr>
              <a:buNone/>
              <a:defRPr sz="2267" b="1" cap="all" spc="0" baseline="0">
                <a:solidFill>
                  <a:schemeClr val="accent2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2891472692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2747">
          <p15:clr>
            <a:srgbClr val="FBAE40"/>
          </p15:clr>
        </p15:guide>
        <p15:guide id="2" pos="3047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0247529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043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5445629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8254562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5551982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264342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140852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2442222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3429673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0331861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63633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430597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14455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5953630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5327887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0779628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734902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7492687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7282120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8669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2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8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21763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43" r:id="rId30"/>
    <p:sldLayoutId id="2147483744" r:id="rId31"/>
    <p:sldLayoutId id="2147483745" r:id="rId32"/>
    <p:sldLayoutId id="2147483746" r:id="rId33"/>
    <p:sldLayoutId id="2147483747" r:id="rId34"/>
    <p:sldLayoutId id="2147483750" r:id="rId35"/>
    <p:sldLayoutId id="2147483751" r:id="rId36"/>
    <p:sldLayoutId id="2147483752" r:id="rId37"/>
    <p:sldLayoutId id="2147483712" r:id="rId38"/>
    <p:sldLayoutId id="2147483773" r:id="rId3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8854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  <p:sldLayoutId id="2147483771" r:id="rId18"/>
    <p:sldLayoutId id="2147483772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DC2834-C0BC-1E9E-35AB-295707DC0D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6902" y="4143944"/>
            <a:ext cx="5427132" cy="740459"/>
          </a:xfrm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s-ES" sz="1800" b="0" dirty="0"/>
              <a:t>Instructivo</a:t>
            </a:r>
            <a:endParaRPr lang="es-419" sz="1800" b="0" dirty="0"/>
          </a:p>
          <a:p>
            <a:pPr>
              <a:lnSpc>
                <a:spcPct val="110000"/>
              </a:lnSpc>
            </a:pPr>
            <a:endParaRPr lang="es-419" sz="1800" b="0" dirty="0"/>
          </a:p>
        </p:txBody>
      </p:sp>
      <p:pic>
        <p:nvPicPr>
          <p:cNvPr id="8" name="Marcador de posición de imagen 8" descr="Un par de personas sentadas en una mesa&#10;&#10;El contenido generado por IA puede ser incorrecto.">
            <a:extLst>
              <a:ext uri="{FF2B5EF4-FFF2-40B4-BE49-F238E27FC236}">
                <a16:creationId xmlns:a16="http://schemas.microsoft.com/office/drawing/2014/main" id="{4F7B45E6-A22E-4AC7-1472-85D0784AA90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r="17869"/>
          <a:stretch>
            <a:fillRect/>
          </a:stretch>
        </p:blipFill>
        <p:spPr>
          <a:xfrm>
            <a:off x="6690226" y="573881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56468" y="1788655"/>
            <a:ext cx="5651500" cy="2912272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sz="4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Gestionar las solicitudes de servicios de los estudiantes</a:t>
            </a:r>
            <a:br>
              <a:rPr lang="es-419" sz="4000" dirty="0"/>
            </a:br>
            <a:endParaRPr lang="es-ES_tradnl" sz="4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Marcador de texto 4">
            <a:extLst>
              <a:ext uri="{FF2B5EF4-FFF2-40B4-BE49-F238E27FC236}">
                <a16:creationId xmlns:a16="http://schemas.microsoft.com/office/drawing/2014/main" id="{2AA01FE4-D527-0237-CA80-CB27F8A00E26}"/>
              </a:ext>
            </a:extLst>
          </p:cNvPr>
          <p:cNvSpPr txBox="1">
            <a:spLocks/>
          </p:cNvSpPr>
          <p:nvPr/>
        </p:nvSpPr>
        <p:spPr>
          <a:xfrm>
            <a:off x="556902" y="5466333"/>
            <a:ext cx="3032274" cy="39805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dirty="0"/>
              <a:t>Consultor</a:t>
            </a:r>
          </a:p>
          <a:p>
            <a:r>
              <a:rPr lang="es-419" dirty="0"/>
              <a:t>Cargo</a:t>
            </a:r>
          </a:p>
        </p:txBody>
      </p:sp>
      <p:sp>
        <p:nvSpPr>
          <p:cNvPr id="15" name="Marcador de texto 5">
            <a:extLst>
              <a:ext uri="{FF2B5EF4-FFF2-40B4-BE49-F238E27FC236}">
                <a16:creationId xmlns:a16="http://schemas.microsoft.com/office/drawing/2014/main" id="{00AE3C8C-E658-84D2-C034-6B435885044F}"/>
              </a:ext>
            </a:extLst>
          </p:cNvPr>
          <p:cNvSpPr txBox="1">
            <a:spLocks/>
          </p:cNvSpPr>
          <p:nvPr/>
        </p:nvSpPr>
        <p:spPr>
          <a:xfrm>
            <a:off x="556902" y="6230769"/>
            <a:ext cx="2228873" cy="194925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/>
              <a:t>Mes, Año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658430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vertical 3">
            <a:extLst>
              <a:ext uri="{FF2B5EF4-FFF2-40B4-BE49-F238E27FC236}">
                <a16:creationId xmlns:a16="http://schemas.microsoft.com/office/drawing/2014/main" id="{9B079538-813F-9222-1BBD-41637301C228}"/>
              </a:ext>
            </a:extLst>
          </p:cNvPr>
          <p:cNvSpPr>
            <a:spLocks noGrp="1"/>
          </p:cNvSpPr>
          <p:nvPr>
            <p:ph type="body" orient="vert" sz="quarter" idx="4294967295"/>
          </p:nvPr>
        </p:nvSpPr>
        <p:spPr>
          <a:xfrm>
            <a:off x="0" y="685800"/>
            <a:ext cx="609600" cy="5486400"/>
          </a:xfrm>
          <a:prstGeom prst="rect">
            <a:avLst/>
          </a:prstGeom>
        </p:spPr>
        <p:txBody>
          <a:bodyPr vert="vert270" lIns="0" tIns="0" rIns="0" bIns="0" rtlCol="0" anchor="ctr" anchorCtr="0">
            <a:noAutofit/>
          </a:bodyPr>
          <a:lstStyle/>
          <a:p>
            <a:pPr marL="0" indent="0" algn="ctr">
              <a:buNone/>
            </a:pPr>
            <a:r>
              <a:rPr lang="es-ES" sz="1200" spc="300" dirty="0">
                <a:solidFill>
                  <a:schemeClr val="bg1"/>
                </a:solidFill>
              </a:rPr>
              <a:t>Actualizar estado del estudiante</a:t>
            </a:r>
            <a:endParaRPr lang="es-419" sz="1200" spc="300" dirty="0">
              <a:solidFill>
                <a:schemeClr val="bg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2DD102-01BB-9F25-67B3-8CA29A6FB9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414215"/>
              </p:ext>
            </p:extLst>
          </p:nvPr>
        </p:nvGraphicFramePr>
        <p:xfrm>
          <a:off x="1534886" y="1045321"/>
          <a:ext cx="8916155" cy="43104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015">
                  <a:extLst>
                    <a:ext uri="{9D8B030D-6E8A-4147-A177-3AD203B41FA5}">
                      <a16:colId xmlns:a16="http://schemas.microsoft.com/office/drawing/2014/main" val="4264427917"/>
                    </a:ext>
                  </a:extLst>
                </a:gridCol>
                <a:gridCol w="8103140">
                  <a:extLst>
                    <a:ext uri="{9D8B030D-6E8A-4147-A177-3AD203B41FA5}">
                      <a16:colId xmlns:a16="http://schemas.microsoft.com/office/drawing/2014/main" val="3879795558"/>
                    </a:ext>
                  </a:extLst>
                </a:gridCol>
              </a:tblGrid>
              <a:tr h="802833">
                <a:tc>
                  <a:txBody>
                    <a:bodyPr/>
                    <a:lstStyle/>
                    <a:p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 sz="2000" b="0" kern="1200" noProof="0" dirty="0">
                        <a:solidFill>
                          <a:srgbClr val="414042"/>
                        </a:solidFill>
                        <a:latin typeface="Arial"/>
                        <a:ea typeface="+mn-ea"/>
                        <a:cs typeface="Arial"/>
                      </a:endParaRPr>
                    </a:p>
                    <a:p>
                      <a:r>
                        <a:rPr lang="es-ES_tradnl" sz="2800" b="1" kern="1200" noProof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Overview</a:t>
                      </a:r>
                      <a:endParaRPr lang="es-ES_tradnl" sz="2800" b="1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97536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170118"/>
                  </a:ext>
                </a:extLst>
              </a:tr>
              <a:tr h="80283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02</a:t>
                      </a: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Solicitud de servicio en autoservicio</a:t>
                      </a:r>
                    </a:p>
                  </a:txBody>
                  <a:tcPr marL="121920" marR="121920" marT="60960" marB="97536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360206"/>
                  </a:ext>
                </a:extLst>
              </a:tr>
              <a:tr h="80283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Gestionar las solicitudes de servicio en </a:t>
                      </a:r>
                      <a:r>
                        <a:rPr lang="es-ES_tradnl" sz="2800" b="1" kern="1200" noProof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admin</a:t>
                      </a:r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_tradnl" sz="2800" b="1" kern="1200" noProof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pages</a:t>
                      </a:r>
                      <a:endParaRPr lang="es-ES_tradnl" sz="2800" b="1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97536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4484202"/>
                  </a:ext>
                </a:extLst>
              </a:tr>
              <a:tr h="80283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419" sz="2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Solicitud de servicio desde </a:t>
                      </a:r>
                      <a:r>
                        <a:rPr lang="es-ES_tradnl" sz="2800" b="1" kern="1200" noProof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admin</a:t>
                      </a:r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_tradnl" sz="2800" b="1" kern="1200" noProof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pages</a:t>
                      </a:r>
                      <a:endParaRPr lang="es-ES_tradnl" sz="2800" b="1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97536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452087"/>
                  </a:ext>
                </a:extLst>
              </a:tr>
              <a:tr h="80283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419" sz="2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05</a:t>
                      </a: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Resumen</a:t>
                      </a:r>
                    </a:p>
                  </a:txBody>
                  <a:tcPr marL="121920" marR="121920" marT="60960" marB="97536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793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6555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1FE5FE-3967-86A2-6B0E-C8A258CF0688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Overview</a:t>
            </a:r>
            <a:endParaRPr lang="es-ES_tradnl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05E232D-D9D9-2A5F-D6CC-14645B63038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93894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656B045A-5FD4-41FA-32C9-4AAEC68E41F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Overview: </a:t>
            </a:r>
            <a:r>
              <a:rPr lang="es-ES_tradnl" b="1" dirty="0"/>
              <a:t>Mapa de capacidades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2534DB-45B2-D257-055A-ECF4C68348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0" t="3607" r="2974"/>
          <a:stretch>
            <a:fillRect/>
          </a:stretch>
        </p:blipFill>
        <p:spPr bwMode="auto">
          <a:xfrm>
            <a:off x="609601" y="1289303"/>
            <a:ext cx="11225781" cy="4578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9CD1306-C5B9-A277-9C94-A4FEC7DEE3DA}"/>
              </a:ext>
            </a:extLst>
          </p:cNvPr>
          <p:cNvSpPr/>
          <p:nvPr/>
        </p:nvSpPr>
        <p:spPr>
          <a:xfrm>
            <a:off x="912876" y="3575304"/>
            <a:ext cx="2269236" cy="59436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97615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3B7A307-5C70-7F03-3580-1D1730644EF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las solicitudes de servicios de los estudiantes</a:t>
            </a:r>
            <a:endParaRPr lang="es-419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B4C967B7-80CD-9606-C5BF-C3BB1501B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b="0" dirty="0" err="1">
                <a:solidFill>
                  <a:schemeClr val="bg2">
                    <a:lumMod val="25000"/>
                  </a:schemeClr>
                </a:solidFill>
              </a:rPr>
              <a:t>Overview</a:t>
            </a:r>
            <a:r>
              <a:rPr lang="es-ES_tradnl" b="0" dirty="0">
                <a:solidFill>
                  <a:schemeClr val="bg2">
                    <a:lumMod val="25000"/>
                  </a:schemeClr>
                </a:solidFill>
              </a:rPr>
              <a:t>: </a:t>
            </a:r>
            <a:r>
              <a:rPr lang="es-ES_tradnl" dirty="0">
                <a:solidFill>
                  <a:schemeClr val="bg2">
                    <a:lumMod val="25000"/>
                  </a:schemeClr>
                </a:solidFill>
              </a:rPr>
              <a:t>Procedimientos del Proceso </a:t>
            </a:r>
            <a:r>
              <a:rPr lang="es-419" dirty="0">
                <a:solidFill>
                  <a:schemeClr val="bg2">
                    <a:lumMod val="25000"/>
                  </a:schemeClr>
                </a:solidFill>
              </a:rPr>
              <a:t>Gestionar los servicios a estudiantes</a:t>
            </a:r>
            <a:br>
              <a:rPr lang="es-ES_tradnl" dirty="0"/>
            </a:br>
            <a:endParaRPr lang="es-419" dirty="0"/>
          </a:p>
        </p:txBody>
      </p:sp>
      <p:sp>
        <p:nvSpPr>
          <p:cNvPr id="7" name="Title 12">
            <a:extLst>
              <a:ext uri="{FF2B5EF4-FFF2-40B4-BE49-F238E27FC236}">
                <a16:creationId xmlns:a16="http://schemas.microsoft.com/office/drawing/2014/main" id="{8B20F06B-F250-FF66-14E6-D5380447899C}"/>
              </a:ext>
            </a:extLst>
          </p:cNvPr>
          <p:cNvSpPr txBox="1">
            <a:spLocks/>
          </p:cNvSpPr>
          <p:nvPr/>
        </p:nvSpPr>
        <p:spPr>
          <a:xfrm>
            <a:off x="1104900" y="685800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_tradnl" dirty="0"/>
          </a:p>
        </p:txBody>
      </p:sp>
      <p:sp>
        <p:nvSpPr>
          <p:cNvPr id="8" name="Marcador de texto 1">
            <a:extLst>
              <a:ext uri="{FF2B5EF4-FFF2-40B4-BE49-F238E27FC236}">
                <a16:creationId xmlns:a16="http://schemas.microsoft.com/office/drawing/2014/main" id="{09E58EE6-D825-A130-1509-A55AA970AB76}"/>
              </a:ext>
            </a:extLst>
          </p:cNvPr>
          <p:cNvSpPr txBox="1">
            <a:spLocks/>
          </p:cNvSpPr>
          <p:nvPr/>
        </p:nvSpPr>
        <p:spPr>
          <a:xfrm>
            <a:off x="1488700" y="1399408"/>
            <a:ext cx="9598400" cy="3860800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9999"/>
              </a:buClr>
              <a:buFont typeface="Wingdings" panose="05000000000000000000" pitchFamily="2" charset="2"/>
              <a:buChar char="q"/>
            </a:pPr>
            <a:r>
              <a:rPr lang="es-CO" sz="2400" dirty="0">
                <a:solidFill>
                  <a:schemeClr val="tx1"/>
                </a:solidFill>
              </a:rPr>
              <a:t> </a:t>
            </a:r>
            <a:r>
              <a:rPr lang="es-419" sz="2400" dirty="0">
                <a:solidFill>
                  <a:schemeClr val="tx1"/>
                </a:solidFill>
              </a:rPr>
              <a:t>Gestionar el portafolio de servicios ofrecidos a estudiantes</a:t>
            </a:r>
            <a:endParaRPr lang="es-CO" sz="2400" dirty="0">
              <a:solidFill>
                <a:schemeClr val="tx1"/>
              </a:solidFill>
            </a:endParaRPr>
          </a:p>
          <a:p>
            <a:pPr>
              <a:buClr>
                <a:srgbClr val="009999"/>
              </a:buClr>
              <a:buFont typeface="Wingdings" panose="05000000000000000000" pitchFamily="2" charset="2"/>
              <a:buChar char="q"/>
            </a:pPr>
            <a:r>
              <a:rPr lang="es-CO" sz="2400" dirty="0">
                <a:solidFill>
                  <a:schemeClr val="tx1"/>
                </a:solidFill>
              </a:rPr>
              <a:t> </a:t>
            </a:r>
            <a:r>
              <a:rPr lang="es-419" sz="2400" b="1" dirty="0">
                <a:solidFill>
                  <a:schemeClr val="tx1"/>
                </a:solidFill>
              </a:rPr>
              <a:t>Gestionar las solicitudes de servicios de los estudiantes</a:t>
            </a:r>
            <a:endParaRPr lang="es-CO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960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AC3D39-B163-095B-128B-225FF6EB7D0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1" algn="just"/>
            <a:r>
              <a:rPr lang="es-ES_tradnl" sz="1800" dirty="0"/>
              <a:t>Según como se ofrezcan los servicios, el estudiante puede solicitarlos por medio del autoservicio.</a:t>
            </a:r>
          </a:p>
          <a:p>
            <a:pPr lvl="1" algn="just"/>
            <a:r>
              <a:rPr lang="es-ES_tradnl" sz="1800" dirty="0"/>
              <a:t>El personal administrativo gestiona las solicitudes desde </a:t>
            </a:r>
            <a:r>
              <a:rPr lang="es-ES_tradnl" sz="1800" dirty="0" err="1"/>
              <a:t>admin</a:t>
            </a:r>
            <a:r>
              <a:rPr lang="es-ES_tradnl" sz="1800" dirty="0"/>
              <a:t> </a:t>
            </a:r>
            <a:r>
              <a:rPr lang="es-ES_tradnl" sz="1800" dirty="0" err="1"/>
              <a:t>pages</a:t>
            </a:r>
            <a:r>
              <a:rPr lang="es-ES_tradnl" sz="1800" dirty="0"/>
              <a:t>.</a:t>
            </a:r>
          </a:p>
          <a:p>
            <a:pPr lvl="1" algn="just"/>
            <a:r>
              <a:rPr lang="es-ES_tradnl" sz="1800" dirty="0"/>
              <a:t>Los estudiantes pueden visualizar el estatus de las solicitudes.</a:t>
            </a:r>
          </a:p>
          <a:p>
            <a:pPr lvl="1" algn="just"/>
            <a:r>
              <a:rPr lang="es-ES_tradnl" sz="1800" dirty="0"/>
              <a:t>El personal administrativo puede crear solicitudes desde </a:t>
            </a:r>
            <a:r>
              <a:rPr lang="es-ES_tradnl" sz="1800" dirty="0" err="1"/>
              <a:t>admin</a:t>
            </a:r>
            <a:r>
              <a:rPr lang="es-ES_tradnl" sz="1800" dirty="0"/>
              <a:t> </a:t>
            </a:r>
            <a:r>
              <a:rPr lang="es-ES_tradnl" sz="1800" dirty="0" err="1"/>
              <a:t>pages</a:t>
            </a:r>
            <a:r>
              <a:rPr lang="es-ES_tradnl" sz="1800" dirty="0"/>
              <a:t>.</a:t>
            </a:r>
          </a:p>
          <a:p>
            <a:pPr marL="0" indent="0">
              <a:buNone/>
            </a:pPr>
            <a:endParaRPr lang="es-419" sz="1800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81663CF-BB03-0433-33C8-DE1D5A72F64D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las solicitudes de servicios de los estudiantes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</a:t>
            </a:r>
            <a:r>
              <a:rPr lang="es-419" sz="3200" dirty="0"/>
              <a:t>Gestionar las solicitudes de servicios de los estudiantes</a:t>
            </a:r>
            <a:br>
              <a:rPr lang="es-419" dirty="0"/>
            </a:br>
            <a:endParaRPr lang="es-ES_tradnl" b="1" dirty="0"/>
          </a:p>
        </p:txBody>
      </p:sp>
    </p:spTree>
    <p:extLst>
      <p:ext uri="{BB962C8B-B14F-4D97-AF65-F5344CB8AC3E}">
        <p14:creationId xmlns:p14="http://schemas.microsoft.com/office/powerpoint/2010/main" val="1491982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BB8A4AC5-A8D2-A02D-0603-CAC43E80BE26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las solicitudes de servicios de los estudiantes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Overview: </a:t>
            </a:r>
            <a:r>
              <a:rPr lang="es-ES_tradnl" b="1" dirty="0"/>
              <a:t>Procedimiento- </a:t>
            </a:r>
            <a:r>
              <a:rPr lang="es-ES_tradnl" dirty="0">
                <a:solidFill>
                  <a:schemeClr val="bg2">
                    <a:lumMod val="25000"/>
                  </a:schemeClr>
                </a:solidFill>
              </a:rPr>
              <a:t>Procedimientos </a:t>
            </a:r>
            <a:r>
              <a:rPr lang="es-419" sz="3200" dirty="0"/>
              <a:t>Gestionar las solicitudes de servicios de los estudiantes</a:t>
            </a:r>
            <a:endParaRPr lang="es-ES_tradnl" b="1" dirty="0"/>
          </a:p>
        </p:txBody>
      </p:sp>
      <p:pic>
        <p:nvPicPr>
          <p:cNvPr id="3" name="Picture 9" descr="A diagram of a computer&#10;&#10;Description automatically generated">
            <a:extLst>
              <a:ext uri="{FF2B5EF4-FFF2-40B4-BE49-F238E27FC236}">
                <a16:creationId xmlns:a16="http://schemas.microsoft.com/office/drawing/2014/main" id="{5F6F84F2-6B90-522E-0E16-1828E4ED9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425" y="2377962"/>
            <a:ext cx="9942094" cy="210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803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AE1BB385-EBB9-AD98-896B-A427CE8D878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</a:t>
            </a:r>
            <a:r>
              <a:rPr lang="es-ES_tradnl" b="1" dirty="0"/>
              <a:t>Región donde aplica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7F9A8D2-DB8A-9348-9C89-4582AE2EB894}"/>
              </a:ext>
            </a:extLst>
          </p:cNvPr>
          <p:cNvSpPr txBox="1"/>
          <p:nvPr/>
        </p:nvSpPr>
        <p:spPr>
          <a:xfrm>
            <a:off x="8409273" y="3182780"/>
            <a:ext cx="1537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/>
              <a:t>Todo LAC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004E8E-2D80-DD44-3EEA-DF6CAB3F2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879" y="1584355"/>
            <a:ext cx="5111496" cy="511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20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Gestionar las solicitudes de servicios de los estudiantes</a:t>
            </a:r>
            <a:endParaRPr lang="es-41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b="1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Solicitud de servicio en autoservicio</a:t>
            </a:r>
            <a:br>
              <a:rPr lang="es-ES_tradnl" sz="3200" b="1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endParaRPr lang="es-ES_tradn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9D48FE-BD35-8481-F167-11AE2A1E1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ES" dirty="0"/>
              <a:t>Creación de los códigos necesarios para definir los servicios que se ofrecen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001964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CCA21DF-AC02-099D-D731-4A7AC3776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19080"/>
            <a:ext cx="11466576" cy="2995179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199D2796-7A92-72E2-CB43-F83909D3F70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las solicitudes de servicios de los estudiantes</a:t>
            </a:r>
            <a:endParaRPr lang="es-419" dirty="0"/>
          </a:p>
        </p:txBody>
      </p:sp>
      <p:sp>
        <p:nvSpPr>
          <p:cNvPr id="9" name="Rectángulo redondeado 5">
            <a:extLst>
              <a:ext uri="{FF2B5EF4-FFF2-40B4-BE49-F238E27FC236}">
                <a16:creationId xmlns:a16="http://schemas.microsoft.com/office/drawing/2014/main" id="{E1B083CA-B606-6F3D-43A2-6FEF8D40FAF5}"/>
              </a:ext>
            </a:extLst>
          </p:cNvPr>
          <p:cNvSpPr/>
          <p:nvPr/>
        </p:nvSpPr>
        <p:spPr>
          <a:xfrm>
            <a:off x="5355396" y="1433189"/>
            <a:ext cx="5669420" cy="1083481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457200"/>
            <a:r>
              <a:rPr lang="es-ES_tradnl" sz="1200" dirty="0">
                <a:solidFill>
                  <a:schemeClr val="bg1"/>
                </a:solidFill>
                <a:cs typeface="Arial"/>
              </a:rPr>
              <a:t>Desde autoservicios, el estudiante accede a solicitar el servicio. </a:t>
            </a:r>
          </a:p>
          <a:p>
            <a:pPr algn="ctr" defTabSz="457200"/>
            <a:r>
              <a:rPr lang="es-ES_tradnl" sz="1200" dirty="0">
                <a:solidFill>
                  <a:schemeClr val="bg1"/>
                </a:solidFill>
                <a:cs typeface="Arial"/>
              </a:rPr>
              <a:t>El estudiante selecciona la </a:t>
            </a:r>
            <a:r>
              <a:rPr lang="es-ES_tradnl" sz="1200" b="1" dirty="0">
                <a:solidFill>
                  <a:schemeClr val="bg1"/>
                </a:solidFill>
                <a:cs typeface="Arial"/>
              </a:rPr>
              <a:t>categoría</a:t>
            </a:r>
            <a:r>
              <a:rPr lang="es-ES_tradnl" sz="1200" dirty="0">
                <a:solidFill>
                  <a:schemeClr val="bg1"/>
                </a:solidFill>
                <a:cs typeface="Arial"/>
              </a:rPr>
              <a:t> y el </a:t>
            </a:r>
            <a:r>
              <a:rPr lang="es-ES_tradnl" sz="1200" b="1" dirty="0">
                <a:solidFill>
                  <a:schemeClr val="bg1"/>
                </a:solidFill>
                <a:cs typeface="Arial"/>
              </a:rPr>
              <a:t>servicio</a:t>
            </a:r>
            <a:r>
              <a:rPr lang="es-ES_tradnl" sz="1200" dirty="0">
                <a:solidFill>
                  <a:schemeClr val="bg1"/>
                </a:solidFill>
                <a:cs typeface="Arial"/>
              </a:rPr>
              <a:t> que desea solicitar y presiona el botón </a:t>
            </a:r>
            <a:r>
              <a:rPr lang="es-ES_tradnl" sz="1200" b="1" dirty="0">
                <a:solidFill>
                  <a:schemeClr val="bg1"/>
                </a:solidFill>
                <a:cs typeface="Arial"/>
              </a:rPr>
              <a:t>Continuar</a:t>
            </a:r>
            <a:r>
              <a:rPr lang="es-ES_tradnl" sz="1200" dirty="0">
                <a:solidFill>
                  <a:schemeClr val="bg1"/>
                </a:solidFill>
                <a:cs typeface="Arial"/>
              </a:rPr>
              <a:t>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C96D8CA-9579-35C0-3D31-2B7EFA99DD09}"/>
              </a:ext>
            </a:extLst>
          </p:cNvPr>
          <p:cNvSpPr txBox="1"/>
          <p:nvPr/>
        </p:nvSpPr>
        <p:spPr>
          <a:xfrm>
            <a:off x="1298470" y="2355914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279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F30CF0-1B0D-989B-DC97-EED422055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1" y="386938"/>
            <a:ext cx="11466576" cy="4952699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199D2796-7A92-72E2-CB43-F83909D3F70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las solicitudes de servicios de los estudiantes</a:t>
            </a:r>
            <a:endParaRPr lang="es-419" dirty="0"/>
          </a:p>
        </p:txBody>
      </p:sp>
      <p:sp>
        <p:nvSpPr>
          <p:cNvPr id="7" name="Flecha: hacia la izquierda 6">
            <a:extLst>
              <a:ext uri="{FF2B5EF4-FFF2-40B4-BE49-F238E27FC236}">
                <a16:creationId xmlns:a16="http://schemas.microsoft.com/office/drawing/2014/main" id="{E86872E3-A3F2-A808-2FAF-A7305C7C314C}"/>
              </a:ext>
            </a:extLst>
          </p:cNvPr>
          <p:cNvSpPr/>
          <p:nvPr/>
        </p:nvSpPr>
        <p:spPr>
          <a:xfrm>
            <a:off x="8463188" y="3292920"/>
            <a:ext cx="267192" cy="107219"/>
          </a:xfrm>
          <a:prstGeom prst="leftArrow">
            <a:avLst/>
          </a:prstGeom>
          <a:solidFill>
            <a:srgbClr val="33CCCC"/>
          </a:solidFill>
          <a:ln>
            <a:solidFill>
              <a:srgbClr val="0CB4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redondeado 5">
            <a:extLst>
              <a:ext uri="{FF2B5EF4-FFF2-40B4-BE49-F238E27FC236}">
                <a16:creationId xmlns:a16="http://schemas.microsoft.com/office/drawing/2014/main" id="{E1B083CA-B606-6F3D-43A2-6FEF8D40FAF5}"/>
              </a:ext>
            </a:extLst>
          </p:cNvPr>
          <p:cNvSpPr/>
          <p:nvPr/>
        </p:nvSpPr>
        <p:spPr>
          <a:xfrm>
            <a:off x="8463188" y="1382984"/>
            <a:ext cx="3640891" cy="169234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457200"/>
            <a:r>
              <a:rPr lang="es-ES_tradnl" sz="1200" dirty="0">
                <a:solidFill>
                  <a:schemeClr val="bg1"/>
                </a:solidFill>
                <a:cs typeface="Arial"/>
              </a:rPr>
              <a:t>Si el servicio tiene asociados datos adicionales, el estudiante deberá seleccionar aquellos parámetros para los cuales corresponde el servicio. En el ejemplo de la imagen: Programa.</a:t>
            </a:r>
          </a:p>
          <a:p>
            <a:pPr algn="ctr" defTabSz="457200"/>
            <a:r>
              <a:rPr lang="es-ES_tradnl" sz="1200" dirty="0">
                <a:solidFill>
                  <a:schemeClr val="bg1"/>
                </a:solidFill>
                <a:cs typeface="Arial"/>
              </a:rPr>
              <a:t>Puede agregar un comentario si así lo desea.</a:t>
            </a:r>
          </a:p>
          <a:p>
            <a:pPr algn="ctr" defTabSz="457200"/>
            <a:r>
              <a:rPr lang="es-ES_tradnl" sz="1200" dirty="0">
                <a:solidFill>
                  <a:schemeClr val="bg1"/>
                </a:solidFill>
                <a:cs typeface="Arial"/>
              </a:rPr>
              <a:t>Al llenar todos los parámetros, deberá guardar la solicitud.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C96D8CA-9579-35C0-3D31-2B7EFA99DD09}"/>
              </a:ext>
            </a:extLst>
          </p:cNvPr>
          <p:cNvSpPr txBox="1"/>
          <p:nvPr/>
        </p:nvSpPr>
        <p:spPr>
          <a:xfrm>
            <a:off x="8897134" y="3238807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4D89C78B-1739-A996-4363-5D9D9123F067}"/>
              </a:ext>
            </a:extLst>
          </p:cNvPr>
          <p:cNvSpPr/>
          <p:nvPr/>
        </p:nvSpPr>
        <p:spPr>
          <a:xfrm>
            <a:off x="4338163" y="5163918"/>
            <a:ext cx="5669420" cy="1083481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457200"/>
            <a:r>
              <a:rPr lang="es-ES_tradnl" sz="1200" dirty="0">
                <a:solidFill>
                  <a:schemeClr val="bg1"/>
                </a:solidFill>
                <a:cs typeface="Arial"/>
              </a:rPr>
              <a:t>El sistema asigna un número de servicio a la solicitud del estudiante y muestra la lista de solicitudes que ha hecho el estudiante con sus datos. El estatus inicial es Recibido.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1D83B9BE-3FB4-F59A-8E57-4A64B13CB04B}"/>
              </a:ext>
            </a:extLst>
          </p:cNvPr>
          <p:cNvSpPr/>
          <p:nvPr/>
        </p:nvSpPr>
        <p:spPr>
          <a:xfrm>
            <a:off x="2420272" y="976622"/>
            <a:ext cx="4443896" cy="1083481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457200"/>
            <a:r>
              <a:rPr lang="es-ES_tradnl" sz="1200" dirty="0">
                <a:solidFill>
                  <a:schemeClr val="bg1"/>
                </a:solidFill>
                <a:cs typeface="Arial"/>
              </a:rPr>
              <a:t>El </a:t>
            </a:r>
            <a:r>
              <a:rPr lang="es-ES_tradnl" sz="1200" b="1" dirty="0">
                <a:solidFill>
                  <a:schemeClr val="bg1"/>
                </a:solidFill>
                <a:cs typeface="Arial"/>
              </a:rPr>
              <a:t>Método de entrega</a:t>
            </a:r>
            <a:r>
              <a:rPr lang="es-ES_tradnl" sz="1200" dirty="0">
                <a:solidFill>
                  <a:schemeClr val="bg1"/>
                </a:solidFill>
                <a:cs typeface="Arial"/>
              </a:rPr>
              <a:t>, al estudiante se le desplegarán los diferentes métodos configurados por la institución y debe seleccionar el que desee para su solicitud.</a:t>
            </a:r>
          </a:p>
        </p:txBody>
      </p:sp>
      <p:sp>
        <p:nvSpPr>
          <p:cNvPr id="10" name="CuadroTexto 17">
            <a:extLst>
              <a:ext uri="{FF2B5EF4-FFF2-40B4-BE49-F238E27FC236}">
                <a16:creationId xmlns:a16="http://schemas.microsoft.com/office/drawing/2014/main" id="{55B9EBBF-F6EA-17B7-3B39-5D631F27BA32}"/>
              </a:ext>
            </a:extLst>
          </p:cNvPr>
          <p:cNvSpPr txBox="1"/>
          <p:nvPr/>
        </p:nvSpPr>
        <p:spPr>
          <a:xfrm>
            <a:off x="321799" y="2319371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2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293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5FABD2-247A-E40A-DAC4-220D0B49C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1" y="954402"/>
            <a:ext cx="11446510" cy="4949196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199D2796-7A92-72E2-CB43-F83909D3F70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las solicitudes de servicios de los estudiantes</a:t>
            </a:r>
            <a:endParaRPr lang="es-419" dirty="0"/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4D89C78B-1739-A996-4363-5D9D9123F067}"/>
              </a:ext>
            </a:extLst>
          </p:cNvPr>
          <p:cNvSpPr/>
          <p:nvPr/>
        </p:nvSpPr>
        <p:spPr>
          <a:xfrm>
            <a:off x="1147721" y="4334825"/>
            <a:ext cx="9248135" cy="1083481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457200"/>
            <a:r>
              <a:rPr lang="es-ES_tradnl" sz="1200" dirty="0">
                <a:solidFill>
                  <a:schemeClr val="bg1"/>
                </a:solidFill>
                <a:cs typeface="Arial"/>
              </a:rPr>
              <a:t>Mientras la solicitud de servicio tenga un estatus que no sea de fin, el estudiante puede consultar su servicio haciendo clic sobre el número e, inclusive, agregar comentarios al mismo.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E7F42B-55A8-CF40-CAE3-6FDB16282816}"/>
              </a:ext>
            </a:extLst>
          </p:cNvPr>
          <p:cNvSpPr txBox="1"/>
          <p:nvPr/>
        </p:nvSpPr>
        <p:spPr>
          <a:xfrm>
            <a:off x="1397767" y="2093154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455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3E5E31-3D6C-7510-864C-95688C6AA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749808"/>
            <a:ext cx="11216607" cy="4827178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199D2796-7A92-72E2-CB43-F83909D3F70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las solicitudes de servicios de los estudiantes</a:t>
            </a:r>
            <a:endParaRPr lang="es-419" dirty="0"/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4D89C78B-1739-A996-4363-5D9D9123F067}"/>
              </a:ext>
            </a:extLst>
          </p:cNvPr>
          <p:cNvSpPr/>
          <p:nvPr/>
        </p:nvSpPr>
        <p:spPr>
          <a:xfrm>
            <a:off x="3358000" y="835499"/>
            <a:ext cx="5649813" cy="740772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457200"/>
            <a:r>
              <a:rPr lang="es-ES_tradnl" sz="1200" dirty="0">
                <a:solidFill>
                  <a:schemeClr val="bg1"/>
                </a:solidFill>
                <a:cs typeface="Arial"/>
              </a:rPr>
              <a:t>Dado que la solicitud tiene asociado cobro para el estudiante, en su cuenta corriente aparece el cargo correspondiente</a:t>
            </a:r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742FFBC4-83DF-5F70-D4FD-43D3F564C234}"/>
              </a:ext>
            </a:extLst>
          </p:cNvPr>
          <p:cNvSpPr/>
          <p:nvPr/>
        </p:nvSpPr>
        <p:spPr>
          <a:xfrm>
            <a:off x="3271093" y="4396151"/>
            <a:ext cx="5649813" cy="740772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457200"/>
            <a:r>
              <a:rPr lang="es-ES_tradnl" sz="1200" dirty="0">
                <a:solidFill>
                  <a:schemeClr val="bg1"/>
                </a:solidFill>
                <a:cs typeface="Arial"/>
              </a:rPr>
              <a:t>Cuando el estudiante paga el cargo generado, la solicitud cambia de estatus a PAGADA por la configuración de SVVSRCT </a:t>
            </a:r>
          </a:p>
        </p:txBody>
      </p:sp>
    </p:spTree>
    <p:extLst>
      <p:ext uri="{BB962C8B-B14F-4D97-AF65-F5344CB8AC3E}">
        <p14:creationId xmlns:p14="http://schemas.microsoft.com/office/powerpoint/2010/main" val="3603560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93D62-9DA9-4308-CC18-B759EF0B2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6C4D8C-8A3A-A3E7-B895-2EB5025DA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052430"/>
            <a:ext cx="11048303" cy="4753138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91C3568C-F614-6C34-B1E0-F2B07CD3BCD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las solicitudes de servicios de los estudiantes</a:t>
            </a:r>
            <a:endParaRPr lang="es-419" dirty="0"/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7BBD2C4F-A88C-BEB8-9F70-F380B13EF967}"/>
              </a:ext>
            </a:extLst>
          </p:cNvPr>
          <p:cNvSpPr/>
          <p:nvPr/>
        </p:nvSpPr>
        <p:spPr>
          <a:xfrm>
            <a:off x="3271093" y="4396151"/>
            <a:ext cx="5649813" cy="740772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457200"/>
            <a:r>
              <a:rPr lang="es-ES_tradnl" sz="1200" dirty="0">
                <a:solidFill>
                  <a:schemeClr val="bg1"/>
                </a:solidFill>
                <a:cs typeface="Arial"/>
              </a:rPr>
              <a:t>Cuando el estudiante paga el cargo generado, la solicitud cambia de estatus a PAGADA por la configuración de SVVSRCT </a:t>
            </a:r>
          </a:p>
        </p:txBody>
      </p:sp>
    </p:spTree>
    <p:extLst>
      <p:ext uri="{BB962C8B-B14F-4D97-AF65-F5344CB8AC3E}">
        <p14:creationId xmlns:p14="http://schemas.microsoft.com/office/powerpoint/2010/main" val="3806544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5BB47D-8816-DE7B-0042-AC441A844B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99"/>
          <a:stretch>
            <a:fillRect/>
          </a:stretch>
        </p:blipFill>
        <p:spPr>
          <a:xfrm>
            <a:off x="837398" y="685799"/>
            <a:ext cx="10869521" cy="3492501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199D2796-7A92-72E2-CB43-F83909D3F70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las solicitudes de servicios de los estudiantes</a:t>
            </a:r>
            <a:endParaRPr lang="es-419" dirty="0"/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4D89C78B-1739-A996-4363-5D9D9123F067}"/>
              </a:ext>
            </a:extLst>
          </p:cNvPr>
          <p:cNvSpPr/>
          <p:nvPr/>
        </p:nvSpPr>
        <p:spPr>
          <a:xfrm>
            <a:off x="2587184" y="2235893"/>
            <a:ext cx="5669420" cy="1083481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457200"/>
            <a:r>
              <a:rPr lang="es-ES_tradnl" sz="1200" dirty="0">
                <a:solidFill>
                  <a:schemeClr val="bg1"/>
                </a:solidFill>
                <a:cs typeface="Arial"/>
              </a:rPr>
              <a:t>Mientras el servicio no tenga un estatus de fin, el estudiante puede presionar ver el detalle de su solicitud e ingresar nuevos comentarios en la misma,  haciendo clic sobre el número de servicio correspondiente: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DAF224-E6F0-821C-4CFB-63F07C363D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547"/>
          <a:stretch>
            <a:fillRect/>
          </a:stretch>
        </p:blipFill>
        <p:spPr>
          <a:xfrm>
            <a:off x="837398" y="3861301"/>
            <a:ext cx="8771922" cy="280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83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13D474-EF59-2D48-B7C0-03A42597CAB9}"/>
              </a:ext>
            </a:extLst>
          </p:cNvPr>
          <p:cNvSpPr txBox="1">
            <a:spLocks/>
          </p:cNvSpPr>
          <p:nvPr/>
        </p:nvSpPr>
        <p:spPr>
          <a:xfrm>
            <a:off x="475488" y="3026292"/>
            <a:ext cx="5407861" cy="17012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spcBef>
                <a:spcPts val="900"/>
              </a:spcBef>
              <a:buFontTx/>
              <a:buNone/>
              <a:defRPr lang="en-US" sz="1600" b="1" kern="1200" spc="100">
                <a:solidFill>
                  <a:schemeClr val="bg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indent="0" algn="l" defTabSz="457200" rtl="0" eaLnBrk="1" latinLnBrk="0" hangingPunct="1">
              <a:spcBef>
                <a:spcPts val="900"/>
              </a:spcBef>
              <a:buFont typeface="Arial" panose="020B0604020202020204" pitchFamily="34" charset="0"/>
              <a:buNone/>
              <a:defRPr lang="en-US" sz="1600" b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914400" indent="0" algn="l" defTabSz="457200" rtl="0" eaLnBrk="1" latinLnBrk="0" hangingPunct="1">
              <a:spcBef>
                <a:spcPts val="900"/>
              </a:spcBef>
              <a:buFont typeface="Arial"/>
              <a:buNone/>
              <a:defRPr lang="en-US" sz="1400" kern="120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3pPr>
            <a:lvl4pPr marL="1371600" indent="0" algn="l" defTabSz="457200" rtl="0" eaLnBrk="1" latinLnBrk="0" hangingPunct="1">
              <a:spcBef>
                <a:spcPts val="900"/>
              </a:spcBef>
              <a:buFont typeface="Arial" panose="020B0604020202020204" pitchFamily="34" charset="0"/>
              <a:buNone/>
              <a:defRPr lang="en-US" sz="1200" kern="120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4pPr>
            <a:lvl5pPr marL="1828800" indent="0" algn="l" defTabSz="457200" rtl="0" eaLnBrk="1" latinLnBrk="0" hangingPunct="1">
              <a:spcBef>
                <a:spcPts val="900"/>
              </a:spcBef>
              <a:buFont typeface="Arial" panose="020B0604020202020204" pitchFamily="34" charset="0"/>
              <a:buNone/>
              <a:defRPr lang="en-US" sz="1200" kern="120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_tradnl" sz="2133" dirty="0"/>
          </a:p>
        </p:txBody>
      </p:sp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F0B92568-548A-3FDF-0A9D-BB64AC473FF2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Gestionar las solicitudes de servicios de los estudiantes</a:t>
            </a:r>
            <a:endParaRPr lang="es-419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4A62112F-A3AA-3C4D-A267-97DF7410D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3200" b="1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Gestionar las solicitudes de servicio en </a:t>
            </a:r>
            <a:r>
              <a:rPr lang="es-ES_tradnl" sz="3200" b="1" kern="1200" noProof="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admin</a:t>
            </a:r>
            <a:r>
              <a:rPr lang="es-ES_tradnl" sz="3200" b="1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_tradnl" sz="3200" b="1" kern="1200" noProof="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pages</a:t>
            </a:r>
            <a:endParaRPr lang="es-ES_tradnl" sz="3200" b="1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C194659-2111-65DA-CF8C-F931670E70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4280198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1F9F4B-5EFF-5A62-3BD4-4431218DC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181" y="1212222"/>
            <a:ext cx="10853928" cy="4683196"/>
          </a:xfrm>
          <a:prstGeom prst="rect">
            <a:avLst/>
          </a:prstGeom>
        </p:spPr>
      </p:pic>
      <p:sp>
        <p:nvSpPr>
          <p:cNvPr id="5" name="Marcador de texto vertical 4">
            <a:extLst>
              <a:ext uri="{FF2B5EF4-FFF2-40B4-BE49-F238E27FC236}">
                <a16:creationId xmlns:a16="http://schemas.microsoft.com/office/drawing/2014/main" id="{46122D14-E4FA-4647-3558-9021D99E607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las solicitudes de servicios de los estudiantes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71143" y="313667"/>
            <a:ext cx="10477497" cy="898555"/>
          </a:xfrm>
        </p:spPr>
        <p:txBody>
          <a:bodyPr/>
          <a:lstStyle/>
          <a:p>
            <a:r>
              <a:rPr lang="es-ES_tradnl" b="1" dirty="0"/>
              <a:t>Administrar las solicitudes en SVASVPR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9A31080-B05A-6571-4245-2226C99A7160}"/>
              </a:ext>
            </a:extLst>
          </p:cNvPr>
          <p:cNvSpPr txBox="1"/>
          <p:nvPr/>
        </p:nvSpPr>
        <p:spPr>
          <a:xfrm>
            <a:off x="1140815" y="1809987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53180C7-F875-CE1E-530D-9A173D225524}"/>
              </a:ext>
            </a:extLst>
          </p:cNvPr>
          <p:cNvSpPr txBox="1"/>
          <p:nvPr/>
        </p:nvSpPr>
        <p:spPr>
          <a:xfrm>
            <a:off x="9974822" y="1761862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2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F1C23CED-A0D2-0921-6B06-67777090C20D}"/>
              </a:ext>
            </a:extLst>
          </p:cNvPr>
          <p:cNvSpPr/>
          <p:nvPr/>
        </p:nvSpPr>
        <p:spPr>
          <a:xfrm>
            <a:off x="990396" y="3734090"/>
            <a:ext cx="10477498" cy="1431215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dirty="0"/>
              <a:t>La página </a:t>
            </a:r>
            <a:r>
              <a:rPr lang="es-419" sz="1100" b="1" dirty="0"/>
              <a:t>SVASVPR</a:t>
            </a:r>
            <a:r>
              <a:rPr lang="es-419" sz="1100" dirty="0"/>
              <a:t> es utilizada para la gestión y consulta de las solicitudes de servicio. 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419" sz="1100" dirty="0"/>
              <a:t>Al acceder a la página, se debe ingresar, al menos, uno de los siguientes criterios para que se muestren las solicitudes, según el criterio ingresado (los criterios pueden combinarse):</a:t>
            </a:r>
          </a:p>
          <a:p>
            <a:pPr marL="685800" lvl="1" indent="-228600" algn="just">
              <a:buFont typeface="Arial" panose="020B0604020202020204" pitchFamily="34" charset="0"/>
              <a:buChar char="•"/>
            </a:pPr>
            <a:r>
              <a:rPr lang="es-419" sz="1100" b="1" dirty="0"/>
              <a:t>ID</a:t>
            </a:r>
            <a:r>
              <a:rPr lang="es-419" sz="1100" dirty="0"/>
              <a:t>: si se ingresa el ID del estudiante, se mostrarán las solicitudes de este.</a:t>
            </a:r>
          </a:p>
          <a:p>
            <a:pPr marL="685800" lvl="1" indent="-228600" algn="just">
              <a:buFont typeface="Arial" panose="020B0604020202020204" pitchFamily="34" charset="0"/>
              <a:buChar char="•"/>
            </a:pPr>
            <a:r>
              <a:rPr lang="es-419" sz="1100" b="1" dirty="0"/>
              <a:t>Servicio</a:t>
            </a:r>
            <a:r>
              <a:rPr lang="es-419" sz="1100" dirty="0"/>
              <a:t>: si se ingresa el código de servicio, se mostrarán todas las solicitudes asociadas a dicho código.</a:t>
            </a:r>
          </a:p>
          <a:p>
            <a:pPr marL="685800" lvl="1" indent="-228600" algn="just">
              <a:buFont typeface="Arial" panose="020B0604020202020204" pitchFamily="34" charset="0"/>
              <a:buChar char="•"/>
            </a:pPr>
            <a:r>
              <a:rPr lang="es-419" sz="1100" b="1" dirty="0"/>
              <a:t>Estatus</a:t>
            </a:r>
            <a:r>
              <a:rPr lang="es-419" sz="1100" dirty="0"/>
              <a:t>: si se ingresa el código de estatus, se mostrarán las solicitudes que tengan, en el momento de entrar a los datos, dicho código.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419" sz="1100" dirty="0"/>
              <a:t>Presionar el botón </a:t>
            </a:r>
            <a:r>
              <a:rPr lang="es-419" sz="1100" b="1" dirty="0"/>
              <a:t>Ir</a:t>
            </a:r>
            <a:r>
              <a:rPr lang="es-419" sz="1100" dirty="0"/>
              <a:t>.</a:t>
            </a:r>
          </a:p>
          <a:p>
            <a:pPr algn="just"/>
            <a:endParaRPr lang="es-CL" sz="1100" dirty="0"/>
          </a:p>
        </p:txBody>
      </p:sp>
    </p:spTree>
    <p:extLst>
      <p:ext uri="{BB962C8B-B14F-4D97-AF65-F5344CB8AC3E}">
        <p14:creationId xmlns:p14="http://schemas.microsoft.com/office/powerpoint/2010/main" val="4227168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2B2633-BB41-7263-26D5-D1EBF53BA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991" y="1212222"/>
            <a:ext cx="11246114" cy="4840693"/>
          </a:xfrm>
          <a:prstGeom prst="rect">
            <a:avLst/>
          </a:prstGeom>
        </p:spPr>
      </p:pic>
      <p:sp>
        <p:nvSpPr>
          <p:cNvPr id="5" name="Marcador de texto vertical 4">
            <a:extLst>
              <a:ext uri="{FF2B5EF4-FFF2-40B4-BE49-F238E27FC236}">
                <a16:creationId xmlns:a16="http://schemas.microsoft.com/office/drawing/2014/main" id="{46122D14-E4FA-4647-3558-9021D99E607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las solicitudes de servicios de los estudiantes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71143" y="313667"/>
            <a:ext cx="10477497" cy="898555"/>
          </a:xfrm>
        </p:spPr>
        <p:txBody>
          <a:bodyPr/>
          <a:lstStyle/>
          <a:p>
            <a:r>
              <a:rPr lang="es-ES_tradnl" b="1" dirty="0"/>
              <a:t>Administrar las solicitudes en SVASVPR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D151DE2-C63F-6A32-C703-9AF75DCB6077}"/>
              </a:ext>
            </a:extLst>
          </p:cNvPr>
          <p:cNvSpPr/>
          <p:nvPr/>
        </p:nvSpPr>
        <p:spPr>
          <a:xfrm>
            <a:off x="1201299" y="3669552"/>
            <a:ext cx="10477498" cy="1769956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CL" sz="1100" dirty="0"/>
              <a:t>El sistema muestra las características principales de las solicitudes de servicio en cada uno de los registros: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CL" sz="1100" dirty="0"/>
              <a:t>Número (que coincide con el que el estudiante visualiza en el autoservicio)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CL" sz="1100" dirty="0"/>
              <a:t>Código del servicio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CL" sz="1100" dirty="0"/>
              <a:t>ID y Nombre del estudiante que realizó la solicitud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CL" sz="1100" dirty="0"/>
              <a:t>Estatus del servicio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CL" sz="1100" dirty="0"/>
              <a:t>Fecha de captura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CL" sz="1100" dirty="0"/>
              <a:t>Fecha estimada de entrega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CL" sz="1100" dirty="0"/>
              <a:t>Si el servicio está pagado, aparece marcada dicha opción</a:t>
            </a:r>
          </a:p>
          <a:p>
            <a:pPr marL="342900" indent="-342900" algn="just">
              <a:buFont typeface="+mj-lt"/>
              <a:buAutoNum type="arabicPeriod" startAt="3"/>
            </a:pPr>
            <a:r>
              <a:rPr lang="es-CL" sz="1100" dirty="0"/>
              <a:t>Presione el botón para ver mayor detalle de la solicitud del registro que desea consultar o gestionar.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D5624F6-9FF1-C1F4-5FA9-3CFF6D125ADE}"/>
              </a:ext>
            </a:extLst>
          </p:cNvPr>
          <p:cNvSpPr txBox="1"/>
          <p:nvPr/>
        </p:nvSpPr>
        <p:spPr>
          <a:xfrm>
            <a:off x="10109475" y="2333165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50640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AA19C9-E40D-5BE0-0A8A-8BD046788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076790"/>
            <a:ext cx="10908792" cy="4704417"/>
          </a:xfrm>
          <a:prstGeom prst="rect">
            <a:avLst/>
          </a:prstGeom>
        </p:spPr>
      </p:pic>
      <p:sp>
        <p:nvSpPr>
          <p:cNvPr id="5" name="Marcador de texto vertical 4">
            <a:extLst>
              <a:ext uri="{FF2B5EF4-FFF2-40B4-BE49-F238E27FC236}">
                <a16:creationId xmlns:a16="http://schemas.microsoft.com/office/drawing/2014/main" id="{46122D14-E4FA-4647-3558-9021D99E607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las solicitudes de servicios de los estudiantes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71143" y="313667"/>
            <a:ext cx="10477497" cy="898555"/>
          </a:xfrm>
        </p:spPr>
        <p:txBody>
          <a:bodyPr/>
          <a:lstStyle/>
          <a:p>
            <a:r>
              <a:rPr lang="es-ES_tradnl" b="1" dirty="0"/>
              <a:t>Administrar las solicitudes en SVASVPR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D151DE2-C63F-6A32-C703-9AF75DCB6077}"/>
              </a:ext>
            </a:extLst>
          </p:cNvPr>
          <p:cNvSpPr/>
          <p:nvPr/>
        </p:nvSpPr>
        <p:spPr>
          <a:xfrm>
            <a:off x="971143" y="4202349"/>
            <a:ext cx="10477498" cy="1507309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CL" sz="1100" dirty="0"/>
              <a:t>El sistema muestra  los detalles de la solicitud que usted seleccionó en el apartado anterior. Usted puede modificar, o actualizar los registros según la evolución o resolución del servicio.</a:t>
            </a:r>
          </a:p>
          <a:p>
            <a:pPr algn="just"/>
            <a:r>
              <a:rPr lang="es-CL" sz="1100" dirty="0"/>
              <a:t>1. Información de detalle de solicitud de servicio: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CL" sz="1100" dirty="0"/>
              <a:t>Puede actualizar el </a:t>
            </a:r>
            <a:r>
              <a:rPr lang="es-CL" sz="1100" b="1" dirty="0"/>
              <a:t>Código de estatus </a:t>
            </a:r>
            <a:r>
              <a:rPr lang="es-CL" sz="1100" dirty="0"/>
              <a:t>de la solicitud al que corresponde en la etapa en la que usted está revisando. Por ejemplo, Aprobada, Rechazada o Finalizada, siempre que estos códigos estén configurados para el servicio en SVARSRV.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CL" sz="1100" dirty="0"/>
              <a:t>Puede ingresar o actualizar la fecha estimada de entrega o la fecha efectiva de entrega, si  así lo desea.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297CC1C-3EC6-6FB2-E4D4-740AD745D2FF}"/>
              </a:ext>
            </a:extLst>
          </p:cNvPr>
          <p:cNvSpPr txBox="1"/>
          <p:nvPr/>
        </p:nvSpPr>
        <p:spPr>
          <a:xfrm>
            <a:off x="3168021" y="1772143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32446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1A713D-2148-4AAB-C3B9-3D8C121C4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45441"/>
            <a:ext cx="11123665" cy="4811173"/>
          </a:xfrm>
          <a:prstGeom prst="rect">
            <a:avLst/>
          </a:prstGeom>
        </p:spPr>
      </p:pic>
      <p:sp>
        <p:nvSpPr>
          <p:cNvPr id="5" name="Marcador de texto vertical 4">
            <a:extLst>
              <a:ext uri="{FF2B5EF4-FFF2-40B4-BE49-F238E27FC236}">
                <a16:creationId xmlns:a16="http://schemas.microsoft.com/office/drawing/2014/main" id="{46122D14-E4FA-4647-3558-9021D99E607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las solicitudes de servicios de los estudiantes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71143" y="313667"/>
            <a:ext cx="10477497" cy="898555"/>
          </a:xfrm>
        </p:spPr>
        <p:txBody>
          <a:bodyPr/>
          <a:lstStyle/>
          <a:p>
            <a:r>
              <a:rPr lang="es-ES_tradnl" b="1" dirty="0"/>
              <a:t>Administrar las solicitudes en SVASVPR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D151DE2-C63F-6A32-C703-9AF75DCB6077}"/>
              </a:ext>
            </a:extLst>
          </p:cNvPr>
          <p:cNvSpPr/>
          <p:nvPr/>
        </p:nvSpPr>
        <p:spPr>
          <a:xfrm>
            <a:off x="1068335" y="4655183"/>
            <a:ext cx="10477498" cy="1507309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CL" sz="1100" dirty="0"/>
              <a:t>2. Comentarios: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CL" sz="1100" dirty="0"/>
              <a:t>Si el estudiante dejó comentarios en el servicio, éstos se visualizarán en el campo </a:t>
            </a:r>
            <a:r>
              <a:rPr lang="es-CL" sz="1100" b="1" dirty="0"/>
              <a:t>Comentarios del alumno</a:t>
            </a:r>
            <a:r>
              <a:rPr lang="es-CL" sz="1100" dirty="0"/>
              <a:t>. 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CL" sz="1100" dirty="0"/>
              <a:t>Puede ingresar o actualizar comentarios en el servicio con las siguientes características:</a:t>
            </a:r>
          </a:p>
          <a:p>
            <a:pPr marL="1085850" lvl="2" indent="-171450" algn="just">
              <a:buFont typeface="Arial" panose="020B0604020202020204" pitchFamily="34" charset="0"/>
              <a:buChar char="•"/>
            </a:pPr>
            <a:r>
              <a:rPr lang="es-CL" sz="1100" b="1" dirty="0"/>
              <a:t>Comentario interno</a:t>
            </a:r>
            <a:r>
              <a:rPr lang="es-CL" sz="1100" dirty="0"/>
              <a:t>: sólo lo pueden ver desde SVASVPR (el alumno no visualiza el comentario).</a:t>
            </a:r>
          </a:p>
          <a:p>
            <a:pPr marL="1085850" lvl="2" indent="-171450" algn="just">
              <a:buFont typeface="Arial" panose="020B0604020202020204" pitchFamily="34" charset="0"/>
              <a:buChar char="•"/>
            </a:pPr>
            <a:r>
              <a:rPr lang="es-CL" sz="1100" b="1" dirty="0"/>
              <a:t>Comentario de respuesta</a:t>
            </a:r>
            <a:r>
              <a:rPr lang="es-CL" sz="1100" dirty="0"/>
              <a:t>: lo puede ver el estudiante desde autoservicio.</a:t>
            </a:r>
          </a:p>
          <a:p>
            <a:pPr marL="1085850" lvl="2" indent="-171450" algn="just">
              <a:buFont typeface="Arial" panose="020B0604020202020204" pitchFamily="34" charset="0"/>
              <a:buChar char="•"/>
            </a:pPr>
            <a:r>
              <a:rPr lang="es-CL" sz="1100" b="1" dirty="0"/>
              <a:t>Comentario de etapa</a:t>
            </a:r>
            <a:r>
              <a:rPr lang="es-CL" sz="1100" dirty="0"/>
              <a:t>: solo se puede visualizar en SVASVPR, puede usarse para  dejar comentarios en cada revisión y resolución del servicio.</a:t>
            </a:r>
          </a:p>
          <a:p>
            <a:pPr marL="1085850" lvl="2" indent="-171450" algn="just">
              <a:buFont typeface="Arial" panose="020B0604020202020204" pitchFamily="34" charset="0"/>
              <a:buChar char="•"/>
            </a:pPr>
            <a:endParaRPr lang="es-CL" sz="1100" dirty="0"/>
          </a:p>
          <a:p>
            <a:pPr lvl="2" algn="just"/>
            <a:r>
              <a:rPr lang="es-CL" sz="1100" dirty="0"/>
              <a:t>El botón       permite ampliar la ventana para leer o ingresar de manera más cómoda los comentarios.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1647F5F-C037-9904-9066-97909B453DD7}"/>
              </a:ext>
            </a:extLst>
          </p:cNvPr>
          <p:cNvSpPr txBox="1"/>
          <p:nvPr/>
        </p:nvSpPr>
        <p:spPr>
          <a:xfrm>
            <a:off x="1886939" y="3321277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BAD8207-C087-D402-577F-A77BE8AB1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1887" y="5856614"/>
            <a:ext cx="192215" cy="20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6459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1C61E4-732C-1C8D-8BF4-D33508C22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012829"/>
            <a:ext cx="11220857" cy="4832340"/>
          </a:xfrm>
          <a:prstGeom prst="rect">
            <a:avLst/>
          </a:prstGeom>
        </p:spPr>
      </p:pic>
      <p:sp>
        <p:nvSpPr>
          <p:cNvPr id="5" name="Marcador de texto vertical 4">
            <a:extLst>
              <a:ext uri="{FF2B5EF4-FFF2-40B4-BE49-F238E27FC236}">
                <a16:creationId xmlns:a16="http://schemas.microsoft.com/office/drawing/2014/main" id="{46122D14-E4FA-4647-3558-9021D99E607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las solicitudes de servicios de los estudiantes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71143" y="313667"/>
            <a:ext cx="10477497" cy="898555"/>
          </a:xfrm>
        </p:spPr>
        <p:txBody>
          <a:bodyPr/>
          <a:lstStyle/>
          <a:p>
            <a:r>
              <a:rPr lang="es-ES_tradnl" b="1" dirty="0"/>
              <a:t>Administrar las solicitudes en SVASVPR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D151DE2-C63F-6A32-C703-9AF75DCB6077}"/>
              </a:ext>
            </a:extLst>
          </p:cNvPr>
          <p:cNvSpPr/>
          <p:nvPr/>
        </p:nvSpPr>
        <p:spPr>
          <a:xfrm>
            <a:off x="1836744" y="5732917"/>
            <a:ext cx="7777685" cy="643905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CL" sz="1100" dirty="0"/>
              <a:t>3. Datos Adicionales: Se visualizan acá los datos adicionales declarados para la solicitud, si aplica. </a:t>
            </a:r>
          </a:p>
          <a:p>
            <a:pPr algn="just"/>
            <a:r>
              <a:rPr lang="es-CL" sz="1100" dirty="0"/>
              <a:t> Si fueron declarados por el estudiante desde autoservicios no se pueden modificar.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1647F5F-C037-9904-9066-97909B453DD7}"/>
              </a:ext>
            </a:extLst>
          </p:cNvPr>
          <p:cNvSpPr txBox="1"/>
          <p:nvPr/>
        </p:nvSpPr>
        <p:spPr>
          <a:xfrm>
            <a:off x="1964760" y="4566417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BAD8207-C087-D402-577F-A77BE8AB1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1887" y="7043388"/>
            <a:ext cx="192215" cy="20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201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13D474-EF59-2D48-B7C0-03A42597CAB9}"/>
              </a:ext>
            </a:extLst>
          </p:cNvPr>
          <p:cNvSpPr txBox="1">
            <a:spLocks/>
          </p:cNvSpPr>
          <p:nvPr/>
        </p:nvSpPr>
        <p:spPr>
          <a:xfrm>
            <a:off x="475488" y="3026292"/>
            <a:ext cx="5407861" cy="17012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spcBef>
                <a:spcPts val="900"/>
              </a:spcBef>
              <a:buFontTx/>
              <a:buNone/>
              <a:defRPr lang="en-US" sz="1600" b="1" kern="1200" spc="100">
                <a:solidFill>
                  <a:schemeClr val="bg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indent="0" algn="l" defTabSz="457200" rtl="0" eaLnBrk="1" latinLnBrk="0" hangingPunct="1">
              <a:spcBef>
                <a:spcPts val="900"/>
              </a:spcBef>
              <a:buFont typeface="Arial" panose="020B0604020202020204" pitchFamily="34" charset="0"/>
              <a:buNone/>
              <a:defRPr lang="en-US" sz="1600" b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914400" indent="0" algn="l" defTabSz="457200" rtl="0" eaLnBrk="1" latinLnBrk="0" hangingPunct="1">
              <a:spcBef>
                <a:spcPts val="900"/>
              </a:spcBef>
              <a:buFont typeface="Arial"/>
              <a:buNone/>
              <a:defRPr lang="en-US" sz="1400" kern="120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3pPr>
            <a:lvl4pPr marL="1371600" indent="0" algn="l" defTabSz="457200" rtl="0" eaLnBrk="1" latinLnBrk="0" hangingPunct="1">
              <a:spcBef>
                <a:spcPts val="900"/>
              </a:spcBef>
              <a:buFont typeface="Arial" panose="020B0604020202020204" pitchFamily="34" charset="0"/>
              <a:buNone/>
              <a:defRPr lang="en-US" sz="1200" kern="120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4pPr>
            <a:lvl5pPr marL="1828800" indent="0" algn="l" defTabSz="457200" rtl="0" eaLnBrk="1" latinLnBrk="0" hangingPunct="1">
              <a:spcBef>
                <a:spcPts val="900"/>
              </a:spcBef>
              <a:buFont typeface="Arial" panose="020B0604020202020204" pitchFamily="34" charset="0"/>
              <a:buNone/>
              <a:defRPr lang="en-US" sz="1200" kern="120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_tradnl" sz="2133" dirty="0"/>
          </a:p>
        </p:txBody>
      </p:sp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F0B92568-548A-3FDF-0A9D-BB64AC473FF2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Gestionar las solicitudes de servicios de los estudiantes</a:t>
            </a:r>
            <a:endParaRPr lang="es-419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4A62112F-A3AA-3C4D-A267-97DF7410D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3200" b="1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Solicitud de servicio desde </a:t>
            </a:r>
            <a:r>
              <a:rPr lang="es-ES_tradnl" sz="3200" b="1" kern="1200" noProof="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admin</a:t>
            </a:r>
            <a:r>
              <a:rPr lang="es-ES_tradnl" sz="3200" b="1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_tradnl" sz="3200" b="1" kern="1200" noProof="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pages</a:t>
            </a:r>
            <a:endParaRPr lang="es-ES_tradnl" sz="3200" b="1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C194659-2111-65DA-CF8C-F931670E70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8616443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6CCFFA-CD1E-4F61-F2CE-5A73E12A3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1" y="3099369"/>
            <a:ext cx="11049801" cy="25464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B081FB-5A19-7208-33A9-D2CD591E0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598" y="1212222"/>
            <a:ext cx="11126804" cy="1398831"/>
          </a:xfrm>
          <a:prstGeom prst="rect">
            <a:avLst/>
          </a:prstGeom>
        </p:spPr>
      </p:pic>
      <p:sp>
        <p:nvSpPr>
          <p:cNvPr id="5" name="Marcador de texto vertical 4">
            <a:extLst>
              <a:ext uri="{FF2B5EF4-FFF2-40B4-BE49-F238E27FC236}">
                <a16:creationId xmlns:a16="http://schemas.microsoft.com/office/drawing/2014/main" id="{46122D14-E4FA-4647-3558-9021D99E607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las solicitudes de servicios de los estudiantes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71143" y="313667"/>
            <a:ext cx="10477497" cy="898555"/>
          </a:xfrm>
        </p:spPr>
        <p:txBody>
          <a:bodyPr/>
          <a:lstStyle/>
          <a:p>
            <a:r>
              <a:rPr lang="es-ES_tradnl" b="1" dirty="0"/>
              <a:t>Crear solicitudes en SVASVPR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9A31080-B05A-6571-4245-2226C99A7160}"/>
              </a:ext>
            </a:extLst>
          </p:cNvPr>
          <p:cNvSpPr txBox="1"/>
          <p:nvPr/>
        </p:nvSpPr>
        <p:spPr>
          <a:xfrm>
            <a:off x="5908138" y="1518506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53180C7-F875-CE1E-530D-9A173D225524}"/>
              </a:ext>
            </a:extLst>
          </p:cNvPr>
          <p:cNvSpPr txBox="1"/>
          <p:nvPr/>
        </p:nvSpPr>
        <p:spPr>
          <a:xfrm>
            <a:off x="10311706" y="1518506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2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F1C23CED-A0D2-0921-6B06-67777090C20D}"/>
              </a:ext>
            </a:extLst>
          </p:cNvPr>
          <p:cNvSpPr/>
          <p:nvPr/>
        </p:nvSpPr>
        <p:spPr>
          <a:xfrm>
            <a:off x="971143" y="4833674"/>
            <a:ext cx="10477498" cy="1120903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dirty="0"/>
              <a:t>Desde la página </a:t>
            </a:r>
            <a:r>
              <a:rPr lang="es-419" sz="1100" b="1" dirty="0"/>
              <a:t>SVASVPR</a:t>
            </a:r>
            <a:r>
              <a:rPr lang="es-419" sz="1100" dirty="0"/>
              <a:t> se pueden ingresar solicitudes de servicio por parte del personal administrativo. 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419" sz="1100" dirty="0"/>
              <a:t>Ingrese, al menos, uno de los siguientes criterios para que pueda acceder al bloque de la lista de solicitudes:  </a:t>
            </a:r>
            <a:r>
              <a:rPr lang="es-419" sz="1100" b="1" dirty="0"/>
              <a:t>ID</a:t>
            </a:r>
            <a:r>
              <a:rPr lang="es-419" sz="1100" dirty="0"/>
              <a:t>, </a:t>
            </a:r>
            <a:r>
              <a:rPr lang="es-419" sz="1100" b="1" dirty="0"/>
              <a:t>Servicio</a:t>
            </a:r>
            <a:r>
              <a:rPr lang="es-419" sz="1100" dirty="0"/>
              <a:t> o </a:t>
            </a:r>
            <a:r>
              <a:rPr lang="es-419" sz="1100" b="1" dirty="0"/>
              <a:t>Estatus</a:t>
            </a:r>
            <a:r>
              <a:rPr lang="es-419" sz="1100" dirty="0"/>
              <a:t>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419" sz="1100" dirty="0"/>
              <a:t>Presionar el botón </a:t>
            </a:r>
            <a:r>
              <a:rPr lang="es-419" sz="1100" b="1" dirty="0"/>
              <a:t>Ir</a:t>
            </a:r>
            <a:r>
              <a:rPr lang="es-419" sz="1100" dirty="0"/>
              <a:t>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CL" sz="1100" dirty="0"/>
              <a:t>Presione la opción </a:t>
            </a:r>
            <a:r>
              <a:rPr lang="es-CL" sz="1100" b="1" dirty="0"/>
              <a:t>Herramientas</a:t>
            </a:r>
            <a:r>
              <a:rPr lang="es-CL" sz="1100" dirty="0"/>
              <a:t>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0ACB4FB-BB44-E9DE-0BB6-C56D05983C7E}"/>
              </a:ext>
            </a:extLst>
          </p:cNvPr>
          <p:cNvSpPr txBox="1"/>
          <p:nvPr/>
        </p:nvSpPr>
        <p:spPr>
          <a:xfrm>
            <a:off x="10868208" y="2718043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447361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EF1B02-B78C-72DC-462E-C8088A06E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360" y="1121125"/>
            <a:ext cx="11220858" cy="4849891"/>
          </a:xfrm>
          <a:prstGeom prst="rect">
            <a:avLst/>
          </a:prstGeom>
        </p:spPr>
      </p:pic>
      <p:sp>
        <p:nvSpPr>
          <p:cNvPr id="5" name="Marcador de texto vertical 4">
            <a:extLst>
              <a:ext uri="{FF2B5EF4-FFF2-40B4-BE49-F238E27FC236}">
                <a16:creationId xmlns:a16="http://schemas.microsoft.com/office/drawing/2014/main" id="{46122D14-E4FA-4647-3558-9021D99E607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las solicitudes de servicios de los estudiantes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71143" y="313667"/>
            <a:ext cx="10477497" cy="898555"/>
          </a:xfrm>
        </p:spPr>
        <p:txBody>
          <a:bodyPr/>
          <a:lstStyle/>
          <a:p>
            <a:r>
              <a:rPr lang="es-ES_tradnl" b="1" dirty="0"/>
              <a:t>Crear solicitudes en SVASVPR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D151DE2-C63F-6A32-C703-9AF75DCB6077}"/>
              </a:ext>
            </a:extLst>
          </p:cNvPr>
          <p:cNvSpPr/>
          <p:nvPr/>
        </p:nvSpPr>
        <p:spPr>
          <a:xfrm>
            <a:off x="971142" y="5879918"/>
            <a:ext cx="10477498" cy="495633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4"/>
            </a:pPr>
            <a:r>
              <a:rPr lang="es-CL" sz="1100" b="1" dirty="0"/>
              <a:t>Seleccione, de la lista, la opción Insertar nueva solicitud de servicio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D5624F6-9FF1-C1F4-5FA9-3CFF6D125ADE}"/>
              </a:ext>
            </a:extLst>
          </p:cNvPr>
          <p:cNvSpPr txBox="1"/>
          <p:nvPr/>
        </p:nvSpPr>
        <p:spPr>
          <a:xfrm>
            <a:off x="9279335" y="5153498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242782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F0FAD3-148B-EB46-4105-7325AEC81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31" y="1052231"/>
            <a:ext cx="11664953" cy="5019280"/>
          </a:xfrm>
          <a:prstGeom prst="rect">
            <a:avLst/>
          </a:prstGeom>
        </p:spPr>
      </p:pic>
      <p:sp>
        <p:nvSpPr>
          <p:cNvPr id="5" name="Marcador de texto vertical 4">
            <a:extLst>
              <a:ext uri="{FF2B5EF4-FFF2-40B4-BE49-F238E27FC236}">
                <a16:creationId xmlns:a16="http://schemas.microsoft.com/office/drawing/2014/main" id="{46122D14-E4FA-4647-3558-9021D99E607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las solicitudes de servicios de los estudiantes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71143" y="313667"/>
            <a:ext cx="10477497" cy="898555"/>
          </a:xfrm>
        </p:spPr>
        <p:txBody>
          <a:bodyPr/>
          <a:lstStyle/>
          <a:p>
            <a:r>
              <a:rPr lang="es-ES_tradnl" b="1" dirty="0"/>
              <a:t>Crear solicitudes en SVASVPR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D151DE2-C63F-6A32-C703-9AF75DCB6077}"/>
              </a:ext>
            </a:extLst>
          </p:cNvPr>
          <p:cNvSpPr/>
          <p:nvPr/>
        </p:nvSpPr>
        <p:spPr>
          <a:xfrm>
            <a:off x="1179233" y="3558292"/>
            <a:ext cx="10477498" cy="2028497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spcAft>
                <a:spcPts val="600"/>
              </a:spcAft>
            </a:pPr>
            <a:r>
              <a:rPr lang="es-ES_tradnl" sz="1100" dirty="0"/>
              <a:t>El sistema lo llevará a la página de detalles de solicitud de servicio</a:t>
            </a:r>
          </a:p>
          <a:p>
            <a:pPr marL="342900" indent="-342900" algn="just">
              <a:buFont typeface="+mj-lt"/>
              <a:buAutoNum type="arabicPeriod" startAt="5"/>
            </a:pPr>
            <a:r>
              <a:rPr lang="es-ES_tradnl" sz="1100" dirty="0"/>
              <a:t>Ingrese el ID del alumno al que se le creará la solicitud de servicio</a:t>
            </a:r>
          </a:p>
          <a:p>
            <a:pPr marL="342900" indent="-342900" algn="just">
              <a:buFont typeface="+mj-lt"/>
              <a:buAutoNum type="arabicPeriod" startAt="5"/>
            </a:pPr>
            <a:r>
              <a:rPr lang="es-ES_tradnl" sz="1100" dirty="0"/>
              <a:t>Ingrese el código del servicio que se va a solicitar</a:t>
            </a:r>
          </a:p>
          <a:p>
            <a:pPr marL="342900" indent="-342900" algn="just">
              <a:buFont typeface="+mj-lt"/>
              <a:buAutoNum type="arabicPeriod" startAt="5"/>
            </a:pPr>
            <a:r>
              <a:rPr lang="es-ES_tradnl" sz="1100" dirty="0"/>
              <a:t>Seleccione o digite el tipo de solicitud</a:t>
            </a:r>
          </a:p>
          <a:p>
            <a:pPr algn="just">
              <a:spcBef>
                <a:spcPts val="600"/>
              </a:spcBef>
            </a:pPr>
            <a:r>
              <a:rPr lang="es-ES_tradnl" sz="1100" dirty="0"/>
              <a:t>Algunos datos se llenarán automáticamente según las reglas del servicio: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_tradnl" sz="1100" dirty="0"/>
              <a:t>Fecha estimada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_tradnl" sz="1100" dirty="0"/>
              <a:t>Código de estatus (inicial)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_tradnl" sz="1100" dirty="0"/>
              <a:t>Monto (si aplica)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_tradnl" sz="1100" dirty="0"/>
              <a:t>Código de entrega (si es único, de lo contrario se debe seleccionar)</a:t>
            </a:r>
          </a:p>
          <a:p>
            <a:pPr marL="342900" indent="-342900" algn="just">
              <a:buFont typeface="+mj-lt"/>
              <a:buAutoNum type="arabicPeriod" startAt="8"/>
            </a:pPr>
            <a:r>
              <a:rPr lang="es-ES_tradnl" sz="1100" dirty="0"/>
              <a:t>Guarde la información</a:t>
            </a:r>
          </a:p>
          <a:p>
            <a:pPr marL="342900" indent="-342900" algn="just">
              <a:buFont typeface="+mj-lt"/>
              <a:buAutoNum type="arabicPeriod" startAt="8"/>
            </a:pPr>
            <a:r>
              <a:rPr lang="es-ES_tradnl" sz="1100" dirty="0"/>
              <a:t>Presione el botón para pasar al siguiente bloque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D5624F6-9FF1-C1F4-5FA9-3CFF6D125ADE}"/>
              </a:ext>
            </a:extLst>
          </p:cNvPr>
          <p:cNvSpPr txBox="1"/>
          <p:nvPr/>
        </p:nvSpPr>
        <p:spPr>
          <a:xfrm>
            <a:off x="877480" y="1999861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C2A573F-6C2A-DF18-A71B-DF10703CF584}"/>
              </a:ext>
            </a:extLst>
          </p:cNvPr>
          <p:cNvSpPr txBox="1"/>
          <p:nvPr/>
        </p:nvSpPr>
        <p:spPr>
          <a:xfrm>
            <a:off x="3881945" y="2215305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8595EF-2EE1-2B73-E756-7CCEF415FC9B}"/>
              </a:ext>
            </a:extLst>
          </p:cNvPr>
          <p:cNvSpPr txBox="1"/>
          <p:nvPr/>
        </p:nvSpPr>
        <p:spPr>
          <a:xfrm>
            <a:off x="441787" y="2866083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3B78A28-868C-D191-3415-B78123326952}"/>
              </a:ext>
            </a:extLst>
          </p:cNvPr>
          <p:cNvSpPr txBox="1"/>
          <p:nvPr/>
        </p:nvSpPr>
        <p:spPr>
          <a:xfrm>
            <a:off x="1291146" y="5770005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A0BE944-F763-9E68-7128-A40926C255D8}"/>
              </a:ext>
            </a:extLst>
          </p:cNvPr>
          <p:cNvSpPr txBox="1"/>
          <p:nvPr/>
        </p:nvSpPr>
        <p:spPr>
          <a:xfrm>
            <a:off x="11354978" y="5798689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360775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CFA672-762D-C851-E566-F19106B43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1" y="988898"/>
            <a:ext cx="11344237" cy="4914257"/>
          </a:xfrm>
          <a:prstGeom prst="rect">
            <a:avLst/>
          </a:prstGeom>
        </p:spPr>
      </p:pic>
      <p:sp>
        <p:nvSpPr>
          <p:cNvPr id="5" name="Marcador de texto vertical 4">
            <a:extLst>
              <a:ext uri="{FF2B5EF4-FFF2-40B4-BE49-F238E27FC236}">
                <a16:creationId xmlns:a16="http://schemas.microsoft.com/office/drawing/2014/main" id="{46122D14-E4FA-4647-3558-9021D99E607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las solicitudes de servicios de los estudiantes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71143" y="313667"/>
            <a:ext cx="10477497" cy="898555"/>
          </a:xfrm>
        </p:spPr>
        <p:txBody>
          <a:bodyPr/>
          <a:lstStyle/>
          <a:p>
            <a:r>
              <a:rPr lang="es-ES_tradnl" b="1" dirty="0"/>
              <a:t>Crear solicitudes en SVASVPR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D151DE2-C63F-6A32-C703-9AF75DCB6077}"/>
              </a:ext>
            </a:extLst>
          </p:cNvPr>
          <p:cNvSpPr/>
          <p:nvPr/>
        </p:nvSpPr>
        <p:spPr>
          <a:xfrm>
            <a:off x="857251" y="4867800"/>
            <a:ext cx="10477498" cy="558510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algn="just">
              <a:spcAft>
                <a:spcPts val="600"/>
              </a:spcAft>
              <a:buFont typeface="+mj-lt"/>
              <a:buAutoNum type="arabicPeriod" startAt="10"/>
            </a:pPr>
            <a:r>
              <a:rPr lang="es-ES_tradnl" sz="1100" dirty="0"/>
              <a:t>Si lo desea, puede agregar comentarios a la solicitud de servicio. Si lo hace, guarde la información.</a:t>
            </a:r>
          </a:p>
          <a:p>
            <a:pPr marL="228600" indent="-228600" algn="just">
              <a:spcAft>
                <a:spcPts val="600"/>
              </a:spcAft>
              <a:buFont typeface="+mj-lt"/>
              <a:buAutoNum type="arabicPeriod" startAt="10"/>
            </a:pPr>
            <a:r>
              <a:rPr lang="es-ES_tradnl" sz="1100" dirty="0"/>
              <a:t>Pase al siguiente bloque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3B78A28-868C-D191-3415-B78123326952}"/>
              </a:ext>
            </a:extLst>
          </p:cNvPr>
          <p:cNvSpPr txBox="1"/>
          <p:nvPr/>
        </p:nvSpPr>
        <p:spPr>
          <a:xfrm>
            <a:off x="1983684" y="4165106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2" name="Flecha: hacia la izquierda 11">
            <a:extLst>
              <a:ext uri="{FF2B5EF4-FFF2-40B4-BE49-F238E27FC236}">
                <a16:creationId xmlns:a16="http://schemas.microsoft.com/office/drawing/2014/main" id="{7DFBFB9A-7842-4FEA-AA53-99F2E5616EA2}"/>
              </a:ext>
            </a:extLst>
          </p:cNvPr>
          <p:cNvSpPr/>
          <p:nvPr/>
        </p:nvSpPr>
        <p:spPr>
          <a:xfrm>
            <a:off x="1705050" y="4249968"/>
            <a:ext cx="146304" cy="45720"/>
          </a:xfrm>
          <a:prstGeom prst="leftArrow">
            <a:avLst/>
          </a:prstGeom>
          <a:solidFill>
            <a:srgbClr val="33CCCC"/>
          </a:solidFill>
          <a:ln>
            <a:solidFill>
              <a:srgbClr val="0CB4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F053EEA-4592-89EC-C39E-6E444D0ADE80}"/>
              </a:ext>
            </a:extLst>
          </p:cNvPr>
          <p:cNvSpPr txBox="1"/>
          <p:nvPr/>
        </p:nvSpPr>
        <p:spPr>
          <a:xfrm>
            <a:off x="10888826" y="5621686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21" name="Flecha: hacia la izquierda 20">
            <a:extLst>
              <a:ext uri="{FF2B5EF4-FFF2-40B4-BE49-F238E27FC236}">
                <a16:creationId xmlns:a16="http://schemas.microsoft.com/office/drawing/2014/main" id="{B8DC53E4-9AB2-2568-EC8B-880796D67657}"/>
              </a:ext>
            </a:extLst>
          </p:cNvPr>
          <p:cNvSpPr/>
          <p:nvPr/>
        </p:nvSpPr>
        <p:spPr>
          <a:xfrm rot="10800000">
            <a:off x="11250168" y="5715182"/>
            <a:ext cx="146304" cy="45720"/>
          </a:xfrm>
          <a:prstGeom prst="leftArrow">
            <a:avLst/>
          </a:prstGeom>
          <a:solidFill>
            <a:srgbClr val="33CCCC"/>
          </a:solidFill>
          <a:ln>
            <a:solidFill>
              <a:srgbClr val="0CB4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035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FDF2C5-C857-F3C2-3B40-186BFB897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537" y="1168358"/>
            <a:ext cx="11406463" cy="4977690"/>
          </a:xfrm>
          <a:prstGeom prst="rect">
            <a:avLst/>
          </a:prstGeom>
        </p:spPr>
      </p:pic>
      <p:sp>
        <p:nvSpPr>
          <p:cNvPr id="5" name="Marcador de texto vertical 4">
            <a:extLst>
              <a:ext uri="{FF2B5EF4-FFF2-40B4-BE49-F238E27FC236}">
                <a16:creationId xmlns:a16="http://schemas.microsoft.com/office/drawing/2014/main" id="{46122D14-E4FA-4647-3558-9021D99E607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las solicitudes de servicios de los estudiantes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71143" y="313667"/>
            <a:ext cx="10477497" cy="898555"/>
          </a:xfrm>
        </p:spPr>
        <p:txBody>
          <a:bodyPr/>
          <a:lstStyle/>
          <a:p>
            <a:r>
              <a:rPr lang="es-ES_tradnl" b="1" dirty="0"/>
              <a:t>Crear solicitudes en SVASVPR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D151DE2-C63F-6A32-C703-9AF75DCB6077}"/>
              </a:ext>
            </a:extLst>
          </p:cNvPr>
          <p:cNvSpPr/>
          <p:nvPr/>
        </p:nvSpPr>
        <p:spPr>
          <a:xfrm>
            <a:off x="1120137" y="3492349"/>
            <a:ext cx="10477498" cy="996238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algn="just">
              <a:buFont typeface="+mj-lt"/>
              <a:buAutoNum type="arabicPeriod" startAt="12"/>
            </a:pPr>
            <a:r>
              <a:rPr lang="es-ES_tradnl" sz="1100" dirty="0"/>
              <a:t>Si  el servicio tiene datos adicionales, cuando se muestre la información  presione el botón </a:t>
            </a:r>
            <a:r>
              <a:rPr lang="es-ES_tradnl" sz="1100" b="1" dirty="0"/>
              <a:t>Guardar y </a:t>
            </a:r>
            <a:r>
              <a:rPr lang="es-ES_tradnl" sz="1100" dirty="0"/>
              <a:t>Proceda a digitar el </a:t>
            </a:r>
            <a:r>
              <a:rPr lang="es-ES_tradnl" sz="1100" b="1" dirty="0"/>
              <a:t>código</a:t>
            </a:r>
            <a:r>
              <a:rPr lang="es-ES_tradnl" sz="1100" dirty="0"/>
              <a:t> que corresponde a los datos adicionales requeridos.  </a:t>
            </a:r>
          </a:p>
          <a:p>
            <a:pPr algn="just">
              <a:spcAft>
                <a:spcPts val="600"/>
              </a:spcAft>
            </a:pPr>
            <a:r>
              <a:rPr lang="es-ES_tradnl" sz="1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Cuando las solicitudes son creadas desde </a:t>
            </a:r>
            <a:r>
              <a:rPr lang="es-ES_tradnl" sz="1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backoffice</a:t>
            </a:r>
            <a:r>
              <a:rPr lang="es-ES_tradnl" sz="1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se debe usar como dato adicional una tabla nativa de banner, no vistas, en la página SVASRAD; es por esto que las solicitudes de servicio que se pueden crear desde </a:t>
            </a:r>
            <a:r>
              <a:rPr lang="es-ES_tradnl" sz="1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adminpage</a:t>
            </a:r>
            <a:r>
              <a:rPr lang="es-ES_tradnl" sz="1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deben tener un código diferente a las que se solicitan por autoservicios.</a:t>
            </a:r>
          </a:p>
          <a:p>
            <a:pPr marL="228600" indent="-228600" algn="just">
              <a:spcAft>
                <a:spcPts val="600"/>
              </a:spcAft>
              <a:buFont typeface="+mj-lt"/>
              <a:buAutoNum type="arabicPeriod" startAt="13"/>
            </a:pPr>
            <a:r>
              <a:rPr lang="es-ES_tradnl" sz="1050" dirty="0"/>
              <a:t>Guarde la información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3B78A28-868C-D191-3415-B78123326952}"/>
              </a:ext>
            </a:extLst>
          </p:cNvPr>
          <p:cNvSpPr txBox="1"/>
          <p:nvPr/>
        </p:nvSpPr>
        <p:spPr>
          <a:xfrm>
            <a:off x="1933832" y="5155734"/>
            <a:ext cx="304735" cy="215444"/>
          </a:xfrm>
          <a:prstGeom prst="rect">
            <a:avLst/>
          </a:prstGeom>
          <a:solidFill>
            <a:schemeClr val="accent3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179B8CA-9CAC-C3FF-D1D7-560252A77E52}"/>
              </a:ext>
            </a:extLst>
          </p:cNvPr>
          <p:cNvSpPr txBox="1"/>
          <p:nvPr/>
        </p:nvSpPr>
        <p:spPr>
          <a:xfrm>
            <a:off x="10648713" y="6038326"/>
            <a:ext cx="304735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7" name="Flecha: hacia la izquierda 6">
            <a:extLst>
              <a:ext uri="{FF2B5EF4-FFF2-40B4-BE49-F238E27FC236}">
                <a16:creationId xmlns:a16="http://schemas.microsoft.com/office/drawing/2014/main" id="{31666627-5A1D-FDFF-1E44-303FC01B0EC6}"/>
              </a:ext>
            </a:extLst>
          </p:cNvPr>
          <p:cNvSpPr/>
          <p:nvPr/>
        </p:nvSpPr>
        <p:spPr>
          <a:xfrm rot="10800000">
            <a:off x="11018243" y="6129883"/>
            <a:ext cx="147750" cy="45719"/>
          </a:xfrm>
          <a:prstGeom prst="leftArrow">
            <a:avLst/>
          </a:prstGeom>
          <a:solidFill>
            <a:srgbClr val="33CCCC"/>
          </a:solidFill>
          <a:ln>
            <a:solidFill>
              <a:srgbClr val="0CB4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296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dirty="0"/>
              <a:t>Actualizar características del estudiante</a:t>
            </a:r>
            <a:endParaRPr lang="es-ES_trad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838" y="-414703"/>
            <a:ext cx="7092820" cy="1628192"/>
          </a:xfrm>
        </p:spPr>
        <p:txBody>
          <a:bodyPr/>
          <a:lstStyle/>
          <a:p>
            <a:r>
              <a:rPr lang="es-ES_tradnl" dirty="0"/>
              <a:t>RESUMEN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65C9B1-9A40-D4C2-C235-4FDA7BF66EF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41838" y="1687104"/>
            <a:ext cx="10067596" cy="4305134"/>
          </a:xfrm>
        </p:spPr>
        <p:txBody>
          <a:bodyPr/>
          <a:lstStyle/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1800" dirty="0"/>
              <a:t>Una persona o estudiante puede presentar diversas solicitudes a través del autoservicio, siempre que se cumplan las reglas de despliegue definidas en la configuración de los servicios.</a:t>
            </a:r>
          </a:p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1800" dirty="0"/>
              <a:t>Cuando se crea un servicio, si está definido, se deben declarar algunos datos para su gestión, así como ingresar los comentarios que se desee.</a:t>
            </a:r>
          </a:p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1800" dirty="0"/>
              <a:t>Se puede crear un servicio a una persona desde </a:t>
            </a:r>
            <a:r>
              <a:rPr lang="es-419" sz="1800" dirty="0" err="1"/>
              <a:t>backoffice</a:t>
            </a:r>
            <a:r>
              <a:rPr lang="es-419" sz="1800" dirty="0"/>
              <a:t> a través de la página SVASVPR, declarando los datos adicionales que se necesiten y realizando comentarios que el solicitante puede ver desde autoservicio.</a:t>
            </a:r>
          </a:p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1800" dirty="0"/>
              <a:t>También desde la página SVASVPR, se puede gestionar los cambios de estatus de los servicios solicitados para que el estudiante pueda visualizar, a través del autoservicio, la evolución de su solicitud.</a:t>
            </a:r>
          </a:p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1800" dirty="0"/>
              <a:t>Desde el autoservicio, se pueden consultar los detalles de los servicios solicitados, realizar comentarios adicionales o, si las reglas lo permiten, anular la solicitud realizada.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235984010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Ellucian-PPT-Template-2026</Template>
  <TotalTime>1746</TotalTime>
  <Words>1614</Words>
  <Application>Microsoft Office PowerPoint</Application>
  <PresentationFormat>Widescreen</PresentationFormat>
  <Paragraphs>178</Paragraphs>
  <Slides>28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Aptos</vt:lpstr>
      <vt:lpstr>Aptos Display</vt:lpstr>
      <vt:lpstr>Arial</vt:lpstr>
      <vt:lpstr>Courier New</vt:lpstr>
      <vt:lpstr>Helvetica Neue</vt:lpstr>
      <vt:lpstr>Wingdings</vt:lpstr>
      <vt:lpstr>Ellucian Main Layouts</vt:lpstr>
      <vt:lpstr>Ellucian Blank Layouts</vt:lpstr>
      <vt:lpstr>Gestionar las solicitudes de servicios de los estudiantes </vt:lpstr>
      <vt:lpstr>PowerPoint Presentation</vt:lpstr>
      <vt:lpstr>Overview</vt:lpstr>
      <vt:lpstr>Overview: Mapa de capacidades</vt:lpstr>
      <vt:lpstr>Overview: Procedimientos del Proceso Gestionar los servicios a estudiantes </vt:lpstr>
      <vt:lpstr>Overview: Gestionar las solicitudes de servicios de los estudiantes </vt:lpstr>
      <vt:lpstr>Overview: Procedimiento- Procedimientos Gestionar las solicitudes de servicios de los estudiantes</vt:lpstr>
      <vt:lpstr>Overview: Región donde aplica</vt:lpstr>
      <vt:lpstr>Solicitud de servicio en autoservicio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Gestionar las solicitudes de servicio en admin pages</vt:lpstr>
      <vt:lpstr>Administrar las solicitudes en SVASVPR</vt:lpstr>
      <vt:lpstr>Administrar las solicitudes en SVASVPR</vt:lpstr>
      <vt:lpstr>Administrar las solicitudes en SVASVPR</vt:lpstr>
      <vt:lpstr>Administrar las solicitudes en SVASVPR</vt:lpstr>
      <vt:lpstr>Administrar las solicitudes en SVASVPR</vt:lpstr>
      <vt:lpstr>Solicitud de servicio desde admin pages</vt:lpstr>
      <vt:lpstr>Crear solicitudes en SVASVPR</vt:lpstr>
      <vt:lpstr>Crear solicitudes en SVASVPR</vt:lpstr>
      <vt:lpstr>Crear solicitudes en SVASVPR</vt:lpstr>
      <vt:lpstr>Crear solicitudes en SVASVPR</vt:lpstr>
      <vt:lpstr>Crear solicitudes en SVASVPR</vt:lpstr>
      <vt:lpstr>RESUMEN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Ramos, Karyn</dc:creator>
  <cp:lastModifiedBy>Molina, Sergio</cp:lastModifiedBy>
  <cp:revision>34</cp:revision>
  <dcterms:created xsi:type="dcterms:W3CDTF">2024-09-26T00:26:14Z</dcterms:created>
  <dcterms:modified xsi:type="dcterms:W3CDTF">2026-06-30T23:47:35Z</dcterms:modified>
</cp:coreProperties>
</file>
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30"/>
  </p:notesMasterIdLst>
  <p:sldIdLst>
    <p:sldId id="257" r:id="rId3"/>
    <p:sldId id="423" r:id="rId4"/>
    <p:sldId id="476" r:id="rId5"/>
    <p:sldId id="569" r:id="rId6"/>
    <p:sldId id="350" r:id="rId7"/>
    <p:sldId id="421" r:id="rId8"/>
    <p:sldId id="261" r:id="rId9"/>
    <p:sldId id="478" r:id="rId10"/>
    <p:sldId id="533" r:id="rId11"/>
    <p:sldId id="469" r:id="rId12"/>
    <p:sldId id="355" r:id="rId13"/>
    <p:sldId id="535" r:id="rId14"/>
    <p:sldId id="509" r:id="rId15"/>
    <p:sldId id="536" r:id="rId16"/>
    <p:sldId id="512" r:id="rId17"/>
    <p:sldId id="537" r:id="rId18"/>
    <p:sldId id="534" r:id="rId19"/>
    <p:sldId id="549" r:id="rId20"/>
    <p:sldId id="550" r:id="rId21"/>
    <p:sldId id="551" r:id="rId22"/>
    <p:sldId id="552" r:id="rId23"/>
    <p:sldId id="527" r:id="rId24"/>
    <p:sldId id="570" r:id="rId25"/>
    <p:sldId id="547" r:id="rId26"/>
    <p:sldId id="548" r:id="rId27"/>
    <p:sldId id="571" r:id="rId28"/>
    <p:sldId id="55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88" y="7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16-04-2026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62261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6216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97191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33496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24468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80366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41746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560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938095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554579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817664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012679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55800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701427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85363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77923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50566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084859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933626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280890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906702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74765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582597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357403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601920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4181563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760867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816842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783706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243207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924441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637342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58832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16-04-2026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a:t>
            </a:fld>
            <a:endParaRPr lang="es-CL"/>
          </a:p>
        </p:txBody>
      </p:sp>
    </p:spTree>
    <p:extLst>
      <p:ext uri="{BB962C8B-B14F-4D97-AF65-F5344CB8AC3E}">
        <p14:creationId xmlns:p14="http://schemas.microsoft.com/office/powerpoint/2010/main" val="22771382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71164567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a:p>
        </p:txBody>
      </p:sp>
      <p:sp>
        <p:nvSpPr>
          <p:cNvPr id="3" name="Rectangle 2">
            <a:extLst>
              <a:ext uri="{FF2B5EF4-FFF2-40B4-BE49-F238E27FC236}">
                <a16:creationId xmlns:a16="http://schemas.microsoft.com/office/drawing/2014/main" id="{FE666BA8-30AD-32CC-5EED-131B0FCD5D71}"/>
              </a:ext>
            </a:extLst>
          </p:cNvPr>
          <p:cNvSpPr/>
          <p:nvPr userDrawn="1"/>
        </p:nvSpPr>
        <p:spPr>
          <a:xfrm>
            <a:off x="9198429" y="6509657"/>
            <a:ext cx="2373085" cy="21181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B619304C-98BE-1E79-B506-B99A006B3907}"/>
              </a:ext>
            </a:extLst>
          </p:cNvPr>
          <p:cNvPicPr>
            <a:picLocks noChangeAspect="1"/>
          </p:cNvPicPr>
          <p:nvPr userDrawn="1"/>
        </p:nvPicPr>
        <p:blipFill>
          <a:blip r:embed="rId2"/>
          <a:stretch>
            <a:fillRect/>
          </a:stretch>
        </p:blipFill>
        <p:spPr>
          <a:xfrm>
            <a:off x="9909287" y="6509657"/>
            <a:ext cx="1945256" cy="224886"/>
          </a:xfrm>
          <a:prstGeom prst="rect">
            <a:avLst/>
          </a:prstGeom>
        </p:spPr>
      </p:pic>
    </p:spTree>
    <p:extLst>
      <p:ext uri="{BB962C8B-B14F-4D97-AF65-F5344CB8AC3E}">
        <p14:creationId xmlns:p14="http://schemas.microsoft.com/office/powerpoint/2010/main" val="227691000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F0A35F47-5611-5607-57E6-EC31301B7DBB}"/>
              </a:ext>
            </a:extLst>
          </p:cNvPr>
          <p:cNvSpPr/>
          <p:nvPr userDrawn="1"/>
        </p:nvSpPr>
        <p:spPr>
          <a:xfrm>
            <a:off x="9209314" y="6520543"/>
            <a:ext cx="2460172" cy="20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7DC30B9D-5371-4246-4D07-F1D10629A00F}"/>
              </a:ext>
            </a:extLst>
          </p:cNvPr>
          <p:cNvPicPr>
            <a:picLocks noChangeAspect="1"/>
          </p:cNvPicPr>
          <p:nvPr userDrawn="1"/>
        </p:nvPicPr>
        <p:blipFill>
          <a:blip r:embed="rId2"/>
          <a:stretch>
            <a:fillRect/>
          </a:stretch>
        </p:blipFill>
        <p:spPr>
          <a:xfrm>
            <a:off x="9692932" y="6492847"/>
            <a:ext cx="2052754" cy="304981"/>
          </a:xfrm>
          <a:prstGeom prst="rect">
            <a:avLst/>
          </a:prstGeom>
        </p:spPr>
      </p:pic>
    </p:spTree>
    <p:extLst>
      <p:ext uri="{BB962C8B-B14F-4D97-AF65-F5344CB8AC3E}">
        <p14:creationId xmlns:p14="http://schemas.microsoft.com/office/powerpoint/2010/main" val="119245965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a:p>
        </p:txBody>
      </p:sp>
    </p:spTree>
    <p:extLst>
      <p:ext uri="{BB962C8B-B14F-4D97-AF65-F5344CB8AC3E}">
        <p14:creationId xmlns:p14="http://schemas.microsoft.com/office/powerpoint/2010/main" val="2767389449"/>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00B655AC-D933-0DA3-131C-D66FAC3EB545}"/>
              </a:ext>
            </a:extLst>
          </p:cNvPr>
          <p:cNvSpPr/>
          <p:nvPr userDrawn="1"/>
        </p:nvSpPr>
        <p:spPr>
          <a:xfrm>
            <a:off x="9229060" y="6507126"/>
            <a:ext cx="2415415" cy="255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47E1B87B-17E5-9FBE-6747-AA98A94CAAA2}"/>
              </a:ext>
            </a:extLst>
          </p:cNvPr>
          <p:cNvPicPr>
            <a:picLocks noChangeAspect="1"/>
          </p:cNvPicPr>
          <p:nvPr userDrawn="1"/>
        </p:nvPicPr>
        <p:blipFill>
          <a:blip r:embed="rId2"/>
          <a:stretch>
            <a:fillRect/>
          </a:stretch>
        </p:blipFill>
        <p:spPr>
          <a:xfrm>
            <a:off x="9785073" y="6496178"/>
            <a:ext cx="1962700" cy="266129"/>
          </a:xfrm>
          <a:prstGeom prst="rect">
            <a:avLst/>
          </a:prstGeom>
        </p:spPr>
      </p:pic>
    </p:spTree>
    <p:extLst>
      <p:ext uri="{BB962C8B-B14F-4D97-AF65-F5344CB8AC3E}">
        <p14:creationId xmlns:p14="http://schemas.microsoft.com/office/powerpoint/2010/main" val="15007847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57092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199782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261497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976085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705595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777304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361648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11331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457481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75610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575138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144489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699529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537978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450026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880921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142892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215166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3913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1119958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71"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3296723"/>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15.xml"/><Relationship Id="rId5" Type="http://schemas.openxmlformats.org/officeDocument/2006/relationships/image" Target="../media/image39.sv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dirty="0"/>
              <a:t>Asignar Espacios Físicos</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CL" dirty="0"/>
              <a:t>Consultor.</a:t>
            </a:r>
          </a:p>
          <a:p>
            <a:r>
              <a:rPr lang="es-CL" dirty="0"/>
              <a:t>Cargo</a:t>
            </a:r>
          </a:p>
        </p:txBody>
      </p:sp>
      <p:sp>
        <p:nvSpPr>
          <p:cNvPr id="6" name="Marcador de texto 5">
            <a:extLst>
              <a:ext uri="{FF2B5EF4-FFF2-40B4-BE49-F238E27FC236}">
                <a16:creationId xmlns:a16="http://schemas.microsoft.com/office/drawing/2014/main" id="{AA4D7C9F-61A2-EA9B-620F-EF539CF8A65F}"/>
              </a:ext>
            </a:extLst>
          </p:cNvPr>
          <p:cNvSpPr>
            <a:spLocks noGrp="1"/>
          </p:cNvSpPr>
          <p:nvPr>
            <p:ph type="body" sz="quarter" idx="13"/>
          </p:nvPr>
        </p:nvSpPr>
        <p:spPr/>
        <p:txBody>
          <a:bodyPr/>
          <a:lstStyle/>
          <a:p>
            <a:r>
              <a:rPr lang="es-419" dirty="0"/>
              <a:t>Mes, 2026</a:t>
            </a:r>
          </a:p>
        </p:txBody>
      </p:sp>
      <p:pic>
        <p:nvPicPr>
          <p:cNvPr id="9" name="Marcador de posición de imagen 8" descr="Una persona con una laptop en una mesa&#10;&#10;El contenido generado por IA puede ser incorrecto.">
            <a:extLst>
              <a:ext uri="{FF2B5EF4-FFF2-40B4-BE49-F238E27FC236}">
                <a16:creationId xmlns:a16="http://schemas.microsoft.com/office/drawing/2014/main" id="{A2DA9CCD-E586-AF75-B87E-6F2BA03568A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Espacios Físicos</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13255695"/>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Asignar Espacios Físicos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Espacios Físicos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Asignar Espacios Físicos</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1839686"/>
            <a:ext cx="2531719" cy="7624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91108"/>
            <a:ext cx="10136257" cy="4070543"/>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419" sz="2400" dirty="0"/>
              <a:t>Generada la programación de una asignatura para ser impartida por medio de uno o varios NRC, se requiere asignar aquellos recursos que permitan el desarrollo de esta, como lo fueran los docentes, espacios físicos, recursos pedagógicos (syllabus y bibliografía) y recursos virtuales (eLearning). </a:t>
            </a:r>
            <a:endParaRPr lang="es-ES" sz="2400" dirty="0"/>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err="1">
                <a:solidFill>
                  <a:schemeClr val="accent1"/>
                </a:solidFill>
              </a:rPr>
              <a:t>Overview</a:t>
            </a:r>
            <a:r>
              <a:rPr lang="es-ES_tradnl" sz="3200" dirty="0">
                <a:solidFill>
                  <a:schemeClr val="accent1"/>
                </a:solidFill>
              </a:rPr>
              <a:t>: </a:t>
            </a:r>
            <a:r>
              <a:rPr lang="es-ES_tradnl" b="0" dirty="0">
                <a:solidFill>
                  <a:schemeClr val="accent1"/>
                </a:solidFill>
              </a:rPr>
              <a:t>Proceso </a:t>
            </a:r>
            <a:r>
              <a:rPr lang="es-419" b="0" dirty="0">
                <a:solidFill>
                  <a:schemeClr val="accent1"/>
                </a:solidFill>
              </a:rPr>
              <a:t>gestionar la programación académica – Asignación de Recursos</a:t>
            </a:r>
            <a:endParaRPr lang="es-CL" b="0" dirty="0">
              <a:solidFill>
                <a:schemeClr val="accent1"/>
              </a:solidFill>
            </a:endParaRPr>
          </a:p>
        </p:txBody>
      </p:sp>
    </p:spTree>
    <p:extLst>
      <p:ext uri="{BB962C8B-B14F-4D97-AF65-F5344CB8AC3E}">
        <p14:creationId xmlns:p14="http://schemas.microsoft.com/office/powerpoint/2010/main" val="167875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Espacios Físicos</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Proceso </a:t>
            </a:r>
            <a:r>
              <a:rPr lang="es-419" b="0" dirty="0">
                <a:solidFill>
                  <a:schemeClr val="accent1"/>
                </a:solidFill>
              </a:rPr>
              <a:t>gestionar la programación académica - Asignar Espacios Físicos</a:t>
            </a:r>
          </a:p>
        </p:txBody>
      </p:sp>
      <p:pic>
        <p:nvPicPr>
          <p:cNvPr id="1026" name="Picture 2">
            <a:extLst>
              <a:ext uri="{FF2B5EF4-FFF2-40B4-BE49-F238E27FC236}">
                <a16:creationId xmlns:a16="http://schemas.microsoft.com/office/drawing/2014/main" id="{A9C82B16-CDA5-18B7-D190-82204E60E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856" y="2533650"/>
            <a:ext cx="11702143" cy="1789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371240"/>
            <a:ext cx="10136257" cy="3890411"/>
          </a:xfrm>
        </p:spPr>
        <p:txBody>
          <a:bodyPr vert="horz" lIns="91440" tIns="45720" rIns="91440" bIns="45720" rtlCol="0" anchor="t">
            <a:noAutofit/>
          </a:bodyPr>
          <a:lstStyle/>
          <a:p>
            <a:pPr marL="285750" indent="-285750" algn="just">
              <a:spcAft>
                <a:spcPts val="600"/>
              </a:spcAft>
              <a:buClr>
                <a:srgbClr val="0CB4B4"/>
              </a:buClr>
              <a:buFont typeface="Wingdings" panose="05000000000000000000" pitchFamily="2" charset="2"/>
              <a:buChar char="q"/>
            </a:pPr>
            <a:r>
              <a:rPr lang="es-CO" sz="2400" dirty="0"/>
              <a:t> Tras </a:t>
            </a:r>
            <a:r>
              <a:rPr lang="es-MX" sz="2400" dirty="0"/>
              <a:t>generar un NRC es necesario asignar los espacios físicos donde se impartirían las distintas sesiones del curso.</a:t>
            </a:r>
          </a:p>
          <a:p>
            <a:pPr marL="285750" indent="-285750" algn="just">
              <a:buClr>
                <a:srgbClr val="0CB4B4"/>
              </a:buClr>
              <a:buFont typeface="Wingdings" panose="05000000000000000000" pitchFamily="2" charset="2"/>
              <a:buChar char="q"/>
            </a:pPr>
            <a:r>
              <a:rPr lang="es-419" sz="2400" dirty="0"/>
              <a:t>La asignación de espacios físicos valida la disponibilidad de estos en el bloque de horario en el cual fuera programado el NRC.</a:t>
            </a:r>
          </a:p>
          <a:p>
            <a:pPr marL="285750" indent="-285750" algn="just">
              <a:buClr>
                <a:srgbClr val="0CB4B4"/>
              </a:buClr>
              <a:buFont typeface="Wingdings" panose="05000000000000000000" pitchFamily="2" charset="2"/>
              <a:buChar char="q"/>
            </a:pPr>
            <a:r>
              <a:rPr lang="es-CO" sz="2400" dirty="0"/>
              <a:t> </a:t>
            </a:r>
            <a:r>
              <a:rPr lang="es-419" sz="2400" dirty="0"/>
              <a:t>Si una asignación de espacios físicos tiene conflictos con otra asignación para el periodo, se genera un mensaje de error, mismo que puede ser sobrepasado si se desea mantener el conflicto en cuestión.</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accent1"/>
                </a:solidFill>
              </a:rPr>
              <a:t>Overview: </a:t>
            </a:r>
            <a:r>
              <a:rPr lang="es-419" b="0" dirty="0">
                <a:solidFill>
                  <a:schemeClr val="accent1"/>
                </a:solidFill>
              </a:rPr>
              <a:t>Asignar Espacios Físicos</a:t>
            </a:r>
            <a:endParaRPr lang="es-CL" b="0" dirty="0">
              <a:solidFill>
                <a:schemeClr val="accent1"/>
              </a:solidFill>
            </a:endParaRPr>
          </a:p>
        </p:txBody>
      </p:sp>
    </p:spTree>
    <p:extLst>
      <p:ext uri="{BB962C8B-B14F-4D97-AF65-F5344CB8AC3E}">
        <p14:creationId xmlns:p14="http://schemas.microsoft.com/office/powerpoint/2010/main" val="3559927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417736"/>
            <a:ext cx="10136257" cy="3843916"/>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419" sz="2400" dirty="0"/>
              <a:t>La asignación de espacios físicos se realiza para cada bloque de horario programado, por lo anterior puede ser asignado un único espacio físico a todos los bloques de horarios programados del NRC o múltiples salones para los múltiples bloques programados.</a:t>
            </a:r>
          </a:p>
          <a:p>
            <a:pPr marL="285750" indent="-285750" algn="just">
              <a:buClr>
                <a:srgbClr val="0CB4B4"/>
              </a:buClr>
              <a:buFont typeface="Wingdings" panose="05000000000000000000" pitchFamily="2" charset="2"/>
              <a:buChar char="q"/>
            </a:pPr>
            <a:r>
              <a:rPr lang="es-CO" sz="2400" dirty="0"/>
              <a:t> </a:t>
            </a:r>
            <a:r>
              <a:rPr lang="es-419" sz="2400" dirty="0"/>
              <a:t>La página SSAMATX permite desplegar la información de todas las asignaciones que pudieran haber sido realizadas para un espacio físico en particular.</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accent1"/>
                </a:solidFill>
              </a:rPr>
              <a:t>Overview: </a:t>
            </a:r>
            <a:r>
              <a:rPr lang="es-419" b="0" dirty="0">
                <a:solidFill>
                  <a:schemeClr val="accent1"/>
                </a:solidFill>
              </a:rPr>
              <a:t>Asignar Espacios Físicos</a:t>
            </a:r>
            <a:endParaRPr lang="es-CL" b="0" dirty="0">
              <a:solidFill>
                <a:schemeClr val="accent1"/>
              </a:solidFill>
            </a:endParaRPr>
          </a:p>
        </p:txBody>
      </p:sp>
    </p:spTree>
    <p:extLst>
      <p:ext uri="{BB962C8B-B14F-4D97-AF65-F5344CB8AC3E}">
        <p14:creationId xmlns:p14="http://schemas.microsoft.com/office/powerpoint/2010/main" val="83690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Espacios Físicos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FF2BE38-E247-4C8C-1A85-5EE5486E7018}"/>
              </a:ext>
            </a:extLst>
          </p:cNvPr>
          <p:cNvPicPr>
            <a:picLocks noChangeAspect="1"/>
          </p:cNvPicPr>
          <p:nvPr/>
        </p:nvPicPr>
        <p:blipFill>
          <a:blip r:embed="rId2"/>
          <a:stretch>
            <a:fillRect/>
          </a:stretch>
        </p:blipFill>
        <p:spPr>
          <a:xfrm>
            <a:off x="810247" y="980327"/>
            <a:ext cx="10795101" cy="49217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SLABLDG Definición de edificio</a:t>
            </a:r>
            <a:br>
              <a:rPr lang="es-CL" b="1" dirty="0">
                <a:effectLst/>
              </a:rPr>
            </a:br>
            <a:endParaRPr lang="es-CL" dirty="0"/>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3319890" y="3903543"/>
            <a:ext cx="4892575" cy="12550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la asignación de espacios físicos, se requiere que los edificios y salones asociados se encuentren definidos y activos dentro del ambiente</a:t>
            </a:r>
          </a:p>
        </p:txBody>
      </p:sp>
    </p:spTree>
    <p:extLst>
      <p:ext uri="{BB962C8B-B14F-4D97-AF65-F5344CB8AC3E}">
        <p14:creationId xmlns:p14="http://schemas.microsoft.com/office/powerpoint/2010/main" val="332810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4CDD0C79-5F3A-FE3E-0591-88345DA31294}"/>
              </a:ext>
            </a:extLst>
          </p:cNvPr>
          <p:cNvPicPr>
            <a:picLocks noChangeAspect="1"/>
          </p:cNvPicPr>
          <p:nvPr/>
        </p:nvPicPr>
        <p:blipFill>
          <a:blip r:embed="rId2"/>
          <a:stretch>
            <a:fillRect/>
          </a:stretch>
        </p:blipFill>
        <p:spPr>
          <a:xfrm>
            <a:off x="740044" y="945273"/>
            <a:ext cx="11070437" cy="50446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SLARDEF Definición de salón</a:t>
            </a:r>
            <a:br>
              <a:rPr lang="es-CL" b="1" dirty="0">
                <a:effectLst/>
              </a:rPr>
            </a:br>
            <a:endParaRPr lang="es-CL" dirty="0"/>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2959672" y="4004625"/>
            <a:ext cx="4892575" cy="12550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Para la asignación de espacios físicos, se requiere que los edificios y salones asociados se encuentren definidos y activos dentro del ambiente</a:t>
            </a:r>
          </a:p>
        </p:txBody>
      </p:sp>
      <p:sp>
        <p:nvSpPr>
          <p:cNvPr id="7" name="Rectángulo 6">
            <a:extLst>
              <a:ext uri="{FF2B5EF4-FFF2-40B4-BE49-F238E27FC236}">
                <a16:creationId xmlns:a16="http://schemas.microsoft.com/office/drawing/2014/main" id="{FCEA5AD1-6632-EDE7-412A-31C9F02F02A3}"/>
              </a:ext>
            </a:extLst>
          </p:cNvPr>
          <p:cNvSpPr/>
          <p:nvPr/>
        </p:nvSpPr>
        <p:spPr>
          <a:xfrm>
            <a:off x="2460909" y="2550797"/>
            <a:ext cx="781055" cy="1803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7">
            <a:extLst>
              <a:ext uri="{FF2B5EF4-FFF2-40B4-BE49-F238E27FC236}">
                <a16:creationId xmlns:a16="http://schemas.microsoft.com/office/drawing/2014/main" id="{E74E5F9B-FFC7-A7D2-31F1-AD0D1AF3E45F}"/>
              </a:ext>
            </a:extLst>
          </p:cNvPr>
          <p:cNvSpPr/>
          <p:nvPr/>
        </p:nvSpPr>
        <p:spPr>
          <a:xfrm>
            <a:off x="1199015" y="2987691"/>
            <a:ext cx="1261894" cy="18039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988134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SSASECT Horario</a:t>
            </a:r>
            <a:br>
              <a:rPr lang="es-CL" b="1" dirty="0">
                <a:effectLst/>
              </a:rPr>
            </a:br>
            <a:endParaRPr lang="es-CL" dirty="0"/>
          </a:p>
        </p:txBody>
      </p:sp>
      <p:pic>
        <p:nvPicPr>
          <p:cNvPr id="6" name="Imagen 5">
            <a:extLst>
              <a:ext uri="{FF2B5EF4-FFF2-40B4-BE49-F238E27FC236}">
                <a16:creationId xmlns:a16="http://schemas.microsoft.com/office/drawing/2014/main" id="{C42A03DE-CA55-5DE7-FD9B-328B3F5EA753}"/>
              </a:ext>
            </a:extLst>
          </p:cNvPr>
          <p:cNvPicPr>
            <a:picLocks noChangeAspect="1"/>
          </p:cNvPicPr>
          <p:nvPr/>
        </p:nvPicPr>
        <p:blipFill>
          <a:blip r:embed="rId2"/>
          <a:stretch>
            <a:fillRect/>
          </a:stretch>
        </p:blipFill>
        <p:spPr>
          <a:xfrm>
            <a:off x="622570" y="954157"/>
            <a:ext cx="10057817" cy="2650938"/>
          </a:xfrm>
          <a:prstGeom prst="rect">
            <a:avLst/>
          </a:prstGeom>
        </p:spPr>
      </p:pic>
      <p:pic>
        <p:nvPicPr>
          <p:cNvPr id="8" name="Imagen 7">
            <a:extLst>
              <a:ext uri="{FF2B5EF4-FFF2-40B4-BE49-F238E27FC236}">
                <a16:creationId xmlns:a16="http://schemas.microsoft.com/office/drawing/2014/main" id="{33AFDF14-8D34-A993-93BE-D5F923F2182B}"/>
              </a:ext>
            </a:extLst>
          </p:cNvPr>
          <p:cNvPicPr>
            <a:picLocks noChangeAspect="1"/>
          </p:cNvPicPr>
          <p:nvPr/>
        </p:nvPicPr>
        <p:blipFill>
          <a:blip r:embed="rId3"/>
          <a:stretch>
            <a:fillRect/>
          </a:stretch>
        </p:blipFill>
        <p:spPr>
          <a:xfrm>
            <a:off x="1897188" y="4231260"/>
            <a:ext cx="10057817" cy="1837284"/>
          </a:xfrm>
          <a:prstGeom prst="rect">
            <a:avLst/>
          </a:prstGeom>
        </p:spPr>
      </p:pic>
      <p:sp>
        <p:nvSpPr>
          <p:cNvPr id="9" name="Rectángulo redondeado 5">
            <a:extLst>
              <a:ext uri="{FF2B5EF4-FFF2-40B4-BE49-F238E27FC236}">
                <a16:creationId xmlns:a16="http://schemas.microsoft.com/office/drawing/2014/main" id="{B3A46172-D868-5208-5A1D-618B35CC498D}"/>
              </a:ext>
            </a:extLst>
          </p:cNvPr>
          <p:cNvSpPr/>
          <p:nvPr/>
        </p:nvSpPr>
        <p:spPr>
          <a:xfrm>
            <a:off x="2651420" y="3029548"/>
            <a:ext cx="5587418" cy="115109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que los NRC a los cuales se fuera a asignar un docente se encuentren programados y con al menos un bloque de horario definido (SSASECT).</a:t>
            </a:r>
          </a:p>
        </p:txBody>
      </p:sp>
    </p:spTree>
    <p:extLst>
      <p:ext uri="{BB962C8B-B14F-4D97-AF65-F5344CB8AC3E}">
        <p14:creationId xmlns:p14="http://schemas.microsoft.com/office/powerpoint/2010/main" val="543455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93A6A6F-65F8-A78B-17FF-7BFF7BB806CE}"/>
              </a:ext>
            </a:extLst>
          </p:cNvPr>
          <p:cNvPicPr>
            <a:picLocks noChangeAspect="1"/>
          </p:cNvPicPr>
          <p:nvPr/>
        </p:nvPicPr>
        <p:blipFill>
          <a:blip r:embed="rId2"/>
          <a:stretch>
            <a:fillRect/>
          </a:stretch>
        </p:blipFill>
        <p:spPr>
          <a:xfrm>
            <a:off x="852407" y="954157"/>
            <a:ext cx="10526708" cy="479086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SSASECT Horario</a:t>
            </a:r>
            <a:br>
              <a:rPr lang="es-CL" b="1" dirty="0">
                <a:effectLst/>
              </a:rPr>
            </a:br>
            <a:endParaRPr lang="es-CL" dirty="0"/>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1626183" y="3349587"/>
            <a:ext cx="8335477" cy="12550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requiere que los NRC a los cuales se fuera a asociar los espacios físicos se encuentren programados, con capacidad máxima definida.</a:t>
            </a:r>
          </a:p>
        </p:txBody>
      </p:sp>
      <p:sp>
        <p:nvSpPr>
          <p:cNvPr id="7" name="Rectángulo 6">
            <a:extLst>
              <a:ext uri="{FF2B5EF4-FFF2-40B4-BE49-F238E27FC236}">
                <a16:creationId xmlns:a16="http://schemas.microsoft.com/office/drawing/2014/main" id="{C15FD463-F642-8E7C-E2BE-1CCAEE67D945}"/>
              </a:ext>
            </a:extLst>
          </p:cNvPr>
          <p:cNvSpPr/>
          <p:nvPr/>
        </p:nvSpPr>
        <p:spPr>
          <a:xfrm>
            <a:off x="852407" y="1222838"/>
            <a:ext cx="4835038" cy="1925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D36328D0-9517-9C5F-648D-BD86C5599CF4}"/>
              </a:ext>
            </a:extLst>
          </p:cNvPr>
          <p:cNvSpPr/>
          <p:nvPr/>
        </p:nvSpPr>
        <p:spPr>
          <a:xfrm>
            <a:off x="1130495" y="1782900"/>
            <a:ext cx="1175779" cy="28832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46624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Asignar Espacios Físicos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Asignar Espacios Físicos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1071743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7A31AD5-365D-EE13-4CC3-B4F3D67AE0E5}"/>
              </a:ext>
            </a:extLst>
          </p:cNvPr>
          <p:cNvPicPr>
            <a:picLocks noChangeAspect="1"/>
          </p:cNvPicPr>
          <p:nvPr/>
        </p:nvPicPr>
        <p:blipFill>
          <a:blip r:embed="rId2"/>
          <a:stretch>
            <a:fillRect/>
          </a:stretch>
        </p:blipFill>
        <p:spPr>
          <a:xfrm>
            <a:off x="702645" y="1006384"/>
            <a:ext cx="11110664" cy="503977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dirty="0">
                <a:solidFill>
                  <a:schemeClr val="accent1"/>
                </a:solidFill>
              </a:rPr>
              <a:t>Asignar Espacios Físicos</a:t>
            </a:r>
            <a:br>
              <a:rPr lang="es-CL" b="1" dirty="0">
                <a:effectLst/>
              </a:rPr>
            </a:br>
            <a:endParaRPr lang="es-CL" dirty="0"/>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2024015" y="4225638"/>
            <a:ext cx="8335477" cy="125506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Considerando que el NRC ya se encuentra programado, para cada bloque de horario definido es posible asignar un espacio físico, para ello debemos ir a la pestaña ‘Créditos y ubicación de reunión’ de la misma página administrativa SSASECT.</a:t>
            </a:r>
          </a:p>
        </p:txBody>
      </p:sp>
      <p:sp>
        <p:nvSpPr>
          <p:cNvPr id="9" name="Rectángulo 8">
            <a:extLst>
              <a:ext uri="{FF2B5EF4-FFF2-40B4-BE49-F238E27FC236}">
                <a16:creationId xmlns:a16="http://schemas.microsoft.com/office/drawing/2014/main" id="{E2E8F8F2-6662-638B-FFE8-229A085A05EA}"/>
              </a:ext>
            </a:extLst>
          </p:cNvPr>
          <p:cNvSpPr/>
          <p:nvPr/>
        </p:nvSpPr>
        <p:spPr>
          <a:xfrm>
            <a:off x="702644" y="2059709"/>
            <a:ext cx="11110664" cy="5726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6">
            <a:extLst>
              <a:ext uri="{FF2B5EF4-FFF2-40B4-BE49-F238E27FC236}">
                <a16:creationId xmlns:a16="http://schemas.microsoft.com/office/drawing/2014/main" id="{212DB338-FB74-8A35-E68C-08D185B25E01}"/>
              </a:ext>
            </a:extLst>
          </p:cNvPr>
          <p:cNvSpPr/>
          <p:nvPr/>
        </p:nvSpPr>
        <p:spPr>
          <a:xfrm>
            <a:off x="1470382" y="1736436"/>
            <a:ext cx="1337473" cy="1965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828839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093CC1D-2B02-D2D9-76D9-A662D72B16DC}"/>
              </a:ext>
            </a:extLst>
          </p:cNvPr>
          <p:cNvPicPr>
            <a:picLocks noChangeAspect="1"/>
          </p:cNvPicPr>
          <p:nvPr/>
        </p:nvPicPr>
        <p:blipFill>
          <a:blip r:embed="rId2"/>
          <a:stretch>
            <a:fillRect/>
          </a:stretch>
        </p:blipFill>
        <p:spPr>
          <a:xfrm>
            <a:off x="823216" y="954158"/>
            <a:ext cx="10788239" cy="490169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dirty="0">
                <a:solidFill>
                  <a:schemeClr val="accent1"/>
                </a:solidFill>
              </a:rPr>
              <a:t>Asignar Espacios Físicos</a:t>
            </a:r>
            <a:endParaRPr lang="es-CL" dirty="0">
              <a:solidFill>
                <a:schemeClr val="accent1"/>
              </a:solidFill>
            </a:endParaRPr>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2398809" y="3745898"/>
            <a:ext cx="6506923" cy="159624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En la pestaña indicada se puede ver que se cuentan con la misma cantidad de registros que los bloques programados en la pestaña ‘Fecha de reunión’ y que para cada registro se encuentran habilitados los campos ‘Edificio’ y ‘Salón’ donde debieran quedar definidos los espacios físicos a asignar en cada caso.</a:t>
            </a:r>
          </a:p>
        </p:txBody>
      </p:sp>
      <p:sp>
        <p:nvSpPr>
          <p:cNvPr id="9" name="Rectángulo 8">
            <a:extLst>
              <a:ext uri="{FF2B5EF4-FFF2-40B4-BE49-F238E27FC236}">
                <a16:creationId xmlns:a16="http://schemas.microsoft.com/office/drawing/2014/main" id="{0A625FD7-ABEC-1AA5-993F-9B3A97439CFB}"/>
              </a:ext>
            </a:extLst>
          </p:cNvPr>
          <p:cNvSpPr/>
          <p:nvPr/>
        </p:nvSpPr>
        <p:spPr>
          <a:xfrm>
            <a:off x="810247" y="1944286"/>
            <a:ext cx="10801208" cy="47564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6" name="Rectángulo 15">
            <a:extLst>
              <a:ext uri="{FF2B5EF4-FFF2-40B4-BE49-F238E27FC236}">
                <a16:creationId xmlns:a16="http://schemas.microsoft.com/office/drawing/2014/main" id="{F8DAF055-83F0-CE5A-3489-5B3C2BDE7A8A}"/>
              </a:ext>
            </a:extLst>
          </p:cNvPr>
          <p:cNvSpPr/>
          <p:nvPr/>
        </p:nvSpPr>
        <p:spPr>
          <a:xfrm>
            <a:off x="1523694" y="1689553"/>
            <a:ext cx="1247215" cy="1761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7">
            <a:extLst>
              <a:ext uri="{FF2B5EF4-FFF2-40B4-BE49-F238E27FC236}">
                <a16:creationId xmlns:a16="http://schemas.microsoft.com/office/drawing/2014/main" id="{4D358C0C-9EB2-46F0-19BB-E9DC2F82F525}"/>
              </a:ext>
            </a:extLst>
          </p:cNvPr>
          <p:cNvSpPr/>
          <p:nvPr/>
        </p:nvSpPr>
        <p:spPr>
          <a:xfrm>
            <a:off x="2147301" y="1944286"/>
            <a:ext cx="1547244" cy="475642"/>
          </a:xfrm>
          <a:prstGeom prst="rect">
            <a:avLst/>
          </a:prstGeom>
          <a:noFill/>
          <a:ln w="28575">
            <a:solidFill>
              <a:schemeClr val="accent3">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591730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0C423-6666-FE54-E1FA-6ABF2B42961C}"/>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F54A534D-DC7C-957F-2DC7-DE180E96F332}"/>
              </a:ext>
            </a:extLst>
          </p:cNvPr>
          <p:cNvPicPr>
            <a:picLocks noChangeAspect="1"/>
          </p:cNvPicPr>
          <p:nvPr/>
        </p:nvPicPr>
        <p:blipFill>
          <a:blip r:embed="rId2"/>
          <a:stretch>
            <a:fillRect/>
          </a:stretch>
        </p:blipFill>
        <p:spPr>
          <a:xfrm>
            <a:off x="810247" y="954157"/>
            <a:ext cx="10801208" cy="4896323"/>
          </a:xfrm>
          <a:prstGeom prst="rect">
            <a:avLst/>
          </a:prstGeom>
        </p:spPr>
      </p:pic>
      <p:sp>
        <p:nvSpPr>
          <p:cNvPr id="3" name="Marcador de texto vertical 2">
            <a:extLst>
              <a:ext uri="{FF2B5EF4-FFF2-40B4-BE49-F238E27FC236}">
                <a16:creationId xmlns:a16="http://schemas.microsoft.com/office/drawing/2014/main" id="{F3B844D2-5573-5272-69CD-E0F90C6157A0}"/>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9C489CCE-904B-989D-84A3-E8FF7BCFA3B5}"/>
              </a:ext>
            </a:extLst>
          </p:cNvPr>
          <p:cNvSpPr>
            <a:spLocks noGrp="1"/>
          </p:cNvSpPr>
          <p:nvPr>
            <p:ph type="title"/>
          </p:nvPr>
        </p:nvSpPr>
        <p:spPr>
          <a:xfrm>
            <a:off x="810247" y="327992"/>
            <a:ext cx="10271883" cy="626165"/>
          </a:xfrm>
        </p:spPr>
        <p:txBody>
          <a:bodyPr/>
          <a:lstStyle/>
          <a:p>
            <a:r>
              <a:rPr lang="es-419" dirty="0">
                <a:solidFill>
                  <a:schemeClr val="accent1"/>
                </a:solidFill>
              </a:rPr>
              <a:t>Asignar Espacios Físicos</a:t>
            </a:r>
            <a:endParaRPr lang="es-CL" dirty="0">
              <a:solidFill>
                <a:schemeClr val="accent1"/>
              </a:solidFill>
            </a:endParaRPr>
          </a:p>
        </p:txBody>
      </p:sp>
      <p:sp>
        <p:nvSpPr>
          <p:cNvPr id="9" name="Rectángulo 8">
            <a:extLst>
              <a:ext uri="{FF2B5EF4-FFF2-40B4-BE49-F238E27FC236}">
                <a16:creationId xmlns:a16="http://schemas.microsoft.com/office/drawing/2014/main" id="{70A4CB8A-EF5E-D573-5A40-B4DB8803162C}"/>
              </a:ext>
            </a:extLst>
          </p:cNvPr>
          <p:cNvSpPr/>
          <p:nvPr/>
        </p:nvSpPr>
        <p:spPr>
          <a:xfrm>
            <a:off x="2142835" y="2087419"/>
            <a:ext cx="1579419" cy="1662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 name="Rectángulo redondeado 5">
            <a:extLst>
              <a:ext uri="{FF2B5EF4-FFF2-40B4-BE49-F238E27FC236}">
                <a16:creationId xmlns:a16="http://schemas.microsoft.com/office/drawing/2014/main" id="{A1A65C78-3AAF-1930-EBEE-F4FA6F8ACCCA}"/>
              </a:ext>
            </a:extLst>
          </p:cNvPr>
          <p:cNvSpPr/>
          <p:nvPr/>
        </p:nvSpPr>
        <p:spPr>
          <a:xfrm>
            <a:off x="2524219" y="3592946"/>
            <a:ext cx="7373263" cy="190621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asignar el espacio físico donde se impartirá la asignatura existen dos opciones: </a:t>
            </a:r>
          </a:p>
          <a:p>
            <a:pPr marL="800100" lvl="1" indent="-342900">
              <a:buFont typeface="Arial" panose="020B0604020202020204" pitchFamily="34" charset="0"/>
              <a:buChar char="•"/>
            </a:pPr>
            <a:r>
              <a:rPr lang="es-ES_tradnl" sz="1400" dirty="0"/>
              <a:t>Directamente en los campos ‘Edificio’ y ‘Salón’, si conoce la codificación correspondiente</a:t>
            </a:r>
          </a:p>
          <a:p>
            <a:pPr marL="800100" lvl="1" indent="-342900">
              <a:buFont typeface="Arial" panose="020B0604020202020204" pitchFamily="34" charset="0"/>
              <a:buChar char="•"/>
            </a:pPr>
            <a:r>
              <a:rPr lang="es-ES_tradnl" sz="1400" dirty="0"/>
              <a:t>Por medio de la opción Consultar salón de clases disponibles desde el Menú Relacionado (se explica en las diapositivas 20 a 22)</a:t>
            </a:r>
          </a:p>
        </p:txBody>
      </p:sp>
      <p:sp>
        <p:nvSpPr>
          <p:cNvPr id="11" name="Rectángulo redondeado 23">
            <a:extLst>
              <a:ext uri="{FF2B5EF4-FFF2-40B4-BE49-F238E27FC236}">
                <a16:creationId xmlns:a16="http://schemas.microsoft.com/office/drawing/2014/main" id="{20F1C94F-F03A-71A6-A28D-BCC7D61964D9}"/>
              </a:ext>
            </a:extLst>
          </p:cNvPr>
          <p:cNvSpPr/>
          <p:nvPr/>
        </p:nvSpPr>
        <p:spPr>
          <a:xfrm>
            <a:off x="1881713" y="1921734"/>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Tree>
    <p:extLst>
      <p:ext uri="{BB962C8B-B14F-4D97-AF65-F5344CB8AC3E}">
        <p14:creationId xmlns:p14="http://schemas.microsoft.com/office/powerpoint/2010/main" val="3003798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75873-B91F-3BB0-8539-05E21E7FD35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6768B4B-D0C9-FD1B-B245-0B95A7F78B0B}"/>
              </a:ext>
            </a:extLst>
          </p:cNvPr>
          <p:cNvPicPr>
            <a:picLocks noChangeAspect="1"/>
          </p:cNvPicPr>
          <p:nvPr/>
        </p:nvPicPr>
        <p:blipFill>
          <a:blip r:embed="rId2"/>
          <a:stretch>
            <a:fillRect/>
          </a:stretch>
        </p:blipFill>
        <p:spPr>
          <a:xfrm>
            <a:off x="702645" y="913877"/>
            <a:ext cx="10968312" cy="4989237"/>
          </a:xfrm>
          <a:prstGeom prst="rect">
            <a:avLst/>
          </a:prstGeom>
        </p:spPr>
      </p:pic>
      <p:pic>
        <p:nvPicPr>
          <p:cNvPr id="11" name="Imagen 10">
            <a:extLst>
              <a:ext uri="{FF2B5EF4-FFF2-40B4-BE49-F238E27FC236}">
                <a16:creationId xmlns:a16="http://schemas.microsoft.com/office/drawing/2014/main" id="{E4040628-D00F-528A-00D4-0B746FD0336E}"/>
              </a:ext>
            </a:extLst>
          </p:cNvPr>
          <p:cNvPicPr>
            <a:picLocks noChangeAspect="1"/>
          </p:cNvPicPr>
          <p:nvPr/>
        </p:nvPicPr>
        <p:blipFill>
          <a:blip r:embed="rId3"/>
          <a:stretch>
            <a:fillRect/>
          </a:stretch>
        </p:blipFill>
        <p:spPr>
          <a:xfrm>
            <a:off x="650278" y="3538679"/>
            <a:ext cx="9234671" cy="1420348"/>
          </a:xfrm>
          <a:prstGeom prst="rect">
            <a:avLst/>
          </a:prstGeom>
          <a:ln>
            <a:noFill/>
          </a:ln>
          <a:effectLst>
            <a:outerShdw blurRad="190500" algn="tl" rotWithShape="0">
              <a:srgbClr val="000000">
                <a:alpha val="70000"/>
              </a:srgbClr>
            </a:outerShdw>
          </a:effectLst>
        </p:spPr>
      </p:pic>
      <p:sp>
        <p:nvSpPr>
          <p:cNvPr id="3" name="Marcador de texto vertical 2">
            <a:extLst>
              <a:ext uri="{FF2B5EF4-FFF2-40B4-BE49-F238E27FC236}">
                <a16:creationId xmlns:a16="http://schemas.microsoft.com/office/drawing/2014/main" id="{D1D9B424-237D-D8C9-8A17-D3160E58797C}"/>
              </a:ext>
            </a:extLst>
          </p:cNvPr>
          <p:cNvSpPr>
            <a:spLocks noGrp="1"/>
          </p:cNvSpPr>
          <p:nvPr>
            <p:ph type="body" orient="vert" sz="quarter" idx="17"/>
          </p:nvPr>
        </p:nvSpPr>
        <p:spPr/>
        <p:txBody>
          <a:bodyPr/>
          <a:lstStyle/>
          <a:p>
            <a:r>
              <a:rPr lang="es-419" dirty="0"/>
              <a:t>Asignar Espacios Físicos</a:t>
            </a:r>
            <a:endParaRPr lang="en-US" dirty="0"/>
          </a:p>
        </p:txBody>
      </p:sp>
      <p:sp>
        <p:nvSpPr>
          <p:cNvPr id="4" name="Título 3">
            <a:extLst>
              <a:ext uri="{FF2B5EF4-FFF2-40B4-BE49-F238E27FC236}">
                <a16:creationId xmlns:a16="http://schemas.microsoft.com/office/drawing/2014/main" id="{3FB210F3-57CB-A139-FCCB-0A6A2562A9EB}"/>
              </a:ext>
            </a:extLst>
          </p:cNvPr>
          <p:cNvSpPr>
            <a:spLocks noGrp="1"/>
          </p:cNvSpPr>
          <p:nvPr>
            <p:ph type="title"/>
          </p:nvPr>
        </p:nvSpPr>
        <p:spPr>
          <a:xfrm>
            <a:off x="810247" y="327992"/>
            <a:ext cx="10271883" cy="626165"/>
          </a:xfrm>
        </p:spPr>
        <p:txBody>
          <a:bodyPr/>
          <a:lstStyle/>
          <a:p>
            <a:r>
              <a:rPr lang="es-419" dirty="0">
                <a:solidFill>
                  <a:schemeClr val="accent1"/>
                </a:solidFill>
              </a:rPr>
              <a:t>Asignar Espacios Físicos</a:t>
            </a:r>
            <a:br>
              <a:rPr lang="es-CL" b="1" dirty="0">
                <a:effectLst/>
              </a:rPr>
            </a:br>
            <a:endParaRPr lang="es-CL" dirty="0"/>
          </a:p>
        </p:txBody>
      </p:sp>
      <p:sp>
        <p:nvSpPr>
          <p:cNvPr id="10" name="Rectángulo redondeado 5">
            <a:extLst>
              <a:ext uri="{FF2B5EF4-FFF2-40B4-BE49-F238E27FC236}">
                <a16:creationId xmlns:a16="http://schemas.microsoft.com/office/drawing/2014/main" id="{EAD9DEAA-F81E-EFD7-31F5-F3817A736039}"/>
              </a:ext>
            </a:extLst>
          </p:cNvPr>
          <p:cNvSpPr/>
          <p:nvPr/>
        </p:nvSpPr>
        <p:spPr>
          <a:xfrm>
            <a:off x="1325867" y="1269401"/>
            <a:ext cx="8335477" cy="1427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Consultar salones de clases disponibles:</a:t>
            </a:r>
          </a:p>
          <a:p>
            <a:pPr marL="342900" indent="-342900">
              <a:buFont typeface="+mj-lt"/>
              <a:buAutoNum type="alphaLcParenR"/>
            </a:pPr>
            <a:r>
              <a:rPr lang="es-ES_tradnl" sz="1400" dirty="0"/>
              <a:t>Desde el Menú Relacionado, seleccione la opción Consultar salón de clases disponibles (SLQMEET)</a:t>
            </a:r>
          </a:p>
          <a:p>
            <a:pPr marL="342900" indent="-342900">
              <a:buFont typeface="+mj-lt"/>
              <a:buAutoNum type="alphaLcParenR"/>
            </a:pPr>
            <a:r>
              <a:rPr lang="es-ES_tradnl" sz="1400" dirty="0"/>
              <a:t>El sistema muestra la página Consulta de salón de clase disponible (SLQMEET) con los días, horas, Campus y capacidad (según cupo) de la sesión para la cual se está haciendo la búsqueda (estos elementos pueden modificarse si así lo desea). Presione el botón Ir.</a:t>
            </a:r>
          </a:p>
        </p:txBody>
      </p:sp>
      <p:sp>
        <p:nvSpPr>
          <p:cNvPr id="14" name="Rectángulo redondeado 23">
            <a:extLst>
              <a:ext uri="{FF2B5EF4-FFF2-40B4-BE49-F238E27FC236}">
                <a16:creationId xmlns:a16="http://schemas.microsoft.com/office/drawing/2014/main" id="{B1297393-631E-AD61-34B3-6C8FA2622B52}"/>
              </a:ext>
            </a:extLst>
          </p:cNvPr>
          <p:cNvSpPr/>
          <p:nvPr/>
        </p:nvSpPr>
        <p:spPr>
          <a:xfrm>
            <a:off x="9754388" y="1619667"/>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a</a:t>
            </a:r>
          </a:p>
        </p:txBody>
      </p:sp>
      <p:sp>
        <p:nvSpPr>
          <p:cNvPr id="15" name="Rectángulo redondeado 23">
            <a:extLst>
              <a:ext uri="{FF2B5EF4-FFF2-40B4-BE49-F238E27FC236}">
                <a16:creationId xmlns:a16="http://schemas.microsoft.com/office/drawing/2014/main" id="{A53CEDFE-0E75-098A-3107-35AA72A0345A}"/>
              </a:ext>
            </a:extLst>
          </p:cNvPr>
          <p:cNvSpPr/>
          <p:nvPr/>
        </p:nvSpPr>
        <p:spPr>
          <a:xfrm>
            <a:off x="9334719" y="3719969"/>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b</a:t>
            </a:r>
          </a:p>
        </p:txBody>
      </p:sp>
      <p:sp>
        <p:nvSpPr>
          <p:cNvPr id="9" name="Rectángulo 8">
            <a:extLst>
              <a:ext uri="{FF2B5EF4-FFF2-40B4-BE49-F238E27FC236}">
                <a16:creationId xmlns:a16="http://schemas.microsoft.com/office/drawing/2014/main" id="{0C2D1538-C825-273B-53D4-942313FAFA16}"/>
              </a:ext>
            </a:extLst>
          </p:cNvPr>
          <p:cNvSpPr/>
          <p:nvPr/>
        </p:nvSpPr>
        <p:spPr>
          <a:xfrm>
            <a:off x="9595841" y="3802812"/>
            <a:ext cx="241838" cy="16568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88304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545F6-0946-81FF-DE37-6BEF2524375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A2FDB4A-0C7F-E46D-2050-2E288896DCC6}"/>
              </a:ext>
            </a:extLst>
          </p:cNvPr>
          <p:cNvPicPr>
            <a:picLocks noChangeAspect="1"/>
          </p:cNvPicPr>
          <p:nvPr/>
        </p:nvPicPr>
        <p:blipFill>
          <a:blip r:embed="rId2"/>
          <a:stretch>
            <a:fillRect/>
          </a:stretch>
        </p:blipFill>
        <p:spPr>
          <a:xfrm>
            <a:off x="702644" y="954334"/>
            <a:ext cx="10925936" cy="4959088"/>
          </a:xfrm>
          <a:prstGeom prst="rect">
            <a:avLst/>
          </a:prstGeom>
        </p:spPr>
      </p:pic>
      <p:sp>
        <p:nvSpPr>
          <p:cNvPr id="3" name="Marcador de texto vertical 2">
            <a:extLst>
              <a:ext uri="{FF2B5EF4-FFF2-40B4-BE49-F238E27FC236}">
                <a16:creationId xmlns:a16="http://schemas.microsoft.com/office/drawing/2014/main" id="{3D03919A-51D9-67B9-9130-8362B8300D5F}"/>
              </a:ext>
            </a:extLst>
          </p:cNvPr>
          <p:cNvSpPr>
            <a:spLocks noGrp="1"/>
          </p:cNvSpPr>
          <p:nvPr>
            <p:ph type="body" orient="vert" sz="quarter" idx="17"/>
          </p:nvPr>
        </p:nvSpPr>
        <p:spPr/>
        <p:txBody>
          <a:bodyPr/>
          <a:lstStyle/>
          <a:p>
            <a:r>
              <a:rPr lang="es-419" dirty="0"/>
              <a:t>Asignar Espacios Físicos</a:t>
            </a:r>
            <a:endParaRPr lang="en-US" dirty="0"/>
          </a:p>
        </p:txBody>
      </p:sp>
      <p:sp>
        <p:nvSpPr>
          <p:cNvPr id="4" name="Título 3">
            <a:extLst>
              <a:ext uri="{FF2B5EF4-FFF2-40B4-BE49-F238E27FC236}">
                <a16:creationId xmlns:a16="http://schemas.microsoft.com/office/drawing/2014/main" id="{60BF4720-0A14-DBF9-0E14-9BAD84470B6B}"/>
              </a:ext>
            </a:extLst>
          </p:cNvPr>
          <p:cNvSpPr>
            <a:spLocks noGrp="1"/>
          </p:cNvSpPr>
          <p:nvPr>
            <p:ph type="title"/>
          </p:nvPr>
        </p:nvSpPr>
        <p:spPr>
          <a:xfrm>
            <a:off x="810247" y="327992"/>
            <a:ext cx="10271883" cy="626165"/>
          </a:xfrm>
        </p:spPr>
        <p:txBody>
          <a:bodyPr/>
          <a:lstStyle/>
          <a:p>
            <a:r>
              <a:rPr lang="es-ES_tradnl" dirty="0">
                <a:solidFill>
                  <a:schemeClr val="accent1"/>
                </a:solidFill>
              </a:rPr>
              <a:t>Asignar </a:t>
            </a:r>
            <a:r>
              <a:rPr lang="es-419" dirty="0">
                <a:solidFill>
                  <a:schemeClr val="accent1"/>
                </a:solidFill>
              </a:rPr>
              <a:t>Espacios Físicos</a:t>
            </a:r>
            <a:endParaRPr lang="es-CL" dirty="0">
              <a:solidFill>
                <a:schemeClr val="accent1"/>
              </a:solidFill>
            </a:endParaRPr>
          </a:p>
        </p:txBody>
      </p:sp>
      <p:sp>
        <p:nvSpPr>
          <p:cNvPr id="8" name="Rectángulo 7">
            <a:extLst>
              <a:ext uri="{FF2B5EF4-FFF2-40B4-BE49-F238E27FC236}">
                <a16:creationId xmlns:a16="http://schemas.microsoft.com/office/drawing/2014/main" id="{108DB19E-2518-4852-D7C4-0A225A23904A}"/>
              </a:ext>
            </a:extLst>
          </p:cNvPr>
          <p:cNvSpPr/>
          <p:nvPr/>
        </p:nvSpPr>
        <p:spPr>
          <a:xfrm>
            <a:off x="709924" y="1608734"/>
            <a:ext cx="10918656" cy="875848"/>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6AD2D9AB-D1EF-D3DA-F395-EE32DD004349}"/>
              </a:ext>
            </a:extLst>
          </p:cNvPr>
          <p:cNvSpPr/>
          <p:nvPr/>
        </p:nvSpPr>
        <p:spPr>
          <a:xfrm>
            <a:off x="987752" y="5619125"/>
            <a:ext cx="314574" cy="19447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BD8FD8D2-937E-36B7-A2EF-7AB353FB2938}"/>
              </a:ext>
            </a:extLst>
          </p:cNvPr>
          <p:cNvSpPr/>
          <p:nvPr/>
        </p:nvSpPr>
        <p:spPr>
          <a:xfrm>
            <a:off x="1778449" y="3264908"/>
            <a:ext cx="8353842" cy="11408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Consultar docentes disponibles:</a:t>
            </a:r>
          </a:p>
          <a:p>
            <a:pPr marL="342900" indent="-342900">
              <a:buFont typeface="+mj-lt"/>
              <a:buAutoNum type="alphaLcParenR" startAt="3"/>
            </a:pPr>
            <a:r>
              <a:rPr lang="es-ES_tradnl" sz="1400" dirty="0"/>
              <a:t>Se puede definir atributos que se necesiten del salón, si están definidos para el mismo. No es obligatorio definir atributos para la búsqueda.</a:t>
            </a:r>
          </a:p>
          <a:p>
            <a:pPr marL="342900" indent="-342900">
              <a:buFont typeface="+mj-lt"/>
              <a:buAutoNum type="alphaLcParenR" startAt="3"/>
            </a:pPr>
            <a:r>
              <a:rPr lang="es-ES_tradnl" sz="1400" dirty="0"/>
              <a:t>Pase al siguiente bloque</a:t>
            </a:r>
          </a:p>
          <a:p>
            <a:pPr marL="342900" indent="-342900">
              <a:buFont typeface="+mj-lt"/>
              <a:buAutoNum type="arabicPeriod"/>
            </a:pPr>
            <a:endParaRPr lang="es-ES_tradnl" sz="1400" dirty="0"/>
          </a:p>
        </p:txBody>
      </p:sp>
      <p:sp>
        <p:nvSpPr>
          <p:cNvPr id="11" name="Rectángulo redondeado 23">
            <a:extLst>
              <a:ext uri="{FF2B5EF4-FFF2-40B4-BE49-F238E27FC236}">
                <a16:creationId xmlns:a16="http://schemas.microsoft.com/office/drawing/2014/main" id="{A40F4F20-F3E5-168E-8B82-3CFA717DE73A}"/>
              </a:ext>
            </a:extLst>
          </p:cNvPr>
          <p:cNvSpPr/>
          <p:nvPr/>
        </p:nvSpPr>
        <p:spPr>
          <a:xfrm>
            <a:off x="448802" y="1443049"/>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c</a:t>
            </a:r>
            <a:endParaRPr lang="es-419" sz="1100" noProof="0" dirty="0"/>
          </a:p>
        </p:txBody>
      </p:sp>
      <p:sp>
        <p:nvSpPr>
          <p:cNvPr id="13" name="Rectángulo redondeado 23">
            <a:extLst>
              <a:ext uri="{FF2B5EF4-FFF2-40B4-BE49-F238E27FC236}">
                <a16:creationId xmlns:a16="http://schemas.microsoft.com/office/drawing/2014/main" id="{21DF6F08-2050-949A-2FCF-BE634AE12BA2}"/>
              </a:ext>
            </a:extLst>
          </p:cNvPr>
          <p:cNvSpPr/>
          <p:nvPr/>
        </p:nvSpPr>
        <p:spPr>
          <a:xfrm>
            <a:off x="1302326" y="5528106"/>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d</a:t>
            </a:r>
          </a:p>
        </p:txBody>
      </p:sp>
    </p:spTree>
    <p:extLst>
      <p:ext uri="{BB962C8B-B14F-4D97-AF65-F5344CB8AC3E}">
        <p14:creationId xmlns:p14="http://schemas.microsoft.com/office/powerpoint/2010/main" val="994484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FF271-3109-333A-038E-61692966782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D78AF69-8F5A-1926-6AF3-7EFBE647D529}"/>
              </a:ext>
            </a:extLst>
          </p:cNvPr>
          <p:cNvPicPr>
            <a:picLocks noChangeAspect="1"/>
          </p:cNvPicPr>
          <p:nvPr/>
        </p:nvPicPr>
        <p:blipFill>
          <a:blip r:embed="rId2"/>
          <a:stretch>
            <a:fillRect/>
          </a:stretch>
        </p:blipFill>
        <p:spPr>
          <a:xfrm>
            <a:off x="609601" y="897333"/>
            <a:ext cx="11235478" cy="5123003"/>
          </a:xfrm>
          <a:prstGeom prst="rect">
            <a:avLst/>
          </a:prstGeom>
        </p:spPr>
      </p:pic>
      <p:sp>
        <p:nvSpPr>
          <p:cNvPr id="3" name="Marcador de texto vertical 2">
            <a:extLst>
              <a:ext uri="{FF2B5EF4-FFF2-40B4-BE49-F238E27FC236}">
                <a16:creationId xmlns:a16="http://schemas.microsoft.com/office/drawing/2014/main" id="{DC131F11-829B-7D33-1360-895B73099F08}"/>
              </a:ext>
            </a:extLst>
          </p:cNvPr>
          <p:cNvSpPr>
            <a:spLocks noGrp="1"/>
          </p:cNvSpPr>
          <p:nvPr>
            <p:ph type="body" orient="vert" sz="quarter" idx="17"/>
          </p:nvPr>
        </p:nvSpPr>
        <p:spPr/>
        <p:txBody>
          <a:bodyPr/>
          <a:lstStyle/>
          <a:p>
            <a:r>
              <a:rPr lang="es-419" dirty="0"/>
              <a:t>Asignar Espacios Físicos</a:t>
            </a:r>
            <a:endParaRPr lang="en-US" dirty="0"/>
          </a:p>
        </p:txBody>
      </p:sp>
      <p:sp>
        <p:nvSpPr>
          <p:cNvPr id="4" name="Título 3">
            <a:extLst>
              <a:ext uri="{FF2B5EF4-FFF2-40B4-BE49-F238E27FC236}">
                <a16:creationId xmlns:a16="http://schemas.microsoft.com/office/drawing/2014/main" id="{176EFD35-C25A-3986-3C03-7828DB575E41}"/>
              </a:ext>
            </a:extLst>
          </p:cNvPr>
          <p:cNvSpPr>
            <a:spLocks noGrp="1"/>
          </p:cNvSpPr>
          <p:nvPr>
            <p:ph type="title"/>
          </p:nvPr>
        </p:nvSpPr>
        <p:spPr>
          <a:xfrm>
            <a:off x="810247" y="327992"/>
            <a:ext cx="10271883" cy="626165"/>
          </a:xfrm>
        </p:spPr>
        <p:txBody>
          <a:bodyPr/>
          <a:lstStyle/>
          <a:p>
            <a:r>
              <a:rPr lang="es-ES_tradnl" dirty="0">
                <a:solidFill>
                  <a:schemeClr val="accent1"/>
                </a:solidFill>
              </a:rPr>
              <a:t>Asignar </a:t>
            </a:r>
            <a:r>
              <a:rPr lang="es-419" dirty="0">
                <a:solidFill>
                  <a:schemeClr val="accent1"/>
                </a:solidFill>
              </a:rPr>
              <a:t>Espacios Físicos</a:t>
            </a:r>
            <a:endParaRPr lang="es-CL" dirty="0">
              <a:solidFill>
                <a:schemeClr val="accent1"/>
              </a:solidFill>
            </a:endParaRPr>
          </a:p>
        </p:txBody>
      </p:sp>
      <p:sp>
        <p:nvSpPr>
          <p:cNvPr id="8" name="Rectángulo 7">
            <a:extLst>
              <a:ext uri="{FF2B5EF4-FFF2-40B4-BE49-F238E27FC236}">
                <a16:creationId xmlns:a16="http://schemas.microsoft.com/office/drawing/2014/main" id="{0E18E5AE-64D5-C2FA-5410-D91DA664863B}"/>
              </a:ext>
            </a:extLst>
          </p:cNvPr>
          <p:cNvSpPr/>
          <p:nvPr/>
        </p:nvSpPr>
        <p:spPr>
          <a:xfrm>
            <a:off x="634559" y="2416997"/>
            <a:ext cx="11210520" cy="3280748"/>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4248AAF3-6812-C0F1-518E-17A128F1807E}"/>
              </a:ext>
            </a:extLst>
          </p:cNvPr>
          <p:cNvSpPr/>
          <p:nvPr/>
        </p:nvSpPr>
        <p:spPr>
          <a:xfrm>
            <a:off x="10777066" y="5729248"/>
            <a:ext cx="574427" cy="19447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FFBCDA62-DADA-DE52-89F4-26D8191781C8}"/>
              </a:ext>
            </a:extLst>
          </p:cNvPr>
          <p:cNvSpPr/>
          <p:nvPr/>
        </p:nvSpPr>
        <p:spPr>
          <a:xfrm>
            <a:off x="3491237" y="1620326"/>
            <a:ext cx="8353842" cy="11408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Consultar docentes disponibles:</a:t>
            </a:r>
          </a:p>
          <a:p>
            <a:pPr marL="342900" indent="-342900">
              <a:buFont typeface="+mj-lt"/>
              <a:buAutoNum type="alphaLcParenR" startAt="5"/>
            </a:pPr>
            <a:r>
              <a:rPr lang="es-ES_tradnl" sz="1400" dirty="0"/>
              <a:t>El sistema muestra la lista de salones disponibles, según los criterios de búsqueda (días, horas, campus, atributos). Haga clic sobre aquel que desea asignar al NRC.</a:t>
            </a:r>
          </a:p>
          <a:p>
            <a:pPr marL="342900" indent="-342900">
              <a:buFont typeface="+mj-lt"/>
              <a:buAutoNum type="alphaLcParenR" startAt="5"/>
            </a:pPr>
            <a:r>
              <a:rPr lang="es-ES_tradnl" sz="1400" dirty="0"/>
              <a:t>Presione el botón Seleccionar para que el salón sea asignado al NRC automáticamente.</a:t>
            </a:r>
          </a:p>
        </p:txBody>
      </p:sp>
      <p:sp>
        <p:nvSpPr>
          <p:cNvPr id="11" name="Rectángulo redondeado 23">
            <a:extLst>
              <a:ext uri="{FF2B5EF4-FFF2-40B4-BE49-F238E27FC236}">
                <a16:creationId xmlns:a16="http://schemas.microsoft.com/office/drawing/2014/main" id="{FD24429B-2495-2D5D-2B90-C8ACAD03F52E}"/>
              </a:ext>
            </a:extLst>
          </p:cNvPr>
          <p:cNvSpPr/>
          <p:nvPr/>
        </p:nvSpPr>
        <p:spPr>
          <a:xfrm>
            <a:off x="503998" y="3303272"/>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e</a:t>
            </a:r>
            <a:endParaRPr lang="es-419" sz="1100" noProof="0" dirty="0"/>
          </a:p>
        </p:txBody>
      </p:sp>
      <p:sp>
        <p:nvSpPr>
          <p:cNvPr id="13" name="Rectángulo redondeado 23">
            <a:extLst>
              <a:ext uri="{FF2B5EF4-FFF2-40B4-BE49-F238E27FC236}">
                <a16:creationId xmlns:a16="http://schemas.microsoft.com/office/drawing/2014/main" id="{D137C164-C71B-47AC-FCDD-11FC8D883CA0}"/>
              </a:ext>
            </a:extLst>
          </p:cNvPr>
          <p:cNvSpPr/>
          <p:nvPr/>
        </p:nvSpPr>
        <p:spPr>
          <a:xfrm>
            <a:off x="10502976" y="5660800"/>
            <a:ext cx="261122" cy="165685"/>
          </a:xfrm>
          <a:prstGeom prst="roundRect">
            <a:avLst/>
          </a:prstGeom>
          <a:solidFill>
            <a:schemeClr val="accent3">
              <a:lumMod val="75000"/>
              <a:lumOff val="25000"/>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f</a:t>
            </a:r>
            <a:endParaRPr lang="es-419" sz="1100" noProof="0" dirty="0"/>
          </a:p>
        </p:txBody>
      </p:sp>
    </p:spTree>
    <p:extLst>
      <p:ext uri="{BB962C8B-B14F-4D97-AF65-F5344CB8AC3E}">
        <p14:creationId xmlns:p14="http://schemas.microsoft.com/office/powerpoint/2010/main" val="744939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8A998F2-D69B-F960-BD8A-FD9780660EAF}"/>
              </a:ext>
            </a:extLst>
          </p:cNvPr>
          <p:cNvPicPr>
            <a:picLocks noChangeAspect="1"/>
          </p:cNvPicPr>
          <p:nvPr/>
        </p:nvPicPr>
        <p:blipFill>
          <a:blip r:embed="rId2"/>
          <a:stretch>
            <a:fillRect/>
          </a:stretch>
        </p:blipFill>
        <p:spPr>
          <a:xfrm>
            <a:off x="622570" y="954157"/>
            <a:ext cx="11153771" cy="505932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Asignar </a:t>
            </a:r>
            <a:r>
              <a:rPr lang="es-419" dirty="0">
                <a:solidFill>
                  <a:schemeClr val="accent1"/>
                </a:solidFill>
              </a:rPr>
              <a:t>Espacios Físicos</a:t>
            </a:r>
            <a:endParaRPr lang="es-CL" dirty="0">
              <a:solidFill>
                <a:schemeClr val="accent1"/>
              </a:solidFill>
            </a:endParaRPr>
          </a:p>
        </p:txBody>
      </p:sp>
      <p:sp>
        <p:nvSpPr>
          <p:cNvPr id="12" name="Rectángulo redondeado 5">
            <a:extLst>
              <a:ext uri="{FF2B5EF4-FFF2-40B4-BE49-F238E27FC236}">
                <a16:creationId xmlns:a16="http://schemas.microsoft.com/office/drawing/2014/main" id="{F68386D3-95B0-64DB-FCF3-B5427A6DE7F3}"/>
              </a:ext>
            </a:extLst>
          </p:cNvPr>
          <p:cNvSpPr/>
          <p:nvPr/>
        </p:nvSpPr>
        <p:spPr>
          <a:xfrm>
            <a:off x="1778449" y="3264906"/>
            <a:ext cx="7476387" cy="124705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2"/>
            </a:pPr>
            <a:r>
              <a:rPr lang="es-ES_tradnl" sz="1200" dirty="0"/>
              <a:t>Toda vez seleccionado el salón, se insertan en la sesión correspondiente el Edificio y el Salón respectivo</a:t>
            </a:r>
          </a:p>
          <a:p>
            <a:pPr marL="342900" indent="-342900">
              <a:buFont typeface="+mj-lt"/>
              <a:buAutoNum type="arabicPeriod" startAt="2"/>
            </a:pPr>
            <a:r>
              <a:rPr lang="es-ES_tradnl" sz="1200" dirty="0"/>
              <a:t>Guarde la información ingresada.</a:t>
            </a:r>
          </a:p>
        </p:txBody>
      </p:sp>
      <p:sp>
        <p:nvSpPr>
          <p:cNvPr id="24" name="Rectángulo 23">
            <a:extLst>
              <a:ext uri="{FF2B5EF4-FFF2-40B4-BE49-F238E27FC236}">
                <a16:creationId xmlns:a16="http://schemas.microsoft.com/office/drawing/2014/main" id="{72815446-0022-89D1-0114-F8E6B7696AED}"/>
              </a:ext>
            </a:extLst>
          </p:cNvPr>
          <p:cNvSpPr/>
          <p:nvPr/>
        </p:nvSpPr>
        <p:spPr>
          <a:xfrm>
            <a:off x="11333019" y="5746276"/>
            <a:ext cx="434086" cy="165685"/>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25" name="Rectángulo redondeado 23">
            <a:extLst>
              <a:ext uri="{FF2B5EF4-FFF2-40B4-BE49-F238E27FC236}">
                <a16:creationId xmlns:a16="http://schemas.microsoft.com/office/drawing/2014/main" id="{089F1220-36E6-1BA4-85DB-96A2C70E935B}"/>
              </a:ext>
            </a:extLst>
          </p:cNvPr>
          <p:cNvSpPr/>
          <p:nvPr/>
        </p:nvSpPr>
        <p:spPr>
          <a:xfrm>
            <a:off x="11058928" y="560137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6" name="Rectángulo 5">
            <a:extLst>
              <a:ext uri="{FF2B5EF4-FFF2-40B4-BE49-F238E27FC236}">
                <a16:creationId xmlns:a16="http://schemas.microsoft.com/office/drawing/2014/main" id="{C4D9BCCE-8E0E-DF67-2D10-47F59AB0A47D}"/>
              </a:ext>
            </a:extLst>
          </p:cNvPr>
          <p:cNvSpPr/>
          <p:nvPr/>
        </p:nvSpPr>
        <p:spPr>
          <a:xfrm>
            <a:off x="1983068" y="1982888"/>
            <a:ext cx="1628350" cy="363148"/>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23">
            <a:extLst>
              <a:ext uri="{FF2B5EF4-FFF2-40B4-BE49-F238E27FC236}">
                <a16:creationId xmlns:a16="http://schemas.microsoft.com/office/drawing/2014/main" id="{19F81998-D838-2B8E-DF2A-B18ED0F5EA1E}"/>
              </a:ext>
            </a:extLst>
          </p:cNvPr>
          <p:cNvSpPr/>
          <p:nvPr/>
        </p:nvSpPr>
        <p:spPr>
          <a:xfrm>
            <a:off x="1708977" y="187533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1267972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EB63B-BC86-050A-0016-148BADF81F18}"/>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F9AC60FD-AA5D-6B18-7DFA-912CE04234AF}"/>
              </a:ext>
            </a:extLst>
          </p:cNvPr>
          <p:cNvSpPr>
            <a:spLocks noGrp="1"/>
          </p:cNvSpPr>
          <p:nvPr>
            <p:ph type="body" orient="vert" sz="quarter" idx="10"/>
          </p:nvPr>
        </p:nvSpPr>
        <p:spPr/>
        <p:txBody>
          <a:bodyPr/>
          <a:lstStyle/>
          <a:p>
            <a:r>
              <a:rPr lang="es-419" sz="1200" dirty="0"/>
              <a:t>Asignar Espacios Físicos</a:t>
            </a:r>
            <a:endParaRPr lang="en-US" dirty="0"/>
          </a:p>
        </p:txBody>
      </p:sp>
      <p:pic>
        <p:nvPicPr>
          <p:cNvPr id="5" name="Picture 4">
            <a:extLst>
              <a:ext uri="{FF2B5EF4-FFF2-40B4-BE49-F238E27FC236}">
                <a16:creationId xmlns:a16="http://schemas.microsoft.com/office/drawing/2014/main" id="{9010D769-207E-F405-5CDB-F7BB314B446B}"/>
              </a:ext>
            </a:extLst>
          </p:cNvPr>
          <p:cNvPicPr>
            <a:picLocks noChangeAspect="1"/>
          </p:cNvPicPr>
          <p:nvPr/>
        </p:nvPicPr>
        <p:blipFill>
          <a:blip r:embed="rId2"/>
          <a:stretch>
            <a:fillRect/>
          </a:stretch>
        </p:blipFill>
        <p:spPr>
          <a:xfrm>
            <a:off x="874323" y="2456603"/>
            <a:ext cx="10443353" cy="1944793"/>
          </a:xfrm>
          <a:prstGeom prst="rect">
            <a:avLst/>
          </a:prstGeom>
        </p:spPr>
      </p:pic>
    </p:spTree>
    <p:extLst>
      <p:ext uri="{BB962C8B-B14F-4D97-AF65-F5344CB8AC3E}">
        <p14:creationId xmlns:p14="http://schemas.microsoft.com/office/powerpoint/2010/main" val="3111498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0D58341-B3E5-202B-0BF5-D21EFD23CCCA}"/>
              </a:ext>
            </a:extLst>
          </p:cNvPr>
          <p:cNvPicPr>
            <a:picLocks noChangeAspect="1"/>
          </p:cNvPicPr>
          <p:nvPr/>
        </p:nvPicPr>
        <p:blipFill>
          <a:blip r:embed="rId2"/>
          <a:stretch>
            <a:fillRect/>
          </a:stretch>
        </p:blipFill>
        <p:spPr>
          <a:xfrm>
            <a:off x="710157" y="928730"/>
            <a:ext cx="10903524" cy="495976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Horario de edificio/salón (SSAMATX)</a:t>
            </a:r>
            <a:endParaRPr lang="es-CL" dirty="0">
              <a:solidFill>
                <a:schemeClr val="accent1"/>
              </a:solidFill>
            </a:endParaRPr>
          </a:p>
        </p:txBody>
      </p:sp>
      <p:sp>
        <p:nvSpPr>
          <p:cNvPr id="10" name="Rectángulo redondeado 5">
            <a:extLst>
              <a:ext uri="{FF2B5EF4-FFF2-40B4-BE49-F238E27FC236}">
                <a16:creationId xmlns:a16="http://schemas.microsoft.com/office/drawing/2014/main" id="{10816C7C-74F2-E214-9E66-26A28649BA00}"/>
              </a:ext>
            </a:extLst>
          </p:cNvPr>
          <p:cNvSpPr/>
          <p:nvPr/>
        </p:nvSpPr>
        <p:spPr>
          <a:xfrm>
            <a:off x="2262648" y="3166636"/>
            <a:ext cx="7367079" cy="159624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la asignación de espacios físicos, Banner cuenta con la página administrativa Horario de edificio/salón (SSAMATX) en la cual se puede consultar la ocupación de cada espacio físico. </a:t>
            </a:r>
          </a:p>
          <a:p>
            <a:r>
              <a:rPr lang="es-ES_tradnl" sz="1200" dirty="0"/>
              <a:t>Para ello primero se requiere:</a:t>
            </a:r>
          </a:p>
          <a:p>
            <a:pPr marL="342900" indent="-342900">
              <a:buFont typeface="+mj-lt"/>
              <a:buAutoNum type="arabicPeriod"/>
            </a:pPr>
            <a:r>
              <a:rPr lang="es-ES_tradnl" sz="1200" dirty="0"/>
              <a:t>Ingresar las variables que identifiquen al espacio físico a consultar Edificio y/o Salón, por ejemplo.</a:t>
            </a:r>
          </a:p>
          <a:p>
            <a:pPr marL="342900" indent="-342900">
              <a:buFont typeface="+mj-lt"/>
              <a:buAutoNum type="arabicPeriod"/>
            </a:pPr>
            <a:r>
              <a:rPr lang="es-ES_tradnl" sz="1200" dirty="0"/>
              <a:t>Presione el botón Ir.</a:t>
            </a:r>
          </a:p>
        </p:txBody>
      </p:sp>
      <p:sp>
        <p:nvSpPr>
          <p:cNvPr id="13" name="Rectángulo 12">
            <a:extLst>
              <a:ext uri="{FF2B5EF4-FFF2-40B4-BE49-F238E27FC236}">
                <a16:creationId xmlns:a16="http://schemas.microsoft.com/office/drawing/2014/main" id="{531ADC2A-EDA7-51E2-9BFA-B48EF7140AEE}"/>
              </a:ext>
            </a:extLst>
          </p:cNvPr>
          <p:cNvSpPr/>
          <p:nvPr/>
        </p:nvSpPr>
        <p:spPr>
          <a:xfrm>
            <a:off x="710157" y="1575247"/>
            <a:ext cx="2642643" cy="46577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13">
            <a:extLst>
              <a:ext uri="{FF2B5EF4-FFF2-40B4-BE49-F238E27FC236}">
                <a16:creationId xmlns:a16="http://schemas.microsoft.com/office/drawing/2014/main" id="{1A200F37-AB65-94CB-E2A6-8637274D3E81}"/>
              </a:ext>
            </a:extLst>
          </p:cNvPr>
          <p:cNvSpPr/>
          <p:nvPr/>
        </p:nvSpPr>
        <p:spPr>
          <a:xfrm>
            <a:off x="11368294" y="2013312"/>
            <a:ext cx="254624" cy="20341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23">
            <a:extLst>
              <a:ext uri="{FF2B5EF4-FFF2-40B4-BE49-F238E27FC236}">
                <a16:creationId xmlns:a16="http://schemas.microsoft.com/office/drawing/2014/main" id="{E6A88983-8EEA-5770-AC80-52F6ED0E9803}"/>
              </a:ext>
            </a:extLst>
          </p:cNvPr>
          <p:cNvSpPr/>
          <p:nvPr/>
        </p:nvSpPr>
        <p:spPr>
          <a:xfrm>
            <a:off x="3453356" y="1495431"/>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9" name="Rectángulo redondeado 23">
            <a:extLst>
              <a:ext uri="{FF2B5EF4-FFF2-40B4-BE49-F238E27FC236}">
                <a16:creationId xmlns:a16="http://schemas.microsoft.com/office/drawing/2014/main" id="{1985F4EB-FB4E-3512-2533-55A44935C24A}"/>
              </a:ext>
            </a:extLst>
          </p:cNvPr>
          <p:cNvSpPr/>
          <p:nvPr/>
        </p:nvSpPr>
        <p:spPr>
          <a:xfrm>
            <a:off x="11071963" y="187533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643411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523FDBC-94C1-DE7A-37EB-2A17C7B6FBDD}"/>
              </a:ext>
            </a:extLst>
          </p:cNvPr>
          <p:cNvPicPr>
            <a:picLocks noChangeAspect="1"/>
          </p:cNvPicPr>
          <p:nvPr/>
        </p:nvPicPr>
        <p:blipFill>
          <a:blip r:embed="rId2"/>
          <a:stretch>
            <a:fillRect/>
          </a:stretch>
        </p:blipFill>
        <p:spPr>
          <a:xfrm>
            <a:off x="786272" y="979728"/>
            <a:ext cx="10677138" cy="485425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Asignar Espacios Físicos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a:t>
            </a:r>
            <a:r>
              <a:rPr lang="es-ES_tradnl" sz="3200" dirty="0">
                <a:solidFill>
                  <a:schemeClr val="accent1"/>
                </a:solidFill>
              </a:rPr>
              <a:t>: </a:t>
            </a:r>
            <a:r>
              <a:rPr lang="es-ES_tradnl" sz="3000" dirty="0">
                <a:solidFill>
                  <a:schemeClr val="accent1"/>
                </a:solidFill>
              </a:rPr>
              <a:t>SSAMATX Horario de edificio/salón</a:t>
            </a:r>
            <a:endParaRPr lang="es-CL" dirty="0">
              <a:solidFill>
                <a:schemeClr val="accent1"/>
              </a:solidFill>
            </a:endParaRPr>
          </a:p>
        </p:txBody>
      </p:sp>
      <p:sp>
        <p:nvSpPr>
          <p:cNvPr id="10" name="Rectángulo redondeado 5">
            <a:extLst>
              <a:ext uri="{FF2B5EF4-FFF2-40B4-BE49-F238E27FC236}">
                <a16:creationId xmlns:a16="http://schemas.microsoft.com/office/drawing/2014/main" id="{10816C7C-74F2-E214-9E66-26A28649BA00}"/>
              </a:ext>
            </a:extLst>
          </p:cNvPr>
          <p:cNvSpPr/>
          <p:nvPr/>
        </p:nvSpPr>
        <p:spPr>
          <a:xfrm>
            <a:off x="2262648" y="2799573"/>
            <a:ext cx="7250807" cy="105175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Font typeface="+mj-lt"/>
              <a:buAutoNum type="arabicPeriod" startAt="3"/>
            </a:pPr>
            <a:r>
              <a:rPr lang="es-ES_tradnl" sz="1400" dirty="0"/>
              <a:t>Tras la acción anterior, se listará toda la programación académica asociada al espacio físico consultado. En ese caso se visualiza la programación del edificio ‘ERRE-E’ .</a:t>
            </a:r>
          </a:p>
        </p:txBody>
      </p:sp>
      <p:sp>
        <p:nvSpPr>
          <p:cNvPr id="13" name="Rectángulo 12">
            <a:extLst>
              <a:ext uri="{FF2B5EF4-FFF2-40B4-BE49-F238E27FC236}">
                <a16:creationId xmlns:a16="http://schemas.microsoft.com/office/drawing/2014/main" id="{531ADC2A-EDA7-51E2-9BFA-B48EF7140AEE}"/>
              </a:ext>
            </a:extLst>
          </p:cNvPr>
          <p:cNvSpPr/>
          <p:nvPr/>
        </p:nvSpPr>
        <p:spPr>
          <a:xfrm>
            <a:off x="786272" y="1220394"/>
            <a:ext cx="10677138" cy="10517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redondeado 23">
            <a:extLst>
              <a:ext uri="{FF2B5EF4-FFF2-40B4-BE49-F238E27FC236}">
                <a16:creationId xmlns:a16="http://schemas.microsoft.com/office/drawing/2014/main" id="{2E016BC3-749F-D142-6BD5-FF954C83B5A6}"/>
              </a:ext>
            </a:extLst>
          </p:cNvPr>
          <p:cNvSpPr/>
          <p:nvPr/>
        </p:nvSpPr>
        <p:spPr>
          <a:xfrm>
            <a:off x="525150" y="135688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3853053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Asignar Espacios Físicos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6" y="2008765"/>
            <a:ext cx="10624467" cy="3979659"/>
          </a:xfrm>
        </p:spPr>
        <p:txBody>
          <a:bodyPr/>
          <a:lstStyle/>
          <a:p>
            <a:pPr marL="342900" indent="-342900" algn="just">
              <a:buClr>
                <a:srgbClr val="0CB4B4"/>
              </a:buClr>
              <a:buFont typeface="Wingdings" panose="05000000000000000000" pitchFamily="2" charset="2"/>
              <a:buChar char="q"/>
            </a:pPr>
            <a:r>
              <a:rPr lang="es-419" dirty="0"/>
              <a:t>Banner permite asignar espacios físicos a cada uno de los bloques de programación académica formalizados en SSASECT.</a:t>
            </a:r>
          </a:p>
          <a:p>
            <a:pPr marL="342900" indent="-342900" algn="just">
              <a:buClr>
                <a:srgbClr val="0CB4B4"/>
              </a:buClr>
              <a:buFont typeface="Wingdings" panose="05000000000000000000" pitchFamily="2" charset="2"/>
              <a:buChar char="q"/>
            </a:pPr>
            <a:r>
              <a:rPr lang="es-419" dirty="0"/>
              <a:t>Un NRC puede tener tantos espacios físicos como bloques de horarios hayan sido programados.</a:t>
            </a:r>
          </a:p>
          <a:p>
            <a:pPr marL="342900" indent="-342900" algn="just">
              <a:buClr>
                <a:srgbClr val="0CB4B4"/>
              </a:buClr>
              <a:buFont typeface="Wingdings" panose="05000000000000000000" pitchFamily="2" charset="2"/>
              <a:buChar char="q"/>
            </a:pPr>
            <a:r>
              <a:rPr lang="es-419" dirty="0"/>
              <a:t>Los espacios físicos pueden ser asignados directamente en el NRC o bien se pueden utilizar las páginas de consultas de cada campo presionando el ícono </a:t>
            </a:r>
          </a:p>
          <a:p>
            <a:pPr marL="342900" indent="-342900" algn="just">
              <a:buClr>
                <a:srgbClr val="0CB4B4"/>
              </a:buClr>
              <a:buFont typeface="Wingdings" panose="05000000000000000000" pitchFamily="2" charset="2"/>
              <a:buChar char="q"/>
            </a:pPr>
            <a:endParaRPr lang="es-ES_tradnl"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26</a:t>
            </a:fld>
            <a:endParaRPr lang="en-US"/>
          </a:p>
        </p:txBody>
      </p:sp>
    </p:spTree>
    <p:extLst>
      <p:ext uri="{BB962C8B-B14F-4D97-AF65-F5344CB8AC3E}">
        <p14:creationId xmlns:p14="http://schemas.microsoft.com/office/powerpoint/2010/main" val="1633697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Correo@ellucian.com</a:t>
            </a:r>
          </a:p>
        </p:txBody>
      </p:sp>
    </p:spTree>
    <p:extLst>
      <p:ext uri="{BB962C8B-B14F-4D97-AF65-F5344CB8AC3E}">
        <p14:creationId xmlns:p14="http://schemas.microsoft.com/office/powerpoint/2010/main" val="1394951875"/>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5747</TotalTime>
  <Words>1013</Words>
  <Application>Microsoft Office PowerPoint</Application>
  <PresentationFormat>Widescreen</PresentationFormat>
  <Paragraphs>111</Paragraphs>
  <Slides>27</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Aptos</vt:lpstr>
      <vt:lpstr>Aptos Display</vt:lpstr>
      <vt:lpstr>Arial</vt:lpstr>
      <vt:lpstr>Calibri</vt:lpstr>
      <vt:lpstr>Courier New</vt:lpstr>
      <vt:lpstr>Helvetica Neue</vt:lpstr>
      <vt:lpstr>Wingdings</vt:lpstr>
      <vt:lpstr>Ellucian_April 2025</vt:lpstr>
      <vt:lpstr>Ellucian Blank Layouts</vt:lpstr>
      <vt:lpstr>PowerPoint Presentation</vt:lpstr>
      <vt:lpstr>PowerPoint Presentation</vt:lpstr>
      <vt:lpstr>Overview</vt:lpstr>
      <vt:lpstr>Overview: Mapa de capacidades</vt:lpstr>
      <vt:lpstr>Overview: Proceso gestionar la programación académica – Asignación de Recursos</vt:lpstr>
      <vt:lpstr>PowerPoint Presentation</vt:lpstr>
      <vt:lpstr>PowerPoint Presentation</vt:lpstr>
      <vt:lpstr>Overview: Asignar Espacios Físicos</vt:lpstr>
      <vt:lpstr>Overview: Asignar Espacios Físicos</vt:lpstr>
      <vt:lpstr>CONFIGURACIONES</vt:lpstr>
      <vt:lpstr>Premisa: SLABLDG Definición de edificio </vt:lpstr>
      <vt:lpstr>Premisa: SLARDEF Definición de salón </vt:lpstr>
      <vt:lpstr>Premisa: SSASECT Horario </vt:lpstr>
      <vt:lpstr>Premisa: SSASECT Horario </vt:lpstr>
      <vt:lpstr>Asignar Espacios Físicos</vt:lpstr>
      <vt:lpstr>Asignar Espacios Físicos </vt:lpstr>
      <vt:lpstr>Asignar Espacios Físicos</vt:lpstr>
      <vt:lpstr>Asignar Espacios Físicos</vt:lpstr>
      <vt:lpstr>Asignar Espacios Físicos </vt:lpstr>
      <vt:lpstr>Asignar Espacios Físicos</vt:lpstr>
      <vt:lpstr>Asignar Espacios Físicos</vt:lpstr>
      <vt:lpstr>Asignar Espacios Físicos</vt:lpstr>
      <vt:lpstr>PowerPoint Presentation</vt:lpstr>
      <vt:lpstr>Horario de edificio/salón (SSAMATX)</vt:lpstr>
      <vt:lpstr>Configuración: SSAMATX Horario de edificio/salón</vt:lpstr>
      <vt:lpstr>RESUMEN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Trapp, Eduardo</cp:lastModifiedBy>
  <cp:revision>259</cp:revision>
  <dcterms:created xsi:type="dcterms:W3CDTF">2023-07-17T20:07:38Z</dcterms:created>
  <dcterms:modified xsi:type="dcterms:W3CDTF">2026-04-17T00:36:50Z</dcterms:modified>
</cp:coreProperties>
</file>
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3.xml" ContentType="application/vnd.openxmlformats-officedocument.theme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0" r:id="rId2"/>
    <p:sldMasterId id="2147483770" r:id="rId3"/>
    <p:sldMasterId id="2147483807" r:id="rId4"/>
  </p:sldMasterIdLst>
  <p:notesMasterIdLst>
    <p:notesMasterId r:id="rId35"/>
  </p:notesMasterIdLst>
  <p:sldIdLst>
    <p:sldId id="257" r:id="rId5"/>
    <p:sldId id="423" r:id="rId6"/>
    <p:sldId id="476" r:id="rId7"/>
    <p:sldId id="348" r:id="rId8"/>
    <p:sldId id="349" r:id="rId9"/>
    <p:sldId id="350" r:id="rId10"/>
    <p:sldId id="421" r:id="rId11"/>
    <p:sldId id="352" r:id="rId12"/>
    <p:sldId id="469" r:id="rId13"/>
    <p:sldId id="513" r:id="rId14"/>
    <p:sldId id="514" r:id="rId15"/>
    <p:sldId id="516" r:id="rId16"/>
    <p:sldId id="517" r:id="rId17"/>
    <p:sldId id="518" r:id="rId18"/>
    <p:sldId id="474" r:id="rId19"/>
    <p:sldId id="475" r:id="rId20"/>
    <p:sldId id="483" r:id="rId21"/>
    <p:sldId id="477" r:id="rId22"/>
    <p:sldId id="478" r:id="rId23"/>
    <p:sldId id="479" r:id="rId24"/>
    <p:sldId id="480" r:id="rId25"/>
    <p:sldId id="481" r:id="rId26"/>
    <p:sldId id="482" r:id="rId27"/>
    <p:sldId id="486" r:id="rId28"/>
    <p:sldId id="485" r:id="rId29"/>
    <p:sldId id="487" r:id="rId30"/>
    <p:sldId id="484" r:id="rId31"/>
    <p:sldId id="515" r:id="rId32"/>
    <p:sldId id="345" r:id="rId33"/>
    <p:sldId id="32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38742B-AA87-7862-DC8C-B887E2934E04}" name="Herrera Mejía, Faver" initials="FH" userId="S::Faver.HerreraMejia@ellucian.com::a216f920-99da-41f1-ba24-0851e945f311" providerId="AD"/>
  <p188:author id="{0E539551-222C-61D3-F57B-104FF550F0E9}" name="Daniela López Ospino" initials="DL" userId="S::daniela.lopez@cesa.edu.co::e5b24024-a4ca-41d6-bb62-8d441da97dac" providerId="AD"/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EA91A3-78CF-4026-8BE4-B9C8B51A2319}" v="12" dt="2026-04-14T20:16:50.3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30-06-2026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1423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86701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80397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89990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51922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78478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5068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969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3978115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204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4197624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920487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17095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2436013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659387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56032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085772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919579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505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7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7705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5698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769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5266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3537460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7434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6650292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074308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979912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017045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702556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077780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426862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443447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1316345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427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135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hank You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F03D972-8851-6EE3-D913-3D4C74067D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363" y="2368123"/>
            <a:ext cx="7317783" cy="1060877"/>
          </a:xfrm>
        </p:spPr>
        <p:txBody>
          <a:bodyPr lIns="0" tIns="0" rIns="0" bIns="0" anchor="b" anchorCtr="0">
            <a:noAutofit/>
          </a:bodyPr>
          <a:lstStyle>
            <a:lvl1pPr algn="l">
              <a:defRPr sz="7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0ADAADE-0CF2-DF2B-3082-1BEAE603B9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7143" y="3730027"/>
            <a:ext cx="6858001" cy="642631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Presenters Name </a:t>
            </a:r>
          </a:p>
          <a:p>
            <a:r>
              <a:rPr lang="en-US" dirty="0" err="1"/>
              <a:t>email@ellucian.com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945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55283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6695933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030169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104267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9588624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973720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621102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641338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739569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97349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5512823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8439135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251564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396872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260989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992394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7666052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0307380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83200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796469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0341967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6090876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4571155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037674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1712188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3235483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2921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406827026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319068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9879876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339801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8469860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9008380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1730604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2500850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636966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247215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93269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4473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9127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2333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2349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17274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384371922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55638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44378531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4635426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1805221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1169021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7028671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011726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6945245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9792103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03148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5788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85171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7603442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1665821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8120640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6591576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5870034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43530272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4619139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2482360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4955803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5638272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4779381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8232471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2767024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5118698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5179198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4227540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04683745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40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78.xml"/><Relationship Id="rId34" Type="http://schemas.openxmlformats.org/officeDocument/2006/relationships/slideLayout" Target="../slideLayouts/slideLayout91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82.xml"/><Relationship Id="rId33" Type="http://schemas.openxmlformats.org/officeDocument/2006/relationships/slideLayout" Target="../slideLayouts/slideLayout90.xml"/><Relationship Id="rId38" Type="http://schemas.openxmlformats.org/officeDocument/2006/relationships/image" Target="../media/image1.svg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7.xml"/><Relationship Id="rId29" Type="http://schemas.openxmlformats.org/officeDocument/2006/relationships/slideLayout" Target="../slideLayouts/slideLayout86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81.xml"/><Relationship Id="rId32" Type="http://schemas.openxmlformats.org/officeDocument/2006/relationships/slideLayout" Target="../slideLayouts/slideLayout89.xml"/><Relationship Id="rId37" Type="http://schemas.openxmlformats.org/officeDocument/2006/relationships/theme" Target="../theme/theme3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85.xml"/><Relationship Id="rId36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31" Type="http://schemas.openxmlformats.org/officeDocument/2006/relationships/slideLayout" Target="../slideLayouts/slideLayout88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9.xml"/><Relationship Id="rId27" Type="http://schemas.openxmlformats.org/officeDocument/2006/relationships/slideLayout" Target="../slideLayouts/slideLayout84.xml"/><Relationship Id="rId30" Type="http://schemas.openxmlformats.org/officeDocument/2006/relationships/slideLayout" Target="../slideLayouts/slideLayout87.xml"/><Relationship Id="rId35" Type="http://schemas.openxmlformats.org/officeDocument/2006/relationships/slideLayout" Target="../slideLayouts/slideLayout92.xml"/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1.xml"/><Relationship Id="rId13" Type="http://schemas.openxmlformats.org/officeDocument/2006/relationships/slideLayout" Target="../slideLayouts/slideLayout106.xml"/><Relationship Id="rId18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96.xml"/><Relationship Id="rId7" Type="http://schemas.openxmlformats.org/officeDocument/2006/relationships/slideLayout" Target="../slideLayouts/slideLayout100.xml"/><Relationship Id="rId12" Type="http://schemas.openxmlformats.org/officeDocument/2006/relationships/slideLayout" Target="../slideLayouts/slideLayout105.xml"/><Relationship Id="rId17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95.xml"/><Relationship Id="rId16" Type="http://schemas.openxmlformats.org/officeDocument/2006/relationships/slideLayout" Target="../slideLayouts/slideLayout109.xml"/><Relationship Id="rId20" Type="http://schemas.openxmlformats.org/officeDocument/2006/relationships/theme" Target="../theme/theme4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103.xml"/><Relationship Id="rId19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Relationship Id="rId14" Type="http://schemas.openxmlformats.org/officeDocument/2006/relationships/slideLayout" Target="../slideLayouts/slideLayout10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85462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  <p:sldLayoutId id="2147483748" r:id="rId37"/>
    <p:sldLayoutId id="2147483749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905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3735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  <p:sldLayoutId id="2147483783" r:id="rId13"/>
    <p:sldLayoutId id="2147483784" r:id="rId14"/>
    <p:sldLayoutId id="2147483785" r:id="rId15"/>
    <p:sldLayoutId id="2147483786" r:id="rId16"/>
    <p:sldLayoutId id="2147483787" r:id="rId17"/>
    <p:sldLayoutId id="2147483788" r:id="rId18"/>
    <p:sldLayoutId id="2147483789" r:id="rId19"/>
    <p:sldLayoutId id="2147483790" r:id="rId20"/>
    <p:sldLayoutId id="2147483791" r:id="rId21"/>
    <p:sldLayoutId id="2147483792" r:id="rId22"/>
    <p:sldLayoutId id="2147483793" r:id="rId23"/>
    <p:sldLayoutId id="2147483794" r:id="rId24"/>
    <p:sldLayoutId id="2147483795" r:id="rId25"/>
    <p:sldLayoutId id="2147483796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369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  <p:sldLayoutId id="2147483819" r:id="rId12"/>
    <p:sldLayoutId id="2147483820" r:id="rId13"/>
    <p:sldLayoutId id="2147483821" r:id="rId14"/>
    <p:sldLayoutId id="2147483822" r:id="rId15"/>
    <p:sldLayoutId id="2147483823" r:id="rId16"/>
    <p:sldLayoutId id="2147483824" r:id="rId17"/>
    <p:sldLayoutId id="2147483825" r:id="rId18"/>
    <p:sldLayoutId id="2147483826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C5CB0C1D-63E0-0A1B-C4A9-3FE53E811D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775F30-4948-8625-4D18-95EE2803BD8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6251" y="1924287"/>
            <a:ext cx="5159375" cy="1319213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sz="4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Gestionar Información de Docentes</a:t>
            </a:r>
            <a:endParaRPr lang="es-CL" sz="4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8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3E25D25A-B9E2-2761-E6F7-E2A8A62B3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>
          <a:xfrm>
            <a:off x="6689725" y="574675"/>
            <a:ext cx="5502275" cy="5710238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</p:pic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90D91CAD-835E-B634-314D-21FCB47D7B16}"/>
              </a:ext>
            </a:extLst>
          </p:cNvPr>
          <p:cNvSpPr txBox="1">
            <a:spLocks/>
          </p:cNvSpPr>
          <p:nvPr/>
        </p:nvSpPr>
        <p:spPr>
          <a:xfrm>
            <a:off x="668868" y="3684796"/>
            <a:ext cx="5427132" cy="292452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1800" dirty="0"/>
              <a:t>Instructivo</a:t>
            </a:r>
            <a:endParaRPr lang="es-419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2412200D-3F92-8981-CC7A-AAF940237E0F}"/>
              </a:ext>
            </a:extLst>
          </p:cNvPr>
          <p:cNvSpPr txBox="1">
            <a:spLocks/>
          </p:cNvSpPr>
          <p:nvPr/>
        </p:nvSpPr>
        <p:spPr>
          <a:xfrm>
            <a:off x="556902" y="5609784"/>
            <a:ext cx="3032274" cy="194925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/>
              <a:t>Universidad de SIPAN</a:t>
            </a:r>
          </a:p>
        </p:txBody>
      </p:sp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F262C3A9-8206-DB35-FAC3-E0A3943BA4E5}"/>
              </a:ext>
            </a:extLst>
          </p:cNvPr>
          <p:cNvSpPr txBox="1">
            <a:spLocks/>
          </p:cNvSpPr>
          <p:nvPr/>
        </p:nvSpPr>
        <p:spPr>
          <a:xfrm>
            <a:off x="556902" y="6230769"/>
            <a:ext cx="2228873" cy="194925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/>
              <a:t>Junio, 2026</a:t>
            </a:r>
          </a:p>
        </p:txBody>
      </p:sp>
    </p:spTree>
    <p:extLst>
      <p:ext uri="{BB962C8B-B14F-4D97-AF65-F5344CB8AC3E}">
        <p14:creationId xmlns:p14="http://schemas.microsoft.com/office/powerpoint/2010/main" val="335311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Gestionar Información de Docentes</a:t>
            </a:r>
            <a:endParaRPr lang="en-US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098607"/>
              </p:ext>
            </p:extLst>
          </p:nvPr>
        </p:nvGraphicFramePr>
        <p:xfrm>
          <a:off x="786088" y="1651015"/>
          <a:ext cx="9058128" cy="325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Información de </a:t>
                      </a:r>
                      <a:r>
                        <a:rPr lang="en-US" sz="2800" b="1" dirty="0" err="1">
                          <a:solidFill>
                            <a:schemeClr val="bg1"/>
                          </a:solidFill>
                        </a:rPr>
                        <a:t>Docentes</a:t>
                      </a:r>
                      <a:endParaRPr lang="en-US" sz="2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Gestionar Información de Docentes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Información de Docentes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AC1633D-9215-2128-452C-BEE52AEB6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sz="3200" b="1" dirty="0">
                <a:solidFill>
                  <a:schemeClr val="tx2"/>
                </a:solidFill>
              </a:rPr>
              <a:t>Mapa de capacidade</a:t>
            </a:r>
            <a:r>
              <a:rPr lang="es-ES_tradnl" dirty="0">
                <a:solidFill>
                  <a:schemeClr val="tx2"/>
                </a:solidFill>
              </a:rPr>
              <a:t>s</a:t>
            </a:r>
            <a:endParaRPr lang="en-US" dirty="0"/>
          </a:p>
        </p:txBody>
      </p:sp>
      <p:pic>
        <p:nvPicPr>
          <p:cNvPr id="2" name="Imagen 2">
            <a:extLst>
              <a:ext uri="{FF2B5EF4-FFF2-40B4-BE49-F238E27FC236}">
                <a16:creationId xmlns:a16="http://schemas.microsoft.com/office/drawing/2014/main" id="{6D376875-3136-5ACE-E996-9B4E075E3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49" y="1203218"/>
            <a:ext cx="10180101" cy="47966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F4DB912-CF9A-E979-C598-C656488BBE67}"/>
              </a:ext>
            </a:extLst>
          </p:cNvPr>
          <p:cNvSpPr/>
          <p:nvPr/>
        </p:nvSpPr>
        <p:spPr>
          <a:xfrm>
            <a:off x="1575480" y="4770407"/>
            <a:ext cx="3824656" cy="67286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312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D552BA8-E40D-BE5E-B33E-255C974B1B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584355"/>
            <a:ext cx="9698935" cy="4267198"/>
          </a:xfrm>
        </p:spPr>
        <p:txBody>
          <a:bodyPr anchor="ctr"/>
          <a:lstStyle/>
          <a:p>
            <a:pPr marL="285750" lvl="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CO" sz="2400" b="1" dirty="0">
                <a:solidFill>
                  <a:srgbClr val="7030A0"/>
                </a:solidFill>
              </a:rPr>
              <a:t> </a:t>
            </a:r>
            <a:r>
              <a:rPr lang="es-419" sz="2400" b="1" dirty="0">
                <a:solidFill>
                  <a:srgbClr val="7030A0"/>
                </a:solidFill>
              </a:rPr>
              <a:t>Gestionar la información de docente </a:t>
            </a:r>
          </a:p>
          <a:p>
            <a:pPr marL="285750" lvl="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b="1" dirty="0">
                <a:solidFill>
                  <a:srgbClr val="7030A0"/>
                </a:solidFill>
              </a:rPr>
              <a:t> </a:t>
            </a:r>
            <a:r>
              <a:rPr lang="es-419" sz="2400" dirty="0">
                <a:solidFill>
                  <a:srgbClr val="7030A0"/>
                </a:solidFill>
              </a:rPr>
              <a:t>Gestionar la carga de trabajo docente</a:t>
            </a:r>
          </a:p>
          <a:p>
            <a:pPr marL="285750" lvl="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dirty="0">
                <a:solidFill>
                  <a:srgbClr val="7030A0"/>
                </a:solidFill>
              </a:rPr>
              <a:t> Definición y gestión de la asesoría de estudiantes </a:t>
            </a:r>
          </a:p>
          <a:p>
            <a:pPr marL="285750" lvl="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dirty="0">
                <a:solidFill>
                  <a:srgbClr val="7030A0"/>
                </a:solidFill>
              </a:rPr>
              <a:t> Gestionar la evaluación docente</a:t>
            </a:r>
          </a:p>
          <a:p>
            <a:pPr marL="0" lvl="0" indent="0">
              <a:buClr>
                <a:srgbClr val="0CB4B4"/>
              </a:buClr>
              <a:buNone/>
            </a:pPr>
            <a:endParaRPr lang="es-CO" sz="24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Información de Docentes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dirty="0"/>
              <a:t>Capacidad de Gestionar </a:t>
            </a:r>
            <a:r>
              <a:rPr lang="es-ES_tradnl" sz="3200" b="1" dirty="0"/>
              <a:t>Profesores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04878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1789044"/>
            <a:ext cx="10136257" cy="44726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CO" sz="2400" dirty="0">
                <a:solidFill>
                  <a:srgbClr val="7030A0"/>
                </a:solidFill>
              </a:rPr>
              <a:t> Tiene por objetivo la creación y </a:t>
            </a:r>
            <a:r>
              <a:rPr lang="es-419" sz="2400" dirty="0">
                <a:solidFill>
                  <a:srgbClr val="7030A0"/>
                </a:solidFill>
              </a:rPr>
              <a:t>la mantención de la información personal del docente, así como sus datos de contratación.</a:t>
            </a:r>
            <a:endParaRPr lang="es-ES" sz="2400" dirty="0">
              <a:solidFill>
                <a:srgbClr val="7030A0"/>
              </a:solidFill>
            </a:endParaRP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Información de Docentes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dirty="0"/>
              <a:t>Proceso </a:t>
            </a:r>
            <a:r>
              <a:rPr lang="es-419" dirty="0"/>
              <a:t>g</a:t>
            </a:r>
            <a:r>
              <a:rPr lang="es-419" sz="3200" b="1" dirty="0"/>
              <a:t>estionar la información de docente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Información de Docentes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CCA54959-6279-D1AE-349E-8840E0B3CBEC}"/>
              </a:ext>
            </a:extLst>
          </p:cNvPr>
          <p:cNvSpPr txBox="1">
            <a:spLocks/>
          </p:cNvSpPr>
          <p:nvPr/>
        </p:nvSpPr>
        <p:spPr>
          <a:xfrm>
            <a:off x="1104900" y="685800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tx2"/>
                </a:solidFill>
              </a:rPr>
              <a:t>Overview: </a:t>
            </a:r>
            <a:r>
              <a:rPr lang="es-ES_tradnl" dirty="0"/>
              <a:t>Capacidad Operativa G</a:t>
            </a:r>
            <a:r>
              <a:rPr lang="es-419" dirty="0" err="1"/>
              <a:t>estionar</a:t>
            </a:r>
            <a:r>
              <a:rPr lang="es-419" dirty="0"/>
              <a:t> la información de docente </a:t>
            </a:r>
            <a:endParaRPr lang="es-CL" dirty="0"/>
          </a:p>
        </p:txBody>
      </p:sp>
      <p:pic>
        <p:nvPicPr>
          <p:cNvPr id="2" name="Imagen 1" descr="Diagrama&#10;&#10;Descripción generada automáticamente">
            <a:extLst>
              <a:ext uri="{FF2B5EF4-FFF2-40B4-BE49-F238E27FC236}">
                <a16:creationId xmlns:a16="http://schemas.microsoft.com/office/drawing/2014/main" id="{A8FF4024-DF18-8507-3D8D-1A0A1D477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882" y="1740637"/>
            <a:ext cx="10484782" cy="351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Información de Docentes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DA0D89D-33DC-4151-D805-A43C6E21B822}"/>
              </a:ext>
            </a:extLst>
          </p:cNvPr>
          <p:cNvSpPr txBox="1"/>
          <p:nvPr/>
        </p:nvSpPr>
        <p:spPr>
          <a:xfrm>
            <a:off x="6939975" y="2743200"/>
            <a:ext cx="2111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/>
              <a:t>Todo LAC</a:t>
            </a:r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41A78240-C607-71D5-FFEE-AC493BD21BE1}"/>
              </a:ext>
            </a:extLst>
          </p:cNvPr>
          <p:cNvSpPr txBox="1">
            <a:spLocks/>
          </p:cNvSpPr>
          <p:nvPr/>
        </p:nvSpPr>
        <p:spPr>
          <a:xfrm>
            <a:off x="1104900" y="276729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tx2"/>
                </a:solidFill>
              </a:rPr>
              <a:t>Overview: </a:t>
            </a:r>
            <a:r>
              <a:rPr lang="es-ES_tradnl" dirty="0"/>
              <a:t>Proceso </a:t>
            </a:r>
            <a:r>
              <a:rPr lang="es-419" dirty="0"/>
              <a:t>gestionar la información de docente </a:t>
            </a:r>
            <a:endParaRPr lang="es-C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AA32E3-3FEF-93D9-ED4D-C972AB9F6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304" y="1175284"/>
            <a:ext cx="5209671" cy="520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098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Gestionar Información de Docentes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CONFIGURACIONES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636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612072CF-DF9B-540F-BB66-D10A571A7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26" y="1275314"/>
            <a:ext cx="11303479" cy="4770221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53" y="154079"/>
            <a:ext cx="10271883" cy="626165"/>
          </a:xfrm>
        </p:spPr>
        <p:txBody>
          <a:bodyPr/>
          <a:lstStyle/>
          <a:p>
            <a:r>
              <a:rPr lang="es-ES_tradnl" sz="3600" b="0" dirty="0"/>
              <a:t>Configuraciones: </a:t>
            </a:r>
            <a:r>
              <a:rPr lang="es-ES_tradnl" dirty="0"/>
              <a:t>STVFCST Validación Código de Status de Docente</a:t>
            </a:r>
            <a:endParaRPr lang="es-CL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793623" y="4184257"/>
            <a:ext cx="10960413" cy="146292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dirty="0"/>
              <a:t>Se debe definir un código y una descripción que identifique el código del estatus del docente en la página de SIAINST. 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Presione la opción Insertar (+)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el código: campo de dos caracteres. Campo obligatorio.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la Descripción del código. Campo de 30 caracteres. Campo obligatorio.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Guarde los datos.</a:t>
            </a:r>
          </a:p>
          <a:p>
            <a:r>
              <a:rPr lang="es-419" sz="1100" dirty="0"/>
              <a:t>.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AFE591FC-1F56-6926-8C59-8E12749581A4}"/>
              </a:ext>
            </a:extLst>
          </p:cNvPr>
          <p:cNvSpPr/>
          <p:nvPr/>
        </p:nvSpPr>
        <p:spPr>
          <a:xfrm>
            <a:off x="10488317" y="1584790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EF30D8D0-BF3C-1B08-03B7-F688E5167AC9}"/>
              </a:ext>
            </a:extLst>
          </p:cNvPr>
          <p:cNvSpPr/>
          <p:nvPr/>
        </p:nvSpPr>
        <p:spPr>
          <a:xfrm>
            <a:off x="201073" y="2637535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3F203362-AD1C-991F-A8D4-224B8453F416}"/>
              </a:ext>
            </a:extLst>
          </p:cNvPr>
          <p:cNvSpPr/>
          <p:nvPr/>
        </p:nvSpPr>
        <p:spPr>
          <a:xfrm>
            <a:off x="3319558" y="2625054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03BE4630-188A-920B-C1D0-99811120F5DA}"/>
              </a:ext>
            </a:extLst>
          </p:cNvPr>
          <p:cNvSpPr/>
          <p:nvPr/>
        </p:nvSpPr>
        <p:spPr>
          <a:xfrm>
            <a:off x="10652219" y="5841544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B6F0294-BF44-2872-2F8E-91A0637DC841}"/>
              </a:ext>
            </a:extLst>
          </p:cNvPr>
          <p:cNvSpPr/>
          <p:nvPr/>
        </p:nvSpPr>
        <p:spPr>
          <a:xfrm>
            <a:off x="10528341" y="1749660"/>
            <a:ext cx="234824" cy="15101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B784445-5479-D6FB-447D-00BB7E8685FD}"/>
              </a:ext>
            </a:extLst>
          </p:cNvPr>
          <p:cNvSpPr/>
          <p:nvPr/>
        </p:nvSpPr>
        <p:spPr>
          <a:xfrm>
            <a:off x="1249578" y="2654280"/>
            <a:ext cx="1922544" cy="15101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4E97223-3755-C2DD-B506-C71AE6EA1D7C}"/>
              </a:ext>
            </a:extLst>
          </p:cNvPr>
          <p:cNvSpPr/>
          <p:nvPr/>
        </p:nvSpPr>
        <p:spPr>
          <a:xfrm>
            <a:off x="460212" y="2637535"/>
            <a:ext cx="700070" cy="15928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17C8012-E03F-1C20-4087-D16076DE11EC}"/>
              </a:ext>
            </a:extLst>
          </p:cNvPr>
          <p:cNvSpPr/>
          <p:nvPr/>
        </p:nvSpPr>
        <p:spPr>
          <a:xfrm>
            <a:off x="11022462" y="5788567"/>
            <a:ext cx="709243" cy="256967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2984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F9C89-6F48-65FD-4A57-3E2449137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0A91CDD-BA91-0BE7-5CC3-D51FB41A7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80" y="1363549"/>
            <a:ext cx="10422484" cy="4465223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F073599B-AA90-849D-C69D-5F26FDCCA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53" y="154079"/>
            <a:ext cx="10271883" cy="626165"/>
          </a:xfrm>
        </p:spPr>
        <p:txBody>
          <a:bodyPr/>
          <a:lstStyle/>
          <a:p>
            <a:r>
              <a:rPr lang="es-ES_tradnl" sz="3600" b="0" dirty="0"/>
              <a:t>Configuraciones: </a:t>
            </a:r>
            <a:r>
              <a:rPr lang="es-ES_tradnl" sz="3600" dirty="0"/>
              <a:t>STVFSTP</a:t>
            </a:r>
            <a:r>
              <a:rPr lang="es-ES_tradnl" sz="3600" b="0" dirty="0"/>
              <a:t> </a:t>
            </a:r>
            <a:r>
              <a:rPr lang="es-ES_tradnl" sz="3600" dirty="0"/>
              <a:t>Validación de código de tipo de personal docente</a:t>
            </a:r>
            <a:endParaRPr lang="es-CL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D991F235-455F-365C-5BCF-A1928EA37077}"/>
              </a:ext>
            </a:extLst>
          </p:cNvPr>
          <p:cNvSpPr/>
          <p:nvPr/>
        </p:nvSpPr>
        <p:spPr>
          <a:xfrm>
            <a:off x="506880" y="3930489"/>
            <a:ext cx="10960413" cy="146292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dirty="0"/>
              <a:t>Se debe definir un código y una descripción que identifique el código del tipo de personal docente que se utilizará en la página de SIAINST. 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Presione la opción Insertar (+)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el código: campo de 4 caracteres. Campo obligatorio.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la Descripción del código. Campo de 30 caracteres. Campo obligatorio.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Guarde los datos.</a:t>
            </a:r>
          </a:p>
          <a:p>
            <a:endParaRPr lang="es-419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51072AA6-DACF-FE56-F6BB-255FFEC33A62}"/>
              </a:ext>
            </a:extLst>
          </p:cNvPr>
          <p:cNvSpPr/>
          <p:nvPr/>
        </p:nvSpPr>
        <p:spPr>
          <a:xfrm>
            <a:off x="10096264" y="1846574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90613771-CAD6-67A3-275C-264C849E614A}"/>
              </a:ext>
            </a:extLst>
          </p:cNvPr>
          <p:cNvSpPr/>
          <p:nvPr/>
        </p:nvSpPr>
        <p:spPr>
          <a:xfrm>
            <a:off x="201073" y="2637535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225400DF-66A3-3BED-B71B-80FF9AF5C568}"/>
              </a:ext>
            </a:extLst>
          </p:cNvPr>
          <p:cNvSpPr/>
          <p:nvPr/>
        </p:nvSpPr>
        <p:spPr>
          <a:xfrm>
            <a:off x="5987086" y="2637533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60E1BA81-B19C-3461-8F50-FAFD57F189A6}"/>
              </a:ext>
            </a:extLst>
          </p:cNvPr>
          <p:cNvSpPr/>
          <p:nvPr/>
        </p:nvSpPr>
        <p:spPr>
          <a:xfrm>
            <a:off x="9960983" y="5611434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6EE1FB5-E802-B6D3-D51F-57F61C7EFF4E}"/>
              </a:ext>
            </a:extLst>
          </p:cNvPr>
          <p:cNvSpPr/>
          <p:nvPr/>
        </p:nvSpPr>
        <p:spPr>
          <a:xfrm>
            <a:off x="9893785" y="1783658"/>
            <a:ext cx="234824" cy="15101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25C5535-DF4E-C13F-5759-21CC1E63B7B2}"/>
              </a:ext>
            </a:extLst>
          </p:cNvPr>
          <p:cNvSpPr/>
          <p:nvPr/>
        </p:nvSpPr>
        <p:spPr>
          <a:xfrm>
            <a:off x="3972960" y="2637534"/>
            <a:ext cx="1922544" cy="15101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FCD6F6D-AF33-F988-FD50-52A5E9760930}"/>
              </a:ext>
            </a:extLst>
          </p:cNvPr>
          <p:cNvSpPr/>
          <p:nvPr/>
        </p:nvSpPr>
        <p:spPr>
          <a:xfrm>
            <a:off x="460212" y="2637535"/>
            <a:ext cx="700070" cy="15928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6D5DB28-5548-9C14-D3CD-A7D72664C81A}"/>
              </a:ext>
            </a:extLst>
          </p:cNvPr>
          <p:cNvSpPr/>
          <p:nvPr/>
        </p:nvSpPr>
        <p:spPr>
          <a:xfrm>
            <a:off x="10251373" y="5494451"/>
            <a:ext cx="677991" cy="26799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4720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80B73-98D5-9449-51D2-28DE33DA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276FB4D6-6BF7-584C-0D75-8FB8723F0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91" y="1524835"/>
            <a:ext cx="11046362" cy="4806035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B4104102-83E8-6AEE-A2D3-D6AA00DC9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53" y="154079"/>
            <a:ext cx="10271883" cy="626165"/>
          </a:xfrm>
        </p:spPr>
        <p:txBody>
          <a:bodyPr/>
          <a:lstStyle/>
          <a:p>
            <a:r>
              <a:rPr lang="es-ES_tradnl" sz="3600" b="0" dirty="0"/>
              <a:t>Configuraciones: </a:t>
            </a:r>
            <a:r>
              <a:rPr lang="es-ES_tradnl" sz="3600" dirty="0"/>
              <a:t>STVFCNT Validación de código de contrato de docente</a:t>
            </a:r>
            <a:endParaRPr lang="es-CL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EFD03698-2E0D-7E3C-A02E-7C85318951DA}"/>
              </a:ext>
            </a:extLst>
          </p:cNvPr>
          <p:cNvSpPr/>
          <p:nvPr/>
        </p:nvSpPr>
        <p:spPr>
          <a:xfrm>
            <a:off x="810247" y="4408955"/>
            <a:ext cx="10960413" cy="146292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dirty="0"/>
              <a:t>Se debe definir un código y una descripción que identifique el código del contrato del docente que se utilizará en la página de SIAINST. 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Presione la opción Insertar (+)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el código: campo de 2 caracteres. Campo obligatorio.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la Descripción del código. Campo de 30 caracteres. Campo obligatorio.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Guarde los datos.</a:t>
            </a:r>
          </a:p>
          <a:p>
            <a:endParaRPr lang="es-419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6DD43352-0C2E-3A22-10F5-765935C908D1}"/>
              </a:ext>
            </a:extLst>
          </p:cNvPr>
          <p:cNvSpPr/>
          <p:nvPr/>
        </p:nvSpPr>
        <p:spPr>
          <a:xfrm>
            <a:off x="10096264" y="1846574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7BBA027C-1254-ECF1-DE06-7F449CD69B28}"/>
              </a:ext>
            </a:extLst>
          </p:cNvPr>
          <p:cNvSpPr/>
          <p:nvPr/>
        </p:nvSpPr>
        <p:spPr>
          <a:xfrm>
            <a:off x="37174" y="2637535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41567436-36AE-8AD7-F581-C2261B2FD742}"/>
              </a:ext>
            </a:extLst>
          </p:cNvPr>
          <p:cNvSpPr/>
          <p:nvPr/>
        </p:nvSpPr>
        <p:spPr>
          <a:xfrm>
            <a:off x="3155659" y="2625054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46579417-12E0-4DFE-24C0-84BD900D7366}"/>
              </a:ext>
            </a:extLst>
          </p:cNvPr>
          <p:cNvSpPr/>
          <p:nvPr/>
        </p:nvSpPr>
        <p:spPr>
          <a:xfrm>
            <a:off x="10557708" y="6151460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5BA3861-8B6D-747E-8EFA-98D7676E6925}"/>
              </a:ext>
            </a:extLst>
          </p:cNvPr>
          <p:cNvSpPr/>
          <p:nvPr/>
        </p:nvSpPr>
        <p:spPr>
          <a:xfrm>
            <a:off x="10456412" y="1922188"/>
            <a:ext cx="234824" cy="15101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3B31B14-E938-A4DE-64AB-3C862CAC7973}"/>
              </a:ext>
            </a:extLst>
          </p:cNvPr>
          <p:cNvSpPr/>
          <p:nvPr/>
        </p:nvSpPr>
        <p:spPr>
          <a:xfrm>
            <a:off x="1085679" y="2654280"/>
            <a:ext cx="1922544" cy="15101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2F1EE3F-1A31-C516-C0F6-288408078BBC}"/>
              </a:ext>
            </a:extLst>
          </p:cNvPr>
          <p:cNvSpPr/>
          <p:nvPr/>
        </p:nvSpPr>
        <p:spPr>
          <a:xfrm>
            <a:off x="296313" y="2637535"/>
            <a:ext cx="700070" cy="15928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2F6C404-905A-8840-43F4-43FBF99D93EE}"/>
              </a:ext>
            </a:extLst>
          </p:cNvPr>
          <p:cNvSpPr/>
          <p:nvPr/>
        </p:nvSpPr>
        <p:spPr>
          <a:xfrm>
            <a:off x="10895227" y="6118926"/>
            <a:ext cx="439863" cy="21194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7634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D3855-9BDD-F95E-6BEC-40C22ED57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48111DB-1DDE-9F3D-1E15-286D39230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39" y="1082154"/>
            <a:ext cx="11195617" cy="4896983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C5238383-62AF-38E4-563C-A6910A7C9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53" y="124090"/>
            <a:ext cx="10271883" cy="626165"/>
          </a:xfrm>
        </p:spPr>
        <p:txBody>
          <a:bodyPr/>
          <a:lstStyle/>
          <a:p>
            <a:r>
              <a:rPr lang="es-CO" dirty="0"/>
              <a:t>Configuración: Validación de reglas de contrato STVCNTR</a:t>
            </a:r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C9601BF5-CBCE-5329-749C-9BED85D9FDA9}"/>
              </a:ext>
            </a:extLst>
          </p:cNvPr>
          <p:cNvSpPr/>
          <p:nvPr/>
        </p:nvSpPr>
        <p:spPr>
          <a:xfrm>
            <a:off x="615793" y="3589445"/>
            <a:ext cx="10960413" cy="146292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dirty="0"/>
              <a:t>Se debe definir un código y una descripción que identifique el código de la regla del contrato del docente que se utilizará en la página de SIAINST. 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Presione la opción Insertar (+)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el código: campo de 6 caracteres. Campo obligatorio.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la Descripción del código. Campo de 30 caracteres. Campo obligatorio.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Guarde los datos.</a:t>
            </a:r>
          </a:p>
          <a:p>
            <a:endParaRPr lang="es-419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072A39DF-C9DD-D4E6-EA99-537F02F60827}"/>
              </a:ext>
            </a:extLst>
          </p:cNvPr>
          <p:cNvSpPr/>
          <p:nvPr/>
        </p:nvSpPr>
        <p:spPr>
          <a:xfrm>
            <a:off x="10229792" y="1391118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01A65773-B233-BBD7-D811-199BF0AD397D}"/>
              </a:ext>
            </a:extLst>
          </p:cNvPr>
          <p:cNvSpPr/>
          <p:nvPr/>
        </p:nvSpPr>
        <p:spPr>
          <a:xfrm>
            <a:off x="0" y="1854276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8E56BB97-D9D2-C604-E0BA-18C303908610}"/>
              </a:ext>
            </a:extLst>
          </p:cNvPr>
          <p:cNvSpPr/>
          <p:nvPr/>
        </p:nvSpPr>
        <p:spPr>
          <a:xfrm>
            <a:off x="4833315" y="1854276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6484A69D-71DC-19B0-724D-508A5E8CCA79}"/>
              </a:ext>
            </a:extLst>
          </p:cNvPr>
          <p:cNvSpPr/>
          <p:nvPr/>
        </p:nvSpPr>
        <p:spPr>
          <a:xfrm>
            <a:off x="10557707" y="5775846"/>
            <a:ext cx="339709" cy="16802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40AF73E-6A04-03A8-D708-2AD6EFDB377A}"/>
              </a:ext>
            </a:extLst>
          </p:cNvPr>
          <p:cNvSpPr/>
          <p:nvPr/>
        </p:nvSpPr>
        <p:spPr>
          <a:xfrm>
            <a:off x="10589940" y="1466732"/>
            <a:ext cx="234824" cy="15101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7B188EA-A8DD-23C5-489E-BAA3D5306068}"/>
              </a:ext>
            </a:extLst>
          </p:cNvPr>
          <p:cNvSpPr/>
          <p:nvPr/>
        </p:nvSpPr>
        <p:spPr>
          <a:xfrm>
            <a:off x="2763335" y="1883502"/>
            <a:ext cx="1922544" cy="15101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192C532-ACEE-994C-CD90-BCFE9FE5B46B}"/>
              </a:ext>
            </a:extLst>
          </p:cNvPr>
          <p:cNvSpPr/>
          <p:nvPr/>
        </p:nvSpPr>
        <p:spPr>
          <a:xfrm>
            <a:off x="259139" y="1854276"/>
            <a:ext cx="700070" cy="15928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5D609B4-D2F8-0A0D-79CB-367945833293}"/>
              </a:ext>
            </a:extLst>
          </p:cNvPr>
          <p:cNvSpPr/>
          <p:nvPr/>
        </p:nvSpPr>
        <p:spPr>
          <a:xfrm>
            <a:off x="10895227" y="5743311"/>
            <a:ext cx="559529" cy="23582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0106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EBBFA-EEF9-BE49-0334-235113773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D4A0748-6974-801C-ECC7-426FE4A15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56" y="1063759"/>
            <a:ext cx="11624823" cy="5051371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98AF8FA-D075-A6CE-3C77-E0923355C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53" y="124090"/>
            <a:ext cx="10271883" cy="626165"/>
          </a:xfrm>
        </p:spPr>
        <p:txBody>
          <a:bodyPr/>
          <a:lstStyle/>
          <a:p>
            <a:r>
              <a:rPr lang="es-CO" dirty="0"/>
              <a:t>Configuración: Validación de reglas de contrato STVCNTR</a:t>
            </a:r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F5DC1DD2-195B-E417-3D0C-F72121AC89D3}"/>
              </a:ext>
            </a:extLst>
          </p:cNvPr>
          <p:cNvSpPr/>
          <p:nvPr/>
        </p:nvSpPr>
        <p:spPr>
          <a:xfrm>
            <a:off x="615793" y="3589445"/>
            <a:ext cx="10960413" cy="146292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dirty="0"/>
              <a:t>Se debe definir un código y una descripción que identifique el código de los atributos del docente que se utilizará en la página de SIAINST. 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Presione la opción Insertar (+)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el código: campo de 4 caracteres. Campo obligatorio.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la Descripción del código. Campo de 30 caracteres. Campo obligatorio.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Guarde los datos.</a:t>
            </a:r>
          </a:p>
          <a:p>
            <a:endParaRPr lang="es-419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8F2ADF3B-DC78-B1C3-CA30-2E355DB4D8AD}"/>
              </a:ext>
            </a:extLst>
          </p:cNvPr>
          <p:cNvSpPr/>
          <p:nvPr/>
        </p:nvSpPr>
        <p:spPr>
          <a:xfrm>
            <a:off x="10691236" y="1391118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A508F128-E278-D90B-D545-4AD0289633EB}"/>
              </a:ext>
            </a:extLst>
          </p:cNvPr>
          <p:cNvSpPr/>
          <p:nvPr/>
        </p:nvSpPr>
        <p:spPr>
          <a:xfrm>
            <a:off x="0" y="1854276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76326F78-4323-A331-B8FC-EC051CD832FB}"/>
              </a:ext>
            </a:extLst>
          </p:cNvPr>
          <p:cNvSpPr/>
          <p:nvPr/>
        </p:nvSpPr>
        <p:spPr>
          <a:xfrm>
            <a:off x="4833315" y="1854276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917C83A1-803E-7FDB-342E-9824188C2491}"/>
              </a:ext>
            </a:extLst>
          </p:cNvPr>
          <p:cNvSpPr/>
          <p:nvPr/>
        </p:nvSpPr>
        <p:spPr>
          <a:xfrm>
            <a:off x="11080120" y="5826776"/>
            <a:ext cx="339709" cy="168026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EA86A6F-A112-FD54-B287-4AF5A2C76DD7}"/>
              </a:ext>
            </a:extLst>
          </p:cNvPr>
          <p:cNvSpPr/>
          <p:nvPr/>
        </p:nvSpPr>
        <p:spPr>
          <a:xfrm>
            <a:off x="11051384" y="1466732"/>
            <a:ext cx="234824" cy="15101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76784BF-58E6-A5F4-4C05-B13DD09C07FA}"/>
              </a:ext>
            </a:extLst>
          </p:cNvPr>
          <p:cNvSpPr/>
          <p:nvPr/>
        </p:nvSpPr>
        <p:spPr>
          <a:xfrm>
            <a:off x="2763335" y="1883502"/>
            <a:ext cx="1922544" cy="15101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A67FB05-1EB7-53BA-C2A8-3B2EFDB4BAB7}"/>
              </a:ext>
            </a:extLst>
          </p:cNvPr>
          <p:cNvSpPr/>
          <p:nvPr/>
        </p:nvSpPr>
        <p:spPr>
          <a:xfrm>
            <a:off x="259139" y="1854276"/>
            <a:ext cx="700070" cy="15928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900412C-3CF7-BA92-5B42-CCA7D2AB8AB5}"/>
              </a:ext>
            </a:extLst>
          </p:cNvPr>
          <p:cNvSpPr/>
          <p:nvPr/>
        </p:nvSpPr>
        <p:spPr>
          <a:xfrm>
            <a:off x="11417640" y="5794241"/>
            <a:ext cx="559529" cy="23582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0928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Gestionar Información de Docentes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INFORMACIÓN DE DOCENTES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761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8466AFD7-581B-3DDC-8A3A-581E3EA9D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954157"/>
            <a:ext cx="10495732" cy="472993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Información de Docentes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Premisa: </a:t>
            </a:r>
            <a:r>
              <a:rPr lang="es-ES_tradnl" sz="3200" dirty="0"/>
              <a:t>SPAIDEN</a:t>
            </a:r>
            <a:r>
              <a:rPr lang="es-ES_tradnl" sz="3200" b="0" dirty="0"/>
              <a:t> </a:t>
            </a:r>
            <a:r>
              <a:rPr lang="es-419" sz="3200" b="0" dirty="0"/>
              <a:t>Identificación de general de personas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EBFE1B0C-4638-DE97-13BD-C9362AE782B5}"/>
              </a:ext>
            </a:extLst>
          </p:cNvPr>
          <p:cNvSpPr/>
          <p:nvPr/>
        </p:nvSpPr>
        <p:spPr>
          <a:xfrm>
            <a:off x="3509472" y="4460240"/>
            <a:ext cx="5471967" cy="62616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Antes de ingresar la información de un docente, este debe estar creado como persona en Banner (SPAIDEN)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A7E5062-2727-FEC3-BC24-E04CA848F711}"/>
              </a:ext>
            </a:extLst>
          </p:cNvPr>
          <p:cNvSpPr/>
          <p:nvPr/>
        </p:nvSpPr>
        <p:spPr>
          <a:xfrm>
            <a:off x="810247" y="1580322"/>
            <a:ext cx="2384927" cy="29690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1899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E64EA48-36EF-5811-540D-C3F0FE3C5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306" y="1109220"/>
            <a:ext cx="10299388" cy="463955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Información de Docentes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200" dirty="0"/>
              <a:t>SIAINST </a:t>
            </a:r>
            <a:r>
              <a:rPr lang="es-419" b="1" dirty="0">
                <a:effectLst/>
              </a:rPr>
              <a:t>Información de docente / asesor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EBFE1B0C-4638-DE97-13BD-C9362AE782B5}"/>
              </a:ext>
            </a:extLst>
          </p:cNvPr>
          <p:cNvSpPr/>
          <p:nvPr/>
        </p:nvSpPr>
        <p:spPr>
          <a:xfrm>
            <a:off x="2060810" y="2529960"/>
            <a:ext cx="4337260" cy="107093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Se debe ingresar el ID del Docente a configurar, así como el Periodo desde el cual dicha configuración será vigente.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A7E5062-2727-FEC3-BC24-E04CA848F711}"/>
              </a:ext>
            </a:extLst>
          </p:cNvPr>
          <p:cNvSpPr/>
          <p:nvPr/>
        </p:nvSpPr>
        <p:spPr>
          <a:xfrm>
            <a:off x="1662248" y="1706685"/>
            <a:ext cx="6134501" cy="28220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49E1F6E-80F3-181E-75D0-052A10706AD9}"/>
              </a:ext>
            </a:extLst>
          </p:cNvPr>
          <p:cNvSpPr/>
          <p:nvPr/>
        </p:nvSpPr>
        <p:spPr>
          <a:xfrm>
            <a:off x="10451216" y="1753249"/>
            <a:ext cx="1010194" cy="29690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redondeado 5">
            <a:extLst>
              <a:ext uri="{FF2B5EF4-FFF2-40B4-BE49-F238E27FC236}">
                <a16:creationId xmlns:a16="http://schemas.microsoft.com/office/drawing/2014/main" id="{25895338-6AD8-85D2-759F-32B6D24AB159}"/>
              </a:ext>
            </a:extLst>
          </p:cNvPr>
          <p:cNvSpPr/>
          <p:nvPr/>
        </p:nvSpPr>
        <p:spPr>
          <a:xfrm>
            <a:off x="10131190" y="2544337"/>
            <a:ext cx="1330220" cy="77209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Presionar el botón ‘Ir’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FD2DC7E8-EB3F-D045-8BA1-F4519A71BCEC}"/>
              </a:ext>
            </a:extLst>
          </p:cNvPr>
          <p:cNvSpPr/>
          <p:nvPr/>
        </p:nvSpPr>
        <p:spPr>
          <a:xfrm>
            <a:off x="1017484" y="1736324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1" name="Rectángulo redondeado 9">
            <a:extLst>
              <a:ext uri="{FF2B5EF4-FFF2-40B4-BE49-F238E27FC236}">
                <a16:creationId xmlns:a16="http://schemas.microsoft.com/office/drawing/2014/main" id="{57D79291-6337-DAC2-B120-2A380298D4C6}"/>
              </a:ext>
            </a:extLst>
          </p:cNvPr>
          <p:cNvSpPr/>
          <p:nvPr/>
        </p:nvSpPr>
        <p:spPr>
          <a:xfrm>
            <a:off x="9801535" y="1780880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2</a:t>
            </a:r>
            <a:endParaRPr lang="es-ES_tradnl" sz="1100" dirty="0"/>
          </a:p>
        </p:txBody>
      </p:sp>
    </p:spTree>
    <p:extLst>
      <p:ext uri="{BB962C8B-B14F-4D97-AF65-F5344CB8AC3E}">
        <p14:creationId xmlns:p14="http://schemas.microsoft.com/office/powerpoint/2010/main" val="180545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9E8AE6E-5B85-48C7-CD6A-354460F13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030" y="1501236"/>
            <a:ext cx="10315939" cy="467096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Información de Docentes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200" dirty="0"/>
              <a:t>SIAINST </a:t>
            </a:r>
            <a:r>
              <a:rPr lang="es-419" b="1" dirty="0">
                <a:effectLst/>
              </a:rPr>
              <a:t>Información de docente / asesor 1/3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EBFE1B0C-4638-DE97-13BD-C9362AE782B5}"/>
              </a:ext>
            </a:extLst>
          </p:cNvPr>
          <p:cNvSpPr/>
          <p:nvPr/>
        </p:nvSpPr>
        <p:spPr>
          <a:xfrm>
            <a:off x="4263187" y="2200984"/>
            <a:ext cx="4753515" cy="61217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300" dirty="0"/>
              <a:t>Se ingresa el estatus del docente y se activan o desactivan las casillas ‘Docente’ y/o ‘Asesor’, según corresponda.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A7E5062-2727-FEC3-BC24-E04CA848F711}"/>
              </a:ext>
            </a:extLst>
          </p:cNvPr>
          <p:cNvSpPr/>
          <p:nvPr/>
        </p:nvSpPr>
        <p:spPr>
          <a:xfrm>
            <a:off x="1207166" y="2573914"/>
            <a:ext cx="3056021" cy="121650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0D64BFA-DBAC-2246-E6D5-E02C62D4DBDF}"/>
              </a:ext>
            </a:extLst>
          </p:cNvPr>
          <p:cNvSpPr/>
          <p:nvPr/>
        </p:nvSpPr>
        <p:spPr>
          <a:xfrm>
            <a:off x="6095999" y="3174680"/>
            <a:ext cx="3315420" cy="103977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163295F2-D0E6-E359-06C0-881D53B35A0E}"/>
              </a:ext>
            </a:extLst>
          </p:cNvPr>
          <p:cNvSpPr/>
          <p:nvPr/>
        </p:nvSpPr>
        <p:spPr>
          <a:xfrm>
            <a:off x="771613" y="2828030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21" name="Rectángulo redondeado 5">
            <a:extLst>
              <a:ext uri="{FF2B5EF4-FFF2-40B4-BE49-F238E27FC236}">
                <a16:creationId xmlns:a16="http://schemas.microsoft.com/office/drawing/2014/main" id="{C552724D-9C26-9221-5E01-A0382DD25289}"/>
              </a:ext>
            </a:extLst>
          </p:cNvPr>
          <p:cNvSpPr/>
          <p:nvPr/>
        </p:nvSpPr>
        <p:spPr>
          <a:xfrm>
            <a:off x="6994789" y="4320788"/>
            <a:ext cx="4172014" cy="90464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300" dirty="0"/>
              <a:t>Luego se debe ingresar información acerca de la categoría, tipo de personal y regla de carga de trabajo del docente, según corresponda al caso.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006A0EE-6C6C-2F07-13B1-05218DEE6341}"/>
              </a:ext>
            </a:extLst>
          </p:cNvPr>
          <p:cNvSpPr/>
          <p:nvPr/>
        </p:nvSpPr>
        <p:spPr>
          <a:xfrm>
            <a:off x="10594205" y="5811166"/>
            <a:ext cx="783389" cy="40642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92F1D77-6E8C-515D-1EA0-F5F96F612A28}"/>
              </a:ext>
            </a:extLst>
          </p:cNvPr>
          <p:cNvSpPr/>
          <p:nvPr/>
        </p:nvSpPr>
        <p:spPr>
          <a:xfrm>
            <a:off x="1163923" y="5760788"/>
            <a:ext cx="609603" cy="40642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Rectángulo redondeado 9">
            <a:extLst>
              <a:ext uri="{FF2B5EF4-FFF2-40B4-BE49-F238E27FC236}">
                <a16:creationId xmlns:a16="http://schemas.microsoft.com/office/drawing/2014/main" id="{8E6999BC-38B2-0C7C-AD00-DACF7CA9C18D}"/>
              </a:ext>
            </a:extLst>
          </p:cNvPr>
          <p:cNvSpPr/>
          <p:nvPr/>
        </p:nvSpPr>
        <p:spPr>
          <a:xfrm>
            <a:off x="5600170" y="3258182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25" name="Rectángulo redondeado 9">
            <a:extLst>
              <a:ext uri="{FF2B5EF4-FFF2-40B4-BE49-F238E27FC236}">
                <a16:creationId xmlns:a16="http://schemas.microsoft.com/office/drawing/2014/main" id="{4BC4D0BA-F527-DD51-FA33-DF76C2CEB563}"/>
              </a:ext>
            </a:extLst>
          </p:cNvPr>
          <p:cNvSpPr/>
          <p:nvPr/>
        </p:nvSpPr>
        <p:spPr>
          <a:xfrm>
            <a:off x="11606987" y="5827963"/>
            <a:ext cx="360421" cy="2186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26" name="Rectángulo redondeado 9">
            <a:extLst>
              <a:ext uri="{FF2B5EF4-FFF2-40B4-BE49-F238E27FC236}">
                <a16:creationId xmlns:a16="http://schemas.microsoft.com/office/drawing/2014/main" id="{2F3B4317-9A31-A60C-7F21-23935156F232}"/>
              </a:ext>
            </a:extLst>
          </p:cNvPr>
          <p:cNvSpPr/>
          <p:nvPr/>
        </p:nvSpPr>
        <p:spPr>
          <a:xfrm>
            <a:off x="1904873" y="5793238"/>
            <a:ext cx="360421" cy="2186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  <p:sp>
        <p:nvSpPr>
          <p:cNvPr id="27" name="Rectángulo redondeado 5">
            <a:extLst>
              <a:ext uri="{FF2B5EF4-FFF2-40B4-BE49-F238E27FC236}">
                <a16:creationId xmlns:a16="http://schemas.microsoft.com/office/drawing/2014/main" id="{BA07D5B0-113A-7C5F-AFD1-CED60B400873}"/>
              </a:ext>
            </a:extLst>
          </p:cNvPr>
          <p:cNvSpPr/>
          <p:nvPr/>
        </p:nvSpPr>
        <p:spPr>
          <a:xfrm>
            <a:off x="9080796" y="5722089"/>
            <a:ext cx="1325625" cy="54311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Guardar información</a:t>
            </a:r>
          </a:p>
        </p:txBody>
      </p:sp>
      <p:sp>
        <p:nvSpPr>
          <p:cNvPr id="28" name="Rectángulo redondeado 5">
            <a:extLst>
              <a:ext uri="{FF2B5EF4-FFF2-40B4-BE49-F238E27FC236}">
                <a16:creationId xmlns:a16="http://schemas.microsoft.com/office/drawing/2014/main" id="{90021F5B-129E-4A3B-A0DF-262E900E6E6D}"/>
              </a:ext>
            </a:extLst>
          </p:cNvPr>
          <p:cNvSpPr/>
          <p:nvPr/>
        </p:nvSpPr>
        <p:spPr>
          <a:xfrm>
            <a:off x="1888223" y="6102032"/>
            <a:ext cx="1657691" cy="40968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Bloque siguiente</a:t>
            </a:r>
          </a:p>
        </p:txBody>
      </p:sp>
      <p:sp>
        <p:nvSpPr>
          <p:cNvPr id="2" name="Rectángulo 17">
            <a:extLst>
              <a:ext uri="{FF2B5EF4-FFF2-40B4-BE49-F238E27FC236}">
                <a16:creationId xmlns:a16="http://schemas.microsoft.com/office/drawing/2014/main" id="{5AA40621-4D6A-3B5E-27D7-913B917D8EE7}"/>
              </a:ext>
            </a:extLst>
          </p:cNvPr>
          <p:cNvSpPr/>
          <p:nvPr/>
        </p:nvSpPr>
        <p:spPr>
          <a:xfrm>
            <a:off x="1207167" y="3885834"/>
            <a:ext cx="3056021" cy="18528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redondeado 9">
            <a:extLst>
              <a:ext uri="{FF2B5EF4-FFF2-40B4-BE49-F238E27FC236}">
                <a16:creationId xmlns:a16="http://schemas.microsoft.com/office/drawing/2014/main" id="{33C2070C-29E5-9B2A-0E85-359905B2112B}"/>
              </a:ext>
            </a:extLst>
          </p:cNvPr>
          <p:cNvSpPr/>
          <p:nvPr/>
        </p:nvSpPr>
        <p:spPr>
          <a:xfrm>
            <a:off x="771613" y="3835054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4D231991-98A8-7805-D513-28DA2B2E38A1}"/>
              </a:ext>
            </a:extLst>
          </p:cNvPr>
          <p:cNvSpPr/>
          <p:nvPr/>
        </p:nvSpPr>
        <p:spPr>
          <a:xfrm>
            <a:off x="974189" y="4467580"/>
            <a:ext cx="5451225" cy="119778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300" dirty="0"/>
              <a:t>El indicador </a:t>
            </a:r>
            <a:r>
              <a:rPr lang="es-ES" sz="1300" b="1" dirty="0"/>
              <a:t>Sobrepasar Seguridad de Regla de Proceso</a:t>
            </a:r>
            <a:r>
              <a:rPr lang="es-ES" sz="1300" dirty="0"/>
              <a:t> es opcional y solo se puede marcar cuando están marcados los indicadores de </a:t>
            </a:r>
            <a:r>
              <a:rPr lang="es-ES" sz="1300" b="1" dirty="0"/>
              <a:t>Docente</a:t>
            </a:r>
            <a:r>
              <a:rPr lang="es-ES" sz="1300" dirty="0"/>
              <a:t> y </a:t>
            </a:r>
            <a:r>
              <a:rPr lang="es-ES" sz="1300" b="1" dirty="0"/>
              <a:t>Asesor</a:t>
            </a:r>
            <a:r>
              <a:rPr lang="es-ES" sz="1300" dirty="0"/>
              <a:t>.</a:t>
            </a:r>
          </a:p>
          <a:p>
            <a:pPr algn="ctr"/>
            <a:r>
              <a:rPr lang="es-ES" sz="1300" dirty="0"/>
              <a:t>Cuando esta opción de seguridad está marcada, el ID de SIAINST puede ignorar la seguridad asociada con las páginas web de Banner </a:t>
            </a:r>
            <a:r>
              <a:rPr lang="es-ES" sz="1300" dirty="0" err="1"/>
              <a:t>Student</a:t>
            </a:r>
            <a:r>
              <a:rPr lang="es-ES" sz="1300" dirty="0"/>
              <a:t> Self-Service.</a:t>
            </a:r>
            <a:endParaRPr lang="es-ES_tradnl" sz="1300" dirty="0"/>
          </a:p>
        </p:txBody>
      </p:sp>
    </p:spTree>
    <p:extLst>
      <p:ext uri="{BB962C8B-B14F-4D97-AF65-F5344CB8AC3E}">
        <p14:creationId xmlns:p14="http://schemas.microsoft.com/office/powerpoint/2010/main" val="3958182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302E945-57EF-A6CA-580E-D18730009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67" y="1320179"/>
            <a:ext cx="10538474" cy="475307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Información de Docentes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200" dirty="0"/>
              <a:t>SIAINST </a:t>
            </a:r>
            <a:r>
              <a:rPr lang="es-419" b="1" dirty="0">
                <a:effectLst/>
              </a:rPr>
              <a:t>Información de docente / asesor 2/3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17" name="Rectángulo redondeado 5">
            <a:extLst>
              <a:ext uri="{FF2B5EF4-FFF2-40B4-BE49-F238E27FC236}">
                <a16:creationId xmlns:a16="http://schemas.microsoft.com/office/drawing/2014/main" id="{EBFE1B0C-4638-DE97-13BD-C9362AE782B5}"/>
              </a:ext>
            </a:extLst>
          </p:cNvPr>
          <p:cNvSpPr/>
          <p:nvPr/>
        </p:nvSpPr>
        <p:spPr>
          <a:xfrm>
            <a:off x="1756861" y="4333275"/>
            <a:ext cx="3966138" cy="123625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Ingrese información de contrato del docente y regla a la cual estaría asociado ese contrato. Importante dejar al menos de un registro con la casilla ‘Indicador de predefinido’ activa.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A7E5062-2727-FEC3-BC24-E04CA848F711}"/>
              </a:ext>
            </a:extLst>
          </p:cNvPr>
          <p:cNvSpPr/>
          <p:nvPr/>
        </p:nvSpPr>
        <p:spPr>
          <a:xfrm>
            <a:off x="850506" y="2633971"/>
            <a:ext cx="9813198" cy="45807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redondeado 9">
            <a:extLst>
              <a:ext uri="{FF2B5EF4-FFF2-40B4-BE49-F238E27FC236}">
                <a16:creationId xmlns:a16="http://schemas.microsoft.com/office/drawing/2014/main" id="{163295F2-D0E6-E359-06C0-881D53B35A0E}"/>
              </a:ext>
            </a:extLst>
          </p:cNvPr>
          <p:cNvSpPr/>
          <p:nvPr/>
        </p:nvSpPr>
        <p:spPr>
          <a:xfrm>
            <a:off x="449826" y="2817603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8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92F1D77-6E8C-515D-1EA0-F5F96F612A28}"/>
              </a:ext>
            </a:extLst>
          </p:cNvPr>
          <p:cNvSpPr/>
          <p:nvPr/>
        </p:nvSpPr>
        <p:spPr>
          <a:xfrm>
            <a:off x="1208869" y="5685406"/>
            <a:ext cx="609603" cy="40642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Rectángulo redondeado 9">
            <a:extLst>
              <a:ext uri="{FF2B5EF4-FFF2-40B4-BE49-F238E27FC236}">
                <a16:creationId xmlns:a16="http://schemas.microsoft.com/office/drawing/2014/main" id="{2F3B4317-9A31-A60C-7F21-23935156F232}"/>
              </a:ext>
            </a:extLst>
          </p:cNvPr>
          <p:cNvSpPr/>
          <p:nvPr/>
        </p:nvSpPr>
        <p:spPr>
          <a:xfrm>
            <a:off x="1872132" y="5783799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11</a:t>
            </a:r>
          </a:p>
        </p:txBody>
      </p:sp>
      <p:sp>
        <p:nvSpPr>
          <p:cNvPr id="27" name="Rectángulo redondeado 5">
            <a:extLst>
              <a:ext uri="{FF2B5EF4-FFF2-40B4-BE49-F238E27FC236}">
                <a16:creationId xmlns:a16="http://schemas.microsoft.com/office/drawing/2014/main" id="{BA07D5B0-113A-7C5F-AFD1-CED60B400873}"/>
              </a:ext>
            </a:extLst>
          </p:cNvPr>
          <p:cNvSpPr/>
          <p:nvPr/>
        </p:nvSpPr>
        <p:spPr>
          <a:xfrm>
            <a:off x="10611620" y="4913144"/>
            <a:ext cx="1325625" cy="54311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Guardar información</a:t>
            </a:r>
          </a:p>
        </p:txBody>
      </p:sp>
      <p:sp>
        <p:nvSpPr>
          <p:cNvPr id="28" name="Rectángulo redondeado 5">
            <a:extLst>
              <a:ext uri="{FF2B5EF4-FFF2-40B4-BE49-F238E27FC236}">
                <a16:creationId xmlns:a16="http://schemas.microsoft.com/office/drawing/2014/main" id="{90021F5B-129E-4A3B-A0DF-262E900E6E6D}"/>
              </a:ext>
            </a:extLst>
          </p:cNvPr>
          <p:cNvSpPr/>
          <p:nvPr/>
        </p:nvSpPr>
        <p:spPr>
          <a:xfrm>
            <a:off x="1872132" y="6172199"/>
            <a:ext cx="1657691" cy="40968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Bloque siguiente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2F2F802-7D88-BE47-8C30-679193AD79EF}"/>
              </a:ext>
            </a:extLst>
          </p:cNvPr>
          <p:cNvSpPr/>
          <p:nvPr/>
        </p:nvSpPr>
        <p:spPr>
          <a:xfrm>
            <a:off x="917567" y="3590268"/>
            <a:ext cx="10538474" cy="54311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1A30BC2E-D355-F048-AEEB-0A4359AE4B12}"/>
              </a:ext>
            </a:extLst>
          </p:cNvPr>
          <p:cNvSpPr/>
          <p:nvPr/>
        </p:nvSpPr>
        <p:spPr>
          <a:xfrm>
            <a:off x="503486" y="3709957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9</a:t>
            </a:r>
          </a:p>
        </p:txBody>
      </p:sp>
      <p:sp>
        <p:nvSpPr>
          <p:cNvPr id="10" name="Rectángulo redondeado 19">
            <a:extLst>
              <a:ext uri="{FF2B5EF4-FFF2-40B4-BE49-F238E27FC236}">
                <a16:creationId xmlns:a16="http://schemas.microsoft.com/office/drawing/2014/main" id="{F55586EB-D0EF-68B9-4215-6420557CD89A}"/>
              </a:ext>
            </a:extLst>
          </p:cNvPr>
          <p:cNvSpPr/>
          <p:nvPr/>
        </p:nvSpPr>
        <p:spPr>
          <a:xfrm>
            <a:off x="6357356" y="4333275"/>
            <a:ext cx="4077783" cy="74695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También ingresar información de la escuela a la que pertenece el docente.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D3D2135-804B-8C21-7025-4DFFCE6115B6}"/>
              </a:ext>
            </a:extLst>
          </p:cNvPr>
          <p:cNvSpPr/>
          <p:nvPr/>
        </p:nvSpPr>
        <p:spPr>
          <a:xfrm>
            <a:off x="10848684" y="5676118"/>
            <a:ext cx="875631" cy="40642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redondeado 9">
            <a:extLst>
              <a:ext uri="{FF2B5EF4-FFF2-40B4-BE49-F238E27FC236}">
                <a16:creationId xmlns:a16="http://schemas.microsoft.com/office/drawing/2014/main" id="{A302EC12-12CD-A8FC-D490-EF90EF13C3BE}"/>
              </a:ext>
            </a:extLst>
          </p:cNvPr>
          <p:cNvSpPr/>
          <p:nvPr/>
        </p:nvSpPr>
        <p:spPr>
          <a:xfrm>
            <a:off x="10400199" y="5779270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40091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016E68D-F6F3-88B9-F132-B951EE16E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97" y="1411412"/>
            <a:ext cx="10379497" cy="466482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Información de Docentes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200" dirty="0"/>
              <a:t>SIAINST </a:t>
            </a:r>
            <a:r>
              <a:rPr lang="es-419" b="1" dirty="0">
                <a:effectLst/>
              </a:rPr>
              <a:t>Información de docente / asesor 3/3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657C4E2-DCB3-290C-F5AA-0944B72F7EF4}"/>
              </a:ext>
            </a:extLst>
          </p:cNvPr>
          <p:cNvSpPr/>
          <p:nvPr/>
        </p:nvSpPr>
        <p:spPr>
          <a:xfrm>
            <a:off x="1015996" y="2728149"/>
            <a:ext cx="3473357" cy="447733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74A76BEA-7A75-4DB3-67E0-B53AE890C115}"/>
              </a:ext>
            </a:extLst>
          </p:cNvPr>
          <p:cNvSpPr/>
          <p:nvPr/>
        </p:nvSpPr>
        <p:spPr>
          <a:xfrm>
            <a:off x="609601" y="2878383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46FB3C7-F9E1-0F94-52B2-C0AA34F26D66}"/>
              </a:ext>
            </a:extLst>
          </p:cNvPr>
          <p:cNvSpPr/>
          <p:nvPr/>
        </p:nvSpPr>
        <p:spPr>
          <a:xfrm>
            <a:off x="1015996" y="3633137"/>
            <a:ext cx="6826157" cy="51919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redondeado 9">
            <a:extLst>
              <a:ext uri="{FF2B5EF4-FFF2-40B4-BE49-F238E27FC236}">
                <a16:creationId xmlns:a16="http://schemas.microsoft.com/office/drawing/2014/main" id="{DCBB0663-A062-4901-BB5A-BFB8AF4D1574}"/>
              </a:ext>
            </a:extLst>
          </p:cNvPr>
          <p:cNvSpPr/>
          <p:nvPr/>
        </p:nvSpPr>
        <p:spPr>
          <a:xfrm>
            <a:off x="609600" y="3783388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8BF0AAB-E67F-454D-9AE4-E5E6072AD5C6}"/>
              </a:ext>
            </a:extLst>
          </p:cNvPr>
          <p:cNvSpPr/>
          <p:nvPr/>
        </p:nvSpPr>
        <p:spPr>
          <a:xfrm>
            <a:off x="10667869" y="5738211"/>
            <a:ext cx="875631" cy="40642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Rectángulo redondeado 9">
            <a:extLst>
              <a:ext uri="{FF2B5EF4-FFF2-40B4-BE49-F238E27FC236}">
                <a16:creationId xmlns:a16="http://schemas.microsoft.com/office/drawing/2014/main" id="{73CD5A4B-115C-9C38-A3F4-2B4EEBDFB0B6}"/>
              </a:ext>
            </a:extLst>
          </p:cNvPr>
          <p:cNvSpPr/>
          <p:nvPr/>
        </p:nvSpPr>
        <p:spPr>
          <a:xfrm>
            <a:off x="10127237" y="5832075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14</a:t>
            </a:r>
          </a:p>
        </p:txBody>
      </p:sp>
      <p:sp>
        <p:nvSpPr>
          <p:cNvPr id="20" name="Rectángulo redondeado 5">
            <a:extLst>
              <a:ext uri="{FF2B5EF4-FFF2-40B4-BE49-F238E27FC236}">
                <a16:creationId xmlns:a16="http://schemas.microsoft.com/office/drawing/2014/main" id="{EA0CD3B5-27ED-5A49-A912-88FC2F40D45F}"/>
              </a:ext>
            </a:extLst>
          </p:cNvPr>
          <p:cNvSpPr/>
          <p:nvPr/>
        </p:nvSpPr>
        <p:spPr>
          <a:xfrm>
            <a:off x="10365881" y="5055273"/>
            <a:ext cx="1325625" cy="54311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Guardar información</a:t>
            </a:r>
          </a:p>
        </p:txBody>
      </p:sp>
      <p:sp>
        <p:nvSpPr>
          <p:cNvPr id="29" name="Rectángulo redondeado 5">
            <a:extLst>
              <a:ext uri="{FF2B5EF4-FFF2-40B4-BE49-F238E27FC236}">
                <a16:creationId xmlns:a16="http://schemas.microsoft.com/office/drawing/2014/main" id="{56570C54-3BE6-008C-3AC8-EC6F93840D34}"/>
              </a:ext>
            </a:extLst>
          </p:cNvPr>
          <p:cNvSpPr/>
          <p:nvPr/>
        </p:nvSpPr>
        <p:spPr>
          <a:xfrm>
            <a:off x="2572320" y="4546635"/>
            <a:ext cx="5697920" cy="90464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Ingrese atributos de docente y comentarios que pudiera tener asociado el docente desde el periodo académico en cuestión.</a:t>
            </a:r>
          </a:p>
        </p:txBody>
      </p:sp>
    </p:spTree>
    <p:extLst>
      <p:ext uri="{BB962C8B-B14F-4D97-AF65-F5344CB8AC3E}">
        <p14:creationId xmlns:p14="http://schemas.microsoft.com/office/powerpoint/2010/main" val="101245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65CA344-CEA1-0118-5524-A3F0104F8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96278"/>
            <a:ext cx="10542240" cy="477592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Información de Docentes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200" dirty="0"/>
              <a:t>SIAFDEG </a:t>
            </a:r>
            <a:r>
              <a:rPr lang="es-419" b="1" dirty="0">
                <a:effectLst/>
              </a:rPr>
              <a:t>Información de grado del docente 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657C4E2-DCB3-290C-F5AA-0944B72F7EF4}"/>
              </a:ext>
            </a:extLst>
          </p:cNvPr>
          <p:cNvSpPr/>
          <p:nvPr/>
        </p:nvSpPr>
        <p:spPr>
          <a:xfrm>
            <a:off x="1641462" y="2005387"/>
            <a:ext cx="3473357" cy="36102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74A76BEA-7A75-4DB3-67E0-B53AE890C115}"/>
              </a:ext>
            </a:extLst>
          </p:cNvPr>
          <p:cNvSpPr/>
          <p:nvPr/>
        </p:nvSpPr>
        <p:spPr>
          <a:xfrm>
            <a:off x="1113939" y="2082333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46FB3C7-F9E1-0F94-52B2-C0AA34F26D66}"/>
              </a:ext>
            </a:extLst>
          </p:cNvPr>
          <p:cNvSpPr/>
          <p:nvPr/>
        </p:nvSpPr>
        <p:spPr>
          <a:xfrm>
            <a:off x="10869283" y="2031401"/>
            <a:ext cx="587357" cy="33501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redondeado 9">
            <a:extLst>
              <a:ext uri="{FF2B5EF4-FFF2-40B4-BE49-F238E27FC236}">
                <a16:creationId xmlns:a16="http://schemas.microsoft.com/office/drawing/2014/main" id="{DCBB0663-A062-4901-BB5A-BFB8AF4D1574}"/>
              </a:ext>
            </a:extLst>
          </p:cNvPr>
          <p:cNvSpPr/>
          <p:nvPr/>
        </p:nvSpPr>
        <p:spPr>
          <a:xfrm>
            <a:off x="10370327" y="2089557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C94C2E71-0EAC-5434-73E8-B919E325190D}"/>
              </a:ext>
            </a:extLst>
          </p:cNvPr>
          <p:cNvSpPr/>
          <p:nvPr/>
        </p:nvSpPr>
        <p:spPr>
          <a:xfrm>
            <a:off x="10044319" y="2883312"/>
            <a:ext cx="1330220" cy="59457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Presionar el botón ‘Ir’</a:t>
            </a:r>
          </a:p>
        </p:txBody>
      </p:sp>
      <p:sp>
        <p:nvSpPr>
          <p:cNvPr id="11" name="Rectángulo redondeado 5">
            <a:extLst>
              <a:ext uri="{FF2B5EF4-FFF2-40B4-BE49-F238E27FC236}">
                <a16:creationId xmlns:a16="http://schemas.microsoft.com/office/drawing/2014/main" id="{90CCB39A-BD56-DB0B-DB72-D57BB9B85D23}"/>
              </a:ext>
            </a:extLst>
          </p:cNvPr>
          <p:cNvSpPr/>
          <p:nvPr/>
        </p:nvSpPr>
        <p:spPr>
          <a:xfrm>
            <a:off x="1552618" y="2895600"/>
            <a:ext cx="2495087" cy="77352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Se debe ingresar el ID del Docente a configurar.</a:t>
            </a:r>
          </a:p>
        </p:txBody>
      </p:sp>
    </p:spTree>
    <p:extLst>
      <p:ext uri="{BB962C8B-B14F-4D97-AF65-F5344CB8AC3E}">
        <p14:creationId xmlns:p14="http://schemas.microsoft.com/office/powerpoint/2010/main" val="1752755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07D5494-B361-4D5A-3A3C-3DC617A55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290" y="1612145"/>
            <a:ext cx="9975863" cy="449147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Información de Docentes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200" dirty="0"/>
              <a:t>SIAFDEG </a:t>
            </a:r>
            <a:r>
              <a:rPr lang="es-419" b="1" dirty="0">
                <a:effectLst/>
              </a:rPr>
              <a:t>Información de grado del docente 1/2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0802B8B-6512-5E98-5ED2-4F7A01BB3DC1}"/>
              </a:ext>
            </a:extLst>
          </p:cNvPr>
          <p:cNvSpPr/>
          <p:nvPr/>
        </p:nvSpPr>
        <p:spPr>
          <a:xfrm>
            <a:off x="1464290" y="2262562"/>
            <a:ext cx="9975862" cy="87389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Rectángulo redondeado 9">
            <a:extLst>
              <a:ext uri="{FF2B5EF4-FFF2-40B4-BE49-F238E27FC236}">
                <a16:creationId xmlns:a16="http://schemas.microsoft.com/office/drawing/2014/main" id="{2E51CA9F-FD01-062C-756D-B722E5EA051B}"/>
              </a:ext>
            </a:extLst>
          </p:cNvPr>
          <p:cNvSpPr/>
          <p:nvPr/>
        </p:nvSpPr>
        <p:spPr>
          <a:xfrm>
            <a:off x="917819" y="2535159"/>
            <a:ext cx="376513" cy="289862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8" name="Rectángulo redondeado 9">
            <a:extLst>
              <a:ext uri="{FF2B5EF4-FFF2-40B4-BE49-F238E27FC236}">
                <a16:creationId xmlns:a16="http://schemas.microsoft.com/office/drawing/2014/main" id="{80579FEA-68FD-AF64-4D31-815417F903C8}"/>
              </a:ext>
            </a:extLst>
          </p:cNvPr>
          <p:cNvSpPr/>
          <p:nvPr/>
        </p:nvSpPr>
        <p:spPr>
          <a:xfrm>
            <a:off x="945197" y="3649251"/>
            <a:ext cx="376513" cy="331382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B77D5E1-0C2A-6060-844B-D3A842249630}"/>
              </a:ext>
            </a:extLst>
          </p:cNvPr>
          <p:cNvSpPr/>
          <p:nvPr/>
        </p:nvSpPr>
        <p:spPr>
          <a:xfrm>
            <a:off x="1464289" y="3358788"/>
            <a:ext cx="9975863" cy="124369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Rectángulo redondeado 5">
            <a:extLst>
              <a:ext uri="{FF2B5EF4-FFF2-40B4-BE49-F238E27FC236}">
                <a16:creationId xmlns:a16="http://schemas.microsoft.com/office/drawing/2014/main" id="{8260EA24-BCB7-978B-693A-E0EC078B1D0F}"/>
              </a:ext>
            </a:extLst>
          </p:cNvPr>
          <p:cNvSpPr/>
          <p:nvPr/>
        </p:nvSpPr>
        <p:spPr>
          <a:xfrm>
            <a:off x="2029278" y="4886209"/>
            <a:ext cx="3010082" cy="6957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Se ingresa la institución desde la cual obtuvo el grado académico.</a:t>
            </a:r>
          </a:p>
        </p:txBody>
      </p:sp>
      <p:sp>
        <p:nvSpPr>
          <p:cNvPr id="21" name="Rectángulo redondeado 5">
            <a:extLst>
              <a:ext uri="{FF2B5EF4-FFF2-40B4-BE49-F238E27FC236}">
                <a16:creationId xmlns:a16="http://schemas.microsoft.com/office/drawing/2014/main" id="{7B546456-006F-DE0B-F3B1-FECBC10884BD}"/>
              </a:ext>
            </a:extLst>
          </p:cNvPr>
          <p:cNvSpPr/>
          <p:nvPr/>
        </p:nvSpPr>
        <p:spPr>
          <a:xfrm>
            <a:off x="6405880" y="4822947"/>
            <a:ext cx="3010082" cy="87681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Se ingresa la información del grado académico a reflejar, destacando sobre todo los campos ‘Grado’, ‘Fecha’, ‘Año’ y ‘PGA’.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77A7B6F-F9AF-4E4F-3625-DFE6E9AC08A0}"/>
              </a:ext>
            </a:extLst>
          </p:cNvPr>
          <p:cNvSpPr/>
          <p:nvPr/>
        </p:nvSpPr>
        <p:spPr>
          <a:xfrm>
            <a:off x="10809126" y="5735168"/>
            <a:ext cx="708156" cy="34076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Rectángulo redondeado 9">
            <a:extLst>
              <a:ext uri="{FF2B5EF4-FFF2-40B4-BE49-F238E27FC236}">
                <a16:creationId xmlns:a16="http://schemas.microsoft.com/office/drawing/2014/main" id="{F7DBA9C7-C672-35CA-EC6B-34BF8F167BAC}"/>
              </a:ext>
            </a:extLst>
          </p:cNvPr>
          <p:cNvSpPr/>
          <p:nvPr/>
        </p:nvSpPr>
        <p:spPr>
          <a:xfrm>
            <a:off x="10288008" y="5796201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5</a:t>
            </a:r>
          </a:p>
        </p:txBody>
      </p:sp>
      <p:sp>
        <p:nvSpPr>
          <p:cNvPr id="24" name="Rectángulo redondeado 5">
            <a:extLst>
              <a:ext uri="{FF2B5EF4-FFF2-40B4-BE49-F238E27FC236}">
                <a16:creationId xmlns:a16="http://schemas.microsoft.com/office/drawing/2014/main" id="{1B274F3B-8196-E9DF-9B46-3DEA80136AD8}"/>
              </a:ext>
            </a:extLst>
          </p:cNvPr>
          <p:cNvSpPr/>
          <p:nvPr/>
        </p:nvSpPr>
        <p:spPr>
          <a:xfrm>
            <a:off x="10555724" y="5075079"/>
            <a:ext cx="1045126" cy="40256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Guardar información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DC9E387-C019-BCA2-4227-CDE018E7C85E}"/>
              </a:ext>
            </a:extLst>
          </p:cNvPr>
          <p:cNvSpPr/>
          <p:nvPr/>
        </p:nvSpPr>
        <p:spPr>
          <a:xfrm>
            <a:off x="1788860" y="5749544"/>
            <a:ext cx="426377" cy="363476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Rectángulo redondeado 9">
            <a:extLst>
              <a:ext uri="{FF2B5EF4-FFF2-40B4-BE49-F238E27FC236}">
                <a16:creationId xmlns:a16="http://schemas.microsoft.com/office/drawing/2014/main" id="{65337900-DB45-7A2B-FE3E-7E4A54EBCCCC}"/>
              </a:ext>
            </a:extLst>
          </p:cNvPr>
          <p:cNvSpPr/>
          <p:nvPr/>
        </p:nvSpPr>
        <p:spPr>
          <a:xfrm>
            <a:off x="2429393" y="5884926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6</a:t>
            </a:r>
          </a:p>
        </p:txBody>
      </p:sp>
      <p:sp>
        <p:nvSpPr>
          <p:cNvPr id="27" name="Rectángulo redondeado 5">
            <a:extLst>
              <a:ext uri="{FF2B5EF4-FFF2-40B4-BE49-F238E27FC236}">
                <a16:creationId xmlns:a16="http://schemas.microsoft.com/office/drawing/2014/main" id="{1BEC6CA1-91AF-91FD-CEF1-BC01E7A726D4}"/>
              </a:ext>
            </a:extLst>
          </p:cNvPr>
          <p:cNvSpPr/>
          <p:nvPr/>
        </p:nvSpPr>
        <p:spPr>
          <a:xfrm>
            <a:off x="2429393" y="6180400"/>
            <a:ext cx="1657691" cy="40968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Bloque siguiente</a:t>
            </a:r>
          </a:p>
        </p:txBody>
      </p:sp>
    </p:spTree>
    <p:extLst>
      <p:ext uri="{BB962C8B-B14F-4D97-AF65-F5344CB8AC3E}">
        <p14:creationId xmlns:p14="http://schemas.microsoft.com/office/powerpoint/2010/main" val="1829897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7D414ECE-DF5E-D9C0-B9DD-D94264770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174" y="1579640"/>
            <a:ext cx="10191924" cy="460177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Gestionar Información de Docentes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200" dirty="0"/>
              <a:t>SIAFDEG </a:t>
            </a:r>
            <a:r>
              <a:rPr lang="es-419" b="1" dirty="0">
                <a:effectLst/>
              </a:rPr>
              <a:t>Información de grado del docente 2/2 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21B2AEC-6F3F-C312-FDFE-A7BADCB38495}"/>
              </a:ext>
            </a:extLst>
          </p:cNvPr>
          <p:cNvSpPr/>
          <p:nvPr/>
        </p:nvSpPr>
        <p:spPr>
          <a:xfrm>
            <a:off x="1074174" y="2458108"/>
            <a:ext cx="10191924" cy="228384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1431A602-08CD-2655-BF17-E0C032F332B9}"/>
              </a:ext>
            </a:extLst>
          </p:cNvPr>
          <p:cNvSpPr/>
          <p:nvPr/>
        </p:nvSpPr>
        <p:spPr>
          <a:xfrm>
            <a:off x="609595" y="2853818"/>
            <a:ext cx="376513" cy="289862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7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4C54C62-6533-0CCE-4CF9-B2D028060BF2}"/>
              </a:ext>
            </a:extLst>
          </p:cNvPr>
          <p:cNvSpPr/>
          <p:nvPr/>
        </p:nvSpPr>
        <p:spPr>
          <a:xfrm>
            <a:off x="10478533" y="5849084"/>
            <a:ext cx="875631" cy="40642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redondeado 9">
            <a:extLst>
              <a:ext uri="{FF2B5EF4-FFF2-40B4-BE49-F238E27FC236}">
                <a16:creationId xmlns:a16="http://schemas.microsoft.com/office/drawing/2014/main" id="{BDDE9A84-C5E8-39B8-6D78-ADEA3D45E645}"/>
              </a:ext>
            </a:extLst>
          </p:cNvPr>
          <p:cNvSpPr/>
          <p:nvPr/>
        </p:nvSpPr>
        <p:spPr>
          <a:xfrm>
            <a:off x="9975885" y="5932044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9</a:t>
            </a:r>
          </a:p>
        </p:txBody>
      </p:sp>
      <p:sp>
        <p:nvSpPr>
          <p:cNvPr id="15" name="Rectángulo redondeado 5">
            <a:extLst>
              <a:ext uri="{FF2B5EF4-FFF2-40B4-BE49-F238E27FC236}">
                <a16:creationId xmlns:a16="http://schemas.microsoft.com/office/drawing/2014/main" id="{818E0EDC-5628-4F7B-FC31-5CAEED063E3A}"/>
              </a:ext>
            </a:extLst>
          </p:cNvPr>
          <p:cNvSpPr/>
          <p:nvPr/>
        </p:nvSpPr>
        <p:spPr>
          <a:xfrm>
            <a:off x="10256775" y="5258469"/>
            <a:ext cx="1224026" cy="40642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dirty="0"/>
              <a:t>Guardar información</a:t>
            </a:r>
          </a:p>
        </p:txBody>
      </p:sp>
      <p:sp>
        <p:nvSpPr>
          <p:cNvPr id="16" name="Rectángulo redondeado 5">
            <a:extLst>
              <a:ext uri="{FF2B5EF4-FFF2-40B4-BE49-F238E27FC236}">
                <a16:creationId xmlns:a16="http://schemas.microsoft.com/office/drawing/2014/main" id="{143CE158-CA97-AA3D-97BF-999CCF8E2D3A}"/>
              </a:ext>
            </a:extLst>
          </p:cNvPr>
          <p:cNvSpPr/>
          <p:nvPr/>
        </p:nvSpPr>
        <p:spPr>
          <a:xfrm>
            <a:off x="2100073" y="5278358"/>
            <a:ext cx="6240962" cy="69577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En esta sección se pueden registrar las Carreras, Especialidades o Concentraciones que pudiera tener el docente y que se encuentran configurada en Ellucian Student y que corresponde a lo configurado para los programas de la Institución. Está información no se llenará.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6EE9315-C759-D752-5C95-6C25DCE3B04F}"/>
              </a:ext>
            </a:extLst>
          </p:cNvPr>
          <p:cNvSpPr/>
          <p:nvPr/>
        </p:nvSpPr>
        <p:spPr>
          <a:xfrm>
            <a:off x="10412084" y="2458108"/>
            <a:ext cx="215660" cy="20752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CCE7492A-10B3-D7D1-F7EB-9E59D35017FB}"/>
              </a:ext>
            </a:extLst>
          </p:cNvPr>
          <p:cNvSpPr/>
          <p:nvPr/>
        </p:nvSpPr>
        <p:spPr>
          <a:xfrm>
            <a:off x="7648094" y="2539770"/>
            <a:ext cx="1743257" cy="542252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dirty="0"/>
              <a:t>Presionar el botón Insertar para crear un nuevo registro</a:t>
            </a:r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30C18476-2A1E-6713-F54C-E7A3B1AA092F}"/>
              </a:ext>
            </a:extLst>
          </p:cNvPr>
          <p:cNvSpPr/>
          <p:nvPr/>
        </p:nvSpPr>
        <p:spPr>
          <a:xfrm>
            <a:off x="9675713" y="2458108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8</a:t>
            </a:r>
          </a:p>
        </p:txBody>
      </p:sp>
      <p:sp>
        <p:nvSpPr>
          <p:cNvPr id="11" name="Rectángulo 1">
            <a:extLst>
              <a:ext uri="{FF2B5EF4-FFF2-40B4-BE49-F238E27FC236}">
                <a16:creationId xmlns:a16="http://schemas.microsoft.com/office/drawing/2014/main" id="{E35D0444-6B02-1B87-DB6D-3B4390EB14FC}"/>
              </a:ext>
            </a:extLst>
          </p:cNvPr>
          <p:cNvSpPr/>
          <p:nvPr/>
        </p:nvSpPr>
        <p:spPr>
          <a:xfrm>
            <a:off x="10412084" y="3405517"/>
            <a:ext cx="215660" cy="207525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">
            <a:extLst>
              <a:ext uri="{FF2B5EF4-FFF2-40B4-BE49-F238E27FC236}">
                <a16:creationId xmlns:a16="http://schemas.microsoft.com/office/drawing/2014/main" id="{D3420BF9-BDBA-6860-A753-A295B0D4E46D}"/>
              </a:ext>
            </a:extLst>
          </p:cNvPr>
          <p:cNvSpPr/>
          <p:nvPr/>
        </p:nvSpPr>
        <p:spPr>
          <a:xfrm>
            <a:off x="10412084" y="4073892"/>
            <a:ext cx="215660" cy="230689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6310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0A984DA-C8A2-401C-60C9-D60D7CCCA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830" y="1827214"/>
            <a:ext cx="9618453" cy="437385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119B94-A348-C305-3486-108809A697A8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ES" dirty="0"/>
              <a:t>Gestionar Información de Docentes</a:t>
            </a:r>
            <a:endParaRPr lang="en-US" dirty="0"/>
          </a:p>
          <a:p>
            <a:endParaRPr lang="es-E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E1DF1BA-4E86-DB8A-0B8A-8D8ACF509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0" dirty="0">
                <a:cs typeface="Arial"/>
              </a:rPr>
              <a:t>Configuraciones: </a:t>
            </a:r>
            <a:r>
              <a:rPr lang="es-ES" dirty="0">
                <a:cs typeface="Arial"/>
              </a:rPr>
              <a:t>SIAINST </a:t>
            </a:r>
            <a:r>
              <a:rPr lang="es-419" dirty="0">
                <a:cs typeface="Arial"/>
              </a:rPr>
              <a:t>Información de docente / Configuración de mantenimiento por periodo</a:t>
            </a:r>
            <a:endParaRPr lang="es-ES" dirty="0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42B4E861-BAAB-A529-29BE-16CFD9C3C987}"/>
              </a:ext>
            </a:extLst>
          </p:cNvPr>
          <p:cNvSpPr/>
          <p:nvPr/>
        </p:nvSpPr>
        <p:spPr>
          <a:xfrm>
            <a:off x="1413110" y="3266508"/>
            <a:ext cx="4337260" cy="77209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Se debe ingresar el ID del Docente a configurar, así como el Periodo desde el cual dicha configuración será vigente.</a:t>
            </a:r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C20C422A-B499-061A-E64B-15538F0A7B66}"/>
              </a:ext>
            </a:extLst>
          </p:cNvPr>
          <p:cNvSpPr/>
          <p:nvPr/>
        </p:nvSpPr>
        <p:spPr>
          <a:xfrm>
            <a:off x="9871386" y="2943489"/>
            <a:ext cx="1330220" cy="77209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Presionar el botón ‘Ir’</a:t>
            </a:r>
          </a:p>
        </p:txBody>
      </p:sp>
    </p:spTree>
    <p:extLst>
      <p:ext uri="{BB962C8B-B14F-4D97-AF65-F5344CB8AC3E}">
        <p14:creationId xmlns:p14="http://schemas.microsoft.com/office/powerpoint/2010/main" val="1019554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B0482F5-A82E-A2C3-F28A-634452310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44" y="1809118"/>
            <a:ext cx="9722518" cy="440733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F09D7C-421F-DDC4-6B35-3EA14A0144B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ES" dirty="0"/>
              <a:t>Gestionar Información de Docentes</a:t>
            </a:r>
            <a:endParaRPr lang="en-US" dirty="0"/>
          </a:p>
          <a:p>
            <a:endParaRPr lang="es-E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0242CB0A-5A34-F9AF-CDDD-70A9A8DF9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0" dirty="0">
                <a:cs typeface="Arial"/>
              </a:rPr>
              <a:t>Configuraciones: </a:t>
            </a:r>
            <a:r>
              <a:rPr lang="es-ES" dirty="0">
                <a:cs typeface="Arial"/>
              </a:rPr>
              <a:t>SIAINST </a:t>
            </a:r>
            <a:r>
              <a:rPr lang="es-419" dirty="0">
                <a:cs typeface="Arial"/>
              </a:rPr>
              <a:t>Información de docente / Configuración de mantenimiento por periodo</a:t>
            </a:r>
            <a:endParaRPr lang="es-ES" dirty="0"/>
          </a:p>
        </p:txBody>
      </p:sp>
      <p:sp>
        <p:nvSpPr>
          <p:cNvPr id="7" name="Rectángulo redondeado 5">
            <a:extLst>
              <a:ext uri="{FF2B5EF4-FFF2-40B4-BE49-F238E27FC236}">
                <a16:creationId xmlns:a16="http://schemas.microsoft.com/office/drawing/2014/main" id="{52B7D1A1-36F4-572A-B1E9-A6F4FC5D2C72}"/>
              </a:ext>
            </a:extLst>
          </p:cNvPr>
          <p:cNvSpPr/>
          <p:nvPr/>
        </p:nvSpPr>
        <p:spPr>
          <a:xfrm>
            <a:off x="5110069" y="2249109"/>
            <a:ext cx="2467157" cy="46723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100" dirty="0"/>
              <a:t>Se presiona el botón mantenimiento</a:t>
            </a:r>
            <a:endParaRPr lang="es-ES_tradnl" sz="1100" dirty="0">
              <a:cs typeface="Arial"/>
            </a:endParaRPr>
          </a:p>
        </p:txBody>
      </p:sp>
      <p:sp>
        <p:nvSpPr>
          <p:cNvPr id="9" name="Rectángulo redondeado 9">
            <a:extLst>
              <a:ext uri="{FF2B5EF4-FFF2-40B4-BE49-F238E27FC236}">
                <a16:creationId xmlns:a16="http://schemas.microsoft.com/office/drawing/2014/main" id="{3CA3D03C-BA96-5301-35BA-9DC90E60EC1E}"/>
              </a:ext>
            </a:extLst>
          </p:cNvPr>
          <p:cNvSpPr/>
          <p:nvPr/>
        </p:nvSpPr>
        <p:spPr>
          <a:xfrm>
            <a:off x="4646619" y="2853471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100" dirty="0"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83618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73F09-7E7E-80FA-931C-BCD9DA2A4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2233EC0-967F-E80B-F80A-FB0EE52C8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648" y="1794858"/>
            <a:ext cx="9736714" cy="437034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D6BA81-A3A5-52B9-5536-64EB7A5F1429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ES" dirty="0"/>
              <a:t>Gestionar Información de Docentes</a:t>
            </a:r>
            <a:endParaRPr lang="en-US" dirty="0"/>
          </a:p>
          <a:p>
            <a:endParaRPr lang="es-E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DAD99BF-5E78-7D3C-AFAC-D1118E078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0" dirty="0">
                <a:cs typeface="Arial"/>
              </a:rPr>
              <a:t>Configuraciones: </a:t>
            </a:r>
            <a:r>
              <a:rPr lang="es-ES" dirty="0">
                <a:cs typeface="Arial"/>
              </a:rPr>
              <a:t>SIAINST </a:t>
            </a:r>
            <a:r>
              <a:rPr lang="es-419" dirty="0">
                <a:cs typeface="Arial"/>
              </a:rPr>
              <a:t>Información de docente / Configuración de mantenimiento por periodo</a:t>
            </a:r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93C5222-3E86-4A23-E079-A8112364EE7E}"/>
              </a:ext>
            </a:extLst>
          </p:cNvPr>
          <p:cNvSpPr/>
          <p:nvPr/>
        </p:nvSpPr>
        <p:spPr>
          <a:xfrm>
            <a:off x="1370638" y="5801281"/>
            <a:ext cx="609603" cy="406427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 redondeado 9">
            <a:extLst>
              <a:ext uri="{FF2B5EF4-FFF2-40B4-BE49-F238E27FC236}">
                <a16:creationId xmlns:a16="http://schemas.microsoft.com/office/drawing/2014/main" id="{0F130F51-BF4E-7323-A626-E8F10B80D4BF}"/>
              </a:ext>
            </a:extLst>
          </p:cNvPr>
          <p:cNvSpPr/>
          <p:nvPr/>
        </p:nvSpPr>
        <p:spPr>
          <a:xfrm>
            <a:off x="2037790" y="5907704"/>
            <a:ext cx="360421" cy="218697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5" name="Rectángulo redondeado 5">
            <a:extLst>
              <a:ext uri="{FF2B5EF4-FFF2-40B4-BE49-F238E27FC236}">
                <a16:creationId xmlns:a16="http://schemas.microsoft.com/office/drawing/2014/main" id="{72CC839D-847D-1BD0-BFC5-DC797F46F664}"/>
              </a:ext>
            </a:extLst>
          </p:cNvPr>
          <p:cNvSpPr/>
          <p:nvPr/>
        </p:nvSpPr>
        <p:spPr>
          <a:xfrm>
            <a:off x="2037790" y="5366118"/>
            <a:ext cx="1657691" cy="409681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Bloque siguiente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566EB16-7BE5-0956-0860-82BB1E1FD1C1}"/>
              </a:ext>
            </a:extLst>
          </p:cNvPr>
          <p:cNvSpPr/>
          <p:nvPr/>
        </p:nvSpPr>
        <p:spPr>
          <a:xfrm>
            <a:off x="10268351" y="5834112"/>
            <a:ext cx="708156" cy="34076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Rectángulo redondeado 9">
            <a:extLst>
              <a:ext uri="{FF2B5EF4-FFF2-40B4-BE49-F238E27FC236}">
                <a16:creationId xmlns:a16="http://schemas.microsoft.com/office/drawing/2014/main" id="{924B51FE-F1AC-FFCD-F098-0DBE281F0E1C}"/>
              </a:ext>
            </a:extLst>
          </p:cNvPr>
          <p:cNvSpPr/>
          <p:nvPr/>
        </p:nvSpPr>
        <p:spPr>
          <a:xfrm>
            <a:off x="9656689" y="5909642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21" name="Rectángulo redondeado 5">
            <a:extLst>
              <a:ext uri="{FF2B5EF4-FFF2-40B4-BE49-F238E27FC236}">
                <a16:creationId xmlns:a16="http://schemas.microsoft.com/office/drawing/2014/main" id="{D30DECCA-CCEE-E390-C114-D8D8C99E320C}"/>
              </a:ext>
            </a:extLst>
          </p:cNvPr>
          <p:cNvSpPr/>
          <p:nvPr/>
        </p:nvSpPr>
        <p:spPr>
          <a:xfrm>
            <a:off x="10062226" y="5246340"/>
            <a:ext cx="1045126" cy="40256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Guardar información</a:t>
            </a:r>
          </a:p>
        </p:txBody>
      </p:sp>
      <p:sp>
        <p:nvSpPr>
          <p:cNvPr id="28" name="Rectángulo redondeado 5">
            <a:extLst>
              <a:ext uri="{FF2B5EF4-FFF2-40B4-BE49-F238E27FC236}">
                <a16:creationId xmlns:a16="http://schemas.microsoft.com/office/drawing/2014/main" id="{1278A44E-97DC-D9F1-3D19-4292FC1DA7CC}"/>
              </a:ext>
            </a:extLst>
          </p:cNvPr>
          <p:cNvSpPr/>
          <p:nvPr/>
        </p:nvSpPr>
        <p:spPr>
          <a:xfrm>
            <a:off x="3695481" y="3617566"/>
            <a:ext cx="2105207" cy="36246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100" dirty="0"/>
              <a:t>Se actualiza la información</a:t>
            </a:r>
            <a:endParaRPr lang="es-ES_tradnl" sz="11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198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FE6D192-B011-3699-C8DC-9FD864D29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909" y="1731514"/>
            <a:ext cx="9869505" cy="443973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E0B7C3-25F0-9B95-1F5B-C064E1919644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ES" dirty="0"/>
              <a:t>Gestionar Información de Docentes</a:t>
            </a:r>
            <a:endParaRPr lang="en-US" dirty="0"/>
          </a:p>
          <a:p>
            <a:endParaRPr lang="es-E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365B6EA-389C-2978-55F4-D04A66599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0" dirty="0">
                <a:cs typeface="Arial"/>
              </a:rPr>
              <a:t>Configuraciones: </a:t>
            </a:r>
            <a:r>
              <a:rPr lang="es-ES" dirty="0">
                <a:cs typeface="Arial"/>
              </a:rPr>
              <a:t>SIAINST </a:t>
            </a:r>
            <a:r>
              <a:rPr lang="es-419" dirty="0">
                <a:cs typeface="Arial"/>
              </a:rPr>
              <a:t>Información de docente / Configuración de mantenimiento por periodo</a:t>
            </a:r>
            <a:endParaRPr lang="es-ES" dirty="0"/>
          </a:p>
        </p:txBody>
      </p:sp>
      <p:sp>
        <p:nvSpPr>
          <p:cNvPr id="8" name="Rectángulo redondeado 5">
            <a:extLst>
              <a:ext uri="{FF2B5EF4-FFF2-40B4-BE49-F238E27FC236}">
                <a16:creationId xmlns:a16="http://schemas.microsoft.com/office/drawing/2014/main" id="{36755406-60E5-4FF1-5417-62F30A72592C}"/>
              </a:ext>
            </a:extLst>
          </p:cNvPr>
          <p:cNvSpPr/>
          <p:nvPr/>
        </p:nvSpPr>
        <p:spPr>
          <a:xfrm>
            <a:off x="2467673" y="5177531"/>
            <a:ext cx="2181407" cy="58153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_tradnl" sz="1100" dirty="0"/>
              <a:t>Se ingresa la información de mantenimiento</a:t>
            </a:r>
            <a:endParaRPr lang="es-ES_tradnl" sz="1100" dirty="0">
              <a:cs typeface="Arial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2A430E7-BA64-92EF-DD2E-D3985DE3A8F0}"/>
              </a:ext>
            </a:extLst>
          </p:cNvPr>
          <p:cNvSpPr/>
          <p:nvPr/>
        </p:nvSpPr>
        <p:spPr>
          <a:xfrm>
            <a:off x="1175968" y="3443125"/>
            <a:ext cx="9702800" cy="1504862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BFF535F-CAC4-40B5-6002-74DB86F274E5}"/>
              </a:ext>
            </a:extLst>
          </p:cNvPr>
          <p:cNvSpPr/>
          <p:nvPr/>
        </p:nvSpPr>
        <p:spPr>
          <a:xfrm>
            <a:off x="10593199" y="5830480"/>
            <a:ext cx="708156" cy="34076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 redondeado 9">
            <a:extLst>
              <a:ext uri="{FF2B5EF4-FFF2-40B4-BE49-F238E27FC236}">
                <a16:creationId xmlns:a16="http://schemas.microsoft.com/office/drawing/2014/main" id="{77C8E478-D4CF-735B-68A0-921DEFD071DB}"/>
              </a:ext>
            </a:extLst>
          </p:cNvPr>
          <p:cNvSpPr/>
          <p:nvPr/>
        </p:nvSpPr>
        <p:spPr>
          <a:xfrm>
            <a:off x="9995446" y="5855808"/>
            <a:ext cx="360421" cy="21869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8" name="Rectángulo redondeado 5">
            <a:extLst>
              <a:ext uri="{FF2B5EF4-FFF2-40B4-BE49-F238E27FC236}">
                <a16:creationId xmlns:a16="http://schemas.microsoft.com/office/drawing/2014/main" id="{0BB7B343-E83A-6319-3D46-A8FE878BBEB3}"/>
              </a:ext>
            </a:extLst>
          </p:cNvPr>
          <p:cNvSpPr/>
          <p:nvPr/>
        </p:nvSpPr>
        <p:spPr>
          <a:xfrm>
            <a:off x="10175657" y="5356506"/>
            <a:ext cx="1045126" cy="40256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Guardar información</a:t>
            </a:r>
          </a:p>
        </p:txBody>
      </p:sp>
    </p:spTree>
    <p:extLst>
      <p:ext uri="{BB962C8B-B14F-4D97-AF65-F5344CB8AC3E}">
        <p14:creationId xmlns:p14="http://schemas.microsoft.com/office/powerpoint/2010/main" val="4744326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01F37-B70B-E910-0106-E7E833863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504B38D-FBA3-56BD-9422-B56FF06FD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661" y="1266137"/>
            <a:ext cx="10271883" cy="4605745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3047025A-86B6-60C4-4D9C-D25233F9E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53" y="154079"/>
            <a:ext cx="10271883" cy="626165"/>
          </a:xfrm>
        </p:spPr>
        <p:txBody>
          <a:bodyPr/>
          <a:lstStyle/>
          <a:p>
            <a:r>
              <a:rPr lang="es-ES_tradnl" sz="3600" b="0" dirty="0"/>
              <a:t>Configuraciones: </a:t>
            </a:r>
            <a:r>
              <a:rPr lang="es-419" sz="3600" dirty="0"/>
              <a:t>STVWKLD Validación de código de reglas de carga de trabajo del periodo</a:t>
            </a:r>
            <a:endParaRPr lang="es-CL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8EC140F6-BCCB-63F2-6C9C-0A7C4E0FDF8D}"/>
              </a:ext>
            </a:extLst>
          </p:cNvPr>
          <p:cNvSpPr/>
          <p:nvPr/>
        </p:nvSpPr>
        <p:spPr>
          <a:xfrm>
            <a:off x="810247" y="4408955"/>
            <a:ext cx="10960413" cy="146292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400" dirty="0"/>
              <a:t>Se debe definir un código y una descripción que identifique el código del tipo de personal docente que se utilizará en la página de SIAINST. 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Presione la opción Insertar (+)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el código: campo de 6 caracteres. Campo obligatorio.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Ingrese la Descripción del código. Campo de 30 caracteres. Campo obligatorio.</a:t>
            </a:r>
          </a:p>
          <a:p>
            <a:pPr marL="342900" indent="-342900">
              <a:buFont typeface="+mj-lt"/>
              <a:buAutoNum type="arabicPeriod"/>
            </a:pPr>
            <a:r>
              <a:rPr lang="es-419" sz="1400" dirty="0"/>
              <a:t>Guarde los datos.</a:t>
            </a:r>
          </a:p>
          <a:p>
            <a:endParaRPr lang="es-419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C4F5B396-5A98-79FB-9D4A-BA263E39BC1A}"/>
              </a:ext>
            </a:extLst>
          </p:cNvPr>
          <p:cNvSpPr/>
          <p:nvPr/>
        </p:nvSpPr>
        <p:spPr>
          <a:xfrm>
            <a:off x="10096264" y="1846574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4EB70E47-AFF6-80C9-953D-57D82820434E}"/>
              </a:ext>
            </a:extLst>
          </p:cNvPr>
          <p:cNvSpPr/>
          <p:nvPr/>
        </p:nvSpPr>
        <p:spPr>
          <a:xfrm>
            <a:off x="710028" y="2594405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15">
            <a:extLst>
              <a:ext uri="{FF2B5EF4-FFF2-40B4-BE49-F238E27FC236}">
                <a16:creationId xmlns:a16="http://schemas.microsoft.com/office/drawing/2014/main" id="{45060054-B0A3-D926-B154-0EC583532255}"/>
              </a:ext>
            </a:extLst>
          </p:cNvPr>
          <p:cNvSpPr/>
          <p:nvPr/>
        </p:nvSpPr>
        <p:spPr>
          <a:xfrm>
            <a:off x="5562416" y="2581924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sp>
        <p:nvSpPr>
          <p:cNvPr id="12" name="Rectángulo redondeado 15">
            <a:extLst>
              <a:ext uri="{FF2B5EF4-FFF2-40B4-BE49-F238E27FC236}">
                <a16:creationId xmlns:a16="http://schemas.microsoft.com/office/drawing/2014/main" id="{B2FFD739-7741-2001-7B31-7A07E840D714}"/>
              </a:ext>
            </a:extLst>
          </p:cNvPr>
          <p:cNvSpPr/>
          <p:nvPr/>
        </p:nvSpPr>
        <p:spPr>
          <a:xfrm>
            <a:off x="10495162" y="6021725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2F58426-6FF2-2B17-7DE5-21E155815CC2}"/>
              </a:ext>
            </a:extLst>
          </p:cNvPr>
          <p:cNvSpPr/>
          <p:nvPr/>
        </p:nvSpPr>
        <p:spPr>
          <a:xfrm>
            <a:off x="10456412" y="1922188"/>
            <a:ext cx="234824" cy="151010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2AD2255-C8A5-F70D-38F0-DD67384FB548}"/>
              </a:ext>
            </a:extLst>
          </p:cNvPr>
          <p:cNvSpPr/>
          <p:nvPr/>
        </p:nvSpPr>
        <p:spPr>
          <a:xfrm>
            <a:off x="3492436" y="2611150"/>
            <a:ext cx="1922544" cy="151011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9B9E19B-19DA-49AE-E407-392FDCEC0841}"/>
              </a:ext>
            </a:extLst>
          </p:cNvPr>
          <p:cNvSpPr/>
          <p:nvPr/>
        </p:nvSpPr>
        <p:spPr>
          <a:xfrm>
            <a:off x="969167" y="2594405"/>
            <a:ext cx="700070" cy="15928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144AD94-BE27-9427-57F9-F5ADB631A8FC}"/>
              </a:ext>
            </a:extLst>
          </p:cNvPr>
          <p:cNvSpPr/>
          <p:nvPr/>
        </p:nvSpPr>
        <p:spPr>
          <a:xfrm>
            <a:off x="10832681" y="5989191"/>
            <a:ext cx="439863" cy="211944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62189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Gestionar Información de Docentes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27" y="258335"/>
            <a:ext cx="7092820" cy="1628192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636CD3-9D55-E7D6-7F08-EB5DED1D2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827" y="2008765"/>
            <a:ext cx="9720118" cy="4022580"/>
          </a:xfrm>
        </p:spPr>
        <p:txBody>
          <a:bodyPr/>
          <a:lstStyle/>
          <a:p>
            <a:pPr marL="0" indent="0">
              <a:buNone/>
            </a:pPr>
            <a:r>
              <a:rPr lang="es-419" sz="2000" dirty="0"/>
              <a:t>Gestionar la Información Docente: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Previamente, el profesor debe existir como persona en SPAIDEN, donde también podemos modificar datos personales de éste.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En SIAINST activamos a una persona como profesor desde un período determinado e ingresamos información referente a su categoría, tipo de personal, contrato, regla de contrato, escuela, atributos, etc.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En SIAFDEG podemos registrar información de grados obtenidos.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856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084689-227B-A2E5-EA69-DF2CD64C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MUCHAS GRACIAS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EF50E-22E9-2C0A-4970-41D2FFEB26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Consultor</a:t>
            </a:r>
          </a:p>
          <a:p>
            <a:r>
              <a:rPr lang="es-419" dirty="0"/>
              <a:t>Correo@ellucian.com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490" y="3652538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3543" y="4028176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96057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" id="{8E342B2F-0662-4103-A2D9-0955199F3085}" vid="{C5F4BFEF-EBA5-4449-9DDB-9D044EAA59E9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" id="{8E342B2F-0662-4103-A2D9-0955199F3085}" vid="{D5A50C3E-685D-4ADD-B93A-1035FFFC57E2}"/>
    </a:ext>
  </a:extLst>
</a:theme>
</file>

<file path=ppt/theme/theme3.xml><?xml version="1.0" encoding="utf-8"?>
<a:theme xmlns:a="http://schemas.openxmlformats.org/drawingml/2006/main" name="1_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1_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NUEVO TEMPLATE</Template>
  <TotalTime>5815</TotalTime>
  <Words>1284</Words>
  <Application>Microsoft Office PowerPoint</Application>
  <PresentationFormat>Panorámica</PresentationFormat>
  <Paragraphs>204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30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 Main Layouts</vt:lpstr>
      <vt:lpstr>Ellucian Blank Layouts</vt:lpstr>
      <vt:lpstr>1_Ellucian Main Layouts</vt:lpstr>
      <vt:lpstr>1_Ellucian Blank Layouts</vt:lpstr>
      <vt:lpstr>Gestionar Información de Docentes</vt:lpstr>
      <vt:lpstr>Presentación de PowerPoint</vt:lpstr>
      <vt:lpstr>Overview</vt:lpstr>
      <vt:lpstr>Overview: Mapa de capacidades</vt:lpstr>
      <vt:lpstr>Overview: Capacidad de Gestionar Profesores</vt:lpstr>
      <vt:lpstr>Overview: Proceso gestionar la información de docente </vt:lpstr>
      <vt:lpstr>Presentación de PowerPoint</vt:lpstr>
      <vt:lpstr>Presentación de PowerPoint</vt:lpstr>
      <vt:lpstr>CONFIGURACIONES</vt:lpstr>
      <vt:lpstr>Configuraciones: STVFCST Validación Código de Status de Docente</vt:lpstr>
      <vt:lpstr>Configuraciones: STVFSTP Validación de código de tipo de personal docente</vt:lpstr>
      <vt:lpstr>Configuraciones: STVFCNT Validación de código de contrato de docente</vt:lpstr>
      <vt:lpstr>Configuración: Validación de reglas de contrato STVCNTR</vt:lpstr>
      <vt:lpstr>Configuración: Validación de reglas de contrato STVCNTR</vt:lpstr>
      <vt:lpstr>INFORMACIÓN DE DOCENTES</vt:lpstr>
      <vt:lpstr>Premisa: SPAIDEN Identificación de general de personas </vt:lpstr>
      <vt:lpstr>Configuraciones: SIAINST Información de docente / asesor </vt:lpstr>
      <vt:lpstr>Configuraciones: SIAINST Información de docente / asesor 1/3 </vt:lpstr>
      <vt:lpstr>Configuraciones: SIAINST Información de docente / asesor 2/3 </vt:lpstr>
      <vt:lpstr>Configuraciones: SIAINST Información de docente / asesor 3/3 </vt:lpstr>
      <vt:lpstr>Configuraciones: SIAFDEG Información de grado del docente  </vt:lpstr>
      <vt:lpstr>Configuraciones: SIAFDEG Información de grado del docente 1/2 </vt:lpstr>
      <vt:lpstr>Configuraciones: SIAFDEG Información de grado del docente 2/2  </vt:lpstr>
      <vt:lpstr>Configuraciones: SIAINST Información de docente / Configuración de mantenimiento por periodo</vt:lpstr>
      <vt:lpstr>Configuraciones: SIAINST Información de docente / Configuración de mantenimiento por periodo</vt:lpstr>
      <vt:lpstr>Configuraciones: SIAINST Información de docente / Configuración de mantenimiento por periodo</vt:lpstr>
      <vt:lpstr>Configuraciones: SIAINST Información de docente / Configuración de mantenimiento por periodo</vt:lpstr>
      <vt:lpstr>Configuraciones: STVWKLD Validación de código de reglas de carga de trabajo del periodo</vt:lpstr>
      <vt:lpstr>RESUMEN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Beltran, Nidia</cp:lastModifiedBy>
  <cp:revision>331</cp:revision>
  <dcterms:created xsi:type="dcterms:W3CDTF">2023-07-17T20:07:38Z</dcterms:created>
  <dcterms:modified xsi:type="dcterms:W3CDTF">2026-07-01T13:30:20Z</dcterms:modified>
</cp:coreProperties>
</file>
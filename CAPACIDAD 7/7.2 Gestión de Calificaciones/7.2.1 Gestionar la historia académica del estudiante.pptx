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52"/>
  </p:notesMasterIdLst>
  <p:handoutMasterIdLst>
    <p:handoutMasterId r:id="rId53"/>
  </p:handoutMasterIdLst>
  <p:sldIdLst>
    <p:sldId id="257" r:id="rId3"/>
    <p:sldId id="423" r:id="rId4"/>
    <p:sldId id="476" r:id="rId5"/>
    <p:sldId id="523" r:id="rId6"/>
    <p:sldId id="349" r:id="rId7"/>
    <p:sldId id="421" r:id="rId8"/>
    <p:sldId id="352" r:id="rId9"/>
    <p:sldId id="478" r:id="rId10"/>
    <p:sldId id="469" r:id="rId11"/>
    <p:sldId id="355" r:id="rId12"/>
    <p:sldId id="539" r:id="rId13"/>
    <p:sldId id="542" r:id="rId14"/>
    <p:sldId id="590" r:id="rId15"/>
    <p:sldId id="591" r:id="rId16"/>
    <p:sldId id="592" r:id="rId17"/>
    <p:sldId id="593" r:id="rId18"/>
    <p:sldId id="594" r:id="rId19"/>
    <p:sldId id="595" r:id="rId20"/>
    <p:sldId id="596" r:id="rId21"/>
    <p:sldId id="597" r:id="rId22"/>
    <p:sldId id="598" r:id="rId23"/>
    <p:sldId id="543" r:id="rId24"/>
    <p:sldId id="563" r:id="rId25"/>
    <p:sldId id="565" r:id="rId26"/>
    <p:sldId id="548" r:id="rId27"/>
    <p:sldId id="546" r:id="rId28"/>
    <p:sldId id="550" r:id="rId29"/>
    <p:sldId id="564" r:id="rId30"/>
    <p:sldId id="545" r:id="rId31"/>
    <p:sldId id="544" r:id="rId32"/>
    <p:sldId id="567" r:id="rId33"/>
    <p:sldId id="551" r:id="rId34"/>
    <p:sldId id="568" r:id="rId35"/>
    <p:sldId id="569" r:id="rId36"/>
    <p:sldId id="570" r:id="rId37"/>
    <p:sldId id="572" r:id="rId38"/>
    <p:sldId id="573" r:id="rId39"/>
    <p:sldId id="574" r:id="rId40"/>
    <p:sldId id="576" r:id="rId41"/>
    <p:sldId id="588" r:id="rId42"/>
    <p:sldId id="579" r:id="rId43"/>
    <p:sldId id="584" r:id="rId44"/>
    <p:sldId id="503" r:id="rId45"/>
    <p:sldId id="534" r:id="rId46"/>
    <p:sldId id="583" r:id="rId47"/>
    <p:sldId id="582" r:id="rId48"/>
    <p:sldId id="345" r:id="rId49"/>
    <p:sldId id="589" r:id="rId50"/>
    <p:sldId id="50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notesViewPr>
    <p:cSldViewPr snapToGrid="0">
      <p:cViewPr varScale="1">
        <p:scale>
          <a:sx n="45" d="100"/>
          <a:sy n="45" d="100"/>
        </p:scale>
        <p:origin x="2760"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microsoft.com/office/2018/10/relationships/authors" Target="author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BC0C496-3440-5618-0F13-C32832963E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a:extLst>
              <a:ext uri="{FF2B5EF4-FFF2-40B4-BE49-F238E27FC236}">
                <a16:creationId xmlns:a16="http://schemas.microsoft.com/office/drawing/2014/main" id="{96AE0057-A434-7F07-22F4-B8BC548C7C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2207BA-8494-4C90-AD81-AAD75B4E7FC6}" type="datetimeFigureOut">
              <a:rPr lang="es-419" smtClean="0"/>
              <a:t>4/6/2026</a:t>
            </a:fld>
            <a:endParaRPr lang="es-419"/>
          </a:p>
        </p:txBody>
      </p:sp>
      <p:sp>
        <p:nvSpPr>
          <p:cNvPr id="4" name="Marcador de pie de página 3">
            <a:extLst>
              <a:ext uri="{FF2B5EF4-FFF2-40B4-BE49-F238E27FC236}">
                <a16:creationId xmlns:a16="http://schemas.microsoft.com/office/drawing/2014/main" id="{B89391D1-58D0-1D65-3F09-F7F93731AB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5" name="Marcador de número de diapositiva 4">
            <a:extLst>
              <a:ext uri="{FF2B5EF4-FFF2-40B4-BE49-F238E27FC236}">
                <a16:creationId xmlns:a16="http://schemas.microsoft.com/office/drawing/2014/main" id="{907E30BD-9F7E-CFF4-0F33-66989C76A0B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38F0AC-F895-4C9C-97DA-F729F1D471B3}" type="slidenum">
              <a:rPr lang="es-419" smtClean="0"/>
              <a:t>‹Nº›</a:t>
            </a:fld>
            <a:endParaRPr lang="es-419"/>
          </a:p>
        </p:txBody>
      </p:sp>
    </p:spTree>
    <p:extLst>
      <p:ext uri="{BB962C8B-B14F-4D97-AF65-F5344CB8AC3E}">
        <p14:creationId xmlns:p14="http://schemas.microsoft.com/office/powerpoint/2010/main" val="2143041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04-06-2026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09836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19202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5280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20155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70689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86073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51026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01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724874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61679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15374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870963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920991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569472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364836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098141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19601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896324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213341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303064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16037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6931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54750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764920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4168426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147303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337098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161573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17715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827523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218791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907568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44960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04-06-2026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4824396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75955728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
        <p:nvSpPr>
          <p:cNvPr id="3" name="Rectángulo 2">
            <a:extLst>
              <a:ext uri="{FF2B5EF4-FFF2-40B4-BE49-F238E27FC236}">
                <a16:creationId xmlns:a16="http://schemas.microsoft.com/office/drawing/2014/main" id="{4706DD96-4189-7275-C955-B3B73E83C16E}"/>
              </a:ext>
            </a:extLst>
          </p:cNvPr>
          <p:cNvSpPr/>
          <p:nvPr userDrawn="1"/>
        </p:nvSpPr>
        <p:spPr>
          <a:xfrm>
            <a:off x="9280634" y="6505903"/>
            <a:ext cx="2259725" cy="2155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FE6BD33F-9BFB-B0D0-064B-7AE14E9A3829}"/>
              </a:ext>
            </a:extLst>
          </p:cNvPr>
          <p:cNvSpPr txBox="1"/>
          <p:nvPr userDrawn="1"/>
        </p:nvSpPr>
        <p:spPr>
          <a:xfrm>
            <a:off x="7077740" y="6505903"/>
            <a:ext cx="4649972" cy="246221"/>
          </a:xfrm>
          <a:prstGeom prst="rect">
            <a:avLst/>
          </a:prstGeom>
          <a:noFill/>
        </p:spPr>
        <p:txBody>
          <a:bodyPr wrap="square">
            <a:spAutoFit/>
          </a:bodyPr>
          <a:lstStyle/>
          <a:p>
            <a:pPr algn="r"/>
            <a:r>
              <a:rPr lang="en-US" sz="1000" dirty="0">
                <a:solidFill>
                  <a:schemeClr val="tx1"/>
                </a:solidFill>
              </a:rPr>
              <a:t>©2026 Ellucian. Confidential and Proprietary</a:t>
            </a:r>
          </a:p>
        </p:txBody>
      </p:sp>
    </p:spTree>
    <p:extLst>
      <p:ext uri="{BB962C8B-B14F-4D97-AF65-F5344CB8AC3E}">
        <p14:creationId xmlns:p14="http://schemas.microsoft.com/office/powerpoint/2010/main" val="111925849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604869C0-E1F5-9857-C81E-D5F38AD0971B}"/>
              </a:ext>
            </a:extLst>
          </p:cNvPr>
          <p:cNvSpPr/>
          <p:nvPr userDrawn="1"/>
        </p:nvSpPr>
        <p:spPr>
          <a:xfrm>
            <a:off x="9259614" y="6516414"/>
            <a:ext cx="2322783" cy="2050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 name="CuadroTexto 5">
            <a:extLst>
              <a:ext uri="{FF2B5EF4-FFF2-40B4-BE49-F238E27FC236}">
                <a16:creationId xmlns:a16="http://schemas.microsoft.com/office/drawing/2014/main" id="{E59E08F9-51F0-9F4C-CA73-584A7C96459F}"/>
              </a:ext>
            </a:extLst>
          </p:cNvPr>
          <p:cNvSpPr txBox="1"/>
          <p:nvPr userDrawn="1"/>
        </p:nvSpPr>
        <p:spPr>
          <a:xfrm>
            <a:off x="9053392" y="6516414"/>
            <a:ext cx="2735225" cy="246221"/>
          </a:xfrm>
          <a:prstGeom prst="rect">
            <a:avLst/>
          </a:prstGeom>
          <a:noFill/>
        </p:spPr>
        <p:txBody>
          <a:bodyPr wrap="square">
            <a:spAutoFit/>
          </a:bodyPr>
          <a:lstStyle/>
          <a:p>
            <a:pPr algn="r"/>
            <a:r>
              <a:rPr lang="en-US" sz="1000" dirty="0">
                <a:solidFill>
                  <a:schemeClr val="tx1"/>
                </a:solidFill>
              </a:rPr>
              <a:t>©2026 Ellucian. Confidential and Proprietary</a:t>
            </a:r>
          </a:p>
        </p:txBody>
      </p:sp>
    </p:spTree>
    <p:extLst>
      <p:ext uri="{BB962C8B-B14F-4D97-AF65-F5344CB8AC3E}">
        <p14:creationId xmlns:p14="http://schemas.microsoft.com/office/powerpoint/2010/main" val="113824178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749331377"/>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555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962811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628258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385391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696993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495870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668132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313954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037189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516726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3382680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523360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8919917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152020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277523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45259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205567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66035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0179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8357933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19091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7.xml"/><Relationship Id="rId4" Type="http://schemas.openxmlformats.org/officeDocument/2006/relationships/image" Target="../media/image32.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5.xml"/><Relationship Id="rId5" Type="http://schemas.openxmlformats.org/officeDocument/2006/relationships/image" Target="../media/image36.sv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832105"/>
          </a:xfrm>
        </p:spPr>
        <p:txBody>
          <a:bodyPr/>
          <a:lstStyle/>
          <a:p>
            <a:r>
              <a:rPr lang="es-419" sz="4400" dirty="0"/>
              <a:t>Gestionar la historia académica del estudiante</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CL" dirty="0"/>
              <a:t>Consultor</a:t>
            </a:r>
          </a:p>
          <a:p>
            <a:r>
              <a:rPr lang="es-CL" dirty="0"/>
              <a:t>Cargo</a:t>
            </a:r>
          </a:p>
        </p:txBody>
      </p:sp>
      <p:sp>
        <p:nvSpPr>
          <p:cNvPr id="6" name="Marcador de texto 5">
            <a:extLst>
              <a:ext uri="{FF2B5EF4-FFF2-40B4-BE49-F238E27FC236}">
                <a16:creationId xmlns:a16="http://schemas.microsoft.com/office/drawing/2014/main" id="{BC06B802-3734-F0B3-D303-6A8829AFF0B3}"/>
              </a:ext>
            </a:extLst>
          </p:cNvPr>
          <p:cNvSpPr>
            <a:spLocks noGrp="1"/>
          </p:cNvSpPr>
          <p:nvPr>
            <p:ph type="body" sz="quarter" idx="13"/>
          </p:nvPr>
        </p:nvSpPr>
        <p:spPr/>
        <p:txBody>
          <a:bodyPr/>
          <a:lstStyle/>
          <a:p>
            <a:r>
              <a:rPr lang="es-419" dirty="0"/>
              <a:t>Mes, Año</a:t>
            </a:r>
          </a:p>
        </p:txBody>
      </p:sp>
      <p:pic>
        <p:nvPicPr>
          <p:cNvPr id="9" name="Marcador de posición de imagen 8" descr="Un grupo de folletos sobre una mesa de madera&#10;&#10;El contenido generado por IA puede ser incorrecto.">
            <a:extLst>
              <a:ext uri="{FF2B5EF4-FFF2-40B4-BE49-F238E27FC236}">
                <a16:creationId xmlns:a16="http://schemas.microsoft.com/office/drawing/2014/main" id="{02BBCCBC-F74B-5D85-0F56-084E17BA6408}"/>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historia académica del estudiante</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3799787921"/>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Gestionar la historia académica del estudiante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historia académica del estudiante</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5398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2619375"/>
            <a:ext cx="1713931" cy="6468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584355"/>
            <a:ext cx="9698935" cy="2732464"/>
          </a:xfrm>
        </p:spPr>
        <p:txBody>
          <a:bodyPr anchor="ctr"/>
          <a:lstStyle/>
          <a:p>
            <a:pPr marL="285750" lvl="0" indent="-285750">
              <a:buClr>
                <a:srgbClr val="0CB4B4"/>
              </a:buClr>
              <a:buFont typeface="Wingdings" panose="05000000000000000000" pitchFamily="2" charset="2"/>
              <a:buChar char="q"/>
            </a:pPr>
            <a:r>
              <a:rPr lang="es-419" sz="2000" dirty="0">
                <a:solidFill>
                  <a:srgbClr val="7030A0"/>
                </a:solidFill>
              </a:rPr>
              <a:t>Tiene como propósito administrar el proceso de inscripción y retiro de las asignaturas que los estudiantes cursarían para un periodo académico, utilizando los modelos de inscripción y sus características como lo fuera la inscripción básica, estructurada o proyectada, así como la gestión de turnos, inscripción por bloques, listas de esperas, sobrepasos, entre otros.</a:t>
            </a:r>
            <a:endParaRPr lang="es-CO" sz="20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accent1"/>
                </a:solidFill>
              </a:rPr>
              <a:t>Overview: </a:t>
            </a:r>
            <a:r>
              <a:rPr lang="es-ES_tradnl" b="0" dirty="0">
                <a:solidFill>
                  <a:schemeClr val="accent1"/>
                </a:solidFill>
              </a:rPr>
              <a:t>Macroproceso </a:t>
            </a:r>
            <a:r>
              <a:rPr lang="es-419" b="0" dirty="0">
                <a:solidFill>
                  <a:schemeClr val="accent1"/>
                </a:solidFill>
              </a:rPr>
              <a:t>Gestionar la inscripción de cursos</a:t>
            </a:r>
            <a:endParaRPr lang="es-CL" b="0" dirty="0">
              <a:solidFill>
                <a:schemeClr val="accent1"/>
              </a:solidFill>
            </a:endParaRP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419" b="0" dirty="0">
                <a:solidFill>
                  <a:schemeClr val="accent1"/>
                </a:solidFill>
              </a:rPr>
              <a:t>Gestionar la historia académica del estudiante</a:t>
            </a:r>
          </a:p>
        </p:txBody>
      </p:sp>
      <p:pic>
        <p:nvPicPr>
          <p:cNvPr id="1026" name="Picture 2">
            <a:extLst>
              <a:ext uri="{FF2B5EF4-FFF2-40B4-BE49-F238E27FC236}">
                <a16:creationId xmlns:a16="http://schemas.microsoft.com/office/drawing/2014/main" id="{73D7D3E4-3E76-7972-FA5B-C6442620C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52388"/>
            <a:ext cx="10668000" cy="3553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9" name="CuadroTexto 8">
            <a:extLst>
              <a:ext uri="{FF2B5EF4-FFF2-40B4-BE49-F238E27FC236}">
                <a16:creationId xmlns:a16="http://schemas.microsoft.com/office/drawing/2014/main" id="{CDA0D89D-33DC-4151-D805-A43C6E21B822}"/>
              </a:ext>
            </a:extLst>
          </p:cNvPr>
          <p:cNvSpPr txBox="1"/>
          <p:nvPr/>
        </p:nvSpPr>
        <p:spPr>
          <a:xfrm>
            <a:off x="8507303" y="2844224"/>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Macroproceso </a:t>
            </a:r>
            <a:r>
              <a:rPr lang="es-419" b="0" dirty="0">
                <a:solidFill>
                  <a:schemeClr val="accent1"/>
                </a:solidFill>
              </a:rPr>
              <a:t>Gestionar la inscripción de cursos – Avance Académico</a:t>
            </a:r>
            <a:endParaRPr lang="es-CL" b="0" dirty="0">
              <a:solidFill>
                <a:schemeClr val="accent1"/>
              </a:solidFill>
            </a:endParaRPr>
          </a:p>
        </p:txBody>
      </p:sp>
      <p:pic>
        <p:nvPicPr>
          <p:cNvPr id="2" name="Picture 9" descr="A purple map of south america&#10;&#10;AI-generated content may be incorrect.">
            <a:extLst>
              <a:ext uri="{FF2B5EF4-FFF2-40B4-BE49-F238E27FC236}">
                <a16:creationId xmlns:a16="http://schemas.microsoft.com/office/drawing/2014/main" id="{EB87CF18-3EC7-BC9F-AACC-C0E628F7B68F}"/>
              </a:ext>
            </a:extLst>
          </p:cNvPr>
          <p:cNvPicPr>
            <a:picLocks noChangeAspect="1"/>
          </p:cNvPicPr>
          <p:nvPr/>
        </p:nvPicPr>
        <p:blipFill>
          <a:blip r:embed="rId2"/>
          <a:stretch>
            <a:fillRect/>
          </a:stretch>
        </p:blipFill>
        <p:spPr>
          <a:xfrm>
            <a:off x="2628959" y="1312731"/>
            <a:ext cx="5219641" cy="5219641"/>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419" sz="2000" dirty="0">
                <a:solidFill>
                  <a:srgbClr val="7030A0"/>
                </a:solidFill>
              </a:rPr>
              <a:t>Administrar los requerimientos académicos que impliquen una modificación extraordinaria a las calificaciones, en especial cuando ya se encuentre vencido el periodo de ajustes por parte del docente.</a:t>
            </a:r>
          </a:p>
          <a:p>
            <a:pPr marL="285750" indent="-285750" algn="just">
              <a:buClr>
                <a:srgbClr val="0CB4B4"/>
              </a:buClr>
              <a:buFont typeface="Wingdings" panose="05000000000000000000" pitchFamily="2" charset="2"/>
              <a:buChar char="q"/>
            </a:pPr>
            <a:endParaRPr lang="es-419" sz="2000" dirty="0">
              <a:solidFill>
                <a:srgbClr val="7030A0"/>
              </a:solidFill>
            </a:endParaRPr>
          </a:p>
          <a:p>
            <a:pPr marL="285750" indent="-285750" algn="just">
              <a:buClr>
                <a:srgbClr val="0CB4B4"/>
              </a:buClr>
              <a:buFont typeface="Wingdings" panose="05000000000000000000" pitchFamily="2" charset="2"/>
              <a:buChar char="q"/>
            </a:pPr>
            <a:endParaRPr lang="es-419" sz="2000" dirty="0">
              <a:solidFill>
                <a:srgbClr val="7030A0"/>
              </a:solidFill>
            </a:endParaRPr>
          </a:p>
          <a:p>
            <a:pPr marL="285750" indent="-285750" algn="just">
              <a:buClr>
                <a:srgbClr val="0CB4B4"/>
              </a:buClr>
              <a:buFont typeface="Wingdings" panose="05000000000000000000" pitchFamily="2" charset="2"/>
              <a:buChar char="q"/>
            </a:pPr>
            <a:endParaRPr lang="es-419" sz="20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7" name="Título 3">
            <a:extLst>
              <a:ext uri="{FF2B5EF4-FFF2-40B4-BE49-F238E27FC236}">
                <a16:creationId xmlns:a16="http://schemas.microsoft.com/office/drawing/2014/main" id="{A689903E-A1E9-3FDB-E3F5-70E6191E6227}"/>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419" b="0" dirty="0">
                <a:solidFill>
                  <a:schemeClr val="accent1"/>
                </a:solidFill>
              </a:rPr>
              <a:t>Gestionar la historia académica del estudiante</a:t>
            </a:r>
          </a:p>
        </p:txBody>
      </p:sp>
    </p:spTree>
    <p:extLst>
      <p:ext uri="{BB962C8B-B14F-4D97-AF65-F5344CB8AC3E}">
        <p14:creationId xmlns:p14="http://schemas.microsoft.com/office/powerpoint/2010/main" val="3559927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la historia académica del estudiante</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DE5D1D8-CEF0-C0BB-F621-7B6683C74573}"/>
              </a:ext>
            </a:extLst>
          </p:cNvPr>
          <p:cNvPicPr>
            <a:picLocks noChangeAspect="1"/>
          </p:cNvPicPr>
          <p:nvPr/>
        </p:nvPicPr>
        <p:blipFill>
          <a:blip r:embed="rId2"/>
          <a:stretch>
            <a:fillRect/>
          </a:stretch>
        </p:blipFill>
        <p:spPr>
          <a:xfrm>
            <a:off x="801737" y="1103088"/>
            <a:ext cx="10909972" cy="495700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dirty="0">
                <a:solidFill>
                  <a:schemeClr val="accent1"/>
                </a:solidFill>
              </a:rPr>
              <a:t>Validación de modo de calificar (</a:t>
            </a:r>
            <a:r>
              <a:rPr lang="es-ES_tradnl" dirty="0">
                <a:solidFill>
                  <a:schemeClr val="accent1"/>
                </a:solidFill>
              </a:rPr>
              <a:t>STVGMOD)</a:t>
            </a:r>
            <a:br>
              <a:rPr lang="es-CL" b="1" dirty="0">
                <a:solidFill>
                  <a:schemeClr val="accent1"/>
                </a:solidFill>
                <a:effectLst/>
              </a:rPr>
            </a:br>
            <a:endParaRPr lang="es-CL" dirty="0">
              <a:solidFill>
                <a:schemeClr val="accent1"/>
              </a:solidFill>
            </a:endParaRPr>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2801680" y="3251200"/>
            <a:ext cx="5354030" cy="9308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requiere que la modalidad de calificación se encuentre definida en STVGMOD, tabla de validación de se encontraría definida en el macroproceso de “Definición y Diseño de la Oferta Académica”</a:t>
            </a:r>
          </a:p>
        </p:txBody>
      </p:sp>
    </p:spTree>
    <p:extLst>
      <p:ext uri="{BB962C8B-B14F-4D97-AF65-F5344CB8AC3E}">
        <p14:creationId xmlns:p14="http://schemas.microsoft.com/office/powerpoint/2010/main" val="3328105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2728D-D326-ED26-8A8B-89E64ACB40E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9D30908-E5E2-F5AF-AE89-2DF5CA0DAFCA}"/>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C7B78D01-C280-30A1-23B7-4231A019FAAE}"/>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B9FF75EF-2CB1-3FFD-1F10-E8C1AA0522C6}"/>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a:t>
            </a:r>
            <a:endParaRPr lang="es-CL" dirty="0">
              <a:solidFill>
                <a:schemeClr val="accent1"/>
              </a:solidFill>
            </a:endParaRPr>
          </a:p>
        </p:txBody>
      </p:sp>
      <p:sp>
        <p:nvSpPr>
          <p:cNvPr id="12" name="Rectángulo redondeado 5">
            <a:extLst>
              <a:ext uri="{FF2B5EF4-FFF2-40B4-BE49-F238E27FC236}">
                <a16:creationId xmlns:a16="http://schemas.microsoft.com/office/drawing/2014/main" id="{8F3983B6-9449-2F43-41FC-E2D878A383A3}"/>
              </a:ext>
            </a:extLst>
          </p:cNvPr>
          <p:cNvSpPr/>
          <p:nvPr/>
        </p:nvSpPr>
        <p:spPr>
          <a:xfrm>
            <a:off x="2973805" y="4111080"/>
            <a:ext cx="6244390" cy="12060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Los códigos de cambios de calificaciones corresponden a la clasificación asociada directamente a cada calificación que pudiera tener una asignatura, donde en la mayoría de los casos buscamos definir la causa o el origen de la calificación ingresadas. Para ingresar, modificar o eliminar algunos de estos registros se han de utilizar los botones de ‘+’, ‘-’ .</a:t>
            </a:r>
          </a:p>
        </p:txBody>
      </p:sp>
      <p:sp>
        <p:nvSpPr>
          <p:cNvPr id="6" name="Rectángulo 5">
            <a:extLst>
              <a:ext uri="{FF2B5EF4-FFF2-40B4-BE49-F238E27FC236}">
                <a16:creationId xmlns:a16="http://schemas.microsoft.com/office/drawing/2014/main" id="{65F8C894-E2DA-D1BD-0FFC-EE72830DC672}"/>
              </a:ext>
            </a:extLst>
          </p:cNvPr>
          <p:cNvSpPr/>
          <p:nvPr/>
        </p:nvSpPr>
        <p:spPr>
          <a:xfrm>
            <a:off x="10814304" y="1453355"/>
            <a:ext cx="463296" cy="192566"/>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6948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C8A93-D2BE-53EF-8F68-E1AE6355647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55748CF-75B4-9B12-FD97-F6E4800A450A}"/>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AA867C3A-5C2F-FECB-9ABE-B03C5F509F9B}"/>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5560C775-14EF-AFDB-7506-F7A3EC5D7124}"/>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2" name="Rectángulo 1">
            <a:extLst>
              <a:ext uri="{FF2B5EF4-FFF2-40B4-BE49-F238E27FC236}">
                <a16:creationId xmlns:a16="http://schemas.microsoft.com/office/drawing/2014/main" id="{1493B951-4CC0-821B-7AB0-CD2152F05A37}"/>
              </a:ext>
            </a:extLst>
          </p:cNvPr>
          <p:cNvSpPr/>
          <p:nvPr/>
        </p:nvSpPr>
        <p:spPr>
          <a:xfrm>
            <a:off x="10883707" y="146965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C2875C16-98A0-5903-3E31-2E4CE41F8673}"/>
              </a:ext>
            </a:extLst>
          </p:cNvPr>
          <p:cNvSpPr/>
          <p:nvPr/>
        </p:nvSpPr>
        <p:spPr>
          <a:xfrm>
            <a:off x="10650583" y="138924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8" name="Rectángulo 7">
            <a:extLst>
              <a:ext uri="{FF2B5EF4-FFF2-40B4-BE49-F238E27FC236}">
                <a16:creationId xmlns:a16="http://schemas.microsoft.com/office/drawing/2014/main" id="{654B4F5A-68C5-8DAD-69A1-EE5435719AE3}"/>
              </a:ext>
            </a:extLst>
          </p:cNvPr>
          <p:cNvSpPr/>
          <p:nvPr/>
        </p:nvSpPr>
        <p:spPr>
          <a:xfrm>
            <a:off x="914400" y="1878082"/>
            <a:ext cx="414528"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FCCB8148-5212-8DB2-897D-1B7AC78CCAF4}"/>
              </a:ext>
            </a:extLst>
          </p:cNvPr>
          <p:cNvSpPr/>
          <p:nvPr/>
        </p:nvSpPr>
        <p:spPr>
          <a:xfrm>
            <a:off x="1040939" y="205592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10" name="Rectángulo 9">
            <a:extLst>
              <a:ext uri="{FF2B5EF4-FFF2-40B4-BE49-F238E27FC236}">
                <a16:creationId xmlns:a16="http://schemas.microsoft.com/office/drawing/2014/main" id="{B2B7E39F-8061-4995-4485-E1D50889D478}"/>
              </a:ext>
            </a:extLst>
          </p:cNvPr>
          <p:cNvSpPr/>
          <p:nvPr/>
        </p:nvSpPr>
        <p:spPr>
          <a:xfrm>
            <a:off x="1299922" y="1878082"/>
            <a:ext cx="1674925"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09331AA1-2F85-9630-9373-8B2E4761113B}"/>
              </a:ext>
            </a:extLst>
          </p:cNvPr>
          <p:cNvSpPr/>
          <p:nvPr/>
        </p:nvSpPr>
        <p:spPr>
          <a:xfrm>
            <a:off x="1816606" y="208313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2" name="Rectángulo redondeado 5">
            <a:extLst>
              <a:ext uri="{FF2B5EF4-FFF2-40B4-BE49-F238E27FC236}">
                <a16:creationId xmlns:a16="http://schemas.microsoft.com/office/drawing/2014/main" id="{0A30F4DB-2DCB-05D7-0974-E6D171FF5641}"/>
              </a:ext>
            </a:extLst>
          </p:cNvPr>
          <p:cNvSpPr/>
          <p:nvPr/>
        </p:nvSpPr>
        <p:spPr>
          <a:xfrm>
            <a:off x="2823993" y="4077460"/>
            <a:ext cx="6244390" cy="12060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a:pPr>
            <a:r>
              <a:rPr lang="es-ES_tradnl" sz="1200" dirty="0"/>
              <a:t>Para ingresar un nuevo código de cambio de calificación, presione opción +.</a:t>
            </a:r>
          </a:p>
          <a:p>
            <a:pPr marL="228600" indent="-228600">
              <a:buFont typeface="+mj-lt"/>
              <a:buAutoNum type="arabicPeriod"/>
            </a:pPr>
            <a:r>
              <a:rPr lang="es-ES_tradnl" sz="1200" dirty="0"/>
              <a:t>Ingrese el código que desea crear.</a:t>
            </a:r>
          </a:p>
          <a:p>
            <a:pPr marL="228600" indent="-228600">
              <a:buFont typeface="+mj-lt"/>
              <a:buAutoNum type="arabicPeriod"/>
            </a:pPr>
            <a:r>
              <a:rPr lang="es-ES_tradnl" sz="1200" dirty="0"/>
              <a:t>Ingrese la descripción del código.</a:t>
            </a:r>
          </a:p>
        </p:txBody>
      </p:sp>
    </p:spTree>
    <p:extLst>
      <p:ext uri="{BB962C8B-B14F-4D97-AF65-F5344CB8AC3E}">
        <p14:creationId xmlns:p14="http://schemas.microsoft.com/office/powerpoint/2010/main" val="965797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7B2A7-3CC7-0B5B-957A-B4A47858E1F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3B7BD1D-7741-1CD3-61ED-F72E243473EB}"/>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94F2A74F-CB2C-69F3-2BA1-A9EDA0C559A6}"/>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AE225CAE-1112-BEDA-02A0-E799411AF20A}"/>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1262CF70-C609-3D9C-E5AD-40C9F4085A39}"/>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4"/>
            </a:pPr>
            <a:r>
              <a:rPr lang="es-CO" sz="1200" dirty="0"/>
              <a:t> Active la casilla ‘Permitir duplicados’ si desea que el código de cambio de calificación pueda usarse más de una vez cuando se modifican las calificaciones para una misma asignatura-estudiante.</a:t>
            </a:r>
            <a:endParaRPr lang="es-ES_tradnl" sz="1200" dirty="0"/>
          </a:p>
        </p:txBody>
      </p:sp>
      <p:sp>
        <p:nvSpPr>
          <p:cNvPr id="13" name="Rectángulo 12">
            <a:extLst>
              <a:ext uri="{FF2B5EF4-FFF2-40B4-BE49-F238E27FC236}">
                <a16:creationId xmlns:a16="http://schemas.microsoft.com/office/drawing/2014/main" id="{7D88842A-4E38-447D-676E-EDF179B50299}"/>
              </a:ext>
            </a:extLst>
          </p:cNvPr>
          <p:cNvSpPr/>
          <p:nvPr/>
        </p:nvSpPr>
        <p:spPr>
          <a:xfrm>
            <a:off x="5251799" y="217058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DAD5AF78-DDF2-6C6D-F4B5-2805C3D972DE}"/>
              </a:ext>
            </a:extLst>
          </p:cNvPr>
          <p:cNvSpPr/>
          <p:nvPr/>
        </p:nvSpPr>
        <p:spPr>
          <a:xfrm>
            <a:off x="5018675" y="209017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948512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8E458-D9B5-6FB7-D232-C8404A16667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2F37539-C1B9-C00C-95AD-950C6490ABD1}"/>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519442F6-C7BB-CE28-E245-2D3972506088}"/>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DD9215EA-3976-C34A-E649-ACE2AD045A13}"/>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BF6FA6DF-A102-0781-D5BD-DB2FF34A1227}"/>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5"/>
            </a:pPr>
            <a:r>
              <a:rPr lang="es-CO" sz="1200" dirty="0"/>
              <a:t>Active la casilla ‘Definitivo’ si desea que el código de cambio de calificación no deba sobrescribirse por un cálculo automático.</a:t>
            </a:r>
            <a:endParaRPr lang="es-ES_tradnl" sz="1200" dirty="0"/>
          </a:p>
        </p:txBody>
      </p:sp>
      <p:sp>
        <p:nvSpPr>
          <p:cNvPr id="13" name="Rectángulo 12">
            <a:extLst>
              <a:ext uri="{FF2B5EF4-FFF2-40B4-BE49-F238E27FC236}">
                <a16:creationId xmlns:a16="http://schemas.microsoft.com/office/drawing/2014/main" id="{A2E11289-E509-46A7-B3AF-14C381B7CEE0}"/>
              </a:ext>
            </a:extLst>
          </p:cNvPr>
          <p:cNvSpPr/>
          <p:nvPr/>
        </p:nvSpPr>
        <p:spPr>
          <a:xfrm>
            <a:off x="6015275" y="217058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0C1B89DE-3905-D67A-4617-549BAE6BFEF4}"/>
              </a:ext>
            </a:extLst>
          </p:cNvPr>
          <p:cNvSpPr/>
          <p:nvPr/>
        </p:nvSpPr>
        <p:spPr>
          <a:xfrm>
            <a:off x="5782151" y="209017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598012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55E5F-D9D0-D93E-D218-0FA38274F7A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D84A970-3364-E547-E598-6D1F54477ADC}"/>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02A55004-8924-04E0-B8DC-056584E1B10A}"/>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BCC5AD96-C07E-D400-D079-97583066F0C8}"/>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87A88BAA-9602-67BD-4EC0-F229649996EC}"/>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6"/>
            </a:pPr>
            <a:r>
              <a:rPr lang="es-CO" sz="1200" dirty="0"/>
              <a:t>Active la casilla ‘Calculado’ si el código de cambio de calificación se usará para registrar el resultado de un cálculo automático de calificaciones. Una razón de cambio con este indicador seleccionado no puede ser seleccionado por los usuarios funcionales desde la historia académica.</a:t>
            </a:r>
            <a:endParaRPr lang="es-ES_tradnl" sz="1200" dirty="0"/>
          </a:p>
        </p:txBody>
      </p:sp>
      <p:sp>
        <p:nvSpPr>
          <p:cNvPr id="13" name="Rectángulo 12">
            <a:extLst>
              <a:ext uri="{FF2B5EF4-FFF2-40B4-BE49-F238E27FC236}">
                <a16:creationId xmlns:a16="http://schemas.microsoft.com/office/drawing/2014/main" id="{ABD6988C-A7F3-7C60-EB2C-49D4BCC234AB}"/>
              </a:ext>
            </a:extLst>
          </p:cNvPr>
          <p:cNvSpPr/>
          <p:nvPr/>
        </p:nvSpPr>
        <p:spPr>
          <a:xfrm>
            <a:off x="6637067" y="217058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E4FC4129-7BCD-9A34-9F95-8AF3B0BD388D}"/>
              </a:ext>
            </a:extLst>
          </p:cNvPr>
          <p:cNvSpPr/>
          <p:nvPr/>
        </p:nvSpPr>
        <p:spPr>
          <a:xfrm>
            <a:off x="6403943" y="209017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Tree>
    <p:extLst>
      <p:ext uri="{BB962C8B-B14F-4D97-AF65-F5344CB8AC3E}">
        <p14:creationId xmlns:p14="http://schemas.microsoft.com/office/powerpoint/2010/main" val="3539614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2767B-E90B-CA3D-785C-498F42D450E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02A68F0-8F00-CC57-B84F-914159F82561}"/>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1C197D2E-1433-BB03-7DD7-749C8208868B}"/>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8C49613B-0C42-998A-73F5-D342EE0335CF}"/>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8BB3F5C9-5B10-7EC3-F512-15FAFB2E4255}"/>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7"/>
            </a:pPr>
            <a:r>
              <a:rPr lang="es-CO" sz="1200" dirty="0"/>
              <a:t>Active la casilla ‘Autoservicio’ si el código de cambio de calificación </a:t>
            </a:r>
            <a:r>
              <a:rPr lang="es-419" sz="1200" dirty="0"/>
              <a:t>estará disponible para que los docentes lo registren en Autoservicio.</a:t>
            </a:r>
            <a:endParaRPr lang="es-ES_tradnl" sz="1200" dirty="0"/>
          </a:p>
        </p:txBody>
      </p:sp>
      <p:sp>
        <p:nvSpPr>
          <p:cNvPr id="13" name="Rectángulo 12">
            <a:extLst>
              <a:ext uri="{FF2B5EF4-FFF2-40B4-BE49-F238E27FC236}">
                <a16:creationId xmlns:a16="http://schemas.microsoft.com/office/drawing/2014/main" id="{8AAB5CF8-9432-79B0-4708-45705C87F867}"/>
              </a:ext>
            </a:extLst>
          </p:cNvPr>
          <p:cNvSpPr/>
          <p:nvPr/>
        </p:nvSpPr>
        <p:spPr>
          <a:xfrm>
            <a:off x="7307627" y="217058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9FD32F92-5C5F-33D0-3CB8-A168EAE12D1D}"/>
              </a:ext>
            </a:extLst>
          </p:cNvPr>
          <p:cNvSpPr/>
          <p:nvPr/>
        </p:nvSpPr>
        <p:spPr>
          <a:xfrm>
            <a:off x="7074503" y="209017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Tree>
    <p:extLst>
      <p:ext uri="{BB962C8B-B14F-4D97-AF65-F5344CB8AC3E}">
        <p14:creationId xmlns:p14="http://schemas.microsoft.com/office/powerpoint/2010/main" val="3631754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DE721-8E6C-7FEB-3513-DE8F1BFCD48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6248A0C-6C57-081A-1D70-D42D24181347}"/>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4C84D17D-3847-F0EB-6672-F466B864CEE7}"/>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E5E7316B-4473-7973-7EE8-F50CF04A009E}"/>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209F1D06-9E54-BDB1-AD57-E6C33C4CCD8F}"/>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8"/>
            </a:pPr>
            <a:r>
              <a:rPr lang="es-CO" sz="1200" dirty="0"/>
              <a:t>Active la casilla ‘Historia Académica’ si el código de cambio de calificación se va a usar para registrar un cambio de marca o calificación en la Historia Académica.</a:t>
            </a:r>
            <a:endParaRPr lang="es-ES_tradnl" sz="1200" dirty="0"/>
          </a:p>
        </p:txBody>
      </p:sp>
      <p:sp>
        <p:nvSpPr>
          <p:cNvPr id="13" name="Rectángulo 12">
            <a:extLst>
              <a:ext uri="{FF2B5EF4-FFF2-40B4-BE49-F238E27FC236}">
                <a16:creationId xmlns:a16="http://schemas.microsoft.com/office/drawing/2014/main" id="{2BB10C6A-2AD8-2360-25FC-D14ED1D7224D}"/>
              </a:ext>
            </a:extLst>
          </p:cNvPr>
          <p:cNvSpPr/>
          <p:nvPr/>
        </p:nvSpPr>
        <p:spPr>
          <a:xfrm>
            <a:off x="8148875" y="2158388"/>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7A397F02-91FE-4030-183A-D71FF6654370}"/>
              </a:ext>
            </a:extLst>
          </p:cNvPr>
          <p:cNvSpPr/>
          <p:nvPr/>
        </p:nvSpPr>
        <p:spPr>
          <a:xfrm>
            <a:off x="7915751" y="20779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Tree>
    <p:extLst>
      <p:ext uri="{BB962C8B-B14F-4D97-AF65-F5344CB8AC3E}">
        <p14:creationId xmlns:p14="http://schemas.microsoft.com/office/powerpoint/2010/main" val="3602145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79-15ED-833F-F68D-67FABB63456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1ACF914-022A-E270-1DB5-5CB87A43BB9E}"/>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A9F9000C-3EDB-14E2-561B-5D89DA31C139}"/>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631DA5EA-130F-E26D-738F-5F2782A2DCE2}"/>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3D775448-C947-E2B2-6EF0-CA6AFDBD4700}"/>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9"/>
            </a:pPr>
            <a:r>
              <a:rPr lang="es-CO" sz="1200" dirty="0"/>
              <a:t>Active la casilla ‘Reestimación’ si el código de cambio de calificación estará disponible para reestimación. </a:t>
            </a:r>
          </a:p>
          <a:p>
            <a:r>
              <a:rPr lang="es-CO" sz="1100" dirty="0"/>
              <a:t>Esta casilla solo se puede seleccionar si la casilla de ‘Historia Académica’ está previamente seleccionada.</a:t>
            </a:r>
            <a:endParaRPr lang="es-ES_tradnl" sz="1200" dirty="0"/>
          </a:p>
        </p:txBody>
      </p:sp>
      <p:sp>
        <p:nvSpPr>
          <p:cNvPr id="13" name="Rectángulo 12">
            <a:extLst>
              <a:ext uri="{FF2B5EF4-FFF2-40B4-BE49-F238E27FC236}">
                <a16:creationId xmlns:a16="http://schemas.microsoft.com/office/drawing/2014/main" id="{E5EBC1F3-48BB-A740-F3A4-2ED99F656873}"/>
              </a:ext>
            </a:extLst>
          </p:cNvPr>
          <p:cNvSpPr/>
          <p:nvPr/>
        </p:nvSpPr>
        <p:spPr>
          <a:xfrm>
            <a:off x="9026699" y="2158388"/>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8A8A9F02-BEA3-0EC9-C6EB-B75885C5FBCF}"/>
              </a:ext>
            </a:extLst>
          </p:cNvPr>
          <p:cNvSpPr/>
          <p:nvPr/>
        </p:nvSpPr>
        <p:spPr>
          <a:xfrm>
            <a:off x="8793575" y="20779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Tree>
    <p:extLst>
      <p:ext uri="{BB962C8B-B14F-4D97-AF65-F5344CB8AC3E}">
        <p14:creationId xmlns:p14="http://schemas.microsoft.com/office/powerpoint/2010/main" val="960439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75676-95CB-E836-32D1-E60D38CEAA6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0F60D59-267E-39B1-DE27-8F67ABDABF64}"/>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AF178A04-D6C7-5089-0B36-8FF6EB78B8B0}"/>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AF03D869-8668-060D-640D-329758B04B76}"/>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62AB6571-0B9E-12ED-896F-42D1756B4216}"/>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0"/>
            </a:pPr>
            <a:r>
              <a:rPr lang="es-CO" sz="1200" dirty="0"/>
              <a:t>Active la casilla ‘Indicador de exención’ si el código de cambio de calificación estará disponible para exceptuar la presencia de una calificación, se sugiere evitar dejar disponible esta propiedad en el SSB del docente. </a:t>
            </a:r>
          </a:p>
        </p:txBody>
      </p:sp>
      <p:sp>
        <p:nvSpPr>
          <p:cNvPr id="13" name="Rectángulo 12">
            <a:extLst>
              <a:ext uri="{FF2B5EF4-FFF2-40B4-BE49-F238E27FC236}">
                <a16:creationId xmlns:a16="http://schemas.microsoft.com/office/drawing/2014/main" id="{B0D2D41A-3487-B4E9-F223-2C4C20E39A82}"/>
              </a:ext>
            </a:extLst>
          </p:cNvPr>
          <p:cNvSpPr/>
          <p:nvPr/>
        </p:nvSpPr>
        <p:spPr>
          <a:xfrm>
            <a:off x="9752123" y="217058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677AD96E-4324-8298-903C-B14B26CFA06B}"/>
              </a:ext>
            </a:extLst>
          </p:cNvPr>
          <p:cNvSpPr/>
          <p:nvPr/>
        </p:nvSpPr>
        <p:spPr>
          <a:xfrm>
            <a:off x="9265920" y="2090172"/>
            <a:ext cx="41452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Tree>
    <p:extLst>
      <p:ext uri="{BB962C8B-B14F-4D97-AF65-F5344CB8AC3E}">
        <p14:creationId xmlns:p14="http://schemas.microsoft.com/office/powerpoint/2010/main" val="3796507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DA92A-C45C-B94F-155A-7CF5C8E5E5C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B0157B0-A611-EB6E-A5FE-9201A6BEC8D8}"/>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4B2EB087-72CF-727B-42C5-98C01D1CAD4C}"/>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3E2BC59A-20E4-582A-04CC-2B918CBC8614}"/>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2E90CBE3-E4F5-8F17-DC59-7FB9BD4DB112}"/>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1"/>
            </a:pPr>
            <a:r>
              <a:rPr lang="es-CO" sz="1200" dirty="0"/>
              <a:t>Active la casilla ‘Indicador de reexamen’ si el código de cambio de calificación para indicar que la nota ingresada tiene un status de reexamen. </a:t>
            </a:r>
          </a:p>
        </p:txBody>
      </p:sp>
      <p:sp>
        <p:nvSpPr>
          <p:cNvPr id="13" name="Rectángulo 12">
            <a:extLst>
              <a:ext uri="{FF2B5EF4-FFF2-40B4-BE49-F238E27FC236}">
                <a16:creationId xmlns:a16="http://schemas.microsoft.com/office/drawing/2014/main" id="{03C00478-C3F1-2C20-E6B1-650F9902D388}"/>
              </a:ext>
            </a:extLst>
          </p:cNvPr>
          <p:cNvSpPr/>
          <p:nvPr/>
        </p:nvSpPr>
        <p:spPr>
          <a:xfrm>
            <a:off x="10349531" y="217058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8CBE1CE5-2D0B-F69A-A521-0931E3B23738}"/>
              </a:ext>
            </a:extLst>
          </p:cNvPr>
          <p:cNvSpPr/>
          <p:nvPr/>
        </p:nvSpPr>
        <p:spPr>
          <a:xfrm>
            <a:off x="9863328" y="2090172"/>
            <a:ext cx="41452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Tree>
    <p:extLst>
      <p:ext uri="{BB962C8B-B14F-4D97-AF65-F5344CB8AC3E}">
        <p14:creationId xmlns:p14="http://schemas.microsoft.com/office/powerpoint/2010/main" val="3358387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7E213-A0A6-8253-1755-A1A8DAD8704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84F2560-CCF6-A39D-676F-76B9D46C7140}"/>
              </a:ext>
            </a:extLst>
          </p:cNvPr>
          <p:cNvPicPr>
            <a:picLocks noChangeAspect="1"/>
          </p:cNvPicPr>
          <p:nvPr/>
        </p:nvPicPr>
        <p:blipFill>
          <a:blip r:embed="rId2"/>
          <a:stretch>
            <a:fillRect/>
          </a:stretch>
        </p:blipFill>
        <p:spPr>
          <a:xfrm>
            <a:off x="914400" y="1159212"/>
            <a:ext cx="10741152" cy="4705135"/>
          </a:xfrm>
          <a:prstGeom prst="rect">
            <a:avLst/>
          </a:prstGeom>
        </p:spPr>
      </p:pic>
      <p:sp>
        <p:nvSpPr>
          <p:cNvPr id="3" name="Marcador de texto vertical 2">
            <a:extLst>
              <a:ext uri="{FF2B5EF4-FFF2-40B4-BE49-F238E27FC236}">
                <a16:creationId xmlns:a16="http://schemas.microsoft.com/office/drawing/2014/main" id="{9E95D478-AA09-FC30-DF07-B31FB963C77A}"/>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D145D6A4-16C8-053E-2274-ACF1060083D8}"/>
              </a:ext>
            </a:extLst>
          </p:cNvPr>
          <p:cNvSpPr>
            <a:spLocks noGrp="1"/>
          </p:cNvSpPr>
          <p:nvPr>
            <p:ph type="title"/>
          </p:nvPr>
        </p:nvSpPr>
        <p:spPr>
          <a:xfrm>
            <a:off x="810247" y="327992"/>
            <a:ext cx="10271883" cy="626165"/>
          </a:xfrm>
        </p:spPr>
        <p:txBody>
          <a:bodyPr/>
          <a:lstStyle/>
          <a:p>
            <a:r>
              <a:rPr lang="es-419" dirty="0">
                <a:solidFill>
                  <a:schemeClr val="accent1"/>
                </a:solidFill>
              </a:rPr>
              <a:t>Validación de código de cambio de calificación (STVGCHG )</a:t>
            </a:r>
            <a:endParaRPr lang="es-CL" dirty="0">
              <a:solidFill>
                <a:schemeClr val="accent1"/>
              </a:solidFill>
            </a:endParaRPr>
          </a:p>
        </p:txBody>
      </p:sp>
      <p:sp>
        <p:nvSpPr>
          <p:cNvPr id="7" name="Rectángulo redondeado 5">
            <a:extLst>
              <a:ext uri="{FF2B5EF4-FFF2-40B4-BE49-F238E27FC236}">
                <a16:creationId xmlns:a16="http://schemas.microsoft.com/office/drawing/2014/main" id="{9FC3D1DC-C31C-E582-6612-7F12ECD0BD85}"/>
              </a:ext>
            </a:extLst>
          </p:cNvPr>
          <p:cNvSpPr/>
          <p:nvPr/>
        </p:nvSpPr>
        <p:spPr>
          <a:xfrm>
            <a:off x="2325576" y="4229061"/>
            <a:ext cx="7342680" cy="10714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2"/>
            </a:pPr>
            <a:r>
              <a:rPr lang="es-CO" sz="1200" dirty="0"/>
              <a:t>La casilla ‘Requerido por el sistema’ no debe ser modificada ya que se utiliza como referencia para los valores del control de cambio que estuvieran relacionados a algún proceso interno de Banner. </a:t>
            </a:r>
          </a:p>
        </p:txBody>
      </p:sp>
      <p:sp>
        <p:nvSpPr>
          <p:cNvPr id="13" name="Rectángulo 12">
            <a:extLst>
              <a:ext uri="{FF2B5EF4-FFF2-40B4-BE49-F238E27FC236}">
                <a16:creationId xmlns:a16="http://schemas.microsoft.com/office/drawing/2014/main" id="{6B7423EA-9BC8-C3AE-A9F4-F8249806A565}"/>
              </a:ext>
            </a:extLst>
          </p:cNvPr>
          <p:cNvSpPr/>
          <p:nvPr/>
        </p:nvSpPr>
        <p:spPr>
          <a:xfrm>
            <a:off x="11094322" y="2170580"/>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2CE97DA4-2769-7DAB-E04F-D0CA1A1B58AF}"/>
              </a:ext>
            </a:extLst>
          </p:cNvPr>
          <p:cNvSpPr/>
          <p:nvPr/>
        </p:nvSpPr>
        <p:spPr>
          <a:xfrm>
            <a:off x="10608119" y="2090172"/>
            <a:ext cx="41452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Tree>
    <p:extLst>
      <p:ext uri="{BB962C8B-B14F-4D97-AF65-F5344CB8AC3E}">
        <p14:creationId xmlns:p14="http://schemas.microsoft.com/office/powerpoint/2010/main" val="2304034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Gestionar la historia académica del estudiante</a:t>
            </a:r>
            <a:endParaRPr lang="en-US" dirty="0"/>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b="1" dirty="0">
                <a:solidFill>
                  <a:schemeClr val="bg1"/>
                </a:solidFill>
              </a:rPr>
              <a:t>Gestionar la historia académica del estudiante</a:t>
            </a:r>
            <a:endParaRPr lang="en-US" dirty="0"/>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726657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989B1-CEAA-B8D5-58D0-0FD1D33A6D6C}"/>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86DF8602-597C-9BFB-5A4F-2AAA38A8030B}"/>
              </a:ext>
            </a:extLst>
          </p:cNvPr>
          <p:cNvSpPr>
            <a:spLocks noGrp="1"/>
          </p:cNvSpPr>
          <p:nvPr>
            <p:ph type="body" sz="quarter" idx="10"/>
          </p:nvPr>
        </p:nvSpPr>
        <p:spPr>
          <a:xfrm>
            <a:off x="914399" y="2238843"/>
            <a:ext cx="10363202" cy="669094"/>
          </a:xfrm>
        </p:spPr>
        <p:txBody>
          <a:bodyPr/>
          <a:lstStyle/>
          <a:p>
            <a:r>
              <a:rPr lang="es-CL" dirty="0"/>
              <a:t>Encabezado de Periodo</a:t>
            </a:r>
            <a:endParaRPr lang="es-419" dirty="0"/>
          </a:p>
        </p:txBody>
      </p:sp>
      <p:sp>
        <p:nvSpPr>
          <p:cNvPr id="2" name="Marcador de texto vertical 1">
            <a:extLst>
              <a:ext uri="{FF2B5EF4-FFF2-40B4-BE49-F238E27FC236}">
                <a16:creationId xmlns:a16="http://schemas.microsoft.com/office/drawing/2014/main" id="{5835E117-4901-7391-718B-278B393381A2}"/>
              </a:ext>
            </a:extLst>
          </p:cNvPr>
          <p:cNvSpPr>
            <a:spLocks noGrp="1"/>
          </p:cNvSpPr>
          <p:nvPr>
            <p:ph type="body" sz="quarter" idx="11"/>
          </p:nvPr>
        </p:nvSpPr>
        <p:spPr/>
        <p:txBody>
          <a:bodyPr/>
          <a:lstStyle/>
          <a:p>
            <a:r>
              <a:rPr lang="es-419" sz="1200" dirty="0"/>
              <a:t>Gestionar la historia académica del estudiante</a:t>
            </a:r>
            <a:endParaRPr lang="en-US" dirty="0"/>
          </a:p>
        </p:txBody>
      </p:sp>
    </p:spTree>
    <p:extLst>
      <p:ext uri="{BB962C8B-B14F-4D97-AF65-F5344CB8AC3E}">
        <p14:creationId xmlns:p14="http://schemas.microsoft.com/office/powerpoint/2010/main" val="1782396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4151-5B69-9B38-727B-4311E962AFBA}"/>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A9123117-E722-A9DF-18D2-DB2CD138A2F5}"/>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038C0CF8-EBCD-F5B5-72FD-AD7A16E99772}"/>
              </a:ext>
            </a:extLst>
          </p:cNvPr>
          <p:cNvSpPr>
            <a:spLocks noGrp="1"/>
          </p:cNvSpPr>
          <p:nvPr>
            <p:ph type="title"/>
          </p:nvPr>
        </p:nvSpPr>
        <p:spPr>
          <a:xfrm>
            <a:off x="810247" y="327992"/>
            <a:ext cx="10271883" cy="626165"/>
          </a:xfrm>
        </p:spPr>
        <p:txBody>
          <a:bodyPr/>
          <a:lstStyle/>
          <a:p>
            <a:r>
              <a:rPr lang="es-419" dirty="0">
                <a:solidFill>
                  <a:schemeClr val="accent1"/>
                </a:solidFill>
              </a:rPr>
              <a:t>Mantenimiento al curso del periodo del alumno (</a:t>
            </a:r>
            <a:r>
              <a:rPr lang="es-ES_tradnl" dirty="0">
                <a:solidFill>
                  <a:schemeClr val="accent1"/>
                </a:solidFill>
              </a:rPr>
              <a:t>SHAINST)</a:t>
            </a:r>
            <a:br>
              <a:rPr lang="es-CL" b="1" dirty="0">
                <a:solidFill>
                  <a:schemeClr val="accent1"/>
                </a:solidFill>
                <a:effectLst/>
              </a:rPr>
            </a:br>
            <a:endParaRPr lang="es-CL" dirty="0">
              <a:solidFill>
                <a:schemeClr val="accent1"/>
              </a:solidFill>
            </a:endParaRPr>
          </a:p>
        </p:txBody>
      </p:sp>
      <p:sp>
        <p:nvSpPr>
          <p:cNvPr id="6" name="Rectángulo redondeado 5">
            <a:extLst>
              <a:ext uri="{FF2B5EF4-FFF2-40B4-BE49-F238E27FC236}">
                <a16:creationId xmlns:a16="http://schemas.microsoft.com/office/drawing/2014/main" id="{3C036331-4795-CEF8-40F5-3BFDAF45BE0B}"/>
              </a:ext>
            </a:extLst>
          </p:cNvPr>
          <p:cNvSpPr/>
          <p:nvPr/>
        </p:nvSpPr>
        <p:spPr>
          <a:xfrm>
            <a:off x="2646729" y="3664714"/>
            <a:ext cx="7199770" cy="14891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Antes de llegar a ajustar la historia académica del estudiante, se requiere que el estudiante cuente con al menos un registro creado en la página administrativa SHAINST para el periodo académico a ajustar.</a:t>
            </a:r>
            <a:r>
              <a:rPr lang="es-ES_tradnl" sz="1200" dirty="0"/>
              <a:t> </a:t>
            </a:r>
          </a:p>
          <a:p>
            <a:endParaRPr lang="es-ES_tradnl" sz="1200" dirty="0"/>
          </a:p>
          <a:p>
            <a:r>
              <a:rPr lang="es-ES_tradnl" sz="1200" dirty="0"/>
              <a:t>Este proceso es automático en Banner cuando se realiza el pase a historia académica por parte de las asignaturas inscritas, pero en el caso de querer ingresar una calificación directamente en historia académica es necesario la creación del registro de SHAINST mencionado.</a:t>
            </a:r>
            <a:endParaRPr lang="es-CO" sz="1200" dirty="0"/>
          </a:p>
        </p:txBody>
      </p:sp>
      <p:pic>
        <p:nvPicPr>
          <p:cNvPr id="5" name="Imagen 4">
            <a:extLst>
              <a:ext uri="{FF2B5EF4-FFF2-40B4-BE49-F238E27FC236}">
                <a16:creationId xmlns:a16="http://schemas.microsoft.com/office/drawing/2014/main" id="{2B737240-DBFB-C426-5D11-FC616577BB12}"/>
              </a:ext>
            </a:extLst>
          </p:cNvPr>
          <p:cNvPicPr>
            <a:picLocks noChangeAspect="1"/>
          </p:cNvPicPr>
          <p:nvPr/>
        </p:nvPicPr>
        <p:blipFill>
          <a:blip r:embed="rId2"/>
          <a:stretch>
            <a:fillRect/>
          </a:stretch>
        </p:blipFill>
        <p:spPr>
          <a:xfrm>
            <a:off x="810247" y="1347601"/>
            <a:ext cx="10846044" cy="1057461"/>
          </a:xfrm>
          <a:prstGeom prst="rect">
            <a:avLst/>
          </a:prstGeom>
        </p:spPr>
      </p:pic>
    </p:spTree>
    <p:extLst>
      <p:ext uri="{BB962C8B-B14F-4D97-AF65-F5344CB8AC3E}">
        <p14:creationId xmlns:p14="http://schemas.microsoft.com/office/powerpoint/2010/main" val="2179425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2FF8F-2539-D6BF-8CF4-2C48A896F346}"/>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00641FC0-7376-4AD4-0328-03B3BD85A3EA}"/>
              </a:ext>
            </a:extLst>
          </p:cNvPr>
          <p:cNvPicPr>
            <a:picLocks noChangeAspect="1"/>
          </p:cNvPicPr>
          <p:nvPr/>
        </p:nvPicPr>
        <p:blipFill>
          <a:blip r:embed="rId2"/>
          <a:stretch>
            <a:fillRect/>
          </a:stretch>
        </p:blipFill>
        <p:spPr>
          <a:xfrm>
            <a:off x="884138" y="1369871"/>
            <a:ext cx="10846044" cy="1057461"/>
          </a:xfrm>
          <a:prstGeom prst="rect">
            <a:avLst/>
          </a:prstGeom>
        </p:spPr>
      </p:pic>
      <p:sp>
        <p:nvSpPr>
          <p:cNvPr id="3" name="Marcador de texto vertical 2">
            <a:extLst>
              <a:ext uri="{FF2B5EF4-FFF2-40B4-BE49-F238E27FC236}">
                <a16:creationId xmlns:a16="http://schemas.microsoft.com/office/drawing/2014/main" id="{C879A2BD-80FB-066F-B756-237A46A8CCFB}"/>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44D0EF6F-694E-1FF3-CDB1-03444420E103}"/>
              </a:ext>
            </a:extLst>
          </p:cNvPr>
          <p:cNvSpPr>
            <a:spLocks noGrp="1"/>
          </p:cNvSpPr>
          <p:nvPr>
            <p:ph type="title"/>
          </p:nvPr>
        </p:nvSpPr>
        <p:spPr>
          <a:xfrm>
            <a:off x="810247" y="327992"/>
            <a:ext cx="10271883" cy="626165"/>
          </a:xfrm>
        </p:spPr>
        <p:txBody>
          <a:bodyPr/>
          <a:lstStyle/>
          <a:p>
            <a:r>
              <a:rPr lang="es-419" dirty="0">
                <a:solidFill>
                  <a:schemeClr val="accent1"/>
                </a:solidFill>
              </a:rPr>
              <a:t>Mantenimiento al curso del periodo del alumno (</a:t>
            </a:r>
            <a:r>
              <a:rPr lang="es-ES_tradnl" dirty="0">
                <a:solidFill>
                  <a:schemeClr val="accent1"/>
                </a:solidFill>
              </a:rPr>
              <a:t>SHAINST)</a:t>
            </a:r>
            <a:endParaRPr lang="es-CL" dirty="0">
              <a:solidFill>
                <a:schemeClr val="accent1"/>
              </a:solidFill>
            </a:endParaRPr>
          </a:p>
        </p:txBody>
      </p:sp>
      <p:sp>
        <p:nvSpPr>
          <p:cNvPr id="10" name="Rectángulo redondeado 5">
            <a:extLst>
              <a:ext uri="{FF2B5EF4-FFF2-40B4-BE49-F238E27FC236}">
                <a16:creationId xmlns:a16="http://schemas.microsoft.com/office/drawing/2014/main" id="{965E7199-5FF9-1F80-A4DD-8840855A73CB}"/>
              </a:ext>
            </a:extLst>
          </p:cNvPr>
          <p:cNvSpPr/>
          <p:nvPr/>
        </p:nvSpPr>
        <p:spPr>
          <a:xfrm>
            <a:off x="3318932" y="4089135"/>
            <a:ext cx="6176049" cy="10709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Para crear los registros de encabezados de SHAINST se requiere:</a:t>
            </a:r>
          </a:p>
          <a:p>
            <a:pPr marL="342900" indent="-342900">
              <a:buFont typeface="+mj-lt"/>
              <a:buAutoNum type="arabicPeriod"/>
            </a:pPr>
            <a:r>
              <a:rPr lang="es-ES_tradnl" sz="1200" dirty="0"/>
              <a:t>Ingresar el ID del estudiante </a:t>
            </a:r>
          </a:p>
          <a:p>
            <a:pPr marL="342900" indent="-342900">
              <a:buFont typeface="+mj-lt"/>
              <a:buAutoNum type="arabicPeriod"/>
            </a:pPr>
            <a:r>
              <a:rPr lang="es-ES_tradnl" sz="1200" dirty="0"/>
              <a:t>Ingresar o seleccionar el periodo académico al cual se cargarían las calificaciones.</a:t>
            </a:r>
          </a:p>
          <a:p>
            <a:pPr marL="342900" indent="-342900">
              <a:buFont typeface="+mj-lt"/>
              <a:buAutoNum type="arabicPeriod"/>
            </a:pPr>
            <a:r>
              <a:rPr lang="es-ES_tradnl" sz="1200" dirty="0"/>
              <a:t>Presionar el botón Ir.</a:t>
            </a:r>
          </a:p>
        </p:txBody>
      </p:sp>
      <p:sp>
        <p:nvSpPr>
          <p:cNvPr id="6" name="Rectángulo 5">
            <a:extLst>
              <a:ext uri="{FF2B5EF4-FFF2-40B4-BE49-F238E27FC236}">
                <a16:creationId xmlns:a16="http://schemas.microsoft.com/office/drawing/2014/main" id="{9FF8B477-F546-5F1A-99F7-D4FA52663F6F}"/>
              </a:ext>
            </a:extLst>
          </p:cNvPr>
          <p:cNvSpPr/>
          <p:nvPr/>
        </p:nvSpPr>
        <p:spPr>
          <a:xfrm>
            <a:off x="1490439" y="1674700"/>
            <a:ext cx="1400543" cy="1700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EFCE0ED1-ED0D-C436-B196-6CCF29649D70}"/>
              </a:ext>
            </a:extLst>
          </p:cNvPr>
          <p:cNvSpPr/>
          <p:nvPr/>
        </p:nvSpPr>
        <p:spPr>
          <a:xfrm>
            <a:off x="2948654" y="154383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1" name="Rectángulo 10">
            <a:extLst>
              <a:ext uri="{FF2B5EF4-FFF2-40B4-BE49-F238E27FC236}">
                <a16:creationId xmlns:a16="http://schemas.microsoft.com/office/drawing/2014/main" id="{627E517D-BF99-22BD-E3B7-BDDF46EFA2E9}"/>
              </a:ext>
            </a:extLst>
          </p:cNvPr>
          <p:cNvSpPr/>
          <p:nvPr/>
        </p:nvSpPr>
        <p:spPr>
          <a:xfrm>
            <a:off x="6261021" y="1666586"/>
            <a:ext cx="1525234" cy="2050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BD82FC90-59DE-CBA3-4A73-910AE6D2276E}"/>
              </a:ext>
            </a:extLst>
          </p:cNvPr>
          <p:cNvSpPr/>
          <p:nvPr/>
        </p:nvSpPr>
        <p:spPr>
          <a:xfrm>
            <a:off x="7813963" y="153460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3" name="Rectángulo 12">
            <a:extLst>
              <a:ext uri="{FF2B5EF4-FFF2-40B4-BE49-F238E27FC236}">
                <a16:creationId xmlns:a16="http://schemas.microsoft.com/office/drawing/2014/main" id="{A6152B34-AB83-8560-5BE4-A19C01B44548}"/>
              </a:ext>
            </a:extLst>
          </p:cNvPr>
          <p:cNvSpPr/>
          <p:nvPr/>
        </p:nvSpPr>
        <p:spPr>
          <a:xfrm>
            <a:off x="11360728" y="1667846"/>
            <a:ext cx="339062"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DBB7C818-4622-1FE1-8DE8-1DA0FE172477}"/>
              </a:ext>
            </a:extLst>
          </p:cNvPr>
          <p:cNvSpPr/>
          <p:nvPr/>
        </p:nvSpPr>
        <p:spPr>
          <a:xfrm>
            <a:off x="11171571" y="187162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151351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1945B-FBD4-89B4-04E1-F8DE9579965E}"/>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BF1E09C3-27C8-D422-4B34-BB346B3536B1}"/>
              </a:ext>
            </a:extLst>
          </p:cNvPr>
          <p:cNvPicPr>
            <a:picLocks noChangeAspect="1"/>
          </p:cNvPicPr>
          <p:nvPr/>
        </p:nvPicPr>
        <p:blipFill>
          <a:blip r:embed="rId2"/>
          <a:stretch>
            <a:fillRect/>
          </a:stretch>
        </p:blipFill>
        <p:spPr>
          <a:xfrm>
            <a:off x="728849" y="993392"/>
            <a:ext cx="10693324" cy="4856040"/>
          </a:xfrm>
          <a:prstGeom prst="rect">
            <a:avLst/>
          </a:prstGeom>
        </p:spPr>
      </p:pic>
      <p:sp>
        <p:nvSpPr>
          <p:cNvPr id="3" name="Marcador de texto vertical 2">
            <a:extLst>
              <a:ext uri="{FF2B5EF4-FFF2-40B4-BE49-F238E27FC236}">
                <a16:creationId xmlns:a16="http://schemas.microsoft.com/office/drawing/2014/main" id="{92FF6120-78F3-8971-B244-F46404D2AD69}"/>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3EE5DABD-FF0E-33FE-8979-DFDDAC6F77DA}"/>
              </a:ext>
            </a:extLst>
          </p:cNvPr>
          <p:cNvSpPr>
            <a:spLocks noGrp="1"/>
          </p:cNvSpPr>
          <p:nvPr>
            <p:ph type="title"/>
          </p:nvPr>
        </p:nvSpPr>
        <p:spPr>
          <a:xfrm>
            <a:off x="728849" y="325906"/>
            <a:ext cx="10271883" cy="626165"/>
          </a:xfrm>
        </p:spPr>
        <p:txBody>
          <a:bodyPr/>
          <a:lstStyle/>
          <a:p>
            <a:r>
              <a:rPr lang="es-419" dirty="0">
                <a:solidFill>
                  <a:schemeClr val="accent1"/>
                </a:solidFill>
              </a:rPr>
              <a:t>Mantenimiento al curso del periodo del alumno (</a:t>
            </a:r>
            <a:r>
              <a:rPr lang="es-ES_tradnl" dirty="0">
                <a:solidFill>
                  <a:schemeClr val="accent1"/>
                </a:solidFill>
              </a:rPr>
              <a:t>SHAINST)</a:t>
            </a:r>
            <a:endParaRPr lang="es-CL" dirty="0">
              <a:solidFill>
                <a:schemeClr val="accent1"/>
              </a:solidFill>
            </a:endParaRPr>
          </a:p>
        </p:txBody>
      </p:sp>
      <p:sp>
        <p:nvSpPr>
          <p:cNvPr id="6" name="Rectángulo redondeado 5">
            <a:extLst>
              <a:ext uri="{FF2B5EF4-FFF2-40B4-BE49-F238E27FC236}">
                <a16:creationId xmlns:a16="http://schemas.microsoft.com/office/drawing/2014/main" id="{DDBEB388-3548-182F-DF35-D7B87768E05C}"/>
              </a:ext>
            </a:extLst>
          </p:cNvPr>
          <p:cNvSpPr/>
          <p:nvPr/>
        </p:nvSpPr>
        <p:spPr>
          <a:xfrm>
            <a:off x="2049267" y="5207450"/>
            <a:ext cx="6968592" cy="133716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Dentro de la página administrativa es posible que se generen algunas notificaciones informativas, pero para generar el registro en cuestión.</a:t>
            </a:r>
          </a:p>
          <a:p>
            <a:endParaRPr lang="es-ES_tradnl" sz="1200" dirty="0"/>
          </a:p>
          <a:p>
            <a:pPr marL="342900" indent="-342900">
              <a:buFont typeface="+mj-lt"/>
              <a:buAutoNum type="arabicPeriod" startAt="4"/>
            </a:pPr>
            <a:r>
              <a:rPr lang="es-ES_tradnl" sz="1200" dirty="0"/>
              <a:t>Se requiere posicionar el cursor dentro de algún campo y esto hará que surja la ventana de Advertencia que se muestra</a:t>
            </a:r>
          </a:p>
          <a:p>
            <a:pPr marL="342900" indent="-342900">
              <a:buFont typeface="+mj-lt"/>
              <a:buAutoNum type="arabicPeriod" startAt="4"/>
            </a:pPr>
            <a:r>
              <a:rPr lang="es-ES_tradnl" sz="1200" dirty="0"/>
              <a:t>Guardar el registro (sin registrar ningún valor) haciendo clic en “Yes/Si”</a:t>
            </a:r>
          </a:p>
        </p:txBody>
      </p:sp>
      <p:sp>
        <p:nvSpPr>
          <p:cNvPr id="20" name="Rectángulo 19">
            <a:extLst>
              <a:ext uri="{FF2B5EF4-FFF2-40B4-BE49-F238E27FC236}">
                <a16:creationId xmlns:a16="http://schemas.microsoft.com/office/drawing/2014/main" id="{B2852143-CD9C-00FC-9AE4-064CCB1385AF}"/>
              </a:ext>
            </a:extLst>
          </p:cNvPr>
          <p:cNvSpPr/>
          <p:nvPr/>
        </p:nvSpPr>
        <p:spPr>
          <a:xfrm>
            <a:off x="818063" y="2755356"/>
            <a:ext cx="2442374" cy="183512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DEA9EDCA-A9B0-2089-98C4-962C1C4A1117}"/>
              </a:ext>
            </a:extLst>
          </p:cNvPr>
          <p:cNvSpPr/>
          <p:nvPr/>
        </p:nvSpPr>
        <p:spPr>
          <a:xfrm>
            <a:off x="3331698" y="267494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pic>
        <p:nvPicPr>
          <p:cNvPr id="13" name="Imagen 12">
            <a:extLst>
              <a:ext uri="{FF2B5EF4-FFF2-40B4-BE49-F238E27FC236}">
                <a16:creationId xmlns:a16="http://schemas.microsoft.com/office/drawing/2014/main" id="{5FA3B501-4976-AE58-9C34-F6CD5242D75C}"/>
              </a:ext>
            </a:extLst>
          </p:cNvPr>
          <p:cNvPicPr>
            <a:picLocks noChangeAspect="1"/>
          </p:cNvPicPr>
          <p:nvPr/>
        </p:nvPicPr>
        <p:blipFill>
          <a:blip r:embed="rId3"/>
          <a:stretch>
            <a:fillRect/>
          </a:stretch>
        </p:blipFill>
        <p:spPr>
          <a:xfrm>
            <a:off x="4085869" y="2736225"/>
            <a:ext cx="2933768" cy="1365924"/>
          </a:xfrm>
          <a:prstGeom prst="rect">
            <a:avLst/>
          </a:prstGeom>
        </p:spPr>
      </p:pic>
      <p:sp>
        <p:nvSpPr>
          <p:cNvPr id="8" name="Rectángulo 7">
            <a:extLst>
              <a:ext uri="{FF2B5EF4-FFF2-40B4-BE49-F238E27FC236}">
                <a16:creationId xmlns:a16="http://schemas.microsoft.com/office/drawing/2014/main" id="{AE1DC409-8509-9672-882C-D57D76944378}"/>
              </a:ext>
            </a:extLst>
          </p:cNvPr>
          <p:cNvSpPr/>
          <p:nvPr/>
        </p:nvSpPr>
        <p:spPr>
          <a:xfrm>
            <a:off x="5232899" y="3648362"/>
            <a:ext cx="456702" cy="29405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2A376A09-A57F-79F0-0339-838EBB19A026}"/>
              </a:ext>
            </a:extLst>
          </p:cNvPr>
          <p:cNvSpPr/>
          <p:nvPr/>
        </p:nvSpPr>
        <p:spPr>
          <a:xfrm>
            <a:off x="5062214" y="35408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2364424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906C9-0A7D-BC10-763F-0F82D906FB9A}"/>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C2C47242-0857-19F7-5F04-D8D081E78776}"/>
              </a:ext>
            </a:extLst>
          </p:cNvPr>
          <p:cNvPicPr>
            <a:picLocks noChangeAspect="1"/>
          </p:cNvPicPr>
          <p:nvPr/>
        </p:nvPicPr>
        <p:blipFill>
          <a:blip r:embed="rId2"/>
          <a:stretch>
            <a:fillRect/>
          </a:stretch>
        </p:blipFill>
        <p:spPr>
          <a:xfrm>
            <a:off x="782095" y="1115827"/>
            <a:ext cx="10910698" cy="4965620"/>
          </a:xfrm>
          <a:prstGeom prst="rect">
            <a:avLst/>
          </a:prstGeom>
        </p:spPr>
      </p:pic>
      <p:sp>
        <p:nvSpPr>
          <p:cNvPr id="3" name="Marcador de texto vertical 2">
            <a:extLst>
              <a:ext uri="{FF2B5EF4-FFF2-40B4-BE49-F238E27FC236}">
                <a16:creationId xmlns:a16="http://schemas.microsoft.com/office/drawing/2014/main" id="{B16F4566-E16C-DEE0-935E-F0943035F119}"/>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51D29E57-9B39-6D99-D356-B65016675D45}"/>
              </a:ext>
            </a:extLst>
          </p:cNvPr>
          <p:cNvSpPr>
            <a:spLocks noGrp="1"/>
          </p:cNvSpPr>
          <p:nvPr>
            <p:ph type="title"/>
          </p:nvPr>
        </p:nvSpPr>
        <p:spPr>
          <a:xfrm>
            <a:off x="782095" y="372717"/>
            <a:ext cx="10271883" cy="626165"/>
          </a:xfrm>
        </p:spPr>
        <p:txBody>
          <a:bodyPr/>
          <a:lstStyle/>
          <a:p>
            <a:r>
              <a:rPr lang="es-419" dirty="0">
                <a:solidFill>
                  <a:schemeClr val="accent1"/>
                </a:solidFill>
              </a:rPr>
              <a:t>Mantenimiento al curso del periodo del alumno (</a:t>
            </a:r>
            <a:r>
              <a:rPr lang="es-ES_tradnl" dirty="0">
                <a:solidFill>
                  <a:schemeClr val="accent1"/>
                </a:solidFill>
              </a:rPr>
              <a:t>SHAINST)</a:t>
            </a:r>
            <a:endParaRPr lang="es-CL" dirty="0">
              <a:solidFill>
                <a:schemeClr val="accent1"/>
              </a:solidFill>
            </a:endParaRPr>
          </a:p>
        </p:txBody>
      </p:sp>
      <p:sp>
        <p:nvSpPr>
          <p:cNvPr id="6" name="Rectángulo redondeado 5">
            <a:extLst>
              <a:ext uri="{FF2B5EF4-FFF2-40B4-BE49-F238E27FC236}">
                <a16:creationId xmlns:a16="http://schemas.microsoft.com/office/drawing/2014/main" id="{E03072E9-74BF-F97E-4209-D60CF691AFA1}"/>
              </a:ext>
            </a:extLst>
          </p:cNvPr>
          <p:cNvSpPr/>
          <p:nvPr/>
        </p:nvSpPr>
        <p:spPr>
          <a:xfrm>
            <a:off x="3255433" y="3063898"/>
            <a:ext cx="5681134" cy="10709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Confirmación de la creación del registro de encabezado para el periodo académico del estudiante.</a:t>
            </a:r>
          </a:p>
        </p:txBody>
      </p:sp>
      <p:sp>
        <p:nvSpPr>
          <p:cNvPr id="7" name="Rectángulo 6">
            <a:extLst>
              <a:ext uri="{FF2B5EF4-FFF2-40B4-BE49-F238E27FC236}">
                <a16:creationId xmlns:a16="http://schemas.microsoft.com/office/drawing/2014/main" id="{CF613DDF-E6B7-8A6C-D4B9-349265B1BBF7}"/>
              </a:ext>
            </a:extLst>
          </p:cNvPr>
          <p:cNvSpPr/>
          <p:nvPr/>
        </p:nvSpPr>
        <p:spPr>
          <a:xfrm>
            <a:off x="9393382" y="1348201"/>
            <a:ext cx="2336355" cy="36976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2121957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0EF79-8E39-FAD8-87EF-F185BE4E14D8}"/>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0CD7333-82FC-3C32-0CF3-71AA9CE4B421}"/>
              </a:ext>
            </a:extLst>
          </p:cNvPr>
          <p:cNvSpPr>
            <a:spLocks noGrp="1"/>
          </p:cNvSpPr>
          <p:nvPr>
            <p:ph type="body" sz="quarter" idx="10"/>
          </p:nvPr>
        </p:nvSpPr>
        <p:spPr>
          <a:xfrm>
            <a:off x="914399" y="2238843"/>
            <a:ext cx="10363202" cy="669094"/>
          </a:xfrm>
        </p:spPr>
        <p:txBody>
          <a:bodyPr/>
          <a:lstStyle/>
          <a:p>
            <a:r>
              <a:rPr lang="es-CL" dirty="0"/>
              <a:t>Modificación de Calificaciones</a:t>
            </a:r>
            <a:endParaRPr lang="es-419" dirty="0"/>
          </a:p>
        </p:txBody>
      </p:sp>
      <p:sp>
        <p:nvSpPr>
          <p:cNvPr id="2" name="Marcador de texto vertical 1">
            <a:extLst>
              <a:ext uri="{FF2B5EF4-FFF2-40B4-BE49-F238E27FC236}">
                <a16:creationId xmlns:a16="http://schemas.microsoft.com/office/drawing/2014/main" id="{7C0FDF41-DDC4-9D23-6D77-80E5D948BF87}"/>
              </a:ext>
            </a:extLst>
          </p:cNvPr>
          <p:cNvSpPr>
            <a:spLocks noGrp="1"/>
          </p:cNvSpPr>
          <p:nvPr>
            <p:ph type="body" sz="quarter" idx="11"/>
          </p:nvPr>
        </p:nvSpPr>
        <p:spPr/>
        <p:txBody>
          <a:bodyPr/>
          <a:lstStyle/>
          <a:p>
            <a:r>
              <a:rPr lang="es-419" sz="1200" dirty="0"/>
              <a:t>Gestionar la historia académica del estudiante</a:t>
            </a:r>
            <a:endParaRPr lang="en-US" dirty="0"/>
          </a:p>
        </p:txBody>
      </p:sp>
    </p:spTree>
    <p:extLst>
      <p:ext uri="{BB962C8B-B14F-4D97-AF65-F5344CB8AC3E}">
        <p14:creationId xmlns:p14="http://schemas.microsoft.com/office/powerpoint/2010/main" val="3580566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A3302-86C7-A482-55E4-29EDB2A676F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584859B-303B-5012-BB41-E861D08BFEAA}"/>
              </a:ext>
            </a:extLst>
          </p:cNvPr>
          <p:cNvPicPr>
            <a:picLocks noChangeAspect="1"/>
          </p:cNvPicPr>
          <p:nvPr/>
        </p:nvPicPr>
        <p:blipFill>
          <a:blip r:embed="rId2"/>
          <a:stretch>
            <a:fillRect/>
          </a:stretch>
        </p:blipFill>
        <p:spPr>
          <a:xfrm>
            <a:off x="886691" y="1163781"/>
            <a:ext cx="10557164" cy="4802712"/>
          </a:xfrm>
          <a:prstGeom prst="rect">
            <a:avLst/>
          </a:prstGeom>
        </p:spPr>
      </p:pic>
      <p:sp>
        <p:nvSpPr>
          <p:cNvPr id="3" name="Marcador de texto vertical 2">
            <a:extLst>
              <a:ext uri="{FF2B5EF4-FFF2-40B4-BE49-F238E27FC236}">
                <a16:creationId xmlns:a16="http://schemas.microsoft.com/office/drawing/2014/main" id="{2D87F74C-5C0E-BE42-7829-79C31E340EBF}"/>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089DEF7C-0CA0-8A0F-71D3-62C59352A9F9}"/>
              </a:ext>
            </a:extLst>
          </p:cNvPr>
          <p:cNvSpPr>
            <a:spLocks noGrp="1"/>
          </p:cNvSpPr>
          <p:nvPr>
            <p:ph type="title"/>
          </p:nvPr>
        </p:nvSpPr>
        <p:spPr>
          <a:xfrm>
            <a:off x="810247" y="327992"/>
            <a:ext cx="10271883" cy="626165"/>
          </a:xfrm>
        </p:spPr>
        <p:txBody>
          <a:bodyPr/>
          <a:lstStyle/>
          <a:p>
            <a:r>
              <a:rPr lang="es-419" dirty="0">
                <a:solidFill>
                  <a:schemeClr val="accent1"/>
                </a:solidFill>
              </a:rPr>
              <a:t>Mantenimiento al curso del alumno (SHATCKN)</a:t>
            </a:r>
            <a:endParaRPr lang="es-CL" dirty="0">
              <a:solidFill>
                <a:schemeClr val="accent1"/>
              </a:solidFill>
            </a:endParaRPr>
          </a:p>
        </p:txBody>
      </p:sp>
      <p:sp>
        <p:nvSpPr>
          <p:cNvPr id="6" name="Rectángulo redondeado 5">
            <a:extLst>
              <a:ext uri="{FF2B5EF4-FFF2-40B4-BE49-F238E27FC236}">
                <a16:creationId xmlns:a16="http://schemas.microsoft.com/office/drawing/2014/main" id="{25E3D944-70A8-78FC-BBC5-A396534A8B29}"/>
              </a:ext>
            </a:extLst>
          </p:cNvPr>
          <p:cNvSpPr/>
          <p:nvPr/>
        </p:nvSpPr>
        <p:spPr>
          <a:xfrm>
            <a:off x="1985818" y="3232728"/>
            <a:ext cx="6625284" cy="162560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L" sz="1200" dirty="0"/>
              <a:t>El ingreso directo o el ajuste de una calificación de Historia Académica se desarrolla en la página administrativa SHATCKN.</a:t>
            </a:r>
          </a:p>
          <a:p>
            <a:endParaRPr lang="es-CL" sz="1200" dirty="0"/>
          </a:p>
          <a:p>
            <a:r>
              <a:rPr lang="es-CL" sz="1200" dirty="0"/>
              <a:t>Como se indicó, si no se ha generado el registro previamente en la página SHAINST, esta </a:t>
            </a:r>
            <a:r>
              <a:rPr lang="es-ES_tradnl" sz="1200" dirty="0"/>
              <a:t>es la notificación de Banner que indica la necesidad de crear una encabezado de periodo académico en el caso que el estudiante no posea registros de historia académica previas en el periodo académico en cuestión.</a:t>
            </a:r>
          </a:p>
        </p:txBody>
      </p:sp>
      <p:sp>
        <p:nvSpPr>
          <p:cNvPr id="7" name="Rectángulo 6">
            <a:extLst>
              <a:ext uri="{FF2B5EF4-FFF2-40B4-BE49-F238E27FC236}">
                <a16:creationId xmlns:a16="http://schemas.microsoft.com/office/drawing/2014/main" id="{CBAD8D4A-24FD-16FC-C60C-1796D8B6D38B}"/>
              </a:ext>
            </a:extLst>
          </p:cNvPr>
          <p:cNvSpPr/>
          <p:nvPr/>
        </p:nvSpPr>
        <p:spPr>
          <a:xfrm>
            <a:off x="7376001" y="1367592"/>
            <a:ext cx="4123272" cy="39655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98388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C09E-2215-29F7-CBEB-55BDBEA8F821}"/>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85A173CE-83CE-0935-F0A6-5CF858A6B168}"/>
              </a:ext>
            </a:extLst>
          </p:cNvPr>
          <p:cNvPicPr>
            <a:picLocks noChangeAspect="1"/>
          </p:cNvPicPr>
          <p:nvPr/>
        </p:nvPicPr>
        <p:blipFill>
          <a:blip r:embed="rId2"/>
          <a:stretch>
            <a:fillRect/>
          </a:stretch>
        </p:blipFill>
        <p:spPr>
          <a:xfrm>
            <a:off x="810247" y="1357034"/>
            <a:ext cx="10846044" cy="1085735"/>
          </a:xfrm>
          <a:prstGeom prst="rect">
            <a:avLst/>
          </a:prstGeom>
        </p:spPr>
      </p:pic>
      <p:sp>
        <p:nvSpPr>
          <p:cNvPr id="3" name="Marcador de texto vertical 2">
            <a:extLst>
              <a:ext uri="{FF2B5EF4-FFF2-40B4-BE49-F238E27FC236}">
                <a16:creationId xmlns:a16="http://schemas.microsoft.com/office/drawing/2014/main" id="{40B2B09E-ED6A-D03F-E68D-D6EC3828FD76}"/>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C3BFB09E-92E7-DC6E-F72A-8C6B7B3DA380}"/>
              </a:ext>
            </a:extLst>
          </p:cNvPr>
          <p:cNvSpPr>
            <a:spLocks noGrp="1"/>
          </p:cNvSpPr>
          <p:nvPr>
            <p:ph type="title"/>
          </p:nvPr>
        </p:nvSpPr>
        <p:spPr>
          <a:xfrm>
            <a:off x="810247" y="327992"/>
            <a:ext cx="10271883" cy="626165"/>
          </a:xfrm>
        </p:spPr>
        <p:txBody>
          <a:bodyPr/>
          <a:lstStyle/>
          <a:p>
            <a:r>
              <a:rPr lang="es-419" dirty="0">
                <a:solidFill>
                  <a:schemeClr val="accent1"/>
                </a:solidFill>
              </a:rPr>
              <a:t>Mantenimiento al curso del alumno (SHATCKN)</a:t>
            </a:r>
            <a:br>
              <a:rPr lang="es-CL" b="1" dirty="0">
                <a:solidFill>
                  <a:schemeClr val="accent1"/>
                </a:solidFill>
                <a:effectLst/>
              </a:rPr>
            </a:br>
            <a:endParaRPr lang="es-CL" dirty="0">
              <a:solidFill>
                <a:schemeClr val="accent1"/>
              </a:solidFill>
            </a:endParaRPr>
          </a:p>
        </p:txBody>
      </p:sp>
      <p:sp>
        <p:nvSpPr>
          <p:cNvPr id="6" name="Rectángulo redondeado 5">
            <a:extLst>
              <a:ext uri="{FF2B5EF4-FFF2-40B4-BE49-F238E27FC236}">
                <a16:creationId xmlns:a16="http://schemas.microsoft.com/office/drawing/2014/main" id="{4936FB61-EE01-4BC6-1A75-C46073FE1869}"/>
              </a:ext>
            </a:extLst>
          </p:cNvPr>
          <p:cNvSpPr/>
          <p:nvPr/>
        </p:nvSpPr>
        <p:spPr>
          <a:xfrm>
            <a:off x="2496115" y="3735092"/>
            <a:ext cx="7199770" cy="129865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L" sz="1200" dirty="0"/>
              <a:t>Si ya se tiene registro en SHAINST, siga los siguientes pasos para agregar o modificar una calificación a </a:t>
            </a:r>
            <a:r>
              <a:rPr lang="es-CL" sz="1200"/>
              <a:t>un estudiante:</a:t>
            </a:r>
            <a:endParaRPr lang="es-CL" sz="1200" dirty="0"/>
          </a:p>
          <a:p>
            <a:pPr marL="228600" indent="-228600">
              <a:buFont typeface="+mj-lt"/>
              <a:buAutoNum type="arabicPeriod"/>
            </a:pPr>
            <a:r>
              <a:rPr lang="es-CL" sz="1200" dirty="0"/>
              <a:t>Ingresar el ID del estudiante </a:t>
            </a:r>
          </a:p>
          <a:p>
            <a:pPr marL="228600" indent="-228600">
              <a:buFont typeface="+mj-lt"/>
              <a:buAutoNum type="arabicPeriod"/>
            </a:pPr>
            <a:r>
              <a:rPr lang="es-CL" sz="1200" dirty="0"/>
              <a:t>Ingrese o seleccione el periodo académico al cual se desea realizar el ajuste y/o registro.</a:t>
            </a:r>
          </a:p>
        </p:txBody>
      </p:sp>
      <p:sp>
        <p:nvSpPr>
          <p:cNvPr id="7" name="Rectángulo 6">
            <a:extLst>
              <a:ext uri="{FF2B5EF4-FFF2-40B4-BE49-F238E27FC236}">
                <a16:creationId xmlns:a16="http://schemas.microsoft.com/office/drawing/2014/main" id="{D6C3C42A-0AA4-ECB2-0D01-D197A8E7CFCB}"/>
              </a:ext>
            </a:extLst>
          </p:cNvPr>
          <p:cNvSpPr/>
          <p:nvPr/>
        </p:nvSpPr>
        <p:spPr>
          <a:xfrm>
            <a:off x="1255493" y="1621735"/>
            <a:ext cx="1386107" cy="1331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C259FD20-4DE4-C5E4-0FA4-A750F2FB927F}"/>
              </a:ext>
            </a:extLst>
          </p:cNvPr>
          <p:cNvSpPr/>
          <p:nvPr/>
        </p:nvSpPr>
        <p:spPr>
          <a:xfrm>
            <a:off x="2680797" y="151147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1" name="Rectángulo 10">
            <a:extLst>
              <a:ext uri="{FF2B5EF4-FFF2-40B4-BE49-F238E27FC236}">
                <a16:creationId xmlns:a16="http://schemas.microsoft.com/office/drawing/2014/main" id="{EA4F99B2-7F6B-7583-4527-D7D1C457F813}"/>
              </a:ext>
            </a:extLst>
          </p:cNvPr>
          <p:cNvSpPr/>
          <p:nvPr/>
        </p:nvSpPr>
        <p:spPr>
          <a:xfrm>
            <a:off x="1204701" y="1774135"/>
            <a:ext cx="1386107" cy="1331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D5FC4928-AFDF-272A-94C1-9706A9696C8A}"/>
              </a:ext>
            </a:extLst>
          </p:cNvPr>
          <p:cNvSpPr/>
          <p:nvPr/>
        </p:nvSpPr>
        <p:spPr>
          <a:xfrm>
            <a:off x="2600072" y="193580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3" name="Rectángulo redondeado 15">
            <a:extLst>
              <a:ext uri="{FF2B5EF4-FFF2-40B4-BE49-F238E27FC236}">
                <a16:creationId xmlns:a16="http://schemas.microsoft.com/office/drawing/2014/main" id="{145B6A20-3495-F68B-5EB0-D5793F7F232F}"/>
              </a:ext>
            </a:extLst>
          </p:cNvPr>
          <p:cNvSpPr/>
          <p:nvPr/>
        </p:nvSpPr>
        <p:spPr>
          <a:xfrm>
            <a:off x="11081579" y="171612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4" name="Rectángulo 13">
            <a:extLst>
              <a:ext uri="{FF2B5EF4-FFF2-40B4-BE49-F238E27FC236}">
                <a16:creationId xmlns:a16="http://schemas.microsoft.com/office/drawing/2014/main" id="{0647951D-C095-2464-65FA-93BC8CB908EA}"/>
              </a:ext>
            </a:extLst>
          </p:cNvPr>
          <p:cNvSpPr/>
          <p:nvPr/>
        </p:nvSpPr>
        <p:spPr>
          <a:xfrm>
            <a:off x="11333017" y="1635721"/>
            <a:ext cx="315015"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120389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E9D0E-BA3C-FA4E-55F7-19E98C3ACFBD}"/>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5C94D29D-FDD8-5A8A-F340-396A05AA71EE}"/>
              </a:ext>
            </a:extLst>
          </p:cNvPr>
          <p:cNvPicPr>
            <a:picLocks noChangeAspect="1"/>
          </p:cNvPicPr>
          <p:nvPr/>
        </p:nvPicPr>
        <p:blipFill>
          <a:blip r:embed="rId2"/>
          <a:stretch>
            <a:fillRect/>
          </a:stretch>
        </p:blipFill>
        <p:spPr>
          <a:xfrm>
            <a:off x="773303" y="1519446"/>
            <a:ext cx="11021535" cy="1160161"/>
          </a:xfrm>
          <a:prstGeom prst="rect">
            <a:avLst/>
          </a:prstGeom>
        </p:spPr>
      </p:pic>
      <p:sp>
        <p:nvSpPr>
          <p:cNvPr id="3" name="Marcador de texto vertical 2">
            <a:extLst>
              <a:ext uri="{FF2B5EF4-FFF2-40B4-BE49-F238E27FC236}">
                <a16:creationId xmlns:a16="http://schemas.microsoft.com/office/drawing/2014/main" id="{1B88B48E-396D-531C-160E-24C108BA6C1A}"/>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56236FEB-4474-BDEA-52FF-BDBE8E72B3ED}"/>
              </a:ext>
            </a:extLst>
          </p:cNvPr>
          <p:cNvSpPr>
            <a:spLocks noGrp="1"/>
          </p:cNvSpPr>
          <p:nvPr>
            <p:ph type="title"/>
          </p:nvPr>
        </p:nvSpPr>
        <p:spPr>
          <a:xfrm>
            <a:off x="773303" y="372717"/>
            <a:ext cx="10271883" cy="626165"/>
          </a:xfrm>
        </p:spPr>
        <p:txBody>
          <a:bodyPr/>
          <a:lstStyle/>
          <a:p>
            <a:r>
              <a:rPr lang="es-419" dirty="0">
                <a:solidFill>
                  <a:schemeClr val="accent1"/>
                </a:solidFill>
              </a:rPr>
              <a:t>Mantenimiento al curso del alumno (SHATCKN)</a:t>
            </a:r>
            <a:br>
              <a:rPr lang="es-CL" dirty="0">
                <a:solidFill>
                  <a:schemeClr val="accent1"/>
                </a:solidFill>
              </a:rPr>
            </a:br>
            <a:br>
              <a:rPr lang="es-CL" b="1" dirty="0">
                <a:solidFill>
                  <a:schemeClr val="accent1"/>
                </a:solidFill>
                <a:effectLst/>
              </a:rPr>
            </a:br>
            <a:endParaRPr lang="es-CL" dirty="0">
              <a:solidFill>
                <a:schemeClr val="accent1"/>
              </a:solidFill>
            </a:endParaRPr>
          </a:p>
        </p:txBody>
      </p:sp>
      <p:sp>
        <p:nvSpPr>
          <p:cNvPr id="6" name="Rectángulo redondeado 5">
            <a:extLst>
              <a:ext uri="{FF2B5EF4-FFF2-40B4-BE49-F238E27FC236}">
                <a16:creationId xmlns:a16="http://schemas.microsoft.com/office/drawing/2014/main" id="{1B94ABB2-FEC9-B54C-8603-1579DA6A3DA5}"/>
              </a:ext>
            </a:extLst>
          </p:cNvPr>
          <p:cNvSpPr/>
          <p:nvPr/>
        </p:nvSpPr>
        <p:spPr>
          <a:xfrm>
            <a:off x="2181779" y="3250592"/>
            <a:ext cx="8587821" cy="245748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CL" sz="1200" dirty="0"/>
              <a:t>Seleccionar el nivel de validación que se desea desarrollar, de los cual afecta de la siguiente forma:</a:t>
            </a:r>
          </a:p>
          <a:p>
            <a:pPr marL="285750" indent="-285750">
              <a:buFontTx/>
              <a:buChar char="-"/>
            </a:pPr>
            <a:r>
              <a:rPr lang="es-CL" sz="1200" b="1" dirty="0"/>
              <a:t>Catálogo:</a:t>
            </a:r>
            <a:r>
              <a:rPr lang="es-CL" sz="1200" dirty="0"/>
              <a:t> valida que el ajuste o creación de registros de calificaciones sean parte de las asignaturas del catálogo del curso del ambiente, no siendo necesario que el estudiante las haya cursado.</a:t>
            </a:r>
          </a:p>
          <a:p>
            <a:pPr marL="285750" indent="-285750">
              <a:buFontTx/>
              <a:buChar char="-"/>
            </a:pPr>
            <a:r>
              <a:rPr lang="es-CL" sz="1200" b="1" dirty="0"/>
              <a:t>Horario: </a:t>
            </a:r>
            <a:r>
              <a:rPr lang="es-CL" sz="1200" dirty="0"/>
              <a:t>valida que el ajuste o creación de registros de calificaciones correspondan a calificaciones definidas desde un NRC ya cursado (con paso de historia académica)</a:t>
            </a:r>
          </a:p>
          <a:p>
            <a:pPr marL="285750" indent="-285750">
              <a:buFontTx/>
              <a:buChar char="-"/>
            </a:pPr>
            <a:r>
              <a:rPr lang="es-CL" sz="1200" b="1" dirty="0"/>
              <a:t>Pre-Banner: </a:t>
            </a:r>
            <a:r>
              <a:rPr lang="es-CL" sz="1200" dirty="0"/>
              <a:t>permite registrar las calificaciones que cualquier asignatura pudiendo no estar creada en el ambiente, esto no quieta el hecho que fuera a ser utilizada para la evaluación del CAPP. </a:t>
            </a:r>
          </a:p>
          <a:p>
            <a:pPr marL="228600" indent="-228600">
              <a:buFont typeface="+mj-lt"/>
              <a:buAutoNum type="arabicPeriod" startAt="4"/>
            </a:pPr>
            <a:r>
              <a:rPr lang="es-CL" sz="1200" dirty="0"/>
              <a:t>Presione el botón Ir.</a:t>
            </a:r>
          </a:p>
          <a:p>
            <a:r>
              <a:rPr lang="es-CL" sz="1200" b="1" u="sng" dirty="0"/>
              <a:t>Se sugiere preferir el uso de las modalidades ‘Catálogo’ u ‘Horario’ para mantener consistencia con los registros de Banner.</a:t>
            </a:r>
            <a:endParaRPr lang="es-CO" sz="1200" b="1" u="sng" dirty="0"/>
          </a:p>
        </p:txBody>
      </p:sp>
      <p:sp>
        <p:nvSpPr>
          <p:cNvPr id="2" name="Rectángulo 1">
            <a:extLst>
              <a:ext uri="{FF2B5EF4-FFF2-40B4-BE49-F238E27FC236}">
                <a16:creationId xmlns:a16="http://schemas.microsoft.com/office/drawing/2014/main" id="{B3295764-D87A-5F7C-4E95-9F32B881D8B2}"/>
              </a:ext>
            </a:extLst>
          </p:cNvPr>
          <p:cNvSpPr/>
          <p:nvPr/>
        </p:nvSpPr>
        <p:spPr>
          <a:xfrm>
            <a:off x="6022109" y="1945310"/>
            <a:ext cx="1856509" cy="47461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4BC6D653-19DC-B9F1-4929-A01A5590FC5E}"/>
              </a:ext>
            </a:extLst>
          </p:cNvPr>
          <p:cNvSpPr/>
          <p:nvPr/>
        </p:nvSpPr>
        <p:spPr>
          <a:xfrm>
            <a:off x="5770671" y="182144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redondeado 15">
            <a:extLst>
              <a:ext uri="{FF2B5EF4-FFF2-40B4-BE49-F238E27FC236}">
                <a16:creationId xmlns:a16="http://schemas.microsoft.com/office/drawing/2014/main" id="{56E63A06-6379-2064-A223-F0BF3CD532BD}"/>
              </a:ext>
            </a:extLst>
          </p:cNvPr>
          <p:cNvSpPr/>
          <p:nvPr/>
        </p:nvSpPr>
        <p:spPr>
          <a:xfrm>
            <a:off x="11200677" y="190184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4" name="Rectángulo 13">
            <a:extLst>
              <a:ext uri="{FF2B5EF4-FFF2-40B4-BE49-F238E27FC236}">
                <a16:creationId xmlns:a16="http://schemas.microsoft.com/office/drawing/2014/main" id="{54B88796-BACF-26C2-60AF-56BEE12CCE23}"/>
              </a:ext>
            </a:extLst>
          </p:cNvPr>
          <p:cNvSpPr/>
          <p:nvPr/>
        </p:nvSpPr>
        <p:spPr>
          <a:xfrm>
            <a:off x="11452115" y="1821440"/>
            <a:ext cx="315015"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77840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E7F98-FC52-AD27-0177-3A929151494E}"/>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899FC279-9723-8452-A66F-E9DB4450125E}"/>
              </a:ext>
            </a:extLst>
          </p:cNvPr>
          <p:cNvPicPr>
            <a:picLocks noChangeAspect="1"/>
          </p:cNvPicPr>
          <p:nvPr/>
        </p:nvPicPr>
        <p:blipFill>
          <a:blip r:embed="rId2"/>
          <a:stretch>
            <a:fillRect/>
          </a:stretch>
        </p:blipFill>
        <p:spPr>
          <a:xfrm>
            <a:off x="609601" y="1033884"/>
            <a:ext cx="11175999" cy="5119179"/>
          </a:xfrm>
          <a:prstGeom prst="rect">
            <a:avLst/>
          </a:prstGeom>
        </p:spPr>
      </p:pic>
      <p:sp>
        <p:nvSpPr>
          <p:cNvPr id="3" name="Marcador de texto vertical 2">
            <a:extLst>
              <a:ext uri="{FF2B5EF4-FFF2-40B4-BE49-F238E27FC236}">
                <a16:creationId xmlns:a16="http://schemas.microsoft.com/office/drawing/2014/main" id="{58037033-03D1-7E45-20B7-8DE131D0414A}"/>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193EB871-8148-9615-0364-EF978E7086B2}"/>
              </a:ext>
            </a:extLst>
          </p:cNvPr>
          <p:cNvSpPr>
            <a:spLocks noGrp="1"/>
          </p:cNvSpPr>
          <p:nvPr>
            <p:ph type="title"/>
          </p:nvPr>
        </p:nvSpPr>
        <p:spPr>
          <a:xfrm>
            <a:off x="609599" y="345770"/>
            <a:ext cx="10271883" cy="626165"/>
          </a:xfrm>
        </p:spPr>
        <p:txBody>
          <a:bodyPr/>
          <a:lstStyle/>
          <a:p>
            <a:r>
              <a:rPr lang="es-419" dirty="0">
                <a:solidFill>
                  <a:schemeClr val="accent1"/>
                </a:solidFill>
              </a:rPr>
              <a:t>Mantenimiento al curso del alumno (SHATCKN)</a:t>
            </a:r>
            <a:br>
              <a:rPr lang="es-CL" dirty="0">
                <a:solidFill>
                  <a:schemeClr val="accent1"/>
                </a:solidFill>
              </a:rPr>
            </a:br>
            <a:endParaRPr lang="es-CL" dirty="0">
              <a:solidFill>
                <a:schemeClr val="accent1"/>
              </a:solidFill>
            </a:endParaRPr>
          </a:p>
        </p:txBody>
      </p:sp>
      <p:sp>
        <p:nvSpPr>
          <p:cNvPr id="8" name="Rectángulo 7">
            <a:extLst>
              <a:ext uri="{FF2B5EF4-FFF2-40B4-BE49-F238E27FC236}">
                <a16:creationId xmlns:a16="http://schemas.microsoft.com/office/drawing/2014/main" id="{4593F426-A158-2AB9-988F-E6D4EB64CCDD}"/>
              </a:ext>
            </a:extLst>
          </p:cNvPr>
          <p:cNvSpPr/>
          <p:nvPr/>
        </p:nvSpPr>
        <p:spPr>
          <a:xfrm>
            <a:off x="609601" y="1459345"/>
            <a:ext cx="11175998" cy="108065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5">
            <a:extLst>
              <a:ext uri="{FF2B5EF4-FFF2-40B4-BE49-F238E27FC236}">
                <a16:creationId xmlns:a16="http://schemas.microsoft.com/office/drawing/2014/main" id="{7EF69391-6007-FA8C-9D8D-02AC2C40E2D8}"/>
              </a:ext>
            </a:extLst>
          </p:cNvPr>
          <p:cNvSpPr/>
          <p:nvPr/>
        </p:nvSpPr>
        <p:spPr>
          <a:xfrm>
            <a:off x="609599" y="2519034"/>
            <a:ext cx="11175997" cy="75063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9538D7E8-EF0A-FB82-06D4-7763A4409740}"/>
              </a:ext>
            </a:extLst>
          </p:cNvPr>
          <p:cNvSpPr/>
          <p:nvPr/>
        </p:nvSpPr>
        <p:spPr>
          <a:xfrm>
            <a:off x="609599" y="3282670"/>
            <a:ext cx="11175996" cy="55965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273F1EF4-E84D-B4CB-A62A-46644EF6DF28}"/>
              </a:ext>
            </a:extLst>
          </p:cNvPr>
          <p:cNvSpPr/>
          <p:nvPr/>
        </p:nvSpPr>
        <p:spPr>
          <a:xfrm>
            <a:off x="2770221" y="4406339"/>
            <a:ext cx="6923343" cy="89465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pantalla desplegada se podrán visualizar solo los registros de calificaciones del estudiante que pertenezcan al periodo académico definido al momento de ingresar. Se destacan tres áreas que corresponden a la información de historia académica.</a:t>
            </a:r>
          </a:p>
        </p:txBody>
      </p:sp>
    </p:spTree>
    <p:extLst>
      <p:ext uri="{BB962C8B-B14F-4D97-AF65-F5344CB8AC3E}">
        <p14:creationId xmlns:p14="http://schemas.microsoft.com/office/powerpoint/2010/main" val="948123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DEE7C-59F7-E18C-5F08-B93209A05750}"/>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7B2B67A1-C9D1-BF50-57B0-CD8B7488620D}"/>
              </a:ext>
            </a:extLst>
          </p:cNvPr>
          <p:cNvPicPr>
            <a:picLocks noChangeAspect="1"/>
          </p:cNvPicPr>
          <p:nvPr/>
        </p:nvPicPr>
        <p:blipFill>
          <a:blip r:embed="rId2"/>
          <a:stretch>
            <a:fillRect/>
          </a:stretch>
        </p:blipFill>
        <p:spPr>
          <a:xfrm>
            <a:off x="609601" y="1033884"/>
            <a:ext cx="11175999" cy="5119179"/>
          </a:xfrm>
          <a:prstGeom prst="rect">
            <a:avLst/>
          </a:prstGeom>
        </p:spPr>
      </p:pic>
      <p:sp>
        <p:nvSpPr>
          <p:cNvPr id="3" name="Marcador de texto vertical 2">
            <a:extLst>
              <a:ext uri="{FF2B5EF4-FFF2-40B4-BE49-F238E27FC236}">
                <a16:creationId xmlns:a16="http://schemas.microsoft.com/office/drawing/2014/main" id="{EB0C9FB7-8027-0AF5-CC20-21FFA846E724}"/>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2B4E852E-B42C-248C-AE00-AE036996E3EB}"/>
              </a:ext>
            </a:extLst>
          </p:cNvPr>
          <p:cNvSpPr>
            <a:spLocks noGrp="1"/>
          </p:cNvSpPr>
          <p:nvPr>
            <p:ph type="title"/>
          </p:nvPr>
        </p:nvSpPr>
        <p:spPr>
          <a:xfrm>
            <a:off x="609601" y="320605"/>
            <a:ext cx="10271883" cy="626165"/>
          </a:xfrm>
        </p:spPr>
        <p:txBody>
          <a:bodyPr/>
          <a:lstStyle/>
          <a:p>
            <a:r>
              <a:rPr lang="es-419" dirty="0">
                <a:solidFill>
                  <a:schemeClr val="accent1"/>
                </a:solidFill>
              </a:rPr>
              <a:t>Mantenimiento al curso del alumno (SHATCKN)</a:t>
            </a:r>
            <a:br>
              <a:rPr lang="es-CL" dirty="0">
                <a:solidFill>
                  <a:schemeClr val="accent1"/>
                </a:solidFill>
              </a:rPr>
            </a:br>
            <a:endParaRPr lang="es-CL" dirty="0">
              <a:solidFill>
                <a:schemeClr val="accent1"/>
              </a:solidFill>
            </a:endParaRPr>
          </a:p>
        </p:txBody>
      </p:sp>
      <p:sp>
        <p:nvSpPr>
          <p:cNvPr id="8" name="Rectángulo 7">
            <a:extLst>
              <a:ext uri="{FF2B5EF4-FFF2-40B4-BE49-F238E27FC236}">
                <a16:creationId xmlns:a16="http://schemas.microsoft.com/office/drawing/2014/main" id="{738C9918-2726-3571-82D3-DC96B618C85E}"/>
              </a:ext>
            </a:extLst>
          </p:cNvPr>
          <p:cNvSpPr/>
          <p:nvPr/>
        </p:nvSpPr>
        <p:spPr>
          <a:xfrm>
            <a:off x="609601" y="1460572"/>
            <a:ext cx="11175998" cy="105172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1A153F52-2319-47FD-FB8D-A455837F8ECF}"/>
              </a:ext>
            </a:extLst>
          </p:cNvPr>
          <p:cNvSpPr/>
          <p:nvPr/>
        </p:nvSpPr>
        <p:spPr>
          <a:xfrm>
            <a:off x="2247900" y="4279523"/>
            <a:ext cx="6969991" cy="69887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La primera área hace referencia a lo que fuera la identificación de la asignatura propiamente tal. </a:t>
            </a:r>
            <a:br>
              <a:rPr lang="es-ES_tradnl" sz="1200" dirty="0"/>
            </a:br>
            <a:r>
              <a:rPr lang="es-ES_tradnl" sz="1200" dirty="0"/>
              <a:t>Si la calificación está asociada a un plan de estudios, esta relación estará definida en esta área, para visualizarla deberá desplazar la ventana hacia la derecha.</a:t>
            </a:r>
          </a:p>
        </p:txBody>
      </p:sp>
    </p:spTree>
    <p:extLst>
      <p:ext uri="{BB962C8B-B14F-4D97-AF65-F5344CB8AC3E}">
        <p14:creationId xmlns:p14="http://schemas.microsoft.com/office/powerpoint/2010/main" val="338897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6BE29-37F9-E389-C5BC-30B0E152DB5F}"/>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F8B0F088-5C48-8DA6-829A-2EE7822DA280}"/>
              </a:ext>
            </a:extLst>
          </p:cNvPr>
          <p:cNvPicPr>
            <a:picLocks noChangeAspect="1"/>
          </p:cNvPicPr>
          <p:nvPr/>
        </p:nvPicPr>
        <p:blipFill>
          <a:blip r:embed="rId2"/>
          <a:stretch>
            <a:fillRect/>
          </a:stretch>
        </p:blipFill>
        <p:spPr>
          <a:xfrm>
            <a:off x="609601" y="1033884"/>
            <a:ext cx="11175999" cy="5119179"/>
          </a:xfrm>
          <a:prstGeom prst="rect">
            <a:avLst/>
          </a:prstGeom>
        </p:spPr>
      </p:pic>
      <p:sp>
        <p:nvSpPr>
          <p:cNvPr id="3" name="Marcador de texto vertical 2">
            <a:extLst>
              <a:ext uri="{FF2B5EF4-FFF2-40B4-BE49-F238E27FC236}">
                <a16:creationId xmlns:a16="http://schemas.microsoft.com/office/drawing/2014/main" id="{05B48445-6228-402F-971A-792DE26BDF09}"/>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F1A60461-4ED8-83B4-17D2-AA1CBEE80E1C}"/>
              </a:ext>
            </a:extLst>
          </p:cNvPr>
          <p:cNvSpPr>
            <a:spLocks noGrp="1"/>
          </p:cNvSpPr>
          <p:nvPr>
            <p:ph type="title"/>
          </p:nvPr>
        </p:nvSpPr>
        <p:spPr>
          <a:xfrm>
            <a:off x="626652" y="298112"/>
            <a:ext cx="10271883" cy="626165"/>
          </a:xfrm>
        </p:spPr>
        <p:txBody>
          <a:bodyPr/>
          <a:lstStyle/>
          <a:p>
            <a:r>
              <a:rPr lang="es-419" dirty="0">
                <a:solidFill>
                  <a:schemeClr val="accent1"/>
                </a:solidFill>
              </a:rPr>
              <a:t>Mantenimiento al curso del alumno (SHATCKN)</a:t>
            </a:r>
            <a:br>
              <a:rPr lang="es-CL" dirty="0">
                <a:solidFill>
                  <a:schemeClr val="accent1"/>
                </a:solidFill>
              </a:rPr>
            </a:br>
            <a:endParaRPr lang="es-CL" dirty="0">
              <a:solidFill>
                <a:schemeClr val="accent1"/>
              </a:solidFill>
            </a:endParaRPr>
          </a:p>
        </p:txBody>
      </p:sp>
      <p:sp>
        <p:nvSpPr>
          <p:cNvPr id="8" name="Rectángulo 7">
            <a:extLst>
              <a:ext uri="{FF2B5EF4-FFF2-40B4-BE49-F238E27FC236}">
                <a16:creationId xmlns:a16="http://schemas.microsoft.com/office/drawing/2014/main" id="{CC183AA3-28F8-A35F-1A1C-EB1A1D993D44}"/>
              </a:ext>
            </a:extLst>
          </p:cNvPr>
          <p:cNvSpPr/>
          <p:nvPr/>
        </p:nvSpPr>
        <p:spPr>
          <a:xfrm>
            <a:off x="609601" y="2542636"/>
            <a:ext cx="11175999" cy="72463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58E4F5E2-C27B-2D9F-9193-CE18E159B24E}"/>
              </a:ext>
            </a:extLst>
          </p:cNvPr>
          <p:cNvSpPr/>
          <p:nvPr/>
        </p:nvSpPr>
        <p:spPr>
          <a:xfrm>
            <a:off x="1469333" y="4112653"/>
            <a:ext cx="8493258" cy="7246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El segundo bloque hace referencia a lo que fuera la identificación de la calificación, indicando, además, el modo de calificación, créditos asociados, y la razón de cambio para la calificación de la asignatura.</a:t>
            </a:r>
          </a:p>
        </p:txBody>
      </p:sp>
    </p:spTree>
    <p:extLst>
      <p:ext uri="{BB962C8B-B14F-4D97-AF65-F5344CB8AC3E}">
        <p14:creationId xmlns:p14="http://schemas.microsoft.com/office/powerpoint/2010/main" val="2055087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F2C92-AF18-C8BE-AA43-5F2A561E7779}"/>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97DC96FD-FDB0-B108-4527-43C7E2B8E56D}"/>
              </a:ext>
            </a:extLst>
          </p:cNvPr>
          <p:cNvPicPr>
            <a:picLocks noChangeAspect="1"/>
          </p:cNvPicPr>
          <p:nvPr/>
        </p:nvPicPr>
        <p:blipFill>
          <a:blip r:embed="rId2"/>
          <a:stretch>
            <a:fillRect/>
          </a:stretch>
        </p:blipFill>
        <p:spPr>
          <a:xfrm>
            <a:off x="609601" y="1033884"/>
            <a:ext cx="11175999" cy="5119179"/>
          </a:xfrm>
          <a:prstGeom prst="rect">
            <a:avLst/>
          </a:prstGeom>
        </p:spPr>
      </p:pic>
      <p:sp>
        <p:nvSpPr>
          <p:cNvPr id="3" name="Marcador de texto vertical 2">
            <a:extLst>
              <a:ext uri="{FF2B5EF4-FFF2-40B4-BE49-F238E27FC236}">
                <a16:creationId xmlns:a16="http://schemas.microsoft.com/office/drawing/2014/main" id="{C5068005-E5B8-D0B6-CCD3-1BA874AB8B1C}"/>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910C15E7-50E2-2858-38E7-ABCF018C887A}"/>
              </a:ext>
            </a:extLst>
          </p:cNvPr>
          <p:cNvSpPr>
            <a:spLocks noGrp="1"/>
          </p:cNvSpPr>
          <p:nvPr>
            <p:ph type="title"/>
          </p:nvPr>
        </p:nvSpPr>
        <p:spPr>
          <a:xfrm>
            <a:off x="609601" y="317442"/>
            <a:ext cx="10271883" cy="626165"/>
          </a:xfrm>
        </p:spPr>
        <p:txBody>
          <a:bodyPr/>
          <a:lstStyle/>
          <a:p>
            <a:r>
              <a:rPr lang="es-419" dirty="0">
                <a:solidFill>
                  <a:schemeClr val="accent1"/>
                </a:solidFill>
              </a:rPr>
              <a:t>Mantenimiento al curso del alumno (SHATCKN)</a:t>
            </a:r>
            <a:endParaRPr lang="es-CL" dirty="0">
              <a:solidFill>
                <a:schemeClr val="accent1"/>
              </a:solidFill>
            </a:endParaRPr>
          </a:p>
        </p:txBody>
      </p:sp>
      <p:sp>
        <p:nvSpPr>
          <p:cNvPr id="8" name="Rectángulo 7">
            <a:extLst>
              <a:ext uri="{FF2B5EF4-FFF2-40B4-BE49-F238E27FC236}">
                <a16:creationId xmlns:a16="http://schemas.microsoft.com/office/drawing/2014/main" id="{53E5E66B-83D5-A105-79A1-7E3567113AE5}"/>
              </a:ext>
            </a:extLst>
          </p:cNvPr>
          <p:cNvSpPr/>
          <p:nvPr/>
        </p:nvSpPr>
        <p:spPr>
          <a:xfrm>
            <a:off x="609601" y="3277765"/>
            <a:ext cx="11175999" cy="58303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0" name="Rectángulo redondeado 5">
            <a:extLst>
              <a:ext uri="{FF2B5EF4-FFF2-40B4-BE49-F238E27FC236}">
                <a16:creationId xmlns:a16="http://schemas.microsoft.com/office/drawing/2014/main" id="{0D4B31AF-6D7C-7B74-402A-7ADB72C9D52C}"/>
              </a:ext>
            </a:extLst>
          </p:cNvPr>
          <p:cNvSpPr/>
          <p:nvPr/>
        </p:nvSpPr>
        <p:spPr>
          <a:xfrm>
            <a:off x="2582784" y="4041354"/>
            <a:ext cx="6718234" cy="9523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La tercera área hace referencia al nivel al cual estaría asociada la calificación de esta asignatura.</a:t>
            </a:r>
          </a:p>
          <a:p>
            <a:r>
              <a:rPr lang="es-ES_tradnl" sz="1200" dirty="0"/>
              <a:t>Un estudiante puede tener una asignatura asociada a varios niveles, pero siempre debe ser solo uno el marcado como nivel principal.</a:t>
            </a:r>
          </a:p>
        </p:txBody>
      </p:sp>
    </p:spTree>
    <p:extLst>
      <p:ext uri="{BB962C8B-B14F-4D97-AF65-F5344CB8AC3E}">
        <p14:creationId xmlns:p14="http://schemas.microsoft.com/office/powerpoint/2010/main" val="1386291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3E4BD-C033-54E5-F5F4-B9112B28BBDD}"/>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818465C1-5C1B-3447-8FB3-FC95FA561B70}"/>
              </a:ext>
            </a:extLst>
          </p:cNvPr>
          <p:cNvPicPr>
            <a:picLocks noChangeAspect="1"/>
          </p:cNvPicPr>
          <p:nvPr/>
        </p:nvPicPr>
        <p:blipFill>
          <a:blip r:embed="rId2"/>
          <a:stretch>
            <a:fillRect/>
          </a:stretch>
        </p:blipFill>
        <p:spPr>
          <a:xfrm>
            <a:off x="609601" y="1033884"/>
            <a:ext cx="11175999" cy="5119179"/>
          </a:xfrm>
          <a:prstGeom prst="rect">
            <a:avLst/>
          </a:prstGeom>
        </p:spPr>
      </p:pic>
      <p:sp>
        <p:nvSpPr>
          <p:cNvPr id="3" name="Marcador de texto vertical 2">
            <a:extLst>
              <a:ext uri="{FF2B5EF4-FFF2-40B4-BE49-F238E27FC236}">
                <a16:creationId xmlns:a16="http://schemas.microsoft.com/office/drawing/2014/main" id="{559761E0-DCEC-28FD-6F20-E2BC04E924B6}"/>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5231BCDC-8E93-F274-5F83-07F5740FCF62}"/>
              </a:ext>
            </a:extLst>
          </p:cNvPr>
          <p:cNvSpPr>
            <a:spLocks noGrp="1"/>
          </p:cNvSpPr>
          <p:nvPr>
            <p:ph type="title"/>
          </p:nvPr>
        </p:nvSpPr>
        <p:spPr>
          <a:xfrm>
            <a:off x="648798" y="345414"/>
            <a:ext cx="10271883" cy="626165"/>
          </a:xfrm>
        </p:spPr>
        <p:txBody>
          <a:bodyPr/>
          <a:lstStyle/>
          <a:p>
            <a:r>
              <a:rPr lang="es-419" dirty="0">
                <a:solidFill>
                  <a:schemeClr val="accent1"/>
                </a:solidFill>
              </a:rPr>
              <a:t>Mantenimiento al curso del alumno (SHATCKN)</a:t>
            </a:r>
            <a:br>
              <a:rPr lang="es-CL" b="1" dirty="0">
                <a:solidFill>
                  <a:schemeClr val="accent1"/>
                </a:solidFill>
                <a:effectLst/>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4C73496C-007C-EA59-F731-CFA029485612}"/>
              </a:ext>
            </a:extLst>
          </p:cNvPr>
          <p:cNvSpPr/>
          <p:nvPr/>
        </p:nvSpPr>
        <p:spPr>
          <a:xfrm>
            <a:off x="2546350" y="3709168"/>
            <a:ext cx="7099300" cy="261158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cargar una calificación se requiere:</a:t>
            </a:r>
          </a:p>
          <a:p>
            <a:pPr marL="342900" indent="-342900">
              <a:buFont typeface="+mj-lt"/>
              <a:buAutoNum type="arabicPeriod" startAt="5"/>
            </a:pPr>
            <a:r>
              <a:rPr lang="es-ES_tradnl" sz="1200" dirty="0"/>
              <a:t>Insertar un nuevo registro en la sección ‘Detalle de curso’ </a:t>
            </a:r>
          </a:p>
          <a:p>
            <a:pPr marL="342900" indent="-342900">
              <a:buFont typeface="+mj-lt"/>
              <a:buAutoNum type="arabicPeriod" startAt="5"/>
            </a:pPr>
            <a:r>
              <a:rPr lang="es-ES_tradnl" sz="1200" dirty="0"/>
              <a:t>Dependiendo del nivel de validación ingresado:</a:t>
            </a:r>
          </a:p>
          <a:p>
            <a:pPr lvl="1"/>
            <a:r>
              <a:rPr lang="es-ES_tradnl" sz="1200" dirty="0"/>
              <a:t>6.1. Si el curso no es parte de un NRC (Catálogo):</a:t>
            </a:r>
          </a:p>
          <a:p>
            <a:pPr marL="800100" lvl="1" indent="-342900">
              <a:buFont typeface="Arial" panose="020B0604020202020204" pitchFamily="34" charset="0"/>
              <a:buChar char="•"/>
            </a:pPr>
            <a:r>
              <a:rPr lang="es-ES_tradnl" sz="1200" dirty="0"/>
              <a:t>Definir los campos ‘Materia’ y ‘Curso’ de la asignatura a la cual corresponderá dicha calificación (la descripción y el título se llenan automáticamente).</a:t>
            </a:r>
          </a:p>
          <a:p>
            <a:pPr lvl="1"/>
            <a:r>
              <a:rPr lang="es-ES_tradnl" sz="1200" dirty="0"/>
              <a:t>6.2. Si el curso corresponde a un NRC (Horario):</a:t>
            </a:r>
          </a:p>
          <a:p>
            <a:pPr marL="800100" lvl="1" indent="-342900">
              <a:buFont typeface="Arial" panose="020B0604020202020204" pitchFamily="34" charset="0"/>
              <a:buChar char="•"/>
            </a:pPr>
            <a:r>
              <a:rPr lang="es-ES_tradnl" sz="1200" dirty="0"/>
              <a:t>Ingrese el NRC al que desea ingresarle la calificación. En este caso, el sistema toma todos las características del NRC.</a:t>
            </a:r>
          </a:p>
          <a:p>
            <a:pPr marL="342900" indent="-342900">
              <a:buFont typeface="+mj-lt"/>
              <a:buAutoNum type="arabicPeriod" startAt="7"/>
            </a:pPr>
            <a:r>
              <a:rPr lang="es-ES_tradnl" sz="1200" dirty="0"/>
              <a:t>Desplace la barra hacia la derecha de la pantalla hasta el campo Plan de estudios y asocie el curso con el plan de estudios al cual tributará dicha calificación</a:t>
            </a:r>
          </a:p>
        </p:txBody>
      </p:sp>
      <p:sp>
        <p:nvSpPr>
          <p:cNvPr id="2" name="Rectángulo 1">
            <a:extLst>
              <a:ext uri="{FF2B5EF4-FFF2-40B4-BE49-F238E27FC236}">
                <a16:creationId xmlns:a16="http://schemas.microsoft.com/office/drawing/2014/main" id="{8A7209AD-6283-5880-996F-3097C18F5785}"/>
              </a:ext>
            </a:extLst>
          </p:cNvPr>
          <p:cNvSpPr/>
          <p:nvPr/>
        </p:nvSpPr>
        <p:spPr>
          <a:xfrm>
            <a:off x="11100602" y="1468453"/>
            <a:ext cx="161449"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DF8105D1-2067-B3BD-A77A-ED2561843D81}"/>
              </a:ext>
            </a:extLst>
          </p:cNvPr>
          <p:cNvSpPr/>
          <p:nvPr/>
        </p:nvSpPr>
        <p:spPr>
          <a:xfrm>
            <a:off x="10920681" y="162926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11" name="Flecha: a la derecha 10">
            <a:extLst>
              <a:ext uri="{FF2B5EF4-FFF2-40B4-BE49-F238E27FC236}">
                <a16:creationId xmlns:a16="http://schemas.microsoft.com/office/drawing/2014/main" id="{E385B0C8-87FF-C568-9D98-AE1BEC95DD92}"/>
              </a:ext>
            </a:extLst>
          </p:cNvPr>
          <p:cNvSpPr/>
          <p:nvPr/>
        </p:nvSpPr>
        <p:spPr>
          <a:xfrm>
            <a:off x="4710546" y="2349260"/>
            <a:ext cx="1385454" cy="9236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18">
            <a:extLst>
              <a:ext uri="{FF2B5EF4-FFF2-40B4-BE49-F238E27FC236}">
                <a16:creationId xmlns:a16="http://schemas.microsoft.com/office/drawing/2014/main" id="{4B1ADB28-3A35-AE6D-9134-C490C04449A4}"/>
              </a:ext>
            </a:extLst>
          </p:cNvPr>
          <p:cNvSpPr/>
          <p:nvPr/>
        </p:nvSpPr>
        <p:spPr>
          <a:xfrm>
            <a:off x="1138478" y="1792105"/>
            <a:ext cx="3165667" cy="3926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D5877C10-22E1-67F9-19A8-D2B7A7CA9791}"/>
              </a:ext>
            </a:extLst>
          </p:cNvPr>
          <p:cNvSpPr/>
          <p:nvPr/>
        </p:nvSpPr>
        <p:spPr>
          <a:xfrm>
            <a:off x="2207000" y="1617974"/>
            <a:ext cx="446270" cy="15499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a:t>6.1</a:t>
            </a:r>
            <a:endParaRPr lang="es-419" sz="1100" noProof="0" dirty="0"/>
          </a:p>
        </p:txBody>
      </p:sp>
      <p:sp>
        <p:nvSpPr>
          <p:cNvPr id="21" name="Rectángulo 20">
            <a:extLst>
              <a:ext uri="{FF2B5EF4-FFF2-40B4-BE49-F238E27FC236}">
                <a16:creationId xmlns:a16="http://schemas.microsoft.com/office/drawing/2014/main" id="{00BEFE61-17CF-99EB-0744-A076CE2CEA3B}"/>
              </a:ext>
            </a:extLst>
          </p:cNvPr>
          <p:cNvSpPr/>
          <p:nvPr/>
        </p:nvSpPr>
        <p:spPr>
          <a:xfrm>
            <a:off x="625293" y="1790081"/>
            <a:ext cx="482317" cy="3216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redondeado 15">
            <a:extLst>
              <a:ext uri="{FF2B5EF4-FFF2-40B4-BE49-F238E27FC236}">
                <a16:creationId xmlns:a16="http://schemas.microsoft.com/office/drawing/2014/main" id="{99E3D2BA-D9D4-969F-0786-EBACDD28529F}"/>
              </a:ext>
            </a:extLst>
          </p:cNvPr>
          <p:cNvSpPr/>
          <p:nvPr/>
        </p:nvSpPr>
        <p:spPr>
          <a:xfrm>
            <a:off x="516338" y="1586795"/>
            <a:ext cx="413611" cy="15360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6.2</a:t>
            </a:r>
          </a:p>
        </p:txBody>
      </p:sp>
      <p:sp>
        <p:nvSpPr>
          <p:cNvPr id="23" name="Rectángulo redondeado 15">
            <a:extLst>
              <a:ext uri="{FF2B5EF4-FFF2-40B4-BE49-F238E27FC236}">
                <a16:creationId xmlns:a16="http://schemas.microsoft.com/office/drawing/2014/main" id="{0E6C3025-DEB9-E830-E04C-879A48A062D1}"/>
              </a:ext>
            </a:extLst>
          </p:cNvPr>
          <p:cNvSpPr/>
          <p:nvPr/>
        </p:nvSpPr>
        <p:spPr>
          <a:xfrm>
            <a:off x="4583190" y="2462859"/>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Tree>
    <p:extLst>
      <p:ext uri="{BB962C8B-B14F-4D97-AF65-F5344CB8AC3E}">
        <p14:creationId xmlns:p14="http://schemas.microsoft.com/office/powerpoint/2010/main" val="350295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FC221-4A17-4EFB-8291-01E22B262E9D}"/>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C717F628-40F7-E15A-6FFC-D85785232402}"/>
              </a:ext>
            </a:extLst>
          </p:cNvPr>
          <p:cNvPicPr>
            <a:picLocks noChangeAspect="1"/>
          </p:cNvPicPr>
          <p:nvPr/>
        </p:nvPicPr>
        <p:blipFill>
          <a:blip r:embed="rId2"/>
          <a:stretch>
            <a:fillRect/>
          </a:stretch>
        </p:blipFill>
        <p:spPr>
          <a:xfrm>
            <a:off x="609601" y="1033884"/>
            <a:ext cx="11175999" cy="5119179"/>
          </a:xfrm>
          <a:prstGeom prst="rect">
            <a:avLst/>
          </a:prstGeom>
        </p:spPr>
      </p:pic>
      <p:sp>
        <p:nvSpPr>
          <p:cNvPr id="3" name="Marcador de texto vertical 2">
            <a:extLst>
              <a:ext uri="{FF2B5EF4-FFF2-40B4-BE49-F238E27FC236}">
                <a16:creationId xmlns:a16="http://schemas.microsoft.com/office/drawing/2014/main" id="{7FBB20FA-7822-8A70-BA61-F8F0E8198136}"/>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5C566C89-FD4C-36A9-ACC5-7AEB1B080E5B}"/>
              </a:ext>
            </a:extLst>
          </p:cNvPr>
          <p:cNvSpPr>
            <a:spLocks noGrp="1"/>
          </p:cNvSpPr>
          <p:nvPr>
            <p:ph type="title"/>
          </p:nvPr>
        </p:nvSpPr>
        <p:spPr>
          <a:xfrm>
            <a:off x="609601" y="361061"/>
            <a:ext cx="10271883" cy="626165"/>
          </a:xfrm>
        </p:spPr>
        <p:txBody>
          <a:bodyPr/>
          <a:lstStyle/>
          <a:p>
            <a:r>
              <a:rPr lang="es-419" dirty="0">
                <a:solidFill>
                  <a:schemeClr val="accent1"/>
                </a:solidFill>
              </a:rPr>
              <a:t>Mantenimiento al curso del alumno (SHATCKN)</a:t>
            </a:r>
            <a:br>
              <a:rPr lang="es-CL" b="1" dirty="0">
                <a:solidFill>
                  <a:schemeClr val="accent1"/>
                </a:solidFill>
                <a:effectLst/>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7A5E2AAB-D8A0-A284-5C67-F7D2127625E4}"/>
              </a:ext>
            </a:extLst>
          </p:cNvPr>
          <p:cNvSpPr/>
          <p:nvPr/>
        </p:nvSpPr>
        <p:spPr>
          <a:xfrm>
            <a:off x="2247900" y="5246255"/>
            <a:ext cx="7856682" cy="56707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400050" indent="-400050">
              <a:buFont typeface="+mj-lt"/>
              <a:buAutoNum type="arabicPeriod" startAt="8"/>
            </a:pPr>
            <a:r>
              <a:rPr lang="es-ES_tradnl" sz="1200" dirty="0"/>
              <a:t>Pase al siguiente bloque: Bloque de información ‘Calificaciones’</a:t>
            </a:r>
          </a:p>
        </p:txBody>
      </p:sp>
      <p:sp>
        <p:nvSpPr>
          <p:cNvPr id="2" name="Rectángulo 1">
            <a:extLst>
              <a:ext uri="{FF2B5EF4-FFF2-40B4-BE49-F238E27FC236}">
                <a16:creationId xmlns:a16="http://schemas.microsoft.com/office/drawing/2014/main" id="{A8174B06-0878-909D-6B1D-9F977433ED59}"/>
              </a:ext>
            </a:extLst>
          </p:cNvPr>
          <p:cNvSpPr/>
          <p:nvPr/>
        </p:nvSpPr>
        <p:spPr>
          <a:xfrm>
            <a:off x="867111" y="5880379"/>
            <a:ext cx="28743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73ACC5B4-9B22-AC43-EE20-7EA7F83B9B24}"/>
              </a:ext>
            </a:extLst>
          </p:cNvPr>
          <p:cNvSpPr/>
          <p:nvPr/>
        </p:nvSpPr>
        <p:spPr>
          <a:xfrm>
            <a:off x="1219203" y="573292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Tree>
    <p:extLst>
      <p:ext uri="{BB962C8B-B14F-4D97-AF65-F5344CB8AC3E}">
        <p14:creationId xmlns:p14="http://schemas.microsoft.com/office/powerpoint/2010/main" val="3927299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C2A8B-4CD9-C653-138C-40493653AFC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31FB7B59-DB9A-D6A4-F376-7F665CF4BDC5}"/>
              </a:ext>
            </a:extLst>
          </p:cNvPr>
          <p:cNvPicPr>
            <a:picLocks noChangeAspect="1"/>
          </p:cNvPicPr>
          <p:nvPr/>
        </p:nvPicPr>
        <p:blipFill>
          <a:blip r:embed="rId2"/>
          <a:stretch>
            <a:fillRect/>
          </a:stretch>
        </p:blipFill>
        <p:spPr>
          <a:xfrm>
            <a:off x="810247" y="951972"/>
            <a:ext cx="10984589" cy="5033647"/>
          </a:xfrm>
          <a:prstGeom prst="rect">
            <a:avLst/>
          </a:prstGeom>
        </p:spPr>
      </p:pic>
      <p:sp>
        <p:nvSpPr>
          <p:cNvPr id="3" name="Marcador de texto vertical 2">
            <a:extLst>
              <a:ext uri="{FF2B5EF4-FFF2-40B4-BE49-F238E27FC236}">
                <a16:creationId xmlns:a16="http://schemas.microsoft.com/office/drawing/2014/main" id="{01F09DEB-674A-52AD-EB10-4311687E337D}"/>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E148CD37-1889-A04E-4EB4-64A3A431707F}"/>
              </a:ext>
            </a:extLst>
          </p:cNvPr>
          <p:cNvSpPr>
            <a:spLocks noGrp="1"/>
          </p:cNvSpPr>
          <p:nvPr>
            <p:ph type="title"/>
          </p:nvPr>
        </p:nvSpPr>
        <p:spPr>
          <a:xfrm>
            <a:off x="810247" y="327992"/>
            <a:ext cx="10271883" cy="626165"/>
          </a:xfrm>
        </p:spPr>
        <p:txBody>
          <a:bodyPr/>
          <a:lstStyle/>
          <a:p>
            <a:r>
              <a:rPr lang="es-419" dirty="0">
                <a:solidFill>
                  <a:schemeClr val="accent1"/>
                </a:solidFill>
              </a:rPr>
              <a:t>Mantenimiento al curso del alumno (SHATCKN)</a:t>
            </a:r>
            <a:br>
              <a:rPr lang="es-CL" b="1" dirty="0">
                <a:solidFill>
                  <a:schemeClr val="accent1"/>
                </a:solidFill>
                <a:effectLst/>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47B094FE-CC9B-F91B-817F-48986D8DA81D}"/>
              </a:ext>
            </a:extLst>
          </p:cNvPr>
          <p:cNvSpPr/>
          <p:nvPr/>
        </p:nvSpPr>
        <p:spPr>
          <a:xfrm>
            <a:off x="2429164" y="4627418"/>
            <a:ext cx="8132384" cy="165331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el bloque de información ‘Calificaciones’ Cada registro ingresado representará la última calificación vigente de la asignatura registradas. </a:t>
            </a:r>
          </a:p>
          <a:p>
            <a:r>
              <a:rPr lang="es-ES_tradnl" sz="1200" dirty="0"/>
              <a:t>Para ingresar una calificación (ya sea nuevo o insertando un nuevo registro para sustituir la calificación actual):</a:t>
            </a:r>
          </a:p>
          <a:p>
            <a:endParaRPr lang="es-ES_tradnl" sz="1200" dirty="0"/>
          </a:p>
          <a:p>
            <a:pPr marL="342900" indent="-342900">
              <a:buFont typeface="+mj-lt"/>
              <a:buAutoNum type="arabicPeriod" startAt="9"/>
            </a:pPr>
            <a:r>
              <a:rPr lang="es-ES_tradnl" sz="1200" dirty="0"/>
              <a:t>En el campo Calificación, ingrese la calificación que tendrá dicha asignatura.</a:t>
            </a:r>
          </a:p>
          <a:p>
            <a:pPr marL="342900" indent="-342900">
              <a:buFont typeface="+mj-lt"/>
              <a:buAutoNum type="arabicPeriod" startAt="9"/>
            </a:pPr>
            <a:r>
              <a:rPr lang="es-ES_tradnl" sz="1200" dirty="0"/>
              <a:t>Ingrese o seleccione el modo de calificar</a:t>
            </a:r>
          </a:p>
        </p:txBody>
      </p:sp>
      <p:sp>
        <p:nvSpPr>
          <p:cNvPr id="2" name="Rectángulo 1">
            <a:extLst>
              <a:ext uri="{FF2B5EF4-FFF2-40B4-BE49-F238E27FC236}">
                <a16:creationId xmlns:a16="http://schemas.microsoft.com/office/drawing/2014/main" id="{B5E67BE4-BB7A-FA61-F14A-32405C2BD116}"/>
              </a:ext>
            </a:extLst>
          </p:cNvPr>
          <p:cNvSpPr/>
          <p:nvPr/>
        </p:nvSpPr>
        <p:spPr>
          <a:xfrm>
            <a:off x="1581291" y="2558344"/>
            <a:ext cx="420438" cy="3216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B89082C0-808E-B01D-E122-9B0E748E16FA}"/>
              </a:ext>
            </a:extLst>
          </p:cNvPr>
          <p:cNvSpPr/>
          <p:nvPr/>
        </p:nvSpPr>
        <p:spPr>
          <a:xfrm>
            <a:off x="1325263" y="270992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2" name="Rectángulo 11">
            <a:extLst>
              <a:ext uri="{FF2B5EF4-FFF2-40B4-BE49-F238E27FC236}">
                <a16:creationId xmlns:a16="http://schemas.microsoft.com/office/drawing/2014/main" id="{0157DAA5-2268-071F-9BB0-5FC907596ACA}"/>
              </a:ext>
            </a:extLst>
          </p:cNvPr>
          <p:cNvSpPr/>
          <p:nvPr/>
        </p:nvSpPr>
        <p:spPr>
          <a:xfrm>
            <a:off x="11139056" y="2397530"/>
            <a:ext cx="122248"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13">
            <a:extLst>
              <a:ext uri="{FF2B5EF4-FFF2-40B4-BE49-F238E27FC236}">
                <a16:creationId xmlns:a16="http://schemas.microsoft.com/office/drawing/2014/main" id="{FCBFA17E-9EE5-338F-0E03-A724E688D824}"/>
              </a:ext>
            </a:extLst>
          </p:cNvPr>
          <p:cNvSpPr/>
          <p:nvPr/>
        </p:nvSpPr>
        <p:spPr>
          <a:xfrm>
            <a:off x="1992155" y="2558344"/>
            <a:ext cx="520135" cy="3216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A246705D-8652-012B-E159-AAC26C747C1F}"/>
              </a:ext>
            </a:extLst>
          </p:cNvPr>
          <p:cNvSpPr/>
          <p:nvPr/>
        </p:nvSpPr>
        <p:spPr>
          <a:xfrm>
            <a:off x="2551486" y="2397529"/>
            <a:ext cx="420437" cy="15157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Tree>
    <p:extLst>
      <p:ext uri="{BB962C8B-B14F-4D97-AF65-F5344CB8AC3E}">
        <p14:creationId xmlns:p14="http://schemas.microsoft.com/office/powerpoint/2010/main" val="26509523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7D913-2D9E-0588-D930-5973005244E8}"/>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CDD60375-62F2-2F6D-BB62-D40F7C292BD5}"/>
              </a:ext>
            </a:extLst>
          </p:cNvPr>
          <p:cNvPicPr>
            <a:picLocks noChangeAspect="1"/>
          </p:cNvPicPr>
          <p:nvPr/>
        </p:nvPicPr>
        <p:blipFill>
          <a:blip r:embed="rId2"/>
          <a:stretch>
            <a:fillRect/>
          </a:stretch>
        </p:blipFill>
        <p:spPr>
          <a:xfrm>
            <a:off x="810247" y="951972"/>
            <a:ext cx="10984589" cy="5033647"/>
          </a:xfrm>
          <a:prstGeom prst="rect">
            <a:avLst/>
          </a:prstGeom>
        </p:spPr>
      </p:pic>
      <p:sp>
        <p:nvSpPr>
          <p:cNvPr id="3" name="Marcador de texto vertical 2">
            <a:extLst>
              <a:ext uri="{FF2B5EF4-FFF2-40B4-BE49-F238E27FC236}">
                <a16:creationId xmlns:a16="http://schemas.microsoft.com/office/drawing/2014/main" id="{11155985-EBFF-789D-C708-EAAB46DD3ADE}"/>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D8881EB2-73D5-BA18-DC27-0D9429E5154C}"/>
              </a:ext>
            </a:extLst>
          </p:cNvPr>
          <p:cNvSpPr>
            <a:spLocks noGrp="1"/>
          </p:cNvSpPr>
          <p:nvPr>
            <p:ph type="title"/>
          </p:nvPr>
        </p:nvSpPr>
        <p:spPr>
          <a:xfrm>
            <a:off x="810247" y="327992"/>
            <a:ext cx="10271883" cy="626165"/>
          </a:xfrm>
        </p:spPr>
        <p:txBody>
          <a:bodyPr/>
          <a:lstStyle/>
          <a:p>
            <a:r>
              <a:rPr lang="es-419" dirty="0">
                <a:solidFill>
                  <a:schemeClr val="accent1"/>
                </a:solidFill>
              </a:rPr>
              <a:t>Mantenimiento al curso del alumno (SHATCKN)</a:t>
            </a:r>
            <a:br>
              <a:rPr lang="es-CL" b="1" dirty="0">
                <a:solidFill>
                  <a:schemeClr val="accent1"/>
                </a:solidFill>
                <a:effectLst/>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146F84C1-6810-BE42-436E-1529AE642FF2}"/>
              </a:ext>
            </a:extLst>
          </p:cNvPr>
          <p:cNvSpPr/>
          <p:nvPr/>
        </p:nvSpPr>
        <p:spPr>
          <a:xfrm>
            <a:off x="2900218" y="4867564"/>
            <a:ext cx="7306257" cy="130463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11"/>
            </a:pPr>
            <a:r>
              <a:rPr lang="es-ES_tradnl" sz="1200" dirty="0"/>
              <a:t>Ingrese los créditos de la asignatura en el campo Horas Crédito y en el campo Horas Intentadas</a:t>
            </a:r>
          </a:p>
          <a:p>
            <a:pPr marL="342900" indent="-342900">
              <a:buFont typeface="+mj-lt"/>
              <a:buAutoNum type="arabicPeriod" startAt="11"/>
            </a:pPr>
            <a:r>
              <a:rPr lang="es-ES_tradnl" sz="1200" dirty="0"/>
              <a:t>Ingrese o seleccione la razón de cambio:</a:t>
            </a:r>
          </a:p>
          <a:p>
            <a:pPr marL="800100" lvl="1" indent="-342900">
              <a:buFont typeface="Arial" panose="020B0604020202020204" pitchFamily="34" charset="0"/>
              <a:buChar char="•"/>
            </a:pPr>
            <a:r>
              <a:rPr lang="es-ES_tradnl" sz="1200" dirty="0"/>
              <a:t>Si es la primera calificación, la razón debe ser OE y pase al paso 15.</a:t>
            </a:r>
          </a:p>
          <a:p>
            <a:pPr marL="800100" lvl="1" indent="-342900">
              <a:buFont typeface="Arial" panose="020B0604020202020204" pitchFamily="34" charset="0"/>
              <a:buChar char="•"/>
            </a:pPr>
            <a:r>
              <a:rPr lang="es-ES_tradnl" sz="1200" dirty="0"/>
              <a:t>Si está modificando la calificación, seleccione la opción que corresponda y pase al paso 14.</a:t>
            </a:r>
          </a:p>
        </p:txBody>
      </p:sp>
      <p:sp>
        <p:nvSpPr>
          <p:cNvPr id="2" name="Rectángulo 1">
            <a:extLst>
              <a:ext uri="{FF2B5EF4-FFF2-40B4-BE49-F238E27FC236}">
                <a16:creationId xmlns:a16="http://schemas.microsoft.com/office/drawing/2014/main" id="{B6BDE6FA-B766-3728-5660-FDA6B1C6A061}"/>
              </a:ext>
            </a:extLst>
          </p:cNvPr>
          <p:cNvSpPr/>
          <p:nvPr/>
        </p:nvSpPr>
        <p:spPr>
          <a:xfrm>
            <a:off x="3494664" y="2589232"/>
            <a:ext cx="1372900" cy="32162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EECA2513-C7DA-CF0E-D3F4-5E1F7D272695}"/>
              </a:ext>
            </a:extLst>
          </p:cNvPr>
          <p:cNvSpPr/>
          <p:nvPr/>
        </p:nvSpPr>
        <p:spPr>
          <a:xfrm>
            <a:off x="3075709" y="2750046"/>
            <a:ext cx="380563" cy="16081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
        <p:nvSpPr>
          <p:cNvPr id="12" name="Rectángulo 11">
            <a:extLst>
              <a:ext uri="{FF2B5EF4-FFF2-40B4-BE49-F238E27FC236}">
                <a16:creationId xmlns:a16="http://schemas.microsoft.com/office/drawing/2014/main" id="{9CB44340-6E77-5901-C417-238C5CE0DF4E}"/>
              </a:ext>
            </a:extLst>
          </p:cNvPr>
          <p:cNvSpPr/>
          <p:nvPr/>
        </p:nvSpPr>
        <p:spPr>
          <a:xfrm>
            <a:off x="4867564" y="2589232"/>
            <a:ext cx="729672" cy="32162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568F7307-0365-B0E0-ECCC-163F05A7D243}"/>
              </a:ext>
            </a:extLst>
          </p:cNvPr>
          <p:cNvSpPr/>
          <p:nvPr/>
        </p:nvSpPr>
        <p:spPr>
          <a:xfrm>
            <a:off x="5426895" y="2428417"/>
            <a:ext cx="420437" cy="15157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Tree>
    <p:extLst>
      <p:ext uri="{BB962C8B-B14F-4D97-AF65-F5344CB8AC3E}">
        <p14:creationId xmlns:p14="http://schemas.microsoft.com/office/powerpoint/2010/main" val="1685024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62E85-EAC4-B6DE-ADB3-86385E8726DB}"/>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1B9541EA-8E7E-9865-42D3-1120F91EEE04}"/>
              </a:ext>
            </a:extLst>
          </p:cNvPr>
          <p:cNvPicPr>
            <a:picLocks noChangeAspect="1"/>
          </p:cNvPicPr>
          <p:nvPr/>
        </p:nvPicPr>
        <p:blipFill>
          <a:blip r:embed="rId2"/>
          <a:stretch>
            <a:fillRect/>
          </a:stretch>
        </p:blipFill>
        <p:spPr>
          <a:xfrm>
            <a:off x="622570" y="976867"/>
            <a:ext cx="11160401" cy="5091424"/>
          </a:xfrm>
          <a:prstGeom prst="rect">
            <a:avLst/>
          </a:prstGeom>
        </p:spPr>
      </p:pic>
      <p:sp>
        <p:nvSpPr>
          <p:cNvPr id="3" name="Marcador de texto vertical 2">
            <a:extLst>
              <a:ext uri="{FF2B5EF4-FFF2-40B4-BE49-F238E27FC236}">
                <a16:creationId xmlns:a16="http://schemas.microsoft.com/office/drawing/2014/main" id="{CFE45F03-C802-41C1-D17D-E2FC11A03E51}"/>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A68B09DE-0407-72A2-4026-EB27D378AC3A}"/>
              </a:ext>
            </a:extLst>
          </p:cNvPr>
          <p:cNvSpPr>
            <a:spLocks noGrp="1"/>
          </p:cNvSpPr>
          <p:nvPr>
            <p:ph type="title"/>
          </p:nvPr>
        </p:nvSpPr>
        <p:spPr>
          <a:xfrm>
            <a:off x="622570" y="287698"/>
            <a:ext cx="10271883" cy="626165"/>
          </a:xfrm>
        </p:spPr>
        <p:txBody>
          <a:bodyPr/>
          <a:lstStyle/>
          <a:p>
            <a:r>
              <a:rPr lang="es-419" dirty="0">
                <a:solidFill>
                  <a:schemeClr val="accent1"/>
                </a:solidFill>
              </a:rPr>
              <a:t>Mantenimiento al curso del alumno (SHATCKN)</a:t>
            </a:r>
            <a:br>
              <a:rPr lang="es-CL" b="1" dirty="0">
                <a:solidFill>
                  <a:schemeClr val="accent1"/>
                </a:solidFill>
                <a:effectLst/>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7235BEC8-D608-F263-B01E-1209A4A284A4}"/>
              </a:ext>
            </a:extLst>
          </p:cNvPr>
          <p:cNvSpPr/>
          <p:nvPr/>
        </p:nvSpPr>
        <p:spPr>
          <a:xfrm>
            <a:off x="2798618" y="4387273"/>
            <a:ext cx="7306257" cy="93518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13"/>
            </a:pPr>
            <a:r>
              <a:rPr lang="es-ES_tradnl" sz="1200" dirty="0"/>
              <a:t>Ingrese en el campo Comentario narrativo de la calificación las observaciones que necesite agregar. Por ejemplo, número de Acta o Resolución por la que se está modificando la asignatura. </a:t>
            </a:r>
          </a:p>
          <a:p>
            <a:pPr algn="ctr"/>
            <a:r>
              <a:rPr lang="es-ES_tradnl" sz="1100" dirty="0"/>
              <a:t>Este es un campo de texto libre que tiene un máximo de 200 caracteres para ingresar.</a:t>
            </a:r>
            <a:r>
              <a:rPr lang="es-ES_tradnl" sz="1200" dirty="0"/>
              <a:t> </a:t>
            </a:r>
          </a:p>
          <a:p>
            <a:pPr marL="228600" indent="-228600">
              <a:buFont typeface="+mj-lt"/>
              <a:buAutoNum type="arabicPeriod" startAt="14"/>
            </a:pPr>
            <a:r>
              <a:rPr lang="es-ES_tradnl" sz="1200" dirty="0"/>
              <a:t>Pase al siguiente bloque.</a:t>
            </a:r>
          </a:p>
        </p:txBody>
      </p:sp>
      <p:sp>
        <p:nvSpPr>
          <p:cNvPr id="2" name="Rectángulo 1">
            <a:extLst>
              <a:ext uri="{FF2B5EF4-FFF2-40B4-BE49-F238E27FC236}">
                <a16:creationId xmlns:a16="http://schemas.microsoft.com/office/drawing/2014/main" id="{93B0F860-3BE2-DA4A-A37F-100253DB2C03}"/>
              </a:ext>
            </a:extLst>
          </p:cNvPr>
          <p:cNvSpPr/>
          <p:nvPr/>
        </p:nvSpPr>
        <p:spPr>
          <a:xfrm>
            <a:off x="10726737" y="2595289"/>
            <a:ext cx="1056234" cy="3788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1A904B92-1847-A12E-C7CD-FE43BED1BA75}"/>
              </a:ext>
            </a:extLst>
          </p:cNvPr>
          <p:cNvSpPr/>
          <p:nvPr/>
        </p:nvSpPr>
        <p:spPr>
          <a:xfrm>
            <a:off x="10345488" y="2432701"/>
            <a:ext cx="381249" cy="16258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
        <p:nvSpPr>
          <p:cNvPr id="7" name="Rectángulo 6">
            <a:extLst>
              <a:ext uri="{FF2B5EF4-FFF2-40B4-BE49-F238E27FC236}">
                <a16:creationId xmlns:a16="http://schemas.microsoft.com/office/drawing/2014/main" id="{B776B062-9860-ABF8-F3FD-E2627A4B2C65}"/>
              </a:ext>
            </a:extLst>
          </p:cNvPr>
          <p:cNvSpPr/>
          <p:nvPr/>
        </p:nvSpPr>
        <p:spPr>
          <a:xfrm>
            <a:off x="876156" y="5816091"/>
            <a:ext cx="306099" cy="16258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3E395021-ADC3-A7C8-91F0-B8734B53FC06}"/>
              </a:ext>
            </a:extLst>
          </p:cNvPr>
          <p:cNvSpPr/>
          <p:nvPr/>
        </p:nvSpPr>
        <p:spPr>
          <a:xfrm>
            <a:off x="504143" y="5635030"/>
            <a:ext cx="381249" cy="16258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Tree>
    <p:extLst>
      <p:ext uri="{BB962C8B-B14F-4D97-AF65-F5344CB8AC3E}">
        <p14:creationId xmlns:p14="http://schemas.microsoft.com/office/powerpoint/2010/main" val="1142572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82347-5FD3-D3B0-A783-B022DCE6DD6F}"/>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D536C882-A4E6-E51A-8326-2001BA68796B}"/>
              </a:ext>
            </a:extLst>
          </p:cNvPr>
          <p:cNvPicPr>
            <a:picLocks noChangeAspect="1"/>
          </p:cNvPicPr>
          <p:nvPr/>
        </p:nvPicPr>
        <p:blipFill>
          <a:blip r:embed="rId2"/>
          <a:stretch>
            <a:fillRect/>
          </a:stretch>
        </p:blipFill>
        <p:spPr>
          <a:xfrm>
            <a:off x="622570" y="976867"/>
            <a:ext cx="11160401" cy="5091424"/>
          </a:xfrm>
          <a:prstGeom prst="rect">
            <a:avLst/>
          </a:prstGeom>
        </p:spPr>
      </p:pic>
      <p:sp>
        <p:nvSpPr>
          <p:cNvPr id="3" name="Marcador de texto vertical 2">
            <a:extLst>
              <a:ext uri="{FF2B5EF4-FFF2-40B4-BE49-F238E27FC236}">
                <a16:creationId xmlns:a16="http://schemas.microsoft.com/office/drawing/2014/main" id="{7DC60933-7344-ACF4-E194-B5D33C270A1C}"/>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DC560FC6-31B0-A976-3E11-65148A703772}"/>
              </a:ext>
            </a:extLst>
          </p:cNvPr>
          <p:cNvSpPr>
            <a:spLocks noGrp="1"/>
          </p:cNvSpPr>
          <p:nvPr>
            <p:ph type="title"/>
          </p:nvPr>
        </p:nvSpPr>
        <p:spPr>
          <a:xfrm>
            <a:off x="609601" y="332859"/>
            <a:ext cx="10271883" cy="626165"/>
          </a:xfrm>
        </p:spPr>
        <p:txBody>
          <a:bodyPr/>
          <a:lstStyle/>
          <a:p>
            <a:r>
              <a:rPr lang="es-419" dirty="0">
                <a:solidFill>
                  <a:schemeClr val="accent1"/>
                </a:solidFill>
              </a:rPr>
              <a:t>Mantenimiento al curso del alumno (SHATCKN)</a:t>
            </a:r>
            <a:br>
              <a:rPr lang="es-CL" b="1" dirty="0">
                <a:solidFill>
                  <a:schemeClr val="accent1"/>
                </a:solidFill>
                <a:effectLst/>
              </a:rPr>
            </a:br>
            <a:endParaRPr lang="es-CL" dirty="0">
              <a:solidFill>
                <a:schemeClr val="accent1"/>
              </a:solidFill>
            </a:endParaRPr>
          </a:p>
        </p:txBody>
      </p:sp>
      <p:sp>
        <p:nvSpPr>
          <p:cNvPr id="9" name="Rectángulo redondeado 5">
            <a:extLst>
              <a:ext uri="{FF2B5EF4-FFF2-40B4-BE49-F238E27FC236}">
                <a16:creationId xmlns:a16="http://schemas.microsoft.com/office/drawing/2014/main" id="{F4597D49-927F-7B22-D306-45EE914D7E34}"/>
              </a:ext>
            </a:extLst>
          </p:cNvPr>
          <p:cNvSpPr/>
          <p:nvPr/>
        </p:nvSpPr>
        <p:spPr>
          <a:xfrm>
            <a:off x="1845382" y="3773022"/>
            <a:ext cx="7843563" cy="201817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La última sección se requiere definir el Nivel Académico a la cual correspondería la asignatura cursada. Si está ingresando la calificación por primera vez debe:</a:t>
            </a:r>
          </a:p>
          <a:p>
            <a:pPr marL="228600" indent="-228600">
              <a:buFont typeface="+mj-lt"/>
              <a:buAutoNum type="arabicPeriod" startAt="15"/>
            </a:pPr>
            <a:r>
              <a:rPr lang="es-ES_tradnl" sz="1200" dirty="0"/>
              <a:t>Ingrese o seleccione el código del Nivel que corresponde a la asignatura</a:t>
            </a:r>
          </a:p>
          <a:p>
            <a:pPr marL="228600" indent="-228600">
              <a:buFont typeface="+mj-lt"/>
              <a:buAutoNum type="arabicPeriod" startAt="15"/>
            </a:pPr>
            <a:r>
              <a:rPr lang="es-ES_tradnl" sz="1200" dirty="0"/>
              <a:t>Marque el nivel como Principal</a:t>
            </a:r>
          </a:p>
          <a:p>
            <a:pPr algn="ctr"/>
            <a:r>
              <a:rPr lang="es-ES_tradnl" sz="1100" dirty="0"/>
              <a:t>Una asignatura puede tener más de un nivel asignado en la historia académica del estudiante, de manera que se valide para los programas de los diferentes niveles. Usted puede insertar un registro para agregar otro nivel, diferente al principal. Solo un nivel puede ser el principal.</a:t>
            </a:r>
          </a:p>
          <a:p>
            <a:pPr marL="228600" indent="-228600">
              <a:buFont typeface="+mj-lt"/>
              <a:buAutoNum type="arabicPeriod" startAt="17"/>
            </a:pPr>
            <a:r>
              <a:rPr lang="es-ES_tradnl" sz="1200" dirty="0"/>
              <a:t>Guarde la información</a:t>
            </a:r>
          </a:p>
        </p:txBody>
      </p:sp>
      <p:sp>
        <p:nvSpPr>
          <p:cNvPr id="17" name="Rectángulo 16">
            <a:extLst>
              <a:ext uri="{FF2B5EF4-FFF2-40B4-BE49-F238E27FC236}">
                <a16:creationId xmlns:a16="http://schemas.microsoft.com/office/drawing/2014/main" id="{9E8F614B-15B7-29C1-F234-C4A7DA26DF24}"/>
              </a:ext>
            </a:extLst>
          </p:cNvPr>
          <p:cNvSpPr/>
          <p:nvPr/>
        </p:nvSpPr>
        <p:spPr>
          <a:xfrm>
            <a:off x="609601" y="3347706"/>
            <a:ext cx="306099" cy="16258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13675019-4EB1-B151-8F12-1D78FE3A387E}"/>
              </a:ext>
            </a:extLst>
          </p:cNvPr>
          <p:cNvSpPr/>
          <p:nvPr/>
        </p:nvSpPr>
        <p:spPr>
          <a:xfrm>
            <a:off x="915700" y="3203939"/>
            <a:ext cx="381249" cy="16258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
        <p:nvSpPr>
          <p:cNvPr id="19" name="Rectángulo 18">
            <a:extLst>
              <a:ext uri="{FF2B5EF4-FFF2-40B4-BE49-F238E27FC236}">
                <a16:creationId xmlns:a16="http://schemas.microsoft.com/office/drawing/2014/main" id="{C0456AD1-1507-FC7A-BB3B-3DA2487A9EA2}"/>
              </a:ext>
            </a:extLst>
          </p:cNvPr>
          <p:cNvSpPr/>
          <p:nvPr/>
        </p:nvSpPr>
        <p:spPr>
          <a:xfrm>
            <a:off x="9887529" y="3347706"/>
            <a:ext cx="306099" cy="16258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023EDCF3-B238-9B4D-B057-17A79C166673}"/>
              </a:ext>
            </a:extLst>
          </p:cNvPr>
          <p:cNvSpPr/>
          <p:nvPr/>
        </p:nvSpPr>
        <p:spPr>
          <a:xfrm>
            <a:off x="10193628" y="3203939"/>
            <a:ext cx="381249" cy="16258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
        <p:nvSpPr>
          <p:cNvPr id="21" name="Rectángulo 20">
            <a:extLst>
              <a:ext uri="{FF2B5EF4-FFF2-40B4-BE49-F238E27FC236}">
                <a16:creationId xmlns:a16="http://schemas.microsoft.com/office/drawing/2014/main" id="{C4697297-F60B-3BF8-6DE2-6918FE20A1A3}"/>
              </a:ext>
            </a:extLst>
          </p:cNvPr>
          <p:cNvSpPr/>
          <p:nvPr/>
        </p:nvSpPr>
        <p:spPr>
          <a:xfrm>
            <a:off x="11291039" y="5818908"/>
            <a:ext cx="532609" cy="16258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redondeado 15">
            <a:extLst>
              <a:ext uri="{FF2B5EF4-FFF2-40B4-BE49-F238E27FC236}">
                <a16:creationId xmlns:a16="http://schemas.microsoft.com/office/drawing/2014/main" id="{C31DD5BB-F132-875A-E75F-EDF6CC203C4F}"/>
              </a:ext>
            </a:extLst>
          </p:cNvPr>
          <p:cNvSpPr/>
          <p:nvPr/>
        </p:nvSpPr>
        <p:spPr>
          <a:xfrm>
            <a:off x="10891505" y="5628612"/>
            <a:ext cx="381249" cy="16258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a:t>
            </a:r>
            <a:endParaRPr lang="es-419" sz="1100" noProof="0" dirty="0"/>
          </a:p>
        </p:txBody>
      </p:sp>
    </p:spTree>
    <p:extLst>
      <p:ext uri="{BB962C8B-B14F-4D97-AF65-F5344CB8AC3E}">
        <p14:creationId xmlns:p14="http://schemas.microsoft.com/office/powerpoint/2010/main" val="3955757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BC3D5-7CC9-5E60-5A73-1EB67579F239}"/>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504A0111-6C35-2F64-A86F-A24F28DE9D52}"/>
              </a:ext>
            </a:extLst>
          </p:cNvPr>
          <p:cNvPicPr>
            <a:picLocks noChangeAspect="1"/>
          </p:cNvPicPr>
          <p:nvPr/>
        </p:nvPicPr>
        <p:blipFill>
          <a:blip r:embed="rId2"/>
          <a:stretch>
            <a:fillRect/>
          </a:stretch>
        </p:blipFill>
        <p:spPr>
          <a:xfrm>
            <a:off x="622570" y="976867"/>
            <a:ext cx="11160401" cy="5091424"/>
          </a:xfrm>
          <a:prstGeom prst="rect">
            <a:avLst/>
          </a:prstGeom>
        </p:spPr>
      </p:pic>
      <p:sp>
        <p:nvSpPr>
          <p:cNvPr id="3" name="Marcador de texto vertical 2">
            <a:extLst>
              <a:ext uri="{FF2B5EF4-FFF2-40B4-BE49-F238E27FC236}">
                <a16:creationId xmlns:a16="http://schemas.microsoft.com/office/drawing/2014/main" id="{56C37268-5499-2CE5-D49B-AC382ECB0A38}"/>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3141134D-AAD0-8947-466D-DFC8B0A4EC3E}"/>
              </a:ext>
            </a:extLst>
          </p:cNvPr>
          <p:cNvSpPr>
            <a:spLocks noGrp="1"/>
          </p:cNvSpPr>
          <p:nvPr>
            <p:ph type="title"/>
          </p:nvPr>
        </p:nvSpPr>
        <p:spPr>
          <a:xfrm>
            <a:off x="622570" y="350702"/>
            <a:ext cx="10271883" cy="626165"/>
          </a:xfrm>
        </p:spPr>
        <p:txBody>
          <a:bodyPr/>
          <a:lstStyle/>
          <a:p>
            <a:r>
              <a:rPr lang="es-419" dirty="0">
                <a:solidFill>
                  <a:schemeClr val="accent1"/>
                </a:solidFill>
              </a:rPr>
              <a:t>Mantenimiento al curso del alumno (SHATCKN)</a:t>
            </a:r>
            <a:br>
              <a:rPr lang="es-CL" dirty="0">
                <a:solidFill>
                  <a:schemeClr val="accent1"/>
                </a:solidFill>
              </a:rPr>
            </a:br>
            <a:br>
              <a:rPr lang="es-CL" b="1" dirty="0">
                <a:solidFill>
                  <a:schemeClr val="accent1"/>
                </a:solidFill>
                <a:effectLst/>
              </a:rPr>
            </a:br>
            <a:endParaRPr lang="es-CL" dirty="0">
              <a:solidFill>
                <a:schemeClr val="accent1"/>
              </a:solidFill>
            </a:endParaRPr>
          </a:p>
        </p:txBody>
      </p:sp>
      <p:sp>
        <p:nvSpPr>
          <p:cNvPr id="10" name="Rectángulo redondeado 5">
            <a:extLst>
              <a:ext uri="{FF2B5EF4-FFF2-40B4-BE49-F238E27FC236}">
                <a16:creationId xmlns:a16="http://schemas.microsoft.com/office/drawing/2014/main" id="{35DFE3F0-E8B3-F198-EEBF-97011DDF0266}"/>
              </a:ext>
            </a:extLst>
          </p:cNvPr>
          <p:cNvSpPr/>
          <p:nvPr/>
        </p:nvSpPr>
        <p:spPr>
          <a:xfrm>
            <a:off x="2541635" y="3784681"/>
            <a:ext cx="6102859" cy="12652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Nota: Es importante señalar que, al momento de guardar el registro, si el registro de calificación no fue referido a ningún NRC existente, Banner asignará como valor del campo NRC un número correlativo anteponiendo las siglas ‘SG’ como lo muestra la imagen.</a:t>
            </a:r>
          </a:p>
        </p:txBody>
      </p:sp>
      <p:sp>
        <p:nvSpPr>
          <p:cNvPr id="6" name="Rectángulo 5">
            <a:extLst>
              <a:ext uri="{FF2B5EF4-FFF2-40B4-BE49-F238E27FC236}">
                <a16:creationId xmlns:a16="http://schemas.microsoft.com/office/drawing/2014/main" id="{1D69093A-0287-E976-AF3F-658A1AA200E9}"/>
              </a:ext>
            </a:extLst>
          </p:cNvPr>
          <p:cNvSpPr/>
          <p:nvPr/>
        </p:nvSpPr>
        <p:spPr>
          <a:xfrm>
            <a:off x="609601" y="1871903"/>
            <a:ext cx="526472" cy="52955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3296590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B8410B8F-DFB8-B06D-9331-FE70E678DFBE}"/>
              </a:ext>
            </a:extLst>
          </p:cNvPr>
          <p:cNvSpPr>
            <a:spLocks noGrp="1"/>
          </p:cNvSpPr>
          <p:nvPr>
            <p:ph type="body" sz="quarter" idx="10"/>
          </p:nvPr>
        </p:nvSpPr>
        <p:spPr/>
        <p:txBody>
          <a:bodyPr/>
          <a:lstStyle/>
          <a:p>
            <a:r>
              <a:rPr lang="es-CL" dirty="0"/>
              <a:t>Visualización de Calificaciones Históricas</a:t>
            </a:r>
            <a:endParaRPr lang="es-419" dirty="0"/>
          </a:p>
        </p:txBody>
      </p:sp>
      <p:sp>
        <p:nvSpPr>
          <p:cNvPr id="2" name="Marcador de texto vertical 1">
            <a:extLst>
              <a:ext uri="{FF2B5EF4-FFF2-40B4-BE49-F238E27FC236}">
                <a16:creationId xmlns:a16="http://schemas.microsoft.com/office/drawing/2014/main" id="{1FD9E21E-241C-8464-2D9C-4A336FE2910A}"/>
              </a:ext>
            </a:extLst>
          </p:cNvPr>
          <p:cNvSpPr>
            <a:spLocks noGrp="1"/>
          </p:cNvSpPr>
          <p:nvPr>
            <p:ph type="body" sz="quarter" idx="11"/>
          </p:nvPr>
        </p:nvSpPr>
        <p:spPr/>
        <p:txBody>
          <a:bodyPr/>
          <a:lstStyle/>
          <a:p>
            <a:r>
              <a:rPr lang="es-419" sz="1200" dirty="0"/>
              <a:t>Gestionar la historia académica del estudiante</a:t>
            </a:r>
            <a:endParaRPr lang="en-US" dirty="0"/>
          </a:p>
        </p:txBody>
      </p:sp>
    </p:spTree>
    <p:extLst>
      <p:ext uri="{BB962C8B-B14F-4D97-AF65-F5344CB8AC3E}">
        <p14:creationId xmlns:p14="http://schemas.microsoft.com/office/powerpoint/2010/main" val="3732828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B86BE-6BD1-D9E8-3AE3-051E5ED3FFD0}"/>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CC644E5D-28AD-01ED-3F3A-FD659BB09386}"/>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5" name="Slide Number Placeholder 17">
            <a:extLst>
              <a:ext uri="{FF2B5EF4-FFF2-40B4-BE49-F238E27FC236}">
                <a16:creationId xmlns:a16="http://schemas.microsoft.com/office/drawing/2014/main" id="{F0E520BE-9C24-8ABF-8F30-8F19249B746D}"/>
              </a:ext>
            </a:extLst>
          </p:cNvPr>
          <p:cNvSpPr>
            <a:spLocks noGrp="1"/>
          </p:cNvSpPr>
          <p:nvPr>
            <p:ph type="sldNum" sz="quarter" idx="4"/>
          </p:nvPr>
        </p:nvSpPr>
        <p:spPr/>
        <p:txBody>
          <a:bodyPr/>
          <a:lstStyle/>
          <a:p>
            <a:fld id="{4A16F8ED-7337-F64C-865A-41A1F48E54DF}" type="slidenum">
              <a:rPr lang="en-US" smtClean="0"/>
              <a:pPr/>
              <a:t>44</a:t>
            </a:fld>
            <a:endParaRPr lang="en-US"/>
          </a:p>
        </p:txBody>
      </p:sp>
      <p:sp>
        <p:nvSpPr>
          <p:cNvPr id="4" name="Título 3">
            <a:extLst>
              <a:ext uri="{FF2B5EF4-FFF2-40B4-BE49-F238E27FC236}">
                <a16:creationId xmlns:a16="http://schemas.microsoft.com/office/drawing/2014/main" id="{4CFF5727-A950-A2AD-4957-77EDA50A718E}"/>
              </a:ext>
            </a:extLst>
          </p:cNvPr>
          <p:cNvSpPr>
            <a:spLocks noGrp="1"/>
          </p:cNvSpPr>
          <p:nvPr>
            <p:ph type="title"/>
          </p:nvPr>
        </p:nvSpPr>
        <p:spPr>
          <a:xfrm>
            <a:off x="810247" y="399106"/>
            <a:ext cx="10271883" cy="626165"/>
          </a:xfrm>
        </p:spPr>
        <p:txBody>
          <a:bodyPr/>
          <a:lstStyle/>
          <a:p>
            <a:r>
              <a:rPr lang="es-419" dirty="0">
                <a:solidFill>
                  <a:schemeClr val="accent1"/>
                </a:solidFill>
              </a:rPr>
              <a:t>Resumen de curso (</a:t>
            </a:r>
            <a:r>
              <a:rPr lang="es-ES_tradnl" dirty="0">
                <a:solidFill>
                  <a:schemeClr val="accent1"/>
                </a:solidFill>
              </a:rPr>
              <a:t>SHACRSE)</a:t>
            </a:r>
            <a:endParaRPr lang="es-CL" dirty="0">
              <a:solidFill>
                <a:schemeClr val="accent1"/>
              </a:solidFill>
            </a:endParaRPr>
          </a:p>
        </p:txBody>
      </p:sp>
      <p:sp>
        <p:nvSpPr>
          <p:cNvPr id="10" name="Rectángulo redondeado 5">
            <a:extLst>
              <a:ext uri="{FF2B5EF4-FFF2-40B4-BE49-F238E27FC236}">
                <a16:creationId xmlns:a16="http://schemas.microsoft.com/office/drawing/2014/main" id="{1C06469E-43EF-FAFD-7260-34BB836C146C}"/>
              </a:ext>
            </a:extLst>
          </p:cNvPr>
          <p:cNvSpPr/>
          <p:nvPr/>
        </p:nvSpPr>
        <p:spPr>
          <a:xfrm>
            <a:off x="1596967" y="3020290"/>
            <a:ext cx="8016240" cy="18657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La página de Resumen de curso (SHACRSE) corresponde a la página administrativa donde se puede visualizar la Historia Académica del estudiante. </a:t>
            </a:r>
          </a:p>
          <a:p>
            <a:r>
              <a:rPr lang="es-ES_tradnl" sz="1200" dirty="0"/>
              <a:t>Puede realizarse la consulta para todos los periodos en los que un estudiante posea calificaciones o para algún periodo académico en especial. </a:t>
            </a:r>
          </a:p>
          <a:p>
            <a:r>
              <a:rPr lang="es-ES_tradnl" sz="1200" dirty="0"/>
              <a:t>Para ingresar en esta página:</a:t>
            </a:r>
          </a:p>
          <a:p>
            <a:pPr marL="228600" indent="-228600">
              <a:buFont typeface="+mj-lt"/>
              <a:buAutoNum type="arabicPeriod"/>
            </a:pPr>
            <a:r>
              <a:rPr lang="es-ES_tradnl" sz="1200" dirty="0"/>
              <a:t>Ingrese el ID del estudiante al que le va a consultar la historia académica</a:t>
            </a:r>
          </a:p>
          <a:p>
            <a:pPr marL="228600" indent="-228600">
              <a:buFont typeface="+mj-lt"/>
              <a:buAutoNum type="arabicPeriod"/>
            </a:pPr>
            <a:r>
              <a:rPr lang="es-ES_tradnl" sz="1200" dirty="0"/>
              <a:t>Si desea consultar todos los períodos, deje el campo Período vacío. Si desea consultar la historia del estudiante para un período en particular, ingrese el código correspondiente. </a:t>
            </a:r>
          </a:p>
          <a:p>
            <a:pPr marL="228600" indent="-228600">
              <a:buFont typeface="+mj-lt"/>
              <a:buAutoNum type="arabicPeriod"/>
            </a:pPr>
            <a:r>
              <a:rPr lang="es-ES_tradnl" sz="1200" dirty="0"/>
              <a:t>Presione el botón Ir.</a:t>
            </a:r>
          </a:p>
        </p:txBody>
      </p:sp>
      <p:pic>
        <p:nvPicPr>
          <p:cNvPr id="6" name="Imagen 5">
            <a:extLst>
              <a:ext uri="{FF2B5EF4-FFF2-40B4-BE49-F238E27FC236}">
                <a16:creationId xmlns:a16="http://schemas.microsoft.com/office/drawing/2014/main" id="{B8C8511E-3F8E-0DA5-9C9F-C3F1ABEFE5D6}"/>
              </a:ext>
            </a:extLst>
          </p:cNvPr>
          <p:cNvPicPr>
            <a:picLocks noChangeAspect="1"/>
          </p:cNvPicPr>
          <p:nvPr/>
        </p:nvPicPr>
        <p:blipFill>
          <a:blip r:embed="rId2"/>
          <a:stretch>
            <a:fillRect/>
          </a:stretch>
        </p:blipFill>
        <p:spPr>
          <a:xfrm>
            <a:off x="810247" y="1197456"/>
            <a:ext cx="10642844" cy="987710"/>
          </a:xfrm>
          <a:prstGeom prst="rect">
            <a:avLst/>
          </a:prstGeom>
        </p:spPr>
      </p:pic>
      <p:sp>
        <p:nvSpPr>
          <p:cNvPr id="7" name="Rectángulo 6">
            <a:extLst>
              <a:ext uri="{FF2B5EF4-FFF2-40B4-BE49-F238E27FC236}">
                <a16:creationId xmlns:a16="http://schemas.microsoft.com/office/drawing/2014/main" id="{04B08B30-D82E-242A-F337-22F107033DED}"/>
              </a:ext>
            </a:extLst>
          </p:cNvPr>
          <p:cNvSpPr/>
          <p:nvPr/>
        </p:nvSpPr>
        <p:spPr>
          <a:xfrm>
            <a:off x="1339273" y="1469298"/>
            <a:ext cx="1190747" cy="1601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714B90A9-1F7D-B73D-8209-40DC497142F5}"/>
              </a:ext>
            </a:extLst>
          </p:cNvPr>
          <p:cNvSpPr/>
          <p:nvPr/>
        </p:nvSpPr>
        <p:spPr>
          <a:xfrm>
            <a:off x="2569217" y="136827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1" name="Rectángulo 10">
            <a:extLst>
              <a:ext uri="{FF2B5EF4-FFF2-40B4-BE49-F238E27FC236}">
                <a16:creationId xmlns:a16="http://schemas.microsoft.com/office/drawing/2014/main" id="{CD8C118F-C0F1-F62A-E84C-90528D6E6212}"/>
              </a:ext>
            </a:extLst>
          </p:cNvPr>
          <p:cNvSpPr/>
          <p:nvPr/>
        </p:nvSpPr>
        <p:spPr>
          <a:xfrm>
            <a:off x="6079778" y="1478534"/>
            <a:ext cx="1386107" cy="1331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9ED0DEF7-B675-C1AF-B70D-4555394B854A}"/>
              </a:ext>
            </a:extLst>
          </p:cNvPr>
          <p:cNvSpPr/>
          <p:nvPr/>
        </p:nvSpPr>
        <p:spPr>
          <a:xfrm>
            <a:off x="7465913" y="162173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3" name="Rectángulo redondeado 15">
            <a:extLst>
              <a:ext uri="{FF2B5EF4-FFF2-40B4-BE49-F238E27FC236}">
                <a16:creationId xmlns:a16="http://schemas.microsoft.com/office/drawing/2014/main" id="{1D21E669-0A05-EAB6-1A08-C8C0A0D1BD2A}"/>
              </a:ext>
            </a:extLst>
          </p:cNvPr>
          <p:cNvSpPr/>
          <p:nvPr/>
        </p:nvSpPr>
        <p:spPr>
          <a:xfrm>
            <a:off x="10886638" y="155824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6" name="Rectángulo 15">
            <a:extLst>
              <a:ext uri="{FF2B5EF4-FFF2-40B4-BE49-F238E27FC236}">
                <a16:creationId xmlns:a16="http://schemas.microsoft.com/office/drawing/2014/main" id="{0811CAD9-2BBC-5DAA-A36C-2BD46BC958E7}"/>
              </a:ext>
            </a:extLst>
          </p:cNvPr>
          <p:cNvSpPr/>
          <p:nvPr/>
        </p:nvSpPr>
        <p:spPr>
          <a:xfrm>
            <a:off x="11138076" y="1477836"/>
            <a:ext cx="315015"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1312240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40562-D88F-1D78-0CB4-62A681A3A22C}"/>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396A111E-A0E8-7BFD-0517-C9A296D59FA5}"/>
              </a:ext>
            </a:extLst>
          </p:cNvPr>
          <p:cNvPicPr>
            <a:picLocks noChangeAspect="1"/>
          </p:cNvPicPr>
          <p:nvPr/>
        </p:nvPicPr>
        <p:blipFill>
          <a:blip r:embed="rId2"/>
          <a:stretch>
            <a:fillRect/>
          </a:stretch>
        </p:blipFill>
        <p:spPr>
          <a:xfrm>
            <a:off x="810247" y="955251"/>
            <a:ext cx="10905068" cy="4986311"/>
          </a:xfrm>
          <a:prstGeom prst="rect">
            <a:avLst/>
          </a:prstGeom>
        </p:spPr>
      </p:pic>
      <p:sp>
        <p:nvSpPr>
          <p:cNvPr id="3" name="Marcador de texto vertical 2">
            <a:extLst>
              <a:ext uri="{FF2B5EF4-FFF2-40B4-BE49-F238E27FC236}">
                <a16:creationId xmlns:a16="http://schemas.microsoft.com/office/drawing/2014/main" id="{0123A4B2-F334-661E-1033-106C860CDFF5}"/>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5" name="Slide Number Placeholder 17">
            <a:extLst>
              <a:ext uri="{FF2B5EF4-FFF2-40B4-BE49-F238E27FC236}">
                <a16:creationId xmlns:a16="http://schemas.microsoft.com/office/drawing/2014/main" id="{18EAE735-DDA5-E730-92D9-88445605A82B}"/>
              </a:ext>
            </a:extLst>
          </p:cNvPr>
          <p:cNvSpPr>
            <a:spLocks noGrp="1"/>
          </p:cNvSpPr>
          <p:nvPr>
            <p:ph type="sldNum" sz="quarter" idx="4"/>
          </p:nvPr>
        </p:nvSpPr>
        <p:spPr/>
        <p:txBody>
          <a:bodyPr/>
          <a:lstStyle/>
          <a:p>
            <a:fld id="{4A16F8ED-7337-F64C-865A-41A1F48E54DF}" type="slidenum">
              <a:rPr lang="en-US" smtClean="0"/>
              <a:pPr/>
              <a:t>45</a:t>
            </a:fld>
            <a:endParaRPr lang="en-US"/>
          </a:p>
        </p:txBody>
      </p:sp>
      <p:sp>
        <p:nvSpPr>
          <p:cNvPr id="4" name="Título 3">
            <a:extLst>
              <a:ext uri="{FF2B5EF4-FFF2-40B4-BE49-F238E27FC236}">
                <a16:creationId xmlns:a16="http://schemas.microsoft.com/office/drawing/2014/main" id="{FB0B5282-0BF8-269A-0F10-C1A634F63071}"/>
              </a:ext>
            </a:extLst>
          </p:cNvPr>
          <p:cNvSpPr>
            <a:spLocks noGrp="1"/>
          </p:cNvSpPr>
          <p:nvPr>
            <p:ph type="title"/>
          </p:nvPr>
        </p:nvSpPr>
        <p:spPr>
          <a:xfrm>
            <a:off x="810247" y="327992"/>
            <a:ext cx="10271883" cy="626165"/>
          </a:xfrm>
        </p:spPr>
        <p:txBody>
          <a:bodyPr/>
          <a:lstStyle/>
          <a:p>
            <a:r>
              <a:rPr lang="es-419" dirty="0">
                <a:solidFill>
                  <a:schemeClr val="accent1"/>
                </a:solidFill>
              </a:rPr>
              <a:t>Resumen de curso (</a:t>
            </a:r>
            <a:r>
              <a:rPr lang="es-ES_tradnl" dirty="0">
                <a:solidFill>
                  <a:schemeClr val="accent1"/>
                </a:solidFill>
              </a:rPr>
              <a:t>SHACRSE)</a:t>
            </a:r>
            <a:endParaRPr lang="es-CL" dirty="0">
              <a:solidFill>
                <a:schemeClr val="accent1"/>
              </a:solidFill>
            </a:endParaRPr>
          </a:p>
        </p:txBody>
      </p:sp>
      <p:sp>
        <p:nvSpPr>
          <p:cNvPr id="10" name="Rectángulo redondeado 5">
            <a:extLst>
              <a:ext uri="{FF2B5EF4-FFF2-40B4-BE49-F238E27FC236}">
                <a16:creationId xmlns:a16="http://schemas.microsoft.com/office/drawing/2014/main" id="{FFC39EE8-DCB1-FCE1-3751-CB2EB11EB718}"/>
              </a:ext>
            </a:extLst>
          </p:cNvPr>
          <p:cNvSpPr/>
          <p:nvPr/>
        </p:nvSpPr>
        <p:spPr>
          <a:xfrm>
            <a:off x="1938068" y="2716796"/>
            <a:ext cx="8016240" cy="266927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Al ingresar al Bloque Resumen de curso, se listarán las asignaturas que se encuentran en la historia académica del estudiante con información propia que defina a cada una:</a:t>
            </a:r>
          </a:p>
          <a:p>
            <a:pPr marL="171450" indent="-171450">
              <a:buFont typeface="Arial" panose="020B0604020202020204" pitchFamily="34" charset="0"/>
              <a:buChar char="•"/>
            </a:pPr>
            <a:r>
              <a:rPr lang="es-ES_tradnl" sz="1200" dirty="0"/>
              <a:t>Período</a:t>
            </a:r>
          </a:p>
          <a:p>
            <a:pPr marL="171450" indent="-171450">
              <a:buFont typeface="Arial" panose="020B0604020202020204" pitchFamily="34" charset="0"/>
              <a:buChar char="•"/>
            </a:pPr>
            <a:r>
              <a:rPr lang="es-ES_tradnl" sz="1200" dirty="0"/>
              <a:t>Parte de período (si aplica)</a:t>
            </a:r>
          </a:p>
          <a:p>
            <a:pPr marL="171450" indent="-171450">
              <a:buFont typeface="Arial" panose="020B0604020202020204" pitchFamily="34" charset="0"/>
              <a:buChar char="•"/>
            </a:pPr>
            <a:r>
              <a:rPr lang="es-ES_tradnl" sz="1200" dirty="0"/>
              <a:t>Campus (si aplica)</a:t>
            </a:r>
          </a:p>
          <a:p>
            <a:pPr marL="171450" indent="-171450">
              <a:buFont typeface="Arial" panose="020B0604020202020204" pitchFamily="34" charset="0"/>
              <a:buChar char="•"/>
            </a:pPr>
            <a:r>
              <a:rPr lang="es-ES_tradnl" sz="1200" dirty="0"/>
              <a:t>Nivel</a:t>
            </a:r>
          </a:p>
          <a:p>
            <a:pPr marL="171450" indent="-171450">
              <a:buFont typeface="Arial" panose="020B0604020202020204" pitchFamily="34" charset="0"/>
              <a:buChar char="•"/>
            </a:pPr>
            <a:r>
              <a:rPr lang="es-ES_tradnl" sz="1200" dirty="0"/>
              <a:t>NRC</a:t>
            </a:r>
          </a:p>
          <a:p>
            <a:pPr marL="171450" indent="-171450">
              <a:buFont typeface="Arial" panose="020B0604020202020204" pitchFamily="34" charset="0"/>
              <a:buChar char="•"/>
            </a:pPr>
            <a:r>
              <a:rPr lang="es-ES_tradnl" sz="1200" dirty="0"/>
              <a:t> Materia y Curso</a:t>
            </a:r>
          </a:p>
          <a:p>
            <a:pPr marL="171450" indent="-171450">
              <a:buFont typeface="Arial" panose="020B0604020202020204" pitchFamily="34" charset="0"/>
              <a:buChar char="•"/>
            </a:pPr>
            <a:r>
              <a:rPr lang="es-ES_tradnl" sz="1200" dirty="0"/>
              <a:t>Sección (si aplica)</a:t>
            </a:r>
          </a:p>
          <a:p>
            <a:pPr marL="171450" indent="-171450">
              <a:buFont typeface="Arial" panose="020B0604020202020204" pitchFamily="34" charset="0"/>
              <a:buChar char="•"/>
            </a:pPr>
            <a:r>
              <a:rPr lang="es-ES_tradnl" sz="1200" dirty="0"/>
              <a:t>Créditos de la asignatura</a:t>
            </a:r>
          </a:p>
          <a:p>
            <a:pPr marL="171450" indent="-171450">
              <a:buFont typeface="Arial" panose="020B0604020202020204" pitchFamily="34" charset="0"/>
              <a:buChar char="•"/>
            </a:pPr>
            <a:r>
              <a:rPr lang="es-ES_tradnl" sz="1200" dirty="0"/>
              <a:t> Calificación</a:t>
            </a:r>
          </a:p>
          <a:p>
            <a:pPr marL="171450" indent="-171450">
              <a:buFont typeface="Arial" panose="020B0604020202020204" pitchFamily="34" charset="0"/>
              <a:buChar char="•"/>
            </a:pPr>
            <a:r>
              <a:rPr lang="es-ES_tradnl" sz="1200" dirty="0"/>
              <a:t>Modo de calificar</a:t>
            </a:r>
          </a:p>
          <a:p>
            <a:pPr marL="171450" indent="-171450">
              <a:buFont typeface="Arial" panose="020B0604020202020204" pitchFamily="34" charset="0"/>
              <a:buChar char="•"/>
            </a:pPr>
            <a:r>
              <a:rPr lang="es-ES_tradnl" sz="1200" dirty="0"/>
              <a:t>Título de curso</a:t>
            </a:r>
          </a:p>
        </p:txBody>
      </p:sp>
      <p:sp>
        <p:nvSpPr>
          <p:cNvPr id="16" name="Rectángulo 15">
            <a:extLst>
              <a:ext uri="{FF2B5EF4-FFF2-40B4-BE49-F238E27FC236}">
                <a16:creationId xmlns:a16="http://schemas.microsoft.com/office/drawing/2014/main" id="{6C676D25-BBC1-7E72-36A4-FAFFE3F69E3B}"/>
              </a:ext>
            </a:extLst>
          </p:cNvPr>
          <p:cNvSpPr/>
          <p:nvPr/>
        </p:nvSpPr>
        <p:spPr>
          <a:xfrm>
            <a:off x="820954" y="1368271"/>
            <a:ext cx="10560799" cy="7930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960573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B73C8-9D7B-8282-0229-FEC8D54C2C2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AAD827E-CA58-C662-611D-0E9152202994}"/>
              </a:ext>
            </a:extLst>
          </p:cNvPr>
          <p:cNvPicPr>
            <a:picLocks noChangeAspect="1"/>
          </p:cNvPicPr>
          <p:nvPr/>
        </p:nvPicPr>
        <p:blipFill>
          <a:blip r:embed="rId2"/>
          <a:stretch>
            <a:fillRect/>
          </a:stretch>
        </p:blipFill>
        <p:spPr>
          <a:xfrm>
            <a:off x="810247" y="1047614"/>
            <a:ext cx="10905068" cy="4986311"/>
          </a:xfrm>
          <a:prstGeom prst="rect">
            <a:avLst/>
          </a:prstGeom>
        </p:spPr>
      </p:pic>
      <p:sp>
        <p:nvSpPr>
          <p:cNvPr id="3" name="Marcador de texto vertical 2">
            <a:extLst>
              <a:ext uri="{FF2B5EF4-FFF2-40B4-BE49-F238E27FC236}">
                <a16:creationId xmlns:a16="http://schemas.microsoft.com/office/drawing/2014/main" id="{A12905A5-BAF0-B941-02A2-4A60142DF4B3}"/>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4" name="Título 3">
            <a:extLst>
              <a:ext uri="{FF2B5EF4-FFF2-40B4-BE49-F238E27FC236}">
                <a16:creationId xmlns:a16="http://schemas.microsoft.com/office/drawing/2014/main" id="{9DBA8C72-55C9-798D-B58B-B043B7B09DEF}"/>
              </a:ext>
            </a:extLst>
          </p:cNvPr>
          <p:cNvSpPr>
            <a:spLocks noGrp="1"/>
          </p:cNvSpPr>
          <p:nvPr>
            <p:ph type="title"/>
          </p:nvPr>
        </p:nvSpPr>
        <p:spPr>
          <a:xfrm>
            <a:off x="810247" y="327992"/>
            <a:ext cx="10271883" cy="626165"/>
          </a:xfrm>
        </p:spPr>
        <p:txBody>
          <a:bodyPr/>
          <a:lstStyle/>
          <a:p>
            <a:r>
              <a:rPr lang="es-419" dirty="0">
                <a:solidFill>
                  <a:schemeClr val="accent1"/>
                </a:solidFill>
              </a:rPr>
              <a:t>Resumen de curso (</a:t>
            </a:r>
            <a:r>
              <a:rPr lang="es-ES_tradnl" dirty="0">
                <a:solidFill>
                  <a:schemeClr val="accent1"/>
                </a:solidFill>
              </a:rPr>
              <a:t>SHACRSE)</a:t>
            </a:r>
            <a:endParaRPr lang="es-CL" dirty="0">
              <a:solidFill>
                <a:schemeClr val="accent1"/>
              </a:solidFill>
            </a:endParaRPr>
          </a:p>
        </p:txBody>
      </p:sp>
      <p:grpSp>
        <p:nvGrpSpPr>
          <p:cNvPr id="17" name="Grupo 16">
            <a:extLst>
              <a:ext uri="{FF2B5EF4-FFF2-40B4-BE49-F238E27FC236}">
                <a16:creationId xmlns:a16="http://schemas.microsoft.com/office/drawing/2014/main" id="{211B6368-7FDE-88D6-B559-4CF1366EA61D}"/>
              </a:ext>
            </a:extLst>
          </p:cNvPr>
          <p:cNvGrpSpPr/>
          <p:nvPr/>
        </p:nvGrpSpPr>
        <p:grpSpPr>
          <a:xfrm>
            <a:off x="2230827" y="3881764"/>
            <a:ext cx="7217973" cy="1115950"/>
            <a:chOff x="2230827" y="3872527"/>
            <a:chExt cx="7217973" cy="1115950"/>
          </a:xfrm>
        </p:grpSpPr>
        <p:sp>
          <p:nvSpPr>
            <p:cNvPr id="10" name="Rectángulo redondeado 5">
              <a:extLst>
                <a:ext uri="{FF2B5EF4-FFF2-40B4-BE49-F238E27FC236}">
                  <a16:creationId xmlns:a16="http://schemas.microsoft.com/office/drawing/2014/main" id="{DB8D25CB-BC1A-72EB-9F3D-4BAD590CF75F}"/>
                </a:ext>
              </a:extLst>
            </p:cNvPr>
            <p:cNvSpPr/>
            <p:nvPr/>
          </p:nvSpPr>
          <p:spPr>
            <a:xfrm>
              <a:off x="2230827" y="3872527"/>
              <a:ext cx="7217973" cy="111595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4"/>
              </a:pPr>
              <a:r>
                <a:rPr lang="es-ES_tradnl" sz="1200" b="1" dirty="0"/>
                <a:t> </a:t>
              </a:r>
              <a:r>
                <a:rPr lang="es-ES_tradnl" sz="1200" dirty="0"/>
                <a:t>Si por algún motivo se deseara modificar alguna calificación de las visualizadas en la lista, presionando el botón            , derivará al registro de SHATCKN alusivo al alumno y curso cuya  calificación desea consultar o editar en esta última página, según el nivel de acceso a la misma. </a:t>
              </a:r>
            </a:p>
            <a:p>
              <a:pPr algn="ctr"/>
              <a:endParaRPr lang="es-ES_tradnl" sz="1100" dirty="0"/>
            </a:p>
          </p:txBody>
        </p:sp>
        <p:pic>
          <p:nvPicPr>
            <p:cNvPr id="13" name="Gráfico 12" descr="Lupa con relleno sólido">
              <a:extLst>
                <a:ext uri="{FF2B5EF4-FFF2-40B4-BE49-F238E27FC236}">
                  <a16:creationId xmlns:a16="http://schemas.microsoft.com/office/drawing/2014/main" id="{A68CDEDD-D027-A8CB-112F-E229DBA1AA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50144" y="4206141"/>
              <a:ext cx="298249" cy="298249"/>
            </a:xfrm>
            <a:prstGeom prst="rect">
              <a:avLst/>
            </a:prstGeom>
          </p:spPr>
        </p:pic>
      </p:grpSp>
    </p:spTree>
    <p:extLst>
      <p:ext uri="{BB962C8B-B14F-4D97-AF65-F5344CB8AC3E}">
        <p14:creationId xmlns:p14="http://schemas.microsoft.com/office/powerpoint/2010/main" val="30968987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2E7E2E77-4606-C5BE-D3BF-1AAC6E8DA89B}"/>
              </a:ext>
            </a:extLst>
          </p:cNvPr>
          <p:cNvSpPr>
            <a:spLocks noGrp="1"/>
          </p:cNvSpPr>
          <p:nvPr>
            <p:ph type="body" sz="quarter" idx="10"/>
          </p:nvPr>
        </p:nvSpPr>
        <p:spPr>
          <a:xfrm>
            <a:off x="914399" y="2238843"/>
            <a:ext cx="10363202" cy="669094"/>
          </a:xfrm>
        </p:spPr>
        <p:txBody>
          <a:bodyPr/>
          <a:lstStyle/>
          <a:p>
            <a:r>
              <a:rPr lang="en-US" dirty="0"/>
              <a:t>RESUMEN</a:t>
            </a:r>
            <a:endParaRPr lang="es-419" dirty="0"/>
          </a:p>
        </p:txBody>
      </p:sp>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sz="quarter" idx="11"/>
          </p:nvPr>
        </p:nvSpPr>
        <p:spPr/>
        <p:txBody>
          <a:bodyPr/>
          <a:lstStyle/>
          <a:p>
            <a:r>
              <a:rPr lang="es-419" sz="1200" dirty="0"/>
              <a:t>Gestionar la historia académica del estudiante</a:t>
            </a:r>
            <a:endParaRPr lang="en-US" dirty="0"/>
          </a:p>
        </p:txBody>
      </p:sp>
    </p:spTree>
    <p:extLst>
      <p:ext uri="{BB962C8B-B14F-4D97-AF65-F5344CB8AC3E}">
        <p14:creationId xmlns:p14="http://schemas.microsoft.com/office/powerpoint/2010/main" val="3113485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B9474-7777-17F5-D2D5-EDC1D4AEFDBE}"/>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4FACD5D4-22C3-6604-9429-DE5A49FE6240}"/>
              </a:ext>
            </a:extLst>
          </p:cNvPr>
          <p:cNvSpPr>
            <a:spLocks noGrp="1"/>
          </p:cNvSpPr>
          <p:nvPr>
            <p:ph type="body" sz="quarter" idx="18"/>
          </p:nvPr>
        </p:nvSpPr>
        <p:spPr/>
        <p:txBody>
          <a:bodyPr/>
          <a:lstStyle/>
          <a:p>
            <a:pPr marL="342900" indent="-342900" algn="just">
              <a:buClr>
                <a:srgbClr val="0CB4B4"/>
              </a:buClr>
              <a:buFont typeface="Wingdings" panose="05000000000000000000" pitchFamily="2" charset="2"/>
              <a:buChar char="q"/>
            </a:pPr>
            <a:r>
              <a:rPr lang="es-419" sz="2000" dirty="0"/>
              <a:t>Banner permite ingresar o modificar las calificaciones finales de historia académica de un estudiante mediante la página administrativa SHATCKN.</a:t>
            </a:r>
          </a:p>
          <a:p>
            <a:pPr marL="342900" indent="-342900" algn="just">
              <a:buClr>
                <a:srgbClr val="0CB4B4"/>
              </a:buClr>
              <a:buFont typeface="Wingdings" panose="05000000000000000000" pitchFamily="2" charset="2"/>
              <a:buChar char="q"/>
            </a:pPr>
            <a:r>
              <a:rPr lang="es-419" sz="2000" dirty="0"/>
              <a:t>El ingreso o modificación de calificaciones debe responder a algún tipo de validación de Banner, siendo sugerido el uso del tipo de validación por Catálogo u Horario.</a:t>
            </a:r>
          </a:p>
          <a:p>
            <a:pPr marL="342900" indent="-342900" algn="just">
              <a:buClr>
                <a:srgbClr val="0CB4B4"/>
              </a:buClr>
              <a:buFont typeface="Wingdings" panose="05000000000000000000" pitchFamily="2" charset="2"/>
              <a:buChar char="q"/>
            </a:pPr>
            <a:r>
              <a:rPr lang="es-419" sz="2000" dirty="0"/>
              <a:t>Desde la página administrativa SHACRSE puede visualizarse la totalidad de la historia académica de un estudiante o bien solo la historia académica asociada a algún periodo académico en particular.</a:t>
            </a:r>
          </a:p>
          <a:p>
            <a:pPr marL="342900" indent="-342900" algn="just">
              <a:buClr>
                <a:srgbClr val="0CB4B4"/>
              </a:buClr>
              <a:buFont typeface="Wingdings" panose="05000000000000000000" pitchFamily="2" charset="2"/>
              <a:buChar char="q"/>
            </a:pPr>
            <a:r>
              <a:rPr lang="es-419" sz="2000" dirty="0"/>
              <a:t>Los ajustes a las calificaciones guardan la trazabilidad de los valores anteriores, siendo diferenciados y justificados principalmente por el campo “Razón de Cambio”.</a:t>
            </a:r>
          </a:p>
        </p:txBody>
      </p:sp>
      <p:sp>
        <p:nvSpPr>
          <p:cNvPr id="10" name="Vertical Text Placeholder 9">
            <a:extLst>
              <a:ext uri="{FF2B5EF4-FFF2-40B4-BE49-F238E27FC236}">
                <a16:creationId xmlns:a16="http://schemas.microsoft.com/office/drawing/2014/main" id="{EB9FF5CB-262F-F40B-587A-AF54C6C8A54A}"/>
              </a:ext>
            </a:extLst>
          </p:cNvPr>
          <p:cNvSpPr>
            <a:spLocks noGrp="1"/>
          </p:cNvSpPr>
          <p:nvPr>
            <p:ph type="body" orient="vert" sz="quarter" idx="17"/>
          </p:nvPr>
        </p:nvSpPr>
        <p:spPr/>
        <p:txBody>
          <a:bodyPr/>
          <a:lstStyle/>
          <a:p>
            <a:r>
              <a:rPr lang="es-419" sz="1200" dirty="0"/>
              <a:t>Gestionar la historia académica del estudiante</a:t>
            </a:r>
            <a:endParaRPr lang="en-US" dirty="0"/>
          </a:p>
        </p:txBody>
      </p:sp>
      <p:sp>
        <p:nvSpPr>
          <p:cNvPr id="16" name="Title 15">
            <a:extLst>
              <a:ext uri="{FF2B5EF4-FFF2-40B4-BE49-F238E27FC236}">
                <a16:creationId xmlns:a16="http://schemas.microsoft.com/office/drawing/2014/main" id="{DFA871F1-F7B1-4FC0-FD77-A8829249AFB1}"/>
              </a:ext>
            </a:extLst>
          </p:cNvPr>
          <p:cNvSpPr>
            <a:spLocks noGrp="1"/>
          </p:cNvSpPr>
          <p:nvPr>
            <p:ph type="title"/>
          </p:nvPr>
        </p:nvSpPr>
        <p:spPr/>
        <p:txBody>
          <a:bodyPr/>
          <a:lstStyle/>
          <a:p>
            <a:r>
              <a:rPr lang="en-US" dirty="0">
                <a:solidFill>
                  <a:schemeClr val="accent1"/>
                </a:solidFill>
              </a:rPr>
              <a:t>RESUMEN</a:t>
            </a:r>
          </a:p>
        </p:txBody>
      </p:sp>
    </p:spTree>
    <p:extLst>
      <p:ext uri="{BB962C8B-B14F-4D97-AF65-F5344CB8AC3E}">
        <p14:creationId xmlns:p14="http://schemas.microsoft.com/office/powerpoint/2010/main" val="22805550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L" dirty="0"/>
              <a:t>C</a:t>
            </a:r>
            <a:r>
              <a:rPr lang="es-419" dirty="0" err="1"/>
              <a:t>orreo</a:t>
            </a:r>
            <a:r>
              <a:rPr lang="es-419" dirty="0"/>
              <a:t>.</a:t>
            </a:r>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Ellucian_April 2025</Template>
  <TotalTime>17399</TotalTime>
  <Words>2627</Words>
  <Application>Microsoft Office PowerPoint</Application>
  <PresentationFormat>Panorámica</PresentationFormat>
  <Paragraphs>248</Paragraphs>
  <Slides>49</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49</vt:i4>
      </vt:variant>
    </vt:vector>
  </HeadingPairs>
  <TitlesOfParts>
    <vt:vector size="58"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Macroproceso Gestionar la inscripción de cursos</vt:lpstr>
      <vt:lpstr>Presentación de PowerPoint</vt:lpstr>
      <vt:lpstr>Presentación de PowerPoint</vt:lpstr>
      <vt:lpstr>Presentación de PowerPoint</vt:lpstr>
      <vt:lpstr>CONFIGURACIONES</vt:lpstr>
      <vt:lpstr>Validación de modo de calificar (STVGMOD) </vt:lpstr>
      <vt:lpstr>Validación de código de cambio de calificación (STVGCHG)</vt:lpstr>
      <vt:lpstr>Validación de código de cambio de calificación (STVGCHG )</vt:lpstr>
      <vt:lpstr>Validación de código de cambio de calificación (STVGCHG )</vt:lpstr>
      <vt:lpstr>Validación de código de cambio de calificación (STVGCHG )</vt:lpstr>
      <vt:lpstr>Validación de código de cambio de calificación (STVGCHG )</vt:lpstr>
      <vt:lpstr>Validación de código de cambio de calificación (STVGCHG )</vt:lpstr>
      <vt:lpstr>Validación de código de cambio de calificación (STVGCHG )</vt:lpstr>
      <vt:lpstr>Validación de código de cambio de calificación (STVGCHG )</vt:lpstr>
      <vt:lpstr>Validación de código de cambio de calificación (STVGCHG )</vt:lpstr>
      <vt:lpstr>Validación de código de cambio de calificación (STVGCHG )</vt:lpstr>
      <vt:lpstr>Validación de código de cambio de calificación (STVGCHG )</vt:lpstr>
      <vt:lpstr>Gestionar la historia académica del estudiante</vt:lpstr>
      <vt:lpstr>Presentación de PowerPoint</vt:lpstr>
      <vt:lpstr>Mantenimiento al curso del periodo del alumno (SHAINST) </vt:lpstr>
      <vt:lpstr>Mantenimiento al curso del periodo del alumno (SHAINST)</vt:lpstr>
      <vt:lpstr>Mantenimiento al curso del periodo del alumno (SHAINST)</vt:lpstr>
      <vt:lpstr>Mantenimiento al curso del periodo del alumno (SHAINST)</vt:lpstr>
      <vt:lpstr>Presentación de PowerPoint</vt:lpstr>
      <vt:lpstr>Mantenimiento al curso del alumno (SHATCKN)</vt:lpstr>
      <vt:lpstr>Mantenimiento al curso del alumno (SHATCKN) </vt:lpstr>
      <vt:lpstr>Mantenimiento al curso del alumno (SHATCKN)  </vt:lpstr>
      <vt:lpstr>Mantenimiento al curso del alumno (SHATCKN) </vt:lpstr>
      <vt:lpstr>Mantenimiento al curso del alumno (SHATCKN) </vt:lpstr>
      <vt:lpstr>Mantenimiento al curso del alumno (SHATCKN) </vt:lpstr>
      <vt:lpstr>Mantenimiento al curso del alumno (SHATCKN)</vt:lpstr>
      <vt:lpstr>Mantenimiento al curso del alumno (SHATCKN) </vt:lpstr>
      <vt:lpstr>Mantenimiento al curso del alumno (SHATCKN) </vt:lpstr>
      <vt:lpstr>Mantenimiento al curso del alumno (SHATCKN) </vt:lpstr>
      <vt:lpstr>Mantenimiento al curso del alumno (SHATCKN) </vt:lpstr>
      <vt:lpstr>Mantenimiento al curso del alumno (SHATCKN) </vt:lpstr>
      <vt:lpstr>Mantenimiento al curso del alumno (SHATCKN) </vt:lpstr>
      <vt:lpstr>Mantenimiento al curso del alumno (SHATCKN)  </vt:lpstr>
      <vt:lpstr>Presentación de PowerPoint</vt:lpstr>
      <vt:lpstr>Resumen de curso (SHACRSE)</vt:lpstr>
      <vt:lpstr>Resumen de curso (SHACRSE)</vt:lpstr>
      <vt:lpstr>Resumen de curso (SHACRSE)</vt:lpstr>
      <vt:lpstr>Presentación de PowerPoint</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Trapp, Eduardo</cp:lastModifiedBy>
  <cp:revision>272</cp:revision>
  <dcterms:created xsi:type="dcterms:W3CDTF">2023-07-17T20:07:38Z</dcterms:created>
  <dcterms:modified xsi:type="dcterms:W3CDTF">2026-06-04T21:14:57Z</dcterms:modified>
</cp:coreProperties>
</file>
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 id="2147483764" r:id="rId2"/>
  </p:sldMasterIdLst>
  <p:notesMasterIdLst>
    <p:notesMasterId r:id="rId20"/>
  </p:notesMasterIdLst>
  <p:sldIdLst>
    <p:sldId id="1424" r:id="rId3"/>
    <p:sldId id="423" r:id="rId4"/>
    <p:sldId id="1174" r:id="rId5"/>
    <p:sldId id="569" r:id="rId6"/>
    <p:sldId id="1382" r:id="rId7"/>
    <p:sldId id="1251" r:id="rId8"/>
    <p:sldId id="261" r:id="rId9"/>
    <p:sldId id="1292" r:id="rId10"/>
    <p:sldId id="1119" r:id="rId11"/>
    <p:sldId id="1363" r:id="rId12"/>
    <p:sldId id="1383" r:id="rId13"/>
    <p:sldId id="1267" r:id="rId14"/>
    <p:sldId id="1279" r:id="rId15"/>
    <p:sldId id="1384" r:id="rId16"/>
    <p:sldId id="1385" r:id="rId17"/>
    <p:sldId id="1386" r:id="rId18"/>
    <p:sldId id="32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9F803A-F294-4F27-AC9B-8C1EFF4DA0FA}" type="datetimeFigureOut">
              <a:rPr lang="es-419" smtClean="0"/>
              <a:t>15/7/2026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15B56A-ECDA-43CE-88E3-40A847BF3438}" type="slidenum">
              <a:rPr lang="es-419" smtClean="0"/>
              <a:t>‹#›</a:t>
            </a:fld>
            <a:endParaRPr lang="es-419"/>
          </a:p>
        </p:txBody>
      </p:sp>
    </p:spTree>
    <p:extLst>
      <p:ext uri="{BB962C8B-B14F-4D97-AF65-F5344CB8AC3E}">
        <p14:creationId xmlns:p14="http://schemas.microsoft.com/office/powerpoint/2010/main" val="1031565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11</a:t>
            </a:fld>
            <a:endParaRPr lang="en-US"/>
          </a:p>
        </p:txBody>
      </p:sp>
    </p:spTree>
    <p:extLst>
      <p:ext uri="{BB962C8B-B14F-4D97-AF65-F5344CB8AC3E}">
        <p14:creationId xmlns:p14="http://schemas.microsoft.com/office/powerpoint/2010/main" val="153952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12</a:t>
            </a:fld>
            <a:endParaRPr lang="en-US"/>
          </a:p>
        </p:txBody>
      </p:sp>
    </p:spTree>
    <p:extLst>
      <p:ext uri="{BB962C8B-B14F-4D97-AF65-F5344CB8AC3E}">
        <p14:creationId xmlns:p14="http://schemas.microsoft.com/office/powerpoint/2010/main" val="2105037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1269192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15</a:t>
            </a:fld>
            <a:endParaRPr lang="en-US"/>
          </a:p>
        </p:txBody>
      </p:sp>
    </p:spTree>
    <p:extLst>
      <p:ext uri="{BB962C8B-B14F-4D97-AF65-F5344CB8AC3E}">
        <p14:creationId xmlns:p14="http://schemas.microsoft.com/office/powerpoint/2010/main" val="35851404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90612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441306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37776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87377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813347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42066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51959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9814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481060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286882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389419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696284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2707558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580412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4607761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649539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208813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43574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0380526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4037550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5915195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103845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7559910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0886407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9323956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30718252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4008484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820972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155737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628098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636696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910546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065706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865471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D254F935-6828-4174-97FB-4FEE44FCE94E}" type="slidenum">
              <a:rPr lang="es-419" smtClean="0"/>
              <a:t>‹#›</a:t>
            </a:fld>
            <a:endParaRPr lang="es-419"/>
          </a:p>
        </p:txBody>
      </p:sp>
      <p:sp>
        <p:nvSpPr>
          <p:cNvPr id="3" name="Rectangle 2">
            <a:extLst>
              <a:ext uri="{FF2B5EF4-FFF2-40B4-BE49-F238E27FC236}">
                <a16:creationId xmlns:a16="http://schemas.microsoft.com/office/drawing/2014/main" id="{B66C2552-7D86-5171-E833-030B3D34181A}"/>
              </a:ext>
            </a:extLst>
          </p:cNvPr>
          <p:cNvSpPr/>
          <p:nvPr userDrawn="1"/>
        </p:nvSpPr>
        <p:spPr>
          <a:xfrm>
            <a:off x="9144000" y="6444343"/>
            <a:ext cx="2438400" cy="365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C562D374-7A0B-3A97-26CB-EF71D9680787}"/>
              </a:ext>
            </a:extLst>
          </p:cNvPr>
          <p:cNvPicPr>
            <a:picLocks noChangeAspect="1"/>
          </p:cNvPicPr>
          <p:nvPr userDrawn="1"/>
        </p:nvPicPr>
        <p:blipFill>
          <a:blip r:embed="rId2"/>
          <a:stretch>
            <a:fillRect/>
          </a:stretch>
        </p:blipFill>
        <p:spPr>
          <a:xfrm>
            <a:off x="9533713" y="6458285"/>
            <a:ext cx="2244630" cy="307640"/>
          </a:xfrm>
          <a:prstGeom prst="rect">
            <a:avLst/>
          </a:prstGeom>
        </p:spPr>
      </p:pic>
    </p:spTree>
    <p:extLst>
      <p:ext uri="{BB962C8B-B14F-4D97-AF65-F5344CB8AC3E}">
        <p14:creationId xmlns:p14="http://schemas.microsoft.com/office/powerpoint/2010/main" val="3324109330"/>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D254F935-6828-4174-97FB-4FEE44FCE94E}" type="slidenum">
              <a:rPr lang="es-419" smtClean="0"/>
              <a:t>‹#›</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angle 1">
            <a:extLst>
              <a:ext uri="{FF2B5EF4-FFF2-40B4-BE49-F238E27FC236}">
                <a16:creationId xmlns:a16="http://schemas.microsoft.com/office/drawing/2014/main" id="{E9A2296D-AC0D-D4F5-47CB-0C2287907B74}"/>
              </a:ext>
            </a:extLst>
          </p:cNvPr>
          <p:cNvSpPr/>
          <p:nvPr userDrawn="1"/>
        </p:nvSpPr>
        <p:spPr>
          <a:xfrm>
            <a:off x="9231086" y="6487886"/>
            <a:ext cx="2351311"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6" name="Picture 5">
            <a:extLst>
              <a:ext uri="{FF2B5EF4-FFF2-40B4-BE49-F238E27FC236}">
                <a16:creationId xmlns:a16="http://schemas.microsoft.com/office/drawing/2014/main" id="{4735EC5B-75D4-0C4F-14E9-E1574EB21E06}"/>
              </a:ext>
            </a:extLst>
          </p:cNvPr>
          <p:cNvPicPr>
            <a:picLocks noChangeAspect="1"/>
          </p:cNvPicPr>
          <p:nvPr userDrawn="1"/>
        </p:nvPicPr>
        <p:blipFill>
          <a:blip r:embed="rId2"/>
          <a:stretch>
            <a:fillRect/>
          </a:stretch>
        </p:blipFill>
        <p:spPr>
          <a:xfrm>
            <a:off x="9492346" y="6408984"/>
            <a:ext cx="2256874" cy="312490"/>
          </a:xfrm>
          <a:prstGeom prst="rect">
            <a:avLst/>
          </a:prstGeom>
        </p:spPr>
      </p:pic>
    </p:spTree>
    <p:extLst>
      <p:ext uri="{BB962C8B-B14F-4D97-AF65-F5344CB8AC3E}">
        <p14:creationId xmlns:p14="http://schemas.microsoft.com/office/powerpoint/2010/main" val="84232044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D254F935-6828-4174-97FB-4FEE44FCE94E}" type="slidenum">
              <a:rPr lang="es-419" smtClean="0"/>
              <a:t>‹#›</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3" name="Rectangle 2">
            <a:extLst>
              <a:ext uri="{FF2B5EF4-FFF2-40B4-BE49-F238E27FC236}">
                <a16:creationId xmlns:a16="http://schemas.microsoft.com/office/drawing/2014/main" id="{DBEC58F4-E43C-91CD-A85A-778E79BCB8E4}"/>
              </a:ext>
            </a:extLst>
          </p:cNvPr>
          <p:cNvSpPr/>
          <p:nvPr userDrawn="1"/>
        </p:nvSpPr>
        <p:spPr>
          <a:xfrm>
            <a:off x="9165771" y="6455229"/>
            <a:ext cx="2416626" cy="2662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8EB10389-8025-9F8C-AF10-C7E619C7D773}"/>
              </a:ext>
            </a:extLst>
          </p:cNvPr>
          <p:cNvPicPr>
            <a:picLocks noChangeAspect="1"/>
          </p:cNvPicPr>
          <p:nvPr userDrawn="1"/>
        </p:nvPicPr>
        <p:blipFill>
          <a:blip r:embed="rId2"/>
          <a:stretch>
            <a:fillRect/>
          </a:stretch>
        </p:blipFill>
        <p:spPr>
          <a:xfrm>
            <a:off x="9477924" y="6410305"/>
            <a:ext cx="2247330" cy="311169"/>
          </a:xfrm>
          <a:prstGeom prst="rect">
            <a:avLst/>
          </a:prstGeom>
        </p:spPr>
      </p:pic>
    </p:spTree>
    <p:extLst>
      <p:ext uri="{BB962C8B-B14F-4D97-AF65-F5344CB8AC3E}">
        <p14:creationId xmlns:p14="http://schemas.microsoft.com/office/powerpoint/2010/main" val="1522902400"/>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MX"/>
              <a:t>Haz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pic>
        <p:nvPicPr>
          <p:cNvPr id="6" name="Picture 3">
            <a:extLst>
              <a:ext uri="{FF2B5EF4-FFF2-40B4-BE49-F238E27FC236}">
                <a16:creationId xmlns:a16="http://schemas.microsoft.com/office/drawing/2014/main" id="{72E03B4F-AF8C-63E0-A07D-4F3EB85F724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7" name="Trapezoid 3">
            <a:extLst>
              <a:ext uri="{FF2B5EF4-FFF2-40B4-BE49-F238E27FC236}">
                <a16:creationId xmlns:a16="http://schemas.microsoft.com/office/drawing/2014/main" id="{704B78B1-28D0-112C-4EDD-367626395B45}"/>
              </a:ext>
            </a:extLst>
          </p:cNvPr>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8" name="Title 1">
            <a:extLst>
              <a:ext uri="{FF2B5EF4-FFF2-40B4-BE49-F238E27FC236}">
                <a16:creationId xmlns:a16="http://schemas.microsoft.com/office/drawing/2014/main" id="{8FEEE281-6F9B-0B4E-C026-1C7CF4AC4EFF}"/>
              </a:ext>
            </a:extLst>
          </p:cNvPr>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9" name="Picture 4" descr="ellucian_purple.png">
            <a:extLst>
              <a:ext uri="{FF2B5EF4-FFF2-40B4-BE49-F238E27FC236}">
                <a16:creationId xmlns:a16="http://schemas.microsoft.com/office/drawing/2014/main" id="{BB524289-E1DC-B568-D578-AE41ABF46CB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2" name="Text Placeholder 12">
            <a:extLst>
              <a:ext uri="{FF2B5EF4-FFF2-40B4-BE49-F238E27FC236}">
                <a16:creationId xmlns:a16="http://schemas.microsoft.com/office/drawing/2014/main" id="{06F8E486-6255-AF13-9F86-C7D40A60BCCE}"/>
              </a:ext>
            </a:extLst>
          </p:cNvPr>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14" name="Right Triangle 2">
            <a:extLst>
              <a:ext uri="{FF2B5EF4-FFF2-40B4-BE49-F238E27FC236}">
                <a16:creationId xmlns:a16="http://schemas.microsoft.com/office/drawing/2014/main" id="{A80E7D68-729E-E857-3D5B-67F03D272D6F}"/>
              </a:ext>
            </a:extLst>
          </p:cNvPr>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Tree>
    <p:extLst>
      <p:ext uri="{BB962C8B-B14F-4D97-AF65-F5344CB8AC3E}">
        <p14:creationId xmlns:p14="http://schemas.microsoft.com/office/powerpoint/2010/main" val="1489826520"/>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2283413771"/>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MX"/>
              <a:t>Haz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MX"/>
              <a:t>Haz clic para editar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1691662864"/>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MX"/>
              <a:t>Haga clic para modificar los estilos de texto del patrón</a:t>
            </a:r>
          </a:p>
          <a:p>
            <a:pPr marL="457189" lvl="1" indent="-457189" algn="l" defTabSz="609585" rtl="0" eaLnBrk="1" latinLnBrk="0" hangingPunct="1">
              <a:spcBef>
                <a:spcPts val="1600"/>
              </a:spcBef>
              <a:buFontTx/>
              <a:buNone/>
            </a:pPr>
            <a:r>
              <a:rPr lang="es-MX"/>
              <a:t>Segundo nivel</a:t>
            </a:r>
          </a:p>
          <a:p>
            <a:pPr marL="457189" lvl="2" indent="-457189" algn="l" defTabSz="609585" rtl="0" eaLnBrk="1" latinLnBrk="0" hangingPunct="1">
              <a:spcBef>
                <a:spcPts val="1600"/>
              </a:spcBef>
              <a:buFontTx/>
              <a:buNone/>
            </a:pPr>
            <a:r>
              <a:rPr lang="es-MX"/>
              <a:t>Tercer nivel</a:t>
            </a:r>
          </a:p>
          <a:p>
            <a:pPr marL="457189" lvl="3" indent="-457189" algn="l" defTabSz="609585" rtl="0" eaLnBrk="1" latinLnBrk="0" hangingPunct="1">
              <a:spcBef>
                <a:spcPts val="1600"/>
              </a:spcBef>
              <a:buFontTx/>
              <a:buNone/>
            </a:pPr>
            <a:r>
              <a:rPr lang="es-MX"/>
              <a:t>Cuarto nivel</a:t>
            </a:r>
          </a:p>
          <a:p>
            <a:pPr marL="457189" lvl="4" indent="-457189" algn="l" defTabSz="609585" rtl="0" eaLnBrk="1" latinLnBrk="0" hangingPunct="1">
              <a:spcBef>
                <a:spcPts val="1600"/>
              </a:spcBef>
              <a:buFontTx/>
              <a:buNone/>
            </a:pPr>
            <a:r>
              <a:rPr lang="es-MX"/>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MX"/>
              <a:t>Haz clic para modificar el estilo de título del patrón</a:t>
            </a:r>
            <a:endParaRPr lang="en-US" dirty="0"/>
          </a:p>
        </p:txBody>
      </p:sp>
    </p:spTree>
    <p:extLst>
      <p:ext uri="{BB962C8B-B14F-4D97-AF65-F5344CB8AC3E}">
        <p14:creationId xmlns:p14="http://schemas.microsoft.com/office/powerpoint/2010/main" val="2623157350"/>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MX"/>
              <a:t>Haz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241551247"/>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D254F935-6828-4174-97FB-4FEE44FCE94E}" type="slidenum">
              <a:rPr lang="es-419" smtClean="0"/>
              <a:t>‹#›</a:t>
            </a:fld>
            <a:endParaRPr lang="es-419"/>
          </a:p>
        </p:txBody>
      </p:sp>
    </p:spTree>
    <p:extLst>
      <p:ext uri="{BB962C8B-B14F-4D97-AF65-F5344CB8AC3E}">
        <p14:creationId xmlns:p14="http://schemas.microsoft.com/office/powerpoint/2010/main" val="118733355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1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userDrawn="1">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5" name="Picture 4" descr="ellucian_purpl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userDrawn="1">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296290603"/>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796352062"/>
      </p:ext>
    </p:extLst>
  </p:cSld>
  <p:clrMapOvr>
    <a:masterClrMapping/>
  </p:clrMapOvr>
  <p:transition spd="slow">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Title slide al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userDrawn="1">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userDrawn="1"/>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948981724"/>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764639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369792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8048694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476815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582506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1198542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64970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476168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855269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194024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3362833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358616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8578103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9120952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8717093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104380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9771273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6153638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447522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theme" Target="../theme/theme2.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18555841"/>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 id="2147483740" r:id="rId23"/>
    <p:sldLayoutId id="2147483741" r:id="rId24"/>
    <p:sldLayoutId id="2147483742" r:id="rId25"/>
    <p:sldLayoutId id="2147483743" r:id="rId26"/>
    <p:sldLayoutId id="2147483744" r:id="rId27"/>
    <p:sldLayoutId id="2147483745" r:id="rId28"/>
    <p:sldLayoutId id="2147483746" r:id="rId29"/>
    <p:sldLayoutId id="2147483747" r:id="rId30"/>
    <p:sldLayoutId id="2147483748" r:id="rId31"/>
    <p:sldLayoutId id="2147483749" r:id="rId32"/>
    <p:sldLayoutId id="2147483750" r:id="rId33"/>
    <p:sldLayoutId id="2147483751" r:id="rId34"/>
    <p:sldLayoutId id="2147483752" r:id="rId35"/>
    <p:sldLayoutId id="2147483753" r:id="rId36"/>
    <p:sldLayoutId id="2147483756" r:id="rId37"/>
    <p:sldLayoutId id="2147483757" r:id="rId38"/>
    <p:sldLayoutId id="2147483758" r:id="rId39"/>
    <p:sldLayoutId id="2147483759" r:id="rId40"/>
    <p:sldLayoutId id="2147483760" r:id="rId41"/>
    <p:sldLayoutId id="2147483761" r:id="rId42"/>
    <p:sldLayoutId id="2147483762" r:id="rId43"/>
    <p:sldLayoutId id="2147483712" r:id="rId44"/>
    <p:sldLayoutId id="2147483713" r:id="rId45"/>
    <p:sldLayoutId id="2147483716" r:id="rId46"/>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2988449"/>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 id="2147483783"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3.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35.xml"/><Relationship Id="rId5" Type="http://schemas.openxmlformats.org/officeDocument/2006/relationships/image" Target="../media/image33.sv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143944"/>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Mes, Año</a:t>
            </a:r>
          </a:p>
        </p:txBody>
      </p:sp>
      <p:sp>
        <p:nvSpPr>
          <p:cNvPr id="2" name="Title 1"/>
          <p:cNvSpPr>
            <a:spLocks noGrp="1"/>
          </p:cNvSpPr>
          <p:nvPr>
            <p:ph type="title" idx="4294967295"/>
          </p:nvPr>
        </p:nvSpPr>
        <p:spPr>
          <a:xfrm>
            <a:off x="556903" y="2635045"/>
            <a:ext cx="5651066" cy="1748877"/>
          </a:xfrm>
        </p:spPr>
        <p:txBody>
          <a:bodyPr/>
          <a:lstStyle/>
          <a:p>
            <a:pPr>
              <a:spcBef>
                <a:spcPts val="0"/>
              </a:spcBef>
              <a:spcAft>
                <a:spcPts val="600"/>
              </a:spcAft>
            </a:pPr>
            <a:r>
              <a:rPr lang="es-CO" sz="4200" dirty="0">
                <a:solidFill>
                  <a:schemeClr val="bg1"/>
                </a:solidFill>
                <a:latin typeface="+mn-lt"/>
                <a:ea typeface="+mn-ea"/>
                <a:cs typeface="+mn-cs"/>
              </a:rPr>
              <a:t>Revisar la asistencia a clases</a:t>
            </a:r>
            <a:br>
              <a:rPr lang="es-419" sz="4000" dirty="0"/>
            </a:b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5609784"/>
            <a:ext cx="3032274" cy="398058"/>
          </a:xfrm>
        </p:spPr>
        <p:txBody>
          <a:bodyPr/>
          <a:lstStyle/>
          <a:p>
            <a:r>
              <a:rPr lang="es-CL" dirty="0"/>
              <a:t>Consultor</a:t>
            </a:r>
            <a:br>
              <a:rPr lang="es-CL" dirty="0"/>
            </a:br>
            <a:r>
              <a:rPr lang="es-CL" dirty="0"/>
              <a:t>Cargo</a:t>
            </a:r>
          </a:p>
        </p:txBody>
      </p:sp>
    </p:spTree>
    <p:extLst>
      <p:ext uri="{BB962C8B-B14F-4D97-AF65-F5344CB8AC3E}">
        <p14:creationId xmlns:p14="http://schemas.microsoft.com/office/powerpoint/2010/main" val="32165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CO" dirty="0"/>
              <a:t>Revisar la asistencia a clases</a:t>
            </a:r>
            <a:endParaRPr lang="es-ES_tradnl"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2509530715"/>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800" b="1" kern="1200" noProof="0" dirty="0">
                          <a:solidFill>
                            <a:schemeClr val="bg1"/>
                          </a:solidFill>
                          <a:latin typeface="+mn-lt"/>
                          <a:ea typeface="+mn-ea"/>
                          <a:cs typeface="+mn-cs"/>
                        </a:rPr>
                        <a:t>Revisión de los registros de asistencia</a:t>
                      </a:r>
                      <a:endParaRPr lang="es-ES_tradnl" sz="2800" b="1" kern="1200" noProof="0" dirty="0">
                        <a:solidFill>
                          <a:schemeClr val="bg1"/>
                        </a:solidFill>
                        <a:latin typeface="+mn-lt"/>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CO" dirty="0"/>
              <a:t>Revisar la asistencia a clases</a:t>
            </a:r>
            <a:endParaRPr lang="es-ES_tradnl" dirty="0"/>
          </a:p>
        </p:txBody>
      </p:sp>
      <p:sp>
        <p:nvSpPr>
          <p:cNvPr id="2" name="Title 1"/>
          <p:cNvSpPr>
            <a:spLocks noGrp="1"/>
          </p:cNvSpPr>
          <p:nvPr>
            <p:ph type="title"/>
          </p:nvPr>
        </p:nvSpPr>
        <p:spPr/>
        <p:txBody>
          <a:bodyPr/>
          <a:lstStyle/>
          <a:p>
            <a:r>
              <a:rPr lang="es-ES_tradnl" dirty="0" err="1"/>
              <a:t>Overview</a:t>
            </a:r>
            <a:endParaRPr lang="es-ES_tradnl" dirty="0"/>
          </a:p>
        </p:txBody>
      </p:sp>
      <p:sp>
        <p:nvSpPr>
          <p:cNvPr id="3" name="Marcador de texto 2">
            <a:extLst>
              <a:ext uri="{FF2B5EF4-FFF2-40B4-BE49-F238E27FC236}">
                <a16:creationId xmlns:a16="http://schemas.microsoft.com/office/drawing/2014/main" id="{D2A84441-1463-2579-D151-3014CAB2A8C2}"/>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239389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dirty="0"/>
              <a:t>Asignar Docentes</a:t>
            </a:r>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439345" y="2662645"/>
            <a:ext cx="1624395" cy="62919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EA264FA8-8D88-4C07-B119-8483D8339E48}"/>
              </a:ext>
            </a:extLst>
          </p:cNvPr>
          <p:cNvSpPr txBox="1">
            <a:spLocks/>
          </p:cNvSpPr>
          <p:nvPr/>
        </p:nvSpPr>
        <p:spPr>
          <a:xfrm>
            <a:off x="449120" y="488643"/>
            <a:ext cx="11267392" cy="582679"/>
          </a:xfrm>
          <a:prstGeom prst="rect">
            <a:avLst/>
          </a:prstGeom>
        </p:spPr>
        <p:txBody>
          <a:bodyPr vert="horz" lIns="0" tIns="0" rIns="0" bIns="0" rtlCol="0" anchor="t">
            <a:noAutofit/>
          </a:bodyPr>
          <a:lstStyle>
            <a:lvl1pPr algn="l" defTabSz="457200" rtl="0" eaLnBrk="1" latinLnBrk="0" hangingPunct="1">
              <a:lnSpc>
                <a:spcPct val="90000"/>
              </a:lnSpc>
              <a:spcBef>
                <a:spcPct val="0"/>
              </a:spcBef>
              <a:buNone/>
              <a:defRPr sz="2600" b="0" kern="1200">
                <a:solidFill>
                  <a:schemeClr val="tx1"/>
                </a:solidFill>
                <a:latin typeface="Arial"/>
                <a:ea typeface="+mj-ea"/>
                <a:cs typeface="Arial"/>
              </a:defRPr>
            </a:lvl1pPr>
          </a:lstStyle>
          <a:p>
            <a:endParaRPr lang="es-ES_tradnl" sz="3467" b="1" dirty="0"/>
          </a:p>
        </p:txBody>
      </p:sp>
      <p:sp>
        <p:nvSpPr>
          <p:cNvPr id="4" name="Marcador de texto 3">
            <a:extLst>
              <a:ext uri="{FF2B5EF4-FFF2-40B4-BE49-F238E27FC236}">
                <a16:creationId xmlns:a16="http://schemas.microsoft.com/office/drawing/2014/main" id="{ADE6F1F6-6376-A432-54A8-2DC50D4AC5F2}"/>
              </a:ext>
            </a:extLst>
          </p:cNvPr>
          <p:cNvSpPr>
            <a:spLocks noGrp="1"/>
          </p:cNvSpPr>
          <p:nvPr>
            <p:ph type="body" sz="quarter" idx="18"/>
          </p:nvPr>
        </p:nvSpPr>
        <p:spPr/>
        <p:txBody>
          <a:bodyPr/>
          <a:lstStyle/>
          <a:p>
            <a:pPr lvl="1" algn="just"/>
            <a:r>
              <a:rPr lang="es-CO" sz="1600" dirty="0"/>
              <a:t>Los alumnos pueden ver su asistencia en el Autoservicio, según lo vayan registrando los profesores</a:t>
            </a:r>
          </a:p>
          <a:p>
            <a:pPr lvl="1" algn="just"/>
            <a:r>
              <a:rPr lang="es-CO" sz="1600" dirty="0"/>
              <a:t>Se deben realizar algunas configuraciones adicionales para el cálculo de los porcentajes de asistencia y para el despliegue del control de asistencia para docentes y alumnos.</a:t>
            </a:r>
          </a:p>
          <a:p>
            <a:pPr marL="0" lvl="1" indent="0">
              <a:buNone/>
            </a:pPr>
            <a:endParaRPr lang="es-CO" sz="1600" dirty="0"/>
          </a:p>
          <a:p>
            <a:endParaRPr lang="es-419" dirty="0"/>
          </a:p>
        </p:txBody>
      </p:sp>
      <p:sp>
        <p:nvSpPr>
          <p:cNvPr id="3" name="Marcador de texto vertical 2">
            <a:extLst>
              <a:ext uri="{FF2B5EF4-FFF2-40B4-BE49-F238E27FC236}">
                <a16:creationId xmlns:a16="http://schemas.microsoft.com/office/drawing/2014/main" id="{C6F371D0-37ED-3E35-97F4-2CEDBED2385A}"/>
              </a:ext>
            </a:extLst>
          </p:cNvPr>
          <p:cNvSpPr>
            <a:spLocks noGrp="1"/>
          </p:cNvSpPr>
          <p:nvPr>
            <p:ph type="body" orient="vert" sz="quarter" idx="17"/>
          </p:nvPr>
        </p:nvSpPr>
        <p:spPr/>
        <p:txBody>
          <a:bodyPr/>
          <a:lstStyle/>
          <a:p>
            <a:r>
              <a:rPr lang="es-419" dirty="0"/>
              <a:t>Revisar la asistencia a clases</a:t>
            </a:r>
          </a:p>
        </p:txBody>
      </p:sp>
      <p:sp>
        <p:nvSpPr>
          <p:cNvPr id="2" name="Título 1">
            <a:extLst>
              <a:ext uri="{FF2B5EF4-FFF2-40B4-BE49-F238E27FC236}">
                <a16:creationId xmlns:a16="http://schemas.microsoft.com/office/drawing/2014/main" id="{71873B57-21C0-B73C-0651-BC5FB30B9C1F}"/>
              </a:ext>
            </a:extLst>
          </p:cNvPr>
          <p:cNvSpPr>
            <a:spLocks noGrp="1"/>
          </p:cNvSpPr>
          <p:nvPr>
            <p:ph type="title"/>
          </p:nvPr>
        </p:nvSpPr>
        <p:spPr/>
        <p:txBody>
          <a:bodyPr/>
          <a:lstStyle/>
          <a:p>
            <a:r>
              <a:rPr lang="es-ES_tradnl" sz="3467" dirty="0" err="1">
                <a:solidFill>
                  <a:schemeClr val="accent1"/>
                </a:solidFill>
              </a:rPr>
              <a:t>Overview</a:t>
            </a:r>
            <a:r>
              <a:rPr lang="es-ES_tradnl" sz="3467" dirty="0">
                <a:solidFill>
                  <a:schemeClr val="accent1"/>
                </a:solidFill>
              </a:rPr>
              <a:t>: </a:t>
            </a:r>
            <a:r>
              <a:rPr lang="es-CO" sz="3200" dirty="0">
                <a:solidFill>
                  <a:schemeClr val="accent1"/>
                </a:solidFill>
              </a:rPr>
              <a:t>Revisar la asistencia a clases</a:t>
            </a:r>
            <a:br>
              <a:rPr lang="es-ES_tradnl" sz="3467" dirty="0">
                <a:solidFill>
                  <a:schemeClr val="accent1"/>
                </a:solidFill>
              </a:rPr>
            </a:br>
            <a:endParaRPr lang="es-419" dirty="0">
              <a:solidFill>
                <a:schemeClr val="accent1"/>
              </a:solidFill>
            </a:endParaRPr>
          </a:p>
        </p:txBody>
      </p:sp>
    </p:spTree>
    <p:extLst>
      <p:ext uri="{BB962C8B-B14F-4D97-AF65-F5344CB8AC3E}">
        <p14:creationId xmlns:p14="http://schemas.microsoft.com/office/powerpoint/2010/main" val="268816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4772711A-926A-F076-DAD3-884AAF9466FF}"/>
              </a:ext>
            </a:extLst>
          </p:cNvPr>
          <p:cNvSpPr>
            <a:spLocks noGrp="1"/>
          </p:cNvSpPr>
          <p:nvPr>
            <p:ph type="body" orient="vert" sz="quarter" idx="17"/>
          </p:nvPr>
        </p:nvSpPr>
        <p:spPr/>
        <p:txBody>
          <a:bodyPr/>
          <a:lstStyle/>
          <a:p>
            <a:r>
              <a:rPr lang="es-419" dirty="0"/>
              <a:t>Revisar la asistencia a clases</a:t>
            </a:r>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CO" dirty="0">
                <a:solidFill>
                  <a:schemeClr val="accent1"/>
                </a:solidFill>
              </a:rPr>
              <a:t>Revisar la asistencia a clases</a:t>
            </a:r>
            <a:br>
              <a:rPr lang="es-CO" dirty="0">
                <a:solidFill>
                  <a:schemeClr val="accent1"/>
                </a:solidFill>
              </a:rPr>
            </a:br>
            <a:endParaRPr lang="es-ES_tradnl" dirty="0">
              <a:solidFill>
                <a:schemeClr val="accent1"/>
              </a:solidFill>
            </a:endParaRPr>
          </a:p>
        </p:txBody>
      </p:sp>
      <p:pic>
        <p:nvPicPr>
          <p:cNvPr id="1026" name="Picture 2">
            <a:extLst>
              <a:ext uri="{FF2B5EF4-FFF2-40B4-BE49-F238E27FC236}">
                <a16:creationId xmlns:a16="http://schemas.microsoft.com/office/drawing/2014/main" id="{F8FA47A8-832A-2AC7-1269-8BBFB45D56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099" y="1633538"/>
            <a:ext cx="11039475" cy="3590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80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F9F5-4D73-0F95-7678-0AE0FCC4FF5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F9B5C96-8DBC-65FF-FAE3-4F645679D6ED}"/>
              </a:ext>
            </a:extLst>
          </p:cNvPr>
          <p:cNvSpPr>
            <a:spLocks noGrp="1"/>
          </p:cNvSpPr>
          <p:nvPr>
            <p:ph type="body" sz="quarter" idx="10"/>
          </p:nvPr>
        </p:nvSpPr>
        <p:spPr>
          <a:xfrm>
            <a:off x="522515" y="361822"/>
            <a:ext cx="11122188" cy="446084"/>
          </a:xfrm>
        </p:spPr>
        <p:txBody>
          <a:bodyPr/>
          <a:lstStyle/>
          <a:p>
            <a:r>
              <a:rPr lang="es-ES_tradnl" dirty="0" err="1"/>
              <a:t>Overview</a:t>
            </a:r>
            <a:r>
              <a:rPr lang="es-ES_tradnl" dirty="0"/>
              <a:t>: Región donde aplica</a:t>
            </a:r>
            <a:endParaRPr lang="es-419" dirty="0"/>
          </a:p>
        </p:txBody>
      </p:sp>
      <p:sp>
        <p:nvSpPr>
          <p:cNvPr id="9" name="CuadroTexto 8">
            <a:extLst>
              <a:ext uri="{FF2B5EF4-FFF2-40B4-BE49-F238E27FC236}">
                <a16:creationId xmlns:a16="http://schemas.microsoft.com/office/drawing/2014/main" id="{63F52F2A-F8BB-F72D-A754-DB9173333620}"/>
              </a:ext>
            </a:extLst>
          </p:cNvPr>
          <p:cNvSpPr txBox="1"/>
          <p:nvPr/>
        </p:nvSpPr>
        <p:spPr>
          <a:xfrm>
            <a:off x="8400287" y="3429000"/>
            <a:ext cx="1197828" cy="369332"/>
          </a:xfrm>
          <a:prstGeom prst="rect">
            <a:avLst/>
          </a:prstGeom>
          <a:noFill/>
        </p:spPr>
        <p:txBody>
          <a:bodyPr wrap="none" rtlCol="0">
            <a:spAutoFit/>
          </a:bodyPr>
          <a:lstStyle/>
          <a:p>
            <a:r>
              <a:rPr lang="es-ES_tradnl" dirty="0"/>
              <a:t>Todo LAC</a:t>
            </a:r>
          </a:p>
        </p:txBody>
      </p:sp>
      <p:pic>
        <p:nvPicPr>
          <p:cNvPr id="10" name="Picture 9" descr="A purple map of south america&#10;&#10;AI-generated content may be incorrect.">
            <a:extLst>
              <a:ext uri="{FF2B5EF4-FFF2-40B4-BE49-F238E27FC236}">
                <a16:creationId xmlns:a16="http://schemas.microsoft.com/office/drawing/2014/main" id="{BC199AD4-C762-DD9E-693C-C0737DFB4E5D}"/>
              </a:ext>
            </a:extLst>
          </p:cNvPr>
          <p:cNvPicPr>
            <a:picLocks noChangeAspect="1"/>
          </p:cNvPicPr>
          <p:nvPr/>
        </p:nvPicPr>
        <p:blipFill>
          <a:blip r:embed="rId2"/>
          <a:stretch>
            <a:fillRect/>
          </a:stretch>
        </p:blipFill>
        <p:spPr>
          <a:xfrm>
            <a:off x="2383972" y="807906"/>
            <a:ext cx="5780314" cy="5780314"/>
          </a:xfrm>
          <a:prstGeom prst="rect">
            <a:avLst/>
          </a:prstGeom>
        </p:spPr>
      </p:pic>
    </p:spTree>
    <p:extLst>
      <p:ext uri="{BB962C8B-B14F-4D97-AF65-F5344CB8AC3E}">
        <p14:creationId xmlns:p14="http://schemas.microsoft.com/office/powerpoint/2010/main" val="2966767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33C43E5D-5D90-9AA1-C4E7-B8A2D164D43C}"/>
              </a:ext>
            </a:extLst>
          </p:cNvPr>
          <p:cNvSpPr>
            <a:spLocks noGrp="1"/>
          </p:cNvSpPr>
          <p:nvPr>
            <p:ph type="body" orient="vert" sz="quarter" idx="17"/>
          </p:nvPr>
        </p:nvSpPr>
        <p:spPr/>
        <p:txBody>
          <a:bodyPr/>
          <a:lstStyle/>
          <a:p>
            <a:r>
              <a:rPr lang="es-419" sz="1200" dirty="0"/>
              <a:t>Revisar la asistencia a clases</a:t>
            </a:r>
            <a:endParaRPr lang="es-419" dirty="0"/>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419" sz="3200" dirty="0">
                <a:solidFill>
                  <a:schemeClr val="accent1"/>
                </a:solidFill>
              </a:rPr>
              <a:t>Revisar la asistencia a clases</a:t>
            </a:r>
            <a:br>
              <a:rPr lang="es-419" dirty="0">
                <a:solidFill>
                  <a:schemeClr val="accent1"/>
                </a:solidFill>
              </a:rPr>
            </a:br>
            <a:endParaRPr lang="es-ES_tradnl" dirty="0">
              <a:solidFill>
                <a:schemeClr val="accent1"/>
              </a:solidFill>
            </a:endParaRPr>
          </a:p>
        </p:txBody>
      </p:sp>
      <p:graphicFrame>
        <p:nvGraphicFramePr>
          <p:cNvPr id="5" name="Tabla 4">
            <a:extLst>
              <a:ext uri="{FF2B5EF4-FFF2-40B4-BE49-F238E27FC236}">
                <a16:creationId xmlns:a16="http://schemas.microsoft.com/office/drawing/2014/main" id="{C2FBF0DB-AA49-19BE-7699-FE95F7C4143B}"/>
              </a:ext>
            </a:extLst>
          </p:cNvPr>
          <p:cNvGraphicFramePr>
            <a:graphicFrameLocks noGrp="1"/>
          </p:cNvGraphicFramePr>
          <p:nvPr>
            <p:extLst>
              <p:ext uri="{D42A27DB-BD31-4B8C-83A1-F6EECF244321}">
                <p14:modId xmlns:p14="http://schemas.microsoft.com/office/powerpoint/2010/main" val="3468574765"/>
              </p:ext>
            </p:extLst>
          </p:nvPr>
        </p:nvGraphicFramePr>
        <p:xfrm>
          <a:off x="961414" y="1718621"/>
          <a:ext cx="10620983" cy="3015217"/>
        </p:xfrm>
        <a:graphic>
          <a:graphicData uri="http://schemas.openxmlformats.org/drawingml/2006/table">
            <a:tbl>
              <a:tblPr firstRow="1" bandRow="1">
                <a:tableStyleId>{5C22544A-7EE6-4342-B048-85BDC9FD1C3A}</a:tableStyleId>
              </a:tblPr>
              <a:tblGrid>
                <a:gridCol w="1241039">
                  <a:extLst>
                    <a:ext uri="{9D8B030D-6E8A-4147-A177-3AD203B41FA5}">
                      <a16:colId xmlns:a16="http://schemas.microsoft.com/office/drawing/2014/main" val="34381708"/>
                    </a:ext>
                  </a:extLst>
                </a:gridCol>
                <a:gridCol w="9379944">
                  <a:extLst>
                    <a:ext uri="{9D8B030D-6E8A-4147-A177-3AD203B41FA5}">
                      <a16:colId xmlns:a16="http://schemas.microsoft.com/office/drawing/2014/main" val="1628494477"/>
                    </a:ext>
                  </a:extLst>
                </a:gridCol>
              </a:tblGrid>
              <a:tr h="447263">
                <a:tc>
                  <a:txBody>
                    <a:bodyPr/>
                    <a:lstStyle/>
                    <a:p>
                      <a:pPr algn="ctr">
                        <a:spcAft>
                          <a:spcPts val="0"/>
                        </a:spcAft>
                      </a:pPr>
                      <a:r>
                        <a:rPr lang="es-ES" sz="1200" dirty="0">
                          <a:effectLst/>
                        </a:rPr>
                        <a:t>Concepto</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200" dirty="0">
                          <a:effectLst/>
                        </a:rPr>
                        <a:t>Descripción</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379149428"/>
                  </a:ext>
                </a:extLst>
              </a:tr>
              <a:tr h="1283977">
                <a:tc>
                  <a:txBody>
                    <a:bodyPr/>
                    <a:lstStyle/>
                    <a:p>
                      <a:pPr>
                        <a:spcAft>
                          <a:spcPts val="0"/>
                        </a:spcAft>
                      </a:pPr>
                      <a:r>
                        <a:rPr lang="es-ES" sz="1200" b="1" dirty="0">
                          <a:effectLst/>
                        </a:rPr>
                        <a:t>Número de Referencia de Curso (NRC)</a:t>
                      </a:r>
                      <a:endPar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419" sz="1200" dirty="0"/>
                        <a:t>Valor numérico único, en un periodo, que identifica la oferta de un curso en un horario específico y con uno o varios docentes que lo dictan.</a:t>
                      </a:r>
                      <a:endPar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227877135"/>
                  </a:ext>
                </a:extLst>
              </a:tr>
              <a:tr h="1283977">
                <a:tc>
                  <a:txBody>
                    <a:bodyPr/>
                    <a:lstStyle/>
                    <a:p>
                      <a:pPr>
                        <a:spcAft>
                          <a:spcPts val="0"/>
                        </a:spcAft>
                      </a:pPr>
                      <a:r>
                        <a:rPr lang="es-CO" sz="12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Sesión de clases</a:t>
                      </a:r>
                    </a:p>
                  </a:txBody>
                  <a:tcPr marL="36830" marR="36830" marT="36830" marB="36830" anchor="ctr"/>
                </a:tc>
                <a:tc>
                  <a:txBody>
                    <a:bodyPr/>
                    <a:lstStyle/>
                    <a:p>
                      <a:pPr algn="just">
                        <a:spcAft>
                          <a:spcPts val="0"/>
                        </a:spcAft>
                      </a:pPr>
                      <a:r>
                        <a:rPr lang="es-419" sz="11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Periodos temporales programados para la interacción entre estudiantes y profesores en cada NRC</a:t>
                      </a:r>
                    </a:p>
                  </a:txBody>
                  <a:tcPr marL="36830" marR="36830" marT="36830" marB="36830" anchor="ctr"/>
                </a:tc>
                <a:extLst>
                  <a:ext uri="{0D108BD9-81ED-4DB2-BD59-A6C34878D82A}">
                    <a16:rowId xmlns:a16="http://schemas.microsoft.com/office/drawing/2014/main" val="2980877216"/>
                  </a:ext>
                </a:extLst>
              </a:tr>
            </a:tbl>
          </a:graphicData>
        </a:graphic>
      </p:graphicFrame>
    </p:spTree>
    <p:extLst>
      <p:ext uri="{BB962C8B-B14F-4D97-AF65-F5344CB8AC3E}">
        <p14:creationId xmlns:p14="http://schemas.microsoft.com/office/powerpoint/2010/main" val="190034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E0AE3E87-BD34-6389-2D2D-97CAEDF10211}"/>
              </a:ext>
            </a:extLst>
          </p:cNvPr>
          <p:cNvSpPr>
            <a:spLocks noGrp="1"/>
          </p:cNvSpPr>
          <p:nvPr>
            <p:ph type="body" orient="vert" sz="quarter" idx="10"/>
          </p:nvPr>
        </p:nvSpPr>
        <p:spPr/>
        <p:txBody>
          <a:bodyPr/>
          <a:lstStyle/>
          <a:p>
            <a:r>
              <a:rPr lang="es-419" dirty="0"/>
              <a:t>Revisar la asistencia a clases</a:t>
            </a:r>
          </a:p>
        </p:txBody>
      </p:sp>
      <p:sp>
        <p:nvSpPr>
          <p:cNvPr id="2" name="Title 1"/>
          <p:cNvSpPr>
            <a:spLocks noGrp="1"/>
          </p:cNvSpPr>
          <p:nvPr>
            <p:ph type="title"/>
          </p:nvPr>
        </p:nvSpPr>
        <p:spPr/>
        <p:txBody>
          <a:bodyPr/>
          <a:lstStyle/>
          <a:p>
            <a:r>
              <a:rPr lang="es-ES_tradnl" dirty="0"/>
              <a:t>Configuraciones</a:t>
            </a:r>
          </a:p>
        </p:txBody>
      </p:sp>
      <p:sp>
        <p:nvSpPr>
          <p:cNvPr id="4" name="Marcador de texto 3">
            <a:extLst>
              <a:ext uri="{FF2B5EF4-FFF2-40B4-BE49-F238E27FC236}">
                <a16:creationId xmlns:a16="http://schemas.microsoft.com/office/drawing/2014/main" id="{17ED6CF5-A006-DB2E-2FE7-6670E0B4908B}"/>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100196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D4E1C444-99CC-FF4E-B901-603C814A408F}"/>
              </a:ext>
            </a:extLst>
          </p:cNvPr>
          <p:cNvSpPr txBox="1">
            <a:spLocks/>
          </p:cNvSpPr>
          <p:nvPr/>
        </p:nvSpPr>
        <p:spPr>
          <a:xfrm>
            <a:off x="475488" y="3133076"/>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
        <p:nvSpPr>
          <p:cNvPr id="2" name="Marcador de texto vertical 1">
            <a:extLst>
              <a:ext uri="{FF2B5EF4-FFF2-40B4-BE49-F238E27FC236}">
                <a16:creationId xmlns:a16="http://schemas.microsoft.com/office/drawing/2014/main" id="{788BA449-3254-2FDD-C7D3-0FF048D37B53}"/>
              </a:ext>
            </a:extLst>
          </p:cNvPr>
          <p:cNvSpPr>
            <a:spLocks noGrp="1"/>
          </p:cNvSpPr>
          <p:nvPr>
            <p:ph type="body" orient="vert" sz="quarter" idx="10"/>
          </p:nvPr>
        </p:nvSpPr>
        <p:spPr/>
        <p:txBody>
          <a:bodyPr/>
          <a:lstStyle/>
          <a:p>
            <a:r>
              <a:rPr lang="es-419" dirty="0"/>
              <a:t>Revisar la asistencia a clases</a:t>
            </a:r>
          </a:p>
        </p:txBody>
      </p:sp>
      <p:sp>
        <p:nvSpPr>
          <p:cNvPr id="7" name="Title 4">
            <a:extLst>
              <a:ext uri="{FF2B5EF4-FFF2-40B4-BE49-F238E27FC236}">
                <a16:creationId xmlns:a16="http://schemas.microsoft.com/office/drawing/2014/main" id="{B58FA6F5-142D-5D4B-9F95-F4498BC27AE7}"/>
              </a:ext>
            </a:extLst>
          </p:cNvPr>
          <p:cNvSpPr>
            <a:spLocks noGrp="1"/>
          </p:cNvSpPr>
          <p:nvPr>
            <p:ph type="title"/>
          </p:nvPr>
        </p:nvSpPr>
        <p:spPr/>
        <p:txBody>
          <a:bodyPr/>
          <a:lstStyle/>
          <a:p>
            <a:r>
              <a:rPr lang="es-ES" dirty="0"/>
              <a:t>Reglas de Validación</a:t>
            </a:r>
            <a:endParaRPr lang="es-ES_tradnl" dirty="0"/>
          </a:p>
        </p:txBody>
      </p:sp>
      <p:sp>
        <p:nvSpPr>
          <p:cNvPr id="4" name="Marcador de texto 3">
            <a:extLst>
              <a:ext uri="{FF2B5EF4-FFF2-40B4-BE49-F238E27FC236}">
                <a16:creationId xmlns:a16="http://schemas.microsoft.com/office/drawing/2014/main" id="{DBE5AF93-E86A-C8D1-ADAD-60C3F599FA99}"/>
              </a:ext>
            </a:extLst>
          </p:cNvPr>
          <p:cNvSpPr>
            <a:spLocks noGrp="1"/>
          </p:cNvSpPr>
          <p:nvPr>
            <p:ph type="body" sz="quarter" idx="18"/>
          </p:nvPr>
        </p:nvSpPr>
        <p:spPr/>
        <p:txBody>
          <a:bodyPr/>
          <a:lstStyle/>
          <a:p>
            <a:r>
              <a:rPr lang="es-ES" sz="1800" dirty="0"/>
              <a:t>GTVSDAX</a:t>
            </a:r>
            <a:endParaRPr lang="es-419" dirty="0"/>
          </a:p>
        </p:txBody>
      </p:sp>
    </p:spTree>
    <p:extLst>
      <p:ext uri="{BB962C8B-B14F-4D97-AF65-F5344CB8AC3E}">
        <p14:creationId xmlns:p14="http://schemas.microsoft.com/office/powerpoint/2010/main" val="3763797801"/>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b="1" dirty="0">
                <a:solidFill>
                  <a:schemeClr val="accent1"/>
                </a:solidFill>
              </a:rPr>
              <a:t>Reglas de validación: Límites de porcentaje de asistencia</a:t>
            </a:r>
          </a:p>
        </p:txBody>
      </p:sp>
      <p:pic>
        <p:nvPicPr>
          <p:cNvPr id="2" name="Imagen 1">
            <a:extLst>
              <a:ext uri="{FF2B5EF4-FFF2-40B4-BE49-F238E27FC236}">
                <a16:creationId xmlns:a16="http://schemas.microsoft.com/office/drawing/2014/main" id="{B6BCA6AF-83CF-3308-42E2-468F5C275FAF}"/>
              </a:ext>
            </a:extLst>
          </p:cNvPr>
          <p:cNvPicPr>
            <a:picLocks noChangeAspect="1"/>
          </p:cNvPicPr>
          <p:nvPr/>
        </p:nvPicPr>
        <p:blipFill>
          <a:blip r:embed="rId3"/>
          <a:stretch>
            <a:fillRect/>
          </a:stretch>
        </p:blipFill>
        <p:spPr>
          <a:xfrm>
            <a:off x="829650" y="1281192"/>
            <a:ext cx="10635791" cy="5031868"/>
          </a:xfrm>
          <a:prstGeom prst="rect">
            <a:avLst/>
          </a:prstGeom>
        </p:spPr>
      </p:pic>
      <p:sp>
        <p:nvSpPr>
          <p:cNvPr id="4" name="Rectángulo redondeado 5">
            <a:extLst>
              <a:ext uri="{FF2B5EF4-FFF2-40B4-BE49-F238E27FC236}">
                <a16:creationId xmlns:a16="http://schemas.microsoft.com/office/drawing/2014/main" id="{A930A82C-1712-61DE-ACAD-40A4A98C591F}"/>
              </a:ext>
            </a:extLst>
          </p:cNvPr>
          <p:cNvSpPr/>
          <p:nvPr/>
        </p:nvSpPr>
        <p:spPr>
          <a:xfrm>
            <a:off x="2617833" y="5162868"/>
            <a:ext cx="7529209" cy="1232108"/>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CO" sz="1200" dirty="0"/>
              <a:t>Las reglas </a:t>
            </a:r>
            <a:r>
              <a:rPr lang="es-CO" sz="1200" b="1" dirty="0"/>
              <a:t>CUTOFFHIGH</a:t>
            </a:r>
            <a:r>
              <a:rPr lang="es-CO" sz="1200" dirty="0"/>
              <a:t>  y </a:t>
            </a:r>
            <a:r>
              <a:rPr lang="es-CO" sz="1200" b="1" dirty="0"/>
              <a:t>CUTOFFLOW </a:t>
            </a:r>
            <a:r>
              <a:rPr lang="es-CO" sz="1200" dirty="0"/>
              <a:t>se usan para </a:t>
            </a:r>
            <a:r>
              <a:rPr lang="es-419" sz="1200" dirty="0"/>
              <a:t>para el despliegue del porcentaje de asistencia en diferentes colores, en el autoservicio, como alerta ante un nivel bajo de asistencia. Los valores ingresados definen el siguiente criterio para los límites de porcentaje:</a:t>
            </a:r>
          </a:p>
          <a:p>
            <a:pPr algn="ctr"/>
            <a:r>
              <a:rPr lang="en-US" sz="1200" dirty="0"/>
              <a:t>Baja </a:t>
            </a:r>
            <a:r>
              <a:rPr lang="en-US" sz="1200" dirty="0" err="1"/>
              <a:t>asistencia</a:t>
            </a:r>
            <a:r>
              <a:rPr lang="en-US" sz="1200" dirty="0"/>
              <a:t> &lt;= CUTOFFLOW &lt; </a:t>
            </a:r>
            <a:r>
              <a:rPr lang="en-US" sz="1200" dirty="0" err="1"/>
              <a:t>asistencia</a:t>
            </a:r>
            <a:r>
              <a:rPr lang="en-US" sz="1200" dirty="0"/>
              <a:t> ‘acceptable’ &lt;= CUTOFFHIGH &lt; </a:t>
            </a:r>
            <a:r>
              <a:rPr lang="en-US" sz="1200" dirty="0" err="1"/>
              <a:t>alta</a:t>
            </a:r>
            <a:r>
              <a:rPr lang="en-US" sz="1200" dirty="0"/>
              <a:t> </a:t>
            </a:r>
            <a:r>
              <a:rPr lang="en-US" sz="1200" dirty="0" err="1"/>
              <a:t>asistencia</a:t>
            </a:r>
            <a:endParaRPr lang="es-CO" sz="1200" dirty="0"/>
          </a:p>
        </p:txBody>
      </p:sp>
      <p:sp>
        <p:nvSpPr>
          <p:cNvPr id="5" name="Rectángulo 4">
            <a:extLst>
              <a:ext uri="{FF2B5EF4-FFF2-40B4-BE49-F238E27FC236}">
                <a16:creationId xmlns:a16="http://schemas.microsoft.com/office/drawing/2014/main" id="{08534216-DC78-CC25-E320-F760F403DA1B}"/>
              </a:ext>
            </a:extLst>
          </p:cNvPr>
          <p:cNvSpPr/>
          <p:nvPr/>
        </p:nvSpPr>
        <p:spPr>
          <a:xfrm>
            <a:off x="1013154" y="2273897"/>
            <a:ext cx="1319607" cy="19230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Rectángulo 5">
            <a:extLst>
              <a:ext uri="{FF2B5EF4-FFF2-40B4-BE49-F238E27FC236}">
                <a16:creationId xmlns:a16="http://schemas.microsoft.com/office/drawing/2014/main" id="{7BCF937D-9561-134B-3215-9340205B9C65}"/>
              </a:ext>
            </a:extLst>
          </p:cNvPr>
          <p:cNvSpPr/>
          <p:nvPr/>
        </p:nvSpPr>
        <p:spPr>
          <a:xfrm>
            <a:off x="1013154" y="4464920"/>
            <a:ext cx="1319607" cy="16458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086887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70565971-23ED-0DF2-5286-918D46BCAF51}"/>
              </a:ext>
            </a:extLst>
          </p:cNvPr>
          <p:cNvSpPr>
            <a:spLocks noGrp="1"/>
          </p:cNvSpPr>
          <p:nvPr>
            <p:ph type="body" orient="vert" sz="quarter" idx="17"/>
          </p:nvPr>
        </p:nvSpPr>
        <p:spPr/>
        <p:txBody>
          <a:bodyPr/>
          <a:lstStyle/>
          <a:p>
            <a:r>
              <a:rPr lang="es-419" dirty="0"/>
              <a:t>Gestionar asistencia a clases</a:t>
            </a:r>
          </a:p>
        </p:txBody>
      </p:sp>
      <p:sp>
        <p:nvSpPr>
          <p:cNvPr id="13" name="Title 12"/>
          <p:cNvSpPr>
            <a:spLocks noGrp="1"/>
          </p:cNvSpPr>
          <p:nvPr>
            <p:ph type="title"/>
          </p:nvPr>
        </p:nvSpPr>
        <p:spPr>
          <a:xfrm>
            <a:off x="857251" y="382476"/>
            <a:ext cx="10477497" cy="898555"/>
          </a:xfrm>
        </p:spPr>
        <p:txBody>
          <a:bodyPr/>
          <a:lstStyle/>
          <a:p>
            <a:r>
              <a:rPr lang="es-ES_tradnl" b="1" dirty="0">
                <a:solidFill>
                  <a:schemeClr val="accent1"/>
                </a:solidFill>
              </a:rPr>
              <a:t>Reglas de validación: Visualización de sesiones en autoservicios</a:t>
            </a:r>
          </a:p>
        </p:txBody>
      </p:sp>
      <p:pic>
        <p:nvPicPr>
          <p:cNvPr id="2" name="Imagen 1">
            <a:extLst>
              <a:ext uri="{FF2B5EF4-FFF2-40B4-BE49-F238E27FC236}">
                <a16:creationId xmlns:a16="http://schemas.microsoft.com/office/drawing/2014/main" id="{9B49F56B-827B-AC7D-E48C-9863A8768DF2}"/>
              </a:ext>
            </a:extLst>
          </p:cNvPr>
          <p:cNvPicPr>
            <a:picLocks noChangeAspect="1"/>
          </p:cNvPicPr>
          <p:nvPr/>
        </p:nvPicPr>
        <p:blipFill>
          <a:blip r:embed="rId3"/>
          <a:stretch>
            <a:fillRect/>
          </a:stretch>
        </p:blipFill>
        <p:spPr>
          <a:xfrm>
            <a:off x="857251" y="1362816"/>
            <a:ext cx="10477498" cy="4940875"/>
          </a:xfrm>
          <a:prstGeom prst="rect">
            <a:avLst/>
          </a:prstGeom>
        </p:spPr>
      </p:pic>
      <p:sp>
        <p:nvSpPr>
          <p:cNvPr id="3" name="Rectángulo redondeado 5">
            <a:extLst>
              <a:ext uri="{FF2B5EF4-FFF2-40B4-BE49-F238E27FC236}">
                <a16:creationId xmlns:a16="http://schemas.microsoft.com/office/drawing/2014/main" id="{8294F891-B237-1A9A-5C7F-55FA3CF089E2}"/>
              </a:ext>
            </a:extLst>
          </p:cNvPr>
          <p:cNvSpPr/>
          <p:nvPr/>
        </p:nvSpPr>
        <p:spPr>
          <a:xfrm>
            <a:off x="2358996" y="4360233"/>
            <a:ext cx="7529209" cy="159768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CO" sz="1200" dirty="0"/>
              <a:t>La regla </a:t>
            </a:r>
            <a:r>
              <a:rPr lang="es-CO" sz="1200" b="1" dirty="0"/>
              <a:t>NOMEET</a:t>
            </a:r>
            <a:r>
              <a:rPr lang="es-CO" sz="1200" dirty="0"/>
              <a:t> se usa para cómo visualizarán las sesiones de clases tanto los docentes como los estudiantes. Las opciones son:</a:t>
            </a:r>
          </a:p>
          <a:p>
            <a:pPr marL="228594" indent="-228594">
              <a:buFont typeface="Arial" panose="020B0604020202020204" pitchFamily="34" charset="0"/>
              <a:buChar char="•"/>
            </a:pPr>
            <a:r>
              <a:rPr lang="es-ES_tradnl" sz="1200" b="1" dirty="0"/>
              <a:t>N</a:t>
            </a:r>
            <a:r>
              <a:rPr lang="es-ES_tradnl" sz="1200" dirty="0"/>
              <a:t>: si desea que el profesor y los estudiantes solo visualicen </a:t>
            </a:r>
            <a:r>
              <a:rPr lang="es-CO" sz="1200" dirty="0"/>
              <a:t>las clases que tienen días específicos de la semana y horas en los días programados para los NRC.</a:t>
            </a:r>
          </a:p>
          <a:p>
            <a:pPr marL="228594" indent="-228594">
              <a:buFont typeface="Arial" panose="020B0604020202020204" pitchFamily="34" charset="0"/>
              <a:buChar char="•"/>
            </a:pPr>
            <a:r>
              <a:rPr lang="es-CO" sz="1200" b="1" dirty="0"/>
              <a:t>Y</a:t>
            </a:r>
            <a:r>
              <a:rPr lang="es-CO" sz="1200" dirty="0"/>
              <a:t>: los docentes y estudiantes podrán visualizar en el autoservicio todas las clases, aun aquellas sin horas programadas en los NRC.</a:t>
            </a:r>
          </a:p>
        </p:txBody>
      </p:sp>
      <p:sp>
        <p:nvSpPr>
          <p:cNvPr id="8" name="Rectángulo 7">
            <a:extLst>
              <a:ext uri="{FF2B5EF4-FFF2-40B4-BE49-F238E27FC236}">
                <a16:creationId xmlns:a16="http://schemas.microsoft.com/office/drawing/2014/main" id="{2D621926-E1EE-C55E-34D7-FE836812F560}"/>
              </a:ext>
            </a:extLst>
          </p:cNvPr>
          <p:cNvSpPr/>
          <p:nvPr/>
        </p:nvSpPr>
        <p:spPr>
          <a:xfrm>
            <a:off x="1263645" y="2369265"/>
            <a:ext cx="1470347" cy="25700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869136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4F8D539C-C24E-D3CE-FD7D-8CC01A957CD7}"/>
              </a:ext>
            </a:extLst>
          </p:cNvPr>
          <p:cNvSpPr>
            <a:spLocks noGrp="1"/>
          </p:cNvSpPr>
          <p:nvPr>
            <p:ph type="body" orient="vert" sz="quarter" idx="10"/>
          </p:nvPr>
        </p:nvSpPr>
        <p:spPr/>
        <p:txBody>
          <a:bodyPr/>
          <a:lstStyle/>
          <a:p>
            <a:r>
              <a:rPr lang="es-419" dirty="0"/>
              <a:t>Revisar la asistencia a clases</a:t>
            </a:r>
          </a:p>
        </p:txBody>
      </p:sp>
      <p:sp>
        <p:nvSpPr>
          <p:cNvPr id="2" name="Title 1"/>
          <p:cNvSpPr>
            <a:spLocks noGrp="1"/>
          </p:cNvSpPr>
          <p:nvPr>
            <p:ph type="title"/>
          </p:nvPr>
        </p:nvSpPr>
        <p:spPr/>
        <p:txBody>
          <a:bodyPr/>
          <a:lstStyle/>
          <a:p>
            <a:r>
              <a:rPr lang="es-CO" dirty="0"/>
              <a:t>Revisión de los registros de asistencia</a:t>
            </a:r>
          </a:p>
        </p:txBody>
      </p:sp>
      <p:sp>
        <p:nvSpPr>
          <p:cNvPr id="4" name="Marcador de texto 3">
            <a:extLst>
              <a:ext uri="{FF2B5EF4-FFF2-40B4-BE49-F238E27FC236}">
                <a16:creationId xmlns:a16="http://schemas.microsoft.com/office/drawing/2014/main" id="{9D60663B-5F48-AFE4-2150-5756AC3ACB90}"/>
              </a:ext>
            </a:extLst>
          </p:cNvPr>
          <p:cNvSpPr>
            <a:spLocks noGrp="1"/>
          </p:cNvSpPr>
          <p:nvPr>
            <p:ph type="body" sz="quarter" idx="18"/>
          </p:nvPr>
        </p:nvSpPr>
        <p:spPr/>
        <p:txBody>
          <a:bodyPr/>
          <a:lstStyle/>
          <a:p>
            <a:r>
              <a:rPr lang="es-ES_tradnl" dirty="0"/>
              <a:t>Los estudiantes, a través del Autoservicio, consultan su récord de asistencia</a:t>
            </a:r>
          </a:p>
          <a:p>
            <a:endParaRPr lang="es-419" dirty="0"/>
          </a:p>
        </p:txBody>
      </p:sp>
    </p:spTree>
    <p:extLst>
      <p:ext uri="{BB962C8B-B14F-4D97-AF65-F5344CB8AC3E}">
        <p14:creationId xmlns:p14="http://schemas.microsoft.com/office/powerpoint/2010/main" val="1048294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3C979D4D-D777-F3BF-9092-EF8C17D1C39C}"/>
              </a:ext>
            </a:extLst>
          </p:cNvPr>
          <p:cNvPicPr>
            <a:picLocks noChangeAspect="1"/>
          </p:cNvPicPr>
          <p:nvPr/>
        </p:nvPicPr>
        <p:blipFill>
          <a:blip r:embed="rId3"/>
          <a:stretch>
            <a:fillRect/>
          </a:stretch>
        </p:blipFill>
        <p:spPr>
          <a:xfrm>
            <a:off x="532623" y="985496"/>
            <a:ext cx="11126753" cy="4887007"/>
          </a:xfrm>
          <a:prstGeom prst="rect">
            <a:avLst/>
          </a:prstGeom>
        </p:spPr>
      </p:pic>
      <p:sp>
        <p:nvSpPr>
          <p:cNvPr id="2" name="Marcador de texto vertical 1">
            <a:extLst>
              <a:ext uri="{FF2B5EF4-FFF2-40B4-BE49-F238E27FC236}">
                <a16:creationId xmlns:a16="http://schemas.microsoft.com/office/drawing/2014/main" id="{8A5EC224-8FF5-D314-0682-4356F35A9A74}"/>
              </a:ext>
            </a:extLst>
          </p:cNvPr>
          <p:cNvSpPr>
            <a:spLocks noGrp="1"/>
          </p:cNvSpPr>
          <p:nvPr>
            <p:ph type="body" orient="vert" sz="quarter" idx="17"/>
          </p:nvPr>
        </p:nvSpPr>
        <p:spPr/>
        <p:txBody>
          <a:bodyPr/>
          <a:lstStyle/>
          <a:p>
            <a:r>
              <a:rPr lang="es-419" dirty="0"/>
              <a:t>Revisar la asistencia a clases</a:t>
            </a:r>
          </a:p>
        </p:txBody>
      </p:sp>
      <p:sp>
        <p:nvSpPr>
          <p:cNvPr id="13" name="Title 12"/>
          <p:cNvSpPr>
            <a:spLocks noGrp="1"/>
          </p:cNvSpPr>
          <p:nvPr>
            <p:ph type="title"/>
          </p:nvPr>
        </p:nvSpPr>
        <p:spPr>
          <a:xfrm>
            <a:off x="927367" y="325876"/>
            <a:ext cx="10477497" cy="898555"/>
          </a:xfrm>
        </p:spPr>
        <p:txBody>
          <a:bodyPr/>
          <a:lstStyle/>
          <a:p>
            <a:r>
              <a:rPr lang="es-CO" dirty="0">
                <a:solidFill>
                  <a:schemeClr val="accent1"/>
                </a:solidFill>
              </a:rPr>
              <a:t>Revisión de los registros de asistencia</a:t>
            </a:r>
            <a:endParaRPr lang="es-ES_tradnl" b="1" dirty="0">
              <a:solidFill>
                <a:schemeClr val="accent1"/>
              </a:solidFill>
            </a:endParaRPr>
          </a:p>
        </p:txBody>
      </p:sp>
      <p:sp>
        <p:nvSpPr>
          <p:cNvPr id="5" name="Rectángulo 4">
            <a:extLst>
              <a:ext uri="{FF2B5EF4-FFF2-40B4-BE49-F238E27FC236}">
                <a16:creationId xmlns:a16="http://schemas.microsoft.com/office/drawing/2014/main" id="{4D90372A-061A-231D-0956-6BD3E0530CCF}"/>
              </a:ext>
            </a:extLst>
          </p:cNvPr>
          <p:cNvSpPr/>
          <p:nvPr/>
        </p:nvSpPr>
        <p:spPr>
          <a:xfrm>
            <a:off x="532623" y="2414845"/>
            <a:ext cx="7953986" cy="1275413"/>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Rectángulo: esquinas redondeadas 5">
            <a:extLst>
              <a:ext uri="{FF2B5EF4-FFF2-40B4-BE49-F238E27FC236}">
                <a16:creationId xmlns:a16="http://schemas.microsoft.com/office/drawing/2014/main" id="{77BC8621-8899-DD04-CB51-92F65655BB76}"/>
              </a:ext>
            </a:extLst>
          </p:cNvPr>
          <p:cNvSpPr/>
          <p:nvPr/>
        </p:nvSpPr>
        <p:spPr>
          <a:xfrm>
            <a:off x="5953327" y="3840106"/>
            <a:ext cx="2723745" cy="98481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Se despliega la lista de sesiones de todos los NRC que tiene el alumno inscritos con el récord de asistencia para cada sesión.</a:t>
            </a:r>
          </a:p>
        </p:txBody>
      </p:sp>
    </p:spTree>
    <p:extLst>
      <p:ext uri="{BB962C8B-B14F-4D97-AF65-F5344CB8AC3E}">
        <p14:creationId xmlns:p14="http://schemas.microsoft.com/office/powerpoint/2010/main" val="1108994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DB90321-CC23-A4D9-C559-7F5C175AD9B4}"/>
              </a:ext>
            </a:extLst>
          </p:cNvPr>
          <p:cNvPicPr>
            <a:picLocks noChangeAspect="1"/>
          </p:cNvPicPr>
          <p:nvPr/>
        </p:nvPicPr>
        <p:blipFill>
          <a:blip r:embed="rId3"/>
          <a:stretch>
            <a:fillRect/>
          </a:stretch>
        </p:blipFill>
        <p:spPr>
          <a:xfrm>
            <a:off x="636081" y="1006462"/>
            <a:ext cx="11060068" cy="5029902"/>
          </a:xfrm>
          <a:prstGeom prst="rect">
            <a:avLst/>
          </a:prstGeom>
        </p:spPr>
      </p:pic>
      <p:sp>
        <p:nvSpPr>
          <p:cNvPr id="2" name="Marcador de texto vertical 1">
            <a:extLst>
              <a:ext uri="{FF2B5EF4-FFF2-40B4-BE49-F238E27FC236}">
                <a16:creationId xmlns:a16="http://schemas.microsoft.com/office/drawing/2014/main" id="{8A5EC224-8FF5-D314-0682-4356F35A9A74}"/>
              </a:ext>
            </a:extLst>
          </p:cNvPr>
          <p:cNvSpPr>
            <a:spLocks noGrp="1"/>
          </p:cNvSpPr>
          <p:nvPr>
            <p:ph type="body" orient="vert" sz="quarter" idx="17"/>
          </p:nvPr>
        </p:nvSpPr>
        <p:spPr/>
        <p:txBody>
          <a:bodyPr/>
          <a:lstStyle/>
          <a:p>
            <a:r>
              <a:rPr lang="es-419" dirty="0"/>
              <a:t>Revisar la asistencia a clases</a:t>
            </a:r>
          </a:p>
        </p:txBody>
      </p:sp>
      <p:sp>
        <p:nvSpPr>
          <p:cNvPr id="13" name="Title 12"/>
          <p:cNvSpPr>
            <a:spLocks noGrp="1"/>
          </p:cNvSpPr>
          <p:nvPr>
            <p:ph type="title"/>
          </p:nvPr>
        </p:nvSpPr>
        <p:spPr>
          <a:xfrm>
            <a:off x="927367" y="325876"/>
            <a:ext cx="10477497" cy="898555"/>
          </a:xfrm>
        </p:spPr>
        <p:txBody>
          <a:bodyPr/>
          <a:lstStyle/>
          <a:p>
            <a:r>
              <a:rPr lang="es-CO" dirty="0">
                <a:solidFill>
                  <a:schemeClr val="accent1"/>
                </a:solidFill>
              </a:rPr>
              <a:t>Revisión de los registros de asistencia</a:t>
            </a:r>
            <a:endParaRPr lang="es-ES_tradnl" b="1" dirty="0">
              <a:solidFill>
                <a:schemeClr val="accent1"/>
              </a:solidFill>
            </a:endParaRPr>
          </a:p>
        </p:txBody>
      </p:sp>
      <p:sp>
        <p:nvSpPr>
          <p:cNvPr id="5" name="Rectángulo 4">
            <a:extLst>
              <a:ext uri="{FF2B5EF4-FFF2-40B4-BE49-F238E27FC236}">
                <a16:creationId xmlns:a16="http://schemas.microsoft.com/office/drawing/2014/main" id="{4D90372A-061A-231D-0956-6BD3E0530CCF}"/>
              </a:ext>
            </a:extLst>
          </p:cNvPr>
          <p:cNvSpPr/>
          <p:nvPr/>
        </p:nvSpPr>
        <p:spPr>
          <a:xfrm>
            <a:off x="609601" y="2872378"/>
            <a:ext cx="7953986" cy="418290"/>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Rectángulo: esquinas redondeadas 5">
            <a:extLst>
              <a:ext uri="{FF2B5EF4-FFF2-40B4-BE49-F238E27FC236}">
                <a16:creationId xmlns:a16="http://schemas.microsoft.com/office/drawing/2014/main" id="{77BC8621-8899-DD04-CB51-92F65655BB76}"/>
              </a:ext>
            </a:extLst>
          </p:cNvPr>
          <p:cNvSpPr/>
          <p:nvPr/>
        </p:nvSpPr>
        <p:spPr>
          <a:xfrm>
            <a:off x="5953327" y="3840106"/>
            <a:ext cx="2723745" cy="98481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Al hacer clic sobre un NRC, se despliega en la columna de la derecha los detalles de la sesión seleccionada y los registros de asistencia cargados por el docente.</a:t>
            </a:r>
          </a:p>
        </p:txBody>
      </p:sp>
      <p:sp>
        <p:nvSpPr>
          <p:cNvPr id="8" name="Rectángulo 7">
            <a:extLst>
              <a:ext uri="{FF2B5EF4-FFF2-40B4-BE49-F238E27FC236}">
                <a16:creationId xmlns:a16="http://schemas.microsoft.com/office/drawing/2014/main" id="{83EC2031-041A-EB94-6C8D-E9706CFC9865}"/>
              </a:ext>
            </a:extLst>
          </p:cNvPr>
          <p:cNvSpPr/>
          <p:nvPr/>
        </p:nvSpPr>
        <p:spPr>
          <a:xfrm>
            <a:off x="8881353" y="1954632"/>
            <a:ext cx="2701044" cy="3541496"/>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128701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84CB00C4-4CE1-863D-3919-889E86B83F38}"/>
              </a:ext>
            </a:extLst>
          </p:cNvPr>
          <p:cNvSpPr>
            <a:spLocks noGrp="1"/>
          </p:cNvSpPr>
          <p:nvPr>
            <p:ph type="body" orient="vert" sz="quarter" idx="10"/>
          </p:nvPr>
        </p:nvSpPr>
        <p:spPr/>
        <p:txBody>
          <a:bodyPr/>
          <a:lstStyle/>
          <a:p>
            <a:r>
              <a:rPr lang="es-419" dirty="0"/>
              <a:t>Revisar la asistencia a clases</a:t>
            </a:r>
          </a:p>
        </p:txBody>
      </p:sp>
      <p:sp>
        <p:nvSpPr>
          <p:cNvPr id="9" name="Title 1">
            <a:extLst>
              <a:ext uri="{FF2B5EF4-FFF2-40B4-BE49-F238E27FC236}">
                <a16:creationId xmlns:a16="http://schemas.microsoft.com/office/drawing/2014/main" id="{4DACCD36-3ACC-38E3-E6D1-36A1808E42E5}"/>
              </a:ext>
            </a:extLst>
          </p:cNvPr>
          <p:cNvSpPr>
            <a:spLocks noGrp="1"/>
          </p:cNvSpPr>
          <p:nvPr>
            <p:ph type="title"/>
          </p:nvPr>
        </p:nvSpPr>
        <p:spPr>
          <a:xfrm>
            <a:off x="1041838" y="-414703"/>
            <a:ext cx="7092820" cy="1628192"/>
          </a:xfrm>
        </p:spPr>
        <p:txBody>
          <a:bodyPr/>
          <a:lstStyle/>
          <a:p>
            <a:r>
              <a:rPr lang="es-ES_tradnl" dirty="0"/>
              <a:t>RESUMEN</a:t>
            </a:r>
          </a:p>
        </p:txBody>
      </p:sp>
      <p:sp>
        <p:nvSpPr>
          <p:cNvPr id="10" name="Marcador de texto 2">
            <a:extLst>
              <a:ext uri="{FF2B5EF4-FFF2-40B4-BE49-F238E27FC236}">
                <a16:creationId xmlns:a16="http://schemas.microsoft.com/office/drawing/2014/main" id="{B0CB5FB3-0FFF-BD39-3C9C-D613E315FFF2}"/>
              </a:ext>
            </a:extLst>
          </p:cNvPr>
          <p:cNvSpPr>
            <a:spLocks noGrp="1"/>
          </p:cNvSpPr>
          <p:nvPr>
            <p:ph type="body" sz="quarter" idx="18"/>
          </p:nvPr>
        </p:nvSpPr>
        <p:spPr>
          <a:xfrm>
            <a:off x="1041838" y="1687104"/>
            <a:ext cx="10067596" cy="3399903"/>
          </a:xfrm>
        </p:spPr>
        <p:txBody>
          <a:bodyPr/>
          <a:lstStyle/>
          <a:p>
            <a:pPr marL="342900" lvl="1" indent="-342900" algn="just">
              <a:spcBef>
                <a:spcPts val="1000"/>
              </a:spcBef>
              <a:buClr>
                <a:srgbClr val="0CB4B4"/>
              </a:buClr>
              <a:buFont typeface="Wingdings" panose="05000000000000000000" pitchFamily="2" charset="2"/>
              <a:buChar char="q"/>
            </a:pPr>
            <a:r>
              <a:rPr lang="es-419" sz="1800" dirty="0"/>
              <a:t>El despliegue de asistencias en el Autoservicio son configurados desde GTVSDAX.</a:t>
            </a:r>
          </a:p>
          <a:p>
            <a:pPr marL="342900" lvl="1" indent="-342900" algn="just">
              <a:spcBef>
                <a:spcPts val="1000"/>
              </a:spcBef>
              <a:buClr>
                <a:srgbClr val="0CB4B4"/>
              </a:buClr>
              <a:buFont typeface="Wingdings" panose="05000000000000000000" pitchFamily="2" charset="2"/>
              <a:buChar char="q"/>
            </a:pPr>
            <a:r>
              <a:rPr lang="es-419" sz="1800" dirty="0"/>
              <a:t>En este instructivo se incluye cómo los estudiantes pueden consultar los registros de asistencia que han sido cargados por parte del docente mediante el Autoservicio.</a:t>
            </a:r>
          </a:p>
        </p:txBody>
      </p:sp>
    </p:spTree>
    <p:extLst>
      <p:ext uri="{BB962C8B-B14F-4D97-AF65-F5344CB8AC3E}">
        <p14:creationId xmlns:p14="http://schemas.microsoft.com/office/powerpoint/2010/main" val="1599707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Consultor</a:t>
            </a:r>
          </a:p>
          <a:p>
            <a:r>
              <a:rPr lang="en-US" dirty="0"/>
              <a:t>Correo@ellucian.com</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2964196057"/>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themeOverride>
</file>

<file path=docProps/app.xml><?xml version="1.0" encoding="utf-8"?>
<Properties xmlns="http://schemas.openxmlformats.org/officeDocument/2006/extended-properties" xmlns:vt="http://schemas.openxmlformats.org/officeDocument/2006/docPropsVTypes">
  <Template>EBP 05 4.1.6.1. Instructivo - Actualizar estado del estudiante</Template>
  <TotalTime>1070</TotalTime>
  <Words>525</Words>
  <Application>Microsoft Office PowerPoint</Application>
  <PresentationFormat>Widescreen</PresentationFormat>
  <Paragraphs>68</Paragraphs>
  <Slides>17</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Aptos</vt:lpstr>
      <vt:lpstr>Aptos Display</vt:lpstr>
      <vt:lpstr>Arial</vt:lpstr>
      <vt:lpstr>Courier New</vt:lpstr>
      <vt:lpstr>Helvetica Neue</vt:lpstr>
      <vt:lpstr>Wingdings</vt:lpstr>
      <vt:lpstr>Ellucian Main Layouts</vt:lpstr>
      <vt:lpstr>Ellucian Blank Layouts</vt:lpstr>
      <vt:lpstr>Revisar la asistencia a clases </vt:lpstr>
      <vt:lpstr>PowerPoint Presentation</vt:lpstr>
      <vt:lpstr>Overview</vt:lpstr>
      <vt:lpstr>Overview: Mapa de capacidades</vt:lpstr>
      <vt:lpstr>Overview: Revisar la asistencia a clases </vt:lpstr>
      <vt:lpstr>Overview: Revisar la asistencia a clases </vt:lpstr>
      <vt:lpstr>PowerPoint Presentation</vt:lpstr>
      <vt:lpstr>Overview: Revisar la asistencia a clases </vt:lpstr>
      <vt:lpstr>Configuraciones</vt:lpstr>
      <vt:lpstr>Reglas de Validación</vt:lpstr>
      <vt:lpstr>Reglas de validación: Límites de porcentaje de asistencia</vt:lpstr>
      <vt:lpstr>Reglas de validación: Visualización de sesiones en autoservicios</vt:lpstr>
      <vt:lpstr>Revisión de los registros de asistencia</vt:lpstr>
      <vt:lpstr>Revisión de los registros de asistencia</vt:lpstr>
      <vt:lpstr>Revisión de los registros de asistencia</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Molina, Sergio</cp:lastModifiedBy>
  <cp:revision>6</cp:revision>
  <dcterms:created xsi:type="dcterms:W3CDTF">2024-10-03T00:55:09Z</dcterms:created>
  <dcterms:modified xsi:type="dcterms:W3CDTF">2026-07-15T17:11:43Z</dcterms:modified>
</cp:coreProperties>
</file>
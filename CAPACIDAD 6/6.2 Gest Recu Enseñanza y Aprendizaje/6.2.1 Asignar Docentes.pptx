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0" r:id="rId2"/>
  </p:sldMasterIdLst>
  <p:notesMasterIdLst>
    <p:notesMasterId r:id="rId25"/>
  </p:notesMasterIdLst>
  <p:sldIdLst>
    <p:sldId id="257" r:id="rId3"/>
    <p:sldId id="423" r:id="rId4"/>
    <p:sldId id="476" r:id="rId5"/>
    <p:sldId id="569" r:id="rId6"/>
    <p:sldId id="350" r:id="rId7"/>
    <p:sldId id="421" r:id="rId8"/>
    <p:sldId id="261" r:id="rId9"/>
    <p:sldId id="478" r:id="rId10"/>
    <p:sldId id="504" r:id="rId11"/>
    <p:sldId id="469" r:id="rId12"/>
    <p:sldId id="355" r:id="rId13"/>
    <p:sldId id="509" r:id="rId14"/>
    <p:sldId id="512" r:id="rId15"/>
    <p:sldId id="513" r:id="rId16"/>
    <p:sldId id="533" r:id="rId17"/>
    <p:sldId id="534" r:id="rId18"/>
    <p:sldId id="535" r:id="rId19"/>
    <p:sldId id="536" r:id="rId20"/>
    <p:sldId id="527" r:id="rId21"/>
    <p:sldId id="530" r:id="rId22"/>
    <p:sldId id="345" r:id="rId23"/>
    <p:sldId id="55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88" y="7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16-04-2026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7399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73352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92972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22277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12666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481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88149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0379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876772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6854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534541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810271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644912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874484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
        <p:nvSpPr>
          <p:cNvPr id="2" name="Rectangle 1">
            <a:extLst>
              <a:ext uri="{FF2B5EF4-FFF2-40B4-BE49-F238E27FC236}">
                <a16:creationId xmlns:a16="http://schemas.microsoft.com/office/drawing/2014/main" id="{53EEA7AC-40C9-C930-EDD0-2588B5F766CD}"/>
              </a:ext>
            </a:extLst>
          </p:cNvPr>
          <p:cNvSpPr/>
          <p:nvPr userDrawn="1"/>
        </p:nvSpPr>
        <p:spPr>
          <a:xfrm>
            <a:off x="9154886" y="6389914"/>
            <a:ext cx="2558143" cy="3899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8" name="Picture 7">
            <a:extLst>
              <a:ext uri="{FF2B5EF4-FFF2-40B4-BE49-F238E27FC236}">
                <a16:creationId xmlns:a16="http://schemas.microsoft.com/office/drawing/2014/main" id="{E65E8B29-4BC0-4079-ED2A-F73C072F5AC9}"/>
              </a:ext>
            </a:extLst>
          </p:cNvPr>
          <p:cNvPicPr>
            <a:picLocks noChangeAspect="1"/>
          </p:cNvPicPr>
          <p:nvPr userDrawn="1"/>
        </p:nvPicPr>
        <p:blipFill>
          <a:blip r:embed="rId4"/>
          <a:stretch>
            <a:fillRect/>
          </a:stretch>
        </p:blipFill>
        <p:spPr>
          <a:xfrm>
            <a:off x="9971889" y="6526707"/>
            <a:ext cx="1800476" cy="209579"/>
          </a:xfrm>
          <a:prstGeom prst="rect">
            <a:avLst/>
          </a:prstGeom>
        </p:spPr>
      </p:pic>
    </p:spTree>
    <p:extLst>
      <p:ext uri="{BB962C8B-B14F-4D97-AF65-F5344CB8AC3E}">
        <p14:creationId xmlns:p14="http://schemas.microsoft.com/office/powerpoint/2010/main" val="209218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57589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37072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7410817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4736748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1639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123468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750310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727750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8757824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8562042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9771576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507090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579175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11553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127774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277603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533419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59099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16-04-2026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a:t>
            </a:fld>
            <a:endParaRPr lang="es-CL"/>
          </a:p>
        </p:txBody>
      </p:sp>
    </p:spTree>
    <p:extLst>
      <p:ext uri="{BB962C8B-B14F-4D97-AF65-F5344CB8AC3E}">
        <p14:creationId xmlns:p14="http://schemas.microsoft.com/office/powerpoint/2010/main" val="36773972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78987180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a:p>
        </p:txBody>
      </p:sp>
      <p:sp>
        <p:nvSpPr>
          <p:cNvPr id="3" name="Rectangle 2">
            <a:extLst>
              <a:ext uri="{FF2B5EF4-FFF2-40B4-BE49-F238E27FC236}">
                <a16:creationId xmlns:a16="http://schemas.microsoft.com/office/drawing/2014/main" id="{82CC925F-D905-1217-6EE6-C10395411041}"/>
              </a:ext>
            </a:extLst>
          </p:cNvPr>
          <p:cNvSpPr/>
          <p:nvPr userDrawn="1"/>
        </p:nvSpPr>
        <p:spPr>
          <a:xfrm>
            <a:off x="9154886" y="6433457"/>
            <a:ext cx="251460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ABF3ADE5-6351-9FA2-6C26-E866707D7862}"/>
              </a:ext>
            </a:extLst>
          </p:cNvPr>
          <p:cNvPicPr>
            <a:picLocks noChangeAspect="1"/>
          </p:cNvPicPr>
          <p:nvPr userDrawn="1"/>
        </p:nvPicPr>
        <p:blipFill>
          <a:blip r:embed="rId2"/>
          <a:stretch>
            <a:fillRect/>
          </a:stretch>
        </p:blipFill>
        <p:spPr>
          <a:xfrm>
            <a:off x="9629656" y="6481217"/>
            <a:ext cx="2181344" cy="269604"/>
          </a:xfrm>
          <a:prstGeom prst="rect">
            <a:avLst/>
          </a:prstGeom>
        </p:spPr>
      </p:pic>
    </p:spTree>
    <p:extLst>
      <p:ext uri="{BB962C8B-B14F-4D97-AF65-F5344CB8AC3E}">
        <p14:creationId xmlns:p14="http://schemas.microsoft.com/office/powerpoint/2010/main" val="365101411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774873CA-A3C6-7293-E59E-70DCACA7E147}"/>
              </a:ext>
            </a:extLst>
          </p:cNvPr>
          <p:cNvSpPr/>
          <p:nvPr userDrawn="1"/>
        </p:nvSpPr>
        <p:spPr>
          <a:xfrm>
            <a:off x="9176657" y="6477000"/>
            <a:ext cx="2405740"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06B3B5A0-6EB0-E9C5-0F5D-47B704963028}"/>
              </a:ext>
            </a:extLst>
          </p:cNvPr>
          <p:cNvPicPr>
            <a:picLocks noChangeAspect="1"/>
          </p:cNvPicPr>
          <p:nvPr userDrawn="1"/>
        </p:nvPicPr>
        <p:blipFill>
          <a:blip r:embed="rId2"/>
          <a:stretch>
            <a:fillRect/>
          </a:stretch>
        </p:blipFill>
        <p:spPr>
          <a:xfrm>
            <a:off x="9650748" y="6492847"/>
            <a:ext cx="2142761" cy="290544"/>
          </a:xfrm>
          <a:prstGeom prst="rect">
            <a:avLst/>
          </a:prstGeom>
        </p:spPr>
      </p:pic>
    </p:spTree>
    <p:extLst>
      <p:ext uri="{BB962C8B-B14F-4D97-AF65-F5344CB8AC3E}">
        <p14:creationId xmlns:p14="http://schemas.microsoft.com/office/powerpoint/2010/main" val="1858460888"/>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3" name="Rectangle 2">
            <a:extLst>
              <a:ext uri="{FF2B5EF4-FFF2-40B4-BE49-F238E27FC236}">
                <a16:creationId xmlns:a16="http://schemas.microsoft.com/office/drawing/2014/main" id="{00B655AC-D933-0DA3-131C-D66FAC3EB545}"/>
              </a:ext>
            </a:extLst>
          </p:cNvPr>
          <p:cNvSpPr/>
          <p:nvPr userDrawn="1"/>
        </p:nvSpPr>
        <p:spPr>
          <a:xfrm>
            <a:off x="9229060" y="6507126"/>
            <a:ext cx="2415415" cy="255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47E1B87B-17E5-9FBE-6747-AA98A94CAAA2}"/>
              </a:ext>
            </a:extLst>
          </p:cNvPr>
          <p:cNvPicPr>
            <a:picLocks noChangeAspect="1"/>
          </p:cNvPicPr>
          <p:nvPr userDrawn="1"/>
        </p:nvPicPr>
        <p:blipFill>
          <a:blip r:embed="rId2"/>
          <a:stretch>
            <a:fillRect/>
          </a:stretch>
        </p:blipFill>
        <p:spPr>
          <a:xfrm>
            <a:off x="9785073" y="6496178"/>
            <a:ext cx="1962700" cy="266129"/>
          </a:xfrm>
          <a:prstGeom prst="rect">
            <a:avLst/>
          </a:prstGeom>
        </p:spPr>
      </p:pic>
    </p:spTree>
    <p:extLst>
      <p:ext uri="{BB962C8B-B14F-4D97-AF65-F5344CB8AC3E}">
        <p14:creationId xmlns:p14="http://schemas.microsoft.com/office/powerpoint/2010/main" val="21274838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27047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452164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316584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979948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81194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593996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78915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5209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392867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476901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328112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428949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193586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3599440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130147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519663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88522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133919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80419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0433016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70"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127947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15.xml"/><Relationship Id="rId5" Type="http://schemas.openxmlformats.org/officeDocument/2006/relationships/image" Target="../media/image35.sv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613309"/>
          </a:xfrm>
        </p:spPr>
        <p:txBody>
          <a:bodyPr/>
          <a:lstStyle/>
          <a:p>
            <a:r>
              <a:rPr lang="es-419" sz="4400" dirty="0"/>
              <a:t>Asignar Docentes</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CL" dirty="0"/>
              <a:t>Consultor</a:t>
            </a:r>
          </a:p>
          <a:p>
            <a:r>
              <a:rPr lang="es-CL" dirty="0"/>
              <a:t>Cargo</a:t>
            </a:r>
          </a:p>
        </p:txBody>
      </p:sp>
      <p:sp>
        <p:nvSpPr>
          <p:cNvPr id="6" name="Marcador de texto 5">
            <a:extLst>
              <a:ext uri="{FF2B5EF4-FFF2-40B4-BE49-F238E27FC236}">
                <a16:creationId xmlns:a16="http://schemas.microsoft.com/office/drawing/2014/main" id="{3138C237-46BE-003F-254C-208A15A12603}"/>
              </a:ext>
            </a:extLst>
          </p:cNvPr>
          <p:cNvSpPr>
            <a:spLocks noGrp="1"/>
          </p:cNvSpPr>
          <p:nvPr>
            <p:ph type="body" sz="quarter" idx="13"/>
          </p:nvPr>
        </p:nvSpPr>
        <p:spPr/>
        <p:txBody>
          <a:bodyPr/>
          <a:lstStyle/>
          <a:p>
            <a:r>
              <a:rPr lang="es-419" dirty="0"/>
              <a:t>Mes, Año</a:t>
            </a:r>
          </a:p>
        </p:txBody>
      </p:sp>
      <p:pic>
        <p:nvPicPr>
          <p:cNvPr id="9" name="Marcador de posición de imagen 8" descr="Una persona con una laptop en una mesa&#10;&#10;El contenido generado por IA puede ser incorrecto.">
            <a:extLst>
              <a:ext uri="{FF2B5EF4-FFF2-40B4-BE49-F238E27FC236}">
                <a16:creationId xmlns:a16="http://schemas.microsoft.com/office/drawing/2014/main" id="{355698C8-A0CF-DC2D-A4AA-8850877259D1}"/>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Docentes</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904764108"/>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Asignar Docentes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Docentes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dirty="0"/>
              <a:t>Asignar Docentes</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1839686"/>
            <a:ext cx="2531719" cy="7624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91108"/>
            <a:ext cx="10136257" cy="4070543"/>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419" sz="2400" dirty="0"/>
              <a:t>Generada la programación de una asignatura para ser impartida por medio de uno o varios NRC, se requiere asignar aquellos recursos que permitan el desarrollo de esta, como lo fueran los docentes, espacios físicos, recursos pedagógicos (syllabus y bibliografía) y recursos virtuales (eLearning). </a:t>
            </a:r>
            <a:endParaRPr lang="es-ES" sz="2400" dirty="0"/>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dirty="0">
                <a:solidFill>
                  <a:schemeClr val="accent1"/>
                </a:solidFill>
              </a:rPr>
              <a:t>Overview: </a:t>
            </a:r>
            <a:r>
              <a:rPr lang="es-ES_tradnl" b="0" dirty="0">
                <a:solidFill>
                  <a:schemeClr val="accent1"/>
                </a:solidFill>
              </a:rPr>
              <a:t>Proceso </a:t>
            </a:r>
            <a:r>
              <a:rPr lang="es-419" b="0" dirty="0">
                <a:solidFill>
                  <a:schemeClr val="accent1"/>
                </a:solidFill>
              </a:rPr>
              <a:t>gestionar la programación académica – Asignación de Recursos</a:t>
            </a:r>
            <a:endParaRPr lang="es-CL" b="0" dirty="0">
              <a:solidFill>
                <a:schemeClr val="accent1"/>
              </a:solidFill>
            </a:endParaRPr>
          </a:p>
        </p:txBody>
      </p:sp>
    </p:spTree>
    <p:extLst>
      <p:ext uri="{BB962C8B-B14F-4D97-AF65-F5344CB8AC3E}">
        <p14:creationId xmlns:p14="http://schemas.microsoft.com/office/powerpoint/2010/main" val="167875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Docentes</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Proceso </a:t>
            </a:r>
            <a:r>
              <a:rPr lang="es-419" b="0" dirty="0">
                <a:solidFill>
                  <a:schemeClr val="accent1"/>
                </a:solidFill>
              </a:rPr>
              <a:t>gestionar la programación académica – Asignación de Recursos – Asignar docentes</a:t>
            </a:r>
          </a:p>
        </p:txBody>
      </p:sp>
      <p:pic>
        <p:nvPicPr>
          <p:cNvPr id="1026" name="Picture 2">
            <a:extLst>
              <a:ext uri="{FF2B5EF4-FFF2-40B4-BE49-F238E27FC236}">
                <a16:creationId xmlns:a16="http://schemas.microsoft.com/office/drawing/2014/main" id="{72AA22E3-05CE-3787-21F3-D0EDBB4318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8" y="2486025"/>
            <a:ext cx="11706225"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marL="285750" indent="-285750" algn="just">
              <a:spcAft>
                <a:spcPts val="600"/>
              </a:spcAft>
              <a:buClr>
                <a:srgbClr val="0CB4B4"/>
              </a:buClr>
              <a:buFont typeface="Wingdings" panose="05000000000000000000" pitchFamily="2" charset="2"/>
              <a:buChar char="q"/>
            </a:pPr>
            <a:r>
              <a:rPr lang="es-CO" sz="2400" dirty="0"/>
              <a:t> Tras </a:t>
            </a:r>
            <a:r>
              <a:rPr lang="es-MX" sz="2400" dirty="0"/>
              <a:t>generar un NRC llega un punto en donde es necesario asignar docentes que impartan el curso, según la disponibilidad de docentes que haya en cada uno. </a:t>
            </a:r>
          </a:p>
          <a:p>
            <a:pPr marL="285750" indent="-285750" algn="just">
              <a:buClr>
                <a:srgbClr val="0CB4B4"/>
              </a:buClr>
              <a:buFont typeface="Wingdings" panose="05000000000000000000" pitchFamily="2" charset="2"/>
              <a:buChar char="q"/>
            </a:pPr>
            <a:r>
              <a:rPr lang="es-419" sz="2400" dirty="0"/>
              <a:t>Los docentes son asignados a las sesiones que hayan sido programadas en cada NRC, pudiendo ser asignado en uno o más sesiones. De igual forma en cada sesión además se puede asociar uno o varios docentes. </a:t>
            </a:r>
          </a:p>
          <a:p>
            <a:pPr marL="285750" indent="-285750" algn="just">
              <a:buClr>
                <a:srgbClr val="0CB4B4"/>
              </a:buClr>
              <a:buFont typeface="Wingdings" panose="05000000000000000000" pitchFamily="2" charset="2"/>
              <a:buChar char="q"/>
            </a:pPr>
            <a:r>
              <a:rPr lang="es-419" sz="2400" dirty="0"/>
              <a:t>Al momento de asignar un docente se deben definir el porcentaje de responsabilidad del docente para con la sesión, y el porcentaje de la sesión en la que estaría el docente.</a:t>
            </a:r>
          </a:p>
          <a:p>
            <a:pPr marL="285750" indent="-285750" algn="just">
              <a:buClr>
                <a:srgbClr val="0CB4B4"/>
              </a:buClr>
              <a:buFont typeface="Wingdings" panose="05000000000000000000" pitchFamily="2" charset="2"/>
              <a:buChar char="q"/>
            </a:pPr>
            <a:endParaRPr lang="es-419" sz="2400" dirty="0">
              <a:solidFill>
                <a:srgbClr val="7030A0"/>
              </a:solidFill>
            </a:endParaRPr>
          </a:p>
          <a:p>
            <a:pPr marL="285750" indent="-285750" algn="just">
              <a:buClr>
                <a:srgbClr val="0CB4B4"/>
              </a:buClr>
              <a:buFont typeface="Wingdings" panose="05000000000000000000" pitchFamily="2" charset="2"/>
              <a:buChar char="q"/>
            </a:pPr>
            <a:endParaRPr lang="es-419" sz="24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err="1">
                <a:solidFill>
                  <a:schemeClr val="accent1"/>
                </a:solidFill>
              </a:rPr>
              <a:t>Overview</a:t>
            </a:r>
            <a:r>
              <a:rPr lang="es-ES_tradnl" dirty="0">
                <a:solidFill>
                  <a:schemeClr val="accent1"/>
                </a:solidFill>
              </a:rPr>
              <a:t>: </a:t>
            </a:r>
            <a:r>
              <a:rPr lang="es-ES_tradnl" b="0" dirty="0">
                <a:solidFill>
                  <a:schemeClr val="accent1"/>
                </a:solidFill>
              </a:rPr>
              <a:t>Proceso </a:t>
            </a:r>
            <a:r>
              <a:rPr lang="es-419" b="0" dirty="0">
                <a:solidFill>
                  <a:schemeClr val="accent1"/>
                </a:solidFill>
              </a:rPr>
              <a:t>gestionar la programación académica – Asignación de Recursos – Asignar docentes</a:t>
            </a:r>
            <a:endParaRPr lang="es-CL" b="0" dirty="0">
              <a:solidFill>
                <a:schemeClr val="accent1"/>
              </a:solidFill>
            </a:endParaRPr>
          </a:p>
        </p:txBody>
      </p:sp>
    </p:spTree>
    <p:extLst>
      <p:ext uri="{BB962C8B-B14F-4D97-AF65-F5344CB8AC3E}">
        <p14:creationId xmlns:p14="http://schemas.microsoft.com/office/powerpoint/2010/main" val="3559927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CO" sz="2400" dirty="0"/>
              <a:t>Al momento de asignar un docente se valida que este no posea conflicto de horario con otras asignaciones, lo cual es advertido mediante un mensaje emergente. Aun así, es posible realizar un sobrepaso a dicha limitación para poder asignar de todas formas el docente en cuestión.</a:t>
            </a:r>
            <a:endParaRPr lang="es-419" sz="2400" dirty="0"/>
          </a:p>
          <a:p>
            <a:pPr marL="285750" indent="-285750" algn="just">
              <a:buClr>
                <a:srgbClr val="0CB4B4"/>
              </a:buClr>
              <a:buFont typeface="Wingdings" panose="05000000000000000000" pitchFamily="2" charset="2"/>
              <a:buChar char="q"/>
            </a:pPr>
            <a:r>
              <a:rPr lang="es-419" sz="2400" dirty="0"/>
              <a:t>En el proceso de asignación de docentes, se puede además buscar los docentes que se encuentren disponibles para impartir el NRC programado, pudiendo utilizar los atributos de docentes como mecanismos de identificación secundario de los docentes.</a:t>
            </a:r>
          </a:p>
          <a:p>
            <a:pPr marL="285750" indent="-285750" algn="just">
              <a:buClr>
                <a:srgbClr val="0CB4B4"/>
              </a:buClr>
              <a:buFont typeface="Wingdings" panose="05000000000000000000" pitchFamily="2" charset="2"/>
              <a:buChar char="q"/>
            </a:pPr>
            <a:endParaRPr lang="es-419" sz="2400" dirty="0">
              <a:solidFill>
                <a:srgbClr val="7030A0"/>
              </a:solidFill>
            </a:endParaRPr>
          </a:p>
          <a:p>
            <a:pPr marL="285750" indent="-285750" algn="just">
              <a:buClr>
                <a:srgbClr val="0CB4B4"/>
              </a:buClr>
              <a:buFont typeface="Wingdings" panose="05000000000000000000" pitchFamily="2" charset="2"/>
              <a:buChar char="q"/>
            </a:pPr>
            <a:endParaRPr lang="es-419" sz="2400" dirty="0">
              <a:solidFill>
                <a:srgbClr val="7030A0"/>
              </a:solidFill>
            </a:endParaRPr>
          </a:p>
          <a:p>
            <a:pPr marL="285750" indent="-285750" algn="just">
              <a:buClr>
                <a:srgbClr val="0CB4B4"/>
              </a:buClr>
              <a:buFont typeface="Wingdings" panose="05000000000000000000" pitchFamily="2" charset="2"/>
              <a:buChar char="q"/>
            </a:pPr>
            <a:endParaRPr lang="es-419" sz="24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dirty="0">
                <a:solidFill>
                  <a:schemeClr val="accent1"/>
                </a:solidFill>
              </a:rPr>
              <a:t>Overview: </a:t>
            </a:r>
            <a:r>
              <a:rPr lang="es-ES_tradnl" b="0" dirty="0">
                <a:solidFill>
                  <a:schemeClr val="accent1"/>
                </a:solidFill>
              </a:rPr>
              <a:t>Proceso </a:t>
            </a:r>
            <a:r>
              <a:rPr lang="es-419" b="0" dirty="0">
                <a:solidFill>
                  <a:schemeClr val="accent1"/>
                </a:solidFill>
              </a:rPr>
              <a:t>gestionar la programación académica – Asignación de Recursos – Asignar docentes</a:t>
            </a:r>
            <a:endParaRPr lang="es-CL" b="0" dirty="0">
              <a:solidFill>
                <a:schemeClr val="accent1"/>
              </a:solidFill>
            </a:endParaRPr>
          </a:p>
        </p:txBody>
      </p:sp>
    </p:spTree>
    <p:extLst>
      <p:ext uri="{BB962C8B-B14F-4D97-AF65-F5344CB8AC3E}">
        <p14:creationId xmlns:p14="http://schemas.microsoft.com/office/powerpoint/2010/main" val="3403148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Docentes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0BB0EE5-61CB-B224-D093-FAC11C8B2A04}"/>
              </a:ext>
            </a:extLst>
          </p:cNvPr>
          <p:cNvPicPr>
            <a:picLocks noChangeAspect="1"/>
          </p:cNvPicPr>
          <p:nvPr/>
        </p:nvPicPr>
        <p:blipFill>
          <a:blip r:embed="rId2"/>
          <a:stretch>
            <a:fillRect/>
          </a:stretch>
        </p:blipFill>
        <p:spPr>
          <a:xfrm>
            <a:off x="810247" y="969159"/>
            <a:ext cx="10836808" cy="494687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Premisa: SIAINST Información de docente/asesor</a:t>
            </a:r>
            <a:br>
              <a:rPr lang="es-CL" dirty="0">
                <a:solidFill>
                  <a:schemeClr val="tx2"/>
                </a:solidFill>
              </a:rPr>
            </a:br>
            <a:endParaRPr lang="es-CL" dirty="0">
              <a:solidFill>
                <a:schemeClr val="tx2"/>
              </a:solidFill>
            </a:endParaRPr>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3040423" y="3564897"/>
            <a:ext cx="4892575" cy="12550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que los docentes a asignar se encuentren activos para el periodo académicos del  NRC programado (SIAINST).</a:t>
            </a:r>
          </a:p>
        </p:txBody>
      </p:sp>
      <p:sp>
        <p:nvSpPr>
          <p:cNvPr id="16" name="Rectángulo 15">
            <a:extLst>
              <a:ext uri="{FF2B5EF4-FFF2-40B4-BE49-F238E27FC236}">
                <a16:creationId xmlns:a16="http://schemas.microsoft.com/office/drawing/2014/main" id="{F8DAF055-83F0-CE5A-3489-5B3C2BDE7A8A}"/>
              </a:ext>
            </a:extLst>
          </p:cNvPr>
          <p:cNvSpPr/>
          <p:nvPr/>
        </p:nvSpPr>
        <p:spPr>
          <a:xfrm>
            <a:off x="1064178" y="1505012"/>
            <a:ext cx="8421567" cy="194154"/>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9">
            <a:extLst>
              <a:ext uri="{FF2B5EF4-FFF2-40B4-BE49-F238E27FC236}">
                <a16:creationId xmlns:a16="http://schemas.microsoft.com/office/drawing/2014/main" id="{9368834B-ADD9-7DF8-32C5-CF46C9477EF3}"/>
              </a:ext>
            </a:extLst>
          </p:cNvPr>
          <p:cNvSpPr/>
          <p:nvPr/>
        </p:nvSpPr>
        <p:spPr>
          <a:xfrm>
            <a:off x="1142688" y="1739008"/>
            <a:ext cx="1323422" cy="11750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10">
            <a:extLst>
              <a:ext uri="{FF2B5EF4-FFF2-40B4-BE49-F238E27FC236}">
                <a16:creationId xmlns:a16="http://schemas.microsoft.com/office/drawing/2014/main" id="{A02B934E-1F36-5647-E6D9-011F68FE9005}"/>
              </a:ext>
            </a:extLst>
          </p:cNvPr>
          <p:cNvSpPr/>
          <p:nvPr/>
        </p:nvSpPr>
        <p:spPr>
          <a:xfrm>
            <a:off x="1295088" y="2235019"/>
            <a:ext cx="1323422" cy="11750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32810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Premisa: SSASECT Horario</a:t>
            </a:r>
            <a:br>
              <a:rPr lang="es-CL" dirty="0">
                <a:solidFill>
                  <a:schemeClr val="tx2"/>
                </a:solidFill>
              </a:rPr>
            </a:br>
            <a:endParaRPr lang="es-CL" dirty="0">
              <a:solidFill>
                <a:schemeClr val="tx2"/>
              </a:solidFill>
            </a:endParaRPr>
          </a:p>
        </p:txBody>
      </p:sp>
      <p:pic>
        <p:nvPicPr>
          <p:cNvPr id="8" name="Imagen 7">
            <a:extLst>
              <a:ext uri="{FF2B5EF4-FFF2-40B4-BE49-F238E27FC236}">
                <a16:creationId xmlns:a16="http://schemas.microsoft.com/office/drawing/2014/main" id="{6C5E193B-0997-F61B-DD3C-76B4DACBA31B}"/>
              </a:ext>
            </a:extLst>
          </p:cNvPr>
          <p:cNvPicPr>
            <a:picLocks noChangeAspect="1"/>
          </p:cNvPicPr>
          <p:nvPr/>
        </p:nvPicPr>
        <p:blipFill>
          <a:blip r:embed="rId2"/>
          <a:stretch>
            <a:fillRect/>
          </a:stretch>
        </p:blipFill>
        <p:spPr>
          <a:xfrm>
            <a:off x="622570" y="954157"/>
            <a:ext cx="10057817" cy="2650938"/>
          </a:xfrm>
          <a:prstGeom prst="rect">
            <a:avLst/>
          </a:prstGeom>
        </p:spPr>
      </p:pic>
      <p:pic>
        <p:nvPicPr>
          <p:cNvPr id="10" name="Imagen 9">
            <a:extLst>
              <a:ext uri="{FF2B5EF4-FFF2-40B4-BE49-F238E27FC236}">
                <a16:creationId xmlns:a16="http://schemas.microsoft.com/office/drawing/2014/main" id="{85CD0D3A-12D3-91CF-4EF4-9286A095F5B0}"/>
              </a:ext>
            </a:extLst>
          </p:cNvPr>
          <p:cNvPicPr>
            <a:picLocks noChangeAspect="1"/>
          </p:cNvPicPr>
          <p:nvPr/>
        </p:nvPicPr>
        <p:blipFill>
          <a:blip r:embed="rId3"/>
          <a:stretch>
            <a:fillRect/>
          </a:stretch>
        </p:blipFill>
        <p:spPr>
          <a:xfrm>
            <a:off x="1897188" y="4231260"/>
            <a:ext cx="10057817" cy="1837284"/>
          </a:xfrm>
          <a:prstGeom prst="rect">
            <a:avLst/>
          </a:prstGeom>
        </p:spPr>
      </p:pic>
      <p:sp>
        <p:nvSpPr>
          <p:cNvPr id="12" name="Rectángulo redondeado 5">
            <a:extLst>
              <a:ext uri="{FF2B5EF4-FFF2-40B4-BE49-F238E27FC236}">
                <a16:creationId xmlns:a16="http://schemas.microsoft.com/office/drawing/2014/main" id="{D5E806EA-793C-6056-8003-0CDE8AA0F2BC}"/>
              </a:ext>
            </a:extLst>
          </p:cNvPr>
          <p:cNvSpPr/>
          <p:nvPr/>
        </p:nvSpPr>
        <p:spPr>
          <a:xfrm>
            <a:off x="2651420" y="3029548"/>
            <a:ext cx="5587418" cy="115109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que los NRC a los cuales se fuera a asignar un docente se encuentren programados y con al menos un bloque de horario definido (SSASECT).</a:t>
            </a:r>
          </a:p>
        </p:txBody>
      </p:sp>
    </p:spTree>
    <p:extLst>
      <p:ext uri="{BB962C8B-B14F-4D97-AF65-F5344CB8AC3E}">
        <p14:creationId xmlns:p14="http://schemas.microsoft.com/office/powerpoint/2010/main" val="543455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Docentes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dirty="0">
                <a:solidFill>
                  <a:schemeClr val="bg1"/>
                </a:solidFill>
              </a:rPr>
              <a:t>Asignar Docentes</a:t>
            </a:r>
            <a:endParaRPr lang="en-US" dirty="0"/>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1071743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6B6323ED-AA6E-2DE6-9E13-02B72081EC4A}"/>
              </a:ext>
            </a:extLst>
          </p:cNvPr>
          <p:cNvPicPr>
            <a:picLocks noChangeAspect="1"/>
          </p:cNvPicPr>
          <p:nvPr/>
        </p:nvPicPr>
        <p:blipFill>
          <a:blip r:embed="rId2"/>
          <a:stretch>
            <a:fillRect/>
          </a:stretch>
        </p:blipFill>
        <p:spPr>
          <a:xfrm>
            <a:off x="810247" y="1064785"/>
            <a:ext cx="10679108" cy="489319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Asignar Docentes</a:t>
            </a:r>
            <a:br>
              <a:rPr lang="es-CL" b="1" dirty="0">
                <a:effectLst/>
              </a:rPr>
            </a:br>
            <a:endParaRPr lang="es-CL" dirty="0"/>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1778449" y="3264907"/>
            <a:ext cx="8335477" cy="1427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Al momento de programar un NRC, en particular al definir las sesiones de horarios en las que se dictaría la clase (rango de fechas, días y horario) por defecto el campo ‘Indicador de sesión’ toma el valor 01, pero este registro se puede cambiar según la necesidad de asignación de docente se tenga.</a:t>
            </a:r>
          </a:p>
        </p:txBody>
      </p:sp>
      <p:sp>
        <p:nvSpPr>
          <p:cNvPr id="8" name="Rectángulo 7">
            <a:extLst>
              <a:ext uri="{FF2B5EF4-FFF2-40B4-BE49-F238E27FC236}">
                <a16:creationId xmlns:a16="http://schemas.microsoft.com/office/drawing/2014/main" id="{666FB5FA-D89C-1135-7C8B-91DA348429C2}"/>
              </a:ext>
            </a:extLst>
          </p:cNvPr>
          <p:cNvSpPr/>
          <p:nvPr/>
        </p:nvSpPr>
        <p:spPr>
          <a:xfrm>
            <a:off x="2807851" y="1477818"/>
            <a:ext cx="1154546" cy="15847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E2E8F8F2-6662-638B-FFE8-229A085A05EA}"/>
              </a:ext>
            </a:extLst>
          </p:cNvPr>
          <p:cNvSpPr/>
          <p:nvPr/>
        </p:nvSpPr>
        <p:spPr>
          <a:xfrm>
            <a:off x="10411034" y="1993791"/>
            <a:ext cx="1078321" cy="389192"/>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73912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EB31A-C6FB-9CAC-0950-13AF4ACB3704}"/>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9E637D51-3F6A-A45C-D9E8-D92BCABD2D24}"/>
              </a:ext>
            </a:extLst>
          </p:cNvPr>
          <p:cNvPicPr>
            <a:picLocks noChangeAspect="1"/>
          </p:cNvPicPr>
          <p:nvPr/>
        </p:nvPicPr>
        <p:blipFill>
          <a:blip r:embed="rId2"/>
          <a:stretch>
            <a:fillRect/>
          </a:stretch>
        </p:blipFill>
        <p:spPr>
          <a:xfrm>
            <a:off x="810247" y="1064786"/>
            <a:ext cx="10679108" cy="4886012"/>
          </a:xfrm>
          <a:prstGeom prst="rect">
            <a:avLst/>
          </a:prstGeom>
        </p:spPr>
      </p:pic>
      <p:sp>
        <p:nvSpPr>
          <p:cNvPr id="3" name="Marcador de texto vertical 2">
            <a:extLst>
              <a:ext uri="{FF2B5EF4-FFF2-40B4-BE49-F238E27FC236}">
                <a16:creationId xmlns:a16="http://schemas.microsoft.com/office/drawing/2014/main" id="{777ECA1D-CC95-4584-45B8-E381E36E2629}"/>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F2672EF5-93BF-CF8E-A795-D01506294D46}"/>
              </a:ext>
            </a:extLst>
          </p:cNvPr>
          <p:cNvSpPr>
            <a:spLocks noGrp="1"/>
          </p:cNvSpPr>
          <p:nvPr>
            <p:ph type="title"/>
          </p:nvPr>
        </p:nvSpPr>
        <p:spPr>
          <a:xfrm>
            <a:off x="810247" y="327992"/>
            <a:ext cx="10271883" cy="626165"/>
          </a:xfrm>
        </p:spPr>
        <p:txBody>
          <a:bodyPr/>
          <a:lstStyle/>
          <a:p>
            <a:r>
              <a:rPr lang="es-ES_tradnl" dirty="0">
                <a:solidFill>
                  <a:schemeClr val="accent1"/>
                </a:solidFill>
              </a:rPr>
              <a:t>Asignar Docentes</a:t>
            </a:r>
            <a:br>
              <a:rPr lang="es-CL" b="1" dirty="0">
                <a:effectLst/>
              </a:rPr>
            </a:br>
            <a:endParaRPr lang="es-CL" dirty="0"/>
          </a:p>
        </p:txBody>
      </p:sp>
      <p:sp>
        <p:nvSpPr>
          <p:cNvPr id="12" name="Rectángulo redondeado 5">
            <a:extLst>
              <a:ext uri="{FF2B5EF4-FFF2-40B4-BE49-F238E27FC236}">
                <a16:creationId xmlns:a16="http://schemas.microsoft.com/office/drawing/2014/main" id="{EABEF7C7-ACBB-E79A-75B7-DB907A0FC153}"/>
              </a:ext>
            </a:extLst>
          </p:cNvPr>
          <p:cNvSpPr/>
          <p:nvPr/>
        </p:nvSpPr>
        <p:spPr>
          <a:xfrm>
            <a:off x="1778449" y="3264907"/>
            <a:ext cx="8335477" cy="1427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el bloque ‘Instructor’, según la sesión que corresponda: </a:t>
            </a:r>
          </a:p>
          <a:p>
            <a:pPr marL="342900" indent="-342900">
              <a:buFont typeface="+mj-lt"/>
              <a:buAutoNum type="arabicPeriod"/>
            </a:pPr>
            <a:r>
              <a:rPr lang="es-ES_tradnl" sz="1400" dirty="0"/>
              <a:t>Ingrese el ID del docente a través de dos opciones:</a:t>
            </a:r>
          </a:p>
          <a:p>
            <a:pPr marL="800100" lvl="1" indent="-342900">
              <a:buFont typeface="Arial" panose="020B0604020202020204" pitchFamily="34" charset="0"/>
              <a:buChar char="•"/>
            </a:pPr>
            <a:r>
              <a:rPr lang="es-ES_tradnl" sz="1400" dirty="0"/>
              <a:t>Directamente en el campo ‘ID’, si lo conoce</a:t>
            </a:r>
          </a:p>
          <a:p>
            <a:pPr marL="800100" lvl="1" indent="-342900">
              <a:buFont typeface="Arial" panose="020B0604020202020204" pitchFamily="34" charset="0"/>
              <a:buChar char="•"/>
            </a:pPr>
            <a:r>
              <a:rPr lang="es-ES_tradnl" sz="1400" dirty="0"/>
              <a:t>Por medio de la opción Consultar docentes disponibles desde el Menú Relacionado (se explica en las diapositivas 17 a 19)</a:t>
            </a:r>
          </a:p>
        </p:txBody>
      </p:sp>
      <p:sp>
        <p:nvSpPr>
          <p:cNvPr id="8" name="Rectángulo 7">
            <a:extLst>
              <a:ext uri="{FF2B5EF4-FFF2-40B4-BE49-F238E27FC236}">
                <a16:creationId xmlns:a16="http://schemas.microsoft.com/office/drawing/2014/main" id="{D371FA16-1D09-6FE2-D633-C639278EF9DA}"/>
              </a:ext>
            </a:extLst>
          </p:cNvPr>
          <p:cNvSpPr/>
          <p:nvPr/>
        </p:nvSpPr>
        <p:spPr>
          <a:xfrm>
            <a:off x="2807851" y="1477818"/>
            <a:ext cx="1154546" cy="15847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7392EE73-7961-F814-2B10-7C04754EB8AE}"/>
              </a:ext>
            </a:extLst>
          </p:cNvPr>
          <p:cNvSpPr/>
          <p:nvPr/>
        </p:nvSpPr>
        <p:spPr>
          <a:xfrm>
            <a:off x="2012989" y="2746614"/>
            <a:ext cx="684029" cy="9818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23">
            <a:extLst>
              <a:ext uri="{FF2B5EF4-FFF2-40B4-BE49-F238E27FC236}">
                <a16:creationId xmlns:a16="http://schemas.microsoft.com/office/drawing/2014/main" id="{430687A0-8C35-3727-2E79-E65FA0D593B4}"/>
              </a:ext>
            </a:extLst>
          </p:cNvPr>
          <p:cNvSpPr/>
          <p:nvPr/>
        </p:nvSpPr>
        <p:spPr>
          <a:xfrm>
            <a:off x="1681782" y="2679115"/>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Tree>
    <p:extLst>
      <p:ext uri="{BB962C8B-B14F-4D97-AF65-F5344CB8AC3E}">
        <p14:creationId xmlns:p14="http://schemas.microsoft.com/office/powerpoint/2010/main" val="2410020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75873-B91F-3BB0-8539-05E21E7FD35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0BAB663-2A54-0931-03DC-800960C6013E}"/>
              </a:ext>
            </a:extLst>
          </p:cNvPr>
          <p:cNvPicPr>
            <a:picLocks noChangeAspect="1"/>
          </p:cNvPicPr>
          <p:nvPr/>
        </p:nvPicPr>
        <p:blipFill>
          <a:blip r:embed="rId2"/>
          <a:stretch>
            <a:fillRect/>
          </a:stretch>
        </p:blipFill>
        <p:spPr>
          <a:xfrm>
            <a:off x="702645" y="954886"/>
            <a:ext cx="10925937" cy="5004159"/>
          </a:xfrm>
          <a:prstGeom prst="rect">
            <a:avLst/>
          </a:prstGeom>
        </p:spPr>
      </p:pic>
      <p:sp>
        <p:nvSpPr>
          <p:cNvPr id="3" name="Marcador de texto vertical 2">
            <a:extLst>
              <a:ext uri="{FF2B5EF4-FFF2-40B4-BE49-F238E27FC236}">
                <a16:creationId xmlns:a16="http://schemas.microsoft.com/office/drawing/2014/main" id="{D1D9B424-237D-D8C9-8A17-D3160E58797C}"/>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3FB210F3-57CB-A139-FCCB-0A6A2562A9EB}"/>
              </a:ext>
            </a:extLst>
          </p:cNvPr>
          <p:cNvSpPr>
            <a:spLocks noGrp="1"/>
          </p:cNvSpPr>
          <p:nvPr>
            <p:ph type="title"/>
          </p:nvPr>
        </p:nvSpPr>
        <p:spPr>
          <a:xfrm>
            <a:off x="810247" y="327992"/>
            <a:ext cx="10271883" cy="626165"/>
          </a:xfrm>
        </p:spPr>
        <p:txBody>
          <a:bodyPr/>
          <a:lstStyle/>
          <a:p>
            <a:r>
              <a:rPr lang="es-ES_tradnl" dirty="0">
                <a:solidFill>
                  <a:schemeClr val="accent1"/>
                </a:solidFill>
              </a:rPr>
              <a:t>Asignar Docentes</a:t>
            </a:r>
            <a:br>
              <a:rPr lang="es-CL" b="1" dirty="0">
                <a:effectLst/>
              </a:rPr>
            </a:br>
            <a:endParaRPr lang="es-CL" dirty="0"/>
          </a:p>
        </p:txBody>
      </p:sp>
      <p:sp>
        <p:nvSpPr>
          <p:cNvPr id="8" name="Rectángulo 7">
            <a:extLst>
              <a:ext uri="{FF2B5EF4-FFF2-40B4-BE49-F238E27FC236}">
                <a16:creationId xmlns:a16="http://schemas.microsoft.com/office/drawing/2014/main" id="{EF10C780-986E-461C-50FA-B5DFAF50E8B7}"/>
              </a:ext>
            </a:extLst>
          </p:cNvPr>
          <p:cNvSpPr/>
          <p:nvPr/>
        </p:nvSpPr>
        <p:spPr>
          <a:xfrm>
            <a:off x="2706251" y="3953164"/>
            <a:ext cx="1154546" cy="15847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EAD9DEAA-F81E-EFD7-31F5-F3817A736039}"/>
              </a:ext>
            </a:extLst>
          </p:cNvPr>
          <p:cNvSpPr/>
          <p:nvPr/>
        </p:nvSpPr>
        <p:spPr>
          <a:xfrm>
            <a:off x="1325867" y="1269401"/>
            <a:ext cx="8335477" cy="1427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Consultar docentes disponibles:</a:t>
            </a:r>
          </a:p>
          <a:p>
            <a:pPr marL="342900" indent="-342900">
              <a:buFont typeface="+mj-lt"/>
              <a:buAutoNum type="alphaLcParenR"/>
            </a:pPr>
            <a:r>
              <a:rPr lang="es-ES_tradnl" sz="1400" dirty="0"/>
              <a:t>Desde el Menú Relacionado, seleccione la opción Consultar docentes disponibles (SIAFAVL)</a:t>
            </a:r>
          </a:p>
          <a:p>
            <a:pPr marL="342900" indent="-342900">
              <a:buFont typeface="+mj-lt"/>
              <a:buAutoNum type="alphaLcParenR"/>
            </a:pPr>
            <a:r>
              <a:rPr lang="es-ES_tradnl" sz="1400" dirty="0"/>
              <a:t>El sistema muestra la página Consulta de disponibilidad de docente (SIAFAVL) con el período y NRC heredados de la página SSASECT. Presione el botón Ir.</a:t>
            </a:r>
          </a:p>
        </p:txBody>
      </p:sp>
      <p:pic>
        <p:nvPicPr>
          <p:cNvPr id="13" name="Imagen 12">
            <a:extLst>
              <a:ext uri="{FF2B5EF4-FFF2-40B4-BE49-F238E27FC236}">
                <a16:creationId xmlns:a16="http://schemas.microsoft.com/office/drawing/2014/main" id="{AE7AA039-14DC-20FC-7D8D-2C3C832341DE}"/>
              </a:ext>
            </a:extLst>
          </p:cNvPr>
          <p:cNvPicPr>
            <a:picLocks noChangeAspect="1"/>
          </p:cNvPicPr>
          <p:nvPr/>
        </p:nvPicPr>
        <p:blipFill>
          <a:blip r:embed="rId3"/>
          <a:stretch>
            <a:fillRect/>
          </a:stretch>
        </p:blipFill>
        <p:spPr>
          <a:xfrm>
            <a:off x="622570" y="2929532"/>
            <a:ext cx="9491248" cy="1361551"/>
          </a:xfrm>
          <a:prstGeom prst="rect">
            <a:avLst/>
          </a:prstGeom>
        </p:spPr>
      </p:pic>
      <p:sp>
        <p:nvSpPr>
          <p:cNvPr id="14" name="Rectángulo redondeado 23">
            <a:extLst>
              <a:ext uri="{FF2B5EF4-FFF2-40B4-BE49-F238E27FC236}">
                <a16:creationId xmlns:a16="http://schemas.microsoft.com/office/drawing/2014/main" id="{B1297393-631E-AD61-34B3-6C8FA2622B52}"/>
              </a:ext>
            </a:extLst>
          </p:cNvPr>
          <p:cNvSpPr/>
          <p:nvPr/>
        </p:nvSpPr>
        <p:spPr>
          <a:xfrm>
            <a:off x="11368141" y="1612813"/>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a</a:t>
            </a:r>
          </a:p>
        </p:txBody>
      </p:sp>
      <p:sp>
        <p:nvSpPr>
          <p:cNvPr id="15" name="Rectángulo redondeado 23">
            <a:extLst>
              <a:ext uri="{FF2B5EF4-FFF2-40B4-BE49-F238E27FC236}">
                <a16:creationId xmlns:a16="http://schemas.microsoft.com/office/drawing/2014/main" id="{A53CEDFE-0E75-098A-3107-35AA72A0345A}"/>
              </a:ext>
            </a:extLst>
          </p:cNvPr>
          <p:cNvSpPr/>
          <p:nvPr/>
        </p:nvSpPr>
        <p:spPr>
          <a:xfrm>
            <a:off x="9550067" y="3063879"/>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b</a:t>
            </a:r>
          </a:p>
        </p:txBody>
      </p:sp>
      <p:sp>
        <p:nvSpPr>
          <p:cNvPr id="9" name="Rectángulo 8">
            <a:extLst>
              <a:ext uri="{FF2B5EF4-FFF2-40B4-BE49-F238E27FC236}">
                <a16:creationId xmlns:a16="http://schemas.microsoft.com/office/drawing/2014/main" id="{0C2D1538-C825-273B-53D4-942313FAFA16}"/>
              </a:ext>
            </a:extLst>
          </p:cNvPr>
          <p:cNvSpPr/>
          <p:nvPr/>
        </p:nvSpPr>
        <p:spPr>
          <a:xfrm>
            <a:off x="9844272" y="3146722"/>
            <a:ext cx="241838" cy="16568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88304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545F6-0946-81FF-DE37-6BEF25243753}"/>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A8FC397-A273-8F03-4713-BF2FCF8A7E4D}"/>
              </a:ext>
            </a:extLst>
          </p:cNvPr>
          <p:cNvPicPr>
            <a:picLocks noChangeAspect="1"/>
          </p:cNvPicPr>
          <p:nvPr/>
        </p:nvPicPr>
        <p:blipFill>
          <a:blip r:embed="rId2"/>
          <a:stretch>
            <a:fillRect/>
          </a:stretch>
        </p:blipFill>
        <p:spPr>
          <a:xfrm>
            <a:off x="702645" y="970511"/>
            <a:ext cx="10925937" cy="4990156"/>
          </a:xfrm>
          <a:prstGeom prst="rect">
            <a:avLst/>
          </a:prstGeom>
        </p:spPr>
      </p:pic>
      <p:sp>
        <p:nvSpPr>
          <p:cNvPr id="3" name="Marcador de texto vertical 2">
            <a:extLst>
              <a:ext uri="{FF2B5EF4-FFF2-40B4-BE49-F238E27FC236}">
                <a16:creationId xmlns:a16="http://schemas.microsoft.com/office/drawing/2014/main" id="{3D03919A-51D9-67B9-9130-8362B8300D5F}"/>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60BF4720-0A14-DBF9-0E14-9BAD84470B6B}"/>
              </a:ext>
            </a:extLst>
          </p:cNvPr>
          <p:cNvSpPr>
            <a:spLocks noGrp="1"/>
          </p:cNvSpPr>
          <p:nvPr>
            <p:ph type="title"/>
          </p:nvPr>
        </p:nvSpPr>
        <p:spPr>
          <a:xfrm>
            <a:off x="810247" y="327992"/>
            <a:ext cx="10271883" cy="626165"/>
          </a:xfrm>
        </p:spPr>
        <p:txBody>
          <a:bodyPr/>
          <a:lstStyle/>
          <a:p>
            <a:r>
              <a:rPr lang="es-ES_tradnl" dirty="0">
                <a:solidFill>
                  <a:schemeClr val="accent1"/>
                </a:solidFill>
              </a:rPr>
              <a:t>Asignar Docentes</a:t>
            </a:r>
            <a:endParaRPr lang="es-CL" dirty="0">
              <a:solidFill>
                <a:schemeClr val="accent1"/>
              </a:solidFill>
            </a:endParaRPr>
          </a:p>
        </p:txBody>
      </p:sp>
      <p:sp>
        <p:nvSpPr>
          <p:cNvPr id="8" name="Rectángulo 7">
            <a:extLst>
              <a:ext uri="{FF2B5EF4-FFF2-40B4-BE49-F238E27FC236}">
                <a16:creationId xmlns:a16="http://schemas.microsoft.com/office/drawing/2014/main" id="{108DB19E-2518-4852-D7C4-0A225A23904A}"/>
              </a:ext>
            </a:extLst>
          </p:cNvPr>
          <p:cNvSpPr/>
          <p:nvPr/>
        </p:nvSpPr>
        <p:spPr>
          <a:xfrm>
            <a:off x="702645" y="1429814"/>
            <a:ext cx="10925936" cy="566823"/>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6AD2D9AB-D1EF-D3DA-F395-EE32DD004349}"/>
              </a:ext>
            </a:extLst>
          </p:cNvPr>
          <p:cNvSpPr/>
          <p:nvPr/>
        </p:nvSpPr>
        <p:spPr>
          <a:xfrm>
            <a:off x="941572" y="5693013"/>
            <a:ext cx="314574" cy="19447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BD8FD8D2-937E-36B7-A2EF-7AB353FB2938}"/>
              </a:ext>
            </a:extLst>
          </p:cNvPr>
          <p:cNvSpPr/>
          <p:nvPr/>
        </p:nvSpPr>
        <p:spPr>
          <a:xfrm>
            <a:off x="1778449" y="3264908"/>
            <a:ext cx="8353842" cy="11408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Consultar docentes disponibles:</a:t>
            </a:r>
          </a:p>
          <a:p>
            <a:pPr marL="342900" indent="-342900">
              <a:buFont typeface="+mj-lt"/>
              <a:buAutoNum type="alphaLcParenR" startAt="3"/>
            </a:pPr>
            <a:r>
              <a:rPr lang="es-ES_tradnl" sz="1400" dirty="0"/>
              <a:t>Se puede definir atributos que se necesiten del docente, si están definidos para el mismo. No es obligatorio definir atributos para la búsqueda.</a:t>
            </a:r>
          </a:p>
          <a:p>
            <a:pPr marL="342900" indent="-342900">
              <a:buFont typeface="+mj-lt"/>
              <a:buAutoNum type="alphaLcParenR" startAt="3"/>
            </a:pPr>
            <a:r>
              <a:rPr lang="es-ES_tradnl" sz="1400" dirty="0"/>
              <a:t>Pase al siguiente bloque</a:t>
            </a:r>
          </a:p>
          <a:p>
            <a:pPr marL="342900" indent="-342900">
              <a:buFont typeface="+mj-lt"/>
              <a:buAutoNum type="arabicPeriod"/>
            </a:pPr>
            <a:endParaRPr lang="es-ES_tradnl" sz="1400" dirty="0"/>
          </a:p>
        </p:txBody>
      </p:sp>
      <p:sp>
        <p:nvSpPr>
          <p:cNvPr id="11" name="Rectángulo redondeado 23">
            <a:extLst>
              <a:ext uri="{FF2B5EF4-FFF2-40B4-BE49-F238E27FC236}">
                <a16:creationId xmlns:a16="http://schemas.microsoft.com/office/drawing/2014/main" id="{A40F4F20-F3E5-168E-8B82-3CFA717DE73A}"/>
              </a:ext>
            </a:extLst>
          </p:cNvPr>
          <p:cNvSpPr/>
          <p:nvPr/>
        </p:nvSpPr>
        <p:spPr>
          <a:xfrm>
            <a:off x="448802" y="1338795"/>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c</a:t>
            </a:r>
            <a:endParaRPr lang="es-419" sz="1100" noProof="0" dirty="0"/>
          </a:p>
        </p:txBody>
      </p:sp>
      <p:sp>
        <p:nvSpPr>
          <p:cNvPr id="13" name="Rectángulo redondeado 23">
            <a:extLst>
              <a:ext uri="{FF2B5EF4-FFF2-40B4-BE49-F238E27FC236}">
                <a16:creationId xmlns:a16="http://schemas.microsoft.com/office/drawing/2014/main" id="{21DF6F08-2050-949A-2FCF-BE634AE12BA2}"/>
              </a:ext>
            </a:extLst>
          </p:cNvPr>
          <p:cNvSpPr/>
          <p:nvPr/>
        </p:nvSpPr>
        <p:spPr>
          <a:xfrm>
            <a:off x="1256146" y="5601994"/>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d</a:t>
            </a:r>
          </a:p>
        </p:txBody>
      </p:sp>
    </p:spTree>
    <p:extLst>
      <p:ext uri="{BB962C8B-B14F-4D97-AF65-F5344CB8AC3E}">
        <p14:creationId xmlns:p14="http://schemas.microsoft.com/office/powerpoint/2010/main" val="994484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FF271-3109-333A-038E-616929667828}"/>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94C80579-6FF7-F00E-15DC-5EBFAB0FBB53}"/>
              </a:ext>
            </a:extLst>
          </p:cNvPr>
          <p:cNvPicPr>
            <a:picLocks noChangeAspect="1"/>
          </p:cNvPicPr>
          <p:nvPr/>
        </p:nvPicPr>
        <p:blipFill>
          <a:blip r:embed="rId2"/>
          <a:stretch>
            <a:fillRect/>
          </a:stretch>
        </p:blipFill>
        <p:spPr>
          <a:xfrm>
            <a:off x="622570" y="897333"/>
            <a:ext cx="11235479" cy="5143249"/>
          </a:xfrm>
          <a:prstGeom prst="rect">
            <a:avLst/>
          </a:prstGeom>
        </p:spPr>
      </p:pic>
      <p:sp>
        <p:nvSpPr>
          <p:cNvPr id="3" name="Marcador de texto vertical 2">
            <a:extLst>
              <a:ext uri="{FF2B5EF4-FFF2-40B4-BE49-F238E27FC236}">
                <a16:creationId xmlns:a16="http://schemas.microsoft.com/office/drawing/2014/main" id="{DC131F11-829B-7D33-1360-895B73099F08}"/>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176EFD35-C25A-3986-3C03-7828DB575E41}"/>
              </a:ext>
            </a:extLst>
          </p:cNvPr>
          <p:cNvSpPr>
            <a:spLocks noGrp="1"/>
          </p:cNvSpPr>
          <p:nvPr>
            <p:ph type="title"/>
          </p:nvPr>
        </p:nvSpPr>
        <p:spPr>
          <a:xfrm>
            <a:off x="810247" y="327992"/>
            <a:ext cx="10271883" cy="626165"/>
          </a:xfrm>
        </p:spPr>
        <p:txBody>
          <a:bodyPr/>
          <a:lstStyle/>
          <a:p>
            <a:r>
              <a:rPr lang="es-ES_tradnl" dirty="0">
                <a:solidFill>
                  <a:schemeClr val="tx2"/>
                </a:solidFill>
              </a:rPr>
              <a:t>Asignar Docentes</a:t>
            </a:r>
            <a:endParaRPr lang="es-CL" dirty="0"/>
          </a:p>
        </p:txBody>
      </p:sp>
      <p:sp>
        <p:nvSpPr>
          <p:cNvPr id="8" name="Rectángulo 7">
            <a:extLst>
              <a:ext uri="{FF2B5EF4-FFF2-40B4-BE49-F238E27FC236}">
                <a16:creationId xmlns:a16="http://schemas.microsoft.com/office/drawing/2014/main" id="{0E18E5AE-64D5-C2FA-5410-D91DA664863B}"/>
              </a:ext>
            </a:extLst>
          </p:cNvPr>
          <p:cNvSpPr/>
          <p:nvPr/>
        </p:nvSpPr>
        <p:spPr>
          <a:xfrm>
            <a:off x="622570" y="1945942"/>
            <a:ext cx="11235478" cy="2515214"/>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4248AAF3-6812-C0F1-518E-17A128F1807E}"/>
              </a:ext>
            </a:extLst>
          </p:cNvPr>
          <p:cNvSpPr/>
          <p:nvPr/>
        </p:nvSpPr>
        <p:spPr>
          <a:xfrm>
            <a:off x="10860190" y="5766192"/>
            <a:ext cx="574427" cy="19447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FFBCDA62-DADA-DE52-89F4-26D8191781C8}"/>
              </a:ext>
            </a:extLst>
          </p:cNvPr>
          <p:cNvSpPr/>
          <p:nvPr/>
        </p:nvSpPr>
        <p:spPr>
          <a:xfrm>
            <a:off x="1658376" y="4461156"/>
            <a:ext cx="8353842" cy="11408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Consultar docentes disponibles:</a:t>
            </a:r>
          </a:p>
          <a:p>
            <a:pPr marL="342900" indent="-342900">
              <a:buFont typeface="+mj-lt"/>
              <a:buAutoNum type="alphaLcParenR" startAt="5"/>
            </a:pPr>
            <a:r>
              <a:rPr lang="es-ES_tradnl" sz="1400" dirty="0"/>
              <a:t>El sistema muestra la lista de docentes disponibles, según los criterios de búsqueda. Haga clic sobre aquel que desea asignar al NRC.</a:t>
            </a:r>
          </a:p>
          <a:p>
            <a:pPr marL="342900" indent="-342900">
              <a:buFont typeface="+mj-lt"/>
              <a:buAutoNum type="alphaLcParenR" startAt="5"/>
            </a:pPr>
            <a:r>
              <a:rPr lang="es-ES_tradnl" sz="1400" dirty="0"/>
              <a:t>Presione el botón Seleccionar para que el docente sea asignado al NRC automáticamente.</a:t>
            </a:r>
          </a:p>
        </p:txBody>
      </p:sp>
      <p:sp>
        <p:nvSpPr>
          <p:cNvPr id="11" name="Rectángulo redondeado 23">
            <a:extLst>
              <a:ext uri="{FF2B5EF4-FFF2-40B4-BE49-F238E27FC236}">
                <a16:creationId xmlns:a16="http://schemas.microsoft.com/office/drawing/2014/main" id="{FD24429B-2495-2D5D-2B90-C8ACAD03F52E}"/>
              </a:ext>
            </a:extLst>
          </p:cNvPr>
          <p:cNvSpPr/>
          <p:nvPr/>
        </p:nvSpPr>
        <p:spPr>
          <a:xfrm>
            <a:off x="503998" y="3303272"/>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e</a:t>
            </a:r>
            <a:endParaRPr lang="es-419" sz="1100" noProof="0" dirty="0"/>
          </a:p>
        </p:txBody>
      </p:sp>
      <p:sp>
        <p:nvSpPr>
          <p:cNvPr id="13" name="Rectángulo redondeado 23">
            <a:extLst>
              <a:ext uri="{FF2B5EF4-FFF2-40B4-BE49-F238E27FC236}">
                <a16:creationId xmlns:a16="http://schemas.microsoft.com/office/drawing/2014/main" id="{D137C164-C71B-47AC-FCDD-11FC8D883CA0}"/>
              </a:ext>
            </a:extLst>
          </p:cNvPr>
          <p:cNvSpPr/>
          <p:nvPr/>
        </p:nvSpPr>
        <p:spPr>
          <a:xfrm>
            <a:off x="10586100" y="5697744"/>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f</a:t>
            </a:r>
            <a:endParaRPr lang="es-419" sz="1100" noProof="0" dirty="0"/>
          </a:p>
        </p:txBody>
      </p:sp>
    </p:spTree>
    <p:extLst>
      <p:ext uri="{BB962C8B-B14F-4D97-AF65-F5344CB8AC3E}">
        <p14:creationId xmlns:p14="http://schemas.microsoft.com/office/powerpoint/2010/main" val="744939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6E588E1B-0CFC-CD5E-C746-CF21E95FFFA5}"/>
              </a:ext>
            </a:extLst>
          </p:cNvPr>
          <p:cNvPicPr>
            <a:picLocks noChangeAspect="1"/>
          </p:cNvPicPr>
          <p:nvPr/>
        </p:nvPicPr>
        <p:blipFill>
          <a:blip r:embed="rId2"/>
          <a:stretch>
            <a:fillRect/>
          </a:stretch>
        </p:blipFill>
        <p:spPr>
          <a:xfrm>
            <a:off x="622570" y="954158"/>
            <a:ext cx="11153771" cy="509687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Asignar Docentes</a:t>
            </a:r>
            <a:endParaRPr lang="es-CL" dirty="0">
              <a:solidFill>
                <a:schemeClr val="accent1"/>
              </a:solidFill>
            </a:endParaRPr>
          </a:p>
        </p:txBody>
      </p:sp>
      <p:sp>
        <p:nvSpPr>
          <p:cNvPr id="12" name="Rectángulo redondeado 5">
            <a:extLst>
              <a:ext uri="{FF2B5EF4-FFF2-40B4-BE49-F238E27FC236}">
                <a16:creationId xmlns:a16="http://schemas.microsoft.com/office/drawing/2014/main" id="{F68386D3-95B0-64DB-FCF3-B5427A6DE7F3}"/>
              </a:ext>
            </a:extLst>
          </p:cNvPr>
          <p:cNvSpPr/>
          <p:nvPr/>
        </p:nvSpPr>
        <p:spPr>
          <a:xfrm>
            <a:off x="1778449" y="3264906"/>
            <a:ext cx="8335477" cy="256323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Toda vez asignado el o los docentes:</a:t>
            </a:r>
          </a:p>
          <a:p>
            <a:pPr marL="342900" indent="-342900">
              <a:buFont typeface="+mj-lt"/>
              <a:buAutoNum type="arabicPeriod" startAt="2"/>
            </a:pPr>
            <a:r>
              <a:rPr lang="es-ES_tradnl" sz="1200" dirty="0"/>
              <a:t>Si hay más de un docente, puede ajustar el porcentaje de responsabilidad de los mismos sobre el NRC. Este concepto está asociado al porcentaje de la carga de trabajo que estaría asumiendo el docente durante el desarrollo de la actividad educativa del NRC.</a:t>
            </a:r>
          </a:p>
          <a:p>
            <a:pPr marL="342900" indent="-342900">
              <a:buFont typeface="+mj-lt"/>
              <a:buAutoNum type="arabicPeriod" startAt="2"/>
            </a:pPr>
            <a:r>
              <a:rPr lang="es-ES_tradnl" sz="1200" dirty="0"/>
              <a:t>La casilla ‘Indicador de principal’ debe estar activa solamente para uno de los docentes, en caso de que haya más de uno. </a:t>
            </a:r>
          </a:p>
          <a:p>
            <a:pPr marL="342900" indent="-342900">
              <a:buFont typeface="+mj-lt"/>
              <a:buAutoNum type="arabicPeriod" startAt="2"/>
            </a:pPr>
            <a:r>
              <a:rPr lang="es-ES_tradnl" sz="1200" dirty="0"/>
              <a:t>La casilla ‘Indicador de sobrepaso’ se deja activa cuando el docente, teniendo conflicto de horario con la sesión programada, de todas formas, deseamos quede asociado.</a:t>
            </a:r>
          </a:p>
          <a:p>
            <a:pPr marL="342900" indent="-342900">
              <a:buFont typeface="+mj-lt"/>
              <a:buAutoNum type="arabicPeriod" startAt="2"/>
            </a:pPr>
            <a:r>
              <a:rPr lang="es-ES_tradnl" sz="1200" dirty="0"/>
              <a:t>El campo ‘porcentaje de sesión’ representa el porcentaje del tiempo de contacto que dedicará el docente a la </a:t>
            </a:r>
            <a:r>
              <a:rPr lang="es-ES_tradnl" sz="1200" b="1" dirty="0"/>
              <a:t>sesión</a:t>
            </a:r>
            <a:r>
              <a:rPr lang="es-ES_tradnl" sz="1200" dirty="0"/>
              <a:t> en la cual está siendo asociado. Puede ser ajustado para cada docente.</a:t>
            </a:r>
          </a:p>
          <a:p>
            <a:pPr marL="342900" indent="-342900">
              <a:buFont typeface="+mj-lt"/>
              <a:buAutoNum type="arabicPeriod" startAt="2"/>
            </a:pPr>
            <a:r>
              <a:rPr lang="es-ES_tradnl" sz="1200" dirty="0"/>
              <a:t>Guarde la información ingresada.</a:t>
            </a:r>
          </a:p>
        </p:txBody>
      </p:sp>
      <p:sp>
        <p:nvSpPr>
          <p:cNvPr id="15" name="Rectángulo 14">
            <a:extLst>
              <a:ext uri="{FF2B5EF4-FFF2-40B4-BE49-F238E27FC236}">
                <a16:creationId xmlns:a16="http://schemas.microsoft.com/office/drawing/2014/main" id="{29D07A8E-ECC5-CC0D-E648-6475F21AF812}"/>
              </a:ext>
            </a:extLst>
          </p:cNvPr>
          <p:cNvSpPr/>
          <p:nvPr/>
        </p:nvSpPr>
        <p:spPr>
          <a:xfrm>
            <a:off x="5874327" y="2568463"/>
            <a:ext cx="1708728" cy="31008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23">
            <a:extLst>
              <a:ext uri="{FF2B5EF4-FFF2-40B4-BE49-F238E27FC236}">
                <a16:creationId xmlns:a16="http://schemas.microsoft.com/office/drawing/2014/main" id="{B4C73E3F-A12B-BE40-F26C-295B84B41434}"/>
              </a:ext>
            </a:extLst>
          </p:cNvPr>
          <p:cNvSpPr/>
          <p:nvPr/>
        </p:nvSpPr>
        <p:spPr>
          <a:xfrm>
            <a:off x="6370586" y="2395499"/>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18" name="Rectángulo 17">
            <a:extLst>
              <a:ext uri="{FF2B5EF4-FFF2-40B4-BE49-F238E27FC236}">
                <a16:creationId xmlns:a16="http://schemas.microsoft.com/office/drawing/2014/main" id="{515DB0A7-0C29-7FB5-4134-8AD6EE793B2E}"/>
              </a:ext>
            </a:extLst>
          </p:cNvPr>
          <p:cNvSpPr/>
          <p:nvPr/>
        </p:nvSpPr>
        <p:spPr>
          <a:xfrm>
            <a:off x="7583056" y="2570421"/>
            <a:ext cx="1219200" cy="308128"/>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9" name="Rectángulo 18">
            <a:extLst>
              <a:ext uri="{FF2B5EF4-FFF2-40B4-BE49-F238E27FC236}">
                <a16:creationId xmlns:a16="http://schemas.microsoft.com/office/drawing/2014/main" id="{12A51E7A-6F28-7433-C58E-A07E5976FCDB}"/>
              </a:ext>
            </a:extLst>
          </p:cNvPr>
          <p:cNvSpPr/>
          <p:nvPr/>
        </p:nvSpPr>
        <p:spPr>
          <a:xfrm>
            <a:off x="8815225" y="2568463"/>
            <a:ext cx="1224703" cy="31488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0" name="Rectángulo 19">
            <a:extLst>
              <a:ext uri="{FF2B5EF4-FFF2-40B4-BE49-F238E27FC236}">
                <a16:creationId xmlns:a16="http://schemas.microsoft.com/office/drawing/2014/main" id="{6F0C356F-6E37-A15F-6E3E-CE1586073878}"/>
              </a:ext>
            </a:extLst>
          </p:cNvPr>
          <p:cNvSpPr/>
          <p:nvPr/>
        </p:nvSpPr>
        <p:spPr>
          <a:xfrm>
            <a:off x="10039928" y="2568462"/>
            <a:ext cx="1708728" cy="314882"/>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1" name="Rectángulo redondeado 23">
            <a:extLst>
              <a:ext uri="{FF2B5EF4-FFF2-40B4-BE49-F238E27FC236}">
                <a16:creationId xmlns:a16="http://schemas.microsoft.com/office/drawing/2014/main" id="{97EF97A0-CEAB-3840-5C87-F66C349F8538}"/>
              </a:ext>
            </a:extLst>
          </p:cNvPr>
          <p:cNvSpPr/>
          <p:nvPr/>
        </p:nvSpPr>
        <p:spPr>
          <a:xfrm>
            <a:off x="8062095" y="2395498"/>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22" name="Rectángulo redondeado 23">
            <a:extLst>
              <a:ext uri="{FF2B5EF4-FFF2-40B4-BE49-F238E27FC236}">
                <a16:creationId xmlns:a16="http://schemas.microsoft.com/office/drawing/2014/main" id="{4B3DF33B-DA89-F875-6BFE-153D87C3001E}"/>
              </a:ext>
            </a:extLst>
          </p:cNvPr>
          <p:cNvSpPr/>
          <p:nvPr/>
        </p:nvSpPr>
        <p:spPr>
          <a:xfrm>
            <a:off x="9297015" y="240277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23" name="Rectángulo redondeado 23">
            <a:extLst>
              <a:ext uri="{FF2B5EF4-FFF2-40B4-BE49-F238E27FC236}">
                <a16:creationId xmlns:a16="http://schemas.microsoft.com/office/drawing/2014/main" id="{B83C50E0-1958-85A2-E98D-360F5DEF6DDD}"/>
              </a:ext>
            </a:extLst>
          </p:cNvPr>
          <p:cNvSpPr/>
          <p:nvPr/>
        </p:nvSpPr>
        <p:spPr>
          <a:xfrm>
            <a:off x="10708928" y="240277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24" name="Rectángulo 23">
            <a:extLst>
              <a:ext uri="{FF2B5EF4-FFF2-40B4-BE49-F238E27FC236}">
                <a16:creationId xmlns:a16="http://schemas.microsoft.com/office/drawing/2014/main" id="{72815446-0022-89D1-0114-F8E6B7696AED}"/>
              </a:ext>
            </a:extLst>
          </p:cNvPr>
          <p:cNvSpPr/>
          <p:nvPr/>
        </p:nvSpPr>
        <p:spPr>
          <a:xfrm>
            <a:off x="11351491" y="5792456"/>
            <a:ext cx="434086" cy="16568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5" name="Rectángulo redondeado 23">
            <a:extLst>
              <a:ext uri="{FF2B5EF4-FFF2-40B4-BE49-F238E27FC236}">
                <a16:creationId xmlns:a16="http://schemas.microsoft.com/office/drawing/2014/main" id="{089F1220-36E6-1BA4-85DB-96A2C70E935B}"/>
              </a:ext>
            </a:extLst>
          </p:cNvPr>
          <p:cNvSpPr/>
          <p:nvPr/>
        </p:nvSpPr>
        <p:spPr>
          <a:xfrm>
            <a:off x="11077400" y="564755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Tree>
    <p:extLst>
      <p:ext uri="{BB962C8B-B14F-4D97-AF65-F5344CB8AC3E}">
        <p14:creationId xmlns:p14="http://schemas.microsoft.com/office/powerpoint/2010/main" val="1267972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C6EBD4C3-A7C4-0F32-B3E4-19A48508E231}"/>
              </a:ext>
            </a:extLst>
          </p:cNvPr>
          <p:cNvPicPr>
            <a:picLocks noChangeAspect="1"/>
          </p:cNvPicPr>
          <p:nvPr/>
        </p:nvPicPr>
        <p:blipFill>
          <a:blip r:embed="rId2"/>
          <a:stretch>
            <a:fillRect/>
          </a:stretch>
        </p:blipFill>
        <p:spPr>
          <a:xfrm>
            <a:off x="622570" y="967606"/>
            <a:ext cx="11116848" cy="50799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Docentes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Asignar Docentes</a:t>
            </a:r>
            <a:br>
              <a:rPr lang="es-CL" b="1" dirty="0">
                <a:effectLst/>
              </a:rPr>
            </a:br>
            <a:endParaRPr lang="es-CL" dirty="0"/>
          </a:p>
        </p:txBody>
      </p:sp>
      <p:sp>
        <p:nvSpPr>
          <p:cNvPr id="7" name="Rectángulo 6">
            <a:extLst>
              <a:ext uri="{FF2B5EF4-FFF2-40B4-BE49-F238E27FC236}">
                <a16:creationId xmlns:a16="http://schemas.microsoft.com/office/drawing/2014/main" id="{44E6441C-C3EA-63EC-A055-9F7871AAEDD1}"/>
              </a:ext>
            </a:extLst>
          </p:cNvPr>
          <p:cNvSpPr/>
          <p:nvPr/>
        </p:nvSpPr>
        <p:spPr>
          <a:xfrm>
            <a:off x="1473070" y="1390275"/>
            <a:ext cx="1789325" cy="27224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redondeado 5">
            <a:extLst>
              <a:ext uri="{FF2B5EF4-FFF2-40B4-BE49-F238E27FC236}">
                <a16:creationId xmlns:a16="http://schemas.microsoft.com/office/drawing/2014/main" id="{09F600D2-C663-C256-B796-DC9C0DCB4B4A}"/>
              </a:ext>
            </a:extLst>
          </p:cNvPr>
          <p:cNvSpPr/>
          <p:nvPr/>
        </p:nvSpPr>
        <p:spPr>
          <a:xfrm>
            <a:off x="1081880" y="3137119"/>
            <a:ext cx="9632302" cy="86222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La imagen representa la notificación de Banner que impide la asignación de docentes cuando estos poseen algún conflicto de horario frente a la sesión programada. Para sobrepasar aquello es que se debe activar la casilla ‘indicador de sobrepaso’ permitiendo así la asignación de los docentes al NRC y sesión respectiva.</a:t>
            </a:r>
          </a:p>
          <a:p>
            <a:pPr algn="ctr"/>
            <a:r>
              <a:rPr lang="es-ES_tradnl" sz="1200" dirty="0"/>
              <a:t>Al guardar los registros con el ‘indicador de sobrepaso’ activo, se omite la restricción asociada al conflicto de horario del docente.</a:t>
            </a:r>
          </a:p>
        </p:txBody>
      </p:sp>
      <p:sp>
        <p:nvSpPr>
          <p:cNvPr id="2" name="Rectángulo 1">
            <a:extLst>
              <a:ext uri="{FF2B5EF4-FFF2-40B4-BE49-F238E27FC236}">
                <a16:creationId xmlns:a16="http://schemas.microsoft.com/office/drawing/2014/main" id="{D6978110-8C1C-1639-CEF2-EF136C6A5788}"/>
              </a:ext>
            </a:extLst>
          </p:cNvPr>
          <p:cNvSpPr/>
          <p:nvPr/>
        </p:nvSpPr>
        <p:spPr>
          <a:xfrm>
            <a:off x="7862805" y="1166574"/>
            <a:ext cx="3898817" cy="37590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pic>
        <p:nvPicPr>
          <p:cNvPr id="13" name="Imagen 12">
            <a:extLst>
              <a:ext uri="{FF2B5EF4-FFF2-40B4-BE49-F238E27FC236}">
                <a16:creationId xmlns:a16="http://schemas.microsoft.com/office/drawing/2014/main" id="{ACAE3E57-6923-576F-2C93-915F2696A18E}"/>
              </a:ext>
            </a:extLst>
          </p:cNvPr>
          <p:cNvPicPr>
            <a:picLocks noChangeAspect="1"/>
          </p:cNvPicPr>
          <p:nvPr/>
        </p:nvPicPr>
        <p:blipFill>
          <a:blip r:embed="rId3"/>
          <a:stretch>
            <a:fillRect/>
          </a:stretch>
        </p:blipFill>
        <p:spPr>
          <a:xfrm>
            <a:off x="1443460" y="4012794"/>
            <a:ext cx="9005455" cy="1757850"/>
          </a:xfrm>
          <a:prstGeom prst="rect">
            <a:avLst/>
          </a:prstGeom>
        </p:spPr>
      </p:pic>
    </p:spTree>
    <p:extLst>
      <p:ext uri="{BB962C8B-B14F-4D97-AF65-F5344CB8AC3E}">
        <p14:creationId xmlns:p14="http://schemas.microsoft.com/office/powerpoint/2010/main" val="1717125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Asignar Docentes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a:xfrm>
            <a:off x="984826" y="2008765"/>
            <a:ext cx="10624467" cy="3979659"/>
          </a:xfrm>
        </p:spPr>
        <p:txBody>
          <a:bodyPr/>
          <a:lstStyle/>
          <a:p>
            <a:pPr marL="342900" indent="-342900" algn="just">
              <a:buClr>
                <a:srgbClr val="0CB4B4"/>
              </a:buClr>
              <a:buFont typeface="Wingdings" panose="05000000000000000000" pitchFamily="2" charset="2"/>
              <a:buChar char="q"/>
            </a:pPr>
            <a:r>
              <a:rPr lang="es-419" dirty="0"/>
              <a:t>En Banner permite asignar docentes a la programación académica de un NRC de forma directa o verifican la disponibilidad que posea el docente en función al horario programado del NRC.</a:t>
            </a:r>
          </a:p>
          <a:p>
            <a:pPr marL="342900" indent="-342900" algn="just">
              <a:buClr>
                <a:srgbClr val="0CB4B4"/>
              </a:buClr>
              <a:buFont typeface="Wingdings" panose="05000000000000000000" pitchFamily="2" charset="2"/>
              <a:buChar char="q"/>
            </a:pPr>
            <a:r>
              <a:rPr lang="es-419" dirty="0"/>
              <a:t>Un NRC puede tener uno o más docentes asociados al desarrollo de su programación, pudiendo haber simultáneamente dos o tres docentes, pero siempre definiendo uno de ellos como el docente principal del NRC.</a:t>
            </a:r>
          </a:p>
          <a:p>
            <a:pPr marL="342900" indent="-342900" algn="just">
              <a:buClr>
                <a:srgbClr val="0CB4B4"/>
              </a:buClr>
              <a:buFont typeface="Wingdings" panose="05000000000000000000" pitchFamily="2" charset="2"/>
              <a:buChar char="q"/>
            </a:pPr>
            <a:r>
              <a:rPr lang="es-419" dirty="0"/>
              <a:t>La programación académica de un NRC se diferencia por el indicador de sesión que posea cada  bloque de horario programado, siendo este el identificador de el o los docentes que impartirían dicho bloque de horario. </a:t>
            </a:r>
          </a:p>
          <a:p>
            <a:pPr marL="342900" indent="-342900" algn="just">
              <a:buClr>
                <a:srgbClr val="0CB4B4"/>
              </a:buClr>
              <a:buFont typeface="Wingdings" panose="05000000000000000000" pitchFamily="2" charset="2"/>
              <a:buChar char="q"/>
            </a:pPr>
            <a:r>
              <a:rPr lang="es-419" dirty="0"/>
              <a:t>Es posible diferenciar la distribución de responsabilidades de uno o varios docentes dentro de una misma sesión.</a:t>
            </a:r>
          </a:p>
          <a:p>
            <a:pPr marL="342900" indent="-342900" algn="just">
              <a:buClr>
                <a:srgbClr val="0CB4B4"/>
              </a:buClr>
              <a:buFont typeface="Wingdings" panose="05000000000000000000" pitchFamily="2" charset="2"/>
              <a:buChar char="q"/>
            </a:pPr>
            <a:endParaRPr lang="es-ES_tradnl"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21</a:t>
            </a:fld>
            <a:endParaRPr lang="en-US"/>
          </a:p>
        </p:txBody>
      </p:sp>
    </p:spTree>
    <p:extLst>
      <p:ext uri="{BB962C8B-B14F-4D97-AF65-F5344CB8AC3E}">
        <p14:creationId xmlns:p14="http://schemas.microsoft.com/office/powerpoint/2010/main" val="3113485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Correo@ellucian.com</a:t>
            </a:r>
          </a:p>
        </p:txBody>
      </p:sp>
    </p:spTree>
    <p:extLst>
      <p:ext uri="{BB962C8B-B14F-4D97-AF65-F5344CB8AC3E}">
        <p14:creationId xmlns:p14="http://schemas.microsoft.com/office/powerpoint/2010/main" val="1394951875"/>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5557</TotalTime>
  <Words>1061</Words>
  <Application>Microsoft Office PowerPoint</Application>
  <PresentationFormat>Widescreen</PresentationFormat>
  <Paragraphs>103</Paragraphs>
  <Slides>22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22</vt:i4>
      </vt:variant>
    </vt:vector>
  </HeadingPairs>
  <TitlesOfParts>
    <vt:vector size="31" baseType="lpstr">
      <vt:lpstr>Aptos</vt:lpstr>
      <vt:lpstr>Aptos Display</vt:lpstr>
      <vt:lpstr>Arial</vt:lpstr>
      <vt:lpstr>Calibri</vt:lpstr>
      <vt:lpstr>Courier New</vt:lpstr>
      <vt:lpstr>Helvetica Neue</vt:lpstr>
      <vt:lpstr>Wingdings</vt:lpstr>
      <vt:lpstr>Ellucian_April 2025</vt:lpstr>
      <vt:lpstr>Ellucian Blank Layouts</vt:lpstr>
      <vt:lpstr>PowerPoint Presentation</vt:lpstr>
      <vt:lpstr>PowerPoint Presentation</vt:lpstr>
      <vt:lpstr>Overview</vt:lpstr>
      <vt:lpstr>Overview: Mapa de capacidades</vt:lpstr>
      <vt:lpstr>Overview: Proceso gestionar la programación académica – Asignación de Recursos</vt:lpstr>
      <vt:lpstr>PowerPoint Presentation</vt:lpstr>
      <vt:lpstr>PowerPoint Presentation</vt:lpstr>
      <vt:lpstr>Overview: Proceso gestionar la programación académica – Asignación de Recursos – Asignar docentes</vt:lpstr>
      <vt:lpstr>Overview: Proceso gestionar la programación académica – Asignación de Recursos – Asignar docentes</vt:lpstr>
      <vt:lpstr>CONFIGURACIONES</vt:lpstr>
      <vt:lpstr>Premisa: SIAINST Información de docente/asesor </vt:lpstr>
      <vt:lpstr>Premisa: SSASECT Horario </vt:lpstr>
      <vt:lpstr>Asignar Docentes</vt:lpstr>
      <vt:lpstr>Asignar Docentes </vt:lpstr>
      <vt:lpstr>Asignar Docentes </vt:lpstr>
      <vt:lpstr>Asignar Docentes </vt:lpstr>
      <vt:lpstr>Asignar Docentes</vt:lpstr>
      <vt:lpstr>Asignar Docentes</vt:lpstr>
      <vt:lpstr>Asignar Docentes</vt:lpstr>
      <vt:lpstr>Asignar Docentes </vt:lpstr>
      <vt:lpstr>RESUMEN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Trapp, Eduardo</cp:lastModifiedBy>
  <cp:revision>254</cp:revision>
  <dcterms:created xsi:type="dcterms:W3CDTF">2023-07-17T20:07:38Z</dcterms:created>
  <dcterms:modified xsi:type="dcterms:W3CDTF">2026-04-17T00:38:49Z</dcterms:modified>
</cp:coreProperties>
</file>
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Lst>
  <p:notesMasterIdLst>
    <p:notesMasterId r:id="rId57"/>
  </p:notesMasterIdLst>
  <p:sldIdLst>
    <p:sldId id="257" r:id="rId3"/>
    <p:sldId id="423" r:id="rId4"/>
    <p:sldId id="476" r:id="rId5"/>
    <p:sldId id="554" r:id="rId6"/>
    <p:sldId id="349" r:id="rId7"/>
    <p:sldId id="557" r:id="rId8"/>
    <p:sldId id="352" r:id="rId9"/>
    <p:sldId id="421" r:id="rId10"/>
    <p:sldId id="478" r:id="rId11"/>
    <p:sldId id="287" r:id="rId12"/>
    <p:sldId id="285" r:id="rId13"/>
    <p:sldId id="555" r:id="rId14"/>
    <p:sldId id="469" r:id="rId15"/>
    <p:sldId id="355" r:id="rId16"/>
    <p:sldId id="490" r:id="rId17"/>
    <p:sldId id="535" r:id="rId18"/>
    <p:sldId id="493" r:id="rId19"/>
    <p:sldId id="503" r:id="rId20"/>
    <p:sldId id="488" r:id="rId21"/>
    <p:sldId id="494" r:id="rId22"/>
    <p:sldId id="536" r:id="rId23"/>
    <p:sldId id="538" r:id="rId24"/>
    <p:sldId id="537" r:id="rId25"/>
    <p:sldId id="539" r:id="rId26"/>
    <p:sldId id="558" r:id="rId27"/>
    <p:sldId id="498" r:id="rId28"/>
    <p:sldId id="499" r:id="rId29"/>
    <p:sldId id="540" r:id="rId30"/>
    <p:sldId id="500" r:id="rId31"/>
    <p:sldId id="553" r:id="rId32"/>
    <p:sldId id="523" r:id="rId33"/>
    <p:sldId id="541" r:id="rId34"/>
    <p:sldId id="504" r:id="rId35"/>
    <p:sldId id="542" r:id="rId36"/>
    <p:sldId id="505" r:id="rId37"/>
    <p:sldId id="506" r:id="rId38"/>
    <p:sldId id="528" r:id="rId39"/>
    <p:sldId id="529" r:id="rId40"/>
    <p:sldId id="544" r:id="rId41"/>
    <p:sldId id="507" r:id="rId42"/>
    <p:sldId id="510" r:id="rId43"/>
    <p:sldId id="531" r:id="rId44"/>
    <p:sldId id="530" r:id="rId45"/>
    <p:sldId id="545" r:id="rId46"/>
    <p:sldId id="546" r:id="rId47"/>
    <p:sldId id="512" r:id="rId48"/>
    <p:sldId id="532" r:id="rId49"/>
    <p:sldId id="547" r:id="rId50"/>
    <p:sldId id="548" r:id="rId51"/>
    <p:sldId id="549" r:id="rId52"/>
    <p:sldId id="551" r:id="rId53"/>
    <p:sldId id="345" r:id="rId54"/>
    <p:sldId id="550" r:id="rId55"/>
    <p:sldId id="552"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45BD81-8385-4C83-88BD-E79F50FB334C}" v="1" dt="2025-12-04T15:02:54.07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microsoft.com/office/2018/10/relationships/authors" Target="author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yn Ramos" userId="Eq3iuvi080P7eBGwdfan1+Mp8teSwPEntKii68/GBC8=" providerId="None" clId="Web-{4545BD81-8385-4C83-88BD-E79F50FB334C}"/>
    <pc:docChg chg="delSld">
      <pc:chgData name="Karyn Ramos" userId="Eq3iuvi080P7eBGwdfan1+Mp8teSwPEntKii68/GBC8=" providerId="None" clId="Web-{4545BD81-8385-4C83-88BD-E79F50FB334C}" dt="2025-12-04T15:02:54.078" v="0"/>
      <pc:docMkLst>
        <pc:docMk/>
      </pc:docMkLst>
      <pc:sldChg chg="del">
        <pc:chgData name="Karyn Ramos" userId="Eq3iuvi080P7eBGwdfan1+Mp8teSwPEntKii68/GBC8=" providerId="None" clId="Web-{4545BD81-8385-4C83-88BD-E79F50FB334C}" dt="2025-12-04T15:02:54.078" v="0"/>
        <pc:sldMkLst>
          <pc:docMk/>
          <pc:sldMk cId="3548154822" sldId="54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06-07-2026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29790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88840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607819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35601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80389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028133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5027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8718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596914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488422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923536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655379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923271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008652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281531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747430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966874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278059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454423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7048536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78584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471715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2393806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519412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6839824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103850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496500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49764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524211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113845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704666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8283589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376748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06-07-2026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34855167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2309269837"/>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2697297920"/>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422258086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286115720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15938480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22850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887790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451400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8888628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5340455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423423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721188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027107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6671460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611701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1522945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3183039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0713429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6216885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241592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263529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586052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4580359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13777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24635832"/>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71"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6693016"/>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39.xml"/><Relationship Id="rId4" Type="http://schemas.openxmlformats.org/officeDocument/2006/relationships/image" Target="../media/image13.svg"/></Relationships>
</file>

<file path=ppt/slides/_rels/slide1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39.xml"/><Relationship Id="rId4" Type="http://schemas.openxmlformats.org/officeDocument/2006/relationships/image" Target="../media/image13.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7.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sv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222707"/>
          </a:xfrm>
        </p:spPr>
        <p:txBody>
          <a:bodyPr/>
          <a:lstStyle/>
          <a:p>
            <a:r>
              <a:rPr lang="es-419" sz="4400" dirty="0"/>
              <a:t>Registrar la oferta horaria de los cursos</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194925"/>
          </a:xfrm>
        </p:spPr>
        <p:txBody>
          <a:bodyPr/>
          <a:lstStyle/>
          <a:p>
            <a:r>
              <a:rPr lang="es-CL" dirty="0"/>
              <a:t>Universidad señor de SIPAN</a:t>
            </a:r>
          </a:p>
        </p:txBody>
      </p:sp>
      <p:sp>
        <p:nvSpPr>
          <p:cNvPr id="6" name="Marcador de texto 5">
            <a:extLst>
              <a:ext uri="{FF2B5EF4-FFF2-40B4-BE49-F238E27FC236}">
                <a16:creationId xmlns:a16="http://schemas.microsoft.com/office/drawing/2014/main" id="{F96BAF96-9514-84DB-07B4-6B06C8F396EE}"/>
              </a:ext>
            </a:extLst>
          </p:cNvPr>
          <p:cNvSpPr>
            <a:spLocks noGrp="1"/>
          </p:cNvSpPr>
          <p:nvPr>
            <p:ph type="body" sz="quarter" idx="13"/>
          </p:nvPr>
        </p:nvSpPr>
        <p:spPr/>
        <p:txBody>
          <a:bodyPr/>
          <a:lstStyle/>
          <a:p>
            <a:r>
              <a:rPr lang="es-419" dirty="0"/>
              <a:t>Julio, 2026</a:t>
            </a:r>
          </a:p>
        </p:txBody>
      </p:sp>
      <p:pic>
        <p:nvPicPr>
          <p:cNvPr id="9" name="Marcador de posición de imagen 8" descr="Hombre usando laptop en la mesa&#10;&#10;El contenido generado por IA puede ser incorrecto.">
            <a:extLst>
              <a:ext uri="{FF2B5EF4-FFF2-40B4-BE49-F238E27FC236}">
                <a16:creationId xmlns:a16="http://schemas.microsoft.com/office/drawing/2014/main" id="{553835C0-971A-5B48-F808-0631BC4D6285}"/>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t="15407" b="15407"/>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Registrar la oferta horaria de los cursos</a:t>
            </a:r>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576241828"/>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Registrar la oferta horaria de los cursos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Registrar la oferta horaria de los cursos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Gestionar persona natural</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vert="horz" lIns="0" tIns="0" rIns="0" bIns="0" rtlCol="0" anchor="t" anchorCtr="0">
            <a:noAutofit/>
          </a:bodyPr>
          <a:lstStyle/>
          <a:p>
            <a:r>
              <a:rPr lang="es-ES_tradnl" dirty="0"/>
              <a:t>Overview: Mapa de capacidades</a:t>
            </a:r>
            <a:endParaRPr lang="en-US" dirty="0"/>
          </a:p>
        </p:txBody>
      </p:sp>
      <p:pic>
        <p:nvPicPr>
          <p:cNvPr id="5" name="Picture 2">
            <a:extLst>
              <a:ext uri="{FF2B5EF4-FFF2-40B4-BE49-F238E27FC236}">
                <a16:creationId xmlns:a16="http://schemas.microsoft.com/office/drawing/2014/main" id="{1CD86584-3813-004E-3696-5BB232753E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 t="3607" r="2974"/>
          <a:stretch>
            <a:fillRect/>
          </a:stretch>
        </p:blipFill>
        <p:spPr bwMode="auto">
          <a:xfrm>
            <a:off x="609601" y="1289303"/>
            <a:ext cx="11225781" cy="457850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E791E00-6A81-316C-AA90-C0CA3861559B}"/>
              </a:ext>
            </a:extLst>
          </p:cNvPr>
          <p:cNvSpPr/>
          <p:nvPr/>
        </p:nvSpPr>
        <p:spPr>
          <a:xfrm>
            <a:off x="932068" y="4162565"/>
            <a:ext cx="4102156" cy="62179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66565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1584355"/>
            <a:ext cx="9698935" cy="4267198"/>
          </a:xfrm>
        </p:spPr>
        <p:txBody>
          <a:bodyPr anchor="ctr"/>
          <a:lstStyle/>
          <a:p>
            <a:pPr marL="285750" lvl="0" indent="-285750">
              <a:buClr>
                <a:srgbClr val="0CB4B4"/>
              </a:buClr>
              <a:buFont typeface="Wingdings" panose="05000000000000000000" pitchFamily="2" charset="2"/>
              <a:buChar char="q"/>
            </a:pPr>
            <a:r>
              <a:rPr lang="es-419" sz="3200" b="1" dirty="0">
                <a:solidFill>
                  <a:srgbClr val="7030A0"/>
                </a:solidFill>
              </a:rPr>
              <a:t>Programación Académica</a:t>
            </a:r>
          </a:p>
          <a:p>
            <a:pPr marL="285750" lvl="0" indent="-285750">
              <a:buClr>
                <a:srgbClr val="0CB4B4"/>
              </a:buClr>
              <a:buFont typeface="Wingdings" panose="05000000000000000000" pitchFamily="2" charset="2"/>
              <a:buChar char="q"/>
            </a:pPr>
            <a:r>
              <a:rPr lang="es-419" sz="3200" dirty="0">
                <a:solidFill>
                  <a:srgbClr val="7030A0"/>
                </a:solidFill>
              </a:rPr>
              <a:t> Gestión de cursos(planta Física)</a:t>
            </a:r>
          </a:p>
          <a:p>
            <a:pPr marL="0" lvl="0" indent="0">
              <a:buClr>
                <a:srgbClr val="0CB4B4"/>
              </a:buClr>
              <a:buNone/>
            </a:pPr>
            <a:endParaRPr lang="es-CO" sz="3200"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vert="horz" lIns="0" tIns="0" rIns="0" bIns="0" rtlCol="0" anchor="t" anchorCtr="0">
            <a:noAutofit/>
          </a:bodyPr>
          <a:lstStyle/>
          <a:p>
            <a:r>
              <a:rPr lang="es-ES_tradnl" dirty="0">
                <a:solidFill>
                  <a:schemeClr val="tx2"/>
                </a:solidFill>
              </a:rPr>
              <a:t>Overview: Capacidad Operativa Gestionar la Programación Académica</a:t>
            </a:r>
            <a:endParaRPr lang="es-CL" dirty="0">
              <a:solidFill>
                <a:schemeClr val="tx2"/>
              </a:solidFill>
            </a:endParaRPr>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950845" y="1057296"/>
            <a:ext cx="10136257" cy="5412515"/>
          </a:xfrm>
        </p:spPr>
        <p:txBody>
          <a:bodyPr vert="horz" lIns="91440" tIns="45720" rIns="91440" bIns="45720" rtlCol="0" anchor="t">
            <a:noAutofit/>
          </a:bodyPr>
          <a:lstStyle/>
          <a:p>
            <a:pPr marL="0" indent="0" algn="just">
              <a:buClr>
                <a:srgbClr val="0CB4B4"/>
              </a:buClr>
              <a:buNone/>
            </a:pPr>
            <a:r>
              <a:rPr lang="es-CO" sz="1800" dirty="0"/>
              <a:t>Comprende el conjunto de actividades que realiza la institución para organizar y administrar la programación académica de cada periodo. Incluye la </a:t>
            </a:r>
            <a:r>
              <a:rPr lang="es-CO" sz="1800" b="1" dirty="0"/>
              <a:t>asignación de espacios físicos</a:t>
            </a:r>
            <a:r>
              <a:rPr lang="es-CO" sz="1800" dirty="0"/>
              <a:t> destinados a clases, laboratorios, conferencias, seminarios, exámenes y otras actividades académicas, así como la coordinación operativa necesaria para garantizar que dichos recursos estén disponibles y correctamente programados:</a:t>
            </a:r>
          </a:p>
          <a:p>
            <a:pPr algn="just"/>
            <a:r>
              <a:rPr lang="es-CO" sz="1800" b="1" dirty="0"/>
              <a:t>Características básicas</a:t>
            </a:r>
            <a:r>
              <a:rPr lang="es-CO" sz="1800" dirty="0"/>
              <a:t>: Determinar campus de impartición, fechas de inicio y finalización, modalidad (presencial, virtual, híbrida) y demás atributos relevantes.</a:t>
            </a:r>
          </a:p>
          <a:p>
            <a:pPr algn="just"/>
            <a:r>
              <a:rPr lang="es-CO" sz="1800" b="1" dirty="0"/>
              <a:t>Cupos disponibles</a:t>
            </a:r>
            <a:r>
              <a:rPr lang="es-CO" sz="1800" dirty="0"/>
              <a:t>: Establecer el número máximo de estudiantes que podrán inscribirse en cada sección.</a:t>
            </a:r>
          </a:p>
          <a:p>
            <a:pPr algn="just"/>
            <a:r>
              <a:rPr lang="es-CO" sz="1800" b="1" dirty="0"/>
              <a:t>Días y horarios</a:t>
            </a:r>
            <a:r>
              <a:rPr lang="es-CO" sz="1800" dirty="0"/>
              <a:t>: Configurar el calendario semanal de clases, especificando franjas horarias y frecuencia.</a:t>
            </a:r>
          </a:p>
          <a:p>
            <a:pPr algn="just"/>
            <a:r>
              <a:rPr lang="es-CO" sz="1800" b="1" dirty="0"/>
              <a:t>Prerrequisitos</a:t>
            </a:r>
            <a:r>
              <a:rPr lang="es-CO" sz="1800" dirty="0"/>
              <a:t>: Señalar los cursos o conocimientos previos necesarios para la inscripción.</a:t>
            </a:r>
          </a:p>
          <a:p>
            <a:pPr algn="just"/>
            <a:r>
              <a:rPr lang="es-CO" sz="1800" b="1" dirty="0"/>
              <a:t>Correquisitos</a:t>
            </a:r>
            <a:r>
              <a:rPr lang="es-CO" sz="1800" dirty="0"/>
              <a:t>: Indicar los cursos que deben ser inscritos simultáneamente.</a:t>
            </a:r>
          </a:p>
          <a:p>
            <a:pPr algn="just"/>
            <a:r>
              <a:rPr lang="es-CO" sz="1800" b="1" dirty="0"/>
              <a:t>Restricciones de inscripción</a:t>
            </a:r>
            <a:r>
              <a:rPr lang="es-CO" sz="1800" dirty="0"/>
              <a:t>: Establecer limitaciones específicas a nivel de sección (por ejemplo, programas académicos autorizados, niveles de avance).</a:t>
            </a:r>
          </a:p>
          <a:p>
            <a:pPr algn="just"/>
            <a:r>
              <a:rPr lang="es-CO" sz="1800" b="1" dirty="0"/>
              <a:t>Secciones ligadas y listas cruzadas</a:t>
            </a:r>
            <a:r>
              <a:rPr lang="es-CO" sz="1800" dirty="0"/>
              <a:t>: Configurar vínculos entre secciones que comparten contenidos o que se ofertan de manera conjunta.</a:t>
            </a:r>
          </a:p>
          <a:p>
            <a:pPr marL="0" indent="0" algn="just">
              <a:buClr>
                <a:srgbClr val="0CB4B4"/>
              </a:buClr>
              <a:buNone/>
            </a:pPr>
            <a:endParaRPr lang="es-ES" sz="18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Copiar oferta horaria de los cursos de un periodo anterior</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950845" y="322643"/>
            <a:ext cx="10477497" cy="898555"/>
          </a:xfrm>
        </p:spPr>
        <p:txBody>
          <a:bodyPr/>
          <a:lstStyle/>
          <a:p>
            <a:r>
              <a:rPr lang="es-ES_tradnl" dirty="0">
                <a:solidFill>
                  <a:schemeClr val="tx2"/>
                </a:solidFill>
              </a:rPr>
              <a:t>Overview: </a:t>
            </a:r>
            <a:r>
              <a:rPr lang="es-CO" dirty="0">
                <a:solidFill>
                  <a:schemeClr val="tx2"/>
                </a:solidFill>
              </a:rPr>
              <a:t>Gestión de la programación Académica</a:t>
            </a:r>
            <a:endParaRPr lang="es-CL" dirty="0">
              <a:solidFill>
                <a:schemeClr val="tx2"/>
              </a:solidFill>
            </a:endParaRPr>
          </a:p>
        </p:txBody>
      </p:sp>
    </p:spTree>
    <p:extLst>
      <p:ext uri="{BB962C8B-B14F-4D97-AF65-F5344CB8AC3E}">
        <p14:creationId xmlns:p14="http://schemas.microsoft.com/office/powerpoint/2010/main" val="2863691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pic>
        <p:nvPicPr>
          <p:cNvPr id="8" name="Imagen 7" descr="Imagen que contiene texto, mapa&#10;&#10;Descripción generada automáticamente">
            <a:extLst>
              <a:ext uri="{FF2B5EF4-FFF2-40B4-BE49-F238E27FC236}">
                <a16:creationId xmlns:a16="http://schemas.microsoft.com/office/drawing/2014/main" id="{171DEDFE-F050-E179-A066-C9F72BC68D9D}"/>
              </a:ext>
            </a:extLst>
          </p:cNvPr>
          <p:cNvPicPr>
            <a:picLocks noChangeAspect="1"/>
          </p:cNvPicPr>
          <p:nvPr/>
        </p:nvPicPr>
        <p:blipFill rotWithShape="1">
          <a:blip r:embed="rId2"/>
          <a:srcRect l="14657" t="34650" b="2103"/>
          <a:stretch/>
        </p:blipFill>
        <p:spPr>
          <a:xfrm>
            <a:off x="3555076" y="1489192"/>
            <a:ext cx="4750021" cy="5049719"/>
          </a:xfrm>
          <a:prstGeom prst="rect">
            <a:avLst/>
          </a:prstGeom>
        </p:spPr>
      </p:pic>
      <p:sp>
        <p:nvSpPr>
          <p:cNvPr id="9" name="CuadroTexto 8">
            <a:extLst>
              <a:ext uri="{FF2B5EF4-FFF2-40B4-BE49-F238E27FC236}">
                <a16:creationId xmlns:a16="http://schemas.microsoft.com/office/drawing/2014/main" id="{CDA0D89D-33DC-4151-D805-A43C6E21B822}"/>
              </a:ext>
            </a:extLst>
          </p:cNvPr>
          <p:cNvSpPr txBox="1"/>
          <p:nvPr/>
        </p:nvSpPr>
        <p:spPr>
          <a:xfrm>
            <a:off x="8080666" y="2844224"/>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0" tIns="0" rIns="0" bIns="0" rtlCol="0" anchor="t" anchorCtr="0">
            <a:noAutofit/>
          </a:bodyPr>
          <a:lstStyle>
            <a:lvl1pPr>
              <a:lnSpc>
                <a:spcPct val="90000"/>
              </a:lnSpc>
              <a:spcBef>
                <a:spcPct val="0"/>
              </a:spcBef>
              <a:buNone/>
              <a:defRPr sz="3200" b="1">
                <a:solidFill>
                  <a:schemeClr val="tx2"/>
                </a:solidFill>
                <a:latin typeface="+mj-lt"/>
                <a:ea typeface="+mj-ea"/>
                <a:cs typeface="+mj-cs"/>
              </a:defRPr>
            </a:lvl1pPr>
          </a:lstStyle>
          <a:p>
            <a:r>
              <a:rPr lang="es-ES_tradnl" dirty="0"/>
              <a:t>Overview:  </a:t>
            </a:r>
            <a:r>
              <a:rPr lang="es-419" dirty="0"/>
              <a:t>Registrar la oferta horaria de los cursos</a:t>
            </a:r>
            <a:endParaRPr lang="es-CL" dirty="0"/>
          </a:p>
        </p:txBody>
      </p:sp>
    </p:spTree>
    <p:extLst>
      <p:ext uri="{BB962C8B-B14F-4D97-AF65-F5344CB8AC3E}">
        <p14:creationId xmlns:p14="http://schemas.microsoft.com/office/powerpoint/2010/main" val="144809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685800"/>
            <a:ext cx="10477497" cy="898555"/>
          </a:xfrm>
          <a:prstGeom prst="rect">
            <a:avLst/>
          </a:prstGeom>
        </p:spPr>
        <p:txBody>
          <a:bodyPr vert="horz" lIns="0" tIns="0" rIns="0" bIns="0" rtlCol="0" anchor="t" anchorCtr="0">
            <a:noAutofit/>
          </a:bodyPr>
          <a:lstStyle>
            <a:defPPr>
              <a:defRPr lang="en-US"/>
            </a:defPPr>
            <a:lvl1pPr>
              <a:lnSpc>
                <a:spcPct val="90000"/>
              </a:lnSpc>
              <a:spcBef>
                <a:spcPct val="0"/>
              </a:spcBef>
              <a:buNone/>
              <a:defRPr sz="3200" b="1">
                <a:solidFill>
                  <a:schemeClr val="tx2"/>
                </a:solidFill>
                <a:latin typeface="+mj-lt"/>
                <a:ea typeface="+mj-ea"/>
                <a:cs typeface="+mj-cs"/>
              </a:defRPr>
            </a:lvl1pPr>
          </a:lstStyle>
          <a:p>
            <a:r>
              <a:rPr lang="es-ES_tradnl" dirty="0"/>
              <a:t>Overview:  </a:t>
            </a:r>
            <a:r>
              <a:rPr lang="es-419" dirty="0"/>
              <a:t>Registrar la oferta horaria de los cursos</a:t>
            </a:r>
          </a:p>
        </p:txBody>
      </p:sp>
      <p:pic>
        <p:nvPicPr>
          <p:cNvPr id="2" name="Imagen 1" descr="Diagrama&#10;&#10;Descripción generada automáticamente">
            <a:extLst>
              <a:ext uri="{FF2B5EF4-FFF2-40B4-BE49-F238E27FC236}">
                <a16:creationId xmlns:a16="http://schemas.microsoft.com/office/drawing/2014/main" id="{B5D1B9B0-F1DD-D623-359F-8B2426FB1CC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381" t="3406" r="4167" b="3363"/>
          <a:stretch/>
        </p:blipFill>
        <p:spPr bwMode="auto">
          <a:xfrm>
            <a:off x="1016645" y="2066025"/>
            <a:ext cx="10654005" cy="272594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75546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950843" y="1377673"/>
            <a:ext cx="10136257" cy="4102652"/>
          </a:xfrm>
        </p:spPr>
        <p:txBody>
          <a:bodyPr vert="horz" lIns="91440" tIns="45720" rIns="91440" bIns="45720" rtlCol="0" anchor="t">
            <a:noAutofit/>
          </a:bodyPr>
          <a:lstStyle/>
          <a:p>
            <a:pPr marL="0" indent="0">
              <a:buNone/>
            </a:pPr>
            <a:r>
              <a:rPr lang="es-CO" sz="2000" dirty="0"/>
              <a:t>La creación de secciones de cursos en un periodo académico implica:</a:t>
            </a:r>
          </a:p>
          <a:p>
            <a:r>
              <a:rPr lang="es-CO" sz="2000" b="1" dirty="0"/>
              <a:t>Definición de características básicas</a:t>
            </a:r>
            <a:r>
              <a:rPr lang="es-CO" sz="2000" dirty="0"/>
              <a:t>: Campus de impartición, fechas de inicio y finalización, horarios, modalidad, así como prerrequisitos, correquisitos y/o restricciones de inscripción.</a:t>
            </a:r>
          </a:p>
          <a:p>
            <a:r>
              <a:rPr lang="es-CO" sz="2000" b="1" dirty="0"/>
              <a:t>Identificación mediante NRC</a:t>
            </a:r>
            <a:r>
              <a:rPr lang="es-CO" sz="2000" dirty="0"/>
              <a:t>: Cada sección se representa por un NRC (Número de Referencia de Curso), valor único dentro del periodo académico que permite identificar la programación de una asignatura específica.</a:t>
            </a:r>
          </a:p>
          <a:p>
            <a:r>
              <a:rPr lang="es-CO" sz="2000" b="1" dirty="0"/>
              <a:t>Creación en SSASECT</a:t>
            </a:r>
            <a:r>
              <a:rPr lang="es-CO" sz="2000" dirty="0"/>
              <a:t>: Los NRC se generan en el módulo SSASECT, tomando parámetros preestablecidos desde la configuración del catálogo de cursos. Dichos parámetros pueden ser ajustados en caso de requerirse.</a:t>
            </a:r>
          </a:p>
          <a:p>
            <a:r>
              <a:rPr lang="es-CO" sz="2000" b="1" dirty="0"/>
              <a:t>Dependencia del catálogo</a:t>
            </a:r>
            <a:r>
              <a:rPr lang="es-CO" sz="2000" dirty="0"/>
              <a:t>: Los NRC se programan con base en las características vigentes de la asignatura al momento de crear la sección. Si se realizan modificaciones posteriores en el catálogo, los NRC ya programados no se ajustarán automáticamente.</a:t>
            </a:r>
          </a:p>
          <a:p>
            <a:pPr marL="0" indent="0" algn="just">
              <a:buClr>
                <a:srgbClr val="0CB4B4"/>
              </a:buClr>
              <a:buNone/>
            </a:pPr>
            <a:endParaRPr lang="es-419" sz="2000" dirty="0">
              <a:solidFill>
                <a:srgbClr val="7030A0"/>
              </a:solidFill>
            </a:endParaRPr>
          </a:p>
          <a:p>
            <a:pPr marL="285750" indent="-285750" algn="just">
              <a:buClr>
                <a:srgbClr val="0CB4B4"/>
              </a:buClr>
              <a:buFont typeface="Wingdings" panose="05000000000000000000" pitchFamily="2" charset="2"/>
              <a:buChar char="q"/>
            </a:pPr>
            <a:endParaRPr lang="es-419" sz="2000" dirty="0">
              <a:solidFill>
                <a:srgbClr val="7030A0"/>
              </a:solidFill>
            </a:endParaRP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1104900" y="685800"/>
            <a:ext cx="10477497" cy="418381"/>
          </a:xfrm>
        </p:spPr>
        <p:txBody>
          <a:bodyPr vert="horz" lIns="0" tIns="0" rIns="0" bIns="0" rtlCol="0" anchor="t" anchorCtr="0">
            <a:noAutofit/>
          </a:bodyPr>
          <a:lstStyle/>
          <a:p>
            <a:r>
              <a:rPr lang="es-ES_tradnl" dirty="0" err="1">
                <a:solidFill>
                  <a:schemeClr val="tx2"/>
                </a:solidFill>
              </a:rPr>
              <a:t>Overview</a:t>
            </a:r>
            <a:r>
              <a:rPr lang="es-ES_tradnl" dirty="0">
                <a:solidFill>
                  <a:schemeClr val="tx2"/>
                </a:solidFill>
              </a:rPr>
              <a:t>: </a:t>
            </a:r>
            <a:r>
              <a:rPr lang="es-419" dirty="0">
                <a:solidFill>
                  <a:schemeClr val="tx2"/>
                </a:solidFill>
              </a:rPr>
              <a:t>Registrar la oferta horaria de los cursos</a:t>
            </a:r>
            <a:endParaRPr lang="es-CL" dirty="0">
              <a:solidFill>
                <a:schemeClr val="tx2"/>
              </a:solidFill>
            </a:endParaRPr>
          </a:p>
        </p:txBody>
      </p:sp>
    </p:spTree>
    <p:extLst>
      <p:ext uri="{BB962C8B-B14F-4D97-AF65-F5344CB8AC3E}">
        <p14:creationId xmlns:p14="http://schemas.microsoft.com/office/powerpoint/2010/main" val="3559927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62E0F-FB7D-24BA-03CC-F7B22E18810A}"/>
            </a:ext>
          </a:extLst>
        </p:cNvPr>
        <p:cNvGrpSpPr/>
        <p:nvPr/>
      </p:nvGrpSpPr>
      <p:grpSpPr>
        <a:xfrm>
          <a:off x="0" y="0"/>
          <a:ext cx="0" cy="0"/>
          <a:chOff x="0" y="0"/>
          <a:chExt cx="0" cy="0"/>
        </a:xfrm>
      </p:grpSpPr>
      <p:sp>
        <p:nvSpPr>
          <p:cNvPr id="4" name="Marcador de texto 3">
            <a:extLst>
              <a:ext uri="{FF2B5EF4-FFF2-40B4-BE49-F238E27FC236}">
                <a16:creationId xmlns:a16="http://schemas.microsoft.com/office/drawing/2014/main" id="{BFFCBC83-B4FB-A52A-CC79-F20AE1317A61}"/>
              </a:ext>
            </a:extLst>
          </p:cNvPr>
          <p:cNvSpPr>
            <a:spLocks noGrp="1"/>
          </p:cNvSpPr>
          <p:nvPr>
            <p:ph type="body" sz="quarter" idx="10"/>
          </p:nvPr>
        </p:nvSpPr>
        <p:spPr>
          <a:xfrm>
            <a:off x="914399" y="3094453"/>
            <a:ext cx="10363202" cy="669094"/>
          </a:xfrm>
        </p:spPr>
        <p:txBody>
          <a:bodyPr/>
          <a:lstStyle/>
          <a:p>
            <a:r>
              <a:rPr lang="es-419" dirty="0"/>
              <a:t>Definiciones</a:t>
            </a:r>
          </a:p>
        </p:txBody>
      </p:sp>
    </p:spTree>
    <p:extLst>
      <p:ext uri="{BB962C8B-B14F-4D97-AF65-F5344CB8AC3E}">
        <p14:creationId xmlns:p14="http://schemas.microsoft.com/office/powerpoint/2010/main" val="3479084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3BE3C-9E42-8991-1DDE-C5C1463EC516}"/>
            </a:ext>
          </a:extLst>
        </p:cNvPr>
        <p:cNvGrpSpPr/>
        <p:nvPr/>
      </p:nvGrpSpPr>
      <p:grpSpPr>
        <a:xfrm>
          <a:off x="0" y="0"/>
          <a:ext cx="0" cy="0"/>
          <a:chOff x="0" y="0"/>
          <a:chExt cx="0" cy="0"/>
        </a:xfrm>
      </p:grpSpPr>
      <p:sp>
        <p:nvSpPr>
          <p:cNvPr id="4" name="TextBox 14">
            <a:extLst>
              <a:ext uri="{FF2B5EF4-FFF2-40B4-BE49-F238E27FC236}">
                <a16:creationId xmlns:a16="http://schemas.microsoft.com/office/drawing/2014/main" id="{9C73D3ED-330E-2F1F-3D81-76238AF4F144}"/>
              </a:ext>
            </a:extLst>
          </p:cNvPr>
          <p:cNvSpPr txBox="1"/>
          <p:nvPr/>
        </p:nvSpPr>
        <p:spPr>
          <a:xfrm>
            <a:off x="363048" y="3331592"/>
            <a:ext cx="2309075" cy="332399"/>
          </a:xfrm>
          <a:prstGeom prst="rect">
            <a:avLst/>
          </a:prstGeom>
          <a:noFill/>
        </p:spPr>
        <p:txBody>
          <a:bodyPr wrap="square" lIns="0" tIns="0" rIns="0" bIns="0" rtlCol="0">
            <a:spAutoFit/>
          </a:bodyPr>
          <a:lstStyle/>
          <a:p>
            <a:pPr algn="l">
              <a:lnSpc>
                <a:spcPct val="90000"/>
              </a:lnSpc>
            </a:pPr>
            <a:r>
              <a:rPr lang="es-CO" sz="2400" b="1" noProof="0" dirty="0"/>
              <a:t>Definiciones</a:t>
            </a:r>
          </a:p>
        </p:txBody>
      </p:sp>
      <p:sp>
        <p:nvSpPr>
          <p:cNvPr id="17" name="Freeform 13">
            <a:extLst>
              <a:ext uri="{FF2B5EF4-FFF2-40B4-BE49-F238E27FC236}">
                <a16:creationId xmlns:a16="http://schemas.microsoft.com/office/drawing/2014/main" id="{CC54EFDA-502E-BC37-FA3C-DB419975347F}"/>
              </a:ext>
            </a:extLst>
          </p:cNvPr>
          <p:cNvSpPr/>
          <p:nvPr/>
        </p:nvSpPr>
        <p:spPr>
          <a:xfrm>
            <a:off x="2149118" y="1914861"/>
            <a:ext cx="3159234" cy="3157356"/>
          </a:xfrm>
          <a:custGeom>
            <a:avLst/>
            <a:gdLst>
              <a:gd name="connsiteX0" fmla="*/ 3159235 w 3159234"/>
              <a:gd name="connsiteY0" fmla="*/ 1578678 h 3157356"/>
              <a:gd name="connsiteX1" fmla="*/ 1579617 w 3159234"/>
              <a:gd name="connsiteY1" fmla="*/ 3157356 h 3157356"/>
              <a:gd name="connsiteX2" fmla="*/ 0 w 3159234"/>
              <a:gd name="connsiteY2" fmla="*/ 1578678 h 3157356"/>
              <a:gd name="connsiteX3" fmla="*/ 1579617 w 3159234"/>
              <a:gd name="connsiteY3" fmla="*/ 0 h 3157356"/>
              <a:gd name="connsiteX4" fmla="*/ 3159235 w 3159234"/>
              <a:gd name="connsiteY4" fmla="*/ 1578678 h 3157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9234" h="3157356">
                <a:moveTo>
                  <a:pt x="3159235" y="1578678"/>
                </a:moveTo>
                <a:cubicBezTo>
                  <a:pt x="3159235" y="2450558"/>
                  <a:pt x="2452016" y="3157356"/>
                  <a:pt x="1579617" y="3157356"/>
                </a:cubicBezTo>
                <a:cubicBezTo>
                  <a:pt x="707219" y="3157356"/>
                  <a:pt x="0" y="2450558"/>
                  <a:pt x="0" y="1578678"/>
                </a:cubicBezTo>
                <a:cubicBezTo>
                  <a:pt x="0" y="706798"/>
                  <a:pt x="707219" y="0"/>
                  <a:pt x="1579617" y="0"/>
                </a:cubicBezTo>
                <a:cubicBezTo>
                  <a:pt x="2452016" y="0"/>
                  <a:pt x="3159235" y="706798"/>
                  <a:pt x="3159235" y="1578678"/>
                </a:cubicBezTo>
                <a:close/>
              </a:path>
            </a:pathLst>
          </a:custGeom>
          <a:solidFill>
            <a:schemeClr val="bg1"/>
          </a:solidFill>
          <a:ln w="14479" cap="flat">
            <a:noFill/>
            <a:prstDash val="solid"/>
            <a:miter/>
          </a:ln>
          <a:effectLst>
            <a:outerShdw blurRad="254000" dist="127000" dir="2700000" algn="tl" rotWithShape="0">
              <a:prstClr val="black">
                <a:alpha val="30000"/>
              </a:prstClr>
            </a:outerShdw>
          </a:effectLst>
        </p:spPr>
        <p:txBody>
          <a:bodyPr rtlCol="0" anchor="ctr"/>
          <a:lstStyle/>
          <a:p>
            <a:endParaRPr lang="es-CO" noProof="0" dirty="0"/>
          </a:p>
        </p:txBody>
      </p:sp>
      <p:sp>
        <p:nvSpPr>
          <p:cNvPr id="20" name="TextBox 31">
            <a:extLst>
              <a:ext uri="{FF2B5EF4-FFF2-40B4-BE49-F238E27FC236}">
                <a16:creationId xmlns:a16="http://schemas.microsoft.com/office/drawing/2014/main" id="{343B3E64-0A79-02A6-B269-DA972C016A33}"/>
              </a:ext>
            </a:extLst>
          </p:cNvPr>
          <p:cNvSpPr txBox="1"/>
          <p:nvPr/>
        </p:nvSpPr>
        <p:spPr>
          <a:xfrm>
            <a:off x="2541729" y="3173805"/>
            <a:ext cx="2372268" cy="553998"/>
          </a:xfrm>
          <a:prstGeom prst="rect">
            <a:avLst/>
          </a:prstGeom>
          <a:noFill/>
        </p:spPr>
        <p:txBody>
          <a:bodyPr wrap="square" lIns="0" tIns="0" rIns="0" bIns="0" rtlCol="0">
            <a:spAutoFit/>
          </a:bodyPr>
          <a:lstStyle/>
          <a:p>
            <a:pPr algn="ctr"/>
            <a:r>
              <a:rPr lang="es-CO" b="1" dirty="0">
                <a:solidFill>
                  <a:srgbClr val="340040"/>
                </a:solidFill>
                <a:latin typeface="Libre Franklin" pitchFamily="2" charset="0"/>
                <a:ea typeface="Calibri" panose="020F0502020204030204" pitchFamily="34" charset="0"/>
                <a:cs typeface="Arial" panose="020B0604020202020204" pitchFamily="34" charset="0"/>
              </a:rPr>
              <a:t>Registrar la Oferta horaria de los cursos</a:t>
            </a:r>
            <a:endParaRPr lang="es-CO" b="1" noProof="0" dirty="0"/>
          </a:p>
        </p:txBody>
      </p:sp>
      <p:cxnSp>
        <p:nvCxnSpPr>
          <p:cNvPr id="2" name="Straight Connector 1">
            <a:extLst>
              <a:ext uri="{FF2B5EF4-FFF2-40B4-BE49-F238E27FC236}">
                <a16:creationId xmlns:a16="http://schemas.microsoft.com/office/drawing/2014/main" id="{8543D618-E016-2650-C034-588B4AFA7871}"/>
              </a:ext>
            </a:extLst>
          </p:cNvPr>
          <p:cNvCxnSpPr>
            <a:cxnSpLocks/>
          </p:cNvCxnSpPr>
          <p:nvPr/>
        </p:nvCxnSpPr>
        <p:spPr>
          <a:xfrm>
            <a:off x="6150380" y="3109431"/>
            <a:ext cx="1250643" cy="0"/>
          </a:xfrm>
          <a:prstGeom prst="line">
            <a:avLst/>
          </a:prstGeom>
          <a:ln>
            <a:solidFill>
              <a:schemeClr val="bg2"/>
            </a:solidFill>
            <a:tailEnd type="oval"/>
          </a:ln>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6BA238C0-1923-4C64-743E-3A4D8B9D2EE4}"/>
              </a:ext>
            </a:extLst>
          </p:cNvPr>
          <p:cNvCxnSpPr>
            <a:cxnSpLocks/>
          </p:cNvCxnSpPr>
          <p:nvPr/>
        </p:nvCxnSpPr>
        <p:spPr>
          <a:xfrm>
            <a:off x="5530019" y="1098031"/>
            <a:ext cx="1088801" cy="0"/>
          </a:xfrm>
          <a:prstGeom prst="line">
            <a:avLst/>
          </a:prstGeom>
          <a:ln>
            <a:tailEnd type="oval"/>
          </a:ln>
        </p:spPr>
        <p:style>
          <a:lnRef idx="2">
            <a:schemeClr val="accent1"/>
          </a:lnRef>
          <a:fillRef idx="0">
            <a:schemeClr val="accent1"/>
          </a:fillRef>
          <a:effectRef idx="1">
            <a:schemeClr val="accent1"/>
          </a:effectRef>
          <a:fontRef idx="minor">
            <a:schemeClr val="tx1"/>
          </a:fontRef>
        </p:style>
      </p:cxnSp>
      <p:cxnSp>
        <p:nvCxnSpPr>
          <p:cNvPr id="6" name="Straight Connector 3">
            <a:extLst>
              <a:ext uri="{FF2B5EF4-FFF2-40B4-BE49-F238E27FC236}">
                <a16:creationId xmlns:a16="http://schemas.microsoft.com/office/drawing/2014/main" id="{0AC403B7-07DF-9061-964B-6F657B2271F8}"/>
              </a:ext>
            </a:extLst>
          </p:cNvPr>
          <p:cNvCxnSpPr>
            <a:cxnSpLocks/>
          </p:cNvCxnSpPr>
          <p:nvPr/>
        </p:nvCxnSpPr>
        <p:spPr>
          <a:xfrm>
            <a:off x="5085187" y="5384567"/>
            <a:ext cx="1871004" cy="0"/>
          </a:xfrm>
          <a:prstGeom prst="line">
            <a:avLst/>
          </a:prstGeom>
          <a:ln>
            <a:solidFill>
              <a:schemeClr val="accent2"/>
            </a:solidFill>
            <a:tailEnd type="oval"/>
          </a:ln>
        </p:spPr>
        <p:style>
          <a:lnRef idx="2">
            <a:schemeClr val="accent1"/>
          </a:lnRef>
          <a:fillRef idx="0">
            <a:schemeClr val="accent1"/>
          </a:fillRef>
          <a:effectRef idx="1">
            <a:schemeClr val="accent1"/>
          </a:effectRef>
          <a:fontRef idx="minor">
            <a:schemeClr val="tx1"/>
          </a:fontRef>
        </p:style>
      </p:cxnSp>
      <p:sp>
        <p:nvSpPr>
          <p:cNvPr id="7" name="Freeform 5">
            <a:extLst>
              <a:ext uri="{FF2B5EF4-FFF2-40B4-BE49-F238E27FC236}">
                <a16:creationId xmlns:a16="http://schemas.microsoft.com/office/drawing/2014/main" id="{AB1536C6-6514-E198-D6FD-AC4E935F44E0}"/>
              </a:ext>
            </a:extLst>
          </p:cNvPr>
          <p:cNvSpPr/>
          <p:nvPr/>
        </p:nvSpPr>
        <p:spPr>
          <a:xfrm>
            <a:off x="5630415" y="2046025"/>
            <a:ext cx="1325776" cy="2763049"/>
          </a:xfrm>
          <a:custGeom>
            <a:avLst/>
            <a:gdLst>
              <a:gd name="connsiteX0" fmla="*/ 211776 w 1325776"/>
              <a:gd name="connsiteY0" fmla="*/ 1381525 h 2763049"/>
              <a:gd name="connsiteX1" fmla="*/ 0 w 1325776"/>
              <a:gd name="connsiteY1" fmla="*/ 2206380 h 2763049"/>
              <a:gd name="connsiteX2" fmla="*/ 964597 w 1325776"/>
              <a:gd name="connsiteY2" fmla="*/ 2763049 h 2763049"/>
              <a:gd name="connsiteX3" fmla="*/ 1325776 w 1325776"/>
              <a:gd name="connsiteY3" fmla="*/ 1381525 h 2763049"/>
              <a:gd name="connsiteX4" fmla="*/ 964597 w 1325776"/>
              <a:gd name="connsiteY4" fmla="*/ 0 h 2763049"/>
              <a:gd name="connsiteX5" fmla="*/ 0 w 1325776"/>
              <a:gd name="connsiteY5" fmla="*/ 556669 h 2763049"/>
              <a:gd name="connsiteX6" fmla="*/ 211776 w 1325776"/>
              <a:gd name="connsiteY6" fmla="*/ 1381525 h 2763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5776" h="2763049">
                <a:moveTo>
                  <a:pt x="211776" y="1381525"/>
                </a:moveTo>
                <a:cubicBezTo>
                  <a:pt x="211776" y="1680154"/>
                  <a:pt x="134898" y="1961388"/>
                  <a:pt x="0" y="2206380"/>
                </a:cubicBezTo>
                <a:lnTo>
                  <a:pt x="964597" y="2763049"/>
                </a:lnTo>
                <a:cubicBezTo>
                  <a:pt x="1193779" y="2354246"/>
                  <a:pt x="1325776" y="1883107"/>
                  <a:pt x="1325776" y="1381525"/>
                </a:cubicBezTo>
                <a:cubicBezTo>
                  <a:pt x="1325776" y="879943"/>
                  <a:pt x="1195229" y="408804"/>
                  <a:pt x="964597" y="0"/>
                </a:cubicBezTo>
                <a:lnTo>
                  <a:pt x="0" y="556669"/>
                </a:lnTo>
                <a:cubicBezTo>
                  <a:pt x="134898" y="801661"/>
                  <a:pt x="211776" y="1082895"/>
                  <a:pt x="211776" y="1381525"/>
                </a:cubicBezTo>
                <a:close/>
              </a:path>
            </a:pathLst>
          </a:custGeom>
          <a:solidFill>
            <a:schemeClr val="bg2"/>
          </a:solidFill>
          <a:ln w="14479" cap="flat">
            <a:noFill/>
            <a:prstDash val="solid"/>
            <a:miter/>
          </a:ln>
        </p:spPr>
        <p:txBody>
          <a:bodyPr rtlCol="0" anchor="ctr"/>
          <a:lstStyle/>
          <a:p>
            <a:endParaRPr lang="en-US"/>
          </a:p>
        </p:txBody>
      </p:sp>
      <p:sp>
        <p:nvSpPr>
          <p:cNvPr id="22" name="Freeform 6">
            <a:extLst>
              <a:ext uri="{FF2B5EF4-FFF2-40B4-BE49-F238E27FC236}">
                <a16:creationId xmlns:a16="http://schemas.microsoft.com/office/drawing/2014/main" id="{9E4B5ADD-91F9-AB63-9895-C51BF0C68C8C}"/>
              </a:ext>
            </a:extLst>
          </p:cNvPr>
          <p:cNvSpPr/>
          <p:nvPr/>
        </p:nvSpPr>
        <p:spPr>
          <a:xfrm>
            <a:off x="4163938" y="4294649"/>
            <a:ext cx="2394810" cy="1938193"/>
          </a:xfrm>
          <a:custGeom>
            <a:avLst/>
            <a:gdLst>
              <a:gd name="connsiteX0" fmla="*/ 1430214 w 2394810"/>
              <a:gd name="connsiteY0" fmla="*/ 1450 h 1938193"/>
              <a:gd name="connsiteX1" fmla="*/ 0 w 2394810"/>
              <a:gd name="connsiteY1" fmla="*/ 826305 h 1938193"/>
              <a:gd name="connsiteX2" fmla="*/ 0 w 2394810"/>
              <a:gd name="connsiteY2" fmla="*/ 1938193 h 1938193"/>
              <a:gd name="connsiteX3" fmla="*/ 2394810 w 2394810"/>
              <a:gd name="connsiteY3" fmla="*/ 556669 h 1938193"/>
              <a:gd name="connsiteX4" fmla="*/ 1430214 w 2394810"/>
              <a:gd name="connsiteY4" fmla="*/ 0 h 1938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4810" h="1938193">
                <a:moveTo>
                  <a:pt x="1430214" y="1450"/>
                </a:moveTo>
                <a:cubicBezTo>
                  <a:pt x="1135758" y="487085"/>
                  <a:pt x="606318" y="813259"/>
                  <a:pt x="0" y="826305"/>
                </a:cubicBezTo>
                <a:lnTo>
                  <a:pt x="0" y="1938193"/>
                </a:lnTo>
                <a:cubicBezTo>
                  <a:pt x="1018266" y="1925146"/>
                  <a:pt x="1907435" y="1374276"/>
                  <a:pt x="2394810" y="556669"/>
                </a:cubicBezTo>
                <a:lnTo>
                  <a:pt x="1430214" y="0"/>
                </a:lnTo>
                <a:close/>
              </a:path>
            </a:pathLst>
          </a:custGeom>
          <a:solidFill>
            <a:schemeClr val="accent2"/>
          </a:solidFill>
          <a:ln w="14479" cap="flat">
            <a:noFill/>
            <a:prstDash val="solid"/>
            <a:miter/>
          </a:ln>
        </p:spPr>
        <p:txBody>
          <a:bodyPr rtlCol="0" anchor="ctr"/>
          <a:lstStyle/>
          <a:p>
            <a:endParaRPr lang="en-US"/>
          </a:p>
        </p:txBody>
      </p:sp>
      <p:sp>
        <p:nvSpPr>
          <p:cNvPr id="23" name="Freeform 7">
            <a:extLst>
              <a:ext uri="{FF2B5EF4-FFF2-40B4-BE49-F238E27FC236}">
                <a16:creationId xmlns:a16="http://schemas.microsoft.com/office/drawing/2014/main" id="{031110ED-AD28-44B8-00C2-EEF18DED8C94}"/>
              </a:ext>
            </a:extLst>
          </p:cNvPr>
          <p:cNvSpPr/>
          <p:nvPr/>
        </p:nvSpPr>
        <p:spPr>
          <a:xfrm>
            <a:off x="4163938" y="602165"/>
            <a:ext cx="2394810" cy="1936743"/>
          </a:xfrm>
          <a:custGeom>
            <a:avLst/>
            <a:gdLst>
              <a:gd name="connsiteX0" fmla="*/ 0 w 2394810"/>
              <a:gd name="connsiteY0" fmla="*/ 1111888 h 1936743"/>
              <a:gd name="connsiteX1" fmla="*/ 1430214 w 2394810"/>
              <a:gd name="connsiteY1" fmla="*/ 1936744 h 1936743"/>
              <a:gd name="connsiteX2" fmla="*/ 2394810 w 2394810"/>
              <a:gd name="connsiteY2" fmla="*/ 1380075 h 1936743"/>
              <a:gd name="connsiteX3" fmla="*/ 0 w 2394810"/>
              <a:gd name="connsiteY3" fmla="*/ 0 h 1936743"/>
              <a:gd name="connsiteX4" fmla="*/ 0 w 2394810"/>
              <a:gd name="connsiteY4" fmla="*/ 1111888 h 1936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4810" h="1936743">
                <a:moveTo>
                  <a:pt x="0" y="1111888"/>
                </a:moveTo>
                <a:cubicBezTo>
                  <a:pt x="606318" y="1124935"/>
                  <a:pt x="1135758" y="1451108"/>
                  <a:pt x="1430214" y="1936744"/>
                </a:cubicBezTo>
                <a:lnTo>
                  <a:pt x="2394810" y="1380075"/>
                </a:lnTo>
                <a:cubicBezTo>
                  <a:pt x="1907435" y="563917"/>
                  <a:pt x="1018266" y="13047"/>
                  <a:pt x="0" y="0"/>
                </a:cubicBezTo>
                <a:lnTo>
                  <a:pt x="0" y="1111888"/>
                </a:lnTo>
                <a:close/>
              </a:path>
            </a:pathLst>
          </a:custGeom>
          <a:solidFill>
            <a:schemeClr val="accent1"/>
          </a:solidFill>
          <a:ln w="14479" cap="flat">
            <a:noFill/>
            <a:prstDash val="solid"/>
            <a:miter/>
          </a:ln>
        </p:spPr>
        <p:txBody>
          <a:bodyPr rtlCol="0" anchor="ctr"/>
          <a:lstStyle/>
          <a:p>
            <a:endParaRPr lang="en-US"/>
          </a:p>
        </p:txBody>
      </p:sp>
      <p:pic>
        <p:nvPicPr>
          <p:cNvPr id="33" name="Graphic 14">
            <a:extLst>
              <a:ext uri="{FF2B5EF4-FFF2-40B4-BE49-F238E27FC236}">
                <a16:creationId xmlns:a16="http://schemas.microsoft.com/office/drawing/2014/main" id="{B14D447D-CB04-C824-C344-8B0B4CEEFF4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999865" y="1207096"/>
            <a:ext cx="490025" cy="490025"/>
          </a:xfrm>
          <a:prstGeom prst="rect">
            <a:avLst/>
          </a:prstGeom>
        </p:spPr>
      </p:pic>
      <p:pic>
        <p:nvPicPr>
          <p:cNvPr id="34" name="Graphic 15">
            <a:extLst>
              <a:ext uri="{FF2B5EF4-FFF2-40B4-BE49-F238E27FC236}">
                <a16:creationId xmlns:a16="http://schemas.microsoft.com/office/drawing/2014/main" id="{F6555E41-93D0-0D92-B37B-84A8881989D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128795" y="3182537"/>
            <a:ext cx="490025" cy="490025"/>
          </a:xfrm>
          <a:prstGeom prst="rect">
            <a:avLst/>
          </a:prstGeom>
        </p:spPr>
      </p:pic>
      <p:pic>
        <p:nvPicPr>
          <p:cNvPr id="35" name="Graphic 16">
            <a:extLst>
              <a:ext uri="{FF2B5EF4-FFF2-40B4-BE49-F238E27FC236}">
                <a16:creationId xmlns:a16="http://schemas.microsoft.com/office/drawing/2014/main" id="{FACC3916-B3EC-29F8-6A6D-C6E7E419EB86}"/>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999865" y="5139555"/>
            <a:ext cx="490025" cy="490025"/>
          </a:xfrm>
          <a:prstGeom prst="rect">
            <a:avLst/>
          </a:prstGeom>
        </p:spPr>
      </p:pic>
      <p:grpSp>
        <p:nvGrpSpPr>
          <p:cNvPr id="37" name="Group 36">
            <a:extLst>
              <a:ext uri="{FF2B5EF4-FFF2-40B4-BE49-F238E27FC236}">
                <a16:creationId xmlns:a16="http://schemas.microsoft.com/office/drawing/2014/main" id="{664C5CE3-C7D1-5B50-22D4-AE7A7FCEF784}"/>
              </a:ext>
            </a:extLst>
          </p:cNvPr>
          <p:cNvGrpSpPr/>
          <p:nvPr/>
        </p:nvGrpSpPr>
        <p:grpSpPr>
          <a:xfrm>
            <a:off x="7094422" y="880116"/>
            <a:ext cx="4578143" cy="1024127"/>
            <a:chOff x="7622707" y="627459"/>
            <a:chExt cx="3831815" cy="1024127"/>
          </a:xfrm>
        </p:grpSpPr>
        <p:sp>
          <p:nvSpPr>
            <p:cNvPr id="38" name="TextBox 37">
              <a:extLst>
                <a:ext uri="{FF2B5EF4-FFF2-40B4-BE49-F238E27FC236}">
                  <a16:creationId xmlns:a16="http://schemas.microsoft.com/office/drawing/2014/main" id="{5A675ED0-2FEB-414D-F8CC-DCDA8750CD29}"/>
                </a:ext>
              </a:extLst>
            </p:cNvPr>
            <p:cNvSpPr txBox="1"/>
            <p:nvPr/>
          </p:nvSpPr>
          <p:spPr>
            <a:xfrm>
              <a:off x="7622707" y="627459"/>
              <a:ext cx="3758465" cy="246221"/>
            </a:xfrm>
            <a:prstGeom prst="rect">
              <a:avLst/>
            </a:prstGeom>
            <a:noFill/>
          </p:spPr>
          <p:txBody>
            <a:bodyPr wrap="square" lIns="0" tIns="0" rIns="0" bIns="0" rtlCol="0">
              <a:spAutoFit/>
            </a:bodyPr>
            <a:lstStyle/>
            <a:p>
              <a:r>
                <a:rPr lang="es-CO" sz="1600" b="1" noProof="0" dirty="0"/>
                <a:t>Periodo académico</a:t>
              </a:r>
            </a:p>
          </p:txBody>
        </p:sp>
        <p:sp>
          <p:nvSpPr>
            <p:cNvPr id="39" name="TextBox 38">
              <a:extLst>
                <a:ext uri="{FF2B5EF4-FFF2-40B4-BE49-F238E27FC236}">
                  <a16:creationId xmlns:a16="http://schemas.microsoft.com/office/drawing/2014/main" id="{64CD1C56-9A5E-5CDE-D581-04A963C39748}"/>
                </a:ext>
              </a:extLst>
            </p:cNvPr>
            <p:cNvSpPr txBox="1"/>
            <p:nvPr/>
          </p:nvSpPr>
          <p:spPr>
            <a:xfrm>
              <a:off x="7696057" y="912922"/>
              <a:ext cx="3758465" cy="738664"/>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Corresponde a un lapso durante el cual la institución realiza diferentes actividades académicas, como admisión, inscripción de cursos (matrícula), ingreso de calificaciones, ingreso de asistencia, procesos de graduación y procesos financieros.</a:t>
              </a:r>
            </a:p>
          </p:txBody>
        </p:sp>
      </p:grpSp>
      <p:grpSp>
        <p:nvGrpSpPr>
          <p:cNvPr id="45" name="Group 45">
            <a:extLst>
              <a:ext uri="{FF2B5EF4-FFF2-40B4-BE49-F238E27FC236}">
                <a16:creationId xmlns:a16="http://schemas.microsoft.com/office/drawing/2014/main" id="{891BD4DC-1AAD-9B88-C9B8-D7B5D738482C}"/>
              </a:ext>
            </a:extLst>
          </p:cNvPr>
          <p:cNvGrpSpPr/>
          <p:nvPr/>
        </p:nvGrpSpPr>
        <p:grpSpPr>
          <a:xfrm>
            <a:off x="7517634" y="2816619"/>
            <a:ext cx="4067295" cy="911184"/>
            <a:chOff x="7534866" y="500245"/>
            <a:chExt cx="3846306" cy="911184"/>
          </a:xfrm>
        </p:grpSpPr>
        <p:sp>
          <p:nvSpPr>
            <p:cNvPr id="46" name="TextBox 46">
              <a:extLst>
                <a:ext uri="{FF2B5EF4-FFF2-40B4-BE49-F238E27FC236}">
                  <a16:creationId xmlns:a16="http://schemas.microsoft.com/office/drawing/2014/main" id="{A138E930-B441-E002-B4E4-EA3022548872}"/>
                </a:ext>
              </a:extLst>
            </p:cNvPr>
            <p:cNvSpPr txBox="1"/>
            <p:nvPr/>
          </p:nvSpPr>
          <p:spPr>
            <a:xfrm>
              <a:off x="7534866" y="500245"/>
              <a:ext cx="3758465" cy="246221"/>
            </a:xfrm>
            <a:prstGeom prst="rect">
              <a:avLst/>
            </a:prstGeom>
            <a:noFill/>
          </p:spPr>
          <p:txBody>
            <a:bodyPr wrap="square" lIns="0" tIns="0" rIns="0" bIns="0" rtlCol="0">
              <a:spAutoFit/>
            </a:bodyPr>
            <a:lstStyle/>
            <a:p>
              <a:r>
                <a:rPr lang="es-CO" sz="1600" b="1" dirty="0"/>
                <a:t>Parte de periodo</a:t>
              </a:r>
              <a:endParaRPr lang="es-CO" sz="1600" b="1" noProof="0" dirty="0"/>
            </a:p>
          </p:txBody>
        </p:sp>
        <p:sp>
          <p:nvSpPr>
            <p:cNvPr id="50" name="TextBox 47">
              <a:extLst>
                <a:ext uri="{FF2B5EF4-FFF2-40B4-BE49-F238E27FC236}">
                  <a16:creationId xmlns:a16="http://schemas.microsoft.com/office/drawing/2014/main" id="{5A3A90E2-E244-9104-02E9-60EDD501528C}"/>
                </a:ext>
              </a:extLst>
            </p:cNvPr>
            <p:cNvSpPr txBox="1"/>
            <p:nvPr/>
          </p:nvSpPr>
          <p:spPr>
            <a:xfrm>
              <a:off x="7622707" y="857431"/>
              <a:ext cx="3758465" cy="553998"/>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Permite definir rangos de fechas específicos para grupos de cursos dentro del mismo periodo. Cada parte de periodo va a tener sus propias fecha de inicio de clase y fin de clases, adición y retiro de cursos, ingreso de calificaciones</a:t>
              </a:r>
            </a:p>
          </p:txBody>
        </p:sp>
      </p:grpSp>
      <p:grpSp>
        <p:nvGrpSpPr>
          <p:cNvPr id="51" name="Group 45">
            <a:extLst>
              <a:ext uri="{FF2B5EF4-FFF2-40B4-BE49-F238E27FC236}">
                <a16:creationId xmlns:a16="http://schemas.microsoft.com/office/drawing/2014/main" id="{9B61AD27-BBBE-F844-CC5E-7DE31FE5F6C4}"/>
              </a:ext>
            </a:extLst>
          </p:cNvPr>
          <p:cNvGrpSpPr/>
          <p:nvPr/>
        </p:nvGrpSpPr>
        <p:grpSpPr>
          <a:xfrm>
            <a:off x="7182058" y="4828245"/>
            <a:ext cx="4067295" cy="1280516"/>
            <a:chOff x="7534866" y="500245"/>
            <a:chExt cx="3846306" cy="1280516"/>
          </a:xfrm>
        </p:grpSpPr>
        <p:sp>
          <p:nvSpPr>
            <p:cNvPr id="52" name="TextBox 46">
              <a:extLst>
                <a:ext uri="{FF2B5EF4-FFF2-40B4-BE49-F238E27FC236}">
                  <a16:creationId xmlns:a16="http://schemas.microsoft.com/office/drawing/2014/main" id="{EAF159F0-639B-FE5D-158F-297DE8AE76B5}"/>
                </a:ext>
              </a:extLst>
            </p:cNvPr>
            <p:cNvSpPr txBox="1"/>
            <p:nvPr/>
          </p:nvSpPr>
          <p:spPr>
            <a:xfrm>
              <a:off x="7534866" y="500245"/>
              <a:ext cx="3758465" cy="246221"/>
            </a:xfrm>
            <a:prstGeom prst="rect">
              <a:avLst/>
            </a:prstGeom>
            <a:noFill/>
          </p:spPr>
          <p:txBody>
            <a:bodyPr wrap="square" lIns="0" tIns="0" rIns="0" bIns="0" rtlCol="0">
              <a:spAutoFit/>
            </a:bodyPr>
            <a:lstStyle/>
            <a:p>
              <a:r>
                <a:rPr lang="es-CO" sz="1600" b="1" dirty="0"/>
                <a:t>Sección o NRC</a:t>
              </a:r>
              <a:endParaRPr lang="es-CO" sz="1600" b="1" noProof="0" dirty="0"/>
            </a:p>
          </p:txBody>
        </p:sp>
        <p:sp>
          <p:nvSpPr>
            <p:cNvPr id="54" name="TextBox 47">
              <a:extLst>
                <a:ext uri="{FF2B5EF4-FFF2-40B4-BE49-F238E27FC236}">
                  <a16:creationId xmlns:a16="http://schemas.microsoft.com/office/drawing/2014/main" id="{EFBC0259-F57D-41B8-E740-F07840DD184B}"/>
                </a:ext>
              </a:extLst>
            </p:cNvPr>
            <p:cNvSpPr txBox="1"/>
            <p:nvPr/>
          </p:nvSpPr>
          <p:spPr>
            <a:xfrm>
              <a:off x="7622707" y="857431"/>
              <a:ext cx="3758465" cy="923330"/>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Una sección es la impartición de un curso en un periodo académico, en un determinado horario, por uno o más profesores. En Banner, a menudo se refiere a una sección como “un NRC” ya que cada sección tiene un Número de Referencia de Curso único en el periodo académico..</a:t>
              </a:r>
            </a:p>
          </p:txBody>
        </p:sp>
      </p:grpSp>
    </p:spTree>
    <p:extLst>
      <p:ext uri="{BB962C8B-B14F-4D97-AF65-F5344CB8AC3E}">
        <p14:creationId xmlns:p14="http://schemas.microsoft.com/office/powerpoint/2010/main" val="3339961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387A9-ABFA-F334-7783-4AC50502420B}"/>
            </a:ext>
          </a:extLst>
        </p:cNvPr>
        <p:cNvGrpSpPr/>
        <p:nvPr/>
      </p:nvGrpSpPr>
      <p:grpSpPr>
        <a:xfrm>
          <a:off x="0" y="0"/>
          <a:ext cx="0" cy="0"/>
          <a:chOff x="0" y="0"/>
          <a:chExt cx="0" cy="0"/>
        </a:xfrm>
      </p:grpSpPr>
      <p:sp>
        <p:nvSpPr>
          <p:cNvPr id="4" name="TextBox 14">
            <a:extLst>
              <a:ext uri="{FF2B5EF4-FFF2-40B4-BE49-F238E27FC236}">
                <a16:creationId xmlns:a16="http://schemas.microsoft.com/office/drawing/2014/main" id="{0E5154A3-739A-9879-E51A-71DF2DB789F0}"/>
              </a:ext>
            </a:extLst>
          </p:cNvPr>
          <p:cNvSpPr txBox="1"/>
          <p:nvPr/>
        </p:nvSpPr>
        <p:spPr>
          <a:xfrm>
            <a:off x="363048" y="3331592"/>
            <a:ext cx="2309075" cy="332399"/>
          </a:xfrm>
          <a:prstGeom prst="rect">
            <a:avLst/>
          </a:prstGeom>
          <a:noFill/>
        </p:spPr>
        <p:txBody>
          <a:bodyPr wrap="square" lIns="0" tIns="0" rIns="0" bIns="0" rtlCol="0">
            <a:spAutoFit/>
          </a:bodyPr>
          <a:lstStyle/>
          <a:p>
            <a:pPr algn="l">
              <a:lnSpc>
                <a:spcPct val="90000"/>
              </a:lnSpc>
            </a:pPr>
            <a:r>
              <a:rPr lang="es-CO" sz="2400" b="1" noProof="0" dirty="0"/>
              <a:t>Definiciones</a:t>
            </a:r>
          </a:p>
        </p:txBody>
      </p:sp>
      <p:sp>
        <p:nvSpPr>
          <p:cNvPr id="17" name="Freeform 13">
            <a:extLst>
              <a:ext uri="{FF2B5EF4-FFF2-40B4-BE49-F238E27FC236}">
                <a16:creationId xmlns:a16="http://schemas.microsoft.com/office/drawing/2014/main" id="{DAAE0B3D-9E88-AED3-4C09-1C2F77FEC2DB}"/>
              </a:ext>
            </a:extLst>
          </p:cNvPr>
          <p:cNvSpPr/>
          <p:nvPr/>
        </p:nvSpPr>
        <p:spPr>
          <a:xfrm>
            <a:off x="2149118" y="1914861"/>
            <a:ext cx="3159234" cy="3157356"/>
          </a:xfrm>
          <a:custGeom>
            <a:avLst/>
            <a:gdLst>
              <a:gd name="connsiteX0" fmla="*/ 3159235 w 3159234"/>
              <a:gd name="connsiteY0" fmla="*/ 1578678 h 3157356"/>
              <a:gd name="connsiteX1" fmla="*/ 1579617 w 3159234"/>
              <a:gd name="connsiteY1" fmla="*/ 3157356 h 3157356"/>
              <a:gd name="connsiteX2" fmla="*/ 0 w 3159234"/>
              <a:gd name="connsiteY2" fmla="*/ 1578678 h 3157356"/>
              <a:gd name="connsiteX3" fmla="*/ 1579617 w 3159234"/>
              <a:gd name="connsiteY3" fmla="*/ 0 h 3157356"/>
              <a:gd name="connsiteX4" fmla="*/ 3159235 w 3159234"/>
              <a:gd name="connsiteY4" fmla="*/ 1578678 h 3157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59234" h="3157356">
                <a:moveTo>
                  <a:pt x="3159235" y="1578678"/>
                </a:moveTo>
                <a:cubicBezTo>
                  <a:pt x="3159235" y="2450558"/>
                  <a:pt x="2452016" y="3157356"/>
                  <a:pt x="1579617" y="3157356"/>
                </a:cubicBezTo>
                <a:cubicBezTo>
                  <a:pt x="707219" y="3157356"/>
                  <a:pt x="0" y="2450558"/>
                  <a:pt x="0" y="1578678"/>
                </a:cubicBezTo>
                <a:cubicBezTo>
                  <a:pt x="0" y="706798"/>
                  <a:pt x="707219" y="0"/>
                  <a:pt x="1579617" y="0"/>
                </a:cubicBezTo>
                <a:cubicBezTo>
                  <a:pt x="2452016" y="0"/>
                  <a:pt x="3159235" y="706798"/>
                  <a:pt x="3159235" y="1578678"/>
                </a:cubicBezTo>
                <a:close/>
              </a:path>
            </a:pathLst>
          </a:custGeom>
          <a:solidFill>
            <a:schemeClr val="bg1"/>
          </a:solidFill>
          <a:ln w="14479" cap="flat">
            <a:noFill/>
            <a:prstDash val="solid"/>
            <a:miter/>
          </a:ln>
          <a:effectLst>
            <a:outerShdw blurRad="254000" dist="127000" dir="2700000" algn="tl" rotWithShape="0">
              <a:prstClr val="black">
                <a:alpha val="30000"/>
              </a:prstClr>
            </a:outerShdw>
          </a:effectLst>
        </p:spPr>
        <p:txBody>
          <a:bodyPr rtlCol="0" anchor="ctr"/>
          <a:lstStyle/>
          <a:p>
            <a:endParaRPr lang="es-CO" noProof="0" dirty="0"/>
          </a:p>
        </p:txBody>
      </p:sp>
      <p:sp>
        <p:nvSpPr>
          <p:cNvPr id="20" name="TextBox 31">
            <a:extLst>
              <a:ext uri="{FF2B5EF4-FFF2-40B4-BE49-F238E27FC236}">
                <a16:creationId xmlns:a16="http://schemas.microsoft.com/office/drawing/2014/main" id="{BF62C19D-7453-8CCA-42C8-D2B8525ADFFA}"/>
              </a:ext>
            </a:extLst>
          </p:cNvPr>
          <p:cNvSpPr txBox="1"/>
          <p:nvPr/>
        </p:nvSpPr>
        <p:spPr>
          <a:xfrm>
            <a:off x="2541729" y="3173805"/>
            <a:ext cx="2372268" cy="553998"/>
          </a:xfrm>
          <a:prstGeom prst="rect">
            <a:avLst/>
          </a:prstGeom>
          <a:noFill/>
        </p:spPr>
        <p:txBody>
          <a:bodyPr wrap="square" lIns="0" tIns="0" rIns="0" bIns="0" rtlCol="0">
            <a:spAutoFit/>
          </a:bodyPr>
          <a:lstStyle/>
          <a:p>
            <a:pPr algn="ctr"/>
            <a:r>
              <a:rPr lang="es-CO" b="1" dirty="0">
                <a:solidFill>
                  <a:srgbClr val="340040"/>
                </a:solidFill>
                <a:latin typeface="Libre Franklin" pitchFamily="2" charset="0"/>
                <a:ea typeface="Calibri" panose="020F0502020204030204" pitchFamily="34" charset="0"/>
                <a:cs typeface="Arial" panose="020B0604020202020204" pitchFamily="34" charset="0"/>
              </a:rPr>
              <a:t>Registrar la Oferta horaria de los cursos</a:t>
            </a:r>
            <a:endParaRPr lang="es-CO" b="1" noProof="0" dirty="0"/>
          </a:p>
        </p:txBody>
      </p:sp>
      <p:cxnSp>
        <p:nvCxnSpPr>
          <p:cNvPr id="2" name="Straight Connector 1">
            <a:extLst>
              <a:ext uri="{FF2B5EF4-FFF2-40B4-BE49-F238E27FC236}">
                <a16:creationId xmlns:a16="http://schemas.microsoft.com/office/drawing/2014/main" id="{922CC63D-AEE3-EA17-519D-58063EB27DDE}"/>
              </a:ext>
            </a:extLst>
          </p:cNvPr>
          <p:cNvCxnSpPr>
            <a:cxnSpLocks/>
          </p:cNvCxnSpPr>
          <p:nvPr/>
        </p:nvCxnSpPr>
        <p:spPr>
          <a:xfrm>
            <a:off x="6150380" y="3109431"/>
            <a:ext cx="1250643" cy="0"/>
          </a:xfrm>
          <a:prstGeom prst="line">
            <a:avLst/>
          </a:prstGeom>
          <a:ln>
            <a:solidFill>
              <a:schemeClr val="bg2"/>
            </a:solidFill>
            <a:tailEnd type="oval"/>
          </a:ln>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30C52054-0A1A-27EF-B91F-A004EEA42685}"/>
              </a:ext>
            </a:extLst>
          </p:cNvPr>
          <p:cNvCxnSpPr>
            <a:cxnSpLocks/>
          </p:cNvCxnSpPr>
          <p:nvPr/>
        </p:nvCxnSpPr>
        <p:spPr>
          <a:xfrm>
            <a:off x="5530019" y="1098031"/>
            <a:ext cx="1088801" cy="0"/>
          </a:xfrm>
          <a:prstGeom prst="line">
            <a:avLst/>
          </a:prstGeom>
          <a:ln>
            <a:tailEnd type="oval"/>
          </a:ln>
        </p:spPr>
        <p:style>
          <a:lnRef idx="2">
            <a:schemeClr val="accent1"/>
          </a:lnRef>
          <a:fillRef idx="0">
            <a:schemeClr val="accent1"/>
          </a:fillRef>
          <a:effectRef idx="1">
            <a:schemeClr val="accent1"/>
          </a:effectRef>
          <a:fontRef idx="minor">
            <a:schemeClr val="tx1"/>
          </a:fontRef>
        </p:style>
      </p:cxnSp>
      <p:sp>
        <p:nvSpPr>
          <p:cNvPr id="7" name="Freeform 5">
            <a:extLst>
              <a:ext uri="{FF2B5EF4-FFF2-40B4-BE49-F238E27FC236}">
                <a16:creationId xmlns:a16="http://schemas.microsoft.com/office/drawing/2014/main" id="{D6E697C1-31E0-27BA-836C-6C70C6EC3367}"/>
              </a:ext>
            </a:extLst>
          </p:cNvPr>
          <p:cNvSpPr/>
          <p:nvPr/>
        </p:nvSpPr>
        <p:spPr>
          <a:xfrm>
            <a:off x="5630415" y="2046025"/>
            <a:ext cx="1325776" cy="2763049"/>
          </a:xfrm>
          <a:custGeom>
            <a:avLst/>
            <a:gdLst>
              <a:gd name="connsiteX0" fmla="*/ 211776 w 1325776"/>
              <a:gd name="connsiteY0" fmla="*/ 1381525 h 2763049"/>
              <a:gd name="connsiteX1" fmla="*/ 0 w 1325776"/>
              <a:gd name="connsiteY1" fmla="*/ 2206380 h 2763049"/>
              <a:gd name="connsiteX2" fmla="*/ 964597 w 1325776"/>
              <a:gd name="connsiteY2" fmla="*/ 2763049 h 2763049"/>
              <a:gd name="connsiteX3" fmla="*/ 1325776 w 1325776"/>
              <a:gd name="connsiteY3" fmla="*/ 1381525 h 2763049"/>
              <a:gd name="connsiteX4" fmla="*/ 964597 w 1325776"/>
              <a:gd name="connsiteY4" fmla="*/ 0 h 2763049"/>
              <a:gd name="connsiteX5" fmla="*/ 0 w 1325776"/>
              <a:gd name="connsiteY5" fmla="*/ 556669 h 2763049"/>
              <a:gd name="connsiteX6" fmla="*/ 211776 w 1325776"/>
              <a:gd name="connsiteY6" fmla="*/ 1381525 h 2763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5776" h="2763049">
                <a:moveTo>
                  <a:pt x="211776" y="1381525"/>
                </a:moveTo>
                <a:cubicBezTo>
                  <a:pt x="211776" y="1680154"/>
                  <a:pt x="134898" y="1961388"/>
                  <a:pt x="0" y="2206380"/>
                </a:cubicBezTo>
                <a:lnTo>
                  <a:pt x="964597" y="2763049"/>
                </a:lnTo>
                <a:cubicBezTo>
                  <a:pt x="1193779" y="2354246"/>
                  <a:pt x="1325776" y="1883107"/>
                  <a:pt x="1325776" y="1381525"/>
                </a:cubicBezTo>
                <a:cubicBezTo>
                  <a:pt x="1325776" y="879943"/>
                  <a:pt x="1195229" y="408804"/>
                  <a:pt x="964597" y="0"/>
                </a:cubicBezTo>
                <a:lnTo>
                  <a:pt x="0" y="556669"/>
                </a:lnTo>
                <a:cubicBezTo>
                  <a:pt x="134898" y="801661"/>
                  <a:pt x="211776" y="1082895"/>
                  <a:pt x="211776" y="1381525"/>
                </a:cubicBezTo>
                <a:close/>
              </a:path>
            </a:pathLst>
          </a:custGeom>
          <a:solidFill>
            <a:schemeClr val="bg2"/>
          </a:solidFill>
          <a:ln w="14479" cap="flat">
            <a:noFill/>
            <a:prstDash val="solid"/>
            <a:miter/>
          </a:ln>
        </p:spPr>
        <p:txBody>
          <a:bodyPr rtlCol="0" anchor="ctr"/>
          <a:lstStyle/>
          <a:p>
            <a:endParaRPr lang="en-US"/>
          </a:p>
        </p:txBody>
      </p:sp>
      <p:sp>
        <p:nvSpPr>
          <p:cNvPr id="22" name="Freeform 6">
            <a:extLst>
              <a:ext uri="{FF2B5EF4-FFF2-40B4-BE49-F238E27FC236}">
                <a16:creationId xmlns:a16="http://schemas.microsoft.com/office/drawing/2014/main" id="{E3876B1A-3554-A2AC-DB44-1DD74C9BA7B4}"/>
              </a:ext>
            </a:extLst>
          </p:cNvPr>
          <p:cNvSpPr/>
          <p:nvPr/>
        </p:nvSpPr>
        <p:spPr>
          <a:xfrm>
            <a:off x="4163938" y="4294649"/>
            <a:ext cx="2394810" cy="1938193"/>
          </a:xfrm>
          <a:custGeom>
            <a:avLst/>
            <a:gdLst>
              <a:gd name="connsiteX0" fmla="*/ 1430214 w 2394810"/>
              <a:gd name="connsiteY0" fmla="*/ 1450 h 1938193"/>
              <a:gd name="connsiteX1" fmla="*/ 0 w 2394810"/>
              <a:gd name="connsiteY1" fmla="*/ 826305 h 1938193"/>
              <a:gd name="connsiteX2" fmla="*/ 0 w 2394810"/>
              <a:gd name="connsiteY2" fmla="*/ 1938193 h 1938193"/>
              <a:gd name="connsiteX3" fmla="*/ 2394810 w 2394810"/>
              <a:gd name="connsiteY3" fmla="*/ 556669 h 1938193"/>
              <a:gd name="connsiteX4" fmla="*/ 1430214 w 2394810"/>
              <a:gd name="connsiteY4" fmla="*/ 0 h 1938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4810" h="1938193">
                <a:moveTo>
                  <a:pt x="1430214" y="1450"/>
                </a:moveTo>
                <a:cubicBezTo>
                  <a:pt x="1135758" y="487085"/>
                  <a:pt x="606318" y="813259"/>
                  <a:pt x="0" y="826305"/>
                </a:cubicBezTo>
                <a:lnTo>
                  <a:pt x="0" y="1938193"/>
                </a:lnTo>
                <a:cubicBezTo>
                  <a:pt x="1018266" y="1925146"/>
                  <a:pt x="1907435" y="1374276"/>
                  <a:pt x="2394810" y="556669"/>
                </a:cubicBezTo>
                <a:lnTo>
                  <a:pt x="1430214" y="0"/>
                </a:lnTo>
                <a:close/>
              </a:path>
            </a:pathLst>
          </a:custGeom>
          <a:solidFill>
            <a:schemeClr val="accent2"/>
          </a:solidFill>
          <a:ln w="14479" cap="flat">
            <a:noFill/>
            <a:prstDash val="solid"/>
            <a:miter/>
          </a:ln>
        </p:spPr>
        <p:txBody>
          <a:bodyPr rtlCol="0" anchor="ctr"/>
          <a:lstStyle/>
          <a:p>
            <a:endParaRPr lang="en-US"/>
          </a:p>
        </p:txBody>
      </p:sp>
      <p:sp>
        <p:nvSpPr>
          <p:cNvPr id="23" name="Freeform 7">
            <a:extLst>
              <a:ext uri="{FF2B5EF4-FFF2-40B4-BE49-F238E27FC236}">
                <a16:creationId xmlns:a16="http://schemas.microsoft.com/office/drawing/2014/main" id="{614F2ACA-7FF9-4AA4-6944-01718775143F}"/>
              </a:ext>
            </a:extLst>
          </p:cNvPr>
          <p:cNvSpPr/>
          <p:nvPr/>
        </p:nvSpPr>
        <p:spPr>
          <a:xfrm>
            <a:off x="4163938" y="602165"/>
            <a:ext cx="2394810" cy="1936743"/>
          </a:xfrm>
          <a:custGeom>
            <a:avLst/>
            <a:gdLst>
              <a:gd name="connsiteX0" fmla="*/ 0 w 2394810"/>
              <a:gd name="connsiteY0" fmla="*/ 1111888 h 1936743"/>
              <a:gd name="connsiteX1" fmla="*/ 1430214 w 2394810"/>
              <a:gd name="connsiteY1" fmla="*/ 1936744 h 1936743"/>
              <a:gd name="connsiteX2" fmla="*/ 2394810 w 2394810"/>
              <a:gd name="connsiteY2" fmla="*/ 1380075 h 1936743"/>
              <a:gd name="connsiteX3" fmla="*/ 0 w 2394810"/>
              <a:gd name="connsiteY3" fmla="*/ 0 h 1936743"/>
              <a:gd name="connsiteX4" fmla="*/ 0 w 2394810"/>
              <a:gd name="connsiteY4" fmla="*/ 1111888 h 19367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4810" h="1936743">
                <a:moveTo>
                  <a:pt x="0" y="1111888"/>
                </a:moveTo>
                <a:cubicBezTo>
                  <a:pt x="606318" y="1124935"/>
                  <a:pt x="1135758" y="1451108"/>
                  <a:pt x="1430214" y="1936744"/>
                </a:cubicBezTo>
                <a:lnTo>
                  <a:pt x="2394810" y="1380075"/>
                </a:lnTo>
                <a:cubicBezTo>
                  <a:pt x="1907435" y="563917"/>
                  <a:pt x="1018266" y="13047"/>
                  <a:pt x="0" y="0"/>
                </a:cubicBezTo>
                <a:lnTo>
                  <a:pt x="0" y="1111888"/>
                </a:lnTo>
                <a:close/>
              </a:path>
            </a:pathLst>
          </a:custGeom>
          <a:solidFill>
            <a:schemeClr val="accent1"/>
          </a:solidFill>
          <a:ln w="14479" cap="flat">
            <a:noFill/>
            <a:prstDash val="solid"/>
            <a:miter/>
          </a:ln>
        </p:spPr>
        <p:txBody>
          <a:bodyPr rtlCol="0" anchor="ctr"/>
          <a:lstStyle/>
          <a:p>
            <a:endParaRPr lang="en-US"/>
          </a:p>
        </p:txBody>
      </p:sp>
      <p:pic>
        <p:nvPicPr>
          <p:cNvPr id="33" name="Graphic 14">
            <a:extLst>
              <a:ext uri="{FF2B5EF4-FFF2-40B4-BE49-F238E27FC236}">
                <a16:creationId xmlns:a16="http://schemas.microsoft.com/office/drawing/2014/main" id="{198AB52C-1F3A-B2CB-657B-DE493FDDD45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4999865" y="1207096"/>
            <a:ext cx="490025" cy="490025"/>
          </a:xfrm>
          <a:prstGeom prst="rect">
            <a:avLst/>
          </a:prstGeom>
        </p:spPr>
      </p:pic>
      <p:pic>
        <p:nvPicPr>
          <p:cNvPr id="34" name="Graphic 15">
            <a:extLst>
              <a:ext uri="{FF2B5EF4-FFF2-40B4-BE49-F238E27FC236}">
                <a16:creationId xmlns:a16="http://schemas.microsoft.com/office/drawing/2014/main" id="{16963D6C-880D-5343-1F39-1B1450111FB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128795" y="3182537"/>
            <a:ext cx="490025" cy="490025"/>
          </a:xfrm>
          <a:prstGeom prst="rect">
            <a:avLst/>
          </a:prstGeom>
        </p:spPr>
      </p:pic>
      <p:pic>
        <p:nvPicPr>
          <p:cNvPr id="35" name="Graphic 16">
            <a:extLst>
              <a:ext uri="{FF2B5EF4-FFF2-40B4-BE49-F238E27FC236}">
                <a16:creationId xmlns:a16="http://schemas.microsoft.com/office/drawing/2014/main" id="{D3D1DFBF-C489-A120-E829-3156AA79F6F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999865" y="5139555"/>
            <a:ext cx="490025" cy="490025"/>
          </a:xfrm>
          <a:prstGeom prst="rect">
            <a:avLst/>
          </a:prstGeom>
        </p:spPr>
      </p:pic>
      <p:grpSp>
        <p:nvGrpSpPr>
          <p:cNvPr id="37" name="Group 36">
            <a:extLst>
              <a:ext uri="{FF2B5EF4-FFF2-40B4-BE49-F238E27FC236}">
                <a16:creationId xmlns:a16="http://schemas.microsoft.com/office/drawing/2014/main" id="{B73CA551-FA6E-216F-0B90-25834F62B0DF}"/>
              </a:ext>
            </a:extLst>
          </p:cNvPr>
          <p:cNvGrpSpPr/>
          <p:nvPr/>
        </p:nvGrpSpPr>
        <p:grpSpPr>
          <a:xfrm>
            <a:off x="7094422" y="880116"/>
            <a:ext cx="4578143" cy="1208793"/>
            <a:chOff x="7622707" y="627459"/>
            <a:chExt cx="3831815" cy="1208793"/>
          </a:xfrm>
        </p:grpSpPr>
        <p:sp>
          <p:nvSpPr>
            <p:cNvPr id="38" name="TextBox 37">
              <a:extLst>
                <a:ext uri="{FF2B5EF4-FFF2-40B4-BE49-F238E27FC236}">
                  <a16:creationId xmlns:a16="http://schemas.microsoft.com/office/drawing/2014/main" id="{87965506-0FB9-89EA-B597-75E047A5CC37}"/>
                </a:ext>
              </a:extLst>
            </p:cNvPr>
            <p:cNvSpPr txBox="1"/>
            <p:nvPr/>
          </p:nvSpPr>
          <p:spPr>
            <a:xfrm>
              <a:off x="7622707" y="627459"/>
              <a:ext cx="3758465" cy="246221"/>
            </a:xfrm>
            <a:prstGeom prst="rect">
              <a:avLst/>
            </a:prstGeom>
            <a:noFill/>
          </p:spPr>
          <p:txBody>
            <a:bodyPr wrap="square" lIns="0" tIns="0" rIns="0" bIns="0" rtlCol="0">
              <a:spAutoFit/>
            </a:bodyPr>
            <a:lstStyle/>
            <a:p>
              <a:r>
                <a:rPr lang="es-CO" sz="1600" b="1" noProof="0" dirty="0"/>
                <a:t>Secciones ligadas</a:t>
              </a:r>
            </a:p>
          </p:txBody>
        </p:sp>
        <p:sp>
          <p:nvSpPr>
            <p:cNvPr id="39" name="TextBox 38">
              <a:extLst>
                <a:ext uri="{FF2B5EF4-FFF2-40B4-BE49-F238E27FC236}">
                  <a16:creationId xmlns:a16="http://schemas.microsoft.com/office/drawing/2014/main" id="{95DFDA57-8232-385D-7ECB-DA5A3395032A}"/>
                </a:ext>
              </a:extLst>
            </p:cNvPr>
            <p:cNvSpPr txBox="1"/>
            <p:nvPr/>
          </p:nvSpPr>
          <p:spPr>
            <a:xfrm>
              <a:off x="7696057" y="912922"/>
              <a:ext cx="3758465" cy="923330"/>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Refiere a secciones del mismo curso que deben ser tomadas en conjunto, por ejemplo, un curso que tiene una sección teórica y una sección de laboratorio. Un estudiante que inscribe una sección teórica también debe inscribir una sección de laboratorio, o viceversa.</a:t>
              </a:r>
            </a:p>
          </p:txBody>
        </p:sp>
      </p:grpSp>
      <p:grpSp>
        <p:nvGrpSpPr>
          <p:cNvPr id="45" name="Group 45">
            <a:extLst>
              <a:ext uri="{FF2B5EF4-FFF2-40B4-BE49-F238E27FC236}">
                <a16:creationId xmlns:a16="http://schemas.microsoft.com/office/drawing/2014/main" id="{77713DC9-83AF-8F9E-5716-8F2E6E0DDE9B}"/>
              </a:ext>
            </a:extLst>
          </p:cNvPr>
          <p:cNvGrpSpPr/>
          <p:nvPr/>
        </p:nvGrpSpPr>
        <p:grpSpPr>
          <a:xfrm>
            <a:off x="7517634" y="2816619"/>
            <a:ext cx="4067295" cy="1465182"/>
            <a:chOff x="7534866" y="500245"/>
            <a:chExt cx="3846306" cy="1465182"/>
          </a:xfrm>
        </p:grpSpPr>
        <p:sp>
          <p:nvSpPr>
            <p:cNvPr id="46" name="TextBox 46">
              <a:extLst>
                <a:ext uri="{FF2B5EF4-FFF2-40B4-BE49-F238E27FC236}">
                  <a16:creationId xmlns:a16="http://schemas.microsoft.com/office/drawing/2014/main" id="{AA53CDBD-B1E4-E672-3A87-737DEACB1842}"/>
                </a:ext>
              </a:extLst>
            </p:cNvPr>
            <p:cNvSpPr txBox="1"/>
            <p:nvPr/>
          </p:nvSpPr>
          <p:spPr>
            <a:xfrm>
              <a:off x="7534866" y="500245"/>
              <a:ext cx="3758465" cy="246221"/>
            </a:xfrm>
            <a:prstGeom prst="rect">
              <a:avLst/>
            </a:prstGeom>
            <a:noFill/>
          </p:spPr>
          <p:txBody>
            <a:bodyPr wrap="square" lIns="0" tIns="0" rIns="0" bIns="0" rtlCol="0">
              <a:spAutoFit/>
            </a:bodyPr>
            <a:lstStyle/>
            <a:p>
              <a:r>
                <a:rPr lang="es-CO" sz="1600" b="1" dirty="0"/>
                <a:t>Lista cruzada</a:t>
              </a:r>
              <a:endParaRPr lang="es-CO" sz="1600" b="1" noProof="0" dirty="0"/>
            </a:p>
          </p:txBody>
        </p:sp>
        <p:sp>
          <p:nvSpPr>
            <p:cNvPr id="50" name="TextBox 47">
              <a:extLst>
                <a:ext uri="{FF2B5EF4-FFF2-40B4-BE49-F238E27FC236}">
                  <a16:creationId xmlns:a16="http://schemas.microsoft.com/office/drawing/2014/main" id="{47B5E015-56F6-00D0-00EF-9E103B283092}"/>
                </a:ext>
              </a:extLst>
            </p:cNvPr>
            <p:cNvSpPr txBox="1"/>
            <p:nvPr/>
          </p:nvSpPr>
          <p:spPr>
            <a:xfrm>
              <a:off x="7622707" y="857431"/>
              <a:ext cx="3758465" cy="1107996"/>
            </a:xfrm>
            <a:prstGeom prst="rect">
              <a:avLst/>
            </a:prstGeom>
            <a:noFill/>
          </p:spPr>
          <p:txBody>
            <a:bodyPr wrap="square" lIns="0" tIns="0" rIns="0" bIns="0" rtlCol="0">
              <a:spAutoFit/>
            </a:bodyPr>
            <a:lstStyle/>
            <a:p>
              <a:r>
                <a:rPr lang="es-CO" sz="1200" noProof="0" dirty="0">
                  <a:effectLst/>
                  <a:latin typeface="Helvetica Neue" panose="02000503000000020004" pitchFamily="2" charset="0"/>
                </a:rPr>
                <a:t>Refiere a secciones de cursos distintos que se imparten en conjunto, generalmente porque cubren una materia similar. Por ejemplo, se dicta “Introducción a la Informática” de Ingeniería Civil y “Fundamentos de Programación” de Ingeniería Informática en un mismo salón y por un mismo profesor.</a:t>
              </a:r>
            </a:p>
          </p:txBody>
        </p:sp>
      </p:grpSp>
    </p:spTree>
    <p:extLst>
      <p:ext uri="{BB962C8B-B14F-4D97-AF65-F5344CB8AC3E}">
        <p14:creationId xmlns:p14="http://schemas.microsoft.com/office/powerpoint/2010/main" val="2189045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Registrar la oferta horaria de los cursos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DAE7A10C-EF84-AD57-19B1-847BE96487EA}"/>
              </a:ext>
            </a:extLst>
          </p:cNvPr>
          <p:cNvPicPr>
            <a:picLocks noChangeAspect="1"/>
          </p:cNvPicPr>
          <p:nvPr/>
        </p:nvPicPr>
        <p:blipFill>
          <a:blip r:embed="rId2"/>
          <a:stretch>
            <a:fillRect/>
          </a:stretch>
        </p:blipFill>
        <p:spPr>
          <a:xfrm>
            <a:off x="791772" y="1294251"/>
            <a:ext cx="10790626" cy="132773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Configuración: SOATERM Control de periodo</a:t>
            </a:r>
            <a:br>
              <a:rPr lang="es-CL" dirty="0">
                <a:solidFill>
                  <a:schemeClr val="tx2"/>
                </a:solidFill>
              </a:rPr>
            </a:br>
            <a:endParaRPr lang="es-CL" dirty="0">
              <a:solidFill>
                <a:schemeClr val="tx2"/>
              </a:solidFill>
            </a:endParaRPr>
          </a:p>
        </p:txBody>
      </p:sp>
      <p:sp>
        <p:nvSpPr>
          <p:cNvPr id="16" name="Rectángulo redondeado 5">
            <a:extLst>
              <a:ext uri="{FF2B5EF4-FFF2-40B4-BE49-F238E27FC236}">
                <a16:creationId xmlns:a16="http://schemas.microsoft.com/office/drawing/2014/main" id="{FDF745D3-6AC7-36AE-8533-6176EACB8F0A}"/>
              </a:ext>
            </a:extLst>
          </p:cNvPr>
          <p:cNvSpPr/>
          <p:nvPr/>
        </p:nvSpPr>
        <p:spPr>
          <a:xfrm>
            <a:off x="1110721" y="3315385"/>
            <a:ext cx="9628091" cy="130922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s-419" sz="1400" noProof="0" dirty="0"/>
              <a:t>La página SOATERM se utiliza para la configuración general de un período específico, abordando diferentes procesos. En este instructivo solo se abordarán las configuraciones correspondientes al proceso de Programación Académica:</a:t>
            </a:r>
          </a:p>
          <a:p>
            <a:pPr marL="342900" indent="-342900">
              <a:buFont typeface="+mj-lt"/>
              <a:buAutoNum type="arabicPeriod"/>
            </a:pPr>
            <a:r>
              <a:rPr lang="es-419" sz="1400" noProof="0" dirty="0"/>
              <a:t>Ingrese o seleccione el código del período para el cual realizará la configuración.</a:t>
            </a:r>
          </a:p>
          <a:p>
            <a:pPr marL="342900" indent="-342900">
              <a:buFont typeface="+mj-lt"/>
              <a:buAutoNum type="arabicPeriod"/>
            </a:pPr>
            <a:r>
              <a:rPr lang="es-419" sz="1400" dirty="0"/>
              <a:t>Presione el botón “</a:t>
            </a:r>
            <a:r>
              <a:rPr lang="es-419" sz="1400" noProof="0" dirty="0"/>
              <a:t>Ir”.</a:t>
            </a:r>
          </a:p>
        </p:txBody>
      </p:sp>
      <p:sp>
        <p:nvSpPr>
          <p:cNvPr id="17" name="Rectángulo redondeado 15">
            <a:extLst>
              <a:ext uri="{FF2B5EF4-FFF2-40B4-BE49-F238E27FC236}">
                <a16:creationId xmlns:a16="http://schemas.microsoft.com/office/drawing/2014/main" id="{E49FE00D-F454-2602-84DE-2788D76297EB}"/>
              </a:ext>
            </a:extLst>
          </p:cNvPr>
          <p:cNvSpPr/>
          <p:nvPr/>
        </p:nvSpPr>
        <p:spPr>
          <a:xfrm>
            <a:off x="11488781" y="1851227"/>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8" name="Rectángulo redondeado 23">
            <a:extLst>
              <a:ext uri="{FF2B5EF4-FFF2-40B4-BE49-F238E27FC236}">
                <a16:creationId xmlns:a16="http://schemas.microsoft.com/office/drawing/2014/main" id="{9063E537-BF48-AE39-325B-E41AEEA9E936}"/>
              </a:ext>
            </a:extLst>
          </p:cNvPr>
          <p:cNvSpPr/>
          <p:nvPr/>
        </p:nvSpPr>
        <p:spPr>
          <a:xfrm>
            <a:off x="2949353" y="157397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9" name="Rectángulo 18">
            <a:extLst>
              <a:ext uri="{FF2B5EF4-FFF2-40B4-BE49-F238E27FC236}">
                <a16:creationId xmlns:a16="http://schemas.microsoft.com/office/drawing/2014/main" id="{7DD33630-F308-F1BE-9267-41BB5F09B008}"/>
              </a:ext>
            </a:extLst>
          </p:cNvPr>
          <p:cNvSpPr/>
          <p:nvPr/>
        </p:nvSpPr>
        <p:spPr>
          <a:xfrm>
            <a:off x="1193845" y="1626931"/>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0" name="Rectángulo 19">
            <a:extLst>
              <a:ext uri="{FF2B5EF4-FFF2-40B4-BE49-F238E27FC236}">
                <a16:creationId xmlns:a16="http://schemas.microsoft.com/office/drawing/2014/main" id="{7F9BDC03-7585-027F-77D9-E95C3B2F118E}"/>
              </a:ext>
            </a:extLst>
          </p:cNvPr>
          <p:cNvSpPr/>
          <p:nvPr/>
        </p:nvSpPr>
        <p:spPr>
          <a:xfrm>
            <a:off x="11203708" y="1639383"/>
            <a:ext cx="364026" cy="1776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3328105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142A5F41-1127-8C34-4E8D-A4CBDE867F98}"/>
              </a:ext>
            </a:extLst>
          </p:cNvPr>
          <p:cNvPicPr>
            <a:picLocks noChangeAspect="1"/>
          </p:cNvPicPr>
          <p:nvPr/>
        </p:nvPicPr>
        <p:blipFill>
          <a:blip r:embed="rId2"/>
          <a:stretch>
            <a:fillRect/>
          </a:stretch>
        </p:blipFill>
        <p:spPr>
          <a:xfrm>
            <a:off x="443812" y="954157"/>
            <a:ext cx="11304375" cy="495380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Configuración: SOATERM Control de periodo</a:t>
            </a:r>
            <a:br>
              <a:rPr lang="es-CL" dirty="0">
                <a:solidFill>
                  <a:schemeClr val="tx2"/>
                </a:solidFill>
              </a:rPr>
            </a:br>
            <a:endParaRPr lang="es-CL" dirty="0">
              <a:solidFill>
                <a:schemeClr val="tx2"/>
              </a:solidFill>
            </a:endParaRPr>
          </a:p>
        </p:txBody>
      </p:sp>
      <p:sp>
        <p:nvSpPr>
          <p:cNvPr id="10" name="Rectángulo redondeado 5">
            <a:extLst>
              <a:ext uri="{FF2B5EF4-FFF2-40B4-BE49-F238E27FC236}">
                <a16:creationId xmlns:a16="http://schemas.microsoft.com/office/drawing/2014/main" id="{ACA3836E-4E0F-74F4-F518-D7898C3BB892}"/>
              </a:ext>
            </a:extLst>
          </p:cNvPr>
          <p:cNvSpPr/>
          <p:nvPr/>
        </p:nvSpPr>
        <p:spPr>
          <a:xfrm>
            <a:off x="1551120" y="5207307"/>
            <a:ext cx="8644065" cy="110184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3"/>
            </a:pPr>
            <a:r>
              <a:rPr lang="es-ES_tradnl" sz="1200" dirty="0"/>
              <a:t>En la primera pestaña de SOATERM (Inscripción) se debe definir cuál será el número secuencia inicial con el cual se programaría el primer NRC del periodo académico. Esta numeración va cambiando a medida que en Banner se va programando uno a uno el NRC. Para la Universidad el número de inicio para cada periodo académico es 10000.</a:t>
            </a:r>
          </a:p>
          <a:p>
            <a:pPr marL="342900" indent="-342900">
              <a:buFont typeface="+mj-lt"/>
              <a:buAutoNum type="arabicPeriod" startAt="3"/>
            </a:pPr>
            <a:r>
              <a:rPr lang="es-ES_tradnl" sz="1200" dirty="0"/>
              <a:t>Guarde la información ingresada.</a:t>
            </a:r>
          </a:p>
        </p:txBody>
      </p:sp>
      <p:sp>
        <p:nvSpPr>
          <p:cNvPr id="18" name="Rectángulo redondeado 15">
            <a:extLst>
              <a:ext uri="{FF2B5EF4-FFF2-40B4-BE49-F238E27FC236}">
                <a16:creationId xmlns:a16="http://schemas.microsoft.com/office/drawing/2014/main" id="{0DBEC046-C29C-F122-73DB-2CC57F3539D7}"/>
              </a:ext>
            </a:extLst>
          </p:cNvPr>
          <p:cNvSpPr/>
          <p:nvPr/>
        </p:nvSpPr>
        <p:spPr>
          <a:xfrm>
            <a:off x="10682798" y="5675387"/>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9" name="Rectángulo redondeado 23">
            <a:extLst>
              <a:ext uri="{FF2B5EF4-FFF2-40B4-BE49-F238E27FC236}">
                <a16:creationId xmlns:a16="http://schemas.microsoft.com/office/drawing/2014/main" id="{42825A34-796E-2C0E-55E4-DEFF54D5199B}"/>
              </a:ext>
            </a:extLst>
          </p:cNvPr>
          <p:cNvSpPr/>
          <p:nvPr/>
        </p:nvSpPr>
        <p:spPr>
          <a:xfrm>
            <a:off x="2806086" y="172822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20" name="Rectángulo 19">
            <a:extLst>
              <a:ext uri="{FF2B5EF4-FFF2-40B4-BE49-F238E27FC236}">
                <a16:creationId xmlns:a16="http://schemas.microsoft.com/office/drawing/2014/main" id="{2D5BF426-DC80-AC1B-580E-008733DACA82}"/>
              </a:ext>
            </a:extLst>
          </p:cNvPr>
          <p:cNvSpPr/>
          <p:nvPr/>
        </p:nvSpPr>
        <p:spPr>
          <a:xfrm>
            <a:off x="810246" y="1851227"/>
            <a:ext cx="1923717" cy="44862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1" name="Rectángulo 20">
            <a:extLst>
              <a:ext uri="{FF2B5EF4-FFF2-40B4-BE49-F238E27FC236}">
                <a16:creationId xmlns:a16="http://schemas.microsoft.com/office/drawing/2014/main" id="{7B45F385-D864-992B-0D18-A4B76A11E728}"/>
              </a:ext>
            </a:extLst>
          </p:cNvPr>
          <p:cNvSpPr/>
          <p:nvPr/>
        </p:nvSpPr>
        <p:spPr>
          <a:xfrm>
            <a:off x="11153593" y="5596954"/>
            <a:ext cx="594594" cy="24411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3185863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C04CF-134C-72B5-27AF-439D1E528B2D}"/>
            </a:ext>
          </a:extLst>
        </p:cNvPr>
        <p:cNvGrpSpPr/>
        <p:nvPr/>
      </p:nvGrpSpPr>
      <p:grpSpPr>
        <a:xfrm>
          <a:off x="0" y="0"/>
          <a:ext cx="0" cy="0"/>
          <a:chOff x="0" y="0"/>
          <a:chExt cx="0" cy="0"/>
        </a:xfrm>
      </p:grpSpPr>
      <p:pic>
        <p:nvPicPr>
          <p:cNvPr id="16" name="Imagen 15">
            <a:extLst>
              <a:ext uri="{FF2B5EF4-FFF2-40B4-BE49-F238E27FC236}">
                <a16:creationId xmlns:a16="http://schemas.microsoft.com/office/drawing/2014/main" id="{85658596-C9BF-C468-7987-1A866F204ED7}"/>
              </a:ext>
            </a:extLst>
          </p:cNvPr>
          <p:cNvPicPr>
            <a:picLocks noChangeAspect="1"/>
          </p:cNvPicPr>
          <p:nvPr/>
        </p:nvPicPr>
        <p:blipFill>
          <a:blip r:embed="rId2"/>
          <a:stretch>
            <a:fillRect/>
          </a:stretch>
        </p:blipFill>
        <p:spPr>
          <a:xfrm>
            <a:off x="1154248" y="886265"/>
            <a:ext cx="11037752" cy="4757651"/>
          </a:xfrm>
          <a:prstGeom prst="rect">
            <a:avLst/>
          </a:prstGeom>
        </p:spPr>
      </p:pic>
      <p:sp>
        <p:nvSpPr>
          <p:cNvPr id="3" name="Marcador de texto vertical 2">
            <a:extLst>
              <a:ext uri="{FF2B5EF4-FFF2-40B4-BE49-F238E27FC236}">
                <a16:creationId xmlns:a16="http://schemas.microsoft.com/office/drawing/2014/main" id="{B67B5F77-7A41-74DB-FC4F-2584FD1E3480}"/>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53C7D577-002A-5FEB-AFCF-3464CEC4ABFB}"/>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Configuración: SOATERM Control de periodo</a:t>
            </a:r>
            <a:br>
              <a:rPr lang="es-CL" dirty="0">
                <a:solidFill>
                  <a:schemeClr val="tx2"/>
                </a:solidFill>
              </a:rPr>
            </a:br>
            <a:endParaRPr lang="es-CL" dirty="0">
              <a:solidFill>
                <a:schemeClr val="tx2"/>
              </a:solidFill>
            </a:endParaRPr>
          </a:p>
        </p:txBody>
      </p:sp>
      <p:sp>
        <p:nvSpPr>
          <p:cNvPr id="10" name="Rectángulo redondeado 5">
            <a:extLst>
              <a:ext uri="{FF2B5EF4-FFF2-40B4-BE49-F238E27FC236}">
                <a16:creationId xmlns:a16="http://schemas.microsoft.com/office/drawing/2014/main" id="{E62B78A8-3899-371D-CCF3-DF9304A22CF4}"/>
              </a:ext>
            </a:extLst>
          </p:cNvPr>
          <p:cNvSpPr/>
          <p:nvPr/>
        </p:nvSpPr>
        <p:spPr>
          <a:xfrm>
            <a:off x="1585367" y="3747962"/>
            <a:ext cx="8644065" cy="258575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pestaña Controles de inscripción de parte de período y web se deben definir </a:t>
            </a:r>
            <a:r>
              <a:rPr lang="es-419" sz="1200" dirty="0"/>
              <a:t>las partes de periodo que estarían disponibles en el periodo para la programación académica</a:t>
            </a:r>
            <a:r>
              <a:rPr lang="es-ES_tradnl" sz="1200" dirty="0"/>
              <a:t>. </a:t>
            </a:r>
          </a:p>
          <a:p>
            <a:pPr marL="342900" indent="-342900">
              <a:buFont typeface="+mj-lt"/>
              <a:buAutoNum type="arabicPeriod" startAt="5"/>
            </a:pPr>
            <a:r>
              <a:rPr lang="es-ES_tradnl" sz="1200" dirty="0"/>
              <a:t>Seleccione o ingrese el código de la parte de período que estará disponible en el período para programar asignaturas. Recuerde que las partes de período corresponden a la oferta de las asignaturas o secciones que se programarán.</a:t>
            </a:r>
          </a:p>
          <a:p>
            <a:pPr marL="800100" lvl="1" indent="-342900">
              <a:buFont typeface="Arial" panose="020B0604020202020204" pitchFamily="34" charset="0"/>
              <a:buChar char="•"/>
            </a:pPr>
            <a:r>
              <a:rPr lang="es-ES_tradnl" sz="1100" dirty="0"/>
              <a:t>Es obligatorio programar la parte de período 1 en cada período, además de las parte de período propias de la institución.</a:t>
            </a:r>
          </a:p>
          <a:p>
            <a:pPr marL="342900" indent="-342900">
              <a:buFont typeface="+mj-lt"/>
              <a:buAutoNum type="arabicPeriod" startAt="5"/>
            </a:pPr>
            <a:r>
              <a:rPr lang="es-ES_tradnl" sz="1200" dirty="0"/>
              <a:t>Ingrese las fechas de inicio y fin que correspondan a cada parte de período para la programación de clases de esta.</a:t>
            </a:r>
          </a:p>
          <a:p>
            <a:pPr marL="342900" indent="-342900">
              <a:buFont typeface="+mj-lt"/>
              <a:buAutoNum type="arabicPeriod" startAt="5"/>
            </a:pPr>
            <a:r>
              <a:rPr lang="es-ES_tradnl" sz="1200" dirty="0"/>
              <a:t>Ingrese el número de semanas que comprende la parte de período.</a:t>
            </a:r>
          </a:p>
          <a:p>
            <a:pPr marL="342900" indent="-342900">
              <a:buFont typeface="+mj-lt"/>
              <a:buAutoNum type="arabicPeriod" startAt="5"/>
            </a:pPr>
            <a:r>
              <a:rPr lang="es-ES_tradnl" sz="1200" dirty="0"/>
              <a:t>Ingrese la “fecha de censo uno”  ya que es obligatorio para el sistema. Esta fecha se refiere a un conteo de inscritos que se hará en esa fecha para las asignaturas programadas en la parte de período que corresponda.</a:t>
            </a:r>
          </a:p>
          <a:p>
            <a:pPr marL="342900" indent="-342900">
              <a:buFont typeface="+mj-lt"/>
              <a:buAutoNum type="arabicPeriod" startAt="5"/>
            </a:pPr>
            <a:r>
              <a:rPr lang="es-ES_tradnl" sz="1200" dirty="0"/>
              <a:t>En el caso en que se requiera que la programación académica pueda programar las asignaturas fuera del rango de tiempo definido en los campos ‘Fecha de inicio’ y ‘Fecha de fin’, la casilla ‘Sobrepaso de sección’ debiera estar activa.</a:t>
            </a:r>
          </a:p>
          <a:p>
            <a:pPr marL="342900" indent="-342900">
              <a:buFont typeface="+mj-lt"/>
              <a:buAutoNum type="arabicPeriod" startAt="5"/>
            </a:pPr>
            <a:r>
              <a:rPr lang="es-ES_tradnl" sz="1200" dirty="0"/>
              <a:t>Guarde la información ingresada.</a:t>
            </a:r>
          </a:p>
          <a:p>
            <a:pPr algn="ctr"/>
            <a:r>
              <a:rPr lang="es-419" sz="1100" dirty="0"/>
              <a:t>Para insertar los registros nuevos de partes de periodos, se requiere dar clic al botón ‘+’</a:t>
            </a:r>
            <a:endParaRPr lang="es-ES_tradnl" sz="1100" dirty="0"/>
          </a:p>
        </p:txBody>
      </p:sp>
      <p:sp>
        <p:nvSpPr>
          <p:cNvPr id="18" name="Rectángulo redondeado 15">
            <a:extLst>
              <a:ext uri="{FF2B5EF4-FFF2-40B4-BE49-F238E27FC236}">
                <a16:creationId xmlns:a16="http://schemas.microsoft.com/office/drawing/2014/main" id="{EE3FDC4D-8311-AD81-34C8-26FA08703A9E}"/>
              </a:ext>
            </a:extLst>
          </p:cNvPr>
          <p:cNvSpPr/>
          <p:nvPr/>
        </p:nvSpPr>
        <p:spPr>
          <a:xfrm>
            <a:off x="10677236" y="5726758"/>
            <a:ext cx="358179"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19" name="Rectángulo redondeado 23">
            <a:extLst>
              <a:ext uri="{FF2B5EF4-FFF2-40B4-BE49-F238E27FC236}">
                <a16:creationId xmlns:a16="http://schemas.microsoft.com/office/drawing/2014/main" id="{37DA5B99-786C-69F5-E20D-66A32E24F681}"/>
              </a:ext>
            </a:extLst>
          </p:cNvPr>
          <p:cNvSpPr/>
          <p:nvPr/>
        </p:nvSpPr>
        <p:spPr>
          <a:xfrm>
            <a:off x="609601" y="1963795"/>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20" name="Rectángulo 19">
            <a:extLst>
              <a:ext uri="{FF2B5EF4-FFF2-40B4-BE49-F238E27FC236}">
                <a16:creationId xmlns:a16="http://schemas.microsoft.com/office/drawing/2014/main" id="{760BED21-D99C-1EB2-65D0-41FF1275175A}"/>
              </a:ext>
            </a:extLst>
          </p:cNvPr>
          <p:cNvSpPr/>
          <p:nvPr/>
        </p:nvSpPr>
        <p:spPr>
          <a:xfrm>
            <a:off x="4953279" y="1475159"/>
            <a:ext cx="2344668"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1" name="Rectángulo 20">
            <a:extLst>
              <a:ext uri="{FF2B5EF4-FFF2-40B4-BE49-F238E27FC236}">
                <a16:creationId xmlns:a16="http://schemas.microsoft.com/office/drawing/2014/main" id="{5FCF922D-DB6B-02A9-29A7-C29900C4AE78}"/>
              </a:ext>
            </a:extLst>
          </p:cNvPr>
          <p:cNvSpPr/>
          <p:nvPr/>
        </p:nvSpPr>
        <p:spPr>
          <a:xfrm>
            <a:off x="11099676" y="5643916"/>
            <a:ext cx="480600"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 name="Rectángulo 1">
            <a:extLst>
              <a:ext uri="{FF2B5EF4-FFF2-40B4-BE49-F238E27FC236}">
                <a16:creationId xmlns:a16="http://schemas.microsoft.com/office/drawing/2014/main" id="{D4A86CA2-9882-2EAA-DF8B-BF7A27D3A07A}"/>
              </a:ext>
            </a:extLst>
          </p:cNvPr>
          <p:cNvSpPr/>
          <p:nvPr/>
        </p:nvSpPr>
        <p:spPr>
          <a:xfrm>
            <a:off x="810246" y="2129480"/>
            <a:ext cx="722401" cy="17037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5" name="Rectángulo redondeado 23">
            <a:extLst>
              <a:ext uri="{FF2B5EF4-FFF2-40B4-BE49-F238E27FC236}">
                <a16:creationId xmlns:a16="http://schemas.microsoft.com/office/drawing/2014/main" id="{AD545A34-14FD-7607-10AF-D6B6230B39A6}"/>
              </a:ext>
            </a:extLst>
          </p:cNvPr>
          <p:cNvSpPr/>
          <p:nvPr/>
        </p:nvSpPr>
        <p:spPr>
          <a:xfrm>
            <a:off x="4382565" y="1956320"/>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6" name="Rectángulo 5">
            <a:extLst>
              <a:ext uri="{FF2B5EF4-FFF2-40B4-BE49-F238E27FC236}">
                <a16:creationId xmlns:a16="http://schemas.microsoft.com/office/drawing/2014/main" id="{3CA40626-C8E9-EAA4-A464-638B2FE2E79A}"/>
              </a:ext>
            </a:extLst>
          </p:cNvPr>
          <p:cNvSpPr/>
          <p:nvPr/>
        </p:nvSpPr>
        <p:spPr>
          <a:xfrm>
            <a:off x="4631772" y="2129480"/>
            <a:ext cx="679137" cy="18415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redondeado 23">
            <a:extLst>
              <a:ext uri="{FF2B5EF4-FFF2-40B4-BE49-F238E27FC236}">
                <a16:creationId xmlns:a16="http://schemas.microsoft.com/office/drawing/2014/main" id="{14EF0071-146B-6620-DFB3-48E4EC542FC4}"/>
              </a:ext>
            </a:extLst>
          </p:cNvPr>
          <p:cNvSpPr/>
          <p:nvPr/>
        </p:nvSpPr>
        <p:spPr>
          <a:xfrm>
            <a:off x="6096000" y="1963794"/>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8" name="Rectángulo 7">
            <a:extLst>
              <a:ext uri="{FF2B5EF4-FFF2-40B4-BE49-F238E27FC236}">
                <a16:creationId xmlns:a16="http://schemas.microsoft.com/office/drawing/2014/main" id="{BF47C787-8DB6-FEB6-07C0-EF8DD6BD8824}"/>
              </a:ext>
            </a:extLst>
          </p:cNvPr>
          <p:cNvSpPr/>
          <p:nvPr/>
        </p:nvSpPr>
        <p:spPr>
          <a:xfrm>
            <a:off x="5516295" y="2143263"/>
            <a:ext cx="722401" cy="17037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9" name="Rectángulo redondeado 23">
            <a:extLst>
              <a:ext uri="{FF2B5EF4-FFF2-40B4-BE49-F238E27FC236}">
                <a16:creationId xmlns:a16="http://schemas.microsoft.com/office/drawing/2014/main" id="{22F9B92D-FC19-C6AE-EA33-70662E600729}"/>
              </a:ext>
            </a:extLst>
          </p:cNvPr>
          <p:cNvSpPr/>
          <p:nvPr/>
        </p:nvSpPr>
        <p:spPr>
          <a:xfrm>
            <a:off x="6875706" y="1975895"/>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2" name="Rectángulo 11">
            <a:extLst>
              <a:ext uri="{FF2B5EF4-FFF2-40B4-BE49-F238E27FC236}">
                <a16:creationId xmlns:a16="http://schemas.microsoft.com/office/drawing/2014/main" id="{6AC283D9-643B-7DCF-F608-15E2DFD23CFA}"/>
              </a:ext>
            </a:extLst>
          </p:cNvPr>
          <p:cNvSpPr/>
          <p:nvPr/>
        </p:nvSpPr>
        <p:spPr>
          <a:xfrm>
            <a:off x="7006267" y="2153758"/>
            <a:ext cx="722401" cy="17037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3" name="Rectángulo redondeado 23">
            <a:extLst>
              <a:ext uri="{FF2B5EF4-FFF2-40B4-BE49-F238E27FC236}">
                <a16:creationId xmlns:a16="http://schemas.microsoft.com/office/drawing/2014/main" id="{DD11CF7A-C754-75A3-F98C-FFE1A4547C9A}"/>
              </a:ext>
            </a:extLst>
          </p:cNvPr>
          <p:cNvSpPr/>
          <p:nvPr/>
        </p:nvSpPr>
        <p:spPr>
          <a:xfrm>
            <a:off x="8417888" y="1963794"/>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14" name="Rectángulo 13">
            <a:extLst>
              <a:ext uri="{FF2B5EF4-FFF2-40B4-BE49-F238E27FC236}">
                <a16:creationId xmlns:a16="http://schemas.microsoft.com/office/drawing/2014/main" id="{D88DDB31-C12B-5442-511E-EA759819F504}"/>
              </a:ext>
            </a:extLst>
          </p:cNvPr>
          <p:cNvSpPr/>
          <p:nvPr/>
        </p:nvSpPr>
        <p:spPr>
          <a:xfrm>
            <a:off x="7728668" y="2151413"/>
            <a:ext cx="722401" cy="17037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2026204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Registrar la oferta horaria de los cursos</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sz="3200" b="1" dirty="0">
                <a:solidFill>
                  <a:schemeClr val="bg1"/>
                </a:solidFill>
              </a:rPr>
              <a:t>REGISTRAR LA OFERTA HORARIA DE LOS CURSOS</a:t>
            </a:r>
            <a:endParaRPr lang="en-US" dirty="0"/>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4228670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2F465C6B-EC3A-A5B5-5871-D743AA63B905}"/>
              </a:ext>
            </a:extLst>
          </p:cNvPr>
          <p:cNvSpPr>
            <a:spLocks noGrp="1"/>
          </p:cNvSpPr>
          <p:nvPr>
            <p:ph type="body" sz="quarter" idx="10"/>
          </p:nvPr>
        </p:nvSpPr>
        <p:spPr/>
        <p:txBody>
          <a:bodyPr/>
          <a:lstStyle/>
          <a:p>
            <a:r>
              <a:rPr lang="es-CL" dirty="0"/>
              <a:t>Programación de una Asignatura (NRC)</a:t>
            </a:r>
            <a:endParaRPr lang="es-419" dirty="0"/>
          </a:p>
        </p:txBody>
      </p:sp>
      <p:sp>
        <p:nvSpPr>
          <p:cNvPr id="2" name="Marcador de texto vertical 1">
            <a:extLst>
              <a:ext uri="{FF2B5EF4-FFF2-40B4-BE49-F238E27FC236}">
                <a16:creationId xmlns:a16="http://schemas.microsoft.com/office/drawing/2014/main" id="{1FD9E21E-241C-8464-2D9C-4A336FE2910A}"/>
              </a:ext>
            </a:extLst>
          </p:cNvPr>
          <p:cNvSpPr>
            <a:spLocks noGrp="1"/>
          </p:cNvSpPr>
          <p:nvPr>
            <p:ph type="body" sz="quarter" idx="11"/>
          </p:nvPr>
        </p:nvSpPr>
        <p:spPr/>
        <p:txBody>
          <a:bodyPr/>
          <a:lstStyle/>
          <a:p>
            <a:r>
              <a:rPr lang="es-419" sz="1200" dirty="0"/>
              <a:t>Registrar la oferta horaria de los cursos</a:t>
            </a:r>
            <a:endParaRPr lang="en-US" dirty="0"/>
          </a:p>
        </p:txBody>
      </p:sp>
    </p:spTree>
    <p:extLst>
      <p:ext uri="{BB962C8B-B14F-4D97-AF65-F5344CB8AC3E}">
        <p14:creationId xmlns:p14="http://schemas.microsoft.com/office/powerpoint/2010/main" val="3732828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894A50F-D5F6-EE0D-BFE1-B766DC5CED2A}"/>
              </a:ext>
            </a:extLst>
          </p:cNvPr>
          <p:cNvPicPr>
            <a:picLocks noChangeAspect="1"/>
          </p:cNvPicPr>
          <p:nvPr/>
        </p:nvPicPr>
        <p:blipFill>
          <a:blip r:embed="rId2"/>
          <a:stretch>
            <a:fillRect/>
          </a:stretch>
        </p:blipFill>
        <p:spPr>
          <a:xfrm>
            <a:off x="609601" y="1452184"/>
            <a:ext cx="10850402" cy="17147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a:t>
            </a:r>
            <a:br>
              <a:rPr lang="es-CL" dirty="0">
                <a:solidFill>
                  <a:schemeClr val="tx2"/>
                </a:solidFill>
              </a:rPr>
            </a:br>
            <a:endParaRPr lang="es-CL" dirty="0">
              <a:solidFill>
                <a:schemeClr val="tx2"/>
              </a:solidFill>
            </a:endParaRPr>
          </a:p>
        </p:txBody>
      </p:sp>
      <p:sp>
        <p:nvSpPr>
          <p:cNvPr id="10" name="Rectángulo redondeado 5">
            <a:extLst>
              <a:ext uri="{FF2B5EF4-FFF2-40B4-BE49-F238E27FC236}">
                <a16:creationId xmlns:a16="http://schemas.microsoft.com/office/drawing/2014/main" id="{ACA3836E-4E0F-74F4-F518-D7898C3BB892}"/>
              </a:ext>
            </a:extLst>
          </p:cNvPr>
          <p:cNvSpPr/>
          <p:nvPr/>
        </p:nvSpPr>
        <p:spPr>
          <a:xfrm>
            <a:off x="1385455" y="3490464"/>
            <a:ext cx="8488218" cy="14761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Para crear un nuevo NRC en la programación académica, se requiere acceder a la página  SSASECT y seguir los siguientes pasos:</a:t>
            </a:r>
          </a:p>
          <a:p>
            <a:pPr marL="228600" indent="-228600">
              <a:buFont typeface="+mj-lt"/>
              <a:buAutoNum type="arabicPeriod"/>
            </a:pPr>
            <a:r>
              <a:rPr lang="es-ES_tradnl" sz="1200" dirty="0"/>
              <a:t>Ingresar periodo académico</a:t>
            </a:r>
          </a:p>
          <a:p>
            <a:pPr marL="228600" indent="-228600">
              <a:buFont typeface="+mj-lt"/>
              <a:buAutoNum type="arabicPeriod"/>
            </a:pPr>
            <a:r>
              <a:rPr lang="es-ES_tradnl" sz="1200" dirty="0"/>
              <a:t>Presionar el botón “Crear NRC”</a:t>
            </a:r>
          </a:p>
          <a:p>
            <a:endParaRPr lang="es-ES_tradnl" sz="1200" dirty="0"/>
          </a:p>
          <a:p>
            <a:r>
              <a:rPr lang="es-ES_tradnl" sz="1200" dirty="0"/>
              <a:t>Si no está creando un NRC si no consultando o desea modificar uno ya creado, debe ingresar el número de NRC en el campo correspondiente y presionar el botón “Ir”.</a:t>
            </a:r>
          </a:p>
          <a:p>
            <a:endParaRPr lang="es-ES_tradnl" sz="1200" dirty="0"/>
          </a:p>
        </p:txBody>
      </p:sp>
      <p:sp>
        <p:nvSpPr>
          <p:cNvPr id="21" name="Rectángulo redondeado 15">
            <a:extLst>
              <a:ext uri="{FF2B5EF4-FFF2-40B4-BE49-F238E27FC236}">
                <a16:creationId xmlns:a16="http://schemas.microsoft.com/office/drawing/2014/main" id="{85470947-7020-D482-3B6E-1811242590DC}"/>
              </a:ext>
            </a:extLst>
          </p:cNvPr>
          <p:cNvSpPr/>
          <p:nvPr/>
        </p:nvSpPr>
        <p:spPr>
          <a:xfrm>
            <a:off x="2396506" y="2677650"/>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22" name="Rectángulo redondeado 23">
            <a:extLst>
              <a:ext uri="{FF2B5EF4-FFF2-40B4-BE49-F238E27FC236}">
                <a16:creationId xmlns:a16="http://schemas.microsoft.com/office/drawing/2014/main" id="{607D212C-6687-2476-3D10-044822039298}"/>
              </a:ext>
            </a:extLst>
          </p:cNvPr>
          <p:cNvSpPr/>
          <p:nvPr/>
        </p:nvSpPr>
        <p:spPr>
          <a:xfrm>
            <a:off x="2866229" y="1878767"/>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23" name="Rectángulo 22">
            <a:extLst>
              <a:ext uri="{FF2B5EF4-FFF2-40B4-BE49-F238E27FC236}">
                <a16:creationId xmlns:a16="http://schemas.microsoft.com/office/drawing/2014/main" id="{211C85F6-9B7D-D87D-6DA1-4883F5F0D9CC}"/>
              </a:ext>
            </a:extLst>
          </p:cNvPr>
          <p:cNvSpPr/>
          <p:nvPr/>
        </p:nvSpPr>
        <p:spPr>
          <a:xfrm>
            <a:off x="1099014" y="1849627"/>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4" name="Rectángulo 23">
            <a:extLst>
              <a:ext uri="{FF2B5EF4-FFF2-40B4-BE49-F238E27FC236}">
                <a16:creationId xmlns:a16="http://schemas.microsoft.com/office/drawing/2014/main" id="{EA13018D-C7F8-6418-D059-0143D297CCD1}"/>
              </a:ext>
            </a:extLst>
          </p:cNvPr>
          <p:cNvSpPr/>
          <p:nvPr/>
        </p:nvSpPr>
        <p:spPr>
          <a:xfrm>
            <a:off x="1559447" y="2582814"/>
            <a:ext cx="794739" cy="1776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2431393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186F1FF-134B-1BB6-E579-997364E990C7}"/>
              </a:ext>
            </a:extLst>
          </p:cNvPr>
          <p:cNvPicPr>
            <a:picLocks noChangeAspect="1"/>
          </p:cNvPicPr>
          <p:nvPr/>
        </p:nvPicPr>
        <p:blipFill>
          <a:blip r:embed="rId2"/>
          <a:stretch>
            <a:fillRect/>
          </a:stretch>
        </p:blipFill>
        <p:spPr>
          <a:xfrm>
            <a:off x="701233" y="954157"/>
            <a:ext cx="11490767" cy="500694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10" name="Rectángulo redondeado 5">
            <a:extLst>
              <a:ext uri="{FF2B5EF4-FFF2-40B4-BE49-F238E27FC236}">
                <a16:creationId xmlns:a16="http://schemas.microsoft.com/office/drawing/2014/main" id="{ACA3836E-4E0F-74F4-F518-D7898C3BB892}"/>
              </a:ext>
            </a:extLst>
          </p:cNvPr>
          <p:cNvSpPr/>
          <p:nvPr/>
        </p:nvSpPr>
        <p:spPr>
          <a:xfrm>
            <a:off x="2604815" y="2699448"/>
            <a:ext cx="5681134" cy="19651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Al ingresar al bloque de Información de Sección de curso, se visualizan una serie de campos en blanco, en particular de momento de creación de un NRC por lo cual el campo en la sección superior se mantiene con el valor ‘ADD’. Una vez el NRC sea creado, dicho campo adquiriría el valor del número secuencial indicado en SOATERM.</a:t>
            </a:r>
          </a:p>
        </p:txBody>
      </p:sp>
      <p:sp>
        <p:nvSpPr>
          <p:cNvPr id="8" name="Rectángulo 7">
            <a:extLst>
              <a:ext uri="{FF2B5EF4-FFF2-40B4-BE49-F238E27FC236}">
                <a16:creationId xmlns:a16="http://schemas.microsoft.com/office/drawing/2014/main" id="{DF2C9833-2F2F-BF08-6D8E-18706DB9F584}"/>
              </a:ext>
            </a:extLst>
          </p:cNvPr>
          <p:cNvSpPr/>
          <p:nvPr/>
        </p:nvSpPr>
        <p:spPr>
          <a:xfrm>
            <a:off x="701233" y="1283316"/>
            <a:ext cx="4394260" cy="287334"/>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12" name="Título 3">
            <a:extLst>
              <a:ext uri="{FF2B5EF4-FFF2-40B4-BE49-F238E27FC236}">
                <a16:creationId xmlns:a16="http://schemas.microsoft.com/office/drawing/2014/main" id="{10F81151-B345-D673-97AD-491202D6E254}"/>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a:t>
            </a:r>
            <a:br>
              <a:rPr lang="es-CL" dirty="0">
                <a:solidFill>
                  <a:schemeClr val="tx2"/>
                </a:solidFill>
              </a:rPr>
            </a:br>
            <a:endParaRPr lang="es-CL" dirty="0">
              <a:solidFill>
                <a:schemeClr val="tx2"/>
              </a:solidFill>
            </a:endParaRPr>
          </a:p>
        </p:txBody>
      </p:sp>
    </p:spTree>
    <p:extLst>
      <p:ext uri="{BB962C8B-B14F-4D97-AF65-F5344CB8AC3E}">
        <p14:creationId xmlns:p14="http://schemas.microsoft.com/office/powerpoint/2010/main" val="2694089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86BF2-B840-A912-E421-BC62A993115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B70D06B-47B7-C300-924E-5199069C99A1}"/>
              </a:ext>
            </a:extLst>
          </p:cNvPr>
          <p:cNvPicPr>
            <a:picLocks noChangeAspect="1"/>
          </p:cNvPicPr>
          <p:nvPr/>
        </p:nvPicPr>
        <p:blipFill>
          <a:blip r:embed="rId2"/>
          <a:stretch>
            <a:fillRect/>
          </a:stretch>
        </p:blipFill>
        <p:spPr>
          <a:xfrm>
            <a:off x="645268" y="925524"/>
            <a:ext cx="11490767" cy="5006949"/>
          </a:xfrm>
          <a:prstGeom prst="rect">
            <a:avLst/>
          </a:prstGeom>
        </p:spPr>
      </p:pic>
      <p:sp>
        <p:nvSpPr>
          <p:cNvPr id="3" name="Marcador de texto vertical 2">
            <a:extLst>
              <a:ext uri="{FF2B5EF4-FFF2-40B4-BE49-F238E27FC236}">
                <a16:creationId xmlns:a16="http://schemas.microsoft.com/office/drawing/2014/main" id="{2F10A219-ACC3-07AD-2FF7-53A2571FC196}"/>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2" name="Rectángulo redondeado 5">
            <a:extLst>
              <a:ext uri="{FF2B5EF4-FFF2-40B4-BE49-F238E27FC236}">
                <a16:creationId xmlns:a16="http://schemas.microsoft.com/office/drawing/2014/main" id="{78ADFACF-E7E4-2253-113B-E50B6678CD3E}"/>
              </a:ext>
            </a:extLst>
          </p:cNvPr>
          <p:cNvSpPr/>
          <p:nvPr/>
        </p:nvSpPr>
        <p:spPr>
          <a:xfrm>
            <a:off x="1843980" y="3364344"/>
            <a:ext cx="8018088" cy="21845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419" sz="1200" dirty="0"/>
              <a:t>Ingrese en los campos Materia y Número de curso el identificador de la asignatura para la cual desea programar el NRC.  </a:t>
            </a:r>
          </a:p>
          <a:p>
            <a:pPr marL="268288"/>
            <a:r>
              <a:rPr lang="es-419" sz="1100" dirty="0"/>
              <a:t>Al ingresar los valores, se despliega el Título de  la asignatura, según corresponda en el Catálogo de cursos.</a:t>
            </a:r>
          </a:p>
          <a:p>
            <a:pPr marL="228600" indent="-228600">
              <a:buFont typeface="+mj-lt"/>
              <a:buAutoNum type="arabicPeriod" startAt="4"/>
            </a:pPr>
            <a:r>
              <a:rPr lang="es-419" sz="1200" dirty="0"/>
              <a:t>‘Sección’: identificador único a definir considerando que su valor no debe encontrarse ya utilizado para el mismo periodo, materia y curso.</a:t>
            </a:r>
          </a:p>
          <a:p>
            <a:pPr marL="268288"/>
            <a:r>
              <a:rPr lang="es-419" sz="1100" dirty="0"/>
              <a:t> En la Universidad se ha definido que la sección será un identificador </a:t>
            </a:r>
            <a:r>
              <a:rPr lang="es-419" sz="1100" dirty="0" err="1"/>
              <a:t>Alfábetico</a:t>
            </a:r>
            <a:r>
              <a:rPr lang="es-419" sz="1100" dirty="0"/>
              <a:t> (A) que identificará los NRC  de un ciclo y paralelo o grupo.</a:t>
            </a:r>
          </a:p>
          <a:p>
            <a:pPr marL="228600" indent="-228600">
              <a:buFont typeface="+mj-lt"/>
              <a:buAutoNum type="arabicPeriod" startAt="5"/>
            </a:pPr>
            <a:r>
              <a:rPr lang="es-419" sz="1200" dirty="0"/>
              <a:t>Ingrese o seleccione el Campus en el que se impartirá la sección que se está creando.</a:t>
            </a:r>
          </a:p>
          <a:p>
            <a:pPr marL="228600" indent="-228600">
              <a:buFont typeface="+mj-lt"/>
              <a:buAutoNum type="arabicPeriod" startAt="5"/>
            </a:pPr>
            <a:r>
              <a:rPr lang="es-419" sz="1200" dirty="0"/>
              <a:t>Ingrese el estatus de la sección que se está creando.</a:t>
            </a:r>
          </a:p>
          <a:p>
            <a:pPr marL="268288"/>
            <a:r>
              <a:rPr lang="es-419" sz="1100" dirty="0"/>
              <a:t>Solamente en los NRC con estatus Activo se podrán inscribir los estudiantes.</a:t>
            </a:r>
          </a:p>
        </p:txBody>
      </p:sp>
      <p:sp>
        <p:nvSpPr>
          <p:cNvPr id="6" name="Rectángulo redondeado 15">
            <a:extLst>
              <a:ext uri="{FF2B5EF4-FFF2-40B4-BE49-F238E27FC236}">
                <a16:creationId xmlns:a16="http://schemas.microsoft.com/office/drawing/2014/main" id="{F805EBF1-AB57-CDD5-5AB0-A4F1655DAC2F}"/>
              </a:ext>
            </a:extLst>
          </p:cNvPr>
          <p:cNvSpPr/>
          <p:nvPr/>
        </p:nvSpPr>
        <p:spPr>
          <a:xfrm>
            <a:off x="2429537" y="1878483"/>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9" name="Rectángulo 8">
            <a:extLst>
              <a:ext uri="{FF2B5EF4-FFF2-40B4-BE49-F238E27FC236}">
                <a16:creationId xmlns:a16="http://schemas.microsoft.com/office/drawing/2014/main" id="{52550C0F-5FC0-00BC-6388-3FC71CC9B2DC}"/>
              </a:ext>
            </a:extLst>
          </p:cNvPr>
          <p:cNvSpPr/>
          <p:nvPr/>
        </p:nvSpPr>
        <p:spPr>
          <a:xfrm>
            <a:off x="871268" y="1878483"/>
            <a:ext cx="1525238" cy="4327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1" name="Rectángulo redondeado 15">
            <a:extLst>
              <a:ext uri="{FF2B5EF4-FFF2-40B4-BE49-F238E27FC236}">
                <a16:creationId xmlns:a16="http://schemas.microsoft.com/office/drawing/2014/main" id="{2E2D81DA-9120-04EC-51DB-A13A8B5CD32B}"/>
              </a:ext>
            </a:extLst>
          </p:cNvPr>
          <p:cNvSpPr/>
          <p:nvPr/>
        </p:nvSpPr>
        <p:spPr>
          <a:xfrm>
            <a:off x="3365056" y="272454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2" name="Rectángulo 11">
            <a:extLst>
              <a:ext uri="{FF2B5EF4-FFF2-40B4-BE49-F238E27FC236}">
                <a16:creationId xmlns:a16="http://schemas.microsoft.com/office/drawing/2014/main" id="{A7F557CF-2E83-D5F4-7181-760B224C43D1}"/>
              </a:ext>
            </a:extLst>
          </p:cNvPr>
          <p:cNvSpPr/>
          <p:nvPr/>
        </p:nvSpPr>
        <p:spPr>
          <a:xfrm>
            <a:off x="1087387" y="2641700"/>
            <a:ext cx="2242002" cy="24852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3" name="Rectángulo redondeado 15">
            <a:extLst>
              <a:ext uri="{FF2B5EF4-FFF2-40B4-BE49-F238E27FC236}">
                <a16:creationId xmlns:a16="http://schemas.microsoft.com/office/drawing/2014/main" id="{E893C31B-7D8C-81F9-16BC-D8EF7AE055BD}"/>
              </a:ext>
            </a:extLst>
          </p:cNvPr>
          <p:cNvSpPr/>
          <p:nvPr/>
        </p:nvSpPr>
        <p:spPr>
          <a:xfrm>
            <a:off x="6325490" y="187848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4" name="Rectángulo 13">
            <a:extLst>
              <a:ext uri="{FF2B5EF4-FFF2-40B4-BE49-F238E27FC236}">
                <a16:creationId xmlns:a16="http://schemas.microsoft.com/office/drawing/2014/main" id="{20012E85-E9BE-B21C-E69B-AF9ADFAA2269}"/>
              </a:ext>
            </a:extLst>
          </p:cNvPr>
          <p:cNvSpPr/>
          <p:nvPr/>
        </p:nvSpPr>
        <p:spPr>
          <a:xfrm>
            <a:off x="4987847" y="1878483"/>
            <a:ext cx="1043490" cy="2163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1ECBDB06-FA4B-840A-90D0-C53E55430450}"/>
              </a:ext>
            </a:extLst>
          </p:cNvPr>
          <p:cNvSpPr/>
          <p:nvPr/>
        </p:nvSpPr>
        <p:spPr>
          <a:xfrm>
            <a:off x="5063922" y="2156065"/>
            <a:ext cx="1129843"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6" name="Rectángulo redondeado 15">
            <a:extLst>
              <a:ext uri="{FF2B5EF4-FFF2-40B4-BE49-F238E27FC236}">
                <a16:creationId xmlns:a16="http://schemas.microsoft.com/office/drawing/2014/main" id="{6177BBF4-4733-360C-8666-C2FA405DA476}"/>
              </a:ext>
            </a:extLst>
          </p:cNvPr>
          <p:cNvSpPr/>
          <p:nvPr/>
        </p:nvSpPr>
        <p:spPr>
          <a:xfrm>
            <a:off x="6316055" y="2094880"/>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19" name="Título 3">
            <a:extLst>
              <a:ext uri="{FF2B5EF4-FFF2-40B4-BE49-F238E27FC236}">
                <a16:creationId xmlns:a16="http://schemas.microsoft.com/office/drawing/2014/main" id="{E31EFDC0-CEE6-F698-BFA8-367A2E90C89C}"/>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a:t>
            </a:r>
            <a:br>
              <a:rPr lang="es-CL" dirty="0">
                <a:solidFill>
                  <a:schemeClr val="tx2"/>
                </a:solidFill>
              </a:rPr>
            </a:br>
            <a:endParaRPr lang="es-CL" dirty="0">
              <a:solidFill>
                <a:schemeClr val="tx2"/>
              </a:solidFill>
            </a:endParaRPr>
          </a:p>
        </p:txBody>
      </p:sp>
    </p:spTree>
    <p:extLst>
      <p:ext uri="{BB962C8B-B14F-4D97-AF65-F5344CB8AC3E}">
        <p14:creationId xmlns:p14="http://schemas.microsoft.com/office/powerpoint/2010/main" val="338723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F3B37-88AF-874A-AF59-60E2CC8CEE00}"/>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64628964-D59C-D223-70DB-742D6912F7F6}"/>
              </a:ext>
            </a:extLst>
          </p:cNvPr>
          <p:cNvPicPr>
            <a:picLocks noChangeAspect="1"/>
          </p:cNvPicPr>
          <p:nvPr/>
        </p:nvPicPr>
        <p:blipFill>
          <a:blip r:embed="rId2"/>
          <a:stretch>
            <a:fillRect/>
          </a:stretch>
        </p:blipFill>
        <p:spPr>
          <a:xfrm>
            <a:off x="516634" y="795863"/>
            <a:ext cx="11314007" cy="4929928"/>
          </a:xfrm>
          <a:prstGeom prst="rect">
            <a:avLst/>
          </a:prstGeom>
        </p:spPr>
      </p:pic>
      <p:sp>
        <p:nvSpPr>
          <p:cNvPr id="3" name="Marcador de texto vertical 2">
            <a:extLst>
              <a:ext uri="{FF2B5EF4-FFF2-40B4-BE49-F238E27FC236}">
                <a16:creationId xmlns:a16="http://schemas.microsoft.com/office/drawing/2014/main" id="{215D4A8A-DCD6-FA05-2F1C-099C3368EC64}"/>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2" name="Rectángulo redondeado 5">
            <a:extLst>
              <a:ext uri="{FF2B5EF4-FFF2-40B4-BE49-F238E27FC236}">
                <a16:creationId xmlns:a16="http://schemas.microsoft.com/office/drawing/2014/main" id="{B2952694-23F5-DF18-5B57-F2C77978CD06}"/>
              </a:ext>
            </a:extLst>
          </p:cNvPr>
          <p:cNvSpPr/>
          <p:nvPr/>
        </p:nvSpPr>
        <p:spPr>
          <a:xfrm>
            <a:off x="1843980" y="3364344"/>
            <a:ext cx="8018088" cy="21845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7"/>
            </a:pPr>
            <a:r>
              <a:rPr lang="es-419" sz="1200" dirty="0"/>
              <a:t>Ingrese el Tipo de horario que corresponde a la sección que se está creando. Estos valores vienen definidos según el Catálogo de cursos. Si la asignatura tiene más de un tipo de horario, seleccione el principal de la asignatura.</a:t>
            </a:r>
          </a:p>
          <a:p>
            <a:pPr marL="228600" indent="-228600">
              <a:buFont typeface="+mj-lt"/>
              <a:buAutoNum type="arabicPeriod" startAt="7"/>
            </a:pPr>
            <a:r>
              <a:rPr lang="es-419" sz="1200" dirty="0"/>
              <a:t>En el campo Método educativo se desplegará el método que corresponda al tipo de horario según lo establecido en el catálogo de cursos.</a:t>
            </a:r>
          </a:p>
          <a:p>
            <a:pPr marL="228600" indent="-228600">
              <a:buFont typeface="+mj-lt"/>
              <a:buAutoNum type="arabicPeriod" startAt="7"/>
            </a:pPr>
            <a:r>
              <a:rPr lang="es-419" sz="1200" dirty="0"/>
              <a:t>Ingrese o seleccione el Modo de calificar de la sección. Los posibles valores han sido definidos desde el Catálogo de cursos. Es un campo obligatorio.</a:t>
            </a:r>
          </a:p>
          <a:p>
            <a:pPr marL="228600" indent="-228600">
              <a:buFont typeface="+mj-lt"/>
              <a:buAutoNum type="arabicPeriod" startAt="7"/>
            </a:pPr>
            <a:r>
              <a:rPr lang="es-419" sz="1200" dirty="0"/>
              <a:t>Ingrese la sesión o jornada en la que se imparte la sección que se está creando.</a:t>
            </a:r>
          </a:p>
          <a:p>
            <a:pPr marL="268288"/>
            <a:endParaRPr lang="es-419" sz="1100" dirty="0"/>
          </a:p>
        </p:txBody>
      </p:sp>
      <p:sp>
        <p:nvSpPr>
          <p:cNvPr id="11" name="Rectángulo redondeado 15">
            <a:extLst>
              <a:ext uri="{FF2B5EF4-FFF2-40B4-BE49-F238E27FC236}">
                <a16:creationId xmlns:a16="http://schemas.microsoft.com/office/drawing/2014/main" id="{71702F6F-2AAB-86FB-4AFC-A805DE594095}"/>
              </a:ext>
            </a:extLst>
          </p:cNvPr>
          <p:cNvSpPr/>
          <p:nvPr/>
        </p:nvSpPr>
        <p:spPr>
          <a:xfrm>
            <a:off x="9529730" y="1814849"/>
            <a:ext cx="332338" cy="1564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12" name="Rectángulo 11">
            <a:extLst>
              <a:ext uri="{FF2B5EF4-FFF2-40B4-BE49-F238E27FC236}">
                <a16:creationId xmlns:a16="http://schemas.microsoft.com/office/drawing/2014/main" id="{8644CC52-CCDF-903B-C2BC-D5E78CC0016B}"/>
              </a:ext>
            </a:extLst>
          </p:cNvPr>
          <p:cNvSpPr/>
          <p:nvPr/>
        </p:nvSpPr>
        <p:spPr>
          <a:xfrm>
            <a:off x="8048446" y="1805613"/>
            <a:ext cx="1504694" cy="1564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3" name="Rectángulo redondeado 15">
            <a:extLst>
              <a:ext uri="{FF2B5EF4-FFF2-40B4-BE49-F238E27FC236}">
                <a16:creationId xmlns:a16="http://schemas.microsoft.com/office/drawing/2014/main" id="{885FA489-07EC-B2F7-2225-64FB4A80F478}"/>
              </a:ext>
            </a:extLst>
          </p:cNvPr>
          <p:cNvSpPr/>
          <p:nvPr/>
        </p:nvSpPr>
        <p:spPr>
          <a:xfrm>
            <a:off x="5839493" y="2167095"/>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14" name="Rectángulo 13">
            <a:extLst>
              <a:ext uri="{FF2B5EF4-FFF2-40B4-BE49-F238E27FC236}">
                <a16:creationId xmlns:a16="http://schemas.microsoft.com/office/drawing/2014/main" id="{295A5A28-5BB0-373B-AEF3-E51E71FADCCB}"/>
              </a:ext>
            </a:extLst>
          </p:cNvPr>
          <p:cNvSpPr/>
          <p:nvPr/>
        </p:nvSpPr>
        <p:spPr>
          <a:xfrm>
            <a:off x="4425351" y="2140405"/>
            <a:ext cx="1375571" cy="18832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1BEE7DEF-AD5C-A6F6-C43E-2499FD27C58E}"/>
              </a:ext>
            </a:extLst>
          </p:cNvPr>
          <p:cNvSpPr/>
          <p:nvPr/>
        </p:nvSpPr>
        <p:spPr>
          <a:xfrm>
            <a:off x="4420738" y="2343523"/>
            <a:ext cx="1375571"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6" name="Rectángulo redondeado 15">
            <a:extLst>
              <a:ext uri="{FF2B5EF4-FFF2-40B4-BE49-F238E27FC236}">
                <a16:creationId xmlns:a16="http://schemas.microsoft.com/office/drawing/2014/main" id="{38B01AA9-E899-6FA5-E0CF-3E321524CAB8}"/>
              </a:ext>
            </a:extLst>
          </p:cNvPr>
          <p:cNvSpPr/>
          <p:nvPr/>
        </p:nvSpPr>
        <p:spPr>
          <a:xfrm>
            <a:off x="5834878" y="2347203"/>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7" name="Título 3">
            <a:extLst>
              <a:ext uri="{FF2B5EF4-FFF2-40B4-BE49-F238E27FC236}">
                <a16:creationId xmlns:a16="http://schemas.microsoft.com/office/drawing/2014/main" id="{2503B386-A46C-E9BA-B69C-1DEBA5557B90}"/>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a:t>
            </a:r>
            <a:br>
              <a:rPr lang="es-CL" dirty="0">
                <a:solidFill>
                  <a:schemeClr val="tx2"/>
                </a:solidFill>
              </a:rPr>
            </a:br>
            <a:endParaRPr lang="es-CL" dirty="0">
              <a:solidFill>
                <a:schemeClr val="tx2"/>
              </a:solidFill>
            </a:endParaRPr>
          </a:p>
        </p:txBody>
      </p:sp>
      <p:sp>
        <p:nvSpPr>
          <p:cNvPr id="18" name="Rectángulo redondeado 15">
            <a:extLst>
              <a:ext uri="{FF2B5EF4-FFF2-40B4-BE49-F238E27FC236}">
                <a16:creationId xmlns:a16="http://schemas.microsoft.com/office/drawing/2014/main" id="{0CD3C3DB-7A4F-60BB-B263-A91F050BF9BB}"/>
              </a:ext>
            </a:extLst>
          </p:cNvPr>
          <p:cNvSpPr/>
          <p:nvPr/>
        </p:nvSpPr>
        <p:spPr>
          <a:xfrm>
            <a:off x="9494313" y="2002648"/>
            <a:ext cx="476085" cy="13028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19" name="Rectángulo 18">
            <a:extLst>
              <a:ext uri="{FF2B5EF4-FFF2-40B4-BE49-F238E27FC236}">
                <a16:creationId xmlns:a16="http://schemas.microsoft.com/office/drawing/2014/main" id="{A6979B52-B18A-2EC5-3091-9EFF4E783078}"/>
              </a:ext>
            </a:extLst>
          </p:cNvPr>
          <p:cNvSpPr/>
          <p:nvPr/>
        </p:nvSpPr>
        <p:spPr>
          <a:xfrm>
            <a:off x="8053070" y="1976485"/>
            <a:ext cx="1504694" cy="1564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1390843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CA6F2-1432-EC31-498A-223614AEFE7A}"/>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5BDB7E6D-E81E-88AD-C195-C6643817CB05}"/>
              </a:ext>
            </a:extLst>
          </p:cNvPr>
          <p:cNvPicPr>
            <a:picLocks noChangeAspect="1"/>
          </p:cNvPicPr>
          <p:nvPr/>
        </p:nvPicPr>
        <p:blipFill>
          <a:blip r:embed="rId2"/>
          <a:stretch>
            <a:fillRect/>
          </a:stretch>
        </p:blipFill>
        <p:spPr>
          <a:xfrm>
            <a:off x="828776" y="964035"/>
            <a:ext cx="11314007" cy="4929928"/>
          </a:xfrm>
          <a:prstGeom prst="rect">
            <a:avLst/>
          </a:prstGeom>
        </p:spPr>
      </p:pic>
      <p:sp>
        <p:nvSpPr>
          <p:cNvPr id="3" name="Marcador de texto vertical 2">
            <a:extLst>
              <a:ext uri="{FF2B5EF4-FFF2-40B4-BE49-F238E27FC236}">
                <a16:creationId xmlns:a16="http://schemas.microsoft.com/office/drawing/2014/main" id="{7E98D666-EE10-2747-B884-1EE0726C107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2" name="Rectángulo redondeado 5">
            <a:extLst>
              <a:ext uri="{FF2B5EF4-FFF2-40B4-BE49-F238E27FC236}">
                <a16:creationId xmlns:a16="http://schemas.microsoft.com/office/drawing/2014/main" id="{465B651C-CAD0-70BF-AD20-F3E41D2408FD}"/>
              </a:ext>
            </a:extLst>
          </p:cNvPr>
          <p:cNvSpPr/>
          <p:nvPr/>
        </p:nvSpPr>
        <p:spPr>
          <a:xfrm>
            <a:off x="5138728" y="4451581"/>
            <a:ext cx="5804114" cy="11179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1"/>
            </a:pPr>
            <a:r>
              <a:rPr lang="es-419" sz="1200" dirty="0"/>
              <a:t>Se requiere asignar al NRC una parte de periodo en la cual se dictará, Las opciones son aquellas que fueron definidas en la configuración de SOATERM.</a:t>
            </a:r>
          </a:p>
          <a:p>
            <a:pPr marL="228600" indent="-228600">
              <a:buFont typeface="+mj-lt"/>
              <a:buAutoNum type="arabicPeriod" startAt="11"/>
            </a:pPr>
            <a:r>
              <a:rPr lang="es-419" sz="1200" dirty="0"/>
              <a:t>Se debe corroborar que la cantidad de horas créditos y horas de cobro asociadas a dicho NRC sean los requeridos en la programación.</a:t>
            </a:r>
          </a:p>
          <a:p>
            <a:pPr marL="228600" indent="-228600">
              <a:buFont typeface="+mj-lt"/>
              <a:buAutoNum type="arabicPeriod" startAt="11"/>
            </a:pPr>
            <a:r>
              <a:rPr lang="es-419" sz="1200" dirty="0"/>
              <a:t>Desplace la página hacia abajo.</a:t>
            </a:r>
          </a:p>
        </p:txBody>
      </p:sp>
      <p:sp>
        <p:nvSpPr>
          <p:cNvPr id="13" name="Rectángulo redondeado 15">
            <a:extLst>
              <a:ext uri="{FF2B5EF4-FFF2-40B4-BE49-F238E27FC236}">
                <a16:creationId xmlns:a16="http://schemas.microsoft.com/office/drawing/2014/main" id="{2D63F5AF-ECB9-F4AD-AF0F-A28CDC3A472B}"/>
              </a:ext>
            </a:extLst>
          </p:cNvPr>
          <p:cNvSpPr/>
          <p:nvPr/>
        </p:nvSpPr>
        <p:spPr>
          <a:xfrm>
            <a:off x="4670847" y="3403005"/>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
        <p:nvSpPr>
          <p:cNvPr id="14" name="Rectángulo 13">
            <a:extLst>
              <a:ext uri="{FF2B5EF4-FFF2-40B4-BE49-F238E27FC236}">
                <a16:creationId xmlns:a16="http://schemas.microsoft.com/office/drawing/2014/main" id="{497BD7B4-A98B-BAD3-7C12-E1837D8C1737}"/>
              </a:ext>
            </a:extLst>
          </p:cNvPr>
          <p:cNvSpPr/>
          <p:nvPr/>
        </p:nvSpPr>
        <p:spPr>
          <a:xfrm>
            <a:off x="828776" y="3327774"/>
            <a:ext cx="3803133" cy="3267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Título 3">
            <a:extLst>
              <a:ext uri="{FF2B5EF4-FFF2-40B4-BE49-F238E27FC236}">
                <a16:creationId xmlns:a16="http://schemas.microsoft.com/office/drawing/2014/main" id="{3C739516-8BFA-4ABB-A7B7-811A153F948E}"/>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a:t>
            </a:r>
            <a:br>
              <a:rPr lang="es-CL" dirty="0">
                <a:solidFill>
                  <a:schemeClr val="tx2"/>
                </a:solidFill>
              </a:rPr>
            </a:br>
            <a:endParaRPr lang="es-CL" dirty="0">
              <a:solidFill>
                <a:schemeClr val="tx2"/>
              </a:solidFill>
            </a:endParaRPr>
          </a:p>
        </p:txBody>
      </p:sp>
      <p:sp>
        <p:nvSpPr>
          <p:cNvPr id="4" name="Rectángulo redondeado 15">
            <a:extLst>
              <a:ext uri="{FF2B5EF4-FFF2-40B4-BE49-F238E27FC236}">
                <a16:creationId xmlns:a16="http://schemas.microsoft.com/office/drawing/2014/main" id="{AFF776B8-8DED-2A7E-D913-7DA3259ACE3E}"/>
              </a:ext>
            </a:extLst>
          </p:cNvPr>
          <p:cNvSpPr/>
          <p:nvPr/>
        </p:nvSpPr>
        <p:spPr>
          <a:xfrm>
            <a:off x="4626700" y="5385132"/>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12</a:t>
            </a:r>
          </a:p>
        </p:txBody>
      </p:sp>
      <p:sp>
        <p:nvSpPr>
          <p:cNvPr id="5" name="Rectángulo 4">
            <a:extLst>
              <a:ext uri="{FF2B5EF4-FFF2-40B4-BE49-F238E27FC236}">
                <a16:creationId xmlns:a16="http://schemas.microsoft.com/office/drawing/2014/main" id="{377E439A-815C-B34F-508C-3DE8AA60AEBC}"/>
              </a:ext>
            </a:extLst>
          </p:cNvPr>
          <p:cNvSpPr/>
          <p:nvPr/>
        </p:nvSpPr>
        <p:spPr>
          <a:xfrm>
            <a:off x="828776" y="5010553"/>
            <a:ext cx="3646370" cy="102340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6" name="Rectángulo redondeado 15">
            <a:extLst>
              <a:ext uri="{FF2B5EF4-FFF2-40B4-BE49-F238E27FC236}">
                <a16:creationId xmlns:a16="http://schemas.microsoft.com/office/drawing/2014/main" id="{85640DE1-DE01-24A8-EDE0-081938356249}"/>
              </a:ext>
            </a:extLst>
          </p:cNvPr>
          <p:cNvSpPr/>
          <p:nvPr/>
        </p:nvSpPr>
        <p:spPr>
          <a:xfrm>
            <a:off x="11661860" y="385138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13</a:t>
            </a:r>
          </a:p>
        </p:txBody>
      </p:sp>
      <p:sp>
        <p:nvSpPr>
          <p:cNvPr id="8" name="Flecha: hacia abajo 7">
            <a:extLst>
              <a:ext uri="{FF2B5EF4-FFF2-40B4-BE49-F238E27FC236}">
                <a16:creationId xmlns:a16="http://schemas.microsoft.com/office/drawing/2014/main" id="{558CC1E0-A1C7-DA47-312F-BF850DD7AE4F}"/>
              </a:ext>
            </a:extLst>
          </p:cNvPr>
          <p:cNvSpPr/>
          <p:nvPr/>
        </p:nvSpPr>
        <p:spPr>
          <a:xfrm>
            <a:off x="12022334" y="3745548"/>
            <a:ext cx="120449" cy="38792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40603670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F522-B8D3-7088-AB65-24DDBA0251BB}"/>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6FF67597-3838-3CCB-7867-4E806ED32160}"/>
              </a:ext>
            </a:extLst>
          </p:cNvPr>
          <p:cNvPicPr>
            <a:picLocks noChangeAspect="1"/>
          </p:cNvPicPr>
          <p:nvPr/>
        </p:nvPicPr>
        <p:blipFill>
          <a:blip r:embed="rId2"/>
          <a:stretch>
            <a:fillRect/>
          </a:stretch>
        </p:blipFill>
        <p:spPr>
          <a:xfrm>
            <a:off x="925578" y="896332"/>
            <a:ext cx="11061940" cy="4793894"/>
          </a:xfrm>
          <a:prstGeom prst="rect">
            <a:avLst/>
          </a:prstGeom>
        </p:spPr>
      </p:pic>
      <p:sp>
        <p:nvSpPr>
          <p:cNvPr id="3" name="Marcador de texto vertical 2">
            <a:extLst>
              <a:ext uri="{FF2B5EF4-FFF2-40B4-BE49-F238E27FC236}">
                <a16:creationId xmlns:a16="http://schemas.microsoft.com/office/drawing/2014/main" id="{663E11BC-44FD-7C32-510A-C7B5716C817D}"/>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2" name="Rectángulo redondeado 5">
            <a:extLst>
              <a:ext uri="{FF2B5EF4-FFF2-40B4-BE49-F238E27FC236}">
                <a16:creationId xmlns:a16="http://schemas.microsoft.com/office/drawing/2014/main" id="{CB79F71D-A4C3-23D4-0D8F-7563736EBAC7}"/>
              </a:ext>
            </a:extLst>
          </p:cNvPr>
          <p:cNvSpPr/>
          <p:nvPr/>
        </p:nvSpPr>
        <p:spPr>
          <a:xfrm>
            <a:off x="3665591" y="2266656"/>
            <a:ext cx="7289957" cy="11179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Tipo de horario TEO</a:t>
            </a:r>
          </a:p>
          <a:p>
            <a:pPr marL="228600" indent="-228600">
              <a:buFont typeface="+mj-lt"/>
              <a:buAutoNum type="arabicPeriod" startAt="14"/>
            </a:pPr>
            <a:r>
              <a:rPr lang="es-419" sz="1200" dirty="0"/>
              <a:t>Verificar, si el NRC tendrá calificaciones, que esté activa la casilla Calificable.</a:t>
            </a:r>
          </a:p>
          <a:p>
            <a:pPr marL="228600" indent="-228600">
              <a:buFont typeface="+mj-lt"/>
              <a:buAutoNum type="arabicPeriod" startAt="14"/>
            </a:pPr>
            <a:r>
              <a:rPr lang="es-419" sz="1200" dirty="0"/>
              <a:t>Si  el número de horas de cobro se van a incluir en el cobro. No marcar Dispensa de colegiatura y cuotas</a:t>
            </a:r>
          </a:p>
          <a:p>
            <a:pPr marL="228600" indent="-228600">
              <a:buFont typeface="+mj-lt"/>
              <a:buAutoNum type="arabicPeriod" startAt="14"/>
            </a:pPr>
            <a:r>
              <a:rPr lang="es-419" sz="1200" dirty="0"/>
              <a:t>Guardar la información</a:t>
            </a:r>
          </a:p>
        </p:txBody>
      </p:sp>
      <p:sp>
        <p:nvSpPr>
          <p:cNvPr id="13" name="Rectángulo redondeado 15">
            <a:extLst>
              <a:ext uri="{FF2B5EF4-FFF2-40B4-BE49-F238E27FC236}">
                <a16:creationId xmlns:a16="http://schemas.microsoft.com/office/drawing/2014/main" id="{BFCC4AB8-F22D-D4A0-1929-A5E1E1048879}"/>
              </a:ext>
            </a:extLst>
          </p:cNvPr>
          <p:cNvSpPr/>
          <p:nvPr/>
        </p:nvSpPr>
        <p:spPr>
          <a:xfrm>
            <a:off x="4857868" y="4799914"/>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14</a:t>
            </a:r>
          </a:p>
        </p:txBody>
      </p:sp>
      <p:sp>
        <p:nvSpPr>
          <p:cNvPr id="14" name="Rectángulo 13">
            <a:extLst>
              <a:ext uri="{FF2B5EF4-FFF2-40B4-BE49-F238E27FC236}">
                <a16:creationId xmlns:a16="http://schemas.microsoft.com/office/drawing/2014/main" id="{9C407D61-3578-DCBD-A2CE-117CDE1CF1B5}"/>
              </a:ext>
            </a:extLst>
          </p:cNvPr>
          <p:cNvSpPr/>
          <p:nvPr/>
        </p:nvSpPr>
        <p:spPr>
          <a:xfrm>
            <a:off x="5300409" y="4815703"/>
            <a:ext cx="2798618"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Título 3">
            <a:extLst>
              <a:ext uri="{FF2B5EF4-FFF2-40B4-BE49-F238E27FC236}">
                <a16:creationId xmlns:a16="http://schemas.microsoft.com/office/drawing/2014/main" id="{024C3204-1BC4-598A-8E1F-89DB5B5610FE}"/>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 – Tipo de horario TEORÍA</a:t>
            </a:r>
            <a:br>
              <a:rPr lang="es-CL" dirty="0">
                <a:solidFill>
                  <a:schemeClr val="tx2"/>
                </a:solidFill>
              </a:rPr>
            </a:br>
            <a:endParaRPr lang="es-CL" dirty="0">
              <a:solidFill>
                <a:schemeClr val="tx2"/>
              </a:solidFill>
            </a:endParaRPr>
          </a:p>
        </p:txBody>
      </p:sp>
      <p:sp>
        <p:nvSpPr>
          <p:cNvPr id="11" name="Rectángulo redondeado 15">
            <a:extLst>
              <a:ext uri="{FF2B5EF4-FFF2-40B4-BE49-F238E27FC236}">
                <a16:creationId xmlns:a16="http://schemas.microsoft.com/office/drawing/2014/main" id="{F3039E9A-E5B7-F61A-2ABA-22002A9AA236}"/>
              </a:ext>
            </a:extLst>
          </p:cNvPr>
          <p:cNvSpPr/>
          <p:nvPr/>
        </p:nvSpPr>
        <p:spPr>
          <a:xfrm>
            <a:off x="11004324" y="5546137"/>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16</a:t>
            </a:r>
          </a:p>
        </p:txBody>
      </p:sp>
      <p:sp>
        <p:nvSpPr>
          <p:cNvPr id="12" name="Rectángulo 11">
            <a:extLst>
              <a:ext uri="{FF2B5EF4-FFF2-40B4-BE49-F238E27FC236}">
                <a16:creationId xmlns:a16="http://schemas.microsoft.com/office/drawing/2014/main" id="{C91C2B76-7F6F-D810-5866-1CA92531D971}"/>
              </a:ext>
            </a:extLst>
          </p:cNvPr>
          <p:cNvSpPr/>
          <p:nvPr/>
        </p:nvSpPr>
        <p:spPr>
          <a:xfrm>
            <a:off x="11462501" y="5546137"/>
            <a:ext cx="499139" cy="17626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4" name="Rectángulo redondeado 15">
            <a:extLst>
              <a:ext uri="{FF2B5EF4-FFF2-40B4-BE49-F238E27FC236}">
                <a16:creationId xmlns:a16="http://schemas.microsoft.com/office/drawing/2014/main" id="{A4F32950-9E83-CA61-CAFE-5AA59A2BDBF3}"/>
              </a:ext>
            </a:extLst>
          </p:cNvPr>
          <p:cNvSpPr/>
          <p:nvPr/>
        </p:nvSpPr>
        <p:spPr>
          <a:xfrm>
            <a:off x="4830031" y="5029489"/>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15</a:t>
            </a:r>
          </a:p>
        </p:txBody>
      </p:sp>
      <p:sp>
        <p:nvSpPr>
          <p:cNvPr id="6" name="Rectángulo 5">
            <a:extLst>
              <a:ext uri="{FF2B5EF4-FFF2-40B4-BE49-F238E27FC236}">
                <a16:creationId xmlns:a16="http://schemas.microsoft.com/office/drawing/2014/main" id="{C78F9AAD-7288-ADBB-11B8-57F0A1CBD17E}"/>
              </a:ext>
            </a:extLst>
          </p:cNvPr>
          <p:cNvSpPr/>
          <p:nvPr/>
        </p:nvSpPr>
        <p:spPr>
          <a:xfrm>
            <a:off x="5300409" y="4985491"/>
            <a:ext cx="2798618"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28196186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48AFC-012D-8F6B-4AED-487BBA0FFA28}"/>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4E16791C-554B-5E86-974D-81E15AF61BEA}"/>
              </a:ext>
            </a:extLst>
          </p:cNvPr>
          <p:cNvPicPr>
            <a:picLocks noChangeAspect="1"/>
          </p:cNvPicPr>
          <p:nvPr/>
        </p:nvPicPr>
        <p:blipFill>
          <a:blip r:embed="rId2"/>
          <a:stretch>
            <a:fillRect/>
          </a:stretch>
        </p:blipFill>
        <p:spPr>
          <a:xfrm>
            <a:off x="897146" y="1057908"/>
            <a:ext cx="11070771" cy="4949492"/>
          </a:xfrm>
          <a:prstGeom prst="rect">
            <a:avLst/>
          </a:prstGeom>
        </p:spPr>
      </p:pic>
      <p:sp>
        <p:nvSpPr>
          <p:cNvPr id="3" name="Marcador de texto vertical 2">
            <a:extLst>
              <a:ext uri="{FF2B5EF4-FFF2-40B4-BE49-F238E27FC236}">
                <a16:creationId xmlns:a16="http://schemas.microsoft.com/office/drawing/2014/main" id="{F56D0E11-A23B-2AB2-7318-A9B7718AB29C}"/>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13" name="Rectángulo redondeado 15">
            <a:extLst>
              <a:ext uri="{FF2B5EF4-FFF2-40B4-BE49-F238E27FC236}">
                <a16:creationId xmlns:a16="http://schemas.microsoft.com/office/drawing/2014/main" id="{460BC28F-A0B5-18EB-D3E0-792B3E1E853D}"/>
              </a:ext>
            </a:extLst>
          </p:cNvPr>
          <p:cNvSpPr/>
          <p:nvPr/>
        </p:nvSpPr>
        <p:spPr>
          <a:xfrm>
            <a:off x="4995889" y="4996446"/>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17</a:t>
            </a:r>
          </a:p>
        </p:txBody>
      </p:sp>
      <p:sp>
        <p:nvSpPr>
          <p:cNvPr id="14" name="Rectángulo 13">
            <a:extLst>
              <a:ext uri="{FF2B5EF4-FFF2-40B4-BE49-F238E27FC236}">
                <a16:creationId xmlns:a16="http://schemas.microsoft.com/office/drawing/2014/main" id="{A97BC132-521F-805D-B9CF-6F754EA7D3C5}"/>
              </a:ext>
            </a:extLst>
          </p:cNvPr>
          <p:cNvSpPr/>
          <p:nvPr/>
        </p:nvSpPr>
        <p:spPr>
          <a:xfrm>
            <a:off x="5438430" y="5012235"/>
            <a:ext cx="2798618"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Título 3">
            <a:extLst>
              <a:ext uri="{FF2B5EF4-FFF2-40B4-BE49-F238E27FC236}">
                <a16:creationId xmlns:a16="http://schemas.microsoft.com/office/drawing/2014/main" id="{5C0225BC-284E-AB6C-0AA6-92418A302767}"/>
              </a:ext>
            </a:extLst>
          </p:cNvPr>
          <p:cNvSpPr>
            <a:spLocks noGrp="1"/>
          </p:cNvSpPr>
          <p:nvPr>
            <p:ph type="title"/>
          </p:nvPr>
        </p:nvSpPr>
        <p:spPr>
          <a:xfrm>
            <a:off x="749862" y="129364"/>
            <a:ext cx="10271883" cy="626165"/>
          </a:xfrm>
        </p:spPr>
        <p:txBody>
          <a:bodyPr vert="horz" lIns="0" tIns="0" rIns="0" bIns="0" rtlCol="0" anchor="t" anchorCtr="0">
            <a:noAutofit/>
          </a:bodyPr>
          <a:lstStyle/>
          <a:p>
            <a:r>
              <a:rPr lang="es-ES_tradnl" dirty="0">
                <a:solidFill>
                  <a:schemeClr val="tx2"/>
                </a:solidFill>
              </a:rPr>
              <a:t> Programar NRC (SSASECT) Tipo de horario diferente a TEORÍA</a:t>
            </a:r>
            <a:br>
              <a:rPr lang="es-CL" dirty="0">
                <a:solidFill>
                  <a:schemeClr val="tx2"/>
                </a:solidFill>
              </a:rPr>
            </a:br>
            <a:endParaRPr lang="es-CL" dirty="0">
              <a:solidFill>
                <a:schemeClr val="tx2"/>
              </a:solidFill>
            </a:endParaRPr>
          </a:p>
        </p:txBody>
      </p:sp>
      <p:sp>
        <p:nvSpPr>
          <p:cNvPr id="11" name="Rectángulo redondeado 15">
            <a:extLst>
              <a:ext uri="{FF2B5EF4-FFF2-40B4-BE49-F238E27FC236}">
                <a16:creationId xmlns:a16="http://schemas.microsoft.com/office/drawing/2014/main" id="{78F538EF-A4C8-D995-1502-F7EC081868A6}"/>
              </a:ext>
            </a:extLst>
          </p:cNvPr>
          <p:cNvSpPr/>
          <p:nvPr/>
        </p:nvSpPr>
        <p:spPr>
          <a:xfrm>
            <a:off x="11148623" y="5720530"/>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19</a:t>
            </a:r>
          </a:p>
        </p:txBody>
      </p:sp>
      <p:sp>
        <p:nvSpPr>
          <p:cNvPr id="12" name="Rectángulo 11">
            <a:extLst>
              <a:ext uri="{FF2B5EF4-FFF2-40B4-BE49-F238E27FC236}">
                <a16:creationId xmlns:a16="http://schemas.microsoft.com/office/drawing/2014/main" id="{606B2B59-B9B1-FC90-01E3-45CCEFAEBEC5}"/>
              </a:ext>
            </a:extLst>
          </p:cNvPr>
          <p:cNvSpPr/>
          <p:nvPr/>
        </p:nvSpPr>
        <p:spPr>
          <a:xfrm>
            <a:off x="11529163" y="5720530"/>
            <a:ext cx="499139" cy="17626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4" name="Rectángulo redondeado 15">
            <a:extLst>
              <a:ext uri="{FF2B5EF4-FFF2-40B4-BE49-F238E27FC236}">
                <a16:creationId xmlns:a16="http://schemas.microsoft.com/office/drawing/2014/main" id="{00451A3A-5B71-0B50-9838-BB33CDAC891F}"/>
              </a:ext>
            </a:extLst>
          </p:cNvPr>
          <p:cNvSpPr/>
          <p:nvPr/>
        </p:nvSpPr>
        <p:spPr>
          <a:xfrm>
            <a:off x="4968052" y="522602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18</a:t>
            </a:r>
          </a:p>
        </p:txBody>
      </p:sp>
      <p:sp>
        <p:nvSpPr>
          <p:cNvPr id="6" name="Rectángulo 5">
            <a:extLst>
              <a:ext uri="{FF2B5EF4-FFF2-40B4-BE49-F238E27FC236}">
                <a16:creationId xmlns:a16="http://schemas.microsoft.com/office/drawing/2014/main" id="{34CEA047-5667-A90C-DA37-EDED3D1D2D58}"/>
              </a:ext>
            </a:extLst>
          </p:cNvPr>
          <p:cNvSpPr/>
          <p:nvPr/>
        </p:nvSpPr>
        <p:spPr>
          <a:xfrm>
            <a:off x="5438430" y="5182023"/>
            <a:ext cx="2798618"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redondeado 5">
            <a:extLst>
              <a:ext uri="{FF2B5EF4-FFF2-40B4-BE49-F238E27FC236}">
                <a16:creationId xmlns:a16="http://schemas.microsoft.com/office/drawing/2014/main" id="{11D814A3-E96B-FA7F-F503-AB88B21E18E1}"/>
              </a:ext>
            </a:extLst>
          </p:cNvPr>
          <p:cNvSpPr/>
          <p:nvPr/>
        </p:nvSpPr>
        <p:spPr>
          <a:xfrm>
            <a:off x="4995889" y="5475085"/>
            <a:ext cx="4427181" cy="11179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17.  Verificar, si el NRC tendrá calificaciones, Generalmente no se activa la casilla Calificable.</a:t>
            </a:r>
          </a:p>
          <a:p>
            <a:r>
              <a:rPr lang="es-419" sz="1200" dirty="0"/>
              <a:t>18. El número de horas de cobro NO se van a incluir en el cobro.  Marcar Dispensa de colegiatura y cuotas</a:t>
            </a:r>
          </a:p>
          <a:p>
            <a:r>
              <a:rPr lang="es-419" sz="1200" dirty="0"/>
              <a:t>19. Guardar la información</a:t>
            </a:r>
          </a:p>
        </p:txBody>
      </p:sp>
      <p:sp>
        <p:nvSpPr>
          <p:cNvPr id="16" name="Rectángulo redondeado 5">
            <a:extLst>
              <a:ext uri="{FF2B5EF4-FFF2-40B4-BE49-F238E27FC236}">
                <a16:creationId xmlns:a16="http://schemas.microsoft.com/office/drawing/2014/main" id="{BDBDE8D3-27C6-DD8F-31FA-702E0FC3CFD4}"/>
              </a:ext>
            </a:extLst>
          </p:cNvPr>
          <p:cNvSpPr/>
          <p:nvPr/>
        </p:nvSpPr>
        <p:spPr>
          <a:xfrm>
            <a:off x="3882409" y="2414462"/>
            <a:ext cx="4427181" cy="16830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Se pueden modificar las horas de Crédito: para que no sume en el total de créditos inscritos por el estudiante</a:t>
            </a:r>
          </a:p>
          <a:p>
            <a:r>
              <a:rPr lang="es-419" sz="1200" dirty="0"/>
              <a:t>Se pueden modificar las horas de cobro para que no sume en el total de créditos a cobrar</a:t>
            </a:r>
          </a:p>
          <a:p>
            <a:endParaRPr lang="es-419" sz="1200" dirty="0"/>
          </a:p>
          <a:p>
            <a:r>
              <a:rPr lang="es-419" sz="1200" dirty="0"/>
              <a:t>IMPORTANTE: EL CURSO DEBE TENER CRÉDITOS VARIABLES EN SCACRSE. </a:t>
            </a:r>
          </a:p>
        </p:txBody>
      </p:sp>
    </p:spTree>
    <p:extLst>
      <p:ext uri="{BB962C8B-B14F-4D97-AF65-F5344CB8AC3E}">
        <p14:creationId xmlns:p14="http://schemas.microsoft.com/office/powerpoint/2010/main" val="4019146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8F35482E-4AE7-F0A2-13C5-C7175B0DCC56}"/>
              </a:ext>
            </a:extLst>
          </p:cNvPr>
          <p:cNvPicPr>
            <a:picLocks noChangeAspect="1"/>
          </p:cNvPicPr>
          <p:nvPr/>
        </p:nvPicPr>
        <p:blipFill>
          <a:blip r:embed="rId2"/>
          <a:stretch>
            <a:fillRect/>
          </a:stretch>
        </p:blipFill>
        <p:spPr>
          <a:xfrm>
            <a:off x="635764" y="854015"/>
            <a:ext cx="11556236" cy="497509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dirty="0">
                <a:solidFill>
                  <a:schemeClr val="tx2"/>
                </a:solidFill>
              </a:rPr>
            </a:br>
            <a:br>
              <a:rPr lang="es-CL" b="1" dirty="0">
                <a:effectLst/>
              </a:rPr>
            </a:br>
            <a:endParaRPr lang="es-CL" dirty="0"/>
          </a:p>
        </p:txBody>
      </p:sp>
      <p:sp>
        <p:nvSpPr>
          <p:cNvPr id="10" name="Rectángulo redondeado 5">
            <a:extLst>
              <a:ext uri="{FF2B5EF4-FFF2-40B4-BE49-F238E27FC236}">
                <a16:creationId xmlns:a16="http://schemas.microsoft.com/office/drawing/2014/main" id="{ACA3836E-4E0F-74F4-F518-D7898C3BB892}"/>
              </a:ext>
            </a:extLst>
          </p:cNvPr>
          <p:cNvSpPr/>
          <p:nvPr/>
        </p:nvSpPr>
        <p:spPr>
          <a:xfrm>
            <a:off x="2258291" y="3588853"/>
            <a:ext cx="8018088" cy="9063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Una vez la asignatura sea configurada, tras realizar el guardado de la configuración, se generará el valor único del NRC para el periodo académico en consideración.</a:t>
            </a:r>
            <a:endParaRPr lang="es-419" sz="1400" dirty="0"/>
          </a:p>
        </p:txBody>
      </p:sp>
      <p:sp>
        <p:nvSpPr>
          <p:cNvPr id="8" name="Rectángulo 7">
            <a:extLst>
              <a:ext uri="{FF2B5EF4-FFF2-40B4-BE49-F238E27FC236}">
                <a16:creationId xmlns:a16="http://schemas.microsoft.com/office/drawing/2014/main" id="{DF2C9833-2F2F-BF08-6D8E-18706DB9F584}"/>
              </a:ext>
            </a:extLst>
          </p:cNvPr>
          <p:cNvSpPr/>
          <p:nvPr/>
        </p:nvSpPr>
        <p:spPr>
          <a:xfrm>
            <a:off x="635764" y="1261001"/>
            <a:ext cx="5601134" cy="30037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954433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D7072A0-1330-14E2-DED5-7AD18B811379}"/>
              </a:ext>
            </a:extLst>
          </p:cNvPr>
          <p:cNvPicPr>
            <a:picLocks noChangeAspect="1"/>
          </p:cNvPicPr>
          <p:nvPr/>
        </p:nvPicPr>
        <p:blipFill>
          <a:blip r:embed="rId2"/>
          <a:stretch>
            <a:fillRect/>
          </a:stretch>
        </p:blipFill>
        <p:spPr>
          <a:xfrm>
            <a:off x="983410" y="791150"/>
            <a:ext cx="10853343" cy="469195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dirty="0">
                <a:solidFill>
                  <a:schemeClr val="tx2"/>
                </a:solidFill>
              </a:rPr>
            </a:br>
            <a:br>
              <a:rPr lang="es-CL" b="1" dirty="0">
                <a:effectLst/>
              </a:rPr>
            </a:br>
            <a:endParaRPr lang="es-CL" dirty="0"/>
          </a:p>
        </p:txBody>
      </p:sp>
      <p:sp>
        <p:nvSpPr>
          <p:cNvPr id="15" name="Rectángulo redondeado 5">
            <a:extLst>
              <a:ext uri="{FF2B5EF4-FFF2-40B4-BE49-F238E27FC236}">
                <a16:creationId xmlns:a16="http://schemas.microsoft.com/office/drawing/2014/main" id="{7C7B1ADF-88DA-6919-CD06-A0EBE330BE9D}"/>
              </a:ext>
            </a:extLst>
          </p:cNvPr>
          <p:cNvSpPr/>
          <p:nvPr/>
        </p:nvSpPr>
        <p:spPr>
          <a:xfrm>
            <a:off x="2195618" y="4451927"/>
            <a:ext cx="5978564" cy="11176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En la pestaña Información de ingreso de sección, Subpestaña Detalles de Ingreso: </a:t>
            </a:r>
          </a:p>
          <a:p>
            <a:pPr marL="228600" indent="-228600">
              <a:buFont typeface="+mj-lt"/>
              <a:buAutoNum type="arabicPeriod" startAt="16"/>
            </a:pPr>
            <a:r>
              <a:rPr lang="es-ES_tradnl" sz="1200" dirty="0"/>
              <a:t>Ingresar cupos máximos para el NRC.</a:t>
            </a:r>
          </a:p>
          <a:p>
            <a:pPr marL="228600" indent="-228600">
              <a:buFont typeface="+mj-lt"/>
              <a:buAutoNum type="arabicPeriod" startAt="16"/>
            </a:pPr>
            <a:r>
              <a:rPr lang="es-ES_tradnl" sz="1200" dirty="0"/>
              <a:t>Guarde la información.</a:t>
            </a:r>
          </a:p>
        </p:txBody>
      </p:sp>
      <p:sp>
        <p:nvSpPr>
          <p:cNvPr id="19" name="Rectángulo redondeado 15">
            <a:extLst>
              <a:ext uri="{FF2B5EF4-FFF2-40B4-BE49-F238E27FC236}">
                <a16:creationId xmlns:a16="http://schemas.microsoft.com/office/drawing/2014/main" id="{BEE51437-4609-95A0-A6B9-0ABAC18D9F61}"/>
              </a:ext>
            </a:extLst>
          </p:cNvPr>
          <p:cNvSpPr/>
          <p:nvPr/>
        </p:nvSpPr>
        <p:spPr>
          <a:xfrm>
            <a:off x="3136292" y="2724086"/>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r>
              <a:rPr lang="es-419" sz="1100" dirty="0"/>
              <a:t>6</a:t>
            </a:r>
            <a:endParaRPr lang="es-419" sz="1100" noProof="0" dirty="0"/>
          </a:p>
        </p:txBody>
      </p:sp>
      <p:sp>
        <p:nvSpPr>
          <p:cNvPr id="20" name="Rectángulo 19">
            <a:extLst>
              <a:ext uri="{FF2B5EF4-FFF2-40B4-BE49-F238E27FC236}">
                <a16:creationId xmlns:a16="http://schemas.microsoft.com/office/drawing/2014/main" id="{E80DD8E1-E686-86C5-0397-776069AB7191}"/>
              </a:ext>
            </a:extLst>
          </p:cNvPr>
          <p:cNvSpPr/>
          <p:nvPr/>
        </p:nvSpPr>
        <p:spPr>
          <a:xfrm>
            <a:off x="3510101" y="2700360"/>
            <a:ext cx="954264" cy="18832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1" name="Rectángulo 20">
            <a:extLst>
              <a:ext uri="{FF2B5EF4-FFF2-40B4-BE49-F238E27FC236}">
                <a16:creationId xmlns:a16="http://schemas.microsoft.com/office/drawing/2014/main" id="{F2C8435D-2931-2CB5-8B6F-75C96959CFF8}"/>
              </a:ext>
            </a:extLst>
          </p:cNvPr>
          <p:cNvSpPr/>
          <p:nvPr/>
        </p:nvSpPr>
        <p:spPr>
          <a:xfrm>
            <a:off x="2744179" y="1491789"/>
            <a:ext cx="1862327"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2" name="Rectángulo redondeado 15">
            <a:extLst>
              <a:ext uri="{FF2B5EF4-FFF2-40B4-BE49-F238E27FC236}">
                <a16:creationId xmlns:a16="http://schemas.microsoft.com/office/drawing/2014/main" id="{6D9B5D18-25C8-7E81-D915-5179AEF6F3B5}"/>
              </a:ext>
            </a:extLst>
          </p:cNvPr>
          <p:cNvSpPr/>
          <p:nvPr/>
        </p:nvSpPr>
        <p:spPr>
          <a:xfrm>
            <a:off x="10721656" y="5139287"/>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17</a:t>
            </a:r>
          </a:p>
        </p:txBody>
      </p:sp>
      <p:sp>
        <p:nvSpPr>
          <p:cNvPr id="23" name="Rectángulo 22">
            <a:extLst>
              <a:ext uri="{FF2B5EF4-FFF2-40B4-BE49-F238E27FC236}">
                <a16:creationId xmlns:a16="http://schemas.microsoft.com/office/drawing/2014/main" id="{A257BB20-B12C-E328-6B18-90DBEDB0506E}"/>
              </a:ext>
            </a:extLst>
          </p:cNvPr>
          <p:cNvSpPr/>
          <p:nvPr/>
        </p:nvSpPr>
        <p:spPr>
          <a:xfrm>
            <a:off x="11202425" y="5102726"/>
            <a:ext cx="507027"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 name="Rectángulo 1">
            <a:extLst>
              <a:ext uri="{FF2B5EF4-FFF2-40B4-BE49-F238E27FC236}">
                <a16:creationId xmlns:a16="http://schemas.microsoft.com/office/drawing/2014/main" id="{A27AE27C-64EF-1061-B8BF-6A3D43E1E587}"/>
              </a:ext>
            </a:extLst>
          </p:cNvPr>
          <p:cNvSpPr/>
          <p:nvPr/>
        </p:nvSpPr>
        <p:spPr>
          <a:xfrm>
            <a:off x="1789915" y="3576144"/>
            <a:ext cx="954264" cy="18832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3924423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CD39E-A5F7-ACFF-3DB8-A114390C0E60}"/>
            </a:ext>
          </a:extLst>
        </p:cNvPr>
        <p:cNvGrpSpPr/>
        <p:nvPr/>
      </p:nvGrpSpPr>
      <p:grpSpPr>
        <a:xfrm>
          <a:off x="0" y="0"/>
          <a:ext cx="0" cy="0"/>
          <a:chOff x="0" y="0"/>
          <a:chExt cx="0" cy="0"/>
        </a:xfrm>
      </p:grpSpPr>
      <p:pic>
        <p:nvPicPr>
          <p:cNvPr id="18" name="Imagen 17">
            <a:extLst>
              <a:ext uri="{FF2B5EF4-FFF2-40B4-BE49-F238E27FC236}">
                <a16:creationId xmlns:a16="http://schemas.microsoft.com/office/drawing/2014/main" id="{C918CE47-CECB-7E5E-4E19-70CCA4142F56}"/>
              </a:ext>
            </a:extLst>
          </p:cNvPr>
          <p:cNvPicPr>
            <a:picLocks noChangeAspect="1"/>
          </p:cNvPicPr>
          <p:nvPr/>
        </p:nvPicPr>
        <p:blipFill>
          <a:blip r:embed="rId2"/>
          <a:stretch>
            <a:fillRect/>
          </a:stretch>
        </p:blipFill>
        <p:spPr>
          <a:xfrm>
            <a:off x="895500" y="849361"/>
            <a:ext cx="10595974" cy="4580695"/>
          </a:xfrm>
          <a:prstGeom prst="rect">
            <a:avLst/>
          </a:prstGeom>
        </p:spPr>
      </p:pic>
      <p:sp>
        <p:nvSpPr>
          <p:cNvPr id="3" name="Marcador de texto vertical 2">
            <a:extLst>
              <a:ext uri="{FF2B5EF4-FFF2-40B4-BE49-F238E27FC236}">
                <a16:creationId xmlns:a16="http://schemas.microsoft.com/office/drawing/2014/main" id="{B2F1FCFF-8036-8EF5-E2E6-0DA8B53E2D42}"/>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7BF2036A-A758-78D7-31A6-68C31836A225}"/>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dirty="0">
                <a:solidFill>
                  <a:schemeClr val="tx2"/>
                </a:solidFill>
              </a:rPr>
            </a:br>
            <a:br>
              <a:rPr lang="es-CL" b="1" dirty="0">
                <a:effectLst/>
              </a:rPr>
            </a:br>
            <a:endParaRPr lang="es-CL" dirty="0"/>
          </a:p>
        </p:txBody>
      </p:sp>
      <p:sp>
        <p:nvSpPr>
          <p:cNvPr id="15" name="Rectángulo redondeado 5">
            <a:extLst>
              <a:ext uri="{FF2B5EF4-FFF2-40B4-BE49-F238E27FC236}">
                <a16:creationId xmlns:a16="http://schemas.microsoft.com/office/drawing/2014/main" id="{B746FFFB-011C-EFAA-A348-1AC71D365924}"/>
              </a:ext>
            </a:extLst>
          </p:cNvPr>
          <p:cNvSpPr/>
          <p:nvPr/>
        </p:nvSpPr>
        <p:spPr>
          <a:xfrm>
            <a:off x="2599653" y="4076496"/>
            <a:ext cx="7918201" cy="215412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En la pestaña Información de ingreso de sección, Subpestaña Lugares reservados: </a:t>
            </a:r>
          </a:p>
          <a:p>
            <a:pPr marL="228600" indent="-228600">
              <a:buFont typeface="+mj-lt"/>
              <a:buAutoNum type="arabicPeriod" startAt="18"/>
            </a:pPr>
            <a:r>
              <a:rPr lang="es-ES_tradnl" sz="1200" dirty="0"/>
              <a:t>Se debe iniciar con una regla “nula” que es obligatoria por el sistema. Esta regla implica que el cupo que se indique en el campo “Máximo reservado” es para cualquier estudiante de la institución. En el caso del ejemplo, el cupo de esa regla nula es cero (0).</a:t>
            </a:r>
          </a:p>
          <a:p>
            <a:pPr marL="228600" indent="-228600">
              <a:buFont typeface="+mj-lt"/>
              <a:buAutoNum type="arabicPeriod" startAt="18"/>
            </a:pPr>
            <a:r>
              <a:rPr lang="es-ES_tradnl" sz="1200" dirty="0"/>
              <a:t> Inserte un registro por cada regla que desee definir para los cupos reservados. Esto implica que la cantidad de alumnos indicada en el campo “Máximo reservado”  es el cupo que tiene el NRC para cada regla que se defina. Puede definir cupos por: Nivel, Campus, Programa, Atributo, Cohorte, etc.</a:t>
            </a:r>
          </a:p>
          <a:p>
            <a:r>
              <a:rPr lang="es-ES_tradnl" sz="1200" dirty="0"/>
              <a:t>En el ejemplo, la regla resaltada en verde indica que el NRC tiene un cupo máximo de 2 cupos para los estudiantes del programa 1PCSP07 .</a:t>
            </a:r>
          </a:p>
          <a:p>
            <a:pPr marL="228600" indent="-228600">
              <a:buFont typeface="+mj-lt"/>
              <a:buAutoNum type="arabicPeriod" startAt="20"/>
            </a:pPr>
            <a:r>
              <a:rPr lang="es-ES_tradnl" sz="1200" dirty="0"/>
              <a:t>Guarde la información.</a:t>
            </a:r>
          </a:p>
        </p:txBody>
      </p:sp>
      <p:sp>
        <p:nvSpPr>
          <p:cNvPr id="19" name="Rectángulo redondeado 15">
            <a:extLst>
              <a:ext uri="{FF2B5EF4-FFF2-40B4-BE49-F238E27FC236}">
                <a16:creationId xmlns:a16="http://schemas.microsoft.com/office/drawing/2014/main" id="{250C87E6-E64A-25DD-363F-30B3664D3C8C}"/>
              </a:ext>
            </a:extLst>
          </p:cNvPr>
          <p:cNvSpPr/>
          <p:nvPr/>
        </p:nvSpPr>
        <p:spPr>
          <a:xfrm>
            <a:off x="841621" y="247496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18</a:t>
            </a:r>
          </a:p>
        </p:txBody>
      </p:sp>
      <p:sp>
        <p:nvSpPr>
          <p:cNvPr id="21" name="Rectángulo 20">
            <a:extLst>
              <a:ext uri="{FF2B5EF4-FFF2-40B4-BE49-F238E27FC236}">
                <a16:creationId xmlns:a16="http://schemas.microsoft.com/office/drawing/2014/main" id="{DE57989E-0463-EB05-CADC-293E81741DA4}"/>
              </a:ext>
            </a:extLst>
          </p:cNvPr>
          <p:cNvSpPr/>
          <p:nvPr/>
        </p:nvSpPr>
        <p:spPr>
          <a:xfrm>
            <a:off x="2094689" y="1718817"/>
            <a:ext cx="1485272" cy="1788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2" name="Rectángulo redondeado 15">
            <a:extLst>
              <a:ext uri="{FF2B5EF4-FFF2-40B4-BE49-F238E27FC236}">
                <a16:creationId xmlns:a16="http://schemas.microsoft.com/office/drawing/2014/main" id="{F0F52246-4EAE-C8B2-48EE-D1E06EE65599}"/>
              </a:ext>
            </a:extLst>
          </p:cNvPr>
          <p:cNvSpPr/>
          <p:nvPr/>
        </p:nvSpPr>
        <p:spPr>
          <a:xfrm>
            <a:off x="11436283" y="5065426"/>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20</a:t>
            </a:r>
            <a:endParaRPr lang="es-419" sz="1100" noProof="0" dirty="0"/>
          </a:p>
        </p:txBody>
      </p:sp>
      <p:sp>
        <p:nvSpPr>
          <p:cNvPr id="23" name="Rectángulo 22">
            <a:extLst>
              <a:ext uri="{FF2B5EF4-FFF2-40B4-BE49-F238E27FC236}">
                <a16:creationId xmlns:a16="http://schemas.microsoft.com/office/drawing/2014/main" id="{2917C2C8-7A86-3A2A-917E-DE1FC6EAA843}"/>
              </a:ext>
            </a:extLst>
          </p:cNvPr>
          <p:cNvSpPr/>
          <p:nvPr/>
        </p:nvSpPr>
        <p:spPr>
          <a:xfrm>
            <a:off x="10869283" y="5085090"/>
            <a:ext cx="622191"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6">
            <a:extLst>
              <a:ext uri="{FF2B5EF4-FFF2-40B4-BE49-F238E27FC236}">
                <a16:creationId xmlns:a16="http://schemas.microsoft.com/office/drawing/2014/main" id="{07DCD397-18DD-7A6D-664C-1EDFFF3619CB}"/>
              </a:ext>
            </a:extLst>
          </p:cNvPr>
          <p:cNvSpPr/>
          <p:nvPr/>
        </p:nvSpPr>
        <p:spPr>
          <a:xfrm>
            <a:off x="1315825" y="3227890"/>
            <a:ext cx="10830662" cy="16746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8" name="Rectángulo 7">
            <a:extLst>
              <a:ext uri="{FF2B5EF4-FFF2-40B4-BE49-F238E27FC236}">
                <a16:creationId xmlns:a16="http://schemas.microsoft.com/office/drawing/2014/main" id="{56D6C4C0-C2AE-5585-5E46-B31801D5AB50}"/>
              </a:ext>
            </a:extLst>
          </p:cNvPr>
          <p:cNvSpPr/>
          <p:nvPr/>
        </p:nvSpPr>
        <p:spPr>
          <a:xfrm>
            <a:off x="1230724" y="2567488"/>
            <a:ext cx="10830662" cy="16746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9" name="Rectángulo 8">
            <a:extLst>
              <a:ext uri="{FF2B5EF4-FFF2-40B4-BE49-F238E27FC236}">
                <a16:creationId xmlns:a16="http://schemas.microsoft.com/office/drawing/2014/main" id="{CAF849F9-02D7-AD63-5EA6-A240C701E506}"/>
              </a:ext>
            </a:extLst>
          </p:cNvPr>
          <p:cNvSpPr/>
          <p:nvPr/>
        </p:nvSpPr>
        <p:spPr>
          <a:xfrm>
            <a:off x="1238945" y="2735021"/>
            <a:ext cx="10830662" cy="1392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0" name="Rectángulo 9">
            <a:extLst>
              <a:ext uri="{FF2B5EF4-FFF2-40B4-BE49-F238E27FC236}">
                <a16:creationId xmlns:a16="http://schemas.microsoft.com/office/drawing/2014/main" id="{827B45EB-8A89-CF5E-933B-D1A31485AEF5}"/>
              </a:ext>
            </a:extLst>
          </p:cNvPr>
          <p:cNvSpPr/>
          <p:nvPr/>
        </p:nvSpPr>
        <p:spPr>
          <a:xfrm>
            <a:off x="1316055" y="3403836"/>
            <a:ext cx="10830662" cy="1392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 name="Rectángulo redondeado 15">
            <a:extLst>
              <a:ext uri="{FF2B5EF4-FFF2-40B4-BE49-F238E27FC236}">
                <a16:creationId xmlns:a16="http://schemas.microsoft.com/office/drawing/2014/main" id="{DA813287-5B2F-0B6F-7A18-846481B1744C}"/>
              </a:ext>
            </a:extLst>
          </p:cNvPr>
          <p:cNvSpPr/>
          <p:nvPr/>
        </p:nvSpPr>
        <p:spPr>
          <a:xfrm>
            <a:off x="737182" y="3499636"/>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19</a:t>
            </a:r>
          </a:p>
        </p:txBody>
      </p:sp>
      <p:sp>
        <p:nvSpPr>
          <p:cNvPr id="13" name="Abrir llave 12">
            <a:extLst>
              <a:ext uri="{FF2B5EF4-FFF2-40B4-BE49-F238E27FC236}">
                <a16:creationId xmlns:a16="http://schemas.microsoft.com/office/drawing/2014/main" id="{BE452A19-24A0-76F9-4238-949E73FEA7FE}"/>
              </a:ext>
            </a:extLst>
          </p:cNvPr>
          <p:cNvSpPr/>
          <p:nvPr/>
        </p:nvSpPr>
        <p:spPr>
          <a:xfrm>
            <a:off x="1137810" y="3418771"/>
            <a:ext cx="45719" cy="298899"/>
          </a:xfrm>
          <a:prstGeom prst="leftBrace">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s-419"/>
          </a:p>
        </p:txBody>
      </p:sp>
      <p:sp>
        <p:nvSpPr>
          <p:cNvPr id="14" name="Rectángulo redondeado 15">
            <a:extLst>
              <a:ext uri="{FF2B5EF4-FFF2-40B4-BE49-F238E27FC236}">
                <a16:creationId xmlns:a16="http://schemas.microsoft.com/office/drawing/2014/main" id="{CFD5BA42-29A0-F923-D91E-83A1CFD134E4}"/>
              </a:ext>
            </a:extLst>
          </p:cNvPr>
          <p:cNvSpPr/>
          <p:nvPr/>
        </p:nvSpPr>
        <p:spPr>
          <a:xfrm>
            <a:off x="732482" y="2815819"/>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19</a:t>
            </a:r>
          </a:p>
        </p:txBody>
      </p:sp>
      <p:sp>
        <p:nvSpPr>
          <p:cNvPr id="16" name="Abrir llave 15">
            <a:extLst>
              <a:ext uri="{FF2B5EF4-FFF2-40B4-BE49-F238E27FC236}">
                <a16:creationId xmlns:a16="http://schemas.microsoft.com/office/drawing/2014/main" id="{BDAD1592-FAAA-836E-B27C-2518A8E09988}"/>
              </a:ext>
            </a:extLst>
          </p:cNvPr>
          <p:cNvSpPr/>
          <p:nvPr/>
        </p:nvSpPr>
        <p:spPr>
          <a:xfrm>
            <a:off x="1133110" y="2734954"/>
            <a:ext cx="45719" cy="298899"/>
          </a:xfrm>
          <a:prstGeom prst="leftBrace">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s-419"/>
          </a:p>
        </p:txBody>
      </p:sp>
      <p:sp>
        <p:nvSpPr>
          <p:cNvPr id="17" name="Rectángulo redondeado 15">
            <a:extLst>
              <a:ext uri="{FF2B5EF4-FFF2-40B4-BE49-F238E27FC236}">
                <a16:creationId xmlns:a16="http://schemas.microsoft.com/office/drawing/2014/main" id="{309C01FE-8F9F-D8D9-D06A-196F8013AC14}"/>
              </a:ext>
            </a:extLst>
          </p:cNvPr>
          <p:cNvSpPr/>
          <p:nvPr/>
        </p:nvSpPr>
        <p:spPr>
          <a:xfrm>
            <a:off x="864426" y="319845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18</a:t>
            </a:r>
          </a:p>
        </p:txBody>
      </p:sp>
    </p:spTree>
    <p:extLst>
      <p:ext uri="{BB962C8B-B14F-4D97-AF65-F5344CB8AC3E}">
        <p14:creationId xmlns:p14="http://schemas.microsoft.com/office/powerpoint/2010/main" val="3107640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DA8F920-4885-1CE6-41FF-006ADB5306BF}"/>
              </a:ext>
            </a:extLst>
          </p:cNvPr>
          <p:cNvPicPr>
            <a:picLocks noChangeAspect="1"/>
          </p:cNvPicPr>
          <p:nvPr/>
        </p:nvPicPr>
        <p:blipFill>
          <a:blip r:embed="rId2"/>
          <a:stretch>
            <a:fillRect/>
          </a:stretch>
        </p:blipFill>
        <p:spPr>
          <a:xfrm>
            <a:off x="609601" y="954157"/>
            <a:ext cx="11450238" cy="498591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endParaRPr lang="es-CL" dirty="0"/>
          </a:p>
        </p:txBody>
      </p:sp>
      <p:sp>
        <p:nvSpPr>
          <p:cNvPr id="12" name="Rectángulo redondeado 5">
            <a:extLst>
              <a:ext uri="{FF2B5EF4-FFF2-40B4-BE49-F238E27FC236}">
                <a16:creationId xmlns:a16="http://schemas.microsoft.com/office/drawing/2014/main" id="{375AD302-2369-D7A0-AD33-20A8507CFE7A}"/>
              </a:ext>
            </a:extLst>
          </p:cNvPr>
          <p:cNvSpPr/>
          <p:nvPr/>
        </p:nvSpPr>
        <p:spPr>
          <a:xfrm>
            <a:off x="810247" y="4242039"/>
            <a:ext cx="10145582" cy="22879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En la pestaña </a:t>
            </a:r>
            <a:r>
              <a:rPr lang="es-CL" sz="1200" dirty="0"/>
              <a:t>Instructor y horas de reunión</a:t>
            </a:r>
            <a:r>
              <a:rPr lang="es-419" sz="1200" dirty="0"/>
              <a:t>, Subpestaña Fechas de reunión, ingrese la siguiente información: </a:t>
            </a:r>
          </a:p>
          <a:p>
            <a:pPr marL="228600" indent="-228600">
              <a:buFont typeface="+mj-lt"/>
              <a:buAutoNum type="arabicPeriod" startAt="21"/>
            </a:pPr>
            <a:r>
              <a:rPr lang="es-ES_tradnl" sz="1200" dirty="0"/>
              <a:t>Defina la Hora de reunión que corresponda a la sesión. Puede hacer esto de dos maneras:</a:t>
            </a:r>
          </a:p>
          <a:p>
            <a:pPr marL="685800" lvl="1" indent="-228600">
              <a:buFont typeface="Arial" panose="020B0604020202020204" pitchFamily="34" charset="0"/>
              <a:buChar char="•"/>
            </a:pPr>
            <a:r>
              <a:rPr lang="es-ES_tradnl" sz="1200" dirty="0"/>
              <a:t>Seleccionando de la tabla de horas de reunión los horarios predefinidos. De esta manera se llenan automáticamente el tipo de reunión (CLAS por defecto, pero puede ser modificada), fechas de inicio y fin y hora de inicio y fin (formato de 24 horas).</a:t>
            </a:r>
          </a:p>
          <a:p>
            <a:pPr marL="685800" lvl="1" indent="-228600">
              <a:buFont typeface="Arial" panose="020B0604020202020204" pitchFamily="34" charset="0"/>
              <a:buChar char="•"/>
            </a:pPr>
            <a:r>
              <a:rPr lang="es-ES_tradnl" sz="1200" dirty="0"/>
              <a:t>Ingresando en los campos Tipo de reunión, fechas de inicio y fin y hora de inicio y fin (formato de 24 horas).</a:t>
            </a:r>
          </a:p>
          <a:p>
            <a:pPr marL="228600" indent="-228600">
              <a:buFont typeface="+mj-lt"/>
              <a:buAutoNum type="arabicPeriod" startAt="21"/>
            </a:pPr>
            <a:r>
              <a:rPr lang="es-ES_tradnl" sz="1200" dirty="0"/>
              <a:t> Seleccione los días de la semana que corresponden al horario definido para la sesión de clases.</a:t>
            </a:r>
          </a:p>
          <a:p>
            <a:pPr marL="228600" indent="-228600">
              <a:buFont typeface="+mj-lt"/>
              <a:buAutoNum type="arabicPeriod" startAt="21"/>
            </a:pPr>
            <a:r>
              <a:rPr lang="es-ES_tradnl" sz="1200" dirty="0"/>
              <a:t>En el campo Indicador de sesión, por defecto se muestra la sesión 01 siempre. Si el NRC va a ser dictado por más de un docente, en cada sesión que corresponda debe asignar un indicador diferente (02, 03, respectivamente) por cada docente que dicte la asignatura. </a:t>
            </a:r>
          </a:p>
          <a:p>
            <a:pPr marL="228600" indent="-228600">
              <a:buFont typeface="+mj-lt"/>
              <a:buAutoNum type="arabicPeriod" startAt="21"/>
            </a:pPr>
            <a:r>
              <a:rPr lang="es-ES_tradnl" sz="1200" dirty="0"/>
              <a:t>Guarde la información.</a:t>
            </a:r>
          </a:p>
          <a:p>
            <a:pPr algn="ctr"/>
            <a:r>
              <a:rPr lang="es-ES_tradnl" sz="1100" dirty="0"/>
              <a:t>Las fechas de inicio y fin, inicialmente, son heredadas de la parte de período en la que se ha programado el NRC, pero éstas pueden ser modificadas en cada registro que se ingrese.</a:t>
            </a:r>
          </a:p>
        </p:txBody>
      </p:sp>
      <p:sp>
        <p:nvSpPr>
          <p:cNvPr id="13" name="Rectángulo redondeado 15">
            <a:extLst>
              <a:ext uri="{FF2B5EF4-FFF2-40B4-BE49-F238E27FC236}">
                <a16:creationId xmlns:a16="http://schemas.microsoft.com/office/drawing/2014/main" id="{9A9144EE-7851-1705-629B-506C7394F958}"/>
              </a:ext>
            </a:extLst>
          </p:cNvPr>
          <p:cNvSpPr/>
          <p:nvPr/>
        </p:nvSpPr>
        <p:spPr>
          <a:xfrm>
            <a:off x="660432" y="2773589"/>
            <a:ext cx="360474" cy="12758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21</a:t>
            </a:r>
          </a:p>
        </p:txBody>
      </p:sp>
      <p:sp>
        <p:nvSpPr>
          <p:cNvPr id="14" name="Rectángulo 13">
            <a:extLst>
              <a:ext uri="{FF2B5EF4-FFF2-40B4-BE49-F238E27FC236}">
                <a16:creationId xmlns:a16="http://schemas.microsoft.com/office/drawing/2014/main" id="{4C1F4288-2C74-2256-B11B-5D11A8A3AEEC}"/>
              </a:ext>
            </a:extLst>
          </p:cNvPr>
          <p:cNvSpPr/>
          <p:nvPr/>
        </p:nvSpPr>
        <p:spPr>
          <a:xfrm>
            <a:off x="1537546" y="2542734"/>
            <a:ext cx="9423468" cy="2308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8" name="Rectángulo 17">
            <a:extLst>
              <a:ext uri="{FF2B5EF4-FFF2-40B4-BE49-F238E27FC236}">
                <a16:creationId xmlns:a16="http://schemas.microsoft.com/office/drawing/2014/main" id="{BFBEF403-C7BC-8FD6-3F35-E78B720BBE45}"/>
              </a:ext>
            </a:extLst>
          </p:cNvPr>
          <p:cNvSpPr/>
          <p:nvPr/>
        </p:nvSpPr>
        <p:spPr>
          <a:xfrm>
            <a:off x="3747214" y="1654379"/>
            <a:ext cx="1463141" cy="2272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9" name="Rectángulo redondeado 15">
            <a:extLst>
              <a:ext uri="{FF2B5EF4-FFF2-40B4-BE49-F238E27FC236}">
                <a16:creationId xmlns:a16="http://schemas.microsoft.com/office/drawing/2014/main" id="{057BBE08-3F55-FB28-AA5E-C5267A25DEF3}"/>
              </a:ext>
            </a:extLst>
          </p:cNvPr>
          <p:cNvSpPr/>
          <p:nvPr/>
        </p:nvSpPr>
        <p:spPr>
          <a:xfrm>
            <a:off x="5126745" y="2256021"/>
            <a:ext cx="360474" cy="12758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22</a:t>
            </a:r>
          </a:p>
        </p:txBody>
      </p:sp>
      <p:sp>
        <p:nvSpPr>
          <p:cNvPr id="20" name="Rectángulo 19">
            <a:extLst>
              <a:ext uri="{FF2B5EF4-FFF2-40B4-BE49-F238E27FC236}">
                <a16:creationId xmlns:a16="http://schemas.microsoft.com/office/drawing/2014/main" id="{980B6F5F-7DB7-1AAB-8014-8BBC776AD51E}"/>
              </a:ext>
            </a:extLst>
          </p:cNvPr>
          <p:cNvSpPr/>
          <p:nvPr/>
        </p:nvSpPr>
        <p:spPr>
          <a:xfrm>
            <a:off x="4415742" y="2598015"/>
            <a:ext cx="578952" cy="17557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 name="Rectángulo redondeado 15">
            <a:extLst>
              <a:ext uri="{FF2B5EF4-FFF2-40B4-BE49-F238E27FC236}">
                <a16:creationId xmlns:a16="http://schemas.microsoft.com/office/drawing/2014/main" id="{03E3443E-A42B-423D-0680-215C9F3F24FC}"/>
              </a:ext>
            </a:extLst>
          </p:cNvPr>
          <p:cNvSpPr/>
          <p:nvPr/>
        </p:nvSpPr>
        <p:spPr>
          <a:xfrm>
            <a:off x="11706559" y="2511340"/>
            <a:ext cx="360474" cy="12758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23</a:t>
            </a:r>
          </a:p>
        </p:txBody>
      </p:sp>
      <p:sp>
        <p:nvSpPr>
          <p:cNvPr id="6" name="Rectángulo 5">
            <a:extLst>
              <a:ext uri="{FF2B5EF4-FFF2-40B4-BE49-F238E27FC236}">
                <a16:creationId xmlns:a16="http://schemas.microsoft.com/office/drawing/2014/main" id="{C951ED20-5270-5148-4238-9D89017DA5DF}"/>
              </a:ext>
            </a:extLst>
          </p:cNvPr>
          <p:cNvSpPr/>
          <p:nvPr/>
        </p:nvSpPr>
        <p:spPr>
          <a:xfrm>
            <a:off x="11015864" y="2523493"/>
            <a:ext cx="697888" cy="2308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redondeado 15">
            <a:extLst>
              <a:ext uri="{FF2B5EF4-FFF2-40B4-BE49-F238E27FC236}">
                <a16:creationId xmlns:a16="http://schemas.microsoft.com/office/drawing/2014/main" id="{EADFD785-492A-94CB-BCED-58A868C4175C}"/>
              </a:ext>
            </a:extLst>
          </p:cNvPr>
          <p:cNvSpPr/>
          <p:nvPr/>
        </p:nvSpPr>
        <p:spPr>
          <a:xfrm>
            <a:off x="11061898" y="5665694"/>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24</a:t>
            </a:r>
            <a:endParaRPr lang="es-419" sz="1100" noProof="0" dirty="0"/>
          </a:p>
        </p:txBody>
      </p:sp>
      <p:sp>
        <p:nvSpPr>
          <p:cNvPr id="8" name="Rectángulo 7">
            <a:extLst>
              <a:ext uri="{FF2B5EF4-FFF2-40B4-BE49-F238E27FC236}">
                <a16:creationId xmlns:a16="http://schemas.microsoft.com/office/drawing/2014/main" id="{DC82511D-169E-EED4-0313-51C15A8AB7C6}"/>
              </a:ext>
            </a:extLst>
          </p:cNvPr>
          <p:cNvSpPr/>
          <p:nvPr/>
        </p:nvSpPr>
        <p:spPr>
          <a:xfrm>
            <a:off x="11460238" y="5640367"/>
            <a:ext cx="606795" cy="2634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18604508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6582B-038A-44F1-B743-03A64D0C65DE}"/>
            </a:ext>
          </a:extLst>
        </p:cNvPr>
        <p:cNvGrpSpPr/>
        <p:nvPr/>
      </p:nvGrpSpPr>
      <p:grpSpPr>
        <a:xfrm>
          <a:off x="0" y="0"/>
          <a:ext cx="0" cy="0"/>
          <a:chOff x="0" y="0"/>
          <a:chExt cx="0" cy="0"/>
        </a:xfrm>
      </p:grpSpPr>
      <p:pic>
        <p:nvPicPr>
          <p:cNvPr id="17" name="Imagen 16">
            <a:extLst>
              <a:ext uri="{FF2B5EF4-FFF2-40B4-BE49-F238E27FC236}">
                <a16:creationId xmlns:a16="http://schemas.microsoft.com/office/drawing/2014/main" id="{59E67084-8C89-4440-7ED0-AF2321857B04}"/>
              </a:ext>
            </a:extLst>
          </p:cNvPr>
          <p:cNvPicPr>
            <a:picLocks noChangeAspect="1"/>
          </p:cNvPicPr>
          <p:nvPr/>
        </p:nvPicPr>
        <p:blipFill>
          <a:blip r:embed="rId2"/>
          <a:stretch>
            <a:fillRect/>
          </a:stretch>
        </p:blipFill>
        <p:spPr>
          <a:xfrm>
            <a:off x="810247" y="836987"/>
            <a:ext cx="10759707" cy="4686951"/>
          </a:xfrm>
          <a:prstGeom prst="rect">
            <a:avLst/>
          </a:prstGeom>
        </p:spPr>
      </p:pic>
      <p:sp>
        <p:nvSpPr>
          <p:cNvPr id="3" name="Marcador de texto vertical 2">
            <a:extLst>
              <a:ext uri="{FF2B5EF4-FFF2-40B4-BE49-F238E27FC236}">
                <a16:creationId xmlns:a16="http://schemas.microsoft.com/office/drawing/2014/main" id="{0DF05623-B101-A5C7-1FBE-EE7F604F0751}"/>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E08519D6-2E93-C80B-B88F-702EC29120AC}"/>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endParaRPr lang="es-CL" dirty="0"/>
          </a:p>
        </p:txBody>
      </p:sp>
      <p:sp>
        <p:nvSpPr>
          <p:cNvPr id="12" name="Rectángulo redondeado 5">
            <a:extLst>
              <a:ext uri="{FF2B5EF4-FFF2-40B4-BE49-F238E27FC236}">
                <a16:creationId xmlns:a16="http://schemas.microsoft.com/office/drawing/2014/main" id="{8EA508D7-A642-C3E2-7A3A-F1A478C625F7}"/>
              </a:ext>
            </a:extLst>
          </p:cNvPr>
          <p:cNvSpPr/>
          <p:nvPr/>
        </p:nvSpPr>
        <p:spPr>
          <a:xfrm>
            <a:off x="981501" y="3406545"/>
            <a:ext cx="11014552" cy="178308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En la pestaña </a:t>
            </a:r>
            <a:r>
              <a:rPr lang="es-CL" sz="1200" dirty="0"/>
              <a:t>Instructor y horas de reunión</a:t>
            </a:r>
            <a:r>
              <a:rPr lang="es-419" sz="1200" dirty="0"/>
              <a:t>, Subpestaña Créditos y ubicación de reunión, se muestra la siguiente información: </a:t>
            </a:r>
          </a:p>
          <a:p>
            <a:pPr marL="228600" indent="-228600">
              <a:buFont typeface="+mj-lt"/>
              <a:buAutoNum type="arabicPeriod" startAt="25"/>
            </a:pPr>
            <a:r>
              <a:rPr lang="es-ES_tradnl" sz="1200" dirty="0"/>
              <a:t>En el campo Tipo de horario, se refleja el mismo tipo de horario que se ha declarado en la pestaña Información de sección de curso. Usted puede modificar  el tipo de horario para la sesión que corresponda (si la asignatura tiene más de un tipo de horario asociado en el catálogo).</a:t>
            </a:r>
          </a:p>
          <a:p>
            <a:pPr marL="228600" indent="-228600">
              <a:buFont typeface="+mj-lt"/>
              <a:buAutoNum type="arabicPeriod" startAt="25"/>
            </a:pPr>
            <a:r>
              <a:rPr lang="es-ES_tradnl" sz="1200" dirty="0"/>
              <a:t>Según las horas que se cargan en el horario de cada sesión, el sistema muestra el cálculo automático de las horas por semana que tiene cada sesión. En Ellucian Student este cálculo se basa en una hora académica definida en SIATERM. </a:t>
            </a:r>
          </a:p>
          <a:p>
            <a:pPr marL="228600" indent="-228600">
              <a:buFont typeface="+mj-lt"/>
              <a:buAutoNum type="arabicPeriod" startAt="25"/>
            </a:pPr>
            <a:r>
              <a:rPr lang="es-ES_tradnl" sz="1200" dirty="0"/>
              <a:t>En la primera sesión se muestran los créditos de la asignatura.</a:t>
            </a:r>
          </a:p>
          <a:p>
            <a:pPr marL="228600" indent="-228600">
              <a:buFont typeface="+mj-lt"/>
              <a:buAutoNum type="arabicPeriod" startAt="28"/>
            </a:pPr>
            <a:r>
              <a:rPr lang="es-ES_tradnl" sz="1200" dirty="0"/>
              <a:t>Si agregó o modificó alguna información, guarde los cambios.</a:t>
            </a:r>
          </a:p>
        </p:txBody>
      </p:sp>
      <p:sp>
        <p:nvSpPr>
          <p:cNvPr id="13" name="Rectángulo redondeado 15">
            <a:extLst>
              <a:ext uri="{FF2B5EF4-FFF2-40B4-BE49-F238E27FC236}">
                <a16:creationId xmlns:a16="http://schemas.microsoft.com/office/drawing/2014/main" id="{36807D20-C350-C536-656E-87AD4CDE3C03}"/>
              </a:ext>
            </a:extLst>
          </p:cNvPr>
          <p:cNvSpPr/>
          <p:nvPr/>
        </p:nvSpPr>
        <p:spPr>
          <a:xfrm>
            <a:off x="2892414" y="2643581"/>
            <a:ext cx="391349" cy="20441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25</a:t>
            </a:r>
          </a:p>
        </p:txBody>
      </p:sp>
      <p:sp>
        <p:nvSpPr>
          <p:cNvPr id="14" name="Rectángulo 13">
            <a:extLst>
              <a:ext uri="{FF2B5EF4-FFF2-40B4-BE49-F238E27FC236}">
                <a16:creationId xmlns:a16="http://schemas.microsoft.com/office/drawing/2014/main" id="{5DE721AC-FAED-8080-E0DF-4DDAACE0F9F1}"/>
              </a:ext>
            </a:extLst>
          </p:cNvPr>
          <p:cNvSpPr/>
          <p:nvPr/>
        </p:nvSpPr>
        <p:spPr>
          <a:xfrm flipH="1">
            <a:off x="3519774" y="2288830"/>
            <a:ext cx="1421980" cy="78217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8" name="Rectángulo 17">
            <a:extLst>
              <a:ext uri="{FF2B5EF4-FFF2-40B4-BE49-F238E27FC236}">
                <a16:creationId xmlns:a16="http://schemas.microsoft.com/office/drawing/2014/main" id="{6FAB6544-CD13-D09D-2F78-8063F2AB3283}"/>
              </a:ext>
            </a:extLst>
          </p:cNvPr>
          <p:cNvSpPr/>
          <p:nvPr/>
        </p:nvSpPr>
        <p:spPr>
          <a:xfrm>
            <a:off x="3656615" y="1458379"/>
            <a:ext cx="1421981" cy="19421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 name="Rectángulo redondeado 15">
            <a:extLst>
              <a:ext uri="{FF2B5EF4-FFF2-40B4-BE49-F238E27FC236}">
                <a16:creationId xmlns:a16="http://schemas.microsoft.com/office/drawing/2014/main" id="{F5690BE5-3F1E-6D4F-04E7-B3B0F3453F67}"/>
              </a:ext>
            </a:extLst>
          </p:cNvPr>
          <p:cNvSpPr/>
          <p:nvPr/>
        </p:nvSpPr>
        <p:spPr>
          <a:xfrm>
            <a:off x="6544300" y="2429625"/>
            <a:ext cx="391349" cy="20441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26</a:t>
            </a:r>
          </a:p>
        </p:txBody>
      </p:sp>
      <p:sp>
        <p:nvSpPr>
          <p:cNvPr id="6" name="Rectángulo 5">
            <a:extLst>
              <a:ext uri="{FF2B5EF4-FFF2-40B4-BE49-F238E27FC236}">
                <a16:creationId xmlns:a16="http://schemas.microsoft.com/office/drawing/2014/main" id="{F8A306D3-1CE7-89BC-7D5D-6676B31EB1D8}"/>
              </a:ext>
            </a:extLst>
          </p:cNvPr>
          <p:cNvSpPr/>
          <p:nvPr/>
        </p:nvSpPr>
        <p:spPr>
          <a:xfrm>
            <a:off x="4941754" y="2288830"/>
            <a:ext cx="1502674" cy="78217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redondeado 15">
            <a:extLst>
              <a:ext uri="{FF2B5EF4-FFF2-40B4-BE49-F238E27FC236}">
                <a16:creationId xmlns:a16="http://schemas.microsoft.com/office/drawing/2014/main" id="{6EA93A0E-F8E2-CE12-F507-3458AA6D0D3D}"/>
              </a:ext>
            </a:extLst>
          </p:cNvPr>
          <p:cNvSpPr/>
          <p:nvPr/>
        </p:nvSpPr>
        <p:spPr>
          <a:xfrm>
            <a:off x="10586815" y="5274558"/>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28</a:t>
            </a:r>
            <a:endParaRPr lang="es-419" sz="1100" noProof="0" dirty="0"/>
          </a:p>
        </p:txBody>
      </p:sp>
      <p:sp>
        <p:nvSpPr>
          <p:cNvPr id="8" name="Rectángulo 7">
            <a:extLst>
              <a:ext uri="{FF2B5EF4-FFF2-40B4-BE49-F238E27FC236}">
                <a16:creationId xmlns:a16="http://schemas.microsoft.com/office/drawing/2014/main" id="{8A0F1A62-351B-6CE3-3DF3-FAD75BAC8481}"/>
              </a:ext>
            </a:extLst>
          </p:cNvPr>
          <p:cNvSpPr/>
          <p:nvPr/>
        </p:nvSpPr>
        <p:spPr>
          <a:xfrm>
            <a:off x="10947289" y="5274558"/>
            <a:ext cx="622665" cy="17626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0" name="Rectángulo redondeado 15">
            <a:extLst>
              <a:ext uri="{FF2B5EF4-FFF2-40B4-BE49-F238E27FC236}">
                <a16:creationId xmlns:a16="http://schemas.microsoft.com/office/drawing/2014/main" id="{7EB7029C-4E83-6C25-E5FE-A3F1C456CF3C}"/>
              </a:ext>
            </a:extLst>
          </p:cNvPr>
          <p:cNvSpPr/>
          <p:nvPr/>
        </p:nvSpPr>
        <p:spPr>
          <a:xfrm>
            <a:off x="8998231" y="2450371"/>
            <a:ext cx="391349" cy="20441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27</a:t>
            </a:r>
            <a:endParaRPr lang="es-419" sz="1100" noProof="0" dirty="0"/>
          </a:p>
        </p:txBody>
      </p:sp>
      <p:sp>
        <p:nvSpPr>
          <p:cNvPr id="11" name="Rectángulo 10">
            <a:extLst>
              <a:ext uri="{FF2B5EF4-FFF2-40B4-BE49-F238E27FC236}">
                <a16:creationId xmlns:a16="http://schemas.microsoft.com/office/drawing/2014/main" id="{8DF8C487-A41D-5953-8AD5-C562ED1C3CC5}"/>
              </a:ext>
            </a:extLst>
          </p:cNvPr>
          <p:cNvSpPr/>
          <p:nvPr/>
        </p:nvSpPr>
        <p:spPr>
          <a:xfrm>
            <a:off x="7250248" y="2327205"/>
            <a:ext cx="1585199" cy="91157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2972661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F2302-1D97-3F2D-A7C0-0191B041BB0D}"/>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DCAC824-1263-3E59-BD43-0B6A214013B6}"/>
              </a:ext>
            </a:extLst>
          </p:cNvPr>
          <p:cNvPicPr>
            <a:picLocks noChangeAspect="1"/>
          </p:cNvPicPr>
          <p:nvPr/>
        </p:nvPicPr>
        <p:blipFill>
          <a:blip r:embed="rId2"/>
          <a:stretch>
            <a:fillRect/>
          </a:stretch>
        </p:blipFill>
        <p:spPr>
          <a:xfrm>
            <a:off x="946962" y="954157"/>
            <a:ext cx="10900764" cy="4649857"/>
          </a:xfrm>
          <a:prstGeom prst="rect">
            <a:avLst/>
          </a:prstGeom>
        </p:spPr>
      </p:pic>
      <p:sp>
        <p:nvSpPr>
          <p:cNvPr id="3" name="Marcador de texto vertical 2">
            <a:extLst>
              <a:ext uri="{FF2B5EF4-FFF2-40B4-BE49-F238E27FC236}">
                <a16:creationId xmlns:a16="http://schemas.microsoft.com/office/drawing/2014/main" id="{F4495388-385A-8EC0-B9A2-FEA63C235228}"/>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4467D182-6C3D-9295-43BE-E878B1ACDD9A}"/>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b="1" dirty="0">
                <a:effectLst/>
              </a:rPr>
            </a:br>
            <a:endParaRPr lang="es-CL" dirty="0"/>
          </a:p>
        </p:txBody>
      </p:sp>
      <p:sp>
        <p:nvSpPr>
          <p:cNvPr id="9" name="Rectángulo redondeado 5">
            <a:extLst>
              <a:ext uri="{FF2B5EF4-FFF2-40B4-BE49-F238E27FC236}">
                <a16:creationId xmlns:a16="http://schemas.microsoft.com/office/drawing/2014/main" id="{B49EC115-2CD8-AE98-34D1-AB568FC4D52D}"/>
              </a:ext>
            </a:extLst>
          </p:cNvPr>
          <p:cNvSpPr/>
          <p:nvPr/>
        </p:nvSpPr>
        <p:spPr>
          <a:xfrm>
            <a:off x="2358585" y="3759437"/>
            <a:ext cx="8077518" cy="138521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 El campo ‘Hora de Reunión’ corresponde a  los módulos horarios que hayan sido predefinidos en la tabla de validación STVMEET.</a:t>
            </a:r>
            <a:endParaRPr lang="es-ES_tradnl" sz="1400" dirty="0"/>
          </a:p>
        </p:txBody>
      </p:sp>
    </p:spTree>
    <p:extLst>
      <p:ext uri="{BB962C8B-B14F-4D97-AF65-F5344CB8AC3E}">
        <p14:creationId xmlns:p14="http://schemas.microsoft.com/office/powerpoint/2010/main" val="21498597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98187-1218-0593-79EF-AD527EB215E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B3E8A90-3C2A-4123-C970-366E0B53C810}"/>
              </a:ext>
            </a:extLst>
          </p:cNvPr>
          <p:cNvPicPr>
            <a:picLocks noChangeAspect="1"/>
          </p:cNvPicPr>
          <p:nvPr/>
        </p:nvPicPr>
        <p:blipFill>
          <a:blip r:embed="rId2"/>
          <a:stretch>
            <a:fillRect/>
          </a:stretch>
        </p:blipFill>
        <p:spPr>
          <a:xfrm>
            <a:off x="810247" y="1059088"/>
            <a:ext cx="11046152" cy="4739824"/>
          </a:xfrm>
          <a:prstGeom prst="rect">
            <a:avLst/>
          </a:prstGeom>
        </p:spPr>
      </p:pic>
      <p:sp>
        <p:nvSpPr>
          <p:cNvPr id="3" name="Marcador de texto vertical 2">
            <a:extLst>
              <a:ext uri="{FF2B5EF4-FFF2-40B4-BE49-F238E27FC236}">
                <a16:creationId xmlns:a16="http://schemas.microsoft.com/office/drawing/2014/main" id="{82BC1032-68EA-8672-FDE3-918D475B9592}"/>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F506C321-6831-0DE5-4B93-04F2E64F905F}"/>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b="1" dirty="0">
                <a:effectLst/>
              </a:rPr>
            </a:br>
            <a:endParaRPr lang="es-CL" dirty="0"/>
          </a:p>
        </p:txBody>
      </p:sp>
      <p:sp>
        <p:nvSpPr>
          <p:cNvPr id="9" name="Rectángulo redondeado 5">
            <a:extLst>
              <a:ext uri="{FF2B5EF4-FFF2-40B4-BE49-F238E27FC236}">
                <a16:creationId xmlns:a16="http://schemas.microsoft.com/office/drawing/2014/main" id="{332E6604-F173-D846-9171-BEAA4C12AC2F}"/>
              </a:ext>
            </a:extLst>
          </p:cNvPr>
          <p:cNvSpPr/>
          <p:nvPr/>
        </p:nvSpPr>
        <p:spPr>
          <a:xfrm>
            <a:off x="2358585" y="3759437"/>
            <a:ext cx="8077518" cy="138521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 El campo ‘Tipo de Reunión’ corresponde a  las categorías que hayan sido establecidas en la tabla de validación GTVMTYP.</a:t>
            </a:r>
            <a:endParaRPr lang="es-ES_tradnl" sz="1400" dirty="0"/>
          </a:p>
        </p:txBody>
      </p:sp>
    </p:spTree>
    <p:extLst>
      <p:ext uri="{BB962C8B-B14F-4D97-AF65-F5344CB8AC3E}">
        <p14:creationId xmlns:p14="http://schemas.microsoft.com/office/powerpoint/2010/main" val="100541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B7B4B526-C88F-40A9-8661-B3A9BFE87555}"/>
              </a:ext>
            </a:extLst>
          </p:cNvPr>
          <p:cNvSpPr>
            <a:spLocks noGrp="1"/>
          </p:cNvSpPr>
          <p:nvPr>
            <p:ph type="body" sz="quarter" idx="10"/>
          </p:nvPr>
        </p:nvSpPr>
        <p:spPr>
          <a:xfrm>
            <a:off x="914399" y="2238843"/>
            <a:ext cx="10363202" cy="669094"/>
          </a:xfrm>
        </p:spPr>
        <p:txBody>
          <a:bodyPr/>
          <a:lstStyle/>
          <a:p>
            <a:r>
              <a:rPr lang="es-CL" dirty="0"/>
              <a:t>Detalles de horario del NRC</a:t>
            </a:r>
            <a:endParaRPr lang="es-419" dirty="0"/>
          </a:p>
        </p:txBody>
      </p:sp>
      <p:sp>
        <p:nvSpPr>
          <p:cNvPr id="2" name="Marcador de texto vertical 1">
            <a:extLst>
              <a:ext uri="{FF2B5EF4-FFF2-40B4-BE49-F238E27FC236}">
                <a16:creationId xmlns:a16="http://schemas.microsoft.com/office/drawing/2014/main" id="{1FD9E21E-241C-8464-2D9C-4A336FE2910A}"/>
              </a:ext>
            </a:extLst>
          </p:cNvPr>
          <p:cNvSpPr>
            <a:spLocks noGrp="1"/>
          </p:cNvSpPr>
          <p:nvPr>
            <p:ph type="body" sz="quarter" idx="11"/>
          </p:nvPr>
        </p:nvSpPr>
        <p:spPr/>
        <p:txBody>
          <a:bodyPr/>
          <a:lstStyle/>
          <a:p>
            <a:r>
              <a:rPr lang="es-419" sz="1200" dirty="0"/>
              <a:t>Registrar la oferta horaria de los cursos</a:t>
            </a:r>
            <a:endParaRPr lang="en-US" dirty="0"/>
          </a:p>
        </p:txBody>
      </p:sp>
    </p:spTree>
    <p:extLst>
      <p:ext uri="{BB962C8B-B14F-4D97-AF65-F5344CB8AC3E}">
        <p14:creationId xmlns:p14="http://schemas.microsoft.com/office/powerpoint/2010/main" val="2980837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536CD-DC21-0246-8466-92484B504E9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3396C22-9631-454B-0E25-C8DC93A5F4BC}"/>
              </a:ext>
            </a:extLst>
          </p:cNvPr>
          <p:cNvPicPr>
            <a:picLocks noChangeAspect="1"/>
          </p:cNvPicPr>
          <p:nvPr/>
        </p:nvPicPr>
        <p:blipFill>
          <a:blip r:embed="rId2"/>
          <a:stretch>
            <a:fillRect/>
          </a:stretch>
        </p:blipFill>
        <p:spPr>
          <a:xfrm>
            <a:off x="810247" y="1081247"/>
            <a:ext cx="11144250" cy="4846344"/>
          </a:xfrm>
          <a:prstGeom prst="rect">
            <a:avLst/>
          </a:prstGeom>
        </p:spPr>
      </p:pic>
      <p:sp>
        <p:nvSpPr>
          <p:cNvPr id="3" name="Marcador de texto vertical 2">
            <a:extLst>
              <a:ext uri="{FF2B5EF4-FFF2-40B4-BE49-F238E27FC236}">
                <a16:creationId xmlns:a16="http://schemas.microsoft.com/office/drawing/2014/main" id="{00A06490-9554-C21A-5334-F84A4CC54CE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F77E6C38-3CED-59A3-D30B-2C278B8F0EE0}"/>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Detalle de horario (SSADETL)</a:t>
            </a:r>
            <a:endParaRPr lang="es-CL" dirty="0">
              <a:solidFill>
                <a:schemeClr val="tx2"/>
              </a:solidFill>
            </a:endParaRPr>
          </a:p>
        </p:txBody>
      </p:sp>
      <p:sp>
        <p:nvSpPr>
          <p:cNvPr id="18" name="Rectángulo redondeado 5">
            <a:extLst>
              <a:ext uri="{FF2B5EF4-FFF2-40B4-BE49-F238E27FC236}">
                <a16:creationId xmlns:a16="http://schemas.microsoft.com/office/drawing/2014/main" id="{C19954A6-654A-C149-3E57-7D2825D71A0A}"/>
              </a:ext>
            </a:extLst>
          </p:cNvPr>
          <p:cNvSpPr/>
          <p:nvPr/>
        </p:nvSpPr>
        <p:spPr>
          <a:xfrm>
            <a:off x="1469300" y="3428999"/>
            <a:ext cx="6262255" cy="111339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Una vez programado un NRC, se puede visualizar y complementar su información en SSADETL. </a:t>
            </a:r>
          </a:p>
          <a:p>
            <a:r>
              <a:rPr lang="es-ES_tradnl" sz="1200" dirty="0"/>
              <a:t>Puede ingresar en esta página desde la página principal de </a:t>
            </a:r>
            <a:r>
              <a:rPr lang="es-ES_tradnl" sz="1200" dirty="0" err="1"/>
              <a:t>Experience</a:t>
            </a:r>
            <a:r>
              <a:rPr lang="es-ES_tradnl" sz="1200" dirty="0"/>
              <a:t> o desde el Menú relacionado ubicado en la parte superior derecha de la página SSASECT.</a:t>
            </a:r>
          </a:p>
        </p:txBody>
      </p:sp>
      <p:sp>
        <p:nvSpPr>
          <p:cNvPr id="6" name="Rectángulo 5">
            <a:extLst>
              <a:ext uri="{FF2B5EF4-FFF2-40B4-BE49-F238E27FC236}">
                <a16:creationId xmlns:a16="http://schemas.microsoft.com/office/drawing/2014/main" id="{E1B2FE01-398D-7C3C-FC05-A3F4B990CF67}"/>
              </a:ext>
            </a:extLst>
          </p:cNvPr>
          <p:cNvSpPr/>
          <p:nvPr/>
        </p:nvSpPr>
        <p:spPr>
          <a:xfrm>
            <a:off x="10467975" y="1081246"/>
            <a:ext cx="525646" cy="25225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28412704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D71A8E0-6C91-CEE2-D966-E3A7434E4D03}"/>
              </a:ext>
            </a:extLst>
          </p:cNvPr>
          <p:cNvPicPr>
            <a:picLocks noChangeAspect="1"/>
          </p:cNvPicPr>
          <p:nvPr/>
        </p:nvPicPr>
        <p:blipFill>
          <a:blip r:embed="rId2"/>
          <a:stretch>
            <a:fillRect/>
          </a:stretch>
        </p:blipFill>
        <p:spPr>
          <a:xfrm>
            <a:off x="948910" y="1270012"/>
            <a:ext cx="10847581" cy="157161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Detalle de horario (SSADETL)</a:t>
            </a:r>
            <a:endParaRPr lang="es-CL" dirty="0"/>
          </a:p>
        </p:txBody>
      </p:sp>
      <p:sp>
        <p:nvSpPr>
          <p:cNvPr id="18" name="Rectángulo redondeado 5">
            <a:extLst>
              <a:ext uri="{FF2B5EF4-FFF2-40B4-BE49-F238E27FC236}">
                <a16:creationId xmlns:a16="http://schemas.microsoft.com/office/drawing/2014/main" id="{001B7E25-E101-9AAB-DCF1-2C2384D2BC03}"/>
              </a:ext>
            </a:extLst>
          </p:cNvPr>
          <p:cNvSpPr/>
          <p:nvPr/>
        </p:nvSpPr>
        <p:spPr>
          <a:xfrm>
            <a:off x="2281382" y="3157486"/>
            <a:ext cx="6868530" cy="16731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Toda vez en la página de Detalle de horario (SSADETL) ingrese la siguiente información:</a:t>
            </a:r>
          </a:p>
          <a:p>
            <a:pPr marL="228600" indent="-228600">
              <a:buFont typeface="+mj-lt"/>
              <a:buAutoNum type="arabicPeriod"/>
            </a:pPr>
            <a:r>
              <a:rPr lang="es-ES_tradnl" sz="1400" dirty="0"/>
              <a:t>Periodo Académico</a:t>
            </a:r>
          </a:p>
          <a:p>
            <a:pPr marL="228600" indent="-228600">
              <a:buFont typeface="+mj-lt"/>
              <a:buAutoNum type="arabicPeriod"/>
            </a:pPr>
            <a:r>
              <a:rPr lang="es-ES_tradnl" sz="1400" dirty="0"/>
              <a:t>NRC de la asignatura a configurar</a:t>
            </a:r>
          </a:p>
          <a:p>
            <a:pPr marL="228600" indent="-228600">
              <a:buFont typeface="+mj-lt"/>
              <a:buAutoNum type="arabicPeriod"/>
            </a:pPr>
            <a:r>
              <a:rPr lang="es-ES_tradnl" sz="1400" dirty="0"/>
              <a:t>Presione el botón “Ir”.</a:t>
            </a:r>
          </a:p>
          <a:p>
            <a:pPr algn="ctr"/>
            <a:r>
              <a:rPr lang="es-ES_tradnl" sz="1200" dirty="0"/>
              <a:t>Si se accede desde el menú relacionado, el sistema, por defecto,  trae el último NRC trabajado</a:t>
            </a:r>
            <a:endParaRPr lang="es-ES_tradnl" sz="1400" dirty="0"/>
          </a:p>
        </p:txBody>
      </p:sp>
      <p:sp>
        <p:nvSpPr>
          <p:cNvPr id="19" name="Rectángulo redondeado 15">
            <a:extLst>
              <a:ext uri="{FF2B5EF4-FFF2-40B4-BE49-F238E27FC236}">
                <a16:creationId xmlns:a16="http://schemas.microsoft.com/office/drawing/2014/main" id="{E48CCF76-2E48-7FE0-4AAF-93E4DCE36FD0}"/>
              </a:ext>
            </a:extLst>
          </p:cNvPr>
          <p:cNvSpPr/>
          <p:nvPr/>
        </p:nvSpPr>
        <p:spPr>
          <a:xfrm>
            <a:off x="7817254" y="1587560"/>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20" name="Rectángulo redondeado 23">
            <a:extLst>
              <a:ext uri="{FF2B5EF4-FFF2-40B4-BE49-F238E27FC236}">
                <a16:creationId xmlns:a16="http://schemas.microsoft.com/office/drawing/2014/main" id="{D034AB2F-2379-7DD3-2575-BCFB43D5C276}"/>
              </a:ext>
            </a:extLst>
          </p:cNvPr>
          <p:cNvSpPr/>
          <p:nvPr/>
        </p:nvSpPr>
        <p:spPr>
          <a:xfrm>
            <a:off x="2920649" y="1604540"/>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21" name="Rectángulo 20">
            <a:extLst>
              <a:ext uri="{FF2B5EF4-FFF2-40B4-BE49-F238E27FC236}">
                <a16:creationId xmlns:a16="http://schemas.microsoft.com/office/drawing/2014/main" id="{6245B04A-BD36-2C36-DD7A-97477E748B6D}"/>
              </a:ext>
            </a:extLst>
          </p:cNvPr>
          <p:cNvSpPr/>
          <p:nvPr/>
        </p:nvSpPr>
        <p:spPr>
          <a:xfrm>
            <a:off x="1150623" y="1662798"/>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2" name="Rectángulo 21">
            <a:extLst>
              <a:ext uri="{FF2B5EF4-FFF2-40B4-BE49-F238E27FC236}">
                <a16:creationId xmlns:a16="http://schemas.microsoft.com/office/drawing/2014/main" id="{28C6F862-5B36-43E7-E607-7A668575BE80}"/>
              </a:ext>
            </a:extLst>
          </p:cNvPr>
          <p:cNvSpPr/>
          <p:nvPr/>
        </p:nvSpPr>
        <p:spPr>
          <a:xfrm>
            <a:off x="6280313" y="1662798"/>
            <a:ext cx="1510229"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3" name="Rectángulo redondeado 15">
            <a:extLst>
              <a:ext uri="{FF2B5EF4-FFF2-40B4-BE49-F238E27FC236}">
                <a16:creationId xmlns:a16="http://schemas.microsoft.com/office/drawing/2014/main" id="{EA87CE83-AB48-2052-43C5-6776B66DB0C7}"/>
              </a:ext>
            </a:extLst>
          </p:cNvPr>
          <p:cNvSpPr/>
          <p:nvPr/>
        </p:nvSpPr>
        <p:spPr>
          <a:xfrm>
            <a:off x="11082130" y="1866256"/>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24" name="Rectángulo 23">
            <a:extLst>
              <a:ext uri="{FF2B5EF4-FFF2-40B4-BE49-F238E27FC236}">
                <a16:creationId xmlns:a16="http://schemas.microsoft.com/office/drawing/2014/main" id="{07F87DC0-19B8-CA48-0A4C-3A5BD223211F}"/>
              </a:ext>
            </a:extLst>
          </p:cNvPr>
          <p:cNvSpPr/>
          <p:nvPr/>
        </p:nvSpPr>
        <p:spPr>
          <a:xfrm>
            <a:off x="11369964" y="1685362"/>
            <a:ext cx="426527"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148898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5B87716-2358-219B-4EA0-603A36DD2C4D}"/>
              </a:ext>
            </a:extLst>
          </p:cNvPr>
          <p:cNvPicPr>
            <a:picLocks noChangeAspect="1"/>
          </p:cNvPicPr>
          <p:nvPr/>
        </p:nvPicPr>
        <p:blipFill>
          <a:blip r:embed="rId2"/>
          <a:stretch>
            <a:fillRect/>
          </a:stretch>
        </p:blipFill>
        <p:spPr>
          <a:xfrm>
            <a:off x="810247" y="954157"/>
            <a:ext cx="11021009" cy="479650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Detalle de horario (SSADETL)</a:t>
            </a:r>
            <a:endParaRPr lang="es-CL" dirty="0"/>
          </a:p>
        </p:txBody>
      </p:sp>
      <p:sp>
        <p:nvSpPr>
          <p:cNvPr id="10" name="Rectángulo redondeado 5">
            <a:extLst>
              <a:ext uri="{FF2B5EF4-FFF2-40B4-BE49-F238E27FC236}">
                <a16:creationId xmlns:a16="http://schemas.microsoft.com/office/drawing/2014/main" id="{ACA3836E-4E0F-74F4-F518-D7898C3BB892}"/>
              </a:ext>
            </a:extLst>
          </p:cNvPr>
          <p:cNvSpPr/>
          <p:nvPr/>
        </p:nvSpPr>
        <p:spPr>
          <a:xfrm>
            <a:off x="1363337" y="3237924"/>
            <a:ext cx="8952610" cy="83877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Las pestañas ‘Correquisitos y ligas de sección’ si se usan Ligas, se vinculan en está sección</a:t>
            </a:r>
          </a:p>
        </p:txBody>
      </p:sp>
      <p:sp>
        <p:nvSpPr>
          <p:cNvPr id="8" name="Rectángulo 7">
            <a:extLst>
              <a:ext uri="{FF2B5EF4-FFF2-40B4-BE49-F238E27FC236}">
                <a16:creationId xmlns:a16="http://schemas.microsoft.com/office/drawing/2014/main" id="{DF2C9833-2F2F-BF08-6D8E-18706DB9F584}"/>
              </a:ext>
            </a:extLst>
          </p:cNvPr>
          <p:cNvSpPr/>
          <p:nvPr/>
        </p:nvSpPr>
        <p:spPr>
          <a:xfrm>
            <a:off x="785670" y="1570182"/>
            <a:ext cx="10792772" cy="1554018"/>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
        <p:nvSpPr>
          <p:cNvPr id="9" name="Rectángulo redondeado 23">
            <a:extLst>
              <a:ext uri="{FF2B5EF4-FFF2-40B4-BE49-F238E27FC236}">
                <a16:creationId xmlns:a16="http://schemas.microsoft.com/office/drawing/2014/main" id="{3260C489-6764-38FD-5DAE-6C7170F867F9}"/>
              </a:ext>
            </a:extLst>
          </p:cNvPr>
          <p:cNvSpPr/>
          <p:nvPr/>
        </p:nvSpPr>
        <p:spPr>
          <a:xfrm>
            <a:off x="524547" y="2839966"/>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Tree>
    <p:extLst>
      <p:ext uri="{BB962C8B-B14F-4D97-AF65-F5344CB8AC3E}">
        <p14:creationId xmlns:p14="http://schemas.microsoft.com/office/powerpoint/2010/main" val="8869288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21CFF-5C8E-D3C8-E207-F915E28D052C}"/>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509B2367-8E79-5E1A-9B97-DE388A2410CA}"/>
              </a:ext>
            </a:extLst>
          </p:cNvPr>
          <p:cNvPicPr>
            <a:picLocks noChangeAspect="1"/>
          </p:cNvPicPr>
          <p:nvPr/>
        </p:nvPicPr>
        <p:blipFill>
          <a:blip r:embed="rId2"/>
          <a:stretch>
            <a:fillRect/>
          </a:stretch>
        </p:blipFill>
        <p:spPr>
          <a:xfrm>
            <a:off x="403862" y="954157"/>
            <a:ext cx="11788138" cy="5125278"/>
          </a:xfrm>
          <a:prstGeom prst="rect">
            <a:avLst/>
          </a:prstGeom>
        </p:spPr>
      </p:pic>
      <p:sp>
        <p:nvSpPr>
          <p:cNvPr id="3" name="Marcador de texto vertical 2">
            <a:extLst>
              <a:ext uri="{FF2B5EF4-FFF2-40B4-BE49-F238E27FC236}">
                <a16:creationId xmlns:a16="http://schemas.microsoft.com/office/drawing/2014/main" id="{43969534-345D-B6FF-F5A4-B4E00C0D5DC3}"/>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31F9A397-18DE-F64D-11FF-10F24AB22607}"/>
              </a:ext>
            </a:extLst>
          </p:cNvPr>
          <p:cNvSpPr>
            <a:spLocks noGrp="1"/>
          </p:cNvSpPr>
          <p:nvPr>
            <p:ph type="title"/>
          </p:nvPr>
        </p:nvSpPr>
        <p:spPr>
          <a:xfrm>
            <a:off x="810247" y="327992"/>
            <a:ext cx="10271883" cy="626165"/>
          </a:xfrm>
        </p:spPr>
        <p:txBody>
          <a:bodyPr/>
          <a:lstStyle/>
          <a:p>
            <a:r>
              <a:rPr lang="es-ES_tradnl" dirty="0">
                <a:solidFill>
                  <a:schemeClr val="tx2"/>
                </a:solidFill>
              </a:rPr>
              <a:t>Detalle de horario (SSADETL)</a:t>
            </a:r>
            <a:endParaRPr lang="es-CL" dirty="0"/>
          </a:p>
        </p:txBody>
      </p:sp>
      <p:sp>
        <p:nvSpPr>
          <p:cNvPr id="2" name="Rectángulo redondeado 8">
            <a:extLst>
              <a:ext uri="{FF2B5EF4-FFF2-40B4-BE49-F238E27FC236}">
                <a16:creationId xmlns:a16="http://schemas.microsoft.com/office/drawing/2014/main" id="{12679979-93BD-16B4-4416-93CD9E4384EE}"/>
              </a:ext>
            </a:extLst>
          </p:cNvPr>
          <p:cNvSpPr/>
          <p:nvPr/>
        </p:nvSpPr>
        <p:spPr>
          <a:xfrm>
            <a:off x="833253" y="2534403"/>
            <a:ext cx="360421" cy="277771"/>
          </a:xfrm>
          <a:prstGeom prst="roundRect">
            <a:avLst/>
          </a:prstGeom>
          <a:ln/>
        </p:spPr>
        <p:style>
          <a:lnRef idx="3">
            <a:schemeClr val="lt1"/>
          </a:lnRef>
          <a:fillRef idx="1">
            <a:schemeClr val="accent1"/>
          </a:fillRef>
          <a:effectRef idx="1">
            <a:schemeClr val="accent1"/>
          </a:effectRef>
          <a:fontRef idx="minor">
            <a:schemeClr val="lt1"/>
          </a:fontRef>
        </p:style>
        <p:txBody>
          <a:bodyPr rtlCol="0" anchor="ctr"/>
          <a:lstStyle/>
          <a:p>
            <a:pPr algn="ctr"/>
            <a:r>
              <a:rPr lang="es-ES_tradnl" sz="1200" b="1" dirty="0"/>
              <a:t>5</a:t>
            </a:r>
          </a:p>
        </p:txBody>
      </p:sp>
      <p:sp>
        <p:nvSpPr>
          <p:cNvPr id="13" name="Rectángulo redondeado 5">
            <a:extLst>
              <a:ext uri="{FF2B5EF4-FFF2-40B4-BE49-F238E27FC236}">
                <a16:creationId xmlns:a16="http://schemas.microsoft.com/office/drawing/2014/main" id="{BC0B779B-994A-020C-C9AD-0FFA5C75D3A7}"/>
              </a:ext>
            </a:extLst>
          </p:cNvPr>
          <p:cNvSpPr/>
          <p:nvPr/>
        </p:nvSpPr>
        <p:spPr>
          <a:xfrm>
            <a:off x="2152073" y="3237923"/>
            <a:ext cx="8163874" cy="90465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Pestaña Atributos de programa de grado, se heredan los atributos que la asignatura tiene definidas a nivel de catálogo.</a:t>
            </a:r>
          </a:p>
        </p:txBody>
      </p:sp>
      <p:sp>
        <p:nvSpPr>
          <p:cNvPr id="15" name="Rectángulo 14">
            <a:extLst>
              <a:ext uri="{FF2B5EF4-FFF2-40B4-BE49-F238E27FC236}">
                <a16:creationId xmlns:a16="http://schemas.microsoft.com/office/drawing/2014/main" id="{42A27618-FE1D-89EA-E4AA-A830BFB54A7A}"/>
              </a:ext>
            </a:extLst>
          </p:cNvPr>
          <p:cNvSpPr/>
          <p:nvPr/>
        </p:nvSpPr>
        <p:spPr>
          <a:xfrm>
            <a:off x="403862" y="1990382"/>
            <a:ext cx="10790750" cy="45470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6" name="Rectángulo 15">
            <a:extLst>
              <a:ext uri="{FF2B5EF4-FFF2-40B4-BE49-F238E27FC236}">
                <a16:creationId xmlns:a16="http://schemas.microsoft.com/office/drawing/2014/main" id="{880F54FA-6045-71A2-ED7D-D519ABF08CEF}"/>
              </a:ext>
            </a:extLst>
          </p:cNvPr>
          <p:cNvSpPr/>
          <p:nvPr/>
        </p:nvSpPr>
        <p:spPr>
          <a:xfrm>
            <a:off x="3009379" y="1587704"/>
            <a:ext cx="1553096" cy="20978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1208996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3D291-164B-CD95-B1E6-3BCB674C1B84}"/>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2C86DFB-606B-6AFB-39B2-40F473E36C50}"/>
              </a:ext>
            </a:extLst>
          </p:cNvPr>
          <p:cNvSpPr>
            <a:spLocks noGrp="1"/>
          </p:cNvSpPr>
          <p:nvPr>
            <p:ph type="body" sz="quarter" idx="10"/>
          </p:nvPr>
        </p:nvSpPr>
        <p:spPr>
          <a:xfrm>
            <a:off x="914399" y="2238843"/>
            <a:ext cx="10363202" cy="669094"/>
          </a:xfrm>
        </p:spPr>
        <p:txBody>
          <a:bodyPr/>
          <a:lstStyle/>
          <a:p>
            <a:r>
              <a:rPr lang="es-CL" dirty="0"/>
              <a:t>Prerrequisitos del NRC</a:t>
            </a:r>
            <a:endParaRPr lang="es-419" dirty="0"/>
          </a:p>
        </p:txBody>
      </p:sp>
      <p:sp>
        <p:nvSpPr>
          <p:cNvPr id="2" name="Marcador de texto vertical 1">
            <a:extLst>
              <a:ext uri="{FF2B5EF4-FFF2-40B4-BE49-F238E27FC236}">
                <a16:creationId xmlns:a16="http://schemas.microsoft.com/office/drawing/2014/main" id="{6249A7E8-209F-BB2F-A97E-93091A8869D1}"/>
              </a:ext>
            </a:extLst>
          </p:cNvPr>
          <p:cNvSpPr>
            <a:spLocks noGrp="1"/>
          </p:cNvSpPr>
          <p:nvPr>
            <p:ph type="body" sz="quarter" idx="11"/>
          </p:nvPr>
        </p:nvSpPr>
        <p:spPr/>
        <p:txBody>
          <a:bodyPr/>
          <a:lstStyle/>
          <a:p>
            <a:r>
              <a:rPr lang="es-419" sz="1200" dirty="0"/>
              <a:t>Registrar la oferta horaria de los cursos</a:t>
            </a:r>
            <a:endParaRPr lang="en-US" dirty="0"/>
          </a:p>
        </p:txBody>
      </p:sp>
    </p:spTree>
    <p:extLst>
      <p:ext uri="{BB962C8B-B14F-4D97-AF65-F5344CB8AC3E}">
        <p14:creationId xmlns:p14="http://schemas.microsoft.com/office/powerpoint/2010/main" val="37466465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C4E3C-C88B-B4A2-20B4-1E6A8FC5C9EE}"/>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7061510E-2543-6334-0923-BF9C54A7E648}"/>
              </a:ext>
            </a:extLst>
          </p:cNvPr>
          <p:cNvPicPr>
            <a:picLocks noChangeAspect="1"/>
          </p:cNvPicPr>
          <p:nvPr/>
        </p:nvPicPr>
        <p:blipFill>
          <a:blip r:embed="rId2"/>
          <a:stretch>
            <a:fillRect/>
          </a:stretch>
        </p:blipFill>
        <p:spPr>
          <a:xfrm>
            <a:off x="810247" y="1081247"/>
            <a:ext cx="11144250" cy="4846344"/>
          </a:xfrm>
          <a:prstGeom prst="rect">
            <a:avLst/>
          </a:prstGeom>
        </p:spPr>
      </p:pic>
      <p:sp>
        <p:nvSpPr>
          <p:cNvPr id="3" name="Marcador de texto vertical 2">
            <a:extLst>
              <a:ext uri="{FF2B5EF4-FFF2-40B4-BE49-F238E27FC236}">
                <a16:creationId xmlns:a16="http://schemas.microsoft.com/office/drawing/2014/main" id="{A7C81781-B976-17E0-0D00-503DCA090787}"/>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739E6587-5030-BB1C-C321-D6790441D038}"/>
              </a:ext>
            </a:extLst>
          </p:cNvPr>
          <p:cNvSpPr>
            <a:spLocks noGrp="1"/>
          </p:cNvSpPr>
          <p:nvPr>
            <p:ph type="title"/>
          </p:nvPr>
        </p:nvSpPr>
        <p:spPr>
          <a:xfrm>
            <a:off x="810247" y="327992"/>
            <a:ext cx="10271883" cy="626165"/>
          </a:xfrm>
        </p:spPr>
        <p:txBody>
          <a:bodyPr/>
          <a:lstStyle/>
          <a:p>
            <a:r>
              <a:rPr lang="es-ES_tradnl" dirty="0">
                <a:solidFill>
                  <a:schemeClr val="tx2"/>
                </a:solidFill>
              </a:rPr>
              <a:t>Prerrequisitos de horario (SSAPREQ)</a:t>
            </a:r>
            <a:endParaRPr lang="es-CL" dirty="0"/>
          </a:p>
        </p:txBody>
      </p:sp>
      <p:sp>
        <p:nvSpPr>
          <p:cNvPr id="18" name="Rectángulo redondeado 5">
            <a:extLst>
              <a:ext uri="{FF2B5EF4-FFF2-40B4-BE49-F238E27FC236}">
                <a16:creationId xmlns:a16="http://schemas.microsoft.com/office/drawing/2014/main" id="{DDD740D7-F0F2-EC9C-2F55-143BC51ED9A3}"/>
              </a:ext>
            </a:extLst>
          </p:cNvPr>
          <p:cNvSpPr/>
          <p:nvPr/>
        </p:nvSpPr>
        <p:spPr>
          <a:xfrm>
            <a:off x="1736000" y="4362449"/>
            <a:ext cx="6262255" cy="111339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Una vez programado un NRC, se puede visualizar y complementar los registros de prerrequisitos en SSAPREQ. </a:t>
            </a:r>
          </a:p>
          <a:p>
            <a:r>
              <a:rPr lang="es-ES_tradnl" sz="1200" dirty="0"/>
              <a:t>Puede ingresar en esta página desde la página principal de </a:t>
            </a:r>
            <a:r>
              <a:rPr lang="es-ES_tradnl" sz="1200" dirty="0" err="1"/>
              <a:t>Experience</a:t>
            </a:r>
            <a:r>
              <a:rPr lang="es-ES_tradnl" sz="1200" dirty="0"/>
              <a:t> o desde el Menú relacionado ubicado en la parte superior derecha de la página SSASECT.</a:t>
            </a:r>
          </a:p>
        </p:txBody>
      </p:sp>
      <p:sp>
        <p:nvSpPr>
          <p:cNvPr id="5" name="Rectángulo 4">
            <a:extLst>
              <a:ext uri="{FF2B5EF4-FFF2-40B4-BE49-F238E27FC236}">
                <a16:creationId xmlns:a16="http://schemas.microsoft.com/office/drawing/2014/main" id="{A3688A7C-4996-21DF-AACA-4B955618CCDE}"/>
              </a:ext>
            </a:extLst>
          </p:cNvPr>
          <p:cNvSpPr/>
          <p:nvPr/>
        </p:nvSpPr>
        <p:spPr>
          <a:xfrm>
            <a:off x="9775988" y="5187048"/>
            <a:ext cx="2092162" cy="2887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8466477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060513D-59ED-341C-8914-B9B9542920B5}"/>
              </a:ext>
            </a:extLst>
          </p:cNvPr>
          <p:cNvPicPr>
            <a:picLocks noChangeAspect="1"/>
          </p:cNvPicPr>
          <p:nvPr/>
        </p:nvPicPr>
        <p:blipFill>
          <a:blip r:embed="rId2"/>
          <a:stretch>
            <a:fillRect/>
          </a:stretch>
        </p:blipFill>
        <p:spPr>
          <a:xfrm>
            <a:off x="779626" y="1293440"/>
            <a:ext cx="11001374" cy="106854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Prerrequisitos de horario (SSAPREQ)</a:t>
            </a:r>
            <a:endParaRPr lang="es-CL" dirty="0"/>
          </a:p>
        </p:txBody>
      </p:sp>
      <p:sp>
        <p:nvSpPr>
          <p:cNvPr id="12" name="Rectángulo redondeado 5">
            <a:extLst>
              <a:ext uri="{FF2B5EF4-FFF2-40B4-BE49-F238E27FC236}">
                <a16:creationId xmlns:a16="http://schemas.microsoft.com/office/drawing/2014/main" id="{08131310-2D21-0F29-CBBB-12E9179460B2}"/>
              </a:ext>
            </a:extLst>
          </p:cNvPr>
          <p:cNvSpPr/>
          <p:nvPr/>
        </p:nvSpPr>
        <p:spPr>
          <a:xfrm>
            <a:off x="2281382" y="3157486"/>
            <a:ext cx="6868530" cy="16731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Toda vez en la página de Prerrequisitos de horario (SSAPREQ) ingrese la siguiente información:</a:t>
            </a:r>
          </a:p>
          <a:p>
            <a:pPr marL="228600" indent="-228600">
              <a:buFont typeface="+mj-lt"/>
              <a:buAutoNum type="arabicPeriod"/>
            </a:pPr>
            <a:r>
              <a:rPr lang="es-ES_tradnl" sz="1400" dirty="0"/>
              <a:t>Periodo Académico</a:t>
            </a:r>
          </a:p>
          <a:p>
            <a:pPr marL="228600" indent="-228600">
              <a:buFont typeface="+mj-lt"/>
              <a:buAutoNum type="arabicPeriod"/>
            </a:pPr>
            <a:r>
              <a:rPr lang="es-ES_tradnl" sz="1400" dirty="0"/>
              <a:t>NRC de la asignatura a configurar</a:t>
            </a:r>
          </a:p>
          <a:p>
            <a:pPr marL="228600" indent="-228600">
              <a:buFont typeface="+mj-lt"/>
              <a:buAutoNum type="arabicPeriod"/>
            </a:pPr>
            <a:r>
              <a:rPr lang="es-ES_tradnl" sz="1400" dirty="0"/>
              <a:t>Presione el botón “Ir”.</a:t>
            </a:r>
          </a:p>
          <a:p>
            <a:pPr algn="ctr"/>
            <a:r>
              <a:rPr lang="es-ES_tradnl" sz="1200" dirty="0"/>
              <a:t>Si se accede desde el menú relacionado, el sistema, por defecto,  trae el último NRC trabajado</a:t>
            </a:r>
          </a:p>
        </p:txBody>
      </p:sp>
      <p:sp>
        <p:nvSpPr>
          <p:cNvPr id="16" name="Rectángulo redondeado 15">
            <a:extLst>
              <a:ext uri="{FF2B5EF4-FFF2-40B4-BE49-F238E27FC236}">
                <a16:creationId xmlns:a16="http://schemas.microsoft.com/office/drawing/2014/main" id="{750426ED-F916-7A16-4B5E-BA96AB7F538F}"/>
              </a:ext>
            </a:extLst>
          </p:cNvPr>
          <p:cNvSpPr/>
          <p:nvPr/>
        </p:nvSpPr>
        <p:spPr>
          <a:xfrm>
            <a:off x="7817254" y="1642976"/>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7" name="Rectángulo redondeado 23">
            <a:extLst>
              <a:ext uri="{FF2B5EF4-FFF2-40B4-BE49-F238E27FC236}">
                <a16:creationId xmlns:a16="http://schemas.microsoft.com/office/drawing/2014/main" id="{A68B1852-DBE7-5F50-74D2-AF48436EC6D5}"/>
              </a:ext>
            </a:extLst>
          </p:cNvPr>
          <p:cNvSpPr/>
          <p:nvPr/>
        </p:nvSpPr>
        <p:spPr>
          <a:xfrm>
            <a:off x="2892941" y="1659956"/>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8" name="Rectángulo 17">
            <a:extLst>
              <a:ext uri="{FF2B5EF4-FFF2-40B4-BE49-F238E27FC236}">
                <a16:creationId xmlns:a16="http://schemas.microsoft.com/office/drawing/2014/main" id="{2BEFCA44-737D-9F46-97CA-0AA4D79F18A8}"/>
              </a:ext>
            </a:extLst>
          </p:cNvPr>
          <p:cNvSpPr/>
          <p:nvPr/>
        </p:nvSpPr>
        <p:spPr>
          <a:xfrm>
            <a:off x="1122915" y="1718214"/>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9" name="Rectángulo 18">
            <a:extLst>
              <a:ext uri="{FF2B5EF4-FFF2-40B4-BE49-F238E27FC236}">
                <a16:creationId xmlns:a16="http://schemas.microsoft.com/office/drawing/2014/main" id="{E50447D6-3990-E547-5879-BDC9D665FA96}"/>
              </a:ext>
            </a:extLst>
          </p:cNvPr>
          <p:cNvSpPr/>
          <p:nvPr/>
        </p:nvSpPr>
        <p:spPr>
          <a:xfrm>
            <a:off x="6280313" y="1718214"/>
            <a:ext cx="1510229"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2" name="Rectángulo redondeado 15">
            <a:extLst>
              <a:ext uri="{FF2B5EF4-FFF2-40B4-BE49-F238E27FC236}">
                <a16:creationId xmlns:a16="http://schemas.microsoft.com/office/drawing/2014/main" id="{1D83ECFE-AAF7-2ADF-E877-62AD52F50410}"/>
              </a:ext>
            </a:extLst>
          </p:cNvPr>
          <p:cNvSpPr/>
          <p:nvPr/>
        </p:nvSpPr>
        <p:spPr>
          <a:xfrm>
            <a:off x="11082130" y="192167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23" name="Rectángulo 22">
            <a:extLst>
              <a:ext uri="{FF2B5EF4-FFF2-40B4-BE49-F238E27FC236}">
                <a16:creationId xmlns:a16="http://schemas.microsoft.com/office/drawing/2014/main" id="{052495E6-AE7B-E8F9-B72D-481620D6857E}"/>
              </a:ext>
            </a:extLst>
          </p:cNvPr>
          <p:cNvSpPr/>
          <p:nvPr/>
        </p:nvSpPr>
        <p:spPr>
          <a:xfrm>
            <a:off x="11388436" y="1740778"/>
            <a:ext cx="426527"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39194225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BD16D9B7-6DE1-8EB9-F3D5-7601E9566ED9}"/>
              </a:ext>
            </a:extLst>
          </p:cNvPr>
          <p:cNvPicPr>
            <a:picLocks noChangeAspect="1"/>
          </p:cNvPicPr>
          <p:nvPr/>
        </p:nvPicPr>
        <p:blipFill>
          <a:blip r:embed="rId2"/>
          <a:stretch>
            <a:fillRect/>
          </a:stretch>
        </p:blipFill>
        <p:spPr>
          <a:xfrm>
            <a:off x="725522" y="1302314"/>
            <a:ext cx="11004660" cy="501463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Configuración: </a:t>
            </a:r>
            <a:r>
              <a:rPr lang="es-ES_tradnl" sz="3000" dirty="0"/>
              <a:t>SSAPREQ </a:t>
            </a:r>
            <a:r>
              <a:rPr lang="es-419" b="1" dirty="0">
                <a:effectLst/>
              </a:rPr>
              <a:t>Prerrequisito de horario y restricciones de puntaje de examen</a:t>
            </a:r>
            <a:endParaRPr lang="es-CL" dirty="0"/>
          </a:p>
        </p:txBody>
      </p:sp>
      <p:sp>
        <p:nvSpPr>
          <p:cNvPr id="10" name="Rectángulo redondeado 5">
            <a:extLst>
              <a:ext uri="{FF2B5EF4-FFF2-40B4-BE49-F238E27FC236}">
                <a16:creationId xmlns:a16="http://schemas.microsoft.com/office/drawing/2014/main" id="{ACA3836E-4E0F-74F4-F518-D7898C3BB892}"/>
              </a:ext>
            </a:extLst>
          </p:cNvPr>
          <p:cNvSpPr/>
          <p:nvPr/>
        </p:nvSpPr>
        <p:spPr>
          <a:xfrm>
            <a:off x="2542700" y="3611912"/>
            <a:ext cx="6634525" cy="163726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400" dirty="0"/>
              <a:t>Los registros de prerrequisitos del NRC son mostrados en la pestaña ‘Restricciones de puntaje de examen y de prerrequisitos de sección’ siendo los registros heredados de lo que fuera la configuración de catálogo de curso (SCAPREQ) de la asignatura, pudiendo ser modificados en caso de ser requeridos usando las opciones de Insertar, Eliminar o Copiar</a:t>
            </a:r>
          </a:p>
        </p:txBody>
      </p:sp>
      <p:sp>
        <p:nvSpPr>
          <p:cNvPr id="13" name="Rectángulo 12">
            <a:extLst>
              <a:ext uri="{FF2B5EF4-FFF2-40B4-BE49-F238E27FC236}">
                <a16:creationId xmlns:a16="http://schemas.microsoft.com/office/drawing/2014/main" id="{506882D1-798D-C559-C52A-73392E280072}"/>
              </a:ext>
            </a:extLst>
          </p:cNvPr>
          <p:cNvSpPr/>
          <p:nvPr/>
        </p:nvSpPr>
        <p:spPr>
          <a:xfrm>
            <a:off x="1612442" y="1769867"/>
            <a:ext cx="2356045"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FECAEBAF-B375-68B5-1664-15C0758BC3DC}"/>
              </a:ext>
            </a:extLst>
          </p:cNvPr>
          <p:cNvSpPr/>
          <p:nvPr/>
        </p:nvSpPr>
        <p:spPr>
          <a:xfrm>
            <a:off x="10751127" y="1935552"/>
            <a:ext cx="620306"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7068550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9EEB6-6E9A-581C-6D93-B2DA6F093A02}"/>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BF1DF0C8-FEBB-B715-9CAF-38633E6AB218}"/>
              </a:ext>
            </a:extLst>
          </p:cNvPr>
          <p:cNvPicPr>
            <a:picLocks noChangeAspect="1"/>
          </p:cNvPicPr>
          <p:nvPr/>
        </p:nvPicPr>
        <p:blipFill>
          <a:blip r:embed="rId2"/>
          <a:stretch>
            <a:fillRect/>
          </a:stretch>
        </p:blipFill>
        <p:spPr>
          <a:xfrm>
            <a:off x="810247" y="1002629"/>
            <a:ext cx="10664242" cy="4834753"/>
          </a:xfrm>
          <a:prstGeom prst="rect">
            <a:avLst/>
          </a:prstGeom>
        </p:spPr>
      </p:pic>
      <p:sp>
        <p:nvSpPr>
          <p:cNvPr id="3" name="Marcador de texto vertical 2">
            <a:extLst>
              <a:ext uri="{FF2B5EF4-FFF2-40B4-BE49-F238E27FC236}">
                <a16:creationId xmlns:a16="http://schemas.microsoft.com/office/drawing/2014/main" id="{2F6BA1CF-5599-CA3C-CB21-76368F2E45BE}"/>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5728470C-42EB-294D-143D-395B5FEC0C98}"/>
              </a:ext>
            </a:extLst>
          </p:cNvPr>
          <p:cNvSpPr>
            <a:spLocks noGrp="1"/>
          </p:cNvSpPr>
          <p:nvPr>
            <p:ph type="title"/>
          </p:nvPr>
        </p:nvSpPr>
        <p:spPr>
          <a:xfrm>
            <a:off x="810247" y="327992"/>
            <a:ext cx="10271883" cy="626165"/>
          </a:xfrm>
        </p:spPr>
        <p:txBody>
          <a:bodyPr/>
          <a:lstStyle/>
          <a:p>
            <a:r>
              <a:rPr lang="es-ES_tradnl" dirty="0">
                <a:solidFill>
                  <a:schemeClr val="tx2"/>
                </a:solidFill>
              </a:rPr>
              <a:t>Prerrequisitos de horario (SSAPREQ)</a:t>
            </a:r>
            <a:endParaRPr lang="es-CL" dirty="0"/>
          </a:p>
        </p:txBody>
      </p:sp>
      <p:sp>
        <p:nvSpPr>
          <p:cNvPr id="10" name="Rectángulo redondeado 5">
            <a:extLst>
              <a:ext uri="{FF2B5EF4-FFF2-40B4-BE49-F238E27FC236}">
                <a16:creationId xmlns:a16="http://schemas.microsoft.com/office/drawing/2014/main" id="{B50AE707-FCCE-0DFD-CD90-0399A1A41E5C}"/>
              </a:ext>
            </a:extLst>
          </p:cNvPr>
          <p:cNvSpPr/>
          <p:nvPr/>
        </p:nvSpPr>
        <p:spPr>
          <a:xfrm>
            <a:off x="2150665" y="3702572"/>
            <a:ext cx="6634525" cy="163726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Los registros de prerrequisitos pueden ser modificados a nivel de NRC en caso de que se requiera, en la imagen:</a:t>
            </a:r>
          </a:p>
          <a:p>
            <a:pPr marL="342900" indent="-342900">
              <a:buFont typeface="+mj-lt"/>
              <a:buAutoNum type="arabicPeriod" startAt="4"/>
            </a:pPr>
            <a:r>
              <a:rPr lang="es-ES_tradnl" sz="1200" dirty="0"/>
              <a:t>Se realiza la inserción de un nuevo prerrequisito para este NRC, manteniendo las lógicas de conjuntos asociadas a los campos ‘Y/O’, ‘(‘ y ‘)’. Lo que para la imagen se interpretaría, que como prerrequisitos de la asignatura DER0 0106 programada en el NRC 1007 el estudiante debe haber aprobado ACCT 0110 o ACC0 0400.</a:t>
            </a:r>
          </a:p>
          <a:p>
            <a:pPr marL="342900" indent="-342900">
              <a:buFont typeface="+mj-lt"/>
              <a:buAutoNum type="arabicPeriod" startAt="4"/>
            </a:pPr>
            <a:r>
              <a:rPr lang="es-ES_tradnl" sz="1200" dirty="0"/>
              <a:t>Guarde la información ingresada.</a:t>
            </a:r>
          </a:p>
        </p:txBody>
      </p:sp>
      <p:sp>
        <p:nvSpPr>
          <p:cNvPr id="7" name="Rectángulo redondeado 23">
            <a:extLst>
              <a:ext uri="{FF2B5EF4-FFF2-40B4-BE49-F238E27FC236}">
                <a16:creationId xmlns:a16="http://schemas.microsoft.com/office/drawing/2014/main" id="{E72EFE1E-12C8-3757-BFCC-834844C319BD}"/>
              </a:ext>
            </a:extLst>
          </p:cNvPr>
          <p:cNvSpPr/>
          <p:nvPr/>
        </p:nvSpPr>
        <p:spPr>
          <a:xfrm>
            <a:off x="622570" y="2385271"/>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1" name="Rectángulo 10">
            <a:extLst>
              <a:ext uri="{FF2B5EF4-FFF2-40B4-BE49-F238E27FC236}">
                <a16:creationId xmlns:a16="http://schemas.microsoft.com/office/drawing/2014/main" id="{0F01DA8A-9574-B8D2-08C2-DA3E354B83B1}"/>
              </a:ext>
            </a:extLst>
          </p:cNvPr>
          <p:cNvSpPr/>
          <p:nvPr/>
        </p:nvSpPr>
        <p:spPr>
          <a:xfrm>
            <a:off x="810247" y="1625500"/>
            <a:ext cx="10664242" cy="71129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2" name="Rectángulo redondeado 15">
            <a:extLst>
              <a:ext uri="{FF2B5EF4-FFF2-40B4-BE49-F238E27FC236}">
                <a16:creationId xmlns:a16="http://schemas.microsoft.com/office/drawing/2014/main" id="{980979A5-971E-46D5-D798-F047BC41832E}"/>
              </a:ext>
            </a:extLst>
          </p:cNvPr>
          <p:cNvSpPr/>
          <p:nvPr/>
        </p:nvSpPr>
        <p:spPr>
          <a:xfrm>
            <a:off x="10560727" y="5779252"/>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23" name="Rectángulo 22">
            <a:extLst>
              <a:ext uri="{FF2B5EF4-FFF2-40B4-BE49-F238E27FC236}">
                <a16:creationId xmlns:a16="http://schemas.microsoft.com/office/drawing/2014/main" id="{0615E7EB-8DF4-CE30-2CAA-7693ECD389FF}"/>
              </a:ext>
            </a:extLst>
          </p:cNvPr>
          <p:cNvSpPr/>
          <p:nvPr/>
        </p:nvSpPr>
        <p:spPr>
          <a:xfrm>
            <a:off x="10984430" y="5529871"/>
            <a:ext cx="507027"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15983912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8ABDB-FA23-4360-67E9-67E5A591BDAF}"/>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C433667A-C6B8-6DC4-2CFC-18AC7B9DEC63}"/>
              </a:ext>
            </a:extLst>
          </p:cNvPr>
          <p:cNvSpPr>
            <a:spLocks noGrp="1"/>
          </p:cNvSpPr>
          <p:nvPr>
            <p:ph type="body" sz="quarter" idx="10"/>
          </p:nvPr>
        </p:nvSpPr>
        <p:spPr>
          <a:xfrm>
            <a:off x="914399" y="2238843"/>
            <a:ext cx="10363202" cy="669094"/>
          </a:xfrm>
        </p:spPr>
        <p:txBody>
          <a:bodyPr/>
          <a:lstStyle/>
          <a:p>
            <a:r>
              <a:rPr lang="es-CL" dirty="0"/>
              <a:t>Restricciones de horario</a:t>
            </a:r>
            <a:endParaRPr lang="es-419" dirty="0"/>
          </a:p>
        </p:txBody>
      </p:sp>
      <p:sp>
        <p:nvSpPr>
          <p:cNvPr id="2" name="Marcador de texto vertical 1">
            <a:extLst>
              <a:ext uri="{FF2B5EF4-FFF2-40B4-BE49-F238E27FC236}">
                <a16:creationId xmlns:a16="http://schemas.microsoft.com/office/drawing/2014/main" id="{83A32064-804D-451B-02EA-3684A5504A9A}"/>
              </a:ext>
            </a:extLst>
          </p:cNvPr>
          <p:cNvSpPr>
            <a:spLocks noGrp="1"/>
          </p:cNvSpPr>
          <p:nvPr>
            <p:ph type="body" sz="quarter" idx="11"/>
          </p:nvPr>
        </p:nvSpPr>
        <p:spPr/>
        <p:txBody>
          <a:bodyPr/>
          <a:lstStyle/>
          <a:p>
            <a:r>
              <a:rPr lang="es-419" sz="1200" dirty="0"/>
              <a:t>Registrar la oferta horaria de los cursos</a:t>
            </a:r>
            <a:endParaRPr lang="en-US" dirty="0"/>
          </a:p>
        </p:txBody>
      </p:sp>
    </p:spTree>
    <p:extLst>
      <p:ext uri="{BB962C8B-B14F-4D97-AF65-F5344CB8AC3E}">
        <p14:creationId xmlns:p14="http://schemas.microsoft.com/office/powerpoint/2010/main" val="15371160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D13EC-D7CC-0D58-AB42-073D06C4AD9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871A8C2-827C-6D56-2602-E59D154B26B3}"/>
              </a:ext>
            </a:extLst>
          </p:cNvPr>
          <p:cNvPicPr>
            <a:picLocks noChangeAspect="1"/>
          </p:cNvPicPr>
          <p:nvPr/>
        </p:nvPicPr>
        <p:blipFill>
          <a:blip r:embed="rId2"/>
          <a:stretch>
            <a:fillRect/>
          </a:stretch>
        </p:blipFill>
        <p:spPr>
          <a:xfrm>
            <a:off x="810247" y="954157"/>
            <a:ext cx="10868899" cy="4949686"/>
          </a:xfrm>
          <a:prstGeom prst="rect">
            <a:avLst/>
          </a:prstGeom>
        </p:spPr>
      </p:pic>
      <p:sp>
        <p:nvSpPr>
          <p:cNvPr id="3" name="Marcador de texto vertical 2">
            <a:extLst>
              <a:ext uri="{FF2B5EF4-FFF2-40B4-BE49-F238E27FC236}">
                <a16:creationId xmlns:a16="http://schemas.microsoft.com/office/drawing/2014/main" id="{CE756B87-8554-FA9F-55ED-2B14CBB98DCB}"/>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B2CA8305-3BF8-16FC-0803-8F49C376476F}"/>
              </a:ext>
            </a:extLst>
          </p:cNvPr>
          <p:cNvSpPr>
            <a:spLocks noGrp="1"/>
          </p:cNvSpPr>
          <p:nvPr>
            <p:ph type="title"/>
          </p:nvPr>
        </p:nvSpPr>
        <p:spPr>
          <a:xfrm>
            <a:off x="810247" y="327992"/>
            <a:ext cx="10271883" cy="626165"/>
          </a:xfrm>
        </p:spPr>
        <p:txBody>
          <a:bodyPr/>
          <a:lstStyle/>
          <a:p>
            <a:r>
              <a:rPr lang="es-ES_tradnl" dirty="0">
                <a:solidFill>
                  <a:schemeClr val="tx2"/>
                </a:solidFill>
              </a:rPr>
              <a:t>Restricciones de horario (SSARRES)</a:t>
            </a:r>
            <a:endParaRPr lang="es-CL" dirty="0"/>
          </a:p>
        </p:txBody>
      </p:sp>
      <p:sp>
        <p:nvSpPr>
          <p:cNvPr id="18" name="Rectángulo redondeado 5">
            <a:extLst>
              <a:ext uri="{FF2B5EF4-FFF2-40B4-BE49-F238E27FC236}">
                <a16:creationId xmlns:a16="http://schemas.microsoft.com/office/drawing/2014/main" id="{11C17115-8F44-A45E-8BA8-9172DDDB30D4}"/>
              </a:ext>
            </a:extLst>
          </p:cNvPr>
          <p:cNvSpPr/>
          <p:nvPr/>
        </p:nvSpPr>
        <p:spPr>
          <a:xfrm>
            <a:off x="1469300" y="3428999"/>
            <a:ext cx="6262255" cy="111339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Una vez programado un NRC, se puede visualizar y complementar los registros de restricciones en SSARRES. </a:t>
            </a:r>
          </a:p>
          <a:p>
            <a:r>
              <a:rPr lang="es-ES_tradnl" sz="1200" dirty="0"/>
              <a:t>Puede ingresar en esta página desde la página principal de </a:t>
            </a:r>
            <a:r>
              <a:rPr lang="es-ES_tradnl" sz="1200" dirty="0" err="1"/>
              <a:t>Experience</a:t>
            </a:r>
            <a:r>
              <a:rPr lang="es-ES_tradnl" sz="1200" dirty="0"/>
              <a:t> o desde el Menú relacionado ubicado en la parte superior derecha de la página SSASECT.</a:t>
            </a:r>
          </a:p>
        </p:txBody>
      </p:sp>
    </p:spTree>
    <p:extLst>
      <p:ext uri="{BB962C8B-B14F-4D97-AF65-F5344CB8AC3E}">
        <p14:creationId xmlns:p14="http://schemas.microsoft.com/office/powerpoint/2010/main" val="42462865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F9B17-1DD4-278C-8BFD-E9E70DC5DC5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5C41703-BCFC-C19E-0268-14D0B0F11C06}"/>
              </a:ext>
            </a:extLst>
          </p:cNvPr>
          <p:cNvPicPr>
            <a:picLocks noChangeAspect="1"/>
          </p:cNvPicPr>
          <p:nvPr/>
        </p:nvPicPr>
        <p:blipFill>
          <a:blip r:embed="rId2"/>
          <a:stretch>
            <a:fillRect/>
          </a:stretch>
        </p:blipFill>
        <p:spPr>
          <a:xfrm>
            <a:off x="713995" y="1429490"/>
            <a:ext cx="11100968" cy="1250161"/>
          </a:xfrm>
          <a:prstGeom prst="rect">
            <a:avLst/>
          </a:prstGeom>
        </p:spPr>
      </p:pic>
      <p:sp>
        <p:nvSpPr>
          <p:cNvPr id="3" name="Marcador de texto vertical 2">
            <a:extLst>
              <a:ext uri="{FF2B5EF4-FFF2-40B4-BE49-F238E27FC236}">
                <a16:creationId xmlns:a16="http://schemas.microsoft.com/office/drawing/2014/main" id="{813A57A5-9099-4889-E02B-F9F7EF052B86}"/>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8822F2E3-B698-C2C6-86F0-292EBEF02805}"/>
              </a:ext>
            </a:extLst>
          </p:cNvPr>
          <p:cNvSpPr>
            <a:spLocks noGrp="1"/>
          </p:cNvSpPr>
          <p:nvPr>
            <p:ph type="title"/>
          </p:nvPr>
        </p:nvSpPr>
        <p:spPr>
          <a:xfrm>
            <a:off x="810247" y="327992"/>
            <a:ext cx="10271883" cy="626165"/>
          </a:xfrm>
        </p:spPr>
        <p:txBody>
          <a:bodyPr/>
          <a:lstStyle/>
          <a:p>
            <a:r>
              <a:rPr lang="es-ES_tradnl" dirty="0">
                <a:solidFill>
                  <a:schemeClr val="tx2"/>
                </a:solidFill>
              </a:rPr>
              <a:t>Prerrequisitos de horario (SSAPREQ)</a:t>
            </a:r>
            <a:endParaRPr lang="es-CL" dirty="0"/>
          </a:p>
        </p:txBody>
      </p:sp>
      <p:sp>
        <p:nvSpPr>
          <p:cNvPr id="12" name="Rectángulo redondeado 5">
            <a:extLst>
              <a:ext uri="{FF2B5EF4-FFF2-40B4-BE49-F238E27FC236}">
                <a16:creationId xmlns:a16="http://schemas.microsoft.com/office/drawing/2014/main" id="{4DDD8FB5-ACD0-E483-7197-8DCAE6883F48}"/>
              </a:ext>
            </a:extLst>
          </p:cNvPr>
          <p:cNvSpPr/>
          <p:nvPr/>
        </p:nvSpPr>
        <p:spPr>
          <a:xfrm>
            <a:off x="2281382" y="3157486"/>
            <a:ext cx="6868530" cy="167313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Toda vez en la página de Prerrequisitos de horario (SSAPREQ) ingrese la siguiente información:</a:t>
            </a:r>
          </a:p>
          <a:p>
            <a:pPr marL="228600" indent="-228600">
              <a:buFont typeface="+mj-lt"/>
              <a:buAutoNum type="arabicPeriod"/>
            </a:pPr>
            <a:r>
              <a:rPr lang="es-ES_tradnl" sz="1400" dirty="0"/>
              <a:t>Periodo Académico</a:t>
            </a:r>
          </a:p>
          <a:p>
            <a:pPr marL="228600" indent="-228600">
              <a:buFont typeface="+mj-lt"/>
              <a:buAutoNum type="arabicPeriod"/>
            </a:pPr>
            <a:r>
              <a:rPr lang="es-ES_tradnl" sz="1400" dirty="0"/>
              <a:t>NRC de la asignatura a configurar</a:t>
            </a:r>
          </a:p>
          <a:p>
            <a:pPr marL="228600" indent="-228600">
              <a:buFont typeface="+mj-lt"/>
              <a:buAutoNum type="arabicPeriod"/>
            </a:pPr>
            <a:r>
              <a:rPr lang="es-ES_tradnl" sz="1400" dirty="0"/>
              <a:t>Presione el botón “Ir”.</a:t>
            </a:r>
          </a:p>
          <a:p>
            <a:pPr algn="ctr"/>
            <a:r>
              <a:rPr lang="es-ES_tradnl" sz="1200" dirty="0"/>
              <a:t>Si se accede desde el menú relacionado, el sistema, por defecto,  trae el último NRC trabajado</a:t>
            </a:r>
          </a:p>
        </p:txBody>
      </p:sp>
      <p:sp>
        <p:nvSpPr>
          <p:cNvPr id="16" name="Rectángulo redondeado 15">
            <a:extLst>
              <a:ext uri="{FF2B5EF4-FFF2-40B4-BE49-F238E27FC236}">
                <a16:creationId xmlns:a16="http://schemas.microsoft.com/office/drawing/2014/main" id="{B1209775-AB66-B3B3-B7E6-CCFBEB6C7083}"/>
              </a:ext>
            </a:extLst>
          </p:cNvPr>
          <p:cNvSpPr/>
          <p:nvPr/>
        </p:nvSpPr>
        <p:spPr>
          <a:xfrm>
            <a:off x="7817254" y="1642976"/>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17" name="Rectángulo redondeado 23">
            <a:extLst>
              <a:ext uri="{FF2B5EF4-FFF2-40B4-BE49-F238E27FC236}">
                <a16:creationId xmlns:a16="http://schemas.microsoft.com/office/drawing/2014/main" id="{17D8E320-453C-C81D-2177-FE082B984C14}"/>
              </a:ext>
            </a:extLst>
          </p:cNvPr>
          <p:cNvSpPr/>
          <p:nvPr/>
        </p:nvSpPr>
        <p:spPr>
          <a:xfrm>
            <a:off x="2892941" y="1659956"/>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8" name="Rectángulo 17">
            <a:extLst>
              <a:ext uri="{FF2B5EF4-FFF2-40B4-BE49-F238E27FC236}">
                <a16:creationId xmlns:a16="http://schemas.microsoft.com/office/drawing/2014/main" id="{B20EB30E-1A06-538E-59F8-AA13218B7C66}"/>
              </a:ext>
            </a:extLst>
          </p:cNvPr>
          <p:cNvSpPr/>
          <p:nvPr/>
        </p:nvSpPr>
        <p:spPr>
          <a:xfrm>
            <a:off x="1122915" y="1718214"/>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9" name="Rectángulo 18">
            <a:extLst>
              <a:ext uri="{FF2B5EF4-FFF2-40B4-BE49-F238E27FC236}">
                <a16:creationId xmlns:a16="http://schemas.microsoft.com/office/drawing/2014/main" id="{FAA2175D-39DA-D368-6295-D453F460BE87}"/>
              </a:ext>
            </a:extLst>
          </p:cNvPr>
          <p:cNvSpPr/>
          <p:nvPr/>
        </p:nvSpPr>
        <p:spPr>
          <a:xfrm>
            <a:off x="6280313" y="1718214"/>
            <a:ext cx="1510229"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2" name="Rectángulo redondeado 15">
            <a:extLst>
              <a:ext uri="{FF2B5EF4-FFF2-40B4-BE49-F238E27FC236}">
                <a16:creationId xmlns:a16="http://schemas.microsoft.com/office/drawing/2014/main" id="{D0A267AC-E1B7-E687-B9BA-129E8DC41ADC}"/>
              </a:ext>
            </a:extLst>
          </p:cNvPr>
          <p:cNvSpPr/>
          <p:nvPr/>
        </p:nvSpPr>
        <p:spPr>
          <a:xfrm>
            <a:off x="11082130" y="192167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23" name="Rectángulo 22">
            <a:extLst>
              <a:ext uri="{FF2B5EF4-FFF2-40B4-BE49-F238E27FC236}">
                <a16:creationId xmlns:a16="http://schemas.microsoft.com/office/drawing/2014/main" id="{36939255-AB2C-D761-92DD-91BD52FCB47F}"/>
              </a:ext>
            </a:extLst>
          </p:cNvPr>
          <p:cNvSpPr/>
          <p:nvPr/>
        </p:nvSpPr>
        <p:spPr>
          <a:xfrm>
            <a:off x="11388436" y="1740778"/>
            <a:ext cx="426527"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34130685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BF9CA65A-6B74-5FC2-DD68-93C49329D248}"/>
              </a:ext>
            </a:extLst>
          </p:cNvPr>
          <p:cNvPicPr>
            <a:picLocks noChangeAspect="1"/>
          </p:cNvPicPr>
          <p:nvPr/>
        </p:nvPicPr>
        <p:blipFill>
          <a:blip r:embed="rId2"/>
          <a:stretch>
            <a:fillRect/>
          </a:stretch>
        </p:blipFill>
        <p:spPr>
          <a:xfrm>
            <a:off x="810247" y="989581"/>
            <a:ext cx="10873753" cy="49493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Restricciones de horario (SSARRES)</a:t>
            </a:r>
            <a:endParaRPr lang="es-CL" dirty="0"/>
          </a:p>
        </p:txBody>
      </p:sp>
      <p:sp>
        <p:nvSpPr>
          <p:cNvPr id="10" name="Rectángulo redondeado 5">
            <a:extLst>
              <a:ext uri="{FF2B5EF4-FFF2-40B4-BE49-F238E27FC236}">
                <a16:creationId xmlns:a16="http://schemas.microsoft.com/office/drawing/2014/main" id="{ACA3836E-4E0F-74F4-F518-D7898C3BB892}"/>
              </a:ext>
            </a:extLst>
          </p:cNvPr>
          <p:cNvSpPr/>
          <p:nvPr/>
        </p:nvSpPr>
        <p:spPr>
          <a:xfrm>
            <a:off x="1185693" y="3639279"/>
            <a:ext cx="9520990" cy="11069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Los registros de restricciones que se encuentren asociados a esta sección (SSARRES) corresponderán a aquellos registros heredados de lo que fuera la configuración de catálogo de curso (SCARRES) de la asignatura, pudiendo ser modificados en esta página administrativa si fuera necesario.</a:t>
            </a:r>
          </a:p>
          <a:p>
            <a:pPr algn="ctr"/>
            <a:r>
              <a:rPr lang="es-ES_tradnl" sz="1200" dirty="0"/>
              <a:t>Se pueden añadir restricciones por Nivel, Programa, Campus, Atributo y Cohorte, para permitir o restringir la inscripción de los estudiantes en el NRC</a:t>
            </a:r>
          </a:p>
        </p:txBody>
      </p:sp>
    </p:spTree>
    <p:extLst>
      <p:ext uri="{BB962C8B-B14F-4D97-AF65-F5344CB8AC3E}">
        <p14:creationId xmlns:p14="http://schemas.microsoft.com/office/powerpoint/2010/main" val="24788736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48E92-CB48-D569-BAD8-B2418FD141E3}"/>
            </a:ext>
          </a:extLst>
        </p:cNvPr>
        <p:cNvGrpSpPr/>
        <p:nvPr/>
      </p:nvGrpSpPr>
      <p:grpSpPr>
        <a:xfrm>
          <a:off x="0" y="0"/>
          <a:ext cx="0" cy="0"/>
          <a:chOff x="0" y="0"/>
          <a:chExt cx="0" cy="0"/>
        </a:xfrm>
      </p:grpSpPr>
      <p:pic>
        <p:nvPicPr>
          <p:cNvPr id="19" name="Imagen 18">
            <a:extLst>
              <a:ext uri="{FF2B5EF4-FFF2-40B4-BE49-F238E27FC236}">
                <a16:creationId xmlns:a16="http://schemas.microsoft.com/office/drawing/2014/main" id="{0F98256C-0D37-EA89-23E6-F8F037A70C26}"/>
              </a:ext>
            </a:extLst>
          </p:cNvPr>
          <p:cNvPicPr>
            <a:picLocks noChangeAspect="1"/>
          </p:cNvPicPr>
          <p:nvPr/>
        </p:nvPicPr>
        <p:blipFill>
          <a:blip r:embed="rId2"/>
          <a:stretch>
            <a:fillRect/>
          </a:stretch>
        </p:blipFill>
        <p:spPr>
          <a:xfrm>
            <a:off x="816155" y="965198"/>
            <a:ext cx="10908849" cy="4967879"/>
          </a:xfrm>
          <a:prstGeom prst="rect">
            <a:avLst/>
          </a:prstGeom>
        </p:spPr>
      </p:pic>
      <p:sp>
        <p:nvSpPr>
          <p:cNvPr id="3" name="Marcador de texto vertical 2">
            <a:extLst>
              <a:ext uri="{FF2B5EF4-FFF2-40B4-BE49-F238E27FC236}">
                <a16:creationId xmlns:a16="http://schemas.microsoft.com/office/drawing/2014/main" id="{CE133F21-BF97-D125-532F-194A71F43588}"/>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B0203A1E-71C8-8948-6D33-FAC2BA5E34D6}"/>
              </a:ext>
            </a:extLst>
          </p:cNvPr>
          <p:cNvSpPr>
            <a:spLocks noGrp="1"/>
          </p:cNvSpPr>
          <p:nvPr>
            <p:ph type="title"/>
          </p:nvPr>
        </p:nvSpPr>
        <p:spPr>
          <a:xfrm>
            <a:off x="810247" y="327992"/>
            <a:ext cx="10271883" cy="626165"/>
          </a:xfrm>
        </p:spPr>
        <p:txBody>
          <a:bodyPr/>
          <a:lstStyle/>
          <a:p>
            <a:r>
              <a:rPr lang="es-ES_tradnl" dirty="0">
                <a:solidFill>
                  <a:schemeClr val="tx2"/>
                </a:solidFill>
              </a:rPr>
              <a:t>Restricciones de horario (SSARRES)</a:t>
            </a:r>
            <a:endParaRPr lang="es-CL" dirty="0"/>
          </a:p>
        </p:txBody>
      </p:sp>
      <p:sp>
        <p:nvSpPr>
          <p:cNvPr id="10" name="Rectángulo redondeado 5">
            <a:extLst>
              <a:ext uri="{FF2B5EF4-FFF2-40B4-BE49-F238E27FC236}">
                <a16:creationId xmlns:a16="http://schemas.microsoft.com/office/drawing/2014/main" id="{7C681A42-A3F5-C6C6-35FD-48CBD5522CB3}"/>
              </a:ext>
            </a:extLst>
          </p:cNvPr>
          <p:cNvSpPr/>
          <p:nvPr/>
        </p:nvSpPr>
        <p:spPr>
          <a:xfrm>
            <a:off x="2122992" y="3477763"/>
            <a:ext cx="7646391" cy="197888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pestaña Clase y Nivel, se ingresa la restricción de Nivel del NRC:</a:t>
            </a:r>
          </a:p>
          <a:p>
            <a:pPr marL="342900" indent="-342900">
              <a:buFont typeface="+mj-lt"/>
              <a:buAutoNum type="arabicPeriod" startAt="4"/>
            </a:pPr>
            <a:r>
              <a:rPr lang="es-ES_tradnl" sz="1200" dirty="0"/>
              <a:t>Defina el criterio de Restricción:</a:t>
            </a:r>
          </a:p>
          <a:p>
            <a:pPr marL="800100" lvl="1" indent="-342900">
              <a:buFont typeface="Arial" panose="020B0604020202020204" pitchFamily="34" charset="0"/>
              <a:buChar char="•"/>
            </a:pPr>
            <a:r>
              <a:rPr lang="es-ES_tradnl" sz="1200" dirty="0"/>
              <a:t>Incluir (solo los estudiantes que tengan el o los niveles que se definan podrán inscribir el NRC)</a:t>
            </a:r>
          </a:p>
          <a:p>
            <a:pPr marL="800100" lvl="1" indent="-342900">
              <a:buFont typeface="Arial" panose="020B0604020202020204" pitchFamily="34" charset="0"/>
              <a:buChar char="•"/>
            </a:pPr>
            <a:r>
              <a:rPr lang="es-ES_tradnl" sz="1200" dirty="0"/>
              <a:t>Excluir (todos los estudiantes, excepto aquellos que tengan el o los niveles definidos, podrán inscribir el NRC)</a:t>
            </a:r>
          </a:p>
          <a:p>
            <a:pPr marL="342900" indent="-342900">
              <a:buFont typeface="+mj-lt"/>
              <a:buAutoNum type="arabicPeriod" startAt="5"/>
            </a:pPr>
            <a:r>
              <a:rPr lang="es-ES_tradnl" sz="1200" dirty="0"/>
              <a:t>Seleccione o ingrese el código de Nivel que desea definir para la restricción de inscripción del NRC.</a:t>
            </a:r>
          </a:p>
          <a:p>
            <a:pPr marL="342900" indent="-342900">
              <a:buFont typeface="+mj-lt"/>
              <a:buAutoNum type="arabicPeriod" startAt="5"/>
            </a:pPr>
            <a:r>
              <a:rPr lang="es-ES_tradnl" sz="1200" dirty="0"/>
              <a:t>Guarde la información que ha ingresado, si aplica.</a:t>
            </a:r>
          </a:p>
          <a:p>
            <a:pPr algn="ctr"/>
            <a:endParaRPr lang="es-ES_tradnl" sz="1100" dirty="0"/>
          </a:p>
          <a:p>
            <a:pPr algn="ctr"/>
            <a:r>
              <a:rPr lang="es-ES_tradnl" sz="1100" dirty="0"/>
              <a:t>Para ingresar o eliminar niveles  ya ingresados, puede utilizar los símbolos </a:t>
            </a:r>
            <a:r>
              <a:rPr lang="es-ES_tradnl" sz="1100" b="1" dirty="0"/>
              <a:t>+</a:t>
            </a:r>
            <a:r>
              <a:rPr lang="es-ES_tradnl" sz="1100" dirty="0"/>
              <a:t> y </a:t>
            </a:r>
            <a:r>
              <a:rPr lang="es-ES_tradnl" sz="1100" b="1" dirty="0"/>
              <a:t>–</a:t>
            </a:r>
            <a:r>
              <a:rPr lang="es-ES_tradnl" sz="1100" dirty="0"/>
              <a:t>  ubicados en la parte superior del apartado de Restricciones de Nivel.</a:t>
            </a:r>
          </a:p>
        </p:txBody>
      </p:sp>
      <p:sp>
        <p:nvSpPr>
          <p:cNvPr id="7" name="Rectángulo redondeado 23">
            <a:extLst>
              <a:ext uri="{FF2B5EF4-FFF2-40B4-BE49-F238E27FC236}">
                <a16:creationId xmlns:a16="http://schemas.microsoft.com/office/drawing/2014/main" id="{F7952492-EB2F-BA28-E41E-47331B60C3B4}"/>
              </a:ext>
            </a:extLst>
          </p:cNvPr>
          <p:cNvSpPr/>
          <p:nvPr/>
        </p:nvSpPr>
        <p:spPr>
          <a:xfrm>
            <a:off x="2629475" y="2361587"/>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9" name="Rectángulo 8">
            <a:extLst>
              <a:ext uri="{FF2B5EF4-FFF2-40B4-BE49-F238E27FC236}">
                <a16:creationId xmlns:a16="http://schemas.microsoft.com/office/drawing/2014/main" id="{5AFA0306-85FE-F50C-BBF9-B88999FFBC82}"/>
              </a:ext>
            </a:extLst>
          </p:cNvPr>
          <p:cNvSpPr/>
          <p:nvPr/>
        </p:nvSpPr>
        <p:spPr>
          <a:xfrm>
            <a:off x="872498" y="2527272"/>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52E09FB2-2443-52BC-12B9-1044744D1F49}"/>
              </a:ext>
            </a:extLst>
          </p:cNvPr>
          <p:cNvSpPr/>
          <p:nvPr/>
        </p:nvSpPr>
        <p:spPr>
          <a:xfrm>
            <a:off x="2060370" y="1447849"/>
            <a:ext cx="527734"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6" name="Rectángulo redondeado 23">
            <a:extLst>
              <a:ext uri="{FF2B5EF4-FFF2-40B4-BE49-F238E27FC236}">
                <a16:creationId xmlns:a16="http://schemas.microsoft.com/office/drawing/2014/main" id="{D8B0705E-D8E8-110F-510F-3EC086990A02}"/>
              </a:ext>
            </a:extLst>
          </p:cNvPr>
          <p:cNvSpPr/>
          <p:nvPr/>
        </p:nvSpPr>
        <p:spPr>
          <a:xfrm>
            <a:off x="4747491" y="2995111"/>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7" name="Rectángulo 16">
            <a:extLst>
              <a:ext uri="{FF2B5EF4-FFF2-40B4-BE49-F238E27FC236}">
                <a16:creationId xmlns:a16="http://schemas.microsoft.com/office/drawing/2014/main" id="{9AFC26EB-EAD2-BC29-A609-CDB30E5834A3}"/>
              </a:ext>
            </a:extLst>
          </p:cNvPr>
          <p:cNvSpPr/>
          <p:nvPr/>
        </p:nvSpPr>
        <p:spPr>
          <a:xfrm>
            <a:off x="812655" y="2818385"/>
            <a:ext cx="3934836"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0" name="Rectángulo redondeado 15">
            <a:extLst>
              <a:ext uri="{FF2B5EF4-FFF2-40B4-BE49-F238E27FC236}">
                <a16:creationId xmlns:a16="http://schemas.microsoft.com/office/drawing/2014/main" id="{1B6A8BD7-4160-3E8B-CE9B-DCEF06550DF6}"/>
              </a:ext>
            </a:extLst>
          </p:cNvPr>
          <p:cNvSpPr/>
          <p:nvPr/>
        </p:nvSpPr>
        <p:spPr>
          <a:xfrm>
            <a:off x="10821982" y="5855988"/>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21" name="Rectángulo 20">
            <a:extLst>
              <a:ext uri="{FF2B5EF4-FFF2-40B4-BE49-F238E27FC236}">
                <a16:creationId xmlns:a16="http://schemas.microsoft.com/office/drawing/2014/main" id="{41D7A7DA-5D58-EDD6-6AA5-955517F5F50C}"/>
              </a:ext>
            </a:extLst>
          </p:cNvPr>
          <p:cNvSpPr/>
          <p:nvPr/>
        </p:nvSpPr>
        <p:spPr>
          <a:xfrm>
            <a:off x="11245685" y="5606607"/>
            <a:ext cx="507027"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8160134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8CA13-9B00-1E09-4D69-8DA48BBD792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A8FD91B7-F765-4587-95A6-45CF6BC2ABFF}"/>
              </a:ext>
            </a:extLst>
          </p:cNvPr>
          <p:cNvPicPr>
            <a:picLocks noChangeAspect="1"/>
          </p:cNvPicPr>
          <p:nvPr/>
        </p:nvPicPr>
        <p:blipFill>
          <a:blip r:embed="rId2"/>
          <a:stretch>
            <a:fillRect/>
          </a:stretch>
        </p:blipFill>
        <p:spPr>
          <a:xfrm>
            <a:off x="810247" y="954158"/>
            <a:ext cx="10908849" cy="4965290"/>
          </a:xfrm>
          <a:prstGeom prst="rect">
            <a:avLst/>
          </a:prstGeom>
        </p:spPr>
      </p:pic>
      <p:sp>
        <p:nvSpPr>
          <p:cNvPr id="3" name="Marcador de texto vertical 2">
            <a:extLst>
              <a:ext uri="{FF2B5EF4-FFF2-40B4-BE49-F238E27FC236}">
                <a16:creationId xmlns:a16="http://schemas.microsoft.com/office/drawing/2014/main" id="{D458027B-1509-B785-E79F-B6B838D0AB1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CE515FA7-8B98-176B-6D99-8B48C9532CDA}"/>
              </a:ext>
            </a:extLst>
          </p:cNvPr>
          <p:cNvSpPr>
            <a:spLocks noGrp="1"/>
          </p:cNvSpPr>
          <p:nvPr>
            <p:ph type="title"/>
          </p:nvPr>
        </p:nvSpPr>
        <p:spPr>
          <a:xfrm>
            <a:off x="810247" y="327992"/>
            <a:ext cx="10271883" cy="626165"/>
          </a:xfrm>
        </p:spPr>
        <p:txBody>
          <a:bodyPr/>
          <a:lstStyle/>
          <a:p>
            <a:r>
              <a:rPr lang="es-ES_tradnl" dirty="0">
                <a:solidFill>
                  <a:schemeClr val="tx2"/>
                </a:solidFill>
              </a:rPr>
              <a:t>Restricciones de horario (SSARRES)</a:t>
            </a:r>
            <a:endParaRPr lang="es-CL" dirty="0"/>
          </a:p>
        </p:txBody>
      </p:sp>
      <p:sp>
        <p:nvSpPr>
          <p:cNvPr id="10" name="Rectángulo redondeado 5">
            <a:extLst>
              <a:ext uri="{FF2B5EF4-FFF2-40B4-BE49-F238E27FC236}">
                <a16:creationId xmlns:a16="http://schemas.microsoft.com/office/drawing/2014/main" id="{3E43EBD5-7769-3278-3A18-63E6EFBB7216}"/>
              </a:ext>
            </a:extLst>
          </p:cNvPr>
          <p:cNvSpPr/>
          <p:nvPr/>
        </p:nvSpPr>
        <p:spPr>
          <a:xfrm>
            <a:off x="2122992" y="3477763"/>
            <a:ext cx="7646391" cy="197888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pestaña Grado y Programa, se ingresa la restricción de Programa del NRC:</a:t>
            </a:r>
          </a:p>
          <a:p>
            <a:pPr marL="342900" indent="-342900">
              <a:buFont typeface="+mj-lt"/>
              <a:buAutoNum type="arabicPeriod" startAt="7"/>
            </a:pPr>
            <a:r>
              <a:rPr lang="es-ES_tradnl" sz="1200" dirty="0"/>
              <a:t>Defina el criterio de Restricción:</a:t>
            </a:r>
          </a:p>
          <a:p>
            <a:pPr marL="800100" lvl="1" indent="-342900">
              <a:buFont typeface="Arial" panose="020B0604020202020204" pitchFamily="34" charset="0"/>
              <a:buChar char="•"/>
            </a:pPr>
            <a:r>
              <a:rPr lang="es-ES_tradnl" sz="1200" dirty="0"/>
              <a:t>Incluir (solo los estudiantes que cursen el o los programas que se definan podrán inscribir el NRC)</a:t>
            </a:r>
          </a:p>
          <a:p>
            <a:pPr marL="800100" lvl="1" indent="-342900">
              <a:buFont typeface="Arial" panose="020B0604020202020204" pitchFamily="34" charset="0"/>
              <a:buChar char="•"/>
            </a:pPr>
            <a:r>
              <a:rPr lang="es-ES_tradnl" sz="1200" dirty="0"/>
              <a:t>Excluir (todos los estudiantes, excepto aquellos que cursen el o los programas definidos, podrán inscribir el NRC)</a:t>
            </a:r>
          </a:p>
          <a:p>
            <a:pPr marL="342900" indent="-342900">
              <a:buFont typeface="+mj-lt"/>
              <a:buAutoNum type="arabicPeriod" startAt="8"/>
            </a:pPr>
            <a:r>
              <a:rPr lang="es-ES_tradnl" sz="1200" dirty="0"/>
              <a:t>Seleccione o ingrese el código de Programa que desea definir para la restricción de inscripción del NRC.</a:t>
            </a:r>
          </a:p>
          <a:p>
            <a:pPr marL="342900" indent="-342900">
              <a:buFont typeface="+mj-lt"/>
              <a:buAutoNum type="arabicPeriod" startAt="8"/>
            </a:pPr>
            <a:r>
              <a:rPr lang="es-ES_tradnl" sz="1200" dirty="0"/>
              <a:t>Guarde la información que ha ingresado, si aplica.</a:t>
            </a:r>
          </a:p>
          <a:p>
            <a:pPr algn="ctr"/>
            <a:endParaRPr lang="es-ES_tradnl" sz="1100" dirty="0"/>
          </a:p>
          <a:p>
            <a:pPr algn="ctr"/>
            <a:r>
              <a:rPr lang="es-ES_tradnl" sz="1100" dirty="0"/>
              <a:t>Para ingresar o eliminar niveles  ya ingresados, puede utilizar los símbolos </a:t>
            </a:r>
            <a:r>
              <a:rPr lang="es-ES_tradnl" sz="1100" b="1" dirty="0"/>
              <a:t>+</a:t>
            </a:r>
            <a:r>
              <a:rPr lang="es-ES_tradnl" sz="1100" dirty="0"/>
              <a:t> y </a:t>
            </a:r>
            <a:r>
              <a:rPr lang="es-ES_tradnl" sz="1100" b="1" dirty="0"/>
              <a:t>–</a:t>
            </a:r>
            <a:r>
              <a:rPr lang="es-ES_tradnl" sz="1100" dirty="0"/>
              <a:t>  ubicados en la parte superior del apartado de Restricciones de Programa.</a:t>
            </a:r>
          </a:p>
        </p:txBody>
      </p:sp>
      <p:sp>
        <p:nvSpPr>
          <p:cNvPr id="7" name="Rectángulo redondeado 23">
            <a:extLst>
              <a:ext uri="{FF2B5EF4-FFF2-40B4-BE49-F238E27FC236}">
                <a16:creationId xmlns:a16="http://schemas.microsoft.com/office/drawing/2014/main" id="{DED93A7C-F163-DC9B-F72B-A447AC4FAAE2}"/>
              </a:ext>
            </a:extLst>
          </p:cNvPr>
          <p:cNvSpPr/>
          <p:nvPr/>
        </p:nvSpPr>
        <p:spPr>
          <a:xfrm>
            <a:off x="2629475" y="2361587"/>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9" name="Rectángulo 8">
            <a:extLst>
              <a:ext uri="{FF2B5EF4-FFF2-40B4-BE49-F238E27FC236}">
                <a16:creationId xmlns:a16="http://schemas.microsoft.com/office/drawing/2014/main" id="{A0F7AC41-5E9D-463C-B205-E8D603EC31B8}"/>
              </a:ext>
            </a:extLst>
          </p:cNvPr>
          <p:cNvSpPr/>
          <p:nvPr/>
        </p:nvSpPr>
        <p:spPr>
          <a:xfrm>
            <a:off x="872498" y="2527272"/>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548EE8CB-9F06-23DA-4DF7-02BBDA8243FC}"/>
              </a:ext>
            </a:extLst>
          </p:cNvPr>
          <p:cNvSpPr/>
          <p:nvPr/>
        </p:nvSpPr>
        <p:spPr>
          <a:xfrm>
            <a:off x="2588104" y="1429473"/>
            <a:ext cx="820114"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6" name="Rectángulo redondeado 23">
            <a:extLst>
              <a:ext uri="{FF2B5EF4-FFF2-40B4-BE49-F238E27FC236}">
                <a16:creationId xmlns:a16="http://schemas.microsoft.com/office/drawing/2014/main" id="{F1135487-3CAE-5A96-98EC-404A0147E48F}"/>
              </a:ext>
            </a:extLst>
          </p:cNvPr>
          <p:cNvSpPr/>
          <p:nvPr/>
        </p:nvSpPr>
        <p:spPr>
          <a:xfrm>
            <a:off x="4747491" y="2995111"/>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7" name="Rectángulo 16">
            <a:extLst>
              <a:ext uri="{FF2B5EF4-FFF2-40B4-BE49-F238E27FC236}">
                <a16:creationId xmlns:a16="http://schemas.microsoft.com/office/drawing/2014/main" id="{8E1D4B97-DA92-3ED4-DF2E-9E327C48CC67}"/>
              </a:ext>
            </a:extLst>
          </p:cNvPr>
          <p:cNvSpPr/>
          <p:nvPr/>
        </p:nvSpPr>
        <p:spPr>
          <a:xfrm>
            <a:off x="812655" y="2818385"/>
            <a:ext cx="3934836"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0" name="Rectángulo redondeado 15">
            <a:extLst>
              <a:ext uri="{FF2B5EF4-FFF2-40B4-BE49-F238E27FC236}">
                <a16:creationId xmlns:a16="http://schemas.microsoft.com/office/drawing/2014/main" id="{E746686A-3B5D-D1D4-15E7-D61132F35A48}"/>
              </a:ext>
            </a:extLst>
          </p:cNvPr>
          <p:cNvSpPr/>
          <p:nvPr/>
        </p:nvSpPr>
        <p:spPr>
          <a:xfrm>
            <a:off x="10821982" y="5855988"/>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21" name="Rectángulo 20">
            <a:extLst>
              <a:ext uri="{FF2B5EF4-FFF2-40B4-BE49-F238E27FC236}">
                <a16:creationId xmlns:a16="http://schemas.microsoft.com/office/drawing/2014/main" id="{6B6E6656-FB97-A903-3ADF-F478382A3DA7}"/>
              </a:ext>
            </a:extLst>
          </p:cNvPr>
          <p:cNvSpPr/>
          <p:nvPr/>
        </p:nvSpPr>
        <p:spPr>
          <a:xfrm>
            <a:off x="11245685" y="5606607"/>
            <a:ext cx="507027"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33385982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5D75C-12D7-456F-55CF-CCA3898C140C}"/>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5535FAC5-D0E2-DC12-A010-28F230FEF689}"/>
              </a:ext>
            </a:extLst>
          </p:cNvPr>
          <p:cNvPicPr>
            <a:picLocks noChangeAspect="1"/>
          </p:cNvPicPr>
          <p:nvPr/>
        </p:nvPicPr>
        <p:blipFill>
          <a:blip r:embed="rId2"/>
          <a:stretch>
            <a:fillRect/>
          </a:stretch>
        </p:blipFill>
        <p:spPr>
          <a:xfrm>
            <a:off x="810247" y="938553"/>
            <a:ext cx="10927055" cy="4965290"/>
          </a:xfrm>
          <a:prstGeom prst="rect">
            <a:avLst/>
          </a:prstGeom>
        </p:spPr>
      </p:pic>
      <p:sp>
        <p:nvSpPr>
          <p:cNvPr id="3" name="Marcador de texto vertical 2">
            <a:extLst>
              <a:ext uri="{FF2B5EF4-FFF2-40B4-BE49-F238E27FC236}">
                <a16:creationId xmlns:a16="http://schemas.microsoft.com/office/drawing/2014/main" id="{B9F775E6-795D-A641-7112-5631CCCDF0AE}"/>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BC3D7318-433F-2709-C6A1-0C3DF8282BE9}"/>
              </a:ext>
            </a:extLst>
          </p:cNvPr>
          <p:cNvSpPr>
            <a:spLocks noGrp="1"/>
          </p:cNvSpPr>
          <p:nvPr>
            <p:ph type="title"/>
          </p:nvPr>
        </p:nvSpPr>
        <p:spPr>
          <a:xfrm>
            <a:off x="810247" y="327992"/>
            <a:ext cx="10271883" cy="626165"/>
          </a:xfrm>
        </p:spPr>
        <p:txBody>
          <a:bodyPr/>
          <a:lstStyle/>
          <a:p>
            <a:r>
              <a:rPr lang="es-ES_tradnl" dirty="0">
                <a:solidFill>
                  <a:schemeClr val="tx2"/>
                </a:solidFill>
              </a:rPr>
              <a:t>Restricciones de horario (SSARRES)</a:t>
            </a:r>
            <a:endParaRPr lang="es-CL" dirty="0"/>
          </a:p>
        </p:txBody>
      </p:sp>
      <p:sp>
        <p:nvSpPr>
          <p:cNvPr id="10" name="Rectángulo redondeado 5">
            <a:extLst>
              <a:ext uri="{FF2B5EF4-FFF2-40B4-BE49-F238E27FC236}">
                <a16:creationId xmlns:a16="http://schemas.microsoft.com/office/drawing/2014/main" id="{ABCA032C-0CD1-8D6A-3DD7-E93A3DA53D5B}"/>
              </a:ext>
            </a:extLst>
          </p:cNvPr>
          <p:cNvSpPr/>
          <p:nvPr/>
        </p:nvSpPr>
        <p:spPr>
          <a:xfrm>
            <a:off x="2122992" y="3477763"/>
            <a:ext cx="7646391" cy="197888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pestaña Campus, se ingresa la restricción de Sede del NRC:</a:t>
            </a:r>
          </a:p>
          <a:p>
            <a:pPr marL="342900" indent="-342900">
              <a:buFont typeface="+mj-lt"/>
              <a:buAutoNum type="arabicPeriod" startAt="10"/>
            </a:pPr>
            <a:r>
              <a:rPr lang="es-ES_tradnl" sz="1200" dirty="0"/>
              <a:t>Defina el criterio de Restricción:</a:t>
            </a:r>
          </a:p>
          <a:p>
            <a:pPr marL="800100" lvl="1" indent="-342900">
              <a:buFont typeface="Arial" panose="020B0604020202020204" pitchFamily="34" charset="0"/>
              <a:buChar char="•"/>
            </a:pPr>
            <a:r>
              <a:rPr lang="es-ES_tradnl" sz="1200" dirty="0"/>
              <a:t>Incluir (solo los estudiantes que tengan el o los campus que se definan podrán inscribir el NRC)</a:t>
            </a:r>
          </a:p>
          <a:p>
            <a:pPr marL="800100" lvl="1" indent="-342900">
              <a:buFont typeface="Arial" panose="020B0604020202020204" pitchFamily="34" charset="0"/>
              <a:buChar char="•"/>
            </a:pPr>
            <a:r>
              <a:rPr lang="es-ES_tradnl" sz="1200" dirty="0"/>
              <a:t>Excluir (todos los estudiantes, excepto aquellos que tengan el o los campus definidos, podrán inscribir el NRC)</a:t>
            </a:r>
          </a:p>
          <a:p>
            <a:pPr marL="342900" indent="-342900">
              <a:buFont typeface="+mj-lt"/>
              <a:buAutoNum type="arabicPeriod" startAt="11"/>
            </a:pPr>
            <a:r>
              <a:rPr lang="es-ES_tradnl" sz="1200" dirty="0"/>
              <a:t>Seleccione o ingrese el código de Campus que desea definir para la restricción de inscripción del NRC.</a:t>
            </a:r>
          </a:p>
          <a:p>
            <a:pPr marL="342900" indent="-342900">
              <a:buFont typeface="+mj-lt"/>
              <a:buAutoNum type="arabicPeriod" startAt="11"/>
            </a:pPr>
            <a:r>
              <a:rPr lang="es-ES_tradnl" sz="1200" dirty="0"/>
              <a:t>Guarde la información que ha ingresado, si aplica.</a:t>
            </a:r>
          </a:p>
          <a:p>
            <a:pPr algn="ctr"/>
            <a:endParaRPr lang="es-ES_tradnl" sz="1100" dirty="0"/>
          </a:p>
          <a:p>
            <a:pPr algn="ctr"/>
            <a:r>
              <a:rPr lang="es-ES_tradnl" sz="1100" dirty="0"/>
              <a:t>Para ingresar o eliminar niveles  ya ingresados, puede utilizar los símbolos </a:t>
            </a:r>
            <a:r>
              <a:rPr lang="es-ES_tradnl" sz="1100" b="1" dirty="0"/>
              <a:t>+</a:t>
            </a:r>
            <a:r>
              <a:rPr lang="es-ES_tradnl" sz="1100" dirty="0"/>
              <a:t> y </a:t>
            </a:r>
            <a:r>
              <a:rPr lang="es-ES_tradnl" sz="1100" b="1" dirty="0"/>
              <a:t>–</a:t>
            </a:r>
            <a:r>
              <a:rPr lang="es-ES_tradnl" sz="1100" dirty="0"/>
              <a:t>  ubicados en la parte superior del apartado de Restricciones de Campus.</a:t>
            </a:r>
          </a:p>
        </p:txBody>
      </p:sp>
      <p:sp>
        <p:nvSpPr>
          <p:cNvPr id="9" name="Rectángulo 8">
            <a:extLst>
              <a:ext uri="{FF2B5EF4-FFF2-40B4-BE49-F238E27FC236}">
                <a16:creationId xmlns:a16="http://schemas.microsoft.com/office/drawing/2014/main" id="{1DCFB2FE-BDA3-6241-7013-3B299AB254CA}"/>
              </a:ext>
            </a:extLst>
          </p:cNvPr>
          <p:cNvSpPr/>
          <p:nvPr/>
        </p:nvSpPr>
        <p:spPr>
          <a:xfrm>
            <a:off x="854680" y="1730403"/>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4E6285B0-3419-5606-2958-4AD161C990B6}"/>
              </a:ext>
            </a:extLst>
          </p:cNvPr>
          <p:cNvSpPr/>
          <p:nvPr/>
        </p:nvSpPr>
        <p:spPr>
          <a:xfrm>
            <a:off x="3345486" y="1401355"/>
            <a:ext cx="820114"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Rectángulo 16">
            <a:extLst>
              <a:ext uri="{FF2B5EF4-FFF2-40B4-BE49-F238E27FC236}">
                <a16:creationId xmlns:a16="http://schemas.microsoft.com/office/drawing/2014/main" id="{F27D1BA7-963F-7BB6-4DC3-1B8F253E6429}"/>
              </a:ext>
            </a:extLst>
          </p:cNvPr>
          <p:cNvSpPr/>
          <p:nvPr/>
        </p:nvSpPr>
        <p:spPr>
          <a:xfrm>
            <a:off x="794836" y="2021516"/>
            <a:ext cx="4746981" cy="17672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0" name="Rectángulo redondeado 15">
            <a:extLst>
              <a:ext uri="{FF2B5EF4-FFF2-40B4-BE49-F238E27FC236}">
                <a16:creationId xmlns:a16="http://schemas.microsoft.com/office/drawing/2014/main" id="{403A6307-5AB6-0341-7BAA-CCC9A03BD5D6}"/>
              </a:ext>
            </a:extLst>
          </p:cNvPr>
          <p:cNvSpPr/>
          <p:nvPr/>
        </p:nvSpPr>
        <p:spPr>
          <a:xfrm>
            <a:off x="10821982" y="5855988"/>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12</a:t>
            </a:r>
          </a:p>
        </p:txBody>
      </p:sp>
      <p:sp>
        <p:nvSpPr>
          <p:cNvPr id="21" name="Rectángulo 20">
            <a:extLst>
              <a:ext uri="{FF2B5EF4-FFF2-40B4-BE49-F238E27FC236}">
                <a16:creationId xmlns:a16="http://schemas.microsoft.com/office/drawing/2014/main" id="{F0B9C260-4EA8-6FC4-9982-C73DF4D57354}"/>
              </a:ext>
            </a:extLst>
          </p:cNvPr>
          <p:cNvSpPr/>
          <p:nvPr/>
        </p:nvSpPr>
        <p:spPr>
          <a:xfrm>
            <a:off x="11245685" y="5606607"/>
            <a:ext cx="507027"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1" name="Rectángulo redondeado 15">
            <a:extLst>
              <a:ext uri="{FF2B5EF4-FFF2-40B4-BE49-F238E27FC236}">
                <a16:creationId xmlns:a16="http://schemas.microsoft.com/office/drawing/2014/main" id="{0BF72509-A43D-CE5F-3282-767214035033}"/>
              </a:ext>
            </a:extLst>
          </p:cNvPr>
          <p:cNvSpPr/>
          <p:nvPr/>
        </p:nvSpPr>
        <p:spPr>
          <a:xfrm>
            <a:off x="2614719" y="1702017"/>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10</a:t>
            </a:r>
          </a:p>
        </p:txBody>
      </p:sp>
      <p:sp>
        <p:nvSpPr>
          <p:cNvPr id="12" name="Rectángulo redondeado 15">
            <a:extLst>
              <a:ext uri="{FF2B5EF4-FFF2-40B4-BE49-F238E27FC236}">
                <a16:creationId xmlns:a16="http://schemas.microsoft.com/office/drawing/2014/main" id="{29FB27AA-B535-7DF9-8757-B45C243F8DB6}"/>
              </a:ext>
            </a:extLst>
          </p:cNvPr>
          <p:cNvSpPr/>
          <p:nvPr/>
        </p:nvSpPr>
        <p:spPr>
          <a:xfrm>
            <a:off x="5556498" y="222033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Tree>
    <p:extLst>
      <p:ext uri="{BB962C8B-B14F-4D97-AF65-F5344CB8AC3E}">
        <p14:creationId xmlns:p14="http://schemas.microsoft.com/office/powerpoint/2010/main" val="41439735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CD889-2ECC-FB13-1B4D-B6719FEC2DB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385E295-C924-3A0E-1326-3B03B0832705}"/>
              </a:ext>
            </a:extLst>
          </p:cNvPr>
          <p:cNvPicPr>
            <a:picLocks noChangeAspect="1"/>
          </p:cNvPicPr>
          <p:nvPr/>
        </p:nvPicPr>
        <p:blipFill>
          <a:blip r:embed="rId2"/>
          <a:stretch>
            <a:fillRect/>
          </a:stretch>
        </p:blipFill>
        <p:spPr>
          <a:xfrm>
            <a:off x="810247" y="937305"/>
            <a:ext cx="10942350" cy="4966538"/>
          </a:xfrm>
          <a:prstGeom prst="rect">
            <a:avLst/>
          </a:prstGeom>
        </p:spPr>
      </p:pic>
      <p:sp>
        <p:nvSpPr>
          <p:cNvPr id="3" name="Marcador de texto vertical 2">
            <a:extLst>
              <a:ext uri="{FF2B5EF4-FFF2-40B4-BE49-F238E27FC236}">
                <a16:creationId xmlns:a16="http://schemas.microsoft.com/office/drawing/2014/main" id="{68F64014-57D5-1944-E23B-FC54E12B699B}"/>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39AD7AB4-02E0-DAB6-0212-D082BCFABA79}"/>
              </a:ext>
            </a:extLst>
          </p:cNvPr>
          <p:cNvSpPr>
            <a:spLocks noGrp="1"/>
          </p:cNvSpPr>
          <p:nvPr>
            <p:ph type="title"/>
          </p:nvPr>
        </p:nvSpPr>
        <p:spPr>
          <a:xfrm>
            <a:off x="810247" y="327992"/>
            <a:ext cx="10271883" cy="626165"/>
          </a:xfrm>
        </p:spPr>
        <p:txBody>
          <a:bodyPr/>
          <a:lstStyle/>
          <a:p>
            <a:r>
              <a:rPr lang="es-ES_tradnl" dirty="0">
                <a:solidFill>
                  <a:schemeClr val="tx2"/>
                </a:solidFill>
              </a:rPr>
              <a:t>Restricciones de horario (SSARRES)</a:t>
            </a:r>
            <a:endParaRPr lang="es-CL" dirty="0"/>
          </a:p>
        </p:txBody>
      </p:sp>
      <p:sp>
        <p:nvSpPr>
          <p:cNvPr id="10" name="Rectángulo redondeado 5">
            <a:extLst>
              <a:ext uri="{FF2B5EF4-FFF2-40B4-BE49-F238E27FC236}">
                <a16:creationId xmlns:a16="http://schemas.microsoft.com/office/drawing/2014/main" id="{5C65BA76-735B-62CC-7831-D40A317EBC1A}"/>
              </a:ext>
            </a:extLst>
          </p:cNvPr>
          <p:cNvSpPr/>
          <p:nvPr/>
        </p:nvSpPr>
        <p:spPr>
          <a:xfrm>
            <a:off x="2122992" y="3429000"/>
            <a:ext cx="7667553" cy="217760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pestaña Atributo y Cohorte, se ingresa las restricciones de Atributo y Cohorte del NRC:</a:t>
            </a:r>
          </a:p>
          <a:p>
            <a:r>
              <a:rPr lang="es-ES_tradnl" sz="1200" dirty="0"/>
              <a:t>Atributo de alumno:</a:t>
            </a:r>
          </a:p>
          <a:p>
            <a:pPr marL="342900" indent="-342900">
              <a:buFont typeface="+mj-lt"/>
              <a:buAutoNum type="arabicPeriod" startAt="13"/>
            </a:pPr>
            <a:r>
              <a:rPr lang="es-ES_tradnl" sz="1200" dirty="0"/>
              <a:t>Defina el criterio de Restricción:</a:t>
            </a:r>
          </a:p>
          <a:p>
            <a:pPr marL="800100" lvl="1" indent="-342900">
              <a:buFont typeface="Arial" panose="020B0604020202020204" pitchFamily="34" charset="0"/>
              <a:buChar char="•"/>
            </a:pPr>
            <a:r>
              <a:rPr lang="es-ES_tradnl" sz="1200" dirty="0"/>
              <a:t>Incluir (solo los estudiantes que tengan el o los atributos que se definan podrán inscribir el NRC)</a:t>
            </a:r>
          </a:p>
          <a:p>
            <a:pPr marL="800100" lvl="1" indent="-342900">
              <a:buFont typeface="Arial" panose="020B0604020202020204" pitchFamily="34" charset="0"/>
              <a:buChar char="•"/>
            </a:pPr>
            <a:r>
              <a:rPr lang="es-ES_tradnl" sz="1200" dirty="0"/>
              <a:t>Excluir (todos los estudiantes, excepto aquellos que tengan el o los atributos definidos, podrán inscribir el NRC)</a:t>
            </a:r>
          </a:p>
          <a:p>
            <a:pPr marL="342900" indent="-342900">
              <a:buFont typeface="+mj-lt"/>
              <a:buAutoNum type="arabicPeriod" startAt="14"/>
            </a:pPr>
            <a:r>
              <a:rPr lang="es-ES_tradnl" sz="1200" dirty="0"/>
              <a:t>Seleccione o ingrese el código de Atributo que desea definir para la restricción de inscripción del NRC.</a:t>
            </a:r>
          </a:p>
          <a:p>
            <a:pPr marL="342900" indent="-342900">
              <a:buFont typeface="+mj-lt"/>
              <a:buAutoNum type="arabicPeriod" startAt="14"/>
            </a:pPr>
            <a:r>
              <a:rPr lang="es-ES_tradnl" sz="1200" dirty="0"/>
              <a:t>Guarde la información que ha ingresado, si aplica.</a:t>
            </a:r>
          </a:p>
          <a:p>
            <a:pPr algn="ctr"/>
            <a:endParaRPr lang="es-ES_tradnl" sz="1100" dirty="0"/>
          </a:p>
          <a:p>
            <a:pPr algn="ctr"/>
            <a:r>
              <a:rPr lang="es-ES_tradnl" sz="1100" dirty="0"/>
              <a:t>Para ingresar o eliminar niveles  ya ingresados, puede utilizar los símbolos </a:t>
            </a:r>
            <a:r>
              <a:rPr lang="es-ES_tradnl" sz="1100" b="1" dirty="0"/>
              <a:t>+</a:t>
            </a:r>
            <a:r>
              <a:rPr lang="es-ES_tradnl" sz="1100" dirty="0"/>
              <a:t> y </a:t>
            </a:r>
            <a:r>
              <a:rPr lang="es-ES_tradnl" sz="1100" b="1" dirty="0"/>
              <a:t>–</a:t>
            </a:r>
            <a:r>
              <a:rPr lang="es-ES_tradnl" sz="1100" dirty="0"/>
              <a:t>  ubicados en la parte superior del apartado de Restricciones de Atributo de alumno.</a:t>
            </a:r>
          </a:p>
        </p:txBody>
      </p:sp>
      <p:sp>
        <p:nvSpPr>
          <p:cNvPr id="9" name="Rectángulo 8">
            <a:extLst>
              <a:ext uri="{FF2B5EF4-FFF2-40B4-BE49-F238E27FC236}">
                <a16:creationId xmlns:a16="http://schemas.microsoft.com/office/drawing/2014/main" id="{511180A6-3935-520D-D50F-6D3673426691}"/>
              </a:ext>
            </a:extLst>
          </p:cNvPr>
          <p:cNvSpPr/>
          <p:nvPr/>
        </p:nvSpPr>
        <p:spPr>
          <a:xfrm>
            <a:off x="854680" y="1730403"/>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E698A7C4-1ADA-770D-9CEB-EDFA7D0CF08C}"/>
              </a:ext>
            </a:extLst>
          </p:cNvPr>
          <p:cNvSpPr/>
          <p:nvPr/>
        </p:nvSpPr>
        <p:spPr>
          <a:xfrm>
            <a:off x="4121339" y="1390314"/>
            <a:ext cx="1134151" cy="1731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Rectángulo 16">
            <a:extLst>
              <a:ext uri="{FF2B5EF4-FFF2-40B4-BE49-F238E27FC236}">
                <a16:creationId xmlns:a16="http://schemas.microsoft.com/office/drawing/2014/main" id="{D168F924-85BC-12E7-DCAE-F9A4A6900524}"/>
              </a:ext>
            </a:extLst>
          </p:cNvPr>
          <p:cNvSpPr/>
          <p:nvPr/>
        </p:nvSpPr>
        <p:spPr>
          <a:xfrm>
            <a:off x="794836" y="2021515"/>
            <a:ext cx="4876291" cy="19881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0" name="Rectángulo redondeado 15">
            <a:extLst>
              <a:ext uri="{FF2B5EF4-FFF2-40B4-BE49-F238E27FC236}">
                <a16:creationId xmlns:a16="http://schemas.microsoft.com/office/drawing/2014/main" id="{F0DC61B9-4760-C13C-B172-34D7063A6B68}"/>
              </a:ext>
            </a:extLst>
          </p:cNvPr>
          <p:cNvSpPr/>
          <p:nvPr/>
        </p:nvSpPr>
        <p:spPr>
          <a:xfrm>
            <a:off x="10821982" y="5855988"/>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15</a:t>
            </a:r>
          </a:p>
        </p:txBody>
      </p:sp>
      <p:sp>
        <p:nvSpPr>
          <p:cNvPr id="21" name="Rectángulo 20">
            <a:extLst>
              <a:ext uri="{FF2B5EF4-FFF2-40B4-BE49-F238E27FC236}">
                <a16:creationId xmlns:a16="http://schemas.microsoft.com/office/drawing/2014/main" id="{A4D9659E-9BDC-4EAB-C726-080D08144395}"/>
              </a:ext>
            </a:extLst>
          </p:cNvPr>
          <p:cNvSpPr/>
          <p:nvPr/>
        </p:nvSpPr>
        <p:spPr>
          <a:xfrm>
            <a:off x="11245685" y="5606607"/>
            <a:ext cx="507027"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1" name="Rectángulo redondeado 15">
            <a:extLst>
              <a:ext uri="{FF2B5EF4-FFF2-40B4-BE49-F238E27FC236}">
                <a16:creationId xmlns:a16="http://schemas.microsoft.com/office/drawing/2014/main" id="{1F17BE81-675B-32E0-7238-6186690DF376}"/>
              </a:ext>
            </a:extLst>
          </p:cNvPr>
          <p:cNvSpPr/>
          <p:nvPr/>
        </p:nvSpPr>
        <p:spPr>
          <a:xfrm>
            <a:off x="2614719" y="1702017"/>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13</a:t>
            </a:r>
          </a:p>
        </p:txBody>
      </p:sp>
      <p:sp>
        <p:nvSpPr>
          <p:cNvPr id="12" name="Rectángulo redondeado 15">
            <a:extLst>
              <a:ext uri="{FF2B5EF4-FFF2-40B4-BE49-F238E27FC236}">
                <a16:creationId xmlns:a16="http://schemas.microsoft.com/office/drawing/2014/main" id="{8461B62B-8B9A-1B5E-59CB-AC7E0B5E2CF0}"/>
              </a:ext>
            </a:extLst>
          </p:cNvPr>
          <p:cNvSpPr/>
          <p:nvPr/>
        </p:nvSpPr>
        <p:spPr>
          <a:xfrm>
            <a:off x="5556498" y="222033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14</a:t>
            </a:r>
          </a:p>
        </p:txBody>
      </p:sp>
    </p:spTree>
    <p:extLst>
      <p:ext uri="{BB962C8B-B14F-4D97-AF65-F5344CB8AC3E}">
        <p14:creationId xmlns:p14="http://schemas.microsoft.com/office/powerpoint/2010/main" val="4739797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AC34D-CFC2-9058-381C-15D6AA60BD9C}"/>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F43518D0-71C1-41B2-322A-2DFB40A262BA}"/>
              </a:ext>
            </a:extLst>
          </p:cNvPr>
          <p:cNvPicPr>
            <a:picLocks noChangeAspect="1"/>
          </p:cNvPicPr>
          <p:nvPr/>
        </p:nvPicPr>
        <p:blipFill>
          <a:blip r:embed="rId2"/>
          <a:stretch>
            <a:fillRect/>
          </a:stretch>
        </p:blipFill>
        <p:spPr>
          <a:xfrm>
            <a:off x="810247" y="937305"/>
            <a:ext cx="10942350" cy="4966538"/>
          </a:xfrm>
          <a:prstGeom prst="rect">
            <a:avLst/>
          </a:prstGeom>
        </p:spPr>
      </p:pic>
      <p:sp>
        <p:nvSpPr>
          <p:cNvPr id="3" name="Marcador de texto vertical 2">
            <a:extLst>
              <a:ext uri="{FF2B5EF4-FFF2-40B4-BE49-F238E27FC236}">
                <a16:creationId xmlns:a16="http://schemas.microsoft.com/office/drawing/2014/main" id="{CB95F55E-1AED-2E50-907D-7406068E6A73}"/>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F0326490-63C7-B72B-7CEC-B281D64B53A2}"/>
              </a:ext>
            </a:extLst>
          </p:cNvPr>
          <p:cNvSpPr>
            <a:spLocks noGrp="1"/>
          </p:cNvSpPr>
          <p:nvPr>
            <p:ph type="title"/>
          </p:nvPr>
        </p:nvSpPr>
        <p:spPr>
          <a:xfrm>
            <a:off x="810247" y="327992"/>
            <a:ext cx="10271883" cy="626165"/>
          </a:xfrm>
        </p:spPr>
        <p:txBody>
          <a:bodyPr/>
          <a:lstStyle/>
          <a:p>
            <a:r>
              <a:rPr lang="es-ES_tradnl" dirty="0">
                <a:solidFill>
                  <a:schemeClr val="tx2"/>
                </a:solidFill>
              </a:rPr>
              <a:t>Restricciones de horario (SSARRES)</a:t>
            </a:r>
            <a:endParaRPr lang="es-CL" dirty="0"/>
          </a:p>
        </p:txBody>
      </p:sp>
      <p:sp>
        <p:nvSpPr>
          <p:cNvPr id="10" name="Rectángulo redondeado 5">
            <a:extLst>
              <a:ext uri="{FF2B5EF4-FFF2-40B4-BE49-F238E27FC236}">
                <a16:creationId xmlns:a16="http://schemas.microsoft.com/office/drawing/2014/main" id="{910014DE-3521-84A2-3649-E7EA1F4BB394}"/>
              </a:ext>
            </a:extLst>
          </p:cNvPr>
          <p:cNvSpPr/>
          <p:nvPr/>
        </p:nvSpPr>
        <p:spPr>
          <a:xfrm>
            <a:off x="2122992" y="3429000"/>
            <a:ext cx="7667553" cy="217760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En la pestaña Atributo y Cohorte, se ingresa las restricciones de Atributo y Cohorte del NRC:</a:t>
            </a:r>
          </a:p>
          <a:p>
            <a:r>
              <a:rPr lang="es-ES_tradnl" sz="1200" dirty="0"/>
              <a:t>Cohorte:</a:t>
            </a:r>
          </a:p>
          <a:p>
            <a:pPr marL="342900" indent="-342900">
              <a:buFont typeface="+mj-lt"/>
              <a:buAutoNum type="arabicPeriod" startAt="13"/>
            </a:pPr>
            <a:r>
              <a:rPr lang="es-ES_tradnl" sz="1200" dirty="0"/>
              <a:t>Defina el criterio de Restricción:</a:t>
            </a:r>
          </a:p>
          <a:p>
            <a:pPr marL="800100" lvl="1" indent="-342900">
              <a:buFont typeface="Arial" panose="020B0604020202020204" pitchFamily="34" charset="0"/>
              <a:buChar char="•"/>
            </a:pPr>
            <a:r>
              <a:rPr lang="es-ES_tradnl" sz="1200" dirty="0"/>
              <a:t>Incluir (solo los estudiantes que tengan asociada la o las cohortes que se definan podrán inscribir el NRC)</a:t>
            </a:r>
          </a:p>
          <a:p>
            <a:pPr marL="800100" lvl="1" indent="-342900">
              <a:buFont typeface="Arial" panose="020B0604020202020204" pitchFamily="34" charset="0"/>
              <a:buChar char="•"/>
            </a:pPr>
            <a:r>
              <a:rPr lang="es-ES_tradnl" sz="1200" dirty="0"/>
              <a:t>Excluir (todos los estudiantes, excepto aquellos que tengan asociada la o las cohortes definidas, podrán inscribir el NRC)</a:t>
            </a:r>
          </a:p>
          <a:p>
            <a:pPr marL="342900" indent="-342900">
              <a:buFont typeface="+mj-lt"/>
              <a:buAutoNum type="arabicPeriod" startAt="14"/>
            </a:pPr>
            <a:r>
              <a:rPr lang="es-ES_tradnl" sz="1200" dirty="0"/>
              <a:t>Seleccione o ingrese el código de Cohorte que desea definir para la restricción de inscripción del NRC.</a:t>
            </a:r>
          </a:p>
          <a:p>
            <a:pPr marL="342900" indent="-342900">
              <a:buFont typeface="+mj-lt"/>
              <a:buAutoNum type="arabicPeriod" startAt="14"/>
            </a:pPr>
            <a:r>
              <a:rPr lang="es-ES_tradnl" sz="1200" dirty="0"/>
              <a:t>Guarde la información que ha ingresado, si aplica.</a:t>
            </a:r>
          </a:p>
          <a:p>
            <a:pPr algn="ctr"/>
            <a:endParaRPr lang="es-ES_tradnl" sz="1100" dirty="0"/>
          </a:p>
          <a:p>
            <a:pPr algn="ctr"/>
            <a:r>
              <a:rPr lang="es-ES_tradnl" sz="1100" dirty="0"/>
              <a:t>Para ingresar o eliminar niveles  ya ingresados, puede utilizar los símbolos </a:t>
            </a:r>
            <a:r>
              <a:rPr lang="es-ES_tradnl" sz="1100" b="1" dirty="0"/>
              <a:t>+</a:t>
            </a:r>
            <a:r>
              <a:rPr lang="es-ES_tradnl" sz="1100" dirty="0"/>
              <a:t> y </a:t>
            </a:r>
            <a:r>
              <a:rPr lang="es-ES_tradnl" sz="1100" b="1" dirty="0"/>
              <a:t>–</a:t>
            </a:r>
            <a:r>
              <a:rPr lang="es-ES_tradnl" sz="1100" dirty="0"/>
              <a:t>  ubicados en la parte superior del apartado de Restricciones de Cohorte.</a:t>
            </a:r>
          </a:p>
        </p:txBody>
      </p:sp>
      <p:sp>
        <p:nvSpPr>
          <p:cNvPr id="9" name="Rectángulo 8">
            <a:extLst>
              <a:ext uri="{FF2B5EF4-FFF2-40B4-BE49-F238E27FC236}">
                <a16:creationId xmlns:a16="http://schemas.microsoft.com/office/drawing/2014/main" id="{00CC18B4-1FDC-C2DF-DA47-B4B8B23F482D}"/>
              </a:ext>
            </a:extLst>
          </p:cNvPr>
          <p:cNvSpPr/>
          <p:nvPr/>
        </p:nvSpPr>
        <p:spPr>
          <a:xfrm>
            <a:off x="869976" y="2503655"/>
            <a:ext cx="1715606" cy="1808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E8C6E597-C003-177C-FBFA-EDD2E6413AE7}"/>
              </a:ext>
            </a:extLst>
          </p:cNvPr>
          <p:cNvSpPr/>
          <p:nvPr/>
        </p:nvSpPr>
        <p:spPr>
          <a:xfrm>
            <a:off x="4121339" y="1390314"/>
            <a:ext cx="1134151" cy="1731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Rectángulo 16">
            <a:extLst>
              <a:ext uri="{FF2B5EF4-FFF2-40B4-BE49-F238E27FC236}">
                <a16:creationId xmlns:a16="http://schemas.microsoft.com/office/drawing/2014/main" id="{A1173134-72F8-315F-66E5-16874C8C1634}"/>
              </a:ext>
            </a:extLst>
          </p:cNvPr>
          <p:cNvSpPr/>
          <p:nvPr/>
        </p:nvSpPr>
        <p:spPr>
          <a:xfrm>
            <a:off x="810132" y="2794768"/>
            <a:ext cx="4288341" cy="1731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0" name="Rectángulo redondeado 15">
            <a:extLst>
              <a:ext uri="{FF2B5EF4-FFF2-40B4-BE49-F238E27FC236}">
                <a16:creationId xmlns:a16="http://schemas.microsoft.com/office/drawing/2014/main" id="{AD40DA72-99B2-0767-1716-D34D0BCC43D6}"/>
              </a:ext>
            </a:extLst>
          </p:cNvPr>
          <p:cNvSpPr/>
          <p:nvPr/>
        </p:nvSpPr>
        <p:spPr>
          <a:xfrm>
            <a:off x="10821982" y="5855988"/>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18</a:t>
            </a:r>
          </a:p>
        </p:txBody>
      </p:sp>
      <p:sp>
        <p:nvSpPr>
          <p:cNvPr id="21" name="Rectángulo 20">
            <a:extLst>
              <a:ext uri="{FF2B5EF4-FFF2-40B4-BE49-F238E27FC236}">
                <a16:creationId xmlns:a16="http://schemas.microsoft.com/office/drawing/2014/main" id="{E1C85648-DAA7-90C6-E4EC-1E5D9D6BFE2C}"/>
              </a:ext>
            </a:extLst>
          </p:cNvPr>
          <p:cNvSpPr/>
          <p:nvPr/>
        </p:nvSpPr>
        <p:spPr>
          <a:xfrm>
            <a:off x="11245685" y="5606607"/>
            <a:ext cx="507027"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1" name="Rectángulo redondeado 15">
            <a:extLst>
              <a:ext uri="{FF2B5EF4-FFF2-40B4-BE49-F238E27FC236}">
                <a16:creationId xmlns:a16="http://schemas.microsoft.com/office/drawing/2014/main" id="{FBF58160-82E2-14AA-6D2D-970C56E927FE}"/>
              </a:ext>
            </a:extLst>
          </p:cNvPr>
          <p:cNvSpPr/>
          <p:nvPr/>
        </p:nvSpPr>
        <p:spPr>
          <a:xfrm>
            <a:off x="2630015" y="2475269"/>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16</a:t>
            </a:r>
          </a:p>
        </p:txBody>
      </p:sp>
      <p:sp>
        <p:nvSpPr>
          <p:cNvPr id="12" name="Rectángulo redondeado 15">
            <a:extLst>
              <a:ext uri="{FF2B5EF4-FFF2-40B4-BE49-F238E27FC236}">
                <a16:creationId xmlns:a16="http://schemas.microsoft.com/office/drawing/2014/main" id="{9FFB6724-CE96-BFC0-E19D-B207F46DDF83}"/>
              </a:ext>
            </a:extLst>
          </p:cNvPr>
          <p:cNvSpPr/>
          <p:nvPr/>
        </p:nvSpPr>
        <p:spPr>
          <a:xfrm>
            <a:off x="5075253" y="3022202"/>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17</a:t>
            </a:r>
          </a:p>
        </p:txBody>
      </p:sp>
    </p:spTree>
    <p:extLst>
      <p:ext uri="{BB962C8B-B14F-4D97-AF65-F5344CB8AC3E}">
        <p14:creationId xmlns:p14="http://schemas.microsoft.com/office/powerpoint/2010/main" val="711683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Registrar la oferta horaria de los cursos</a:t>
            </a:r>
            <a:endParaRPr lang="en-US" dirty="0"/>
          </a:p>
        </p:txBody>
      </p:sp>
      <p:sp>
        <p:nvSpPr>
          <p:cNvPr id="4" name="Marcador de texto 3">
            <a:extLst>
              <a:ext uri="{FF2B5EF4-FFF2-40B4-BE49-F238E27FC236}">
                <a16:creationId xmlns:a16="http://schemas.microsoft.com/office/drawing/2014/main" id="{380265D1-5FE9-0943-05C5-4E3C9D6B7BA5}"/>
              </a:ext>
            </a:extLst>
          </p:cNvPr>
          <p:cNvSpPr>
            <a:spLocks noGrp="1"/>
          </p:cNvSpPr>
          <p:nvPr>
            <p:ph type="body" sz="quarter" idx="18"/>
          </p:nvPr>
        </p:nvSpPr>
        <p:spPr/>
        <p:txBody>
          <a:bodyPr/>
          <a:lstStyle/>
          <a:p>
            <a:endParaRPr lang="es-419"/>
          </a:p>
        </p:txBody>
      </p:sp>
      <p:sp>
        <p:nvSpPr>
          <p:cNvPr id="6" name="Título 5">
            <a:extLst>
              <a:ext uri="{FF2B5EF4-FFF2-40B4-BE49-F238E27FC236}">
                <a16:creationId xmlns:a16="http://schemas.microsoft.com/office/drawing/2014/main" id="{BDDFC2F4-1C89-ABBF-6CA4-A0A524A9FA85}"/>
              </a:ext>
            </a:extLst>
          </p:cNvPr>
          <p:cNvSpPr>
            <a:spLocks noGrp="1"/>
          </p:cNvSpPr>
          <p:nvPr>
            <p:ph type="title"/>
          </p:nvPr>
        </p:nvSpPr>
        <p:spPr/>
        <p:txBody>
          <a:bodyPr/>
          <a:lstStyle/>
          <a:p>
            <a:r>
              <a:rPr lang="es-419" dirty="0"/>
              <a:t>RESUMEN</a:t>
            </a:r>
          </a:p>
        </p:txBody>
      </p:sp>
    </p:spTree>
    <p:extLst>
      <p:ext uri="{BB962C8B-B14F-4D97-AF65-F5344CB8AC3E}">
        <p14:creationId xmlns:p14="http://schemas.microsoft.com/office/powerpoint/2010/main" val="31134856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3CE03-21A5-399D-2391-65FD7F2DF284}"/>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D67D6F82-1EAD-14A6-41EF-017827E2DAF5}"/>
              </a:ext>
            </a:extLst>
          </p:cNvPr>
          <p:cNvSpPr>
            <a:spLocks noGrp="1"/>
          </p:cNvSpPr>
          <p:nvPr>
            <p:ph type="body" sz="quarter" idx="18"/>
          </p:nvPr>
        </p:nvSpPr>
        <p:spPr>
          <a:xfrm>
            <a:off x="1104901" y="1905002"/>
            <a:ext cx="10265064" cy="2740889"/>
          </a:xfrm>
        </p:spPr>
        <p:txBody>
          <a:bodyPr/>
          <a:lstStyle/>
          <a:p>
            <a:pPr marL="342900" indent="-342900" algn="just">
              <a:buClr>
                <a:srgbClr val="0CB4B4"/>
              </a:buClr>
              <a:buFont typeface="Wingdings" panose="05000000000000000000" pitchFamily="2" charset="2"/>
              <a:buChar char="q"/>
            </a:pPr>
            <a:r>
              <a:rPr lang="es-419" sz="1800" dirty="0"/>
              <a:t>Banner permite la programación académica (SSASECT) de las asignaturas que hayan sido definidas en el catálogo de </a:t>
            </a:r>
            <a:r>
              <a:rPr lang="es-419" sz="1800"/>
              <a:t>curso (SCACRSE)</a:t>
            </a:r>
            <a:endParaRPr lang="es-419" sz="1800" dirty="0"/>
          </a:p>
          <a:p>
            <a:pPr marL="342900" indent="-342900" algn="just">
              <a:buClr>
                <a:srgbClr val="0CB4B4"/>
              </a:buClr>
              <a:buFont typeface="Wingdings" panose="05000000000000000000" pitchFamily="2" charset="2"/>
              <a:buChar char="q"/>
            </a:pPr>
            <a:r>
              <a:rPr lang="es-419" sz="1800" dirty="0"/>
              <a:t>La programación académica (SSASECT) permite definir la capacidad de las secciones, fechas y horarios de cada sesión programada, ubicación donde se desarrollaría cada sesión, entre otras variables más.</a:t>
            </a:r>
          </a:p>
          <a:p>
            <a:pPr marL="342900" indent="-342900" algn="just">
              <a:buClr>
                <a:srgbClr val="0CB4B4"/>
              </a:buClr>
              <a:buFont typeface="Wingdings" panose="05000000000000000000" pitchFamily="2" charset="2"/>
              <a:buChar char="q"/>
            </a:pPr>
            <a:r>
              <a:rPr lang="es-419" sz="1800" dirty="0"/>
              <a:t>Adicionalmente, se pueden ajustar características heredadas desde el catálogo de cursos de las asignaturas, pudiendo ajustar la información de detalle de la asignatura (SSADETL), prerrequisitos (SSAPREQ) y restricciones (SSARRES).</a:t>
            </a:r>
          </a:p>
        </p:txBody>
      </p:sp>
      <p:sp>
        <p:nvSpPr>
          <p:cNvPr id="10" name="Vertical Text Placeholder 9">
            <a:extLst>
              <a:ext uri="{FF2B5EF4-FFF2-40B4-BE49-F238E27FC236}">
                <a16:creationId xmlns:a16="http://schemas.microsoft.com/office/drawing/2014/main" id="{A00DE1E1-BC49-EC94-55F8-17021E7E5BD0}"/>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16" name="Title 15">
            <a:extLst>
              <a:ext uri="{FF2B5EF4-FFF2-40B4-BE49-F238E27FC236}">
                <a16:creationId xmlns:a16="http://schemas.microsoft.com/office/drawing/2014/main" id="{29DABCE1-0F67-CA6B-F629-2E6082DBDC1A}"/>
              </a:ext>
            </a:extLst>
          </p:cNvPr>
          <p:cNvSpPr>
            <a:spLocks noGrp="1"/>
          </p:cNvSpPr>
          <p:nvPr>
            <p:ph type="title"/>
          </p:nvPr>
        </p:nvSpPr>
        <p:spPr/>
        <p:txBody>
          <a:bodyPr/>
          <a:lstStyle/>
          <a:p>
            <a:r>
              <a:rPr lang="en-US" dirty="0">
                <a:solidFill>
                  <a:schemeClr val="tx2"/>
                </a:solidFill>
              </a:rPr>
              <a:t>RESUMEN</a:t>
            </a:r>
          </a:p>
        </p:txBody>
      </p:sp>
    </p:spTree>
    <p:extLst>
      <p:ext uri="{BB962C8B-B14F-4D97-AF65-F5344CB8AC3E}">
        <p14:creationId xmlns:p14="http://schemas.microsoft.com/office/powerpoint/2010/main" val="32118945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58754"/>
            <a:ext cx="10496690" cy="324961"/>
          </a:xfrm>
        </p:spPr>
        <p:txBody>
          <a:bodyPr/>
          <a:lstStyle/>
          <a:p>
            <a:pPr algn="l"/>
            <a:r>
              <a:rPr lang="es-419" sz="2000" dirty="0"/>
              <a:t>Nidia Beltran</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nidia.beltran@ellucian.com</a:t>
            </a:r>
          </a:p>
        </p:txBody>
      </p:sp>
    </p:spTree>
    <p:extLst>
      <p:ext uri="{BB962C8B-B14F-4D97-AF65-F5344CB8AC3E}">
        <p14:creationId xmlns:p14="http://schemas.microsoft.com/office/powerpoint/2010/main" val="1394951875"/>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15351</TotalTime>
  <Words>4179</Words>
  <Application>Microsoft Office PowerPoint</Application>
  <PresentationFormat>Panorámica</PresentationFormat>
  <Paragraphs>358</Paragraphs>
  <Slides>54</Slides>
  <Notes>0</Notes>
  <HiddenSlides>0</HiddenSlides>
  <MMClips>0</MMClips>
  <ScaleCrop>false</ScaleCrop>
  <HeadingPairs>
    <vt:vector size="6" baseType="variant">
      <vt:variant>
        <vt:lpstr>Fuentes usadas</vt:lpstr>
      </vt:variant>
      <vt:variant>
        <vt:i4>8</vt:i4>
      </vt:variant>
      <vt:variant>
        <vt:lpstr>Tema</vt:lpstr>
      </vt:variant>
      <vt:variant>
        <vt:i4>2</vt:i4>
      </vt:variant>
      <vt:variant>
        <vt:lpstr>Títulos de diapositiva</vt:lpstr>
      </vt:variant>
      <vt:variant>
        <vt:i4>54</vt:i4>
      </vt:variant>
    </vt:vector>
  </HeadingPairs>
  <TitlesOfParts>
    <vt:vector size="64" baseType="lpstr">
      <vt:lpstr>Aptos</vt:lpstr>
      <vt:lpstr>Aptos Display</vt:lpstr>
      <vt:lpstr>Arial</vt:lpstr>
      <vt:lpstr>Calibri</vt:lpstr>
      <vt:lpstr>Courier New</vt:lpstr>
      <vt:lpstr>Helvetica Neue</vt:lpstr>
      <vt:lpstr>Libre Franklin</vt:lpstr>
      <vt:lpstr>Wingdings</vt:lpstr>
      <vt:lpstr>Ellucian_April 2025</vt:lpstr>
      <vt:lpstr>Ellucian Blank Layouts</vt:lpstr>
      <vt:lpstr>Presentación de PowerPoint</vt:lpstr>
      <vt:lpstr>Presentación de PowerPoint</vt:lpstr>
      <vt:lpstr>Overview</vt:lpstr>
      <vt:lpstr>Overview: Mapa de capacidades</vt:lpstr>
      <vt:lpstr>Overview: Capacidad Operativa Gestionar la Programación Académica</vt:lpstr>
      <vt:lpstr>Overview: Gestión de la programación Académica</vt:lpstr>
      <vt:lpstr>Presentación de PowerPoint</vt:lpstr>
      <vt:lpstr>Presentación de PowerPoint</vt:lpstr>
      <vt:lpstr>Overview: Registrar la oferta horaria de los cursos</vt:lpstr>
      <vt:lpstr>Presentación de PowerPoint</vt:lpstr>
      <vt:lpstr>Presentación de PowerPoint</vt:lpstr>
      <vt:lpstr>Presentación de PowerPoint</vt:lpstr>
      <vt:lpstr>CONFIGURACIONES</vt:lpstr>
      <vt:lpstr>Configuración: SOATERM Control de periodo </vt:lpstr>
      <vt:lpstr>Configuración: SOATERM Control de periodo </vt:lpstr>
      <vt:lpstr>Configuración: SOATERM Control de periodo </vt:lpstr>
      <vt:lpstr>REGISTRAR LA OFERTA HORARIA DE LOS CURSOS</vt:lpstr>
      <vt:lpstr>Presentación de PowerPoint</vt:lpstr>
      <vt:lpstr> Programar NRC (SSASECT) </vt:lpstr>
      <vt:lpstr> Programar NRC (SSASECT) </vt:lpstr>
      <vt:lpstr> Programar NRC (SSASECT) </vt:lpstr>
      <vt:lpstr> Programar NRC (SSASECT) </vt:lpstr>
      <vt:lpstr> Programar NRC (SSASECT) </vt:lpstr>
      <vt:lpstr> Programar NRC (SSASECT) – Tipo de horario TEORÍA </vt:lpstr>
      <vt:lpstr> Programar NRC (SSASECT) Tipo de horario diferente a TEORÍA </vt:lpstr>
      <vt:lpstr>Programar NRC (SSASECT)  </vt:lpstr>
      <vt:lpstr>Programar NRC (SSASECT)  </vt:lpstr>
      <vt:lpstr>Programar NRC (SSASECT)  </vt:lpstr>
      <vt:lpstr>Programar NRC (SSASECT)</vt:lpstr>
      <vt:lpstr>Programar NRC (SSASECT)</vt:lpstr>
      <vt:lpstr>Programar NRC (SSASECT) </vt:lpstr>
      <vt:lpstr>Programar NRC (SSASECT) </vt:lpstr>
      <vt:lpstr>Presentación de PowerPoint</vt:lpstr>
      <vt:lpstr>Detalle de horario (SSADETL)</vt:lpstr>
      <vt:lpstr>Detalle de horario (SSADETL)</vt:lpstr>
      <vt:lpstr>Detalle de horario (SSADETL)</vt:lpstr>
      <vt:lpstr>Detalle de horario (SSADETL)</vt:lpstr>
      <vt:lpstr>Presentación de PowerPoint</vt:lpstr>
      <vt:lpstr>Prerrequisitos de horario (SSAPREQ)</vt:lpstr>
      <vt:lpstr>Prerrequisitos de horario (SSAPREQ)</vt:lpstr>
      <vt:lpstr>Configuración: SSAPREQ Prerrequisito de horario y restricciones de puntaje de examen</vt:lpstr>
      <vt:lpstr>Prerrequisitos de horario (SSAPREQ)</vt:lpstr>
      <vt:lpstr>Presentación de PowerPoint</vt:lpstr>
      <vt:lpstr>Restricciones de horario (SSARRES)</vt:lpstr>
      <vt:lpstr>Prerrequisitos de horario (SSAPREQ)</vt:lpstr>
      <vt:lpstr>Restricciones de horario (SSARRES)</vt:lpstr>
      <vt:lpstr>Restricciones de horario (SSARRES)</vt:lpstr>
      <vt:lpstr>Restricciones de horario (SSARRES)</vt:lpstr>
      <vt:lpstr>Restricciones de horario (SSARRES)</vt:lpstr>
      <vt:lpstr>Restricciones de horario (SSARRES)</vt:lpstr>
      <vt:lpstr>Restricciones de horario (SSARRES)</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274</cp:revision>
  <dcterms:created xsi:type="dcterms:W3CDTF">2023-07-17T20:07:38Z</dcterms:created>
  <dcterms:modified xsi:type="dcterms:W3CDTF">2026-07-06T17:40:41Z</dcterms:modified>
</cp:coreProperties>
</file>
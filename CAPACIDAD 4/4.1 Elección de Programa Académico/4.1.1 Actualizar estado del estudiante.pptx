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3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  <p:sldMasterId id="2147483760" r:id="rId2"/>
    <p:sldMasterId id="2147483780" r:id="rId3"/>
    <p:sldMasterId id="2147483818" r:id="rId4"/>
  </p:sldMasterIdLst>
  <p:notesMasterIdLst>
    <p:notesMasterId r:id="rId87"/>
  </p:notesMasterIdLst>
  <p:sldIdLst>
    <p:sldId id="736" r:id="rId5"/>
    <p:sldId id="712" r:id="rId6"/>
    <p:sldId id="1174" r:id="rId7"/>
    <p:sldId id="1175" r:id="rId8"/>
    <p:sldId id="1251" r:id="rId9"/>
    <p:sldId id="350" r:id="rId10"/>
    <p:sldId id="1275" r:id="rId11"/>
    <p:sldId id="1259" r:id="rId12"/>
    <p:sldId id="1119" r:id="rId13"/>
    <p:sldId id="1276" r:id="rId14"/>
    <p:sldId id="1277" r:id="rId15"/>
    <p:sldId id="1278" r:id="rId16"/>
    <p:sldId id="1279" r:id="rId17"/>
    <p:sldId id="1280" r:id="rId18"/>
    <p:sldId id="1281" r:id="rId19"/>
    <p:sldId id="1282" r:id="rId20"/>
    <p:sldId id="1283" r:id="rId21"/>
    <p:sldId id="1311" r:id="rId22"/>
    <p:sldId id="1312" r:id="rId23"/>
    <p:sldId id="1284" r:id="rId24"/>
    <p:sldId id="1285" r:id="rId25"/>
    <p:sldId id="1286" r:id="rId26"/>
    <p:sldId id="1287" r:id="rId27"/>
    <p:sldId id="1288" r:id="rId28"/>
    <p:sldId id="1313" r:id="rId29"/>
    <p:sldId id="1314" r:id="rId30"/>
    <p:sldId id="1289" r:id="rId31"/>
    <p:sldId id="1290" r:id="rId32"/>
    <p:sldId id="1291" r:id="rId33"/>
    <p:sldId id="1294" r:id="rId34"/>
    <p:sldId id="1296" r:id="rId35"/>
    <p:sldId id="1295" r:id="rId36"/>
    <p:sldId id="1298" r:id="rId37"/>
    <p:sldId id="1297" r:id="rId38"/>
    <p:sldId id="1292" r:id="rId39"/>
    <p:sldId id="1293" r:id="rId40"/>
    <p:sldId id="1315" r:id="rId41"/>
    <p:sldId id="1316" r:id="rId42"/>
    <p:sldId id="1319" r:id="rId43"/>
    <p:sldId id="1321" r:id="rId44"/>
    <p:sldId id="1320" r:id="rId45"/>
    <p:sldId id="1322" r:id="rId46"/>
    <p:sldId id="1323" r:id="rId47"/>
    <p:sldId id="1334" r:id="rId48"/>
    <p:sldId id="1324" r:id="rId49"/>
    <p:sldId id="1325" r:id="rId50"/>
    <p:sldId id="1326" r:id="rId51"/>
    <p:sldId id="1327" r:id="rId52"/>
    <p:sldId id="1328" r:id="rId53"/>
    <p:sldId id="1329" r:id="rId54"/>
    <p:sldId id="1355" r:id="rId55"/>
    <p:sldId id="1362" r:id="rId56"/>
    <p:sldId id="1356" r:id="rId57"/>
    <p:sldId id="1357" r:id="rId58"/>
    <p:sldId id="1358" r:id="rId59"/>
    <p:sldId id="1359" r:id="rId60"/>
    <p:sldId id="1360" r:id="rId61"/>
    <p:sldId id="1361" r:id="rId62"/>
    <p:sldId id="1331" r:id="rId63"/>
    <p:sldId id="1332" r:id="rId64"/>
    <p:sldId id="1333" r:id="rId65"/>
    <p:sldId id="1335" r:id="rId66"/>
    <p:sldId id="1336" r:id="rId67"/>
    <p:sldId id="1337" r:id="rId68"/>
    <p:sldId id="1338" r:id="rId69"/>
    <p:sldId id="1339" r:id="rId70"/>
    <p:sldId id="1343" r:id="rId71"/>
    <p:sldId id="1348" r:id="rId72"/>
    <p:sldId id="1349" r:id="rId73"/>
    <p:sldId id="1350" r:id="rId74"/>
    <p:sldId id="1351" r:id="rId75"/>
    <p:sldId id="1354" r:id="rId76"/>
    <p:sldId id="1353" r:id="rId77"/>
    <p:sldId id="1363" r:id="rId78"/>
    <p:sldId id="1364" r:id="rId79"/>
    <p:sldId id="1365" r:id="rId80"/>
    <p:sldId id="1366" r:id="rId81"/>
    <p:sldId id="1367" r:id="rId82"/>
    <p:sldId id="1368" r:id="rId83"/>
    <p:sldId id="1369" r:id="rId84"/>
    <p:sldId id="1221" r:id="rId85"/>
    <p:sldId id="64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3767EC-4945-F044-2966-C3C4FBC8CEFC}" name="Diana Carolina Varón Díaz" initials="DV" userId="S::cvaron@cesa.edu.co::57d2fcd7-20f5-4803-8ac1-d7a2b9cde4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A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érica Solís Sánchez" userId="39232662421_tp_box_2" providerId="OAuth2" clId="{D615F1E9-6099-4255-87A0-7C8F35C22DAD}"/>
    <pc:docChg chg="modSld">
      <pc:chgData name="América Solís Sánchez" userId="39232662421_tp_box_2" providerId="OAuth2" clId="{D615F1E9-6099-4255-87A0-7C8F35C22DAD}" dt="2026-05-12T19:27:46.026" v="0" actId="1076"/>
      <pc:docMkLst>
        <pc:docMk/>
      </pc:docMkLst>
      <pc:sldChg chg="modSp mod">
        <pc:chgData name="América Solís Sánchez" userId="39232662421_tp_box_2" providerId="OAuth2" clId="{D615F1E9-6099-4255-87A0-7C8F35C22DAD}" dt="2026-05-12T19:27:46.026" v="0" actId="1076"/>
        <pc:sldMkLst>
          <pc:docMk/>
          <pc:sldMk cId="2241117308" sldId="736"/>
        </pc:sldMkLst>
        <pc:picChg chg="mod">
          <ac:chgData name="América Solís Sánchez" userId="39232662421_tp_box_2" providerId="OAuth2" clId="{D615F1E9-6099-4255-87A0-7C8F35C22DAD}" dt="2026-05-12T19:27:46.026" v="0" actId="1076"/>
          <ac:picMkLst>
            <pc:docMk/>
            <pc:sldMk cId="2241117308" sldId="736"/>
            <ac:picMk id="8" creationId="{4F7B45E6-A22E-4AC7-1472-85D0784AA9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97B59-C4AA-4121-9E99-5A9FBD6E6C6B}" type="datetimeFigureOut">
              <a:rPr lang="es-419" smtClean="0"/>
              <a:t>12/5/2026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B7043-8BBF-43F6-8395-E81293822626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437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1D2A-E99A-2F4F-B8C9-28142709F87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2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17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92445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24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05165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29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53982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31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5681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46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21150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48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22992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B7043-8BBF-43F6-8395-E81293822626}" type="slidenum">
              <a:rPr lang="es-419" smtClean="0"/>
              <a:t>81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0109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554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917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6103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170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0131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403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15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385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99830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9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494343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601208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031357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015500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825317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51122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866010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4435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41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99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33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21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59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48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164316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80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610361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323399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40475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933514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0254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4193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73252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82004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11066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07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177980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F00F1-D933-8AA0-E7A4-0F5CD1B344D1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400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B49D1D-E006-95E3-C9AD-E07A51FD9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79402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14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0D606AED-DD8D-9B4B-A5A1-B57A5083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8163" y="258373"/>
            <a:ext cx="6711912" cy="6858000"/>
          </a:xfrm>
          <a:prstGeom prst="rect">
            <a:avLst/>
          </a:prstGeom>
        </p:spPr>
      </p:pic>
      <p:sp>
        <p:nvSpPr>
          <p:cNvPr id="4" name="Trapezoid 3"/>
          <p:cNvSpPr/>
          <p:nvPr userDrawn="1"/>
        </p:nvSpPr>
        <p:spPr>
          <a:xfrm>
            <a:off x="0" y="1"/>
            <a:ext cx="9144000" cy="6874172"/>
          </a:xfrm>
          <a:custGeom>
            <a:avLst/>
            <a:gdLst>
              <a:gd name="connsiteX0" fmla="*/ 0 w 6858000"/>
              <a:gd name="connsiteY0" fmla="*/ 5148072 h 5148072"/>
              <a:gd name="connsiteX1" fmla="*/ 0 w 6858000"/>
              <a:gd name="connsiteY1" fmla="*/ 0 h 5148072"/>
              <a:gd name="connsiteX2" fmla="*/ 6858000 w 6858000"/>
              <a:gd name="connsiteY2" fmla="*/ 0 h 5148072"/>
              <a:gd name="connsiteX3" fmla="*/ 6858000 w 6858000"/>
              <a:gd name="connsiteY3" fmla="*/ 5148072 h 5148072"/>
              <a:gd name="connsiteX4" fmla="*/ 0 w 6858000"/>
              <a:gd name="connsiteY4" fmla="*/ 5148072 h 5148072"/>
              <a:gd name="connsiteX0" fmla="*/ 0 w 6858000"/>
              <a:gd name="connsiteY0" fmla="*/ 5148072 h 5155629"/>
              <a:gd name="connsiteX1" fmla="*/ 0 w 6858000"/>
              <a:gd name="connsiteY1" fmla="*/ 0 h 5155629"/>
              <a:gd name="connsiteX2" fmla="*/ 6858000 w 6858000"/>
              <a:gd name="connsiteY2" fmla="*/ 0 h 5155629"/>
              <a:gd name="connsiteX3" fmla="*/ 4840275 w 6858000"/>
              <a:gd name="connsiteY3" fmla="*/ 5155629 h 5155629"/>
              <a:gd name="connsiteX4" fmla="*/ 0 w 6858000"/>
              <a:gd name="connsiteY4" fmla="*/ 5148072 h 5155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5155629">
                <a:moveTo>
                  <a:pt x="0" y="5148072"/>
                </a:moveTo>
                <a:lnTo>
                  <a:pt x="0" y="0"/>
                </a:lnTo>
                <a:lnTo>
                  <a:pt x="6858000" y="0"/>
                </a:lnTo>
                <a:lnTo>
                  <a:pt x="4840275" y="5155629"/>
                </a:ln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61309" y="2589804"/>
            <a:ext cx="6650691" cy="215152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64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ellucian_purpl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1631578"/>
            <a:ext cx="2327711" cy="479092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5543554"/>
            <a:ext cx="6396392" cy="675417"/>
          </a:xfrm>
        </p:spPr>
        <p:txBody>
          <a:bodyPr anchor="t" anchorCtr="0">
            <a:noAutofit/>
          </a:bodyPr>
          <a:lstStyle>
            <a:lvl1pPr>
              <a:buNone/>
              <a:defRPr sz="2267" b="0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Presenter’s title</a:t>
            </a:r>
            <a:br>
              <a:rPr lang="en-US" dirty="0"/>
            </a:br>
            <a:r>
              <a:rPr lang="en-US" dirty="0" err="1"/>
              <a:t>Ellucian</a:t>
            </a:r>
            <a:endParaRPr lang="en-US" dirty="0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6604000" y="-3"/>
            <a:ext cx="5588000" cy="5608320"/>
          </a:xfrm>
          <a:prstGeom prst="rtTriangle">
            <a:avLst/>
          </a:prstGeom>
          <a:solidFill>
            <a:srgbClr val="45A1A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719592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accent2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164295491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2747">
          <p15:clr>
            <a:srgbClr val="FBAE40"/>
          </p15:clr>
        </p15:guide>
        <p15:guide id="2" pos="30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926390242"/>
      </p:ext>
    </p:extLst>
  </p:cSld>
  <p:clrMapOvr>
    <a:masterClrMapping/>
  </p:clrMapOvr>
  <p:transition spd="slow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2848" y="991929"/>
            <a:ext cx="11266501" cy="1691096"/>
          </a:xfrm>
        </p:spPr>
        <p:txBody>
          <a:bodyPr tIns="0" bIns="0" anchor="b">
            <a:noAutofit/>
          </a:bodyPr>
          <a:lstStyle>
            <a:lvl1pPr algn="l">
              <a:lnSpc>
                <a:spcPct val="100000"/>
              </a:lnSpc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72849" y="1316874"/>
            <a:ext cx="5298956" cy="351367"/>
          </a:xfrm>
        </p:spPr>
        <p:txBody>
          <a:bodyPr>
            <a:normAutofit/>
          </a:bodyPr>
          <a:lstStyle>
            <a:lvl1pPr>
              <a:buNone/>
              <a:defRPr sz="2133" spc="133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/>
              <a:t>SECTION # [optional]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72848" y="3112608"/>
            <a:ext cx="7108205" cy="2462723"/>
          </a:xfrm>
        </p:spPr>
        <p:txBody>
          <a:bodyPr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933" b="0">
                <a:solidFill>
                  <a:schemeClr val="bg1">
                    <a:lumMod val="8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Footer Placeholder 4"/>
          <p:cNvSpPr txBox="1">
            <a:spLocks/>
          </p:cNvSpPr>
          <p:nvPr userDrawn="1"/>
        </p:nvSpPr>
        <p:spPr>
          <a:xfrm>
            <a:off x="6875242" y="6591893"/>
            <a:ext cx="4426065" cy="14356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2018 Ellucian</a:t>
            </a:r>
            <a:endParaRPr kumimoji="0" lang="en-US" sz="933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1" name="Picture 20" descr="ellucian_white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77" y="6564051"/>
            <a:ext cx="983800" cy="201444"/>
          </a:xfrm>
          <a:prstGeom prst="rect">
            <a:avLst/>
          </a:prstGeom>
        </p:spPr>
      </p:pic>
      <p:sp>
        <p:nvSpPr>
          <p:cNvPr id="9" name="Slide Number Placeholder 3"/>
          <p:cNvSpPr txBox="1">
            <a:spLocks/>
          </p:cNvSpPr>
          <p:nvPr userDrawn="1"/>
        </p:nvSpPr>
        <p:spPr>
          <a:xfrm>
            <a:off x="11203208" y="6468813"/>
            <a:ext cx="537689" cy="2747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457200" rtl="0" eaLnBrk="1" latinLnBrk="0" hangingPunct="1">
              <a:defRPr sz="1100" b="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085A0-3A3D-6540-B0AC-0588E66301FB}" type="slidenum">
              <a:rPr lang="en-US" sz="1467" smtClean="0"/>
              <a:pPr/>
              <a:t>‹#›</a:t>
            </a:fld>
            <a:endParaRPr lang="en-US" sz="1467"/>
          </a:p>
        </p:txBody>
      </p:sp>
    </p:spTree>
    <p:extLst>
      <p:ext uri="{BB962C8B-B14F-4D97-AF65-F5344CB8AC3E}">
        <p14:creationId xmlns:p14="http://schemas.microsoft.com/office/powerpoint/2010/main" val="749152113"/>
      </p:ext>
    </p:extLst>
  </p:cSld>
  <p:clrMapOvr>
    <a:masterClrMapping/>
  </p:clrMapOvr>
  <p:transition spd="slow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" y="1600200"/>
            <a:ext cx="11267392" cy="4343400"/>
          </a:xfrm>
        </p:spPr>
        <p:txBody>
          <a:bodyPr>
            <a:noAutofit/>
          </a:bodyPr>
          <a:lstStyle>
            <a:lvl1pPr marL="0" indent="0" algn="l" defTabSz="609585" rtl="0" eaLnBrk="1" latinLnBrk="0" hangingPunct="1">
              <a:spcBef>
                <a:spcPts val="1200"/>
              </a:spcBef>
              <a:buFontTx/>
              <a:buNone/>
              <a:defRPr lang="en-US" sz="2133" b="1" kern="1200" dirty="0" smtClean="0">
                <a:solidFill>
                  <a:srgbClr val="45A1AA"/>
                </a:solidFill>
                <a:latin typeface="Arial"/>
                <a:ea typeface="+mn-ea"/>
                <a:cs typeface="Arial"/>
              </a:defRPr>
            </a:lvl1pPr>
            <a:lvl2pPr marL="380990" indent="-380990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lang="en-US" sz="2133" b="0" kern="1200" dirty="0" smtClean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683667" indent="-380990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  <a:defRPr lang="en-US" sz="1867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3pPr>
            <a:lvl4pPr marL="916493" indent="-380990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4pPr>
            <a:lvl5pPr marL="916493" indent="-380990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  <a:defRPr lang="en-US" sz="1600" kern="1200" dirty="0">
                <a:solidFill>
                  <a:srgbClr val="414042"/>
                </a:solidFill>
                <a:latin typeface="Arial"/>
                <a:ea typeface="+mn-ea"/>
                <a:cs typeface="Arial"/>
              </a:defRPr>
            </a:lvl5pPr>
          </a:lstStyle>
          <a:p>
            <a:pPr marL="457189" lvl="0" indent="-457189" algn="l" defTabSz="609585" rtl="0" eaLnBrk="1" latinLnBrk="0" hangingPunct="1">
              <a:spcBef>
                <a:spcPts val="1600"/>
              </a:spcBef>
              <a:buFontTx/>
              <a:buNone/>
            </a:pPr>
            <a:r>
              <a:rPr lang="en-US" dirty="0"/>
              <a:t>Click to edit Master text styles</a:t>
            </a:r>
          </a:p>
          <a:p>
            <a:pPr marL="230712" lvl="1" indent="-230712" algn="l" defTabSz="609585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535504" lvl="2" indent="-232828" algn="l" defTabSz="609585" rtl="0" eaLnBrk="1" latinLnBrk="0" hangingPunct="1">
              <a:spcBef>
                <a:spcPts val="1200"/>
              </a:spcBef>
              <a:buClr>
                <a:srgbClr val="642673"/>
              </a:buClr>
              <a:buFont typeface="Arial"/>
              <a:buChar char="•"/>
            </a:pPr>
            <a:r>
              <a:rPr lang="en-US" dirty="0"/>
              <a:t>Third level</a:t>
            </a:r>
          </a:p>
          <a:p>
            <a:pPr marL="766214" lvl="3" indent="-230712" algn="l" defTabSz="609585" rtl="0" eaLnBrk="1" latinLnBrk="0" hangingPunct="1">
              <a:spcBef>
                <a:spcPts val="1200"/>
              </a:spcBef>
              <a:buClr>
                <a:srgbClr val="45A1AA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071007" lvl="4" indent="-230712" algn="l" defTabSz="609585" rtl="0" eaLnBrk="1" latinLnBrk="0" hangingPunct="1">
              <a:spcBef>
                <a:spcPts val="1200"/>
              </a:spcBef>
              <a:buClr>
                <a:srgbClr val="414042"/>
              </a:buClr>
              <a:buFont typeface="Arial" panose="020B0604020202020204" pitchFamily="34" charset="0"/>
              <a:buChar char="̶"/>
            </a:pPr>
            <a:r>
              <a:rPr lang="en-US" dirty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75488" y="487681"/>
            <a:ext cx="11267392" cy="5826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4614174"/>
      </p:ext>
    </p:extLst>
  </p:cSld>
  <p:clrMapOvr>
    <a:masterClrMapping/>
  </p:clrMapOvr>
  <p:transition spd="slow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Stock-646457628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177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3779"/>
            <a:ext cx="12192000" cy="6858000"/>
          </a:xfrm>
          <a:prstGeom prst="rect">
            <a:avLst/>
          </a:prstGeom>
          <a:solidFill>
            <a:schemeClr val="accent4">
              <a:alpha val="6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Triangle 21"/>
          <p:cNvSpPr/>
          <p:nvPr userDrawn="1"/>
        </p:nvSpPr>
        <p:spPr>
          <a:xfrm flipH="1">
            <a:off x="7632095" y="-7814"/>
            <a:ext cx="4559904" cy="6865815"/>
          </a:xfrm>
          <a:custGeom>
            <a:avLst/>
            <a:gdLst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3419928 w 3419928"/>
              <a:gd name="connsiteY2" fmla="*/ 5143500 h 5143500"/>
              <a:gd name="connsiteX3" fmla="*/ 0 w 3419928"/>
              <a:gd name="connsiteY3" fmla="*/ 5143500 h 5143500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992980 w 3419928"/>
              <a:gd name="connsiteY2" fmla="*/ 1485900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7788 h 5157788"/>
              <a:gd name="connsiteX1" fmla="*/ 0 w 3419928"/>
              <a:gd name="connsiteY1" fmla="*/ 14288 h 5157788"/>
              <a:gd name="connsiteX2" fmla="*/ 1257299 w 3419928"/>
              <a:gd name="connsiteY2" fmla="*/ 0 h 5157788"/>
              <a:gd name="connsiteX3" fmla="*/ 3419928 w 3419928"/>
              <a:gd name="connsiteY3" fmla="*/ 5157788 h 5157788"/>
              <a:gd name="connsiteX4" fmla="*/ 0 w 3419928"/>
              <a:gd name="connsiteY4" fmla="*/ 5157788 h 5157788"/>
              <a:gd name="connsiteX0" fmla="*/ 0 w 3419928"/>
              <a:gd name="connsiteY0" fmla="*/ 5145147 h 5145147"/>
              <a:gd name="connsiteX1" fmla="*/ 0 w 3419928"/>
              <a:gd name="connsiteY1" fmla="*/ 1647 h 5145147"/>
              <a:gd name="connsiteX2" fmla="*/ 1263619 w 3419928"/>
              <a:gd name="connsiteY2" fmla="*/ 0 h 5145147"/>
              <a:gd name="connsiteX3" fmla="*/ 3419928 w 3419928"/>
              <a:gd name="connsiteY3" fmla="*/ 5145147 h 5145147"/>
              <a:gd name="connsiteX4" fmla="*/ 0 w 3419928"/>
              <a:gd name="connsiteY4" fmla="*/ 5145147 h 5145147"/>
              <a:gd name="connsiteX0" fmla="*/ 0 w 3419928"/>
              <a:gd name="connsiteY0" fmla="*/ 5143500 h 5143500"/>
              <a:gd name="connsiteX1" fmla="*/ 0 w 3419928"/>
              <a:gd name="connsiteY1" fmla="*/ 0 h 5143500"/>
              <a:gd name="connsiteX2" fmla="*/ 1200412 w 3419928"/>
              <a:gd name="connsiteY2" fmla="*/ 103699 h 5143500"/>
              <a:gd name="connsiteX3" fmla="*/ 3419928 w 3419928"/>
              <a:gd name="connsiteY3" fmla="*/ 5143500 h 5143500"/>
              <a:gd name="connsiteX4" fmla="*/ 0 w 3419928"/>
              <a:gd name="connsiteY4" fmla="*/ 5143500 h 5143500"/>
              <a:gd name="connsiteX0" fmla="*/ 0 w 3419928"/>
              <a:gd name="connsiteY0" fmla="*/ 5151467 h 5151467"/>
              <a:gd name="connsiteX1" fmla="*/ 0 w 3419928"/>
              <a:gd name="connsiteY1" fmla="*/ 7967 h 5151467"/>
              <a:gd name="connsiteX2" fmla="*/ 1261512 w 3419928"/>
              <a:gd name="connsiteY2" fmla="*/ 0 h 5151467"/>
              <a:gd name="connsiteX3" fmla="*/ 3419928 w 3419928"/>
              <a:gd name="connsiteY3" fmla="*/ 5151467 h 5151467"/>
              <a:gd name="connsiteX4" fmla="*/ 0 w 3419928"/>
              <a:gd name="connsiteY4" fmla="*/ 5151467 h 5151467"/>
              <a:gd name="connsiteX0" fmla="*/ 0 w 3419928"/>
              <a:gd name="connsiteY0" fmla="*/ 5149361 h 5149361"/>
              <a:gd name="connsiteX1" fmla="*/ 0 w 3419928"/>
              <a:gd name="connsiteY1" fmla="*/ 5861 h 5149361"/>
              <a:gd name="connsiteX2" fmla="*/ 1261512 w 3419928"/>
              <a:gd name="connsiteY2" fmla="*/ 0 h 5149361"/>
              <a:gd name="connsiteX3" fmla="*/ 3419928 w 3419928"/>
              <a:gd name="connsiteY3" fmla="*/ 5149361 h 5149361"/>
              <a:gd name="connsiteX4" fmla="*/ 0 w 3419928"/>
              <a:gd name="connsiteY4" fmla="*/ 5149361 h 514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9928" h="5149361">
                <a:moveTo>
                  <a:pt x="0" y="5149361"/>
                </a:moveTo>
                <a:lnTo>
                  <a:pt x="0" y="5861"/>
                </a:lnTo>
                <a:lnTo>
                  <a:pt x="1261512" y="0"/>
                </a:lnTo>
                <a:lnTo>
                  <a:pt x="3419928" y="5149361"/>
                </a:lnTo>
                <a:lnTo>
                  <a:pt x="0" y="5149361"/>
                </a:lnTo>
                <a:close/>
              </a:path>
            </a:pathLst>
          </a:custGeom>
          <a:solidFill>
            <a:schemeClr val="accent2">
              <a:alpha val="6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15" name="Right Triangle 14"/>
          <p:cNvSpPr/>
          <p:nvPr userDrawn="1"/>
        </p:nvSpPr>
        <p:spPr>
          <a:xfrm flipH="1" flipV="1">
            <a:off x="8273143" y="-8162"/>
            <a:ext cx="3918856" cy="3905907"/>
          </a:xfrm>
          <a:prstGeom prst="rtTriangle">
            <a:avLst/>
          </a:prstGeom>
          <a:solidFill>
            <a:schemeClr val="accent4">
              <a:alpha val="7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310" y="3625511"/>
            <a:ext cx="5695167" cy="1161143"/>
          </a:xfrm>
        </p:spPr>
        <p:txBody>
          <a:bodyPr>
            <a:normAutofit/>
          </a:bodyPr>
          <a:lstStyle>
            <a:lvl1pPr>
              <a:defRPr sz="5333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ellucian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0" y="866875"/>
            <a:ext cx="2164695" cy="443247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97" y="4911366"/>
            <a:ext cx="7640512" cy="1589695"/>
          </a:xfrm>
        </p:spPr>
        <p:txBody>
          <a:bodyPr anchor="t" anchorCtr="0">
            <a:normAutofit/>
          </a:bodyPr>
          <a:lstStyle>
            <a:lvl1pPr>
              <a:spcBef>
                <a:spcPts val="0"/>
              </a:spcBef>
              <a:buNone/>
              <a:defRPr sz="2267" b="0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Title title title, </a:t>
            </a:r>
            <a:r>
              <a:rPr lang="en-US" dirty="0" err="1"/>
              <a:t>Ellucian</a:t>
            </a:r>
            <a:br>
              <a:rPr lang="en-US" dirty="0"/>
            </a:br>
            <a:r>
              <a:rPr lang="en-US" dirty="0" err="1"/>
              <a:t>firstname.lastname@ellucian.com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053544"/>
            <a:ext cx="6656832" cy="835251"/>
          </a:xfrm>
        </p:spPr>
        <p:txBody>
          <a:bodyPr anchor="b">
            <a:noAutofit/>
          </a:bodyPr>
          <a:lstStyle>
            <a:lvl1pPr>
              <a:buNone/>
              <a:defRPr sz="2267" b="1" cap="all" spc="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48365102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orient="horz" pos="2453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899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880192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509265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31195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26434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428924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712394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944518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99805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97519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753495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4628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097282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7033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221219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335471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1238491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76771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6806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6451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832782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73232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27468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77419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286556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553510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04973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5076588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9666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79210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171209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99062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15405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5313998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3557234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355686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03630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5575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7525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274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813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264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5553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4387347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49850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9961074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93211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940964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830536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493726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74760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147767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000392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27857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25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D7DD6E6-E97A-4472-91B0-6459FF173152}" type="slidenum">
              <a:rPr lang="es-419" smtClean="0"/>
              <a:t>‹#›</a:t>
            </a:fld>
            <a:endParaRPr lang="es-419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88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94908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78790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291024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630180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1950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44356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02022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9642078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360711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009082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8663690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5885255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346430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0334665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3842511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5495052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816110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160067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47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9" Type="http://schemas.openxmlformats.org/officeDocument/2006/relationships/image" Target="../media/image1.svg"/><Relationship Id="rId21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6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94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8.xml"/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19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253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12" r:id="rId40"/>
    <p:sldLayoutId id="2147483713" r:id="rId41"/>
    <p:sldLayoutId id="2147483714" r:id="rId42"/>
    <p:sldLayoutId id="2147483715" r:id="rId43"/>
    <p:sldLayoutId id="2147483718" r:id="rId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8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2949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09" r:id="rId29"/>
    <p:sldLayoutId id="2147483810" r:id="rId30"/>
    <p:sldLayoutId id="2147483811" r:id="rId31"/>
    <p:sldLayoutId id="2147483812" r:id="rId32"/>
    <p:sldLayoutId id="2147483813" r:id="rId33"/>
    <p:sldLayoutId id="2147483814" r:id="rId34"/>
    <p:sldLayoutId id="2147483815" r:id="rId35"/>
    <p:sldLayoutId id="2147483816" r:id="rId36"/>
    <p:sldLayoutId id="2147483817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28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9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9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9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9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99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svg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DC2834-C0BC-1E9E-35AB-295707DC0D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4143944"/>
            <a:ext cx="5427132" cy="740459"/>
          </a:xfrm>
        </p:spPr>
        <p:txBody>
          <a:bodyPr vert="horz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s-ES" sz="1800" b="0" dirty="0"/>
              <a:t>Instructivo</a:t>
            </a:r>
            <a:endParaRPr lang="es-419" sz="1800" b="0" dirty="0"/>
          </a:p>
          <a:p>
            <a:pPr>
              <a:lnSpc>
                <a:spcPct val="110000"/>
              </a:lnSpc>
            </a:pPr>
            <a:endParaRPr lang="es-419" sz="1800" b="0" dirty="0"/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4F7B45E6-A22E-4AC7-1472-85D0784AA9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90226" y="573881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6902" y="2028141"/>
            <a:ext cx="5651500" cy="174942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Actualizar estado del estudiante</a:t>
            </a:r>
            <a:br>
              <a:rPr lang="es-419" sz="4000" dirty="0"/>
            </a:br>
            <a:endParaRPr lang="es-ES_tradn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2AA01FE4-D527-0237-CA80-CB27F8A00E26}"/>
              </a:ext>
            </a:extLst>
          </p:cNvPr>
          <p:cNvSpPr txBox="1">
            <a:spLocks/>
          </p:cNvSpPr>
          <p:nvPr/>
        </p:nvSpPr>
        <p:spPr>
          <a:xfrm>
            <a:off x="556902" y="5466333"/>
            <a:ext cx="3032274" cy="39805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Consultor</a:t>
            </a:r>
          </a:p>
          <a:p>
            <a:r>
              <a:rPr lang="es-419" dirty="0"/>
              <a:t>Cargo</a:t>
            </a:r>
          </a:p>
        </p:txBody>
      </p:sp>
      <p:sp>
        <p:nvSpPr>
          <p:cNvPr id="15" name="Marcador de texto 5">
            <a:extLst>
              <a:ext uri="{FF2B5EF4-FFF2-40B4-BE49-F238E27FC236}">
                <a16:creationId xmlns:a16="http://schemas.microsoft.com/office/drawing/2014/main" id="{00AE3C8C-E658-84D2-C034-6B435885044F}"/>
              </a:ext>
            </a:extLst>
          </p:cNvPr>
          <p:cNvSpPr txBox="1">
            <a:spLocks/>
          </p:cNvSpPr>
          <p:nvPr/>
        </p:nvSpPr>
        <p:spPr>
          <a:xfrm>
            <a:off x="556902" y="6230769"/>
            <a:ext cx="2228873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Mes, Año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4111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vertical 3">
            <a:extLst>
              <a:ext uri="{FF2B5EF4-FFF2-40B4-BE49-F238E27FC236}">
                <a16:creationId xmlns:a16="http://schemas.microsoft.com/office/drawing/2014/main" id="{9B079538-813F-9222-1BBD-41637301C228}"/>
              </a:ext>
            </a:extLst>
          </p:cNvPr>
          <p:cNvSpPr>
            <a:spLocks noGrp="1"/>
          </p:cNvSpPr>
          <p:nvPr>
            <p:ph type="body" orient="vert" sz="quarter" idx="4294967295"/>
          </p:nvPr>
        </p:nvSpPr>
        <p:spPr>
          <a:xfrm>
            <a:off x="0" y="685800"/>
            <a:ext cx="609600" cy="5486400"/>
          </a:xfrm>
          <a:prstGeom prst="rect">
            <a:avLst/>
          </a:prstGeom>
        </p:spPr>
        <p:txBody>
          <a:bodyPr vert="vert270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s-ES" sz="1200" spc="300" dirty="0">
                <a:solidFill>
                  <a:schemeClr val="bg1"/>
                </a:solidFill>
              </a:rPr>
              <a:t>Actualizar estado del estudiante</a:t>
            </a:r>
            <a:endParaRPr lang="es-419" sz="1200" spc="3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04723"/>
              </p:ext>
            </p:extLst>
          </p:nvPr>
        </p:nvGraphicFramePr>
        <p:xfrm>
          <a:off x="1404892" y="107004"/>
          <a:ext cx="8916155" cy="5719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5489">
                <a:tc>
                  <a:txBody>
                    <a:bodyPr/>
                    <a:lstStyle/>
                    <a:p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_tradnl" sz="2000" b="0" kern="1200" noProof="0" dirty="0">
                        <a:solidFill>
                          <a:srgbClr val="414042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r>
                        <a:rPr lang="es-ES_tradnl" sz="2800" b="1" kern="1200" noProof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7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Configuraciones</a:t>
                      </a:r>
                      <a:endParaRPr lang="es-ES_tradnl" sz="2800" b="1" kern="120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9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Actualización de estatus del alumno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67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Actualización de tipo de alumno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873710"/>
                  </a:ext>
                </a:extLst>
              </a:tr>
              <a:tr h="726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Actualización de estatus del Plan de estudios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27243"/>
                  </a:ext>
                </a:extLst>
              </a:tr>
              <a:tr h="6906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Cambio de programa académico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85392"/>
                  </a:ext>
                </a:extLst>
              </a:tr>
              <a:tr h="6712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Dos carreras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371060"/>
                  </a:ext>
                </a:extLst>
              </a:tr>
              <a:tr h="5933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</a:p>
                  </a:txBody>
                  <a:tcPr marL="121920" marR="121920" marT="60960" marB="6096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800" b="1" kern="120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Resumen</a:t>
                      </a:r>
                    </a:p>
                  </a:txBody>
                  <a:tcPr marL="121920" marR="121920" marT="60960" marB="97536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15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55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FE5FE-3967-86A2-6B0E-C8A258CF0688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endParaRPr lang="es-ES_tradn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E232D-D9D9-2A5F-D6CC-14645B6303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9389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656B045A-5FD4-41FA-32C9-4AAEC68E41F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Overview: </a:t>
            </a:r>
            <a:r>
              <a:rPr lang="es-ES_tradnl" b="1" dirty="0"/>
              <a:t>Mapa de capacidades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534DB-45B2-D257-055A-ECF4C6834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" t="3607" r="2974"/>
          <a:stretch>
            <a:fillRect/>
          </a:stretch>
        </p:blipFill>
        <p:spPr bwMode="auto">
          <a:xfrm>
            <a:off x="609601" y="1289303"/>
            <a:ext cx="11225781" cy="45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CD1306-C5B9-A277-9C94-A4FEC7DEE3DA}"/>
              </a:ext>
            </a:extLst>
          </p:cNvPr>
          <p:cNvSpPr/>
          <p:nvPr/>
        </p:nvSpPr>
        <p:spPr>
          <a:xfrm>
            <a:off x="912876" y="3575304"/>
            <a:ext cx="2269236" cy="59436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761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b="0" dirty="0">
                <a:solidFill>
                  <a:schemeClr val="bg2">
                    <a:lumMod val="25000"/>
                  </a:schemeClr>
                </a:solidFill>
              </a:rPr>
              <a:t>Overview: </a:t>
            </a:r>
            <a:r>
              <a:rPr lang="es-ES_tradnl" sz="3200" b="1" dirty="0">
                <a:solidFill>
                  <a:schemeClr val="bg2">
                    <a:lumMod val="25000"/>
                  </a:schemeClr>
                </a:solidFill>
              </a:rPr>
              <a:t>Procedimientos del Proceso Gestionar Estudiantes</a:t>
            </a:r>
            <a:endParaRPr lang="es-ES_tradnl" b="1" dirty="0"/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B78F62D-4B77-445A-C7D5-D7E406951FE3}"/>
              </a:ext>
            </a:extLst>
          </p:cNvPr>
          <p:cNvSpPr txBox="1">
            <a:spLocks/>
          </p:cNvSpPr>
          <p:nvPr/>
        </p:nvSpPr>
        <p:spPr>
          <a:xfrm>
            <a:off x="1021773" y="1671782"/>
            <a:ext cx="8519392" cy="386080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</a:t>
            </a:r>
            <a:r>
              <a:rPr lang="es-CO" sz="2400" b="1" dirty="0">
                <a:solidFill>
                  <a:schemeClr val="tx1"/>
                </a:solidFill>
              </a:rPr>
              <a:t>Actualizar estado del estudiante</a:t>
            </a:r>
          </a:p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Actualizar características del estudiante</a:t>
            </a:r>
          </a:p>
          <a:p>
            <a:pPr>
              <a:buClr>
                <a:srgbClr val="009999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chemeClr val="tx1"/>
                </a:solidFill>
              </a:rPr>
              <a:t> Asignar o actualizar retenciones a estudiantes</a:t>
            </a:r>
            <a:endParaRPr lang="es-CO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80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9531" y="1464283"/>
            <a:ext cx="9766300" cy="2537689"/>
          </a:xfrm>
        </p:spPr>
        <p:txBody>
          <a:bodyPr/>
          <a:lstStyle/>
          <a:p>
            <a:pPr algn="just">
              <a:buClr>
                <a:srgbClr val="009999"/>
              </a:buClr>
            </a:pPr>
            <a:r>
              <a:rPr lang="es-CO" sz="2200" dirty="0"/>
              <a:t>El proceso </a:t>
            </a:r>
            <a:r>
              <a:rPr lang="es-419" sz="2200" dirty="0"/>
              <a:t>como propósito actualización del estado del alumno de:</a:t>
            </a:r>
          </a:p>
          <a:p>
            <a:pPr lvl="1" algn="just">
              <a:buClr>
                <a:srgbClr val="009999"/>
              </a:buClr>
            </a:pPr>
            <a:r>
              <a:rPr lang="es-419" sz="2200" dirty="0"/>
              <a:t>Forma general: en la primera pestaña de SGASTDN, afectando todos los programas vinculados al estudiante.</a:t>
            </a:r>
          </a:p>
          <a:p>
            <a:pPr lvl="1" algn="just">
              <a:buClr>
                <a:srgbClr val="009999"/>
              </a:buClr>
            </a:pPr>
            <a:r>
              <a:rPr lang="es-419" sz="2200" dirty="0"/>
              <a:t>Por programa: Se actualizan los datos vinculados al plan de estudios o al programa, dónde se puede indicar que está inactivo, egresado, graduado, activo.</a:t>
            </a:r>
          </a:p>
          <a:p>
            <a:pPr marL="174625" lvl="1" indent="-174625" algn="just">
              <a:spcBef>
                <a:spcPts val="1000"/>
              </a:spcBef>
              <a:buClr>
                <a:srgbClr val="009999"/>
              </a:buClr>
            </a:pPr>
            <a:r>
              <a:rPr lang="es-ES_tradnl" sz="2200" dirty="0"/>
              <a:t>Banner permite hacer el cambio de estado sin perder la historia del alumno.</a:t>
            </a:r>
          </a:p>
          <a:p>
            <a:pPr marL="174625" lvl="1" indent="-174625" algn="just">
              <a:spcBef>
                <a:spcPts val="1000"/>
              </a:spcBef>
              <a:buClr>
                <a:srgbClr val="009999"/>
              </a:buClr>
            </a:pPr>
            <a:r>
              <a:rPr lang="es-ES_tradnl" sz="2200" dirty="0"/>
              <a:t>La institución debe realizar los cambios de estado en páginas administrativas.</a:t>
            </a:r>
          </a:p>
          <a:p>
            <a:pPr marL="174625" lvl="1" indent="-174625" algn="just">
              <a:spcBef>
                <a:spcPts val="1000"/>
              </a:spcBef>
              <a:buClr>
                <a:srgbClr val="009999"/>
              </a:buClr>
            </a:pPr>
            <a:r>
              <a:rPr lang="es-ES_tradnl" sz="2200" dirty="0"/>
              <a:t>Se puede realizar el cambio de estado en el mismo periodo o en un periodo posterior.</a:t>
            </a:r>
          </a:p>
          <a:p>
            <a:pPr lvl="1" algn="just">
              <a:buClr>
                <a:srgbClr val="009999"/>
              </a:buClr>
            </a:pPr>
            <a:endParaRPr lang="es-419" sz="22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1454844A-B37D-CF5D-8FA0-7D80890C0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565728"/>
            <a:ext cx="9987973" cy="898555"/>
          </a:xfrm>
        </p:spPr>
        <p:txBody>
          <a:bodyPr/>
          <a:lstStyle/>
          <a:p>
            <a:pPr algn="just"/>
            <a:r>
              <a:rPr lang="es-ES_tradnl" sz="3200" b="0" dirty="0">
                <a:solidFill>
                  <a:schemeClr val="tx2"/>
                </a:solidFill>
              </a:rPr>
              <a:t>Overview: </a:t>
            </a:r>
            <a:r>
              <a:rPr lang="es-ES" sz="3200" dirty="0"/>
              <a:t>Actualizar estado del estudiante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" sz="3200" dirty="0"/>
              <a:t>Actualizar estado del estudiante</a:t>
            </a:r>
            <a:endParaRPr lang="es-ES_tradnl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83025E-1804-5A3B-033A-9268818FA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102" y="1221676"/>
            <a:ext cx="6533542" cy="543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03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AE1BB385-EBB9-AD98-896B-A427CE8D878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</a:t>
            </a:r>
            <a:r>
              <a:rPr lang="es-ES_tradnl" b="1" dirty="0"/>
              <a:t>Región donde aplica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F9A8D2-DB8A-9348-9C89-4582AE2EB894}"/>
              </a:ext>
            </a:extLst>
          </p:cNvPr>
          <p:cNvSpPr txBox="1"/>
          <p:nvPr/>
        </p:nvSpPr>
        <p:spPr>
          <a:xfrm>
            <a:off x="8409273" y="3182780"/>
            <a:ext cx="1537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Todo LAC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04E8E-2D80-DD44-3EEA-DF6CAB3F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879" y="1584355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Configuraciones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0196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Tipo de estudiante</a:t>
            </a:r>
            <a:endParaRPr lang="es-ES_tradnl" b="1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3299482" y="4227821"/>
            <a:ext cx="2894841" cy="60935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STVSTYP están definidos los tipos de alumno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5D6545-F7B1-FBE7-EBDD-856BD167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2426264"/>
            <a:ext cx="11051455" cy="18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80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Estatus del estudiante</a:t>
            </a:r>
            <a:endParaRPr lang="es-ES_tradnl" b="1" dirty="0"/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4009601" y="4035849"/>
            <a:ext cx="3908714" cy="5452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STVSTST están definidos los estatus de estudiante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364D6E-D373-FD90-E518-7597F98C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2" y="2050989"/>
            <a:ext cx="10893113" cy="137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14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Configuraciones: Estatus del Plan de estudios</a:t>
            </a:r>
            <a:endParaRPr lang="es-ES_tradnl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247A00-7683-54F7-D3CE-AE86B3F3A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1706692"/>
            <a:ext cx="10952703" cy="3591801"/>
          </a:xfrm>
          <a:prstGeom prst="rect">
            <a:avLst/>
          </a:prstGeom>
        </p:spPr>
      </p:pic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3A0FC5B4-D227-08C0-77D9-3EE7C845D2F0}"/>
              </a:ext>
            </a:extLst>
          </p:cNvPr>
          <p:cNvSpPr/>
          <p:nvPr/>
        </p:nvSpPr>
        <p:spPr>
          <a:xfrm>
            <a:off x="4243064" y="4796337"/>
            <a:ext cx="4142179" cy="62449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457200"/>
            <a:r>
              <a:rPr lang="es-ES_tradnl" sz="1200" dirty="0">
                <a:solidFill>
                  <a:schemeClr val="bg1"/>
                </a:solidFill>
                <a:cs typeface="Arial"/>
              </a:rPr>
              <a:t>En STVSTSP están configurados los estatus de plan de estudios</a:t>
            </a:r>
          </a:p>
        </p:txBody>
      </p:sp>
    </p:spTree>
    <p:extLst>
      <p:ext uri="{BB962C8B-B14F-4D97-AF65-F5344CB8AC3E}">
        <p14:creationId xmlns:p14="http://schemas.microsoft.com/office/powerpoint/2010/main" val="2606422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Actualización de estatus del alumno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91440" bIns="45720" rtlCol="0" anchor="t">
            <a:noAutofit/>
          </a:bodyPr>
          <a:lstStyle/>
          <a:p>
            <a:r>
              <a:rPr lang="es-419" dirty="0"/>
              <a:t>Afecta al estudiante de manera general y se utiliza cuando el estudiante no tiene carga académica</a:t>
            </a:r>
            <a:endParaRPr lang="es-419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1292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C45208E-504D-6995-F917-A76D85FA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71399" y="243212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alumno en el mismo período: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9E5183E-92D8-2EED-33E1-F58290FD1576}"/>
              </a:ext>
            </a:extLst>
          </p:cNvPr>
          <p:cNvSpPr txBox="1"/>
          <p:nvPr/>
        </p:nvSpPr>
        <p:spPr>
          <a:xfrm>
            <a:off x="1216423" y="1763167"/>
            <a:ext cx="232567" cy="22922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b="0" dirty="0"/>
              <a:t>1</a:t>
            </a:r>
            <a:endParaRPr lang="en-US" b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15151F-1288-4641-BF96-3D1E8E06ABE1}"/>
              </a:ext>
            </a:extLst>
          </p:cNvPr>
          <p:cNvSpPr txBox="1"/>
          <p:nvPr/>
        </p:nvSpPr>
        <p:spPr>
          <a:xfrm>
            <a:off x="10975577" y="1763167"/>
            <a:ext cx="232567" cy="22922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n-US" b="0" dirty="0"/>
              <a:t>3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BD0C305-DCAF-CA73-97D4-9E401D3B3C65}"/>
              </a:ext>
            </a:extLst>
          </p:cNvPr>
          <p:cNvSpPr/>
          <p:nvPr/>
        </p:nvSpPr>
        <p:spPr>
          <a:xfrm>
            <a:off x="850389" y="5156580"/>
            <a:ext cx="10477498" cy="85411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23A9DA1-594A-EADD-5A49-E2FC63C7A054}"/>
              </a:ext>
            </a:extLst>
          </p:cNvPr>
          <p:cNvSpPr txBox="1"/>
          <p:nvPr/>
        </p:nvSpPr>
        <p:spPr>
          <a:xfrm>
            <a:off x="2913940" y="1992395"/>
            <a:ext cx="232567" cy="22922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buNone/>
            </a:pPr>
            <a:r>
              <a:rPr lang="es-CO" b="0" dirty="0"/>
              <a:t>2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9391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2E974A8-5333-CE56-C357-33356D28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8" y="1337187"/>
            <a:ext cx="10529256" cy="49681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170" y="228921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alumno en el mismo período: SGASTDN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882411" y="1983740"/>
            <a:ext cx="609602" cy="19891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723AA2-4447-A930-A657-B1BB7E69AD25}"/>
              </a:ext>
            </a:extLst>
          </p:cNvPr>
          <p:cNvSpPr txBox="1"/>
          <p:nvPr/>
        </p:nvSpPr>
        <p:spPr>
          <a:xfrm>
            <a:off x="10710185" y="6064477"/>
            <a:ext cx="253471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5</a:t>
            </a:r>
            <a:endParaRPr lang="en-US" b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C8EFD7-9D29-CF44-8A99-3999274DFB78}"/>
              </a:ext>
            </a:extLst>
          </p:cNvPr>
          <p:cNvSpPr txBox="1"/>
          <p:nvPr/>
        </p:nvSpPr>
        <p:spPr>
          <a:xfrm>
            <a:off x="758176" y="2710339"/>
            <a:ext cx="256139" cy="26161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4</a:t>
            </a:r>
            <a:endParaRPr lang="en-US" b="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B280EB1-BFE6-DA11-FD3B-ACB1D8A0E1EF}"/>
              </a:ext>
            </a:extLst>
          </p:cNvPr>
          <p:cNvSpPr/>
          <p:nvPr/>
        </p:nvSpPr>
        <p:spPr>
          <a:xfrm>
            <a:off x="1492013" y="5046670"/>
            <a:ext cx="10121654" cy="80924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estado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376192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7C379F4-C541-6AB4-05AD-031107F20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alumno en un período posterior: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51D9FD-D127-F262-FC2A-2FC78F0C94C2}"/>
              </a:ext>
            </a:extLst>
          </p:cNvPr>
          <p:cNvSpPr txBox="1"/>
          <p:nvPr/>
        </p:nvSpPr>
        <p:spPr>
          <a:xfrm>
            <a:off x="1286549" y="1710518"/>
            <a:ext cx="189531" cy="20596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1</a:t>
            </a:r>
            <a:endParaRPr lang="en-US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8BA070-CB27-C926-8FF5-AAC69BFB6BED}"/>
              </a:ext>
            </a:extLst>
          </p:cNvPr>
          <p:cNvSpPr txBox="1"/>
          <p:nvPr/>
        </p:nvSpPr>
        <p:spPr>
          <a:xfrm>
            <a:off x="11008528" y="1813501"/>
            <a:ext cx="189531" cy="20596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3</a:t>
            </a:r>
            <a:endParaRPr lang="en-US" b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91EE8AE-0A32-7398-33D2-84C10FB41808}"/>
              </a:ext>
            </a:extLst>
          </p:cNvPr>
          <p:cNvSpPr/>
          <p:nvPr/>
        </p:nvSpPr>
        <p:spPr>
          <a:xfrm>
            <a:off x="850388" y="5214948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FEDE0FD-E87D-0468-CC1F-056AEC985F35}"/>
              </a:ext>
            </a:extLst>
          </p:cNvPr>
          <p:cNvSpPr txBox="1"/>
          <p:nvPr/>
        </p:nvSpPr>
        <p:spPr>
          <a:xfrm>
            <a:off x="2857133" y="1958720"/>
            <a:ext cx="189531" cy="20596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b="0" dirty="0"/>
              <a:t>2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1817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575D167-39EB-F1AA-A8B6-3608DB71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086706"/>
            <a:ext cx="10565155" cy="471275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alumno en un período posterior</a:t>
            </a:r>
            <a:endParaRPr lang="es-ES_tradnl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A568C1-8419-392A-3E7E-57516D4FB89D}"/>
              </a:ext>
            </a:extLst>
          </p:cNvPr>
          <p:cNvSpPr txBox="1"/>
          <p:nvPr/>
        </p:nvSpPr>
        <p:spPr>
          <a:xfrm>
            <a:off x="11125505" y="1966973"/>
            <a:ext cx="180137" cy="20648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4</a:t>
            </a:r>
            <a:endParaRPr lang="en-US" b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8CF0B8-39F7-95A7-9149-E719E36CF0BE}"/>
              </a:ext>
            </a:extLst>
          </p:cNvPr>
          <p:cNvSpPr txBox="1"/>
          <p:nvPr/>
        </p:nvSpPr>
        <p:spPr>
          <a:xfrm>
            <a:off x="1236581" y="2515948"/>
            <a:ext cx="180137" cy="20648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5</a:t>
            </a:r>
            <a:endParaRPr lang="en-US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80F95CB-DC85-8FD6-6A90-E747E87DDEED}"/>
              </a:ext>
            </a:extLst>
          </p:cNvPr>
          <p:cNvSpPr/>
          <p:nvPr/>
        </p:nvSpPr>
        <p:spPr>
          <a:xfrm>
            <a:off x="1326650" y="408357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C</a:t>
            </a:r>
            <a:r>
              <a:rPr lang="es-ES_tradnl" sz="1100" b="1" dirty="0"/>
              <a:t>opiar</a:t>
            </a:r>
            <a:endParaRPr lang="es-ES_tradnl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 o digitar </a:t>
            </a:r>
            <a:r>
              <a:rPr lang="es-419" sz="1100" b="1" dirty="0"/>
              <a:t>período</a:t>
            </a:r>
            <a:r>
              <a:rPr lang="es-419" sz="1100" dirty="0"/>
              <a:t> para el cual actualizará el estatus del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</a:t>
            </a:r>
            <a:r>
              <a:rPr lang="es-ES_tradnl" sz="1100" b="1" dirty="0"/>
              <a:t>estado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C9AB080-752D-3CF4-4BEA-5E3784BD2310}"/>
              </a:ext>
            </a:extLst>
          </p:cNvPr>
          <p:cNvSpPr txBox="1"/>
          <p:nvPr/>
        </p:nvSpPr>
        <p:spPr>
          <a:xfrm>
            <a:off x="3050729" y="2928711"/>
            <a:ext cx="180137" cy="20648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6</a:t>
            </a:r>
            <a:endParaRPr lang="en-US" b="0" dirty="0"/>
          </a:p>
        </p:txBody>
      </p:sp>
      <p:sp>
        <p:nvSpPr>
          <p:cNvPr id="31" name="Flecha: hacia la izquierda 30">
            <a:extLst>
              <a:ext uri="{FF2B5EF4-FFF2-40B4-BE49-F238E27FC236}">
                <a16:creationId xmlns:a16="http://schemas.microsoft.com/office/drawing/2014/main" id="{C8527A7E-FF6E-9493-A93E-F64BD5E26F51}"/>
              </a:ext>
            </a:extLst>
          </p:cNvPr>
          <p:cNvSpPr/>
          <p:nvPr/>
        </p:nvSpPr>
        <p:spPr>
          <a:xfrm rot="10800000">
            <a:off x="10940796" y="5596820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D8AB3B7-0500-9019-4A2F-0A74646E3766}"/>
              </a:ext>
            </a:extLst>
          </p:cNvPr>
          <p:cNvSpPr txBox="1"/>
          <p:nvPr/>
        </p:nvSpPr>
        <p:spPr>
          <a:xfrm>
            <a:off x="10586973" y="5494738"/>
            <a:ext cx="180137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bg1"/>
                </a:solidFill>
              </a:rPr>
              <a:t>7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278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796067-1E2F-403A-504E-0B20D1B0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64" y="1350063"/>
            <a:ext cx="10477497" cy="496848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186332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alumno en un período en el que tiene registro de inscripción: SFAREGS</a:t>
            </a:r>
            <a:endParaRPr lang="es-ES_tradnl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6F1EF8-CEA7-C241-DE75-1D5F40623282}"/>
              </a:ext>
            </a:extLst>
          </p:cNvPr>
          <p:cNvSpPr txBox="1"/>
          <p:nvPr/>
        </p:nvSpPr>
        <p:spPr>
          <a:xfrm>
            <a:off x="1170657" y="1882647"/>
            <a:ext cx="246664" cy="19304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800" b="0" dirty="0"/>
              <a:t>1</a:t>
            </a:r>
            <a:endParaRPr lang="en-US" sz="800" b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D36777-D69E-9631-7B2D-EAE59BBCBA89}"/>
              </a:ext>
            </a:extLst>
          </p:cNvPr>
          <p:cNvSpPr txBox="1"/>
          <p:nvPr/>
        </p:nvSpPr>
        <p:spPr>
          <a:xfrm>
            <a:off x="10774679" y="1882647"/>
            <a:ext cx="246664" cy="19304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800" b="0"/>
              <a:t>3</a:t>
            </a:r>
            <a:endParaRPr lang="en-US" sz="800" b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AEDDCD3-B41A-3D19-2120-96F17120E9CA}"/>
              </a:ext>
            </a:extLst>
          </p:cNvPr>
          <p:cNvSpPr txBox="1"/>
          <p:nvPr/>
        </p:nvSpPr>
        <p:spPr>
          <a:xfrm>
            <a:off x="6096984" y="1882647"/>
            <a:ext cx="246664" cy="19304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800" b="0" dirty="0"/>
              <a:t>2</a:t>
            </a:r>
            <a:endParaRPr lang="en-US" sz="800" b="0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0CFB7A6-01CB-D415-57BE-40D1D80A33CD}"/>
              </a:ext>
            </a:extLst>
          </p:cNvPr>
          <p:cNvSpPr/>
          <p:nvPr/>
        </p:nvSpPr>
        <p:spPr>
          <a:xfrm>
            <a:off x="1039605" y="5170713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Si el sistema solicita información de retenciones, se debe insertar la contraseña configurada en SOATERM.</a:t>
            </a:r>
            <a:endParaRPr lang="es-419" sz="1100" dirty="0">
              <a:cs typeface="Arial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016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A7D534-E977-EDED-5464-8BD8DDFC9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211921"/>
            <a:ext cx="10756487" cy="511705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alumno en un período en el que tiene registro de inscripción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1351013" y="1971204"/>
            <a:ext cx="753886" cy="278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B0D0A06-8847-551F-CE22-55D0FFF0ACC0}"/>
              </a:ext>
            </a:extLst>
          </p:cNvPr>
          <p:cNvSpPr txBox="1"/>
          <p:nvPr/>
        </p:nvSpPr>
        <p:spPr>
          <a:xfrm>
            <a:off x="10663114" y="6043081"/>
            <a:ext cx="236937" cy="21544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chemeClr val="bg1"/>
                </a:solidFill>
              </a:rPr>
              <a:t>6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7EFC06-742E-6506-0750-6D3B8F541F80}"/>
              </a:ext>
            </a:extLst>
          </p:cNvPr>
          <p:cNvSpPr txBox="1"/>
          <p:nvPr/>
        </p:nvSpPr>
        <p:spPr>
          <a:xfrm>
            <a:off x="1019254" y="2015135"/>
            <a:ext cx="248141" cy="18813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800" b="0" dirty="0"/>
              <a:t>4</a:t>
            </a:r>
            <a:endParaRPr lang="en-US" sz="800" b="0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DCAE184-5FF5-14EB-2B78-39B55D67767D}"/>
              </a:ext>
            </a:extLst>
          </p:cNvPr>
          <p:cNvSpPr/>
          <p:nvPr/>
        </p:nvSpPr>
        <p:spPr>
          <a:xfrm>
            <a:off x="1492013" y="4883286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Período de alumno</a:t>
            </a:r>
            <a:endParaRPr lang="es-ES_tradnl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</a:t>
            </a:r>
            <a:r>
              <a:rPr lang="es-ES_tradnl" sz="1100" b="1" dirty="0"/>
              <a:t>estado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783F99C-2823-7DA4-EB8B-CA4896920CBC}"/>
              </a:ext>
            </a:extLst>
          </p:cNvPr>
          <p:cNvSpPr txBox="1"/>
          <p:nvPr/>
        </p:nvSpPr>
        <p:spPr>
          <a:xfrm>
            <a:off x="2568210" y="3284314"/>
            <a:ext cx="248141" cy="18813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800" b="0" dirty="0"/>
              <a:t>5</a:t>
            </a:r>
            <a:endParaRPr lang="en-US" sz="800" b="0" dirty="0"/>
          </a:p>
        </p:txBody>
      </p:sp>
      <p:sp>
        <p:nvSpPr>
          <p:cNvPr id="27" name="Flecha: hacia la izquierda 26">
            <a:extLst>
              <a:ext uri="{FF2B5EF4-FFF2-40B4-BE49-F238E27FC236}">
                <a16:creationId xmlns:a16="http://schemas.microsoft.com/office/drawing/2014/main" id="{EEC727E2-60E5-A807-FAFA-BA452BE45BDF}"/>
              </a:ext>
            </a:extLst>
          </p:cNvPr>
          <p:cNvSpPr/>
          <p:nvPr/>
        </p:nvSpPr>
        <p:spPr>
          <a:xfrm rot="10800000">
            <a:off x="10970056" y="6149339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3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Actualización de tipo de alumno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Afecta al estudiante de manera general</a:t>
            </a:r>
          </a:p>
        </p:txBody>
      </p:sp>
    </p:spTree>
    <p:extLst>
      <p:ext uri="{BB962C8B-B14F-4D97-AF65-F5344CB8AC3E}">
        <p14:creationId xmlns:p14="http://schemas.microsoft.com/office/powerpoint/2010/main" val="2207035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8E5915A-AA45-AF85-1822-714AFB11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DEFD299-8B3A-981A-8536-A4D4077EADF3}"/>
              </a:ext>
            </a:extLst>
          </p:cNvPr>
          <p:cNvSpPr txBox="1"/>
          <p:nvPr/>
        </p:nvSpPr>
        <p:spPr>
          <a:xfrm>
            <a:off x="1242540" y="1770770"/>
            <a:ext cx="233540" cy="19116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800" b="0"/>
              <a:t>1</a:t>
            </a:r>
            <a:endParaRPr lang="en-US" sz="800" b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4BC7FCA-5BCB-9640-12AD-75D5ACF7FA06}"/>
              </a:ext>
            </a:extLst>
          </p:cNvPr>
          <p:cNvSpPr txBox="1"/>
          <p:nvPr/>
        </p:nvSpPr>
        <p:spPr>
          <a:xfrm>
            <a:off x="10949460" y="1829775"/>
            <a:ext cx="233540" cy="19116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800" b="0"/>
              <a:t>3</a:t>
            </a:r>
            <a:endParaRPr lang="en-US" sz="800" b="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C6B811C-0202-3AB0-028C-192355EE0576}"/>
              </a:ext>
            </a:extLst>
          </p:cNvPr>
          <p:cNvSpPr txBox="1"/>
          <p:nvPr/>
        </p:nvSpPr>
        <p:spPr>
          <a:xfrm>
            <a:off x="2847989" y="2004663"/>
            <a:ext cx="233540" cy="19116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>
              <a:buNone/>
            </a:pPr>
            <a:r>
              <a:rPr lang="es-CO" sz="800" b="0" dirty="0"/>
              <a:t>2</a:t>
            </a:r>
            <a:endParaRPr lang="en-US" sz="800" b="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3810" y="223641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el mismo período: SGASTDN</a:t>
            </a:r>
            <a:endParaRPr lang="es-ES_tradnl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AC1AA1B-D006-B8AD-BF85-7B34A499843A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1028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22A00D5-142E-2F6A-F5A9-2FEC2A7B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68" y="1489587"/>
            <a:ext cx="10529256" cy="496818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el mismo período: SGASTDN</a:t>
            </a:r>
            <a:endParaRPr lang="es-ES_tradnl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0B7DD23-82E7-22CC-6B6D-B3FD7DB7D34A}"/>
              </a:ext>
            </a:extLst>
          </p:cNvPr>
          <p:cNvSpPr/>
          <p:nvPr/>
        </p:nvSpPr>
        <p:spPr>
          <a:xfrm>
            <a:off x="1492013" y="5046670"/>
            <a:ext cx="10121654" cy="80924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</a:t>
            </a:r>
            <a:r>
              <a:rPr lang="es-ES_tradnl" sz="1100" b="1" dirty="0"/>
              <a:t>tipo</a:t>
            </a:r>
            <a:r>
              <a:rPr lang="es-ES_tradnl" sz="1100" dirty="0"/>
              <a:t> de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D82D049-D0A1-E191-FA8A-E9A641B9CC12}"/>
              </a:ext>
            </a:extLst>
          </p:cNvPr>
          <p:cNvSpPr/>
          <p:nvPr/>
        </p:nvSpPr>
        <p:spPr>
          <a:xfrm>
            <a:off x="1034811" y="2136140"/>
            <a:ext cx="609602" cy="19891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EBCB02-3330-7FA4-0AFF-C8DB44E85DCB}"/>
              </a:ext>
            </a:extLst>
          </p:cNvPr>
          <p:cNvSpPr txBox="1"/>
          <p:nvPr/>
        </p:nvSpPr>
        <p:spPr>
          <a:xfrm>
            <a:off x="10874665" y="6172199"/>
            <a:ext cx="260367" cy="1793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5</a:t>
            </a:r>
            <a:endParaRPr lang="en-US" sz="10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40DC7F-F26C-59F6-ECC5-9F0414AD3473}"/>
              </a:ext>
            </a:extLst>
          </p:cNvPr>
          <p:cNvSpPr txBox="1"/>
          <p:nvPr/>
        </p:nvSpPr>
        <p:spPr>
          <a:xfrm>
            <a:off x="2601705" y="3178471"/>
            <a:ext cx="260367" cy="1793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4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670834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6DCDF5E-2BDA-97F1-D301-E93713AAB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E5C2725-DE88-72D6-AD4F-68A2A0ECA640}"/>
              </a:ext>
            </a:extLst>
          </p:cNvPr>
          <p:cNvSpPr txBox="1"/>
          <p:nvPr/>
        </p:nvSpPr>
        <p:spPr>
          <a:xfrm>
            <a:off x="1178923" y="1774911"/>
            <a:ext cx="251828" cy="2094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1</a:t>
            </a:r>
            <a:endParaRPr lang="en-US" sz="1000" b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E981F7-9B87-592C-C1AF-03BEC095D935}"/>
              </a:ext>
            </a:extLst>
          </p:cNvPr>
          <p:cNvSpPr txBox="1"/>
          <p:nvPr/>
        </p:nvSpPr>
        <p:spPr>
          <a:xfrm>
            <a:off x="10994789" y="1823345"/>
            <a:ext cx="251828" cy="2094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3</a:t>
            </a:r>
            <a:endParaRPr lang="en-US" sz="1000" b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DFA3F7-D472-DBAA-100F-5F13D25A99BA}"/>
              </a:ext>
            </a:extLst>
          </p:cNvPr>
          <p:cNvSpPr txBox="1"/>
          <p:nvPr/>
        </p:nvSpPr>
        <p:spPr>
          <a:xfrm>
            <a:off x="2842261" y="2014507"/>
            <a:ext cx="251828" cy="20945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sz="1000" b="0" dirty="0"/>
              <a:t>2</a:t>
            </a:r>
            <a:endParaRPr lang="en-US" sz="1000" b="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un período posterior: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D1AFF01-1823-C880-4398-F0D0418CE183}"/>
              </a:ext>
            </a:extLst>
          </p:cNvPr>
          <p:cNvSpPr/>
          <p:nvPr/>
        </p:nvSpPr>
        <p:spPr>
          <a:xfrm>
            <a:off x="864113" y="5402545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0375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2D7E86F8-14C1-5749-4EA3-6F39D2C3F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96" y="1225088"/>
            <a:ext cx="10746277" cy="509299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un período posterior: SGASTDN</a:t>
            </a:r>
            <a:endParaRPr lang="es-ES_tradnl" b="1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5E1B6F4-3F1E-066D-FC83-2F39592AEE22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Copiar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 o digitar </a:t>
            </a:r>
            <a:r>
              <a:rPr lang="es-419" sz="1100" b="1" dirty="0"/>
              <a:t>período</a:t>
            </a:r>
            <a:r>
              <a:rPr lang="es-419" sz="1100" dirty="0"/>
              <a:t> para el cual actualizará el tipo de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</a:t>
            </a:r>
            <a:r>
              <a:rPr lang="es-ES_tradnl" sz="1100" b="1" dirty="0"/>
              <a:t>tipo</a:t>
            </a:r>
            <a:r>
              <a:rPr lang="es-ES_tradnl" sz="1100" dirty="0"/>
              <a:t> de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12117141-BE43-4C73-718A-71623EA7528E}"/>
              </a:ext>
            </a:extLst>
          </p:cNvPr>
          <p:cNvSpPr/>
          <p:nvPr/>
        </p:nvSpPr>
        <p:spPr>
          <a:xfrm rot="10800000">
            <a:off x="11054836" y="6127945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A5B1E3B-850D-A63B-DF50-17CC146036AD}"/>
              </a:ext>
            </a:extLst>
          </p:cNvPr>
          <p:cNvSpPr txBox="1"/>
          <p:nvPr/>
        </p:nvSpPr>
        <p:spPr>
          <a:xfrm>
            <a:off x="10701014" y="6025863"/>
            <a:ext cx="251028" cy="24622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s-CO" sz="1000" dirty="0">
                <a:solidFill>
                  <a:schemeClr val="bg1"/>
                </a:solidFill>
              </a:rPr>
              <a:t>7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FBC37F-B4B2-D67E-E4DF-CDE6864900EF}"/>
              </a:ext>
            </a:extLst>
          </p:cNvPr>
          <p:cNvSpPr/>
          <p:nvPr/>
        </p:nvSpPr>
        <p:spPr>
          <a:xfrm>
            <a:off x="943896" y="1944286"/>
            <a:ext cx="609602" cy="19891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223B8C4-581C-BDB0-AAA0-CC1780321D13}"/>
              </a:ext>
            </a:extLst>
          </p:cNvPr>
          <p:cNvSpPr txBox="1"/>
          <p:nvPr/>
        </p:nvSpPr>
        <p:spPr>
          <a:xfrm>
            <a:off x="11201140" y="1881458"/>
            <a:ext cx="251028" cy="2215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D23BB53-98F5-35B7-7BAF-D944DF79838D}"/>
              </a:ext>
            </a:extLst>
          </p:cNvPr>
          <p:cNvSpPr txBox="1"/>
          <p:nvPr/>
        </p:nvSpPr>
        <p:spPr>
          <a:xfrm>
            <a:off x="943896" y="2383484"/>
            <a:ext cx="251028" cy="2215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5</a:t>
            </a:r>
            <a:endParaRPr lang="en-US" sz="1000" b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F453399-87A3-85C2-5929-1B7C36A8003F}"/>
              </a:ext>
            </a:extLst>
          </p:cNvPr>
          <p:cNvSpPr txBox="1"/>
          <p:nvPr/>
        </p:nvSpPr>
        <p:spPr>
          <a:xfrm>
            <a:off x="2490783" y="2953461"/>
            <a:ext cx="251028" cy="2215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6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497911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BD9E055-49D0-5B0A-BDC9-7585FD7B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05" y="1331150"/>
            <a:ext cx="10477497" cy="496848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90EBC8D-20D5-9892-B1F0-B63CAC5291CD}"/>
              </a:ext>
            </a:extLst>
          </p:cNvPr>
          <p:cNvSpPr txBox="1"/>
          <p:nvPr/>
        </p:nvSpPr>
        <p:spPr>
          <a:xfrm>
            <a:off x="1213967" y="1845446"/>
            <a:ext cx="224899" cy="17537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1</a:t>
            </a:r>
            <a:endParaRPr lang="en-US" sz="1000" b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335F8C-A053-BCC6-ED49-F1B780286070}"/>
              </a:ext>
            </a:extLst>
          </p:cNvPr>
          <p:cNvSpPr txBox="1"/>
          <p:nvPr/>
        </p:nvSpPr>
        <p:spPr>
          <a:xfrm>
            <a:off x="10927496" y="1845446"/>
            <a:ext cx="224899" cy="17537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3</a:t>
            </a:r>
            <a:endParaRPr lang="en-US" sz="1000" b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F410A5-31FE-7EBF-02A7-AC0AC7ED71F7}"/>
              </a:ext>
            </a:extLst>
          </p:cNvPr>
          <p:cNvSpPr txBox="1"/>
          <p:nvPr/>
        </p:nvSpPr>
        <p:spPr>
          <a:xfrm>
            <a:off x="6165903" y="1845446"/>
            <a:ext cx="224899" cy="17537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2</a:t>
            </a:r>
            <a:endParaRPr lang="en-US" sz="1000" b="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un período en el que tiene registro de inscripción: SFAREGS</a:t>
            </a:r>
            <a:endParaRPr lang="es-ES_tradnl" b="1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FEDC2E3-D8A4-CDAF-A275-9C199C075299}"/>
              </a:ext>
            </a:extLst>
          </p:cNvPr>
          <p:cNvSpPr/>
          <p:nvPr/>
        </p:nvSpPr>
        <p:spPr>
          <a:xfrm>
            <a:off x="1039605" y="5170713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645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FFE0B00-E3A6-64BA-F340-315EB3DB6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543665"/>
            <a:ext cx="10080534" cy="476973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tipo de alumno en un período en el que tiene registro de inscripción</a:t>
            </a:r>
            <a:endParaRPr lang="es-ES_tradnl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507E16-B647-A2D3-9CEE-8A29902C15D8}"/>
              </a:ext>
            </a:extLst>
          </p:cNvPr>
          <p:cNvSpPr txBox="1"/>
          <p:nvPr/>
        </p:nvSpPr>
        <p:spPr>
          <a:xfrm>
            <a:off x="10500577" y="6048623"/>
            <a:ext cx="225227" cy="209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6</a:t>
            </a:r>
            <a:endParaRPr lang="en-US" sz="1000" b="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2691FD6-C927-181C-12AC-C177ED806A68}"/>
              </a:ext>
            </a:extLst>
          </p:cNvPr>
          <p:cNvSpPr/>
          <p:nvPr/>
        </p:nvSpPr>
        <p:spPr>
          <a:xfrm>
            <a:off x="1492013" y="4883286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Período de alumno</a:t>
            </a:r>
            <a:endParaRPr lang="es-ES_tradnl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 </a:t>
            </a:r>
            <a:r>
              <a:rPr lang="es-ES_tradnl" sz="1100" b="1" dirty="0"/>
              <a:t>tipo</a:t>
            </a:r>
            <a:r>
              <a:rPr lang="es-ES_tradnl" sz="1100" dirty="0"/>
              <a:t> de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836368B-C782-B443-8BB4-9281C39D754F}"/>
              </a:ext>
            </a:extLst>
          </p:cNvPr>
          <p:cNvSpPr/>
          <p:nvPr/>
        </p:nvSpPr>
        <p:spPr>
          <a:xfrm>
            <a:off x="1492013" y="2263610"/>
            <a:ext cx="753886" cy="278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157C34-80CB-53DC-0885-E40A25CA5009}"/>
              </a:ext>
            </a:extLst>
          </p:cNvPr>
          <p:cNvSpPr txBox="1"/>
          <p:nvPr/>
        </p:nvSpPr>
        <p:spPr>
          <a:xfrm>
            <a:off x="2309121" y="2263610"/>
            <a:ext cx="225227" cy="209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595D673-93ED-E7A4-BA57-03A2A5564D3A}"/>
              </a:ext>
            </a:extLst>
          </p:cNvPr>
          <p:cNvSpPr txBox="1"/>
          <p:nvPr/>
        </p:nvSpPr>
        <p:spPr>
          <a:xfrm>
            <a:off x="2664277" y="2740021"/>
            <a:ext cx="225227" cy="209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/>
              <a:t>5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671194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Actualización de estatus del plan de estudios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Afecta al estudiante en un programa específico</a:t>
            </a:r>
          </a:p>
        </p:txBody>
      </p:sp>
    </p:spTree>
    <p:extLst>
      <p:ext uri="{BB962C8B-B14F-4D97-AF65-F5344CB8AC3E}">
        <p14:creationId xmlns:p14="http://schemas.microsoft.com/office/powerpoint/2010/main" val="2306064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815DA67-D137-5D8A-DC32-9484DB2BC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el mismo período: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0BABC7D-D80B-0EE1-FF98-2EB80E057024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6D4258-A82E-4131-15C3-1E5A8F569542}"/>
              </a:ext>
            </a:extLst>
          </p:cNvPr>
          <p:cNvSpPr txBox="1"/>
          <p:nvPr/>
        </p:nvSpPr>
        <p:spPr>
          <a:xfrm>
            <a:off x="1242540" y="1796570"/>
            <a:ext cx="233540" cy="20030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1</a:t>
            </a:r>
            <a:endParaRPr lang="en-US" sz="1000" b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8084D2-672D-ADD2-6BF4-CB61D2E7084D}"/>
              </a:ext>
            </a:extLst>
          </p:cNvPr>
          <p:cNvSpPr txBox="1"/>
          <p:nvPr/>
        </p:nvSpPr>
        <p:spPr>
          <a:xfrm>
            <a:off x="11094347" y="1807007"/>
            <a:ext cx="233540" cy="20030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3</a:t>
            </a:r>
            <a:endParaRPr lang="en-US" sz="1000" b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79C26AD-8B62-3D2B-EE11-91EDADB72F5F}"/>
              </a:ext>
            </a:extLst>
          </p:cNvPr>
          <p:cNvSpPr txBox="1"/>
          <p:nvPr/>
        </p:nvSpPr>
        <p:spPr>
          <a:xfrm>
            <a:off x="2866277" y="2049118"/>
            <a:ext cx="233540" cy="20030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sz="1000" b="0" dirty="0"/>
              <a:t>2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838321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F539BCC-C3DA-DE2E-B738-108C717E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92" y="1374400"/>
            <a:ext cx="10436001" cy="49405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el mismo período: SGASTDN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1952665" y="2029271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CA6D3E-42C0-E0F6-FC65-C1B4D7E55998}"/>
              </a:ext>
            </a:extLst>
          </p:cNvPr>
          <p:cNvSpPr txBox="1"/>
          <p:nvPr/>
        </p:nvSpPr>
        <p:spPr>
          <a:xfrm>
            <a:off x="10691960" y="6038915"/>
            <a:ext cx="250113" cy="24622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000" dirty="0">
                <a:solidFill>
                  <a:schemeClr val="bg1"/>
                </a:solidFill>
              </a:rPr>
              <a:t>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A52DE9-749C-B6AB-7992-369CD255E569}"/>
              </a:ext>
            </a:extLst>
          </p:cNvPr>
          <p:cNvSpPr txBox="1"/>
          <p:nvPr/>
        </p:nvSpPr>
        <p:spPr>
          <a:xfrm>
            <a:off x="2656605" y="2045353"/>
            <a:ext cx="249189" cy="19246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A3BD860-4294-A07B-761F-13A245D61541}"/>
              </a:ext>
            </a:extLst>
          </p:cNvPr>
          <p:cNvSpPr/>
          <p:nvPr/>
        </p:nvSpPr>
        <p:spPr>
          <a:xfrm>
            <a:off x="1524556" y="4952943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419" sz="1100" b="1" dirty="0"/>
              <a:t>Plan de estudios</a:t>
            </a:r>
            <a:endParaRPr lang="es-ES_tradnl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Seleccionar  o digitar el nuevo código del </a:t>
            </a:r>
            <a:r>
              <a:rPr lang="es-ES_tradnl" sz="1100" b="1" dirty="0"/>
              <a:t>estatus</a:t>
            </a:r>
            <a:r>
              <a:rPr lang="es-ES_tradnl" sz="1100" dirty="0"/>
              <a:t> de plan de estudios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171F7B-FEB8-25D9-2261-1B1B76D9910B}"/>
              </a:ext>
            </a:extLst>
          </p:cNvPr>
          <p:cNvSpPr txBox="1"/>
          <p:nvPr/>
        </p:nvSpPr>
        <p:spPr>
          <a:xfrm>
            <a:off x="7697139" y="2486724"/>
            <a:ext cx="249189" cy="19246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5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3979127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C8A57DC-E3A5-FE52-A116-F174B81A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E7F3212-1703-2C47-F4B9-A0FC3C3AD9EC}"/>
              </a:ext>
            </a:extLst>
          </p:cNvPr>
          <p:cNvSpPr txBox="1"/>
          <p:nvPr/>
        </p:nvSpPr>
        <p:spPr>
          <a:xfrm>
            <a:off x="1222540" y="1772189"/>
            <a:ext cx="253540" cy="20194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1</a:t>
            </a:r>
            <a:endParaRPr lang="en-US" sz="1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9FD504-D5FF-8BFC-23B0-AD0028E5F07C}"/>
              </a:ext>
            </a:extLst>
          </p:cNvPr>
          <p:cNvSpPr txBox="1"/>
          <p:nvPr/>
        </p:nvSpPr>
        <p:spPr>
          <a:xfrm>
            <a:off x="10969460" y="1813848"/>
            <a:ext cx="253540" cy="20194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3</a:t>
            </a:r>
            <a:endParaRPr lang="en-US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F6145A-F471-2568-BAC7-E499AC93A948}"/>
              </a:ext>
            </a:extLst>
          </p:cNvPr>
          <p:cNvSpPr txBox="1"/>
          <p:nvPr/>
        </p:nvSpPr>
        <p:spPr>
          <a:xfrm>
            <a:off x="2847989" y="1971043"/>
            <a:ext cx="253540" cy="20194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sz="1000" dirty="0"/>
              <a:t>2</a:t>
            </a:r>
            <a:endParaRPr lang="en-US" sz="10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posterior: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2FC2226-F39C-019A-3264-5170E8409CE7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163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666584F-4402-454F-E45A-A49DF06D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50" y="1132619"/>
            <a:ext cx="10925708" cy="519484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posterior: SGASTDN</a:t>
            </a:r>
            <a:endParaRPr lang="es-ES_tradnl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3839EC-85E8-04DD-4D5C-259219EEFC9C}"/>
              </a:ext>
            </a:extLst>
          </p:cNvPr>
          <p:cNvSpPr/>
          <p:nvPr/>
        </p:nvSpPr>
        <p:spPr>
          <a:xfrm>
            <a:off x="725393" y="1833086"/>
            <a:ext cx="609603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76CCFD0-55D1-75E9-4AB1-C746DC389C9A}"/>
              </a:ext>
            </a:extLst>
          </p:cNvPr>
          <p:cNvSpPr txBox="1"/>
          <p:nvPr/>
        </p:nvSpPr>
        <p:spPr>
          <a:xfrm>
            <a:off x="11135436" y="1900076"/>
            <a:ext cx="247881" cy="1792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7D5B4BB-AC4B-D899-80A1-6AC3F194E5C4}"/>
              </a:ext>
            </a:extLst>
          </p:cNvPr>
          <p:cNvSpPr txBox="1"/>
          <p:nvPr/>
        </p:nvSpPr>
        <p:spPr>
          <a:xfrm>
            <a:off x="3071391" y="2353634"/>
            <a:ext cx="247881" cy="1792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5</a:t>
            </a:r>
            <a:endParaRPr lang="en-US" sz="1000" b="0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4733794-E262-7AEB-D05C-A064086EA59C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Copiar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 o digitar </a:t>
            </a:r>
            <a:r>
              <a:rPr lang="es-419" sz="1100" b="1" dirty="0"/>
              <a:t>período</a:t>
            </a:r>
            <a:r>
              <a:rPr lang="es-419" sz="1100" dirty="0"/>
              <a:t> para el cual actualizará el tipo de alumno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06D217E-4CDA-2BA2-90C7-220771B603A6}"/>
              </a:ext>
            </a:extLst>
          </p:cNvPr>
          <p:cNvSpPr txBox="1"/>
          <p:nvPr/>
        </p:nvSpPr>
        <p:spPr>
          <a:xfrm>
            <a:off x="10887555" y="6081168"/>
            <a:ext cx="247881" cy="1792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b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9328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96E24E9-DC80-3211-98CA-69032776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90" y="1225088"/>
            <a:ext cx="10721300" cy="50726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posterior: SGASTDN</a:t>
            </a:r>
            <a:endParaRPr lang="es-ES_tradnl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DA1EB7-FEE5-6DC9-6F7A-1163AAE45930}"/>
              </a:ext>
            </a:extLst>
          </p:cNvPr>
          <p:cNvSpPr/>
          <p:nvPr/>
        </p:nvSpPr>
        <p:spPr>
          <a:xfrm>
            <a:off x="1287557" y="2361226"/>
            <a:ext cx="727462" cy="22463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E2DFC7-1625-4D89-5A8C-1671B3F7B9EB}"/>
              </a:ext>
            </a:extLst>
          </p:cNvPr>
          <p:cNvSpPr/>
          <p:nvPr/>
        </p:nvSpPr>
        <p:spPr>
          <a:xfrm>
            <a:off x="1208773" y="1951687"/>
            <a:ext cx="609603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409756-C152-390F-6011-6E3CF79CDD98}"/>
              </a:ext>
            </a:extLst>
          </p:cNvPr>
          <p:cNvSpPr txBox="1"/>
          <p:nvPr/>
        </p:nvSpPr>
        <p:spPr>
          <a:xfrm>
            <a:off x="943575" y="2370416"/>
            <a:ext cx="222802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8</a:t>
            </a:r>
            <a:endParaRPr lang="en-US" sz="1000" b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B23168-A197-A797-45E3-F02649AA0297}"/>
              </a:ext>
            </a:extLst>
          </p:cNvPr>
          <p:cNvSpPr txBox="1"/>
          <p:nvPr/>
        </p:nvSpPr>
        <p:spPr>
          <a:xfrm>
            <a:off x="1990047" y="1900076"/>
            <a:ext cx="222802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7</a:t>
            </a:r>
            <a:endParaRPr lang="en-US" sz="1000" b="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1C971AA-F902-9878-7D04-EA671EE12204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sobre ella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s-419" sz="1100" dirty="0"/>
              <a:t>Hacer clic sobre el botón </a:t>
            </a:r>
            <a:r>
              <a:rPr lang="es-419" sz="1100" b="1" dirty="0"/>
              <a:t>Actualizar</a:t>
            </a:r>
            <a:endParaRPr lang="es-419" sz="1100" dirty="0"/>
          </a:p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7BAA4D-BCFB-72B0-0F75-0B5524B940EE}"/>
              </a:ext>
            </a:extLst>
          </p:cNvPr>
          <p:cNvSpPr txBox="1"/>
          <p:nvPr/>
        </p:nvSpPr>
        <p:spPr>
          <a:xfrm>
            <a:off x="10765022" y="6048197"/>
            <a:ext cx="222802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b="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4067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4F6D141-C0F4-FBB4-DE2D-F1D97712C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0" y="1240608"/>
            <a:ext cx="10721300" cy="50726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posterior: SGASTDN</a:t>
            </a:r>
            <a:endParaRPr lang="es-ES_tradnl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DA1EB7-FEE5-6DC9-6F7A-1163AAE45930}"/>
              </a:ext>
            </a:extLst>
          </p:cNvPr>
          <p:cNvSpPr/>
          <p:nvPr/>
        </p:nvSpPr>
        <p:spPr>
          <a:xfrm>
            <a:off x="2377942" y="2653759"/>
            <a:ext cx="651753" cy="29183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AC85967-1280-8A12-B8FE-8890FF5A1FD4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Al Actualizar, automáticamente se crea un nuevo registro para el programa en el período ingresado en la Pestaña Estudiante.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10"/>
            </a:pPr>
            <a:r>
              <a:rPr lang="es-ES_tradnl" sz="1100" dirty="0"/>
              <a:t>Hacer clic sobre ella pestaña </a:t>
            </a:r>
            <a:r>
              <a:rPr lang="es-ES_tradnl" sz="1100" b="1" dirty="0"/>
              <a:t>Currículum</a:t>
            </a:r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82D2E740-2D6D-4CA1-AD9E-17EB25EA25CE}"/>
              </a:ext>
            </a:extLst>
          </p:cNvPr>
          <p:cNvSpPr/>
          <p:nvPr/>
        </p:nvSpPr>
        <p:spPr>
          <a:xfrm rot="10800000">
            <a:off x="10817092" y="6137089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7295EB-4C5B-9CAD-070D-12E49CDB214E}"/>
              </a:ext>
            </a:extLst>
          </p:cNvPr>
          <p:cNvSpPr txBox="1"/>
          <p:nvPr/>
        </p:nvSpPr>
        <p:spPr>
          <a:xfrm>
            <a:off x="10460736" y="6035007"/>
            <a:ext cx="356355" cy="24164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b="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19564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67CC9AD-5281-CB0C-7934-C0E3FE858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71" y="1411164"/>
            <a:ext cx="10512304" cy="497922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Actualización del del estatus del plan de estudios en un período posterior: SGASTDN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2091493" y="2152954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A0ACA2E-B059-FD99-899F-189B29EBE6FF}"/>
              </a:ext>
            </a:extLst>
          </p:cNvPr>
          <p:cNvSpPr txBox="1"/>
          <p:nvPr/>
        </p:nvSpPr>
        <p:spPr>
          <a:xfrm>
            <a:off x="7906723" y="2532888"/>
            <a:ext cx="322877" cy="21945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12</a:t>
            </a:r>
            <a:endParaRPr lang="en-US" sz="1000" b="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8B74219-CE7C-8547-80FA-A1734AD740DE}"/>
              </a:ext>
            </a:extLst>
          </p:cNvPr>
          <p:cNvSpPr txBox="1"/>
          <p:nvPr/>
        </p:nvSpPr>
        <p:spPr>
          <a:xfrm>
            <a:off x="2876175" y="2120492"/>
            <a:ext cx="333369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b="0" dirty="0"/>
              <a:t>11</a:t>
            </a:r>
            <a:endParaRPr lang="en-US" sz="1000" b="0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CB6832B-5D9D-9C9F-B8F5-5C98DE51A0D6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11"/>
            </a:pPr>
            <a:r>
              <a:rPr lang="es-ES_tradnl" sz="1100" dirty="0"/>
              <a:t>Hacer clic sobre ella pestaña </a:t>
            </a:r>
            <a:r>
              <a:rPr lang="es-ES_tradnl" sz="1100" b="1" dirty="0"/>
              <a:t>Plan de estudios</a:t>
            </a:r>
          </a:p>
          <a:p>
            <a:pPr algn="just"/>
            <a:r>
              <a:rPr lang="es-419" sz="1100" dirty="0"/>
              <a:t>Automáticamente se ha creado un nuevo registro para el plan de estudios al haber actualizado el currículum del estudiante</a:t>
            </a:r>
          </a:p>
          <a:p>
            <a:pPr marL="342900" indent="-342900" algn="just">
              <a:buFont typeface="+mj-lt"/>
              <a:buAutoNum type="arabicPeriod" startAt="12"/>
            </a:pPr>
            <a:r>
              <a:rPr lang="es-ES_tradnl" sz="1100" dirty="0"/>
              <a:t>Seleccionar  o digitar el nuevo código del </a:t>
            </a:r>
            <a:r>
              <a:rPr lang="es-ES_tradnl" sz="1100" b="1" dirty="0"/>
              <a:t>estatus</a:t>
            </a:r>
            <a:r>
              <a:rPr lang="es-ES_tradnl" sz="1100" dirty="0"/>
              <a:t> de plan de estudios</a:t>
            </a:r>
          </a:p>
          <a:p>
            <a:pPr marL="342900" indent="-342900" algn="just">
              <a:buFont typeface="+mj-lt"/>
              <a:buAutoNum type="arabicPeriod" startAt="12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b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9A51FDE-99E6-D31A-BCFB-95577BF497D0}"/>
              </a:ext>
            </a:extLst>
          </p:cNvPr>
          <p:cNvSpPr txBox="1"/>
          <p:nvPr/>
        </p:nvSpPr>
        <p:spPr>
          <a:xfrm>
            <a:off x="10812508" y="6101147"/>
            <a:ext cx="341503" cy="20222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000" b="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20520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FA020AD-0520-527D-EFE1-91E5CADB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1225087"/>
            <a:ext cx="10721555" cy="510843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758757" y="326533"/>
            <a:ext cx="11177081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en el que hay registro de inscripción: SFAREGS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88EB5A-2892-1BA8-FB49-570DF4290646}"/>
              </a:ext>
            </a:extLst>
          </p:cNvPr>
          <p:cNvSpPr txBox="1"/>
          <p:nvPr/>
        </p:nvSpPr>
        <p:spPr>
          <a:xfrm>
            <a:off x="1039605" y="1801368"/>
            <a:ext cx="191402" cy="17373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1</a:t>
            </a:r>
            <a:endParaRPr lang="en-US" b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5CC7BD-2C9A-816B-4BCB-DB8B974E2EE9}"/>
              </a:ext>
            </a:extLst>
          </p:cNvPr>
          <p:cNvSpPr txBox="1"/>
          <p:nvPr/>
        </p:nvSpPr>
        <p:spPr>
          <a:xfrm>
            <a:off x="10922402" y="1815084"/>
            <a:ext cx="191402" cy="17373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3</a:t>
            </a:r>
            <a:endParaRPr lang="en-US" b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AAC5D6-F136-300A-D71A-992875C92635}"/>
              </a:ext>
            </a:extLst>
          </p:cNvPr>
          <p:cNvSpPr txBox="1"/>
          <p:nvPr/>
        </p:nvSpPr>
        <p:spPr>
          <a:xfrm>
            <a:off x="6134559" y="1783080"/>
            <a:ext cx="191402" cy="17373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2</a:t>
            </a:r>
            <a:endParaRPr lang="en-US" b="0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1142330-FC69-E221-1EF2-F9BB8E287790}"/>
              </a:ext>
            </a:extLst>
          </p:cNvPr>
          <p:cNvSpPr/>
          <p:nvPr/>
        </p:nvSpPr>
        <p:spPr>
          <a:xfrm>
            <a:off x="1039605" y="5170713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9657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BAAAE9A-8C93-08E6-D4CA-0DFA13B3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50" y="1130710"/>
            <a:ext cx="10951326" cy="51838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2635B818-330F-1A34-19A0-3B238102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57" y="326533"/>
            <a:ext cx="11177081" cy="898555"/>
          </a:xfrm>
        </p:spPr>
        <p:txBody>
          <a:bodyPr/>
          <a:lstStyle/>
          <a:p>
            <a:r>
              <a:rPr lang="es-419" dirty="0"/>
              <a:t>Actualización del estatus del plan de estudios en un período en el que hay registro de inscripción: SFAREGS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2519675" y="1889993"/>
            <a:ext cx="753886" cy="278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7ED1B8-CD9D-1FC1-2F85-59961E1DB925}"/>
              </a:ext>
            </a:extLst>
          </p:cNvPr>
          <p:cNvSpPr txBox="1"/>
          <p:nvPr/>
        </p:nvSpPr>
        <p:spPr>
          <a:xfrm>
            <a:off x="3423847" y="1928051"/>
            <a:ext cx="186499" cy="20789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4</a:t>
            </a:r>
            <a:endParaRPr lang="en-US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6687F82-16F3-6AB9-9AF3-BFE7207F20D5}"/>
              </a:ext>
            </a:extLst>
          </p:cNvPr>
          <p:cNvSpPr txBox="1"/>
          <p:nvPr/>
        </p:nvSpPr>
        <p:spPr>
          <a:xfrm>
            <a:off x="2456117" y="3056515"/>
            <a:ext cx="186499" cy="20789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/>
              <a:t>5</a:t>
            </a:r>
            <a:endParaRPr lang="en-US" b="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0477834-A69D-3274-3F44-E08C1EAF72CD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Plan de Estudios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 o digitar el nuevo código d</a:t>
            </a:r>
            <a:r>
              <a:rPr lang="es-ES_tradnl" sz="1100" dirty="0"/>
              <a:t>el </a:t>
            </a:r>
            <a:r>
              <a:rPr lang="es-ES_tradnl" sz="1100" b="1" dirty="0"/>
              <a:t>estatus</a:t>
            </a:r>
            <a:r>
              <a:rPr lang="es-ES_tradnl" sz="1100" dirty="0"/>
              <a:t> de plan de estudios</a:t>
            </a:r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5FA59E-BD50-2E48-2AB1-E881F84A595E}"/>
              </a:ext>
            </a:extLst>
          </p:cNvPr>
          <p:cNvSpPr txBox="1"/>
          <p:nvPr/>
        </p:nvSpPr>
        <p:spPr>
          <a:xfrm>
            <a:off x="11044455" y="6060400"/>
            <a:ext cx="186499" cy="20789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b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228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Cambio de programa académico</a:t>
            </a:r>
          </a:p>
        </p:txBody>
      </p:sp>
    </p:spTree>
    <p:extLst>
      <p:ext uri="{BB962C8B-B14F-4D97-AF65-F5344CB8AC3E}">
        <p14:creationId xmlns:p14="http://schemas.microsoft.com/office/powerpoint/2010/main" val="3760186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24DFD31-2838-1080-4649-D0A939C60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3" y="1258529"/>
            <a:ext cx="10744928" cy="50165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18F543-88F7-6BB8-AB82-C1A93A91E5AA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6BF7D0-EBCD-2CED-697F-B06967ADA13E}"/>
              </a:ext>
            </a:extLst>
          </p:cNvPr>
          <p:cNvSpPr txBox="1"/>
          <p:nvPr/>
        </p:nvSpPr>
        <p:spPr>
          <a:xfrm>
            <a:off x="1260828" y="1813501"/>
            <a:ext cx="215252" cy="18201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 dirty="0"/>
              <a:t>1</a:t>
            </a:r>
            <a:endParaRPr lang="en-US" b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585CE3-9856-2F24-9A00-6ED283404E54}"/>
              </a:ext>
            </a:extLst>
          </p:cNvPr>
          <p:cNvSpPr txBox="1"/>
          <p:nvPr/>
        </p:nvSpPr>
        <p:spPr>
          <a:xfrm>
            <a:off x="11066067" y="1825203"/>
            <a:ext cx="215252" cy="18201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/>
              <a:t>3</a:t>
            </a:r>
            <a:endParaRPr lang="en-US" b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88E0A2-191E-9463-0D76-6694BB8677EC}"/>
              </a:ext>
            </a:extLst>
          </p:cNvPr>
          <p:cNvSpPr txBox="1"/>
          <p:nvPr/>
        </p:nvSpPr>
        <p:spPr>
          <a:xfrm>
            <a:off x="2829701" y="1995519"/>
            <a:ext cx="215252" cy="18201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b="0" dirty="0"/>
              <a:t>2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42325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D90052A-EB2A-A712-6D3F-70A79F60B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8" y="1103511"/>
            <a:ext cx="10990014" cy="522212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788F4D-D353-7BA1-5FAA-55C6D9583F96}"/>
              </a:ext>
            </a:extLst>
          </p:cNvPr>
          <p:cNvSpPr/>
          <p:nvPr/>
        </p:nvSpPr>
        <p:spPr>
          <a:xfrm>
            <a:off x="1232588" y="1819986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DC1778-F4D0-ED51-B03B-E4AEA7A25824}"/>
              </a:ext>
            </a:extLst>
          </p:cNvPr>
          <p:cNvSpPr/>
          <p:nvPr/>
        </p:nvSpPr>
        <p:spPr>
          <a:xfrm>
            <a:off x="837758" y="2315049"/>
            <a:ext cx="587381" cy="22463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2137253" y="1771974"/>
            <a:ext cx="166673" cy="22463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1607343" y="2273179"/>
            <a:ext cx="166673" cy="22463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5</a:t>
            </a:r>
            <a:endParaRPr lang="en-US" sz="1000" b="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Reemplazar</a:t>
            </a:r>
          </a:p>
        </p:txBody>
      </p:sp>
    </p:spTree>
    <p:extLst>
      <p:ext uri="{BB962C8B-B14F-4D97-AF65-F5344CB8AC3E}">
        <p14:creationId xmlns:p14="http://schemas.microsoft.com/office/powerpoint/2010/main" val="3333945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BC6AAFB-2A96-25BB-1CCF-E00B177A4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67" y="1376516"/>
            <a:ext cx="10427012" cy="494140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4277969" y="3631773"/>
            <a:ext cx="239168" cy="20870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b="0"/>
              <a:t>6</a:t>
            </a:r>
            <a:endParaRPr lang="en-US" b="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4981551"/>
            <a:ext cx="10121654" cy="1190648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6"/>
            </a:pPr>
            <a:r>
              <a:rPr lang="es-419" sz="1100" dirty="0"/>
              <a:t>Seleccionar, NO en el mensaje que aparece, pues se generará un nuevo Plan de estudios para el nuevo programa </a:t>
            </a:r>
          </a:p>
        </p:txBody>
      </p:sp>
    </p:spTree>
    <p:extLst>
      <p:ext uri="{BB962C8B-B14F-4D97-AF65-F5344CB8AC3E}">
        <p14:creationId xmlns:p14="http://schemas.microsoft.com/office/powerpoint/2010/main" val="31615417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7421917-E829-437A-4FE2-14B1F0945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6" y="1533832"/>
            <a:ext cx="10099228" cy="4781073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E66A0CC7-1D3D-B75A-807A-ACF770310369}"/>
              </a:ext>
            </a:extLst>
          </p:cNvPr>
          <p:cNvGrpSpPr/>
          <p:nvPr/>
        </p:nvGrpSpPr>
        <p:grpSpPr>
          <a:xfrm>
            <a:off x="1305813" y="4981551"/>
            <a:ext cx="10121654" cy="1190648"/>
            <a:chOff x="1305813" y="4981551"/>
            <a:chExt cx="10121654" cy="1190648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00E02D58-F66A-BEE0-3967-13AF479338A4}"/>
                </a:ext>
              </a:extLst>
            </p:cNvPr>
            <p:cNvSpPr/>
            <p:nvPr/>
          </p:nvSpPr>
          <p:spPr>
            <a:xfrm>
              <a:off x="1305813" y="4981551"/>
              <a:ext cx="10121654" cy="1190648"/>
            </a:xfrm>
            <a:prstGeom prst="roundRect">
              <a:avLst>
                <a:gd name="adj" fmla="val 144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just">
                <a:buFont typeface="+mj-lt"/>
                <a:buAutoNum type="arabicPeriod" startAt="7"/>
              </a:pPr>
              <a:r>
                <a:rPr lang="es-ES_tradnl" sz="1100" dirty="0"/>
                <a:t>Hacer clic sobre el botón “</a:t>
              </a:r>
              <a:r>
                <a:rPr lang="es-ES_tradnl" sz="1100" b="1" dirty="0"/>
                <a:t>…</a:t>
              </a:r>
              <a:r>
                <a:rPr lang="es-ES_tradnl" sz="1100" dirty="0"/>
                <a:t>” del campo </a:t>
              </a:r>
              <a:r>
                <a:rPr lang="es-ES_tradnl" sz="1100" b="1" dirty="0"/>
                <a:t>Programa</a:t>
              </a:r>
              <a:endParaRPr lang="es-419" sz="1100" b="1" dirty="0"/>
            </a:p>
            <a:p>
              <a:pPr marL="342900" indent="-342900" algn="just">
                <a:buFont typeface="+mj-lt"/>
                <a:buAutoNum type="arabicPeriod" startAt="7"/>
              </a:pPr>
              <a:r>
                <a:rPr lang="es-419" sz="1100" dirty="0"/>
                <a:t>Seleccionar la opción </a:t>
              </a:r>
              <a:r>
                <a:rPr lang="es-419" sz="1100" b="1" dirty="0"/>
                <a:t>Regla de currículo base por programa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54D19D47-CA91-E0EB-313A-9BFC33A0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959" y="5386375"/>
              <a:ext cx="228600" cy="190500"/>
            </a:xfrm>
            <a:prstGeom prst="rect">
              <a:avLst/>
            </a:prstGeom>
          </p:spPr>
        </p:pic>
      </p:grp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2498305" y="3301725"/>
            <a:ext cx="219718" cy="17190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7</a:t>
            </a:r>
            <a:endParaRPr lang="en-US" sz="1000" b="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937B238-F7D0-1EEC-C7F6-D9C53F6F4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599563"/>
            <a:ext cx="2980609" cy="2248662"/>
          </a:xfrm>
          <a:prstGeom prst="rect">
            <a:avLst/>
          </a:prstGeom>
        </p:spPr>
      </p:pic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43F4DE79-9836-6333-A6C8-FAE59FCF6920}"/>
              </a:ext>
            </a:extLst>
          </p:cNvPr>
          <p:cNvSpPr/>
          <p:nvPr/>
        </p:nvSpPr>
        <p:spPr>
          <a:xfrm rot="10800000">
            <a:off x="4111106" y="3513862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3827180" y="3473630"/>
            <a:ext cx="219718" cy="17190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8</a:t>
            </a:r>
            <a:endParaRPr lang="en-US" sz="1000" b="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29A29F7-661A-A5F9-536C-F597DD8B40B5}"/>
              </a:ext>
            </a:extLst>
          </p:cNvPr>
          <p:cNvSpPr/>
          <p:nvPr/>
        </p:nvSpPr>
        <p:spPr>
          <a:xfrm>
            <a:off x="4306050" y="3401546"/>
            <a:ext cx="1987746" cy="24289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3426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3B15D81-B903-D0DE-1B06-FDA53F755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4" y="1432491"/>
            <a:ext cx="10314039" cy="488190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5174774"/>
            <a:ext cx="9774918" cy="87062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9"/>
            </a:pPr>
            <a:r>
              <a:rPr lang="es-419" sz="1100" dirty="0"/>
              <a:t>Seleccionar la regla curricular correspondiente al nuevo programa, según el código de este, y presionar el botón </a:t>
            </a:r>
            <a:r>
              <a:rPr lang="es-419" sz="1100" b="1" dirty="0"/>
              <a:t>OK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4057273" y="3611834"/>
            <a:ext cx="301753" cy="2616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113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04709C7-7DC9-58FE-4E09-47B6D0A17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88" y="1330156"/>
            <a:ext cx="10255939" cy="484204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4578429"/>
            <a:ext cx="10121654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regla curricular seleccionada, incluyendo el campo de estudio y ha asignado una nueva secuencia al Plan de estudios del nuevo Programa.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0402531" y="5919497"/>
            <a:ext cx="341669" cy="25270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10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877422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549DE68-8C26-695A-331C-0852896A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22" y="1297858"/>
            <a:ext cx="10614963" cy="500601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4981551"/>
            <a:ext cx="10121654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Haga clic en la pestaña  </a:t>
            </a:r>
            <a:r>
              <a:rPr lang="es-419" sz="1100" b="1" dirty="0"/>
              <a:t>Plan de Estudios</a:t>
            </a:r>
            <a:r>
              <a:rPr lang="es-419" sz="1100" dirty="0"/>
              <a:t>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Actualice al </a:t>
            </a:r>
            <a:r>
              <a:rPr lang="es-419" sz="1100" b="1" dirty="0"/>
              <a:t>estatus</a:t>
            </a:r>
            <a:r>
              <a:rPr lang="es-419" sz="1100" dirty="0"/>
              <a:t> del Plan de estudios del anterior programa a Inactivo.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b="1" dirty="0"/>
              <a:t>Guarde</a:t>
            </a:r>
            <a:r>
              <a:rPr lang="es-419" sz="1100" dirty="0"/>
              <a:t> la información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386966" y="1876448"/>
            <a:ext cx="322801" cy="23620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11</a:t>
            </a:r>
            <a:endParaRPr lang="en-US" sz="1000" b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609FA6-7619-8FFE-4B30-88F9633F7ECC}"/>
              </a:ext>
            </a:extLst>
          </p:cNvPr>
          <p:cNvSpPr txBox="1"/>
          <p:nvPr/>
        </p:nvSpPr>
        <p:spPr>
          <a:xfrm>
            <a:off x="8055667" y="2370345"/>
            <a:ext cx="329381" cy="23569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12</a:t>
            </a:r>
            <a:endParaRPr lang="en-US" sz="1000" b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A1BCA80-FAAD-9EFC-2B53-639C4E464FAE}"/>
              </a:ext>
            </a:extLst>
          </p:cNvPr>
          <p:cNvSpPr txBox="1"/>
          <p:nvPr/>
        </p:nvSpPr>
        <p:spPr>
          <a:xfrm>
            <a:off x="10780776" y="5968336"/>
            <a:ext cx="353130" cy="27715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13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40605649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99173B-9623-B40A-985E-E41ACCFFA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1279992"/>
            <a:ext cx="10213102" cy="482936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83634" y="3687772"/>
            <a:ext cx="8742859" cy="50484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En nuevo Plan de estudios se ha creado con el estatus activo.</a:t>
            </a:r>
          </a:p>
        </p:txBody>
      </p:sp>
    </p:spTree>
    <p:extLst>
      <p:ext uri="{BB962C8B-B14F-4D97-AF65-F5344CB8AC3E}">
        <p14:creationId xmlns:p14="http://schemas.microsoft.com/office/powerpoint/2010/main" val="39493646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A74969-1F71-C9B7-D3D2-B2D00489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66" y="1404205"/>
            <a:ext cx="10380249" cy="490584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45932"/>
            <a:ext cx="10121654" cy="82739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En la pestaña currículum se puede visualizar que el programa anterior está Inactivo.</a:t>
            </a:r>
          </a:p>
        </p:txBody>
      </p:sp>
    </p:spTree>
    <p:extLst>
      <p:ext uri="{BB962C8B-B14F-4D97-AF65-F5344CB8AC3E}">
        <p14:creationId xmlns:p14="http://schemas.microsoft.com/office/powerpoint/2010/main" val="3302737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173315-1E3C-A419-682D-27AF86B8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66" y="1182756"/>
            <a:ext cx="10825713" cy="51413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posterior: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E0158-183F-35E7-488B-97C804A80F0F}"/>
              </a:ext>
            </a:extLst>
          </p:cNvPr>
          <p:cNvSpPr txBox="1"/>
          <p:nvPr/>
        </p:nvSpPr>
        <p:spPr>
          <a:xfrm>
            <a:off x="4193933" y="1728216"/>
            <a:ext cx="259195" cy="21945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1</a:t>
            </a:r>
            <a:endParaRPr lang="en-US" sz="1000" b="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6C9BC7-FF31-35A2-6A21-92D16A379ED4}"/>
              </a:ext>
            </a:extLst>
          </p:cNvPr>
          <p:cNvSpPr txBox="1"/>
          <p:nvPr/>
        </p:nvSpPr>
        <p:spPr>
          <a:xfrm>
            <a:off x="11065668" y="1728216"/>
            <a:ext cx="259195" cy="21945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3</a:t>
            </a:r>
            <a:endParaRPr lang="en-US" sz="1000" b="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18F543-88F7-6BB8-AB82-C1A93A91E5AA}"/>
              </a:ext>
            </a:extLst>
          </p:cNvPr>
          <p:cNvSpPr/>
          <p:nvPr/>
        </p:nvSpPr>
        <p:spPr>
          <a:xfrm>
            <a:off x="850388" y="515658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DFB7A-222E-9C8D-0E72-FBB3D76D0F26}"/>
              </a:ext>
            </a:extLst>
          </p:cNvPr>
          <p:cNvSpPr txBox="1"/>
          <p:nvPr/>
        </p:nvSpPr>
        <p:spPr>
          <a:xfrm>
            <a:off x="3280229" y="1943660"/>
            <a:ext cx="259195" cy="21945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2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1364813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8CBD0CD-1A3C-8491-C22B-AAE656EB1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23" y="1462614"/>
            <a:ext cx="10451009" cy="4933531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posterior: SAGSTDN</a:t>
            </a:r>
            <a:endParaRPr lang="es-ES_tradnl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5329B1-39B6-B688-036B-3E6AA3BF09B3}"/>
              </a:ext>
            </a:extLst>
          </p:cNvPr>
          <p:cNvSpPr/>
          <p:nvPr/>
        </p:nvSpPr>
        <p:spPr>
          <a:xfrm>
            <a:off x="883005" y="2158177"/>
            <a:ext cx="609603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42D671-B2AC-7D1C-DAEF-9FF50E263A6F}"/>
              </a:ext>
            </a:extLst>
          </p:cNvPr>
          <p:cNvSpPr txBox="1"/>
          <p:nvPr/>
        </p:nvSpPr>
        <p:spPr>
          <a:xfrm>
            <a:off x="883005" y="2611147"/>
            <a:ext cx="260644" cy="1637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4</a:t>
            </a:r>
            <a:endParaRPr lang="en-US" sz="1000" b="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CB95820-6AA3-50F3-BD15-5354ACCC784B}"/>
              </a:ext>
            </a:extLst>
          </p:cNvPr>
          <p:cNvSpPr txBox="1"/>
          <p:nvPr/>
        </p:nvSpPr>
        <p:spPr>
          <a:xfrm>
            <a:off x="4544954" y="4058541"/>
            <a:ext cx="260644" cy="1637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/>
              <a:t>5</a:t>
            </a:r>
            <a:endParaRPr lang="en-US" sz="1000" b="0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CF8622E-D701-1A2A-06A3-597CE0F4E2B2}"/>
              </a:ext>
            </a:extLst>
          </p:cNvPr>
          <p:cNvSpPr/>
          <p:nvPr/>
        </p:nvSpPr>
        <p:spPr>
          <a:xfrm>
            <a:off x="1334996" y="4957924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b="1" dirty="0"/>
              <a:t>En la pestaña de estudiante:</a:t>
            </a:r>
          </a:p>
          <a:p>
            <a:pPr algn="just"/>
            <a:endParaRPr lang="es-419" sz="1100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Periodo nuevo</a:t>
            </a:r>
            <a:endParaRPr lang="es-ES_tradnl" sz="1100" b="1" dirty="0"/>
          </a:p>
          <a:p>
            <a:pPr marL="342900" indent="-342900" algn="just">
              <a:buFont typeface="+mj-lt"/>
              <a:buAutoNum type="arabicPeriod" startAt="4"/>
            </a:pPr>
            <a:r>
              <a:rPr lang="es-419" sz="1100" dirty="0"/>
              <a:t>Seleccionar Crear nuevo periodo de vigencia y digitar el nuevo periodo de cambio de carrera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en el botón </a:t>
            </a:r>
            <a:r>
              <a:rPr lang="es-ES_tradnl" sz="1100" b="1" dirty="0"/>
              <a:t>Guardar</a:t>
            </a:r>
            <a:endParaRPr lang="es-CL" sz="11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B31261E-06B3-AD95-7EA3-FF2CDEF6BB1E}"/>
              </a:ext>
            </a:extLst>
          </p:cNvPr>
          <p:cNvSpPr txBox="1"/>
          <p:nvPr/>
        </p:nvSpPr>
        <p:spPr>
          <a:xfrm>
            <a:off x="10538421" y="6172199"/>
            <a:ext cx="260644" cy="1637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b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4315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402E8C4-ADDD-0622-6EF8-A3B5A1163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54" y="1195942"/>
            <a:ext cx="10793543" cy="513089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326533"/>
            <a:ext cx="10477497" cy="898555"/>
          </a:xfrm>
        </p:spPr>
        <p:txBody>
          <a:bodyPr/>
          <a:lstStyle/>
          <a:p>
            <a:r>
              <a:rPr lang="es-419" dirty="0"/>
              <a:t>Cambio de programa académico en un período posterior: SGASTDN</a:t>
            </a:r>
            <a:endParaRPr lang="es-ES_tradnl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DEC73-0061-4607-B6FB-FF806C1CABCD}"/>
              </a:ext>
            </a:extLst>
          </p:cNvPr>
          <p:cNvSpPr/>
          <p:nvPr/>
        </p:nvSpPr>
        <p:spPr>
          <a:xfrm>
            <a:off x="1281492" y="1935253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DA1EB7-FEE5-6DC9-6F7A-1163AAE45930}"/>
              </a:ext>
            </a:extLst>
          </p:cNvPr>
          <p:cNvSpPr/>
          <p:nvPr/>
        </p:nvSpPr>
        <p:spPr>
          <a:xfrm>
            <a:off x="754597" y="2394679"/>
            <a:ext cx="700606" cy="18825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927212-6947-4855-933D-44C507008EE1}"/>
              </a:ext>
            </a:extLst>
          </p:cNvPr>
          <p:cNvSpPr txBox="1"/>
          <p:nvPr/>
        </p:nvSpPr>
        <p:spPr>
          <a:xfrm>
            <a:off x="2650988" y="1670795"/>
            <a:ext cx="223917" cy="2028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b="0" dirty="0"/>
              <a:t>7</a:t>
            </a:r>
            <a:endParaRPr lang="en-US" sz="1000" b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3F0481-CC3E-CA20-CC73-ADC7A312619D}"/>
              </a:ext>
            </a:extLst>
          </p:cNvPr>
          <p:cNvSpPr txBox="1"/>
          <p:nvPr/>
        </p:nvSpPr>
        <p:spPr>
          <a:xfrm>
            <a:off x="2704689" y="2154872"/>
            <a:ext cx="223917" cy="2028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b="0" dirty="0"/>
              <a:t>8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38E1FAA-37F6-E64E-C394-B861B6D6B18B}"/>
              </a:ext>
            </a:extLst>
          </p:cNvPr>
          <p:cNvSpPr/>
          <p:nvPr/>
        </p:nvSpPr>
        <p:spPr>
          <a:xfrm>
            <a:off x="1281492" y="5005065"/>
            <a:ext cx="10121654" cy="77839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Reemplazar y en el mensaje de Advertencia Seleccionar no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s-ES_tradnl" sz="1100" b="1" dirty="0"/>
              <a:t>Guarde </a:t>
            </a:r>
            <a:r>
              <a:rPr lang="es-ES_tradnl" sz="1100" dirty="0"/>
              <a:t>los cambios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93B87D6-7D48-3263-3F6F-D47D3468A8EA}"/>
              </a:ext>
            </a:extLst>
          </p:cNvPr>
          <p:cNvSpPr txBox="1"/>
          <p:nvPr/>
        </p:nvSpPr>
        <p:spPr>
          <a:xfrm>
            <a:off x="10555251" y="6035040"/>
            <a:ext cx="252957" cy="1945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b="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47924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A85A63-34F8-E090-E786-B77E1C2A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81539"/>
            <a:ext cx="10442602" cy="491897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posterior: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140443" y="5039917"/>
            <a:ext cx="10121654" cy="103014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creado un registro del programa en el período ingresado en el paso anterior. </a:t>
            </a:r>
          </a:p>
          <a:p>
            <a:pPr algn="just"/>
            <a:r>
              <a:rPr lang="es-419" sz="1100" dirty="0"/>
              <a:t>Puede proceder, ahora, a repetir los pasos del 5 en adelante del  procedimiento de Cambio de programa académico en el mismo  período (diapositivas 38 a la 44)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DB3256-EC71-D158-8A06-746C42DA8948}"/>
              </a:ext>
            </a:extLst>
          </p:cNvPr>
          <p:cNvSpPr/>
          <p:nvPr/>
        </p:nvSpPr>
        <p:spPr>
          <a:xfrm>
            <a:off x="2967271" y="2600938"/>
            <a:ext cx="676508" cy="38355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88950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E5E2344-68A4-2F7A-5FF2-E6D709B7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7" y="1107026"/>
            <a:ext cx="10527053" cy="522101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AF3AB0-DA14-B7EE-6199-C1A677398787}"/>
              </a:ext>
            </a:extLst>
          </p:cNvPr>
          <p:cNvSpPr/>
          <p:nvPr/>
        </p:nvSpPr>
        <p:spPr>
          <a:xfrm>
            <a:off x="10857179" y="1296646"/>
            <a:ext cx="722279" cy="22251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D86DC1-3EFA-7B36-025C-B64839332BF9}"/>
              </a:ext>
            </a:extLst>
          </p:cNvPr>
          <p:cNvSpPr txBox="1"/>
          <p:nvPr/>
        </p:nvSpPr>
        <p:spPr>
          <a:xfrm>
            <a:off x="3143489" y="1351646"/>
            <a:ext cx="248936" cy="1675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1</a:t>
            </a:r>
            <a:endParaRPr lang="en-US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94C97A-C4D5-75BB-8817-D64C7A01C3EE}"/>
              </a:ext>
            </a:extLst>
          </p:cNvPr>
          <p:cNvSpPr txBox="1"/>
          <p:nvPr/>
        </p:nvSpPr>
        <p:spPr>
          <a:xfrm>
            <a:off x="10502936" y="1351646"/>
            <a:ext cx="248936" cy="1675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3</a:t>
            </a:r>
            <a:endParaRPr lang="en-US" sz="1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4819FCE-9C60-1F60-87CF-C9CE5FAFD0F0}"/>
              </a:ext>
            </a:extLst>
          </p:cNvPr>
          <p:cNvSpPr txBox="1"/>
          <p:nvPr/>
        </p:nvSpPr>
        <p:spPr>
          <a:xfrm>
            <a:off x="6181735" y="1324145"/>
            <a:ext cx="248936" cy="16751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2</a:t>
            </a:r>
            <a:endParaRPr lang="en-US" sz="10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EBCFA01-C2AE-9FB0-70C9-7ECFF9F6F4A8}"/>
              </a:ext>
            </a:extLst>
          </p:cNvPr>
          <p:cNvSpPr/>
          <p:nvPr/>
        </p:nvSpPr>
        <p:spPr>
          <a:xfrm>
            <a:off x="913448" y="5053981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4775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F731A57-8BDF-A981-8611-A39D1CBD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5" y="1113304"/>
            <a:ext cx="11128039" cy="529685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EBCFA01-C2AE-9FB0-70C9-7ECFF9F6F4A8}"/>
              </a:ext>
            </a:extLst>
          </p:cNvPr>
          <p:cNvSpPr/>
          <p:nvPr/>
        </p:nvSpPr>
        <p:spPr>
          <a:xfrm>
            <a:off x="1063961" y="5087566"/>
            <a:ext cx="10477498" cy="85214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L" sz="1100" dirty="0"/>
              <a:t>Antes de continuar, debe eliminar los registros de asignaturas inscritas y el Plan de Estudios de Ingreso (asociado al plan de estudios del programa al que está “renunciando” el estudiante).</a:t>
            </a:r>
          </a:p>
          <a:p>
            <a:pPr algn="just"/>
            <a:r>
              <a:rPr lang="es-CL" sz="1100" dirty="0"/>
              <a:t>Para esto puede consultar el instructivo del proceso </a:t>
            </a:r>
            <a:r>
              <a:rPr lang="es-419" sz="1100" dirty="0"/>
              <a:t> Gestionar Inscripción de Materia y Matrícula.</a:t>
            </a:r>
          </a:p>
          <a:p>
            <a:pPr algn="just"/>
            <a:r>
              <a:rPr lang="es-419" sz="1100" dirty="0"/>
              <a:t>El registro en la página debe quedar como muestra la imagen.</a:t>
            </a:r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3624726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11767-C675-5146-E443-F84FFF8B9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5" y="1192695"/>
            <a:ext cx="10822564" cy="512053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23C396-5732-36C8-3171-7C8BA5F0F781}"/>
              </a:ext>
            </a:extLst>
          </p:cNvPr>
          <p:cNvSpPr/>
          <p:nvPr/>
        </p:nvSpPr>
        <p:spPr>
          <a:xfrm>
            <a:off x="2032666" y="2025819"/>
            <a:ext cx="674612" cy="16972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E7A3B3E-A117-934D-3BA6-714D1A84F184}"/>
              </a:ext>
            </a:extLst>
          </p:cNvPr>
          <p:cNvSpPr/>
          <p:nvPr/>
        </p:nvSpPr>
        <p:spPr>
          <a:xfrm>
            <a:off x="801055" y="2465108"/>
            <a:ext cx="626014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02B8DE-652F-4791-418A-4C872F8ED9AE}"/>
              </a:ext>
            </a:extLst>
          </p:cNvPr>
          <p:cNvSpPr txBox="1"/>
          <p:nvPr/>
        </p:nvSpPr>
        <p:spPr>
          <a:xfrm>
            <a:off x="2874665" y="2025819"/>
            <a:ext cx="225152" cy="26000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342900" indent="-342900" algn="just">
              <a:buFont typeface="+mj-lt"/>
              <a:buAutoNum type="arabicPeriod" startAt="4"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ctr">
              <a:buNone/>
            </a:pPr>
            <a:r>
              <a:rPr lang="es-CO" dirty="0"/>
              <a:t>4</a:t>
            </a:r>
            <a:endParaRPr lang="en-U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E498C3F-3113-0DB9-F6F3-5B59A09C9BBD}"/>
              </a:ext>
            </a:extLst>
          </p:cNvPr>
          <p:cNvSpPr txBox="1"/>
          <p:nvPr/>
        </p:nvSpPr>
        <p:spPr>
          <a:xfrm>
            <a:off x="1618524" y="2420544"/>
            <a:ext cx="225152" cy="26000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dirty="0"/>
              <a:t>5</a:t>
            </a:r>
            <a:endParaRPr lang="en-U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26C7F09-E4CB-8D81-73BD-1A4E64A60B63}"/>
              </a:ext>
            </a:extLst>
          </p:cNvPr>
          <p:cNvSpPr/>
          <p:nvPr/>
        </p:nvSpPr>
        <p:spPr>
          <a:xfrm>
            <a:off x="1006798" y="4831465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Reemplazar</a:t>
            </a:r>
          </a:p>
        </p:txBody>
      </p:sp>
    </p:spTree>
    <p:extLst>
      <p:ext uri="{BB962C8B-B14F-4D97-AF65-F5344CB8AC3E}">
        <p14:creationId xmlns:p14="http://schemas.microsoft.com/office/powerpoint/2010/main" val="39004324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68648F-0004-23EF-1E55-EF05B90A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8" y="1178506"/>
            <a:ext cx="10834139" cy="514593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 : SFAREGS</a:t>
            </a:r>
            <a:endParaRPr lang="es-ES_tradnl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02B8DE-652F-4791-418A-4C872F8ED9AE}"/>
              </a:ext>
            </a:extLst>
          </p:cNvPr>
          <p:cNvSpPr txBox="1"/>
          <p:nvPr/>
        </p:nvSpPr>
        <p:spPr>
          <a:xfrm>
            <a:off x="3951005" y="3751473"/>
            <a:ext cx="301753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6</a:t>
            </a:r>
            <a:endParaRPr lang="en-US" sz="10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FC7470D-E6B6-AD1D-81BB-2BA3FC5418C2}"/>
              </a:ext>
            </a:extLst>
          </p:cNvPr>
          <p:cNvSpPr/>
          <p:nvPr/>
        </p:nvSpPr>
        <p:spPr>
          <a:xfrm>
            <a:off x="938705" y="5071509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6"/>
            </a:pPr>
            <a:r>
              <a:rPr lang="es-419" sz="1100" dirty="0"/>
              <a:t>Seleccionar, NO en el mensaje que aparece, pues se generará un nuevo Plan de estudios para el nuevo programa </a:t>
            </a:r>
          </a:p>
        </p:txBody>
      </p:sp>
    </p:spTree>
    <p:extLst>
      <p:ext uri="{BB962C8B-B14F-4D97-AF65-F5344CB8AC3E}">
        <p14:creationId xmlns:p14="http://schemas.microsoft.com/office/powerpoint/2010/main" val="39054477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2167352-B9DA-5322-3615-42469395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6" y="1381539"/>
            <a:ext cx="10418917" cy="493470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 : SFAREGS</a:t>
            </a:r>
            <a:endParaRPr lang="es-ES_tradnl" b="1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28D7278-AD7F-B185-7FD5-8E251481F552}"/>
              </a:ext>
            </a:extLst>
          </p:cNvPr>
          <p:cNvGrpSpPr/>
          <p:nvPr/>
        </p:nvGrpSpPr>
        <p:grpSpPr>
          <a:xfrm>
            <a:off x="1291689" y="5144490"/>
            <a:ext cx="9608621" cy="973036"/>
            <a:chOff x="1305813" y="4981551"/>
            <a:chExt cx="10121654" cy="1190648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6E1309F-E866-4560-CC25-5E231E862E53}"/>
                </a:ext>
              </a:extLst>
            </p:cNvPr>
            <p:cNvSpPr/>
            <p:nvPr/>
          </p:nvSpPr>
          <p:spPr>
            <a:xfrm>
              <a:off x="1305813" y="4981551"/>
              <a:ext cx="10121654" cy="1190648"/>
            </a:xfrm>
            <a:prstGeom prst="roundRect">
              <a:avLst>
                <a:gd name="adj" fmla="val 144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just">
                <a:buFont typeface="+mj-lt"/>
                <a:buAutoNum type="arabicPeriod" startAt="7"/>
              </a:pPr>
              <a:r>
                <a:rPr lang="es-ES_tradnl" sz="1100" dirty="0"/>
                <a:t>Hacer clic sobre el botón “</a:t>
              </a:r>
              <a:r>
                <a:rPr lang="es-ES_tradnl" sz="1100" b="1" dirty="0"/>
                <a:t>…</a:t>
              </a:r>
              <a:r>
                <a:rPr lang="es-ES_tradnl" sz="1100" dirty="0"/>
                <a:t>” del campo </a:t>
              </a:r>
              <a:r>
                <a:rPr lang="es-ES_tradnl" sz="1100" b="1" dirty="0"/>
                <a:t>Programa</a:t>
              </a:r>
              <a:endParaRPr lang="es-419" sz="1100" b="1" dirty="0"/>
            </a:p>
            <a:p>
              <a:pPr marL="342900" indent="-342900" algn="just">
                <a:buFont typeface="+mj-lt"/>
                <a:buAutoNum type="arabicPeriod" startAt="7"/>
              </a:pPr>
              <a:r>
                <a:rPr lang="es-419" sz="1100" dirty="0"/>
                <a:t>Seleccionar la opción </a:t>
              </a:r>
              <a:r>
                <a:rPr lang="es-419" sz="1100" b="1" dirty="0"/>
                <a:t>Regla de currículo base por programa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650E4D3-1A75-BCC7-CA01-E8BEF471A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959" y="5386375"/>
              <a:ext cx="228600" cy="190500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625C0B-CA63-0EB2-9FCC-EB986403EA79}"/>
              </a:ext>
            </a:extLst>
          </p:cNvPr>
          <p:cNvSpPr txBox="1"/>
          <p:nvPr/>
        </p:nvSpPr>
        <p:spPr>
          <a:xfrm>
            <a:off x="2523744" y="3346703"/>
            <a:ext cx="219157" cy="2194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/>
              <a:t>7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F2A8E4-792B-49DD-85BE-2988565621E1}"/>
              </a:ext>
            </a:extLst>
          </p:cNvPr>
          <p:cNvSpPr txBox="1"/>
          <p:nvPr/>
        </p:nvSpPr>
        <p:spPr>
          <a:xfrm>
            <a:off x="3992340" y="3705352"/>
            <a:ext cx="219157" cy="2194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dirty="0"/>
              <a:t>8</a:t>
            </a:r>
            <a:endParaRPr lang="en-U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AE8E866-2DDA-BF4F-1750-ECE5EE91FC86}"/>
              </a:ext>
            </a:extLst>
          </p:cNvPr>
          <p:cNvSpPr/>
          <p:nvPr/>
        </p:nvSpPr>
        <p:spPr>
          <a:xfrm>
            <a:off x="4415381" y="3727442"/>
            <a:ext cx="1987746" cy="24289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17480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60F8779-8424-912C-53E6-608E170A7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8" y="1202635"/>
            <a:ext cx="10796376" cy="511377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 : SFAREGS</a:t>
            </a:r>
            <a:endParaRPr lang="es-ES_tradnl" b="1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BBD767-E7DD-D7B8-B989-09DD275E17E1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9"/>
            </a:pPr>
            <a:r>
              <a:rPr lang="es-419" sz="1100" dirty="0"/>
              <a:t>Seleccionar la regla curricular correspondiente al nuevo programa, según el código de este, y presionar el botón </a:t>
            </a:r>
            <a:r>
              <a:rPr lang="es-419" sz="1100" b="1" dirty="0"/>
              <a:t>OK</a:t>
            </a:r>
            <a:r>
              <a:rPr lang="es-419" sz="1100" dirty="0"/>
              <a:t>. El sistema tomó el nuevo programa en el nuevo registro de currículum.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584A213-4589-C939-FB9D-92EC644575CF}"/>
              </a:ext>
            </a:extLst>
          </p:cNvPr>
          <p:cNvSpPr txBox="1"/>
          <p:nvPr/>
        </p:nvSpPr>
        <p:spPr>
          <a:xfrm>
            <a:off x="3877247" y="3428998"/>
            <a:ext cx="264986" cy="21945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37898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8CFBD89-DFF7-FF44-A0AF-C0F7B255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18" y="1305807"/>
            <a:ext cx="10535676" cy="497670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 : SFAREGS</a:t>
            </a:r>
            <a:endParaRPr lang="es-ES_tradnl" b="1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DD0BCC0-05DC-2CF4-122D-EBE4C00A773F}"/>
              </a:ext>
            </a:extLst>
          </p:cNvPr>
          <p:cNvSpPr/>
          <p:nvPr/>
        </p:nvSpPr>
        <p:spPr>
          <a:xfrm>
            <a:off x="1131642" y="4923986"/>
            <a:ext cx="10121654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regla curricular seleccionada, incluyendo el campo de estudio y ha asignado una nueva secuencia al Plan de estudios del nuevo Programa.</a:t>
            </a:r>
          </a:p>
          <a:p>
            <a:pPr marL="342900" indent="-342900" algn="just">
              <a:buFont typeface="+mj-lt"/>
              <a:buAutoNum type="arabicPeriod" startAt="10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8343E95-37FB-B536-C298-4DB6A6C65377}"/>
              </a:ext>
            </a:extLst>
          </p:cNvPr>
          <p:cNvSpPr txBox="1"/>
          <p:nvPr/>
        </p:nvSpPr>
        <p:spPr>
          <a:xfrm>
            <a:off x="10460641" y="5993581"/>
            <a:ext cx="338423" cy="2889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585232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21BEBBF-5CC9-B442-05F0-98D7A5C3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74" y="1234394"/>
            <a:ext cx="10587878" cy="504552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Cambio de programa académico </a:t>
            </a:r>
            <a:r>
              <a:rPr lang="es-419" dirty="0"/>
              <a:t>en un período con inscripción : SFAREGS</a:t>
            </a:r>
            <a:endParaRPr lang="es-ES_tradnl" b="1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E5DAA8E-DF05-0F25-09DB-BAA5DD07CA2D}"/>
              </a:ext>
            </a:extLst>
          </p:cNvPr>
          <p:cNvSpPr/>
          <p:nvPr/>
        </p:nvSpPr>
        <p:spPr>
          <a:xfrm>
            <a:off x="913448" y="5108688"/>
            <a:ext cx="9945439" cy="89855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Haga clic en la pestaña  </a:t>
            </a:r>
            <a:r>
              <a:rPr lang="es-419" sz="1100" b="1" dirty="0"/>
              <a:t>Plan de Estudios</a:t>
            </a:r>
            <a:r>
              <a:rPr lang="es-419" sz="1100" dirty="0"/>
              <a:t>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Actualice al </a:t>
            </a:r>
            <a:r>
              <a:rPr lang="es-419" sz="1100" b="1" dirty="0"/>
              <a:t>estatus</a:t>
            </a:r>
            <a:r>
              <a:rPr lang="es-419" sz="1100" dirty="0"/>
              <a:t> del Plan de estudios del anterior programa a Inactivo.</a:t>
            </a:r>
          </a:p>
          <a:p>
            <a:pPr marL="342900" indent="-342900" algn="just">
              <a:buFont typeface="+mj-lt"/>
              <a:buAutoNum type="arabicPeriod" startAt="11"/>
            </a:pPr>
            <a:r>
              <a:rPr lang="es-419" sz="1100" b="1" dirty="0"/>
              <a:t>Guarde</a:t>
            </a:r>
            <a:r>
              <a:rPr lang="es-419" sz="1100" dirty="0"/>
              <a:t> la información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DB5D17-F478-68D8-63F9-E1C4A8F3ACC3}"/>
              </a:ext>
            </a:extLst>
          </p:cNvPr>
          <p:cNvSpPr txBox="1"/>
          <p:nvPr/>
        </p:nvSpPr>
        <p:spPr>
          <a:xfrm>
            <a:off x="3206206" y="2395728"/>
            <a:ext cx="323378" cy="20116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11</a:t>
            </a:r>
            <a:endParaRPr lang="en-US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51DACF-823A-83DF-8076-10D3D89C0AEB}"/>
              </a:ext>
            </a:extLst>
          </p:cNvPr>
          <p:cNvSpPr txBox="1"/>
          <p:nvPr/>
        </p:nvSpPr>
        <p:spPr>
          <a:xfrm>
            <a:off x="2361777" y="3579206"/>
            <a:ext cx="349676" cy="2155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12</a:t>
            </a:r>
            <a:endParaRPr lang="en-US" sz="10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8B0536E-A2FC-F1C4-E0AB-82BD6E56AB74}"/>
              </a:ext>
            </a:extLst>
          </p:cNvPr>
          <p:cNvSpPr txBox="1"/>
          <p:nvPr/>
        </p:nvSpPr>
        <p:spPr>
          <a:xfrm>
            <a:off x="10320794" y="6020593"/>
            <a:ext cx="350253" cy="20538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66569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Dos carreras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El estudiante, a partir de cierto período, cursará dos carreras simultáneamente.</a:t>
            </a:r>
          </a:p>
        </p:txBody>
      </p:sp>
    </p:spTree>
    <p:extLst>
      <p:ext uri="{BB962C8B-B14F-4D97-AF65-F5344CB8AC3E}">
        <p14:creationId xmlns:p14="http://schemas.microsoft.com/office/powerpoint/2010/main" val="18115155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083DA2B-D11A-69FE-3157-8F77FE147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88" y="1192695"/>
            <a:ext cx="10833009" cy="511417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E0158-183F-35E7-488B-97C804A80F0F}"/>
              </a:ext>
            </a:extLst>
          </p:cNvPr>
          <p:cNvSpPr txBox="1"/>
          <p:nvPr/>
        </p:nvSpPr>
        <p:spPr>
          <a:xfrm>
            <a:off x="4114421" y="1729042"/>
            <a:ext cx="219836" cy="2186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1</a:t>
            </a:r>
            <a:endParaRPr lang="en-US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6C9BC7-FF31-35A2-6A21-92D16A379ED4}"/>
              </a:ext>
            </a:extLst>
          </p:cNvPr>
          <p:cNvSpPr txBox="1"/>
          <p:nvPr/>
        </p:nvSpPr>
        <p:spPr>
          <a:xfrm>
            <a:off x="10846399" y="1777781"/>
            <a:ext cx="219836" cy="2186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3</a:t>
            </a:r>
            <a:endParaRPr lang="en-US" sz="100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18F543-88F7-6BB8-AB82-C1A93A91E5AA}"/>
              </a:ext>
            </a:extLst>
          </p:cNvPr>
          <p:cNvSpPr/>
          <p:nvPr/>
        </p:nvSpPr>
        <p:spPr>
          <a:xfrm>
            <a:off x="850388" y="5156580"/>
            <a:ext cx="10530303" cy="89855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DFB7A-222E-9C8D-0E72-FBB3D76D0F26}"/>
              </a:ext>
            </a:extLst>
          </p:cNvPr>
          <p:cNvSpPr txBox="1"/>
          <p:nvPr/>
        </p:nvSpPr>
        <p:spPr>
          <a:xfrm>
            <a:off x="3045105" y="1911924"/>
            <a:ext cx="219836" cy="2186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19010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1E54ADA-451E-A36F-2C55-AEFED3B3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8" y="1055009"/>
            <a:ext cx="11086866" cy="527365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788F4D-D353-7BA1-5FAA-55C6D9583F96}"/>
              </a:ext>
            </a:extLst>
          </p:cNvPr>
          <p:cNvSpPr/>
          <p:nvPr/>
        </p:nvSpPr>
        <p:spPr>
          <a:xfrm>
            <a:off x="1263888" y="1809692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DC1778-F4D0-ED51-B03B-E4AEA7A25824}"/>
              </a:ext>
            </a:extLst>
          </p:cNvPr>
          <p:cNvSpPr/>
          <p:nvPr/>
        </p:nvSpPr>
        <p:spPr>
          <a:xfrm>
            <a:off x="11148125" y="2065131"/>
            <a:ext cx="227717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2155149" y="1806893"/>
            <a:ext cx="211377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dirty="0"/>
              <a:t>4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10830341" y="2055943"/>
            <a:ext cx="211377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dirty="0"/>
              <a:t>5</a:t>
            </a:r>
            <a:endParaRPr lang="en-US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opción </a:t>
            </a:r>
            <a:r>
              <a:rPr lang="es-ES_tradnl" sz="1100" b="1" dirty="0"/>
              <a:t>Insertar</a:t>
            </a:r>
          </a:p>
        </p:txBody>
      </p:sp>
    </p:spTree>
    <p:extLst>
      <p:ext uri="{BB962C8B-B14F-4D97-AF65-F5344CB8AC3E}">
        <p14:creationId xmlns:p14="http://schemas.microsoft.com/office/powerpoint/2010/main" val="2076733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C5A44D6-0062-AE68-B064-D263AEC8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182757"/>
            <a:ext cx="10848524" cy="512746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6"/>
            </a:pPr>
            <a:r>
              <a:rPr lang="es-ES_tradnl" sz="1100" dirty="0"/>
              <a:t>Hacer clic sobre el botón “</a:t>
            </a:r>
            <a:r>
              <a:rPr lang="es-ES_tradnl" sz="1100" b="1" dirty="0"/>
              <a:t>…</a:t>
            </a:r>
            <a:r>
              <a:rPr lang="es-ES_tradnl" sz="1100" dirty="0"/>
              <a:t>” del campo </a:t>
            </a:r>
            <a:r>
              <a:rPr lang="es-ES_tradnl" sz="1100" b="1" dirty="0"/>
              <a:t>Programa</a:t>
            </a:r>
            <a:endParaRPr lang="es-419" sz="1100" b="1" dirty="0"/>
          </a:p>
          <a:p>
            <a:pPr marL="342900" indent="-342900" algn="just">
              <a:buFont typeface="+mj-lt"/>
              <a:buAutoNum type="arabicPeriod" startAt="6"/>
            </a:pPr>
            <a:r>
              <a:rPr lang="es-419" sz="1100" dirty="0"/>
              <a:t>Seleccionar la opción </a:t>
            </a:r>
            <a:r>
              <a:rPr lang="es-419" sz="1100" b="1" dirty="0"/>
              <a:t>Regla de currículo base por programa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7B16A5-141F-D4F9-D192-39807C01FAC4}"/>
              </a:ext>
            </a:extLst>
          </p:cNvPr>
          <p:cNvSpPr txBox="1"/>
          <p:nvPr/>
        </p:nvSpPr>
        <p:spPr>
          <a:xfrm>
            <a:off x="2514106" y="3174025"/>
            <a:ext cx="265003" cy="16134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6</a:t>
            </a:r>
            <a:endParaRPr lang="en-US" sz="10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BE0A37B-9CCE-8FB2-AE6E-2B922EA9708E}"/>
              </a:ext>
            </a:extLst>
          </p:cNvPr>
          <p:cNvSpPr txBox="1"/>
          <p:nvPr/>
        </p:nvSpPr>
        <p:spPr>
          <a:xfrm>
            <a:off x="4352717" y="3703321"/>
            <a:ext cx="265003" cy="16134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7</a:t>
            </a:r>
            <a:endParaRPr lang="en-US" sz="10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0A49D4-C63B-81C5-A4BC-DAE69CEBA269}"/>
              </a:ext>
            </a:extLst>
          </p:cNvPr>
          <p:cNvSpPr/>
          <p:nvPr/>
        </p:nvSpPr>
        <p:spPr>
          <a:xfrm>
            <a:off x="4808394" y="3621771"/>
            <a:ext cx="1987746" cy="24289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268684F-D140-719C-CB34-D50C25A2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407" y="5386375"/>
            <a:ext cx="2286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957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4C5E33D-4B12-7896-559A-E11C2B5A7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8" y="1330945"/>
            <a:ext cx="10516484" cy="499134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8"/>
            </a:pPr>
            <a:r>
              <a:rPr lang="es-419" sz="1100" dirty="0"/>
              <a:t>Seleccionar la regla curricular correspondiente al nuevo programa, según el código de este, y presionar el botón </a:t>
            </a:r>
            <a:r>
              <a:rPr lang="es-419" sz="1100" b="1" dirty="0"/>
              <a:t>OK</a:t>
            </a:r>
            <a:r>
              <a:rPr lang="es-419" sz="1100" dirty="0"/>
              <a:t>. El sistema tomó el nuevo programa en el nuevo registro de currículum.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BE0A37B-9CCE-8FB2-AE6E-2B922EA9708E}"/>
              </a:ext>
            </a:extLst>
          </p:cNvPr>
          <p:cNvSpPr txBox="1"/>
          <p:nvPr/>
        </p:nvSpPr>
        <p:spPr>
          <a:xfrm>
            <a:off x="3946609" y="3993204"/>
            <a:ext cx="232199" cy="21303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CO" sz="1000" dirty="0"/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385829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0D2A461-E5B0-08AC-240B-9B5C646C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12" y="1089916"/>
            <a:ext cx="11042375" cy="522181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D3647A-77CC-8699-58F9-97AB5F356ECB}"/>
              </a:ext>
            </a:extLst>
          </p:cNvPr>
          <p:cNvSpPr txBox="1"/>
          <p:nvPr/>
        </p:nvSpPr>
        <p:spPr>
          <a:xfrm>
            <a:off x="11119350" y="6047235"/>
            <a:ext cx="232194" cy="17068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0" algn="just">
              <a:buFont typeface="+mj-lt"/>
              <a:buNone/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9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E7AC733-E515-F7C0-CC67-E170FA4268E3}"/>
              </a:ext>
            </a:extLst>
          </p:cNvPr>
          <p:cNvSpPr/>
          <p:nvPr/>
        </p:nvSpPr>
        <p:spPr>
          <a:xfrm>
            <a:off x="1232588" y="5111071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regla curricular seleccionada, incluyendo el campo de estudio y ha asignado una nueva secuencia al Plan de estudios del nuevo Programa.</a:t>
            </a:r>
          </a:p>
          <a:p>
            <a:pPr marL="342900" indent="-342900" algn="just">
              <a:buFont typeface="+mj-lt"/>
              <a:buAutoNum type="arabicPeriod" startAt="9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9364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7E0064-8CA5-F084-C2A2-08052CED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8" y="1402922"/>
            <a:ext cx="8197105" cy="30600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F598005-AEB2-B330-EA1D-B4F2CC799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922" y="2353841"/>
            <a:ext cx="8300241" cy="31158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E7AC733-E515-F7C0-CC67-E170FA4268E3}"/>
              </a:ext>
            </a:extLst>
          </p:cNvPr>
          <p:cNvSpPr/>
          <p:nvPr/>
        </p:nvSpPr>
        <p:spPr>
          <a:xfrm>
            <a:off x="1054666" y="5402901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Dado que el estudiante cursará los dos programas simultáneamente, ambos registros deben quedar activos tanto a nivel de los currículos…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C7C4ED-75A5-1999-7F36-6A523EFE3AFC}"/>
              </a:ext>
            </a:extLst>
          </p:cNvPr>
          <p:cNvSpPr/>
          <p:nvPr/>
        </p:nvSpPr>
        <p:spPr>
          <a:xfrm>
            <a:off x="724592" y="2335859"/>
            <a:ext cx="2062265" cy="32336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2FC01D-CA01-FF13-74AB-B4EBE045F306}"/>
              </a:ext>
            </a:extLst>
          </p:cNvPr>
          <p:cNvSpPr/>
          <p:nvPr/>
        </p:nvSpPr>
        <p:spPr>
          <a:xfrm>
            <a:off x="3172925" y="3337517"/>
            <a:ext cx="2062265" cy="32336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B506A20-343C-9F6F-78C7-D85C4D21E42D}"/>
              </a:ext>
            </a:extLst>
          </p:cNvPr>
          <p:cNvSpPr/>
          <p:nvPr/>
        </p:nvSpPr>
        <p:spPr>
          <a:xfrm>
            <a:off x="3412808" y="3823272"/>
            <a:ext cx="2174252" cy="20070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A2FE9BE-95BD-9A93-121A-1D059C03D7C5}"/>
              </a:ext>
            </a:extLst>
          </p:cNvPr>
          <p:cNvSpPr/>
          <p:nvPr/>
        </p:nvSpPr>
        <p:spPr>
          <a:xfrm>
            <a:off x="865759" y="2818739"/>
            <a:ext cx="2062266" cy="18839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18171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836DC1E-1A03-D7CD-B5FC-6E271C3E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11" y="1178246"/>
            <a:ext cx="9243391" cy="23813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331F74-9EFE-18C3-E70E-90279E22B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30" y="2760816"/>
            <a:ext cx="8559102" cy="220618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56454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E7AC733-E515-F7C0-CC67-E170FA4268E3}"/>
              </a:ext>
            </a:extLst>
          </p:cNvPr>
          <p:cNvSpPr/>
          <p:nvPr/>
        </p:nvSpPr>
        <p:spPr>
          <a:xfrm>
            <a:off x="1054666" y="5402901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… como a nivel de los Planes de Estudios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C7C4ED-75A5-1999-7F36-6A523EFE3AFC}"/>
              </a:ext>
            </a:extLst>
          </p:cNvPr>
          <p:cNvSpPr/>
          <p:nvPr/>
        </p:nvSpPr>
        <p:spPr>
          <a:xfrm>
            <a:off x="778211" y="2138575"/>
            <a:ext cx="7480572" cy="32336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2FC01D-CA01-FF13-74AB-B4EBE045F306}"/>
              </a:ext>
            </a:extLst>
          </p:cNvPr>
          <p:cNvSpPr/>
          <p:nvPr/>
        </p:nvSpPr>
        <p:spPr>
          <a:xfrm>
            <a:off x="3444830" y="3629562"/>
            <a:ext cx="7490771" cy="41424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2393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27A9B8F-D07E-2047-90F0-D543919D9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4" y="1108677"/>
            <a:ext cx="10998451" cy="520555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D86DC1-3EFA-7B36-025C-B64839332BF9}"/>
              </a:ext>
            </a:extLst>
          </p:cNvPr>
          <p:cNvSpPr txBox="1"/>
          <p:nvPr/>
        </p:nvSpPr>
        <p:spPr>
          <a:xfrm>
            <a:off x="3031431" y="1696296"/>
            <a:ext cx="242122" cy="22394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dirty="0"/>
              <a:t>1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94C97A-C4D5-75BB-8817-D64C7A01C3EE}"/>
              </a:ext>
            </a:extLst>
          </p:cNvPr>
          <p:cNvSpPr txBox="1"/>
          <p:nvPr/>
        </p:nvSpPr>
        <p:spPr>
          <a:xfrm>
            <a:off x="10953475" y="1696296"/>
            <a:ext cx="242122" cy="22394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/>
              <a:t>3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4819FCE-9C60-1F60-87CF-C9CE5FAFD0F0}"/>
              </a:ext>
            </a:extLst>
          </p:cNvPr>
          <p:cNvSpPr txBox="1"/>
          <p:nvPr/>
        </p:nvSpPr>
        <p:spPr>
          <a:xfrm>
            <a:off x="5873281" y="1664794"/>
            <a:ext cx="242122" cy="22394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/>
              <a:t>2</a:t>
            </a:r>
            <a:endParaRPr lang="en-U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EBCFA01-C2AE-9FB0-70C9-7ECFF9F6F4A8}"/>
              </a:ext>
            </a:extLst>
          </p:cNvPr>
          <p:cNvSpPr/>
          <p:nvPr/>
        </p:nvSpPr>
        <p:spPr>
          <a:xfrm>
            <a:off x="913448" y="5053981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47559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12E81E5-9518-60AD-93DB-C02AE863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5" y="1162877"/>
            <a:ext cx="10875048" cy="515671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23C396-5732-36C8-3171-7C8BA5F0F781}"/>
              </a:ext>
            </a:extLst>
          </p:cNvPr>
          <p:cNvSpPr/>
          <p:nvPr/>
        </p:nvSpPr>
        <p:spPr>
          <a:xfrm>
            <a:off x="2058065" y="1910250"/>
            <a:ext cx="659045" cy="29267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E7A3B3E-A117-934D-3BA6-714D1A84F184}"/>
              </a:ext>
            </a:extLst>
          </p:cNvPr>
          <p:cNvSpPr/>
          <p:nvPr/>
        </p:nvSpPr>
        <p:spPr>
          <a:xfrm>
            <a:off x="10843800" y="2241070"/>
            <a:ext cx="301753" cy="21544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02B8DE-652F-4791-418A-4C872F8ED9AE}"/>
              </a:ext>
            </a:extLst>
          </p:cNvPr>
          <p:cNvSpPr txBox="1"/>
          <p:nvPr/>
        </p:nvSpPr>
        <p:spPr>
          <a:xfrm>
            <a:off x="2908565" y="1962245"/>
            <a:ext cx="200395" cy="24068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4</a:t>
            </a:r>
            <a:endParaRPr lang="en-US" sz="10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E498C3F-3113-0DB9-F6F3-5B59A09C9BBD}"/>
              </a:ext>
            </a:extLst>
          </p:cNvPr>
          <p:cNvSpPr txBox="1"/>
          <p:nvPr/>
        </p:nvSpPr>
        <p:spPr>
          <a:xfrm>
            <a:off x="10350594" y="2250198"/>
            <a:ext cx="200395" cy="24068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5</a:t>
            </a:r>
            <a:endParaRPr lang="en-US" sz="10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26C7F09-E4CB-8D81-73BD-1A4E64A60B63}"/>
              </a:ext>
            </a:extLst>
          </p:cNvPr>
          <p:cNvSpPr/>
          <p:nvPr/>
        </p:nvSpPr>
        <p:spPr>
          <a:xfrm>
            <a:off x="1006798" y="4831465"/>
            <a:ext cx="10121654" cy="105620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Currículum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opción  </a:t>
            </a:r>
            <a:r>
              <a:rPr lang="es-ES_tradnl" sz="1100" b="1" dirty="0"/>
              <a:t>Insertar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3663783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A21E728-8A3E-06A0-BF0E-946B4064E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48" y="1354035"/>
            <a:ext cx="10477497" cy="496187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E7A3B3E-A117-934D-3BA6-714D1A84F184}"/>
              </a:ext>
            </a:extLst>
          </p:cNvPr>
          <p:cNvSpPr/>
          <p:nvPr/>
        </p:nvSpPr>
        <p:spPr>
          <a:xfrm>
            <a:off x="5026817" y="3712117"/>
            <a:ext cx="2250757" cy="245706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02B8DE-652F-4791-418A-4C872F8ED9AE}"/>
              </a:ext>
            </a:extLst>
          </p:cNvPr>
          <p:cNvSpPr txBox="1"/>
          <p:nvPr/>
        </p:nvSpPr>
        <p:spPr>
          <a:xfrm>
            <a:off x="2512194" y="3346704"/>
            <a:ext cx="249310" cy="14792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/>
              <a:t>6</a:t>
            </a:r>
            <a:endParaRPr lang="en-U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E498C3F-3113-0DB9-F6F3-5B59A09C9BBD}"/>
              </a:ext>
            </a:extLst>
          </p:cNvPr>
          <p:cNvSpPr txBox="1"/>
          <p:nvPr/>
        </p:nvSpPr>
        <p:spPr>
          <a:xfrm>
            <a:off x="4473661" y="3729135"/>
            <a:ext cx="249310" cy="14792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/>
              <a:t>7</a:t>
            </a:r>
            <a:endParaRPr lang="en-US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FC7470D-E6B6-AD1D-81BB-2BA3FC5418C2}"/>
              </a:ext>
            </a:extLst>
          </p:cNvPr>
          <p:cNvSpPr/>
          <p:nvPr/>
        </p:nvSpPr>
        <p:spPr>
          <a:xfrm>
            <a:off x="938705" y="5071509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6"/>
            </a:pPr>
            <a:r>
              <a:rPr lang="es-ES_tradnl" sz="1100" dirty="0"/>
              <a:t>Hacer clic sobre el botón “</a:t>
            </a:r>
            <a:r>
              <a:rPr lang="es-ES_tradnl" sz="1100" b="1" dirty="0"/>
              <a:t>…</a:t>
            </a:r>
            <a:r>
              <a:rPr lang="es-ES_tradnl" sz="1100" dirty="0"/>
              <a:t>” del campo </a:t>
            </a:r>
            <a:r>
              <a:rPr lang="es-ES_tradnl" sz="1100" b="1" dirty="0"/>
              <a:t>Programa</a:t>
            </a:r>
            <a:endParaRPr lang="es-419" sz="1100" b="1" dirty="0"/>
          </a:p>
          <a:p>
            <a:pPr marL="342900" indent="-342900" algn="just">
              <a:buFont typeface="+mj-lt"/>
              <a:buAutoNum type="arabicPeriod" startAt="6"/>
            </a:pPr>
            <a:r>
              <a:rPr lang="es-419" sz="1100" dirty="0"/>
              <a:t>Seleccionar la opción </a:t>
            </a:r>
            <a:r>
              <a:rPr lang="es-419" sz="1100" b="1" dirty="0"/>
              <a:t>Regla de currículo base por programa</a:t>
            </a:r>
          </a:p>
        </p:txBody>
      </p:sp>
    </p:spTree>
    <p:extLst>
      <p:ext uri="{BB962C8B-B14F-4D97-AF65-F5344CB8AC3E}">
        <p14:creationId xmlns:p14="http://schemas.microsoft.com/office/powerpoint/2010/main" val="4921187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E335566-744A-F0FC-69B5-B818BE999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48" y="1313897"/>
            <a:ext cx="10556309" cy="500585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C429D7-E38D-4B76-153C-CDABA3B85EAB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8"/>
            </a:pPr>
            <a:r>
              <a:rPr lang="es-419" sz="1100" dirty="0"/>
              <a:t>Seleccionar la regla curricular correspondiente al nuevo programa, según el código de este, y presionar el botón </a:t>
            </a:r>
            <a:r>
              <a:rPr lang="es-419" sz="1100" b="1" dirty="0"/>
              <a:t>OK</a:t>
            </a:r>
            <a:r>
              <a:rPr lang="es-419" sz="1100" dirty="0"/>
              <a:t>. El sistema tomó el nuevo programa en el nuevo registro de currículum.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A3DE69-3ACE-05EA-6A99-E77B446934C2}"/>
              </a:ext>
            </a:extLst>
          </p:cNvPr>
          <p:cNvSpPr txBox="1"/>
          <p:nvPr/>
        </p:nvSpPr>
        <p:spPr>
          <a:xfrm>
            <a:off x="3868789" y="4343400"/>
            <a:ext cx="255156" cy="2377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287192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AEC34BE-3621-160B-A341-E3C505343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40" y="1174049"/>
            <a:ext cx="10511720" cy="51992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4" name="Flecha: hacia la izquierda 3">
            <a:extLst>
              <a:ext uri="{FF2B5EF4-FFF2-40B4-BE49-F238E27FC236}">
                <a16:creationId xmlns:a16="http://schemas.microsoft.com/office/drawing/2014/main" id="{68EB8002-03A4-6863-A896-A6BCC1A98A3A}"/>
              </a:ext>
            </a:extLst>
          </p:cNvPr>
          <p:cNvSpPr/>
          <p:nvPr/>
        </p:nvSpPr>
        <p:spPr>
          <a:xfrm rot="10800000">
            <a:off x="10919434" y="6129044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BCCB47-FE54-A81B-5901-A54E493B3C26}"/>
              </a:ext>
            </a:extLst>
          </p:cNvPr>
          <p:cNvSpPr txBox="1"/>
          <p:nvPr/>
        </p:nvSpPr>
        <p:spPr>
          <a:xfrm>
            <a:off x="10521472" y="6105134"/>
            <a:ext cx="301753" cy="15449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/>
              <a:t>9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13A3EED-6A06-59BB-F7F5-E0F72CC41393}"/>
              </a:ext>
            </a:extLst>
          </p:cNvPr>
          <p:cNvSpPr/>
          <p:nvPr/>
        </p:nvSpPr>
        <p:spPr>
          <a:xfrm>
            <a:off x="1096401" y="5042978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regla curricular seleccionada, incluyendo el campo de estudio y ha asignado una nueva secuencia al Plan de estudios del nuevo Programa.</a:t>
            </a:r>
          </a:p>
          <a:p>
            <a:pPr marL="342900" indent="-342900" algn="just">
              <a:buFont typeface="+mj-lt"/>
              <a:buAutoNum type="arabicPeriod" startAt="9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90801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193D95-1F32-7D9E-B02B-C5329EA16D41}"/>
              </a:ext>
            </a:extLst>
          </p:cNvPr>
          <p:cNvSpPr/>
          <p:nvPr/>
        </p:nvSpPr>
        <p:spPr>
          <a:xfrm>
            <a:off x="1054666" y="5402901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Dado que el estudiante cursará los dos programas simultáneamente, ambos registros deben quedar activos tanto a nivel de los currículos…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5A4DE0-8BC0-4652-F141-AD76B6C2A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0" y="1387875"/>
            <a:ext cx="8000317" cy="30747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E048F1-D49F-DB07-68CD-F53A74512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661" y="2490575"/>
            <a:ext cx="7854930" cy="30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327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3448" y="117407"/>
            <a:ext cx="10477497" cy="898555"/>
          </a:xfrm>
        </p:spPr>
        <p:txBody>
          <a:bodyPr/>
          <a:lstStyle/>
          <a:p>
            <a:r>
              <a:rPr lang="es-ES_tradnl" dirty="0"/>
              <a:t>Dos carreras - inclusión del nuevo programa </a:t>
            </a:r>
            <a:r>
              <a:rPr lang="es-419" dirty="0"/>
              <a:t>en un período con inscripción: SFAREGS</a:t>
            </a:r>
            <a:endParaRPr lang="es-ES_tradnl" b="1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993B11B-098D-7B0A-0699-F572138B3652}"/>
              </a:ext>
            </a:extLst>
          </p:cNvPr>
          <p:cNvSpPr/>
          <p:nvPr/>
        </p:nvSpPr>
        <p:spPr>
          <a:xfrm>
            <a:off x="1054666" y="5402901"/>
            <a:ext cx="10002859" cy="90406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… como a nivel de los Planes de Estudios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4994F2-63AA-BD9D-1B39-0CBBF1CE7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76" y="1015962"/>
            <a:ext cx="6811997" cy="32280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7994B0-66B0-0643-DBEA-6F69CF0D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075" y="2001069"/>
            <a:ext cx="7205870" cy="340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234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Asignación</a:t>
            </a:r>
            <a:r>
              <a:rPr lang="es-ES_tradnl" dirty="0"/>
              <a:t> de Concentración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5B06A-3FD9-7AA9-6332-37E22A8647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419" dirty="0"/>
              <a:t>El estudiante elige la concentración y se realiza el cambio en su registro.</a:t>
            </a:r>
          </a:p>
        </p:txBody>
      </p:sp>
    </p:spTree>
    <p:extLst>
      <p:ext uri="{BB962C8B-B14F-4D97-AF65-F5344CB8AC3E}">
        <p14:creationId xmlns:p14="http://schemas.microsoft.com/office/powerpoint/2010/main" val="3145282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6530354-6473-1EC4-7F9A-2F7D7177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38" y="685800"/>
            <a:ext cx="10886057" cy="51338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107676"/>
            <a:ext cx="10409495" cy="898555"/>
          </a:xfrm>
        </p:spPr>
        <p:txBody>
          <a:bodyPr/>
          <a:lstStyle/>
          <a:p>
            <a:r>
              <a:rPr lang="es-419" dirty="0"/>
              <a:t>Asignación de Concentración en el mismo período</a:t>
            </a:r>
            <a:endParaRPr lang="es-ES_tradnl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E0158-183F-35E7-488B-97C804A80F0F}"/>
              </a:ext>
            </a:extLst>
          </p:cNvPr>
          <p:cNvSpPr txBox="1"/>
          <p:nvPr/>
        </p:nvSpPr>
        <p:spPr>
          <a:xfrm>
            <a:off x="4114633" y="1224256"/>
            <a:ext cx="274488" cy="2204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1</a:t>
            </a:r>
            <a:endParaRPr lang="en-US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6C9BC7-FF31-35A2-6A21-92D16A379ED4}"/>
              </a:ext>
            </a:extLst>
          </p:cNvPr>
          <p:cNvSpPr txBox="1"/>
          <p:nvPr/>
        </p:nvSpPr>
        <p:spPr>
          <a:xfrm>
            <a:off x="10399350" y="1202564"/>
            <a:ext cx="274488" cy="2204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3</a:t>
            </a:r>
            <a:endParaRPr lang="en-US" sz="100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18F543-88F7-6BB8-AB82-C1A93A91E5AA}"/>
              </a:ext>
            </a:extLst>
          </p:cNvPr>
          <p:cNvSpPr/>
          <p:nvPr/>
        </p:nvSpPr>
        <p:spPr>
          <a:xfrm>
            <a:off x="850388" y="5205220"/>
            <a:ext cx="10886057" cy="1128922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ID</a:t>
            </a:r>
            <a:r>
              <a:rPr lang="es-419" sz="1100" dirty="0"/>
              <a:t>: código identificador del alumno del alumno al que desea realizar la actualización.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419" sz="1100" b="1" dirty="0"/>
              <a:t>Periodo</a:t>
            </a:r>
            <a:r>
              <a:rPr lang="es-419" sz="1100" dirty="0"/>
              <a:t> en el cual se desea hacer la actualización. Si no se ingresa período, el sistema tomará por defecto el último período para el cual el estudiante tiene un registro en la página.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100" dirty="0"/>
              <a:t>Hacer clic en el botón </a:t>
            </a:r>
            <a:r>
              <a:rPr lang="es-CL" sz="1100" b="1" dirty="0"/>
              <a:t>Ir</a:t>
            </a:r>
            <a:r>
              <a:rPr lang="es-CL" sz="1100" dirty="0"/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06DFB7A-222E-9C8D-0E72-FBB3D76D0F26}"/>
              </a:ext>
            </a:extLst>
          </p:cNvPr>
          <p:cNvSpPr txBox="1"/>
          <p:nvPr/>
        </p:nvSpPr>
        <p:spPr>
          <a:xfrm>
            <a:off x="3300320" y="1333472"/>
            <a:ext cx="274488" cy="2204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719692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ED141C-DC54-05C3-D9EF-27DCE2A8C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67" y="1289884"/>
            <a:ext cx="10906892" cy="51380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Asignación de Concentración en el mismo período: SGASTDN</a:t>
            </a:r>
            <a:endParaRPr lang="es-ES_tradnl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788F4D-D353-7BA1-5FAA-55C6D9583F96}"/>
              </a:ext>
            </a:extLst>
          </p:cNvPr>
          <p:cNvSpPr/>
          <p:nvPr/>
        </p:nvSpPr>
        <p:spPr>
          <a:xfrm>
            <a:off x="1528912" y="2009178"/>
            <a:ext cx="676508" cy="224633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DC1778-F4D0-ED51-B03B-E4AEA7A25824}"/>
              </a:ext>
            </a:extLst>
          </p:cNvPr>
          <p:cNvSpPr/>
          <p:nvPr/>
        </p:nvSpPr>
        <p:spPr>
          <a:xfrm>
            <a:off x="1635571" y="2443721"/>
            <a:ext cx="587381" cy="224632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2348733" y="1998281"/>
            <a:ext cx="182899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4</a:t>
            </a:r>
            <a:endParaRPr lang="en-US" sz="1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782E76-68AB-F970-63CE-94E4BEF3085C}"/>
              </a:ext>
            </a:extLst>
          </p:cNvPr>
          <p:cNvSpPr txBox="1"/>
          <p:nvPr/>
        </p:nvSpPr>
        <p:spPr>
          <a:xfrm>
            <a:off x="2377421" y="2457788"/>
            <a:ext cx="182899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/>
              <a:t>5</a:t>
            </a:r>
            <a:endParaRPr lang="en-US" sz="100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68785"/>
            <a:ext cx="10121654" cy="799597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la pestaña </a:t>
            </a:r>
            <a:r>
              <a:rPr lang="es-ES_tradnl" sz="1100" b="1" dirty="0"/>
              <a:t>Currículos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Hacer clic sobre el botón </a:t>
            </a:r>
            <a:r>
              <a:rPr lang="es-ES_tradnl" sz="1100" b="1" dirty="0"/>
              <a:t>Actualizar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s-ES_tradnl" sz="1100" dirty="0"/>
              <a:t>Pasar al siguiente bloque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127B6B-3916-5075-12D5-EF9932CC5B66}"/>
              </a:ext>
            </a:extLst>
          </p:cNvPr>
          <p:cNvSpPr/>
          <p:nvPr/>
        </p:nvSpPr>
        <p:spPr>
          <a:xfrm>
            <a:off x="1378036" y="6089959"/>
            <a:ext cx="301753" cy="24206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C4BA53-3F21-31A8-398F-12B43BDCB4F2}"/>
              </a:ext>
            </a:extLst>
          </p:cNvPr>
          <p:cNvSpPr txBox="1"/>
          <p:nvPr/>
        </p:nvSpPr>
        <p:spPr>
          <a:xfrm>
            <a:off x="1996426" y="6116583"/>
            <a:ext cx="182899" cy="22463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994507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21863F7-D077-EC4E-4CBE-CB3370B7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57" y="917486"/>
            <a:ext cx="10862255" cy="514798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6" y="18931"/>
            <a:ext cx="10477497" cy="898555"/>
          </a:xfrm>
        </p:spPr>
        <p:txBody>
          <a:bodyPr/>
          <a:lstStyle/>
          <a:p>
            <a:r>
              <a:rPr lang="es-419" dirty="0"/>
              <a:t>Asignación de Concentración en el mismo período: SGASTDN</a:t>
            </a:r>
            <a:endParaRPr lang="es-ES_tradnl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0492347" y="3276036"/>
            <a:ext cx="242709" cy="21697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7</a:t>
            </a:r>
            <a:endParaRPr lang="en-US" sz="100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232588" y="5141739"/>
            <a:ext cx="10121654" cy="716786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7"/>
            </a:pPr>
            <a:r>
              <a:rPr lang="es-419" sz="1100" dirty="0"/>
              <a:t>Presionar la opción </a:t>
            </a:r>
            <a:r>
              <a:rPr lang="es-419" sz="1100" b="1" dirty="0"/>
              <a:t>Insertar</a:t>
            </a:r>
            <a:r>
              <a:rPr lang="es-419" sz="1100" dirty="0"/>
              <a:t> en el bloque de Campo de Estudio.</a:t>
            </a:r>
          </a:p>
          <a:p>
            <a:pPr marL="342900" indent="-342900" algn="just">
              <a:buFont typeface="+mj-lt"/>
              <a:buAutoNum type="arabicPeriod" startAt="7"/>
            </a:pPr>
            <a:r>
              <a:rPr lang="es-419" sz="1100" dirty="0"/>
              <a:t>Seleccionar en el campo </a:t>
            </a:r>
            <a:r>
              <a:rPr lang="es-419" sz="1100" b="1" dirty="0"/>
              <a:t>Tipo</a:t>
            </a:r>
            <a:r>
              <a:rPr lang="es-419" sz="1100" dirty="0"/>
              <a:t> la opción CONCENTRATION.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ACD887-5041-9B92-9119-5850278AA4DA}"/>
              </a:ext>
            </a:extLst>
          </p:cNvPr>
          <p:cNvSpPr txBox="1"/>
          <p:nvPr/>
        </p:nvSpPr>
        <p:spPr>
          <a:xfrm>
            <a:off x="4897636" y="3875672"/>
            <a:ext cx="242709" cy="21697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dirty="0"/>
              <a:t>8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BFCD62-E658-D97F-E692-F63C072FBC30}"/>
              </a:ext>
            </a:extLst>
          </p:cNvPr>
          <p:cNvSpPr/>
          <p:nvPr/>
        </p:nvSpPr>
        <p:spPr>
          <a:xfrm>
            <a:off x="5427545" y="3969667"/>
            <a:ext cx="1654523" cy="24289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29810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A139350-CF28-7BD9-35FC-7F0B8E78C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32" y="1281125"/>
            <a:ext cx="10628039" cy="5036959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E66A0CC7-1D3D-B75A-807A-ACF770310369}"/>
              </a:ext>
            </a:extLst>
          </p:cNvPr>
          <p:cNvGrpSpPr/>
          <p:nvPr/>
        </p:nvGrpSpPr>
        <p:grpSpPr>
          <a:xfrm>
            <a:off x="1305813" y="4981551"/>
            <a:ext cx="10121654" cy="1190648"/>
            <a:chOff x="1305813" y="4981551"/>
            <a:chExt cx="10121654" cy="1190648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00E02D58-F66A-BEE0-3967-13AF479338A4}"/>
                </a:ext>
              </a:extLst>
            </p:cNvPr>
            <p:cNvSpPr/>
            <p:nvPr/>
          </p:nvSpPr>
          <p:spPr>
            <a:xfrm>
              <a:off x="1305813" y="4981551"/>
              <a:ext cx="10121654" cy="1190648"/>
            </a:xfrm>
            <a:prstGeom prst="roundRect">
              <a:avLst>
                <a:gd name="adj" fmla="val 144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just">
                <a:buFont typeface="+mj-lt"/>
                <a:buAutoNum type="arabicPeriod" startAt="9"/>
              </a:pPr>
              <a:r>
                <a:rPr lang="es-ES_tradnl" sz="1100" dirty="0"/>
                <a:t>Hacer clic sobre el botón “</a:t>
              </a:r>
              <a:r>
                <a:rPr lang="es-ES_tradnl" sz="1100" b="1" dirty="0"/>
                <a:t>…</a:t>
              </a:r>
              <a:r>
                <a:rPr lang="es-ES_tradnl" sz="1100" dirty="0"/>
                <a:t>” del </a:t>
              </a:r>
              <a:r>
                <a:rPr lang="es-ES_tradnl" sz="1100" b="1" dirty="0"/>
                <a:t>Campo de estudio</a:t>
              </a:r>
              <a:endParaRPr lang="es-419" sz="1100" b="1" dirty="0"/>
            </a:p>
            <a:p>
              <a:pPr marL="342900" indent="-342900" algn="just">
                <a:buFont typeface="+mj-lt"/>
                <a:buAutoNum type="arabicPeriod" startAt="9"/>
              </a:pPr>
              <a:r>
                <a:rPr lang="es-419" sz="1100" dirty="0"/>
                <a:t>Seleccionar la opción </a:t>
              </a:r>
              <a:r>
                <a:rPr lang="es-419" sz="1100" b="1" dirty="0"/>
                <a:t>Concentraciones anexas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54D19D47-CA91-E0EB-313A-9BFC33A0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4959" y="5386375"/>
              <a:ext cx="228600" cy="190500"/>
            </a:xfrm>
            <a:prstGeom prst="rect">
              <a:avLst/>
            </a:prstGeom>
          </p:spPr>
        </p:pic>
      </p:grp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Asignación de Concentración</a:t>
            </a:r>
            <a:r>
              <a:rPr lang="es-ES_tradnl" dirty="0"/>
              <a:t>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43F4DE79-9836-6333-A6C8-FAE59FCF6920}"/>
              </a:ext>
            </a:extLst>
          </p:cNvPr>
          <p:cNvSpPr/>
          <p:nvPr/>
        </p:nvSpPr>
        <p:spPr>
          <a:xfrm rot="10800000">
            <a:off x="5103327" y="3819684"/>
            <a:ext cx="146304" cy="45720"/>
          </a:xfrm>
          <a:prstGeom prst="leftArrow">
            <a:avLst/>
          </a:prstGeom>
          <a:solidFill>
            <a:srgbClr val="33CCCC"/>
          </a:solidFill>
          <a:ln>
            <a:solidFill>
              <a:srgbClr val="0CB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4480559" y="3978868"/>
            <a:ext cx="328797" cy="21544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10</a:t>
            </a:r>
            <a:endParaRPr lang="en-US" sz="1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29A29F7-661A-A5F9-536C-F597DD8B40B5}"/>
              </a:ext>
            </a:extLst>
          </p:cNvPr>
          <p:cNvSpPr/>
          <p:nvPr/>
        </p:nvSpPr>
        <p:spPr>
          <a:xfrm>
            <a:off x="4964288" y="3904525"/>
            <a:ext cx="1131712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1C16E2-1740-3218-4E77-60318661FF30}"/>
              </a:ext>
            </a:extLst>
          </p:cNvPr>
          <p:cNvSpPr txBox="1"/>
          <p:nvPr/>
        </p:nvSpPr>
        <p:spPr>
          <a:xfrm>
            <a:off x="3101112" y="4511543"/>
            <a:ext cx="301754" cy="21544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sz="1000" dirty="0"/>
              <a:t>9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CDDC45-4184-6EA2-CFAC-EAB24B42C1AB}"/>
              </a:ext>
            </a:extLst>
          </p:cNvPr>
          <p:cNvSpPr/>
          <p:nvPr/>
        </p:nvSpPr>
        <p:spPr>
          <a:xfrm>
            <a:off x="1984823" y="4502444"/>
            <a:ext cx="961357" cy="2154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18814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C826900-7B50-FDA3-B642-BDA7AC675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16" y="1231395"/>
            <a:ext cx="10756912" cy="50947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Asignación de Concentración 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305813" y="5174774"/>
            <a:ext cx="9774918" cy="87062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 startAt="11"/>
            </a:pPr>
            <a:r>
              <a:rPr lang="es-419" sz="1100" dirty="0"/>
              <a:t>Seleccionar la concentración correspondiente al énfasis seleccionado por el estudiante y presionar el botón </a:t>
            </a:r>
            <a:r>
              <a:rPr lang="es-419" sz="1100" b="1" dirty="0"/>
              <a:t>OK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3853138" y="4261104"/>
            <a:ext cx="341175" cy="21150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391016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22F82F0-7BFB-7944-983F-749AC4DD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26" y="1174407"/>
            <a:ext cx="10853488" cy="514351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3F50E6-869E-D122-F39C-99610C61F1E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419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4667" y="204956"/>
            <a:ext cx="10477497" cy="898555"/>
          </a:xfrm>
        </p:spPr>
        <p:txBody>
          <a:bodyPr/>
          <a:lstStyle/>
          <a:p>
            <a:r>
              <a:rPr lang="es-419" dirty="0"/>
              <a:t>Asignación de Concentración</a:t>
            </a:r>
            <a:r>
              <a:rPr lang="es-ES_tradnl" dirty="0"/>
              <a:t> </a:t>
            </a:r>
            <a:r>
              <a:rPr lang="es-419" dirty="0"/>
              <a:t>en el mismo período: SGASTDN</a:t>
            </a:r>
            <a:endParaRPr lang="es-ES_tradnl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976D43-0715-2552-928F-036C542E76F5}"/>
              </a:ext>
            </a:extLst>
          </p:cNvPr>
          <p:cNvSpPr/>
          <p:nvPr/>
        </p:nvSpPr>
        <p:spPr>
          <a:xfrm>
            <a:off x="1054667" y="5052447"/>
            <a:ext cx="9478830" cy="10695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100" dirty="0"/>
              <a:t>El sistema ha llenado automáticamente los valores correspondientes a la Concentración seleccionada e indica a qué carrera está asociada.</a:t>
            </a:r>
          </a:p>
          <a:p>
            <a:pPr marL="342900" indent="-342900" algn="just">
              <a:buFont typeface="+mj-lt"/>
              <a:buAutoNum type="arabicPeriod" startAt="12"/>
            </a:pPr>
            <a:r>
              <a:rPr lang="es-419" sz="1100" dirty="0"/>
              <a:t>Haga clic en el botón </a:t>
            </a:r>
            <a:r>
              <a:rPr lang="es-419" sz="1100" b="1" dirty="0"/>
              <a:t>Guardar</a:t>
            </a:r>
            <a:r>
              <a:rPr lang="es-419" sz="1100" dirty="0"/>
              <a:t>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DD6370-2FE3-56D8-C9DC-74D316148AF6}"/>
              </a:ext>
            </a:extLst>
          </p:cNvPr>
          <p:cNvSpPr txBox="1"/>
          <p:nvPr/>
        </p:nvSpPr>
        <p:spPr>
          <a:xfrm>
            <a:off x="10799978" y="6085465"/>
            <a:ext cx="364788" cy="15782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just">
              <a:defRPr sz="11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s-CO" sz="1000" dirty="0"/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275987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Actualizar estado del estudiante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10FCC-0713-53EF-ADB4-AA53CA5BA3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623880"/>
            <a:ext cx="10597474" cy="4358629"/>
          </a:xfrm>
        </p:spPr>
        <p:txBody>
          <a:bodyPr/>
          <a:lstStyle/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 universidad actualiza los estados de los estudiantes, con base en las reglas del negocio.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 institución realiza el cambio a través de páginas administrativas.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puede hacer el cambio en el mismo periodo o en otro.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El cambio en el registro de alumno se realiza (cualquiera de los indicados):</a:t>
            </a:r>
          </a:p>
          <a:p>
            <a:pPr lvl="3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600" dirty="0"/>
              <a:t> en SGASTDN si el estudiante no tiene registro de inscripción</a:t>
            </a:r>
          </a:p>
          <a:p>
            <a:pPr lvl="3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600" dirty="0"/>
              <a:t> en SFAREGS si el estudiante tiene registro de inscripción en dicha página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Los cambios de estado y tipo de alumno se hacen a nivel de la institución.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Las actualizaciones de estatus de plan de estudios se realizan a nivel del programa.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pueden realizar cambios de programa y registrar estos cambios en el sistema.</a:t>
            </a:r>
          </a:p>
          <a:p>
            <a:pPr marL="342900" lvl="1" indent="-342900" algn="just">
              <a:spcBef>
                <a:spcPts val="1000"/>
              </a:spcBef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1800" dirty="0"/>
              <a:t>Se pueden insertar programas si el estudiante cursa más de un programa simultáneamente.</a:t>
            </a:r>
          </a:p>
          <a:p>
            <a:endParaRPr lang="es-419" sz="1600" dirty="0"/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957F28A3-0E5D-037E-7A5A-BBEFD092D364}"/>
              </a:ext>
            </a:extLst>
          </p:cNvPr>
          <p:cNvSpPr txBox="1">
            <a:spLocks/>
          </p:cNvSpPr>
          <p:nvPr/>
        </p:nvSpPr>
        <p:spPr>
          <a:xfrm>
            <a:off x="955644" y="-201252"/>
            <a:ext cx="7092820" cy="1628192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0517754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Consultor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 dirty="0"/>
              <a:t>Correo</a:t>
            </a:r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4610</TotalTime>
  <Words>3595</Words>
  <Application>Microsoft Office PowerPoint</Application>
  <PresentationFormat>Widescreen</PresentationFormat>
  <Paragraphs>504</Paragraphs>
  <Slides>82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Aptos</vt:lpstr>
      <vt:lpstr>Aptos Display</vt:lpstr>
      <vt:lpstr>Arial</vt:lpstr>
      <vt:lpstr>Courier New</vt:lpstr>
      <vt:lpstr>Helvetica Neue</vt:lpstr>
      <vt:lpstr>Wingdings</vt:lpstr>
      <vt:lpstr>Ellucian Main Layouts</vt:lpstr>
      <vt:lpstr>Ellucian Blank Layouts</vt:lpstr>
      <vt:lpstr>1_Ellucian Main Layouts</vt:lpstr>
      <vt:lpstr>1_Ellucian Blank Layouts</vt:lpstr>
      <vt:lpstr>Actualizar estado del estudiante </vt:lpstr>
      <vt:lpstr>PowerPoint Presentation</vt:lpstr>
      <vt:lpstr>Overview</vt:lpstr>
      <vt:lpstr>Overview: Mapa de capacidades</vt:lpstr>
      <vt:lpstr>Overview: Procedimientos del Proceso Gestionar Estudiantes</vt:lpstr>
      <vt:lpstr>Overview: Actualizar estado del estudiante</vt:lpstr>
      <vt:lpstr>Overview: Actualizar estado del estudiante</vt:lpstr>
      <vt:lpstr>Overview: Región donde aplica</vt:lpstr>
      <vt:lpstr>Configuraciones</vt:lpstr>
      <vt:lpstr>Configuraciones: Tipo de estudiante</vt:lpstr>
      <vt:lpstr>Configuraciones: Estatus del estudiante</vt:lpstr>
      <vt:lpstr>Configuraciones: Estatus del Plan de estudios</vt:lpstr>
      <vt:lpstr>Actualización de estatus del alumno</vt:lpstr>
      <vt:lpstr>Actualización del estatus del alumno en el mismo período: SGASTDN</vt:lpstr>
      <vt:lpstr>Actualización del estatus del alumno en el mismo período: SGASTDN</vt:lpstr>
      <vt:lpstr>Actualización del estatus del alumno en un período posterior: SGASTDN</vt:lpstr>
      <vt:lpstr>Actualización del estatus del alumno en un período posterior</vt:lpstr>
      <vt:lpstr>Actualización del estatus del alumno en un período en el que tiene registro de inscripción: SFAREGS</vt:lpstr>
      <vt:lpstr>Actualización del estatus alumno en un período en el que tiene registro de inscripción</vt:lpstr>
      <vt:lpstr>Actualización de tipo de alumno</vt:lpstr>
      <vt:lpstr>Actualización del tipo de alumno en el mismo período: SGASTDN</vt:lpstr>
      <vt:lpstr>Actualización del tipo de alumno en el mismo período: SGASTDN</vt:lpstr>
      <vt:lpstr>Actualización del tipo de alumno en un período posterior: SGASTDN</vt:lpstr>
      <vt:lpstr>Actualización del tipo de alumno en un período posterior: SGASTDN</vt:lpstr>
      <vt:lpstr>Actualización del tipo de alumno en un período en el que tiene registro de inscripción: SFAREGS</vt:lpstr>
      <vt:lpstr>Actualización del tipo de alumno en un período en el que tiene registro de inscripción</vt:lpstr>
      <vt:lpstr>Actualización de estatus del plan de estudios</vt:lpstr>
      <vt:lpstr>Actualización del estatus del plan de estudios en el mismo período: SGASTDN</vt:lpstr>
      <vt:lpstr>Actualización del estatus del plan de estudios en el mismo período: SGASTDN</vt:lpstr>
      <vt:lpstr>Actualización del estatus del plan de estudios en un período posterior: SGASTDN</vt:lpstr>
      <vt:lpstr>Actualización del estatus del plan de estudios en un período posterior: SGASTDN</vt:lpstr>
      <vt:lpstr>Actualización del estatus del plan de estudios en un período posterior: SGASTDN</vt:lpstr>
      <vt:lpstr>Actualización del estatus del plan de estudios en un período posterior: SGASTDN</vt:lpstr>
      <vt:lpstr>Actualización del del estatus del plan de estudios en un período posterior: SGASTDN</vt:lpstr>
      <vt:lpstr>Actualización del estatus del plan de estudios en un período en el que hay registro de inscripción: SFAREGS</vt:lpstr>
      <vt:lpstr>Actualización del estatus del plan de estudios en un período en el que hay registro de inscripción: SFAREGS</vt:lpstr>
      <vt:lpstr>Cambio de programa académico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el mismo período: SGASTDN</vt:lpstr>
      <vt:lpstr>Cambio de programa académico en un período posterior: SGASTDN</vt:lpstr>
      <vt:lpstr>Cambio de programa académico en un período posterior: SAGSTDN</vt:lpstr>
      <vt:lpstr>Cambio de programa académico en un período posterior: SGASTDN</vt:lpstr>
      <vt:lpstr>Cambio de programa académico en un período posterior: SGASTDN</vt:lpstr>
      <vt:lpstr>Cambio de programa académico en un período con inscripción: SFAREGS</vt:lpstr>
      <vt:lpstr>Cambio de programa académico en un período con inscripción: SFAREGS</vt:lpstr>
      <vt:lpstr>Cambio de programa académico en un período con inscripción: SFAREGS</vt:lpstr>
      <vt:lpstr>Cambio de programa académico en un período con inscripción : SFAREGS</vt:lpstr>
      <vt:lpstr>Cambio de programa académico en un período con inscripción : SFAREGS</vt:lpstr>
      <vt:lpstr>Cambio de programa académico en un período con inscripción : SFAREGS</vt:lpstr>
      <vt:lpstr>Cambio de programa académico en un período con inscripción : SFAREGS</vt:lpstr>
      <vt:lpstr>Cambio de programa académico en un período con inscripción : SFAREGS</vt:lpstr>
      <vt:lpstr>Dos carreras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el mismo período: SGASTDN</vt:lpstr>
      <vt:lpstr>Dos carreras - inclusión del nuevo programa en un período con inscripción: SFAREGS</vt:lpstr>
      <vt:lpstr>Dos carreras - inclusión del nuevo programa en un período con inscripción: SFAREGS</vt:lpstr>
      <vt:lpstr>Dos carreras - inclusión del nuevo programa en un período con inscripción: SFAREGS</vt:lpstr>
      <vt:lpstr>Dos carreras - inclusión del nuevo programa en un período con inscripción: SFAREGS</vt:lpstr>
      <vt:lpstr>Dos carreras - inclusión del nuevo programa en un período con inscripción: SFAREGS</vt:lpstr>
      <vt:lpstr>Dos carreras - inclusión del nuevo programa en un período con inscripción: SFAREGS</vt:lpstr>
      <vt:lpstr>Dos carreras - inclusión del nuevo programa en un período con inscripción: SFAREGS</vt:lpstr>
      <vt:lpstr>Asignación de Concentración</vt:lpstr>
      <vt:lpstr>Asignación de Concentración en el mismo período</vt:lpstr>
      <vt:lpstr>Asignación de Concentración en el mismo período: SGASTDN</vt:lpstr>
      <vt:lpstr>Asignación de Concentración en el mismo período: SGASTDN</vt:lpstr>
      <vt:lpstr>Asignación de Concentración en el mismo período: SGASTDN</vt:lpstr>
      <vt:lpstr>Asignación de Concentración en el mismo período: SGASTDN</vt:lpstr>
      <vt:lpstr>Asignación de Concentración en el mismo período: SGASTDN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Ramos, Karyn</dc:creator>
  <cp:lastModifiedBy>Solís Sánchez, América</cp:lastModifiedBy>
  <cp:revision>72</cp:revision>
  <dcterms:created xsi:type="dcterms:W3CDTF">2024-09-20T19:49:29Z</dcterms:created>
  <dcterms:modified xsi:type="dcterms:W3CDTF">2026-05-12T19:27:57Z</dcterms:modified>
</cp:coreProperties>
</file>
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3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5" r:id="rId3"/>
    <p:sldMasterId id="2147483735" r:id="rId4"/>
  </p:sldMasterIdLst>
  <p:notesMasterIdLst>
    <p:notesMasterId r:id="rId55"/>
  </p:notesMasterIdLst>
  <p:sldIdLst>
    <p:sldId id="613" r:id="rId60"/>
    <p:sldId id="614" r:id="rId61"/>
    <p:sldId id="615" r:id="rId62"/>
    <p:sldId id="616" r:id="rId63"/>
    <p:sldId id="617" r:id="rId64"/>
    <p:sldId id="618" r:id="rId65"/>
    <p:sldId id="619" r:id="rId66"/>
    <p:sldId id="620" r:id="rId67"/>
    <p:sldId id="621" r:id="rId68"/>
    <p:sldId id="622" r:id="rId69"/>
    <p:sldId id="623" r:id="rId70"/>
    <p:sldId id="624" r:id="rId71"/>
    <p:sldId id="625" r:id="rId72"/>
    <p:sldId id="626" r:id="rId73"/>
    <p:sldId id="627" r:id="rId74"/>
    <p:sldId id="628" r:id="rId75"/>
    <p:sldId id="629" r:id="rId7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21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5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58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5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5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7" Type="http://schemas.openxmlformats.org/officeDocument/2006/relationships/viewProps" Target="viewProps.xml"/>  <Relationship Id="rId60" Type="http://schemas.openxmlformats.org/officeDocument/2006/relationships/slide" Target="slides/slide51.xml"/>
  <Relationship Id="rId61" Type="http://schemas.openxmlformats.org/officeDocument/2006/relationships/slide" Target="slides/slide52.xml"/>
  <Relationship Id="rId62" Type="http://schemas.openxmlformats.org/officeDocument/2006/relationships/slide" Target="slides/slide53.xml"/>
  <Relationship Id="rId63" Type="http://schemas.openxmlformats.org/officeDocument/2006/relationships/slide" Target="slides/slide54.xml"/>
  <Relationship Id="rId64" Type="http://schemas.openxmlformats.org/officeDocument/2006/relationships/slide" Target="slides/slide55.xml"/>
  <Relationship Id="rId65" Type="http://schemas.openxmlformats.org/officeDocument/2006/relationships/slide" Target="slides/slide56.xml"/>
  <Relationship Id="rId66" Type="http://schemas.openxmlformats.org/officeDocument/2006/relationships/slide" Target="slides/slide57.xml"/>
  <Relationship Id="rId67" Type="http://schemas.openxmlformats.org/officeDocument/2006/relationships/slide" Target="slides/slide58.xml"/>
  <Relationship Id="rId68" Type="http://schemas.openxmlformats.org/officeDocument/2006/relationships/slide" Target="slides/slide59.xml"/>
  <Relationship Id="rId69" Type="http://schemas.openxmlformats.org/officeDocument/2006/relationships/slide" Target="slides/slide60.xml"/>
  <Relationship Id="rId70" Type="http://schemas.openxmlformats.org/officeDocument/2006/relationships/slide" Target="slides/slide61.xml"/>
  <Relationship Id="rId71" Type="http://schemas.openxmlformats.org/officeDocument/2006/relationships/slide" Target="slides/slide62.xml"/>
  <Relationship Id="rId72" Type="http://schemas.openxmlformats.org/officeDocument/2006/relationships/slide" Target="slides/slide63.xml"/>
  <Relationship Id="rId73" Type="http://schemas.openxmlformats.org/officeDocument/2006/relationships/slide" Target="slides/slide64.xml"/>
  <Relationship Id="rId74" Type="http://schemas.openxmlformats.org/officeDocument/2006/relationships/slide" Target="slides/slide65.xml"/>
  <Relationship Id="rId75" Type="http://schemas.openxmlformats.org/officeDocument/2006/relationships/slide" Target="slides/slide66.xml"/>
  <Relationship Id="rId76" Type="http://schemas.openxmlformats.org/officeDocument/2006/relationships/slide" Target="slides/slide67.xml"/>
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C4D4F-02F1-4128-82AF-F7679EB9D8E5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98818-1391-4805-9C29-F0662F4A7854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21017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41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6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74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7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5.svg"/><Relationship Id="rId4" Type="http://schemas.openxmlformats.org/officeDocument/2006/relationships/image" Target="../media/image3.png"/></Relationships>
</file>

<file path=ppt/slideLayouts/_rels/slideLayout98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7.svg"/><Relationship Id="rId4" Type="http://schemas.openxmlformats.org/officeDocument/2006/relationships/image" Target="../media/image11.png"/></Relationships>
</file>

<file path=ppt/slideLayouts/_rels/slideLayout112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18.svg"/><Relationship Id="rId4" Type="http://schemas.openxmlformats.org/officeDocument/2006/relationships/image" Target="../media/image13.png"/></Relationships>
</file>

<file path=ppt/slideLayouts/_rels/slideLayout113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5.xml.rels><?xml version="1.0" encoding="UTF-8" standalone="yes"?>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A9044-76B1-D660-8DBF-F2F16B011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94A282-AB81-AF53-998D-8FAB02409D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54205B-C876-F8C4-D883-9E68781E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E94D33-FDE8-6449-705F-E556EF1EF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630CF9-CD55-3BD0-79C3-E70AAAEA7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1477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559199-D081-4689-6C0F-26C081480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B26484-A586-DE59-81DA-9AE09718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DB8B84-50E3-3680-51B0-E997DAC4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5AA40F-A1AE-4DAB-8F62-65858B29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D72374-BF0D-9199-0AE2-B02EF381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75233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49AF9-55EC-C5C1-42C9-7D227AAF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A2B32A-2C66-856E-7956-ED257F397B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82117E-953F-4F70-D94A-C0F2B9F30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15B6E9-B354-9D39-F8CC-2B3721A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96CAC-C276-2C6D-50E0-118D678FF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25789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B5609-CFF7-FE91-93A8-017ADAC91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964A9-F609-80F6-2CBA-3D02F425D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2AF759-B10E-0B24-F52D-720377E5AE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AA4FDCD-1E3B-1A51-8F25-3FF6CE7F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6B8827-6190-F9CB-340C-17290B494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B46404-8C78-05E7-B250-ECAE37091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701323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749292-F847-1D24-4FD9-AD41568A7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AF671E2-D3A4-0F45-2A09-B8DADE12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FFBD18-2BF9-678E-0AC8-52B223120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3527B7E-E0F5-0A56-6D7C-76242207D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C8E62F8-AF94-079C-EF69-A765CB014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A648DA9-9673-35CC-FD69-59F6BD79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5DE94D9-8533-ED00-B05C-81DE14EF0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4212A43-66F9-51AD-4D2C-731C9E48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06403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CED7A-3158-77DF-D71C-35AEE7E2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478F852-120E-6806-DC0E-4922223E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7D40898-4A83-C494-208C-3BB983CA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B7A564-709D-A9B1-4784-A78D03A30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74704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61ACFAF-7441-8EC2-04CF-09CD9E833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4FA7E49-6B88-6BC2-8C6D-9A071DBA3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A044BFD-EAF6-FB9F-F2A0-61F098F3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961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1A3095-751F-EE63-B505-F34F4EEBC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059669-42C4-B318-496D-C5C68D2BE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C890E18-79BE-170F-7FA5-0734B2427D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167D11A-ADB7-ACDC-6832-61703869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7EE52-07B8-7502-695C-6DF8A78D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E3460CC-A376-5637-5998-D11D83D1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5123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8F389F-3435-A3CA-D8B5-31A600F72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33BEFD-867B-5487-68C5-3F9B60292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4278E2-9BED-AFAC-E024-EA1282F7B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14C5-21E9-B1BB-FAEB-95E5A017C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448983-4ED4-A1F6-ABA9-CD9634DF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7065E54-4AF9-87DF-9439-3998BE78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82214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92D63-E499-03F7-FB4D-93474D0C7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F4D4A8B-B230-AB87-D28F-47E1EF756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04D0E4-B7E8-F53F-6E2B-AC40634D2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0558D2-1230-7AE6-C0AB-8C24ADE1D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8A289-C61E-F62D-8E83-FAFD4422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5974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DD465E1-F8B5-FF8A-28AB-8CEAEC420D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BD6A3E-9027-3D05-9863-50913A2D8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397731-A82C-21F2-2C4D-A190BB9F2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838474-DFAA-E728-D9B9-DEFD39979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089AF1-2426-4CC7-C36C-58F4C5A1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584383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801428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445081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8918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634229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772683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55331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27391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20110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338797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43002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03151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8990258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288277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6880667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4492267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907843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218800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632089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374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4215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429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628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476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8225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26432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8718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42968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783121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263810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64826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060798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786742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017176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4259937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9935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96329791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5433142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7415953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7515681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4741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428421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0168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8809703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0794212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3605218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217218235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1211374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95199235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5306485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6440042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0844092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7696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39131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9494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5577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0486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8523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55933982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9884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24694611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306369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64217363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7097550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6915478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673974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4967650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5720940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1892588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11529411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2309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5288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45052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5010031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8643638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29791299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00957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1478736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0110297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007523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9585913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2130341487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2543165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497897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631561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91782741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70003420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706941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78331499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8843373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8726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52753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198591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07690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60693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7008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415757675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462165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25402841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0596028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900505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0137237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0861969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‹Nº›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8818211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91813148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693629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12-10-2026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193289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2061947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60162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6724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-section 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Sub-section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Sub-subhead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55782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image" Target="../media/image2.svg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/Relationships>
</file>

<file path=ppt/slideMasters/_rels/slideMaster3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26" Type="http://schemas.openxmlformats.org/officeDocument/2006/relationships/slideLayout" Target="../slideLayouts/slideLayout71.xml"/><Relationship Id="rId39" Type="http://schemas.openxmlformats.org/officeDocument/2006/relationships/theme" Target="../theme/theme3.xml"/><Relationship Id="rId21" Type="http://schemas.openxmlformats.org/officeDocument/2006/relationships/slideLayout" Target="../slideLayouts/slideLayout66.xml"/><Relationship Id="rId34" Type="http://schemas.openxmlformats.org/officeDocument/2006/relationships/slideLayout" Target="../slideLayouts/slideLayout79.xml"/><Relationship Id="rId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4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24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77.xml"/><Relationship Id="rId37" Type="http://schemas.openxmlformats.org/officeDocument/2006/relationships/slideLayout" Target="../slideLayouts/slideLayout82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31" Type="http://schemas.openxmlformats.org/officeDocument/2006/relationships/slideLayout" Target="../slideLayouts/slideLayout76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72.xml"/><Relationship Id="rId30" Type="http://schemas.openxmlformats.org/officeDocument/2006/relationships/slideLayout" Target="../slideLayouts/slideLayout75.xml"/><Relationship Id="rId35" Type="http://schemas.openxmlformats.org/officeDocument/2006/relationships/slideLayout" Target="../slideLayouts/slideLayout80.xml"/><Relationship Id="rId8" Type="http://schemas.openxmlformats.org/officeDocument/2006/relationships/slideLayout" Target="../slideLayouts/slideLayout53.xml"/><Relationship Id="rId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5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78.xml"/><Relationship Id="rId38" Type="http://schemas.openxmlformats.org/officeDocument/2006/relationships/slideLayout" Target="../slideLayouts/slideLayout83.xml"/></Relationships>
</file>

<file path=ppt/slideMasters/_rels/slideMaster4.xml.rels><?xml version="1.0" encoding="UTF-8" standalone="yes"?>
<Relationships xmlns="http://schemas.openxmlformats.org/package/2006/relationships"><Relationship Id="rId13" Type="http://schemas.openxmlformats.org/officeDocument/2006/relationships/slideLayout" Target="../slideLayouts/slideLayout96.xml"/><Relationship Id="rId18" Type="http://schemas.openxmlformats.org/officeDocument/2006/relationships/slideLayout" Target="../slideLayouts/slideLayout101.xml"/><Relationship Id="rId26" Type="http://schemas.openxmlformats.org/officeDocument/2006/relationships/slideLayout" Target="../slideLayouts/slideLayout109.xml"/><Relationship Id="rId39" Type="http://schemas.openxmlformats.org/officeDocument/2006/relationships/theme" Target="../theme/theme4.xml"/><Relationship Id="rId21" Type="http://schemas.openxmlformats.org/officeDocument/2006/relationships/slideLayout" Target="../slideLayouts/slideLayout104.xml"/><Relationship Id="rId34" Type="http://schemas.openxmlformats.org/officeDocument/2006/relationships/slideLayout" Target="../slideLayouts/slideLayout117.xml"/><Relationship Id="rId7" Type="http://schemas.openxmlformats.org/officeDocument/2006/relationships/slideLayout" Target="../slideLayouts/slideLayout90.xml"/><Relationship Id="rId2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2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24" Type="http://schemas.openxmlformats.org/officeDocument/2006/relationships/slideLayout" Target="../slideLayouts/slideLayout107.xml"/><Relationship Id="rId32" Type="http://schemas.openxmlformats.org/officeDocument/2006/relationships/slideLayout" Target="../slideLayouts/slideLayout115.xml"/><Relationship Id="rId37" Type="http://schemas.openxmlformats.org/officeDocument/2006/relationships/slideLayout" Target="../slideLayouts/slideLayout120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88.xml"/><Relationship Id="rId15" Type="http://schemas.openxmlformats.org/officeDocument/2006/relationships/slideLayout" Target="../slideLayouts/slideLayout98.xml"/><Relationship Id="rId23" Type="http://schemas.openxmlformats.org/officeDocument/2006/relationships/slideLayout" Target="../slideLayouts/slideLayout106.xml"/><Relationship Id="rId28" Type="http://schemas.openxmlformats.org/officeDocument/2006/relationships/slideLayout" Target="../slideLayouts/slideLayout111.xml"/><Relationship Id="rId36" Type="http://schemas.openxmlformats.org/officeDocument/2006/relationships/slideLayout" Target="../slideLayouts/slideLayout119.xml"/><Relationship Id="rId10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102.xml"/><Relationship Id="rId31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Relationship Id="rId14" Type="http://schemas.openxmlformats.org/officeDocument/2006/relationships/slideLayout" Target="../slideLayouts/slideLayout97.xml"/><Relationship Id="rId22" Type="http://schemas.openxmlformats.org/officeDocument/2006/relationships/slideLayout" Target="../slideLayouts/slideLayout105.xml"/><Relationship Id="rId27" Type="http://schemas.openxmlformats.org/officeDocument/2006/relationships/slideLayout" Target="../slideLayouts/slideLayout110.xml"/><Relationship Id="rId30" Type="http://schemas.openxmlformats.org/officeDocument/2006/relationships/slideLayout" Target="../slideLayouts/slideLayout113.xml"/><Relationship Id="rId35" Type="http://schemas.openxmlformats.org/officeDocument/2006/relationships/slideLayout" Target="../slideLayouts/slideLayout118.xml"/><Relationship Id="rId8" Type="http://schemas.openxmlformats.org/officeDocument/2006/relationships/slideLayout" Target="../slideLayouts/slideLayout91.xml"/><Relationship Id="rId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100.xml"/><Relationship Id="rId25" Type="http://schemas.openxmlformats.org/officeDocument/2006/relationships/slideLayout" Target="../slideLayouts/slideLayout108.xml"/><Relationship Id="rId33" Type="http://schemas.openxmlformats.org/officeDocument/2006/relationships/slideLayout" Target="../slideLayouts/slideLayout116.xml"/><Relationship Id="rId38" Type="http://schemas.openxmlformats.org/officeDocument/2006/relationships/slideLayout" Target="../slideLayouts/slideLayout1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E123625-4177-94C5-071F-B877E4893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CC5A60-722C-D5E0-88E8-5BB4ECA798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07A37D-85C7-5674-D2C3-ADB9632C5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28B04F-4F73-48C2-9E46-704F64527F32}" type="datetimeFigureOut">
              <a:rPr lang="es-PE" smtClean="0"/>
              <a:t>12/10/2026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0165AA-F759-5A1E-FB29-109C5E328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FB6A20-3F4D-79CB-E2F3-BEEDBBCD8C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4433A7-2339-439A-AF51-9EFDA9A6041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90675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10626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63148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726" r:id="rId31"/>
    <p:sldLayoutId id="2147483727" r:id="rId32"/>
    <p:sldLayoutId id="2147483728" r:id="rId33"/>
    <p:sldLayoutId id="2147483729" r:id="rId34"/>
    <p:sldLayoutId id="2147483730" r:id="rId35"/>
    <p:sldLayoutId id="2147483731" r:id="rId36"/>
    <p:sldLayoutId id="2147483733" r:id="rId37"/>
    <p:sldLayoutId id="214748373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‹Nº›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900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  <p:sldLayoutId id="2147483754" r:id="rId19"/>
    <p:sldLayoutId id="2147483755" r:id="rId20"/>
    <p:sldLayoutId id="2147483756" r:id="rId21"/>
    <p:sldLayoutId id="2147483757" r:id="rId22"/>
    <p:sldLayoutId id="2147483758" r:id="rId23"/>
    <p:sldLayoutId id="2147483759" r:id="rId24"/>
    <p:sldLayoutId id="2147483760" r:id="rId25"/>
    <p:sldLayoutId id="2147483761" r:id="rId26"/>
    <p:sldLayoutId id="2147483762" r:id="rId27"/>
    <p:sldLayoutId id="2147483763" r:id="rId28"/>
    <p:sldLayoutId id="2147483764" r:id="rId29"/>
    <p:sldLayoutId id="2147483765" r:id="rId30"/>
    <p:sldLayoutId id="2147483766" r:id="rId31"/>
    <p:sldLayoutId id="2147483767" r:id="rId32"/>
    <p:sldLayoutId id="2147483768" r:id="rId33"/>
    <p:sldLayoutId id="2147483769" r:id="rId34"/>
    <p:sldLayoutId id="2147483770" r:id="rId35"/>
    <p:sldLayoutId id="2147483771" r:id="rId36"/>
    <p:sldLayoutId id="2147483772" r:id="rId37"/>
    <p:sldLayoutId id="2147483774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1.xml.rels><?xml version="1.0" encoding="UTF-8" standalone="yes"?>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jpeg"/><Relationship Id="rId4" Type="http://schemas.openxmlformats.org/officeDocument/2006/relationships/image" Target="../media/image20.png"/></Relationships>
</file>

<file path=ppt/slides/_rels/slide5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5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59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6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0909" y="0"/>
            <a:ext cx="3744190" cy="196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4053898" cy="9542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AA2A2A2-E239-B191-EB4C-97728C5FB3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2" r="6842"/>
          <a:stretch/>
        </p:blipFill>
        <p:spPr>
          <a:xfrm>
            <a:off x="6096000" y="1870726"/>
            <a:ext cx="6096000" cy="4719037"/>
          </a:xfrm>
          <a:custGeom>
            <a:avLst/>
            <a:gdLst>
              <a:gd name="connsiteX0" fmla="*/ 1 w 6096000"/>
              <a:gd name="connsiteY0" fmla="*/ 0 h 4719037"/>
              <a:gd name="connsiteX1" fmla="*/ 6096000 w 6096000"/>
              <a:gd name="connsiteY1" fmla="*/ 0 h 4719037"/>
              <a:gd name="connsiteX2" fmla="*/ 6096000 w 6096000"/>
              <a:gd name="connsiteY2" fmla="*/ 1326306 h 4719037"/>
              <a:gd name="connsiteX3" fmla="*/ 1340479 w 6096000"/>
              <a:gd name="connsiteY3" fmla="*/ 1326306 h 4719037"/>
              <a:gd name="connsiteX4" fmla="*/ 1340479 w 6096000"/>
              <a:gd name="connsiteY4" fmla="*/ 1682193 h 4719037"/>
              <a:gd name="connsiteX5" fmla="*/ 5574890 w 6096000"/>
              <a:gd name="connsiteY5" fmla="*/ 1682193 h 4719037"/>
              <a:gd name="connsiteX6" fmla="*/ 5574890 w 6096000"/>
              <a:gd name="connsiteY6" fmla="*/ 3022672 h 4719037"/>
              <a:gd name="connsiteX7" fmla="*/ 1340479 w 6096000"/>
              <a:gd name="connsiteY7" fmla="*/ 3022671 h 4719037"/>
              <a:gd name="connsiteX8" fmla="*/ 1340479 w 6096000"/>
              <a:gd name="connsiteY8" fmla="*/ 3378558 h 4719037"/>
              <a:gd name="connsiteX9" fmla="*/ 6095999 w 6096000"/>
              <a:gd name="connsiteY9" fmla="*/ 3378559 h 4719037"/>
              <a:gd name="connsiteX10" fmla="*/ 6095999 w 6096000"/>
              <a:gd name="connsiteY10" fmla="*/ 4719037 h 4719037"/>
              <a:gd name="connsiteX11" fmla="*/ 1340479 w 6096000"/>
              <a:gd name="connsiteY11" fmla="*/ 4719037 h 4719037"/>
              <a:gd name="connsiteX12" fmla="*/ 0 w 6096000"/>
              <a:gd name="connsiteY12" fmla="*/ 4719037 h 4719037"/>
              <a:gd name="connsiteX13" fmla="*/ 0 w 6096000"/>
              <a:gd name="connsiteY13" fmla="*/ 1 h 4719037"/>
              <a:gd name="connsiteX14" fmla="*/ 1 w 6096000"/>
              <a:gd name="connsiteY14" fmla="*/ 1 h 471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096000" h="4719037">
                <a:moveTo>
                  <a:pt x="1" y="0"/>
                </a:moveTo>
                <a:lnTo>
                  <a:pt x="6096000" y="0"/>
                </a:lnTo>
                <a:lnTo>
                  <a:pt x="6096000" y="1326306"/>
                </a:lnTo>
                <a:lnTo>
                  <a:pt x="1340479" y="1326306"/>
                </a:lnTo>
                <a:lnTo>
                  <a:pt x="1340479" y="1682193"/>
                </a:lnTo>
                <a:lnTo>
                  <a:pt x="5574890" y="1682193"/>
                </a:lnTo>
                <a:lnTo>
                  <a:pt x="5574890" y="3022672"/>
                </a:lnTo>
                <a:lnTo>
                  <a:pt x="1340479" y="3022671"/>
                </a:lnTo>
                <a:lnTo>
                  <a:pt x="1340479" y="3378558"/>
                </a:lnTo>
                <a:lnTo>
                  <a:pt x="6095999" y="3378559"/>
                </a:lnTo>
                <a:lnTo>
                  <a:pt x="6095999" y="4719037"/>
                </a:lnTo>
                <a:lnTo>
                  <a:pt x="1340479" y="4719037"/>
                </a:lnTo>
                <a:lnTo>
                  <a:pt x="0" y="4719037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481781" y="2847728"/>
            <a:ext cx="55257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6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Montserrat" pitchFamily="2" charset="0"/>
              </a:rPr>
              <a:t>RUTA DE APRENDIZAJE</a:t>
            </a:r>
            <a:endParaRPr lang="es-PE" sz="4600" b="1" dirty="0">
              <a:solidFill>
                <a:schemeClr val="accent3">
                  <a:lumMod val="60000"/>
                  <a:lumOff val="40000"/>
                </a:schemeClr>
              </a:solidFill>
              <a:latin typeface="Montserrat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F3A99F-357C-A6F7-37E7-45E55D8F10F5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i="1" dirty="0">
                <a:solidFill>
                  <a:schemeClr val="bg1"/>
                </a:solidFill>
              </a:rPr>
              <a:t>Elaborado por: Dagner Anibal Chuman Lluen</a:t>
            </a:r>
            <a:endParaRPr lang="es-PE" sz="1200" i="1" dirty="0">
              <a:solidFill>
                <a:schemeClr val="bg1"/>
              </a:solidFill>
            </a:endParaRPr>
          </a:p>
        </p:txBody>
      </p:sp>
      <p:sp>
        <p:nvSpPr>
          <p:cNvPr id="1029" name="Texto 1029"/>
          <p:cNvSpPr txBox="1"/>
          <p:nvPr/>
        </p:nvSpPr>
        <p:spPr>
          <a:xfrm>
            <a:off x="481781" y="5130000"/>
            <a:ext cx="5525729" cy="760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s-ES" sz="2000" b="1" dirty="0">
                <a:solidFill>
                  <a:srgbClr val="FFFFFF"/>
                </a:solidFill>
                <a:latin typeface="Montserrat" pitchFamily="2" charset="0"/>
              </a:rPr>
              <a:t>INSCRIPCIÓN, NRC Y PROGRAMAS · CENTRO DE INFORMÁTICA</a:t>
            </a:r>
          </a:p>
          <a:p>
            <a:r>
              <a:rPr lang="es-ES" sz="1600" dirty="0">
                <a:solidFill>
                  <a:srgbClr val="FFFFFF"/>
                </a:solidFill>
                <a:latin typeface="Montserrat" pitchFamily="2" charset="0"/>
              </a:rPr>
              <a:t>Repaso para la reunión con el Ing. Daniel Salazar · 27/10/2026</a:t>
            </a:r>
          </a:p>
        </p:txBody>
      </p:sp>
    </p:spTree>
    <p:extLst>
      <p:ext uri="{BB962C8B-B14F-4D97-AF65-F5344CB8AC3E}">
        <p14:creationId xmlns:p14="http://schemas.microsoft.com/office/powerpoint/2010/main" val="3735661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4368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LO QUE VAMOS A VER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799386" y="241540"/>
            <a:ext cx="739261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635216"/>
          </a:xfrm>
          <a:prstGeom prst="roundRect">
            <a:avLst>
              <a:gd name="adj" fmla="val 9000"/>
            </a:avLst>
          </a:prstGeom>
          <a:solidFill>
            <a:srgbClr val="F1E7FA"/>
          </a:solidFill>
          <a:ln w="12700">
            <a:solidFill>
              <a:srgbClr val="DCC8EE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500" dirty="0">
                <a:solidFill>
                  <a:srgbClr val="1E1E24"/>
                </a:solidFill>
              </a:rPr>
              <a:t>Hoy con el jefe del Centro de Informática: </a:t>
            </a:r>
            <a:r>
              <a:rPr lang="es-PE" sz="1500" b="1" dirty="0">
                <a:solidFill>
                  <a:srgbClr val="1E1E24"/>
                </a:solidFill>
              </a:rPr>
              <a:t>cómo se inscribe un alumno en su ruta de aprendizaje</a:t>
            </a:r>
            <a:r>
              <a:rPr lang="es-PE" sz="1500" dirty="0">
                <a:solidFill>
                  <a:srgbClr val="1E1E24"/>
                </a:solidFill>
              </a:rPr>
              <a:t> y </a:t>
            </a:r>
            <a:r>
              <a:rPr lang="es-PE" sz="1500" b="1" dirty="0">
                <a:solidFill>
                  <a:srgbClr val="1E1E24"/>
                </a:solidFill>
              </a:rPr>
              <a:t>cómo se crea el NRC y se le asignan los programas</a:t>
            </a:r>
            <a:r>
              <a:rPr lang="es-PE" sz="1500" dirty="0">
                <a:solidFill>
                  <a:srgbClr val="1E1E24"/>
                </a:solidFill>
              </a:rPr>
              <a:t>. Todo lo de aquí está probado en TEST o citado del instructivo.</a:t>
            </a:r>
            <a:endParaRPr lang="es-PE" sz="1500" dirty="0"/>
          </a:p>
        </p:txBody>
      </p:sp>
      <p:sp>
        <p:nvSpPr>
          <p:cNvPr id="10" name="Paso 10"/>
          <p:cNvSpPr/>
          <p:nvPr/>
        </p:nvSpPr>
        <p:spPr>
          <a:xfrm>
            <a:off x="431320" y="1625216"/>
            <a:ext cx="2233872" cy="760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1  </a:t>
            </a:r>
            <a:r>
              <a:rPr lang="es-PE" sz="1400" b="1" dirty="0">
                <a:solidFill>
                  <a:srgbClr val="FFFFFF"/>
                </a:solidFill>
              </a:rPr>
              <a:t>Rutas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Qué son y cuántas</a:t>
            </a:r>
            <a:endParaRPr lang="es-PE" sz="1250" dirty="0"/>
          </a:p>
        </p:txBody>
      </p:sp>
      <p:sp>
        <p:nvSpPr>
          <p:cNvPr id="11" name="Paso 11"/>
          <p:cNvSpPr/>
          <p:nvPr/>
        </p:nvSpPr>
        <p:spPr>
          <a:xfrm>
            <a:off x="2705192" y="16252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2  </a:t>
            </a:r>
            <a:r>
              <a:rPr lang="es-PE" sz="1400" b="1" dirty="0">
                <a:solidFill>
                  <a:srgbClr val="FFFFFF"/>
                </a:solidFill>
              </a:rPr>
              <a:t>Inscribir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Alumno en su ruta</a:t>
            </a:r>
            <a:endParaRPr lang="es-PE" sz="1250" dirty="0"/>
          </a:p>
        </p:txBody>
      </p:sp>
      <p:sp>
        <p:nvSpPr>
          <p:cNvPr id="12" name="Paso 12"/>
          <p:cNvSpPr/>
          <p:nvPr/>
        </p:nvSpPr>
        <p:spPr>
          <a:xfrm>
            <a:off x="4979064" y="16252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3  </a:t>
            </a:r>
            <a:r>
              <a:rPr lang="es-PE" sz="1400" b="1" dirty="0">
                <a:solidFill>
                  <a:srgbClr val="FFFFFF"/>
                </a:solidFill>
              </a:rPr>
              <a:t>Crear el NRC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Malla y programación</a:t>
            </a:r>
            <a:endParaRPr lang="es-PE" sz="1250" dirty="0"/>
          </a:p>
        </p:txBody>
      </p:sp>
      <p:sp>
        <p:nvSpPr>
          <p:cNvPr id="13" name="Paso 13"/>
          <p:cNvSpPr/>
          <p:nvPr/>
        </p:nvSpPr>
        <p:spPr>
          <a:xfrm>
            <a:off x="7252936" y="16252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4  </a:t>
            </a:r>
            <a:r>
              <a:rPr lang="es-PE" sz="1400" b="1" dirty="0">
                <a:solidFill>
                  <a:srgbClr val="FFFFFF"/>
                </a:solidFill>
              </a:rPr>
              <a:t>Programas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El curso en la malla</a:t>
            </a:r>
            <a:endParaRPr lang="es-PE" sz="1250" dirty="0"/>
          </a:p>
        </p:txBody>
      </p:sp>
      <p:sp>
        <p:nvSpPr>
          <p:cNvPr id="14" name="Paso 14"/>
          <p:cNvSpPr/>
          <p:nvPr/>
        </p:nvSpPr>
        <p:spPr>
          <a:xfrm>
            <a:off x="9526808" y="1625216"/>
            <a:ext cx="2233872" cy="76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FFFFFF"/>
                </a:solidFill>
              </a:rPr>
              <a:t>5  </a:t>
            </a:r>
            <a:r>
              <a:rPr lang="es-PE" sz="1400" b="1" dirty="0">
                <a:solidFill>
                  <a:srgbClr val="FFFFFF"/>
                </a:solidFill>
              </a:rPr>
              <a:t>Repaso</a:t>
            </a:r>
            <a:endParaRPr lang="es-PE" sz="1400" dirty="0"/>
          </a:p>
          <a:p>
            <a:pPr algn="l">
              <a:buNone/>
            </a:pPr>
            <a:r>
              <a:rPr lang="es-PE" sz="1250" dirty="0">
                <a:solidFill>
                  <a:srgbClr val="EDE0F8"/>
                </a:solidFill>
              </a:rPr>
              <a:t>Sitio y asistente IA</a:t>
            </a:r>
            <a:endParaRPr lang="es-PE" sz="1250" dirty="0"/>
          </a:p>
        </p:txBody>
      </p:sp>
      <p:sp>
        <p:nvSpPr>
          <p:cNvPr id="15" name="Bloque 15"/>
          <p:cNvSpPr/>
          <p:nvPr/>
        </p:nvSpPr>
        <p:spPr>
          <a:xfrm>
            <a:off x="431320" y="2495216"/>
            <a:ext cx="5574680" cy="3354784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600" b="1" dirty="0">
                <a:solidFill>
                  <a:srgbClr val="5F5F6B"/>
                </a:solidFill>
              </a:rPr>
              <a:t>Hoy en SEUSS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Campus Virtual › Procesos en línea › Matrícula en línea › logo del Centro de Informática › modalidad › curso y sección › modalidad de pago.</a:t>
            </a:r>
            <a:endParaRPr lang="es-PE" dirty="0"/>
          </a:p>
        </p:txBody>
      </p:sp>
      <p:sp>
        <p:nvSpPr>
          <p:cNvPr id="16" name="Bloque 16"/>
          <p:cNvSpPr/>
          <p:nvPr/>
        </p:nvSpPr>
        <p:spPr>
          <a:xfrm>
            <a:off x="6186000" y="2495216"/>
            <a:ext cx="5574680" cy="3354784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600" b="1" dirty="0">
                <a:solidFill>
                  <a:srgbClr val="5C2193"/>
                </a:solidFill>
              </a:rPr>
              <a:t>En Banner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El alumno se </a:t>
            </a:r>
            <a:r>
              <a:rPr lang="es-PE" sz="1500" b="1" dirty="0">
                <a:solidFill>
                  <a:srgbClr val="1E1E24"/>
                </a:solidFill>
              </a:rPr>
              <a:t>admite en el programa XP de su ruta</a:t>
            </a:r>
            <a:r>
              <a:rPr lang="es-PE" sz="1500" dirty="0">
                <a:solidFill>
                  <a:srgbClr val="1E1E24"/>
                </a:solidFill>
              </a:rPr>
              <a:t> (</a:t>
            </a:r>
            <a:r>
              <a:rPr lang="es-PE" sz="1500" b="1" dirty="0">
                <a:solidFill>
                  <a:srgbClr val="5C2193"/>
                </a:solidFill>
              </a:rPr>
              <a:t>SAAQUIK</a:t>
            </a:r>
            <a:r>
              <a:rPr lang="es-PE" sz="1500" dirty="0">
                <a:solidFill>
                  <a:srgbClr val="1E1E24"/>
                </a:solidFill>
              </a:rPr>
              <a:t>: admisión rápida) y se matricula en el NRC (</a:t>
            </a:r>
            <a:r>
              <a:rPr lang="es-PE" sz="1500" b="1" dirty="0">
                <a:solidFill>
                  <a:srgbClr val="5C2193"/>
                </a:solidFill>
              </a:rPr>
              <a:t>SFAREGS</a:t>
            </a:r>
            <a:r>
              <a:rPr lang="es-PE" sz="1500" dirty="0">
                <a:solidFill>
                  <a:srgbClr val="1E1E24"/>
                </a:solidFill>
              </a:rPr>
              <a:t>: Inscripción de curso del alumno o Autoservicio: portal web de Banner para docentes y estudiantes).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500" dirty="0">
                <a:solidFill>
                  <a:srgbClr val="1E1E24"/>
                </a:solidFill>
              </a:rPr>
              <a:t>El curso se </a:t>
            </a:r>
            <a:r>
              <a:rPr lang="es-PE" sz="1500" b="1" dirty="0">
                <a:solidFill>
                  <a:srgbClr val="1E1E24"/>
                </a:solidFill>
              </a:rPr>
              <a:t>asigna a los programas</a:t>
            </a:r>
            <a:r>
              <a:rPr lang="es-PE" sz="1500" dirty="0">
                <a:solidFill>
                  <a:srgbClr val="1E1E24"/>
                </a:solidFill>
              </a:rPr>
              <a:t> poniéndolo en su </a:t>
            </a:r>
            <a:r>
              <a:rPr lang="es-PE" sz="1500" b="1" dirty="0">
                <a:solidFill>
                  <a:srgbClr val="1E1E24"/>
                </a:solidFill>
              </a:rPr>
              <a:t>malla</a:t>
            </a:r>
            <a:r>
              <a:rPr lang="es-PE" sz="1500" dirty="0">
                <a:solidFill>
                  <a:srgbClr val="1E1E24"/>
                </a:solidFill>
              </a:rPr>
              <a:t> (</a:t>
            </a:r>
            <a:r>
              <a:rPr lang="es-PE" sz="1500" b="1" dirty="0">
                <a:solidFill>
                  <a:srgbClr val="5C2193"/>
                </a:solidFill>
              </a:rPr>
              <a:t>SMAPROG</a:t>
            </a:r>
            <a:r>
              <a:rPr lang="es-PE" sz="1500" dirty="0">
                <a:solidFill>
                  <a:srgbClr val="1E1E24"/>
                </a:solidFill>
              </a:rPr>
              <a:t>: requerimientos del programa: la malla, </a:t>
            </a:r>
            <a:r>
              <a:rPr lang="es-PE" sz="1500" b="1" dirty="0">
                <a:solidFill>
                  <a:srgbClr val="5C2193"/>
                </a:solidFill>
              </a:rPr>
              <a:t>SMAAREA</a:t>
            </a:r>
            <a:r>
              <a:rPr lang="es-PE" sz="1500" dirty="0">
                <a:solidFill>
                  <a:srgbClr val="1E1E24"/>
                </a:solidFill>
              </a:rPr>
              <a:t>: requerimientos de área de la malla) y el NRC se crea en </a:t>
            </a:r>
            <a:r>
              <a:rPr lang="es-PE" sz="1500" b="1" dirty="0">
                <a:solidFill>
                  <a:srgbClr val="5C2193"/>
                </a:solidFill>
              </a:rPr>
              <a:t>SSASECT</a:t>
            </a:r>
            <a:r>
              <a:rPr lang="es-PE" sz="1500" dirty="0">
                <a:solidFill>
                  <a:srgbClr val="1E1E24"/>
                </a:solidFill>
              </a:rPr>
              <a:t> (Programar NRC). Las </a:t>
            </a:r>
            <a:r>
              <a:rPr lang="es-PE" sz="1500" b="1" dirty="0">
                <a:solidFill>
                  <a:srgbClr val="1E1E24"/>
                </a:solidFill>
              </a:rPr>
              <a:t>restricciones</a:t>
            </a:r>
            <a:r>
              <a:rPr lang="es-PE" sz="1500" dirty="0">
                <a:solidFill>
                  <a:srgbClr val="1E1E24"/>
                </a:solidFill>
              </a:rPr>
              <a:t> de quién se matricula van en </a:t>
            </a:r>
            <a:r>
              <a:rPr lang="es-PE" sz="1500" b="1" dirty="0">
                <a:solidFill>
                  <a:srgbClr val="5C2193"/>
                </a:solidFill>
              </a:rPr>
              <a:t>SSARRES</a:t>
            </a:r>
            <a:r>
              <a:rPr lang="es-PE" sz="1500" dirty="0">
                <a:solidFill>
                  <a:srgbClr val="1E1E24"/>
                </a:solidFill>
              </a:rPr>
              <a:t> (restricciones de inscripción del NRC).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6169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0631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QUÉ ES UNA RUTA DE APRENDIZAJE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494478" y="241540"/>
            <a:ext cx="469752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604736"/>
          </a:xfrm>
          <a:prstGeom prst="roundRect">
            <a:avLst>
              <a:gd name="adj" fmla="val 9000"/>
            </a:avLst>
          </a:prstGeom>
          <a:solidFill>
            <a:srgbClr val="EDF7E8"/>
          </a:solidFill>
          <a:ln w="12700">
            <a:solidFill>
              <a:srgbClr val="BFE0B0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400" dirty="0">
                <a:solidFill>
                  <a:srgbClr val="1E1E24"/>
                </a:solidFill>
              </a:rPr>
              <a:t>Se acredita en </a:t>
            </a:r>
            <a:r>
              <a:rPr lang="es-PE" sz="1400" b="1" dirty="0">
                <a:solidFill>
                  <a:srgbClr val="1E1E24"/>
                </a:solidFill>
              </a:rPr>
              <a:t>5.º y 6.º ciclo</a:t>
            </a:r>
            <a:r>
              <a:rPr lang="es-PE" sz="1400" dirty="0">
                <a:solidFill>
                  <a:srgbClr val="1E1E24"/>
                </a:solidFill>
              </a:rPr>
              <a:t> con </a:t>
            </a:r>
            <a:r>
              <a:rPr lang="es-PE" sz="1400" b="1" dirty="0">
                <a:solidFill>
                  <a:srgbClr val="1E1E24"/>
                </a:solidFill>
              </a:rPr>
              <a:t>3 cursos de su ruta</a:t>
            </a:r>
            <a:r>
              <a:rPr lang="es-PE" sz="1400" dirty="0">
                <a:solidFill>
                  <a:srgbClr val="1E1E24"/>
                </a:solidFill>
              </a:rPr>
              <a:t>, en el orden que quiera y en paralelo, </a:t>
            </a:r>
            <a:r>
              <a:rPr lang="es-PE" sz="1400" b="1" dirty="0">
                <a:solidFill>
                  <a:srgbClr val="1E1E24"/>
                </a:solidFill>
              </a:rPr>
              <a:t>+ 1 Taller de Certificación Internacional</a:t>
            </a:r>
            <a:r>
              <a:rPr lang="es-PE" sz="1400" dirty="0">
                <a:solidFill>
                  <a:srgbClr val="1E1E24"/>
                </a:solidFill>
              </a:rPr>
              <a:t>. Cada ruta es un </a:t>
            </a:r>
            <a:r>
              <a:rPr lang="es-PE" sz="1400" b="1" dirty="0">
                <a:solidFill>
                  <a:srgbClr val="1E1E24"/>
                </a:solidFill>
              </a:rPr>
              <a:t>programa XP</a:t>
            </a:r>
            <a:r>
              <a:rPr lang="es-PE" sz="1400" dirty="0">
                <a:solidFill>
                  <a:srgbClr val="1E1E24"/>
                </a:solidFill>
              </a:rPr>
              <a:t> en Banner.</a:t>
            </a:r>
            <a:endParaRPr lang="es-PE" sz="1400" dirty="0"/>
          </a:p>
        </p:txBody>
      </p:sp>
      <p:graphicFrame>
        <p:nvGraphicFramePr>
          <p:cNvPr id="10" name="Tabla 10"/>
          <p:cNvGraphicFramePr>
            <a:graphicFrameLocks noGrp="1"/>
          </p:cNvGraphicFramePr>
          <p:nvPr/>
        </p:nvGraphicFramePr>
        <p:xfrm>
          <a:off x="431320" y="1594736"/>
          <a:ext cx="11329360" cy="3751289"/>
        </p:xfrm>
        <a:graphic>
          <a:graphicData uri="http://schemas.openxmlformats.org/drawingml/2006/table">
            <a:tbl>
              <a:tblPr firstRow="1" bandRow="1"/>
              <a:tblGrid>
                <a:gridCol w="1925991"/>
                <a:gridCol w="4645037"/>
                <a:gridCol w="4758332"/>
              </a:tblGrid>
              <a:tr h="2860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FFFFFF"/>
                          </a:solidFill>
                        </a:rPr>
                        <a:t>Ruta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FFFFFF"/>
                          </a:solidFill>
                        </a:rPr>
                        <a:t>Escuelas profesionales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FFFFFF"/>
                          </a:solidFill>
                        </a:rPr>
                        <a:t>Cursos (y el taller)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1 · XP 01 (CMEMC38)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Salud: Enfermería, Estomatología, Medicina Humana, Tecnología Médica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Excel Asociado · SPSS · Base de datos científicos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2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Derecho, Psicología, Trabajo Social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Word Asociado · Excel Asociado · SPSS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6517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3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Administración (y Emprendimiento, Marketing), Contabilidad (y Finanzas), Negocios Internacionales, Turismo, Agroindustrial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Excel Asociado · Project · Power BI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4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Arquitectura, Ingeniería Civil, Diseño de Interiores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Excel Asociado · AutoCAD 2D · AutoCAD 3D · Sketchup · Project · Revit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5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Ingeniería de Sistemas, de Software, Industrial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Excel Asociado · AutoCAD 2D · AutoCAD 3D · Bizagi · Diseño Web · Power BI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6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Ingeniería Mecánica Eléctrica, Civil, Arquitectura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Excel Asociado · AutoCAD 2D · AutoCAD 3D · SolidWorks · MatLab · Diseño Mecánico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4689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b="1" dirty="0">
                          <a:solidFill>
                            <a:srgbClr val="5C2193"/>
                          </a:solidFill>
                        </a:rPr>
                        <a:t>7 · XP 07 (CMEMC44)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Artes y Diseño Gráfico, Ciencias de la Comunicación, Ingeniería de Sistemas, de Software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200" dirty="0">
                          <a:solidFill>
                            <a:srgbClr val="1E1E24"/>
                          </a:solidFill>
                        </a:rPr>
                        <a:t>Word 365 · Excel 365 · Canva · Word Asociado · Excel Asociado · Diseño Web</a:t>
                      </a:r>
                      <a:endParaRPr lang="es-PE" sz="12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Forma 11"/>
          <p:cNvSpPr/>
          <p:nvPr/>
        </p:nvSpPr>
        <p:spPr>
          <a:xfrm>
            <a:off x="431320" y="5550000"/>
            <a:ext cx="11329360" cy="187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100" dirty="0">
                <a:solidFill>
                  <a:srgbClr val="5F5F6B"/>
                </a:solidFill>
              </a:rPr>
              <a:t>Fuente: carpeta acreditaciones-uss (láminas 5 a 8, 2026). Códigos de las rutas 2 a 6: por confirmar (U37).</a:t>
            </a:r>
            <a:endParaRPr lang="es-PE" sz="1100" dirty="0"/>
          </a:p>
        </p:txBody>
      </p:sp>
    </p:spTree>
    <p:extLst>
      <p:ext uri="{BB962C8B-B14F-4D97-AF65-F5344CB8AC3E}">
        <p14:creationId xmlns:p14="http://schemas.microsoft.com/office/powerpoint/2010/main" val="387507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1. INSCRIBIR AL ALUMNO EN SU RUTA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Admitirlo en el programa XP de su ruta y matricularlo en un curso de esa ruta.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7531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9222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BPM: INSCRIBIR AL ALUMNO EN SU RUTA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353608" y="241540"/>
            <a:ext cx="383839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Forma 9"/>
          <p:cNvSpPr/>
          <p:nvPr/>
        </p:nvSpPr>
        <p:spPr>
          <a:xfrm>
            <a:off x="431320" y="900000"/>
            <a:ext cx="11329360" cy="24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500" b="1" dirty="0">
                <a:solidFill>
                  <a:srgbClr val="1E1E24"/>
                </a:solidFill>
              </a:rPr>
              <a:t>Dagner, ve en este orden:</a:t>
            </a:r>
            <a:endParaRPr lang="es-PE" sz="1500" dirty="0"/>
          </a:p>
        </p:txBody>
      </p:sp>
      <p:sp>
        <p:nvSpPr>
          <p:cNvPr id="10" name="Paso 10"/>
          <p:cNvSpPr/>
          <p:nvPr/>
        </p:nvSpPr>
        <p:spPr>
          <a:xfrm>
            <a:off x="431320" y="1238600"/>
            <a:ext cx="1854893" cy="820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1  </a:t>
            </a:r>
            <a:r>
              <a:rPr lang="es-PE" sz="1250" b="1" dirty="0">
                <a:solidFill>
                  <a:srgbClr val="FFFFFF"/>
                </a:solidFill>
              </a:rPr>
              <a:t>Ruta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según su escuela</a:t>
            </a:r>
            <a:endParaRPr lang="es-PE" sz="1100" dirty="0"/>
          </a:p>
        </p:txBody>
      </p:sp>
      <p:sp>
        <p:nvSpPr>
          <p:cNvPr id="11" name="Paso 11"/>
          <p:cNvSpPr/>
          <p:nvPr/>
        </p:nvSpPr>
        <p:spPr>
          <a:xfrm>
            <a:off x="232621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2  </a:t>
            </a:r>
            <a:r>
              <a:rPr lang="es-PE" sz="1250" b="1" dirty="0">
                <a:solidFill>
                  <a:srgbClr val="FFFFFF"/>
                </a:solidFill>
              </a:rPr>
              <a:t>GOAMTCH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persona, si no existe</a:t>
            </a:r>
            <a:endParaRPr lang="es-PE" sz="1100" dirty="0"/>
          </a:p>
        </p:txBody>
      </p:sp>
      <p:sp>
        <p:nvSpPr>
          <p:cNvPr id="12" name="Paso 12"/>
          <p:cNvSpPr/>
          <p:nvPr/>
        </p:nvSpPr>
        <p:spPr>
          <a:xfrm>
            <a:off x="422110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3  </a:t>
            </a:r>
            <a:r>
              <a:rPr lang="es-PE" sz="1250" b="1" dirty="0">
                <a:solidFill>
                  <a:srgbClr val="FFFFFF"/>
                </a:solidFill>
              </a:rPr>
              <a:t>SAAQUIK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admitir en el XP</a:t>
            </a:r>
            <a:endParaRPr lang="es-PE" sz="1100" dirty="0"/>
          </a:p>
        </p:txBody>
      </p:sp>
      <p:sp>
        <p:nvSpPr>
          <p:cNvPr id="13" name="Paso 13"/>
          <p:cNvSpPr/>
          <p:nvPr/>
        </p:nvSpPr>
        <p:spPr>
          <a:xfrm>
            <a:off x="6116000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4  </a:t>
            </a:r>
            <a:r>
              <a:rPr lang="es-PE" sz="1250" b="1" dirty="0">
                <a:solidFill>
                  <a:srgbClr val="FFFFFF"/>
                </a:solidFill>
              </a:rPr>
              <a:t>SGASTDN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ver el plan</a:t>
            </a:r>
            <a:endParaRPr lang="es-PE" sz="1100" dirty="0"/>
          </a:p>
        </p:txBody>
      </p:sp>
      <p:sp>
        <p:nvSpPr>
          <p:cNvPr id="14" name="Paso 14"/>
          <p:cNvSpPr/>
          <p:nvPr/>
        </p:nvSpPr>
        <p:spPr>
          <a:xfrm>
            <a:off x="801089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5  </a:t>
            </a:r>
            <a:r>
              <a:rPr lang="es-PE" sz="1250" b="1" dirty="0">
                <a:solidFill>
                  <a:srgbClr val="FFFFFF"/>
                </a:solidFill>
              </a:rPr>
              <a:t>SFAREGS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matricular el NRC</a:t>
            </a:r>
            <a:endParaRPr lang="es-PE" sz="1100" dirty="0"/>
          </a:p>
        </p:txBody>
      </p:sp>
      <p:sp>
        <p:nvSpPr>
          <p:cNvPr id="15" name="Paso 15"/>
          <p:cNvSpPr/>
          <p:nvPr/>
        </p:nvSpPr>
        <p:spPr>
          <a:xfrm>
            <a:off x="990578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6  </a:t>
            </a:r>
            <a:r>
              <a:rPr lang="es-PE" sz="1250" b="1" dirty="0">
                <a:solidFill>
                  <a:srgbClr val="FFFFFF"/>
                </a:solidFill>
              </a:rPr>
              <a:t>TSAAREV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cargo y pago</a:t>
            </a:r>
            <a:endParaRPr lang="es-PE" sz="1100" dirty="0"/>
          </a:p>
        </p:txBody>
      </p:sp>
      <p:sp>
        <p:nvSpPr>
          <p:cNvPr id="16" name="Bloque 16"/>
          <p:cNvSpPr/>
          <p:nvPr/>
        </p:nvSpPr>
        <p:spPr>
          <a:xfrm>
            <a:off x="431320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Si ya es alumno de pregrado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No va a </a:t>
            </a:r>
            <a:r>
              <a:rPr lang="es-PE" sz="1450" b="1" dirty="0">
                <a:solidFill>
                  <a:srgbClr val="5C2193"/>
                </a:solidFill>
              </a:rPr>
              <a:t>GOAMTCH</a:t>
            </a:r>
            <a:r>
              <a:rPr lang="es-PE" sz="1450" dirty="0">
                <a:solidFill>
                  <a:srgbClr val="1E1E24"/>
                </a:solidFill>
              </a:rPr>
              <a:t> (búsqueda de personas para evitar duplicados): ya existe. Se le agrega el currículo del centro en </a:t>
            </a:r>
            <a:r>
              <a:rPr lang="es-PE" sz="1450" b="1" dirty="0">
                <a:solidFill>
                  <a:srgbClr val="5C2193"/>
                </a:solidFill>
              </a:rPr>
              <a:t>SAAQUIK</a:t>
            </a:r>
            <a:r>
              <a:rPr lang="es-PE" sz="1450" dirty="0">
                <a:solidFill>
                  <a:srgbClr val="1E1E24"/>
                </a:solidFill>
              </a:rPr>
              <a:t> (admisión rápida) o en </a:t>
            </a:r>
            <a:r>
              <a:rPr lang="es-PE" sz="1450" b="1" dirty="0">
                <a:solidFill>
                  <a:srgbClr val="5C2193"/>
                </a:solidFill>
              </a:rPr>
              <a:t>SFAREGS</a:t>
            </a:r>
            <a:r>
              <a:rPr lang="es-PE" sz="1450" dirty="0">
                <a:solidFill>
                  <a:srgbClr val="1E1E24"/>
                </a:solidFill>
              </a:rPr>
              <a:t> (Inscripción de curso del alumno) › Currículos con «+» (C100).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En </a:t>
            </a:r>
            <a:r>
              <a:rPr lang="es-PE" sz="1450" b="1" dirty="0">
                <a:solidFill>
                  <a:srgbClr val="5C2193"/>
                </a:solidFill>
              </a:rPr>
              <a:t>SFAREGS</a:t>
            </a:r>
            <a:r>
              <a:rPr lang="es-PE" sz="1450" dirty="0">
                <a:solidFill>
                  <a:srgbClr val="1E1E24"/>
                </a:solidFill>
              </a:rPr>
              <a:t> se elige el </a:t>
            </a:r>
            <a:r>
              <a:rPr lang="es-PE" sz="1450" b="1" dirty="0">
                <a:solidFill>
                  <a:srgbClr val="1E1E24"/>
                </a:solidFill>
              </a:rPr>
              <a:t>plan de estudios del centro</a:t>
            </a:r>
            <a:r>
              <a:rPr lang="es-PE" sz="1450" dirty="0">
                <a:solidFill>
                  <a:srgbClr val="1E1E24"/>
                </a:solidFill>
              </a:rPr>
              <a:t>, no el 1 (C86).</a:t>
            </a:r>
            <a:endParaRPr lang="es-PE" dirty="0"/>
          </a:p>
        </p:txBody>
      </p:sp>
      <p:sp>
        <p:nvSpPr>
          <p:cNvPr id="17" name="Bloque 17"/>
          <p:cNvSpPr/>
          <p:nvPr/>
        </p:nvSpPr>
        <p:spPr>
          <a:xfrm>
            <a:off x="4267773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EDF7E8"/>
          </a:solidFill>
          <a:ln w="12700">
            <a:solidFill>
              <a:srgbClr val="EDF7E8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50" b="1" dirty="0">
                <a:solidFill>
                  <a:srgbClr val="2F6B1B"/>
                </a:solidFill>
              </a:rPr>
              <a:t>Por Autoservicio (el alumno)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Elige su plan del centro › pestaña </a:t>
            </a:r>
            <a:r>
              <a:rPr lang="es-PE" sz="1450" b="1" dirty="0">
                <a:solidFill>
                  <a:srgbClr val="1E1E24"/>
                </a:solidFill>
              </a:rPr>
              <a:t>Proyecciones</a:t>
            </a:r>
            <a:r>
              <a:rPr lang="es-PE" sz="1450" dirty="0">
                <a:solidFill>
                  <a:srgbClr val="1E1E24"/>
                </a:solidFill>
              </a:rPr>
              <a:t> › agrega el NRC › </a:t>
            </a:r>
            <a:r>
              <a:rPr lang="es-PE" sz="1450" b="1" dirty="0">
                <a:solidFill>
                  <a:srgbClr val="1E1E24"/>
                </a:solidFill>
              </a:rPr>
              <a:t>Enviar</a:t>
            </a:r>
            <a:r>
              <a:rPr lang="es-PE" sz="1450" dirty="0">
                <a:solidFill>
                  <a:srgbClr val="1E1E24"/>
                </a:solidFill>
              </a:rPr>
              <a:t>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Queda </a:t>
            </a:r>
            <a:r>
              <a:rPr lang="es-PE" sz="1450" b="1" dirty="0">
                <a:solidFill>
                  <a:srgbClr val="1E1E24"/>
                </a:solidFill>
              </a:rPr>
              <a:t>RW</a:t>
            </a:r>
            <a:r>
              <a:rPr lang="es-PE" sz="1450" dirty="0">
                <a:solidFill>
                  <a:srgbClr val="1E1E24"/>
                </a:solidFill>
              </a:rPr>
              <a:t>, inscrito por autoservicio (C71).</a:t>
            </a:r>
            <a:endParaRPr lang="es-PE" dirty="0"/>
          </a:p>
        </p:txBody>
      </p:sp>
      <p:sp>
        <p:nvSpPr>
          <p:cNvPr id="18" name="Bloque 18"/>
          <p:cNvSpPr/>
          <p:nvPr/>
        </p:nvSpPr>
        <p:spPr>
          <a:xfrm>
            <a:off x="8104226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50" b="1" dirty="0">
                <a:solidFill>
                  <a:srgbClr val="5F5F6B"/>
                </a:solidFill>
              </a:rPr>
              <a:t>Al terminar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b="1" dirty="0">
                <a:solidFill>
                  <a:srgbClr val="5C2193"/>
                </a:solidFill>
              </a:rPr>
              <a:t>SMARQCM</a:t>
            </a:r>
            <a:r>
              <a:rPr lang="es-PE" sz="1450" dirty="0">
                <a:solidFill>
                  <a:srgbClr val="1E1E24"/>
                </a:solidFill>
              </a:rPr>
              <a:t> (CAPP de un estudiante): el CAPP muestra el curso dentro del área de su programa XP.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El cargo sale en la cuenta corriente; el pago sigue la modalidad elegida.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77236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90118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PASO A PASO: ADMITIR EN LA RUTA (SAAQUIK)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9443166" y="241540"/>
            <a:ext cx="274883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2779464"/>
        </p:xfrm>
        <a:graphic>
          <a:graphicData uri="http://schemas.openxmlformats.org/drawingml/2006/table">
            <a:tbl>
              <a:tblPr firstRow="1" bandRow="1"/>
              <a:tblGrid>
                <a:gridCol w="793055"/>
                <a:gridCol w="2492459"/>
                <a:gridCol w="8043846"/>
              </a:tblGrid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Bloque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Qué pones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Encabezado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ID del alumno, periodo 202656, nivel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C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Ir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Detalles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Tipo de alumno R o I · estatus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AS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residencia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Currículo, prioridad 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Programa › ••• › «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Reglas de currículo base por programa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» › el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programa XP de su ruta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OK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Lo pone Banner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Mayor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ACXP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departamento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EMCI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campus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S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estatus INPROGRESS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5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«Saved successfully (3 rows saved)»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6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Verificar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SGASTDN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(registro del estudiante): el plan del centro está activo junto al de pregrado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  <p:sp>
        <p:nvSpPr>
          <p:cNvPr id="10" name="Nota 10"/>
          <p:cNvSpPr/>
          <p:nvPr/>
        </p:nvSpPr>
        <p:spPr>
          <a:xfrm>
            <a:off x="431320" y="3779464"/>
            <a:ext cx="11329360" cy="574256"/>
          </a:xfrm>
          <a:prstGeom prst="roundRect">
            <a:avLst>
              <a:gd name="adj" fmla="val 9000"/>
            </a:avLst>
          </a:prstGeom>
          <a:solidFill>
            <a:srgbClr val="EDF7E8"/>
          </a:solidFill>
          <a:ln w="12700">
            <a:solidFill>
              <a:srgbClr val="BFE0B0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300" dirty="0">
                <a:solidFill>
                  <a:srgbClr val="1E1E24"/>
                </a:solidFill>
              </a:rPr>
              <a:t>Ejemplo: alumno de </a:t>
            </a:r>
            <a:r>
              <a:rPr lang="es-PE" sz="1300" b="1" dirty="0">
                <a:solidFill>
                  <a:srgbClr val="1E1E24"/>
                </a:solidFill>
              </a:rPr>
              <a:t>Ingeniería de Software</a:t>
            </a:r>
            <a:r>
              <a:rPr lang="es-PE" sz="1300" dirty="0">
                <a:solidFill>
                  <a:srgbClr val="1E1E24"/>
                </a:solidFill>
              </a:rPr>
              <a:t> que quiere </a:t>
            </a:r>
            <a:r>
              <a:rPr lang="es-PE" sz="1300" b="1" dirty="0">
                <a:solidFill>
                  <a:srgbClr val="1E1E24"/>
                </a:solidFill>
              </a:rPr>
              <a:t>Diseño Web</a:t>
            </a:r>
            <a:r>
              <a:rPr lang="es-PE" sz="1300" dirty="0">
                <a:solidFill>
                  <a:srgbClr val="1E1E24"/>
                </a:solidFill>
              </a:rPr>
              <a:t> → ruta </a:t>
            </a:r>
            <a:r>
              <a:rPr lang="es-PE" sz="1300" b="1" dirty="0">
                <a:solidFill>
                  <a:srgbClr val="1E1E24"/>
                </a:solidFill>
              </a:rPr>
              <a:t>7</a:t>
            </a:r>
            <a:r>
              <a:rPr lang="es-PE" sz="1300" dirty="0">
                <a:solidFill>
                  <a:srgbClr val="1E1E24"/>
                </a:solidFill>
              </a:rPr>
              <a:t> → programa </a:t>
            </a:r>
            <a:r>
              <a:rPr lang="es-PE" sz="1300" b="1" dirty="0">
                <a:solidFill>
                  <a:srgbClr val="1E1E24"/>
                </a:solidFill>
              </a:rPr>
              <a:t>CMEMC44</a:t>
            </a:r>
            <a:r>
              <a:rPr lang="es-PE" sz="1300" dirty="0">
                <a:solidFill>
                  <a:srgbClr val="1E1E24"/>
                </a:solidFill>
              </a:rPr>
              <a:t> (XP 07), como el alumno del NRC 10044 (C125).</a:t>
            </a:r>
            <a:endParaRPr lang="es-PE" sz="1300" dirty="0"/>
          </a:p>
        </p:txBody>
      </p:sp>
    </p:spTree>
    <p:extLst>
      <p:ext uri="{BB962C8B-B14F-4D97-AF65-F5344CB8AC3E}">
        <p14:creationId xmlns:p14="http://schemas.microsoft.com/office/powerpoint/2010/main" val="2680571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105288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PASO A PASO: MATRICULAR EN UN CURSO DE SU RUTA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10960156" y="241540"/>
            <a:ext cx="1231843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2676312"/>
        </p:xfrm>
        <a:graphic>
          <a:graphicData uri="http://schemas.openxmlformats.org/drawingml/2006/table">
            <a:tbl>
              <a:tblPr firstRow="1" bandRow="1"/>
              <a:tblGrid>
                <a:gridCol w="793055"/>
                <a:gridCol w="2832340"/>
                <a:gridCol w="7703965"/>
              </a:tblGrid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Dónde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FFFFFF"/>
                          </a:solidFill>
                        </a:rPr>
                        <a:t>Qué haces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7889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SFAREGS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(Inscripción de curso del alumno) · encabezado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Periodo → ID →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plan de estudios al final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(no asumas 1)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Ir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Información de ingreso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Estatus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EL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· en el plan de estudios de ingreso, el plan y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EL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Cursos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Botón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⤓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(sección siguiente) › NRC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Tab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›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17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Resultado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El curso queda </a:t>
                      </a:r>
                      <a:r>
                        <a:rPr lang="es-PE" sz="1500" b="1" dirty="0">
                          <a:solidFill>
                            <a:srgbClr val="1E1E24"/>
                          </a:solidFill>
                        </a:rPr>
                        <a:t>RE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; el cupo del NRC baja en </a:t>
                      </a: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SSASECQ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6035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5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b="1" dirty="0">
                          <a:solidFill>
                            <a:srgbClr val="5C2193"/>
                          </a:solidFill>
                        </a:rPr>
                        <a:t>TSAAREV</a:t>
                      </a: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 (cuenta corriente del estudiante)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500" dirty="0">
                          <a:solidFill>
                            <a:srgbClr val="1E1E24"/>
                          </a:solidFill>
                        </a:rPr>
                        <a:t>Aparece el cargo (S/ 420 en Chiclayo; S/ 240 en filiales)</a:t>
                      </a:r>
                      <a:endParaRPr lang="es-PE" sz="15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Bloque 10"/>
          <p:cNvSpPr/>
          <p:nvPr/>
        </p:nvSpPr>
        <p:spPr>
          <a:xfrm>
            <a:off x="431320" y="3676312"/>
            <a:ext cx="5574680" cy="2173688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FF8E8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8A5A00"/>
                </a:solidFill>
              </a:rPr>
              <a:t>Si sale un error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«Closed»: sin cupo (Script 15) · «Duplicate Course»: ya lleva ese curso · «tiene retenciones»: </a:t>
            </a:r>
            <a:r>
              <a:rPr lang="es-PE" sz="1450" b="1" dirty="0">
                <a:solidFill>
                  <a:srgbClr val="5C2193"/>
                </a:solidFill>
              </a:rPr>
              <a:t>SOAHOLD</a:t>
            </a:r>
            <a:r>
              <a:rPr lang="es-PE" sz="1450" dirty="0">
                <a:solidFill>
                  <a:srgbClr val="1E1E24"/>
                </a:solidFill>
              </a:rPr>
              <a:t> (Script 18-B).</a:t>
            </a:r>
            <a:endParaRPr lang="es-PE" dirty="0"/>
          </a:p>
        </p:txBody>
      </p:sp>
      <p:sp>
        <p:nvSpPr>
          <p:cNvPr id="11" name="Bloque 11"/>
          <p:cNvSpPr/>
          <p:nvPr/>
        </p:nvSpPr>
        <p:spPr>
          <a:xfrm>
            <a:off x="6186000" y="3676312"/>
            <a:ext cx="5574680" cy="2173688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5F5F6B"/>
                </a:solidFill>
              </a:rPr>
              <a:t>Pago (hoy)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50" dirty="0">
                <a:solidFill>
                  <a:srgbClr val="1E1E24"/>
                </a:solidFill>
              </a:rPr>
              <a:t>Contado −5 % (paga antes) · 3 cuotas (paga la 1.ª) · 2 cuotas · diferido +5 %. No se anula una vez programado.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2719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2. CREAR EL NRC Y ASIGNAR PROGRAMAS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 a qué malla va el alumno, poner el curso en la malla de los programas y programar el NRC.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98454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40270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BPM: CREAR EL NRC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458365" y="241540"/>
            <a:ext cx="773363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Forma 9"/>
          <p:cNvSpPr/>
          <p:nvPr/>
        </p:nvSpPr>
        <p:spPr>
          <a:xfrm>
            <a:off x="431320" y="900000"/>
            <a:ext cx="11329360" cy="24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500" b="1" dirty="0">
                <a:solidFill>
                  <a:srgbClr val="1E1E24"/>
                </a:solidFill>
              </a:rPr>
              <a:t>Dagner, ve en este orden (primero mira </a:t>
            </a:r>
            <a:r>
              <a:rPr lang="es-PE" sz="1500" b="1" dirty="0">
                <a:solidFill>
                  <a:srgbClr val="1E1E24"/>
                </a:solidFill>
              </a:rPr>
              <a:t>a qué malla va el alumno</a:t>
            </a:r>
            <a:r>
              <a:rPr lang="es-PE" sz="1500" b="1" dirty="0">
                <a:solidFill>
                  <a:srgbClr val="1E1E24"/>
                </a:solidFill>
              </a:rPr>
              <a:t>):</a:t>
            </a:r>
            <a:endParaRPr lang="es-PE" sz="1500" dirty="0"/>
          </a:p>
        </p:txBody>
      </p:sp>
      <p:sp>
        <p:nvSpPr>
          <p:cNvPr id="10" name="Paso 10"/>
          <p:cNvSpPr/>
          <p:nvPr/>
        </p:nvSpPr>
        <p:spPr>
          <a:xfrm>
            <a:off x="431320" y="1238600"/>
            <a:ext cx="1854893" cy="820000"/>
          </a:xfrm>
          <a:prstGeom prst="homePlate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1  </a:t>
            </a:r>
            <a:r>
              <a:rPr lang="es-PE" sz="1250" b="1" dirty="0">
                <a:solidFill>
                  <a:srgbClr val="FFFFFF"/>
                </a:solidFill>
              </a:rPr>
              <a:t>Malla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el curso en el XP</a:t>
            </a:r>
            <a:endParaRPr lang="es-PE" sz="1100" dirty="0"/>
          </a:p>
        </p:txBody>
      </p:sp>
      <p:sp>
        <p:nvSpPr>
          <p:cNvPr id="11" name="Paso 11"/>
          <p:cNvSpPr/>
          <p:nvPr/>
        </p:nvSpPr>
        <p:spPr>
          <a:xfrm>
            <a:off x="232621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2  </a:t>
            </a:r>
            <a:r>
              <a:rPr lang="es-PE" sz="1250" b="1" dirty="0">
                <a:solidFill>
                  <a:srgbClr val="FFFFFF"/>
                </a:solidFill>
              </a:rPr>
              <a:t>SOATERM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periodo y parte</a:t>
            </a:r>
            <a:endParaRPr lang="es-PE" sz="1100" dirty="0"/>
          </a:p>
        </p:txBody>
      </p:sp>
      <p:sp>
        <p:nvSpPr>
          <p:cNvPr id="12" name="Paso 12"/>
          <p:cNvSpPr/>
          <p:nvPr/>
        </p:nvSpPr>
        <p:spPr>
          <a:xfrm>
            <a:off x="422110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3  </a:t>
            </a:r>
            <a:r>
              <a:rPr lang="es-PE" sz="1250" b="1" dirty="0">
                <a:solidFill>
                  <a:srgbClr val="FFFFFF"/>
                </a:solidFill>
              </a:rPr>
              <a:t>SSASECT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crear el NRC</a:t>
            </a:r>
            <a:endParaRPr lang="es-PE" sz="1100" dirty="0"/>
          </a:p>
        </p:txBody>
      </p:sp>
      <p:sp>
        <p:nvSpPr>
          <p:cNvPr id="13" name="Paso 13"/>
          <p:cNvSpPr/>
          <p:nvPr/>
        </p:nvSpPr>
        <p:spPr>
          <a:xfrm>
            <a:off x="6116000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4  </a:t>
            </a:r>
            <a:r>
              <a:rPr lang="es-PE" sz="1250" b="1" dirty="0">
                <a:solidFill>
                  <a:srgbClr val="FFFFFF"/>
                </a:solidFill>
              </a:rPr>
              <a:t>SSASECT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cupo, horario, docente</a:t>
            </a:r>
            <a:endParaRPr lang="es-PE" sz="1100" dirty="0"/>
          </a:p>
        </p:txBody>
      </p:sp>
      <p:sp>
        <p:nvSpPr>
          <p:cNvPr id="14" name="Paso 14"/>
          <p:cNvSpPr/>
          <p:nvPr/>
        </p:nvSpPr>
        <p:spPr>
          <a:xfrm>
            <a:off x="8010893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5  </a:t>
            </a:r>
            <a:r>
              <a:rPr lang="es-PE" sz="1250" b="1" dirty="0">
                <a:solidFill>
                  <a:srgbClr val="FFFFFF"/>
                </a:solidFill>
              </a:rPr>
              <a:t>SSARRES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restricciones (si hay)</a:t>
            </a:r>
            <a:endParaRPr lang="es-PE" sz="1100" dirty="0"/>
          </a:p>
        </p:txBody>
      </p:sp>
      <p:sp>
        <p:nvSpPr>
          <p:cNvPr id="15" name="Paso 15"/>
          <p:cNvSpPr/>
          <p:nvPr/>
        </p:nvSpPr>
        <p:spPr>
          <a:xfrm>
            <a:off x="9905786" y="1238600"/>
            <a:ext cx="1854893" cy="820000"/>
          </a:xfrm>
          <a:prstGeom prst="chevron">
            <a:avLst>
              <a:gd name="adj" fmla="val 28000"/>
            </a:avLst>
          </a:prstGeom>
          <a:solidFill>
            <a:srgbClr val="7030A0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250" b="1" dirty="0">
                <a:solidFill>
                  <a:srgbClr val="FFFFFF"/>
                </a:solidFill>
              </a:rPr>
              <a:t>6  </a:t>
            </a:r>
            <a:r>
              <a:rPr lang="es-PE" sz="1250" b="1" dirty="0">
                <a:solidFill>
                  <a:srgbClr val="FFFFFF"/>
                </a:solidFill>
              </a:rPr>
              <a:t>SFAREGS</a:t>
            </a:r>
            <a:endParaRPr lang="es-PE" sz="1250" dirty="0"/>
          </a:p>
          <a:p>
            <a:pPr algn="l">
              <a:buNone/>
            </a:pPr>
            <a:r>
              <a:rPr lang="es-PE" sz="1100" dirty="0">
                <a:solidFill>
                  <a:srgbClr val="EDE0F8"/>
                </a:solidFill>
              </a:rPr>
              <a:t>matricular</a:t>
            </a:r>
            <a:endParaRPr lang="es-PE" sz="1100" dirty="0"/>
          </a:p>
        </p:txBody>
      </p:sp>
      <p:sp>
        <p:nvSpPr>
          <p:cNvPr id="16" name="Bloque 16"/>
          <p:cNvSpPr/>
          <p:nvPr/>
        </p:nvSpPr>
        <p:spPr>
          <a:xfrm>
            <a:off x="431320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5C2193"/>
                </a:solidFill>
              </a:rPr>
              <a:t>Primero, la malla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00" dirty="0">
                <a:solidFill>
                  <a:srgbClr val="1E1E24"/>
                </a:solidFill>
              </a:rPr>
              <a:t>El curso del NRC tiene que estar en la </a:t>
            </a:r>
            <a:r>
              <a:rPr lang="es-PE" sz="1400" b="1" dirty="0">
                <a:solidFill>
                  <a:srgbClr val="1E1E24"/>
                </a:solidFill>
              </a:rPr>
              <a:t>malla del programa XP</a:t>
            </a:r>
            <a:r>
              <a:rPr lang="es-PE" sz="1400" dirty="0">
                <a:solidFill>
                  <a:srgbClr val="1E1E24"/>
                </a:solidFill>
              </a:rPr>
              <a:t> del alumno (</a:t>
            </a:r>
            <a:r>
              <a:rPr lang="es-PE" sz="1400" b="1" dirty="0">
                <a:solidFill>
                  <a:srgbClr val="5C2193"/>
                </a:solidFill>
              </a:rPr>
              <a:t>SMAPROG</a:t>
            </a:r>
            <a:r>
              <a:rPr lang="es-PE" sz="1400" dirty="0">
                <a:solidFill>
                  <a:srgbClr val="1E1E24"/>
                </a:solidFill>
              </a:rPr>
              <a:t>: requerimientos del programa: la malla y </a:t>
            </a:r>
            <a:r>
              <a:rPr lang="es-PE" sz="1400" b="1" dirty="0">
                <a:solidFill>
                  <a:srgbClr val="5C2193"/>
                </a:solidFill>
              </a:rPr>
              <a:t>SMAAREA</a:t>
            </a:r>
            <a:r>
              <a:rPr lang="es-PE" sz="1400" dirty="0">
                <a:solidFill>
                  <a:srgbClr val="1E1E24"/>
                </a:solidFill>
              </a:rPr>
              <a:t>: requerimientos de área de la malla). Si no está, </a:t>
            </a:r>
            <a:r>
              <a:rPr lang="es-PE" sz="1400" b="1" dirty="0">
                <a:solidFill>
                  <a:srgbClr val="1E1E24"/>
                </a:solidFill>
              </a:rPr>
              <a:t>hay que hacer la malla y la programación</a:t>
            </a:r>
            <a:r>
              <a:rPr lang="es-PE" sz="1400" dirty="0">
                <a:solidFill>
                  <a:srgbClr val="1E1E24"/>
                </a:solidFill>
              </a:rPr>
              <a:t> antes de crear el NRC.</a:t>
            </a:r>
            <a:endParaRPr lang="es-PE" dirty="0"/>
          </a:p>
        </p:txBody>
      </p:sp>
      <p:sp>
        <p:nvSpPr>
          <p:cNvPr id="17" name="Bloque 17"/>
          <p:cNvSpPr/>
          <p:nvPr/>
        </p:nvSpPr>
        <p:spPr>
          <a:xfrm>
            <a:off x="4267773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 w="12700">
            <a:solidFill>
              <a:srgbClr val="FFF8E8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8A5A00"/>
                </a:solidFill>
              </a:rPr>
              <a:t>Lo hace Pregrado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00" dirty="0">
                <a:solidFill>
                  <a:srgbClr val="1E1E24"/>
                </a:solidFill>
              </a:rPr>
              <a:t>Asignar las </a:t>
            </a:r>
            <a:r>
              <a:rPr lang="es-PE" sz="1400" b="1" dirty="0">
                <a:solidFill>
                  <a:srgbClr val="1E1E24"/>
                </a:solidFill>
              </a:rPr>
              <a:t>escuelas</a:t>
            </a:r>
            <a:r>
              <a:rPr lang="es-PE" sz="1400" dirty="0">
                <a:solidFill>
                  <a:srgbClr val="1E1E24"/>
                </a:solidFill>
              </a:rPr>
              <a:t> a las </a:t>
            </a:r>
            <a:r>
              <a:rPr lang="es-PE" sz="1400" b="1" dirty="0">
                <a:solidFill>
                  <a:srgbClr val="1E1E24"/>
                </a:solidFill>
              </a:rPr>
              <a:t>rutas</a:t>
            </a:r>
            <a:r>
              <a:rPr lang="es-PE" sz="1400" dirty="0">
                <a:solidFill>
                  <a:srgbClr val="1E1E24"/>
                </a:solidFill>
              </a:rPr>
              <a:t> lo hace Pregrado. El centro pone el curso en la </a:t>
            </a:r>
            <a:r>
              <a:rPr lang="es-PE" sz="1400" b="1" dirty="0">
                <a:solidFill>
                  <a:srgbClr val="1E1E24"/>
                </a:solidFill>
              </a:rPr>
              <a:t>malla de los programas</a:t>
            </a:r>
            <a:r>
              <a:rPr lang="es-PE" sz="1400" dirty="0">
                <a:solidFill>
                  <a:srgbClr val="1E1E24"/>
                </a:solidFill>
              </a:rPr>
              <a:t> XP.</a:t>
            </a:r>
            <a:endParaRPr lang="es-PE" dirty="0"/>
          </a:p>
        </p:txBody>
      </p:sp>
      <p:sp>
        <p:nvSpPr>
          <p:cNvPr id="18" name="Bloque 18"/>
          <p:cNvSpPr/>
          <p:nvPr/>
        </p:nvSpPr>
        <p:spPr>
          <a:xfrm>
            <a:off x="8104226" y="2168600"/>
            <a:ext cx="3656453" cy="3681400"/>
          </a:xfrm>
          <a:prstGeom prst="roundRect">
            <a:avLst>
              <a:gd name="adj" fmla="val 6000"/>
            </a:avLst>
          </a:prstGeom>
          <a:solidFill>
            <a:srgbClr val="F2F2F5"/>
          </a:solidFill>
          <a:ln w="12700">
            <a:solidFill>
              <a:srgbClr val="F2F2F5"/>
            </a:solidFill>
          </a:ln>
        </p:spPr>
        <p:txBody>
          <a:bodyPr wrap="square" lIns="150000" tIns="110000" rIns="150000" bIns="90000" rtlCol="0" anchor="t">
            <a:noAutofit/>
          </a:bodyPr>
          <a:lstStyle/>
          <a:p>
            <a:pPr algn="l">
              <a:spcAft>
                <a:spcPts val="500"/>
              </a:spcAft>
              <a:buNone/>
            </a:pPr>
            <a:r>
              <a:rPr lang="es-PE" sz="1500" b="1" dirty="0">
                <a:solidFill>
                  <a:srgbClr val="5F5F6B"/>
                </a:solidFill>
              </a:rPr>
              <a:t>Ejemplo real</a:t>
            </a:r>
            <a:endParaRPr lang="es-PE" dirty="0"/>
          </a:p>
          <a:p>
            <a:pPr algn="l">
              <a:spcAft>
                <a:spcPts val="350"/>
              </a:spcAft>
              <a:buNone/>
            </a:pPr>
            <a:r>
              <a:rPr lang="es-PE" sz="1400" dirty="0">
                <a:solidFill>
                  <a:srgbClr val="1E1E24"/>
                </a:solidFill>
              </a:rPr>
              <a:t>NRC </a:t>
            </a:r>
            <a:r>
              <a:rPr lang="es-PE" sz="1400" b="1" dirty="0">
                <a:solidFill>
                  <a:srgbClr val="1E1E24"/>
                </a:solidFill>
              </a:rPr>
              <a:t>10044</a:t>
            </a:r>
            <a:r>
              <a:rPr lang="es-PE" sz="1400" dirty="0">
                <a:solidFill>
                  <a:srgbClr val="1E1E24"/>
                </a:solidFill>
              </a:rPr>
              <a:t> Diseño Web (ESEC 00684, X06, cupo 40), para el alumno con el programa </a:t>
            </a:r>
            <a:r>
              <a:rPr lang="es-PE" sz="1400" b="1" dirty="0">
                <a:solidFill>
                  <a:srgbClr val="1E1E24"/>
                </a:solidFill>
              </a:rPr>
              <a:t>CMEMC44</a:t>
            </a:r>
            <a:r>
              <a:rPr lang="es-PE" sz="1400" dirty="0">
                <a:solidFill>
                  <a:srgbClr val="1E1E24"/>
                </a:solidFill>
              </a:rPr>
              <a:t> (XP 07).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82415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7387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PASO A PASO: CREAR EL NRC (SSASECT)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8170118" y="241540"/>
            <a:ext cx="4021881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2607727"/>
        </p:xfrm>
        <a:graphic>
          <a:graphicData uri="http://schemas.openxmlformats.org/drawingml/2006/table">
            <a:tbl>
              <a:tblPr firstRow="1" bandRow="1"/>
              <a:tblGrid>
                <a:gridCol w="793055"/>
                <a:gridCol w="2492459"/>
                <a:gridCol w="8043846"/>
              </a:tblGrid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FFFFFF"/>
                          </a:solidFill>
                        </a:rPr>
                        <a:t>Pestaña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FFFFFF"/>
                          </a:solidFill>
                        </a:rPr>
                        <a:t>Qué pones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Encabezado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Periodo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202656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· NRC vacío ·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Crear NRC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(o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Copiar NRC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de uno que ya existe)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60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Información de sección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Materia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ESEC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y número del curso · sección (A, B…) · campus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S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· estatus activo · tipo de horario · modo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V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· parte de periodo (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X05 a X07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) ·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: «ADD» pasa a número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Información de ingreso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Cupo en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Proyectado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(por ejemplo, 40) antes de «Lugares reservados» ·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51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Instructor y horas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CLAS, horario en 24 h, días, sesión 01 · </a:t>
                      </a:r>
                      <a:r>
                        <a:rPr lang="es-PE" sz="1450" b="1" dirty="0">
                          <a:solidFill>
                            <a:srgbClr val="5C2193"/>
                          </a:solidFill>
                        </a:rPr>
                        <a:t>SAUVIR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 / SALA VIRT.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con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O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en sobrepaso · docente principal al 100 % ·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Guardar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5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Verificar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5C2193"/>
                          </a:solidFill>
                        </a:rPr>
                        <a:t>SSASECQ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: el NRC aparece con su cupo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Nota 10"/>
          <p:cNvSpPr/>
          <p:nvPr/>
        </p:nvSpPr>
        <p:spPr>
          <a:xfrm>
            <a:off x="431320" y="3607727"/>
            <a:ext cx="11329360" cy="559016"/>
          </a:xfrm>
          <a:prstGeom prst="roundRect">
            <a:avLst>
              <a:gd name="adj" fmla="val 9000"/>
            </a:avLst>
          </a:prstGeom>
          <a:solidFill>
            <a:srgbClr val="EDF7E8"/>
          </a:solidFill>
          <a:ln w="12700">
            <a:solidFill>
              <a:srgbClr val="BFE0B0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250" dirty="0">
                <a:solidFill>
                  <a:srgbClr val="1E1E24"/>
                </a:solidFill>
              </a:rPr>
              <a:t>Instructivo </a:t>
            </a:r>
            <a:r>
              <a:rPr lang="es-PE" sz="1250" b="1" dirty="0">
                <a:solidFill>
                  <a:srgbClr val="1E1E24"/>
                </a:solidFill>
              </a:rPr>
              <a:t>5.3 Registrar la oferta horaria</a:t>
            </a:r>
            <a:r>
              <a:rPr lang="es-PE" sz="1250" dirty="0">
                <a:solidFill>
                  <a:srgbClr val="1E1E24"/>
                </a:solidFill>
              </a:rPr>
              <a:t>, diapositivas 19 a 32; probado con el NRC 10044 (C97). No cambies de pestaña sin </a:t>
            </a:r>
            <a:r>
              <a:rPr lang="es-PE" sz="1250" b="1" dirty="0">
                <a:solidFill>
                  <a:srgbClr val="1E1E24"/>
                </a:solidFill>
              </a:rPr>
              <a:t>Guardar</a:t>
            </a:r>
            <a:r>
              <a:rPr lang="es-PE" sz="1250" dirty="0">
                <a:solidFill>
                  <a:srgbClr val="1E1E24"/>
                </a:solidFill>
              </a:rPr>
              <a:t>: sale «Debe guardar antes de salir de la información de sección».</a:t>
            </a:r>
            <a:endParaRPr lang="es-PE" sz="1250" dirty="0"/>
          </a:p>
        </p:txBody>
      </p:sp>
    </p:spTree>
    <p:extLst>
      <p:ext uri="{BB962C8B-B14F-4D97-AF65-F5344CB8AC3E}">
        <p14:creationId xmlns:p14="http://schemas.microsoft.com/office/powerpoint/2010/main" val="220662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93503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ASIGNAR EL CURSO A LOS PROGRAMAS (MALLA)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9781697" y="241540"/>
            <a:ext cx="2410302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Paso 9"/>
          <p:cNvSpPr/>
          <p:nvPr/>
        </p:nvSpPr>
        <p:spPr>
          <a:xfrm>
            <a:off x="431320" y="900000"/>
            <a:ext cx="2233872" cy="700000"/>
          </a:xfrm>
          <a:prstGeom prst="homePlate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11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1  </a:t>
            </a:r>
            <a:r>
              <a:rPr lang="es-PE" sz="1300" b="1" dirty="0">
                <a:solidFill>
                  <a:srgbClr val="FFFFFF"/>
                </a:solidFill>
              </a:rPr>
              <a:t>Escuela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la asigna Pregrado</a:t>
            </a:r>
            <a:endParaRPr lang="es-PE" sz="1150" dirty="0"/>
          </a:p>
        </p:txBody>
      </p:sp>
      <p:sp>
        <p:nvSpPr>
          <p:cNvPr id="10" name="Paso 10"/>
          <p:cNvSpPr/>
          <p:nvPr/>
        </p:nvSpPr>
        <p:spPr>
          <a:xfrm>
            <a:off x="2705192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2  </a:t>
            </a:r>
            <a:r>
              <a:rPr lang="es-PE" sz="1300" b="1" dirty="0">
                <a:solidFill>
                  <a:srgbClr val="FFFFFF"/>
                </a:solidFill>
              </a:rPr>
              <a:t>Ruta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agrupación 1 a 7</a:t>
            </a:r>
            <a:endParaRPr lang="es-PE" sz="1150" dirty="0"/>
          </a:p>
        </p:txBody>
      </p:sp>
      <p:sp>
        <p:nvSpPr>
          <p:cNvPr id="11" name="Paso 11"/>
          <p:cNvSpPr/>
          <p:nvPr/>
        </p:nvSpPr>
        <p:spPr>
          <a:xfrm>
            <a:off x="4979064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3  </a:t>
            </a:r>
            <a:r>
              <a:rPr lang="es-PE" sz="1300" b="1" dirty="0">
                <a:solidFill>
                  <a:srgbClr val="FFFFFF"/>
                </a:solidFill>
              </a:rPr>
              <a:t>Programa XP</a:t>
            </a:r>
            <a:endParaRPr lang="es-PE" sz="1300" dirty="0"/>
          </a:p>
          <a:p>
            <a:pPr algn="l">
              <a:buNone/>
            </a:pPr>
            <a:r>
              <a:rPr lang="es-PE" sz="1150" b="1" dirty="0">
                <a:solidFill>
                  <a:srgbClr val="FFFFFF"/>
                </a:solidFill>
              </a:rPr>
              <a:t>SMAPROG</a:t>
            </a:r>
            <a:endParaRPr lang="es-PE" sz="1150" dirty="0"/>
          </a:p>
        </p:txBody>
      </p:sp>
      <p:sp>
        <p:nvSpPr>
          <p:cNvPr id="12" name="Paso 12"/>
          <p:cNvSpPr/>
          <p:nvPr/>
        </p:nvSpPr>
        <p:spPr>
          <a:xfrm>
            <a:off x="7252936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4  </a:t>
            </a:r>
            <a:r>
              <a:rPr lang="es-PE" sz="1300" b="1" dirty="0">
                <a:solidFill>
                  <a:srgbClr val="FFFFFF"/>
                </a:solidFill>
              </a:rPr>
              <a:t>Área</a:t>
            </a:r>
            <a:endParaRPr lang="es-PE" sz="1300" dirty="0"/>
          </a:p>
          <a:p>
            <a:pPr algn="l">
              <a:buNone/>
            </a:pPr>
            <a:r>
              <a:rPr lang="es-PE" sz="1150" b="1" dirty="0">
                <a:solidFill>
                  <a:srgbClr val="FFFFFF"/>
                </a:solidFill>
              </a:rPr>
              <a:t>SMAAREA</a:t>
            </a:r>
            <a:endParaRPr lang="es-PE" sz="1150" dirty="0"/>
          </a:p>
        </p:txBody>
      </p:sp>
      <p:sp>
        <p:nvSpPr>
          <p:cNvPr id="13" name="Paso 13"/>
          <p:cNvSpPr/>
          <p:nvPr/>
        </p:nvSpPr>
        <p:spPr>
          <a:xfrm>
            <a:off x="9526808" y="900000"/>
            <a:ext cx="2233872" cy="700000"/>
          </a:xfrm>
          <a:prstGeom prst="chevron">
            <a:avLst>
              <a:gd name="adj" fmla="val 28000"/>
            </a:avLst>
          </a:prstGeom>
          <a:solidFill>
            <a:srgbClr val="2F6B1B"/>
          </a:solidFill>
          <a:ln>
            <a:noFill/>
          </a:ln>
        </p:spPr>
        <p:txBody>
          <a:bodyPr wrap="square" lIns="230000" tIns="20000" rIns="170000" bIns="20000" rtlCol="0" anchor="ctr">
            <a:noAutofit/>
          </a:bodyPr>
          <a:lstStyle/>
          <a:p>
            <a:pPr algn="l">
              <a:buNone/>
            </a:pPr>
            <a:r>
              <a:rPr lang="es-PE" sz="1300" b="1" dirty="0">
                <a:solidFill>
                  <a:srgbClr val="FFFFFF"/>
                </a:solidFill>
              </a:rPr>
              <a:t>5  </a:t>
            </a:r>
            <a:r>
              <a:rPr lang="es-PE" sz="1300" b="1" dirty="0">
                <a:solidFill>
                  <a:srgbClr val="FFFFFF"/>
                </a:solidFill>
              </a:rPr>
              <a:t>Curso</a:t>
            </a:r>
            <a:endParaRPr lang="es-PE" sz="1300" dirty="0"/>
          </a:p>
          <a:p>
            <a:pPr algn="l">
              <a:buNone/>
            </a:pPr>
            <a:r>
              <a:rPr lang="es-PE" sz="1150" dirty="0">
                <a:solidFill>
                  <a:srgbClr val="EDE0F8"/>
                </a:solidFill>
              </a:rPr>
              <a:t>ESEC ·····</a:t>
            </a:r>
            <a:endParaRPr lang="es-PE" sz="1150" dirty="0"/>
          </a:p>
        </p:txBody>
      </p:sp>
      <p:graphicFrame>
        <p:nvGraphicFramePr>
          <p:cNvPr id="14" name="Tabla 14"/>
          <p:cNvGraphicFramePr>
            <a:graphicFrameLocks noGrp="1"/>
          </p:cNvGraphicFramePr>
          <p:nvPr/>
        </p:nvGraphicFramePr>
        <p:xfrm>
          <a:off x="431320" y="1710000"/>
          <a:ext cx="11329360" cy="3076080"/>
        </p:xfrm>
        <a:graphic>
          <a:graphicData uri="http://schemas.openxmlformats.org/drawingml/2006/table">
            <a:tbl>
              <a:tblPr firstRow="1" bandRow="1"/>
              <a:tblGrid>
                <a:gridCol w="679761"/>
                <a:gridCol w="2265872"/>
                <a:gridCol w="6117854"/>
                <a:gridCol w="2265873"/>
              </a:tblGrid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N.º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Página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Qué haces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Instructivo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7432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SMAPROG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(requerimientos del programa: la malla)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Abrir el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programa XP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de la ruta (por ejemplo CMEMC38) y ver sus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áreas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1.2.1 diap. 26–31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32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2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SMAAREA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(requerimientos de área de la malla)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En el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área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del programa (por ejemplo MC38-01), en la regla: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Insertar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materia ESEC y número del curso · Guardar. Si la malla cambia,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Copiar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el área al periodo nuevo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1.2.1 diap. 23–25; 1.3.1 diap. 10–13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74323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3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SCACRSE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(catálogo de cursos)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Solo si el curso no existe: crearlo (ESEC, número nuevo, escuela EM, departamento EMCI, nivel C, modo V; mejor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Copiar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uno parecido). Se crea </a:t>
                      </a: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antes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de tocar el área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1.1.4 diap. 20–25; R12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4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SMARQCM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(CAPP de un estudiante)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CAPP de un alumno de esa ruta: el curso cuenta en su área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Script 10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  <p:sp>
        <p:nvSpPr>
          <p:cNvPr id="15" name="Forma 15"/>
          <p:cNvSpPr/>
          <p:nvPr/>
        </p:nvSpPr>
        <p:spPr>
          <a:xfrm>
            <a:off x="431320" y="5520000"/>
            <a:ext cx="11329360" cy="2028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200" dirty="0">
                <a:solidFill>
                  <a:srgbClr val="5F5F6B"/>
                </a:solidFill>
              </a:rPr>
              <a:t>Quién hace la malla cuando el curso no está: por confirmar (U40).</a:t>
            </a:r>
            <a:endParaRPr lang="es-PE" sz="1200" dirty="0"/>
          </a:p>
        </p:txBody>
      </p:sp>
    </p:spTree>
    <p:extLst>
      <p:ext uri="{BB962C8B-B14F-4D97-AF65-F5344CB8AC3E}">
        <p14:creationId xmlns:p14="http://schemas.microsoft.com/office/powerpoint/2010/main" val="2098971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70311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RESTRICCIONES DEL NRC (SSARRES)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462474" y="241540"/>
            <a:ext cx="4729525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604736"/>
          </a:xfrm>
          <a:prstGeom prst="roundRect">
            <a:avLst>
              <a:gd name="adj" fmla="val 9000"/>
            </a:avLst>
          </a:prstGeom>
          <a:solidFill>
            <a:srgbClr val="FFF8E8"/>
          </a:solidFill>
          <a:ln w="12700">
            <a:solidFill>
              <a:srgbClr val="F2DDA4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400" b="1" dirty="0">
                <a:solidFill>
                  <a:srgbClr val="5C2193"/>
                </a:solidFill>
              </a:rPr>
              <a:t>SSARRES</a:t>
            </a:r>
            <a:r>
              <a:rPr lang="es-PE" sz="1400" dirty="0">
                <a:solidFill>
                  <a:srgbClr val="1E1E24"/>
                </a:solidFill>
              </a:rPr>
              <a:t> </a:t>
            </a:r>
            <a:r>
              <a:rPr lang="es-PE" sz="1400" b="1" dirty="0">
                <a:solidFill>
                  <a:srgbClr val="1E1E24"/>
                </a:solidFill>
              </a:rPr>
              <a:t>no asigna programas ni reserva cupos</a:t>
            </a:r>
            <a:r>
              <a:rPr lang="es-PE" sz="1400" dirty="0">
                <a:solidFill>
                  <a:srgbClr val="1E1E24"/>
                </a:solidFill>
              </a:rPr>
              <a:t>: define </a:t>
            </a:r>
            <a:r>
              <a:rPr lang="es-PE" sz="1400" b="1" dirty="0">
                <a:solidFill>
                  <a:srgbClr val="1E1E24"/>
                </a:solidFill>
              </a:rPr>
              <a:t>quién puede matricularse</a:t>
            </a:r>
            <a:r>
              <a:rPr lang="es-PE" sz="1400" dirty="0">
                <a:solidFill>
                  <a:srgbClr val="1E1E24"/>
                </a:solidFill>
              </a:rPr>
              <a:t> en el NRC (incluir o excluir). Se usa solo si hace falta limitar el NRC.</a:t>
            </a:r>
            <a:endParaRPr lang="es-PE" sz="1400" dirty="0"/>
          </a:p>
        </p:txBody>
      </p:sp>
      <p:graphicFrame>
        <p:nvGraphicFramePr>
          <p:cNvPr id="10" name="Tabla 10"/>
          <p:cNvGraphicFramePr>
            <a:graphicFrameLocks noGrp="1"/>
          </p:cNvGraphicFramePr>
          <p:nvPr/>
        </p:nvGraphicFramePr>
        <p:xfrm>
          <a:off x="431320" y="1594736"/>
          <a:ext cx="11329360" cy="2489897"/>
        </p:xfrm>
        <a:graphic>
          <a:graphicData uri="http://schemas.openxmlformats.org/drawingml/2006/table">
            <a:tbl>
              <a:tblPr firstRow="1" bandRow="1"/>
              <a:tblGrid>
                <a:gridCol w="2492459"/>
                <a:gridCol w="7477377"/>
                <a:gridCol w="1359524"/>
              </a:tblGrid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FFFFFF"/>
                          </a:solidFill>
                        </a:rPr>
                        <a:t>Pestaña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FFFFFF"/>
                          </a:solidFill>
                        </a:rPr>
                        <a:t>Para qué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b="1" dirty="0">
                          <a:solidFill>
                            <a:srgbClr val="FFFFFF"/>
                          </a:solidFill>
                        </a:rPr>
                        <a:t>Diap.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Acceso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Menú relacionado de </a:t>
                      </a:r>
                      <a:r>
                        <a:rPr lang="es-PE" sz="1450" b="1" dirty="0">
                          <a:solidFill>
                            <a:srgbClr val="5C2193"/>
                          </a:solidFill>
                        </a:rPr>
                        <a:t>SSASECT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(Programar NRC) o desde Experience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44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Heredadas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Vienen del catálogo (</a:t>
                      </a:r>
                      <a:r>
                        <a:rPr lang="es-PE" sz="1450" b="1" dirty="0">
                          <a:solidFill>
                            <a:srgbClr val="5C2193"/>
                          </a:solidFill>
                        </a:rPr>
                        <a:t>SCARRES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) y se pueden ajustar para este NRC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46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Clase y Nivel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Incluir o excluir alumnos por nivel (por ejemplo, solo nivel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C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)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47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511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Grado y Programa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Incluir o excluir alumnos por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programa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 (por ejemplo, solo los de un programa XP)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48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Campus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Incluir o excluir por sede (por ejemplo, </a:t>
                      </a:r>
                      <a:r>
                        <a:rPr lang="es-PE" sz="1450" b="1" dirty="0">
                          <a:solidFill>
                            <a:srgbClr val="1E1E24"/>
                          </a:solidFill>
                        </a:rPr>
                        <a:t>S</a:t>
                      </a: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)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49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413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Atributo y Cohorte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Incluir o excluir por atributo o cohorte del alumno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50" dirty="0">
                          <a:solidFill>
                            <a:srgbClr val="1E1E24"/>
                          </a:solidFill>
                        </a:rPr>
                        <a:t>50–51</a:t>
                      </a:r>
                      <a:endParaRPr lang="es-PE" sz="145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  <p:sp>
        <p:nvSpPr>
          <p:cNvPr id="11" name="Forma 11"/>
          <p:cNvSpPr/>
          <p:nvPr/>
        </p:nvSpPr>
        <p:spPr>
          <a:xfrm>
            <a:off x="431320" y="4184633"/>
            <a:ext cx="11329360" cy="1952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150" dirty="0">
                <a:solidFill>
                  <a:srgbClr val="5F5F6B"/>
                </a:solidFill>
              </a:rPr>
              <a:t>Instructivo 5.3 Registrar la oferta horaria, diapositivas 44 a 51. Los cupos reservados se ponen en </a:t>
            </a:r>
            <a:r>
              <a:rPr lang="es-PE" sz="1150" b="1" dirty="0">
                <a:solidFill>
                  <a:srgbClr val="5C2193"/>
                </a:solidFill>
              </a:rPr>
              <a:t>SSASECT</a:t>
            </a:r>
            <a:r>
              <a:rPr lang="es-PE" sz="1150" dirty="0">
                <a:solidFill>
                  <a:srgbClr val="5F5F6B"/>
                </a:solidFill>
              </a:rPr>
              <a:t> (C66, C97).</a:t>
            </a:r>
            <a:endParaRPr lang="es-PE" sz="1150" dirty="0"/>
          </a:p>
        </p:txBody>
      </p:sp>
    </p:spTree>
    <p:extLst>
      <p:ext uri="{BB962C8B-B14F-4D97-AF65-F5344CB8AC3E}">
        <p14:creationId xmlns:p14="http://schemas.microsoft.com/office/powerpoint/2010/main" val="2397115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C21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C70BD109-175A-E007-EBEF-35BEAC7E65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pic>
        <p:nvPicPr>
          <p:cNvPr id="1028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3EBF1EA5-190E-0F8F-B4F4-56B5380A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5244" y="5091953"/>
            <a:ext cx="3363899" cy="1766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3B12AA1-09DB-029E-CEFB-090B28455E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01" y="418320"/>
            <a:ext cx="3688228" cy="868180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0BC250B-0A63-B351-C809-BDD7940DFA1A}"/>
              </a:ext>
            </a:extLst>
          </p:cNvPr>
          <p:cNvSpPr txBox="1"/>
          <p:nvPr/>
        </p:nvSpPr>
        <p:spPr>
          <a:xfrm>
            <a:off x="1000664" y="1907042"/>
            <a:ext cx="101964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srgbClr val="196B24">
                    <a:lumMod val="60000"/>
                    <a:lumOff val="40000"/>
                  </a:srgbClr>
                </a:solidFill>
                <a:effectLst/>
                <a:uLnTx/>
                <a:uFillTx/>
                <a:latin typeface="Montserrat" pitchFamily="2" charset="0"/>
                <a:ea typeface="+mn-ea"/>
                <a:cs typeface="+mn-cs"/>
              </a:rPr>
              <a:t>3. REPASO</a:t>
            </a:r>
            <a:endParaRPr kumimoji="0" lang="es-PE" sz="5400" b="1" i="0" u="none" strike="noStrike" kern="1200" cap="none" spc="0" normalizeH="0" baseline="0" noProof="0" dirty="0">
              <a:ln>
                <a:noFill/>
              </a:ln>
              <a:solidFill>
                <a:srgbClr val="196B24">
                  <a:lumMod val="60000"/>
                  <a:lumOff val="40000"/>
                </a:srgbClr>
              </a:solidFill>
              <a:effectLst/>
              <a:uLnTx/>
              <a:uFillTx/>
              <a:latin typeface="Montserrat" pitchFamily="2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EEB4538-9A01-61FC-2736-55C412E04D72}"/>
              </a:ext>
            </a:extLst>
          </p:cNvPr>
          <p:cNvSpPr txBox="1"/>
          <p:nvPr/>
        </p:nvSpPr>
        <p:spPr>
          <a:xfrm>
            <a:off x="596901" y="63225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Elaborado por: Dagner Anibal Chuman Lluen</a:t>
            </a:r>
            <a:endParaRPr kumimoji="0" lang="es-PE" sz="12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A462EC-C6BC-083C-4144-168320176BC0}"/>
              </a:ext>
            </a:extLst>
          </p:cNvPr>
          <p:cNvSpPr txBox="1"/>
          <p:nvPr/>
        </p:nvSpPr>
        <p:spPr>
          <a:xfrm>
            <a:off x="1198406" y="4023437"/>
            <a:ext cx="101964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Dónde verlo en el sitio, qué preguntarle al asistente y qué dudas llevar.</a:t>
            </a:r>
            <a:endParaRPr kumimoji="0" lang="es-P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851870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53278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DÓNDE LO VES EN MI SITIO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5759150" y="241540"/>
            <a:ext cx="6432849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Nota 9"/>
          <p:cNvSpPr/>
          <p:nvPr/>
        </p:nvSpPr>
        <p:spPr>
          <a:xfrm>
            <a:off x="431320" y="900000"/>
            <a:ext cx="11329360" cy="589496"/>
          </a:xfrm>
          <a:prstGeom prst="roundRect">
            <a:avLst>
              <a:gd name="adj" fmla="val 9000"/>
            </a:avLst>
          </a:prstGeom>
          <a:solidFill>
            <a:srgbClr val="F1E7FA"/>
          </a:solidFill>
          <a:ln w="12700">
            <a:solidFill>
              <a:srgbClr val="DCC8EE"/>
            </a:solidFill>
          </a:ln>
        </p:spPr>
        <p:txBody>
          <a:bodyPr wrap="square" lIns="137160" tIns="64008" rIns="137160" bIns="64008" rtlCol="0" anchor="ctr">
            <a:noAutofit/>
          </a:bodyPr>
          <a:lstStyle/>
          <a:p>
            <a:pPr algn="l">
              <a:buNone/>
            </a:pPr>
            <a:r>
              <a:rPr lang="es-PE" sz="1350" dirty="0">
                <a:solidFill>
                  <a:srgbClr val="1E1E24"/>
                </a:solidFill>
              </a:rPr>
              <a:t>Sitio: </a:t>
            </a:r>
            <a:r>
              <a:rPr lang="es-PE" sz="1350" b="1" dirty="0">
                <a:solidFill>
                  <a:srgbClr val="1E1E24"/>
                </a:solidFill>
              </a:rPr>
              <a:t>centros-empresariales-ellucian.vercel.app</a:t>
            </a:r>
            <a:r>
              <a:rPr lang="es-PE" sz="1350" dirty="0">
                <a:solidFill>
                  <a:srgbClr val="1E1E24"/>
                </a:solidFill>
              </a:rPr>
              <a:t> (se publica desde la rama main). Cada diagrama tiene la guía paso a paso y la diapositiva del instructivo en cada paso.</a:t>
            </a:r>
            <a:endParaRPr lang="es-PE" sz="1350" dirty="0"/>
          </a:p>
        </p:txBody>
      </p:sp>
      <p:graphicFrame>
        <p:nvGraphicFramePr>
          <p:cNvPr id="10" name="Tabla 10"/>
          <p:cNvGraphicFramePr>
            <a:graphicFrameLocks noGrp="1"/>
          </p:cNvGraphicFramePr>
          <p:nvPr/>
        </p:nvGraphicFramePr>
        <p:xfrm>
          <a:off x="431320" y="1579496"/>
          <a:ext cx="11329360" cy="2642304"/>
        </p:xfrm>
        <a:graphic>
          <a:graphicData uri="http://schemas.openxmlformats.org/drawingml/2006/table">
            <a:tbl>
              <a:tblPr firstRow="1" bandRow="1"/>
              <a:tblGrid>
                <a:gridCol w="4305156"/>
                <a:gridCol w="7024204"/>
              </a:tblGrid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Qué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Ruta en el sitio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Galería de diagramas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/centros/index.html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Persona y admisión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/centros/computacion/diagramas/04-persona-y-admision/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Matrícula en el NRC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/centros/computacion/diagramas/05-matricula-en-el-nrc/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Diseño de mallas y programas (Script 11-B)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/centros/computacion/diagramas/08-script-11-b-diseno-de-mallas-y-programas/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Matrícula regular (Script 01)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/centros/computacion/diagramas/11-script-01-matricula-regular/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1E1E24"/>
                          </a:solidFill>
                        </a:rPr>
                        <a:t>Visor de instructivos (1.1.4, 1.1.5, 1.2.1, 1.3.1)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5C2193"/>
                          </a:solidFill>
                        </a:rPr>
                        <a:t>/visor_instructivos/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527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400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PROMPTS PARA EL ASISTENTE IA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6831995" y="241540"/>
            <a:ext cx="536000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Forma 9"/>
          <p:cNvSpPr/>
          <p:nvPr/>
        </p:nvSpPr>
        <p:spPr>
          <a:xfrm>
            <a:off x="431320" y="900000"/>
            <a:ext cx="11329360" cy="416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es-PE" sz="1300" dirty="0">
                <a:solidFill>
                  <a:srgbClr val="5F5F6B"/>
                </a:solidFill>
              </a:rPr>
              <a:t>Abre el asistente en cualquier diagrama del sitio y copia la pregunta. Si responde algo incompleto, sigue con «¿y cuáles son?»: recuerda la conversación.</a:t>
            </a:r>
            <a:endParaRPr lang="es-PE" sz="1300" dirty="0"/>
          </a:p>
        </p:txBody>
      </p:sp>
      <p:sp>
        <p:nvSpPr>
          <p:cNvPr id="10" name="Bloque 10"/>
          <p:cNvSpPr/>
          <p:nvPr/>
        </p:nvSpPr>
        <p:spPr>
          <a:xfrm>
            <a:off x="431320" y="1406240"/>
            <a:ext cx="5554680" cy="444376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200000" tIns="180000" rIns="200000" bIns="120000" rtlCol="0" anchor="t">
            <a:noAutofit/>
          </a:bodyPr>
          <a:lstStyle/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1.  </a:t>
            </a:r>
            <a:r>
              <a:rPr lang="es-PE" sz="1550" dirty="0">
                <a:solidFill>
                  <a:srgbClr val="1E1E24"/>
                </a:solidFill>
              </a:rPr>
              <a:t>¿Qué cursos tiene la ruta de aprendizaje de Ingeniería de Software?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2.  </a:t>
            </a:r>
            <a:r>
              <a:rPr lang="es-PE" sz="1550" dirty="0">
                <a:solidFill>
                  <a:srgbClr val="1E1E24"/>
                </a:solidFill>
              </a:rPr>
              <a:t>¿Cómo admito a un alumno de pregrado en su ruta de Computación con </a:t>
            </a:r>
            <a:r>
              <a:rPr lang="es-PE" sz="1550" b="1" dirty="0">
                <a:solidFill>
                  <a:srgbClr val="5C2193"/>
                </a:solidFill>
              </a:rPr>
              <a:t>SAAQUIK</a:t>
            </a:r>
            <a:r>
              <a:rPr lang="es-PE" sz="1550" dirty="0">
                <a:solidFill>
                  <a:srgbClr val="1E1E24"/>
                </a:solidFill>
              </a:rPr>
              <a:t>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3.  </a:t>
            </a:r>
            <a:r>
              <a:rPr lang="es-PE" sz="1550" dirty="0">
                <a:solidFill>
                  <a:srgbClr val="1E1E24"/>
                </a:solidFill>
              </a:rPr>
              <a:t>¿Cuál es el orden del encabezado de </a:t>
            </a:r>
            <a:r>
              <a:rPr lang="es-PE" sz="1550" b="1" dirty="0">
                <a:solidFill>
                  <a:srgbClr val="5C2193"/>
                </a:solidFill>
              </a:rPr>
              <a:t>SFAREGS</a:t>
            </a:r>
            <a:r>
              <a:rPr lang="es-PE" sz="1550" dirty="0">
                <a:solidFill>
                  <a:srgbClr val="1E1E24"/>
                </a:solidFill>
              </a:rPr>
              <a:t> y qué estatus pongo?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4.  </a:t>
            </a:r>
            <a:r>
              <a:rPr lang="es-PE" sz="1550" dirty="0">
                <a:solidFill>
                  <a:srgbClr val="1E1E24"/>
                </a:solidFill>
              </a:rPr>
              <a:t>¿Cómo se matricula el alumno por Autoservicio en un curso de su ruta?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5.  </a:t>
            </a:r>
            <a:r>
              <a:rPr lang="es-PE" sz="1550" dirty="0">
                <a:solidFill>
                  <a:srgbClr val="1E1E24"/>
                </a:solidFill>
              </a:rPr>
              <a:t>¿Cómo creo un NRC de Computación en </a:t>
            </a:r>
            <a:r>
              <a:rPr lang="es-PE" sz="1550" b="1" dirty="0">
                <a:solidFill>
                  <a:srgbClr val="5C2193"/>
                </a:solidFill>
              </a:rPr>
              <a:t>SSASECT</a:t>
            </a:r>
            <a:r>
              <a:rPr lang="es-PE" sz="1550" dirty="0">
                <a:solidFill>
                  <a:srgbClr val="1E1E24"/>
                </a:solidFill>
              </a:rPr>
              <a:t>, paso a paso?</a:t>
            </a:r>
            <a:endParaRPr lang="es-PE" dirty="0"/>
          </a:p>
        </p:txBody>
      </p:sp>
      <p:sp>
        <p:nvSpPr>
          <p:cNvPr id="11" name="Bloque 11"/>
          <p:cNvSpPr/>
          <p:nvPr/>
        </p:nvSpPr>
        <p:spPr>
          <a:xfrm>
            <a:off x="6206000" y="1406240"/>
            <a:ext cx="5554680" cy="4443760"/>
          </a:xfrm>
          <a:prstGeom prst="roundRect">
            <a:avLst>
              <a:gd name="adj" fmla="val 6000"/>
            </a:avLst>
          </a:prstGeom>
          <a:solidFill>
            <a:srgbClr val="EDF7E8"/>
          </a:solidFill>
          <a:ln w="12700">
            <a:solidFill>
              <a:srgbClr val="EDF7E8"/>
            </a:solidFill>
          </a:ln>
        </p:spPr>
        <p:txBody>
          <a:bodyPr wrap="square" lIns="200000" tIns="180000" rIns="200000" bIns="120000" rtlCol="0" anchor="t">
            <a:noAutofit/>
          </a:bodyPr>
          <a:lstStyle/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6.  </a:t>
            </a:r>
            <a:r>
              <a:rPr lang="es-PE" sz="1550" dirty="0">
                <a:solidFill>
                  <a:srgbClr val="1E1E24"/>
                </a:solidFill>
              </a:rPr>
              <a:t>¿Cómo veo si un curso está en la malla del programa del alumno (</a:t>
            </a:r>
            <a:r>
              <a:rPr lang="es-PE" sz="1550" b="1" dirty="0">
                <a:solidFill>
                  <a:srgbClr val="5C2193"/>
                </a:solidFill>
              </a:rPr>
              <a:t>SMAAREA</a:t>
            </a:r>
            <a:r>
              <a:rPr lang="es-PE" sz="1550" dirty="0">
                <a:solidFill>
                  <a:srgbClr val="1E1E24"/>
                </a:solidFill>
              </a:rPr>
              <a:t>)?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7.  </a:t>
            </a:r>
            <a:r>
              <a:rPr lang="es-PE" sz="1550" dirty="0">
                <a:solidFill>
                  <a:srgbClr val="1E1E24"/>
                </a:solidFill>
              </a:rPr>
              <a:t>¿Para qué sirve </a:t>
            </a:r>
            <a:r>
              <a:rPr lang="es-PE" sz="1550" b="1" dirty="0">
                <a:solidFill>
                  <a:srgbClr val="5C2193"/>
                </a:solidFill>
              </a:rPr>
              <a:t>SSARRES</a:t>
            </a:r>
            <a:r>
              <a:rPr lang="es-PE" sz="1550" dirty="0">
                <a:solidFill>
                  <a:srgbClr val="1E1E24"/>
                </a:solidFill>
              </a:rPr>
              <a:t> y cuándo pongo una restricción de programa en un NRC?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8.  </a:t>
            </a:r>
            <a:r>
              <a:rPr lang="es-PE" sz="1550" dirty="0">
                <a:solidFill>
                  <a:srgbClr val="1E1E24"/>
                </a:solidFill>
              </a:rPr>
              <a:t>¿Cuánto cuesta un curso y un taller en Chiclayo y en filiales?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9.  </a:t>
            </a:r>
            <a:r>
              <a:rPr lang="es-PE" sz="1550" dirty="0">
                <a:solidFill>
                  <a:srgbClr val="1E1E24"/>
                </a:solidFill>
              </a:rPr>
              <a:t>¿Qué hago si sale «El modo de calificar no es válido para la calificación ingresada»?</a:t>
            </a:r>
            <a:endParaRPr lang="es-PE" dirty="0"/>
          </a:p>
          <a:p>
            <a:pPr algn="l">
              <a:spcAft>
                <a:spcPts val="1100"/>
              </a:spcAft>
              <a:buNone/>
            </a:pPr>
            <a:r>
              <a:rPr lang="es-PE" sz="1550" b="1" dirty="0">
                <a:solidFill>
                  <a:srgbClr val="5C2193"/>
                </a:solidFill>
              </a:rPr>
              <a:t>10.  </a:t>
            </a:r>
            <a:r>
              <a:rPr lang="es-PE" sz="1550" dirty="0">
                <a:solidFill>
                  <a:srgbClr val="1E1E24"/>
                </a:solidFill>
              </a:rPr>
              <a:t>¿Qué dudas siguen abiertas sobre las rutas de aprendizaje?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06137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3694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SI ALGO SALE MAL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4126235" y="241540"/>
            <a:ext cx="8065764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graphicFrame>
        <p:nvGraphicFramePr>
          <p:cNvPr id="9" name="Tabla 9"/>
          <p:cNvGraphicFramePr>
            <a:graphicFrameLocks noGrp="1"/>
          </p:cNvGraphicFramePr>
          <p:nvPr/>
        </p:nvGraphicFramePr>
        <p:xfrm>
          <a:off x="431320" y="900000"/>
          <a:ext cx="11329360" cy="4342128"/>
        </p:xfrm>
        <a:graphic>
          <a:graphicData uri="http://schemas.openxmlformats.org/drawingml/2006/table">
            <a:tbl>
              <a:tblPr firstRow="1" bandRow="1"/>
              <a:tblGrid>
                <a:gridCol w="3851982"/>
                <a:gridCol w="3398808"/>
                <a:gridCol w="4078570"/>
              </a:tblGrid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Mensaje o síntoma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Causa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FFFFFF"/>
                          </a:solidFill>
                        </a:rPr>
                        <a:t>Qué hacer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7030A0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«no existe la tabla o vista»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SFAREGS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Pusiste el plan antes del periodo y el ID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Periodo → ID → plan (C86)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«Closed» al matricular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El NRC no tiene cupo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Subir el cupo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SSASECT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o sobrepaso (Scripts 15 y 02)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«La persona tiene retenciones»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Retención activa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SOAHOLD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: fecha de fin = hoy (Script 18-B)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«Debe guardar antes de salir de la información de sección»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Cambiaste de pestaña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SSASECT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sin guardar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Guardar primero (C97)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«Conflicto de salón»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SSASECT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Todos los NRC virtuales usan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SAUVIR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Poner O en sobrepaso (C97)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El curso no cuenta en el CAPP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No está en el área del programa XP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Agregarlo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SMAAREA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(1.2.1)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  <a:tr h="5298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«El modo de calificar no es válido…»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La nota no tiene modo V en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SHAGRDE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Agregar V a esa nota (C124)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65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La nota final sale APRO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Arriba de </a:t>
                      </a:r>
                      <a:r>
                        <a:rPr lang="es-PE" sz="1400" b="1" dirty="0">
                          <a:solidFill>
                            <a:srgbClr val="5C2193"/>
                          </a:solidFill>
                        </a:rPr>
                        <a:t>SHAGCOM</a:t>
                      </a: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 está AST_70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PE" sz="1400" dirty="0">
                          <a:solidFill>
                            <a:srgbClr val="1E1E24"/>
                          </a:solidFill>
                        </a:rPr>
                        <a:t>Poner VIG_11 arriba (C123)</a:t>
                      </a:r>
                      <a:endParaRPr lang="es-PE" sz="1400" dirty="0"/>
                    </a:p>
                  </a:txBody>
                  <a:tcPr marL="64008" marR="64008" marT="36576" marB="36576" anchor="ctr">
                    <a:lnL w="9525">
                      <a:solidFill>
                        <a:srgbClr val="E4DFEA"/>
                      </a:solidFill>
                    </a:lnL>
                    <a:lnR w="9525">
                      <a:solidFill>
                        <a:srgbClr val="E4DFEA"/>
                      </a:solidFill>
                    </a:lnR>
                    <a:lnT w="9525">
                      <a:solidFill>
                        <a:srgbClr val="E4DFEA"/>
                      </a:solidFill>
                    </a:lnT>
                    <a:lnB w="9525">
                      <a:solidFill>
                        <a:srgbClr val="E4DFEA"/>
                      </a:solidFill>
                    </a:lnB>
                    <a:solidFill>
                      <a:srgbClr val="FBF8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353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AB2B86-4E3B-C98C-411E-958BEFE18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28" y="6154887"/>
            <a:ext cx="2234242" cy="525923"/>
          </a:xfrm>
          <a:prstGeom prst="rect">
            <a:avLst/>
          </a:prstGeom>
        </p:spPr>
      </p:pic>
      <p:pic>
        <p:nvPicPr>
          <p:cNvPr id="4" name="Picture 4" descr="Ellucian Student Reseñas 2026: Detalles, Precios y Características | G2">
            <a:extLst>
              <a:ext uri="{FF2B5EF4-FFF2-40B4-BE49-F238E27FC236}">
                <a16:creationId xmlns:a16="http://schemas.microsoft.com/office/drawing/2014/main" id="{7352B780-8C7C-7B91-F3EE-5E6EF2C2E4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8101" y="5901780"/>
            <a:ext cx="1821371" cy="956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AEBA78F-8C98-5D4D-384F-95B753FFADE4}"/>
              </a:ext>
            </a:extLst>
          </p:cNvPr>
          <p:cNvSpPr txBox="1"/>
          <p:nvPr/>
        </p:nvSpPr>
        <p:spPr>
          <a:xfrm>
            <a:off x="431320" y="241540"/>
            <a:ext cx="6791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>
                <a:latin typeface="Montserrat" pitchFamily="2" charset="0"/>
              </a:rPr>
              <a:t>PARA PREGUNTAR EN LA REUNIÓN</a:t>
            </a:r>
            <a:endParaRPr lang="es-PE" sz="2800" b="1" dirty="0">
              <a:latin typeface="Montserrat" pitchFamily="2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6BCE08-E23C-F264-A6E3-E4019979D2E2}"/>
              </a:ext>
            </a:extLst>
          </p:cNvPr>
          <p:cNvSpPr/>
          <p:nvPr/>
        </p:nvSpPr>
        <p:spPr>
          <a:xfrm>
            <a:off x="7222800" y="241540"/>
            <a:ext cx="4969200" cy="445583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</a:schemeClr>
              </a:gs>
              <a:gs pos="66000">
                <a:schemeClr val="accent6">
                  <a:lumMod val="100000"/>
                </a:schemeClr>
              </a:gs>
            </a:gsLst>
            <a:lin ang="0" scaled="1"/>
            <a:tileRect/>
          </a:gradFill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33DC36-253A-547B-7A30-A152C2F6B4CE}"/>
              </a:ext>
            </a:extLst>
          </p:cNvPr>
          <p:cNvSpPr txBox="1"/>
          <p:nvPr/>
        </p:nvSpPr>
        <p:spPr>
          <a:xfrm>
            <a:off x="4528936" y="6386396"/>
            <a:ext cx="31341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i="1" dirty="0"/>
              <a:t>Elaborado por: Dagner Anibal Chuman Lluen</a:t>
            </a:r>
            <a:endParaRPr lang="es-PE" sz="1200" i="1" dirty="0"/>
          </a:p>
        </p:txBody>
      </p:sp>
      <p:sp>
        <p:nvSpPr>
          <p:cNvPr id="9" name="Bloque 9"/>
          <p:cNvSpPr/>
          <p:nvPr/>
        </p:nvSpPr>
        <p:spPr>
          <a:xfrm>
            <a:off x="431320" y="900000"/>
            <a:ext cx="11329360" cy="4950000"/>
          </a:xfrm>
          <a:prstGeom prst="roundRect">
            <a:avLst>
              <a:gd name="adj" fmla="val 6000"/>
            </a:avLst>
          </a:prstGeom>
          <a:solidFill>
            <a:srgbClr val="F1E7FA"/>
          </a:solidFill>
          <a:ln w="12700">
            <a:solidFill>
              <a:srgbClr val="F1E7FA"/>
            </a:solidFill>
          </a:ln>
        </p:spPr>
        <p:txBody>
          <a:bodyPr wrap="square" lIns="250000" tIns="220000" rIns="250000" bIns="120000" rtlCol="0" anchor="t">
            <a:noAutofit/>
          </a:bodyPr>
          <a:lstStyle/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1.  </a:t>
            </a:r>
            <a:r>
              <a:rPr lang="es-PE" sz="1700" b="1" dirty="0">
                <a:solidFill>
                  <a:srgbClr val="1E1E24"/>
                </a:solidFill>
              </a:rPr>
              <a:t>U37</a:t>
            </a:r>
            <a:r>
              <a:rPr lang="es-PE" sz="1700" dirty="0">
                <a:solidFill>
                  <a:srgbClr val="1E1E24"/>
                </a:solidFill>
              </a:rPr>
              <a:t> ¿Qué código tiene cada ruta (CMEMC39 a CMEMC43)? (Las escuelas a las rutas las asigna Pregrado.)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2.  </a:t>
            </a:r>
            <a:r>
              <a:rPr lang="es-PE" sz="1700" b="1" dirty="0">
                <a:solidFill>
                  <a:srgbClr val="1E1E24"/>
                </a:solidFill>
              </a:rPr>
              <a:t>U40</a:t>
            </a:r>
            <a:r>
              <a:rPr lang="es-PE" sz="1700" dirty="0">
                <a:solidFill>
                  <a:srgbClr val="1E1E24"/>
                </a:solidFill>
              </a:rPr>
              <a:t> Cuando un curso no está en la malla, ¿quién hace la malla y la programación (</a:t>
            </a:r>
            <a:r>
              <a:rPr lang="es-PE" sz="1700" b="1" dirty="0">
                <a:solidFill>
                  <a:srgbClr val="5C2193"/>
                </a:solidFill>
              </a:rPr>
              <a:t>SCACRSE</a:t>
            </a:r>
            <a:r>
              <a:rPr lang="es-PE" sz="1700" dirty="0">
                <a:solidFill>
                  <a:srgbClr val="1E1E24"/>
                </a:solidFill>
              </a:rPr>
              <a:t>: catálogo de cursos, </a:t>
            </a:r>
            <a:r>
              <a:rPr lang="es-PE" sz="1700" b="1" dirty="0">
                <a:solidFill>
                  <a:srgbClr val="5C2193"/>
                </a:solidFill>
              </a:rPr>
              <a:t>SMAAREA</a:t>
            </a:r>
            <a:r>
              <a:rPr lang="es-PE" sz="1700" dirty="0">
                <a:solidFill>
                  <a:srgbClr val="1E1E24"/>
                </a:solidFill>
              </a:rPr>
              <a:t>: requerimientos de área de la malla): el centro o Registros?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3.  </a:t>
            </a:r>
            <a:r>
              <a:rPr lang="es-PE" sz="1700" b="1" dirty="0">
                <a:solidFill>
                  <a:srgbClr val="1E1E24"/>
                </a:solidFill>
              </a:rPr>
              <a:t>U41</a:t>
            </a:r>
            <a:r>
              <a:rPr lang="es-PE" sz="1700" dirty="0">
                <a:solidFill>
                  <a:srgbClr val="1E1E24"/>
                </a:solidFill>
              </a:rPr>
              <a:t> ¿Se pondrán restricciones de programa en los NRC (</a:t>
            </a:r>
            <a:r>
              <a:rPr lang="es-PE" sz="1700" b="1" dirty="0">
                <a:solidFill>
                  <a:srgbClr val="5C2193"/>
                </a:solidFill>
              </a:rPr>
              <a:t>SSARRES</a:t>
            </a:r>
            <a:r>
              <a:rPr lang="es-PE" sz="1700" dirty="0">
                <a:solidFill>
                  <a:srgbClr val="1E1E24"/>
                </a:solidFill>
              </a:rPr>
              <a:t>: restricciones de inscripción del NRC), o cualquier alumno del centro puede llevar el NRC?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4.  </a:t>
            </a:r>
            <a:r>
              <a:rPr lang="es-PE" sz="1700" b="1" dirty="0">
                <a:solidFill>
                  <a:srgbClr val="1E1E24"/>
                </a:solidFill>
              </a:rPr>
              <a:t>U35</a:t>
            </a:r>
            <a:r>
              <a:rPr lang="es-PE" sz="1700" dirty="0">
                <a:solidFill>
                  <a:srgbClr val="1E1E24"/>
                </a:solidFill>
              </a:rPr>
              <a:t> ¿Se acredita con 4 talleres (lámina 2026) o con un 4.º curso (PDF 2025)?</a:t>
            </a:r>
            <a:endParaRPr lang="es-PE" dirty="0"/>
          </a:p>
          <a:p>
            <a:pPr algn="l">
              <a:spcAft>
                <a:spcPts val="1300"/>
              </a:spcAft>
              <a:buNone/>
            </a:pPr>
            <a:r>
              <a:rPr lang="es-PE" sz="1700" b="1" dirty="0">
                <a:solidFill>
                  <a:srgbClr val="5C2193"/>
                </a:solidFill>
              </a:rPr>
              <a:t>5.  </a:t>
            </a:r>
            <a:r>
              <a:rPr lang="es-PE" sz="1700" b="1" dirty="0">
                <a:solidFill>
                  <a:srgbClr val="1E1E24"/>
                </a:solidFill>
              </a:rPr>
              <a:t>U38</a:t>
            </a:r>
            <a:r>
              <a:rPr lang="es-PE" sz="1700" dirty="0">
                <a:solidFill>
                  <a:srgbClr val="1E1E24"/>
                </a:solidFill>
              </a:rPr>
              <a:t> Si el retiro está prohibido (Acuerdo 0453-2013), ¿se bloquea en Banner?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31664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" grpId="0" build="p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4.xml><?xml version="1.0" encoding="utf-8"?>
<a:theme xmlns:a="http://schemas.openxmlformats.org/drawingml/2006/main" name="1_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17</Slides>
  <Notes>31</Notes>
  <HiddenSlides>0</HiddenSlides>
  <MMClips>0</MMClips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 de aprendizaje: inscripción y cursos nuevos - Centro de Informática</dc:title>
  <dc:creator>Dagner Anibal Chuman Lluen</dc:creator>
  <cp:lastModifiedBy>Dagner Anibal Chuman Lluen</cp:lastModifiedBy>
  <cp:revision>50</cp:revision>
  <dcterms:created xsi:type="dcterms:W3CDTF">2026-08-24T19:57:14Z</dcterms:created>
  <dcterms:modified xsi:type="dcterms:W3CDTF">2026-10-13T15:11:56Z</dcterms:modified>
</cp:coreProperties>
</file>
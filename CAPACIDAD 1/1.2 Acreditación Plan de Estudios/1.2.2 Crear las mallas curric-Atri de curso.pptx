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2" r:id="rId2"/>
  </p:sldMasterIdLst>
  <p:notesMasterIdLst>
    <p:notesMasterId r:id="rId26"/>
  </p:notesMasterIdLst>
  <p:sldIdLst>
    <p:sldId id="496" r:id="rId3"/>
    <p:sldId id="423" r:id="rId4"/>
    <p:sldId id="476" r:id="rId5"/>
    <p:sldId id="260" r:id="rId6"/>
    <p:sldId id="350" r:id="rId7"/>
    <p:sldId id="261" r:id="rId8"/>
    <p:sldId id="353" r:id="rId9"/>
    <p:sldId id="493" r:id="rId10"/>
    <p:sldId id="343" r:id="rId11"/>
    <p:sldId id="511" r:id="rId12"/>
    <p:sldId id="1848" r:id="rId13"/>
    <p:sldId id="1860" r:id="rId14"/>
    <p:sldId id="1847" r:id="rId15"/>
    <p:sldId id="1849" r:id="rId16"/>
    <p:sldId id="1859" r:id="rId17"/>
    <p:sldId id="1861" r:id="rId18"/>
    <p:sldId id="1852" r:id="rId19"/>
    <p:sldId id="1853" r:id="rId20"/>
    <p:sldId id="1854" r:id="rId21"/>
    <p:sldId id="1856" r:id="rId22"/>
    <p:sldId id="1857" r:id="rId23"/>
    <p:sldId id="501" r:id="rId24"/>
    <p:sldId id="49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  <p188:author id="{38647FDE-9F35-9E2F-AF18-21899DF329F4}" name="Diana Carolina Cruz Neira" initials="DC" userId="S::diana.cruz@cesa.edu.co::8e96c439-78b1-4614-a925-80354ad4b61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0B0"/>
    <a:srgbClr val="681B79"/>
    <a:srgbClr val="68C184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74AB18-0DA8-437F-A59C-3177141C13C4}" v="35" dt="2024-10-30T21:03:20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CAROLINA VARON DIAZ" userId="F3WulOO1zdW9+LORcwUsQgtHX8O05KiAsqyo1/aqNxE=" providerId="None" clId="Web-{BD74AB18-0DA8-437F-A59C-3177141C13C4}"/>
    <pc:docChg chg="modSld">
      <pc:chgData name="DIANA CAROLINA VARON DIAZ" userId="F3WulOO1zdW9+LORcwUsQgtHX8O05KiAsqyo1/aqNxE=" providerId="None" clId="Web-{BD74AB18-0DA8-437F-A59C-3177141C13C4}" dt="2024-10-30T21:03:18.599" v="33" actId="20577"/>
      <pc:docMkLst>
        <pc:docMk/>
      </pc:docMkLst>
      <pc:sldChg chg="modSp">
        <pc:chgData name="DIANA CAROLINA VARON DIAZ" userId="F3WulOO1zdW9+LORcwUsQgtHX8O05KiAsqyo1/aqNxE=" providerId="None" clId="Web-{BD74AB18-0DA8-437F-A59C-3177141C13C4}" dt="2024-10-30T21:03:18.599" v="33" actId="20577"/>
        <pc:sldMkLst>
          <pc:docMk/>
          <pc:sldMk cId="35297589" sldId="490"/>
        </pc:sldMkLst>
        <pc:spChg chg="mod">
          <ac:chgData name="DIANA CAROLINA VARON DIAZ" userId="F3WulOO1zdW9+LORcwUsQgtHX8O05KiAsqyo1/aqNxE=" providerId="None" clId="Web-{BD74AB18-0DA8-437F-A59C-3177141C13C4}" dt="2024-10-30T21:03:18.599" v="33" actId="20577"/>
          <ac:spMkLst>
            <pc:docMk/>
            <pc:sldMk cId="35297589" sldId="490"/>
            <ac:spMk id="7" creationId="{81384B68-849F-CBFC-1490-3CD51BDD1B5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26-03-2026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7E4D5-1C35-BB02-3431-70041D61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C327E5-F1D9-030D-3229-88706EB6C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633081-1387-516B-57B2-E6F60E8BA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F74642-8DBE-F393-971B-53CE214DE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04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5273F-2251-B6A7-9F9D-224A946EB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38C7A42-235C-9D5B-B6C8-E6F5833A1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12FBFD-6CCF-4765-805A-4F8B43236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385D80-A387-FAC7-249B-677AEE4DA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93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72866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5758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85995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0484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01482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18182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9958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679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2454511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65081A-5C05-8D91-485D-AF3563AE55F9}"/>
              </a:ext>
            </a:extLst>
          </p:cNvPr>
          <p:cNvSpPr/>
          <p:nvPr userDrawn="1"/>
        </p:nvSpPr>
        <p:spPr>
          <a:xfrm>
            <a:off x="9165771" y="6531429"/>
            <a:ext cx="2478704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3ECFEF-70C6-C6C9-B872-FF2CC9B3B73B}"/>
              </a:ext>
            </a:extLst>
          </p:cNvPr>
          <p:cNvSpPr txBox="1"/>
          <p:nvPr userDrawn="1"/>
        </p:nvSpPr>
        <p:spPr>
          <a:xfrm>
            <a:off x="9075649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rgbClr val="8A00B0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8621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53141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987469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262447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46105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694748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991192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38439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841059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057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5996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749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682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4838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2426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4615914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9266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39371941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374667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907346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6105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96453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860848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545235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579005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8F30CA-DD88-FDF0-DC68-746423C2631E}"/>
              </a:ext>
            </a:extLst>
          </p:cNvPr>
          <p:cNvSpPr/>
          <p:nvPr userDrawn="1"/>
        </p:nvSpPr>
        <p:spPr>
          <a:xfrm>
            <a:off x="9187543" y="6444343"/>
            <a:ext cx="2460171" cy="2771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200282-B550-2803-277C-9B940BDA9D2A}"/>
              </a:ext>
            </a:extLst>
          </p:cNvPr>
          <p:cNvSpPr txBox="1"/>
          <p:nvPr userDrawn="1"/>
        </p:nvSpPr>
        <p:spPr>
          <a:xfrm>
            <a:off x="9088154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76450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8B60D2-9F46-5B33-A73B-DBFCD811A66F}"/>
              </a:ext>
            </a:extLst>
          </p:cNvPr>
          <p:cNvSpPr/>
          <p:nvPr userDrawn="1"/>
        </p:nvSpPr>
        <p:spPr>
          <a:xfrm>
            <a:off x="9154886" y="6531429"/>
            <a:ext cx="2427511" cy="190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64D930-AD1F-B9FB-D1FB-4D425E39B5BD}"/>
              </a:ext>
            </a:extLst>
          </p:cNvPr>
          <p:cNvSpPr txBox="1"/>
          <p:nvPr userDrawn="1"/>
        </p:nvSpPr>
        <p:spPr>
          <a:xfrm>
            <a:off x="9039167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rgbClr val="8A00B0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95947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23F4A3-6397-CFEE-B737-DACB2C9C1B7F}"/>
              </a:ext>
            </a:extLst>
          </p:cNvPr>
          <p:cNvSpPr/>
          <p:nvPr userDrawn="1"/>
        </p:nvSpPr>
        <p:spPr>
          <a:xfrm>
            <a:off x="9198429" y="6466114"/>
            <a:ext cx="2383968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732B4-8C2B-B77C-FE6C-95AD9CF90289}"/>
              </a:ext>
            </a:extLst>
          </p:cNvPr>
          <p:cNvSpPr txBox="1"/>
          <p:nvPr userDrawn="1"/>
        </p:nvSpPr>
        <p:spPr>
          <a:xfrm>
            <a:off x="9060939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rgbClr val="8A00B0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12314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8508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248217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28450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918176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706611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258192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385861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980932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332321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5834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057621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068697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82921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630843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3409094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259875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831299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8708249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750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370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50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43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75F30-4948-8625-4D18-95EE2803BD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sz="4400" dirty="0"/>
              <a:t>Crear las mallas curriculares – Manejo de cursos con atributos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rmAutofit/>
          </a:bodyPr>
          <a:lstStyle/>
          <a:p>
            <a:r>
              <a:rPr lang="es-CL" dirty="0"/>
              <a:t>Instructivo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1058994-14DF-8FFD-FA01-FFA4BBFEC0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398058"/>
          </a:xfrm>
        </p:spPr>
        <p:txBody>
          <a:bodyPr/>
          <a:lstStyle/>
          <a:p>
            <a:r>
              <a:rPr lang="es-CL" dirty="0"/>
              <a:t>Consultor</a:t>
            </a:r>
          </a:p>
          <a:p>
            <a:r>
              <a:rPr lang="es-CL" dirty="0"/>
              <a:t>Cargo</a:t>
            </a:r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E56D2DEC-D416-3AB5-1313-E840E25BFD9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xfrm>
            <a:off x="6689725" y="574675"/>
            <a:ext cx="5502275" cy="5710238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BC90C980-F946-78A1-2843-B04BE206F9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Mes, año</a:t>
            </a:r>
          </a:p>
        </p:txBody>
      </p:sp>
    </p:spTree>
    <p:extLst>
      <p:ext uri="{BB962C8B-B14F-4D97-AF65-F5344CB8AC3E}">
        <p14:creationId xmlns:p14="http://schemas.microsoft.com/office/powerpoint/2010/main" val="1226147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Crear las mallas curriculares – Manejo de cursos con atributos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392906"/>
              </p:ext>
            </p:extLst>
          </p:nvPr>
        </p:nvGraphicFramePr>
        <p:xfrm>
          <a:off x="786088" y="1651015"/>
          <a:ext cx="9058128" cy="33874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Crear las mallas curriculares – Manejo de cursos con atributos</a:t>
                      </a:r>
                      <a:endParaRPr lang="en-US" sz="2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noProof="0" dirty="0" err="1">
                <a:solidFill>
                  <a:schemeClr val="bg1"/>
                </a:solidFill>
              </a:rPr>
              <a:t>Overview</a:t>
            </a:r>
            <a:endParaRPr lang="es-419" sz="3200" b="1" noProof="0" dirty="0">
              <a:solidFill>
                <a:schemeClr val="bg1"/>
              </a:solidFill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s-419" noProof="0" smtClean="0"/>
              <a:pPr/>
              <a:t>3</a:t>
            </a:fld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98E1C91-D53E-9F97-C485-8462857838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446084"/>
          </a:xfrm>
        </p:spPr>
        <p:txBody>
          <a:bodyPr/>
          <a:lstStyle/>
          <a:p>
            <a:r>
              <a:rPr lang="en-US" dirty="0"/>
              <a:t>Overview: </a:t>
            </a:r>
            <a:r>
              <a:rPr lang="en-US" b="0" dirty="0"/>
              <a:t>Mapa de </a:t>
            </a:r>
            <a:r>
              <a:rPr lang="en-US" b="0" dirty="0" err="1"/>
              <a:t>capacidades</a:t>
            </a:r>
            <a:endParaRPr lang="es-419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5E5532-A998-508F-D976-B5AB9A86C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5525"/>
            <a:ext cx="12192000" cy="480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33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/>
          <a:lstStyle/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CL" sz="2000" dirty="0"/>
              <a:t>Mediante este se crean las asignaturas que van a ser utilizadas como electivas utilizando un atributo. </a:t>
            </a:r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CL" sz="2000" dirty="0"/>
              <a:t>Estos atributos son utilizados en la configuración de las mallas curriculares, dentro de los requerimientos de las áreas.</a:t>
            </a: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indent="0" algn="just">
              <a:buClr>
                <a:srgbClr val="0CB4B4"/>
              </a:buClr>
              <a:buNone/>
            </a:pPr>
            <a:endParaRPr lang="es-ES" sz="2000" dirty="0"/>
          </a:p>
          <a:p>
            <a:pPr marL="0" indent="0" algn="just">
              <a:buClr>
                <a:srgbClr val="0CB4B4"/>
              </a:buClr>
              <a:buNone/>
            </a:pPr>
            <a:endParaRPr lang="es-ES" sz="20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Crear las mallas curriculares – Manejo de cursos con atributos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rgbClr val="8A00B0"/>
                </a:solidFill>
              </a:rPr>
              <a:t>Overview: </a:t>
            </a:r>
            <a:r>
              <a:rPr lang="es-ES_tradnl" b="0" dirty="0">
                <a:solidFill>
                  <a:srgbClr val="8A00B0"/>
                </a:solidFill>
              </a:rPr>
              <a:t>Gestionar asignaturas electivas</a:t>
            </a:r>
            <a:endParaRPr lang="es-CL" b="0" dirty="0">
              <a:solidFill>
                <a:srgbClr val="8A00B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F9F5-4D73-0F95-7678-0AE0FCC4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9B5C96-8DBC-65FF-FAE3-4F645679D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446084"/>
          </a:xfrm>
        </p:spPr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Región donde aplica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F52F2A-F8BB-F72D-A754-DB9173333620}"/>
              </a:ext>
            </a:extLst>
          </p:cNvPr>
          <p:cNvSpPr txBox="1"/>
          <p:nvPr/>
        </p:nvSpPr>
        <p:spPr>
          <a:xfrm>
            <a:off x="8400287" y="3429000"/>
            <a:ext cx="119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Todo LAC</a:t>
            </a:r>
          </a:p>
        </p:txBody>
      </p:sp>
      <p:pic>
        <p:nvPicPr>
          <p:cNvPr id="10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BC199AD4-C762-DD9E-693C-C0737DFB4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972" y="807906"/>
            <a:ext cx="5780314" cy="57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67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Crear las mallas curriculares – Manejo de cursos con atributos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09" y="536868"/>
            <a:ext cx="9609373" cy="898555"/>
          </a:xfrm>
        </p:spPr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sz="3200" b="1" dirty="0"/>
              <a:t>Crear las mallas curriculares</a:t>
            </a:r>
            <a:endParaRPr lang="es-CL" dirty="0"/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C0E5E4D0-6C0B-7B86-A04E-A985621B0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004186"/>
              </p:ext>
            </p:extLst>
          </p:nvPr>
        </p:nvGraphicFramePr>
        <p:xfrm>
          <a:off x="1044009" y="1512390"/>
          <a:ext cx="10287379" cy="4271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0885">
                  <a:extLst>
                    <a:ext uri="{9D8B030D-6E8A-4147-A177-3AD203B41FA5}">
                      <a16:colId xmlns:a16="http://schemas.microsoft.com/office/drawing/2014/main" val="2298581278"/>
                    </a:ext>
                  </a:extLst>
                </a:gridCol>
                <a:gridCol w="8256494">
                  <a:extLst>
                    <a:ext uri="{9D8B030D-6E8A-4147-A177-3AD203B41FA5}">
                      <a16:colId xmlns:a16="http://schemas.microsoft.com/office/drawing/2014/main" val="1504358611"/>
                    </a:ext>
                  </a:extLst>
                </a:gridCol>
              </a:tblGrid>
              <a:tr h="4852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Concepto</a:t>
                      </a:r>
                      <a:endParaRPr lang="es-CO" sz="20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Descripción</a:t>
                      </a:r>
                      <a:endParaRPr lang="es-CO" sz="20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631455631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Malla curricular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600" b="0" i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Configuración del plan de estudios que debe cumplir un estudiante para obtener el grado correspondiente.</a:t>
                      </a:r>
                      <a:endParaRPr lang="es-E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674607535"/>
                  </a:ext>
                </a:extLst>
              </a:tr>
              <a:tr h="4672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Área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s-CL" sz="1600" b="0" i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onjunto de cursos agrupados según el criterio de la institución para organizar la malla curricular.</a:t>
                      </a:r>
                      <a:endParaRPr lang="es-E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579196519"/>
                  </a:ext>
                </a:extLst>
              </a:tr>
              <a:tr h="770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Regla</a:t>
                      </a:r>
                      <a:endParaRPr lang="es-ES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600" b="0" i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Unidad que identifica cada curso que debe ser aprobado para cumplir con las áreas del plan de estudios.</a:t>
                      </a:r>
                      <a:endParaRPr lang="es-CO" sz="20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959410008"/>
                  </a:ext>
                </a:extLst>
              </a:tr>
              <a:tr h="770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Área de cumplimiento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0" lang="es-CL" sz="1600" b="0" i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Unidad de análisis para la verificación del cumplimiento del Plan de Estudios de un programa.</a:t>
                      </a:r>
                      <a:endParaRPr lang="es-CO" sz="20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205674216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Área dinámica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600" b="0" i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 área puede calificarse como dinámica si la verificación de su cumplimiento depende de algunas características del estudiante. Por ejemplo, campus o carrera.</a:t>
                      </a:r>
                      <a:endParaRPr lang="es-CO" sz="20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893119640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Área de prerrequisito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Área que reúne un conjunto de cursos que constituyen una precondición para poder inscribir una asignatura en particular</a:t>
                      </a:r>
                      <a:endParaRPr kumimoji="0" lang="es-CO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68106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73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Crear las mallas curriculares – Manejo de cursos con atributos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09" y="536868"/>
            <a:ext cx="9609373" cy="898555"/>
          </a:xfrm>
        </p:spPr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sz="3200" b="1" dirty="0"/>
              <a:t>Crear las mallas curriculares</a:t>
            </a:r>
            <a:endParaRPr lang="es-CL" dirty="0"/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C0E5E4D0-6C0B-7B86-A04E-A985621B0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776413"/>
              </p:ext>
            </p:extLst>
          </p:nvPr>
        </p:nvGraphicFramePr>
        <p:xfrm>
          <a:off x="1044009" y="1512390"/>
          <a:ext cx="10287379" cy="3392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0885">
                  <a:extLst>
                    <a:ext uri="{9D8B030D-6E8A-4147-A177-3AD203B41FA5}">
                      <a16:colId xmlns:a16="http://schemas.microsoft.com/office/drawing/2014/main" val="2298581278"/>
                    </a:ext>
                  </a:extLst>
                </a:gridCol>
                <a:gridCol w="8256494">
                  <a:extLst>
                    <a:ext uri="{9D8B030D-6E8A-4147-A177-3AD203B41FA5}">
                      <a16:colId xmlns:a16="http://schemas.microsoft.com/office/drawing/2014/main" val="1504358611"/>
                    </a:ext>
                  </a:extLst>
                </a:gridCol>
              </a:tblGrid>
              <a:tr h="4852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Concepto</a:t>
                      </a:r>
                      <a:endParaRPr lang="es-CO" sz="20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Descripción</a:t>
                      </a:r>
                      <a:endParaRPr lang="es-CO" sz="20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631455631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Transferencia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600" b="0" i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Término referido a los cursos o créditos cursados en otra institución y que son reconocidos por la Universidad a efectos del cumplimiento.</a:t>
                      </a:r>
                      <a:endParaRPr lang="es-E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674607535"/>
                  </a:ext>
                </a:extLst>
              </a:tr>
              <a:tr h="4672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Programa cautivo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600" b="0" i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 programa es cautivo si todas las áreas asociadas para su cumplimento son las mismas para todos los alumnos, independientemente de características como campus, carrera, entre otros.</a:t>
                      </a:r>
                      <a:endParaRPr lang="es-E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579196519"/>
                  </a:ext>
                </a:extLst>
              </a:tr>
              <a:tr h="770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Condición</a:t>
                      </a:r>
                      <a:endParaRPr lang="es-ES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600" b="0" i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Requerimiento que se indica al sistema, necesario para cumplir un área. Una condición puede sur un curso o varios cursos, dependiendo de la malla curricular del programa..</a:t>
                      </a:r>
                      <a:endParaRPr lang="es-CO" sz="20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959410008"/>
                  </a:ext>
                </a:extLst>
              </a:tr>
              <a:tr h="770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Atributo de curso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0" lang="es-CL" sz="1600" b="0" i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Propiedades de los estudiantes que podrían usarse para modelar los requerimientos de las mallas curriculares.</a:t>
                      </a:r>
                      <a:endParaRPr lang="es-CO" sz="20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205674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856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Crear las mallas curriculares – Manejo de cursos con atributos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Catálogo de cursos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38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F169E9-AF0C-93A1-48A3-4675ED67F5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CL" dirty="0"/>
              <a:t>Creación de Atributos</a:t>
            </a:r>
          </a:p>
        </p:txBody>
      </p:sp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5823DBE-762F-2FB8-E27D-38A0470490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399" y="3750468"/>
            <a:ext cx="10363202" cy="519951"/>
          </a:xfrm>
        </p:spPr>
        <p:txBody>
          <a:bodyPr/>
          <a:lstStyle/>
          <a:p>
            <a:r>
              <a:rPr lang="es-ES" sz="3200" dirty="0"/>
              <a:t>Crear las mallas curriculares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54657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1A186-1ACB-C7DC-BE5C-C88F6FA51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D3794599-11FA-C659-B2A0-73CC5E241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408" y="848009"/>
            <a:ext cx="9033650" cy="410706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E180B2-A000-1D09-B19C-DF4FD5659C3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Crear las mallas curriculares – Manejo de cursos con atributos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FB92D0A-6520-50BB-148C-F044FBD29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4B7A208-69A1-98EA-2E22-013A1265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STVATTR</a:t>
            </a:r>
            <a:r>
              <a:rPr lang="es-ES_tradnl" sz="3000" b="1" dirty="0"/>
              <a:t> </a:t>
            </a:r>
            <a:r>
              <a:rPr lang="es-ES_tradnl" sz="3000" dirty="0"/>
              <a:t>Validación de atributo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A4253354-1E4D-D863-C3DE-402389DC6C08}"/>
              </a:ext>
            </a:extLst>
          </p:cNvPr>
          <p:cNvSpPr/>
          <p:nvPr/>
        </p:nvSpPr>
        <p:spPr>
          <a:xfrm>
            <a:off x="861047" y="4516582"/>
            <a:ext cx="8855608" cy="1962246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b="1" dirty="0"/>
              <a:t>Se crea el código de los atributos que van a ser utilizados en el catálogo de cursos.</a:t>
            </a:r>
          </a:p>
          <a:p>
            <a:r>
              <a:rPr lang="es-ES_tradnl" sz="1400" b="1" dirty="0"/>
              <a:t>1. Código: </a:t>
            </a:r>
            <a:r>
              <a:rPr lang="es-ES_tradnl" sz="1400" dirty="0"/>
              <a:t>Corresponde a un código de 4 caracteres que va a identificar el atributo.. </a:t>
            </a:r>
            <a:br>
              <a:rPr lang="es-ES_tradnl" sz="1400" dirty="0"/>
            </a:br>
            <a:br>
              <a:rPr lang="es-ES_tradnl" sz="1400" dirty="0"/>
            </a:br>
            <a:r>
              <a:rPr lang="es-ES_tradnl" sz="1400" dirty="0"/>
              <a:t>2. </a:t>
            </a:r>
            <a:r>
              <a:rPr lang="es-ES_tradnl" sz="1400" b="1" dirty="0"/>
              <a:t>Descripción</a:t>
            </a:r>
            <a:r>
              <a:rPr lang="es-ES_tradnl" sz="1400" dirty="0"/>
              <a:t>: Corresponde al nombre del atributo que se esta creando. Se ingresan hasta 30 caracteres.</a:t>
            </a:r>
            <a:endParaRPr lang="es-ES_tradnl" sz="1400" i="1" dirty="0"/>
          </a:p>
          <a:p>
            <a:endParaRPr lang="es-ES_tradnl" sz="1400" i="1" dirty="0"/>
          </a:p>
          <a:p>
            <a:r>
              <a:rPr lang="es-ES_tradnl" sz="1400" i="1" dirty="0"/>
              <a:t>3. </a:t>
            </a:r>
            <a:r>
              <a:rPr lang="es-ES_tradnl" sz="1400" b="1" i="1" dirty="0"/>
              <a:t>Guardar</a:t>
            </a:r>
            <a:r>
              <a:rPr lang="es-ES_tradnl" sz="1400" i="1" dirty="0"/>
              <a:t>: </a:t>
            </a:r>
            <a:r>
              <a:rPr lang="es-ES_tradnl" sz="1400" dirty="0"/>
              <a:t>Se guarda el registro ubicándose sobre el botón de guardar o utilizando las teclas F10.</a:t>
            </a:r>
            <a:br>
              <a:rPr lang="es-ES_tradnl" sz="1400" dirty="0"/>
            </a:br>
            <a:endParaRPr lang="es-ES_tradnl" sz="14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F7A9961-841F-21A2-7B4B-16E07A165A71}"/>
              </a:ext>
            </a:extLst>
          </p:cNvPr>
          <p:cNvSpPr/>
          <p:nvPr/>
        </p:nvSpPr>
        <p:spPr>
          <a:xfrm>
            <a:off x="999543" y="2531031"/>
            <a:ext cx="515222" cy="14751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DE9B548-3FEF-E7EF-C75C-121458D2B8A2}"/>
              </a:ext>
            </a:extLst>
          </p:cNvPr>
          <p:cNvSpPr/>
          <p:nvPr/>
        </p:nvSpPr>
        <p:spPr>
          <a:xfrm>
            <a:off x="2408996" y="2528831"/>
            <a:ext cx="515222" cy="18530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34437A3-8094-087A-5641-15B3858893B9}"/>
              </a:ext>
            </a:extLst>
          </p:cNvPr>
          <p:cNvSpPr/>
          <p:nvPr/>
        </p:nvSpPr>
        <p:spPr>
          <a:xfrm>
            <a:off x="9716655" y="4622436"/>
            <a:ext cx="500269" cy="33263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ángulo redondeado 9">
            <a:extLst>
              <a:ext uri="{FF2B5EF4-FFF2-40B4-BE49-F238E27FC236}">
                <a16:creationId xmlns:a16="http://schemas.microsoft.com/office/drawing/2014/main" id="{4DECD5AC-66AD-EADF-11D3-A99164615DB7}"/>
              </a:ext>
            </a:extLst>
          </p:cNvPr>
          <p:cNvSpPr/>
          <p:nvPr/>
        </p:nvSpPr>
        <p:spPr>
          <a:xfrm>
            <a:off x="521255" y="2495439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25" name="Rectángulo redondeado 9">
            <a:extLst>
              <a:ext uri="{FF2B5EF4-FFF2-40B4-BE49-F238E27FC236}">
                <a16:creationId xmlns:a16="http://schemas.microsoft.com/office/drawing/2014/main" id="{75294868-3443-F95A-1220-6AABDFC2B4A7}"/>
              </a:ext>
            </a:extLst>
          </p:cNvPr>
          <p:cNvSpPr/>
          <p:nvPr/>
        </p:nvSpPr>
        <p:spPr>
          <a:xfrm>
            <a:off x="1927189" y="2488736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2</a:t>
            </a:r>
          </a:p>
        </p:txBody>
      </p:sp>
      <p:sp>
        <p:nvSpPr>
          <p:cNvPr id="26" name="Rectángulo redondeado 9">
            <a:extLst>
              <a:ext uri="{FF2B5EF4-FFF2-40B4-BE49-F238E27FC236}">
                <a16:creationId xmlns:a16="http://schemas.microsoft.com/office/drawing/2014/main" id="{B23E8E42-8BEA-454C-DBCE-BE878660D50C}"/>
              </a:ext>
            </a:extLst>
          </p:cNvPr>
          <p:cNvSpPr/>
          <p:nvPr/>
        </p:nvSpPr>
        <p:spPr>
          <a:xfrm>
            <a:off x="10289711" y="4679406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10613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64D40-2627-9481-3779-68D4803A0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C77A8D3-3342-6F4C-D7F3-3C03C26704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CL" dirty="0"/>
              <a:t>Asignación de Atributos</a:t>
            </a:r>
          </a:p>
        </p:txBody>
      </p:sp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E6F90B75-5070-1AFD-E557-6396FC234E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399" y="3750468"/>
            <a:ext cx="10363202" cy="519951"/>
          </a:xfrm>
        </p:spPr>
        <p:txBody>
          <a:bodyPr/>
          <a:lstStyle/>
          <a:p>
            <a:r>
              <a:rPr lang="es-ES" sz="3200" dirty="0"/>
              <a:t>Crear las mallas curriculares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0274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40699-654E-6EE7-E5B5-15329E4BD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C493840E-8201-1BD6-D318-AEF20000BCF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Crear las mallas curriculares – Manejo de cursos con atributos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93C5C07-1DCC-4D54-6390-419DA14BB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33" y="1491156"/>
            <a:ext cx="10477497" cy="898555"/>
          </a:xfrm>
        </p:spPr>
        <p:txBody>
          <a:bodyPr/>
          <a:lstStyle/>
          <a:p>
            <a:r>
              <a:rPr lang="es-419" dirty="0"/>
              <a:t>Asignación de atributos</a:t>
            </a:r>
            <a:endParaRPr lang="es-ES_tradnl" b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BD96DCA-8BAA-BAC5-C86C-59CA395507C4}"/>
              </a:ext>
            </a:extLst>
          </p:cNvPr>
          <p:cNvSpPr txBox="1"/>
          <p:nvPr/>
        </p:nvSpPr>
        <p:spPr>
          <a:xfrm>
            <a:off x="892661" y="2505669"/>
            <a:ext cx="104066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dirty="0"/>
              <a:t>Para las asignaturas que formen parte del catálogo de electivas y que van a ser configuradas en la malla curricular para que sean tomadas como atributo; deben ser configuradas con el atributo correspondiente.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353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3D4F3-081C-AE77-ECD8-1250C77A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7CF10C2-1BA3-1779-4988-7D8415C04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15" y="723928"/>
            <a:ext cx="10514447" cy="464374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4C2218-FC15-E4C3-5ECD-9785519B508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Crear las mallas curriculares – Manejo de cursos con atributos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37DE839-9E4B-321B-07D2-029609B2A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036965F-8FE7-6336-FDE7-1AA2DC3B5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2800" b="0" dirty="0"/>
              <a:t>Configuraciones: </a:t>
            </a:r>
            <a:r>
              <a:rPr lang="es-ES_tradnl" sz="2800" dirty="0"/>
              <a:t>SCADETL</a:t>
            </a:r>
            <a:r>
              <a:rPr lang="es-ES_tradnl" sz="2800" b="1" dirty="0"/>
              <a:t> </a:t>
            </a:r>
            <a:r>
              <a:rPr lang="es-ES_tradnl" sz="2800" dirty="0"/>
              <a:t>Información detallada del cuso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0AADAA2-7ACB-7186-5CA7-504D7269CC90}"/>
              </a:ext>
            </a:extLst>
          </p:cNvPr>
          <p:cNvSpPr/>
          <p:nvPr/>
        </p:nvSpPr>
        <p:spPr>
          <a:xfrm>
            <a:off x="810246" y="3522131"/>
            <a:ext cx="9273554" cy="219286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1. </a:t>
            </a:r>
            <a:r>
              <a:rPr lang="es-ES_tradnl" sz="1400" b="1" dirty="0"/>
              <a:t>Atributos de grado</a:t>
            </a:r>
            <a:r>
              <a:rPr lang="es-ES_tradnl" sz="1400" dirty="0"/>
              <a:t>: Se ubica sobre la pestaña Atributos de grado. </a:t>
            </a:r>
            <a:br>
              <a:rPr lang="es-ES_tradnl" sz="1400" dirty="0"/>
            </a:br>
            <a:endParaRPr lang="es-ES_tradnl" sz="1400" dirty="0"/>
          </a:p>
          <a:p>
            <a:r>
              <a:rPr lang="es-ES_tradnl" sz="1400" dirty="0"/>
              <a:t>2. </a:t>
            </a:r>
            <a:r>
              <a:rPr lang="es-ES_tradnl" sz="1400" b="1" dirty="0"/>
              <a:t>Bloque atributo</a:t>
            </a:r>
            <a:r>
              <a:rPr lang="es-ES_tradnl" sz="1400" dirty="0"/>
              <a:t>: Sino existe ninguno registro o es el primero que se ingresa se mostrará la línea vacía para el ingreso del atributo. c. </a:t>
            </a:r>
            <a:br>
              <a:rPr lang="es-ES_tradnl" sz="1400" dirty="0"/>
            </a:br>
            <a:endParaRPr lang="es-ES_tradnl" sz="1400" dirty="0"/>
          </a:p>
          <a:p>
            <a:r>
              <a:rPr lang="es-ES_tradnl" sz="1400" dirty="0"/>
              <a:t>3. </a:t>
            </a:r>
            <a:r>
              <a:rPr lang="es-ES_tradnl" sz="1400" b="1" dirty="0"/>
              <a:t>Insertar: </a:t>
            </a:r>
            <a:r>
              <a:rPr lang="es-ES_tradnl" sz="1400" dirty="0"/>
              <a:t>Si ya existen registros en el bloque, se debe marcar insertar, esto generara una nueva línea para insertar el atributo.</a:t>
            </a:r>
            <a:br>
              <a:rPr lang="es-ES_tradnl" sz="1400" dirty="0"/>
            </a:br>
            <a:endParaRPr lang="es-ES_tradnl" sz="1400" dirty="0"/>
          </a:p>
          <a:p>
            <a:r>
              <a:rPr lang="es-ES_tradnl" sz="1400" dirty="0"/>
              <a:t>4 . </a:t>
            </a:r>
            <a:r>
              <a:rPr lang="es-ES_tradnl" sz="1400" b="1" dirty="0"/>
              <a:t>Guardar</a:t>
            </a:r>
            <a:r>
              <a:rPr lang="es-ES_tradnl" sz="1400" dirty="0"/>
              <a:t>: Se guarda el registro ubicándose sobre el botón de guardar o utilizando las teclas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74B001A-F70B-99AC-9C5F-5E3A988FF463}"/>
              </a:ext>
            </a:extLst>
          </p:cNvPr>
          <p:cNvSpPr/>
          <p:nvPr/>
        </p:nvSpPr>
        <p:spPr>
          <a:xfrm>
            <a:off x="2916307" y="1452504"/>
            <a:ext cx="977520" cy="33020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8A6B61C-C75C-7B2D-8210-76867191FBC9}"/>
              </a:ext>
            </a:extLst>
          </p:cNvPr>
          <p:cNvSpPr/>
          <p:nvPr/>
        </p:nvSpPr>
        <p:spPr>
          <a:xfrm>
            <a:off x="10677236" y="1625990"/>
            <a:ext cx="286328" cy="23975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41C0377-7093-271F-4352-62D35A0E6924}"/>
              </a:ext>
            </a:extLst>
          </p:cNvPr>
          <p:cNvSpPr/>
          <p:nvPr/>
        </p:nvSpPr>
        <p:spPr>
          <a:xfrm>
            <a:off x="10924051" y="5124169"/>
            <a:ext cx="734842" cy="32948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CF51109-9443-BDDE-D436-BF2ACC14FA57}"/>
              </a:ext>
            </a:extLst>
          </p:cNvPr>
          <p:cNvSpPr/>
          <p:nvPr/>
        </p:nvSpPr>
        <p:spPr>
          <a:xfrm>
            <a:off x="1003297" y="2281051"/>
            <a:ext cx="3402447" cy="22860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Rectángulo redondeado 9">
            <a:extLst>
              <a:ext uri="{FF2B5EF4-FFF2-40B4-BE49-F238E27FC236}">
                <a16:creationId xmlns:a16="http://schemas.microsoft.com/office/drawing/2014/main" id="{AE211FBC-D18D-8982-D037-34E110A55AE0}"/>
              </a:ext>
            </a:extLst>
          </p:cNvPr>
          <p:cNvSpPr/>
          <p:nvPr/>
        </p:nvSpPr>
        <p:spPr>
          <a:xfrm>
            <a:off x="2455627" y="1488291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24" name="Rectángulo redondeado 9">
            <a:extLst>
              <a:ext uri="{FF2B5EF4-FFF2-40B4-BE49-F238E27FC236}">
                <a16:creationId xmlns:a16="http://schemas.microsoft.com/office/drawing/2014/main" id="{24AC9025-0199-31D2-2123-A5083624583F}"/>
              </a:ext>
            </a:extLst>
          </p:cNvPr>
          <p:cNvSpPr/>
          <p:nvPr/>
        </p:nvSpPr>
        <p:spPr>
          <a:xfrm>
            <a:off x="10640189" y="1321308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3</a:t>
            </a:r>
          </a:p>
        </p:txBody>
      </p:sp>
      <p:sp>
        <p:nvSpPr>
          <p:cNvPr id="25" name="Rectángulo redondeado 9">
            <a:extLst>
              <a:ext uri="{FF2B5EF4-FFF2-40B4-BE49-F238E27FC236}">
                <a16:creationId xmlns:a16="http://schemas.microsoft.com/office/drawing/2014/main" id="{1D4888A5-0D31-663A-4B4B-9221EC20A0CB}"/>
              </a:ext>
            </a:extLst>
          </p:cNvPr>
          <p:cNvSpPr/>
          <p:nvPr/>
        </p:nvSpPr>
        <p:spPr>
          <a:xfrm>
            <a:off x="501017" y="229095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2</a:t>
            </a:r>
          </a:p>
        </p:txBody>
      </p:sp>
      <p:sp>
        <p:nvSpPr>
          <p:cNvPr id="26" name="Rectángulo redondeado 9">
            <a:extLst>
              <a:ext uri="{FF2B5EF4-FFF2-40B4-BE49-F238E27FC236}">
                <a16:creationId xmlns:a16="http://schemas.microsoft.com/office/drawing/2014/main" id="{BE52D485-A5CF-FE5A-C666-C53181D5CD5C}"/>
              </a:ext>
            </a:extLst>
          </p:cNvPr>
          <p:cNvSpPr/>
          <p:nvPr/>
        </p:nvSpPr>
        <p:spPr>
          <a:xfrm>
            <a:off x="11145068" y="481685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75014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FC61F-09E2-E50D-09A8-EE0CD9440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24A6E3E4-D548-F3D3-93B2-FBCA5878BC00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Crear las mallas curriculares – Manejo de cursos con atributos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1597334-5C8E-28B4-444C-7497BAE3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Mallas </a:t>
            </a:r>
            <a:r>
              <a:rPr lang="es-419" dirty="0" err="1"/>
              <a:t>currículares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697C60C-59AA-5D52-3A31-69495B297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46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65AA-872A-D5DE-6590-058FF25B7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77E1D86-3EB5-5A2E-84DA-F3CDE275AC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dirty="0"/>
              <a:t>Creación de regla dentro del área</a:t>
            </a:r>
            <a:endParaRPr lang="es-CL" dirty="0"/>
          </a:p>
        </p:txBody>
      </p:sp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908141D6-71A8-89C4-1050-85CD043CCF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399" y="3750468"/>
            <a:ext cx="10363202" cy="519951"/>
          </a:xfrm>
        </p:spPr>
        <p:txBody>
          <a:bodyPr/>
          <a:lstStyle/>
          <a:p>
            <a:r>
              <a:rPr lang="es-ES" sz="3200" dirty="0"/>
              <a:t>Crear las mallas curriculares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04807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83CD3-4163-33AD-CD59-EFA839C7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CE88EFF-7651-80B4-8DC7-664464F5B64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Crear las mallas curriculares – Manejo de cursos con atributos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4F8F2F2-7A9C-4FF8-FB37-47CA5B7FD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96" y="304614"/>
            <a:ext cx="10477497" cy="754953"/>
          </a:xfrm>
        </p:spPr>
        <p:txBody>
          <a:bodyPr/>
          <a:lstStyle/>
          <a:p>
            <a:r>
              <a:rPr lang="es-419" dirty="0"/>
              <a:t>Asignación de reglas a las áreas</a:t>
            </a:r>
            <a:endParaRPr lang="es-ES_tradnl" b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2033B9-47F1-3D09-8391-64A3F64FD866}"/>
              </a:ext>
            </a:extLst>
          </p:cNvPr>
          <p:cNvSpPr txBox="1"/>
          <p:nvPr/>
        </p:nvSpPr>
        <p:spPr>
          <a:xfrm>
            <a:off x="892661" y="1059567"/>
            <a:ext cx="10406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Se crean las reglas que van a agrupar los atributos de electivas o materias para que sean considerados en la ejecución del avance curricular.</a:t>
            </a:r>
            <a:br>
              <a:rPr lang="es-419" dirty="0"/>
            </a:br>
            <a:r>
              <a:rPr lang="es-419" dirty="0"/>
              <a:t>Estas reglas de electivas y optativas se deben se deben incluir en todas las áreas que lo requieran por plan de estudios.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124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BEB67-A630-72D8-31CD-D53DC4C25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86B3B88-3592-34F4-ACE3-CF7FA6BBC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53610"/>
            <a:ext cx="10550743" cy="167777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E75CD7-9C88-BC41-DA61-5ACBE8E4F8A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Crear las mallas curriculares – Manejo de cursos con atributos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83EDFE16-60CC-38FF-CD7F-DDAB80EB2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0B31662-D06B-9621-0D26-33C5D9D1A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2800" b="0" dirty="0"/>
              <a:t>Configuraciones: </a:t>
            </a:r>
            <a:r>
              <a:rPr lang="es-ES_tradnl" sz="2800" dirty="0"/>
              <a:t>SMAAREA</a:t>
            </a:r>
            <a:r>
              <a:rPr lang="es-ES_tradnl" sz="2800" b="1" dirty="0"/>
              <a:t> </a:t>
            </a:r>
            <a:r>
              <a:rPr lang="es-ES_tradnl" sz="2800" dirty="0"/>
              <a:t>Requerimientos de área 1/6</a:t>
            </a:r>
            <a:endParaRPr lang="es-CL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8A28CE3-88B0-A3F4-9064-01161ED85632}"/>
              </a:ext>
            </a:extLst>
          </p:cNvPr>
          <p:cNvSpPr/>
          <p:nvPr/>
        </p:nvSpPr>
        <p:spPr>
          <a:xfrm>
            <a:off x="991623" y="3032184"/>
            <a:ext cx="8718550" cy="79363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b="1" dirty="0"/>
              <a:t>1. Área: </a:t>
            </a:r>
            <a:r>
              <a:rPr lang="es-ES_tradnl" sz="1400" dirty="0"/>
              <a:t>Se identifica el área en la cual se va a incluir la regla de electivas. </a:t>
            </a:r>
            <a:r>
              <a:rPr lang="es-ES_tradnl" sz="1400" i="1" dirty="0"/>
              <a:t>Se recomienda consultar en los tres puntos para desplegar la lista de áreas y sus vigencias de período de catálogo para configurar correctamente el período requerido.</a:t>
            </a:r>
            <a:endParaRPr lang="es-ES_tradnl" sz="1600" i="1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C245248-6FBE-4945-0D6D-4DF956A5BF4E}"/>
              </a:ext>
            </a:extLst>
          </p:cNvPr>
          <p:cNvSpPr/>
          <p:nvPr/>
        </p:nvSpPr>
        <p:spPr>
          <a:xfrm>
            <a:off x="1250639" y="1665343"/>
            <a:ext cx="2389708" cy="25914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Rectángulo redondeado 9">
            <a:extLst>
              <a:ext uri="{FF2B5EF4-FFF2-40B4-BE49-F238E27FC236}">
                <a16:creationId xmlns:a16="http://schemas.microsoft.com/office/drawing/2014/main" id="{685645ED-08A8-4D61-E11C-101BDF4FAE28}"/>
              </a:ext>
            </a:extLst>
          </p:cNvPr>
          <p:cNvSpPr/>
          <p:nvPr/>
        </p:nvSpPr>
        <p:spPr>
          <a:xfrm>
            <a:off x="811413" y="1705787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02720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4D42E-5956-9C21-3C30-33CDE936F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A60009C9-6A76-E237-D40D-31CB00749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06" y="1122988"/>
            <a:ext cx="10635954" cy="251830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A5164BF-A67D-603C-F3B0-98BA3F378FB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Crear las mallas curriculares – Manejo de cursos con atributos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F01D7174-4C2C-C96D-23A9-3B622D2C1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CB34665-83AE-937F-DC50-8C027192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2800" b="0" dirty="0"/>
              <a:t>Configuraciones: </a:t>
            </a:r>
            <a:r>
              <a:rPr lang="es-ES_tradnl" sz="2800" dirty="0"/>
              <a:t>SMAAREA</a:t>
            </a:r>
            <a:r>
              <a:rPr lang="es-ES_tradnl" sz="2800" b="1" dirty="0"/>
              <a:t> </a:t>
            </a:r>
            <a:r>
              <a:rPr lang="es-ES_tradnl" sz="2800" dirty="0"/>
              <a:t>Requerimientos de área 2/6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D887D71-D708-1975-C0F4-38139220DA92}"/>
              </a:ext>
            </a:extLst>
          </p:cNvPr>
          <p:cNvSpPr/>
          <p:nvPr/>
        </p:nvSpPr>
        <p:spPr>
          <a:xfrm>
            <a:off x="901970" y="4296831"/>
            <a:ext cx="8810003" cy="174201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b="1" dirty="0"/>
              <a:t>2</a:t>
            </a:r>
            <a:r>
              <a:rPr lang="es-ES_tradnl" sz="1400" dirty="0"/>
              <a:t>. Se traerá los datos de periodo y área seleccionados.</a:t>
            </a:r>
            <a:br>
              <a:rPr lang="es-ES_tradnl" sz="1400" dirty="0"/>
            </a:br>
            <a:br>
              <a:rPr lang="es-ES_tradnl" sz="1400" dirty="0"/>
            </a:br>
            <a:r>
              <a:rPr lang="es-ES_tradnl" sz="1400" b="1" dirty="0"/>
              <a:t>3. Regla</a:t>
            </a:r>
            <a:r>
              <a:rPr lang="es-ES_tradnl" sz="1400" dirty="0"/>
              <a:t>. En el campo regla se debe insertar el código (materia-curso) creado para la asignatura o materia.</a:t>
            </a:r>
            <a:r>
              <a:rPr lang="es-ES_tradnl" sz="1400" b="1" dirty="0"/>
              <a:t> </a:t>
            </a:r>
            <a:br>
              <a:rPr lang="es-ES_tradnl" sz="1400" b="1" dirty="0"/>
            </a:br>
            <a:br>
              <a:rPr lang="es-ES_tradnl" sz="1400" b="1" dirty="0"/>
            </a:br>
            <a:r>
              <a:rPr lang="es-ES_tradnl" sz="1400" b="1" dirty="0"/>
              <a:t>4. </a:t>
            </a:r>
            <a:r>
              <a:rPr lang="es-ES_tradnl" sz="1400" dirty="0"/>
              <a:t>Si existen registros otra reglas se debe dar click en insertar para generar una nueva línea que permita incluir el registro.</a:t>
            </a:r>
            <a:endParaRPr lang="es-ES_tradnl" sz="16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C42FE8-C395-A70A-9037-814F829E758C}"/>
              </a:ext>
            </a:extLst>
          </p:cNvPr>
          <p:cNvSpPr/>
          <p:nvPr/>
        </p:nvSpPr>
        <p:spPr>
          <a:xfrm>
            <a:off x="852606" y="1672473"/>
            <a:ext cx="5171722" cy="33020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redondeado 9">
            <a:extLst>
              <a:ext uri="{FF2B5EF4-FFF2-40B4-BE49-F238E27FC236}">
                <a16:creationId xmlns:a16="http://schemas.microsoft.com/office/drawing/2014/main" id="{A02C1CAE-9940-3247-F3DB-EBCF2A28D13B}"/>
              </a:ext>
            </a:extLst>
          </p:cNvPr>
          <p:cNvSpPr/>
          <p:nvPr/>
        </p:nvSpPr>
        <p:spPr>
          <a:xfrm>
            <a:off x="398346" y="1712531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CFE237C-0E8A-C4C4-6A3B-2A204691CCF4}"/>
              </a:ext>
            </a:extLst>
          </p:cNvPr>
          <p:cNvSpPr/>
          <p:nvPr/>
        </p:nvSpPr>
        <p:spPr>
          <a:xfrm>
            <a:off x="1620661" y="3047122"/>
            <a:ext cx="647700" cy="23380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3FE1051-8666-2D87-AABA-CB77086685C4}"/>
              </a:ext>
            </a:extLst>
          </p:cNvPr>
          <p:cNvSpPr/>
          <p:nvPr/>
        </p:nvSpPr>
        <p:spPr>
          <a:xfrm>
            <a:off x="10584614" y="1931228"/>
            <a:ext cx="198405" cy="2186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7D30F5E3-56C9-1AE8-A852-77BE7C3F8119}"/>
              </a:ext>
            </a:extLst>
          </p:cNvPr>
          <p:cNvSpPr/>
          <p:nvPr/>
        </p:nvSpPr>
        <p:spPr>
          <a:xfrm>
            <a:off x="1138737" y="3047122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3</a:t>
            </a:r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36E1A188-3EEA-D717-8F3B-BB19DA700701}"/>
              </a:ext>
            </a:extLst>
          </p:cNvPr>
          <p:cNvSpPr/>
          <p:nvPr/>
        </p:nvSpPr>
        <p:spPr>
          <a:xfrm>
            <a:off x="10503605" y="2209407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78790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0807-9DD4-475F-5B14-0A50D43D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A18E93F-C2E5-001E-E65F-56D8F25D4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42" y="1288237"/>
            <a:ext cx="10431716" cy="198180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ADF2F2-D6C4-6D61-B0F3-978879DC416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Crear las mallas curriculares – Manejo de cursos con atributos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A3020D2C-0840-99B6-1B5B-7C77BEA54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E393164-92FA-106E-3F37-50D4C0A4B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2800" b="0" dirty="0"/>
              <a:t>Configuraciones: </a:t>
            </a:r>
            <a:r>
              <a:rPr lang="es-ES_tradnl" sz="2800" dirty="0"/>
              <a:t>SMAAREA</a:t>
            </a:r>
            <a:r>
              <a:rPr lang="es-ES_tradnl" sz="2800" b="1" dirty="0"/>
              <a:t> </a:t>
            </a:r>
            <a:r>
              <a:rPr lang="es-ES_tradnl" sz="2800" dirty="0"/>
              <a:t>Requerimientos de área 3/5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B958842-DB7A-424C-390E-C5ABDA481EA4}"/>
              </a:ext>
            </a:extLst>
          </p:cNvPr>
          <p:cNvSpPr/>
          <p:nvPr/>
        </p:nvSpPr>
        <p:spPr>
          <a:xfrm>
            <a:off x="708837" y="3566397"/>
            <a:ext cx="8810003" cy="174201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b="1" dirty="0"/>
              <a:t>Bloque Reglas de anexo de curso/atributo de área</a:t>
            </a:r>
          </a:p>
          <a:p>
            <a:endParaRPr lang="es-ES_tradnl" sz="1400" b="1" dirty="0"/>
          </a:p>
          <a:p>
            <a:r>
              <a:rPr lang="es-ES_tradnl" sz="1400" b="1" dirty="0"/>
              <a:t>5</a:t>
            </a:r>
            <a:r>
              <a:rPr lang="es-ES_tradnl" sz="1400" dirty="0"/>
              <a:t>. Regla. El sistema trae automáticamente el código de regla creada.</a:t>
            </a:r>
            <a:br>
              <a:rPr lang="es-ES_tradnl" sz="1400" dirty="0"/>
            </a:br>
            <a:r>
              <a:rPr lang="es-ES_tradnl" sz="1400" b="1" dirty="0"/>
              <a:t>6. Descripción</a:t>
            </a:r>
            <a:r>
              <a:rPr lang="es-ES_tradnl" sz="1400" dirty="0"/>
              <a:t>. Se ingresa la descripción de la regla.</a:t>
            </a:r>
          </a:p>
          <a:p>
            <a:r>
              <a:rPr lang="es-ES_tradnl" sz="1400" b="1" dirty="0"/>
              <a:t>7. Número de condiciones requerido. </a:t>
            </a:r>
            <a:r>
              <a:rPr lang="es-ES_tradnl" sz="1400" dirty="0"/>
              <a:t>Se debe registrar el número de condiciones que debe cumplir el estudiante para cumplir con la regla.</a:t>
            </a:r>
            <a:r>
              <a:rPr lang="es-ES_tradnl" sz="1400" b="1" dirty="0"/>
              <a:t> </a:t>
            </a:r>
            <a:br>
              <a:rPr lang="es-ES_tradnl" sz="1400" b="1" dirty="0"/>
            </a:br>
            <a:endParaRPr lang="es-ES_tradnl" sz="16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2A39FD8-C8E2-3F07-FA01-B6491F15F18E}"/>
              </a:ext>
            </a:extLst>
          </p:cNvPr>
          <p:cNvSpPr/>
          <p:nvPr/>
        </p:nvSpPr>
        <p:spPr>
          <a:xfrm>
            <a:off x="1218314" y="2438794"/>
            <a:ext cx="1042877" cy="23499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BE0F6D-7BF1-35AD-0822-7BE4ABACD380}"/>
              </a:ext>
            </a:extLst>
          </p:cNvPr>
          <p:cNvSpPr/>
          <p:nvPr/>
        </p:nvSpPr>
        <p:spPr>
          <a:xfrm>
            <a:off x="6096000" y="2458771"/>
            <a:ext cx="2509284" cy="23380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1728DC8D-A8CD-B24C-7ABE-16764DC9C2A6}"/>
              </a:ext>
            </a:extLst>
          </p:cNvPr>
          <p:cNvSpPr/>
          <p:nvPr/>
        </p:nvSpPr>
        <p:spPr>
          <a:xfrm>
            <a:off x="758657" y="243879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5</a:t>
            </a:r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49FD7B9E-284C-81F2-F91B-08C84687636B}"/>
              </a:ext>
            </a:extLst>
          </p:cNvPr>
          <p:cNvSpPr/>
          <p:nvPr/>
        </p:nvSpPr>
        <p:spPr>
          <a:xfrm>
            <a:off x="5636343" y="243879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6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2934722-ECED-1054-5C2F-C41E26B65C41}"/>
              </a:ext>
            </a:extLst>
          </p:cNvPr>
          <p:cNvSpPr/>
          <p:nvPr/>
        </p:nvSpPr>
        <p:spPr>
          <a:xfrm>
            <a:off x="708837" y="2794373"/>
            <a:ext cx="1387382" cy="33746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 redondeado 9">
            <a:extLst>
              <a:ext uri="{FF2B5EF4-FFF2-40B4-BE49-F238E27FC236}">
                <a16:creationId xmlns:a16="http://schemas.microsoft.com/office/drawing/2014/main" id="{45F4A198-B4F6-4571-CA07-53DB9C29284D}"/>
              </a:ext>
            </a:extLst>
          </p:cNvPr>
          <p:cNvSpPr/>
          <p:nvPr/>
        </p:nvSpPr>
        <p:spPr>
          <a:xfrm>
            <a:off x="1119078" y="318225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62052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8A449-E451-F277-3C7E-B5C53EA6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214443D-63A3-DB4A-CA75-6DDFF981E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08" y="772375"/>
            <a:ext cx="10555793" cy="308315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333B8D-C887-C97A-0591-5E8481B4D5C8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Crear las mallas curriculares – Manejo de cursos con atributos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05563811-B123-99D2-7091-009FAABB5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7FC837A-8AD1-CE84-D5A4-14B1CBEEF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2800" b="0" dirty="0"/>
              <a:t>Configuraciones: </a:t>
            </a:r>
            <a:r>
              <a:rPr lang="es-ES_tradnl" sz="2800" dirty="0"/>
              <a:t>SMAAREA</a:t>
            </a:r>
            <a:r>
              <a:rPr lang="es-ES_tradnl" sz="2800" b="1" dirty="0"/>
              <a:t> </a:t>
            </a:r>
            <a:r>
              <a:rPr lang="es-ES_tradnl" sz="2800" dirty="0"/>
              <a:t>Requerimientos de </a:t>
            </a:r>
            <a:r>
              <a:rPr lang="es-ES_tradnl" sz="2800"/>
              <a:t>área 5/5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7045D517-A6D0-E3B0-41E7-ACEC5209322F}"/>
              </a:ext>
            </a:extLst>
          </p:cNvPr>
          <p:cNvSpPr/>
          <p:nvPr/>
        </p:nvSpPr>
        <p:spPr>
          <a:xfrm>
            <a:off x="810247" y="4235570"/>
            <a:ext cx="10368116" cy="151277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b="1" dirty="0"/>
              <a:t>Bloque detalles</a:t>
            </a:r>
          </a:p>
          <a:p>
            <a:endParaRPr lang="es-ES_tradnl" sz="1400" b="1" dirty="0"/>
          </a:p>
          <a:p>
            <a:r>
              <a:rPr lang="es-ES_tradnl" sz="1400" dirty="0"/>
              <a:t>8. </a:t>
            </a:r>
            <a:r>
              <a:rPr lang="es-ES_tradnl" sz="1400" b="1" dirty="0"/>
              <a:t>Condición</a:t>
            </a:r>
            <a:r>
              <a:rPr lang="es-ES_tradnl" sz="1400" dirty="0"/>
              <a:t>. El campo condición se llena automáticamente según los datos ingresados en conjunto y subconjunto.</a:t>
            </a:r>
            <a:br>
              <a:rPr lang="es-ES_tradnl" sz="1400" dirty="0"/>
            </a:br>
            <a:r>
              <a:rPr lang="es-ES_tradnl" sz="1400" dirty="0"/>
              <a:t>9. </a:t>
            </a:r>
            <a:r>
              <a:rPr lang="es-ES_tradnl" sz="1400" b="1" dirty="0"/>
              <a:t>Atributo de curso</a:t>
            </a:r>
            <a:r>
              <a:rPr lang="es-ES_tradnl" sz="1400" dirty="0"/>
              <a:t>. Para que el avance curricular tome en cuenta el atributo del curso se debe insertar el registro del atributo creado. </a:t>
            </a:r>
            <a:endParaRPr lang="es-ES_tradnl" sz="16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2ABE152-E60F-E0C2-93CF-B4D0DAACB3F3}"/>
              </a:ext>
            </a:extLst>
          </p:cNvPr>
          <p:cNvSpPr/>
          <p:nvPr/>
        </p:nvSpPr>
        <p:spPr>
          <a:xfrm>
            <a:off x="810247" y="3564900"/>
            <a:ext cx="739935" cy="26990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F80B5EE-6120-B11B-2CFC-236377B29069}"/>
              </a:ext>
            </a:extLst>
          </p:cNvPr>
          <p:cNvSpPr/>
          <p:nvPr/>
        </p:nvSpPr>
        <p:spPr>
          <a:xfrm>
            <a:off x="8215625" y="3578148"/>
            <a:ext cx="893134" cy="30480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9">
            <a:extLst>
              <a:ext uri="{FF2B5EF4-FFF2-40B4-BE49-F238E27FC236}">
                <a16:creationId xmlns:a16="http://schemas.microsoft.com/office/drawing/2014/main" id="{83FEF5F1-1620-ECAB-4D52-9AFEAD529B36}"/>
              </a:ext>
            </a:extLst>
          </p:cNvPr>
          <p:cNvSpPr/>
          <p:nvPr/>
        </p:nvSpPr>
        <p:spPr>
          <a:xfrm>
            <a:off x="405667" y="3590505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8</a:t>
            </a:r>
          </a:p>
        </p:txBody>
      </p:sp>
      <p:sp>
        <p:nvSpPr>
          <p:cNvPr id="19" name="Rectángulo redondeado 9">
            <a:extLst>
              <a:ext uri="{FF2B5EF4-FFF2-40B4-BE49-F238E27FC236}">
                <a16:creationId xmlns:a16="http://schemas.microsoft.com/office/drawing/2014/main" id="{DEA7FFC2-AD5E-5E53-0AED-6E275470CAE3}"/>
              </a:ext>
            </a:extLst>
          </p:cNvPr>
          <p:cNvSpPr/>
          <p:nvPr/>
        </p:nvSpPr>
        <p:spPr>
          <a:xfrm>
            <a:off x="7709404" y="3592765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78539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Crear las mallas curriculares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6" y="2008765"/>
            <a:ext cx="10624467" cy="3979659"/>
          </a:xfrm>
        </p:spPr>
        <p:txBody>
          <a:bodyPr/>
          <a:lstStyle/>
          <a:p>
            <a:pPr marL="0" indent="0">
              <a:buNone/>
            </a:pPr>
            <a:r>
              <a:rPr lang="es-419" sz="2000" dirty="0"/>
              <a:t>Crear las mallas curriculares: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Permite ingresar un código de atributo a un curso y este curso ser evaluado por el avance </a:t>
            </a:r>
            <a:r>
              <a:rPr lang="es-ES_tradnl" dirty="0" err="1"/>
              <a:t>currícular</a:t>
            </a:r>
            <a:r>
              <a:rPr lang="es-ES_tradnl" dirty="0"/>
              <a:t>, sin registrar en la regla todo el listado de cursos que pueden otorgarle el cumplimiento..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71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84689-227B-A2E5-EA69-DF2CD64C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MUCHAS GRACIAS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F50E-22E9-2C0A-4970-41D2FFEB26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Consultor</a:t>
            </a:r>
          </a:p>
          <a:p>
            <a:r>
              <a:rPr lang="es-419" dirty="0"/>
              <a:t>Correo@ellucian.com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90" y="3652538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90" y="4039758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69019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CEA309A8-FD57-42A7-831A-1C6DF3BE5D5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EBP 01 - 4.1.6.2 Programar el inicio y finalizacion de Per.Acad.Regulares</Template>
  <TotalTime>5344</TotalTime>
  <Words>1122</Words>
  <Application>Microsoft Office PowerPoint</Application>
  <PresentationFormat>Widescreen</PresentationFormat>
  <Paragraphs>133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PowerPoint Presentation</vt:lpstr>
      <vt:lpstr>PowerPoint Presentation</vt:lpstr>
      <vt:lpstr>Overview</vt:lpstr>
      <vt:lpstr>PowerPoint Presentation</vt:lpstr>
      <vt:lpstr>Overview: Gestionar asignaturas electivas</vt:lpstr>
      <vt:lpstr>PowerPoint Presentation</vt:lpstr>
      <vt:lpstr>Overview: Crear las mallas curriculares</vt:lpstr>
      <vt:lpstr>Overview: Crear las mallas curriculares</vt:lpstr>
      <vt:lpstr>Catálogo de cursos</vt:lpstr>
      <vt:lpstr>PowerPoint Presentation</vt:lpstr>
      <vt:lpstr>Configuraciones: STVATTR Validación de atributo </vt:lpstr>
      <vt:lpstr>PowerPoint Presentation</vt:lpstr>
      <vt:lpstr>Asignación de atributos</vt:lpstr>
      <vt:lpstr>Configuraciones: SCADETL Información detallada del cuso</vt:lpstr>
      <vt:lpstr>Mallas currículares</vt:lpstr>
      <vt:lpstr>PowerPoint Presentation</vt:lpstr>
      <vt:lpstr>Asignación de reglas a las áreas</vt:lpstr>
      <vt:lpstr>Configuraciones: SMAAREA Requerimientos de área 1/6</vt:lpstr>
      <vt:lpstr>Configuraciones: SMAAREA Requerimientos de área 2/6 </vt:lpstr>
      <vt:lpstr>Configuraciones: SMAAREA Requerimientos de área 3/5 </vt:lpstr>
      <vt:lpstr>Configuraciones: SMAAREA Requerimientos de área 5/5 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Trapp, Eduardo</cp:lastModifiedBy>
  <cp:revision>604</cp:revision>
  <dcterms:created xsi:type="dcterms:W3CDTF">2023-07-17T20:07:38Z</dcterms:created>
  <dcterms:modified xsi:type="dcterms:W3CDTF">2026-03-26T20:14:09Z</dcterms:modified>
</cp:coreProperties>
</file>
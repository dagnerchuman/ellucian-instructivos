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  <p:sldMasterId id="2147483688" r:id="rId3"/>
    <p:sldMasterId id="2147483695" r:id="rId4"/>
    <p:sldMasterId id="2147483731" r:id="rId5"/>
  </p:sldMasterIdLst>
  <p:notesMasterIdLst>
    <p:notesMasterId r:id="rId52"/>
  </p:notesMasterIdLst>
  <p:sldIdLst>
    <p:sldId id="256" r:id="rId6"/>
    <p:sldId id="423" r:id="rId7"/>
    <p:sldId id="476" r:id="rId8"/>
    <p:sldId id="523" r:id="rId9"/>
    <p:sldId id="1867" r:id="rId10"/>
    <p:sldId id="349" r:id="rId11"/>
    <p:sldId id="1866" r:id="rId12"/>
    <p:sldId id="421" r:id="rId13"/>
    <p:sldId id="352" r:id="rId14"/>
    <p:sldId id="1864" r:id="rId15"/>
    <p:sldId id="1869" r:id="rId16"/>
    <p:sldId id="1909" r:id="rId17"/>
    <p:sldId id="360" r:id="rId18"/>
    <p:sldId id="477" r:id="rId19"/>
    <p:sldId id="601" r:id="rId20"/>
    <p:sldId id="1873" r:id="rId21"/>
    <p:sldId id="1914" r:id="rId22"/>
    <p:sldId id="1888" r:id="rId23"/>
    <p:sldId id="1871" r:id="rId24"/>
    <p:sldId id="1874" r:id="rId25"/>
    <p:sldId id="1802" r:id="rId26"/>
    <p:sldId id="1803" r:id="rId27"/>
    <p:sldId id="1801" r:id="rId28"/>
    <p:sldId id="1797" r:id="rId29"/>
    <p:sldId id="1798" r:id="rId30"/>
    <p:sldId id="1804" r:id="rId31"/>
    <p:sldId id="1805" r:id="rId32"/>
    <p:sldId id="1806" r:id="rId33"/>
    <p:sldId id="1807" r:id="rId34"/>
    <p:sldId id="1808" r:id="rId35"/>
    <p:sldId id="1809" r:id="rId36"/>
    <p:sldId id="1875" r:id="rId37"/>
    <p:sldId id="1877" r:id="rId38"/>
    <p:sldId id="1878" r:id="rId39"/>
    <p:sldId id="1876" r:id="rId40"/>
    <p:sldId id="1880" r:id="rId41"/>
    <p:sldId id="1879" r:id="rId42"/>
    <p:sldId id="1881" r:id="rId43"/>
    <p:sldId id="1882" r:id="rId44"/>
    <p:sldId id="1883" r:id="rId45"/>
    <p:sldId id="1910" r:id="rId46"/>
    <p:sldId id="1884" r:id="rId47"/>
    <p:sldId id="1911" r:id="rId48"/>
    <p:sldId id="1886" r:id="rId49"/>
    <p:sldId id="1860" r:id="rId50"/>
    <p:sldId id="501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B5619-2665-4DD7-AE6D-5DA9F0631F61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A81D4-8915-4AD3-93C7-3AAC866AC2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025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A81D4-8915-4AD3-93C7-3AAC866AC245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99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0707-75F0-4A7A-0354-45B293E9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7D0777-F52B-745A-7657-C7746CD14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62C7BF-35A6-04F6-724C-E34FD6C3F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20643B-9666-36AF-DDA0-8D28900B3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14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06A7-BEE5-A6AC-AAA4-88495D9A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737BDB-F621-203B-EDE7-6D13D4361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D12F12-99F7-35AE-AB86-A630B697D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E403A9-40F7-EA55-E5BD-866CA344A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61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7819-5D68-F843-1007-78190BFE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747937-476B-EDA5-BD43-B7BA0077A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E7AE24-AD8D-ED70-B4D6-1BFE6374D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CC549F-7D68-03DF-37C1-13EE3D37A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65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02F8F-55D7-9EED-9868-55E0C481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E68C69-4B23-DB79-7282-D217407E0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11AC8D-2F53-6581-6610-940E6685A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5E4950-7C8F-4B4F-18D2-6A6F2E898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1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7A6F-C3AA-F85F-5ABF-495850A0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ED4932-081D-CAD0-D975-6F732845A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9018E5-A167-16D3-2859-E5AC78470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4F3359-3CD0-6D7A-94BD-ACA5A86E8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70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3CAE-5B28-6E89-8565-7A418800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F30864-BF14-3D36-93FF-541BF7AB9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A437BB-9CB0-EC32-C289-83C01BAD4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4AB873-2746-3F5E-0229-9848C1227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99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9C0C-BD61-2ECF-1AF9-CF2D2F68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EDE6B0-7DBF-8476-8DBC-0651426C7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E4C49F-BF40-D3EB-90BB-5D8FD58D3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F57E0C-D52B-9CE8-5081-E2B8BE954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63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7F36-23AF-4B35-7141-E6826BC2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85F991-501C-CE8D-A312-A777307B7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8BB7E3-B098-A4E9-EA6A-951C34465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8F4E7-3E4C-6A62-CE34-93358E728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2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C609D-5A07-3880-830D-C70AFE2C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048B6B-AA94-A65C-9678-E71C3EA51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D8484E-6BD7-AA7D-A94A-4F57FDBDB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0DD362-6FB3-538E-9C01-96626DFB2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93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3B41-795E-34E1-EF57-88B0DE0B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A49F30-4780-288D-E4B1-9016FA337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E97F95-4FF5-6240-F798-3146E38F3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0FAF3A-570B-721F-C23C-AE19B62CF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67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EA54-A27D-71E4-1FFF-F8F789DA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8EC174-3CB2-F10B-DEF4-8983F5D4E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9C3032-5A51-B4FA-AC59-BE51884EA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FB44BC-CBFC-E648-75AD-7E86ACD02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67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003F-3EC0-35EB-C960-945CF8B4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03D09A-5866-41DD-E208-C884FC424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020ED2-94CB-FD9A-BDB4-29B25E29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8285EE-4BE8-DFB3-775B-48E9761BA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6368-A773-90F2-7167-8AEB654E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85F69A-825B-EF7A-0C88-E5AC2C185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697E68-50AA-4517-CBD8-4F75737A8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D4BE8D-11D7-0AA4-2064-4BFA95C23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75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AA52-EB1B-D92D-5499-EE9C875F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8C6370-9DC7-3502-A213-FD6A964A7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DBE957-19A4-2DA5-D996-450A75CB8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65668E-C60A-E023-9485-8A26BA985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37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613A-BC8A-57FF-C063-3E124243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31EAD4-AD5C-1DDE-974D-CB9DA6360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B223FD-9183-971B-3397-9E4D26778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0983E9-065B-1513-45D3-B1214469C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92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A848-0F64-5627-2A2C-38DDEC6B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E5898B-1EC2-5750-F6C2-B4691AEA3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82FE62-6525-7C4E-24A1-AB9A80FC6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FA373D-2DA7-10D4-047B-661232B1F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73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A95B-A928-FFEE-EDDD-DED5A262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FF55C7-CA27-5693-5A28-103EEC29C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802620-1E1F-1601-DC5C-658E11237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AF03CF-C4E0-CA59-319D-9BDBE2D17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41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7767-1900-0B03-2A7A-DF61FA58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8D2288-9DF1-F196-9F0C-416C1B5D0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98134E-3C45-2D63-AEAA-98641D4F0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18516F-2BE5-0F66-F69D-8D8B24B21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08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64BE-BDF1-DA02-3A7A-02791C1C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012B50-5EED-0AD9-6B3C-8E248862A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20363A-639B-90AC-AAD4-544BB0A69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56AF00-5675-026C-4F7D-C442CB492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534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DE2A-5410-AA97-ECE8-CFE51131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399E0A-0704-F4B0-C608-A99B57F79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9584A1-E443-82CB-7F90-CA60344AF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25715A-9CC8-E852-50A5-D2CD274F2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90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ECF3-6CEC-A7D4-5906-1FBA612F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5F0467-4A1A-401B-6B29-25A38A158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7D1AAC-911D-D47B-5D03-BB5CC8324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C03857-8BAA-C6F6-D87E-6B3D3C672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92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1410-3B62-8B71-1FF8-0B89AD41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E58F4D-81FF-28FC-F474-DD274DFD8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C8459D-A755-0C49-6498-7183CFDF5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7C004F-DC90-E778-89D4-94F948848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60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0F2D-4555-0008-0F86-F66729E1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7DE089-B11E-5F86-F133-73EA72C74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3DFFE9-580F-08EA-6FC9-F800F5BCC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300E45-72A4-52B2-03EB-3FC129906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ellucian.box.com/s/w49fplksvbjyioohfht5k9gssu2rmavn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ellucian.box.com/s/w49fplksvbjyioohfht5k9gssu2rmavn" TargetMode="Externa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2400"/>
              </a:spcBef>
              <a:buNone/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lnSpc>
                <a:spcPct val="100000"/>
              </a:lnSpc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lnSpc>
                <a:spcPct val="100000"/>
              </a:lnSpc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1759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796687A-CCCA-694B-8808-F6D25B30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363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796687A-CCCA-694B-8808-F6D25B30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363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25489-27A4-0542-820C-0C84A30A42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4272" y="1731264"/>
            <a:ext cx="9643872" cy="4108704"/>
          </a:xfrm>
        </p:spPr>
        <p:txBody>
          <a:bodyPr bIns="73152"/>
          <a:lstStyle>
            <a:lvl1pPr marL="0" indent="0" algn="l">
              <a:spcBef>
                <a:spcPts val="3733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</a:defRPr>
            </a:lvl1pPr>
            <a:lvl2pPr marL="3048" indent="0" algn="l">
              <a:buNone/>
              <a:defRPr b="0">
                <a:solidFill>
                  <a:schemeClr val="tx1"/>
                </a:solidFill>
              </a:defRPr>
            </a:lvl2pPr>
            <a:lvl3pPr marL="307840" indent="0" algn="l">
              <a:buNone/>
              <a:defRPr b="0">
                <a:solidFill>
                  <a:schemeClr val="tx1"/>
                </a:solidFill>
              </a:defRPr>
            </a:lvl3pPr>
            <a:lvl4pPr marL="539483" indent="0" algn="l">
              <a:buNone/>
              <a:defRPr b="0">
                <a:solidFill>
                  <a:schemeClr val="tx1"/>
                </a:solidFill>
              </a:defRPr>
            </a:lvl4pPr>
            <a:lvl5pPr marL="844275" indent="0" algn="l">
              <a:buNone/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Topic #1</a:t>
            </a:r>
          </a:p>
          <a:p>
            <a:pPr lvl="0"/>
            <a:r>
              <a:rPr lang="en-US" dirty="0"/>
              <a:t>Topic #2</a:t>
            </a:r>
          </a:p>
          <a:p>
            <a:pPr lvl="0"/>
            <a:r>
              <a:rPr lang="en-US" dirty="0"/>
              <a:t>Topic #3</a:t>
            </a:r>
          </a:p>
          <a:p>
            <a:pPr lvl="0"/>
            <a:r>
              <a:rPr lang="en-US" dirty="0"/>
              <a:t>Topic #4</a:t>
            </a:r>
          </a:p>
          <a:p>
            <a:pPr lvl="0"/>
            <a:r>
              <a:rPr lang="en-US" dirty="0"/>
              <a:t>Topic #5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CC483E-A998-AE48-84FD-9684270C4FAC}"/>
              </a:ext>
            </a:extLst>
          </p:cNvPr>
          <p:cNvGrpSpPr/>
          <p:nvPr/>
        </p:nvGrpSpPr>
        <p:grpSpPr>
          <a:xfrm>
            <a:off x="630997" y="1776636"/>
            <a:ext cx="610147" cy="409771"/>
            <a:chOff x="473248" y="1292618"/>
            <a:chExt cx="457610" cy="307328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E406689-4E37-854B-BD76-18C719C881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248" y="1295943"/>
              <a:ext cx="457610" cy="304003"/>
            </a:xfrm>
            <a:custGeom>
              <a:avLst/>
              <a:gdLst>
                <a:gd name="connsiteX0" fmla="*/ 1804936 w 2707481"/>
                <a:gd name="connsiteY0" fmla="*/ -114 h 1798654"/>
                <a:gd name="connsiteX1" fmla="*/ -52 w 2707481"/>
                <a:gd name="connsiteY1" fmla="*/ -114 h 1798654"/>
                <a:gd name="connsiteX2" fmla="*/ -52 w 2707481"/>
                <a:gd name="connsiteY2" fmla="*/ 1798541 h 1798654"/>
                <a:gd name="connsiteX3" fmla="*/ 1804936 w 2707481"/>
                <a:gd name="connsiteY3" fmla="*/ 1798541 h 1798654"/>
                <a:gd name="connsiteX4" fmla="*/ 2707429 w 2707481"/>
                <a:gd name="connsiteY4" fmla="*/ 899213 h 1798654"/>
                <a:gd name="connsiteX5" fmla="*/ 1804936 w 2707481"/>
                <a:gd name="connsiteY5" fmla="*/ -114 h 179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7481" h="1798654">
                  <a:moveTo>
                    <a:pt x="1804936" y="-114"/>
                  </a:moveTo>
                  <a:lnTo>
                    <a:pt x="-52" y="-114"/>
                  </a:lnTo>
                  <a:lnTo>
                    <a:pt x="-52" y="1798541"/>
                  </a:lnTo>
                  <a:lnTo>
                    <a:pt x="1804936" y="1798541"/>
                  </a:lnTo>
                  <a:cubicBezTo>
                    <a:pt x="2303369" y="1798541"/>
                    <a:pt x="2707429" y="1395898"/>
                    <a:pt x="2707429" y="899213"/>
                  </a:cubicBezTo>
                  <a:cubicBezTo>
                    <a:pt x="2707429" y="402529"/>
                    <a:pt x="2303369" y="-114"/>
                    <a:pt x="1804936" y="-114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67" b="0" i="0" dirty="0">
                <a:latin typeface="Inter" panose="020B05020300000000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BFA256-CFAF-F042-8833-FFE1C4C855DE}"/>
                </a:ext>
              </a:extLst>
            </p:cNvPr>
            <p:cNvSpPr txBox="1"/>
            <p:nvPr/>
          </p:nvSpPr>
          <p:spPr>
            <a:xfrm>
              <a:off x="473248" y="1292618"/>
              <a:ext cx="38082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67" b="1" dirty="0">
                  <a:solidFill>
                    <a:schemeClr val="bg1"/>
                  </a:solidFill>
                  <a:latin typeface="Inter" panose="020B0502030000000004" pitchFamily="34" charset="0"/>
                  <a:ea typeface="Inter" panose="020B0502030000000004" pitchFamily="34" charset="0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3E8796-447C-314B-8530-34B47A1CADE0}"/>
              </a:ext>
            </a:extLst>
          </p:cNvPr>
          <p:cNvGrpSpPr/>
          <p:nvPr/>
        </p:nvGrpSpPr>
        <p:grpSpPr>
          <a:xfrm>
            <a:off x="630997" y="2618312"/>
            <a:ext cx="610147" cy="409771"/>
            <a:chOff x="473248" y="1292618"/>
            <a:chExt cx="457610" cy="30732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6583ADF-EDCC-7849-8321-A9F298875B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248" y="1295943"/>
              <a:ext cx="457610" cy="304003"/>
            </a:xfrm>
            <a:custGeom>
              <a:avLst/>
              <a:gdLst>
                <a:gd name="connsiteX0" fmla="*/ 1804936 w 2707481"/>
                <a:gd name="connsiteY0" fmla="*/ -114 h 1798654"/>
                <a:gd name="connsiteX1" fmla="*/ -52 w 2707481"/>
                <a:gd name="connsiteY1" fmla="*/ -114 h 1798654"/>
                <a:gd name="connsiteX2" fmla="*/ -52 w 2707481"/>
                <a:gd name="connsiteY2" fmla="*/ 1798541 h 1798654"/>
                <a:gd name="connsiteX3" fmla="*/ 1804936 w 2707481"/>
                <a:gd name="connsiteY3" fmla="*/ 1798541 h 1798654"/>
                <a:gd name="connsiteX4" fmla="*/ 2707429 w 2707481"/>
                <a:gd name="connsiteY4" fmla="*/ 899213 h 1798654"/>
                <a:gd name="connsiteX5" fmla="*/ 1804936 w 2707481"/>
                <a:gd name="connsiteY5" fmla="*/ -114 h 179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7481" h="1798654">
                  <a:moveTo>
                    <a:pt x="1804936" y="-114"/>
                  </a:moveTo>
                  <a:lnTo>
                    <a:pt x="-52" y="-114"/>
                  </a:lnTo>
                  <a:lnTo>
                    <a:pt x="-52" y="1798541"/>
                  </a:lnTo>
                  <a:lnTo>
                    <a:pt x="1804936" y="1798541"/>
                  </a:lnTo>
                  <a:cubicBezTo>
                    <a:pt x="2303369" y="1798541"/>
                    <a:pt x="2707429" y="1395898"/>
                    <a:pt x="2707429" y="899213"/>
                  </a:cubicBezTo>
                  <a:cubicBezTo>
                    <a:pt x="2707429" y="402529"/>
                    <a:pt x="2303369" y="-114"/>
                    <a:pt x="1804936" y="-114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en-US" sz="1867" b="0" i="0" dirty="0">
                <a:latin typeface="Inter" panose="020B05020300000000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18211C-29C6-CD43-9D9D-A5E4B180A9D3}"/>
                </a:ext>
              </a:extLst>
            </p:cNvPr>
            <p:cNvSpPr txBox="1"/>
            <p:nvPr/>
          </p:nvSpPr>
          <p:spPr>
            <a:xfrm>
              <a:off x="473248" y="1292618"/>
              <a:ext cx="38082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67" b="1" dirty="0">
                  <a:solidFill>
                    <a:schemeClr val="bg1"/>
                  </a:solidFill>
                  <a:latin typeface="Inter" panose="020B0502030000000004" pitchFamily="34" charset="0"/>
                  <a:ea typeface="Inter" panose="020B0502030000000004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7EAB32-4B0C-C943-957C-814167935EB5}"/>
              </a:ext>
            </a:extLst>
          </p:cNvPr>
          <p:cNvGrpSpPr/>
          <p:nvPr/>
        </p:nvGrpSpPr>
        <p:grpSpPr>
          <a:xfrm>
            <a:off x="630997" y="3459985"/>
            <a:ext cx="610147" cy="409771"/>
            <a:chOff x="473248" y="1292618"/>
            <a:chExt cx="457610" cy="30732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12DF51-E7F3-A044-B132-BCBDD23521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248" y="1295943"/>
              <a:ext cx="457610" cy="304003"/>
            </a:xfrm>
            <a:custGeom>
              <a:avLst/>
              <a:gdLst>
                <a:gd name="connsiteX0" fmla="*/ 1804936 w 2707481"/>
                <a:gd name="connsiteY0" fmla="*/ -114 h 1798654"/>
                <a:gd name="connsiteX1" fmla="*/ -52 w 2707481"/>
                <a:gd name="connsiteY1" fmla="*/ -114 h 1798654"/>
                <a:gd name="connsiteX2" fmla="*/ -52 w 2707481"/>
                <a:gd name="connsiteY2" fmla="*/ 1798541 h 1798654"/>
                <a:gd name="connsiteX3" fmla="*/ 1804936 w 2707481"/>
                <a:gd name="connsiteY3" fmla="*/ 1798541 h 1798654"/>
                <a:gd name="connsiteX4" fmla="*/ 2707429 w 2707481"/>
                <a:gd name="connsiteY4" fmla="*/ 899213 h 1798654"/>
                <a:gd name="connsiteX5" fmla="*/ 1804936 w 2707481"/>
                <a:gd name="connsiteY5" fmla="*/ -114 h 179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7481" h="1798654">
                  <a:moveTo>
                    <a:pt x="1804936" y="-114"/>
                  </a:moveTo>
                  <a:lnTo>
                    <a:pt x="-52" y="-114"/>
                  </a:lnTo>
                  <a:lnTo>
                    <a:pt x="-52" y="1798541"/>
                  </a:lnTo>
                  <a:lnTo>
                    <a:pt x="1804936" y="1798541"/>
                  </a:lnTo>
                  <a:cubicBezTo>
                    <a:pt x="2303369" y="1798541"/>
                    <a:pt x="2707429" y="1395898"/>
                    <a:pt x="2707429" y="899213"/>
                  </a:cubicBezTo>
                  <a:cubicBezTo>
                    <a:pt x="2707429" y="402529"/>
                    <a:pt x="2303369" y="-114"/>
                    <a:pt x="1804936" y="-114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67" b="0" i="0" dirty="0">
                <a:latin typeface="Inter" panose="020B05020300000000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23B352-FFA5-E94F-A3BD-4156D78AD6DC}"/>
                </a:ext>
              </a:extLst>
            </p:cNvPr>
            <p:cNvSpPr txBox="1"/>
            <p:nvPr/>
          </p:nvSpPr>
          <p:spPr>
            <a:xfrm>
              <a:off x="473248" y="1292618"/>
              <a:ext cx="38082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67" b="1" dirty="0">
                  <a:solidFill>
                    <a:schemeClr val="bg1"/>
                  </a:solidFill>
                  <a:latin typeface="Inter" panose="020B0502030000000004" pitchFamily="34" charset="0"/>
                  <a:ea typeface="Inter" panose="020B0502030000000004" pitchFamily="34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BBDB32-7A85-A644-8A62-3A5094407B48}"/>
              </a:ext>
            </a:extLst>
          </p:cNvPr>
          <p:cNvGrpSpPr/>
          <p:nvPr/>
        </p:nvGrpSpPr>
        <p:grpSpPr>
          <a:xfrm>
            <a:off x="630997" y="4301660"/>
            <a:ext cx="610147" cy="409771"/>
            <a:chOff x="473248" y="1292618"/>
            <a:chExt cx="457610" cy="30732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D6A1DB7-64FA-8D48-ABE1-60C2AF714A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248" y="1295943"/>
              <a:ext cx="457610" cy="304003"/>
            </a:xfrm>
            <a:custGeom>
              <a:avLst/>
              <a:gdLst>
                <a:gd name="connsiteX0" fmla="*/ 1804936 w 2707481"/>
                <a:gd name="connsiteY0" fmla="*/ -114 h 1798654"/>
                <a:gd name="connsiteX1" fmla="*/ -52 w 2707481"/>
                <a:gd name="connsiteY1" fmla="*/ -114 h 1798654"/>
                <a:gd name="connsiteX2" fmla="*/ -52 w 2707481"/>
                <a:gd name="connsiteY2" fmla="*/ 1798541 h 1798654"/>
                <a:gd name="connsiteX3" fmla="*/ 1804936 w 2707481"/>
                <a:gd name="connsiteY3" fmla="*/ 1798541 h 1798654"/>
                <a:gd name="connsiteX4" fmla="*/ 2707429 w 2707481"/>
                <a:gd name="connsiteY4" fmla="*/ 899213 h 1798654"/>
                <a:gd name="connsiteX5" fmla="*/ 1804936 w 2707481"/>
                <a:gd name="connsiteY5" fmla="*/ -114 h 179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7481" h="1798654">
                  <a:moveTo>
                    <a:pt x="1804936" y="-114"/>
                  </a:moveTo>
                  <a:lnTo>
                    <a:pt x="-52" y="-114"/>
                  </a:lnTo>
                  <a:lnTo>
                    <a:pt x="-52" y="1798541"/>
                  </a:lnTo>
                  <a:lnTo>
                    <a:pt x="1804936" y="1798541"/>
                  </a:lnTo>
                  <a:cubicBezTo>
                    <a:pt x="2303369" y="1798541"/>
                    <a:pt x="2707429" y="1395898"/>
                    <a:pt x="2707429" y="899213"/>
                  </a:cubicBezTo>
                  <a:cubicBezTo>
                    <a:pt x="2707429" y="402529"/>
                    <a:pt x="2303369" y="-114"/>
                    <a:pt x="1804936" y="-114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67" b="0" i="0" dirty="0">
                <a:latin typeface="Inter" panose="020B05020300000000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2941A9-0E7C-FB4D-91A1-80F197BFB6FE}"/>
                </a:ext>
              </a:extLst>
            </p:cNvPr>
            <p:cNvSpPr txBox="1"/>
            <p:nvPr/>
          </p:nvSpPr>
          <p:spPr>
            <a:xfrm>
              <a:off x="473248" y="1292618"/>
              <a:ext cx="38082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67" b="1" dirty="0">
                  <a:solidFill>
                    <a:schemeClr val="bg1"/>
                  </a:solidFill>
                  <a:latin typeface="Inter" panose="020B0502030000000004" pitchFamily="34" charset="0"/>
                  <a:ea typeface="Inter" panose="020B0502030000000004" pitchFamily="34" charset="0"/>
                </a:rPr>
                <a:t>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800A9E-F4EE-C449-848C-EEF33A99A47D}"/>
              </a:ext>
            </a:extLst>
          </p:cNvPr>
          <p:cNvGrpSpPr/>
          <p:nvPr/>
        </p:nvGrpSpPr>
        <p:grpSpPr>
          <a:xfrm>
            <a:off x="630997" y="5127502"/>
            <a:ext cx="610147" cy="409771"/>
            <a:chOff x="473248" y="1292618"/>
            <a:chExt cx="457610" cy="307328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04698E-F9BA-194C-9EAB-22D645B6D8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248" y="1295943"/>
              <a:ext cx="457610" cy="304003"/>
            </a:xfrm>
            <a:custGeom>
              <a:avLst/>
              <a:gdLst>
                <a:gd name="connsiteX0" fmla="*/ 1804936 w 2707481"/>
                <a:gd name="connsiteY0" fmla="*/ -114 h 1798654"/>
                <a:gd name="connsiteX1" fmla="*/ -52 w 2707481"/>
                <a:gd name="connsiteY1" fmla="*/ -114 h 1798654"/>
                <a:gd name="connsiteX2" fmla="*/ -52 w 2707481"/>
                <a:gd name="connsiteY2" fmla="*/ 1798541 h 1798654"/>
                <a:gd name="connsiteX3" fmla="*/ 1804936 w 2707481"/>
                <a:gd name="connsiteY3" fmla="*/ 1798541 h 1798654"/>
                <a:gd name="connsiteX4" fmla="*/ 2707429 w 2707481"/>
                <a:gd name="connsiteY4" fmla="*/ 899213 h 1798654"/>
                <a:gd name="connsiteX5" fmla="*/ 1804936 w 2707481"/>
                <a:gd name="connsiteY5" fmla="*/ -114 h 179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7481" h="1798654">
                  <a:moveTo>
                    <a:pt x="1804936" y="-114"/>
                  </a:moveTo>
                  <a:lnTo>
                    <a:pt x="-52" y="-114"/>
                  </a:lnTo>
                  <a:lnTo>
                    <a:pt x="-52" y="1798541"/>
                  </a:lnTo>
                  <a:lnTo>
                    <a:pt x="1804936" y="1798541"/>
                  </a:lnTo>
                  <a:cubicBezTo>
                    <a:pt x="2303369" y="1798541"/>
                    <a:pt x="2707429" y="1395898"/>
                    <a:pt x="2707429" y="899213"/>
                  </a:cubicBezTo>
                  <a:cubicBezTo>
                    <a:pt x="2707429" y="402529"/>
                    <a:pt x="2303369" y="-114"/>
                    <a:pt x="1804936" y="-114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67" b="0" i="0" dirty="0">
                <a:latin typeface="Inter" panose="020B05020300000000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9557CB8-C9B6-CD46-B918-61B9FCD0EC6E}"/>
                </a:ext>
              </a:extLst>
            </p:cNvPr>
            <p:cNvSpPr txBox="1"/>
            <p:nvPr/>
          </p:nvSpPr>
          <p:spPr>
            <a:xfrm>
              <a:off x="473248" y="1292618"/>
              <a:ext cx="38082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67" b="1" dirty="0">
                  <a:solidFill>
                    <a:schemeClr val="bg1"/>
                  </a:solidFill>
                  <a:latin typeface="Inter" panose="020B0502030000000004" pitchFamily="34" charset="0"/>
                  <a:ea typeface="Inter" panose="020B05020300000000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89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363200" cy="609600"/>
          </a:xfrm>
        </p:spPr>
        <p:txBody>
          <a:bodyPr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2pPr>
              <a:buClr>
                <a:srgbClr val="00C3FF"/>
              </a:buClr>
              <a:defRPr/>
            </a:lvl2pPr>
            <a:lvl3pPr>
              <a:buClr>
                <a:srgbClr val="642673"/>
              </a:buClr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840" y="1584960"/>
            <a:ext cx="5242560" cy="4389120"/>
          </a:xfrm>
        </p:spPr>
        <p:txBody>
          <a:bodyPr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7867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2682240" cy="38282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7056" y="609600"/>
            <a:ext cx="6705600" cy="5364480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400"/>
              </a:spcBef>
              <a:defRPr sz="2133"/>
            </a:lvl1pPr>
            <a:lvl2pPr marL="304792" indent="-304792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defRPr sz="2133"/>
            </a:lvl2pPr>
            <a:lvl3pPr indent="-219451">
              <a:spcBef>
                <a:spcPts val="400"/>
              </a:spcBef>
              <a:defRPr sz="1600"/>
            </a:lvl3pPr>
            <a:lvl4pPr>
              <a:spcBef>
                <a:spcPts val="400"/>
              </a:spcBef>
              <a:defRPr sz="1600"/>
            </a:lvl4pPr>
            <a:lvl5pPr marL="1133828" indent="-219451">
              <a:spcBef>
                <a:spcPts val="400"/>
              </a:spcBef>
              <a:defRPr sz="1467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7682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3D6F49-B00A-CB46-A143-F4FB4BCFC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2ADB49-6940-5240-B0B8-7CE4CA5396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ABBD4-EA74-2F42-B0E4-737E3B132660}"/>
              </a:ext>
            </a:extLst>
          </p:cNvPr>
          <p:cNvSpPr txBox="1"/>
          <p:nvPr/>
        </p:nvSpPr>
        <p:spPr>
          <a:xfrm>
            <a:off x="0" y="-550148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14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7E1FA8-EC64-2741-A049-5E1F9B70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90" y="0"/>
            <a:ext cx="5368209" cy="68671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5974080" cy="609600"/>
          </a:xfrm>
        </p:spPr>
        <p:txBody>
          <a:bodyPr lIns="0" tIns="0" rIns="0" bIns="0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33565" y="6429791"/>
            <a:ext cx="353568" cy="3077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F4AB9F1-8580-1247-8167-A85F80399B84}"/>
              </a:ext>
            </a:extLst>
          </p:cNvPr>
          <p:cNvSpPr>
            <a:spLocks noChangeAspect="1"/>
          </p:cNvSpPr>
          <p:nvPr/>
        </p:nvSpPr>
        <p:spPr>
          <a:xfrm rot="10800000">
            <a:off x="6823791" y="-9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4"/>
              </a:gs>
              <a:gs pos="100000">
                <a:schemeClr val="accent3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DBA971A-D505-5A4F-BEFB-939EBDD2E90A}"/>
              </a:ext>
            </a:extLst>
          </p:cNvPr>
          <p:cNvSpPr>
            <a:spLocks noChangeAspect="1"/>
          </p:cNvSpPr>
          <p:nvPr/>
        </p:nvSpPr>
        <p:spPr>
          <a:xfrm rot="5400000">
            <a:off x="6823788" y="3419856"/>
            <a:ext cx="3447289" cy="3447289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6"/>
              </a:gs>
              <a:gs pos="100000">
                <a:schemeClr val="accent5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850807D-FC96-2840-9091-7743F961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385647" y="3419856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bg2"/>
              </a:gs>
              <a:gs pos="100000">
                <a:schemeClr val="bg1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DA0A0D-93AA-5940-A73D-0AE0446463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4133" y="-8467"/>
            <a:ext cx="5367867" cy="687493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5974080" cy="609600"/>
          </a:xfrm>
        </p:spPr>
        <p:txBody>
          <a:bodyPr lIns="0" tIns="0" rIns="0" bIns="0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F4AB9F1-8580-1247-8167-A85F80399B84}"/>
              </a:ext>
            </a:extLst>
          </p:cNvPr>
          <p:cNvSpPr>
            <a:spLocks noChangeAspect="1"/>
          </p:cNvSpPr>
          <p:nvPr/>
        </p:nvSpPr>
        <p:spPr>
          <a:xfrm rot="10800000">
            <a:off x="6823791" y="-9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4"/>
              </a:gs>
              <a:gs pos="100000">
                <a:schemeClr val="accent3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DBA971A-D505-5A4F-BEFB-939EBDD2E90A}"/>
              </a:ext>
            </a:extLst>
          </p:cNvPr>
          <p:cNvSpPr>
            <a:spLocks noChangeAspect="1"/>
          </p:cNvSpPr>
          <p:nvPr/>
        </p:nvSpPr>
        <p:spPr>
          <a:xfrm rot="5400000">
            <a:off x="6823788" y="3419856"/>
            <a:ext cx="3447289" cy="3447289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6"/>
              </a:gs>
              <a:gs pos="100000">
                <a:schemeClr val="accent5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850807D-FC96-2840-9091-7743F961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385647" y="3419856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5000">
                <a:schemeClr val="bg2"/>
              </a:gs>
              <a:gs pos="100000">
                <a:schemeClr val="bg1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D4248-05CC-C54B-BBD2-A64FA1B75EEE}"/>
              </a:ext>
            </a:extLst>
          </p:cNvPr>
          <p:cNvSpPr txBox="1"/>
          <p:nvPr/>
        </p:nvSpPr>
        <p:spPr>
          <a:xfrm>
            <a:off x="-24384" y="-633984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74FD-2CF9-2E40-B05B-23A148E74CD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4028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DA0A0D-93AA-5940-A73D-0AE0446463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4133" y="-8467"/>
            <a:ext cx="5367867" cy="687493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F98A28-7C14-4B48-BDCB-E64D89211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38144" y="-9991"/>
            <a:ext cx="3438147" cy="6876288"/>
            <a:chOff x="2550611" y="-7493"/>
            <a:chExt cx="2578610" cy="515721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2BFB44F-24DF-E34F-97DA-CA57FB55E29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BD3388E-3802-A842-9117-970788C9B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4632960" cy="609600"/>
          </a:xfrm>
        </p:spPr>
        <p:txBody>
          <a:bodyPr lIns="0" tIns="0" rIns="0" bIns="0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33565" y="6429791"/>
            <a:ext cx="353568" cy="3077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D4248-05CC-C54B-BBD2-A64FA1B75EEE}"/>
              </a:ext>
            </a:extLst>
          </p:cNvPr>
          <p:cNvSpPr txBox="1"/>
          <p:nvPr/>
        </p:nvSpPr>
        <p:spPr>
          <a:xfrm>
            <a:off x="-24384" y="-643379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19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DA0A0D-93AA-5940-A73D-0AE0446463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6048" y="-12192"/>
            <a:ext cx="3425952" cy="6876288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5974080" cy="609600"/>
          </a:xfrm>
        </p:spPr>
        <p:txBody>
          <a:bodyPr lIns="0" tIns="0" rIns="0" bIns="0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33565" y="6429791"/>
            <a:ext cx="353568" cy="3077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D4248-05CC-C54B-BBD2-A64FA1B75EEE}"/>
              </a:ext>
            </a:extLst>
          </p:cNvPr>
          <p:cNvSpPr txBox="1"/>
          <p:nvPr/>
        </p:nvSpPr>
        <p:spPr>
          <a:xfrm>
            <a:off x="-24384" y="-633984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: 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8358D4-803C-4443-B571-DF6A7755E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27904" y="-9991"/>
            <a:ext cx="3438147" cy="6876288"/>
            <a:chOff x="2550611" y="-7493"/>
            <a:chExt cx="2578610" cy="5157216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CE2359-1334-BF47-BA03-39B79CC59164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accent1"/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D30418-9756-844C-A373-F214AE1CBF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967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Blu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28E0A-97B1-E745-9071-91BF5F0E5E34}"/>
              </a:ext>
            </a:extLst>
          </p:cNvPr>
          <p:cNvSpPr/>
          <p:nvPr/>
        </p:nvSpPr>
        <p:spPr>
          <a:xfrm>
            <a:off x="5327904" y="0"/>
            <a:ext cx="6864096" cy="6864096"/>
          </a:xfrm>
          <a:prstGeom prst="rect">
            <a:avLst/>
          </a:prstGeom>
          <a:gradFill>
            <a:gsLst>
              <a:gs pos="2000">
                <a:schemeClr val="accent4"/>
              </a:gs>
              <a:gs pos="100000">
                <a:schemeClr val="accent3"/>
              </a:gs>
            </a:gsLst>
            <a:lin ang="162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 dirty="0">
              <a:latin typeface="Inter" panose="020B05020300000000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4632960" cy="609600"/>
          </a:xfrm>
        </p:spPr>
        <p:txBody>
          <a:bodyPr lIns="0" tIns="0" rIns="0" bIns="0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89120"/>
          </a:xfrm>
        </p:spPr>
        <p:txBody>
          <a:bodyPr>
            <a:noAutofit/>
          </a:bodyPr>
          <a:lstStyle>
            <a:lvl1pPr marL="0" indent="0">
              <a:spcBef>
                <a:spcPts val="1200"/>
              </a:spcBef>
              <a:defRPr/>
            </a:lvl1pPr>
            <a:lvl2pPr marL="377943" indent="-377943">
              <a:lnSpc>
                <a:spcPct val="100000"/>
              </a:lnSpc>
              <a:spcBef>
                <a:spcPts val="2400"/>
              </a:spcBef>
              <a:buClr>
                <a:srgbClr val="00C3FF"/>
              </a:buClr>
              <a:defRPr/>
            </a:lvl2pPr>
            <a:lvl3pPr marL="682735" indent="-377943">
              <a:spcBef>
                <a:spcPts val="2400"/>
              </a:spcBef>
              <a:buClr>
                <a:srgbClr val="642673"/>
              </a:buClr>
              <a:defRPr/>
            </a:lvl3pPr>
            <a:lvl4pPr marL="1146019" indent="-451093">
              <a:spcBef>
                <a:spcPts val="2400"/>
              </a:spcBef>
              <a:buClr>
                <a:srgbClr val="45A1AA"/>
              </a:buClr>
              <a:defRPr/>
            </a:lvl4pPr>
            <a:lvl5pPr marL="1597112" indent="-451093">
              <a:spcBef>
                <a:spcPts val="2400"/>
              </a:spcBef>
              <a:buClr>
                <a:srgbClr val="00C3F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33565" y="6429791"/>
            <a:ext cx="353568" cy="3077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D4248-05CC-C54B-BBD2-A64FA1B75EEE}"/>
              </a:ext>
            </a:extLst>
          </p:cNvPr>
          <p:cNvSpPr txBox="1"/>
          <p:nvPr/>
        </p:nvSpPr>
        <p:spPr>
          <a:xfrm>
            <a:off x="-24384" y="-633984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: 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986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08B4-C108-6147-8375-9C2D696C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7911A-8945-B24E-99D0-9DD15BF85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68BFAC-5A0F-AE4D-8E8C-6E2C34ABD1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" y="1584960"/>
            <a:ext cx="10119360" cy="4876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7809EDB1-D72D-E648-951F-F3688E33DFF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" y="2170176"/>
            <a:ext cx="10119360" cy="402336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 gráfico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6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5849D-D34B-9A4A-ACDB-35A4A0964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2922" y="2"/>
            <a:ext cx="3559079" cy="686453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162204-C2B7-4941-87D3-061BEF23C64B}"/>
              </a:ext>
            </a:extLst>
          </p:cNvPr>
          <p:cNvGrpSpPr/>
          <p:nvPr/>
        </p:nvGrpSpPr>
        <p:grpSpPr>
          <a:xfrm>
            <a:off x="8722333" y="3438144"/>
            <a:ext cx="3469667" cy="3443792"/>
            <a:chOff x="6565392" y="2579706"/>
            <a:chExt cx="2578608" cy="258284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86D686-C2B8-1748-8E5F-668C2295F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565392" y="2579706"/>
              <a:ext cx="2578608" cy="25786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2C679A-6838-BB44-87CE-5F65021E8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65392" y="3886200"/>
              <a:ext cx="2578608" cy="1276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A9DF9CB-663D-8C4A-B093-5CD727E1E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9620" y="1"/>
            <a:ext cx="6242715" cy="686453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082C03-A376-4048-915E-3E774AD4B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" y="0"/>
            <a:ext cx="8722335" cy="6864096"/>
          </a:xfrm>
          <a:custGeom>
            <a:avLst/>
            <a:gdLst>
              <a:gd name="connsiteX0" fmla="*/ 1804936 w 2707481"/>
              <a:gd name="connsiteY0" fmla="*/ -114 h 1798654"/>
              <a:gd name="connsiteX1" fmla="*/ -52 w 2707481"/>
              <a:gd name="connsiteY1" fmla="*/ -114 h 1798654"/>
              <a:gd name="connsiteX2" fmla="*/ -52 w 2707481"/>
              <a:gd name="connsiteY2" fmla="*/ 1798541 h 1798654"/>
              <a:gd name="connsiteX3" fmla="*/ 1804936 w 2707481"/>
              <a:gd name="connsiteY3" fmla="*/ 1798541 h 1798654"/>
              <a:gd name="connsiteX4" fmla="*/ 2707429 w 2707481"/>
              <a:gd name="connsiteY4" fmla="*/ 899213 h 1798654"/>
              <a:gd name="connsiteX5" fmla="*/ 1804936 w 2707481"/>
              <a:gd name="connsiteY5" fmla="*/ -114 h 1798654"/>
              <a:gd name="connsiteX0" fmla="*/ 1804988 w 2707481"/>
              <a:gd name="connsiteY0" fmla="*/ 0 h 1798655"/>
              <a:gd name="connsiteX1" fmla="*/ 0 w 2707481"/>
              <a:gd name="connsiteY1" fmla="*/ 0 h 1798655"/>
              <a:gd name="connsiteX2" fmla="*/ 377160 w 2707481"/>
              <a:gd name="connsiteY2" fmla="*/ 1789781 h 1798655"/>
              <a:gd name="connsiteX3" fmla="*/ 1804988 w 2707481"/>
              <a:gd name="connsiteY3" fmla="*/ 1798655 h 1798655"/>
              <a:gd name="connsiteX4" fmla="*/ 2707481 w 2707481"/>
              <a:gd name="connsiteY4" fmla="*/ 899327 h 1798655"/>
              <a:gd name="connsiteX5" fmla="*/ 1804988 w 2707481"/>
              <a:gd name="connsiteY5" fmla="*/ 0 h 1798655"/>
              <a:gd name="connsiteX0" fmla="*/ 1427828 w 2330321"/>
              <a:gd name="connsiteY0" fmla="*/ 0 h 1798655"/>
              <a:gd name="connsiteX1" fmla="*/ 275104 w 2330321"/>
              <a:gd name="connsiteY1" fmla="*/ 44372 h 1798655"/>
              <a:gd name="connsiteX2" fmla="*/ 0 w 2330321"/>
              <a:gd name="connsiteY2" fmla="*/ 1789781 h 1798655"/>
              <a:gd name="connsiteX3" fmla="*/ 1427828 w 2330321"/>
              <a:gd name="connsiteY3" fmla="*/ 1798655 h 1798655"/>
              <a:gd name="connsiteX4" fmla="*/ 2330321 w 2330321"/>
              <a:gd name="connsiteY4" fmla="*/ 899327 h 1798655"/>
              <a:gd name="connsiteX5" fmla="*/ 1427828 w 2330321"/>
              <a:gd name="connsiteY5" fmla="*/ 0 h 1798655"/>
              <a:gd name="connsiteX0" fmla="*/ 1427828 w 2330321"/>
              <a:gd name="connsiteY0" fmla="*/ 4437 h 1803092"/>
              <a:gd name="connsiteX1" fmla="*/ 25232 w 2330321"/>
              <a:gd name="connsiteY1" fmla="*/ 0 h 1803092"/>
              <a:gd name="connsiteX2" fmla="*/ 0 w 2330321"/>
              <a:gd name="connsiteY2" fmla="*/ 1794218 h 1803092"/>
              <a:gd name="connsiteX3" fmla="*/ 1427828 w 2330321"/>
              <a:gd name="connsiteY3" fmla="*/ 1803092 h 1803092"/>
              <a:gd name="connsiteX4" fmla="*/ 2330321 w 2330321"/>
              <a:gd name="connsiteY4" fmla="*/ 903764 h 1803092"/>
              <a:gd name="connsiteX5" fmla="*/ 1427828 w 2330321"/>
              <a:gd name="connsiteY5" fmla="*/ 4437 h 1803092"/>
              <a:gd name="connsiteX0" fmla="*/ 1402596 w 2305089"/>
              <a:gd name="connsiteY0" fmla="*/ 4437 h 1865213"/>
              <a:gd name="connsiteX1" fmla="*/ 0 w 2305089"/>
              <a:gd name="connsiteY1" fmla="*/ 0 h 1865213"/>
              <a:gd name="connsiteX2" fmla="*/ 138943 w 2305089"/>
              <a:gd name="connsiteY2" fmla="*/ 1865213 h 1865213"/>
              <a:gd name="connsiteX3" fmla="*/ 1402596 w 2305089"/>
              <a:gd name="connsiteY3" fmla="*/ 1803092 h 1865213"/>
              <a:gd name="connsiteX4" fmla="*/ 2305089 w 2305089"/>
              <a:gd name="connsiteY4" fmla="*/ 903764 h 1865213"/>
              <a:gd name="connsiteX5" fmla="*/ 1402596 w 2305089"/>
              <a:gd name="connsiteY5" fmla="*/ 4437 h 1865213"/>
              <a:gd name="connsiteX0" fmla="*/ 1405643 w 2308136"/>
              <a:gd name="connsiteY0" fmla="*/ 4437 h 1816404"/>
              <a:gd name="connsiteX1" fmla="*/ 3047 w 2308136"/>
              <a:gd name="connsiteY1" fmla="*/ 0 h 1816404"/>
              <a:gd name="connsiteX2" fmla="*/ 0 w 2308136"/>
              <a:gd name="connsiteY2" fmla="*/ 1816404 h 1816404"/>
              <a:gd name="connsiteX3" fmla="*/ 1405643 w 2308136"/>
              <a:gd name="connsiteY3" fmla="*/ 1803092 h 1816404"/>
              <a:gd name="connsiteX4" fmla="*/ 2308136 w 2308136"/>
              <a:gd name="connsiteY4" fmla="*/ 903764 h 1816404"/>
              <a:gd name="connsiteX5" fmla="*/ 1405643 w 2308136"/>
              <a:gd name="connsiteY5" fmla="*/ 4437 h 181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136" h="1816404">
                <a:moveTo>
                  <a:pt x="1405643" y="4437"/>
                </a:moveTo>
                <a:lnTo>
                  <a:pt x="3047" y="0"/>
                </a:lnTo>
                <a:cubicBezTo>
                  <a:pt x="2031" y="605468"/>
                  <a:pt x="1016" y="1210936"/>
                  <a:pt x="0" y="1816404"/>
                </a:cubicBezTo>
                <a:lnTo>
                  <a:pt x="1405643" y="1803092"/>
                </a:lnTo>
                <a:cubicBezTo>
                  <a:pt x="1904076" y="1803092"/>
                  <a:pt x="2308136" y="1400449"/>
                  <a:pt x="2308136" y="903764"/>
                </a:cubicBezTo>
                <a:cubicBezTo>
                  <a:pt x="2308136" y="407080"/>
                  <a:pt x="1904076" y="4437"/>
                  <a:pt x="1405643" y="4437"/>
                </a:cubicBezTo>
              </a:path>
            </a:pathLst>
          </a:custGeom>
          <a:gradFill>
            <a:gsLst>
              <a:gs pos="15000">
                <a:schemeClr val="accent2">
                  <a:lumMod val="67000"/>
                </a:schemeClr>
              </a:gs>
              <a:gs pos="100000">
                <a:schemeClr val="accent1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9D236-332E-CB41-AF89-A31B19337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  <p:sp>
        <p:nvSpPr>
          <p:cNvPr id="10" name="Graphic 4">
            <a:extLst>
              <a:ext uri="{FF2B5EF4-FFF2-40B4-BE49-F238E27FC236}">
                <a16:creationId xmlns:a16="http://schemas.microsoft.com/office/drawing/2014/main" id="{EE4AB8C6-C8F3-7947-B965-5F81A9EF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8722333" y="0"/>
            <a:ext cx="3469667" cy="3438144"/>
          </a:xfrm>
          <a:custGeom>
            <a:avLst/>
            <a:gdLst>
              <a:gd name="connsiteX0" fmla="*/ 1693962 w 1693962"/>
              <a:gd name="connsiteY0" fmla="*/ 1693962 h 1693962"/>
              <a:gd name="connsiteX1" fmla="*/ 0 w 1693962"/>
              <a:gd name="connsiteY1" fmla="*/ 0 h 1693962"/>
              <a:gd name="connsiteX2" fmla="*/ 0 w 1693962"/>
              <a:gd name="connsiteY2" fmla="*/ 1693962 h 169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962" h="1693962">
                <a:moveTo>
                  <a:pt x="1693962" y="1693962"/>
                </a:moveTo>
                <a:cubicBezTo>
                  <a:pt x="1693962" y="758401"/>
                  <a:pt x="935561" y="0"/>
                  <a:pt x="0" y="0"/>
                </a:cubicBezTo>
                <a:lnTo>
                  <a:pt x="0" y="169396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 w="43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3E412-4714-9E4A-8095-B43C96044D4F}"/>
              </a:ext>
            </a:extLst>
          </p:cNvPr>
          <p:cNvSpPr txBox="1"/>
          <p:nvPr/>
        </p:nvSpPr>
        <p:spPr>
          <a:xfrm>
            <a:off x="-24384" y="-633983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LOGO: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image placeholder box labeled “organization logo” and upload a new image. </a:t>
            </a:r>
          </a:p>
          <a:p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To adjust position, use the “Crop” tool under “Picture Format.”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70FC1-DE37-2446-8314-79B589EE65E0}"/>
              </a:ext>
            </a:extLst>
          </p:cNvPr>
          <p:cNvSpPr txBox="1"/>
          <p:nvPr/>
        </p:nvSpPr>
        <p:spPr>
          <a:xfrm>
            <a:off x="1743456" y="6425248"/>
            <a:ext cx="2414016" cy="328231"/>
          </a:xfrm>
          <a:prstGeom prst="rect">
            <a:avLst/>
          </a:prstGeom>
          <a:noFill/>
        </p:spPr>
        <p:txBody>
          <a:bodyPr wrap="square" tIns="121920" bIns="121920" rtlCol="0" anchor="b" anchorCtr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33" b="0" i="0" dirty="0">
                <a:solidFill>
                  <a:schemeClr val="bg1"/>
                </a:solidFill>
                <a:latin typeface="Inter" panose="020B0502030000000004" pitchFamily="34" charset="0"/>
              </a:rPr>
              <a:t>© 2021 ELLUCIAN | CONFIDENTIAL &amp; PROPRIETARY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FE9476-EB54-D740-A847-A66EBBD3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49568"/>
            <a:ext cx="926592" cy="202165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C1FB87B-A9D6-3A4C-B88F-9C185DC2A05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24416" y="4608576"/>
            <a:ext cx="2097024" cy="1536192"/>
          </a:xfrm>
        </p:spPr>
        <p:txBody>
          <a:bodyPr lIns="0" tIns="0" rIns="0" bIns="0"/>
          <a:lstStyle>
            <a:lvl1pPr marL="0" indent="0" algn="l">
              <a:defRPr/>
            </a:lvl1pPr>
          </a:lstStyle>
          <a:p>
            <a:r>
              <a:rPr lang="en-US" dirty="0"/>
              <a:t>Organization logo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86442F35-459A-8F44-BB0B-34A084938F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815840"/>
            <a:ext cx="6096000" cy="36576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ATTRIBUTION NAME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F962EBC6-C416-054E-9CE4-083E0653E7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254752"/>
            <a:ext cx="6096000" cy="731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 b="0">
                <a:solidFill>
                  <a:schemeClr val="bg1"/>
                </a:solidFill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5E31EB9-0498-1E41-8C1A-0139B3C96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70176"/>
            <a:ext cx="6339840" cy="207264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n-US" dirty="0"/>
              <a:t>Insert a customer or partner quote here. Insert a customer or partner quote here. Insert a customer or partner quote here. Insert a customer or partner quote here.”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254463-3F63-514D-B72E-EEB72C231006}"/>
              </a:ext>
            </a:extLst>
          </p:cNvPr>
          <p:cNvSpPr txBox="1"/>
          <p:nvPr/>
        </p:nvSpPr>
        <p:spPr>
          <a:xfrm>
            <a:off x="575736" y="1354367"/>
            <a:ext cx="540609" cy="1641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66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23765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5849D-D34B-9A4A-ACDB-35A4A0964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2923" y="0"/>
            <a:ext cx="3601411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1" name="Graphic 40">
            <a:extLst>
              <a:ext uri="{FF2B5EF4-FFF2-40B4-BE49-F238E27FC236}">
                <a16:creationId xmlns:a16="http://schemas.microsoft.com/office/drawing/2014/main" id="{2BADD6B5-2980-C743-99B3-1206AEFD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0800000">
            <a:off x="8735228" y="1"/>
            <a:ext cx="3499104" cy="6867260"/>
          </a:xfrm>
          <a:custGeom>
            <a:avLst/>
            <a:gdLst>
              <a:gd name="connsiteX0" fmla="*/ 0 w 1828800"/>
              <a:gd name="connsiteY0" fmla="*/ 0 h 3657600"/>
              <a:gd name="connsiteX1" fmla="*/ 0 w 1828800"/>
              <a:gd name="connsiteY1" fmla="*/ 3657600 h 3657600"/>
              <a:gd name="connsiteX2" fmla="*/ 1828800 w 1828800"/>
              <a:gd name="connsiteY2" fmla="*/ 1828800 h 3657600"/>
              <a:gd name="connsiteX3" fmla="*/ 0 w 18288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3657600">
                <a:moveTo>
                  <a:pt x="0" y="0"/>
                </a:moveTo>
                <a:lnTo>
                  <a:pt x="0" y="3657600"/>
                </a:lnTo>
                <a:cubicBezTo>
                  <a:pt x="1009650" y="3657600"/>
                  <a:pt x="1828800" y="2838450"/>
                  <a:pt x="1828800" y="1828800"/>
                </a:cubicBezTo>
                <a:cubicBezTo>
                  <a:pt x="1828800" y="819150"/>
                  <a:pt x="1009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9DF9CB-663D-8C4A-B093-5CD727E1E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9620" y="0"/>
            <a:ext cx="6242715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082C03-A376-4048-915E-3E774AD4B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0" y="2"/>
            <a:ext cx="8680704" cy="6859679"/>
          </a:xfrm>
          <a:custGeom>
            <a:avLst/>
            <a:gdLst>
              <a:gd name="connsiteX0" fmla="*/ 1804936 w 2707481"/>
              <a:gd name="connsiteY0" fmla="*/ -114 h 1798654"/>
              <a:gd name="connsiteX1" fmla="*/ -52 w 2707481"/>
              <a:gd name="connsiteY1" fmla="*/ -114 h 1798654"/>
              <a:gd name="connsiteX2" fmla="*/ -52 w 2707481"/>
              <a:gd name="connsiteY2" fmla="*/ 1798541 h 1798654"/>
              <a:gd name="connsiteX3" fmla="*/ 1804936 w 2707481"/>
              <a:gd name="connsiteY3" fmla="*/ 1798541 h 1798654"/>
              <a:gd name="connsiteX4" fmla="*/ 2707429 w 2707481"/>
              <a:gd name="connsiteY4" fmla="*/ 899213 h 1798654"/>
              <a:gd name="connsiteX5" fmla="*/ 1804936 w 2707481"/>
              <a:gd name="connsiteY5" fmla="*/ -114 h 1798654"/>
              <a:gd name="connsiteX0" fmla="*/ 1804988 w 2707481"/>
              <a:gd name="connsiteY0" fmla="*/ 0 h 1798655"/>
              <a:gd name="connsiteX1" fmla="*/ 0 w 2707481"/>
              <a:gd name="connsiteY1" fmla="*/ 0 h 1798655"/>
              <a:gd name="connsiteX2" fmla="*/ 377160 w 2707481"/>
              <a:gd name="connsiteY2" fmla="*/ 1789781 h 1798655"/>
              <a:gd name="connsiteX3" fmla="*/ 1804988 w 2707481"/>
              <a:gd name="connsiteY3" fmla="*/ 1798655 h 1798655"/>
              <a:gd name="connsiteX4" fmla="*/ 2707481 w 2707481"/>
              <a:gd name="connsiteY4" fmla="*/ 899327 h 1798655"/>
              <a:gd name="connsiteX5" fmla="*/ 1804988 w 2707481"/>
              <a:gd name="connsiteY5" fmla="*/ 0 h 1798655"/>
              <a:gd name="connsiteX0" fmla="*/ 1427828 w 2330321"/>
              <a:gd name="connsiteY0" fmla="*/ 0 h 1798655"/>
              <a:gd name="connsiteX1" fmla="*/ 275104 w 2330321"/>
              <a:gd name="connsiteY1" fmla="*/ 44372 h 1798655"/>
              <a:gd name="connsiteX2" fmla="*/ 0 w 2330321"/>
              <a:gd name="connsiteY2" fmla="*/ 1789781 h 1798655"/>
              <a:gd name="connsiteX3" fmla="*/ 1427828 w 2330321"/>
              <a:gd name="connsiteY3" fmla="*/ 1798655 h 1798655"/>
              <a:gd name="connsiteX4" fmla="*/ 2330321 w 2330321"/>
              <a:gd name="connsiteY4" fmla="*/ 899327 h 1798655"/>
              <a:gd name="connsiteX5" fmla="*/ 1427828 w 2330321"/>
              <a:gd name="connsiteY5" fmla="*/ 0 h 1798655"/>
              <a:gd name="connsiteX0" fmla="*/ 1427828 w 2330321"/>
              <a:gd name="connsiteY0" fmla="*/ 4437 h 1803092"/>
              <a:gd name="connsiteX1" fmla="*/ 25232 w 2330321"/>
              <a:gd name="connsiteY1" fmla="*/ 0 h 1803092"/>
              <a:gd name="connsiteX2" fmla="*/ 0 w 2330321"/>
              <a:gd name="connsiteY2" fmla="*/ 1794218 h 1803092"/>
              <a:gd name="connsiteX3" fmla="*/ 1427828 w 2330321"/>
              <a:gd name="connsiteY3" fmla="*/ 1803092 h 1803092"/>
              <a:gd name="connsiteX4" fmla="*/ 2330321 w 2330321"/>
              <a:gd name="connsiteY4" fmla="*/ 903764 h 1803092"/>
              <a:gd name="connsiteX5" fmla="*/ 1427828 w 2330321"/>
              <a:gd name="connsiteY5" fmla="*/ 4437 h 1803092"/>
              <a:gd name="connsiteX0" fmla="*/ 1402596 w 2305089"/>
              <a:gd name="connsiteY0" fmla="*/ 4437 h 1865213"/>
              <a:gd name="connsiteX1" fmla="*/ 0 w 2305089"/>
              <a:gd name="connsiteY1" fmla="*/ 0 h 1865213"/>
              <a:gd name="connsiteX2" fmla="*/ 138943 w 2305089"/>
              <a:gd name="connsiteY2" fmla="*/ 1865213 h 1865213"/>
              <a:gd name="connsiteX3" fmla="*/ 1402596 w 2305089"/>
              <a:gd name="connsiteY3" fmla="*/ 1803092 h 1865213"/>
              <a:gd name="connsiteX4" fmla="*/ 2305089 w 2305089"/>
              <a:gd name="connsiteY4" fmla="*/ 903764 h 1865213"/>
              <a:gd name="connsiteX5" fmla="*/ 1402596 w 2305089"/>
              <a:gd name="connsiteY5" fmla="*/ 4437 h 1865213"/>
              <a:gd name="connsiteX0" fmla="*/ 1405643 w 2308136"/>
              <a:gd name="connsiteY0" fmla="*/ 4437 h 1816404"/>
              <a:gd name="connsiteX1" fmla="*/ 3047 w 2308136"/>
              <a:gd name="connsiteY1" fmla="*/ 0 h 1816404"/>
              <a:gd name="connsiteX2" fmla="*/ 0 w 2308136"/>
              <a:gd name="connsiteY2" fmla="*/ 1816404 h 1816404"/>
              <a:gd name="connsiteX3" fmla="*/ 1405643 w 2308136"/>
              <a:gd name="connsiteY3" fmla="*/ 1803092 h 1816404"/>
              <a:gd name="connsiteX4" fmla="*/ 2308136 w 2308136"/>
              <a:gd name="connsiteY4" fmla="*/ 903764 h 1816404"/>
              <a:gd name="connsiteX5" fmla="*/ 1405643 w 2308136"/>
              <a:gd name="connsiteY5" fmla="*/ 4437 h 181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136" h="1816404">
                <a:moveTo>
                  <a:pt x="1405643" y="4437"/>
                </a:moveTo>
                <a:lnTo>
                  <a:pt x="3047" y="0"/>
                </a:lnTo>
                <a:cubicBezTo>
                  <a:pt x="2031" y="605468"/>
                  <a:pt x="1016" y="1210936"/>
                  <a:pt x="0" y="1816404"/>
                </a:cubicBezTo>
                <a:lnTo>
                  <a:pt x="1405643" y="1803092"/>
                </a:lnTo>
                <a:cubicBezTo>
                  <a:pt x="1904076" y="1803092"/>
                  <a:pt x="2308136" y="1400449"/>
                  <a:pt x="2308136" y="903764"/>
                </a:cubicBezTo>
                <a:cubicBezTo>
                  <a:pt x="2308136" y="407080"/>
                  <a:pt x="1904076" y="4437"/>
                  <a:pt x="1405643" y="4437"/>
                </a:cubicBezTo>
              </a:path>
            </a:pathLst>
          </a:custGeom>
          <a:gradFill>
            <a:gsLst>
              <a:gs pos="15000">
                <a:schemeClr val="accent2">
                  <a:lumMod val="67000"/>
                </a:schemeClr>
              </a:gs>
              <a:gs pos="100000">
                <a:schemeClr val="accent1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70FC1-DE37-2446-8314-79B589EE65E0}"/>
              </a:ext>
            </a:extLst>
          </p:cNvPr>
          <p:cNvSpPr txBox="1"/>
          <p:nvPr/>
        </p:nvSpPr>
        <p:spPr>
          <a:xfrm>
            <a:off x="1743456" y="6425248"/>
            <a:ext cx="2414016" cy="328231"/>
          </a:xfrm>
          <a:prstGeom prst="rect">
            <a:avLst/>
          </a:prstGeom>
          <a:noFill/>
        </p:spPr>
        <p:txBody>
          <a:bodyPr wrap="square" tIns="121920" bIns="121920" rtlCol="0" anchor="b" anchorCtr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33" b="0" i="0" dirty="0">
                <a:solidFill>
                  <a:schemeClr val="bg1"/>
                </a:solidFill>
                <a:latin typeface="Inter" panose="020B0502030000000004" pitchFamily="34" charset="0"/>
              </a:rPr>
              <a:t>© 2021 ELLUCIAN | CONFIDENTIAL &amp; PROPRIETARY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FE9476-EB54-D740-A847-A66EBBD3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49568"/>
            <a:ext cx="926592" cy="202165"/>
          </a:xfrm>
          <a:prstGeom prst="rect">
            <a:avLst/>
          </a:prstGeom>
        </p:spPr>
      </p:pic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41AC4D3-6A86-E544-BFCF-BFA925846B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815840"/>
            <a:ext cx="6096000" cy="36576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ATTRIBUTION NAME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1B401B47-3F41-C142-8846-B548E4CC1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254752"/>
            <a:ext cx="6096000" cy="7315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 b="0">
                <a:solidFill>
                  <a:schemeClr val="bg1"/>
                </a:solidFill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1061169-65A4-EB4B-91EB-152F6DDAB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70176"/>
            <a:ext cx="6339840" cy="207264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4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n-US" dirty="0"/>
              <a:t>Insert a customer or partner quote here. Insert a customer or partner quote here. Insert a customer or partner quote here. Insert a customer or partner quote here.”</a:t>
            </a:r>
            <a:br>
              <a:rPr lang="en-US" dirty="0"/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267E4-38E3-C24E-AE5C-088214CBC5CA}"/>
              </a:ext>
            </a:extLst>
          </p:cNvPr>
          <p:cNvSpPr txBox="1"/>
          <p:nvPr/>
        </p:nvSpPr>
        <p:spPr>
          <a:xfrm>
            <a:off x="575736" y="1354367"/>
            <a:ext cx="540609" cy="1641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66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3ACDF53E-9ECE-384A-B0C4-09D8B3230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223640" y="6401135"/>
            <a:ext cx="358760" cy="369332"/>
          </a:xfrm>
          <a:prstGeom prst="rect">
            <a:avLst/>
          </a:prstGeom>
        </p:spPr>
        <p:txBody>
          <a:bodyPr vert="horz" wrap="square" lIns="0" tIns="121920" rIns="0" bIns="12192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7C219-BB61-8045-AF51-356C3EFECC4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Arial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59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+ logo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9EC61-26ED-3D4D-A215-560A704B1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3856" y="2"/>
            <a:ext cx="3438144" cy="686453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4EC62B-56DD-6F41-BFBF-40194CF2EC3F}"/>
              </a:ext>
            </a:extLst>
          </p:cNvPr>
          <p:cNvGrpSpPr/>
          <p:nvPr/>
        </p:nvGrpSpPr>
        <p:grpSpPr>
          <a:xfrm>
            <a:off x="8766048" y="3438144"/>
            <a:ext cx="3438144" cy="3443792"/>
            <a:chOff x="6565392" y="2579706"/>
            <a:chExt cx="2578608" cy="258284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C7EA35F-098E-1C4A-B313-D940C596A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565392" y="2579706"/>
              <a:ext cx="2578608" cy="25786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C3649F9-5E42-DE43-9C13-070DE8EA4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65392" y="3886200"/>
              <a:ext cx="2578608" cy="1276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14" name="Graphic 4">
            <a:extLst>
              <a:ext uri="{FF2B5EF4-FFF2-40B4-BE49-F238E27FC236}">
                <a16:creationId xmlns:a16="http://schemas.microsoft.com/office/drawing/2014/main" id="{8D546714-1A06-9C40-88BA-5EB075D7A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8766048" y="0"/>
            <a:ext cx="3438144" cy="3438144"/>
          </a:xfrm>
          <a:custGeom>
            <a:avLst/>
            <a:gdLst>
              <a:gd name="connsiteX0" fmla="*/ 1693962 w 1693962"/>
              <a:gd name="connsiteY0" fmla="*/ 1693962 h 1693962"/>
              <a:gd name="connsiteX1" fmla="*/ 0 w 1693962"/>
              <a:gd name="connsiteY1" fmla="*/ 0 h 1693962"/>
              <a:gd name="connsiteX2" fmla="*/ 0 w 1693962"/>
              <a:gd name="connsiteY2" fmla="*/ 1693962 h 169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962" h="1693962">
                <a:moveTo>
                  <a:pt x="1693962" y="1693962"/>
                </a:moveTo>
                <a:cubicBezTo>
                  <a:pt x="1693962" y="758401"/>
                  <a:pt x="935561" y="0"/>
                  <a:pt x="0" y="0"/>
                </a:cubicBezTo>
                <a:lnTo>
                  <a:pt x="0" y="1693962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0" scaled="0"/>
          </a:gradFill>
          <a:ln w="43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FD827BF-2C9B-144B-9AE6-3C10A63FF68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425615" y="4608667"/>
            <a:ext cx="2099733" cy="1532901"/>
          </a:xfrm>
        </p:spPr>
        <p:txBody>
          <a:bodyPr/>
          <a:lstStyle/>
          <a:p>
            <a:r>
              <a:rPr lang="en-US" dirty="0"/>
              <a:t>Organization logo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FF39AE0-5DE5-EB4E-8134-9809A5393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257800"/>
            <a:ext cx="6096000" cy="731520"/>
          </a:xfrm>
        </p:spPr>
        <p:txBody>
          <a:bodyPr lIns="0" tIns="0" rIns="0" bIns="0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67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dirty="0"/>
              <a:t>Title title title, Organization organization</a:t>
            </a:r>
            <a:endParaRPr lang="en-US" sz="16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53CB5C7-001D-6544-9807-57CE8F8A4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815840"/>
            <a:ext cx="6096000" cy="365760"/>
          </a:xfrm>
        </p:spPr>
        <p:txBody>
          <a:bodyPr lIns="0" tIns="0" rIns="0" bIns="0" anchor="b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ATTRIBUTION NAME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3822-6389-9048-BE15-3AF2CB0F4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223640" y="6401135"/>
            <a:ext cx="358760" cy="369332"/>
          </a:xfrm>
          <a:prstGeom prst="rect">
            <a:avLst/>
          </a:prstGeom>
        </p:spPr>
        <p:txBody>
          <a:bodyPr vert="horz" wrap="square" lIns="0" tIns="121920" rIns="0" bIns="12192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7C219-BB61-8045-AF51-356C3EFECC4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Arial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Arial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5D4D0C-5870-B043-9662-DB3A09B11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22849" y="-9991"/>
            <a:ext cx="3438147" cy="6876288"/>
            <a:chOff x="2550611" y="-7493"/>
            <a:chExt cx="2578610" cy="5157216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DA6CEDE-832D-0E49-BE7A-7E768C82F7B9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49000">
                  <a:schemeClr val="accent1"/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0A68647-BF6E-EF41-B64F-B73247D96F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2595990-3A6D-9A44-AF8C-B1CF2C108D1C}"/>
              </a:ext>
            </a:extLst>
          </p:cNvPr>
          <p:cNvSpPr txBox="1"/>
          <p:nvPr/>
        </p:nvSpPr>
        <p:spPr>
          <a:xfrm>
            <a:off x="575736" y="1354367"/>
            <a:ext cx="540609" cy="1641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66" dirty="0">
                <a:solidFill>
                  <a:schemeClr val="accent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764FD-802E-1747-B9FF-49C3A09997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70176"/>
            <a:ext cx="6339840" cy="2072640"/>
          </a:xfrm>
        </p:spPr>
        <p:txBody>
          <a:bodyPr lIns="0" tIns="0" rIns="0" bIns="0" anchor="t" anchorCtr="0"/>
          <a:lstStyle>
            <a:lvl1pPr>
              <a:defRPr sz="2400" b="0"/>
            </a:lvl1pPr>
          </a:lstStyle>
          <a:p>
            <a:pPr lvl="0"/>
            <a:r>
              <a:rPr lang="en-US" dirty="0"/>
              <a:t>Insert a customer or partner quote here. Insert a customer or partner quote here. Insert a customer or partner quote here. Insert a customer or partner quote here.”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001CE-426A-0B43-9F1C-4B4713C7AC01}"/>
              </a:ext>
            </a:extLst>
          </p:cNvPr>
          <p:cNvSpPr txBox="1"/>
          <p:nvPr/>
        </p:nvSpPr>
        <p:spPr>
          <a:xfrm>
            <a:off x="0" y="-631445"/>
            <a:ext cx="12192000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33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 ADD LOGO: </a:t>
            </a:r>
            <a:r>
              <a:rPr lang="en-US" sz="1333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Click on the image placeholder box labeled “organization logo” and upload a new image. </a:t>
            </a:r>
          </a:p>
          <a:p>
            <a:r>
              <a:rPr lang="en-US" sz="1333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 adjust position, use the “Crop” tool under “Picture Format.” </a:t>
            </a:r>
          </a:p>
        </p:txBody>
      </p:sp>
    </p:spTree>
    <p:extLst>
      <p:ext uri="{BB962C8B-B14F-4D97-AF65-F5344CB8AC3E}">
        <p14:creationId xmlns:p14="http://schemas.microsoft.com/office/powerpoint/2010/main" val="87048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99236FD-8975-314B-9EAB-948891538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6048" y="0"/>
            <a:ext cx="3438144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9" name="Graphic 40">
            <a:extLst>
              <a:ext uri="{FF2B5EF4-FFF2-40B4-BE49-F238E27FC236}">
                <a16:creationId xmlns:a16="http://schemas.microsoft.com/office/drawing/2014/main" id="{ECC654B6-2C8C-5341-8E62-20CF7258F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0800000">
            <a:off x="8759952" y="0"/>
            <a:ext cx="3444240" cy="6864096"/>
          </a:xfrm>
          <a:custGeom>
            <a:avLst/>
            <a:gdLst>
              <a:gd name="connsiteX0" fmla="*/ 0 w 1828800"/>
              <a:gd name="connsiteY0" fmla="*/ 0 h 3657600"/>
              <a:gd name="connsiteX1" fmla="*/ 0 w 1828800"/>
              <a:gd name="connsiteY1" fmla="*/ 3657600 h 3657600"/>
              <a:gd name="connsiteX2" fmla="*/ 1828800 w 1828800"/>
              <a:gd name="connsiteY2" fmla="*/ 1828800 h 3657600"/>
              <a:gd name="connsiteX3" fmla="*/ 0 w 18288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3657600">
                <a:moveTo>
                  <a:pt x="0" y="0"/>
                </a:moveTo>
                <a:lnTo>
                  <a:pt x="0" y="3657600"/>
                </a:lnTo>
                <a:cubicBezTo>
                  <a:pt x="1009650" y="3657600"/>
                  <a:pt x="1828800" y="2838450"/>
                  <a:pt x="1828800" y="1828800"/>
                </a:cubicBezTo>
                <a:cubicBezTo>
                  <a:pt x="1828800" y="819150"/>
                  <a:pt x="1009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A57E1517-38A3-5B44-B32C-E57D2459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223640" y="6401135"/>
            <a:ext cx="358760" cy="369332"/>
          </a:xfrm>
          <a:prstGeom prst="rect">
            <a:avLst/>
          </a:prstGeom>
        </p:spPr>
        <p:txBody>
          <a:bodyPr vert="horz" wrap="square" lIns="0" tIns="121920" rIns="0" bIns="12192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7C219-BB61-8045-AF51-356C3EFECC4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Arial" pitchFamily="34" charset="0"/>
              </a:rPr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Arial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2D1F412-8291-3445-9FDC-6E66C54AF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27904" y="0"/>
            <a:ext cx="3438144" cy="6864096"/>
            <a:chOff x="2550611" y="-7493"/>
            <a:chExt cx="2578610" cy="5157216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8A282DA-A586-BA43-973B-979D9CAA685E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49000">
                  <a:schemeClr val="accent1"/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24EE2F8-0C51-3147-AD05-65A691B1A9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0A9BC33-F96A-9146-99D1-43118F5416B1}"/>
              </a:ext>
            </a:extLst>
          </p:cNvPr>
          <p:cNvSpPr txBox="1"/>
          <p:nvPr/>
        </p:nvSpPr>
        <p:spPr>
          <a:xfrm>
            <a:off x="575736" y="1354367"/>
            <a:ext cx="540609" cy="1641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66" dirty="0">
                <a:solidFill>
                  <a:schemeClr val="accent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25E71067-CD4A-4D48-897D-6F32253F0B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257800"/>
            <a:ext cx="6096000" cy="731520"/>
          </a:xfrm>
        </p:spPr>
        <p:txBody>
          <a:bodyPr lIns="0" tIns="0" rIns="0" bIns="0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67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dirty="0"/>
              <a:t>Title title title, Organization organization</a:t>
            </a:r>
            <a:endParaRPr lang="en-US" sz="1600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E1BAB7B2-12EB-0746-961F-85FC2975CA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815840"/>
            <a:ext cx="6096000" cy="365760"/>
          </a:xfrm>
        </p:spPr>
        <p:txBody>
          <a:bodyPr lIns="0" tIns="0" rIns="0" bIns="0" anchor="b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ATTRIBUTION NAME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D24E39-B130-5346-9062-40171ACF4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70176"/>
            <a:ext cx="6339840" cy="2072640"/>
          </a:xfrm>
        </p:spPr>
        <p:txBody>
          <a:bodyPr lIns="0" tIns="0" rIns="0" bIns="0" anchor="t" anchorCtr="0"/>
          <a:lstStyle>
            <a:lvl1pPr>
              <a:defRPr sz="2400" b="0"/>
            </a:lvl1pPr>
          </a:lstStyle>
          <a:p>
            <a:pPr lvl="0"/>
            <a:r>
              <a:rPr lang="en-US" dirty="0"/>
              <a:t>Insert a customer or partner quote here. Insert a customer or partner quote here. Insert a customer or partner quote here. Insert a customer or partner quote here.”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82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5B362-BE95-C545-8381-BDEB38ECCF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1584960"/>
            <a:ext cx="9509760" cy="4389120"/>
          </a:xfrm>
          <a:prstGeom prst="rect">
            <a:avLst/>
          </a:prstGeom>
        </p:spPr>
        <p:txBody>
          <a:bodyPr/>
          <a:lstStyle>
            <a:lvl3pPr>
              <a:buClr>
                <a:srgbClr val="642673"/>
              </a:buClr>
              <a:defRPr/>
            </a:lvl3pPr>
            <a:lvl4pPr marL="1140826" indent="-452943">
              <a:buClr>
                <a:srgbClr val="45A1AA"/>
              </a:buClr>
              <a:tabLst/>
              <a:defRPr/>
            </a:lvl4pPr>
            <a:lvl5pPr>
              <a:buClr>
                <a:srgbClr val="00C3FF"/>
              </a:buCl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09600" y="609599"/>
            <a:ext cx="10363200" cy="609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AF5CC-2163-B54B-A96C-FB2A414EC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179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843" y="1584960"/>
            <a:ext cx="5242560" cy="4389120"/>
          </a:xfrm>
          <a:prstGeom prst="rect">
            <a:avLst/>
          </a:prstGeom>
        </p:spPr>
        <p:txBody>
          <a:bodyPr/>
          <a:lstStyle>
            <a:lvl1pPr marL="457178" marR="0" indent="-457178" algn="l" defTabSz="60957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1" kern="1200" dirty="0" smtClean="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1pPr>
            <a:lvl2pPr marL="230706" marR="0" indent="-230706" algn="l" defTabSz="60957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 lang="en-US" sz="2400" b="0" kern="1200" noProof="0" dirty="0" smtClean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2pPr>
            <a:lvl3pPr marL="535491" marR="0" indent="-232822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2400" kern="1200" dirty="0" smtClean="0">
                <a:solidFill>
                  <a:srgbClr val="595959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3pPr>
            <a:lvl4pPr marL="766196" marR="0" indent="-230706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2000" kern="1200" dirty="0" smtClean="0">
                <a:solidFill>
                  <a:srgbClr val="595959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4pPr>
            <a:lvl5pPr marL="1223372" marR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rgbClr val="595959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84960"/>
            <a:ext cx="5242560" cy="4394200"/>
          </a:xfrm>
          <a:prstGeom prst="rect">
            <a:avLst/>
          </a:prstGeom>
        </p:spPr>
        <p:txBody>
          <a:bodyPr/>
          <a:lstStyle>
            <a:lvl1pPr marL="457178" marR="0" indent="-457178" algn="l" defTabSz="60957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1" kern="120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1pPr>
            <a:lvl2pPr marL="230706" marR="0" indent="-230706" algn="l" defTabSz="60957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C3FF"/>
              </a:buClr>
              <a:buSzTx/>
              <a:buFont typeface="Arial" panose="020B0604020202020204" pitchFamily="34" charset="0"/>
              <a:buChar char="•"/>
              <a:tabLst/>
              <a:defRPr lang="en-US" sz="2400" b="0" kern="1200" noProof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2pPr>
            <a:lvl3pPr marL="535491" marR="0" indent="-232822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42673"/>
              </a:buClr>
              <a:buSzTx/>
              <a:buFont typeface="Arial"/>
              <a:buChar char="•"/>
              <a:tabLst/>
              <a:defRPr lang="en-US" sz="2400" kern="1200" noProof="0">
                <a:solidFill>
                  <a:srgbClr val="414042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3pPr>
            <a:lvl4pPr marL="766196" marR="0" indent="-230706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5A1AA"/>
              </a:buClr>
              <a:buSzTx/>
              <a:buFont typeface="Arial" panose="020B0604020202020204" pitchFamily="34" charset="0"/>
              <a:buChar char="•"/>
              <a:tabLst/>
              <a:defRPr lang="en-US" sz="2133" kern="1200" noProof="0">
                <a:solidFill>
                  <a:srgbClr val="414042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4pPr>
            <a:lvl5pPr marL="1070980" marR="0" indent="-230706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042"/>
              </a:buClr>
              <a:buSzTx/>
              <a:buFont typeface="Arial" panose="020B0604020202020204" pitchFamily="34" charset="0"/>
              <a:buChar char="̶"/>
              <a:tabLst/>
              <a:defRPr lang="en-US" sz="2133" kern="1200" noProof="0">
                <a:solidFill>
                  <a:srgbClr val="414042"/>
                </a:solidFill>
                <a:latin typeface="Inter" panose="020B0502030000000004" pitchFamily="34" charset="0"/>
                <a:ea typeface="Inter" panose="020B0502030000000004" pitchFamily="34" charset="0"/>
                <a:cs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363200" cy="609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94628EB-861B-EE4F-90E4-D3BFC8DAB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28832" y="6429791"/>
            <a:ext cx="353568" cy="307777"/>
          </a:xfrm>
        </p:spPr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868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1BEB8-379A-9D85-9794-D92F8B1E1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8AB4F8-26AF-C2AA-8A8D-200DEB805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2517C-BDF8-85F4-F3EC-C1FA565B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E082-2FE8-41AD-8310-7C9631BD351E}" type="datetimeFigureOut">
              <a:rPr lang="es-419" smtClean="0"/>
              <a:t>21/7/2026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E00FB-65E9-130F-F859-BA6F33B2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54F29-CC11-C9A0-4730-A53CC22F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5568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6E20C-2B9F-B14B-B0FC-6A103AE14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8753856" cy="343814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CDF9B-F25F-FA4D-AB49-0E2BD1F75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315712" cy="343814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2F9696-F83A-6A4F-8ED7-A9B03EEEF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753856" y="-1"/>
            <a:ext cx="3438144" cy="343814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A0AA70F-D696-1440-8EFD-70FDA046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753856" y="1647"/>
            <a:ext cx="3438144" cy="6875925"/>
          </a:xfrm>
          <a:custGeom>
            <a:avLst/>
            <a:gdLst>
              <a:gd name="connsiteX0" fmla="*/ 0 w 2578608"/>
              <a:gd name="connsiteY0" fmla="*/ 0 h 5156944"/>
              <a:gd name="connsiteX1" fmla="*/ 2565295 w 2578608"/>
              <a:gd name="connsiteY1" fmla="*/ 2314957 h 5156944"/>
              <a:gd name="connsiteX2" fmla="*/ 2578594 w 2578608"/>
              <a:gd name="connsiteY2" fmla="*/ 2578336 h 5156944"/>
              <a:gd name="connsiteX3" fmla="*/ 2578608 w 2578608"/>
              <a:gd name="connsiteY3" fmla="*/ 2578336 h 5156944"/>
              <a:gd name="connsiteX4" fmla="*/ 2578608 w 2578608"/>
              <a:gd name="connsiteY4" fmla="*/ 2578608 h 5156944"/>
              <a:gd name="connsiteX5" fmla="*/ 2578608 w 2578608"/>
              <a:gd name="connsiteY5" fmla="*/ 5156944 h 5156944"/>
              <a:gd name="connsiteX6" fmla="*/ 0 w 2578608"/>
              <a:gd name="connsiteY6" fmla="*/ 5156944 h 5156944"/>
              <a:gd name="connsiteX7" fmla="*/ 0 w 2578608"/>
              <a:gd name="connsiteY7" fmla="*/ 2578608 h 5156944"/>
              <a:gd name="connsiteX8" fmla="*/ 0 w 2578608"/>
              <a:gd name="connsiteY8" fmla="*/ 2578336 h 515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8608" h="5156944">
                <a:moveTo>
                  <a:pt x="0" y="0"/>
                </a:moveTo>
                <a:cubicBezTo>
                  <a:pt x="1335135" y="0"/>
                  <a:pt x="2433247" y="1014666"/>
                  <a:pt x="2565295" y="2314957"/>
                </a:cubicBezTo>
                <a:lnTo>
                  <a:pt x="2578594" y="2578336"/>
                </a:lnTo>
                <a:lnTo>
                  <a:pt x="2578608" y="2578336"/>
                </a:lnTo>
                <a:lnTo>
                  <a:pt x="2578608" y="2578608"/>
                </a:lnTo>
                <a:lnTo>
                  <a:pt x="2578608" y="5156944"/>
                </a:lnTo>
                <a:lnTo>
                  <a:pt x="0" y="5156944"/>
                </a:lnTo>
                <a:lnTo>
                  <a:pt x="0" y="2578608"/>
                </a:lnTo>
                <a:lnTo>
                  <a:pt x="0" y="2578336"/>
                </a:lnTo>
                <a:close/>
              </a:path>
            </a:pathLst>
          </a:custGeom>
          <a:gradFill flip="none" rotWithShape="1">
            <a:gsLst>
              <a:gs pos="9000">
                <a:schemeClr val="accent3"/>
              </a:gs>
              <a:gs pos="96000">
                <a:schemeClr val="accent4"/>
              </a:gs>
            </a:gsLst>
            <a:lin ang="5400000" scaled="1"/>
            <a:tileRect/>
          </a:gradFill>
          <a:ln w="43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3" name="Graphic 4">
            <a:extLst>
              <a:ext uri="{FF2B5EF4-FFF2-40B4-BE49-F238E27FC236}">
                <a16:creationId xmlns:a16="http://schemas.microsoft.com/office/drawing/2014/main" id="{4901BF2E-E2D6-8941-94CE-F8B79FE51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53856" y="3447285"/>
            <a:ext cx="3438144" cy="3438144"/>
          </a:xfrm>
          <a:custGeom>
            <a:avLst/>
            <a:gdLst>
              <a:gd name="connsiteX0" fmla="*/ 1693962 w 1693962"/>
              <a:gd name="connsiteY0" fmla="*/ 1693962 h 1693962"/>
              <a:gd name="connsiteX1" fmla="*/ 0 w 1693962"/>
              <a:gd name="connsiteY1" fmla="*/ 0 h 1693962"/>
              <a:gd name="connsiteX2" fmla="*/ 0 w 1693962"/>
              <a:gd name="connsiteY2" fmla="*/ 1693962 h 169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962" h="1693962">
                <a:moveTo>
                  <a:pt x="1693962" y="1693962"/>
                </a:moveTo>
                <a:cubicBezTo>
                  <a:pt x="1693962" y="758401"/>
                  <a:pt x="935561" y="0"/>
                  <a:pt x="0" y="0"/>
                </a:cubicBezTo>
                <a:lnTo>
                  <a:pt x="0" y="1693962"/>
                </a:lnTo>
                <a:close/>
              </a:path>
            </a:pathLst>
          </a:custGeom>
          <a:gradFill flip="none" rotWithShape="1">
            <a:gsLst>
              <a:gs pos="0">
                <a:schemeClr val="accent6"/>
              </a:gs>
              <a:gs pos="100000">
                <a:schemeClr val="accent5"/>
              </a:gs>
            </a:gsLst>
            <a:lin ang="16200000" scaled="1"/>
            <a:tileRect/>
          </a:gradFill>
          <a:ln w="43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83794CCB-CDD2-134B-B3A8-6A08B11F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034784" y="-1"/>
            <a:ext cx="1719072" cy="3438144"/>
          </a:xfrm>
          <a:custGeom>
            <a:avLst/>
            <a:gdLst>
              <a:gd name="connsiteX0" fmla="*/ 0 w 1828800"/>
              <a:gd name="connsiteY0" fmla="*/ 0 h 3657600"/>
              <a:gd name="connsiteX1" fmla="*/ 0 w 1828800"/>
              <a:gd name="connsiteY1" fmla="*/ 3657600 h 3657600"/>
              <a:gd name="connsiteX2" fmla="*/ 1828800 w 1828800"/>
              <a:gd name="connsiteY2" fmla="*/ 1828800 h 3657600"/>
              <a:gd name="connsiteX3" fmla="*/ 0 w 18288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3657600">
                <a:moveTo>
                  <a:pt x="0" y="0"/>
                </a:moveTo>
                <a:lnTo>
                  <a:pt x="0" y="3657600"/>
                </a:lnTo>
                <a:cubicBezTo>
                  <a:pt x="1009650" y="3657600"/>
                  <a:pt x="1828800" y="2838450"/>
                  <a:pt x="1828800" y="1828800"/>
                </a:cubicBezTo>
                <a:cubicBezTo>
                  <a:pt x="1828800" y="819150"/>
                  <a:pt x="1009650" y="0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7E8B3323-19B2-FE47-8569-927E9E9E4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15712" y="-1"/>
            <a:ext cx="1719072" cy="3438144"/>
          </a:xfrm>
          <a:custGeom>
            <a:avLst/>
            <a:gdLst>
              <a:gd name="connsiteX0" fmla="*/ 0 w 1828800"/>
              <a:gd name="connsiteY0" fmla="*/ 0 h 3657600"/>
              <a:gd name="connsiteX1" fmla="*/ 0 w 1828800"/>
              <a:gd name="connsiteY1" fmla="*/ 3657600 h 3657600"/>
              <a:gd name="connsiteX2" fmla="*/ 1828800 w 1828800"/>
              <a:gd name="connsiteY2" fmla="*/ 1828800 h 3657600"/>
              <a:gd name="connsiteX3" fmla="*/ 0 w 18288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3657600">
                <a:moveTo>
                  <a:pt x="0" y="0"/>
                </a:moveTo>
                <a:lnTo>
                  <a:pt x="0" y="3657600"/>
                </a:lnTo>
                <a:cubicBezTo>
                  <a:pt x="1009650" y="3657600"/>
                  <a:pt x="1828800" y="2838450"/>
                  <a:pt x="1828800" y="1828800"/>
                </a:cubicBezTo>
                <a:cubicBezTo>
                  <a:pt x="1828800" y="819150"/>
                  <a:pt x="100965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BC1E848-DF5F-5A40-973A-87925AD80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15712" y="3438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6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17" name="Graphic 16" descr="Ellucian logo">
            <a:extLst>
              <a:ext uri="{FF2B5EF4-FFF2-40B4-BE49-F238E27FC236}">
                <a16:creationId xmlns:a16="http://schemas.microsoft.com/office/drawing/2014/main" id="{0B305568-4F21-6D47-847B-F5EA782281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2438400"/>
            <a:ext cx="2321336" cy="485861"/>
          </a:xfrm>
          <a:prstGeom prst="rect">
            <a:avLst/>
          </a:prstGeom>
        </p:spPr>
      </p:pic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E364127-0684-754A-847F-08EC301A5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6074484"/>
            <a:ext cx="7315200" cy="48768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333" b="1" i="0">
                <a:solidFill>
                  <a:schemeClr val="tx1"/>
                </a:solidFill>
                <a:latin typeface="Inter" panose="020B0502030000000004" pitchFamily="34" charset="0"/>
              </a:defRPr>
            </a:lvl1pPr>
          </a:lstStyle>
          <a:p>
            <a:pPr lvl="0"/>
            <a:r>
              <a:rPr lang="en-US" sz="1600" dirty="0">
                <a:solidFill>
                  <a:schemeClr val="tx2"/>
                </a:solidFill>
              </a:rPr>
              <a:t>Presenter’s title, Ellucian, </a:t>
            </a:r>
            <a:r>
              <a:rPr lang="en-US" sz="1600" dirty="0" err="1">
                <a:solidFill>
                  <a:schemeClr val="tx2"/>
                </a:solidFill>
              </a:rPr>
              <a:t>firstname.lastname@ellucian.com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F29E158-1A7A-9F47-AA51-BDB75B2C9D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516520"/>
            <a:ext cx="7315200" cy="48768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B0502030000000004" pitchFamily="34" charset="0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0A314CD-F535-7E45-B0F9-A815D056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79520"/>
            <a:ext cx="7315200" cy="1219200"/>
          </a:xfrm>
          <a:prstGeom prst="rect">
            <a:avLst/>
          </a:prstGeom>
        </p:spPr>
        <p:txBody>
          <a:bodyPr lIns="0" tIns="0" rIns="0" bIns="0"/>
          <a:lstStyle>
            <a:lvl1pPr>
              <a:defRPr sz="4267" b="0" i="0">
                <a:latin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05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le sild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F218C7E-392C-354E-89DE-3A23B9F22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47411" y="-9991"/>
            <a:ext cx="9044591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98D50EA-F285-654B-B562-AD1136B9B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381"/>
          <a:stretch/>
        </p:blipFill>
        <p:spPr>
          <a:xfrm>
            <a:off x="6854686" y="-18285"/>
            <a:ext cx="5337316" cy="68762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CBBCA40-8C0B-1F49-8171-1C988F45C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43030" y="-9991"/>
            <a:ext cx="6876289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CB01F9-01ED-EB49-9976-6ED4637E1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680155" y="1707493"/>
            <a:ext cx="6876288" cy="3441323"/>
            <a:chOff x="0" y="-2384"/>
            <a:chExt cx="5157216" cy="258099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C68FE5A-6D91-C040-A08C-267DE5F11BB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0" y="-238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2187E5-B2D1-5142-A2AF-6B98B3E22D7B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78608" y="0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93DF01F-77D8-8E41-94B5-9B07055EB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09600" y="1584960"/>
            <a:ext cx="1743456" cy="356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AC434-8F68-9545-9870-DC0B408A8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82240"/>
            <a:ext cx="5486400" cy="1719072"/>
          </a:xfrm>
          <a:prstGeom prst="rect">
            <a:avLst/>
          </a:prstGeom>
        </p:spPr>
        <p:txBody>
          <a:bodyPr lIns="0" tIns="0" rIns="0" bIns="0"/>
          <a:lstStyle>
            <a:lvl1pPr>
              <a:defRPr sz="4267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74F6801A-BB19-6145-B76D-9219E36922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023104"/>
            <a:ext cx="5486400" cy="48768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ATTRIBUTION NAME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78940067-74F9-F240-B71D-A505F094B6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608320"/>
            <a:ext cx="5486400" cy="92659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33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Presenter’s title, Ellucian,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86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head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C6EE76D-528C-4842-BE6F-ACE47E3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5400000" flipV="1">
            <a:off x="1889760" y="3438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49447-EF63-9345-903C-1ADFD472B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3868"/>
            <a:ext cx="6864096" cy="6864096"/>
          </a:xfrm>
          <a:prstGeom prst="rect">
            <a:avLst/>
          </a:prstGeom>
          <a:gradFill>
            <a:gsLst>
              <a:gs pos="2000">
                <a:schemeClr val="accent4"/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1C8EA5-5121-7144-AB45-87DBDD6BB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-1"/>
            <a:ext cx="6864096" cy="6864096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40818972-0460-1444-A70D-FA48BD3F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889760" y="0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26" name="Picture 25" descr="Woman participating in video meetng on a laptop">
            <a:extLst>
              <a:ext uri="{FF2B5EF4-FFF2-40B4-BE49-F238E27FC236}">
                <a16:creationId xmlns:a16="http://schemas.microsoft.com/office/drawing/2014/main" id="{32DA8A22-805B-E644-8C61-0F5174FBB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5136"/>
          <a:stretch/>
        </p:blipFill>
        <p:spPr>
          <a:xfrm>
            <a:off x="6359027" y="1024768"/>
            <a:ext cx="4817335" cy="4814557"/>
          </a:xfrm>
          <a:prstGeom prst="rect">
            <a:avLst/>
          </a:prstGeom>
        </p:spPr>
      </p:pic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41BBB8-FF25-B845-AA2F-3E813DF5A7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" y="609600"/>
            <a:ext cx="1877568" cy="409651"/>
          </a:xfrm>
          <a:prstGeom prst="rect">
            <a:avLst/>
          </a:prstGeom>
        </p:spPr>
      </p:pic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22D0C033-65C0-1249-ADD0-6F7356C78D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632960"/>
            <a:ext cx="4267200" cy="48768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ED17B0AA-E30B-8549-B765-8D85FA6132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181600"/>
            <a:ext cx="4267200" cy="487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B0502030000000004" pitchFamily="34" charset="0"/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DB03217-DFA2-7049-A3EB-40F1CE2C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231648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7626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C6EE76D-528C-4842-BE6F-ACE47E3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5400000" flipV="1">
            <a:off x="1889760" y="3438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49447-EF63-9345-903C-1ADFD472B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3868"/>
            <a:ext cx="6864096" cy="6864096"/>
          </a:xfrm>
          <a:prstGeom prst="rect">
            <a:avLst/>
          </a:prstGeom>
          <a:gradFill>
            <a:gsLst>
              <a:gs pos="2000">
                <a:schemeClr val="accent4"/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1C8EA5-5121-7144-AB45-87DBDD6BB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-1"/>
            <a:ext cx="6864096" cy="686409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40818972-0460-1444-A70D-FA48BD3F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889760" y="0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41BBB8-FF25-B845-AA2F-3E813DF5A7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09600"/>
            <a:ext cx="1877568" cy="409651"/>
          </a:xfrm>
          <a:prstGeom prst="rect">
            <a:avLst/>
          </a:prstGeom>
        </p:spPr>
      </p:pic>
      <p:pic>
        <p:nvPicPr>
          <p:cNvPr id="11" name="Picture 10" descr="Woman looking at a cell phone and holding a laptop">
            <a:extLst>
              <a:ext uri="{FF2B5EF4-FFF2-40B4-BE49-F238E27FC236}">
                <a16:creationId xmlns:a16="http://schemas.microsoft.com/office/drawing/2014/main" id="{1BB933FE-2D68-0840-B3B5-A1CAE86BF5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405" t="393" r="10775"/>
          <a:stretch/>
        </p:blipFill>
        <p:spPr>
          <a:xfrm>
            <a:off x="6356379" y="1019748"/>
            <a:ext cx="4819341" cy="4815840"/>
          </a:xfrm>
          <a:prstGeom prst="rect">
            <a:avLst/>
          </a:prstGeom>
        </p:spPr>
      </p:pic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67E4E02-1164-D24C-9BD9-B9818A201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632960"/>
            <a:ext cx="4267200" cy="48768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768A22FF-2399-4B46-A33E-5E765179B7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181600"/>
            <a:ext cx="4267200" cy="487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B0502030000000004" pitchFamily="34" charset="0"/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362E063-0A28-3B4D-A8D3-7C5EEF23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231648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044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C6EE76D-528C-4842-BE6F-ACE47E3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5400000" flipV="1">
            <a:off x="1889760" y="3438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49447-EF63-9345-903C-1ADFD472B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3868"/>
            <a:ext cx="6864096" cy="6864096"/>
          </a:xfrm>
          <a:prstGeom prst="rect">
            <a:avLst/>
          </a:prstGeom>
          <a:gradFill>
            <a:gsLst>
              <a:gs pos="2000">
                <a:schemeClr val="accent5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1C8EA5-5121-7144-AB45-87DBDD6BB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-1"/>
            <a:ext cx="6864096" cy="6864096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40818972-0460-1444-A70D-FA48BD3F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889760" y="0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41BBB8-FF25-B845-AA2F-3E813DF5A7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09600"/>
            <a:ext cx="1877568" cy="409651"/>
          </a:xfrm>
          <a:prstGeom prst="rect">
            <a:avLst/>
          </a:prstGeom>
        </p:spPr>
      </p:pic>
      <p:pic>
        <p:nvPicPr>
          <p:cNvPr id="12" name="Picture 11" descr="Student walking on campus, smiling, and looking at cell phone">
            <a:extLst>
              <a:ext uri="{FF2B5EF4-FFF2-40B4-BE49-F238E27FC236}">
                <a16:creationId xmlns:a16="http://schemas.microsoft.com/office/drawing/2014/main" id="{87CB6793-4354-D14E-B546-399D3D0688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81" r="3854"/>
          <a:stretch/>
        </p:blipFill>
        <p:spPr>
          <a:xfrm>
            <a:off x="6359383" y="1019748"/>
            <a:ext cx="4813335" cy="4815840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56826E8-C37D-264E-B10D-59FBDF6E51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632960"/>
            <a:ext cx="4267200" cy="48768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015C7593-37B4-6545-95C3-2BDB1D461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181600"/>
            <a:ext cx="4267200" cy="487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B0502030000000004" pitchFamily="34" charset="0"/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5D50B24-E4FF-AC46-86CC-AF5246EE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231648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528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C6EE76D-528C-4842-BE6F-ACE47E3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5400000" flipV="1">
            <a:off x="1889760" y="343814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49447-EF63-9345-903C-1ADFD472B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3868"/>
            <a:ext cx="6864096" cy="6864096"/>
          </a:xfrm>
          <a:prstGeom prst="rect">
            <a:avLst/>
          </a:prstGeom>
          <a:gradFill>
            <a:gsLst>
              <a:gs pos="2000">
                <a:schemeClr val="accent4"/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1C8EA5-5121-7144-AB45-87DBDD6BB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27904" y="-1"/>
            <a:ext cx="6864096" cy="686409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40818972-0460-1444-A70D-FA48BD3F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1889760" y="0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200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41BBB8-FF25-B845-AA2F-3E813DF5A7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09600"/>
            <a:ext cx="1877568" cy="40965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4D6B4-3FE9-6245-BC7A-151C90106E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2032" y="1024128"/>
            <a:ext cx="4815840" cy="481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40E6-F11A-2840-ACE7-BF93F2453888}"/>
              </a:ext>
            </a:extLst>
          </p:cNvPr>
          <p:cNvSpPr txBox="1"/>
          <p:nvPr userDrawn="1"/>
        </p:nvSpPr>
        <p:spPr>
          <a:xfrm>
            <a:off x="49876" y="-882172"/>
            <a:ext cx="1176528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 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3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  <a:p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EF438446-2865-E248-8765-C4061A6C92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632960"/>
            <a:ext cx="4267200" cy="48768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8B9FC3E1-1989-584C-8208-8466BF65A3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4267200" cy="4876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33" b="0" i="0">
                <a:solidFill>
                  <a:schemeClr val="tx1"/>
                </a:solidFill>
                <a:latin typeface="Inter" panose="020B0502030000000004" pitchFamily="34" charset="0"/>
              </a:defRPr>
            </a:lvl1pPr>
            <a:lvl2pPr marL="609585" indent="0">
              <a:buNone/>
              <a:defRPr sz="1333"/>
            </a:lvl2pPr>
            <a:lvl3pPr marL="1219170" indent="0">
              <a:buNone/>
              <a:defRPr sz="1333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</a:lstStyle>
          <a:p>
            <a:pPr lvl="0"/>
            <a:r>
              <a:rPr lang="en-US" dirty="0"/>
              <a:t>Presenter’s title, Ellucian, </a:t>
            </a: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561C5AD-A57D-0642-8414-A80E912E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231648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77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F218C7E-392C-354E-89DE-3A23B9F22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47411" y="-9991"/>
            <a:ext cx="9044591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98D50EA-F285-654B-B562-AD1136B9B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381"/>
          <a:stretch/>
        </p:blipFill>
        <p:spPr>
          <a:xfrm>
            <a:off x="6854686" y="-18285"/>
            <a:ext cx="5337316" cy="68762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CBBCA40-8C0B-1F49-8171-1C988F45C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43030" y="-9991"/>
            <a:ext cx="6876289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CB01F9-01ED-EB49-9976-6ED4637E1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680155" y="1707493"/>
            <a:ext cx="6876288" cy="3441323"/>
            <a:chOff x="0" y="-2384"/>
            <a:chExt cx="5157216" cy="258099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C68FE5A-6D91-C040-A08C-267DE5F11BB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0" y="-238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2187E5-B2D1-5142-A2AF-6B98B3E22D7B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78608" y="0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93DF01F-77D8-8E41-94B5-9B07055EB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09600" y="1584960"/>
            <a:ext cx="1743456" cy="356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AC434-8F68-9545-9870-DC0B408A8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926080"/>
            <a:ext cx="5486400" cy="487680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74F6801A-BB19-6145-B76D-9219E36922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888992"/>
            <a:ext cx="5486400" cy="48768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ATTRIBUTION NAME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78940067-74F9-F240-B71D-A505F094B6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474208"/>
            <a:ext cx="5486400" cy="92659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67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Presenter’s title, Ellucian,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62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55047D-7BDB-E84D-8AD7-ADA4143BD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47411" y="-9991"/>
            <a:ext cx="9044591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C854005-DA7D-9547-B951-1C790630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381"/>
          <a:stretch/>
        </p:blipFill>
        <p:spPr>
          <a:xfrm>
            <a:off x="6854686" y="-18285"/>
            <a:ext cx="5337316" cy="687628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890C188-27D4-A14B-9E7F-BA173276F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43030" y="-9991"/>
            <a:ext cx="6876289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solidFill>
                <a:schemeClr val="bg1"/>
              </a:solidFill>
              <a:latin typeface="Inter" panose="020B05020300000000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9C9091-4134-4E46-8C30-EEE574A3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680155" y="1707493"/>
            <a:ext cx="6876288" cy="3441323"/>
            <a:chOff x="0" y="-2384"/>
            <a:chExt cx="5157216" cy="2580992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0D8FB29-17F7-AA44-A967-4CB50522826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0" y="-238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0E01FB0-F185-5246-A1F5-38CB8CD0F47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78608" y="0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solidFill>
                  <a:schemeClr val="bg1"/>
                </a:solidFill>
                <a:latin typeface="Inter" panose="020B0502030000000004" pitchFamily="34" charset="0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0D65E01C-2BF8-B545-B3AA-54AC238E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85CBEB4B-2992-C541-A3A9-3DE92CE5E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609585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1219170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1828754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2438339" indent="0">
              <a:buNone/>
              <a:defRPr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258433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erial view of a college campus">
            <a:extLst>
              <a:ext uri="{FF2B5EF4-FFF2-40B4-BE49-F238E27FC236}">
                <a16:creationId xmlns:a16="http://schemas.microsoft.com/office/drawing/2014/main" id="{C698A099-44CD-2847-9015-630E4FEB01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00"/>
          <a:stretch/>
        </p:blipFill>
        <p:spPr>
          <a:xfrm>
            <a:off x="-49187" y="0"/>
            <a:ext cx="12241188" cy="6857568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18D8493F-E39E-D146-81FA-D2F52293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-49188" y="0"/>
            <a:ext cx="7564811" cy="6877021"/>
          </a:xfrm>
          <a:custGeom>
            <a:avLst/>
            <a:gdLst>
              <a:gd name="connsiteX0" fmla="*/ 1804936 w 2707481"/>
              <a:gd name="connsiteY0" fmla="*/ -114 h 1798654"/>
              <a:gd name="connsiteX1" fmla="*/ -52 w 2707481"/>
              <a:gd name="connsiteY1" fmla="*/ -114 h 1798654"/>
              <a:gd name="connsiteX2" fmla="*/ -52 w 2707481"/>
              <a:gd name="connsiteY2" fmla="*/ 1798541 h 1798654"/>
              <a:gd name="connsiteX3" fmla="*/ 1804936 w 2707481"/>
              <a:gd name="connsiteY3" fmla="*/ 1798541 h 1798654"/>
              <a:gd name="connsiteX4" fmla="*/ 2707429 w 2707481"/>
              <a:gd name="connsiteY4" fmla="*/ 899213 h 1798654"/>
              <a:gd name="connsiteX5" fmla="*/ 1804936 w 2707481"/>
              <a:gd name="connsiteY5" fmla="*/ -114 h 1798654"/>
              <a:gd name="connsiteX0" fmla="*/ 1804988 w 2707481"/>
              <a:gd name="connsiteY0" fmla="*/ 0 h 1798655"/>
              <a:gd name="connsiteX1" fmla="*/ 0 w 2707481"/>
              <a:gd name="connsiteY1" fmla="*/ 0 h 1798655"/>
              <a:gd name="connsiteX2" fmla="*/ 456973 w 2707481"/>
              <a:gd name="connsiteY2" fmla="*/ 1786523 h 1798655"/>
              <a:gd name="connsiteX3" fmla="*/ 1804988 w 2707481"/>
              <a:gd name="connsiteY3" fmla="*/ 1798655 h 1798655"/>
              <a:gd name="connsiteX4" fmla="*/ 2707481 w 2707481"/>
              <a:gd name="connsiteY4" fmla="*/ 899327 h 1798655"/>
              <a:gd name="connsiteX5" fmla="*/ 1804988 w 2707481"/>
              <a:gd name="connsiteY5" fmla="*/ 0 h 1798655"/>
              <a:gd name="connsiteX0" fmla="*/ 1348015 w 2250508"/>
              <a:gd name="connsiteY0" fmla="*/ 0 h 1798655"/>
              <a:gd name="connsiteX1" fmla="*/ 768361 w 2250508"/>
              <a:gd name="connsiteY1" fmla="*/ 48528 h 1798655"/>
              <a:gd name="connsiteX2" fmla="*/ 0 w 2250508"/>
              <a:gd name="connsiteY2" fmla="*/ 1786523 h 1798655"/>
              <a:gd name="connsiteX3" fmla="*/ 1348015 w 2250508"/>
              <a:gd name="connsiteY3" fmla="*/ 1798655 h 1798655"/>
              <a:gd name="connsiteX4" fmla="*/ 2250508 w 2250508"/>
              <a:gd name="connsiteY4" fmla="*/ 899327 h 1798655"/>
              <a:gd name="connsiteX5" fmla="*/ 1348015 w 2250508"/>
              <a:gd name="connsiteY5" fmla="*/ 0 h 1798655"/>
              <a:gd name="connsiteX0" fmla="*/ 1348015 w 2250508"/>
              <a:gd name="connsiteY0" fmla="*/ 0 h 1798655"/>
              <a:gd name="connsiteX1" fmla="*/ 287125 w 2250508"/>
              <a:gd name="connsiteY1" fmla="*/ 4044 h 1798655"/>
              <a:gd name="connsiteX2" fmla="*/ 0 w 2250508"/>
              <a:gd name="connsiteY2" fmla="*/ 1786523 h 1798655"/>
              <a:gd name="connsiteX3" fmla="*/ 1348015 w 2250508"/>
              <a:gd name="connsiteY3" fmla="*/ 1798655 h 1798655"/>
              <a:gd name="connsiteX4" fmla="*/ 2250508 w 2250508"/>
              <a:gd name="connsiteY4" fmla="*/ 899327 h 1798655"/>
              <a:gd name="connsiteX5" fmla="*/ 1348015 w 2250508"/>
              <a:gd name="connsiteY5" fmla="*/ 0 h 1798655"/>
              <a:gd name="connsiteX0" fmla="*/ 1068979 w 1971472"/>
              <a:gd name="connsiteY0" fmla="*/ 0 h 1798655"/>
              <a:gd name="connsiteX1" fmla="*/ 8089 w 1971472"/>
              <a:gd name="connsiteY1" fmla="*/ 4044 h 1798655"/>
              <a:gd name="connsiteX2" fmla="*/ 0 w 1971472"/>
              <a:gd name="connsiteY2" fmla="*/ 1798655 h 1798655"/>
              <a:gd name="connsiteX3" fmla="*/ 1068979 w 1971472"/>
              <a:gd name="connsiteY3" fmla="*/ 1798655 h 1798655"/>
              <a:gd name="connsiteX4" fmla="*/ 1971472 w 1971472"/>
              <a:gd name="connsiteY4" fmla="*/ 899327 h 1798655"/>
              <a:gd name="connsiteX5" fmla="*/ 1068979 w 1971472"/>
              <a:gd name="connsiteY5" fmla="*/ 0 h 1798655"/>
              <a:gd name="connsiteX0" fmla="*/ 1079773 w 1982266"/>
              <a:gd name="connsiteY0" fmla="*/ 3386 h 1802041"/>
              <a:gd name="connsiteX1" fmla="*/ 309 w 1982266"/>
              <a:gd name="connsiteY1" fmla="*/ 0 h 1802041"/>
              <a:gd name="connsiteX2" fmla="*/ 10794 w 1982266"/>
              <a:gd name="connsiteY2" fmla="*/ 1802041 h 1802041"/>
              <a:gd name="connsiteX3" fmla="*/ 1079773 w 1982266"/>
              <a:gd name="connsiteY3" fmla="*/ 1802041 h 1802041"/>
              <a:gd name="connsiteX4" fmla="*/ 1982266 w 1982266"/>
              <a:gd name="connsiteY4" fmla="*/ 902713 h 1802041"/>
              <a:gd name="connsiteX5" fmla="*/ 1079773 w 1982266"/>
              <a:gd name="connsiteY5" fmla="*/ 3386 h 180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2266" h="1802041">
                <a:moveTo>
                  <a:pt x="1079773" y="3386"/>
                </a:moveTo>
                <a:lnTo>
                  <a:pt x="309" y="0"/>
                </a:lnTo>
                <a:cubicBezTo>
                  <a:pt x="-2387" y="598204"/>
                  <a:pt x="13490" y="1203837"/>
                  <a:pt x="10794" y="1802041"/>
                </a:cubicBezTo>
                <a:lnTo>
                  <a:pt x="1079773" y="1802041"/>
                </a:lnTo>
                <a:cubicBezTo>
                  <a:pt x="1578206" y="1802041"/>
                  <a:pt x="1982266" y="1399398"/>
                  <a:pt x="1982266" y="902713"/>
                </a:cubicBezTo>
                <a:cubicBezTo>
                  <a:pt x="1982266" y="406029"/>
                  <a:pt x="1578206" y="3386"/>
                  <a:pt x="1079773" y="3386"/>
                </a:cubicBezTo>
              </a:path>
            </a:pathLst>
          </a:custGeom>
          <a:gradFill>
            <a:gsLst>
              <a:gs pos="0">
                <a:schemeClr val="accent2">
                  <a:lumMod val="67000"/>
                </a:schemeClr>
              </a:gs>
              <a:gs pos="100000">
                <a:schemeClr val="accent1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AAF978-5CFD-6646-989B-2647841A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D8811C2-357D-C043-BF50-BE1943C9E2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49162EC-F29A-2F49-9CA6-A97BC28B2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223640" y="6401135"/>
            <a:ext cx="358760" cy="369332"/>
          </a:xfrm>
          <a:prstGeom prst="rect">
            <a:avLst/>
          </a:prstGeom>
        </p:spPr>
        <p:txBody>
          <a:bodyPr vert="horz" wrap="square" lIns="0" tIns="121920" rIns="0" bIns="12192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algn="r" defTabSz="1219140">
              <a:defRPr/>
            </a:pPr>
            <a:fld id="{D297C219-BB61-8045-AF51-356C3EFECC42}" type="slidenum">
              <a:rPr sz="800">
                <a:solidFill>
                  <a:srgbClr val="FFFFFF"/>
                </a:solidFill>
                <a:latin typeface="Inter" panose="020B0502030000000004" pitchFamily="34" charset="0"/>
                <a:ea typeface="Inter" panose="020B0502030000000004" pitchFamily="34" charset="0"/>
              </a:rPr>
              <a:pPr algn="r" defTabSz="1219140">
                <a:defRPr/>
              </a:pPr>
              <a:t>‹Nº›</a:t>
            </a:fld>
            <a:endParaRPr sz="800" dirty="0">
              <a:solidFill>
                <a:srgbClr val="FFFFFF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6652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9A067-9EB1-354E-B41A-C747CC63DD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0336" y="0"/>
            <a:ext cx="8741664" cy="68884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8D8493F-E39E-D146-81FA-D2F52293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-258523" y="-19453"/>
            <a:ext cx="7564811" cy="6877021"/>
          </a:xfrm>
          <a:custGeom>
            <a:avLst/>
            <a:gdLst>
              <a:gd name="connsiteX0" fmla="*/ 1804936 w 2707481"/>
              <a:gd name="connsiteY0" fmla="*/ -114 h 1798654"/>
              <a:gd name="connsiteX1" fmla="*/ -52 w 2707481"/>
              <a:gd name="connsiteY1" fmla="*/ -114 h 1798654"/>
              <a:gd name="connsiteX2" fmla="*/ -52 w 2707481"/>
              <a:gd name="connsiteY2" fmla="*/ 1798541 h 1798654"/>
              <a:gd name="connsiteX3" fmla="*/ 1804936 w 2707481"/>
              <a:gd name="connsiteY3" fmla="*/ 1798541 h 1798654"/>
              <a:gd name="connsiteX4" fmla="*/ 2707429 w 2707481"/>
              <a:gd name="connsiteY4" fmla="*/ 899213 h 1798654"/>
              <a:gd name="connsiteX5" fmla="*/ 1804936 w 2707481"/>
              <a:gd name="connsiteY5" fmla="*/ -114 h 1798654"/>
              <a:gd name="connsiteX0" fmla="*/ 1804988 w 2707481"/>
              <a:gd name="connsiteY0" fmla="*/ 0 h 1798655"/>
              <a:gd name="connsiteX1" fmla="*/ 0 w 2707481"/>
              <a:gd name="connsiteY1" fmla="*/ 0 h 1798655"/>
              <a:gd name="connsiteX2" fmla="*/ 456973 w 2707481"/>
              <a:gd name="connsiteY2" fmla="*/ 1786523 h 1798655"/>
              <a:gd name="connsiteX3" fmla="*/ 1804988 w 2707481"/>
              <a:gd name="connsiteY3" fmla="*/ 1798655 h 1798655"/>
              <a:gd name="connsiteX4" fmla="*/ 2707481 w 2707481"/>
              <a:gd name="connsiteY4" fmla="*/ 899327 h 1798655"/>
              <a:gd name="connsiteX5" fmla="*/ 1804988 w 2707481"/>
              <a:gd name="connsiteY5" fmla="*/ 0 h 1798655"/>
              <a:gd name="connsiteX0" fmla="*/ 1348015 w 2250508"/>
              <a:gd name="connsiteY0" fmla="*/ 0 h 1798655"/>
              <a:gd name="connsiteX1" fmla="*/ 768361 w 2250508"/>
              <a:gd name="connsiteY1" fmla="*/ 48528 h 1798655"/>
              <a:gd name="connsiteX2" fmla="*/ 0 w 2250508"/>
              <a:gd name="connsiteY2" fmla="*/ 1786523 h 1798655"/>
              <a:gd name="connsiteX3" fmla="*/ 1348015 w 2250508"/>
              <a:gd name="connsiteY3" fmla="*/ 1798655 h 1798655"/>
              <a:gd name="connsiteX4" fmla="*/ 2250508 w 2250508"/>
              <a:gd name="connsiteY4" fmla="*/ 899327 h 1798655"/>
              <a:gd name="connsiteX5" fmla="*/ 1348015 w 2250508"/>
              <a:gd name="connsiteY5" fmla="*/ 0 h 1798655"/>
              <a:gd name="connsiteX0" fmla="*/ 1348015 w 2250508"/>
              <a:gd name="connsiteY0" fmla="*/ 0 h 1798655"/>
              <a:gd name="connsiteX1" fmla="*/ 287125 w 2250508"/>
              <a:gd name="connsiteY1" fmla="*/ 4044 h 1798655"/>
              <a:gd name="connsiteX2" fmla="*/ 0 w 2250508"/>
              <a:gd name="connsiteY2" fmla="*/ 1786523 h 1798655"/>
              <a:gd name="connsiteX3" fmla="*/ 1348015 w 2250508"/>
              <a:gd name="connsiteY3" fmla="*/ 1798655 h 1798655"/>
              <a:gd name="connsiteX4" fmla="*/ 2250508 w 2250508"/>
              <a:gd name="connsiteY4" fmla="*/ 899327 h 1798655"/>
              <a:gd name="connsiteX5" fmla="*/ 1348015 w 2250508"/>
              <a:gd name="connsiteY5" fmla="*/ 0 h 1798655"/>
              <a:gd name="connsiteX0" fmla="*/ 1068979 w 1971472"/>
              <a:gd name="connsiteY0" fmla="*/ 0 h 1798655"/>
              <a:gd name="connsiteX1" fmla="*/ 8089 w 1971472"/>
              <a:gd name="connsiteY1" fmla="*/ 4044 h 1798655"/>
              <a:gd name="connsiteX2" fmla="*/ 0 w 1971472"/>
              <a:gd name="connsiteY2" fmla="*/ 1798655 h 1798655"/>
              <a:gd name="connsiteX3" fmla="*/ 1068979 w 1971472"/>
              <a:gd name="connsiteY3" fmla="*/ 1798655 h 1798655"/>
              <a:gd name="connsiteX4" fmla="*/ 1971472 w 1971472"/>
              <a:gd name="connsiteY4" fmla="*/ 899327 h 1798655"/>
              <a:gd name="connsiteX5" fmla="*/ 1068979 w 1971472"/>
              <a:gd name="connsiteY5" fmla="*/ 0 h 1798655"/>
              <a:gd name="connsiteX0" fmla="*/ 1079773 w 1982266"/>
              <a:gd name="connsiteY0" fmla="*/ 3386 h 1802041"/>
              <a:gd name="connsiteX1" fmla="*/ 309 w 1982266"/>
              <a:gd name="connsiteY1" fmla="*/ 0 h 1802041"/>
              <a:gd name="connsiteX2" fmla="*/ 10794 w 1982266"/>
              <a:gd name="connsiteY2" fmla="*/ 1802041 h 1802041"/>
              <a:gd name="connsiteX3" fmla="*/ 1079773 w 1982266"/>
              <a:gd name="connsiteY3" fmla="*/ 1802041 h 1802041"/>
              <a:gd name="connsiteX4" fmla="*/ 1982266 w 1982266"/>
              <a:gd name="connsiteY4" fmla="*/ 902713 h 1802041"/>
              <a:gd name="connsiteX5" fmla="*/ 1079773 w 1982266"/>
              <a:gd name="connsiteY5" fmla="*/ 3386 h 180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2266" h="1802041">
                <a:moveTo>
                  <a:pt x="1079773" y="3386"/>
                </a:moveTo>
                <a:lnTo>
                  <a:pt x="309" y="0"/>
                </a:lnTo>
                <a:cubicBezTo>
                  <a:pt x="-2387" y="598204"/>
                  <a:pt x="13490" y="1203837"/>
                  <a:pt x="10794" y="1802041"/>
                </a:cubicBezTo>
                <a:lnTo>
                  <a:pt x="1079773" y="1802041"/>
                </a:lnTo>
                <a:cubicBezTo>
                  <a:pt x="1578206" y="1802041"/>
                  <a:pt x="1982266" y="1399398"/>
                  <a:pt x="1982266" y="902713"/>
                </a:cubicBezTo>
                <a:cubicBezTo>
                  <a:pt x="1982266" y="406029"/>
                  <a:pt x="1578206" y="3386"/>
                  <a:pt x="1079773" y="3386"/>
                </a:cubicBezTo>
              </a:path>
            </a:pathLst>
          </a:custGeom>
          <a:gradFill>
            <a:gsLst>
              <a:gs pos="0">
                <a:schemeClr val="accent2">
                  <a:lumMod val="67000"/>
                </a:schemeClr>
              </a:gs>
              <a:gs pos="100000">
                <a:schemeClr val="accent1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0F352-00C7-204C-9249-EC543DAA5CBF}"/>
              </a:ext>
            </a:extLst>
          </p:cNvPr>
          <p:cNvSpPr txBox="1"/>
          <p:nvPr userDrawn="1"/>
        </p:nvSpPr>
        <p:spPr>
          <a:xfrm>
            <a:off x="-24384" y="-633984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F0F29D4-C9E8-8C4E-9F22-62E8AA4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0E13467-35EA-E745-84AD-6194FF0B8C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046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8251CF5-C436-084B-BEBE-62AB76B2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876287" y="-9991"/>
            <a:ext cx="5364480" cy="6876288"/>
          </a:xfrm>
          <a:prstGeom prst="rect">
            <a:avLst/>
          </a:prstGeom>
          <a:gradFill flip="none" rotWithShape="1">
            <a:gsLst>
              <a:gs pos="400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 dirty="0">
              <a:latin typeface="Inter" panose="020B05020300000000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84E7B40-7BF3-B742-982D-0DF4B66D3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381"/>
          <a:stretch/>
        </p:blipFill>
        <p:spPr>
          <a:xfrm>
            <a:off x="6876289" y="2"/>
            <a:ext cx="5337316" cy="687628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A0E2E51-9054-454C-A343-77C308EC1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38144" y="-9991"/>
            <a:ext cx="3438147" cy="6876288"/>
            <a:chOff x="2550611" y="-7493"/>
            <a:chExt cx="2578610" cy="5157216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6DD2D9B-C87C-CB4C-9072-7787A7AF5397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40DD7C4-B94A-BA49-AF50-B3B0797996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20" name="Title 3">
            <a:extLst>
              <a:ext uri="{FF2B5EF4-FFF2-40B4-BE49-F238E27FC236}">
                <a16:creationId xmlns:a16="http://schemas.microsoft.com/office/drawing/2014/main" id="{4A79325E-2D01-E947-B5C9-6C4F3D77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Content Placeholder 11">
            <a:extLst>
              <a:ext uri="{FF2B5EF4-FFF2-40B4-BE49-F238E27FC236}">
                <a16:creationId xmlns:a16="http://schemas.microsoft.com/office/drawing/2014/main" id="{AA051CE2-4676-5C4D-A58A-76DDE82C50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733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81397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amp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erial view of a college campus">
            <a:extLst>
              <a:ext uri="{FF2B5EF4-FFF2-40B4-BE49-F238E27FC236}">
                <a16:creationId xmlns:a16="http://schemas.microsoft.com/office/drawing/2014/main" id="{9C958AB1-3DEF-5547-BE92-30514FD7E5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384" r="101"/>
          <a:stretch/>
        </p:blipFill>
        <p:spPr>
          <a:xfrm>
            <a:off x="6876291" y="0"/>
            <a:ext cx="5315709" cy="685756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55BC733-0B20-484F-8F32-336D44BB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38144" y="-9991"/>
            <a:ext cx="3438147" cy="6876288"/>
            <a:chOff x="2550611" y="-7493"/>
            <a:chExt cx="2578610" cy="5157216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DA45A8A-4098-6945-A923-47D589A8FFA6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49000">
                  <a:schemeClr val="accent1"/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4ADB029-21E9-1249-8E22-639EB582F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16" name="Title 3">
            <a:extLst>
              <a:ext uri="{FF2B5EF4-FFF2-40B4-BE49-F238E27FC236}">
                <a16:creationId xmlns:a16="http://schemas.microsoft.com/office/drawing/2014/main" id="{0B4A1830-643E-8847-9D1F-0E2E0BD9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06C0B664-9E88-9B42-B827-820C5F2D10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733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581491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5C022-F3E9-8642-B9B6-52715AD4F2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6289" y="0"/>
            <a:ext cx="5352287" cy="6864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Inter" panose="020B0502030000000004" pitchFamily="34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901A77-D1D2-4246-84CC-ECF7AE44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38144" y="-9991"/>
            <a:ext cx="3438147" cy="6876288"/>
            <a:chOff x="2550611" y="-7493"/>
            <a:chExt cx="2578610" cy="515721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B39DA85-2882-404C-9466-F20508517C0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550612" y="-7494"/>
              <a:ext cx="2578608" cy="2578609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49000">
                  <a:schemeClr val="accent1"/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4AFEAE5-76F9-1E4D-B77B-D6EC9C5CC2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0612" y="2571116"/>
              <a:ext cx="2578609" cy="2578607"/>
            </a:xfrm>
            <a:custGeom>
              <a:avLst/>
              <a:gdLst>
                <a:gd name="connsiteX0" fmla="*/ 0 w 3657600"/>
                <a:gd name="connsiteY0" fmla="*/ 3657600 h 3657600"/>
                <a:gd name="connsiteX1" fmla="*/ 3657600 w 3657600"/>
                <a:gd name="connsiteY1" fmla="*/ 3657600 h 3657600"/>
                <a:gd name="connsiteX2" fmla="*/ 3657600 w 3657600"/>
                <a:gd name="connsiteY2" fmla="*/ 0 h 3657600"/>
                <a:gd name="connsiteX3" fmla="*/ 0 w 3657600"/>
                <a:gd name="connsiteY3" fmla="*/ 365760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0" h="3657600">
                  <a:moveTo>
                    <a:pt x="0" y="3657600"/>
                  </a:moveTo>
                  <a:lnTo>
                    <a:pt x="3657600" y="3657600"/>
                  </a:lnTo>
                  <a:lnTo>
                    <a:pt x="3657600" y="0"/>
                  </a:lnTo>
                  <a:cubicBezTo>
                    <a:pt x="3657600" y="2019967"/>
                    <a:pt x="2020157" y="3657600"/>
                    <a:pt x="0" y="365760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b="0" i="0" dirty="0">
                <a:latin typeface="Inter" panose="020B05020300000000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ABBCB48-EC75-D045-B743-870DDC262C0D}"/>
              </a:ext>
            </a:extLst>
          </p:cNvPr>
          <p:cNvSpPr txBox="1"/>
          <p:nvPr userDrawn="1"/>
        </p:nvSpPr>
        <p:spPr>
          <a:xfrm>
            <a:off x="-24384" y="-633984"/>
            <a:ext cx="1176528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i="0" dirty="0">
                <a:highlight>
                  <a:srgbClr val="FFFF00"/>
                </a:highlight>
                <a:latin typeface="Inter" panose="020B0502030000000004" pitchFamily="34" charset="0"/>
              </a:rPr>
              <a:t>TO ADD PHOTO: 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Click on the photo placeholder icon and upload a new image. To adjust position, use the “Crop” tool under “Picture Format.” </a:t>
            </a:r>
            <a:b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</a:b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</a:rPr>
              <a:t>Use Ellucian approved photos from Box—</a:t>
            </a:r>
            <a:r>
              <a:rPr lang="en-US" sz="1333" b="0" i="0" dirty="0">
                <a:highlight>
                  <a:srgbClr val="FFFF00"/>
                </a:highlight>
                <a:latin typeface="Inter" panose="020B0502030000000004" pitchFamily="34" charset="0"/>
                <a:hlinkClick r:id="rId2"/>
              </a:rPr>
              <a:t>https://ellucian.box.com/s/w49fplksvbjyioohfht5k9gssu2rmavn</a:t>
            </a:r>
            <a:endParaRPr lang="en-US" sz="1333" b="0" i="0" dirty="0">
              <a:highlight>
                <a:srgbClr val="FFFF00"/>
              </a:highlight>
              <a:latin typeface="Inter" panose="020B0502030000000004" pitchFamily="34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E6DB809B-2476-1A4A-AD65-450ACFDA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200"/>
            <a:ext cx="5486400" cy="268224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4267" b="1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44DCF71-1761-9C41-B1E7-7652014E54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" y="4206240"/>
            <a:ext cx="5486400" cy="12192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1733">
                <a:solidFill>
                  <a:schemeClr val="accent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>
              <a:defRPr sz="1733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96636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3568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9572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249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356257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45122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13529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76225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9822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1105189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336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579169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8526656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221681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5544721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319353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D2F5B88-5B3E-16A3-0047-1C247A40A8BD}"/>
              </a:ext>
            </a:extLst>
          </p:cNvPr>
          <p:cNvSpPr txBox="1"/>
          <p:nvPr userDrawn="1"/>
        </p:nvSpPr>
        <p:spPr>
          <a:xfrm>
            <a:off x="9710428" y="6564371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474819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06C2E3-318A-F16A-6DC7-172513DB5834}"/>
              </a:ext>
            </a:extLst>
          </p:cNvPr>
          <p:cNvSpPr txBox="1"/>
          <p:nvPr userDrawn="1"/>
        </p:nvSpPr>
        <p:spPr>
          <a:xfrm>
            <a:off x="9710428" y="6564371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27911542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9403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376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118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062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496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34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474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5085767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771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6594988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3002707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99305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116353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892311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95478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47977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91931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F38CEF-4670-014B-F00D-DC1FC65D0653}"/>
              </a:ext>
            </a:extLst>
          </p:cNvPr>
          <p:cNvSpPr/>
          <p:nvPr userDrawn="1"/>
        </p:nvSpPr>
        <p:spPr>
          <a:xfrm>
            <a:off x="9197266" y="6480699"/>
            <a:ext cx="2396971" cy="240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5E640D-131E-B884-DB48-5F02DC2AB914}"/>
              </a:ext>
            </a:extLst>
          </p:cNvPr>
          <p:cNvSpPr txBox="1"/>
          <p:nvPr userDrawn="1"/>
        </p:nvSpPr>
        <p:spPr>
          <a:xfrm>
            <a:off x="9710428" y="6564371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1016169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16D65B-9FA7-3D87-8F7C-4DB7A3680AD2}"/>
              </a:ext>
            </a:extLst>
          </p:cNvPr>
          <p:cNvSpPr/>
          <p:nvPr userDrawn="1"/>
        </p:nvSpPr>
        <p:spPr>
          <a:xfrm>
            <a:off x="9250532" y="6525087"/>
            <a:ext cx="2331865" cy="196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BBC387-4AC4-B6CC-1491-22D6EA25D1A9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813617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48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2722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92721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532671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35050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59370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4202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9196879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847460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3099358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0697435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177126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926767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5428857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64401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80108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681866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789133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45186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87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9" Type="http://schemas.openxmlformats.org/officeDocument/2006/relationships/image" Target="../media/image12.svg"/><Relationship Id="rId21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38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slideLayout" Target="../slideLayouts/slideLayout69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7.xml"/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06F4DB05-6F54-1E44-BFD7-97A1C3FAA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764331" y="3441543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1000">
                <a:schemeClr val="bg2"/>
              </a:gs>
              <a:gs pos="85000">
                <a:schemeClr val="bg1"/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31FC072-EF0B-3F4E-BF2A-71ABF8790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16200000">
            <a:off x="8764331" y="-1104"/>
            <a:ext cx="3438144" cy="3438144"/>
          </a:xfrm>
          <a:custGeom>
            <a:avLst/>
            <a:gdLst>
              <a:gd name="connsiteX0" fmla="*/ 0 w 3657600"/>
              <a:gd name="connsiteY0" fmla="*/ 3657600 h 3657600"/>
              <a:gd name="connsiteX1" fmla="*/ 3657600 w 3657600"/>
              <a:gd name="connsiteY1" fmla="*/ 3657600 h 3657600"/>
              <a:gd name="connsiteX2" fmla="*/ 3657600 w 3657600"/>
              <a:gd name="connsiteY2" fmla="*/ 0 h 3657600"/>
              <a:gd name="connsiteX3" fmla="*/ 0 w 3657600"/>
              <a:gd name="connsiteY3" fmla="*/ 36576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7600">
                <a:moveTo>
                  <a:pt x="0" y="3657600"/>
                </a:moveTo>
                <a:lnTo>
                  <a:pt x="3657600" y="3657600"/>
                </a:lnTo>
                <a:lnTo>
                  <a:pt x="3657600" y="0"/>
                </a:lnTo>
                <a:cubicBezTo>
                  <a:pt x="3657600" y="2019967"/>
                  <a:pt x="2020157" y="3657600"/>
                  <a:pt x="0" y="3657600"/>
                </a:cubicBezTo>
                <a:close/>
              </a:path>
            </a:pathLst>
          </a:custGeom>
          <a:gradFill flip="none" rotWithShape="1">
            <a:gsLst>
              <a:gs pos="15000">
                <a:srgbClr val="E6ECEE"/>
              </a:gs>
              <a:gs pos="100000">
                <a:schemeClr val="bg1"/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200" b="0" i="0" dirty="0">
              <a:latin typeface="Inter" panose="020B05020300000000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363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84960"/>
            <a:ext cx="9509760" cy="4389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6E7B0-1A2B-3943-B032-6192B06223C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6449569"/>
            <a:ext cx="694944" cy="1470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84C06C-D0EB-9B46-9DB4-68269BEEC3C3}"/>
              </a:ext>
            </a:extLst>
          </p:cNvPr>
          <p:cNvSpPr txBox="1"/>
          <p:nvPr/>
        </p:nvSpPr>
        <p:spPr>
          <a:xfrm>
            <a:off x="1743456" y="6425248"/>
            <a:ext cx="2414016" cy="328231"/>
          </a:xfrm>
          <a:prstGeom prst="rect">
            <a:avLst/>
          </a:prstGeom>
          <a:noFill/>
        </p:spPr>
        <p:txBody>
          <a:bodyPr wrap="square" tIns="121920" bIns="121920" rtlCol="0" anchor="b" anchorCtr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33" b="0" i="0" dirty="0">
                <a:latin typeface="Inter" panose="020B0502030000000004" pitchFamily="34" charset="0"/>
              </a:rPr>
              <a:t>© 2021 ELLUCIAN | CONFIDENTIAL &amp; PROPRIETARY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DCB9302-6871-9646-83AE-9612D7D0D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32" y="6429791"/>
            <a:ext cx="353568" cy="307777"/>
          </a:xfrm>
          <a:prstGeom prst="rect">
            <a:avLst/>
          </a:prstGeom>
        </p:spPr>
        <p:txBody>
          <a:bodyPr vert="horz" lIns="0" tIns="91440" rIns="0" bIns="9144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</a:lstStyle>
          <a:p>
            <a:fld id="{6A8406A2-BE38-40C5-BF5C-8249FE223FB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3856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1pPr>
    </p:titleStyle>
    <p:bodyStyle>
      <a:lvl1pPr marL="451093" indent="-451093" algn="l" defTabSz="914377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400" b="1" kern="1200">
          <a:solidFill>
            <a:srgbClr val="691B76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1pPr>
      <a:lvl2pPr marL="231642" indent="-228594" algn="l" defTabSz="914377" rtl="0" eaLnBrk="1" latinLnBrk="0" hangingPunct="1">
        <a:lnSpc>
          <a:spcPct val="95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2pPr>
      <a:lvl3pPr marL="536435" indent="-228594" algn="l" defTabSz="914377" rtl="0" eaLnBrk="1" latinLnBrk="0" hangingPunct="1">
        <a:lnSpc>
          <a:spcPct val="100000"/>
        </a:lnSpc>
        <a:spcBef>
          <a:spcPts val="1200"/>
        </a:spcBef>
        <a:buClr>
          <a:srgbClr val="691B76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3pPr>
      <a:lvl4pPr marL="768077" indent="-228594" algn="l" defTabSz="914377" rtl="0" eaLnBrk="1" latinLnBrk="0" hangingPunct="1">
        <a:lnSpc>
          <a:spcPct val="100000"/>
        </a:lnSpc>
        <a:spcBef>
          <a:spcPts val="1200"/>
        </a:spcBef>
        <a:buClr>
          <a:srgbClr val="45A1AA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4pPr>
      <a:lvl5pPr marL="1072869" indent="-228594" algn="l" defTabSz="914377" rtl="0" eaLnBrk="1" latinLnBrk="0" hangingPunct="1">
        <a:lnSpc>
          <a:spcPct val="100000"/>
        </a:lnSpc>
        <a:spcBef>
          <a:spcPts val="1200"/>
        </a:spcBef>
        <a:buFont typeface="System Font Regular"/>
        <a:buChar char="–"/>
        <a:defRPr sz="240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Inter" panose="020B05020300000000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50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5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1740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51" r:id="rId35"/>
    <p:sldLayoutId id="2147483752" r:id="rId36"/>
    <p:sldLayoutId id="2147483753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07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BEE5DF-3E4A-DD42-B614-A24A8DC3D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243" y="1785542"/>
            <a:ext cx="5688450" cy="2330574"/>
          </a:xfrm>
        </p:spPr>
        <p:txBody>
          <a:bodyPr/>
          <a:lstStyle/>
          <a:p>
            <a:r>
              <a:rPr lang="es-419" dirty="0"/>
              <a:t>Registrar y Validar el cumplimiento de los Requisitos de Graduación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9595EF-8D34-79FA-785B-D3F200F357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324961"/>
          </a:xfrm>
        </p:spPr>
        <p:txBody>
          <a:bodyPr/>
          <a:lstStyle/>
          <a:p>
            <a:r>
              <a:rPr lang="es-419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11EA418-4AF1-5B15-6247-218717EE3F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419" dirty="0"/>
              <a:t>Universidad Señor de SIPAN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D90CF6F-A277-254A-DD1D-471511D1D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Julio, 2026</a:t>
            </a:r>
          </a:p>
        </p:txBody>
      </p:sp>
      <p:pic>
        <p:nvPicPr>
          <p:cNvPr id="10" name="Marcador de posición de imagen 9" descr="Hombre sentado en una mesa&#10;&#10;El contenido generado por IA puede ser incorrecto.">
            <a:extLst>
              <a:ext uri="{FF2B5EF4-FFF2-40B4-BE49-F238E27FC236}">
                <a16:creationId xmlns:a16="http://schemas.microsoft.com/office/drawing/2014/main" id="{9C892A6B-D0FA-863B-4D1C-F4BB5D08353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76622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Ajustes de alumno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084200"/>
              </p:ext>
            </p:extLst>
          </p:nvPr>
        </p:nvGraphicFramePr>
        <p:xfrm>
          <a:off x="886672" y="729604"/>
          <a:ext cx="9058128" cy="5442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Definiciones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Selección</a:t>
                      </a: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 de población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Configuraciones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2800" b="1" dirty="0">
                          <a:solidFill>
                            <a:schemeClr val="bg1"/>
                          </a:solidFill>
                        </a:rPr>
                        <a:t>Gestionar el Otorgamiento y registro de Grado - SHADEGR</a:t>
                      </a:r>
                    </a:p>
                    <a:p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351350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06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Resumen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65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Ajustes de alumno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67919" y="3292782"/>
            <a:ext cx="2514031" cy="68866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AA7A-5F31-D7C0-D673-24052C7A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3249019-65A4-D9F4-CB0C-60A5F633A3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825099"/>
            <a:ext cx="9698935" cy="2746902"/>
          </a:xfrm>
        </p:spPr>
        <p:txBody>
          <a:bodyPr anchor="ctr"/>
          <a:lstStyle/>
          <a:p>
            <a:pPr marL="0" indent="0" algn="just">
              <a:buClr>
                <a:srgbClr val="0CB4B4"/>
              </a:buClr>
              <a:buNone/>
            </a:pPr>
            <a:r>
              <a:rPr lang="es-CO" sz="2400" dirty="0"/>
              <a:t>En la Capacidad de negocio de “Otorgamiento del Título y Ceremonia de Graduación del Estudiante” se incluyen todas las actividades destinadas al otorgamiento de títulos (y otros reconocimientos) a estudiantes que han cumplido con los requisitos correspondientes.</a:t>
            </a:r>
            <a:endParaRPr lang="es-ES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090E525-E594-D00C-F198-F1796BCF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L" b="0" dirty="0">
                <a:solidFill>
                  <a:schemeClr val="accent1"/>
                </a:solidFill>
              </a:rPr>
              <a:t>Capacidad Otorgamiento del Título y </a:t>
            </a:r>
            <a:r>
              <a:rPr lang="es-CL" b="0" dirty="0" err="1">
                <a:solidFill>
                  <a:schemeClr val="accent1"/>
                </a:solidFill>
              </a:rPr>
              <a:t>Ceremonía</a:t>
            </a:r>
            <a:r>
              <a:rPr lang="es-CL" b="0" dirty="0">
                <a:solidFill>
                  <a:schemeClr val="accent1"/>
                </a:solidFill>
              </a:rPr>
              <a:t> del estudiante</a:t>
            </a:r>
          </a:p>
        </p:txBody>
      </p:sp>
      <p:sp>
        <p:nvSpPr>
          <p:cNvPr id="6" name="Vertical Text Placeholder 3">
            <a:extLst>
              <a:ext uri="{FF2B5EF4-FFF2-40B4-BE49-F238E27FC236}">
                <a16:creationId xmlns:a16="http://schemas.microsoft.com/office/drawing/2014/main" id="{A49C5CEF-8FA1-0672-58E4-174948BA0B8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30054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450195"/>
            <a:ext cx="9698935" cy="2746902"/>
          </a:xfrm>
        </p:spPr>
        <p:txBody>
          <a:bodyPr anchor="ctr"/>
          <a:lstStyle/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b="1" dirty="0"/>
              <a:t>Gestión de Elegibilidad para Titulación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Gestión de Eventos de Graduación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Actividades </a:t>
            </a:r>
            <a:r>
              <a:rPr lang="es-ES" sz="2400" dirty="0" err="1"/>
              <a:t>Cocurriculares</a:t>
            </a:r>
            <a:endParaRPr lang="es-ES" sz="2400" dirty="0"/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Procesamiento de Otorgamiento de Título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L" b="0" dirty="0">
                <a:solidFill>
                  <a:schemeClr val="accent1"/>
                </a:solidFill>
              </a:rPr>
              <a:t>Capacidad Otorgamiento del Título y Ceremonia del estudiante</a:t>
            </a:r>
          </a:p>
        </p:txBody>
      </p:sp>
      <p:sp>
        <p:nvSpPr>
          <p:cNvPr id="11" name="Vertical Text Placeholder 3">
            <a:extLst>
              <a:ext uri="{FF2B5EF4-FFF2-40B4-BE49-F238E27FC236}">
                <a16:creationId xmlns:a16="http://schemas.microsoft.com/office/drawing/2014/main" id="{DB157260-0FEB-2D58-8CF0-923F614781E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29768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1DA2-83AE-9A3F-788A-8CB00D83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631C02-5117-05BD-0103-5D2E416E27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16539"/>
            <a:ext cx="9698935" cy="2746902"/>
          </a:xfrm>
        </p:spPr>
        <p:txBody>
          <a:bodyPr anchor="ctr"/>
          <a:lstStyle/>
          <a:p>
            <a:pPr marL="0" indent="0" algn="just">
              <a:buClr>
                <a:srgbClr val="0CB4B4"/>
              </a:buClr>
              <a:buNone/>
            </a:pPr>
            <a:r>
              <a:rPr lang="es-CO" sz="2400" dirty="0"/>
              <a:t>Conjunto de acciones orientadas a verificar el cumplimiento de los requisitos académicos, financieros y administrativos de los estudiantes, con el fin de determinar cuáles cumplen las condiciones necesarias para su cambio de estado a Egresado, Graduado, Titulado u otros definidos por la institución.</a:t>
            </a:r>
            <a:endParaRPr lang="es-ES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5AD896-91FA-AF0D-76FA-36DEC47B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6" name="Vertical Text Placeholder 3">
            <a:extLst>
              <a:ext uri="{FF2B5EF4-FFF2-40B4-BE49-F238E27FC236}">
                <a16:creationId xmlns:a16="http://schemas.microsoft.com/office/drawing/2014/main" id="{57D770C6-54DC-1C76-479B-4E83C4D4857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57200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67839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 de cajas y bigotes&#10;&#10;Descripción generada automáticamente con confianza media">
            <a:extLst>
              <a:ext uri="{FF2B5EF4-FFF2-40B4-BE49-F238E27FC236}">
                <a16:creationId xmlns:a16="http://schemas.microsoft.com/office/drawing/2014/main" id="{D7C94707-9901-26C5-BFF7-C231E82B59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r="4359"/>
          <a:stretch/>
        </p:blipFill>
        <p:spPr bwMode="auto">
          <a:xfrm>
            <a:off x="1375410" y="2664396"/>
            <a:ext cx="9974574" cy="16698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ítulo 3">
            <a:extLst>
              <a:ext uri="{FF2B5EF4-FFF2-40B4-BE49-F238E27FC236}">
                <a16:creationId xmlns:a16="http://schemas.microsoft.com/office/drawing/2014/main" id="{0A0E0E34-F93E-1FF7-3FE4-774D5008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8" y="450612"/>
            <a:ext cx="10477497" cy="898555"/>
          </a:xfrm>
        </p:spPr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2" name="Vertical Text Placeholder 3">
            <a:extLst>
              <a:ext uri="{FF2B5EF4-FFF2-40B4-BE49-F238E27FC236}">
                <a16:creationId xmlns:a16="http://schemas.microsoft.com/office/drawing/2014/main" id="{257E195E-D6B5-B928-EAEA-D38084F14F1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50612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8921175" y="2785533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pic>
        <p:nvPicPr>
          <p:cNvPr id="2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238B5655-81CE-5FC5-9E73-F6B8AF61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59" y="1312731"/>
            <a:ext cx="5219641" cy="521964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6FFA109-F238-8D01-1B09-6931DE8E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0" y="236522"/>
            <a:ext cx="10477497" cy="898555"/>
          </a:xfrm>
        </p:spPr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Vertical Text Placeholder 3">
            <a:extLst>
              <a:ext uri="{FF2B5EF4-FFF2-40B4-BE49-F238E27FC236}">
                <a16:creationId xmlns:a16="http://schemas.microsoft.com/office/drawing/2014/main" id="{11A38AE9-737A-335F-7DFD-ADB2E57CC4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45723" y="429768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F1BF-A5A3-1917-4E10-67DA826E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B0AFECD-FB59-5B05-8067-72A16F0CDC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377042"/>
            <a:ext cx="9698935" cy="3737745"/>
          </a:xfrm>
        </p:spPr>
        <p:txBody>
          <a:bodyPr anchor="ctr"/>
          <a:lstStyle/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CO" sz="2400" dirty="0"/>
              <a:t>Registrar los requisitos adicionales (si aplica) al estudiante. 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CO" sz="2400" dirty="0"/>
              <a:t>Realizar los cambios de estado, previa validación del cumplimiento de los requisitos académicos, no académicos y financieros que correspondan. </a:t>
            </a:r>
            <a:endParaRPr lang="es-ES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3622597-7E0F-6CA4-C349-576316BB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O" b="0" dirty="0">
                <a:solidFill>
                  <a:schemeClr val="accent1"/>
                </a:solidFill>
              </a:rPr>
              <a:t>Registrar y Validar el Cumplimiento de los Requisitos de Graduación o titulación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Vertical Text Placeholder 3">
            <a:extLst>
              <a:ext uri="{FF2B5EF4-FFF2-40B4-BE49-F238E27FC236}">
                <a16:creationId xmlns:a16="http://schemas.microsoft.com/office/drawing/2014/main" id="{4D840E70-439A-9A39-E546-7D03A8B85D3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Registrar y Validar el cumplimiento de los requisitos de graduación</a:t>
            </a:r>
          </a:p>
        </p:txBody>
      </p:sp>
    </p:spTree>
    <p:extLst>
      <p:ext uri="{BB962C8B-B14F-4D97-AF65-F5344CB8AC3E}">
        <p14:creationId xmlns:p14="http://schemas.microsoft.com/office/powerpoint/2010/main" val="100861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C3AF-9AC9-9F62-58A0-7584E9E3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BC542B71-17A9-45E7-827F-9FC5D64E2FB5}"/>
              </a:ext>
            </a:extLst>
          </p:cNvPr>
          <p:cNvSpPr txBox="1">
            <a:spLocks/>
          </p:cNvSpPr>
          <p:nvPr/>
        </p:nvSpPr>
        <p:spPr>
          <a:xfrm>
            <a:off x="1104900" y="45212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L" b="0" dirty="0">
                <a:solidFill>
                  <a:schemeClr val="accent1"/>
                </a:solidFill>
              </a:rPr>
              <a:t>Procedimiento Validar el cumplimiento de Requisitos de Graduación</a:t>
            </a:r>
            <a:endParaRPr lang="es-419" b="0" dirty="0">
              <a:solidFill>
                <a:schemeClr val="accent1"/>
              </a:solidFill>
            </a:endParaRPr>
          </a:p>
          <a:p>
            <a:endParaRPr lang="es-419" sz="32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E73561C-98C9-6817-AB66-6EA024E73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1" y="1350675"/>
            <a:ext cx="9375777" cy="490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Vertical Text Placeholder 3">
            <a:extLst>
              <a:ext uri="{FF2B5EF4-FFF2-40B4-BE49-F238E27FC236}">
                <a16:creationId xmlns:a16="http://schemas.microsoft.com/office/drawing/2014/main" id="{8E9C253B-CD7B-A443-2671-F2BFC9E7A79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Registrar y Validar el cumplimiento de los requisitos de graduación</a:t>
            </a:r>
          </a:p>
        </p:txBody>
      </p:sp>
    </p:spTree>
    <p:extLst>
      <p:ext uri="{BB962C8B-B14F-4D97-AF65-F5344CB8AC3E}">
        <p14:creationId xmlns:p14="http://schemas.microsoft.com/office/powerpoint/2010/main" val="118251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7D40-BAC3-79E4-1B7D-C8A695D8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F5534D-39C0-DDF4-F466-2556D6D29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Definiciones</a:t>
            </a:r>
          </a:p>
        </p:txBody>
      </p:sp>
    </p:spTree>
    <p:extLst>
      <p:ext uri="{BB962C8B-B14F-4D97-AF65-F5344CB8AC3E}">
        <p14:creationId xmlns:p14="http://schemas.microsoft.com/office/powerpoint/2010/main" val="172962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361089-3DF3-31A8-D663-7F51DCCB2726}"/>
              </a:ext>
            </a:extLst>
          </p:cNvPr>
          <p:cNvSpPr/>
          <p:nvPr/>
        </p:nvSpPr>
        <p:spPr>
          <a:xfrm>
            <a:off x="287685" y="1906260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62B8F-A496-BE2A-9F89-6458595D3D2D}"/>
              </a:ext>
            </a:extLst>
          </p:cNvPr>
          <p:cNvSpPr/>
          <p:nvPr/>
        </p:nvSpPr>
        <p:spPr>
          <a:xfrm>
            <a:off x="287685" y="5665582"/>
            <a:ext cx="2162646" cy="880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41E7A10-249D-9DF4-56B6-F057C5C6FB21}"/>
              </a:ext>
            </a:extLst>
          </p:cNvPr>
          <p:cNvSpPr/>
          <p:nvPr/>
        </p:nvSpPr>
        <p:spPr>
          <a:xfrm>
            <a:off x="287685" y="1906256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F3A27-EA45-D8CF-BB45-38C3ABC0830C}"/>
              </a:ext>
            </a:extLst>
          </p:cNvPr>
          <p:cNvSpPr txBox="1"/>
          <p:nvPr/>
        </p:nvSpPr>
        <p:spPr>
          <a:xfrm>
            <a:off x="385261" y="2103238"/>
            <a:ext cx="1967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Egresado</a:t>
            </a:r>
            <a:endParaRPr lang="en-US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5B4F8-7FF1-9A5F-094B-641477821D32}"/>
              </a:ext>
            </a:extLst>
          </p:cNvPr>
          <p:cNvSpPr txBox="1"/>
          <p:nvPr/>
        </p:nvSpPr>
        <p:spPr>
          <a:xfrm>
            <a:off x="385261" y="3210343"/>
            <a:ext cx="1967494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Estudiante que ha cumplido todos los requerimientos académicos de la malla curricular, incluido los requisitos de idiomas, computación y emprendimiento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49CDD-C030-AACD-96F3-3AAC09653BD7}"/>
              </a:ext>
            </a:extLst>
          </p:cNvPr>
          <p:cNvSpPr/>
          <p:nvPr/>
        </p:nvSpPr>
        <p:spPr>
          <a:xfrm>
            <a:off x="2651181" y="1906260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7DB51-7FAA-A3E4-24DC-38AD54E30D66}"/>
              </a:ext>
            </a:extLst>
          </p:cNvPr>
          <p:cNvSpPr/>
          <p:nvPr/>
        </p:nvSpPr>
        <p:spPr>
          <a:xfrm>
            <a:off x="2651181" y="5665582"/>
            <a:ext cx="2162646" cy="88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F973750-F8B8-CABA-4ACF-FCDD9C083A71}"/>
              </a:ext>
            </a:extLst>
          </p:cNvPr>
          <p:cNvSpPr/>
          <p:nvPr/>
        </p:nvSpPr>
        <p:spPr>
          <a:xfrm>
            <a:off x="2651181" y="1906256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60B87-7F62-116A-6783-6C4C523367F3}"/>
              </a:ext>
            </a:extLst>
          </p:cNvPr>
          <p:cNvSpPr txBox="1"/>
          <p:nvPr/>
        </p:nvSpPr>
        <p:spPr>
          <a:xfrm>
            <a:off x="2748757" y="2103238"/>
            <a:ext cx="1967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/>
              <a:t>Titulado</a:t>
            </a:r>
            <a:endParaRPr lang="en-US" sz="16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F2E9D-8F65-39F4-CAA5-39EFE3E5C8FC}"/>
              </a:ext>
            </a:extLst>
          </p:cNvPr>
          <p:cNvSpPr txBox="1"/>
          <p:nvPr/>
        </p:nvSpPr>
        <p:spPr>
          <a:xfrm>
            <a:off x="2748757" y="3210343"/>
            <a:ext cx="1967494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Estudiante con Título profesional, aplica para los estudiantes de pregrado con el Grado de Bachiller Académico y tener la tesis aprobada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EEB45F-CEA7-43A4-3D6B-07929F048B29}"/>
              </a:ext>
            </a:extLst>
          </p:cNvPr>
          <p:cNvSpPr/>
          <p:nvPr/>
        </p:nvSpPr>
        <p:spPr>
          <a:xfrm>
            <a:off x="5014677" y="1906260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EA9BF3-66F7-2291-2644-3698CBDC64AD}"/>
              </a:ext>
            </a:extLst>
          </p:cNvPr>
          <p:cNvSpPr/>
          <p:nvPr/>
        </p:nvSpPr>
        <p:spPr>
          <a:xfrm>
            <a:off x="5014677" y="5665582"/>
            <a:ext cx="2162646" cy="880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1628D55-38DD-AF56-B8BA-479120C33722}"/>
              </a:ext>
            </a:extLst>
          </p:cNvPr>
          <p:cNvSpPr/>
          <p:nvPr/>
        </p:nvSpPr>
        <p:spPr>
          <a:xfrm>
            <a:off x="5014677" y="1906256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D6D35-52F5-1051-98A4-B1B8CAA21731}"/>
              </a:ext>
            </a:extLst>
          </p:cNvPr>
          <p:cNvSpPr txBox="1"/>
          <p:nvPr/>
        </p:nvSpPr>
        <p:spPr>
          <a:xfrm>
            <a:off x="5112253" y="2103238"/>
            <a:ext cx="1967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Graduado</a:t>
            </a:r>
            <a:endParaRPr lang="en-US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BAF92C-0688-D9BA-F9AA-D772F31E0E6C}"/>
              </a:ext>
            </a:extLst>
          </p:cNvPr>
          <p:cNvSpPr txBox="1"/>
          <p:nvPr/>
        </p:nvSpPr>
        <p:spPr>
          <a:xfrm>
            <a:off x="5112253" y="3210343"/>
            <a:ext cx="1967494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Estudiante con:</a:t>
            </a:r>
          </a:p>
          <a:p>
            <a:pPr>
              <a:spcAft>
                <a:spcPts val="600"/>
              </a:spcAft>
            </a:pPr>
            <a:r>
              <a:rPr lang="es-CO" sz="1400" dirty="0"/>
              <a:t>Grado bachiller: aplica para los estudiantes de pregrado</a:t>
            </a:r>
          </a:p>
          <a:p>
            <a:pPr>
              <a:spcAft>
                <a:spcPts val="600"/>
              </a:spcAft>
            </a:pPr>
            <a:r>
              <a:rPr lang="es-CO" sz="1400" dirty="0"/>
              <a:t>Grado Maestro: Aplica para los estudiantes de Maestría</a:t>
            </a:r>
          </a:p>
          <a:p>
            <a:pPr>
              <a:spcAft>
                <a:spcPts val="600"/>
              </a:spcAft>
            </a:pPr>
            <a:r>
              <a:rPr lang="es-CO" sz="1400" dirty="0"/>
              <a:t>Grado Doctorado: Aplica para los estudiantes de Doctorado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AA766-4E40-0F16-AAD9-E868F9E7B7EC}"/>
              </a:ext>
            </a:extLst>
          </p:cNvPr>
          <p:cNvSpPr/>
          <p:nvPr/>
        </p:nvSpPr>
        <p:spPr>
          <a:xfrm>
            <a:off x="7378173" y="1906260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78F847-EED7-1FF4-CCB8-32E6CBE7F513}"/>
              </a:ext>
            </a:extLst>
          </p:cNvPr>
          <p:cNvSpPr/>
          <p:nvPr/>
        </p:nvSpPr>
        <p:spPr>
          <a:xfrm>
            <a:off x="7378173" y="5665582"/>
            <a:ext cx="2162646" cy="880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B13EBC0-5108-3A44-30D5-05C5C43D0150}"/>
              </a:ext>
            </a:extLst>
          </p:cNvPr>
          <p:cNvSpPr/>
          <p:nvPr/>
        </p:nvSpPr>
        <p:spPr>
          <a:xfrm>
            <a:off x="7378173" y="1906256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C732C8-81E2-AFE6-1614-B42147F02B8B}"/>
              </a:ext>
            </a:extLst>
          </p:cNvPr>
          <p:cNvSpPr txBox="1"/>
          <p:nvPr/>
        </p:nvSpPr>
        <p:spPr>
          <a:xfrm>
            <a:off x="7475749" y="2103238"/>
            <a:ext cx="1967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/>
              <a:t>Evento</a:t>
            </a:r>
            <a:endParaRPr lang="en-US" sz="16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511EB-5119-8DDC-A897-11A98A27BFF0}"/>
              </a:ext>
            </a:extLst>
          </p:cNvPr>
          <p:cNvSpPr txBox="1"/>
          <p:nvPr/>
        </p:nvSpPr>
        <p:spPr>
          <a:xfrm>
            <a:off x="7475749" y="3210343"/>
            <a:ext cx="1967494" cy="2169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Actividad que requiere de algún espacio físico para desarrollarse, en la cual se pueden inscribir estudiantes o personas fuera de la institución. Ejemplo: charlas, exposiciones, ceremonias de graduación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F900A-1ED7-B3C1-169B-70A955AD02DC}"/>
              </a:ext>
            </a:extLst>
          </p:cNvPr>
          <p:cNvSpPr/>
          <p:nvPr/>
        </p:nvSpPr>
        <p:spPr>
          <a:xfrm>
            <a:off x="9741670" y="1906260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54D864-EC17-1574-DDDB-C3E295362EBF}"/>
              </a:ext>
            </a:extLst>
          </p:cNvPr>
          <p:cNvSpPr/>
          <p:nvPr/>
        </p:nvSpPr>
        <p:spPr>
          <a:xfrm>
            <a:off x="9741670" y="5665582"/>
            <a:ext cx="2162646" cy="880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B9C3562-D212-EE08-524A-EA739596C6A6}"/>
              </a:ext>
            </a:extLst>
          </p:cNvPr>
          <p:cNvSpPr/>
          <p:nvPr/>
        </p:nvSpPr>
        <p:spPr>
          <a:xfrm>
            <a:off x="9741670" y="1906256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FFCA3-1909-98FB-5AA7-047A39182646}"/>
              </a:ext>
            </a:extLst>
          </p:cNvPr>
          <p:cNvSpPr txBox="1"/>
          <p:nvPr/>
        </p:nvSpPr>
        <p:spPr>
          <a:xfrm>
            <a:off x="9839246" y="2103238"/>
            <a:ext cx="196749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No </a:t>
            </a:r>
            <a:r>
              <a:rPr lang="en-US" sz="1600" b="1" dirty="0" err="1">
                <a:solidFill>
                  <a:schemeClr val="bg1"/>
                </a:solidFill>
              </a:rPr>
              <a:t>curso</a:t>
            </a:r>
            <a:r>
              <a:rPr lang="en-US" sz="1600" b="1" dirty="0">
                <a:solidFill>
                  <a:schemeClr val="bg1"/>
                </a:solidFill>
              </a:rPr>
              <a:t> -</a:t>
            </a:r>
            <a:r>
              <a:rPr lang="en-US" sz="1600" b="1" dirty="0" err="1">
                <a:solidFill>
                  <a:schemeClr val="bg1"/>
                </a:solidFill>
              </a:rPr>
              <a:t>requisito</a:t>
            </a:r>
            <a:r>
              <a:rPr lang="en-US" sz="1600" b="1" dirty="0">
                <a:solidFill>
                  <a:schemeClr val="bg1"/>
                </a:solidFill>
              </a:rPr>
              <a:t> cocurricular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C374F9-124B-C2BC-0600-6A31882CC186}"/>
              </a:ext>
            </a:extLst>
          </p:cNvPr>
          <p:cNvSpPr txBox="1"/>
          <p:nvPr/>
        </p:nvSpPr>
        <p:spPr>
          <a:xfrm>
            <a:off x="9839246" y="3210343"/>
            <a:ext cx="196749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Corresponde a todos los requisitos que un estudiante necesita para obtener su grado o título y que no están contemplados dentro de su malla curricular y que son definidos por la Institución.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638C20-D746-EFB7-9E43-3F4A0B00F306}"/>
              </a:ext>
            </a:extLst>
          </p:cNvPr>
          <p:cNvSpPr txBox="1"/>
          <p:nvPr/>
        </p:nvSpPr>
        <p:spPr>
          <a:xfrm>
            <a:off x="1057983" y="554087"/>
            <a:ext cx="10076033" cy="4460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dirty="0"/>
              <a:t>DEFINICIONES</a:t>
            </a:r>
          </a:p>
        </p:txBody>
      </p:sp>
    </p:spTree>
    <p:extLst>
      <p:ext uri="{BB962C8B-B14F-4D97-AF65-F5344CB8AC3E}">
        <p14:creationId xmlns:p14="http://schemas.microsoft.com/office/powerpoint/2010/main" val="1395229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00AE-C44E-3F3A-7F72-D65BF293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7DDEA-F45F-979A-C091-16D8B383A05F}"/>
              </a:ext>
            </a:extLst>
          </p:cNvPr>
          <p:cNvSpPr/>
          <p:nvPr/>
        </p:nvSpPr>
        <p:spPr>
          <a:xfrm>
            <a:off x="315831" y="1851514"/>
            <a:ext cx="2072998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D84422-0064-17F0-B67D-8A3967B9D8B9}"/>
              </a:ext>
            </a:extLst>
          </p:cNvPr>
          <p:cNvSpPr/>
          <p:nvPr/>
        </p:nvSpPr>
        <p:spPr>
          <a:xfrm>
            <a:off x="315831" y="5610836"/>
            <a:ext cx="2072998" cy="880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1893BD3-E5C2-AE7E-99FE-A1491BBB908B}"/>
              </a:ext>
            </a:extLst>
          </p:cNvPr>
          <p:cNvSpPr/>
          <p:nvPr/>
        </p:nvSpPr>
        <p:spPr>
          <a:xfrm>
            <a:off x="315831" y="1851510"/>
            <a:ext cx="2072998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97CAE-E67D-5D07-7E5C-9DFED39213A4}"/>
              </a:ext>
            </a:extLst>
          </p:cNvPr>
          <p:cNvSpPr txBox="1"/>
          <p:nvPr/>
        </p:nvSpPr>
        <p:spPr>
          <a:xfrm>
            <a:off x="413407" y="2048492"/>
            <a:ext cx="188593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Solicitud</a:t>
            </a:r>
            <a:r>
              <a:rPr lang="en-US" sz="1600" b="1" dirty="0">
                <a:solidFill>
                  <a:schemeClr val="bg1"/>
                </a:solidFill>
              </a:rPr>
              <a:t> de </a:t>
            </a:r>
            <a:r>
              <a:rPr lang="en-US" sz="1600" b="1" dirty="0" err="1">
                <a:solidFill>
                  <a:schemeClr val="bg1"/>
                </a:solidFill>
              </a:rPr>
              <a:t>Servicios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FA7A8-CBD4-5876-E7D9-C670265B7847}"/>
              </a:ext>
            </a:extLst>
          </p:cNvPr>
          <p:cNvSpPr txBox="1"/>
          <p:nvPr/>
        </p:nvSpPr>
        <p:spPr>
          <a:xfrm>
            <a:off x="413407" y="3155597"/>
            <a:ext cx="188593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Herramienta web que tendrá el estudiante para generar los derechos de carpeta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2AB67-9D65-FFD5-23C7-7CD070438F05}"/>
              </a:ext>
            </a:extLst>
          </p:cNvPr>
          <p:cNvSpPr/>
          <p:nvPr/>
        </p:nvSpPr>
        <p:spPr>
          <a:xfrm>
            <a:off x="2611233" y="1860894"/>
            <a:ext cx="1967494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B3D986-C3D7-0E05-8E7E-753691B77910}"/>
              </a:ext>
            </a:extLst>
          </p:cNvPr>
          <p:cNvSpPr/>
          <p:nvPr/>
        </p:nvSpPr>
        <p:spPr>
          <a:xfrm>
            <a:off x="2611233" y="5620216"/>
            <a:ext cx="1967494" cy="88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3F7574D-888D-5614-2D4A-5EF1D475D1EE}"/>
              </a:ext>
            </a:extLst>
          </p:cNvPr>
          <p:cNvSpPr/>
          <p:nvPr/>
        </p:nvSpPr>
        <p:spPr>
          <a:xfrm>
            <a:off x="2611233" y="1860890"/>
            <a:ext cx="1967494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1B106-EE43-6B15-0252-23C82BE8304F}"/>
              </a:ext>
            </a:extLst>
          </p:cNvPr>
          <p:cNvSpPr txBox="1"/>
          <p:nvPr/>
        </p:nvSpPr>
        <p:spPr>
          <a:xfrm>
            <a:off x="2708809" y="2057872"/>
            <a:ext cx="178995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/>
              <a:t>Solicitud</a:t>
            </a:r>
            <a:r>
              <a:rPr lang="en-US" sz="1600" b="1" dirty="0"/>
              <a:t> de </a:t>
            </a:r>
            <a:r>
              <a:rPr lang="en-US" sz="1600" b="1" dirty="0" err="1"/>
              <a:t>graduación</a:t>
            </a:r>
            <a:endParaRPr lang="en-US" sz="1600" b="1" dirty="0"/>
          </a:p>
          <a:p>
            <a:pPr algn="ctr"/>
            <a:endParaRPr lang="en-US" sz="16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FD0B6-2418-924F-71DD-849B34764B9F}"/>
              </a:ext>
            </a:extLst>
          </p:cNvPr>
          <p:cNvSpPr txBox="1"/>
          <p:nvPr/>
        </p:nvSpPr>
        <p:spPr>
          <a:xfrm>
            <a:off x="2708809" y="3164977"/>
            <a:ext cx="1789952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Herramienta web que tendrá el estudiante para indicar que desea comenzar su proceso de graduación y permitirá generar los cargos de derecho a ceremonia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B8AE9-2274-FCE4-A21B-AB7E410C5F50}"/>
              </a:ext>
            </a:extLst>
          </p:cNvPr>
          <p:cNvSpPr/>
          <p:nvPr/>
        </p:nvSpPr>
        <p:spPr>
          <a:xfrm>
            <a:off x="7337253" y="1855818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F43D3-A7F2-2DAB-4CA8-6387C1A8EDC9}"/>
              </a:ext>
            </a:extLst>
          </p:cNvPr>
          <p:cNvSpPr/>
          <p:nvPr/>
        </p:nvSpPr>
        <p:spPr>
          <a:xfrm>
            <a:off x="7337253" y="5615140"/>
            <a:ext cx="2162646" cy="880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651E07-1282-2EA9-DA99-B7FFAFDE8EC1}"/>
              </a:ext>
            </a:extLst>
          </p:cNvPr>
          <p:cNvSpPr/>
          <p:nvPr/>
        </p:nvSpPr>
        <p:spPr>
          <a:xfrm>
            <a:off x="7337253" y="1855814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FE725-56AC-448D-7750-8CC4769304A6}"/>
              </a:ext>
            </a:extLst>
          </p:cNvPr>
          <p:cNvSpPr txBox="1"/>
          <p:nvPr/>
        </p:nvSpPr>
        <p:spPr>
          <a:xfrm>
            <a:off x="7434829" y="2052796"/>
            <a:ext cx="196749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Cumplimiento</a:t>
            </a:r>
            <a:r>
              <a:rPr lang="en-US" sz="1600" b="1" dirty="0">
                <a:solidFill>
                  <a:schemeClr val="bg1"/>
                </a:solidFill>
              </a:rPr>
              <a:t> CAPP</a:t>
            </a:r>
          </a:p>
          <a:p>
            <a:pPr algn="ctr"/>
            <a:endParaRPr lang="en-US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BE6D0-2BF3-E30F-E3B5-2688FB95A12F}"/>
              </a:ext>
            </a:extLst>
          </p:cNvPr>
          <p:cNvSpPr txBox="1"/>
          <p:nvPr/>
        </p:nvSpPr>
        <p:spPr>
          <a:xfrm>
            <a:off x="7434829" y="3159901"/>
            <a:ext cx="1967494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Funcionalidad que permite analizar si el estudiante cumple con los requerimientos académicos de su malla curricular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5668C3-F67A-E97E-AF68-ED0C0F936C43}"/>
              </a:ext>
            </a:extLst>
          </p:cNvPr>
          <p:cNvSpPr txBox="1"/>
          <p:nvPr/>
        </p:nvSpPr>
        <p:spPr>
          <a:xfrm>
            <a:off x="1057983" y="554087"/>
            <a:ext cx="10076033" cy="4460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dirty="0"/>
              <a:t>DEFINICIONES</a:t>
            </a: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AE439868-B964-1805-11C9-AD405EC4EBB7}"/>
              </a:ext>
            </a:extLst>
          </p:cNvPr>
          <p:cNvSpPr/>
          <p:nvPr/>
        </p:nvSpPr>
        <p:spPr>
          <a:xfrm>
            <a:off x="9887973" y="1851514"/>
            <a:ext cx="2162646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4AFCEFDB-DC0E-A348-0B7F-B30F03DFAB33}"/>
              </a:ext>
            </a:extLst>
          </p:cNvPr>
          <p:cNvSpPr/>
          <p:nvPr/>
        </p:nvSpPr>
        <p:spPr>
          <a:xfrm>
            <a:off x="9887973" y="5610836"/>
            <a:ext cx="2162646" cy="880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E4EBE655-66AD-D452-4B9B-6E5F6E728D8F}"/>
              </a:ext>
            </a:extLst>
          </p:cNvPr>
          <p:cNvSpPr/>
          <p:nvPr/>
        </p:nvSpPr>
        <p:spPr>
          <a:xfrm>
            <a:off x="9887973" y="1851510"/>
            <a:ext cx="2162646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730D1883-5D44-7D8A-4B7A-D07D7C39068E}"/>
              </a:ext>
            </a:extLst>
          </p:cNvPr>
          <p:cNvSpPr txBox="1"/>
          <p:nvPr/>
        </p:nvSpPr>
        <p:spPr>
          <a:xfrm>
            <a:off x="9985549" y="2048492"/>
            <a:ext cx="1967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 err="1"/>
              <a:t>Retención</a:t>
            </a:r>
            <a:endParaRPr lang="en-US" sz="16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479A7A51-AFFC-BF90-F20D-DBD80534B63E}"/>
              </a:ext>
            </a:extLst>
          </p:cNvPr>
          <p:cNvSpPr txBox="1"/>
          <p:nvPr/>
        </p:nvSpPr>
        <p:spPr>
          <a:xfrm>
            <a:off x="9985549" y="3155597"/>
            <a:ext cx="1967494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400" dirty="0"/>
              <a:t>Bloqueo o restricción que se asigna a un alumno por un rango de tiempo y le puede impedir realizar procesos dentro del sistema.</a:t>
            </a:r>
            <a:endParaRPr lang="en-US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2085D0D0-0AFD-83D4-7110-025C65A96900}"/>
              </a:ext>
            </a:extLst>
          </p:cNvPr>
          <p:cNvSpPr/>
          <p:nvPr/>
        </p:nvSpPr>
        <p:spPr>
          <a:xfrm>
            <a:off x="4688957" y="1851514"/>
            <a:ext cx="2550720" cy="38473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D4DCC76D-692F-256B-C0F6-DB04811A69C5}"/>
              </a:ext>
            </a:extLst>
          </p:cNvPr>
          <p:cNvSpPr/>
          <p:nvPr/>
        </p:nvSpPr>
        <p:spPr>
          <a:xfrm>
            <a:off x="4688957" y="5610836"/>
            <a:ext cx="2550720" cy="8806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298BDA99-EBAA-9076-7E08-BC9087A07D10}"/>
              </a:ext>
            </a:extLst>
          </p:cNvPr>
          <p:cNvSpPr/>
          <p:nvPr/>
        </p:nvSpPr>
        <p:spPr>
          <a:xfrm>
            <a:off x="4688957" y="1851510"/>
            <a:ext cx="2550720" cy="1107108"/>
          </a:xfrm>
          <a:custGeom>
            <a:avLst/>
            <a:gdLst>
              <a:gd name="connsiteX0" fmla="*/ 0 w 2162646"/>
              <a:gd name="connsiteY0" fmla="*/ 0 h 890587"/>
              <a:gd name="connsiteX1" fmla="*/ 0 w 2162646"/>
              <a:gd name="connsiteY1" fmla="*/ 713422 h 890587"/>
              <a:gd name="connsiteX2" fmla="*/ 857454 w 2162646"/>
              <a:gd name="connsiteY2" fmla="*/ 713422 h 890587"/>
              <a:gd name="connsiteX3" fmla="*/ 1081799 w 2162646"/>
              <a:gd name="connsiteY3" fmla="*/ 890588 h 890587"/>
              <a:gd name="connsiteX4" fmla="*/ 1306144 w 2162646"/>
              <a:gd name="connsiteY4" fmla="*/ 713422 h 890587"/>
              <a:gd name="connsiteX5" fmla="*/ 2162647 w 2162646"/>
              <a:gd name="connsiteY5" fmla="*/ 713422 h 890587"/>
              <a:gd name="connsiteX6" fmla="*/ 2162647 w 2162646"/>
              <a:gd name="connsiteY6" fmla="*/ 0 h 890587"/>
              <a:gd name="connsiteX7" fmla="*/ 0 w 2162646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646" h="890587">
                <a:moveTo>
                  <a:pt x="0" y="0"/>
                </a:moveTo>
                <a:lnTo>
                  <a:pt x="0" y="713422"/>
                </a:lnTo>
                <a:lnTo>
                  <a:pt x="857454" y="713422"/>
                </a:lnTo>
                <a:lnTo>
                  <a:pt x="1081799" y="890588"/>
                </a:lnTo>
                <a:lnTo>
                  <a:pt x="1306144" y="713422"/>
                </a:lnTo>
                <a:lnTo>
                  <a:pt x="2162647" y="713422"/>
                </a:lnTo>
                <a:lnTo>
                  <a:pt x="21626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5"/>
              </a:solidFill>
            </a:endParaRP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6C9A0F00-ACB6-8A49-1F76-0AAED38931E4}"/>
              </a:ext>
            </a:extLst>
          </p:cNvPr>
          <p:cNvSpPr txBox="1"/>
          <p:nvPr/>
        </p:nvSpPr>
        <p:spPr>
          <a:xfrm>
            <a:off x="4821552" y="2048492"/>
            <a:ext cx="232054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CAPP</a:t>
            </a:r>
          </a:p>
          <a:p>
            <a:pPr algn="ctr"/>
            <a:endParaRPr lang="en-US" sz="16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AB231EE7-B21B-9DB3-42F4-025833B8F1ED}"/>
              </a:ext>
            </a:extLst>
          </p:cNvPr>
          <p:cNvSpPr txBox="1"/>
          <p:nvPr/>
        </p:nvSpPr>
        <p:spPr>
          <a:xfrm>
            <a:off x="4797715" y="2917789"/>
            <a:ext cx="2320549" cy="2506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CO" sz="1400" dirty="0"/>
              <a:t>Significa </a:t>
            </a:r>
            <a:r>
              <a:rPr lang="es-CO" sz="1400" dirty="0" err="1"/>
              <a:t>Curriculum</a:t>
            </a:r>
            <a:r>
              <a:rPr lang="es-CO" sz="1400" dirty="0"/>
              <a:t>, </a:t>
            </a:r>
            <a:r>
              <a:rPr lang="es-CO" sz="1400" dirty="0" err="1"/>
              <a:t>Advising</a:t>
            </a:r>
            <a:r>
              <a:rPr lang="es-CO" sz="1400" dirty="0"/>
              <a:t> and </a:t>
            </a:r>
            <a:r>
              <a:rPr lang="es-CO" sz="1400" dirty="0" err="1"/>
              <a:t>Program</a:t>
            </a:r>
            <a:r>
              <a:rPr lang="es-CO" sz="1400" dirty="0"/>
              <a:t> </a:t>
            </a:r>
            <a:r>
              <a:rPr lang="es-CO" sz="1400" dirty="0" err="1"/>
              <a:t>Planning</a:t>
            </a:r>
            <a:r>
              <a:rPr lang="es-CO" sz="1400" dirty="0"/>
              <a:t> (Currículo, Asesoría y Planificación Académica).</a:t>
            </a:r>
          </a:p>
          <a:p>
            <a:pPr fontAlgn="t">
              <a:lnSpc>
                <a:spcPts val="1500"/>
              </a:lnSpc>
              <a:buNone/>
            </a:pPr>
            <a:endParaRPr lang="es-CO" sz="1400" dirty="0"/>
          </a:p>
          <a:p>
            <a:pPr fontAlgn="t">
              <a:lnSpc>
                <a:spcPts val="1500"/>
              </a:lnSpc>
              <a:buNone/>
            </a:pPr>
            <a:r>
              <a:rPr lang="es-CO" sz="1400" dirty="0"/>
              <a:t>Es una herramienta de auditoría académica que compara el historial académico del estudiante con los requisitos de su programa para determinar su avance y cumplimiento hacia la graduación o titulación.</a:t>
            </a:r>
            <a:endParaRPr lang="es-CO" sz="105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03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9E0A0-0DDD-4840-7A1E-8C5C5EFF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0BE1F9-416D-FFB7-657C-6C269DCA9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ES" dirty="0"/>
              <a:t>Requisito: Ejecución del CAPP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037193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7FD3-4929-AAEF-7C6D-FD70950A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EB025336-84B6-9B75-DFF5-B3E17606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49892"/>
            <a:ext cx="10637443" cy="445495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A937D49-EA66-8577-374B-18927A3E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Consulta de resultados de cumplimiento </a:t>
            </a:r>
            <a:r>
              <a:rPr lang="es-419" b="0" dirty="0">
                <a:solidFill>
                  <a:schemeClr val="accent1"/>
                </a:solidFill>
              </a:rPr>
              <a:t>(</a:t>
            </a:r>
            <a:r>
              <a:rPr lang="es-CO" dirty="0">
                <a:solidFill>
                  <a:schemeClr val="accent1"/>
                </a:solidFill>
              </a:rPr>
              <a:t>SMICRLT</a:t>
            </a:r>
            <a:r>
              <a:rPr lang="es-419" b="0" dirty="0">
                <a:solidFill>
                  <a:schemeClr val="accent1"/>
                </a:solidFill>
              </a:rPr>
              <a:t>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ED11B009-D782-956B-DB6B-54BF25409374}"/>
              </a:ext>
            </a:extLst>
          </p:cNvPr>
          <p:cNvSpPr/>
          <p:nvPr/>
        </p:nvSpPr>
        <p:spPr>
          <a:xfrm>
            <a:off x="3097615" y="3908772"/>
            <a:ext cx="5909225" cy="94669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s-CO" sz="1200" dirty="0"/>
              <a:t>Los estudiantes deben tener la ejecución de CAPP para el periodo que se están realizando  el proceso de grados o titulación.</a:t>
            </a:r>
            <a:endParaRPr lang="es-CO" sz="1050" dirty="0">
              <a:latin typeface="Segoe UI" panose="020B0502040204020203" pitchFamily="34" charset="0"/>
            </a:endParaRPr>
          </a:p>
          <a:p>
            <a:endParaRPr lang="es-ES_tradnl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9DE97BD-5AE8-CF55-C2A7-33D5A57FF9A6}"/>
              </a:ext>
            </a:extLst>
          </p:cNvPr>
          <p:cNvSpPr/>
          <p:nvPr/>
        </p:nvSpPr>
        <p:spPr>
          <a:xfrm>
            <a:off x="667512" y="1353158"/>
            <a:ext cx="1837944" cy="30190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76C7DD6B-56FA-FA38-47F0-D4A8501D4DF8}"/>
              </a:ext>
            </a:extLst>
          </p:cNvPr>
          <p:cNvSpPr/>
          <p:nvPr/>
        </p:nvSpPr>
        <p:spPr>
          <a:xfrm>
            <a:off x="2505456" y="1343295"/>
            <a:ext cx="161449" cy="16081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1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7167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15E1-8CBC-5A52-0F22-8EC0F508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657D9C-5C76-10A5-1A07-15DF29E2A8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Selección de población</a:t>
            </a:r>
          </a:p>
        </p:txBody>
      </p:sp>
    </p:spTree>
    <p:extLst>
      <p:ext uri="{BB962C8B-B14F-4D97-AF65-F5344CB8AC3E}">
        <p14:creationId xmlns:p14="http://schemas.microsoft.com/office/powerpoint/2010/main" val="391395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EEC8-674C-C5C8-0C38-0FC8841E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8BE0B06-31B0-47FB-82AF-3D8BADC5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837623"/>
            <a:ext cx="11072963" cy="159137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F2659F8-1E21-EA2A-94A0-6FB8E92F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Reglas de definición de aplicación </a:t>
            </a:r>
            <a:r>
              <a:rPr lang="es-419" b="0" dirty="0">
                <a:solidFill>
                  <a:schemeClr val="accent1"/>
                </a:solidFill>
              </a:rPr>
              <a:t>(</a:t>
            </a:r>
            <a:r>
              <a:rPr lang="es-CO" dirty="0">
                <a:solidFill>
                  <a:schemeClr val="accent1"/>
                </a:solidFill>
              </a:rPr>
              <a:t>GLRAPPL</a:t>
            </a:r>
            <a:r>
              <a:rPr lang="es-419" b="0" dirty="0">
                <a:solidFill>
                  <a:schemeClr val="accent1"/>
                </a:solidFill>
              </a:rPr>
              <a:t>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66266949-DA17-B5F2-5E83-A4EFF8240CF9}"/>
              </a:ext>
            </a:extLst>
          </p:cNvPr>
          <p:cNvSpPr/>
          <p:nvPr/>
        </p:nvSpPr>
        <p:spPr>
          <a:xfrm>
            <a:off x="3097615" y="3908772"/>
            <a:ext cx="6196252" cy="13411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s-CO" sz="1200" dirty="0"/>
              <a:t>Está página permite crear una </a:t>
            </a:r>
            <a:r>
              <a:rPr lang="es-CO" sz="1050" dirty="0">
                <a:latin typeface="Segoe UI" panose="020B0502040204020203" pitchFamily="34" charset="0"/>
              </a:rPr>
              <a:t>identificación del origen  de la selección de población.  Generalmente identifica el módulo de Ellucian Student (Student, HR, </a:t>
            </a:r>
            <a:r>
              <a:rPr lang="es-CO" sz="1050" dirty="0" err="1">
                <a:latin typeface="Segoe UI" panose="020B0502040204020203" pitchFamily="34" charset="0"/>
              </a:rPr>
              <a:t>Accounts</a:t>
            </a:r>
            <a:r>
              <a:rPr lang="es-CO" sz="1050" dirty="0">
                <a:latin typeface="Segoe UI" panose="020B0502040204020203" pitchFamily="34" charset="0"/>
              </a:rPr>
              <a:t> </a:t>
            </a:r>
            <a:r>
              <a:rPr lang="es-CO" sz="1050" dirty="0" err="1">
                <a:latin typeface="Segoe UI" panose="020B0502040204020203" pitchFamily="34" charset="0"/>
              </a:rPr>
              <a:t>Receivable</a:t>
            </a:r>
            <a:r>
              <a:rPr lang="es-CO" sz="1050" dirty="0">
                <a:latin typeface="Segoe UI" panose="020B0502040204020203" pitchFamily="34" charset="0"/>
              </a:rPr>
              <a:t>, </a:t>
            </a:r>
            <a:r>
              <a:rPr lang="es-CO" sz="1050" dirty="0" err="1">
                <a:latin typeface="Segoe UI" panose="020B0502040204020203" pitchFamily="34" charset="0"/>
              </a:rPr>
              <a:t>Financial</a:t>
            </a:r>
            <a:r>
              <a:rPr lang="es-CO" sz="1050" dirty="0">
                <a:latin typeface="Segoe UI" panose="020B0502040204020203" pitchFamily="34" charset="0"/>
              </a:rPr>
              <a:t> Aid, etc.).</a:t>
            </a:r>
          </a:p>
          <a:p>
            <a:pPr fontAlgn="t">
              <a:lnSpc>
                <a:spcPts val="1500"/>
              </a:lnSpc>
              <a:buNone/>
            </a:pPr>
            <a:endParaRPr lang="es-CO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s-CO" sz="1050" dirty="0">
                <a:latin typeface="Segoe UI" panose="020B0502040204020203" pitchFamily="34" charset="0"/>
              </a:rPr>
              <a:t>La Institución puede crear una nueva. Ingresando el nombre en el campo ‘Aplicación’</a:t>
            </a:r>
          </a:p>
          <a:p>
            <a:endParaRPr lang="es-ES_tradnl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519B0B-351B-EB10-1D77-5F0DF38C4464}"/>
              </a:ext>
            </a:extLst>
          </p:cNvPr>
          <p:cNvSpPr/>
          <p:nvPr/>
        </p:nvSpPr>
        <p:spPr>
          <a:xfrm>
            <a:off x="2212848" y="2419496"/>
            <a:ext cx="2029968" cy="36942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2B3E4E10-7528-E28A-09D6-4739FB1C0342}"/>
              </a:ext>
            </a:extLst>
          </p:cNvPr>
          <p:cNvSpPr/>
          <p:nvPr/>
        </p:nvSpPr>
        <p:spPr>
          <a:xfrm>
            <a:off x="4242816" y="2552903"/>
            <a:ext cx="161449" cy="16081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1</a:t>
            </a:r>
            <a:endParaRPr lang="es-419" sz="1100" noProof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B503858-43F1-3B5B-079C-751735C4ADCD}"/>
              </a:ext>
            </a:extLst>
          </p:cNvPr>
          <p:cNvSpPr/>
          <p:nvPr/>
        </p:nvSpPr>
        <p:spPr>
          <a:xfrm>
            <a:off x="3097614" y="5504842"/>
            <a:ext cx="6274985" cy="633859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 puede utilizar la de STUDENT o crear un nuevo código.  Corresponde a una agrupación o clasificación de las selecciones de población.</a:t>
            </a:r>
          </a:p>
        </p:txBody>
      </p:sp>
    </p:spTree>
    <p:extLst>
      <p:ext uri="{BB962C8B-B14F-4D97-AF65-F5344CB8AC3E}">
        <p14:creationId xmlns:p14="http://schemas.microsoft.com/office/powerpoint/2010/main" val="65800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BC3A-8DEF-C5EA-F18B-6C884C17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3A7391C-02D1-CBA5-2EA7-80AB58D15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67971"/>
            <a:ext cx="11197946" cy="496259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A6A1D8F-CE4E-EA19-A970-4BF058E6E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Reglas de definición de aplicación </a:t>
            </a:r>
            <a:r>
              <a:rPr lang="es-419" b="0" dirty="0">
                <a:solidFill>
                  <a:schemeClr val="accent1"/>
                </a:solidFill>
              </a:rPr>
              <a:t>(</a:t>
            </a:r>
            <a:r>
              <a:rPr lang="es-CO" dirty="0">
                <a:solidFill>
                  <a:schemeClr val="accent1"/>
                </a:solidFill>
              </a:rPr>
              <a:t>GLRAPPL</a:t>
            </a:r>
            <a:r>
              <a:rPr lang="es-419" b="0" dirty="0">
                <a:solidFill>
                  <a:schemeClr val="accent1"/>
                </a:solidFill>
              </a:rPr>
              <a:t>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AC360B84-41F5-A223-D1EE-48AFFAF19878}"/>
              </a:ext>
            </a:extLst>
          </p:cNvPr>
          <p:cNvSpPr/>
          <p:nvPr/>
        </p:nvSpPr>
        <p:spPr>
          <a:xfrm>
            <a:off x="3097615" y="3908772"/>
            <a:ext cx="6196252" cy="13411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200" dirty="0"/>
              <a:t>2. Ingrese la descripción de la selección de población.</a:t>
            </a:r>
          </a:p>
          <a:p>
            <a:r>
              <a:rPr lang="es-ES_tradnl" sz="1200" dirty="0"/>
              <a:t>3. Se puede ingresar condiciones que va a validar la selección de población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FD1784-14D6-C584-AD11-104597438E6C}"/>
              </a:ext>
            </a:extLst>
          </p:cNvPr>
          <p:cNvSpPr/>
          <p:nvPr/>
        </p:nvSpPr>
        <p:spPr>
          <a:xfrm>
            <a:off x="1697736" y="1874520"/>
            <a:ext cx="2133600" cy="24442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79E6416A-1EBE-0E56-084E-5CD0DBC083D3}"/>
              </a:ext>
            </a:extLst>
          </p:cNvPr>
          <p:cNvSpPr/>
          <p:nvPr/>
        </p:nvSpPr>
        <p:spPr>
          <a:xfrm>
            <a:off x="3944627" y="1884544"/>
            <a:ext cx="161449" cy="16081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871075-4CA8-C497-610A-22C99555F1FC}"/>
              </a:ext>
            </a:extLst>
          </p:cNvPr>
          <p:cNvSpPr/>
          <p:nvPr/>
        </p:nvSpPr>
        <p:spPr>
          <a:xfrm>
            <a:off x="1530096" y="2584705"/>
            <a:ext cx="5675376" cy="23286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7CA39882-46C0-74AB-490F-1C96342AA9EC}"/>
              </a:ext>
            </a:extLst>
          </p:cNvPr>
          <p:cNvSpPr/>
          <p:nvPr/>
        </p:nvSpPr>
        <p:spPr>
          <a:xfrm>
            <a:off x="1225811" y="2612429"/>
            <a:ext cx="161449" cy="16081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3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4036728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CAA3-B1AB-39B8-618A-56E5FC03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724C51-F7B5-ED72-F1BE-86660815B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Selección de Población – Opción manual o por cargue de archivo plano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52826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53E1-96EF-47E9-C10C-B5C2D3EB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4BF7999-14A0-BCAD-B6F6-DBF508A8A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99" y="1465027"/>
            <a:ext cx="11288212" cy="129770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EB521F8B-D449-6194-3BB6-74C75F09B09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AD7D819-37F2-EC55-D24F-190548575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Reglas de definición de selección de población (GLRSLCT)</a:t>
            </a:r>
            <a:endParaRPr lang="es-ES_tradnl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EF7487-FD80-D403-2AF2-6E01AB9A2FE4}"/>
              </a:ext>
            </a:extLst>
          </p:cNvPr>
          <p:cNvSpPr/>
          <p:nvPr/>
        </p:nvSpPr>
        <p:spPr>
          <a:xfrm>
            <a:off x="1930401" y="3503892"/>
            <a:ext cx="8085884" cy="770267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Seleccione el código de la aplicación creado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Cree o utilice un ID de selección que haga referencia para que se utilizará la selección de población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Presione IR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D01D3DC8-E329-3AF0-E094-8026BFCC0796}"/>
              </a:ext>
            </a:extLst>
          </p:cNvPr>
          <p:cNvSpPr/>
          <p:nvPr/>
        </p:nvSpPr>
        <p:spPr>
          <a:xfrm>
            <a:off x="3994299" y="195851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0C3E13-7B63-9083-FFD2-B1FA5C4BC594}"/>
              </a:ext>
            </a:extLst>
          </p:cNvPr>
          <p:cNvSpPr/>
          <p:nvPr/>
        </p:nvSpPr>
        <p:spPr>
          <a:xfrm>
            <a:off x="2018923" y="1944334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5" name="Rectángulo redondeado 15">
            <a:extLst>
              <a:ext uri="{FF2B5EF4-FFF2-40B4-BE49-F238E27FC236}">
                <a16:creationId xmlns:a16="http://schemas.microsoft.com/office/drawing/2014/main" id="{0DB3E392-3DA1-18FE-4C39-A7EB2E6765F2}"/>
              </a:ext>
            </a:extLst>
          </p:cNvPr>
          <p:cNvSpPr/>
          <p:nvPr/>
        </p:nvSpPr>
        <p:spPr>
          <a:xfrm>
            <a:off x="11334832" y="1893382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266607-DC62-5846-A4CE-E66885A05052}"/>
              </a:ext>
            </a:extLst>
          </p:cNvPr>
          <p:cNvSpPr/>
          <p:nvPr/>
        </p:nvSpPr>
        <p:spPr>
          <a:xfrm>
            <a:off x="11548528" y="1939169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7518A3E4-236C-B9A8-2563-9CE38FA57DF2}"/>
              </a:ext>
            </a:extLst>
          </p:cNvPr>
          <p:cNvSpPr/>
          <p:nvPr/>
        </p:nvSpPr>
        <p:spPr>
          <a:xfrm>
            <a:off x="8841155" y="195851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4358E6-C0ED-A90A-12AF-81F60E614D9C}"/>
              </a:ext>
            </a:extLst>
          </p:cNvPr>
          <p:cNvSpPr/>
          <p:nvPr/>
        </p:nvSpPr>
        <p:spPr>
          <a:xfrm>
            <a:off x="6865779" y="1944334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60220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607F-50C4-00D4-CED3-A04EC9EE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5AEF5D8E-E776-BD61-D1C6-9328690E2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07" y="874181"/>
            <a:ext cx="11253851" cy="4885814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FE5E829-5FC2-BC1D-7EB7-CD83BEB9CBF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D2C8B11-3183-4FCB-DBF8-BFDDDD41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Reglas de definición de selección de población (GLRSLCT)</a:t>
            </a:r>
            <a:endParaRPr lang="es-ES_tradnl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66A10B3-57AC-3963-14F6-4FBD9EFE3633}"/>
              </a:ext>
            </a:extLst>
          </p:cNvPr>
          <p:cNvSpPr/>
          <p:nvPr/>
        </p:nvSpPr>
        <p:spPr>
          <a:xfrm>
            <a:off x="1930401" y="3503892"/>
            <a:ext cx="8085884" cy="770267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 startAt="4"/>
            </a:pPr>
            <a:r>
              <a:rPr lang="es-ES_tradnl" sz="1200" dirty="0"/>
              <a:t>Ingrese una descripción de la selección de población. Máximo 30 caracteres 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s-ES_tradnl" sz="1200" dirty="0"/>
              <a:t>Guarde la información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8D04F847-A06A-603F-E03C-1DBEC0527508}"/>
              </a:ext>
            </a:extLst>
          </p:cNvPr>
          <p:cNvSpPr/>
          <p:nvPr/>
        </p:nvSpPr>
        <p:spPr>
          <a:xfrm>
            <a:off x="3994299" y="195851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4</a:t>
            </a:r>
            <a:endParaRPr lang="es-419" sz="1100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19A01E-9134-A6A3-DF1D-1C89F265F835}"/>
              </a:ext>
            </a:extLst>
          </p:cNvPr>
          <p:cNvSpPr/>
          <p:nvPr/>
        </p:nvSpPr>
        <p:spPr>
          <a:xfrm>
            <a:off x="2018923" y="1944334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5D68B3-1055-BB3B-BF63-B2AAB8EA3F96}"/>
              </a:ext>
            </a:extLst>
          </p:cNvPr>
          <p:cNvSpPr/>
          <p:nvPr/>
        </p:nvSpPr>
        <p:spPr>
          <a:xfrm>
            <a:off x="11416493" y="5419040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10EB4C9D-5C9E-B524-F1E9-CD000A298982}"/>
              </a:ext>
            </a:extLst>
          </p:cNvPr>
          <p:cNvSpPr/>
          <p:nvPr/>
        </p:nvSpPr>
        <p:spPr>
          <a:xfrm>
            <a:off x="11131698" y="56241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8565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3B9A-C606-D4DC-14FF-7E6B4C21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D301393-B74B-CCAC-5735-F7A380F4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05" y="950612"/>
            <a:ext cx="10244590" cy="4787963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C591019-7801-FF23-B4D3-1A01C04BDF9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8D3B5E5-B08A-03D0-B06B-85EBA830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Crear archivo plano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4492B5F-52A3-CD0E-919A-AE26578B70ED}"/>
              </a:ext>
            </a:extLst>
          </p:cNvPr>
          <p:cNvSpPr/>
          <p:nvPr/>
        </p:nvSpPr>
        <p:spPr>
          <a:xfrm>
            <a:off x="4095209" y="3630323"/>
            <a:ext cx="5297516" cy="893929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 debe crear un archivo CSV con los ID de los estudiantes. Ingrese un título de la columna en A1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37F2E453-C705-D29A-2287-BF340D9969A5}"/>
              </a:ext>
            </a:extLst>
          </p:cNvPr>
          <p:cNvSpPr/>
          <p:nvPr/>
        </p:nvSpPr>
        <p:spPr>
          <a:xfrm>
            <a:off x="2888827" y="4368105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D6B969D-07CD-CA50-A325-ACBCB9B8E6F0}"/>
              </a:ext>
            </a:extLst>
          </p:cNvPr>
          <p:cNvSpPr/>
          <p:nvPr/>
        </p:nvSpPr>
        <p:spPr>
          <a:xfrm>
            <a:off x="973705" y="3831471"/>
            <a:ext cx="1669907" cy="122941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9279A1-A674-2E16-3653-5A6342899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25" y="5555161"/>
            <a:ext cx="4381500" cy="79057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3893BA9-64F3-97E2-2411-916CE5DE0409}"/>
              </a:ext>
            </a:extLst>
          </p:cNvPr>
          <p:cNvSpPr/>
          <p:nvPr/>
        </p:nvSpPr>
        <p:spPr>
          <a:xfrm>
            <a:off x="1808658" y="5996700"/>
            <a:ext cx="3452664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77796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6687-4A7A-318F-3A29-626A6D56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3741E05-2990-A585-C52C-86786345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10" y="1126707"/>
            <a:ext cx="11699390" cy="4966722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941ECCE-2B23-46B7-0E75-86E789E2E13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AAC0D77-FC0E-2A29-34F2-DB77191D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Cargar archivo (GJAJFLU)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7DBCBF8-C5CF-6553-0430-49CE71161A96}"/>
              </a:ext>
            </a:extLst>
          </p:cNvPr>
          <p:cNvSpPr/>
          <p:nvPr/>
        </p:nvSpPr>
        <p:spPr>
          <a:xfrm>
            <a:off x="1678175" y="4959424"/>
            <a:ext cx="8431967" cy="1543738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Font typeface="+mj-lt"/>
              <a:buAutoNum type="arabicPeriod"/>
            </a:pPr>
            <a:endParaRPr lang="es-ES_tradnl" sz="1200" dirty="0"/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Ingrese en el trabajo: GJRJFLU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Seleccione el archivo plano que desea cargar, al seleccionarlo se completará el campo ‘Nombre del archivo’. Si ya existe un registro selecciones ‘+’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Guarde la información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3A4F2478-CEEB-C94F-8E53-3D921A92CA20}"/>
              </a:ext>
            </a:extLst>
          </p:cNvPr>
          <p:cNvSpPr/>
          <p:nvPr/>
        </p:nvSpPr>
        <p:spPr>
          <a:xfrm>
            <a:off x="3196528" y="1755636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55270A1-7587-DBF2-D278-63C31479870E}"/>
              </a:ext>
            </a:extLst>
          </p:cNvPr>
          <p:cNvSpPr/>
          <p:nvPr/>
        </p:nvSpPr>
        <p:spPr>
          <a:xfrm>
            <a:off x="6944007" y="2572893"/>
            <a:ext cx="1471299" cy="2818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2773BC0-1E5A-B878-54F2-BD75EA9E54F0}"/>
              </a:ext>
            </a:extLst>
          </p:cNvPr>
          <p:cNvSpPr/>
          <p:nvPr/>
        </p:nvSpPr>
        <p:spPr>
          <a:xfrm>
            <a:off x="11483490" y="5739817"/>
            <a:ext cx="708510" cy="27168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0193DE00-7D3B-BA04-44B4-6350491FEA53}"/>
              </a:ext>
            </a:extLst>
          </p:cNvPr>
          <p:cNvSpPr/>
          <p:nvPr/>
        </p:nvSpPr>
        <p:spPr>
          <a:xfrm>
            <a:off x="11178716" y="5898594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5F00E-6B3D-DAED-170D-E7C14D3C182C}"/>
              </a:ext>
            </a:extLst>
          </p:cNvPr>
          <p:cNvSpPr/>
          <p:nvPr/>
        </p:nvSpPr>
        <p:spPr>
          <a:xfrm>
            <a:off x="366562" y="1503162"/>
            <a:ext cx="2861270" cy="2818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29ED5C41-6948-E326-9497-31AB608C9ABA}"/>
              </a:ext>
            </a:extLst>
          </p:cNvPr>
          <p:cNvSpPr/>
          <p:nvPr/>
        </p:nvSpPr>
        <p:spPr>
          <a:xfrm>
            <a:off x="6762095" y="28253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0909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CCE8-CD83-E0FD-974B-09461C2A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F00E18F-744F-C90D-342A-69C5A111026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06EBE57-E7DF-D715-FDEF-B0750509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Cargar archivo (GJRJFLU)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F1EC03E-178E-F448-C3D2-AD5F15554B11}"/>
              </a:ext>
            </a:extLst>
          </p:cNvPr>
          <p:cNvSpPr/>
          <p:nvPr/>
        </p:nvSpPr>
        <p:spPr>
          <a:xfrm>
            <a:off x="2031017" y="3541591"/>
            <a:ext cx="8431967" cy="1543738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El proceso SFRGRUP permite la asignación masiva de grupos de inscripción (SFARGRP) en función a  criterios especificados, facilitando así la asignación de lo que fueran los turnos de inscripción de los estudiantes. </a:t>
            </a:r>
          </a:p>
          <a:p>
            <a:endParaRPr lang="es-ES_tradnl" sz="1200" dirty="0"/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Para acceder a SFRGRUP se puede ingresar directamente utilizando el buscador principal o bien ingresando a GJAPCTL y luego seleccionando el proceso SFRGRUP.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Presione el botón ‘Ir’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D77DD932-877D-68FB-9B6A-41F3B7E1B483}"/>
              </a:ext>
            </a:extLst>
          </p:cNvPr>
          <p:cNvSpPr/>
          <p:nvPr/>
        </p:nvSpPr>
        <p:spPr>
          <a:xfrm>
            <a:off x="3155244" y="241674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8D7663E-291A-BD3A-B2D4-4732CAF10A99}"/>
              </a:ext>
            </a:extLst>
          </p:cNvPr>
          <p:cNvSpPr/>
          <p:nvPr/>
        </p:nvSpPr>
        <p:spPr>
          <a:xfrm>
            <a:off x="1265528" y="2147526"/>
            <a:ext cx="1889716" cy="1911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611F54-207B-8DAB-1F79-604FFBFE30DA}"/>
              </a:ext>
            </a:extLst>
          </p:cNvPr>
          <p:cNvSpPr/>
          <p:nvPr/>
        </p:nvSpPr>
        <p:spPr>
          <a:xfrm>
            <a:off x="11099800" y="2147525"/>
            <a:ext cx="431800" cy="26922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9E586934-6C59-3E7D-4610-08D52F0C1E2F}"/>
              </a:ext>
            </a:extLst>
          </p:cNvPr>
          <p:cNvSpPr/>
          <p:nvPr/>
        </p:nvSpPr>
        <p:spPr>
          <a:xfrm>
            <a:off x="10750220" y="2416746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68A695-1A35-B43C-4C31-B1B33069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32" y="1131683"/>
            <a:ext cx="11465767" cy="490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73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7130-F9AD-95D4-2F9F-A2CCDF7E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E4837EB-13FC-8A08-2A35-B2C216B32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96" y="981286"/>
            <a:ext cx="11178668" cy="4895425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D38B927C-330F-6B9B-3D82-8C3CF3C7CA1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A2E8D69-7F41-3E75-6605-96F564B1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Importar los ID - GJRPSIM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1FCF9BF-EA57-2154-40DB-D4BACE25D34D}"/>
              </a:ext>
            </a:extLst>
          </p:cNvPr>
          <p:cNvSpPr/>
          <p:nvPr/>
        </p:nvSpPr>
        <p:spPr>
          <a:xfrm>
            <a:off x="2318253" y="4822333"/>
            <a:ext cx="8431967" cy="1635476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Este proceso carga los ID en la página GLAEXTR e ingrese DATABASE en el campo de Impresora</a:t>
            </a:r>
          </a:p>
          <a:p>
            <a:r>
              <a:rPr lang="es-ES_tradnl" sz="1200" dirty="0"/>
              <a:t>01. Ingrese el ID de la aplicación  </a:t>
            </a:r>
          </a:p>
          <a:p>
            <a:r>
              <a:rPr lang="es-ES_tradnl" sz="1200" dirty="0"/>
              <a:t>02. Ingrese el ID de la selección</a:t>
            </a:r>
          </a:p>
          <a:p>
            <a:r>
              <a:rPr lang="es-ES_tradnl" sz="1200" dirty="0"/>
              <a:t>03. Ingrese el usuario que creo la selección de población</a:t>
            </a:r>
          </a:p>
          <a:p>
            <a:r>
              <a:rPr lang="es-ES_tradnl" sz="1200" dirty="0"/>
              <a:t>04. Si no marco la selección de población como Manual, ingrese ‘S’</a:t>
            </a:r>
          </a:p>
          <a:p>
            <a:r>
              <a:rPr lang="es-ES_tradnl" sz="1200" dirty="0"/>
              <a:t>05. Ingrese ‘I’ si el archivo plano contine ID o P si contiene </a:t>
            </a:r>
            <a:r>
              <a:rPr lang="es-ES_tradnl" sz="1200" dirty="0" err="1"/>
              <a:t>PIDMs</a:t>
            </a:r>
            <a:endParaRPr lang="es-ES_tradnl" sz="1200" dirty="0"/>
          </a:p>
          <a:p>
            <a:r>
              <a:rPr lang="es-ES_tradnl" sz="1200" dirty="0"/>
              <a:t>06. Nombre del archivo plano</a:t>
            </a:r>
          </a:p>
          <a:p>
            <a:r>
              <a:rPr lang="es-ES_tradnl" sz="1200" dirty="0"/>
              <a:t>07. Depurar: Y para borrar los datos cargados previamente.</a:t>
            </a:r>
          </a:p>
          <a:p>
            <a:r>
              <a:rPr lang="es-ES_tradnl" sz="1200" dirty="0"/>
              <a:t>08 y 09 ingrese ‘N’</a:t>
            </a:r>
          </a:p>
        </p:txBody>
      </p:sp>
    </p:spTree>
    <p:extLst>
      <p:ext uri="{BB962C8B-B14F-4D97-AF65-F5344CB8AC3E}">
        <p14:creationId xmlns:p14="http://schemas.microsoft.com/office/powerpoint/2010/main" val="3862630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CABD-07B7-BA02-72F5-0C4035D5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373D86EA-21E6-460C-A5D1-09285E514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07" y="900118"/>
            <a:ext cx="11075560" cy="481194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9270489C-E610-21FE-C584-CDDF7C40D16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2A620F0-BF07-CF1C-84EF-60785D82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Importar los ID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5C4660D-F022-050C-0648-59830C1E37D5}"/>
              </a:ext>
            </a:extLst>
          </p:cNvPr>
          <p:cNvSpPr/>
          <p:nvPr/>
        </p:nvSpPr>
        <p:spPr>
          <a:xfrm>
            <a:off x="4353381" y="5578874"/>
            <a:ext cx="4049495" cy="103568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1. Seleccionar bloque siguiente</a:t>
            </a:r>
          </a:p>
          <a:p>
            <a:r>
              <a:rPr lang="es-ES_tradnl" sz="1200" dirty="0"/>
              <a:t>2. Verifique que el botón de Enviar esté marcado</a:t>
            </a:r>
          </a:p>
          <a:p>
            <a:r>
              <a:rPr lang="es-ES_tradnl" sz="1200" dirty="0"/>
              <a:t>3. Guarde la información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7FEA8ED2-9199-F3CB-B8A7-211FDCE7B3D6}"/>
              </a:ext>
            </a:extLst>
          </p:cNvPr>
          <p:cNvSpPr/>
          <p:nvPr/>
        </p:nvSpPr>
        <p:spPr>
          <a:xfrm>
            <a:off x="1549225" y="552080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24976D-083A-D5E8-5505-76839D39CE4A}"/>
              </a:ext>
            </a:extLst>
          </p:cNvPr>
          <p:cNvSpPr/>
          <p:nvPr/>
        </p:nvSpPr>
        <p:spPr>
          <a:xfrm>
            <a:off x="1103856" y="5465717"/>
            <a:ext cx="398352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1EFB62-8F66-EE0C-112E-F86E576D0DB5}"/>
              </a:ext>
            </a:extLst>
          </p:cNvPr>
          <p:cNvSpPr/>
          <p:nvPr/>
        </p:nvSpPr>
        <p:spPr>
          <a:xfrm>
            <a:off x="7728750" y="4967705"/>
            <a:ext cx="431800" cy="26922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7F9B2B11-0B02-38CE-3CBA-C3EA40E6CD56}"/>
              </a:ext>
            </a:extLst>
          </p:cNvPr>
          <p:cNvSpPr/>
          <p:nvPr/>
        </p:nvSpPr>
        <p:spPr>
          <a:xfrm>
            <a:off x="8207567" y="4983236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5F51E28-EC18-F444-E4F5-4048A97BFF3B}"/>
              </a:ext>
            </a:extLst>
          </p:cNvPr>
          <p:cNvSpPr/>
          <p:nvPr/>
        </p:nvSpPr>
        <p:spPr>
          <a:xfrm>
            <a:off x="11157038" y="5409006"/>
            <a:ext cx="538918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E60C1F62-D9BF-6506-A50B-C0816CC4A4B1}"/>
              </a:ext>
            </a:extLst>
          </p:cNvPr>
          <p:cNvSpPr/>
          <p:nvPr/>
        </p:nvSpPr>
        <p:spPr>
          <a:xfrm>
            <a:off x="10969255" y="565173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3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605863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F013-14C2-18D2-2779-2C96F66A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3928893-F290-64CB-3CCD-81DBBD54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83" y="3930822"/>
            <a:ext cx="10727425" cy="19192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E8CF745-E871-71F4-1BD3-155403008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35" y="916237"/>
            <a:ext cx="11385796" cy="126176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62139ED8-EB7D-E283-9ACF-D0DA0914FC5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5D0BC0-A920-9E66-C6AF-D86B8BC3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Importar los ID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B92EADC-4667-C259-77BD-3369DDE3D31F}"/>
              </a:ext>
            </a:extLst>
          </p:cNvPr>
          <p:cNvSpPr/>
          <p:nvPr/>
        </p:nvSpPr>
        <p:spPr>
          <a:xfrm>
            <a:off x="4563729" y="685800"/>
            <a:ext cx="359682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Al guardar el sistema genera los log del proceso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D03EC7-EBCD-DE13-9EEB-DA89FDB90840}"/>
              </a:ext>
            </a:extLst>
          </p:cNvPr>
          <p:cNvSpPr/>
          <p:nvPr/>
        </p:nvSpPr>
        <p:spPr>
          <a:xfrm>
            <a:off x="9782091" y="3975771"/>
            <a:ext cx="431800" cy="26922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858E30E-5170-9A10-B84C-2266B69EF6F9}"/>
              </a:ext>
            </a:extLst>
          </p:cNvPr>
          <p:cNvSpPr/>
          <p:nvPr/>
        </p:nvSpPr>
        <p:spPr>
          <a:xfrm>
            <a:off x="9581733" y="4624108"/>
            <a:ext cx="1264317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695EA08-3A0C-B33F-B7B0-1C1309E4040C}"/>
              </a:ext>
            </a:extLst>
          </p:cNvPr>
          <p:cNvSpPr/>
          <p:nvPr/>
        </p:nvSpPr>
        <p:spPr>
          <a:xfrm>
            <a:off x="5386085" y="3428999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Seleccione Revisar salida (GJIREVO)</a:t>
            </a:r>
          </a:p>
        </p:txBody>
      </p:sp>
    </p:spTree>
    <p:extLst>
      <p:ext uri="{BB962C8B-B14F-4D97-AF65-F5344CB8AC3E}">
        <p14:creationId xmlns:p14="http://schemas.microsoft.com/office/powerpoint/2010/main" val="4194730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33BE-49E2-41E5-0E66-F10CF871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64833FF-40AE-FDAD-320B-84DE186B8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83" y="3930822"/>
            <a:ext cx="10727425" cy="19192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5E73682-BA20-6E28-496B-CCB562984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35" y="916237"/>
            <a:ext cx="11385796" cy="126176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DAF89ACE-584B-2954-0EB0-578FC704C02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4B55B4-F511-8C03-7970-318BBA1D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Importar los ID</a:t>
            </a:r>
            <a:endParaRPr lang="es-ES_tradnl" dirty="0">
              <a:solidFill>
                <a:schemeClr val="tx2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490608A-547B-33FB-A4BC-C06B5F02B584}"/>
              </a:ext>
            </a:extLst>
          </p:cNvPr>
          <p:cNvSpPr/>
          <p:nvPr/>
        </p:nvSpPr>
        <p:spPr>
          <a:xfrm>
            <a:off x="4563729" y="685800"/>
            <a:ext cx="359682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Al guardar el sistema genera los log del proceso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ADB828-DDAB-0D3D-6E89-08FF1EDAF11F}"/>
              </a:ext>
            </a:extLst>
          </p:cNvPr>
          <p:cNvSpPr/>
          <p:nvPr/>
        </p:nvSpPr>
        <p:spPr>
          <a:xfrm>
            <a:off x="9782091" y="3975771"/>
            <a:ext cx="431800" cy="26922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74706A-218A-E2FA-85ED-1BE2CB4D7B44}"/>
              </a:ext>
            </a:extLst>
          </p:cNvPr>
          <p:cNvSpPr/>
          <p:nvPr/>
        </p:nvSpPr>
        <p:spPr>
          <a:xfrm>
            <a:off x="9581733" y="4624108"/>
            <a:ext cx="1264317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8DDA683-AAB9-68EC-B0D4-5E5730B6A65E}"/>
              </a:ext>
            </a:extLst>
          </p:cNvPr>
          <p:cNvSpPr/>
          <p:nvPr/>
        </p:nvSpPr>
        <p:spPr>
          <a:xfrm>
            <a:off x="5386085" y="3428999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Seleccione Revisar salida (GJIREVO)</a:t>
            </a:r>
          </a:p>
        </p:txBody>
      </p:sp>
    </p:spTree>
    <p:extLst>
      <p:ext uri="{BB962C8B-B14F-4D97-AF65-F5344CB8AC3E}">
        <p14:creationId xmlns:p14="http://schemas.microsoft.com/office/powerpoint/2010/main" val="3311852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92BD-4EC4-4ED4-2CA4-73B78F32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42159C1-D732-BC54-2DF0-602B486068E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E859666-62CD-8498-F6D6-0FF2845C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419" dirty="0">
                <a:solidFill>
                  <a:schemeClr val="tx2"/>
                </a:solidFill>
              </a:rPr>
              <a:t>Importar los ID</a:t>
            </a:r>
            <a:endParaRPr lang="es-ES_tradnl" dirty="0">
              <a:solidFill>
                <a:schemeClr val="tx2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64224CE-E9A8-AF13-44D8-7FF98965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51" y="1321805"/>
            <a:ext cx="11040678" cy="4381589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3406F85B-5E98-ED51-C734-F5CB3F0310C7}"/>
              </a:ext>
            </a:extLst>
          </p:cNvPr>
          <p:cNvSpPr/>
          <p:nvPr/>
        </p:nvSpPr>
        <p:spPr>
          <a:xfrm>
            <a:off x="763658" y="2813415"/>
            <a:ext cx="3093118" cy="23760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2CCDBC4-0F88-DC82-665A-F5B90344B875}"/>
              </a:ext>
            </a:extLst>
          </p:cNvPr>
          <p:cNvSpPr/>
          <p:nvPr/>
        </p:nvSpPr>
        <p:spPr>
          <a:xfrm>
            <a:off x="4221569" y="3178087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Total de registros cargados</a:t>
            </a:r>
          </a:p>
        </p:txBody>
      </p:sp>
    </p:spTree>
    <p:extLst>
      <p:ext uri="{BB962C8B-B14F-4D97-AF65-F5344CB8AC3E}">
        <p14:creationId xmlns:p14="http://schemas.microsoft.com/office/powerpoint/2010/main" val="3305113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6D3B-C3EF-BC1D-EEB0-BC16EDAD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4727491A-BD1B-648A-5D4C-AEE1812599A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Ejecutar la inscripción de cursos por Autoservicio por Proyecciones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101D77-5692-0558-E6BA-BC9F0E8E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96" y="304614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Datos de extracción de selección de población GLAEXTR</a:t>
            </a:r>
            <a:endParaRPr lang="es-ES_tradnl" dirty="0">
              <a:solidFill>
                <a:schemeClr val="tx2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9ED85A-8D72-EDC7-6DB4-BBD3EDCFB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9" y="1097587"/>
            <a:ext cx="10634804" cy="4662824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FCF4188-3CD2-EE9D-95D7-96DF688893B9}"/>
              </a:ext>
            </a:extLst>
          </p:cNvPr>
          <p:cNvSpPr/>
          <p:nvPr/>
        </p:nvSpPr>
        <p:spPr>
          <a:xfrm>
            <a:off x="4221569" y="3178087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 pueden visualizar los ID cargados</a:t>
            </a:r>
          </a:p>
        </p:txBody>
      </p:sp>
    </p:spTree>
    <p:extLst>
      <p:ext uri="{BB962C8B-B14F-4D97-AF65-F5344CB8AC3E}">
        <p14:creationId xmlns:p14="http://schemas.microsoft.com/office/powerpoint/2010/main" val="70804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785A-8126-2EE4-3CB3-4D392364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E8D7B9-6F76-397D-962D-62B541E5B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ES" dirty="0"/>
              <a:t>Selección de Población – Opción creando consulta por base de datos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568870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66A0-48A8-7A5B-0908-804FC77E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4B8CD8B-B357-1BC9-ACEC-9AD8DFAC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25" y="1121478"/>
            <a:ext cx="11008194" cy="476482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653E510-C88C-89B0-73D1-809AA58E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Definición de reglas de variable (GLRVRBL)</a:t>
            </a:r>
            <a:endParaRPr lang="es-ES_tradnl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0D2619A-5525-B40E-96FA-6BD63A7C9788}"/>
              </a:ext>
            </a:extLst>
          </p:cNvPr>
          <p:cNvSpPr/>
          <p:nvPr/>
        </p:nvSpPr>
        <p:spPr>
          <a:xfrm>
            <a:off x="1875537" y="4417402"/>
            <a:ext cx="8085884" cy="1783467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/>
            </a:pPr>
            <a:r>
              <a:rPr lang="es-ES_tradnl" sz="1200" dirty="0"/>
              <a:t>Ingrese el nombre de la variable, debe iniciar con ‘*’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una descripción de la variable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que seleccionará la variable y las tablas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las condiciones del ‘WHERE’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Guarde</a:t>
            </a:r>
          </a:p>
          <a:p>
            <a:endParaRPr lang="es-ES_tradnl" sz="1200" dirty="0"/>
          </a:p>
          <a:p>
            <a:pPr fontAlgn="t">
              <a:lnSpc>
                <a:spcPts val="1500"/>
              </a:lnSpc>
              <a:buNone/>
            </a:pPr>
            <a:r>
              <a:rPr lang="es-CO" sz="1050" dirty="0">
                <a:latin typeface="Segoe UI" panose="020B0502040204020203" pitchFamily="34" charset="0"/>
              </a:rPr>
              <a:t>Permite centralizar parámetros institucionales que pueden ser consultados por diferentes procesos, reduciendo el mantenimiento y aumentando la flexibilidad de las reglas de negocio.</a:t>
            </a:r>
          </a:p>
          <a:p>
            <a:r>
              <a:rPr lang="es-ES_tradnl" sz="1200" dirty="0"/>
              <a:t> 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27FAC19D-D96B-8475-FCFE-F9F087ED082D}"/>
              </a:ext>
            </a:extLst>
          </p:cNvPr>
          <p:cNvSpPr/>
          <p:nvPr/>
        </p:nvSpPr>
        <p:spPr>
          <a:xfrm>
            <a:off x="3838851" y="1459082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18940A-E8CB-C514-200B-2AF845FBDBDF}"/>
              </a:ext>
            </a:extLst>
          </p:cNvPr>
          <p:cNvSpPr/>
          <p:nvPr/>
        </p:nvSpPr>
        <p:spPr>
          <a:xfrm>
            <a:off x="1790323" y="1404838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2EBA9B-6AAC-A78F-B563-69B9DB145D10}"/>
              </a:ext>
            </a:extLst>
          </p:cNvPr>
          <p:cNvSpPr/>
          <p:nvPr/>
        </p:nvSpPr>
        <p:spPr>
          <a:xfrm>
            <a:off x="11217854" y="5579331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C0FFA8CC-24EA-9667-28F0-AA7277C91E90}"/>
              </a:ext>
            </a:extLst>
          </p:cNvPr>
          <p:cNvSpPr/>
          <p:nvPr/>
        </p:nvSpPr>
        <p:spPr>
          <a:xfrm>
            <a:off x="10983527" y="5710914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5F86C659-DDCC-AF44-2B51-C6347B702FAF}"/>
              </a:ext>
            </a:extLst>
          </p:cNvPr>
          <p:cNvSpPr/>
          <p:nvPr/>
        </p:nvSpPr>
        <p:spPr>
          <a:xfrm>
            <a:off x="4411875" y="1878842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C62513-9466-4597-390D-F9869D31430D}"/>
              </a:ext>
            </a:extLst>
          </p:cNvPr>
          <p:cNvSpPr/>
          <p:nvPr/>
        </p:nvSpPr>
        <p:spPr>
          <a:xfrm>
            <a:off x="1788489" y="1929793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F39D9E67-BEE1-FD97-D10D-1634B82DCE9E}"/>
              </a:ext>
            </a:extLst>
          </p:cNvPr>
          <p:cNvSpPr/>
          <p:nvPr/>
        </p:nvSpPr>
        <p:spPr>
          <a:xfrm>
            <a:off x="4224318" y="274233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B9FBA4A-F709-AB4C-228A-A9E410C35DD8}"/>
              </a:ext>
            </a:extLst>
          </p:cNvPr>
          <p:cNvSpPr/>
          <p:nvPr/>
        </p:nvSpPr>
        <p:spPr>
          <a:xfrm>
            <a:off x="1788489" y="2688089"/>
            <a:ext cx="1973655" cy="39604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2D9791-74F8-8ECA-4D59-866D25FD0D72}"/>
              </a:ext>
            </a:extLst>
          </p:cNvPr>
          <p:cNvSpPr/>
          <p:nvPr/>
        </p:nvSpPr>
        <p:spPr>
          <a:xfrm>
            <a:off x="1565985" y="3503891"/>
            <a:ext cx="6773343" cy="83950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7" name="Rectángulo redondeado 15">
            <a:extLst>
              <a:ext uri="{FF2B5EF4-FFF2-40B4-BE49-F238E27FC236}">
                <a16:creationId xmlns:a16="http://schemas.microsoft.com/office/drawing/2014/main" id="{35E4880A-3419-AACC-51BA-992293DBFCC6}"/>
              </a:ext>
            </a:extLst>
          </p:cNvPr>
          <p:cNvSpPr/>
          <p:nvPr/>
        </p:nvSpPr>
        <p:spPr>
          <a:xfrm>
            <a:off x="8418366" y="3845571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7756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8E4AC-6B6C-F5E2-1E06-6FCA2C271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3EB3FB9-2AD4-60C1-BE69-46BC2CCA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1" y="935552"/>
            <a:ext cx="11301659" cy="4986894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395949E3-AB83-D915-53D8-CBBF3828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Reglas de definición de selección de población (GLRSLCT)</a:t>
            </a:r>
            <a:endParaRPr lang="es-ES_tradnl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8F59A1E-7388-50D5-22E0-92BFB7B4511A}"/>
              </a:ext>
            </a:extLst>
          </p:cNvPr>
          <p:cNvSpPr/>
          <p:nvPr/>
        </p:nvSpPr>
        <p:spPr>
          <a:xfrm>
            <a:off x="2830298" y="4648773"/>
            <a:ext cx="5801638" cy="770267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6. SIEMPRE se debe compilar, para esto seleccione  ‘</a:t>
            </a:r>
            <a:r>
              <a:rPr lang="es-ES_tradnl" sz="1200" dirty="0">
                <a:sym typeface="Wingdings" panose="05000000000000000000" pitchFamily="2" charset="2"/>
              </a:rPr>
              <a:t>’ </a:t>
            </a:r>
          </a:p>
          <a:p>
            <a:r>
              <a:rPr lang="es-ES_tradnl" sz="1200" dirty="0">
                <a:sym typeface="Wingdings" panose="05000000000000000000" pitchFamily="2" charset="2"/>
              </a:rPr>
              <a:t>Espere que termine de procesar. Al terminar saldrá de la página.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14F1DFD7-C515-DC34-0893-E6689868F65C}"/>
              </a:ext>
            </a:extLst>
          </p:cNvPr>
          <p:cNvSpPr/>
          <p:nvPr/>
        </p:nvSpPr>
        <p:spPr>
          <a:xfrm>
            <a:off x="3994299" y="195851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4</a:t>
            </a:r>
            <a:endParaRPr lang="es-419" sz="1100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C817D41-5FFD-82A3-80B1-B7B2326ECAF2}"/>
              </a:ext>
            </a:extLst>
          </p:cNvPr>
          <p:cNvSpPr/>
          <p:nvPr/>
        </p:nvSpPr>
        <p:spPr>
          <a:xfrm>
            <a:off x="10016285" y="935552"/>
            <a:ext cx="450245" cy="21408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9E9C948-39E5-DD7E-4DC3-D5FF82A567EE}"/>
              </a:ext>
            </a:extLst>
          </p:cNvPr>
          <p:cNvSpPr/>
          <p:nvPr/>
        </p:nvSpPr>
        <p:spPr>
          <a:xfrm>
            <a:off x="11416493" y="5419040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FD24082C-5ECD-7953-4C61-FFFF337F891B}"/>
              </a:ext>
            </a:extLst>
          </p:cNvPr>
          <p:cNvSpPr/>
          <p:nvPr/>
        </p:nvSpPr>
        <p:spPr>
          <a:xfrm>
            <a:off x="11131698" y="56241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9777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8060-8D32-B001-01C4-26807EB8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8C9790-8F96-74AE-E01F-7FD10392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49" y="1005183"/>
            <a:ext cx="11100209" cy="4847633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E9219D13-647C-031D-979B-A4389D0E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Reglas de definición de selección de población (GLRSLCT)</a:t>
            </a:r>
            <a:endParaRPr lang="es-ES_tradnl" b="0" dirty="0"/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E22AC317-AFB5-365A-BFD1-DE73E174C4F1}"/>
              </a:ext>
            </a:extLst>
          </p:cNvPr>
          <p:cNvSpPr/>
          <p:nvPr/>
        </p:nvSpPr>
        <p:spPr>
          <a:xfrm>
            <a:off x="11131698" y="56241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0C5854A-025C-EA0A-7AF3-7048B37816D6}"/>
              </a:ext>
            </a:extLst>
          </p:cNvPr>
          <p:cNvSpPr/>
          <p:nvPr/>
        </p:nvSpPr>
        <p:spPr>
          <a:xfrm>
            <a:off x="2074176" y="4682895"/>
            <a:ext cx="8085884" cy="128044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/>
            </a:pPr>
            <a:r>
              <a:rPr lang="es-ES_tradnl" sz="1200" dirty="0"/>
              <a:t>Ingrese el nombre de la Selección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una descripción 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que seleccionará y las tablas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las condiciones del ‘WHERE’. 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Guarde</a:t>
            </a:r>
          </a:p>
          <a:p>
            <a:pPr marL="228600" indent="-228600">
              <a:buAutoNum type="arabicPeriod"/>
            </a:pPr>
            <a:endParaRPr lang="es-ES_tradnl" sz="1200" dirty="0"/>
          </a:p>
          <a:p>
            <a:r>
              <a:rPr lang="es-ES_tradnl" sz="1200" dirty="0"/>
              <a:t>El valor de ‘</a:t>
            </a:r>
            <a:r>
              <a:rPr lang="es-ES_tradnl" sz="1200" b="1" dirty="0"/>
              <a:t>&amp;</a:t>
            </a:r>
            <a:r>
              <a:rPr lang="es-ES_tradnl" sz="1200" dirty="0"/>
              <a:t>’ se usar para pedir un valor al momento de ejecutar la selección de población. 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4B431C74-B40B-3E2F-9B11-7991D7018DD6}"/>
              </a:ext>
            </a:extLst>
          </p:cNvPr>
          <p:cNvSpPr/>
          <p:nvPr/>
        </p:nvSpPr>
        <p:spPr>
          <a:xfrm>
            <a:off x="4037490" y="1459082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E7DA693-C971-1602-DA7F-02BDF2620B7B}"/>
              </a:ext>
            </a:extLst>
          </p:cNvPr>
          <p:cNvSpPr/>
          <p:nvPr/>
        </p:nvSpPr>
        <p:spPr>
          <a:xfrm>
            <a:off x="1988962" y="1404838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44AC09E-8519-8473-641E-28246EF2E5D2}"/>
              </a:ext>
            </a:extLst>
          </p:cNvPr>
          <p:cNvSpPr/>
          <p:nvPr/>
        </p:nvSpPr>
        <p:spPr>
          <a:xfrm>
            <a:off x="11416493" y="5579331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5" name="Rectángulo redondeado 15">
            <a:extLst>
              <a:ext uri="{FF2B5EF4-FFF2-40B4-BE49-F238E27FC236}">
                <a16:creationId xmlns:a16="http://schemas.microsoft.com/office/drawing/2014/main" id="{634E45B2-22E5-EA09-5578-C0F7E58B6335}"/>
              </a:ext>
            </a:extLst>
          </p:cNvPr>
          <p:cNvSpPr/>
          <p:nvPr/>
        </p:nvSpPr>
        <p:spPr>
          <a:xfrm>
            <a:off x="4120863" y="1878741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2117C5C-9017-8DE6-9769-033F344377EB}"/>
              </a:ext>
            </a:extLst>
          </p:cNvPr>
          <p:cNvSpPr/>
          <p:nvPr/>
        </p:nvSpPr>
        <p:spPr>
          <a:xfrm>
            <a:off x="1987128" y="1863992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9" name="Rectángulo redondeado 15">
            <a:extLst>
              <a:ext uri="{FF2B5EF4-FFF2-40B4-BE49-F238E27FC236}">
                <a16:creationId xmlns:a16="http://schemas.microsoft.com/office/drawing/2014/main" id="{218F6CE7-2ADA-BA63-4F51-7C1141552891}"/>
              </a:ext>
            </a:extLst>
          </p:cNvPr>
          <p:cNvSpPr/>
          <p:nvPr/>
        </p:nvSpPr>
        <p:spPr>
          <a:xfrm>
            <a:off x="4422957" y="274233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0346520-CFE6-3A7C-522B-E5E5916C1D4B}"/>
              </a:ext>
            </a:extLst>
          </p:cNvPr>
          <p:cNvSpPr/>
          <p:nvPr/>
        </p:nvSpPr>
        <p:spPr>
          <a:xfrm>
            <a:off x="1987128" y="2688089"/>
            <a:ext cx="1973655" cy="39614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FEAB27D-C067-4B81-4AD6-484F8065EE3D}"/>
              </a:ext>
            </a:extLst>
          </p:cNvPr>
          <p:cNvSpPr/>
          <p:nvPr/>
        </p:nvSpPr>
        <p:spPr>
          <a:xfrm>
            <a:off x="1764624" y="3503891"/>
            <a:ext cx="6773343" cy="83950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5" name="Rectángulo redondeado 15">
            <a:extLst>
              <a:ext uri="{FF2B5EF4-FFF2-40B4-BE49-F238E27FC236}">
                <a16:creationId xmlns:a16="http://schemas.microsoft.com/office/drawing/2014/main" id="{2842F936-C47B-8165-C6C4-76BE7301FD06}"/>
              </a:ext>
            </a:extLst>
          </p:cNvPr>
          <p:cNvSpPr/>
          <p:nvPr/>
        </p:nvSpPr>
        <p:spPr>
          <a:xfrm>
            <a:off x="8617005" y="3845571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66417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2C90-4FB7-C79B-076A-C4700F0B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37FBAF-39E6-63B7-837A-6416452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30" y="1165345"/>
            <a:ext cx="11040328" cy="477778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B816F1E0-B8D5-A581-F954-056625F7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Reglas de definición de selección de población (GLRSLCT)</a:t>
            </a:r>
            <a:endParaRPr lang="es-ES_tradnl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F61D9D4-8004-6EEE-6C63-8124345D8664}"/>
              </a:ext>
            </a:extLst>
          </p:cNvPr>
          <p:cNvSpPr/>
          <p:nvPr/>
        </p:nvSpPr>
        <p:spPr>
          <a:xfrm>
            <a:off x="2830298" y="4648773"/>
            <a:ext cx="5801638" cy="770267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6. SIEMPRE se debe compilar, para esto seleccione  ‘</a:t>
            </a:r>
            <a:r>
              <a:rPr lang="es-ES_tradnl" sz="1200" dirty="0">
                <a:sym typeface="Wingdings" panose="05000000000000000000" pitchFamily="2" charset="2"/>
              </a:rPr>
              <a:t>’ </a:t>
            </a:r>
          </a:p>
          <a:p>
            <a:r>
              <a:rPr lang="es-ES_tradnl" sz="1200" dirty="0">
                <a:sym typeface="Wingdings" panose="05000000000000000000" pitchFamily="2" charset="2"/>
              </a:rPr>
              <a:t>Espere que termine de procesar. Al terminar saldrá de la página.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F193A45E-6855-0BC9-A3EC-4C07F871461A}"/>
              </a:ext>
            </a:extLst>
          </p:cNvPr>
          <p:cNvSpPr/>
          <p:nvPr/>
        </p:nvSpPr>
        <p:spPr>
          <a:xfrm>
            <a:off x="9562995" y="1299999"/>
            <a:ext cx="330813" cy="25071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6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CFB138-7650-0B10-163F-B7D8FE5EBFF7}"/>
              </a:ext>
            </a:extLst>
          </p:cNvPr>
          <p:cNvSpPr/>
          <p:nvPr/>
        </p:nvSpPr>
        <p:spPr>
          <a:xfrm>
            <a:off x="9970565" y="1192956"/>
            <a:ext cx="450245" cy="21408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438B16-C1C9-E284-8975-A452045E14F6}"/>
              </a:ext>
            </a:extLst>
          </p:cNvPr>
          <p:cNvSpPr/>
          <p:nvPr/>
        </p:nvSpPr>
        <p:spPr>
          <a:xfrm>
            <a:off x="11416493" y="5419040"/>
            <a:ext cx="612865" cy="30697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E003A011-EFCD-A2A4-F8DB-6807A538E621}"/>
              </a:ext>
            </a:extLst>
          </p:cNvPr>
          <p:cNvSpPr/>
          <p:nvPr/>
        </p:nvSpPr>
        <p:spPr>
          <a:xfrm>
            <a:off x="11131698" y="56241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3434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3E83D-8700-6E60-7B8F-AFF16714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EB1AF9-944F-5EAE-6ED5-B9AF9219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18" y="978536"/>
            <a:ext cx="10553946" cy="4879683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320CFDE9-1722-BCBD-8537-F302420D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732C661-9FAB-694A-6D30-49704FF3E227}"/>
              </a:ext>
            </a:extLst>
          </p:cNvPr>
          <p:cNvSpPr/>
          <p:nvPr/>
        </p:nvSpPr>
        <p:spPr>
          <a:xfrm>
            <a:off x="2160164" y="5016303"/>
            <a:ext cx="8085884" cy="128044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/>
            </a:pPr>
            <a:r>
              <a:rPr lang="es-ES_tradnl" sz="1200" dirty="0"/>
              <a:t>Ingrese ‘DATABASE’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Ingrese  los parámetros que correspondan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Seleccione bloque siguiente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9FAB86D3-8C8B-031F-8D33-610A60577490}"/>
              </a:ext>
            </a:extLst>
          </p:cNvPr>
          <p:cNvSpPr/>
          <p:nvPr/>
        </p:nvSpPr>
        <p:spPr>
          <a:xfrm>
            <a:off x="3937217" y="1924740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3F862B-BA11-9529-FF3D-1A77822401FC}"/>
              </a:ext>
            </a:extLst>
          </p:cNvPr>
          <p:cNvSpPr/>
          <p:nvPr/>
        </p:nvSpPr>
        <p:spPr>
          <a:xfrm>
            <a:off x="1375024" y="5702071"/>
            <a:ext cx="307472" cy="15614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5" name="Rectángulo redondeado 15">
            <a:extLst>
              <a:ext uri="{FF2B5EF4-FFF2-40B4-BE49-F238E27FC236}">
                <a16:creationId xmlns:a16="http://schemas.microsoft.com/office/drawing/2014/main" id="{48303FAD-FAE7-2D47-D1B5-57FBBBC396C0}"/>
              </a:ext>
            </a:extLst>
          </p:cNvPr>
          <p:cNvSpPr/>
          <p:nvPr/>
        </p:nvSpPr>
        <p:spPr>
          <a:xfrm>
            <a:off x="8580948" y="3544571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87452F2-C82B-2D52-6689-A24936BF38FC}"/>
              </a:ext>
            </a:extLst>
          </p:cNvPr>
          <p:cNvSpPr/>
          <p:nvPr/>
        </p:nvSpPr>
        <p:spPr>
          <a:xfrm>
            <a:off x="1987128" y="1863992"/>
            <a:ext cx="1973655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9" name="Rectángulo redondeado 15">
            <a:extLst>
              <a:ext uri="{FF2B5EF4-FFF2-40B4-BE49-F238E27FC236}">
                <a16:creationId xmlns:a16="http://schemas.microsoft.com/office/drawing/2014/main" id="{35C11BD4-52C1-651E-F34F-B76806BFED25}"/>
              </a:ext>
            </a:extLst>
          </p:cNvPr>
          <p:cNvSpPr/>
          <p:nvPr/>
        </p:nvSpPr>
        <p:spPr>
          <a:xfrm>
            <a:off x="1555581" y="5423184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C25C57A-2C97-41B8-546A-2D24C89AA729}"/>
              </a:ext>
            </a:extLst>
          </p:cNvPr>
          <p:cNvSpPr/>
          <p:nvPr/>
        </p:nvSpPr>
        <p:spPr>
          <a:xfrm>
            <a:off x="1682496" y="3391632"/>
            <a:ext cx="6855471" cy="151521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53990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4AE11-666E-F8DE-992F-BB38A7C0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1EED73-4350-2E9D-1E24-E6341F465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72" y="922567"/>
            <a:ext cx="11253855" cy="501286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4C03741-EA47-CF54-8B07-CA50FB51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C9A8C14-10A5-DD7C-ABDE-6B658C3C2295}"/>
              </a:ext>
            </a:extLst>
          </p:cNvPr>
          <p:cNvSpPr/>
          <p:nvPr/>
        </p:nvSpPr>
        <p:spPr>
          <a:xfrm>
            <a:off x="2160163" y="1819089"/>
            <a:ext cx="8085884" cy="128044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 startAt="4"/>
            </a:pPr>
            <a:r>
              <a:rPr lang="es-ES_tradnl" sz="1200" dirty="0"/>
              <a:t>Debe estar en la sección de ‘ENVÍO’</a:t>
            </a:r>
          </a:p>
          <a:p>
            <a:pPr marL="228600" indent="-228600">
              <a:buAutoNum type="arabicPeriod" startAt="4"/>
            </a:pPr>
            <a:r>
              <a:rPr lang="es-ES_tradnl" sz="1200" dirty="0"/>
              <a:t>Guarde la información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FEDE53-AD1F-785E-DAD3-EA0108B3574A}"/>
              </a:ext>
            </a:extLst>
          </p:cNvPr>
          <p:cNvSpPr/>
          <p:nvPr/>
        </p:nvSpPr>
        <p:spPr>
          <a:xfrm>
            <a:off x="11143109" y="5579331"/>
            <a:ext cx="579818" cy="2362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5" name="Rectángulo redondeado 15">
            <a:extLst>
              <a:ext uri="{FF2B5EF4-FFF2-40B4-BE49-F238E27FC236}">
                <a16:creationId xmlns:a16="http://schemas.microsoft.com/office/drawing/2014/main" id="{D4BF77B2-EA99-306C-D5C0-D9BA72480330}"/>
              </a:ext>
            </a:extLst>
          </p:cNvPr>
          <p:cNvSpPr/>
          <p:nvPr/>
        </p:nvSpPr>
        <p:spPr>
          <a:xfrm>
            <a:off x="8241367" y="481558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29" name="Rectángulo redondeado 15">
            <a:extLst>
              <a:ext uri="{FF2B5EF4-FFF2-40B4-BE49-F238E27FC236}">
                <a16:creationId xmlns:a16="http://schemas.microsoft.com/office/drawing/2014/main" id="{34A6BDF9-8A39-2E6E-9F88-6C68D9956299}"/>
              </a:ext>
            </a:extLst>
          </p:cNvPr>
          <p:cNvSpPr/>
          <p:nvPr/>
        </p:nvSpPr>
        <p:spPr>
          <a:xfrm>
            <a:off x="10905332" y="5641288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7788086-5A63-F0A2-36FE-26ABA42110AA}"/>
              </a:ext>
            </a:extLst>
          </p:cNvPr>
          <p:cNvSpPr/>
          <p:nvPr/>
        </p:nvSpPr>
        <p:spPr>
          <a:xfrm>
            <a:off x="365865" y="4540426"/>
            <a:ext cx="7772295" cy="10678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75352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2DBA-BADB-FF7A-E774-7001E5E1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1B2E22-CD1A-8588-CFDF-0E0B28101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07" y="794653"/>
            <a:ext cx="11039334" cy="488835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8DAC51F5-F1FE-8330-FA50-7A8A7B20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B8B24E3-36AF-BE7C-B0EB-AF5D71A831E3}"/>
              </a:ext>
            </a:extLst>
          </p:cNvPr>
          <p:cNvSpPr/>
          <p:nvPr/>
        </p:nvSpPr>
        <p:spPr>
          <a:xfrm>
            <a:off x="2160163" y="1819089"/>
            <a:ext cx="8085884" cy="128044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 startAt="6"/>
            </a:pPr>
            <a:r>
              <a:rPr lang="es-ES_tradnl" sz="1200" dirty="0"/>
              <a:t>La página pedirá que ingrese las variables definidas en la selección de población, en esté caso el PROGRAMA.</a:t>
            </a:r>
          </a:p>
          <a:p>
            <a:pPr marL="228600" indent="-228600">
              <a:buAutoNum type="arabicPeriod" startAt="6"/>
            </a:pPr>
            <a:r>
              <a:rPr lang="es-ES_tradnl" sz="1200" dirty="0"/>
              <a:t>Seleccione bloque siguiente</a:t>
            </a:r>
          </a:p>
          <a:p>
            <a:pPr marL="228600" indent="-228600">
              <a:buAutoNum type="arabicPeriod" startAt="6"/>
            </a:pPr>
            <a:r>
              <a:rPr lang="es-ES_tradnl" sz="1200" dirty="0"/>
              <a:t>Pasará a la sección de ‘ENVÍO’ , puede guardar los parámetros marcando ‘GUARDAR PARÁMETROS COMO’</a:t>
            </a:r>
          </a:p>
          <a:p>
            <a:pPr marL="228600" indent="-228600">
              <a:buAutoNum type="arabicPeriod" startAt="6"/>
            </a:pPr>
            <a:r>
              <a:rPr lang="es-ES_tradnl" sz="1200" dirty="0"/>
              <a:t>Guarde la información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84CF5B2-9716-D7F6-87D4-16A2DCC0CC82}"/>
              </a:ext>
            </a:extLst>
          </p:cNvPr>
          <p:cNvSpPr/>
          <p:nvPr/>
        </p:nvSpPr>
        <p:spPr>
          <a:xfrm>
            <a:off x="11222312" y="5372125"/>
            <a:ext cx="579818" cy="2362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5" name="Rectángulo redondeado 15">
            <a:extLst>
              <a:ext uri="{FF2B5EF4-FFF2-40B4-BE49-F238E27FC236}">
                <a16:creationId xmlns:a16="http://schemas.microsoft.com/office/drawing/2014/main" id="{5F7A0511-C77F-DE62-0467-1EFE7399FE3A}"/>
              </a:ext>
            </a:extLst>
          </p:cNvPr>
          <p:cNvSpPr/>
          <p:nvPr/>
        </p:nvSpPr>
        <p:spPr>
          <a:xfrm>
            <a:off x="11485150" y="415513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6</a:t>
            </a:r>
          </a:p>
        </p:txBody>
      </p:sp>
      <p:sp>
        <p:nvSpPr>
          <p:cNvPr id="29" name="Rectángulo redondeado 15">
            <a:extLst>
              <a:ext uri="{FF2B5EF4-FFF2-40B4-BE49-F238E27FC236}">
                <a16:creationId xmlns:a16="http://schemas.microsoft.com/office/drawing/2014/main" id="{FBB620ED-2EAA-A4F8-706F-67A5C4738F95}"/>
              </a:ext>
            </a:extLst>
          </p:cNvPr>
          <p:cNvSpPr/>
          <p:nvPr/>
        </p:nvSpPr>
        <p:spPr>
          <a:xfrm>
            <a:off x="409145" y="4935645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8</a:t>
            </a:r>
            <a:endParaRPr lang="es-419" sz="1100" noProof="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FB069F1-8636-14A9-6DEC-879710142FC7}"/>
              </a:ext>
            </a:extLst>
          </p:cNvPr>
          <p:cNvSpPr/>
          <p:nvPr/>
        </p:nvSpPr>
        <p:spPr>
          <a:xfrm>
            <a:off x="622290" y="4131748"/>
            <a:ext cx="10630714" cy="2362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5C816A-FE3E-766D-C66C-9D60D2780084}"/>
              </a:ext>
            </a:extLst>
          </p:cNvPr>
          <p:cNvSpPr/>
          <p:nvPr/>
        </p:nvSpPr>
        <p:spPr>
          <a:xfrm>
            <a:off x="666373" y="4855539"/>
            <a:ext cx="579818" cy="2362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CCBD2664-03AD-253A-EE7C-2E1729D9F09E}"/>
              </a:ext>
            </a:extLst>
          </p:cNvPr>
          <p:cNvSpPr/>
          <p:nvPr/>
        </p:nvSpPr>
        <p:spPr>
          <a:xfrm>
            <a:off x="883367" y="5400216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242E6E-D073-D1CA-90EE-FA6ABC22101C}"/>
              </a:ext>
            </a:extLst>
          </p:cNvPr>
          <p:cNvSpPr/>
          <p:nvPr/>
        </p:nvSpPr>
        <p:spPr>
          <a:xfrm>
            <a:off x="1133855" y="5368406"/>
            <a:ext cx="401803" cy="2362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6EFB6A7B-15CA-710D-2D65-900C2687CE57}"/>
              </a:ext>
            </a:extLst>
          </p:cNvPr>
          <p:cNvSpPr/>
          <p:nvPr/>
        </p:nvSpPr>
        <p:spPr>
          <a:xfrm>
            <a:off x="10907926" y="5400215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6958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0C89-60BE-3264-8B6A-63370FCE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60A25A3-218F-2B46-FDB5-7F36006FE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82" y="932688"/>
            <a:ext cx="10650354" cy="4747078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D3E8855D-9400-3815-D73E-6DE979B2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50BB07-A331-4352-A826-B3EF0C319644}"/>
              </a:ext>
            </a:extLst>
          </p:cNvPr>
          <p:cNvSpPr/>
          <p:nvPr/>
        </p:nvSpPr>
        <p:spPr>
          <a:xfrm>
            <a:off x="6402354" y="1746503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Seleccione Revisar salida (GJIREVO)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81A9B9D-221A-F526-AA01-ACC50419BD2A}"/>
              </a:ext>
            </a:extLst>
          </p:cNvPr>
          <p:cNvSpPr/>
          <p:nvPr/>
        </p:nvSpPr>
        <p:spPr>
          <a:xfrm>
            <a:off x="9613888" y="1567162"/>
            <a:ext cx="1264317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68444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2C4E-21A4-ACB4-FCD3-DF25D23B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DFB925-9F2C-621D-AF2D-6090DAEA4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52" y="1044444"/>
            <a:ext cx="10762864" cy="476592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03E4E3F-202E-319F-FF22-D7DFE5D5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5569235-718A-E015-397C-EAC59FDB7BD0}"/>
              </a:ext>
            </a:extLst>
          </p:cNvPr>
          <p:cNvSpPr/>
          <p:nvPr/>
        </p:nvSpPr>
        <p:spPr>
          <a:xfrm>
            <a:off x="4492909" y="3803903"/>
            <a:ext cx="3042691" cy="50182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Seleccione el archivo .log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61C1BFB-C282-32A2-7DDE-6733830176DB}"/>
              </a:ext>
            </a:extLst>
          </p:cNvPr>
          <p:cNvSpPr/>
          <p:nvPr/>
        </p:nvSpPr>
        <p:spPr>
          <a:xfrm>
            <a:off x="4492909" y="2783315"/>
            <a:ext cx="1264317" cy="266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821377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86C1-0907-4969-D10E-552A3F4F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8EC778-B217-6B3B-0962-8EB5699AB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28" y="1188720"/>
            <a:ext cx="10574580" cy="410216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C7FFAE5-82E8-7516-B0CD-8CC0E793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 err="1">
                <a:solidFill>
                  <a:schemeClr val="tx2"/>
                </a:solidFill>
              </a:rPr>
              <a:t>Extracc</a:t>
            </a:r>
            <a:r>
              <a:rPr lang="es-CO" dirty="0">
                <a:solidFill>
                  <a:schemeClr val="tx2"/>
                </a:solidFill>
              </a:rPr>
              <a:t>. de selección de </a:t>
            </a:r>
            <a:r>
              <a:rPr lang="es-CO" dirty="0" err="1">
                <a:solidFill>
                  <a:schemeClr val="tx2"/>
                </a:solidFill>
              </a:rPr>
              <a:t>pobl</a:t>
            </a:r>
            <a:r>
              <a:rPr lang="es-CO" dirty="0">
                <a:solidFill>
                  <a:schemeClr val="tx2"/>
                </a:solidFill>
              </a:rPr>
              <a:t>.(GLBDATAJ)</a:t>
            </a:r>
            <a:endParaRPr lang="es-ES_tradnl" b="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8095DC4-0B3E-CEA4-FD25-F13EF75EA335}"/>
              </a:ext>
            </a:extLst>
          </p:cNvPr>
          <p:cNvSpPr/>
          <p:nvPr/>
        </p:nvSpPr>
        <p:spPr>
          <a:xfrm>
            <a:off x="4189506" y="4069079"/>
            <a:ext cx="3610326" cy="941833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1. Seleccione la última hoja</a:t>
            </a:r>
          </a:p>
          <a:p>
            <a:r>
              <a:rPr lang="es-ES_tradnl" sz="1200" dirty="0"/>
              <a:t>2. El reporte mostrará cuantos estudiantes cumplen las condiciones. En esté ejemplo 1 estudiante.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3752471B-A163-C32E-64B0-D36D8D4B8AF1}"/>
              </a:ext>
            </a:extLst>
          </p:cNvPr>
          <p:cNvSpPr/>
          <p:nvPr/>
        </p:nvSpPr>
        <p:spPr>
          <a:xfrm>
            <a:off x="1553945" y="4069079"/>
            <a:ext cx="228129" cy="17281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491230-0C36-433E-603C-E1E1217152ED}"/>
              </a:ext>
            </a:extLst>
          </p:cNvPr>
          <p:cNvSpPr/>
          <p:nvPr/>
        </p:nvSpPr>
        <p:spPr>
          <a:xfrm>
            <a:off x="995628" y="3822192"/>
            <a:ext cx="1006908" cy="24688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54746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5420-6B0E-459F-07CD-096A033D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9F17B6-E854-6669-7099-8136E76B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8" y="748125"/>
            <a:ext cx="10944710" cy="1846235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E0663D4A-69AA-2DFC-7D07-7E300841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Datos de extracción de selección de población.(GLAEXTR)</a:t>
            </a:r>
            <a:endParaRPr lang="es-ES_tradnl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27B3AEF-5C7C-9ACA-235A-31287ABA79E9}"/>
              </a:ext>
            </a:extLst>
          </p:cNvPr>
          <p:cNvSpPr/>
          <p:nvPr/>
        </p:nvSpPr>
        <p:spPr>
          <a:xfrm>
            <a:off x="4241304" y="3196596"/>
            <a:ext cx="3469968" cy="1079276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indent="-228600">
              <a:buAutoNum type="arabicPeriod"/>
            </a:pPr>
            <a:r>
              <a:rPr lang="es-ES_tradnl" sz="1200" dirty="0"/>
              <a:t>Ingrese el nombre de la Aplicación 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Seleccione el ID de selección</a:t>
            </a:r>
          </a:p>
          <a:p>
            <a:pPr marL="228600" indent="-228600">
              <a:buAutoNum type="arabicPeriod"/>
            </a:pPr>
            <a:r>
              <a:rPr lang="es-ES_tradnl" sz="1200" dirty="0"/>
              <a:t>Seleccione IR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7AAA5441-3931-55F5-D917-411FB773FBBC}"/>
              </a:ext>
            </a:extLst>
          </p:cNvPr>
          <p:cNvSpPr/>
          <p:nvPr/>
        </p:nvSpPr>
        <p:spPr>
          <a:xfrm>
            <a:off x="460144" y="1078958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908935-EAAB-8CC4-5344-9E5349E97F8D}"/>
              </a:ext>
            </a:extLst>
          </p:cNvPr>
          <p:cNvSpPr/>
          <p:nvPr/>
        </p:nvSpPr>
        <p:spPr>
          <a:xfrm>
            <a:off x="789498" y="1105737"/>
            <a:ext cx="4276278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2" name="Rectángulo redondeado 15">
            <a:extLst>
              <a:ext uri="{FF2B5EF4-FFF2-40B4-BE49-F238E27FC236}">
                <a16:creationId xmlns:a16="http://schemas.microsoft.com/office/drawing/2014/main" id="{6F752CCC-6C42-0E1B-3C3A-F390B433D1A0}"/>
              </a:ext>
            </a:extLst>
          </p:cNvPr>
          <p:cNvSpPr/>
          <p:nvPr/>
        </p:nvSpPr>
        <p:spPr>
          <a:xfrm>
            <a:off x="8337217" y="1128406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4973D9C-80B6-254D-A070-05F8B3358E40}"/>
              </a:ext>
            </a:extLst>
          </p:cNvPr>
          <p:cNvSpPr/>
          <p:nvPr/>
        </p:nvSpPr>
        <p:spPr>
          <a:xfrm>
            <a:off x="5809320" y="1104432"/>
            <a:ext cx="2539152" cy="21039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1EAB4A2-46A9-CCA3-ADF1-11269A4252AB}"/>
              </a:ext>
            </a:extLst>
          </p:cNvPr>
          <p:cNvSpPr/>
          <p:nvPr/>
        </p:nvSpPr>
        <p:spPr>
          <a:xfrm>
            <a:off x="11303540" y="1125244"/>
            <a:ext cx="388729" cy="24017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2" name="Rectángulo redondeado 15">
            <a:extLst>
              <a:ext uri="{FF2B5EF4-FFF2-40B4-BE49-F238E27FC236}">
                <a16:creationId xmlns:a16="http://schemas.microsoft.com/office/drawing/2014/main" id="{3586EC84-525A-3770-41DF-0A8EF8760D3E}"/>
              </a:ext>
            </a:extLst>
          </p:cNvPr>
          <p:cNvSpPr/>
          <p:nvPr/>
        </p:nvSpPr>
        <p:spPr>
          <a:xfrm>
            <a:off x="10958129" y="1111341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3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437496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3ADA-127A-D96B-DA54-69C2E218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4589B8-A093-3A90-BC1B-BABB3E410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21" y="679154"/>
            <a:ext cx="11429948" cy="4929869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B9AFCEF2-1C9F-CF5E-82B7-E6EAC21C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7" y="145889"/>
            <a:ext cx="10477497" cy="898555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Datos de extracción de selección de población.(GLAEXTR)</a:t>
            </a:r>
            <a:endParaRPr lang="es-ES_tradnl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13DF49F-D9F9-6F53-CAAF-6BDBB20726A5}"/>
              </a:ext>
            </a:extLst>
          </p:cNvPr>
          <p:cNvSpPr/>
          <p:nvPr/>
        </p:nvSpPr>
        <p:spPr>
          <a:xfrm>
            <a:off x="2339352" y="3429000"/>
            <a:ext cx="8085884" cy="128044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4.  Si la selección genero estudiantes, aparecerán en la sección de ‘DATOS DE EXTRACCIÓN DE SELECCIÓN DE POBLACIÓN’</a:t>
            </a:r>
          </a:p>
          <a:p>
            <a:r>
              <a:rPr lang="es-ES_tradnl" sz="1200" dirty="0"/>
              <a:t>5.  Se pueden adicionar manualmente ID, con el botón de ‘+’</a:t>
            </a:r>
          </a:p>
          <a:p>
            <a:r>
              <a:rPr lang="es-ES_tradnl" sz="1200" dirty="0"/>
              <a:t>6.  Si realizo algún cambio Guarde la información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59BEEA-625C-FECA-CEE3-5102BD2B888F}"/>
              </a:ext>
            </a:extLst>
          </p:cNvPr>
          <p:cNvSpPr/>
          <p:nvPr/>
        </p:nvSpPr>
        <p:spPr>
          <a:xfrm>
            <a:off x="11515004" y="5376303"/>
            <a:ext cx="612865" cy="19435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0" name="Rectángulo redondeado 15">
            <a:extLst>
              <a:ext uri="{FF2B5EF4-FFF2-40B4-BE49-F238E27FC236}">
                <a16:creationId xmlns:a16="http://schemas.microsoft.com/office/drawing/2014/main" id="{6DA4BFCD-04C4-029B-EC80-48CEE3B11D45}"/>
              </a:ext>
            </a:extLst>
          </p:cNvPr>
          <p:cNvSpPr/>
          <p:nvPr/>
        </p:nvSpPr>
        <p:spPr>
          <a:xfrm>
            <a:off x="11009844" y="1653867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26" name="Rectángulo redondeado 15">
            <a:extLst>
              <a:ext uri="{FF2B5EF4-FFF2-40B4-BE49-F238E27FC236}">
                <a16:creationId xmlns:a16="http://schemas.microsoft.com/office/drawing/2014/main" id="{75FB7AE3-FA39-ABD9-6CB3-976B51D58780}"/>
              </a:ext>
            </a:extLst>
          </p:cNvPr>
          <p:cNvSpPr/>
          <p:nvPr/>
        </p:nvSpPr>
        <p:spPr>
          <a:xfrm>
            <a:off x="3580238" y="1997305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78ACA60-926F-3D15-6857-3D637B70FA61}"/>
              </a:ext>
            </a:extLst>
          </p:cNvPr>
          <p:cNvSpPr/>
          <p:nvPr/>
        </p:nvSpPr>
        <p:spPr>
          <a:xfrm>
            <a:off x="697921" y="1859690"/>
            <a:ext cx="2831663" cy="39614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6870C25-FA68-685D-0840-A99BF5AA8379}"/>
              </a:ext>
            </a:extLst>
          </p:cNvPr>
          <p:cNvSpPr/>
          <p:nvPr/>
        </p:nvSpPr>
        <p:spPr>
          <a:xfrm>
            <a:off x="11165325" y="1481697"/>
            <a:ext cx="164592" cy="19202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2" name="Rectángulo redondeado 15">
            <a:extLst>
              <a:ext uri="{FF2B5EF4-FFF2-40B4-BE49-F238E27FC236}">
                <a16:creationId xmlns:a16="http://schemas.microsoft.com/office/drawing/2014/main" id="{FAE6C040-C7D6-3B65-046B-DC08A9A38A97}"/>
              </a:ext>
            </a:extLst>
          </p:cNvPr>
          <p:cNvSpPr/>
          <p:nvPr/>
        </p:nvSpPr>
        <p:spPr>
          <a:xfrm>
            <a:off x="11256302" y="5376303"/>
            <a:ext cx="237777" cy="15614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51418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8239-6096-8B04-FE02-27F762A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FFCFA04-98AE-5642-C7A0-944FF6D715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456" y="1584355"/>
            <a:ext cx="10477499" cy="4267198"/>
          </a:xfrm>
        </p:spPr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419" sz="2000" dirty="0"/>
          </a:p>
          <a:p>
            <a:pPr fontAlgn="t">
              <a:lnSpc>
                <a:spcPts val="1500"/>
              </a:lnSpc>
              <a:buClrTx/>
              <a:buFont typeface="Wingdings" panose="05000000000000000000" pitchFamily="2" charset="2"/>
              <a:buChar char="v"/>
            </a:pPr>
            <a:r>
              <a:rPr lang="es-CO" dirty="0"/>
              <a:t>Se pueden crear variables en </a:t>
            </a:r>
            <a:r>
              <a:rPr lang="es-CO" b="1" dirty="0"/>
              <a:t>GLRVRBL</a:t>
            </a:r>
            <a:r>
              <a:rPr lang="es-CO" dirty="0"/>
              <a:t> para utilizarlas en las selecciones de población, facilitando la ejecución y administración de consultas.</a:t>
            </a:r>
          </a:p>
          <a:p>
            <a:pPr marL="0" indent="0" fontAlgn="t">
              <a:lnSpc>
                <a:spcPts val="1500"/>
              </a:lnSpc>
              <a:buClrTx/>
              <a:buNone/>
            </a:pPr>
            <a:endParaRPr lang="es-CO" dirty="0"/>
          </a:p>
          <a:p>
            <a:pPr fontAlgn="t">
              <a:lnSpc>
                <a:spcPts val="1500"/>
              </a:lnSpc>
              <a:buClrTx/>
              <a:buFont typeface="Wingdings" panose="05000000000000000000" pitchFamily="2" charset="2"/>
              <a:buChar char="v"/>
            </a:pPr>
            <a:r>
              <a:rPr lang="es-CO" dirty="0"/>
              <a:t>Mediante </a:t>
            </a:r>
            <a:r>
              <a:rPr lang="es-CO" b="1" dirty="0"/>
              <a:t>GLRSLCT</a:t>
            </a:r>
            <a:r>
              <a:rPr lang="es-CO" dirty="0"/>
              <a:t> es posible seleccionar estudiantes que cumplan criterios específicos, como haber finalizado su malla curricular, no presentar obligaciones financieras pendientes u otros requisitos registrados en </a:t>
            </a:r>
            <a:r>
              <a:rPr lang="es-CO" b="1" dirty="0"/>
              <a:t>Ellucian Student</a:t>
            </a:r>
            <a:r>
              <a:rPr lang="es-CO" dirty="0"/>
              <a:t>.</a:t>
            </a:r>
          </a:p>
          <a:p>
            <a:pPr marL="0" indent="0" fontAlgn="t">
              <a:lnSpc>
                <a:spcPts val="1500"/>
              </a:lnSpc>
              <a:buClrTx/>
              <a:buNone/>
            </a:pPr>
            <a:endParaRPr lang="es-CO" dirty="0"/>
          </a:p>
          <a:p>
            <a:pPr fontAlgn="t">
              <a:lnSpc>
                <a:spcPts val="1500"/>
              </a:lnSpc>
              <a:buClrTx/>
              <a:buFont typeface="Wingdings" panose="05000000000000000000" pitchFamily="2" charset="2"/>
              <a:buChar char="v"/>
            </a:pPr>
            <a:r>
              <a:rPr lang="es-CO" dirty="0"/>
              <a:t>Los estudiantes que requieran un cambio de estado pueden cargarse de forma masiva mediante archivos planos, optimizando el proceso de actualización.</a:t>
            </a:r>
          </a:p>
          <a:p>
            <a:pPr marL="0" indent="0" fontAlgn="t">
              <a:lnSpc>
                <a:spcPts val="1500"/>
              </a:lnSpc>
              <a:buClrTx/>
              <a:buNone/>
            </a:pPr>
            <a:endParaRPr lang="es-CO" dirty="0"/>
          </a:p>
          <a:p>
            <a:pPr fontAlgn="t">
              <a:lnSpc>
                <a:spcPts val="1500"/>
              </a:lnSpc>
              <a:buClrTx/>
              <a:buFont typeface="Wingdings" panose="05000000000000000000" pitchFamily="2" charset="2"/>
              <a:buChar char="v"/>
            </a:pPr>
            <a:r>
              <a:rPr lang="es-CO" dirty="0"/>
              <a:t>Los cambios masivos de estado pueden realizarse a través de </a:t>
            </a:r>
            <a:r>
              <a:rPr lang="es-CO" b="1" dirty="0"/>
              <a:t>SHAMDEG</a:t>
            </a:r>
            <a:r>
              <a:rPr lang="es-CO" dirty="0"/>
              <a:t>, permitiendo gestionar grandes volúmenes de registros de manera eficiente.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endParaRPr lang="es-419" sz="2000" dirty="0"/>
          </a:p>
          <a:p>
            <a:pPr algn="just">
              <a:buClrTx/>
              <a:buFont typeface="Wingdings" panose="05000000000000000000" pitchFamily="2" charset="2"/>
              <a:buChar char="v"/>
            </a:pPr>
            <a:endParaRPr lang="es-419" sz="2000" dirty="0"/>
          </a:p>
          <a:p>
            <a:pPr marL="0" indent="0" algn="just">
              <a:buClr>
                <a:srgbClr val="0CB4B4"/>
              </a:buClr>
              <a:buNone/>
            </a:pPr>
            <a:endParaRPr lang="es-419" sz="2000" dirty="0"/>
          </a:p>
        </p:txBody>
      </p:sp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5459240E-56A8-2BDE-4B7E-6E7303339CC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Ajustes de alumno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A544842-7D5D-F2DC-C50A-666026DE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3614248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CO" sz="2000" dirty="0"/>
              <a:t>Nidia Beltran</a:t>
            </a:r>
            <a:endParaRPr lang="es-419" sz="2000" dirty="0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Nidia.beltran@</a:t>
            </a:r>
            <a:r>
              <a:rPr lang="es-419" dirty="0"/>
              <a:t>ellucian.com</a:t>
            </a:r>
          </a:p>
        </p:txBody>
      </p:sp>
    </p:spTree>
    <p:extLst>
      <p:ext uri="{BB962C8B-B14F-4D97-AF65-F5344CB8AC3E}">
        <p14:creationId xmlns:p14="http://schemas.microsoft.com/office/powerpoint/2010/main" val="3192274581"/>
      </p:ext>
    </p:extLst>
  </p:cSld>
  <p:clrMapOvr>
    <a:masterClrMapping/>
  </p:clrMapOvr>
</p:sld>
</file>

<file path=ppt/theme/theme1.xml><?xml version="1.0" encoding="utf-8"?>
<a:theme xmlns:a="http://schemas.openxmlformats.org/drawingml/2006/main" name="Bullet Slide Master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6ECEE"/>
      </a:lt2>
      <a:accent1>
        <a:srgbClr val="691B76"/>
      </a:accent1>
      <a:accent2>
        <a:srgbClr val="340040"/>
      </a:accent2>
      <a:accent3>
        <a:srgbClr val="00C3FF"/>
      </a:accent3>
      <a:accent4>
        <a:srgbClr val="0C2C79"/>
      </a:accent4>
      <a:accent5>
        <a:srgbClr val="A1E6DA"/>
      </a:accent5>
      <a:accent6>
        <a:srgbClr val="00BD99"/>
      </a:accent6>
      <a:hlink>
        <a:srgbClr val="0C2C79"/>
      </a:hlink>
      <a:folHlink>
        <a:srgbClr val="555556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lucian PowerPoint Template_Updated_September 2021" id="{F887C945-8E68-4150-AC25-7BFFB8583376}" vid="{43C2AB0B-7F4D-4E07-841C-806ED5648A6C}"/>
    </a:ext>
  </a:extLst>
</a:theme>
</file>

<file path=ppt/theme/theme2.xml><?xml version="1.0" encoding="utf-8"?>
<a:theme xmlns:a="http://schemas.openxmlformats.org/drawingml/2006/main" name="Main Title Slides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6ECEE"/>
      </a:lt2>
      <a:accent1>
        <a:srgbClr val="691B76"/>
      </a:accent1>
      <a:accent2>
        <a:srgbClr val="340040"/>
      </a:accent2>
      <a:accent3>
        <a:srgbClr val="00C3FF"/>
      </a:accent3>
      <a:accent4>
        <a:srgbClr val="0C2C79"/>
      </a:accent4>
      <a:accent5>
        <a:srgbClr val="A1E6DA"/>
      </a:accent5>
      <a:accent6>
        <a:srgbClr val="00BD99"/>
      </a:accent6>
      <a:hlink>
        <a:srgbClr val="0C2C79"/>
      </a:hlink>
      <a:folHlink>
        <a:srgbClr val="55555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lucian PowerPoint Template_Updated_September 2021" id="{F887C945-8E68-4150-AC25-7BFFB8583376}" vid="{776ECCB4-28CA-446D-8C40-24765B83BCF2}"/>
    </a:ext>
  </a:extLst>
</a:theme>
</file>

<file path=ppt/theme/theme3.xml><?xml version="1.0" encoding="utf-8"?>
<a:theme xmlns:a="http://schemas.openxmlformats.org/drawingml/2006/main" name="Divider Slides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6ECEE"/>
      </a:lt2>
      <a:accent1>
        <a:srgbClr val="691B76"/>
      </a:accent1>
      <a:accent2>
        <a:srgbClr val="340040"/>
      </a:accent2>
      <a:accent3>
        <a:srgbClr val="00C3FF"/>
      </a:accent3>
      <a:accent4>
        <a:srgbClr val="0C2C79"/>
      </a:accent4>
      <a:accent5>
        <a:srgbClr val="A1E6DA"/>
      </a:accent5>
      <a:accent6>
        <a:srgbClr val="00BD99"/>
      </a:accent6>
      <a:hlink>
        <a:srgbClr val="0C2C79"/>
      </a:hlink>
      <a:folHlink>
        <a:srgbClr val="55555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lucian PowerPoint Template_Updated_September 2021" id="{F887C945-8E68-4150-AC25-7BFFB8583376}" vid="{2FE069D4-2EE8-4EE0-9DC1-225224885ECF}"/>
    </a:ext>
  </a:extLst>
</a:theme>
</file>

<file path=ppt/theme/theme4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D25AB14E-5FB9-4D56-95F9-7C8720217562}"/>
    </a:ext>
  </a:extLst>
</a:theme>
</file>

<file path=ppt/theme/theme5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7FF827A8-C46A-4566-99A6-5F934CCE2EB3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 PowerPoint Template_Updated_September 2021</Template>
  <TotalTime>9078</TotalTime>
  <Words>1883</Words>
  <Application>Microsoft Office PowerPoint</Application>
  <PresentationFormat>Panorámica</PresentationFormat>
  <Paragraphs>276</Paragraphs>
  <Slides>46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46</vt:i4>
      </vt:variant>
    </vt:vector>
  </HeadingPairs>
  <TitlesOfParts>
    <vt:vector size="60" baseType="lpstr">
      <vt:lpstr>Aptos</vt:lpstr>
      <vt:lpstr>Aptos Display</vt:lpstr>
      <vt:lpstr>Arial</vt:lpstr>
      <vt:lpstr>Courier New</vt:lpstr>
      <vt:lpstr>Helvetica Neue</vt:lpstr>
      <vt:lpstr>Inter</vt:lpstr>
      <vt:lpstr>Segoe UI</vt:lpstr>
      <vt:lpstr>System Font Regular</vt:lpstr>
      <vt:lpstr>Wingdings</vt:lpstr>
      <vt:lpstr>Bullet Slide Master</vt:lpstr>
      <vt:lpstr>Main Title Slides</vt:lpstr>
      <vt:lpstr>Divider Slides</vt:lpstr>
      <vt:lpstr>Ellucian Main Layouts</vt:lpstr>
      <vt:lpstr>Ellucian Blank Layouts</vt:lpstr>
      <vt:lpstr>Presentación de PowerPoint</vt:lpstr>
      <vt:lpstr>Presentación de PowerPoint</vt:lpstr>
      <vt:lpstr>Overview</vt:lpstr>
      <vt:lpstr>Overview: Mapa de capacidades</vt:lpstr>
      <vt:lpstr>Overview: Capacidad Otorgamiento del Título y Ceremonía del estudiante</vt:lpstr>
      <vt:lpstr>Overview: Capacidad Otorgamiento del Título y Ceremonia del estudiante</vt:lpstr>
      <vt:lpstr>Overview: Capacidad Operativa Gestión de Elegibilidad para Titulación </vt:lpstr>
      <vt:lpstr>Overview: Capacidad Operativa Gestión de Elegibilidad para Titulación </vt:lpstr>
      <vt:lpstr>Overview: Capacidad Operativa Gestión de Elegibilidad para Titulación </vt:lpstr>
      <vt:lpstr>Overview: Registrar y Validar el Cumplimiento de los Requisitos de Graduación o titulación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Consulta de resultados de cumplimiento (SMICRLT)</vt:lpstr>
      <vt:lpstr>Presentación de PowerPoint</vt:lpstr>
      <vt:lpstr>Reglas de definición de aplicación (GLRAPPL)</vt:lpstr>
      <vt:lpstr>Reglas de definición de aplicación (GLRAPPL)</vt:lpstr>
      <vt:lpstr>Presentación de PowerPoint</vt:lpstr>
      <vt:lpstr>Reglas de definición de selección de población (GLRSLCT)</vt:lpstr>
      <vt:lpstr>Reglas de definición de selección de población (GLRSLCT)</vt:lpstr>
      <vt:lpstr>Crear archivo plano </vt:lpstr>
      <vt:lpstr>Cargar archivo (GJAJFLU)</vt:lpstr>
      <vt:lpstr>Cargar archivo (GJRJFLU)</vt:lpstr>
      <vt:lpstr>Importar los ID - GJRPSIM</vt:lpstr>
      <vt:lpstr>Importar los ID</vt:lpstr>
      <vt:lpstr>Importar los ID</vt:lpstr>
      <vt:lpstr>Importar los ID</vt:lpstr>
      <vt:lpstr>Importar los ID</vt:lpstr>
      <vt:lpstr>Datos de extracción de selección de población GLAEXTR</vt:lpstr>
      <vt:lpstr>Presentación de PowerPoint</vt:lpstr>
      <vt:lpstr>Definición de reglas de variable (GLRVRBL)</vt:lpstr>
      <vt:lpstr>Reglas de definición de selección de población (GLRSLCT)</vt:lpstr>
      <vt:lpstr>Reglas de definición de selección de población (GLRSLCT)</vt:lpstr>
      <vt:lpstr>Reglas de definición de selección de población (GLRSLCT)</vt:lpstr>
      <vt:lpstr>Extracc. de selección de pobl.(GLBDATAJ)</vt:lpstr>
      <vt:lpstr>Extracc. de selección de pobl.(GLBDATAJ)</vt:lpstr>
      <vt:lpstr>Extracc. de selección de pobl.(GLBDATAJ)</vt:lpstr>
      <vt:lpstr>Extracc. de selección de pobl.(GLBDATAJ)</vt:lpstr>
      <vt:lpstr>Extracc. de selección de pobl.(GLBDATAJ)</vt:lpstr>
      <vt:lpstr>Extracc. de selección de pobl.(GLBDATAJ)</vt:lpstr>
      <vt:lpstr>Datos de extracción de selección de población.(GLAEXTR)</vt:lpstr>
      <vt:lpstr>Datos de extracción de selección de población.(GLAEXTR)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Beltran, Nidia</cp:lastModifiedBy>
  <cp:revision>21</cp:revision>
  <dcterms:created xsi:type="dcterms:W3CDTF">2025-12-11T22:43:27Z</dcterms:created>
  <dcterms:modified xsi:type="dcterms:W3CDTF">2026-07-21T14:35:14Z</dcterms:modified>
</cp:coreProperties>
</file>
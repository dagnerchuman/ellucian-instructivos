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3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  <p:sldMasterId id="2147483753" r:id="rId2"/>
    <p:sldMasterId id="2147483773" r:id="rId3"/>
    <p:sldMasterId id="2147483811" r:id="rId4"/>
  </p:sldMasterIdLst>
  <p:notesMasterIdLst>
    <p:notesMasterId r:id="rId30"/>
  </p:notesMasterIdLst>
  <p:sldIdLst>
    <p:sldId id="1322" r:id="rId5"/>
    <p:sldId id="1290" r:id="rId6"/>
    <p:sldId id="1174" r:id="rId7"/>
    <p:sldId id="1175" r:id="rId8"/>
    <p:sldId id="1291" r:id="rId9"/>
    <p:sldId id="1250" r:id="rId10"/>
    <p:sldId id="1251" r:id="rId11"/>
    <p:sldId id="1259" r:id="rId12"/>
    <p:sldId id="1292" r:id="rId13"/>
    <p:sldId id="1119" r:id="rId14"/>
    <p:sldId id="1325" r:id="rId15"/>
    <p:sldId id="1326" r:id="rId16"/>
    <p:sldId id="1275" r:id="rId17"/>
    <p:sldId id="1296" r:id="rId18"/>
    <p:sldId id="1293" r:id="rId19"/>
    <p:sldId id="1294" r:id="rId20"/>
    <p:sldId id="1295" r:id="rId21"/>
    <p:sldId id="1276" r:id="rId22"/>
    <p:sldId id="1297" r:id="rId23"/>
    <p:sldId id="1298" r:id="rId24"/>
    <p:sldId id="1327" r:id="rId25"/>
    <p:sldId id="1328" r:id="rId26"/>
    <p:sldId id="1300" r:id="rId27"/>
    <p:sldId id="1299" r:id="rId28"/>
    <p:sldId id="62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1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79188-A846-4E3F-A4E5-1F2BFAB7E1E9}" v="8" dt="2026-03-18T16:03:17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52AE8-C3D1-4F0C-9537-50799CDF3F70}" type="datetimeFigureOut">
              <a:rPr lang="es-419" smtClean="0"/>
              <a:t>24/6/2026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7B2D5-D921-4686-9404-D92C44D1256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5806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52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0CAB2-7343-ACAA-D791-BF80E8DE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3C9DF7-B153-96E9-0670-542D723C1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506EC5-59F0-6477-4347-F15191B52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65B404-3578-9EC2-A5A9-54D68990C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39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3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23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69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54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05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3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3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D39C-38CE-A1C4-6CDE-D2E4EAFF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AF91044-2FFD-0F9A-F319-3F9706E52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98125C-554B-02DF-BC34-213766573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C24CBC-AD45-272B-B990-9BB505588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5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DFBB-22DF-BAB2-1F72-BF4CD66C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71A62E-E76E-A3AF-9BA9-3AD16C6A5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56E746-FE1B-9FEB-509F-260283C4F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EBD592-2B29-9932-C208-688B67CE2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23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430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62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6452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1774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9886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8965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2097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23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50287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7534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554788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36373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939773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4253796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84607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73370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103555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80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23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14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47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4853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511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214352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6964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7208422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97886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457399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258573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640513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64180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871557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194191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F00F1-D933-8AA0-E7A4-0F5CD1B344D1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400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B49D1D-E006-95E3-C9AD-E07A51FD9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6938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90901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7600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81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 userDrawn="1"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891472692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>
          <p15:clr>
            <a:srgbClr val="FBAE40"/>
          </p15:clr>
        </p15:guide>
        <p15:guide id="2" pos="304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0383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0697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702220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052860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747244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90302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043516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64198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5529230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331394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26611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018417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333623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972939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208772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280012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1467692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20328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439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9743709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408220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5670575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127677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710493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961315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046258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92829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11402087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96904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1433887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813003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2299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191661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14349686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74644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1081137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8414481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859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7247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6247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7476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5874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7153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57114951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8220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75266306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803942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5085464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2925826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8394566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1304872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0882045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79043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81552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297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BB8DABF-D717-48D3-B001-F43E3E178399}" type="slidenum">
              <a:rPr lang="es-419" smtClean="0"/>
              <a:t>‹Nº›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46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1808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2247506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116672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9310207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944252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2641030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9565291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7251356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5006274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6157065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942421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9683445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5065479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8512137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595144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7708841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7987109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1613133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052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9" Type="http://schemas.openxmlformats.org/officeDocument/2006/relationships/image" Target="../media/image1.svg"/><Relationship Id="rId21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91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90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86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9.xml"/><Relationship Id="rId37" Type="http://schemas.openxmlformats.org/officeDocument/2006/relationships/slideLayout" Target="../slideLayouts/slideLayout94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31" Type="http://schemas.openxmlformats.org/officeDocument/2006/relationships/slideLayout" Target="../slideLayouts/slideLayout88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2.xml"/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110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04.xml"/><Relationship Id="rId19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9757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8" r:id="rId34"/>
    <p:sldLayoutId id="2147483749" r:id="rId35"/>
    <p:sldLayoutId id="2147483750" r:id="rId36"/>
    <p:sldLayoutId id="2147483751" r:id="rId37"/>
    <p:sldLayoutId id="2147483712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887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7531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797" r:id="rId24"/>
    <p:sldLayoutId id="2147483798" r:id="rId25"/>
    <p:sldLayoutId id="2147483799" r:id="rId26"/>
    <p:sldLayoutId id="2147483800" r:id="rId27"/>
    <p:sldLayoutId id="2147483801" r:id="rId28"/>
    <p:sldLayoutId id="2147483802" r:id="rId29"/>
    <p:sldLayoutId id="2147483803" r:id="rId30"/>
    <p:sldLayoutId id="2147483804" r:id="rId31"/>
    <p:sldLayoutId id="2147483805" r:id="rId32"/>
    <p:sldLayoutId id="2147483806" r:id="rId33"/>
    <p:sldLayoutId id="2147483807" r:id="rId34"/>
    <p:sldLayoutId id="2147483808" r:id="rId35"/>
    <p:sldLayoutId id="2147483809" r:id="rId36"/>
    <p:sldLayoutId id="2147483810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02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  <p:sldLayoutId id="214748383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4F7B45E6-A22E-4AC7-1472-85D0784AA9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56902" y="2100263"/>
            <a:ext cx="5651500" cy="174942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Asignar o actualizar retenciones</a:t>
            </a:r>
            <a:br>
              <a:rPr lang="es-419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endParaRPr lang="es-ES_tradnl" sz="4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36166E-FF53-5DF3-80C2-D8D7EB74A8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910" y="5234880"/>
            <a:ext cx="3032274" cy="194925"/>
          </a:xfrm>
        </p:spPr>
        <p:txBody>
          <a:bodyPr/>
          <a:lstStyle/>
          <a:p>
            <a:r>
              <a:rPr lang="es-CO" dirty="0"/>
              <a:t>Universidad Señor de SIPAN</a:t>
            </a:r>
          </a:p>
        </p:txBody>
      </p:sp>
      <p:sp>
        <p:nvSpPr>
          <p:cNvPr id="15" name="Marcador de texto 5">
            <a:extLst>
              <a:ext uri="{FF2B5EF4-FFF2-40B4-BE49-F238E27FC236}">
                <a16:creationId xmlns:a16="http://schemas.microsoft.com/office/drawing/2014/main" id="{FD61A954-B54C-7D94-F4E9-0359EAD33A73}"/>
              </a:ext>
            </a:extLst>
          </p:cNvPr>
          <p:cNvSpPr txBox="1">
            <a:spLocks/>
          </p:cNvSpPr>
          <p:nvPr/>
        </p:nvSpPr>
        <p:spPr>
          <a:xfrm>
            <a:off x="620910" y="5874153"/>
            <a:ext cx="2228873" cy="19492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Junio, 2026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01BC6757-8472-0EB1-4547-4558CED3BC44}"/>
              </a:ext>
            </a:extLst>
          </p:cNvPr>
          <p:cNvSpPr txBox="1">
            <a:spLocks/>
          </p:cNvSpPr>
          <p:nvPr/>
        </p:nvSpPr>
        <p:spPr>
          <a:xfrm>
            <a:off x="556902" y="3429000"/>
            <a:ext cx="5427132" cy="29245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800"/>
              <a:t>Instructivo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250606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vertical 3">
            <a:extLst>
              <a:ext uri="{FF2B5EF4-FFF2-40B4-BE49-F238E27FC236}">
                <a16:creationId xmlns:a16="http://schemas.microsoft.com/office/drawing/2014/main" id="{9B079538-813F-9222-1BBD-41637301C228}"/>
              </a:ext>
            </a:extLst>
          </p:cNvPr>
          <p:cNvSpPr>
            <a:spLocks noGrp="1"/>
          </p:cNvSpPr>
          <p:nvPr>
            <p:ph type="body" orient="vert" sz="quarter" idx="4294967295"/>
          </p:nvPr>
        </p:nvSpPr>
        <p:spPr>
          <a:xfrm>
            <a:off x="0" y="685800"/>
            <a:ext cx="609600" cy="5486400"/>
          </a:xfrm>
          <a:prstGeom prst="rect">
            <a:avLst/>
          </a:prstGeom>
        </p:spPr>
        <p:txBody>
          <a:bodyPr vert="vert270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s-ES" sz="1200" spc="300" dirty="0">
                <a:solidFill>
                  <a:schemeClr val="bg1"/>
                </a:solidFill>
              </a:rPr>
              <a:t>Asignar o </a:t>
            </a:r>
            <a:r>
              <a:rPr lang="es-ES" sz="1200" spc="300">
                <a:solidFill>
                  <a:schemeClr val="bg1"/>
                </a:solidFill>
              </a:rPr>
              <a:t>actualizar retenciones</a:t>
            </a:r>
            <a:endParaRPr lang="es-419" sz="1200" spc="3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084897"/>
              </p:ext>
            </p:extLst>
          </p:nvPr>
        </p:nvGraphicFramePr>
        <p:xfrm>
          <a:off x="1268704" y="1378326"/>
          <a:ext cx="8916155" cy="4519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2833">
                <a:tc>
                  <a:txBody>
                    <a:bodyPr/>
                    <a:lstStyle/>
                    <a:p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sz="2000" b="0" kern="1200" noProof="0" dirty="0">
                        <a:solidFill>
                          <a:srgbClr val="414042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r>
                        <a:rPr lang="es-ES_tradnl" sz="2800" b="1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  <a:endParaRPr lang="es-ES_tradnl" sz="28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83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Configuraciones</a:t>
                      </a:r>
                      <a:endParaRPr lang="es-ES_tradnl" sz="28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83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Gestionar retenciones académicas a nivel de la persona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83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419" sz="2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Gestionar retenciones académicas a nivel del plan de estudios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873710"/>
                  </a:ext>
                </a:extLst>
              </a:tr>
              <a:tr h="80283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Resumen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2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5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0FFDD0-47DE-C691-E644-20A42868E6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9389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CAB30CFB-BE54-C6A7-25C9-4C8187E9495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 </a:t>
            </a:r>
            <a:r>
              <a:rPr lang="es-ES_tradnl" b="1" dirty="0"/>
              <a:t>Mapa de </a:t>
            </a:r>
            <a:r>
              <a:rPr lang="es-ES_tradnl" dirty="0"/>
              <a:t>Capacidades</a:t>
            </a:r>
            <a:endParaRPr lang="es-ES_tradnl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91BD2D-626E-0D7A-0068-EC0A1AD1E1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3607" r="2974"/>
          <a:stretch>
            <a:fillRect/>
          </a:stretch>
        </p:blipFill>
        <p:spPr bwMode="auto">
          <a:xfrm>
            <a:off x="609601" y="1365503"/>
            <a:ext cx="11225781" cy="45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47A31B-1EF7-747A-8612-A2304AC29F31}"/>
              </a:ext>
            </a:extLst>
          </p:cNvPr>
          <p:cNvSpPr/>
          <p:nvPr/>
        </p:nvSpPr>
        <p:spPr>
          <a:xfrm>
            <a:off x="903732" y="4227780"/>
            <a:ext cx="4308348" cy="6217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761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B7A307-5C70-7F03-3580-1D1730644EF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4C967B7-80CD-9606-C5BF-C3BB1501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 Procedimiento conducta estudiantil</a:t>
            </a:r>
            <a:br>
              <a:rPr lang="es-ES_tradnl" b="0" dirty="0"/>
            </a:br>
            <a:endParaRPr lang="es-419" b="0" dirty="0"/>
          </a:p>
        </p:txBody>
      </p:sp>
      <p:sp>
        <p:nvSpPr>
          <p:cNvPr id="7" name="Title 12">
            <a:extLst>
              <a:ext uri="{FF2B5EF4-FFF2-40B4-BE49-F238E27FC236}">
                <a16:creationId xmlns:a16="http://schemas.microsoft.com/office/drawing/2014/main" id="{8B20F06B-F250-FF66-14E6-D5380447899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dirty="0"/>
          </a:p>
        </p:txBody>
      </p:sp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09E58EE6-D825-A130-1509-A55AA970AB76}"/>
              </a:ext>
            </a:extLst>
          </p:cNvPr>
          <p:cNvSpPr txBox="1">
            <a:spLocks/>
          </p:cNvSpPr>
          <p:nvPr/>
        </p:nvSpPr>
        <p:spPr>
          <a:xfrm>
            <a:off x="1488700" y="1399408"/>
            <a:ext cx="8519392" cy="386080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9999"/>
              </a:buClr>
              <a:buFont typeface="Wingdings" panose="05000000000000000000" pitchFamily="2" charset="2"/>
              <a:buChar char="q"/>
            </a:pPr>
            <a:r>
              <a:rPr lang="es-CO" sz="2400" b="1" dirty="0">
                <a:solidFill>
                  <a:schemeClr val="tx1"/>
                </a:solidFill>
              </a:rPr>
              <a:t>Asignar o actualizar retenciones a estudiantes</a:t>
            </a:r>
            <a:endParaRPr lang="es-CO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60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AC3D39-B163-095B-128B-225FF6EB7D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0" tIns="0" rIns="0" bIns="0" rtlCol="0">
            <a:noAutofit/>
          </a:bodyPr>
          <a:lstStyle/>
          <a:p>
            <a:pPr lvl="1" algn="just">
              <a:buClr>
                <a:srgbClr val="009999"/>
              </a:buClr>
            </a:pPr>
            <a:r>
              <a:rPr lang="es-ES_tradnl" sz="2200" dirty="0"/>
              <a:t>Una persona o un estudiante puede tener varias retenciones.</a:t>
            </a:r>
          </a:p>
          <a:p>
            <a:pPr lvl="1" algn="just">
              <a:buClr>
                <a:srgbClr val="009999"/>
              </a:buClr>
            </a:pPr>
            <a:r>
              <a:rPr lang="es-ES_tradnl" sz="2200" dirty="0"/>
              <a:t>La institución puede asignar estas retenciones por ID o por plan de estudios.</a:t>
            </a:r>
          </a:p>
          <a:p>
            <a:pPr lvl="1" algn="just">
              <a:buClr>
                <a:srgbClr val="009999"/>
              </a:buClr>
            </a:pPr>
            <a:r>
              <a:rPr lang="es-ES_tradnl" sz="2200" dirty="0"/>
              <a:t>La institución puede definir reglas para asignar estas retenciones.</a:t>
            </a:r>
          </a:p>
          <a:p>
            <a:pPr algn="just">
              <a:buClr>
                <a:srgbClr val="009999"/>
              </a:buClr>
            </a:pPr>
            <a:endParaRPr lang="es-419" sz="22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1663CF-BB03-0433-33C8-DE1D5A72F64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Gestionar retenciones académicas</a:t>
            </a:r>
          </a:p>
        </p:txBody>
      </p:sp>
    </p:spTree>
    <p:extLst>
      <p:ext uri="{BB962C8B-B14F-4D97-AF65-F5344CB8AC3E}">
        <p14:creationId xmlns:p14="http://schemas.microsoft.com/office/powerpoint/2010/main" val="149198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BB8A4AC5-A8D2-A02D-0603-CAC43E80BE2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Procedimiento- </a:t>
            </a:r>
            <a:r>
              <a:rPr lang="es-ES" sz="3200" dirty="0"/>
              <a:t>Asignar o actualizar retenciones</a:t>
            </a:r>
            <a:endParaRPr lang="es-ES_tradnl" b="1" dirty="0"/>
          </a:p>
        </p:txBody>
      </p:sp>
      <p:pic>
        <p:nvPicPr>
          <p:cNvPr id="5" name="Picture 6" descr="A diagram of a computer&#10;&#10;Description automatically generated">
            <a:extLst>
              <a:ext uri="{FF2B5EF4-FFF2-40B4-BE49-F238E27FC236}">
                <a16:creationId xmlns:a16="http://schemas.microsoft.com/office/drawing/2014/main" id="{582D7736-AD8E-A19B-C576-FC7B9E814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93" y="1476728"/>
            <a:ext cx="7523988" cy="411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03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6FC09E6-FA48-6B9A-6BA5-2F7C35DA2E4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Región donde aplica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F9A8D2-DB8A-9348-9C89-4582AE2EB894}"/>
              </a:ext>
            </a:extLst>
          </p:cNvPr>
          <p:cNvSpPr txBox="1"/>
          <p:nvPr/>
        </p:nvSpPr>
        <p:spPr>
          <a:xfrm>
            <a:off x="8409273" y="3182780"/>
            <a:ext cx="153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Todo LAC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A1E42D-046B-C687-B6AF-C15ECC025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75" y="1584355"/>
            <a:ext cx="5111496" cy="51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C43E5D-5D90-9AA1-C4E7-B8A2D164D43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b="0" dirty="0" err="1">
                <a:solidFill>
                  <a:schemeClr val="bg2">
                    <a:lumMod val="25000"/>
                  </a:schemeClr>
                </a:solidFill>
              </a:rPr>
              <a:t>Overview</a:t>
            </a:r>
            <a:r>
              <a:rPr lang="es-ES_tradnl" b="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s-ES" sz="3200" dirty="0"/>
              <a:t>Actualizar características del estudiante</a:t>
            </a:r>
            <a:endParaRPr lang="es-ES_tradnl" b="1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2FBF0DB-AA49-19BE-7699-FE95F7C41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150954"/>
              </p:ext>
            </p:extLst>
          </p:nvPr>
        </p:nvGraphicFramePr>
        <p:xfrm>
          <a:off x="838200" y="1825625"/>
          <a:ext cx="10620983" cy="707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039">
                  <a:extLst>
                    <a:ext uri="{9D8B030D-6E8A-4147-A177-3AD203B41FA5}">
                      <a16:colId xmlns:a16="http://schemas.microsoft.com/office/drawing/2014/main" val="34381708"/>
                    </a:ext>
                  </a:extLst>
                </a:gridCol>
                <a:gridCol w="9379944">
                  <a:extLst>
                    <a:ext uri="{9D8B030D-6E8A-4147-A177-3AD203B41FA5}">
                      <a16:colId xmlns:a16="http://schemas.microsoft.com/office/drawing/2014/main" val="1628494477"/>
                    </a:ext>
                  </a:extLst>
                </a:gridCol>
              </a:tblGrid>
              <a:tr h="2321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Concepto</a:t>
                      </a:r>
                      <a:endParaRPr lang="es-CO" sz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Descripción</a:t>
                      </a:r>
                      <a:endParaRPr lang="es-CO" sz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379149428"/>
                  </a:ext>
                </a:extLst>
              </a:tr>
              <a:tr h="4507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</a:rPr>
                        <a:t>Retención</a:t>
                      </a:r>
                      <a:endParaRPr lang="es-CO" sz="1200" b="1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419" sz="1200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Estado o atributo que la institución asigna a una persona o estudiante para impedir que realice ciertas acciones en la universidad.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es-419" sz="12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227877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34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9D48FE-BD35-8481-F167-11AE2A1E1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/>
              <a:t>Configuraciones mínimas necesarias.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01964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8A56832-6946-65DF-ED07-27462C304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60" y="1059780"/>
            <a:ext cx="10732799" cy="4893798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199D2796-7A92-72E2-CB43-F83909D3F70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09650" y="273347"/>
            <a:ext cx="10477497" cy="898555"/>
          </a:xfrm>
        </p:spPr>
        <p:txBody>
          <a:bodyPr/>
          <a:lstStyle/>
          <a:p>
            <a:r>
              <a:rPr lang="es-ES_tradnl" b="0" dirty="0"/>
              <a:t>Configuraciones</a:t>
            </a:r>
            <a:r>
              <a:rPr lang="es-ES_tradnl" dirty="0"/>
              <a:t>: Códigos de Retenciones</a:t>
            </a:r>
            <a:endParaRPr lang="es-ES_tradnl" b="1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CB35AAAE-3AA8-C2D2-5E66-4D53622CC156}"/>
              </a:ext>
            </a:extLst>
          </p:cNvPr>
          <p:cNvSpPr/>
          <p:nvPr/>
        </p:nvSpPr>
        <p:spPr>
          <a:xfrm>
            <a:off x="899960" y="4770633"/>
            <a:ext cx="9768039" cy="181401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En STVHLDD están definidos los códigos de las retenciones que se pueden asignar a los estudiantes que se han  contemplado, indicando los procesos que se restringen si el estudiante tiene la retención vigente. Para insertar un código nuevo debe seguir el siguiente proceso: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Debe presionar insertar (+) para la creación del nuevo registro.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Insertar un código de 02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Asignar una descripción.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Complementar con los </a:t>
            </a:r>
            <a:r>
              <a:rPr lang="es-ES_tradnl" sz="1200" dirty="0" err="1"/>
              <a:t>checkbox</a:t>
            </a:r>
            <a:r>
              <a:rPr lang="es-ES_tradnl" sz="1200" dirty="0"/>
              <a:t> necesarios, según los procesos “bloqueados” a la persona si tuviese la retención 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Guardar los registros creados o modificados.</a:t>
            </a:r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711CA3AC-8672-749B-D10E-FDEEA208473E}"/>
              </a:ext>
            </a:extLst>
          </p:cNvPr>
          <p:cNvSpPr/>
          <p:nvPr/>
        </p:nvSpPr>
        <p:spPr>
          <a:xfrm>
            <a:off x="10545902" y="1218089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7" name="Rectángulo redondeado 9">
            <a:extLst>
              <a:ext uri="{FF2B5EF4-FFF2-40B4-BE49-F238E27FC236}">
                <a16:creationId xmlns:a16="http://schemas.microsoft.com/office/drawing/2014/main" id="{A3A51EA0-4A54-5FAE-1A48-2ED675988996}"/>
              </a:ext>
            </a:extLst>
          </p:cNvPr>
          <p:cNvSpPr/>
          <p:nvPr/>
        </p:nvSpPr>
        <p:spPr>
          <a:xfrm>
            <a:off x="2585309" y="1793882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8257B344-ABE6-F361-8620-EC5D7830ED8B}"/>
              </a:ext>
            </a:extLst>
          </p:cNvPr>
          <p:cNvSpPr/>
          <p:nvPr/>
        </p:nvSpPr>
        <p:spPr>
          <a:xfrm>
            <a:off x="1179372" y="1779682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BC004CE4-FB7E-1E40-F028-9EA0851F83CA}"/>
              </a:ext>
            </a:extLst>
          </p:cNvPr>
          <p:cNvSpPr/>
          <p:nvPr/>
        </p:nvSpPr>
        <p:spPr>
          <a:xfrm>
            <a:off x="7011265" y="1868745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92461E67-D0F3-18E0-0839-A8B4D641B8A5}"/>
              </a:ext>
            </a:extLst>
          </p:cNvPr>
          <p:cNvSpPr/>
          <p:nvPr/>
        </p:nvSpPr>
        <p:spPr>
          <a:xfrm>
            <a:off x="11394245" y="5389285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4466DF98-45E7-EFB4-230B-6E4227D90C70}"/>
              </a:ext>
            </a:extLst>
          </p:cNvPr>
          <p:cNvSpPr/>
          <p:nvPr/>
        </p:nvSpPr>
        <p:spPr>
          <a:xfrm rot="5400000">
            <a:off x="7043146" y="-2409092"/>
            <a:ext cx="196600" cy="8301191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1490D36-5839-77D1-FF22-2FDF47E3E016}"/>
              </a:ext>
            </a:extLst>
          </p:cNvPr>
          <p:cNvSpPr/>
          <p:nvPr/>
        </p:nvSpPr>
        <p:spPr>
          <a:xfrm>
            <a:off x="10836261" y="1368471"/>
            <a:ext cx="260363" cy="136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E51B9D6-6638-3DA4-5150-E592B2E8E606}"/>
              </a:ext>
            </a:extLst>
          </p:cNvPr>
          <p:cNvSpPr/>
          <p:nvPr/>
        </p:nvSpPr>
        <p:spPr>
          <a:xfrm>
            <a:off x="919009" y="1643202"/>
            <a:ext cx="260363" cy="136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0020040-DD57-35C9-343B-0207D2D86456}"/>
              </a:ext>
            </a:extLst>
          </p:cNvPr>
          <p:cNvSpPr/>
          <p:nvPr/>
        </p:nvSpPr>
        <p:spPr>
          <a:xfrm>
            <a:off x="1385158" y="1643202"/>
            <a:ext cx="1190485" cy="136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72ECAF-418E-8BAE-9F6B-BBF12E219156}"/>
              </a:ext>
            </a:extLst>
          </p:cNvPr>
          <p:cNvSpPr/>
          <p:nvPr/>
        </p:nvSpPr>
        <p:spPr>
          <a:xfrm>
            <a:off x="11096624" y="5657191"/>
            <a:ext cx="595242" cy="1966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456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B9E90-8913-D4BC-D851-CEDABD365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9C58C74C-1698-E008-12CF-B0457022C08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3BFB70E-1B10-7B81-9D86-F6C9D511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73347"/>
            <a:ext cx="10477497" cy="898555"/>
          </a:xfrm>
        </p:spPr>
        <p:txBody>
          <a:bodyPr/>
          <a:lstStyle/>
          <a:p>
            <a:r>
              <a:rPr lang="es-ES_tradnl" b="0" dirty="0"/>
              <a:t>Configuraciones</a:t>
            </a:r>
            <a:r>
              <a:rPr lang="es-ES_tradnl" dirty="0"/>
              <a:t>: Códigos de Retenciones</a:t>
            </a:r>
            <a:endParaRPr lang="es-ES_tradnl" b="1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CE55F75-6BDA-7395-B07D-4DD8AC24E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371600"/>
            <a:ext cx="10591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18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13D474-EF59-2D48-B7C0-03A42597CAB9}"/>
              </a:ext>
            </a:extLst>
          </p:cNvPr>
          <p:cNvSpPr txBox="1">
            <a:spLocks/>
          </p:cNvSpPr>
          <p:nvPr/>
        </p:nvSpPr>
        <p:spPr>
          <a:xfrm>
            <a:off x="475488" y="3026292"/>
            <a:ext cx="5407861" cy="17012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900"/>
              </a:spcBef>
              <a:buFontTx/>
              <a:buNone/>
              <a:defRPr lang="en-US" sz="1600" b="1" kern="1200" spc="100">
                <a:solidFill>
                  <a:schemeClr val="bg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600" b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ts val="900"/>
              </a:spcBef>
              <a:buFont typeface="Arial"/>
              <a:buNone/>
              <a:defRPr lang="en-US" sz="14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sz="2133" dirty="0"/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F0B92568-548A-3FDF-0A9D-BB64AC473FF2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A62112F-A3AA-3C4D-A267-97DF7410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Gestionar retención académica por persona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194659-2111-65DA-CF8C-F931670E70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Afecta a todos los programas activos para el estudiante.</a:t>
            </a:r>
          </a:p>
        </p:txBody>
      </p:sp>
    </p:spTree>
    <p:extLst>
      <p:ext uri="{BB962C8B-B14F-4D97-AF65-F5344CB8AC3E}">
        <p14:creationId xmlns:p14="http://schemas.microsoft.com/office/powerpoint/2010/main" val="4280198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514683-C7BE-1581-F6CA-E48BA95AD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6" y="1223632"/>
            <a:ext cx="10746659" cy="5096123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431723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Por persona (SOAHOLD)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31080-B05A-6571-4245-2226C99A7160}"/>
              </a:ext>
            </a:extLst>
          </p:cNvPr>
          <p:cNvSpPr txBox="1"/>
          <p:nvPr/>
        </p:nvSpPr>
        <p:spPr>
          <a:xfrm>
            <a:off x="1052471" y="1724776"/>
            <a:ext cx="301753" cy="215444"/>
          </a:xfrm>
          <a:prstGeom prst="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/>
              <a:t>1</a:t>
            </a:r>
            <a:endParaRPr lang="en-U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53180C7-F875-CE1E-530D-9A173D225524}"/>
              </a:ext>
            </a:extLst>
          </p:cNvPr>
          <p:cNvSpPr txBox="1"/>
          <p:nvPr/>
        </p:nvSpPr>
        <p:spPr>
          <a:xfrm>
            <a:off x="10813236" y="1780349"/>
            <a:ext cx="301753" cy="215444"/>
          </a:xfrm>
          <a:prstGeom prst="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dirty="0"/>
              <a:t>2</a:t>
            </a:r>
            <a:endParaRPr lang="en-US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971143" y="5100463"/>
            <a:ext cx="10477498" cy="85411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asignar el atributo.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7168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D9952D9-32A7-C442-4CA1-DFF1634A6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35" y="1074260"/>
            <a:ext cx="10702514" cy="5055515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4" y="354479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Por persona (SOAHOLD)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31080-B05A-6571-4245-2226C99A7160}"/>
              </a:ext>
            </a:extLst>
          </p:cNvPr>
          <p:cNvSpPr txBox="1"/>
          <p:nvPr/>
        </p:nvSpPr>
        <p:spPr>
          <a:xfrm>
            <a:off x="1046578" y="2098302"/>
            <a:ext cx="301753" cy="2154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/>
              <a:t>3</a:t>
            </a:r>
            <a:endParaRPr lang="en-U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53180C7-F875-CE1E-530D-9A173D225524}"/>
              </a:ext>
            </a:extLst>
          </p:cNvPr>
          <p:cNvSpPr txBox="1"/>
          <p:nvPr/>
        </p:nvSpPr>
        <p:spPr>
          <a:xfrm>
            <a:off x="3299012" y="2089737"/>
            <a:ext cx="301753" cy="2154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/>
              <a:t>4</a:t>
            </a:r>
            <a:endParaRPr lang="en-US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971142" y="4520372"/>
            <a:ext cx="10477498" cy="85411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3"/>
            </a:pPr>
            <a:r>
              <a:rPr lang="es-419" sz="1100" dirty="0"/>
              <a:t>Seleccione o digite el </a:t>
            </a:r>
            <a:r>
              <a:rPr lang="es-419" sz="1100" b="1" dirty="0"/>
              <a:t>código de la retención </a:t>
            </a:r>
            <a:r>
              <a:rPr lang="es-419" sz="1100" dirty="0"/>
              <a:t>que desea asignar al estudiante. Si descripción se desplegará automáticamente</a:t>
            </a:r>
          </a:p>
          <a:p>
            <a:pPr marL="342900" indent="-342900" algn="just">
              <a:buFont typeface="+mj-lt"/>
              <a:buAutoNum type="arabicPeriod" startAt="3"/>
            </a:pPr>
            <a:r>
              <a:rPr lang="es-CL" sz="1100" dirty="0"/>
              <a:t>Si lo desea, puede ingresar una breve descripción del por qué se está asignando la retención (30 caracteres máximo) en el campo </a:t>
            </a:r>
            <a:r>
              <a:rPr lang="es-CL" sz="1100" b="1" dirty="0"/>
              <a:t>Razón</a:t>
            </a:r>
            <a:r>
              <a:rPr lang="es-CL" sz="1100" dirty="0"/>
              <a:t>.</a:t>
            </a:r>
          </a:p>
          <a:p>
            <a:pPr marL="342900" indent="-342900" algn="just">
              <a:buFont typeface="+mj-lt"/>
              <a:buAutoNum type="arabicPeriod" startAt="3"/>
            </a:pPr>
            <a:r>
              <a:rPr lang="es-CL" sz="1100" dirty="0"/>
              <a:t>Por defecto el sistema coloca como rango de fechas en los que la retención estará activa para el estudiante desde la fecha de ingreso de la retención hasta el 31-dic-2099. Modifique los valores si lo considera necesario. </a:t>
            </a:r>
          </a:p>
          <a:p>
            <a:pPr marL="342900" indent="-342900" algn="just">
              <a:buFont typeface="+mj-lt"/>
              <a:buAutoNum type="arabicPeriod" startAt="3"/>
            </a:pPr>
            <a:r>
              <a:rPr lang="es-CL" sz="1100" dirty="0"/>
              <a:t>Presione el botón </a:t>
            </a:r>
            <a:r>
              <a:rPr lang="es-CL" sz="1100" b="1" dirty="0"/>
              <a:t>Guardar</a:t>
            </a:r>
            <a:r>
              <a:rPr lang="es-CL" sz="1100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A35B8D-F1B6-A75B-67E1-C32E0773BF30}"/>
              </a:ext>
            </a:extLst>
          </p:cNvPr>
          <p:cNvSpPr txBox="1"/>
          <p:nvPr/>
        </p:nvSpPr>
        <p:spPr>
          <a:xfrm>
            <a:off x="6059015" y="2098302"/>
            <a:ext cx="301753" cy="2154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5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45FBFC9-CDCE-564A-031D-1695A3EBC17C}"/>
              </a:ext>
            </a:extLst>
          </p:cNvPr>
          <p:cNvSpPr/>
          <p:nvPr/>
        </p:nvSpPr>
        <p:spPr>
          <a:xfrm>
            <a:off x="6687826" y="1967719"/>
            <a:ext cx="1201410" cy="36991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5885C9-BA23-03F7-5324-688C4794CF44}"/>
              </a:ext>
            </a:extLst>
          </p:cNvPr>
          <p:cNvSpPr txBox="1"/>
          <p:nvPr/>
        </p:nvSpPr>
        <p:spPr>
          <a:xfrm>
            <a:off x="10500945" y="5847769"/>
            <a:ext cx="301753" cy="2154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Flecha: hacia la izquierda 9">
            <a:extLst>
              <a:ext uri="{FF2B5EF4-FFF2-40B4-BE49-F238E27FC236}">
                <a16:creationId xmlns:a16="http://schemas.microsoft.com/office/drawing/2014/main" id="{D6E17E30-0C8C-C1E0-0DA4-23777D4B2A89}"/>
              </a:ext>
            </a:extLst>
          </p:cNvPr>
          <p:cNvSpPr/>
          <p:nvPr/>
        </p:nvSpPr>
        <p:spPr>
          <a:xfrm rot="10800000">
            <a:off x="10872015" y="5912081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15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F200B6-E5DB-9009-AB71-809EEC800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59" y="1150374"/>
            <a:ext cx="10928302" cy="5153136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4" y="354479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Por persona (SOAHOLD)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1035764" y="4536258"/>
            <a:ext cx="10477498" cy="100850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CL" sz="1100" dirty="0"/>
              <a:t>Al guardar la información, el sistema mostrará el usuario que asignó la información.</a:t>
            </a:r>
          </a:p>
          <a:p>
            <a:pPr algn="just"/>
            <a:r>
              <a:rPr lang="es-CL" sz="1100" dirty="0"/>
              <a:t>Si el usuario que asigna la retención será el </a:t>
            </a:r>
            <a:r>
              <a:rPr lang="es-CL" sz="1100" u="sng" dirty="0"/>
              <a:t>único</a:t>
            </a:r>
            <a:r>
              <a:rPr lang="es-CL" sz="1100" dirty="0"/>
              <a:t> que puede modificarla/eliminarla, active el campo </a:t>
            </a:r>
            <a:r>
              <a:rPr lang="es-CL" sz="1100" b="1" dirty="0"/>
              <a:t>Indicador de liberación, </a:t>
            </a:r>
            <a:r>
              <a:rPr lang="es-CL" sz="1100" dirty="0"/>
              <a:t>de lo contrario no y guarde la información.</a:t>
            </a:r>
          </a:p>
          <a:p>
            <a:pPr algn="just"/>
            <a:endParaRPr lang="es-CL" sz="1100" dirty="0"/>
          </a:p>
          <a:p>
            <a:pPr marL="228600" indent="-228600" algn="just">
              <a:buFont typeface="+mj-lt"/>
              <a:buAutoNum type="arabicPeriod" startAt="7"/>
            </a:pPr>
            <a:r>
              <a:rPr lang="es-CL" sz="1100" dirty="0"/>
              <a:t>Si desea asignar una nueva retención al estudiante, haga clic en la opción </a:t>
            </a:r>
            <a:r>
              <a:rPr lang="es-CL" sz="1100" b="1" dirty="0"/>
              <a:t>Insertar</a:t>
            </a:r>
            <a:r>
              <a:rPr lang="es-CL" sz="1100" dirty="0"/>
              <a:t> y repita los pasos descritos en la diapositiva anterior (pasos 3 al 6).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5B79D9A-2EB3-1DCC-A963-AD8D30029348}"/>
              </a:ext>
            </a:extLst>
          </p:cNvPr>
          <p:cNvSpPr txBox="1"/>
          <p:nvPr/>
        </p:nvSpPr>
        <p:spPr>
          <a:xfrm>
            <a:off x="10636307" y="1833485"/>
            <a:ext cx="301753" cy="215444"/>
          </a:xfrm>
          <a:prstGeom prst="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62531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13D474-EF59-2D48-B7C0-03A42597CAB9}"/>
              </a:ext>
            </a:extLst>
          </p:cNvPr>
          <p:cNvSpPr txBox="1">
            <a:spLocks/>
          </p:cNvSpPr>
          <p:nvPr/>
        </p:nvSpPr>
        <p:spPr>
          <a:xfrm>
            <a:off x="475488" y="3026292"/>
            <a:ext cx="5407861" cy="17012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900"/>
              </a:spcBef>
              <a:buFontTx/>
              <a:buNone/>
              <a:defRPr lang="en-US" sz="1600" b="1" kern="1200" spc="100">
                <a:solidFill>
                  <a:schemeClr val="bg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600" b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914400" indent="0" algn="l" defTabSz="457200" rtl="0" eaLnBrk="1" latinLnBrk="0" hangingPunct="1">
              <a:spcBef>
                <a:spcPts val="900"/>
              </a:spcBef>
              <a:buFont typeface="Arial"/>
              <a:buNone/>
              <a:defRPr lang="en-US" sz="14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13716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1828800" indent="0" algn="l" defTabSz="457200" rtl="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lang="en-US" sz="1200" kern="120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sz="2133" dirty="0"/>
          </a:p>
        </p:txBody>
      </p:sp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F0B92568-548A-3FDF-0A9D-BB64AC473FF2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4A62112F-A3AA-3C4D-A267-97DF7410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Gestionar retención académica por Plan de estudios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194659-2111-65DA-CF8C-F931670E70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Afecta al estudiante solamente en el programa que corresponda al plan de estudios al que se le asigna la retención.</a:t>
            </a:r>
          </a:p>
        </p:txBody>
      </p:sp>
    </p:spTree>
    <p:extLst>
      <p:ext uri="{BB962C8B-B14F-4D97-AF65-F5344CB8AC3E}">
        <p14:creationId xmlns:p14="http://schemas.microsoft.com/office/powerpoint/2010/main" val="55189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5C0E5B-B5CC-E7A1-AC81-6D898CD6C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03" y="1248697"/>
            <a:ext cx="10704476" cy="5064363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431723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Por Plan de estudios (SGASTHD)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31080-B05A-6571-4245-2226C99A7160}"/>
              </a:ext>
            </a:extLst>
          </p:cNvPr>
          <p:cNvSpPr txBox="1"/>
          <p:nvPr/>
        </p:nvSpPr>
        <p:spPr>
          <a:xfrm>
            <a:off x="1062303" y="1771068"/>
            <a:ext cx="301753" cy="2154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/>
              <a:t>1</a:t>
            </a:r>
            <a:endParaRPr lang="en-U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53180C7-F875-CE1E-530D-9A173D225524}"/>
              </a:ext>
            </a:extLst>
          </p:cNvPr>
          <p:cNvSpPr txBox="1"/>
          <p:nvPr/>
        </p:nvSpPr>
        <p:spPr>
          <a:xfrm>
            <a:off x="10813236" y="1812834"/>
            <a:ext cx="301753" cy="2154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/>
              <a:t>2</a:t>
            </a:r>
            <a:endParaRPr lang="en-US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971143" y="5100463"/>
            <a:ext cx="10477498" cy="85411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asignar el atributo.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4247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72614A-F18F-42F5-2AF6-0000E235E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42" y="1270773"/>
            <a:ext cx="10649882" cy="5047311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08127" y="103472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Por Plan de estudios (SGASTHD)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31080-B05A-6571-4245-2226C99A7160}"/>
              </a:ext>
            </a:extLst>
          </p:cNvPr>
          <p:cNvSpPr txBox="1"/>
          <p:nvPr/>
        </p:nvSpPr>
        <p:spPr>
          <a:xfrm>
            <a:off x="609601" y="2317488"/>
            <a:ext cx="301753" cy="215444"/>
          </a:xfrm>
          <a:prstGeom prst="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/>
              <a:t>3</a:t>
            </a:r>
            <a:endParaRPr lang="en-U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53180C7-F875-CE1E-530D-9A173D225524}"/>
              </a:ext>
            </a:extLst>
          </p:cNvPr>
          <p:cNvSpPr txBox="1"/>
          <p:nvPr/>
        </p:nvSpPr>
        <p:spPr>
          <a:xfrm>
            <a:off x="2464910" y="2288608"/>
            <a:ext cx="301753" cy="215444"/>
          </a:xfrm>
          <a:prstGeom prst="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/>
              <a:t>4</a:t>
            </a:r>
            <a:endParaRPr lang="en-US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1100367" y="4797018"/>
            <a:ext cx="10477498" cy="122565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3"/>
            </a:pPr>
            <a:r>
              <a:rPr lang="es-419" sz="1100" dirty="0"/>
              <a:t>Seleccione o digite el </a:t>
            </a:r>
            <a:r>
              <a:rPr lang="es-419" sz="1100" b="1" dirty="0"/>
              <a:t>código de la retención </a:t>
            </a:r>
            <a:r>
              <a:rPr lang="es-419" sz="1100" dirty="0"/>
              <a:t>que desea asignar al estudiante. Si descripción se desplegará automáticamente</a:t>
            </a:r>
          </a:p>
          <a:p>
            <a:pPr marL="342900" indent="-342900" algn="just">
              <a:buFont typeface="+mj-lt"/>
              <a:buAutoNum type="arabicPeriod" startAt="3"/>
            </a:pPr>
            <a:r>
              <a:rPr lang="es-419" sz="1100" dirty="0"/>
              <a:t>Seleccione o digite el </a:t>
            </a:r>
            <a:r>
              <a:rPr lang="es-419" sz="1100" b="1" dirty="0"/>
              <a:t>Plan de estudios </a:t>
            </a:r>
            <a:r>
              <a:rPr lang="es-419" sz="1100" dirty="0"/>
              <a:t>para el cual se asigna la retención.</a:t>
            </a:r>
          </a:p>
          <a:p>
            <a:pPr marL="342900" indent="-342900" algn="just">
              <a:buFont typeface="+mj-lt"/>
              <a:buAutoNum type="arabicPeriod" startAt="3"/>
            </a:pPr>
            <a:r>
              <a:rPr lang="es-CL" sz="1100" dirty="0"/>
              <a:t>Si lo desea, puede ingresar una breve descripción del por qué se está asignando la retención (30 caracteres máximo) en el campo </a:t>
            </a:r>
            <a:r>
              <a:rPr lang="es-CL" sz="1100" b="1" dirty="0"/>
              <a:t>Razón</a:t>
            </a:r>
            <a:r>
              <a:rPr lang="es-CL" sz="1100" dirty="0"/>
              <a:t>.</a:t>
            </a:r>
          </a:p>
          <a:p>
            <a:pPr marL="342900" indent="-342900" algn="just">
              <a:buFont typeface="+mj-lt"/>
              <a:buAutoNum type="arabicPeriod" startAt="3"/>
            </a:pPr>
            <a:r>
              <a:rPr lang="es-CL" sz="1100" dirty="0"/>
              <a:t>Por defecto el sistema coloca la fecha de asignación del código como la fecha inicial de la retención. Modifique el valor si así lo desea e ingrese la fecha final de dicha asignación en el campo </a:t>
            </a:r>
            <a:r>
              <a:rPr lang="es-CL" sz="1100" b="1" dirty="0"/>
              <a:t>A*.</a:t>
            </a:r>
          </a:p>
          <a:p>
            <a:pPr marL="342900" indent="-342900" algn="just">
              <a:buFont typeface="+mj-lt"/>
              <a:buAutoNum type="arabicPeriod" startAt="3"/>
            </a:pPr>
            <a:r>
              <a:rPr lang="es-CL" sz="1100" dirty="0"/>
              <a:t>Presione el botón </a:t>
            </a:r>
            <a:r>
              <a:rPr lang="es-CL" sz="1100" b="1" dirty="0"/>
              <a:t>Guardar</a:t>
            </a:r>
            <a:r>
              <a:rPr lang="es-CL" sz="1100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A35B8D-F1B6-A75B-67E1-C32E0773BF30}"/>
              </a:ext>
            </a:extLst>
          </p:cNvPr>
          <p:cNvSpPr txBox="1"/>
          <p:nvPr/>
        </p:nvSpPr>
        <p:spPr>
          <a:xfrm>
            <a:off x="4399311" y="2323963"/>
            <a:ext cx="301753" cy="215444"/>
          </a:xfrm>
          <a:prstGeom prst="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5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5885C9-BA23-03F7-5324-688C4794CF44}"/>
              </a:ext>
            </a:extLst>
          </p:cNvPr>
          <p:cNvSpPr txBox="1"/>
          <p:nvPr/>
        </p:nvSpPr>
        <p:spPr>
          <a:xfrm>
            <a:off x="10502153" y="6071311"/>
            <a:ext cx="301753" cy="215444"/>
          </a:xfrm>
          <a:prstGeom prst="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7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BAC9F27-6505-71B4-7783-59B5F32084A8}"/>
              </a:ext>
            </a:extLst>
          </p:cNvPr>
          <p:cNvSpPr txBox="1"/>
          <p:nvPr/>
        </p:nvSpPr>
        <p:spPr>
          <a:xfrm>
            <a:off x="6824390" y="2323963"/>
            <a:ext cx="301753" cy="215444"/>
          </a:xfrm>
          <a:prstGeom prst="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6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CA5743-5434-088C-C916-515DB4E50FC1}"/>
              </a:ext>
            </a:extLst>
          </p:cNvPr>
          <p:cNvSpPr/>
          <p:nvPr/>
        </p:nvSpPr>
        <p:spPr>
          <a:xfrm>
            <a:off x="7241766" y="2159848"/>
            <a:ext cx="1201410" cy="36991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4134989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041C62D-F871-9F48-6624-266577278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72" y="1101213"/>
            <a:ext cx="11002257" cy="5220050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o actualizar retenciones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08127" y="103472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Por Plan de estudios (SGASTHD)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5885C9-BA23-03F7-5324-688C4794CF44}"/>
              </a:ext>
            </a:extLst>
          </p:cNvPr>
          <p:cNvSpPr txBox="1"/>
          <p:nvPr/>
        </p:nvSpPr>
        <p:spPr>
          <a:xfrm>
            <a:off x="10521713" y="1818122"/>
            <a:ext cx="301753" cy="215444"/>
          </a:xfrm>
          <a:prstGeom prst="rect">
            <a:avLst/>
          </a:prstGeom>
          <a:solidFill>
            <a:schemeClr val="accent3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ctr" defTabSz="457200">
              <a:defRPr sz="800">
                <a:solidFill>
                  <a:schemeClr val="bg1"/>
                </a:solidFill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8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C1B79E4-E622-2A87-A008-1070A501442A}"/>
              </a:ext>
            </a:extLst>
          </p:cNvPr>
          <p:cNvSpPr/>
          <p:nvPr/>
        </p:nvSpPr>
        <p:spPr>
          <a:xfrm>
            <a:off x="1124929" y="3428998"/>
            <a:ext cx="10477498" cy="138911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CL" sz="1100" dirty="0"/>
              <a:t>Al guardar la información, el sistema mostrará el usuario que asignó la información.</a:t>
            </a:r>
          </a:p>
          <a:p>
            <a:pPr algn="just"/>
            <a:r>
              <a:rPr lang="es-CL" sz="1100" dirty="0"/>
              <a:t>Si el usuario que asigna la retención será el </a:t>
            </a:r>
            <a:r>
              <a:rPr lang="es-CL" sz="1100" u="sng" dirty="0"/>
              <a:t>único</a:t>
            </a:r>
            <a:r>
              <a:rPr lang="es-CL" sz="1100" dirty="0"/>
              <a:t> que puede modificarla/eliminarla, active el campo </a:t>
            </a:r>
            <a:r>
              <a:rPr lang="es-CL" sz="1100" b="1" dirty="0"/>
              <a:t>Indicador de liberación, </a:t>
            </a:r>
            <a:r>
              <a:rPr lang="es-CL" sz="1100" dirty="0"/>
              <a:t>de lo contrario no y guarde la información.</a:t>
            </a:r>
          </a:p>
          <a:p>
            <a:pPr marL="228600" indent="-228600" algn="just">
              <a:buFont typeface="+mj-lt"/>
              <a:buAutoNum type="arabicPeriod" startAt="8"/>
            </a:pPr>
            <a:r>
              <a:rPr lang="es-CL" sz="1100" dirty="0"/>
              <a:t>Si desea asignar una nueva retención al estudiante, haga clic en la opción </a:t>
            </a:r>
            <a:r>
              <a:rPr lang="es-CL" sz="1100" b="1" dirty="0"/>
              <a:t>Insertar</a:t>
            </a:r>
            <a:r>
              <a:rPr lang="es-CL" sz="1100"/>
              <a:t> y repita los pasos descritos en la diapositiva anterior (pasos 3 al 7).</a:t>
            </a:r>
            <a:endParaRPr lang="es-CL" sz="1100">
              <a:cs typeface="Arial"/>
            </a:endParaRPr>
          </a:p>
          <a:p>
            <a:pPr algn="just"/>
            <a:r>
              <a:rPr lang="es-CL" sz="1100" dirty="0"/>
              <a:t>En el bloque Detalles de retención de persona se visualizarán, en caso de que existan, las retenciones que el estudiante tenga cargadas a nivel de persona </a:t>
            </a:r>
            <a:r>
              <a:rPr lang="es-CL" sz="1100"/>
              <a:t>(SOAHOLD).</a:t>
            </a:r>
            <a:endParaRPr lang="es-CL" sz="1100">
              <a:cs typeface="Arial"/>
            </a:endParaRPr>
          </a:p>
          <a:p>
            <a:pPr algn="just"/>
            <a:endParaRPr lang="es-CL" sz="1100" dirty="0"/>
          </a:p>
        </p:txBody>
      </p:sp>
    </p:spTree>
    <p:extLst>
      <p:ext uri="{BB962C8B-B14F-4D97-AF65-F5344CB8AC3E}">
        <p14:creationId xmlns:p14="http://schemas.microsoft.com/office/powerpoint/2010/main" val="2285649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062C6948-6E1F-E987-DFAD-C97B24E98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068" y="1628156"/>
            <a:ext cx="10308336" cy="4470891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46122D14-E4FA-4647-3558-9021D99E607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71143" y="431723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Asignación masiva (SOAHOLD)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1C23CED-A0D2-0921-6B06-67777090C20D}"/>
              </a:ext>
            </a:extLst>
          </p:cNvPr>
          <p:cNvSpPr/>
          <p:nvPr/>
        </p:nvSpPr>
        <p:spPr>
          <a:xfrm>
            <a:off x="971142" y="4232322"/>
            <a:ext cx="10477498" cy="85411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419" sz="1200" dirty="0"/>
              <a:t>ID: código identificador del tipo de retención que se va a liberar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dirty="0"/>
              <a:t>Descripción: ingrese una descripción de máximo 30 </a:t>
            </a:r>
            <a:r>
              <a:rPr lang="es-419" sz="1200" dirty="0" err="1"/>
              <a:t>carácteres</a:t>
            </a:r>
            <a:endParaRPr lang="es-419" sz="1200" dirty="0"/>
          </a:p>
          <a:p>
            <a:pPr marL="228600" indent="-228600">
              <a:buFont typeface="+mj-lt"/>
              <a:buAutoNum type="arabicPeriod"/>
            </a:pPr>
            <a:r>
              <a:rPr lang="es-CL" sz="1200" dirty="0"/>
              <a:t>Guarde la información</a:t>
            </a:r>
          </a:p>
        </p:txBody>
      </p:sp>
      <p:sp>
        <p:nvSpPr>
          <p:cNvPr id="4" name="Rectángulo redondeado 9">
            <a:extLst>
              <a:ext uri="{FF2B5EF4-FFF2-40B4-BE49-F238E27FC236}">
                <a16:creationId xmlns:a16="http://schemas.microsoft.com/office/drawing/2014/main" id="{96FCD0BD-755B-548F-4F88-1BD2D376CC53}"/>
              </a:ext>
            </a:extLst>
          </p:cNvPr>
          <p:cNvSpPr/>
          <p:nvPr/>
        </p:nvSpPr>
        <p:spPr>
          <a:xfrm>
            <a:off x="876755" y="2289824"/>
            <a:ext cx="188773" cy="15038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FF5CCB3C-AF18-C7E6-E88A-C4DBB91F6523}"/>
              </a:ext>
            </a:extLst>
          </p:cNvPr>
          <p:cNvSpPr/>
          <p:nvPr/>
        </p:nvSpPr>
        <p:spPr>
          <a:xfrm>
            <a:off x="3895344" y="2332262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E2FD0E9-898E-8244-E6AD-C6B72A2283F7}"/>
              </a:ext>
            </a:extLst>
          </p:cNvPr>
          <p:cNvSpPr/>
          <p:nvPr/>
        </p:nvSpPr>
        <p:spPr>
          <a:xfrm>
            <a:off x="1169068" y="2332263"/>
            <a:ext cx="1281524" cy="15038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B8B896-7044-122A-CA7F-86EDC7C69BC1}"/>
              </a:ext>
            </a:extLst>
          </p:cNvPr>
          <p:cNvSpPr/>
          <p:nvPr/>
        </p:nvSpPr>
        <p:spPr>
          <a:xfrm>
            <a:off x="3193423" y="2332262"/>
            <a:ext cx="701921" cy="15038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462E35-1921-93D8-0B2E-F9C9DB44B7AA}"/>
              </a:ext>
            </a:extLst>
          </p:cNvPr>
          <p:cNvSpPr txBox="1"/>
          <p:nvPr/>
        </p:nvSpPr>
        <p:spPr>
          <a:xfrm>
            <a:off x="897990" y="108311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1. Validación de retención automática TTVRHLD</a:t>
            </a:r>
          </a:p>
        </p:txBody>
      </p:sp>
    </p:spTree>
    <p:extLst>
      <p:ext uri="{BB962C8B-B14F-4D97-AF65-F5344CB8AC3E}">
        <p14:creationId xmlns:p14="http://schemas.microsoft.com/office/powerpoint/2010/main" val="231919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7EACA-9FA7-2DA5-6D49-BEB8474E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95F1BC-BF30-C1D4-C3E4-756829EC7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78" y="1526474"/>
            <a:ext cx="11021568" cy="4748195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D1CE0405-1C7D-8ABF-8231-7D73E7E903C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145005" y="431723"/>
            <a:ext cx="609600" cy="5486399"/>
          </a:xfrm>
        </p:spPr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AA7AF76-464B-3AA1-790F-06C90F39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143" y="431723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Asignación masiva (SOAHOLD)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48CEF06-1CF7-2822-DA05-C9554ED522BB}"/>
              </a:ext>
            </a:extLst>
          </p:cNvPr>
          <p:cNvSpPr/>
          <p:nvPr/>
        </p:nvSpPr>
        <p:spPr>
          <a:xfrm>
            <a:off x="971142" y="4232322"/>
            <a:ext cx="10477498" cy="124493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419" sz="1200" dirty="0"/>
              <a:t>Código de la regla: seleccione la regla creada en la página TTVRHLD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dirty="0"/>
              <a:t>Tipo de Retención: seleccione la retención que se puede liberar o asignar masivamente.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dirty="0"/>
              <a:t>Indique si la retención se puede liberar</a:t>
            </a:r>
          </a:p>
          <a:p>
            <a:pPr marL="228600" indent="-228600">
              <a:buFont typeface="+mj-lt"/>
              <a:buAutoNum type="arabicPeriod"/>
            </a:pPr>
            <a:r>
              <a:rPr lang="es-419" sz="1200" dirty="0"/>
              <a:t>Indique el originador que quedara en SOAHOLD, al asignar la retención (Unidad Académica)</a:t>
            </a:r>
          </a:p>
          <a:p>
            <a:pPr marL="228600" indent="-228600">
              <a:buFont typeface="+mj-lt"/>
              <a:buAutoNum type="arabicPeriod"/>
            </a:pPr>
            <a:r>
              <a:rPr lang="es-CL" sz="1200" dirty="0"/>
              <a:t>Guarde la información</a:t>
            </a:r>
          </a:p>
        </p:txBody>
      </p:sp>
      <p:sp>
        <p:nvSpPr>
          <p:cNvPr id="4" name="Rectángulo redondeado 9">
            <a:extLst>
              <a:ext uri="{FF2B5EF4-FFF2-40B4-BE49-F238E27FC236}">
                <a16:creationId xmlns:a16="http://schemas.microsoft.com/office/drawing/2014/main" id="{FD8416B2-C26E-F09A-151A-88F0A68C82E4}"/>
              </a:ext>
            </a:extLst>
          </p:cNvPr>
          <p:cNvSpPr/>
          <p:nvPr/>
        </p:nvSpPr>
        <p:spPr>
          <a:xfrm>
            <a:off x="782369" y="1936216"/>
            <a:ext cx="188773" cy="15038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DE44AB25-783B-8B00-6B31-3BB5FD2BB055}"/>
              </a:ext>
            </a:extLst>
          </p:cNvPr>
          <p:cNvSpPr/>
          <p:nvPr/>
        </p:nvSpPr>
        <p:spPr>
          <a:xfrm>
            <a:off x="1105631" y="2310635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7C4532-42A7-93C7-7E24-A327ACF1B102}"/>
              </a:ext>
            </a:extLst>
          </p:cNvPr>
          <p:cNvSpPr/>
          <p:nvPr/>
        </p:nvSpPr>
        <p:spPr>
          <a:xfrm>
            <a:off x="1091805" y="1928314"/>
            <a:ext cx="1925715" cy="15038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1DF87D-C62E-A4A0-51CF-A0F66247FB6F}"/>
              </a:ext>
            </a:extLst>
          </p:cNvPr>
          <p:cNvSpPr/>
          <p:nvPr/>
        </p:nvSpPr>
        <p:spPr>
          <a:xfrm>
            <a:off x="2169295" y="2324535"/>
            <a:ext cx="1396865" cy="2186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01883E9-C4D0-A95C-54A1-490B182FBF1D}"/>
              </a:ext>
            </a:extLst>
          </p:cNvPr>
          <p:cNvSpPr txBox="1"/>
          <p:nvPr/>
        </p:nvSpPr>
        <p:spPr>
          <a:xfrm>
            <a:off x="897990" y="108311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2. Regla de retenciones automáticas TGAHOLD</a:t>
            </a:r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A253C20D-4EC1-3B66-FD14-A39AEA4AED86}"/>
              </a:ext>
            </a:extLst>
          </p:cNvPr>
          <p:cNvSpPr/>
          <p:nvPr/>
        </p:nvSpPr>
        <p:spPr>
          <a:xfrm>
            <a:off x="1107509" y="2529257"/>
            <a:ext cx="260362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8A6837E-194B-E8BC-8E0F-C08E61233A74}"/>
              </a:ext>
            </a:extLst>
          </p:cNvPr>
          <p:cNvSpPr/>
          <p:nvPr/>
        </p:nvSpPr>
        <p:spPr>
          <a:xfrm>
            <a:off x="2171173" y="2543157"/>
            <a:ext cx="1396865" cy="2186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AA859E3A-1BFC-4344-6332-B155371E374C}"/>
              </a:ext>
            </a:extLst>
          </p:cNvPr>
          <p:cNvSpPr/>
          <p:nvPr/>
        </p:nvSpPr>
        <p:spPr>
          <a:xfrm>
            <a:off x="6404330" y="2551465"/>
            <a:ext cx="380573" cy="21862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98126EE-40E5-6AF5-E71E-BCAC8FE5F996}"/>
              </a:ext>
            </a:extLst>
          </p:cNvPr>
          <p:cNvSpPr/>
          <p:nvPr/>
        </p:nvSpPr>
        <p:spPr>
          <a:xfrm>
            <a:off x="6969378" y="2507500"/>
            <a:ext cx="2041806" cy="21862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143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4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7880F-59D9-43F2-855B-417E63C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08D9A986-950E-A881-63DE-EF4FA5D7D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80" y="1618488"/>
            <a:ext cx="10737511" cy="4704319"/>
          </a:xfrm>
          <a:prstGeom prst="rect">
            <a:avLst/>
          </a:prstGeom>
        </p:spPr>
      </p:pic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3A34EB8F-29FA-AA7C-C9B2-3FE173D8224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retenciones de personas</a:t>
            </a:r>
            <a:endParaRPr lang="es-419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74C8BC2-BA4B-2C34-A423-4E4DD6EE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143" y="431723"/>
            <a:ext cx="10477497" cy="898555"/>
          </a:xfrm>
        </p:spPr>
        <p:txBody>
          <a:bodyPr/>
          <a:lstStyle/>
          <a:p>
            <a:r>
              <a:rPr lang="es-ES_tradnl" dirty="0"/>
              <a:t>Retenciones académicas: </a:t>
            </a:r>
            <a:r>
              <a:rPr lang="es-ES_tradnl" b="1" dirty="0"/>
              <a:t>Asignación masiva (SOAHOLD)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1907F18-5125-4236-5299-CFA7E1EE574B}"/>
              </a:ext>
            </a:extLst>
          </p:cNvPr>
          <p:cNvSpPr/>
          <p:nvPr/>
        </p:nvSpPr>
        <p:spPr>
          <a:xfrm>
            <a:off x="1073058" y="5468693"/>
            <a:ext cx="10477498" cy="854114"/>
          </a:xfrm>
          <a:prstGeom prst="roundRect">
            <a:avLst>
              <a:gd name="adj" fmla="val 14466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/>
              <a:t>Este proceso se puede ejecutar solo con selección de población.</a:t>
            </a:r>
          </a:p>
          <a:p>
            <a:r>
              <a:rPr lang="es-CL" sz="1200" dirty="0"/>
              <a:t>05: Código de la regla de retención: depende de lo configurado en TGAHOLD</a:t>
            </a:r>
          </a:p>
          <a:p>
            <a:r>
              <a:rPr lang="es-CL" sz="1200" dirty="0"/>
              <a:t>06: Modo de aplicar: A para asignar y R para liberar</a:t>
            </a:r>
          </a:p>
          <a:p>
            <a:r>
              <a:rPr lang="es-CL" sz="1200" dirty="0"/>
              <a:t>07: Modo de ejecución: U para actualizar, A: para auditar, no realiza ninguna acción.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588B7B-FA32-74EB-AEF6-A69C039A2AF4}"/>
              </a:ext>
            </a:extLst>
          </p:cNvPr>
          <p:cNvSpPr txBox="1"/>
          <p:nvPr/>
        </p:nvSpPr>
        <p:spPr>
          <a:xfrm>
            <a:off x="897990" y="108311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O" b="1" dirty="0">
                <a:solidFill>
                  <a:srgbClr val="000000"/>
                </a:solidFill>
                <a:latin typeface="Roboto" panose="02000000000000000000" pitchFamily="2" charset="0"/>
              </a:rPr>
              <a:t>3</a:t>
            </a: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TGPHOLD </a:t>
            </a:r>
            <a:r>
              <a:rPr lang="es-CO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Proc</a:t>
            </a: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de </a:t>
            </a:r>
            <a:r>
              <a:rPr lang="es-CO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liber</a:t>
            </a: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de </a:t>
            </a:r>
            <a:r>
              <a:rPr lang="es-CO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retenc</a:t>
            </a:r>
            <a:r>
              <a:rPr lang="es-CO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CO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autom</a:t>
            </a:r>
            <a:endParaRPr lang="es-CO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919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dirty="0"/>
              <a:t>Actualizar características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838" y="-414703"/>
            <a:ext cx="7092820" cy="1628192"/>
          </a:xfrm>
        </p:spPr>
        <p:txBody>
          <a:bodyPr/>
          <a:lstStyle/>
          <a:p>
            <a:r>
              <a:rPr lang="es-ES_tradnl" dirty="0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65C9B1-9A40-D4C2-C235-4FDA7BF66E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41838" y="1687104"/>
            <a:ext cx="10067596" cy="3399903"/>
          </a:xfrm>
        </p:spPr>
        <p:txBody>
          <a:bodyPr/>
          <a:lstStyle/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Una persona o estudiante puede tener diversas retenciones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La institución crea los tipos de retención en STVHLDD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La institución asigna la retención por plan de estudio en SGASTHD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La institución asigna la retención a la persona en SOAHOLD</a:t>
            </a:r>
          </a:p>
          <a:p>
            <a:endParaRPr lang="es-419" sz="2000" dirty="0"/>
          </a:p>
        </p:txBody>
      </p:sp>
    </p:spTree>
    <p:extLst>
      <p:ext uri="{BB962C8B-B14F-4D97-AF65-F5344CB8AC3E}">
        <p14:creationId xmlns:p14="http://schemas.microsoft.com/office/powerpoint/2010/main" val="1235984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noProof="0" dirty="0"/>
              <a:t>Consultor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noProof="0" dirty="0"/>
              <a:t>Correo</a:t>
            </a:r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96DF7355-EBEE-4711-B1B0-2A2483E511D1}" vid="{BB407EE2-72E0-46A0-AE3E-DB2EC49F911B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96DF7355-EBEE-4711-B1B0-2A2483E511D1}" vid="{302A0643-E7C6-43F6-8998-732C0CFA7EE2}"/>
    </a:ext>
  </a:extLst>
</a:theme>
</file>

<file path=ppt/theme/theme3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Ellucian-PPT-Template-2025-V5</Template>
  <TotalTime>697</TotalTime>
  <Words>1129</Words>
  <Application>Microsoft Office PowerPoint</Application>
  <PresentationFormat>Panorámica</PresentationFormat>
  <Paragraphs>159</Paragraphs>
  <Slides>25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25</vt:i4>
      </vt:variant>
    </vt:vector>
  </HeadingPairs>
  <TitlesOfParts>
    <vt:vector size="36" baseType="lpstr">
      <vt:lpstr>Aptos</vt:lpstr>
      <vt:lpstr>Aptos Display</vt:lpstr>
      <vt:lpstr>Arial</vt:lpstr>
      <vt:lpstr>Courier New</vt:lpstr>
      <vt:lpstr>Helvetica Neue</vt:lpstr>
      <vt:lpstr>Roboto</vt:lpstr>
      <vt:lpstr>Wingdings</vt:lpstr>
      <vt:lpstr>Ellucian Main Layouts</vt:lpstr>
      <vt:lpstr>Ellucian Blank Layouts</vt:lpstr>
      <vt:lpstr>1_Ellucian Main Layouts</vt:lpstr>
      <vt:lpstr>1_Ellucian Blank Layouts</vt:lpstr>
      <vt:lpstr>Asignar o actualizar retenciones </vt:lpstr>
      <vt:lpstr>Presentación de PowerPoint</vt:lpstr>
      <vt:lpstr>Overview</vt:lpstr>
      <vt:lpstr>Overview: Mapa de Capacidades</vt:lpstr>
      <vt:lpstr>Overview: Procedimiento conducta estudiantil </vt:lpstr>
      <vt:lpstr>Overview: Gestionar retenciones académicas</vt:lpstr>
      <vt:lpstr>Overview: Procedimiento- Asignar o actualizar retenciones</vt:lpstr>
      <vt:lpstr>Overview: Región donde aplica</vt:lpstr>
      <vt:lpstr>Overview: Actualizar características del estudiante</vt:lpstr>
      <vt:lpstr>Configuraciones</vt:lpstr>
      <vt:lpstr>Configuraciones: Códigos de Retenciones</vt:lpstr>
      <vt:lpstr>Configuraciones: Códigos de Retenciones</vt:lpstr>
      <vt:lpstr>Gestionar retención académica por persona</vt:lpstr>
      <vt:lpstr>Retenciones académicas: Por persona (SOAHOLD)</vt:lpstr>
      <vt:lpstr>Retenciones académicas: Por persona (SOAHOLD)</vt:lpstr>
      <vt:lpstr>Retenciones académicas: Por persona (SOAHOLD)</vt:lpstr>
      <vt:lpstr>Gestionar retención académica por Plan de estudios</vt:lpstr>
      <vt:lpstr>Retenciones académicas: Por Plan de estudios (SGASTHD)</vt:lpstr>
      <vt:lpstr>Retenciones académicas: Por Plan de estudios (SGASTHD)</vt:lpstr>
      <vt:lpstr>Retenciones académicas: Por Plan de estudios (SGASTHD)</vt:lpstr>
      <vt:lpstr>Retenciones académicas: Asignación masiva (SOAHOLD)</vt:lpstr>
      <vt:lpstr>Retenciones académicas: Asignación masiva (SOAHOLD)</vt:lpstr>
      <vt:lpstr>Retenciones académicas: Asignación masiva (SOAHOLD)</vt:lpstr>
      <vt:lpstr>RESUMEN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Ramos, Karyn</dc:creator>
  <cp:lastModifiedBy>Beltran, Nidia</cp:lastModifiedBy>
  <cp:revision>15</cp:revision>
  <dcterms:created xsi:type="dcterms:W3CDTF">2024-09-26T00:26:14Z</dcterms:created>
  <dcterms:modified xsi:type="dcterms:W3CDTF">2026-06-25T02:20:29Z</dcterms:modified>
</cp:coreProperties>
</file>
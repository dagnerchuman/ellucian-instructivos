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 id="2147483757" r:id="rId2"/>
  </p:sldMasterIdLst>
  <p:notesMasterIdLst>
    <p:notesMasterId r:id="rId40"/>
  </p:notesMasterIdLst>
  <p:sldIdLst>
    <p:sldId id="1322" r:id="rId3"/>
    <p:sldId id="1290" r:id="rId4"/>
    <p:sldId id="1174" r:id="rId5"/>
    <p:sldId id="1175" r:id="rId6"/>
    <p:sldId id="1250" r:id="rId7"/>
    <p:sldId id="1291" r:id="rId8"/>
    <p:sldId id="1251" r:id="rId9"/>
    <p:sldId id="1259" r:id="rId10"/>
    <p:sldId id="1252" r:id="rId11"/>
    <p:sldId id="1293" r:id="rId12"/>
    <p:sldId id="1294" r:id="rId13"/>
    <p:sldId id="1321" r:id="rId14"/>
    <p:sldId id="1292" r:id="rId15"/>
    <p:sldId id="1271" r:id="rId16"/>
    <p:sldId id="1296" r:id="rId17"/>
    <p:sldId id="1297" r:id="rId18"/>
    <p:sldId id="1298" r:id="rId19"/>
    <p:sldId id="1300" r:id="rId20"/>
    <p:sldId id="1299" r:id="rId21"/>
    <p:sldId id="1301" r:id="rId22"/>
    <p:sldId id="1302" r:id="rId23"/>
    <p:sldId id="1303" r:id="rId24"/>
    <p:sldId id="1317" r:id="rId25"/>
    <p:sldId id="1318" r:id="rId26"/>
    <p:sldId id="1319" r:id="rId27"/>
    <p:sldId id="1320" r:id="rId28"/>
    <p:sldId id="1304" r:id="rId29"/>
    <p:sldId id="1305" r:id="rId30"/>
    <p:sldId id="1306" r:id="rId31"/>
    <p:sldId id="1308" r:id="rId32"/>
    <p:sldId id="1311" r:id="rId33"/>
    <p:sldId id="1313" r:id="rId34"/>
    <p:sldId id="1314" r:id="rId35"/>
    <p:sldId id="1316" r:id="rId36"/>
    <p:sldId id="1315" r:id="rId37"/>
    <p:sldId id="1221" r:id="rId38"/>
    <p:sldId id="64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3767EC-4945-F044-2966-C3C4FBC8CEFC}" name="Diana Carolina Varón Díaz" initials="DV" userId="S::cvaron@cesa.edu.co::57d2fcd7-20f5-4803-8ac1-d7a2b9cde4e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9C610F-1AC1-4CED-9D4A-CC5C235C2750}" v="117" dt="2024-10-30T14:06:40.0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 CAROLINA VARON DIAZ" userId="F3WulOO1zdW9+LORcwUsQgtHX8O05KiAsqyo1/aqNxE=" providerId="None" clId="Web-{EA9C610F-1AC1-4CED-9D4A-CC5C235C2750}"/>
    <pc:docChg chg="modSld">
      <pc:chgData name="DIANA CAROLINA VARON DIAZ" userId="F3WulOO1zdW9+LORcwUsQgtHX8O05KiAsqyo1/aqNxE=" providerId="None" clId="Web-{EA9C610F-1AC1-4CED-9D4A-CC5C235C2750}" dt="2024-10-30T14:06:40.020" v="113" actId="20577"/>
      <pc:docMkLst>
        <pc:docMk/>
      </pc:docMkLst>
      <pc:sldChg chg="modSp">
        <pc:chgData name="DIANA CAROLINA VARON DIAZ" userId="F3WulOO1zdW9+LORcwUsQgtHX8O05KiAsqyo1/aqNxE=" providerId="None" clId="Web-{EA9C610F-1AC1-4CED-9D4A-CC5C235C2750}" dt="2024-10-30T13:54:53.544" v="82" actId="20577"/>
        <pc:sldMkLst>
          <pc:docMk/>
          <pc:sldMk cId="807484346" sldId="1294"/>
        </pc:sldMkLst>
        <pc:spChg chg="mod">
          <ac:chgData name="DIANA CAROLINA VARON DIAZ" userId="F3WulOO1zdW9+LORcwUsQgtHX8O05KiAsqyo1/aqNxE=" providerId="None" clId="Web-{EA9C610F-1AC1-4CED-9D4A-CC5C235C2750}" dt="2024-10-30T13:54:53.544" v="82" actId="20577"/>
          <ac:spMkLst>
            <pc:docMk/>
            <pc:sldMk cId="807484346" sldId="1294"/>
            <ac:spMk id="6" creationId="{11B11194-78E2-BE34-0262-1E63503086D5}"/>
          </ac:spMkLst>
        </pc:spChg>
      </pc:sldChg>
      <pc:sldChg chg="modSp">
        <pc:chgData name="DIANA CAROLINA VARON DIAZ" userId="F3WulOO1zdW9+LORcwUsQgtHX8O05KiAsqyo1/aqNxE=" providerId="None" clId="Web-{EA9C610F-1AC1-4CED-9D4A-CC5C235C2750}" dt="2024-10-30T14:06:40.020" v="113" actId="20577"/>
        <pc:sldMkLst>
          <pc:docMk/>
          <pc:sldMk cId="4219400363" sldId="1302"/>
        </pc:sldMkLst>
        <pc:spChg chg="mod">
          <ac:chgData name="DIANA CAROLINA VARON DIAZ" userId="F3WulOO1zdW9+LORcwUsQgtHX8O05KiAsqyo1/aqNxE=" providerId="None" clId="Web-{EA9C610F-1AC1-4CED-9D4A-CC5C235C2750}" dt="2024-10-30T14:06:40.020" v="113" actId="20577"/>
          <ac:spMkLst>
            <pc:docMk/>
            <pc:sldMk cId="4219400363" sldId="1302"/>
            <ac:spMk id="11" creationId="{6917D55D-323C-E606-CBD3-8235749DA20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B4394A-F71A-4174-9D66-E98AF39D8418}" type="datetimeFigureOut">
              <a:rPr lang="es-419" smtClean="0"/>
              <a:t>18/3/2026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D9126B-2BA2-489F-9550-4ADF1A372287}" type="slidenum">
              <a:rPr lang="es-419" smtClean="0"/>
              <a:t>‹#›</a:t>
            </a:fld>
            <a:endParaRPr lang="es-419"/>
          </a:p>
        </p:txBody>
      </p:sp>
    </p:spTree>
    <p:extLst>
      <p:ext uri="{BB962C8B-B14F-4D97-AF65-F5344CB8AC3E}">
        <p14:creationId xmlns:p14="http://schemas.microsoft.com/office/powerpoint/2010/main" val="3148720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1878191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3765469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1825638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3905746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2922140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1852919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2560304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3402870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904585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590353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3691158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25</a:t>
            </a:fld>
            <a:endParaRPr lang="en-US"/>
          </a:p>
        </p:txBody>
      </p:sp>
    </p:spTree>
    <p:extLst>
      <p:ext uri="{BB962C8B-B14F-4D97-AF65-F5344CB8AC3E}">
        <p14:creationId xmlns:p14="http://schemas.microsoft.com/office/powerpoint/2010/main" val="2309905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3205472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32622776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8734874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123896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4245694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1571607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33</a:t>
            </a:fld>
            <a:endParaRPr lang="en-US"/>
          </a:p>
        </p:txBody>
      </p:sp>
    </p:spTree>
    <p:extLst>
      <p:ext uri="{BB962C8B-B14F-4D97-AF65-F5344CB8AC3E}">
        <p14:creationId xmlns:p14="http://schemas.microsoft.com/office/powerpoint/2010/main" val="2213522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34</a:t>
            </a:fld>
            <a:endParaRPr lang="en-US"/>
          </a:p>
        </p:txBody>
      </p:sp>
    </p:spTree>
    <p:extLst>
      <p:ext uri="{BB962C8B-B14F-4D97-AF65-F5344CB8AC3E}">
        <p14:creationId xmlns:p14="http://schemas.microsoft.com/office/powerpoint/2010/main" val="3245187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28829007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8735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43283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61836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067478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7282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584354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20973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05016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695257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291644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421477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944267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801711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707299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68489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109494" y="6570337"/>
            <a:ext cx="2388102" cy="138499"/>
          </a:xfrm>
          <a:prstGeom prst="rect">
            <a:avLst/>
          </a:prstGeom>
          <a:noFill/>
        </p:spPr>
        <p:txBody>
          <a:bodyPr wrap="square" lIns="0" tIns="0" rIns="0" bIns="0" rtlCol="0">
            <a:spAutoFit/>
          </a:bodyPr>
          <a:lstStyle/>
          <a:p>
            <a:pPr algn="r"/>
            <a:r>
              <a:rPr lang="en-US" sz="900" dirty="0">
                <a:solidFill>
                  <a:schemeClr val="bg1"/>
                </a:solidFill>
              </a:rPr>
              <a:t>©20226 Ellucian. Confidential and Proprietary</a:t>
            </a:r>
          </a:p>
        </p:txBody>
      </p:sp>
    </p:spTree>
    <p:extLst>
      <p:ext uri="{BB962C8B-B14F-4D97-AF65-F5344CB8AC3E}">
        <p14:creationId xmlns:p14="http://schemas.microsoft.com/office/powerpoint/2010/main" val="3518894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127886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413518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521164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968881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028483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9995113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613433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9124006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11809401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3712157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282546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600704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790369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047528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85938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348680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772841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Blank Slide Dark">
    <p:bg>
      <p:bgPr>
        <a:solidFill>
          <a:schemeClr val="tx2"/>
        </a:solidFill>
        <a:effectLst/>
      </p:bgPr>
    </p:bg>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4BF00F1-D933-8AA0-E7A4-0F5CD1B344D1}"/>
              </a:ext>
            </a:extLst>
          </p:cNvPr>
          <p:cNvSpPr>
            <a:spLocks noGrp="1"/>
          </p:cNvSpPr>
          <p:nvPr>
            <p:ph type="body" orient="vert" sz="quarter" idx="10" hasCustomPrompt="1"/>
          </p:nvPr>
        </p:nvSpPr>
        <p:spPr>
          <a:xfrm>
            <a:off x="0" y="685800"/>
            <a:ext cx="609600" cy="5486400"/>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SECTION TITLE</a:t>
            </a:r>
          </a:p>
        </p:txBody>
      </p:sp>
      <p:sp>
        <p:nvSpPr>
          <p:cNvPr id="5" name="Slide Number Placeholder 5">
            <a:extLst>
              <a:ext uri="{FF2B5EF4-FFF2-40B4-BE49-F238E27FC236}">
                <a16:creationId xmlns:a16="http://schemas.microsoft.com/office/drawing/2014/main" id="{74B49D1D-E006-95E3-C9AD-E07A51FD99C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1AF95E4A-94CB-47CE-AAEF-B284841F2296}" type="slidenum">
              <a:rPr lang="es-419" smtClean="0"/>
              <a:t>‹#›</a:t>
            </a:fld>
            <a:endParaRPr lang="es-419"/>
          </a:p>
        </p:txBody>
      </p:sp>
    </p:spTree>
    <p:extLst>
      <p:ext uri="{BB962C8B-B14F-4D97-AF65-F5344CB8AC3E}">
        <p14:creationId xmlns:p14="http://schemas.microsoft.com/office/powerpoint/2010/main" val="35010173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1AF95E4A-94CB-47CE-AAEF-B284841F2296}" type="slidenum">
              <a:rPr lang="es-419" smtClean="0"/>
              <a:t>‹#›</a:t>
            </a:fld>
            <a:endParaRPr lang="es-419"/>
          </a:p>
        </p:txBody>
      </p:sp>
    </p:spTree>
    <p:extLst>
      <p:ext uri="{BB962C8B-B14F-4D97-AF65-F5344CB8AC3E}">
        <p14:creationId xmlns:p14="http://schemas.microsoft.com/office/powerpoint/2010/main" val="1622697986"/>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1AF95E4A-94CB-47CE-AAEF-B284841F2296}"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Tree>
    <p:extLst>
      <p:ext uri="{BB962C8B-B14F-4D97-AF65-F5344CB8AC3E}">
        <p14:creationId xmlns:p14="http://schemas.microsoft.com/office/powerpoint/2010/main" val="35517255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1AF95E4A-94CB-47CE-AAEF-B284841F2296}"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Tree>
    <p:extLst>
      <p:ext uri="{BB962C8B-B14F-4D97-AF65-F5344CB8AC3E}">
        <p14:creationId xmlns:p14="http://schemas.microsoft.com/office/powerpoint/2010/main" val="3752543882"/>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3113328591"/>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userDrawn="1">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20" name="Footer Placeholder 4"/>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2026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3822583700"/>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Title slide al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775141044"/>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5213256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705788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823138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0225318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322810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839250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786775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452127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826658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807075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875298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580595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543193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399328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36606733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823227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9877799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2195945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867173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2.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theme" Target="../theme/theme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30862776"/>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 id="2147483745" r:id="rId28"/>
    <p:sldLayoutId id="2147483746" r:id="rId29"/>
    <p:sldLayoutId id="2147483747" r:id="rId30"/>
    <p:sldLayoutId id="2147483748" r:id="rId31"/>
    <p:sldLayoutId id="2147483749" r:id="rId32"/>
    <p:sldLayoutId id="2147483750" r:id="rId33"/>
    <p:sldLayoutId id="2147483752" r:id="rId34"/>
    <p:sldLayoutId id="2147483753" r:id="rId35"/>
    <p:sldLayoutId id="2147483754" r:id="rId36"/>
    <p:sldLayoutId id="2147483755" r:id="rId37"/>
    <p:sldLayoutId id="2147483712" r:id="rId38"/>
    <p:sldLayoutId id="2147483714" r:id="rId39"/>
    <p:sldLayoutId id="2147483716" r:id="rId40"/>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8183944"/>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36.xml"/><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15.xml"/><Relationship Id="rId5" Type="http://schemas.openxmlformats.org/officeDocument/2006/relationships/image" Target="../media/image50.sv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2" name="Title 1"/>
          <p:cNvSpPr>
            <a:spLocks noGrp="1"/>
          </p:cNvSpPr>
          <p:nvPr>
            <p:ph type="title" idx="4294967295"/>
          </p:nvPr>
        </p:nvSpPr>
        <p:spPr>
          <a:xfrm>
            <a:off x="444935" y="2100499"/>
            <a:ext cx="5651066" cy="2413674"/>
          </a:xfrm>
        </p:spPr>
        <p:txBody>
          <a:bodyPr/>
          <a:lstStyle/>
          <a:p>
            <a:pPr>
              <a:spcBef>
                <a:spcPts val="0"/>
              </a:spcBef>
              <a:spcAft>
                <a:spcPts val="600"/>
              </a:spcAft>
            </a:pPr>
            <a:r>
              <a:rPr lang="es-ES" sz="4200" dirty="0">
                <a:solidFill>
                  <a:schemeClr val="bg1"/>
                </a:solidFill>
                <a:latin typeface="+mn-lt"/>
                <a:ea typeface="+mn-ea"/>
                <a:cs typeface="+mn-cs"/>
              </a:rPr>
              <a:t>Actualizar características del estudiante</a:t>
            </a:r>
            <a:br>
              <a:rPr lang="es-419" sz="4200" dirty="0">
                <a:solidFill>
                  <a:schemeClr val="bg1"/>
                </a:solidFill>
                <a:latin typeface="+mn-lt"/>
                <a:ea typeface="+mn-ea"/>
                <a:cs typeface="+mn-cs"/>
              </a:rPr>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5" name="Text Placeholder 4">
            <a:extLst>
              <a:ext uri="{FF2B5EF4-FFF2-40B4-BE49-F238E27FC236}">
                <a16:creationId xmlns:a16="http://schemas.microsoft.com/office/drawing/2014/main" id="{349BED72-E68C-8946-7DDE-96E5DCDDBABC}"/>
              </a:ext>
            </a:extLst>
          </p:cNvPr>
          <p:cNvSpPr>
            <a:spLocks noGrp="1"/>
          </p:cNvSpPr>
          <p:nvPr>
            <p:ph type="body" sz="quarter" idx="12"/>
          </p:nvPr>
        </p:nvSpPr>
        <p:spPr/>
        <p:txBody>
          <a:bodyPr/>
          <a:lstStyle/>
          <a:p>
            <a:endParaRPr lang="es-CO"/>
          </a:p>
        </p:txBody>
      </p:sp>
      <p:sp>
        <p:nvSpPr>
          <p:cNvPr id="9" name="Text Placeholder 8">
            <a:extLst>
              <a:ext uri="{FF2B5EF4-FFF2-40B4-BE49-F238E27FC236}">
                <a16:creationId xmlns:a16="http://schemas.microsoft.com/office/drawing/2014/main" id="{8A63098E-E388-9DE4-6CE7-C4598F717C9F}"/>
              </a:ext>
            </a:extLst>
          </p:cNvPr>
          <p:cNvSpPr>
            <a:spLocks noGrp="1"/>
          </p:cNvSpPr>
          <p:nvPr>
            <p:ph type="body" sz="quarter" idx="13"/>
          </p:nvPr>
        </p:nvSpPr>
        <p:spPr/>
        <p:txBody>
          <a:bodyPr/>
          <a:lstStyle/>
          <a:p>
            <a:endParaRPr lang="es-CO"/>
          </a:p>
        </p:txBody>
      </p:sp>
    </p:spTree>
    <p:extLst>
      <p:ext uri="{BB962C8B-B14F-4D97-AF65-F5344CB8AC3E}">
        <p14:creationId xmlns:p14="http://schemas.microsoft.com/office/powerpoint/2010/main" val="2250606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672495048"/>
              </p:ext>
            </p:extLst>
          </p:nvPr>
        </p:nvGraphicFramePr>
        <p:xfrm>
          <a:off x="1268704" y="1378326"/>
          <a:ext cx="8916155" cy="4101348"/>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20000"/>
                    </a:ext>
                  </a:extLst>
                </a:gridCol>
                <a:gridCol w="8103140">
                  <a:extLst>
                    <a:ext uri="{9D8B030D-6E8A-4147-A177-3AD203B41FA5}">
                      <a16:colId xmlns:a16="http://schemas.microsoft.com/office/drawing/2014/main" val="20001"/>
                    </a:ext>
                  </a:extLst>
                </a:gridCol>
              </a:tblGrid>
              <a:tr h="802833">
                <a:tc>
                  <a:txBody>
                    <a:bodyPr/>
                    <a:lstStyle/>
                    <a:p>
                      <a:r>
                        <a:rPr lang="es-ES_tradnl" sz="28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2000" b="0" kern="1200" noProof="0" dirty="0">
                        <a:solidFill>
                          <a:srgbClr val="414042"/>
                        </a:solidFill>
                        <a:latin typeface="Arial"/>
                        <a:ea typeface="+mn-ea"/>
                        <a:cs typeface="Arial"/>
                      </a:endParaRPr>
                    </a:p>
                    <a:p>
                      <a:r>
                        <a:rPr lang="es-ES_tradnl" sz="2800" b="1" kern="1200" noProof="0" dirty="0" err="1">
                          <a:solidFill>
                            <a:schemeClr val="bg1"/>
                          </a:solidFill>
                          <a:latin typeface="+mn-lt"/>
                          <a:ea typeface="+mn-ea"/>
                          <a:cs typeface="+mn-cs"/>
                        </a:rPr>
                        <a:t>Overview</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800" b="1" kern="1200" noProof="0" dirty="0">
                          <a:solidFill>
                            <a:schemeClr val="bg1"/>
                          </a:solidFill>
                          <a:latin typeface="+mn-lt"/>
                          <a:ea typeface="+mn-ea"/>
                          <a:cs typeface="+mn-cs"/>
                        </a:rPr>
                        <a:t>Configuraciones</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dirty="0">
                          <a:solidFill>
                            <a:schemeClr val="bg1"/>
                          </a:solidFill>
                          <a:latin typeface="+mn-lt"/>
                          <a:ea typeface="+mn-ea"/>
                          <a:cs typeface="+mn-cs"/>
                        </a:rPr>
                        <a:t>Atributo del estudiante</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02833">
                <a:tc>
                  <a:txBody>
                    <a:bodyPr/>
                    <a:lstStyle/>
                    <a:p>
                      <a:pPr marL="0" algn="l" defTabSz="914400" rtl="0" eaLnBrk="1" latinLnBrk="0" hangingPunct="1"/>
                      <a:r>
                        <a:rPr lang="es-419" sz="28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419" sz="2800" b="1" kern="1200" dirty="0">
                          <a:solidFill>
                            <a:schemeClr val="bg1"/>
                          </a:solidFill>
                          <a:latin typeface="+mn-lt"/>
                          <a:ea typeface="+mn-ea"/>
                          <a:cs typeface="+mn-cs"/>
                        </a:rPr>
                        <a:t>Cohorte del estudiante</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5873710"/>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05</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dirty="0">
                          <a:solidFill>
                            <a:schemeClr val="bg1"/>
                          </a:solidFill>
                          <a:latin typeface="+mn-lt"/>
                          <a:ea typeface="+mn-ea"/>
                          <a:cs typeface="+mn-cs"/>
                        </a:rPr>
                        <a:t>Resumen</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27243"/>
                  </a:ext>
                </a:extLst>
              </a:tr>
            </a:tbl>
          </a:graphicData>
        </a:graphic>
      </p:graphicFrame>
      <p:sp>
        <p:nvSpPr>
          <p:cNvPr id="5" name="Subtitle 5">
            <a:extLst>
              <a:ext uri="{FF2B5EF4-FFF2-40B4-BE49-F238E27FC236}">
                <a16:creationId xmlns:a16="http://schemas.microsoft.com/office/drawing/2014/main" id="{D8088C15-A367-1E44-B8A0-86E2245EFA0A}"/>
              </a:ext>
            </a:extLst>
          </p:cNvPr>
          <p:cNvSpPr txBox="1">
            <a:spLocks/>
          </p:cNvSpPr>
          <p:nvPr/>
        </p:nvSpPr>
        <p:spPr>
          <a:xfrm>
            <a:off x="0" y="685800"/>
            <a:ext cx="609600" cy="5486399"/>
          </a:xfrm>
          <a:prstGeom prst="rect">
            <a:avLst/>
          </a:prstGeom>
        </p:spPr>
        <p:txBody>
          <a:bodyPr vert="vert270" lIns="0" tIns="0" rIns="0" bIns="0" rtlCol="0" anchor="ctr" anchorCtr="0">
            <a:noAutofit/>
          </a:bodyPr>
          <a:lstStyle>
            <a:lvl1pPr indent="0" algn="ctr">
              <a:lnSpc>
                <a:spcPct val="110000"/>
              </a:lnSpc>
              <a:spcBef>
                <a:spcPts val="0"/>
              </a:spcBef>
              <a:spcAft>
                <a:spcPts val="600"/>
              </a:spcAft>
              <a:buFont typeface="Arial" panose="020B0604020202020204" pitchFamily="34" charset="0"/>
              <a:buNone/>
              <a:defRPr sz="1200" spc="300">
                <a:solidFill>
                  <a:schemeClr val="bg1"/>
                </a:solidFill>
              </a:defRPr>
            </a:lvl1pPr>
            <a:lvl2pPr indent="0" algn="ctr">
              <a:lnSpc>
                <a:spcPct val="110000"/>
              </a:lnSpc>
              <a:spcBef>
                <a:spcPts val="0"/>
              </a:spcBef>
              <a:spcAft>
                <a:spcPts val="600"/>
              </a:spcAft>
              <a:buFont typeface="Wingdings" pitchFamily="2" charset="2"/>
              <a:buNone/>
              <a:tabLst/>
              <a:defRPr sz="1200" spc="300">
                <a:solidFill>
                  <a:schemeClr val="bg1"/>
                </a:solidFill>
              </a:defRPr>
            </a:lvl2pPr>
            <a:lvl3pPr indent="0" algn="ctr">
              <a:lnSpc>
                <a:spcPct val="110000"/>
              </a:lnSpc>
              <a:spcBef>
                <a:spcPts val="0"/>
              </a:spcBef>
              <a:spcAft>
                <a:spcPts val="600"/>
              </a:spcAft>
              <a:buFont typeface="Courier New" panose="02070309020205020404" pitchFamily="49" charset="0"/>
              <a:buNone/>
              <a:tabLst/>
              <a:defRPr sz="1100" spc="300">
                <a:solidFill>
                  <a:schemeClr val="bg1"/>
                </a:solidFill>
              </a:defRPr>
            </a:lvl3pPr>
            <a:lvl4pPr indent="0" algn="ctr">
              <a:lnSpc>
                <a:spcPct val="110000"/>
              </a:lnSpc>
              <a:spcBef>
                <a:spcPts val="0"/>
              </a:spcBef>
              <a:spcAft>
                <a:spcPts val="600"/>
              </a:spcAft>
              <a:buFont typeface="Arial" panose="020B0604020202020204" pitchFamily="34" charset="0"/>
              <a:buNone/>
              <a:tabLst/>
              <a:defRPr sz="1050" spc="300">
                <a:solidFill>
                  <a:schemeClr val="bg1"/>
                </a:solidFill>
              </a:defRPr>
            </a:lvl4pPr>
            <a:lvl5pPr indent="0" algn="ctr">
              <a:lnSpc>
                <a:spcPct val="110000"/>
              </a:lnSpc>
              <a:spcBef>
                <a:spcPts val="0"/>
              </a:spcBef>
              <a:spcAft>
                <a:spcPts val="600"/>
              </a:spcAft>
              <a:buFont typeface="Wingdings" pitchFamily="2" charset="2"/>
              <a:buNone/>
              <a:tabLst/>
              <a:defRPr sz="1050" spc="300">
                <a:solidFill>
                  <a:schemeClr val="bg1"/>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ES" dirty="0"/>
              <a:t>Actualizar características del estudiante</a:t>
            </a:r>
            <a:endParaRPr lang="es-ES_tradnl" dirty="0"/>
          </a:p>
        </p:txBody>
      </p:sp>
    </p:spTree>
    <p:extLst>
      <p:ext uri="{BB962C8B-B14F-4D97-AF65-F5344CB8AC3E}">
        <p14:creationId xmlns:p14="http://schemas.microsoft.com/office/powerpoint/2010/main" val="320258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 dirty="0"/>
              <a:t>Actualizar características del estudiante</a:t>
            </a:r>
            <a:endParaRPr lang="es-ES_tradnl"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3" name="Marcador de texto 2">
            <a:extLst>
              <a:ext uri="{FF2B5EF4-FFF2-40B4-BE49-F238E27FC236}">
                <a16:creationId xmlns:a16="http://schemas.microsoft.com/office/drawing/2014/main" id="{EB0F1E57-D45E-5621-0233-477C51A323DF}"/>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1E1F73BB-555C-EED5-1F68-4F629C591A9A}"/>
              </a:ext>
            </a:extLst>
          </p:cNvPr>
          <p:cNvSpPr>
            <a:spLocks noGrp="1"/>
          </p:cNvSpPr>
          <p:nvPr>
            <p:ph type="body" orient="vert" sz="quarter" idx="17"/>
          </p:nvPr>
        </p:nvSpPr>
        <p:spPr/>
        <p:txBody>
          <a:bodyPr/>
          <a:lstStyle/>
          <a:p>
            <a:r>
              <a:rPr lang="es-ES" dirty="0"/>
              <a:t>Actualizar características del estudiante</a:t>
            </a:r>
            <a:endParaRPr lang="es-ES_tradnl" dirty="0"/>
          </a:p>
        </p:txBody>
      </p:sp>
      <p:sp>
        <p:nvSpPr>
          <p:cNvPr id="13" name="Title 12"/>
          <p:cNvSpPr>
            <a:spLocks noGrp="1"/>
          </p:cNvSpPr>
          <p:nvPr>
            <p:ph type="title"/>
          </p:nvPr>
        </p:nvSpPr>
        <p:spPr/>
        <p:txBody>
          <a:bodyPr/>
          <a:lstStyle/>
          <a:p>
            <a:r>
              <a:rPr lang="es-ES_tradnl" dirty="0"/>
              <a:t>Overview: </a:t>
            </a:r>
            <a:r>
              <a:rPr lang="es-ES_tradnl" b="1" dirty="0"/>
              <a:t>Mapa de </a:t>
            </a:r>
            <a:r>
              <a:rPr lang="es-ES_tradnl" dirty="0"/>
              <a:t>capacidades</a:t>
            </a:r>
            <a:endParaRPr lang="es-ES_tradnl" b="1" dirty="0"/>
          </a:p>
        </p:txBody>
      </p:sp>
      <p:pic>
        <p:nvPicPr>
          <p:cNvPr id="4" name="Picture 2">
            <a:extLst>
              <a:ext uri="{FF2B5EF4-FFF2-40B4-BE49-F238E27FC236}">
                <a16:creationId xmlns:a16="http://schemas.microsoft.com/office/drawing/2014/main" id="{A5F99E7D-C0A4-FDAE-A98A-BDF7D28AA2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0" t="3607" r="2974"/>
          <a:stretch>
            <a:fillRect/>
          </a:stretch>
        </p:blipFill>
        <p:spPr bwMode="auto">
          <a:xfrm>
            <a:off x="737618" y="1429061"/>
            <a:ext cx="10972796" cy="44753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FBC752A-15CA-B1CC-8EE8-EFFAC8119F49}"/>
              </a:ext>
            </a:extLst>
          </p:cNvPr>
          <p:cNvSpPr/>
          <p:nvPr/>
        </p:nvSpPr>
        <p:spPr>
          <a:xfrm>
            <a:off x="1031748" y="3596844"/>
            <a:ext cx="2269236" cy="62179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229761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13B7A307-5C70-7F03-3580-1D1730644EF5}"/>
              </a:ext>
            </a:extLst>
          </p:cNvPr>
          <p:cNvSpPr>
            <a:spLocks noGrp="1"/>
          </p:cNvSpPr>
          <p:nvPr>
            <p:ph type="body" orient="vert" sz="quarter" idx="17"/>
          </p:nvPr>
        </p:nvSpPr>
        <p:spPr/>
        <p:txBody>
          <a:bodyPr/>
          <a:lstStyle/>
          <a:p>
            <a:r>
              <a:rPr lang="es-ES" sz="1200" dirty="0"/>
              <a:t>Actualizar características del estudiante</a:t>
            </a:r>
            <a:endParaRPr lang="es-419" dirty="0"/>
          </a:p>
        </p:txBody>
      </p:sp>
      <p:sp>
        <p:nvSpPr>
          <p:cNvPr id="6" name="Título 5">
            <a:extLst>
              <a:ext uri="{FF2B5EF4-FFF2-40B4-BE49-F238E27FC236}">
                <a16:creationId xmlns:a16="http://schemas.microsoft.com/office/drawing/2014/main" id="{B4C967B7-80CD-9606-C5BF-C3BB1501BB64}"/>
              </a:ext>
            </a:extLst>
          </p:cNvPr>
          <p:cNvSpPr>
            <a:spLocks noGrp="1"/>
          </p:cNvSpPr>
          <p:nvPr>
            <p:ph type="title"/>
          </p:nvPr>
        </p:nvSpPr>
        <p:spPr/>
        <p:txBody>
          <a:bodyPr/>
          <a:lstStyle/>
          <a:p>
            <a:r>
              <a:rPr lang="es-ES_tradnl" b="0" dirty="0">
                <a:solidFill>
                  <a:schemeClr val="bg2">
                    <a:lumMod val="25000"/>
                  </a:schemeClr>
                </a:solidFill>
              </a:rPr>
              <a:t>Overview: </a:t>
            </a:r>
            <a:r>
              <a:rPr lang="es-ES_tradnl" dirty="0">
                <a:solidFill>
                  <a:schemeClr val="bg2">
                    <a:lumMod val="25000"/>
                  </a:schemeClr>
                </a:solidFill>
              </a:rPr>
              <a:t>Procedimientos de inscripción de estudiantes</a:t>
            </a:r>
            <a:endParaRPr lang="es-419" dirty="0"/>
          </a:p>
        </p:txBody>
      </p:sp>
      <p:sp>
        <p:nvSpPr>
          <p:cNvPr id="7" name="Title 12">
            <a:extLst>
              <a:ext uri="{FF2B5EF4-FFF2-40B4-BE49-F238E27FC236}">
                <a16:creationId xmlns:a16="http://schemas.microsoft.com/office/drawing/2014/main" id="{8B20F06B-F250-FF66-14E6-D5380447899C}"/>
              </a:ext>
            </a:extLst>
          </p:cNvPr>
          <p:cNvSpPr txBox="1">
            <a:spLocks/>
          </p:cNvSpPr>
          <p:nvPr/>
        </p:nvSpPr>
        <p:spPr>
          <a:xfrm>
            <a:off x="1104900" y="68580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endParaRPr lang="es-ES_tradnl" dirty="0"/>
          </a:p>
        </p:txBody>
      </p:sp>
      <p:sp>
        <p:nvSpPr>
          <p:cNvPr id="8" name="Marcador de texto 1">
            <a:extLst>
              <a:ext uri="{FF2B5EF4-FFF2-40B4-BE49-F238E27FC236}">
                <a16:creationId xmlns:a16="http://schemas.microsoft.com/office/drawing/2014/main" id="{09E58EE6-D825-A130-1509-A55AA970AB76}"/>
              </a:ext>
            </a:extLst>
          </p:cNvPr>
          <p:cNvSpPr txBox="1">
            <a:spLocks/>
          </p:cNvSpPr>
          <p:nvPr/>
        </p:nvSpPr>
        <p:spPr>
          <a:xfrm>
            <a:off x="1488700" y="1399408"/>
            <a:ext cx="8519392" cy="3860800"/>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9999"/>
              </a:buClr>
              <a:buFont typeface="Wingdings" panose="05000000000000000000" pitchFamily="2" charset="2"/>
              <a:buChar char="q"/>
            </a:pPr>
            <a:r>
              <a:rPr lang="es-CO" sz="2400" dirty="0">
                <a:solidFill>
                  <a:schemeClr val="tx1"/>
                </a:solidFill>
              </a:rPr>
              <a:t> Actualizar estado del estudiante</a:t>
            </a:r>
          </a:p>
          <a:p>
            <a:pPr>
              <a:buClr>
                <a:srgbClr val="009999"/>
              </a:buClr>
              <a:buFont typeface="Wingdings" panose="05000000000000000000" pitchFamily="2" charset="2"/>
              <a:buChar char="q"/>
            </a:pPr>
            <a:r>
              <a:rPr lang="es-CO" sz="2400" dirty="0">
                <a:solidFill>
                  <a:schemeClr val="tx1"/>
                </a:solidFill>
              </a:rPr>
              <a:t> </a:t>
            </a:r>
            <a:r>
              <a:rPr lang="es-CO" sz="2400" b="1" dirty="0">
                <a:solidFill>
                  <a:schemeClr val="tx1"/>
                </a:solidFill>
              </a:rPr>
              <a:t>Actualizar características del estudiante</a:t>
            </a:r>
          </a:p>
          <a:p>
            <a:pPr marL="0" indent="0">
              <a:buClr>
                <a:srgbClr val="009999"/>
              </a:buClr>
              <a:buNone/>
            </a:pPr>
            <a:endParaRPr lang="es-CO" sz="2400" b="1" dirty="0">
              <a:solidFill>
                <a:srgbClr val="7030A0"/>
              </a:solidFill>
            </a:endParaRPr>
          </a:p>
        </p:txBody>
      </p:sp>
    </p:spTree>
    <p:extLst>
      <p:ext uri="{BB962C8B-B14F-4D97-AF65-F5344CB8AC3E}">
        <p14:creationId xmlns:p14="http://schemas.microsoft.com/office/powerpoint/2010/main" val="149198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2728528-A1F7-8FB8-6CFD-0B77CF41793E}"/>
              </a:ext>
            </a:extLst>
          </p:cNvPr>
          <p:cNvSpPr>
            <a:spLocks noGrp="1"/>
          </p:cNvSpPr>
          <p:nvPr>
            <p:ph type="body" sz="quarter" idx="18"/>
          </p:nvPr>
        </p:nvSpPr>
        <p:spPr>
          <a:xfrm>
            <a:off x="988168" y="1807725"/>
            <a:ext cx="10477499" cy="4267198"/>
          </a:xfrm>
        </p:spPr>
        <p:txBody>
          <a:bodyPr/>
          <a:lstStyle/>
          <a:p>
            <a:pPr lvl="1" algn="just">
              <a:buClr>
                <a:srgbClr val="009999"/>
              </a:buClr>
            </a:pPr>
            <a:r>
              <a:rPr lang="es-ES_tradnl" sz="2200" dirty="0"/>
              <a:t>Un alumno puede tener diversas características en la universidad y/o en su programa académico</a:t>
            </a:r>
          </a:p>
          <a:p>
            <a:pPr lvl="1" algn="just">
              <a:buClr>
                <a:srgbClr val="009999"/>
              </a:buClr>
            </a:pPr>
            <a:r>
              <a:rPr lang="es-ES_tradnl" sz="2200" dirty="0"/>
              <a:t>Banner permite hacer el cambio de características sin perder la historia del alumno</a:t>
            </a:r>
          </a:p>
          <a:p>
            <a:pPr lvl="1" algn="just">
              <a:buClr>
                <a:srgbClr val="009999"/>
              </a:buClr>
            </a:pPr>
            <a:r>
              <a:rPr lang="es-ES_tradnl" sz="2200" dirty="0"/>
              <a:t>La institución debe realizar los cambios de características en páginas administrativas.</a:t>
            </a:r>
          </a:p>
          <a:p>
            <a:pPr lvl="1" algn="just">
              <a:buClr>
                <a:srgbClr val="009999"/>
              </a:buClr>
            </a:pPr>
            <a:r>
              <a:rPr lang="es-ES_tradnl" sz="2200" dirty="0"/>
              <a:t>Las características del alumno pueden estar vigentes entre períodos, según la asignación que realice la institución.</a:t>
            </a:r>
          </a:p>
          <a:p>
            <a:pPr lvl="1" algn="just">
              <a:buClr>
                <a:srgbClr val="009999"/>
              </a:buClr>
            </a:pPr>
            <a:r>
              <a:rPr lang="es-ES_tradnl" sz="2200" dirty="0"/>
              <a:t>Se puede realizar el cambio de características en el mismo periodo o en un periodo posterior.</a:t>
            </a:r>
          </a:p>
          <a:p>
            <a:pPr marL="0" indent="0">
              <a:buNone/>
            </a:pPr>
            <a:endParaRPr lang="es-419" dirty="0"/>
          </a:p>
        </p:txBody>
      </p:sp>
      <p:sp>
        <p:nvSpPr>
          <p:cNvPr id="3" name="Marcador de texto vertical 2">
            <a:extLst>
              <a:ext uri="{FF2B5EF4-FFF2-40B4-BE49-F238E27FC236}">
                <a16:creationId xmlns:a16="http://schemas.microsoft.com/office/drawing/2014/main" id="{4FF04380-A86E-D6AC-F3B1-BB5701254BCE}"/>
              </a:ext>
            </a:extLst>
          </p:cNvPr>
          <p:cNvSpPr>
            <a:spLocks noGrp="1"/>
          </p:cNvSpPr>
          <p:nvPr>
            <p:ph type="body" orient="vert" sz="quarter" idx="17"/>
          </p:nvPr>
        </p:nvSpPr>
        <p:spPr/>
        <p:txBody>
          <a:bodyPr/>
          <a:lstStyle/>
          <a:p>
            <a:r>
              <a:rPr lang="es-ES" sz="1200" dirty="0"/>
              <a:t>Actualizar características del estudiante</a:t>
            </a:r>
            <a:endParaRPr lang="es-419" dirty="0"/>
          </a:p>
        </p:txBody>
      </p:sp>
      <p:sp>
        <p:nvSpPr>
          <p:cNvPr id="4" name="Título 3">
            <a:extLst>
              <a:ext uri="{FF2B5EF4-FFF2-40B4-BE49-F238E27FC236}">
                <a16:creationId xmlns:a16="http://schemas.microsoft.com/office/drawing/2014/main" id="{00B1FDAD-5967-7D6F-7DE2-E070E6256920}"/>
              </a:ext>
            </a:extLst>
          </p:cNvPr>
          <p:cNvSpPr>
            <a:spLocks noGrp="1"/>
          </p:cNvSpPr>
          <p:nvPr>
            <p:ph type="title"/>
          </p:nvPr>
        </p:nvSpPr>
        <p:spPr/>
        <p:txBody>
          <a:bodyPr/>
          <a:lstStyle/>
          <a:p>
            <a:r>
              <a:rPr lang="es-ES_tradnl" b="0" dirty="0">
                <a:solidFill>
                  <a:schemeClr val="bg2">
                    <a:lumMod val="25000"/>
                  </a:schemeClr>
                </a:solidFill>
              </a:rPr>
              <a:t>Overview: </a:t>
            </a:r>
            <a:r>
              <a:rPr lang="es-ES" sz="3200" dirty="0"/>
              <a:t>Actualizar características del estudiante</a:t>
            </a:r>
            <a:endParaRPr lang="es-419" dirty="0"/>
          </a:p>
        </p:txBody>
      </p:sp>
    </p:spTree>
    <p:extLst>
      <p:ext uri="{BB962C8B-B14F-4D97-AF65-F5344CB8AC3E}">
        <p14:creationId xmlns:p14="http://schemas.microsoft.com/office/powerpoint/2010/main" val="2920625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9337F78F-15FD-334D-FF83-1BBCA0CEFE48}"/>
              </a:ext>
            </a:extLst>
          </p:cNvPr>
          <p:cNvSpPr>
            <a:spLocks noGrp="1"/>
          </p:cNvSpPr>
          <p:nvPr>
            <p:ph type="body" orient="vert" sz="quarter" idx="17"/>
          </p:nvPr>
        </p:nvSpPr>
        <p:spPr/>
        <p:txBody>
          <a:bodyPr/>
          <a:lstStyle/>
          <a:p>
            <a:r>
              <a:rPr lang="es-ES" sz="1200" dirty="0"/>
              <a:t>Actualizar características del estudiante</a:t>
            </a:r>
            <a:endParaRPr lang="es-419" dirty="0"/>
          </a:p>
        </p:txBody>
      </p:sp>
      <p:sp>
        <p:nvSpPr>
          <p:cNvPr id="13" name="Title 12"/>
          <p:cNvSpPr>
            <a:spLocks noGrp="1"/>
          </p:cNvSpPr>
          <p:nvPr>
            <p:ph type="title"/>
          </p:nvPr>
        </p:nvSpPr>
        <p:spPr/>
        <p:txBody>
          <a:bodyPr/>
          <a:lstStyle/>
          <a:p>
            <a:r>
              <a:rPr lang="es-ES_tradnl" b="0" dirty="0" err="1">
                <a:solidFill>
                  <a:schemeClr val="bg2">
                    <a:lumMod val="25000"/>
                  </a:schemeClr>
                </a:solidFill>
              </a:rPr>
              <a:t>Overview</a:t>
            </a:r>
            <a:r>
              <a:rPr lang="es-ES_tradnl" b="0" dirty="0">
                <a:solidFill>
                  <a:schemeClr val="bg2">
                    <a:lumMod val="25000"/>
                  </a:schemeClr>
                </a:solidFill>
              </a:rPr>
              <a:t>: </a:t>
            </a:r>
            <a:r>
              <a:rPr lang="es-ES" sz="3200" dirty="0"/>
              <a:t>Actualizar características del estudiante</a:t>
            </a:r>
            <a:endParaRPr lang="es-ES_tradnl" b="1" dirty="0"/>
          </a:p>
        </p:txBody>
      </p:sp>
      <p:pic>
        <p:nvPicPr>
          <p:cNvPr id="2" name="Picture 5" descr="A diagram of a student's work flow&#10;&#10;Description automatically generated">
            <a:extLst>
              <a:ext uri="{FF2B5EF4-FFF2-40B4-BE49-F238E27FC236}">
                <a16:creationId xmlns:a16="http://schemas.microsoft.com/office/drawing/2014/main" id="{B0A9D108-625D-7D12-66FE-43CAF7D090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3324" y="1800430"/>
            <a:ext cx="6695812" cy="3682696"/>
          </a:xfrm>
          <a:prstGeom prst="rect">
            <a:avLst/>
          </a:prstGeom>
        </p:spPr>
      </p:pic>
    </p:spTree>
    <p:extLst>
      <p:ext uri="{BB962C8B-B14F-4D97-AF65-F5344CB8AC3E}">
        <p14:creationId xmlns:p14="http://schemas.microsoft.com/office/powerpoint/2010/main" val="1600803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64FE2E4E-F048-BD52-C872-2F0F487F4929}"/>
              </a:ext>
            </a:extLst>
          </p:cNvPr>
          <p:cNvSpPr>
            <a:spLocks noGrp="1"/>
          </p:cNvSpPr>
          <p:nvPr>
            <p:ph type="body" orient="vert" sz="quarter" idx="17"/>
          </p:nvPr>
        </p:nvSpPr>
        <p:spPr/>
        <p:txBody>
          <a:bodyPr/>
          <a:lstStyle/>
          <a:p>
            <a:r>
              <a:rPr lang="es-ES" sz="1200" dirty="0"/>
              <a:t>Actualizar características del estudiante</a:t>
            </a:r>
            <a:endParaRPr lang="es-419" dirty="0"/>
          </a:p>
        </p:txBody>
      </p:sp>
      <p:sp>
        <p:nvSpPr>
          <p:cNvPr id="13" name="Title 12"/>
          <p:cNvSpPr>
            <a:spLocks noGrp="1"/>
          </p:cNvSpPr>
          <p:nvPr>
            <p:ph type="title"/>
          </p:nvPr>
        </p:nvSpPr>
        <p:spPr/>
        <p:txBody>
          <a:bodyPr/>
          <a:lstStyle/>
          <a:p>
            <a:r>
              <a:rPr lang="es-ES_tradnl" dirty="0" err="1"/>
              <a:t>Overview</a:t>
            </a:r>
            <a:r>
              <a:rPr lang="es-ES_tradnl" dirty="0"/>
              <a:t>: </a:t>
            </a:r>
            <a:r>
              <a:rPr lang="es-ES_tradnl" b="1" dirty="0"/>
              <a:t>Región donde aplica</a:t>
            </a:r>
          </a:p>
        </p:txBody>
      </p:sp>
      <p:sp>
        <p:nvSpPr>
          <p:cNvPr id="14" name="CuadroTexto 13">
            <a:extLst>
              <a:ext uri="{FF2B5EF4-FFF2-40B4-BE49-F238E27FC236}">
                <a16:creationId xmlns:a16="http://schemas.microsoft.com/office/drawing/2014/main" id="{67F9A8D2-DB8A-9348-9C89-4582AE2EB894}"/>
              </a:ext>
            </a:extLst>
          </p:cNvPr>
          <p:cNvSpPr txBox="1"/>
          <p:nvPr/>
        </p:nvSpPr>
        <p:spPr>
          <a:xfrm>
            <a:off x="8409273" y="3182780"/>
            <a:ext cx="1537152" cy="461665"/>
          </a:xfrm>
          <a:prstGeom prst="rect">
            <a:avLst/>
          </a:prstGeom>
          <a:noFill/>
        </p:spPr>
        <p:txBody>
          <a:bodyPr wrap="none" rtlCol="0">
            <a:spAutoFit/>
          </a:bodyPr>
          <a:lstStyle/>
          <a:p>
            <a:r>
              <a:rPr lang="es-ES_tradnl" sz="2400" dirty="0"/>
              <a:t>Todo LAC</a:t>
            </a:r>
          </a:p>
        </p:txBody>
      </p:sp>
      <p:pic>
        <p:nvPicPr>
          <p:cNvPr id="3" name="Picture 2">
            <a:extLst>
              <a:ext uri="{FF2B5EF4-FFF2-40B4-BE49-F238E27FC236}">
                <a16:creationId xmlns:a16="http://schemas.microsoft.com/office/drawing/2014/main" id="{12CE592B-76CA-A280-BBA0-692971BACFB2}"/>
              </a:ext>
            </a:extLst>
          </p:cNvPr>
          <p:cNvPicPr>
            <a:picLocks noChangeAspect="1"/>
          </p:cNvPicPr>
          <p:nvPr/>
        </p:nvPicPr>
        <p:blipFill>
          <a:blip r:embed="rId2"/>
          <a:stretch>
            <a:fillRect/>
          </a:stretch>
        </p:blipFill>
        <p:spPr>
          <a:xfrm>
            <a:off x="2309583" y="1483771"/>
            <a:ext cx="5111496" cy="5111496"/>
          </a:xfrm>
          <a:prstGeom prst="rect">
            <a:avLst/>
          </a:prstGeom>
        </p:spPr>
      </p:pic>
    </p:spTree>
    <p:extLst>
      <p:ext uri="{BB962C8B-B14F-4D97-AF65-F5344CB8AC3E}">
        <p14:creationId xmlns:p14="http://schemas.microsoft.com/office/powerpoint/2010/main" val="140520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313D474-EF59-2D48-B7C0-03A42597CAB9}"/>
              </a:ext>
            </a:extLst>
          </p:cNvPr>
          <p:cNvSpPr txBox="1">
            <a:spLocks/>
          </p:cNvSpPr>
          <p:nvPr/>
        </p:nvSpPr>
        <p:spPr>
          <a:xfrm>
            <a:off x="475488" y="3026292"/>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
        <p:nvSpPr>
          <p:cNvPr id="2" name="Marcador de texto vertical 1">
            <a:extLst>
              <a:ext uri="{FF2B5EF4-FFF2-40B4-BE49-F238E27FC236}">
                <a16:creationId xmlns:a16="http://schemas.microsoft.com/office/drawing/2014/main" id="{DE641D37-60AA-2270-411B-38BD65317D98}"/>
              </a:ext>
            </a:extLst>
          </p:cNvPr>
          <p:cNvSpPr>
            <a:spLocks noGrp="1"/>
          </p:cNvSpPr>
          <p:nvPr>
            <p:ph type="body" orient="vert" sz="quarter" idx="10"/>
          </p:nvPr>
        </p:nvSpPr>
        <p:spPr/>
        <p:txBody>
          <a:bodyPr/>
          <a:lstStyle/>
          <a:p>
            <a:r>
              <a:rPr lang="es-ES" sz="1200" dirty="0"/>
              <a:t>Actualizar características del estudiante</a:t>
            </a:r>
            <a:endParaRPr lang="es-419" dirty="0"/>
          </a:p>
        </p:txBody>
      </p:sp>
      <p:sp>
        <p:nvSpPr>
          <p:cNvPr id="7" name="Title 4">
            <a:extLst>
              <a:ext uri="{FF2B5EF4-FFF2-40B4-BE49-F238E27FC236}">
                <a16:creationId xmlns:a16="http://schemas.microsoft.com/office/drawing/2014/main" id="{4A62112F-A3AA-3C4D-A267-97DF7410D190}"/>
              </a:ext>
            </a:extLst>
          </p:cNvPr>
          <p:cNvSpPr>
            <a:spLocks noGrp="1"/>
          </p:cNvSpPr>
          <p:nvPr>
            <p:ph type="title"/>
          </p:nvPr>
        </p:nvSpPr>
        <p:spPr/>
        <p:txBody>
          <a:bodyPr/>
          <a:lstStyle/>
          <a:p>
            <a:r>
              <a:rPr lang="es-ES" dirty="0"/>
              <a:t>Configuraciones</a:t>
            </a:r>
            <a:endParaRPr lang="es-ES_tradnl" dirty="0"/>
          </a:p>
        </p:txBody>
      </p:sp>
      <p:sp>
        <p:nvSpPr>
          <p:cNvPr id="3" name="Marcador de texto 2">
            <a:extLst>
              <a:ext uri="{FF2B5EF4-FFF2-40B4-BE49-F238E27FC236}">
                <a16:creationId xmlns:a16="http://schemas.microsoft.com/office/drawing/2014/main" id="{7CC0336C-9A1E-B2B0-F239-D8AC3032694A}"/>
              </a:ext>
            </a:extLst>
          </p:cNvPr>
          <p:cNvSpPr>
            <a:spLocks noGrp="1"/>
          </p:cNvSpPr>
          <p:nvPr>
            <p:ph type="body" sz="quarter" idx="18"/>
          </p:nvPr>
        </p:nvSpPr>
        <p:spPr/>
        <p:txBody>
          <a:bodyPr/>
          <a:lstStyle/>
          <a:p>
            <a:endParaRPr lang="es-419" dirty="0"/>
          </a:p>
        </p:txBody>
      </p:sp>
      <p:sp>
        <p:nvSpPr>
          <p:cNvPr id="4" name="Subtitle 5">
            <a:extLst>
              <a:ext uri="{FF2B5EF4-FFF2-40B4-BE49-F238E27FC236}">
                <a16:creationId xmlns:a16="http://schemas.microsoft.com/office/drawing/2014/main" id="{9D39FAED-EEFF-4563-B0AE-EAF949D8E6BC}"/>
              </a:ext>
            </a:extLst>
          </p:cNvPr>
          <p:cNvSpPr txBox="1">
            <a:spLocks/>
          </p:cNvSpPr>
          <p:nvPr/>
        </p:nvSpPr>
        <p:spPr>
          <a:xfrm>
            <a:off x="472848" y="3756901"/>
            <a:ext cx="7108205" cy="2462723"/>
          </a:xfrm>
          <a:prstGeom prst="rect">
            <a:avLst/>
          </a:prstGeom>
        </p:spPr>
        <p:txBody>
          <a:bodyPr/>
          <a:lstStyle>
            <a:lvl1pPr marL="0" indent="0" algn="l" defTabSz="457200" rtl="0" eaLnBrk="1" latinLnBrk="0" hangingPunct="1">
              <a:spcBef>
                <a:spcPts val="900"/>
              </a:spcBef>
              <a:buFontTx/>
              <a:buNone/>
              <a:defRPr lang="en-US" sz="1600" b="1" kern="1200" dirty="0" smtClean="0">
                <a:solidFill>
                  <a:srgbClr val="45A1AA"/>
                </a:solidFill>
                <a:latin typeface="Arial"/>
                <a:ea typeface="+mn-ea"/>
                <a:cs typeface="Arial"/>
              </a:defRPr>
            </a:lvl1pPr>
            <a:lvl2pPr marL="285750" indent="-285750" algn="l" defTabSz="457200" rtl="0" eaLnBrk="1" latinLnBrk="0" hangingPunct="1">
              <a:spcBef>
                <a:spcPts val="900"/>
              </a:spcBef>
              <a:buFont typeface="Arial" panose="020B0604020202020204" pitchFamily="34" charset="0"/>
              <a:buChar char="•"/>
              <a:defRPr lang="en-US" sz="1600" b="0" kern="1200" dirty="0" smtClean="0">
                <a:solidFill>
                  <a:schemeClr val="tx1"/>
                </a:solidFill>
                <a:latin typeface="Arial"/>
                <a:ea typeface="+mn-ea"/>
                <a:cs typeface="Arial"/>
              </a:defRPr>
            </a:lvl2pPr>
            <a:lvl3pPr marL="512763" indent="-285750" algn="l" defTabSz="457200" rtl="0" eaLnBrk="1" latinLnBrk="0" hangingPunct="1">
              <a:spcBef>
                <a:spcPts val="900"/>
              </a:spcBef>
              <a:buFont typeface="Arial"/>
              <a:buChar char="•"/>
              <a:defRPr lang="en-US" sz="1400" kern="1200" dirty="0" smtClean="0">
                <a:solidFill>
                  <a:srgbClr val="414042"/>
                </a:solidFill>
                <a:latin typeface="Arial"/>
                <a:ea typeface="+mn-ea"/>
                <a:cs typeface="Arial"/>
              </a:defRPr>
            </a:lvl3pPr>
            <a:lvl4pPr marL="855663" indent="-855663" algn="l" defTabSz="457200" rtl="0" eaLnBrk="1" latinLnBrk="0" hangingPunct="1">
              <a:spcBef>
                <a:spcPts val="900"/>
              </a:spcBef>
              <a:buFont typeface="Arial" panose="020B0604020202020204" pitchFamily="34" charset="0"/>
              <a:buChar char="•"/>
              <a:defRPr lang="en-US" sz="1200" kern="1200" dirty="0" smtClean="0">
                <a:solidFill>
                  <a:srgbClr val="414042"/>
                </a:solidFill>
                <a:latin typeface="Arial"/>
                <a:ea typeface="+mn-ea"/>
                <a:cs typeface="Arial"/>
              </a:defRPr>
            </a:lvl4pPr>
            <a:lvl5pPr marL="1201738" indent="-339725" algn="l" defTabSz="457200" rtl="0" eaLnBrk="1" latinLnBrk="0" hangingPunct="1">
              <a:spcBef>
                <a:spcPts val="900"/>
              </a:spcBef>
              <a:buFont typeface="Arial" panose="020B0604020202020204" pitchFamily="34" charset="0"/>
              <a:buChar char="•"/>
              <a:defRPr lang="en-US" sz="1200" kern="1200" dirty="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b="0" dirty="0">
              <a:solidFill>
                <a:srgbClr val="FBFCFA"/>
              </a:solidFill>
            </a:endParaRPr>
          </a:p>
        </p:txBody>
      </p:sp>
    </p:spTree>
    <p:extLst>
      <p:ext uri="{BB962C8B-B14F-4D97-AF65-F5344CB8AC3E}">
        <p14:creationId xmlns:p14="http://schemas.microsoft.com/office/powerpoint/2010/main" val="3315124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C93D2FE-49D0-1974-7EEF-62EE32A288FE}"/>
              </a:ext>
            </a:extLst>
          </p:cNvPr>
          <p:cNvPicPr>
            <a:picLocks noChangeAspect="1"/>
          </p:cNvPicPr>
          <p:nvPr/>
        </p:nvPicPr>
        <p:blipFill>
          <a:blip r:embed="rId2"/>
          <a:stretch>
            <a:fillRect/>
          </a:stretch>
        </p:blipFill>
        <p:spPr>
          <a:xfrm>
            <a:off x="969264" y="1393855"/>
            <a:ext cx="10385459" cy="4927408"/>
          </a:xfrm>
          <a:prstGeom prst="rect">
            <a:avLst/>
          </a:prstGeom>
        </p:spPr>
      </p:pic>
      <p:sp>
        <p:nvSpPr>
          <p:cNvPr id="4" name="Marcador de texto vertical 3">
            <a:extLst>
              <a:ext uri="{FF2B5EF4-FFF2-40B4-BE49-F238E27FC236}">
                <a16:creationId xmlns:a16="http://schemas.microsoft.com/office/drawing/2014/main" id="{9337F78F-15FD-334D-FF83-1BBCA0CEFE48}"/>
              </a:ext>
            </a:extLst>
          </p:cNvPr>
          <p:cNvSpPr>
            <a:spLocks noGrp="1"/>
          </p:cNvSpPr>
          <p:nvPr>
            <p:ph type="body" orient="vert" sz="quarter" idx="17"/>
          </p:nvPr>
        </p:nvSpPr>
        <p:spPr/>
        <p:txBody>
          <a:bodyPr/>
          <a:lstStyle/>
          <a:p>
            <a:r>
              <a:rPr lang="es-ES" sz="1200" dirty="0"/>
              <a:t>Actualizar características del estudiante</a:t>
            </a:r>
            <a:endParaRPr lang="es-419" dirty="0"/>
          </a:p>
        </p:txBody>
      </p:sp>
      <p:sp>
        <p:nvSpPr>
          <p:cNvPr id="13" name="Title 12"/>
          <p:cNvSpPr>
            <a:spLocks noGrp="1"/>
          </p:cNvSpPr>
          <p:nvPr>
            <p:ph type="title"/>
          </p:nvPr>
        </p:nvSpPr>
        <p:spPr>
          <a:xfrm>
            <a:off x="1104900" y="495300"/>
            <a:ext cx="10477497" cy="898555"/>
          </a:xfrm>
        </p:spPr>
        <p:txBody>
          <a:bodyPr/>
          <a:lstStyle/>
          <a:p>
            <a:r>
              <a:rPr lang="es-ES_tradnl" b="0" dirty="0">
                <a:solidFill>
                  <a:schemeClr val="bg2">
                    <a:lumMod val="25000"/>
                  </a:schemeClr>
                </a:solidFill>
              </a:rPr>
              <a:t>Configuraciones: </a:t>
            </a:r>
            <a:r>
              <a:rPr lang="es-ES_tradnl" dirty="0">
                <a:solidFill>
                  <a:schemeClr val="bg2">
                    <a:lumMod val="25000"/>
                  </a:schemeClr>
                </a:solidFill>
              </a:rPr>
              <a:t>A</a:t>
            </a:r>
            <a:r>
              <a:rPr lang="es-ES" sz="3200" dirty="0"/>
              <a:t>tributo del estudiante</a:t>
            </a:r>
            <a:endParaRPr lang="es-ES_tradnl" b="1" dirty="0"/>
          </a:p>
        </p:txBody>
      </p:sp>
      <p:sp>
        <p:nvSpPr>
          <p:cNvPr id="6" name="Rectángulo redondeado 5">
            <a:extLst>
              <a:ext uri="{FF2B5EF4-FFF2-40B4-BE49-F238E27FC236}">
                <a16:creationId xmlns:a16="http://schemas.microsoft.com/office/drawing/2014/main" id="{11B11194-78E2-BE34-0262-1E63503086D5}"/>
              </a:ext>
            </a:extLst>
          </p:cNvPr>
          <p:cNvSpPr/>
          <p:nvPr/>
        </p:nvSpPr>
        <p:spPr>
          <a:xfrm>
            <a:off x="3281194" y="5358384"/>
            <a:ext cx="5114944" cy="592382"/>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_tradnl" sz="1200" dirty="0">
                <a:solidFill>
                  <a:schemeClr val="bg1"/>
                </a:solidFill>
                <a:cs typeface="Arial"/>
              </a:rPr>
              <a:t>En STVATTS están definidos los códigos de atributos de estudiantes</a:t>
            </a:r>
          </a:p>
        </p:txBody>
      </p:sp>
    </p:spTree>
    <p:extLst>
      <p:ext uri="{BB962C8B-B14F-4D97-AF65-F5344CB8AC3E}">
        <p14:creationId xmlns:p14="http://schemas.microsoft.com/office/powerpoint/2010/main" val="2569877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2016A6E-44F3-730F-2092-B71DBF00BFF1}"/>
              </a:ext>
            </a:extLst>
          </p:cNvPr>
          <p:cNvPicPr>
            <a:picLocks noChangeAspect="1"/>
          </p:cNvPicPr>
          <p:nvPr/>
        </p:nvPicPr>
        <p:blipFill>
          <a:blip r:embed="rId2"/>
          <a:stretch>
            <a:fillRect/>
          </a:stretch>
        </p:blipFill>
        <p:spPr>
          <a:xfrm>
            <a:off x="886968" y="1247157"/>
            <a:ext cx="10695429" cy="5073616"/>
          </a:xfrm>
          <a:prstGeom prst="rect">
            <a:avLst/>
          </a:prstGeom>
        </p:spPr>
      </p:pic>
      <p:sp>
        <p:nvSpPr>
          <p:cNvPr id="4" name="Marcador de texto vertical 3">
            <a:extLst>
              <a:ext uri="{FF2B5EF4-FFF2-40B4-BE49-F238E27FC236}">
                <a16:creationId xmlns:a16="http://schemas.microsoft.com/office/drawing/2014/main" id="{9337F78F-15FD-334D-FF83-1BBCA0CEFE48}"/>
              </a:ext>
            </a:extLst>
          </p:cNvPr>
          <p:cNvSpPr>
            <a:spLocks noGrp="1"/>
          </p:cNvSpPr>
          <p:nvPr>
            <p:ph type="body" orient="vert" sz="quarter" idx="17"/>
          </p:nvPr>
        </p:nvSpPr>
        <p:spPr/>
        <p:txBody>
          <a:bodyPr/>
          <a:lstStyle/>
          <a:p>
            <a:r>
              <a:rPr lang="es-ES" sz="1200" dirty="0"/>
              <a:t>Actualizar características del estudiante</a:t>
            </a:r>
            <a:endParaRPr lang="es-419" dirty="0"/>
          </a:p>
        </p:txBody>
      </p:sp>
      <p:sp>
        <p:nvSpPr>
          <p:cNvPr id="13" name="Title 12"/>
          <p:cNvSpPr>
            <a:spLocks noGrp="1"/>
          </p:cNvSpPr>
          <p:nvPr>
            <p:ph type="title"/>
          </p:nvPr>
        </p:nvSpPr>
        <p:spPr>
          <a:xfrm>
            <a:off x="1104900" y="495300"/>
            <a:ext cx="10477497" cy="898555"/>
          </a:xfrm>
        </p:spPr>
        <p:txBody>
          <a:bodyPr/>
          <a:lstStyle/>
          <a:p>
            <a:r>
              <a:rPr lang="es-ES_tradnl" b="0" dirty="0">
                <a:solidFill>
                  <a:schemeClr val="bg2">
                    <a:lumMod val="25000"/>
                  </a:schemeClr>
                </a:solidFill>
              </a:rPr>
              <a:t>Configuraciones: </a:t>
            </a:r>
            <a:r>
              <a:rPr lang="es-ES_tradnl" dirty="0">
                <a:solidFill>
                  <a:schemeClr val="bg2">
                    <a:lumMod val="25000"/>
                  </a:schemeClr>
                </a:solidFill>
              </a:rPr>
              <a:t>Cohorte</a:t>
            </a:r>
            <a:endParaRPr lang="es-ES_tradnl" dirty="0"/>
          </a:p>
        </p:txBody>
      </p:sp>
      <p:sp>
        <p:nvSpPr>
          <p:cNvPr id="6" name="Rectángulo redondeado 5">
            <a:extLst>
              <a:ext uri="{FF2B5EF4-FFF2-40B4-BE49-F238E27FC236}">
                <a16:creationId xmlns:a16="http://schemas.microsoft.com/office/drawing/2014/main" id="{11B11194-78E2-BE34-0262-1E63503086D5}"/>
              </a:ext>
            </a:extLst>
          </p:cNvPr>
          <p:cNvSpPr/>
          <p:nvPr/>
        </p:nvSpPr>
        <p:spPr>
          <a:xfrm>
            <a:off x="3299482" y="4227821"/>
            <a:ext cx="6123473" cy="1679212"/>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_tradnl" sz="1200" dirty="0">
                <a:solidFill>
                  <a:schemeClr val="bg1"/>
                </a:solidFill>
                <a:cs typeface="Arial"/>
              </a:rPr>
              <a:t>En STVCHRT se irán creando los códigos de cohorte, cada periodo deberán ser creados.</a:t>
            </a:r>
          </a:p>
          <a:p>
            <a:pPr algn="ctr" defTabSz="457200"/>
            <a:endParaRPr lang="es-ES_tradnl" sz="1200" dirty="0">
              <a:solidFill>
                <a:schemeClr val="bg1"/>
              </a:solidFill>
              <a:cs typeface="Arial"/>
            </a:endParaRPr>
          </a:p>
          <a:p>
            <a:pPr marL="228600" indent="-228600" defTabSz="457200">
              <a:buAutoNum type="arabicPeriod"/>
            </a:pPr>
            <a:r>
              <a:rPr lang="es-ES" sz="1200" dirty="0">
                <a:solidFill>
                  <a:schemeClr val="bg1"/>
                </a:solidFill>
                <a:cs typeface="Arial"/>
              </a:rPr>
              <a:t>Presione la opción Insertar</a:t>
            </a:r>
            <a:endParaRPr lang="en-US" sz="1200" dirty="0">
              <a:solidFill>
                <a:schemeClr val="bg1"/>
              </a:solidFill>
              <a:cs typeface="Arial"/>
            </a:endParaRPr>
          </a:p>
          <a:p>
            <a:pPr marL="228600" indent="-228600" defTabSz="457200">
              <a:buAutoNum type="arabicPeriod"/>
            </a:pPr>
            <a:r>
              <a:rPr lang="es-ES" sz="1200" dirty="0">
                <a:solidFill>
                  <a:schemeClr val="bg1"/>
                </a:solidFill>
                <a:cs typeface="Arial"/>
              </a:rPr>
              <a:t>Ingrese el código de la Cohorte</a:t>
            </a:r>
            <a:endParaRPr lang="en-US" sz="1200" dirty="0">
              <a:solidFill>
                <a:schemeClr val="bg1"/>
              </a:solidFill>
              <a:cs typeface="Arial"/>
            </a:endParaRPr>
          </a:p>
          <a:p>
            <a:pPr marL="228600" indent="-228600" defTabSz="457200">
              <a:buAutoNum type="arabicPeriod"/>
            </a:pPr>
            <a:r>
              <a:rPr lang="es-ES" sz="1200" dirty="0">
                <a:solidFill>
                  <a:schemeClr val="bg1"/>
                </a:solidFill>
                <a:cs typeface="Arial"/>
              </a:rPr>
              <a:t>Ingrese la Cohorte</a:t>
            </a:r>
            <a:endParaRPr lang="en-US" sz="1200" dirty="0">
              <a:solidFill>
                <a:schemeClr val="bg1"/>
              </a:solidFill>
              <a:cs typeface="Arial"/>
            </a:endParaRPr>
          </a:p>
          <a:p>
            <a:pPr marL="228600" indent="-228600" defTabSz="457200">
              <a:buAutoNum type="arabicPeriod"/>
            </a:pPr>
            <a:r>
              <a:rPr lang="es-ES" sz="1200" dirty="0">
                <a:solidFill>
                  <a:schemeClr val="bg1"/>
                </a:solidFill>
                <a:cs typeface="Arial"/>
              </a:rPr>
              <a:t>Guarde la información</a:t>
            </a:r>
            <a:endParaRPr lang="es-ES_tradnl" dirty="0"/>
          </a:p>
        </p:txBody>
      </p:sp>
    </p:spTree>
    <p:extLst>
      <p:ext uri="{BB962C8B-B14F-4D97-AF65-F5344CB8AC3E}">
        <p14:creationId xmlns:p14="http://schemas.microsoft.com/office/powerpoint/2010/main" val="807484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9337F78F-15FD-334D-FF83-1BBCA0CEFE48}"/>
              </a:ext>
            </a:extLst>
          </p:cNvPr>
          <p:cNvSpPr>
            <a:spLocks noGrp="1"/>
          </p:cNvSpPr>
          <p:nvPr>
            <p:ph type="body" orient="vert" sz="quarter" idx="17"/>
          </p:nvPr>
        </p:nvSpPr>
        <p:spPr/>
        <p:txBody>
          <a:bodyPr/>
          <a:lstStyle/>
          <a:p>
            <a:r>
              <a:rPr lang="es-ES" sz="1200" dirty="0"/>
              <a:t>Actualizar características del estudiante</a:t>
            </a:r>
            <a:endParaRPr lang="es-419" dirty="0"/>
          </a:p>
        </p:txBody>
      </p:sp>
      <p:sp>
        <p:nvSpPr>
          <p:cNvPr id="13" name="Title 12"/>
          <p:cNvSpPr>
            <a:spLocks noGrp="1"/>
          </p:cNvSpPr>
          <p:nvPr>
            <p:ph type="title"/>
          </p:nvPr>
        </p:nvSpPr>
        <p:spPr>
          <a:xfrm>
            <a:off x="1104900" y="495300"/>
            <a:ext cx="10477497" cy="898555"/>
          </a:xfrm>
        </p:spPr>
        <p:txBody>
          <a:bodyPr/>
          <a:lstStyle/>
          <a:p>
            <a:r>
              <a:rPr lang="es-ES_tradnl" b="0" dirty="0">
                <a:solidFill>
                  <a:schemeClr val="bg2">
                    <a:lumMod val="25000"/>
                  </a:schemeClr>
                </a:solidFill>
              </a:rPr>
              <a:t>Configuraciones: </a:t>
            </a:r>
            <a:r>
              <a:rPr lang="es-ES_tradnl" dirty="0">
                <a:solidFill>
                  <a:schemeClr val="bg2">
                    <a:lumMod val="25000"/>
                  </a:schemeClr>
                </a:solidFill>
              </a:rPr>
              <a:t>Razón de inactivación de cohorte</a:t>
            </a:r>
            <a:endParaRPr lang="es-ES_tradnl" dirty="0"/>
          </a:p>
        </p:txBody>
      </p:sp>
      <p:sp>
        <p:nvSpPr>
          <p:cNvPr id="6" name="Rectángulo redondeado 5">
            <a:extLst>
              <a:ext uri="{FF2B5EF4-FFF2-40B4-BE49-F238E27FC236}">
                <a16:creationId xmlns:a16="http://schemas.microsoft.com/office/drawing/2014/main" id="{11B11194-78E2-BE34-0262-1E63503086D5}"/>
              </a:ext>
            </a:extLst>
          </p:cNvPr>
          <p:cNvSpPr/>
          <p:nvPr/>
        </p:nvSpPr>
        <p:spPr>
          <a:xfrm>
            <a:off x="3009433" y="4233672"/>
            <a:ext cx="5546299" cy="566928"/>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_tradnl" sz="1200" dirty="0">
                <a:solidFill>
                  <a:schemeClr val="bg1"/>
                </a:solidFill>
                <a:cs typeface="Arial"/>
              </a:rPr>
              <a:t>En STVCREA se crean los códigos de razón de inactivación de cohorte</a:t>
            </a:r>
          </a:p>
        </p:txBody>
      </p:sp>
      <p:sp>
        <p:nvSpPr>
          <p:cNvPr id="12" name="Flecha: hacia la izquierda 11">
            <a:extLst>
              <a:ext uri="{FF2B5EF4-FFF2-40B4-BE49-F238E27FC236}">
                <a16:creationId xmlns:a16="http://schemas.microsoft.com/office/drawing/2014/main" id="{C7C45E9A-93D5-89D1-8B15-0AA496D16ABB}"/>
              </a:ext>
            </a:extLst>
          </p:cNvPr>
          <p:cNvSpPr/>
          <p:nvPr/>
        </p:nvSpPr>
        <p:spPr>
          <a:xfrm rot="10800000">
            <a:off x="9739464" y="149902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14AB87C1-54AD-0420-FDD3-A02870E82BB4}"/>
              </a:ext>
            </a:extLst>
          </p:cNvPr>
          <p:cNvPicPr>
            <a:picLocks noChangeAspect="1"/>
          </p:cNvPicPr>
          <p:nvPr/>
        </p:nvPicPr>
        <p:blipFill>
          <a:blip r:embed="rId2"/>
          <a:stretch>
            <a:fillRect/>
          </a:stretch>
        </p:blipFill>
        <p:spPr>
          <a:xfrm>
            <a:off x="755905" y="1521889"/>
            <a:ext cx="10680189" cy="1876853"/>
          </a:xfrm>
          <a:prstGeom prst="rect">
            <a:avLst/>
          </a:prstGeom>
        </p:spPr>
      </p:pic>
    </p:spTree>
    <p:extLst>
      <p:ext uri="{BB962C8B-B14F-4D97-AF65-F5344CB8AC3E}">
        <p14:creationId xmlns:p14="http://schemas.microsoft.com/office/powerpoint/2010/main" val="3565593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313D474-EF59-2D48-B7C0-03A42597CAB9}"/>
              </a:ext>
            </a:extLst>
          </p:cNvPr>
          <p:cNvSpPr txBox="1">
            <a:spLocks/>
          </p:cNvSpPr>
          <p:nvPr/>
        </p:nvSpPr>
        <p:spPr>
          <a:xfrm>
            <a:off x="475488" y="3026292"/>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
        <p:nvSpPr>
          <p:cNvPr id="2" name="Marcador de texto vertical 1">
            <a:extLst>
              <a:ext uri="{FF2B5EF4-FFF2-40B4-BE49-F238E27FC236}">
                <a16:creationId xmlns:a16="http://schemas.microsoft.com/office/drawing/2014/main" id="{DE641D37-60AA-2270-411B-38BD65317D98}"/>
              </a:ext>
            </a:extLst>
          </p:cNvPr>
          <p:cNvSpPr>
            <a:spLocks noGrp="1"/>
          </p:cNvSpPr>
          <p:nvPr>
            <p:ph type="body" orient="vert" sz="quarter" idx="10"/>
          </p:nvPr>
        </p:nvSpPr>
        <p:spPr/>
        <p:txBody>
          <a:bodyPr/>
          <a:lstStyle/>
          <a:p>
            <a:r>
              <a:rPr lang="es-ES" sz="1200" dirty="0"/>
              <a:t>Actualizar características del estudiante</a:t>
            </a:r>
            <a:endParaRPr lang="es-419" dirty="0"/>
          </a:p>
        </p:txBody>
      </p:sp>
      <p:sp>
        <p:nvSpPr>
          <p:cNvPr id="7" name="Title 4">
            <a:extLst>
              <a:ext uri="{FF2B5EF4-FFF2-40B4-BE49-F238E27FC236}">
                <a16:creationId xmlns:a16="http://schemas.microsoft.com/office/drawing/2014/main" id="{4A62112F-A3AA-3C4D-A267-97DF7410D190}"/>
              </a:ext>
            </a:extLst>
          </p:cNvPr>
          <p:cNvSpPr>
            <a:spLocks noGrp="1"/>
          </p:cNvSpPr>
          <p:nvPr>
            <p:ph type="title"/>
          </p:nvPr>
        </p:nvSpPr>
        <p:spPr/>
        <p:txBody>
          <a:bodyPr/>
          <a:lstStyle/>
          <a:p>
            <a:r>
              <a:rPr lang="es-ES" dirty="0"/>
              <a:t>Atributo del estudiante</a:t>
            </a:r>
            <a:endParaRPr lang="es-ES_tradnl" dirty="0"/>
          </a:p>
        </p:txBody>
      </p:sp>
      <p:sp>
        <p:nvSpPr>
          <p:cNvPr id="3" name="Marcador de texto 2">
            <a:extLst>
              <a:ext uri="{FF2B5EF4-FFF2-40B4-BE49-F238E27FC236}">
                <a16:creationId xmlns:a16="http://schemas.microsoft.com/office/drawing/2014/main" id="{7CC0336C-9A1E-B2B0-F239-D8AC3032694A}"/>
              </a:ext>
            </a:extLst>
          </p:cNvPr>
          <p:cNvSpPr>
            <a:spLocks noGrp="1"/>
          </p:cNvSpPr>
          <p:nvPr>
            <p:ph type="body" sz="quarter" idx="18"/>
          </p:nvPr>
        </p:nvSpPr>
        <p:spPr/>
        <p:txBody>
          <a:bodyPr/>
          <a:lstStyle/>
          <a:p>
            <a:endParaRPr lang="es-419" dirty="0"/>
          </a:p>
        </p:txBody>
      </p:sp>
      <p:sp>
        <p:nvSpPr>
          <p:cNvPr id="4" name="Subtitle 5">
            <a:extLst>
              <a:ext uri="{FF2B5EF4-FFF2-40B4-BE49-F238E27FC236}">
                <a16:creationId xmlns:a16="http://schemas.microsoft.com/office/drawing/2014/main" id="{9D39FAED-EEFF-4563-B0AE-EAF949D8E6BC}"/>
              </a:ext>
            </a:extLst>
          </p:cNvPr>
          <p:cNvSpPr txBox="1">
            <a:spLocks/>
          </p:cNvSpPr>
          <p:nvPr/>
        </p:nvSpPr>
        <p:spPr>
          <a:xfrm>
            <a:off x="472848" y="3756901"/>
            <a:ext cx="7108205" cy="2462723"/>
          </a:xfrm>
          <a:prstGeom prst="rect">
            <a:avLst/>
          </a:prstGeom>
        </p:spPr>
        <p:txBody>
          <a:bodyPr/>
          <a:lstStyle>
            <a:lvl1pPr marL="0" indent="0" algn="l" defTabSz="457200" rtl="0" eaLnBrk="1" latinLnBrk="0" hangingPunct="1">
              <a:spcBef>
                <a:spcPts val="900"/>
              </a:spcBef>
              <a:buFontTx/>
              <a:buNone/>
              <a:defRPr lang="en-US" sz="1600" b="1" kern="1200" dirty="0" smtClean="0">
                <a:solidFill>
                  <a:srgbClr val="45A1AA"/>
                </a:solidFill>
                <a:latin typeface="Arial"/>
                <a:ea typeface="+mn-ea"/>
                <a:cs typeface="Arial"/>
              </a:defRPr>
            </a:lvl1pPr>
            <a:lvl2pPr marL="285750" indent="-285750" algn="l" defTabSz="457200" rtl="0" eaLnBrk="1" latinLnBrk="0" hangingPunct="1">
              <a:spcBef>
                <a:spcPts val="900"/>
              </a:spcBef>
              <a:buFont typeface="Arial" panose="020B0604020202020204" pitchFamily="34" charset="0"/>
              <a:buChar char="•"/>
              <a:defRPr lang="en-US" sz="1600" b="0" kern="1200" dirty="0" smtClean="0">
                <a:solidFill>
                  <a:schemeClr val="tx1"/>
                </a:solidFill>
                <a:latin typeface="Arial"/>
                <a:ea typeface="+mn-ea"/>
                <a:cs typeface="Arial"/>
              </a:defRPr>
            </a:lvl2pPr>
            <a:lvl3pPr marL="512763" indent="-285750" algn="l" defTabSz="457200" rtl="0" eaLnBrk="1" latinLnBrk="0" hangingPunct="1">
              <a:spcBef>
                <a:spcPts val="900"/>
              </a:spcBef>
              <a:buFont typeface="Arial"/>
              <a:buChar char="•"/>
              <a:defRPr lang="en-US" sz="1400" kern="1200" dirty="0" smtClean="0">
                <a:solidFill>
                  <a:srgbClr val="414042"/>
                </a:solidFill>
                <a:latin typeface="Arial"/>
                <a:ea typeface="+mn-ea"/>
                <a:cs typeface="Arial"/>
              </a:defRPr>
            </a:lvl3pPr>
            <a:lvl4pPr marL="855663" indent="-855663" algn="l" defTabSz="457200" rtl="0" eaLnBrk="1" latinLnBrk="0" hangingPunct="1">
              <a:spcBef>
                <a:spcPts val="900"/>
              </a:spcBef>
              <a:buFont typeface="Arial" panose="020B0604020202020204" pitchFamily="34" charset="0"/>
              <a:buChar char="•"/>
              <a:defRPr lang="en-US" sz="1200" kern="1200" dirty="0" smtClean="0">
                <a:solidFill>
                  <a:srgbClr val="414042"/>
                </a:solidFill>
                <a:latin typeface="Arial"/>
                <a:ea typeface="+mn-ea"/>
                <a:cs typeface="Arial"/>
              </a:defRPr>
            </a:lvl4pPr>
            <a:lvl5pPr marL="1201738" indent="-339725" algn="l" defTabSz="457200" rtl="0" eaLnBrk="1" latinLnBrk="0" hangingPunct="1">
              <a:spcBef>
                <a:spcPts val="900"/>
              </a:spcBef>
              <a:buFont typeface="Arial" panose="020B0604020202020204" pitchFamily="34" charset="0"/>
              <a:buChar char="•"/>
              <a:defRPr lang="en-US" sz="1200" kern="1200" dirty="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b="0" dirty="0">
              <a:solidFill>
                <a:srgbClr val="FBFCFA"/>
              </a:solidFill>
            </a:endParaRPr>
          </a:p>
        </p:txBody>
      </p:sp>
    </p:spTree>
    <p:extLst>
      <p:ext uri="{BB962C8B-B14F-4D97-AF65-F5344CB8AC3E}">
        <p14:creationId xmlns:p14="http://schemas.microsoft.com/office/powerpoint/2010/main" val="3365719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0F3398F-59B7-C45F-04AE-F4B513503D66}"/>
              </a:ext>
            </a:extLst>
          </p:cNvPr>
          <p:cNvPicPr>
            <a:picLocks noChangeAspect="1"/>
          </p:cNvPicPr>
          <p:nvPr/>
        </p:nvPicPr>
        <p:blipFill>
          <a:blip r:embed="rId3"/>
          <a:stretch>
            <a:fillRect/>
          </a:stretch>
        </p:blipFill>
        <p:spPr>
          <a:xfrm>
            <a:off x="743359" y="685800"/>
            <a:ext cx="10668149" cy="5058030"/>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1085445" y="307413"/>
            <a:ext cx="10477497" cy="898555"/>
          </a:xfrm>
        </p:spPr>
        <p:txBody>
          <a:bodyPr/>
          <a:lstStyle/>
          <a:p>
            <a:r>
              <a:rPr lang="es-ES_tradnl" dirty="0"/>
              <a:t>Asignar atributo, por primera vez</a:t>
            </a:r>
            <a:endParaRPr lang="es-ES_tradnl" b="1" dirty="0"/>
          </a:p>
        </p:txBody>
      </p:sp>
      <p:sp>
        <p:nvSpPr>
          <p:cNvPr id="15" name="CuadroTexto 14">
            <a:extLst>
              <a:ext uri="{FF2B5EF4-FFF2-40B4-BE49-F238E27FC236}">
                <a16:creationId xmlns:a16="http://schemas.microsoft.com/office/drawing/2014/main" id="{AE59993E-A4F7-D3CC-F430-E020B382AA47}"/>
              </a:ext>
            </a:extLst>
          </p:cNvPr>
          <p:cNvSpPr txBox="1"/>
          <p:nvPr/>
        </p:nvSpPr>
        <p:spPr>
          <a:xfrm>
            <a:off x="1093326" y="1205968"/>
            <a:ext cx="301753" cy="191806"/>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12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sz="800" dirty="0"/>
              <a:t>1</a:t>
            </a:r>
            <a:endParaRPr lang="en-US" sz="800" dirty="0"/>
          </a:p>
        </p:txBody>
      </p:sp>
      <p:sp>
        <p:nvSpPr>
          <p:cNvPr id="17" name="CuadroTexto 16">
            <a:extLst>
              <a:ext uri="{FF2B5EF4-FFF2-40B4-BE49-F238E27FC236}">
                <a16:creationId xmlns:a16="http://schemas.microsoft.com/office/drawing/2014/main" id="{4D19E2DB-6C62-C361-0CA7-B6062CDA5B74}"/>
              </a:ext>
            </a:extLst>
          </p:cNvPr>
          <p:cNvSpPr txBox="1"/>
          <p:nvPr/>
        </p:nvSpPr>
        <p:spPr>
          <a:xfrm>
            <a:off x="10433347" y="1205968"/>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3</a:t>
            </a:r>
            <a:endParaRPr lang="en-US" dirty="0"/>
          </a:p>
        </p:txBody>
      </p:sp>
      <p:sp>
        <p:nvSpPr>
          <p:cNvPr id="18" name="CuadroTexto 17">
            <a:extLst>
              <a:ext uri="{FF2B5EF4-FFF2-40B4-BE49-F238E27FC236}">
                <a16:creationId xmlns:a16="http://schemas.microsoft.com/office/drawing/2014/main" id="{A9C944B3-5480-B44C-29DB-53C84F0BB36D}"/>
              </a:ext>
            </a:extLst>
          </p:cNvPr>
          <p:cNvSpPr txBox="1"/>
          <p:nvPr/>
        </p:nvSpPr>
        <p:spPr>
          <a:xfrm>
            <a:off x="5777836" y="1205968"/>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2</a:t>
            </a:r>
            <a:endParaRPr lang="en-US" dirty="0"/>
          </a:p>
        </p:txBody>
      </p:sp>
      <p:sp>
        <p:nvSpPr>
          <p:cNvPr id="21" name="Rectángulo: esquinas redondeadas 20">
            <a:extLst>
              <a:ext uri="{FF2B5EF4-FFF2-40B4-BE49-F238E27FC236}">
                <a16:creationId xmlns:a16="http://schemas.microsoft.com/office/drawing/2014/main" id="{8BE08A21-5773-2828-8D46-CC620AFD5A7F}"/>
              </a:ext>
            </a:extLst>
          </p:cNvPr>
          <p:cNvSpPr/>
          <p:nvPr/>
        </p:nvSpPr>
        <p:spPr>
          <a:xfrm>
            <a:off x="971143" y="5100463"/>
            <a:ext cx="10477498" cy="8541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419" sz="1100" dirty="0"/>
              <a:t>En </a:t>
            </a:r>
            <a:r>
              <a:rPr lang="es-419" sz="1100" b="1" dirty="0"/>
              <a:t>SGASADD</a:t>
            </a:r>
            <a:r>
              <a:rPr lang="es-419" sz="1100" dirty="0"/>
              <a:t>, ingrese el </a:t>
            </a:r>
            <a:r>
              <a:rPr lang="es-419" sz="1100" b="1" dirty="0"/>
              <a:t>ID</a:t>
            </a:r>
            <a:r>
              <a:rPr lang="es-419" sz="1100" dirty="0"/>
              <a:t>: código identificador del alumno del alumno al que desea asignar el atributo.</a:t>
            </a:r>
          </a:p>
          <a:p>
            <a:pPr marL="342900" indent="-342900" algn="just">
              <a:buFont typeface="+mj-lt"/>
              <a:buAutoNum type="arabicPeriod"/>
            </a:pPr>
            <a:r>
              <a:rPr lang="es-419" sz="1100" b="1" dirty="0"/>
              <a:t>Periodo</a:t>
            </a:r>
            <a:r>
              <a:rPr lang="es-419" sz="1100" dirty="0"/>
              <a:t> en el cual se desea hacer la asignación. </a:t>
            </a:r>
          </a:p>
          <a:p>
            <a:pPr marL="342900" indent="-342900" algn="just">
              <a:buFont typeface="+mj-lt"/>
              <a:buAutoNum type="arabicPeriod"/>
            </a:pPr>
            <a:r>
              <a:rPr lang="es-CL" sz="1100" dirty="0"/>
              <a:t>Hacer clic en el botón </a:t>
            </a:r>
            <a:r>
              <a:rPr lang="es-CL" sz="1100" b="1" dirty="0"/>
              <a:t>Ir</a:t>
            </a:r>
            <a:r>
              <a:rPr lang="es-CL" sz="1100" dirty="0"/>
              <a:t>.</a:t>
            </a:r>
          </a:p>
        </p:txBody>
      </p:sp>
    </p:spTree>
    <p:extLst>
      <p:ext uri="{BB962C8B-B14F-4D97-AF65-F5344CB8AC3E}">
        <p14:creationId xmlns:p14="http://schemas.microsoft.com/office/powerpoint/2010/main" val="2740856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C482AB61-3AB0-DE91-2968-B64D70BEB69A}"/>
              </a:ext>
            </a:extLst>
          </p:cNvPr>
          <p:cNvPicPr>
            <a:picLocks noChangeAspect="1"/>
          </p:cNvPicPr>
          <p:nvPr/>
        </p:nvPicPr>
        <p:blipFill>
          <a:blip r:embed="rId3"/>
          <a:stretch>
            <a:fillRect/>
          </a:stretch>
        </p:blipFill>
        <p:spPr>
          <a:xfrm>
            <a:off x="971143" y="1408958"/>
            <a:ext cx="10301775" cy="4854550"/>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1085445" y="307413"/>
            <a:ext cx="10477497" cy="898555"/>
          </a:xfrm>
        </p:spPr>
        <p:txBody>
          <a:bodyPr/>
          <a:lstStyle/>
          <a:p>
            <a:r>
              <a:rPr lang="es-ES_tradnl" dirty="0"/>
              <a:t>Asignar atributo, por primera vez</a:t>
            </a:r>
            <a:endParaRPr lang="es-ES_tradnl" b="1" dirty="0"/>
          </a:p>
        </p:txBody>
      </p:sp>
      <p:sp>
        <p:nvSpPr>
          <p:cNvPr id="17" name="CuadroTexto 16">
            <a:extLst>
              <a:ext uri="{FF2B5EF4-FFF2-40B4-BE49-F238E27FC236}">
                <a16:creationId xmlns:a16="http://schemas.microsoft.com/office/drawing/2014/main" id="{4D19E2DB-6C62-C361-0CA7-B6062CDA5B74}"/>
              </a:ext>
            </a:extLst>
          </p:cNvPr>
          <p:cNvSpPr txBox="1"/>
          <p:nvPr/>
        </p:nvSpPr>
        <p:spPr>
          <a:xfrm>
            <a:off x="575145" y="5956755"/>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dirty="0"/>
              <a:t>4</a:t>
            </a:r>
            <a:endParaRPr lang="en-US" dirty="0"/>
          </a:p>
        </p:txBody>
      </p:sp>
      <p:sp>
        <p:nvSpPr>
          <p:cNvPr id="21" name="Rectángulo: esquinas redondeadas 20">
            <a:extLst>
              <a:ext uri="{FF2B5EF4-FFF2-40B4-BE49-F238E27FC236}">
                <a16:creationId xmlns:a16="http://schemas.microsoft.com/office/drawing/2014/main" id="{8BE08A21-5773-2828-8D46-CC620AFD5A7F}"/>
              </a:ext>
            </a:extLst>
          </p:cNvPr>
          <p:cNvSpPr/>
          <p:nvPr/>
        </p:nvSpPr>
        <p:spPr>
          <a:xfrm>
            <a:off x="971143" y="5100463"/>
            <a:ext cx="10477498" cy="51792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4"/>
            </a:pPr>
            <a:r>
              <a:rPr lang="es-419" sz="1100" dirty="0"/>
              <a:t>Presione el botón para pasar al siguiente bloque.</a:t>
            </a:r>
          </a:p>
        </p:txBody>
      </p:sp>
      <p:sp>
        <p:nvSpPr>
          <p:cNvPr id="5" name="Rectángulo 4">
            <a:extLst>
              <a:ext uri="{FF2B5EF4-FFF2-40B4-BE49-F238E27FC236}">
                <a16:creationId xmlns:a16="http://schemas.microsoft.com/office/drawing/2014/main" id="{690B0E1D-41B1-79B4-2777-CCB1F3B41FF3}"/>
              </a:ext>
            </a:extLst>
          </p:cNvPr>
          <p:cNvSpPr/>
          <p:nvPr/>
        </p:nvSpPr>
        <p:spPr>
          <a:xfrm>
            <a:off x="1190624" y="5954577"/>
            <a:ext cx="363051" cy="30893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891774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E6A2A5F-FE2A-5A4F-8625-95C8542DABC8}"/>
              </a:ext>
            </a:extLst>
          </p:cNvPr>
          <p:cNvPicPr>
            <a:picLocks noChangeAspect="1"/>
          </p:cNvPicPr>
          <p:nvPr/>
        </p:nvPicPr>
        <p:blipFill>
          <a:blip r:embed="rId3"/>
          <a:stretch>
            <a:fillRect/>
          </a:stretch>
        </p:blipFill>
        <p:spPr>
          <a:xfrm>
            <a:off x="807443" y="1205968"/>
            <a:ext cx="10804897" cy="5100903"/>
          </a:xfrm>
          <a:prstGeom prst="rect">
            <a:avLst/>
          </a:prstGeom>
          <a:ln/>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1085445" y="307413"/>
            <a:ext cx="10477497" cy="898555"/>
          </a:xfrm>
        </p:spPr>
        <p:txBody>
          <a:bodyPr/>
          <a:lstStyle/>
          <a:p>
            <a:r>
              <a:rPr lang="es-ES_tradnl" dirty="0"/>
              <a:t>Asignar atributo, por primera vez</a:t>
            </a:r>
            <a:endParaRPr lang="es-ES_tradnl" b="1" dirty="0"/>
          </a:p>
        </p:txBody>
      </p:sp>
      <p:sp>
        <p:nvSpPr>
          <p:cNvPr id="17" name="CuadroTexto 16">
            <a:extLst>
              <a:ext uri="{FF2B5EF4-FFF2-40B4-BE49-F238E27FC236}">
                <a16:creationId xmlns:a16="http://schemas.microsoft.com/office/drawing/2014/main" id="{4D19E2DB-6C62-C361-0CA7-B6062CDA5B74}"/>
              </a:ext>
            </a:extLst>
          </p:cNvPr>
          <p:cNvSpPr txBox="1"/>
          <p:nvPr/>
        </p:nvSpPr>
        <p:spPr>
          <a:xfrm>
            <a:off x="2237377" y="3126615"/>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5</a:t>
            </a:r>
            <a:endParaRPr lang="en-US" dirty="0"/>
          </a:p>
        </p:txBody>
      </p:sp>
      <p:sp>
        <p:nvSpPr>
          <p:cNvPr id="21" name="Rectángulo: esquinas redondeadas 20">
            <a:extLst>
              <a:ext uri="{FF2B5EF4-FFF2-40B4-BE49-F238E27FC236}">
                <a16:creationId xmlns:a16="http://schemas.microsoft.com/office/drawing/2014/main" id="{8BE08A21-5773-2828-8D46-CC620AFD5A7F}"/>
              </a:ext>
            </a:extLst>
          </p:cNvPr>
          <p:cNvSpPr/>
          <p:nvPr/>
        </p:nvSpPr>
        <p:spPr>
          <a:xfrm>
            <a:off x="971143" y="5100463"/>
            <a:ext cx="10477498" cy="8541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5"/>
            </a:pPr>
            <a:r>
              <a:rPr lang="es-419" sz="1100" dirty="0"/>
              <a:t>Seleccione o digite el </a:t>
            </a:r>
            <a:r>
              <a:rPr lang="es-419" sz="1100" b="1" dirty="0"/>
              <a:t>código del atributo </a:t>
            </a:r>
            <a:r>
              <a:rPr lang="es-419" sz="1100" dirty="0"/>
              <a:t>que asignará al estudiante.</a:t>
            </a:r>
          </a:p>
          <a:p>
            <a:pPr marL="342900" indent="-342900" algn="just">
              <a:buFont typeface="+mj-lt"/>
              <a:buAutoNum type="arabicPeriod" startAt="5"/>
            </a:pPr>
            <a:r>
              <a:rPr lang="es-419" sz="1100" dirty="0"/>
              <a:t>Seleccionar el </a:t>
            </a:r>
            <a:r>
              <a:rPr lang="es-419" sz="1100" b="1" dirty="0"/>
              <a:t>Plan de estudios </a:t>
            </a:r>
            <a:r>
              <a:rPr lang="es-419" sz="1100" dirty="0"/>
              <a:t>para el que aplica el atributo, si aplica. Este campo no es obligatorio, pero si un atributo no es asociado al plan de estudios, significa que caracteriza al estudiante para todos los programas de la institución.</a:t>
            </a:r>
          </a:p>
          <a:p>
            <a:pPr marL="342900" indent="-342900" algn="just">
              <a:buFont typeface="+mj-lt"/>
              <a:buAutoNum type="arabicPeriod" startAt="5"/>
            </a:pPr>
            <a:r>
              <a:rPr lang="es-419" sz="1100" b="1" dirty="0"/>
              <a:t>Guarde</a:t>
            </a:r>
            <a:r>
              <a:rPr lang="es-419" sz="1100" dirty="0"/>
              <a:t> la información</a:t>
            </a:r>
          </a:p>
        </p:txBody>
      </p:sp>
      <p:sp>
        <p:nvSpPr>
          <p:cNvPr id="12" name="CuadroTexto 11">
            <a:extLst>
              <a:ext uri="{FF2B5EF4-FFF2-40B4-BE49-F238E27FC236}">
                <a16:creationId xmlns:a16="http://schemas.microsoft.com/office/drawing/2014/main" id="{2B9F3C6B-E82C-A5BE-30F7-FD84020DE801}"/>
              </a:ext>
            </a:extLst>
          </p:cNvPr>
          <p:cNvSpPr txBox="1"/>
          <p:nvPr/>
        </p:nvSpPr>
        <p:spPr>
          <a:xfrm>
            <a:off x="8204922" y="3126615"/>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6</a:t>
            </a:r>
          </a:p>
        </p:txBody>
      </p:sp>
      <p:sp>
        <p:nvSpPr>
          <p:cNvPr id="15" name="CuadroTexto 14">
            <a:extLst>
              <a:ext uri="{FF2B5EF4-FFF2-40B4-BE49-F238E27FC236}">
                <a16:creationId xmlns:a16="http://schemas.microsoft.com/office/drawing/2014/main" id="{4031EEAD-B990-4B19-B486-7C74AC0E3F0C}"/>
              </a:ext>
            </a:extLst>
          </p:cNvPr>
          <p:cNvSpPr txBox="1"/>
          <p:nvPr/>
        </p:nvSpPr>
        <p:spPr>
          <a:xfrm>
            <a:off x="10729047" y="6023002"/>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7</a:t>
            </a:r>
          </a:p>
        </p:txBody>
      </p:sp>
    </p:spTree>
    <p:extLst>
      <p:ext uri="{BB962C8B-B14F-4D97-AF65-F5344CB8AC3E}">
        <p14:creationId xmlns:p14="http://schemas.microsoft.com/office/powerpoint/2010/main" val="1136932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A23DDF9-94FF-8466-8B74-6C4054D636C3}"/>
              </a:ext>
            </a:extLst>
          </p:cNvPr>
          <p:cNvPicPr>
            <a:picLocks noChangeAspect="1"/>
          </p:cNvPicPr>
          <p:nvPr/>
        </p:nvPicPr>
        <p:blipFill>
          <a:blip r:embed="rId3"/>
          <a:stretch>
            <a:fillRect/>
          </a:stretch>
        </p:blipFill>
        <p:spPr>
          <a:xfrm>
            <a:off x="743359" y="1123122"/>
            <a:ext cx="10948214" cy="5202829"/>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1085445" y="307413"/>
            <a:ext cx="10477497" cy="898555"/>
          </a:xfrm>
        </p:spPr>
        <p:txBody>
          <a:bodyPr/>
          <a:lstStyle/>
          <a:p>
            <a:r>
              <a:rPr lang="es-ES_tradnl" dirty="0"/>
              <a:t>Asignar atributo, por primera vez</a:t>
            </a:r>
            <a:endParaRPr lang="es-ES_tradnl" b="1" dirty="0"/>
          </a:p>
        </p:txBody>
      </p:sp>
      <p:sp>
        <p:nvSpPr>
          <p:cNvPr id="17" name="CuadroTexto 16">
            <a:extLst>
              <a:ext uri="{FF2B5EF4-FFF2-40B4-BE49-F238E27FC236}">
                <a16:creationId xmlns:a16="http://schemas.microsoft.com/office/drawing/2014/main" id="{4D19E2DB-6C62-C361-0CA7-B6062CDA5B74}"/>
              </a:ext>
            </a:extLst>
          </p:cNvPr>
          <p:cNvSpPr txBox="1"/>
          <p:nvPr/>
        </p:nvSpPr>
        <p:spPr>
          <a:xfrm>
            <a:off x="5615853" y="3986550"/>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8</a:t>
            </a:r>
          </a:p>
        </p:txBody>
      </p:sp>
      <p:sp>
        <p:nvSpPr>
          <p:cNvPr id="21" name="Rectángulo: esquinas redondeadas 20">
            <a:extLst>
              <a:ext uri="{FF2B5EF4-FFF2-40B4-BE49-F238E27FC236}">
                <a16:creationId xmlns:a16="http://schemas.microsoft.com/office/drawing/2014/main" id="{8BE08A21-5773-2828-8D46-CC620AFD5A7F}"/>
              </a:ext>
            </a:extLst>
          </p:cNvPr>
          <p:cNvSpPr/>
          <p:nvPr/>
        </p:nvSpPr>
        <p:spPr>
          <a:xfrm>
            <a:off x="971143" y="5100463"/>
            <a:ext cx="10477498" cy="8541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8"/>
            </a:pPr>
            <a:r>
              <a:rPr lang="es-419" sz="1100" dirty="0"/>
              <a:t>Presione </a:t>
            </a:r>
            <a:r>
              <a:rPr lang="es-419" sz="1100" b="1" dirty="0"/>
              <a:t>OK</a:t>
            </a:r>
            <a:r>
              <a:rPr lang="es-419" sz="1100" dirty="0"/>
              <a:t> en el mensaje de advertencia del sistema. En él se informa que los cambios que se realicen pudieran afectar las tarifas aplicadas al estudiante (aplica si las reglas de estimación de cuotas están basadas en atributos).</a:t>
            </a:r>
          </a:p>
          <a:p>
            <a:pPr marL="342900" indent="-342900" algn="just">
              <a:buFont typeface="+mj-lt"/>
              <a:buAutoNum type="arabicPeriod" startAt="8"/>
            </a:pPr>
            <a:r>
              <a:rPr lang="es-419" sz="1100" dirty="0"/>
              <a:t>Si desea incluir un segundo atributo para el mismo período, presione la opción </a:t>
            </a:r>
            <a:r>
              <a:rPr lang="es-419" sz="1100" b="1" dirty="0"/>
              <a:t>Insertar</a:t>
            </a:r>
            <a:r>
              <a:rPr lang="es-419" sz="1100" dirty="0"/>
              <a:t> y repita los pasos 6 al 8 indicados en la diapositiva anterior.</a:t>
            </a:r>
          </a:p>
        </p:txBody>
      </p:sp>
      <p:sp>
        <p:nvSpPr>
          <p:cNvPr id="6" name="CuadroTexto 5">
            <a:extLst>
              <a:ext uri="{FF2B5EF4-FFF2-40B4-BE49-F238E27FC236}">
                <a16:creationId xmlns:a16="http://schemas.microsoft.com/office/drawing/2014/main" id="{53E0885A-BD43-D3E2-CB5E-B8FFA945C91C}"/>
              </a:ext>
            </a:extLst>
          </p:cNvPr>
          <p:cNvSpPr txBox="1"/>
          <p:nvPr/>
        </p:nvSpPr>
        <p:spPr>
          <a:xfrm>
            <a:off x="10302301" y="2627484"/>
            <a:ext cx="301753" cy="215444"/>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9</a:t>
            </a:r>
          </a:p>
        </p:txBody>
      </p:sp>
    </p:spTree>
    <p:extLst>
      <p:ext uri="{BB962C8B-B14F-4D97-AF65-F5344CB8AC3E}">
        <p14:creationId xmlns:p14="http://schemas.microsoft.com/office/powerpoint/2010/main" val="1349373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9F4D41-A576-59EA-BDE4-CE26A15D4804}"/>
              </a:ext>
            </a:extLst>
          </p:cNvPr>
          <p:cNvPicPr>
            <a:picLocks noChangeAspect="1"/>
          </p:cNvPicPr>
          <p:nvPr/>
        </p:nvPicPr>
        <p:blipFill>
          <a:blip r:embed="rId3"/>
          <a:stretch>
            <a:fillRect/>
          </a:stretch>
        </p:blipFill>
        <p:spPr>
          <a:xfrm>
            <a:off x="743359" y="1033669"/>
            <a:ext cx="11147250" cy="5286085"/>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1085445" y="307413"/>
            <a:ext cx="10477497" cy="898555"/>
          </a:xfrm>
        </p:spPr>
        <p:txBody>
          <a:bodyPr/>
          <a:lstStyle/>
          <a:p>
            <a:r>
              <a:rPr lang="es-ES_tradnl" dirty="0"/>
              <a:t>Asignar atributo, por primera vez</a:t>
            </a:r>
            <a:endParaRPr lang="es-ES_tradnl" b="1" dirty="0"/>
          </a:p>
        </p:txBody>
      </p:sp>
      <p:sp>
        <p:nvSpPr>
          <p:cNvPr id="16" name="Flecha: hacia la izquierda 15">
            <a:extLst>
              <a:ext uri="{FF2B5EF4-FFF2-40B4-BE49-F238E27FC236}">
                <a16:creationId xmlns:a16="http://schemas.microsoft.com/office/drawing/2014/main" id="{6E7E7116-A947-E063-DB7F-7EDE9231ADBF}"/>
              </a:ext>
            </a:extLst>
          </p:cNvPr>
          <p:cNvSpPr/>
          <p:nvPr/>
        </p:nvSpPr>
        <p:spPr>
          <a:xfrm rot="10800000">
            <a:off x="10548635" y="2118445"/>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uadroTexto 16">
            <a:extLst>
              <a:ext uri="{FF2B5EF4-FFF2-40B4-BE49-F238E27FC236}">
                <a16:creationId xmlns:a16="http://schemas.microsoft.com/office/drawing/2014/main" id="{4D19E2DB-6C62-C361-0CA7-B6062CDA5B74}"/>
              </a:ext>
            </a:extLst>
          </p:cNvPr>
          <p:cNvSpPr txBox="1"/>
          <p:nvPr/>
        </p:nvSpPr>
        <p:spPr>
          <a:xfrm>
            <a:off x="11261189" y="2779483"/>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dirty="0"/>
              <a:t>10</a:t>
            </a:r>
            <a:endParaRPr lang="en-US" dirty="0"/>
          </a:p>
        </p:txBody>
      </p:sp>
      <p:sp>
        <p:nvSpPr>
          <p:cNvPr id="21" name="Rectángulo: esquinas redondeadas 20">
            <a:extLst>
              <a:ext uri="{FF2B5EF4-FFF2-40B4-BE49-F238E27FC236}">
                <a16:creationId xmlns:a16="http://schemas.microsoft.com/office/drawing/2014/main" id="{8BE08A21-5773-2828-8D46-CC620AFD5A7F}"/>
              </a:ext>
            </a:extLst>
          </p:cNvPr>
          <p:cNvSpPr/>
          <p:nvPr/>
        </p:nvSpPr>
        <p:spPr>
          <a:xfrm>
            <a:off x="971143" y="5100463"/>
            <a:ext cx="10477498" cy="62778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10"/>
            </a:pPr>
            <a:r>
              <a:rPr lang="es-419" sz="1100" dirty="0"/>
              <a:t>Si desea eliminar un atributo existente para el mismo período, selecciónelo y presione la opción </a:t>
            </a:r>
            <a:r>
              <a:rPr lang="es-419" sz="1100" b="1" dirty="0"/>
              <a:t>Eliminar</a:t>
            </a:r>
            <a:r>
              <a:rPr lang="es-419" sz="1100" dirty="0"/>
              <a:t> y guarde la información.</a:t>
            </a:r>
          </a:p>
          <a:p>
            <a:pPr algn="just"/>
            <a:endParaRPr lang="es-419" sz="1100" dirty="0"/>
          </a:p>
        </p:txBody>
      </p:sp>
    </p:spTree>
    <p:extLst>
      <p:ext uri="{BB962C8B-B14F-4D97-AF65-F5344CB8AC3E}">
        <p14:creationId xmlns:p14="http://schemas.microsoft.com/office/powerpoint/2010/main" val="1237241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7A63AB3-4A97-CFF2-B82F-CC5DA27C6091}"/>
              </a:ext>
            </a:extLst>
          </p:cNvPr>
          <p:cNvPicPr>
            <a:picLocks noChangeAspect="1"/>
          </p:cNvPicPr>
          <p:nvPr/>
        </p:nvPicPr>
        <p:blipFill>
          <a:blip r:embed="rId3"/>
          <a:stretch>
            <a:fillRect/>
          </a:stretch>
        </p:blipFill>
        <p:spPr>
          <a:xfrm>
            <a:off x="609601" y="817464"/>
            <a:ext cx="11009243" cy="5223070"/>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71144" y="296436"/>
            <a:ext cx="10477497" cy="898555"/>
          </a:xfrm>
        </p:spPr>
        <p:txBody>
          <a:bodyPr/>
          <a:lstStyle/>
          <a:p>
            <a:r>
              <a:rPr lang="es-ES_tradnl" dirty="0"/>
              <a:t>Cambiar atributo</a:t>
            </a:r>
            <a:endParaRPr lang="es-ES_tradnl" b="1" dirty="0"/>
          </a:p>
        </p:txBody>
      </p:sp>
      <p:sp>
        <p:nvSpPr>
          <p:cNvPr id="5" name="CuadroTexto 4">
            <a:extLst>
              <a:ext uri="{FF2B5EF4-FFF2-40B4-BE49-F238E27FC236}">
                <a16:creationId xmlns:a16="http://schemas.microsoft.com/office/drawing/2014/main" id="{FBE16895-5153-3FA9-AAB7-0BCCE96F6209}"/>
              </a:ext>
            </a:extLst>
          </p:cNvPr>
          <p:cNvSpPr txBox="1"/>
          <p:nvPr/>
        </p:nvSpPr>
        <p:spPr>
          <a:xfrm>
            <a:off x="900596" y="1326655"/>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1</a:t>
            </a:r>
            <a:endParaRPr lang="en-US" dirty="0"/>
          </a:p>
        </p:txBody>
      </p:sp>
      <p:sp>
        <p:nvSpPr>
          <p:cNvPr id="7" name="CuadroTexto 6">
            <a:extLst>
              <a:ext uri="{FF2B5EF4-FFF2-40B4-BE49-F238E27FC236}">
                <a16:creationId xmlns:a16="http://schemas.microsoft.com/office/drawing/2014/main" id="{AB4B1F68-F83E-6240-9EC4-EB5014372DDF}"/>
              </a:ext>
            </a:extLst>
          </p:cNvPr>
          <p:cNvSpPr txBox="1"/>
          <p:nvPr/>
        </p:nvSpPr>
        <p:spPr>
          <a:xfrm>
            <a:off x="10761338" y="1434377"/>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3</a:t>
            </a:r>
            <a:endParaRPr lang="en-US" dirty="0"/>
          </a:p>
        </p:txBody>
      </p:sp>
      <p:sp>
        <p:nvSpPr>
          <p:cNvPr id="10" name="CuadroTexto 9">
            <a:extLst>
              <a:ext uri="{FF2B5EF4-FFF2-40B4-BE49-F238E27FC236}">
                <a16:creationId xmlns:a16="http://schemas.microsoft.com/office/drawing/2014/main" id="{018734C8-54E2-FFFE-5E2D-8F90B9380C3C}"/>
              </a:ext>
            </a:extLst>
          </p:cNvPr>
          <p:cNvSpPr txBox="1"/>
          <p:nvPr/>
        </p:nvSpPr>
        <p:spPr>
          <a:xfrm>
            <a:off x="5666971" y="1326655"/>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2</a:t>
            </a:r>
            <a:endParaRPr lang="en-US" dirty="0"/>
          </a:p>
        </p:txBody>
      </p:sp>
      <p:sp>
        <p:nvSpPr>
          <p:cNvPr id="12" name="Rectángulo: esquinas redondeadas 11">
            <a:extLst>
              <a:ext uri="{FF2B5EF4-FFF2-40B4-BE49-F238E27FC236}">
                <a16:creationId xmlns:a16="http://schemas.microsoft.com/office/drawing/2014/main" id="{497BA441-A840-EAB9-BD2E-19C60037590D}"/>
              </a:ext>
            </a:extLst>
          </p:cNvPr>
          <p:cNvSpPr/>
          <p:nvPr/>
        </p:nvSpPr>
        <p:spPr>
          <a:xfrm>
            <a:off x="971143" y="5100463"/>
            <a:ext cx="10477498" cy="8541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419" sz="1100" dirty="0"/>
              <a:t>En </a:t>
            </a:r>
            <a:r>
              <a:rPr lang="es-419" sz="1100" b="1" dirty="0"/>
              <a:t>SGASADD</a:t>
            </a:r>
            <a:r>
              <a:rPr lang="es-419" sz="1100" dirty="0"/>
              <a:t>, ingrese el </a:t>
            </a:r>
            <a:r>
              <a:rPr lang="es-419" sz="1100" b="1" dirty="0"/>
              <a:t>ID</a:t>
            </a:r>
            <a:r>
              <a:rPr lang="es-419" sz="1100" dirty="0"/>
              <a:t>: código identificador del alumno del alumno al que desea asignar el atributo.</a:t>
            </a:r>
          </a:p>
          <a:p>
            <a:pPr marL="342900" indent="-342900" algn="just">
              <a:buFont typeface="+mj-lt"/>
              <a:buAutoNum type="arabicPeriod"/>
            </a:pPr>
            <a:r>
              <a:rPr lang="es-419" sz="1100" b="1" dirty="0"/>
              <a:t>Periodo</a:t>
            </a:r>
            <a:r>
              <a:rPr lang="es-419" sz="1100" dirty="0"/>
              <a:t> en el cual se desea hacer la asignación. </a:t>
            </a:r>
          </a:p>
          <a:p>
            <a:pPr marL="342900" indent="-342900" algn="just">
              <a:buFont typeface="+mj-lt"/>
              <a:buAutoNum type="arabicPeriod"/>
            </a:pPr>
            <a:r>
              <a:rPr lang="es-CL" sz="1100" dirty="0"/>
              <a:t>Hacer clic en el botón </a:t>
            </a:r>
            <a:r>
              <a:rPr lang="es-CL" sz="1100" b="1" dirty="0"/>
              <a:t>Ir</a:t>
            </a:r>
            <a:r>
              <a:rPr lang="es-CL" sz="1100" dirty="0"/>
              <a:t>.</a:t>
            </a:r>
          </a:p>
        </p:txBody>
      </p:sp>
    </p:spTree>
    <p:extLst>
      <p:ext uri="{BB962C8B-B14F-4D97-AF65-F5344CB8AC3E}">
        <p14:creationId xmlns:p14="http://schemas.microsoft.com/office/powerpoint/2010/main" val="4166475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EC73E31-AE32-65FB-597E-5D28DB31D47C}"/>
              </a:ext>
            </a:extLst>
          </p:cNvPr>
          <p:cNvPicPr>
            <a:picLocks noChangeAspect="1"/>
          </p:cNvPicPr>
          <p:nvPr/>
        </p:nvPicPr>
        <p:blipFill>
          <a:blip r:embed="rId3"/>
          <a:stretch>
            <a:fillRect/>
          </a:stretch>
        </p:blipFill>
        <p:spPr>
          <a:xfrm>
            <a:off x="876898" y="1234203"/>
            <a:ext cx="10739957" cy="5075848"/>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33044" y="344245"/>
            <a:ext cx="10477497" cy="898555"/>
          </a:xfrm>
        </p:spPr>
        <p:txBody>
          <a:bodyPr/>
          <a:lstStyle/>
          <a:p>
            <a:r>
              <a:rPr lang="es-ES_tradnl" dirty="0"/>
              <a:t>Cambiar atributo</a:t>
            </a:r>
            <a:endParaRPr lang="es-ES_tradnl" b="1" dirty="0"/>
          </a:p>
        </p:txBody>
      </p:sp>
      <p:sp>
        <p:nvSpPr>
          <p:cNvPr id="4" name="CuadroTexto 3">
            <a:extLst>
              <a:ext uri="{FF2B5EF4-FFF2-40B4-BE49-F238E27FC236}">
                <a16:creationId xmlns:a16="http://schemas.microsoft.com/office/drawing/2014/main" id="{AAD17A16-F6B8-95B0-AC5D-41C66F23564F}"/>
              </a:ext>
            </a:extLst>
          </p:cNvPr>
          <p:cNvSpPr txBox="1"/>
          <p:nvPr/>
        </p:nvSpPr>
        <p:spPr>
          <a:xfrm>
            <a:off x="916480" y="5678759"/>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dirty="0"/>
              <a:t>4</a:t>
            </a:r>
            <a:endParaRPr lang="en-US" dirty="0"/>
          </a:p>
        </p:txBody>
      </p:sp>
      <p:sp>
        <p:nvSpPr>
          <p:cNvPr id="8" name="Rectángulo: esquinas redondeadas 7">
            <a:extLst>
              <a:ext uri="{FF2B5EF4-FFF2-40B4-BE49-F238E27FC236}">
                <a16:creationId xmlns:a16="http://schemas.microsoft.com/office/drawing/2014/main" id="{EDFE2864-73CE-19CC-2B56-5598BC9EBD0F}"/>
              </a:ext>
            </a:extLst>
          </p:cNvPr>
          <p:cNvSpPr/>
          <p:nvPr/>
        </p:nvSpPr>
        <p:spPr>
          <a:xfrm>
            <a:off x="971143" y="5100463"/>
            <a:ext cx="10477498" cy="51792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4"/>
            </a:pPr>
            <a:r>
              <a:rPr lang="es-419" sz="1100" dirty="0"/>
              <a:t>Presione el botón para pasar al siguiente bloque.</a:t>
            </a:r>
          </a:p>
        </p:txBody>
      </p:sp>
      <p:sp>
        <p:nvSpPr>
          <p:cNvPr id="9" name="Rectángulo 8">
            <a:extLst>
              <a:ext uri="{FF2B5EF4-FFF2-40B4-BE49-F238E27FC236}">
                <a16:creationId xmlns:a16="http://schemas.microsoft.com/office/drawing/2014/main" id="{F02A259F-BCB6-759F-039B-14474D673353}"/>
              </a:ext>
            </a:extLst>
          </p:cNvPr>
          <p:cNvSpPr/>
          <p:nvPr/>
        </p:nvSpPr>
        <p:spPr>
          <a:xfrm>
            <a:off x="1067356" y="5954576"/>
            <a:ext cx="363051" cy="30893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093433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2F2A434-93B2-7361-0F0F-20E377A850E8}"/>
              </a:ext>
            </a:extLst>
          </p:cNvPr>
          <p:cNvPicPr>
            <a:picLocks noChangeAspect="1"/>
          </p:cNvPicPr>
          <p:nvPr/>
        </p:nvPicPr>
        <p:blipFill>
          <a:blip r:embed="rId3"/>
          <a:stretch>
            <a:fillRect/>
          </a:stretch>
        </p:blipFill>
        <p:spPr>
          <a:xfrm>
            <a:off x="910757" y="1269455"/>
            <a:ext cx="10642660" cy="5054986"/>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Cambiar atributo</a:t>
            </a:r>
            <a:endParaRPr lang="es-ES_tradnl" b="1" dirty="0"/>
          </a:p>
        </p:txBody>
      </p:sp>
      <p:sp>
        <p:nvSpPr>
          <p:cNvPr id="10" name="CuadroTexto 9">
            <a:extLst>
              <a:ext uri="{FF2B5EF4-FFF2-40B4-BE49-F238E27FC236}">
                <a16:creationId xmlns:a16="http://schemas.microsoft.com/office/drawing/2014/main" id="{949D4C82-4D62-2B0F-8D0E-2A6115818B74}"/>
              </a:ext>
            </a:extLst>
          </p:cNvPr>
          <p:cNvSpPr txBox="1"/>
          <p:nvPr/>
        </p:nvSpPr>
        <p:spPr>
          <a:xfrm>
            <a:off x="11058345" y="3026336"/>
            <a:ext cx="301753" cy="215444"/>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dirty="0"/>
              <a:t>5</a:t>
            </a:r>
            <a:endParaRPr lang="en-US" dirty="0"/>
          </a:p>
        </p:txBody>
      </p:sp>
      <p:sp>
        <p:nvSpPr>
          <p:cNvPr id="11" name="Rectángulo: esquinas redondeadas 10">
            <a:extLst>
              <a:ext uri="{FF2B5EF4-FFF2-40B4-BE49-F238E27FC236}">
                <a16:creationId xmlns:a16="http://schemas.microsoft.com/office/drawing/2014/main" id="{6917D55D-323C-E606-CBD3-8235749DA208}"/>
              </a:ext>
            </a:extLst>
          </p:cNvPr>
          <p:cNvSpPr/>
          <p:nvPr/>
        </p:nvSpPr>
        <p:spPr>
          <a:xfrm>
            <a:off x="1273113" y="4852812"/>
            <a:ext cx="10115141" cy="91449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just"/>
            <a:r>
              <a:rPr lang="es-419" sz="1100" dirty="0"/>
              <a:t>El campo “</a:t>
            </a:r>
            <a:r>
              <a:rPr lang="es-419" sz="1100" b="1" dirty="0"/>
              <a:t>De período</a:t>
            </a:r>
            <a:r>
              <a:rPr lang="es-419" sz="1100" dirty="0"/>
              <a:t>” muestra el período en el que fue cargado un atributo a un estudiante y el cambio se está realizando en un período posterior.</a:t>
            </a:r>
          </a:p>
          <a:p>
            <a:pPr marL="342900" indent="-342900" algn="just">
              <a:buFont typeface="+mj-lt"/>
              <a:buAutoNum type="arabicPeriod" startAt="5"/>
            </a:pPr>
            <a:r>
              <a:rPr lang="es-419" sz="1100" dirty="0"/>
              <a:t>Presione la opción “</a:t>
            </a:r>
            <a:r>
              <a:rPr lang="es-419" sz="1100" b="1" dirty="0"/>
              <a:t>Copiar</a:t>
            </a:r>
            <a:r>
              <a:rPr lang="es-419" sz="1100" dirty="0"/>
              <a:t>” o "Mantenimiento" para copiar los atributos</a:t>
            </a:r>
            <a:endParaRPr lang="es-419" sz="1100" dirty="0">
              <a:cs typeface="Arial"/>
            </a:endParaRPr>
          </a:p>
          <a:p>
            <a:pPr marL="342900" indent="-342900" algn="just">
              <a:buFont typeface="+mj-lt"/>
              <a:buAutoNum type="arabicPeriod" startAt="5"/>
            </a:pPr>
            <a:r>
              <a:rPr lang="es-419" sz="1100" dirty="0"/>
              <a:t>Presione el botón </a:t>
            </a:r>
            <a:r>
              <a:rPr lang="es-419" sz="1100" b="1" dirty="0"/>
              <a:t>OK</a:t>
            </a:r>
            <a:r>
              <a:rPr lang="es-419" sz="1100" dirty="0"/>
              <a:t> en el mensaje de advertencia.</a:t>
            </a:r>
          </a:p>
        </p:txBody>
      </p:sp>
      <p:sp>
        <p:nvSpPr>
          <p:cNvPr id="23" name="CuadroTexto 22">
            <a:extLst>
              <a:ext uri="{FF2B5EF4-FFF2-40B4-BE49-F238E27FC236}">
                <a16:creationId xmlns:a16="http://schemas.microsoft.com/office/drawing/2014/main" id="{D3D40C48-4906-DC95-8673-59670ECD6F43}"/>
              </a:ext>
            </a:extLst>
          </p:cNvPr>
          <p:cNvSpPr txBox="1"/>
          <p:nvPr/>
        </p:nvSpPr>
        <p:spPr>
          <a:xfrm>
            <a:off x="5998628" y="4080232"/>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6</a:t>
            </a:r>
            <a:endParaRPr lang="en-US" dirty="0"/>
          </a:p>
        </p:txBody>
      </p:sp>
    </p:spTree>
    <p:extLst>
      <p:ext uri="{BB962C8B-B14F-4D97-AF65-F5344CB8AC3E}">
        <p14:creationId xmlns:p14="http://schemas.microsoft.com/office/powerpoint/2010/main" val="4219400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9CE8987-2D45-47AD-6C5A-DD96AD26408F}"/>
              </a:ext>
            </a:extLst>
          </p:cNvPr>
          <p:cNvPicPr>
            <a:picLocks noChangeAspect="1"/>
          </p:cNvPicPr>
          <p:nvPr/>
        </p:nvPicPr>
        <p:blipFill>
          <a:blip r:embed="rId3"/>
          <a:stretch>
            <a:fillRect/>
          </a:stretch>
        </p:blipFill>
        <p:spPr>
          <a:xfrm>
            <a:off x="803746" y="895371"/>
            <a:ext cx="10733627" cy="5067257"/>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Cambiar atributo</a:t>
            </a:r>
            <a:endParaRPr lang="es-ES_tradnl" b="1" dirty="0"/>
          </a:p>
        </p:txBody>
      </p:sp>
      <p:sp>
        <p:nvSpPr>
          <p:cNvPr id="11" name="Rectángulo: esquinas redondeadas 10">
            <a:extLst>
              <a:ext uri="{FF2B5EF4-FFF2-40B4-BE49-F238E27FC236}">
                <a16:creationId xmlns:a16="http://schemas.microsoft.com/office/drawing/2014/main" id="{6917D55D-323C-E606-CBD3-8235749DA208}"/>
              </a:ext>
            </a:extLst>
          </p:cNvPr>
          <p:cNvSpPr/>
          <p:nvPr/>
        </p:nvSpPr>
        <p:spPr>
          <a:xfrm>
            <a:off x="971143" y="3975061"/>
            <a:ext cx="10477498" cy="13113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419" sz="1100" dirty="0"/>
              <a:t>El período efectivo, ahora, corresponde al mismo período ingresado en la información inicial.</a:t>
            </a:r>
          </a:p>
          <a:p>
            <a:pPr algn="just"/>
            <a:endParaRPr lang="es-419" sz="1100" dirty="0"/>
          </a:p>
          <a:p>
            <a:pPr marL="171450" indent="-171450" algn="just">
              <a:buFont typeface="Arial" panose="020B0604020202020204" pitchFamily="34" charset="0"/>
              <a:buChar char="•"/>
            </a:pPr>
            <a:r>
              <a:rPr lang="es-419" sz="1100" dirty="0"/>
              <a:t>Si desea añadir un nuevo atributo al alumno, siga los pasos del 5 al 7 descritos en la diapositiva 16. </a:t>
            </a:r>
          </a:p>
          <a:p>
            <a:pPr marL="171450" indent="-171450" algn="just">
              <a:buFont typeface="Arial" panose="020B0604020202020204" pitchFamily="34" charset="0"/>
              <a:buChar char="•"/>
            </a:pPr>
            <a:r>
              <a:rPr lang="es-419" sz="1100" dirty="0"/>
              <a:t>Si desea eliminar el o los atributos existentes y no caracterizar al estudiante a partir del período ingresado, elimine cada uno de los atributos asignados y guarde la información.</a:t>
            </a:r>
          </a:p>
          <a:p>
            <a:pPr marL="171450" indent="-171450" algn="just">
              <a:buFont typeface="Arial" panose="020B0604020202020204" pitchFamily="34" charset="0"/>
              <a:buChar char="•"/>
            </a:pPr>
            <a:r>
              <a:rPr lang="es-419" sz="1100" dirty="0"/>
              <a:t>Si desea sustituir un atributo existente, elimínelo primero y guarde la  información. Posteriormente proceda a insertar el nuevo atributo según las instrucciones dadas anteriormente.</a:t>
            </a:r>
          </a:p>
        </p:txBody>
      </p:sp>
    </p:spTree>
    <p:extLst>
      <p:ext uri="{BB962C8B-B14F-4D97-AF65-F5344CB8AC3E}">
        <p14:creationId xmlns:p14="http://schemas.microsoft.com/office/powerpoint/2010/main" val="3472532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B5470577-B455-8659-3AD6-CFF8A8B44D19}"/>
              </a:ext>
            </a:extLst>
          </p:cNvPr>
          <p:cNvPicPr>
            <a:picLocks noChangeAspect="1"/>
          </p:cNvPicPr>
          <p:nvPr/>
        </p:nvPicPr>
        <p:blipFill>
          <a:blip r:embed="rId3"/>
          <a:stretch>
            <a:fillRect/>
          </a:stretch>
        </p:blipFill>
        <p:spPr>
          <a:xfrm>
            <a:off x="870757" y="908592"/>
            <a:ext cx="10678270" cy="5040813"/>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Finalizar atributo(s)</a:t>
            </a:r>
            <a:endParaRPr lang="es-ES_tradnl" b="1" dirty="0"/>
          </a:p>
        </p:txBody>
      </p:sp>
      <p:sp>
        <p:nvSpPr>
          <p:cNvPr id="11" name="Rectángulo: esquinas redondeadas 10">
            <a:extLst>
              <a:ext uri="{FF2B5EF4-FFF2-40B4-BE49-F238E27FC236}">
                <a16:creationId xmlns:a16="http://schemas.microsoft.com/office/drawing/2014/main" id="{6917D55D-323C-E606-CBD3-8235749DA208}"/>
              </a:ext>
            </a:extLst>
          </p:cNvPr>
          <p:cNvSpPr/>
          <p:nvPr/>
        </p:nvSpPr>
        <p:spPr>
          <a:xfrm>
            <a:off x="971143" y="3975061"/>
            <a:ext cx="10477498" cy="13113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419" sz="1100" dirty="0"/>
              <a:t>Si desea finalizar los atributos de un estudiante. Es decir que a partir de un período dado no tenga más atributos:</a:t>
            </a:r>
          </a:p>
          <a:p>
            <a:pPr algn="just"/>
            <a:endParaRPr lang="es-419" sz="1100" dirty="0"/>
          </a:p>
          <a:p>
            <a:pPr marL="342900" indent="-342900" algn="just">
              <a:buFont typeface="+mj-lt"/>
              <a:buAutoNum type="arabicPeriod"/>
            </a:pPr>
            <a:r>
              <a:rPr lang="es-419" sz="1100" dirty="0"/>
              <a:t>En la página </a:t>
            </a:r>
            <a:r>
              <a:rPr lang="es-419" sz="1100" b="1" dirty="0"/>
              <a:t>SGASADD</a:t>
            </a:r>
            <a:r>
              <a:rPr lang="es-419" sz="1100" dirty="0"/>
              <a:t> ingrese el </a:t>
            </a:r>
            <a:r>
              <a:rPr lang="es-419" sz="1100" b="1" dirty="0"/>
              <a:t>ID</a:t>
            </a:r>
            <a:r>
              <a:rPr lang="es-419" sz="1100" dirty="0"/>
              <a:t>: código identificador del alumno del alumno al que desea asignar el atributo.</a:t>
            </a:r>
          </a:p>
          <a:p>
            <a:pPr marL="342900" indent="-342900" algn="just">
              <a:buFont typeface="+mj-lt"/>
              <a:buAutoNum type="arabicPeriod"/>
            </a:pPr>
            <a:r>
              <a:rPr lang="es-419" sz="1100" b="1" dirty="0"/>
              <a:t>Periodo</a:t>
            </a:r>
            <a:r>
              <a:rPr lang="es-419" sz="1100" dirty="0"/>
              <a:t> en el cual se desea hacer la finalización. </a:t>
            </a:r>
          </a:p>
          <a:p>
            <a:pPr marL="342900" indent="-342900" algn="just">
              <a:buFont typeface="+mj-lt"/>
              <a:buAutoNum type="arabicPeriod"/>
            </a:pPr>
            <a:r>
              <a:rPr lang="es-CL" sz="1100" dirty="0"/>
              <a:t>Hacer clic en el botón </a:t>
            </a:r>
            <a:r>
              <a:rPr lang="es-CL" sz="1100" b="1" dirty="0"/>
              <a:t>Ir</a:t>
            </a:r>
            <a:r>
              <a:rPr lang="es-CL" sz="1100" dirty="0"/>
              <a:t>.</a:t>
            </a:r>
          </a:p>
        </p:txBody>
      </p:sp>
      <p:sp>
        <p:nvSpPr>
          <p:cNvPr id="5" name="CuadroTexto 4">
            <a:extLst>
              <a:ext uri="{FF2B5EF4-FFF2-40B4-BE49-F238E27FC236}">
                <a16:creationId xmlns:a16="http://schemas.microsoft.com/office/drawing/2014/main" id="{3E2C0FA7-D5DB-8AFD-9257-559040397778}"/>
              </a:ext>
            </a:extLst>
          </p:cNvPr>
          <p:cNvSpPr txBox="1"/>
          <p:nvPr/>
        </p:nvSpPr>
        <p:spPr>
          <a:xfrm>
            <a:off x="1159988" y="1380743"/>
            <a:ext cx="262106" cy="190882"/>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1</a:t>
            </a:r>
            <a:endParaRPr lang="en-US" dirty="0"/>
          </a:p>
        </p:txBody>
      </p:sp>
      <p:sp>
        <p:nvSpPr>
          <p:cNvPr id="7" name="CuadroTexto 6">
            <a:extLst>
              <a:ext uri="{FF2B5EF4-FFF2-40B4-BE49-F238E27FC236}">
                <a16:creationId xmlns:a16="http://schemas.microsoft.com/office/drawing/2014/main" id="{05EA72EC-0147-C024-AF7C-574A7BEF2034}"/>
              </a:ext>
            </a:extLst>
          </p:cNvPr>
          <p:cNvSpPr txBox="1"/>
          <p:nvPr/>
        </p:nvSpPr>
        <p:spPr>
          <a:xfrm>
            <a:off x="10730261" y="1487969"/>
            <a:ext cx="262106" cy="190882"/>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3</a:t>
            </a:r>
            <a:endParaRPr lang="en-US" dirty="0"/>
          </a:p>
        </p:txBody>
      </p:sp>
      <p:sp>
        <p:nvSpPr>
          <p:cNvPr id="8" name="CuadroTexto 7">
            <a:extLst>
              <a:ext uri="{FF2B5EF4-FFF2-40B4-BE49-F238E27FC236}">
                <a16:creationId xmlns:a16="http://schemas.microsoft.com/office/drawing/2014/main" id="{B32ADC71-7C64-1364-7FCA-8C7972083C32}"/>
              </a:ext>
            </a:extLst>
          </p:cNvPr>
          <p:cNvSpPr txBox="1"/>
          <p:nvPr/>
        </p:nvSpPr>
        <p:spPr>
          <a:xfrm>
            <a:off x="5635775" y="1380743"/>
            <a:ext cx="262106" cy="190882"/>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dirty="0"/>
              <a:t>2</a:t>
            </a:r>
            <a:endParaRPr lang="en-US" dirty="0"/>
          </a:p>
        </p:txBody>
      </p:sp>
    </p:spTree>
    <p:extLst>
      <p:ext uri="{BB962C8B-B14F-4D97-AF65-F5344CB8AC3E}">
        <p14:creationId xmlns:p14="http://schemas.microsoft.com/office/powerpoint/2010/main" val="3947821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59DFCCF0-96A5-5A05-12EA-F2D3275D35CB}"/>
              </a:ext>
            </a:extLst>
          </p:cNvPr>
          <p:cNvPicPr>
            <a:picLocks noChangeAspect="1"/>
          </p:cNvPicPr>
          <p:nvPr/>
        </p:nvPicPr>
        <p:blipFill>
          <a:blip r:embed="rId3"/>
          <a:stretch>
            <a:fillRect/>
          </a:stretch>
        </p:blipFill>
        <p:spPr>
          <a:xfrm>
            <a:off x="675035" y="1009804"/>
            <a:ext cx="10713219" cy="5079977"/>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Finalizar atributo(s)</a:t>
            </a:r>
            <a:endParaRPr lang="es-ES_tradnl" b="1" dirty="0"/>
          </a:p>
        </p:txBody>
      </p:sp>
      <p:sp>
        <p:nvSpPr>
          <p:cNvPr id="5" name="CuadroTexto 4">
            <a:extLst>
              <a:ext uri="{FF2B5EF4-FFF2-40B4-BE49-F238E27FC236}">
                <a16:creationId xmlns:a16="http://schemas.microsoft.com/office/drawing/2014/main" id="{5B71BC1F-6FAA-5076-34C1-CC6DADA96042}"/>
              </a:ext>
            </a:extLst>
          </p:cNvPr>
          <p:cNvSpPr txBox="1"/>
          <p:nvPr/>
        </p:nvSpPr>
        <p:spPr>
          <a:xfrm>
            <a:off x="514758" y="5874337"/>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4</a:t>
            </a:r>
            <a:endParaRPr lang="en-US" dirty="0"/>
          </a:p>
        </p:txBody>
      </p:sp>
      <p:sp>
        <p:nvSpPr>
          <p:cNvPr id="6" name="Rectángulo: esquinas redondeadas 5">
            <a:extLst>
              <a:ext uri="{FF2B5EF4-FFF2-40B4-BE49-F238E27FC236}">
                <a16:creationId xmlns:a16="http://schemas.microsoft.com/office/drawing/2014/main" id="{45805AFE-03AA-C0BA-AE20-457B32759822}"/>
              </a:ext>
            </a:extLst>
          </p:cNvPr>
          <p:cNvSpPr/>
          <p:nvPr/>
        </p:nvSpPr>
        <p:spPr>
          <a:xfrm>
            <a:off x="910756" y="5018045"/>
            <a:ext cx="10477498" cy="51792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419" sz="1100" dirty="0"/>
              <a:t>El sistema le muestra los atributos que tenga cargados el estudiante en períodos anteriores y que aún tienen vigencia en el período ingresado.</a:t>
            </a:r>
          </a:p>
          <a:p>
            <a:pPr marL="342900" indent="-342900" algn="just">
              <a:buFont typeface="+mj-lt"/>
              <a:buAutoNum type="arabicPeriod" startAt="4"/>
            </a:pPr>
            <a:r>
              <a:rPr lang="es-419" sz="1100" dirty="0"/>
              <a:t>Presione el botón para pasar al siguiente bloque que corresponde a los atributos.</a:t>
            </a:r>
          </a:p>
        </p:txBody>
      </p:sp>
      <p:sp>
        <p:nvSpPr>
          <p:cNvPr id="7" name="Rectángulo 6">
            <a:extLst>
              <a:ext uri="{FF2B5EF4-FFF2-40B4-BE49-F238E27FC236}">
                <a16:creationId xmlns:a16="http://schemas.microsoft.com/office/drawing/2014/main" id="{F590E763-DBE8-E23C-BE6A-001BA91FBE35}"/>
              </a:ext>
            </a:extLst>
          </p:cNvPr>
          <p:cNvSpPr/>
          <p:nvPr/>
        </p:nvSpPr>
        <p:spPr>
          <a:xfrm>
            <a:off x="910756" y="5779801"/>
            <a:ext cx="363051" cy="30893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126930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A112C256-3204-BA17-1290-7E96624E9F88}"/>
              </a:ext>
            </a:extLst>
          </p:cNvPr>
          <p:cNvPicPr>
            <a:picLocks noChangeAspect="1"/>
          </p:cNvPicPr>
          <p:nvPr/>
        </p:nvPicPr>
        <p:blipFill>
          <a:blip r:embed="rId3"/>
          <a:stretch>
            <a:fillRect/>
          </a:stretch>
        </p:blipFill>
        <p:spPr>
          <a:xfrm>
            <a:off x="609601" y="1322032"/>
            <a:ext cx="10568931" cy="4978479"/>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Finalizar atributo(s)</a:t>
            </a:r>
            <a:endParaRPr lang="es-ES_tradnl" b="1" dirty="0"/>
          </a:p>
        </p:txBody>
      </p:sp>
      <p:sp>
        <p:nvSpPr>
          <p:cNvPr id="5" name="CuadroTexto 4">
            <a:extLst>
              <a:ext uri="{FF2B5EF4-FFF2-40B4-BE49-F238E27FC236}">
                <a16:creationId xmlns:a16="http://schemas.microsoft.com/office/drawing/2014/main" id="{5B71BC1F-6FAA-5076-34C1-CC6DADA96042}"/>
              </a:ext>
            </a:extLst>
          </p:cNvPr>
          <p:cNvSpPr txBox="1"/>
          <p:nvPr/>
        </p:nvSpPr>
        <p:spPr>
          <a:xfrm>
            <a:off x="4296508" y="2913385"/>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dirty="0"/>
              <a:t>5</a:t>
            </a:r>
            <a:endParaRPr lang="en-US" dirty="0"/>
          </a:p>
        </p:txBody>
      </p:sp>
      <p:sp>
        <p:nvSpPr>
          <p:cNvPr id="6" name="Rectángulo: esquinas redondeadas 5">
            <a:extLst>
              <a:ext uri="{FF2B5EF4-FFF2-40B4-BE49-F238E27FC236}">
                <a16:creationId xmlns:a16="http://schemas.microsoft.com/office/drawing/2014/main" id="{45805AFE-03AA-C0BA-AE20-457B32759822}"/>
              </a:ext>
            </a:extLst>
          </p:cNvPr>
          <p:cNvSpPr/>
          <p:nvPr/>
        </p:nvSpPr>
        <p:spPr>
          <a:xfrm>
            <a:off x="910756" y="5018045"/>
            <a:ext cx="10477498" cy="51792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5"/>
            </a:pPr>
            <a:r>
              <a:rPr lang="es-419" sz="1100" dirty="0"/>
              <a:t>Presione el botón </a:t>
            </a:r>
            <a:r>
              <a:rPr lang="es-419" sz="1100" b="1" dirty="0"/>
              <a:t>Mantenimiento</a:t>
            </a:r>
            <a:r>
              <a:rPr lang="es-419" sz="1100" dirty="0"/>
              <a:t>. Se abrirá la ventana para las opciones de mantenimiento del bloque.</a:t>
            </a:r>
          </a:p>
          <a:p>
            <a:pPr marL="342900" indent="-342900" algn="just">
              <a:buFont typeface="+mj-lt"/>
              <a:buAutoNum type="arabicPeriod" startAt="5"/>
            </a:pPr>
            <a:r>
              <a:rPr lang="es-419" sz="1100" dirty="0"/>
              <a:t>Seleccione la opción </a:t>
            </a:r>
            <a:r>
              <a:rPr lang="es-419" sz="1100" b="1" dirty="0"/>
              <a:t>Finalizar atributo del alumno</a:t>
            </a:r>
          </a:p>
        </p:txBody>
      </p:sp>
      <p:sp>
        <p:nvSpPr>
          <p:cNvPr id="7" name="Rectángulo 6">
            <a:extLst>
              <a:ext uri="{FF2B5EF4-FFF2-40B4-BE49-F238E27FC236}">
                <a16:creationId xmlns:a16="http://schemas.microsoft.com/office/drawing/2014/main" id="{F590E763-DBE8-E23C-BE6A-001BA91FBE35}"/>
              </a:ext>
            </a:extLst>
          </p:cNvPr>
          <p:cNvSpPr/>
          <p:nvPr/>
        </p:nvSpPr>
        <p:spPr>
          <a:xfrm>
            <a:off x="4814932" y="2895700"/>
            <a:ext cx="825630" cy="30272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CuadroTexto 13">
            <a:extLst>
              <a:ext uri="{FF2B5EF4-FFF2-40B4-BE49-F238E27FC236}">
                <a16:creationId xmlns:a16="http://schemas.microsoft.com/office/drawing/2014/main" id="{C52C7ACF-014C-5508-2EF2-EC1D330D65AA}"/>
              </a:ext>
            </a:extLst>
          </p:cNvPr>
          <p:cNvSpPr txBox="1"/>
          <p:nvPr/>
        </p:nvSpPr>
        <p:spPr>
          <a:xfrm>
            <a:off x="4364683" y="3703549"/>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6</a:t>
            </a:r>
            <a:endParaRPr lang="en-US" dirty="0"/>
          </a:p>
        </p:txBody>
      </p:sp>
    </p:spTree>
    <p:extLst>
      <p:ext uri="{BB962C8B-B14F-4D97-AF65-F5344CB8AC3E}">
        <p14:creationId xmlns:p14="http://schemas.microsoft.com/office/powerpoint/2010/main" val="3097032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FD35DFDF-A84F-C661-C6DA-FB96420A3D8C}"/>
              </a:ext>
            </a:extLst>
          </p:cNvPr>
          <p:cNvPicPr>
            <a:picLocks noChangeAspect="1"/>
          </p:cNvPicPr>
          <p:nvPr/>
        </p:nvPicPr>
        <p:blipFill>
          <a:blip r:embed="rId3"/>
          <a:stretch>
            <a:fillRect/>
          </a:stretch>
        </p:blipFill>
        <p:spPr>
          <a:xfrm>
            <a:off x="727619" y="1208150"/>
            <a:ext cx="10843771" cy="5122240"/>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Finalizar atributo(s)</a:t>
            </a:r>
            <a:endParaRPr lang="es-ES_tradnl" b="1" dirty="0"/>
          </a:p>
        </p:txBody>
      </p:sp>
      <p:sp>
        <p:nvSpPr>
          <p:cNvPr id="5" name="CuadroTexto 4">
            <a:extLst>
              <a:ext uri="{FF2B5EF4-FFF2-40B4-BE49-F238E27FC236}">
                <a16:creationId xmlns:a16="http://schemas.microsoft.com/office/drawing/2014/main" id="{5B71BC1F-6FAA-5076-34C1-CC6DADA96042}"/>
              </a:ext>
            </a:extLst>
          </p:cNvPr>
          <p:cNvSpPr txBox="1"/>
          <p:nvPr/>
        </p:nvSpPr>
        <p:spPr>
          <a:xfrm>
            <a:off x="9883349" y="2671586"/>
            <a:ext cx="257347" cy="217917"/>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dirty="0"/>
              <a:t>8</a:t>
            </a:r>
            <a:endParaRPr lang="en-US" dirty="0"/>
          </a:p>
        </p:txBody>
      </p:sp>
      <p:sp>
        <p:nvSpPr>
          <p:cNvPr id="6" name="Rectángulo: esquinas redondeadas 5">
            <a:extLst>
              <a:ext uri="{FF2B5EF4-FFF2-40B4-BE49-F238E27FC236}">
                <a16:creationId xmlns:a16="http://schemas.microsoft.com/office/drawing/2014/main" id="{45805AFE-03AA-C0BA-AE20-457B32759822}"/>
              </a:ext>
            </a:extLst>
          </p:cNvPr>
          <p:cNvSpPr/>
          <p:nvPr/>
        </p:nvSpPr>
        <p:spPr>
          <a:xfrm>
            <a:off x="910756" y="5018045"/>
            <a:ext cx="10477498" cy="51792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7"/>
            </a:pPr>
            <a:r>
              <a:rPr lang="es-419" sz="1100" dirty="0"/>
              <a:t>Presione </a:t>
            </a:r>
            <a:r>
              <a:rPr lang="es-419" sz="1100" b="1" dirty="0"/>
              <a:t>OK</a:t>
            </a:r>
            <a:r>
              <a:rPr lang="es-419" sz="1100" dirty="0"/>
              <a:t> en la ventana de advertencia del cambio, pues éste puede afectar las reglas de cobro que apliquen al estudiante.</a:t>
            </a:r>
          </a:p>
          <a:p>
            <a:pPr marL="342900" indent="-342900" algn="just">
              <a:buFont typeface="+mj-lt"/>
              <a:buAutoNum type="arabicPeriod" startAt="7"/>
            </a:pPr>
            <a:r>
              <a:rPr lang="es-419" sz="1100" dirty="0"/>
              <a:t>El sistema ha modificado el campo </a:t>
            </a:r>
            <a:r>
              <a:rPr lang="es-419" sz="1100" b="1" dirty="0"/>
              <a:t>A período </a:t>
            </a:r>
            <a:r>
              <a:rPr lang="es-419" sz="1100" dirty="0"/>
              <a:t>y ha realizado el cambio: los atributos que tenía el estudiante estuvieron activos hasta el período ingresado en el inicio del procedimiento.</a:t>
            </a:r>
            <a:endParaRPr lang="es-419" sz="1100" b="1" dirty="0"/>
          </a:p>
        </p:txBody>
      </p:sp>
      <p:sp>
        <p:nvSpPr>
          <p:cNvPr id="7" name="Rectángulo 6">
            <a:extLst>
              <a:ext uri="{FF2B5EF4-FFF2-40B4-BE49-F238E27FC236}">
                <a16:creationId xmlns:a16="http://schemas.microsoft.com/office/drawing/2014/main" id="{F590E763-DBE8-E23C-BE6A-001BA91FBE35}"/>
              </a:ext>
            </a:extLst>
          </p:cNvPr>
          <p:cNvSpPr/>
          <p:nvPr/>
        </p:nvSpPr>
        <p:spPr>
          <a:xfrm>
            <a:off x="8238288" y="2671587"/>
            <a:ext cx="1526023" cy="29300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CuadroTexto 13">
            <a:extLst>
              <a:ext uri="{FF2B5EF4-FFF2-40B4-BE49-F238E27FC236}">
                <a16:creationId xmlns:a16="http://schemas.microsoft.com/office/drawing/2014/main" id="{C52C7ACF-014C-5508-2EF2-EC1D330D65AA}"/>
              </a:ext>
            </a:extLst>
          </p:cNvPr>
          <p:cNvSpPr txBox="1"/>
          <p:nvPr/>
        </p:nvSpPr>
        <p:spPr>
          <a:xfrm>
            <a:off x="4290938" y="3685178"/>
            <a:ext cx="301753" cy="215444"/>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dirty="0"/>
              <a:t>7</a:t>
            </a:r>
            <a:endParaRPr lang="en-US" dirty="0"/>
          </a:p>
        </p:txBody>
      </p:sp>
      <p:sp>
        <p:nvSpPr>
          <p:cNvPr id="16" name="Rectángulo 15">
            <a:extLst>
              <a:ext uri="{FF2B5EF4-FFF2-40B4-BE49-F238E27FC236}">
                <a16:creationId xmlns:a16="http://schemas.microsoft.com/office/drawing/2014/main" id="{C8AB9677-8B5B-ABA6-F5D0-04D57CA48CCF}"/>
              </a:ext>
            </a:extLst>
          </p:cNvPr>
          <p:cNvSpPr/>
          <p:nvPr/>
        </p:nvSpPr>
        <p:spPr>
          <a:xfrm>
            <a:off x="2390770" y="1704637"/>
            <a:ext cx="741325" cy="27144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cxnSp>
        <p:nvCxnSpPr>
          <p:cNvPr id="18" name="Conector recto de flecha 17">
            <a:extLst>
              <a:ext uri="{FF2B5EF4-FFF2-40B4-BE49-F238E27FC236}">
                <a16:creationId xmlns:a16="http://schemas.microsoft.com/office/drawing/2014/main" id="{880B4B52-6881-09D0-03A9-5545A71C4EC3}"/>
              </a:ext>
            </a:extLst>
          </p:cNvPr>
          <p:cNvCxnSpPr>
            <a:cxnSpLocks/>
            <a:stCxn id="16" idx="3"/>
          </p:cNvCxnSpPr>
          <p:nvPr/>
        </p:nvCxnSpPr>
        <p:spPr>
          <a:xfrm>
            <a:off x="3132095" y="1840361"/>
            <a:ext cx="5041668" cy="97772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2183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D37A781-57E2-02E7-6BF4-824167B21427}"/>
              </a:ext>
            </a:extLst>
          </p:cNvPr>
          <p:cNvPicPr>
            <a:picLocks noChangeAspect="1"/>
          </p:cNvPicPr>
          <p:nvPr/>
        </p:nvPicPr>
        <p:blipFill>
          <a:blip r:embed="rId3"/>
          <a:stretch>
            <a:fillRect/>
          </a:stretch>
        </p:blipFill>
        <p:spPr>
          <a:xfrm>
            <a:off x="803746" y="1239614"/>
            <a:ext cx="10746621" cy="5059214"/>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Vigencia del atributo</a:t>
            </a:r>
            <a:endParaRPr lang="es-ES_tradnl" b="1" dirty="0"/>
          </a:p>
        </p:txBody>
      </p:sp>
      <p:sp>
        <p:nvSpPr>
          <p:cNvPr id="11" name="Rectángulo: esquinas redondeadas 10">
            <a:extLst>
              <a:ext uri="{FF2B5EF4-FFF2-40B4-BE49-F238E27FC236}">
                <a16:creationId xmlns:a16="http://schemas.microsoft.com/office/drawing/2014/main" id="{6917D55D-323C-E606-CBD3-8235749DA208}"/>
              </a:ext>
            </a:extLst>
          </p:cNvPr>
          <p:cNvSpPr/>
          <p:nvPr/>
        </p:nvSpPr>
        <p:spPr>
          <a:xfrm>
            <a:off x="980137" y="3837156"/>
            <a:ext cx="10477498" cy="13113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419" sz="1100" dirty="0"/>
              <a:t>Los atributos asignados a los estudiantes son efectivos entre los períodos que se indican en los campos “De período” y “A período”.</a:t>
            </a:r>
          </a:p>
          <a:p>
            <a:pPr algn="just"/>
            <a:endParaRPr lang="es-419" sz="1100" dirty="0"/>
          </a:p>
          <a:p>
            <a:pPr algn="just"/>
            <a:r>
              <a:rPr lang="es-419" sz="1100" dirty="0"/>
              <a:t>Si el campo “A período” corresponde al código 999999 (Fin de los tiempos) significa que ese atributo es el vigente para el estudiante desde el período de asignación y no se ha cambiado dicha asignación. </a:t>
            </a:r>
          </a:p>
        </p:txBody>
      </p:sp>
    </p:spTree>
    <p:extLst>
      <p:ext uri="{BB962C8B-B14F-4D97-AF65-F5344CB8AC3E}">
        <p14:creationId xmlns:p14="http://schemas.microsoft.com/office/powerpoint/2010/main" val="1103554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313D474-EF59-2D48-B7C0-03A42597CAB9}"/>
              </a:ext>
            </a:extLst>
          </p:cNvPr>
          <p:cNvSpPr txBox="1">
            <a:spLocks/>
          </p:cNvSpPr>
          <p:nvPr/>
        </p:nvSpPr>
        <p:spPr>
          <a:xfrm>
            <a:off x="475488" y="3026292"/>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
        <p:nvSpPr>
          <p:cNvPr id="2" name="Marcador de texto vertical 1">
            <a:extLst>
              <a:ext uri="{FF2B5EF4-FFF2-40B4-BE49-F238E27FC236}">
                <a16:creationId xmlns:a16="http://schemas.microsoft.com/office/drawing/2014/main" id="{DE641D37-60AA-2270-411B-38BD65317D98}"/>
              </a:ext>
            </a:extLst>
          </p:cNvPr>
          <p:cNvSpPr>
            <a:spLocks noGrp="1"/>
          </p:cNvSpPr>
          <p:nvPr>
            <p:ph type="body" orient="vert" sz="quarter" idx="10"/>
          </p:nvPr>
        </p:nvSpPr>
        <p:spPr/>
        <p:txBody>
          <a:bodyPr/>
          <a:lstStyle/>
          <a:p>
            <a:r>
              <a:rPr lang="es-ES" sz="1200" dirty="0"/>
              <a:t>Actualizar características del estudiante</a:t>
            </a:r>
            <a:endParaRPr lang="es-419" dirty="0"/>
          </a:p>
        </p:txBody>
      </p:sp>
      <p:sp>
        <p:nvSpPr>
          <p:cNvPr id="7" name="Title 4">
            <a:extLst>
              <a:ext uri="{FF2B5EF4-FFF2-40B4-BE49-F238E27FC236}">
                <a16:creationId xmlns:a16="http://schemas.microsoft.com/office/drawing/2014/main" id="{4A62112F-A3AA-3C4D-A267-97DF7410D190}"/>
              </a:ext>
            </a:extLst>
          </p:cNvPr>
          <p:cNvSpPr>
            <a:spLocks noGrp="1"/>
          </p:cNvSpPr>
          <p:nvPr>
            <p:ph type="title"/>
          </p:nvPr>
        </p:nvSpPr>
        <p:spPr/>
        <p:txBody>
          <a:bodyPr/>
          <a:lstStyle/>
          <a:p>
            <a:r>
              <a:rPr lang="es-ES" dirty="0"/>
              <a:t>Cohorte del estudiante</a:t>
            </a:r>
            <a:endParaRPr lang="es-ES_tradnl" dirty="0"/>
          </a:p>
        </p:txBody>
      </p:sp>
      <p:sp>
        <p:nvSpPr>
          <p:cNvPr id="3" name="Marcador de texto 2">
            <a:extLst>
              <a:ext uri="{FF2B5EF4-FFF2-40B4-BE49-F238E27FC236}">
                <a16:creationId xmlns:a16="http://schemas.microsoft.com/office/drawing/2014/main" id="{7CC0336C-9A1E-B2B0-F239-D8AC3032694A}"/>
              </a:ext>
            </a:extLst>
          </p:cNvPr>
          <p:cNvSpPr>
            <a:spLocks noGrp="1"/>
          </p:cNvSpPr>
          <p:nvPr>
            <p:ph type="body" sz="quarter" idx="18"/>
          </p:nvPr>
        </p:nvSpPr>
        <p:spPr/>
        <p:txBody>
          <a:bodyPr/>
          <a:lstStyle/>
          <a:p>
            <a:endParaRPr lang="es-419" dirty="0"/>
          </a:p>
        </p:txBody>
      </p:sp>
      <p:sp>
        <p:nvSpPr>
          <p:cNvPr id="4" name="Subtitle 5">
            <a:extLst>
              <a:ext uri="{FF2B5EF4-FFF2-40B4-BE49-F238E27FC236}">
                <a16:creationId xmlns:a16="http://schemas.microsoft.com/office/drawing/2014/main" id="{9D39FAED-EEFF-4563-B0AE-EAF949D8E6BC}"/>
              </a:ext>
            </a:extLst>
          </p:cNvPr>
          <p:cNvSpPr txBox="1">
            <a:spLocks/>
          </p:cNvSpPr>
          <p:nvPr/>
        </p:nvSpPr>
        <p:spPr>
          <a:xfrm>
            <a:off x="472848" y="3756901"/>
            <a:ext cx="7108205" cy="2462723"/>
          </a:xfrm>
          <a:prstGeom prst="rect">
            <a:avLst/>
          </a:prstGeom>
        </p:spPr>
        <p:txBody>
          <a:bodyPr/>
          <a:lstStyle>
            <a:lvl1pPr marL="0" indent="0" algn="l" defTabSz="457200" rtl="0" eaLnBrk="1" latinLnBrk="0" hangingPunct="1">
              <a:spcBef>
                <a:spcPts val="900"/>
              </a:spcBef>
              <a:buFontTx/>
              <a:buNone/>
              <a:defRPr lang="en-US" sz="1600" b="1" kern="1200" dirty="0" smtClean="0">
                <a:solidFill>
                  <a:srgbClr val="45A1AA"/>
                </a:solidFill>
                <a:latin typeface="Arial"/>
                <a:ea typeface="+mn-ea"/>
                <a:cs typeface="Arial"/>
              </a:defRPr>
            </a:lvl1pPr>
            <a:lvl2pPr marL="285750" indent="-285750" algn="l" defTabSz="457200" rtl="0" eaLnBrk="1" latinLnBrk="0" hangingPunct="1">
              <a:spcBef>
                <a:spcPts val="900"/>
              </a:spcBef>
              <a:buFont typeface="Arial" panose="020B0604020202020204" pitchFamily="34" charset="0"/>
              <a:buChar char="•"/>
              <a:defRPr lang="en-US" sz="1600" b="0" kern="1200" dirty="0" smtClean="0">
                <a:solidFill>
                  <a:schemeClr val="tx1"/>
                </a:solidFill>
                <a:latin typeface="Arial"/>
                <a:ea typeface="+mn-ea"/>
                <a:cs typeface="Arial"/>
              </a:defRPr>
            </a:lvl2pPr>
            <a:lvl3pPr marL="512763" indent="-285750" algn="l" defTabSz="457200" rtl="0" eaLnBrk="1" latinLnBrk="0" hangingPunct="1">
              <a:spcBef>
                <a:spcPts val="900"/>
              </a:spcBef>
              <a:buFont typeface="Arial"/>
              <a:buChar char="•"/>
              <a:defRPr lang="en-US" sz="1400" kern="1200" dirty="0" smtClean="0">
                <a:solidFill>
                  <a:srgbClr val="414042"/>
                </a:solidFill>
                <a:latin typeface="Arial"/>
                <a:ea typeface="+mn-ea"/>
                <a:cs typeface="Arial"/>
              </a:defRPr>
            </a:lvl3pPr>
            <a:lvl4pPr marL="855663" indent="-855663" algn="l" defTabSz="457200" rtl="0" eaLnBrk="1" latinLnBrk="0" hangingPunct="1">
              <a:spcBef>
                <a:spcPts val="900"/>
              </a:spcBef>
              <a:buFont typeface="Arial" panose="020B0604020202020204" pitchFamily="34" charset="0"/>
              <a:buChar char="•"/>
              <a:defRPr lang="en-US" sz="1200" kern="1200" dirty="0" smtClean="0">
                <a:solidFill>
                  <a:srgbClr val="414042"/>
                </a:solidFill>
                <a:latin typeface="Arial"/>
                <a:ea typeface="+mn-ea"/>
                <a:cs typeface="Arial"/>
              </a:defRPr>
            </a:lvl4pPr>
            <a:lvl5pPr marL="1201738" indent="-339725" algn="l" defTabSz="457200" rtl="0" eaLnBrk="1" latinLnBrk="0" hangingPunct="1">
              <a:spcBef>
                <a:spcPts val="900"/>
              </a:spcBef>
              <a:buFont typeface="Arial" panose="020B0604020202020204" pitchFamily="34" charset="0"/>
              <a:buChar char="•"/>
              <a:defRPr lang="en-US" sz="1200" kern="1200" dirty="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b="0" dirty="0">
              <a:solidFill>
                <a:srgbClr val="FBFCFA"/>
              </a:solidFill>
            </a:endParaRPr>
          </a:p>
        </p:txBody>
      </p:sp>
    </p:spTree>
    <p:extLst>
      <p:ext uri="{BB962C8B-B14F-4D97-AF65-F5344CB8AC3E}">
        <p14:creationId xmlns:p14="http://schemas.microsoft.com/office/powerpoint/2010/main" val="25450936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9624EC0-FB25-B3BE-AF36-961044CFFEC6}"/>
              </a:ext>
            </a:extLst>
          </p:cNvPr>
          <p:cNvPicPr>
            <a:picLocks noChangeAspect="1"/>
          </p:cNvPicPr>
          <p:nvPr/>
        </p:nvPicPr>
        <p:blipFill>
          <a:blip r:embed="rId3"/>
          <a:stretch>
            <a:fillRect/>
          </a:stretch>
        </p:blipFill>
        <p:spPr>
          <a:xfrm>
            <a:off x="794124" y="903423"/>
            <a:ext cx="10570930" cy="4987847"/>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1085445" y="307413"/>
            <a:ext cx="10477497" cy="898555"/>
          </a:xfrm>
        </p:spPr>
        <p:txBody>
          <a:bodyPr/>
          <a:lstStyle/>
          <a:p>
            <a:r>
              <a:rPr lang="es-ES_tradnl" dirty="0"/>
              <a:t>Asignar cohorte, por primera vez</a:t>
            </a:r>
            <a:endParaRPr lang="es-ES_tradnl" b="1" dirty="0"/>
          </a:p>
        </p:txBody>
      </p:sp>
      <p:sp>
        <p:nvSpPr>
          <p:cNvPr id="15" name="CuadroTexto 14">
            <a:extLst>
              <a:ext uri="{FF2B5EF4-FFF2-40B4-BE49-F238E27FC236}">
                <a16:creationId xmlns:a16="http://schemas.microsoft.com/office/drawing/2014/main" id="{AE59993E-A4F7-D3CC-F430-E020B382AA47}"/>
              </a:ext>
            </a:extLst>
          </p:cNvPr>
          <p:cNvSpPr txBox="1"/>
          <p:nvPr/>
        </p:nvSpPr>
        <p:spPr>
          <a:xfrm>
            <a:off x="1085446" y="1442194"/>
            <a:ext cx="289360" cy="228600"/>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1</a:t>
            </a:r>
            <a:endParaRPr lang="en-US" dirty="0"/>
          </a:p>
        </p:txBody>
      </p:sp>
      <p:sp>
        <p:nvSpPr>
          <p:cNvPr id="17" name="CuadroTexto 16">
            <a:extLst>
              <a:ext uri="{FF2B5EF4-FFF2-40B4-BE49-F238E27FC236}">
                <a16:creationId xmlns:a16="http://schemas.microsoft.com/office/drawing/2014/main" id="{4D19E2DB-6C62-C361-0CA7-B6062CDA5B74}"/>
              </a:ext>
            </a:extLst>
          </p:cNvPr>
          <p:cNvSpPr txBox="1"/>
          <p:nvPr/>
        </p:nvSpPr>
        <p:spPr>
          <a:xfrm>
            <a:off x="10719551" y="1473425"/>
            <a:ext cx="289360" cy="228600"/>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3</a:t>
            </a:r>
            <a:endParaRPr lang="en-US" dirty="0"/>
          </a:p>
        </p:txBody>
      </p:sp>
      <p:sp>
        <p:nvSpPr>
          <p:cNvPr id="18" name="CuadroTexto 17">
            <a:extLst>
              <a:ext uri="{FF2B5EF4-FFF2-40B4-BE49-F238E27FC236}">
                <a16:creationId xmlns:a16="http://schemas.microsoft.com/office/drawing/2014/main" id="{A9C944B3-5480-B44C-29DB-53C84F0BB36D}"/>
              </a:ext>
            </a:extLst>
          </p:cNvPr>
          <p:cNvSpPr txBox="1"/>
          <p:nvPr/>
        </p:nvSpPr>
        <p:spPr>
          <a:xfrm>
            <a:off x="5608521" y="1399032"/>
            <a:ext cx="289360" cy="228600"/>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dirty="0"/>
              <a:t>2</a:t>
            </a:r>
            <a:endParaRPr lang="en-US" dirty="0"/>
          </a:p>
        </p:txBody>
      </p:sp>
      <p:sp>
        <p:nvSpPr>
          <p:cNvPr id="21" name="Rectángulo: esquinas redondeadas 20">
            <a:extLst>
              <a:ext uri="{FF2B5EF4-FFF2-40B4-BE49-F238E27FC236}">
                <a16:creationId xmlns:a16="http://schemas.microsoft.com/office/drawing/2014/main" id="{8BE08A21-5773-2828-8D46-CC620AFD5A7F}"/>
              </a:ext>
            </a:extLst>
          </p:cNvPr>
          <p:cNvSpPr/>
          <p:nvPr/>
        </p:nvSpPr>
        <p:spPr>
          <a:xfrm>
            <a:off x="971143" y="5100463"/>
            <a:ext cx="10477498" cy="8541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419" sz="1100" dirty="0"/>
              <a:t>En </a:t>
            </a:r>
            <a:r>
              <a:rPr lang="es-419" sz="1100" b="1" dirty="0"/>
              <a:t>SGASADD</a:t>
            </a:r>
            <a:r>
              <a:rPr lang="es-419" sz="1100" dirty="0"/>
              <a:t>, ingrese el </a:t>
            </a:r>
            <a:r>
              <a:rPr lang="es-419" sz="1100" b="1" dirty="0"/>
              <a:t>ID</a:t>
            </a:r>
            <a:r>
              <a:rPr lang="es-419" sz="1100" dirty="0"/>
              <a:t>: código identificador del alumno del alumno al que desea asignar la cohorte.</a:t>
            </a:r>
          </a:p>
          <a:p>
            <a:pPr marL="342900" indent="-342900" algn="just">
              <a:buFont typeface="+mj-lt"/>
              <a:buAutoNum type="arabicPeriod"/>
            </a:pPr>
            <a:r>
              <a:rPr lang="es-419" sz="1100" b="1" dirty="0"/>
              <a:t>Periodo</a:t>
            </a:r>
            <a:r>
              <a:rPr lang="es-419" sz="1100" dirty="0"/>
              <a:t> en el cual se desea hacer la asignación. </a:t>
            </a:r>
          </a:p>
          <a:p>
            <a:pPr marL="342900" indent="-342900" algn="just">
              <a:buFont typeface="+mj-lt"/>
              <a:buAutoNum type="arabicPeriod"/>
            </a:pPr>
            <a:r>
              <a:rPr lang="es-CL" sz="1100" dirty="0"/>
              <a:t>Hacer clic en el botón </a:t>
            </a:r>
            <a:r>
              <a:rPr lang="es-CL" sz="1100" b="1" dirty="0"/>
              <a:t>Ir</a:t>
            </a:r>
            <a:r>
              <a:rPr lang="es-CL" sz="1100" dirty="0"/>
              <a:t>.</a:t>
            </a:r>
          </a:p>
        </p:txBody>
      </p:sp>
    </p:spTree>
    <p:extLst>
      <p:ext uri="{BB962C8B-B14F-4D97-AF65-F5344CB8AC3E}">
        <p14:creationId xmlns:p14="http://schemas.microsoft.com/office/powerpoint/2010/main" val="24120504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A7050D9-4206-B650-670F-C55B3D1F078B}"/>
              </a:ext>
            </a:extLst>
          </p:cNvPr>
          <p:cNvPicPr>
            <a:picLocks noChangeAspect="1"/>
          </p:cNvPicPr>
          <p:nvPr/>
        </p:nvPicPr>
        <p:blipFill>
          <a:blip r:embed="rId3"/>
          <a:stretch>
            <a:fillRect/>
          </a:stretch>
        </p:blipFill>
        <p:spPr>
          <a:xfrm>
            <a:off x="780439" y="1071476"/>
            <a:ext cx="10326116" cy="4883101"/>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1085445" y="307413"/>
            <a:ext cx="10477497" cy="898555"/>
          </a:xfrm>
        </p:spPr>
        <p:txBody>
          <a:bodyPr/>
          <a:lstStyle/>
          <a:p>
            <a:r>
              <a:rPr lang="es-ES_tradnl" dirty="0"/>
              <a:t>Asignar cohorte, por primera vez</a:t>
            </a:r>
            <a:endParaRPr lang="es-ES_tradnl" b="1" dirty="0"/>
          </a:p>
        </p:txBody>
      </p:sp>
      <p:sp>
        <p:nvSpPr>
          <p:cNvPr id="17" name="CuadroTexto 16">
            <a:extLst>
              <a:ext uri="{FF2B5EF4-FFF2-40B4-BE49-F238E27FC236}">
                <a16:creationId xmlns:a16="http://schemas.microsoft.com/office/drawing/2014/main" id="{4D19E2DB-6C62-C361-0CA7-B6062CDA5B74}"/>
              </a:ext>
            </a:extLst>
          </p:cNvPr>
          <p:cNvSpPr txBox="1"/>
          <p:nvPr/>
        </p:nvSpPr>
        <p:spPr>
          <a:xfrm>
            <a:off x="2585194" y="2168752"/>
            <a:ext cx="241801" cy="234275"/>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4</a:t>
            </a:r>
            <a:endParaRPr lang="en-US" dirty="0"/>
          </a:p>
        </p:txBody>
      </p:sp>
      <p:sp>
        <p:nvSpPr>
          <p:cNvPr id="21" name="Rectángulo: esquinas redondeadas 20">
            <a:extLst>
              <a:ext uri="{FF2B5EF4-FFF2-40B4-BE49-F238E27FC236}">
                <a16:creationId xmlns:a16="http://schemas.microsoft.com/office/drawing/2014/main" id="{8BE08A21-5773-2828-8D46-CC620AFD5A7F}"/>
              </a:ext>
            </a:extLst>
          </p:cNvPr>
          <p:cNvSpPr/>
          <p:nvPr/>
        </p:nvSpPr>
        <p:spPr>
          <a:xfrm>
            <a:off x="764452" y="3850005"/>
            <a:ext cx="10477498" cy="137305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4"/>
            </a:pPr>
            <a:r>
              <a:rPr lang="es-419" sz="1100" dirty="0"/>
              <a:t>Seleccione o digite el </a:t>
            </a:r>
            <a:r>
              <a:rPr lang="es-419" sz="1100" b="1" dirty="0"/>
              <a:t>código de la cohorte </a:t>
            </a:r>
            <a:r>
              <a:rPr lang="es-419" sz="1100" dirty="0"/>
              <a:t>que asignará al estudiante.</a:t>
            </a:r>
          </a:p>
          <a:p>
            <a:pPr marL="342900" indent="-342900" algn="just">
              <a:buFont typeface="+mj-lt"/>
              <a:buAutoNum type="arabicPeriod" startAt="5"/>
            </a:pPr>
            <a:r>
              <a:rPr lang="es-419" sz="1100" dirty="0"/>
              <a:t>Seleccionar el </a:t>
            </a:r>
            <a:r>
              <a:rPr lang="es-419" sz="1100" b="1" dirty="0"/>
              <a:t>Plan de estudios </a:t>
            </a:r>
            <a:r>
              <a:rPr lang="es-419" sz="1100" dirty="0"/>
              <a:t>para el que aplica el atributo, si aplica. Este campo no es obligatorio, pero si un atributo no es asociado al plan de estudios, significa que caracteriza al estudiante para todos los programas de la institución.</a:t>
            </a:r>
          </a:p>
          <a:p>
            <a:pPr algn="just">
              <a:spcBef>
                <a:spcPts val="600"/>
              </a:spcBef>
              <a:spcAft>
                <a:spcPts val="600"/>
              </a:spcAft>
            </a:pPr>
            <a:r>
              <a:rPr lang="es-419" sz="1100" b="1" dirty="0"/>
              <a:t>Es importante destacar que la corte inicial de los estudiantes vendrá asignada desde la admisión del este en el plan de estudios que corresponda.</a:t>
            </a:r>
            <a:endParaRPr lang="es-419" sz="1100" dirty="0"/>
          </a:p>
          <a:p>
            <a:pPr marL="342900" indent="-342900" algn="just">
              <a:buFont typeface="+mj-lt"/>
              <a:buAutoNum type="arabicPeriod" startAt="6"/>
            </a:pPr>
            <a:r>
              <a:rPr lang="es-419" sz="1100" b="1" dirty="0"/>
              <a:t>Guarde</a:t>
            </a:r>
            <a:r>
              <a:rPr lang="es-419" sz="1100" dirty="0"/>
              <a:t> la información</a:t>
            </a:r>
          </a:p>
        </p:txBody>
      </p:sp>
      <p:sp>
        <p:nvSpPr>
          <p:cNvPr id="12" name="CuadroTexto 11">
            <a:extLst>
              <a:ext uri="{FF2B5EF4-FFF2-40B4-BE49-F238E27FC236}">
                <a16:creationId xmlns:a16="http://schemas.microsoft.com/office/drawing/2014/main" id="{2B9F3C6B-E82C-A5BE-30F7-FD84020DE801}"/>
              </a:ext>
            </a:extLst>
          </p:cNvPr>
          <p:cNvSpPr txBox="1"/>
          <p:nvPr/>
        </p:nvSpPr>
        <p:spPr>
          <a:xfrm>
            <a:off x="7585463" y="2207172"/>
            <a:ext cx="241801" cy="234275"/>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5</a:t>
            </a:r>
          </a:p>
        </p:txBody>
      </p:sp>
      <p:sp>
        <p:nvSpPr>
          <p:cNvPr id="14" name="Flecha: hacia la izquierda 13">
            <a:extLst>
              <a:ext uri="{FF2B5EF4-FFF2-40B4-BE49-F238E27FC236}">
                <a16:creationId xmlns:a16="http://schemas.microsoft.com/office/drawing/2014/main" id="{ADC89392-1B2F-79D3-E677-2E66B4D012EF}"/>
              </a:ext>
            </a:extLst>
          </p:cNvPr>
          <p:cNvSpPr/>
          <p:nvPr/>
        </p:nvSpPr>
        <p:spPr>
          <a:xfrm rot="10800000">
            <a:off x="10437278" y="5740804"/>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4031EEAD-B990-4B19-B486-7C74AC0E3F0C}"/>
              </a:ext>
            </a:extLst>
          </p:cNvPr>
          <p:cNvSpPr txBox="1"/>
          <p:nvPr/>
        </p:nvSpPr>
        <p:spPr>
          <a:xfrm>
            <a:off x="10093340" y="5678802"/>
            <a:ext cx="301753" cy="215444"/>
          </a:xfrm>
          <a:prstGeom prst="rect">
            <a:avLst/>
          </a:prstGeom>
          <a:solidFill>
            <a:schemeClr val="accent3"/>
          </a:solidFill>
        </p:spPr>
        <p:txBody>
          <a:bodyPr wrap="square" rtlCol="0">
            <a:spAutoFit/>
          </a:bodyPr>
          <a:lstStyle/>
          <a:p>
            <a:pPr algn="ctr"/>
            <a:r>
              <a:rPr lang="en-US" sz="800" dirty="0">
                <a:solidFill>
                  <a:schemeClr val="bg1"/>
                </a:solidFill>
              </a:rPr>
              <a:t>6</a:t>
            </a:r>
          </a:p>
        </p:txBody>
      </p:sp>
    </p:spTree>
    <p:extLst>
      <p:ext uri="{BB962C8B-B14F-4D97-AF65-F5344CB8AC3E}">
        <p14:creationId xmlns:p14="http://schemas.microsoft.com/office/powerpoint/2010/main" val="781506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71144" y="296436"/>
            <a:ext cx="10477497" cy="898555"/>
          </a:xfrm>
        </p:spPr>
        <p:txBody>
          <a:bodyPr/>
          <a:lstStyle/>
          <a:p>
            <a:r>
              <a:rPr lang="es-ES_tradnl" dirty="0"/>
              <a:t>Cambiar cohorte</a:t>
            </a:r>
            <a:endParaRPr lang="es-ES_tradnl" b="1" dirty="0"/>
          </a:p>
        </p:txBody>
      </p:sp>
      <p:sp>
        <p:nvSpPr>
          <p:cNvPr id="12" name="Rectángulo: esquinas redondeadas 11">
            <a:extLst>
              <a:ext uri="{FF2B5EF4-FFF2-40B4-BE49-F238E27FC236}">
                <a16:creationId xmlns:a16="http://schemas.microsoft.com/office/drawing/2014/main" id="{497BA441-A840-EAB9-BD2E-19C60037590D}"/>
              </a:ext>
            </a:extLst>
          </p:cNvPr>
          <p:cNvSpPr/>
          <p:nvPr/>
        </p:nvSpPr>
        <p:spPr>
          <a:xfrm>
            <a:off x="971143" y="5100463"/>
            <a:ext cx="10477498" cy="8541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419" sz="1100" dirty="0"/>
              <a:t>En </a:t>
            </a:r>
            <a:r>
              <a:rPr lang="es-419" sz="1100" b="1" dirty="0"/>
              <a:t>SGASADD</a:t>
            </a:r>
            <a:r>
              <a:rPr lang="es-419" sz="1100" dirty="0"/>
              <a:t>, ingrese el </a:t>
            </a:r>
            <a:r>
              <a:rPr lang="es-419" sz="1100" b="1" dirty="0"/>
              <a:t>ID</a:t>
            </a:r>
            <a:r>
              <a:rPr lang="es-419" sz="1100" dirty="0"/>
              <a:t>: código identificador del alumno del alumno al que desea asignar el atributo.</a:t>
            </a:r>
          </a:p>
          <a:p>
            <a:pPr marL="342900" indent="-342900" algn="just">
              <a:buFont typeface="+mj-lt"/>
              <a:buAutoNum type="arabicPeriod"/>
            </a:pPr>
            <a:r>
              <a:rPr lang="es-419" sz="1100" b="1" dirty="0"/>
              <a:t>Periodo</a:t>
            </a:r>
            <a:r>
              <a:rPr lang="es-419" sz="1100" dirty="0"/>
              <a:t> en el cual se desea hacer la asignación. </a:t>
            </a:r>
          </a:p>
          <a:p>
            <a:pPr marL="342900" indent="-342900" algn="just">
              <a:buFont typeface="+mj-lt"/>
              <a:buAutoNum type="arabicPeriod"/>
            </a:pPr>
            <a:r>
              <a:rPr lang="es-CL" sz="1100" dirty="0"/>
              <a:t>Hacer clic en el botón </a:t>
            </a:r>
            <a:r>
              <a:rPr lang="es-CL" sz="1100" b="1" dirty="0"/>
              <a:t>Ir</a:t>
            </a:r>
            <a:r>
              <a:rPr lang="es-CL" sz="1100" dirty="0"/>
              <a:t>.</a:t>
            </a:r>
          </a:p>
        </p:txBody>
      </p:sp>
      <p:pic>
        <p:nvPicPr>
          <p:cNvPr id="3" name="Imagen 2">
            <a:extLst>
              <a:ext uri="{FF2B5EF4-FFF2-40B4-BE49-F238E27FC236}">
                <a16:creationId xmlns:a16="http://schemas.microsoft.com/office/drawing/2014/main" id="{DCF01B91-0986-63EE-B70D-E4C260097F51}"/>
              </a:ext>
            </a:extLst>
          </p:cNvPr>
          <p:cNvPicPr>
            <a:picLocks noChangeAspect="1"/>
          </p:cNvPicPr>
          <p:nvPr/>
        </p:nvPicPr>
        <p:blipFill>
          <a:blip r:embed="rId3"/>
          <a:stretch>
            <a:fillRect/>
          </a:stretch>
        </p:blipFill>
        <p:spPr>
          <a:xfrm>
            <a:off x="946524" y="1055823"/>
            <a:ext cx="10570930" cy="4987847"/>
          </a:xfrm>
          <a:prstGeom prst="rect">
            <a:avLst/>
          </a:prstGeom>
        </p:spPr>
      </p:pic>
      <p:sp>
        <p:nvSpPr>
          <p:cNvPr id="4" name="CuadroTexto 3">
            <a:extLst>
              <a:ext uri="{FF2B5EF4-FFF2-40B4-BE49-F238E27FC236}">
                <a16:creationId xmlns:a16="http://schemas.microsoft.com/office/drawing/2014/main" id="{96C2E582-66E2-22B1-FA9D-E6A11E169D44}"/>
              </a:ext>
            </a:extLst>
          </p:cNvPr>
          <p:cNvSpPr txBox="1"/>
          <p:nvPr/>
        </p:nvSpPr>
        <p:spPr>
          <a:xfrm>
            <a:off x="1237845" y="1573812"/>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1</a:t>
            </a:r>
            <a:endParaRPr lang="en-US" dirty="0"/>
          </a:p>
        </p:txBody>
      </p:sp>
      <p:sp>
        <p:nvSpPr>
          <p:cNvPr id="8" name="CuadroTexto 7">
            <a:extLst>
              <a:ext uri="{FF2B5EF4-FFF2-40B4-BE49-F238E27FC236}">
                <a16:creationId xmlns:a16="http://schemas.microsoft.com/office/drawing/2014/main" id="{D844611F-77CF-E338-C51E-741A02146BB3}"/>
              </a:ext>
            </a:extLst>
          </p:cNvPr>
          <p:cNvSpPr txBox="1"/>
          <p:nvPr/>
        </p:nvSpPr>
        <p:spPr>
          <a:xfrm>
            <a:off x="10871950" y="1605043"/>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3</a:t>
            </a:r>
            <a:endParaRPr lang="en-US" dirty="0"/>
          </a:p>
        </p:txBody>
      </p:sp>
      <p:sp>
        <p:nvSpPr>
          <p:cNvPr id="15" name="CuadroTexto 14">
            <a:extLst>
              <a:ext uri="{FF2B5EF4-FFF2-40B4-BE49-F238E27FC236}">
                <a16:creationId xmlns:a16="http://schemas.microsoft.com/office/drawing/2014/main" id="{6F45123E-B5C4-95FF-1314-D88D1E3E2F0C}"/>
              </a:ext>
            </a:extLst>
          </p:cNvPr>
          <p:cNvSpPr txBox="1"/>
          <p:nvPr/>
        </p:nvSpPr>
        <p:spPr>
          <a:xfrm>
            <a:off x="5760920" y="1530650"/>
            <a:ext cx="301753" cy="215444"/>
          </a:xfrm>
          <a:prstGeom prst="rect">
            <a:avLst/>
          </a:prstGeom>
          <a:solidFill>
            <a:schemeClr val="accent3"/>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dirty="0"/>
              <a:t>2</a:t>
            </a:r>
            <a:endParaRPr lang="en-US" dirty="0"/>
          </a:p>
        </p:txBody>
      </p:sp>
      <p:sp>
        <p:nvSpPr>
          <p:cNvPr id="16" name="Rectángulo: esquinas redondeadas 15">
            <a:extLst>
              <a:ext uri="{FF2B5EF4-FFF2-40B4-BE49-F238E27FC236}">
                <a16:creationId xmlns:a16="http://schemas.microsoft.com/office/drawing/2014/main" id="{96ADC77B-C2C7-43CD-19D7-888C5C00BF66}"/>
              </a:ext>
            </a:extLst>
          </p:cNvPr>
          <p:cNvSpPr/>
          <p:nvPr/>
        </p:nvSpPr>
        <p:spPr>
          <a:xfrm>
            <a:off x="1123543" y="5252863"/>
            <a:ext cx="10477498" cy="8541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419" sz="1100" dirty="0"/>
              <a:t>En </a:t>
            </a:r>
            <a:r>
              <a:rPr lang="es-419" sz="1100" b="1" dirty="0"/>
              <a:t>SGASADD</a:t>
            </a:r>
            <a:r>
              <a:rPr lang="es-419" sz="1100" dirty="0"/>
              <a:t>, ingrese el </a:t>
            </a:r>
            <a:r>
              <a:rPr lang="es-419" sz="1100" b="1" dirty="0"/>
              <a:t>ID</a:t>
            </a:r>
            <a:r>
              <a:rPr lang="es-419" sz="1100" dirty="0"/>
              <a:t>: código identificador del alumno del alumno al que desea asignar la cohorte.</a:t>
            </a:r>
          </a:p>
          <a:p>
            <a:pPr marL="342900" indent="-342900" algn="just">
              <a:buFont typeface="+mj-lt"/>
              <a:buAutoNum type="arabicPeriod"/>
            </a:pPr>
            <a:r>
              <a:rPr lang="es-419" sz="1100" b="1" dirty="0"/>
              <a:t>Periodo</a:t>
            </a:r>
            <a:r>
              <a:rPr lang="es-419" sz="1100" dirty="0"/>
              <a:t> en el cual se desea hacer la asignación. </a:t>
            </a:r>
          </a:p>
          <a:p>
            <a:pPr marL="342900" indent="-342900" algn="just">
              <a:buFont typeface="+mj-lt"/>
              <a:buAutoNum type="arabicPeriod"/>
            </a:pPr>
            <a:r>
              <a:rPr lang="es-CL" sz="1100" dirty="0"/>
              <a:t>Hacer clic en el botón </a:t>
            </a:r>
            <a:r>
              <a:rPr lang="es-CL" sz="1100" b="1" dirty="0"/>
              <a:t>Ir</a:t>
            </a:r>
            <a:r>
              <a:rPr lang="es-CL" sz="1100" dirty="0"/>
              <a:t>.</a:t>
            </a:r>
          </a:p>
        </p:txBody>
      </p:sp>
    </p:spTree>
    <p:extLst>
      <p:ext uri="{BB962C8B-B14F-4D97-AF65-F5344CB8AC3E}">
        <p14:creationId xmlns:p14="http://schemas.microsoft.com/office/powerpoint/2010/main" val="1615961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9A7FF49-0603-48EC-F58D-27733AAD7B88}"/>
              </a:ext>
            </a:extLst>
          </p:cNvPr>
          <p:cNvPicPr>
            <a:picLocks noChangeAspect="1"/>
          </p:cNvPicPr>
          <p:nvPr/>
        </p:nvPicPr>
        <p:blipFill>
          <a:blip r:embed="rId3"/>
          <a:stretch>
            <a:fillRect/>
          </a:stretch>
        </p:blipFill>
        <p:spPr>
          <a:xfrm>
            <a:off x="803746" y="1090695"/>
            <a:ext cx="11038149" cy="5222536"/>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Cambiar cohorte</a:t>
            </a:r>
            <a:endParaRPr lang="es-ES_tradnl" b="1" dirty="0"/>
          </a:p>
        </p:txBody>
      </p:sp>
      <p:sp>
        <p:nvSpPr>
          <p:cNvPr id="10" name="CuadroTexto 9">
            <a:extLst>
              <a:ext uri="{FF2B5EF4-FFF2-40B4-BE49-F238E27FC236}">
                <a16:creationId xmlns:a16="http://schemas.microsoft.com/office/drawing/2014/main" id="{949D4C82-4D62-2B0F-8D0E-2A6115818B74}"/>
              </a:ext>
            </a:extLst>
          </p:cNvPr>
          <p:cNvSpPr txBox="1"/>
          <p:nvPr/>
        </p:nvSpPr>
        <p:spPr>
          <a:xfrm>
            <a:off x="11388255" y="2069070"/>
            <a:ext cx="197194" cy="189498"/>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CO"/>
              <a:t>4</a:t>
            </a:r>
            <a:endParaRPr lang="en-US" dirty="0"/>
          </a:p>
        </p:txBody>
      </p:sp>
      <p:sp>
        <p:nvSpPr>
          <p:cNvPr id="11" name="Rectángulo: esquinas redondeadas 10">
            <a:extLst>
              <a:ext uri="{FF2B5EF4-FFF2-40B4-BE49-F238E27FC236}">
                <a16:creationId xmlns:a16="http://schemas.microsoft.com/office/drawing/2014/main" id="{6917D55D-323C-E606-CBD3-8235749DA208}"/>
              </a:ext>
            </a:extLst>
          </p:cNvPr>
          <p:cNvSpPr/>
          <p:nvPr/>
        </p:nvSpPr>
        <p:spPr>
          <a:xfrm>
            <a:off x="1273113" y="4852812"/>
            <a:ext cx="10115141" cy="91449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419" sz="1100" dirty="0"/>
              <a:t>El campo “</a:t>
            </a:r>
            <a:r>
              <a:rPr lang="es-419" sz="1100" b="1" dirty="0"/>
              <a:t>De período</a:t>
            </a:r>
            <a:r>
              <a:rPr lang="es-419" sz="1100" dirty="0"/>
              <a:t>” muestra el período en el que fue asignada la cohorte inicialmente a un estudiante y el cambio se está realizando en un período posterior.</a:t>
            </a:r>
          </a:p>
          <a:p>
            <a:pPr marL="342900" indent="-342900" algn="just">
              <a:buFont typeface="+mj-lt"/>
              <a:buAutoNum type="arabicPeriod" startAt="4"/>
            </a:pPr>
            <a:r>
              <a:rPr lang="es-419" sz="1100" dirty="0"/>
              <a:t>Presione la opción “</a:t>
            </a:r>
            <a:r>
              <a:rPr lang="es-419" sz="1100" b="1" dirty="0"/>
              <a:t>Copiar</a:t>
            </a:r>
            <a:r>
              <a:rPr lang="es-419" sz="1100" dirty="0"/>
              <a:t>”.</a:t>
            </a:r>
          </a:p>
          <a:p>
            <a:pPr algn="just"/>
            <a:endParaRPr lang="es-419" sz="1100" dirty="0"/>
          </a:p>
        </p:txBody>
      </p:sp>
    </p:spTree>
    <p:extLst>
      <p:ext uri="{BB962C8B-B14F-4D97-AF65-F5344CB8AC3E}">
        <p14:creationId xmlns:p14="http://schemas.microsoft.com/office/powerpoint/2010/main" val="1607909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EF80BBB-19DE-CC19-CD4E-239A47A6A5F8}"/>
              </a:ext>
            </a:extLst>
          </p:cNvPr>
          <p:cNvPicPr>
            <a:picLocks noChangeAspect="1"/>
          </p:cNvPicPr>
          <p:nvPr/>
        </p:nvPicPr>
        <p:blipFill>
          <a:blip r:embed="rId3"/>
          <a:stretch>
            <a:fillRect/>
          </a:stretch>
        </p:blipFill>
        <p:spPr>
          <a:xfrm>
            <a:off x="743358" y="1239614"/>
            <a:ext cx="10726091" cy="5071940"/>
          </a:xfrm>
          <a:prstGeom prst="rect">
            <a:avLst/>
          </a:prstGeom>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Cambiar cohorte</a:t>
            </a:r>
            <a:endParaRPr lang="es-ES_tradnl" b="1" dirty="0"/>
          </a:p>
        </p:txBody>
      </p:sp>
      <p:sp>
        <p:nvSpPr>
          <p:cNvPr id="11" name="Rectángulo: esquinas redondeadas 10">
            <a:extLst>
              <a:ext uri="{FF2B5EF4-FFF2-40B4-BE49-F238E27FC236}">
                <a16:creationId xmlns:a16="http://schemas.microsoft.com/office/drawing/2014/main" id="{6917D55D-323C-E606-CBD3-8235749DA208}"/>
              </a:ext>
            </a:extLst>
          </p:cNvPr>
          <p:cNvSpPr/>
          <p:nvPr/>
        </p:nvSpPr>
        <p:spPr>
          <a:xfrm>
            <a:off x="971143" y="3975061"/>
            <a:ext cx="10477498" cy="13113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419" sz="1100" dirty="0"/>
              <a:t>El período efectivo, ahora, corresponde al mismo período ingresado en la información inicial.</a:t>
            </a:r>
          </a:p>
          <a:p>
            <a:pPr algn="just"/>
            <a:endParaRPr lang="es-419" sz="1100" dirty="0"/>
          </a:p>
          <a:p>
            <a:pPr marL="228600" indent="-228600" algn="just">
              <a:buFont typeface="+mj-lt"/>
              <a:buAutoNum type="arabicPeriod" startAt="5"/>
            </a:pPr>
            <a:r>
              <a:rPr lang="es-419" sz="1100" dirty="0"/>
              <a:t>Marque la casilla Inactivo para indicar que esa cohorte ya no es la actual del estudiante. </a:t>
            </a:r>
          </a:p>
          <a:p>
            <a:pPr marL="228600" indent="-228600" algn="just">
              <a:buFont typeface="+mj-lt"/>
              <a:buAutoNum type="arabicPeriod" startAt="5"/>
            </a:pPr>
            <a:r>
              <a:rPr lang="es-419" sz="1100" dirty="0"/>
              <a:t>Opcional seleccione o digite el código de razón por la cual se está inactivando la cohorte. </a:t>
            </a:r>
          </a:p>
          <a:p>
            <a:pPr marL="228600" indent="-228600" algn="just">
              <a:buFont typeface="+mj-lt"/>
              <a:buAutoNum type="arabicPeriod" startAt="5"/>
            </a:pPr>
            <a:r>
              <a:rPr lang="es-419" sz="1100" dirty="0"/>
              <a:t>Presione el botón Guardar.</a:t>
            </a:r>
          </a:p>
        </p:txBody>
      </p:sp>
      <p:sp>
        <p:nvSpPr>
          <p:cNvPr id="10" name="CuadroTexto 9">
            <a:extLst>
              <a:ext uri="{FF2B5EF4-FFF2-40B4-BE49-F238E27FC236}">
                <a16:creationId xmlns:a16="http://schemas.microsoft.com/office/drawing/2014/main" id="{4C792C95-4420-8310-6D94-8B04CB7458A2}"/>
              </a:ext>
            </a:extLst>
          </p:cNvPr>
          <p:cNvSpPr txBox="1"/>
          <p:nvPr/>
        </p:nvSpPr>
        <p:spPr>
          <a:xfrm>
            <a:off x="6834029" y="2391893"/>
            <a:ext cx="225140" cy="214147"/>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5</a:t>
            </a:r>
          </a:p>
        </p:txBody>
      </p:sp>
      <p:sp>
        <p:nvSpPr>
          <p:cNvPr id="14" name="CuadroTexto 13">
            <a:extLst>
              <a:ext uri="{FF2B5EF4-FFF2-40B4-BE49-F238E27FC236}">
                <a16:creationId xmlns:a16="http://schemas.microsoft.com/office/drawing/2014/main" id="{2CECAFF6-4CEE-F76A-DBFF-487F70FA5DC1}"/>
              </a:ext>
            </a:extLst>
          </p:cNvPr>
          <p:cNvSpPr txBox="1"/>
          <p:nvPr/>
        </p:nvSpPr>
        <p:spPr>
          <a:xfrm>
            <a:off x="10218784" y="2391893"/>
            <a:ext cx="225140" cy="214147"/>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6</a:t>
            </a:r>
          </a:p>
        </p:txBody>
      </p:sp>
      <p:sp>
        <p:nvSpPr>
          <p:cNvPr id="16" name="CuadroTexto 15">
            <a:extLst>
              <a:ext uri="{FF2B5EF4-FFF2-40B4-BE49-F238E27FC236}">
                <a16:creationId xmlns:a16="http://schemas.microsoft.com/office/drawing/2014/main" id="{89849DB9-5DEE-3EF3-CE55-06085E46D47C}"/>
              </a:ext>
            </a:extLst>
          </p:cNvPr>
          <p:cNvSpPr txBox="1"/>
          <p:nvPr/>
        </p:nvSpPr>
        <p:spPr>
          <a:xfrm>
            <a:off x="10604604" y="6064477"/>
            <a:ext cx="225140" cy="214147"/>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7</a:t>
            </a:r>
          </a:p>
        </p:txBody>
      </p:sp>
    </p:spTree>
    <p:extLst>
      <p:ext uri="{BB962C8B-B14F-4D97-AF65-F5344CB8AC3E}">
        <p14:creationId xmlns:p14="http://schemas.microsoft.com/office/powerpoint/2010/main" val="879759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8FE7986A-2405-76FC-28CD-5E1974919F92}"/>
              </a:ext>
            </a:extLst>
          </p:cNvPr>
          <p:cNvPicPr>
            <a:picLocks noChangeAspect="1"/>
          </p:cNvPicPr>
          <p:nvPr/>
        </p:nvPicPr>
        <p:blipFill>
          <a:blip r:embed="rId3"/>
          <a:stretch>
            <a:fillRect/>
          </a:stretch>
        </p:blipFill>
        <p:spPr>
          <a:xfrm>
            <a:off x="743359" y="1140542"/>
            <a:ext cx="10906532" cy="5188434"/>
          </a:xfrm>
          <a:prstGeom prst="rect">
            <a:avLst/>
          </a:prstGeom>
          <a:solidFill>
            <a:schemeClr val="accent3"/>
          </a:solidFill>
          <a:ln>
            <a:noFill/>
          </a:ln>
        </p:spPr>
      </p:pic>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Cambiar cohorte</a:t>
            </a:r>
            <a:endParaRPr lang="es-ES_tradnl" b="1" dirty="0"/>
          </a:p>
        </p:txBody>
      </p:sp>
      <p:sp>
        <p:nvSpPr>
          <p:cNvPr id="11" name="Rectángulo: esquinas redondeadas 10">
            <a:extLst>
              <a:ext uri="{FF2B5EF4-FFF2-40B4-BE49-F238E27FC236}">
                <a16:creationId xmlns:a16="http://schemas.microsoft.com/office/drawing/2014/main" id="{6917D55D-323C-E606-CBD3-8235749DA208}"/>
              </a:ext>
            </a:extLst>
          </p:cNvPr>
          <p:cNvSpPr/>
          <p:nvPr/>
        </p:nvSpPr>
        <p:spPr>
          <a:xfrm>
            <a:off x="971143" y="3975061"/>
            <a:ext cx="10477498" cy="13113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lgn="just">
              <a:buFont typeface="+mj-lt"/>
              <a:buAutoNum type="arabicPeriod" startAt="8"/>
            </a:pPr>
            <a:r>
              <a:rPr lang="es-419" sz="1100" dirty="0"/>
              <a:t>Presione el botón </a:t>
            </a:r>
            <a:r>
              <a:rPr lang="es-419" sz="1100" b="1" dirty="0"/>
              <a:t>Insertar</a:t>
            </a:r>
            <a:r>
              <a:rPr lang="es-419" sz="1100" dirty="0"/>
              <a:t> para agregar la nueva cohorte del estudiante. </a:t>
            </a:r>
          </a:p>
          <a:p>
            <a:pPr marL="228600" indent="-228600" algn="just">
              <a:buFont typeface="+mj-lt"/>
              <a:buAutoNum type="arabicPeriod" startAt="8"/>
            </a:pPr>
            <a:r>
              <a:rPr lang="es-419" sz="1100" dirty="0"/>
              <a:t>Seleccione o digite el código de cohorte que va a asignar. </a:t>
            </a:r>
          </a:p>
          <a:p>
            <a:pPr marL="228600" indent="-228600" algn="just">
              <a:buFont typeface="+mj-lt"/>
              <a:buAutoNum type="arabicPeriod" startAt="8"/>
            </a:pPr>
            <a:r>
              <a:rPr lang="es-419" sz="1100" dirty="0"/>
              <a:t>Seleccione el plan de estudios para el cual se está asignando la nueva cohorte.</a:t>
            </a:r>
          </a:p>
          <a:p>
            <a:pPr marL="228600" indent="-228600" algn="just">
              <a:buFont typeface="+mj-lt"/>
              <a:buAutoNum type="arabicPeriod" startAt="8"/>
            </a:pPr>
            <a:r>
              <a:rPr lang="es-419" sz="1100" dirty="0"/>
              <a:t>Presione el botón Guardar.</a:t>
            </a:r>
          </a:p>
        </p:txBody>
      </p:sp>
      <p:sp>
        <p:nvSpPr>
          <p:cNvPr id="10" name="CuadroTexto 9">
            <a:extLst>
              <a:ext uri="{FF2B5EF4-FFF2-40B4-BE49-F238E27FC236}">
                <a16:creationId xmlns:a16="http://schemas.microsoft.com/office/drawing/2014/main" id="{4C792C95-4420-8310-6D94-8B04CB7458A2}"/>
              </a:ext>
            </a:extLst>
          </p:cNvPr>
          <p:cNvSpPr txBox="1"/>
          <p:nvPr/>
        </p:nvSpPr>
        <p:spPr>
          <a:xfrm>
            <a:off x="1974193" y="2492201"/>
            <a:ext cx="301753" cy="215444"/>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9</a:t>
            </a:r>
          </a:p>
        </p:txBody>
      </p:sp>
      <p:sp>
        <p:nvSpPr>
          <p:cNvPr id="14" name="CuadroTexto 13">
            <a:extLst>
              <a:ext uri="{FF2B5EF4-FFF2-40B4-BE49-F238E27FC236}">
                <a16:creationId xmlns:a16="http://schemas.microsoft.com/office/drawing/2014/main" id="{2CECAFF6-4CEE-F76A-DBFF-487F70FA5DC1}"/>
              </a:ext>
            </a:extLst>
          </p:cNvPr>
          <p:cNvSpPr txBox="1"/>
          <p:nvPr/>
        </p:nvSpPr>
        <p:spPr>
          <a:xfrm>
            <a:off x="7705718" y="2492201"/>
            <a:ext cx="301753" cy="215444"/>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10</a:t>
            </a:r>
            <a:endParaRPr lang="en-US" dirty="0"/>
          </a:p>
        </p:txBody>
      </p:sp>
      <p:sp>
        <p:nvSpPr>
          <p:cNvPr id="16" name="CuadroTexto 15">
            <a:extLst>
              <a:ext uri="{FF2B5EF4-FFF2-40B4-BE49-F238E27FC236}">
                <a16:creationId xmlns:a16="http://schemas.microsoft.com/office/drawing/2014/main" id="{89849DB9-5DEE-3EF3-CE55-06085E46D47C}"/>
              </a:ext>
            </a:extLst>
          </p:cNvPr>
          <p:cNvSpPr txBox="1"/>
          <p:nvPr/>
        </p:nvSpPr>
        <p:spPr>
          <a:xfrm>
            <a:off x="10732423" y="6064477"/>
            <a:ext cx="301753" cy="215444"/>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11</a:t>
            </a:r>
          </a:p>
        </p:txBody>
      </p:sp>
      <p:sp>
        <p:nvSpPr>
          <p:cNvPr id="6" name="CuadroTexto 5">
            <a:extLst>
              <a:ext uri="{FF2B5EF4-FFF2-40B4-BE49-F238E27FC236}">
                <a16:creationId xmlns:a16="http://schemas.microsoft.com/office/drawing/2014/main" id="{A3ED5DE4-DFE5-2596-2B91-8E05839E6999}"/>
              </a:ext>
            </a:extLst>
          </p:cNvPr>
          <p:cNvSpPr txBox="1"/>
          <p:nvPr/>
        </p:nvSpPr>
        <p:spPr>
          <a:xfrm>
            <a:off x="11146888" y="2127095"/>
            <a:ext cx="301753" cy="215444"/>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algn="ctr" defTabSz="457200">
              <a:defRPr sz="800">
                <a:solidFill>
                  <a:schemeClr val="bg1"/>
                </a:solidFil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8</a:t>
            </a:r>
            <a:endParaRPr lang="en-US" dirty="0"/>
          </a:p>
        </p:txBody>
      </p:sp>
    </p:spTree>
    <p:extLst>
      <p:ext uri="{BB962C8B-B14F-4D97-AF65-F5344CB8AC3E}">
        <p14:creationId xmlns:p14="http://schemas.microsoft.com/office/powerpoint/2010/main" val="2834456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B1A58E4-C2EC-CD6C-F51C-42A83B279FE9}"/>
              </a:ext>
            </a:extLst>
          </p:cNvPr>
          <p:cNvSpPr>
            <a:spLocks noGrp="1"/>
          </p:cNvSpPr>
          <p:nvPr>
            <p:ph type="body" orient="vert" sz="quarter" idx="17"/>
          </p:nvPr>
        </p:nvSpPr>
        <p:spPr/>
        <p:txBody>
          <a:bodyPr/>
          <a:lstStyle/>
          <a:p>
            <a:r>
              <a:rPr lang="es-ES_tradnl" dirty="0"/>
              <a:t>Actualizar características del estudiante</a:t>
            </a:r>
            <a:endParaRPr lang="es-419" dirty="0"/>
          </a:p>
        </p:txBody>
      </p:sp>
      <p:sp>
        <p:nvSpPr>
          <p:cNvPr id="13" name="Title 12"/>
          <p:cNvSpPr>
            <a:spLocks noGrp="1"/>
          </p:cNvSpPr>
          <p:nvPr>
            <p:ph type="title"/>
          </p:nvPr>
        </p:nvSpPr>
        <p:spPr>
          <a:xfrm>
            <a:off x="910757" y="341059"/>
            <a:ext cx="10477497" cy="898555"/>
          </a:xfrm>
        </p:spPr>
        <p:txBody>
          <a:bodyPr/>
          <a:lstStyle/>
          <a:p>
            <a:r>
              <a:rPr lang="es-ES_tradnl" dirty="0"/>
              <a:t>Vigencia de la cohorte</a:t>
            </a:r>
            <a:endParaRPr lang="es-ES_tradnl" b="1" dirty="0"/>
          </a:p>
        </p:txBody>
      </p:sp>
      <p:sp>
        <p:nvSpPr>
          <p:cNvPr id="11" name="Rectángulo: esquinas redondeadas 10">
            <a:extLst>
              <a:ext uri="{FF2B5EF4-FFF2-40B4-BE49-F238E27FC236}">
                <a16:creationId xmlns:a16="http://schemas.microsoft.com/office/drawing/2014/main" id="{6917D55D-323C-E606-CBD3-8235749DA208}"/>
              </a:ext>
            </a:extLst>
          </p:cNvPr>
          <p:cNvSpPr/>
          <p:nvPr/>
        </p:nvSpPr>
        <p:spPr>
          <a:xfrm>
            <a:off x="910757" y="2905431"/>
            <a:ext cx="10477498" cy="131131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419" sz="1100" dirty="0"/>
              <a:t>Las cohortes asignadas a los estudiantes son efectivas entre los períodos que se indican en los campos “De período” y “A período”.</a:t>
            </a:r>
          </a:p>
          <a:p>
            <a:pPr algn="just"/>
            <a:endParaRPr lang="es-419" sz="1100" dirty="0"/>
          </a:p>
          <a:p>
            <a:pPr algn="just"/>
            <a:r>
              <a:rPr lang="es-419" sz="1100" dirty="0"/>
              <a:t>Si el campo “A período” corresponde al código 999999 (Fin de los tiempos) significa que esa cohorte está vigente para el estudiante desde el período de asignación y ésta no se ha cambiado.</a:t>
            </a:r>
          </a:p>
          <a:p>
            <a:pPr algn="just"/>
            <a:endParaRPr lang="es-419" sz="1100" dirty="0"/>
          </a:p>
          <a:p>
            <a:pPr algn="just"/>
            <a:r>
              <a:rPr lang="es-419" sz="1100" dirty="0"/>
              <a:t>Para el caso de las cohortes, adicionalmente se lleva el registro de las cohortes activas e inactivas, siempre que no se eliminen los registros.</a:t>
            </a:r>
          </a:p>
        </p:txBody>
      </p:sp>
      <p:pic>
        <p:nvPicPr>
          <p:cNvPr id="4" name="Imagen 3">
            <a:extLst>
              <a:ext uri="{FF2B5EF4-FFF2-40B4-BE49-F238E27FC236}">
                <a16:creationId xmlns:a16="http://schemas.microsoft.com/office/drawing/2014/main" id="{F7D3E31D-1047-D5E8-4261-AD822BAEE9EF}"/>
              </a:ext>
            </a:extLst>
          </p:cNvPr>
          <p:cNvPicPr>
            <a:picLocks noChangeAspect="1"/>
          </p:cNvPicPr>
          <p:nvPr/>
        </p:nvPicPr>
        <p:blipFill>
          <a:blip r:embed="rId3"/>
          <a:stretch>
            <a:fillRect/>
          </a:stretch>
        </p:blipFill>
        <p:spPr>
          <a:xfrm>
            <a:off x="810564" y="4367975"/>
            <a:ext cx="11134725" cy="1687080"/>
          </a:xfrm>
          <a:prstGeom prst="rect">
            <a:avLst/>
          </a:prstGeom>
        </p:spPr>
      </p:pic>
      <p:pic>
        <p:nvPicPr>
          <p:cNvPr id="8" name="Imagen 7">
            <a:extLst>
              <a:ext uri="{FF2B5EF4-FFF2-40B4-BE49-F238E27FC236}">
                <a16:creationId xmlns:a16="http://schemas.microsoft.com/office/drawing/2014/main" id="{1B645976-8DF9-FC84-4342-50522CCD37E2}"/>
              </a:ext>
            </a:extLst>
          </p:cNvPr>
          <p:cNvPicPr>
            <a:picLocks noChangeAspect="1"/>
          </p:cNvPicPr>
          <p:nvPr/>
        </p:nvPicPr>
        <p:blipFill>
          <a:blip r:embed="rId4"/>
          <a:stretch>
            <a:fillRect/>
          </a:stretch>
        </p:blipFill>
        <p:spPr>
          <a:xfrm>
            <a:off x="803746" y="1074301"/>
            <a:ext cx="11134725" cy="1534221"/>
          </a:xfrm>
          <a:prstGeom prst="rect">
            <a:avLst/>
          </a:prstGeom>
        </p:spPr>
      </p:pic>
    </p:spTree>
    <p:extLst>
      <p:ext uri="{BB962C8B-B14F-4D97-AF65-F5344CB8AC3E}">
        <p14:creationId xmlns:p14="http://schemas.microsoft.com/office/powerpoint/2010/main" val="1347190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 dirty="0"/>
              <a:t>Actualizar características del estudiante</a:t>
            </a:r>
            <a:endParaRPr lang="es-ES_tradnl" dirty="0"/>
          </a:p>
        </p:txBody>
      </p:sp>
      <p:sp>
        <p:nvSpPr>
          <p:cNvPr id="2" name="Title 1"/>
          <p:cNvSpPr>
            <a:spLocks noGrp="1"/>
          </p:cNvSpPr>
          <p:nvPr>
            <p:ph type="title"/>
          </p:nvPr>
        </p:nvSpPr>
        <p:spPr>
          <a:xfrm>
            <a:off x="1041838" y="-414703"/>
            <a:ext cx="7092820" cy="1628192"/>
          </a:xfrm>
        </p:spPr>
        <p:txBody>
          <a:bodyPr/>
          <a:lstStyle/>
          <a:p>
            <a:r>
              <a:rPr lang="es-ES_tradnl" dirty="0"/>
              <a:t>RESUMEN</a:t>
            </a:r>
          </a:p>
        </p:txBody>
      </p:sp>
      <p:sp>
        <p:nvSpPr>
          <p:cNvPr id="3" name="Marcador de texto 2">
            <a:extLst>
              <a:ext uri="{FF2B5EF4-FFF2-40B4-BE49-F238E27FC236}">
                <a16:creationId xmlns:a16="http://schemas.microsoft.com/office/drawing/2014/main" id="{7265C9B1-9A40-D4C2-C235-4FDA7BF66EFE}"/>
              </a:ext>
            </a:extLst>
          </p:cNvPr>
          <p:cNvSpPr>
            <a:spLocks noGrp="1"/>
          </p:cNvSpPr>
          <p:nvPr>
            <p:ph type="body" sz="quarter" idx="18"/>
          </p:nvPr>
        </p:nvSpPr>
        <p:spPr>
          <a:xfrm>
            <a:off x="1041838" y="1687104"/>
            <a:ext cx="10067596" cy="3399903"/>
          </a:xfrm>
        </p:spPr>
        <p:txBody>
          <a:bodyPr/>
          <a:lstStyle/>
          <a:p>
            <a:pPr marL="342900" lvl="1" indent="-342900" algn="just">
              <a:spcBef>
                <a:spcPts val="1000"/>
              </a:spcBef>
              <a:buClr>
                <a:srgbClr val="0CB4B4"/>
              </a:buClr>
              <a:buFont typeface="Wingdings" panose="05000000000000000000" pitchFamily="2" charset="2"/>
              <a:buChar char="q"/>
            </a:pPr>
            <a:r>
              <a:rPr lang="es-ES_tradnl" sz="1800" dirty="0"/>
              <a:t>La universidad actualiza las características de estudiante.</a:t>
            </a:r>
          </a:p>
          <a:p>
            <a:pPr marL="342900" lvl="1" indent="-342900" algn="just">
              <a:spcBef>
                <a:spcPts val="1000"/>
              </a:spcBef>
              <a:buClr>
                <a:srgbClr val="0CB4B4"/>
              </a:buClr>
              <a:buFont typeface="Wingdings" panose="05000000000000000000" pitchFamily="2" charset="2"/>
              <a:buChar char="q"/>
            </a:pPr>
            <a:r>
              <a:rPr lang="es-ES_tradnl" sz="1800" dirty="0"/>
              <a:t>La institución realiza el cambio a través de páginas administrativas.</a:t>
            </a:r>
          </a:p>
          <a:p>
            <a:pPr marL="342900" lvl="1" indent="-342900" algn="just">
              <a:spcBef>
                <a:spcPts val="1000"/>
              </a:spcBef>
              <a:buClr>
                <a:srgbClr val="0CB4B4"/>
              </a:buClr>
              <a:buFont typeface="Wingdings" panose="05000000000000000000" pitchFamily="2" charset="2"/>
              <a:buChar char="q"/>
            </a:pPr>
            <a:r>
              <a:rPr lang="es-ES_tradnl" sz="1800" dirty="0"/>
              <a:t>El cambio en el registro de alumno se realiza en SGASADD.</a:t>
            </a:r>
          </a:p>
          <a:p>
            <a:pPr marL="342900" lvl="1" indent="-342900" algn="just">
              <a:spcBef>
                <a:spcPts val="1000"/>
              </a:spcBef>
              <a:buClr>
                <a:srgbClr val="0CB4B4"/>
              </a:buClr>
              <a:buFont typeface="Wingdings" panose="05000000000000000000" pitchFamily="2" charset="2"/>
              <a:buChar char="q"/>
            </a:pPr>
            <a:r>
              <a:rPr lang="es-ES_tradnl" sz="1800" dirty="0"/>
              <a:t>La historia del alumno y de los cambios no se pierde.</a:t>
            </a:r>
          </a:p>
          <a:p>
            <a:pPr marL="342900" lvl="1" indent="-342900" algn="just">
              <a:spcBef>
                <a:spcPts val="1000"/>
              </a:spcBef>
              <a:buClr>
                <a:srgbClr val="0CB4B4"/>
              </a:buClr>
              <a:buFont typeface="Wingdings" panose="05000000000000000000" pitchFamily="2" charset="2"/>
              <a:buChar char="q"/>
            </a:pPr>
            <a:r>
              <a:rPr lang="es-ES_tradnl" sz="1800" dirty="0"/>
              <a:t>Se puede hacer un cambio de características en la universidad o por programa.</a:t>
            </a:r>
          </a:p>
          <a:p>
            <a:pPr marL="342900" lvl="1" indent="-342900" algn="just">
              <a:spcBef>
                <a:spcPts val="1000"/>
              </a:spcBef>
              <a:buClr>
                <a:srgbClr val="0CB4B4"/>
              </a:buClr>
              <a:buFont typeface="Wingdings" panose="05000000000000000000" pitchFamily="2" charset="2"/>
              <a:buChar char="q"/>
            </a:pPr>
            <a:r>
              <a:rPr lang="es-ES_tradnl" sz="1800" dirty="0"/>
              <a:t>Se puede hacer el cambio en el mismo periodo o en otro.</a:t>
            </a:r>
          </a:p>
          <a:p>
            <a:endParaRPr lang="es-419" dirty="0"/>
          </a:p>
        </p:txBody>
      </p:sp>
    </p:spTree>
    <p:extLst>
      <p:ext uri="{BB962C8B-B14F-4D97-AF65-F5344CB8AC3E}">
        <p14:creationId xmlns:p14="http://schemas.microsoft.com/office/powerpoint/2010/main" val="3051775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noProof="0"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noProof="0" dirty="0"/>
              <a:t>Consultor</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noProof="0" dirty="0"/>
              <a:t>Correo</a:t>
            </a:r>
          </a:p>
        </p:txBody>
      </p:sp>
    </p:spTree>
    <p:extLst>
      <p:ext uri="{BB962C8B-B14F-4D97-AF65-F5344CB8AC3E}">
        <p14:creationId xmlns:p14="http://schemas.microsoft.com/office/powerpoint/2010/main" val="149292278"/>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96DF7355-EBEE-4711-B1B0-2A2483E511D1}" vid="{BB407EE2-72E0-46A0-AE3E-DB2EC49F911B}"/>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96DF7355-EBEE-4711-B1B0-2A2483E511D1}" vid="{302A0643-E7C6-43F6-8998-732C0CFA7EE2}"/>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Ellucian-PPT-Template-2025-V5</Template>
  <TotalTime>2959</TotalTime>
  <Words>1641</Words>
  <Application>Microsoft Office PowerPoint</Application>
  <PresentationFormat>Widescreen</PresentationFormat>
  <Paragraphs>235</Paragraphs>
  <Slides>37</Slides>
  <Notes>22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37</vt:i4>
      </vt:variant>
    </vt:vector>
  </HeadingPairs>
  <TitlesOfParts>
    <vt:vector size="45" baseType="lpstr">
      <vt:lpstr>Aptos</vt:lpstr>
      <vt:lpstr>Aptos Display</vt:lpstr>
      <vt:lpstr>Arial</vt:lpstr>
      <vt:lpstr>Courier New</vt:lpstr>
      <vt:lpstr>Helvetica Neue</vt:lpstr>
      <vt:lpstr>Wingdings</vt:lpstr>
      <vt:lpstr>Ellucian Main Layouts</vt:lpstr>
      <vt:lpstr>Ellucian Blank Layouts</vt:lpstr>
      <vt:lpstr>Actualizar características del estudiante </vt:lpstr>
      <vt:lpstr>PowerPoint Presentation</vt:lpstr>
      <vt:lpstr>Overview</vt:lpstr>
      <vt:lpstr>Overview: Mapa de capacidades</vt:lpstr>
      <vt:lpstr>Overview: Procedimientos de inscripción de estudiantes</vt:lpstr>
      <vt:lpstr>Overview: Actualizar características del estudiante</vt:lpstr>
      <vt:lpstr>Overview: Actualizar características del estudiante</vt:lpstr>
      <vt:lpstr>Overview: Región donde aplica</vt:lpstr>
      <vt:lpstr>Configuraciones</vt:lpstr>
      <vt:lpstr>Configuraciones: Atributo del estudiante</vt:lpstr>
      <vt:lpstr>Configuraciones: Cohorte</vt:lpstr>
      <vt:lpstr>Configuraciones: Razón de inactivación de cohorte</vt:lpstr>
      <vt:lpstr>Atributo del estudiante</vt:lpstr>
      <vt:lpstr>Asignar atributo, por primera vez</vt:lpstr>
      <vt:lpstr>Asignar atributo, por primera vez</vt:lpstr>
      <vt:lpstr>Asignar atributo, por primera vez</vt:lpstr>
      <vt:lpstr>Asignar atributo, por primera vez</vt:lpstr>
      <vt:lpstr>Asignar atributo, por primera vez</vt:lpstr>
      <vt:lpstr>Cambiar atributo</vt:lpstr>
      <vt:lpstr>Cambiar atributo</vt:lpstr>
      <vt:lpstr>Cambiar atributo</vt:lpstr>
      <vt:lpstr>Cambiar atributo</vt:lpstr>
      <vt:lpstr>Finalizar atributo(s)</vt:lpstr>
      <vt:lpstr>Finalizar atributo(s)</vt:lpstr>
      <vt:lpstr>Finalizar atributo(s)</vt:lpstr>
      <vt:lpstr>Finalizar atributo(s)</vt:lpstr>
      <vt:lpstr>Vigencia del atributo</vt:lpstr>
      <vt:lpstr>Cohorte del estudiante</vt:lpstr>
      <vt:lpstr>Asignar cohorte, por primera vez</vt:lpstr>
      <vt:lpstr>Asignar cohorte, por primera vez</vt:lpstr>
      <vt:lpstr>Cambiar cohorte</vt:lpstr>
      <vt:lpstr>Cambiar cohorte</vt:lpstr>
      <vt:lpstr>Cambiar cohorte</vt:lpstr>
      <vt:lpstr>Cambiar cohorte</vt:lpstr>
      <vt:lpstr>Vigencia de la cohorte</vt:lpstr>
      <vt:lpstr>RESUMEN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Molina, Sergio</cp:lastModifiedBy>
  <cp:revision>35</cp:revision>
  <dcterms:created xsi:type="dcterms:W3CDTF">2024-09-25T21:45:51Z</dcterms:created>
  <dcterms:modified xsi:type="dcterms:W3CDTF">2026-03-18T14:54:29Z</dcterms:modified>
</cp:coreProperties>
</file>
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3.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 id="2147483717" r:id="rId3"/>
    <p:sldMasterId id="2147483752" r:id="rId4"/>
  </p:sldMasterIdLst>
  <p:notesMasterIdLst>
    <p:notesMasterId r:id="rId44"/>
  </p:notesMasterIdLst>
  <p:sldIdLst>
    <p:sldId id="256" r:id="rId5"/>
    <p:sldId id="257" r:id="rId6"/>
    <p:sldId id="258" r:id="rId7"/>
    <p:sldId id="260" r:id="rId8"/>
    <p:sldId id="266" r:id="rId9"/>
    <p:sldId id="261" r:id="rId10"/>
    <p:sldId id="285" r:id="rId11"/>
    <p:sldId id="276" r:id="rId12"/>
    <p:sldId id="286" r:id="rId13"/>
    <p:sldId id="274" r:id="rId14"/>
    <p:sldId id="277" r:id="rId15"/>
    <p:sldId id="267" r:id="rId16"/>
    <p:sldId id="268" r:id="rId17"/>
    <p:sldId id="269" r:id="rId18"/>
    <p:sldId id="310" r:id="rId19"/>
    <p:sldId id="278" r:id="rId20"/>
    <p:sldId id="287" r:id="rId21"/>
    <p:sldId id="304" r:id="rId22"/>
    <p:sldId id="288" r:id="rId23"/>
    <p:sldId id="290" r:id="rId24"/>
    <p:sldId id="291" r:id="rId25"/>
    <p:sldId id="292" r:id="rId26"/>
    <p:sldId id="294" r:id="rId27"/>
    <p:sldId id="295" r:id="rId28"/>
    <p:sldId id="296" r:id="rId29"/>
    <p:sldId id="297" r:id="rId30"/>
    <p:sldId id="298" r:id="rId31"/>
    <p:sldId id="299" r:id="rId32"/>
    <p:sldId id="300" r:id="rId33"/>
    <p:sldId id="301" r:id="rId34"/>
    <p:sldId id="302" r:id="rId35"/>
    <p:sldId id="303" r:id="rId36"/>
    <p:sldId id="311" r:id="rId37"/>
    <p:sldId id="306" r:id="rId38"/>
    <p:sldId id="307" r:id="rId39"/>
    <p:sldId id="308" r:id="rId40"/>
    <p:sldId id="309" r:id="rId41"/>
    <p:sldId id="271" r:id="rId42"/>
    <p:sldId id="27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670CE8-97CD-4037-A548-FD1492FD1281}" v="1" dt="2026-06-10T23:45:34.65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Molina" userId="20636364146_tp_box_2" providerId="OAuth2" clId="{44CDD4FA-DF07-4B69-BC01-0B2B69272B43}"/>
    <pc:docChg chg="modSld">
      <pc:chgData name="Sergio Molina" userId="20636364146_tp_box_2" providerId="OAuth2" clId="{44CDD4FA-DF07-4B69-BC01-0B2B69272B43}" dt="2026-06-10T23:45:45.672" v="12" actId="108"/>
      <pc:docMkLst>
        <pc:docMk/>
      </pc:docMkLst>
      <pc:sldChg chg="modSp mod">
        <pc:chgData name="Sergio Molina" userId="20636364146_tp_box_2" providerId="OAuth2" clId="{44CDD4FA-DF07-4B69-BC01-0B2B69272B43}" dt="2026-06-10T23:45:34.650" v="8"/>
        <pc:sldMkLst>
          <pc:docMk/>
          <pc:sldMk cId="2074149480" sldId="256"/>
        </pc:sldMkLst>
        <pc:spChg chg="mod">
          <ac:chgData name="Sergio Molina" userId="20636364146_tp_box_2" providerId="OAuth2" clId="{44CDD4FA-DF07-4B69-BC01-0B2B69272B43}" dt="2026-06-10T23:45:34.650" v="8"/>
          <ac:spMkLst>
            <pc:docMk/>
            <pc:sldMk cId="2074149480" sldId="256"/>
            <ac:spMk id="4" creationId="{A87AA55F-A663-7470-1FA4-9966124AECF7}"/>
          </ac:spMkLst>
        </pc:spChg>
        <pc:spChg chg="mod">
          <ac:chgData name="Sergio Molina" userId="20636364146_tp_box_2" providerId="OAuth2" clId="{44CDD4FA-DF07-4B69-BC01-0B2B69272B43}" dt="2026-06-10T23:45:34.650" v="8"/>
          <ac:spMkLst>
            <pc:docMk/>
            <pc:sldMk cId="2074149480" sldId="256"/>
            <ac:spMk id="5" creationId="{9EC7EF07-2EFA-BC39-92B6-AD0E2F0AAA3C}"/>
          </ac:spMkLst>
        </pc:spChg>
        <pc:spChg chg="mod">
          <ac:chgData name="Sergio Molina" userId="20636364146_tp_box_2" providerId="OAuth2" clId="{44CDD4FA-DF07-4B69-BC01-0B2B69272B43}" dt="2026-06-10T23:45:13.977" v="7" actId="1076"/>
          <ac:spMkLst>
            <pc:docMk/>
            <pc:sldMk cId="2074149480" sldId="256"/>
            <ac:spMk id="23" creationId="{AFD81755-6309-937C-4F9B-D466A3067B45}"/>
          </ac:spMkLst>
        </pc:spChg>
        <pc:picChg chg="mod">
          <ac:chgData name="Sergio Molina" userId="20636364146_tp_box_2" providerId="OAuth2" clId="{44CDD4FA-DF07-4B69-BC01-0B2B69272B43}" dt="2026-06-10T23:45:34.650" v="8"/>
          <ac:picMkLst>
            <pc:docMk/>
            <pc:sldMk cId="2074149480" sldId="256"/>
            <ac:picMk id="3" creationId="{531F03B0-663B-6947-6992-9DD0058FD205}"/>
          </ac:picMkLst>
        </pc:picChg>
      </pc:sldChg>
      <pc:sldChg chg="modSp mod">
        <pc:chgData name="Sergio Molina" userId="20636364146_tp_box_2" providerId="OAuth2" clId="{44CDD4FA-DF07-4B69-BC01-0B2B69272B43}" dt="2026-06-10T23:45:45.672" v="12" actId="108"/>
        <pc:sldMkLst>
          <pc:docMk/>
          <pc:sldMk cId="3958544234" sldId="257"/>
        </pc:sldMkLst>
        <pc:spChg chg="mod">
          <ac:chgData name="Sergio Molina" userId="20636364146_tp_box_2" providerId="OAuth2" clId="{44CDD4FA-DF07-4B69-BC01-0B2B69272B43}" dt="2026-06-10T23:45:45.219" v="11" actId="108"/>
          <ac:spMkLst>
            <pc:docMk/>
            <pc:sldMk cId="3958544234" sldId="257"/>
            <ac:spMk id="2" creationId="{39658CF9-4262-EF31-21F8-59A4FFE638F1}"/>
          </ac:spMkLst>
        </pc:spChg>
        <pc:spChg chg="mod">
          <ac:chgData name="Sergio Molina" userId="20636364146_tp_box_2" providerId="OAuth2" clId="{44CDD4FA-DF07-4B69-BC01-0B2B69272B43}" dt="2026-06-10T23:45:34.650" v="8"/>
          <ac:spMkLst>
            <pc:docMk/>
            <pc:sldMk cId="3958544234" sldId="257"/>
            <ac:spMk id="7" creationId="{6412E2B5-4BE1-B49E-58AB-9C60B6BBF141}"/>
          </ac:spMkLst>
        </pc:spChg>
        <pc:spChg chg="mod">
          <ac:chgData name="Sergio Molina" userId="20636364146_tp_box_2" providerId="OAuth2" clId="{44CDD4FA-DF07-4B69-BC01-0B2B69272B43}" dt="2026-06-10T23:45:44.803" v="10" actId="108"/>
          <ac:spMkLst>
            <pc:docMk/>
            <pc:sldMk cId="3958544234" sldId="257"/>
            <ac:spMk id="9" creationId="{364149FD-8541-BB66-31C7-5C8D540962A6}"/>
          </ac:spMkLst>
        </pc:spChg>
        <pc:spChg chg="mod">
          <ac:chgData name="Sergio Molina" userId="20636364146_tp_box_2" providerId="OAuth2" clId="{44CDD4FA-DF07-4B69-BC01-0B2B69272B43}" dt="2026-06-10T23:45:43.909" v="9" actId="108"/>
          <ac:spMkLst>
            <pc:docMk/>
            <pc:sldMk cId="3958544234" sldId="257"/>
            <ac:spMk id="11" creationId="{E1BB0A2D-C7A3-85A8-EE94-C0019E5EF849}"/>
          </ac:spMkLst>
        </pc:spChg>
        <pc:spChg chg="mod">
          <ac:chgData name="Sergio Molina" userId="20636364146_tp_box_2" providerId="OAuth2" clId="{44CDD4FA-DF07-4B69-BC01-0B2B69272B43}" dt="2026-06-10T23:45:45.672" v="12" actId="108"/>
          <ac:spMkLst>
            <pc:docMk/>
            <pc:sldMk cId="3958544234" sldId="257"/>
            <ac:spMk id="12" creationId="{D286A64F-1AC2-0842-49F6-CEE06ABF1090}"/>
          </ac:spMkLst>
        </pc:spChg>
      </pc:sldChg>
      <pc:sldChg chg="modSp">
        <pc:chgData name="Sergio Molina" userId="20636364146_tp_box_2" providerId="OAuth2" clId="{44CDD4FA-DF07-4B69-BC01-0B2B69272B43}" dt="2026-06-10T23:45:34.650" v="8"/>
        <pc:sldMkLst>
          <pc:docMk/>
          <pc:sldMk cId="4151330217" sldId="260"/>
        </pc:sldMkLst>
        <pc:spChg chg="mod">
          <ac:chgData name="Sergio Molina" userId="20636364146_tp_box_2" providerId="OAuth2" clId="{44CDD4FA-DF07-4B69-BC01-0B2B69272B43}" dt="2026-06-10T23:45:34.650" v="8"/>
          <ac:spMkLst>
            <pc:docMk/>
            <pc:sldMk cId="4151330217" sldId="260"/>
            <ac:spMk id="2" creationId="{898E1C91-D53E-9F97-C485-84628578389D}"/>
          </ac:spMkLst>
        </pc:spChg>
      </pc:sldChg>
      <pc:sldChg chg="modSp">
        <pc:chgData name="Sergio Molina" userId="20636364146_tp_box_2" providerId="OAuth2" clId="{44CDD4FA-DF07-4B69-BC01-0B2B69272B43}" dt="2026-06-10T23:45:34.650" v="8"/>
        <pc:sldMkLst>
          <pc:docMk/>
          <pc:sldMk cId="2966767743" sldId="261"/>
        </pc:sldMkLst>
        <pc:spChg chg="mod">
          <ac:chgData name="Sergio Molina" userId="20636364146_tp_box_2" providerId="OAuth2" clId="{44CDD4FA-DF07-4B69-BC01-0B2B69272B43}" dt="2026-06-10T23:45:34.650" v="8"/>
          <ac:spMkLst>
            <pc:docMk/>
            <pc:sldMk cId="2966767743" sldId="261"/>
            <ac:spMk id="2" creationId="{9F9B5C96-8DBC-65FF-FAE3-4F645679D6ED}"/>
          </ac:spMkLst>
        </pc:spChg>
      </pc:sldChg>
      <pc:sldChg chg="modSp">
        <pc:chgData name="Sergio Molina" userId="20636364146_tp_box_2" providerId="OAuth2" clId="{44CDD4FA-DF07-4B69-BC01-0B2B69272B43}" dt="2026-06-10T23:45:34.650" v="8"/>
        <pc:sldMkLst>
          <pc:docMk/>
          <pc:sldMk cId="2090565978" sldId="266"/>
        </pc:sldMkLst>
        <pc:spChg chg="mod">
          <ac:chgData name="Sergio Molina" userId="20636364146_tp_box_2" providerId="OAuth2" clId="{44CDD4FA-DF07-4B69-BC01-0B2B69272B43}" dt="2026-06-10T23:45:34.650" v="8"/>
          <ac:spMkLst>
            <pc:docMk/>
            <pc:sldMk cId="2090565978" sldId="266"/>
            <ac:spMk id="2" creationId="{C31C0327-E277-8995-30AD-95DC98DE725F}"/>
          </ac:spMkLst>
        </pc:spChg>
      </pc:sldChg>
      <pc:sldChg chg="modSp">
        <pc:chgData name="Sergio Molina" userId="20636364146_tp_box_2" providerId="OAuth2" clId="{44CDD4FA-DF07-4B69-BC01-0B2B69272B43}" dt="2026-06-10T23:45:34.650" v="8"/>
        <pc:sldMkLst>
          <pc:docMk/>
          <pc:sldMk cId="1133107206" sldId="269"/>
        </pc:sldMkLst>
        <pc:spChg chg="mod">
          <ac:chgData name="Sergio Molina" userId="20636364146_tp_box_2" providerId="OAuth2" clId="{44CDD4FA-DF07-4B69-BC01-0B2B69272B43}" dt="2026-06-10T23:45:34.650" v="8"/>
          <ac:spMkLst>
            <pc:docMk/>
            <pc:sldMk cId="1133107206" sldId="269"/>
            <ac:spMk id="5" creationId="{3A206324-E307-9002-B542-F91432DD5834}"/>
          </ac:spMkLst>
        </pc:spChg>
      </pc:sldChg>
      <pc:sldChg chg="modSp">
        <pc:chgData name="Sergio Molina" userId="20636364146_tp_box_2" providerId="OAuth2" clId="{44CDD4FA-DF07-4B69-BC01-0B2B69272B43}" dt="2026-06-10T23:45:34.650" v="8"/>
        <pc:sldMkLst>
          <pc:docMk/>
          <pc:sldMk cId="1295437110" sldId="271"/>
        </pc:sldMkLst>
        <pc:spChg chg="mod">
          <ac:chgData name="Sergio Molina" userId="20636364146_tp_box_2" providerId="OAuth2" clId="{44CDD4FA-DF07-4B69-BC01-0B2B69272B43}" dt="2026-06-10T23:45:34.650" v="8"/>
          <ac:spMkLst>
            <pc:docMk/>
            <pc:sldMk cId="1295437110" sldId="271"/>
            <ac:spMk id="5" creationId="{F3253A40-4C1B-950E-34C1-36BCD0A67883}"/>
          </ac:spMkLst>
        </pc:spChg>
      </pc:sldChg>
      <pc:sldChg chg="modSp">
        <pc:chgData name="Sergio Molina" userId="20636364146_tp_box_2" providerId="OAuth2" clId="{44CDD4FA-DF07-4B69-BC01-0B2B69272B43}" dt="2026-06-10T23:45:34.650" v="8"/>
        <pc:sldMkLst>
          <pc:docMk/>
          <pc:sldMk cId="518301041" sldId="272"/>
        </pc:sldMkLst>
        <pc:spChg chg="mod">
          <ac:chgData name="Sergio Molina" userId="20636364146_tp_box_2" providerId="OAuth2" clId="{44CDD4FA-DF07-4B69-BC01-0B2B69272B43}" dt="2026-06-10T23:45:34.650" v="8"/>
          <ac:spMkLst>
            <pc:docMk/>
            <pc:sldMk cId="518301041" sldId="272"/>
            <ac:spMk id="4" creationId="{E19F6902-A436-6590-65FB-46E769F24EA7}"/>
          </ac:spMkLst>
        </pc:spChg>
      </pc:sldChg>
      <pc:sldChg chg="modSp">
        <pc:chgData name="Sergio Molina" userId="20636364146_tp_box_2" providerId="OAuth2" clId="{44CDD4FA-DF07-4B69-BC01-0B2B69272B43}" dt="2026-06-10T23:45:34.650" v="8"/>
        <pc:sldMkLst>
          <pc:docMk/>
          <pc:sldMk cId="3676726471" sldId="278"/>
        </pc:sldMkLst>
        <pc:spChg chg="mod">
          <ac:chgData name="Sergio Molina" userId="20636364146_tp_box_2" providerId="OAuth2" clId="{44CDD4FA-DF07-4B69-BC01-0B2B69272B43}" dt="2026-06-10T23:45:34.650" v="8"/>
          <ac:spMkLst>
            <pc:docMk/>
            <pc:sldMk cId="3676726471" sldId="278"/>
            <ac:spMk id="5" creationId="{523FA107-9350-A020-D02E-10E8CF9B2B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3AEF5-72D5-4F8C-B7F5-775AD17E9653}" type="datetimeFigureOut">
              <a:rPr lang="es-CO" smtClean="0"/>
              <a:t>10/06/2026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104A8F-52CC-4C11-828E-3979DAE121DE}" type="slidenum">
              <a:rPr lang="es-CO" smtClean="0"/>
              <a:t>‹#›</a:t>
            </a:fld>
            <a:endParaRPr lang="es-CO"/>
          </a:p>
        </p:txBody>
      </p:sp>
    </p:spTree>
    <p:extLst>
      <p:ext uri="{BB962C8B-B14F-4D97-AF65-F5344CB8AC3E}">
        <p14:creationId xmlns:p14="http://schemas.microsoft.com/office/powerpoint/2010/main" val="242227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2E104A8F-52CC-4C11-828E-3979DAE121DE}" type="slidenum">
              <a:rPr lang="es-CO" smtClean="0"/>
              <a:t>11</a:t>
            </a:fld>
            <a:endParaRPr lang="es-CO"/>
          </a:p>
        </p:txBody>
      </p:sp>
    </p:spTree>
    <p:extLst>
      <p:ext uri="{BB962C8B-B14F-4D97-AF65-F5344CB8AC3E}">
        <p14:creationId xmlns:p14="http://schemas.microsoft.com/office/powerpoint/2010/main" val="35456025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98035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49322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26393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59390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03104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130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59556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414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855858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40953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989398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7282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859351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554650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859429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02903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41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57195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97475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611786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319098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3380933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77065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34012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993099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554723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692633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624311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615229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359244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86433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575011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62372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885516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767DC-3D3E-C508-5A6B-E93829CC840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3FFC2399-9930-6015-C9A8-322E27ADFB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9786303E-6E28-71E5-36F4-FD554CE325CC}"/>
              </a:ext>
            </a:extLst>
          </p:cNvPr>
          <p:cNvSpPr>
            <a:spLocks noGrp="1"/>
          </p:cNvSpPr>
          <p:nvPr>
            <p:ph type="dt" sz="half" idx="10"/>
          </p:nvPr>
        </p:nvSpPr>
        <p:spPr/>
        <p:txBody>
          <a:bodyPr/>
          <a:lstStyle/>
          <a:p>
            <a:fld id="{60247FA2-D1AC-4B8C-81BD-BEF1680E26DC}" type="datetimeFigureOut">
              <a:rPr lang="es-419" smtClean="0"/>
              <a:t>10/6/2026</a:t>
            </a:fld>
            <a:endParaRPr lang="es-419"/>
          </a:p>
        </p:txBody>
      </p:sp>
      <p:sp>
        <p:nvSpPr>
          <p:cNvPr id="5" name="Marcador de pie de página 4">
            <a:extLst>
              <a:ext uri="{FF2B5EF4-FFF2-40B4-BE49-F238E27FC236}">
                <a16:creationId xmlns:a16="http://schemas.microsoft.com/office/drawing/2014/main" id="{159F5E8A-40E2-1A64-50DC-4EE295743E0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1839D78-BD28-8CAB-1FB7-499D47E385F4}"/>
              </a:ext>
            </a:extLst>
          </p:cNvPr>
          <p:cNvSpPr>
            <a:spLocks noGrp="1"/>
          </p:cNvSpPr>
          <p:nvPr>
            <p:ph type="sldNum" sz="quarter" idx="12"/>
          </p:nvPr>
        </p:nvSpPr>
        <p:spPr/>
        <p:txBody>
          <a:bodyPr/>
          <a:lstStyle/>
          <a:p>
            <a:fld id="{6F526200-1E0C-4E7B-BC1E-B2DA62431D77}" type="slidenum">
              <a:rPr lang="es-419" smtClean="0"/>
              <a:t>‹#›</a:t>
            </a:fld>
            <a:endParaRPr lang="es-419"/>
          </a:p>
        </p:txBody>
      </p:sp>
    </p:spTree>
    <p:extLst>
      <p:ext uri="{BB962C8B-B14F-4D97-AF65-F5344CB8AC3E}">
        <p14:creationId xmlns:p14="http://schemas.microsoft.com/office/powerpoint/2010/main" val="22623315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0605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942750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035406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66547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356556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087639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7225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99381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699930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21442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03999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1922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528073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043836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480814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089586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669920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06053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0302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767DC-3D3E-C508-5A6B-E93829CC840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3FFC2399-9930-6015-C9A8-322E27ADFB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9786303E-6E28-71E5-36F4-FD554CE325CC}"/>
              </a:ext>
            </a:extLst>
          </p:cNvPr>
          <p:cNvSpPr>
            <a:spLocks noGrp="1"/>
          </p:cNvSpPr>
          <p:nvPr>
            <p:ph type="dt" sz="half" idx="10"/>
          </p:nvPr>
        </p:nvSpPr>
        <p:spPr/>
        <p:txBody>
          <a:bodyPr/>
          <a:lstStyle/>
          <a:p>
            <a:fld id="{60247FA2-D1AC-4B8C-81BD-BEF1680E26DC}" type="datetimeFigureOut">
              <a:rPr lang="es-419" smtClean="0"/>
              <a:t>10/6/2026</a:t>
            </a:fld>
            <a:endParaRPr lang="es-419"/>
          </a:p>
        </p:txBody>
      </p:sp>
      <p:sp>
        <p:nvSpPr>
          <p:cNvPr id="5" name="Marcador de pie de página 4">
            <a:extLst>
              <a:ext uri="{FF2B5EF4-FFF2-40B4-BE49-F238E27FC236}">
                <a16:creationId xmlns:a16="http://schemas.microsoft.com/office/drawing/2014/main" id="{159F5E8A-40E2-1A64-50DC-4EE295743E0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1839D78-BD28-8CAB-1FB7-499D47E385F4}"/>
              </a:ext>
            </a:extLst>
          </p:cNvPr>
          <p:cNvSpPr>
            <a:spLocks noGrp="1"/>
          </p:cNvSpPr>
          <p:nvPr>
            <p:ph type="sldNum" sz="quarter" idx="12"/>
          </p:nvPr>
        </p:nvSpPr>
        <p:spPr/>
        <p:txBody>
          <a:bodyPr/>
          <a:lstStyle/>
          <a:p>
            <a:fld id="{6F526200-1E0C-4E7B-BC1E-B2DA62431D77}" type="slidenum">
              <a:rPr lang="es-419" smtClean="0"/>
              <a:t>‹#›</a:t>
            </a:fld>
            <a:endParaRPr lang="es-419"/>
          </a:p>
        </p:txBody>
      </p:sp>
    </p:spTree>
    <p:extLst>
      <p:ext uri="{BB962C8B-B14F-4D97-AF65-F5344CB8AC3E}">
        <p14:creationId xmlns:p14="http://schemas.microsoft.com/office/powerpoint/2010/main" val="8735953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9727748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7105800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556484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580442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7073768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17017213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538091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1097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06294935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375498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258172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6007604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474541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3659107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5916880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97583851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4010114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480813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9418451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1062923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7886554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7775869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090451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9562321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2090728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725503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58737100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1813956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7182248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59466492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2376263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3038760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851760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8465252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08325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1106714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963273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8353565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35283658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73725095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7173368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67569651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1808740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88337132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0599593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552368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2642128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2716173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0218471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1661593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34133172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4126841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242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21" Type="http://schemas.openxmlformats.org/officeDocument/2006/relationships/theme" Target="../theme/theme2.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slideLayout" Target="../slideLayouts/slideLayout84.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37" Type="http://schemas.openxmlformats.org/officeDocument/2006/relationships/image" Target="../media/image2.svg"/><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image" Target="../media/image1.png"/><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theme" Target="../theme/theme3.xml"/><Relationship Id="rId8" Type="http://schemas.openxmlformats.org/officeDocument/2006/relationships/slideLayout" Target="../slideLayouts/slideLayout63.xml"/><Relationship Id="rId3" Type="http://schemas.openxmlformats.org/officeDocument/2006/relationships/slideLayout" Target="../slideLayouts/slideLayout5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4.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154985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7334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92226906"/>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 id="2147483746" r:id="rId29"/>
    <p:sldLayoutId id="2147483747" r:id="rId30"/>
    <p:sldLayoutId id="2147483748" r:id="rId31"/>
    <p:sldLayoutId id="2147483749" r:id="rId32"/>
    <p:sldLayoutId id="2147483750" r:id="rId33"/>
    <p:sldLayoutId id="2147483751"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49671"/>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exels.com/es-es/foto/foto-de-personas-conversando-3184285/" TargetMode="External"/><Relationship Id="rId2" Type="http://schemas.openxmlformats.org/officeDocument/2006/relationships/image" Target="../media/image13.jpg"/><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5.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5.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65.xml"/><Relationship Id="rId6" Type="http://schemas.openxmlformats.org/officeDocument/2006/relationships/image" Target="../media/image21.pn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jpeg"/></Relationships>
</file>

<file path=ppt/slides/_rels/slide1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65.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jpeg"/><Relationship Id="rId4" Type="http://schemas.openxmlformats.org/officeDocument/2006/relationships/image" Target="../media/image18.sv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5.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5.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5.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5.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5.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5.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5.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5.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5.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5.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5.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5.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5.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5.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5.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A87AA55F-A663-7470-1FA4-9966124AECF7}"/>
              </a:ext>
            </a:extLst>
          </p:cNvPr>
          <p:cNvSpPr>
            <a:spLocks noGrp="1"/>
          </p:cNvSpPr>
          <p:nvPr>
            <p:ph type="body" sz="quarter" idx="10"/>
          </p:nvPr>
        </p:nvSpPr>
        <p:spPr/>
        <p:txBody>
          <a:bodyPr>
            <a:normAutofit/>
          </a:bodyPr>
          <a:lstStyle/>
          <a:p>
            <a:r>
              <a:rPr lang="es-419" dirty="0"/>
              <a:t>Programar el inicio y finalización de periodos académicos</a:t>
            </a:r>
          </a:p>
        </p:txBody>
      </p:sp>
      <p:sp>
        <p:nvSpPr>
          <p:cNvPr id="5" name="Marcador de texto 4">
            <a:extLst>
              <a:ext uri="{FF2B5EF4-FFF2-40B4-BE49-F238E27FC236}">
                <a16:creationId xmlns:a16="http://schemas.microsoft.com/office/drawing/2014/main" id="{9EC7EF07-2EFA-BC39-92B6-AD0E2F0AAA3C}"/>
              </a:ext>
            </a:extLst>
          </p:cNvPr>
          <p:cNvSpPr>
            <a:spLocks noGrp="1"/>
          </p:cNvSpPr>
          <p:nvPr>
            <p:ph type="body" sz="quarter" idx="11"/>
          </p:nvPr>
        </p:nvSpPr>
        <p:spPr/>
        <p:txBody>
          <a:bodyPr>
            <a:normAutofit/>
          </a:bodyPr>
          <a:lstStyle/>
          <a:p>
            <a:r>
              <a:rPr lang="es-419" dirty="0"/>
              <a:t>Instructivo</a:t>
            </a:r>
          </a:p>
        </p:txBody>
      </p:sp>
      <p:sp>
        <p:nvSpPr>
          <p:cNvPr id="22" name="Text Placeholder 3">
            <a:extLst>
              <a:ext uri="{FF2B5EF4-FFF2-40B4-BE49-F238E27FC236}">
                <a16:creationId xmlns:a16="http://schemas.microsoft.com/office/drawing/2014/main" id="{99A313EF-DDC9-1005-CB3C-36E301503B9D}"/>
              </a:ext>
            </a:extLst>
          </p:cNvPr>
          <p:cNvSpPr>
            <a:spLocks noGrp="1"/>
          </p:cNvSpPr>
          <p:nvPr>
            <p:ph type="body" sz="quarter" idx="12"/>
          </p:nvPr>
        </p:nvSpPr>
        <p:spPr>
          <a:xfrm>
            <a:off x="556902" y="5609784"/>
            <a:ext cx="3032274" cy="194925"/>
          </a:xfrm>
        </p:spPr>
        <p:txBody>
          <a:bodyPr/>
          <a:lstStyle/>
          <a:p>
            <a:r>
              <a:rPr lang="en-US" dirty="0"/>
              <a:t>USSIPAN-Perú</a:t>
            </a:r>
          </a:p>
        </p:txBody>
      </p:sp>
      <p:sp>
        <p:nvSpPr>
          <p:cNvPr id="23" name="Text Placeholder 4">
            <a:extLst>
              <a:ext uri="{FF2B5EF4-FFF2-40B4-BE49-F238E27FC236}">
                <a16:creationId xmlns:a16="http://schemas.microsoft.com/office/drawing/2014/main" id="{AFD81755-6309-937C-4F9B-D466A3067B45}"/>
              </a:ext>
            </a:extLst>
          </p:cNvPr>
          <p:cNvSpPr>
            <a:spLocks noGrp="1"/>
          </p:cNvSpPr>
          <p:nvPr>
            <p:ph type="body" sz="quarter" idx="13"/>
          </p:nvPr>
        </p:nvSpPr>
        <p:spPr>
          <a:xfrm>
            <a:off x="556902" y="6186656"/>
            <a:ext cx="2228873" cy="194925"/>
          </a:xfrm>
        </p:spPr>
        <p:txBody>
          <a:bodyPr/>
          <a:lstStyle/>
          <a:p>
            <a:r>
              <a:rPr lang="en-US" dirty="0"/>
              <a:t>Junio, 2026</a:t>
            </a:r>
          </a:p>
        </p:txBody>
      </p:sp>
      <p:pic>
        <p:nvPicPr>
          <p:cNvPr id="3" name="Marcador de posición de imagen 2">
            <a:extLst>
              <a:ext uri="{FF2B5EF4-FFF2-40B4-BE49-F238E27FC236}">
                <a16:creationId xmlns:a16="http://schemas.microsoft.com/office/drawing/2014/main" id="{531F03B0-663B-6947-6992-9DD0058FD20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7878" r="17878"/>
          <a:stretch>
            <a:fillRect/>
          </a:stretch>
        </p:blipFill>
        <p:spPr>
          <a:noFill/>
        </p:spPr>
      </p:pic>
    </p:spTree>
    <p:extLst>
      <p:ext uri="{BB962C8B-B14F-4D97-AF65-F5344CB8AC3E}">
        <p14:creationId xmlns:p14="http://schemas.microsoft.com/office/powerpoint/2010/main" val="2074149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897CB17-50A9-E1EA-BB72-02ED775A4D77}"/>
              </a:ext>
            </a:extLst>
          </p:cNvPr>
          <p:cNvSpPr>
            <a:spLocks noGrp="1"/>
          </p:cNvSpPr>
          <p:nvPr>
            <p:ph type="body" sz="quarter" idx="18"/>
          </p:nvPr>
        </p:nvSpPr>
        <p:spPr>
          <a:xfrm>
            <a:off x="4571314" y="923845"/>
            <a:ext cx="7234915" cy="324961"/>
          </a:xfrm>
        </p:spPr>
        <p:txBody>
          <a:bodyPr/>
          <a:lstStyle/>
          <a:p>
            <a:r>
              <a:rPr lang="es-419" dirty="0" err="1"/>
              <a:t>Overview</a:t>
            </a:r>
            <a:r>
              <a:rPr lang="es-419" dirty="0"/>
              <a:t>: Proceso Gestionar los periodos académicos</a:t>
            </a:r>
          </a:p>
        </p:txBody>
      </p:sp>
      <p:sp>
        <p:nvSpPr>
          <p:cNvPr id="9" name="Marcador de texto 8">
            <a:extLst>
              <a:ext uri="{FF2B5EF4-FFF2-40B4-BE49-F238E27FC236}">
                <a16:creationId xmlns:a16="http://schemas.microsoft.com/office/drawing/2014/main" id="{364149FD-8541-BB66-31C7-5C8D540962A6}"/>
              </a:ext>
            </a:extLst>
          </p:cNvPr>
          <p:cNvSpPr>
            <a:spLocks noGrp="1"/>
          </p:cNvSpPr>
          <p:nvPr>
            <p:ph type="body" sz="quarter" idx="19"/>
          </p:nvPr>
        </p:nvSpPr>
        <p:spPr>
          <a:xfrm>
            <a:off x="4571315" y="3207433"/>
            <a:ext cx="7234915" cy="324961"/>
          </a:xfrm>
        </p:spPr>
        <p:txBody>
          <a:bodyPr/>
          <a:lstStyle/>
          <a:p>
            <a:r>
              <a:rPr lang="es-ES_tradnl" dirty="0"/>
              <a:t>Configuraciones</a:t>
            </a:r>
          </a:p>
        </p:txBody>
      </p:sp>
      <p:sp>
        <p:nvSpPr>
          <p:cNvPr id="10" name="Marcador de texto 9">
            <a:extLst>
              <a:ext uri="{FF2B5EF4-FFF2-40B4-BE49-F238E27FC236}">
                <a16:creationId xmlns:a16="http://schemas.microsoft.com/office/drawing/2014/main" id="{367C3D73-E477-8A70-ACF6-A8466042E71F}"/>
              </a:ext>
            </a:extLst>
          </p:cNvPr>
          <p:cNvSpPr>
            <a:spLocks noGrp="1"/>
          </p:cNvSpPr>
          <p:nvPr>
            <p:ph type="body" sz="quarter" idx="20"/>
          </p:nvPr>
        </p:nvSpPr>
        <p:spPr>
          <a:xfrm>
            <a:off x="4571314" y="2563299"/>
            <a:ext cx="7234915" cy="324961"/>
          </a:xfrm>
        </p:spPr>
        <p:txBody>
          <a:bodyPr/>
          <a:lstStyle/>
          <a:p>
            <a:r>
              <a:rPr lang="es-ES_tradnl" dirty="0">
                <a:cs typeface="Arial"/>
              </a:rPr>
              <a:t>Definiciones</a:t>
            </a:r>
          </a:p>
        </p:txBody>
      </p:sp>
      <p:sp>
        <p:nvSpPr>
          <p:cNvPr id="11" name="Marcador de texto 10">
            <a:extLst>
              <a:ext uri="{FF2B5EF4-FFF2-40B4-BE49-F238E27FC236}">
                <a16:creationId xmlns:a16="http://schemas.microsoft.com/office/drawing/2014/main" id="{E1BB0A2D-C7A3-85A8-EE94-C0019E5EF849}"/>
              </a:ext>
            </a:extLst>
          </p:cNvPr>
          <p:cNvSpPr>
            <a:spLocks noGrp="1"/>
          </p:cNvSpPr>
          <p:nvPr>
            <p:ph type="body" sz="quarter" idx="21"/>
          </p:nvPr>
        </p:nvSpPr>
        <p:spPr>
          <a:xfrm>
            <a:off x="4571314" y="1574295"/>
            <a:ext cx="7234915" cy="663515"/>
          </a:xfrm>
        </p:spPr>
        <p:txBody>
          <a:bodyPr/>
          <a:lstStyle/>
          <a:p>
            <a:r>
              <a:rPr lang="es-419" dirty="0"/>
              <a:t>Overview: Procedimiento Programar el inicio y finalización de los periodos académicos</a:t>
            </a:r>
          </a:p>
        </p:txBody>
      </p:sp>
      <p:sp>
        <p:nvSpPr>
          <p:cNvPr id="12" name="Marcador de texto 11">
            <a:extLst>
              <a:ext uri="{FF2B5EF4-FFF2-40B4-BE49-F238E27FC236}">
                <a16:creationId xmlns:a16="http://schemas.microsoft.com/office/drawing/2014/main" id="{D286A64F-1AC2-0842-49F6-CEE06ABF1090}"/>
              </a:ext>
            </a:extLst>
          </p:cNvPr>
          <p:cNvSpPr>
            <a:spLocks noGrp="1"/>
          </p:cNvSpPr>
          <p:nvPr>
            <p:ph type="body" sz="quarter" idx="22"/>
          </p:nvPr>
        </p:nvSpPr>
        <p:spPr>
          <a:xfrm>
            <a:off x="4571317" y="4483071"/>
            <a:ext cx="7234915" cy="324961"/>
          </a:xfrm>
        </p:spPr>
        <p:txBody>
          <a:bodyPr/>
          <a:lstStyle/>
          <a:p>
            <a:r>
              <a:rPr lang="es-ES_tradnl" dirty="0"/>
              <a:t>Resumen</a:t>
            </a:r>
          </a:p>
        </p:txBody>
      </p:sp>
      <p:sp>
        <p:nvSpPr>
          <p:cNvPr id="7" name="Marcador de texto 6">
            <a:extLst>
              <a:ext uri="{FF2B5EF4-FFF2-40B4-BE49-F238E27FC236}">
                <a16:creationId xmlns:a16="http://schemas.microsoft.com/office/drawing/2014/main" id="{6412E2B5-4BE1-B49E-58AB-9C60B6BBF141}"/>
              </a:ext>
            </a:extLst>
          </p:cNvPr>
          <p:cNvSpPr>
            <a:spLocks noGrp="1"/>
          </p:cNvSpPr>
          <p:nvPr>
            <p:ph type="body" sz="quarter" idx="10"/>
          </p:nvPr>
        </p:nvSpPr>
        <p:spPr/>
        <p:txBody>
          <a:bodyPr/>
          <a:lstStyle/>
          <a:p>
            <a:r>
              <a:rPr lang="es-419" dirty="0"/>
              <a:t>Tabla de contenidos</a:t>
            </a:r>
          </a:p>
        </p:txBody>
      </p:sp>
      <p:sp>
        <p:nvSpPr>
          <p:cNvPr id="2" name="Marcador de texto 8">
            <a:extLst>
              <a:ext uri="{FF2B5EF4-FFF2-40B4-BE49-F238E27FC236}">
                <a16:creationId xmlns:a16="http://schemas.microsoft.com/office/drawing/2014/main" id="{39658CF9-4262-EF31-21F8-59A4FFE638F1}"/>
              </a:ext>
            </a:extLst>
          </p:cNvPr>
          <p:cNvSpPr txBox="1">
            <a:spLocks/>
          </p:cNvSpPr>
          <p:nvPr/>
        </p:nvSpPr>
        <p:spPr>
          <a:xfrm>
            <a:off x="4571316" y="3845252"/>
            <a:ext cx="7234915" cy="322139"/>
          </a:xfrm>
          <a:prstGeom prst="rect">
            <a:avLst/>
          </a:prstGeom>
        </p:spPr>
        <p:txBody>
          <a:bodyPr vert="horz" lIns="0" tIns="0" rIns="0" bIns="0" rtlCol="0">
            <a:spAutoFit/>
          </a:bodyPr>
          <a:lstStyle>
            <a:lvl1pPr marL="231775" indent="-231775" algn="l" defTabSz="914400" rtl="0" eaLnBrk="1" latinLnBrk="0" hangingPunct="1">
              <a:lnSpc>
                <a:spcPct val="110000"/>
              </a:lnSpc>
              <a:spcBef>
                <a:spcPts val="0"/>
              </a:spcBef>
              <a:spcAft>
                <a:spcPts val="600"/>
              </a:spcAft>
              <a:buFont typeface="Arial" panose="020B0604020202020204" pitchFamily="34" charset="0"/>
              <a:buChar char="•"/>
              <a:tabLst/>
              <a:defRPr sz="20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dirty="0"/>
              <a:t>Programar</a:t>
            </a:r>
            <a:r>
              <a:rPr lang="es-ES_tradnl" dirty="0">
                <a:solidFill>
                  <a:srgbClr val="414042"/>
                </a:solidFill>
                <a:latin typeface="Arial"/>
                <a:cs typeface="Arial"/>
              </a:rPr>
              <a:t> el inicio y finalización de los periodos académicos</a:t>
            </a:r>
          </a:p>
        </p:txBody>
      </p:sp>
    </p:spTree>
    <p:extLst>
      <p:ext uri="{BB962C8B-B14F-4D97-AF65-F5344CB8AC3E}">
        <p14:creationId xmlns:p14="http://schemas.microsoft.com/office/powerpoint/2010/main" val="3958544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texto 9">
            <a:extLst>
              <a:ext uri="{FF2B5EF4-FFF2-40B4-BE49-F238E27FC236}">
                <a16:creationId xmlns:a16="http://schemas.microsoft.com/office/drawing/2014/main" id="{EC23B209-15D9-D0E9-52DA-CB94020FD7E0}"/>
              </a:ext>
            </a:extLst>
          </p:cNvPr>
          <p:cNvSpPr>
            <a:spLocks noGrp="1"/>
          </p:cNvSpPr>
          <p:nvPr>
            <p:ph type="body" sz="quarter" idx="10"/>
          </p:nvPr>
        </p:nvSpPr>
        <p:spPr>
          <a:xfrm>
            <a:off x="914399" y="2762054"/>
            <a:ext cx="10363202" cy="1333891"/>
          </a:xfrm>
        </p:spPr>
        <p:txBody>
          <a:bodyPr/>
          <a:lstStyle/>
          <a:p>
            <a:r>
              <a:rPr lang="es-419" dirty="0"/>
              <a:t>Capacidad Operativa Gestionar los periodos académicos</a:t>
            </a:r>
          </a:p>
        </p:txBody>
      </p:sp>
    </p:spTree>
    <p:extLst>
      <p:ext uri="{BB962C8B-B14F-4D97-AF65-F5344CB8AC3E}">
        <p14:creationId xmlns:p14="http://schemas.microsoft.com/office/powerpoint/2010/main" val="2599343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8E1C91-D53E-9F97-C485-84628578389D}"/>
              </a:ext>
            </a:extLst>
          </p:cNvPr>
          <p:cNvSpPr>
            <a:spLocks noGrp="1"/>
          </p:cNvSpPr>
          <p:nvPr>
            <p:ph type="body" sz="quarter" idx="10"/>
          </p:nvPr>
        </p:nvSpPr>
        <p:spPr/>
        <p:txBody>
          <a:bodyPr/>
          <a:lstStyle/>
          <a:p>
            <a:r>
              <a:rPr lang="en-US" dirty="0"/>
              <a:t>Overview: </a:t>
            </a:r>
            <a:r>
              <a:rPr lang="en-US" b="0" dirty="0"/>
              <a:t>Mapa de </a:t>
            </a:r>
            <a:r>
              <a:rPr lang="en-US" b="0" dirty="0" err="1"/>
              <a:t>capacidades</a:t>
            </a:r>
            <a:endParaRPr lang="es-419" dirty="0"/>
          </a:p>
        </p:txBody>
      </p:sp>
      <p:pic>
        <p:nvPicPr>
          <p:cNvPr id="1026" name="Picture 2">
            <a:extLst>
              <a:ext uri="{FF2B5EF4-FFF2-40B4-BE49-F238E27FC236}">
                <a16:creationId xmlns:a16="http://schemas.microsoft.com/office/drawing/2014/main" id="{3A5E5532-A998-508F-D976-B5AB9A86C5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25525"/>
            <a:ext cx="12192000" cy="4805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33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31C0327-E277-8995-30AD-95DC98DE725F}"/>
              </a:ext>
            </a:extLst>
          </p:cNvPr>
          <p:cNvSpPr>
            <a:spLocks noGrp="1"/>
          </p:cNvSpPr>
          <p:nvPr>
            <p:ph type="body" sz="quarter" idx="10"/>
          </p:nvPr>
        </p:nvSpPr>
        <p:spPr/>
        <p:txBody>
          <a:bodyPr/>
          <a:lstStyle/>
          <a:p>
            <a:r>
              <a:rPr lang="es-419" dirty="0" err="1"/>
              <a:t>Overview</a:t>
            </a:r>
            <a:r>
              <a:rPr lang="es-419" dirty="0"/>
              <a:t>: Proceso Gestionar los periodos académicos</a:t>
            </a:r>
          </a:p>
        </p:txBody>
      </p:sp>
      <p:sp>
        <p:nvSpPr>
          <p:cNvPr id="3" name="Marcador de texto 2">
            <a:extLst>
              <a:ext uri="{FF2B5EF4-FFF2-40B4-BE49-F238E27FC236}">
                <a16:creationId xmlns:a16="http://schemas.microsoft.com/office/drawing/2014/main" id="{E68A9006-C922-5FC9-18EF-DBB6C047A466}"/>
              </a:ext>
            </a:extLst>
          </p:cNvPr>
          <p:cNvSpPr>
            <a:spLocks noGrp="1"/>
          </p:cNvSpPr>
          <p:nvPr>
            <p:ph type="body" sz="quarter" idx="11"/>
          </p:nvPr>
        </p:nvSpPr>
        <p:spPr>
          <a:xfrm>
            <a:off x="522287" y="1056958"/>
            <a:ext cx="11122188" cy="597151"/>
          </a:xfrm>
        </p:spPr>
        <p:txBody>
          <a:bodyPr/>
          <a:lstStyle/>
          <a:p>
            <a:pPr marL="0" indent="0">
              <a:buNone/>
            </a:pPr>
            <a:r>
              <a:rPr lang="es-419" dirty="0"/>
              <a:t>A continuación, se presenta el diagrama del proceso “Gestionar los periodos académicos”, con sus responsables, las entradas y salidas correspondientes.</a:t>
            </a:r>
            <a:endParaRPr lang="es-CO" dirty="0"/>
          </a:p>
        </p:txBody>
      </p:sp>
      <p:pic>
        <p:nvPicPr>
          <p:cNvPr id="5" name="Imagen 4" descr="Diagrama&#10;&#10;Descripción generada automáticamente">
            <a:extLst>
              <a:ext uri="{FF2B5EF4-FFF2-40B4-BE49-F238E27FC236}">
                <a16:creationId xmlns:a16="http://schemas.microsoft.com/office/drawing/2014/main" id="{79E419D3-DB0E-88BC-8F3F-4723B34F7AD1}"/>
              </a:ext>
            </a:extLst>
          </p:cNvPr>
          <p:cNvPicPr>
            <a:picLocks noChangeAspect="1"/>
          </p:cNvPicPr>
          <p:nvPr/>
        </p:nvPicPr>
        <p:blipFill rotWithShape="1">
          <a:blip r:embed="rId2">
            <a:extLst>
              <a:ext uri="{28A0092B-C50C-407E-A947-70E740481C1C}">
                <a14:useLocalDpi xmlns:a14="http://schemas.microsoft.com/office/drawing/2010/main" val="0"/>
              </a:ext>
            </a:extLst>
          </a:blip>
          <a:srcRect l="4340" t="3029" r="4340"/>
          <a:stretch/>
        </p:blipFill>
        <p:spPr bwMode="auto">
          <a:xfrm>
            <a:off x="534905" y="2411066"/>
            <a:ext cx="11122189" cy="230723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90565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3" name="Picture 2" descr="A purple map of south america&#10;&#10;AI-generated content may be incorrect.">
            <a:extLst>
              <a:ext uri="{FF2B5EF4-FFF2-40B4-BE49-F238E27FC236}">
                <a16:creationId xmlns:a16="http://schemas.microsoft.com/office/drawing/2014/main" id="{B51507BD-F0E2-716E-DB07-E8A068E02CAB}"/>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DCE3D-50D9-FC71-7E43-175E6E1C54D2}"/>
            </a:ext>
          </a:extLst>
        </p:cNvPr>
        <p:cNvGrpSpPr/>
        <p:nvPr/>
      </p:nvGrpSpPr>
      <p:grpSpPr>
        <a:xfrm>
          <a:off x="0" y="0"/>
          <a:ext cx="0" cy="0"/>
          <a:chOff x="0" y="0"/>
          <a:chExt cx="0" cy="0"/>
        </a:xfrm>
      </p:grpSpPr>
      <p:sp>
        <p:nvSpPr>
          <p:cNvPr id="10" name="Marcador de texto 9">
            <a:extLst>
              <a:ext uri="{FF2B5EF4-FFF2-40B4-BE49-F238E27FC236}">
                <a16:creationId xmlns:a16="http://schemas.microsoft.com/office/drawing/2014/main" id="{5FC46760-4954-A13C-EAEB-B18B0AA68A79}"/>
              </a:ext>
            </a:extLst>
          </p:cNvPr>
          <p:cNvSpPr>
            <a:spLocks noGrp="1"/>
          </p:cNvSpPr>
          <p:nvPr>
            <p:ph type="body" sz="quarter" idx="10"/>
          </p:nvPr>
        </p:nvSpPr>
        <p:spPr>
          <a:xfrm>
            <a:off x="914399" y="2238843"/>
            <a:ext cx="10363202" cy="1998689"/>
          </a:xfrm>
        </p:spPr>
        <p:txBody>
          <a:bodyPr/>
          <a:lstStyle/>
          <a:p>
            <a:r>
              <a:rPr lang="es-419" dirty="0"/>
              <a:t>Procedimiento: Programar el inicio y finalización de los periodos académicos</a:t>
            </a:r>
          </a:p>
        </p:txBody>
      </p:sp>
    </p:spTree>
    <p:extLst>
      <p:ext uri="{BB962C8B-B14F-4D97-AF65-F5344CB8AC3E}">
        <p14:creationId xmlns:p14="http://schemas.microsoft.com/office/powerpoint/2010/main" val="1228125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F6A2B-AAE3-6A44-0155-2E011311AF3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15C1DE41-45EA-5BD8-5E55-8070A6291683}"/>
              </a:ext>
            </a:extLst>
          </p:cNvPr>
          <p:cNvSpPr>
            <a:spLocks noGrp="1"/>
          </p:cNvSpPr>
          <p:nvPr>
            <p:ph type="body" sz="quarter" idx="10"/>
          </p:nvPr>
        </p:nvSpPr>
        <p:spPr>
          <a:xfrm>
            <a:off x="522515" y="361822"/>
            <a:ext cx="11122188" cy="889282"/>
          </a:xfrm>
        </p:spPr>
        <p:txBody>
          <a:bodyPr/>
          <a:lstStyle/>
          <a:p>
            <a:r>
              <a:rPr lang="es-419" dirty="0" err="1"/>
              <a:t>Overview</a:t>
            </a:r>
            <a:r>
              <a:rPr lang="es-419" dirty="0"/>
              <a:t>: Procedimiento Programar el inicio y finalización de los periodos académicos.</a:t>
            </a:r>
          </a:p>
        </p:txBody>
      </p:sp>
      <p:sp>
        <p:nvSpPr>
          <p:cNvPr id="4" name="Marcador de texto 4">
            <a:extLst>
              <a:ext uri="{FF2B5EF4-FFF2-40B4-BE49-F238E27FC236}">
                <a16:creationId xmlns:a16="http://schemas.microsoft.com/office/drawing/2014/main" id="{56D1EE73-ACA4-0102-8413-92F21A24A6DD}"/>
              </a:ext>
            </a:extLst>
          </p:cNvPr>
          <p:cNvSpPr>
            <a:spLocks noGrp="1"/>
          </p:cNvSpPr>
          <p:nvPr>
            <p:ph type="body" sz="quarter" idx="11"/>
          </p:nvPr>
        </p:nvSpPr>
        <p:spPr>
          <a:xfrm>
            <a:off x="534987" y="1532762"/>
            <a:ext cx="11122188" cy="4090415"/>
          </a:xfrm>
        </p:spPr>
        <p:txBody>
          <a:bodyPr/>
          <a:lstStyle/>
          <a:p>
            <a:r>
              <a:rPr lang="es-CO" dirty="0"/>
              <a:t>Mediante este procedimiento se establece la creación del calendario académico institucional, definiendo las fechas correspondientes a los distintos procesos académico‑administrativos, entre ellos:</a:t>
            </a:r>
          </a:p>
          <a:p>
            <a:pPr lvl="1"/>
            <a:r>
              <a:rPr lang="es-CO" dirty="0"/>
              <a:t>Fechas de inscripción de cursos.</a:t>
            </a:r>
          </a:p>
          <a:p>
            <a:pPr lvl="1"/>
            <a:r>
              <a:rPr lang="es-CO" dirty="0"/>
              <a:t>Fechas de acceso a los procesos disponibles vía web.</a:t>
            </a:r>
          </a:p>
          <a:p>
            <a:r>
              <a:rPr lang="es-CO" dirty="0"/>
              <a:t>Asimismo, la planificación del período determina el desarrollo de diversos procesos, tales como:</a:t>
            </a:r>
          </a:p>
          <a:p>
            <a:pPr lvl="1"/>
            <a:r>
              <a:rPr lang="es-CO" dirty="0"/>
              <a:t>Evaluación docente.</a:t>
            </a:r>
          </a:p>
          <a:p>
            <a:pPr lvl="1"/>
            <a:r>
              <a:rPr lang="es-CO" dirty="0"/>
              <a:t>Procesos financieros.</a:t>
            </a:r>
          </a:p>
          <a:p>
            <a:pPr lvl="1"/>
            <a:r>
              <a:rPr lang="es-CO" dirty="0"/>
              <a:t>Procesos de graduación.</a:t>
            </a:r>
          </a:p>
          <a:p>
            <a:r>
              <a:rPr lang="es-CO" dirty="0"/>
              <a:t>Finalmente, la definición de las partes de período permite que, dentro de un mismo período académico, se establezcan distintas fechas de inicio para los programas de un mismo nivel académico  o se puedan manejar algunas excepciones, en concordancia con las políticas institucionales.</a:t>
            </a:r>
          </a:p>
          <a:p>
            <a:pPr marL="0" indent="0">
              <a:buNone/>
            </a:pPr>
            <a:endParaRPr lang="es-419" dirty="0"/>
          </a:p>
        </p:txBody>
      </p:sp>
    </p:spTree>
    <p:extLst>
      <p:ext uri="{BB962C8B-B14F-4D97-AF65-F5344CB8AC3E}">
        <p14:creationId xmlns:p14="http://schemas.microsoft.com/office/powerpoint/2010/main" val="3164968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2711B-114F-B372-FDC1-81ADDC1C58E8}"/>
            </a:ext>
          </a:extLst>
        </p:cNvPr>
        <p:cNvGrpSpPr/>
        <p:nvPr/>
      </p:nvGrpSpPr>
      <p:grpSpPr>
        <a:xfrm>
          <a:off x="0" y="0"/>
          <a:ext cx="0" cy="0"/>
          <a:chOff x="0" y="0"/>
          <a:chExt cx="0" cy="0"/>
        </a:xfrm>
      </p:grpSpPr>
      <p:sp>
        <p:nvSpPr>
          <p:cNvPr id="10" name="Marcador de texto 9">
            <a:extLst>
              <a:ext uri="{FF2B5EF4-FFF2-40B4-BE49-F238E27FC236}">
                <a16:creationId xmlns:a16="http://schemas.microsoft.com/office/drawing/2014/main" id="{3F6951F5-7A88-16DF-6DD3-2EA4848B6EE8}"/>
              </a:ext>
            </a:extLst>
          </p:cNvPr>
          <p:cNvSpPr>
            <a:spLocks noGrp="1"/>
          </p:cNvSpPr>
          <p:nvPr>
            <p:ph type="body" sz="quarter" idx="10"/>
          </p:nvPr>
        </p:nvSpPr>
        <p:spPr>
          <a:xfrm>
            <a:off x="914399" y="3094453"/>
            <a:ext cx="10363202" cy="669094"/>
          </a:xfrm>
        </p:spPr>
        <p:txBody>
          <a:bodyPr/>
          <a:lstStyle/>
          <a:p>
            <a:r>
              <a:rPr lang="es-419" dirty="0"/>
              <a:t>Definiciones</a:t>
            </a:r>
          </a:p>
        </p:txBody>
      </p:sp>
    </p:spTree>
    <p:extLst>
      <p:ext uri="{BB962C8B-B14F-4D97-AF65-F5344CB8AC3E}">
        <p14:creationId xmlns:p14="http://schemas.microsoft.com/office/powerpoint/2010/main" val="385724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8CC6-94D6-22CF-0618-69C3E58CBCDC}"/>
            </a:ext>
          </a:extLst>
        </p:cNvPr>
        <p:cNvGrpSpPr/>
        <p:nvPr/>
      </p:nvGrpSpPr>
      <p:grpSpPr>
        <a:xfrm>
          <a:off x="0" y="0"/>
          <a:ext cx="0" cy="0"/>
          <a:chOff x="0" y="0"/>
          <a:chExt cx="0" cy="0"/>
        </a:xfrm>
      </p:grpSpPr>
      <p:sp>
        <p:nvSpPr>
          <p:cNvPr id="4" name="TextBox 14">
            <a:extLst>
              <a:ext uri="{FF2B5EF4-FFF2-40B4-BE49-F238E27FC236}">
                <a16:creationId xmlns:a16="http://schemas.microsoft.com/office/drawing/2014/main" id="{6AD290B5-83FC-A26E-CF06-7E5993271C9E}"/>
              </a:ext>
            </a:extLst>
          </p:cNvPr>
          <p:cNvSpPr txBox="1"/>
          <p:nvPr/>
        </p:nvSpPr>
        <p:spPr>
          <a:xfrm>
            <a:off x="363048" y="3331592"/>
            <a:ext cx="2309075" cy="332399"/>
          </a:xfrm>
          <a:prstGeom prst="rect">
            <a:avLst/>
          </a:prstGeom>
          <a:noFill/>
        </p:spPr>
        <p:txBody>
          <a:bodyPr wrap="square" lIns="0" tIns="0" rIns="0" bIns="0" rtlCol="0">
            <a:spAutoFit/>
          </a:bodyPr>
          <a:lstStyle/>
          <a:p>
            <a:pPr algn="l">
              <a:lnSpc>
                <a:spcPct val="90000"/>
              </a:lnSpc>
            </a:pPr>
            <a:r>
              <a:rPr lang="es-CO" sz="2400" b="1" noProof="0" dirty="0"/>
              <a:t>Definiciones</a:t>
            </a:r>
          </a:p>
        </p:txBody>
      </p:sp>
      <p:sp>
        <p:nvSpPr>
          <p:cNvPr id="5" name="Freeform 12">
            <a:extLst>
              <a:ext uri="{FF2B5EF4-FFF2-40B4-BE49-F238E27FC236}">
                <a16:creationId xmlns:a16="http://schemas.microsoft.com/office/drawing/2014/main" id="{C0EA14AD-9518-8CC0-1BF1-4FDA5B71E542}"/>
              </a:ext>
            </a:extLst>
          </p:cNvPr>
          <p:cNvSpPr/>
          <p:nvPr/>
        </p:nvSpPr>
        <p:spPr>
          <a:xfrm>
            <a:off x="4630546" y="4393720"/>
            <a:ext cx="1541903" cy="1540986"/>
          </a:xfrm>
          <a:custGeom>
            <a:avLst/>
            <a:gdLst>
              <a:gd name="connsiteX0" fmla="*/ 577307 w 1541903"/>
              <a:gd name="connsiteY0" fmla="*/ 0 h 1540986"/>
              <a:gd name="connsiteX1" fmla="*/ 0 w 1541903"/>
              <a:gd name="connsiteY1" fmla="*/ 576964 h 1540986"/>
              <a:gd name="connsiteX2" fmla="*/ 557000 w 1541903"/>
              <a:gd name="connsiteY2" fmla="*/ 1540987 h 1540986"/>
              <a:gd name="connsiteX3" fmla="*/ 1541904 w 1541903"/>
              <a:gd name="connsiteY3" fmla="*/ 556669 h 1540986"/>
              <a:gd name="connsiteX4" fmla="*/ 577307 w 1541903"/>
              <a:gd name="connsiteY4" fmla="*/ 0 h 1540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903" h="1540986">
                <a:moveTo>
                  <a:pt x="577307" y="0"/>
                </a:moveTo>
                <a:cubicBezTo>
                  <a:pt x="433706" y="236294"/>
                  <a:pt x="234984" y="434898"/>
                  <a:pt x="0" y="576964"/>
                </a:cubicBezTo>
                <a:lnTo>
                  <a:pt x="557000" y="1540987"/>
                </a:lnTo>
                <a:cubicBezTo>
                  <a:pt x="961696" y="1300344"/>
                  <a:pt x="1301117" y="961123"/>
                  <a:pt x="1541904" y="556669"/>
                </a:cubicBezTo>
                <a:lnTo>
                  <a:pt x="577307" y="0"/>
                </a:lnTo>
                <a:close/>
              </a:path>
            </a:pathLst>
          </a:custGeom>
          <a:solidFill>
            <a:schemeClr val="accent3">
              <a:lumMod val="50000"/>
              <a:lumOff val="50000"/>
            </a:schemeClr>
          </a:solidFill>
          <a:ln w="14479" cap="flat">
            <a:noFill/>
            <a:prstDash val="solid"/>
            <a:miter/>
          </a:ln>
        </p:spPr>
        <p:txBody>
          <a:bodyPr rtlCol="0" anchor="ctr"/>
          <a:lstStyle/>
          <a:p>
            <a:endParaRPr lang="es-CO" noProof="0" dirty="0"/>
          </a:p>
        </p:txBody>
      </p:sp>
      <p:cxnSp>
        <p:nvCxnSpPr>
          <p:cNvPr id="8" name="Straight Connector 19">
            <a:extLst>
              <a:ext uri="{FF2B5EF4-FFF2-40B4-BE49-F238E27FC236}">
                <a16:creationId xmlns:a16="http://schemas.microsoft.com/office/drawing/2014/main" id="{47F05ED3-9C0A-32BB-BA49-8122E43BBACE}"/>
              </a:ext>
            </a:extLst>
          </p:cNvPr>
          <p:cNvCxnSpPr>
            <a:cxnSpLocks/>
          </p:cNvCxnSpPr>
          <p:nvPr/>
        </p:nvCxnSpPr>
        <p:spPr>
          <a:xfrm>
            <a:off x="5795727" y="4149013"/>
            <a:ext cx="957374" cy="0"/>
          </a:xfrm>
          <a:prstGeom prst="line">
            <a:avLst/>
          </a:prstGeom>
          <a:ln>
            <a:solidFill>
              <a:schemeClr val="accent4"/>
            </a:solidFill>
            <a:tailEnd type="oval"/>
          </a:ln>
        </p:spPr>
        <p:style>
          <a:lnRef idx="2">
            <a:schemeClr val="accent1"/>
          </a:lnRef>
          <a:fillRef idx="0">
            <a:schemeClr val="accent1"/>
          </a:fillRef>
          <a:effectRef idx="1">
            <a:schemeClr val="accent1"/>
          </a:effectRef>
          <a:fontRef idx="minor">
            <a:schemeClr val="tx1"/>
          </a:fontRef>
        </p:style>
      </p:cxnSp>
      <p:cxnSp>
        <p:nvCxnSpPr>
          <p:cNvPr id="9" name="Straight Connector 20">
            <a:extLst>
              <a:ext uri="{FF2B5EF4-FFF2-40B4-BE49-F238E27FC236}">
                <a16:creationId xmlns:a16="http://schemas.microsoft.com/office/drawing/2014/main" id="{44008FA6-2FEF-519E-4D7D-6F48A83708FA}"/>
              </a:ext>
            </a:extLst>
          </p:cNvPr>
          <p:cNvCxnSpPr>
            <a:cxnSpLocks/>
          </p:cNvCxnSpPr>
          <p:nvPr/>
        </p:nvCxnSpPr>
        <p:spPr>
          <a:xfrm>
            <a:off x="5636817" y="1724049"/>
            <a:ext cx="810277" cy="0"/>
          </a:xfrm>
          <a:prstGeom prst="line">
            <a:avLst/>
          </a:prstGeom>
          <a:ln>
            <a:solidFill>
              <a:schemeClr val="bg2"/>
            </a:solidFill>
            <a:tailEnd type="oval"/>
          </a:ln>
        </p:spPr>
        <p:style>
          <a:lnRef idx="2">
            <a:schemeClr val="accent1"/>
          </a:lnRef>
          <a:fillRef idx="0">
            <a:schemeClr val="accent1"/>
          </a:fillRef>
          <a:effectRef idx="1">
            <a:schemeClr val="accent1"/>
          </a:effectRef>
          <a:fontRef idx="minor">
            <a:schemeClr val="tx1"/>
          </a:fontRef>
        </p:style>
      </p:cxnSp>
      <p:cxnSp>
        <p:nvCxnSpPr>
          <p:cNvPr id="10" name="Straight Connector 21">
            <a:extLst>
              <a:ext uri="{FF2B5EF4-FFF2-40B4-BE49-F238E27FC236}">
                <a16:creationId xmlns:a16="http://schemas.microsoft.com/office/drawing/2014/main" id="{BD666693-B1AE-573C-3897-67792C41C0EC}"/>
              </a:ext>
            </a:extLst>
          </p:cNvPr>
          <p:cNvCxnSpPr>
            <a:cxnSpLocks/>
          </p:cNvCxnSpPr>
          <p:nvPr/>
        </p:nvCxnSpPr>
        <p:spPr>
          <a:xfrm flipV="1">
            <a:off x="3875981" y="626077"/>
            <a:ext cx="1455980" cy="37139"/>
          </a:xfrm>
          <a:prstGeom prst="line">
            <a:avLst/>
          </a:prstGeom>
          <a:ln>
            <a:solidFill>
              <a:schemeClr val="accent2"/>
            </a:solidFill>
            <a:tailEnd type="oval"/>
          </a:ln>
        </p:spPr>
        <p:style>
          <a:lnRef idx="2">
            <a:schemeClr val="accent1"/>
          </a:lnRef>
          <a:fillRef idx="0">
            <a:schemeClr val="accent1"/>
          </a:fillRef>
          <a:effectRef idx="1">
            <a:schemeClr val="accent1"/>
          </a:effectRef>
          <a:fontRef idx="minor">
            <a:schemeClr val="tx1"/>
          </a:fontRef>
        </p:style>
      </p:cxnSp>
      <p:sp>
        <p:nvSpPr>
          <p:cNvPr id="11" name="Freeform 6">
            <a:extLst>
              <a:ext uri="{FF2B5EF4-FFF2-40B4-BE49-F238E27FC236}">
                <a16:creationId xmlns:a16="http://schemas.microsoft.com/office/drawing/2014/main" id="{0145E9FE-9F18-56BA-2C56-FBBBFE49B8E1}"/>
              </a:ext>
            </a:extLst>
          </p:cNvPr>
          <p:cNvSpPr/>
          <p:nvPr/>
        </p:nvSpPr>
        <p:spPr>
          <a:xfrm flipV="1">
            <a:off x="5116998" y="5231714"/>
            <a:ext cx="1324325" cy="177699"/>
          </a:xfrm>
          <a:custGeom>
            <a:avLst/>
            <a:gdLst>
              <a:gd name="connsiteX0" fmla="*/ 2539014 w 2539014"/>
              <a:gd name="connsiteY0" fmla="*/ 0 h 914400"/>
              <a:gd name="connsiteX1" fmla="*/ 2219418 w 2539014"/>
              <a:gd name="connsiteY1" fmla="*/ 0 h 914400"/>
              <a:gd name="connsiteX2" fmla="*/ 2219418 w 2539014"/>
              <a:gd name="connsiteY2" fmla="*/ 914400 h 914400"/>
              <a:gd name="connsiteX3" fmla="*/ 8878 w 2539014"/>
              <a:gd name="connsiteY3" fmla="*/ 914400 h 914400"/>
              <a:gd name="connsiteX4" fmla="*/ 0 w 2539014"/>
              <a:gd name="connsiteY4" fmla="*/ 816746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9014" h="914400">
                <a:moveTo>
                  <a:pt x="2539014" y="0"/>
                </a:moveTo>
                <a:lnTo>
                  <a:pt x="2219418" y="0"/>
                </a:lnTo>
                <a:lnTo>
                  <a:pt x="2219418" y="914400"/>
                </a:lnTo>
                <a:lnTo>
                  <a:pt x="8878" y="914400"/>
                </a:lnTo>
                <a:lnTo>
                  <a:pt x="0" y="816746"/>
                </a:lnTo>
              </a:path>
            </a:pathLst>
          </a:custGeom>
          <a:noFill/>
          <a:ln>
            <a:solidFill>
              <a:schemeClr val="accent3">
                <a:lumMod val="50000"/>
                <a:lumOff val="50000"/>
              </a:schemeClr>
            </a:solidFill>
            <a:head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2" name="Freeform 7">
            <a:extLst>
              <a:ext uri="{FF2B5EF4-FFF2-40B4-BE49-F238E27FC236}">
                <a16:creationId xmlns:a16="http://schemas.microsoft.com/office/drawing/2014/main" id="{CB975A42-99F4-FA7C-EAF7-0A0755604BAD}"/>
              </a:ext>
            </a:extLst>
          </p:cNvPr>
          <p:cNvSpPr/>
          <p:nvPr/>
        </p:nvSpPr>
        <p:spPr>
          <a:xfrm>
            <a:off x="3770915" y="668154"/>
            <a:ext cx="1346083" cy="1323538"/>
          </a:xfrm>
          <a:custGeom>
            <a:avLst/>
            <a:gdLst>
              <a:gd name="connsiteX0" fmla="*/ 0 w 1346083"/>
              <a:gd name="connsiteY0" fmla="*/ 0 h 1323538"/>
              <a:gd name="connsiteX1" fmla="*/ 0 w 1346083"/>
              <a:gd name="connsiteY1" fmla="*/ 1111888 h 1323538"/>
              <a:gd name="connsiteX2" fmla="*/ 789083 w 1346083"/>
              <a:gd name="connsiteY2" fmla="*/ 1323538 h 1323538"/>
              <a:gd name="connsiteX3" fmla="*/ 1346084 w 1346083"/>
              <a:gd name="connsiteY3" fmla="*/ 359515 h 1323538"/>
              <a:gd name="connsiteX4" fmla="*/ 0 w 1346083"/>
              <a:gd name="connsiteY4" fmla="*/ 0 h 1323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083" h="1323538">
                <a:moveTo>
                  <a:pt x="0" y="0"/>
                </a:moveTo>
                <a:lnTo>
                  <a:pt x="0" y="1111888"/>
                </a:lnTo>
                <a:cubicBezTo>
                  <a:pt x="285753" y="1117687"/>
                  <a:pt x="554099" y="1193069"/>
                  <a:pt x="789083" y="1323538"/>
                </a:cubicBezTo>
                <a:lnTo>
                  <a:pt x="1346084" y="359515"/>
                </a:lnTo>
                <a:cubicBezTo>
                  <a:pt x="947190" y="136268"/>
                  <a:pt x="488826" y="5799"/>
                  <a:pt x="0" y="0"/>
                </a:cubicBezTo>
                <a:close/>
              </a:path>
            </a:pathLst>
          </a:custGeom>
          <a:solidFill>
            <a:schemeClr val="accent2"/>
          </a:solidFill>
          <a:ln w="14479" cap="flat">
            <a:noFill/>
            <a:prstDash val="solid"/>
            <a:miter/>
          </a:ln>
        </p:spPr>
        <p:txBody>
          <a:bodyPr rtlCol="0" anchor="ctr"/>
          <a:lstStyle/>
          <a:p>
            <a:endParaRPr lang="es-CO" noProof="0" dirty="0"/>
          </a:p>
        </p:txBody>
      </p:sp>
      <p:sp>
        <p:nvSpPr>
          <p:cNvPr id="13" name="Freeform 8">
            <a:extLst>
              <a:ext uri="{FF2B5EF4-FFF2-40B4-BE49-F238E27FC236}">
                <a16:creationId xmlns:a16="http://schemas.microsoft.com/office/drawing/2014/main" id="{F18A852F-BD73-9639-9413-4508D7E82E87}"/>
              </a:ext>
            </a:extLst>
          </p:cNvPr>
          <p:cNvSpPr/>
          <p:nvPr/>
        </p:nvSpPr>
        <p:spPr>
          <a:xfrm>
            <a:off x="3770915" y="4995385"/>
            <a:ext cx="1346083" cy="1323538"/>
          </a:xfrm>
          <a:custGeom>
            <a:avLst/>
            <a:gdLst>
              <a:gd name="connsiteX0" fmla="*/ 789083 w 1346083"/>
              <a:gd name="connsiteY0" fmla="*/ 0 h 1323538"/>
              <a:gd name="connsiteX1" fmla="*/ 0 w 1346083"/>
              <a:gd name="connsiteY1" fmla="*/ 211650 h 1323538"/>
              <a:gd name="connsiteX2" fmla="*/ 0 w 1346083"/>
              <a:gd name="connsiteY2" fmla="*/ 1323538 h 1323538"/>
              <a:gd name="connsiteX3" fmla="*/ 1346084 w 1346083"/>
              <a:gd name="connsiteY3" fmla="*/ 964023 h 1323538"/>
              <a:gd name="connsiteX4" fmla="*/ 789083 w 1346083"/>
              <a:gd name="connsiteY4" fmla="*/ 0 h 1323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083" h="1323538">
                <a:moveTo>
                  <a:pt x="789083" y="0"/>
                </a:moveTo>
                <a:cubicBezTo>
                  <a:pt x="554099" y="129020"/>
                  <a:pt x="285753" y="205852"/>
                  <a:pt x="0" y="211650"/>
                </a:cubicBezTo>
                <a:lnTo>
                  <a:pt x="0" y="1323538"/>
                </a:lnTo>
                <a:cubicBezTo>
                  <a:pt x="488826" y="1317740"/>
                  <a:pt x="947190" y="1187270"/>
                  <a:pt x="1346084" y="964023"/>
                </a:cubicBezTo>
                <a:lnTo>
                  <a:pt x="789083" y="0"/>
                </a:lnTo>
                <a:close/>
              </a:path>
            </a:pathLst>
          </a:custGeom>
          <a:solidFill>
            <a:schemeClr val="accent6"/>
          </a:solidFill>
          <a:ln w="14479" cap="flat">
            <a:noFill/>
            <a:prstDash val="solid"/>
            <a:miter/>
          </a:ln>
        </p:spPr>
        <p:txBody>
          <a:bodyPr rtlCol="0" anchor="ctr"/>
          <a:lstStyle/>
          <a:p>
            <a:endParaRPr lang="es-CO" noProof="0" dirty="0"/>
          </a:p>
        </p:txBody>
      </p:sp>
      <p:sp>
        <p:nvSpPr>
          <p:cNvPr id="14" name="Freeform 9">
            <a:extLst>
              <a:ext uri="{FF2B5EF4-FFF2-40B4-BE49-F238E27FC236}">
                <a16:creationId xmlns:a16="http://schemas.microsoft.com/office/drawing/2014/main" id="{34D4AD24-59FA-8A6B-FA2C-A5DE71BF8B15}"/>
              </a:ext>
            </a:extLst>
          </p:cNvPr>
          <p:cNvSpPr/>
          <p:nvPr/>
        </p:nvSpPr>
        <p:spPr>
          <a:xfrm>
            <a:off x="5237392" y="3529780"/>
            <a:ext cx="1324325" cy="1345283"/>
          </a:xfrm>
          <a:custGeom>
            <a:avLst/>
            <a:gdLst>
              <a:gd name="connsiteX0" fmla="*/ 1324326 w 1324325"/>
              <a:gd name="connsiteY0" fmla="*/ 0 h 1345283"/>
              <a:gd name="connsiteX1" fmla="*/ 211776 w 1324325"/>
              <a:gd name="connsiteY1" fmla="*/ 0 h 1345283"/>
              <a:gd name="connsiteX2" fmla="*/ 0 w 1324325"/>
              <a:gd name="connsiteY2" fmla="*/ 788614 h 1345283"/>
              <a:gd name="connsiteX3" fmla="*/ 964597 w 1324325"/>
              <a:gd name="connsiteY3" fmla="*/ 1345283 h 1345283"/>
              <a:gd name="connsiteX4" fmla="*/ 1324326 w 1324325"/>
              <a:gd name="connsiteY4" fmla="*/ 0 h 1345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325" h="1345283">
                <a:moveTo>
                  <a:pt x="1324326" y="0"/>
                </a:moveTo>
                <a:lnTo>
                  <a:pt x="211776" y="0"/>
                </a:lnTo>
                <a:cubicBezTo>
                  <a:pt x="205974" y="285583"/>
                  <a:pt x="130547" y="553770"/>
                  <a:pt x="0" y="788614"/>
                </a:cubicBezTo>
                <a:lnTo>
                  <a:pt x="964597" y="1345283"/>
                </a:lnTo>
                <a:cubicBezTo>
                  <a:pt x="1187977" y="946627"/>
                  <a:pt x="1318524" y="488535"/>
                  <a:pt x="1324326" y="0"/>
                </a:cubicBezTo>
                <a:close/>
              </a:path>
            </a:pathLst>
          </a:custGeom>
          <a:solidFill>
            <a:schemeClr val="accent4"/>
          </a:solidFill>
          <a:ln w="14479" cap="flat">
            <a:noFill/>
            <a:prstDash val="solid"/>
            <a:miter/>
          </a:ln>
        </p:spPr>
        <p:txBody>
          <a:bodyPr rtlCol="0" anchor="ctr"/>
          <a:lstStyle/>
          <a:p>
            <a:endParaRPr lang="es-CO" noProof="0" dirty="0"/>
          </a:p>
        </p:txBody>
      </p:sp>
      <p:sp>
        <p:nvSpPr>
          <p:cNvPr id="15" name="Freeform 10">
            <a:extLst>
              <a:ext uri="{FF2B5EF4-FFF2-40B4-BE49-F238E27FC236}">
                <a16:creationId xmlns:a16="http://schemas.microsoft.com/office/drawing/2014/main" id="{0E8C99A7-363B-A418-E63E-9B1E50089278}"/>
              </a:ext>
            </a:extLst>
          </p:cNvPr>
          <p:cNvSpPr/>
          <p:nvPr/>
        </p:nvSpPr>
        <p:spPr>
          <a:xfrm>
            <a:off x="4623821" y="1063911"/>
            <a:ext cx="1541903" cy="1540987"/>
          </a:xfrm>
          <a:custGeom>
            <a:avLst/>
            <a:gdLst>
              <a:gd name="connsiteX0" fmla="*/ 0 w 1541903"/>
              <a:gd name="connsiteY0" fmla="*/ 964023 h 1540987"/>
              <a:gd name="connsiteX1" fmla="*/ 577307 w 1541903"/>
              <a:gd name="connsiteY1" fmla="*/ 1540987 h 1540987"/>
              <a:gd name="connsiteX2" fmla="*/ 1541904 w 1541903"/>
              <a:gd name="connsiteY2" fmla="*/ 984318 h 1540987"/>
              <a:gd name="connsiteX3" fmla="*/ 557000 w 1541903"/>
              <a:gd name="connsiteY3" fmla="*/ 0 h 1540987"/>
              <a:gd name="connsiteX4" fmla="*/ 0 w 1541903"/>
              <a:gd name="connsiteY4" fmla="*/ 964023 h 1540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903" h="1540987">
                <a:moveTo>
                  <a:pt x="0" y="964023"/>
                </a:moveTo>
                <a:cubicBezTo>
                  <a:pt x="236435" y="1107539"/>
                  <a:pt x="435156" y="1306142"/>
                  <a:pt x="577307" y="1540987"/>
                </a:cubicBezTo>
                <a:lnTo>
                  <a:pt x="1541904" y="984318"/>
                </a:lnTo>
                <a:cubicBezTo>
                  <a:pt x="1301117" y="579864"/>
                  <a:pt x="961696" y="240643"/>
                  <a:pt x="557000" y="0"/>
                </a:cubicBezTo>
                <a:lnTo>
                  <a:pt x="0" y="964023"/>
                </a:lnTo>
                <a:close/>
              </a:path>
            </a:pathLst>
          </a:custGeom>
          <a:solidFill>
            <a:schemeClr val="bg2"/>
          </a:solidFill>
          <a:ln w="14479" cap="flat">
            <a:noFill/>
            <a:prstDash val="solid"/>
            <a:miter/>
          </a:ln>
        </p:spPr>
        <p:txBody>
          <a:bodyPr rtlCol="0" anchor="ctr"/>
          <a:lstStyle/>
          <a:p>
            <a:endParaRPr lang="es-CO" noProof="0" dirty="0"/>
          </a:p>
        </p:txBody>
      </p:sp>
      <p:sp>
        <p:nvSpPr>
          <p:cNvPr id="16" name="Freeform 11">
            <a:extLst>
              <a:ext uri="{FF2B5EF4-FFF2-40B4-BE49-F238E27FC236}">
                <a16:creationId xmlns:a16="http://schemas.microsoft.com/office/drawing/2014/main" id="{35C7E49C-1C5B-FE28-EE16-C2E64820DC95}"/>
              </a:ext>
            </a:extLst>
          </p:cNvPr>
          <p:cNvSpPr/>
          <p:nvPr/>
        </p:nvSpPr>
        <p:spPr>
          <a:xfrm>
            <a:off x="5237392" y="2112014"/>
            <a:ext cx="1324325" cy="1345283"/>
          </a:xfrm>
          <a:custGeom>
            <a:avLst/>
            <a:gdLst>
              <a:gd name="connsiteX0" fmla="*/ 0 w 1324325"/>
              <a:gd name="connsiteY0" fmla="*/ 556669 h 1345283"/>
              <a:gd name="connsiteX1" fmla="*/ 211776 w 1324325"/>
              <a:gd name="connsiteY1" fmla="*/ 1345283 h 1345283"/>
              <a:gd name="connsiteX2" fmla="*/ 1324326 w 1324325"/>
              <a:gd name="connsiteY2" fmla="*/ 1345283 h 1345283"/>
              <a:gd name="connsiteX3" fmla="*/ 964597 w 1324325"/>
              <a:gd name="connsiteY3" fmla="*/ 0 h 1345283"/>
              <a:gd name="connsiteX4" fmla="*/ 0 w 1324325"/>
              <a:gd name="connsiteY4" fmla="*/ 556669 h 1345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325" h="1345283">
                <a:moveTo>
                  <a:pt x="0" y="556669"/>
                </a:moveTo>
                <a:cubicBezTo>
                  <a:pt x="129096" y="791514"/>
                  <a:pt x="205974" y="1059700"/>
                  <a:pt x="211776" y="1345283"/>
                </a:cubicBezTo>
                <a:lnTo>
                  <a:pt x="1324326" y="1345283"/>
                </a:lnTo>
                <a:cubicBezTo>
                  <a:pt x="1318524" y="856748"/>
                  <a:pt x="1187977" y="398656"/>
                  <a:pt x="964597" y="0"/>
                </a:cubicBezTo>
                <a:lnTo>
                  <a:pt x="0" y="556669"/>
                </a:lnTo>
                <a:close/>
              </a:path>
            </a:pathLst>
          </a:custGeom>
          <a:solidFill>
            <a:schemeClr val="accent3"/>
          </a:solidFill>
          <a:ln w="14479" cap="flat">
            <a:noFill/>
            <a:prstDash val="solid"/>
            <a:miter/>
          </a:ln>
        </p:spPr>
        <p:txBody>
          <a:bodyPr rtlCol="0" anchor="ctr"/>
          <a:lstStyle/>
          <a:p>
            <a:endParaRPr lang="es-CO" noProof="0" dirty="0"/>
          </a:p>
        </p:txBody>
      </p:sp>
      <p:sp>
        <p:nvSpPr>
          <p:cNvPr id="17" name="Freeform 13">
            <a:extLst>
              <a:ext uri="{FF2B5EF4-FFF2-40B4-BE49-F238E27FC236}">
                <a16:creationId xmlns:a16="http://schemas.microsoft.com/office/drawing/2014/main" id="{02856D01-0231-033D-1FA5-651D38B449A3}"/>
              </a:ext>
            </a:extLst>
          </p:cNvPr>
          <p:cNvSpPr/>
          <p:nvPr/>
        </p:nvSpPr>
        <p:spPr>
          <a:xfrm>
            <a:off x="2149118" y="1914861"/>
            <a:ext cx="3159234" cy="3157356"/>
          </a:xfrm>
          <a:custGeom>
            <a:avLst/>
            <a:gdLst>
              <a:gd name="connsiteX0" fmla="*/ 3159235 w 3159234"/>
              <a:gd name="connsiteY0" fmla="*/ 1578678 h 3157356"/>
              <a:gd name="connsiteX1" fmla="*/ 1579617 w 3159234"/>
              <a:gd name="connsiteY1" fmla="*/ 3157356 h 3157356"/>
              <a:gd name="connsiteX2" fmla="*/ 0 w 3159234"/>
              <a:gd name="connsiteY2" fmla="*/ 1578678 h 3157356"/>
              <a:gd name="connsiteX3" fmla="*/ 1579617 w 3159234"/>
              <a:gd name="connsiteY3" fmla="*/ 0 h 3157356"/>
              <a:gd name="connsiteX4" fmla="*/ 3159235 w 3159234"/>
              <a:gd name="connsiteY4" fmla="*/ 1578678 h 3157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9234" h="3157356">
                <a:moveTo>
                  <a:pt x="3159235" y="1578678"/>
                </a:moveTo>
                <a:cubicBezTo>
                  <a:pt x="3159235" y="2450558"/>
                  <a:pt x="2452016" y="3157356"/>
                  <a:pt x="1579617" y="3157356"/>
                </a:cubicBezTo>
                <a:cubicBezTo>
                  <a:pt x="707219" y="3157356"/>
                  <a:pt x="0" y="2450558"/>
                  <a:pt x="0" y="1578678"/>
                </a:cubicBezTo>
                <a:cubicBezTo>
                  <a:pt x="0" y="706798"/>
                  <a:pt x="707219" y="0"/>
                  <a:pt x="1579617" y="0"/>
                </a:cubicBezTo>
                <a:cubicBezTo>
                  <a:pt x="2452016" y="0"/>
                  <a:pt x="3159235" y="706798"/>
                  <a:pt x="3159235" y="1578678"/>
                </a:cubicBezTo>
                <a:close/>
              </a:path>
            </a:pathLst>
          </a:custGeom>
          <a:solidFill>
            <a:schemeClr val="bg1"/>
          </a:solidFill>
          <a:ln w="14479" cap="flat">
            <a:noFill/>
            <a:prstDash val="solid"/>
            <a:miter/>
          </a:ln>
          <a:effectLst>
            <a:outerShdw blurRad="254000" dist="127000" dir="2700000" algn="tl" rotWithShape="0">
              <a:prstClr val="black">
                <a:alpha val="30000"/>
              </a:prstClr>
            </a:outerShdw>
          </a:effectLst>
        </p:spPr>
        <p:txBody>
          <a:bodyPr rtlCol="0" anchor="ctr"/>
          <a:lstStyle/>
          <a:p>
            <a:endParaRPr lang="es-CO" noProof="0" dirty="0"/>
          </a:p>
        </p:txBody>
      </p:sp>
      <p:pic>
        <p:nvPicPr>
          <p:cNvPr id="18" name="Graphic 29">
            <a:extLst>
              <a:ext uri="{FF2B5EF4-FFF2-40B4-BE49-F238E27FC236}">
                <a16:creationId xmlns:a16="http://schemas.microsoft.com/office/drawing/2014/main" id="{8F953009-36EB-A435-A59C-F1F75B538A6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118172" y="1668973"/>
            <a:ext cx="490025" cy="490025"/>
          </a:xfrm>
          <a:prstGeom prst="rect">
            <a:avLst/>
          </a:prstGeom>
        </p:spPr>
      </p:pic>
      <p:pic>
        <p:nvPicPr>
          <p:cNvPr id="19" name="Graphic 30">
            <a:extLst>
              <a:ext uri="{FF2B5EF4-FFF2-40B4-BE49-F238E27FC236}">
                <a16:creationId xmlns:a16="http://schemas.microsoft.com/office/drawing/2014/main" id="{6EC3C499-461F-BA45-B37A-C572FFF841E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90022" y="2668448"/>
            <a:ext cx="490025" cy="490025"/>
          </a:xfrm>
          <a:prstGeom prst="rect">
            <a:avLst/>
          </a:prstGeom>
        </p:spPr>
      </p:pic>
      <p:sp>
        <p:nvSpPr>
          <p:cNvPr id="20" name="TextBox 31">
            <a:extLst>
              <a:ext uri="{FF2B5EF4-FFF2-40B4-BE49-F238E27FC236}">
                <a16:creationId xmlns:a16="http://schemas.microsoft.com/office/drawing/2014/main" id="{823AE801-01DC-4B40-8A96-A34BE118288D}"/>
              </a:ext>
            </a:extLst>
          </p:cNvPr>
          <p:cNvSpPr txBox="1"/>
          <p:nvPr/>
        </p:nvSpPr>
        <p:spPr>
          <a:xfrm>
            <a:off x="2541729" y="3173805"/>
            <a:ext cx="2372268" cy="830997"/>
          </a:xfrm>
          <a:prstGeom prst="rect">
            <a:avLst/>
          </a:prstGeom>
          <a:noFill/>
        </p:spPr>
        <p:txBody>
          <a:bodyPr wrap="square" lIns="0" tIns="0" rIns="0" bIns="0" rtlCol="0">
            <a:spAutoFit/>
          </a:bodyPr>
          <a:lstStyle/>
          <a:p>
            <a:pPr algn="ctr"/>
            <a:r>
              <a:rPr lang="es-CO" sz="1800" b="1" noProof="0" dirty="0">
                <a:solidFill>
                  <a:srgbClr val="340040"/>
                </a:solidFill>
                <a:effectLst/>
                <a:latin typeface="Libre Franklin" pitchFamily="2" charset="0"/>
                <a:ea typeface="Calibri" panose="020F0502020204030204" pitchFamily="34" charset="0"/>
                <a:cs typeface="Arial" panose="020B0604020202020204" pitchFamily="34" charset="0"/>
              </a:rPr>
              <a:t>Programar el inicio y finalización de los periodos académicos</a:t>
            </a:r>
            <a:endParaRPr lang="es-CO" b="1" noProof="0" dirty="0"/>
          </a:p>
        </p:txBody>
      </p:sp>
      <p:pic>
        <p:nvPicPr>
          <p:cNvPr id="21" name="Graphic 32">
            <a:extLst>
              <a:ext uri="{FF2B5EF4-FFF2-40B4-BE49-F238E27FC236}">
                <a16:creationId xmlns:a16="http://schemas.microsoft.com/office/drawing/2014/main" id="{336BE696-F61D-3BED-6BB3-E56F56C06A5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636817" y="3811816"/>
            <a:ext cx="490025" cy="490025"/>
          </a:xfrm>
          <a:prstGeom prst="rect">
            <a:avLst/>
          </a:prstGeom>
        </p:spPr>
      </p:pic>
      <p:grpSp>
        <p:nvGrpSpPr>
          <p:cNvPr id="37" name="Group 48">
            <a:extLst>
              <a:ext uri="{FF2B5EF4-FFF2-40B4-BE49-F238E27FC236}">
                <a16:creationId xmlns:a16="http://schemas.microsoft.com/office/drawing/2014/main" id="{5F667324-837B-0371-8AAD-CE240BA9F978}"/>
              </a:ext>
            </a:extLst>
          </p:cNvPr>
          <p:cNvGrpSpPr/>
          <p:nvPr/>
        </p:nvGrpSpPr>
        <p:grpSpPr>
          <a:xfrm>
            <a:off x="7094422" y="2684615"/>
            <a:ext cx="4609898" cy="979376"/>
            <a:chOff x="7566432" y="699554"/>
            <a:chExt cx="3814740" cy="979376"/>
          </a:xfrm>
        </p:grpSpPr>
        <p:sp>
          <p:nvSpPr>
            <p:cNvPr id="38" name="TextBox 49">
              <a:extLst>
                <a:ext uri="{FF2B5EF4-FFF2-40B4-BE49-F238E27FC236}">
                  <a16:creationId xmlns:a16="http://schemas.microsoft.com/office/drawing/2014/main" id="{206F348C-FA00-3EC2-E469-161805C17E1D}"/>
                </a:ext>
              </a:extLst>
            </p:cNvPr>
            <p:cNvSpPr txBox="1"/>
            <p:nvPr/>
          </p:nvSpPr>
          <p:spPr>
            <a:xfrm>
              <a:off x="7566432" y="699554"/>
              <a:ext cx="3758465" cy="246221"/>
            </a:xfrm>
            <a:prstGeom prst="rect">
              <a:avLst/>
            </a:prstGeom>
            <a:noFill/>
          </p:spPr>
          <p:txBody>
            <a:bodyPr wrap="square" lIns="0" tIns="0" rIns="0" bIns="0" rtlCol="0">
              <a:spAutoFit/>
            </a:bodyPr>
            <a:lstStyle/>
            <a:p>
              <a:r>
                <a:rPr lang="es-CO" sz="1600" b="1" noProof="0" dirty="0"/>
                <a:t>Plan de estudios</a:t>
              </a:r>
            </a:p>
          </p:txBody>
        </p:sp>
        <p:sp>
          <p:nvSpPr>
            <p:cNvPr id="39" name="TextBox 50">
              <a:extLst>
                <a:ext uri="{FF2B5EF4-FFF2-40B4-BE49-F238E27FC236}">
                  <a16:creationId xmlns:a16="http://schemas.microsoft.com/office/drawing/2014/main" id="{05882022-844B-C0B7-5388-E5C0AF7B692C}"/>
                </a:ext>
              </a:extLst>
            </p:cNvPr>
            <p:cNvSpPr txBox="1"/>
            <p:nvPr/>
          </p:nvSpPr>
          <p:spPr>
            <a:xfrm>
              <a:off x="7622707" y="940266"/>
              <a:ext cx="3758465" cy="738664"/>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También conocida como “</a:t>
              </a:r>
              <a:r>
                <a:rPr lang="es-CO" sz="1200" noProof="0" dirty="0" err="1">
                  <a:effectLst/>
                  <a:latin typeface="Helvetica Neue" panose="02000503000000020004" pitchFamily="2" charset="0"/>
                </a:rPr>
                <a:t>Study</a:t>
              </a:r>
              <a:r>
                <a:rPr lang="es-CO" sz="1200" noProof="0" dirty="0">
                  <a:effectLst/>
                  <a:latin typeface="Helvetica Neue" panose="02000503000000020004" pitchFamily="2" charset="0"/>
                </a:rPr>
                <a:t> </a:t>
              </a:r>
              <a:r>
                <a:rPr lang="es-CO" sz="1200" noProof="0" dirty="0" err="1">
                  <a:effectLst/>
                  <a:latin typeface="Helvetica Neue" panose="02000503000000020004" pitchFamily="2" charset="0"/>
                </a:rPr>
                <a:t>Path</a:t>
              </a:r>
              <a:r>
                <a:rPr lang="es-CO" sz="1200" noProof="0" dirty="0">
                  <a:effectLst/>
                  <a:latin typeface="Helvetica Neue" panose="02000503000000020004" pitchFamily="2" charset="0"/>
                </a:rPr>
                <a:t>”, es una funcionalidad que permite el manejo de programas simultáneos que un estudiante puede estar cursando y corresponde a un consecutivo generado por cada programa académico.</a:t>
              </a:r>
            </a:p>
          </p:txBody>
        </p:sp>
      </p:grpSp>
      <p:pic>
        <p:nvPicPr>
          <p:cNvPr id="40" name="Picture 10" descr="10 mil resultados de imágenes, fotos de stock e ilustraciones libres de  regalías para Active status | Shutterstock">
            <a:extLst>
              <a:ext uri="{FF2B5EF4-FFF2-40B4-BE49-F238E27FC236}">
                <a16:creationId xmlns:a16="http://schemas.microsoft.com/office/drawing/2014/main" id="{756FCD60-B274-3EF2-641E-EAFB880E51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80816" y="4798308"/>
            <a:ext cx="547818" cy="547818"/>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pic>
        <p:nvPicPr>
          <p:cNvPr id="41" name="Picture 12" descr="843 Superacion Personal High Res Illustrations - Getty Images | Exito,  Motivacion, Trabajo en equipo">
            <a:extLst>
              <a:ext uri="{FF2B5EF4-FFF2-40B4-BE49-F238E27FC236}">
                <a16:creationId xmlns:a16="http://schemas.microsoft.com/office/drawing/2014/main" id="{395D95BD-5692-8FCC-C3D1-5B22C6C0D16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86978" y="5455806"/>
            <a:ext cx="444899" cy="444899"/>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pic>
        <p:nvPicPr>
          <p:cNvPr id="42" name="Picture 14" descr="Docentes | SITEAL">
            <a:extLst>
              <a:ext uri="{FF2B5EF4-FFF2-40B4-BE49-F238E27FC236}">
                <a16:creationId xmlns:a16="http://schemas.microsoft.com/office/drawing/2014/main" id="{62DA2215-D99D-C716-3699-F4D1641049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6576" y="1003984"/>
            <a:ext cx="665701" cy="437392"/>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grpSp>
        <p:nvGrpSpPr>
          <p:cNvPr id="29" name="Group 45">
            <a:extLst>
              <a:ext uri="{FF2B5EF4-FFF2-40B4-BE49-F238E27FC236}">
                <a16:creationId xmlns:a16="http://schemas.microsoft.com/office/drawing/2014/main" id="{B59960A1-69F0-07CC-FCAD-A6B2FE4B5063}"/>
              </a:ext>
            </a:extLst>
          </p:cNvPr>
          <p:cNvGrpSpPr/>
          <p:nvPr/>
        </p:nvGrpSpPr>
        <p:grpSpPr>
          <a:xfrm>
            <a:off x="6561717" y="1294816"/>
            <a:ext cx="5398092" cy="994019"/>
            <a:chOff x="7534866" y="500245"/>
            <a:chExt cx="3846306" cy="994019"/>
          </a:xfrm>
        </p:grpSpPr>
        <p:sp>
          <p:nvSpPr>
            <p:cNvPr id="30" name="TextBox 46">
              <a:extLst>
                <a:ext uri="{FF2B5EF4-FFF2-40B4-BE49-F238E27FC236}">
                  <a16:creationId xmlns:a16="http://schemas.microsoft.com/office/drawing/2014/main" id="{8A9B9A58-A5D3-A38D-2A13-116A9D750F68}"/>
                </a:ext>
              </a:extLst>
            </p:cNvPr>
            <p:cNvSpPr txBox="1"/>
            <p:nvPr/>
          </p:nvSpPr>
          <p:spPr>
            <a:xfrm>
              <a:off x="7534866" y="500245"/>
              <a:ext cx="3758465" cy="246221"/>
            </a:xfrm>
            <a:prstGeom prst="rect">
              <a:avLst/>
            </a:prstGeom>
            <a:noFill/>
          </p:spPr>
          <p:txBody>
            <a:bodyPr wrap="square" lIns="0" tIns="0" rIns="0" bIns="0" rtlCol="0">
              <a:spAutoFit/>
            </a:bodyPr>
            <a:lstStyle/>
            <a:p>
              <a:r>
                <a:rPr lang="es-CO" sz="1600" b="1" dirty="0"/>
                <a:t>Parte de periodo</a:t>
              </a:r>
              <a:endParaRPr lang="es-CO" sz="1600" b="1" noProof="0" dirty="0"/>
            </a:p>
          </p:txBody>
        </p:sp>
        <p:sp>
          <p:nvSpPr>
            <p:cNvPr id="43" name="TextBox 47">
              <a:extLst>
                <a:ext uri="{FF2B5EF4-FFF2-40B4-BE49-F238E27FC236}">
                  <a16:creationId xmlns:a16="http://schemas.microsoft.com/office/drawing/2014/main" id="{3022C013-77C7-E4D6-59DD-4820B7E8F80D}"/>
                </a:ext>
              </a:extLst>
            </p:cNvPr>
            <p:cNvSpPr txBox="1"/>
            <p:nvPr/>
          </p:nvSpPr>
          <p:spPr>
            <a:xfrm>
              <a:off x="7622707" y="940266"/>
              <a:ext cx="3758465" cy="553998"/>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Permite definir rangos de fechas específicos para grupos de cursos dentro del mismo periodo. Cada parte de periodo va a tener sus propias fecha de inicio de clase y fin de clases, adición y retiro de cursos, ingreso de calificaciones</a:t>
              </a:r>
            </a:p>
          </p:txBody>
        </p:sp>
      </p:grpSp>
      <p:grpSp>
        <p:nvGrpSpPr>
          <p:cNvPr id="47" name="Group 36">
            <a:extLst>
              <a:ext uri="{FF2B5EF4-FFF2-40B4-BE49-F238E27FC236}">
                <a16:creationId xmlns:a16="http://schemas.microsoft.com/office/drawing/2014/main" id="{7D4BAC7C-875A-28E3-DF41-5CFFA7BD0B7F}"/>
              </a:ext>
            </a:extLst>
          </p:cNvPr>
          <p:cNvGrpSpPr/>
          <p:nvPr/>
        </p:nvGrpSpPr>
        <p:grpSpPr>
          <a:xfrm>
            <a:off x="5608197" y="229338"/>
            <a:ext cx="6096123" cy="1024127"/>
            <a:chOff x="7622707" y="627459"/>
            <a:chExt cx="3831815" cy="1024127"/>
          </a:xfrm>
        </p:grpSpPr>
        <p:sp>
          <p:nvSpPr>
            <p:cNvPr id="48" name="TextBox 37">
              <a:extLst>
                <a:ext uri="{FF2B5EF4-FFF2-40B4-BE49-F238E27FC236}">
                  <a16:creationId xmlns:a16="http://schemas.microsoft.com/office/drawing/2014/main" id="{D4DF2A1B-B447-3E4E-82FE-A90C422DE669}"/>
                </a:ext>
              </a:extLst>
            </p:cNvPr>
            <p:cNvSpPr txBox="1"/>
            <p:nvPr/>
          </p:nvSpPr>
          <p:spPr>
            <a:xfrm>
              <a:off x="7622707" y="627459"/>
              <a:ext cx="3758465" cy="246221"/>
            </a:xfrm>
            <a:prstGeom prst="rect">
              <a:avLst/>
            </a:prstGeom>
            <a:noFill/>
          </p:spPr>
          <p:txBody>
            <a:bodyPr wrap="square" lIns="0" tIns="0" rIns="0" bIns="0" rtlCol="0">
              <a:spAutoFit/>
            </a:bodyPr>
            <a:lstStyle/>
            <a:p>
              <a:r>
                <a:rPr lang="es-CO" sz="1600" b="1" noProof="0" dirty="0"/>
                <a:t>Periodo académico</a:t>
              </a:r>
            </a:p>
          </p:txBody>
        </p:sp>
        <p:sp>
          <p:nvSpPr>
            <p:cNvPr id="49" name="TextBox 38">
              <a:extLst>
                <a:ext uri="{FF2B5EF4-FFF2-40B4-BE49-F238E27FC236}">
                  <a16:creationId xmlns:a16="http://schemas.microsoft.com/office/drawing/2014/main" id="{E9926FD8-DE58-7B37-B543-B78ED4F673F1}"/>
                </a:ext>
              </a:extLst>
            </p:cNvPr>
            <p:cNvSpPr txBox="1"/>
            <p:nvPr/>
          </p:nvSpPr>
          <p:spPr>
            <a:xfrm>
              <a:off x="7696057" y="912922"/>
              <a:ext cx="3758465" cy="738664"/>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Corresponde a un lapso durante el cual la institución realiza diferentes actividades académicas, como admisión, inscripción de cursos (matrícula), ingreso de calificaciones, ingreso de asistencia, procesos de graduación y procesos financieros.</a:t>
              </a:r>
            </a:p>
          </p:txBody>
        </p:sp>
      </p:grpSp>
      <p:grpSp>
        <p:nvGrpSpPr>
          <p:cNvPr id="50" name="Group 45">
            <a:extLst>
              <a:ext uri="{FF2B5EF4-FFF2-40B4-BE49-F238E27FC236}">
                <a16:creationId xmlns:a16="http://schemas.microsoft.com/office/drawing/2014/main" id="{31E5B78D-AC4D-810B-FD09-468C3C114A21}"/>
              </a:ext>
            </a:extLst>
          </p:cNvPr>
          <p:cNvGrpSpPr/>
          <p:nvPr/>
        </p:nvGrpSpPr>
        <p:grpSpPr>
          <a:xfrm>
            <a:off x="6658901" y="5195353"/>
            <a:ext cx="5114055" cy="980444"/>
            <a:chOff x="7369336" y="536903"/>
            <a:chExt cx="4011836" cy="980444"/>
          </a:xfrm>
        </p:grpSpPr>
        <p:sp>
          <p:nvSpPr>
            <p:cNvPr id="51" name="TextBox 46">
              <a:extLst>
                <a:ext uri="{FF2B5EF4-FFF2-40B4-BE49-F238E27FC236}">
                  <a16:creationId xmlns:a16="http://schemas.microsoft.com/office/drawing/2014/main" id="{E845DE45-5AAC-51F0-9233-10DC6F423D42}"/>
                </a:ext>
              </a:extLst>
            </p:cNvPr>
            <p:cNvSpPr txBox="1"/>
            <p:nvPr/>
          </p:nvSpPr>
          <p:spPr>
            <a:xfrm>
              <a:off x="7369336" y="536903"/>
              <a:ext cx="3758465" cy="246221"/>
            </a:xfrm>
            <a:prstGeom prst="rect">
              <a:avLst/>
            </a:prstGeom>
            <a:noFill/>
          </p:spPr>
          <p:txBody>
            <a:bodyPr wrap="square" lIns="0" tIns="0" rIns="0" bIns="0" rtlCol="0">
              <a:spAutoFit/>
            </a:bodyPr>
            <a:lstStyle/>
            <a:p>
              <a:r>
                <a:rPr lang="es-CO" sz="1600" b="1" noProof="0" dirty="0"/>
                <a:t>Proyecciones</a:t>
              </a:r>
            </a:p>
          </p:txBody>
        </p:sp>
        <p:sp>
          <p:nvSpPr>
            <p:cNvPr id="52" name="TextBox 47">
              <a:extLst>
                <a:ext uri="{FF2B5EF4-FFF2-40B4-BE49-F238E27FC236}">
                  <a16:creationId xmlns:a16="http://schemas.microsoft.com/office/drawing/2014/main" id="{5157EAEF-89DD-A937-4311-D837C0E5F811}"/>
                </a:ext>
              </a:extLst>
            </p:cNvPr>
            <p:cNvSpPr txBox="1"/>
            <p:nvPr/>
          </p:nvSpPr>
          <p:spPr>
            <a:xfrm>
              <a:off x="7622707" y="940266"/>
              <a:ext cx="3758465" cy="577081"/>
            </a:xfrm>
            <a:prstGeom prst="rect">
              <a:avLst/>
            </a:prstGeom>
            <a:noFill/>
          </p:spPr>
          <p:txBody>
            <a:bodyPr wrap="square" lIns="0" tIns="0" rIns="0" bIns="0" rtlCol="0">
              <a:spAutoFit/>
            </a:bodyPr>
            <a:lstStyle/>
            <a:p>
              <a:pPr fontAlgn="t">
                <a:lnSpc>
                  <a:spcPts val="1500"/>
                </a:lnSpc>
                <a:buNone/>
              </a:pPr>
              <a:r>
                <a:rPr lang="es-CO" sz="1200" dirty="0">
                  <a:latin typeface="Segoe UI" panose="020B0502040204020203" pitchFamily="34" charset="0"/>
                </a:rPr>
                <a:t>Modalidad de inscripción de materias que muestra al estudiante los cursos que están habilitados para registrar, de acuerdo con los requisitos definidos en su malla curricular mediante CAPP.</a:t>
              </a:r>
            </a:p>
          </p:txBody>
        </p:sp>
      </p:grpSp>
      <p:cxnSp>
        <p:nvCxnSpPr>
          <p:cNvPr id="53" name="Straight Connector 18">
            <a:extLst>
              <a:ext uri="{FF2B5EF4-FFF2-40B4-BE49-F238E27FC236}">
                <a16:creationId xmlns:a16="http://schemas.microsoft.com/office/drawing/2014/main" id="{A2C5E429-9F08-1180-9910-DD4F5B83B5E3}"/>
              </a:ext>
            </a:extLst>
          </p:cNvPr>
          <p:cNvCxnSpPr>
            <a:cxnSpLocks/>
          </p:cNvCxnSpPr>
          <p:nvPr/>
        </p:nvCxnSpPr>
        <p:spPr>
          <a:xfrm>
            <a:off x="5959070" y="3158473"/>
            <a:ext cx="957374" cy="0"/>
          </a:xfrm>
          <a:prstGeom prst="line">
            <a:avLst/>
          </a:prstGeom>
          <a:ln>
            <a:solidFill>
              <a:schemeClr val="accent3"/>
            </a:solidFill>
            <a:tailEnd type="oval"/>
          </a:ln>
        </p:spPr>
        <p:style>
          <a:lnRef idx="2">
            <a:schemeClr val="accent1"/>
          </a:lnRef>
          <a:fillRef idx="0">
            <a:schemeClr val="accent1"/>
          </a:fillRef>
          <a:effectRef idx="1">
            <a:schemeClr val="accent1"/>
          </a:effectRef>
          <a:fontRef idx="minor">
            <a:schemeClr val="tx1"/>
          </a:fontRef>
        </p:style>
      </p:cxnSp>
      <p:grpSp>
        <p:nvGrpSpPr>
          <p:cNvPr id="6" name="Group 45">
            <a:extLst>
              <a:ext uri="{FF2B5EF4-FFF2-40B4-BE49-F238E27FC236}">
                <a16:creationId xmlns:a16="http://schemas.microsoft.com/office/drawing/2014/main" id="{47029689-FEEB-A5C0-4091-8EDAF96D31AE}"/>
              </a:ext>
            </a:extLst>
          </p:cNvPr>
          <p:cNvGrpSpPr/>
          <p:nvPr/>
        </p:nvGrpSpPr>
        <p:grpSpPr>
          <a:xfrm>
            <a:off x="7090521" y="4057103"/>
            <a:ext cx="5114055" cy="957361"/>
            <a:chOff x="7369336" y="536903"/>
            <a:chExt cx="4011836" cy="957361"/>
          </a:xfrm>
        </p:grpSpPr>
        <p:sp>
          <p:nvSpPr>
            <p:cNvPr id="7" name="TextBox 46">
              <a:extLst>
                <a:ext uri="{FF2B5EF4-FFF2-40B4-BE49-F238E27FC236}">
                  <a16:creationId xmlns:a16="http://schemas.microsoft.com/office/drawing/2014/main" id="{F5B78965-DE49-930E-AAA4-3C45CB3610CA}"/>
                </a:ext>
              </a:extLst>
            </p:cNvPr>
            <p:cNvSpPr txBox="1"/>
            <p:nvPr/>
          </p:nvSpPr>
          <p:spPr>
            <a:xfrm>
              <a:off x="7369336" y="536903"/>
              <a:ext cx="3758465" cy="246221"/>
            </a:xfrm>
            <a:prstGeom prst="rect">
              <a:avLst/>
            </a:prstGeom>
            <a:noFill/>
          </p:spPr>
          <p:txBody>
            <a:bodyPr wrap="square" lIns="0" tIns="0" rIns="0" bIns="0" rtlCol="0">
              <a:spAutoFit/>
            </a:bodyPr>
            <a:lstStyle/>
            <a:p>
              <a:r>
                <a:rPr lang="es-CO" sz="1600" b="1" noProof="0" dirty="0"/>
                <a:t>Prerrequisito</a:t>
              </a:r>
            </a:p>
          </p:txBody>
        </p:sp>
        <p:sp>
          <p:nvSpPr>
            <p:cNvPr id="22" name="TextBox 47">
              <a:extLst>
                <a:ext uri="{FF2B5EF4-FFF2-40B4-BE49-F238E27FC236}">
                  <a16:creationId xmlns:a16="http://schemas.microsoft.com/office/drawing/2014/main" id="{420D8AC0-DFE2-3A9E-1A6E-BC61A859DB14}"/>
                </a:ext>
              </a:extLst>
            </p:cNvPr>
            <p:cNvSpPr txBox="1"/>
            <p:nvPr/>
          </p:nvSpPr>
          <p:spPr>
            <a:xfrm>
              <a:off x="7622707" y="940266"/>
              <a:ext cx="3758465" cy="553998"/>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Curso o asignatura, conocimiento o requisito previo que debe aprobar o cumplir obligatoriamente un estudiante, antes de poder matricularte en un curso más avanzado.</a:t>
              </a:r>
            </a:p>
          </p:txBody>
        </p:sp>
      </p:grpSp>
    </p:spTree>
    <p:extLst>
      <p:ext uri="{BB962C8B-B14F-4D97-AF65-F5344CB8AC3E}">
        <p14:creationId xmlns:p14="http://schemas.microsoft.com/office/powerpoint/2010/main" val="65189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F889-74CF-5C5A-813C-9F84952254A0}"/>
            </a:ext>
          </a:extLst>
        </p:cNvPr>
        <p:cNvGrpSpPr/>
        <p:nvPr/>
      </p:nvGrpSpPr>
      <p:grpSpPr>
        <a:xfrm>
          <a:off x="0" y="0"/>
          <a:ext cx="0" cy="0"/>
          <a:chOff x="0" y="0"/>
          <a:chExt cx="0" cy="0"/>
        </a:xfrm>
      </p:grpSpPr>
      <p:cxnSp>
        <p:nvCxnSpPr>
          <p:cNvPr id="23" name="Conector: angular 22">
            <a:extLst>
              <a:ext uri="{FF2B5EF4-FFF2-40B4-BE49-F238E27FC236}">
                <a16:creationId xmlns:a16="http://schemas.microsoft.com/office/drawing/2014/main" id="{3E6B28F2-5485-F945-1D6C-8B5CBBC35691}"/>
              </a:ext>
            </a:extLst>
          </p:cNvPr>
          <p:cNvCxnSpPr/>
          <p:nvPr/>
        </p:nvCxnSpPr>
        <p:spPr>
          <a:xfrm>
            <a:off x="5401497" y="5541264"/>
            <a:ext cx="1036260" cy="272976"/>
          </a:xfrm>
          <a:prstGeom prst="bentConnector3">
            <a:avLst/>
          </a:prstGeom>
        </p:spPr>
        <p:style>
          <a:lnRef idx="2">
            <a:schemeClr val="accent2"/>
          </a:lnRef>
          <a:fillRef idx="0">
            <a:schemeClr val="accent2"/>
          </a:fillRef>
          <a:effectRef idx="1">
            <a:schemeClr val="accent2"/>
          </a:effectRef>
          <a:fontRef idx="minor">
            <a:schemeClr val="tx1"/>
          </a:fontRef>
        </p:style>
      </p:cxnSp>
      <p:sp>
        <p:nvSpPr>
          <p:cNvPr id="4" name="TextBox 14">
            <a:extLst>
              <a:ext uri="{FF2B5EF4-FFF2-40B4-BE49-F238E27FC236}">
                <a16:creationId xmlns:a16="http://schemas.microsoft.com/office/drawing/2014/main" id="{2D0223E6-D361-6740-1117-61AE88DFA103}"/>
              </a:ext>
            </a:extLst>
          </p:cNvPr>
          <p:cNvSpPr txBox="1"/>
          <p:nvPr/>
        </p:nvSpPr>
        <p:spPr>
          <a:xfrm>
            <a:off x="229643" y="3327339"/>
            <a:ext cx="2309075" cy="332399"/>
          </a:xfrm>
          <a:prstGeom prst="rect">
            <a:avLst/>
          </a:prstGeom>
          <a:noFill/>
        </p:spPr>
        <p:txBody>
          <a:bodyPr wrap="square" lIns="0" tIns="0" rIns="0" bIns="0" rtlCol="0">
            <a:spAutoFit/>
          </a:bodyPr>
          <a:lstStyle/>
          <a:p>
            <a:pPr algn="l">
              <a:lnSpc>
                <a:spcPct val="90000"/>
              </a:lnSpc>
            </a:pPr>
            <a:r>
              <a:rPr lang="es-CO" sz="2400" b="1" noProof="0" dirty="0"/>
              <a:t>Definiciones</a:t>
            </a:r>
          </a:p>
        </p:txBody>
      </p:sp>
      <p:sp>
        <p:nvSpPr>
          <p:cNvPr id="5" name="Freeform 12">
            <a:extLst>
              <a:ext uri="{FF2B5EF4-FFF2-40B4-BE49-F238E27FC236}">
                <a16:creationId xmlns:a16="http://schemas.microsoft.com/office/drawing/2014/main" id="{F4F38DC2-B798-4562-B63F-712CCB654865}"/>
              </a:ext>
            </a:extLst>
          </p:cNvPr>
          <p:cNvSpPr/>
          <p:nvPr/>
        </p:nvSpPr>
        <p:spPr>
          <a:xfrm>
            <a:off x="4630546" y="4393720"/>
            <a:ext cx="1541903" cy="1540986"/>
          </a:xfrm>
          <a:custGeom>
            <a:avLst/>
            <a:gdLst>
              <a:gd name="connsiteX0" fmla="*/ 577307 w 1541903"/>
              <a:gd name="connsiteY0" fmla="*/ 0 h 1540986"/>
              <a:gd name="connsiteX1" fmla="*/ 0 w 1541903"/>
              <a:gd name="connsiteY1" fmla="*/ 576964 h 1540986"/>
              <a:gd name="connsiteX2" fmla="*/ 557000 w 1541903"/>
              <a:gd name="connsiteY2" fmla="*/ 1540987 h 1540986"/>
              <a:gd name="connsiteX3" fmla="*/ 1541904 w 1541903"/>
              <a:gd name="connsiteY3" fmla="*/ 556669 h 1540986"/>
              <a:gd name="connsiteX4" fmla="*/ 577307 w 1541903"/>
              <a:gd name="connsiteY4" fmla="*/ 0 h 1540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903" h="1540986">
                <a:moveTo>
                  <a:pt x="577307" y="0"/>
                </a:moveTo>
                <a:cubicBezTo>
                  <a:pt x="433706" y="236294"/>
                  <a:pt x="234984" y="434898"/>
                  <a:pt x="0" y="576964"/>
                </a:cubicBezTo>
                <a:lnTo>
                  <a:pt x="557000" y="1540987"/>
                </a:lnTo>
                <a:cubicBezTo>
                  <a:pt x="961696" y="1300344"/>
                  <a:pt x="1301117" y="961123"/>
                  <a:pt x="1541904" y="556669"/>
                </a:cubicBezTo>
                <a:lnTo>
                  <a:pt x="577307" y="0"/>
                </a:lnTo>
                <a:close/>
              </a:path>
            </a:pathLst>
          </a:custGeom>
          <a:solidFill>
            <a:schemeClr val="accent3">
              <a:lumMod val="50000"/>
              <a:lumOff val="50000"/>
            </a:schemeClr>
          </a:solidFill>
          <a:ln w="14479" cap="flat">
            <a:noFill/>
            <a:prstDash val="solid"/>
            <a:miter/>
          </a:ln>
        </p:spPr>
        <p:txBody>
          <a:bodyPr rtlCol="0" anchor="ctr"/>
          <a:lstStyle/>
          <a:p>
            <a:endParaRPr lang="es-CO" noProof="0" dirty="0"/>
          </a:p>
        </p:txBody>
      </p:sp>
      <p:cxnSp>
        <p:nvCxnSpPr>
          <p:cNvPr id="8" name="Straight Connector 19">
            <a:extLst>
              <a:ext uri="{FF2B5EF4-FFF2-40B4-BE49-F238E27FC236}">
                <a16:creationId xmlns:a16="http://schemas.microsoft.com/office/drawing/2014/main" id="{AEFF5745-7F0D-E635-AB12-A9291B90EE52}"/>
              </a:ext>
            </a:extLst>
          </p:cNvPr>
          <p:cNvCxnSpPr>
            <a:cxnSpLocks/>
          </p:cNvCxnSpPr>
          <p:nvPr/>
        </p:nvCxnSpPr>
        <p:spPr>
          <a:xfrm>
            <a:off x="5795727" y="4149013"/>
            <a:ext cx="957374" cy="0"/>
          </a:xfrm>
          <a:prstGeom prst="line">
            <a:avLst/>
          </a:prstGeom>
          <a:ln>
            <a:solidFill>
              <a:schemeClr val="accent4"/>
            </a:solidFill>
            <a:tailEnd type="oval"/>
          </a:ln>
        </p:spPr>
        <p:style>
          <a:lnRef idx="2">
            <a:schemeClr val="accent1"/>
          </a:lnRef>
          <a:fillRef idx="0">
            <a:schemeClr val="accent1"/>
          </a:fillRef>
          <a:effectRef idx="1">
            <a:schemeClr val="accent1"/>
          </a:effectRef>
          <a:fontRef idx="minor">
            <a:schemeClr val="tx1"/>
          </a:fontRef>
        </p:style>
      </p:cxnSp>
      <p:cxnSp>
        <p:nvCxnSpPr>
          <p:cNvPr id="9" name="Straight Connector 20">
            <a:extLst>
              <a:ext uri="{FF2B5EF4-FFF2-40B4-BE49-F238E27FC236}">
                <a16:creationId xmlns:a16="http://schemas.microsoft.com/office/drawing/2014/main" id="{574D7411-C183-5D75-299D-B9F31962CDC3}"/>
              </a:ext>
            </a:extLst>
          </p:cNvPr>
          <p:cNvCxnSpPr>
            <a:cxnSpLocks/>
          </p:cNvCxnSpPr>
          <p:nvPr/>
        </p:nvCxnSpPr>
        <p:spPr>
          <a:xfrm>
            <a:off x="5636817" y="1724049"/>
            <a:ext cx="810277" cy="0"/>
          </a:xfrm>
          <a:prstGeom prst="line">
            <a:avLst/>
          </a:prstGeom>
          <a:ln>
            <a:solidFill>
              <a:schemeClr val="bg2"/>
            </a:solidFill>
            <a:tailEnd type="oval"/>
          </a:ln>
        </p:spPr>
        <p:style>
          <a:lnRef idx="2">
            <a:schemeClr val="accent1"/>
          </a:lnRef>
          <a:fillRef idx="0">
            <a:schemeClr val="accent1"/>
          </a:fillRef>
          <a:effectRef idx="1">
            <a:schemeClr val="accent1"/>
          </a:effectRef>
          <a:fontRef idx="minor">
            <a:schemeClr val="tx1"/>
          </a:fontRef>
        </p:style>
      </p:cxnSp>
      <p:cxnSp>
        <p:nvCxnSpPr>
          <p:cNvPr id="10" name="Straight Connector 21">
            <a:extLst>
              <a:ext uri="{FF2B5EF4-FFF2-40B4-BE49-F238E27FC236}">
                <a16:creationId xmlns:a16="http://schemas.microsoft.com/office/drawing/2014/main" id="{FD29C0A6-CADA-34F5-982E-693F89A3F634}"/>
              </a:ext>
            </a:extLst>
          </p:cNvPr>
          <p:cNvCxnSpPr>
            <a:cxnSpLocks/>
          </p:cNvCxnSpPr>
          <p:nvPr/>
        </p:nvCxnSpPr>
        <p:spPr>
          <a:xfrm flipV="1">
            <a:off x="3875981" y="626077"/>
            <a:ext cx="1455980" cy="37139"/>
          </a:xfrm>
          <a:prstGeom prst="line">
            <a:avLst/>
          </a:prstGeom>
          <a:ln>
            <a:solidFill>
              <a:schemeClr val="accent2"/>
            </a:solidFill>
            <a:tailEnd type="oval"/>
          </a:ln>
        </p:spPr>
        <p:style>
          <a:lnRef idx="2">
            <a:schemeClr val="accent1"/>
          </a:lnRef>
          <a:fillRef idx="0">
            <a:schemeClr val="accent1"/>
          </a:fillRef>
          <a:effectRef idx="1">
            <a:schemeClr val="accent1"/>
          </a:effectRef>
          <a:fontRef idx="minor">
            <a:schemeClr val="tx1"/>
          </a:fontRef>
        </p:style>
      </p:cxnSp>
      <p:sp>
        <p:nvSpPr>
          <p:cNvPr id="12" name="Freeform 7">
            <a:extLst>
              <a:ext uri="{FF2B5EF4-FFF2-40B4-BE49-F238E27FC236}">
                <a16:creationId xmlns:a16="http://schemas.microsoft.com/office/drawing/2014/main" id="{54F28E98-DDE8-5C7D-DEF0-1141AC1A6903}"/>
              </a:ext>
            </a:extLst>
          </p:cNvPr>
          <p:cNvSpPr/>
          <p:nvPr/>
        </p:nvSpPr>
        <p:spPr>
          <a:xfrm>
            <a:off x="3770915" y="668154"/>
            <a:ext cx="1346083" cy="1323538"/>
          </a:xfrm>
          <a:custGeom>
            <a:avLst/>
            <a:gdLst>
              <a:gd name="connsiteX0" fmla="*/ 0 w 1346083"/>
              <a:gd name="connsiteY0" fmla="*/ 0 h 1323538"/>
              <a:gd name="connsiteX1" fmla="*/ 0 w 1346083"/>
              <a:gd name="connsiteY1" fmla="*/ 1111888 h 1323538"/>
              <a:gd name="connsiteX2" fmla="*/ 789083 w 1346083"/>
              <a:gd name="connsiteY2" fmla="*/ 1323538 h 1323538"/>
              <a:gd name="connsiteX3" fmla="*/ 1346084 w 1346083"/>
              <a:gd name="connsiteY3" fmla="*/ 359515 h 1323538"/>
              <a:gd name="connsiteX4" fmla="*/ 0 w 1346083"/>
              <a:gd name="connsiteY4" fmla="*/ 0 h 1323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083" h="1323538">
                <a:moveTo>
                  <a:pt x="0" y="0"/>
                </a:moveTo>
                <a:lnTo>
                  <a:pt x="0" y="1111888"/>
                </a:lnTo>
                <a:cubicBezTo>
                  <a:pt x="285753" y="1117687"/>
                  <a:pt x="554099" y="1193069"/>
                  <a:pt x="789083" y="1323538"/>
                </a:cubicBezTo>
                <a:lnTo>
                  <a:pt x="1346084" y="359515"/>
                </a:lnTo>
                <a:cubicBezTo>
                  <a:pt x="947190" y="136268"/>
                  <a:pt x="488826" y="5799"/>
                  <a:pt x="0" y="0"/>
                </a:cubicBezTo>
                <a:close/>
              </a:path>
            </a:pathLst>
          </a:custGeom>
          <a:solidFill>
            <a:schemeClr val="accent2"/>
          </a:solidFill>
          <a:ln w="14479" cap="flat">
            <a:noFill/>
            <a:prstDash val="solid"/>
            <a:miter/>
          </a:ln>
        </p:spPr>
        <p:txBody>
          <a:bodyPr rtlCol="0" anchor="ctr"/>
          <a:lstStyle/>
          <a:p>
            <a:endParaRPr lang="es-CO" noProof="0" dirty="0"/>
          </a:p>
        </p:txBody>
      </p:sp>
      <p:sp>
        <p:nvSpPr>
          <p:cNvPr id="13" name="Freeform 8">
            <a:extLst>
              <a:ext uri="{FF2B5EF4-FFF2-40B4-BE49-F238E27FC236}">
                <a16:creationId xmlns:a16="http://schemas.microsoft.com/office/drawing/2014/main" id="{6CD6019F-2D14-777D-6CD1-DB334690406C}"/>
              </a:ext>
            </a:extLst>
          </p:cNvPr>
          <p:cNvSpPr/>
          <p:nvPr/>
        </p:nvSpPr>
        <p:spPr>
          <a:xfrm>
            <a:off x="3770915" y="4995385"/>
            <a:ext cx="1346083" cy="1323538"/>
          </a:xfrm>
          <a:custGeom>
            <a:avLst/>
            <a:gdLst>
              <a:gd name="connsiteX0" fmla="*/ 789083 w 1346083"/>
              <a:gd name="connsiteY0" fmla="*/ 0 h 1323538"/>
              <a:gd name="connsiteX1" fmla="*/ 0 w 1346083"/>
              <a:gd name="connsiteY1" fmla="*/ 211650 h 1323538"/>
              <a:gd name="connsiteX2" fmla="*/ 0 w 1346083"/>
              <a:gd name="connsiteY2" fmla="*/ 1323538 h 1323538"/>
              <a:gd name="connsiteX3" fmla="*/ 1346084 w 1346083"/>
              <a:gd name="connsiteY3" fmla="*/ 964023 h 1323538"/>
              <a:gd name="connsiteX4" fmla="*/ 789083 w 1346083"/>
              <a:gd name="connsiteY4" fmla="*/ 0 h 1323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083" h="1323538">
                <a:moveTo>
                  <a:pt x="789083" y="0"/>
                </a:moveTo>
                <a:cubicBezTo>
                  <a:pt x="554099" y="129020"/>
                  <a:pt x="285753" y="205852"/>
                  <a:pt x="0" y="211650"/>
                </a:cubicBezTo>
                <a:lnTo>
                  <a:pt x="0" y="1323538"/>
                </a:lnTo>
                <a:cubicBezTo>
                  <a:pt x="488826" y="1317740"/>
                  <a:pt x="947190" y="1187270"/>
                  <a:pt x="1346084" y="964023"/>
                </a:cubicBezTo>
                <a:lnTo>
                  <a:pt x="789083" y="0"/>
                </a:lnTo>
                <a:close/>
              </a:path>
            </a:pathLst>
          </a:custGeom>
          <a:solidFill>
            <a:schemeClr val="accent6"/>
          </a:solidFill>
          <a:ln w="14479" cap="flat">
            <a:noFill/>
            <a:prstDash val="solid"/>
            <a:miter/>
          </a:ln>
        </p:spPr>
        <p:txBody>
          <a:bodyPr rtlCol="0" anchor="ctr"/>
          <a:lstStyle/>
          <a:p>
            <a:endParaRPr lang="es-CO" noProof="0" dirty="0"/>
          </a:p>
        </p:txBody>
      </p:sp>
      <p:sp>
        <p:nvSpPr>
          <p:cNvPr id="14" name="Freeform 9">
            <a:extLst>
              <a:ext uri="{FF2B5EF4-FFF2-40B4-BE49-F238E27FC236}">
                <a16:creationId xmlns:a16="http://schemas.microsoft.com/office/drawing/2014/main" id="{00E1E2AF-7163-D61E-CE72-795D26FFAAA7}"/>
              </a:ext>
            </a:extLst>
          </p:cNvPr>
          <p:cNvSpPr/>
          <p:nvPr/>
        </p:nvSpPr>
        <p:spPr>
          <a:xfrm>
            <a:off x="5237392" y="3529780"/>
            <a:ext cx="1324325" cy="1345283"/>
          </a:xfrm>
          <a:custGeom>
            <a:avLst/>
            <a:gdLst>
              <a:gd name="connsiteX0" fmla="*/ 1324326 w 1324325"/>
              <a:gd name="connsiteY0" fmla="*/ 0 h 1345283"/>
              <a:gd name="connsiteX1" fmla="*/ 211776 w 1324325"/>
              <a:gd name="connsiteY1" fmla="*/ 0 h 1345283"/>
              <a:gd name="connsiteX2" fmla="*/ 0 w 1324325"/>
              <a:gd name="connsiteY2" fmla="*/ 788614 h 1345283"/>
              <a:gd name="connsiteX3" fmla="*/ 964597 w 1324325"/>
              <a:gd name="connsiteY3" fmla="*/ 1345283 h 1345283"/>
              <a:gd name="connsiteX4" fmla="*/ 1324326 w 1324325"/>
              <a:gd name="connsiteY4" fmla="*/ 0 h 1345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325" h="1345283">
                <a:moveTo>
                  <a:pt x="1324326" y="0"/>
                </a:moveTo>
                <a:lnTo>
                  <a:pt x="211776" y="0"/>
                </a:lnTo>
                <a:cubicBezTo>
                  <a:pt x="205974" y="285583"/>
                  <a:pt x="130547" y="553770"/>
                  <a:pt x="0" y="788614"/>
                </a:cubicBezTo>
                <a:lnTo>
                  <a:pt x="964597" y="1345283"/>
                </a:lnTo>
                <a:cubicBezTo>
                  <a:pt x="1187977" y="946627"/>
                  <a:pt x="1318524" y="488535"/>
                  <a:pt x="1324326" y="0"/>
                </a:cubicBezTo>
                <a:close/>
              </a:path>
            </a:pathLst>
          </a:custGeom>
          <a:solidFill>
            <a:schemeClr val="accent4"/>
          </a:solidFill>
          <a:ln w="14479" cap="flat">
            <a:noFill/>
            <a:prstDash val="solid"/>
            <a:miter/>
          </a:ln>
        </p:spPr>
        <p:txBody>
          <a:bodyPr rtlCol="0" anchor="ctr"/>
          <a:lstStyle/>
          <a:p>
            <a:endParaRPr lang="es-CO" noProof="0" dirty="0"/>
          </a:p>
        </p:txBody>
      </p:sp>
      <p:sp>
        <p:nvSpPr>
          <p:cNvPr id="15" name="Freeform 10">
            <a:extLst>
              <a:ext uri="{FF2B5EF4-FFF2-40B4-BE49-F238E27FC236}">
                <a16:creationId xmlns:a16="http://schemas.microsoft.com/office/drawing/2014/main" id="{40127908-7A41-E143-AFF7-A6010F17B059}"/>
              </a:ext>
            </a:extLst>
          </p:cNvPr>
          <p:cNvSpPr/>
          <p:nvPr/>
        </p:nvSpPr>
        <p:spPr>
          <a:xfrm>
            <a:off x="4623821" y="1063911"/>
            <a:ext cx="1541903" cy="1540987"/>
          </a:xfrm>
          <a:custGeom>
            <a:avLst/>
            <a:gdLst>
              <a:gd name="connsiteX0" fmla="*/ 0 w 1541903"/>
              <a:gd name="connsiteY0" fmla="*/ 964023 h 1540987"/>
              <a:gd name="connsiteX1" fmla="*/ 577307 w 1541903"/>
              <a:gd name="connsiteY1" fmla="*/ 1540987 h 1540987"/>
              <a:gd name="connsiteX2" fmla="*/ 1541904 w 1541903"/>
              <a:gd name="connsiteY2" fmla="*/ 984318 h 1540987"/>
              <a:gd name="connsiteX3" fmla="*/ 557000 w 1541903"/>
              <a:gd name="connsiteY3" fmla="*/ 0 h 1540987"/>
              <a:gd name="connsiteX4" fmla="*/ 0 w 1541903"/>
              <a:gd name="connsiteY4" fmla="*/ 964023 h 1540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903" h="1540987">
                <a:moveTo>
                  <a:pt x="0" y="964023"/>
                </a:moveTo>
                <a:cubicBezTo>
                  <a:pt x="236435" y="1107539"/>
                  <a:pt x="435156" y="1306142"/>
                  <a:pt x="577307" y="1540987"/>
                </a:cubicBezTo>
                <a:lnTo>
                  <a:pt x="1541904" y="984318"/>
                </a:lnTo>
                <a:cubicBezTo>
                  <a:pt x="1301117" y="579864"/>
                  <a:pt x="961696" y="240643"/>
                  <a:pt x="557000" y="0"/>
                </a:cubicBezTo>
                <a:lnTo>
                  <a:pt x="0" y="964023"/>
                </a:lnTo>
                <a:close/>
              </a:path>
            </a:pathLst>
          </a:custGeom>
          <a:solidFill>
            <a:schemeClr val="bg2"/>
          </a:solidFill>
          <a:ln w="14479" cap="flat">
            <a:noFill/>
            <a:prstDash val="solid"/>
            <a:miter/>
          </a:ln>
        </p:spPr>
        <p:txBody>
          <a:bodyPr rtlCol="0" anchor="ctr"/>
          <a:lstStyle/>
          <a:p>
            <a:endParaRPr lang="es-CO" noProof="0" dirty="0"/>
          </a:p>
        </p:txBody>
      </p:sp>
      <p:sp>
        <p:nvSpPr>
          <p:cNvPr id="16" name="Freeform 11">
            <a:extLst>
              <a:ext uri="{FF2B5EF4-FFF2-40B4-BE49-F238E27FC236}">
                <a16:creationId xmlns:a16="http://schemas.microsoft.com/office/drawing/2014/main" id="{49982177-1E5E-99B6-22D9-ED940CB01BAF}"/>
              </a:ext>
            </a:extLst>
          </p:cNvPr>
          <p:cNvSpPr/>
          <p:nvPr/>
        </p:nvSpPr>
        <p:spPr>
          <a:xfrm>
            <a:off x="5237392" y="2112014"/>
            <a:ext cx="1324325" cy="1345283"/>
          </a:xfrm>
          <a:custGeom>
            <a:avLst/>
            <a:gdLst>
              <a:gd name="connsiteX0" fmla="*/ 0 w 1324325"/>
              <a:gd name="connsiteY0" fmla="*/ 556669 h 1345283"/>
              <a:gd name="connsiteX1" fmla="*/ 211776 w 1324325"/>
              <a:gd name="connsiteY1" fmla="*/ 1345283 h 1345283"/>
              <a:gd name="connsiteX2" fmla="*/ 1324326 w 1324325"/>
              <a:gd name="connsiteY2" fmla="*/ 1345283 h 1345283"/>
              <a:gd name="connsiteX3" fmla="*/ 964597 w 1324325"/>
              <a:gd name="connsiteY3" fmla="*/ 0 h 1345283"/>
              <a:gd name="connsiteX4" fmla="*/ 0 w 1324325"/>
              <a:gd name="connsiteY4" fmla="*/ 556669 h 1345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325" h="1345283">
                <a:moveTo>
                  <a:pt x="0" y="556669"/>
                </a:moveTo>
                <a:cubicBezTo>
                  <a:pt x="129096" y="791514"/>
                  <a:pt x="205974" y="1059700"/>
                  <a:pt x="211776" y="1345283"/>
                </a:cubicBezTo>
                <a:lnTo>
                  <a:pt x="1324326" y="1345283"/>
                </a:lnTo>
                <a:cubicBezTo>
                  <a:pt x="1318524" y="856748"/>
                  <a:pt x="1187977" y="398656"/>
                  <a:pt x="964597" y="0"/>
                </a:cubicBezTo>
                <a:lnTo>
                  <a:pt x="0" y="556669"/>
                </a:lnTo>
                <a:close/>
              </a:path>
            </a:pathLst>
          </a:custGeom>
          <a:solidFill>
            <a:schemeClr val="accent3"/>
          </a:solidFill>
          <a:ln w="14479" cap="flat">
            <a:noFill/>
            <a:prstDash val="solid"/>
            <a:miter/>
          </a:ln>
        </p:spPr>
        <p:txBody>
          <a:bodyPr rtlCol="0" anchor="ctr"/>
          <a:lstStyle/>
          <a:p>
            <a:endParaRPr lang="es-CO" noProof="0" dirty="0"/>
          </a:p>
        </p:txBody>
      </p:sp>
      <p:sp>
        <p:nvSpPr>
          <p:cNvPr id="17" name="Freeform 13">
            <a:extLst>
              <a:ext uri="{FF2B5EF4-FFF2-40B4-BE49-F238E27FC236}">
                <a16:creationId xmlns:a16="http://schemas.microsoft.com/office/drawing/2014/main" id="{0A2A1E09-0A94-BC7C-00AF-88381C4B361F}"/>
              </a:ext>
            </a:extLst>
          </p:cNvPr>
          <p:cNvSpPr/>
          <p:nvPr/>
        </p:nvSpPr>
        <p:spPr>
          <a:xfrm>
            <a:off x="2149118" y="1914861"/>
            <a:ext cx="3159234" cy="3157356"/>
          </a:xfrm>
          <a:custGeom>
            <a:avLst/>
            <a:gdLst>
              <a:gd name="connsiteX0" fmla="*/ 3159235 w 3159234"/>
              <a:gd name="connsiteY0" fmla="*/ 1578678 h 3157356"/>
              <a:gd name="connsiteX1" fmla="*/ 1579617 w 3159234"/>
              <a:gd name="connsiteY1" fmla="*/ 3157356 h 3157356"/>
              <a:gd name="connsiteX2" fmla="*/ 0 w 3159234"/>
              <a:gd name="connsiteY2" fmla="*/ 1578678 h 3157356"/>
              <a:gd name="connsiteX3" fmla="*/ 1579617 w 3159234"/>
              <a:gd name="connsiteY3" fmla="*/ 0 h 3157356"/>
              <a:gd name="connsiteX4" fmla="*/ 3159235 w 3159234"/>
              <a:gd name="connsiteY4" fmla="*/ 1578678 h 3157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9234" h="3157356">
                <a:moveTo>
                  <a:pt x="3159235" y="1578678"/>
                </a:moveTo>
                <a:cubicBezTo>
                  <a:pt x="3159235" y="2450558"/>
                  <a:pt x="2452016" y="3157356"/>
                  <a:pt x="1579617" y="3157356"/>
                </a:cubicBezTo>
                <a:cubicBezTo>
                  <a:pt x="707219" y="3157356"/>
                  <a:pt x="0" y="2450558"/>
                  <a:pt x="0" y="1578678"/>
                </a:cubicBezTo>
                <a:cubicBezTo>
                  <a:pt x="0" y="706798"/>
                  <a:pt x="707219" y="0"/>
                  <a:pt x="1579617" y="0"/>
                </a:cubicBezTo>
                <a:cubicBezTo>
                  <a:pt x="2452016" y="0"/>
                  <a:pt x="3159235" y="706798"/>
                  <a:pt x="3159235" y="1578678"/>
                </a:cubicBezTo>
                <a:close/>
              </a:path>
            </a:pathLst>
          </a:custGeom>
          <a:solidFill>
            <a:schemeClr val="bg1"/>
          </a:solidFill>
          <a:ln w="14479" cap="flat">
            <a:noFill/>
            <a:prstDash val="solid"/>
            <a:miter/>
          </a:ln>
          <a:effectLst>
            <a:outerShdw blurRad="254000" dist="127000" dir="2700000" algn="tl" rotWithShape="0">
              <a:prstClr val="black">
                <a:alpha val="30000"/>
              </a:prstClr>
            </a:outerShdw>
          </a:effectLst>
        </p:spPr>
        <p:txBody>
          <a:bodyPr rtlCol="0" anchor="ctr"/>
          <a:lstStyle/>
          <a:p>
            <a:endParaRPr lang="es-CO" noProof="0" dirty="0"/>
          </a:p>
        </p:txBody>
      </p:sp>
      <p:pic>
        <p:nvPicPr>
          <p:cNvPr id="18" name="Graphic 29">
            <a:extLst>
              <a:ext uri="{FF2B5EF4-FFF2-40B4-BE49-F238E27FC236}">
                <a16:creationId xmlns:a16="http://schemas.microsoft.com/office/drawing/2014/main" id="{A36279A3-E33B-5EA5-783B-7FA3ECDB238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118172" y="1668973"/>
            <a:ext cx="490025" cy="490025"/>
          </a:xfrm>
          <a:prstGeom prst="rect">
            <a:avLst/>
          </a:prstGeom>
        </p:spPr>
      </p:pic>
      <p:pic>
        <p:nvPicPr>
          <p:cNvPr id="19" name="Graphic 30">
            <a:extLst>
              <a:ext uri="{FF2B5EF4-FFF2-40B4-BE49-F238E27FC236}">
                <a16:creationId xmlns:a16="http://schemas.microsoft.com/office/drawing/2014/main" id="{30503976-595D-3635-6F14-40D3C7CF5548}"/>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90022" y="2668448"/>
            <a:ext cx="490025" cy="490025"/>
          </a:xfrm>
          <a:prstGeom prst="rect">
            <a:avLst/>
          </a:prstGeom>
        </p:spPr>
      </p:pic>
      <p:sp>
        <p:nvSpPr>
          <p:cNvPr id="20" name="TextBox 31">
            <a:extLst>
              <a:ext uri="{FF2B5EF4-FFF2-40B4-BE49-F238E27FC236}">
                <a16:creationId xmlns:a16="http://schemas.microsoft.com/office/drawing/2014/main" id="{013934D5-103E-81D4-9723-DFEBD53B197C}"/>
              </a:ext>
            </a:extLst>
          </p:cNvPr>
          <p:cNvSpPr txBox="1"/>
          <p:nvPr/>
        </p:nvSpPr>
        <p:spPr>
          <a:xfrm>
            <a:off x="2541729" y="3173805"/>
            <a:ext cx="2372268" cy="830997"/>
          </a:xfrm>
          <a:prstGeom prst="rect">
            <a:avLst/>
          </a:prstGeom>
          <a:noFill/>
        </p:spPr>
        <p:txBody>
          <a:bodyPr wrap="square" lIns="0" tIns="0" rIns="0" bIns="0" rtlCol="0">
            <a:spAutoFit/>
          </a:bodyPr>
          <a:lstStyle/>
          <a:p>
            <a:pPr algn="ctr"/>
            <a:r>
              <a:rPr lang="es-CO" b="1" dirty="0">
                <a:solidFill>
                  <a:srgbClr val="340040"/>
                </a:solidFill>
                <a:latin typeface="Libre Franklin" pitchFamily="2" charset="0"/>
                <a:ea typeface="Calibri" panose="020F0502020204030204" pitchFamily="34" charset="0"/>
                <a:cs typeface="Arial" panose="020B0604020202020204" pitchFamily="34" charset="0"/>
              </a:rPr>
              <a:t>Programar el inicio y finalización de los periodos académicos</a:t>
            </a:r>
            <a:endParaRPr lang="es-CO" b="1" dirty="0"/>
          </a:p>
        </p:txBody>
      </p:sp>
      <p:pic>
        <p:nvPicPr>
          <p:cNvPr id="21" name="Graphic 32">
            <a:extLst>
              <a:ext uri="{FF2B5EF4-FFF2-40B4-BE49-F238E27FC236}">
                <a16:creationId xmlns:a16="http://schemas.microsoft.com/office/drawing/2014/main" id="{A62C4FB7-2633-B77E-7292-BE8720024198}"/>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636817" y="3811816"/>
            <a:ext cx="490025" cy="490025"/>
          </a:xfrm>
          <a:prstGeom prst="rect">
            <a:avLst/>
          </a:prstGeom>
        </p:spPr>
      </p:pic>
      <p:grpSp>
        <p:nvGrpSpPr>
          <p:cNvPr id="37" name="Group 48">
            <a:extLst>
              <a:ext uri="{FF2B5EF4-FFF2-40B4-BE49-F238E27FC236}">
                <a16:creationId xmlns:a16="http://schemas.microsoft.com/office/drawing/2014/main" id="{2B985845-39F9-8E8A-8C33-0F50C13C3A30}"/>
              </a:ext>
            </a:extLst>
          </p:cNvPr>
          <p:cNvGrpSpPr/>
          <p:nvPr/>
        </p:nvGrpSpPr>
        <p:grpSpPr>
          <a:xfrm>
            <a:off x="6885112" y="3836094"/>
            <a:ext cx="4951417" cy="979376"/>
            <a:chOff x="7566432" y="699554"/>
            <a:chExt cx="3814740" cy="979376"/>
          </a:xfrm>
        </p:grpSpPr>
        <p:sp>
          <p:nvSpPr>
            <p:cNvPr id="38" name="TextBox 49">
              <a:extLst>
                <a:ext uri="{FF2B5EF4-FFF2-40B4-BE49-F238E27FC236}">
                  <a16:creationId xmlns:a16="http://schemas.microsoft.com/office/drawing/2014/main" id="{73A48CAE-09B2-1B18-1603-166B39F2E1FF}"/>
                </a:ext>
              </a:extLst>
            </p:cNvPr>
            <p:cNvSpPr txBox="1"/>
            <p:nvPr/>
          </p:nvSpPr>
          <p:spPr>
            <a:xfrm>
              <a:off x="7566432" y="699554"/>
              <a:ext cx="3758465" cy="246221"/>
            </a:xfrm>
            <a:prstGeom prst="rect">
              <a:avLst/>
            </a:prstGeom>
            <a:noFill/>
          </p:spPr>
          <p:txBody>
            <a:bodyPr wrap="square" lIns="0" tIns="0" rIns="0" bIns="0" rtlCol="0">
              <a:spAutoFit/>
            </a:bodyPr>
            <a:lstStyle/>
            <a:p>
              <a:r>
                <a:rPr lang="es-CO" sz="1600" b="1" noProof="0" dirty="0"/>
                <a:t>Calificación final</a:t>
              </a:r>
            </a:p>
          </p:txBody>
        </p:sp>
        <p:sp>
          <p:nvSpPr>
            <p:cNvPr id="39" name="TextBox 50">
              <a:extLst>
                <a:ext uri="{FF2B5EF4-FFF2-40B4-BE49-F238E27FC236}">
                  <a16:creationId xmlns:a16="http://schemas.microsoft.com/office/drawing/2014/main" id="{CD7B8981-37AC-2975-B469-EA11E56A7416}"/>
                </a:ext>
              </a:extLst>
            </p:cNvPr>
            <p:cNvSpPr txBox="1"/>
            <p:nvPr/>
          </p:nvSpPr>
          <p:spPr>
            <a:xfrm>
              <a:off x="7622707" y="940266"/>
              <a:ext cx="3758465" cy="738664"/>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Calificación final que obtiene un estudiante en una asignatura, que determina si ha aprobado o reprobado. Comúnmente es un cálculo dependiendo de los porcentajes asignados a las calificaciones parciales obtenidas a lo largo del periodo académico</a:t>
              </a:r>
            </a:p>
          </p:txBody>
        </p:sp>
      </p:grpSp>
      <p:pic>
        <p:nvPicPr>
          <p:cNvPr id="40" name="Picture 10" descr="10 mil resultados de imágenes, fotos de stock e ilustraciones libres de  regalías para Active status | Shutterstock">
            <a:extLst>
              <a:ext uri="{FF2B5EF4-FFF2-40B4-BE49-F238E27FC236}">
                <a16:creationId xmlns:a16="http://schemas.microsoft.com/office/drawing/2014/main" id="{158438A1-F361-E66E-1944-00899B596F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80816" y="4798308"/>
            <a:ext cx="547818" cy="547818"/>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pic>
        <p:nvPicPr>
          <p:cNvPr id="41" name="Picture 12" descr="843 Superacion Personal High Res Illustrations - Getty Images | Exito,  Motivacion, Trabajo en equipo">
            <a:extLst>
              <a:ext uri="{FF2B5EF4-FFF2-40B4-BE49-F238E27FC236}">
                <a16:creationId xmlns:a16="http://schemas.microsoft.com/office/drawing/2014/main" id="{5A817040-1980-1264-F501-AAF66095E75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6978" y="5455806"/>
            <a:ext cx="444899" cy="444899"/>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pic>
        <p:nvPicPr>
          <p:cNvPr id="42" name="Picture 14" descr="Docentes | SITEAL">
            <a:extLst>
              <a:ext uri="{FF2B5EF4-FFF2-40B4-BE49-F238E27FC236}">
                <a16:creationId xmlns:a16="http://schemas.microsoft.com/office/drawing/2014/main" id="{F848EAB6-870A-FD8C-8C5D-B20188E8EBF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6576" y="1003984"/>
            <a:ext cx="665701" cy="437392"/>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grpSp>
        <p:nvGrpSpPr>
          <p:cNvPr id="2" name="Group 48">
            <a:extLst>
              <a:ext uri="{FF2B5EF4-FFF2-40B4-BE49-F238E27FC236}">
                <a16:creationId xmlns:a16="http://schemas.microsoft.com/office/drawing/2014/main" id="{68B508EA-8AED-FA58-EBEA-FD96BC791786}"/>
              </a:ext>
            </a:extLst>
          </p:cNvPr>
          <p:cNvGrpSpPr/>
          <p:nvPr/>
        </p:nvGrpSpPr>
        <p:grpSpPr>
          <a:xfrm>
            <a:off x="6943387" y="2590492"/>
            <a:ext cx="5133113" cy="682139"/>
            <a:chOff x="7622707" y="627459"/>
            <a:chExt cx="3758465" cy="682139"/>
          </a:xfrm>
        </p:grpSpPr>
        <p:sp>
          <p:nvSpPr>
            <p:cNvPr id="3" name="TextBox 49">
              <a:extLst>
                <a:ext uri="{FF2B5EF4-FFF2-40B4-BE49-F238E27FC236}">
                  <a16:creationId xmlns:a16="http://schemas.microsoft.com/office/drawing/2014/main" id="{28A7CD16-8D33-B367-EC38-D5C98A10C9A7}"/>
                </a:ext>
              </a:extLst>
            </p:cNvPr>
            <p:cNvSpPr txBox="1"/>
            <p:nvPr/>
          </p:nvSpPr>
          <p:spPr>
            <a:xfrm>
              <a:off x="7622707" y="627459"/>
              <a:ext cx="3758465" cy="246221"/>
            </a:xfrm>
            <a:prstGeom prst="rect">
              <a:avLst/>
            </a:prstGeom>
            <a:noFill/>
          </p:spPr>
          <p:txBody>
            <a:bodyPr wrap="square" lIns="0" tIns="0" rIns="0" bIns="0" rtlCol="0">
              <a:spAutoFit/>
            </a:bodyPr>
            <a:lstStyle/>
            <a:p>
              <a:r>
                <a:rPr lang="es-CO" sz="1600" b="1" noProof="0" dirty="0"/>
                <a:t>Calificación parcial</a:t>
              </a:r>
            </a:p>
          </p:txBody>
        </p:sp>
        <p:sp>
          <p:nvSpPr>
            <p:cNvPr id="28" name="TextBox 50">
              <a:extLst>
                <a:ext uri="{FF2B5EF4-FFF2-40B4-BE49-F238E27FC236}">
                  <a16:creationId xmlns:a16="http://schemas.microsoft.com/office/drawing/2014/main" id="{5195B0CA-BEDE-BFEC-5CC4-9E77758F8189}"/>
                </a:ext>
              </a:extLst>
            </p:cNvPr>
            <p:cNvSpPr txBox="1"/>
            <p:nvPr/>
          </p:nvSpPr>
          <p:spPr>
            <a:xfrm>
              <a:off x="7622707" y="940266"/>
              <a:ext cx="3758465" cy="369332"/>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Calificaciones obtenidas a lo largo del periodo académico por un estudiante en una asignatura.</a:t>
              </a:r>
            </a:p>
          </p:txBody>
        </p:sp>
      </p:grpSp>
      <p:grpSp>
        <p:nvGrpSpPr>
          <p:cNvPr id="29" name="Group 45">
            <a:extLst>
              <a:ext uri="{FF2B5EF4-FFF2-40B4-BE49-F238E27FC236}">
                <a16:creationId xmlns:a16="http://schemas.microsoft.com/office/drawing/2014/main" id="{F09EF193-91AB-5266-C67C-2B23ACCE4D7A}"/>
              </a:ext>
            </a:extLst>
          </p:cNvPr>
          <p:cNvGrpSpPr/>
          <p:nvPr/>
        </p:nvGrpSpPr>
        <p:grpSpPr>
          <a:xfrm>
            <a:off x="6561718" y="1294816"/>
            <a:ext cx="5373170" cy="912775"/>
            <a:chOff x="7534866" y="500245"/>
            <a:chExt cx="3828548" cy="912775"/>
          </a:xfrm>
        </p:grpSpPr>
        <p:sp>
          <p:nvSpPr>
            <p:cNvPr id="30" name="TextBox 46">
              <a:extLst>
                <a:ext uri="{FF2B5EF4-FFF2-40B4-BE49-F238E27FC236}">
                  <a16:creationId xmlns:a16="http://schemas.microsoft.com/office/drawing/2014/main" id="{F03FAC48-EDA0-A019-840F-02990C51328D}"/>
                </a:ext>
              </a:extLst>
            </p:cNvPr>
            <p:cNvSpPr txBox="1"/>
            <p:nvPr/>
          </p:nvSpPr>
          <p:spPr>
            <a:xfrm>
              <a:off x="7534866" y="500245"/>
              <a:ext cx="3758465" cy="246221"/>
            </a:xfrm>
            <a:prstGeom prst="rect">
              <a:avLst/>
            </a:prstGeom>
            <a:noFill/>
          </p:spPr>
          <p:txBody>
            <a:bodyPr wrap="square" lIns="0" tIns="0" rIns="0" bIns="0" rtlCol="0">
              <a:spAutoFit/>
            </a:bodyPr>
            <a:lstStyle/>
            <a:p>
              <a:r>
                <a:rPr lang="es-CO" sz="1600" b="1" dirty="0"/>
                <a:t>Calificación</a:t>
              </a:r>
              <a:endParaRPr lang="es-CO" sz="1600" b="1" noProof="0" dirty="0"/>
            </a:p>
          </p:txBody>
        </p:sp>
        <p:sp>
          <p:nvSpPr>
            <p:cNvPr id="43" name="TextBox 47">
              <a:extLst>
                <a:ext uri="{FF2B5EF4-FFF2-40B4-BE49-F238E27FC236}">
                  <a16:creationId xmlns:a16="http://schemas.microsoft.com/office/drawing/2014/main" id="{8B6CFD0D-944E-E47D-53A3-EEFDB76706ED}"/>
                </a:ext>
              </a:extLst>
            </p:cNvPr>
            <p:cNvSpPr txBox="1"/>
            <p:nvPr/>
          </p:nvSpPr>
          <p:spPr>
            <a:xfrm>
              <a:off x="7604949" y="859022"/>
              <a:ext cx="3758465" cy="553998"/>
            </a:xfrm>
            <a:prstGeom prst="rect">
              <a:avLst/>
            </a:prstGeom>
            <a:noFill/>
          </p:spPr>
          <p:txBody>
            <a:bodyPr wrap="square" lIns="0" tIns="0" rIns="0" bIns="0" rtlCol="0">
              <a:spAutoFit/>
            </a:bodyPr>
            <a:lstStyle/>
            <a:p>
              <a:r>
                <a:rPr lang="es-CO" sz="1200" dirty="0">
                  <a:latin typeface="Helvetica Neue" panose="02000503000000020004" pitchFamily="2" charset="0"/>
                </a:rPr>
                <a:t>La calificación es el acto de asignar una puntuación, nota o valor a algo o alguien con el propósito de evaluar su calidad, desempeño, mérito o nivel en relación con ciertos criterios o estándares predefinidos.</a:t>
              </a:r>
            </a:p>
          </p:txBody>
        </p:sp>
      </p:grpSp>
      <p:grpSp>
        <p:nvGrpSpPr>
          <p:cNvPr id="47" name="Group 36">
            <a:extLst>
              <a:ext uri="{FF2B5EF4-FFF2-40B4-BE49-F238E27FC236}">
                <a16:creationId xmlns:a16="http://schemas.microsoft.com/office/drawing/2014/main" id="{061F0ED1-EF46-1C57-F5EE-61698104E9EF}"/>
              </a:ext>
            </a:extLst>
          </p:cNvPr>
          <p:cNvGrpSpPr/>
          <p:nvPr/>
        </p:nvGrpSpPr>
        <p:grpSpPr>
          <a:xfrm>
            <a:off x="5608197" y="229338"/>
            <a:ext cx="6096123" cy="654795"/>
            <a:chOff x="7622707" y="627459"/>
            <a:chExt cx="3831815" cy="654795"/>
          </a:xfrm>
        </p:grpSpPr>
        <p:sp>
          <p:nvSpPr>
            <p:cNvPr id="48" name="TextBox 37">
              <a:extLst>
                <a:ext uri="{FF2B5EF4-FFF2-40B4-BE49-F238E27FC236}">
                  <a16:creationId xmlns:a16="http://schemas.microsoft.com/office/drawing/2014/main" id="{B6672E1E-84C0-53A9-4878-CC6F97F56861}"/>
                </a:ext>
              </a:extLst>
            </p:cNvPr>
            <p:cNvSpPr txBox="1"/>
            <p:nvPr/>
          </p:nvSpPr>
          <p:spPr>
            <a:xfrm>
              <a:off x="7622707" y="627459"/>
              <a:ext cx="3758465" cy="246221"/>
            </a:xfrm>
            <a:prstGeom prst="rect">
              <a:avLst/>
            </a:prstGeom>
            <a:noFill/>
          </p:spPr>
          <p:txBody>
            <a:bodyPr wrap="square" lIns="0" tIns="0" rIns="0" bIns="0" rtlCol="0">
              <a:spAutoFit/>
            </a:bodyPr>
            <a:lstStyle/>
            <a:p>
              <a:r>
                <a:rPr lang="es-CO" sz="1600" b="1" noProof="0" dirty="0"/>
                <a:t>Número de referencia de curso (NRC)</a:t>
              </a:r>
            </a:p>
          </p:txBody>
        </p:sp>
        <p:sp>
          <p:nvSpPr>
            <p:cNvPr id="49" name="TextBox 38">
              <a:extLst>
                <a:ext uri="{FF2B5EF4-FFF2-40B4-BE49-F238E27FC236}">
                  <a16:creationId xmlns:a16="http://schemas.microsoft.com/office/drawing/2014/main" id="{362DF366-D59E-4762-D8B6-3E6304C11D10}"/>
                </a:ext>
              </a:extLst>
            </p:cNvPr>
            <p:cNvSpPr txBox="1"/>
            <p:nvPr/>
          </p:nvSpPr>
          <p:spPr>
            <a:xfrm>
              <a:off x="7696057" y="912922"/>
              <a:ext cx="3758465" cy="369332"/>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Es un valor numérico único por periodo académico, que identifica la numeración de la oferta de un curso (horario o secciones). </a:t>
              </a:r>
            </a:p>
          </p:txBody>
        </p:sp>
      </p:grpSp>
      <p:cxnSp>
        <p:nvCxnSpPr>
          <p:cNvPr id="53" name="Straight Connector 18">
            <a:extLst>
              <a:ext uri="{FF2B5EF4-FFF2-40B4-BE49-F238E27FC236}">
                <a16:creationId xmlns:a16="http://schemas.microsoft.com/office/drawing/2014/main" id="{D40B230C-7D10-4CDF-448A-E47E915CDB75}"/>
              </a:ext>
            </a:extLst>
          </p:cNvPr>
          <p:cNvCxnSpPr>
            <a:cxnSpLocks/>
          </p:cNvCxnSpPr>
          <p:nvPr/>
        </p:nvCxnSpPr>
        <p:spPr>
          <a:xfrm>
            <a:off x="5959070" y="3158473"/>
            <a:ext cx="957374" cy="0"/>
          </a:xfrm>
          <a:prstGeom prst="line">
            <a:avLst/>
          </a:prstGeom>
          <a:ln>
            <a:solidFill>
              <a:schemeClr val="accent3"/>
            </a:solidFill>
            <a:tailEnd type="oval"/>
          </a:ln>
        </p:spPr>
        <p:style>
          <a:lnRef idx="2">
            <a:schemeClr val="accent1"/>
          </a:lnRef>
          <a:fillRef idx="0">
            <a:schemeClr val="accent1"/>
          </a:fillRef>
          <a:effectRef idx="1">
            <a:schemeClr val="accent1"/>
          </a:effectRef>
          <a:fontRef idx="minor">
            <a:schemeClr val="tx1"/>
          </a:fontRef>
        </p:style>
      </p:cxnSp>
      <p:grpSp>
        <p:nvGrpSpPr>
          <p:cNvPr id="6" name="Group 48">
            <a:extLst>
              <a:ext uri="{FF2B5EF4-FFF2-40B4-BE49-F238E27FC236}">
                <a16:creationId xmlns:a16="http://schemas.microsoft.com/office/drawing/2014/main" id="{9539D05F-B62B-196E-FD58-9C3FE7AB31EB}"/>
              </a:ext>
            </a:extLst>
          </p:cNvPr>
          <p:cNvGrpSpPr/>
          <p:nvPr/>
        </p:nvGrpSpPr>
        <p:grpSpPr>
          <a:xfrm>
            <a:off x="6622719" y="5322520"/>
            <a:ext cx="4951417" cy="1164042"/>
            <a:chOff x="7566432" y="699554"/>
            <a:chExt cx="3814740" cy="1164042"/>
          </a:xfrm>
        </p:grpSpPr>
        <p:sp>
          <p:nvSpPr>
            <p:cNvPr id="7" name="TextBox 49">
              <a:extLst>
                <a:ext uri="{FF2B5EF4-FFF2-40B4-BE49-F238E27FC236}">
                  <a16:creationId xmlns:a16="http://schemas.microsoft.com/office/drawing/2014/main" id="{72839F96-BF32-F606-277B-F6BA7B4CBFD6}"/>
                </a:ext>
              </a:extLst>
            </p:cNvPr>
            <p:cNvSpPr txBox="1"/>
            <p:nvPr/>
          </p:nvSpPr>
          <p:spPr>
            <a:xfrm>
              <a:off x="7566432" y="699554"/>
              <a:ext cx="3758465" cy="246221"/>
            </a:xfrm>
            <a:prstGeom prst="rect">
              <a:avLst/>
            </a:prstGeom>
            <a:noFill/>
          </p:spPr>
          <p:txBody>
            <a:bodyPr wrap="square" lIns="0" tIns="0" rIns="0" bIns="0" rtlCol="0">
              <a:spAutoFit/>
            </a:bodyPr>
            <a:lstStyle/>
            <a:p>
              <a:r>
                <a:rPr lang="es-CO" sz="1600" b="1" noProof="0" dirty="0"/>
                <a:t>Planificar</a:t>
              </a:r>
            </a:p>
          </p:txBody>
        </p:sp>
        <p:sp>
          <p:nvSpPr>
            <p:cNvPr id="11" name="TextBox 50">
              <a:extLst>
                <a:ext uri="{FF2B5EF4-FFF2-40B4-BE49-F238E27FC236}">
                  <a16:creationId xmlns:a16="http://schemas.microsoft.com/office/drawing/2014/main" id="{1B7FA86D-1115-891F-587E-F9ABBB4BDFF5}"/>
                </a:ext>
              </a:extLst>
            </p:cNvPr>
            <p:cNvSpPr txBox="1"/>
            <p:nvPr/>
          </p:nvSpPr>
          <p:spPr>
            <a:xfrm>
              <a:off x="7622707" y="940266"/>
              <a:ext cx="3758465" cy="923330"/>
            </a:xfrm>
            <a:prstGeom prst="rect">
              <a:avLst/>
            </a:prstGeom>
            <a:noFill/>
          </p:spPr>
          <p:txBody>
            <a:bodyPr wrap="square" lIns="0" tIns="0" rIns="0" bIns="0" rtlCol="0">
              <a:spAutoFit/>
            </a:bodyPr>
            <a:lstStyle/>
            <a:p>
              <a:r>
                <a:rPr lang="es-CO" sz="1200" dirty="0">
                  <a:latin typeface="Segoe UI" panose="020B0502040204020203" pitchFamily="34" charset="0"/>
                </a:rPr>
                <a:t>El sistema ofrece la opción </a:t>
              </a:r>
              <a:r>
                <a:rPr lang="es-CO" sz="1200" b="1" dirty="0">
                  <a:latin typeface="Segoe UI" panose="020B0502040204020203" pitchFamily="34" charset="0"/>
                </a:rPr>
                <a:t>“Planificar” o “Plan </a:t>
              </a:r>
              <a:r>
                <a:rPr lang="es-CO" sz="1200" b="1" dirty="0" err="1">
                  <a:latin typeface="Segoe UI" panose="020B0502040204020203" pitchFamily="34" charset="0"/>
                </a:rPr>
                <a:t>Ahead</a:t>
              </a:r>
              <a:r>
                <a:rPr lang="es-CO" sz="1200" b="1" dirty="0">
                  <a:latin typeface="Segoe UI" panose="020B0502040204020203" pitchFamily="34" charset="0"/>
                </a:rPr>
                <a:t>”</a:t>
              </a:r>
              <a:r>
                <a:rPr lang="es-CO" sz="1200" dirty="0">
                  <a:latin typeface="Segoe UI" panose="020B0502040204020203" pitchFamily="34" charset="0"/>
                </a:rPr>
                <a:t>, donde el estudiante puede preparar con anticipación los cursos que desea tomar. Una vez llega su turno de inscripción, puede </a:t>
              </a:r>
              <a:r>
                <a:rPr lang="es-CO" sz="1200" b="1" dirty="0">
                  <a:latin typeface="Segoe UI" panose="020B0502040204020203" pitchFamily="34" charset="0"/>
                </a:rPr>
                <a:t>cargar ese plan directamente</a:t>
              </a:r>
              <a:r>
                <a:rPr lang="es-CO" sz="1200" dirty="0">
                  <a:latin typeface="Segoe UI" panose="020B0502040204020203" pitchFamily="34" charset="0"/>
                </a:rPr>
                <a:t> para registrar las asignaturas.</a:t>
              </a:r>
            </a:p>
            <a:p>
              <a:endParaRPr lang="es-CO" sz="1200" noProof="0" dirty="0">
                <a:effectLst/>
                <a:latin typeface="Helvetica Neue" panose="02000503000000020004" pitchFamily="2" charset="0"/>
              </a:endParaRPr>
            </a:p>
          </p:txBody>
        </p:sp>
      </p:grpSp>
    </p:spTree>
    <p:extLst>
      <p:ext uri="{BB962C8B-B14F-4D97-AF65-F5344CB8AC3E}">
        <p14:creationId xmlns:p14="http://schemas.microsoft.com/office/powerpoint/2010/main" val="699110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61264-ACEA-E38D-9CE9-2FC5C9E5FA4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62F7E72C-1095-8602-9B9A-C5DB48EEDB18}"/>
              </a:ext>
            </a:extLst>
          </p:cNvPr>
          <p:cNvSpPr>
            <a:spLocks noGrp="1"/>
          </p:cNvSpPr>
          <p:nvPr>
            <p:ph type="body" sz="quarter" idx="10"/>
          </p:nvPr>
        </p:nvSpPr>
        <p:spPr>
          <a:xfrm>
            <a:off x="522515" y="361822"/>
            <a:ext cx="11122188" cy="889282"/>
          </a:xfrm>
        </p:spPr>
        <p:txBody>
          <a:bodyPr/>
          <a:lstStyle/>
          <a:p>
            <a:r>
              <a:rPr lang="es-419" dirty="0" err="1"/>
              <a:t>Overview</a:t>
            </a:r>
            <a:r>
              <a:rPr lang="es-419" dirty="0"/>
              <a:t>: Procedimiento Programar el inicio y finalización de los periodos académicos</a:t>
            </a:r>
          </a:p>
        </p:txBody>
      </p:sp>
      <p:sp>
        <p:nvSpPr>
          <p:cNvPr id="4" name="Marcador de texto 4">
            <a:extLst>
              <a:ext uri="{FF2B5EF4-FFF2-40B4-BE49-F238E27FC236}">
                <a16:creationId xmlns:a16="http://schemas.microsoft.com/office/drawing/2014/main" id="{3739B69E-0F09-5358-BA17-7E5EF4359758}"/>
              </a:ext>
            </a:extLst>
          </p:cNvPr>
          <p:cNvSpPr>
            <a:spLocks noGrp="1"/>
          </p:cNvSpPr>
          <p:nvPr>
            <p:ph type="body" sz="quarter" idx="11"/>
          </p:nvPr>
        </p:nvSpPr>
        <p:spPr>
          <a:xfrm>
            <a:off x="758951" y="1423034"/>
            <a:ext cx="10815927" cy="1326582"/>
          </a:xfrm>
        </p:spPr>
        <p:txBody>
          <a:bodyPr/>
          <a:lstStyle/>
          <a:p>
            <a:pPr marL="0" indent="0">
              <a:buNone/>
            </a:pPr>
            <a:r>
              <a:rPr lang="es-CO" dirty="0"/>
              <a:t>Permite definir las fechas de inicio y fin en las que se desarrollarán las actividades académicas, pudiendo diferenciarlas según cada una de las partes de período</a:t>
            </a:r>
          </a:p>
          <a:p>
            <a:pPr lvl="1"/>
            <a:endParaRPr lang="es-CO" dirty="0"/>
          </a:p>
          <a:p>
            <a:pPr marL="0" indent="0">
              <a:buNone/>
            </a:pPr>
            <a:endParaRPr lang="es-419" dirty="0"/>
          </a:p>
        </p:txBody>
      </p:sp>
      <p:pic>
        <p:nvPicPr>
          <p:cNvPr id="3" name="Imagen 2">
            <a:extLst>
              <a:ext uri="{FF2B5EF4-FFF2-40B4-BE49-F238E27FC236}">
                <a16:creationId xmlns:a16="http://schemas.microsoft.com/office/drawing/2014/main" id="{DC0035C5-44AC-ED3B-C1BA-C9BA483B355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41" t="4053" r="4339" b="3702"/>
          <a:stretch/>
        </p:blipFill>
        <p:spPr bwMode="auto">
          <a:xfrm>
            <a:off x="1054131" y="2201778"/>
            <a:ext cx="9370505" cy="368519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0439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72F0CF3E-E12E-1606-BD0D-9F2206037047}"/>
              </a:ext>
            </a:extLst>
          </p:cNvPr>
          <p:cNvSpPr>
            <a:spLocks noGrp="1"/>
          </p:cNvSpPr>
          <p:nvPr>
            <p:ph type="body" sz="quarter" idx="10"/>
          </p:nvPr>
        </p:nvSpPr>
        <p:spPr>
          <a:xfrm>
            <a:off x="914399" y="2238843"/>
            <a:ext cx="10363202" cy="669094"/>
          </a:xfrm>
        </p:spPr>
        <p:txBody>
          <a:bodyPr/>
          <a:lstStyle/>
          <a:p>
            <a:r>
              <a:rPr lang="es-419" dirty="0"/>
              <a:t>Configuraciones</a:t>
            </a:r>
          </a:p>
        </p:txBody>
      </p:sp>
      <p:sp>
        <p:nvSpPr>
          <p:cNvPr id="5" name="Marcador de texto 4">
            <a:extLst>
              <a:ext uri="{FF2B5EF4-FFF2-40B4-BE49-F238E27FC236}">
                <a16:creationId xmlns:a16="http://schemas.microsoft.com/office/drawing/2014/main" id="{CEB00B78-B65F-A441-9E02-409B52EA528D}"/>
              </a:ext>
            </a:extLst>
          </p:cNvPr>
          <p:cNvSpPr>
            <a:spLocks noGrp="1"/>
          </p:cNvSpPr>
          <p:nvPr>
            <p:ph type="body" sz="quarter" idx="11"/>
          </p:nvPr>
        </p:nvSpPr>
        <p:spPr>
          <a:xfrm>
            <a:off x="914399" y="3750468"/>
            <a:ext cx="10363202" cy="796180"/>
          </a:xfrm>
        </p:spPr>
        <p:txBody>
          <a:bodyPr/>
          <a:lstStyle/>
          <a:p>
            <a:r>
              <a:rPr lang="es-419" dirty="0"/>
              <a:t>Se indican las páginas que se deben configurar para programar el inicio y finalización de los periodos académicos</a:t>
            </a:r>
          </a:p>
        </p:txBody>
      </p:sp>
    </p:spTree>
    <p:extLst>
      <p:ext uri="{BB962C8B-B14F-4D97-AF65-F5344CB8AC3E}">
        <p14:creationId xmlns:p14="http://schemas.microsoft.com/office/powerpoint/2010/main" val="2835937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72A52783-EEBF-9DFF-33F6-0C86F47EC1EA}"/>
              </a:ext>
            </a:extLst>
          </p:cNvPr>
          <p:cNvPicPr>
            <a:picLocks noChangeAspect="1"/>
          </p:cNvPicPr>
          <p:nvPr/>
        </p:nvPicPr>
        <p:blipFill>
          <a:blip r:embed="rId2"/>
          <a:stretch>
            <a:fillRect/>
          </a:stretch>
        </p:blipFill>
        <p:spPr>
          <a:xfrm>
            <a:off x="452628" y="910677"/>
            <a:ext cx="11286744" cy="5251839"/>
          </a:xfrm>
          <a:prstGeom prst="rect">
            <a:avLst/>
          </a:prstGeom>
        </p:spPr>
      </p:pic>
      <p:sp>
        <p:nvSpPr>
          <p:cNvPr id="5" name="Marcador de texto 4">
            <a:extLst>
              <a:ext uri="{FF2B5EF4-FFF2-40B4-BE49-F238E27FC236}">
                <a16:creationId xmlns:a16="http://schemas.microsoft.com/office/drawing/2014/main" id="{3A206324-E307-9002-B542-F91432DD5834}"/>
              </a:ext>
            </a:extLst>
          </p:cNvPr>
          <p:cNvSpPr>
            <a:spLocks noGrp="1"/>
          </p:cNvSpPr>
          <p:nvPr>
            <p:ph type="body" sz="quarter" idx="10"/>
          </p:nvPr>
        </p:nvSpPr>
        <p:spPr/>
        <p:txBody>
          <a:bodyPr/>
          <a:lstStyle/>
          <a:p>
            <a:r>
              <a:rPr lang="es-419" dirty="0"/>
              <a:t>Tema: Configurar partes de periodo - STVPTRM</a:t>
            </a:r>
          </a:p>
        </p:txBody>
      </p:sp>
      <p:sp>
        <p:nvSpPr>
          <p:cNvPr id="3" name="Rectángulo 2">
            <a:extLst>
              <a:ext uri="{FF2B5EF4-FFF2-40B4-BE49-F238E27FC236}">
                <a16:creationId xmlns:a16="http://schemas.microsoft.com/office/drawing/2014/main" id="{0898D19F-9BC4-A90E-B8E1-8F6E0C8A4E28}"/>
              </a:ext>
            </a:extLst>
          </p:cNvPr>
          <p:cNvSpPr/>
          <p:nvPr/>
        </p:nvSpPr>
        <p:spPr>
          <a:xfrm>
            <a:off x="1254153" y="1888271"/>
            <a:ext cx="8718637" cy="20243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4" name="Rectángulo redondeado 5">
            <a:extLst>
              <a:ext uri="{FF2B5EF4-FFF2-40B4-BE49-F238E27FC236}">
                <a16:creationId xmlns:a16="http://schemas.microsoft.com/office/drawing/2014/main" id="{255B3491-D8F1-B022-717C-38F093D9F236}"/>
              </a:ext>
            </a:extLst>
          </p:cNvPr>
          <p:cNvSpPr/>
          <p:nvPr/>
        </p:nvSpPr>
        <p:spPr>
          <a:xfrm>
            <a:off x="278892" y="2409207"/>
            <a:ext cx="2356847" cy="7331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 Institución debe ingresar el código de la parte de período. Máximo:  3 caracteres.</a:t>
            </a:r>
          </a:p>
        </p:txBody>
      </p:sp>
      <p:sp>
        <p:nvSpPr>
          <p:cNvPr id="6" name="Rectángulo 5">
            <a:extLst>
              <a:ext uri="{FF2B5EF4-FFF2-40B4-BE49-F238E27FC236}">
                <a16:creationId xmlns:a16="http://schemas.microsoft.com/office/drawing/2014/main" id="{56AA7BA4-486A-6E17-5086-86C8824AEBDF}"/>
              </a:ext>
            </a:extLst>
          </p:cNvPr>
          <p:cNvSpPr/>
          <p:nvPr/>
        </p:nvSpPr>
        <p:spPr>
          <a:xfrm>
            <a:off x="452628" y="1882491"/>
            <a:ext cx="707831" cy="20772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7" name="Rectángulo redondeado 8">
            <a:extLst>
              <a:ext uri="{FF2B5EF4-FFF2-40B4-BE49-F238E27FC236}">
                <a16:creationId xmlns:a16="http://schemas.microsoft.com/office/drawing/2014/main" id="{3067DAF6-92C2-E8EE-DA3D-CA092B38B58E}"/>
              </a:ext>
            </a:extLst>
          </p:cNvPr>
          <p:cNvSpPr/>
          <p:nvPr/>
        </p:nvSpPr>
        <p:spPr>
          <a:xfrm>
            <a:off x="3328161" y="2516518"/>
            <a:ext cx="3362292" cy="7331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debe incorporar la Descripción del código correspondiente.</a:t>
            </a:r>
          </a:p>
          <a:p>
            <a:pPr algn="ctr"/>
            <a:r>
              <a:rPr lang="es-ES_tradnl" sz="1100" dirty="0"/>
              <a:t>Máximo: 30 caracteres</a:t>
            </a:r>
          </a:p>
        </p:txBody>
      </p:sp>
      <p:sp>
        <p:nvSpPr>
          <p:cNvPr id="8" name="Rectángulo 7">
            <a:extLst>
              <a:ext uri="{FF2B5EF4-FFF2-40B4-BE49-F238E27FC236}">
                <a16:creationId xmlns:a16="http://schemas.microsoft.com/office/drawing/2014/main" id="{B863CF64-5ED1-33D8-3497-530BFD475C0B}"/>
              </a:ext>
            </a:extLst>
          </p:cNvPr>
          <p:cNvSpPr/>
          <p:nvPr/>
        </p:nvSpPr>
        <p:spPr>
          <a:xfrm>
            <a:off x="10908791" y="1550305"/>
            <a:ext cx="255077" cy="20243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8">
            <a:extLst>
              <a:ext uri="{FF2B5EF4-FFF2-40B4-BE49-F238E27FC236}">
                <a16:creationId xmlns:a16="http://schemas.microsoft.com/office/drawing/2014/main" id="{40162889-BE97-B172-DDAD-77C58B88D170}"/>
              </a:ext>
            </a:extLst>
          </p:cNvPr>
          <p:cNvSpPr/>
          <p:nvPr/>
        </p:nvSpPr>
        <p:spPr>
          <a:xfrm>
            <a:off x="8363409" y="1078733"/>
            <a:ext cx="2130467" cy="6171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Para ingresar un nuevo código, debe hacer clic en esta opción</a:t>
            </a:r>
          </a:p>
        </p:txBody>
      </p:sp>
      <p:sp>
        <p:nvSpPr>
          <p:cNvPr id="10" name="Rectángulo redondeado 9">
            <a:extLst>
              <a:ext uri="{FF2B5EF4-FFF2-40B4-BE49-F238E27FC236}">
                <a16:creationId xmlns:a16="http://schemas.microsoft.com/office/drawing/2014/main" id="{78E0ED06-C88A-AAF7-A18E-7DDF69E0ADCD}"/>
              </a:ext>
            </a:extLst>
          </p:cNvPr>
          <p:cNvSpPr/>
          <p:nvPr/>
        </p:nvSpPr>
        <p:spPr>
          <a:xfrm>
            <a:off x="10481569" y="1407649"/>
            <a:ext cx="379780"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redondeado 9">
            <a:extLst>
              <a:ext uri="{FF2B5EF4-FFF2-40B4-BE49-F238E27FC236}">
                <a16:creationId xmlns:a16="http://schemas.microsoft.com/office/drawing/2014/main" id="{D0392027-C6E0-8D7E-321D-BEFE3AAF9FF3}"/>
              </a:ext>
            </a:extLst>
          </p:cNvPr>
          <p:cNvSpPr/>
          <p:nvPr/>
        </p:nvSpPr>
        <p:spPr>
          <a:xfrm>
            <a:off x="657955" y="2075795"/>
            <a:ext cx="379780"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2" name="Rectángulo redondeado 9">
            <a:extLst>
              <a:ext uri="{FF2B5EF4-FFF2-40B4-BE49-F238E27FC236}">
                <a16:creationId xmlns:a16="http://schemas.microsoft.com/office/drawing/2014/main" id="{33EB15C4-048D-C4B2-56BF-1479B7606C72}"/>
              </a:ext>
            </a:extLst>
          </p:cNvPr>
          <p:cNvSpPr/>
          <p:nvPr/>
        </p:nvSpPr>
        <p:spPr>
          <a:xfrm>
            <a:off x="3373805" y="2075795"/>
            <a:ext cx="379780"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1" name="Rectángulo 20">
            <a:extLst>
              <a:ext uri="{FF2B5EF4-FFF2-40B4-BE49-F238E27FC236}">
                <a16:creationId xmlns:a16="http://schemas.microsoft.com/office/drawing/2014/main" id="{363EE284-BB8C-AD96-4390-4B873C35811A}"/>
              </a:ext>
            </a:extLst>
          </p:cNvPr>
          <p:cNvSpPr/>
          <p:nvPr/>
        </p:nvSpPr>
        <p:spPr>
          <a:xfrm>
            <a:off x="11191930" y="5947323"/>
            <a:ext cx="547442" cy="26996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9">
            <a:extLst>
              <a:ext uri="{FF2B5EF4-FFF2-40B4-BE49-F238E27FC236}">
                <a16:creationId xmlns:a16="http://schemas.microsoft.com/office/drawing/2014/main" id="{FA425BB1-96B9-64D9-4DB9-C633A3F0128E}"/>
              </a:ext>
            </a:extLst>
          </p:cNvPr>
          <p:cNvSpPr/>
          <p:nvPr/>
        </p:nvSpPr>
        <p:spPr>
          <a:xfrm>
            <a:off x="9287464" y="4923401"/>
            <a:ext cx="2625644" cy="93224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debe presionar “Guardar” para que la información quede registrada en el sistema</a:t>
            </a:r>
          </a:p>
        </p:txBody>
      </p:sp>
      <p:sp>
        <p:nvSpPr>
          <p:cNvPr id="23" name="Rectángulo redondeado 10">
            <a:extLst>
              <a:ext uri="{FF2B5EF4-FFF2-40B4-BE49-F238E27FC236}">
                <a16:creationId xmlns:a16="http://schemas.microsoft.com/office/drawing/2014/main" id="{92CFBD73-EDC0-8E17-A352-FFD54412E282}"/>
              </a:ext>
            </a:extLst>
          </p:cNvPr>
          <p:cNvSpPr/>
          <p:nvPr/>
        </p:nvSpPr>
        <p:spPr>
          <a:xfrm>
            <a:off x="10851388" y="5984046"/>
            <a:ext cx="340542"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6" name="Rectángulo redondeado 8">
            <a:extLst>
              <a:ext uri="{FF2B5EF4-FFF2-40B4-BE49-F238E27FC236}">
                <a16:creationId xmlns:a16="http://schemas.microsoft.com/office/drawing/2014/main" id="{5F86DDA2-CCAD-58B6-27F6-CD3D2E1AC803}"/>
              </a:ext>
            </a:extLst>
          </p:cNvPr>
          <p:cNvSpPr/>
          <p:nvPr/>
        </p:nvSpPr>
        <p:spPr>
          <a:xfrm>
            <a:off x="806543" y="4382823"/>
            <a:ext cx="3362292" cy="7331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Debe existir la parte de periodo 1, la institución puede darle la descripción que requiera “Periodo Completo”</a:t>
            </a:r>
          </a:p>
        </p:txBody>
      </p:sp>
    </p:spTree>
    <p:extLst>
      <p:ext uri="{BB962C8B-B14F-4D97-AF65-F5344CB8AC3E}">
        <p14:creationId xmlns:p14="http://schemas.microsoft.com/office/powerpoint/2010/main" val="113310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21" grpId="0" animBg="1"/>
      <p:bldP spid="22" grpId="0" animBg="1"/>
      <p:bldP spid="23"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C13C0-2DC8-4672-8FD7-8C9151A1FFDD}"/>
            </a:ext>
          </a:extLst>
        </p:cNvPr>
        <p:cNvGrpSpPr/>
        <p:nvPr/>
      </p:nvGrpSpPr>
      <p:grpSpPr>
        <a:xfrm>
          <a:off x="0" y="0"/>
          <a:ext cx="0" cy="0"/>
          <a:chOff x="0" y="0"/>
          <a:chExt cx="0" cy="0"/>
        </a:xfrm>
      </p:grpSpPr>
      <p:sp>
        <p:nvSpPr>
          <p:cNvPr id="8" name="Marcador de texto 3">
            <a:extLst>
              <a:ext uri="{FF2B5EF4-FFF2-40B4-BE49-F238E27FC236}">
                <a16:creationId xmlns:a16="http://schemas.microsoft.com/office/drawing/2014/main" id="{8A7B16B2-5441-E646-7AD4-84ECE8B22A21}"/>
              </a:ext>
            </a:extLst>
          </p:cNvPr>
          <p:cNvSpPr>
            <a:spLocks noGrp="1"/>
          </p:cNvSpPr>
          <p:nvPr>
            <p:ph type="body" sz="quarter" idx="10"/>
          </p:nvPr>
        </p:nvSpPr>
        <p:spPr>
          <a:xfrm>
            <a:off x="914399" y="2762054"/>
            <a:ext cx="10363202" cy="1333891"/>
          </a:xfrm>
        </p:spPr>
        <p:txBody>
          <a:bodyPr/>
          <a:lstStyle/>
          <a:p>
            <a:r>
              <a:rPr lang="en-US" dirty="0" err="1"/>
              <a:t>Programar</a:t>
            </a:r>
            <a:r>
              <a:rPr lang="en-US" dirty="0"/>
              <a:t> </a:t>
            </a:r>
            <a:r>
              <a:rPr lang="en-US" dirty="0" err="1"/>
              <a:t>el</a:t>
            </a:r>
            <a:r>
              <a:rPr lang="en-US" dirty="0"/>
              <a:t> </a:t>
            </a:r>
            <a:r>
              <a:rPr lang="en-US" dirty="0" err="1"/>
              <a:t>inicio</a:t>
            </a:r>
            <a:r>
              <a:rPr lang="en-US" dirty="0"/>
              <a:t> y </a:t>
            </a:r>
            <a:r>
              <a:rPr lang="en-US" dirty="0" err="1"/>
              <a:t>finalización</a:t>
            </a:r>
            <a:r>
              <a:rPr lang="en-US" dirty="0"/>
              <a:t> de </a:t>
            </a:r>
            <a:r>
              <a:rPr lang="en-US" dirty="0" err="1"/>
              <a:t>periodos</a:t>
            </a:r>
            <a:r>
              <a:rPr lang="en-US" dirty="0"/>
              <a:t> </a:t>
            </a:r>
            <a:r>
              <a:rPr lang="en-US" dirty="0" err="1"/>
              <a:t>académicos</a:t>
            </a:r>
            <a:endParaRPr lang="es-419" dirty="0"/>
          </a:p>
        </p:txBody>
      </p:sp>
    </p:spTree>
    <p:extLst>
      <p:ext uri="{BB962C8B-B14F-4D97-AF65-F5344CB8AC3E}">
        <p14:creationId xmlns:p14="http://schemas.microsoft.com/office/powerpoint/2010/main" val="1887750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09AA9-44C6-6F00-387C-AD382D245DB1}"/>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9DA037DC-6767-75B7-9CF2-DF850888F2DD}"/>
              </a:ext>
            </a:extLst>
          </p:cNvPr>
          <p:cNvPicPr>
            <a:picLocks noChangeAspect="1"/>
          </p:cNvPicPr>
          <p:nvPr/>
        </p:nvPicPr>
        <p:blipFill>
          <a:blip r:embed="rId2"/>
          <a:stretch>
            <a:fillRect/>
          </a:stretch>
        </p:blipFill>
        <p:spPr>
          <a:xfrm>
            <a:off x="625098" y="1259081"/>
            <a:ext cx="10593395" cy="4525021"/>
          </a:xfrm>
          <a:prstGeom prst="rect">
            <a:avLst/>
          </a:prstGeom>
        </p:spPr>
      </p:pic>
      <p:sp>
        <p:nvSpPr>
          <p:cNvPr id="5" name="Marcador de texto 4">
            <a:extLst>
              <a:ext uri="{FF2B5EF4-FFF2-40B4-BE49-F238E27FC236}">
                <a16:creationId xmlns:a16="http://schemas.microsoft.com/office/drawing/2014/main" id="{523FA107-9350-A020-D02E-10E8CF9B2BAB}"/>
              </a:ext>
            </a:extLst>
          </p:cNvPr>
          <p:cNvSpPr>
            <a:spLocks noGrp="1"/>
          </p:cNvSpPr>
          <p:nvPr>
            <p:ph type="body" sz="quarter" idx="10"/>
          </p:nvPr>
        </p:nvSpPr>
        <p:spPr/>
        <p:txBody>
          <a:bodyPr/>
          <a:lstStyle/>
          <a:p>
            <a:r>
              <a:rPr lang="es-419" dirty="0"/>
              <a:t>Tema: Control de periodo – SOATERM</a:t>
            </a:r>
          </a:p>
        </p:txBody>
      </p:sp>
      <p:sp>
        <p:nvSpPr>
          <p:cNvPr id="12" name="Rectángulo: esquinas redondeadas 11">
            <a:extLst>
              <a:ext uri="{FF2B5EF4-FFF2-40B4-BE49-F238E27FC236}">
                <a16:creationId xmlns:a16="http://schemas.microsoft.com/office/drawing/2014/main" id="{A8979343-6DE2-78CA-7224-EF4545E0D38D}"/>
              </a:ext>
            </a:extLst>
          </p:cNvPr>
          <p:cNvSpPr/>
          <p:nvPr/>
        </p:nvSpPr>
        <p:spPr>
          <a:xfrm>
            <a:off x="773146" y="3977640"/>
            <a:ext cx="10352161" cy="123953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400" dirty="0"/>
              <a:t>Para ingresar en el periodo que se configurará, debe realizar la siguiente acción: </a:t>
            </a:r>
          </a:p>
          <a:p>
            <a:r>
              <a:rPr lang="es-ES" sz="1400" dirty="0"/>
              <a:t>1. Periodo: Ingresar el periodo creado en STVTERM, que se desea configurar</a:t>
            </a:r>
          </a:p>
          <a:p>
            <a:r>
              <a:rPr lang="es-ES" sz="1400" dirty="0"/>
              <a:t>2. Seleccionar “Ir”</a:t>
            </a:r>
          </a:p>
          <a:p>
            <a:endParaRPr lang="es-ES" sz="1400" dirty="0"/>
          </a:p>
          <a:p>
            <a:r>
              <a:rPr lang="es-ES" sz="1400" dirty="0"/>
              <a:t>* Si desea copiar la configuración de un periodo existente,  completar este último en el campo “Copiar De periodo” y seleccione COPIAR.</a:t>
            </a:r>
            <a:endParaRPr lang="es-CL" sz="1400" dirty="0"/>
          </a:p>
        </p:txBody>
      </p:sp>
      <p:sp>
        <p:nvSpPr>
          <p:cNvPr id="13" name="Rectángulo redondeado 15">
            <a:extLst>
              <a:ext uri="{FF2B5EF4-FFF2-40B4-BE49-F238E27FC236}">
                <a16:creationId xmlns:a16="http://schemas.microsoft.com/office/drawing/2014/main" id="{0A87C518-5534-EB72-656E-F7150933DCF7}"/>
              </a:ext>
            </a:extLst>
          </p:cNvPr>
          <p:cNvSpPr/>
          <p:nvPr/>
        </p:nvSpPr>
        <p:spPr>
          <a:xfrm>
            <a:off x="973506" y="1836060"/>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4" name="Rectángulo redondeado 15">
            <a:extLst>
              <a:ext uri="{FF2B5EF4-FFF2-40B4-BE49-F238E27FC236}">
                <a16:creationId xmlns:a16="http://schemas.microsoft.com/office/drawing/2014/main" id="{E1ADD352-92B3-DBD0-0A69-8BCBB46B38E9}"/>
              </a:ext>
            </a:extLst>
          </p:cNvPr>
          <p:cNvSpPr/>
          <p:nvPr/>
        </p:nvSpPr>
        <p:spPr>
          <a:xfrm>
            <a:off x="10741411" y="1836060"/>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3676726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37C4D-EB46-5CC5-65DB-84A5C6A8F71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9C9C226-BDF0-CC40-E680-7C235FB4EDEB}"/>
              </a:ext>
            </a:extLst>
          </p:cNvPr>
          <p:cNvPicPr>
            <a:picLocks noChangeAspect="1"/>
          </p:cNvPicPr>
          <p:nvPr/>
        </p:nvPicPr>
        <p:blipFill>
          <a:blip r:embed="rId2"/>
          <a:stretch>
            <a:fillRect/>
          </a:stretch>
        </p:blipFill>
        <p:spPr>
          <a:xfrm>
            <a:off x="562578" y="807905"/>
            <a:ext cx="11629421" cy="5508673"/>
          </a:xfrm>
          <a:prstGeom prst="rect">
            <a:avLst/>
          </a:prstGeom>
        </p:spPr>
      </p:pic>
      <p:sp>
        <p:nvSpPr>
          <p:cNvPr id="5" name="Marcador de texto 4">
            <a:extLst>
              <a:ext uri="{FF2B5EF4-FFF2-40B4-BE49-F238E27FC236}">
                <a16:creationId xmlns:a16="http://schemas.microsoft.com/office/drawing/2014/main" id="{FC7E1714-94F0-C6A1-8C7E-9082CBA5E340}"/>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sp>
        <p:nvSpPr>
          <p:cNvPr id="13" name="Rectángulo redondeado 15">
            <a:extLst>
              <a:ext uri="{FF2B5EF4-FFF2-40B4-BE49-F238E27FC236}">
                <a16:creationId xmlns:a16="http://schemas.microsoft.com/office/drawing/2014/main" id="{566FA904-CE5D-42E5-D621-53840C28393A}"/>
              </a:ext>
            </a:extLst>
          </p:cNvPr>
          <p:cNvSpPr/>
          <p:nvPr/>
        </p:nvSpPr>
        <p:spPr>
          <a:xfrm>
            <a:off x="2637714" y="1957035"/>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esquinas redondeadas 6">
            <a:extLst>
              <a:ext uri="{FF2B5EF4-FFF2-40B4-BE49-F238E27FC236}">
                <a16:creationId xmlns:a16="http://schemas.microsoft.com/office/drawing/2014/main" id="{0752D832-89D9-879B-86C6-C24A84500BD3}"/>
              </a:ext>
            </a:extLst>
          </p:cNvPr>
          <p:cNvSpPr/>
          <p:nvPr/>
        </p:nvSpPr>
        <p:spPr>
          <a:xfrm>
            <a:off x="2744344" y="5241037"/>
            <a:ext cx="7705724" cy="12117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1. Número de secuencia de NRC: Para cada período académico se debe indicar el número con el cual iniciará la secuencia del NRC (número de referencia de curso). </a:t>
            </a:r>
          </a:p>
        </p:txBody>
      </p:sp>
    </p:spTree>
    <p:extLst>
      <p:ext uri="{BB962C8B-B14F-4D97-AF65-F5344CB8AC3E}">
        <p14:creationId xmlns:p14="http://schemas.microsoft.com/office/powerpoint/2010/main" val="3390245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CBC00-68F0-F47B-3368-04EEC83AAAB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765B3C5-5071-C984-BDE4-900BFC886994}"/>
              </a:ext>
            </a:extLst>
          </p:cNvPr>
          <p:cNvPicPr>
            <a:picLocks noChangeAspect="1"/>
          </p:cNvPicPr>
          <p:nvPr/>
        </p:nvPicPr>
        <p:blipFill>
          <a:blip r:embed="rId2"/>
          <a:stretch>
            <a:fillRect/>
          </a:stretch>
        </p:blipFill>
        <p:spPr>
          <a:xfrm>
            <a:off x="562578" y="807905"/>
            <a:ext cx="11629421" cy="5508673"/>
          </a:xfrm>
          <a:prstGeom prst="rect">
            <a:avLst/>
          </a:prstGeom>
        </p:spPr>
      </p:pic>
      <p:sp>
        <p:nvSpPr>
          <p:cNvPr id="5" name="Marcador de texto 4">
            <a:extLst>
              <a:ext uri="{FF2B5EF4-FFF2-40B4-BE49-F238E27FC236}">
                <a16:creationId xmlns:a16="http://schemas.microsoft.com/office/drawing/2014/main" id="{D06A4DF8-B92E-D85B-B530-886515FEEB68}"/>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sp>
        <p:nvSpPr>
          <p:cNvPr id="2" name="Rectángulo: esquinas redondeadas 1">
            <a:extLst>
              <a:ext uri="{FF2B5EF4-FFF2-40B4-BE49-F238E27FC236}">
                <a16:creationId xmlns:a16="http://schemas.microsoft.com/office/drawing/2014/main" id="{B1B6050D-ED89-4D01-0662-4525B6F87F99}"/>
              </a:ext>
            </a:extLst>
          </p:cNvPr>
          <p:cNvSpPr/>
          <p:nvPr/>
        </p:nvSpPr>
        <p:spPr>
          <a:xfrm>
            <a:off x="562578" y="3812270"/>
            <a:ext cx="10748682" cy="2650640"/>
          </a:xfrm>
          <a:prstGeom prst="roundRect">
            <a:avLst>
              <a:gd name="adj" fmla="val 14466"/>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ES" sz="1200" dirty="0"/>
              <a:t>En progreso: Se marca para indicar si los cursos que se están tomando en el período actual se utilizan para cumplir con requerimientos de prerrequisitos.	</a:t>
            </a:r>
          </a:p>
          <a:p>
            <a:pPr marL="342900" indent="-342900">
              <a:buFont typeface="+mj-lt"/>
              <a:buAutoNum type="arabicPeriod"/>
            </a:pPr>
            <a:r>
              <a:rPr lang="es-CL" sz="1200" dirty="0"/>
              <a:t>Permitir: </a:t>
            </a:r>
            <a:r>
              <a:rPr lang="es-419" sz="1200" dirty="0"/>
              <a:t>Se marca para indicar que la inscripción se permite para el período.</a:t>
            </a:r>
          </a:p>
          <a:p>
            <a:pPr marL="342900" indent="-342900">
              <a:buFont typeface="+mj-lt"/>
              <a:buAutoNum type="arabicPeriod"/>
            </a:pPr>
            <a:r>
              <a:rPr lang="es-CL" sz="1200" dirty="0"/>
              <a:t>Calcular status de hora: Se marca para indicar que el sistema realiza cálculos de tiempo completo o medio tiempo y actualiza los registros en la página SFAREGS</a:t>
            </a:r>
          </a:p>
          <a:p>
            <a:pPr marL="342900" indent="-342900">
              <a:buFont typeface="+mj-lt"/>
              <a:buAutoNum type="arabicPeriod"/>
            </a:pPr>
            <a:r>
              <a:rPr lang="es-CL" sz="1200" dirty="0"/>
              <a:t>Incluir horas intentadas: </a:t>
            </a:r>
            <a:r>
              <a:rPr lang="es-419" sz="1200" dirty="0"/>
              <a:t>Cuadro usado para indicar si se incluye las horas intentadas (que se inscribieron en un periodo anterior) para el cálculo de ubicación académica desplegado en la ventana de Alumno de SFAREGS.</a:t>
            </a:r>
            <a:endParaRPr lang="es-CL" sz="1200" dirty="0"/>
          </a:p>
          <a:p>
            <a:pPr marL="342900" indent="-342900">
              <a:buFont typeface="+mj-lt"/>
              <a:buAutoNum type="arabicPeriod"/>
            </a:pPr>
            <a:r>
              <a:rPr lang="es-CL" sz="1200" dirty="0"/>
              <a:t>Períodos futuros para repeticiones: Cuadro usado para indicar si se valida o no la situación académica del estudiante en períodos anteriores y futuros con respecto a la repetición de cursos.</a:t>
            </a:r>
          </a:p>
          <a:p>
            <a:pPr marL="342900" indent="-342900" algn="just">
              <a:buFont typeface="+mj-lt"/>
              <a:buAutoNum type="arabicPeriod"/>
            </a:pPr>
            <a:r>
              <a:rPr lang="es-CL" sz="1200" dirty="0"/>
              <a:t>Plan de estudios requerido: </a:t>
            </a:r>
            <a:r>
              <a:rPr lang="es-419" sz="1200" dirty="0"/>
              <a:t>Cuadro usado para indicar si el plan de estudios es requerido para la inscripción.</a:t>
            </a:r>
            <a:endParaRPr lang="es-CL" sz="1200" dirty="0"/>
          </a:p>
          <a:p>
            <a:pPr marL="342900" indent="-342900">
              <a:buFont typeface="+mj-lt"/>
              <a:buAutoNum type="arabicPeriod"/>
            </a:pPr>
            <a:r>
              <a:rPr lang="es-CL" sz="1200" dirty="0"/>
              <a:t>Contraseña de retención: </a:t>
            </a:r>
            <a:r>
              <a:rPr lang="es-419" sz="1200" dirty="0"/>
              <a:t>Contraseña usada en SFAREGS para sobrepasar bloqueos.</a:t>
            </a:r>
            <a:endParaRPr lang="es-CL" sz="1200" dirty="0"/>
          </a:p>
          <a:p>
            <a:pPr marL="342900" indent="-342900">
              <a:buFont typeface="+mj-lt"/>
              <a:buAutoNum type="arabicPeriod"/>
            </a:pPr>
            <a:r>
              <a:rPr lang="es-CL" sz="1200" dirty="0"/>
              <a:t>Readmitir: Se define el período en el que el alumno debió está inscrito, para inscribirse en el período que se está configurando.</a:t>
            </a:r>
          </a:p>
        </p:txBody>
      </p:sp>
      <p:sp>
        <p:nvSpPr>
          <p:cNvPr id="4" name="Rectángulo redondeado 15">
            <a:extLst>
              <a:ext uri="{FF2B5EF4-FFF2-40B4-BE49-F238E27FC236}">
                <a16:creationId xmlns:a16="http://schemas.microsoft.com/office/drawing/2014/main" id="{D7A0A09D-CE7B-3422-D916-74C5B5596906}"/>
              </a:ext>
            </a:extLst>
          </p:cNvPr>
          <p:cNvSpPr/>
          <p:nvPr/>
        </p:nvSpPr>
        <p:spPr>
          <a:xfrm>
            <a:off x="1126923" y="2454965"/>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A075D0D2-E613-A709-A641-22DAF4EF1210}"/>
              </a:ext>
            </a:extLst>
          </p:cNvPr>
          <p:cNvSpPr/>
          <p:nvPr/>
        </p:nvSpPr>
        <p:spPr>
          <a:xfrm>
            <a:off x="1126923" y="2730597"/>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8" name="Rectángulo redondeado 15">
            <a:extLst>
              <a:ext uri="{FF2B5EF4-FFF2-40B4-BE49-F238E27FC236}">
                <a16:creationId xmlns:a16="http://schemas.microsoft.com/office/drawing/2014/main" id="{9307420F-9EC0-7C2E-2992-51C3C6AC1DF4}"/>
              </a:ext>
            </a:extLst>
          </p:cNvPr>
          <p:cNvSpPr/>
          <p:nvPr/>
        </p:nvSpPr>
        <p:spPr>
          <a:xfrm>
            <a:off x="1126923" y="3030785"/>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9" name="Rectángulo redondeado 15">
            <a:extLst>
              <a:ext uri="{FF2B5EF4-FFF2-40B4-BE49-F238E27FC236}">
                <a16:creationId xmlns:a16="http://schemas.microsoft.com/office/drawing/2014/main" id="{4363D5E5-ECD8-985F-3717-DF6E0AE6E518}"/>
              </a:ext>
            </a:extLst>
          </p:cNvPr>
          <p:cNvSpPr/>
          <p:nvPr/>
        </p:nvSpPr>
        <p:spPr>
          <a:xfrm>
            <a:off x="4746092" y="2467568"/>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0" name="Rectángulo redondeado 15">
            <a:extLst>
              <a:ext uri="{FF2B5EF4-FFF2-40B4-BE49-F238E27FC236}">
                <a16:creationId xmlns:a16="http://schemas.microsoft.com/office/drawing/2014/main" id="{52E9F409-3022-71B7-D6FA-7F122F4D743B}"/>
              </a:ext>
            </a:extLst>
          </p:cNvPr>
          <p:cNvSpPr/>
          <p:nvPr/>
        </p:nvSpPr>
        <p:spPr>
          <a:xfrm>
            <a:off x="4746092" y="2743200"/>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1" name="Rectángulo redondeado 15">
            <a:extLst>
              <a:ext uri="{FF2B5EF4-FFF2-40B4-BE49-F238E27FC236}">
                <a16:creationId xmlns:a16="http://schemas.microsoft.com/office/drawing/2014/main" id="{44E59BF0-1E5E-BA11-A8D7-EDB0B2D68A87}"/>
              </a:ext>
            </a:extLst>
          </p:cNvPr>
          <p:cNvSpPr/>
          <p:nvPr/>
        </p:nvSpPr>
        <p:spPr>
          <a:xfrm>
            <a:off x="4746092" y="3099334"/>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2" name="Rectángulo redondeado 15">
            <a:extLst>
              <a:ext uri="{FF2B5EF4-FFF2-40B4-BE49-F238E27FC236}">
                <a16:creationId xmlns:a16="http://schemas.microsoft.com/office/drawing/2014/main" id="{D804E750-BB3A-B0A8-A13E-24BA2042AAE9}"/>
              </a:ext>
            </a:extLst>
          </p:cNvPr>
          <p:cNvSpPr/>
          <p:nvPr/>
        </p:nvSpPr>
        <p:spPr>
          <a:xfrm>
            <a:off x="7600610" y="2716977"/>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5" name="Rectángulo redondeado 15">
            <a:extLst>
              <a:ext uri="{FF2B5EF4-FFF2-40B4-BE49-F238E27FC236}">
                <a16:creationId xmlns:a16="http://schemas.microsoft.com/office/drawing/2014/main" id="{2E77E337-7352-F005-A2E1-90789475E6CE}"/>
              </a:ext>
            </a:extLst>
          </p:cNvPr>
          <p:cNvSpPr/>
          <p:nvPr/>
        </p:nvSpPr>
        <p:spPr>
          <a:xfrm>
            <a:off x="7600610" y="3068753"/>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154555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6D187-F54B-AF0D-F147-B8003B649D07}"/>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385B1A7-09E4-C0E6-0A2A-8223BB8DBD90}"/>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graphicFrame>
        <p:nvGraphicFramePr>
          <p:cNvPr id="2" name="Tabla 6">
            <a:extLst>
              <a:ext uri="{FF2B5EF4-FFF2-40B4-BE49-F238E27FC236}">
                <a16:creationId xmlns:a16="http://schemas.microsoft.com/office/drawing/2014/main" id="{640BBBD8-4587-58B9-69AB-50B80DE2A74D}"/>
              </a:ext>
            </a:extLst>
          </p:cNvPr>
          <p:cNvGraphicFramePr>
            <a:graphicFrameLocks noGrp="1"/>
          </p:cNvGraphicFramePr>
          <p:nvPr>
            <p:extLst>
              <p:ext uri="{D42A27DB-BD31-4B8C-83A1-F6EECF244321}">
                <p14:modId xmlns:p14="http://schemas.microsoft.com/office/powerpoint/2010/main" val="430809353"/>
              </p:ext>
            </p:extLst>
          </p:nvPr>
        </p:nvGraphicFramePr>
        <p:xfrm>
          <a:off x="895835" y="1345879"/>
          <a:ext cx="10229366" cy="4492947"/>
        </p:xfrm>
        <a:graphic>
          <a:graphicData uri="http://schemas.openxmlformats.org/drawingml/2006/table">
            <a:tbl>
              <a:tblPr firstRow="1" bandRow="1">
                <a:tableStyleId>{5C22544A-7EE6-4342-B048-85BDC9FD1C3A}</a:tableStyleId>
              </a:tblPr>
              <a:tblGrid>
                <a:gridCol w="1599715">
                  <a:extLst>
                    <a:ext uri="{9D8B030D-6E8A-4147-A177-3AD203B41FA5}">
                      <a16:colId xmlns:a16="http://schemas.microsoft.com/office/drawing/2014/main" val="2298581278"/>
                    </a:ext>
                  </a:extLst>
                </a:gridCol>
                <a:gridCol w="8629651">
                  <a:extLst>
                    <a:ext uri="{9D8B030D-6E8A-4147-A177-3AD203B41FA5}">
                      <a16:colId xmlns:a16="http://schemas.microsoft.com/office/drawing/2014/main" val="1504358611"/>
                    </a:ext>
                  </a:extLst>
                </a:gridCol>
              </a:tblGrid>
              <a:tr h="458317">
                <a:tc>
                  <a:txBody>
                    <a:bodyPr/>
                    <a:lstStyle/>
                    <a:p>
                      <a:pPr algn="ctr">
                        <a:spcAft>
                          <a:spcPts val="0"/>
                        </a:spcAft>
                      </a:pPr>
                      <a:r>
                        <a:rPr lang="es-ES" sz="1100" b="1" kern="1200" dirty="0">
                          <a:solidFill>
                            <a:schemeClr val="lt1"/>
                          </a:solidFill>
                          <a:effectLst/>
                          <a:latin typeface="+mn-lt"/>
                          <a:ea typeface="+mn-ea"/>
                          <a:cs typeface="+mn-cs"/>
                        </a:rPr>
                        <a:t>Concepto</a:t>
                      </a:r>
                      <a:endParaRPr lang="es-CO" sz="1100" b="1" kern="1200" dirty="0">
                        <a:solidFill>
                          <a:schemeClr val="lt1"/>
                        </a:solidFill>
                        <a:effectLst/>
                        <a:latin typeface="+mn-lt"/>
                        <a:ea typeface="+mn-ea"/>
                        <a:cs typeface="+mn-cs"/>
                      </a:endParaRPr>
                    </a:p>
                  </a:txBody>
                  <a:tcPr marL="36830" marR="36830" marT="36830" marB="36830" anchor="ctr"/>
                </a:tc>
                <a:tc>
                  <a:txBody>
                    <a:bodyPr/>
                    <a:lstStyle/>
                    <a:p>
                      <a:pPr algn="ctr">
                        <a:spcAft>
                          <a:spcPts val="0"/>
                        </a:spcAft>
                      </a:pPr>
                      <a:r>
                        <a:rPr lang="es-ES" sz="1100" dirty="0">
                          <a:effectLst/>
                        </a:rPr>
                        <a:t>Descripción</a:t>
                      </a:r>
                      <a:endParaRPr lang="es-CO" sz="11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692961">
                <a:tc>
                  <a:txBody>
                    <a:bodyPr/>
                    <a:lstStyle/>
                    <a:p>
                      <a:pPr marL="0" algn="l" defTabSz="914400" rtl="0" eaLnBrk="1" fontAlgn="ctr" latinLnBrk="0" hangingPunct="1">
                        <a:spcAft>
                          <a:spcPts val="0"/>
                        </a:spcAft>
                      </a:pPr>
                      <a:r>
                        <a:rPr lang="es-MX" sz="1100" b="1" kern="12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En Progreso</a:t>
                      </a:r>
                    </a:p>
                  </a:txBody>
                  <a:tcPr marL="36830" marR="36830" marT="36830" marB="36830" anchor="ctr"/>
                </a:tc>
                <a:tc>
                  <a:txBody>
                    <a:bodyPr/>
                    <a:lstStyle/>
                    <a:p>
                      <a:pPr marL="0" algn="just" defTabSz="914400" rtl="0" eaLnBrk="1" fontAlgn="ctr" latinLnBrk="0" hangingPunct="1">
                        <a:spcAft>
                          <a:spcPts val="0"/>
                        </a:spcAft>
                      </a:pPr>
                      <a:r>
                        <a:rPr lang="es-MX" sz="1100" kern="12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Cuadro que se usa para indicar si los cursos se toman durante el periodo actual se pueden usar para llenar los requerimientos de prerrequisitos. Si marca el cuadro, entonces un curso en progreso se trata como si el curso está completo. Una vez que un curso es calificado, ya no es considerado un curso en-progreso, y luego es verificado contra las reglas en SSAPREQ.</a:t>
                      </a:r>
                    </a:p>
                  </a:txBody>
                  <a:tcPr marL="36830" marR="36830" marT="36830" marB="36830" anchor="ctr"/>
                </a:tc>
                <a:extLst>
                  <a:ext uri="{0D108BD9-81ED-4DB2-BD59-A6C34878D82A}">
                    <a16:rowId xmlns:a16="http://schemas.microsoft.com/office/drawing/2014/main" val="1674607535"/>
                  </a:ext>
                </a:extLst>
              </a:tr>
              <a:tr h="415094">
                <a:tc>
                  <a:txBody>
                    <a:bodyPr/>
                    <a:lstStyle/>
                    <a:p>
                      <a:pPr>
                        <a:spcAft>
                          <a:spcPts val="0"/>
                        </a:spcAft>
                      </a:pPr>
                      <a:r>
                        <a:rPr lang="es-CO" sz="11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Permitir</a:t>
                      </a:r>
                    </a:p>
                  </a:txBody>
                  <a:tcPr marL="36830" marR="36830" marT="36830" marB="36830" anchor="ctr"/>
                </a:tc>
                <a:tc>
                  <a:txBody>
                    <a:bodyPr/>
                    <a:lstStyle/>
                    <a:p>
                      <a:pPr algn="just">
                        <a:spcAft>
                          <a:spcPts val="0"/>
                        </a:spcAft>
                      </a:pPr>
                      <a:r>
                        <a:rPr lang="es-MX"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Cuadro usado para indicar si la inscripción se permite para el periodo en el bloque clave.</a:t>
                      </a:r>
                    </a:p>
                  </a:txBody>
                  <a:tcPr marL="36830" marR="36830" marT="36830" marB="36830" anchor="ctr"/>
                </a:tc>
                <a:extLst>
                  <a:ext uri="{0D108BD9-81ED-4DB2-BD59-A6C34878D82A}">
                    <a16:rowId xmlns:a16="http://schemas.microsoft.com/office/drawing/2014/main" val="3948937607"/>
                  </a:ext>
                </a:extLst>
              </a:tr>
              <a:tr h="621794">
                <a:tc>
                  <a:txBody>
                    <a:bodyPr/>
                    <a:lstStyle/>
                    <a:p>
                      <a:pPr>
                        <a:spcAft>
                          <a:spcPts val="0"/>
                        </a:spcAft>
                      </a:pPr>
                      <a:r>
                        <a:rPr lang="es-ES" sz="1100" b="1" dirty="0">
                          <a:solidFill>
                            <a:schemeClr val="bg2">
                              <a:lumMod val="25000"/>
                            </a:schemeClr>
                          </a:solidFill>
                          <a:effectLst/>
                        </a:rPr>
                        <a:t>Calcular Estatus de Hora</a:t>
                      </a:r>
                      <a:endParaRPr lang="es-CO" sz="1100" b="1" dirty="0">
                        <a:solidFill>
                          <a:schemeClr val="bg2">
                            <a:lumMod val="25000"/>
                          </a:schemeClr>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MX" sz="1100" dirty="0">
                          <a:effectLst/>
                        </a:rPr>
                        <a:t>Cuadro usado para indicar si el sistema realiza cálculos de estatus de horas e inserta o actualiza los registros de tiempo en la página «Inscripción del alumno al curso» (SFAREGS), en la página «Captura masiva de inscripciones» (SFAMREG). </a:t>
                      </a:r>
                    </a:p>
                  </a:txBody>
                  <a:tcPr marL="36830" marR="36830" marT="36830" marB="36830" anchor="ctr"/>
                </a:tc>
                <a:extLst>
                  <a:ext uri="{0D108BD9-81ED-4DB2-BD59-A6C34878D82A}">
                    <a16:rowId xmlns:a16="http://schemas.microsoft.com/office/drawing/2014/main" val="2959410008"/>
                  </a:ext>
                </a:extLst>
              </a:tr>
              <a:tr h="23047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100" b="1" kern="1200" dirty="0">
                          <a:solidFill>
                            <a:schemeClr val="bg2">
                              <a:lumMod val="25000"/>
                            </a:schemeClr>
                          </a:solidFill>
                          <a:effectLst/>
                          <a:latin typeface="+mn-lt"/>
                          <a:ea typeface="+mn-ea"/>
                          <a:cs typeface="+mn-cs"/>
                        </a:rPr>
                        <a:t>Incluir Horas Intentadas</a:t>
                      </a:r>
                    </a:p>
                    <a:p>
                      <a:pPr>
                        <a:spcAft>
                          <a:spcPts val="0"/>
                        </a:spcAft>
                      </a:pPr>
                      <a:endParaRPr lang="es-CO" sz="11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marL="0" algn="just" defTabSz="914400" rtl="0" eaLnBrk="1" fontAlgn="ctr" latinLnBrk="0" hangingPunct="1">
                        <a:spcAft>
                          <a:spcPts val="0"/>
                        </a:spcAft>
                      </a:pPr>
                      <a:r>
                        <a:rPr lang="es-MX" sz="1100" kern="1200" dirty="0">
                          <a:solidFill>
                            <a:schemeClr val="dk1"/>
                          </a:solidFill>
                          <a:effectLst/>
                          <a:latin typeface="+mn-lt"/>
                          <a:ea typeface="+mn-ea"/>
                          <a:cs typeface="+mn-cs"/>
                        </a:rPr>
                        <a:t>Cuadro usado para indicar si se incluye las horas intentadas (que se inscribieron en un periodo anterior) para el cálculo de clase desplegado en la ventana de Alumno de SFAREGS. Las secciones del curso con restricciones de clase utilizan el valor de cálculo de clase en SFAREGS para determinar la elegibilidad de inscripción. Puede seleccionar la opción «Actualizar información de periodo del alumno» en el menú de opciones desde los bloques «Estatus» o «Inscripción» en SFAREGS para acceder la ventana «Alumno». Las horas intentadas también se usan junto con los requerimientos de clase colocados en lugares reservados en SSASECT.</a:t>
                      </a:r>
                    </a:p>
                    <a:p>
                      <a:pPr marL="0" lvl="0" algn="just">
                        <a:spcAft>
                          <a:spcPts val="0"/>
                        </a:spcAft>
                        <a:buNone/>
                      </a:pPr>
                      <a:endParaRPr lang="es-MX" sz="1100" kern="1200" dirty="0">
                        <a:solidFill>
                          <a:schemeClr val="dk1"/>
                        </a:solidFill>
                        <a:effectLst/>
                        <a:latin typeface="+mn-lt"/>
                        <a:ea typeface="+mn-ea"/>
                        <a:cs typeface="+mn-cs"/>
                      </a:endParaRPr>
                    </a:p>
                    <a:p>
                      <a:pPr marL="0" algn="just" defTabSz="914400" rtl="0" eaLnBrk="1" fontAlgn="ctr" latinLnBrk="0" hangingPunct="1">
                        <a:spcAft>
                          <a:spcPts val="0"/>
                        </a:spcAft>
                      </a:pPr>
                      <a:r>
                        <a:rPr lang="es-MX" sz="1100" kern="1200" dirty="0">
                          <a:solidFill>
                            <a:schemeClr val="dk1"/>
                          </a:solidFill>
                          <a:effectLst/>
                          <a:latin typeface="+mn-lt"/>
                          <a:ea typeface="+mn-ea"/>
                          <a:cs typeface="+mn-cs"/>
                        </a:rPr>
                        <a:t>Las horas asistidas nunca son incluidas en el cálculo de clase desplegado en la página de General de Alumnos (SGASTDN).</a:t>
                      </a:r>
                    </a:p>
                    <a:p>
                      <a:pPr marL="0" algn="just" defTabSz="914400" rtl="0" eaLnBrk="1" fontAlgn="ctr" latinLnBrk="0" hangingPunct="1">
                        <a:spcAft>
                          <a:spcPts val="0"/>
                        </a:spcAft>
                        <a:buFont typeface="Arial" panose="020B0604020202020204" pitchFamily="34" charset="0"/>
                        <a:buChar char="•"/>
                      </a:pPr>
                      <a:r>
                        <a:rPr lang="es-MX" sz="1100" kern="1200" dirty="0">
                          <a:solidFill>
                            <a:schemeClr val="dk1"/>
                          </a:solidFill>
                          <a:effectLst/>
                          <a:latin typeface="+mn-lt"/>
                          <a:ea typeface="+mn-ea"/>
                          <a:cs typeface="+mn-cs"/>
                        </a:rPr>
                        <a:t>Las horas consideradas como horas asistidas en el cálculo de clase para inscripción incluyen lo siguiente: </a:t>
                      </a:r>
                    </a:p>
                    <a:p>
                      <a:pPr marL="457200" lvl="1" algn="just" defTabSz="914400" rtl="0" eaLnBrk="1" fontAlgn="ctr" latinLnBrk="0" hangingPunct="1">
                        <a:spcAft>
                          <a:spcPts val="0"/>
                        </a:spcAft>
                        <a:buFont typeface="Arial" panose="020B0604020202020204" pitchFamily="34" charset="0"/>
                        <a:buChar char="•"/>
                      </a:pPr>
                      <a:r>
                        <a:rPr lang="es-MX" sz="1100" kern="1200" dirty="0">
                          <a:solidFill>
                            <a:schemeClr val="dk1"/>
                          </a:solidFill>
                          <a:effectLst/>
                          <a:latin typeface="+mn-lt"/>
                          <a:ea typeface="+mn-ea"/>
                          <a:cs typeface="+mn-cs"/>
                        </a:rPr>
                        <a:t>Cursos registrados en un periodo anterior</a:t>
                      </a:r>
                    </a:p>
                    <a:p>
                      <a:pPr marL="457200" lvl="1" algn="just" defTabSz="914400" rtl="0" eaLnBrk="1" fontAlgn="ctr" latinLnBrk="0" hangingPunct="1">
                        <a:spcAft>
                          <a:spcPts val="0"/>
                        </a:spcAft>
                        <a:buFont typeface="Arial" panose="020B0604020202020204" pitchFamily="34" charset="0"/>
                        <a:buChar char="•"/>
                      </a:pPr>
                      <a:r>
                        <a:rPr lang="es-MX" sz="1100" kern="1200" dirty="0">
                          <a:solidFill>
                            <a:schemeClr val="dk1"/>
                          </a:solidFill>
                          <a:effectLst/>
                          <a:latin typeface="+mn-lt"/>
                          <a:ea typeface="+mn-ea"/>
                          <a:cs typeface="+mn-cs"/>
                        </a:rPr>
                        <a:t>Cursos calificados o no calificados,</a:t>
                      </a:r>
                    </a:p>
                    <a:p>
                      <a:pPr marL="457200" lvl="1" algn="just" defTabSz="914400" rtl="0" eaLnBrk="1" fontAlgn="ctr" latinLnBrk="0" hangingPunct="1">
                        <a:spcAft>
                          <a:spcPts val="0"/>
                        </a:spcAft>
                        <a:buFont typeface="Arial" panose="020B0604020202020204" pitchFamily="34" charset="0"/>
                        <a:buChar char="•"/>
                      </a:pPr>
                      <a:r>
                        <a:rPr lang="es-MX" sz="1100" kern="1200" dirty="0">
                          <a:solidFill>
                            <a:schemeClr val="dk1"/>
                          </a:solidFill>
                          <a:effectLst/>
                          <a:latin typeface="+mn-lt"/>
                          <a:ea typeface="+mn-ea"/>
                          <a:cs typeface="+mn-cs"/>
                        </a:rPr>
                        <a:t>Cursos calificados todavía no pasados al historial</a:t>
                      </a:r>
                    </a:p>
                    <a:p>
                      <a:pPr marL="0" algn="just" rtl="0" eaLnBrk="1" fontAlgn="ctr" latinLnBrk="0" hangingPunct="1">
                        <a:spcAft>
                          <a:spcPts val="0"/>
                        </a:spcAft>
                      </a:pPr>
                      <a:endParaRPr lang="es-MX" sz="1100" kern="1200" dirty="0">
                        <a:solidFill>
                          <a:schemeClr val="dk1"/>
                        </a:solidFill>
                        <a:effectLst/>
                        <a:latin typeface="+mn-lt"/>
                        <a:ea typeface="+mn-ea"/>
                        <a:cs typeface="+mn-cs"/>
                      </a:endParaRPr>
                    </a:p>
                    <a:p>
                      <a:pPr marL="0" lvl="0" algn="just" defTabSz="914400">
                        <a:spcAft>
                          <a:spcPts val="0"/>
                        </a:spcAft>
                        <a:buNone/>
                      </a:pPr>
                      <a:r>
                        <a:rPr lang="es-MX" sz="1100" kern="1200" dirty="0">
                          <a:solidFill>
                            <a:schemeClr val="dk1"/>
                          </a:solidFill>
                          <a:effectLst/>
                          <a:latin typeface="+mn-lt"/>
                          <a:ea typeface="+mn-ea"/>
                          <a:cs typeface="+mn-cs"/>
                        </a:rPr>
                        <a:t>Una vez que un curso en un periodo anterior ha sido calificado y pasado al historial, no será considerado en horas asistidas.</a:t>
                      </a:r>
                      <a:endParaRPr lang="es-MX" dirty="0"/>
                    </a:p>
                  </a:txBody>
                  <a:tcPr marL="36830" marR="36830" marT="36830" marB="36830" anchor="ctr"/>
                </a:tc>
                <a:extLst>
                  <a:ext uri="{0D108BD9-81ED-4DB2-BD59-A6C34878D82A}">
                    <a16:rowId xmlns:a16="http://schemas.microsoft.com/office/drawing/2014/main" val="3442195060"/>
                  </a:ext>
                </a:extLst>
              </a:tr>
            </a:tbl>
          </a:graphicData>
        </a:graphic>
      </p:graphicFrame>
    </p:spTree>
    <p:extLst>
      <p:ext uri="{BB962C8B-B14F-4D97-AF65-F5344CB8AC3E}">
        <p14:creationId xmlns:p14="http://schemas.microsoft.com/office/powerpoint/2010/main" val="1435574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719B9-498F-708B-48FF-ADBEDE4A96FF}"/>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BFEF7FF8-5F51-09C7-153F-1F1E4D8A5650}"/>
              </a:ext>
            </a:extLst>
          </p:cNvPr>
          <p:cNvPicPr>
            <a:picLocks noChangeAspect="1"/>
          </p:cNvPicPr>
          <p:nvPr/>
        </p:nvPicPr>
        <p:blipFill>
          <a:blip r:embed="rId2"/>
          <a:stretch>
            <a:fillRect/>
          </a:stretch>
        </p:blipFill>
        <p:spPr>
          <a:xfrm>
            <a:off x="587188" y="862790"/>
            <a:ext cx="10518426" cy="4950170"/>
          </a:xfrm>
          <a:prstGeom prst="rect">
            <a:avLst/>
          </a:prstGeom>
        </p:spPr>
      </p:pic>
      <p:sp>
        <p:nvSpPr>
          <p:cNvPr id="5" name="Marcador de texto 4">
            <a:extLst>
              <a:ext uri="{FF2B5EF4-FFF2-40B4-BE49-F238E27FC236}">
                <a16:creationId xmlns:a16="http://schemas.microsoft.com/office/drawing/2014/main" id="{F4122C83-942F-0D30-9C27-73EEC5995AE7}"/>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sp>
        <p:nvSpPr>
          <p:cNvPr id="4" name="Rectángulo: esquinas redondeadas 3">
            <a:extLst>
              <a:ext uri="{FF2B5EF4-FFF2-40B4-BE49-F238E27FC236}">
                <a16:creationId xmlns:a16="http://schemas.microsoft.com/office/drawing/2014/main" id="{53F5CE6F-A396-091D-A0CF-90776760BA43}"/>
              </a:ext>
            </a:extLst>
          </p:cNvPr>
          <p:cNvSpPr/>
          <p:nvPr/>
        </p:nvSpPr>
        <p:spPr>
          <a:xfrm>
            <a:off x="936958" y="4026979"/>
            <a:ext cx="10061663" cy="13862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1. ‘+’ para crear nuevo registro.</a:t>
            </a:r>
          </a:p>
          <a:p>
            <a:r>
              <a:rPr lang="es-ES" sz="1100" dirty="0"/>
              <a:t>2. Parte de Período Base: Se ingresa la parte de período que se va a configurar. </a:t>
            </a:r>
          </a:p>
          <a:p>
            <a:r>
              <a:rPr lang="es-ES" sz="1100" dirty="0"/>
              <a:t>*Siempre debe existir configuración para la parte de período 1.</a:t>
            </a:r>
          </a:p>
          <a:p>
            <a:r>
              <a:rPr lang="es-ES" sz="1100" dirty="0"/>
              <a:t>3. La fecha de inicio y fin son campos obligatorios.</a:t>
            </a:r>
            <a:endParaRPr lang="es-CL" sz="1100" dirty="0"/>
          </a:p>
        </p:txBody>
      </p:sp>
      <p:sp>
        <p:nvSpPr>
          <p:cNvPr id="6" name="Rectángulo redondeado 15">
            <a:extLst>
              <a:ext uri="{FF2B5EF4-FFF2-40B4-BE49-F238E27FC236}">
                <a16:creationId xmlns:a16="http://schemas.microsoft.com/office/drawing/2014/main" id="{068074FD-7C04-7D06-BB2A-1A9770C7C8AB}"/>
              </a:ext>
            </a:extLst>
          </p:cNvPr>
          <p:cNvSpPr/>
          <p:nvPr/>
        </p:nvSpPr>
        <p:spPr>
          <a:xfrm>
            <a:off x="9874893" y="1692436"/>
            <a:ext cx="216913" cy="22780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6">
            <a:extLst>
              <a:ext uri="{FF2B5EF4-FFF2-40B4-BE49-F238E27FC236}">
                <a16:creationId xmlns:a16="http://schemas.microsoft.com/office/drawing/2014/main" id="{CF769C5B-A41E-EDAF-1DEC-21620B4AD580}"/>
              </a:ext>
            </a:extLst>
          </p:cNvPr>
          <p:cNvSpPr/>
          <p:nvPr/>
        </p:nvSpPr>
        <p:spPr>
          <a:xfrm>
            <a:off x="10304766" y="1719770"/>
            <a:ext cx="256032" cy="20047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15">
            <a:extLst>
              <a:ext uri="{FF2B5EF4-FFF2-40B4-BE49-F238E27FC236}">
                <a16:creationId xmlns:a16="http://schemas.microsoft.com/office/drawing/2014/main" id="{1BFBA9ED-CFD3-49AB-0448-379C38C19BE0}"/>
              </a:ext>
            </a:extLst>
          </p:cNvPr>
          <p:cNvSpPr/>
          <p:nvPr/>
        </p:nvSpPr>
        <p:spPr>
          <a:xfrm>
            <a:off x="279675" y="2026906"/>
            <a:ext cx="216913" cy="22780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9" name="Rectángulo redondeado 15">
            <a:extLst>
              <a:ext uri="{FF2B5EF4-FFF2-40B4-BE49-F238E27FC236}">
                <a16:creationId xmlns:a16="http://schemas.microsoft.com/office/drawing/2014/main" id="{BF313445-278D-914E-85EA-1240D94E927E}"/>
              </a:ext>
            </a:extLst>
          </p:cNvPr>
          <p:cNvSpPr/>
          <p:nvPr/>
        </p:nvSpPr>
        <p:spPr>
          <a:xfrm>
            <a:off x="4388440" y="3110071"/>
            <a:ext cx="216913" cy="22780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0" name="Abrir llave 9">
            <a:extLst>
              <a:ext uri="{FF2B5EF4-FFF2-40B4-BE49-F238E27FC236}">
                <a16:creationId xmlns:a16="http://schemas.microsoft.com/office/drawing/2014/main" id="{1163AC4F-42C1-E506-F83B-0F1380D29A21}"/>
              </a:ext>
            </a:extLst>
          </p:cNvPr>
          <p:cNvSpPr/>
          <p:nvPr/>
        </p:nvSpPr>
        <p:spPr>
          <a:xfrm rot="16200000">
            <a:off x="4440994" y="2422231"/>
            <a:ext cx="111803" cy="9963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3270132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10633-F257-BD48-F09B-AFEEBF894A08}"/>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033B4DB4-B026-9508-BE17-5766F11E48F6}"/>
              </a:ext>
            </a:extLst>
          </p:cNvPr>
          <p:cNvPicPr>
            <a:picLocks noChangeAspect="1"/>
          </p:cNvPicPr>
          <p:nvPr/>
        </p:nvPicPr>
        <p:blipFill>
          <a:blip r:embed="rId2"/>
          <a:stretch>
            <a:fillRect/>
          </a:stretch>
        </p:blipFill>
        <p:spPr>
          <a:xfrm>
            <a:off x="571011" y="854443"/>
            <a:ext cx="10518426" cy="4950170"/>
          </a:xfrm>
          <a:prstGeom prst="rect">
            <a:avLst/>
          </a:prstGeom>
        </p:spPr>
      </p:pic>
      <p:sp>
        <p:nvSpPr>
          <p:cNvPr id="5" name="Marcador de texto 4">
            <a:extLst>
              <a:ext uri="{FF2B5EF4-FFF2-40B4-BE49-F238E27FC236}">
                <a16:creationId xmlns:a16="http://schemas.microsoft.com/office/drawing/2014/main" id="{4C3BD589-907F-92FF-DBB2-25A026F49DEB}"/>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sp>
        <p:nvSpPr>
          <p:cNvPr id="2" name="Rectángulo redondeado 15">
            <a:extLst>
              <a:ext uri="{FF2B5EF4-FFF2-40B4-BE49-F238E27FC236}">
                <a16:creationId xmlns:a16="http://schemas.microsoft.com/office/drawing/2014/main" id="{4CDCAE94-50B7-30F9-8FB4-DD953F34002F}"/>
              </a:ext>
            </a:extLst>
          </p:cNvPr>
          <p:cNvSpPr/>
          <p:nvPr/>
        </p:nvSpPr>
        <p:spPr>
          <a:xfrm>
            <a:off x="4878137" y="1634856"/>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3" name="Rectángulo: esquinas redondeadas 2">
            <a:extLst>
              <a:ext uri="{FF2B5EF4-FFF2-40B4-BE49-F238E27FC236}">
                <a16:creationId xmlns:a16="http://schemas.microsoft.com/office/drawing/2014/main" id="{9E39802E-113B-A018-4981-D429C51BAFF1}"/>
              </a:ext>
            </a:extLst>
          </p:cNvPr>
          <p:cNvSpPr/>
          <p:nvPr/>
        </p:nvSpPr>
        <p:spPr>
          <a:xfrm>
            <a:off x="466611" y="4328796"/>
            <a:ext cx="9827060" cy="112892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L" sz="1100" dirty="0"/>
              <a:t>4. Número de semanas: Duración de la parte de período en semanas.</a:t>
            </a:r>
          </a:p>
          <a:p>
            <a:r>
              <a:rPr lang="es-CL" sz="1100" dirty="0"/>
              <a:t>5. Fechade censo uno: Fecha para validar el número de inscritos en los NRCs programados. (solo número de censo uno es requerido)</a:t>
            </a:r>
          </a:p>
          <a:p>
            <a:r>
              <a:rPr lang="es-CL" sz="1100" dirty="0"/>
              <a:t>6. Fecha de censo dos: Segunda fecha para validar el número de inscritos en los NRCs programados. (censo dos es opcional)</a:t>
            </a:r>
          </a:p>
          <a:p>
            <a:r>
              <a:rPr lang="es-CL" sz="1100" dirty="0"/>
              <a:t>7. Al finalizar la creación o modificación de uno o más registros debe guardar el progreso.</a:t>
            </a:r>
          </a:p>
        </p:txBody>
      </p:sp>
      <p:sp>
        <p:nvSpPr>
          <p:cNvPr id="11" name="Rectángulo redondeado 15">
            <a:extLst>
              <a:ext uri="{FF2B5EF4-FFF2-40B4-BE49-F238E27FC236}">
                <a16:creationId xmlns:a16="http://schemas.microsoft.com/office/drawing/2014/main" id="{34E941AE-9640-D86D-D03B-DE5B0E646D49}"/>
              </a:ext>
            </a:extLst>
          </p:cNvPr>
          <p:cNvSpPr/>
          <p:nvPr/>
        </p:nvSpPr>
        <p:spPr>
          <a:xfrm>
            <a:off x="8656838" y="5545967"/>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redondeado 15">
            <a:extLst>
              <a:ext uri="{FF2B5EF4-FFF2-40B4-BE49-F238E27FC236}">
                <a16:creationId xmlns:a16="http://schemas.microsoft.com/office/drawing/2014/main" id="{1380B4AA-EB47-32A6-83CE-6E3F2A576079}"/>
              </a:ext>
            </a:extLst>
          </p:cNvPr>
          <p:cNvSpPr/>
          <p:nvPr/>
        </p:nvSpPr>
        <p:spPr>
          <a:xfrm>
            <a:off x="6534735" y="1634856"/>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4" name="Rectángulo redondeado 15">
            <a:extLst>
              <a:ext uri="{FF2B5EF4-FFF2-40B4-BE49-F238E27FC236}">
                <a16:creationId xmlns:a16="http://schemas.microsoft.com/office/drawing/2014/main" id="{B500C37A-9E6B-4EB2-AF05-05B5C1A3537A}"/>
              </a:ext>
            </a:extLst>
          </p:cNvPr>
          <p:cNvSpPr/>
          <p:nvPr/>
        </p:nvSpPr>
        <p:spPr>
          <a:xfrm>
            <a:off x="5706436" y="1634856"/>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5" name="Rectángulo redondeado 5">
            <a:extLst>
              <a:ext uri="{FF2B5EF4-FFF2-40B4-BE49-F238E27FC236}">
                <a16:creationId xmlns:a16="http://schemas.microsoft.com/office/drawing/2014/main" id="{93F091C0-A394-8EEA-5FCE-DBDE64B02F35}"/>
              </a:ext>
            </a:extLst>
          </p:cNvPr>
          <p:cNvSpPr/>
          <p:nvPr/>
        </p:nvSpPr>
        <p:spPr>
          <a:xfrm>
            <a:off x="8976004" y="5560971"/>
            <a:ext cx="1527045" cy="22694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finalizar guardar</a:t>
            </a:r>
          </a:p>
        </p:txBody>
      </p:sp>
      <p:sp>
        <p:nvSpPr>
          <p:cNvPr id="16" name="Rectángulo 15">
            <a:extLst>
              <a:ext uri="{FF2B5EF4-FFF2-40B4-BE49-F238E27FC236}">
                <a16:creationId xmlns:a16="http://schemas.microsoft.com/office/drawing/2014/main" id="{31A275B4-DD74-75BD-DE0D-708A4850C08A}"/>
              </a:ext>
            </a:extLst>
          </p:cNvPr>
          <p:cNvSpPr/>
          <p:nvPr/>
        </p:nvSpPr>
        <p:spPr>
          <a:xfrm>
            <a:off x="10573806" y="5560971"/>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1267016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547F4-41F1-03BB-67DB-E5EA96CC6E20}"/>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36DE036-2879-7BE6-44D7-EEE0AA4F94B7}"/>
              </a:ext>
            </a:extLst>
          </p:cNvPr>
          <p:cNvPicPr>
            <a:picLocks noChangeAspect="1"/>
          </p:cNvPicPr>
          <p:nvPr/>
        </p:nvPicPr>
        <p:blipFill>
          <a:blip r:embed="rId2"/>
          <a:stretch>
            <a:fillRect/>
          </a:stretch>
        </p:blipFill>
        <p:spPr>
          <a:xfrm>
            <a:off x="246500" y="740664"/>
            <a:ext cx="11797869" cy="5543577"/>
          </a:xfrm>
          <a:prstGeom prst="rect">
            <a:avLst/>
          </a:prstGeom>
        </p:spPr>
      </p:pic>
      <p:sp>
        <p:nvSpPr>
          <p:cNvPr id="5" name="Marcador de texto 4">
            <a:extLst>
              <a:ext uri="{FF2B5EF4-FFF2-40B4-BE49-F238E27FC236}">
                <a16:creationId xmlns:a16="http://schemas.microsoft.com/office/drawing/2014/main" id="{ADB0E377-AFFD-BEDA-5F99-E90EFA5458B6}"/>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sp>
        <p:nvSpPr>
          <p:cNvPr id="7" name="Rectángulo: esquinas redondeadas 6">
            <a:extLst>
              <a:ext uri="{FF2B5EF4-FFF2-40B4-BE49-F238E27FC236}">
                <a16:creationId xmlns:a16="http://schemas.microsoft.com/office/drawing/2014/main" id="{F6FE85A6-BB17-F0DA-5D01-372096633BFB}"/>
              </a:ext>
            </a:extLst>
          </p:cNvPr>
          <p:cNvSpPr/>
          <p:nvPr/>
        </p:nvSpPr>
        <p:spPr>
          <a:xfrm>
            <a:off x="2129301" y="5125012"/>
            <a:ext cx="9816199" cy="56255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1.- Web del docente - Calificaciones parciales, calificaciones finales y lista de espera deben estar marcadas para que permita el cargue de calificaciones y que la funcionalidad de lista de espera muestre la información en web.</a:t>
            </a:r>
            <a:endParaRPr lang="es-CL" sz="1100" dirty="0"/>
          </a:p>
        </p:txBody>
      </p:sp>
      <p:sp>
        <p:nvSpPr>
          <p:cNvPr id="8" name="Rectángulo redondeado 15">
            <a:extLst>
              <a:ext uri="{FF2B5EF4-FFF2-40B4-BE49-F238E27FC236}">
                <a16:creationId xmlns:a16="http://schemas.microsoft.com/office/drawing/2014/main" id="{C2CABEDE-D048-873F-25D5-CE3037BE6BBD}"/>
              </a:ext>
            </a:extLst>
          </p:cNvPr>
          <p:cNvSpPr/>
          <p:nvPr/>
        </p:nvSpPr>
        <p:spPr>
          <a:xfrm>
            <a:off x="11993105" y="1907617"/>
            <a:ext cx="227624"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9" name="Rectángulo 8">
            <a:extLst>
              <a:ext uri="{FF2B5EF4-FFF2-40B4-BE49-F238E27FC236}">
                <a16:creationId xmlns:a16="http://schemas.microsoft.com/office/drawing/2014/main" id="{3BB4B5DB-E671-D29C-73FA-3EC07DDF8967}"/>
              </a:ext>
            </a:extLst>
          </p:cNvPr>
          <p:cNvSpPr/>
          <p:nvPr/>
        </p:nvSpPr>
        <p:spPr>
          <a:xfrm>
            <a:off x="8714232" y="1854211"/>
            <a:ext cx="3001342" cy="29535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124393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52AEF-588B-4CED-98E4-4DB3568C72BF}"/>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10BF613B-D76F-5A28-91BC-81DEC1F00460}"/>
              </a:ext>
            </a:extLst>
          </p:cNvPr>
          <p:cNvPicPr>
            <a:picLocks noChangeAspect="1"/>
          </p:cNvPicPr>
          <p:nvPr/>
        </p:nvPicPr>
        <p:blipFill>
          <a:blip r:embed="rId2"/>
          <a:stretch>
            <a:fillRect/>
          </a:stretch>
        </p:blipFill>
        <p:spPr>
          <a:xfrm>
            <a:off x="246500" y="740664"/>
            <a:ext cx="11797869" cy="5543577"/>
          </a:xfrm>
          <a:prstGeom prst="rect">
            <a:avLst/>
          </a:prstGeom>
        </p:spPr>
      </p:pic>
      <p:sp>
        <p:nvSpPr>
          <p:cNvPr id="5" name="Marcador de texto 4">
            <a:extLst>
              <a:ext uri="{FF2B5EF4-FFF2-40B4-BE49-F238E27FC236}">
                <a16:creationId xmlns:a16="http://schemas.microsoft.com/office/drawing/2014/main" id="{38209560-8B16-7A46-8132-7CFB300D6FEE}"/>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sp>
        <p:nvSpPr>
          <p:cNvPr id="8" name="Rectángulo redondeado 15">
            <a:extLst>
              <a:ext uri="{FF2B5EF4-FFF2-40B4-BE49-F238E27FC236}">
                <a16:creationId xmlns:a16="http://schemas.microsoft.com/office/drawing/2014/main" id="{4E3FAFF0-C875-E32F-2997-3E9B615F467B}"/>
              </a:ext>
            </a:extLst>
          </p:cNvPr>
          <p:cNvSpPr/>
          <p:nvPr/>
        </p:nvSpPr>
        <p:spPr>
          <a:xfrm>
            <a:off x="11993105" y="1907617"/>
            <a:ext cx="227624"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9" name="Rectángulo 8">
            <a:extLst>
              <a:ext uri="{FF2B5EF4-FFF2-40B4-BE49-F238E27FC236}">
                <a16:creationId xmlns:a16="http://schemas.microsoft.com/office/drawing/2014/main" id="{E2CC9920-468F-2669-F614-9B516429F1EA}"/>
              </a:ext>
            </a:extLst>
          </p:cNvPr>
          <p:cNvSpPr/>
          <p:nvPr/>
        </p:nvSpPr>
        <p:spPr>
          <a:xfrm>
            <a:off x="8714232" y="1854211"/>
            <a:ext cx="3001342" cy="29535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Rectángulo: esquinas redondeadas 1">
            <a:extLst>
              <a:ext uri="{FF2B5EF4-FFF2-40B4-BE49-F238E27FC236}">
                <a16:creationId xmlns:a16="http://schemas.microsoft.com/office/drawing/2014/main" id="{83BE523B-67DE-D2B9-AD30-6581B351B359}"/>
              </a:ext>
            </a:extLst>
          </p:cNvPr>
          <p:cNvSpPr/>
          <p:nvPr/>
        </p:nvSpPr>
        <p:spPr>
          <a:xfrm>
            <a:off x="967944" y="4837844"/>
            <a:ext cx="9246959" cy="145550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Para insertar fechas de Inscripción web o Acceso docente y asesor, debe seguir los siguientes pasos:</a:t>
            </a:r>
          </a:p>
          <a:p>
            <a:r>
              <a:rPr lang="es-ES" sz="1100" dirty="0"/>
              <a:t>1. Debe estar ubicado en la sección respectiva.</a:t>
            </a:r>
          </a:p>
          <a:p>
            <a:r>
              <a:rPr lang="es-ES" sz="1100" dirty="0"/>
              <a:t>2. Insertar para crear nuevo registro</a:t>
            </a:r>
          </a:p>
          <a:p>
            <a:r>
              <a:rPr lang="es-ES" sz="1100" dirty="0"/>
              <a:t>*Fechas de inscripción web: Rango de fechas mínimo y máximo que permiten la inscripción web en el autoservicio, se puede ingresar varios rangos.</a:t>
            </a:r>
          </a:p>
          <a:p>
            <a:r>
              <a:rPr lang="es-ES" sz="1100" dirty="0"/>
              <a:t>3. </a:t>
            </a:r>
            <a:r>
              <a:rPr lang="es-CL" sz="1100" dirty="0"/>
              <a:t>Al finalizar la creación o modificación de un o más registros debe guardar el progreso.</a:t>
            </a:r>
          </a:p>
        </p:txBody>
      </p:sp>
      <p:sp>
        <p:nvSpPr>
          <p:cNvPr id="3" name="Rectángulo redondeado 15">
            <a:extLst>
              <a:ext uri="{FF2B5EF4-FFF2-40B4-BE49-F238E27FC236}">
                <a16:creationId xmlns:a16="http://schemas.microsoft.com/office/drawing/2014/main" id="{6C44178D-DCAD-FA34-A3EB-C8826BFAD7B8}"/>
              </a:ext>
            </a:extLst>
          </p:cNvPr>
          <p:cNvSpPr/>
          <p:nvPr/>
        </p:nvSpPr>
        <p:spPr>
          <a:xfrm>
            <a:off x="10838810" y="3650975"/>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4" name="Rectángulo 3">
            <a:extLst>
              <a:ext uri="{FF2B5EF4-FFF2-40B4-BE49-F238E27FC236}">
                <a16:creationId xmlns:a16="http://schemas.microsoft.com/office/drawing/2014/main" id="{0280D97A-1775-21A6-BA02-E273DCEFBAB2}"/>
              </a:ext>
            </a:extLst>
          </p:cNvPr>
          <p:cNvSpPr/>
          <p:nvPr/>
        </p:nvSpPr>
        <p:spPr>
          <a:xfrm>
            <a:off x="11262745" y="3623301"/>
            <a:ext cx="247575" cy="19717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15">
            <a:extLst>
              <a:ext uri="{FF2B5EF4-FFF2-40B4-BE49-F238E27FC236}">
                <a16:creationId xmlns:a16="http://schemas.microsoft.com/office/drawing/2014/main" id="{693FC816-52D2-5400-F58D-D2DF2447ECEB}"/>
              </a:ext>
            </a:extLst>
          </p:cNvPr>
          <p:cNvSpPr/>
          <p:nvPr/>
        </p:nvSpPr>
        <p:spPr>
          <a:xfrm>
            <a:off x="1135980" y="3858067"/>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redondeado 15">
            <a:extLst>
              <a:ext uri="{FF2B5EF4-FFF2-40B4-BE49-F238E27FC236}">
                <a16:creationId xmlns:a16="http://schemas.microsoft.com/office/drawing/2014/main" id="{CF66698C-C25C-24A7-2ADB-7FE212FBA992}"/>
              </a:ext>
            </a:extLst>
          </p:cNvPr>
          <p:cNvSpPr/>
          <p:nvPr/>
        </p:nvSpPr>
        <p:spPr>
          <a:xfrm>
            <a:off x="11262744" y="6018399"/>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28DD932B-C125-1288-478B-4BB9C82F354A}"/>
              </a:ext>
            </a:extLst>
          </p:cNvPr>
          <p:cNvSpPr/>
          <p:nvPr/>
        </p:nvSpPr>
        <p:spPr>
          <a:xfrm>
            <a:off x="11567390" y="6018399"/>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811813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9FE35-E5A9-1051-2B46-4CCC336DD4C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5F3AEB2C-05BA-9734-74CE-817555DA8D1C}"/>
              </a:ext>
            </a:extLst>
          </p:cNvPr>
          <p:cNvPicPr>
            <a:picLocks noChangeAspect="1"/>
          </p:cNvPicPr>
          <p:nvPr/>
        </p:nvPicPr>
        <p:blipFill>
          <a:blip r:embed="rId2"/>
          <a:stretch>
            <a:fillRect/>
          </a:stretch>
        </p:blipFill>
        <p:spPr>
          <a:xfrm>
            <a:off x="246500" y="740664"/>
            <a:ext cx="11797869" cy="5543577"/>
          </a:xfrm>
          <a:prstGeom prst="rect">
            <a:avLst/>
          </a:prstGeom>
        </p:spPr>
      </p:pic>
      <p:sp>
        <p:nvSpPr>
          <p:cNvPr id="5" name="Marcador de texto 4">
            <a:extLst>
              <a:ext uri="{FF2B5EF4-FFF2-40B4-BE49-F238E27FC236}">
                <a16:creationId xmlns:a16="http://schemas.microsoft.com/office/drawing/2014/main" id="{D48F4BAB-804F-6046-1E79-E5261DBDE1DF}"/>
              </a:ext>
            </a:extLst>
          </p:cNvPr>
          <p:cNvSpPr>
            <a:spLocks noGrp="1"/>
          </p:cNvSpPr>
          <p:nvPr>
            <p:ph type="body" sz="quarter" idx="10"/>
          </p:nvPr>
        </p:nvSpPr>
        <p:spPr>
          <a:xfrm>
            <a:off x="388132" y="95338"/>
            <a:ext cx="11122188" cy="446084"/>
          </a:xfrm>
        </p:spPr>
        <p:txBody>
          <a:bodyPr/>
          <a:lstStyle/>
          <a:p>
            <a:r>
              <a:rPr lang="es-419" dirty="0"/>
              <a:t>Tema: Control de periodo – SOATERM</a:t>
            </a:r>
          </a:p>
        </p:txBody>
      </p:sp>
      <p:sp>
        <p:nvSpPr>
          <p:cNvPr id="8" name="Rectángulo redondeado 15">
            <a:extLst>
              <a:ext uri="{FF2B5EF4-FFF2-40B4-BE49-F238E27FC236}">
                <a16:creationId xmlns:a16="http://schemas.microsoft.com/office/drawing/2014/main" id="{C9D2B096-3FCD-74E7-961C-1233E1E76A66}"/>
              </a:ext>
            </a:extLst>
          </p:cNvPr>
          <p:cNvSpPr/>
          <p:nvPr/>
        </p:nvSpPr>
        <p:spPr>
          <a:xfrm>
            <a:off x="11993105" y="1907617"/>
            <a:ext cx="227624"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9" name="Rectángulo 8">
            <a:extLst>
              <a:ext uri="{FF2B5EF4-FFF2-40B4-BE49-F238E27FC236}">
                <a16:creationId xmlns:a16="http://schemas.microsoft.com/office/drawing/2014/main" id="{0C45CD40-3C96-B942-FDFB-7C72CA6F814D}"/>
              </a:ext>
            </a:extLst>
          </p:cNvPr>
          <p:cNvSpPr/>
          <p:nvPr/>
        </p:nvSpPr>
        <p:spPr>
          <a:xfrm>
            <a:off x="8714232" y="1854211"/>
            <a:ext cx="3001342" cy="29535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Rectángulo: esquinas redondeadas 1">
            <a:extLst>
              <a:ext uri="{FF2B5EF4-FFF2-40B4-BE49-F238E27FC236}">
                <a16:creationId xmlns:a16="http://schemas.microsoft.com/office/drawing/2014/main" id="{685FB794-282D-3B99-59BE-77650FB23F4A}"/>
              </a:ext>
            </a:extLst>
          </p:cNvPr>
          <p:cNvSpPr/>
          <p:nvPr/>
        </p:nvSpPr>
        <p:spPr>
          <a:xfrm>
            <a:off x="967944" y="4837844"/>
            <a:ext cx="9246959" cy="145550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Para insertar fechas de Inscripción web o Acceso docente y asesor, debe seguir los siguientes pasos:</a:t>
            </a:r>
          </a:p>
          <a:p>
            <a:r>
              <a:rPr lang="es-ES" sz="1100" dirty="0"/>
              <a:t>1. Debe estar ubicado en la sección respectiva.</a:t>
            </a:r>
          </a:p>
          <a:p>
            <a:r>
              <a:rPr lang="es-ES" sz="1100" dirty="0"/>
              <a:t>2. Insertar para crear nuevo registro</a:t>
            </a:r>
          </a:p>
          <a:p>
            <a:r>
              <a:rPr lang="es-ES" sz="1100" dirty="0"/>
              <a:t>*Fechas de inscripción web: Rango de fechas mínimo y máximo que permiten la inscripción web en el autoservicio, se puede ingresar varios rangos.</a:t>
            </a:r>
          </a:p>
          <a:p>
            <a:r>
              <a:rPr lang="es-ES" sz="1100" dirty="0"/>
              <a:t>3. </a:t>
            </a:r>
            <a:r>
              <a:rPr lang="es-CL" sz="1100" dirty="0"/>
              <a:t>Al finalizar la creación o modificación de un o más registros debe guardar el progreso.</a:t>
            </a:r>
          </a:p>
        </p:txBody>
      </p:sp>
      <p:sp>
        <p:nvSpPr>
          <p:cNvPr id="3" name="Rectángulo redondeado 15">
            <a:extLst>
              <a:ext uri="{FF2B5EF4-FFF2-40B4-BE49-F238E27FC236}">
                <a16:creationId xmlns:a16="http://schemas.microsoft.com/office/drawing/2014/main" id="{F17D48D2-E92E-AA65-E857-163558392BAD}"/>
              </a:ext>
            </a:extLst>
          </p:cNvPr>
          <p:cNvSpPr/>
          <p:nvPr/>
        </p:nvSpPr>
        <p:spPr>
          <a:xfrm>
            <a:off x="10838810" y="3650975"/>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4" name="Rectángulo 3">
            <a:extLst>
              <a:ext uri="{FF2B5EF4-FFF2-40B4-BE49-F238E27FC236}">
                <a16:creationId xmlns:a16="http://schemas.microsoft.com/office/drawing/2014/main" id="{C0F86EB0-FEAE-9078-5B1E-671BAB48A804}"/>
              </a:ext>
            </a:extLst>
          </p:cNvPr>
          <p:cNvSpPr/>
          <p:nvPr/>
        </p:nvSpPr>
        <p:spPr>
          <a:xfrm>
            <a:off x="11262745" y="3623301"/>
            <a:ext cx="247575" cy="19717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15">
            <a:extLst>
              <a:ext uri="{FF2B5EF4-FFF2-40B4-BE49-F238E27FC236}">
                <a16:creationId xmlns:a16="http://schemas.microsoft.com/office/drawing/2014/main" id="{09E41382-F04F-E494-E242-1A01B0608C46}"/>
              </a:ext>
            </a:extLst>
          </p:cNvPr>
          <p:cNvSpPr/>
          <p:nvPr/>
        </p:nvSpPr>
        <p:spPr>
          <a:xfrm>
            <a:off x="1135980" y="3858067"/>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redondeado 15">
            <a:extLst>
              <a:ext uri="{FF2B5EF4-FFF2-40B4-BE49-F238E27FC236}">
                <a16:creationId xmlns:a16="http://schemas.microsoft.com/office/drawing/2014/main" id="{7C13F7A3-4359-C040-E1C3-B46AF48C1B82}"/>
              </a:ext>
            </a:extLst>
          </p:cNvPr>
          <p:cNvSpPr/>
          <p:nvPr/>
        </p:nvSpPr>
        <p:spPr>
          <a:xfrm>
            <a:off x="11262744" y="6018399"/>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759227E3-D3C3-5894-7946-178812351FAF}"/>
              </a:ext>
            </a:extLst>
          </p:cNvPr>
          <p:cNvSpPr/>
          <p:nvPr/>
        </p:nvSpPr>
        <p:spPr>
          <a:xfrm>
            <a:off x="11567390" y="6018399"/>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899456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C80DE-A88D-33B7-94C8-C8E8E8B983C6}"/>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BC32A837-81EA-7B17-5F0F-2FE9F6046F08}"/>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pic>
        <p:nvPicPr>
          <p:cNvPr id="13" name="Imagen 12">
            <a:extLst>
              <a:ext uri="{FF2B5EF4-FFF2-40B4-BE49-F238E27FC236}">
                <a16:creationId xmlns:a16="http://schemas.microsoft.com/office/drawing/2014/main" id="{90C404CD-60F3-27E8-4519-B8967CEFF8B8}"/>
              </a:ext>
            </a:extLst>
          </p:cNvPr>
          <p:cNvPicPr>
            <a:picLocks noChangeAspect="1"/>
          </p:cNvPicPr>
          <p:nvPr/>
        </p:nvPicPr>
        <p:blipFill>
          <a:blip r:embed="rId2"/>
          <a:stretch>
            <a:fillRect/>
          </a:stretch>
        </p:blipFill>
        <p:spPr>
          <a:xfrm>
            <a:off x="621756" y="1173167"/>
            <a:ext cx="11122188" cy="1603874"/>
          </a:xfrm>
          <a:prstGeom prst="rect">
            <a:avLst/>
          </a:prstGeom>
        </p:spPr>
      </p:pic>
      <p:sp>
        <p:nvSpPr>
          <p:cNvPr id="14" name="Rectángulo: esquinas redondeadas 13">
            <a:extLst>
              <a:ext uri="{FF2B5EF4-FFF2-40B4-BE49-F238E27FC236}">
                <a16:creationId xmlns:a16="http://schemas.microsoft.com/office/drawing/2014/main" id="{D520475A-665C-AB78-0D93-D931F9D23550}"/>
              </a:ext>
            </a:extLst>
          </p:cNvPr>
          <p:cNvSpPr/>
          <p:nvPr/>
        </p:nvSpPr>
        <p:spPr>
          <a:xfrm>
            <a:off x="883737" y="4596565"/>
            <a:ext cx="10130977" cy="6387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1.- Controles de cambio de opción </a:t>
            </a:r>
            <a:r>
              <a:rPr lang="es-ES" sz="1100"/>
              <a:t>de clase</a:t>
            </a:r>
            <a:r>
              <a:rPr lang="es-ES" sz="1100" dirty="0"/>
              <a:t>: Si se marcan permite que un docente, asesor o alumno pueda modificar los datos de número de créditos, ubicación del curso en el plan de estudios, o modo de </a:t>
            </a:r>
            <a:r>
              <a:rPr lang="es-ES" sz="1100"/>
              <a:t>calificar.</a:t>
            </a:r>
            <a:r>
              <a:rPr lang="es-ES" sz="1100" dirty="0"/>
              <a:t> No se deben marcar.</a:t>
            </a:r>
            <a:endParaRPr lang="es-CL" sz="1100" dirty="0"/>
          </a:p>
        </p:txBody>
      </p:sp>
      <p:sp>
        <p:nvSpPr>
          <p:cNvPr id="15" name="Rectángulo redondeado 15">
            <a:extLst>
              <a:ext uri="{FF2B5EF4-FFF2-40B4-BE49-F238E27FC236}">
                <a16:creationId xmlns:a16="http://schemas.microsoft.com/office/drawing/2014/main" id="{565F9170-C90C-B201-395C-F81A6DFE59D1}"/>
              </a:ext>
            </a:extLst>
          </p:cNvPr>
          <p:cNvSpPr/>
          <p:nvPr/>
        </p:nvSpPr>
        <p:spPr>
          <a:xfrm>
            <a:off x="3177106" y="2420579"/>
            <a:ext cx="190846" cy="1763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993778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8D7A1-B063-61E4-4D93-2EAD16F9976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DC49452-47A1-F147-B1A8-317E5ACC82DC}"/>
              </a:ext>
            </a:extLst>
          </p:cNvPr>
          <p:cNvPicPr>
            <a:picLocks noChangeAspect="1"/>
          </p:cNvPicPr>
          <p:nvPr/>
        </p:nvPicPr>
        <p:blipFill>
          <a:blip r:embed="rId2"/>
          <a:stretch>
            <a:fillRect/>
          </a:stretch>
        </p:blipFill>
        <p:spPr>
          <a:xfrm>
            <a:off x="1024128" y="1308880"/>
            <a:ext cx="11039856" cy="1969971"/>
          </a:xfrm>
          <a:prstGeom prst="rect">
            <a:avLst/>
          </a:prstGeom>
        </p:spPr>
      </p:pic>
      <p:sp>
        <p:nvSpPr>
          <p:cNvPr id="5" name="Marcador de texto 4">
            <a:extLst>
              <a:ext uri="{FF2B5EF4-FFF2-40B4-BE49-F238E27FC236}">
                <a16:creationId xmlns:a16="http://schemas.microsoft.com/office/drawing/2014/main" id="{2BDC266D-C333-8CAC-7087-3DB870A5C88D}"/>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sp>
        <p:nvSpPr>
          <p:cNvPr id="4" name="Rectángulo: esquinas redondeadas 3">
            <a:extLst>
              <a:ext uri="{FF2B5EF4-FFF2-40B4-BE49-F238E27FC236}">
                <a16:creationId xmlns:a16="http://schemas.microsoft.com/office/drawing/2014/main" id="{009EF0F3-0218-E136-1D8C-DED760C1B390}"/>
              </a:ext>
            </a:extLst>
          </p:cNvPr>
          <p:cNvSpPr/>
          <p:nvPr/>
        </p:nvSpPr>
        <p:spPr>
          <a:xfrm>
            <a:off x="877601" y="4462510"/>
            <a:ext cx="10779965" cy="56255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2.- Controles de despliegue de calificación</a:t>
            </a:r>
          </a:p>
          <a:p>
            <a:r>
              <a:rPr lang="es-ES" sz="1100" dirty="0"/>
              <a:t>2.1.- Deben ser marcados para que </a:t>
            </a:r>
            <a:r>
              <a:rPr lang="es-MX" sz="1100" dirty="0"/>
              <a:t>la lista de calificaciones se despliegue</a:t>
            </a:r>
            <a:r>
              <a:rPr lang="es-ES" sz="1100" dirty="0"/>
              <a:t>.</a:t>
            </a:r>
            <a:endParaRPr lang="es-CL" sz="1100" dirty="0"/>
          </a:p>
        </p:txBody>
      </p:sp>
      <p:sp>
        <p:nvSpPr>
          <p:cNvPr id="6" name="Rectángulo redondeado 15">
            <a:extLst>
              <a:ext uri="{FF2B5EF4-FFF2-40B4-BE49-F238E27FC236}">
                <a16:creationId xmlns:a16="http://schemas.microsoft.com/office/drawing/2014/main" id="{2BA4102B-D29C-B2A8-E29D-39601D9E1E18}"/>
              </a:ext>
            </a:extLst>
          </p:cNvPr>
          <p:cNvSpPr/>
          <p:nvPr/>
        </p:nvSpPr>
        <p:spPr>
          <a:xfrm>
            <a:off x="2980980" y="2878776"/>
            <a:ext cx="190846" cy="1763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7" name="Rectángulo redondeado 15">
            <a:extLst>
              <a:ext uri="{FF2B5EF4-FFF2-40B4-BE49-F238E27FC236}">
                <a16:creationId xmlns:a16="http://schemas.microsoft.com/office/drawing/2014/main" id="{BA8E6255-7530-B92D-B66B-D52E970C331E}"/>
              </a:ext>
            </a:extLst>
          </p:cNvPr>
          <p:cNvSpPr/>
          <p:nvPr/>
        </p:nvSpPr>
        <p:spPr>
          <a:xfrm>
            <a:off x="1390476" y="3055094"/>
            <a:ext cx="400051" cy="14287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2.1</a:t>
            </a:r>
          </a:p>
        </p:txBody>
      </p:sp>
    </p:spTree>
    <p:extLst>
      <p:ext uri="{BB962C8B-B14F-4D97-AF65-F5344CB8AC3E}">
        <p14:creationId xmlns:p14="http://schemas.microsoft.com/office/powerpoint/2010/main" val="3333536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6D204-0DDD-257C-1228-47726E731E0D}"/>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08EA74D3-DD3F-A0A0-C180-9DF7633BAFE3}"/>
              </a:ext>
            </a:extLst>
          </p:cNvPr>
          <p:cNvPicPr>
            <a:picLocks noChangeAspect="1"/>
          </p:cNvPicPr>
          <p:nvPr/>
        </p:nvPicPr>
        <p:blipFill>
          <a:blip r:embed="rId2"/>
          <a:stretch>
            <a:fillRect/>
          </a:stretch>
        </p:blipFill>
        <p:spPr>
          <a:xfrm>
            <a:off x="524592" y="944736"/>
            <a:ext cx="11485982" cy="2572800"/>
          </a:xfrm>
          <a:prstGeom prst="rect">
            <a:avLst/>
          </a:prstGeom>
        </p:spPr>
      </p:pic>
      <p:sp>
        <p:nvSpPr>
          <p:cNvPr id="5" name="Marcador de texto 4">
            <a:extLst>
              <a:ext uri="{FF2B5EF4-FFF2-40B4-BE49-F238E27FC236}">
                <a16:creationId xmlns:a16="http://schemas.microsoft.com/office/drawing/2014/main" id="{1117C017-83B4-FEF7-403F-120C1E0CCDA5}"/>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sp>
        <p:nvSpPr>
          <p:cNvPr id="9" name="Rectángulo: esquinas redondeadas 8">
            <a:extLst>
              <a:ext uri="{FF2B5EF4-FFF2-40B4-BE49-F238E27FC236}">
                <a16:creationId xmlns:a16="http://schemas.microsoft.com/office/drawing/2014/main" id="{C89F1BDF-2968-0252-DDF8-4799AD402674}"/>
              </a:ext>
            </a:extLst>
          </p:cNvPr>
          <p:cNvSpPr/>
          <p:nvPr/>
        </p:nvSpPr>
        <p:spPr>
          <a:xfrm>
            <a:off x="524592" y="3920850"/>
            <a:ext cx="10779965" cy="96986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3.- Controles de docente y asesor:</a:t>
            </a:r>
            <a:br>
              <a:rPr lang="es-ES" sz="1100" dirty="0"/>
            </a:br>
            <a:r>
              <a:rPr lang="es-ES" sz="1100" dirty="0"/>
              <a:t>3.1 Activar opciones necesarias, según el funcionamiento requerido.</a:t>
            </a:r>
          </a:p>
          <a:p>
            <a:r>
              <a:rPr lang="es-ES" sz="1100" dirty="0"/>
              <a:t>Desplegar horario y desplegar lista de clase deben estar marcados para permitir que estos se desplieguen o estén disponibles para el Docente..</a:t>
            </a:r>
            <a:br>
              <a:rPr lang="es-ES" sz="1100" dirty="0"/>
            </a:br>
            <a:r>
              <a:rPr lang="es-ES" sz="1100" dirty="0"/>
              <a:t>Permitir aprobaciones /sobrepasos y permitir agregar/eliminar  no deben estar marcados, de lo contrario el docente podría realizar estas funciones.</a:t>
            </a:r>
            <a:br>
              <a:rPr lang="es-ES" sz="1100" dirty="0"/>
            </a:br>
            <a:endParaRPr lang="es-CL" sz="1100" dirty="0"/>
          </a:p>
        </p:txBody>
      </p:sp>
      <p:sp>
        <p:nvSpPr>
          <p:cNvPr id="10" name="Rectángulo redondeado 15">
            <a:extLst>
              <a:ext uri="{FF2B5EF4-FFF2-40B4-BE49-F238E27FC236}">
                <a16:creationId xmlns:a16="http://schemas.microsoft.com/office/drawing/2014/main" id="{252732A7-4009-D61A-19CE-4FB91D622F8A}"/>
              </a:ext>
            </a:extLst>
          </p:cNvPr>
          <p:cNvSpPr/>
          <p:nvPr/>
        </p:nvSpPr>
        <p:spPr>
          <a:xfrm>
            <a:off x="2149587" y="2681521"/>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redondeado 15">
            <a:extLst>
              <a:ext uri="{FF2B5EF4-FFF2-40B4-BE49-F238E27FC236}">
                <a16:creationId xmlns:a16="http://schemas.microsoft.com/office/drawing/2014/main" id="{B8F04A55-8DBC-E56F-03E2-7458006A5E6C}"/>
              </a:ext>
            </a:extLst>
          </p:cNvPr>
          <p:cNvSpPr/>
          <p:nvPr/>
        </p:nvSpPr>
        <p:spPr>
          <a:xfrm>
            <a:off x="908039" y="2942522"/>
            <a:ext cx="400051" cy="16679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3.1</a:t>
            </a:r>
          </a:p>
        </p:txBody>
      </p:sp>
    </p:spTree>
    <p:extLst>
      <p:ext uri="{BB962C8B-B14F-4D97-AF65-F5344CB8AC3E}">
        <p14:creationId xmlns:p14="http://schemas.microsoft.com/office/powerpoint/2010/main" val="19102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F6C37-ECF2-3F3B-AA14-446B1B24F3D4}"/>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CDB67839-80A8-9EC7-C2B3-60792A86204C}"/>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pic>
        <p:nvPicPr>
          <p:cNvPr id="3" name="Imagen 2">
            <a:extLst>
              <a:ext uri="{FF2B5EF4-FFF2-40B4-BE49-F238E27FC236}">
                <a16:creationId xmlns:a16="http://schemas.microsoft.com/office/drawing/2014/main" id="{EF4275D0-2E20-5091-44A6-5C0EC2FF5181}"/>
              </a:ext>
            </a:extLst>
          </p:cNvPr>
          <p:cNvPicPr>
            <a:picLocks noChangeAspect="1"/>
          </p:cNvPicPr>
          <p:nvPr/>
        </p:nvPicPr>
        <p:blipFill>
          <a:blip r:embed="rId2"/>
          <a:stretch>
            <a:fillRect/>
          </a:stretch>
        </p:blipFill>
        <p:spPr>
          <a:xfrm>
            <a:off x="576072" y="1292403"/>
            <a:ext cx="11497056" cy="2352954"/>
          </a:xfrm>
          <a:prstGeom prst="rect">
            <a:avLst/>
          </a:prstGeom>
        </p:spPr>
      </p:pic>
      <p:sp>
        <p:nvSpPr>
          <p:cNvPr id="4" name="Rectángulo: esquinas redondeadas 3">
            <a:extLst>
              <a:ext uri="{FF2B5EF4-FFF2-40B4-BE49-F238E27FC236}">
                <a16:creationId xmlns:a16="http://schemas.microsoft.com/office/drawing/2014/main" id="{DFE1D1DB-7DE3-F1C2-035C-7ACAF57535D5}"/>
              </a:ext>
            </a:extLst>
          </p:cNvPr>
          <p:cNvSpPr/>
          <p:nvPr/>
        </p:nvSpPr>
        <p:spPr>
          <a:xfrm>
            <a:off x="292385" y="4396338"/>
            <a:ext cx="10779965" cy="78441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4.- Controles de webcapp:</a:t>
            </a:r>
            <a:br>
              <a:rPr lang="es-ES" sz="1100" dirty="0"/>
            </a:br>
            <a:r>
              <a:rPr lang="es-ES" sz="1100" dirty="0"/>
              <a:t>4.1.- Al seleccionar Período de evaluación web: Permite al alumno y al asesor realizar la revisión y ejecución del CAPP.</a:t>
            </a:r>
            <a:endParaRPr lang="es-CL" sz="1100" dirty="0"/>
          </a:p>
        </p:txBody>
      </p:sp>
      <p:sp>
        <p:nvSpPr>
          <p:cNvPr id="6" name="Rectángulo redondeado 15">
            <a:extLst>
              <a:ext uri="{FF2B5EF4-FFF2-40B4-BE49-F238E27FC236}">
                <a16:creationId xmlns:a16="http://schemas.microsoft.com/office/drawing/2014/main" id="{1B675BE1-61C5-336E-CFAD-2A6674A6DBC9}"/>
              </a:ext>
            </a:extLst>
          </p:cNvPr>
          <p:cNvSpPr/>
          <p:nvPr/>
        </p:nvSpPr>
        <p:spPr>
          <a:xfrm>
            <a:off x="1644937" y="3142944"/>
            <a:ext cx="220663" cy="20806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7" name="Rectángulo redondeado 15">
            <a:extLst>
              <a:ext uri="{FF2B5EF4-FFF2-40B4-BE49-F238E27FC236}">
                <a16:creationId xmlns:a16="http://schemas.microsoft.com/office/drawing/2014/main" id="{5BBCBB1C-E5D4-6551-6060-E2D74DFDC61B}"/>
              </a:ext>
            </a:extLst>
          </p:cNvPr>
          <p:cNvSpPr/>
          <p:nvPr/>
        </p:nvSpPr>
        <p:spPr>
          <a:xfrm>
            <a:off x="917068" y="3351012"/>
            <a:ext cx="400050" cy="20806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4.1</a:t>
            </a:r>
          </a:p>
        </p:txBody>
      </p:sp>
    </p:spTree>
    <p:extLst>
      <p:ext uri="{BB962C8B-B14F-4D97-AF65-F5344CB8AC3E}">
        <p14:creationId xmlns:p14="http://schemas.microsoft.com/office/powerpoint/2010/main" val="621262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83D02-0863-B67C-5C7A-86D9317C864A}"/>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E949ED31-1DB1-9B47-2599-C0A81B56F34E}"/>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pic>
        <p:nvPicPr>
          <p:cNvPr id="8" name="Imagen 7">
            <a:extLst>
              <a:ext uri="{FF2B5EF4-FFF2-40B4-BE49-F238E27FC236}">
                <a16:creationId xmlns:a16="http://schemas.microsoft.com/office/drawing/2014/main" id="{407EA3A0-D464-529B-A839-1EE040CD83A9}"/>
              </a:ext>
            </a:extLst>
          </p:cNvPr>
          <p:cNvPicPr>
            <a:picLocks noChangeAspect="1"/>
          </p:cNvPicPr>
          <p:nvPr/>
        </p:nvPicPr>
        <p:blipFill>
          <a:blip r:embed="rId2"/>
          <a:stretch>
            <a:fillRect/>
          </a:stretch>
        </p:blipFill>
        <p:spPr>
          <a:xfrm>
            <a:off x="388132" y="1047227"/>
            <a:ext cx="11497056" cy="2971321"/>
          </a:xfrm>
          <a:prstGeom prst="rect">
            <a:avLst/>
          </a:prstGeom>
        </p:spPr>
      </p:pic>
      <p:sp>
        <p:nvSpPr>
          <p:cNvPr id="9" name="Rectángulo: esquinas redondeadas 8">
            <a:extLst>
              <a:ext uri="{FF2B5EF4-FFF2-40B4-BE49-F238E27FC236}">
                <a16:creationId xmlns:a16="http://schemas.microsoft.com/office/drawing/2014/main" id="{E8C779DD-D969-F957-EDE4-A2A1E496EEB5}"/>
              </a:ext>
            </a:extLst>
          </p:cNvPr>
          <p:cNvSpPr/>
          <p:nvPr/>
        </p:nvSpPr>
        <p:spPr>
          <a:xfrm>
            <a:off x="548417" y="4132147"/>
            <a:ext cx="10779965" cy="78441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5.- Controles de buscar catálogo </a:t>
            </a:r>
          </a:p>
          <a:p>
            <a:r>
              <a:rPr lang="es-ES" sz="1100" dirty="0"/>
              <a:t>Se deben marcar aquellos criterios que se van a permitir consultar del catálogo de cursos por autoservicio.</a:t>
            </a:r>
            <a:endParaRPr lang="es-CL" sz="1100" dirty="0"/>
          </a:p>
        </p:txBody>
      </p:sp>
      <p:sp>
        <p:nvSpPr>
          <p:cNvPr id="10" name="Rectángulo redondeado 15">
            <a:extLst>
              <a:ext uri="{FF2B5EF4-FFF2-40B4-BE49-F238E27FC236}">
                <a16:creationId xmlns:a16="http://schemas.microsoft.com/office/drawing/2014/main" id="{1F631C91-ADC4-23BD-E061-AEFE28E76683}"/>
              </a:ext>
            </a:extLst>
          </p:cNvPr>
          <p:cNvSpPr/>
          <p:nvPr/>
        </p:nvSpPr>
        <p:spPr>
          <a:xfrm>
            <a:off x="2287675" y="2971822"/>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3621708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F822D-B851-1F57-803E-DF0F4DBCE9C3}"/>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C7FBA34-F8FA-4E5E-0FC1-EB1A17D6D7DA}"/>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pic>
        <p:nvPicPr>
          <p:cNvPr id="3" name="Imagen 2">
            <a:extLst>
              <a:ext uri="{FF2B5EF4-FFF2-40B4-BE49-F238E27FC236}">
                <a16:creationId xmlns:a16="http://schemas.microsoft.com/office/drawing/2014/main" id="{6AD526D3-B46A-AFC3-A39C-B12219CD6CD1}"/>
              </a:ext>
            </a:extLst>
          </p:cNvPr>
          <p:cNvPicPr>
            <a:picLocks noChangeAspect="1"/>
          </p:cNvPicPr>
          <p:nvPr/>
        </p:nvPicPr>
        <p:blipFill>
          <a:blip r:embed="rId2"/>
          <a:stretch>
            <a:fillRect/>
          </a:stretch>
        </p:blipFill>
        <p:spPr>
          <a:xfrm>
            <a:off x="388132" y="941350"/>
            <a:ext cx="11542776" cy="3311091"/>
          </a:xfrm>
          <a:prstGeom prst="rect">
            <a:avLst/>
          </a:prstGeom>
        </p:spPr>
      </p:pic>
      <p:sp>
        <p:nvSpPr>
          <p:cNvPr id="4" name="Rectángulo: esquinas redondeadas 3">
            <a:extLst>
              <a:ext uri="{FF2B5EF4-FFF2-40B4-BE49-F238E27FC236}">
                <a16:creationId xmlns:a16="http://schemas.microsoft.com/office/drawing/2014/main" id="{2718DED9-17D8-D11D-F001-41552F3B90E0}"/>
              </a:ext>
            </a:extLst>
          </p:cNvPr>
          <p:cNvSpPr/>
          <p:nvPr/>
        </p:nvSpPr>
        <p:spPr>
          <a:xfrm>
            <a:off x="261092" y="4162492"/>
            <a:ext cx="10711657" cy="78441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6.- Controles para buscar horario </a:t>
            </a:r>
          </a:p>
          <a:p>
            <a:r>
              <a:rPr lang="es-ES" sz="1100" dirty="0"/>
              <a:t>Se deben marcar aquellos criterios que se van a permitir consultar de la programación académica en el autoservicio.</a:t>
            </a:r>
            <a:endParaRPr lang="es-CL" sz="1100" dirty="0"/>
          </a:p>
        </p:txBody>
      </p:sp>
      <p:sp>
        <p:nvSpPr>
          <p:cNvPr id="6" name="Rectángulo redondeado 15">
            <a:extLst>
              <a:ext uri="{FF2B5EF4-FFF2-40B4-BE49-F238E27FC236}">
                <a16:creationId xmlns:a16="http://schemas.microsoft.com/office/drawing/2014/main" id="{434B8754-E621-A97E-4A5D-C5FFE46EE6B7}"/>
              </a:ext>
            </a:extLst>
          </p:cNvPr>
          <p:cNvSpPr/>
          <p:nvPr/>
        </p:nvSpPr>
        <p:spPr>
          <a:xfrm>
            <a:off x="2222574" y="3055176"/>
            <a:ext cx="234826" cy="23247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Tree>
    <p:extLst>
      <p:ext uri="{BB962C8B-B14F-4D97-AF65-F5344CB8AC3E}">
        <p14:creationId xmlns:p14="http://schemas.microsoft.com/office/powerpoint/2010/main" val="2176977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5AA3C-AD2B-A9F2-B8B0-89C75AE07AA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84E41D46-3397-0297-5019-B2926FC78AF9}"/>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pic>
        <p:nvPicPr>
          <p:cNvPr id="7" name="Imagen 6">
            <a:extLst>
              <a:ext uri="{FF2B5EF4-FFF2-40B4-BE49-F238E27FC236}">
                <a16:creationId xmlns:a16="http://schemas.microsoft.com/office/drawing/2014/main" id="{13D6294B-8082-D3FA-5D30-552ACB15D46A}"/>
              </a:ext>
            </a:extLst>
          </p:cNvPr>
          <p:cNvPicPr>
            <a:picLocks noChangeAspect="1"/>
          </p:cNvPicPr>
          <p:nvPr/>
        </p:nvPicPr>
        <p:blipFill>
          <a:blip r:embed="rId2"/>
          <a:stretch>
            <a:fillRect/>
          </a:stretch>
        </p:blipFill>
        <p:spPr>
          <a:xfrm>
            <a:off x="539496" y="791898"/>
            <a:ext cx="11433048" cy="3847739"/>
          </a:xfrm>
          <a:prstGeom prst="rect">
            <a:avLst/>
          </a:prstGeom>
        </p:spPr>
      </p:pic>
      <p:sp>
        <p:nvSpPr>
          <p:cNvPr id="8" name="Rectángulo: esquinas redondeadas 7">
            <a:extLst>
              <a:ext uri="{FF2B5EF4-FFF2-40B4-BE49-F238E27FC236}">
                <a16:creationId xmlns:a16="http://schemas.microsoft.com/office/drawing/2014/main" id="{B4C2DCFC-EEC1-CFC1-525C-72ECA973C57C}"/>
              </a:ext>
            </a:extLst>
          </p:cNvPr>
          <p:cNvSpPr/>
          <p:nvPr/>
        </p:nvSpPr>
        <p:spPr>
          <a:xfrm>
            <a:off x="388132" y="5155289"/>
            <a:ext cx="10674582" cy="112892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7.-</a:t>
            </a:r>
          </a:p>
          <a:p>
            <a:r>
              <a:rPr lang="es-ES" sz="1100" dirty="0"/>
              <a:t>1. Permitir al alumno seleccionar eliminar/agregar condicional: Indica como debe proceder con aquellos cursos que están condicionados o relacionados entre sí, tanto para vía web (</a:t>
            </a:r>
            <a:r>
              <a:rPr lang="es-CL" sz="1100" dirty="0"/>
              <a:t>Eliminación automática de cursos conectados con errores) como para administrativo (Eliminación administrativa de cursos conectados con errores)</a:t>
            </a:r>
            <a:endParaRPr lang="es-ES" sz="1100" dirty="0"/>
          </a:p>
          <a:p>
            <a:r>
              <a:rPr lang="es-CL" sz="1100" dirty="0"/>
              <a:t>2. Permitir al alumno eliminar sus últimas clases: </a:t>
            </a:r>
            <a:r>
              <a:rPr lang="es-ES" sz="1100" dirty="0"/>
              <a:t>Si se marca permitirá al alumno cancelar vía web todas las asignaturas inscritas, de lo contrario siempre le dejará una registrada</a:t>
            </a:r>
            <a:r>
              <a:rPr lang="es-CL" sz="1100" dirty="0"/>
              <a:t>.	</a:t>
            </a:r>
          </a:p>
        </p:txBody>
      </p:sp>
      <p:sp>
        <p:nvSpPr>
          <p:cNvPr id="9" name="Rectángulo redondeado 15">
            <a:extLst>
              <a:ext uri="{FF2B5EF4-FFF2-40B4-BE49-F238E27FC236}">
                <a16:creationId xmlns:a16="http://schemas.microsoft.com/office/drawing/2014/main" id="{AC89E028-D20B-07FF-8DB7-28F9E878B252}"/>
              </a:ext>
            </a:extLst>
          </p:cNvPr>
          <p:cNvSpPr/>
          <p:nvPr/>
        </p:nvSpPr>
        <p:spPr>
          <a:xfrm>
            <a:off x="1032896" y="3356861"/>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0" name="Rectángulo redondeado 15">
            <a:extLst>
              <a:ext uri="{FF2B5EF4-FFF2-40B4-BE49-F238E27FC236}">
                <a16:creationId xmlns:a16="http://schemas.microsoft.com/office/drawing/2014/main" id="{E2D4E5D1-AC12-5F8F-B602-5B632F9A7763}"/>
              </a:ext>
            </a:extLst>
          </p:cNvPr>
          <p:cNvSpPr/>
          <p:nvPr/>
        </p:nvSpPr>
        <p:spPr>
          <a:xfrm>
            <a:off x="1031315" y="4069524"/>
            <a:ext cx="247575" cy="24195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1075696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1AAA3-3B70-5E69-A614-E05ABEA110AF}"/>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511B4A13-26C5-2F97-CCEE-9CDD2C203FBB}"/>
              </a:ext>
            </a:extLst>
          </p:cNvPr>
          <p:cNvSpPr>
            <a:spLocks noGrp="1"/>
          </p:cNvSpPr>
          <p:nvPr>
            <p:ph type="body" sz="quarter" idx="10"/>
          </p:nvPr>
        </p:nvSpPr>
        <p:spPr>
          <a:xfrm>
            <a:off x="388132" y="95338"/>
            <a:ext cx="11122188" cy="446084"/>
          </a:xfrm>
        </p:spPr>
        <p:txBody>
          <a:bodyPr/>
          <a:lstStyle/>
          <a:p>
            <a:r>
              <a:rPr lang="es-419" dirty="0"/>
              <a:t>Tema: Control de periodo – SOATERM                      </a:t>
            </a:r>
          </a:p>
        </p:txBody>
      </p:sp>
      <p:pic>
        <p:nvPicPr>
          <p:cNvPr id="3" name="Imagen 2">
            <a:extLst>
              <a:ext uri="{FF2B5EF4-FFF2-40B4-BE49-F238E27FC236}">
                <a16:creationId xmlns:a16="http://schemas.microsoft.com/office/drawing/2014/main" id="{8C36B10C-0FD4-31E9-A3B4-2C403B334348}"/>
              </a:ext>
            </a:extLst>
          </p:cNvPr>
          <p:cNvPicPr>
            <a:picLocks noChangeAspect="1"/>
          </p:cNvPicPr>
          <p:nvPr/>
        </p:nvPicPr>
        <p:blipFill>
          <a:blip r:embed="rId2"/>
          <a:stretch>
            <a:fillRect/>
          </a:stretch>
        </p:blipFill>
        <p:spPr>
          <a:xfrm>
            <a:off x="731520" y="796004"/>
            <a:ext cx="10728960" cy="5064428"/>
          </a:xfrm>
          <a:prstGeom prst="rect">
            <a:avLst/>
          </a:prstGeom>
        </p:spPr>
      </p:pic>
      <p:sp>
        <p:nvSpPr>
          <p:cNvPr id="4" name="Rectángulo: esquinas redondeadas 3">
            <a:extLst>
              <a:ext uri="{FF2B5EF4-FFF2-40B4-BE49-F238E27FC236}">
                <a16:creationId xmlns:a16="http://schemas.microsoft.com/office/drawing/2014/main" id="{B7C0F528-C6C0-6F97-C88B-F01B9602CF94}"/>
              </a:ext>
            </a:extLst>
          </p:cNvPr>
          <p:cNvSpPr/>
          <p:nvPr/>
        </p:nvSpPr>
        <p:spPr>
          <a:xfrm>
            <a:off x="388132" y="4151376"/>
            <a:ext cx="10627564" cy="78638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Panel 8.- Planificación en autoservicio</a:t>
            </a:r>
          </a:p>
          <a:p>
            <a:r>
              <a:rPr lang="es-ES" sz="1100" dirty="0"/>
              <a:t>8.1.- Opciones que </a:t>
            </a:r>
            <a:r>
              <a:rPr lang="es-419" sz="1100" dirty="0"/>
              <a:t>permiten que el alumno planifique con anterioridad los cursos que desea tomar para el próximo periodo</a:t>
            </a:r>
          </a:p>
          <a:p>
            <a:r>
              <a:rPr lang="es-419" sz="1100" dirty="0"/>
              <a:t>9. Guarde la información</a:t>
            </a:r>
          </a:p>
          <a:p>
            <a:r>
              <a:rPr lang="es-CL" sz="1100" dirty="0"/>
              <a:t>	</a:t>
            </a:r>
          </a:p>
        </p:txBody>
      </p:sp>
      <p:sp>
        <p:nvSpPr>
          <p:cNvPr id="6" name="Rectángulo redondeado 15">
            <a:extLst>
              <a:ext uri="{FF2B5EF4-FFF2-40B4-BE49-F238E27FC236}">
                <a16:creationId xmlns:a16="http://schemas.microsoft.com/office/drawing/2014/main" id="{C32E589D-1526-CB7F-8FF7-7994A2681BA8}"/>
              </a:ext>
            </a:extLst>
          </p:cNvPr>
          <p:cNvSpPr/>
          <p:nvPr/>
        </p:nvSpPr>
        <p:spPr>
          <a:xfrm>
            <a:off x="833796" y="3186685"/>
            <a:ext cx="414621" cy="22659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8.1</a:t>
            </a:r>
          </a:p>
        </p:txBody>
      </p:sp>
      <p:sp>
        <p:nvSpPr>
          <p:cNvPr id="11" name="Rectángulo redondeado 15">
            <a:extLst>
              <a:ext uri="{FF2B5EF4-FFF2-40B4-BE49-F238E27FC236}">
                <a16:creationId xmlns:a16="http://schemas.microsoft.com/office/drawing/2014/main" id="{4E7A310F-1731-561A-E81E-D2168AF55107}"/>
              </a:ext>
            </a:extLst>
          </p:cNvPr>
          <p:cNvSpPr/>
          <p:nvPr/>
        </p:nvSpPr>
        <p:spPr>
          <a:xfrm>
            <a:off x="2019886" y="2978617"/>
            <a:ext cx="220663" cy="20806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12" name="Rectángulo: esquinas redondeadas 11">
            <a:extLst>
              <a:ext uri="{FF2B5EF4-FFF2-40B4-BE49-F238E27FC236}">
                <a16:creationId xmlns:a16="http://schemas.microsoft.com/office/drawing/2014/main" id="{761E6611-93E7-42F4-C732-4D6E2CCEF0E2}"/>
              </a:ext>
            </a:extLst>
          </p:cNvPr>
          <p:cNvSpPr/>
          <p:nvPr/>
        </p:nvSpPr>
        <p:spPr>
          <a:xfrm>
            <a:off x="7450192" y="5652363"/>
            <a:ext cx="2884719" cy="20806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L" sz="1100" dirty="0"/>
              <a:t>Finalmente guarde los cambios realizados.</a:t>
            </a:r>
          </a:p>
        </p:txBody>
      </p:sp>
      <p:sp>
        <p:nvSpPr>
          <p:cNvPr id="13" name="Rectángulo redondeado 15">
            <a:extLst>
              <a:ext uri="{FF2B5EF4-FFF2-40B4-BE49-F238E27FC236}">
                <a16:creationId xmlns:a16="http://schemas.microsoft.com/office/drawing/2014/main" id="{AE7A535B-182D-D846-C28D-C44904CCBACF}"/>
              </a:ext>
            </a:extLst>
          </p:cNvPr>
          <p:cNvSpPr/>
          <p:nvPr/>
        </p:nvSpPr>
        <p:spPr>
          <a:xfrm>
            <a:off x="10489598" y="5652364"/>
            <a:ext cx="220663" cy="20806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14" name="Rectángulo 13">
            <a:extLst>
              <a:ext uri="{FF2B5EF4-FFF2-40B4-BE49-F238E27FC236}">
                <a16:creationId xmlns:a16="http://schemas.microsoft.com/office/drawing/2014/main" id="{34EFF676-CBC9-6E7E-EB03-3A1E68EF7390}"/>
              </a:ext>
            </a:extLst>
          </p:cNvPr>
          <p:cNvSpPr/>
          <p:nvPr/>
        </p:nvSpPr>
        <p:spPr>
          <a:xfrm>
            <a:off x="10944849" y="5652364"/>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19883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18D23-D2B2-BE68-87B4-3A5175663AAC}"/>
            </a:ext>
          </a:extLst>
        </p:cNvPr>
        <p:cNvGrpSpPr/>
        <p:nvPr/>
      </p:nvGrpSpPr>
      <p:grpSpPr>
        <a:xfrm>
          <a:off x="0" y="0"/>
          <a:ext cx="0" cy="0"/>
          <a:chOff x="0" y="0"/>
          <a:chExt cx="0" cy="0"/>
        </a:xfrm>
      </p:grpSpPr>
      <p:sp>
        <p:nvSpPr>
          <p:cNvPr id="8" name="Title 15">
            <a:extLst>
              <a:ext uri="{FF2B5EF4-FFF2-40B4-BE49-F238E27FC236}">
                <a16:creationId xmlns:a16="http://schemas.microsoft.com/office/drawing/2014/main" id="{B1D02777-C086-5082-60CE-71458C793044}"/>
              </a:ext>
            </a:extLst>
          </p:cNvPr>
          <p:cNvSpPr txBox="1">
            <a:spLocks/>
          </p:cNvSpPr>
          <p:nvPr/>
        </p:nvSpPr>
        <p:spPr>
          <a:xfrm>
            <a:off x="1104900" y="1800808"/>
            <a:ext cx="7092820" cy="162819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200" dirty="0" err="1">
                <a:solidFill>
                  <a:schemeClr val="bg1"/>
                </a:solidFill>
              </a:rPr>
              <a:t>Programar</a:t>
            </a:r>
            <a:r>
              <a:rPr lang="en-US" sz="3200" dirty="0">
                <a:solidFill>
                  <a:schemeClr val="bg1"/>
                </a:solidFill>
              </a:rPr>
              <a:t> </a:t>
            </a:r>
            <a:r>
              <a:rPr lang="en-US" sz="3200" dirty="0" err="1">
                <a:solidFill>
                  <a:schemeClr val="bg1"/>
                </a:solidFill>
              </a:rPr>
              <a:t>el</a:t>
            </a:r>
            <a:r>
              <a:rPr lang="en-US" sz="3200" dirty="0">
                <a:solidFill>
                  <a:schemeClr val="bg1"/>
                </a:solidFill>
              </a:rPr>
              <a:t> </a:t>
            </a:r>
            <a:r>
              <a:rPr lang="en-US" sz="3200" dirty="0" err="1">
                <a:solidFill>
                  <a:schemeClr val="bg1"/>
                </a:solidFill>
              </a:rPr>
              <a:t>inicio</a:t>
            </a:r>
            <a:r>
              <a:rPr lang="en-US" sz="3200" dirty="0">
                <a:solidFill>
                  <a:schemeClr val="bg1"/>
                </a:solidFill>
              </a:rPr>
              <a:t> y </a:t>
            </a:r>
            <a:r>
              <a:rPr lang="en-US" sz="3200" dirty="0" err="1">
                <a:solidFill>
                  <a:schemeClr val="bg1"/>
                </a:solidFill>
              </a:rPr>
              <a:t>finalización</a:t>
            </a:r>
            <a:r>
              <a:rPr lang="en-US" sz="3200" dirty="0">
                <a:solidFill>
                  <a:schemeClr val="bg1"/>
                </a:solidFill>
              </a:rPr>
              <a:t> de </a:t>
            </a:r>
            <a:r>
              <a:rPr lang="en-US" sz="3200" dirty="0" err="1">
                <a:solidFill>
                  <a:schemeClr val="bg1"/>
                </a:solidFill>
              </a:rPr>
              <a:t>períodos</a:t>
            </a:r>
            <a:r>
              <a:rPr lang="en-US" sz="3200" dirty="0">
                <a:solidFill>
                  <a:schemeClr val="bg1"/>
                </a:solidFill>
              </a:rPr>
              <a:t> </a:t>
            </a:r>
            <a:r>
              <a:rPr lang="en-US" sz="3200" dirty="0" err="1">
                <a:solidFill>
                  <a:schemeClr val="bg1"/>
                </a:solidFill>
              </a:rPr>
              <a:t>académicos</a:t>
            </a:r>
            <a:r>
              <a:rPr lang="en-US" sz="3200" dirty="0">
                <a:solidFill>
                  <a:schemeClr val="bg1"/>
                </a:solidFill>
              </a:rPr>
              <a:t> </a:t>
            </a:r>
            <a:endParaRPr lang="en-US" dirty="0"/>
          </a:p>
        </p:txBody>
      </p:sp>
      <p:sp>
        <p:nvSpPr>
          <p:cNvPr id="9" name="Text Placeholder 16">
            <a:extLst>
              <a:ext uri="{FF2B5EF4-FFF2-40B4-BE49-F238E27FC236}">
                <a16:creationId xmlns:a16="http://schemas.microsoft.com/office/drawing/2014/main" id="{8C277960-F958-30F6-6EEB-87497924B1D5}"/>
              </a:ext>
            </a:extLst>
          </p:cNvPr>
          <p:cNvSpPr txBox="1">
            <a:spLocks/>
          </p:cNvSpPr>
          <p:nvPr/>
        </p:nvSpPr>
        <p:spPr>
          <a:xfrm>
            <a:off x="1104900" y="3652538"/>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dirty="0">
                <a:solidFill>
                  <a:schemeClr val="bg1"/>
                </a:solidFill>
              </a:rPr>
              <a:t>Definición de días festivos</a:t>
            </a:r>
            <a:endParaRPr lang="en-US" dirty="0">
              <a:solidFill>
                <a:schemeClr val="bg1"/>
              </a:solidFill>
            </a:endParaRPr>
          </a:p>
        </p:txBody>
      </p:sp>
    </p:spTree>
    <p:extLst>
      <p:ext uri="{BB962C8B-B14F-4D97-AF65-F5344CB8AC3E}">
        <p14:creationId xmlns:p14="http://schemas.microsoft.com/office/powerpoint/2010/main" val="3736457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CD039-A0AC-1A91-C91F-F602093F0CC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66CB923-326A-0B59-DFD6-D2532FD238B2}"/>
              </a:ext>
            </a:extLst>
          </p:cNvPr>
          <p:cNvSpPr>
            <a:spLocks noGrp="1"/>
          </p:cNvSpPr>
          <p:nvPr>
            <p:ph type="body" sz="quarter" idx="10"/>
          </p:nvPr>
        </p:nvSpPr>
        <p:spPr>
          <a:xfrm>
            <a:off x="388132" y="95338"/>
            <a:ext cx="11122188" cy="446084"/>
          </a:xfrm>
        </p:spPr>
        <p:txBody>
          <a:bodyPr/>
          <a:lstStyle/>
          <a:p>
            <a:r>
              <a:rPr lang="es-419" dirty="0"/>
              <a:t>Tema: </a:t>
            </a:r>
            <a:r>
              <a:rPr lang="es-CO" dirty="0"/>
              <a:t>Reglas de exclusión de horario SSAEXCL</a:t>
            </a:r>
          </a:p>
        </p:txBody>
      </p:sp>
      <p:pic>
        <p:nvPicPr>
          <p:cNvPr id="7" name="Imagen 6">
            <a:extLst>
              <a:ext uri="{FF2B5EF4-FFF2-40B4-BE49-F238E27FC236}">
                <a16:creationId xmlns:a16="http://schemas.microsoft.com/office/drawing/2014/main" id="{52F63755-2F05-3A92-69BD-58C636403E17}"/>
              </a:ext>
            </a:extLst>
          </p:cNvPr>
          <p:cNvPicPr>
            <a:picLocks noChangeAspect="1"/>
          </p:cNvPicPr>
          <p:nvPr/>
        </p:nvPicPr>
        <p:blipFill>
          <a:blip r:embed="rId2"/>
          <a:stretch>
            <a:fillRect/>
          </a:stretch>
        </p:blipFill>
        <p:spPr>
          <a:xfrm>
            <a:off x="790956" y="1527159"/>
            <a:ext cx="10610088" cy="1078769"/>
          </a:xfrm>
          <a:prstGeom prst="rect">
            <a:avLst/>
          </a:prstGeom>
        </p:spPr>
      </p:pic>
      <p:sp>
        <p:nvSpPr>
          <p:cNvPr id="8" name="Rectángulo: esquinas redondeadas 7">
            <a:extLst>
              <a:ext uri="{FF2B5EF4-FFF2-40B4-BE49-F238E27FC236}">
                <a16:creationId xmlns:a16="http://schemas.microsoft.com/office/drawing/2014/main" id="{BA12ABD2-4C05-DFB0-D327-E6AFE2DD9147}"/>
              </a:ext>
            </a:extLst>
          </p:cNvPr>
          <p:cNvSpPr/>
          <p:nvPr/>
        </p:nvSpPr>
        <p:spPr>
          <a:xfrm>
            <a:off x="647805" y="4533098"/>
            <a:ext cx="10636529" cy="1128922"/>
          </a:xfrm>
          <a:prstGeom prst="roundRect">
            <a:avLst>
              <a:gd name="adj" fmla="val 14466"/>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100" dirty="0"/>
              <a:t>Para ingresar a las reglas para excluir días en la programación de horarios, debes seguir los siguientes pasos: </a:t>
            </a:r>
          </a:p>
          <a:p>
            <a:pPr algn="just"/>
            <a:r>
              <a:rPr lang="es-CL" sz="1100" dirty="0"/>
              <a:t>1. Ingresar el año donde ingresara la exclusión. </a:t>
            </a:r>
          </a:p>
          <a:p>
            <a:pPr algn="just"/>
            <a:r>
              <a:rPr lang="es-CL" sz="1100" dirty="0"/>
              <a:t>2.- Ingresar la parte del periodo respectiva. </a:t>
            </a:r>
          </a:p>
          <a:p>
            <a:pPr algn="just"/>
            <a:r>
              <a:rPr lang="es-CL" sz="1100" dirty="0"/>
              <a:t>3.- Presionar “Ir”</a:t>
            </a:r>
          </a:p>
        </p:txBody>
      </p:sp>
      <p:sp>
        <p:nvSpPr>
          <p:cNvPr id="9" name="Rectángulo redondeado 15">
            <a:extLst>
              <a:ext uri="{FF2B5EF4-FFF2-40B4-BE49-F238E27FC236}">
                <a16:creationId xmlns:a16="http://schemas.microsoft.com/office/drawing/2014/main" id="{0B649356-6162-F4C0-44F5-F96367EF7A46}"/>
              </a:ext>
            </a:extLst>
          </p:cNvPr>
          <p:cNvSpPr/>
          <p:nvPr/>
        </p:nvSpPr>
        <p:spPr>
          <a:xfrm>
            <a:off x="1009270" y="2121284"/>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0" name="Rectángulo redondeado 15">
            <a:extLst>
              <a:ext uri="{FF2B5EF4-FFF2-40B4-BE49-F238E27FC236}">
                <a16:creationId xmlns:a16="http://schemas.microsoft.com/office/drawing/2014/main" id="{6196F2F6-CA00-9D06-5810-E18DC91BA631}"/>
              </a:ext>
            </a:extLst>
          </p:cNvPr>
          <p:cNvSpPr/>
          <p:nvPr/>
        </p:nvSpPr>
        <p:spPr>
          <a:xfrm>
            <a:off x="5093657" y="2121284"/>
            <a:ext cx="211138" cy="20195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5" name="Rectángulo redondeado 15">
            <a:extLst>
              <a:ext uri="{FF2B5EF4-FFF2-40B4-BE49-F238E27FC236}">
                <a16:creationId xmlns:a16="http://schemas.microsoft.com/office/drawing/2014/main" id="{F362845A-54A8-A229-330C-FDB5C18022E4}"/>
              </a:ext>
            </a:extLst>
          </p:cNvPr>
          <p:cNvSpPr/>
          <p:nvPr/>
        </p:nvSpPr>
        <p:spPr>
          <a:xfrm>
            <a:off x="10651552" y="2121284"/>
            <a:ext cx="211138" cy="20195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1420007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E28F2-A3EF-2FE9-11FB-C157112E33B5}"/>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F68FD5DB-0241-E18C-523B-29ADA72D28EA}"/>
              </a:ext>
            </a:extLst>
          </p:cNvPr>
          <p:cNvSpPr>
            <a:spLocks noGrp="1"/>
          </p:cNvSpPr>
          <p:nvPr>
            <p:ph type="body" sz="quarter" idx="10"/>
          </p:nvPr>
        </p:nvSpPr>
        <p:spPr>
          <a:xfrm>
            <a:off x="388132" y="95338"/>
            <a:ext cx="11122188" cy="446084"/>
          </a:xfrm>
        </p:spPr>
        <p:txBody>
          <a:bodyPr/>
          <a:lstStyle/>
          <a:p>
            <a:r>
              <a:rPr lang="es-419" dirty="0"/>
              <a:t>Tema: </a:t>
            </a:r>
            <a:r>
              <a:rPr lang="es-CO" dirty="0"/>
              <a:t>Reglas de exclusión de horario SSAEXCL</a:t>
            </a:r>
          </a:p>
        </p:txBody>
      </p:sp>
      <p:pic>
        <p:nvPicPr>
          <p:cNvPr id="3" name="Imagen 2">
            <a:extLst>
              <a:ext uri="{FF2B5EF4-FFF2-40B4-BE49-F238E27FC236}">
                <a16:creationId xmlns:a16="http://schemas.microsoft.com/office/drawing/2014/main" id="{89DA00E7-B6D5-365D-77DC-B6DAE9058AA3}"/>
              </a:ext>
            </a:extLst>
          </p:cNvPr>
          <p:cNvPicPr>
            <a:picLocks noChangeAspect="1"/>
          </p:cNvPicPr>
          <p:nvPr/>
        </p:nvPicPr>
        <p:blipFill>
          <a:blip r:embed="rId2"/>
          <a:stretch>
            <a:fillRect/>
          </a:stretch>
        </p:blipFill>
        <p:spPr>
          <a:xfrm>
            <a:off x="570241" y="858260"/>
            <a:ext cx="11051517" cy="5179678"/>
          </a:xfrm>
          <a:prstGeom prst="rect">
            <a:avLst/>
          </a:prstGeom>
        </p:spPr>
      </p:pic>
      <p:sp>
        <p:nvSpPr>
          <p:cNvPr id="4" name="Rectángulo: esquinas redondeadas 3">
            <a:extLst>
              <a:ext uri="{FF2B5EF4-FFF2-40B4-BE49-F238E27FC236}">
                <a16:creationId xmlns:a16="http://schemas.microsoft.com/office/drawing/2014/main" id="{7F3D2B5D-CB01-44AE-C8FC-6E437568CC8C}"/>
              </a:ext>
            </a:extLst>
          </p:cNvPr>
          <p:cNvSpPr/>
          <p:nvPr/>
        </p:nvSpPr>
        <p:spPr>
          <a:xfrm>
            <a:off x="844017" y="3765070"/>
            <a:ext cx="9997818" cy="1128922"/>
          </a:xfrm>
          <a:prstGeom prst="roundRect">
            <a:avLst>
              <a:gd name="adj" fmla="val 14466"/>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100" dirty="0"/>
              <a:t>Permite excluir días en la programación de horarios, debes: </a:t>
            </a:r>
          </a:p>
          <a:p>
            <a:pPr algn="just"/>
            <a:r>
              <a:rPr lang="es-CL" sz="1100" dirty="0"/>
              <a:t>1.</a:t>
            </a:r>
            <a:r>
              <a:rPr lang="es-ES" sz="1100" dirty="0"/>
              <a:t> Insertar para crear nuevo registro</a:t>
            </a:r>
            <a:endParaRPr lang="es-CL" sz="1100" dirty="0"/>
          </a:p>
          <a:p>
            <a:pPr algn="just"/>
            <a:r>
              <a:rPr lang="es-CL" sz="1100" dirty="0"/>
              <a:t>2. Ingresar campo fecha. </a:t>
            </a:r>
          </a:p>
          <a:p>
            <a:pPr algn="just"/>
            <a:r>
              <a:rPr lang="es-CL" sz="1100" dirty="0"/>
              <a:t>3. Ingresar campo Descripción. </a:t>
            </a:r>
          </a:p>
          <a:p>
            <a:pPr algn="just"/>
            <a:r>
              <a:rPr lang="es-CL" sz="1100" dirty="0"/>
              <a:t>El campo día lo calcula automáticamente el sistema.</a:t>
            </a:r>
          </a:p>
          <a:p>
            <a:pPr algn="just"/>
            <a:r>
              <a:rPr lang="es-CL" sz="1100" dirty="0"/>
              <a:t>4. Finalmente guarde los cambios realizados.</a:t>
            </a:r>
          </a:p>
        </p:txBody>
      </p:sp>
      <p:sp>
        <p:nvSpPr>
          <p:cNvPr id="6" name="Rectángulo redondeado 15">
            <a:extLst>
              <a:ext uri="{FF2B5EF4-FFF2-40B4-BE49-F238E27FC236}">
                <a16:creationId xmlns:a16="http://schemas.microsoft.com/office/drawing/2014/main" id="{7DF54550-8BA5-3695-1190-1FA11A636F48}"/>
              </a:ext>
            </a:extLst>
          </p:cNvPr>
          <p:cNvSpPr/>
          <p:nvPr/>
        </p:nvSpPr>
        <p:spPr>
          <a:xfrm>
            <a:off x="315005" y="1928161"/>
            <a:ext cx="211138" cy="20195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redondeado 15">
            <a:extLst>
              <a:ext uri="{FF2B5EF4-FFF2-40B4-BE49-F238E27FC236}">
                <a16:creationId xmlns:a16="http://schemas.microsoft.com/office/drawing/2014/main" id="{1B406A7E-6DEF-7CEE-C3DA-260D8C61BFAC}"/>
              </a:ext>
            </a:extLst>
          </p:cNvPr>
          <p:cNvSpPr/>
          <p:nvPr/>
        </p:nvSpPr>
        <p:spPr>
          <a:xfrm>
            <a:off x="3089466" y="1928161"/>
            <a:ext cx="211138" cy="20195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371E6615-2356-18A1-5F1E-2346564C7905}"/>
              </a:ext>
            </a:extLst>
          </p:cNvPr>
          <p:cNvSpPr/>
          <p:nvPr/>
        </p:nvSpPr>
        <p:spPr>
          <a:xfrm>
            <a:off x="11150225" y="5794296"/>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15">
            <a:extLst>
              <a:ext uri="{FF2B5EF4-FFF2-40B4-BE49-F238E27FC236}">
                <a16:creationId xmlns:a16="http://schemas.microsoft.com/office/drawing/2014/main" id="{D897CD25-1826-99D1-EB5F-CDE094389BCD}"/>
              </a:ext>
            </a:extLst>
          </p:cNvPr>
          <p:cNvSpPr/>
          <p:nvPr/>
        </p:nvSpPr>
        <p:spPr>
          <a:xfrm>
            <a:off x="10739179" y="5813395"/>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4" name="Rectángulo redondeado 15">
            <a:extLst>
              <a:ext uri="{FF2B5EF4-FFF2-40B4-BE49-F238E27FC236}">
                <a16:creationId xmlns:a16="http://schemas.microsoft.com/office/drawing/2014/main" id="{F5151331-AA13-344C-9197-D8BC53DE0CDA}"/>
              </a:ext>
            </a:extLst>
          </p:cNvPr>
          <p:cNvSpPr/>
          <p:nvPr/>
        </p:nvSpPr>
        <p:spPr>
          <a:xfrm>
            <a:off x="10841835" y="1358103"/>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6" name="Rectángulo 15">
            <a:extLst>
              <a:ext uri="{FF2B5EF4-FFF2-40B4-BE49-F238E27FC236}">
                <a16:creationId xmlns:a16="http://schemas.microsoft.com/office/drawing/2014/main" id="{B6A6A2B8-C9A5-803A-FDEE-060CD6731460}"/>
              </a:ext>
            </a:extLst>
          </p:cNvPr>
          <p:cNvSpPr/>
          <p:nvPr/>
        </p:nvSpPr>
        <p:spPr>
          <a:xfrm>
            <a:off x="10818031" y="1638838"/>
            <a:ext cx="264960" cy="21054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457986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83D0F-F94F-CFEE-335A-54F549F71BE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B9F8EE63-48D1-47AB-8719-83C2251D097F}"/>
              </a:ext>
            </a:extLst>
          </p:cNvPr>
          <p:cNvSpPr>
            <a:spLocks noGrp="1"/>
          </p:cNvSpPr>
          <p:nvPr>
            <p:ph type="body" sz="quarter" idx="10"/>
          </p:nvPr>
        </p:nvSpPr>
        <p:spPr>
          <a:xfrm>
            <a:off x="388132" y="95338"/>
            <a:ext cx="11122188" cy="446084"/>
          </a:xfrm>
        </p:spPr>
        <p:txBody>
          <a:bodyPr/>
          <a:lstStyle/>
          <a:p>
            <a:r>
              <a:rPr lang="es-419" dirty="0"/>
              <a:t>Tema: </a:t>
            </a:r>
            <a:r>
              <a:rPr lang="es-CO" dirty="0"/>
              <a:t>Reglas de exclusión de horario SSAEXCL</a:t>
            </a:r>
          </a:p>
        </p:txBody>
      </p:sp>
      <p:pic>
        <p:nvPicPr>
          <p:cNvPr id="7" name="Imagen 6">
            <a:extLst>
              <a:ext uri="{FF2B5EF4-FFF2-40B4-BE49-F238E27FC236}">
                <a16:creationId xmlns:a16="http://schemas.microsoft.com/office/drawing/2014/main" id="{F1B7F35B-8225-28BB-5FA8-C68059763460}"/>
              </a:ext>
            </a:extLst>
          </p:cNvPr>
          <p:cNvPicPr>
            <a:picLocks noChangeAspect="1"/>
          </p:cNvPicPr>
          <p:nvPr/>
        </p:nvPicPr>
        <p:blipFill>
          <a:blip r:embed="rId2"/>
          <a:stretch>
            <a:fillRect/>
          </a:stretch>
        </p:blipFill>
        <p:spPr>
          <a:xfrm>
            <a:off x="566126" y="794583"/>
            <a:ext cx="11433850" cy="5268834"/>
          </a:xfrm>
          <a:prstGeom prst="rect">
            <a:avLst/>
          </a:prstGeom>
        </p:spPr>
      </p:pic>
      <p:sp>
        <p:nvSpPr>
          <p:cNvPr id="8" name="Rectángulo: esquinas redondeadas 7">
            <a:extLst>
              <a:ext uri="{FF2B5EF4-FFF2-40B4-BE49-F238E27FC236}">
                <a16:creationId xmlns:a16="http://schemas.microsoft.com/office/drawing/2014/main" id="{76A848FB-419F-082D-8BE9-10BFA5B3B099}"/>
              </a:ext>
            </a:extLst>
          </p:cNvPr>
          <p:cNvSpPr/>
          <p:nvPr/>
        </p:nvSpPr>
        <p:spPr>
          <a:xfrm>
            <a:off x="2327511" y="4074536"/>
            <a:ext cx="6965668" cy="879429"/>
          </a:xfrm>
          <a:prstGeom prst="roundRect">
            <a:avLst>
              <a:gd name="adj" fmla="val 14466"/>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100" dirty="0"/>
              <a:t>1.- Predefinir exclusiones de horario</a:t>
            </a:r>
          </a:p>
          <a:p>
            <a:pPr algn="just"/>
            <a:r>
              <a:rPr lang="es-CL" sz="1100" dirty="0"/>
              <a:t>Permite copiar los registros de una parte de período a otra, ingresando desde el bloque llave a herramientas.</a:t>
            </a:r>
          </a:p>
        </p:txBody>
      </p:sp>
      <p:sp>
        <p:nvSpPr>
          <p:cNvPr id="9" name="Rectángulo redondeado 15">
            <a:extLst>
              <a:ext uri="{FF2B5EF4-FFF2-40B4-BE49-F238E27FC236}">
                <a16:creationId xmlns:a16="http://schemas.microsoft.com/office/drawing/2014/main" id="{E2DBA241-C5BB-3D84-93E2-ED10FB526622}"/>
              </a:ext>
            </a:extLst>
          </p:cNvPr>
          <p:cNvSpPr/>
          <p:nvPr/>
        </p:nvSpPr>
        <p:spPr>
          <a:xfrm>
            <a:off x="9930816" y="4851138"/>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2165510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CB88F-BB8D-C3E4-42FF-226F45ABB040}"/>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D66CDFF-0D47-95D8-1B80-722F16A93B6E}"/>
              </a:ext>
            </a:extLst>
          </p:cNvPr>
          <p:cNvSpPr>
            <a:spLocks noGrp="1"/>
          </p:cNvSpPr>
          <p:nvPr>
            <p:ph type="body" sz="quarter" idx="10"/>
          </p:nvPr>
        </p:nvSpPr>
        <p:spPr>
          <a:xfrm>
            <a:off x="388132" y="95338"/>
            <a:ext cx="11122188" cy="446084"/>
          </a:xfrm>
        </p:spPr>
        <p:txBody>
          <a:bodyPr/>
          <a:lstStyle/>
          <a:p>
            <a:r>
              <a:rPr lang="es-419" dirty="0"/>
              <a:t>Tema: </a:t>
            </a:r>
            <a:r>
              <a:rPr lang="es-CO" dirty="0"/>
              <a:t>Reglas de exclusión de horario SSAEXCL</a:t>
            </a:r>
          </a:p>
        </p:txBody>
      </p:sp>
      <p:pic>
        <p:nvPicPr>
          <p:cNvPr id="3" name="Imagen 2">
            <a:extLst>
              <a:ext uri="{FF2B5EF4-FFF2-40B4-BE49-F238E27FC236}">
                <a16:creationId xmlns:a16="http://schemas.microsoft.com/office/drawing/2014/main" id="{0E8AA553-C6A7-17BE-F199-E98A7334C937}"/>
              </a:ext>
            </a:extLst>
          </p:cNvPr>
          <p:cNvPicPr>
            <a:picLocks noChangeAspect="1"/>
          </p:cNvPicPr>
          <p:nvPr/>
        </p:nvPicPr>
        <p:blipFill>
          <a:blip r:embed="rId2"/>
          <a:stretch>
            <a:fillRect/>
          </a:stretch>
        </p:blipFill>
        <p:spPr>
          <a:xfrm>
            <a:off x="832818" y="862866"/>
            <a:ext cx="10956846" cy="5132267"/>
          </a:xfrm>
          <a:prstGeom prst="rect">
            <a:avLst/>
          </a:prstGeom>
        </p:spPr>
      </p:pic>
      <p:sp>
        <p:nvSpPr>
          <p:cNvPr id="4" name="Rectángulo: esquinas redondeadas 3">
            <a:extLst>
              <a:ext uri="{FF2B5EF4-FFF2-40B4-BE49-F238E27FC236}">
                <a16:creationId xmlns:a16="http://schemas.microsoft.com/office/drawing/2014/main" id="{A4DBD50F-7A56-8DDD-0239-6632DD9126F8}"/>
              </a:ext>
            </a:extLst>
          </p:cNvPr>
          <p:cNvSpPr/>
          <p:nvPr/>
        </p:nvSpPr>
        <p:spPr>
          <a:xfrm>
            <a:off x="1230231" y="5476781"/>
            <a:ext cx="10690878" cy="714976"/>
          </a:xfrm>
          <a:prstGeom prst="roundRect">
            <a:avLst>
              <a:gd name="adj" fmla="val 14466"/>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dirty="0"/>
              <a:t>Muestra la ventana para copiar:</a:t>
            </a:r>
            <a:br>
              <a:rPr lang="es-CL" sz="1100" dirty="0"/>
            </a:br>
            <a:r>
              <a:rPr lang="es-CL" sz="1100" dirty="0"/>
              <a:t>1.- Parte de período predeterminada: La parte de período de la cual se desean copiar los datos, debe dar Tabulación o </a:t>
            </a:r>
            <a:r>
              <a:rPr lang="es-CL" sz="1100" dirty="0" err="1"/>
              <a:t>enter</a:t>
            </a:r>
            <a:r>
              <a:rPr lang="es-CL" sz="1100" dirty="0"/>
              <a:t>.</a:t>
            </a:r>
            <a:br>
              <a:rPr lang="es-CL" sz="1100" dirty="0"/>
            </a:br>
            <a:r>
              <a:rPr lang="es-CL" sz="1100" dirty="0"/>
              <a:t>2.- Procesar predeterminado: Se da click en los puntos y el proceso ejecutará la copia.</a:t>
            </a:r>
          </a:p>
        </p:txBody>
      </p:sp>
      <p:sp>
        <p:nvSpPr>
          <p:cNvPr id="6" name="Rectángulo redondeado 15">
            <a:extLst>
              <a:ext uri="{FF2B5EF4-FFF2-40B4-BE49-F238E27FC236}">
                <a16:creationId xmlns:a16="http://schemas.microsoft.com/office/drawing/2014/main" id="{7DC1533F-78F2-ADCC-86B3-78AD52E2900D}"/>
              </a:ext>
            </a:extLst>
          </p:cNvPr>
          <p:cNvSpPr/>
          <p:nvPr/>
        </p:nvSpPr>
        <p:spPr>
          <a:xfrm>
            <a:off x="5152604" y="3264407"/>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0" name="Rectángulo redondeado 15">
            <a:extLst>
              <a:ext uri="{FF2B5EF4-FFF2-40B4-BE49-F238E27FC236}">
                <a16:creationId xmlns:a16="http://schemas.microsoft.com/office/drawing/2014/main" id="{5479526F-AC86-0493-3E59-7BFBA022B324}"/>
              </a:ext>
            </a:extLst>
          </p:cNvPr>
          <p:cNvSpPr/>
          <p:nvPr/>
        </p:nvSpPr>
        <p:spPr>
          <a:xfrm>
            <a:off x="5623230" y="3601557"/>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4293839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E85B1C64-3CB4-F91B-623A-F3908DE24E37}"/>
              </a:ext>
            </a:extLst>
          </p:cNvPr>
          <p:cNvSpPr>
            <a:spLocks noGrp="1"/>
          </p:cNvSpPr>
          <p:nvPr>
            <p:ph type="body" sz="quarter" idx="10"/>
          </p:nvPr>
        </p:nvSpPr>
        <p:spPr>
          <a:xfrm>
            <a:off x="914399" y="2238843"/>
            <a:ext cx="10363202" cy="669094"/>
          </a:xfrm>
        </p:spPr>
        <p:txBody>
          <a:bodyPr/>
          <a:lstStyle/>
          <a:p>
            <a:r>
              <a:rPr lang="es-419" dirty="0"/>
              <a:t>Resumen</a:t>
            </a:r>
          </a:p>
        </p:txBody>
      </p:sp>
      <p:sp>
        <p:nvSpPr>
          <p:cNvPr id="5" name="Marcador de texto 4">
            <a:extLst>
              <a:ext uri="{FF2B5EF4-FFF2-40B4-BE49-F238E27FC236}">
                <a16:creationId xmlns:a16="http://schemas.microsoft.com/office/drawing/2014/main" id="{F3253A40-4C1B-950E-34C1-36BCD0A67883}"/>
              </a:ext>
            </a:extLst>
          </p:cNvPr>
          <p:cNvSpPr>
            <a:spLocks noGrp="1"/>
          </p:cNvSpPr>
          <p:nvPr>
            <p:ph type="body" sz="quarter" idx="11"/>
          </p:nvPr>
        </p:nvSpPr>
        <p:spPr/>
        <p:txBody>
          <a:bodyPr/>
          <a:lstStyle/>
          <a:p>
            <a:r>
              <a:rPr lang="es-419" dirty="0"/>
              <a:t>Programar el inicio y finalización de los periodos académicos</a:t>
            </a:r>
          </a:p>
        </p:txBody>
      </p:sp>
    </p:spTree>
    <p:extLst>
      <p:ext uri="{BB962C8B-B14F-4D97-AF65-F5344CB8AC3E}">
        <p14:creationId xmlns:p14="http://schemas.microsoft.com/office/powerpoint/2010/main" val="1295437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E19F6902-A436-6590-65FB-46E769F24EA7}"/>
              </a:ext>
            </a:extLst>
          </p:cNvPr>
          <p:cNvSpPr>
            <a:spLocks noGrp="1"/>
          </p:cNvSpPr>
          <p:nvPr>
            <p:ph type="body" sz="quarter" idx="10"/>
          </p:nvPr>
        </p:nvSpPr>
        <p:spPr/>
        <p:txBody>
          <a:bodyPr/>
          <a:lstStyle/>
          <a:p>
            <a:r>
              <a:rPr lang="es-419" dirty="0"/>
              <a:t>Resumen</a:t>
            </a:r>
          </a:p>
        </p:txBody>
      </p:sp>
      <p:sp>
        <p:nvSpPr>
          <p:cNvPr id="5" name="Marcador de texto 4">
            <a:extLst>
              <a:ext uri="{FF2B5EF4-FFF2-40B4-BE49-F238E27FC236}">
                <a16:creationId xmlns:a16="http://schemas.microsoft.com/office/drawing/2014/main" id="{1EF29630-D328-FC50-2D02-FD5D75221461}"/>
              </a:ext>
            </a:extLst>
          </p:cNvPr>
          <p:cNvSpPr>
            <a:spLocks noGrp="1"/>
          </p:cNvSpPr>
          <p:nvPr>
            <p:ph type="body" sz="quarter" idx="11"/>
          </p:nvPr>
        </p:nvSpPr>
        <p:spPr>
          <a:xfrm>
            <a:off x="522287" y="1056958"/>
            <a:ext cx="11122188" cy="4095224"/>
          </a:xfrm>
        </p:spPr>
        <p:txBody>
          <a:bodyPr/>
          <a:lstStyle/>
          <a:p>
            <a:pPr marL="0" indent="0">
              <a:buNone/>
            </a:pPr>
            <a:r>
              <a:rPr lang="es-419" sz="2000" dirty="0"/>
              <a:t>Programar el inicio y finalización de periodos académicos:</a:t>
            </a:r>
          </a:p>
          <a:p>
            <a:pPr marL="342900" indent="-342900" algn="just">
              <a:buClr>
                <a:srgbClr val="0CB4B4"/>
              </a:buClr>
              <a:buFont typeface="Wingdings" panose="05000000000000000000" pitchFamily="2" charset="2"/>
              <a:buChar char="q"/>
            </a:pPr>
            <a:r>
              <a:rPr lang="es-CL" sz="2000" dirty="0"/>
              <a:t>Las Partes de período son unidades de tiempo que segmentan un periodo, determinando el calendario  académico como prerrequisito para toda la configuración administrativa del sistema de información Banner.</a:t>
            </a:r>
            <a:endParaRPr lang="es-419" sz="2000" dirty="0"/>
          </a:p>
          <a:p>
            <a:pPr marL="342900" indent="-342900" algn="just">
              <a:buClr>
                <a:srgbClr val="0CB4B4"/>
              </a:buClr>
              <a:buFont typeface="Wingdings" panose="05000000000000000000" pitchFamily="2" charset="2"/>
              <a:buChar char="q"/>
            </a:pPr>
            <a:r>
              <a:rPr lang="es-CL" sz="2000" dirty="0"/>
              <a:t>Además de las partes de período, se deben definir las fechas de los accesos a la web para profesores y alumnos, además de los criterios para dicho acceso.</a:t>
            </a:r>
            <a:endParaRPr lang="es-419" sz="2000" dirty="0"/>
          </a:p>
          <a:p>
            <a:pPr marL="342900" indent="-342900" algn="just">
              <a:buClr>
                <a:srgbClr val="0CB4B4"/>
              </a:buClr>
              <a:buFont typeface="Wingdings" panose="05000000000000000000" pitchFamily="2" charset="2"/>
              <a:buChar char="q"/>
            </a:pPr>
            <a:r>
              <a:rPr lang="es-CL" sz="2000" dirty="0"/>
              <a:t>Existe una funcionalidad para la configuración de los períodos y partes de período que permite copiar de un período a otro los criterios establecidos</a:t>
            </a:r>
            <a:r>
              <a:rPr lang="es-419" sz="2000" dirty="0"/>
              <a:t>.</a:t>
            </a:r>
          </a:p>
          <a:p>
            <a:pPr marL="342900" indent="-342900" algn="just">
              <a:buClr>
                <a:srgbClr val="0CB4B4"/>
              </a:buClr>
              <a:buFont typeface="Wingdings" panose="05000000000000000000" pitchFamily="2" charset="2"/>
              <a:buChar char="q"/>
            </a:pPr>
            <a:r>
              <a:rPr lang="es-CL" sz="2000" dirty="0"/>
              <a:t>La exclusión de los días festivos en un Período y Parte de período se debe registrar en el sistema para efectos de los horarios de clase de los diferentes NRC creados</a:t>
            </a:r>
            <a:r>
              <a:rPr lang="es-419" sz="2000" dirty="0"/>
              <a:t>.</a:t>
            </a:r>
          </a:p>
          <a:p>
            <a:pPr marL="0" indent="0">
              <a:buNone/>
            </a:pPr>
            <a:endParaRPr lang="es-419" sz="2000" dirty="0"/>
          </a:p>
        </p:txBody>
      </p:sp>
    </p:spTree>
    <p:extLst>
      <p:ext uri="{BB962C8B-B14F-4D97-AF65-F5344CB8AC3E}">
        <p14:creationId xmlns:p14="http://schemas.microsoft.com/office/powerpoint/2010/main" val="518301041"/>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  Read-Only" id="{F4D757E7-3114-4C8F-9950-97785E4EE6CC}" vid="{D25AB14E-5FB9-4D56-95F9-7C8720217562}"/>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  Read-Only" id="{F4D757E7-3114-4C8F-9950-97785E4EE6CC}" vid="{7FF827A8-C46A-4566-99A6-5F934CCE2EB3}"/>
    </a:ext>
  </a:extLst>
</a:theme>
</file>

<file path=ppt/theme/theme3.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Ellucian-PPT-Template-2025-V5</Template>
  <TotalTime>2416</TotalTime>
  <Words>2611</Words>
  <Application>Microsoft Office PowerPoint</Application>
  <PresentationFormat>Widescreen</PresentationFormat>
  <Paragraphs>234</Paragraphs>
  <Slides>39</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39</vt:i4>
      </vt:variant>
    </vt:vector>
  </HeadingPairs>
  <TitlesOfParts>
    <vt:vector size="51" baseType="lpstr">
      <vt:lpstr>Aptos</vt:lpstr>
      <vt:lpstr>Aptos Display</vt:lpstr>
      <vt:lpstr>Arial</vt:lpstr>
      <vt:lpstr>Courier New</vt:lpstr>
      <vt:lpstr>Helvetica Neue</vt:lpstr>
      <vt:lpstr>Libre Franklin</vt:lpstr>
      <vt:lpstr>Segoe UI</vt:lpstr>
      <vt:lpstr>Wingdings</vt:lpstr>
      <vt:lpstr>Ellucian Main Layouts</vt:lpstr>
      <vt:lpstr>Ellucian Blank Layouts</vt:lpstr>
      <vt:lpstr>1_Ellucian Main Layouts</vt:lpstr>
      <vt:lpstr>1_Ellucian Blank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9</cp:revision>
  <dcterms:created xsi:type="dcterms:W3CDTF">2025-12-05T19:34:14Z</dcterms:created>
  <dcterms:modified xsi:type="dcterms:W3CDTF">2026-06-10T23:45:47Z</dcterms:modified>
</cp:coreProperties>
</file>
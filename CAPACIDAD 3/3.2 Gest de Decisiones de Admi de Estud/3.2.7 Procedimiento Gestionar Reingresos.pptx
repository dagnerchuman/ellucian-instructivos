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  <p:sldMasterId id="2147483760" r:id="rId2"/>
  </p:sldMasterIdLst>
  <p:notesMasterIdLst>
    <p:notesMasterId r:id="rId46"/>
  </p:notesMasterIdLst>
  <p:sldIdLst>
    <p:sldId id="563" r:id="rId3"/>
    <p:sldId id="423" r:id="rId4"/>
    <p:sldId id="1174" r:id="rId5"/>
    <p:sldId id="1175" r:id="rId6"/>
    <p:sldId id="1251" r:id="rId7"/>
    <p:sldId id="350" r:id="rId8"/>
    <p:sldId id="1275" r:id="rId9"/>
    <p:sldId id="1259" r:id="rId10"/>
    <p:sldId id="1240" r:id="rId11"/>
    <p:sldId id="1119" r:id="rId12"/>
    <p:sldId id="1276" r:id="rId13"/>
    <p:sldId id="1277" r:id="rId14"/>
    <p:sldId id="1278" r:id="rId15"/>
    <p:sldId id="1279" r:id="rId16"/>
    <p:sldId id="1280" r:id="rId17"/>
    <p:sldId id="1281" r:id="rId18"/>
    <p:sldId id="1282" r:id="rId19"/>
    <p:sldId id="1283" r:id="rId20"/>
    <p:sldId id="1311" r:id="rId21"/>
    <p:sldId id="1363" r:id="rId22"/>
    <p:sldId id="1364" r:id="rId23"/>
    <p:sldId id="1284" r:id="rId24"/>
    <p:sldId id="1285" r:id="rId25"/>
    <p:sldId id="1290" r:id="rId26"/>
    <p:sldId id="1286" r:id="rId27"/>
    <p:sldId id="1287" r:id="rId28"/>
    <p:sldId id="1288" r:id="rId29"/>
    <p:sldId id="1313" r:id="rId30"/>
    <p:sldId id="1314" r:id="rId31"/>
    <p:sldId id="1365" r:id="rId32"/>
    <p:sldId id="1315" r:id="rId33"/>
    <p:sldId id="1316" r:id="rId34"/>
    <p:sldId id="1366" r:id="rId35"/>
    <p:sldId id="1319" r:id="rId36"/>
    <p:sldId id="1321" r:id="rId37"/>
    <p:sldId id="1320" r:id="rId38"/>
    <p:sldId id="1322" r:id="rId39"/>
    <p:sldId id="1323" r:id="rId40"/>
    <p:sldId id="1334" r:id="rId41"/>
    <p:sldId id="1324" r:id="rId42"/>
    <p:sldId id="1325" r:id="rId43"/>
    <p:sldId id="1221" r:id="rId44"/>
    <p:sldId id="62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3767EC-4945-F044-2966-C3C4FBC8CEFC}" name="Diana Carolina Varón Díaz" initials="DV" userId="S::cvaron@cesa.edu.co::57d2fcd7-20f5-4803-8ac1-d7a2b9cde4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A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0A45D6-1AD2-47EC-A65A-43156DE7B261}" v="1" dt="2026-04-14T16:22:12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97B59-C4AA-4121-9E99-5A9FBD6E6C6B}" type="datetimeFigureOut">
              <a:rPr lang="es-419" smtClean="0"/>
              <a:t>14/4/2026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B7043-8BBF-43F6-8395-E8129382262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6437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59672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18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9244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27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05165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41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21150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42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01093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992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8574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33948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2395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58756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5088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8426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6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04710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275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17491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3709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97760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56496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4225991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07045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89658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729440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130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6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72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16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83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388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7815547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785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5308399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958895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98169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217601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14178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06243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999077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95612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008778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49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634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 userDrawn="1"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164295491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926390242"/>
      </p:ext>
    </p:extLst>
  </p:cSld>
  <p:clrMapOvr>
    <a:masterClrMapping/>
  </p:clrMapOvr>
  <p:transition spd="slow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72848" y="991929"/>
            <a:ext cx="11266501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2849" y="1316874"/>
            <a:ext cx="5298956" cy="351367"/>
          </a:xfrm>
        </p:spPr>
        <p:txBody>
          <a:bodyPr>
            <a:normAutofit/>
          </a:bodyPr>
          <a:lstStyle>
            <a:lvl1pPr>
              <a:buNone/>
              <a:defRPr sz="2133" spc="133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/>
              <a:t>SECTION # [optional]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72848" y="3112608"/>
            <a:ext cx="7108205" cy="2462723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bg1">
                    <a:lumMod val="8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1" name="Picture 20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‹#›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749152113"/>
      </p:ext>
    </p:extLst>
  </p:cSld>
  <p:clrMapOvr>
    <a:masterClrMapping/>
  </p:clrMapOvr>
  <p:transition spd="slow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1600200"/>
            <a:ext cx="11267392" cy="4343400"/>
          </a:xfrm>
        </p:spPr>
        <p:txBody>
          <a:bodyPr>
            <a:noAutofit/>
          </a:bodyPr>
          <a:lstStyle>
            <a:lvl1pPr marL="0" indent="0" algn="l" defTabSz="609585" rtl="0" eaLnBrk="1" latinLnBrk="0" hangingPunct="1">
              <a:spcBef>
                <a:spcPts val="1200"/>
              </a:spcBef>
              <a:buFontTx/>
              <a:buNone/>
              <a:defRPr lang="en-US" sz="2133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380990" indent="-380990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lang="en-US" sz="2133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3667" indent="-380990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  <a:defRPr lang="en-US" sz="1867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916493" indent="-380990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916493" indent="-380990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  <a:defRPr lang="en-US" sz="16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marL="457189" lvl="0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n-US" dirty="0"/>
              <a:t>Click to edit Master text styles</a:t>
            </a:r>
          </a:p>
          <a:p>
            <a:pPr marL="230712" lvl="1" indent="-230712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535504" lvl="2" indent="-232828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</a:pPr>
            <a:r>
              <a:rPr lang="en-US" dirty="0"/>
              <a:t>Third level</a:t>
            </a:r>
          </a:p>
          <a:p>
            <a:pPr marL="766214" lvl="3" indent="-230712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071007" lvl="4" indent="-230712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</a:pPr>
            <a:r>
              <a:rPr lang="en-US" dirty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4614174"/>
      </p:ext>
    </p:extLst>
  </p:cSld>
  <p:clrMapOvr>
    <a:masterClrMapping/>
  </p:clrMapOvr>
  <p:transition spd="slow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Stock-646457628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177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3779"/>
            <a:ext cx="12192000" cy="6858000"/>
          </a:xfrm>
          <a:prstGeom prst="rect">
            <a:avLst/>
          </a:prstGeom>
          <a:solidFill>
            <a:schemeClr val="accent4">
              <a:alpha val="6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Right Triangle 21"/>
          <p:cNvSpPr/>
          <p:nvPr userDrawn="1"/>
        </p:nvSpPr>
        <p:spPr>
          <a:xfrm flipH="1">
            <a:off x="7632095" y="-7814"/>
            <a:ext cx="4559904" cy="6865815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>
              <a:alpha val="6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5" name="Right Triangle 14"/>
          <p:cNvSpPr/>
          <p:nvPr userDrawn="1"/>
        </p:nvSpPr>
        <p:spPr>
          <a:xfrm flipH="1" flipV="1">
            <a:off x="8273143" y="-8162"/>
            <a:ext cx="3918856" cy="3905907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10" y="3625511"/>
            <a:ext cx="5695167" cy="1161143"/>
          </a:xfrm>
        </p:spPr>
        <p:txBody>
          <a:bodyPr>
            <a:normAutofit/>
          </a:bodyPr>
          <a:lstStyle>
            <a:lvl1pPr>
              <a:defRPr sz="5333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Picture 12" descr="ellucian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866875"/>
            <a:ext cx="2164695" cy="443247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97" y="4911366"/>
            <a:ext cx="7640512" cy="1589695"/>
          </a:xfrm>
        </p:spPr>
        <p:txBody>
          <a:bodyPr anchor="t" anchorCtr="0">
            <a:normAutofit/>
          </a:bodyPr>
          <a:lstStyle>
            <a:lvl1pPr>
              <a:spcBef>
                <a:spcPts val="0"/>
              </a:spcBef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Title title title, </a:t>
            </a:r>
            <a:r>
              <a:rPr lang="en-US" dirty="0" err="1"/>
              <a:t>Ellucian</a:t>
            </a:r>
            <a:br>
              <a:rPr lang="en-US" dirty="0"/>
            </a:b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053544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483651022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2453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4513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061978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946358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060304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325549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57217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090589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468820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588274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4000347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098813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808265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28364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55136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7469864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690323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832462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490095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64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42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  <p:sldLayoutId id="2147483756" r:id="rId35"/>
    <p:sldLayoutId id="2147483757" r:id="rId36"/>
    <p:sldLayoutId id="2147483758" r:id="rId37"/>
    <p:sldLayoutId id="2147483712" r:id="rId38"/>
    <p:sldLayoutId id="2147483713" r:id="rId39"/>
    <p:sldLayoutId id="2147483714" r:id="rId40"/>
    <p:sldLayoutId id="2147483715" r:id="rId41"/>
    <p:sldLayoutId id="2147483718" r:id="rId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0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832105"/>
          </a:xfrm>
        </p:spPr>
        <p:txBody>
          <a:bodyPr/>
          <a:lstStyle/>
          <a:p>
            <a:r>
              <a:rPr lang="es-ES" sz="4400" dirty="0"/>
              <a:t>Procedimiento Gestionar Reingresos</a:t>
            </a:r>
            <a:endParaRPr lang="es-419" noProof="0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419" sz="1800" noProof="0" dirty="0"/>
              <a:t>Instructivo</a:t>
            </a:r>
            <a:endParaRPr lang="es-419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419" noProof="0" dirty="0"/>
              <a:t>Consultor</a:t>
            </a:r>
          </a:p>
          <a:p>
            <a:r>
              <a:rPr lang="es-419" dirty="0"/>
              <a:t>Cargo</a:t>
            </a:r>
            <a:endParaRPr lang="es-419" noProof="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AF7D103-2992-CE66-2094-F2DD7ED1D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noProof="0" dirty="0"/>
              <a:t>Mes, Año</a:t>
            </a:r>
          </a:p>
        </p:txBody>
      </p:sp>
      <p:pic>
        <p:nvPicPr>
          <p:cNvPr id="9" name="Marcador de posición de imagen 8" descr="Mujer sentada en un escritorio&#10;&#10;El contenido generado por IA puede ser incorrecto.">
            <a:extLst>
              <a:ext uri="{FF2B5EF4-FFF2-40B4-BE49-F238E27FC236}">
                <a16:creationId xmlns:a16="http://schemas.microsoft.com/office/drawing/2014/main" id="{C8F2F481-06F7-0405-5DC6-CD13384898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57764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509515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Actualización de estatus del Plan de estudios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1FE5FE-3967-86A2-6B0E-C8A258CF0688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endParaRPr lang="es-ES_tradn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5E232D-D9D9-2A5F-D6CC-14645B6303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9389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656B045A-5FD4-41FA-32C9-4AAEC68E41F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</a:t>
            </a:r>
            <a:r>
              <a:rPr lang="es-ES_tradnl" b="1" dirty="0"/>
              <a:t>Mapa de capacidades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F34D93-D3FA-D7DE-B5EA-0551B59CC9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607" r="2974"/>
          <a:stretch>
            <a:fillRect/>
          </a:stretch>
        </p:blipFill>
        <p:spPr bwMode="auto">
          <a:xfrm>
            <a:off x="609601" y="1289303"/>
            <a:ext cx="11225781" cy="45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32CFE57-C9AD-6F0D-FDB5-37D6A9E0978B}"/>
              </a:ext>
            </a:extLst>
          </p:cNvPr>
          <p:cNvSpPr/>
          <p:nvPr/>
        </p:nvSpPr>
        <p:spPr>
          <a:xfrm>
            <a:off x="922020" y="2956764"/>
            <a:ext cx="2269236" cy="6217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761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s-ES_tradnl" dirty="0"/>
              <a:t>Overview: Procedimientos Gestionar Reingresos</a:t>
            </a: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B78F62D-4B77-445A-C7D5-D7E406951FE3}"/>
              </a:ext>
            </a:extLst>
          </p:cNvPr>
          <p:cNvSpPr txBox="1">
            <a:spLocks/>
          </p:cNvSpPr>
          <p:nvPr/>
        </p:nvSpPr>
        <p:spPr>
          <a:xfrm>
            <a:off x="1021773" y="1671782"/>
            <a:ext cx="8519392" cy="723946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9999"/>
              </a:buClr>
              <a:buFont typeface="Wingdings" panose="05000000000000000000" pitchFamily="2" charset="2"/>
              <a:buChar char="q"/>
            </a:pPr>
            <a:r>
              <a:rPr lang="es-CO" sz="2400" dirty="0">
                <a:solidFill>
                  <a:schemeClr val="tx1"/>
                </a:solidFill>
              </a:rPr>
              <a:t>Actualizar características del estudiante</a:t>
            </a:r>
          </a:p>
        </p:txBody>
      </p:sp>
    </p:spTree>
    <p:extLst>
      <p:ext uri="{BB962C8B-B14F-4D97-AF65-F5344CB8AC3E}">
        <p14:creationId xmlns:p14="http://schemas.microsoft.com/office/powerpoint/2010/main" val="160080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9530" y="1464283"/>
            <a:ext cx="10682493" cy="3546629"/>
          </a:xfrm>
        </p:spPr>
        <p:txBody>
          <a:bodyPr/>
          <a:lstStyle/>
          <a:p>
            <a:pPr algn="just">
              <a:buClr>
                <a:srgbClr val="009999"/>
              </a:buClr>
            </a:pPr>
            <a:r>
              <a:rPr lang="es-CO" sz="2200" dirty="0"/>
              <a:t>El proceso </a:t>
            </a:r>
            <a:r>
              <a:rPr lang="es-419" sz="2200" dirty="0"/>
              <a:t>como propósito para el reingreso de alumno:</a:t>
            </a:r>
          </a:p>
          <a:p>
            <a:pPr lvl="1" algn="just">
              <a:buClr>
                <a:srgbClr val="009999"/>
              </a:buClr>
            </a:pPr>
            <a:r>
              <a:rPr lang="es-419" sz="2200" dirty="0"/>
              <a:t>Por programa: Se actualizan los datos vinculados al plan de estudios o al programa, dónde se puede indicar que está inactivo, egresado, graduado, activo y de reingreso</a:t>
            </a:r>
          </a:p>
          <a:p>
            <a:pPr marL="174625" lvl="1" indent="-174625" algn="just">
              <a:spcBef>
                <a:spcPts val="1000"/>
              </a:spcBef>
              <a:buClr>
                <a:srgbClr val="009999"/>
              </a:buClr>
            </a:pPr>
            <a:r>
              <a:rPr lang="es-ES_tradnl" sz="2200" dirty="0"/>
              <a:t>Banner permite hacer el cambio de los reingresos sin perder la historia del alumno.</a:t>
            </a:r>
          </a:p>
          <a:p>
            <a:pPr marL="174625" lvl="1" indent="-174625" algn="just">
              <a:spcBef>
                <a:spcPts val="1000"/>
              </a:spcBef>
              <a:buClr>
                <a:srgbClr val="009999"/>
              </a:buClr>
            </a:pPr>
            <a:r>
              <a:rPr lang="es-ES_tradnl" sz="2200" dirty="0"/>
              <a:t>Se puede realizar el cambio de estado en el mismo periodo o en un periodo posterior.</a:t>
            </a:r>
          </a:p>
          <a:p>
            <a:pPr lvl="1" algn="just">
              <a:buClr>
                <a:srgbClr val="009999"/>
              </a:buClr>
            </a:pPr>
            <a:endParaRPr lang="es-419" sz="22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454844A-B37D-CF5D-8FA0-7D80890C0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565728"/>
            <a:ext cx="9987973" cy="898555"/>
          </a:xfrm>
        </p:spPr>
        <p:txBody>
          <a:bodyPr/>
          <a:lstStyle/>
          <a:p>
            <a:pPr algn="just"/>
            <a:r>
              <a:rPr lang="es-ES_tradnl" sz="3200" b="0" dirty="0">
                <a:solidFill>
                  <a:schemeClr val="tx2"/>
                </a:solidFill>
              </a:rPr>
              <a:t>Overview: </a:t>
            </a:r>
            <a:r>
              <a:rPr lang="es-ES" sz="3200" dirty="0"/>
              <a:t>Actualizar estado del estudiante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</a:t>
            </a:r>
            <a:r>
              <a:rPr lang="es-ES" sz="3200" dirty="0"/>
              <a:t>Actualizar estado del estudiante</a:t>
            </a:r>
            <a:endParaRPr lang="es-ES_tradnl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83025E-1804-5A3B-033A-9268818FA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102" y="1221676"/>
            <a:ext cx="6533542" cy="543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03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E1BB385-EBB9-AD98-896B-A427CE8D878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Región donde aplica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F9A8D2-DB8A-9348-9C89-4582AE2EB894}"/>
              </a:ext>
            </a:extLst>
          </p:cNvPr>
          <p:cNvSpPr txBox="1"/>
          <p:nvPr/>
        </p:nvSpPr>
        <p:spPr>
          <a:xfrm>
            <a:off x="8409273" y="3182780"/>
            <a:ext cx="153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Todo LAC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49036-5F52-9C35-ABD2-0A6D48228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75" y="1584355"/>
            <a:ext cx="5111496" cy="51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vertical 6">
            <a:extLst>
              <a:ext uri="{FF2B5EF4-FFF2-40B4-BE49-F238E27FC236}">
                <a16:creationId xmlns:a16="http://schemas.microsoft.com/office/drawing/2014/main" id="{65E15F8E-A762-29D9-5D7D-4F3EBDF5CFD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45874" y="131324"/>
            <a:ext cx="10477497" cy="898555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" sz="3200" dirty="0"/>
              <a:t>Actualizar estado del estudiante</a:t>
            </a:r>
            <a:endParaRPr lang="es-ES_tradnl" b="1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A32F4DF2-0309-4CE3-4E6F-B3C5D9805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362976"/>
              </p:ext>
            </p:extLst>
          </p:nvPr>
        </p:nvGraphicFramePr>
        <p:xfrm>
          <a:off x="964419" y="1220821"/>
          <a:ext cx="10819912" cy="4247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283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9555629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38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Concepto</a:t>
                      </a:r>
                      <a:endParaRPr lang="es-CO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Descripción</a:t>
                      </a:r>
                      <a:endParaRPr lang="es-CO" sz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5595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s-CO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Estatus de alumno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Los siguientes códigos de estatus de alumno pueden estar disponibles y aplican por persona.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Activo: Estudiante activo para la Institución</a:t>
                      </a:r>
                    </a:p>
                    <a:p>
                      <a:pPr marL="62230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Inactivo: Estudiante no activo para la institución – no permite inscripción en ningún plan de estudios</a:t>
                      </a:r>
                      <a:endParaRPr lang="es-CO" sz="1100" kern="12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3948937607"/>
                  </a:ext>
                </a:extLst>
              </a:tr>
              <a:tr h="4783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</a:rPr>
                        <a:t>Estado de Plan de estudios</a:t>
                      </a:r>
                      <a:endParaRPr lang="es-CO" sz="1200" b="1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419" sz="1200" dirty="0">
                          <a:effectLst/>
                        </a:rPr>
                        <a:t>Se decide contemplar los siguientes estatus para los planes de estudios: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b="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Activo</a:t>
                      </a: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: El estudiante está vigente en el Plan de estudios  y permite inscribir cursos asociados al mismo.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b="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Inactivo</a:t>
                      </a: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: El estudiante deja de estar activo en el Plan de estudios y no permite inscripción de cursos asociados al mismo.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b="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Reserva de cupo: </a:t>
                      </a: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Se asigna cuando un estudiante, admitido en el programa, solicita reserva de cupo. No permite inscripción en el plan de estudios.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b="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Retiro voluntario: </a:t>
                      </a: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se asigna cuando un estudiante solicita retiro definitivo del Plan de estudios a partir de un período determinado. No permite inscripción en el plan de estudios.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Egresado no graduado: Se asigna a aquellos estudiantes que hayan finalizado su plan de estudios, pero no se han graduado. No permite inscripción en el plan de estudios.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Graduado: Se asigna a aquellos estudiantes que se gradúan en el programa. No permite inscripción en el plan de estudios.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Suspendido: se aplica solo a estudiantes que comenten una falta disciplinaria y cuya suspensión es por un tiempo determinado. No permite inscripción en el plan de estudios.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Expulsado: se aplica a estudiantes que comenten una falta disciplinaria y cuya suspensión es definitiva de la carrera o de la Universidad. No permite inscripción en el plan de estudios.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Intercambio: Se asigna a aquellos estudiantes que se van (saliente) o vienen (entrante) de intercambio. Permite inscripción de cursos en el plan de estudios.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Doble título: Se aplica para los estudiantes que el último año salen a concluir sus estudios al extranjero para obtener la doble titulación. Permite inscripción de cursos en el plan de estudios.</a:t>
                      </a:r>
                    </a:p>
                    <a:p>
                      <a:pPr marL="622300" lvl="0" indent="-285750" algn="just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419" sz="1100" b="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Reintegro</a:t>
                      </a:r>
                      <a:r>
                        <a:rPr lang="es-419" sz="1100" kern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: Se aplica a un estudiante que estuvo inactivo o con reserva de cupo por ejemplo, decide regresar a estudiar el mismo programa.</a:t>
                      </a: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594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948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01964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F0494C-E130-C3A4-13DF-212264702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92" y="1457021"/>
            <a:ext cx="10954512" cy="471517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Configuraciones: Tipo de estudiante</a:t>
            </a:r>
            <a:endParaRPr lang="es-ES_tradnl" b="1" dirty="0"/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3A0FC5B4-D227-08C0-77D9-3EE7C845D2F0}"/>
              </a:ext>
            </a:extLst>
          </p:cNvPr>
          <p:cNvSpPr/>
          <p:nvPr/>
        </p:nvSpPr>
        <p:spPr>
          <a:xfrm>
            <a:off x="3299482" y="4227821"/>
            <a:ext cx="5114944" cy="39904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En STVSTYP están definidos los tipos de alumno</a:t>
            </a:r>
          </a:p>
        </p:txBody>
      </p:sp>
    </p:spTree>
    <p:extLst>
      <p:ext uri="{BB962C8B-B14F-4D97-AF65-F5344CB8AC3E}">
        <p14:creationId xmlns:p14="http://schemas.microsoft.com/office/powerpoint/2010/main" val="189178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D8140E-5967-FFF5-D40F-9B479767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88" y="1387850"/>
            <a:ext cx="10789920" cy="464995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Configuraciones: Estatus del estudiante</a:t>
            </a:r>
            <a:endParaRPr lang="es-ES_tradnl" b="1" dirty="0"/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3A0FC5B4-D227-08C0-77D9-3EE7C845D2F0}"/>
              </a:ext>
            </a:extLst>
          </p:cNvPr>
          <p:cNvSpPr/>
          <p:nvPr/>
        </p:nvSpPr>
        <p:spPr>
          <a:xfrm>
            <a:off x="4009601" y="4654296"/>
            <a:ext cx="3908714" cy="476001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En STVSTST están definidos los status de estudiante</a:t>
            </a:r>
          </a:p>
        </p:txBody>
      </p:sp>
    </p:spTree>
    <p:extLst>
      <p:ext uri="{BB962C8B-B14F-4D97-AF65-F5344CB8AC3E}">
        <p14:creationId xmlns:p14="http://schemas.microsoft.com/office/powerpoint/2010/main" val="2638914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78A000-8BB7-F2F0-2739-4453AC85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584355"/>
            <a:ext cx="10232136" cy="438138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Configuraciones: Estatus del Plan de estudios</a:t>
            </a:r>
            <a:endParaRPr lang="es-ES_tradnl" b="1" dirty="0"/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3A0FC5B4-D227-08C0-77D9-3EE7C845D2F0}"/>
              </a:ext>
            </a:extLst>
          </p:cNvPr>
          <p:cNvSpPr/>
          <p:nvPr/>
        </p:nvSpPr>
        <p:spPr>
          <a:xfrm>
            <a:off x="4149878" y="4350101"/>
            <a:ext cx="4142179" cy="61158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En STVSTSP están configurados los estatus de plan de estudio</a:t>
            </a:r>
          </a:p>
        </p:txBody>
      </p:sp>
    </p:spTree>
    <p:extLst>
      <p:ext uri="{BB962C8B-B14F-4D97-AF65-F5344CB8AC3E}">
        <p14:creationId xmlns:p14="http://schemas.microsoft.com/office/powerpoint/2010/main" val="2606422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1800808"/>
            <a:ext cx="10608564" cy="1628192"/>
          </a:xfrm>
        </p:spPr>
        <p:txBody>
          <a:bodyPr/>
          <a:lstStyle/>
          <a:p>
            <a:r>
              <a:rPr lang="es-419" dirty="0"/>
              <a:t>Reintegro general del estudiante (nivel institucional)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0" tIns="0" rIns="91440" bIns="45720" rtlCol="0" anchor="t">
            <a:noAutofit/>
          </a:bodyPr>
          <a:lstStyle/>
          <a:p>
            <a:r>
              <a:rPr lang="es-419" dirty="0"/>
              <a:t>El reintegro normalmente </a:t>
            </a:r>
            <a:r>
              <a:rPr lang="es-419" b="1" dirty="0"/>
              <a:t>NO empieza en SGASTDN</a:t>
            </a:r>
            <a:r>
              <a:rPr lang="es-419" dirty="0"/>
              <a:t>, sino en el proceso de admisión/readmisión:</a:t>
            </a:r>
            <a:endParaRPr lang="es-419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129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7CE11D-6B09-A29C-29AA-BEE6D274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76" y="1254125"/>
            <a:ext cx="10213848" cy="484066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71399" y="243212"/>
            <a:ext cx="10477497" cy="898555"/>
          </a:xfrm>
        </p:spPr>
        <p:txBody>
          <a:bodyPr/>
          <a:lstStyle/>
          <a:p>
            <a:r>
              <a:rPr lang="es-419" dirty="0"/>
              <a:t>Reintegro general del estudiante en nuevo programa: SGASTDN</a:t>
            </a:r>
            <a:endParaRPr lang="es-ES_tradnl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BD0C305-DCAF-CA73-97D4-9E401D3B3C65}"/>
              </a:ext>
            </a:extLst>
          </p:cNvPr>
          <p:cNvSpPr/>
          <p:nvPr/>
        </p:nvSpPr>
        <p:spPr>
          <a:xfrm>
            <a:off x="850389" y="5156580"/>
            <a:ext cx="10477498" cy="68643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L" sz="1100" dirty="0"/>
              <a:t>En la pestaña </a:t>
            </a:r>
            <a:r>
              <a:rPr lang="es-CL" sz="1100" b="1" dirty="0"/>
              <a:t>Plan de estudios </a:t>
            </a:r>
            <a:r>
              <a:rPr lang="es-CL" sz="1100" dirty="0"/>
              <a:t>se observa que el </a:t>
            </a:r>
            <a:r>
              <a:rPr lang="es-CL" sz="1100" b="1" dirty="0"/>
              <a:t>estatus de plan de estudio </a:t>
            </a:r>
            <a:r>
              <a:rPr lang="es-CL" sz="1100" dirty="0"/>
              <a:t>es inactivo.</a:t>
            </a:r>
          </a:p>
        </p:txBody>
      </p:sp>
    </p:spTree>
    <p:extLst>
      <p:ext uri="{BB962C8B-B14F-4D97-AF65-F5344CB8AC3E}">
        <p14:creationId xmlns:p14="http://schemas.microsoft.com/office/powerpoint/2010/main" val="189391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610222-D7D0-C387-9AE4-79FB4F9BF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75" y="1163651"/>
            <a:ext cx="10908792" cy="469226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170" y="228921"/>
            <a:ext cx="10477497" cy="898555"/>
          </a:xfrm>
        </p:spPr>
        <p:txBody>
          <a:bodyPr/>
          <a:lstStyle/>
          <a:p>
            <a:r>
              <a:rPr lang="es-419" dirty="0"/>
              <a:t>Crear una nueva aplicación de readmisión</a:t>
            </a:r>
            <a:endParaRPr lang="es-ES_tradnl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8723AA2-4447-A930-A657-B1BB7E69AD25}"/>
              </a:ext>
            </a:extLst>
          </p:cNvPr>
          <p:cNvSpPr txBox="1"/>
          <p:nvPr/>
        </p:nvSpPr>
        <p:spPr>
          <a:xfrm>
            <a:off x="409957" y="1915107"/>
            <a:ext cx="246151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B280EB1-BFE6-DA11-FD3B-ACB1D8A0E1EF}"/>
              </a:ext>
            </a:extLst>
          </p:cNvPr>
          <p:cNvSpPr/>
          <p:nvPr/>
        </p:nvSpPr>
        <p:spPr>
          <a:xfrm>
            <a:off x="609601" y="4415734"/>
            <a:ext cx="10121654" cy="80924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buAutoNum type="arabicPeriod"/>
            </a:pPr>
            <a:r>
              <a:rPr lang="es-ES_tradnl" sz="1100" dirty="0"/>
              <a:t>Desde la pestaña Aplicación registrar la información admisión del nuevo programa del estudiante.</a:t>
            </a:r>
          </a:p>
          <a:p>
            <a:pPr marL="228600" indent="-228600" algn="just">
              <a:buAutoNum type="arabicPeriod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11" name="CuadroTexto 5">
            <a:extLst>
              <a:ext uri="{FF2B5EF4-FFF2-40B4-BE49-F238E27FC236}">
                <a16:creationId xmlns:a16="http://schemas.microsoft.com/office/drawing/2014/main" id="{C3105309-9FA6-0D2D-15F4-BB6A8478400C}"/>
              </a:ext>
            </a:extLst>
          </p:cNvPr>
          <p:cNvSpPr txBox="1"/>
          <p:nvPr/>
        </p:nvSpPr>
        <p:spPr>
          <a:xfrm>
            <a:off x="10840213" y="5586627"/>
            <a:ext cx="246151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925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452AEC-20DC-6D13-2E2A-DAC7E986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996696"/>
            <a:ext cx="10577124" cy="500731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Asignar decisión de admisión</a:t>
            </a:r>
            <a:endParaRPr lang="es-ES_tradnl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91EE8AE-0A32-7398-33D2-84C10FB41808}"/>
              </a:ext>
            </a:extLst>
          </p:cNvPr>
          <p:cNvSpPr/>
          <p:nvPr/>
        </p:nvSpPr>
        <p:spPr>
          <a:xfrm>
            <a:off x="889648" y="4428564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3. Asignar la decisión de admisión significativa en </a:t>
            </a:r>
            <a:r>
              <a:rPr lang="es-419" sz="1100" b="1" dirty="0"/>
              <a:t>Código de decisión</a:t>
            </a:r>
          </a:p>
          <a:p>
            <a:pPr algn="just"/>
            <a:r>
              <a:rPr lang="es-ES_tradnl" sz="1100" dirty="0"/>
              <a:t>4. Hacer clic en el botón </a:t>
            </a:r>
            <a:r>
              <a:rPr lang="es-ES_tradnl" sz="1100" b="1" dirty="0"/>
              <a:t>Guardar</a:t>
            </a:r>
            <a:endParaRPr lang="es-CL" sz="1100" b="1" dirty="0"/>
          </a:p>
          <a:p>
            <a:pPr algn="just"/>
            <a:endParaRPr lang="es-419" sz="1100" dirty="0"/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AE5684F0-22AA-5360-1CE6-18251B95D136}"/>
              </a:ext>
            </a:extLst>
          </p:cNvPr>
          <p:cNvSpPr txBox="1"/>
          <p:nvPr/>
        </p:nvSpPr>
        <p:spPr>
          <a:xfrm>
            <a:off x="643497" y="3922419"/>
            <a:ext cx="246151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" name="CuadroTexto 5">
            <a:extLst>
              <a:ext uri="{FF2B5EF4-FFF2-40B4-BE49-F238E27FC236}">
                <a16:creationId xmlns:a16="http://schemas.microsoft.com/office/drawing/2014/main" id="{47F161A7-5466-32C9-35AA-0282E332E06A}"/>
              </a:ext>
            </a:extLst>
          </p:cNvPr>
          <p:cNvSpPr txBox="1"/>
          <p:nvPr/>
        </p:nvSpPr>
        <p:spPr>
          <a:xfrm>
            <a:off x="10748773" y="5740465"/>
            <a:ext cx="246151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170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AB0511-C314-F027-C116-899EBB615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90" y="1005213"/>
            <a:ext cx="10222515" cy="484757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Validar información en SGASTDN</a:t>
            </a:r>
            <a:endParaRPr lang="es-ES_tradnl" b="1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80F95CB-DC85-8FD6-6A90-E747E87DDEED}"/>
              </a:ext>
            </a:extLst>
          </p:cNvPr>
          <p:cNvSpPr/>
          <p:nvPr/>
        </p:nvSpPr>
        <p:spPr>
          <a:xfrm>
            <a:off x="1492013" y="4883286"/>
            <a:ext cx="10121654" cy="64883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b="1" dirty="0"/>
              <a:t>En la pestaña de estudiante:</a:t>
            </a:r>
          </a:p>
          <a:p>
            <a:pPr algn="just"/>
            <a:r>
              <a:rPr lang="es-419" sz="1100" dirty="0"/>
              <a:t>Se verá el periodo nuevo en el cual se realizó admisión al nuevo programa.</a:t>
            </a:r>
          </a:p>
        </p:txBody>
      </p:sp>
    </p:spTree>
    <p:extLst>
      <p:ext uri="{BB962C8B-B14F-4D97-AF65-F5344CB8AC3E}">
        <p14:creationId xmlns:p14="http://schemas.microsoft.com/office/powerpoint/2010/main" val="897278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15ED4D-8494-F054-588D-6A8684EFE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7" y="808651"/>
            <a:ext cx="10401041" cy="492652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186332"/>
            <a:ext cx="10477497" cy="898555"/>
          </a:xfrm>
        </p:spPr>
        <p:txBody>
          <a:bodyPr/>
          <a:lstStyle/>
          <a:p>
            <a:r>
              <a:rPr lang="es-419" dirty="0"/>
              <a:t>Validar información en SGASTDN</a:t>
            </a:r>
            <a:endParaRPr lang="es-ES_tradnl" b="1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0CFB7A6-01CB-D415-57BE-40D1D80A33CD}"/>
              </a:ext>
            </a:extLst>
          </p:cNvPr>
          <p:cNvSpPr/>
          <p:nvPr/>
        </p:nvSpPr>
        <p:spPr>
          <a:xfrm>
            <a:off x="975597" y="5170713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419" sz="1100" b="1" dirty="0"/>
              <a:t>En la pestaña de Currículos</a:t>
            </a:r>
          </a:p>
          <a:p>
            <a:pPr algn="just"/>
            <a:r>
              <a:rPr lang="es-419" sz="1100" dirty="0"/>
              <a:t>Se observa la información del nuevo programa Actual y Activo para el periodo correspondiente</a:t>
            </a:r>
          </a:p>
        </p:txBody>
      </p:sp>
    </p:spTree>
    <p:extLst>
      <p:ext uri="{BB962C8B-B14F-4D97-AF65-F5344CB8AC3E}">
        <p14:creationId xmlns:p14="http://schemas.microsoft.com/office/powerpoint/2010/main" val="2573016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B3C0A-8B8B-EDC3-3601-50E48930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350DFD-587C-2016-180F-BD0980450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830110"/>
            <a:ext cx="11247120" cy="534208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9B70D6-484F-C6BC-F101-47B647FCCD9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4DC07FF-BAD8-6C61-3317-942BDDB0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86332"/>
            <a:ext cx="10477497" cy="898555"/>
          </a:xfrm>
        </p:spPr>
        <p:txBody>
          <a:bodyPr/>
          <a:lstStyle/>
          <a:p>
            <a:r>
              <a:rPr lang="es-419" dirty="0"/>
              <a:t>Validar información en SGASTDN</a:t>
            </a:r>
            <a:endParaRPr lang="es-ES_tradnl" b="1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B7753E5-35B9-ED2F-483D-F6EE514FBC1F}"/>
              </a:ext>
            </a:extLst>
          </p:cNvPr>
          <p:cNvSpPr/>
          <p:nvPr/>
        </p:nvSpPr>
        <p:spPr>
          <a:xfrm>
            <a:off x="1039605" y="5170713"/>
            <a:ext cx="10886057" cy="75459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419" sz="1100" b="1" dirty="0"/>
              <a:t>En la pestaña de Plan de estudios</a:t>
            </a:r>
          </a:p>
          <a:p>
            <a:pPr algn="just"/>
            <a:r>
              <a:rPr lang="es-419" sz="1100" dirty="0"/>
              <a:t>Se observa el estatus de plan de estudio para el programa nuevo que corresponde al reingreso.</a:t>
            </a:r>
          </a:p>
          <a:p>
            <a:pPr algn="just"/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1525808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FDF0-6981-BF59-1B22-DE5564ED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2FB3B7-D39C-DA48-D6E8-6832DDD16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82" y="803771"/>
            <a:ext cx="11012731" cy="52504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A58A14-ADAA-0B18-D574-2CB0D24438D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51CE85E1-60E5-3F66-6EE2-24EE4417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86332"/>
            <a:ext cx="10477497" cy="898555"/>
          </a:xfrm>
        </p:spPr>
        <p:txBody>
          <a:bodyPr/>
          <a:lstStyle/>
          <a:p>
            <a:r>
              <a:rPr lang="es-419" dirty="0"/>
              <a:t>Anterior plan de estudios SGASTDN</a:t>
            </a:r>
            <a:endParaRPr lang="es-ES_tradnl" b="1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87532A4-C285-59D4-8AC4-A4EF7073746C}"/>
              </a:ext>
            </a:extLst>
          </p:cNvPr>
          <p:cNvSpPr/>
          <p:nvPr/>
        </p:nvSpPr>
        <p:spPr>
          <a:xfrm>
            <a:off x="1039605" y="5170713"/>
            <a:ext cx="10886057" cy="88351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419" sz="1100" b="1" dirty="0"/>
              <a:t>En la pestaña de Plan de estudios</a:t>
            </a:r>
          </a:p>
          <a:p>
            <a:pPr algn="just"/>
            <a:r>
              <a:rPr lang="es-419" sz="1100" dirty="0"/>
              <a:t>Navegando por los registros históricos se observa el registro con Estatus de plan de estudios Inactivo para el programa inicial del estudiante.</a:t>
            </a:r>
          </a:p>
        </p:txBody>
      </p:sp>
    </p:spTree>
    <p:extLst>
      <p:ext uri="{BB962C8B-B14F-4D97-AF65-F5344CB8AC3E}">
        <p14:creationId xmlns:p14="http://schemas.microsoft.com/office/powerpoint/2010/main" val="450469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Manejo del plan de estudio en SGASTDN (clave para el reintegro)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Escenario más común (reintegro al mismo programa)</a:t>
            </a:r>
          </a:p>
        </p:txBody>
      </p:sp>
    </p:spTree>
    <p:extLst>
      <p:ext uri="{BB962C8B-B14F-4D97-AF65-F5344CB8AC3E}">
        <p14:creationId xmlns:p14="http://schemas.microsoft.com/office/powerpoint/2010/main" val="2207035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CDB078-0D1E-41FB-F629-18844442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30004"/>
            <a:ext cx="10293664" cy="491069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43810" y="223641"/>
            <a:ext cx="10477497" cy="898555"/>
          </a:xfrm>
        </p:spPr>
        <p:txBody>
          <a:bodyPr/>
          <a:lstStyle/>
          <a:p>
            <a:r>
              <a:rPr lang="es-419" dirty="0"/>
              <a:t>Reintegro en el mismo programa a nivel de plan de estudio: SGASTDN</a:t>
            </a:r>
            <a:endParaRPr lang="es-ES_tradnl" b="1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AC1AA1B-D006-B8AD-BF85-7B34A499843A}"/>
              </a:ext>
            </a:extLst>
          </p:cNvPr>
          <p:cNvSpPr/>
          <p:nvPr/>
        </p:nvSpPr>
        <p:spPr>
          <a:xfrm>
            <a:off x="1536189" y="3172649"/>
            <a:ext cx="5586988" cy="51270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A continuación, se observa un estatus de plan de estudio inactivo para el periodo</a:t>
            </a:r>
          </a:p>
        </p:txBody>
      </p:sp>
    </p:spTree>
    <p:extLst>
      <p:ext uri="{BB962C8B-B14F-4D97-AF65-F5344CB8AC3E}">
        <p14:creationId xmlns:p14="http://schemas.microsoft.com/office/powerpoint/2010/main" val="761028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BBE0FC-C090-F498-6CC9-620880941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205" y="1339460"/>
            <a:ext cx="10163589" cy="483273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Reintegro en el mismo programa a nivel de plan de estudio: SGASTDN</a:t>
            </a:r>
            <a:endParaRPr lang="es-ES_tradn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27064F-936A-6E6E-0A53-07AFE68238A3}"/>
              </a:ext>
            </a:extLst>
          </p:cNvPr>
          <p:cNvSpPr txBox="1"/>
          <p:nvPr/>
        </p:nvSpPr>
        <p:spPr>
          <a:xfrm>
            <a:off x="1123189" y="1752966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B7D466C-077B-C40D-8936-11C92C8B252A}"/>
              </a:ext>
            </a:extLst>
          </p:cNvPr>
          <p:cNvSpPr txBox="1"/>
          <p:nvPr/>
        </p:nvSpPr>
        <p:spPr>
          <a:xfrm>
            <a:off x="10621724" y="1806268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0BABC7D-D80B-0EE1-FF98-2EB80E057024}"/>
              </a:ext>
            </a:extLst>
          </p:cNvPr>
          <p:cNvSpPr/>
          <p:nvPr/>
        </p:nvSpPr>
        <p:spPr>
          <a:xfrm>
            <a:off x="850388" y="5156580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B73BCB-ABEB-F4FD-1BEB-11B0327BB843}"/>
              </a:ext>
            </a:extLst>
          </p:cNvPr>
          <p:cNvSpPr txBox="1"/>
          <p:nvPr/>
        </p:nvSpPr>
        <p:spPr>
          <a:xfrm>
            <a:off x="3389783" y="1860688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321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CD82508-5698-5F52-D3BF-A620A7259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04" y="1420769"/>
            <a:ext cx="9765792" cy="463849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Reintegro en el mismo programa a nivel de plan de estudio: SGASTDN</a:t>
            </a:r>
            <a:endParaRPr lang="es-ES_tradnl" b="1" dirty="0"/>
          </a:p>
        </p:txBody>
      </p:sp>
      <p:sp>
        <p:nvSpPr>
          <p:cNvPr id="11" name="Rectángulo: esquinas redondeadas 16">
            <a:extLst>
              <a:ext uri="{FF2B5EF4-FFF2-40B4-BE49-F238E27FC236}">
                <a16:creationId xmlns:a16="http://schemas.microsoft.com/office/drawing/2014/main" id="{C389508E-3021-E502-88AB-970C216F3A15}"/>
              </a:ext>
            </a:extLst>
          </p:cNvPr>
          <p:cNvSpPr/>
          <p:nvPr/>
        </p:nvSpPr>
        <p:spPr>
          <a:xfrm>
            <a:off x="827522" y="4381027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b="1" dirty="0"/>
              <a:t>En la pestaña de estudiante:</a:t>
            </a:r>
          </a:p>
          <a:p>
            <a:pPr algn="just"/>
            <a:endParaRPr lang="es-419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el botón … de periodo nuevo.</a:t>
            </a:r>
            <a:endParaRPr lang="es-ES_tradnl" sz="1100" b="1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419" sz="1100" dirty="0"/>
              <a:t>Seleccionar   </a:t>
            </a:r>
            <a:r>
              <a:rPr lang="es-419" sz="1100" b="1" dirty="0"/>
              <a:t>Crear nuevo periodo de vigencia</a:t>
            </a:r>
            <a:r>
              <a:rPr lang="es-419" sz="1100" dirty="0"/>
              <a:t> para el cual actualizará el reingreso del estudiante al plan de estudio.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BD73A913-9C3F-9925-7CC6-F883973B7DFE}"/>
              </a:ext>
            </a:extLst>
          </p:cNvPr>
          <p:cNvSpPr txBox="1"/>
          <p:nvPr/>
        </p:nvSpPr>
        <p:spPr>
          <a:xfrm>
            <a:off x="2311909" y="2201022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4D974E-EE49-8955-3BC9-5EE70D61D415}"/>
              </a:ext>
            </a:extLst>
          </p:cNvPr>
          <p:cNvSpPr txBox="1"/>
          <p:nvPr/>
        </p:nvSpPr>
        <p:spPr>
          <a:xfrm>
            <a:off x="6478525" y="3766546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26CBF529-9621-7DDE-FCFB-F0DBA58B9D96}"/>
              </a:ext>
            </a:extLst>
          </p:cNvPr>
          <p:cNvSpPr txBox="1"/>
          <p:nvPr/>
        </p:nvSpPr>
        <p:spPr>
          <a:xfrm>
            <a:off x="10325101" y="5793307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70834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6BDD93-7B4C-03EC-E549-C4C4869E8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22" y="1343092"/>
            <a:ext cx="10360156" cy="494241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Reintegro en el mismo programa a nivel de plan de estudio: SGASTDN</a:t>
            </a:r>
            <a:endParaRPr lang="es-ES_tradnl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D1AFF01-1823-C880-4398-F0D0418CE183}"/>
              </a:ext>
            </a:extLst>
          </p:cNvPr>
          <p:cNvSpPr/>
          <p:nvPr/>
        </p:nvSpPr>
        <p:spPr>
          <a:xfrm>
            <a:off x="850388" y="5156580"/>
            <a:ext cx="10886057" cy="55842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Se genera el mensaje de confirmación del registro del periodo nuevo.</a:t>
            </a:r>
          </a:p>
        </p:txBody>
      </p:sp>
    </p:spTree>
    <p:extLst>
      <p:ext uri="{BB962C8B-B14F-4D97-AF65-F5344CB8AC3E}">
        <p14:creationId xmlns:p14="http://schemas.microsoft.com/office/powerpoint/2010/main" val="4290375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37D1A-E9DC-473D-BD95-5C5995959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316736"/>
            <a:ext cx="10396442" cy="495171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Reintegro en el mismo programa a nivel de plan de estudio: SGASTDN</a:t>
            </a:r>
            <a:endParaRPr lang="es-ES_tradnl" b="1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BF7732E-F601-45FB-BF99-2118FF2EDB9D}"/>
              </a:ext>
            </a:extLst>
          </p:cNvPr>
          <p:cNvSpPr/>
          <p:nvPr/>
        </p:nvSpPr>
        <p:spPr>
          <a:xfrm>
            <a:off x="1334996" y="495792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7"/>
            </a:pPr>
            <a:r>
              <a:rPr lang="es-ES_tradnl" sz="1100" dirty="0"/>
              <a:t>Hacer clic sobre ella pestaña </a:t>
            </a:r>
            <a:r>
              <a:rPr lang="es-ES_tradnl" sz="1100" b="1" dirty="0"/>
              <a:t>Currículum</a:t>
            </a:r>
          </a:p>
          <a:p>
            <a:pPr marL="342900" indent="-342900" algn="just">
              <a:buFont typeface="+mj-lt"/>
              <a:buAutoNum type="arabicPeriod" startAt="7"/>
            </a:pPr>
            <a:r>
              <a:rPr lang="es-419" sz="1100" dirty="0"/>
              <a:t>Hacer clic sobre el botón </a:t>
            </a:r>
            <a:r>
              <a:rPr lang="es-419" sz="1100" b="1" dirty="0"/>
              <a:t>Actualizar</a:t>
            </a:r>
            <a:endParaRPr lang="es-419" sz="1100" dirty="0"/>
          </a:p>
          <a:p>
            <a:pPr marL="342900" indent="-342900" algn="just">
              <a:buFont typeface="+mj-lt"/>
              <a:buAutoNum type="arabicPeriod" startAt="7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b="1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09E5D548-BE2B-A241-1077-7326AB26BD5E}"/>
              </a:ext>
            </a:extLst>
          </p:cNvPr>
          <p:cNvSpPr txBox="1"/>
          <p:nvPr/>
        </p:nvSpPr>
        <p:spPr>
          <a:xfrm>
            <a:off x="1784605" y="1792354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CB3410-D200-328E-8294-3FB58C60E278}"/>
              </a:ext>
            </a:extLst>
          </p:cNvPr>
          <p:cNvSpPr txBox="1"/>
          <p:nvPr/>
        </p:nvSpPr>
        <p:spPr>
          <a:xfrm>
            <a:off x="1784605" y="2497822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798765A0-EA75-8795-973E-ADB1407D3F30}"/>
              </a:ext>
            </a:extLst>
          </p:cNvPr>
          <p:cNvSpPr txBox="1"/>
          <p:nvPr/>
        </p:nvSpPr>
        <p:spPr>
          <a:xfrm>
            <a:off x="10876588" y="6051661"/>
            <a:ext cx="21051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97911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E19059-E675-5EB1-10D5-A095C5D5E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05" y="1480239"/>
            <a:ext cx="10101791" cy="481939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Reintegro en el mismo programa a nivel de plan de estudio: SGASTDN</a:t>
            </a:r>
            <a:endParaRPr lang="es-ES_tradnl" b="1" dirty="0"/>
          </a:p>
        </p:txBody>
      </p:sp>
      <p:sp>
        <p:nvSpPr>
          <p:cNvPr id="7" name="Rectángulo: esquinas redondeadas 5">
            <a:extLst>
              <a:ext uri="{FF2B5EF4-FFF2-40B4-BE49-F238E27FC236}">
                <a16:creationId xmlns:a16="http://schemas.microsoft.com/office/drawing/2014/main" id="{1257E69C-5C39-9BEF-FE5A-BF5002F2D0A9}"/>
              </a:ext>
            </a:extLst>
          </p:cNvPr>
          <p:cNvSpPr/>
          <p:nvPr/>
        </p:nvSpPr>
        <p:spPr>
          <a:xfrm>
            <a:off x="1334996" y="4957924"/>
            <a:ext cx="10121654" cy="60162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Al Actualizar, automáticamente se crea un nuevo registro para el programa en el período ingresado en la Pestaña Estudiante.</a:t>
            </a:r>
          </a:p>
          <a:p>
            <a:pPr algn="just"/>
            <a:endParaRPr lang="es-419" sz="1100" dirty="0"/>
          </a:p>
        </p:txBody>
      </p:sp>
    </p:spTree>
    <p:extLst>
      <p:ext uri="{BB962C8B-B14F-4D97-AF65-F5344CB8AC3E}">
        <p14:creationId xmlns:p14="http://schemas.microsoft.com/office/powerpoint/2010/main" val="2562645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5653A9-6ED9-9875-9B78-19776E4F8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54" y="1515286"/>
            <a:ext cx="9819901" cy="465691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Reintegro en el mismo programa a nivel de plan de estudio: SGASTDN</a:t>
            </a:r>
            <a:endParaRPr lang="es-ES_tradnl" b="1" dirty="0"/>
          </a:p>
        </p:txBody>
      </p:sp>
      <p:sp>
        <p:nvSpPr>
          <p:cNvPr id="16" name="Rectángulo: esquinas redondeadas 22">
            <a:extLst>
              <a:ext uri="{FF2B5EF4-FFF2-40B4-BE49-F238E27FC236}">
                <a16:creationId xmlns:a16="http://schemas.microsoft.com/office/drawing/2014/main" id="{C85D0F8F-98CF-2D01-4C26-13B3B2CDF379}"/>
              </a:ext>
            </a:extLst>
          </p:cNvPr>
          <p:cNvSpPr/>
          <p:nvPr/>
        </p:nvSpPr>
        <p:spPr>
          <a:xfrm>
            <a:off x="1104092" y="4652182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10. Hacer clic sobre ella pestaña </a:t>
            </a:r>
            <a:r>
              <a:rPr lang="es-ES_tradnl" sz="1100" b="1" dirty="0"/>
              <a:t>Plan de estudios</a:t>
            </a:r>
          </a:p>
          <a:p>
            <a:pPr algn="just"/>
            <a:r>
              <a:rPr lang="es-419" sz="1100" dirty="0"/>
              <a:t>Automáticamente se ha creado un nuevo registro para el plan de estudios al haber actualizado el currículum del estudiante</a:t>
            </a:r>
          </a:p>
          <a:p>
            <a:pPr algn="just"/>
            <a:r>
              <a:rPr lang="es-ES_tradnl" sz="1100" dirty="0"/>
              <a:t>11. Seleccionar  o digitar el nuevo código del </a:t>
            </a:r>
            <a:r>
              <a:rPr lang="es-ES_tradnl" sz="1100" b="1" dirty="0"/>
              <a:t>estatus</a:t>
            </a:r>
            <a:r>
              <a:rPr lang="es-ES_tradnl" sz="1100" dirty="0"/>
              <a:t> de plan de estudios</a:t>
            </a:r>
          </a:p>
          <a:p>
            <a:pPr marL="342900" indent="-342900" algn="just">
              <a:buFont typeface="+mj-lt"/>
              <a:buAutoNum type="arabicPeriod" startAt="12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b="1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A75D8993-B4D8-2E16-27DA-41CB5A4C7C25}"/>
              </a:ext>
            </a:extLst>
          </p:cNvPr>
          <p:cNvSpPr txBox="1"/>
          <p:nvPr/>
        </p:nvSpPr>
        <p:spPr>
          <a:xfrm>
            <a:off x="1911096" y="1918573"/>
            <a:ext cx="298364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414E92-624A-3F5D-1329-979A7D939BD5}"/>
              </a:ext>
            </a:extLst>
          </p:cNvPr>
          <p:cNvSpPr txBox="1"/>
          <p:nvPr/>
        </p:nvSpPr>
        <p:spPr>
          <a:xfrm>
            <a:off x="5577840" y="2519029"/>
            <a:ext cx="298364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A6DC2BF-9B18-A23C-E247-B08AFE085E29}"/>
              </a:ext>
            </a:extLst>
          </p:cNvPr>
          <p:cNvSpPr txBox="1"/>
          <p:nvPr/>
        </p:nvSpPr>
        <p:spPr>
          <a:xfrm>
            <a:off x="10088880" y="5940472"/>
            <a:ext cx="298364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1194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420D4-57E6-3699-5C8A-1C9E4252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5F2571-4B30-904D-B986-3082BDF558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62"/>
          <a:stretch>
            <a:fillRect/>
          </a:stretch>
        </p:blipFill>
        <p:spPr>
          <a:xfrm>
            <a:off x="1027436" y="1370482"/>
            <a:ext cx="10186416" cy="447253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C2864E-FCD4-BE63-3112-0D6E060794D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C037F8-3BE8-C066-0597-EB3C384D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Reintegro en el mismo programa a nivel de plan de estudio: SGASTDN</a:t>
            </a:r>
            <a:endParaRPr lang="es-ES_tradnl" b="1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9D3F666-E1A9-2A4B-57B6-BADA7DC239DA}"/>
              </a:ext>
            </a:extLst>
          </p:cNvPr>
          <p:cNvSpPr/>
          <p:nvPr/>
        </p:nvSpPr>
        <p:spPr>
          <a:xfrm>
            <a:off x="1104900" y="5487518"/>
            <a:ext cx="10121654" cy="35549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L" sz="1100" dirty="0"/>
              <a:t>Se observa el estatus de plan de estudio RE- Reingreso vigente</a:t>
            </a:r>
          </a:p>
        </p:txBody>
      </p:sp>
    </p:spTree>
    <p:extLst>
      <p:ext uri="{BB962C8B-B14F-4D97-AF65-F5344CB8AC3E}">
        <p14:creationId xmlns:p14="http://schemas.microsoft.com/office/powerpoint/2010/main" val="19406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Cambio de programa en el reintegro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El estudiante ya no estará activo en un programa, sino en uno nuevo.</a:t>
            </a:r>
          </a:p>
        </p:txBody>
      </p:sp>
    </p:spTree>
    <p:extLst>
      <p:ext uri="{BB962C8B-B14F-4D97-AF65-F5344CB8AC3E}">
        <p14:creationId xmlns:p14="http://schemas.microsoft.com/office/powerpoint/2010/main" val="3760186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655B4F-6FFD-ECC7-8D1C-3373AC5CF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250747"/>
            <a:ext cx="10909203" cy="468834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1E0158-183F-35E7-488B-97C804A80F0F}"/>
              </a:ext>
            </a:extLst>
          </p:cNvPr>
          <p:cNvSpPr txBox="1"/>
          <p:nvPr/>
        </p:nvSpPr>
        <p:spPr>
          <a:xfrm>
            <a:off x="1317152" y="2006944"/>
            <a:ext cx="237328" cy="21962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6C9BC7-FF31-35A2-6A21-92D16A379ED4}"/>
              </a:ext>
            </a:extLst>
          </p:cNvPr>
          <p:cNvSpPr txBox="1"/>
          <p:nvPr/>
        </p:nvSpPr>
        <p:spPr>
          <a:xfrm>
            <a:off x="11085784" y="2011434"/>
            <a:ext cx="237328" cy="21962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818F543-88F7-6BB8-AB82-C1A93A91E5AA}"/>
              </a:ext>
            </a:extLst>
          </p:cNvPr>
          <p:cNvSpPr/>
          <p:nvPr/>
        </p:nvSpPr>
        <p:spPr>
          <a:xfrm>
            <a:off x="850388" y="5156580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DFB7A-222E-9C8D-0E72-FBB3D76D0F26}"/>
              </a:ext>
            </a:extLst>
          </p:cNvPr>
          <p:cNvSpPr txBox="1"/>
          <p:nvPr/>
        </p:nvSpPr>
        <p:spPr>
          <a:xfrm>
            <a:off x="3913551" y="2226564"/>
            <a:ext cx="237328" cy="21962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2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325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257C-6ACE-FE6A-637F-95006BDE8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57C0F5-1584-AAE1-FFC1-4AE1F1C90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23" y="1179556"/>
            <a:ext cx="10646041" cy="458957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1CA28A-352B-9FB8-192D-9C8B279AD57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17CBD22-327E-E762-4190-15D2B416A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4D4462B-A3E1-17BE-3D04-E984454B10A9}"/>
              </a:ext>
            </a:extLst>
          </p:cNvPr>
          <p:cNvSpPr/>
          <p:nvPr/>
        </p:nvSpPr>
        <p:spPr>
          <a:xfrm>
            <a:off x="850389" y="5156580"/>
            <a:ext cx="10646042" cy="35725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L" sz="1100" dirty="0"/>
              <a:t>Mensaje de confirmación del registro del nuevo periodo</a:t>
            </a:r>
          </a:p>
        </p:txBody>
      </p:sp>
    </p:spTree>
    <p:extLst>
      <p:ext uri="{BB962C8B-B14F-4D97-AF65-F5344CB8AC3E}">
        <p14:creationId xmlns:p14="http://schemas.microsoft.com/office/powerpoint/2010/main" val="380837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1B33E4-FCC4-5A5D-B4F4-FEE3DBB4A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56" y="1152633"/>
            <a:ext cx="10613708" cy="457640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1705255" y="1740770"/>
            <a:ext cx="223688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782E76-68AB-F970-63CE-94E4BEF3085C}"/>
              </a:ext>
            </a:extLst>
          </p:cNvPr>
          <p:cNvSpPr txBox="1"/>
          <p:nvPr/>
        </p:nvSpPr>
        <p:spPr>
          <a:xfrm>
            <a:off x="684362" y="2475782"/>
            <a:ext cx="223688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5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5" name="Flecha: hacia la izquierda 14">
            <a:extLst>
              <a:ext uri="{FF2B5EF4-FFF2-40B4-BE49-F238E27FC236}">
                <a16:creationId xmlns:a16="http://schemas.microsoft.com/office/drawing/2014/main" id="{8E753B00-8A35-8DD8-0224-337A0108478C}"/>
              </a:ext>
            </a:extLst>
          </p:cNvPr>
          <p:cNvSpPr/>
          <p:nvPr/>
        </p:nvSpPr>
        <p:spPr>
          <a:xfrm>
            <a:off x="1836913" y="2151848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68785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Currículum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el botón </a:t>
            </a:r>
            <a:r>
              <a:rPr lang="es-ES_tradnl" sz="1100" b="1" dirty="0"/>
              <a:t>Reemplazar</a:t>
            </a:r>
          </a:p>
        </p:txBody>
      </p:sp>
    </p:spTree>
    <p:extLst>
      <p:ext uri="{BB962C8B-B14F-4D97-AF65-F5344CB8AC3E}">
        <p14:creationId xmlns:p14="http://schemas.microsoft.com/office/powerpoint/2010/main" val="3333945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3F9803-3524-071F-C0B8-55E112796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6" y="1267986"/>
            <a:ext cx="10886187" cy="468253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7382601" y="3730752"/>
            <a:ext cx="252639" cy="22138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6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305813" y="4981551"/>
            <a:ext cx="10121654" cy="312823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6"/>
            </a:pPr>
            <a:r>
              <a:rPr lang="es-419" sz="1100" dirty="0"/>
              <a:t>Seleccionar, NO en el mensaje que aparece, pues se generará un nuevo Plan de estudios para el nuevo programa </a:t>
            </a:r>
          </a:p>
        </p:txBody>
      </p:sp>
    </p:spTree>
    <p:extLst>
      <p:ext uri="{BB962C8B-B14F-4D97-AF65-F5344CB8AC3E}">
        <p14:creationId xmlns:p14="http://schemas.microsoft.com/office/powerpoint/2010/main" val="3161541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2E85F7-98C7-6C0E-8839-B9270BBC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6" y="1298283"/>
            <a:ext cx="10886187" cy="4692322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E66A0CC7-1D3D-B75A-807A-ACF770310369}"/>
              </a:ext>
            </a:extLst>
          </p:cNvPr>
          <p:cNvGrpSpPr/>
          <p:nvPr/>
        </p:nvGrpSpPr>
        <p:grpSpPr>
          <a:xfrm>
            <a:off x="1305813" y="4981551"/>
            <a:ext cx="10121654" cy="1190648"/>
            <a:chOff x="1305813" y="4981551"/>
            <a:chExt cx="10121654" cy="1190648"/>
          </a:xfrm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00E02D58-F66A-BEE0-3967-13AF479338A4}"/>
                </a:ext>
              </a:extLst>
            </p:cNvPr>
            <p:cNvSpPr/>
            <p:nvPr/>
          </p:nvSpPr>
          <p:spPr>
            <a:xfrm>
              <a:off x="1305813" y="4981551"/>
              <a:ext cx="10121654" cy="1190648"/>
            </a:xfrm>
            <a:prstGeom prst="roundRect">
              <a:avLst>
                <a:gd name="adj" fmla="val 144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just">
                <a:buFont typeface="+mj-lt"/>
                <a:buAutoNum type="arabicPeriod" startAt="7"/>
              </a:pPr>
              <a:r>
                <a:rPr lang="es-ES_tradnl" sz="1100" dirty="0"/>
                <a:t>Hacer clic sobre el botón “</a:t>
              </a:r>
              <a:r>
                <a:rPr lang="es-ES_tradnl" sz="1100" b="1" dirty="0"/>
                <a:t>…</a:t>
              </a:r>
              <a:r>
                <a:rPr lang="es-ES_tradnl" sz="1100" dirty="0"/>
                <a:t>” del campo </a:t>
              </a:r>
              <a:r>
                <a:rPr lang="es-ES_tradnl" sz="1100" b="1" dirty="0"/>
                <a:t>Programa</a:t>
              </a:r>
              <a:endParaRPr lang="es-419" sz="1100" b="1" dirty="0"/>
            </a:p>
            <a:p>
              <a:pPr marL="342900" indent="-342900" algn="just">
                <a:buFont typeface="+mj-lt"/>
                <a:buAutoNum type="arabicPeriod" startAt="7"/>
              </a:pPr>
              <a:r>
                <a:rPr lang="es-419" sz="1100" dirty="0"/>
                <a:t>Seleccionar la opción </a:t>
              </a:r>
              <a:r>
                <a:rPr lang="es-419" sz="1100" b="1" dirty="0"/>
                <a:t>Regla de currículo base por programa</a:t>
              </a:r>
            </a:p>
          </p:txBody>
        </p: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54D19D47-CA91-E0EB-313A-9BFC33A09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4959" y="5386375"/>
              <a:ext cx="228600" cy="190500"/>
            </a:xfrm>
            <a:prstGeom prst="rect">
              <a:avLst/>
            </a:prstGeom>
          </p:spPr>
        </p:pic>
      </p:grp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782E76-68AB-F970-63CE-94E4BEF3085C}"/>
              </a:ext>
            </a:extLst>
          </p:cNvPr>
          <p:cNvSpPr txBox="1"/>
          <p:nvPr/>
        </p:nvSpPr>
        <p:spPr>
          <a:xfrm>
            <a:off x="2872254" y="3500146"/>
            <a:ext cx="218776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7122217" y="3500146"/>
            <a:ext cx="218776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8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426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728DD4-3C4A-086E-BD2B-962F501C4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88" y="1329514"/>
            <a:ext cx="10250424" cy="441441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305813" y="5174774"/>
            <a:ext cx="9774918" cy="87062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9"/>
            </a:pPr>
            <a:r>
              <a:rPr lang="es-419" sz="1100" dirty="0"/>
              <a:t>Seleccionar la regla curricular correspondiente al nuevo programa, según el código de este, y presionar el botón </a:t>
            </a:r>
            <a:r>
              <a:rPr lang="es-419" sz="1100" b="1" dirty="0"/>
              <a:t>OK</a:t>
            </a:r>
            <a:r>
              <a:rPr lang="es-419" sz="11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4078905" y="3611880"/>
            <a:ext cx="255352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9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113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6A394-3322-33A8-4CE0-B4CC9ACF4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62" y="1420961"/>
            <a:ext cx="10629706" cy="455796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091784" y="4488523"/>
            <a:ext cx="10121654" cy="106959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El sistema ha llenado automáticamente los valores correspondientes a la regla curricular seleccionada, incluyendo el campo de estudio y ha asignado una nueva secuencia al Plan de estudios del nuevo Programa.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s-419" sz="1100" dirty="0"/>
              <a:t>Haga clic en el botón </a:t>
            </a:r>
            <a:r>
              <a:rPr lang="es-419" sz="1100" b="1" dirty="0"/>
              <a:t>Guardar</a:t>
            </a:r>
            <a:r>
              <a:rPr lang="es-419" sz="11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10748578" y="5660800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10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422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FCC1C1-5964-FAD9-F674-E8CC09E0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67" y="1259269"/>
            <a:ext cx="10123673" cy="435455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884296" y="4046131"/>
            <a:ext cx="10121654" cy="106959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11"/>
            </a:pPr>
            <a:r>
              <a:rPr lang="es-419" sz="1100" dirty="0"/>
              <a:t>Haga clic en la pestaña  </a:t>
            </a:r>
            <a:r>
              <a:rPr lang="es-419" sz="1100" b="1" dirty="0"/>
              <a:t>Plan de Estudios</a:t>
            </a:r>
            <a:r>
              <a:rPr lang="es-419" sz="1100" dirty="0"/>
              <a:t>.</a:t>
            </a:r>
          </a:p>
          <a:p>
            <a:pPr marL="342900" indent="-342900" algn="just">
              <a:buFont typeface="+mj-lt"/>
              <a:buAutoNum type="arabicPeriod" startAt="11"/>
            </a:pPr>
            <a:r>
              <a:rPr lang="es-419" sz="1100" dirty="0"/>
              <a:t>Actualice al </a:t>
            </a:r>
            <a:r>
              <a:rPr lang="es-419" sz="1100" b="1" dirty="0"/>
              <a:t>estatus</a:t>
            </a:r>
            <a:r>
              <a:rPr lang="es-419" sz="1100" dirty="0"/>
              <a:t> del Plan de estudios del anterior programa a Inactivo.</a:t>
            </a:r>
          </a:p>
          <a:p>
            <a:pPr marL="342900" indent="-342900" algn="just">
              <a:buFont typeface="+mj-lt"/>
              <a:buAutoNum type="arabicPeriod" startAt="11"/>
            </a:pPr>
            <a:r>
              <a:rPr lang="es-419" sz="1100" b="1" dirty="0"/>
              <a:t>Guarde</a:t>
            </a:r>
            <a:r>
              <a:rPr lang="es-419" sz="1100" dirty="0"/>
              <a:t> la información</a:t>
            </a:r>
          </a:p>
        </p:txBody>
      </p:sp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43F4DE79-9836-6333-A6C8-FAE59FCF6920}"/>
              </a:ext>
            </a:extLst>
          </p:cNvPr>
          <p:cNvSpPr/>
          <p:nvPr/>
        </p:nvSpPr>
        <p:spPr>
          <a:xfrm rot="10800000">
            <a:off x="1922579" y="1696554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1771701" y="2052517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Flecha: hacia la izquierda 5">
            <a:extLst>
              <a:ext uri="{FF2B5EF4-FFF2-40B4-BE49-F238E27FC236}">
                <a16:creationId xmlns:a16="http://schemas.microsoft.com/office/drawing/2014/main" id="{ED090EFC-D731-F0AD-C375-5FA8D1375332}"/>
              </a:ext>
            </a:extLst>
          </p:cNvPr>
          <p:cNvSpPr/>
          <p:nvPr/>
        </p:nvSpPr>
        <p:spPr>
          <a:xfrm rot="10800000">
            <a:off x="6313901" y="2160239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609FA6-7619-8FFE-4B30-88F9633F7ECC}"/>
              </a:ext>
            </a:extLst>
          </p:cNvPr>
          <p:cNvSpPr txBox="1"/>
          <p:nvPr/>
        </p:nvSpPr>
        <p:spPr>
          <a:xfrm>
            <a:off x="5794247" y="2552778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A1BCA80-FAAD-9EFC-2B53-639C4E464FAE}"/>
              </a:ext>
            </a:extLst>
          </p:cNvPr>
          <p:cNvSpPr txBox="1"/>
          <p:nvPr/>
        </p:nvSpPr>
        <p:spPr>
          <a:xfrm>
            <a:off x="10355386" y="5304545"/>
            <a:ext cx="301753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13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564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37ED45-BC21-CD39-4519-E22952C1C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1154914"/>
            <a:ext cx="10625328" cy="454817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383634" y="3687773"/>
            <a:ext cx="8742859" cy="4636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En nuevo Plan de estudios se ha creado con el estatus activo y se encuentra vigente.</a:t>
            </a:r>
          </a:p>
        </p:txBody>
      </p:sp>
    </p:spTree>
    <p:extLst>
      <p:ext uri="{BB962C8B-B14F-4D97-AF65-F5344CB8AC3E}">
        <p14:creationId xmlns:p14="http://schemas.microsoft.com/office/powerpoint/2010/main" val="39493646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F91653-B902-679B-FD20-207083987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7" y="1244921"/>
            <a:ext cx="10979515" cy="472840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Cambio de programa en el reintegro: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45933"/>
            <a:ext cx="10121654" cy="55078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En la pestaña currículum se puede visualizar que el programa anterior está Inactivo.</a:t>
            </a:r>
          </a:p>
        </p:txBody>
      </p:sp>
    </p:spTree>
    <p:extLst>
      <p:ext uri="{BB962C8B-B14F-4D97-AF65-F5344CB8AC3E}">
        <p14:creationId xmlns:p14="http://schemas.microsoft.com/office/powerpoint/2010/main" val="3302737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610FCC-0713-53EF-ADB4-AA53CA5BA3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623880"/>
            <a:ext cx="10597474" cy="4358629"/>
          </a:xfrm>
        </p:spPr>
        <p:txBody>
          <a:bodyPr/>
          <a:lstStyle/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La universidad actualiza los estados de los estudiantes, con base en las reglas del negocio.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La institución realiza el cambio a través de  SGASTDN.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Se puede hacer el cambio en el mismo periodo o en otro.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Las actualizaciones de estatus de plan de estudios se realizan a nivel del programa.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Se pueden realizar cambios de programa y registrar estos cambios en el sistema.</a:t>
            </a:r>
          </a:p>
          <a:p>
            <a:endParaRPr lang="es-419" sz="1600" dirty="0"/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957F28A3-0E5D-037E-7A5A-BBEFD092D364}"/>
              </a:ext>
            </a:extLst>
          </p:cNvPr>
          <p:cNvSpPr txBox="1">
            <a:spLocks/>
          </p:cNvSpPr>
          <p:nvPr/>
        </p:nvSpPr>
        <p:spPr>
          <a:xfrm>
            <a:off x="955644" y="-201252"/>
            <a:ext cx="7092820" cy="1628192"/>
          </a:xfrm>
          <a:prstGeom prst="rect">
            <a:avLst/>
          </a:prstGeom>
        </p:spPr>
        <p:txBody>
          <a:bodyPr vert="horz" lIns="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30517754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noProof="0" dirty="0"/>
              <a:t>Consultor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noProof="0" dirty="0"/>
              <a:t>Correo</a:t>
            </a:r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Ellucian-PPT-Template-2026</Template>
  <TotalTime>3169</TotalTime>
  <Words>1727</Words>
  <Application>Microsoft Office PowerPoint</Application>
  <PresentationFormat>Widescreen</PresentationFormat>
  <Paragraphs>218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Aptos</vt:lpstr>
      <vt:lpstr>Aptos Display</vt:lpstr>
      <vt:lpstr>Arial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Overview</vt:lpstr>
      <vt:lpstr>Overview: Mapa de capacidades</vt:lpstr>
      <vt:lpstr>Overview: Procedimientos Gestionar Reingresos</vt:lpstr>
      <vt:lpstr>Overview: Actualizar estado del estudiante</vt:lpstr>
      <vt:lpstr>Overview: Actualizar estado del estudiante</vt:lpstr>
      <vt:lpstr>Overview: Región donde aplica</vt:lpstr>
      <vt:lpstr>Overview: Actualizar estado del estudiante</vt:lpstr>
      <vt:lpstr>Configuraciones</vt:lpstr>
      <vt:lpstr>Configuraciones: Tipo de estudiante</vt:lpstr>
      <vt:lpstr>Configuraciones: Estatus del estudiante</vt:lpstr>
      <vt:lpstr>Configuraciones: Estatus del Plan de estudios</vt:lpstr>
      <vt:lpstr>Reintegro general del estudiante (nivel institucional)</vt:lpstr>
      <vt:lpstr>Reintegro general del estudiante en nuevo programa: SGASTDN</vt:lpstr>
      <vt:lpstr>Crear una nueva aplicación de readmisión</vt:lpstr>
      <vt:lpstr>Asignar decisión de admisión</vt:lpstr>
      <vt:lpstr>Validar información en SGASTDN</vt:lpstr>
      <vt:lpstr>Validar información en SGASTDN</vt:lpstr>
      <vt:lpstr>Validar información en SGASTDN</vt:lpstr>
      <vt:lpstr>Anterior plan de estudios SGASTDN</vt:lpstr>
      <vt:lpstr>Manejo del plan de estudio en SGASTDN (clave para el reintegro)</vt:lpstr>
      <vt:lpstr>Reintegro en el mismo programa a nivel de plan de estudio: SGASTDN</vt:lpstr>
      <vt:lpstr>Reintegro en el mismo programa a nivel de plan de estudio: SGASTDN</vt:lpstr>
      <vt:lpstr>Reintegro en el mismo programa a nivel de plan de estudio: SGASTDN</vt:lpstr>
      <vt:lpstr>Reintegro en el mismo programa a nivel de plan de estudio: SGASTDN</vt:lpstr>
      <vt:lpstr>Reintegro en el mismo programa a nivel de plan de estudio: SGASTDN</vt:lpstr>
      <vt:lpstr>Reintegro en el mismo programa a nivel de plan de estudio: SGASTDN</vt:lpstr>
      <vt:lpstr>Reintegro en el mismo programa a nivel de plan de estudio: SGASTDN</vt:lpstr>
      <vt:lpstr>Reintegro en el mismo programa a nivel de plan de estudio: SGASTDN</vt:lpstr>
      <vt:lpstr>Cambio de programa en el reintegro</vt:lpstr>
      <vt:lpstr>Cambio de programa en el reintegro: SGASTDN</vt:lpstr>
      <vt:lpstr>Cambio de programa en el reintegro: SGASTDN</vt:lpstr>
      <vt:lpstr>Cambio de programa en el reintegro: SGASTDN</vt:lpstr>
      <vt:lpstr>Cambio de programa en el reintegro: SGASTDN</vt:lpstr>
      <vt:lpstr>Cambio de programa en el reintegro: SGASTDN</vt:lpstr>
      <vt:lpstr>Cambio de programa en el reintegro: SGASTDN</vt:lpstr>
      <vt:lpstr>Cambio de programa en el reintegro: SGASTDN</vt:lpstr>
      <vt:lpstr>Cambio de programa en el reintegro: SGASTDN</vt:lpstr>
      <vt:lpstr>Cambio de programa en el reintegro: SGASTDN</vt:lpstr>
      <vt:lpstr>Cambio de programa en el reintegro: SGASTDN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Karyn</dc:creator>
  <cp:lastModifiedBy>Molina, Sergio</cp:lastModifiedBy>
  <cp:revision>62</cp:revision>
  <dcterms:created xsi:type="dcterms:W3CDTF">2024-09-20T19:49:29Z</dcterms:created>
  <dcterms:modified xsi:type="dcterms:W3CDTF">2026-04-14T16:22:28Z</dcterms:modified>
</cp:coreProperties>
</file>
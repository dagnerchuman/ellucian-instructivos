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44"/>
  </p:notesMasterIdLst>
  <p:sldIdLst>
    <p:sldId id="257" r:id="rId3"/>
    <p:sldId id="423" r:id="rId4"/>
    <p:sldId id="476" r:id="rId5"/>
    <p:sldId id="523" r:id="rId6"/>
    <p:sldId id="1867" r:id="rId7"/>
    <p:sldId id="349" r:id="rId8"/>
    <p:sldId id="1866" r:id="rId9"/>
    <p:sldId id="1868" r:id="rId10"/>
    <p:sldId id="1869" r:id="rId11"/>
    <p:sldId id="478" r:id="rId12"/>
    <p:sldId id="421" r:id="rId13"/>
    <p:sldId id="469" r:id="rId14"/>
    <p:sldId id="355" r:id="rId15"/>
    <p:sldId id="596" r:id="rId16"/>
    <p:sldId id="597" r:id="rId17"/>
    <p:sldId id="607" r:id="rId18"/>
    <p:sldId id="595" r:id="rId19"/>
    <p:sldId id="591" r:id="rId20"/>
    <p:sldId id="543" r:id="rId21"/>
    <p:sldId id="618" r:id="rId22"/>
    <p:sldId id="544" r:id="rId23"/>
    <p:sldId id="600" r:id="rId24"/>
    <p:sldId id="601" r:id="rId25"/>
    <p:sldId id="619" r:id="rId26"/>
    <p:sldId id="603" r:id="rId27"/>
    <p:sldId id="604" r:id="rId28"/>
    <p:sldId id="605" r:id="rId29"/>
    <p:sldId id="606" r:id="rId30"/>
    <p:sldId id="620" r:id="rId31"/>
    <p:sldId id="599" r:id="rId32"/>
    <p:sldId id="609" r:id="rId33"/>
    <p:sldId id="610" r:id="rId34"/>
    <p:sldId id="611" r:id="rId35"/>
    <p:sldId id="612" r:id="rId36"/>
    <p:sldId id="614" r:id="rId37"/>
    <p:sldId id="613" r:id="rId38"/>
    <p:sldId id="616" r:id="rId39"/>
    <p:sldId id="615" r:id="rId40"/>
    <p:sldId id="345" r:id="rId41"/>
    <p:sldId id="617" r:id="rId42"/>
    <p:sldId id="50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21-07-2026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42393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78009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7940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5703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98658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0383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4222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186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855772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900882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97588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219843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764100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124411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58608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89332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200831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662516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60439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371133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2082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9691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31472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488273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0549285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457413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79447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957146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51513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800672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584122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94556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550350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21-07-2026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40225511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62355666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
        <p:nvSpPr>
          <p:cNvPr id="3" name="Rectángulo 2">
            <a:extLst>
              <a:ext uri="{FF2B5EF4-FFF2-40B4-BE49-F238E27FC236}">
                <a16:creationId xmlns:a16="http://schemas.microsoft.com/office/drawing/2014/main" id="{603E9603-E2C6-34D6-90E2-EDAF4694E7DC}"/>
              </a:ext>
            </a:extLst>
          </p:cNvPr>
          <p:cNvSpPr/>
          <p:nvPr userDrawn="1"/>
        </p:nvSpPr>
        <p:spPr>
          <a:xfrm>
            <a:off x="9220200" y="6515100"/>
            <a:ext cx="2438400" cy="3429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CF18E281-F80C-084E-2007-98096259704E}"/>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109904750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2F4FB715-0E38-3EAE-0E50-4996F84BECEE}"/>
              </a:ext>
            </a:extLst>
          </p:cNvPr>
          <p:cNvSpPr/>
          <p:nvPr userDrawn="1"/>
        </p:nvSpPr>
        <p:spPr>
          <a:xfrm>
            <a:off x="9191625" y="6467475"/>
            <a:ext cx="2466975"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6C6D3886-C855-DD3E-7EE0-4D3FF66E3FFF}"/>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01334222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2532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48611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577150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020306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29684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603264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914689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26606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060903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647468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01691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054386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542336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911996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77552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21847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648692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63887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93545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2541275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88705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1" y="2249757"/>
            <a:ext cx="6010153" cy="2441502"/>
          </a:xfrm>
        </p:spPr>
        <p:txBody>
          <a:bodyPr/>
          <a:lstStyle/>
          <a:p>
            <a:r>
              <a:rPr lang="es-419" sz="4400" dirty="0"/>
              <a:t>Gestionar otros requisitos académicos (No-Cursos)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617287" y="4863927"/>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C17549A0-DFCB-CAD0-8546-0B54800AE97F}"/>
              </a:ext>
            </a:extLst>
          </p:cNvPr>
          <p:cNvSpPr>
            <a:spLocks noGrp="1"/>
          </p:cNvSpPr>
          <p:nvPr>
            <p:ph type="body" sz="quarter" idx="13"/>
          </p:nvPr>
        </p:nvSpPr>
        <p:spPr/>
        <p:txBody>
          <a:bodyPr/>
          <a:lstStyle/>
          <a:p>
            <a:r>
              <a:rPr lang="es-419" dirty="0"/>
              <a:t>Julio, 2026</a:t>
            </a:r>
          </a:p>
        </p:txBody>
      </p:sp>
      <p:pic>
        <p:nvPicPr>
          <p:cNvPr id="9" name="Marcador de posición de imagen 8">
            <a:extLst>
              <a:ext uri="{FF2B5EF4-FFF2-40B4-BE49-F238E27FC236}">
                <a16:creationId xmlns:a16="http://schemas.microsoft.com/office/drawing/2014/main" id="{20EB552E-AC0B-15B4-EAD6-17F8858C245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otros requisitos académicos</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875435058"/>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Gestionar otros requisitos académicos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86969" y="3293646"/>
            <a:ext cx="2485456" cy="6687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FAA7A-5F31-D7C0-D673-24052C7AA73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3249019-65A4-D9F4-CB0C-60A5F633A3E6}"/>
              </a:ext>
            </a:extLst>
          </p:cNvPr>
          <p:cNvSpPr>
            <a:spLocks noGrp="1"/>
          </p:cNvSpPr>
          <p:nvPr>
            <p:ph type="body" sz="quarter" idx="18"/>
          </p:nvPr>
        </p:nvSpPr>
        <p:spPr>
          <a:xfrm>
            <a:off x="1104900" y="1825099"/>
            <a:ext cx="9698935" cy="2746902"/>
          </a:xfrm>
        </p:spPr>
        <p:txBody>
          <a:bodyPr anchor="ctr"/>
          <a:lstStyle/>
          <a:p>
            <a:pPr marL="0" indent="0" algn="just">
              <a:buClr>
                <a:srgbClr val="0CB4B4"/>
              </a:buClr>
              <a:buNone/>
            </a:pPr>
            <a:r>
              <a:rPr lang="es-CO" sz="2400" dirty="0"/>
              <a:t>En la Capacidad de negocio de “Otorgamiento del Título y Ceremonia de Graduación del Estudiante” se incluyen todas las actividades destinadas al otorgamiento de títulos (y otros reconocimientos) a estudiantes que han cumplido con los requisitos correspondientes.</a:t>
            </a:r>
            <a:endParaRPr lang="es-ES" sz="2400" dirty="0"/>
          </a:p>
        </p:txBody>
      </p:sp>
      <p:sp>
        <p:nvSpPr>
          <p:cNvPr id="4" name="Título 3">
            <a:extLst>
              <a:ext uri="{FF2B5EF4-FFF2-40B4-BE49-F238E27FC236}">
                <a16:creationId xmlns:a16="http://schemas.microsoft.com/office/drawing/2014/main" id="{8090E525-E594-D00C-F198-F1796BCF3D8B}"/>
              </a:ext>
            </a:extLst>
          </p:cNvPr>
          <p:cNvSpPr>
            <a:spLocks noGrp="1"/>
          </p:cNvSpPr>
          <p:nvPr>
            <p:ph type="title"/>
          </p:nvPr>
        </p:nvSpPr>
        <p:spPr/>
        <p:txBody>
          <a:bodyPr/>
          <a:lstStyle/>
          <a:p>
            <a:r>
              <a:rPr lang="es-ES_tradnl" dirty="0">
                <a:solidFill>
                  <a:schemeClr val="accent1"/>
                </a:solidFill>
              </a:rPr>
              <a:t>Overview: </a:t>
            </a:r>
            <a:r>
              <a:rPr lang="es-CL" b="0" dirty="0">
                <a:solidFill>
                  <a:schemeClr val="accent1"/>
                </a:solidFill>
              </a:rPr>
              <a:t>Capacidad Otorgamiento del Título y </a:t>
            </a:r>
            <a:r>
              <a:rPr lang="es-CL" b="0" dirty="0" err="1">
                <a:solidFill>
                  <a:schemeClr val="accent1"/>
                </a:solidFill>
              </a:rPr>
              <a:t>Ceremonía</a:t>
            </a:r>
            <a:r>
              <a:rPr lang="es-CL" b="0" dirty="0">
                <a:solidFill>
                  <a:schemeClr val="accent1"/>
                </a:solidFill>
              </a:rPr>
              <a:t> del estudiante</a:t>
            </a:r>
          </a:p>
        </p:txBody>
      </p:sp>
      <p:sp>
        <p:nvSpPr>
          <p:cNvPr id="6" name="Vertical Text Placeholder 3">
            <a:extLst>
              <a:ext uri="{FF2B5EF4-FFF2-40B4-BE49-F238E27FC236}">
                <a16:creationId xmlns:a16="http://schemas.microsoft.com/office/drawing/2014/main" id="{A49C5CEF-8FA1-0672-58E4-174948BA0B82}"/>
              </a:ext>
            </a:extLst>
          </p:cNvPr>
          <p:cNvSpPr>
            <a:spLocks noGrp="1"/>
          </p:cNvSpPr>
          <p:nvPr>
            <p:ph type="body" orient="vert" sz="quarter" idx="17"/>
          </p:nvPr>
        </p:nvSpPr>
        <p:spPr>
          <a:xfrm rot="10800000">
            <a:off x="0" y="685800"/>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30054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450195"/>
            <a:ext cx="9698935" cy="2746902"/>
          </a:xfrm>
        </p:spPr>
        <p:txBody>
          <a:bodyPr anchor="ctr"/>
          <a:lstStyle/>
          <a:p>
            <a:pPr algn="just">
              <a:buClrTx/>
              <a:buFont typeface="Wingdings" panose="05000000000000000000" pitchFamily="2" charset="2"/>
              <a:buChar char="v"/>
            </a:pPr>
            <a:r>
              <a:rPr lang="es-ES" sz="2400" b="1" dirty="0"/>
              <a:t>Gestión de Elegibilidad para Titulación</a:t>
            </a:r>
          </a:p>
          <a:p>
            <a:pPr algn="just">
              <a:buClrTx/>
              <a:buFont typeface="Wingdings" panose="05000000000000000000" pitchFamily="2" charset="2"/>
              <a:buChar char="v"/>
            </a:pPr>
            <a:r>
              <a:rPr lang="es-ES" sz="2400" dirty="0"/>
              <a:t>Gestión de Eventos de Graduación</a:t>
            </a:r>
          </a:p>
          <a:p>
            <a:pPr algn="just">
              <a:buClrTx/>
              <a:buFont typeface="Wingdings" panose="05000000000000000000" pitchFamily="2" charset="2"/>
              <a:buChar char="v"/>
            </a:pPr>
            <a:r>
              <a:rPr lang="es-ES" sz="2400" dirty="0"/>
              <a:t>Actividades </a:t>
            </a:r>
            <a:r>
              <a:rPr lang="es-ES" sz="2400" dirty="0" err="1"/>
              <a:t>Cocurriculares</a:t>
            </a:r>
            <a:endParaRPr lang="es-ES" sz="2400" dirty="0"/>
          </a:p>
          <a:p>
            <a:pPr algn="just">
              <a:buClrTx/>
              <a:buFont typeface="Wingdings" panose="05000000000000000000" pitchFamily="2" charset="2"/>
              <a:buChar char="v"/>
            </a:pPr>
            <a:r>
              <a:rPr lang="es-ES" sz="2400" dirty="0"/>
              <a:t>Procesamiento de Otorgamiento de Título</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dirty="0">
                <a:solidFill>
                  <a:schemeClr val="accent1"/>
                </a:solidFill>
              </a:rPr>
              <a:t>Overview: </a:t>
            </a:r>
            <a:r>
              <a:rPr lang="es-CL" b="0" dirty="0">
                <a:solidFill>
                  <a:schemeClr val="accent1"/>
                </a:solidFill>
              </a:rPr>
              <a:t>Capacidad Otorgamiento del Título y Ceremonia del estudiante</a:t>
            </a:r>
          </a:p>
        </p:txBody>
      </p:sp>
      <p:sp>
        <p:nvSpPr>
          <p:cNvPr id="11" name="Vertical Text Placeholder 3">
            <a:extLst>
              <a:ext uri="{FF2B5EF4-FFF2-40B4-BE49-F238E27FC236}">
                <a16:creationId xmlns:a16="http://schemas.microsoft.com/office/drawing/2014/main" id="{DB157260-0FEB-2D58-8CF0-923F614781E0}"/>
              </a:ext>
            </a:extLst>
          </p:cNvPr>
          <p:cNvSpPr>
            <a:spLocks noGrp="1"/>
          </p:cNvSpPr>
          <p:nvPr>
            <p:ph type="body" orient="vert" sz="quarter" idx="17"/>
          </p:nvPr>
        </p:nvSpPr>
        <p:spPr>
          <a:xfrm rot="10800000">
            <a:off x="0" y="429768"/>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50487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11DA2-83AE-9A3F-788A-8CB00D83B14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8631C02-5117-05BD-0103-5D2E416E27B4}"/>
              </a:ext>
            </a:extLst>
          </p:cNvPr>
          <p:cNvSpPr>
            <a:spLocks noGrp="1"/>
          </p:cNvSpPr>
          <p:nvPr>
            <p:ph type="body" sz="quarter" idx="18"/>
          </p:nvPr>
        </p:nvSpPr>
        <p:spPr>
          <a:xfrm>
            <a:off x="1104900" y="1916539"/>
            <a:ext cx="9698935" cy="2746902"/>
          </a:xfrm>
        </p:spPr>
        <p:txBody>
          <a:bodyPr anchor="ctr"/>
          <a:lstStyle/>
          <a:p>
            <a:pPr marL="0" indent="0" algn="just">
              <a:buClr>
                <a:srgbClr val="0CB4B4"/>
              </a:buClr>
              <a:buNone/>
            </a:pPr>
            <a:r>
              <a:rPr lang="es-CO" sz="2400" dirty="0"/>
              <a:t>Conjunto de acciones orientadas a verificar el cumplimiento de los requisitos académicos, financieros y administrativos de los estudiantes, con el fin de determinar cuáles cumplen las condiciones necesarias para su cambio de estado a Egresado, Graduado, Titulado u otros definidos por la institución.</a:t>
            </a:r>
            <a:endParaRPr lang="es-ES" sz="2400" dirty="0"/>
          </a:p>
        </p:txBody>
      </p:sp>
      <p:sp>
        <p:nvSpPr>
          <p:cNvPr id="4" name="Título 3">
            <a:extLst>
              <a:ext uri="{FF2B5EF4-FFF2-40B4-BE49-F238E27FC236}">
                <a16:creationId xmlns:a16="http://schemas.microsoft.com/office/drawing/2014/main" id="{4F5AD896-91FA-AF0D-76FA-36DEC47BDE3A}"/>
              </a:ext>
            </a:extLst>
          </p:cNvPr>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6" name="Vertical Text Placeholder 3">
            <a:extLst>
              <a:ext uri="{FF2B5EF4-FFF2-40B4-BE49-F238E27FC236}">
                <a16:creationId xmlns:a16="http://schemas.microsoft.com/office/drawing/2014/main" id="{57D770C6-54DC-1C76-479B-4E83C4D48578}"/>
              </a:ext>
            </a:extLst>
          </p:cNvPr>
          <p:cNvSpPr>
            <a:spLocks noGrp="1"/>
          </p:cNvSpPr>
          <p:nvPr>
            <p:ph type="body" orient="vert" sz="quarter" idx="17"/>
          </p:nvPr>
        </p:nvSpPr>
        <p:spPr>
          <a:xfrm rot="10800000">
            <a:off x="0" y="457200"/>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67839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Gráfico de cajas y bigotes&#10;&#10;Descripción generada automáticamente con confianza media">
            <a:extLst>
              <a:ext uri="{FF2B5EF4-FFF2-40B4-BE49-F238E27FC236}">
                <a16:creationId xmlns:a16="http://schemas.microsoft.com/office/drawing/2014/main" id="{D7C94707-9901-26C5-BFF7-C231E82B592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231" r="4359"/>
          <a:stretch/>
        </p:blipFill>
        <p:spPr bwMode="auto">
          <a:xfrm>
            <a:off x="1375410" y="2664396"/>
            <a:ext cx="9974574" cy="1669860"/>
          </a:xfrm>
          <a:prstGeom prst="rect">
            <a:avLst/>
          </a:prstGeom>
          <a:noFill/>
          <a:ln>
            <a:noFill/>
          </a:ln>
          <a:extLst>
            <a:ext uri="{53640926-AAD7-44D8-BBD7-CCE9431645EC}">
              <a14:shadowObscured xmlns:a14="http://schemas.microsoft.com/office/drawing/2010/main"/>
            </a:ext>
          </a:extLst>
        </p:spPr>
      </p:pic>
      <p:sp>
        <p:nvSpPr>
          <p:cNvPr id="9" name="Título 3">
            <a:extLst>
              <a:ext uri="{FF2B5EF4-FFF2-40B4-BE49-F238E27FC236}">
                <a16:creationId xmlns:a16="http://schemas.microsoft.com/office/drawing/2014/main" id="{0A0E0E34-F93E-1FF7-3FE4-774D5008F59D}"/>
              </a:ext>
            </a:extLst>
          </p:cNvPr>
          <p:cNvSpPr>
            <a:spLocks noGrp="1"/>
          </p:cNvSpPr>
          <p:nvPr>
            <p:ph type="title"/>
          </p:nvPr>
        </p:nvSpPr>
        <p:spPr>
          <a:xfrm>
            <a:off x="1123948" y="450612"/>
            <a:ext cx="10477497" cy="898555"/>
          </a:xfrm>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12" name="Vertical Text Placeholder 3">
            <a:extLst>
              <a:ext uri="{FF2B5EF4-FFF2-40B4-BE49-F238E27FC236}">
                <a16:creationId xmlns:a16="http://schemas.microsoft.com/office/drawing/2014/main" id="{257E195E-D6B5-B928-EAEA-D38084F14F17}"/>
              </a:ext>
            </a:extLst>
          </p:cNvPr>
          <p:cNvSpPr>
            <a:spLocks noGrp="1"/>
          </p:cNvSpPr>
          <p:nvPr>
            <p:ph type="body" orient="vert" sz="quarter" idx="17"/>
          </p:nvPr>
        </p:nvSpPr>
        <p:spPr>
          <a:xfrm rot="10800000">
            <a:off x="0" y="450612"/>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2309308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pic>
        <p:nvPicPr>
          <p:cNvPr id="2" name="Picture 9" descr="A purple map of south america&#10;&#10;AI-generated content may be incorrect.">
            <a:extLst>
              <a:ext uri="{FF2B5EF4-FFF2-40B4-BE49-F238E27FC236}">
                <a16:creationId xmlns:a16="http://schemas.microsoft.com/office/drawing/2014/main" id="{238B5655-81CE-5FC5-9E73-F6B8AF61D963}"/>
              </a:ext>
            </a:extLst>
          </p:cNvPr>
          <p:cNvPicPr>
            <a:picLocks noChangeAspect="1"/>
          </p:cNvPicPr>
          <p:nvPr/>
        </p:nvPicPr>
        <p:blipFill>
          <a:blip r:embed="rId2"/>
          <a:stretch>
            <a:fillRect/>
          </a:stretch>
        </p:blipFill>
        <p:spPr>
          <a:xfrm>
            <a:off x="2628959" y="1312731"/>
            <a:ext cx="5219641" cy="5219641"/>
          </a:xfrm>
          <a:prstGeom prst="rect">
            <a:avLst/>
          </a:prstGeom>
        </p:spPr>
      </p:pic>
      <p:sp>
        <p:nvSpPr>
          <p:cNvPr id="4" name="Título 3">
            <a:extLst>
              <a:ext uri="{FF2B5EF4-FFF2-40B4-BE49-F238E27FC236}">
                <a16:creationId xmlns:a16="http://schemas.microsoft.com/office/drawing/2014/main" id="{86FFA109-F238-8D01-1B09-6931DE8EE72F}"/>
              </a:ext>
            </a:extLst>
          </p:cNvPr>
          <p:cNvSpPr>
            <a:spLocks noGrp="1"/>
          </p:cNvSpPr>
          <p:nvPr>
            <p:ph type="title"/>
          </p:nvPr>
        </p:nvSpPr>
        <p:spPr>
          <a:xfrm>
            <a:off x="1059180" y="236522"/>
            <a:ext cx="10477497" cy="898555"/>
          </a:xfrm>
        </p:spPr>
        <p:txBody>
          <a:bodyPr/>
          <a:lstStyle/>
          <a:p>
            <a:r>
              <a:rPr lang="es-ES_tradnl" dirty="0" err="1">
                <a:solidFill>
                  <a:schemeClr val="accent1"/>
                </a:solidFill>
              </a:rPr>
              <a:t>Overview</a:t>
            </a:r>
            <a:r>
              <a:rPr lang="es-ES_tradnl" dirty="0">
                <a:solidFill>
                  <a:schemeClr val="accent1"/>
                </a:solidFill>
              </a:rPr>
              <a:t>: </a:t>
            </a:r>
            <a:r>
              <a:rPr lang="es-CL" b="0" dirty="0">
                <a:solidFill>
                  <a:schemeClr val="accent1"/>
                </a:solidFill>
              </a:rPr>
              <a:t>Capacidad Operativa </a:t>
            </a:r>
            <a:r>
              <a:rPr lang="es-CO" b="0" dirty="0">
                <a:solidFill>
                  <a:schemeClr val="accent1"/>
                </a:solidFill>
              </a:rPr>
              <a:t>Gestión de Elegibilidad para Titulación</a:t>
            </a:r>
            <a:br>
              <a:rPr lang="es-CO" b="0" dirty="0">
                <a:solidFill>
                  <a:schemeClr val="accent1"/>
                </a:solidFill>
              </a:rPr>
            </a:br>
            <a:endParaRPr lang="es-CL" b="0" dirty="0">
              <a:solidFill>
                <a:schemeClr val="accent1"/>
              </a:solidFill>
            </a:endParaRPr>
          </a:p>
        </p:txBody>
      </p:sp>
      <p:sp>
        <p:nvSpPr>
          <p:cNvPr id="8" name="Vertical Text Placeholder 3">
            <a:extLst>
              <a:ext uri="{FF2B5EF4-FFF2-40B4-BE49-F238E27FC236}">
                <a16:creationId xmlns:a16="http://schemas.microsoft.com/office/drawing/2014/main" id="{11A38AE9-737A-335F-7DFD-ADB2E57CC426}"/>
              </a:ext>
            </a:extLst>
          </p:cNvPr>
          <p:cNvSpPr>
            <a:spLocks noGrp="1"/>
          </p:cNvSpPr>
          <p:nvPr>
            <p:ph type="body" orient="vert" sz="quarter" idx="17"/>
          </p:nvPr>
        </p:nvSpPr>
        <p:spPr>
          <a:xfrm rot="10800000">
            <a:off x="45723" y="429768"/>
            <a:ext cx="609600" cy="5486399"/>
          </a:xfrm>
        </p:spPr>
        <p:txBody>
          <a:bodyPr/>
          <a:lstStyle/>
          <a:p>
            <a:r>
              <a:rPr lang="es-CO" sz="1200" dirty="0"/>
              <a:t>Otorgamiento del Título y Ceremonia del estudiante</a:t>
            </a:r>
            <a:endParaRPr lang="es-419" sz="1200" dirty="0"/>
          </a:p>
        </p:txBody>
      </p:sp>
    </p:spTree>
    <p:extLst>
      <p:ext uri="{BB962C8B-B14F-4D97-AF65-F5344CB8AC3E}">
        <p14:creationId xmlns:p14="http://schemas.microsoft.com/office/powerpoint/2010/main" val="1590574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algn="just">
              <a:buClr>
                <a:schemeClr val="tx1"/>
              </a:buClr>
              <a:buFont typeface="Wingdings" panose="05000000000000000000" pitchFamily="2" charset="2"/>
              <a:buChar char="v"/>
            </a:pPr>
            <a:r>
              <a:rPr lang="es-419" sz="2000" dirty="0"/>
              <a:t>Administrar el ingreso del cumplimiento a los No-Cursos que pudiera tener asociado un estudiante en su desarrollo académico, característica que sería utilizada en la evaluación del cumplimiento del CAPP y determinar alguna posible condición académica futura como el egreso o graduación respectiva.</a:t>
            </a:r>
          </a:p>
          <a:p>
            <a:pPr marL="0" indent="0" algn="just">
              <a:buClr>
                <a:srgbClr val="0CB4B4"/>
              </a:buClr>
              <a:buNone/>
            </a:pPr>
            <a:endParaRPr lang="es-419" sz="2000" dirty="0">
              <a:solidFill>
                <a:srgbClr val="7030A0"/>
              </a:solidFill>
            </a:endParaRPr>
          </a:p>
          <a:p>
            <a:pPr marL="285750" indent="-285750" algn="just">
              <a:buClr>
                <a:srgbClr val="0CB4B4"/>
              </a:buClr>
              <a:buFont typeface="Wingdings" panose="05000000000000000000" pitchFamily="2" charset="2"/>
              <a:buChar char="q"/>
            </a:pPr>
            <a:endParaRPr lang="es-419" sz="2000" dirty="0">
              <a:solidFill>
                <a:srgbClr val="7030A0"/>
              </a:solidFill>
            </a:endParaRPr>
          </a:p>
          <a:p>
            <a:pPr marL="285750" indent="-285750" algn="just">
              <a:buClr>
                <a:srgbClr val="0CB4B4"/>
              </a:buClr>
              <a:buFont typeface="Wingdings" panose="05000000000000000000" pitchFamily="2" charset="2"/>
              <a:buChar char="q"/>
            </a:pPr>
            <a:endParaRPr lang="es-419" sz="20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7" name="Título 3">
            <a:extLst>
              <a:ext uri="{FF2B5EF4-FFF2-40B4-BE49-F238E27FC236}">
                <a16:creationId xmlns:a16="http://schemas.microsoft.com/office/drawing/2014/main" id="{A689903E-A1E9-3FDB-E3F5-70E6191E6227}"/>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accent1"/>
                </a:solidFill>
              </a:rPr>
              <a:t>Overview</a:t>
            </a:r>
            <a:r>
              <a:rPr lang="es-ES_tradnl" dirty="0">
                <a:solidFill>
                  <a:schemeClr val="accent1"/>
                </a:solidFill>
              </a:rPr>
              <a:t>: </a:t>
            </a:r>
            <a:r>
              <a:rPr lang="es-419" b="0" dirty="0">
                <a:solidFill>
                  <a:schemeClr val="accent1"/>
                </a:solidFill>
              </a:rPr>
              <a:t>Gestionar otros requisitos académicos</a:t>
            </a:r>
            <a:endParaRPr lang="en-US" b="0" dirty="0">
              <a:solidFill>
                <a:schemeClr val="accent1"/>
              </a:solidFill>
            </a:endParaRPr>
          </a:p>
          <a:p>
            <a:endParaRPr lang="es-419" sz="3200" dirty="0"/>
          </a:p>
        </p:txBody>
      </p:sp>
    </p:spTree>
    <p:extLst>
      <p:ext uri="{BB962C8B-B14F-4D97-AF65-F5344CB8AC3E}">
        <p14:creationId xmlns:p14="http://schemas.microsoft.com/office/powerpoint/2010/main" val="3559927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accent1"/>
                </a:solidFill>
              </a:rPr>
              <a:t>Overview</a:t>
            </a:r>
            <a:r>
              <a:rPr lang="es-ES_tradnl" dirty="0">
                <a:solidFill>
                  <a:schemeClr val="accent1"/>
                </a:solidFill>
              </a:rPr>
              <a:t>: </a:t>
            </a:r>
            <a:r>
              <a:rPr lang="es-419" b="0" dirty="0">
                <a:solidFill>
                  <a:schemeClr val="accent1"/>
                </a:solidFill>
              </a:rPr>
              <a:t>Gestionar otros requisitos académicos</a:t>
            </a:r>
            <a:endParaRPr lang="en-US" b="0" dirty="0">
              <a:solidFill>
                <a:schemeClr val="accent1"/>
              </a:solidFill>
            </a:endParaRPr>
          </a:p>
        </p:txBody>
      </p:sp>
      <p:pic>
        <p:nvPicPr>
          <p:cNvPr id="1026" name="Picture 2">
            <a:extLst>
              <a:ext uri="{FF2B5EF4-FFF2-40B4-BE49-F238E27FC236}">
                <a16:creationId xmlns:a16="http://schemas.microsoft.com/office/drawing/2014/main" id="{23B55C2C-AF69-481D-77A8-5259B89FB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219" y="2219325"/>
            <a:ext cx="10215562" cy="3193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805B702-526D-67BC-D654-3759DD3CDCF7}"/>
              </a:ext>
            </a:extLst>
          </p:cNvPr>
          <p:cNvPicPr>
            <a:picLocks noChangeAspect="1"/>
          </p:cNvPicPr>
          <p:nvPr/>
        </p:nvPicPr>
        <p:blipFill>
          <a:blip r:embed="rId2"/>
          <a:stretch>
            <a:fillRect/>
          </a:stretch>
        </p:blipFill>
        <p:spPr>
          <a:xfrm>
            <a:off x="748145" y="954158"/>
            <a:ext cx="10695710" cy="48708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dirty="0">
                <a:solidFill>
                  <a:schemeClr val="accent1"/>
                </a:solidFill>
              </a:rPr>
              <a:t>Validación del tipo de comité/servicio (</a:t>
            </a:r>
            <a:r>
              <a:rPr lang="es-ES_tradnl" dirty="0">
                <a:solidFill>
                  <a:schemeClr val="accent1"/>
                </a:solidFill>
              </a:rPr>
              <a:t>STVCOMT)</a:t>
            </a:r>
            <a:br>
              <a:rPr lang="es-CL" b="0" dirty="0">
                <a:solidFill>
                  <a:schemeClr val="accent1"/>
                </a:solidFill>
                <a:effectLst/>
              </a:rPr>
            </a:br>
            <a:endParaRPr lang="es-CL" b="0" dirty="0">
              <a:solidFill>
                <a:schemeClr val="accent1"/>
              </a:solidFill>
            </a:endParaRPr>
          </a:p>
        </p:txBody>
      </p:sp>
      <p:sp>
        <p:nvSpPr>
          <p:cNvPr id="7" name="Rectángulo redondeado 5">
            <a:extLst>
              <a:ext uri="{FF2B5EF4-FFF2-40B4-BE49-F238E27FC236}">
                <a16:creationId xmlns:a16="http://schemas.microsoft.com/office/drawing/2014/main" id="{ED4919B6-D252-24E5-202C-ABCA4CFA16E0}"/>
              </a:ext>
            </a:extLst>
          </p:cNvPr>
          <p:cNvSpPr/>
          <p:nvPr/>
        </p:nvSpPr>
        <p:spPr>
          <a:xfrm>
            <a:off x="2495032" y="3227074"/>
            <a:ext cx="6244390" cy="788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espera que los códigos de Comité de evaluación de los requisitos </a:t>
            </a:r>
            <a:r>
              <a:rPr lang="es-ES_tradnl" sz="1200" dirty="0" err="1"/>
              <a:t>cocurriculares</a:t>
            </a:r>
            <a:r>
              <a:rPr lang="es-ES_tradnl" sz="1200" dirty="0"/>
              <a:t> o no curso, si aplica, estén creados en la página STVCOMT.</a:t>
            </a:r>
          </a:p>
        </p:txBody>
      </p:sp>
    </p:spTree>
    <p:extLst>
      <p:ext uri="{BB962C8B-B14F-4D97-AF65-F5344CB8AC3E}">
        <p14:creationId xmlns:p14="http://schemas.microsoft.com/office/powerpoint/2010/main" val="3328105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3754-DDBF-2B3E-FD95-CCE4DF8E748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370D428-DCCA-8C2D-0B20-FBFDE73C3EBA}"/>
              </a:ext>
            </a:extLst>
          </p:cNvPr>
          <p:cNvPicPr>
            <a:picLocks noChangeAspect="1"/>
          </p:cNvPicPr>
          <p:nvPr/>
        </p:nvPicPr>
        <p:blipFill>
          <a:blip r:embed="rId2"/>
          <a:stretch>
            <a:fillRect/>
          </a:stretch>
        </p:blipFill>
        <p:spPr>
          <a:xfrm>
            <a:off x="748145" y="954157"/>
            <a:ext cx="10695710" cy="4862700"/>
          </a:xfrm>
          <a:prstGeom prst="rect">
            <a:avLst/>
          </a:prstGeom>
        </p:spPr>
      </p:pic>
      <p:sp>
        <p:nvSpPr>
          <p:cNvPr id="3" name="Marcador de texto vertical 2">
            <a:extLst>
              <a:ext uri="{FF2B5EF4-FFF2-40B4-BE49-F238E27FC236}">
                <a16:creationId xmlns:a16="http://schemas.microsoft.com/office/drawing/2014/main" id="{1B8101C2-2B1F-0B20-127B-5C9ACEF2BAE9}"/>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7D5CEB0B-41A0-20D8-AB06-38CA0DA8D18D}"/>
              </a:ext>
            </a:extLst>
          </p:cNvPr>
          <p:cNvSpPr>
            <a:spLocks noGrp="1"/>
          </p:cNvSpPr>
          <p:nvPr>
            <p:ph type="title"/>
          </p:nvPr>
        </p:nvSpPr>
        <p:spPr>
          <a:xfrm>
            <a:off x="810247" y="327992"/>
            <a:ext cx="10271883" cy="626165"/>
          </a:xfrm>
        </p:spPr>
        <p:txBody>
          <a:bodyPr/>
          <a:lstStyle/>
          <a:p>
            <a:r>
              <a:rPr lang="es-419" dirty="0">
                <a:solidFill>
                  <a:schemeClr val="accent1"/>
                </a:solidFill>
              </a:rPr>
              <a:t>Validación del estatus del comité/servicio (</a:t>
            </a:r>
            <a:r>
              <a:rPr lang="es-ES_tradnl" dirty="0">
                <a:solidFill>
                  <a:schemeClr val="accent1"/>
                </a:solidFill>
              </a:rPr>
              <a:t>STVCOMS)</a:t>
            </a:r>
            <a:br>
              <a:rPr lang="es-CL" b="0" dirty="0">
                <a:solidFill>
                  <a:schemeClr val="accent1"/>
                </a:solidFill>
                <a:effectLst/>
              </a:rPr>
            </a:br>
            <a:endParaRPr lang="es-CL" b="0" dirty="0">
              <a:solidFill>
                <a:schemeClr val="accent1"/>
              </a:solidFill>
            </a:endParaRPr>
          </a:p>
        </p:txBody>
      </p:sp>
      <p:sp>
        <p:nvSpPr>
          <p:cNvPr id="7" name="Rectángulo redondeado 5">
            <a:extLst>
              <a:ext uri="{FF2B5EF4-FFF2-40B4-BE49-F238E27FC236}">
                <a16:creationId xmlns:a16="http://schemas.microsoft.com/office/drawing/2014/main" id="{840F517B-532B-CCA1-13A6-D48620D9E464}"/>
              </a:ext>
            </a:extLst>
          </p:cNvPr>
          <p:cNvSpPr/>
          <p:nvPr/>
        </p:nvSpPr>
        <p:spPr>
          <a:xfrm>
            <a:off x="2495032" y="3227074"/>
            <a:ext cx="6244390" cy="788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espera que los códigos de estatus de comité estén creados en la página STVCOMS.</a:t>
            </a:r>
          </a:p>
        </p:txBody>
      </p:sp>
    </p:spTree>
    <p:extLst>
      <p:ext uri="{BB962C8B-B14F-4D97-AF65-F5344CB8AC3E}">
        <p14:creationId xmlns:p14="http://schemas.microsoft.com/office/powerpoint/2010/main" val="2817580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A23F1-6D6D-72B7-4249-2F880DA535B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FE46FB8-D130-4047-F566-E4C07F3AD6E3}"/>
              </a:ext>
            </a:extLst>
          </p:cNvPr>
          <p:cNvPicPr>
            <a:picLocks noChangeAspect="1"/>
          </p:cNvPicPr>
          <p:nvPr/>
        </p:nvPicPr>
        <p:blipFill>
          <a:blip r:embed="rId2"/>
          <a:stretch>
            <a:fillRect/>
          </a:stretch>
        </p:blipFill>
        <p:spPr>
          <a:xfrm>
            <a:off x="810247" y="1323180"/>
            <a:ext cx="10695710" cy="4849019"/>
          </a:xfrm>
          <a:prstGeom prst="rect">
            <a:avLst/>
          </a:prstGeom>
        </p:spPr>
      </p:pic>
      <p:sp>
        <p:nvSpPr>
          <p:cNvPr id="3" name="Marcador de texto vertical 2">
            <a:extLst>
              <a:ext uri="{FF2B5EF4-FFF2-40B4-BE49-F238E27FC236}">
                <a16:creationId xmlns:a16="http://schemas.microsoft.com/office/drawing/2014/main" id="{77E44A99-F11F-1360-B784-0BBC0E9C326B}"/>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B52A08C3-D5E3-F67B-1F7C-0E33C5DDAF4E}"/>
              </a:ext>
            </a:extLst>
          </p:cNvPr>
          <p:cNvSpPr>
            <a:spLocks noGrp="1"/>
          </p:cNvSpPr>
          <p:nvPr>
            <p:ph type="title"/>
          </p:nvPr>
        </p:nvSpPr>
        <p:spPr>
          <a:xfrm>
            <a:off x="810247" y="327992"/>
            <a:ext cx="10271883" cy="626165"/>
          </a:xfrm>
        </p:spPr>
        <p:txBody>
          <a:bodyPr/>
          <a:lstStyle/>
          <a:p>
            <a:r>
              <a:rPr lang="es-419" dirty="0">
                <a:solidFill>
                  <a:schemeClr val="accent1"/>
                </a:solidFill>
              </a:rPr>
              <a:t>Validación de rol/función del miembro del comité (</a:t>
            </a:r>
            <a:r>
              <a:rPr lang="es-ES_tradnl" dirty="0">
                <a:solidFill>
                  <a:schemeClr val="accent1"/>
                </a:solidFill>
              </a:rPr>
              <a:t>STVCOMF)</a:t>
            </a:r>
            <a:br>
              <a:rPr lang="es-CL" b="0" dirty="0">
                <a:solidFill>
                  <a:schemeClr val="accent1"/>
                </a:solidFill>
                <a:effectLst/>
              </a:rPr>
            </a:br>
            <a:endParaRPr lang="es-CL" b="0" dirty="0">
              <a:solidFill>
                <a:schemeClr val="accent1"/>
              </a:solidFill>
            </a:endParaRPr>
          </a:p>
        </p:txBody>
      </p:sp>
      <p:sp>
        <p:nvSpPr>
          <p:cNvPr id="7" name="Rectángulo redondeado 5">
            <a:extLst>
              <a:ext uri="{FF2B5EF4-FFF2-40B4-BE49-F238E27FC236}">
                <a16:creationId xmlns:a16="http://schemas.microsoft.com/office/drawing/2014/main" id="{97E75127-7CD1-70DB-E684-C7481C6FEB52}"/>
              </a:ext>
            </a:extLst>
          </p:cNvPr>
          <p:cNvSpPr/>
          <p:nvPr/>
        </p:nvSpPr>
        <p:spPr>
          <a:xfrm>
            <a:off x="2557134" y="3596097"/>
            <a:ext cx="6244390" cy="788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espera que los códigos de los roles de los miembros de los comité evaluadores estén creados en la página STVCOMF.</a:t>
            </a:r>
          </a:p>
        </p:txBody>
      </p:sp>
    </p:spTree>
    <p:extLst>
      <p:ext uri="{BB962C8B-B14F-4D97-AF65-F5344CB8AC3E}">
        <p14:creationId xmlns:p14="http://schemas.microsoft.com/office/powerpoint/2010/main" val="2150271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2FE6A-7FCB-DED3-05AD-739368E18479}"/>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43368F0E-C89E-17BC-E8CA-CE2BE1907383}"/>
              </a:ext>
            </a:extLst>
          </p:cNvPr>
          <p:cNvPicPr>
            <a:picLocks noChangeAspect="1"/>
          </p:cNvPicPr>
          <p:nvPr/>
        </p:nvPicPr>
        <p:blipFill>
          <a:blip r:embed="rId2"/>
          <a:stretch>
            <a:fillRect/>
          </a:stretch>
        </p:blipFill>
        <p:spPr>
          <a:xfrm>
            <a:off x="923887" y="1367349"/>
            <a:ext cx="11078331" cy="4804850"/>
          </a:xfrm>
          <a:prstGeom prst="rect">
            <a:avLst/>
          </a:prstGeom>
        </p:spPr>
      </p:pic>
      <p:sp>
        <p:nvSpPr>
          <p:cNvPr id="3" name="Marcador de texto vertical 2">
            <a:extLst>
              <a:ext uri="{FF2B5EF4-FFF2-40B4-BE49-F238E27FC236}">
                <a16:creationId xmlns:a16="http://schemas.microsoft.com/office/drawing/2014/main" id="{32731664-5513-84AC-CDA5-29D1982C0F83}"/>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6FB7CC04-B4F6-4C25-0283-FFC9C0795624}"/>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tipo de documento de acreditación (</a:t>
            </a:r>
            <a:r>
              <a:rPr lang="es-ES_tradnl" dirty="0">
                <a:solidFill>
                  <a:schemeClr val="accent1"/>
                </a:solidFill>
              </a:rPr>
              <a:t>STVQPTP)</a:t>
            </a:r>
            <a:br>
              <a:rPr lang="es-CL" b="0" dirty="0">
                <a:solidFill>
                  <a:schemeClr val="accent1"/>
                </a:solidFill>
                <a:effectLst/>
              </a:rPr>
            </a:br>
            <a:endParaRPr lang="es-CL" b="0" dirty="0">
              <a:solidFill>
                <a:schemeClr val="accent1"/>
              </a:solidFill>
            </a:endParaRPr>
          </a:p>
        </p:txBody>
      </p:sp>
      <p:sp>
        <p:nvSpPr>
          <p:cNvPr id="7" name="Rectángulo redondeado 5">
            <a:extLst>
              <a:ext uri="{FF2B5EF4-FFF2-40B4-BE49-F238E27FC236}">
                <a16:creationId xmlns:a16="http://schemas.microsoft.com/office/drawing/2014/main" id="{FBA6D180-6DC6-E152-73CE-FCE6B651CEE1}"/>
              </a:ext>
            </a:extLst>
          </p:cNvPr>
          <p:cNvSpPr/>
          <p:nvPr/>
        </p:nvSpPr>
        <p:spPr>
          <a:xfrm>
            <a:off x="2626145" y="4303463"/>
            <a:ext cx="6244390" cy="788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espera que los códigos de los roles de los documentos que acreditan el cumplimiento del requisito no curso estén creados en la página STVQPTP.</a:t>
            </a:r>
          </a:p>
        </p:txBody>
      </p:sp>
    </p:spTree>
    <p:extLst>
      <p:ext uri="{BB962C8B-B14F-4D97-AF65-F5344CB8AC3E}">
        <p14:creationId xmlns:p14="http://schemas.microsoft.com/office/powerpoint/2010/main" val="382120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9DF1E-00AB-9CEC-4B0B-8906F6D6D39C}"/>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9957FF6B-0168-CD4B-9199-C6DFF7B986EF}"/>
              </a:ext>
            </a:extLst>
          </p:cNvPr>
          <p:cNvPicPr>
            <a:picLocks noChangeAspect="1"/>
          </p:cNvPicPr>
          <p:nvPr/>
        </p:nvPicPr>
        <p:blipFill>
          <a:blip r:embed="rId2"/>
          <a:stretch>
            <a:fillRect/>
          </a:stretch>
        </p:blipFill>
        <p:spPr>
          <a:xfrm>
            <a:off x="810247" y="1390066"/>
            <a:ext cx="10633608" cy="4845554"/>
          </a:xfrm>
          <a:prstGeom prst="rect">
            <a:avLst/>
          </a:prstGeom>
        </p:spPr>
      </p:pic>
      <p:sp>
        <p:nvSpPr>
          <p:cNvPr id="3" name="Marcador de texto vertical 2">
            <a:extLst>
              <a:ext uri="{FF2B5EF4-FFF2-40B4-BE49-F238E27FC236}">
                <a16:creationId xmlns:a16="http://schemas.microsoft.com/office/drawing/2014/main" id="{CF3E35ED-714D-63E2-52C7-B9BA35CF6C60}"/>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AD3DEA1F-28E7-9084-2251-8A87C5E7DACD}"/>
              </a:ext>
            </a:extLst>
          </p:cNvPr>
          <p:cNvSpPr>
            <a:spLocks noGrp="1"/>
          </p:cNvSpPr>
          <p:nvPr>
            <p:ph type="title"/>
          </p:nvPr>
        </p:nvSpPr>
        <p:spPr>
          <a:xfrm>
            <a:off x="810247" y="327992"/>
            <a:ext cx="10271883" cy="626165"/>
          </a:xfrm>
        </p:spPr>
        <p:txBody>
          <a:bodyPr/>
          <a:lstStyle/>
          <a:p>
            <a:r>
              <a:rPr lang="es-419" dirty="0">
                <a:solidFill>
                  <a:schemeClr val="accent1"/>
                </a:solidFill>
              </a:rPr>
              <a:t>Validación de los códigos de los requisitos </a:t>
            </a:r>
            <a:r>
              <a:rPr lang="es-419" dirty="0" err="1">
                <a:solidFill>
                  <a:schemeClr val="accent1"/>
                </a:solidFill>
              </a:rPr>
              <a:t>cocurriculares</a:t>
            </a:r>
            <a:r>
              <a:rPr lang="es-419" dirty="0">
                <a:solidFill>
                  <a:schemeClr val="accent1"/>
                </a:solidFill>
              </a:rPr>
              <a:t> (</a:t>
            </a:r>
            <a:r>
              <a:rPr lang="es-ES_tradnl" dirty="0">
                <a:solidFill>
                  <a:schemeClr val="accent1"/>
                </a:solidFill>
              </a:rPr>
              <a:t>STVNCRQ)</a:t>
            </a:r>
            <a:br>
              <a:rPr lang="es-CL" b="0" dirty="0">
                <a:solidFill>
                  <a:schemeClr val="accent1"/>
                </a:solidFill>
                <a:effectLst/>
              </a:rPr>
            </a:br>
            <a:endParaRPr lang="es-CL" b="0" dirty="0">
              <a:solidFill>
                <a:schemeClr val="accent1"/>
              </a:solidFill>
            </a:endParaRPr>
          </a:p>
        </p:txBody>
      </p:sp>
      <p:sp>
        <p:nvSpPr>
          <p:cNvPr id="7" name="Rectángulo redondeado 5">
            <a:extLst>
              <a:ext uri="{FF2B5EF4-FFF2-40B4-BE49-F238E27FC236}">
                <a16:creationId xmlns:a16="http://schemas.microsoft.com/office/drawing/2014/main" id="{BF7DD573-5579-B570-3419-60A019F97529}"/>
              </a:ext>
            </a:extLst>
          </p:cNvPr>
          <p:cNvSpPr/>
          <p:nvPr/>
        </p:nvSpPr>
        <p:spPr>
          <a:xfrm>
            <a:off x="2190232" y="3642710"/>
            <a:ext cx="6244390" cy="788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espera que los códigos de no cursos se encuentran configurados en el ambiente basados en la definición de No-Cursos asociados a los programas de estudios de los estudiantes.</a:t>
            </a:r>
          </a:p>
        </p:txBody>
      </p:sp>
    </p:spTree>
    <p:extLst>
      <p:ext uri="{BB962C8B-B14F-4D97-AF65-F5344CB8AC3E}">
        <p14:creationId xmlns:p14="http://schemas.microsoft.com/office/powerpoint/2010/main" val="3129288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C7753-0038-BFA2-5E0E-273D4166EB9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3D6F2E4-12B6-46EC-24E9-9D43B12DE2E9}"/>
              </a:ext>
            </a:extLst>
          </p:cNvPr>
          <p:cNvPicPr>
            <a:picLocks noChangeAspect="1"/>
          </p:cNvPicPr>
          <p:nvPr/>
        </p:nvPicPr>
        <p:blipFill>
          <a:blip r:embed="rId2"/>
          <a:stretch>
            <a:fillRect/>
          </a:stretch>
        </p:blipFill>
        <p:spPr>
          <a:xfrm>
            <a:off x="810247" y="1388239"/>
            <a:ext cx="10784345" cy="4667146"/>
          </a:xfrm>
          <a:prstGeom prst="rect">
            <a:avLst/>
          </a:prstGeom>
        </p:spPr>
      </p:pic>
      <p:sp>
        <p:nvSpPr>
          <p:cNvPr id="3" name="Marcador de texto vertical 2">
            <a:extLst>
              <a:ext uri="{FF2B5EF4-FFF2-40B4-BE49-F238E27FC236}">
                <a16:creationId xmlns:a16="http://schemas.microsoft.com/office/drawing/2014/main" id="{D0E8722F-193F-90CE-6D3D-F1CC76B16EFB}"/>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F21D0FAC-F7C1-71D0-2B11-7B2D843336E6}"/>
              </a:ext>
            </a:extLst>
          </p:cNvPr>
          <p:cNvSpPr>
            <a:spLocks noGrp="1"/>
          </p:cNvSpPr>
          <p:nvPr>
            <p:ph type="title"/>
          </p:nvPr>
        </p:nvSpPr>
        <p:spPr>
          <a:xfrm>
            <a:off x="810247" y="327992"/>
            <a:ext cx="10271883" cy="626165"/>
          </a:xfrm>
        </p:spPr>
        <p:txBody>
          <a:bodyPr/>
          <a:lstStyle/>
          <a:p>
            <a:r>
              <a:rPr lang="es-419" dirty="0">
                <a:solidFill>
                  <a:schemeClr val="accent1"/>
                </a:solidFill>
              </a:rPr>
              <a:t>Validación de los códigos de estatus de los requisitos </a:t>
            </a:r>
            <a:r>
              <a:rPr lang="es-419" dirty="0" err="1">
                <a:solidFill>
                  <a:schemeClr val="accent1"/>
                </a:solidFill>
              </a:rPr>
              <a:t>cocurriculares</a:t>
            </a:r>
            <a:r>
              <a:rPr lang="es-419" dirty="0">
                <a:solidFill>
                  <a:schemeClr val="accent1"/>
                </a:solidFill>
              </a:rPr>
              <a:t> </a:t>
            </a:r>
            <a:r>
              <a:rPr lang="es-ES_tradnl" dirty="0">
                <a:solidFill>
                  <a:schemeClr val="accent1"/>
                </a:solidFill>
              </a:rPr>
              <a:t>(STVNCST)</a:t>
            </a:r>
            <a:endParaRPr lang="es-CL" dirty="0">
              <a:solidFill>
                <a:schemeClr val="accent1"/>
              </a:solidFill>
            </a:endParaRPr>
          </a:p>
        </p:txBody>
      </p:sp>
      <p:sp>
        <p:nvSpPr>
          <p:cNvPr id="9" name="Rectángulo redondeado 5">
            <a:extLst>
              <a:ext uri="{FF2B5EF4-FFF2-40B4-BE49-F238E27FC236}">
                <a16:creationId xmlns:a16="http://schemas.microsoft.com/office/drawing/2014/main" id="{34F1E499-4020-F8AB-63DF-4FEC1EA7BE84}"/>
              </a:ext>
            </a:extLst>
          </p:cNvPr>
          <p:cNvSpPr/>
          <p:nvPr/>
        </p:nvSpPr>
        <p:spPr>
          <a:xfrm>
            <a:off x="1666979" y="3428999"/>
            <a:ext cx="7435273" cy="8497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En esta página administrativa se definen los estados que podrían tener los distintos requerimientos </a:t>
            </a:r>
            <a:r>
              <a:rPr lang="es-ES_tradnl" sz="1200" dirty="0" err="1"/>
              <a:t>cocurricular</a:t>
            </a:r>
            <a:r>
              <a:rPr lang="es-ES_tradnl" sz="1200" dirty="0"/>
              <a:t> de un programa de estudios, definiendo en cada uno si corresponde a un estado de cumplimiento o no del mismo.</a:t>
            </a:r>
          </a:p>
        </p:txBody>
      </p:sp>
    </p:spTree>
    <p:extLst>
      <p:ext uri="{BB962C8B-B14F-4D97-AF65-F5344CB8AC3E}">
        <p14:creationId xmlns:p14="http://schemas.microsoft.com/office/powerpoint/2010/main" val="818538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b="1" dirty="0">
                <a:solidFill>
                  <a:schemeClr val="bg1"/>
                </a:solidFill>
              </a:rPr>
              <a:t>Gestionar otros requisitos académicos</a:t>
            </a: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dirty="0"/>
              <a:t>Registro del Comité evaluador del requisito </a:t>
            </a:r>
            <a:r>
              <a:rPr lang="es-419" dirty="0" err="1"/>
              <a:t>cocurricular</a:t>
            </a:r>
            <a:endParaRPr lang="es-419" dirty="0"/>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r>
              <a:rPr lang="es-419" dirty="0"/>
              <a:t>Gestionar otros requisitos académicos</a:t>
            </a:r>
            <a:endParaRPr lang="en-US" dirty="0"/>
          </a:p>
          <a:p>
            <a:endParaRPr lang="en-US" dirty="0"/>
          </a:p>
        </p:txBody>
      </p:sp>
    </p:spTree>
    <p:extLst>
      <p:ext uri="{BB962C8B-B14F-4D97-AF65-F5344CB8AC3E}">
        <p14:creationId xmlns:p14="http://schemas.microsoft.com/office/powerpoint/2010/main" val="2914006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C09E-2215-29F7-CBEB-55BDBEA8F821}"/>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1A79D852-5C15-606B-F7A9-11CA03A7FCC3}"/>
              </a:ext>
            </a:extLst>
          </p:cNvPr>
          <p:cNvPicPr>
            <a:picLocks noChangeAspect="1"/>
          </p:cNvPicPr>
          <p:nvPr/>
        </p:nvPicPr>
        <p:blipFill>
          <a:blip r:embed="rId2"/>
          <a:stretch>
            <a:fillRect/>
          </a:stretch>
        </p:blipFill>
        <p:spPr>
          <a:xfrm>
            <a:off x="810247" y="1361207"/>
            <a:ext cx="10149004" cy="1021250"/>
          </a:xfrm>
          <a:prstGeom prst="rect">
            <a:avLst/>
          </a:prstGeom>
        </p:spPr>
      </p:pic>
      <p:sp>
        <p:nvSpPr>
          <p:cNvPr id="3" name="Marcador de texto vertical 2">
            <a:extLst>
              <a:ext uri="{FF2B5EF4-FFF2-40B4-BE49-F238E27FC236}">
                <a16:creationId xmlns:a16="http://schemas.microsoft.com/office/drawing/2014/main" id="{40B2B09E-ED6A-D03F-E68D-D6EC3828FD76}"/>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C3BFB09E-92E7-DC6E-F72A-8C6B7B3DA380}"/>
              </a:ext>
            </a:extLst>
          </p:cNvPr>
          <p:cNvSpPr>
            <a:spLocks noGrp="1"/>
          </p:cNvSpPr>
          <p:nvPr>
            <p:ph type="title"/>
          </p:nvPr>
        </p:nvSpPr>
        <p:spPr>
          <a:xfrm>
            <a:off x="810247" y="327992"/>
            <a:ext cx="10271883" cy="626165"/>
          </a:xfrm>
        </p:spPr>
        <p:txBody>
          <a:bodyPr/>
          <a:lstStyle/>
          <a:p>
            <a:r>
              <a:rPr lang="es-419" dirty="0">
                <a:solidFill>
                  <a:schemeClr val="accent1"/>
                </a:solidFill>
              </a:rPr>
              <a:t>Registro del Comité evaluador (SHACOMI)</a:t>
            </a:r>
            <a:endParaRPr lang="es-CL" dirty="0">
              <a:solidFill>
                <a:schemeClr val="accent1"/>
              </a:solidFill>
            </a:endParaRPr>
          </a:p>
        </p:txBody>
      </p:sp>
      <p:sp>
        <p:nvSpPr>
          <p:cNvPr id="17" name="Rectángulo redondeado 5">
            <a:extLst>
              <a:ext uri="{FF2B5EF4-FFF2-40B4-BE49-F238E27FC236}">
                <a16:creationId xmlns:a16="http://schemas.microsoft.com/office/drawing/2014/main" id="{A630620C-B7A9-755F-4C26-87024F7106BD}"/>
              </a:ext>
            </a:extLst>
          </p:cNvPr>
          <p:cNvSpPr/>
          <p:nvPr/>
        </p:nvSpPr>
        <p:spPr>
          <a:xfrm>
            <a:off x="2041236" y="2866078"/>
            <a:ext cx="7656946" cy="1862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b="1" dirty="0"/>
              <a:t> </a:t>
            </a:r>
            <a:r>
              <a:rPr lang="es-CO" sz="1200" dirty="0"/>
              <a:t>Para </a:t>
            </a:r>
            <a:r>
              <a:rPr lang="es-419" sz="1200" dirty="0"/>
              <a:t>registrar el comité evaluador de un requisito para un estudiante ingrese a la página SHACOMI y siga los siguientes pasos:</a:t>
            </a:r>
          </a:p>
          <a:p>
            <a:endParaRPr lang="es-419" sz="1200" dirty="0"/>
          </a:p>
          <a:p>
            <a:pPr marL="228600" indent="-228600">
              <a:buFont typeface="+mj-lt"/>
              <a:buAutoNum type="arabicPeriod"/>
            </a:pPr>
            <a:r>
              <a:rPr lang="es-CO" sz="1200" dirty="0"/>
              <a:t>Ingrese o seleccione el código del comité</a:t>
            </a:r>
          </a:p>
          <a:p>
            <a:pPr marL="228600" indent="-228600">
              <a:buFont typeface="+mj-lt"/>
              <a:buAutoNum type="arabicPeriod"/>
            </a:pPr>
            <a:r>
              <a:rPr lang="es-CO" sz="1200" dirty="0"/>
              <a:t>Ingrese o seleccione el ID del estudiante</a:t>
            </a:r>
          </a:p>
          <a:p>
            <a:pPr marL="228600" indent="-228600">
              <a:buFont typeface="+mj-lt"/>
              <a:buAutoNum type="arabicPeriod"/>
            </a:pPr>
            <a:r>
              <a:rPr lang="es-CO" sz="1200" dirty="0"/>
              <a:t>Presione el botón Ir.</a:t>
            </a:r>
          </a:p>
        </p:txBody>
      </p:sp>
      <p:sp>
        <p:nvSpPr>
          <p:cNvPr id="18" name="Rectángulo 17">
            <a:extLst>
              <a:ext uri="{FF2B5EF4-FFF2-40B4-BE49-F238E27FC236}">
                <a16:creationId xmlns:a16="http://schemas.microsoft.com/office/drawing/2014/main" id="{B58285FF-4F3D-E9E0-1E8E-480C64A6F011}"/>
              </a:ext>
            </a:extLst>
          </p:cNvPr>
          <p:cNvSpPr/>
          <p:nvPr/>
        </p:nvSpPr>
        <p:spPr>
          <a:xfrm>
            <a:off x="945509" y="1627158"/>
            <a:ext cx="1696091" cy="3080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9DBF1B4D-3C9F-A5F0-73D5-DE0B966A5FFE}"/>
              </a:ext>
            </a:extLst>
          </p:cNvPr>
          <p:cNvSpPr/>
          <p:nvPr/>
        </p:nvSpPr>
        <p:spPr>
          <a:xfrm>
            <a:off x="2696137" y="146634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20" name="Rectángulo 19">
            <a:extLst>
              <a:ext uri="{FF2B5EF4-FFF2-40B4-BE49-F238E27FC236}">
                <a16:creationId xmlns:a16="http://schemas.microsoft.com/office/drawing/2014/main" id="{FD314735-4A05-3180-C62B-5C1C5FA9294A}"/>
              </a:ext>
            </a:extLst>
          </p:cNvPr>
          <p:cNvSpPr/>
          <p:nvPr/>
        </p:nvSpPr>
        <p:spPr>
          <a:xfrm>
            <a:off x="5697138" y="1627158"/>
            <a:ext cx="156264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E0E968DA-BAF7-B9AA-1C3D-0A2566275C14}"/>
              </a:ext>
            </a:extLst>
          </p:cNvPr>
          <p:cNvSpPr/>
          <p:nvPr/>
        </p:nvSpPr>
        <p:spPr>
          <a:xfrm>
            <a:off x="5461799" y="144734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7" name="Rectángulo 26">
            <a:extLst>
              <a:ext uri="{FF2B5EF4-FFF2-40B4-BE49-F238E27FC236}">
                <a16:creationId xmlns:a16="http://schemas.microsoft.com/office/drawing/2014/main" id="{CC55B001-7C2F-290C-D88A-AC8DCD8FA9F6}"/>
              </a:ext>
            </a:extLst>
          </p:cNvPr>
          <p:cNvSpPr/>
          <p:nvPr/>
        </p:nvSpPr>
        <p:spPr>
          <a:xfrm>
            <a:off x="10603345" y="1652127"/>
            <a:ext cx="355906" cy="176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8" name="Rectángulo redondeado 15">
            <a:extLst>
              <a:ext uri="{FF2B5EF4-FFF2-40B4-BE49-F238E27FC236}">
                <a16:creationId xmlns:a16="http://schemas.microsoft.com/office/drawing/2014/main" id="{AC75F7E9-A672-C0B1-4A29-F87F133453E0}"/>
              </a:ext>
            </a:extLst>
          </p:cNvPr>
          <p:cNvSpPr/>
          <p:nvPr/>
        </p:nvSpPr>
        <p:spPr>
          <a:xfrm>
            <a:off x="10422298" y="1563678"/>
            <a:ext cx="161449" cy="1768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3120389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EE53C-7C45-D2F1-453E-93D33E6BADA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9F3948D-3307-25B7-D300-7970550B37CC}"/>
              </a:ext>
            </a:extLst>
          </p:cNvPr>
          <p:cNvPicPr>
            <a:picLocks noChangeAspect="1"/>
          </p:cNvPicPr>
          <p:nvPr/>
        </p:nvPicPr>
        <p:blipFill>
          <a:blip r:embed="rId2"/>
          <a:stretch>
            <a:fillRect/>
          </a:stretch>
        </p:blipFill>
        <p:spPr>
          <a:xfrm>
            <a:off x="779985" y="1030682"/>
            <a:ext cx="10765470" cy="4886255"/>
          </a:xfrm>
          <a:prstGeom prst="rect">
            <a:avLst/>
          </a:prstGeom>
        </p:spPr>
      </p:pic>
      <p:sp>
        <p:nvSpPr>
          <p:cNvPr id="3" name="Marcador de texto vertical 2">
            <a:extLst>
              <a:ext uri="{FF2B5EF4-FFF2-40B4-BE49-F238E27FC236}">
                <a16:creationId xmlns:a16="http://schemas.microsoft.com/office/drawing/2014/main" id="{53AF189A-D947-AE31-594A-52849D444850}"/>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C5766DCC-5646-E758-D8FB-B843383DCF35}"/>
              </a:ext>
            </a:extLst>
          </p:cNvPr>
          <p:cNvSpPr>
            <a:spLocks noGrp="1"/>
          </p:cNvSpPr>
          <p:nvPr>
            <p:ph type="title"/>
          </p:nvPr>
        </p:nvSpPr>
        <p:spPr>
          <a:xfrm>
            <a:off x="810247" y="327992"/>
            <a:ext cx="10271883" cy="626165"/>
          </a:xfrm>
        </p:spPr>
        <p:txBody>
          <a:bodyPr/>
          <a:lstStyle/>
          <a:p>
            <a:r>
              <a:rPr lang="es-419" dirty="0">
                <a:solidFill>
                  <a:schemeClr val="accent1"/>
                </a:solidFill>
              </a:rPr>
              <a:t>Registro del Comité evaluador (SHACOMI)</a:t>
            </a:r>
            <a:endParaRPr lang="es-CL" dirty="0">
              <a:solidFill>
                <a:schemeClr val="accent1"/>
              </a:solidFill>
            </a:endParaRPr>
          </a:p>
        </p:txBody>
      </p:sp>
      <p:sp>
        <p:nvSpPr>
          <p:cNvPr id="17" name="Rectángulo redondeado 5">
            <a:extLst>
              <a:ext uri="{FF2B5EF4-FFF2-40B4-BE49-F238E27FC236}">
                <a16:creationId xmlns:a16="http://schemas.microsoft.com/office/drawing/2014/main" id="{53BE21A8-2891-F134-B727-D9733E20136F}"/>
              </a:ext>
            </a:extLst>
          </p:cNvPr>
          <p:cNvSpPr/>
          <p:nvPr/>
        </p:nvSpPr>
        <p:spPr>
          <a:xfrm>
            <a:off x="1958109" y="3248631"/>
            <a:ext cx="7656946" cy="15889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CO" sz="1200" dirty="0"/>
              <a:t>Por defecto, el sistema toma la fecha actual como fecha de inicio del comité. Ingrese la fecha en que se llevará a cabo la evaluación en el campo.</a:t>
            </a:r>
          </a:p>
          <a:p>
            <a:pPr marL="228600" indent="-228600">
              <a:buFont typeface="+mj-lt"/>
              <a:buAutoNum type="arabicPeriod" startAt="4"/>
            </a:pPr>
            <a:r>
              <a:rPr lang="es-CO" sz="1200" dirty="0"/>
              <a:t>Por defecto, el sistema toma la fecha actual como fecha de disolución. Esta fecha puede ser eliminada.</a:t>
            </a:r>
          </a:p>
          <a:p>
            <a:pPr marL="228600" indent="-228600">
              <a:buFont typeface="+mj-lt"/>
              <a:buAutoNum type="arabicPeriod" startAt="4"/>
            </a:pPr>
            <a:r>
              <a:rPr lang="es-CO" sz="1200" dirty="0"/>
              <a:t>Ingrese o seleccione el código del estatus del comité.</a:t>
            </a:r>
          </a:p>
          <a:p>
            <a:pPr marL="228600" indent="-228600">
              <a:buFont typeface="+mj-lt"/>
              <a:buAutoNum type="arabicPeriod" startAt="4"/>
            </a:pPr>
            <a:r>
              <a:rPr lang="es-CO" sz="1200" dirty="0"/>
              <a:t>Guarde la información.</a:t>
            </a:r>
          </a:p>
          <a:p>
            <a:pPr marL="228600" indent="-228600">
              <a:buFont typeface="+mj-lt"/>
              <a:buAutoNum type="arabicPeriod" startAt="4"/>
            </a:pPr>
            <a:r>
              <a:rPr lang="es-CO" sz="1200" dirty="0"/>
              <a:t>Pase al siguiente bloque</a:t>
            </a:r>
          </a:p>
        </p:txBody>
      </p:sp>
      <p:sp>
        <p:nvSpPr>
          <p:cNvPr id="18" name="Rectángulo 17">
            <a:extLst>
              <a:ext uri="{FF2B5EF4-FFF2-40B4-BE49-F238E27FC236}">
                <a16:creationId xmlns:a16="http://schemas.microsoft.com/office/drawing/2014/main" id="{290CE84B-AE0E-921B-629E-88B45A5623D2}"/>
              </a:ext>
            </a:extLst>
          </p:cNvPr>
          <p:cNvSpPr/>
          <p:nvPr/>
        </p:nvSpPr>
        <p:spPr>
          <a:xfrm>
            <a:off x="963109" y="1668209"/>
            <a:ext cx="156264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080844D8-7DEB-FAD1-CE0B-31CBC837EE0A}"/>
              </a:ext>
            </a:extLst>
          </p:cNvPr>
          <p:cNvSpPr/>
          <p:nvPr/>
        </p:nvSpPr>
        <p:spPr>
          <a:xfrm>
            <a:off x="2576681" y="154675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20" name="Rectángulo 19">
            <a:extLst>
              <a:ext uri="{FF2B5EF4-FFF2-40B4-BE49-F238E27FC236}">
                <a16:creationId xmlns:a16="http://schemas.microsoft.com/office/drawing/2014/main" id="{7AB65E18-672A-B23C-D062-A2A804909933}"/>
              </a:ext>
            </a:extLst>
          </p:cNvPr>
          <p:cNvSpPr/>
          <p:nvPr/>
        </p:nvSpPr>
        <p:spPr>
          <a:xfrm>
            <a:off x="1198448" y="2158572"/>
            <a:ext cx="1224851" cy="135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2AD8FB02-72CF-F0E1-52C2-7D6B3F95DF52}"/>
              </a:ext>
            </a:extLst>
          </p:cNvPr>
          <p:cNvSpPr/>
          <p:nvPr/>
        </p:nvSpPr>
        <p:spPr>
          <a:xfrm>
            <a:off x="2474226" y="228245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27" name="Rectángulo 26">
            <a:extLst>
              <a:ext uri="{FF2B5EF4-FFF2-40B4-BE49-F238E27FC236}">
                <a16:creationId xmlns:a16="http://schemas.microsoft.com/office/drawing/2014/main" id="{09E98137-C7AB-BAEE-D0A4-001792FB0556}"/>
              </a:ext>
            </a:extLst>
          </p:cNvPr>
          <p:cNvSpPr/>
          <p:nvPr/>
        </p:nvSpPr>
        <p:spPr>
          <a:xfrm>
            <a:off x="11074581" y="5641502"/>
            <a:ext cx="489346" cy="1950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8" name="Rectángulo redondeado 15">
            <a:extLst>
              <a:ext uri="{FF2B5EF4-FFF2-40B4-BE49-F238E27FC236}">
                <a16:creationId xmlns:a16="http://schemas.microsoft.com/office/drawing/2014/main" id="{ECB69BE7-EBBC-7821-0140-33979C01AA9D}"/>
              </a:ext>
            </a:extLst>
          </p:cNvPr>
          <p:cNvSpPr/>
          <p:nvPr/>
        </p:nvSpPr>
        <p:spPr>
          <a:xfrm>
            <a:off x="10875062" y="5543817"/>
            <a:ext cx="161449" cy="1768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6" name="Rectángulo 5">
            <a:extLst>
              <a:ext uri="{FF2B5EF4-FFF2-40B4-BE49-F238E27FC236}">
                <a16:creationId xmlns:a16="http://schemas.microsoft.com/office/drawing/2014/main" id="{1ED49684-EDA7-0016-14F3-24328AD70773}"/>
              </a:ext>
            </a:extLst>
          </p:cNvPr>
          <p:cNvSpPr/>
          <p:nvPr/>
        </p:nvSpPr>
        <p:spPr>
          <a:xfrm>
            <a:off x="860655" y="1981100"/>
            <a:ext cx="156264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75EC2A1B-80CC-A8D9-C6F2-945BE0E89D90}"/>
              </a:ext>
            </a:extLst>
          </p:cNvPr>
          <p:cNvSpPr/>
          <p:nvPr/>
        </p:nvSpPr>
        <p:spPr>
          <a:xfrm>
            <a:off x="2474227" y="185964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8" name="Rectángulo 7">
            <a:extLst>
              <a:ext uri="{FF2B5EF4-FFF2-40B4-BE49-F238E27FC236}">
                <a16:creationId xmlns:a16="http://schemas.microsoft.com/office/drawing/2014/main" id="{EAD01FFB-F216-7DA3-AA18-13BBC2E6A3DC}"/>
              </a:ext>
            </a:extLst>
          </p:cNvPr>
          <p:cNvSpPr/>
          <p:nvPr/>
        </p:nvSpPr>
        <p:spPr>
          <a:xfrm>
            <a:off x="1050938" y="5623030"/>
            <a:ext cx="316044" cy="20428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9E94E054-CD80-5291-3508-3328A10D6C8D}"/>
              </a:ext>
            </a:extLst>
          </p:cNvPr>
          <p:cNvSpPr/>
          <p:nvPr/>
        </p:nvSpPr>
        <p:spPr>
          <a:xfrm>
            <a:off x="1456641" y="5464605"/>
            <a:ext cx="161449" cy="1768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Tree>
    <p:extLst>
      <p:ext uri="{BB962C8B-B14F-4D97-AF65-F5344CB8AC3E}">
        <p14:creationId xmlns:p14="http://schemas.microsoft.com/office/powerpoint/2010/main" val="2013871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09275-3E15-4B3E-E3DF-65BA6C1F944C}"/>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A7978B0-847E-73C4-4EBF-DE1E15EFFBCF}"/>
              </a:ext>
            </a:extLst>
          </p:cNvPr>
          <p:cNvPicPr>
            <a:picLocks noChangeAspect="1"/>
          </p:cNvPicPr>
          <p:nvPr/>
        </p:nvPicPr>
        <p:blipFill>
          <a:blip r:embed="rId2"/>
          <a:stretch>
            <a:fillRect/>
          </a:stretch>
        </p:blipFill>
        <p:spPr>
          <a:xfrm>
            <a:off x="779985" y="996276"/>
            <a:ext cx="10783942" cy="4894640"/>
          </a:xfrm>
          <a:prstGeom prst="rect">
            <a:avLst/>
          </a:prstGeom>
        </p:spPr>
      </p:pic>
      <p:sp>
        <p:nvSpPr>
          <p:cNvPr id="3" name="Marcador de texto vertical 2">
            <a:extLst>
              <a:ext uri="{FF2B5EF4-FFF2-40B4-BE49-F238E27FC236}">
                <a16:creationId xmlns:a16="http://schemas.microsoft.com/office/drawing/2014/main" id="{8F0ED3DE-267F-4107-A64F-BC22845FAACC}"/>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9672F16C-D0AC-BF4E-4680-C509DA794511}"/>
              </a:ext>
            </a:extLst>
          </p:cNvPr>
          <p:cNvSpPr>
            <a:spLocks noGrp="1"/>
          </p:cNvSpPr>
          <p:nvPr>
            <p:ph type="title"/>
          </p:nvPr>
        </p:nvSpPr>
        <p:spPr>
          <a:xfrm>
            <a:off x="810247" y="327992"/>
            <a:ext cx="10271883" cy="626165"/>
          </a:xfrm>
        </p:spPr>
        <p:txBody>
          <a:bodyPr/>
          <a:lstStyle/>
          <a:p>
            <a:r>
              <a:rPr lang="es-419" dirty="0">
                <a:solidFill>
                  <a:schemeClr val="accent1"/>
                </a:solidFill>
              </a:rPr>
              <a:t>Registro del Comité evaluador (SHACOMI)</a:t>
            </a:r>
            <a:endParaRPr lang="es-CL" dirty="0">
              <a:solidFill>
                <a:schemeClr val="accent1"/>
              </a:solidFill>
            </a:endParaRPr>
          </a:p>
        </p:txBody>
      </p:sp>
      <p:sp>
        <p:nvSpPr>
          <p:cNvPr id="17" name="Rectángulo redondeado 5">
            <a:extLst>
              <a:ext uri="{FF2B5EF4-FFF2-40B4-BE49-F238E27FC236}">
                <a16:creationId xmlns:a16="http://schemas.microsoft.com/office/drawing/2014/main" id="{6DA80E92-BF55-8A41-5622-4A7F41319DC8}"/>
              </a:ext>
            </a:extLst>
          </p:cNvPr>
          <p:cNvSpPr/>
          <p:nvPr/>
        </p:nvSpPr>
        <p:spPr>
          <a:xfrm>
            <a:off x="1759527" y="3828050"/>
            <a:ext cx="8672946" cy="15889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9"/>
            </a:pPr>
            <a:r>
              <a:rPr lang="es-CO" sz="1200" dirty="0"/>
              <a:t>En el campo “Miembro” ingrese o seleccione el ID del miembro del comité evaluador*. Su nombre se desplegará automáticamente.</a:t>
            </a:r>
          </a:p>
          <a:p>
            <a:pPr marL="228600" indent="-228600">
              <a:buFont typeface="+mj-lt"/>
              <a:buAutoNum type="arabicPeriod" startAt="9"/>
            </a:pPr>
            <a:r>
              <a:rPr lang="es-CO" sz="1200" dirty="0"/>
              <a:t>Por defecto, el sistema ingresa la fecha actual  en el campo “Participación del”. Ingrese la fecha de evaluación del comité.</a:t>
            </a:r>
          </a:p>
          <a:p>
            <a:pPr marL="228600" indent="-228600">
              <a:buFont typeface="+mj-lt"/>
              <a:buAutoNum type="arabicPeriod" startAt="9"/>
            </a:pPr>
            <a:r>
              <a:rPr lang="es-CO" sz="1200" dirty="0"/>
              <a:t>Ingrese la fecha de disolución del comité en el campo “Participación al”. Esta fecha debe ser mayor al la fecha ingresada en “Participación del” </a:t>
            </a:r>
          </a:p>
          <a:p>
            <a:pPr marL="228600" indent="-228600">
              <a:buFont typeface="+mj-lt"/>
              <a:buAutoNum type="arabicPeriod" startAt="9"/>
            </a:pPr>
            <a:r>
              <a:rPr lang="es-CO" sz="1200" dirty="0"/>
              <a:t>Ingrese o seleccione el código del rol del miembro dentro del comité. La descripción del rol se desplegará automáticamente. </a:t>
            </a:r>
          </a:p>
          <a:p>
            <a:pPr marL="228600" indent="-228600">
              <a:buFont typeface="+mj-lt"/>
              <a:buAutoNum type="arabicPeriod" startAt="9"/>
            </a:pPr>
            <a:r>
              <a:rPr lang="es-CO" sz="1200" dirty="0"/>
              <a:t>Guarde la información.</a:t>
            </a:r>
          </a:p>
        </p:txBody>
      </p:sp>
      <p:sp>
        <p:nvSpPr>
          <p:cNvPr id="18" name="Rectángulo 17">
            <a:extLst>
              <a:ext uri="{FF2B5EF4-FFF2-40B4-BE49-F238E27FC236}">
                <a16:creationId xmlns:a16="http://schemas.microsoft.com/office/drawing/2014/main" id="{DC02E725-F86C-9B5D-04B9-D62265BF1F74}"/>
              </a:ext>
            </a:extLst>
          </p:cNvPr>
          <p:cNvSpPr/>
          <p:nvPr/>
        </p:nvSpPr>
        <p:spPr>
          <a:xfrm>
            <a:off x="770749" y="2570557"/>
            <a:ext cx="676656" cy="135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519EE751-7291-E6F9-E94B-9C3B302F0ADA}"/>
              </a:ext>
            </a:extLst>
          </p:cNvPr>
          <p:cNvSpPr/>
          <p:nvPr/>
        </p:nvSpPr>
        <p:spPr>
          <a:xfrm>
            <a:off x="1460670" y="273680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20" name="Rectángulo 19">
            <a:extLst>
              <a:ext uri="{FF2B5EF4-FFF2-40B4-BE49-F238E27FC236}">
                <a16:creationId xmlns:a16="http://schemas.microsoft.com/office/drawing/2014/main" id="{5A6E6C24-5984-B377-E74C-915768EA611F}"/>
              </a:ext>
            </a:extLst>
          </p:cNvPr>
          <p:cNvSpPr/>
          <p:nvPr/>
        </p:nvSpPr>
        <p:spPr>
          <a:xfrm>
            <a:off x="3836462" y="2570556"/>
            <a:ext cx="810522" cy="135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0281797E-E9D7-C57A-BB84-DC972C5D59F9}"/>
              </a:ext>
            </a:extLst>
          </p:cNvPr>
          <p:cNvSpPr/>
          <p:nvPr/>
        </p:nvSpPr>
        <p:spPr>
          <a:xfrm>
            <a:off x="2778489" y="2728984"/>
            <a:ext cx="354293"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27" name="Rectángulo 26">
            <a:extLst>
              <a:ext uri="{FF2B5EF4-FFF2-40B4-BE49-F238E27FC236}">
                <a16:creationId xmlns:a16="http://schemas.microsoft.com/office/drawing/2014/main" id="{744B4560-FDB4-00DE-F178-3DA76F0D9F91}"/>
              </a:ext>
            </a:extLst>
          </p:cNvPr>
          <p:cNvSpPr/>
          <p:nvPr/>
        </p:nvSpPr>
        <p:spPr>
          <a:xfrm>
            <a:off x="4641940" y="2567437"/>
            <a:ext cx="467901" cy="15089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5">
            <a:extLst>
              <a:ext uri="{FF2B5EF4-FFF2-40B4-BE49-F238E27FC236}">
                <a16:creationId xmlns:a16="http://schemas.microsoft.com/office/drawing/2014/main" id="{2A4F00C9-C898-5240-0A0E-C40ADC0A55A9}"/>
              </a:ext>
            </a:extLst>
          </p:cNvPr>
          <p:cNvSpPr/>
          <p:nvPr/>
        </p:nvSpPr>
        <p:spPr>
          <a:xfrm>
            <a:off x="2955636" y="2558201"/>
            <a:ext cx="880826" cy="14777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25432FAB-3793-AF8D-62FF-9AC8590C500C}"/>
              </a:ext>
            </a:extLst>
          </p:cNvPr>
          <p:cNvSpPr/>
          <p:nvPr/>
        </p:nvSpPr>
        <p:spPr>
          <a:xfrm>
            <a:off x="4064576" y="2736802"/>
            <a:ext cx="354293"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12" name="Rectángulo 11">
            <a:extLst>
              <a:ext uri="{FF2B5EF4-FFF2-40B4-BE49-F238E27FC236}">
                <a16:creationId xmlns:a16="http://schemas.microsoft.com/office/drawing/2014/main" id="{DAAEECA5-17C4-8130-47C8-D534B4EFAF88}"/>
              </a:ext>
            </a:extLst>
          </p:cNvPr>
          <p:cNvSpPr/>
          <p:nvPr/>
        </p:nvSpPr>
        <p:spPr>
          <a:xfrm>
            <a:off x="11093053" y="5604558"/>
            <a:ext cx="489346" cy="1950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9D2AF608-2786-DFD4-B1FD-E172B9EA8C7C}"/>
              </a:ext>
            </a:extLst>
          </p:cNvPr>
          <p:cNvSpPr/>
          <p:nvPr/>
        </p:nvSpPr>
        <p:spPr>
          <a:xfrm>
            <a:off x="4698743" y="2736802"/>
            <a:ext cx="354293"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
        <p:nvSpPr>
          <p:cNvPr id="14" name="Rectángulo redondeado 15">
            <a:extLst>
              <a:ext uri="{FF2B5EF4-FFF2-40B4-BE49-F238E27FC236}">
                <a16:creationId xmlns:a16="http://schemas.microsoft.com/office/drawing/2014/main" id="{8EB4A9AC-912A-8B2A-E1AF-4310CA8DA239}"/>
              </a:ext>
            </a:extLst>
          </p:cNvPr>
          <p:cNvSpPr/>
          <p:nvPr/>
        </p:nvSpPr>
        <p:spPr>
          <a:xfrm>
            <a:off x="10653568" y="5464605"/>
            <a:ext cx="354293"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13</a:t>
            </a:r>
          </a:p>
        </p:txBody>
      </p:sp>
    </p:spTree>
    <p:extLst>
      <p:ext uri="{BB962C8B-B14F-4D97-AF65-F5344CB8AC3E}">
        <p14:creationId xmlns:p14="http://schemas.microsoft.com/office/powerpoint/2010/main" val="2059750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dirty="0"/>
              <a:t>Registro del Documento de acreditación del requisito </a:t>
            </a:r>
            <a:r>
              <a:rPr lang="es-419" dirty="0" err="1"/>
              <a:t>cocurricular</a:t>
            </a:r>
            <a:endParaRPr lang="es-419" dirty="0"/>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r>
              <a:rPr lang="es-419" dirty="0"/>
              <a:t>Gestionar otros requisitos académicos</a:t>
            </a:r>
            <a:endParaRPr lang="en-US" dirty="0"/>
          </a:p>
          <a:p>
            <a:endParaRPr lang="en-US" dirty="0"/>
          </a:p>
        </p:txBody>
      </p:sp>
    </p:spTree>
    <p:extLst>
      <p:ext uri="{BB962C8B-B14F-4D97-AF65-F5344CB8AC3E}">
        <p14:creationId xmlns:p14="http://schemas.microsoft.com/office/powerpoint/2010/main" val="3156707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02E60-7674-E91D-508E-C16C4409015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D1A192A-C010-D226-424A-39C1F28DB2E6}"/>
              </a:ext>
            </a:extLst>
          </p:cNvPr>
          <p:cNvPicPr>
            <a:picLocks noChangeAspect="1"/>
          </p:cNvPicPr>
          <p:nvPr/>
        </p:nvPicPr>
        <p:blipFill>
          <a:blip r:embed="rId2"/>
          <a:stretch>
            <a:fillRect/>
          </a:stretch>
        </p:blipFill>
        <p:spPr>
          <a:xfrm>
            <a:off x="810247" y="1276664"/>
            <a:ext cx="10436244" cy="1153537"/>
          </a:xfrm>
          <a:prstGeom prst="rect">
            <a:avLst/>
          </a:prstGeom>
        </p:spPr>
      </p:pic>
      <p:sp>
        <p:nvSpPr>
          <p:cNvPr id="3" name="Marcador de texto vertical 2">
            <a:extLst>
              <a:ext uri="{FF2B5EF4-FFF2-40B4-BE49-F238E27FC236}">
                <a16:creationId xmlns:a16="http://schemas.microsoft.com/office/drawing/2014/main" id="{2124439A-EFB8-FBD4-81CE-47A4DC43FB26}"/>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596902D4-0810-534C-AC93-2A6048C751C8}"/>
              </a:ext>
            </a:extLst>
          </p:cNvPr>
          <p:cNvSpPr>
            <a:spLocks noGrp="1"/>
          </p:cNvSpPr>
          <p:nvPr>
            <p:ph type="title"/>
          </p:nvPr>
        </p:nvSpPr>
        <p:spPr>
          <a:xfrm>
            <a:off x="810247" y="327992"/>
            <a:ext cx="10271883" cy="626165"/>
          </a:xfrm>
        </p:spPr>
        <p:txBody>
          <a:bodyPr/>
          <a:lstStyle/>
          <a:p>
            <a:r>
              <a:rPr lang="es-419" dirty="0">
                <a:solidFill>
                  <a:schemeClr val="accent1"/>
                </a:solidFill>
              </a:rPr>
              <a:t>Registro del documento de acreditación (SHAQPNO)</a:t>
            </a:r>
            <a:endParaRPr lang="es-CL" dirty="0">
              <a:solidFill>
                <a:schemeClr val="accent1"/>
              </a:solidFill>
            </a:endParaRPr>
          </a:p>
        </p:txBody>
      </p:sp>
      <p:sp>
        <p:nvSpPr>
          <p:cNvPr id="18" name="Rectángulo 17">
            <a:extLst>
              <a:ext uri="{FF2B5EF4-FFF2-40B4-BE49-F238E27FC236}">
                <a16:creationId xmlns:a16="http://schemas.microsoft.com/office/drawing/2014/main" id="{83553F83-7D67-B1EB-92FB-0C766513BC9A}"/>
              </a:ext>
            </a:extLst>
          </p:cNvPr>
          <p:cNvSpPr/>
          <p:nvPr/>
        </p:nvSpPr>
        <p:spPr>
          <a:xfrm>
            <a:off x="1323975" y="1551010"/>
            <a:ext cx="1372162" cy="1979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9B047528-A01F-68C7-AC52-317660D9EB60}"/>
              </a:ext>
            </a:extLst>
          </p:cNvPr>
          <p:cNvSpPr/>
          <p:nvPr/>
        </p:nvSpPr>
        <p:spPr>
          <a:xfrm>
            <a:off x="2696137" y="178797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20" name="Rectángulo 19">
            <a:extLst>
              <a:ext uri="{FF2B5EF4-FFF2-40B4-BE49-F238E27FC236}">
                <a16:creationId xmlns:a16="http://schemas.microsoft.com/office/drawing/2014/main" id="{C1F6265E-6032-FDBB-B2F5-FE835E5B9BC9}"/>
              </a:ext>
            </a:extLst>
          </p:cNvPr>
          <p:cNvSpPr/>
          <p:nvPr/>
        </p:nvSpPr>
        <p:spPr>
          <a:xfrm>
            <a:off x="5782862" y="1551010"/>
            <a:ext cx="1684737" cy="30636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A3B04CD0-075D-D602-5ADB-C2E3804017D4}"/>
              </a:ext>
            </a:extLst>
          </p:cNvPr>
          <p:cNvSpPr/>
          <p:nvPr/>
        </p:nvSpPr>
        <p:spPr>
          <a:xfrm>
            <a:off x="7557299" y="18683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grpSp>
        <p:nvGrpSpPr>
          <p:cNvPr id="8" name="Grupo 7">
            <a:extLst>
              <a:ext uri="{FF2B5EF4-FFF2-40B4-BE49-F238E27FC236}">
                <a16:creationId xmlns:a16="http://schemas.microsoft.com/office/drawing/2014/main" id="{D3D54489-A1CB-A03B-8E0F-305D254DBD12}"/>
              </a:ext>
            </a:extLst>
          </p:cNvPr>
          <p:cNvGrpSpPr/>
          <p:nvPr/>
        </p:nvGrpSpPr>
        <p:grpSpPr>
          <a:xfrm>
            <a:off x="2041236" y="2866078"/>
            <a:ext cx="7656946" cy="1862940"/>
            <a:chOff x="2041236" y="2866078"/>
            <a:chExt cx="7656946" cy="1862940"/>
          </a:xfrm>
        </p:grpSpPr>
        <p:sp>
          <p:nvSpPr>
            <p:cNvPr id="17" name="Rectángulo redondeado 5">
              <a:extLst>
                <a:ext uri="{FF2B5EF4-FFF2-40B4-BE49-F238E27FC236}">
                  <a16:creationId xmlns:a16="http://schemas.microsoft.com/office/drawing/2014/main" id="{083D6FF9-5D30-E4F5-200A-F3B2EA4F7FC5}"/>
                </a:ext>
              </a:extLst>
            </p:cNvPr>
            <p:cNvSpPr/>
            <p:nvPr/>
          </p:nvSpPr>
          <p:spPr>
            <a:xfrm>
              <a:off x="2041236" y="2866078"/>
              <a:ext cx="7656946" cy="1862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b="1" dirty="0"/>
                <a:t> </a:t>
              </a:r>
              <a:r>
                <a:rPr lang="es-CO" sz="1200" dirty="0"/>
                <a:t>Para </a:t>
              </a:r>
              <a:r>
                <a:rPr lang="es-419" sz="1200" dirty="0"/>
                <a:t>registrar el título de la actividad final de grado que acredita el cumplimiento del requisito no curso para un estudiante, ingrese a la página SHAQPNO y siga los siguientes pasos:</a:t>
              </a:r>
            </a:p>
            <a:p>
              <a:endParaRPr lang="es-419" sz="1200" dirty="0"/>
            </a:p>
            <a:p>
              <a:pPr marL="228600" indent="-228600">
                <a:buFont typeface="+mj-lt"/>
                <a:buAutoNum type="arabicPeriod"/>
              </a:pPr>
              <a:r>
                <a:rPr lang="es-CO" sz="1200" dirty="0"/>
                <a:t>Ingrese o seleccione el ID del estudiante</a:t>
              </a:r>
            </a:p>
            <a:p>
              <a:pPr marL="228600" indent="-228600">
                <a:buFont typeface="+mj-lt"/>
                <a:buAutoNum type="arabicPeriod"/>
              </a:pPr>
              <a:r>
                <a:rPr lang="es-CO" sz="1200" dirty="0"/>
                <a:t>Presione el botón          del campo Número de documento para consultar el que le corresponde al estudiante.</a:t>
              </a:r>
            </a:p>
          </p:txBody>
        </p:sp>
        <p:pic>
          <p:nvPicPr>
            <p:cNvPr id="7" name="Imagen 6">
              <a:extLst>
                <a:ext uri="{FF2B5EF4-FFF2-40B4-BE49-F238E27FC236}">
                  <a16:creationId xmlns:a16="http://schemas.microsoft.com/office/drawing/2014/main" id="{C5D07A33-F34B-234F-389F-81AA321236D7}"/>
                </a:ext>
              </a:extLst>
            </p:cNvPr>
            <p:cNvPicPr>
              <a:picLocks noChangeAspect="1"/>
            </p:cNvPicPr>
            <p:nvPr/>
          </p:nvPicPr>
          <p:blipFill>
            <a:blip r:embed="rId3"/>
            <a:stretch>
              <a:fillRect/>
            </a:stretch>
          </p:blipFill>
          <p:spPr>
            <a:xfrm>
              <a:off x="3662362" y="3999737"/>
              <a:ext cx="195263" cy="148400"/>
            </a:xfrm>
            <a:prstGeom prst="rect">
              <a:avLst/>
            </a:prstGeom>
          </p:spPr>
        </p:pic>
      </p:grpSp>
    </p:spTree>
    <p:extLst>
      <p:ext uri="{BB962C8B-B14F-4D97-AF65-F5344CB8AC3E}">
        <p14:creationId xmlns:p14="http://schemas.microsoft.com/office/powerpoint/2010/main" val="4155084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A6269-CFC1-B6E1-B9F6-7C83E6D6F1EE}"/>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2484FF4-B043-E67F-8D32-EAE6F5D85E63}"/>
              </a:ext>
            </a:extLst>
          </p:cNvPr>
          <p:cNvPicPr>
            <a:picLocks noChangeAspect="1"/>
          </p:cNvPicPr>
          <p:nvPr/>
        </p:nvPicPr>
        <p:blipFill>
          <a:blip r:embed="rId2"/>
          <a:stretch>
            <a:fillRect/>
          </a:stretch>
        </p:blipFill>
        <p:spPr>
          <a:xfrm>
            <a:off x="742950" y="1003222"/>
            <a:ext cx="10791825" cy="4892069"/>
          </a:xfrm>
          <a:prstGeom prst="rect">
            <a:avLst/>
          </a:prstGeom>
        </p:spPr>
      </p:pic>
      <p:sp>
        <p:nvSpPr>
          <p:cNvPr id="3" name="Marcador de texto vertical 2">
            <a:extLst>
              <a:ext uri="{FF2B5EF4-FFF2-40B4-BE49-F238E27FC236}">
                <a16:creationId xmlns:a16="http://schemas.microsoft.com/office/drawing/2014/main" id="{40063A7E-24A0-A2ED-18A8-9B35CCC612DC}"/>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7F7FC296-007A-C7D8-53AA-E818AFC57AF8}"/>
              </a:ext>
            </a:extLst>
          </p:cNvPr>
          <p:cNvSpPr>
            <a:spLocks noGrp="1"/>
          </p:cNvSpPr>
          <p:nvPr>
            <p:ph type="title"/>
          </p:nvPr>
        </p:nvSpPr>
        <p:spPr>
          <a:xfrm>
            <a:off x="810247" y="327992"/>
            <a:ext cx="10271883" cy="626165"/>
          </a:xfrm>
        </p:spPr>
        <p:txBody>
          <a:bodyPr/>
          <a:lstStyle/>
          <a:p>
            <a:r>
              <a:rPr lang="es-419" dirty="0">
                <a:solidFill>
                  <a:schemeClr val="accent1"/>
                </a:solidFill>
              </a:rPr>
              <a:t>Registro del documento de acreditación (SHAQPNO)</a:t>
            </a:r>
            <a:endParaRPr lang="es-CL" dirty="0">
              <a:solidFill>
                <a:schemeClr val="accent1"/>
              </a:solidFill>
            </a:endParaRPr>
          </a:p>
        </p:txBody>
      </p:sp>
      <p:sp>
        <p:nvSpPr>
          <p:cNvPr id="18" name="Rectángulo 17">
            <a:extLst>
              <a:ext uri="{FF2B5EF4-FFF2-40B4-BE49-F238E27FC236}">
                <a16:creationId xmlns:a16="http://schemas.microsoft.com/office/drawing/2014/main" id="{6E766F63-9794-F08C-FEAD-71459CBEE067}"/>
              </a:ext>
            </a:extLst>
          </p:cNvPr>
          <p:cNvSpPr/>
          <p:nvPr/>
        </p:nvSpPr>
        <p:spPr>
          <a:xfrm>
            <a:off x="742950" y="1229239"/>
            <a:ext cx="10925174" cy="137108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19">
            <a:extLst>
              <a:ext uri="{FF2B5EF4-FFF2-40B4-BE49-F238E27FC236}">
                <a16:creationId xmlns:a16="http://schemas.microsoft.com/office/drawing/2014/main" id="{1A70E97B-C466-59D5-69F9-4A5BEA82115B}"/>
              </a:ext>
            </a:extLst>
          </p:cNvPr>
          <p:cNvSpPr/>
          <p:nvPr/>
        </p:nvSpPr>
        <p:spPr>
          <a:xfrm>
            <a:off x="1011400" y="1775299"/>
            <a:ext cx="826925" cy="32972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5">
            <a:extLst>
              <a:ext uri="{FF2B5EF4-FFF2-40B4-BE49-F238E27FC236}">
                <a16:creationId xmlns:a16="http://schemas.microsoft.com/office/drawing/2014/main" id="{12F950BE-DF69-B659-BAAE-9C9345D1BFA8}"/>
              </a:ext>
            </a:extLst>
          </p:cNvPr>
          <p:cNvSpPr/>
          <p:nvPr/>
        </p:nvSpPr>
        <p:spPr>
          <a:xfrm>
            <a:off x="2041236" y="2866078"/>
            <a:ext cx="7656946" cy="1862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b="1" dirty="0"/>
              <a:t> </a:t>
            </a:r>
            <a:r>
              <a:rPr lang="es-419" sz="1200" dirty="0"/>
              <a:t>El sistema nos muestra la ventana de consulta de documentos de acreditación para el estudiante. En el caso de la imagen, el estudiante no tiene documentos acreditados.</a:t>
            </a:r>
          </a:p>
          <a:p>
            <a:r>
              <a:rPr lang="es-419" sz="1200" dirty="0"/>
              <a:t>Si los tuviera, aparecerían en el bloque de detalles todos los documentos que tiene el estudiante. </a:t>
            </a:r>
          </a:p>
          <a:p>
            <a:r>
              <a:rPr lang="es-419" sz="1200" dirty="0"/>
              <a:t>Debe ubicar el último de ellos para saber qué número de documento le correspondería asignar en este nuevo registro (si el último documento es el número 4, se debe asignar el número 5 en el nuevo registro) </a:t>
            </a:r>
          </a:p>
          <a:p>
            <a:endParaRPr lang="es-419" sz="1200" dirty="0"/>
          </a:p>
          <a:p>
            <a:pPr marL="228600" indent="-228600">
              <a:buFont typeface="+mj-lt"/>
              <a:buAutoNum type="arabicPeriod" startAt="3"/>
            </a:pPr>
            <a:r>
              <a:rPr lang="es-CO" sz="1200" dirty="0"/>
              <a:t>Presione el botón Anular para volver a la página SHAQPNO.</a:t>
            </a:r>
          </a:p>
        </p:txBody>
      </p:sp>
      <p:sp>
        <p:nvSpPr>
          <p:cNvPr id="9" name="Rectángulo 8">
            <a:extLst>
              <a:ext uri="{FF2B5EF4-FFF2-40B4-BE49-F238E27FC236}">
                <a16:creationId xmlns:a16="http://schemas.microsoft.com/office/drawing/2014/main" id="{D15509BE-478C-EE0D-F84E-33E480786E13}"/>
              </a:ext>
            </a:extLst>
          </p:cNvPr>
          <p:cNvSpPr/>
          <p:nvPr/>
        </p:nvSpPr>
        <p:spPr>
          <a:xfrm>
            <a:off x="810247" y="2403476"/>
            <a:ext cx="742329" cy="1968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4CD801DB-BDE6-B242-BA8E-5F086FE29708}"/>
              </a:ext>
            </a:extLst>
          </p:cNvPr>
          <p:cNvSpPr/>
          <p:nvPr/>
        </p:nvSpPr>
        <p:spPr>
          <a:xfrm>
            <a:off x="10492978" y="5619236"/>
            <a:ext cx="489346" cy="1950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C0BE5B2E-7B35-E3D6-684E-6B1DC3FDC23D}"/>
              </a:ext>
            </a:extLst>
          </p:cNvPr>
          <p:cNvSpPr/>
          <p:nvPr/>
        </p:nvSpPr>
        <p:spPr>
          <a:xfrm>
            <a:off x="10053493" y="5479283"/>
            <a:ext cx="354293"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2217348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2C60-5428-E709-9E78-231FEBE82DF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A3E2EAB-3614-C81B-85FF-3886D7E11882}"/>
              </a:ext>
            </a:extLst>
          </p:cNvPr>
          <p:cNvPicPr>
            <a:picLocks noChangeAspect="1"/>
          </p:cNvPicPr>
          <p:nvPr/>
        </p:nvPicPr>
        <p:blipFill>
          <a:blip r:embed="rId2"/>
          <a:stretch>
            <a:fillRect/>
          </a:stretch>
        </p:blipFill>
        <p:spPr>
          <a:xfrm>
            <a:off x="742950" y="1019424"/>
            <a:ext cx="10791825" cy="1075242"/>
          </a:xfrm>
          <a:prstGeom prst="rect">
            <a:avLst/>
          </a:prstGeom>
        </p:spPr>
      </p:pic>
      <p:sp>
        <p:nvSpPr>
          <p:cNvPr id="3" name="Marcador de texto vertical 2">
            <a:extLst>
              <a:ext uri="{FF2B5EF4-FFF2-40B4-BE49-F238E27FC236}">
                <a16:creationId xmlns:a16="http://schemas.microsoft.com/office/drawing/2014/main" id="{BA71F8D4-345F-E027-56F7-FE09FD134D49}"/>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ED62FB59-3A48-1E90-F8FA-5A23C27B82E0}"/>
              </a:ext>
            </a:extLst>
          </p:cNvPr>
          <p:cNvSpPr>
            <a:spLocks noGrp="1"/>
          </p:cNvSpPr>
          <p:nvPr>
            <p:ph type="title"/>
          </p:nvPr>
        </p:nvSpPr>
        <p:spPr>
          <a:xfrm>
            <a:off x="810247" y="327992"/>
            <a:ext cx="10271883" cy="626165"/>
          </a:xfrm>
        </p:spPr>
        <p:txBody>
          <a:bodyPr/>
          <a:lstStyle/>
          <a:p>
            <a:r>
              <a:rPr lang="es-419" dirty="0">
                <a:solidFill>
                  <a:schemeClr val="accent1"/>
                </a:solidFill>
              </a:rPr>
              <a:t>Registro del documento de acreditación (SHAQPNO)</a:t>
            </a:r>
            <a:endParaRPr lang="es-CL" dirty="0">
              <a:solidFill>
                <a:schemeClr val="accent1"/>
              </a:solidFill>
            </a:endParaRPr>
          </a:p>
        </p:txBody>
      </p:sp>
      <p:sp>
        <p:nvSpPr>
          <p:cNvPr id="17" name="Rectángulo redondeado 5">
            <a:extLst>
              <a:ext uri="{FF2B5EF4-FFF2-40B4-BE49-F238E27FC236}">
                <a16:creationId xmlns:a16="http://schemas.microsoft.com/office/drawing/2014/main" id="{9B98BCF6-70D8-6C9B-EBDF-8174E3F80EC1}"/>
              </a:ext>
            </a:extLst>
          </p:cNvPr>
          <p:cNvSpPr/>
          <p:nvPr/>
        </p:nvSpPr>
        <p:spPr>
          <a:xfrm>
            <a:off x="2041236" y="2866078"/>
            <a:ext cx="7656946" cy="10039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CO" sz="1200" dirty="0"/>
              <a:t>Ingrese el número de documento que corresponda, según la consulta realizada anteriormente.</a:t>
            </a:r>
          </a:p>
          <a:p>
            <a:pPr marL="228600" indent="-228600">
              <a:buFont typeface="+mj-lt"/>
              <a:buAutoNum type="arabicPeriod" startAt="4"/>
            </a:pPr>
            <a:r>
              <a:rPr lang="es-CO" sz="1200" dirty="0"/>
              <a:t>Presione el botón Ir </a:t>
            </a:r>
          </a:p>
        </p:txBody>
      </p:sp>
      <p:sp>
        <p:nvSpPr>
          <p:cNvPr id="7" name="Rectángulo 6">
            <a:extLst>
              <a:ext uri="{FF2B5EF4-FFF2-40B4-BE49-F238E27FC236}">
                <a16:creationId xmlns:a16="http://schemas.microsoft.com/office/drawing/2014/main" id="{1D6F0E1B-DC7E-042C-1564-F82131B5037D}"/>
              </a:ext>
            </a:extLst>
          </p:cNvPr>
          <p:cNvSpPr/>
          <p:nvPr/>
        </p:nvSpPr>
        <p:spPr>
          <a:xfrm>
            <a:off x="5940102" y="1316785"/>
            <a:ext cx="1684736" cy="30636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467A31E9-3E7D-91EE-7E1E-8E76F4D815F3}"/>
              </a:ext>
            </a:extLst>
          </p:cNvPr>
          <p:cNvSpPr/>
          <p:nvPr/>
        </p:nvSpPr>
        <p:spPr>
          <a:xfrm>
            <a:off x="7677462" y="154274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0" name="Rectángulo 9">
            <a:extLst>
              <a:ext uri="{FF2B5EF4-FFF2-40B4-BE49-F238E27FC236}">
                <a16:creationId xmlns:a16="http://schemas.microsoft.com/office/drawing/2014/main" id="{5A7472D9-A730-273A-F001-672CE6E68114}"/>
              </a:ext>
            </a:extLst>
          </p:cNvPr>
          <p:cNvSpPr/>
          <p:nvPr/>
        </p:nvSpPr>
        <p:spPr>
          <a:xfrm>
            <a:off x="11166764" y="1318556"/>
            <a:ext cx="349539" cy="2149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958B8AB4-67EC-A2ED-B7AF-2F66CAF8367E}"/>
              </a:ext>
            </a:extLst>
          </p:cNvPr>
          <p:cNvSpPr/>
          <p:nvPr/>
        </p:nvSpPr>
        <p:spPr>
          <a:xfrm>
            <a:off x="11534775" y="153350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534000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F470-E79F-4395-7080-7F108B4891B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C3BA2A0-5178-D245-2E88-A459FFF6A83A}"/>
              </a:ext>
            </a:extLst>
          </p:cNvPr>
          <p:cNvPicPr>
            <a:picLocks noChangeAspect="1"/>
          </p:cNvPicPr>
          <p:nvPr/>
        </p:nvPicPr>
        <p:blipFill>
          <a:blip r:embed="rId2"/>
          <a:stretch>
            <a:fillRect/>
          </a:stretch>
        </p:blipFill>
        <p:spPr>
          <a:xfrm>
            <a:off x="742950" y="989924"/>
            <a:ext cx="10830357" cy="4921350"/>
          </a:xfrm>
          <a:prstGeom prst="rect">
            <a:avLst/>
          </a:prstGeom>
        </p:spPr>
      </p:pic>
      <p:sp>
        <p:nvSpPr>
          <p:cNvPr id="3" name="Marcador de texto vertical 2">
            <a:extLst>
              <a:ext uri="{FF2B5EF4-FFF2-40B4-BE49-F238E27FC236}">
                <a16:creationId xmlns:a16="http://schemas.microsoft.com/office/drawing/2014/main" id="{B904C9A5-05D7-E85B-36F9-CC8AECADCBAF}"/>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F9CCBC5A-11E5-CA8F-631F-214F706C44BE}"/>
              </a:ext>
            </a:extLst>
          </p:cNvPr>
          <p:cNvSpPr>
            <a:spLocks noGrp="1"/>
          </p:cNvSpPr>
          <p:nvPr>
            <p:ph type="title"/>
          </p:nvPr>
        </p:nvSpPr>
        <p:spPr>
          <a:xfrm>
            <a:off x="810247" y="327992"/>
            <a:ext cx="10271883" cy="626165"/>
          </a:xfrm>
        </p:spPr>
        <p:txBody>
          <a:bodyPr/>
          <a:lstStyle/>
          <a:p>
            <a:r>
              <a:rPr lang="es-419" dirty="0">
                <a:solidFill>
                  <a:schemeClr val="accent1"/>
                </a:solidFill>
              </a:rPr>
              <a:t>Registro del documento de acreditación (SHAQPNO)</a:t>
            </a:r>
            <a:endParaRPr lang="es-CL" dirty="0">
              <a:solidFill>
                <a:schemeClr val="accent1"/>
              </a:solidFill>
            </a:endParaRPr>
          </a:p>
        </p:txBody>
      </p:sp>
      <p:sp>
        <p:nvSpPr>
          <p:cNvPr id="17" name="Rectángulo redondeado 5">
            <a:extLst>
              <a:ext uri="{FF2B5EF4-FFF2-40B4-BE49-F238E27FC236}">
                <a16:creationId xmlns:a16="http://schemas.microsoft.com/office/drawing/2014/main" id="{E977D1AB-6BE4-42F7-AC35-71DF772CAA42}"/>
              </a:ext>
            </a:extLst>
          </p:cNvPr>
          <p:cNvSpPr/>
          <p:nvPr/>
        </p:nvSpPr>
        <p:spPr>
          <a:xfrm>
            <a:off x="2041236" y="2866078"/>
            <a:ext cx="7656946" cy="10039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6"/>
            </a:pPr>
            <a:r>
              <a:rPr lang="es-CO" sz="1200" dirty="0"/>
              <a:t>Ingrese o seleccione el código del tipo de documento de acreditación del cumplimiento del no curso.</a:t>
            </a:r>
          </a:p>
          <a:p>
            <a:pPr marL="228600" indent="-228600">
              <a:buFont typeface="+mj-lt"/>
              <a:buAutoNum type="arabicPeriod" startAt="6"/>
            </a:pPr>
            <a:r>
              <a:rPr lang="es-CO" sz="1200" dirty="0"/>
              <a:t>Ingrese en el campo Línea 1 de título (y si lo requiere continúe en la línea 2) el título de la </a:t>
            </a:r>
            <a:r>
              <a:rPr lang="es-419" sz="1200" dirty="0"/>
              <a:t>título de la actividad final de grado</a:t>
            </a:r>
            <a:r>
              <a:rPr lang="es-CO" sz="1200" dirty="0"/>
              <a:t> del estudiante. Cada línea tiene 60 caracteres como máximo.</a:t>
            </a:r>
          </a:p>
          <a:p>
            <a:pPr marL="228600" indent="-228600">
              <a:buFont typeface="+mj-lt"/>
              <a:buAutoNum type="arabicPeriod" startAt="6"/>
            </a:pPr>
            <a:r>
              <a:rPr lang="es-CO" sz="1200" dirty="0"/>
              <a:t>Guarde la información</a:t>
            </a:r>
          </a:p>
        </p:txBody>
      </p:sp>
      <p:sp>
        <p:nvSpPr>
          <p:cNvPr id="7" name="Rectángulo 6">
            <a:extLst>
              <a:ext uri="{FF2B5EF4-FFF2-40B4-BE49-F238E27FC236}">
                <a16:creationId xmlns:a16="http://schemas.microsoft.com/office/drawing/2014/main" id="{B460C616-D444-680E-B209-B7E082242C8C}"/>
              </a:ext>
            </a:extLst>
          </p:cNvPr>
          <p:cNvSpPr/>
          <p:nvPr/>
        </p:nvSpPr>
        <p:spPr>
          <a:xfrm>
            <a:off x="810246" y="1629933"/>
            <a:ext cx="1230989"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88629948-6E59-1BD8-770D-DA0DB083DA19}"/>
              </a:ext>
            </a:extLst>
          </p:cNvPr>
          <p:cNvSpPr/>
          <p:nvPr/>
        </p:nvSpPr>
        <p:spPr>
          <a:xfrm>
            <a:off x="2108531" y="15495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0" name="Rectángulo 9">
            <a:extLst>
              <a:ext uri="{FF2B5EF4-FFF2-40B4-BE49-F238E27FC236}">
                <a16:creationId xmlns:a16="http://schemas.microsoft.com/office/drawing/2014/main" id="{82CBFFCB-BB2F-D973-9B99-FB8D41A00726}"/>
              </a:ext>
            </a:extLst>
          </p:cNvPr>
          <p:cNvSpPr/>
          <p:nvPr/>
        </p:nvSpPr>
        <p:spPr>
          <a:xfrm>
            <a:off x="6288902" y="1629933"/>
            <a:ext cx="3409280" cy="3097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D88BB870-6879-9EF2-A92C-E53430F3ED98}"/>
              </a:ext>
            </a:extLst>
          </p:cNvPr>
          <p:cNvSpPr/>
          <p:nvPr/>
        </p:nvSpPr>
        <p:spPr>
          <a:xfrm>
            <a:off x="9831531" y="193963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9" name="Rectángulo 8">
            <a:extLst>
              <a:ext uri="{FF2B5EF4-FFF2-40B4-BE49-F238E27FC236}">
                <a16:creationId xmlns:a16="http://schemas.microsoft.com/office/drawing/2014/main" id="{B1921EDC-DDAD-01AD-0201-2FDBDDD4B1D3}"/>
              </a:ext>
            </a:extLst>
          </p:cNvPr>
          <p:cNvSpPr/>
          <p:nvPr/>
        </p:nvSpPr>
        <p:spPr>
          <a:xfrm>
            <a:off x="11091365" y="5619047"/>
            <a:ext cx="491177" cy="2090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A09E8FBF-B958-22E1-C7B4-4A259340F85A}"/>
              </a:ext>
            </a:extLst>
          </p:cNvPr>
          <p:cNvSpPr/>
          <p:nvPr/>
        </p:nvSpPr>
        <p:spPr>
          <a:xfrm>
            <a:off x="10877291" y="578766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Tree>
    <p:extLst>
      <p:ext uri="{BB962C8B-B14F-4D97-AF65-F5344CB8AC3E}">
        <p14:creationId xmlns:p14="http://schemas.microsoft.com/office/powerpoint/2010/main" val="3291480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dirty="0"/>
              <a:t>Registro cumplimiento del requisito </a:t>
            </a:r>
            <a:r>
              <a:rPr lang="es-419" dirty="0" err="1"/>
              <a:t>cocurricular</a:t>
            </a:r>
            <a:endParaRPr lang="es-419" dirty="0"/>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r>
              <a:rPr lang="es-419" dirty="0"/>
              <a:t>Gestionar otros requisitos académicos</a:t>
            </a:r>
            <a:endParaRPr lang="en-US" dirty="0"/>
          </a:p>
          <a:p>
            <a:endParaRPr lang="en-US" dirty="0"/>
          </a:p>
        </p:txBody>
      </p:sp>
    </p:spTree>
    <p:extLst>
      <p:ext uri="{BB962C8B-B14F-4D97-AF65-F5344CB8AC3E}">
        <p14:creationId xmlns:p14="http://schemas.microsoft.com/office/powerpoint/2010/main" val="1364725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E5DF1-3B53-4DBE-C85A-305C0CE1C5E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7B3F290-BB73-D344-48BA-440FF7A338AC}"/>
              </a:ext>
            </a:extLst>
          </p:cNvPr>
          <p:cNvPicPr>
            <a:picLocks noChangeAspect="1"/>
          </p:cNvPicPr>
          <p:nvPr/>
        </p:nvPicPr>
        <p:blipFill>
          <a:blip r:embed="rId2"/>
          <a:stretch>
            <a:fillRect/>
          </a:stretch>
        </p:blipFill>
        <p:spPr>
          <a:xfrm>
            <a:off x="810247" y="1361207"/>
            <a:ext cx="10744444" cy="1053706"/>
          </a:xfrm>
          <a:prstGeom prst="rect">
            <a:avLst/>
          </a:prstGeom>
        </p:spPr>
      </p:pic>
      <p:sp>
        <p:nvSpPr>
          <p:cNvPr id="3" name="Marcador de texto vertical 2">
            <a:extLst>
              <a:ext uri="{FF2B5EF4-FFF2-40B4-BE49-F238E27FC236}">
                <a16:creationId xmlns:a16="http://schemas.microsoft.com/office/drawing/2014/main" id="{270E3487-C409-8273-6B77-3C64237C8C9E}"/>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FF1FC2AE-1102-A360-9C1E-0B098E5944F6}"/>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5E9B96DB-C163-C27B-1218-7156CE8A022A}"/>
              </a:ext>
            </a:extLst>
          </p:cNvPr>
          <p:cNvSpPr/>
          <p:nvPr/>
        </p:nvSpPr>
        <p:spPr>
          <a:xfrm>
            <a:off x="1355155" y="1646472"/>
            <a:ext cx="1372162" cy="1979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1DBD9676-D4F3-FF9C-BB6A-ED1CCF2A171B}"/>
              </a:ext>
            </a:extLst>
          </p:cNvPr>
          <p:cNvSpPr/>
          <p:nvPr/>
        </p:nvSpPr>
        <p:spPr>
          <a:xfrm>
            <a:off x="2727317" y="18613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9" name="Rectángulo 8">
            <a:extLst>
              <a:ext uri="{FF2B5EF4-FFF2-40B4-BE49-F238E27FC236}">
                <a16:creationId xmlns:a16="http://schemas.microsoft.com/office/drawing/2014/main" id="{F0007D22-BE0F-B8E0-A2EA-D0C4F46F6A47}"/>
              </a:ext>
            </a:extLst>
          </p:cNvPr>
          <p:cNvSpPr/>
          <p:nvPr/>
        </p:nvSpPr>
        <p:spPr>
          <a:xfrm>
            <a:off x="11176001" y="1659127"/>
            <a:ext cx="390439" cy="1979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22192161-831E-21ED-7A2B-053133DF990D}"/>
              </a:ext>
            </a:extLst>
          </p:cNvPr>
          <p:cNvSpPr/>
          <p:nvPr/>
        </p:nvSpPr>
        <p:spPr>
          <a:xfrm>
            <a:off x="11014552" y="192187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8" name="Rectángulo redondeado 5">
            <a:extLst>
              <a:ext uri="{FF2B5EF4-FFF2-40B4-BE49-F238E27FC236}">
                <a16:creationId xmlns:a16="http://schemas.microsoft.com/office/drawing/2014/main" id="{4AE538D4-C856-B5C5-92A3-D41E35F65843}"/>
              </a:ext>
            </a:extLst>
          </p:cNvPr>
          <p:cNvSpPr/>
          <p:nvPr/>
        </p:nvSpPr>
        <p:spPr>
          <a:xfrm>
            <a:off x="2041236" y="2866078"/>
            <a:ext cx="8211128" cy="14934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b="1" dirty="0"/>
              <a:t> </a:t>
            </a:r>
            <a:r>
              <a:rPr lang="es-CL" sz="1200" dirty="0"/>
              <a:t>La página administrativa SHANCRS nos permite definir el estado de cumplimiento de los requisitos </a:t>
            </a:r>
            <a:r>
              <a:rPr lang="es-CL" sz="1200" dirty="0" err="1"/>
              <a:t>cocurriculares</a:t>
            </a:r>
            <a:r>
              <a:rPr lang="es-CL" sz="1200" dirty="0"/>
              <a:t> (No-Cursos) que pudiera tener el estudiante en su desarrollo académico. Para ello </a:t>
            </a:r>
            <a:r>
              <a:rPr lang="es-419" sz="1200" dirty="0"/>
              <a:t>siga los siguientes pasos:</a:t>
            </a:r>
          </a:p>
          <a:p>
            <a:endParaRPr lang="es-419" sz="1200" dirty="0"/>
          </a:p>
          <a:p>
            <a:pPr marL="228600" indent="-228600">
              <a:buFont typeface="+mj-lt"/>
              <a:buAutoNum type="arabicPeriod"/>
            </a:pPr>
            <a:r>
              <a:rPr lang="es-CO" sz="1200" dirty="0"/>
              <a:t>Ingrese o seleccione el ID del estudiante</a:t>
            </a:r>
          </a:p>
          <a:p>
            <a:pPr marL="228600" indent="-228600">
              <a:buFont typeface="+mj-lt"/>
              <a:buAutoNum type="arabicPeriod"/>
            </a:pPr>
            <a:r>
              <a:rPr lang="es-CO" sz="1200" dirty="0"/>
              <a:t>Presione el botón Ir.</a:t>
            </a:r>
          </a:p>
        </p:txBody>
      </p:sp>
    </p:spTree>
    <p:extLst>
      <p:ext uri="{BB962C8B-B14F-4D97-AF65-F5344CB8AC3E}">
        <p14:creationId xmlns:p14="http://schemas.microsoft.com/office/powerpoint/2010/main" val="348500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97CFE-6FEF-491A-4A55-18DB694C32CF}"/>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36BF9570-7A46-EF8D-6430-9D2BE9CA7F42}"/>
              </a:ext>
            </a:extLst>
          </p:cNvPr>
          <p:cNvPicPr>
            <a:picLocks noChangeAspect="1"/>
          </p:cNvPicPr>
          <p:nvPr/>
        </p:nvPicPr>
        <p:blipFill>
          <a:blip r:embed="rId2"/>
          <a:stretch>
            <a:fillRect/>
          </a:stretch>
        </p:blipFill>
        <p:spPr>
          <a:xfrm>
            <a:off x="729672" y="1116152"/>
            <a:ext cx="10836768" cy="4932481"/>
          </a:xfrm>
          <a:prstGeom prst="rect">
            <a:avLst/>
          </a:prstGeom>
        </p:spPr>
      </p:pic>
      <p:sp>
        <p:nvSpPr>
          <p:cNvPr id="3" name="Marcador de texto vertical 2">
            <a:extLst>
              <a:ext uri="{FF2B5EF4-FFF2-40B4-BE49-F238E27FC236}">
                <a16:creationId xmlns:a16="http://schemas.microsoft.com/office/drawing/2014/main" id="{B3604E6B-F79A-6C81-3A41-7FAEE0AD9BA6}"/>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1285B981-CA11-F84F-2B24-56533F8FBAC4}"/>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AF36FECC-3631-5905-0D86-AEEB996C168F}"/>
              </a:ext>
            </a:extLst>
          </p:cNvPr>
          <p:cNvSpPr/>
          <p:nvPr/>
        </p:nvSpPr>
        <p:spPr>
          <a:xfrm>
            <a:off x="729672" y="1876067"/>
            <a:ext cx="729673" cy="1881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0DD8EE67-680D-B57F-32F5-C99CC59F472E}"/>
              </a:ext>
            </a:extLst>
          </p:cNvPr>
          <p:cNvSpPr/>
          <p:nvPr/>
        </p:nvSpPr>
        <p:spPr>
          <a:xfrm>
            <a:off x="1459345" y="208268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grpSp>
        <p:nvGrpSpPr>
          <p:cNvPr id="11" name="Grupo 10">
            <a:extLst>
              <a:ext uri="{FF2B5EF4-FFF2-40B4-BE49-F238E27FC236}">
                <a16:creationId xmlns:a16="http://schemas.microsoft.com/office/drawing/2014/main" id="{881D4201-E9B2-55D2-070B-EEA73E4DAA7C}"/>
              </a:ext>
            </a:extLst>
          </p:cNvPr>
          <p:cNvGrpSpPr/>
          <p:nvPr/>
        </p:nvGrpSpPr>
        <p:grpSpPr>
          <a:xfrm>
            <a:off x="3814618" y="2893788"/>
            <a:ext cx="3408219" cy="796566"/>
            <a:chOff x="2041236" y="2866079"/>
            <a:chExt cx="3408219" cy="796566"/>
          </a:xfrm>
        </p:grpSpPr>
        <p:sp>
          <p:nvSpPr>
            <p:cNvPr id="18" name="Rectángulo redondeado 5">
              <a:extLst>
                <a:ext uri="{FF2B5EF4-FFF2-40B4-BE49-F238E27FC236}">
                  <a16:creationId xmlns:a16="http://schemas.microsoft.com/office/drawing/2014/main" id="{F9789939-5CA9-B042-7993-37471182CD31}"/>
                </a:ext>
              </a:extLst>
            </p:cNvPr>
            <p:cNvSpPr/>
            <p:nvPr/>
          </p:nvSpPr>
          <p:spPr>
            <a:xfrm>
              <a:off x="2041236" y="2866079"/>
              <a:ext cx="3408219" cy="79656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CO" sz="1200" dirty="0"/>
                <a:t>Presione el botón         el campo Documento    </a:t>
              </a:r>
            </a:p>
          </p:txBody>
        </p:sp>
        <p:pic>
          <p:nvPicPr>
            <p:cNvPr id="10" name="Imagen 9">
              <a:extLst>
                <a:ext uri="{FF2B5EF4-FFF2-40B4-BE49-F238E27FC236}">
                  <a16:creationId xmlns:a16="http://schemas.microsoft.com/office/drawing/2014/main" id="{626B64D7-D144-9944-D003-0A2B8DB3414B}"/>
                </a:ext>
              </a:extLst>
            </p:cNvPr>
            <p:cNvPicPr>
              <a:picLocks noChangeAspect="1"/>
            </p:cNvPicPr>
            <p:nvPr/>
          </p:nvPicPr>
          <p:blipFill>
            <a:blip r:embed="rId3"/>
            <a:stretch>
              <a:fillRect/>
            </a:stretch>
          </p:blipFill>
          <p:spPr>
            <a:xfrm>
              <a:off x="3570462" y="3190162"/>
              <a:ext cx="195263" cy="148400"/>
            </a:xfrm>
            <a:prstGeom prst="rect">
              <a:avLst/>
            </a:prstGeom>
          </p:spPr>
        </p:pic>
      </p:grpSp>
    </p:spTree>
    <p:extLst>
      <p:ext uri="{BB962C8B-B14F-4D97-AF65-F5344CB8AC3E}">
        <p14:creationId xmlns:p14="http://schemas.microsoft.com/office/powerpoint/2010/main" val="1120210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A56C-BB8D-1B0C-2C23-96CB025C269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6FC5CD3-4820-3232-46A5-F67F13B0B117}"/>
              </a:ext>
            </a:extLst>
          </p:cNvPr>
          <p:cNvPicPr>
            <a:picLocks noChangeAspect="1"/>
          </p:cNvPicPr>
          <p:nvPr/>
        </p:nvPicPr>
        <p:blipFill>
          <a:blip r:embed="rId2"/>
          <a:stretch>
            <a:fillRect/>
          </a:stretch>
        </p:blipFill>
        <p:spPr>
          <a:xfrm>
            <a:off x="729672" y="977784"/>
            <a:ext cx="10831121" cy="4932482"/>
          </a:xfrm>
          <a:prstGeom prst="rect">
            <a:avLst/>
          </a:prstGeom>
        </p:spPr>
      </p:pic>
      <p:sp>
        <p:nvSpPr>
          <p:cNvPr id="3" name="Marcador de texto vertical 2">
            <a:extLst>
              <a:ext uri="{FF2B5EF4-FFF2-40B4-BE49-F238E27FC236}">
                <a16:creationId xmlns:a16="http://schemas.microsoft.com/office/drawing/2014/main" id="{EF778B58-3AED-94E7-C1F2-74A768B3963B}"/>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7C6FB9CF-D486-122E-6369-00BFF4591458}"/>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4D4066E8-198A-D84F-FEBF-7FFA7F41E6BC}"/>
              </a:ext>
            </a:extLst>
          </p:cNvPr>
          <p:cNvSpPr/>
          <p:nvPr/>
        </p:nvSpPr>
        <p:spPr>
          <a:xfrm>
            <a:off x="891121" y="2402540"/>
            <a:ext cx="729673" cy="1881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2C247EE2-D6B9-FA8F-C297-3C83A0967562}"/>
              </a:ext>
            </a:extLst>
          </p:cNvPr>
          <p:cNvSpPr/>
          <p:nvPr/>
        </p:nvSpPr>
        <p:spPr>
          <a:xfrm>
            <a:off x="1660140" y="251027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9" name="Rectángulo 8">
            <a:extLst>
              <a:ext uri="{FF2B5EF4-FFF2-40B4-BE49-F238E27FC236}">
                <a16:creationId xmlns:a16="http://schemas.microsoft.com/office/drawing/2014/main" id="{EB6B6215-98CD-F0B2-53D5-515AEFDA2537}"/>
              </a:ext>
            </a:extLst>
          </p:cNvPr>
          <p:cNvSpPr/>
          <p:nvPr/>
        </p:nvSpPr>
        <p:spPr>
          <a:xfrm>
            <a:off x="10963564" y="5599001"/>
            <a:ext cx="615701" cy="2391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850F8B01-8162-B51F-4D62-FD76634906AE}"/>
              </a:ext>
            </a:extLst>
          </p:cNvPr>
          <p:cNvSpPr/>
          <p:nvPr/>
        </p:nvSpPr>
        <p:spPr>
          <a:xfrm>
            <a:off x="10783643" y="588021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8" name="Rectángulo redondeado 5">
            <a:extLst>
              <a:ext uri="{FF2B5EF4-FFF2-40B4-BE49-F238E27FC236}">
                <a16:creationId xmlns:a16="http://schemas.microsoft.com/office/drawing/2014/main" id="{E77190D0-1017-93A3-32AD-BB8F0AFD07A7}"/>
              </a:ext>
            </a:extLst>
          </p:cNvPr>
          <p:cNvSpPr/>
          <p:nvPr/>
        </p:nvSpPr>
        <p:spPr>
          <a:xfrm>
            <a:off x="2041236" y="2866078"/>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CO" sz="1200" dirty="0"/>
              <a:t>Ubique, si el estudiante tiene más de un documento registrado, el documento que corresponde al cumplimiento del no curso</a:t>
            </a:r>
          </a:p>
          <a:p>
            <a:pPr marL="228600" indent="-228600">
              <a:buFont typeface="+mj-lt"/>
              <a:buAutoNum type="arabicPeriod" startAt="4"/>
            </a:pPr>
            <a:r>
              <a:rPr lang="es-CO" sz="1200" dirty="0"/>
              <a:t>Presione el botón Seleccionar.</a:t>
            </a:r>
          </a:p>
        </p:txBody>
      </p:sp>
    </p:spTree>
    <p:extLst>
      <p:ext uri="{BB962C8B-B14F-4D97-AF65-F5344CB8AC3E}">
        <p14:creationId xmlns:p14="http://schemas.microsoft.com/office/powerpoint/2010/main" val="48176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94CFB-1F41-A0D6-9162-57B068A92225}"/>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FB25F710-BF40-93D2-9ED9-9D9F2F52AF03}"/>
              </a:ext>
            </a:extLst>
          </p:cNvPr>
          <p:cNvPicPr>
            <a:picLocks noChangeAspect="1"/>
          </p:cNvPicPr>
          <p:nvPr/>
        </p:nvPicPr>
        <p:blipFill>
          <a:blip r:embed="rId2"/>
          <a:stretch>
            <a:fillRect/>
          </a:stretch>
        </p:blipFill>
        <p:spPr>
          <a:xfrm>
            <a:off x="701962" y="947734"/>
            <a:ext cx="10877303" cy="4942165"/>
          </a:xfrm>
          <a:prstGeom prst="rect">
            <a:avLst/>
          </a:prstGeom>
        </p:spPr>
      </p:pic>
      <p:sp>
        <p:nvSpPr>
          <p:cNvPr id="3" name="Marcador de texto vertical 2">
            <a:extLst>
              <a:ext uri="{FF2B5EF4-FFF2-40B4-BE49-F238E27FC236}">
                <a16:creationId xmlns:a16="http://schemas.microsoft.com/office/drawing/2014/main" id="{C25D2BF9-1681-1D67-65F3-712442A95DB2}"/>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4693514E-90B1-45A9-A500-BA4612049719}"/>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FB408F60-FBE1-0206-AB25-EBA5B8B35483}"/>
              </a:ext>
            </a:extLst>
          </p:cNvPr>
          <p:cNvSpPr/>
          <p:nvPr/>
        </p:nvSpPr>
        <p:spPr>
          <a:xfrm>
            <a:off x="701962" y="1740444"/>
            <a:ext cx="655781" cy="152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7A53E5AB-3AA2-F237-F703-313697E0C304}"/>
              </a:ext>
            </a:extLst>
          </p:cNvPr>
          <p:cNvSpPr/>
          <p:nvPr/>
        </p:nvSpPr>
        <p:spPr>
          <a:xfrm>
            <a:off x="729522" y="195609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2" name="Rectángulo redondeado 15">
            <a:extLst>
              <a:ext uri="{FF2B5EF4-FFF2-40B4-BE49-F238E27FC236}">
                <a16:creationId xmlns:a16="http://schemas.microsoft.com/office/drawing/2014/main" id="{CDA5305E-41EB-13F2-2137-3C3DC8E757E2}"/>
              </a:ext>
            </a:extLst>
          </p:cNvPr>
          <p:cNvSpPr/>
          <p:nvPr/>
        </p:nvSpPr>
        <p:spPr>
          <a:xfrm>
            <a:off x="2403857" y="192772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0" name="Rectángulo 9">
            <a:extLst>
              <a:ext uri="{FF2B5EF4-FFF2-40B4-BE49-F238E27FC236}">
                <a16:creationId xmlns:a16="http://schemas.microsoft.com/office/drawing/2014/main" id="{D7951800-EAE3-BDE3-76EB-1F69ADAD3845}"/>
              </a:ext>
            </a:extLst>
          </p:cNvPr>
          <p:cNvSpPr/>
          <p:nvPr/>
        </p:nvSpPr>
        <p:spPr>
          <a:xfrm>
            <a:off x="1357743" y="1739504"/>
            <a:ext cx="1126839" cy="15301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grpSp>
        <p:nvGrpSpPr>
          <p:cNvPr id="13" name="Grupo 12">
            <a:extLst>
              <a:ext uri="{FF2B5EF4-FFF2-40B4-BE49-F238E27FC236}">
                <a16:creationId xmlns:a16="http://schemas.microsoft.com/office/drawing/2014/main" id="{26D6B14B-18CF-CCB0-5E96-B7041EDB5CE2}"/>
              </a:ext>
            </a:extLst>
          </p:cNvPr>
          <p:cNvGrpSpPr/>
          <p:nvPr/>
        </p:nvGrpSpPr>
        <p:grpSpPr>
          <a:xfrm>
            <a:off x="2041236" y="2866078"/>
            <a:ext cx="7379855" cy="1068613"/>
            <a:chOff x="2041236" y="2866078"/>
            <a:chExt cx="7379855" cy="1068613"/>
          </a:xfrm>
        </p:grpSpPr>
        <p:sp>
          <p:nvSpPr>
            <p:cNvPr id="18" name="Rectángulo redondeado 5">
              <a:extLst>
                <a:ext uri="{FF2B5EF4-FFF2-40B4-BE49-F238E27FC236}">
                  <a16:creationId xmlns:a16="http://schemas.microsoft.com/office/drawing/2014/main" id="{E1B3FA43-B4A1-59A2-90B0-4BAE0903974A}"/>
                </a:ext>
              </a:extLst>
            </p:cNvPr>
            <p:cNvSpPr/>
            <p:nvPr/>
          </p:nvSpPr>
          <p:spPr>
            <a:xfrm>
              <a:off x="2041236" y="2866078"/>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6"/>
              </a:pPr>
              <a:r>
                <a:rPr lang="es-CO" sz="1200" dirty="0"/>
                <a:t>El sistema trae el documento seleccionado al campo correspondiente</a:t>
              </a:r>
            </a:p>
            <a:p>
              <a:pPr marL="228600" indent="-228600">
                <a:buFont typeface="+mj-lt"/>
                <a:buAutoNum type="arabicPeriod" startAt="6"/>
              </a:pPr>
              <a:r>
                <a:rPr lang="es-CO" sz="1200" dirty="0"/>
                <a:t>Presione el botón         el campo Comité.</a:t>
              </a:r>
            </a:p>
          </p:txBody>
        </p:sp>
        <p:pic>
          <p:nvPicPr>
            <p:cNvPr id="11" name="Imagen 10">
              <a:extLst>
                <a:ext uri="{FF2B5EF4-FFF2-40B4-BE49-F238E27FC236}">
                  <a16:creationId xmlns:a16="http://schemas.microsoft.com/office/drawing/2014/main" id="{41793828-953F-5F24-9E18-35E35F9E78EF}"/>
                </a:ext>
              </a:extLst>
            </p:cNvPr>
            <p:cNvPicPr>
              <a:picLocks noChangeAspect="1"/>
            </p:cNvPicPr>
            <p:nvPr/>
          </p:nvPicPr>
          <p:blipFill>
            <a:blip r:embed="rId3"/>
            <a:stretch>
              <a:fillRect/>
            </a:stretch>
          </p:blipFill>
          <p:spPr>
            <a:xfrm>
              <a:off x="3607408" y="3418816"/>
              <a:ext cx="195263" cy="148400"/>
            </a:xfrm>
            <a:prstGeom prst="rect">
              <a:avLst/>
            </a:prstGeom>
          </p:spPr>
        </p:pic>
      </p:grpSp>
    </p:spTree>
    <p:extLst>
      <p:ext uri="{BB962C8B-B14F-4D97-AF65-F5344CB8AC3E}">
        <p14:creationId xmlns:p14="http://schemas.microsoft.com/office/powerpoint/2010/main" val="416082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437D-1AB8-EB58-4F9D-D7F79F09B0A8}"/>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B27836A2-885E-4B84-6F9A-1AE75457E08B}"/>
              </a:ext>
            </a:extLst>
          </p:cNvPr>
          <p:cNvPicPr>
            <a:picLocks noChangeAspect="1"/>
          </p:cNvPicPr>
          <p:nvPr/>
        </p:nvPicPr>
        <p:blipFill>
          <a:blip r:embed="rId2"/>
          <a:stretch>
            <a:fillRect/>
          </a:stretch>
        </p:blipFill>
        <p:spPr>
          <a:xfrm>
            <a:off x="701962" y="2677504"/>
            <a:ext cx="8347242" cy="3737961"/>
          </a:xfrm>
          <a:prstGeom prst="rect">
            <a:avLst/>
          </a:prstGeom>
        </p:spPr>
      </p:pic>
      <p:pic>
        <p:nvPicPr>
          <p:cNvPr id="7" name="Imagen 6">
            <a:extLst>
              <a:ext uri="{FF2B5EF4-FFF2-40B4-BE49-F238E27FC236}">
                <a16:creationId xmlns:a16="http://schemas.microsoft.com/office/drawing/2014/main" id="{7EE0BFDF-6B4E-EE8C-22C0-6C0AC9F379CA}"/>
              </a:ext>
            </a:extLst>
          </p:cNvPr>
          <p:cNvPicPr>
            <a:picLocks noChangeAspect="1"/>
          </p:cNvPicPr>
          <p:nvPr/>
        </p:nvPicPr>
        <p:blipFill>
          <a:blip r:embed="rId3"/>
          <a:stretch>
            <a:fillRect/>
          </a:stretch>
        </p:blipFill>
        <p:spPr>
          <a:xfrm>
            <a:off x="701962" y="961961"/>
            <a:ext cx="10877303" cy="828423"/>
          </a:xfrm>
          <a:prstGeom prst="rect">
            <a:avLst/>
          </a:prstGeom>
        </p:spPr>
      </p:pic>
      <p:sp>
        <p:nvSpPr>
          <p:cNvPr id="3" name="Marcador de texto vertical 2">
            <a:extLst>
              <a:ext uri="{FF2B5EF4-FFF2-40B4-BE49-F238E27FC236}">
                <a16:creationId xmlns:a16="http://schemas.microsoft.com/office/drawing/2014/main" id="{AE5F519A-884A-0FB9-B424-A1D28E0E35F8}"/>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0F6CD63F-C81F-4D9C-E2D6-46EA618231B4}"/>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F6CC03F8-C650-13B8-AA5A-FD25F721298A}"/>
              </a:ext>
            </a:extLst>
          </p:cNvPr>
          <p:cNvSpPr/>
          <p:nvPr/>
        </p:nvSpPr>
        <p:spPr>
          <a:xfrm>
            <a:off x="11162854" y="1257590"/>
            <a:ext cx="416412" cy="23412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D3B58F95-7A80-A901-B060-97C1FD31D4C8}"/>
              </a:ext>
            </a:extLst>
          </p:cNvPr>
          <p:cNvSpPr/>
          <p:nvPr/>
        </p:nvSpPr>
        <p:spPr>
          <a:xfrm>
            <a:off x="11001405" y="150095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2" name="Rectángulo redondeado 15">
            <a:extLst>
              <a:ext uri="{FF2B5EF4-FFF2-40B4-BE49-F238E27FC236}">
                <a16:creationId xmlns:a16="http://schemas.microsoft.com/office/drawing/2014/main" id="{0994DB1C-15EC-26D4-1FD7-2F63226540BE}"/>
              </a:ext>
            </a:extLst>
          </p:cNvPr>
          <p:cNvSpPr/>
          <p:nvPr/>
        </p:nvSpPr>
        <p:spPr>
          <a:xfrm>
            <a:off x="2724577" y="125078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0" name="Rectángulo 9">
            <a:extLst>
              <a:ext uri="{FF2B5EF4-FFF2-40B4-BE49-F238E27FC236}">
                <a16:creationId xmlns:a16="http://schemas.microsoft.com/office/drawing/2014/main" id="{1861C766-10CE-2E54-7414-AF9B77744511}"/>
              </a:ext>
            </a:extLst>
          </p:cNvPr>
          <p:cNvSpPr/>
          <p:nvPr/>
        </p:nvSpPr>
        <p:spPr>
          <a:xfrm>
            <a:off x="810246" y="1274698"/>
            <a:ext cx="1886772" cy="152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5">
            <a:extLst>
              <a:ext uri="{FF2B5EF4-FFF2-40B4-BE49-F238E27FC236}">
                <a16:creationId xmlns:a16="http://schemas.microsoft.com/office/drawing/2014/main" id="{49BB24B4-B1D2-6AC5-DF3C-53DB9E1BEE86}"/>
              </a:ext>
            </a:extLst>
          </p:cNvPr>
          <p:cNvSpPr/>
          <p:nvPr/>
        </p:nvSpPr>
        <p:spPr>
          <a:xfrm>
            <a:off x="1935957" y="1700416"/>
            <a:ext cx="7379855" cy="89739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8"/>
            </a:pPr>
            <a:r>
              <a:rPr lang="es-CO" sz="1200" dirty="0"/>
              <a:t>El sistema muestra la página de Consulta de comité del estudiante al que se le está ingresando el no curso</a:t>
            </a:r>
          </a:p>
          <a:p>
            <a:pPr marL="228600" indent="-228600">
              <a:buFont typeface="+mj-lt"/>
              <a:buAutoNum type="arabicPeriod" startAt="8"/>
            </a:pPr>
            <a:r>
              <a:rPr lang="es-CO" sz="1200" dirty="0"/>
              <a:t>Presione el botón Ir.</a:t>
            </a:r>
          </a:p>
        </p:txBody>
      </p:sp>
      <p:sp>
        <p:nvSpPr>
          <p:cNvPr id="15" name="Rectángulo redondeado 5">
            <a:extLst>
              <a:ext uri="{FF2B5EF4-FFF2-40B4-BE49-F238E27FC236}">
                <a16:creationId xmlns:a16="http://schemas.microsoft.com/office/drawing/2014/main" id="{8E106BA2-F209-1310-C57F-342891E01684}"/>
              </a:ext>
            </a:extLst>
          </p:cNvPr>
          <p:cNvSpPr/>
          <p:nvPr/>
        </p:nvSpPr>
        <p:spPr>
          <a:xfrm>
            <a:off x="3551381" y="4170219"/>
            <a:ext cx="7379855" cy="89739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0"/>
            </a:pPr>
            <a:r>
              <a:rPr lang="es-CO" sz="1200" dirty="0"/>
              <a:t>Ubique, si el estudiante tiene más de un comité registrado, el comité que corresponde al cumplimiento del no curso</a:t>
            </a:r>
          </a:p>
          <a:p>
            <a:pPr marL="228600" indent="-228600">
              <a:buFont typeface="+mj-lt"/>
              <a:buAutoNum type="arabicPeriod" startAt="10"/>
            </a:pPr>
            <a:r>
              <a:rPr lang="es-CO" sz="1200" dirty="0"/>
              <a:t>Presione el botón Seleccionar.</a:t>
            </a:r>
          </a:p>
        </p:txBody>
      </p:sp>
      <p:sp>
        <p:nvSpPr>
          <p:cNvPr id="16" name="Rectángulo 15">
            <a:extLst>
              <a:ext uri="{FF2B5EF4-FFF2-40B4-BE49-F238E27FC236}">
                <a16:creationId xmlns:a16="http://schemas.microsoft.com/office/drawing/2014/main" id="{1C33C11C-F22D-A333-6BAB-3AA2FDA6C16A}"/>
              </a:ext>
            </a:extLst>
          </p:cNvPr>
          <p:cNvSpPr/>
          <p:nvPr/>
        </p:nvSpPr>
        <p:spPr>
          <a:xfrm>
            <a:off x="701962" y="3392056"/>
            <a:ext cx="683493" cy="1270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347EA0BF-B7B2-3677-654B-9D62BF9EAAFA}"/>
              </a:ext>
            </a:extLst>
          </p:cNvPr>
          <p:cNvSpPr/>
          <p:nvPr/>
        </p:nvSpPr>
        <p:spPr>
          <a:xfrm>
            <a:off x="1388981" y="3518338"/>
            <a:ext cx="364651"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21" name="Rectángulo 20">
            <a:extLst>
              <a:ext uri="{FF2B5EF4-FFF2-40B4-BE49-F238E27FC236}">
                <a16:creationId xmlns:a16="http://schemas.microsoft.com/office/drawing/2014/main" id="{D31C596D-B7CE-C964-E4F9-05E0B66B67C7}"/>
              </a:ext>
            </a:extLst>
          </p:cNvPr>
          <p:cNvSpPr/>
          <p:nvPr/>
        </p:nvSpPr>
        <p:spPr>
          <a:xfrm>
            <a:off x="8548860" y="6254650"/>
            <a:ext cx="546525"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redondeado 15">
            <a:extLst>
              <a:ext uri="{FF2B5EF4-FFF2-40B4-BE49-F238E27FC236}">
                <a16:creationId xmlns:a16="http://schemas.microsoft.com/office/drawing/2014/main" id="{54FFE6D4-2735-1CF2-A8E7-92496D88E092}"/>
              </a:ext>
            </a:extLst>
          </p:cNvPr>
          <p:cNvSpPr/>
          <p:nvPr/>
        </p:nvSpPr>
        <p:spPr>
          <a:xfrm>
            <a:off x="8184209" y="6091791"/>
            <a:ext cx="364651"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Tree>
    <p:extLst>
      <p:ext uri="{BB962C8B-B14F-4D97-AF65-F5344CB8AC3E}">
        <p14:creationId xmlns:p14="http://schemas.microsoft.com/office/powerpoint/2010/main" val="737623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FE87-F100-963D-604E-5D25CFD99D1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FD234C9-6DF9-B418-222A-B6AD183545B2}"/>
              </a:ext>
            </a:extLst>
          </p:cNvPr>
          <p:cNvPicPr>
            <a:picLocks noChangeAspect="1"/>
          </p:cNvPicPr>
          <p:nvPr/>
        </p:nvPicPr>
        <p:blipFill>
          <a:blip r:embed="rId2"/>
          <a:stretch>
            <a:fillRect/>
          </a:stretch>
        </p:blipFill>
        <p:spPr>
          <a:xfrm>
            <a:off x="701960" y="947734"/>
            <a:ext cx="10877303" cy="4953513"/>
          </a:xfrm>
          <a:prstGeom prst="rect">
            <a:avLst/>
          </a:prstGeom>
        </p:spPr>
      </p:pic>
      <p:sp>
        <p:nvSpPr>
          <p:cNvPr id="3" name="Marcador de texto vertical 2">
            <a:extLst>
              <a:ext uri="{FF2B5EF4-FFF2-40B4-BE49-F238E27FC236}">
                <a16:creationId xmlns:a16="http://schemas.microsoft.com/office/drawing/2014/main" id="{A82DE265-C18E-6D09-AA4E-5064A7D77BCD}"/>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396C5E4F-1AD9-E07F-4A8C-807064EF32E4}"/>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2" name="Rectángulo 1">
            <a:extLst>
              <a:ext uri="{FF2B5EF4-FFF2-40B4-BE49-F238E27FC236}">
                <a16:creationId xmlns:a16="http://schemas.microsoft.com/office/drawing/2014/main" id="{C7C2CC9F-2B66-F760-EFA5-0DFAF4DEF551}"/>
              </a:ext>
            </a:extLst>
          </p:cNvPr>
          <p:cNvSpPr/>
          <p:nvPr/>
        </p:nvSpPr>
        <p:spPr>
          <a:xfrm>
            <a:off x="7795489" y="1708387"/>
            <a:ext cx="748147" cy="1841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C45CC495-6524-311D-B0B8-45E2BB33C6C1}"/>
              </a:ext>
            </a:extLst>
          </p:cNvPr>
          <p:cNvSpPr/>
          <p:nvPr/>
        </p:nvSpPr>
        <p:spPr>
          <a:xfrm>
            <a:off x="2124213" y="1927720"/>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10" name="Rectángulo 9">
            <a:extLst>
              <a:ext uri="{FF2B5EF4-FFF2-40B4-BE49-F238E27FC236}">
                <a16:creationId xmlns:a16="http://schemas.microsoft.com/office/drawing/2014/main" id="{CA0A115F-2577-B3F6-3AB4-529C6A5A7B99}"/>
              </a:ext>
            </a:extLst>
          </p:cNvPr>
          <p:cNvSpPr/>
          <p:nvPr/>
        </p:nvSpPr>
        <p:spPr>
          <a:xfrm>
            <a:off x="1357743" y="1739504"/>
            <a:ext cx="1126839" cy="15301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5">
            <a:extLst>
              <a:ext uri="{FF2B5EF4-FFF2-40B4-BE49-F238E27FC236}">
                <a16:creationId xmlns:a16="http://schemas.microsoft.com/office/drawing/2014/main" id="{42C30CAB-E363-C867-8871-3152BB58E743}"/>
              </a:ext>
            </a:extLst>
          </p:cNvPr>
          <p:cNvSpPr/>
          <p:nvPr/>
        </p:nvSpPr>
        <p:spPr>
          <a:xfrm>
            <a:off x="2304397" y="2926277"/>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2"/>
            </a:pPr>
            <a:r>
              <a:rPr lang="es-CO" sz="1200" dirty="0"/>
              <a:t>El sistema trae el comité seleccionado al campo correspondiente</a:t>
            </a:r>
          </a:p>
          <a:p>
            <a:pPr marL="228600" indent="-228600">
              <a:buFont typeface="+mj-lt"/>
              <a:buAutoNum type="arabicPeriod" startAt="12"/>
            </a:pPr>
            <a:r>
              <a:rPr lang="es-CO" sz="1200" dirty="0"/>
              <a:t>Ingrese o seleccione el Estatus de aprobación que corresponda al no curso. La fecha de estatus y el campo Cumplido se actualizan automáticamente, según el código ingresado.</a:t>
            </a:r>
          </a:p>
          <a:p>
            <a:pPr marL="228600" indent="-228600">
              <a:buFont typeface="+mj-lt"/>
              <a:buAutoNum type="arabicPeriod" startAt="12"/>
            </a:pPr>
            <a:r>
              <a:rPr lang="es-CO" sz="1200" dirty="0"/>
              <a:t>Guarde la información </a:t>
            </a:r>
          </a:p>
          <a:p>
            <a:pPr marL="228600" indent="-228600">
              <a:buFont typeface="+mj-lt"/>
              <a:buAutoNum type="arabicPeriod" startAt="12"/>
            </a:pPr>
            <a:r>
              <a:rPr lang="es-CO" sz="1200" dirty="0"/>
              <a:t>Pase al siguiente bloque</a:t>
            </a:r>
          </a:p>
        </p:txBody>
      </p:sp>
      <p:sp>
        <p:nvSpPr>
          <p:cNvPr id="9" name="Rectángulo redondeado 15">
            <a:extLst>
              <a:ext uri="{FF2B5EF4-FFF2-40B4-BE49-F238E27FC236}">
                <a16:creationId xmlns:a16="http://schemas.microsoft.com/office/drawing/2014/main" id="{802A4424-C297-E16D-6632-3AF792C03825}"/>
              </a:ext>
            </a:extLst>
          </p:cNvPr>
          <p:cNvSpPr/>
          <p:nvPr/>
        </p:nvSpPr>
        <p:spPr>
          <a:xfrm>
            <a:off x="8363451" y="2008127"/>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14" name="Rectángulo 13">
            <a:extLst>
              <a:ext uri="{FF2B5EF4-FFF2-40B4-BE49-F238E27FC236}">
                <a16:creationId xmlns:a16="http://schemas.microsoft.com/office/drawing/2014/main" id="{4AC64358-A720-DFBF-0C00-E242DE21D688}"/>
              </a:ext>
            </a:extLst>
          </p:cNvPr>
          <p:cNvSpPr/>
          <p:nvPr/>
        </p:nvSpPr>
        <p:spPr>
          <a:xfrm>
            <a:off x="11091366" y="5638234"/>
            <a:ext cx="506369"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9FC43BC-6E8A-6262-4A39-87E611600299}"/>
              </a:ext>
            </a:extLst>
          </p:cNvPr>
          <p:cNvSpPr/>
          <p:nvPr/>
        </p:nvSpPr>
        <p:spPr>
          <a:xfrm>
            <a:off x="11408314" y="5928738"/>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16" name="Rectángulo 15">
            <a:extLst>
              <a:ext uri="{FF2B5EF4-FFF2-40B4-BE49-F238E27FC236}">
                <a16:creationId xmlns:a16="http://schemas.microsoft.com/office/drawing/2014/main" id="{7126C40D-D2CF-E600-CDF8-4C5C6DBF8C00}"/>
              </a:ext>
            </a:extLst>
          </p:cNvPr>
          <p:cNvSpPr/>
          <p:nvPr/>
        </p:nvSpPr>
        <p:spPr>
          <a:xfrm>
            <a:off x="966908" y="5619762"/>
            <a:ext cx="316948"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669BD7E3-066F-55EB-1200-595BACEFB4C8}"/>
              </a:ext>
            </a:extLst>
          </p:cNvPr>
          <p:cNvSpPr/>
          <p:nvPr/>
        </p:nvSpPr>
        <p:spPr>
          <a:xfrm>
            <a:off x="1223738" y="5799049"/>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Tree>
    <p:extLst>
      <p:ext uri="{BB962C8B-B14F-4D97-AF65-F5344CB8AC3E}">
        <p14:creationId xmlns:p14="http://schemas.microsoft.com/office/powerpoint/2010/main" val="2350277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A4184-EADC-E968-F78F-BEBADABBC7FF}"/>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993974FF-0DCA-914A-2EF5-3451AC5C4EB2}"/>
              </a:ext>
            </a:extLst>
          </p:cNvPr>
          <p:cNvPicPr>
            <a:picLocks noChangeAspect="1"/>
          </p:cNvPicPr>
          <p:nvPr/>
        </p:nvPicPr>
        <p:blipFill>
          <a:blip r:embed="rId2"/>
          <a:stretch>
            <a:fillRect/>
          </a:stretch>
        </p:blipFill>
        <p:spPr>
          <a:xfrm>
            <a:off x="701960" y="947734"/>
            <a:ext cx="10877303" cy="4954019"/>
          </a:xfrm>
          <a:prstGeom prst="rect">
            <a:avLst/>
          </a:prstGeom>
        </p:spPr>
      </p:pic>
      <p:sp>
        <p:nvSpPr>
          <p:cNvPr id="3" name="Marcador de texto vertical 2">
            <a:extLst>
              <a:ext uri="{FF2B5EF4-FFF2-40B4-BE49-F238E27FC236}">
                <a16:creationId xmlns:a16="http://schemas.microsoft.com/office/drawing/2014/main" id="{212D6004-4F1C-F321-21DD-B0F71F1201BC}"/>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127714D1-1D4A-CDE1-278F-EF51250AD7FB}"/>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5" name="Rectángulo redondeado 15">
            <a:extLst>
              <a:ext uri="{FF2B5EF4-FFF2-40B4-BE49-F238E27FC236}">
                <a16:creationId xmlns:a16="http://schemas.microsoft.com/office/drawing/2014/main" id="{45F84168-1273-DECA-F249-EA515A76A3B5}"/>
              </a:ext>
            </a:extLst>
          </p:cNvPr>
          <p:cNvSpPr/>
          <p:nvPr/>
        </p:nvSpPr>
        <p:spPr>
          <a:xfrm>
            <a:off x="1468430" y="2509611"/>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
        <p:nvSpPr>
          <p:cNvPr id="10" name="Rectángulo 9">
            <a:extLst>
              <a:ext uri="{FF2B5EF4-FFF2-40B4-BE49-F238E27FC236}">
                <a16:creationId xmlns:a16="http://schemas.microsoft.com/office/drawing/2014/main" id="{FF473CE6-6260-5A52-E890-5F5635074748}"/>
              </a:ext>
            </a:extLst>
          </p:cNvPr>
          <p:cNvSpPr/>
          <p:nvPr/>
        </p:nvSpPr>
        <p:spPr>
          <a:xfrm>
            <a:off x="701960" y="2321395"/>
            <a:ext cx="1902695" cy="1882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grpSp>
        <p:nvGrpSpPr>
          <p:cNvPr id="22" name="Grupo 21">
            <a:extLst>
              <a:ext uri="{FF2B5EF4-FFF2-40B4-BE49-F238E27FC236}">
                <a16:creationId xmlns:a16="http://schemas.microsoft.com/office/drawing/2014/main" id="{D5BEED23-5749-391A-0F2E-47260911D413}"/>
              </a:ext>
            </a:extLst>
          </p:cNvPr>
          <p:cNvGrpSpPr/>
          <p:nvPr/>
        </p:nvGrpSpPr>
        <p:grpSpPr>
          <a:xfrm>
            <a:off x="2406072" y="3552442"/>
            <a:ext cx="7379855" cy="1068613"/>
            <a:chOff x="2406072" y="3552442"/>
            <a:chExt cx="7379855" cy="1068613"/>
          </a:xfrm>
        </p:grpSpPr>
        <p:sp>
          <p:nvSpPr>
            <p:cNvPr id="18" name="Rectángulo redondeado 5">
              <a:extLst>
                <a:ext uri="{FF2B5EF4-FFF2-40B4-BE49-F238E27FC236}">
                  <a16:creationId xmlns:a16="http://schemas.microsoft.com/office/drawing/2014/main" id="{2B7973DD-1A8B-9EF2-7687-1C74E7C5CEDF}"/>
                </a:ext>
              </a:extLst>
            </p:cNvPr>
            <p:cNvSpPr/>
            <p:nvPr/>
          </p:nvSpPr>
          <p:spPr>
            <a:xfrm>
              <a:off x="2406072" y="3552442"/>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A continuación se asociará el requisito </a:t>
              </a:r>
              <a:r>
                <a:rPr lang="es-CO" sz="1200" dirty="0" err="1"/>
                <a:t>cocurricular</a:t>
              </a:r>
              <a:r>
                <a:rPr lang="es-CO" sz="1200" dirty="0"/>
                <a:t> con el Registro de Grado que tenga el estudiante. Para ello:</a:t>
              </a:r>
            </a:p>
            <a:p>
              <a:pPr marL="228600" indent="-228600">
                <a:buFont typeface="+mj-lt"/>
                <a:buAutoNum type="arabicPeriod" startAt="16"/>
              </a:pPr>
              <a:r>
                <a:rPr lang="es-CO" sz="1200" dirty="0"/>
                <a:t>Presione el botón         del campo Número. </a:t>
              </a:r>
            </a:p>
          </p:txBody>
        </p:sp>
        <p:pic>
          <p:nvPicPr>
            <p:cNvPr id="21" name="Imagen 20">
              <a:extLst>
                <a:ext uri="{FF2B5EF4-FFF2-40B4-BE49-F238E27FC236}">
                  <a16:creationId xmlns:a16="http://schemas.microsoft.com/office/drawing/2014/main" id="{D836E15E-0D3C-8AD0-6E51-2406A774A14A}"/>
                </a:ext>
              </a:extLst>
            </p:cNvPr>
            <p:cNvPicPr>
              <a:picLocks noChangeAspect="1"/>
            </p:cNvPicPr>
            <p:nvPr/>
          </p:nvPicPr>
          <p:blipFill>
            <a:blip r:embed="rId3"/>
            <a:stretch>
              <a:fillRect/>
            </a:stretch>
          </p:blipFill>
          <p:spPr>
            <a:xfrm>
              <a:off x="3949154" y="4203907"/>
              <a:ext cx="195263" cy="148400"/>
            </a:xfrm>
            <a:prstGeom prst="rect">
              <a:avLst/>
            </a:prstGeom>
          </p:spPr>
        </p:pic>
      </p:grpSp>
    </p:spTree>
    <p:extLst>
      <p:ext uri="{BB962C8B-B14F-4D97-AF65-F5344CB8AC3E}">
        <p14:creationId xmlns:p14="http://schemas.microsoft.com/office/powerpoint/2010/main" val="3634885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63AA6-F36B-7C2B-BD20-501A9FBB64C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61FDCC7-65C4-208F-631E-1FFC530DC705}"/>
              </a:ext>
            </a:extLst>
          </p:cNvPr>
          <p:cNvPicPr>
            <a:picLocks noChangeAspect="1"/>
          </p:cNvPicPr>
          <p:nvPr/>
        </p:nvPicPr>
        <p:blipFill>
          <a:blip r:embed="rId2"/>
          <a:stretch>
            <a:fillRect/>
          </a:stretch>
        </p:blipFill>
        <p:spPr>
          <a:xfrm>
            <a:off x="717880" y="947734"/>
            <a:ext cx="10885207" cy="4954019"/>
          </a:xfrm>
          <a:prstGeom prst="rect">
            <a:avLst/>
          </a:prstGeom>
        </p:spPr>
      </p:pic>
      <p:sp>
        <p:nvSpPr>
          <p:cNvPr id="3" name="Marcador de texto vertical 2">
            <a:extLst>
              <a:ext uri="{FF2B5EF4-FFF2-40B4-BE49-F238E27FC236}">
                <a16:creationId xmlns:a16="http://schemas.microsoft.com/office/drawing/2014/main" id="{D0B84826-873A-F973-3D51-E6DBB227EEF0}"/>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4AA38D88-38C3-DD95-9266-0424A1D1A8B7}"/>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5" name="Rectángulo redondeado 15">
            <a:extLst>
              <a:ext uri="{FF2B5EF4-FFF2-40B4-BE49-F238E27FC236}">
                <a16:creationId xmlns:a16="http://schemas.microsoft.com/office/drawing/2014/main" id="{C0C4D38F-4FCE-6A04-85B6-00A79DA2B17E}"/>
              </a:ext>
            </a:extLst>
          </p:cNvPr>
          <p:cNvSpPr/>
          <p:nvPr/>
        </p:nvSpPr>
        <p:spPr>
          <a:xfrm>
            <a:off x="969667" y="2112448"/>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
        <p:nvSpPr>
          <p:cNvPr id="10" name="Rectángulo 9">
            <a:extLst>
              <a:ext uri="{FF2B5EF4-FFF2-40B4-BE49-F238E27FC236}">
                <a16:creationId xmlns:a16="http://schemas.microsoft.com/office/drawing/2014/main" id="{EEBBFD1B-F7E9-986B-BBD8-984AA9E1350B}"/>
              </a:ext>
            </a:extLst>
          </p:cNvPr>
          <p:cNvSpPr/>
          <p:nvPr/>
        </p:nvSpPr>
        <p:spPr>
          <a:xfrm>
            <a:off x="697266" y="1479790"/>
            <a:ext cx="10905821" cy="561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5">
            <a:extLst>
              <a:ext uri="{FF2B5EF4-FFF2-40B4-BE49-F238E27FC236}">
                <a16:creationId xmlns:a16="http://schemas.microsoft.com/office/drawing/2014/main" id="{8E9499C9-6714-A63B-E2DD-B0999F00C69C}"/>
              </a:ext>
            </a:extLst>
          </p:cNvPr>
          <p:cNvSpPr/>
          <p:nvPr/>
        </p:nvSpPr>
        <p:spPr>
          <a:xfrm>
            <a:off x="2406072" y="3552442"/>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7"/>
            </a:pPr>
            <a:r>
              <a:rPr lang="es-CO" sz="1200" dirty="0"/>
              <a:t>El sistema muestra la página de Resumen de grado del estudiante. Ubique, si el estudiante tiene más de un programa de grado, el que corresponde al cumplimiento del no curso y haga clic sobre él</a:t>
            </a:r>
          </a:p>
          <a:p>
            <a:pPr marL="228600" indent="-228600">
              <a:buFont typeface="+mj-lt"/>
              <a:buAutoNum type="arabicPeriod" startAt="17"/>
            </a:pPr>
            <a:r>
              <a:rPr lang="es-CO" sz="1200" dirty="0"/>
              <a:t>Presione el botón Seleccionar.</a:t>
            </a:r>
          </a:p>
        </p:txBody>
      </p:sp>
      <p:sp>
        <p:nvSpPr>
          <p:cNvPr id="7" name="Rectángulo 6">
            <a:extLst>
              <a:ext uri="{FF2B5EF4-FFF2-40B4-BE49-F238E27FC236}">
                <a16:creationId xmlns:a16="http://schemas.microsoft.com/office/drawing/2014/main" id="{876CB3D7-253A-24A5-7108-8F49A1201A59}"/>
              </a:ext>
            </a:extLst>
          </p:cNvPr>
          <p:cNvSpPr/>
          <p:nvPr/>
        </p:nvSpPr>
        <p:spPr>
          <a:xfrm>
            <a:off x="11009746" y="5628998"/>
            <a:ext cx="597226" cy="18067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A1AD6678-1080-FD0D-635F-056DD479DF27}"/>
              </a:ext>
            </a:extLst>
          </p:cNvPr>
          <p:cNvSpPr/>
          <p:nvPr/>
        </p:nvSpPr>
        <p:spPr>
          <a:xfrm>
            <a:off x="10714739" y="5456510"/>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cxnSp>
        <p:nvCxnSpPr>
          <p:cNvPr id="9" name="Conector recto de flecha 8">
            <a:extLst>
              <a:ext uri="{FF2B5EF4-FFF2-40B4-BE49-F238E27FC236}">
                <a16:creationId xmlns:a16="http://schemas.microsoft.com/office/drawing/2014/main" id="{799B81A9-FC64-2989-E934-0544FD0F49AD}"/>
              </a:ext>
            </a:extLst>
          </p:cNvPr>
          <p:cNvCxnSpPr>
            <a:cxnSpLocks/>
          </p:cNvCxnSpPr>
          <p:nvPr/>
        </p:nvCxnSpPr>
        <p:spPr>
          <a:xfrm>
            <a:off x="1634836" y="1810327"/>
            <a:ext cx="979055" cy="5634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3804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ED976-B55A-7B96-A541-D231F75634D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ADDE263-0FC2-330C-734E-FECF36852329}"/>
              </a:ext>
            </a:extLst>
          </p:cNvPr>
          <p:cNvPicPr>
            <a:picLocks noChangeAspect="1"/>
          </p:cNvPicPr>
          <p:nvPr/>
        </p:nvPicPr>
        <p:blipFill>
          <a:blip r:embed="rId2"/>
          <a:stretch>
            <a:fillRect/>
          </a:stretch>
        </p:blipFill>
        <p:spPr>
          <a:xfrm>
            <a:off x="717880" y="947734"/>
            <a:ext cx="10865453" cy="4962532"/>
          </a:xfrm>
          <a:prstGeom prst="rect">
            <a:avLst/>
          </a:prstGeom>
        </p:spPr>
      </p:pic>
      <p:sp>
        <p:nvSpPr>
          <p:cNvPr id="3" name="Marcador de texto vertical 2">
            <a:extLst>
              <a:ext uri="{FF2B5EF4-FFF2-40B4-BE49-F238E27FC236}">
                <a16:creationId xmlns:a16="http://schemas.microsoft.com/office/drawing/2014/main" id="{673F040E-1E4E-BDDC-A3EF-767C100A8256}"/>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4" name="Título 3">
            <a:extLst>
              <a:ext uri="{FF2B5EF4-FFF2-40B4-BE49-F238E27FC236}">
                <a16:creationId xmlns:a16="http://schemas.microsoft.com/office/drawing/2014/main" id="{C17B21BC-1A1F-468F-4985-585A96F5F33D}"/>
              </a:ext>
            </a:extLst>
          </p:cNvPr>
          <p:cNvSpPr>
            <a:spLocks noGrp="1"/>
          </p:cNvSpPr>
          <p:nvPr>
            <p:ph type="title"/>
          </p:nvPr>
        </p:nvSpPr>
        <p:spPr>
          <a:xfrm>
            <a:off x="810247" y="327992"/>
            <a:ext cx="10271883" cy="626165"/>
          </a:xfrm>
        </p:spPr>
        <p:txBody>
          <a:bodyPr/>
          <a:lstStyle/>
          <a:p>
            <a:r>
              <a:rPr lang="es-419" dirty="0">
                <a:solidFill>
                  <a:schemeClr val="accent1"/>
                </a:solidFill>
              </a:rPr>
              <a:t>Requisito </a:t>
            </a:r>
            <a:r>
              <a:rPr lang="es-419" dirty="0" err="1">
                <a:solidFill>
                  <a:schemeClr val="accent1"/>
                </a:solidFill>
              </a:rPr>
              <a:t>cocurricular</a:t>
            </a:r>
            <a:r>
              <a:rPr lang="es-419" dirty="0">
                <a:solidFill>
                  <a:schemeClr val="accent1"/>
                </a:solidFill>
              </a:rPr>
              <a:t> académico (SHANCRS)</a:t>
            </a:r>
            <a:endParaRPr lang="es-CL" dirty="0">
              <a:solidFill>
                <a:schemeClr val="accent1"/>
              </a:solidFill>
            </a:endParaRPr>
          </a:p>
        </p:txBody>
      </p:sp>
      <p:sp>
        <p:nvSpPr>
          <p:cNvPr id="5" name="Rectángulo redondeado 15">
            <a:extLst>
              <a:ext uri="{FF2B5EF4-FFF2-40B4-BE49-F238E27FC236}">
                <a16:creationId xmlns:a16="http://schemas.microsoft.com/office/drawing/2014/main" id="{985A94E2-22D8-A2B0-8BDD-6D8C0E8E788F}"/>
              </a:ext>
            </a:extLst>
          </p:cNvPr>
          <p:cNvSpPr/>
          <p:nvPr/>
        </p:nvSpPr>
        <p:spPr>
          <a:xfrm>
            <a:off x="941958" y="2685102"/>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19</a:t>
            </a:r>
            <a:endParaRPr lang="es-419" sz="1100" noProof="0" dirty="0"/>
          </a:p>
        </p:txBody>
      </p:sp>
      <p:sp>
        <p:nvSpPr>
          <p:cNvPr id="10" name="Rectángulo 9">
            <a:extLst>
              <a:ext uri="{FF2B5EF4-FFF2-40B4-BE49-F238E27FC236}">
                <a16:creationId xmlns:a16="http://schemas.microsoft.com/office/drawing/2014/main" id="{0C212CC8-B460-7728-9C63-1214307A0C41}"/>
              </a:ext>
            </a:extLst>
          </p:cNvPr>
          <p:cNvSpPr/>
          <p:nvPr/>
        </p:nvSpPr>
        <p:spPr>
          <a:xfrm>
            <a:off x="697695" y="2038720"/>
            <a:ext cx="10905821" cy="561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5">
            <a:extLst>
              <a:ext uri="{FF2B5EF4-FFF2-40B4-BE49-F238E27FC236}">
                <a16:creationId xmlns:a16="http://schemas.microsoft.com/office/drawing/2014/main" id="{E0214413-A140-F6C3-808E-06E305CBF49C}"/>
              </a:ext>
            </a:extLst>
          </p:cNvPr>
          <p:cNvSpPr/>
          <p:nvPr/>
        </p:nvSpPr>
        <p:spPr>
          <a:xfrm>
            <a:off x="2406072" y="3552442"/>
            <a:ext cx="7379855" cy="10686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9"/>
            </a:pPr>
            <a:r>
              <a:rPr lang="es-419" sz="1200" dirty="0"/>
              <a:t>El sistema trae el grado (número de secuencia) seleccionado al campo Número. </a:t>
            </a:r>
          </a:p>
          <a:p>
            <a:pPr marL="228600" indent="-228600">
              <a:buFont typeface="+mj-lt"/>
              <a:buAutoNum type="arabicPeriod" startAt="19"/>
            </a:pPr>
            <a:r>
              <a:rPr lang="es-419" sz="1200" dirty="0"/>
              <a:t>Guarde la información. Al hacerlo se llenan los campos Código y descripción del código automáticamente.</a:t>
            </a:r>
          </a:p>
        </p:txBody>
      </p:sp>
      <p:sp>
        <p:nvSpPr>
          <p:cNvPr id="7" name="Rectángulo 6">
            <a:extLst>
              <a:ext uri="{FF2B5EF4-FFF2-40B4-BE49-F238E27FC236}">
                <a16:creationId xmlns:a16="http://schemas.microsoft.com/office/drawing/2014/main" id="{5E4D05EC-A7CB-2064-B83C-05F32A6BCD4B}"/>
              </a:ext>
            </a:extLst>
          </p:cNvPr>
          <p:cNvSpPr/>
          <p:nvPr/>
        </p:nvSpPr>
        <p:spPr>
          <a:xfrm>
            <a:off x="11084344" y="5628999"/>
            <a:ext cx="53186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70762F63-7F7F-8202-7D75-68949FAAEC54}"/>
              </a:ext>
            </a:extLst>
          </p:cNvPr>
          <p:cNvSpPr/>
          <p:nvPr/>
        </p:nvSpPr>
        <p:spPr>
          <a:xfrm>
            <a:off x="10714739" y="5456510"/>
            <a:ext cx="36036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Tree>
    <p:extLst>
      <p:ext uri="{BB962C8B-B14F-4D97-AF65-F5344CB8AC3E}">
        <p14:creationId xmlns:p14="http://schemas.microsoft.com/office/powerpoint/2010/main" val="4128627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375935"/>
            <a:ext cx="7092820" cy="1628192"/>
          </a:xfrm>
        </p:spPr>
        <p:txBody>
          <a:bodyPr/>
          <a:lstStyle/>
          <a:p>
            <a:r>
              <a:rPr lang="en-US" sz="3600" dirty="0"/>
              <a:t>RESUMEN</a:t>
            </a:r>
          </a:p>
        </p:txBody>
      </p:sp>
      <p:sp>
        <p:nvSpPr>
          <p:cNvPr id="4" name="Marcador de texto 3">
            <a:extLst>
              <a:ext uri="{FF2B5EF4-FFF2-40B4-BE49-F238E27FC236}">
                <a16:creationId xmlns:a16="http://schemas.microsoft.com/office/drawing/2014/main" id="{5445B322-E42B-CE7E-158D-E3DA5585B0B1}"/>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113485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1C3C-EC3D-F2D9-5BB9-5F64A2A2F73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DE1AEE1B-3ED8-F400-194C-AA0D784ABF64}"/>
              </a:ext>
            </a:extLst>
          </p:cNvPr>
          <p:cNvSpPr>
            <a:spLocks noGrp="1"/>
          </p:cNvSpPr>
          <p:nvPr>
            <p:ph type="body" sz="quarter" idx="18"/>
          </p:nvPr>
        </p:nvSpPr>
        <p:spPr/>
        <p:txBody>
          <a:bodyPr/>
          <a:lstStyle/>
          <a:p>
            <a:pPr algn="just">
              <a:buClr>
                <a:schemeClr val="tx1"/>
              </a:buClr>
              <a:buFont typeface="Wingdings" panose="05000000000000000000" pitchFamily="2" charset="2"/>
              <a:buChar char="v"/>
            </a:pPr>
            <a:r>
              <a:rPr lang="es-419" sz="1800" dirty="0"/>
              <a:t>Ellucian Student permite llevar un registro para los Comité evaluadores de las actividades de grado que los alumnos realicen para titularse.</a:t>
            </a:r>
          </a:p>
          <a:p>
            <a:pPr algn="just">
              <a:buClr>
                <a:schemeClr val="tx1"/>
              </a:buClr>
              <a:buFont typeface="Wingdings" panose="05000000000000000000" pitchFamily="2" charset="2"/>
              <a:buChar char="v"/>
            </a:pPr>
            <a:r>
              <a:rPr lang="es-419" sz="1800" dirty="0"/>
              <a:t>Igualmente, se ha decidido guardar el título de la actividad final de grado en la página SHAQPNO.</a:t>
            </a:r>
          </a:p>
          <a:p>
            <a:pPr algn="just">
              <a:buClr>
                <a:schemeClr val="tx1"/>
              </a:buClr>
              <a:buFont typeface="Wingdings" panose="05000000000000000000" pitchFamily="2" charset="2"/>
              <a:buChar char="v"/>
            </a:pPr>
            <a:r>
              <a:rPr lang="es-419" sz="1800" dirty="0"/>
              <a:t>Banner permite ingresar el estado actual de cumplimiento de lo que fueran los requerimientos </a:t>
            </a:r>
            <a:r>
              <a:rPr lang="es-419" sz="1800" dirty="0" err="1"/>
              <a:t>cocurriculares</a:t>
            </a:r>
            <a:r>
              <a:rPr lang="es-419" sz="1800" dirty="0"/>
              <a:t> que pudiera tener un estudiante en el desarrollo académico (</a:t>
            </a:r>
            <a:r>
              <a:rPr lang="es-ES_tradnl" sz="1800" dirty="0"/>
              <a:t>SHANCRS</a:t>
            </a:r>
            <a:r>
              <a:rPr lang="es-419" sz="1800" dirty="0"/>
              <a:t>), asociado al comité evaluador y el documento o actividad de grado que corresponda. </a:t>
            </a:r>
          </a:p>
          <a:p>
            <a:pPr algn="just">
              <a:buClr>
                <a:schemeClr val="tx1"/>
              </a:buClr>
              <a:buFont typeface="Wingdings" panose="05000000000000000000" pitchFamily="2" charset="2"/>
              <a:buChar char="v"/>
            </a:pPr>
            <a:r>
              <a:rPr lang="es-419" sz="1800" dirty="0"/>
              <a:t>Comúnmente estos requerimientos </a:t>
            </a:r>
            <a:r>
              <a:rPr lang="es-419" sz="1800" dirty="0" err="1"/>
              <a:t>cocurriculares</a:t>
            </a:r>
            <a:r>
              <a:rPr lang="es-419" sz="1800" dirty="0"/>
              <a:t> corresponden a requerimientos académicos que no son representados por medio de cursos de asignaturas (</a:t>
            </a:r>
            <a:r>
              <a:rPr lang="es-ES_tradnl" sz="1800" dirty="0"/>
              <a:t>STVNCRQ)</a:t>
            </a:r>
            <a:r>
              <a:rPr lang="es-419" sz="1800" dirty="0"/>
              <a:t>.</a:t>
            </a:r>
          </a:p>
          <a:p>
            <a:pPr algn="just">
              <a:buClr>
                <a:schemeClr val="tx1"/>
              </a:buClr>
              <a:buFont typeface="Wingdings" panose="05000000000000000000" pitchFamily="2" charset="2"/>
              <a:buChar char="v"/>
            </a:pPr>
            <a:r>
              <a:rPr lang="es-419" sz="1800" dirty="0"/>
              <a:t>Se han de definir los estados de cumplimiento que pudieran ser gestionados en cada requerimiento, determinando en cada uno si representan o no el cumplimiento como tal (STVNCST).</a:t>
            </a:r>
          </a:p>
        </p:txBody>
      </p:sp>
      <p:sp>
        <p:nvSpPr>
          <p:cNvPr id="10" name="Vertical Text Placeholder 9">
            <a:extLst>
              <a:ext uri="{FF2B5EF4-FFF2-40B4-BE49-F238E27FC236}">
                <a16:creationId xmlns:a16="http://schemas.microsoft.com/office/drawing/2014/main" id="{672B9B08-9B59-E5D1-A75D-97A8B8F792E2}"/>
              </a:ext>
            </a:extLst>
          </p:cNvPr>
          <p:cNvSpPr>
            <a:spLocks noGrp="1"/>
          </p:cNvSpPr>
          <p:nvPr>
            <p:ph type="body" orient="vert" sz="quarter" idx="17"/>
          </p:nvPr>
        </p:nvSpPr>
        <p:spPr/>
        <p:txBody>
          <a:bodyPr/>
          <a:lstStyle/>
          <a:p>
            <a:r>
              <a:rPr lang="es-419" sz="1200" dirty="0"/>
              <a:t>Gestionar otros requisitos académicos</a:t>
            </a:r>
            <a:endParaRPr lang="en-US" dirty="0"/>
          </a:p>
        </p:txBody>
      </p:sp>
      <p:sp>
        <p:nvSpPr>
          <p:cNvPr id="16" name="Title 15">
            <a:extLst>
              <a:ext uri="{FF2B5EF4-FFF2-40B4-BE49-F238E27FC236}">
                <a16:creationId xmlns:a16="http://schemas.microsoft.com/office/drawing/2014/main" id="{59159E95-5F1E-E8E7-5272-5A0192DC578C}"/>
              </a:ext>
            </a:extLst>
          </p:cNvPr>
          <p:cNvSpPr>
            <a:spLocks noGrp="1"/>
          </p:cNvSpPr>
          <p:nvPr>
            <p:ph type="title"/>
          </p:nvPr>
        </p:nvSpPr>
        <p:spPr/>
        <p:txBody>
          <a:bodyPr/>
          <a:lstStyle/>
          <a:p>
            <a:r>
              <a:rPr lang="en-US" sz="3600" dirty="0">
                <a:solidFill>
                  <a:schemeClr val="accent1"/>
                </a:solidFill>
              </a:rPr>
              <a:t>RESUMEN</a:t>
            </a:r>
          </a:p>
        </p:txBody>
      </p:sp>
    </p:spTree>
    <p:extLst>
      <p:ext uri="{BB962C8B-B14F-4D97-AF65-F5344CB8AC3E}">
        <p14:creationId xmlns:p14="http://schemas.microsoft.com/office/powerpoint/2010/main" val="3731207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CL" sz="2000" dirty="0"/>
              <a:t>Nidia Beltran</a:t>
            </a:r>
            <a:endParaRPr lang="es-419" sz="2000"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Nidia.beltran@</a:t>
            </a:r>
            <a:r>
              <a:rPr lang="es-419" dirty="0"/>
              <a:t>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10873</TotalTime>
  <Words>1725</Words>
  <Application>Microsoft Office PowerPoint</Application>
  <PresentationFormat>Panorámica</PresentationFormat>
  <Paragraphs>208</Paragraphs>
  <Slides>41</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41</vt:i4>
      </vt:variant>
    </vt:vector>
  </HeadingPairs>
  <TitlesOfParts>
    <vt:vector size="50"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Otorgamiento del Título y Ceremonía del estudiante</vt:lpstr>
      <vt:lpstr>Overview: Capacidad Otorgamiento del Título y Ceremonia del estudiante</vt:lpstr>
      <vt:lpstr>Overview: Capacidad Operativa Gestión de Elegibilidad para Titulación </vt:lpstr>
      <vt:lpstr>Overview: Capacidad Operativa Gestión de Elegibilidad para Titulación </vt:lpstr>
      <vt:lpstr>Overview: Capacidad Operativa Gestión de Elegibilidad para Titulación </vt:lpstr>
      <vt:lpstr>Presentación de PowerPoint</vt:lpstr>
      <vt:lpstr>Presentación de PowerPoint</vt:lpstr>
      <vt:lpstr>CONFIGURACIONES</vt:lpstr>
      <vt:lpstr>Validación del tipo de comité/servicio (STVCOMT) </vt:lpstr>
      <vt:lpstr>Validación del estatus del comité/servicio (STVCOMS) </vt:lpstr>
      <vt:lpstr>Validación de rol/función del miembro del comité (STVCOMF) </vt:lpstr>
      <vt:lpstr>Validación de código de tipo de documento de acreditación (STVQPTP) </vt:lpstr>
      <vt:lpstr>Validación de los códigos de los requisitos cocurriculares (STVNCRQ) </vt:lpstr>
      <vt:lpstr>Validación de los códigos de estatus de los requisitos cocurriculares (STVNCST)</vt:lpstr>
      <vt:lpstr>Gestionar otros requisitos académicos</vt:lpstr>
      <vt:lpstr>Registro del Comité evaluador del requisito cocurricular</vt:lpstr>
      <vt:lpstr>Registro del Comité evaluador (SHACOMI)</vt:lpstr>
      <vt:lpstr>Registro del Comité evaluador (SHACOMI)</vt:lpstr>
      <vt:lpstr>Registro del Comité evaluador (SHACOMI)</vt:lpstr>
      <vt:lpstr>Registro del Documento de acreditación del requisito cocurricular</vt:lpstr>
      <vt:lpstr>Registro del documento de acreditación (SHAQPNO)</vt:lpstr>
      <vt:lpstr>Registro del documento de acreditación (SHAQPNO)</vt:lpstr>
      <vt:lpstr>Registro del documento de acreditación (SHAQPNO)</vt:lpstr>
      <vt:lpstr>Registro del documento de acreditación (SHAQPNO)</vt:lpstr>
      <vt:lpstr>Registro cumplimiento del requisito cocurricular</vt:lpstr>
      <vt:lpstr>Requisito cocurricular académico (SHANCRS)</vt:lpstr>
      <vt:lpstr>Requisito cocurricular académico (SHANCRS)</vt:lpstr>
      <vt:lpstr>Requisito cocurricular académico (SHANCRS)</vt:lpstr>
      <vt:lpstr>Requisito cocurricular académico (SHANCRS)</vt:lpstr>
      <vt:lpstr>Requisito cocurricular académico (SHANCRS)</vt:lpstr>
      <vt:lpstr>Requisito cocurricular académico (SHANCRS)</vt:lpstr>
      <vt:lpstr>Requisito cocurricular académico (SHANCRS)</vt:lpstr>
      <vt:lpstr>Requisito cocurricular académico (SHANCRS)</vt:lpstr>
      <vt:lpstr>Requisito cocurricular académico (SHANCRS)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264</cp:revision>
  <dcterms:created xsi:type="dcterms:W3CDTF">2023-07-17T20:07:38Z</dcterms:created>
  <dcterms:modified xsi:type="dcterms:W3CDTF">2026-07-21T16:20:36Z</dcterms:modified>
</cp:coreProperties>
</file>
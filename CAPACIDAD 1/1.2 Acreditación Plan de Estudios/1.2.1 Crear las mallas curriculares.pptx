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2" r:id="rId2"/>
  </p:sldMasterIdLst>
  <p:notesMasterIdLst>
    <p:notesMasterId r:id="rId40"/>
  </p:notesMasterIdLst>
  <p:sldIdLst>
    <p:sldId id="521" r:id="rId3"/>
    <p:sldId id="523" r:id="rId4"/>
    <p:sldId id="476" r:id="rId5"/>
    <p:sldId id="260" r:id="rId6"/>
    <p:sldId id="421" r:id="rId7"/>
    <p:sldId id="350" r:id="rId8"/>
    <p:sldId id="261" r:id="rId9"/>
    <p:sldId id="353" r:id="rId10"/>
    <p:sldId id="493" r:id="rId11"/>
    <p:sldId id="343" r:id="rId12"/>
    <p:sldId id="511" r:id="rId13"/>
    <p:sldId id="355" r:id="rId14"/>
    <p:sldId id="494" r:id="rId15"/>
    <p:sldId id="512" r:id="rId16"/>
    <p:sldId id="506" r:id="rId17"/>
    <p:sldId id="510" r:id="rId18"/>
    <p:sldId id="509" r:id="rId19"/>
    <p:sldId id="507" r:id="rId20"/>
    <p:sldId id="508" r:id="rId21"/>
    <p:sldId id="514" r:id="rId22"/>
    <p:sldId id="515" r:id="rId23"/>
    <p:sldId id="480" r:id="rId24"/>
    <p:sldId id="496" r:id="rId25"/>
    <p:sldId id="481" r:id="rId26"/>
    <p:sldId id="497" r:id="rId27"/>
    <p:sldId id="484" r:id="rId28"/>
    <p:sldId id="502" r:id="rId29"/>
    <p:sldId id="485" r:id="rId30"/>
    <p:sldId id="498" r:id="rId31"/>
    <p:sldId id="499" r:id="rId32"/>
    <p:sldId id="500" r:id="rId33"/>
    <p:sldId id="487" r:id="rId34"/>
    <p:sldId id="490" r:id="rId35"/>
    <p:sldId id="504" r:id="rId36"/>
    <p:sldId id="345" r:id="rId37"/>
    <p:sldId id="501" r:id="rId38"/>
    <p:sldId id="52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 id="{38647FDE-9F35-9E2F-AF18-21899DF329F4}" name="Diana Carolina Cruz Neira" initials="DC" userId="S::diana.cruz@cesa.edu.co::8e96c439-78b1-4614-a925-80354ad4b61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681B79"/>
    <a:srgbClr val="68C184"/>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7F8291-E019-4C31-BDF0-A7A1FC30B64E}" v="1" dt="2026-06-10T23:56:00.05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Molina" userId="20636364146_tp_box_2" providerId="OAuth2" clId="{44CDD4FA-DF07-4B69-BC01-0B2B69272B43}"/>
    <pc:docChg chg="custSel modSld">
      <pc:chgData name="Sergio Molina" userId="20636364146_tp_box_2" providerId="OAuth2" clId="{44CDD4FA-DF07-4B69-BC01-0B2B69272B43}" dt="2026-06-10T23:57:25.383" v="40" actId="20577"/>
      <pc:docMkLst>
        <pc:docMk/>
      </pc:docMkLst>
      <pc:sldChg chg="modSp mod">
        <pc:chgData name="Sergio Molina" userId="20636364146_tp_box_2" providerId="OAuth2" clId="{44CDD4FA-DF07-4B69-BC01-0B2B69272B43}" dt="2026-06-10T23:56:06.539" v="9" actId="20577"/>
        <pc:sldMkLst>
          <pc:docMk/>
          <pc:sldMk cId="1226147885" sldId="521"/>
        </pc:sldMkLst>
        <pc:spChg chg="mod">
          <ac:chgData name="Sergio Molina" userId="20636364146_tp_box_2" providerId="OAuth2" clId="{44CDD4FA-DF07-4B69-BC01-0B2B69272B43}" dt="2026-06-10T23:56:00.052" v="0"/>
          <ac:spMkLst>
            <pc:docMk/>
            <pc:sldMk cId="1226147885" sldId="521"/>
            <ac:spMk id="6" creationId="{F1058994-14DF-8FFD-FA01-FFA4BBFEC016}"/>
          </ac:spMkLst>
        </pc:spChg>
        <pc:spChg chg="mod">
          <ac:chgData name="Sergio Molina" userId="20636364146_tp_box_2" providerId="OAuth2" clId="{44CDD4FA-DF07-4B69-BC01-0B2B69272B43}" dt="2026-06-10T23:56:06.539" v="9" actId="20577"/>
          <ac:spMkLst>
            <pc:docMk/>
            <pc:sldMk cId="1226147885" sldId="521"/>
            <ac:spMk id="13" creationId="{BC90C980-F946-78A1-2843-B04BE206F92C}"/>
          </ac:spMkLst>
        </pc:spChg>
      </pc:sldChg>
      <pc:sldChg chg="modSp mod">
        <pc:chgData name="Sergio Molina" userId="20636364146_tp_box_2" providerId="OAuth2" clId="{44CDD4FA-DF07-4B69-BC01-0B2B69272B43}" dt="2026-06-10T23:57:25.383" v="40" actId="20577"/>
        <pc:sldMkLst>
          <pc:docMk/>
          <pc:sldMk cId="2368669019" sldId="522"/>
        </pc:sldMkLst>
        <pc:spChg chg="mod">
          <ac:chgData name="Sergio Molina" userId="20636364146_tp_box_2" providerId="OAuth2" clId="{44CDD4FA-DF07-4B69-BC01-0B2B69272B43}" dt="2026-06-10T23:57:25.383" v="40" actId="20577"/>
          <ac:spMkLst>
            <pc:docMk/>
            <pc:sldMk cId="2368669019" sldId="522"/>
            <ac:spMk id="4" creationId="{680EF50E-22E9-2C0A-4970-41D2FFEB26BC}"/>
          </ac:spMkLst>
        </pc:spChg>
      </pc:sldChg>
    </pc:docChg>
  </pc:docChgLst>
  <pc:docChgLst>
    <pc:chgData name="Diana Carolina Cruz Neira" userId="HqrVrFNIz3aOz7BM+vLuPv0jN3NG5MUjzUKAHgNKpS8=" providerId="None" clId="Web-{9F8B1A16-CD1D-40F6-B84D-908D09D78420}"/>
    <pc:docChg chg="modSld">
      <pc:chgData name="Diana Carolina Cruz Neira" userId="HqrVrFNIz3aOz7BM+vLuPv0jN3NG5MUjzUKAHgNKpS8=" providerId="None" clId="Web-{9F8B1A16-CD1D-40F6-B84D-908D09D78420}" dt="2025-02-19T21:37:37.590" v="3"/>
      <pc:docMkLst>
        <pc:docMk/>
      </pc:docMkLst>
      <pc:sldChg chg="addSp delSp modSp">
        <pc:chgData name="Diana Carolina Cruz Neira" userId="HqrVrFNIz3aOz7BM+vLuPv0jN3NG5MUjzUKAHgNKpS8=" providerId="None" clId="Web-{9F8B1A16-CD1D-40F6-B84D-908D09D78420}" dt="2025-02-19T21:37:37.590" v="3"/>
        <pc:sldMkLst>
          <pc:docMk/>
          <pc:sldMk cId="798339931" sldId="496"/>
        </pc:sldMkLst>
      </pc:sldChg>
    </pc:docChg>
  </pc:docChgLst>
  <pc:docChgLst>
    <pc:chgData name="DIANA CAROLINA VARON DIAZ" userId="F3WulOO1zdW9+LORcwUsQgtHX8O05KiAsqyo1/aqNxE=" providerId="None" clId="Web-{BD74AB18-0DA8-437F-A59C-3177141C13C4}"/>
    <pc:docChg chg="modSld">
      <pc:chgData name="DIANA CAROLINA VARON DIAZ" userId="F3WulOO1zdW9+LORcwUsQgtHX8O05KiAsqyo1/aqNxE=" providerId="None" clId="Web-{BD74AB18-0DA8-437F-A59C-3177141C13C4}" dt="2024-10-30T21:03:18.599" v="33" actId="20577"/>
      <pc:docMkLst>
        <pc:docMk/>
      </pc:docMkLst>
      <pc:sldChg chg="modSp">
        <pc:chgData name="DIANA CAROLINA VARON DIAZ" userId="F3WulOO1zdW9+LORcwUsQgtHX8O05KiAsqyo1/aqNxE=" providerId="None" clId="Web-{BD74AB18-0DA8-437F-A59C-3177141C13C4}" dt="2024-10-30T21:03:18.599" v="33" actId="20577"/>
        <pc:sldMkLst>
          <pc:docMk/>
          <pc:sldMk cId="35297589" sldId="4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10-06-2026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a:p>
        </p:txBody>
      </p:sp>
      <p:sp>
        <p:nvSpPr>
          <p:cNvPr id="4" name="Slide Number Placeholder 3"/>
          <p:cNvSpPr>
            <a:spLocks noGrp="1"/>
          </p:cNvSpPr>
          <p:nvPr>
            <p:ph type="sldNum" sz="quarter" idx="5"/>
          </p:nvPr>
        </p:nvSpPr>
        <p:spPr/>
        <p:txBody>
          <a:bodyPr/>
          <a:lstStyle/>
          <a:p>
            <a:fld id="{F6582945-6648-41CA-B880-4B10E0E03327}" type="slidenum">
              <a:rPr lang="es-CL" smtClean="0"/>
              <a:t>2</a:t>
            </a:fld>
            <a:endParaRPr lang="es-CL"/>
          </a:p>
        </p:txBody>
      </p:sp>
    </p:spTree>
    <p:extLst>
      <p:ext uri="{BB962C8B-B14F-4D97-AF65-F5344CB8AC3E}">
        <p14:creationId xmlns:p14="http://schemas.microsoft.com/office/powerpoint/2010/main" val="40197186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4996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33006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30541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63012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73658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37602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73475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930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305530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3" name="Rectangle 2">
            <a:extLst>
              <a:ext uri="{FF2B5EF4-FFF2-40B4-BE49-F238E27FC236}">
                <a16:creationId xmlns:a16="http://schemas.microsoft.com/office/drawing/2014/main" id="{88ABF5E7-E041-F24F-9566-5A5FC5792573}"/>
              </a:ext>
            </a:extLst>
          </p:cNvPr>
          <p:cNvSpPr/>
          <p:nvPr userDrawn="1"/>
        </p:nvSpPr>
        <p:spPr>
          <a:xfrm>
            <a:off x="9144000" y="6444343"/>
            <a:ext cx="2500475" cy="3265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TextBox 3">
            <a:extLst>
              <a:ext uri="{FF2B5EF4-FFF2-40B4-BE49-F238E27FC236}">
                <a16:creationId xmlns:a16="http://schemas.microsoft.com/office/drawing/2014/main" id="{F58A8729-1FB7-5519-5609-70B6DE002172}"/>
              </a:ext>
            </a:extLst>
          </p:cNvPr>
          <p:cNvSpPr txBox="1"/>
          <p:nvPr userDrawn="1"/>
        </p:nvSpPr>
        <p:spPr>
          <a:xfrm>
            <a:off x="9144000" y="6547447"/>
            <a:ext cx="2658947" cy="138499"/>
          </a:xfrm>
          <a:prstGeom prst="rect">
            <a:avLst/>
          </a:prstGeom>
          <a:noFill/>
        </p:spPr>
        <p:txBody>
          <a:bodyPr wrap="square" lIns="0" tIns="0" rIns="0" bIns="0" rtlCol="0">
            <a:spAutoFit/>
          </a:bodyPr>
          <a:lstStyle/>
          <a:p>
            <a:pPr algn="r"/>
            <a:r>
              <a:rPr lang="en-US" sz="900" dirty="0">
                <a:solidFill>
                  <a:srgbClr val="8A00B0"/>
                </a:solidFill>
              </a:rPr>
              <a:t>©2026 Ellucian. Confidential and Proprietary</a:t>
            </a:r>
          </a:p>
        </p:txBody>
      </p:sp>
    </p:spTree>
    <p:extLst>
      <p:ext uri="{BB962C8B-B14F-4D97-AF65-F5344CB8AC3E}">
        <p14:creationId xmlns:p14="http://schemas.microsoft.com/office/powerpoint/2010/main" val="1205512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62562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9944754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4145840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951980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0344731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520617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916121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888058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17531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031088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644325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563414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775895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327650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436327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42592882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3545861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012645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266368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49210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880821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447515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553781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332774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a:p>
        </p:txBody>
      </p:sp>
      <p:sp>
        <p:nvSpPr>
          <p:cNvPr id="3" name="Rectangle 2">
            <a:extLst>
              <a:ext uri="{FF2B5EF4-FFF2-40B4-BE49-F238E27FC236}">
                <a16:creationId xmlns:a16="http://schemas.microsoft.com/office/drawing/2014/main" id="{BC336BF6-C43B-8A5C-3CD7-D6E74DDBE55C}"/>
              </a:ext>
            </a:extLst>
          </p:cNvPr>
          <p:cNvSpPr/>
          <p:nvPr userDrawn="1"/>
        </p:nvSpPr>
        <p:spPr>
          <a:xfrm>
            <a:off x="9133114" y="6444343"/>
            <a:ext cx="2623457" cy="2771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TextBox 3">
            <a:extLst>
              <a:ext uri="{FF2B5EF4-FFF2-40B4-BE49-F238E27FC236}">
                <a16:creationId xmlns:a16="http://schemas.microsoft.com/office/drawing/2014/main" id="{A7FFD4B4-CA3F-F467-3B5A-38D01EDA2880}"/>
              </a:ext>
            </a:extLst>
          </p:cNvPr>
          <p:cNvSpPr txBox="1"/>
          <p:nvPr userDrawn="1"/>
        </p:nvSpPr>
        <p:spPr>
          <a:xfrm>
            <a:off x="9097624" y="6572846"/>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727399363"/>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angle 1">
            <a:extLst>
              <a:ext uri="{FF2B5EF4-FFF2-40B4-BE49-F238E27FC236}">
                <a16:creationId xmlns:a16="http://schemas.microsoft.com/office/drawing/2014/main" id="{22DCA121-B040-75DE-3403-3EF25AE515A1}"/>
              </a:ext>
            </a:extLst>
          </p:cNvPr>
          <p:cNvSpPr/>
          <p:nvPr userDrawn="1"/>
        </p:nvSpPr>
        <p:spPr>
          <a:xfrm>
            <a:off x="9231086" y="6466114"/>
            <a:ext cx="2351311" cy="2553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TextBox 4">
            <a:extLst>
              <a:ext uri="{FF2B5EF4-FFF2-40B4-BE49-F238E27FC236}">
                <a16:creationId xmlns:a16="http://schemas.microsoft.com/office/drawing/2014/main" id="{8FFFDD80-B29E-13A8-B2B4-21F181DA3D2C}"/>
              </a:ext>
            </a:extLst>
          </p:cNvPr>
          <p:cNvSpPr txBox="1"/>
          <p:nvPr userDrawn="1"/>
        </p:nvSpPr>
        <p:spPr>
          <a:xfrm>
            <a:off x="9077267" y="6567705"/>
            <a:ext cx="2658947" cy="138499"/>
          </a:xfrm>
          <a:prstGeom prst="rect">
            <a:avLst/>
          </a:prstGeom>
          <a:noFill/>
        </p:spPr>
        <p:txBody>
          <a:bodyPr wrap="square" lIns="0" tIns="0" rIns="0" bIns="0" rtlCol="0">
            <a:spAutoFit/>
          </a:bodyPr>
          <a:lstStyle/>
          <a:p>
            <a:pPr algn="r"/>
            <a:r>
              <a:rPr lang="en-US" sz="900" dirty="0">
                <a:solidFill>
                  <a:srgbClr val="8A00B0"/>
                </a:solidFill>
              </a:rPr>
              <a:t>©2026 Ellucian. Confidential and Proprietary</a:t>
            </a:r>
          </a:p>
        </p:txBody>
      </p:sp>
    </p:spTree>
    <p:extLst>
      <p:ext uri="{BB962C8B-B14F-4D97-AF65-F5344CB8AC3E}">
        <p14:creationId xmlns:p14="http://schemas.microsoft.com/office/powerpoint/2010/main" val="424791473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a:p>
        </p:txBody>
      </p:sp>
    </p:spTree>
    <p:extLst>
      <p:ext uri="{BB962C8B-B14F-4D97-AF65-F5344CB8AC3E}">
        <p14:creationId xmlns:p14="http://schemas.microsoft.com/office/powerpoint/2010/main" val="426711000"/>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Blank Slide Light">
    <p:bg>
      <p:bgPr>
        <a:solidFill>
          <a:schemeClr val="bg1">
            <a:alpha val="20231"/>
          </a:schemeClr>
        </a:solidFill>
        <a:effectLst/>
      </p:bgPr>
    </p:bg>
    <p:spTree>
      <p:nvGrpSpPr>
        <p:cNvPr id="1" name=""/>
        <p:cNvGrpSpPr/>
        <p:nvPr/>
      </p:nvGrpSpPr>
      <p:grpSpPr>
        <a:xfrm>
          <a:off x="0" y="0"/>
          <a:ext cx="0" cy="0"/>
          <a:chOff x="0" y="0"/>
          <a:chExt cx="0" cy="0"/>
        </a:xfrm>
      </p:grpSpPr>
      <p:sp>
        <p:nvSpPr>
          <p:cNvPr id="15" name="Vertical Text Placeholder 13">
            <a:extLst>
              <a:ext uri="{FF2B5EF4-FFF2-40B4-BE49-F238E27FC236}">
                <a16:creationId xmlns:a16="http://schemas.microsoft.com/office/drawing/2014/main" id="{57371569-6B56-D5B4-9C07-C05D514AF511}"/>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5" name="Slide Number Placeholder 5">
            <a:extLst>
              <a:ext uri="{FF2B5EF4-FFF2-40B4-BE49-F238E27FC236}">
                <a16:creationId xmlns:a16="http://schemas.microsoft.com/office/drawing/2014/main" id="{99286F74-32B2-6577-A799-86F791FF723C}"/>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a:t>
            </a:fld>
            <a:endParaRPr lang="es-CL"/>
          </a:p>
        </p:txBody>
      </p:sp>
      <p:sp>
        <p:nvSpPr>
          <p:cNvPr id="2" name="Rectangle 1">
            <a:extLst>
              <a:ext uri="{FF2B5EF4-FFF2-40B4-BE49-F238E27FC236}">
                <a16:creationId xmlns:a16="http://schemas.microsoft.com/office/drawing/2014/main" id="{5702A264-92E5-25F3-EF5D-57BB9E06E5AD}"/>
              </a:ext>
            </a:extLst>
          </p:cNvPr>
          <p:cNvSpPr/>
          <p:nvPr userDrawn="1"/>
        </p:nvSpPr>
        <p:spPr>
          <a:xfrm>
            <a:off x="9122229" y="6509657"/>
            <a:ext cx="2492828" cy="2118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6" name="TextBox 5">
            <a:extLst>
              <a:ext uri="{FF2B5EF4-FFF2-40B4-BE49-F238E27FC236}">
                <a16:creationId xmlns:a16="http://schemas.microsoft.com/office/drawing/2014/main" id="{70191537-CF9C-32F7-CEF1-3A82BEEC5D56}"/>
              </a:ext>
            </a:extLst>
          </p:cNvPr>
          <p:cNvSpPr txBox="1"/>
          <p:nvPr userDrawn="1"/>
        </p:nvSpPr>
        <p:spPr>
          <a:xfrm>
            <a:off x="9122229" y="6582975"/>
            <a:ext cx="2658947" cy="138499"/>
          </a:xfrm>
          <a:prstGeom prst="rect">
            <a:avLst/>
          </a:prstGeom>
          <a:noFill/>
        </p:spPr>
        <p:txBody>
          <a:bodyPr wrap="square" lIns="0" tIns="0" rIns="0" bIns="0" rtlCol="0">
            <a:spAutoFit/>
          </a:bodyPr>
          <a:lstStyle/>
          <a:p>
            <a:pPr algn="r"/>
            <a:r>
              <a:rPr lang="en-US" sz="900" dirty="0">
                <a:solidFill>
                  <a:srgbClr val="8A00B0"/>
                </a:solidFill>
              </a:rPr>
              <a:t>©2026 Ellucian. Confidential and Proprietary</a:t>
            </a:r>
          </a:p>
        </p:txBody>
      </p:sp>
    </p:spTree>
    <p:extLst>
      <p:ext uri="{BB962C8B-B14F-4D97-AF65-F5344CB8AC3E}">
        <p14:creationId xmlns:p14="http://schemas.microsoft.com/office/powerpoint/2010/main" val="1120128500"/>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78988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430588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74046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943228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207740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608307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093356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54801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325768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962263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808742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893702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943895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653450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035441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84028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645489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555431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21734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2.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57823156"/>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9" r:id="rId37"/>
    <p:sldLayoutId id="2147483750"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5155785"/>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35.xml"/><Relationship Id="rId5" Type="http://schemas.openxmlformats.org/officeDocument/2006/relationships/image" Target="../media/image39.sv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775F30-4948-8625-4D18-95EE2803BD83}"/>
              </a:ext>
            </a:extLst>
          </p:cNvPr>
          <p:cNvSpPr>
            <a:spLocks noGrp="1"/>
          </p:cNvSpPr>
          <p:nvPr>
            <p:ph type="body" sz="quarter" idx="10"/>
          </p:nvPr>
        </p:nvSpPr>
        <p:spPr/>
        <p:txBody>
          <a:bodyPr>
            <a:normAutofit/>
          </a:bodyPr>
          <a:lstStyle/>
          <a:p>
            <a:r>
              <a:rPr lang="es-ES" sz="4400" dirty="0"/>
              <a:t>Crear las mallas curriculares</a:t>
            </a:r>
            <a:endParaRPr lang="es-CL" dirty="0"/>
          </a:p>
        </p:txBody>
      </p:sp>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1"/>
          </p:nvPr>
        </p:nvSpPr>
        <p:spPr/>
        <p:txBody>
          <a:bodyPr wrap="square">
            <a:normAutofit/>
          </a:bodyPr>
          <a:lstStyle/>
          <a:p>
            <a:r>
              <a:rPr lang="es-CL" dirty="0"/>
              <a:t>Instructivo</a:t>
            </a:r>
          </a:p>
        </p:txBody>
      </p:sp>
      <p:sp>
        <p:nvSpPr>
          <p:cNvPr id="6" name="Marcador de texto 5">
            <a:extLst>
              <a:ext uri="{FF2B5EF4-FFF2-40B4-BE49-F238E27FC236}">
                <a16:creationId xmlns:a16="http://schemas.microsoft.com/office/drawing/2014/main" id="{F1058994-14DF-8FFD-FA01-FFA4BBFEC016}"/>
              </a:ext>
            </a:extLst>
          </p:cNvPr>
          <p:cNvSpPr>
            <a:spLocks noGrp="1"/>
          </p:cNvSpPr>
          <p:nvPr>
            <p:ph type="body" sz="quarter" idx="12"/>
          </p:nvPr>
        </p:nvSpPr>
        <p:spPr>
          <a:xfrm>
            <a:off x="556902" y="5609784"/>
            <a:ext cx="3032274" cy="194925"/>
          </a:xfrm>
        </p:spPr>
        <p:txBody>
          <a:bodyPr/>
          <a:lstStyle/>
          <a:p>
            <a:r>
              <a:rPr lang="es-CL" dirty="0"/>
              <a:t>USSIPAN-Perú</a:t>
            </a: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E56D2DEC-D416-3AB5-1313-E840E25BFD93}"/>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69" r="17869"/>
          <a:stretch>
            <a:fillRect/>
          </a:stretch>
        </p:blipFill>
        <p:spPr>
          <a:xfrm>
            <a:off x="6689725" y="574675"/>
            <a:ext cx="5502275" cy="5710238"/>
          </a:xfrm>
        </p:spPr>
      </p:pic>
      <p:sp>
        <p:nvSpPr>
          <p:cNvPr id="13" name="Marcador de texto 12">
            <a:extLst>
              <a:ext uri="{FF2B5EF4-FFF2-40B4-BE49-F238E27FC236}">
                <a16:creationId xmlns:a16="http://schemas.microsoft.com/office/drawing/2014/main" id="{BC90C980-F946-78A1-2843-B04BE206F92C}"/>
              </a:ext>
            </a:extLst>
          </p:cNvPr>
          <p:cNvSpPr>
            <a:spLocks noGrp="1"/>
          </p:cNvSpPr>
          <p:nvPr>
            <p:ph type="body" sz="quarter" idx="13"/>
          </p:nvPr>
        </p:nvSpPr>
        <p:spPr/>
        <p:txBody>
          <a:bodyPr/>
          <a:lstStyle/>
          <a:p>
            <a:r>
              <a:rPr lang="es-CL" dirty="0"/>
              <a:t>Junio, 2026</a:t>
            </a:r>
          </a:p>
        </p:txBody>
      </p:sp>
    </p:spTree>
    <p:extLst>
      <p:ext uri="{BB962C8B-B14F-4D97-AF65-F5344CB8AC3E}">
        <p14:creationId xmlns:p14="http://schemas.microsoft.com/office/powerpoint/2010/main" val="1226147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noProof="0" dirty="0"/>
              <a:t>Gestionar Solicitudes de admisión</a:t>
            </a:r>
            <a:endParaRPr lang="es-419" noProof="0"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nvGraphicFramePr>
        <p:xfrm>
          <a:off x="998524" y="1096833"/>
          <a:ext cx="9312124" cy="3387477"/>
        </p:xfrm>
        <a:graphic>
          <a:graphicData uri="http://schemas.openxmlformats.org/drawingml/2006/table">
            <a:tbl>
              <a:tblPr>
                <a:tableStyleId>{5C22544A-7EE6-4342-B048-85BDC9FD1C3A}</a:tableStyleId>
              </a:tblPr>
              <a:tblGrid>
                <a:gridCol w="956210">
                  <a:extLst>
                    <a:ext uri="{9D8B030D-6E8A-4147-A177-3AD203B41FA5}">
                      <a16:colId xmlns:a16="http://schemas.microsoft.com/office/drawing/2014/main" val="1835725686"/>
                    </a:ext>
                  </a:extLst>
                </a:gridCol>
                <a:gridCol w="8355914">
                  <a:extLst>
                    <a:ext uri="{9D8B030D-6E8A-4147-A177-3AD203B41FA5}">
                      <a16:colId xmlns:a16="http://schemas.microsoft.com/office/drawing/2014/main" val="52046442"/>
                    </a:ext>
                  </a:extLst>
                </a:gridCol>
              </a:tblGrid>
              <a:tr h="814199">
                <a:tc>
                  <a:txBody>
                    <a:bodyPr/>
                    <a:lstStyle/>
                    <a:p>
                      <a:r>
                        <a:rPr lang="es-419" sz="2800" b="1" noProof="0"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err="1">
                          <a:solidFill>
                            <a:schemeClr val="bg1"/>
                          </a:solidFill>
                        </a:rPr>
                        <a:t>Overview</a:t>
                      </a:r>
                      <a:endParaRPr lang="es-419" sz="2800" b="1" noProof="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s-419" sz="2800" b="1" noProof="0"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Configuraciones: Asignar equivalencias por curso</a:t>
                      </a:r>
                      <a:endParaRPr lang="es-419" sz="2800" b="1" noProof="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Configuraciones: Asignar equivalencias por malla curricular</a:t>
                      </a:r>
                      <a:endParaRPr lang="es-419" sz="2800" b="1" noProof="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s-419" sz="2800" b="1" noProof="0"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6965966"/>
                  </a:ext>
                </a:extLst>
              </a:tr>
            </a:tbl>
          </a:graphicData>
        </a:graphic>
      </p:graphicFrame>
    </p:spTree>
    <p:extLst>
      <p:ext uri="{BB962C8B-B14F-4D97-AF65-F5344CB8AC3E}">
        <p14:creationId xmlns:p14="http://schemas.microsoft.com/office/powerpoint/2010/main" val="400217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noProof="0" dirty="0"/>
              <a:t>Gestionar Solicitudes de admisión</a:t>
            </a:r>
            <a:endParaRPr lang="es-419" noProof="0"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sz="3200" b="1" noProof="0" dirty="0" err="1">
                <a:solidFill>
                  <a:schemeClr val="bg1"/>
                </a:solidFill>
              </a:rPr>
              <a:t>Overview</a:t>
            </a:r>
            <a:endParaRPr lang="es-419" sz="3200" b="1" noProof="0" dirty="0">
              <a:solidFill>
                <a:schemeClr val="bg1"/>
              </a:solidFill>
            </a:endParaRPr>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s-419" noProof="0" smtClean="0"/>
              <a:pPr/>
              <a:t>3</a:t>
            </a:fld>
            <a:endParaRPr lang="es-419" noProof="0"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8E1C91-D53E-9F97-C485-84628578389D}"/>
              </a:ext>
            </a:extLst>
          </p:cNvPr>
          <p:cNvSpPr>
            <a:spLocks noGrp="1"/>
          </p:cNvSpPr>
          <p:nvPr>
            <p:ph type="body" sz="quarter" idx="10"/>
          </p:nvPr>
        </p:nvSpPr>
        <p:spPr>
          <a:xfrm>
            <a:off x="522515" y="361822"/>
            <a:ext cx="11122188" cy="446084"/>
          </a:xfrm>
        </p:spPr>
        <p:txBody>
          <a:bodyPr/>
          <a:lstStyle/>
          <a:p>
            <a:r>
              <a:rPr lang="en-US" dirty="0"/>
              <a:t>Overview: </a:t>
            </a:r>
            <a:r>
              <a:rPr lang="en-US" b="0" dirty="0"/>
              <a:t>Mapa de </a:t>
            </a:r>
            <a:r>
              <a:rPr lang="en-US" b="0" dirty="0" err="1"/>
              <a:t>capacidades</a:t>
            </a:r>
            <a:endParaRPr lang="es-419" dirty="0"/>
          </a:p>
        </p:txBody>
      </p:sp>
      <p:pic>
        <p:nvPicPr>
          <p:cNvPr id="1026" name="Picture 2">
            <a:extLst>
              <a:ext uri="{FF2B5EF4-FFF2-40B4-BE49-F238E27FC236}">
                <a16:creationId xmlns:a16="http://schemas.microsoft.com/office/drawing/2014/main" id="{3A5E5532-A998-508F-D976-B5AB9A86C5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25525"/>
            <a:ext cx="12192000" cy="4805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1330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757860" y="259264"/>
            <a:ext cx="10483297" cy="528791"/>
          </a:xfrm>
        </p:spPr>
        <p:txBody>
          <a:bodyPr/>
          <a:lstStyle/>
          <a:p>
            <a:r>
              <a:rPr lang="en-US" sz="2800" dirty="0">
                <a:solidFill>
                  <a:srgbClr val="8A00B0"/>
                </a:solidFill>
              </a:rPr>
              <a:t>Overview: </a:t>
            </a:r>
            <a:r>
              <a:rPr lang="es-ES_tradnl" sz="3000" b="0" dirty="0">
                <a:solidFill>
                  <a:srgbClr val="8A00B0"/>
                </a:solidFill>
              </a:rPr>
              <a:t>Procesos de crear las mallas curriculares</a:t>
            </a:r>
            <a:endParaRPr lang="es-CL" sz="3000" b="0" dirty="0">
              <a:solidFill>
                <a:srgbClr val="8A00B0"/>
              </a:solidFill>
            </a:endParaRPr>
          </a:p>
        </p:txBody>
      </p:sp>
      <p:pic>
        <p:nvPicPr>
          <p:cNvPr id="2" name="Imagen 1">
            <a:extLst>
              <a:ext uri="{FF2B5EF4-FFF2-40B4-BE49-F238E27FC236}">
                <a16:creationId xmlns:a16="http://schemas.microsoft.com/office/drawing/2014/main" id="{BD5C5384-5CF4-2DE7-6252-92C4676158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8857" y="1893233"/>
            <a:ext cx="9964271" cy="2714625"/>
          </a:xfrm>
          <a:prstGeom prst="rect">
            <a:avLst/>
          </a:prstGeom>
        </p:spPr>
      </p:pic>
    </p:spTree>
    <p:extLst>
      <p:ext uri="{BB962C8B-B14F-4D97-AF65-F5344CB8AC3E}">
        <p14:creationId xmlns:p14="http://schemas.microsoft.com/office/powerpoint/2010/main" val="675546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1789044"/>
            <a:ext cx="10136257" cy="4472608"/>
          </a:xfrm>
        </p:spPr>
        <p:txBody>
          <a:bodyPr/>
          <a:lstStyle/>
          <a:p>
            <a:pPr algn="just">
              <a:buClr>
                <a:srgbClr val="0CB4B4"/>
              </a:buClr>
              <a:buFont typeface="Wingdings" panose="05000000000000000000" pitchFamily="2" charset="2"/>
              <a:buChar char="§"/>
            </a:pPr>
            <a:r>
              <a:rPr lang="es-CL" sz="2000" dirty="0"/>
              <a:t>Mediante este procedimiento se crean las mallas curriculares de los programas ofertados en la institución. </a:t>
            </a:r>
          </a:p>
          <a:p>
            <a:pPr algn="just">
              <a:buClr>
                <a:srgbClr val="0CB4B4"/>
              </a:buClr>
              <a:buFont typeface="Wingdings" panose="05000000000000000000" pitchFamily="2" charset="2"/>
              <a:buChar char="§"/>
            </a:pPr>
            <a:r>
              <a:rPr lang="es-CL" sz="2000" dirty="0"/>
              <a:t>El modelo de operación de la malla curricular de cada programa está basado en áreas de cumplimiento, que a su vez están compuestas por reglas que incluyen las asignaturas que se deben aprobar para cumplir con el Plan de Estudios</a:t>
            </a:r>
            <a:r>
              <a:rPr kumimoji="0" lang="es-CL"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p>
          <a:p>
            <a:pPr algn="just">
              <a:buClr>
                <a:srgbClr val="0CB4B4"/>
              </a:buClr>
              <a:buFont typeface="Wingdings" panose="05000000000000000000" pitchFamily="2" charset="2"/>
              <a:buChar char="§"/>
            </a:pPr>
            <a:r>
              <a:rPr lang="es-CL" sz="2000" dirty="0"/>
              <a:t>Los programas deben haberse creado previamente para iniciar la creación de las mallas curriculares.</a:t>
            </a:r>
          </a:p>
          <a:p>
            <a:pPr algn="just">
              <a:buClr>
                <a:srgbClr val="0CB4B4"/>
              </a:buClr>
              <a:buFont typeface="Wingdings" panose="05000000000000000000" pitchFamily="2" charset="2"/>
              <a:buChar char="§"/>
            </a:pPr>
            <a:r>
              <a:rPr lang="es-CL" sz="2000" dirty="0"/>
              <a:t>Los cursos deben haberse creado previamente para iniciar la definición de las áreas.</a:t>
            </a:r>
            <a:endParaRPr lang="es-419" sz="2000" dirty="0"/>
          </a:p>
          <a:p>
            <a:pPr algn="just">
              <a:buClr>
                <a:srgbClr val="0CB4B4"/>
              </a:buClr>
              <a:buFont typeface="Wingdings" panose="05000000000000000000" pitchFamily="2" charset="2"/>
              <a:buChar char="§"/>
            </a:pPr>
            <a:endParaRPr lang="es-ES" sz="2000" dirty="0"/>
          </a:p>
          <a:p>
            <a:pPr marL="0" indent="0" algn="just">
              <a:buClr>
                <a:srgbClr val="0CB4B4"/>
              </a:buClr>
              <a:buNone/>
            </a:pPr>
            <a:endParaRPr lang="es-ES" sz="2000" dirty="0"/>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solidFill>
                  <a:srgbClr val="8A00B0"/>
                </a:solidFill>
              </a:rPr>
              <a:t>Overview: </a:t>
            </a:r>
            <a:r>
              <a:rPr lang="es-ES_tradnl" sz="3200" b="0" dirty="0">
                <a:solidFill>
                  <a:srgbClr val="8A00B0"/>
                </a:solidFill>
              </a:rPr>
              <a:t>Crear las mallas curriculares</a:t>
            </a:r>
            <a:endParaRPr lang="es-CL" b="0" dirty="0">
              <a:solidFill>
                <a:srgbClr val="8A00B0"/>
              </a:solidFill>
            </a:endParaRPr>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a:xfrm>
            <a:off x="522515" y="361822"/>
            <a:ext cx="11122188" cy="446084"/>
          </a:xfrm>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10" name="Picture 9" descr="A purple map of south america&#10;&#10;AI-generated content may be incorrect.">
            <a:extLst>
              <a:ext uri="{FF2B5EF4-FFF2-40B4-BE49-F238E27FC236}">
                <a16:creationId xmlns:a16="http://schemas.microsoft.com/office/drawing/2014/main" id="{BC199AD4-C762-DD9E-693C-C0737DFB4E5D}"/>
              </a:ext>
            </a:extLst>
          </p:cNvPr>
          <p:cNvPicPr>
            <a:picLocks noChangeAspect="1"/>
          </p:cNvPicPr>
          <p:nvPr/>
        </p:nvPicPr>
        <p:blipFill>
          <a:blip r:embed="rId2"/>
          <a:stretch>
            <a:fillRect/>
          </a:stretch>
        </p:blipFill>
        <p:spPr>
          <a:xfrm>
            <a:off x="2383972" y="807906"/>
            <a:ext cx="5780314" cy="5780314"/>
          </a:xfrm>
          <a:prstGeom prst="rect">
            <a:avLst/>
          </a:prstGeom>
        </p:spPr>
      </p:pic>
    </p:spTree>
    <p:extLst>
      <p:ext uri="{BB962C8B-B14F-4D97-AF65-F5344CB8AC3E}">
        <p14:creationId xmlns:p14="http://schemas.microsoft.com/office/powerpoint/2010/main" val="2966767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ES" dirty="0"/>
              <a:t>Crear las mallas curriculares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8</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1044009" y="536868"/>
            <a:ext cx="9609373" cy="898555"/>
          </a:xfrm>
        </p:spPr>
        <p:txBody>
          <a:bodyPr/>
          <a:lstStyle/>
          <a:p>
            <a:r>
              <a:rPr lang="es-ES_tradnl" sz="3200" dirty="0">
                <a:solidFill>
                  <a:srgbClr val="8A00B0"/>
                </a:solidFill>
              </a:rPr>
              <a:t>Overview: </a:t>
            </a:r>
            <a:r>
              <a:rPr lang="es-ES_tradnl" sz="3200" b="0" dirty="0">
                <a:solidFill>
                  <a:srgbClr val="8A00B0"/>
                </a:solidFill>
              </a:rPr>
              <a:t>Crear las mallas curriculares</a:t>
            </a:r>
            <a:endParaRPr lang="es-CL" b="0" dirty="0">
              <a:solidFill>
                <a:srgbClr val="8A00B0"/>
              </a:solidFill>
            </a:endParaRPr>
          </a:p>
        </p:txBody>
      </p:sp>
      <p:graphicFrame>
        <p:nvGraphicFramePr>
          <p:cNvPr id="6" name="Tabla 6">
            <a:extLst>
              <a:ext uri="{FF2B5EF4-FFF2-40B4-BE49-F238E27FC236}">
                <a16:creationId xmlns:a16="http://schemas.microsoft.com/office/drawing/2014/main" id="{C0E5E4D0-6C0B-7B86-A04E-A985621B0B5C}"/>
              </a:ext>
            </a:extLst>
          </p:cNvPr>
          <p:cNvGraphicFramePr>
            <a:graphicFrameLocks noGrp="1"/>
          </p:cNvGraphicFramePr>
          <p:nvPr>
            <p:extLst>
              <p:ext uri="{D42A27DB-BD31-4B8C-83A1-F6EECF244321}">
                <p14:modId xmlns:p14="http://schemas.microsoft.com/office/powerpoint/2010/main" val="1732004186"/>
              </p:ext>
            </p:extLst>
          </p:nvPr>
        </p:nvGraphicFramePr>
        <p:xfrm>
          <a:off x="1044009" y="1512390"/>
          <a:ext cx="10287379" cy="4271772"/>
        </p:xfrm>
        <a:graphic>
          <a:graphicData uri="http://schemas.openxmlformats.org/drawingml/2006/table">
            <a:tbl>
              <a:tblPr firstRow="1" bandRow="1">
                <a:tableStyleId>{5C22544A-7EE6-4342-B048-85BDC9FD1C3A}</a:tableStyleId>
              </a:tblPr>
              <a:tblGrid>
                <a:gridCol w="2030885">
                  <a:extLst>
                    <a:ext uri="{9D8B030D-6E8A-4147-A177-3AD203B41FA5}">
                      <a16:colId xmlns:a16="http://schemas.microsoft.com/office/drawing/2014/main" val="2298581278"/>
                    </a:ext>
                  </a:extLst>
                </a:gridCol>
                <a:gridCol w="8256494">
                  <a:extLst>
                    <a:ext uri="{9D8B030D-6E8A-4147-A177-3AD203B41FA5}">
                      <a16:colId xmlns:a16="http://schemas.microsoft.com/office/drawing/2014/main" val="1504358611"/>
                    </a:ext>
                  </a:extLst>
                </a:gridCol>
              </a:tblGrid>
              <a:tr h="485222">
                <a:tc>
                  <a:txBody>
                    <a:bodyPr/>
                    <a:lstStyle/>
                    <a:p>
                      <a:pPr algn="ctr">
                        <a:spcAft>
                          <a:spcPts val="0"/>
                        </a:spcAft>
                      </a:pPr>
                      <a:r>
                        <a:rPr lang="es-ES" sz="1800" dirty="0">
                          <a:effectLst/>
                        </a:rPr>
                        <a:t>Concepto</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800" dirty="0">
                          <a:effectLst/>
                        </a:rPr>
                        <a:t>Descripción</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5372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600" b="1" kern="1200" dirty="0">
                          <a:solidFill>
                            <a:schemeClr val="dk1"/>
                          </a:solidFill>
                          <a:effectLst/>
                          <a:latin typeface="+mn-lt"/>
                          <a:ea typeface="+mn-ea"/>
                          <a:cs typeface="+mn-cs"/>
                        </a:rPr>
                        <a:t>Malla curricular</a:t>
                      </a:r>
                      <a:endParaRPr lang="es-CO"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Configuración del plan de estudios que debe cumplir un estudiante para obtener el grado correspondiente.</a:t>
                      </a:r>
                      <a:endParaRPr lang="es-ES" sz="1600" kern="1200" dirty="0">
                        <a:solidFill>
                          <a:schemeClr val="dk1"/>
                        </a:solidFill>
                        <a:effectLst/>
                        <a:latin typeface="+mn-lt"/>
                        <a:ea typeface="+mn-ea"/>
                        <a:cs typeface="+mn-cs"/>
                      </a:endParaRPr>
                    </a:p>
                  </a:txBody>
                  <a:tcPr marL="36830" marR="36830" marT="36830" marB="36830" anchor="ctr"/>
                </a:tc>
                <a:extLst>
                  <a:ext uri="{0D108BD9-81ED-4DB2-BD59-A6C34878D82A}">
                    <a16:rowId xmlns:a16="http://schemas.microsoft.com/office/drawing/2014/main" val="1674607535"/>
                  </a:ext>
                </a:extLst>
              </a:tr>
              <a:tr h="467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dk1"/>
                          </a:solidFill>
                          <a:effectLst/>
                          <a:latin typeface="+mn-lt"/>
                          <a:ea typeface="+mn-ea"/>
                          <a:cs typeface="+mn-cs"/>
                        </a:rPr>
                        <a:t>Área</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chemeClr val="dk1"/>
                          </a:solidFill>
                          <a:effectLst/>
                          <a:uLnTx/>
                          <a:uFillTx/>
                          <a:latin typeface="+mn-lt"/>
                          <a:ea typeface="+mn-ea"/>
                          <a:cs typeface="+mn-cs"/>
                        </a:rPr>
                        <a:t>C</a:t>
                      </a:r>
                      <a:r>
                        <a:rPr kumimoji="0" lang="es-CL" sz="16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onjunto de cursos agrupados según el criterio de la institución para organizar la malla curricular.</a:t>
                      </a:r>
                      <a:endParaRPr lang="es-ES" sz="1600" kern="1200" dirty="0">
                        <a:solidFill>
                          <a:schemeClr val="dk1"/>
                        </a:solidFill>
                        <a:effectLst/>
                        <a:latin typeface="+mn-lt"/>
                        <a:ea typeface="+mn-ea"/>
                        <a:cs typeface="+mn-cs"/>
                      </a:endParaRPr>
                    </a:p>
                  </a:txBody>
                  <a:tcPr marL="36830" marR="36830" marT="36830" marB="36830" anchor="ctr"/>
                </a:tc>
                <a:extLst>
                  <a:ext uri="{0D108BD9-81ED-4DB2-BD59-A6C34878D82A}">
                    <a16:rowId xmlns:a16="http://schemas.microsoft.com/office/drawing/2014/main" val="2579196519"/>
                  </a:ext>
                </a:extLst>
              </a:tr>
              <a:tr h="770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600" b="1" kern="1200" dirty="0">
                          <a:solidFill>
                            <a:schemeClr val="dk1"/>
                          </a:solidFill>
                          <a:effectLst/>
                          <a:latin typeface="+mn-lt"/>
                          <a:ea typeface="+mn-ea"/>
                          <a:cs typeface="+mn-cs"/>
                        </a:rPr>
                        <a:t>Regla</a:t>
                      </a:r>
                      <a:endParaRPr lang="es-ES"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Unidad que identifica cada curso que debe ser aprobado para cumplir con las áreas del plan de estudios.</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59410008"/>
                  </a:ext>
                </a:extLst>
              </a:tr>
              <a:tr h="770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600" b="1" kern="1200" dirty="0">
                          <a:solidFill>
                            <a:schemeClr val="dk1"/>
                          </a:solidFill>
                          <a:effectLst/>
                          <a:latin typeface="+mn-lt"/>
                          <a:ea typeface="+mn-ea"/>
                          <a:cs typeface="+mn-cs"/>
                        </a:rPr>
                        <a:t>Área de cumplimiento</a:t>
                      </a:r>
                      <a:endParaRPr lang="es-CO" sz="1600" b="1" kern="1200" dirty="0">
                        <a:solidFill>
                          <a:schemeClr val="dk1"/>
                        </a:solidFill>
                        <a:effectLst/>
                        <a:latin typeface="+mn-lt"/>
                        <a:ea typeface="+mn-ea"/>
                        <a:cs typeface="+mn-cs"/>
                      </a:endParaRPr>
                    </a:p>
                  </a:txBody>
                  <a:tcPr marL="36830" marR="36830" marT="36830" marB="36830" anchor="ctr"/>
                </a:tc>
                <a:tc>
                  <a:txBody>
                    <a:bodyPr/>
                    <a:lstStyle/>
                    <a:p>
                      <a:pPr algn="just">
                        <a:spcAft>
                          <a:spcPts val="0"/>
                        </a:spcAft>
                      </a:pPr>
                      <a:r>
                        <a:rPr kumimoji="0" lang="es-CL" sz="16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Unidad de análisis para la verificación del cumplimiento del Plan de Estudios de un programa.</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205674216"/>
                  </a:ext>
                </a:extLst>
              </a:tr>
              <a:tr h="5372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600" b="1" kern="1200" dirty="0">
                          <a:solidFill>
                            <a:schemeClr val="dk1"/>
                          </a:solidFill>
                          <a:effectLst/>
                          <a:latin typeface="+mn-lt"/>
                          <a:ea typeface="+mn-ea"/>
                          <a:cs typeface="+mn-cs"/>
                        </a:rPr>
                        <a:t>Área dinámica</a:t>
                      </a:r>
                      <a:endParaRPr lang="es-CO"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Un área puede calificarse como dinámica si la verificación de su cumplimiento depende de algunas características del estudiante. Por ejemplo, campus o carrera.</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893119640"/>
                  </a:ext>
                </a:extLst>
              </a:tr>
              <a:tr h="5372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600" b="1" kern="1200" noProof="0" dirty="0">
                          <a:solidFill>
                            <a:schemeClr val="dk1"/>
                          </a:solidFill>
                          <a:effectLst/>
                          <a:latin typeface="+mn-lt"/>
                          <a:ea typeface="+mn-ea"/>
                          <a:cs typeface="+mn-cs"/>
                        </a:rPr>
                        <a:t>Área de prerrequisito</a:t>
                      </a:r>
                      <a:endParaRPr lang="es-CO"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solidFill>
                            <a:schemeClr val="dk1"/>
                          </a:solidFill>
                          <a:effectLst/>
                          <a:uLnTx/>
                          <a:uFillTx/>
                          <a:latin typeface="Arial" panose="020B0604020202020204" pitchFamily="34" charset="0"/>
                          <a:ea typeface="+mn-ea"/>
                          <a:cs typeface="Arial" panose="020B0604020202020204" pitchFamily="34" charset="0"/>
                        </a:rPr>
                        <a:t>Área que reúne un conjunto de cursos que constituyen una precondición para poder inscribir una asignatura en particular</a:t>
                      </a:r>
                      <a:endParaRPr kumimoji="0" lang="es-CO" sz="1600" b="0" i="0" u="none" strike="noStrike" kern="1200" cap="none" spc="0" normalizeH="0" baseline="0" dirty="0">
                        <a:ln>
                          <a:noFill/>
                        </a:ln>
                        <a:solidFill>
                          <a:schemeClr val="dk1"/>
                        </a:solidFill>
                        <a:effectLst/>
                        <a:uLnTx/>
                        <a:uFillTx/>
                        <a:latin typeface="Arial" panose="020B0604020202020204" pitchFamily="34" charset="0"/>
                        <a:ea typeface="+mn-ea"/>
                        <a:cs typeface="Arial" panose="020B0604020202020204" pitchFamily="34" charset="0"/>
                      </a:endParaRPr>
                    </a:p>
                  </a:txBody>
                  <a:tcPr marL="36830" marR="36830" marT="36830" marB="36830" anchor="ctr"/>
                </a:tc>
                <a:extLst>
                  <a:ext uri="{0D108BD9-81ED-4DB2-BD59-A6C34878D82A}">
                    <a16:rowId xmlns:a16="http://schemas.microsoft.com/office/drawing/2014/main" val="68106344"/>
                  </a:ext>
                </a:extLst>
              </a:tr>
            </a:tbl>
          </a:graphicData>
        </a:graphic>
      </p:graphicFrame>
    </p:spTree>
    <p:extLst>
      <p:ext uri="{BB962C8B-B14F-4D97-AF65-F5344CB8AC3E}">
        <p14:creationId xmlns:p14="http://schemas.microsoft.com/office/powerpoint/2010/main" val="299373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9</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1044009" y="536868"/>
            <a:ext cx="9609373" cy="898555"/>
          </a:xfrm>
        </p:spPr>
        <p:txBody>
          <a:bodyPr/>
          <a:lstStyle/>
          <a:p>
            <a:r>
              <a:rPr lang="es-ES_tradnl" sz="3200" dirty="0">
                <a:solidFill>
                  <a:srgbClr val="8A00B0"/>
                </a:solidFill>
              </a:rPr>
              <a:t>Overview: </a:t>
            </a:r>
            <a:r>
              <a:rPr lang="es-ES_tradnl" sz="3200" b="0" dirty="0">
                <a:solidFill>
                  <a:srgbClr val="8A00B0"/>
                </a:solidFill>
              </a:rPr>
              <a:t>Crear las mallas curriculares</a:t>
            </a:r>
            <a:endParaRPr lang="es-CL" b="0" dirty="0">
              <a:solidFill>
                <a:srgbClr val="8A00B0"/>
              </a:solidFill>
            </a:endParaRPr>
          </a:p>
        </p:txBody>
      </p:sp>
      <p:graphicFrame>
        <p:nvGraphicFramePr>
          <p:cNvPr id="6" name="Tabla 6">
            <a:extLst>
              <a:ext uri="{FF2B5EF4-FFF2-40B4-BE49-F238E27FC236}">
                <a16:creationId xmlns:a16="http://schemas.microsoft.com/office/drawing/2014/main" id="{C0E5E4D0-6C0B-7B86-A04E-A985621B0B5C}"/>
              </a:ext>
            </a:extLst>
          </p:cNvPr>
          <p:cNvGraphicFramePr>
            <a:graphicFrameLocks noGrp="1"/>
          </p:cNvGraphicFramePr>
          <p:nvPr>
            <p:extLst>
              <p:ext uri="{D42A27DB-BD31-4B8C-83A1-F6EECF244321}">
                <p14:modId xmlns:p14="http://schemas.microsoft.com/office/powerpoint/2010/main" val="3340776413"/>
              </p:ext>
            </p:extLst>
          </p:nvPr>
        </p:nvGraphicFramePr>
        <p:xfrm>
          <a:off x="1044009" y="1512390"/>
          <a:ext cx="10287379" cy="3392932"/>
        </p:xfrm>
        <a:graphic>
          <a:graphicData uri="http://schemas.openxmlformats.org/drawingml/2006/table">
            <a:tbl>
              <a:tblPr firstRow="1" bandRow="1">
                <a:tableStyleId>{5C22544A-7EE6-4342-B048-85BDC9FD1C3A}</a:tableStyleId>
              </a:tblPr>
              <a:tblGrid>
                <a:gridCol w="2030885">
                  <a:extLst>
                    <a:ext uri="{9D8B030D-6E8A-4147-A177-3AD203B41FA5}">
                      <a16:colId xmlns:a16="http://schemas.microsoft.com/office/drawing/2014/main" val="2298581278"/>
                    </a:ext>
                  </a:extLst>
                </a:gridCol>
                <a:gridCol w="8256494">
                  <a:extLst>
                    <a:ext uri="{9D8B030D-6E8A-4147-A177-3AD203B41FA5}">
                      <a16:colId xmlns:a16="http://schemas.microsoft.com/office/drawing/2014/main" val="1504358611"/>
                    </a:ext>
                  </a:extLst>
                </a:gridCol>
              </a:tblGrid>
              <a:tr h="485222">
                <a:tc>
                  <a:txBody>
                    <a:bodyPr/>
                    <a:lstStyle/>
                    <a:p>
                      <a:pPr algn="ctr">
                        <a:spcAft>
                          <a:spcPts val="0"/>
                        </a:spcAft>
                      </a:pPr>
                      <a:r>
                        <a:rPr lang="es-ES" sz="1800" dirty="0">
                          <a:effectLst/>
                        </a:rPr>
                        <a:t>Concepto</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800" dirty="0">
                          <a:effectLst/>
                        </a:rPr>
                        <a:t>Descripción</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5372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600" b="1" kern="1200" dirty="0">
                          <a:solidFill>
                            <a:schemeClr val="dk1"/>
                          </a:solidFill>
                          <a:effectLst/>
                          <a:latin typeface="+mn-lt"/>
                          <a:ea typeface="+mn-ea"/>
                          <a:cs typeface="+mn-cs"/>
                        </a:rPr>
                        <a:t>Transferencia</a:t>
                      </a:r>
                      <a:endParaRPr lang="es-CO"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Término referido a los cursos o créditos cursados en otra institución y que son reconocidos por la Universidad a efectos del cumplimiento.</a:t>
                      </a:r>
                      <a:endParaRPr lang="es-ES" sz="1600" kern="1200" dirty="0">
                        <a:solidFill>
                          <a:schemeClr val="dk1"/>
                        </a:solidFill>
                        <a:effectLst/>
                        <a:latin typeface="+mn-lt"/>
                        <a:ea typeface="+mn-ea"/>
                        <a:cs typeface="+mn-cs"/>
                      </a:endParaRPr>
                    </a:p>
                  </a:txBody>
                  <a:tcPr marL="36830" marR="36830" marT="36830" marB="36830" anchor="ctr"/>
                </a:tc>
                <a:extLst>
                  <a:ext uri="{0D108BD9-81ED-4DB2-BD59-A6C34878D82A}">
                    <a16:rowId xmlns:a16="http://schemas.microsoft.com/office/drawing/2014/main" val="1674607535"/>
                  </a:ext>
                </a:extLst>
              </a:tr>
              <a:tr h="467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dk1"/>
                          </a:solidFill>
                          <a:effectLst/>
                          <a:latin typeface="+mn-lt"/>
                          <a:ea typeface="+mn-ea"/>
                          <a:cs typeface="+mn-cs"/>
                        </a:rPr>
                        <a:t>Programa cautivo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Un programa es cautivo si todas las áreas asociadas para su cumplimento son las mismas para todos los alumnos, independientemente de características como campus, carrera, entre otros.</a:t>
                      </a:r>
                      <a:endParaRPr lang="es-ES" sz="1600" kern="1200" dirty="0">
                        <a:solidFill>
                          <a:schemeClr val="dk1"/>
                        </a:solidFill>
                        <a:effectLst/>
                        <a:latin typeface="+mn-lt"/>
                        <a:ea typeface="+mn-ea"/>
                        <a:cs typeface="+mn-cs"/>
                      </a:endParaRPr>
                    </a:p>
                  </a:txBody>
                  <a:tcPr marL="36830" marR="36830" marT="36830" marB="36830" anchor="ctr"/>
                </a:tc>
                <a:extLst>
                  <a:ext uri="{0D108BD9-81ED-4DB2-BD59-A6C34878D82A}">
                    <a16:rowId xmlns:a16="http://schemas.microsoft.com/office/drawing/2014/main" val="2579196519"/>
                  </a:ext>
                </a:extLst>
              </a:tr>
              <a:tr h="770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600" b="1" kern="1200" dirty="0">
                          <a:solidFill>
                            <a:schemeClr val="dk1"/>
                          </a:solidFill>
                          <a:effectLst/>
                          <a:latin typeface="+mn-lt"/>
                          <a:ea typeface="+mn-ea"/>
                          <a:cs typeface="+mn-cs"/>
                        </a:rPr>
                        <a:t>Condición</a:t>
                      </a:r>
                      <a:endParaRPr lang="es-ES"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Requerimiento que se indica al sistema, necesario para cumplir un área. Una condición puede sur un curso o varios cursos, dependiendo de la malla curricular del programa..</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59410008"/>
                  </a:ext>
                </a:extLst>
              </a:tr>
              <a:tr h="770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sz="1600" b="1" kern="1200" dirty="0">
                          <a:solidFill>
                            <a:schemeClr val="dk1"/>
                          </a:solidFill>
                          <a:effectLst/>
                          <a:latin typeface="+mn-lt"/>
                          <a:ea typeface="+mn-ea"/>
                          <a:cs typeface="+mn-cs"/>
                        </a:rPr>
                        <a:t>Atributo de curso</a:t>
                      </a:r>
                      <a:endParaRPr lang="es-CO" sz="1600" b="1" kern="1200" dirty="0">
                        <a:solidFill>
                          <a:schemeClr val="dk1"/>
                        </a:solidFill>
                        <a:effectLst/>
                        <a:latin typeface="+mn-lt"/>
                        <a:ea typeface="+mn-ea"/>
                        <a:cs typeface="+mn-cs"/>
                      </a:endParaRPr>
                    </a:p>
                  </a:txBody>
                  <a:tcPr marL="36830" marR="36830" marT="36830" marB="36830" anchor="ctr"/>
                </a:tc>
                <a:tc>
                  <a:txBody>
                    <a:bodyPr/>
                    <a:lstStyle/>
                    <a:p>
                      <a:pPr algn="just">
                        <a:spcAft>
                          <a:spcPts val="0"/>
                        </a:spcAft>
                      </a:pPr>
                      <a:r>
                        <a:rPr kumimoji="0" lang="es-CL" sz="16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Propiedades de los estudiantes que podrían usarse para modelar los requerimientos de las mallas curriculares.</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205674216"/>
                  </a:ext>
                </a:extLst>
              </a:tr>
            </a:tbl>
          </a:graphicData>
        </a:graphic>
      </p:graphicFrame>
    </p:spTree>
    <p:extLst>
      <p:ext uri="{BB962C8B-B14F-4D97-AF65-F5344CB8AC3E}">
        <p14:creationId xmlns:p14="http://schemas.microsoft.com/office/powerpoint/2010/main" val="2392856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ES" sz="1200" dirty="0"/>
              <a:t>Crear las mallas curriculares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err="1">
                <a:solidFill>
                  <a:schemeClr val="bg1"/>
                </a:solidFill>
              </a:rPr>
              <a:t>Crear</a:t>
            </a:r>
            <a:r>
              <a:rPr lang="en-US" sz="3200" b="1" dirty="0">
                <a:solidFill>
                  <a:schemeClr val="bg1"/>
                </a:solidFill>
              </a:rPr>
              <a:t> las </a:t>
            </a:r>
            <a:r>
              <a:rPr lang="en-US" sz="3200" b="1" dirty="0" err="1">
                <a:solidFill>
                  <a:schemeClr val="bg1"/>
                </a:solidFill>
              </a:rPr>
              <a:t>mallas</a:t>
            </a:r>
            <a:r>
              <a:rPr lang="en-US" sz="3200" b="1" dirty="0">
                <a:solidFill>
                  <a:schemeClr val="bg1"/>
                </a:solidFill>
              </a:rPr>
              <a:t> </a:t>
            </a:r>
            <a:r>
              <a:rPr lang="en-US" sz="3200" b="1" dirty="0" err="1">
                <a:solidFill>
                  <a:schemeClr val="bg1"/>
                </a:solidFill>
              </a:rPr>
              <a:t>curriculares</a:t>
            </a:r>
            <a:endParaRPr lang="en-US" sz="3200" b="1" dirty="0">
              <a:solidFill>
                <a:schemeClr val="bg1"/>
              </a:solidFill>
            </a:endParaRP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r>
              <a:rPr lang="es-CO" dirty="0"/>
              <a:t>Definición de las áreas</a:t>
            </a:r>
            <a:endParaRPr lang="en-US" dirty="0"/>
          </a:p>
        </p:txBody>
      </p:sp>
    </p:spTree>
    <p:extLst>
      <p:ext uri="{BB962C8B-B14F-4D97-AF65-F5344CB8AC3E}">
        <p14:creationId xmlns:p14="http://schemas.microsoft.com/office/powerpoint/2010/main" val="1837389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B0F169E9-AF0C-93A1-48A3-4675ED67F598}"/>
              </a:ext>
            </a:extLst>
          </p:cNvPr>
          <p:cNvSpPr>
            <a:spLocks noGrp="1"/>
          </p:cNvSpPr>
          <p:nvPr>
            <p:ph type="body" sz="quarter" idx="10"/>
          </p:nvPr>
        </p:nvSpPr>
        <p:spPr>
          <a:xfrm>
            <a:off x="914399" y="2238843"/>
            <a:ext cx="10363202" cy="669094"/>
          </a:xfrm>
        </p:spPr>
        <p:txBody>
          <a:bodyPr/>
          <a:lstStyle/>
          <a:p>
            <a:r>
              <a:rPr lang="es-CL" dirty="0"/>
              <a:t>Biblioteca de Áreas</a:t>
            </a:r>
          </a:p>
        </p:txBody>
      </p:sp>
      <p:sp>
        <p:nvSpPr>
          <p:cNvPr id="2" name="Marcador de texto vertical 1">
            <a:extLst>
              <a:ext uri="{FF2B5EF4-FFF2-40B4-BE49-F238E27FC236}">
                <a16:creationId xmlns:a16="http://schemas.microsoft.com/office/drawing/2014/main" id="{25823DBE-762F-2FB8-E27D-38A047049014}"/>
              </a:ext>
            </a:extLst>
          </p:cNvPr>
          <p:cNvSpPr>
            <a:spLocks noGrp="1"/>
          </p:cNvSpPr>
          <p:nvPr>
            <p:ph type="body" sz="quarter" idx="11"/>
          </p:nvPr>
        </p:nvSpPr>
        <p:spPr>
          <a:xfrm>
            <a:off x="914399" y="3750468"/>
            <a:ext cx="10363202" cy="519951"/>
          </a:xfrm>
        </p:spPr>
        <p:txBody>
          <a:bodyPr/>
          <a:lstStyle/>
          <a:p>
            <a:r>
              <a:rPr lang="es-ES" sz="3200" dirty="0"/>
              <a:t>Crear las mallas curriculares</a:t>
            </a:r>
            <a:endParaRPr lang="en-US" sz="3200" dirty="0"/>
          </a:p>
        </p:txBody>
      </p:sp>
    </p:spTree>
    <p:extLst>
      <p:ext uri="{BB962C8B-B14F-4D97-AF65-F5344CB8AC3E}">
        <p14:creationId xmlns:p14="http://schemas.microsoft.com/office/powerpoint/2010/main" val="1154657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BC30910A-87E4-0E6F-11A0-D80C782BAC78}"/>
              </a:ext>
            </a:extLst>
          </p:cNvPr>
          <p:cNvPicPr>
            <a:picLocks noChangeAspect="1"/>
          </p:cNvPicPr>
          <p:nvPr/>
        </p:nvPicPr>
        <p:blipFill>
          <a:blip r:embed="rId2"/>
          <a:stretch>
            <a:fillRect/>
          </a:stretch>
        </p:blipFill>
        <p:spPr>
          <a:xfrm>
            <a:off x="810247" y="1190445"/>
            <a:ext cx="10258302" cy="461810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12</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SMAALIB</a:t>
            </a:r>
            <a:r>
              <a:rPr lang="es-ES_tradnl" sz="3000" b="1" dirty="0"/>
              <a:t> </a:t>
            </a:r>
            <a:r>
              <a:rPr lang="es-ES_tradnl" sz="3000" b="0" dirty="0"/>
              <a:t>Biblioteca de área 1</a:t>
            </a:r>
            <a:r>
              <a:rPr lang="es-ES_tradnl" sz="3200" b="0" dirty="0"/>
              <a:t>/2</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1958605" y="4895102"/>
            <a:ext cx="7975165" cy="1461247"/>
          </a:xfrm>
          <a:prstGeom prst="roundRect">
            <a:avLst>
              <a:gd name="adj" fmla="val 14466"/>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100" dirty="0"/>
              <a:t>Para la creación y definición de características de áreas, se debe realizar el siguiente proceso:</a:t>
            </a:r>
          </a:p>
          <a:p>
            <a:br>
              <a:rPr lang="es-ES" sz="1100" dirty="0"/>
            </a:br>
            <a:r>
              <a:rPr lang="es-ES" sz="1100" dirty="0"/>
              <a:t>1. </a:t>
            </a:r>
            <a:r>
              <a:rPr lang="es-ES_tradnl" sz="1100" dirty="0"/>
              <a:t>Debe presionar insertar la para la creación del nuevo registro.</a:t>
            </a:r>
            <a:br>
              <a:rPr lang="es-ES" sz="1100" dirty="0"/>
            </a:br>
            <a:r>
              <a:rPr lang="es-ES" sz="1100" dirty="0"/>
              <a:t>2. Área: </a:t>
            </a:r>
            <a:r>
              <a:rPr lang="es-CL" sz="1100" dirty="0"/>
              <a:t>Campo alfanumérico de hasta 10 caracteres que identifica el del área que se está creando.</a:t>
            </a:r>
            <a:endParaRPr lang="es-ES" sz="1100" dirty="0"/>
          </a:p>
          <a:p>
            <a:r>
              <a:rPr lang="es-CL" sz="1100" dirty="0"/>
              <a:t>3. Descripción: Campo alfanumérico de hasta 30 caracteres que representa el nombre del área que se está creando.</a:t>
            </a:r>
          </a:p>
          <a:p>
            <a:pPr algn="just"/>
            <a:r>
              <a:rPr lang="es-CL" sz="1100" dirty="0"/>
              <a:t>4. Nivel de alumno: Nivel del alumno para el que aplica el área.</a:t>
            </a:r>
          </a:p>
          <a:p>
            <a:pPr algn="just"/>
            <a:r>
              <a:rPr lang="es-CL" sz="1100" dirty="0"/>
              <a:t>5. Nivel de curso: Nivel del curso para el que aplica el área.</a:t>
            </a:r>
          </a:p>
        </p:txBody>
      </p:sp>
      <p:sp>
        <p:nvSpPr>
          <p:cNvPr id="2" name="Rectángulo redondeado 15">
            <a:extLst>
              <a:ext uri="{FF2B5EF4-FFF2-40B4-BE49-F238E27FC236}">
                <a16:creationId xmlns:a16="http://schemas.microsoft.com/office/drawing/2014/main" id="{EBA9C5F4-C0CA-CC19-6486-CD1A06621F65}"/>
              </a:ext>
            </a:extLst>
          </p:cNvPr>
          <p:cNvSpPr/>
          <p:nvPr/>
        </p:nvSpPr>
        <p:spPr>
          <a:xfrm>
            <a:off x="9852497" y="1745592"/>
            <a:ext cx="189873" cy="19078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8" name="Rectángulo redondeado 15">
            <a:extLst>
              <a:ext uri="{FF2B5EF4-FFF2-40B4-BE49-F238E27FC236}">
                <a16:creationId xmlns:a16="http://schemas.microsoft.com/office/drawing/2014/main" id="{473980C8-AC89-F5A8-F14B-105D376C4DA6}"/>
              </a:ext>
            </a:extLst>
          </p:cNvPr>
          <p:cNvSpPr/>
          <p:nvPr/>
        </p:nvSpPr>
        <p:spPr>
          <a:xfrm>
            <a:off x="1391215" y="2056143"/>
            <a:ext cx="189873" cy="19078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9" name="Rectángulo redondeado 15">
            <a:extLst>
              <a:ext uri="{FF2B5EF4-FFF2-40B4-BE49-F238E27FC236}">
                <a16:creationId xmlns:a16="http://schemas.microsoft.com/office/drawing/2014/main" id="{23AFCE3D-F06F-4E66-4AC7-DD733AA1DBC7}"/>
              </a:ext>
            </a:extLst>
          </p:cNvPr>
          <p:cNvSpPr/>
          <p:nvPr/>
        </p:nvSpPr>
        <p:spPr>
          <a:xfrm>
            <a:off x="2422017" y="2056143"/>
            <a:ext cx="189873" cy="19078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0" name="Rectángulo redondeado 15">
            <a:extLst>
              <a:ext uri="{FF2B5EF4-FFF2-40B4-BE49-F238E27FC236}">
                <a16:creationId xmlns:a16="http://schemas.microsoft.com/office/drawing/2014/main" id="{D8723129-A409-3576-1DFE-81B371A6145A}"/>
              </a:ext>
            </a:extLst>
          </p:cNvPr>
          <p:cNvSpPr/>
          <p:nvPr/>
        </p:nvSpPr>
        <p:spPr>
          <a:xfrm>
            <a:off x="3660375" y="2056143"/>
            <a:ext cx="189873" cy="19078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3" name="Rectángulo redondeado 15">
            <a:extLst>
              <a:ext uri="{FF2B5EF4-FFF2-40B4-BE49-F238E27FC236}">
                <a16:creationId xmlns:a16="http://schemas.microsoft.com/office/drawing/2014/main" id="{AE1BCDC8-2B98-7DCC-86A9-7B92570015CA}"/>
              </a:ext>
            </a:extLst>
          </p:cNvPr>
          <p:cNvSpPr/>
          <p:nvPr/>
        </p:nvSpPr>
        <p:spPr>
          <a:xfrm>
            <a:off x="4708860" y="2056143"/>
            <a:ext cx="189873" cy="19078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5" name="Rectángulo 14">
            <a:extLst>
              <a:ext uri="{FF2B5EF4-FFF2-40B4-BE49-F238E27FC236}">
                <a16:creationId xmlns:a16="http://schemas.microsoft.com/office/drawing/2014/main" id="{F2026C5F-28CF-AEE5-18E5-D4CC92586998}"/>
              </a:ext>
            </a:extLst>
          </p:cNvPr>
          <p:cNvSpPr/>
          <p:nvPr/>
        </p:nvSpPr>
        <p:spPr>
          <a:xfrm>
            <a:off x="10243016" y="1766904"/>
            <a:ext cx="189873" cy="19078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328105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9AF65E3-5FB4-0FCB-3C74-30253A5FA8E0}"/>
              </a:ext>
            </a:extLst>
          </p:cNvPr>
          <p:cNvPicPr>
            <a:picLocks noChangeAspect="1"/>
          </p:cNvPicPr>
          <p:nvPr/>
        </p:nvPicPr>
        <p:blipFill>
          <a:blip r:embed="rId2"/>
          <a:stretch>
            <a:fillRect/>
          </a:stretch>
        </p:blipFill>
        <p:spPr>
          <a:xfrm>
            <a:off x="810247" y="1190445"/>
            <a:ext cx="10258302" cy="461810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13</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SMAALIB</a:t>
            </a:r>
            <a:r>
              <a:rPr lang="es-ES_tradnl" sz="3000" b="1" dirty="0"/>
              <a:t> </a:t>
            </a:r>
            <a:r>
              <a:rPr lang="es-ES_tradnl" sz="3000" b="0" dirty="0"/>
              <a:t>Biblioteca de área 1</a:t>
            </a:r>
            <a:r>
              <a:rPr lang="es-ES_tradnl" sz="3200" b="0" dirty="0"/>
              <a:t>/2</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706730" y="4031112"/>
            <a:ext cx="10906624" cy="1363878"/>
          </a:xfrm>
          <a:prstGeom prst="roundRect">
            <a:avLst>
              <a:gd name="adj" fmla="val 14466"/>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100" dirty="0"/>
              <a:t>6. Cumplimiento: </a:t>
            </a:r>
            <a:r>
              <a:rPr lang="es-CL" sz="1100" dirty="0"/>
              <a:t>Se </a:t>
            </a:r>
            <a:r>
              <a:rPr lang="es-CL" sz="1100"/>
              <a:t>marca para</a:t>
            </a:r>
            <a:r>
              <a:rPr lang="es-CO" sz="1100" dirty="0"/>
              <a:t> que el área pueda ser usada por el proceso de cumplimiento cuando se ejecuta una evaluación de </a:t>
            </a:r>
            <a:r>
              <a:rPr lang="es-CO" sz="1100"/>
              <a:t>cumplimiento.</a:t>
            </a:r>
            <a:endParaRPr lang="es-ES" sz="1100" dirty="0"/>
          </a:p>
          <a:p>
            <a:r>
              <a:rPr lang="es-CL" sz="1100" dirty="0"/>
              <a:t>7. Dinámico: Se marca </a:t>
            </a:r>
            <a:r>
              <a:rPr lang="es-CL" sz="1100"/>
              <a:t>para </a:t>
            </a:r>
            <a:r>
              <a:rPr lang="es-CO" sz="1100" dirty="0"/>
              <a:t>que el área pueda ser seleccionada dinámicamente dentro del Programa. Sólo es posible anexar áreas dinámicas a un Programa no cautivo.</a:t>
            </a:r>
          </a:p>
          <a:p>
            <a:r>
              <a:rPr lang="es-CO" sz="1100" dirty="0"/>
              <a:t>8. Prerrequisito: Se marca para para señalar si el área puede asociarse a un curso como prerrequisito.</a:t>
            </a:r>
          </a:p>
          <a:p>
            <a:r>
              <a:rPr lang="es-CO" sz="1100" dirty="0"/>
              <a:t>9. Indicador de impresión: Se deja por defecto imprimir todo.</a:t>
            </a:r>
          </a:p>
          <a:p>
            <a:r>
              <a:rPr lang="es-CO" sz="1100" dirty="0"/>
              <a:t>10. Atributo de inscripción estructurada: No se va </a:t>
            </a:r>
            <a:r>
              <a:rPr lang="es-CO" sz="1100"/>
              <a:t>a configurar.</a:t>
            </a:r>
            <a:endParaRPr lang="es-CO" sz="1100" dirty="0"/>
          </a:p>
          <a:p>
            <a:r>
              <a:rPr lang="es-CO" sz="1100" dirty="0"/>
              <a:t>11</a:t>
            </a:r>
            <a:r>
              <a:rPr lang="es-CO" sz="1100"/>
              <a:t>. </a:t>
            </a:r>
            <a:r>
              <a:rPr lang="es-ES_tradnl" sz="1100" dirty="0"/>
              <a:t>Finalmente se deben guardar todos los registros creados.</a:t>
            </a:r>
            <a:endParaRPr lang="es-CL" sz="1100" dirty="0"/>
          </a:p>
        </p:txBody>
      </p:sp>
      <p:sp>
        <p:nvSpPr>
          <p:cNvPr id="2" name="Rectángulo redondeado 15">
            <a:extLst>
              <a:ext uri="{FF2B5EF4-FFF2-40B4-BE49-F238E27FC236}">
                <a16:creationId xmlns:a16="http://schemas.microsoft.com/office/drawing/2014/main" id="{995A5046-E201-1414-4D65-F611F1295548}"/>
              </a:ext>
            </a:extLst>
          </p:cNvPr>
          <p:cNvSpPr/>
          <p:nvPr/>
        </p:nvSpPr>
        <p:spPr>
          <a:xfrm>
            <a:off x="9149754" y="1754239"/>
            <a:ext cx="383653" cy="15108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
        <p:nvSpPr>
          <p:cNvPr id="8" name="Rectángulo redondeado 15">
            <a:extLst>
              <a:ext uri="{FF2B5EF4-FFF2-40B4-BE49-F238E27FC236}">
                <a16:creationId xmlns:a16="http://schemas.microsoft.com/office/drawing/2014/main" id="{FD2BE82E-B796-994E-17DE-35867BDD3146}"/>
              </a:ext>
            </a:extLst>
          </p:cNvPr>
          <p:cNvSpPr/>
          <p:nvPr/>
        </p:nvSpPr>
        <p:spPr>
          <a:xfrm>
            <a:off x="5598615" y="1749436"/>
            <a:ext cx="189697" cy="15108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9" name="Rectángulo redondeado 15">
            <a:extLst>
              <a:ext uri="{FF2B5EF4-FFF2-40B4-BE49-F238E27FC236}">
                <a16:creationId xmlns:a16="http://schemas.microsoft.com/office/drawing/2014/main" id="{2782194D-FA9A-5B70-92B7-4AD175386832}"/>
              </a:ext>
            </a:extLst>
          </p:cNvPr>
          <p:cNvSpPr/>
          <p:nvPr/>
        </p:nvSpPr>
        <p:spPr>
          <a:xfrm>
            <a:off x="6487477" y="1749436"/>
            <a:ext cx="189697" cy="15108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0" name="Rectángulo redondeado 15">
            <a:extLst>
              <a:ext uri="{FF2B5EF4-FFF2-40B4-BE49-F238E27FC236}">
                <a16:creationId xmlns:a16="http://schemas.microsoft.com/office/drawing/2014/main" id="{244A394F-3485-E1F0-6A51-C3F973643411}"/>
              </a:ext>
            </a:extLst>
          </p:cNvPr>
          <p:cNvSpPr/>
          <p:nvPr/>
        </p:nvSpPr>
        <p:spPr>
          <a:xfrm>
            <a:off x="7220650" y="1749436"/>
            <a:ext cx="189697" cy="15108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11" name="Rectángulo redondeado 15">
            <a:extLst>
              <a:ext uri="{FF2B5EF4-FFF2-40B4-BE49-F238E27FC236}">
                <a16:creationId xmlns:a16="http://schemas.microsoft.com/office/drawing/2014/main" id="{7F1840EB-FA1D-4EB3-3714-D853B2A7CF7B}"/>
              </a:ext>
            </a:extLst>
          </p:cNvPr>
          <p:cNvSpPr/>
          <p:nvPr/>
        </p:nvSpPr>
        <p:spPr>
          <a:xfrm>
            <a:off x="7953823" y="1749436"/>
            <a:ext cx="189697" cy="15108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
        <p:nvSpPr>
          <p:cNvPr id="16" name="Rectángulo 15">
            <a:extLst>
              <a:ext uri="{FF2B5EF4-FFF2-40B4-BE49-F238E27FC236}">
                <a16:creationId xmlns:a16="http://schemas.microsoft.com/office/drawing/2014/main" id="{27845792-DF4B-8BEB-4546-964F03A9259C}"/>
              </a:ext>
            </a:extLst>
          </p:cNvPr>
          <p:cNvSpPr/>
          <p:nvPr/>
        </p:nvSpPr>
        <p:spPr>
          <a:xfrm>
            <a:off x="10566499" y="5529536"/>
            <a:ext cx="515631" cy="24364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3" name="Rectángulo redondeado 15">
            <a:extLst>
              <a:ext uri="{FF2B5EF4-FFF2-40B4-BE49-F238E27FC236}">
                <a16:creationId xmlns:a16="http://schemas.microsoft.com/office/drawing/2014/main" id="{7907C9B4-DE53-1861-129C-A024A9D68ED6}"/>
              </a:ext>
            </a:extLst>
          </p:cNvPr>
          <p:cNvSpPr/>
          <p:nvPr/>
        </p:nvSpPr>
        <p:spPr>
          <a:xfrm>
            <a:off x="9712581" y="5519889"/>
            <a:ext cx="383653" cy="15108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11</a:t>
            </a:r>
          </a:p>
        </p:txBody>
      </p:sp>
    </p:spTree>
    <p:extLst>
      <p:ext uri="{BB962C8B-B14F-4D97-AF65-F5344CB8AC3E}">
        <p14:creationId xmlns:p14="http://schemas.microsoft.com/office/powerpoint/2010/main" val="2456646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096E6-E252-159C-BCC6-487F0056F5DC}"/>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06AC2D67-F078-5750-C91B-0B91B7D4D183}"/>
              </a:ext>
            </a:extLst>
          </p:cNvPr>
          <p:cNvSpPr>
            <a:spLocks noGrp="1"/>
          </p:cNvSpPr>
          <p:nvPr>
            <p:ph type="body" sz="quarter" idx="10"/>
          </p:nvPr>
        </p:nvSpPr>
        <p:spPr/>
        <p:txBody>
          <a:bodyPr/>
          <a:lstStyle/>
          <a:p>
            <a:r>
              <a:rPr lang="es-CL" dirty="0"/>
              <a:t>Biblioteca de Áreas – Configuración Áreas Dinámicas</a:t>
            </a:r>
          </a:p>
        </p:txBody>
      </p:sp>
      <p:sp>
        <p:nvSpPr>
          <p:cNvPr id="2" name="Marcador de texto vertical 1">
            <a:extLst>
              <a:ext uri="{FF2B5EF4-FFF2-40B4-BE49-F238E27FC236}">
                <a16:creationId xmlns:a16="http://schemas.microsoft.com/office/drawing/2014/main" id="{79979052-9DA7-ADB0-BABE-9FA1899EFFD9}"/>
              </a:ext>
            </a:extLst>
          </p:cNvPr>
          <p:cNvSpPr>
            <a:spLocks noGrp="1"/>
          </p:cNvSpPr>
          <p:nvPr>
            <p:ph type="body" sz="quarter" idx="11"/>
          </p:nvPr>
        </p:nvSpPr>
        <p:spPr>
          <a:xfrm>
            <a:off x="914399" y="3750468"/>
            <a:ext cx="10363202" cy="519951"/>
          </a:xfrm>
        </p:spPr>
        <p:txBody>
          <a:bodyPr/>
          <a:lstStyle/>
          <a:p>
            <a:r>
              <a:rPr lang="es-ES" sz="3200" dirty="0"/>
              <a:t>Crear las mallas curriculares</a:t>
            </a:r>
            <a:endParaRPr lang="en-US" sz="3200" dirty="0"/>
          </a:p>
        </p:txBody>
      </p:sp>
    </p:spTree>
    <p:extLst>
      <p:ext uri="{BB962C8B-B14F-4D97-AF65-F5344CB8AC3E}">
        <p14:creationId xmlns:p14="http://schemas.microsoft.com/office/powerpoint/2010/main" val="2589287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EE9C5-A713-92C0-8CBB-1300E358BEE2}"/>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E334BF0B-A8CE-42AB-12AC-2BAB68FB8A8E}"/>
              </a:ext>
            </a:extLst>
          </p:cNvPr>
          <p:cNvPicPr>
            <a:picLocks noChangeAspect="1"/>
          </p:cNvPicPr>
          <p:nvPr/>
        </p:nvPicPr>
        <p:blipFill>
          <a:blip r:embed="rId2"/>
          <a:stretch>
            <a:fillRect/>
          </a:stretch>
        </p:blipFill>
        <p:spPr>
          <a:xfrm>
            <a:off x="923026" y="1293962"/>
            <a:ext cx="10642930" cy="4154158"/>
          </a:xfrm>
          <a:prstGeom prst="rect">
            <a:avLst/>
          </a:prstGeom>
        </p:spPr>
      </p:pic>
      <p:sp>
        <p:nvSpPr>
          <p:cNvPr id="3" name="Marcador de texto vertical 2">
            <a:extLst>
              <a:ext uri="{FF2B5EF4-FFF2-40B4-BE49-F238E27FC236}">
                <a16:creationId xmlns:a16="http://schemas.microsoft.com/office/drawing/2014/main" id="{40F1E805-B1CD-5601-C913-9C5937C961D2}"/>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122F648F-B4BF-D05E-81C9-B5F91088212C}"/>
              </a:ext>
            </a:extLst>
          </p:cNvPr>
          <p:cNvSpPr>
            <a:spLocks noGrp="1"/>
          </p:cNvSpPr>
          <p:nvPr>
            <p:ph type="sldNum" sz="quarter" idx="4"/>
          </p:nvPr>
        </p:nvSpPr>
        <p:spPr/>
        <p:txBody>
          <a:bodyPr/>
          <a:lstStyle/>
          <a:p>
            <a:fld id="{4A16F8ED-7337-F64C-865A-41A1F48E54DF}" type="slidenum">
              <a:rPr lang="en-US" smtClean="0"/>
              <a:pPr/>
              <a:t>15</a:t>
            </a:fld>
            <a:endParaRPr lang="en-US"/>
          </a:p>
        </p:txBody>
      </p:sp>
      <p:sp>
        <p:nvSpPr>
          <p:cNvPr id="4" name="Título 3">
            <a:extLst>
              <a:ext uri="{FF2B5EF4-FFF2-40B4-BE49-F238E27FC236}">
                <a16:creationId xmlns:a16="http://schemas.microsoft.com/office/drawing/2014/main" id="{3842B5B2-F876-0386-1AFD-2F9AB4BC2867}"/>
              </a:ext>
            </a:extLst>
          </p:cNvPr>
          <p:cNvSpPr>
            <a:spLocks noGrp="1"/>
          </p:cNvSpPr>
          <p:nvPr>
            <p:ph type="title"/>
          </p:nvPr>
        </p:nvSpPr>
        <p:spPr>
          <a:xfrm>
            <a:off x="810247" y="327992"/>
            <a:ext cx="10271883" cy="626165"/>
          </a:xfrm>
        </p:spPr>
        <p:txBody>
          <a:bodyPr/>
          <a:lstStyle/>
          <a:p>
            <a:r>
              <a:rPr lang="es-ES_tradnl" sz="3200" b="0" dirty="0"/>
              <a:t>Premisa: </a:t>
            </a:r>
            <a:r>
              <a:rPr lang="es-ES_tradnl" sz="3000" dirty="0"/>
              <a:t>STVMAJR</a:t>
            </a:r>
            <a:r>
              <a:rPr lang="es-ES_tradnl" sz="3000" b="1" dirty="0"/>
              <a:t> </a:t>
            </a:r>
            <a:r>
              <a:rPr lang="es-ES_tradnl" sz="3000" b="0" dirty="0"/>
              <a:t>Validación de código de carrera, concentración y especialidad</a:t>
            </a:r>
            <a:br>
              <a:rPr lang="es-CL" b="1" dirty="0">
                <a:effectLst/>
              </a:rPr>
            </a:br>
            <a:endParaRPr lang="es-CL" dirty="0"/>
          </a:p>
        </p:txBody>
      </p:sp>
      <p:sp>
        <p:nvSpPr>
          <p:cNvPr id="6" name="Rectángulo 5">
            <a:extLst>
              <a:ext uri="{FF2B5EF4-FFF2-40B4-BE49-F238E27FC236}">
                <a16:creationId xmlns:a16="http://schemas.microsoft.com/office/drawing/2014/main" id="{8DE77CDF-46AC-E74C-00B8-26E2ACC3A209}"/>
              </a:ext>
            </a:extLst>
          </p:cNvPr>
          <p:cNvSpPr/>
          <p:nvPr/>
        </p:nvSpPr>
        <p:spPr>
          <a:xfrm>
            <a:off x="923026" y="2700068"/>
            <a:ext cx="9347874" cy="15527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7" name="Rectángulo: esquinas redondeadas 6">
            <a:extLst>
              <a:ext uri="{FF2B5EF4-FFF2-40B4-BE49-F238E27FC236}">
                <a16:creationId xmlns:a16="http://schemas.microsoft.com/office/drawing/2014/main" id="{78B3B2DB-3235-2925-26A3-4EDC4DDF1B2F}"/>
              </a:ext>
            </a:extLst>
          </p:cNvPr>
          <p:cNvSpPr/>
          <p:nvPr/>
        </p:nvSpPr>
        <p:spPr>
          <a:xfrm>
            <a:off x="3055618" y="3728145"/>
            <a:ext cx="6906167" cy="109623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100" b="1" dirty="0"/>
              <a:t>Para la configuración de las áreas dinámicas por ejemplo, asociadas a una concentración, se requiere que dicha concentración se encuentre definida STVMAJR, particularmente teniendo activa la casilla del campo ‘Concentración’.</a:t>
            </a:r>
            <a:endParaRPr lang="es-CL" sz="1100" dirty="0"/>
          </a:p>
        </p:txBody>
      </p:sp>
    </p:spTree>
    <p:extLst>
      <p:ext uri="{BB962C8B-B14F-4D97-AF65-F5344CB8AC3E}">
        <p14:creationId xmlns:p14="http://schemas.microsoft.com/office/powerpoint/2010/main" val="2334479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48F61-BC73-4214-3699-E9BEE4BB429C}"/>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78B689FA-5E64-4C92-5F06-5618BB79A4B1}"/>
              </a:ext>
            </a:extLst>
          </p:cNvPr>
          <p:cNvPicPr>
            <a:picLocks noChangeAspect="1"/>
          </p:cNvPicPr>
          <p:nvPr/>
        </p:nvPicPr>
        <p:blipFill>
          <a:blip r:embed="rId2"/>
          <a:stretch>
            <a:fillRect/>
          </a:stretch>
        </p:blipFill>
        <p:spPr>
          <a:xfrm>
            <a:off x="1035170" y="806668"/>
            <a:ext cx="10046959" cy="4487502"/>
          </a:xfrm>
          <a:prstGeom prst="rect">
            <a:avLst/>
          </a:prstGeom>
        </p:spPr>
      </p:pic>
      <p:sp>
        <p:nvSpPr>
          <p:cNvPr id="3" name="Marcador de texto vertical 2">
            <a:extLst>
              <a:ext uri="{FF2B5EF4-FFF2-40B4-BE49-F238E27FC236}">
                <a16:creationId xmlns:a16="http://schemas.microsoft.com/office/drawing/2014/main" id="{BAC524D5-6813-5DA9-16B8-7C90C14A412C}"/>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84CC7AA4-E8B7-5DBD-FA17-98F999AD473E}"/>
              </a:ext>
            </a:extLst>
          </p:cNvPr>
          <p:cNvSpPr>
            <a:spLocks noGrp="1"/>
          </p:cNvSpPr>
          <p:nvPr>
            <p:ph type="sldNum" sz="quarter" idx="4"/>
          </p:nvPr>
        </p:nvSpPr>
        <p:spPr/>
        <p:txBody>
          <a:bodyPr/>
          <a:lstStyle/>
          <a:p>
            <a:fld id="{4A16F8ED-7337-F64C-865A-41A1F48E54DF}" type="slidenum">
              <a:rPr lang="en-US" smtClean="0"/>
              <a:pPr/>
              <a:t>16</a:t>
            </a:fld>
            <a:endParaRPr lang="en-US"/>
          </a:p>
        </p:txBody>
      </p:sp>
      <p:sp>
        <p:nvSpPr>
          <p:cNvPr id="4" name="Título 3">
            <a:extLst>
              <a:ext uri="{FF2B5EF4-FFF2-40B4-BE49-F238E27FC236}">
                <a16:creationId xmlns:a16="http://schemas.microsoft.com/office/drawing/2014/main" id="{CFE61C41-5D46-543A-C8DC-B6A8ABE8BD4C}"/>
              </a:ext>
            </a:extLst>
          </p:cNvPr>
          <p:cNvSpPr>
            <a:spLocks noGrp="1"/>
          </p:cNvSpPr>
          <p:nvPr>
            <p:ph type="title"/>
          </p:nvPr>
        </p:nvSpPr>
        <p:spPr>
          <a:xfrm>
            <a:off x="810247" y="327992"/>
            <a:ext cx="10271883" cy="626165"/>
          </a:xfrm>
        </p:spPr>
        <p:txBody>
          <a:bodyPr/>
          <a:lstStyle/>
          <a:p>
            <a:r>
              <a:rPr lang="es-ES_tradnl" sz="3200" b="0" dirty="0"/>
              <a:t>Premisa: </a:t>
            </a:r>
            <a:r>
              <a:rPr lang="es-ES_tradnl" sz="3000" dirty="0"/>
              <a:t>SOACURR</a:t>
            </a:r>
            <a:r>
              <a:rPr lang="es-ES_tradnl" sz="3000" b="1" dirty="0"/>
              <a:t> </a:t>
            </a:r>
            <a:r>
              <a:rPr lang="es-ES_tradnl" sz="3000" b="0" dirty="0"/>
              <a:t>Reglas del currículo</a:t>
            </a:r>
            <a:br>
              <a:rPr lang="es-CL" b="1" dirty="0">
                <a:effectLst/>
              </a:rPr>
            </a:br>
            <a:endParaRPr lang="es-CL" dirty="0"/>
          </a:p>
        </p:txBody>
      </p:sp>
      <p:sp>
        <p:nvSpPr>
          <p:cNvPr id="7" name="Rectángulo: esquinas redondeadas 6">
            <a:extLst>
              <a:ext uri="{FF2B5EF4-FFF2-40B4-BE49-F238E27FC236}">
                <a16:creationId xmlns:a16="http://schemas.microsoft.com/office/drawing/2014/main" id="{ECFD98A2-903A-A178-600D-DC2C84E553A3}"/>
              </a:ext>
            </a:extLst>
          </p:cNvPr>
          <p:cNvSpPr/>
          <p:nvPr/>
        </p:nvSpPr>
        <p:spPr>
          <a:xfrm>
            <a:off x="2642916" y="4463698"/>
            <a:ext cx="6906167" cy="109623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100" b="1" dirty="0"/>
              <a:t>Adicional a lo anterior, se sugiere haber determinado el Programa, </a:t>
            </a:r>
            <a:r>
              <a:rPr lang="es-CL" sz="1100" b="1" dirty="0" err="1"/>
              <a:t>Major</a:t>
            </a:r>
            <a:r>
              <a:rPr lang="es-CL" sz="1100" b="1" dirty="0"/>
              <a:t>, las Concentraciones y Especialidades que estarían asociadas a dicha Oferta Académica en SOACURR.</a:t>
            </a:r>
            <a:endParaRPr lang="es-CL" sz="1100" dirty="0"/>
          </a:p>
        </p:txBody>
      </p:sp>
      <p:sp>
        <p:nvSpPr>
          <p:cNvPr id="9" name="Rectángulo 8">
            <a:extLst>
              <a:ext uri="{FF2B5EF4-FFF2-40B4-BE49-F238E27FC236}">
                <a16:creationId xmlns:a16="http://schemas.microsoft.com/office/drawing/2014/main" id="{E063A294-236B-FAFD-B1EB-79226B0F0748}"/>
              </a:ext>
            </a:extLst>
          </p:cNvPr>
          <p:cNvSpPr/>
          <p:nvPr/>
        </p:nvSpPr>
        <p:spPr>
          <a:xfrm>
            <a:off x="1035169" y="3428999"/>
            <a:ext cx="9049745" cy="39250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614747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56C28-6DFA-CF90-872D-96BEEAFA02E4}"/>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08A1A039-75DE-AC4B-8369-7FCC2649F1C1}"/>
              </a:ext>
            </a:extLst>
          </p:cNvPr>
          <p:cNvPicPr>
            <a:picLocks noChangeAspect="1"/>
          </p:cNvPicPr>
          <p:nvPr/>
        </p:nvPicPr>
        <p:blipFill>
          <a:blip r:embed="rId2"/>
          <a:stretch>
            <a:fillRect/>
          </a:stretch>
        </p:blipFill>
        <p:spPr>
          <a:xfrm>
            <a:off x="965725" y="1568449"/>
            <a:ext cx="10225512" cy="4607099"/>
          </a:xfrm>
          <a:prstGeom prst="rect">
            <a:avLst/>
          </a:prstGeom>
        </p:spPr>
      </p:pic>
      <p:sp>
        <p:nvSpPr>
          <p:cNvPr id="3" name="Marcador de texto vertical 2">
            <a:extLst>
              <a:ext uri="{FF2B5EF4-FFF2-40B4-BE49-F238E27FC236}">
                <a16:creationId xmlns:a16="http://schemas.microsoft.com/office/drawing/2014/main" id="{CFAEDD9E-A45D-3F64-0C12-22FD49322895}"/>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171FBDFD-4278-0864-9C38-2412C5B16C45}"/>
              </a:ext>
            </a:extLst>
          </p:cNvPr>
          <p:cNvSpPr>
            <a:spLocks noGrp="1"/>
          </p:cNvSpPr>
          <p:nvPr>
            <p:ph type="sldNum" sz="quarter" idx="4"/>
          </p:nvPr>
        </p:nvSpPr>
        <p:spPr/>
        <p:txBody>
          <a:bodyPr/>
          <a:lstStyle/>
          <a:p>
            <a:fld id="{4A16F8ED-7337-F64C-865A-41A1F48E54DF}" type="slidenum">
              <a:rPr lang="en-US" smtClean="0"/>
              <a:pPr/>
              <a:t>17</a:t>
            </a:fld>
            <a:endParaRPr lang="en-US"/>
          </a:p>
        </p:txBody>
      </p:sp>
      <p:sp>
        <p:nvSpPr>
          <p:cNvPr id="4" name="Título 3">
            <a:extLst>
              <a:ext uri="{FF2B5EF4-FFF2-40B4-BE49-F238E27FC236}">
                <a16:creationId xmlns:a16="http://schemas.microsoft.com/office/drawing/2014/main" id="{FEF44505-FE42-FC1F-4D2A-B5CA1CEA41F8}"/>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SMAALIB</a:t>
            </a:r>
            <a:r>
              <a:rPr lang="es-ES_tradnl" sz="3000" b="1" dirty="0"/>
              <a:t> </a:t>
            </a:r>
            <a:r>
              <a:rPr lang="es-ES_tradnl" sz="3000" b="0" dirty="0"/>
              <a:t>Biblioteca de área 2</a:t>
            </a:r>
            <a:r>
              <a:rPr lang="es-ES_tradnl" sz="3200" b="0" dirty="0"/>
              <a:t>/2</a:t>
            </a:r>
            <a:br>
              <a:rPr lang="es-CL" b="0" dirty="0">
                <a:effectLst/>
              </a:rPr>
            </a:br>
            <a:endParaRPr lang="es-CL" b="0" dirty="0"/>
          </a:p>
        </p:txBody>
      </p:sp>
      <p:sp>
        <p:nvSpPr>
          <p:cNvPr id="6" name="Rectángulo 5">
            <a:extLst>
              <a:ext uri="{FF2B5EF4-FFF2-40B4-BE49-F238E27FC236}">
                <a16:creationId xmlns:a16="http://schemas.microsoft.com/office/drawing/2014/main" id="{D73D6D3A-46A5-1AE6-9911-6C807E9CCBA6}"/>
              </a:ext>
            </a:extLst>
          </p:cNvPr>
          <p:cNvSpPr/>
          <p:nvPr/>
        </p:nvSpPr>
        <p:spPr>
          <a:xfrm>
            <a:off x="871268" y="2257076"/>
            <a:ext cx="9250708" cy="36512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4603C626-6916-E4AC-92D7-31DA9D955EC1}"/>
              </a:ext>
            </a:extLst>
          </p:cNvPr>
          <p:cNvSpPr/>
          <p:nvPr/>
        </p:nvSpPr>
        <p:spPr>
          <a:xfrm>
            <a:off x="965725" y="3429000"/>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1</a:t>
            </a:r>
          </a:p>
        </p:txBody>
      </p:sp>
      <p:grpSp>
        <p:nvGrpSpPr>
          <p:cNvPr id="19" name="Grupo 18">
            <a:extLst>
              <a:ext uri="{FF2B5EF4-FFF2-40B4-BE49-F238E27FC236}">
                <a16:creationId xmlns:a16="http://schemas.microsoft.com/office/drawing/2014/main" id="{3684BB8E-238B-0BAD-3891-A4F5D2095C4F}"/>
              </a:ext>
            </a:extLst>
          </p:cNvPr>
          <p:cNvGrpSpPr/>
          <p:nvPr/>
        </p:nvGrpSpPr>
        <p:grpSpPr>
          <a:xfrm>
            <a:off x="3479824" y="4468677"/>
            <a:ext cx="6906167" cy="1096237"/>
            <a:chOff x="3479824" y="4468677"/>
            <a:chExt cx="6906167" cy="1096237"/>
          </a:xfrm>
        </p:grpSpPr>
        <p:sp>
          <p:nvSpPr>
            <p:cNvPr id="7" name="Rectángulo: esquinas redondeadas 6">
              <a:extLst>
                <a:ext uri="{FF2B5EF4-FFF2-40B4-BE49-F238E27FC236}">
                  <a16:creationId xmlns:a16="http://schemas.microsoft.com/office/drawing/2014/main" id="{7B584209-5B8C-EF61-9492-9225795BE5BC}"/>
                </a:ext>
              </a:extLst>
            </p:cNvPr>
            <p:cNvSpPr/>
            <p:nvPr/>
          </p:nvSpPr>
          <p:spPr>
            <a:xfrm>
              <a:off x="3479824" y="4468677"/>
              <a:ext cx="6906167" cy="109623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100" b="1" dirty="0"/>
                <a:t>1 y 2.</a:t>
              </a:r>
              <a:r>
                <a:rPr lang="es-CL" sz="1100" dirty="0"/>
                <a:t> En el caso que el área cargada corresponda a un área dinámica, se debe verificar que cuente con la casilla “Dinámico” activada. Realizado esto se debe avanzar a la siguiente sección de información mediante el botón </a:t>
              </a:r>
            </a:p>
          </p:txBody>
        </p:sp>
        <p:pic>
          <p:nvPicPr>
            <p:cNvPr id="18" name="Imagen 17">
              <a:extLst>
                <a:ext uri="{FF2B5EF4-FFF2-40B4-BE49-F238E27FC236}">
                  <a16:creationId xmlns:a16="http://schemas.microsoft.com/office/drawing/2014/main" id="{C303D9AA-187E-BE7E-0A8D-F29EA77E1171}"/>
                </a:ext>
              </a:extLst>
            </p:cNvPr>
            <p:cNvPicPr>
              <a:picLocks noChangeAspect="1"/>
            </p:cNvPicPr>
            <p:nvPr/>
          </p:nvPicPr>
          <p:blipFill>
            <a:blip r:embed="rId3"/>
            <a:srcRect l="8191" t="95553" r="87989"/>
            <a:stretch/>
          </p:blipFill>
          <p:spPr>
            <a:xfrm>
              <a:off x="4806412" y="5107517"/>
              <a:ext cx="307584" cy="182033"/>
            </a:xfrm>
            <a:prstGeom prst="rect">
              <a:avLst/>
            </a:prstGeom>
          </p:spPr>
        </p:pic>
      </p:grpSp>
      <p:sp>
        <p:nvSpPr>
          <p:cNvPr id="2" name="Rectángulo 1">
            <a:extLst>
              <a:ext uri="{FF2B5EF4-FFF2-40B4-BE49-F238E27FC236}">
                <a16:creationId xmlns:a16="http://schemas.microsoft.com/office/drawing/2014/main" id="{459E4E37-485F-E2F1-DA24-DE08C354EBDE}"/>
              </a:ext>
            </a:extLst>
          </p:cNvPr>
          <p:cNvSpPr/>
          <p:nvPr/>
        </p:nvSpPr>
        <p:spPr>
          <a:xfrm>
            <a:off x="1196697" y="5847618"/>
            <a:ext cx="461944" cy="36512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8">
            <a:extLst>
              <a:ext uri="{FF2B5EF4-FFF2-40B4-BE49-F238E27FC236}">
                <a16:creationId xmlns:a16="http://schemas.microsoft.com/office/drawing/2014/main" id="{60968DFE-0144-8790-725F-14E4003402CF}"/>
              </a:ext>
            </a:extLst>
          </p:cNvPr>
          <p:cNvSpPr/>
          <p:nvPr/>
        </p:nvSpPr>
        <p:spPr>
          <a:xfrm>
            <a:off x="543130" y="5847618"/>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2</a:t>
            </a:r>
          </a:p>
        </p:txBody>
      </p:sp>
    </p:spTree>
    <p:extLst>
      <p:ext uri="{BB962C8B-B14F-4D97-AF65-F5344CB8AC3E}">
        <p14:creationId xmlns:p14="http://schemas.microsoft.com/office/powerpoint/2010/main" val="2697934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6619F-FD2F-A665-6C9C-8E5B349FB639}"/>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B45FC79C-FA63-82AF-60DA-4134161EAD26}"/>
              </a:ext>
            </a:extLst>
          </p:cNvPr>
          <p:cNvPicPr>
            <a:picLocks noChangeAspect="1"/>
          </p:cNvPicPr>
          <p:nvPr/>
        </p:nvPicPr>
        <p:blipFill>
          <a:blip r:embed="rId2"/>
          <a:stretch>
            <a:fillRect/>
          </a:stretch>
        </p:blipFill>
        <p:spPr>
          <a:xfrm>
            <a:off x="787879" y="1477564"/>
            <a:ext cx="10461112" cy="4676668"/>
          </a:xfrm>
          <a:prstGeom prst="rect">
            <a:avLst/>
          </a:prstGeom>
        </p:spPr>
      </p:pic>
      <p:sp>
        <p:nvSpPr>
          <p:cNvPr id="3" name="Marcador de texto vertical 2">
            <a:extLst>
              <a:ext uri="{FF2B5EF4-FFF2-40B4-BE49-F238E27FC236}">
                <a16:creationId xmlns:a16="http://schemas.microsoft.com/office/drawing/2014/main" id="{8EB9C660-3718-72CB-427C-065D96DA860A}"/>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B601B899-8714-CB9B-AEED-A0EE09BE3024}"/>
              </a:ext>
            </a:extLst>
          </p:cNvPr>
          <p:cNvSpPr>
            <a:spLocks noGrp="1"/>
          </p:cNvSpPr>
          <p:nvPr>
            <p:ph type="sldNum" sz="quarter" idx="4"/>
          </p:nvPr>
        </p:nvSpPr>
        <p:spPr/>
        <p:txBody>
          <a:bodyPr/>
          <a:lstStyle/>
          <a:p>
            <a:fld id="{4A16F8ED-7337-F64C-865A-41A1F48E54DF}" type="slidenum">
              <a:rPr lang="en-US" smtClean="0"/>
              <a:pPr/>
              <a:t>18</a:t>
            </a:fld>
            <a:endParaRPr lang="en-US"/>
          </a:p>
        </p:txBody>
      </p:sp>
      <p:sp>
        <p:nvSpPr>
          <p:cNvPr id="4" name="Título 3">
            <a:extLst>
              <a:ext uri="{FF2B5EF4-FFF2-40B4-BE49-F238E27FC236}">
                <a16:creationId xmlns:a16="http://schemas.microsoft.com/office/drawing/2014/main" id="{03B29F64-83DB-1BC4-492B-C1851F90F481}"/>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SMAALIB</a:t>
            </a:r>
            <a:r>
              <a:rPr lang="es-ES_tradnl" sz="3000" b="1" dirty="0"/>
              <a:t> </a:t>
            </a:r>
            <a:r>
              <a:rPr lang="es-ES_tradnl" sz="3000" b="0" dirty="0"/>
              <a:t>Biblioteca de área 2</a:t>
            </a:r>
            <a:r>
              <a:rPr lang="es-ES_tradnl" sz="3200" b="0" dirty="0"/>
              <a:t>/2</a:t>
            </a:r>
            <a:br>
              <a:rPr lang="es-CL" b="1" dirty="0">
                <a:effectLst/>
              </a:rPr>
            </a:br>
            <a:endParaRPr lang="es-CL" dirty="0"/>
          </a:p>
        </p:txBody>
      </p:sp>
      <p:sp>
        <p:nvSpPr>
          <p:cNvPr id="6" name="Rectángulo 5">
            <a:extLst>
              <a:ext uri="{FF2B5EF4-FFF2-40B4-BE49-F238E27FC236}">
                <a16:creationId xmlns:a16="http://schemas.microsoft.com/office/drawing/2014/main" id="{5DD85E18-81EC-2DE2-F38D-417EA79860C1}"/>
              </a:ext>
            </a:extLst>
          </p:cNvPr>
          <p:cNvSpPr/>
          <p:nvPr/>
        </p:nvSpPr>
        <p:spPr>
          <a:xfrm>
            <a:off x="5866637" y="2206168"/>
            <a:ext cx="1563195" cy="2693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17B87713-E9B7-A54E-3467-7E3B0C13C98C}"/>
              </a:ext>
            </a:extLst>
          </p:cNvPr>
          <p:cNvSpPr/>
          <p:nvPr/>
        </p:nvSpPr>
        <p:spPr>
          <a:xfrm>
            <a:off x="5188503" y="2212314"/>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3</a:t>
            </a:r>
          </a:p>
        </p:txBody>
      </p:sp>
      <p:sp>
        <p:nvSpPr>
          <p:cNvPr id="7" name="Rectángulo: esquinas redondeadas 6">
            <a:extLst>
              <a:ext uri="{FF2B5EF4-FFF2-40B4-BE49-F238E27FC236}">
                <a16:creationId xmlns:a16="http://schemas.microsoft.com/office/drawing/2014/main" id="{B1247C08-35CA-DEDD-C272-65F724C46A3C}"/>
              </a:ext>
            </a:extLst>
          </p:cNvPr>
          <p:cNvSpPr/>
          <p:nvPr/>
        </p:nvSpPr>
        <p:spPr>
          <a:xfrm>
            <a:off x="3195152" y="4011477"/>
            <a:ext cx="6906167" cy="109623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100" b="1" dirty="0"/>
              <a:t>3, 4 y 5. </a:t>
            </a:r>
            <a:r>
              <a:rPr lang="es-CL" sz="1100" dirty="0"/>
              <a:t>En la segunda página de SMAALIB, se deberá especificar el periodo de vigencia del atributo que sería relacionado el área dinámica, así como las variables académicas que vincularían dicha área académica a los estudiantes. Por lo general el periodo del atributo coincide con el periodo académico de vigencia del plan de estudios (o periodo de catálogo), definido el periodo de atributo, se debe guardar el registro para poder avanzar a la siguiente sección           . </a:t>
            </a:r>
          </a:p>
        </p:txBody>
      </p:sp>
      <p:sp>
        <p:nvSpPr>
          <p:cNvPr id="2" name="Rectángulo 1">
            <a:extLst>
              <a:ext uri="{FF2B5EF4-FFF2-40B4-BE49-F238E27FC236}">
                <a16:creationId xmlns:a16="http://schemas.microsoft.com/office/drawing/2014/main" id="{8CA5E1C5-D987-8248-3CCA-B90F78BA4156}"/>
              </a:ext>
            </a:extLst>
          </p:cNvPr>
          <p:cNvSpPr/>
          <p:nvPr/>
        </p:nvSpPr>
        <p:spPr>
          <a:xfrm>
            <a:off x="10699118" y="5811330"/>
            <a:ext cx="572241" cy="31681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8">
            <a:extLst>
              <a:ext uri="{FF2B5EF4-FFF2-40B4-BE49-F238E27FC236}">
                <a16:creationId xmlns:a16="http://schemas.microsoft.com/office/drawing/2014/main" id="{AF42E80C-C609-E8BF-8F34-B774E167D942}"/>
              </a:ext>
            </a:extLst>
          </p:cNvPr>
          <p:cNvSpPr/>
          <p:nvPr/>
        </p:nvSpPr>
        <p:spPr>
          <a:xfrm>
            <a:off x="9870347" y="5850375"/>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4</a:t>
            </a:r>
          </a:p>
        </p:txBody>
      </p:sp>
      <p:pic>
        <p:nvPicPr>
          <p:cNvPr id="10" name="Imagen 9">
            <a:extLst>
              <a:ext uri="{FF2B5EF4-FFF2-40B4-BE49-F238E27FC236}">
                <a16:creationId xmlns:a16="http://schemas.microsoft.com/office/drawing/2014/main" id="{58FFDA45-5831-6697-BCDA-22194AC189E1}"/>
              </a:ext>
            </a:extLst>
          </p:cNvPr>
          <p:cNvPicPr>
            <a:picLocks noChangeAspect="1"/>
          </p:cNvPicPr>
          <p:nvPr/>
        </p:nvPicPr>
        <p:blipFill>
          <a:blip r:embed="rId3"/>
          <a:srcRect l="8191" t="95553" r="87989"/>
          <a:stretch/>
        </p:blipFill>
        <p:spPr>
          <a:xfrm>
            <a:off x="6468565" y="4846613"/>
            <a:ext cx="307584" cy="182033"/>
          </a:xfrm>
          <a:prstGeom prst="rect">
            <a:avLst/>
          </a:prstGeom>
        </p:spPr>
      </p:pic>
      <p:sp>
        <p:nvSpPr>
          <p:cNvPr id="11" name="Rectángulo 10">
            <a:extLst>
              <a:ext uri="{FF2B5EF4-FFF2-40B4-BE49-F238E27FC236}">
                <a16:creationId xmlns:a16="http://schemas.microsoft.com/office/drawing/2014/main" id="{235B5708-8102-1849-B198-67E61A0ED619}"/>
              </a:ext>
            </a:extLst>
          </p:cNvPr>
          <p:cNvSpPr/>
          <p:nvPr/>
        </p:nvSpPr>
        <p:spPr>
          <a:xfrm>
            <a:off x="1041219" y="5899945"/>
            <a:ext cx="382139" cy="17863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2" name="Rectángulo redondeado 8">
            <a:extLst>
              <a:ext uri="{FF2B5EF4-FFF2-40B4-BE49-F238E27FC236}">
                <a16:creationId xmlns:a16="http://schemas.microsoft.com/office/drawing/2014/main" id="{98E95CF8-B865-B666-534E-87D1CECF0F03}"/>
              </a:ext>
            </a:extLst>
          </p:cNvPr>
          <p:cNvSpPr/>
          <p:nvPr/>
        </p:nvSpPr>
        <p:spPr>
          <a:xfrm>
            <a:off x="810247" y="5533559"/>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5</a:t>
            </a:r>
          </a:p>
        </p:txBody>
      </p:sp>
    </p:spTree>
    <p:extLst>
      <p:ext uri="{BB962C8B-B14F-4D97-AF65-F5344CB8AC3E}">
        <p14:creationId xmlns:p14="http://schemas.microsoft.com/office/powerpoint/2010/main" val="4228152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3F664-6110-38ED-0DAB-0E57D6A9AE7B}"/>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1557DE86-7BEE-26A8-D101-700A09858755}"/>
              </a:ext>
            </a:extLst>
          </p:cNvPr>
          <p:cNvPicPr>
            <a:picLocks noChangeAspect="1"/>
          </p:cNvPicPr>
          <p:nvPr/>
        </p:nvPicPr>
        <p:blipFill>
          <a:blip r:embed="rId2"/>
          <a:stretch>
            <a:fillRect/>
          </a:stretch>
        </p:blipFill>
        <p:spPr>
          <a:xfrm>
            <a:off x="764328" y="1061048"/>
            <a:ext cx="10586766" cy="4770409"/>
          </a:xfrm>
          <a:prstGeom prst="rect">
            <a:avLst/>
          </a:prstGeom>
        </p:spPr>
      </p:pic>
      <p:sp>
        <p:nvSpPr>
          <p:cNvPr id="3" name="Marcador de texto vertical 2">
            <a:extLst>
              <a:ext uri="{FF2B5EF4-FFF2-40B4-BE49-F238E27FC236}">
                <a16:creationId xmlns:a16="http://schemas.microsoft.com/office/drawing/2014/main" id="{DCA4A2A5-032D-BC71-94D7-E55371791909}"/>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50A97DA8-A8AB-62ED-8CB4-98452A7B8896}"/>
              </a:ext>
            </a:extLst>
          </p:cNvPr>
          <p:cNvSpPr>
            <a:spLocks noGrp="1"/>
          </p:cNvSpPr>
          <p:nvPr>
            <p:ph type="sldNum" sz="quarter" idx="4"/>
          </p:nvPr>
        </p:nvSpPr>
        <p:spPr/>
        <p:txBody>
          <a:bodyPr/>
          <a:lstStyle/>
          <a:p>
            <a:fld id="{4A16F8ED-7337-F64C-865A-41A1F48E54DF}" type="slidenum">
              <a:rPr lang="en-US" smtClean="0"/>
              <a:pPr/>
              <a:t>19</a:t>
            </a:fld>
            <a:endParaRPr lang="en-US"/>
          </a:p>
        </p:txBody>
      </p:sp>
      <p:sp>
        <p:nvSpPr>
          <p:cNvPr id="4" name="Título 3">
            <a:extLst>
              <a:ext uri="{FF2B5EF4-FFF2-40B4-BE49-F238E27FC236}">
                <a16:creationId xmlns:a16="http://schemas.microsoft.com/office/drawing/2014/main" id="{59BD6144-4618-BD43-3513-263D397ACDE3}"/>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SMAALIB</a:t>
            </a:r>
            <a:r>
              <a:rPr lang="es-ES_tradnl" sz="3000" b="1" dirty="0"/>
              <a:t> </a:t>
            </a:r>
            <a:r>
              <a:rPr lang="es-ES_tradnl" sz="3000" b="0" dirty="0"/>
              <a:t>Biblioteca de área 2</a:t>
            </a:r>
            <a:r>
              <a:rPr lang="es-ES_tradnl" sz="3200" b="0" dirty="0"/>
              <a:t>/2</a:t>
            </a:r>
            <a:br>
              <a:rPr lang="es-CL" b="1" dirty="0">
                <a:effectLst/>
              </a:rPr>
            </a:br>
            <a:endParaRPr lang="es-CL" dirty="0"/>
          </a:p>
        </p:txBody>
      </p:sp>
      <p:sp>
        <p:nvSpPr>
          <p:cNvPr id="6" name="Rectángulo 5">
            <a:extLst>
              <a:ext uri="{FF2B5EF4-FFF2-40B4-BE49-F238E27FC236}">
                <a16:creationId xmlns:a16="http://schemas.microsoft.com/office/drawing/2014/main" id="{6FE2EE50-FDDB-BD55-62AA-CD2DB7712211}"/>
              </a:ext>
            </a:extLst>
          </p:cNvPr>
          <p:cNvSpPr/>
          <p:nvPr/>
        </p:nvSpPr>
        <p:spPr>
          <a:xfrm>
            <a:off x="6223455" y="2736728"/>
            <a:ext cx="1563195" cy="2693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55C4F8FD-A2B1-627A-9550-6C3C6540F2EF}"/>
              </a:ext>
            </a:extLst>
          </p:cNvPr>
          <p:cNvSpPr/>
          <p:nvPr/>
        </p:nvSpPr>
        <p:spPr>
          <a:xfrm>
            <a:off x="5715216" y="2728338"/>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6</a:t>
            </a:r>
          </a:p>
        </p:txBody>
      </p:sp>
      <p:sp>
        <p:nvSpPr>
          <p:cNvPr id="7" name="Rectángulo: esquinas redondeadas 6">
            <a:extLst>
              <a:ext uri="{FF2B5EF4-FFF2-40B4-BE49-F238E27FC236}">
                <a16:creationId xmlns:a16="http://schemas.microsoft.com/office/drawing/2014/main" id="{C334800E-7E70-847E-4860-B348A242EC5E}"/>
              </a:ext>
            </a:extLst>
          </p:cNvPr>
          <p:cNvSpPr/>
          <p:nvPr/>
        </p:nvSpPr>
        <p:spPr>
          <a:xfrm>
            <a:off x="2064470" y="4011477"/>
            <a:ext cx="8183064" cy="158564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100" b="1" dirty="0"/>
              <a:t>6. </a:t>
            </a:r>
            <a:r>
              <a:rPr lang="es-CL" sz="1100" dirty="0"/>
              <a:t>En la sección “Periodos existentes para atributos de área” se han de definir los criterios académicos que debe tener el estudiante para que se le asigna el área como condición de cumplimiento del programa de estudios por el cual esté cursando. En este caso se define en el campo ‘Concentración,</a:t>
            </a:r>
          </a:p>
        </p:txBody>
      </p:sp>
    </p:spTree>
    <p:extLst>
      <p:ext uri="{BB962C8B-B14F-4D97-AF65-F5344CB8AC3E}">
        <p14:creationId xmlns:p14="http://schemas.microsoft.com/office/powerpoint/2010/main" val="3621179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EB98-3496-3472-7782-E840406878BE}"/>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852E82DA-B2CD-DC76-3E22-9B32C9D88A67}"/>
              </a:ext>
            </a:extLst>
          </p:cNvPr>
          <p:cNvPicPr>
            <a:picLocks noChangeAspect="1"/>
          </p:cNvPicPr>
          <p:nvPr/>
        </p:nvPicPr>
        <p:blipFill>
          <a:blip r:embed="rId2"/>
          <a:stretch>
            <a:fillRect/>
          </a:stretch>
        </p:blipFill>
        <p:spPr>
          <a:xfrm>
            <a:off x="1173192" y="1043480"/>
            <a:ext cx="10326333" cy="4670663"/>
          </a:xfrm>
          <a:prstGeom prst="rect">
            <a:avLst/>
          </a:prstGeom>
        </p:spPr>
      </p:pic>
      <p:sp>
        <p:nvSpPr>
          <p:cNvPr id="3" name="Marcador de texto vertical 2">
            <a:extLst>
              <a:ext uri="{FF2B5EF4-FFF2-40B4-BE49-F238E27FC236}">
                <a16:creationId xmlns:a16="http://schemas.microsoft.com/office/drawing/2014/main" id="{A4A5C260-F010-1E92-488E-B6D5FA9C5606}"/>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4C56ACB2-7725-28E9-3E55-8D7C494BD069}"/>
              </a:ext>
            </a:extLst>
          </p:cNvPr>
          <p:cNvSpPr>
            <a:spLocks noGrp="1"/>
          </p:cNvSpPr>
          <p:nvPr>
            <p:ph type="sldNum" sz="quarter" idx="4"/>
          </p:nvPr>
        </p:nvSpPr>
        <p:spPr/>
        <p:txBody>
          <a:bodyPr/>
          <a:lstStyle/>
          <a:p>
            <a:fld id="{4A16F8ED-7337-F64C-865A-41A1F48E54DF}" type="slidenum">
              <a:rPr lang="en-US" smtClean="0"/>
              <a:pPr/>
              <a:t>20</a:t>
            </a:fld>
            <a:endParaRPr lang="en-US"/>
          </a:p>
        </p:txBody>
      </p:sp>
      <p:sp>
        <p:nvSpPr>
          <p:cNvPr id="4" name="Título 3">
            <a:extLst>
              <a:ext uri="{FF2B5EF4-FFF2-40B4-BE49-F238E27FC236}">
                <a16:creationId xmlns:a16="http://schemas.microsoft.com/office/drawing/2014/main" id="{D7A166EA-50C9-00F6-D790-12157EB03DC3}"/>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SMAALIB</a:t>
            </a:r>
            <a:r>
              <a:rPr lang="es-ES_tradnl" sz="3000" b="1" dirty="0"/>
              <a:t> </a:t>
            </a:r>
            <a:r>
              <a:rPr lang="es-ES_tradnl" sz="3000" b="0" dirty="0"/>
              <a:t>Biblioteca de área 2</a:t>
            </a:r>
            <a:r>
              <a:rPr lang="es-ES_tradnl" sz="3200" b="0" dirty="0"/>
              <a:t>/2</a:t>
            </a:r>
            <a:br>
              <a:rPr lang="es-CL" b="0" dirty="0">
                <a:effectLst/>
              </a:rPr>
            </a:br>
            <a:endParaRPr lang="es-CL" b="0" dirty="0"/>
          </a:p>
        </p:txBody>
      </p:sp>
      <p:sp>
        <p:nvSpPr>
          <p:cNvPr id="6" name="Rectángulo 5">
            <a:extLst>
              <a:ext uri="{FF2B5EF4-FFF2-40B4-BE49-F238E27FC236}">
                <a16:creationId xmlns:a16="http://schemas.microsoft.com/office/drawing/2014/main" id="{8E9FC273-104B-8459-2A96-A5AD2ACAD1E4}"/>
              </a:ext>
            </a:extLst>
          </p:cNvPr>
          <p:cNvSpPr/>
          <p:nvPr/>
        </p:nvSpPr>
        <p:spPr>
          <a:xfrm>
            <a:off x="7597647" y="2760037"/>
            <a:ext cx="278269" cy="190197"/>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477F4CF8-E636-524D-D684-9027DF425353}"/>
              </a:ext>
            </a:extLst>
          </p:cNvPr>
          <p:cNvSpPr/>
          <p:nvPr/>
        </p:nvSpPr>
        <p:spPr>
          <a:xfrm>
            <a:off x="7977563" y="2748520"/>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7</a:t>
            </a:r>
          </a:p>
        </p:txBody>
      </p:sp>
      <p:sp>
        <p:nvSpPr>
          <p:cNvPr id="2" name="Rectángulo 1">
            <a:extLst>
              <a:ext uri="{FF2B5EF4-FFF2-40B4-BE49-F238E27FC236}">
                <a16:creationId xmlns:a16="http://schemas.microsoft.com/office/drawing/2014/main" id="{FA9A8F3C-E531-51E6-81E2-A5A7C28E914A}"/>
              </a:ext>
            </a:extLst>
          </p:cNvPr>
          <p:cNvSpPr/>
          <p:nvPr/>
        </p:nvSpPr>
        <p:spPr>
          <a:xfrm>
            <a:off x="4620631" y="3378811"/>
            <a:ext cx="1443392"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8">
            <a:extLst>
              <a:ext uri="{FF2B5EF4-FFF2-40B4-BE49-F238E27FC236}">
                <a16:creationId xmlns:a16="http://schemas.microsoft.com/office/drawing/2014/main" id="{56C0DA59-03CC-4214-046E-9F66FF8E6C63}"/>
              </a:ext>
            </a:extLst>
          </p:cNvPr>
          <p:cNvSpPr/>
          <p:nvPr/>
        </p:nvSpPr>
        <p:spPr>
          <a:xfrm>
            <a:off x="3939612" y="3360023"/>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8</a:t>
            </a:r>
          </a:p>
        </p:txBody>
      </p:sp>
      <p:grpSp>
        <p:nvGrpSpPr>
          <p:cNvPr id="16" name="Grupo 15">
            <a:extLst>
              <a:ext uri="{FF2B5EF4-FFF2-40B4-BE49-F238E27FC236}">
                <a16:creationId xmlns:a16="http://schemas.microsoft.com/office/drawing/2014/main" id="{BCD7E8D1-D6CB-ED21-E181-87FDA9DD2BF3}"/>
              </a:ext>
            </a:extLst>
          </p:cNvPr>
          <p:cNvGrpSpPr/>
          <p:nvPr/>
        </p:nvGrpSpPr>
        <p:grpSpPr>
          <a:xfrm>
            <a:off x="2083520" y="4825774"/>
            <a:ext cx="8183064" cy="988746"/>
            <a:chOff x="2064470" y="5069154"/>
            <a:chExt cx="8183064" cy="988746"/>
          </a:xfrm>
        </p:grpSpPr>
        <p:sp>
          <p:nvSpPr>
            <p:cNvPr id="7" name="Rectángulo: esquinas redondeadas 6">
              <a:extLst>
                <a:ext uri="{FF2B5EF4-FFF2-40B4-BE49-F238E27FC236}">
                  <a16:creationId xmlns:a16="http://schemas.microsoft.com/office/drawing/2014/main" id="{8A12CE88-EAFB-3033-0031-7143E7245BE4}"/>
                </a:ext>
              </a:extLst>
            </p:cNvPr>
            <p:cNvSpPr/>
            <p:nvPr/>
          </p:nvSpPr>
          <p:spPr>
            <a:xfrm>
              <a:off x="2064470" y="5069154"/>
              <a:ext cx="8183064" cy="988746"/>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100" b="1" dirty="0"/>
                <a:t>7 y 8.</a:t>
              </a:r>
              <a:r>
                <a:rPr lang="es-CL" sz="1100" dirty="0"/>
                <a:t> Al ingresar a los tres puntos         se desplegará una ventana emergente de la cual se sugiere utilizar la opción ‘Código de concentración’ para seleccionar el código de la concentración previamente definida.</a:t>
              </a:r>
            </a:p>
          </p:txBody>
        </p:sp>
        <p:pic>
          <p:nvPicPr>
            <p:cNvPr id="13" name="Imagen 12">
              <a:extLst>
                <a:ext uri="{FF2B5EF4-FFF2-40B4-BE49-F238E27FC236}">
                  <a16:creationId xmlns:a16="http://schemas.microsoft.com/office/drawing/2014/main" id="{2E9BF9CF-3AB8-949C-E4BD-69F4D4121B7E}"/>
                </a:ext>
              </a:extLst>
            </p:cNvPr>
            <p:cNvPicPr>
              <a:picLocks noChangeAspect="1"/>
            </p:cNvPicPr>
            <p:nvPr/>
          </p:nvPicPr>
          <p:blipFill>
            <a:blip r:embed="rId3"/>
            <a:srcRect l="65620" t="29684" r="32537" b="66362"/>
            <a:stretch/>
          </p:blipFill>
          <p:spPr>
            <a:xfrm>
              <a:off x="4382506" y="5320147"/>
              <a:ext cx="219075" cy="219075"/>
            </a:xfrm>
            <a:prstGeom prst="rect">
              <a:avLst/>
            </a:prstGeom>
          </p:spPr>
        </p:pic>
      </p:grpSp>
    </p:spTree>
    <p:extLst>
      <p:ext uri="{BB962C8B-B14F-4D97-AF65-F5344CB8AC3E}">
        <p14:creationId xmlns:p14="http://schemas.microsoft.com/office/powerpoint/2010/main" val="1136340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74E93-BF5D-F6F0-7FCF-8974FD8AEF29}"/>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F2270258-56FC-3749-36D8-F0DFFFDA49B7}"/>
              </a:ext>
            </a:extLst>
          </p:cNvPr>
          <p:cNvPicPr>
            <a:picLocks noChangeAspect="1"/>
          </p:cNvPicPr>
          <p:nvPr/>
        </p:nvPicPr>
        <p:blipFill>
          <a:blip r:embed="rId2"/>
          <a:stretch>
            <a:fillRect/>
          </a:stretch>
        </p:blipFill>
        <p:spPr>
          <a:xfrm>
            <a:off x="810247" y="1035169"/>
            <a:ext cx="10602606" cy="4773659"/>
          </a:xfrm>
          <a:prstGeom prst="rect">
            <a:avLst/>
          </a:prstGeom>
        </p:spPr>
      </p:pic>
      <p:sp>
        <p:nvSpPr>
          <p:cNvPr id="3" name="Marcador de texto vertical 2">
            <a:extLst>
              <a:ext uri="{FF2B5EF4-FFF2-40B4-BE49-F238E27FC236}">
                <a16:creationId xmlns:a16="http://schemas.microsoft.com/office/drawing/2014/main" id="{CE4AA737-02D5-CCB6-1A64-74509DD5F497}"/>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E3CFD845-D378-D0AB-EA22-07E680895D64}"/>
              </a:ext>
            </a:extLst>
          </p:cNvPr>
          <p:cNvSpPr>
            <a:spLocks noGrp="1"/>
          </p:cNvSpPr>
          <p:nvPr>
            <p:ph type="sldNum" sz="quarter" idx="4"/>
          </p:nvPr>
        </p:nvSpPr>
        <p:spPr/>
        <p:txBody>
          <a:bodyPr/>
          <a:lstStyle/>
          <a:p>
            <a:fld id="{4A16F8ED-7337-F64C-865A-41A1F48E54DF}" type="slidenum">
              <a:rPr lang="en-US" smtClean="0"/>
              <a:pPr/>
              <a:t>21</a:t>
            </a:fld>
            <a:endParaRPr lang="en-US"/>
          </a:p>
        </p:txBody>
      </p:sp>
      <p:sp>
        <p:nvSpPr>
          <p:cNvPr id="4" name="Título 3">
            <a:extLst>
              <a:ext uri="{FF2B5EF4-FFF2-40B4-BE49-F238E27FC236}">
                <a16:creationId xmlns:a16="http://schemas.microsoft.com/office/drawing/2014/main" id="{5B658913-1FF2-3415-0D3F-559C426E4673}"/>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SMAALIB</a:t>
            </a:r>
            <a:r>
              <a:rPr lang="es-ES_tradnl" sz="3000" b="1" dirty="0"/>
              <a:t> </a:t>
            </a:r>
            <a:r>
              <a:rPr lang="es-ES_tradnl" sz="3000" b="0" dirty="0"/>
              <a:t>Biblioteca de área 2</a:t>
            </a:r>
            <a:r>
              <a:rPr lang="es-ES_tradnl" sz="3200" b="0" dirty="0"/>
              <a:t>/2</a:t>
            </a:r>
            <a:br>
              <a:rPr lang="es-CL" b="1" dirty="0">
                <a:effectLst/>
              </a:rPr>
            </a:br>
            <a:endParaRPr lang="es-CL" dirty="0"/>
          </a:p>
        </p:txBody>
      </p:sp>
      <p:sp>
        <p:nvSpPr>
          <p:cNvPr id="6" name="Rectángulo 5">
            <a:extLst>
              <a:ext uri="{FF2B5EF4-FFF2-40B4-BE49-F238E27FC236}">
                <a16:creationId xmlns:a16="http://schemas.microsoft.com/office/drawing/2014/main" id="{1F16F0A1-F2B4-F076-DA11-B21F82997B81}"/>
              </a:ext>
            </a:extLst>
          </p:cNvPr>
          <p:cNvSpPr/>
          <p:nvPr/>
        </p:nvSpPr>
        <p:spPr>
          <a:xfrm>
            <a:off x="4199982" y="3904688"/>
            <a:ext cx="2563128" cy="192860"/>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34CC7AE0-C7D2-6E68-75CB-21563498F657}"/>
              </a:ext>
            </a:extLst>
          </p:cNvPr>
          <p:cNvSpPr/>
          <p:nvPr/>
        </p:nvSpPr>
        <p:spPr>
          <a:xfrm>
            <a:off x="3615326" y="3884229"/>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9</a:t>
            </a:r>
          </a:p>
        </p:txBody>
      </p:sp>
      <p:sp>
        <p:nvSpPr>
          <p:cNvPr id="7" name="Rectángulo: esquinas redondeadas 6">
            <a:extLst>
              <a:ext uri="{FF2B5EF4-FFF2-40B4-BE49-F238E27FC236}">
                <a16:creationId xmlns:a16="http://schemas.microsoft.com/office/drawing/2014/main" id="{12178584-4FD8-9985-0079-C25802DED758}"/>
              </a:ext>
            </a:extLst>
          </p:cNvPr>
          <p:cNvSpPr/>
          <p:nvPr/>
        </p:nvSpPr>
        <p:spPr>
          <a:xfrm>
            <a:off x="1503179" y="4765406"/>
            <a:ext cx="5393604" cy="115914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100" b="1" dirty="0"/>
              <a:t>9 y 10. </a:t>
            </a:r>
            <a:r>
              <a:rPr lang="es-CL" sz="1100" dirty="0"/>
              <a:t>En la ventana emergente, se ha de seleccionar lo que fuera la concentración que estaría relacionada con el área dinámica que se está configurando.</a:t>
            </a:r>
          </a:p>
        </p:txBody>
      </p:sp>
      <p:sp>
        <p:nvSpPr>
          <p:cNvPr id="2" name="Rectángulo 1">
            <a:extLst>
              <a:ext uri="{FF2B5EF4-FFF2-40B4-BE49-F238E27FC236}">
                <a16:creationId xmlns:a16="http://schemas.microsoft.com/office/drawing/2014/main" id="{C18F11F1-110B-B2D1-CC87-FFC8C5186744}"/>
              </a:ext>
            </a:extLst>
          </p:cNvPr>
          <p:cNvSpPr/>
          <p:nvPr/>
        </p:nvSpPr>
        <p:spPr>
          <a:xfrm>
            <a:off x="7392838" y="4700369"/>
            <a:ext cx="560718" cy="19080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8" name="Rectángulo redondeado 8">
            <a:extLst>
              <a:ext uri="{FF2B5EF4-FFF2-40B4-BE49-F238E27FC236}">
                <a16:creationId xmlns:a16="http://schemas.microsoft.com/office/drawing/2014/main" id="{91799DBC-3D2B-64B6-E5EC-2588F0D5F5AF}"/>
              </a:ext>
            </a:extLst>
          </p:cNvPr>
          <p:cNvSpPr/>
          <p:nvPr/>
        </p:nvSpPr>
        <p:spPr>
          <a:xfrm>
            <a:off x="8072582" y="4656887"/>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10</a:t>
            </a:r>
          </a:p>
        </p:txBody>
      </p:sp>
    </p:spTree>
    <p:extLst>
      <p:ext uri="{BB962C8B-B14F-4D97-AF65-F5344CB8AC3E}">
        <p14:creationId xmlns:p14="http://schemas.microsoft.com/office/powerpoint/2010/main" val="1395642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0"/>
          </p:nvPr>
        </p:nvSpPr>
        <p:spPr/>
        <p:txBody>
          <a:bodyPr/>
          <a:lstStyle/>
          <a:p>
            <a:r>
              <a:rPr lang="es-419" dirty="0"/>
              <a:t>Configuración de requerimientos de área</a:t>
            </a:r>
            <a:endParaRPr lang="en-US" dirty="0"/>
          </a:p>
        </p:txBody>
      </p:sp>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sz="quarter" idx="11"/>
          </p:nvPr>
        </p:nvSpPr>
        <p:spPr>
          <a:xfrm>
            <a:off x="914399" y="3750468"/>
            <a:ext cx="10363202" cy="519951"/>
          </a:xfrm>
        </p:spPr>
        <p:txBody>
          <a:bodyPr/>
          <a:lstStyle/>
          <a:p>
            <a:r>
              <a:rPr lang="es-ES" sz="3200" dirty="0"/>
              <a:t>Crear las mallas curriculares</a:t>
            </a:r>
            <a:endParaRPr lang="en-US" sz="3200" dirty="0"/>
          </a:p>
        </p:txBody>
      </p:sp>
    </p:spTree>
    <p:extLst>
      <p:ext uri="{BB962C8B-B14F-4D97-AF65-F5344CB8AC3E}">
        <p14:creationId xmlns:p14="http://schemas.microsoft.com/office/powerpoint/2010/main" val="4293807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341F6AC7-C071-1E41-70AA-8B453C9223A8}"/>
              </a:ext>
            </a:extLst>
          </p:cNvPr>
          <p:cNvPicPr>
            <a:picLocks noChangeAspect="1"/>
          </p:cNvPicPr>
          <p:nvPr/>
        </p:nvPicPr>
        <p:blipFill>
          <a:blip r:embed="rId2"/>
          <a:stretch>
            <a:fillRect/>
          </a:stretch>
        </p:blipFill>
        <p:spPr>
          <a:xfrm>
            <a:off x="937047" y="1190445"/>
            <a:ext cx="10570592" cy="480782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endParaRPr lang="es-ES" dirty="0"/>
          </a:p>
          <a:p>
            <a:r>
              <a:rPr lang="es-ES" sz="1200" dirty="0"/>
              <a:t>Crear las mallas curriculares</a:t>
            </a:r>
            <a:endParaRPr lang="en-US" dirty="0"/>
          </a:p>
          <a:p>
            <a:endParaRPr lang="es-CL"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23</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711635" y="327992"/>
            <a:ext cx="10271883" cy="626165"/>
          </a:xfrm>
        </p:spPr>
        <p:txBody>
          <a:bodyPr/>
          <a:lstStyle/>
          <a:p>
            <a:r>
              <a:rPr lang="es-ES_tradnl" sz="3200" b="0" dirty="0"/>
              <a:t>Configuraciones: </a:t>
            </a:r>
            <a:r>
              <a:rPr lang="es-ES_tradnl" sz="3000" dirty="0"/>
              <a:t>SMAAREA</a:t>
            </a:r>
            <a:r>
              <a:rPr lang="es-ES_tradnl" sz="3000" b="1" dirty="0"/>
              <a:t> </a:t>
            </a:r>
            <a:r>
              <a:rPr lang="es-ES_tradnl" sz="3000" dirty="0"/>
              <a:t>Requerimientos de área</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1800013" y="3994030"/>
            <a:ext cx="8844659" cy="20042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100" dirty="0"/>
              <a:t>Página destinada a la creación de los programas</a:t>
            </a:r>
            <a:br>
              <a:rPr lang="es-ES" sz="1100" b="1" dirty="0"/>
            </a:br>
            <a:br>
              <a:rPr lang="es-ES" sz="1100" b="1" dirty="0"/>
            </a:br>
            <a:r>
              <a:rPr lang="es-ES" sz="1100" b="1" dirty="0"/>
              <a:t>1.- Activo: </a:t>
            </a:r>
            <a:r>
              <a:rPr lang="es-ES" sz="1100" dirty="0"/>
              <a:t>Se marca como activo para indicar que esta activa y que se puede utilizar.</a:t>
            </a:r>
          </a:p>
          <a:p>
            <a:pPr algn="just"/>
            <a:r>
              <a:rPr lang="es-CL" sz="1100" b="1" dirty="0"/>
              <a:t>2.- Total requerido: </a:t>
            </a:r>
            <a:r>
              <a:rPr lang="es-CL" sz="1100" dirty="0"/>
              <a:t>Se ingresa </a:t>
            </a:r>
            <a:r>
              <a:rPr lang="es-CO" sz="1100" dirty="0"/>
              <a:t>el número máximo de créditos y/o de curso del área</a:t>
            </a:r>
            <a:r>
              <a:rPr lang="es-CL" sz="1100" dirty="0"/>
              <a:t>.</a:t>
            </a:r>
          </a:p>
          <a:p>
            <a:pPr algn="just">
              <a:tabLst>
                <a:tab pos="182880" algn="l"/>
              </a:tabLst>
            </a:pPr>
            <a:r>
              <a:rPr lang="es-CO" sz="1100" dirty="0"/>
              <a:t>Seleccione en el campo “Conector” la opción que corresponda:</a:t>
            </a:r>
            <a:endParaRPr lang="en-US" sz="1100" dirty="0"/>
          </a:p>
          <a:p>
            <a:pPr marL="742950" lvl="1" indent="-285750" algn="just">
              <a:buFont typeface="Courier New" panose="02070309020205020404" pitchFamily="49" charset="0"/>
              <a:buChar char="o"/>
              <a:tabLst>
                <a:tab pos="182880" algn="l"/>
              </a:tabLst>
            </a:pPr>
            <a:r>
              <a:rPr lang="es-CO" sz="1100" dirty="0"/>
              <a:t>“Ninguno”, si se requieren sólo créditos o sólo cursos.</a:t>
            </a:r>
            <a:endParaRPr lang="en-US" sz="1100" dirty="0"/>
          </a:p>
          <a:p>
            <a:pPr marL="742950" lvl="1" indent="-285750" algn="just">
              <a:buFont typeface="Courier New" panose="02070309020205020404" pitchFamily="49" charset="0"/>
              <a:buChar char="o"/>
              <a:tabLst>
                <a:tab pos="182880" algn="l"/>
              </a:tabLst>
            </a:pPr>
            <a:r>
              <a:rPr lang="es-CO" sz="1100" dirty="0"/>
              <a:t>“Y”, si se requieren créditos y cursos</a:t>
            </a:r>
            <a:endParaRPr lang="en-US" sz="1100" dirty="0"/>
          </a:p>
          <a:p>
            <a:pPr marL="742950" lvl="1" indent="-285750" algn="just">
              <a:spcAft>
                <a:spcPts val="1000"/>
              </a:spcAft>
              <a:buFont typeface="Courier New" panose="02070309020205020404" pitchFamily="49" charset="0"/>
              <a:buChar char="o"/>
              <a:tabLst>
                <a:tab pos="182880" algn="l"/>
              </a:tabLst>
            </a:pPr>
            <a:r>
              <a:rPr lang="es-CO" sz="1100" dirty="0"/>
              <a:t>“O”, si se requieren créditos o cursos</a:t>
            </a:r>
            <a:endParaRPr lang="en-US" sz="1100" dirty="0"/>
          </a:p>
          <a:p>
            <a:pPr algn="just"/>
            <a:r>
              <a:rPr lang="es-CL" sz="1100" b="1" dirty="0"/>
              <a:t>3. </a:t>
            </a:r>
            <a:r>
              <a:rPr lang="es-CO" sz="1100" b="1" dirty="0"/>
              <a:t>Nota:</a:t>
            </a:r>
            <a:r>
              <a:rPr lang="es-CO" sz="1100" dirty="0"/>
              <a:t> En el campo “Anexo” estará marcada la opción correspondiente a los cursos o grupos que se anexarán al área</a:t>
            </a:r>
            <a:r>
              <a:rPr lang="es-419" sz="1100" dirty="0"/>
              <a:t>.</a:t>
            </a:r>
            <a:endParaRPr lang="es-CL" sz="1100" dirty="0"/>
          </a:p>
          <a:p>
            <a:endParaRPr lang="es-CL" sz="1100" b="1" dirty="0"/>
          </a:p>
        </p:txBody>
      </p:sp>
      <p:sp>
        <p:nvSpPr>
          <p:cNvPr id="12" name="Rectángulo 11">
            <a:extLst>
              <a:ext uri="{FF2B5EF4-FFF2-40B4-BE49-F238E27FC236}">
                <a16:creationId xmlns:a16="http://schemas.microsoft.com/office/drawing/2014/main" id="{B48E7E4E-3F43-D69F-9AE8-35990AF93511}"/>
              </a:ext>
            </a:extLst>
          </p:cNvPr>
          <p:cNvSpPr/>
          <p:nvPr/>
        </p:nvSpPr>
        <p:spPr>
          <a:xfrm>
            <a:off x="1460177" y="2322856"/>
            <a:ext cx="1563195" cy="2693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3" name="Rectángulo redondeado 8">
            <a:extLst>
              <a:ext uri="{FF2B5EF4-FFF2-40B4-BE49-F238E27FC236}">
                <a16:creationId xmlns:a16="http://schemas.microsoft.com/office/drawing/2014/main" id="{581AD198-D17E-0C7E-E583-7AF0F8F7685B}"/>
              </a:ext>
            </a:extLst>
          </p:cNvPr>
          <p:cNvSpPr/>
          <p:nvPr/>
        </p:nvSpPr>
        <p:spPr>
          <a:xfrm>
            <a:off x="904854" y="2322856"/>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1</a:t>
            </a:r>
          </a:p>
        </p:txBody>
      </p:sp>
      <p:sp>
        <p:nvSpPr>
          <p:cNvPr id="14" name="Rectángulo 13">
            <a:extLst>
              <a:ext uri="{FF2B5EF4-FFF2-40B4-BE49-F238E27FC236}">
                <a16:creationId xmlns:a16="http://schemas.microsoft.com/office/drawing/2014/main" id="{FDBC6DAE-ED2A-C260-8B08-66E253300120}"/>
              </a:ext>
            </a:extLst>
          </p:cNvPr>
          <p:cNvSpPr/>
          <p:nvPr/>
        </p:nvSpPr>
        <p:spPr>
          <a:xfrm>
            <a:off x="1197569" y="2729279"/>
            <a:ext cx="8956133" cy="2693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5" name="Rectángulo redondeado 8">
            <a:extLst>
              <a:ext uri="{FF2B5EF4-FFF2-40B4-BE49-F238E27FC236}">
                <a16:creationId xmlns:a16="http://schemas.microsoft.com/office/drawing/2014/main" id="{6B1D9599-616D-AAF2-A389-833EDCAD8C3F}"/>
              </a:ext>
            </a:extLst>
          </p:cNvPr>
          <p:cNvSpPr/>
          <p:nvPr/>
        </p:nvSpPr>
        <p:spPr>
          <a:xfrm>
            <a:off x="673882" y="2725083"/>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2</a:t>
            </a:r>
          </a:p>
        </p:txBody>
      </p:sp>
      <p:sp>
        <p:nvSpPr>
          <p:cNvPr id="16" name="Rectángulo 15">
            <a:extLst>
              <a:ext uri="{FF2B5EF4-FFF2-40B4-BE49-F238E27FC236}">
                <a16:creationId xmlns:a16="http://schemas.microsoft.com/office/drawing/2014/main" id="{DC912C15-7565-B6A1-08B0-06F7BAE406C5}"/>
              </a:ext>
            </a:extLst>
          </p:cNvPr>
          <p:cNvSpPr/>
          <p:nvPr/>
        </p:nvSpPr>
        <p:spPr>
          <a:xfrm>
            <a:off x="6685884" y="2360972"/>
            <a:ext cx="1750749" cy="26938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7" name="Rectángulo redondeado 8">
            <a:extLst>
              <a:ext uri="{FF2B5EF4-FFF2-40B4-BE49-F238E27FC236}">
                <a16:creationId xmlns:a16="http://schemas.microsoft.com/office/drawing/2014/main" id="{E4740BA8-8CE6-F1A0-754D-DF1F89E86A80}"/>
              </a:ext>
            </a:extLst>
          </p:cNvPr>
          <p:cNvSpPr/>
          <p:nvPr/>
        </p:nvSpPr>
        <p:spPr>
          <a:xfrm>
            <a:off x="6066735" y="2314466"/>
            <a:ext cx="461944"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3</a:t>
            </a:r>
          </a:p>
        </p:txBody>
      </p:sp>
    </p:spTree>
    <p:extLst>
      <p:ext uri="{BB962C8B-B14F-4D97-AF65-F5344CB8AC3E}">
        <p14:creationId xmlns:p14="http://schemas.microsoft.com/office/powerpoint/2010/main" val="798339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74E71E6B-2F4B-9AD2-33F4-C1D56F816CB1}"/>
              </a:ext>
            </a:extLst>
          </p:cNvPr>
          <p:cNvPicPr>
            <a:picLocks noChangeAspect="1"/>
          </p:cNvPicPr>
          <p:nvPr/>
        </p:nvPicPr>
        <p:blipFill>
          <a:blip r:embed="rId2"/>
          <a:stretch>
            <a:fillRect/>
          </a:stretch>
        </p:blipFill>
        <p:spPr>
          <a:xfrm>
            <a:off x="765423" y="1769551"/>
            <a:ext cx="10588378" cy="283358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ES" sz="1200" dirty="0"/>
              <a:t>Crear las mallas curriculares</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24</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SMAAREA</a:t>
            </a:r>
            <a:r>
              <a:rPr lang="es-ES_tradnl" sz="3000" b="1" dirty="0"/>
              <a:t> </a:t>
            </a:r>
            <a:r>
              <a:rPr lang="es-ES_tradnl" sz="3000" dirty="0"/>
              <a:t>Requerimientos de área –Anexos de curso/atributo de área</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765423" y="5513294"/>
            <a:ext cx="10942482" cy="8430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100" dirty="0"/>
              <a:t>Página destinada a la creación de los anexos de las áreas</a:t>
            </a:r>
            <a:br>
              <a:rPr lang="es-ES" sz="1100" b="1" dirty="0"/>
            </a:br>
            <a:br>
              <a:rPr lang="es-ES" sz="1100" b="1" dirty="0"/>
            </a:br>
            <a:r>
              <a:rPr lang="es-ES" sz="1100" b="1" dirty="0"/>
              <a:t>1.- Regla: </a:t>
            </a:r>
            <a:r>
              <a:rPr lang="es-ES" sz="1100" dirty="0"/>
              <a:t>Se crea el código de regla que agrupará el o los cursos y se da click en el campo regla para definir el detalle</a:t>
            </a:r>
          </a:p>
        </p:txBody>
      </p:sp>
      <p:sp>
        <p:nvSpPr>
          <p:cNvPr id="2" name="Rectángulo redondeado 15">
            <a:extLst>
              <a:ext uri="{FF2B5EF4-FFF2-40B4-BE49-F238E27FC236}">
                <a16:creationId xmlns:a16="http://schemas.microsoft.com/office/drawing/2014/main" id="{59EC3BE3-8D13-2874-BCBB-7C1D1B59A939}"/>
              </a:ext>
            </a:extLst>
          </p:cNvPr>
          <p:cNvSpPr/>
          <p:nvPr/>
        </p:nvSpPr>
        <p:spPr>
          <a:xfrm>
            <a:off x="1249288" y="2979331"/>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Tree>
    <p:extLst>
      <p:ext uri="{BB962C8B-B14F-4D97-AF65-F5344CB8AC3E}">
        <p14:creationId xmlns:p14="http://schemas.microsoft.com/office/powerpoint/2010/main" val="611866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59046987-D408-BB63-6AD1-FE71021076FE}"/>
              </a:ext>
            </a:extLst>
          </p:cNvPr>
          <p:cNvPicPr>
            <a:picLocks noChangeAspect="1"/>
          </p:cNvPicPr>
          <p:nvPr/>
        </p:nvPicPr>
        <p:blipFill>
          <a:blip r:embed="rId2"/>
          <a:stretch>
            <a:fillRect/>
          </a:stretch>
        </p:blipFill>
        <p:spPr>
          <a:xfrm>
            <a:off x="1054219" y="1002820"/>
            <a:ext cx="10080936" cy="334804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endParaRPr lang="es-ES" dirty="0"/>
          </a:p>
          <a:p>
            <a:r>
              <a:rPr lang="es-ES" sz="1200" dirty="0"/>
              <a:t>Crear las mallas curriculares</a:t>
            </a:r>
            <a:endParaRPr lang="en-US" dirty="0"/>
          </a:p>
          <a:p>
            <a:endParaRPr lang="es-CL"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25</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SMAAREA</a:t>
            </a:r>
            <a:r>
              <a:rPr lang="es-ES_tradnl" sz="3000" b="1" dirty="0"/>
              <a:t> </a:t>
            </a:r>
            <a:r>
              <a:rPr lang="es-ES_tradnl" sz="3000" dirty="0"/>
              <a:t>Requerimientos de área</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810247" y="4748317"/>
            <a:ext cx="10601824" cy="160803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br>
              <a:rPr lang="es-ES" sz="1100" dirty="0"/>
            </a:br>
            <a:r>
              <a:rPr lang="es-ES" sz="1100" dirty="0"/>
              <a:t>1.- Descripción: Se ingresa la descripción de la regla</a:t>
            </a:r>
          </a:p>
          <a:p>
            <a:r>
              <a:rPr lang="es-ES" sz="1100" dirty="0"/>
              <a:t>2.- Número de condiciones requerido:</a:t>
            </a:r>
            <a:r>
              <a:rPr lang="es-CO" sz="1100" dirty="0"/>
              <a:t> se ingresa el número de condicione con los que el estudiante cumple la regla.</a:t>
            </a:r>
          </a:p>
          <a:p>
            <a:r>
              <a:rPr lang="es-CO" sz="1100" dirty="0"/>
              <a:t>3.- Materia –Número inferior de curso: Se ingresa los códigos de la materia y el número de curso que identifican a la materia que será parte de la regla. En calificación mínima se incluye el número ingresado en la configuración de la asignatura.</a:t>
            </a:r>
          </a:p>
          <a:p>
            <a:r>
              <a:rPr lang="es-CO" sz="1100" dirty="0"/>
              <a:t>4.- Usar cursos divididos: </a:t>
            </a:r>
            <a:r>
              <a:rPr lang="es-419" sz="1100" dirty="0"/>
              <a:t>Active el campo indicado para que los créditos adicionales sean contabilizados</a:t>
            </a:r>
          </a:p>
          <a:p>
            <a:r>
              <a:rPr lang="es-419" sz="1100" dirty="0"/>
              <a:t>5.- Contar en PGA: </a:t>
            </a:r>
            <a:r>
              <a:rPr lang="es-CO" sz="1100" dirty="0"/>
              <a:t>Se activa  el campo Contar en GPA si desea que esa asignatura se incluya en el cálculo del promedio del estudiante</a:t>
            </a:r>
            <a:br>
              <a:rPr lang="es-419" sz="1100" dirty="0"/>
            </a:br>
            <a:endParaRPr lang="es-419" sz="1100" dirty="0"/>
          </a:p>
          <a:p>
            <a:r>
              <a:rPr lang="es-CO" sz="1100" dirty="0"/>
              <a:t>6.-Para incorporar más de un curso a la regla, presione el botón  “ Insertar” e ingrese los códigos correspondientes </a:t>
            </a:r>
            <a:endParaRPr lang="es-ES_tradnl" sz="1100" dirty="0"/>
          </a:p>
          <a:p>
            <a:endParaRPr lang="es-ES_tradnl" sz="1100" dirty="0"/>
          </a:p>
          <a:p>
            <a:endParaRPr lang="es-CL" sz="1100" dirty="0"/>
          </a:p>
        </p:txBody>
      </p:sp>
      <p:sp>
        <p:nvSpPr>
          <p:cNvPr id="2" name="Rectángulo redondeado 15">
            <a:extLst>
              <a:ext uri="{FF2B5EF4-FFF2-40B4-BE49-F238E27FC236}">
                <a16:creationId xmlns:a16="http://schemas.microsoft.com/office/drawing/2014/main" id="{6C09A80E-48AA-1D71-69E1-76462D5568F8}"/>
              </a:ext>
            </a:extLst>
          </p:cNvPr>
          <p:cNvSpPr/>
          <p:nvPr/>
        </p:nvSpPr>
        <p:spPr>
          <a:xfrm>
            <a:off x="6094687" y="2128401"/>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514A007D-04D5-D40E-19CB-124568F1B60C}"/>
              </a:ext>
            </a:extLst>
          </p:cNvPr>
          <p:cNvSpPr/>
          <p:nvPr/>
        </p:nvSpPr>
        <p:spPr>
          <a:xfrm>
            <a:off x="1791769" y="2574122"/>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8" name="Rectángulo redondeado 15">
            <a:extLst>
              <a:ext uri="{FF2B5EF4-FFF2-40B4-BE49-F238E27FC236}">
                <a16:creationId xmlns:a16="http://schemas.microsoft.com/office/drawing/2014/main" id="{03E233E9-B23A-D193-87E0-A799896093D1}"/>
              </a:ext>
            </a:extLst>
          </p:cNvPr>
          <p:cNvSpPr/>
          <p:nvPr/>
        </p:nvSpPr>
        <p:spPr>
          <a:xfrm>
            <a:off x="2695094" y="3535058"/>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0" name="Rectángulo redondeado 15">
            <a:extLst>
              <a:ext uri="{FF2B5EF4-FFF2-40B4-BE49-F238E27FC236}">
                <a16:creationId xmlns:a16="http://schemas.microsoft.com/office/drawing/2014/main" id="{FDE0EEE4-6B12-CD0F-3D6F-E1262CE69338}"/>
              </a:ext>
            </a:extLst>
          </p:cNvPr>
          <p:cNvSpPr/>
          <p:nvPr/>
        </p:nvSpPr>
        <p:spPr>
          <a:xfrm>
            <a:off x="1277641" y="4100396"/>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1" name="Rectángulo redondeado 15">
            <a:extLst>
              <a:ext uri="{FF2B5EF4-FFF2-40B4-BE49-F238E27FC236}">
                <a16:creationId xmlns:a16="http://schemas.microsoft.com/office/drawing/2014/main" id="{4D832C45-DD15-AC04-B7DD-75E03A14CE21}"/>
              </a:ext>
            </a:extLst>
          </p:cNvPr>
          <p:cNvSpPr/>
          <p:nvPr/>
        </p:nvSpPr>
        <p:spPr>
          <a:xfrm>
            <a:off x="10089104" y="4100396"/>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2" name="Rectángulo redondeado 15">
            <a:extLst>
              <a:ext uri="{FF2B5EF4-FFF2-40B4-BE49-F238E27FC236}">
                <a16:creationId xmlns:a16="http://schemas.microsoft.com/office/drawing/2014/main" id="{650B02A8-967D-FC7B-0086-AF94EE4DEF87}"/>
              </a:ext>
            </a:extLst>
          </p:cNvPr>
          <p:cNvSpPr/>
          <p:nvPr/>
        </p:nvSpPr>
        <p:spPr>
          <a:xfrm>
            <a:off x="9964908" y="1763055"/>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5" name="Rectángulo 14">
            <a:extLst>
              <a:ext uri="{FF2B5EF4-FFF2-40B4-BE49-F238E27FC236}">
                <a16:creationId xmlns:a16="http://schemas.microsoft.com/office/drawing/2014/main" id="{929CC5DE-9088-EACF-1DA3-6151260E1876}"/>
              </a:ext>
            </a:extLst>
          </p:cNvPr>
          <p:cNvSpPr/>
          <p:nvPr/>
        </p:nvSpPr>
        <p:spPr>
          <a:xfrm>
            <a:off x="10306455" y="1763055"/>
            <a:ext cx="217351" cy="20544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95660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0"/>
          </p:nvPr>
        </p:nvSpPr>
        <p:spPr/>
        <p:txBody>
          <a:bodyPr/>
          <a:lstStyle/>
          <a:p>
            <a:r>
              <a:rPr lang="es-419" dirty="0"/>
              <a:t>Requerimientos de programa – Requerimientos generales</a:t>
            </a:r>
            <a:endParaRPr lang="en-US" dirty="0"/>
          </a:p>
        </p:txBody>
      </p:sp>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sz="quarter" idx="11"/>
          </p:nvPr>
        </p:nvSpPr>
        <p:spPr>
          <a:xfrm>
            <a:off x="914399" y="3750468"/>
            <a:ext cx="10363202" cy="519951"/>
          </a:xfrm>
        </p:spPr>
        <p:txBody>
          <a:bodyPr/>
          <a:lstStyle/>
          <a:p>
            <a:r>
              <a:rPr lang="es-ES" sz="3200" dirty="0"/>
              <a:t>Crear las mallas curriculares</a:t>
            </a:r>
            <a:endParaRPr lang="en-US" sz="3200" dirty="0"/>
          </a:p>
        </p:txBody>
      </p:sp>
    </p:spTree>
    <p:extLst>
      <p:ext uri="{BB962C8B-B14F-4D97-AF65-F5344CB8AC3E}">
        <p14:creationId xmlns:p14="http://schemas.microsoft.com/office/powerpoint/2010/main" val="1241030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A4BB7A3-E48C-FA1D-102F-326C90F83E7A}"/>
              </a:ext>
            </a:extLst>
          </p:cNvPr>
          <p:cNvPicPr>
            <a:picLocks noChangeAspect="1"/>
          </p:cNvPicPr>
          <p:nvPr/>
        </p:nvPicPr>
        <p:blipFill>
          <a:blip r:embed="rId2"/>
          <a:stretch>
            <a:fillRect/>
          </a:stretch>
        </p:blipFill>
        <p:spPr>
          <a:xfrm>
            <a:off x="933818" y="1443317"/>
            <a:ext cx="10058400" cy="453944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endParaRPr lang="es-ES" dirty="0"/>
          </a:p>
          <a:p>
            <a:r>
              <a:rPr lang="es-ES" sz="1200" dirty="0"/>
              <a:t>Crear las mallas curriculares</a:t>
            </a:r>
            <a:endParaRPr lang="en-US" dirty="0"/>
          </a:p>
          <a:p>
            <a:endParaRPr lang="es-CL"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27</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SMAPROG</a:t>
            </a:r>
            <a:r>
              <a:rPr lang="es-ES_tradnl" sz="3000" b="1" dirty="0"/>
              <a:t> R</a:t>
            </a:r>
            <a:r>
              <a:rPr lang="es-ES_tradnl" sz="3000" dirty="0"/>
              <a:t>equerimientos de programa – Requerimientos generales</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1608602" y="4285131"/>
            <a:ext cx="7365565" cy="112955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100" dirty="0"/>
              <a:t>Requerimientos de programa, se define los requerimientos generales del programa para ingresar debe:</a:t>
            </a:r>
            <a:br>
              <a:rPr lang="es-ES" sz="1100" dirty="0"/>
            </a:br>
            <a:br>
              <a:rPr lang="es-ES" sz="1100" dirty="0"/>
            </a:br>
            <a:r>
              <a:rPr lang="es-ES" sz="1100" dirty="0"/>
              <a:t>1. Programa</a:t>
            </a:r>
          </a:p>
          <a:p>
            <a:r>
              <a:rPr lang="es-ES" sz="1100" dirty="0"/>
              <a:t>2. </a:t>
            </a:r>
            <a:r>
              <a:rPr lang="es-CO" sz="1100" dirty="0"/>
              <a:t>Periodo</a:t>
            </a:r>
          </a:p>
          <a:p>
            <a:pPr algn="just"/>
            <a:r>
              <a:rPr lang="es-CL" sz="1100" dirty="0"/>
              <a:t>3. Presionar “Ir”</a:t>
            </a:r>
            <a:endParaRPr lang="es-CO" sz="1100" dirty="0"/>
          </a:p>
        </p:txBody>
      </p:sp>
      <p:sp>
        <p:nvSpPr>
          <p:cNvPr id="2" name="Rectángulo redondeado 15">
            <a:extLst>
              <a:ext uri="{FF2B5EF4-FFF2-40B4-BE49-F238E27FC236}">
                <a16:creationId xmlns:a16="http://schemas.microsoft.com/office/drawing/2014/main" id="{8F35EB8A-E644-537C-4B98-C47546712F9E}"/>
              </a:ext>
            </a:extLst>
          </p:cNvPr>
          <p:cNvSpPr/>
          <p:nvPr/>
        </p:nvSpPr>
        <p:spPr>
          <a:xfrm>
            <a:off x="1091106" y="1987962"/>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E4851373-BD82-60F9-D2F0-CC2B0D1FDE34}"/>
              </a:ext>
            </a:extLst>
          </p:cNvPr>
          <p:cNvSpPr/>
          <p:nvPr/>
        </p:nvSpPr>
        <p:spPr>
          <a:xfrm>
            <a:off x="5597168" y="1987962"/>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redondeado 15">
            <a:extLst>
              <a:ext uri="{FF2B5EF4-FFF2-40B4-BE49-F238E27FC236}">
                <a16:creationId xmlns:a16="http://schemas.microsoft.com/office/drawing/2014/main" id="{297E2FE7-8746-EF9B-E9EB-831C00EE578F}"/>
              </a:ext>
            </a:extLst>
          </p:cNvPr>
          <p:cNvSpPr/>
          <p:nvPr/>
        </p:nvSpPr>
        <p:spPr>
          <a:xfrm>
            <a:off x="10449923" y="1987962"/>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Tree>
    <p:extLst>
      <p:ext uri="{BB962C8B-B14F-4D97-AF65-F5344CB8AC3E}">
        <p14:creationId xmlns:p14="http://schemas.microsoft.com/office/powerpoint/2010/main" val="2797717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0657744F-C99F-1A79-6BEA-6A2E8DB50E38}"/>
              </a:ext>
            </a:extLst>
          </p:cNvPr>
          <p:cNvPicPr>
            <a:picLocks noChangeAspect="1"/>
          </p:cNvPicPr>
          <p:nvPr/>
        </p:nvPicPr>
        <p:blipFill>
          <a:blip r:embed="rId2"/>
          <a:stretch>
            <a:fillRect/>
          </a:stretch>
        </p:blipFill>
        <p:spPr>
          <a:xfrm>
            <a:off x="800411" y="1477005"/>
            <a:ext cx="10591178" cy="20663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endParaRPr lang="es-ES" dirty="0"/>
          </a:p>
          <a:p>
            <a:r>
              <a:rPr lang="es-ES" sz="1200" dirty="0"/>
              <a:t>Crear las mallas curriculares</a:t>
            </a:r>
            <a:endParaRPr lang="en-US" dirty="0"/>
          </a:p>
          <a:p>
            <a:endParaRPr lang="es-CL"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28</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SMAPROG</a:t>
            </a:r>
            <a:r>
              <a:rPr lang="es-ES_tradnl" sz="3000" b="1" dirty="0"/>
              <a:t> R</a:t>
            </a:r>
            <a:r>
              <a:rPr lang="es-ES_tradnl" sz="3000" dirty="0"/>
              <a:t>equerimientos de programa – Requerimientos generales 1/4</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810247" y="4616824"/>
            <a:ext cx="10691471" cy="173952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100" dirty="0"/>
              <a:t>REQUERIMIENTOS GENERALES , Se define los requerimientos generales del programa.</a:t>
            </a:r>
            <a:br>
              <a:rPr lang="es-ES" sz="1100" b="1" dirty="0"/>
            </a:br>
            <a:br>
              <a:rPr lang="es-ES" sz="1100" b="1" dirty="0"/>
            </a:br>
            <a:r>
              <a:rPr lang="es-ES" sz="1100" b="1" dirty="0"/>
              <a:t>1.   Activo/Inactivo</a:t>
            </a:r>
            <a:r>
              <a:rPr lang="es-ES" sz="1100" dirty="0"/>
              <a:t>:</a:t>
            </a:r>
            <a:r>
              <a:rPr lang="es-ES" sz="1100" b="1" dirty="0"/>
              <a:t> </a:t>
            </a:r>
            <a:r>
              <a:rPr lang="es-ES" sz="1100" dirty="0"/>
              <a:t>Se marca para activar y poder usar el área</a:t>
            </a:r>
          </a:p>
          <a:p>
            <a:pPr marL="228600" indent="-228600" algn="just">
              <a:buAutoNum type="arabicPeriod" startAt="2"/>
            </a:pPr>
            <a:r>
              <a:rPr lang="es-CL" sz="1100" b="1" dirty="0"/>
              <a:t>Código de modelo de inscripción: </a:t>
            </a:r>
            <a:r>
              <a:rPr lang="es-ES" sz="1100" dirty="0"/>
              <a:t>Se indica el modelo </a:t>
            </a:r>
            <a:r>
              <a:rPr lang="es-CO" sz="1100" dirty="0"/>
              <a:t>que aplicará para la inscripción de los estudiantes:</a:t>
            </a:r>
          </a:p>
          <a:p>
            <a:pPr algn="just"/>
            <a:endParaRPr lang="es-CL" sz="1100" dirty="0"/>
          </a:p>
          <a:p>
            <a:pPr marL="171450" indent="-171450">
              <a:buFont typeface="Arial" panose="020B0604020202020204" pitchFamily="34" charset="0"/>
              <a:buChar char="•"/>
            </a:pPr>
            <a:r>
              <a:rPr lang="es-CO" sz="1100" dirty="0"/>
              <a:t>“Básica”: si la inscripción va a ser curso por curso</a:t>
            </a:r>
          </a:p>
          <a:p>
            <a:pPr marL="171450" indent="-171450">
              <a:buFont typeface="Arial" panose="020B0604020202020204" pitchFamily="34" charset="0"/>
              <a:buChar char="•"/>
            </a:pPr>
            <a:r>
              <a:rPr lang="es-CO" sz="1100" dirty="0"/>
              <a:t>“Inscripción Estructurada”: Si la inscripción va a realizarse por bloque de curso</a:t>
            </a:r>
          </a:p>
          <a:p>
            <a:pPr marL="171450" indent="-171450">
              <a:buFont typeface="Arial" panose="020B0604020202020204" pitchFamily="34" charset="0"/>
              <a:buChar char="•"/>
            </a:pPr>
            <a:r>
              <a:rPr lang="es-CO" sz="1100" dirty="0"/>
              <a:t>“Proyectada”: si la inscripción va a basarse en la proyección de cursos del estudiante</a:t>
            </a:r>
          </a:p>
          <a:p>
            <a:pPr algn="just"/>
            <a:endParaRPr lang="es-CL" sz="1100" dirty="0"/>
          </a:p>
          <a:p>
            <a:pPr marL="228600" indent="-228600" algn="just">
              <a:buAutoNum type="arabicPeriod" startAt="2"/>
            </a:pPr>
            <a:endParaRPr lang="es-CO" sz="1100" dirty="0"/>
          </a:p>
        </p:txBody>
      </p:sp>
      <p:sp>
        <p:nvSpPr>
          <p:cNvPr id="2" name="Rectángulo redondeado 15">
            <a:extLst>
              <a:ext uri="{FF2B5EF4-FFF2-40B4-BE49-F238E27FC236}">
                <a16:creationId xmlns:a16="http://schemas.microsoft.com/office/drawing/2014/main" id="{8F35EB8A-E644-537C-4B98-C47546712F9E}"/>
              </a:ext>
            </a:extLst>
          </p:cNvPr>
          <p:cNvSpPr/>
          <p:nvPr/>
        </p:nvSpPr>
        <p:spPr>
          <a:xfrm>
            <a:off x="810247" y="2671003"/>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E4851373-BD82-60F9-D2F0-CC2B0D1FDE34}"/>
              </a:ext>
            </a:extLst>
          </p:cNvPr>
          <p:cNvSpPr/>
          <p:nvPr/>
        </p:nvSpPr>
        <p:spPr>
          <a:xfrm>
            <a:off x="5829711" y="2671003"/>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3332961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F40E6AA-D4A7-8F8B-8073-E20A148EAD5D}"/>
              </a:ext>
            </a:extLst>
          </p:cNvPr>
          <p:cNvPicPr>
            <a:picLocks noChangeAspect="1"/>
          </p:cNvPicPr>
          <p:nvPr/>
        </p:nvPicPr>
        <p:blipFill>
          <a:blip r:embed="rId2"/>
          <a:stretch>
            <a:fillRect/>
          </a:stretch>
        </p:blipFill>
        <p:spPr>
          <a:xfrm>
            <a:off x="800411" y="1619880"/>
            <a:ext cx="10591178" cy="20663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endParaRPr lang="es-ES" dirty="0"/>
          </a:p>
          <a:p>
            <a:r>
              <a:rPr lang="es-ES" sz="1200" dirty="0"/>
              <a:t>Crear las mallas curriculares</a:t>
            </a:r>
            <a:endParaRPr lang="en-US" dirty="0"/>
          </a:p>
          <a:p>
            <a:endParaRPr lang="es-CL"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29</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SMAPROG</a:t>
            </a:r>
            <a:r>
              <a:rPr lang="es-ES_tradnl" sz="3000" b="1" dirty="0"/>
              <a:t> R</a:t>
            </a:r>
            <a:r>
              <a:rPr lang="es-ES_tradnl" sz="3000" dirty="0"/>
              <a:t>equerimientos de programa – Requerimientos generales 2</a:t>
            </a:r>
            <a:r>
              <a:rPr lang="es-ES_tradnl" sz="3200" dirty="0"/>
              <a:t>/4</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810247" y="5298224"/>
            <a:ext cx="10969377" cy="105812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100" dirty="0"/>
              <a:t>REQUERIMIENTOS GENERALES , Se define los requerimientos generales del programa.</a:t>
            </a:r>
            <a:br>
              <a:rPr lang="es-ES" sz="1100" b="1" dirty="0"/>
            </a:br>
            <a:br>
              <a:rPr lang="es-ES" sz="1100" b="1" dirty="0"/>
            </a:br>
            <a:r>
              <a:rPr lang="es-ES" sz="1100" b="1" dirty="0"/>
              <a:t>3. Cautivo: </a:t>
            </a:r>
            <a:r>
              <a:rPr lang="es-ES_tradnl" sz="1100" dirty="0"/>
              <a:t>Marque la opción </a:t>
            </a:r>
            <a:r>
              <a:rPr lang="es-CO" sz="1100" dirty="0"/>
              <a:t>si aplica para el Programa</a:t>
            </a:r>
            <a:r>
              <a:rPr lang="es-ES_tradnl" sz="1100" dirty="0"/>
              <a:t>, es decir, si todas las áreas asociadas para su cumplimento son las mismas para todos los alumnos</a:t>
            </a:r>
          </a:p>
          <a:p>
            <a:r>
              <a:rPr lang="es-ES_tradnl" sz="1100" b="1" dirty="0"/>
              <a:t>4</a:t>
            </a:r>
            <a:r>
              <a:rPr lang="es-ES_tradnl" sz="1100" dirty="0"/>
              <a:t>. </a:t>
            </a:r>
            <a:r>
              <a:rPr lang="es-CL" sz="1100" b="1" dirty="0"/>
              <a:t>Nivel de restricción de prerrequisito: </a:t>
            </a:r>
            <a:r>
              <a:rPr lang="es-ES" sz="1100" dirty="0"/>
              <a:t>Se selección </a:t>
            </a:r>
            <a:r>
              <a:rPr lang="es-CO" sz="1100" dirty="0"/>
              <a:t>la opción que corresponda dependiendo si los cursos del programa van a estar restringidos por “Catálogo”, “Programa” o “Programa y curso”</a:t>
            </a:r>
          </a:p>
          <a:p>
            <a:endParaRPr lang="es-CO" sz="1100" dirty="0"/>
          </a:p>
        </p:txBody>
      </p:sp>
      <p:sp>
        <p:nvSpPr>
          <p:cNvPr id="2" name="Rectángulo redondeado 15">
            <a:extLst>
              <a:ext uri="{FF2B5EF4-FFF2-40B4-BE49-F238E27FC236}">
                <a16:creationId xmlns:a16="http://schemas.microsoft.com/office/drawing/2014/main" id="{AED32F13-FC5B-6A63-33DF-5995F7C04558}"/>
              </a:ext>
            </a:extLst>
          </p:cNvPr>
          <p:cNvSpPr/>
          <p:nvPr/>
        </p:nvSpPr>
        <p:spPr>
          <a:xfrm>
            <a:off x="1317070" y="3145346"/>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8" name="Rectángulo redondeado 15">
            <a:extLst>
              <a:ext uri="{FF2B5EF4-FFF2-40B4-BE49-F238E27FC236}">
                <a16:creationId xmlns:a16="http://schemas.microsoft.com/office/drawing/2014/main" id="{5798FEF4-16B8-5CCE-3CED-DC6801D2E193}"/>
              </a:ext>
            </a:extLst>
          </p:cNvPr>
          <p:cNvSpPr/>
          <p:nvPr/>
        </p:nvSpPr>
        <p:spPr>
          <a:xfrm>
            <a:off x="5837512" y="3145346"/>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1875516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29206B34-8577-8299-92E9-680BB3E821F9}"/>
              </a:ext>
            </a:extLst>
          </p:cNvPr>
          <p:cNvPicPr>
            <a:picLocks noChangeAspect="1"/>
          </p:cNvPicPr>
          <p:nvPr/>
        </p:nvPicPr>
        <p:blipFill>
          <a:blip r:embed="rId2"/>
          <a:stretch>
            <a:fillRect/>
          </a:stretch>
        </p:blipFill>
        <p:spPr>
          <a:xfrm>
            <a:off x="961532" y="1314449"/>
            <a:ext cx="10120598" cy="45339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endParaRPr lang="es-ES" dirty="0"/>
          </a:p>
          <a:p>
            <a:r>
              <a:rPr lang="es-ES" sz="1200" dirty="0"/>
              <a:t>Crear las mallas curriculares</a:t>
            </a:r>
            <a:endParaRPr lang="en-US" dirty="0"/>
          </a:p>
          <a:p>
            <a:endParaRPr lang="es-CL"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30</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ES_tradnl" sz="3000" dirty="0"/>
              <a:t>SMAPROG</a:t>
            </a:r>
            <a:r>
              <a:rPr lang="es-ES_tradnl" sz="3000" b="1" dirty="0"/>
              <a:t> R</a:t>
            </a:r>
            <a:r>
              <a:rPr lang="es-ES_tradnl" sz="3000" dirty="0"/>
              <a:t>equerimientos de programa – Requerimientos generales 3</a:t>
            </a:r>
            <a:r>
              <a:rPr lang="es-ES_tradnl" sz="3200" dirty="0"/>
              <a:t>/4</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1150906" y="4923999"/>
            <a:ext cx="8226177" cy="143235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100" dirty="0"/>
              <a:t>REQUERIMIENTOS GENERALES , Se define los requerimientos generales del programa.</a:t>
            </a:r>
            <a:br>
              <a:rPr lang="es-ES" sz="1100" b="1" dirty="0"/>
            </a:br>
            <a:br>
              <a:rPr lang="es-ES" sz="1100" b="1" dirty="0"/>
            </a:br>
            <a:r>
              <a:rPr lang="es-ES" sz="1100" b="1" dirty="0"/>
              <a:t>5. Total requerido: </a:t>
            </a:r>
            <a:r>
              <a:rPr lang="es-ES_tradnl" sz="1100" dirty="0"/>
              <a:t>Se ingresa la cantidad de créditos y/o cursos totales que se deben aprobar para cumplir con el programa.</a:t>
            </a:r>
          </a:p>
          <a:p>
            <a:r>
              <a:rPr lang="es-ES_tradnl" sz="1100" dirty="0"/>
              <a:t>Según la condición que corresponda, debe seleccionar un conector en cada uno de los renglones que aplique:</a:t>
            </a:r>
          </a:p>
          <a:p>
            <a:pPr marL="171450" indent="-171450">
              <a:buFont typeface="Arial" panose="020B0604020202020204" pitchFamily="34" charset="0"/>
              <a:buChar char="•"/>
            </a:pPr>
            <a:r>
              <a:rPr lang="es-CO" sz="1100" dirty="0"/>
              <a:t>“Ninguno”, si se requieren sólo créditos o sólo cursos (solamente uno de los campos debe estar lleno)</a:t>
            </a:r>
          </a:p>
          <a:p>
            <a:pPr marL="171450" indent="-171450">
              <a:buFont typeface="Arial" panose="020B0604020202020204" pitchFamily="34" charset="0"/>
              <a:buChar char="•"/>
            </a:pPr>
            <a:r>
              <a:rPr lang="es-CO" sz="1100" dirty="0"/>
              <a:t>“Y”, si se requieren créditos y cursos (debe haber valores en ambos campos)</a:t>
            </a:r>
          </a:p>
          <a:p>
            <a:pPr marL="171450" indent="-171450">
              <a:buFont typeface="Arial" panose="020B0604020202020204" pitchFamily="34" charset="0"/>
              <a:buChar char="•"/>
            </a:pPr>
            <a:r>
              <a:rPr lang="es-CO" sz="1100" dirty="0"/>
              <a:t>“O”, si se requieren créditos o cursos (debe haber valores en ambos campos)</a:t>
            </a:r>
          </a:p>
        </p:txBody>
      </p:sp>
      <p:sp>
        <p:nvSpPr>
          <p:cNvPr id="2" name="Rectángulo redondeado 15">
            <a:extLst>
              <a:ext uri="{FF2B5EF4-FFF2-40B4-BE49-F238E27FC236}">
                <a16:creationId xmlns:a16="http://schemas.microsoft.com/office/drawing/2014/main" id="{59C57FB4-D9EB-B2B8-7A26-0E0783003068}"/>
              </a:ext>
            </a:extLst>
          </p:cNvPr>
          <p:cNvSpPr/>
          <p:nvPr/>
        </p:nvSpPr>
        <p:spPr>
          <a:xfrm>
            <a:off x="867429" y="3431099"/>
            <a:ext cx="188206" cy="15030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1624792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AD507DDA-A47C-F86C-5362-FD45ADF0019A}"/>
              </a:ext>
            </a:extLst>
          </p:cNvPr>
          <p:cNvPicPr>
            <a:picLocks noChangeAspect="1"/>
          </p:cNvPicPr>
          <p:nvPr/>
        </p:nvPicPr>
        <p:blipFill>
          <a:blip r:embed="rId2"/>
          <a:stretch>
            <a:fillRect/>
          </a:stretch>
        </p:blipFill>
        <p:spPr>
          <a:xfrm>
            <a:off x="939327" y="1352550"/>
            <a:ext cx="9895374" cy="448287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endParaRPr lang="es-ES" dirty="0"/>
          </a:p>
          <a:p>
            <a:r>
              <a:rPr lang="es-ES" sz="1200" dirty="0"/>
              <a:t>Crear las mallas curriculares</a:t>
            </a:r>
            <a:endParaRPr lang="en-US" dirty="0"/>
          </a:p>
          <a:p>
            <a:endParaRPr lang="es-CL"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31</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729565" y="278588"/>
            <a:ext cx="10271883" cy="626165"/>
          </a:xfrm>
        </p:spPr>
        <p:txBody>
          <a:bodyPr/>
          <a:lstStyle/>
          <a:p>
            <a:r>
              <a:rPr lang="es-ES_tradnl" sz="3200" b="0" dirty="0"/>
              <a:t>Configuraciones: </a:t>
            </a:r>
            <a:r>
              <a:rPr lang="es-ES_tradnl" sz="3000" dirty="0"/>
              <a:t>SMAPROG</a:t>
            </a:r>
            <a:r>
              <a:rPr lang="es-ES_tradnl" sz="3000" b="1" dirty="0"/>
              <a:t> R</a:t>
            </a:r>
            <a:r>
              <a:rPr lang="es-ES_tradnl" sz="3000" dirty="0"/>
              <a:t>equerimientos de programa – Requerimientos generales 4/4</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626790" y="3054325"/>
            <a:ext cx="10790082" cy="122502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100" dirty="0"/>
              <a:t>REQUERIMIENTOS GENERALES , Se define los requerimientos generales del </a:t>
            </a:r>
            <a:r>
              <a:rPr lang="es-ES" sz="1100"/>
              <a:t>programa.</a:t>
            </a:r>
            <a:br>
              <a:rPr lang="es-ES" sz="1100" dirty="0"/>
            </a:br>
            <a:br>
              <a:rPr lang="es-ES" sz="1100"/>
            </a:br>
            <a:r>
              <a:rPr lang="es-ES" sz="1100"/>
              <a:t>6</a:t>
            </a:r>
            <a:r>
              <a:rPr lang="es-ES" sz="1100" dirty="0"/>
              <a:t>. Calificación mínima de curso</a:t>
            </a:r>
            <a:r>
              <a:rPr lang="es-ES" sz="1100"/>
              <a:t>: </a:t>
            </a:r>
            <a:r>
              <a:rPr lang="es-ES_tradnl" sz="1100"/>
              <a:t>Se </a:t>
            </a:r>
            <a:r>
              <a:rPr lang="es-CO" sz="1100" dirty="0"/>
              <a:t>la calificación mínima aprobatoria con la que se deben aprobar los cursos que comprendan el programa</a:t>
            </a:r>
            <a:r>
              <a:rPr lang="es-CO" sz="1100"/>
              <a:t>. </a:t>
            </a:r>
            <a:r>
              <a:rPr lang="es-CO" sz="1100" dirty="0"/>
              <a:t>Si no se ingresa este dato, el sistema tomará lo definido </a:t>
            </a:r>
            <a:r>
              <a:rPr lang="es-CO" sz="1100"/>
              <a:t>en SMAAREA</a:t>
            </a:r>
            <a:r>
              <a:rPr lang="es-ES_tradnl" sz="1100" dirty="0"/>
              <a:t>.</a:t>
            </a:r>
          </a:p>
          <a:p>
            <a:r>
              <a:rPr lang="es-ES_tradnl" sz="1100" dirty="0"/>
              <a:t>7</a:t>
            </a:r>
            <a:r>
              <a:rPr lang="es-ES_tradnl" sz="1100"/>
              <a:t>. </a:t>
            </a:r>
            <a:r>
              <a:rPr lang="es-ES_tradnl" sz="1100" dirty="0"/>
              <a:t>PGA mínimo de programa</a:t>
            </a:r>
            <a:r>
              <a:rPr lang="es-ES_tradnl" sz="1100"/>
              <a:t>: </a:t>
            </a:r>
            <a:r>
              <a:rPr lang="es-ES_tradnl" sz="1100" dirty="0"/>
              <a:t>Se </a:t>
            </a:r>
            <a:r>
              <a:rPr lang="es-ES_tradnl" sz="1100"/>
              <a:t>indica </a:t>
            </a:r>
            <a:r>
              <a:rPr lang="es-CO" sz="1100" dirty="0"/>
              <a:t>el promedio mínimo que debe tener un estudiante para cumplir con el programa</a:t>
            </a:r>
            <a:r>
              <a:rPr lang="es-CO" sz="1100"/>
              <a:t>. </a:t>
            </a:r>
            <a:r>
              <a:rPr lang="es-CO" sz="1100" dirty="0"/>
              <a:t>Este campo no es obligatorio.</a:t>
            </a:r>
          </a:p>
          <a:p>
            <a:r>
              <a:rPr lang="es-CO" sz="1100" dirty="0"/>
              <a:t>8</a:t>
            </a:r>
            <a:r>
              <a:rPr lang="es-CO" sz="1100"/>
              <a:t>. </a:t>
            </a:r>
            <a:r>
              <a:rPr lang="es-ES_tradnl" sz="1100" dirty="0"/>
              <a:t>Finalmente se deben guardar todos los registros </a:t>
            </a:r>
            <a:r>
              <a:rPr lang="es-ES_tradnl" sz="1100"/>
              <a:t>creados.</a:t>
            </a:r>
            <a:endParaRPr lang="es-CO" sz="1100" dirty="0"/>
          </a:p>
        </p:txBody>
      </p:sp>
      <p:sp>
        <p:nvSpPr>
          <p:cNvPr id="2" name="Rectángulo redondeado 15">
            <a:extLst>
              <a:ext uri="{FF2B5EF4-FFF2-40B4-BE49-F238E27FC236}">
                <a16:creationId xmlns:a16="http://schemas.microsoft.com/office/drawing/2014/main" id="{E20A580D-5156-40F8-F8F9-D79D3DB4A530}"/>
              </a:ext>
            </a:extLst>
          </p:cNvPr>
          <p:cNvSpPr/>
          <p:nvPr/>
        </p:nvSpPr>
        <p:spPr>
          <a:xfrm>
            <a:off x="682241" y="4835439"/>
            <a:ext cx="199504" cy="2219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1" name="Rectangle 10">
            <a:extLst>
              <a:ext uri="{FF2B5EF4-FFF2-40B4-BE49-F238E27FC236}">
                <a16:creationId xmlns:a16="http://schemas.microsoft.com/office/drawing/2014/main" id="{FDD77AF3-95A0-1EDE-F35C-26ED93DAEBBF}"/>
              </a:ext>
            </a:extLst>
          </p:cNvPr>
          <p:cNvSpPr/>
          <p:nvPr/>
        </p:nvSpPr>
        <p:spPr>
          <a:xfrm>
            <a:off x="10307572" y="5536556"/>
            <a:ext cx="637942" cy="221947"/>
          </a:xfrm>
          <a:prstGeom prst="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s-419"/>
          </a:p>
        </p:txBody>
      </p:sp>
      <p:sp>
        <p:nvSpPr>
          <p:cNvPr id="12" name="Rectángulo redondeado 15">
            <a:extLst>
              <a:ext uri="{FF2B5EF4-FFF2-40B4-BE49-F238E27FC236}">
                <a16:creationId xmlns:a16="http://schemas.microsoft.com/office/drawing/2014/main" id="{49ABEEF3-2A5D-B962-4928-C58651C746DF}"/>
              </a:ext>
            </a:extLst>
          </p:cNvPr>
          <p:cNvSpPr/>
          <p:nvPr/>
        </p:nvSpPr>
        <p:spPr>
          <a:xfrm>
            <a:off x="667183" y="5177224"/>
            <a:ext cx="199504" cy="2219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3" name="Rectángulo redondeado 15">
            <a:extLst>
              <a:ext uri="{FF2B5EF4-FFF2-40B4-BE49-F238E27FC236}">
                <a16:creationId xmlns:a16="http://schemas.microsoft.com/office/drawing/2014/main" id="{B8B1A602-5E15-31F7-1995-7EBEC4BB5AE5}"/>
              </a:ext>
            </a:extLst>
          </p:cNvPr>
          <p:cNvSpPr/>
          <p:nvPr/>
        </p:nvSpPr>
        <p:spPr>
          <a:xfrm>
            <a:off x="9556653" y="5500517"/>
            <a:ext cx="199504" cy="22194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Tree>
    <p:extLst>
      <p:ext uri="{BB962C8B-B14F-4D97-AF65-F5344CB8AC3E}">
        <p14:creationId xmlns:p14="http://schemas.microsoft.com/office/powerpoint/2010/main" val="2262259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0"/>
          </p:nvPr>
        </p:nvSpPr>
        <p:spPr/>
        <p:txBody>
          <a:bodyPr/>
          <a:lstStyle/>
          <a:p>
            <a:r>
              <a:rPr lang="es-419" dirty="0"/>
              <a:t>Requerimientos de programa – Anexos de áreas de programa</a:t>
            </a:r>
            <a:endParaRPr lang="en-US" dirty="0"/>
          </a:p>
        </p:txBody>
      </p:sp>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sz="quarter" idx="11"/>
          </p:nvPr>
        </p:nvSpPr>
        <p:spPr>
          <a:xfrm>
            <a:off x="914399" y="3750468"/>
            <a:ext cx="10363202" cy="519951"/>
          </a:xfrm>
        </p:spPr>
        <p:txBody>
          <a:bodyPr/>
          <a:lstStyle/>
          <a:p>
            <a:r>
              <a:rPr lang="es-ES" sz="3200" dirty="0"/>
              <a:t>Crear las mallas curriculares</a:t>
            </a:r>
            <a:endParaRPr lang="en-US" sz="3200" dirty="0"/>
          </a:p>
        </p:txBody>
      </p:sp>
    </p:spTree>
    <p:extLst>
      <p:ext uri="{BB962C8B-B14F-4D97-AF65-F5344CB8AC3E}">
        <p14:creationId xmlns:p14="http://schemas.microsoft.com/office/powerpoint/2010/main" val="1379070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EAC9B0F1-8BBD-A87B-4FA2-B92B6C42E4C8}"/>
              </a:ext>
            </a:extLst>
          </p:cNvPr>
          <p:cNvPicPr>
            <a:picLocks noChangeAspect="1"/>
          </p:cNvPicPr>
          <p:nvPr/>
        </p:nvPicPr>
        <p:blipFill>
          <a:blip r:embed="rId2"/>
          <a:stretch>
            <a:fillRect/>
          </a:stretch>
        </p:blipFill>
        <p:spPr>
          <a:xfrm>
            <a:off x="845324" y="1364758"/>
            <a:ext cx="10501351" cy="35479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endParaRPr lang="es-ES" dirty="0"/>
          </a:p>
          <a:p>
            <a:r>
              <a:rPr lang="es-ES" sz="1200" dirty="0"/>
              <a:t>Crear las mallas curriculares</a:t>
            </a:r>
            <a:endParaRPr lang="en-US" dirty="0"/>
          </a:p>
          <a:p>
            <a:endParaRPr lang="es-CL"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33</a:t>
            </a:fld>
            <a:endParaRPr lang="en-US"/>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747494" y="372717"/>
            <a:ext cx="10271883" cy="626165"/>
          </a:xfrm>
        </p:spPr>
        <p:txBody>
          <a:bodyPr/>
          <a:lstStyle/>
          <a:p>
            <a:r>
              <a:rPr lang="es-ES_tradnl" sz="3200" b="0" dirty="0"/>
              <a:t>Configuraciones: </a:t>
            </a:r>
            <a:r>
              <a:rPr lang="es-ES_tradnl" sz="3000" dirty="0"/>
              <a:t>SMAPROG</a:t>
            </a:r>
            <a:r>
              <a:rPr lang="es-ES_tradnl" sz="3000" b="1" dirty="0"/>
              <a:t> Requerimientos de programa–</a:t>
            </a:r>
            <a:r>
              <a:rPr lang="es-ES_tradnl" sz="3000" dirty="0"/>
              <a:t>Anexos de área de programa</a:t>
            </a:r>
            <a:br>
              <a:rPr lang="es-CL" b="1" dirty="0">
                <a:effectLst/>
              </a:rPr>
            </a:br>
            <a:endParaRPr lang="es-CL" dirty="0"/>
          </a:p>
        </p:txBody>
      </p:sp>
      <p:sp>
        <p:nvSpPr>
          <p:cNvPr id="7" name="Rectángulo: esquinas redondeadas 6">
            <a:extLst>
              <a:ext uri="{FF2B5EF4-FFF2-40B4-BE49-F238E27FC236}">
                <a16:creationId xmlns:a16="http://schemas.microsoft.com/office/drawing/2014/main" id="{81384B68-849F-CBFC-1490-3CD51BDD1B51}"/>
              </a:ext>
            </a:extLst>
          </p:cNvPr>
          <p:cNvSpPr/>
          <p:nvPr/>
        </p:nvSpPr>
        <p:spPr>
          <a:xfrm>
            <a:off x="810247" y="5072331"/>
            <a:ext cx="10749149" cy="98341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s-ES" sz="1100" dirty="0"/>
              <a:t>ANEXOS DE ÁREA DE PROGRAMA, Se </a:t>
            </a:r>
            <a:r>
              <a:rPr lang="es-CO" sz="1100" dirty="0"/>
              <a:t>asociarán las áreas correspondientes al cumplimiento de este.</a:t>
            </a:r>
            <a:endParaRPr lang="en-US" sz="1800" dirty="0">
              <a:solidFill>
                <a:srgbClr val="340040"/>
              </a:solidFill>
              <a:effectLst/>
              <a:latin typeface="Arial" panose="020B0604020202020204" pitchFamily="34" charset="0"/>
              <a:ea typeface="Calibri" panose="020F0502020204030204" pitchFamily="34" charset="0"/>
              <a:cs typeface="Times New Roman (Body CS)"/>
            </a:endParaRPr>
          </a:p>
          <a:p>
            <a:br>
              <a:rPr lang="es-ES" sz="1100" b="1" dirty="0"/>
            </a:br>
            <a:r>
              <a:rPr lang="es-ES" sz="1100" b="1" dirty="0"/>
              <a:t>1.   Área: </a:t>
            </a:r>
            <a:r>
              <a:rPr lang="es-ES" sz="1100" dirty="0"/>
              <a:t>S</a:t>
            </a:r>
            <a:r>
              <a:rPr lang="es-419" sz="1100" dirty="0"/>
              <a:t>e ingresan los códigos de áreas</a:t>
            </a:r>
            <a:r>
              <a:rPr lang="es-CO" sz="1100" dirty="0"/>
              <a:t> que se debe aprobar para el cumplimiento del programa y adicionalmente áreas dinámicas en caso de que el programa lo requiera. </a:t>
            </a:r>
            <a:endParaRPr lang="es-ES" sz="1100" dirty="0"/>
          </a:p>
          <a:p>
            <a:pPr marL="228600" indent="-228600" algn="just">
              <a:buAutoNum type="arabicPeriod" startAt="2"/>
            </a:pPr>
            <a:r>
              <a:rPr lang="es-CL" sz="1100" b="1" dirty="0"/>
              <a:t>Prioridad: </a:t>
            </a:r>
            <a:r>
              <a:rPr lang="es-ES" sz="1100" dirty="0"/>
              <a:t>Se ingresa la prioridad por cada área para la revisión del cumplimiento. </a:t>
            </a:r>
            <a:endParaRPr lang="es-CL" sz="1100" dirty="0"/>
          </a:p>
        </p:txBody>
      </p:sp>
      <p:sp>
        <p:nvSpPr>
          <p:cNvPr id="2" name="Rectángulo redondeado 15">
            <a:extLst>
              <a:ext uri="{FF2B5EF4-FFF2-40B4-BE49-F238E27FC236}">
                <a16:creationId xmlns:a16="http://schemas.microsoft.com/office/drawing/2014/main" id="{ACEE781F-E8C1-2BE8-2FCF-3EB1B6AC3EDE}"/>
              </a:ext>
            </a:extLst>
          </p:cNvPr>
          <p:cNvSpPr/>
          <p:nvPr/>
        </p:nvSpPr>
        <p:spPr>
          <a:xfrm>
            <a:off x="1897251" y="2703310"/>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8" name="Rectángulo redondeado 15">
            <a:extLst>
              <a:ext uri="{FF2B5EF4-FFF2-40B4-BE49-F238E27FC236}">
                <a16:creationId xmlns:a16="http://schemas.microsoft.com/office/drawing/2014/main" id="{1497FC29-7CF5-D46C-C020-A926386DF02D}"/>
              </a:ext>
            </a:extLst>
          </p:cNvPr>
          <p:cNvSpPr/>
          <p:nvPr/>
        </p:nvSpPr>
        <p:spPr>
          <a:xfrm>
            <a:off x="3290239" y="2703310"/>
            <a:ext cx="217351" cy="20544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35297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15167F36-5ACC-B956-E903-7D3B8F9165DD}"/>
              </a:ext>
            </a:extLst>
          </p:cNvPr>
          <p:cNvSpPr>
            <a:spLocks noGrp="1"/>
          </p:cNvSpPr>
          <p:nvPr>
            <p:ph type="body" orient="vert" sz="quarter" idx="17"/>
          </p:nvPr>
        </p:nvSpPr>
        <p:spPr/>
        <p:txBody>
          <a:bodyPr/>
          <a:lstStyle/>
          <a:p>
            <a:endParaRPr lang="es-ES" dirty="0"/>
          </a:p>
          <a:p>
            <a:r>
              <a:rPr lang="es-ES" sz="1200" dirty="0"/>
              <a:t>Crear las mallas curriculares</a:t>
            </a:r>
            <a:endParaRPr lang="en-US" dirty="0"/>
          </a:p>
          <a:p>
            <a:endParaRPr lang="es-CO" dirty="0"/>
          </a:p>
        </p:txBody>
      </p:sp>
      <p:sp>
        <p:nvSpPr>
          <p:cNvPr id="5" name="Título 3">
            <a:extLst>
              <a:ext uri="{FF2B5EF4-FFF2-40B4-BE49-F238E27FC236}">
                <a16:creationId xmlns:a16="http://schemas.microsoft.com/office/drawing/2014/main" id="{872F36EB-E33C-69AD-7340-A02BC1A2274A}"/>
              </a:ext>
            </a:extLst>
          </p:cNvPr>
          <p:cNvSpPr txBox="1">
            <a:spLocks/>
          </p:cNvSpPr>
          <p:nvPr/>
        </p:nvSpPr>
        <p:spPr>
          <a:xfrm>
            <a:off x="960058" y="506221"/>
            <a:ext cx="10271883" cy="626165"/>
          </a:xfrm>
          <a:prstGeom prst="rect">
            <a:avLst/>
          </a:prstGeom>
        </p:spPr>
        <p:txBody>
          <a:bodyPr/>
          <a:lstStyle>
            <a:lvl1pPr algn="l" defTabSz="914400" rtl="0" eaLnBrk="1" latinLnBrk="0" hangingPunct="1">
              <a:lnSpc>
                <a:spcPct val="90000"/>
              </a:lnSpc>
              <a:spcBef>
                <a:spcPct val="0"/>
              </a:spcBef>
              <a:buNone/>
              <a:defRPr sz="4400" kern="1200">
                <a:solidFill>
                  <a:schemeClr val="tx2"/>
                </a:solidFill>
                <a:latin typeface="+mj-lt"/>
                <a:ea typeface="+mj-ea"/>
                <a:cs typeface="+mj-cs"/>
              </a:defRPr>
            </a:lvl1pPr>
          </a:lstStyle>
          <a:p>
            <a:r>
              <a:rPr lang="es-ES_tradnl" sz="3200" dirty="0"/>
              <a:t>Configuraciones: </a:t>
            </a:r>
            <a:r>
              <a:rPr lang="es-ES_tradnl" sz="3000" dirty="0"/>
              <a:t>SMAPROG</a:t>
            </a:r>
            <a:r>
              <a:rPr lang="es-ES_tradnl" sz="3000" b="1" dirty="0"/>
              <a:t> Requerimientos </a:t>
            </a:r>
            <a:r>
              <a:rPr lang="es-ES_tradnl" sz="3000" b="1" dirty="0" err="1"/>
              <a:t>Cocurriculares</a:t>
            </a:r>
            <a:r>
              <a:rPr lang="es-ES_tradnl" sz="3000" b="1" dirty="0"/>
              <a:t> del Programa</a:t>
            </a:r>
            <a:endParaRPr lang="es-CL" dirty="0"/>
          </a:p>
        </p:txBody>
      </p:sp>
      <p:sp>
        <p:nvSpPr>
          <p:cNvPr id="6" name="Rectángulo: esquinas redondeadas 5">
            <a:extLst>
              <a:ext uri="{FF2B5EF4-FFF2-40B4-BE49-F238E27FC236}">
                <a16:creationId xmlns:a16="http://schemas.microsoft.com/office/drawing/2014/main" id="{F738CD7E-A2EE-56B2-5BB6-96EC884DFDBE}"/>
              </a:ext>
            </a:extLst>
          </p:cNvPr>
          <p:cNvSpPr/>
          <p:nvPr/>
        </p:nvSpPr>
        <p:spPr>
          <a:xfrm>
            <a:off x="796157" y="4384463"/>
            <a:ext cx="8925814" cy="58435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100" dirty="0"/>
              <a:t>Requisitos </a:t>
            </a:r>
            <a:r>
              <a:rPr lang="es-ES" sz="1100" dirty="0" err="1"/>
              <a:t>cocurriculares</a:t>
            </a:r>
            <a:r>
              <a:rPr lang="es-ES" sz="1100" dirty="0"/>
              <a:t> del programa, se </a:t>
            </a:r>
            <a:r>
              <a:rPr lang="es-CO" sz="1100" dirty="0"/>
              <a:t>asociarán los códigos de no curso que deberán cumplir los estudiantes en su avance curricular.</a:t>
            </a:r>
            <a:br>
              <a:rPr lang="es-ES" sz="1100" b="1" dirty="0"/>
            </a:br>
            <a:endParaRPr lang="es-CL" sz="1100" dirty="0"/>
          </a:p>
        </p:txBody>
      </p:sp>
      <p:pic>
        <p:nvPicPr>
          <p:cNvPr id="7" name="Imagen 6">
            <a:extLst>
              <a:ext uri="{FF2B5EF4-FFF2-40B4-BE49-F238E27FC236}">
                <a16:creationId xmlns:a16="http://schemas.microsoft.com/office/drawing/2014/main" id="{62C84F92-3F2E-2723-8A16-050EE215C508}"/>
              </a:ext>
            </a:extLst>
          </p:cNvPr>
          <p:cNvPicPr>
            <a:picLocks noChangeAspect="1"/>
          </p:cNvPicPr>
          <p:nvPr/>
        </p:nvPicPr>
        <p:blipFill>
          <a:blip r:embed="rId2"/>
          <a:stretch>
            <a:fillRect/>
          </a:stretch>
        </p:blipFill>
        <p:spPr>
          <a:xfrm>
            <a:off x="897147" y="1992579"/>
            <a:ext cx="10765766" cy="1645866"/>
          </a:xfrm>
          <a:prstGeom prst="rect">
            <a:avLst/>
          </a:prstGeom>
        </p:spPr>
      </p:pic>
    </p:spTree>
    <p:extLst>
      <p:ext uri="{BB962C8B-B14F-4D97-AF65-F5344CB8AC3E}">
        <p14:creationId xmlns:p14="http://schemas.microsoft.com/office/powerpoint/2010/main" val="27599847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ES" sz="1200" dirty="0"/>
              <a:t>Crear las mallas curriculares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984827" y="258335"/>
            <a:ext cx="7092820" cy="1628192"/>
          </a:xfrm>
        </p:spPr>
        <p:txBody>
          <a:bodyPr/>
          <a:lstStyle/>
          <a:p>
            <a:r>
              <a:rPr lang="en-US" sz="3600" dirty="0"/>
              <a:t>RESUMEN</a:t>
            </a:r>
          </a:p>
        </p:txBody>
      </p:sp>
      <p:sp>
        <p:nvSpPr>
          <p:cNvPr id="2" name="Text Placeholder 4">
            <a:extLst>
              <a:ext uri="{FF2B5EF4-FFF2-40B4-BE49-F238E27FC236}">
                <a16:creationId xmlns:a16="http://schemas.microsoft.com/office/drawing/2014/main" id="{5E636CD3-9D55-E7D6-7F08-EB5DED1D28F1}"/>
              </a:ext>
            </a:extLst>
          </p:cNvPr>
          <p:cNvSpPr>
            <a:spLocks noGrp="1"/>
          </p:cNvSpPr>
          <p:nvPr>
            <p:ph type="body" sz="quarter" idx="18"/>
          </p:nvPr>
        </p:nvSpPr>
        <p:spPr>
          <a:xfrm>
            <a:off x="984826" y="2008765"/>
            <a:ext cx="10624467" cy="3979659"/>
          </a:xfrm>
        </p:spPr>
        <p:txBody>
          <a:bodyPr/>
          <a:lstStyle/>
          <a:p>
            <a:pPr marL="0" indent="0">
              <a:buNone/>
            </a:pPr>
            <a:r>
              <a:rPr lang="es-419" sz="2000" dirty="0"/>
              <a:t>Crear las </a:t>
            </a:r>
            <a:r>
              <a:rPr lang="es-419" sz="2000"/>
              <a:t>mallas curriculares:</a:t>
            </a:r>
            <a:endParaRPr lang="es-419" sz="2000" dirty="0"/>
          </a:p>
          <a:p>
            <a:pPr marL="342900" indent="-342900" algn="just">
              <a:buClr>
                <a:srgbClr val="0CB4B4"/>
              </a:buClr>
              <a:buFont typeface="Wingdings" panose="05000000000000000000" pitchFamily="2" charset="2"/>
              <a:buChar char="q"/>
            </a:pPr>
            <a:r>
              <a:rPr lang="es-ES_tradnl" dirty="0"/>
              <a:t>La creación de las mallas curriculares parte de la base de la definición de las Áreas que componen el Plan de Estudios</a:t>
            </a:r>
            <a:r>
              <a:rPr lang="es-CL" dirty="0"/>
              <a:t>.</a:t>
            </a:r>
            <a:endParaRPr lang="es-419" dirty="0"/>
          </a:p>
          <a:p>
            <a:pPr marL="342900" indent="-342900" algn="just">
              <a:buClr>
                <a:srgbClr val="0CB4B4"/>
              </a:buClr>
              <a:buFont typeface="Wingdings" panose="05000000000000000000" pitchFamily="2" charset="2"/>
              <a:buChar char="q"/>
            </a:pPr>
            <a:r>
              <a:rPr lang="es-ES_tradnl" dirty="0"/>
              <a:t>Las áreas que componen un programa pueden ser dinámicas o no. Un área es dinámica si se ofrecen diferentes áreas para un mismo programa y los atributos de los estudiantes son los que definen qué áreas aplicarán para la verificación del cumplimiento del mismo</a:t>
            </a:r>
            <a:r>
              <a:rPr lang="es-CL" dirty="0"/>
              <a:t>.  </a:t>
            </a:r>
          </a:p>
          <a:p>
            <a:pPr marL="342900" indent="-342900" algn="just">
              <a:buClr>
                <a:srgbClr val="0CB4B4"/>
              </a:buClr>
              <a:buFont typeface="Wingdings" panose="05000000000000000000" pitchFamily="2" charset="2"/>
              <a:buChar char="q"/>
            </a:pPr>
            <a:r>
              <a:rPr lang="es-ES_tradnl" dirty="0"/>
              <a:t>Las áreas son elementos que agrupan un conjunto de cursos que se deben aprobar para cumplir con el Plan de Estudios del programa. </a:t>
            </a:r>
          </a:p>
          <a:p>
            <a:pPr marL="342900" indent="-342900" algn="just">
              <a:buClr>
                <a:srgbClr val="0CB4B4"/>
              </a:buClr>
              <a:buFont typeface="Wingdings" panose="05000000000000000000" pitchFamily="2" charset="2"/>
              <a:buChar char="q"/>
            </a:pPr>
            <a:r>
              <a:rPr lang="es-ES_tradnl" dirty="0"/>
              <a:t>La definición de las áreas incluye definir la cantidad de créditos y/o cursos que exige para su cumplimiento y la asociación de los cursos necesarios para ello.</a:t>
            </a:r>
          </a:p>
          <a:p>
            <a:pPr marL="342900" indent="-342900" algn="just">
              <a:buClr>
                <a:srgbClr val="0CB4B4"/>
              </a:buClr>
              <a:buFont typeface="Wingdings" panose="05000000000000000000" pitchFamily="2" charset="2"/>
              <a:buChar char="q"/>
            </a:pPr>
            <a:r>
              <a:rPr lang="es-ES_tradnl" dirty="0"/>
              <a:t>Un Programa es cautivo si todos los estudiantes que pertenecen a él deben cursar las mismas áreas para su cumplimiento. En este caso, todas las áreas deberán asociarse al programa</a:t>
            </a:r>
            <a:r>
              <a:rPr lang="es-CL" dirty="0"/>
              <a:t>.</a:t>
            </a:r>
          </a:p>
        </p:txBody>
      </p:sp>
    </p:spTree>
    <p:extLst>
      <p:ext uri="{BB962C8B-B14F-4D97-AF65-F5344CB8AC3E}">
        <p14:creationId xmlns:p14="http://schemas.microsoft.com/office/powerpoint/2010/main" val="3113485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ES" sz="1200" dirty="0"/>
              <a:t>Crear las mallas curriculares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984827" y="258335"/>
            <a:ext cx="7092820" cy="1628192"/>
          </a:xfrm>
        </p:spPr>
        <p:txBody>
          <a:bodyPr/>
          <a:lstStyle/>
          <a:p>
            <a:r>
              <a:rPr lang="en-US" sz="3600" dirty="0"/>
              <a:t>RESUMEN</a:t>
            </a:r>
          </a:p>
        </p:txBody>
      </p:sp>
      <p:sp>
        <p:nvSpPr>
          <p:cNvPr id="2" name="Text Placeholder 4">
            <a:extLst>
              <a:ext uri="{FF2B5EF4-FFF2-40B4-BE49-F238E27FC236}">
                <a16:creationId xmlns:a16="http://schemas.microsoft.com/office/drawing/2014/main" id="{5E636CD3-9D55-E7D6-7F08-EB5DED1D28F1}"/>
              </a:ext>
            </a:extLst>
          </p:cNvPr>
          <p:cNvSpPr>
            <a:spLocks noGrp="1"/>
          </p:cNvSpPr>
          <p:nvPr>
            <p:ph type="body" sz="quarter" idx="18"/>
          </p:nvPr>
        </p:nvSpPr>
        <p:spPr>
          <a:xfrm>
            <a:off x="984826" y="2008765"/>
            <a:ext cx="10624467" cy="3979659"/>
          </a:xfrm>
        </p:spPr>
        <p:txBody>
          <a:bodyPr/>
          <a:lstStyle/>
          <a:p>
            <a:pPr marL="0" indent="0">
              <a:buNone/>
            </a:pPr>
            <a:r>
              <a:rPr lang="es-419" sz="2000" dirty="0"/>
              <a:t>Crear las mallas curriculares:</a:t>
            </a:r>
          </a:p>
          <a:p>
            <a:pPr marL="342900" indent="-342900" algn="just">
              <a:buClr>
                <a:srgbClr val="0CB4B4"/>
              </a:buClr>
              <a:buFont typeface="Wingdings" panose="05000000000000000000" pitchFamily="2" charset="2"/>
              <a:buChar char="q"/>
            </a:pPr>
            <a:r>
              <a:rPr lang="es-ES_tradnl" dirty="0"/>
              <a:t>Si un programa no es cautivo, serán los atributos calificables del área los que definan cuáles aplican para su cumplimiento.</a:t>
            </a:r>
          </a:p>
          <a:p>
            <a:pPr marL="342900" indent="-342900" algn="just">
              <a:buClr>
                <a:srgbClr val="0CB4B4"/>
              </a:buClr>
              <a:buFont typeface="Wingdings" panose="05000000000000000000" pitchFamily="2" charset="2"/>
              <a:buChar char="q"/>
            </a:pPr>
            <a:r>
              <a:rPr lang="es-ES_tradnl" dirty="0"/>
              <a:t>La configuración del Programa incluye la definición de la cantidad de créditos y/o cursos necesarios para su cumplimiento y la asociación de las áreas que lo componen, en caso de que aplique</a:t>
            </a:r>
            <a:r>
              <a:rPr lang="es-CL" dirty="0"/>
              <a:t>.  </a:t>
            </a:r>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36</a:t>
            </a:fld>
            <a:endParaRPr lang="en-US"/>
          </a:p>
        </p:txBody>
      </p:sp>
    </p:spTree>
    <p:extLst>
      <p:ext uri="{BB962C8B-B14F-4D97-AF65-F5344CB8AC3E}">
        <p14:creationId xmlns:p14="http://schemas.microsoft.com/office/powerpoint/2010/main" val="30499710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Sergio Molina</a:t>
            </a:r>
          </a:p>
          <a:p>
            <a:r>
              <a:rPr lang="es-419" dirty="0"/>
              <a:t>Sergio.molina@ellucian.com</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0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0090" y="4039758"/>
            <a:ext cx="274320" cy="274320"/>
          </a:xfrm>
          <a:prstGeom prst="rect">
            <a:avLst/>
          </a:prstGeom>
        </p:spPr>
      </p:pic>
    </p:spTree>
    <p:extLst>
      <p:ext uri="{BB962C8B-B14F-4D97-AF65-F5344CB8AC3E}">
        <p14:creationId xmlns:p14="http://schemas.microsoft.com/office/powerpoint/2010/main" val="2368669019"/>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EBP 01 - 4.1.6.2 Programar el inicio y finalizacion de Per.Acad.Regulares</Template>
  <TotalTime>8666</TotalTime>
  <Words>2379</Words>
  <Application>Microsoft Office PowerPoint</Application>
  <PresentationFormat>Widescreen</PresentationFormat>
  <Paragraphs>252</Paragraphs>
  <Slides>37</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37</vt:i4>
      </vt:variant>
    </vt:vector>
  </HeadingPairs>
  <TitlesOfParts>
    <vt:vector size="46" baseType="lpstr">
      <vt:lpstr>Aptos</vt:lpstr>
      <vt:lpstr>Aptos Display</vt:lpstr>
      <vt:lpstr>Arial</vt:lpstr>
      <vt:lpstr>Calibri</vt:lpstr>
      <vt:lpstr>Courier New</vt:lpstr>
      <vt:lpstr>Helvetica Neue</vt:lpstr>
      <vt:lpstr>Wingdings</vt:lpstr>
      <vt:lpstr>Ellucian Main Layouts</vt:lpstr>
      <vt:lpstr>Ellucian Blank Layouts</vt:lpstr>
      <vt:lpstr>PowerPoint Presentation</vt:lpstr>
      <vt:lpstr>PowerPoint Presentation</vt:lpstr>
      <vt:lpstr>Overview</vt:lpstr>
      <vt:lpstr>PowerPoint Presentation</vt:lpstr>
      <vt:lpstr>Overview: Procesos de crear las mallas curriculares</vt:lpstr>
      <vt:lpstr>Overview: Crear las mallas curriculares</vt:lpstr>
      <vt:lpstr>PowerPoint Presentation</vt:lpstr>
      <vt:lpstr>Overview: Crear las mallas curriculares</vt:lpstr>
      <vt:lpstr>Overview: Crear las mallas curriculares</vt:lpstr>
      <vt:lpstr>Crear las mallas curriculares</vt:lpstr>
      <vt:lpstr>PowerPoint Presentation</vt:lpstr>
      <vt:lpstr>Configuraciones: SMAALIB Biblioteca de área 1/2 </vt:lpstr>
      <vt:lpstr>Configuraciones: SMAALIB Biblioteca de área 1/2 </vt:lpstr>
      <vt:lpstr>PowerPoint Presentation</vt:lpstr>
      <vt:lpstr>Premisa: STVMAJR Validación de código de carrera, concentración y especialidad </vt:lpstr>
      <vt:lpstr>Premisa: SOACURR Reglas del currículo </vt:lpstr>
      <vt:lpstr>Configuraciones: SMAALIB Biblioteca de área 2/2 </vt:lpstr>
      <vt:lpstr>Configuraciones: SMAALIB Biblioteca de área 2/2 </vt:lpstr>
      <vt:lpstr>Configuraciones: SMAALIB Biblioteca de área 2/2 </vt:lpstr>
      <vt:lpstr>Configuraciones: SMAALIB Biblioteca de área 2/2 </vt:lpstr>
      <vt:lpstr>Configuraciones: SMAALIB Biblioteca de área 2/2 </vt:lpstr>
      <vt:lpstr>PowerPoint Presentation</vt:lpstr>
      <vt:lpstr>Configuraciones: SMAAREA Requerimientos de área </vt:lpstr>
      <vt:lpstr>Configuraciones: SMAAREA Requerimientos de área –Anexos de curso/atributo de área </vt:lpstr>
      <vt:lpstr>Configuraciones: SMAAREA Requerimientos de área </vt:lpstr>
      <vt:lpstr>PowerPoint Presentation</vt:lpstr>
      <vt:lpstr>Configuraciones: SMAPROG Requerimientos de programa – Requerimientos generales </vt:lpstr>
      <vt:lpstr>Configuraciones: SMAPROG Requerimientos de programa – Requerimientos generales 1/4 </vt:lpstr>
      <vt:lpstr>Configuraciones: SMAPROG Requerimientos de programa – Requerimientos generales 2/4 </vt:lpstr>
      <vt:lpstr>Configuraciones: SMAPROG Requerimientos de programa – Requerimientos generales 3/4 </vt:lpstr>
      <vt:lpstr>Configuraciones: SMAPROG Requerimientos de programa – Requerimientos generales 4/4 </vt:lpstr>
      <vt:lpstr>PowerPoint Presentation</vt:lpstr>
      <vt:lpstr>Configuraciones: SMAPROG Requerimientos de programa–Anexos de área de programa </vt:lpstr>
      <vt:lpstr>PowerPoint Presentation</vt:lpstr>
      <vt:lpstr>RESUMEN</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Molina, Sergio</cp:lastModifiedBy>
  <cp:revision>538</cp:revision>
  <dcterms:created xsi:type="dcterms:W3CDTF">2023-07-17T20:07:38Z</dcterms:created>
  <dcterms:modified xsi:type="dcterms:W3CDTF">2026-06-10T23:57:27Z</dcterms:modified>
</cp:coreProperties>
</file>
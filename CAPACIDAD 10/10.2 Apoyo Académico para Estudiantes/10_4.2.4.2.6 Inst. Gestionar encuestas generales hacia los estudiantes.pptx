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3" r:id="rId1"/>
    <p:sldMasterId id="2147483715" r:id="rId2"/>
  </p:sldMasterIdLst>
  <p:notesMasterIdLst>
    <p:notesMasterId r:id="rId37"/>
  </p:notesMasterIdLst>
  <p:sldIdLst>
    <p:sldId id="738" r:id="rId3"/>
    <p:sldId id="739" r:id="rId4"/>
    <p:sldId id="1174" r:id="rId5"/>
    <p:sldId id="523" r:id="rId6"/>
    <p:sldId id="349" r:id="rId7"/>
    <p:sldId id="1251" r:id="rId8"/>
    <p:sldId id="1275" r:id="rId9"/>
    <p:sldId id="1259" r:id="rId10"/>
    <p:sldId id="1119" r:id="rId11"/>
    <p:sldId id="1276" r:id="rId12"/>
    <p:sldId id="1287" r:id="rId13"/>
    <p:sldId id="1288" r:id="rId14"/>
    <p:sldId id="1289" r:id="rId15"/>
    <p:sldId id="1290" r:id="rId16"/>
    <p:sldId id="1291" r:id="rId17"/>
    <p:sldId id="1284" r:id="rId18"/>
    <p:sldId id="1292" r:id="rId19"/>
    <p:sldId id="1293" r:id="rId20"/>
    <p:sldId id="1295" r:id="rId21"/>
    <p:sldId id="1294" r:id="rId22"/>
    <p:sldId id="1296" r:id="rId23"/>
    <p:sldId id="1297" r:id="rId24"/>
    <p:sldId id="1298" r:id="rId25"/>
    <p:sldId id="1299" r:id="rId26"/>
    <p:sldId id="1300" r:id="rId27"/>
    <p:sldId id="1301" r:id="rId28"/>
    <p:sldId id="1302" r:id="rId29"/>
    <p:sldId id="1304" r:id="rId30"/>
    <p:sldId id="1305" r:id="rId31"/>
    <p:sldId id="1306" r:id="rId32"/>
    <p:sldId id="1307" r:id="rId33"/>
    <p:sldId id="1221" r:id="rId34"/>
    <p:sldId id="1308" r:id="rId35"/>
    <p:sldId id="1303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4B06FD8-FBF7-48A6-EC94-7EAC12BBF7D7}" name="Mardones, Francisco" initials="MF" userId="S::Francisco.Mardones@ellucian.com::216dec8c-35d0-45c5-a341-2c26a655750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65A7B"/>
    <a:srgbClr val="68C184"/>
    <a:srgbClr val="8A00B0"/>
    <a:srgbClr val="0CA8B4"/>
    <a:srgbClr val="33CCCC"/>
    <a:srgbClr val="0CB4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352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918" y="7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1445"/>
    </p:cViewPr>
  </p:sorterViewPr>
  <p:notesViewPr>
    <p:cSldViewPr snapToGrid="0">
      <p:cViewPr varScale="1">
        <p:scale>
          <a:sx n="48" d="100"/>
          <a:sy n="48" d="100"/>
        </p:scale>
        <p:origin x="2684" y="4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viewProps" Target="viewProp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microsoft.com/office/2018/10/relationships/authors" Target="author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422212-D69D-41E4-A547-75F507D8A64A}" type="datetimeFigureOut">
              <a:rPr lang="es-CL" smtClean="0"/>
              <a:t>23-07-2026</a:t>
            </a:fld>
            <a:endParaRPr lang="es-CL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582945-6648-41CA-B880-4B10E0E03327}" type="slidenum">
              <a:rPr lang="es-CL" smtClean="0"/>
              <a:t>‹Nº›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2590852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541D2A-E99A-2F4F-B8C9-28142709F87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854330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419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2B7043-8BBF-43F6-8395-E81293822626}" type="slidenum">
              <a:rPr kumimoji="0" lang="es-419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s-419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351139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urple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308F59C-932F-DFB8-2AAA-2B65147363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609784"/>
            <a:ext cx="3032274" cy="398058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2" y="6230769"/>
            <a:ext cx="2228873" cy="194925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ED3A513-644B-6B1D-40F3-221E3E565B2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90226" y="573882"/>
            <a:ext cx="5501774" cy="5710237"/>
          </a:xfrm>
          <a:custGeom>
            <a:avLst/>
            <a:gdLst>
              <a:gd name="connsiteX0" fmla="*/ 0 w 5501774"/>
              <a:gd name="connsiteY0" fmla="*/ 0 h 5710237"/>
              <a:gd name="connsiteX1" fmla="*/ 2675908 w 5501774"/>
              <a:gd name="connsiteY1" fmla="*/ 0 h 5710237"/>
              <a:gd name="connsiteX2" fmla="*/ 2675908 w 5501774"/>
              <a:gd name="connsiteY2" fmla="*/ 1 h 5710237"/>
              <a:gd name="connsiteX3" fmla="*/ 5501774 w 5501774"/>
              <a:gd name="connsiteY3" fmla="*/ 1 h 5710237"/>
              <a:gd name="connsiteX4" fmla="*/ 5501774 w 5501774"/>
              <a:gd name="connsiteY4" fmla="*/ 1513523 h 5710237"/>
              <a:gd name="connsiteX5" fmla="*/ 2675908 w 5501774"/>
              <a:gd name="connsiteY5" fmla="*/ 1513523 h 5710237"/>
              <a:gd name="connsiteX6" fmla="*/ 2675908 w 5501774"/>
              <a:gd name="connsiteY6" fmla="*/ 2093595 h 5710237"/>
              <a:gd name="connsiteX7" fmla="*/ 4971924 w 5501774"/>
              <a:gd name="connsiteY7" fmla="*/ 2093595 h 5710237"/>
              <a:gd name="connsiteX8" fmla="*/ 4971924 w 5501774"/>
              <a:gd name="connsiteY8" fmla="*/ 3607117 h 5710237"/>
              <a:gd name="connsiteX9" fmla="*/ 2675908 w 5501774"/>
              <a:gd name="connsiteY9" fmla="*/ 3607117 h 5710237"/>
              <a:gd name="connsiteX10" fmla="*/ 2675908 w 5501774"/>
              <a:gd name="connsiteY10" fmla="*/ 4196715 h 5710237"/>
              <a:gd name="connsiteX11" fmla="*/ 5501774 w 5501774"/>
              <a:gd name="connsiteY11" fmla="*/ 4196715 h 5710237"/>
              <a:gd name="connsiteX12" fmla="*/ 5501774 w 5501774"/>
              <a:gd name="connsiteY12" fmla="*/ 5710237 h 5710237"/>
              <a:gd name="connsiteX13" fmla="*/ 2675908 w 5501774"/>
              <a:gd name="connsiteY13" fmla="*/ 5710237 h 5710237"/>
              <a:gd name="connsiteX14" fmla="*/ 1951722 w 5501774"/>
              <a:gd name="connsiteY14" fmla="*/ 5710237 h 5710237"/>
              <a:gd name="connsiteX15" fmla="*/ 0 w 5501774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01774" h="5710237">
                <a:moveTo>
                  <a:pt x="0" y="0"/>
                </a:moveTo>
                <a:lnTo>
                  <a:pt x="2675908" y="0"/>
                </a:lnTo>
                <a:lnTo>
                  <a:pt x="2675908" y="1"/>
                </a:lnTo>
                <a:lnTo>
                  <a:pt x="5501774" y="1"/>
                </a:lnTo>
                <a:lnTo>
                  <a:pt x="5501774" y="1513523"/>
                </a:lnTo>
                <a:lnTo>
                  <a:pt x="2675908" y="1513523"/>
                </a:lnTo>
                <a:lnTo>
                  <a:pt x="2675908" y="2093595"/>
                </a:lnTo>
                <a:lnTo>
                  <a:pt x="4971924" y="2093595"/>
                </a:lnTo>
                <a:lnTo>
                  <a:pt x="4971924" y="3607117"/>
                </a:lnTo>
                <a:lnTo>
                  <a:pt x="2675908" y="3607117"/>
                </a:lnTo>
                <a:lnTo>
                  <a:pt x="2675908" y="4196715"/>
                </a:lnTo>
                <a:lnTo>
                  <a:pt x="5501774" y="4196715"/>
                </a:lnTo>
                <a:lnTo>
                  <a:pt x="5501774" y="5710237"/>
                </a:lnTo>
                <a:lnTo>
                  <a:pt x="2675908" y="5710237"/>
                </a:lnTo>
                <a:lnTo>
                  <a:pt x="1951722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1688B8-4AFA-00EF-A18F-CE0BE044452E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767913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Divi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ext Placeholder 2">
            <a:extLst>
              <a:ext uri="{FF2B5EF4-FFF2-40B4-BE49-F238E27FC236}">
                <a16:creationId xmlns:a16="http://schemas.microsoft.com/office/drawing/2014/main" id="{B4E21473-327B-3C3B-2526-FD5AB3A4428E}"/>
              </a:ext>
            </a:extLst>
          </p:cNvPr>
          <p:cNvSpPr>
            <a:spLocks noGrp="1"/>
          </p:cNvSpPr>
          <p:nvPr>
            <p:ph type="body" orient="vert" sz="quarter" idx="10" hasCustomPrompt="1"/>
          </p:nvPr>
        </p:nvSpPr>
        <p:spPr>
          <a:xfrm>
            <a:off x="0" y="685800"/>
            <a:ext cx="609600" cy="5486399"/>
          </a:xfrm>
        </p:spPr>
        <p:txBody>
          <a:bodyPr vert="vert270" anchor="ctr" anchorCtr="0">
            <a:noAutofit/>
          </a:bodyPr>
          <a:lstStyle>
            <a:lvl1pPr marL="0" indent="0" algn="ctr">
              <a:buNone/>
              <a:defRPr sz="1200" spc="300">
                <a:solidFill>
                  <a:schemeClr val="bg1"/>
                </a:solidFill>
              </a:defRPr>
            </a:lvl1pPr>
            <a:lvl2pPr marL="457200" indent="0" algn="ctr">
              <a:buNone/>
              <a:defRPr sz="1200" spc="300">
                <a:solidFill>
                  <a:schemeClr val="bg1"/>
                </a:solidFill>
              </a:defRPr>
            </a:lvl2pPr>
            <a:lvl3pPr marL="914400" indent="0" algn="ctr">
              <a:buNone/>
              <a:defRPr sz="1100" spc="300">
                <a:solidFill>
                  <a:schemeClr val="bg1"/>
                </a:solidFill>
              </a:defRPr>
            </a:lvl3pPr>
            <a:lvl4pPr marL="1371600" indent="0" algn="ctr">
              <a:buNone/>
              <a:defRPr sz="1050" spc="300">
                <a:solidFill>
                  <a:schemeClr val="bg1"/>
                </a:solidFill>
              </a:defRPr>
            </a:lvl4pPr>
            <a:lvl5pPr marL="1828800" indent="0" algn="ctr">
              <a:buNone/>
              <a:defRPr sz="1050" spc="3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0773A33-C933-040C-38F4-7E444DEDA5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4900" y="1800808"/>
            <a:ext cx="7092820" cy="1628192"/>
          </a:xfrm>
        </p:spPr>
        <p:txBody>
          <a:bodyPr lIns="0" bIns="0" anchor="b" anchorCtr="0">
            <a:no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Title (Max Two Lines)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03C54B7B-813E-7B62-27B5-6334893218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04900" y="3652538"/>
            <a:ext cx="7092820" cy="774441"/>
          </a:xfrm>
        </p:spPr>
        <p:txBody>
          <a:bodyPr lIns="0" tIns="0">
            <a:noAutofit/>
          </a:bodyPr>
          <a:lstStyle>
            <a:lvl1pPr marL="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800">
                <a:solidFill>
                  <a:schemeClr val="bg1"/>
                </a:solidFill>
              </a:defRPr>
            </a:lvl1pPr>
            <a:lvl2pPr marL="174625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2pPr>
            <a:lvl3pPr marL="3429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</a:defRPr>
            </a:lvl3pPr>
            <a:lvl4pPr marL="519112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4pPr>
            <a:lvl5pPr marL="6858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Subhead (not required, max two lines)</a:t>
            </a:r>
          </a:p>
          <a:p>
            <a:pPr lvl="0"/>
            <a:endParaRPr lang="en-US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C9736184-ED63-6779-B7C5-534556DC21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6349"/>
            <a:ext cx="6225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7DD6E6-E97A-4472-91B0-6459FF173152}" type="slidenum">
              <a:rPr kumimoji="0" lang="es-419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419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319B16A0-2A1A-151A-BDCE-B19060B5CC18}"/>
              </a:ext>
            </a:extLst>
          </p:cNvPr>
          <p:cNvSpPr/>
          <p:nvPr userDrawn="1"/>
        </p:nvSpPr>
        <p:spPr>
          <a:xfrm>
            <a:off x="9224682" y="6526306"/>
            <a:ext cx="2357718" cy="19516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DD43FD8-246A-0169-BE24-92BB3E5AC287}"/>
              </a:ext>
            </a:extLst>
          </p:cNvPr>
          <p:cNvSpPr txBox="1"/>
          <p:nvPr userDrawn="1"/>
        </p:nvSpPr>
        <p:spPr>
          <a:xfrm>
            <a:off x="9748528" y="6584949"/>
            <a:ext cx="1966885" cy="40011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schemeClr val="tx1"/>
                </a:solidFill>
              </a:rPr>
              <a:t>©2026 Ellucian. Confidential and Proprietary</a:t>
            </a:r>
          </a:p>
          <a:p>
            <a:pPr algn="l"/>
            <a:endParaRPr lang="es-419" dirty="0" err="1"/>
          </a:p>
        </p:txBody>
      </p:sp>
    </p:spTree>
    <p:extLst>
      <p:ext uri="{BB962C8B-B14F-4D97-AF65-F5344CB8AC3E}">
        <p14:creationId xmlns:p14="http://schemas.microsoft.com/office/powerpoint/2010/main" val="22862864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 Slide">
    <p:bg>
      <p:bgPr>
        <a:solidFill>
          <a:schemeClr val="bg1">
            <a:alpha val="20231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Vertical Text Placeholder 13">
            <a:extLst>
              <a:ext uri="{FF2B5EF4-FFF2-40B4-BE49-F238E27FC236}">
                <a16:creationId xmlns:a16="http://schemas.microsoft.com/office/drawing/2014/main" id="{615AF287-335F-BB55-C118-E2B304809BF5}"/>
              </a:ext>
            </a:extLst>
          </p:cNvPr>
          <p:cNvSpPr>
            <a:spLocks noGrp="1"/>
          </p:cNvSpPr>
          <p:nvPr>
            <p:ph type="body" orient="vert" sz="quarter" idx="17" hasCustomPrompt="1"/>
          </p:nvPr>
        </p:nvSpPr>
        <p:spPr>
          <a:xfrm rot="10800000">
            <a:off x="0" y="685800"/>
            <a:ext cx="609600" cy="5486399"/>
          </a:xfrm>
        </p:spPr>
        <p:txBody>
          <a:bodyPr vert="eaVert" anchor="ctr">
            <a:noAutofit/>
          </a:bodyPr>
          <a:lstStyle>
            <a:lvl1pPr marL="0" indent="0" algn="ctr">
              <a:buNone/>
              <a:defRPr sz="1200" spc="3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602A5F3B-3ABB-9E8C-64CA-3C1440FE24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6349"/>
            <a:ext cx="6225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7DD6E6-E97A-4472-91B0-6459FF173152}" type="slidenum">
              <a:rPr kumimoji="0" lang="es-419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419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65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6075AE4F-120B-4A06-3546-84A4BC13F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685800"/>
            <a:ext cx="10477497" cy="898555"/>
          </a:xfrm>
        </p:spPr>
        <p:txBody>
          <a:bodyPr anchor="t" anchorCtr="0">
            <a:noAutofit/>
          </a:bodyPr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A8BA24F0-B67C-10DC-3C8F-EBDDC8FDF775}"/>
              </a:ext>
            </a:extLst>
          </p:cNvPr>
          <p:cNvSpPr/>
          <p:nvPr userDrawn="1"/>
        </p:nvSpPr>
        <p:spPr>
          <a:xfrm>
            <a:off x="9224682" y="6499412"/>
            <a:ext cx="2357715" cy="2220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C098FBD-3ABE-6AB6-4D7A-1DEAE45F6511}"/>
              </a:ext>
            </a:extLst>
          </p:cNvPr>
          <p:cNvSpPr txBox="1"/>
          <p:nvPr userDrawn="1"/>
        </p:nvSpPr>
        <p:spPr>
          <a:xfrm>
            <a:off x="9710428" y="6578538"/>
            <a:ext cx="1966885" cy="40011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schemeClr val="tx1"/>
                </a:solidFill>
              </a:rPr>
              <a:t>©2026 Ellucian. Confidential and Proprietary</a:t>
            </a:r>
          </a:p>
          <a:p>
            <a:pPr algn="l"/>
            <a:endParaRPr lang="es-419" dirty="0" err="1"/>
          </a:p>
        </p:txBody>
      </p:sp>
    </p:spTree>
    <p:extLst>
      <p:ext uri="{BB962C8B-B14F-4D97-AF65-F5344CB8AC3E}">
        <p14:creationId xmlns:p14="http://schemas.microsoft.com/office/powerpoint/2010/main" val="37466058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-Up ">
    <p:bg>
      <p:bgPr>
        <a:solidFill>
          <a:schemeClr val="bg1">
            <a:alpha val="20231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2D92EE01-92FE-27B7-8491-8AE3AAC0FEF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04900" y="1905002"/>
            <a:ext cx="10477499" cy="4267198"/>
          </a:xfrm>
        </p:spPr>
        <p:txBody>
          <a:bodyPr>
            <a:noAutofit/>
          </a:bodyPr>
          <a:lstStyle>
            <a:lvl1pPr marL="174625" indent="-174625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1pPr>
            <a:lvl2pPr marL="342900" indent="-168275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2pPr>
            <a:lvl3pPr marL="519113" indent="-176213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3pPr>
            <a:lvl4pPr marL="685800" indent="-166688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4pPr>
            <a:lvl5pPr marL="862013" indent="-176213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Vertical Text Placeholder 13">
            <a:extLst>
              <a:ext uri="{FF2B5EF4-FFF2-40B4-BE49-F238E27FC236}">
                <a16:creationId xmlns:a16="http://schemas.microsoft.com/office/drawing/2014/main" id="{E932BD03-3866-775C-FCE1-9468113E4954}"/>
              </a:ext>
            </a:extLst>
          </p:cNvPr>
          <p:cNvSpPr>
            <a:spLocks noGrp="1"/>
          </p:cNvSpPr>
          <p:nvPr>
            <p:ph type="body" orient="vert" sz="quarter" idx="17" hasCustomPrompt="1"/>
          </p:nvPr>
        </p:nvSpPr>
        <p:spPr>
          <a:xfrm rot="10800000">
            <a:off x="0" y="685800"/>
            <a:ext cx="609600" cy="5486399"/>
          </a:xfrm>
        </p:spPr>
        <p:txBody>
          <a:bodyPr vert="eaVert" anchor="ctr">
            <a:noAutofit/>
          </a:bodyPr>
          <a:lstStyle>
            <a:lvl1pPr marL="0" indent="0" algn="ctr">
              <a:buNone/>
              <a:defRPr sz="1200" spc="3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3877212-0337-0A89-2140-1837D97F80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6349"/>
            <a:ext cx="6225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6BD6E4B7-96A7-4E01-9DDD-23C60D704D5B}" type="slidenum">
              <a:rPr lang="es-419" smtClean="0"/>
              <a:t>‹Nº›</a:t>
            </a:fld>
            <a:endParaRPr lang="es-419"/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50D7E829-0820-3DB9-FA55-7C961469D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685800"/>
            <a:ext cx="10477497" cy="898555"/>
          </a:xfrm>
        </p:spPr>
        <p:txBody>
          <a:bodyPr anchor="t" anchorCtr="0">
            <a:noAutofit/>
          </a:bodyPr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2F9C080-DD2D-FD34-D5B7-4EB1E6EC427D}"/>
              </a:ext>
            </a:extLst>
          </p:cNvPr>
          <p:cNvSpPr/>
          <p:nvPr userDrawn="1"/>
        </p:nvSpPr>
        <p:spPr>
          <a:xfrm>
            <a:off x="9144000" y="6356349"/>
            <a:ext cx="2438397" cy="5016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BC384C8-4C26-47A6-0271-A2125548E2A0}"/>
              </a:ext>
            </a:extLst>
          </p:cNvPr>
          <p:cNvSpPr txBox="1"/>
          <p:nvPr userDrawn="1"/>
        </p:nvSpPr>
        <p:spPr>
          <a:xfrm>
            <a:off x="9710428" y="6578538"/>
            <a:ext cx="1966885" cy="40011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schemeClr val="tx1"/>
                </a:solidFill>
              </a:rPr>
              <a:t>©2026 Ellucian. Confidential and Proprietary</a:t>
            </a:r>
          </a:p>
          <a:p>
            <a:pPr algn="l"/>
            <a:endParaRPr lang="es-419" dirty="0" err="1"/>
          </a:p>
        </p:txBody>
      </p:sp>
    </p:spTree>
    <p:extLst>
      <p:ext uri="{BB962C8B-B14F-4D97-AF65-F5344CB8AC3E}">
        <p14:creationId xmlns:p14="http://schemas.microsoft.com/office/powerpoint/2010/main" val="1599144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F4F974E-F629-0B9E-90C7-6BA76E29618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B03757-D8E3-42CD-21F7-B5A125EE77E1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BFE1BD-C136-3F41-856A-526B10A97418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1DA2E6-F483-60DE-DF61-B60C10DBDE89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422706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sv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AE723A-1CD3-C976-D546-D7B1E1A72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330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5A2E2D-CDA6-D65D-5A28-67459EB16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1684948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98C54377-C373-3751-A275-A17B11FE1B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00D8F4A-848B-F513-FE1A-5A86C8B8CF84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A225B6-A2B9-C109-E112-6ACDED1B4458}"/>
              </a:ext>
            </a:extLst>
          </p:cNvPr>
          <p:cNvSpPr txBox="1"/>
          <p:nvPr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7325586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7" r:id="rId2"/>
    <p:sldLayoutId id="2147483719" r:id="rId3"/>
    <p:sldLayoutId id="2147483720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77850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23925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Courier New" panose="02070309020205020404" pitchFamily="49" charset="0"/>
        <a:buChar char="o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58888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04963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2417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77850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23925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Courier New" panose="02070309020205020404" pitchFamily="49" charset="0"/>
        <a:buChar char="o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58888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04963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4DC2834-C0BC-1E9E-35AB-295707DC0D2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902" y="4143944"/>
            <a:ext cx="5427132" cy="740459"/>
          </a:xfrm>
        </p:spPr>
        <p:txBody>
          <a:bodyPr/>
          <a:lstStyle/>
          <a:p>
            <a:r>
              <a:rPr lang="es-ES" dirty="0"/>
              <a:t>Instructivo</a:t>
            </a:r>
            <a:endParaRPr lang="es-419" dirty="0"/>
          </a:p>
          <a:p>
            <a:endParaRPr lang="es-419" dirty="0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26DA71FA-37DD-30F0-5182-663EBEE7A9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CL" dirty="0"/>
              <a:t>Julio, 2026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556902" y="2031196"/>
            <a:ext cx="5651066" cy="2413674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s-MX" dirty="0">
                <a:solidFill>
                  <a:schemeClr val="bg1"/>
                </a:solidFill>
              </a:rPr>
              <a:t>Gestionar encuestas generales hacia los estudiantes</a:t>
            </a:r>
            <a:br>
              <a:rPr lang="es-419" sz="4000" dirty="0"/>
            </a:br>
            <a:endParaRPr lang="es-ES_tradnl" sz="42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8" name="Marcador de posición de imagen 8" descr="Un par de personas sentadas en una mesa&#10;&#10;El contenido generado por IA puede ser incorrecto.">
            <a:extLst>
              <a:ext uri="{FF2B5EF4-FFF2-40B4-BE49-F238E27FC236}">
                <a16:creationId xmlns:a16="http://schemas.microsoft.com/office/drawing/2014/main" id="{4F7B45E6-A22E-4AC7-1472-85D0784AA905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69" r="17869"/>
          <a:stretch>
            <a:fillRect/>
          </a:stretch>
        </p:blipFill>
        <p:spPr>
          <a:xfrm>
            <a:off x="6689725" y="574675"/>
            <a:ext cx="5502275" cy="5710238"/>
          </a:xfrm>
          <a:custGeom>
            <a:avLst/>
            <a:gdLst>
              <a:gd name="connsiteX0" fmla="*/ 0 w 5501774"/>
              <a:gd name="connsiteY0" fmla="*/ 0 h 5710237"/>
              <a:gd name="connsiteX1" fmla="*/ 2675908 w 5501774"/>
              <a:gd name="connsiteY1" fmla="*/ 0 h 5710237"/>
              <a:gd name="connsiteX2" fmla="*/ 2675908 w 5501774"/>
              <a:gd name="connsiteY2" fmla="*/ 1 h 5710237"/>
              <a:gd name="connsiteX3" fmla="*/ 5501774 w 5501774"/>
              <a:gd name="connsiteY3" fmla="*/ 1 h 5710237"/>
              <a:gd name="connsiteX4" fmla="*/ 5501774 w 5501774"/>
              <a:gd name="connsiteY4" fmla="*/ 1513523 h 5710237"/>
              <a:gd name="connsiteX5" fmla="*/ 2675908 w 5501774"/>
              <a:gd name="connsiteY5" fmla="*/ 1513523 h 5710237"/>
              <a:gd name="connsiteX6" fmla="*/ 2675908 w 5501774"/>
              <a:gd name="connsiteY6" fmla="*/ 2093595 h 5710237"/>
              <a:gd name="connsiteX7" fmla="*/ 4971924 w 5501774"/>
              <a:gd name="connsiteY7" fmla="*/ 2093595 h 5710237"/>
              <a:gd name="connsiteX8" fmla="*/ 4971924 w 5501774"/>
              <a:gd name="connsiteY8" fmla="*/ 3607117 h 5710237"/>
              <a:gd name="connsiteX9" fmla="*/ 2675908 w 5501774"/>
              <a:gd name="connsiteY9" fmla="*/ 3607117 h 5710237"/>
              <a:gd name="connsiteX10" fmla="*/ 2675908 w 5501774"/>
              <a:gd name="connsiteY10" fmla="*/ 4196715 h 5710237"/>
              <a:gd name="connsiteX11" fmla="*/ 5501774 w 5501774"/>
              <a:gd name="connsiteY11" fmla="*/ 4196715 h 5710237"/>
              <a:gd name="connsiteX12" fmla="*/ 5501774 w 5501774"/>
              <a:gd name="connsiteY12" fmla="*/ 5710237 h 5710237"/>
              <a:gd name="connsiteX13" fmla="*/ 2675908 w 5501774"/>
              <a:gd name="connsiteY13" fmla="*/ 5710237 h 5710237"/>
              <a:gd name="connsiteX14" fmla="*/ 1951722 w 5501774"/>
              <a:gd name="connsiteY14" fmla="*/ 5710237 h 5710237"/>
              <a:gd name="connsiteX15" fmla="*/ 0 w 5501774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01774" h="5710237">
                <a:moveTo>
                  <a:pt x="0" y="0"/>
                </a:moveTo>
                <a:lnTo>
                  <a:pt x="2675908" y="0"/>
                </a:lnTo>
                <a:lnTo>
                  <a:pt x="2675908" y="1"/>
                </a:lnTo>
                <a:lnTo>
                  <a:pt x="5501774" y="1"/>
                </a:lnTo>
                <a:lnTo>
                  <a:pt x="5501774" y="1513523"/>
                </a:lnTo>
                <a:lnTo>
                  <a:pt x="2675908" y="1513523"/>
                </a:lnTo>
                <a:lnTo>
                  <a:pt x="2675908" y="2093595"/>
                </a:lnTo>
                <a:lnTo>
                  <a:pt x="4971924" y="2093595"/>
                </a:lnTo>
                <a:lnTo>
                  <a:pt x="4971924" y="3607117"/>
                </a:lnTo>
                <a:lnTo>
                  <a:pt x="2675908" y="3607117"/>
                </a:lnTo>
                <a:lnTo>
                  <a:pt x="2675908" y="4196715"/>
                </a:lnTo>
                <a:lnTo>
                  <a:pt x="5501774" y="4196715"/>
                </a:lnTo>
                <a:lnTo>
                  <a:pt x="5501774" y="5710237"/>
                </a:lnTo>
                <a:lnTo>
                  <a:pt x="2675908" y="5710237"/>
                </a:lnTo>
                <a:lnTo>
                  <a:pt x="1951722" y="5710237"/>
                </a:lnTo>
                <a:lnTo>
                  <a:pt x="0" y="5710237"/>
                </a:lnTo>
                <a:close/>
              </a:path>
            </a:pathLst>
          </a:custGeom>
        </p:spPr>
      </p:pic>
      <p:sp>
        <p:nvSpPr>
          <p:cNvPr id="10" name="Marcador de texto 9">
            <a:extLst>
              <a:ext uri="{FF2B5EF4-FFF2-40B4-BE49-F238E27FC236}">
                <a16:creationId xmlns:a16="http://schemas.microsoft.com/office/drawing/2014/main" id="{64F96709-410B-0915-4195-6E4BDF25CC0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6902" y="5159528"/>
            <a:ext cx="3032274" cy="194925"/>
          </a:xfrm>
        </p:spPr>
        <p:txBody>
          <a:bodyPr/>
          <a:lstStyle/>
          <a:p>
            <a:r>
              <a:rPr lang="es-CL" dirty="0"/>
              <a:t>Universidad Señor de SIPAN</a:t>
            </a:r>
          </a:p>
        </p:txBody>
      </p:sp>
    </p:spTree>
    <p:extLst>
      <p:ext uri="{BB962C8B-B14F-4D97-AF65-F5344CB8AC3E}">
        <p14:creationId xmlns:p14="http://schemas.microsoft.com/office/powerpoint/2010/main" val="42232582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vertical 3">
            <a:extLst>
              <a:ext uri="{FF2B5EF4-FFF2-40B4-BE49-F238E27FC236}">
                <a16:creationId xmlns:a16="http://schemas.microsoft.com/office/drawing/2014/main" id="{9B079538-813F-9222-1BBD-41637301C228}"/>
              </a:ext>
            </a:extLst>
          </p:cNvPr>
          <p:cNvSpPr>
            <a:spLocks noGrp="1"/>
          </p:cNvSpPr>
          <p:nvPr>
            <p:ph type="body" orient="vert" sz="quarter" idx="4294967295"/>
          </p:nvPr>
        </p:nvSpPr>
        <p:spPr>
          <a:xfrm>
            <a:off x="0" y="685800"/>
            <a:ext cx="609600" cy="5486400"/>
          </a:xfrm>
          <a:prstGeom prst="rect">
            <a:avLst/>
          </a:prstGeom>
        </p:spPr>
        <p:txBody>
          <a:bodyPr vert="vert270" lIns="0" tIns="0" rIns="0" bIns="0" rtlCol="0" anchor="ctr" anchorCtr="0">
            <a:noAutofit/>
          </a:bodyPr>
          <a:lstStyle/>
          <a:p>
            <a:pPr marL="0" indent="0" algn="ctr">
              <a:buNone/>
            </a:pPr>
            <a:r>
              <a:rPr lang="es-ES" sz="1200" spc="300" dirty="0">
                <a:solidFill>
                  <a:schemeClr val="bg1"/>
                </a:solidFill>
              </a:rPr>
              <a:t>Gestionar las Encuestas Generales</a:t>
            </a:r>
            <a:endParaRPr lang="es-419" sz="1200" spc="300" dirty="0">
              <a:solidFill>
                <a:schemeClr val="bg1"/>
              </a:solidFill>
            </a:endParaRP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0EA592DE-9C76-B0A6-E8E1-96A451117A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5981280"/>
              </p:ext>
            </p:extLst>
          </p:nvPr>
        </p:nvGraphicFramePr>
        <p:xfrm>
          <a:off x="786088" y="1651015"/>
          <a:ext cx="9058128" cy="338747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30128">
                  <a:extLst>
                    <a:ext uri="{9D8B030D-6E8A-4147-A177-3AD203B41FA5}">
                      <a16:colId xmlns:a16="http://schemas.microsoft.com/office/drawing/2014/main" val="1835725686"/>
                    </a:ext>
                  </a:extLst>
                </a:gridCol>
                <a:gridCol w="8128000">
                  <a:extLst>
                    <a:ext uri="{9D8B030D-6E8A-4147-A177-3AD203B41FA5}">
                      <a16:colId xmlns:a16="http://schemas.microsoft.com/office/drawing/2014/main" val="52046442"/>
                    </a:ext>
                  </a:extLst>
                </a:gridCol>
              </a:tblGrid>
              <a:tr h="814199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01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Overview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1948859"/>
                  </a:ext>
                </a:extLst>
              </a:tr>
              <a:tr h="814199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02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Configuraciones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4980871"/>
                  </a:ext>
                </a:extLst>
              </a:tr>
              <a:tr h="814199">
                <a:tc>
                  <a:txBody>
                    <a:bodyPr/>
                    <a:lstStyle/>
                    <a:p>
                      <a:r>
                        <a:rPr lang="es-419" sz="2800" b="1" noProof="0" dirty="0">
                          <a:solidFill>
                            <a:schemeClr val="bg1"/>
                          </a:solidFill>
                        </a:rPr>
                        <a:t>03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MX" sz="2800" b="1" noProof="0" dirty="0">
                          <a:solidFill>
                            <a:schemeClr val="bg1"/>
                          </a:solidFill>
                        </a:rPr>
                        <a:t>Gestionar encuestas generales hacia los estudiantes</a:t>
                      </a:r>
                      <a:endParaRPr lang="es-419" sz="2800" b="1" noProof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9936347"/>
                  </a:ext>
                </a:extLst>
              </a:tr>
              <a:tr h="814199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04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Resumen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34362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31914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F1FE5FE-3967-86A2-6B0E-C8A258CF0688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ES" sz="1200" dirty="0"/>
              <a:t>Gestionar Encuestas Generales</a:t>
            </a:r>
            <a:endParaRPr lang="es-419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 err="1"/>
              <a:t>Overview</a:t>
            </a:r>
            <a:endParaRPr lang="es-ES_tradnl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05E232D-D9D9-2A5F-D6CC-14645B63038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8773314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Vertical Text Placeholder 3">
            <a:extLst>
              <a:ext uri="{FF2B5EF4-FFF2-40B4-BE49-F238E27FC236}">
                <a16:creationId xmlns:a16="http://schemas.microsoft.com/office/drawing/2014/main" id="{E84A95C1-A1C4-874B-A0F8-44AB6CD99FF1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CO" sz="1200" dirty="0"/>
              <a:t>Ejecutar procesos de cierre de periodo académico</a:t>
            </a:r>
            <a:endParaRPr lang="es-ES_tradnl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E1505E3-5A51-3A2E-57EA-74DF6A59B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337" y="508268"/>
            <a:ext cx="9418021" cy="898555"/>
          </a:xfrm>
        </p:spPr>
        <p:txBody>
          <a:bodyPr/>
          <a:lstStyle/>
          <a:p>
            <a:r>
              <a:rPr lang="es-419" sz="3200" noProof="0" dirty="0">
                <a:solidFill>
                  <a:schemeClr val="accent1"/>
                </a:solidFill>
              </a:rPr>
              <a:t>Overview: </a:t>
            </a:r>
            <a:r>
              <a:rPr lang="es-419" sz="3200" b="0" noProof="0" dirty="0">
                <a:solidFill>
                  <a:schemeClr val="accent1"/>
                </a:solidFill>
              </a:rPr>
              <a:t>Mapa de capacidades</a:t>
            </a:r>
            <a:endParaRPr lang="es-419" b="0" noProof="0" dirty="0">
              <a:solidFill>
                <a:schemeClr val="accent1"/>
              </a:solidFill>
            </a:endParaRPr>
          </a:p>
        </p:txBody>
      </p:sp>
      <p:pic>
        <p:nvPicPr>
          <p:cNvPr id="5" name="Imagen 2">
            <a:extLst>
              <a:ext uri="{FF2B5EF4-FFF2-40B4-BE49-F238E27FC236}">
                <a16:creationId xmlns:a16="http://schemas.microsoft.com/office/drawing/2014/main" id="{911D7325-C46C-1AEC-08B6-C55A90B2B5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949" y="1030689"/>
            <a:ext cx="10180101" cy="479661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C70E560-FD05-5A48-6D34-D3EBD8654FB8}"/>
              </a:ext>
            </a:extLst>
          </p:cNvPr>
          <p:cNvSpPr/>
          <p:nvPr/>
        </p:nvSpPr>
        <p:spPr>
          <a:xfrm>
            <a:off x="5473634" y="4658487"/>
            <a:ext cx="1713931" cy="646836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89118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9D552BA8-E40D-BE5E-B33E-255C974B1B4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04900" y="2130723"/>
            <a:ext cx="9698935" cy="2944451"/>
          </a:xfrm>
        </p:spPr>
        <p:txBody>
          <a:bodyPr anchor="ctr"/>
          <a:lstStyle/>
          <a:p>
            <a:pPr lvl="0"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lang="es-MX" sz="2400" b="1" dirty="0">
                <a:solidFill>
                  <a:srgbClr val="7030A0"/>
                </a:solidFill>
              </a:rPr>
              <a:t>Gestión de Eventos</a:t>
            </a:r>
          </a:p>
          <a:p>
            <a:pPr lvl="0"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lang="es-MX" sz="2400" dirty="0">
                <a:solidFill>
                  <a:srgbClr val="7030A0"/>
                </a:solidFill>
              </a:rPr>
              <a:t>Encuesta General</a:t>
            </a:r>
          </a:p>
          <a:p>
            <a:pPr lvl="0"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lang="es-MX" sz="2400" dirty="0">
                <a:solidFill>
                  <a:srgbClr val="7030A0"/>
                </a:solidFill>
              </a:rPr>
              <a:t>Gestión de la comunicación</a:t>
            </a:r>
          </a:p>
          <a:p>
            <a:pPr lvl="0"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lang="es-MX" sz="2400" dirty="0">
                <a:solidFill>
                  <a:srgbClr val="7030A0"/>
                </a:solidFill>
              </a:rPr>
              <a:t>Gestionar Autoservicios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MX" sz="1200" dirty="0"/>
              <a:t>Definir y diseñar los eventos </a:t>
            </a:r>
            <a:endParaRPr lang="es-419" sz="1200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z="3200" dirty="0">
                <a:solidFill>
                  <a:schemeClr val="tx2"/>
                </a:solidFill>
              </a:rPr>
              <a:t>Overview: </a:t>
            </a:r>
            <a:r>
              <a:rPr lang="es-ES_tradnl" dirty="0">
                <a:solidFill>
                  <a:schemeClr val="tx2"/>
                </a:solidFill>
              </a:rPr>
              <a:t>Capacidad Operativa Apoyo Académico para Estudiantes</a:t>
            </a:r>
            <a:endParaRPr lang="es-CL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48787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23F50E6-869E-D122-F39C-99610C61F1EA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Gestionar las Encuestas Generales</a:t>
            </a:r>
            <a:endParaRPr lang="es-419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021772" y="236522"/>
            <a:ext cx="10477497" cy="898555"/>
          </a:xfrm>
        </p:spPr>
        <p:txBody>
          <a:bodyPr/>
          <a:lstStyle/>
          <a:p>
            <a:r>
              <a:rPr lang="es-ES_tradnl" sz="3200" dirty="0" err="1">
                <a:solidFill>
                  <a:schemeClr val="accent1"/>
                </a:solidFill>
              </a:rPr>
              <a:t>Overview</a:t>
            </a:r>
            <a:r>
              <a:rPr lang="es-ES_tradnl" sz="3200" dirty="0">
                <a:solidFill>
                  <a:schemeClr val="accent1"/>
                </a:solidFill>
              </a:rPr>
              <a:t>: </a:t>
            </a:r>
            <a:r>
              <a:rPr lang="es-ES_tradnl" sz="3200" b="0" dirty="0">
                <a:solidFill>
                  <a:schemeClr val="accent1"/>
                </a:solidFill>
              </a:rPr>
              <a:t>Procedimiento del Proceso Gestionar Encuesta General</a:t>
            </a:r>
            <a:endParaRPr lang="es-ES_tradnl" b="0" dirty="0">
              <a:solidFill>
                <a:schemeClr val="accent1"/>
              </a:solidFill>
            </a:endParaRPr>
          </a:p>
        </p:txBody>
      </p:sp>
      <p:sp>
        <p:nvSpPr>
          <p:cNvPr id="4" name="Marcador de texto 1">
            <a:extLst>
              <a:ext uri="{FF2B5EF4-FFF2-40B4-BE49-F238E27FC236}">
                <a16:creationId xmlns:a16="http://schemas.microsoft.com/office/drawing/2014/main" id="{5B78F62D-4B77-445A-C7D5-D7E406951FE3}"/>
              </a:ext>
            </a:extLst>
          </p:cNvPr>
          <p:cNvSpPr txBox="1">
            <a:spLocks/>
          </p:cNvSpPr>
          <p:nvPr/>
        </p:nvSpPr>
        <p:spPr>
          <a:xfrm>
            <a:off x="1021772" y="1957532"/>
            <a:ext cx="10692899" cy="3860800"/>
          </a:xfrm>
          <a:prstGeom prst="rect">
            <a:avLst/>
          </a:prstGeom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lang="es-MX" sz="2400" dirty="0">
                <a:solidFill>
                  <a:srgbClr val="000000"/>
                </a:solidFill>
                <a:latin typeface="Aptos" panose="02110004020202020204"/>
              </a:rPr>
              <a:t>Se pueden generar encuestas generales (por ejemplo: calidad de la biblioteca, satisfacción general, </a:t>
            </a:r>
            <a:r>
              <a:rPr lang="es-MX" sz="2400" dirty="0" err="1">
                <a:solidFill>
                  <a:srgbClr val="000000"/>
                </a:solidFill>
                <a:latin typeface="Aptos" panose="02110004020202020204"/>
              </a:rPr>
              <a:t>etc</a:t>
            </a:r>
            <a:r>
              <a:rPr lang="es-MX" sz="2400" dirty="0">
                <a:solidFill>
                  <a:srgbClr val="000000"/>
                </a:solidFill>
                <a:latin typeface="Aptos" panose="02110004020202020204"/>
              </a:rPr>
              <a:t>), para que la responda un público determinado.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lang="es-MX" sz="2400" dirty="0">
                <a:solidFill>
                  <a:srgbClr val="000000"/>
                </a:solidFill>
                <a:latin typeface="Aptos" panose="02110004020202020204"/>
              </a:rPr>
              <a:t>Las encuestas tienen una estructura que consiste en:</a:t>
            </a:r>
          </a:p>
          <a:p>
            <a:pPr lvl="1"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lang="es-MX" sz="2000" dirty="0">
                <a:solidFill>
                  <a:srgbClr val="000000"/>
                </a:solidFill>
                <a:latin typeface="Aptos" panose="02110004020202020204"/>
              </a:rPr>
              <a:t>Respuestas. </a:t>
            </a:r>
          </a:p>
          <a:p>
            <a:pPr lvl="1"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lang="es-MX" sz="2000" dirty="0">
                <a:solidFill>
                  <a:srgbClr val="000000"/>
                </a:solidFill>
                <a:latin typeface="Aptos" panose="02110004020202020204"/>
              </a:rPr>
              <a:t>Preguntas. </a:t>
            </a:r>
          </a:p>
          <a:p>
            <a:pPr lvl="1"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lang="es-MX" sz="2000" dirty="0">
                <a:solidFill>
                  <a:srgbClr val="000000"/>
                </a:solidFill>
                <a:latin typeface="Aptos" panose="02110004020202020204"/>
              </a:rPr>
              <a:t>Áreas de preguntas.</a:t>
            </a:r>
          </a:p>
          <a:p>
            <a:pPr lvl="1"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lang="es-MX" sz="2000" dirty="0">
                <a:solidFill>
                  <a:srgbClr val="000000"/>
                </a:solidFill>
                <a:latin typeface="Aptos" panose="02110004020202020204"/>
              </a:rPr>
              <a:t>Pesos asociados.</a:t>
            </a:r>
          </a:p>
          <a:p>
            <a:pPr lvl="1"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lang="es-MX" sz="2000" dirty="0">
                <a:solidFill>
                  <a:srgbClr val="000000"/>
                </a:solidFill>
                <a:latin typeface="Aptos" panose="02110004020202020204"/>
              </a:rPr>
              <a:t>Se indicará el público específico que debe responder. Ejemplo: Estudiantes que estén en un NRC específico.</a:t>
            </a:r>
          </a:p>
          <a:p>
            <a:pPr lvl="1"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lang="es-ES_tradnl" sz="2000" dirty="0">
                <a:solidFill>
                  <a:srgbClr val="000000"/>
                </a:solidFill>
                <a:latin typeface="Aptos" panose="02110004020202020204"/>
              </a:rPr>
              <a:t>La institución se encarga de recopilar la información obtenida y tabularla.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lang="es-CO" sz="2400" dirty="0">
                <a:solidFill>
                  <a:srgbClr val="000000"/>
                </a:solidFill>
                <a:latin typeface="Aptos" panose="02110004020202020204"/>
              </a:rPr>
              <a:t>Se indicará el público específico que debe responder. Ejemplo: Estudiantes que estén en un NRC específico.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lang="es-CO" sz="2400" dirty="0">
                <a:solidFill>
                  <a:srgbClr val="000000"/>
                </a:solidFill>
                <a:latin typeface="Aptos" panose="02110004020202020204"/>
              </a:rPr>
              <a:t>La institución se encarga de recopilar la información obtenida y tabularla</a:t>
            </a:r>
            <a:endParaRPr lang="es-ES_tradnl" sz="2400" dirty="0">
              <a:solidFill>
                <a:srgbClr val="000000"/>
              </a:solidFill>
              <a:latin typeface="Aptos" panose="0211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6491179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23F50E6-869E-D122-F39C-99610C61F1EA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MX" dirty="0"/>
              <a:t>Gestionar las encuestas generales</a:t>
            </a:r>
            <a:endParaRPr lang="en-US" dirty="0"/>
          </a:p>
        </p:txBody>
      </p:sp>
      <p:sp>
        <p:nvSpPr>
          <p:cNvPr id="6" name="Título 3">
            <a:extLst>
              <a:ext uri="{FF2B5EF4-FFF2-40B4-BE49-F238E27FC236}">
                <a16:creationId xmlns:a16="http://schemas.microsoft.com/office/drawing/2014/main" id="{74494DC3-24F6-7B1F-F029-C9E07C4DBC71}"/>
              </a:ext>
            </a:extLst>
          </p:cNvPr>
          <p:cNvSpPr txBox="1">
            <a:spLocks/>
          </p:cNvSpPr>
          <p:nvPr/>
        </p:nvSpPr>
        <p:spPr>
          <a:xfrm>
            <a:off x="1108859" y="663039"/>
            <a:ext cx="10477497" cy="89855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dirty="0">
                <a:solidFill>
                  <a:schemeClr val="accent1"/>
                </a:solidFill>
              </a:rPr>
              <a:t>Overview: </a:t>
            </a:r>
            <a:r>
              <a:rPr lang="es-MX" b="0" dirty="0">
                <a:solidFill>
                  <a:schemeClr val="accent1"/>
                </a:solidFill>
              </a:rPr>
              <a:t>Gestionar encuestas generales </a:t>
            </a:r>
            <a:endParaRPr lang="es-CL" b="0" dirty="0">
              <a:solidFill>
                <a:schemeClr val="accent1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89DFD12-C8AD-F303-D81D-D449FB2734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4058" y="1726503"/>
            <a:ext cx="9947097" cy="36135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830158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vertical 1">
            <a:extLst>
              <a:ext uri="{FF2B5EF4-FFF2-40B4-BE49-F238E27FC236}">
                <a16:creationId xmlns:a16="http://schemas.microsoft.com/office/drawing/2014/main" id="{AE1BB385-EBB9-AD98-896B-A427CE8D8785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MX" dirty="0"/>
              <a:t>Gestionar las encuestas generales</a:t>
            </a:r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 err="1"/>
              <a:t>Overview</a:t>
            </a:r>
            <a:r>
              <a:rPr lang="es-ES_tradnl" dirty="0"/>
              <a:t>: </a:t>
            </a:r>
            <a:r>
              <a:rPr lang="es-ES_tradnl" b="1" dirty="0"/>
              <a:t>Región donde aplica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67F9A8D2-DB8A-9348-9C89-4582AE2EB894}"/>
              </a:ext>
            </a:extLst>
          </p:cNvPr>
          <p:cNvSpPr txBox="1"/>
          <p:nvPr/>
        </p:nvSpPr>
        <p:spPr>
          <a:xfrm>
            <a:off x="8409273" y="3182780"/>
            <a:ext cx="15371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Todo LAC</a:t>
            </a:r>
          </a:p>
        </p:txBody>
      </p:sp>
      <p:pic>
        <p:nvPicPr>
          <p:cNvPr id="3" name="Picture 9" descr="A purple map of south america&#10;&#10;AI-generated content may be incorrect.">
            <a:extLst>
              <a:ext uri="{FF2B5EF4-FFF2-40B4-BE49-F238E27FC236}">
                <a16:creationId xmlns:a16="http://schemas.microsoft.com/office/drawing/2014/main" id="{5621495E-1405-031C-7CDA-FF070AAF90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8959" y="1312731"/>
            <a:ext cx="5219641" cy="5219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8180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/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MX" dirty="0"/>
              <a:t>Gestionar las encuestas generales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Configuraciones</a:t>
            </a:r>
          </a:p>
        </p:txBody>
      </p:sp>
    </p:spTree>
    <p:extLst>
      <p:ext uri="{BB962C8B-B14F-4D97-AF65-F5344CB8AC3E}">
        <p14:creationId xmlns:p14="http://schemas.microsoft.com/office/powerpoint/2010/main" val="3450403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n 21">
            <a:extLst>
              <a:ext uri="{FF2B5EF4-FFF2-40B4-BE49-F238E27FC236}">
                <a16:creationId xmlns:a16="http://schemas.microsoft.com/office/drawing/2014/main" id="{FC030214-BFFE-946A-5D8B-9A870C27526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318"/>
          <a:stretch>
            <a:fillRect/>
          </a:stretch>
        </p:blipFill>
        <p:spPr>
          <a:xfrm>
            <a:off x="621987" y="1414732"/>
            <a:ext cx="10906125" cy="4874886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23F50E6-869E-D122-F39C-99610C61F1EA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MX" dirty="0"/>
              <a:t>Gestionar las encuestas generales</a:t>
            </a:r>
            <a:endParaRPr lang="en-US" dirty="0"/>
          </a:p>
        </p:txBody>
      </p:sp>
      <p:sp>
        <p:nvSpPr>
          <p:cNvPr id="2" name="Título 3">
            <a:extLst>
              <a:ext uri="{FF2B5EF4-FFF2-40B4-BE49-F238E27FC236}">
                <a16:creationId xmlns:a16="http://schemas.microsoft.com/office/drawing/2014/main" id="{BF2DF5C1-E252-A2AA-562E-110C9FDDF79E}"/>
              </a:ext>
            </a:extLst>
          </p:cNvPr>
          <p:cNvSpPr txBox="1">
            <a:spLocks/>
          </p:cNvSpPr>
          <p:nvPr/>
        </p:nvSpPr>
        <p:spPr>
          <a:xfrm>
            <a:off x="806290" y="209387"/>
            <a:ext cx="10271883" cy="62616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dirty="0">
                <a:solidFill>
                  <a:schemeClr val="accent1"/>
                </a:solidFill>
              </a:rPr>
              <a:t>Configuración: </a:t>
            </a:r>
            <a:r>
              <a:rPr lang="es-419" sz="3000" b="0" dirty="0">
                <a:solidFill>
                  <a:schemeClr val="accent1"/>
                </a:solidFill>
              </a:rPr>
              <a:t>GVVACOD</a:t>
            </a:r>
            <a:br>
              <a:rPr lang="es-419" sz="3000" b="0" dirty="0">
                <a:solidFill>
                  <a:schemeClr val="accent1"/>
                </a:solidFill>
              </a:rPr>
            </a:br>
            <a:r>
              <a:rPr lang="es-419" sz="3000" b="0" dirty="0">
                <a:solidFill>
                  <a:schemeClr val="accent1"/>
                </a:solidFill>
              </a:rPr>
              <a:t>Validación de código de respuesta general</a:t>
            </a:r>
            <a:endParaRPr lang="es-CL" b="0" dirty="0">
              <a:solidFill>
                <a:schemeClr val="accent1"/>
              </a:solidFill>
            </a:endParaRPr>
          </a:p>
        </p:txBody>
      </p:sp>
      <p:sp>
        <p:nvSpPr>
          <p:cNvPr id="6" name="Rectángulo redondeado 5">
            <a:extLst>
              <a:ext uri="{FF2B5EF4-FFF2-40B4-BE49-F238E27FC236}">
                <a16:creationId xmlns:a16="http://schemas.microsoft.com/office/drawing/2014/main" id="{1CCCA2CA-D5CB-BEC4-887A-F2480F3FEB0A}"/>
              </a:ext>
            </a:extLst>
          </p:cNvPr>
          <p:cNvSpPr/>
          <p:nvPr/>
        </p:nvSpPr>
        <p:spPr>
          <a:xfrm>
            <a:off x="621987" y="3063446"/>
            <a:ext cx="10960413" cy="2957742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419" sz="1400" dirty="0"/>
              <a:t>Está página se usa para crear las respuestas que van a tener las diferentes preguntas. Para crear un nuevo registro,  tenga en cuenta:</a:t>
            </a:r>
          </a:p>
          <a:p>
            <a:pPr marL="342900" indent="-342900">
              <a:buFont typeface="+mj-lt"/>
              <a:buAutoNum type="arabicPeriod"/>
            </a:pPr>
            <a:r>
              <a:rPr lang="es-419" sz="1400" dirty="0"/>
              <a:t>Presione la opción Insertar (+)</a:t>
            </a:r>
          </a:p>
          <a:p>
            <a:pPr marL="342900" indent="-342900">
              <a:buFont typeface="+mj-lt"/>
              <a:buAutoNum type="arabicPeriod"/>
            </a:pPr>
            <a:r>
              <a:rPr lang="es-419" sz="1400" dirty="0"/>
              <a:t>Código: campo de 8 caracteres que identificará el código de la respuesta. No puede ser nulo y debe ser único.</a:t>
            </a:r>
          </a:p>
          <a:p>
            <a:pPr marL="342900" indent="-342900">
              <a:buFont typeface="+mj-lt"/>
              <a:buAutoNum type="arabicPeriod"/>
            </a:pPr>
            <a:r>
              <a:rPr lang="es-419" sz="1400" dirty="0"/>
              <a:t>Ingrese la descripción. Máximo 30 caracteres.</a:t>
            </a:r>
          </a:p>
          <a:p>
            <a:pPr marL="342900" indent="-342900">
              <a:buFont typeface="+mj-lt"/>
              <a:buAutoNum type="arabicPeriod"/>
            </a:pPr>
            <a:r>
              <a:rPr lang="es-419" sz="1400" dirty="0"/>
              <a:t>Tipo de respuesta:</a:t>
            </a:r>
          </a:p>
          <a:p>
            <a:pPr marL="857250" lvl="1" indent="-400050">
              <a:buFont typeface="+mj-lt"/>
              <a:buAutoNum type="alphaLcParenR"/>
            </a:pPr>
            <a:r>
              <a:rPr lang="es-419" sz="1400" dirty="0"/>
              <a:t>MS: Selección múltiple. Permite escoger más de una opción.</a:t>
            </a:r>
          </a:p>
          <a:p>
            <a:pPr marL="857250" lvl="1" indent="-400050">
              <a:buFont typeface="+mj-lt"/>
              <a:buAutoNum type="alphaLcParenR"/>
            </a:pPr>
            <a:r>
              <a:rPr lang="es-419" sz="1400" dirty="0"/>
              <a:t>MO: Opción múltiple. Permite escoger sólo una opción.</a:t>
            </a:r>
          </a:p>
          <a:p>
            <a:pPr marL="857250" lvl="1" indent="-400050">
              <a:buFont typeface="+mj-lt"/>
              <a:buAutoNum type="alphaLcParenR"/>
            </a:pPr>
            <a:r>
              <a:rPr lang="es-419" sz="1400" dirty="0"/>
              <a:t>OP: Open. Se puede ingresar un texto.</a:t>
            </a:r>
          </a:p>
          <a:p>
            <a:pPr marL="857250" lvl="1" indent="-400050">
              <a:buFont typeface="+mj-lt"/>
              <a:buAutoNum type="alphaLcParenR"/>
            </a:pPr>
            <a:r>
              <a:rPr lang="es-419" sz="1400" dirty="0"/>
              <a:t>MOC: Opción múltiple con comentarios: Permite escoger sólo una opción y adicionar un comentario.</a:t>
            </a:r>
          </a:p>
          <a:p>
            <a:pPr marL="857250" lvl="1" indent="-400050">
              <a:buFont typeface="+mj-lt"/>
              <a:buAutoNum type="alphaLcParenR"/>
            </a:pPr>
            <a:r>
              <a:rPr lang="es-419" sz="1400" dirty="0"/>
              <a:t>MSC: Selección múltiple. Permite escoger más de una opción y adicionar un comentario.</a:t>
            </a:r>
          </a:p>
          <a:p>
            <a:pPr marL="857250" lvl="1" indent="-400050">
              <a:buFont typeface="+mj-lt"/>
              <a:buAutoNum type="alphaLcParenR"/>
            </a:pPr>
            <a:r>
              <a:rPr lang="es-419" sz="1400" dirty="0"/>
              <a:t>NQ: Para indicar que no es una pregunta.</a:t>
            </a:r>
          </a:p>
          <a:p>
            <a:pPr marL="342900" indent="-342900">
              <a:buFont typeface="+mj-lt"/>
              <a:buAutoNum type="arabicPeriod"/>
            </a:pPr>
            <a:r>
              <a:rPr lang="es-419" sz="1400" dirty="0"/>
              <a:t>Guarde los datos.</a:t>
            </a:r>
          </a:p>
          <a:p>
            <a:endParaRPr lang="es-419" sz="1100" dirty="0"/>
          </a:p>
        </p:txBody>
      </p:sp>
      <p:sp>
        <p:nvSpPr>
          <p:cNvPr id="19" name="Rectángulo redondeado 15">
            <a:extLst>
              <a:ext uri="{FF2B5EF4-FFF2-40B4-BE49-F238E27FC236}">
                <a16:creationId xmlns:a16="http://schemas.microsoft.com/office/drawing/2014/main" id="{4CB1534E-2736-8623-8D69-591E0D9A4135}"/>
              </a:ext>
            </a:extLst>
          </p:cNvPr>
          <p:cNvSpPr/>
          <p:nvPr/>
        </p:nvSpPr>
        <p:spPr>
          <a:xfrm>
            <a:off x="10434559" y="1720088"/>
            <a:ext cx="267056" cy="151011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  <p:sp>
        <p:nvSpPr>
          <p:cNvPr id="21" name="Rectángulo redondeado 15">
            <a:extLst>
              <a:ext uri="{FF2B5EF4-FFF2-40B4-BE49-F238E27FC236}">
                <a16:creationId xmlns:a16="http://schemas.microsoft.com/office/drawing/2014/main" id="{96D2D930-1DCF-1B78-5D87-CF48A3423174}"/>
              </a:ext>
            </a:extLst>
          </p:cNvPr>
          <p:cNvSpPr/>
          <p:nvPr/>
        </p:nvSpPr>
        <p:spPr>
          <a:xfrm>
            <a:off x="1092466" y="2196271"/>
            <a:ext cx="267056" cy="151011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</a:t>
            </a:r>
          </a:p>
        </p:txBody>
      </p:sp>
      <p:sp>
        <p:nvSpPr>
          <p:cNvPr id="24" name="Rectángulo redondeado 15">
            <a:extLst>
              <a:ext uri="{FF2B5EF4-FFF2-40B4-BE49-F238E27FC236}">
                <a16:creationId xmlns:a16="http://schemas.microsoft.com/office/drawing/2014/main" id="{4BD2BFB5-D939-B9AF-1A0D-A6A96452766A}"/>
              </a:ext>
            </a:extLst>
          </p:cNvPr>
          <p:cNvSpPr/>
          <p:nvPr/>
        </p:nvSpPr>
        <p:spPr>
          <a:xfrm>
            <a:off x="3699113" y="2191163"/>
            <a:ext cx="267056" cy="151011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3</a:t>
            </a:r>
          </a:p>
        </p:txBody>
      </p:sp>
      <p:sp>
        <p:nvSpPr>
          <p:cNvPr id="26" name="Rectángulo redondeado 15">
            <a:extLst>
              <a:ext uri="{FF2B5EF4-FFF2-40B4-BE49-F238E27FC236}">
                <a16:creationId xmlns:a16="http://schemas.microsoft.com/office/drawing/2014/main" id="{95AC06D1-F4B8-601D-1ABB-378FDB22C5D4}"/>
              </a:ext>
            </a:extLst>
          </p:cNvPr>
          <p:cNvSpPr/>
          <p:nvPr/>
        </p:nvSpPr>
        <p:spPr>
          <a:xfrm>
            <a:off x="7762764" y="2163583"/>
            <a:ext cx="267056" cy="151011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4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51F68732-AF64-F549-1ACC-C215CAD5DF7F}"/>
              </a:ext>
            </a:extLst>
          </p:cNvPr>
          <p:cNvSpPr/>
          <p:nvPr/>
        </p:nvSpPr>
        <p:spPr>
          <a:xfrm>
            <a:off x="10784848" y="1688392"/>
            <a:ext cx="234824" cy="151010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9949173B-96FF-6C54-ABC5-DB2C07255203}"/>
              </a:ext>
            </a:extLst>
          </p:cNvPr>
          <p:cNvSpPr/>
          <p:nvPr/>
        </p:nvSpPr>
        <p:spPr>
          <a:xfrm>
            <a:off x="1776569" y="2012572"/>
            <a:ext cx="1922544" cy="151011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0BBF53C4-E584-C847-B83B-2FA41CCCB6B3}"/>
              </a:ext>
            </a:extLst>
          </p:cNvPr>
          <p:cNvSpPr/>
          <p:nvPr/>
        </p:nvSpPr>
        <p:spPr>
          <a:xfrm>
            <a:off x="540269" y="2015026"/>
            <a:ext cx="959627" cy="159289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94A9822B-8785-BF41-054B-E324EABDB3C2}"/>
              </a:ext>
            </a:extLst>
          </p:cNvPr>
          <p:cNvSpPr/>
          <p:nvPr/>
        </p:nvSpPr>
        <p:spPr>
          <a:xfrm>
            <a:off x="11098328" y="6021187"/>
            <a:ext cx="536620" cy="192926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6" name="Rectángulo redondeado 15">
            <a:extLst>
              <a:ext uri="{FF2B5EF4-FFF2-40B4-BE49-F238E27FC236}">
                <a16:creationId xmlns:a16="http://schemas.microsoft.com/office/drawing/2014/main" id="{E273DDB3-AA89-37C4-B044-346A93513779}"/>
              </a:ext>
            </a:extLst>
          </p:cNvPr>
          <p:cNvSpPr/>
          <p:nvPr/>
        </p:nvSpPr>
        <p:spPr>
          <a:xfrm>
            <a:off x="10790471" y="6021187"/>
            <a:ext cx="267056" cy="151011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5</a:t>
            </a:r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73129F53-2E8D-68AA-096D-94A986442E63}"/>
              </a:ext>
            </a:extLst>
          </p:cNvPr>
          <p:cNvSpPr/>
          <p:nvPr/>
        </p:nvSpPr>
        <p:spPr>
          <a:xfrm>
            <a:off x="7230962" y="1989401"/>
            <a:ext cx="536620" cy="151012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592213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2B3964-8CBA-A8DB-81EE-745B94FB1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1D45BF1-112F-255D-EA9C-C5C99443AA4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MX" dirty="0"/>
              <a:t>Gestionar las encuestas generales</a:t>
            </a:r>
            <a:endParaRPr lang="en-US" dirty="0"/>
          </a:p>
        </p:txBody>
      </p:sp>
      <p:sp>
        <p:nvSpPr>
          <p:cNvPr id="2" name="Título 3">
            <a:extLst>
              <a:ext uri="{FF2B5EF4-FFF2-40B4-BE49-F238E27FC236}">
                <a16:creationId xmlns:a16="http://schemas.microsoft.com/office/drawing/2014/main" id="{90E147FC-810D-016E-0F5B-247470077277}"/>
              </a:ext>
            </a:extLst>
          </p:cNvPr>
          <p:cNvSpPr txBox="1">
            <a:spLocks/>
          </p:cNvSpPr>
          <p:nvPr/>
        </p:nvSpPr>
        <p:spPr>
          <a:xfrm>
            <a:off x="806290" y="209387"/>
            <a:ext cx="11004732" cy="62616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sz="3600" dirty="0">
                <a:solidFill>
                  <a:schemeClr val="accent1"/>
                </a:solidFill>
              </a:rPr>
              <a:t>Configuración: </a:t>
            </a:r>
            <a:r>
              <a:rPr lang="es-419" b="0" dirty="0">
                <a:solidFill>
                  <a:schemeClr val="accent1"/>
                </a:solidFill>
              </a:rPr>
              <a:t>GVAPVAC</a:t>
            </a:r>
            <a:br>
              <a:rPr lang="es-419" b="0" dirty="0">
                <a:solidFill>
                  <a:schemeClr val="accent1"/>
                </a:solidFill>
              </a:rPr>
            </a:br>
            <a:r>
              <a:rPr lang="es-419" b="0" dirty="0">
                <a:solidFill>
                  <a:schemeClr val="accent1"/>
                </a:solidFill>
              </a:rPr>
              <a:t>Definición de código de respuesta general</a:t>
            </a:r>
            <a:endParaRPr lang="es-CL" b="0" dirty="0">
              <a:solidFill>
                <a:schemeClr val="accent1"/>
              </a:solidFill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3070803-28D6-71B4-12A4-0650B879A4B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561"/>
          <a:stretch>
            <a:fillRect/>
          </a:stretch>
        </p:blipFill>
        <p:spPr>
          <a:xfrm>
            <a:off x="739661" y="1733909"/>
            <a:ext cx="11101858" cy="1917270"/>
          </a:xfrm>
          <a:prstGeom prst="rect">
            <a:avLst/>
          </a:prstGeom>
        </p:spPr>
      </p:pic>
      <p:sp>
        <p:nvSpPr>
          <p:cNvPr id="25" name="Rectángulo 24">
            <a:extLst>
              <a:ext uri="{FF2B5EF4-FFF2-40B4-BE49-F238E27FC236}">
                <a16:creationId xmlns:a16="http://schemas.microsoft.com/office/drawing/2014/main" id="{CBE89519-2086-F2D2-C85F-90DC40DC6F35}"/>
              </a:ext>
            </a:extLst>
          </p:cNvPr>
          <p:cNvSpPr/>
          <p:nvPr/>
        </p:nvSpPr>
        <p:spPr>
          <a:xfrm>
            <a:off x="11470503" y="2000135"/>
            <a:ext cx="352852" cy="277771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26" name="Rectángulo redondeado 5">
            <a:extLst>
              <a:ext uri="{FF2B5EF4-FFF2-40B4-BE49-F238E27FC236}">
                <a16:creationId xmlns:a16="http://schemas.microsoft.com/office/drawing/2014/main" id="{7CAA7514-DA6E-20B5-CEE9-8ACE51803CD6}"/>
              </a:ext>
            </a:extLst>
          </p:cNvPr>
          <p:cNvSpPr/>
          <p:nvPr/>
        </p:nvSpPr>
        <p:spPr>
          <a:xfrm>
            <a:off x="10587876" y="2542155"/>
            <a:ext cx="1223146" cy="238528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Presione Ir</a:t>
            </a:r>
          </a:p>
        </p:txBody>
      </p:sp>
      <p:sp>
        <p:nvSpPr>
          <p:cNvPr id="27" name="Rectángulo redondeado 8">
            <a:extLst>
              <a:ext uri="{FF2B5EF4-FFF2-40B4-BE49-F238E27FC236}">
                <a16:creationId xmlns:a16="http://schemas.microsoft.com/office/drawing/2014/main" id="{2AB2908F-51C5-9C12-3161-769F3930CB16}"/>
              </a:ext>
            </a:extLst>
          </p:cNvPr>
          <p:cNvSpPr/>
          <p:nvPr/>
        </p:nvSpPr>
        <p:spPr>
          <a:xfrm>
            <a:off x="10919201" y="2065785"/>
            <a:ext cx="360421" cy="277771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</a:t>
            </a:r>
          </a:p>
        </p:txBody>
      </p:sp>
      <p:sp>
        <p:nvSpPr>
          <p:cNvPr id="28" name="Rectángulo redondeado 5">
            <a:extLst>
              <a:ext uri="{FF2B5EF4-FFF2-40B4-BE49-F238E27FC236}">
                <a16:creationId xmlns:a16="http://schemas.microsoft.com/office/drawing/2014/main" id="{380F8928-C728-91D8-01F8-D2B273A430FD}"/>
              </a:ext>
            </a:extLst>
          </p:cNvPr>
          <p:cNvSpPr/>
          <p:nvPr/>
        </p:nvSpPr>
        <p:spPr>
          <a:xfrm>
            <a:off x="739661" y="2805205"/>
            <a:ext cx="2507755" cy="481940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En GVAPVAC seleccione el código de respuesta.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D5875709-96BF-BB18-1DFB-06FD45756C0B}"/>
              </a:ext>
            </a:extLst>
          </p:cNvPr>
          <p:cNvSpPr/>
          <p:nvPr/>
        </p:nvSpPr>
        <p:spPr>
          <a:xfrm>
            <a:off x="700155" y="2022265"/>
            <a:ext cx="2507756" cy="277772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30" name="Rectángulo redondeado 8">
            <a:extLst>
              <a:ext uri="{FF2B5EF4-FFF2-40B4-BE49-F238E27FC236}">
                <a16:creationId xmlns:a16="http://schemas.microsoft.com/office/drawing/2014/main" id="{708F1500-07C8-688F-48BA-B9C4D5E30918}"/>
              </a:ext>
            </a:extLst>
          </p:cNvPr>
          <p:cNvSpPr/>
          <p:nvPr/>
        </p:nvSpPr>
        <p:spPr>
          <a:xfrm>
            <a:off x="1090501" y="2403670"/>
            <a:ext cx="360421" cy="277771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3903738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E7484-4014-7B3E-0A02-6F6E6A048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n 17">
            <a:extLst>
              <a:ext uri="{FF2B5EF4-FFF2-40B4-BE49-F238E27FC236}">
                <a16:creationId xmlns:a16="http://schemas.microsoft.com/office/drawing/2014/main" id="{47B6A18D-50C6-74D1-B2C6-144EC919EE7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285"/>
          <a:stretch>
            <a:fillRect/>
          </a:stretch>
        </p:blipFill>
        <p:spPr>
          <a:xfrm>
            <a:off x="876300" y="1578634"/>
            <a:ext cx="10565229" cy="4734597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7EE40FA-C687-A053-A58A-901F072DB359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MX" dirty="0"/>
              <a:t>Gestionar las encuestas generales</a:t>
            </a:r>
            <a:endParaRPr lang="en-US" dirty="0"/>
          </a:p>
        </p:txBody>
      </p:sp>
      <p:sp>
        <p:nvSpPr>
          <p:cNvPr id="2" name="Título 3">
            <a:extLst>
              <a:ext uri="{FF2B5EF4-FFF2-40B4-BE49-F238E27FC236}">
                <a16:creationId xmlns:a16="http://schemas.microsoft.com/office/drawing/2014/main" id="{6D0A6321-8E46-6DEC-3E25-DC497FC3687D}"/>
              </a:ext>
            </a:extLst>
          </p:cNvPr>
          <p:cNvSpPr txBox="1">
            <a:spLocks/>
          </p:cNvSpPr>
          <p:nvPr/>
        </p:nvSpPr>
        <p:spPr>
          <a:xfrm>
            <a:off x="806290" y="209387"/>
            <a:ext cx="10271883" cy="62616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sz="3600" dirty="0">
                <a:solidFill>
                  <a:schemeClr val="accent1"/>
                </a:solidFill>
              </a:rPr>
              <a:t>Configuración: </a:t>
            </a:r>
            <a:r>
              <a:rPr lang="es-419" b="0" dirty="0">
                <a:solidFill>
                  <a:schemeClr val="accent1"/>
                </a:solidFill>
              </a:rPr>
              <a:t>GVAPVAC</a:t>
            </a:r>
            <a:br>
              <a:rPr lang="es-419" b="0" dirty="0">
                <a:solidFill>
                  <a:schemeClr val="accent1"/>
                </a:solidFill>
              </a:rPr>
            </a:br>
            <a:r>
              <a:rPr lang="es-419" b="0" dirty="0">
                <a:solidFill>
                  <a:schemeClr val="accent1"/>
                </a:solidFill>
              </a:rPr>
              <a:t>Definición de código de respuesta general</a:t>
            </a:r>
            <a:endParaRPr lang="es-CL" b="0" dirty="0">
              <a:solidFill>
                <a:schemeClr val="accent1"/>
              </a:solidFill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9D82FA15-A66E-4021-C7B5-D31349620F67}"/>
              </a:ext>
            </a:extLst>
          </p:cNvPr>
          <p:cNvSpPr/>
          <p:nvPr/>
        </p:nvSpPr>
        <p:spPr>
          <a:xfrm>
            <a:off x="7389878" y="2173545"/>
            <a:ext cx="1877449" cy="1122550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5" name="Rectángulo redondeado 5">
            <a:extLst>
              <a:ext uri="{FF2B5EF4-FFF2-40B4-BE49-F238E27FC236}">
                <a16:creationId xmlns:a16="http://schemas.microsoft.com/office/drawing/2014/main" id="{940305D8-C7D8-0CA0-1744-8E90DF6826C8}"/>
              </a:ext>
            </a:extLst>
          </p:cNvPr>
          <p:cNvSpPr/>
          <p:nvPr/>
        </p:nvSpPr>
        <p:spPr>
          <a:xfrm>
            <a:off x="1280968" y="3486560"/>
            <a:ext cx="1564741" cy="692453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Ingrese el orden  y la descripción de la respuesta.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A57AF53-4950-AE76-8C3B-4E749E692DAC}"/>
              </a:ext>
            </a:extLst>
          </p:cNvPr>
          <p:cNvSpPr/>
          <p:nvPr/>
        </p:nvSpPr>
        <p:spPr>
          <a:xfrm>
            <a:off x="884867" y="2149510"/>
            <a:ext cx="2210758" cy="958510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8" name="Rectángulo redondeado 8">
            <a:extLst>
              <a:ext uri="{FF2B5EF4-FFF2-40B4-BE49-F238E27FC236}">
                <a16:creationId xmlns:a16="http://schemas.microsoft.com/office/drawing/2014/main" id="{B72F89A1-FBD1-D238-C674-2FBE13B0D9F1}"/>
              </a:ext>
            </a:extLst>
          </p:cNvPr>
          <p:cNvSpPr/>
          <p:nvPr/>
        </p:nvSpPr>
        <p:spPr>
          <a:xfrm>
            <a:off x="1874085" y="3208789"/>
            <a:ext cx="360421" cy="277771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3</a:t>
            </a:r>
          </a:p>
        </p:txBody>
      </p:sp>
      <p:sp>
        <p:nvSpPr>
          <p:cNvPr id="9" name="Rectángulo redondeado 7">
            <a:extLst>
              <a:ext uri="{FF2B5EF4-FFF2-40B4-BE49-F238E27FC236}">
                <a16:creationId xmlns:a16="http://schemas.microsoft.com/office/drawing/2014/main" id="{B81322E6-3204-0E3E-9D56-1C84A89EE674}"/>
              </a:ext>
            </a:extLst>
          </p:cNvPr>
          <p:cNvSpPr/>
          <p:nvPr/>
        </p:nvSpPr>
        <p:spPr>
          <a:xfrm>
            <a:off x="7677429" y="3605002"/>
            <a:ext cx="1037514" cy="692453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Ingrese los puntos de calidad.</a:t>
            </a:r>
          </a:p>
        </p:txBody>
      </p:sp>
      <p:sp>
        <p:nvSpPr>
          <p:cNvPr id="10" name="Rectángulo redondeado 8">
            <a:extLst>
              <a:ext uri="{FF2B5EF4-FFF2-40B4-BE49-F238E27FC236}">
                <a16:creationId xmlns:a16="http://schemas.microsoft.com/office/drawing/2014/main" id="{785FD0E6-82E3-411F-E120-E23DAC3A0515}"/>
              </a:ext>
            </a:extLst>
          </p:cNvPr>
          <p:cNvSpPr/>
          <p:nvPr/>
        </p:nvSpPr>
        <p:spPr>
          <a:xfrm>
            <a:off x="7835765" y="3347469"/>
            <a:ext cx="360421" cy="218697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4</a:t>
            </a:r>
          </a:p>
        </p:txBody>
      </p:sp>
      <p:sp>
        <p:nvSpPr>
          <p:cNvPr id="11" name="Rectángulo redondeado 16">
            <a:extLst>
              <a:ext uri="{FF2B5EF4-FFF2-40B4-BE49-F238E27FC236}">
                <a16:creationId xmlns:a16="http://schemas.microsoft.com/office/drawing/2014/main" id="{6A7FA940-28BE-92F8-94DB-A66028FC53CE}"/>
              </a:ext>
            </a:extLst>
          </p:cNvPr>
          <p:cNvSpPr/>
          <p:nvPr/>
        </p:nvSpPr>
        <p:spPr>
          <a:xfrm>
            <a:off x="10005531" y="3430592"/>
            <a:ext cx="1605278" cy="1182588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Si la respuesta fue definida de tipo “con comentarios” puede indicar si estos comentarios son opcionales o no.</a:t>
            </a:r>
          </a:p>
        </p:txBody>
      </p:sp>
      <p:sp>
        <p:nvSpPr>
          <p:cNvPr id="12" name="Rectángulo redondeado 17">
            <a:extLst>
              <a:ext uri="{FF2B5EF4-FFF2-40B4-BE49-F238E27FC236}">
                <a16:creationId xmlns:a16="http://schemas.microsoft.com/office/drawing/2014/main" id="{39D15557-1DC0-640A-7A10-B43D4C0C8F92}"/>
              </a:ext>
            </a:extLst>
          </p:cNvPr>
          <p:cNvSpPr/>
          <p:nvPr/>
        </p:nvSpPr>
        <p:spPr>
          <a:xfrm>
            <a:off x="9557097" y="3347469"/>
            <a:ext cx="360421" cy="218697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5</a:t>
            </a:r>
          </a:p>
        </p:txBody>
      </p:sp>
      <p:sp>
        <p:nvSpPr>
          <p:cNvPr id="13" name="Rectángulo redondeado 19">
            <a:extLst>
              <a:ext uri="{FF2B5EF4-FFF2-40B4-BE49-F238E27FC236}">
                <a16:creationId xmlns:a16="http://schemas.microsoft.com/office/drawing/2014/main" id="{88AB971E-A50D-A5F1-8153-69AD7B2FDF0A}"/>
              </a:ext>
            </a:extLst>
          </p:cNvPr>
          <p:cNvSpPr/>
          <p:nvPr/>
        </p:nvSpPr>
        <p:spPr>
          <a:xfrm>
            <a:off x="11132377" y="5413303"/>
            <a:ext cx="710050" cy="378311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Guarde</a:t>
            </a:r>
          </a:p>
        </p:txBody>
      </p:sp>
      <p:sp>
        <p:nvSpPr>
          <p:cNvPr id="14" name="Rectángulo redondeado 20">
            <a:extLst>
              <a:ext uri="{FF2B5EF4-FFF2-40B4-BE49-F238E27FC236}">
                <a16:creationId xmlns:a16="http://schemas.microsoft.com/office/drawing/2014/main" id="{5ABCC579-5222-055D-FE36-F09822DCA35C}"/>
              </a:ext>
            </a:extLst>
          </p:cNvPr>
          <p:cNvSpPr/>
          <p:nvPr/>
        </p:nvSpPr>
        <p:spPr>
          <a:xfrm>
            <a:off x="10681339" y="5572917"/>
            <a:ext cx="360421" cy="218697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6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1EB0BCF1-84AC-109F-7EA4-73B964361D75}"/>
              </a:ext>
            </a:extLst>
          </p:cNvPr>
          <p:cNvSpPr/>
          <p:nvPr/>
        </p:nvSpPr>
        <p:spPr>
          <a:xfrm>
            <a:off x="9240013" y="2180930"/>
            <a:ext cx="1780030" cy="1122550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0B2D4EEC-2AB6-4E68-B8EB-0E8D3CD37C37}"/>
              </a:ext>
            </a:extLst>
          </p:cNvPr>
          <p:cNvSpPr/>
          <p:nvPr/>
        </p:nvSpPr>
        <p:spPr>
          <a:xfrm>
            <a:off x="10916567" y="5979563"/>
            <a:ext cx="609602" cy="292607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7785573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959A79-5DC6-118A-CDD0-BC586DF61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Imagen 30">
            <a:extLst>
              <a:ext uri="{FF2B5EF4-FFF2-40B4-BE49-F238E27FC236}">
                <a16:creationId xmlns:a16="http://schemas.microsoft.com/office/drawing/2014/main" id="{A48BD0AF-89D7-C5CF-CAD0-338D1BDBD1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247" y="1231645"/>
            <a:ext cx="10753222" cy="5073545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EE6EA73-D1B9-AF68-E369-6E5BB2BFF3FC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MX" dirty="0"/>
              <a:t>Gestionar las encuestas generales</a:t>
            </a:r>
            <a:endParaRPr lang="en-US" dirty="0"/>
          </a:p>
        </p:txBody>
      </p:sp>
      <p:sp>
        <p:nvSpPr>
          <p:cNvPr id="6" name="Título 3">
            <a:extLst>
              <a:ext uri="{FF2B5EF4-FFF2-40B4-BE49-F238E27FC236}">
                <a16:creationId xmlns:a16="http://schemas.microsoft.com/office/drawing/2014/main" id="{EA94E06A-A8AB-34C6-56CE-EBDB33289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200" dirty="0">
                <a:solidFill>
                  <a:schemeClr val="accent1"/>
                </a:solidFill>
              </a:rPr>
              <a:t>Configuración: </a:t>
            </a:r>
            <a:r>
              <a:rPr lang="es-419" sz="3000" b="0" dirty="0">
                <a:solidFill>
                  <a:schemeClr val="accent1"/>
                </a:solidFill>
              </a:rPr>
              <a:t>GTVFUNC</a:t>
            </a:r>
            <a:br>
              <a:rPr lang="es-419" sz="3000" b="0" dirty="0">
                <a:solidFill>
                  <a:schemeClr val="accent1"/>
                </a:solidFill>
              </a:rPr>
            </a:br>
            <a:r>
              <a:rPr lang="es-419" sz="3000" b="0" dirty="0">
                <a:solidFill>
                  <a:schemeClr val="accent1"/>
                </a:solidFill>
              </a:rPr>
              <a:t>Validación de código de función</a:t>
            </a:r>
            <a:endParaRPr lang="es-CL" b="0" dirty="0">
              <a:solidFill>
                <a:schemeClr val="accent1"/>
              </a:solidFill>
            </a:endParaRP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29F983E1-68A3-A844-1BF2-E63A4313B876}"/>
              </a:ext>
            </a:extLst>
          </p:cNvPr>
          <p:cNvSpPr/>
          <p:nvPr/>
        </p:nvSpPr>
        <p:spPr>
          <a:xfrm>
            <a:off x="10805500" y="1734195"/>
            <a:ext cx="220981" cy="196881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9" name="Rectángulo redondeado 5">
            <a:extLst>
              <a:ext uri="{FF2B5EF4-FFF2-40B4-BE49-F238E27FC236}">
                <a16:creationId xmlns:a16="http://schemas.microsoft.com/office/drawing/2014/main" id="{CA2A4A3A-AA8B-6FBB-AAEC-D885E526B8D5}"/>
              </a:ext>
            </a:extLst>
          </p:cNvPr>
          <p:cNvSpPr/>
          <p:nvPr/>
        </p:nvSpPr>
        <p:spPr>
          <a:xfrm>
            <a:off x="9180809" y="1718437"/>
            <a:ext cx="1454983" cy="254402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Insertar un registro</a:t>
            </a:r>
          </a:p>
        </p:txBody>
      </p:sp>
      <p:sp>
        <p:nvSpPr>
          <p:cNvPr id="20" name="Rectángulo redondeado 8">
            <a:extLst>
              <a:ext uri="{FF2B5EF4-FFF2-40B4-BE49-F238E27FC236}">
                <a16:creationId xmlns:a16="http://schemas.microsoft.com/office/drawing/2014/main" id="{C087CA21-E5FE-EB7D-20C6-D132196350BE}"/>
              </a:ext>
            </a:extLst>
          </p:cNvPr>
          <p:cNvSpPr/>
          <p:nvPr/>
        </p:nvSpPr>
        <p:spPr>
          <a:xfrm>
            <a:off x="8675601" y="1718437"/>
            <a:ext cx="360421" cy="277771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  <p:sp>
        <p:nvSpPr>
          <p:cNvPr id="21" name="Rectángulo redondeado 5">
            <a:extLst>
              <a:ext uri="{FF2B5EF4-FFF2-40B4-BE49-F238E27FC236}">
                <a16:creationId xmlns:a16="http://schemas.microsoft.com/office/drawing/2014/main" id="{7E34B067-0352-43E3-DF31-01893B6C3908}"/>
              </a:ext>
            </a:extLst>
          </p:cNvPr>
          <p:cNvSpPr/>
          <p:nvPr/>
        </p:nvSpPr>
        <p:spPr>
          <a:xfrm>
            <a:off x="1867940" y="2543872"/>
            <a:ext cx="2507755" cy="481940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Ingrese código y descripción de la pregunta.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B4F1DBCD-13FA-81DE-4B15-5F108C4A1C6F}"/>
              </a:ext>
            </a:extLst>
          </p:cNvPr>
          <p:cNvSpPr/>
          <p:nvPr/>
        </p:nvSpPr>
        <p:spPr>
          <a:xfrm>
            <a:off x="810247" y="1919791"/>
            <a:ext cx="5534155" cy="346594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23" name="Rectángulo redondeado 8">
            <a:extLst>
              <a:ext uri="{FF2B5EF4-FFF2-40B4-BE49-F238E27FC236}">
                <a16:creationId xmlns:a16="http://schemas.microsoft.com/office/drawing/2014/main" id="{1FF685BE-CDDB-49AB-199F-A1F2C2C25C28}"/>
              </a:ext>
            </a:extLst>
          </p:cNvPr>
          <p:cNvSpPr/>
          <p:nvPr/>
        </p:nvSpPr>
        <p:spPr>
          <a:xfrm>
            <a:off x="1306873" y="2404987"/>
            <a:ext cx="360421" cy="277771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</a:t>
            </a:r>
          </a:p>
        </p:txBody>
      </p:sp>
      <p:sp>
        <p:nvSpPr>
          <p:cNvPr id="24" name="Rectángulo redondeado 8">
            <a:extLst>
              <a:ext uri="{FF2B5EF4-FFF2-40B4-BE49-F238E27FC236}">
                <a16:creationId xmlns:a16="http://schemas.microsoft.com/office/drawing/2014/main" id="{7CDD00FD-8C6D-C76D-A194-E2623F17FB9C}"/>
              </a:ext>
            </a:extLst>
          </p:cNvPr>
          <p:cNvSpPr/>
          <p:nvPr/>
        </p:nvSpPr>
        <p:spPr>
          <a:xfrm>
            <a:off x="9420386" y="3151228"/>
            <a:ext cx="360421" cy="277771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3</a:t>
            </a:r>
          </a:p>
        </p:txBody>
      </p:sp>
      <p:sp>
        <p:nvSpPr>
          <p:cNvPr id="25" name="Rectángulo redondeado 8">
            <a:extLst>
              <a:ext uri="{FF2B5EF4-FFF2-40B4-BE49-F238E27FC236}">
                <a16:creationId xmlns:a16="http://schemas.microsoft.com/office/drawing/2014/main" id="{B2CF8171-8F4C-B736-926A-907D77C8AEA2}"/>
              </a:ext>
            </a:extLst>
          </p:cNvPr>
          <p:cNvSpPr/>
          <p:nvPr/>
        </p:nvSpPr>
        <p:spPr>
          <a:xfrm>
            <a:off x="10865623" y="5536621"/>
            <a:ext cx="360421" cy="277771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4</a:t>
            </a:r>
          </a:p>
        </p:txBody>
      </p:sp>
      <p:sp>
        <p:nvSpPr>
          <p:cNvPr id="26" name="Rectángulo redondeado 25">
            <a:extLst>
              <a:ext uri="{FF2B5EF4-FFF2-40B4-BE49-F238E27FC236}">
                <a16:creationId xmlns:a16="http://schemas.microsoft.com/office/drawing/2014/main" id="{3B7EC3AC-E033-7B97-8673-26E9F246455D}"/>
              </a:ext>
            </a:extLst>
          </p:cNvPr>
          <p:cNvSpPr/>
          <p:nvPr/>
        </p:nvSpPr>
        <p:spPr>
          <a:xfrm>
            <a:off x="10190228" y="2945393"/>
            <a:ext cx="1373241" cy="703196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Ingrese el código de respuesta para la pregunta.</a:t>
            </a:r>
          </a:p>
        </p:txBody>
      </p:sp>
      <p:sp>
        <p:nvSpPr>
          <p:cNvPr id="27" name="Rectángulo redondeado 28">
            <a:extLst>
              <a:ext uri="{FF2B5EF4-FFF2-40B4-BE49-F238E27FC236}">
                <a16:creationId xmlns:a16="http://schemas.microsoft.com/office/drawing/2014/main" id="{FDAEB09B-456B-F7FA-22A9-A12AAB74D498}"/>
              </a:ext>
            </a:extLst>
          </p:cNvPr>
          <p:cNvSpPr/>
          <p:nvPr/>
        </p:nvSpPr>
        <p:spPr>
          <a:xfrm>
            <a:off x="9420386" y="5861716"/>
            <a:ext cx="1504487" cy="346594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Guarde los cambios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DC520F65-B290-EAA0-C804-6CF58F4EF9D9}"/>
              </a:ext>
            </a:extLst>
          </p:cNvPr>
          <p:cNvSpPr/>
          <p:nvPr/>
        </p:nvSpPr>
        <p:spPr>
          <a:xfrm>
            <a:off x="11137940" y="6035013"/>
            <a:ext cx="487626" cy="236932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A2C670EE-9092-BB5D-5AFA-AB177630A95D}"/>
              </a:ext>
            </a:extLst>
          </p:cNvPr>
          <p:cNvSpPr/>
          <p:nvPr/>
        </p:nvSpPr>
        <p:spPr>
          <a:xfrm>
            <a:off x="10185965" y="2036075"/>
            <a:ext cx="1058532" cy="703196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9282783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876E9D-6B65-C334-8766-595E9093E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Imagen 36">
            <a:extLst>
              <a:ext uri="{FF2B5EF4-FFF2-40B4-BE49-F238E27FC236}">
                <a16:creationId xmlns:a16="http://schemas.microsoft.com/office/drawing/2014/main" id="{B4B1520A-254C-0A57-61F8-DF1A917417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336" y="1389638"/>
            <a:ext cx="11084220" cy="4782561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1EFD3C3-EFDD-3759-E2E1-DE353136CB56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MX" dirty="0"/>
              <a:t>Gestionar las encuestas generales</a:t>
            </a:r>
            <a:endParaRPr lang="en-US" dirty="0"/>
          </a:p>
        </p:txBody>
      </p:sp>
      <p:sp>
        <p:nvSpPr>
          <p:cNvPr id="6" name="Título 3">
            <a:extLst>
              <a:ext uri="{FF2B5EF4-FFF2-40B4-BE49-F238E27FC236}">
                <a16:creationId xmlns:a16="http://schemas.microsoft.com/office/drawing/2014/main" id="{9BD85B05-AF1B-8E97-EA2C-E9EF5D520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600" dirty="0">
                <a:solidFill>
                  <a:schemeClr val="accent1"/>
                </a:solidFill>
              </a:rPr>
              <a:t>Configuración: </a:t>
            </a:r>
            <a:r>
              <a:rPr lang="es-419" b="0" dirty="0">
                <a:solidFill>
                  <a:schemeClr val="accent1"/>
                </a:solidFill>
              </a:rPr>
              <a:t>GVVGSQA</a:t>
            </a:r>
            <a:br>
              <a:rPr lang="es-419" b="0" dirty="0">
                <a:solidFill>
                  <a:schemeClr val="accent1"/>
                </a:solidFill>
              </a:rPr>
            </a:br>
            <a:r>
              <a:rPr lang="es-419" b="0" dirty="0">
                <a:solidFill>
                  <a:schemeClr val="accent1"/>
                </a:solidFill>
              </a:rPr>
              <a:t>Validación de área de pregunta</a:t>
            </a:r>
            <a:endParaRPr lang="es-CL" b="0" dirty="0">
              <a:solidFill>
                <a:schemeClr val="accent1"/>
              </a:solidFill>
            </a:endParaRPr>
          </a:p>
        </p:txBody>
      </p:sp>
      <p:sp>
        <p:nvSpPr>
          <p:cNvPr id="5" name="Rectángulo redondeado 5">
            <a:extLst>
              <a:ext uri="{FF2B5EF4-FFF2-40B4-BE49-F238E27FC236}">
                <a16:creationId xmlns:a16="http://schemas.microsoft.com/office/drawing/2014/main" id="{C4B492DF-9CAE-C019-4821-4DDBB1387F9A}"/>
              </a:ext>
            </a:extLst>
          </p:cNvPr>
          <p:cNvSpPr/>
          <p:nvPr/>
        </p:nvSpPr>
        <p:spPr>
          <a:xfrm>
            <a:off x="773054" y="3685848"/>
            <a:ext cx="10960413" cy="1777041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419" sz="1400" dirty="0"/>
              <a:t>Está página se usa para crear la agrupación de las preguntas. Para crear un nuevo registro,  tenga en cuenta:</a:t>
            </a:r>
          </a:p>
          <a:p>
            <a:pPr marL="342900" indent="-342900">
              <a:buFont typeface="+mj-lt"/>
              <a:buAutoNum type="arabicPeriod"/>
            </a:pPr>
            <a:r>
              <a:rPr lang="es-419" sz="1400" dirty="0"/>
              <a:t>Presione la opción Insertar (+)</a:t>
            </a:r>
          </a:p>
          <a:p>
            <a:pPr marL="342900" indent="-342900">
              <a:buFont typeface="+mj-lt"/>
              <a:buAutoNum type="arabicPeriod"/>
            </a:pPr>
            <a:r>
              <a:rPr lang="es-419" sz="1400" dirty="0"/>
              <a:t>Código: campo de 10 caracteres que identificarán el código del área. No puede ser nulo y debe ser único.</a:t>
            </a:r>
          </a:p>
          <a:p>
            <a:pPr marL="342900" indent="-342900">
              <a:buFont typeface="+mj-lt"/>
              <a:buAutoNum type="arabicPeriod"/>
            </a:pPr>
            <a:r>
              <a:rPr lang="es-419" sz="1400" dirty="0"/>
              <a:t>Ingrese la descripción. Máximo 30 caracteres.</a:t>
            </a:r>
          </a:p>
          <a:p>
            <a:pPr marL="342900" indent="-342900">
              <a:buFont typeface="+mj-lt"/>
              <a:buAutoNum type="arabicPeriod"/>
            </a:pPr>
            <a:r>
              <a:rPr lang="es-419" sz="1400" dirty="0"/>
              <a:t>Guarde los datos.</a:t>
            </a:r>
          </a:p>
          <a:p>
            <a:endParaRPr lang="es-419" sz="1100" dirty="0"/>
          </a:p>
        </p:txBody>
      </p:sp>
      <p:sp>
        <p:nvSpPr>
          <p:cNvPr id="8" name="Rectángulo redondeado 15">
            <a:extLst>
              <a:ext uri="{FF2B5EF4-FFF2-40B4-BE49-F238E27FC236}">
                <a16:creationId xmlns:a16="http://schemas.microsoft.com/office/drawing/2014/main" id="{3F2640DE-AD19-B46A-B5F0-49222B7E55F5}"/>
              </a:ext>
            </a:extLst>
          </p:cNvPr>
          <p:cNvSpPr/>
          <p:nvPr/>
        </p:nvSpPr>
        <p:spPr>
          <a:xfrm>
            <a:off x="10545844" y="1742155"/>
            <a:ext cx="267056" cy="166112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  <p:sp>
        <p:nvSpPr>
          <p:cNvPr id="10" name="Rectángulo redondeado 15">
            <a:extLst>
              <a:ext uri="{FF2B5EF4-FFF2-40B4-BE49-F238E27FC236}">
                <a16:creationId xmlns:a16="http://schemas.microsoft.com/office/drawing/2014/main" id="{F2D7ECA4-60E8-D521-CAD8-39FB7F5164B1}"/>
              </a:ext>
            </a:extLst>
          </p:cNvPr>
          <p:cNvSpPr/>
          <p:nvPr/>
        </p:nvSpPr>
        <p:spPr>
          <a:xfrm>
            <a:off x="1847546" y="2265606"/>
            <a:ext cx="267056" cy="166112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</a:t>
            </a:r>
          </a:p>
        </p:txBody>
      </p:sp>
      <p:sp>
        <p:nvSpPr>
          <p:cNvPr id="12" name="Rectángulo redondeado 15">
            <a:extLst>
              <a:ext uri="{FF2B5EF4-FFF2-40B4-BE49-F238E27FC236}">
                <a16:creationId xmlns:a16="http://schemas.microsoft.com/office/drawing/2014/main" id="{A9721F1E-C2CB-153A-5736-DFDA505D5EB1}"/>
              </a:ext>
            </a:extLst>
          </p:cNvPr>
          <p:cNvSpPr/>
          <p:nvPr/>
        </p:nvSpPr>
        <p:spPr>
          <a:xfrm>
            <a:off x="5078508" y="2253049"/>
            <a:ext cx="267056" cy="166112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3</a:t>
            </a:r>
          </a:p>
        </p:txBody>
      </p:sp>
      <p:sp>
        <p:nvSpPr>
          <p:cNvPr id="14" name="Rectángulo redondeado 15">
            <a:extLst>
              <a:ext uri="{FF2B5EF4-FFF2-40B4-BE49-F238E27FC236}">
                <a16:creationId xmlns:a16="http://schemas.microsoft.com/office/drawing/2014/main" id="{70BFF8D7-214C-344D-75B1-B84EA2811C06}"/>
              </a:ext>
            </a:extLst>
          </p:cNvPr>
          <p:cNvSpPr/>
          <p:nvPr/>
        </p:nvSpPr>
        <p:spPr>
          <a:xfrm>
            <a:off x="10812900" y="6006087"/>
            <a:ext cx="267056" cy="166112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4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F0301A0C-3F7A-C5A1-538A-77D79B638C18}"/>
              </a:ext>
            </a:extLst>
          </p:cNvPr>
          <p:cNvSpPr/>
          <p:nvPr/>
        </p:nvSpPr>
        <p:spPr>
          <a:xfrm>
            <a:off x="10819312" y="1724465"/>
            <a:ext cx="180947" cy="177257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5C6B7AB1-2EE0-6CB9-CCE9-63F4FC28FED7}"/>
              </a:ext>
            </a:extLst>
          </p:cNvPr>
          <p:cNvSpPr/>
          <p:nvPr/>
        </p:nvSpPr>
        <p:spPr>
          <a:xfrm>
            <a:off x="3155964" y="2253049"/>
            <a:ext cx="1922544" cy="166112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08242943-F900-EE08-923B-79BB6701EB44}"/>
              </a:ext>
            </a:extLst>
          </p:cNvPr>
          <p:cNvSpPr/>
          <p:nvPr/>
        </p:nvSpPr>
        <p:spPr>
          <a:xfrm>
            <a:off x="691336" y="2256500"/>
            <a:ext cx="959627" cy="175218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C3DF9830-3A1D-69E7-9BE6-973E858A0EF6}"/>
              </a:ext>
            </a:extLst>
          </p:cNvPr>
          <p:cNvSpPr/>
          <p:nvPr/>
        </p:nvSpPr>
        <p:spPr>
          <a:xfrm>
            <a:off x="11196847" y="5876924"/>
            <a:ext cx="536620" cy="212219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524229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B1AAB-0890-7486-CCE8-B8A4E1A7C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64BDE54-E29F-7EC5-16F2-E475700A4B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680"/>
          <a:stretch>
            <a:fillRect/>
          </a:stretch>
        </p:blipFill>
        <p:spPr>
          <a:xfrm>
            <a:off x="609601" y="1673525"/>
            <a:ext cx="10864980" cy="4856483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236C8A1-02C6-22C2-6F79-AE1E2DB00B2D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MX" dirty="0"/>
              <a:t>Gestionar las encuestas generales</a:t>
            </a:r>
            <a:endParaRPr lang="en-US" dirty="0"/>
          </a:p>
        </p:txBody>
      </p:sp>
      <p:sp>
        <p:nvSpPr>
          <p:cNvPr id="6" name="Título 3">
            <a:extLst>
              <a:ext uri="{FF2B5EF4-FFF2-40B4-BE49-F238E27FC236}">
                <a16:creationId xmlns:a16="http://schemas.microsoft.com/office/drawing/2014/main" id="{87C64D6D-5C13-A469-A437-F2265FE09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600" dirty="0">
                <a:solidFill>
                  <a:schemeClr val="accent1"/>
                </a:solidFill>
              </a:rPr>
              <a:t>Configuración: </a:t>
            </a:r>
            <a:r>
              <a:rPr lang="es-419" sz="3600" b="0" dirty="0">
                <a:solidFill>
                  <a:schemeClr val="accent1"/>
                </a:solidFill>
              </a:rPr>
              <a:t>GVVGSRC</a:t>
            </a:r>
            <a:br>
              <a:rPr lang="es-419" sz="3600" b="0" dirty="0">
                <a:solidFill>
                  <a:schemeClr val="accent1"/>
                </a:solidFill>
              </a:rPr>
            </a:br>
            <a:r>
              <a:rPr lang="es-419" sz="3600" b="0" dirty="0">
                <a:solidFill>
                  <a:schemeClr val="accent1"/>
                </a:solidFill>
              </a:rPr>
              <a:t>Validación de código de encuesta general</a:t>
            </a:r>
            <a:endParaRPr lang="es-CL" b="0" dirty="0">
              <a:solidFill>
                <a:schemeClr val="accent1"/>
              </a:solidFill>
            </a:endParaRPr>
          </a:p>
        </p:txBody>
      </p:sp>
      <p:sp>
        <p:nvSpPr>
          <p:cNvPr id="4" name="Rectángulo redondeado 5">
            <a:extLst>
              <a:ext uri="{FF2B5EF4-FFF2-40B4-BE49-F238E27FC236}">
                <a16:creationId xmlns:a16="http://schemas.microsoft.com/office/drawing/2014/main" id="{D1897EBB-1BBE-8365-E9FB-656F1C7F9A18}"/>
              </a:ext>
            </a:extLst>
          </p:cNvPr>
          <p:cNvSpPr/>
          <p:nvPr/>
        </p:nvSpPr>
        <p:spPr>
          <a:xfrm>
            <a:off x="691319" y="3685848"/>
            <a:ext cx="10960413" cy="1777041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419" sz="1400" dirty="0"/>
              <a:t>Está página se usa para crear los códigos de las encuestas. Para crear un nuevo registro,  tenga en cuenta:</a:t>
            </a:r>
          </a:p>
          <a:p>
            <a:pPr marL="342900" indent="-342900">
              <a:buFont typeface="+mj-lt"/>
              <a:buAutoNum type="arabicPeriod"/>
            </a:pPr>
            <a:r>
              <a:rPr lang="es-419" sz="1400" dirty="0"/>
              <a:t>Presione la opción Insertar (+)</a:t>
            </a:r>
          </a:p>
          <a:p>
            <a:pPr marL="342900" indent="-342900">
              <a:buFont typeface="+mj-lt"/>
              <a:buAutoNum type="arabicPeriod"/>
            </a:pPr>
            <a:r>
              <a:rPr lang="es-419" sz="1400" dirty="0"/>
              <a:t>Código: campo de 18. No puede ser nulo y debe ser único.</a:t>
            </a:r>
          </a:p>
          <a:p>
            <a:pPr marL="342900" indent="-342900">
              <a:buFont typeface="+mj-lt"/>
              <a:buAutoNum type="arabicPeriod"/>
            </a:pPr>
            <a:r>
              <a:rPr lang="es-419" sz="1400" dirty="0"/>
              <a:t>Ingrese la descripción. Máximo 30 caracteres.</a:t>
            </a:r>
          </a:p>
          <a:p>
            <a:pPr marL="342900" indent="-342900">
              <a:buFont typeface="+mj-lt"/>
              <a:buAutoNum type="arabicPeriod"/>
            </a:pPr>
            <a:r>
              <a:rPr lang="es-419" sz="1400" dirty="0"/>
              <a:t>Guarde los datos.</a:t>
            </a:r>
          </a:p>
          <a:p>
            <a:endParaRPr lang="es-419" sz="1100" dirty="0"/>
          </a:p>
        </p:txBody>
      </p:sp>
      <p:sp>
        <p:nvSpPr>
          <p:cNvPr id="8" name="Rectángulo redondeado 15">
            <a:extLst>
              <a:ext uri="{FF2B5EF4-FFF2-40B4-BE49-F238E27FC236}">
                <a16:creationId xmlns:a16="http://schemas.microsoft.com/office/drawing/2014/main" id="{70AE78FC-07FE-AA67-0EFF-3CC0BFB28F3A}"/>
              </a:ext>
            </a:extLst>
          </p:cNvPr>
          <p:cNvSpPr/>
          <p:nvPr/>
        </p:nvSpPr>
        <p:spPr>
          <a:xfrm>
            <a:off x="10395097" y="1941882"/>
            <a:ext cx="267056" cy="166112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  <p:sp>
        <p:nvSpPr>
          <p:cNvPr id="10" name="Rectángulo redondeado 15">
            <a:extLst>
              <a:ext uri="{FF2B5EF4-FFF2-40B4-BE49-F238E27FC236}">
                <a16:creationId xmlns:a16="http://schemas.microsoft.com/office/drawing/2014/main" id="{2A39F165-9AB3-6CC0-438B-8C8064D31F6C}"/>
              </a:ext>
            </a:extLst>
          </p:cNvPr>
          <p:cNvSpPr/>
          <p:nvPr/>
        </p:nvSpPr>
        <p:spPr>
          <a:xfrm>
            <a:off x="1765811" y="2265606"/>
            <a:ext cx="267056" cy="166112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</a:t>
            </a:r>
          </a:p>
        </p:txBody>
      </p:sp>
      <p:sp>
        <p:nvSpPr>
          <p:cNvPr id="12" name="Rectángulo redondeado 15">
            <a:extLst>
              <a:ext uri="{FF2B5EF4-FFF2-40B4-BE49-F238E27FC236}">
                <a16:creationId xmlns:a16="http://schemas.microsoft.com/office/drawing/2014/main" id="{DBFE5729-E109-8098-07BB-A17994772977}"/>
              </a:ext>
            </a:extLst>
          </p:cNvPr>
          <p:cNvSpPr/>
          <p:nvPr/>
        </p:nvSpPr>
        <p:spPr>
          <a:xfrm>
            <a:off x="5908563" y="2256500"/>
            <a:ext cx="267056" cy="166112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3</a:t>
            </a:r>
          </a:p>
        </p:txBody>
      </p:sp>
      <p:sp>
        <p:nvSpPr>
          <p:cNvPr id="14" name="Rectángulo redondeado 15">
            <a:extLst>
              <a:ext uri="{FF2B5EF4-FFF2-40B4-BE49-F238E27FC236}">
                <a16:creationId xmlns:a16="http://schemas.microsoft.com/office/drawing/2014/main" id="{DBB653DC-4B40-F1BE-526E-CC36D6AECC13}"/>
              </a:ext>
            </a:extLst>
          </p:cNvPr>
          <p:cNvSpPr/>
          <p:nvPr/>
        </p:nvSpPr>
        <p:spPr>
          <a:xfrm>
            <a:off x="10731165" y="6006087"/>
            <a:ext cx="267056" cy="166112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4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8C381ACB-DB51-219B-9A88-48B7D91EB888}"/>
              </a:ext>
            </a:extLst>
          </p:cNvPr>
          <p:cNvSpPr/>
          <p:nvPr/>
        </p:nvSpPr>
        <p:spPr>
          <a:xfrm>
            <a:off x="10668565" y="1924192"/>
            <a:ext cx="180947" cy="177257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C8F26630-8FCC-4914-D473-A76915541BD5}"/>
              </a:ext>
            </a:extLst>
          </p:cNvPr>
          <p:cNvSpPr/>
          <p:nvPr/>
        </p:nvSpPr>
        <p:spPr>
          <a:xfrm>
            <a:off x="3986019" y="2256500"/>
            <a:ext cx="1922544" cy="166112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F49D98D3-853A-A831-3C42-FDEE20A1011F}"/>
              </a:ext>
            </a:extLst>
          </p:cNvPr>
          <p:cNvSpPr/>
          <p:nvPr/>
        </p:nvSpPr>
        <p:spPr>
          <a:xfrm>
            <a:off x="609601" y="2256500"/>
            <a:ext cx="959627" cy="175218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679F92D9-60E6-5B91-873D-6236E1100727}"/>
              </a:ext>
            </a:extLst>
          </p:cNvPr>
          <p:cNvSpPr/>
          <p:nvPr/>
        </p:nvSpPr>
        <p:spPr>
          <a:xfrm>
            <a:off x="10998221" y="6238395"/>
            <a:ext cx="536620" cy="212219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429287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/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MX" dirty="0"/>
              <a:t>Gestionar las encuestas generales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Estructura</a:t>
            </a:r>
            <a:r>
              <a:rPr lang="en-US" dirty="0"/>
              <a:t> de la </a:t>
            </a:r>
            <a:r>
              <a:rPr lang="en-US" dirty="0" err="1"/>
              <a:t>encuesta</a:t>
            </a: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34917317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5B57AF-3FF2-3CE2-2AA6-486F70F5D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4D58018B-028B-1BF3-DCDD-04945C90B24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721"/>
          <a:stretch>
            <a:fillRect/>
          </a:stretch>
        </p:blipFill>
        <p:spPr>
          <a:xfrm>
            <a:off x="810247" y="1648064"/>
            <a:ext cx="10838828" cy="1783319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1CCBF43-DFB7-4B11-1371-858BF169341B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MX" dirty="0"/>
              <a:t>Gestionar las encuestas generales</a:t>
            </a:r>
            <a:endParaRPr lang="en-US" dirty="0"/>
          </a:p>
        </p:txBody>
      </p:sp>
      <p:sp>
        <p:nvSpPr>
          <p:cNvPr id="6" name="Título 3">
            <a:extLst>
              <a:ext uri="{FF2B5EF4-FFF2-40B4-BE49-F238E27FC236}">
                <a16:creationId xmlns:a16="http://schemas.microsoft.com/office/drawing/2014/main" id="{599E7441-43C0-C90D-2DCA-D897DCCDA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600" dirty="0">
                <a:solidFill>
                  <a:schemeClr val="accent1"/>
                </a:solidFill>
              </a:rPr>
              <a:t>Configuración: </a:t>
            </a:r>
            <a:r>
              <a:rPr lang="es-419" sz="3600" b="0" dirty="0">
                <a:solidFill>
                  <a:schemeClr val="accent1"/>
                </a:solidFill>
              </a:rPr>
              <a:t>GVASDEF</a:t>
            </a:r>
            <a:br>
              <a:rPr lang="es-419" sz="3600" b="0" dirty="0">
                <a:solidFill>
                  <a:schemeClr val="accent1"/>
                </a:solidFill>
              </a:rPr>
            </a:br>
            <a:r>
              <a:rPr lang="es-419" sz="3600" b="0" dirty="0">
                <a:solidFill>
                  <a:schemeClr val="accent1"/>
                </a:solidFill>
              </a:rPr>
              <a:t>Definición de encuesta general</a:t>
            </a:r>
            <a:endParaRPr lang="es-CL" b="0" dirty="0">
              <a:solidFill>
                <a:schemeClr val="accent1"/>
              </a:solidFill>
            </a:endParaRPr>
          </a:p>
        </p:txBody>
      </p:sp>
      <p:sp>
        <p:nvSpPr>
          <p:cNvPr id="2" name="Rectángulo redondeado 5">
            <a:extLst>
              <a:ext uri="{FF2B5EF4-FFF2-40B4-BE49-F238E27FC236}">
                <a16:creationId xmlns:a16="http://schemas.microsoft.com/office/drawing/2014/main" id="{CFE74B69-24FE-041D-67DD-9530D452DBBF}"/>
              </a:ext>
            </a:extLst>
          </p:cNvPr>
          <p:cNvSpPr/>
          <p:nvPr/>
        </p:nvSpPr>
        <p:spPr>
          <a:xfrm>
            <a:off x="1441115" y="2330900"/>
            <a:ext cx="3672353" cy="417648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En GVASDEF ingrese el código de la encuesta.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DB00695-BDD9-C5F6-17A5-7490AED4619B}"/>
              </a:ext>
            </a:extLst>
          </p:cNvPr>
          <p:cNvSpPr/>
          <p:nvPr/>
        </p:nvSpPr>
        <p:spPr>
          <a:xfrm>
            <a:off x="11274396" y="1970559"/>
            <a:ext cx="285529" cy="254704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7" name="Rectángulo redondeado 8">
            <a:extLst>
              <a:ext uri="{FF2B5EF4-FFF2-40B4-BE49-F238E27FC236}">
                <a16:creationId xmlns:a16="http://schemas.microsoft.com/office/drawing/2014/main" id="{544C7F49-08B8-EDD3-ADA9-059287A7B5DC}"/>
              </a:ext>
            </a:extLst>
          </p:cNvPr>
          <p:cNvSpPr/>
          <p:nvPr/>
        </p:nvSpPr>
        <p:spPr>
          <a:xfrm>
            <a:off x="931850" y="2412372"/>
            <a:ext cx="285529" cy="254704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06488933-A4F9-D90D-1771-A1136F5DDF1D}"/>
              </a:ext>
            </a:extLst>
          </p:cNvPr>
          <p:cNvSpPr/>
          <p:nvPr/>
        </p:nvSpPr>
        <p:spPr>
          <a:xfrm>
            <a:off x="810247" y="1950446"/>
            <a:ext cx="4274235" cy="254703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9" name="Rectángulo redondeado 8">
            <a:extLst>
              <a:ext uri="{FF2B5EF4-FFF2-40B4-BE49-F238E27FC236}">
                <a16:creationId xmlns:a16="http://schemas.microsoft.com/office/drawing/2014/main" id="{DD10AAD4-9819-2DBA-76FA-15102C6173B1}"/>
              </a:ext>
            </a:extLst>
          </p:cNvPr>
          <p:cNvSpPr/>
          <p:nvPr/>
        </p:nvSpPr>
        <p:spPr>
          <a:xfrm>
            <a:off x="10888544" y="2013594"/>
            <a:ext cx="285529" cy="254704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</a:t>
            </a:r>
          </a:p>
        </p:txBody>
      </p:sp>
      <p:sp>
        <p:nvSpPr>
          <p:cNvPr id="10" name="Rectángulo redondeado 5">
            <a:extLst>
              <a:ext uri="{FF2B5EF4-FFF2-40B4-BE49-F238E27FC236}">
                <a16:creationId xmlns:a16="http://schemas.microsoft.com/office/drawing/2014/main" id="{8D21CA5A-0D18-240E-0D2A-B2F78EEC3289}"/>
              </a:ext>
            </a:extLst>
          </p:cNvPr>
          <p:cNvSpPr/>
          <p:nvPr/>
        </p:nvSpPr>
        <p:spPr>
          <a:xfrm>
            <a:off x="10513790" y="2447148"/>
            <a:ext cx="1035035" cy="318204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Presionar “Ir”</a:t>
            </a:r>
          </a:p>
        </p:txBody>
      </p:sp>
    </p:spTree>
    <p:extLst>
      <p:ext uri="{BB962C8B-B14F-4D97-AF65-F5344CB8AC3E}">
        <p14:creationId xmlns:p14="http://schemas.microsoft.com/office/powerpoint/2010/main" val="21347888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BF0240-88D9-6757-50C7-210FD38EC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>
            <a:extLst>
              <a:ext uri="{FF2B5EF4-FFF2-40B4-BE49-F238E27FC236}">
                <a16:creationId xmlns:a16="http://schemas.microsoft.com/office/drawing/2014/main" id="{5B8FFCD0-C17A-14DE-E0E2-045DDB33848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831"/>
          <a:stretch>
            <a:fillRect/>
          </a:stretch>
        </p:blipFill>
        <p:spPr>
          <a:xfrm>
            <a:off x="1181100" y="1811547"/>
            <a:ext cx="10117592" cy="4490645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B832CE7-A31D-3637-1810-F96D2D6278FE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MX" dirty="0"/>
              <a:t>Gestionar las encuestas generales</a:t>
            </a:r>
            <a:endParaRPr lang="en-US" dirty="0"/>
          </a:p>
        </p:txBody>
      </p:sp>
      <p:sp>
        <p:nvSpPr>
          <p:cNvPr id="6" name="Título 3">
            <a:extLst>
              <a:ext uri="{FF2B5EF4-FFF2-40B4-BE49-F238E27FC236}">
                <a16:creationId xmlns:a16="http://schemas.microsoft.com/office/drawing/2014/main" id="{E901BDC2-39C7-2375-76D8-9D0B61617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600" dirty="0">
                <a:solidFill>
                  <a:schemeClr val="accent1"/>
                </a:solidFill>
              </a:rPr>
              <a:t>Configuración: </a:t>
            </a:r>
            <a:r>
              <a:rPr lang="es-419" sz="3600" b="0" dirty="0">
                <a:solidFill>
                  <a:schemeClr val="accent1"/>
                </a:solidFill>
              </a:rPr>
              <a:t>GVASDEF</a:t>
            </a:r>
            <a:br>
              <a:rPr lang="es-419" sz="3600" b="0" dirty="0">
                <a:solidFill>
                  <a:schemeClr val="accent1"/>
                </a:solidFill>
              </a:rPr>
            </a:br>
            <a:r>
              <a:rPr lang="es-419" sz="3600" b="0" dirty="0">
                <a:solidFill>
                  <a:schemeClr val="accent1"/>
                </a:solidFill>
              </a:rPr>
              <a:t>Definición de encuesta general</a:t>
            </a:r>
            <a:endParaRPr lang="es-CL" b="0" dirty="0">
              <a:solidFill>
                <a:schemeClr val="accent1"/>
              </a:solidFill>
            </a:endParaRPr>
          </a:p>
        </p:txBody>
      </p:sp>
      <p:sp>
        <p:nvSpPr>
          <p:cNvPr id="5" name="Rectángulo redondeado 5">
            <a:extLst>
              <a:ext uri="{FF2B5EF4-FFF2-40B4-BE49-F238E27FC236}">
                <a16:creationId xmlns:a16="http://schemas.microsoft.com/office/drawing/2014/main" id="{06FBCC8F-9200-F8F3-88B8-C1FDC69CF9F5}"/>
              </a:ext>
            </a:extLst>
          </p:cNvPr>
          <p:cNvSpPr/>
          <p:nvPr/>
        </p:nvSpPr>
        <p:spPr>
          <a:xfrm>
            <a:off x="1941392" y="3979136"/>
            <a:ext cx="2248945" cy="299065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Ingrese el orden de despliegue.</a:t>
            </a:r>
          </a:p>
        </p:txBody>
      </p:sp>
      <p:sp>
        <p:nvSpPr>
          <p:cNvPr id="11" name="Rectángulo redondeado 8">
            <a:extLst>
              <a:ext uri="{FF2B5EF4-FFF2-40B4-BE49-F238E27FC236}">
                <a16:creationId xmlns:a16="http://schemas.microsoft.com/office/drawing/2014/main" id="{B11D29C1-65F8-485B-ECD9-3A4929AF9678}"/>
              </a:ext>
            </a:extLst>
          </p:cNvPr>
          <p:cNvSpPr/>
          <p:nvPr/>
        </p:nvSpPr>
        <p:spPr>
          <a:xfrm>
            <a:off x="1524815" y="3851784"/>
            <a:ext cx="285529" cy="254704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3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AB55A4C2-78CC-806E-794C-7297B359E892}"/>
              </a:ext>
            </a:extLst>
          </p:cNvPr>
          <p:cNvSpPr/>
          <p:nvPr/>
        </p:nvSpPr>
        <p:spPr>
          <a:xfrm>
            <a:off x="1307579" y="2129508"/>
            <a:ext cx="720003" cy="1671215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651965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310D4-9808-A37A-A43C-B0D240D69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>
            <a:extLst>
              <a:ext uri="{FF2B5EF4-FFF2-40B4-BE49-F238E27FC236}">
                <a16:creationId xmlns:a16="http://schemas.microsoft.com/office/drawing/2014/main" id="{969CBC5E-1A83-445F-22E1-A047CEB6CF2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587"/>
          <a:stretch>
            <a:fillRect/>
          </a:stretch>
        </p:blipFill>
        <p:spPr>
          <a:xfrm>
            <a:off x="1133475" y="1733909"/>
            <a:ext cx="10117592" cy="4502208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2B122DD-5EFD-6D7B-DDAB-CFB9C3163FA9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MX" dirty="0"/>
              <a:t>Gestionar las encuestas generales</a:t>
            </a:r>
            <a:endParaRPr lang="en-US" dirty="0"/>
          </a:p>
        </p:txBody>
      </p:sp>
      <p:sp>
        <p:nvSpPr>
          <p:cNvPr id="6" name="Título 3">
            <a:extLst>
              <a:ext uri="{FF2B5EF4-FFF2-40B4-BE49-F238E27FC236}">
                <a16:creationId xmlns:a16="http://schemas.microsoft.com/office/drawing/2014/main" id="{D9793082-41B7-CBD5-9886-687B7FD15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600" dirty="0">
                <a:solidFill>
                  <a:schemeClr val="accent1"/>
                </a:solidFill>
              </a:rPr>
              <a:t>Configuración: </a:t>
            </a:r>
            <a:r>
              <a:rPr lang="es-419" sz="3600" b="0" dirty="0">
                <a:solidFill>
                  <a:schemeClr val="accent1"/>
                </a:solidFill>
              </a:rPr>
              <a:t>GVASDEF</a:t>
            </a:r>
            <a:br>
              <a:rPr lang="es-419" sz="3600" b="0" dirty="0">
                <a:solidFill>
                  <a:schemeClr val="accent1"/>
                </a:solidFill>
              </a:rPr>
            </a:br>
            <a:r>
              <a:rPr lang="es-419" sz="3600" b="0" dirty="0">
                <a:solidFill>
                  <a:schemeClr val="accent1"/>
                </a:solidFill>
              </a:rPr>
              <a:t>Definición de encuesta general</a:t>
            </a:r>
            <a:endParaRPr lang="es-CL" b="0" dirty="0">
              <a:solidFill>
                <a:schemeClr val="accent1"/>
              </a:solidFill>
            </a:endParaRPr>
          </a:p>
        </p:txBody>
      </p:sp>
      <p:sp>
        <p:nvSpPr>
          <p:cNvPr id="5" name="Rectángulo redondeado 5">
            <a:extLst>
              <a:ext uri="{FF2B5EF4-FFF2-40B4-BE49-F238E27FC236}">
                <a16:creationId xmlns:a16="http://schemas.microsoft.com/office/drawing/2014/main" id="{62F28D66-C52E-4815-CA81-B84445B1C86E}"/>
              </a:ext>
            </a:extLst>
          </p:cNvPr>
          <p:cNvSpPr/>
          <p:nvPr/>
        </p:nvSpPr>
        <p:spPr>
          <a:xfrm>
            <a:off x="2065217" y="3297019"/>
            <a:ext cx="2248945" cy="554764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Ingrese el código de la pregunta. Se autocompletarán algunos campos.</a:t>
            </a:r>
          </a:p>
        </p:txBody>
      </p:sp>
      <p:sp>
        <p:nvSpPr>
          <p:cNvPr id="11" name="Rectángulo redondeado 8">
            <a:extLst>
              <a:ext uri="{FF2B5EF4-FFF2-40B4-BE49-F238E27FC236}">
                <a16:creationId xmlns:a16="http://schemas.microsoft.com/office/drawing/2014/main" id="{50EFA497-B721-A7AA-69CF-C5EC043971E7}"/>
              </a:ext>
            </a:extLst>
          </p:cNvPr>
          <p:cNvSpPr/>
          <p:nvPr/>
        </p:nvSpPr>
        <p:spPr>
          <a:xfrm>
            <a:off x="1553630" y="3325539"/>
            <a:ext cx="285529" cy="254704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4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F77C1449-F2A4-FFDA-24A3-FDD2AEC84BAC}"/>
              </a:ext>
            </a:extLst>
          </p:cNvPr>
          <p:cNvSpPr/>
          <p:nvPr/>
        </p:nvSpPr>
        <p:spPr>
          <a:xfrm>
            <a:off x="1581390" y="2324101"/>
            <a:ext cx="720003" cy="857250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092815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1B609D-4617-5544-4FD3-9B410FFF3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>
            <a:extLst>
              <a:ext uri="{FF2B5EF4-FFF2-40B4-BE49-F238E27FC236}">
                <a16:creationId xmlns:a16="http://schemas.microsoft.com/office/drawing/2014/main" id="{F14D8CAD-802F-4C5C-73F0-77C314AA8D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045"/>
          <a:stretch>
            <a:fillRect/>
          </a:stretch>
        </p:blipFill>
        <p:spPr>
          <a:xfrm>
            <a:off x="1133475" y="1708030"/>
            <a:ext cx="10117592" cy="4528087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C7D7E30-AD56-A982-9A94-7B1B516DAD2B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MX" dirty="0"/>
              <a:t>Gestionar las encuestas generales</a:t>
            </a:r>
            <a:endParaRPr lang="en-US" dirty="0"/>
          </a:p>
        </p:txBody>
      </p:sp>
      <p:sp>
        <p:nvSpPr>
          <p:cNvPr id="6" name="Título 3">
            <a:extLst>
              <a:ext uri="{FF2B5EF4-FFF2-40B4-BE49-F238E27FC236}">
                <a16:creationId xmlns:a16="http://schemas.microsoft.com/office/drawing/2014/main" id="{8C38D307-2E68-B839-FAA6-EBAE240C8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600" dirty="0">
                <a:solidFill>
                  <a:schemeClr val="accent1"/>
                </a:solidFill>
              </a:rPr>
              <a:t>Configuración: </a:t>
            </a:r>
            <a:r>
              <a:rPr lang="es-419" sz="3600" b="0" dirty="0">
                <a:solidFill>
                  <a:schemeClr val="accent1"/>
                </a:solidFill>
              </a:rPr>
              <a:t>GVASDEF</a:t>
            </a:r>
            <a:br>
              <a:rPr lang="es-419" sz="3600" b="0" dirty="0">
                <a:solidFill>
                  <a:schemeClr val="accent1"/>
                </a:solidFill>
              </a:rPr>
            </a:br>
            <a:r>
              <a:rPr lang="es-419" sz="3600" b="0" dirty="0">
                <a:solidFill>
                  <a:schemeClr val="accent1"/>
                </a:solidFill>
              </a:rPr>
              <a:t>Definición de encuesta general</a:t>
            </a:r>
            <a:endParaRPr lang="es-CL" b="0" dirty="0">
              <a:solidFill>
                <a:schemeClr val="accent1"/>
              </a:solidFill>
            </a:endParaRPr>
          </a:p>
        </p:txBody>
      </p:sp>
      <p:sp>
        <p:nvSpPr>
          <p:cNvPr id="5" name="Rectángulo redondeado 5">
            <a:extLst>
              <a:ext uri="{FF2B5EF4-FFF2-40B4-BE49-F238E27FC236}">
                <a16:creationId xmlns:a16="http://schemas.microsoft.com/office/drawing/2014/main" id="{D84E5172-CD90-5CC6-2CB4-C48A5FC56205}"/>
              </a:ext>
            </a:extLst>
          </p:cNvPr>
          <p:cNvSpPr/>
          <p:nvPr/>
        </p:nvSpPr>
        <p:spPr>
          <a:xfrm>
            <a:off x="6192271" y="3704627"/>
            <a:ext cx="2582983" cy="323850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Ingrese el peso de cada pregunta. La sumatoria debería dar el 100%.</a:t>
            </a:r>
          </a:p>
        </p:txBody>
      </p:sp>
      <p:sp>
        <p:nvSpPr>
          <p:cNvPr id="11" name="Rectángulo redondeado 8">
            <a:extLst>
              <a:ext uri="{FF2B5EF4-FFF2-40B4-BE49-F238E27FC236}">
                <a16:creationId xmlns:a16="http://schemas.microsoft.com/office/drawing/2014/main" id="{E475034E-AFE8-BBD2-7D60-C34600FC4D8F}"/>
              </a:ext>
            </a:extLst>
          </p:cNvPr>
          <p:cNvSpPr/>
          <p:nvPr/>
        </p:nvSpPr>
        <p:spPr>
          <a:xfrm>
            <a:off x="7437426" y="3301647"/>
            <a:ext cx="285529" cy="254704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5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59BA807B-7C6F-6CD1-E4C3-4549EDD17768}"/>
              </a:ext>
            </a:extLst>
          </p:cNvPr>
          <p:cNvSpPr/>
          <p:nvPr/>
        </p:nvSpPr>
        <p:spPr>
          <a:xfrm>
            <a:off x="7220190" y="2314576"/>
            <a:ext cx="720003" cy="857250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494894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C0DB9-853D-4D20-6ABF-935CEBDF9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>
            <a:extLst>
              <a:ext uri="{FF2B5EF4-FFF2-40B4-BE49-F238E27FC236}">
                <a16:creationId xmlns:a16="http://schemas.microsoft.com/office/drawing/2014/main" id="{485629CA-2A60-2D82-9374-60B4F671A45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226"/>
          <a:stretch>
            <a:fillRect/>
          </a:stretch>
        </p:blipFill>
        <p:spPr>
          <a:xfrm>
            <a:off x="1133475" y="1716657"/>
            <a:ext cx="10117592" cy="4519460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5DB49EB-316E-FA9F-915B-FC4A80151855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MX" dirty="0"/>
              <a:t>Gestionar las encuestas generales</a:t>
            </a:r>
            <a:endParaRPr lang="en-US" dirty="0"/>
          </a:p>
        </p:txBody>
      </p:sp>
      <p:sp>
        <p:nvSpPr>
          <p:cNvPr id="6" name="Título 3">
            <a:extLst>
              <a:ext uri="{FF2B5EF4-FFF2-40B4-BE49-F238E27FC236}">
                <a16:creationId xmlns:a16="http://schemas.microsoft.com/office/drawing/2014/main" id="{6BE62EA6-C9F4-1C6C-D171-B1E4C44AF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600" dirty="0">
                <a:solidFill>
                  <a:schemeClr val="accent1"/>
                </a:solidFill>
              </a:rPr>
              <a:t>Configuración: </a:t>
            </a:r>
            <a:r>
              <a:rPr lang="es-419" sz="3600" b="0" dirty="0">
                <a:solidFill>
                  <a:schemeClr val="accent1"/>
                </a:solidFill>
              </a:rPr>
              <a:t>GVASDEF</a:t>
            </a:r>
            <a:br>
              <a:rPr lang="es-419" sz="3600" b="0" dirty="0">
                <a:solidFill>
                  <a:schemeClr val="accent1"/>
                </a:solidFill>
              </a:rPr>
            </a:br>
            <a:r>
              <a:rPr lang="es-419" sz="3600" b="0" dirty="0">
                <a:solidFill>
                  <a:schemeClr val="accent1"/>
                </a:solidFill>
              </a:rPr>
              <a:t>Definición de encuesta general</a:t>
            </a:r>
            <a:endParaRPr lang="es-CL" b="0" dirty="0">
              <a:solidFill>
                <a:schemeClr val="accent1"/>
              </a:solidFill>
            </a:endParaRPr>
          </a:p>
        </p:txBody>
      </p:sp>
      <p:sp>
        <p:nvSpPr>
          <p:cNvPr id="5" name="Rectángulo redondeado 5">
            <a:extLst>
              <a:ext uri="{FF2B5EF4-FFF2-40B4-BE49-F238E27FC236}">
                <a16:creationId xmlns:a16="http://schemas.microsoft.com/office/drawing/2014/main" id="{961E4C8B-C7BF-0C12-D5E8-72F934642E8E}"/>
              </a:ext>
            </a:extLst>
          </p:cNvPr>
          <p:cNvSpPr/>
          <p:nvPr/>
        </p:nvSpPr>
        <p:spPr>
          <a:xfrm>
            <a:off x="8631848" y="3647019"/>
            <a:ext cx="2582983" cy="323850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Ingrese el área de la pregunta.</a:t>
            </a:r>
          </a:p>
        </p:txBody>
      </p:sp>
      <p:sp>
        <p:nvSpPr>
          <p:cNvPr id="11" name="Rectángulo redondeado 8">
            <a:extLst>
              <a:ext uri="{FF2B5EF4-FFF2-40B4-BE49-F238E27FC236}">
                <a16:creationId xmlns:a16="http://schemas.microsoft.com/office/drawing/2014/main" id="{5B891F9A-695D-CCBF-2E68-0303E5C588AF}"/>
              </a:ext>
            </a:extLst>
          </p:cNvPr>
          <p:cNvSpPr/>
          <p:nvPr/>
        </p:nvSpPr>
        <p:spPr>
          <a:xfrm>
            <a:off x="9780576" y="3174295"/>
            <a:ext cx="285529" cy="254704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6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D2396C89-59E9-C878-667A-922C14BFC9B4}"/>
              </a:ext>
            </a:extLst>
          </p:cNvPr>
          <p:cNvSpPr/>
          <p:nvPr/>
        </p:nvSpPr>
        <p:spPr>
          <a:xfrm>
            <a:off x="9630015" y="2276476"/>
            <a:ext cx="720003" cy="857250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910910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1138BA-507D-81C9-433E-BF2FFF710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>
            <a:extLst>
              <a:ext uri="{FF2B5EF4-FFF2-40B4-BE49-F238E27FC236}">
                <a16:creationId xmlns:a16="http://schemas.microsoft.com/office/drawing/2014/main" id="{D64A2899-A2C9-BAAD-539D-365F82CADDC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683"/>
          <a:stretch>
            <a:fillRect/>
          </a:stretch>
        </p:blipFill>
        <p:spPr>
          <a:xfrm>
            <a:off x="1133475" y="1690777"/>
            <a:ext cx="10117592" cy="4545340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2BE0876-933B-7376-DA36-826CB79716D4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MX" dirty="0"/>
              <a:t>Gestionar las encuestas generales</a:t>
            </a:r>
            <a:endParaRPr lang="en-US" dirty="0"/>
          </a:p>
        </p:txBody>
      </p:sp>
      <p:sp>
        <p:nvSpPr>
          <p:cNvPr id="6" name="Título 3">
            <a:extLst>
              <a:ext uri="{FF2B5EF4-FFF2-40B4-BE49-F238E27FC236}">
                <a16:creationId xmlns:a16="http://schemas.microsoft.com/office/drawing/2014/main" id="{F7625F59-5A0B-3964-46F8-B9D142D1B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600" dirty="0">
                <a:solidFill>
                  <a:schemeClr val="accent1"/>
                </a:solidFill>
              </a:rPr>
              <a:t>Configuración: </a:t>
            </a:r>
            <a:r>
              <a:rPr lang="es-419" sz="3600" b="0" dirty="0">
                <a:solidFill>
                  <a:schemeClr val="accent1"/>
                </a:solidFill>
              </a:rPr>
              <a:t>GVASDEF</a:t>
            </a:r>
            <a:br>
              <a:rPr lang="es-419" sz="3600" b="0" dirty="0">
                <a:solidFill>
                  <a:schemeClr val="accent1"/>
                </a:solidFill>
              </a:rPr>
            </a:br>
            <a:r>
              <a:rPr lang="es-419" sz="3600" b="0" dirty="0">
                <a:solidFill>
                  <a:schemeClr val="accent1"/>
                </a:solidFill>
              </a:rPr>
              <a:t>Definición de encuesta general</a:t>
            </a:r>
            <a:endParaRPr lang="es-CL" b="0" dirty="0">
              <a:solidFill>
                <a:schemeClr val="accent1"/>
              </a:solidFill>
            </a:endParaRPr>
          </a:p>
        </p:txBody>
      </p:sp>
      <p:sp>
        <p:nvSpPr>
          <p:cNvPr id="5" name="Rectángulo redondeado 5">
            <a:extLst>
              <a:ext uri="{FF2B5EF4-FFF2-40B4-BE49-F238E27FC236}">
                <a16:creationId xmlns:a16="http://schemas.microsoft.com/office/drawing/2014/main" id="{A051468F-A763-D912-7C4D-E17A742275F5}"/>
              </a:ext>
            </a:extLst>
          </p:cNvPr>
          <p:cNvSpPr/>
          <p:nvPr/>
        </p:nvSpPr>
        <p:spPr>
          <a:xfrm>
            <a:off x="8631848" y="3647019"/>
            <a:ext cx="2582983" cy="323850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Indicar si la pregunta es obligatoria de responder.</a:t>
            </a:r>
          </a:p>
        </p:txBody>
      </p:sp>
      <p:sp>
        <p:nvSpPr>
          <p:cNvPr id="11" name="Rectángulo redondeado 8">
            <a:extLst>
              <a:ext uri="{FF2B5EF4-FFF2-40B4-BE49-F238E27FC236}">
                <a16:creationId xmlns:a16="http://schemas.microsoft.com/office/drawing/2014/main" id="{5559CAF4-2754-3514-3A3E-09EFADF59145}"/>
              </a:ext>
            </a:extLst>
          </p:cNvPr>
          <p:cNvSpPr/>
          <p:nvPr/>
        </p:nvSpPr>
        <p:spPr>
          <a:xfrm>
            <a:off x="10379501" y="3263020"/>
            <a:ext cx="285529" cy="254704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7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EE7EDA67-36BB-1A32-2D2B-04B9FCD920D2}"/>
              </a:ext>
            </a:extLst>
          </p:cNvPr>
          <p:cNvSpPr/>
          <p:nvPr/>
        </p:nvSpPr>
        <p:spPr>
          <a:xfrm>
            <a:off x="10258425" y="2276476"/>
            <a:ext cx="527683" cy="857250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020014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D66BC-A4A6-561E-D6A0-71F8503BD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>
            <a:extLst>
              <a:ext uri="{FF2B5EF4-FFF2-40B4-BE49-F238E27FC236}">
                <a16:creationId xmlns:a16="http://schemas.microsoft.com/office/drawing/2014/main" id="{C7AD1ED9-208E-B94C-E2C1-8389F77E38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119"/>
          <a:stretch>
            <a:fillRect/>
          </a:stretch>
        </p:blipFill>
        <p:spPr>
          <a:xfrm>
            <a:off x="1097239" y="1647645"/>
            <a:ext cx="10117592" cy="4524554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9C93F76-B10E-372C-8449-232EAB2E35C7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MX" dirty="0"/>
              <a:t>Gestionar las encuestas generales</a:t>
            </a:r>
            <a:endParaRPr lang="en-US" dirty="0"/>
          </a:p>
        </p:txBody>
      </p:sp>
      <p:sp>
        <p:nvSpPr>
          <p:cNvPr id="6" name="Título 3">
            <a:extLst>
              <a:ext uri="{FF2B5EF4-FFF2-40B4-BE49-F238E27FC236}">
                <a16:creationId xmlns:a16="http://schemas.microsoft.com/office/drawing/2014/main" id="{F41A52A8-90D2-E483-4B96-B4903D45E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600" dirty="0">
                <a:solidFill>
                  <a:schemeClr val="accent1"/>
                </a:solidFill>
              </a:rPr>
              <a:t>Configuración: </a:t>
            </a:r>
            <a:r>
              <a:rPr lang="es-419" sz="3600" b="0" dirty="0">
                <a:solidFill>
                  <a:schemeClr val="accent1"/>
                </a:solidFill>
              </a:rPr>
              <a:t>GVASDEF</a:t>
            </a:r>
            <a:br>
              <a:rPr lang="es-419" sz="3600" b="0" dirty="0">
                <a:solidFill>
                  <a:schemeClr val="accent1"/>
                </a:solidFill>
              </a:rPr>
            </a:br>
            <a:r>
              <a:rPr lang="es-419" sz="3600" b="0" dirty="0">
                <a:solidFill>
                  <a:schemeClr val="accent1"/>
                </a:solidFill>
              </a:rPr>
              <a:t>Definición de encuesta general</a:t>
            </a:r>
            <a:endParaRPr lang="es-CL" b="0" dirty="0">
              <a:solidFill>
                <a:schemeClr val="accent1"/>
              </a:solidFill>
            </a:endParaRPr>
          </a:p>
        </p:txBody>
      </p:sp>
      <p:sp>
        <p:nvSpPr>
          <p:cNvPr id="5" name="Rectángulo redondeado 5">
            <a:extLst>
              <a:ext uri="{FF2B5EF4-FFF2-40B4-BE49-F238E27FC236}">
                <a16:creationId xmlns:a16="http://schemas.microsoft.com/office/drawing/2014/main" id="{A2A83CED-E906-A430-1572-306633C1B363}"/>
              </a:ext>
            </a:extLst>
          </p:cNvPr>
          <p:cNvSpPr/>
          <p:nvPr/>
        </p:nvSpPr>
        <p:spPr>
          <a:xfrm>
            <a:off x="8631848" y="3647019"/>
            <a:ext cx="2582983" cy="323850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Indicar modo de despliegue de la pregunta y respuestas</a:t>
            </a:r>
          </a:p>
        </p:txBody>
      </p:sp>
      <p:sp>
        <p:nvSpPr>
          <p:cNvPr id="11" name="Rectángulo redondeado 8">
            <a:extLst>
              <a:ext uri="{FF2B5EF4-FFF2-40B4-BE49-F238E27FC236}">
                <a16:creationId xmlns:a16="http://schemas.microsoft.com/office/drawing/2014/main" id="{77B91BDC-7912-87CA-1C64-75035F582452}"/>
              </a:ext>
            </a:extLst>
          </p:cNvPr>
          <p:cNvSpPr/>
          <p:nvPr/>
        </p:nvSpPr>
        <p:spPr>
          <a:xfrm>
            <a:off x="10379501" y="3263020"/>
            <a:ext cx="285529" cy="254704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8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4245A07B-9358-7209-8A0F-3150962DD2A8}"/>
              </a:ext>
            </a:extLst>
          </p:cNvPr>
          <p:cNvSpPr/>
          <p:nvPr/>
        </p:nvSpPr>
        <p:spPr>
          <a:xfrm>
            <a:off x="10624181" y="2276475"/>
            <a:ext cx="527683" cy="857250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978448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/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MX" dirty="0"/>
              <a:t>Gestionar las encuestas generales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Gestionar Encuestas Generales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1D5B06A-3FD9-7AA9-6332-37E22A86475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s-ES" dirty="0"/>
              <a:t>Asignar y responder las encuestas</a:t>
            </a:r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29918334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F47D53-F0CA-9098-A524-9A34F75B7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3F762B6-B3A7-ABFF-480A-2C7EEE789B61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MX" dirty="0"/>
              <a:t>Gestionar las encuestas generales</a:t>
            </a:r>
            <a:endParaRPr lang="en-US" dirty="0"/>
          </a:p>
        </p:txBody>
      </p:sp>
      <p:sp>
        <p:nvSpPr>
          <p:cNvPr id="6" name="Título 3">
            <a:extLst>
              <a:ext uri="{FF2B5EF4-FFF2-40B4-BE49-F238E27FC236}">
                <a16:creationId xmlns:a16="http://schemas.microsoft.com/office/drawing/2014/main" id="{0658BD16-EB8C-4D18-A487-8FCC5DE0E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MX" sz="3600" dirty="0">
                <a:solidFill>
                  <a:schemeClr val="accent1"/>
                </a:solidFill>
              </a:rPr>
              <a:t>Configuraciones: </a:t>
            </a:r>
            <a:r>
              <a:rPr lang="es-419" sz="3600" b="0" dirty="0">
                <a:solidFill>
                  <a:schemeClr val="accent1"/>
                </a:solidFill>
              </a:rPr>
              <a:t>GVASRVY</a:t>
            </a:r>
            <a:br>
              <a:rPr lang="es-419" sz="3600" b="0" dirty="0">
                <a:solidFill>
                  <a:schemeClr val="accent1"/>
                </a:solidFill>
              </a:rPr>
            </a:br>
            <a:r>
              <a:rPr lang="es-419" sz="3600" b="0" dirty="0">
                <a:solidFill>
                  <a:schemeClr val="accent1"/>
                </a:solidFill>
              </a:rPr>
              <a:t>Asignación de encuesta general</a:t>
            </a:r>
            <a:endParaRPr lang="es-CL" b="0" dirty="0">
              <a:solidFill>
                <a:schemeClr val="accent1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196B5BA-CE63-FC34-7829-1F04A9855D5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673"/>
          <a:stretch>
            <a:fillRect/>
          </a:stretch>
        </p:blipFill>
        <p:spPr>
          <a:xfrm>
            <a:off x="810246" y="1682151"/>
            <a:ext cx="10271883" cy="4628073"/>
          </a:xfrm>
          <a:prstGeom prst="rect">
            <a:avLst/>
          </a:prstGeom>
        </p:spPr>
      </p:pic>
      <p:sp>
        <p:nvSpPr>
          <p:cNvPr id="7" name="Rectángulo redondeado 5">
            <a:extLst>
              <a:ext uri="{FF2B5EF4-FFF2-40B4-BE49-F238E27FC236}">
                <a16:creationId xmlns:a16="http://schemas.microsoft.com/office/drawing/2014/main" id="{C09A402C-8EC3-8D00-E474-605D6A60396E}"/>
              </a:ext>
            </a:extLst>
          </p:cNvPr>
          <p:cNvSpPr/>
          <p:nvPr/>
        </p:nvSpPr>
        <p:spPr>
          <a:xfrm>
            <a:off x="4840617" y="2547438"/>
            <a:ext cx="3132814" cy="326101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Seleccionar la encuesta que se desea asignar.</a:t>
            </a:r>
          </a:p>
        </p:txBody>
      </p:sp>
      <p:sp>
        <p:nvSpPr>
          <p:cNvPr id="8" name="Rectángulo redondeado 8">
            <a:extLst>
              <a:ext uri="{FF2B5EF4-FFF2-40B4-BE49-F238E27FC236}">
                <a16:creationId xmlns:a16="http://schemas.microsoft.com/office/drawing/2014/main" id="{9ED35D90-BDD5-4106-00D6-58669B31CA11}"/>
              </a:ext>
            </a:extLst>
          </p:cNvPr>
          <p:cNvSpPr/>
          <p:nvPr/>
        </p:nvSpPr>
        <p:spPr>
          <a:xfrm>
            <a:off x="2850543" y="1898917"/>
            <a:ext cx="285529" cy="254704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F00EA972-8C74-42A1-62D0-89874505AC20}"/>
              </a:ext>
            </a:extLst>
          </p:cNvPr>
          <p:cNvSpPr/>
          <p:nvPr/>
        </p:nvSpPr>
        <p:spPr>
          <a:xfrm>
            <a:off x="1109871" y="1914820"/>
            <a:ext cx="1622584" cy="254704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0" name="Rectángulo redondeado 5">
            <a:extLst>
              <a:ext uri="{FF2B5EF4-FFF2-40B4-BE49-F238E27FC236}">
                <a16:creationId xmlns:a16="http://schemas.microsoft.com/office/drawing/2014/main" id="{42E05061-9549-0C38-26F3-5397070335CD}"/>
              </a:ext>
            </a:extLst>
          </p:cNvPr>
          <p:cNvSpPr/>
          <p:nvPr/>
        </p:nvSpPr>
        <p:spPr>
          <a:xfrm>
            <a:off x="1689511" y="2292736"/>
            <a:ext cx="1114506" cy="254703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Escribir ADD</a:t>
            </a:r>
          </a:p>
        </p:txBody>
      </p:sp>
      <p:sp>
        <p:nvSpPr>
          <p:cNvPr id="12" name="Rectángulo redondeado 8">
            <a:extLst>
              <a:ext uri="{FF2B5EF4-FFF2-40B4-BE49-F238E27FC236}">
                <a16:creationId xmlns:a16="http://schemas.microsoft.com/office/drawing/2014/main" id="{BA8ADDF0-203C-B5EC-740E-62FBE80DB8C5}"/>
              </a:ext>
            </a:extLst>
          </p:cNvPr>
          <p:cNvSpPr/>
          <p:nvPr/>
        </p:nvSpPr>
        <p:spPr>
          <a:xfrm>
            <a:off x="5595732" y="2231128"/>
            <a:ext cx="285529" cy="254704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56F79660-74B5-2F1A-5DD0-65179CCD69FA}"/>
              </a:ext>
            </a:extLst>
          </p:cNvPr>
          <p:cNvSpPr/>
          <p:nvPr/>
        </p:nvSpPr>
        <p:spPr>
          <a:xfrm>
            <a:off x="5476875" y="1914819"/>
            <a:ext cx="1876425" cy="254704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6" name="Rectángulo redondeado 8">
            <a:extLst>
              <a:ext uri="{FF2B5EF4-FFF2-40B4-BE49-F238E27FC236}">
                <a16:creationId xmlns:a16="http://schemas.microsoft.com/office/drawing/2014/main" id="{345856FA-A3E1-876D-D11D-085101B169E0}"/>
              </a:ext>
            </a:extLst>
          </p:cNvPr>
          <p:cNvSpPr/>
          <p:nvPr/>
        </p:nvSpPr>
        <p:spPr>
          <a:xfrm>
            <a:off x="8981488" y="1976425"/>
            <a:ext cx="285529" cy="254704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3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6BD691B6-3049-25EE-49C3-0F7C88284D45}"/>
              </a:ext>
            </a:extLst>
          </p:cNvPr>
          <p:cNvSpPr/>
          <p:nvPr/>
        </p:nvSpPr>
        <p:spPr>
          <a:xfrm>
            <a:off x="10629900" y="1937988"/>
            <a:ext cx="452229" cy="254704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8" name="Rectángulo redondeado 5">
            <a:extLst>
              <a:ext uri="{FF2B5EF4-FFF2-40B4-BE49-F238E27FC236}">
                <a16:creationId xmlns:a16="http://schemas.microsoft.com/office/drawing/2014/main" id="{9397B9FC-3D7D-B32E-F9E0-1BE7810AEC4B}"/>
              </a:ext>
            </a:extLst>
          </p:cNvPr>
          <p:cNvSpPr/>
          <p:nvPr/>
        </p:nvSpPr>
        <p:spPr>
          <a:xfrm>
            <a:off x="9396481" y="1976425"/>
            <a:ext cx="1114506" cy="254703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Presionar “Ir”</a:t>
            </a:r>
          </a:p>
        </p:txBody>
      </p:sp>
    </p:spTree>
    <p:extLst>
      <p:ext uri="{BB962C8B-B14F-4D97-AF65-F5344CB8AC3E}">
        <p14:creationId xmlns:p14="http://schemas.microsoft.com/office/powerpoint/2010/main" val="13808969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3FA9C2-CA6B-D8FD-5844-47C8FA15E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90C2DC2-DEA3-EE14-687B-5AF5C03BC318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MX" dirty="0"/>
              <a:t>Gestionar las encuestas generales</a:t>
            </a:r>
            <a:endParaRPr lang="en-US" dirty="0"/>
          </a:p>
        </p:txBody>
      </p:sp>
      <p:sp>
        <p:nvSpPr>
          <p:cNvPr id="6" name="Título 3">
            <a:extLst>
              <a:ext uri="{FF2B5EF4-FFF2-40B4-BE49-F238E27FC236}">
                <a16:creationId xmlns:a16="http://schemas.microsoft.com/office/drawing/2014/main" id="{476A9AFB-8142-CC2B-CA39-5B4F3BEFD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MX" sz="3600" dirty="0">
                <a:solidFill>
                  <a:schemeClr val="accent1"/>
                </a:solidFill>
              </a:rPr>
              <a:t>Configuraciones: </a:t>
            </a:r>
            <a:r>
              <a:rPr lang="es-419" sz="3600" b="0" dirty="0">
                <a:solidFill>
                  <a:schemeClr val="accent1"/>
                </a:solidFill>
              </a:rPr>
              <a:t>GVASRVY</a:t>
            </a:r>
            <a:br>
              <a:rPr lang="es-419" sz="3600" b="0" dirty="0">
                <a:solidFill>
                  <a:schemeClr val="accent1"/>
                </a:solidFill>
              </a:rPr>
            </a:br>
            <a:r>
              <a:rPr lang="es-419" sz="3600" b="0" dirty="0">
                <a:solidFill>
                  <a:schemeClr val="accent1"/>
                </a:solidFill>
              </a:rPr>
              <a:t>Asignación de encuesta general</a:t>
            </a:r>
            <a:endParaRPr lang="es-CL" b="0" dirty="0">
              <a:solidFill>
                <a:schemeClr val="accent1"/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260CA3F-D2E5-B952-371F-AB3273B437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350" y="1389878"/>
            <a:ext cx="10410825" cy="4919998"/>
          </a:xfrm>
          <a:prstGeom prst="rect">
            <a:avLst/>
          </a:prstGeom>
        </p:spPr>
      </p:pic>
      <p:sp>
        <p:nvSpPr>
          <p:cNvPr id="11" name="Rectángulo redondeado 5">
            <a:extLst>
              <a:ext uri="{FF2B5EF4-FFF2-40B4-BE49-F238E27FC236}">
                <a16:creationId xmlns:a16="http://schemas.microsoft.com/office/drawing/2014/main" id="{F63F2425-925F-DC1A-B186-4B4866977EC5}"/>
              </a:ext>
            </a:extLst>
          </p:cNvPr>
          <p:cNvSpPr/>
          <p:nvPr/>
        </p:nvSpPr>
        <p:spPr>
          <a:xfrm>
            <a:off x="7173236" y="3464150"/>
            <a:ext cx="3132814" cy="813289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Definir el público de la encuesta: Usuarios de una selección de población, o aquellos que cumplen con un criterio determinado, o encuesta abierta.</a:t>
            </a:r>
          </a:p>
        </p:txBody>
      </p:sp>
      <p:sp>
        <p:nvSpPr>
          <p:cNvPr id="13" name="Rectángulo redondeado 8">
            <a:extLst>
              <a:ext uri="{FF2B5EF4-FFF2-40B4-BE49-F238E27FC236}">
                <a16:creationId xmlns:a16="http://schemas.microsoft.com/office/drawing/2014/main" id="{DDA089B0-FD5B-6B8E-FF6F-85EACBBED72B}"/>
              </a:ext>
            </a:extLst>
          </p:cNvPr>
          <p:cNvSpPr/>
          <p:nvPr/>
        </p:nvSpPr>
        <p:spPr>
          <a:xfrm>
            <a:off x="2964197" y="2878121"/>
            <a:ext cx="285529" cy="254704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4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DAC9535C-3CEB-E4C4-6460-2BF423ED26AB}"/>
              </a:ext>
            </a:extLst>
          </p:cNvPr>
          <p:cNvSpPr/>
          <p:nvPr/>
        </p:nvSpPr>
        <p:spPr>
          <a:xfrm>
            <a:off x="1284943" y="2886771"/>
            <a:ext cx="1622584" cy="254704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9" name="Rectángulo redondeado 5">
            <a:extLst>
              <a:ext uri="{FF2B5EF4-FFF2-40B4-BE49-F238E27FC236}">
                <a16:creationId xmlns:a16="http://schemas.microsoft.com/office/drawing/2014/main" id="{2BEFE6BD-274F-F03D-C637-CFBF114498AC}"/>
              </a:ext>
            </a:extLst>
          </p:cNvPr>
          <p:cNvSpPr/>
          <p:nvPr/>
        </p:nvSpPr>
        <p:spPr>
          <a:xfrm>
            <a:off x="3457771" y="2800342"/>
            <a:ext cx="1551829" cy="468385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Establecer el Status de la encuesta</a:t>
            </a:r>
          </a:p>
        </p:txBody>
      </p:sp>
      <p:sp>
        <p:nvSpPr>
          <p:cNvPr id="20" name="Rectángulo redondeado 8">
            <a:extLst>
              <a:ext uri="{FF2B5EF4-FFF2-40B4-BE49-F238E27FC236}">
                <a16:creationId xmlns:a16="http://schemas.microsoft.com/office/drawing/2014/main" id="{0F7E1A2F-8415-49F2-8BDE-C6E71EC728F4}"/>
              </a:ext>
            </a:extLst>
          </p:cNvPr>
          <p:cNvSpPr/>
          <p:nvPr/>
        </p:nvSpPr>
        <p:spPr>
          <a:xfrm>
            <a:off x="7936184" y="2472503"/>
            <a:ext cx="285529" cy="254704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6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4C21B84C-63DA-30F9-60C6-21A4E1CC689C}"/>
              </a:ext>
            </a:extLst>
          </p:cNvPr>
          <p:cNvSpPr/>
          <p:nvPr/>
        </p:nvSpPr>
        <p:spPr>
          <a:xfrm>
            <a:off x="6144017" y="2784352"/>
            <a:ext cx="4162033" cy="326100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2" name="Rectángulo redondeado 8">
            <a:extLst>
              <a:ext uri="{FF2B5EF4-FFF2-40B4-BE49-F238E27FC236}">
                <a16:creationId xmlns:a16="http://schemas.microsoft.com/office/drawing/2014/main" id="{217BE48E-1046-8402-3254-460CD6B30FA9}"/>
              </a:ext>
            </a:extLst>
          </p:cNvPr>
          <p:cNvSpPr/>
          <p:nvPr/>
        </p:nvSpPr>
        <p:spPr>
          <a:xfrm>
            <a:off x="7936183" y="3162536"/>
            <a:ext cx="285529" cy="254704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7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C54F86C2-8CB1-6F34-FE26-923AA4812078}"/>
              </a:ext>
            </a:extLst>
          </p:cNvPr>
          <p:cNvSpPr/>
          <p:nvPr/>
        </p:nvSpPr>
        <p:spPr>
          <a:xfrm>
            <a:off x="6596986" y="2496127"/>
            <a:ext cx="1232099" cy="216257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4" name="Rectángulo redondeado 5">
            <a:extLst>
              <a:ext uri="{FF2B5EF4-FFF2-40B4-BE49-F238E27FC236}">
                <a16:creationId xmlns:a16="http://schemas.microsoft.com/office/drawing/2014/main" id="{E0343248-3772-9CFA-1D3B-E338F5355824}"/>
              </a:ext>
            </a:extLst>
          </p:cNvPr>
          <p:cNvSpPr/>
          <p:nvPr/>
        </p:nvSpPr>
        <p:spPr>
          <a:xfrm>
            <a:off x="8341922" y="2423024"/>
            <a:ext cx="1607314" cy="254704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Indicar si es anónima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F637E71B-3941-D307-FEB4-B1933BD27120}"/>
              </a:ext>
            </a:extLst>
          </p:cNvPr>
          <p:cNvSpPr/>
          <p:nvPr/>
        </p:nvSpPr>
        <p:spPr>
          <a:xfrm>
            <a:off x="1144485" y="3389577"/>
            <a:ext cx="1898087" cy="590486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6" name="Rectángulo redondeado 8">
            <a:extLst>
              <a:ext uri="{FF2B5EF4-FFF2-40B4-BE49-F238E27FC236}">
                <a16:creationId xmlns:a16="http://schemas.microsoft.com/office/drawing/2014/main" id="{31017387-E395-E6A4-EA27-D93A55EE8563}"/>
              </a:ext>
            </a:extLst>
          </p:cNvPr>
          <p:cNvSpPr/>
          <p:nvPr/>
        </p:nvSpPr>
        <p:spPr>
          <a:xfrm>
            <a:off x="3106961" y="3566016"/>
            <a:ext cx="285529" cy="254704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5</a:t>
            </a:r>
          </a:p>
        </p:txBody>
      </p:sp>
      <p:sp>
        <p:nvSpPr>
          <p:cNvPr id="27" name="Rectángulo redondeado 5">
            <a:extLst>
              <a:ext uri="{FF2B5EF4-FFF2-40B4-BE49-F238E27FC236}">
                <a16:creationId xmlns:a16="http://schemas.microsoft.com/office/drawing/2014/main" id="{4F4D2C66-BEC2-4B6B-1A17-84DC5968B598}"/>
              </a:ext>
            </a:extLst>
          </p:cNvPr>
          <p:cNvSpPr/>
          <p:nvPr/>
        </p:nvSpPr>
        <p:spPr>
          <a:xfrm>
            <a:off x="3532502" y="3428999"/>
            <a:ext cx="1551829" cy="468385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Indicar las fechas de despliegue</a:t>
            </a:r>
          </a:p>
        </p:txBody>
      </p:sp>
    </p:spTree>
    <p:extLst>
      <p:ext uri="{BB962C8B-B14F-4D97-AF65-F5344CB8AC3E}">
        <p14:creationId xmlns:p14="http://schemas.microsoft.com/office/powerpoint/2010/main" val="14339142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E130DB-D926-084B-B62D-3FB2F0203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6704D37-D597-6BA9-94CC-C1E3D84CA3BE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MX" dirty="0"/>
              <a:t>Gestionar las encuestas generales</a:t>
            </a:r>
            <a:endParaRPr lang="en-US" dirty="0"/>
          </a:p>
        </p:txBody>
      </p:sp>
      <p:sp>
        <p:nvSpPr>
          <p:cNvPr id="6" name="Título 3">
            <a:extLst>
              <a:ext uri="{FF2B5EF4-FFF2-40B4-BE49-F238E27FC236}">
                <a16:creationId xmlns:a16="http://schemas.microsoft.com/office/drawing/2014/main" id="{428AAB78-B14D-E9EF-EC1D-B42FE2AD0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MX" sz="3600" dirty="0">
                <a:solidFill>
                  <a:schemeClr val="accent1"/>
                </a:solidFill>
              </a:rPr>
              <a:t>Configuraciones: </a:t>
            </a:r>
            <a:r>
              <a:rPr lang="es-419" sz="3600" b="0" dirty="0">
                <a:solidFill>
                  <a:schemeClr val="accent1"/>
                </a:solidFill>
              </a:rPr>
              <a:t>GVASRVY</a:t>
            </a:r>
            <a:br>
              <a:rPr lang="es-419" sz="3600" b="0" dirty="0">
                <a:solidFill>
                  <a:schemeClr val="accent1"/>
                </a:solidFill>
              </a:rPr>
            </a:br>
            <a:r>
              <a:rPr lang="es-419" sz="3600" b="0" dirty="0">
                <a:solidFill>
                  <a:schemeClr val="accent1"/>
                </a:solidFill>
              </a:rPr>
              <a:t>Asignación de encuesta general</a:t>
            </a:r>
            <a:endParaRPr lang="es-CL" b="0" dirty="0">
              <a:solidFill>
                <a:schemeClr val="accent1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19AACBD-106D-B4E2-49FD-AA60B20D8E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246" y="1357580"/>
            <a:ext cx="10476879" cy="4953801"/>
          </a:xfrm>
          <a:prstGeom prst="rect">
            <a:avLst/>
          </a:prstGeom>
        </p:spPr>
      </p:pic>
      <p:sp>
        <p:nvSpPr>
          <p:cNvPr id="7" name="Rectángulo redondeado 5">
            <a:extLst>
              <a:ext uri="{FF2B5EF4-FFF2-40B4-BE49-F238E27FC236}">
                <a16:creationId xmlns:a16="http://schemas.microsoft.com/office/drawing/2014/main" id="{55F520AC-5FBE-903F-E2E6-CDA72E27F363}"/>
              </a:ext>
            </a:extLst>
          </p:cNvPr>
          <p:cNvSpPr/>
          <p:nvPr/>
        </p:nvSpPr>
        <p:spPr>
          <a:xfrm>
            <a:off x="8395316" y="4499398"/>
            <a:ext cx="1833818" cy="714105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Si se desea, se ingresa el criterio que deben cumplir los docentes…</a:t>
            </a:r>
          </a:p>
        </p:txBody>
      </p:sp>
      <p:sp>
        <p:nvSpPr>
          <p:cNvPr id="8" name="Rectángulo redondeado 8">
            <a:extLst>
              <a:ext uri="{FF2B5EF4-FFF2-40B4-BE49-F238E27FC236}">
                <a16:creationId xmlns:a16="http://schemas.microsoft.com/office/drawing/2014/main" id="{903DAAF6-79B8-8BFD-5BAD-BAB6D26B5933}"/>
              </a:ext>
            </a:extLst>
          </p:cNvPr>
          <p:cNvSpPr/>
          <p:nvPr/>
        </p:nvSpPr>
        <p:spPr>
          <a:xfrm>
            <a:off x="7982892" y="2771682"/>
            <a:ext cx="285529" cy="254704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8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1C3D02AF-5DC3-87BD-B4B6-7FA333746EED}"/>
              </a:ext>
            </a:extLst>
          </p:cNvPr>
          <p:cNvSpPr/>
          <p:nvPr/>
        </p:nvSpPr>
        <p:spPr>
          <a:xfrm>
            <a:off x="609601" y="4303685"/>
            <a:ext cx="7323758" cy="1105530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0" name="Rectángulo redondeado 8">
            <a:extLst>
              <a:ext uri="{FF2B5EF4-FFF2-40B4-BE49-F238E27FC236}">
                <a16:creationId xmlns:a16="http://schemas.microsoft.com/office/drawing/2014/main" id="{6419883B-635B-BBFE-A282-B03F67B6BFD5}"/>
              </a:ext>
            </a:extLst>
          </p:cNvPr>
          <p:cNvSpPr/>
          <p:nvPr/>
        </p:nvSpPr>
        <p:spPr>
          <a:xfrm>
            <a:off x="7982892" y="4507683"/>
            <a:ext cx="285529" cy="254704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9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1FCBCDE7-5067-E395-AF0C-0D14CBF4CE86}"/>
              </a:ext>
            </a:extLst>
          </p:cNvPr>
          <p:cNvSpPr/>
          <p:nvPr/>
        </p:nvSpPr>
        <p:spPr>
          <a:xfrm>
            <a:off x="1670434" y="4323789"/>
            <a:ext cx="1682366" cy="333935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4" name="Rectángulo redondeado 5">
            <a:extLst>
              <a:ext uri="{FF2B5EF4-FFF2-40B4-BE49-F238E27FC236}">
                <a16:creationId xmlns:a16="http://schemas.microsoft.com/office/drawing/2014/main" id="{D7EA1C19-1F3F-6E7C-B452-C9709706F23A}"/>
              </a:ext>
            </a:extLst>
          </p:cNvPr>
          <p:cNvSpPr/>
          <p:nvPr/>
        </p:nvSpPr>
        <p:spPr>
          <a:xfrm>
            <a:off x="8414841" y="2781554"/>
            <a:ext cx="1607314" cy="714105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Se ingresa el criterio que deben cumplir los estudiantes…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D18507DB-8577-6977-03ED-6172DF9F7EA5}"/>
              </a:ext>
            </a:extLst>
          </p:cNvPr>
          <p:cNvSpPr/>
          <p:nvPr/>
        </p:nvSpPr>
        <p:spPr>
          <a:xfrm>
            <a:off x="10769689" y="6001610"/>
            <a:ext cx="517436" cy="248477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7" name="Rectángulo redondeado 8">
            <a:extLst>
              <a:ext uri="{FF2B5EF4-FFF2-40B4-BE49-F238E27FC236}">
                <a16:creationId xmlns:a16="http://schemas.microsoft.com/office/drawing/2014/main" id="{06AF38D3-6321-DC98-6487-C72FEE4FEEC0}"/>
              </a:ext>
            </a:extLst>
          </p:cNvPr>
          <p:cNvSpPr/>
          <p:nvPr/>
        </p:nvSpPr>
        <p:spPr>
          <a:xfrm>
            <a:off x="8348633" y="5992316"/>
            <a:ext cx="372306" cy="245663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10</a:t>
            </a:r>
          </a:p>
        </p:txBody>
      </p:sp>
      <p:sp>
        <p:nvSpPr>
          <p:cNvPr id="18" name="Rectángulo redondeado 5">
            <a:extLst>
              <a:ext uri="{FF2B5EF4-FFF2-40B4-BE49-F238E27FC236}">
                <a16:creationId xmlns:a16="http://schemas.microsoft.com/office/drawing/2014/main" id="{1B309AF8-5145-C644-A83A-FCC293DF2B86}"/>
              </a:ext>
            </a:extLst>
          </p:cNvPr>
          <p:cNvSpPr/>
          <p:nvPr/>
        </p:nvSpPr>
        <p:spPr>
          <a:xfrm>
            <a:off x="8894901" y="5967169"/>
            <a:ext cx="1774466" cy="307192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Se guardan los cambios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75D3289B-20B7-2D40-0F34-BA02EE7BE9C1}"/>
              </a:ext>
            </a:extLst>
          </p:cNvPr>
          <p:cNvSpPr/>
          <p:nvPr/>
        </p:nvSpPr>
        <p:spPr>
          <a:xfrm>
            <a:off x="609601" y="2717798"/>
            <a:ext cx="7323758" cy="1358902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E1AEEA79-1DD2-D0D0-C6A9-62B5060F5ABD}"/>
              </a:ext>
            </a:extLst>
          </p:cNvPr>
          <p:cNvSpPr/>
          <p:nvPr/>
        </p:nvSpPr>
        <p:spPr>
          <a:xfrm>
            <a:off x="1548815" y="2717799"/>
            <a:ext cx="1232099" cy="240144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003836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A5F292-5428-729B-7ECB-AC775C70A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>
            <a:extLst>
              <a:ext uri="{FF2B5EF4-FFF2-40B4-BE49-F238E27FC236}">
                <a16:creationId xmlns:a16="http://schemas.microsoft.com/office/drawing/2014/main" id="{CE8CDA87-4A08-3365-D1F3-78F811CC06FB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MX" dirty="0"/>
              <a:t>Gestionar las encuestas generales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96620C-9D72-52C4-73FD-231DF938C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Responder Encuestas Generales</a:t>
            </a:r>
          </a:p>
        </p:txBody>
      </p:sp>
    </p:spTree>
    <p:extLst>
      <p:ext uri="{BB962C8B-B14F-4D97-AF65-F5344CB8AC3E}">
        <p14:creationId xmlns:p14="http://schemas.microsoft.com/office/powerpoint/2010/main" val="15698666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137306-CE32-124A-42E7-F5E4B68CF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7D8C7371-FAE9-2B71-C4F4-F4EFD280D3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75" y="1057495"/>
            <a:ext cx="10423585" cy="5296537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42A991E-B0CF-BCB4-18C5-E43C9C0BFE1C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MX" dirty="0"/>
              <a:t>Gestionar las encuestas generales</a:t>
            </a:r>
            <a:endParaRPr lang="en-US" dirty="0"/>
          </a:p>
        </p:txBody>
      </p:sp>
      <p:sp>
        <p:nvSpPr>
          <p:cNvPr id="6" name="Título 3">
            <a:extLst>
              <a:ext uri="{FF2B5EF4-FFF2-40B4-BE49-F238E27FC236}">
                <a16:creationId xmlns:a16="http://schemas.microsoft.com/office/drawing/2014/main" id="{9492EAB1-D618-369E-63E5-23BB79698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CO" sz="3600" dirty="0">
                <a:solidFill>
                  <a:schemeClr val="accent1"/>
                </a:solidFill>
              </a:rPr>
              <a:t>Autoservicio</a:t>
            </a:r>
            <a:endParaRPr lang="es-CL" b="0" dirty="0">
              <a:solidFill>
                <a:schemeClr val="accent1"/>
              </a:solidFill>
            </a:endParaRPr>
          </a:p>
        </p:txBody>
      </p:sp>
      <p:sp>
        <p:nvSpPr>
          <p:cNvPr id="8" name="Rectángulo redondeado 8">
            <a:extLst>
              <a:ext uri="{FF2B5EF4-FFF2-40B4-BE49-F238E27FC236}">
                <a16:creationId xmlns:a16="http://schemas.microsoft.com/office/drawing/2014/main" id="{B6338720-69AB-78BA-9A7D-535D8DDC3DA0}"/>
              </a:ext>
            </a:extLst>
          </p:cNvPr>
          <p:cNvSpPr/>
          <p:nvPr/>
        </p:nvSpPr>
        <p:spPr>
          <a:xfrm>
            <a:off x="8002385" y="5240240"/>
            <a:ext cx="285529" cy="254704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  <p:sp>
        <p:nvSpPr>
          <p:cNvPr id="14" name="Rectángulo redondeado 5">
            <a:extLst>
              <a:ext uri="{FF2B5EF4-FFF2-40B4-BE49-F238E27FC236}">
                <a16:creationId xmlns:a16="http://schemas.microsoft.com/office/drawing/2014/main" id="{3157303E-A92E-6162-ABFA-CB2E8B3D9640}"/>
              </a:ext>
            </a:extLst>
          </p:cNvPr>
          <p:cNvSpPr/>
          <p:nvPr/>
        </p:nvSpPr>
        <p:spPr>
          <a:xfrm>
            <a:off x="8613248" y="4653487"/>
            <a:ext cx="1607314" cy="714105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Se puede crear una tarjeta con la opción de Encuestas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FDE3223F-F9C1-C9C1-4978-6E3CE131CFDC}"/>
              </a:ext>
            </a:extLst>
          </p:cNvPr>
          <p:cNvSpPr/>
          <p:nvPr/>
        </p:nvSpPr>
        <p:spPr>
          <a:xfrm>
            <a:off x="6095999" y="3831615"/>
            <a:ext cx="2599427" cy="2155117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7853739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851E4-8F44-AE39-26BC-C957E85ED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6C7A261F-70B8-6E4A-67B5-CEE0196B04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247" y="1490408"/>
            <a:ext cx="11030112" cy="2737316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8858AFB-AD82-D705-84ED-34D3B22602D7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MX" dirty="0"/>
              <a:t>Gestionar las encuestas generales</a:t>
            </a:r>
            <a:endParaRPr lang="en-US" dirty="0"/>
          </a:p>
        </p:txBody>
      </p:sp>
      <p:sp>
        <p:nvSpPr>
          <p:cNvPr id="6" name="Título 3">
            <a:extLst>
              <a:ext uri="{FF2B5EF4-FFF2-40B4-BE49-F238E27FC236}">
                <a16:creationId xmlns:a16="http://schemas.microsoft.com/office/drawing/2014/main" id="{E68B0AEB-B473-ECFD-D1F6-7FBF60408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CO" sz="3600" dirty="0">
                <a:solidFill>
                  <a:schemeClr val="accent1"/>
                </a:solidFill>
              </a:rPr>
              <a:t>Autoservicio</a:t>
            </a:r>
            <a:endParaRPr lang="es-CL" b="0" dirty="0">
              <a:solidFill>
                <a:schemeClr val="accent1"/>
              </a:solidFill>
            </a:endParaRPr>
          </a:p>
        </p:txBody>
      </p:sp>
      <p:sp>
        <p:nvSpPr>
          <p:cNvPr id="8" name="Rectángulo redondeado 8">
            <a:extLst>
              <a:ext uri="{FF2B5EF4-FFF2-40B4-BE49-F238E27FC236}">
                <a16:creationId xmlns:a16="http://schemas.microsoft.com/office/drawing/2014/main" id="{FB0229E5-CCE8-065D-B7E7-18BBE8CA6246}"/>
              </a:ext>
            </a:extLst>
          </p:cNvPr>
          <p:cNvSpPr/>
          <p:nvPr/>
        </p:nvSpPr>
        <p:spPr>
          <a:xfrm>
            <a:off x="5142463" y="3506803"/>
            <a:ext cx="285529" cy="254704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</a:t>
            </a:r>
          </a:p>
        </p:txBody>
      </p:sp>
      <p:sp>
        <p:nvSpPr>
          <p:cNvPr id="14" name="Rectángulo redondeado 5">
            <a:extLst>
              <a:ext uri="{FF2B5EF4-FFF2-40B4-BE49-F238E27FC236}">
                <a16:creationId xmlns:a16="http://schemas.microsoft.com/office/drawing/2014/main" id="{1B1EA491-236E-2215-258B-35A5104C3425}"/>
              </a:ext>
            </a:extLst>
          </p:cNvPr>
          <p:cNvSpPr/>
          <p:nvPr/>
        </p:nvSpPr>
        <p:spPr>
          <a:xfrm>
            <a:off x="5816444" y="4049870"/>
            <a:ext cx="2240628" cy="1074221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Aparecen las encuestas pendientes por responder. Seleccione la encuesta que desea.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746B143E-531D-797C-421F-576FA7479C39}"/>
              </a:ext>
            </a:extLst>
          </p:cNvPr>
          <p:cNvSpPr/>
          <p:nvPr/>
        </p:nvSpPr>
        <p:spPr>
          <a:xfrm>
            <a:off x="4468483" y="3022927"/>
            <a:ext cx="1347961" cy="272364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7143690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37497-A0B3-7150-1F17-FFB3EB08B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D80CD3FF-0DCA-A0A3-442B-692EFD5E20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797" y="1276710"/>
            <a:ext cx="10912519" cy="4700426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C6F74FC-DF30-1174-3B9E-5A5A06551A44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MX" dirty="0"/>
              <a:t>Gestionar las encuestas generales</a:t>
            </a:r>
            <a:endParaRPr lang="en-US" dirty="0"/>
          </a:p>
        </p:txBody>
      </p:sp>
      <p:sp>
        <p:nvSpPr>
          <p:cNvPr id="6" name="Título 3">
            <a:extLst>
              <a:ext uri="{FF2B5EF4-FFF2-40B4-BE49-F238E27FC236}">
                <a16:creationId xmlns:a16="http://schemas.microsoft.com/office/drawing/2014/main" id="{7F3AE07F-E7C3-E57F-67DE-5DBEDC168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CO" sz="3600" dirty="0">
                <a:solidFill>
                  <a:schemeClr val="accent1"/>
                </a:solidFill>
              </a:rPr>
              <a:t>Autoservicio</a:t>
            </a:r>
            <a:endParaRPr lang="es-CL" b="0" dirty="0">
              <a:solidFill>
                <a:schemeClr val="accent1"/>
              </a:solidFill>
            </a:endParaRPr>
          </a:p>
        </p:txBody>
      </p:sp>
      <p:sp>
        <p:nvSpPr>
          <p:cNvPr id="8" name="Rectángulo redondeado 8">
            <a:extLst>
              <a:ext uri="{FF2B5EF4-FFF2-40B4-BE49-F238E27FC236}">
                <a16:creationId xmlns:a16="http://schemas.microsoft.com/office/drawing/2014/main" id="{E622C248-BC7D-B5D5-94DF-F95BED3A4A7F}"/>
              </a:ext>
            </a:extLst>
          </p:cNvPr>
          <p:cNvSpPr/>
          <p:nvPr/>
        </p:nvSpPr>
        <p:spPr>
          <a:xfrm>
            <a:off x="3132509" y="5453938"/>
            <a:ext cx="285529" cy="254704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3</a:t>
            </a:r>
          </a:p>
        </p:txBody>
      </p:sp>
      <p:sp>
        <p:nvSpPr>
          <p:cNvPr id="14" name="Rectángulo redondeado 5">
            <a:extLst>
              <a:ext uri="{FF2B5EF4-FFF2-40B4-BE49-F238E27FC236}">
                <a16:creationId xmlns:a16="http://schemas.microsoft.com/office/drawing/2014/main" id="{3C9323B1-91C3-BBEB-0123-1A5C264D7C5A}"/>
              </a:ext>
            </a:extLst>
          </p:cNvPr>
          <p:cNvSpPr/>
          <p:nvPr/>
        </p:nvSpPr>
        <p:spPr>
          <a:xfrm>
            <a:off x="3458295" y="4889743"/>
            <a:ext cx="2761350" cy="1074221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El estudiante puede completar la encuesta diligenciando todas las preguntas o guardarla con el botón de TERMINAR DESPUÉS</a:t>
            </a:r>
          </a:p>
        </p:txBody>
      </p:sp>
    </p:spTree>
    <p:extLst>
      <p:ext uri="{BB962C8B-B14F-4D97-AF65-F5344CB8AC3E}">
        <p14:creationId xmlns:p14="http://schemas.microsoft.com/office/powerpoint/2010/main" val="13671196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/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MX" dirty="0"/>
              <a:t>Gestionar las encuestas generales</a:t>
            </a:r>
            <a:endParaRPr lang="en-US" dirty="0"/>
          </a:p>
        </p:txBody>
      </p:sp>
      <p:sp>
        <p:nvSpPr>
          <p:cNvPr id="7" name="Title 15">
            <a:extLst>
              <a:ext uri="{FF2B5EF4-FFF2-40B4-BE49-F238E27FC236}">
                <a16:creationId xmlns:a16="http://schemas.microsoft.com/office/drawing/2014/main" id="{957F28A3-0E5D-037E-7A5A-BBEFD092D364}"/>
              </a:ext>
            </a:extLst>
          </p:cNvPr>
          <p:cNvSpPr txBox="1">
            <a:spLocks/>
          </p:cNvSpPr>
          <p:nvPr/>
        </p:nvSpPr>
        <p:spPr>
          <a:xfrm>
            <a:off x="1637131" y="2032989"/>
            <a:ext cx="7092820" cy="1628192"/>
          </a:xfrm>
          <a:prstGeom prst="rect">
            <a:avLst/>
          </a:prstGeom>
        </p:spPr>
        <p:txBody>
          <a:bodyPr vert="horz" lIns="0" tIns="45720" rIns="91440" bIns="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RESUMEN</a:t>
            </a:r>
          </a:p>
        </p:txBody>
      </p:sp>
    </p:spTree>
    <p:extLst>
      <p:ext uri="{BB962C8B-B14F-4D97-AF65-F5344CB8AC3E}">
        <p14:creationId xmlns:p14="http://schemas.microsoft.com/office/powerpoint/2010/main" val="25350975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6CE4C-ABFA-84D3-F16F-263D414F20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9F6E3D4-53B1-F8B3-E4AE-20C82C5153E0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MX" dirty="0"/>
              <a:t>Gestionar las encuestas generales</a:t>
            </a:r>
            <a:endParaRPr lang="en-US" dirty="0"/>
          </a:p>
        </p:txBody>
      </p:sp>
      <p:sp>
        <p:nvSpPr>
          <p:cNvPr id="6" name="Título 3">
            <a:extLst>
              <a:ext uri="{FF2B5EF4-FFF2-40B4-BE49-F238E27FC236}">
                <a16:creationId xmlns:a16="http://schemas.microsoft.com/office/drawing/2014/main" id="{B1E3AC90-5907-E5BE-CAC8-1C96968A5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500" y="457388"/>
            <a:ext cx="10271883" cy="626165"/>
          </a:xfrm>
        </p:spPr>
        <p:txBody>
          <a:bodyPr/>
          <a:lstStyle/>
          <a:p>
            <a:r>
              <a:rPr lang="es-CO" sz="3600" dirty="0">
                <a:solidFill>
                  <a:schemeClr val="accent1"/>
                </a:solidFill>
              </a:rPr>
              <a:t>RESUMEN</a:t>
            </a:r>
            <a:endParaRPr lang="es-CL" b="0" dirty="0">
              <a:solidFill>
                <a:schemeClr val="accent1"/>
              </a:solidFill>
            </a:endParaRPr>
          </a:p>
        </p:txBody>
      </p:sp>
      <p:sp>
        <p:nvSpPr>
          <p:cNvPr id="2" name="Marcador de texto 2">
            <a:extLst>
              <a:ext uri="{FF2B5EF4-FFF2-40B4-BE49-F238E27FC236}">
                <a16:creationId xmlns:a16="http://schemas.microsoft.com/office/drawing/2014/main" id="{09C519F5-897C-5459-BC79-40C4BC154984}"/>
              </a:ext>
            </a:extLst>
          </p:cNvPr>
          <p:cNvSpPr txBox="1">
            <a:spLocks/>
          </p:cNvSpPr>
          <p:nvPr/>
        </p:nvSpPr>
        <p:spPr>
          <a:xfrm>
            <a:off x="1104900" y="1623880"/>
            <a:ext cx="10597474" cy="435862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7850" indent="-2333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23925" indent="-2333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58888" indent="-223838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04963" indent="-223838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tx1"/>
              </a:buClr>
              <a:buNone/>
            </a:pPr>
            <a:r>
              <a:rPr lang="es-419" sz="2000" dirty="0"/>
              <a:t>Encuesta General:</a:t>
            </a:r>
          </a:p>
          <a:p>
            <a:pPr algn="just"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lang="es-ES_tradnl" dirty="0"/>
              <a:t>Las encuestas generales son creadas por la institución para evaluar aspectos diferentes a la de evaluación docente.</a:t>
            </a:r>
          </a:p>
          <a:p>
            <a:pPr algn="just"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lang="es-ES_tradnl" dirty="0"/>
              <a:t>Una encuesta general puede crearse de manera pública, o bien puede ser asignada a un público específico (ejemplo: estudiantes y/o docentes que cumplen un criterio determinado).</a:t>
            </a:r>
          </a:p>
          <a:p>
            <a:pPr algn="just"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lang="es-ES_tradnl" dirty="0"/>
              <a:t>La encuesta será respondida en Autoservicio por el público destinado a ella.</a:t>
            </a:r>
          </a:p>
          <a:p>
            <a:pPr algn="just"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lang="es-ES_tradnl" dirty="0"/>
              <a:t>La institución debe analizar la información recibida y tabularla según sus propias necesidades.</a:t>
            </a:r>
          </a:p>
          <a:p>
            <a:endParaRPr lang="es-419" sz="1600" dirty="0"/>
          </a:p>
        </p:txBody>
      </p:sp>
    </p:spTree>
    <p:extLst>
      <p:ext uri="{BB962C8B-B14F-4D97-AF65-F5344CB8AC3E}">
        <p14:creationId xmlns:p14="http://schemas.microsoft.com/office/powerpoint/2010/main" val="1764228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1084689-227B-A2E5-EA69-DF2CD64C7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/>
              <a:t>MUCHAS GRACIAS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0EF50E-22E9-2C0A-4970-41D2FFEB26B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Nidia Beltran</a:t>
            </a:r>
          </a:p>
          <a:p>
            <a:r>
              <a:rPr lang="en-US" dirty="0"/>
              <a:t>n</a:t>
            </a:r>
            <a:r>
              <a:rPr lang="en-US"/>
              <a:t>idia</a:t>
            </a:r>
            <a:r>
              <a:rPr lang="en-US" dirty="0"/>
              <a:t>.beltran@ellucian.com</a:t>
            </a:r>
          </a:p>
        </p:txBody>
      </p:sp>
      <p:pic>
        <p:nvPicPr>
          <p:cNvPr id="8" name="Graphic 7" descr="User with solid fill">
            <a:extLst>
              <a:ext uri="{FF2B5EF4-FFF2-40B4-BE49-F238E27FC236}">
                <a16:creationId xmlns:a16="http://schemas.microsoft.com/office/drawing/2014/main" id="{C726B198-B5C8-1C5D-4D10-BFFD13AADE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4490" y="3652538"/>
            <a:ext cx="274320" cy="274320"/>
          </a:xfrm>
          <a:prstGeom prst="rect">
            <a:avLst/>
          </a:prstGeom>
        </p:spPr>
      </p:pic>
      <p:pic>
        <p:nvPicPr>
          <p:cNvPr id="9" name="Graphic 8" descr="Email with solid fill">
            <a:extLst>
              <a:ext uri="{FF2B5EF4-FFF2-40B4-BE49-F238E27FC236}">
                <a16:creationId xmlns:a16="http://schemas.microsoft.com/office/drawing/2014/main" id="{DD7F5D3F-15A6-F216-AF41-EA0DCDE6B3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3543" y="4028176"/>
            <a:ext cx="274320" cy="27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08677"/>
      </p:ext>
    </p:extLst>
  </p:cSld>
  <p:clrMapOvr>
    <a:masterClrMapping/>
  </p:clrMapOvr>
</p:sld>
</file>

<file path=ppt/theme/theme1.xml><?xml version="1.0" encoding="utf-8"?>
<a:theme xmlns:a="http://schemas.openxmlformats.org/drawingml/2006/main" name="Ellucian Main Layouts">
  <a:themeElements>
    <a:clrScheme name="Ellucian">
      <a:dk1>
        <a:srgbClr val="000000"/>
      </a:dk1>
      <a:lt1>
        <a:srgbClr val="FFFFFF"/>
      </a:lt1>
      <a:dk2>
        <a:srgbClr val="320070"/>
      </a:dk2>
      <a:lt2>
        <a:srgbClr val="D7D2CB"/>
      </a:lt2>
      <a:accent1>
        <a:srgbClr val="7000EB"/>
      </a:accent1>
      <a:accent2>
        <a:srgbClr val="95F4A0"/>
      </a:accent2>
      <a:accent3>
        <a:srgbClr val="084D2B"/>
      </a:accent3>
      <a:accent4>
        <a:srgbClr val="E8F75B"/>
      </a:accent4>
      <a:accent5>
        <a:srgbClr val="74C4FF"/>
      </a:accent5>
      <a:accent6>
        <a:srgbClr val="FFC800"/>
      </a:accent6>
      <a:hlink>
        <a:srgbClr val="7000EB"/>
      </a:hlink>
      <a:folHlink>
        <a:srgbClr val="7000EB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EBP 01 - 4.1.6.2 Programar el inicio y finalizacion de Per.Acad.Regulares" id="{36489518-00D3-425C-91F5-1EE673D7B517}" vid="{CEA309A8-FD57-42A7-831A-1C6DF3BE5D5A}"/>
    </a:ext>
  </a:extLst>
</a:theme>
</file>

<file path=ppt/theme/theme2.xml><?xml version="1.0" encoding="utf-8"?>
<a:theme xmlns:a="http://schemas.openxmlformats.org/drawingml/2006/main" name="Ellucian Blank Layouts">
  <a:themeElements>
    <a:clrScheme name="Ellucian">
      <a:dk1>
        <a:srgbClr val="000000"/>
      </a:dk1>
      <a:lt1>
        <a:srgbClr val="FFFFFF"/>
      </a:lt1>
      <a:dk2>
        <a:srgbClr val="320070"/>
      </a:dk2>
      <a:lt2>
        <a:srgbClr val="D7D2CB"/>
      </a:lt2>
      <a:accent1>
        <a:srgbClr val="7000EB"/>
      </a:accent1>
      <a:accent2>
        <a:srgbClr val="95F4A0"/>
      </a:accent2>
      <a:accent3>
        <a:srgbClr val="084D2B"/>
      </a:accent3>
      <a:accent4>
        <a:srgbClr val="E8F75B"/>
      </a:accent4>
      <a:accent5>
        <a:srgbClr val="74C4FF"/>
      </a:accent5>
      <a:accent6>
        <a:srgbClr val="FFC800"/>
      </a:accent6>
      <a:hlink>
        <a:srgbClr val="7000EB"/>
      </a:hlink>
      <a:folHlink>
        <a:srgbClr val="7000EB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EBP 01 - 4.1.6.2 Programar el inicio y finalizacion de Per.Acad.Regulares" id="{36489518-00D3-425C-91F5-1EE673D7B517}" vid="{B53508D9-7D69-489E-B75B-7682E6255525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 Ellucian 2023</Template>
  <TotalTime>12752</TotalTime>
  <Words>1136</Words>
  <Application>Microsoft Office PowerPoint</Application>
  <PresentationFormat>Panorámica</PresentationFormat>
  <Paragraphs>199</Paragraphs>
  <Slides>34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34</vt:i4>
      </vt:variant>
    </vt:vector>
  </HeadingPairs>
  <TitlesOfParts>
    <vt:vector size="42" baseType="lpstr">
      <vt:lpstr>Aptos</vt:lpstr>
      <vt:lpstr>Aptos Display</vt:lpstr>
      <vt:lpstr>Arial</vt:lpstr>
      <vt:lpstr>Calibri</vt:lpstr>
      <vt:lpstr>Courier New</vt:lpstr>
      <vt:lpstr>Wingdings</vt:lpstr>
      <vt:lpstr>Ellucian Main Layouts</vt:lpstr>
      <vt:lpstr>Ellucian Blank Layouts</vt:lpstr>
      <vt:lpstr>Gestionar encuestas generales hacia los estudiantes </vt:lpstr>
      <vt:lpstr>Presentación de PowerPoint</vt:lpstr>
      <vt:lpstr>Overview</vt:lpstr>
      <vt:lpstr>Overview: Mapa de capacidades</vt:lpstr>
      <vt:lpstr>Overview: Capacidad Operativa Apoyo Académico para Estudiantes</vt:lpstr>
      <vt:lpstr>Overview: Procedimiento del Proceso Gestionar Encuesta General</vt:lpstr>
      <vt:lpstr>Presentación de PowerPoint</vt:lpstr>
      <vt:lpstr>Overview: Región donde aplica</vt:lpstr>
      <vt:lpstr>Configuraciones</vt:lpstr>
      <vt:lpstr>Presentación de PowerPoint</vt:lpstr>
      <vt:lpstr>Presentación de PowerPoint</vt:lpstr>
      <vt:lpstr>Presentación de PowerPoint</vt:lpstr>
      <vt:lpstr>Configuración: GTVFUNC Validación de código de función</vt:lpstr>
      <vt:lpstr>Configuración: GVVGSQA Validación de área de pregunta</vt:lpstr>
      <vt:lpstr>Configuración: GVVGSRC Validación de código de encuesta general</vt:lpstr>
      <vt:lpstr>Estructura de la encuesta</vt:lpstr>
      <vt:lpstr>Configuración: GVASDEF Definición de encuesta general</vt:lpstr>
      <vt:lpstr>Configuración: GVASDEF Definición de encuesta general</vt:lpstr>
      <vt:lpstr>Configuración: GVASDEF Definición de encuesta general</vt:lpstr>
      <vt:lpstr>Configuración: GVASDEF Definición de encuesta general</vt:lpstr>
      <vt:lpstr>Configuración: GVASDEF Definición de encuesta general</vt:lpstr>
      <vt:lpstr>Configuración: GVASDEF Definición de encuesta general</vt:lpstr>
      <vt:lpstr>Configuración: GVASDEF Definición de encuesta general</vt:lpstr>
      <vt:lpstr>Gestionar Encuestas Generales</vt:lpstr>
      <vt:lpstr>Configuraciones: GVASRVY Asignación de encuesta general</vt:lpstr>
      <vt:lpstr>Configuraciones: GVASRVY Asignación de encuesta general</vt:lpstr>
      <vt:lpstr>Configuraciones: GVASRVY Asignación de encuesta general</vt:lpstr>
      <vt:lpstr>Responder Encuestas Generales</vt:lpstr>
      <vt:lpstr>Autoservicio</vt:lpstr>
      <vt:lpstr>Autoservicio</vt:lpstr>
      <vt:lpstr>Autoservicio</vt:lpstr>
      <vt:lpstr>Presentación de PowerPoint</vt:lpstr>
      <vt:lpstr>RESUMEN</vt:lpstr>
      <vt:lpstr>MUCHAS 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Gestionar conceptos de cobro y pago</dc:title>
  <dc:creator>Mardones, Francisco</dc:creator>
  <cp:lastModifiedBy>Beltran, Nidia</cp:lastModifiedBy>
  <cp:revision>276</cp:revision>
  <dcterms:created xsi:type="dcterms:W3CDTF">2023-07-17T20:07:38Z</dcterms:created>
  <dcterms:modified xsi:type="dcterms:W3CDTF">2026-07-23T21:33:51Z</dcterms:modified>
</cp:coreProperties>
</file>
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2.xml" ContentType="application/vnd.openxmlformats-officedocument.theme+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731" r:id="rId2"/>
    <p:sldMasterId id="2147483787" r:id="rId3"/>
  </p:sldMasterIdLst>
  <p:notesMasterIdLst>
    <p:notesMasterId r:id="rId107"/>
  </p:notesMasterIdLst>
  <p:sldIdLst>
    <p:sldId id="265" r:id="rId4"/>
    <p:sldId id="390" r:id="rId5"/>
    <p:sldId id="418" r:id="rId6"/>
    <p:sldId id="419" r:id="rId7"/>
    <p:sldId id="498" r:id="rId8"/>
    <p:sldId id="421" r:id="rId9"/>
    <p:sldId id="422" r:id="rId10"/>
    <p:sldId id="423" r:id="rId11"/>
    <p:sldId id="535" r:id="rId12"/>
    <p:sldId id="384" r:id="rId13"/>
    <p:sldId id="500" r:id="rId14"/>
    <p:sldId id="501" r:id="rId15"/>
    <p:sldId id="424" r:id="rId16"/>
    <p:sldId id="502" r:id="rId17"/>
    <p:sldId id="504" r:id="rId18"/>
    <p:sldId id="505" r:id="rId19"/>
    <p:sldId id="427" r:id="rId20"/>
    <p:sldId id="529" r:id="rId21"/>
    <p:sldId id="429" r:id="rId22"/>
    <p:sldId id="430" r:id="rId23"/>
    <p:sldId id="527" r:id="rId24"/>
    <p:sldId id="433" r:id="rId25"/>
    <p:sldId id="392" r:id="rId26"/>
    <p:sldId id="435" r:id="rId27"/>
    <p:sldId id="436" r:id="rId28"/>
    <p:sldId id="437" r:id="rId29"/>
    <p:sldId id="506" r:id="rId30"/>
    <p:sldId id="438" r:id="rId31"/>
    <p:sldId id="439" r:id="rId32"/>
    <p:sldId id="440" r:id="rId33"/>
    <p:sldId id="441" r:id="rId34"/>
    <p:sldId id="443" r:id="rId35"/>
    <p:sldId id="444" r:id="rId36"/>
    <p:sldId id="445" r:id="rId37"/>
    <p:sldId id="457" r:id="rId38"/>
    <p:sldId id="446" r:id="rId39"/>
    <p:sldId id="447" r:id="rId40"/>
    <p:sldId id="448" r:id="rId41"/>
    <p:sldId id="538" r:id="rId42"/>
    <p:sldId id="537" r:id="rId43"/>
    <p:sldId id="539" r:id="rId44"/>
    <p:sldId id="540" r:id="rId45"/>
    <p:sldId id="541" r:id="rId46"/>
    <p:sldId id="536" r:id="rId47"/>
    <p:sldId id="449" r:id="rId48"/>
    <p:sldId id="455" r:id="rId49"/>
    <p:sldId id="456" r:id="rId50"/>
    <p:sldId id="461" r:id="rId51"/>
    <p:sldId id="462" r:id="rId52"/>
    <p:sldId id="463" r:id="rId53"/>
    <p:sldId id="464" r:id="rId54"/>
    <p:sldId id="458" r:id="rId55"/>
    <p:sldId id="459" r:id="rId56"/>
    <p:sldId id="460" r:id="rId57"/>
    <p:sldId id="450" r:id="rId58"/>
    <p:sldId id="451" r:id="rId59"/>
    <p:sldId id="452" r:id="rId60"/>
    <p:sldId id="453" r:id="rId61"/>
    <p:sldId id="508" r:id="rId62"/>
    <p:sldId id="465" r:id="rId63"/>
    <p:sldId id="466" r:id="rId64"/>
    <p:sldId id="467" r:id="rId65"/>
    <p:sldId id="476" r:id="rId66"/>
    <p:sldId id="509" r:id="rId67"/>
    <p:sldId id="471" r:id="rId68"/>
    <p:sldId id="472" r:id="rId69"/>
    <p:sldId id="516" r:id="rId70"/>
    <p:sldId id="530" r:id="rId71"/>
    <p:sldId id="531" r:id="rId72"/>
    <p:sldId id="517" r:id="rId73"/>
    <p:sldId id="533" r:id="rId74"/>
    <p:sldId id="485" r:id="rId75"/>
    <p:sldId id="534" r:id="rId76"/>
    <p:sldId id="473" r:id="rId77"/>
    <p:sldId id="486" r:id="rId78"/>
    <p:sldId id="487" r:id="rId79"/>
    <p:sldId id="510" r:id="rId80"/>
    <p:sldId id="489" r:id="rId81"/>
    <p:sldId id="511" r:id="rId82"/>
    <p:sldId id="491" r:id="rId83"/>
    <p:sldId id="495" r:id="rId84"/>
    <p:sldId id="494" r:id="rId85"/>
    <p:sldId id="492" r:id="rId86"/>
    <p:sldId id="493" r:id="rId87"/>
    <p:sldId id="496" r:id="rId88"/>
    <p:sldId id="542" r:id="rId89"/>
    <p:sldId id="514" r:id="rId90"/>
    <p:sldId id="515" r:id="rId91"/>
    <p:sldId id="518" r:id="rId92"/>
    <p:sldId id="519" r:id="rId93"/>
    <p:sldId id="520" r:id="rId94"/>
    <p:sldId id="521" r:id="rId95"/>
    <p:sldId id="522" r:id="rId96"/>
    <p:sldId id="523" r:id="rId97"/>
    <p:sldId id="525" r:id="rId98"/>
    <p:sldId id="526" r:id="rId99"/>
    <p:sldId id="513" r:id="rId100"/>
    <p:sldId id="474" r:id="rId101"/>
    <p:sldId id="477" r:id="rId102"/>
    <p:sldId id="478" r:id="rId103"/>
    <p:sldId id="479" r:id="rId104"/>
    <p:sldId id="497" r:id="rId105"/>
    <p:sldId id="512" r:id="rId10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E0089"/>
    <a:srgbClr val="E4DF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82B1A7-6C18-42CE-BC29-39279F7FA745}" v="1" dt="2026-06-25T13:47:02.9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94"/>
  </p:normalViewPr>
  <p:slideViewPr>
    <p:cSldViewPr snapToGrid="0">
      <p:cViewPr varScale="1">
        <p:scale>
          <a:sx n="60" d="100"/>
          <a:sy n="60" d="100"/>
        </p:scale>
        <p:origin x="1134" y="60"/>
      </p:cViewPr>
      <p:guideLst/>
    </p:cSldViewPr>
  </p:slideViewPr>
  <p:notesTextViewPr>
    <p:cViewPr>
      <p:scale>
        <a:sx n="3" d="2"/>
        <a:sy n="3" d="2"/>
      </p:scale>
      <p:origin x="0" y="0"/>
    </p:cViewPr>
  </p:notesTextViewPr>
  <p:sorterViewPr>
    <p:cViewPr>
      <p:scale>
        <a:sx n="28" d="100"/>
        <a:sy n="28"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112" Type="http://schemas.microsoft.com/office/2016/11/relationships/changesInfo" Target="changesInfos/changesInfo1.xml"/><Relationship Id="rId16" Type="http://schemas.openxmlformats.org/officeDocument/2006/relationships/slide" Target="slides/slide13.xml"/><Relationship Id="rId107" Type="http://schemas.openxmlformats.org/officeDocument/2006/relationships/notesMaster" Target="notesMasters/notesMaster1.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102" Type="http://schemas.openxmlformats.org/officeDocument/2006/relationships/slide" Target="slides/slide99.xml"/><Relationship Id="rId5" Type="http://schemas.openxmlformats.org/officeDocument/2006/relationships/slide" Target="slides/slide2.xml"/><Relationship Id="rId90" Type="http://schemas.openxmlformats.org/officeDocument/2006/relationships/slide" Target="slides/slide87.xml"/><Relationship Id="rId95" Type="http://schemas.openxmlformats.org/officeDocument/2006/relationships/slide" Target="slides/slide92.xml"/><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113" Type="http://schemas.microsoft.com/office/2015/10/relationships/revisionInfo" Target="revisionInfo.xml"/><Relationship Id="rId80" Type="http://schemas.openxmlformats.org/officeDocument/2006/relationships/slide" Target="slides/slide77.xml"/><Relationship Id="rId85" Type="http://schemas.openxmlformats.org/officeDocument/2006/relationships/slide" Target="slides/slide82.xml"/><Relationship Id="rId12" Type="http://schemas.openxmlformats.org/officeDocument/2006/relationships/slide" Target="slides/slide9.xml"/><Relationship Id="rId17" Type="http://schemas.openxmlformats.org/officeDocument/2006/relationships/slide" Target="slides/slide14.xml"/><Relationship Id="rId33" Type="http://schemas.openxmlformats.org/officeDocument/2006/relationships/slide" Target="slides/slide30.xml"/><Relationship Id="rId38" Type="http://schemas.openxmlformats.org/officeDocument/2006/relationships/slide" Target="slides/slide35.xml"/><Relationship Id="rId59" Type="http://schemas.openxmlformats.org/officeDocument/2006/relationships/slide" Target="slides/slide56.xml"/><Relationship Id="rId103" Type="http://schemas.openxmlformats.org/officeDocument/2006/relationships/slide" Target="slides/slide100.xml"/><Relationship Id="rId108" Type="http://schemas.openxmlformats.org/officeDocument/2006/relationships/presProps" Target="presProps.xml"/><Relationship Id="rId54" Type="http://schemas.openxmlformats.org/officeDocument/2006/relationships/slide" Target="slides/slide51.xml"/><Relationship Id="rId70" Type="http://schemas.openxmlformats.org/officeDocument/2006/relationships/slide" Target="slides/slide67.xml"/><Relationship Id="rId75" Type="http://schemas.openxmlformats.org/officeDocument/2006/relationships/slide" Target="slides/slide72.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6" Type="http://schemas.openxmlformats.org/officeDocument/2006/relationships/slide" Target="slides/slide103.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slide" Target="slides/slide98.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109" Type="http://schemas.openxmlformats.org/officeDocument/2006/relationships/viewProps" Target="viewProps.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slide" Target="slides/slide101.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slide" Target="slides/slide84.xml"/><Relationship Id="rId110" Type="http://schemas.openxmlformats.org/officeDocument/2006/relationships/theme" Target="theme/theme1.xml"/><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slide" Target="slides/slide102.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25" Type="http://schemas.openxmlformats.org/officeDocument/2006/relationships/slide" Target="slides/slide22.xml"/><Relationship Id="rId46" Type="http://schemas.openxmlformats.org/officeDocument/2006/relationships/slide" Target="slides/slide43.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62" Type="http://schemas.openxmlformats.org/officeDocument/2006/relationships/slide" Target="slides/slide59.xml"/><Relationship Id="rId83" Type="http://schemas.openxmlformats.org/officeDocument/2006/relationships/slide" Target="slides/slide80.xml"/><Relationship Id="rId88" Type="http://schemas.openxmlformats.org/officeDocument/2006/relationships/slide" Target="slides/slide85.xml"/><Relationship Id="rId11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ver Herrera Mejía" userId="33259626242_tp_box_2" providerId="OAuth2" clId="{928070B4-3928-4BF5-8A3B-02428762A929}"/>
    <pc:docChg chg="custSel addSld delSld modSld sldOrd">
      <pc:chgData name="Faver Herrera Mejía" userId="33259626242_tp_box_2" providerId="OAuth2" clId="{928070B4-3928-4BF5-8A3B-02428762A929}" dt="2026-06-25T13:48:53.005" v="135" actId="20577"/>
      <pc:docMkLst>
        <pc:docMk/>
      </pc:docMkLst>
      <pc:sldChg chg="del">
        <pc:chgData name="Faver Herrera Mejía" userId="33259626242_tp_box_2" providerId="OAuth2" clId="{928070B4-3928-4BF5-8A3B-02428762A929}" dt="2026-06-25T13:31:56.295" v="52" actId="47"/>
        <pc:sldMkLst>
          <pc:docMk/>
          <pc:sldMk cId="3514451637" sldId="468"/>
        </pc:sldMkLst>
      </pc:sldChg>
      <pc:sldChg chg="del">
        <pc:chgData name="Faver Herrera Mejía" userId="33259626242_tp_box_2" providerId="OAuth2" clId="{928070B4-3928-4BF5-8A3B-02428762A929}" dt="2026-06-25T13:31:56.295" v="52" actId="47"/>
        <pc:sldMkLst>
          <pc:docMk/>
          <pc:sldMk cId="2210011915" sldId="469"/>
        </pc:sldMkLst>
      </pc:sldChg>
      <pc:sldChg chg="modSp mod">
        <pc:chgData name="Faver Herrera Mejía" userId="33259626242_tp_box_2" providerId="OAuth2" clId="{928070B4-3928-4BF5-8A3B-02428762A929}" dt="2026-06-19T15:14:56.620" v="7" actId="6549"/>
        <pc:sldMkLst>
          <pc:docMk/>
          <pc:sldMk cId="2900812786" sldId="497"/>
        </pc:sldMkLst>
        <pc:spChg chg="mod">
          <ac:chgData name="Faver Herrera Mejía" userId="33259626242_tp_box_2" providerId="OAuth2" clId="{928070B4-3928-4BF5-8A3B-02428762A929}" dt="2026-06-19T15:14:56.620" v="7" actId="6549"/>
          <ac:spMkLst>
            <pc:docMk/>
            <pc:sldMk cId="2900812786" sldId="497"/>
            <ac:spMk id="3" creationId="{A4230D26-77A4-9999-B174-9B6175E41799}"/>
          </ac:spMkLst>
        </pc:spChg>
      </pc:sldChg>
      <pc:sldChg chg="addSp delSp modSp mod modNotesTx">
        <pc:chgData name="Faver Herrera Mejía" userId="33259626242_tp_box_2" providerId="OAuth2" clId="{928070B4-3928-4BF5-8A3B-02428762A929}" dt="2026-06-25T13:33:51.933" v="53" actId="478"/>
        <pc:sldMkLst>
          <pc:docMk/>
          <pc:sldMk cId="1467663459" sldId="515"/>
        </pc:sldMkLst>
        <pc:picChg chg="add del mod">
          <ac:chgData name="Faver Herrera Mejía" userId="33259626242_tp_box_2" providerId="OAuth2" clId="{928070B4-3928-4BF5-8A3B-02428762A929}" dt="2026-06-25T13:33:51.933" v="53" actId="478"/>
          <ac:picMkLst>
            <pc:docMk/>
            <pc:sldMk cId="1467663459" sldId="515"/>
            <ac:picMk id="5" creationId="{E29EEB44-181C-BD9E-4A1B-33A522FD087B}"/>
          </ac:picMkLst>
        </pc:picChg>
      </pc:sldChg>
      <pc:sldChg chg="modSp mod">
        <pc:chgData name="Faver Herrera Mejía" userId="33259626242_tp_box_2" providerId="OAuth2" clId="{928070B4-3928-4BF5-8A3B-02428762A929}" dt="2026-06-25T13:48:53.005" v="135" actId="20577"/>
        <pc:sldMkLst>
          <pc:docMk/>
          <pc:sldMk cId="877892874" sldId="522"/>
        </pc:sldMkLst>
        <pc:spChg chg="mod">
          <ac:chgData name="Faver Herrera Mejía" userId="33259626242_tp_box_2" providerId="OAuth2" clId="{928070B4-3928-4BF5-8A3B-02428762A929}" dt="2026-06-25T13:48:53.005" v="135" actId="20577"/>
          <ac:spMkLst>
            <pc:docMk/>
            <pc:sldMk cId="877892874" sldId="522"/>
            <ac:spMk id="5" creationId="{72775B55-23FB-A847-567A-29EC8FE4DAE7}"/>
          </ac:spMkLst>
        </pc:spChg>
      </pc:sldChg>
      <pc:sldChg chg="addSp delSp modSp add mod ord">
        <pc:chgData name="Faver Herrera Mejía" userId="33259626242_tp_box_2" providerId="OAuth2" clId="{928070B4-3928-4BF5-8A3B-02428762A929}" dt="2026-06-25T13:47:26.072" v="133" actId="1076"/>
        <pc:sldMkLst>
          <pc:docMk/>
          <pc:sldMk cId="2551442533" sldId="542"/>
        </pc:sldMkLst>
        <pc:spChg chg="del">
          <ac:chgData name="Faver Herrera Mejía" userId="33259626242_tp_box_2" providerId="OAuth2" clId="{928070B4-3928-4BF5-8A3B-02428762A929}" dt="2026-06-25T13:43:37.262" v="57" actId="478"/>
          <ac:spMkLst>
            <pc:docMk/>
            <pc:sldMk cId="2551442533" sldId="542"/>
            <ac:spMk id="4" creationId="{4C20F183-AE36-D9AB-6BDC-8FC3B5643865}"/>
          </ac:spMkLst>
        </pc:spChg>
        <pc:spChg chg="add mod">
          <ac:chgData name="Faver Herrera Mejía" userId="33259626242_tp_box_2" providerId="OAuth2" clId="{928070B4-3928-4BF5-8A3B-02428762A929}" dt="2026-06-25T13:47:26.072" v="133" actId="1076"/>
          <ac:spMkLst>
            <pc:docMk/>
            <pc:sldMk cId="2551442533" sldId="542"/>
            <ac:spMk id="7" creationId="{2D903220-6B54-4FC7-A76B-C0788D4EA61C}"/>
          </ac:spMkLst>
        </pc:spChg>
        <pc:spChg chg="mod">
          <ac:chgData name="Faver Herrera Mejía" userId="33259626242_tp_box_2" providerId="OAuth2" clId="{928070B4-3928-4BF5-8A3B-02428762A929}" dt="2026-06-25T13:45:31.073" v="74" actId="6549"/>
          <ac:spMkLst>
            <pc:docMk/>
            <pc:sldMk cId="2551442533" sldId="542"/>
            <ac:spMk id="11" creationId="{7C1D728F-A85E-7A2C-7250-22EFCDF261A4}"/>
          </ac:spMkLst>
        </pc:spChg>
        <pc:picChg chg="add mod">
          <ac:chgData name="Faver Herrera Mejía" userId="33259626242_tp_box_2" providerId="OAuth2" clId="{928070B4-3928-4BF5-8A3B-02428762A929}" dt="2026-06-25T13:47:05.356" v="120" actId="1035"/>
          <ac:picMkLst>
            <pc:docMk/>
            <pc:sldMk cId="2551442533" sldId="542"/>
            <ac:picMk id="3" creationId="{4EAB96F6-34A1-6F71-08CB-A90DE18FB3E1}"/>
          </ac:picMkLst>
        </pc:picChg>
        <pc:picChg chg="add mod">
          <ac:chgData name="Faver Herrera Mejía" userId="33259626242_tp_box_2" providerId="OAuth2" clId="{928070B4-3928-4BF5-8A3B-02428762A929}" dt="2026-06-25T13:47:07.740" v="130" actId="1035"/>
          <ac:picMkLst>
            <pc:docMk/>
            <pc:sldMk cId="2551442533" sldId="542"/>
            <ac:picMk id="6" creationId="{70C013D0-ADAD-18F6-E42C-26CDFDEFEAD0}"/>
          </ac:picMkLst>
        </pc:picChg>
        <pc:picChg chg="del">
          <ac:chgData name="Faver Herrera Mejía" userId="33259626242_tp_box_2" providerId="OAuth2" clId="{928070B4-3928-4BF5-8A3B-02428762A929}" dt="2026-06-25T13:43:33.597" v="55" actId="478"/>
          <ac:picMkLst>
            <pc:docMk/>
            <pc:sldMk cId="2551442533" sldId="542"/>
            <ac:picMk id="13" creationId="{2B39C3F4-C24B-38DA-BBA3-D39B3A2B75E5}"/>
          </ac:picMkLst>
        </pc:picChg>
        <pc:picChg chg="del">
          <ac:chgData name="Faver Herrera Mejía" userId="33259626242_tp_box_2" providerId="OAuth2" clId="{928070B4-3928-4BF5-8A3B-02428762A929}" dt="2026-06-25T13:43:35.821" v="56" actId="478"/>
          <ac:picMkLst>
            <pc:docMk/>
            <pc:sldMk cId="2551442533" sldId="542"/>
            <ac:picMk id="19" creationId="{871395FF-E838-FC4E-D3B0-877F1251E4A8}"/>
          </ac:picMkLst>
        </pc:picChg>
      </pc:sldChg>
    </pc:docChg>
  </pc:docChgLst>
  <pc:docChgLst>
    <pc:chgData name="Alejandra León Barrera" userId="43512263486_tp_box_2" providerId="OAuth2" clId="{CE2DED1C-98E3-404D-AA29-8769E08C8A92}"/>
    <pc:docChg chg="undo redo custSel addSld delSld modSld sldOrd delMainMaster modMainMaster">
      <pc:chgData name="Alejandra León Barrera" userId="43512263486_tp_box_2" providerId="OAuth2" clId="{CE2DED1C-98E3-404D-AA29-8769E08C8A92}" dt="2026-06-03T01:32:28.824" v="7783" actId="1076"/>
      <pc:docMkLst>
        <pc:docMk/>
      </pc:docMkLst>
      <pc:sldChg chg="modSp mod">
        <pc:chgData name="Alejandra León Barrera" userId="43512263486_tp_box_2" providerId="OAuth2" clId="{CE2DED1C-98E3-404D-AA29-8769E08C8A92}" dt="2026-06-01T20:57:47.396" v="7758" actId="1076"/>
        <pc:sldMkLst>
          <pc:docMk/>
          <pc:sldMk cId="345221609" sldId="438"/>
        </pc:sldMkLst>
        <pc:picChg chg="mod">
          <ac:chgData name="Alejandra León Barrera" userId="43512263486_tp_box_2" providerId="OAuth2" clId="{CE2DED1C-98E3-404D-AA29-8769E08C8A92}" dt="2026-06-01T20:57:47.396" v="7758" actId="1076"/>
          <ac:picMkLst>
            <pc:docMk/>
            <pc:sldMk cId="345221609" sldId="438"/>
            <ac:picMk id="5" creationId="{AF22FC93-4E30-594F-8623-3BF177334398}"/>
          </ac:picMkLst>
        </pc:picChg>
      </pc:sldChg>
      <pc:sldChg chg="modSp mod">
        <pc:chgData name="Alejandra León Barrera" userId="43512263486_tp_box_2" providerId="OAuth2" clId="{CE2DED1C-98E3-404D-AA29-8769E08C8A92}" dt="2026-06-01T21:07:33.245" v="7772" actId="1076"/>
        <pc:sldMkLst>
          <pc:docMk/>
          <pc:sldMk cId="3915882841" sldId="439"/>
        </pc:sldMkLst>
        <pc:spChg chg="mod">
          <ac:chgData name="Alejandra León Barrera" userId="43512263486_tp_box_2" providerId="OAuth2" clId="{CE2DED1C-98E3-404D-AA29-8769E08C8A92}" dt="2026-06-01T21:07:32.123" v="7771" actId="1076"/>
          <ac:spMkLst>
            <pc:docMk/>
            <pc:sldMk cId="3915882841" sldId="439"/>
            <ac:spMk id="3" creationId="{FFA28A7B-0E8C-CF82-5D7D-2AB29A722DBD}"/>
          </ac:spMkLst>
        </pc:spChg>
        <pc:spChg chg="mod">
          <ac:chgData name="Alejandra León Barrera" userId="43512263486_tp_box_2" providerId="OAuth2" clId="{CE2DED1C-98E3-404D-AA29-8769E08C8A92}" dt="2026-06-01T21:07:04.755" v="7764" actId="1076"/>
          <ac:spMkLst>
            <pc:docMk/>
            <pc:sldMk cId="3915882841" sldId="439"/>
            <ac:spMk id="5" creationId="{DB390E6C-0126-1D44-D54C-707E2F3DC722}"/>
          </ac:spMkLst>
        </pc:spChg>
        <pc:picChg chg="mod">
          <ac:chgData name="Alejandra León Barrera" userId="43512263486_tp_box_2" providerId="OAuth2" clId="{CE2DED1C-98E3-404D-AA29-8769E08C8A92}" dt="2026-06-01T21:07:33.245" v="7772" actId="1076"/>
          <ac:picMkLst>
            <pc:docMk/>
            <pc:sldMk cId="3915882841" sldId="439"/>
            <ac:picMk id="7" creationId="{3DF967B7-8BFD-E7CE-79D5-85E95263A6C3}"/>
          </ac:picMkLst>
        </pc:picChg>
      </pc:sldChg>
      <pc:sldChg chg="ord">
        <pc:chgData name="Alejandra León Barrera" userId="43512263486_tp_box_2" providerId="OAuth2" clId="{CE2DED1C-98E3-404D-AA29-8769E08C8A92}" dt="2026-05-27T13:48:34.773" v="7752"/>
        <pc:sldMkLst>
          <pc:docMk/>
          <pc:sldMk cId="2618307610" sldId="445"/>
        </pc:sldMkLst>
      </pc:sldChg>
      <pc:sldChg chg="modSp mod">
        <pc:chgData name="Alejandra León Barrera" userId="43512263486_tp_box_2" providerId="OAuth2" clId="{CE2DED1C-98E3-404D-AA29-8769E08C8A92}" dt="2026-06-03T01:32:28.824" v="7783" actId="1076"/>
        <pc:sldMkLst>
          <pc:docMk/>
          <pc:sldMk cId="2257712021" sldId="447"/>
        </pc:sldMkLst>
        <pc:spChg chg="mod">
          <ac:chgData name="Alejandra León Barrera" userId="43512263486_tp_box_2" providerId="OAuth2" clId="{CE2DED1C-98E3-404D-AA29-8769E08C8A92}" dt="2026-06-03T01:32:23.048" v="7781" actId="14100"/>
          <ac:spMkLst>
            <pc:docMk/>
            <pc:sldMk cId="2257712021" sldId="447"/>
            <ac:spMk id="2" creationId="{F7910F73-34D8-3496-F481-1E34024F2D02}"/>
          </ac:spMkLst>
        </pc:spChg>
        <pc:spChg chg="mod">
          <ac:chgData name="Alejandra León Barrera" userId="43512263486_tp_box_2" providerId="OAuth2" clId="{CE2DED1C-98E3-404D-AA29-8769E08C8A92}" dt="2026-06-03T01:32:28.824" v="7783" actId="1076"/>
          <ac:spMkLst>
            <pc:docMk/>
            <pc:sldMk cId="2257712021" sldId="447"/>
            <ac:spMk id="7" creationId="{4531A4E4-52FD-047B-1B13-F751C68606CC}"/>
          </ac:spMkLst>
        </pc:spChg>
        <pc:picChg chg="mod">
          <ac:chgData name="Alejandra León Barrera" userId="43512263486_tp_box_2" providerId="OAuth2" clId="{CE2DED1C-98E3-404D-AA29-8769E08C8A92}" dt="2026-06-03T01:31:29.204" v="7779" actId="1076"/>
          <ac:picMkLst>
            <pc:docMk/>
            <pc:sldMk cId="2257712021" sldId="447"/>
            <ac:picMk id="4" creationId="{E5C4EEE5-C4A2-A5FE-6D44-80160204FE6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B9A4A1-DC15-4D0B-B483-49B9F712378B}" type="datetimeFigureOut">
              <a:rPr lang="es-CO" smtClean="0"/>
              <a:t>25/06/2026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C8B0C1C-64DB-4ECD-8E89-57383081EDC0}" type="slidenum">
              <a:rPr lang="es-CO" smtClean="0"/>
              <a:t>‹#›</a:t>
            </a:fld>
            <a:endParaRPr lang="es-CO"/>
          </a:p>
        </p:txBody>
      </p:sp>
    </p:spTree>
    <p:extLst>
      <p:ext uri="{BB962C8B-B14F-4D97-AF65-F5344CB8AC3E}">
        <p14:creationId xmlns:p14="http://schemas.microsoft.com/office/powerpoint/2010/main" val="3003233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txBody>
          <a:bodyPr/>
          <a:lstStyle/>
          <a:p>
            <a:endParaRPr lang="es-CO"/>
          </a:p>
        </p:txBody>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AC8B0C1C-64DB-4ECD-8E89-57383081EDC0}" type="slidenum">
              <a:rPr lang="es-CO" smtClean="0"/>
              <a:t>6</a:t>
            </a:fld>
            <a:endParaRPr lang="es-CO"/>
          </a:p>
        </p:txBody>
      </p:sp>
    </p:spTree>
    <p:extLst>
      <p:ext uri="{BB962C8B-B14F-4D97-AF65-F5344CB8AC3E}">
        <p14:creationId xmlns:p14="http://schemas.microsoft.com/office/powerpoint/2010/main" val="3811751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CO" dirty="0"/>
              <a:t>Actualizar </a:t>
            </a:r>
            <a:r>
              <a:rPr lang="es-CO"/>
              <a:t>según configuración de USS</a:t>
            </a:r>
            <a:endParaRPr lang="en-US"/>
          </a:p>
        </p:txBody>
      </p:sp>
      <p:sp>
        <p:nvSpPr>
          <p:cNvPr id="4" name="Slide Number Placeholder 3"/>
          <p:cNvSpPr>
            <a:spLocks noGrp="1"/>
          </p:cNvSpPr>
          <p:nvPr>
            <p:ph type="sldNum" sz="quarter" idx="5"/>
          </p:nvPr>
        </p:nvSpPr>
        <p:spPr/>
        <p:txBody>
          <a:bodyPr/>
          <a:lstStyle/>
          <a:p>
            <a:fld id="{AC8B0C1C-64DB-4ECD-8E89-57383081EDC0}" type="slidenum">
              <a:rPr lang="es-CO" smtClean="0"/>
              <a:t>88</a:t>
            </a:fld>
            <a:endParaRPr lang="es-CO"/>
          </a:p>
        </p:txBody>
      </p:sp>
    </p:spTree>
    <p:extLst>
      <p:ext uri="{BB962C8B-B14F-4D97-AF65-F5344CB8AC3E}">
        <p14:creationId xmlns:p14="http://schemas.microsoft.com/office/powerpoint/2010/main" val="195940009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2.xml"/><Relationship Id="rId5" Type="http://schemas.openxmlformats.org/officeDocument/2006/relationships/image" Target="../media/image8.svg"/><Relationship Id="rId4" Type="http://schemas.openxmlformats.org/officeDocument/2006/relationships/image" Target="../media/image10.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2.xml"/><Relationship Id="rId5" Type="http://schemas.openxmlformats.org/officeDocument/2006/relationships/image" Target="../media/image11.svg"/><Relationship Id="rId4" Type="http://schemas.openxmlformats.org/officeDocument/2006/relationships/image" Target="../media/image8.sv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2.xml"/><Relationship Id="rId5" Type="http://schemas.openxmlformats.org/officeDocument/2006/relationships/image" Target="../media/image12.svg"/><Relationship Id="rId4" Type="http://schemas.openxmlformats.org/officeDocument/2006/relationships/image" Target="../media/image9.sv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12427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4532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91785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83508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292674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67637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0744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17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1024268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64219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31266995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8297998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2118188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38047552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425223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5723501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34008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7A8F2F-9330-25BE-0D2E-902E66CDE27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50781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5586416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46858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01D50BC8-C95D-425B-652A-2D581ADCD8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594818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E5FB72CE-435D-5F45-16B1-4A77B79AF3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62765955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9" name="Graphic 8">
            <a:extLst>
              <a:ext uri="{FF2B5EF4-FFF2-40B4-BE49-F238E27FC236}">
                <a16:creationId xmlns:a16="http://schemas.microsoft.com/office/drawing/2014/main" id="{65A4C054-B1C8-E492-ADA1-D665C51553F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5956515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06579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617780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68049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Graphic 1">
            <a:extLst>
              <a:ext uri="{FF2B5EF4-FFF2-40B4-BE49-F238E27FC236}">
                <a16:creationId xmlns:a16="http://schemas.microsoft.com/office/drawing/2014/main" id="{E2FA6E33-C1DD-C1DE-7C6F-82957792F31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501015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5157707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295064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6306668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userDrawn="1"/>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userDrawn="1"/>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userDrawn="1"/>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341869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userDrawn="1"/>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26023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userDrawn="1"/>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8325334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348379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4" name="Rectangle 2">
            <a:extLst>
              <a:ext uri="{FF2B5EF4-FFF2-40B4-BE49-F238E27FC236}">
                <a16:creationId xmlns:a16="http://schemas.microsoft.com/office/drawing/2014/main" id="{48F714E3-7626-852F-2A68-6A6B06C225F1}"/>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1">
            <a:extLst>
              <a:ext uri="{FF2B5EF4-FFF2-40B4-BE49-F238E27FC236}">
                <a16:creationId xmlns:a16="http://schemas.microsoft.com/office/drawing/2014/main" id="{3E3A72B4-1798-EB7E-AAA4-932E891D710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7" name="TextBox 4">
            <a:extLst>
              <a:ext uri="{FF2B5EF4-FFF2-40B4-BE49-F238E27FC236}">
                <a16:creationId xmlns:a16="http://schemas.microsoft.com/office/drawing/2014/main" id="{E40908E5-5DAB-E1E0-287D-85F3A36E6AC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481815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4" name="Rectangle 2">
            <a:extLst>
              <a:ext uri="{FF2B5EF4-FFF2-40B4-BE49-F238E27FC236}">
                <a16:creationId xmlns:a16="http://schemas.microsoft.com/office/drawing/2014/main" id="{5D9ECB1C-0D87-DE3E-CC45-90C451FEEF98}"/>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12">
            <a:extLst>
              <a:ext uri="{FF2B5EF4-FFF2-40B4-BE49-F238E27FC236}">
                <a16:creationId xmlns:a16="http://schemas.microsoft.com/office/drawing/2014/main" id="{E4E9EEB4-C6C6-D8D6-7715-46A5A686815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6" name="TextBox 1">
            <a:extLst>
              <a:ext uri="{FF2B5EF4-FFF2-40B4-BE49-F238E27FC236}">
                <a16:creationId xmlns:a16="http://schemas.microsoft.com/office/drawing/2014/main" id="{612E70C5-5489-4F52-3F8D-D83009E12808}"/>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42801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
        <p:nvSpPr>
          <p:cNvPr id="2" name="Rectangle 2">
            <a:extLst>
              <a:ext uri="{FF2B5EF4-FFF2-40B4-BE49-F238E27FC236}">
                <a16:creationId xmlns:a16="http://schemas.microsoft.com/office/drawing/2014/main" id="{D19604D8-6E3C-3795-A1EB-EB228F48E2BF}"/>
              </a:ext>
            </a:extLst>
          </p:cNvPr>
          <p:cNvSpPr/>
          <p:nvPr userDrawn="1"/>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12">
            <a:extLst>
              <a:ext uri="{FF2B5EF4-FFF2-40B4-BE49-F238E27FC236}">
                <a16:creationId xmlns:a16="http://schemas.microsoft.com/office/drawing/2014/main" id="{092C75F3-916B-846D-91BD-94C2196875A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6" name="TextBox 3">
            <a:extLst>
              <a:ext uri="{FF2B5EF4-FFF2-40B4-BE49-F238E27FC236}">
                <a16:creationId xmlns:a16="http://schemas.microsoft.com/office/drawing/2014/main" id="{0CB8E631-3DA6-B28B-8810-42C86C151C3A}"/>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3835503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8" name="Rectangle 2">
            <a:extLst>
              <a:ext uri="{FF2B5EF4-FFF2-40B4-BE49-F238E27FC236}">
                <a16:creationId xmlns:a16="http://schemas.microsoft.com/office/drawing/2014/main" id="{31E6402A-945A-E2DB-72C8-D1607D998DBB}"/>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9">
            <a:extLst>
              <a:ext uri="{FF2B5EF4-FFF2-40B4-BE49-F238E27FC236}">
                <a16:creationId xmlns:a16="http://schemas.microsoft.com/office/drawing/2014/main" id="{89F0E6C9-C4B2-ACB4-6955-58F91B054D9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1" name="TextBox 6">
            <a:extLst>
              <a:ext uri="{FF2B5EF4-FFF2-40B4-BE49-F238E27FC236}">
                <a16:creationId xmlns:a16="http://schemas.microsoft.com/office/drawing/2014/main" id="{E9C9FB7A-F687-EA15-59EC-608AFA1C4564}"/>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21135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
        <p:nvSpPr>
          <p:cNvPr id="5" name="Rectangle 2">
            <a:extLst>
              <a:ext uri="{FF2B5EF4-FFF2-40B4-BE49-F238E27FC236}">
                <a16:creationId xmlns:a16="http://schemas.microsoft.com/office/drawing/2014/main" id="{EA016A70-79A4-0F03-49B6-FB536CCA534F}"/>
              </a:ext>
            </a:extLst>
          </p:cNvPr>
          <p:cNvSpPr>
            <a:spLocks/>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10">
            <a:extLst>
              <a:ext uri="{FF2B5EF4-FFF2-40B4-BE49-F238E27FC236}">
                <a16:creationId xmlns:a16="http://schemas.microsoft.com/office/drawing/2014/main" id="{68F9AEC9-58EB-523A-C87B-2E9C3A6B786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0" name="TextBox 7">
            <a:extLst>
              <a:ext uri="{FF2B5EF4-FFF2-40B4-BE49-F238E27FC236}">
                <a16:creationId xmlns:a16="http://schemas.microsoft.com/office/drawing/2014/main" id="{F04380F4-9690-7551-933C-EC465BDCCA2E}"/>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454275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3" name="Rectangle 14">
            <a:extLst>
              <a:ext uri="{FF2B5EF4-FFF2-40B4-BE49-F238E27FC236}">
                <a16:creationId xmlns:a16="http://schemas.microsoft.com/office/drawing/2014/main" id="{EA7B5EBE-45EE-BE47-87B2-D515A8209606}"/>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
            <a:extLst>
              <a:ext uri="{FF2B5EF4-FFF2-40B4-BE49-F238E27FC236}">
                <a16:creationId xmlns:a16="http://schemas.microsoft.com/office/drawing/2014/main" id="{833F470A-CF08-7677-66B5-C16E672E681C}"/>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3">
            <a:extLst>
              <a:ext uri="{FF2B5EF4-FFF2-40B4-BE49-F238E27FC236}">
                <a16:creationId xmlns:a16="http://schemas.microsoft.com/office/drawing/2014/main" id="{EB22B820-4C75-2976-A6BB-953CD6D4E3B3}"/>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25">
            <a:extLst>
              <a:ext uri="{FF2B5EF4-FFF2-40B4-BE49-F238E27FC236}">
                <a16:creationId xmlns:a16="http://schemas.microsoft.com/office/drawing/2014/main" id="{0F2B502B-DF4C-1C48-4D19-AD6310F99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1" name="TextBox 6">
            <a:extLst>
              <a:ext uri="{FF2B5EF4-FFF2-40B4-BE49-F238E27FC236}">
                <a16:creationId xmlns:a16="http://schemas.microsoft.com/office/drawing/2014/main" id="{4FC7A8AF-92D6-2370-25DC-C52567A2716A}"/>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1827067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8" name="Rectangle 14">
            <a:extLst>
              <a:ext uri="{FF2B5EF4-FFF2-40B4-BE49-F238E27FC236}">
                <a16:creationId xmlns:a16="http://schemas.microsoft.com/office/drawing/2014/main" id="{7C2A6AE1-F0E7-6089-CA97-F30218D404F8}"/>
              </a:ext>
            </a:extLst>
          </p:cNvPr>
          <p:cNvSpPr/>
          <p:nvPr userDrawn="1"/>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
            <a:extLst>
              <a:ext uri="{FF2B5EF4-FFF2-40B4-BE49-F238E27FC236}">
                <a16:creationId xmlns:a16="http://schemas.microsoft.com/office/drawing/2014/main" id="{C0E3FD9A-3357-2466-AAC2-C68C2D78A52D}"/>
              </a:ext>
            </a:extLst>
          </p:cNvPr>
          <p:cNvSpPr/>
          <p:nvPr userDrawn="1"/>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3">
            <a:extLst>
              <a:ext uri="{FF2B5EF4-FFF2-40B4-BE49-F238E27FC236}">
                <a16:creationId xmlns:a16="http://schemas.microsoft.com/office/drawing/2014/main" id="{526170F4-CBEA-AD6F-00DD-2FD5CFB760A7}"/>
              </a:ext>
            </a:extLst>
          </p:cNvPr>
          <p:cNvSpPr/>
          <p:nvPr userDrawn="1"/>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Graphic 2">
            <a:extLst>
              <a:ext uri="{FF2B5EF4-FFF2-40B4-BE49-F238E27FC236}">
                <a16:creationId xmlns:a16="http://schemas.microsoft.com/office/drawing/2014/main" id="{6139D03C-9054-8D8A-DC54-EA957BCFC1D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6" name="TextBox 6">
            <a:extLst>
              <a:ext uri="{FF2B5EF4-FFF2-40B4-BE49-F238E27FC236}">
                <a16:creationId xmlns:a16="http://schemas.microsoft.com/office/drawing/2014/main" id="{22C12E8D-EDAA-70EE-7A43-DE5ECF4A65F2}"/>
              </a:ext>
            </a:extLst>
          </p:cNvPr>
          <p:cNvSpPr txBox="1"/>
          <p:nvPr userDrawn="1"/>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195311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338601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49529352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03502460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83611489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5535770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87440318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4028493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
        <p:nvSpPr>
          <p:cNvPr id="2" name="Rectangle 2">
            <a:extLst>
              <a:ext uri="{FF2B5EF4-FFF2-40B4-BE49-F238E27FC236}">
                <a16:creationId xmlns:a16="http://schemas.microsoft.com/office/drawing/2014/main" id="{A4BD4016-C6A6-6714-541D-FEA2F1B0D8BF}"/>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20">
            <a:extLst>
              <a:ext uri="{FF2B5EF4-FFF2-40B4-BE49-F238E27FC236}">
                <a16:creationId xmlns:a16="http://schemas.microsoft.com/office/drawing/2014/main" id="{B4646A9A-F694-56C8-59CA-DCA619328FAA}"/>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1647542" y="1793136"/>
            <a:ext cx="789191" cy="789191"/>
          </a:xfrm>
          <a:prstGeom prst="rect">
            <a:avLst/>
          </a:prstGeom>
        </p:spPr>
      </p:pic>
      <p:pic>
        <p:nvPicPr>
          <p:cNvPr id="6" name="Graphic 21">
            <a:extLst>
              <a:ext uri="{FF2B5EF4-FFF2-40B4-BE49-F238E27FC236}">
                <a16:creationId xmlns:a16="http://schemas.microsoft.com/office/drawing/2014/main" id="{BD9E01B7-E68E-092C-067D-759E70B1E3E5}"/>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6812402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2" name="Rectangle 2">
            <a:extLst>
              <a:ext uri="{FF2B5EF4-FFF2-40B4-BE49-F238E27FC236}">
                <a16:creationId xmlns:a16="http://schemas.microsoft.com/office/drawing/2014/main" id="{89D936B5-063B-CB29-BEEB-10C5CB66BB50}"/>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4">
            <a:extLst>
              <a:ext uri="{FF2B5EF4-FFF2-40B4-BE49-F238E27FC236}">
                <a16:creationId xmlns:a16="http://schemas.microsoft.com/office/drawing/2014/main" id="{961B3541-DA76-F1BC-A52F-286C80EACE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8" name="TextBox 8">
            <a:extLst>
              <a:ext uri="{FF2B5EF4-FFF2-40B4-BE49-F238E27FC236}">
                <a16:creationId xmlns:a16="http://schemas.microsoft.com/office/drawing/2014/main" id="{D07F0BC4-73E3-DA5B-7F09-99445D7003D6}"/>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1" name="TextBox 9">
            <a:extLst>
              <a:ext uri="{FF2B5EF4-FFF2-40B4-BE49-F238E27FC236}">
                <a16:creationId xmlns:a16="http://schemas.microsoft.com/office/drawing/2014/main" id="{91C6C005-70F6-F4B3-E950-B3033A4E90D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5344773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4" name="Rectangle 2">
            <a:extLst>
              <a:ext uri="{FF2B5EF4-FFF2-40B4-BE49-F238E27FC236}">
                <a16:creationId xmlns:a16="http://schemas.microsoft.com/office/drawing/2014/main" id="{560AA458-7695-3C5F-CDED-40A087127EE1}"/>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4">
            <a:extLst>
              <a:ext uri="{FF2B5EF4-FFF2-40B4-BE49-F238E27FC236}">
                <a16:creationId xmlns:a16="http://schemas.microsoft.com/office/drawing/2014/main" id="{CB106368-39CF-05FC-E335-D70371A0F62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8">
            <a:extLst>
              <a:ext uri="{FF2B5EF4-FFF2-40B4-BE49-F238E27FC236}">
                <a16:creationId xmlns:a16="http://schemas.microsoft.com/office/drawing/2014/main" id="{FB0BC51E-5ACA-1033-9D5C-EE6E0D9F584E}"/>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1" name="TextBox 1">
            <a:extLst>
              <a:ext uri="{FF2B5EF4-FFF2-40B4-BE49-F238E27FC236}">
                <a16:creationId xmlns:a16="http://schemas.microsoft.com/office/drawing/2014/main" id="{017C5FC9-B6B4-8F8D-A35A-8F71E799B9DA}"/>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8189814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
        <p:nvSpPr>
          <p:cNvPr id="4" name="Rectangle 2">
            <a:extLst>
              <a:ext uri="{FF2B5EF4-FFF2-40B4-BE49-F238E27FC236}">
                <a16:creationId xmlns:a16="http://schemas.microsoft.com/office/drawing/2014/main" id="{87EA5788-DBD1-2D27-2241-521F83EC7344}"/>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4">
            <a:extLst>
              <a:ext uri="{FF2B5EF4-FFF2-40B4-BE49-F238E27FC236}">
                <a16:creationId xmlns:a16="http://schemas.microsoft.com/office/drawing/2014/main" id="{BF7A03EE-1342-6693-FD86-FF107BBEF2B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8">
            <a:extLst>
              <a:ext uri="{FF2B5EF4-FFF2-40B4-BE49-F238E27FC236}">
                <a16:creationId xmlns:a16="http://schemas.microsoft.com/office/drawing/2014/main" id="{4665A424-8ADB-E99A-59E2-B47F5BF0FEC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11" name="TextBox 1">
            <a:extLst>
              <a:ext uri="{FF2B5EF4-FFF2-40B4-BE49-F238E27FC236}">
                <a16:creationId xmlns:a16="http://schemas.microsoft.com/office/drawing/2014/main" id="{8163FCF8-90E4-814E-0664-2C6918FC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951210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Rectangle 2">
            <a:extLst>
              <a:ext uri="{FF2B5EF4-FFF2-40B4-BE49-F238E27FC236}">
                <a16:creationId xmlns:a16="http://schemas.microsoft.com/office/drawing/2014/main" id="{021B15A5-127E-1824-1CA0-5953C3011B93}"/>
              </a:ext>
            </a:extLst>
          </p:cNvPr>
          <p:cNvSpPr/>
          <p:nvPr userDrawn="1"/>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1">
            <a:extLst>
              <a:ext uri="{FF2B5EF4-FFF2-40B4-BE49-F238E27FC236}">
                <a16:creationId xmlns:a16="http://schemas.microsoft.com/office/drawing/2014/main" id="{C88DA8E3-A1F4-E368-03D3-4257887B6FC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06065651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2" name="Rectangle 2">
            <a:extLst>
              <a:ext uri="{FF2B5EF4-FFF2-40B4-BE49-F238E27FC236}">
                <a16:creationId xmlns:a16="http://schemas.microsoft.com/office/drawing/2014/main" id="{B71DD72F-8EB9-C98F-2843-5576C3567DCC}"/>
              </a:ext>
            </a:extLst>
          </p:cNvPr>
          <p:cNvSpPr/>
          <p:nvPr userDrawn="1"/>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11">
            <a:extLst>
              <a:ext uri="{FF2B5EF4-FFF2-40B4-BE49-F238E27FC236}">
                <a16:creationId xmlns:a16="http://schemas.microsoft.com/office/drawing/2014/main" id="{C5778473-695C-3873-4CE7-3F28D7E93C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363937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2" name="Rectangle 2">
            <a:extLst>
              <a:ext uri="{FF2B5EF4-FFF2-40B4-BE49-F238E27FC236}">
                <a16:creationId xmlns:a16="http://schemas.microsoft.com/office/drawing/2014/main" id="{F848A469-ED22-7BBE-6FEC-00CED29A8303}"/>
              </a:ext>
            </a:extLst>
          </p:cNvPr>
          <p:cNvSpPr/>
          <p:nvPr userDrawn="1"/>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11">
            <a:extLst>
              <a:ext uri="{FF2B5EF4-FFF2-40B4-BE49-F238E27FC236}">
                <a16:creationId xmlns:a16="http://schemas.microsoft.com/office/drawing/2014/main" id="{E8CF453E-2BDE-341C-14AB-51D72DFE4E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25398262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Rectangle 2">
            <a:extLst>
              <a:ext uri="{FF2B5EF4-FFF2-40B4-BE49-F238E27FC236}">
                <a16:creationId xmlns:a16="http://schemas.microsoft.com/office/drawing/2014/main" id="{E0DD9B95-28C5-FA09-F8E9-AD871ADD4D20}"/>
              </a:ext>
            </a:extLst>
          </p:cNvPr>
          <p:cNvSpPr/>
          <p:nvPr userDrawn="1"/>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1">
            <a:extLst>
              <a:ext uri="{FF2B5EF4-FFF2-40B4-BE49-F238E27FC236}">
                <a16:creationId xmlns:a16="http://schemas.microsoft.com/office/drawing/2014/main" id="{656AA4AC-EC7B-D6E0-9AB0-5C271A01558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736678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2" name="Rectangle 2">
            <a:extLst>
              <a:ext uri="{FF2B5EF4-FFF2-40B4-BE49-F238E27FC236}">
                <a16:creationId xmlns:a16="http://schemas.microsoft.com/office/drawing/2014/main" id="{46448AA7-8FAB-F098-64A7-51652618B1A5}"/>
              </a:ext>
            </a:extLst>
          </p:cNvPr>
          <p:cNvSpPr/>
          <p:nvPr userDrawn="1"/>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8">
            <a:extLst>
              <a:ext uri="{FF2B5EF4-FFF2-40B4-BE49-F238E27FC236}">
                <a16:creationId xmlns:a16="http://schemas.microsoft.com/office/drawing/2014/main" id="{D97F82DC-E0DE-1821-55E5-11E4730570C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5218870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2" name="Rectangle 2">
            <a:extLst>
              <a:ext uri="{FF2B5EF4-FFF2-40B4-BE49-F238E27FC236}">
                <a16:creationId xmlns:a16="http://schemas.microsoft.com/office/drawing/2014/main" id="{9C5C288D-A480-5E15-CDA8-507BF8601951}"/>
              </a:ext>
            </a:extLst>
          </p:cNvPr>
          <p:cNvSpPr/>
          <p:nvPr userDrawn="1"/>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8">
            <a:extLst>
              <a:ext uri="{FF2B5EF4-FFF2-40B4-BE49-F238E27FC236}">
                <a16:creationId xmlns:a16="http://schemas.microsoft.com/office/drawing/2014/main" id="{1432C8E0-5E84-2250-DAE3-68232AE8DE2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0671046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60087871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0603230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29100375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5" name="Rectangle 50">
            <a:extLst>
              <a:ext uri="{FF2B5EF4-FFF2-40B4-BE49-F238E27FC236}">
                <a16:creationId xmlns:a16="http://schemas.microsoft.com/office/drawing/2014/main" id="{970B0B55-EDEC-0968-B266-3D356392EC8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1">
            <a:extLst>
              <a:ext uri="{FF2B5EF4-FFF2-40B4-BE49-F238E27FC236}">
                <a16:creationId xmlns:a16="http://schemas.microsoft.com/office/drawing/2014/main" id="{00FF7194-155C-7AE8-64BD-A42C2BE488F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2">
            <a:extLst>
              <a:ext uri="{FF2B5EF4-FFF2-40B4-BE49-F238E27FC236}">
                <a16:creationId xmlns:a16="http://schemas.microsoft.com/office/drawing/2014/main" id="{D8D2169F-3452-3EE2-DB00-EE743C277800}"/>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8" name="TextBox 3">
            <a:extLst>
              <a:ext uri="{FF2B5EF4-FFF2-40B4-BE49-F238E27FC236}">
                <a16:creationId xmlns:a16="http://schemas.microsoft.com/office/drawing/2014/main" id="{4D082C58-5E0E-07EE-1623-C45A8E53701F}"/>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782822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10" name="Rectangle 2">
            <a:extLst>
              <a:ext uri="{FF2B5EF4-FFF2-40B4-BE49-F238E27FC236}">
                <a16:creationId xmlns:a16="http://schemas.microsoft.com/office/drawing/2014/main" id="{EE9198D9-4B02-3814-AA1D-BF012C0C6D0B}"/>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4">
            <a:extLst>
              <a:ext uri="{FF2B5EF4-FFF2-40B4-BE49-F238E27FC236}">
                <a16:creationId xmlns:a16="http://schemas.microsoft.com/office/drawing/2014/main" id="{D1119491-811C-393F-AC71-B539E86D8ABF}"/>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78777" y="6474193"/>
            <a:ext cx="820683" cy="198585"/>
          </a:xfrm>
          <a:prstGeom prst="rect">
            <a:avLst/>
          </a:prstGeom>
        </p:spPr>
      </p:pic>
      <p:sp>
        <p:nvSpPr>
          <p:cNvPr id="12" name="TextBox 8">
            <a:extLst>
              <a:ext uri="{FF2B5EF4-FFF2-40B4-BE49-F238E27FC236}">
                <a16:creationId xmlns:a16="http://schemas.microsoft.com/office/drawing/2014/main" id="{38EC7885-DB5E-CC25-3613-FFBACE2D3C37}"/>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pic>
        <p:nvPicPr>
          <p:cNvPr id="13" name="Graphic 3">
            <a:extLst>
              <a:ext uri="{FF2B5EF4-FFF2-40B4-BE49-F238E27FC236}">
                <a16:creationId xmlns:a16="http://schemas.microsoft.com/office/drawing/2014/main" id="{F34CB44A-6FC1-E02C-B425-1B77E1BDF3F8}"/>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14" name="TextBox 7">
            <a:extLst>
              <a:ext uri="{FF2B5EF4-FFF2-40B4-BE49-F238E27FC236}">
                <a16:creationId xmlns:a16="http://schemas.microsoft.com/office/drawing/2014/main" id="{9EBA4085-B9AF-E71D-535E-21BA718731B1}"/>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9958456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
        <p:nvSpPr>
          <p:cNvPr id="7" name="Rectangle 2">
            <a:extLst>
              <a:ext uri="{FF2B5EF4-FFF2-40B4-BE49-F238E27FC236}">
                <a16:creationId xmlns:a16="http://schemas.microsoft.com/office/drawing/2014/main" id="{6A9C6C92-964D-4FBD-57C3-B2ADA6293B2E}"/>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Graphic 4">
            <a:extLst>
              <a:ext uri="{FF2B5EF4-FFF2-40B4-BE49-F238E27FC236}">
                <a16:creationId xmlns:a16="http://schemas.microsoft.com/office/drawing/2014/main" id="{F69F595F-C39F-C39E-FB8B-1A42C108400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78777" y="6474193"/>
            <a:ext cx="820683" cy="198585"/>
          </a:xfrm>
          <a:prstGeom prst="rect">
            <a:avLst/>
          </a:prstGeom>
        </p:spPr>
      </p:pic>
      <p:sp>
        <p:nvSpPr>
          <p:cNvPr id="12" name="TextBox 8">
            <a:extLst>
              <a:ext uri="{FF2B5EF4-FFF2-40B4-BE49-F238E27FC236}">
                <a16:creationId xmlns:a16="http://schemas.microsoft.com/office/drawing/2014/main" id="{BA759D22-51B9-33EC-B588-5C44CE448FC5}"/>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pic>
        <p:nvPicPr>
          <p:cNvPr id="13" name="Graphic 10">
            <a:extLst>
              <a:ext uri="{FF2B5EF4-FFF2-40B4-BE49-F238E27FC236}">
                <a16:creationId xmlns:a16="http://schemas.microsoft.com/office/drawing/2014/main" id="{FF2FC1D3-1078-52BF-0011-AA05DE361586}"/>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14" name="TextBox 5">
            <a:extLst>
              <a:ext uri="{FF2B5EF4-FFF2-40B4-BE49-F238E27FC236}">
                <a16:creationId xmlns:a16="http://schemas.microsoft.com/office/drawing/2014/main" id="{CCB83E0D-BA93-7604-2A31-F2963F199A67}"/>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35102430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5" name="Rectangle 13">
            <a:extLst>
              <a:ext uri="{FF2B5EF4-FFF2-40B4-BE49-F238E27FC236}">
                <a16:creationId xmlns:a16="http://schemas.microsoft.com/office/drawing/2014/main" id="{522F22E1-447F-4916-F29A-91DB57377316}"/>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2">
            <a:extLst>
              <a:ext uri="{FF2B5EF4-FFF2-40B4-BE49-F238E27FC236}">
                <a16:creationId xmlns:a16="http://schemas.microsoft.com/office/drawing/2014/main" id="{A09F982B-938B-2A1E-CB73-8D73D5058BFD}"/>
              </a:ext>
            </a:extLst>
          </p:cNvPr>
          <p:cNvSpPr/>
          <p:nvPr userDrawn="1"/>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345BB53B-0B2A-E751-A0E9-DC18787384D1}"/>
              </a:ext>
            </a:extLst>
          </p:cNvPr>
          <p:cNvSpPr/>
          <p:nvPr userDrawn="1"/>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8B61666D-C366-15FC-7DBD-61CF8B6F8E75}"/>
              </a:ext>
            </a:extLst>
          </p:cNvPr>
          <p:cNvSpPr/>
          <p:nvPr userDrawn="1"/>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2">
            <a:extLst>
              <a:ext uri="{FF2B5EF4-FFF2-40B4-BE49-F238E27FC236}">
                <a16:creationId xmlns:a16="http://schemas.microsoft.com/office/drawing/2014/main" id="{133BB362-84A4-84EB-BE25-497F7753AD2F}"/>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1">
            <a:extLst>
              <a:ext uri="{FF2B5EF4-FFF2-40B4-BE49-F238E27FC236}">
                <a16:creationId xmlns:a16="http://schemas.microsoft.com/office/drawing/2014/main" id="{F1E131EE-114B-0346-AEE9-3C0ACE154B4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21" name="TextBox 3">
            <a:extLst>
              <a:ext uri="{FF2B5EF4-FFF2-40B4-BE49-F238E27FC236}">
                <a16:creationId xmlns:a16="http://schemas.microsoft.com/office/drawing/2014/main" id="{82FFFF5C-8BF5-FA64-DC27-6B008DB1FAD7}"/>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2" name="TextBox 5">
            <a:extLst>
              <a:ext uri="{FF2B5EF4-FFF2-40B4-BE49-F238E27FC236}">
                <a16:creationId xmlns:a16="http://schemas.microsoft.com/office/drawing/2014/main" id="{8A900146-83D5-31D5-5407-EA9D5703E364}"/>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3885495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5" name="Rectangle 13">
            <a:extLst>
              <a:ext uri="{FF2B5EF4-FFF2-40B4-BE49-F238E27FC236}">
                <a16:creationId xmlns:a16="http://schemas.microsoft.com/office/drawing/2014/main" id="{E1753B27-69B2-3F31-362D-EA86E85FB026}"/>
              </a:ext>
            </a:extLst>
          </p:cNvPr>
          <p:cNvSpPr/>
          <p:nvPr userDrawn="1"/>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2">
            <a:extLst>
              <a:ext uri="{FF2B5EF4-FFF2-40B4-BE49-F238E27FC236}">
                <a16:creationId xmlns:a16="http://schemas.microsoft.com/office/drawing/2014/main" id="{B23E09B9-2AB6-197E-C4BC-50332E0D634F}"/>
              </a:ext>
            </a:extLst>
          </p:cNvPr>
          <p:cNvSpPr/>
          <p:nvPr userDrawn="1"/>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11">
            <a:extLst>
              <a:ext uri="{FF2B5EF4-FFF2-40B4-BE49-F238E27FC236}">
                <a16:creationId xmlns:a16="http://schemas.microsoft.com/office/drawing/2014/main" id="{807CD3DB-950B-E947-723B-B9F9A4FB7723}"/>
              </a:ext>
            </a:extLst>
          </p:cNvPr>
          <p:cNvSpPr/>
          <p:nvPr userDrawn="1"/>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10">
            <a:extLst>
              <a:ext uri="{FF2B5EF4-FFF2-40B4-BE49-F238E27FC236}">
                <a16:creationId xmlns:a16="http://schemas.microsoft.com/office/drawing/2014/main" id="{BF20A580-1AD3-1728-887C-12CE55CC3AC5}"/>
              </a:ext>
            </a:extLst>
          </p:cNvPr>
          <p:cNvSpPr/>
          <p:nvPr userDrawn="1"/>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1">
            <a:extLst>
              <a:ext uri="{FF2B5EF4-FFF2-40B4-BE49-F238E27FC236}">
                <a16:creationId xmlns:a16="http://schemas.microsoft.com/office/drawing/2014/main" id="{2D79B474-66F4-AC7E-6F8D-43FADFA3321E}"/>
              </a:ext>
            </a:extLst>
          </p:cNvPr>
          <p:cNvSpPr/>
          <p:nvPr userDrawn="1"/>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Graphic 2">
            <a:extLst>
              <a:ext uri="{FF2B5EF4-FFF2-40B4-BE49-F238E27FC236}">
                <a16:creationId xmlns:a16="http://schemas.microsoft.com/office/drawing/2014/main" id="{6569FC2A-F887-A273-4375-4B07A77879B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21" name="TextBox 6">
            <a:extLst>
              <a:ext uri="{FF2B5EF4-FFF2-40B4-BE49-F238E27FC236}">
                <a16:creationId xmlns:a16="http://schemas.microsoft.com/office/drawing/2014/main" id="{130D941A-675E-961C-8474-9FABA6E85A30}"/>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2" name="TextBox 3">
            <a:extLst>
              <a:ext uri="{FF2B5EF4-FFF2-40B4-BE49-F238E27FC236}">
                <a16:creationId xmlns:a16="http://schemas.microsoft.com/office/drawing/2014/main" id="{A8E2FDE6-991C-0D78-DA6F-30F8A23FF391}"/>
              </a:ext>
            </a:extLst>
          </p:cNvPr>
          <p:cNvSpPr txBox="1"/>
          <p:nvPr userDrawn="1"/>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3184734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
        <p:nvSpPr>
          <p:cNvPr id="6" name="Rectangle 2">
            <a:extLst>
              <a:ext uri="{FF2B5EF4-FFF2-40B4-BE49-F238E27FC236}">
                <a16:creationId xmlns:a16="http://schemas.microsoft.com/office/drawing/2014/main" id="{CF5ED2C6-FE89-309B-ECBA-86A699EF4FBE}"/>
              </a:ext>
            </a:extLst>
          </p:cNvPr>
          <p:cNvSpPr/>
          <p:nvPr userDrawn="1"/>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4">
            <a:extLst>
              <a:ext uri="{FF2B5EF4-FFF2-40B4-BE49-F238E27FC236}">
                <a16:creationId xmlns:a16="http://schemas.microsoft.com/office/drawing/2014/main" id="{9A30D0EA-B5DE-8051-C537-7418DA20CFB9}"/>
              </a:ext>
            </a:extLst>
          </p:cNvPr>
          <p:cNvSpPr txBox="1"/>
          <p:nvPr userDrawn="1"/>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pic>
        <p:nvPicPr>
          <p:cNvPr id="8" name="Graphic 1">
            <a:extLst>
              <a:ext uri="{FF2B5EF4-FFF2-40B4-BE49-F238E27FC236}">
                <a16:creationId xmlns:a16="http://schemas.microsoft.com/office/drawing/2014/main" id="{E4A99CD3-4DD2-4270-9DC9-75211BE5E96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10" name="TextBox 3">
            <a:extLst>
              <a:ext uri="{FF2B5EF4-FFF2-40B4-BE49-F238E27FC236}">
                <a16:creationId xmlns:a16="http://schemas.microsoft.com/office/drawing/2014/main" id="{C4848A94-99C6-CCD4-39C8-2966BCDBE5AA}"/>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21953204"/>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
        <p:nvSpPr>
          <p:cNvPr id="4" name="Rectangle 2">
            <a:extLst>
              <a:ext uri="{FF2B5EF4-FFF2-40B4-BE49-F238E27FC236}">
                <a16:creationId xmlns:a16="http://schemas.microsoft.com/office/drawing/2014/main" id="{1F42534D-1CA1-63D5-3FA6-CF18172B4608}"/>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 name="TextBox 4">
            <a:extLst>
              <a:ext uri="{FF2B5EF4-FFF2-40B4-BE49-F238E27FC236}">
                <a16:creationId xmlns:a16="http://schemas.microsoft.com/office/drawing/2014/main" id="{EF626365-FCF2-53DD-0E3C-420701CE8886}"/>
              </a:ext>
            </a:extLst>
          </p:cNvPr>
          <p:cNvSpPr txBox="1"/>
          <p:nvPr userDrawn="1"/>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8" name="Graphic 1">
            <a:extLst>
              <a:ext uri="{FF2B5EF4-FFF2-40B4-BE49-F238E27FC236}">
                <a16:creationId xmlns:a16="http://schemas.microsoft.com/office/drawing/2014/main" id="{8565B132-16C2-07E4-3BBF-764B59C32CB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5">
            <a:extLst>
              <a:ext uri="{FF2B5EF4-FFF2-40B4-BE49-F238E27FC236}">
                <a16:creationId xmlns:a16="http://schemas.microsoft.com/office/drawing/2014/main" id="{339BF115-C8A1-8470-F2E3-CFAB1576451B}"/>
              </a:ext>
            </a:extLst>
          </p:cNvPr>
          <p:cNvSpPr txBox="1"/>
          <p:nvPr userDrawn="1"/>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57989769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3336863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4303272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3904477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08423873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20264119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248174600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488668991"/>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7493524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620626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00701713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948343631"/>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22467973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1634810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00105614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61322688"/>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99403065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22334189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06633619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03505684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33457231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75583010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95275553"/>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26585221"/>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80463819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37225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362216112"/>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2477824447"/>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08438588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1636663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08902751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814363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673287698"/>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227094164"/>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529899408"/>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170543743"/>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97197868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userDrawn="1"/>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userDrawn="1"/>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5788929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sv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7.xml"/><Relationship Id="rId18" Type="http://schemas.openxmlformats.org/officeDocument/2006/relationships/slideLayout" Target="../slideLayouts/slideLayout52.xml"/><Relationship Id="rId26" Type="http://schemas.openxmlformats.org/officeDocument/2006/relationships/slideLayout" Target="../slideLayouts/slideLayout60.xml"/><Relationship Id="rId21" Type="http://schemas.openxmlformats.org/officeDocument/2006/relationships/slideLayout" Target="../slideLayouts/slideLayout55.xml"/><Relationship Id="rId34" Type="http://schemas.openxmlformats.org/officeDocument/2006/relationships/slideLayout" Target="../slideLayouts/slideLayout68.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openxmlformats.org/officeDocument/2006/relationships/slideLayout" Target="../slideLayouts/slideLayout59.xml"/><Relationship Id="rId33" Type="http://schemas.openxmlformats.org/officeDocument/2006/relationships/slideLayout" Target="../slideLayouts/slideLayout67.xml"/><Relationship Id="rId38" Type="http://schemas.openxmlformats.org/officeDocument/2006/relationships/image" Target="../media/image7.svg"/><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slideLayout" Target="../slideLayouts/slideLayout54.xml"/><Relationship Id="rId29" Type="http://schemas.openxmlformats.org/officeDocument/2006/relationships/slideLayout" Target="../slideLayouts/slideLayout63.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slideLayout" Target="../slideLayouts/slideLayout58.xml"/><Relationship Id="rId32" Type="http://schemas.openxmlformats.org/officeDocument/2006/relationships/slideLayout" Target="../slideLayouts/slideLayout66.xml"/><Relationship Id="rId37" Type="http://schemas.openxmlformats.org/officeDocument/2006/relationships/image" Target="../media/image1.svg"/><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slideLayout" Target="../slideLayouts/slideLayout57.xml"/><Relationship Id="rId28" Type="http://schemas.openxmlformats.org/officeDocument/2006/relationships/slideLayout" Target="../slideLayouts/slideLayout62.xml"/><Relationship Id="rId36" Type="http://schemas.openxmlformats.org/officeDocument/2006/relationships/theme" Target="../theme/theme2.xml"/><Relationship Id="rId10" Type="http://schemas.openxmlformats.org/officeDocument/2006/relationships/slideLayout" Target="../slideLayouts/slideLayout44.xml"/><Relationship Id="rId19" Type="http://schemas.openxmlformats.org/officeDocument/2006/relationships/slideLayout" Target="../slideLayouts/slideLayout53.xml"/><Relationship Id="rId31" Type="http://schemas.openxmlformats.org/officeDocument/2006/relationships/slideLayout" Target="../slideLayouts/slideLayout65.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slideLayout" Target="../slideLayouts/slideLayout56.xml"/><Relationship Id="rId27" Type="http://schemas.openxmlformats.org/officeDocument/2006/relationships/slideLayout" Target="../slideLayouts/slideLayout61.xml"/><Relationship Id="rId30" Type="http://schemas.openxmlformats.org/officeDocument/2006/relationships/slideLayout" Target="../slideLayouts/slideLayout64.xml"/><Relationship Id="rId35" Type="http://schemas.openxmlformats.org/officeDocument/2006/relationships/slideLayout" Target="../slideLayouts/slideLayout69.xml"/><Relationship Id="rId8" Type="http://schemas.openxmlformats.org/officeDocument/2006/relationships/slideLayout" Target="../slideLayouts/slideLayout42.xml"/><Relationship Id="rId3" Type="http://schemas.openxmlformats.org/officeDocument/2006/relationships/slideLayout" Target="../slideLayouts/slideLayout37.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82.xml"/><Relationship Id="rId18" Type="http://schemas.openxmlformats.org/officeDocument/2006/relationships/slideLayout" Target="../slideLayouts/slideLayout87.xml"/><Relationship Id="rId26" Type="http://schemas.openxmlformats.org/officeDocument/2006/relationships/slideLayout" Target="../slideLayouts/slideLayout95.xml"/><Relationship Id="rId21" Type="http://schemas.openxmlformats.org/officeDocument/2006/relationships/slideLayout" Target="../slideLayouts/slideLayout90.xml"/><Relationship Id="rId34" Type="http://schemas.openxmlformats.org/officeDocument/2006/relationships/slideLayout" Target="../slideLayouts/slideLayout103.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5" Type="http://schemas.openxmlformats.org/officeDocument/2006/relationships/slideLayout" Target="../slideLayouts/slideLayout94.xml"/><Relationship Id="rId33" Type="http://schemas.openxmlformats.org/officeDocument/2006/relationships/slideLayout" Target="../slideLayouts/slideLayout102.xml"/><Relationship Id="rId38" Type="http://schemas.openxmlformats.org/officeDocument/2006/relationships/image" Target="../media/image1.svg"/><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slideLayout" Target="../slideLayouts/slideLayout89.xml"/><Relationship Id="rId29" Type="http://schemas.openxmlformats.org/officeDocument/2006/relationships/slideLayout" Target="../slideLayouts/slideLayout98.xml"/><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24" Type="http://schemas.openxmlformats.org/officeDocument/2006/relationships/slideLayout" Target="../slideLayouts/slideLayout93.xml"/><Relationship Id="rId32" Type="http://schemas.openxmlformats.org/officeDocument/2006/relationships/slideLayout" Target="../slideLayouts/slideLayout101.xml"/><Relationship Id="rId37" Type="http://schemas.openxmlformats.org/officeDocument/2006/relationships/theme" Target="../theme/theme3.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23" Type="http://schemas.openxmlformats.org/officeDocument/2006/relationships/slideLayout" Target="../slideLayouts/slideLayout92.xml"/><Relationship Id="rId28" Type="http://schemas.openxmlformats.org/officeDocument/2006/relationships/slideLayout" Target="../slideLayouts/slideLayout97.xml"/><Relationship Id="rId36" Type="http://schemas.openxmlformats.org/officeDocument/2006/relationships/slideLayout" Target="../slideLayouts/slideLayout105.xml"/><Relationship Id="rId10" Type="http://schemas.openxmlformats.org/officeDocument/2006/relationships/slideLayout" Target="../slideLayouts/slideLayout79.xml"/><Relationship Id="rId19" Type="http://schemas.openxmlformats.org/officeDocument/2006/relationships/slideLayout" Target="../slideLayouts/slideLayout88.xml"/><Relationship Id="rId31" Type="http://schemas.openxmlformats.org/officeDocument/2006/relationships/slideLayout" Target="../slideLayouts/slideLayout100.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 Id="rId27" Type="http://schemas.openxmlformats.org/officeDocument/2006/relationships/slideLayout" Target="../slideLayouts/slideLayout96.xml"/><Relationship Id="rId30" Type="http://schemas.openxmlformats.org/officeDocument/2006/relationships/slideLayout" Target="../slideLayouts/slideLayout99.xml"/><Relationship Id="rId35" Type="http://schemas.openxmlformats.org/officeDocument/2006/relationships/slideLayout" Target="../slideLayouts/slideLayout104.xml"/><Relationship Id="rId8" Type="http://schemas.openxmlformats.org/officeDocument/2006/relationships/slideLayout" Target="../slideLayouts/slideLayout77.xml"/><Relationship Id="rId3" Type="http://schemas.openxmlformats.org/officeDocument/2006/relationships/slideLayout" Target="../slideLayouts/slideLayout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dirty="0"/>
              <a:t>Click to edit Master title style</a:t>
            </a:r>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98C54377-C373-3751-A275-A17B11FE1BB6}"/>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78594219"/>
      </p:ext>
    </p:extLst>
  </p:cSld>
  <p:clrMap bg1="lt1" tx1="dk1" bg2="lt2" tx2="dk2" accent1="accent1" accent2="accent2" accent3="accent3" accent4="accent4" accent5="accent5" accent6="accent6" hlink="hlink" folHlink="folHlink"/>
  <p:sldLayoutIdLst>
    <p:sldLayoutId id="2147483650" r:id="rId1"/>
    <p:sldLayoutId id="2147483719" r:id="rId2"/>
    <p:sldLayoutId id="2147483727" r:id="rId3"/>
    <p:sldLayoutId id="2147483663" r:id="rId4"/>
    <p:sldLayoutId id="2147483651" r:id="rId5"/>
    <p:sldLayoutId id="2147483718" r:id="rId6"/>
    <p:sldLayoutId id="2147483720" r:id="rId7"/>
    <p:sldLayoutId id="2147483649" r:id="rId8"/>
    <p:sldLayoutId id="2147483652" r:id="rId9"/>
    <p:sldLayoutId id="2147483653" r:id="rId10"/>
    <p:sldLayoutId id="2147483654" r:id="rId11"/>
    <p:sldLayoutId id="2147483655" r:id="rId12"/>
    <p:sldLayoutId id="2147483656" r:id="rId13"/>
    <p:sldLayoutId id="2147483721" r:id="rId14"/>
    <p:sldLayoutId id="2147483657" r:id="rId15"/>
    <p:sldLayoutId id="2147483664" r:id="rId16"/>
    <p:sldLayoutId id="2147483658" r:id="rId17"/>
    <p:sldLayoutId id="2147483659" r:id="rId18"/>
    <p:sldLayoutId id="2147483660" r:id="rId19"/>
    <p:sldLayoutId id="2147483669" r:id="rId20"/>
    <p:sldLayoutId id="2147483661" r:id="rId21"/>
    <p:sldLayoutId id="2147483662" r:id="rId22"/>
    <p:sldLayoutId id="2147483670" r:id="rId23"/>
    <p:sldLayoutId id="2147483665" r:id="rId24"/>
    <p:sldLayoutId id="2147483666" r:id="rId25"/>
    <p:sldLayoutId id="2147483694" r:id="rId26"/>
    <p:sldLayoutId id="2147483713" r:id="rId27"/>
    <p:sldLayoutId id="2147483722" r:id="rId28"/>
    <p:sldLayoutId id="2147483723" r:id="rId29"/>
    <p:sldLayoutId id="2147483715" r:id="rId30"/>
    <p:sldLayoutId id="2147483714" r:id="rId31"/>
    <p:sldLayoutId id="2147483716" r:id="rId32"/>
    <p:sldLayoutId id="2147483717" r:id="rId33"/>
    <p:sldLayoutId id="2147483730"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pic>
        <p:nvPicPr>
          <p:cNvPr id="5" name="Graphic 5">
            <a:extLst>
              <a:ext uri="{FF2B5EF4-FFF2-40B4-BE49-F238E27FC236}">
                <a16:creationId xmlns:a16="http://schemas.microsoft.com/office/drawing/2014/main" id="{9268AFD2-EBA6-81F6-D88E-F3D85214FEAC}"/>
              </a:ext>
            </a:extLst>
          </p:cNvPr>
          <p:cNvPicPr>
            <a:picLocks noChangeAspect="1"/>
          </p:cNvPicPr>
          <p:nvPr userDrawn="1"/>
        </p:nvPicPr>
        <p:blipFill>
          <a:blip>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8" name="TextBox 6">
            <a:extLst>
              <a:ext uri="{FF2B5EF4-FFF2-40B4-BE49-F238E27FC236}">
                <a16:creationId xmlns:a16="http://schemas.microsoft.com/office/drawing/2014/main" id="{0BB05A6D-4BC7-12B1-96F5-8F7C45C0DC02}"/>
              </a:ext>
            </a:extLst>
          </p:cNvPr>
          <p:cNvSpPr txBox="1"/>
          <p:nvPr userDrawn="1"/>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9" name="TextBox 3">
            <a:extLst>
              <a:ext uri="{FF2B5EF4-FFF2-40B4-BE49-F238E27FC236}">
                <a16:creationId xmlns:a16="http://schemas.microsoft.com/office/drawing/2014/main" id="{1BF26DE9-4D76-45B0-E6DE-DA4B40C4BC53}"/>
              </a:ext>
            </a:extLst>
          </p:cNvPr>
          <p:cNvSpPr txBox="1"/>
          <p:nvPr userDrawn="1"/>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664826730"/>
      </p:ext>
    </p:extLst>
  </p:cSld>
  <p:clrMap bg1="lt1" tx1="dk1" bg2="lt2" tx2="dk2" accent1="accent1" accent2="accent2" accent3="accent3" accent4="accent4" accent5="accent5" accent6="accent6" hlink="hlink" folHlink="folHlink"/>
  <p:sldLayoutIdLst>
    <p:sldLayoutId id="2147483732" r:id="rId1"/>
    <p:sldLayoutId id="2147483733" r:id="rId2"/>
    <p:sldLayoutId id="2147483734" r:id="rId3"/>
    <p:sldLayoutId id="2147483735" r:id="rId4"/>
    <p:sldLayoutId id="2147483736" r:id="rId5"/>
    <p:sldLayoutId id="2147483737" r:id="rId6"/>
    <p:sldLayoutId id="2147483738" r:id="rId7"/>
    <p:sldLayoutId id="2147483739" r:id="rId8"/>
    <p:sldLayoutId id="2147483740" r:id="rId9"/>
    <p:sldLayoutId id="2147483741" r:id="rId10"/>
    <p:sldLayoutId id="2147483742" r:id="rId11"/>
    <p:sldLayoutId id="2147483743" r:id="rId12"/>
    <p:sldLayoutId id="2147483744" r:id="rId13"/>
    <p:sldLayoutId id="2147483745" r:id="rId14"/>
    <p:sldLayoutId id="2147483746" r:id="rId15"/>
    <p:sldLayoutId id="2147483747" r:id="rId16"/>
    <p:sldLayoutId id="2147483748" r:id="rId17"/>
    <p:sldLayoutId id="2147483749" r:id="rId18"/>
    <p:sldLayoutId id="2147483750" r:id="rId19"/>
    <p:sldLayoutId id="2147483751" r:id="rId20"/>
    <p:sldLayoutId id="2147483752" r:id="rId21"/>
    <p:sldLayoutId id="2147483753" r:id="rId22"/>
    <p:sldLayoutId id="2147483754" r:id="rId23"/>
    <p:sldLayoutId id="2147483755" r:id="rId24"/>
    <p:sldLayoutId id="2147483756" r:id="rId25"/>
    <p:sldLayoutId id="2147483757" r:id="rId26"/>
    <p:sldLayoutId id="2147483758" r:id="rId27"/>
    <p:sldLayoutId id="2147483759" r:id="rId28"/>
    <p:sldLayoutId id="2147483760" r:id="rId29"/>
    <p:sldLayoutId id="2147483761" r:id="rId30"/>
    <p:sldLayoutId id="2147483762" r:id="rId31"/>
    <p:sldLayoutId id="2147483763" r:id="rId32"/>
    <p:sldLayoutId id="2147483764" r:id="rId33"/>
    <p:sldLayoutId id="2147483765" r:id="rId34"/>
    <p:sldLayoutId id="2147483766" r:id="rId35"/>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206639224"/>
      </p:ext>
    </p:extLst>
  </p:cSld>
  <p:clrMap bg1="lt1" tx1="dk1" bg2="lt2" tx2="dk2" accent1="accent1" accent2="accent2" accent3="accent3" accent4="accent4" accent5="accent5" accent6="accent6" hlink="hlink" folHlink="folHlink"/>
  <p:sldLayoutIdLst>
    <p:sldLayoutId id="2147483788" r:id="rId1"/>
    <p:sldLayoutId id="2147483789" r:id="rId2"/>
    <p:sldLayoutId id="2147483790" r:id="rId3"/>
    <p:sldLayoutId id="2147483791" r:id="rId4"/>
    <p:sldLayoutId id="2147483792" r:id="rId5"/>
    <p:sldLayoutId id="2147483793" r:id="rId6"/>
    <p:sldLayoutId id="2147483794" r:id="rId7"/>
    <p:sldLayoutId id="2147483795" r:id="rId8"/>
    <p:sldLayoutId id="2147483796" r:id="rId9"/>
    <p:sldLayoutId id="2147483797" r:id="rId10"/>
    <p:sldLayoutId id="2147483798" r:id="rId11"/>
    <p:sldLayoutId id="2147483799" r:id="rId12"/>
    <p:sldLayoutId id="2147483800" r:id="rId13"/>
    <p:sldLayoutId id="2147483801" r:id="rId14"/>
    <p:sldLayoutId id="2147483802" r:id="rId15"/>
    <p:sldLayoutId id="2147483803" r:id="rId16"/>
    <p:sldLayoutId id="2147483804" r:id="rId17"/>
    <p:sldLayoutId id="2147483805" r:id="rId18"/>
    <p:sldLayoutId id="2147483806" r:id="rId19"/>
    <p:sldLayoutId id="2147483807" r:id="rId20"/>
    <p:sldLayoutId id="2147483808" r:id="rId21"/>
    <p:sldLayoutId id="2147483809" r:id="rId22"/>
    <p:sldLayoutId id="2147483810" r:id="rId23"/>
    <p:sldLayoutId id="2147483811" r:id="rId24"/>
    <p:sldLayoutId id="2147483812" r:id="rId25"/>
    <p:sldLayoutId id="2147483813" r:id="rId26"/>
    <p:sldLayoutId id="2147483814" r:id="rId27"/>
    <p:sldLayoutId id="2147483815" r:id="rId28"/>
    <p:sldLayoutId id="2147483816" r:id="rId29"/>
    <p:sldLayoutId id="2147483817" r:id="rId30"/>
    <p:sldLayoutId id="2147483818" r:id="rId31"/>
    <p:sldLayoutId id="2147483819" r:id="rId32"/>
    <p:sldLayoutId id="2147483820" r:id="rId33"/>
    <p:sldLayoutId id="2147483821" r:id="rId34"/>
    <p:sldLayoutId id="2147483822" r:id="rId35"/>
    <p:sldLayoutId id="2147483823" r:id="rId36"/>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4.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4.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4.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104.xml"/></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04.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04.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4.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4.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4.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04.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4.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04.xml"/></Relationships>
</file>

<file path=ppt/slides/_rels/slide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04.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04.xml"/></Relationships>
</file>

<file path=ppt/slides/_rels/slide2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04.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04.xml"/></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7.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7.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2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7.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7.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7.xml"/></Relationships>
</file>

<file path=ppt/slides/_rels/slide3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7.xml"/></Relationships>
</file>

<file path=ppt/slides/_rels/slide3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4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7.xml"/></Relationships>
</file>

<file path=ppt/slides/_rels/slide4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7.xml"/></Relationships>
</file>

<file path=ppt/slides/_rels/slide4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7.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7.xml"/></Relationships>
</file>

<file path=ppt/slides/_rels/slide46.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7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57.png"/><Relationship Id="rId2" Type="http://schemas.openxmlformats.org/officeDocument/2006/relationships/image" Target="../media/image58.png"/><Relationship Id="rId1" Type="http://schemas.openxmlformats.org/officeDocument/2006/relationships/slideLayout" Target="../slideLayouts/slideLayout7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7.xml"/></Relationships>
</file>

<file path=ppt/slides/_rels/slide4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61.png"/><Relationship Id="rId1" Type="http://schemas.openxmlformats.org/officeDocument/2006/relationships/slideLayout" Target="../slideLayouts/slideLayout7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7.xml"/><Relationship Id="rId5" Type="http://schemas.openxmlformats.org/officeDocument/2006/relationships/image" Target="../media/image64.png"/><Relationship Id="rId4" Type="http://schemas.openxmlformats.org/officeDocument/2006/relationships/image" Target="../media/image63.png"/></Relationships>
</file>

<file path=ppt/slides/_rels/slide5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1.png"/><Relationship Id="rId1" Type="http://schemas.openxmlformats.org/officeDocument/2006/relationships/slideLayout" Target="../slideLayouts/slideLayout77.xml"/><Relationship Id="rId5" Type="http://schemas.openxmlformats.org/officeDocument/2006/relationships/image" Target="../media/image67.png"/><Relationship Id="rId4" Type="http://schemas.openxmlformats.org/officeDocument/2006/relationships/image" Target="../media/image66.png"/></Relationships>
</file>

<file path=ppt/slides/_rels/slide5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1.png"/><Relationship Id="rId1" Type="http://schemas.openxmlformats.org/officeDocument/2006/relationships/slideLayout" Target="../slideLayouts/slideLayout77.xml"/><Relationship Id="rId5" Type="http://schemas.openxmlformats.org/officeDocument/2006/relationships/image" Target="../media/image70.png"/><Relationship Id="rId4" Type="http://schemas.openxmlformats.org/officeDocument/2006/relationships/image" Target="../media/image69.png"/></Relationships>
</file>

<file path=ppt/slides/_rels/slide5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1.png"/><Relationship Id="rId1" Type="http://schemas.openxmlformats.org/officeDocument/2006/relationships/slideLayout" Target="../slideLayouts/slideLayout77.xml"/><Relationship Id="rId5" Type="http://schemas.openxmlformats.org/officeDocument/2006/relationships/image" Target="../media/image73.png"/><Relationship Id="rId4" Type="http://schemas.openxmlformats.org/officeDocument/2006/relationships/image" Target="../media/image72.png"/></Relationships>
</file>

<file path=ppt/slides/_rels/slide54.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61.png"/><Relationship Id="rId1" Type="http://schemas.openxmlformats.org/officeDocument/2006/relationships/slideLayout" Target="../slideLayouts/slideLayout77.xml"/><Relationship Id="rId5" Type="http://schemas.openxmlformats.org/officeDocument/2006/relationships/image" Target="../media/image76.png"/><Relationship Id="rId4" Type="http://schemas.openxmlformats.org/officeDocument/2006/relationships/image" Target="../media/image75.png"/></Relationships>
</file>

<file path=ppt/slides/_rels/slide5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61.png"/><Relationship Id="rId1" Type="http://schemas.openxmlformats.org/officeDocument/2006/relationships/slideLayout" Target="../slideLayouts/slideLayout77.xml"/><Relationship Id="rId5" Type="http://schemas.openxmlformats.org/officeDocument/2006/relationships/image" Target="../media/image79.png"/><Relationship Id="rId4" Type="http://schemas.openxmlformats.org/officeDocument/2006/relationships/image" Target="../media/image78.png"/></Relationships>
</file>

<file path=ppt/slides/_rels/slide5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61.png"/><Relationship Id="rId1" Type="http://schemas.openxmlformats.org/officeDocument/2006/relationships/slideLayout" Target="../slideLayouts/slideLayout77.xml"/><Relationship Id="rId5" Type="http://schemas.openxmlformats.org/officeDocument/2006/relationships/image" Target="../media/image82.png"/><Relationship Id="rId4" Type="http://schemas.openxmlformats.org/officeDocument/2006/relationships/image" Target="../media/image81.png"/></Relationships>
</file>

<file path=ppt/slides/_rels/slide5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61.png"/><Relationship Id="rId1" Type="http://schemas.openxmlformats.org/officeDocument/2006/relationships/slideLayout" Target="../slideLayouts/slideLayout77.xml"/></Relationships>
</file>

<file path=ppt/slides/_rels/slide5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61.png"/><Relationship Id="rId1" Type="http://schemas.openxmlformats.org/officeDocument/2006/relationships/slideLayout" Target="../slideLayouts/slideLayout77.xml"/><Relationship Id="rId4" Type="http://schemas.openxmlformats.org/officeDocument/2006/relationships/image" Target="../media/image85.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60.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7.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87.png"/><Relationship Id="rId1" Type="http://schemas.openxmlformats.org/officeDocument/2006/relationships/slideLayout" Target="../slideLayouts/slideLayout77.xml"/></Relationships>
</file>

<file path=ppt/slides/_rels/slide62.xml.rels><?xml version="1.0" encoding="UTF-8" standalone="yes"?>
<Relationships xmlns="http://schemas.openxmlformats.org/package/2006/relationships"><Relationship Id="rId3" Type="http://schemas.openxmlformats.org/officeDocument/2006/relationships/image" Target="../media/image64.png"/><Relationship Id="rId7"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77.xml"/><Relationship Id="rId6" Type="http://schemas.openxmlformats.org/officeDocument/2006/relationships/image" Target="../media/image57.png"/><Relationship Id="rId5" Type="http://schemas.openxmlformats.org/officeDocument/2006/relationships/image" Target="../media/image55.png"/><Relationship Id="rId4" Type="http://schemas.openxmlformats.org/officeDocument/2006/relationships/image" Target="../media/image5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64.xml.rels><?xml version="1.0" encoding="UTF-8" standalone="yes"?>
<Relationships xmlns="http://schemas.openxmlformats.org/package/2006/relationships"><Relationship Id="rId3" Type="http://schemas.openxmlformats.org/officeDocument/2006/relationships/image" Target="../media/image91.svg"/><Relationship Id="rId7" Type="http://schemas.openxmlformats.org/officeDocument/2006/relationships/image" Target="../media/image95.svg"/><Relationship Id="rId2" Type="http://schemas.openxmlformats.org/officeDocument/2006/relationships/image" Target="../media/image90.svg"/><Relationship Id="rId1" Type="http://schemas.openxmlformats.org/officeDocument/2006/relationships/slideLayout" Target="../slideLayouts/slideLayout77.xml"/><Relationship Id="rId6" Type="http://schemas.openxmlformats.org/officeDocument/2006/relationships/image" Target="../media/image94.svg"/><Relationship Id="rId5" Type="http://schemas.openxmlformats.org/officeDocument/2006/relationships/image" Target="../media/image93.svg"/><Relationship Id="rId4" Type="http://schemas.openxmlformats.org/officeDocument/2006/relationships/image" Target="../media/image92.sv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68.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77.xml"/></Relationships>
</file>

<file path=ppt/slides/_rels/slide69.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77.xml"/></Relationships>
</file>

<file path=ppt/slides/_rels/slide70.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77.xml"/></Relationships>
</file>

<file path=ppt/slides/_rels/slide71.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7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7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77.xml"/></Relationships>
</file>

<file path=ppt/slides/_rels/slide7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01.png"/><Relationship Id="rId1" Type="http://schemas.openxmlformats.org/officeDocument/2006/relationships/slideLayout" Target="../slideLayouts/slideLayout77.xml"/><Relationship Id="rId5" Type="http://schemas.openxmlformats.org/officeDocument/2006/relationships/image" Target="../media/image56.png"/><Relationship Id="rId4" Type="http://schemas.openxmlformats.org/officeDocument/2006/relationships/image" Target="../media/image57.png"/></Relationships>
</file>

<file path=ppt/slides/_rels/slide7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02.png"/><Relationship Id="rId1" Type="http://schemas.openxmlformats.org/officeDocument/2006/relationships/slideLayout" Target="../slideLayouts/slideLayout77.xml"/><Relationship Id="rId5" Type="http://schemas.openxmlformats.org/officeDocument/2006/relationships/image" Target="../media/image56.png"/><Relationship Id="rId4" Type="http://schemas.openxmlformats.org/officeDocument/2006/relationships/image" Target="../media/image57.png"/></Relationships>
</file>

<file path=ppt/slides/_rels/slide77.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54.png"/><Relationship Id="rId1" Type="http://schemas.openxmlformats.org/officeDocument/2006/relationships/slideLayout" Target="../slideLayouts/slideLayout77.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04.png"/><Relationship Id="rId1" Type="http://schemas.openxmlformats.org/officeDocument/2006/relationships/slideLayout" Target="../slideLayouts/slideLayout77.xml"/></Relationships>
</file>

<file path=ppt/slides/_rels/slide7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05.png"/><Relationship Id="rId1" Type="http://schemas.openxmlformats.org/officeDocument/2006/relationships/slideLayout" Target="../slideLayouts/slideLayout77.xml"/></Relationships>
</file>

<file path=ppt/slides/_rels/slide8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06.png"/><Relationship Id="rId1" Type="http://schemas.openxmlformats.org/officeDocument/2006/relationships/slideLayout" Target="../slideLayouts/slideLayout77.xml"/><Relationship Id="rId5" Type="http://schemas.openxmlformats.org/officeDocument/2006/relationships/image" Target="../media/image67.png"/><Relationship Id="rId4" Type="http://schemas.openxmlformats.org/officeDocument/2006/relationships/image" Target="../media/image10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82.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108.png"/><Relationship Id="rId1" Type="http://schemas.openxmlformats.org/officeDocument/2006/relationships/slideLayout" Target="../slideLayouts/slideLayout77.xml"/><Relationship Id="rId4" Type="http://schemas.openxmlformats.org/officeDocument/2006/relationships/image" Target="../media/image56.png"/></Relationships>
</file>

<file path=ppt/slides/_rels/slide8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09.png"/><Relationship Id="rId1" Type="http://schemas.openxmlformats.org/officeDocument/2006/relationships/slideLayout" Target="../slideLayouts/slideLayout77.xml"/><Relationship Id="rId6" Type="http://schemas.openxmlformats.org/officeDocument/2006/relationships/image" Target="../media/image57.png"/><Relationship Id="rId5" Type="http://schemas.openxmlformats.org/officeDocument/2006/relationships/image" Target="../media/image54.png"/><Relationship Id="rId4" Type="http://schemas.openxmlformats.org/officeDocument/2006/relationships/image" Target="../media/image64.png"/></Relationships>
</file>

<file path=ppt/slides/_rels/slide8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110.png"/><Relationship Id="rId1" Type="http://schemas.openxmlformats.org/officeDocument/2006/relationships/slideLayout" Target="../slideLayouts/slideLayout77.xml"/><Relationship Id="rId5" Type="http://schemas.openxmlformats.org/officeDocument/2006/relationships/image" Target="../media/image111.png"/><Relationship Id="rId4" Type="http://schemas.openxmlformats.org/officeDocument/2006/relationships/image" Target="../media/image67.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86.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77.xml"/></Relationships>
</file>

<file path=ppt/slides/_rels/slide8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114.png"/><Relationship Id="rId1" Type="http://schemas.openxmlformats.org/officeDocument/2006/relationships/slideLayout" Target="../slideLayouts/slideLayout77.xml"/></Relationships>
</file>

<file path=ppt/slides/_rels/slide88.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xml"/><Relationship Id="rId1" Type="http://schemas.openxmlformats.org/officeDocument/2006/relationships/slideLayout" Target="../slideLayouts/slideLayout77.xml"/><Relationship Id="rId5" Type="http://schemas.openxmlformats.org/officeDocument/2006/relationships/image" Target="../media/image57.png"/><Relationship Id="rId4" Type="http://schemas.openxmlformats.org/officeDocument/2006/relationships/image" Target="../media/image55.png"/></Relationships>
</file>

<file path=ppt/slides/_rels/slide8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16.png"/><Relationship Id="rId1" Type="http://schemas.openxmlformats.org/officeDocument/2006/relationships/slideLayout" Target="../slideLayouts/slideLayout77.xml"/></Relationships>
</file>

<file path=ppt/slides/_rels/slide9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117.png"/><Relationship Id="rId1" Type="http://schemas.openxmlformats.org/officeDocument/2006/relationships/slideLayout" Target="../slideLayouts/slideLayout77.xml"/></Relationships>
</file>

<file path=ppt/slides/_rels/slide91.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77.xml"/><Relationship Id="rId5" Type="http://schemas.openxmlformats.org/officeDocument/2006/relationships/image" Target="../media/image63.png"/><Relationship Id="rId4" Type="http://schemas.openxmlformats.org/officeDocument/2006/relationships/image" Target="../media/image62.png"/></Relationships>
</file>

<file path=ppt/slides/_rels/slide92.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120.png"/><Relationship Id="rId1" Type="http://schemas.openxmlformats.org/officeDocument/2006/relationships/slideLayout" Target="../slideLayouts/slideLayout77.xml"/></Relationships>
</file>

<file path=ppt/slides/_rels/slide9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21.png"/><Relationship Id="rId1" Type="http://schemas.openxmlformats.org/officeDocument/2006/relationships/slideLayout" Target="../slideLayouts/slideLayout77.xml"/><Relationship Id="rId5" Type="http://schemas.openxmlformats.org/officeDocument/2006/relationships/image" Target="../media/image66.png"/><Relationship Id="rId4" Type="http://schemas.openxmlformats.org/officeDocument/2006/relationships/image" Target="../media/image65.png"/></Relationships>
</file>

<file path=ppt/slides/_rels/slide9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77.xml"/><Relationship Id="rId4" Type="http://schemas.openxmlformats.org/officeDocument/2006/relationships/image" Target="../media/image70.png"/></Relationships>
</file>

<file path=ppt/slides/_rels/slide9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24.png"/><Relationship Id="rId1" Type="http://schemas.openxmlformats.org/officeDocument/2006/relationships/slideLayout" Target="../slideLayouts/slideLayout77.xml"/><Relationship Id="rId5" Type="http://schemas.openxmlformats.org/officeDocument/2006/relationships/image" Target="../media/image69.png"/><Relationship Id="rId4" Type="http://schemas.openxmlformats.org/officeDocument/2006/relationships/image" Target="../media/image73.png"/></Relationships>
</file>

<file path=ppt/slides/_rels/slide9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126.png"/><Relationship Id="rId1" Type="http://schemas.openxmlformats.org/officeDocument/2006/relationships/slideLayout" Target="../slideLayouts/slideLayout7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05.xml"/></Relationships>
</file>

<file path=ppt/slides/_rels/slide9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127.png"/><Relationship Id="rId1" Type="http://schemas.openxmlformats.org/officeDocument/2006/relationships/slideLayout" Target="../slideLayouts/slideLayout77.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9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128.png"/><Relationship Id="rId1" Type="http://schemas.openxmlformats.org/officeDocument/2006/relationships/slideLayout" Target="../slideLayouts/slideLayout77.xml"/><Relationship Id="rId4" Type="http://schemas.openxmlformats.org/officeDocument/2006/relationships/image" Target="../media/image64.png"/></Relationships>
</file>

<file path=ppt/slides/_rels/slide10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3.png"/><Relationship Id="rId1" Type="http://schemas.openxmlformats.org/officeDocument/2006/relationships/slideLayout" Target="../slideLayouts/slideLayout77.xml"/><Relationship Id="rId4" Type="http://schemas.openxmlformats.org/officeDocument/2006/relationships/image" Target="../media/image129.png"/></Relationships>
</file>

<file path=ppt/slides/_rels/slide10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66.png"/><Relationship Id="rId1" Type="http://schemas.openxmlformats.org/officeDocument/2006/relationships/slideLayout" Target="../slideLayouts/slideLayout77.xml"/></Relationships>
</file>

<file path=ppt/slides/_rels/slide10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8BCB3F-6CDE-555F-945C-FD9DF637FF82}"/>
              </a:ext>
            </a:extLst>
          </p:cNvPr>
          <p:cNvSpPr>
            <a:spLocks noGrp="1"/>
          </p:cNvSpPr>
          <p:nvPr>
            <p:ph type="body" sz="quarter" idx="10"/>
          </p:nvPr>
        </p:nvSpPr>
        <p:spPr>
          <a:xfrm>
            <a:off x="556902" y="1950772"/>
            <a:ext cx="5427132" cy="2441502"/>
          </a:xfrm>
        </p:spPr>
        <p:txBody>
          <a:bodyPr/>
          <a:lstStyle/>
          <a:p>
            <a:r>
              <a:rPr lang="es-CO" sz="4400" dirty="0"/>
              <a:t>Gestionar los conceptos de configuración de la cuenta corriente </a:t>
            </a:r>
            <a:endParaRPr lang="en-US" sz="4400" dirty="0"/>
          </a:p>
        </p:txBody>
      </p:sp>
      <p:sp>
        <p:nvSpPr>
          <p:cNvPr id="3" name="Text Placeholder 2">
            <a:extLst>
              <a:ext uri="{FF2B5EF4-FFF2-40B4-BE49-F238E27FC236}">
                <a16:creationId xmlns:a16="http://schemas.microsoft.com/office/drawing/2014/main" id="{AFC3AF02-2178-7BEB-DC06-4BB29198D4C0}"/>
              </a:ext>
            </a:extLst>
          </p:cNvPr>
          <p:cNvSpPr>
            <a:spLocks noGrp="1"/>
          </p:cNvSpPr>
          <p:nvPr>
            <p:ph type="body" sz="quarter" idx="11"/>
          </p:nvPr>
        </p:nvSpPr>
        <p:spPr>
          <a:xfrm>
            <a:off x="556902" y="4621474"/>
            <a:ext cx="5427132" cy="324961"/>
          </a:xfrm>
        </p:spPr>
        <p:txBody>
          <a:bodyPr>
            <a:spAutoFit/>
          </a:bodyPr>
          <a:lstStyle/>
          <a:p>
            <a:r>
              <a:rPr lang="es-CO" dirty="0"/>
              <a:t>C</a:t>
            </a:r>
            <a:r>
              <a:rPr lang="en-US" dirty="0"/>
              <a:t>uenta Corriente</a:t>
            </a:r>
          </a:p>
        </p:txBody>
      </p:sp>
      <p:sp>
        <p:nvSpPr>
          <p:cNvPr id="4" name="Text Placeholder 3">
            <a:extLst>
              <a:ext uri="{FF2B5EF4-FFF2-40B4-BE49-F238E27FC236}">
                <a16:creationId xmlns:a16="http://schemas.microsoft.com/office/drawing/2014/main" id="{692B0829-7360-8531-FF9E-7D531E7A6091}"/>
              </a:ext>
            </a:extLst>
          </p:cNvPr>
          <p:cNvSpPr>
            <a:spLocks noGrp="1"/>
          </p:cNvSpPr>
          <p:nvPr>
            <p:ph type="body" sz="quarter" idx="12"/>
          </p:nvPr>
        </p:nvSpPr>
        <p:spPr/>
        <p:txBody>
          <a:bodyPr/>
          <a:lstStyle/>
          <a:p>
            <a:r>
              <a:rPr lang="es-ES" dirty="0"/>
              <a:t>Faver Herrera Mejia</a:t>
            </a:r>
            <a:br>
              <a:rPr lang="es-ES" dirty="0"/>
            </a:br>
            <a:r>
              <a:rPr lang="es-ES" dirty="0"/>
              <a:t>Consultor</a:t>
            </a:r>
            <a:endParaRPr lang="en-US" dirty="0"/>
          </a:p>
        </p:txBody>
      </p:sp>
      <p:sp>
        <p:nvSpPr>
          <p:cNvPr id="5" name="Text Placeholder 4">
            <a:extLst>
              <a:ext uri="{FF2B5EF4-FFF2-40B4-BE49-F238E27FC236}">
                <a16:creationId xmlns:a16="http://schemas.microsoft.com/office/drawing/2014/main" id="{7640F739-8B92-AE20-CC72-FD73501B27C6}"/>
              </a:ext>
            </a:extLst>
          </p:cNvPr>
          <p:cNvSpPr>
            <a:spLocks noGrp="1"/>
          </p:cNvSpPr>
          <p:nvPr>
            <p:ph type="body" sz="quarter" idx="13"/>
          </p:nvPr>
        </p:nvSpPr>
        <p:spPr/>
        <p:txBody>
          <a:bodyPr/>
          <a:lstStyle/>
          <a:p>
            <a:r>
              <a:rPr lang="en-US" dirty="0"/>
              <a:t>Junio 2026</a:t>
            </a:r>
          </a:p>
        </p:txBody>
      </p:sp>
      <p:pic>
        <p:nvPicPr>
          <p:cNvPr id="18" name="Marcador de posición de imagen 17">
            <a:extLst>
              <a:ext uri="{FF2B5EF4-FFF2-40B4-BE49-F238E27FC236}">
                <a16:creationId xmlns:a16="http://schemas.microsoft.com/office/drawing/2014/main" id="{5016D2BD-5D39-9A0D-9E81-B6400D9E142B}"/>
              </a:ext>
            </a:extLst>
          </p:cNvPr>
          <p:cNvPicPr>
            <a:picLocks noGrp="1" noChangeAspect="1"/>
          </p:cNvPicPr>
          <p:nvPr>
            <p:ph type="pic" sz="quarter" idx="14"/>
          </p:nvPr>
        </p:nvPicPr>
        <p:blipFill>
          <a:blip r:embed="rId2"/>
          <a:srcRect l="17881" r="17881"/>
          <a:stretch>
            <a:fillRect/>
          </a:stretch>
        </p:blipFill>
        <p:spPr>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pic>
    </p:spTree>
    <p:extLst>
      <p:ext uri="{BB962C8B-B14F-4D97-AF65-F5344CB8AC3E}">
        <p14:creationId xmlns:p14="http://schemas.microsoft.com/office/powerpoint/2010/main" val="9191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2">
            <a:extLst>
              <a:ext uri="{FF2B5EF4-FFF2-40B4-BE49-F238E27FC236}">
                <a16:creationId xmlns:a16="http://schemas.microsoft.com/office/drawing/2014/main" id="{4673DED4-8FDF-4D14-4B12-E97032DE43BA}"/>
              </a:ext>
            </a:extLst>
          </p:cNvPr>
          <p:cNvGraphicFramePr>
            <a:graphicFrameLocks noGrp="1"/>
          </p:cNvGraphicFramePr>
          <p:nvPr>
            <p:extLst>
              <p:ext uri="{D42A27DB-BD31-4B8C-83A1-F6EECF244321}">
                <p14:modId xmlns:p14="http://schemas.microsoft.com/office/powerpoint/2010/main" val="1323515481"/>
              </p:ext>
            </p:extLst>
          </p:nvPr>
        </p:nvGraphicFramePr>
        <p:xfrm>
          <a:off x="574223" y="1934479"/>
          <a:ext cx="11285545" cy="3182878"/>
        </p:xfrm>
        <a:graphic>
          <a:graphicData uri="http://schemas.openxmlformats.org/drawingml/2006/table">
            <a:tbl>
              <a:tblPr>
                <a:tableStyleId>{5C22544A-7EE6-4342-B048-85BDC9FD1C3A}</a:tableStyleId>
              </a:tblPr>
              <a:tblGrid>
                <a:gridCol w="1158849">
                  <a:extLst>
                    <a:ext uri="{9D8B030D-6E8A-4147-A177-3AD203B41FA5}">
                      <a16:colId xmlns:a16="http://schemas.microsoft.com/office/drawing/2014/main" val="1835725686"/>
                    </a:ext>
                  </a:extLst>
                </a:gridCol>
                <a:gridCol w="10126696">
                  <a:extLst>
                    <a:ext uri="{9D8B030D-6E8A-4147-A177-3AD203B41FA5}">
                      <a16:colId xmlns:a16="http://schemas.microsoft.com/office/drawing/2014/main" val="52046442"/>
                    </a:ext>
                  </a:extLst>
                </a:gridCol>
              </a:tblGrid>
              <a:tr h="814199">
                <a:tc>
                  <a:txBody>
                    <a:bodyPr/>
                    <a:lstStyle/>
                    <a:p>
                      <a:r>
                        <a:rPr lang="en-US" sz="3000" b="1" kern="1200" dirty="0">
                          <a:solidFill>
                            <a:schemeClr val="accent1"/>
                          </a:solidFill>
                          <a:effectLst/>
                          <a:latin typeface="Helvetica Neue" panose="02000503000000020004" pitchFamily="2" charset="0"/>
                          <a:ea typeface="+mn-ea"/>
                          <a:cs typeface="+mn-cs"/>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Overview </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a:solidFill>
                            <a:schemeClr val="tx1"/>
                          </a:solidFill>
                          <a:effectLst/>
                          <a:latin typeface="Helvetica Neue" panose="02000503000000020004" pitchFamily="2" charset="0"/>
                          <a:ea typeface="+mn-ea"/>
                          <a:cs typeface="+mn-cs"/>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3000" b="1" kern="1200" dirty="0">
                          <a:solidFill>
                            <a:schemeClr val="accent1"/>
                          </a:solidFill>
                          <a:effectLst/>
                          <a:latin typeface="Helvetica Neue" panose="02000503000000020004" pitchFamily="2" charset="0"/>
                          <a:ea typeface="+mn-ea"/>
                          <a:cs typeface="+mn-cs"/>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CO" sz="3000" b="0" kern="1200" dirty="0">
                          <a:solidFill>
                            <a:schemeClr val="tx1"/>
                          </a:solidFill>
                          <a:effectLst/>
                          <a:latin typeface="Helvetica Neue" panose="02000503000000020004" pitchFamily="2" charset="0"/>
                          <a:ea typeface="+mn-ea"/>
                          <a:cs typeface="+mn-cs"/>
                        </a:rPr>
                        <a:t>Gestionar los conceptos de configuración de la cuenta corriente</a:t>
                      </a:r>
                      <a:endParaRPr lang="en-US" sz="3000" b="0" kern="1200" dirty="0">
                        <a:solidFill>
                          <a:schemeClr val="tx1"/>
                        </a:solidFill>
                        <a:effectLst/>
                        <a:latin typeface="Helvetica Neue" panose="02000503000000020004" pitchFamily="2"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0">
                <a:tc>
                  <a:txBody>
                    <a:bodyPr/>
                    <a:lstStyle/>
                    <a:p>
                      <a:r>
                        <a:rPr lang="en-US" sz="3000" b="1" kern="1200" dirty="0">
                          <a:solidFill>
                            <a:schemeClr val="accent1"/>
                          </a:solidFill>
                          <a:effectLst/>
                          <a:latin typeface="Helvetica Neue" panose="02000503000000020004" pitchFamily="2" charset="0"/>
                          <a:ea typeface="+mn-ea"/>
                          <a:cs typeface="+mn-cs"/>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3000" b="0" kern="1200" dirty="0" err="1">
                          <a:solidFill>
                            <a:schemeClr val="tx1"/>
                          </a:solidFill>
                          <a:effectLst/>
                          <a:latin typeface="Helvetica Neue" panose="02000503000000020004" pitchFamily="2" charset="0"/>
                          <a:ea typeface="+mn-ea"/>
                          <a:cs typeface="+mn-cs"/>
                        </a:rPr>
                        <a:t>Resumen</a:t>
                      </a:r>
                      <a:endParaRPr lang="en-US" sz="3000" b="0" kern="1200" dirty="0">
                        <a:solidFill>
                          <a:schemeClr val="tx1"/>
                        </a:solidFill>
                        <a:effectLst/>
                        <a:latin typeface="Helvetica Neue" panose="02000503000000020004" pitchFamily="2" charset="0"/>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3460307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B593FF0-F34F-6C36-BB0F-89589516776B}"/>
              </a:ext>
            </a:extLst>
          </p:cNvPr>
          <p:cNvSpPr txBox="1">
            <a:spLocks/>
          </p:cNvSpPr>
          <p:nvPr/>
        </p:nvSpPr>
        <p:spPr>
          <a:xfrm>
            <a:off x="1382632" y="151653"/>
            <a:ext cx="9418021" cy="506716"/>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s-ES_tradnl" sz="3200" dirty="0" err="1">
                <a:solidFill>
                  <a:schemeClr val="accent1"/>
                </a:solidFill>
              </a:rPr>
              <a:t>Overview</a:t>
            </a:r>
            <a:r>
              <a:rPr lang="es-ES_tradnl" sz="3200" dirty="0">
                <a:solidFill>
                  <a:schemeClr val="accent1"/>
                </a:solidFill>
              </a:rPr>
              <a:t>: </a:t>
            </a:r>
            <a:r>
              <a:rPr lang="es-CO" sz="3200" dirty="0"/>
              <a:t>	Mapa de capacidad de negocio</a:t>
            </a:r>
            <a:r>
              <a:rPr lang="es-ES_tradnl" sz="3200" dirty="0"/>
              <a:t> </a:t>
            </a:r>
            <a:endParaRPr lang="en-US" dirty="0"/>
          </a:p>
        </p:txBody>
      </p:sp>
      <p:pic>
        <p:nvPicPr>
          <p:cNvPr id="8" name="Imagen 7">
            <a:extLst>
              <a:ext uri="{FF2B5EF4-FFF2-40B4-BE49-F238E27FC236}">
                <a16:creationId xmlns:a16="http://schemas.microsoft.com/office/drawing/2014/main" id="{C9DCAC72-8E59-43D3-DBF8-6FB117CFD62F}"/>
              </a:ext>
            </a:extLst>
          </p:cNvPr>
          <p:cNvPicPr>
            <a:picLocks noChangeAspect="1"/>
          </p:cNvPicPr>
          <p:nvPr/>
        </p:nvPicPr>
        <p:blipFill>
          <a:blip r:embed="rId2"/>
          <a:srcRect l="1062" t="775" b="-1"/>
          <a:stretch>
            <a:fillRect/>
          </a:stretch>
        </p:blipFill>
        <p:spPr>
          <a:xfrm>
            <a:off x="128016" y="850392"/>
            <a:ext cx="11927254" cy="5010911"/>
          </a:xfrm>
          <a:prstGeom prst="rect">
            <a:avLst/>
          </a:prstGeom>
        </p:spPr>
      </p:pic>
      <p:sp>
        <p:nvSpPr>
          <p:cNvPr id="9" name="Rectángulo 8">
            <a:extLst>
              <a:ext uri="{FF2B5EF4-FFF2-40B4-BE49-F238E27FC236}">
                <a16:creationId xmlns:a16="http://schemas.microsoft.com/office/drawing/2014/main" id="{7C11DADF-0433-67D5-BCFF-E624B413DB32}"/>
              </a:ext>
            </a:extLst>
          </p:cNvPr>
          <p:cNvSpPr/>
          <p:nvPr/>
        </p:nvSpPr>
        <p:spPr>
          <a:xfrm>
            <a:off x="8220456" y="1399032"/>
            <a:ext cx="3639312" cy="2029968"/>
          </a:xfrm>
          <a:prstGeom prst="rect">
            <a:avLst/>
          </a:prstGeom>
          <a:noFill/>
          <a:ln w="28575">
            <a:solidFill>
              <a:schemeClr val="accent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s-CO"/>
          </a:p>
        </p:txBody>
      </p:sp>
    </p:spTree>
    <p:extLst>
      <p:ext uri="{BB962C8B-B14F-4D97-AF65-F5344CB8AC3E}">
        <p14:creationId xmlns:p14="http://schemas.microsoft.com/office/powerpoint/2010/main" val="292336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516E66-743D-1928-26DE-8C1E7DAB450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D51AB42-514F-33BE-D706-8979FC17DF12}"/>
              </a:ext>
            </a:extLst>
          </p:cNvPr>
          <p:cNvSpPr txBox="1">
            <a:spLocks/>
          </p:cNvSpPr>
          <p:nvPr/>
        </p:nvSpPr>
        <p:spPr>
          <a:xfrm>
            <a:off x="1104900" y="685800"/>
            <a:ext cx="104774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err="1">
                <a:solidFill>
                  <a:schemeClr val="accent1"/>
                </a:solidFill>
              </a:rPr>
              <a:t>Overview</a:t>
            </a:r>
            <a:r>
              <a:rPr lang="es-ES_tradnl" sz="3200" dirty="0">
                <a:solidFill>
                  <a:schemeClr val="accent1"/>
                </a:solidFill>
              </a:rPr>
              <a:t>: </a:t>
            </a:r>
            <a:r>
              <a:rPr lang="es-CO" sz="3200" dirty="0"/>
              <a:t>Capacidades operativas de la Cuenta de Estudiante </a:t>
            </a:r>
            <a:r>
              <a:rPr lang="es-ES_tradnl" sz="3200" dirty="0"/>
              <a:t>   </a:t>
            </a:r>
            <a:endParaRPr lang="es-CL" dirty="0"/>
          </a:p>
        </p:txBody>
      </p:sp>
      <p:sp>
        <p:nvSpPr>
          <p:cNvPr id="3" name="Marcador de texto 1">
            <a:extLst>
              <a:ext uri="{FF2B5EF4-FFF2-40B4-BE49-F238E27FC236}">
                <a16:creationId xmlns:a16="http://schemas.microsoft.com/office/drawing/2014/main" id="{03C97F2C-8546-ED56-8799-AC198A5DE2B5}"/>
              </a:ext>
            </a:extLst>
          </p:cNvPr>
          <p:cNvSpPr txBox="1">
            <a:spLocks/>
          </p:cNvSpPr>
          <p:nvPr/>
        </p:nvSpPr>
        <p:spPr>
          <a:xfrm>
            <a:off x="1014984" y="1664815"/>
            <a:ext cx="9962587" cy="4507385"/>
          </a:xfrm>
          <a:prstGeom prst="rect">
            <a:avLst/>
          </a:prstGeom>
        </p:spPr>
        <p:txBody>
          <a:bodyPr anchor="ct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0CB4B4"/>
              </a:buClr>
              <a:buBlip>
                <a:blip r:embed="rId2"/>
              </a:buBlip>
            </a:pPr>
            <a:r>
              <a:rPr lang="es-CO" sz="2400" dirty="0"/>
              <a:t> </a:t>
            </a:r>
            <a:r>
              <a:rPr lang="es-CO" sz="2400" b="1" dirty="0">
                <a:solidFill>
                  <a:schemeClr val="accent1"/>
                </a:solidFill>
              </a:rPr>
              <a:t>Gestionar los conceptos de configuración de la cuenta corriente</a:t>
            </a:r>
          </a:p>
          <a:p>
            <a:pPr>
              <a:buClr>
                <a:srgbClr val="0CB4B4"/>
              </a:buClr>
              <a:buBlip>
                <a:blip r:embed="rId2"/>
              </a:buBlip>
            </a:pPr>
            <a:r>
              <a:rPr lang="es-CO" sz="2400" dirty="0"/>
              <a:t> Gestionar los beneficios</a:t>
            </a:r>
          </a:p>
          <a:p>
            <a:pPr>
              <a:buClr>
                <a:srgbClr val="0CB4B4"/>
              </a:buClr>
              <a:buBlip>
                <a:blip r:embed="rId2"/>
              </a:buBlip>
            </a:pPr>
            <a:r>
              <a:rPr lang="es-CO" sz="2400" dirty="0"/>
              <a:t> Gestionar los planes de pago</a:t>
            </a:r>
          </a:p>
          <a:p>
            <a:pPr>
              <a:buClr>
                <a:srgbClr val="0CB4B4"/>
              </a:buClr>
              <a:buBlip>
                <a:blip r:embed="rId2"/>
              </a:buBlip>
            </a:pPr>
            <a:r>
              <a:rPr lang="es-CO" sz="2400" dirty="0"/>
              <a:t> Gestionar la matrícula</a:t>
            </a:r>
          </a:p>
          <a:p>
            <a:pPr>
              <a:buClr>
                <a:srgbClr val="0CB4B4"/>
              </a:buClr>
              <a:buBlip>
                <a:blip r:embed="rId2"/>
              </a:buBlip>
            </a:pPr>
            <a:r>
              <a:rPr lang="es-CO" sz="2400" dirty="0"/>
              <a:t> Gestionar los pagos</a:t>
            </a:r>
          </a:p>
          <a:p>
            <a:pPr>
              <a:buClr>
                <a:srgbClr val="0CB4B4"/>
              </a:buClr>
              <a:buBlip>
                <a:blip r:embed="rId2"/>
              </a:buBlip>
            </a:pPr>
            <a:r>
              <a:rPr lang="es-CO" sz="2400" dirty="0"/>
              <a:t> Gestionar los documentos de venta</a:t>
            </a:r>
          </a:p>
          <a:p>
            <a:pPr>
              <a:buClr>
                <a:srgbClr val="0CB4B4"/>
              </a:buClr>
              <a:buBlip>
                <a:blip r:embed="rId2"/>
              </a:buBlip>
            </a:pPr>
            <a:r>
              <a:rPr lang="es-CO" sz="2400" dirty="0"/>
              <a:t> Gestionar la cuenta corriente</a:t>
            </a:r>
          </a:p>
          <a:p>
            <a:pPr>
              <a:buClr>
                <a:srgbClr val="0CB4B4"/>
              </a:buClr>
              <a:buBlip>
                <a:blip r:embed="rId2"/>
              </a:buBlip>
            </a:pPr>
            <a:r>
              <a:rPr lang="es-CO" sz="2400" dirty="0"/>
              <a:t> Gestionar la generación de transacciones FI</a:t>
            </a:r>
          </a:p>
        </p:txBody>
      </p:sp>
    </p:spTree>
    <p:extLst>
      <p:ext uri="{BB962C8B-B14F-4D97-AF65-F5344CB8AC3E}">
        <p14:creationId xmlns:p14="http://schemas.microsoft.com/office/powerpoint/2010/main" val="2282972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A9D37-CDA9-D682-B97A-5DDF3300299D}"/>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0E638EA4-C530-CFF6-F456-E83A811D4142}"/>
              </a:ext>
            </a:extLst>
          </p:cNvPr>
          <p:cNvSpPr txBox="1">
            <a:spLocks/>
          </p:cNvSpPr>
          <p:nvPr/>
        </p:nvSpPr>
        <p:spPr>
          <a:xfrm>
            <a:off x="857251" y="237744"/>
            <a:ext cx="104774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err="1">
                <a:solidFill>
                  <a:schemeClr val="accent1"/>
                </a:solidFill>
              </a:rPr>
              <a:t>Overview</a:t>
            </a:r>
            <a:r>
              <a:rPr lang="es-CO" sz="3200" dirty="0">
                <a:solidFill>
                  <a:schemeClr val="accent1"/>
                </a:solidFill>
              </a:rPr>
              <a:t>: </a:t>
            </a:r>
            <a:r>
              <a:rPr lang="es-CO" sz="3200" dirty="0"/>
              <a:t>Gestionar la Cuenta de Estudiante </a:t>
            </a:r>
            <a:r>
              <a:rPr lang="es-ES_tradnl" sz="3200" dirty="0"/>
              <a:t>  </a:t>
            </a:r>
            <a:endParaRPr lang="es-CL" dirty="0"/>
          </a:p>
        </p:txBody>
      </p:sp>
      <p:sp>
        <p:nvSpPr>
          <p:cNvPr id="4" name="Marcador de texto 1">
            <a:extLst>
              <a:ext uri="{FF2B5EF4-FFF2-40B4-BE49-F238E27FC236}">
                <a16:creationId xmlns:a16="http://schemas.microsoft.com/office/drawing/2014/main" id="{48D7EFB0-139D-497B-CE16-7D4D59985C61}"/>
              </a:ext>
            </a:extLst>
          </p:cNvPr>
          <p:cNvSpPr txBox="1">
            <a:spLocks/>
          </p:cNvSpPr>
          <p:nvPr/>
        </p:nvSpPr>
        <p:spPr>
          <a:xfrm>
            <a:off x="857250" y="1048380"/>
            <a:ext cx="10477497" cy="4895220"/>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rgbClr val="0CB4B4"/>
              </a:buClr>
              <a:buBlip>
                <a:blip r:embed="rId2"/>
              </a:buBlip>
            </a:pPr>
            <a:r>
              <a:rPr lang="es-CO" sz="2000" dirty="0"/>
              <a:t>Su propósito es aplicar becas, préstamos y fondos de estudio y trabajo a la matrícula y cargos.</a:t>
            </a:r>
          </a:p>
          <a:p>
            <a:pPr algn="just">
              <a:buClr>
                <a:srgbClr val="0CB4B4"/>
              </a:buClr>
              <a:buBlip>
                <a:blip r:embed="rId2"/>
              </a:buBlip>
            </a:pPr>
            <a:r>
              <a:rPr lang="es-CO" sz="2000" dirty="0"/>
              <a:t>Aquí se establecen reglas e información sobre cómo una institución planea usar el módulo cuentas por cobrar. </a:t>
            </a:r>
          </a:p>
          <a:p>
            <a:pPr algn="just">
              <a:buClr>
                <a:srgbClr val="0CB4B4"/>
              </a:buClr>
              <a:buBlip>
                <a:blip r:embed="rId2"/>
              </a:buBlip>
            </a:pPr>
            <a:r>
              <a:rPr lang="es-CO" sz="2000" dirty="0"/>
              <a:t>Se crea el catálogo con los conceptos de cargo y pago aplicables a las transacciones del estudiante, así como la relación entre el cargo y el pago para aplicarlos a las partidas que corresponden según su naturaleza contable y el cálculo y obtención del balance final de la cuenta corriente del estudiante o de la organización.</a:t>
            </a:r>
          </a:p>
          <a:p>
            <a:pPr algn="just">
              <a:buClr>
                <a:srgbClr val="0CB4B4"/>
              </a:buClr>
              <a:buBlip>
                <a:blip r:embed="rId2"/>
              </a:buBlip>
            </a:pPr>
            <a:r>
              <a:rPr lang="es-CO" sz="2000" dirty="0"/>
              <a:t>Aquí se establecen reglas e información sobre cómo una institución planea usar el módulo cuentas por cobrar. </a:t>
            </a:r>
            <a:endParaRPr lang="es-ES" sz="2000" dirty="0"/>
          </a:p>
          <a:p>
            <a:pPr algn="just">
              <a:buClr>
                <a:srgbClr val="0CB4B4"/>
              </a:buClr>
              <a:buBlip>
                <a:blip r:embed="rId2"/>
              </a:buBlip>
            </a:pPr>
            <a:r>
              <a:rPr lang="es-ES" sz="2000" dirty="0"/>
              <a:t>Incluye las prioridades de los conceptos y la relación entre los códigos de cargo y los de pago que permiten hacer la aplicación correcta de las transacciones y la obtención del balance final.</a:t>
            </a:r>
            <a:endParaRPr lang="es-CL" sz="2000" dirty="0"/>
          </a:p>
        </p:txBody>
      </p:sp>
    </p:spTree>
    <p:extLst>
      <p:ext uri="{BB962C8B-B14F-4D97-AF65-F5344CB8AC3E}">
        <p14:creationId xmlns:p14="http://schemas.microsoft.com/office/powerpoint/2010/main" val="8828652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69356-7101-74E3-FFD8-42A26C5C2A1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763723C-5330-831A-866D-B841E31941A7}"/>
              </a:ext>
            </a:extLst>
          </p:cNvPr>
          <p:cNvSpPr txBox="1">
            <a:spLocks/>
          </p:cNvSpPr>
          <p:nvPr/>
        </p:nvSpPr>
        <p:spPr>
          <a:xfrm>
            <a:off x="757860" y="259264"/>
            <a:ext cx="10483297"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err="1">
                <a:solidFill>
                  <a:schemeClr val="accent1"/>
                </a:solidFill>
              </a:rPr>
              <a:t>Overview</a:t>
            </a:r>
            <a:r>
              <a:rPr lang="es-ES_tradnl" sz="3000" dirty="0">
                <a:solidFill>
                  <a:schemeClr val="accent1"/>
                </a:solidFill>
              </a:rPr>
              <a:t>: </a:t>
            </a:r>
            <a:r>
              <a:rPr lang="es-CO" sz="3000" dirty="0"/>
              <a:t>Gestionar los conceptos de configuración de la cuenta corriente</a:t>
            </a:r>
          </a:p>
          <a:p>
            <a:r>
              <a:rPr lang="es-ES_tradnl" sz="3000" dirty="0"/>
              <a:t> </a:t>
            </a:r>
            <a:endParaRPr lang="es-CL" sz="3000" dirty="0"/>
          </a:p>
        </p:txBody>
      </p:sp>
      <p:pic>
        <p:nvPicPr>
          <p:cNvPr id="7" name="Imagen 6">
            <a:extLst>
              <a:ext uri="{FF2B5EF4-FFF2-40B4-BE49-F238E27FC236}">
                <a16:creationId xmlns:a16="http://schemas.microsoft.com/office/drawing/2014/main" id="{04A2C72A-7791-DFBE-9935-597513F75A8C}"/>
              </a:ext>
            </a:extLst>
          </p:cNvPr>
          <p:cNvPicPr>
            <a:picLocks noChangeAspect="1"/>
          </p:cNvPicPr>
          <p:nvPr/>
        </p:nvPicPr>
        <p:blipFill>
          <a:blip r:embed="rId3"/>
          <a:srcRect l="1772" t="3668" r="1375" b="7496"/>
          <a:stretch>
            <a:fillRect/>
          </a:stretch>
        </p:blipFill>
        <p:spPr>
          <a:xfrm>
            <a:off x="691895" y="1207008"/>
            <a:ext cx="10808209" cy="5093208"/>
          </a:xfrm>
          <a:prstGeom prst="rect">
            <a:avLst/>
          </a:prstGeom>
        </p:spPr>
      </p:pic>
    </p:spTree>
    <p:extLst>
      <p:ext uri="{BB962C8B-B14F-4D97-AF65-F5344CB8AC3E}">
        <p14:creationId xmlns:p14="http://schemas.microsoft.com/office/powerpoint/2010/main" val="3319194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D7B0D0-31A3-5697-ADCD-1DBB7FDC579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E58F3FB0-1246-A15C-6F05-1E2CEF64E6CA}"/>
              </a:ext>
            </a:extLst>
          </p:cNvPr>
          <p:cNvPicPr>
            <a:picLocks noChangeAspect="1"/>
          </p:cNvPicPr>
          <p:nvPr/>
        </p:nvPicPr>
        <p:blipFill>
          <a:blip r:embed="rId2"/>
          <a:stretch>
            <a:fillRect/>
          </a:stretch>
        </p:blipFill>
        <p:spPr>
          <a:xfrm>
            <a:off x="2372205" y="1243584"/>
            <a:ext cx="4949400" cy="5258738"/>
          </a:xfrm>
          <a:prstGeom prst="rect">
            <a:avLst/>
          </a:prstGeom>
        </p:spPr>
      </p:pic>
      <p:sp>
        <p:nvSpPr>
          <p:cNvPr id="4" name="CuadroTexto 3">
            <a:extLst>
              <a:ext uri="{FF2B5EF4-FFF2-40B4-BE49-F238E27FC236}">
                <a16:creationId xmlns:a16="http://schemas.microsoft.com/office/drawing/2014/main" id="{108B41F2-6092-A826-D062-7BEC12B9F49E}"/>
              </a:ext>
            </a:extLst>
          </p:cNvPr>
          <p:cNvSpPr txBox="1"/>
          <p:nvPr/>
        </p:nvSpPr>
        <p:spPr>
          <a:xfrm>
            <a:off x="6903719" y="2167128"/>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889751BF-9411-08B1-B14A-6450804DDB12}"/>
              </a:ext>
            </a:extLst>
          </p:cNvPr>
          <p:cNvSpPr txBox="1">
            <a:spLocks/>
          </p:cNvSpPr>
          <p:nvPr/>
        </p:nvSpPr>
        <p:spPr>
          <a:xfrm>
            <a:off x="757860" y="259264"/>
            <a:ext cx="10483297" cy="52879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err="1">
                <a:solidFill>
                  <a:schemeClr val="accent1"/>
                </a:solidFill>
              </a:rPr>
              <a:t>Overview</a:t>
            </a:r>
            <a:r>
              <a:rPr lang="es-ES_tradnl" sz="3000" dirty="0">
                <a:solidFill>
                  <a:schemeClr val="accent1"/>
                </a:solidFill>
              </a:rPr>
              <a:t>: </a:t>
            </a:r>
            <a:r>
              <a:rPr lang="es-CO" sz="3000" dirty="0"/>
              <a:t>Gestionar los conceptos de configuración de la cuenta corriente</a:t>
            </a:r>
          </a:p>
          <a:p>
            <a:r>
              <a:rPr lang="es-ES_tradnl" sz="3000" dirty="0"/>
              <a:t> </a:t>
            </a:r>
            <a:endParaRPr lang="es-CL" sz="3000" dirty="0"/>
          </a:p>
        </p:txBody>
      </p:sp>
    </p:spTree>
    <p:extLst>
      <p:ext uri="{BB962C8B-B14F-4D97-AF65-F5344CB8AC3E}">
        <p14:creationId xmlns:p14="http://schemas.microsoft.com/office/powerpoint/2010/main" val="3240483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83101-4355-03B8-9E15-A7698836AE36}"/>
            </a:ext>
          </a:extLst>
        </p:cNvPr>
        <p:cNvGrpSpPr/>
        <p:nvPr/>
      </p:nvGrpSpPr>
      <p:grpSpPr>
        <a:xfrm>
          <a:off x="0" y="0"/>
          <a:ext cx="0" cy="0"/>
          <a:chOff x="0" y="0"/>
          <a:chExt cx="0" cy="0"/>
        </a:xfrm>
      </p:grpSpPr>
      <p:graphicFrame>
        <p:nvGraphicFramePr>
          <p:cNvPr id="3" name="Tabla 6">
            <a:extLst>
              <a:ext uri="{FF2B5EF4-FFF2-40B4-BE49-F238E27FC236}">
                <a16:creationId xmlns:a16="http://schemas.microsoft.com/office/drawing/2014/main" id="{7FB3341E-4B68-FA61-19E0-0CD352C0AF24}"/>
              </a:ext>
            </a:extLst>
          </p:cNvPr>
          <p:cNvGraphicFramePr>
            <a:graphicFrameLocks noGrp="1"/>
          </p:cNvGraphicFramePr>
          <p:nvPr>
            <p:extLst>
              <p:ext uri="{D42A27DB-BD31-4B8C-83A1-F6EECF244321}">
                <p14:modId xmlns:p14="http://schemas.microsoft.com/office/powerpoint/2010/main" val="1410695333"/>
              </p:ext>
            </p:extLst>
          </p:nvPr>
        </p:nvGraphicFramePr>
        <p:xfrm>
          <a:off x="1205196" y="1353062"/>
          <a:ext cx="9609373" cy="4315708"/>
        </p:xfrm>
        <a:graphic>
          <a:graphicData uri="http://schemas.openxmlformats.org/drawingml/2006/table">
            <a:tbl>
              <a:tblPr firstRow="1" bandRow="1">
                <a:tableStyleId>{5C22544A-7EE6-4342-B048-85BDC9FD1C3A}</a:tableStyleId>
              </a:tblPr>
              <a:tblGrid>
                <a:gridCol w="2028064">
                  <a:extLst>
                    <a:ext uri="{9D8B030D-6E8A-4147-A177-3AD203B41FA5}">
                      <a16:colId xmlns:a16="http://schemas.microsoft.com/office/drawing/2014/main" val="2298581278"/>
                    </a:ext>
                  </a:extLst>
                </a:gridCol>
                <a:gridCol w="7581309">
                  <a:extLst>
                    <a:ext uri="{9D8B030D-6E8A-4147-A177-3AD203B41FA5}">
                      <a16:colId xmlns:a16="http://schemas.microsoft.com/office/drawing/2014/main" val="1504358611"/>
                    </a:ext>
                  </a:extLst>
                </a:gridCol>
              </a:tblGrid>
              <a:tr h="488266">
                <a:tc>
                  <a:txBody>
                    <a:bodyPr/>
                    <a:lstStyle/>
                    <a:p>
                      <a:pPr algn="ctr">
                        <a:spcAft>
                          <a:spcPts val="0"/>
                        </a:spcAft>
                      </a:pPr>
                      <a:r>
                        <a:rPr lang="es-ES" sz="1800" dirty="0">
                          <a:effectLst/>
                        </a:rPr>
                        <a:t>Concepto</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ctr">
                        <a:spcAft>
                          <a:spcPts val="0"/>
                        </a:spcAft>
                      </a:pPr>
                      <a:r>
                        <a:rPr lang="es-ES" sz="1800" dirty="0">
                          <a:effectLst/>
                        </a:rPr>
                        <a:t>Descripción</a:t>
                      </a:r>
                      <a:endParaRPr lang="es-CO" sz="2000" dirty="0">
                        <a:solidFill>
                          <a:srgbClr val="FFFFFF"/>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631455631"/>
                  </a:ext>
                </a:extLst>
              </a:tr>
              <a:tr h="4882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1600" b="1" kern="1200" dirty="0">
                          <a:solidFill>
                            <a:schemeClr val="dk1"/>
                          </a:solidFill>
                          <a:effectLst/>
                          <a:latin typeface="+mn-lt"/>
                          <a:ea typeface="+mn-ea"/>
                          <a:cs typeface="+mn-cs"/>
                        </a:rPr>
                        <a:t>Estado de cuenta</a:t>
                      </a:r>
                      <a:endParaRPr lang="es-CO" sz="1600" b="1" kern="1200" dirty="0">
                        <a:solidFill>
                          <a:schemeClr val="dk1"/>
                        </a:solidFill>
                        <a:effectLst/>
                        <a:latin typeface="+mn-lt"/>
                        <a:ea typeface="+mn-ea"/>
                        <a:cs typeface="+mn-cs"/>
                      </a:endParaRP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kern="1200" dirty="0">
                          <a:solidFill>
                            <a:schemeClr val="dk1"/>
                          </a:solidFill>
                          <a:effectLst/>
                          <a:latin typeface="+mn-lt"/>
                          <a:ea typeface="+mn-ea"/>
                          <a:cs typeface="+mn-cs"/>
                        </a:rPr>
                        <a:t>Detalle de transacciones de cargo y pago asentadas en la cuenta del estudiante.</a:t>
                      </a:r>
                    </a:p>
                  </a:txBody>
                  <a:tcPr marL="36830" marR="36830" marT="36830" marB="36830" anchor="ctr"/>
                </a:tc>
                <a:extLst>
                  <a:ext uri="{0D108BD9-81ED-4DB2-BD59-A6C34878D82A}">
                    <a16:rowId xmlns:a16="http://schemas.microsoft.com/office/drawing/2014/main" val="1674607535"/>
                  </a:ext>
                </a:extLst>
              </a:tr>
              <a:tr h="570182">
                <a:tc>
                  <a:txBody>
                    <a:bodyPr/>
                    <a:lstStyle/>
                    <a:p>
                      <a:pPr>
                        <a:spcAft>
                          <a:spcPts val="0"/>
                        </a:spcAft>
                      </a:pPr>
                      <a:r>
                        <a:rPr lang="es-ES" sz="1600" b="1" dirty="0">
                          <a:effectLst/>
                        </a:rPr>
                        <a:t>Moroso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CO" sz="1600" kern="1200" dirty="0">
                          <a:solidFill>
                            <a:schemeClr val="dk1"/>
                          </a:solidFill>
                          <a:effectLst/>
                          <a:latin typeface="+mn-lt"/>
                          <a:ea typeface="+mn-ea"/>
                          <a:cs typeface="+mn-cs"/>
                        </a:rPr>
                        <a:t>Alumno con saldo vencido</a:t>
                      </a:r>
                    </a:p>
                  </a:txBody>
                  <a:tcPr marL="36830" marR="36830" marT="36830" marB="36830" anchor="ctr"/>
                </a:tc>
                <a:extLst>
                  <a:ext uri="{0D108BD9-81ED-4DB2-BD59-A6C34878D82A}">
                    <a16:rowId xmlns:a16="http://schemas.microsoft.com/office/drawing/2014/main" val="3417766030"/>
                  </a:ext>
                </a:extLst>
              </a:tr>
              <a:tr h="570182">
                <a:tc>
                  <a:txBody>
                    <a:bodyPr/>
                    <a:lstStyle/>
                    <a:p>
                      <a:pPr>
                        <a:spcAft>
                          <a:spcPts val="0"/>
                        </a:spcAft>
                      </a:pPr>
                      <a:r>
                        <a:rPr lang="es-ES" sz="1600" b="1" dirty="0">
                          <a:effectLst/>
                        </a:rPr>
                        <a:t>Exención</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Beca, descuento o condonación.</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986388875"/>
                  </a:ext>
                </a:extLst>
              </a:tr>
              <a:tr h="570182">
                <a:tc>
                  <a:txBody>
                    <a:bodyPr/>
                    <a:lstStyle/>
                    <a:p>
                      <a:pPr>
                        <a:spcAft>
                          <a:spcPts val="0"/>
                        </a:spcAft>
                      </a:pPr>
                      <a:r>
                        <a:rPr lang="es-ES" sz="1600" b="1" dirty="0">
                          <a:effectLst/>
                        </a:rPr>
                        <a:t>Contrato</a:t>
                      </a:r>
                    </a:p>
                  </a:txBody>
                  <a:tcPr marL="36830" marR="36830" marT="36830" marB="36830" anchor="ct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s-ES" sz="1600" dirty="0">
                          <a:effectLst/>
                        </a:rPr>
                        <a:t>Mecanismo mediante el cual una empresa o tercero asume la deuda parcial o total de un estudiante.</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959410008"/>
                  </a:ext>
                </a:extLst>
              </a:tr>
              <a:tr h="570182">
                <a:tc>
                  <a:txBody>
                    <a:bodyPr/>
                    <a:lstStyle/>
                    <a:p>
                      <a:pPr>
                        <a:spcAft>
                          <a:spcPts val="0"/>
                        </a:spcAft>
                      </a:pPr>
                      <a:r>
                        <a:rPr lang="es-ES" sz="1600" b="1" dirty="0">
                          <a:effectLst/>
                        </a:rPr>
                        <a:t>Plan de pagos</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dividir la deuda en un conjunto de parcialidades con nueva fecha de vencimiento, con recargos o sin recargos. </a:t>
                      </a:r>
                    </a:p>
                  </a:txBody>
                  <a:tcPr marL="36830" marR="36830" marT="36830" marB="36830" anchor="ctr"/>
                </a:tc>
                <a:extLst>
                  <a:ext uri="{0D108BD9-81ED-4DB2-BD59-A6C34878D82A}">
                    <a16:rowId xmlns:a16="http://schemas.microsoft.com/office/drawing/2014/main" val="3597378803"/>
                  </a:ext>
                </a:extLst>
              </a:tr>
              <a:tr h="570182">
                <a:tc>
                  <a:txBody>
                    <a:bodyPr/>
                    <a:lstStyle/>
                    <a:p>
                      <a:pPr>
                        <a:spcAft>
                          <a:spcPts val="0"/>
                        </a:spcAft>
                      </a:pPr>
                      <a:r>
                        <a:rPr lang="es-ES" sz="1600" b="1" dirty="0">
                          <a:effectLst/>
                        </a:rPr>
                        <a:t>Refinanciamiento </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Mecanismo automatizado que permite pactar nuevos convenios sobre la forma de pagar una deuda o plan de pagos que el deudor no ha podido cumplir.</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4130258538"/>
                  </a:ext>
                </a:extLst>
              </a:tr>
              <a:tr h="488266">
                <a:tc>
                  <a:txBody>
                    <a:bodyPr/>
                    <a:lstStyle/>
                    <a:p>
                      <a:pPr>
                        <a:spcAft>
                          <a:spcPts val="0"/>
                        </a:spcAft>
                      </a:pPr>
                      <a:r>
                        <a:rPr lang="es-ES" sz="1600" b="1" dirty="0">
                          <a:effectLst/>
                        </a:rPr>
                        <a:t>Reglas de cobro</a:t>
                      </a:r>
                      <a:endParaRPr lang="es-CO" sz="2000" b="1"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tc>
                  <a:txBody>
                    <a:bodyPr/>
                    <a:lstStyle/>
                    <a:p>
                      <a:pPr algn="just">
                        <a:spcAft>
                          <a:spcPts val="0"/>
                        </a:spcAft>
                      </a:pPr>
                      <a:r>
                        <a:rPr lang="es-ES" sz="1600" dirty="0">
                          <a:effectLst/>
                        </a:rPr>
                        <a:t>Lista de precios o tarifas.</a:t>
                      </a:r>
                      <a:endParaRPr lang="es-CO" sz="2000" dirty="0">
                        <a:solidFill>
                          <a:srgbClr val="414042"/>
                        </a:solidFill>
                        <a:effectLst/>
                        <a:latin typeface="Arial" panose="020B0604020202020204" pitchFamily="34" charset="0"/>
                        <a:ea typeface="MS PGothic" panose="020B0600070205080204" pitchFamily="34" charset="-128"/>
                        <a:cs typeface="Times New Roman" panose="02020603050405020304" pitchFamily="18" charset="0"/>
                      </a:endParaRPr>
                    </a:p>
                  </a:txBody>
                  <a:tcPr marL="36830" marR="36830" marT="36830" marB="36830" anchor="ctr"/>
                </a:tc>
                <a:extLst>
                  <a:ext uri="{0D108BD9-81ED-4DB2-BD59-A6C34878D82A}">
                    <a16:rowId xmlns:a16="http://schemas.microsoft.com/office/drawing/2014/main" val="2270006639"/>
                  </a:ext>
                </a:extLst>
              </a:tr>
            </a:tbl>
          </a:graphicData>
        </a:graphic>
      </p:graphicFrame>
      <p:sp>
        <p:nvSpPr>
          <p:cNvPr id="4" name="Título 3">
            <a:extLst>
              <a:ext uri="{FF2B5EF4-FFF2-40B4-BE49-F238E27FC236}">
                <a16:creationId xmlns:a16="http://schemas.microsoft.com/office/drawing/2014/main" id="{750CE1ED-E082-8249-F10E-9147F13B62BF}"/>
              </a:ext>
            </a:extLst>
          </p:cNvPr>
          <p:cNvSpPr txBox="1">
            <a:spLocks/>
          </p:cNvSpPr>
          <p:nvPr/>
        </p:nvSpPr>
        <p:spPr>
          <a:xfrm>
            <a:off x="854351" y="259264"/>
            <a:ext cx="10483297" cy="1011752"/>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000" dirty="0" err="1">
                <a:solidFill>
                  <a:schemeClr val="accent1"/>
                </a:solidFill>
              </a:rPr>
              <a:t>Overview</a:t>
            </a:r>
            <a:r>
              <a:rPr lang="es-ES_tradnl" sz="3000" dirty="0">
                <a:solidFill>
                  <a:schemeClr val="accent1"/>
                </a:solidFill>
              </a:rPr>
              <a:t>: </a:t>
            </a:r>
            <a:r>
              <a:rPr lang="es-CO" sz="3000" dirty="0"/>
              <a:t>Gestionar los conceptos de configuración de la cuenta corriente</a:t>
            </a:r>
          </a:p>
          <a:p>
            <a:r>
              <a:rPr lang="es-ES_tradnl" sz="3000" dirty="0"/>
              <a:t> </a:t>
            </a:r>
            <a:endParaRPr lang="es-CL" sz="3000" dirty="0"/>
          </a:p>
        </p:txBody>
      </p:sp>
    </p:spTree>
    <p:extLst>
      <p:ext uri="{BB962C8B-B14F-4D97-AF65-F5344CB8AC3E}">
        <p14:creationId xmlns:p14="http://schemas.microsoft.com/office/powerpoint/2010/main" val="645989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B0C0A5E0-00B9-E9CF-E290-EBABF4A0240F}"/>
              </a:ext>
            </a:extLst>
          </p:cNvPr>
          <p:cNvSpPr>
            <a:spLocks noGrp="1"/>
          </p:cNvSpPr>
          <p:nvPr>
            <p:ph type="body" sz="quarter" idx="10"/>
          </p:nvPr>
        </p:nvSpPr>
        <p:spPr>
          <a:xfrm>
            <a:off x="593477" y="2610303"/>
            <a:ext cx="11211427" cy="1637394"/>
          </a:xfrm>
        </p:spPr>
        <p:txBody>
          <a:bodyPr/>
          <a:lstStyle/>
          <a:p>
            <a:r>
              <a:rPr lang="es-CO" dirty="0"/>
              <a:t>Gestionar los conceptos de configuración de la cuenta corriente</a:t>
            </a:r>
          </a:p>
          <a:p>
            <a:endParaRPr lang="es-CO" dirty="0"/>
          </a:p>
        </p:txBody>
      </p:sp>
    </p:spTree>
    <p:extLst>
      <p:ext uri="{BB962C8B-B14F-4D97-AF65-F5344CB8AC3E}">
        <p14:creationId xmlns:p14="http://schemas.microsoft.com/office/powerpoint/2010/main" val="3854076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F25194F-9F56-1A8C-4C57-C42B58B54632}"/>
              </a:ext>
            </a:extLst>
          </p:cNvPr>
          <p:cNvSpPr txBox="1"/>
          <p:nvPr/>
        </p:nvSpPr>
        <p:spPr>
          <a:xfrm>
            <a:off x="576072" y="2328172"/>
            <a:ext cx="7815834" cy="1015663"/>
          </a:xfrm>
          <a:prstGeom prst="rect">
            <a:avLst/>
          </a:prstGeom>
          <a:noFill/>
        </p:spPr>
        <p:txBody>
          <a:bodyPr wrap="square">
            <a:spAutoFit/>
          </a:bodyPr>
          <a:lstStyle/>
          <a:p>
            <a:r>
              <a:rPr lang="en-US" sz="6000" b="1" dirty="0">
                <a:solidFill>
                  <a:schemeClr val="bg1"/>
                </a:solidFill>
              </a:rPr>
              <a:t>Configuraciones</a:t>
            </a:r>
          </a:p>
        </p:txBody>
      </p:sp>
      <p:sp>
        <p:nvSpPr>
          <p:cNvPr id="8" name="Text Placeholder 16">
            <a:extLst>
              <a:ext uri="{FF2B5EF4-FFF2-40B4-BE49-F238E27FC236}">
                <a16:creationId xmlns:a16="http://schemas.microsoft.com/office/drawing/2014/main" id="{F33FC24C-B626-DA0D-0894-7425DDEE220C}"/>
              </a:ext>
            </a:extLst>
          </p:cNvPr>
          <p:cNvSpPr txBox="1">
            <a:spLocks/>
          </p:cNvSpPr>
          <p:nvPr/>
        </p:nvSpPr>
        <p:spPr>
          <a:xfrm>
            <a:off x="649223" y="4621340"/>
            <a:ext cx="7454279" cy="448056"/>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Cuentas por Cobrar del Estudiante</a:t>
            </a:r>
            <a:endParaRPr lang="en-US" sz="2000" b="1" dirty="0">
              <a:solidFill>
                <a:schemeClr val="bg1"/>
              </a:solidFill>
            </a:endParaRPr>
          </a:p>
        </p:txBody>
      </p:sp>
      <p:sp>
        <p:nvSpPr>
          <p:cNvPr id="2" name="Text Placeholder 16">
            <a:extLst>
              <a:ext uri="{FF2B5EF4-FFF2-40B4-BE49-F238E27FC236}">
                <a16:creationId xmlns:a16="http://schemas.microsoft.com/office/drawing/2014/main" id="{2E275025-1CB2-5813-7816-A00E7A7CF14B}"/>
              </a:ext>
            </a:extLst>
          </p:cNvPr>
          <p:cNvSpPr txBox="1">
            <a:spLocks/>
          </p:cNvSpPr>
          <p:nvPr/>
        </p:nvSpPr>
        <p:spPr>
          <a:xfrm>
            <a:off x="649223" y="3238446"/>
            <a:ext cx="7815834" cy="551439"/>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Definir los conceptos de cobro al estudiante   </a:t>
            </a:r>
            <a:endParaRPr lang="en-US" sz="2000" b="1" dirty="0">
              <a:solidFill>
                <a:schemeClr val="bg1"/>
              </a:solidFill>
            </a:endParaRPr>
          </a:p>
        </p:txBody>
      </p:sp>
    </p:spTree>
    <p:extLst>
      <p:ext uri="{BB962C8B-B14F-4D97-AF65-F5344CB8AC3E}">
        <p14:creationId xmlns:p14="http://schemas.microsoft.com/office/powerpoint/2010/main" val="198297216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F1248B-7172-2538-BB3C-DF726B27ADA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2B8C541-4979-C3B4-5449-B1A02861B566}"/>
              </a:ext>
            </a:extLst>
          </p:cNvPr>
          <p:cNvSpPr txBox="1">
            <a:spLocks/>
          </p:cNvSpPr>
          <p:nvPr/>
        </p:nvSpPr>
        <p:spPr>
          <a:xfrm>
            <a:off x="-237744" y="140678"/>
            <a:ext cx="11189730" cy="61691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ctr"/>
            <a:r>
              <a:rPr lang="es-ES_tradnl" sz="3200" dirty="0">
                <a:solidFill>
                  <a:schemeClr val="accent1"/>
                </a:solidFill>
              </a:rPr>
              <a:t>Configuraciones: </a:t>
            </a:r>
            <a:r>
              <a:rPr lang="es-ES_tradnl" sz="3200" dirty="0"/>
              <a:t>TGACTRL </a:t>
            </a:r>
            <a:r>
              <a:rPr lang="es-CL" sz="3200" dirty="0"/>
              <a:t>Control de cobro de CXC</a:t>
            </a:r>
            <a:endParaRPr lang="es-CL" dirty="0"/>
          </a:p>
        </p:txBody>
      </p:sp>
      <p:sp>
        <p:nvSpPr>
          <p:cNvPr id="3" name="Rectángulo: esquinas redondeadas 2">
            <a:extLst>
              <a:ext uri="{FF2B5EF4-FFF2-40B4-BE49-F238E27FC236}">
                <a16:creationId xmlns:a16="http://schemas.microsoft.com/office/drawing/2014/main" id="{B7D8E67F-4688-A213-B551-5BC8ACDBA1DB}"/>
              </a:ext>
            </a:extLst>
          </p:cNvPr>
          <p:cNvSpPr/>
          <p:nvPr/>
        </p:nvSpPr>
        <p:spPr>
          <a:xfrm>
            <a:off x="814700" y="4116872"/>
            <a:ext cx="10562599" cy="215511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Parámetros generales de configuración de cuenta corriente. Los campos se describen a continuación:</a:t>
            </a:r>
          </a:p>
          <a:p>
            <a:pPr marL="171450" indent="-171450" algn="just">
              <a:buFont typeface="Arial" panose="020B0604020202020204" pitchFamily="34" charset="0"/>
              <a:buChar char="•"/>
            </a:pPr>
            <a:r>
              <a:rPr lang="es-CL" sz="1200" b="1" dirty="0"/>
              <a:t>Clase de regla predefinida: </a:t>
            </a:r>
            <a:r>
              <a:rPr lang="es-CL" sz="1200" dirty="0"/>
              <a:t>Se utiliza cuando la institución utiliza banner finanzas.</a:t>
            </a:r>
          </a:p>
          <a:p>
            <a:pPr marL="171450" indent="-171450" algn="just">
              <a:buFont typeface="Arial" panose="020B0604020202020204" pitchFamily="34" charset="0"/>
              <a:buChar char="•"/>
            </a:pPr>
            <a:r>
              <a:rPr lang="es-CL" sz="1200" b="1" dirty="0"/>
              <a:t>Impresión automática del recibo: </a:t>
            </a:r>
            <a:r>
              <a:rPr lang="es-ES" sz="1200" dirty="0"/>
              <a:t>Utilizado para controlar la impresión automática de los recibos (cuando está marcado) y la impresión manual de los recibos (cuando no está marcado).</a:t>
            </a:r>
          </a:p>
          <a:p>
            <a:pPr marL="171450" indent="-171450" algn="just">
              <a:buFont typeface="Arial" panose="020B0604020202020204" pitchFamily="34" charset="0"/>
              <a:buChar char="•"/>
            </a:pPr>
            <a:r>
              <a:rPr lang="es-ES" sz="1200" b="1" dirty="0"/>
              <a:t>Imponer restricciones en perfil de usuario</a:t>
            </a:r>
            <a:r>
              <a:rPr lang="es-ES" sz="1200" dirty="0"/>
              <a:t>: El cuadro Imponer restricciones en perfil de usuario debe seleccionarse para imponer restricciones y no marcarlo cuando no se imponen restricciones.</a:t>
            </a:r>
          </a:p>
          <a:p>
            <a:pPr marL="171450" indent="-171450" algn="just">
              <a:buFont typeface="Arial" panose="020B0604020202020204" pitchFamily="34" charset="0"/>
              <a:buChar char="•"/>
            </a:pPr>
            <a:r>
              <a:rPr lang="es-CL" sz="1200" b="1" dirty="0"/>
              <a:t>Asignar cajeros a supervisor: </a:t>
            </a:r>
            <a:r>
              <a:rPr lang="es-ES" sz="1200" dirty="0"/>
              <a:t>Asegura que los supervisores solo pueden ajustar las sesiones de los cajeros asignados a ese supervisor. Cuando este cuadro está seleccionado y el usuario ha sido designado como un supervisor en la página «Definición del perfil del usuario» (TGAUPRF), los cajeros asignados al usuario deben establecerse en TGAUPRF.</a:t>
            </a:r>
          </a:p>
        </p:txBody>
      </p:sp>
      <p:pic>
        <p:nvPicPr>
          <p:cNvPr id="11" name="Imagen 10">
            <a:extLst>
              <a:ext uri="{FF2B5EF4-FFF2-40B4-BE49-F238E27FC236}">
                <a16:creationId xmlns:a16="http://schemas.microsoft.com/office/drawing/2014/main" id="{6AC8B147-609D-436A-D131-0D6BF10D6629}"/>
              </a:ext>
            </a:extLst>
          </p:cNvPr>
          <p:cNvPicPr>
            <a:picLocks noChangeAspect="1"/>
          </p:cNvPicPr>
          <p:nvPr/>
        </p:nvPicPr>
        <p:blipFill>
          <a:blip r:embed="rId2"/>
          <a:stretch>
            <a:fillRect/>
          </a:stretch>
        </p:blipFill>
        <p:spPr>
          <a:xfrm>
            <a:off x="739772" y="852991"/>
            <a:ext cx="10712456" cy="3133421"/>
          </a:xfrm>
          <a:prstGeom prst="rect">
            <a:avLst/>
          </a:prstGeom>
        </p:spPr>
      </p:pic>
    </p:spTree>
    <p:extLst>
      <p:ext uri="{BB962C8B-B14F-4D97-AF65-F5344CB8AC3E}">
        <p14:creationId xmlns:p14="http://schemas.microsoft.com/office/powerpoint/2010/main" val="41706247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C66FF-293D-CBE8-25D7-AE3A7D57E24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AEA1A3B5-1A96-BB0C-524E-D1BA2341CD55}"/>
              </a:ext>
            </a:extLst>
          </p:cNvPr>
          <p:cNvSpPr txBox="1">
            <a:spLocks/>
          </p:cNvSpPr>
          <p:nvPr/>
        </p:nvSpPr>
        <p:spPr>
          <a:xfrm>
            <a:off x="85344" y="192086"/>
            <a:ext cx="10674618" cy="616915"/>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TGACTRL </a:t>
            </a:r>
            <a:r>
              <a:rPr lang="es-CL" dirty="0">
                <a:solidFill>
                  <a:schemeClr val="tx1"/>
                </a:solidFill>
              </a:rPr>
              <a:t>Control de cobro de CXC </a:t>
            </a:r>
            <a:br>
              <a:rPr lang="es-CL" dirty="0"/>
            </a:br>
            <a:endParaRPr lang="es-CL" dirty="0"/>
          </a:p>
        </p:txBody>
      </p:sp>
      <p:sp>
        <p:nvSpPr>
          <p:cNvPr id="3" name="Rectángulo: esquinas redondeadas 2">
            <a:extLst>
              <a:ext uri="{FF2B5EF4-FFF2-40B4-BE49-F238E27FC236}">
                <a16:creationId xmlns:a16="http://schemas.microsoft.com/office/drawing/2014/main" id="{4B2202AE-9420-2602-93D9-64AECC94362A}"/>
              </a:ext>
            </a:extLst>
          </p:cNvPr>
          <p:cNvSpPr/>
          <p:nvPr/>
        </p:nvSpPr>
        <p:spPr>
          <a:xfrm>
            <a:off x="855732" y="4434840"/>
            <a:ext cx="10562400" cy="192261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endParaRPr lang="es-ES" sz="1200" b="1" dirty="0"/>
          </a:p>
          <a:p>
            <a:pPr marL="171450" indent="-171450" algn="just">
              <a:buFont typeface="Arial" panose="020B0604020202020204" pitchFamily="34" charset="0"/>
              <a:buChar char="•"/>
            </a:pPr>
            <a:r>
              <a:rPr lang="es-ES" sz="1200" b="1" dirty="0">
                <a:solidFill>
                  <a:schemeClr val="bg1"/>
                </a:solidFill>
              </a:rPr>
              <a:t>Imprimir los reportes con los montos ampliados: </a:t>
            </a:r>
            <a:r>
              <a:rPr lang="es-ES" sz="1200" dirty="0">
                <a:solidFill>
                  <a:schemeClr val="bg1"/>
                </a:solidFill>
              </a:rPr>
              <a:t>Marque este indicador para habilitar la función de números grandes. </a:t>
            </a:r>
          </a:p>
          <a:p>
            <a:pPr marL="171450" indent="-171450" algn="just">
              <a:buFont typeface="Arial" panose="020B0604020202020204" pitchFamily="34" charset="0"/>
              <a:buChar char="•"/>
            </a:pPr>
            <a:r>
              <a:rPr lang="es-ES" sz="1200" b="1" dirty="0"/>
              <a:t>Establecer la dirección como requisito para las transacciones misceláneas: </a:t>
            </a:r>
            <a:r>
              <a:rPr lang="es-ES" sz="1200" dirty="0"/>
              <a:t>Provee la opción ya sea de requerir o no requerir que una dirección se ingrese cuando es creada una transacción miscelánea TSAMISC. Si es seleccionado el cuadro, entonces ambos campos, el nombre y la primera línea de la dirección deben ser ingresados.</a:t>
            </a:r>
          </a:p>
          <a:p>
            <a:pPr marL="171450" indent="-171450" algn="just">
              <a:buFont typeface="Arial" panose="020B0604020202020204" pitchFamily="34" charset="0"/>
              <a:buChar char="•"/>
            </a:pPr>
            <a:r>
              <a:rPr lang="es-ES" sz="1200" b="1" dirty="0"/>
              <a:t>Almacenar los detalles de la alimentación a contabilidad en TGIFEDH</a:t>
            </a:r>
            <a:r>
              <a:rPr lang="es-ES" sz="1200" dirty="0"/>
              <a:t>: Habilite este indicador para activar la opción de almacenar datos alimentados por el proceso «Alimentación contable (TGRFEED)» a la tabla de captura de transacciones financieras (GURFEED). Cuando este indicador está habilitado, los datos de la alimentación se muestran en el detalle de la alimentación contable en la página «Historial de detalles de la alimentación a contabilidad (TGIFEDH)».</a:t>
            </a:r>
          </a:p>
          <a:p>
            <a:pPr algn="just"/>
            <a:endParaRPr lang="es-ES" sz="1200" dirty="0"/>
          </a:p>
          <a:p>
            <a:pPr marL="171450" indent="-171450" algn="just">
              <a:buFont typeface="Arial" panose="020B0604020202020204" pitchFamily="34" charset="0"/>
              <a:buChar char="•"/>
            </a:pPr>
            <a:endParaRPr lang="es-CL" sz="1200" dirty="0"/>
          </a:p>
        </p:txBody>
      </p:sp>
      <p:pic>
        <p:nvPicPr>
          <p:cNvPr id="11" name="Imagen 10">
            <a:extLst>
              <a:ext uri="{FF2B5EF4-FFF2-40B4-BE49-F238E27FC236}">
                <a16:creationId xmlns:a16="http://schemas.microsoft.com/office/drawing/2014/main" id="{278A2273-D82F-C2CB-9440-5E6FE9890C66}"/>
              </a:ext>
            </a:extLst>
          </p:cNvPr>
          <p:cNvPicPr>
            <a:picLocks noChangeAspect="1"/>
          </p:cNvPicPr>
          <p:nvPr/>
        </p:nvPicPr>
        <p:blipFill>
          <a:blip r:embed="rId2"/>
          <a:stretch>
            <a:fillRect/>
          </a:stretch>
        </p:blipFill>
        <p:spPr>
          <a:xfrm>
            <a:off x="855732" y="1117304"/>
            <a:ext cx="10448868" cy="3051488"/>
          </a:xfrm>
          <a:prstGeom prst="rect">
            <a:avLst/>
          </a:prstGeom>
        </p:spPr>
      </p:pic>
    </p:spTree>
    <p:extLst>
      <p:ext uri="{BB962C8B-B14F-4D97-AF65-F5344CB8AC3E}">
        <p14:creationId xmlns:p14="http://schemas.microsoft.com/office/powerpoint/2010/main" val="4310199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B90B9-AF98-C0BD-3434-24480BFD9420}"/>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CA70EEF-3A2A-27A5-A89C-B9D4826196B1}"/>
              </a:ext>
            </a:extLst>
          </p:cNvPr>
          <p:cNvSpPr txBox="1">
            <a:spLocks/>
          </p:cNvSpPr>
          <p:nvPr/>
        </p:nvSpPr>
        <p:spPr>
          <a:xfrm>
            <a:off x="734250" y="158965"/>
            <a:ext cx="10674618" cy="616915"/>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TGACTRL </a:t>
            </a:r>
            <a:r>
              <a:rPr lang="es-CL" dirty="0">
                <a:solidFill>
                  <a:schemeClr val="tx1"/>
                </a:solidFill>
              </a:rPr>
              <a:t>Control de cobro de CXC</a:t>
            </a:r>
            <a:br>
              <a:rPr lang="es-CL" dirty="0"/>
            </a:br>
            <a:endParaRPr lang="es-CL" dirty="0"/>
          </a:p>
        </p:txBody>
      </p:sp>
      <p:sp>
        <p:nvSpPr>
          <p:cNvPr id="3" name="Rectángulo: esquinas redondeadas 2">
            <a:extLst>
              <a:ext uri="{FF2B5EF4-FFF2-40B4-BE49-F238E27FC236}">
                <a16:creationId xmlns:a16="http://schemas.microsoft.com/office/drawing/2014/main" id="{8662FBEA-969D-0051-F99E-11AEA1FCBD89}"/>
              </a:ext>
            </a:extLst>
          </p:cNvPr>
          <p:cNvSpPr/>
          <p:nvPr/>
        </p:nvSpPr>
        <p:spPr>
          <a:xfrm>
            <a:off x="886854" y="4178808"/>
            <a:ext cx="10369410" cy="178444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L" sz="1200" b="1" dirty="0"/>
              <a:t>Alimentar anteriores por:</a:t>
            </a:r>
            <a:r>
              <a:rPr lang="es-ES" sz="1200" dirty="0"/>
              <a:t> Indica si las transacciones con fecha anterior serán alimentadas utilizando la fecha de transacción o la fecha del sistema. El valor predefinido es la fecha de la transacción. Las opciones son:</a:t>
            </a:r>
          </a:p>
          <a:p>
            <a:pPr algn="just"/>
            <a:r>
              <a:rPr lang="es-ES" sz="1200" i="1" dirty="0"/>
              <a:t>Fecha de transacción: L</a:t>
            </a:r>
            <a:r>
              <a:rPr lang="es-ES" sz="1200" dirty="0"/>
              <a:t>as transacciones con fecha anterior se capturan utilizando la fecha de transacción.</a:t>
            </a:r>
          </a:p>
          <a:p>
            <a:pPr algn="just"/>
            <a:r>
              <a:rPr lang="es-ES" sz="1200" i="1" dirty="0"/>
              <a:t>Fecha del sistema: L</a:t>
            </a:r>
            <a:r>
              <a:rPr lang="es-ES" sz="1200" dirty="0"/>
              <a:t>as transacciones con fecha anterior se alimentan utilizando la fecha del sistema.</a:t>
            </a:r>
          </a:p>
          <a:p>
            <a:pPr algn="just"/>
            <a:r>
              <a:rPr lang="es-ES" sz="1200" dirty="0"/>
              <a:t>Si selecciona Fecha de transacción, la fecha de transacción para ambos, </a:t>
            </a:r>
            <a:r>
              <a:rPr lang="es-ES" sz="1200" dirty="0" err="1"/>
              <a:t>CxC</a:t>
            </a:r>
            <a:r>
              <a:rPr lang="es-ES" sz="1200" dirty="0"/>
              <a:t> y Finanzas, siempre será la misma.</a:t>
            </a:r>
          </a:p>
          <a:p>
            <a:pPr algn="just"/>
            <a:r>
              <a:rPr lang="es-ES" sz="1200" dirty="0"/>
              <a:t>Si selecciona Fecha del sistema entonces la fecha de transacción para </a:t>
            </a:r>
            <a:r>
              <a:rPr lang="es-ES" sz="1200" dirty="0" err="1"/>
              <a:t>CxC</a:t>
            </a:r>
            <a:r>
              <a:rPr lang="es-ES" sz="1200" dirty="0"/>
              <a:t> y para Finanzas no puede ser la misma.</a:t>
            </a:r>
          </a:p>
        </p:txBody>
      </p:sp>
      <p:pic>
        <p:nvPicPr>
          <p:cNvPr id="8" name="Imagen 7">
            <a:extLst>
              <a:ext uri="{FF2B5EF4-FFF2-40B4-BE49-F238E27FC236}">
                <a16:creationId xmlns:a16="http://schemas.microsoft.com/office/drawing/2014/main" id="{F1D28F96-2A57-898A-4BC7-773D6A98CF94}"/>
              </a:ext>
            </a:extLst>
          </p:cNvPr>
          <p:cNvPicPr>
            <a:picLocks noChangeAspect="1"/>
          </p:cNvPicPr>
          <p:nvPr/>
        </p:nvPicPr>
        <p:blipFill>
          <a:blip r:embed="rId2"/>
          <a:stretch>
            <a:fillRect/>
          </a:stretch>
        </p:blipFill>
        <p:spPr>
          <a:xfrm>
            <a:off x="921946" y="967904"/>
            <a:ext cx="10348107" cy="3018880"/>
          </a:xfrm>
          <a:prstGeom prst="rect">
            <a:avLst/>
          </a:prstGeom>
        </p:spPr>
      </p:pic>
    </p:spTree>
    <p:extLst>
      <p:ext uri="{BB962C8B-B14F-4D97-AF65-F5344CB8AC3E}">
        <p14:creationId xmlns:p14="http://schemas.microsoft.com/office/powerpoint/2010/main" val="2077119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373EDB-6273-46EF-5130-A72C38B0ABA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0440B604-77CC-1901-E09D-E15D1D8134C9}"/>
              </a:ext>
            </a:extLst>
          </p:cNvPr>
          <p:cNvSpPr txBox="1">
            <a:spLocks/>
          </p:cNvSpPr>
          <p:nvPr/>
        </p:nvSpPr>
        <p:spPr>
          <a:xfrm>
            <a:off x="435437" y="141115"/>
            <a:ext cx="10674618" cy="462826"/>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TGACTRL </a:t>
            </a:r>
            <a:r>
              <a:rPr lang="es-CL" dirty="0">
                <a:solidFill>
                  <a:schemeClr val="tx1"/>
                </a:solidFill>
              </a:rPr>
              <a:t>Control de cobro de CXC</a:t>
            </a:r>
            <a:endParaRPr lang="es-CL" dirty="0"/>
          </a:p>
        </p:txBody>
      </p:sp>
      <p:sp>
        <p:nvSpPr>
          <p:cNvPr id="3" name="Rectángulo: esquinas redondeadas 2">
            <a:extLst>
              <a:ext uri="{FF2B5EF4-FFF2-40B4-BE49-F238E27FC236}">
                <a16:creationId xmlns:a16="http://schemas.microsoft.com/office/drawing/2014/main" id="{17354FD3-8171-6AE0-E0B3-B602E0837439}"/>
              </a:ext>
            </a:extLst>
          </p:cNvPr>
          <p:cNvSpPr/>
          <p:nvPr/>
        </p:nvSpPr>
        <p:spPr>
          <a:xfrm>
            <a:off x="910074" y="4134748"/>
            <a:ext cx="10674618" cy="235072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L" sz="1200" b="1" dirty="0"/>
              <a:t>Alimentar transacciones vigentes futuras</a:t>
            </a:r>
            <a:r>
              <a:rPr lang="es-ES" sz="1200" b="1" dirty="0"/>
              <a:t>: </a:t>
            </a:r>
            <a:r>
              <a:rPr lang="es-ES" sz="1200" dirty="0"/>
              <a:t>Designa que las transacciones se capturan por fecha de transacción o por fecha del sistema cuando el cuadro está seleccionado y cuando no está marcado no son capturadas. Seleccione la fecha de transacción o fecha del sistema usando el grupo de opciones de Alimentar futuras usando.</a:t>
            </a:r>
          </a:p>
          <a:p>
            <a:pPr marL="171450" indent="-171450" algn="just">
              <a:buFont typeface="Arial" panose="020B0604020202020204" pitchFamily="34" charset="0"/>
              <a:buChar char="•"/>
            </a:pPr>
            <a:r>
              <a:rPr lang="es-ES" sz="1200" b="1" dirty="0"/>
              <a:t>Alimentar futuras usando: </a:t>
            </a:r>
            <a:r>
              <a:rPr lang="es-ES" sz="1200" dirty="0"/>
              <a:t>El grupo de opción Alimentar futuras usando indica si las transacciones con fechas futuras serán capturadas a Banner Finanzas (u otro sistema de finanzas) utilizando la fecha del sistema o la fecha de transacción. El valor predefinido es la fecha de la transacción.</a:t>
            </a:r>
          </a:p>
          <a:p>
            <a:pPr algn="just"/>
            <a:r>
              <a:rPr lang="es-ES" sz="1200" dirty="0"/>
              <a:t>Las opciones son:</a:t>
            </a:r>
          </a:p>
          <a:p>
            <a:pPr algn="just"/>
            <a:r>
              <a:rPr lang="es-ES" sz="1200" i="1" dirty="0"/>
              <a:t>Fecha de transacción</a:t>
            </a:r>
            <a:r>
              <a:rPr lang="es-ES" sz="1200" dirty="0"/>
              <a:t>: Las transacciones con fecha futura serán capturadas utilizando la fecha de transacción.</a:t>
            </a:r>
          </a:p>
          <a:p>
            <a:pPr algn="just"/>
            <a:r>
              <a:rPr lang="es-ES" sz="1200" i="1" dirty="0"/>
              <a:t>Fecha de sistema: </a:t>
            </a:r>
            <a:r>
              <a:rPr lang="es-ES" sz="1200" dirty="0"/>
              <a:t>Las transacciones con fecha futura serán alimentadas utilizando la fecha del sistema.</a:t>
            </a:r>
          </a:p>
          <a:p>
            <a:pPr marL="171450" indent="-171450" algn="just">
              <a:buFont typeface="Arial" panose="020B0604020202020204" pitchFamily="34" charset="0"/>
              <a:buChar char="•"/>
            </a:pPr>
            <a:r>
              <a:rPr lang="es-ES" sz="1200" b="1" dirty="0"/>
              <a:t>Contraseña de retención: </a:t>
            </a:r>
            <a:r>
              <a:rPr lang="es-ES" sz="1200" dirty="0"/>
              <a:t>Esta contraseña se usa para sobrepasar las retenciones para permitir el procesamiento de la cuenta corriente.</a:t>
            </a:r>
          </a:p>
          <a:p>
            <a:pPr algn="just"/>
            <a:endParaRPr lang="es-ES" sz="1200" dirty="0"/>
          </a:p>
        </p:txBody>
      </p:sp>
      <p:pic>
        <p:nvPicPr>
          <p:cNvPr id="8" name="Imagen 7">
            <a:extLst>
              <a:ext uri="{FF2B5EF4-FFF2-40B4-BE49-F238E27FC236}">
                <a16:creationId xmlns:a16="http://schemas.microsoft.com/office/drawing/2014/main" id="{78A47E5F-9CFB-F2AB-F16F-723C50EFDF04}"/>
              </a:ext>
            </a:extLst>
          </p:cNvPr>
          <p:cNvPicPr>
            <a:picLocks noChangeAspect="1"/>
          </p:cNvPicPr>
          <p:nvPr/>
        </p:nvPicPr>
        <p:blipFill>
          <a:blip r:embed="rId2"/>
          <a:stretch>
            <a:fillRect/>
          </a:stretch>
        </p:blipFill>
        <p:spPr>
          <a:xfrm>
            <a:off x="1042416" y="984317"/>
            <a:ext cx="10107168" cy="2961709"/>
          </a:xfrm>
          <a:prstGeom prst="rect">
            <a:avLst/>
          </a:prstGeom>
        </p:spPr>
      </p:pic>
    </p:spTree>
    <p:extLst>
      <p:ext uri="{BB962C8B-B14F-4D97-AF65-F5344CB8AC3E}">
        <p14:creationId xmlns:p14="http://schemas.microsoft.com/office/powerpoint/2010/main" val="3851973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6907F-5538-6BE4-2F52-A9B816A702B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5BA4820-48C0-5926-E8E1-BB252A3CF05E}"/>
              </a:ext>
            </a:extLst>
          </p:cNvPr>
          <p:cNvSpPr txBox="1">
            <a:spLocks/>
          </p:cNvSpPr>
          <p:nvPr/>
        </p:nvSpPr>
        <p:spPr>
          <a:xfrm>
            <a:off x="758690" y="343204"/>
            <a:ext cx="10674618" cy="616915"/>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TGACTRL </a:t>
            </a:r>
            <a:r>
              <a:rPr lang="es-CL" dirty="0">
                <a:solidFill>
                  <a:schemeClr val="tx1"/>
                </a:solidFill>
              </a:rPr>
              <a:t>Control de cobro de CXC</a:t>
            </a:r>
            <a:endParaRPr lang="es-CL" b="0" dirty="0"/>
          </a:p>
        </p:txBody>
      </p:sp>
      <p:sp>
        <p:nvSpPr>
          <p:cNvPr id="3" name="Rectángulo: esquinas redondeadas 2">
            <a:extLst>
              <a:ext uri="{FF2B5EF4-FFF2-40B4-BE49-F238E27FC236}">
                <a16:creationId xmlns:a16="http://schemas.microsoft.com/office/drawing/2014/main" id="{878E1589-F9D0-014E-C959-7AC0DB65B44F}"/>
              </a:ext>
            </a:extLst>
          </p:cNvPr>
          <p:cNvSpPr/>
          <p:nvPr/>
        </p:nvSpPr>
        <p:spPr>
          <a:xfrm>
            <a:off x="910074" y="4251960"/>
            <a:ext cx="10437630" cy="223351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L" sz="1200" b="1" dirty="0"/>
              <a:t>Prefijo de factura: </a:t>
            </a:r>
            <a:r>
              <a:rPr lang="es-ES" sz="1200" dirty="0"/>
              <a:t>Este carácter alfabético precede a todas las facturas generadas por el sistema.</a:t>
            </a:r>
          </a:p>
          <a:p>
            <a:pPr algn="just"/>
            <a:r>
              <a:rPr lang="es-CL" sz="1200" dirty="0"/>
              <a:t>Meses de historial de estado de cuenta</a:t>
            </a:r>
            <a:r>
              <a:rPr lang="es-ES" sz="1200" dirty="0"/>
              <a:t>: Número de meses anteriores en los que se puede consultar el estado de cuenta en Self-Service. Los valores válidos son 0 - 99 meses.</a:t>
            </a:r>
          </a:p>
          <a:p>
            <a:pPr marL="171450" indent="-171450" algn="just">
              <a:buFont typeface="Arial" panose="020B0604020202020204" pitchFamily="34" charset="0"/>
              <a:buChar char="•"/>
            </a:pPr>
            <a:r>
              <a:rPr lang="es-ES" sz="1200" b="1" dirty="0"/>
              <a:t>Meses de historia del pago: </a:t>
            </a:r>
            <a:r>
              <a:rPr lang="es-ES" sz="1200" dirty="0"/>
              <a:t>El número de meses en los que se puede consultar el historial de pagos en </a:t>
            </a:r>
            <a:r>
              <a:rPr lang="es-ES" sz="1200" dirty="0" err="1"/>
              <a:t>CxC</a:t>
            </a:r>
            <a:r>
              <a:rPr lang="es-ES" sz="1200" dirty="0"/>
              <a:t> y en el autoservicio. Los valores válidos son 0 - 99 meses. Un valor de 0 muestra los pagos hechos sólo en el mes actual.</a:t>
            </a:r>
          </a:p>
          <a:p>
            <a:pPr algn="just"/>
            <a:r>
              <a:rPr lang="es-ES" sz="1200" dirty="0"/>
              <a:t>Pagos desplegará lo que tengan una fecha de captura que es mayor o igual a la fecha de corte.</a:t>
            </a:r>
          </a:p>
          <a:p>
            <a:pPr algn="just"/>
            <a:r>
              <a:rPr lang="es-ES" sz="1200" dirty="0"/>
              <a:t>Los alumnos y el personal de apoyo verán el mismo historial de pago.</a:t>
            </a:r>
          </a:p>
          <a:p>
            <a:pPr marL="171450" indent="-171450" algn="just">
              <a:buFont typeface="Arial" panose="020B0604020202020204" pitchFamily="34" charset="0"/>
              <a:buChar char="•"/>
            </a:pPr>
            <a:r>
              <a:rPr lang="es-CL" sz="1200" b="1" dirty="0"/>
              <a:t>Reembolsos procesados por terceros integrados: </a:t>
            </a:r>
            <a:r>
              <a:rPr lang="es-ES" sz="1200" dirty="0"/>
              <a:t>Indica si los reembolsos procesados por un tercero integrado están habilitados. Los valores son Y (habilitado) y N (no habilitado).</a:t>
            </a:r>
          </a:p>
        </p:txBody>
      </p:sp>
      <p:pic>
        <p:nvPicPr>
          <p:cNvPr id="8" name="Imagen 7">
            <a:extLst>
              <a:ext uri="{FF2B5EF4-FFF2-40B4-BE49-F238E27FC236}">
                <a16:creationId xmlns:a16="http://schemas.microsoft.com/office/drawing/2014/main" id="{FD8BF002-0468-A8DC-28A9-78AC78044093}"/>
              </a:ext>
            </a:extLst>
          </p:cNvPr>
          <p:cNvPicPr>
            <a:picLocks noChangeAspect="1"/>
          </p:cNvPicPr>
          <p:nvPr/>
        </p:nvPicPr>
        <p:blipFill>
          <a:blip r:embed="rId2"/>
          <a:stretch>
            <a:fillRect/>
          </a:stretch>
        </p:blipFill>
        <p:spPr>
          <a:xfrm>
            <a:off x="983638" y="1110459"/>
            <a:ext cx="10224723" cy="2991161"/>
          </a:xfrm>
          <a:prstGeom prst="rect">
            <a:avLst/>
          </a:prstGeom>
        </p:spPr>
      </p:pic>
    </p:spTree>
    <p:extLst>
      <p:ext uri="{BB962C8B-B14F-4D97-AF65-F5344CB8AC3E}">
        <p14:creationId xmlns:p14="http://schemas.microsoft.com/office/powerpoint/2010/main" val="29346688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3D109-C26B-0864-2A49-5213D508195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DF52B32D-C505-FA96-7118-6335ED78D0AB}"/>
              </a:ext>
            </a:extLst>
          </p:cNvPr>
          <p:cNvSpPr txBox="1">
            <a:spLocks/>
          </p:cNvSpPr>
          <p:nvPr/>
        </p:nvSpPr>
        <p:spPr>
          <a:xfrm>
            <a:off x="588264" y="232118"/>
            <a:ext cx="10674618" cy="616915"/>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TGACTRL </a:t>
            </a:r>
            <a:r>
              <a:rPr lang="es-CL" dirty="0">
                <a:solidFill>
                  <a:schemeClr val="tx1"/>
                </a:solidFill>
              </a:rPr>
              <a:t>Control de cobro de CXC</a:t>
            </a:r>
            <a:endParaRPr lang="es-CL" b="0" dirty="0"/>
          </a:p>
        </p:txBody>
      </p:sp>
      <p:sp>
        <p:nvSpPr>
          <p:cNvPr id="10" name="Rectángulo: esquinas redondeadas 9">
            <a:extLst>
              <a:ext uri="{FF2B5EF4-FFF2-40B4-BE49-F238E27FC236}">
                <a16:creationId xmlns:a16="http://schemas.microsoft.com/office/drawing/2014/main" id="{BC50EB9B-7C37-D14B-D9D9-AF57F6D4F9C1}"/>
              </a:ext>
            </a:extLst>
          </p:cNvPr>
          <p:cNvSpPr/>
          <p:nvPr/>
        </p:nvSpPr>
        <p:spPr>
          <a:xfrm>
            <a:off x="743712" y="3520440"/>
            <a:ext cx="10774680" cy="294436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b="1" dirty="0"/>
              <a:t>Habilitar multidivisa: </a:t>
            </a:r>
            <a:r>
              <a:rPr lang="es-ES" sz="1200" dirty="0"/>
              <a:t>Marque este indicador para habilitar la función «Multidivisa». Cuando está habilitada, el campo de divisa se muestra en las páginas, según corresponda, y permite a los usuarios elegir la divisa de las transacciones que desean consultar e ingresar.</a:t>
            </a:r>
          </a:p>
          <a:p>
            <a:pPr marL="171450" indent="-171450" algn="just">
              <a:buFont typeface="Arial" panose="020B0604020202020204" pitchFamily="34" charset="0"/>
              <a:buChar char="•"/>
            </a:pPr>
            <a:r>
              <a:rPr lang="es-ES" sz="1200" b="1" dirty="0"/>
              <a:t>Conversión de divisa en uso: </a:t>
            </a:r>
            <a:r>
              <a:rPr lang="es-ES" sz="1200" dirty="0"/>
              <a:t>Si la divisa es diferente, debe ser convertida a su divisa base cada vez que las transacciones sean alimentadas a finanzas.</a:t>
            </a:r>
          </a:p>
          <a:p>
            <a:pPr algn="just"/>
            <a:r>
              <a:rPr lang="es-ES" sz="1200" dirty="0"/>
              <a:t>Este campo le permite indicar la fecha que se usará para determinar la tasa de conversión cuando la transacción se convierte a la divisa base.</a:t>
            </a:r>
          </a:p>
          <a:p>
            <a:pPr algn="just"/>
            <a:r>
              <a:rPr lang="es-ES" sz="1200" dirty="0"/>
              <a:t>Las opciones son:</a:t>
            </a:r>
          </a:p>
          <a:p>
            <a:pPr algn="just"/>
            <a:r>
              <a:rPr lang="es-ES" sz="1200" i="1" dirty="0"/>
              <a:t>Fecha de transacción</a:t>
            </a:r>
            <a:r>
              <a:rPr lang="es-ES" sz="1200" dirty="0"/>
              <a:t>: Se usará la fecha de transacción para encontrar la tasa de conversión en la página de mantenimiento de código de divisa (GUACURR). Si no hay una fecha de transacción, entonces se usará la fecha de vigencia.</a:t>
            </a:r>
          </a:p>
          <a:p>
            <a:pPr algn="just"/>
            <a:r>
              <a:rPr lang="es-ES" sz="1200" i="1" dirty="0"/>
              <a:t>Fecha de vigencia</a:t>
            </a:r>
            <a:r>
              <a:rPr lang="es-ES" sz="1200" dirty="0"/>
              <a:t>: Se usará la fecha de vigencia para encontrar la tasa de conversión en la página de mantenimiento de código de divisa (GUACURR).</a:t>
            </a:r>
          </a:p>
          <a:p>
            <a:pPr marL="171450" indent="-171450" algn="just">
              <a:buFont typeface="Arial" panose="020B0604020202020204" pitchFamily="34" charset="0"/>
              <a:buChar char="•"/>
            </a:pPr>
            <a:r>
              <a:rPr lang="es-ES" sz="1200" b="1" i="1" dirty="0">
                <a:solidFill>
                  <a:schemeClr val="bg1"/>
                </a:solidFill>
              </a:rPr>
              <a:t>Habilitar las pestañas de notas de depósitos para conversiones de divisa con equivalencia 1 a 1 no financieras: </a:t>
            </a:r>
            <a:r>
              <a:rPr lang="es-CO" sz="1200" i="1" dirty="0">
                <a:solidFill>
                  <a:schemeClr val="bg1"/>
                </a:solidFill>
              </a:rPr>
              <a:t>Cuando este campo es selecciono activa en TSADETC los bloques de Depósitos y Notas, siempre y cuando el monto de conversión sea igual a uno. </a:t>
            </a:r>
            <a:endParaRPr lang="es-ES" sz="1200" i="1" dirty="0">
              <a:solidFill>
                <a:schemeClr val="bg1"/>
              </a:solidFill>
            </a:endParaRPr>
          </a:p>
          <a:p>
            <a:pPr marL="171450" indent="-171450" algn="just">
              <a:buFont typeface="Arial" panose="020B0604020202020204" pitchFamily="34" charset="0"/>
              <a:buChar char="•"/>
            </a:pPr>
            <a:r>
              <a:rPr lang="es-ES" sz="1200" b="1" dirty="0"/>
              <a:t>Código de detalle para la ganancia por intercambio: </a:t>
            </a:r>
            <a:r>
              <a:rPr lang="es-ES" sz="1200" dirty="0"/>
              <a:t>Código de detalle usado para registrar una ganancia por intercambio durante el proceso de aplicación de pagos.</a:t>
            </a:r>
          </a:p>
          <a:p>
            <a:pPr marL="171450" indent="-171450" algn="just">
              <a:buFont typeface="Arial" panose="020B0604020202020204" pitchFamily="34" charset="0"/>
              <a:buChar char="•"/>
            </a:pPr>
            <a:r>
              <a:rPr lang="es-ES" sz="1200" b="1" dirty="0"/>
              <a:t>Código de detalle para la pérdida por intercambio: </a:t>
            </a:r>
            <a:r>
              <a:rPr lang="es-ES" sz="1200" dirty="0"/>
              <a:t>Código de detalle usado para registrar una pérdida por intercambio durante el proceso de aplicación de pagos.</a:t>
            </a:r>
            <a:endParaRPr lang="es-CL" sz="1200" dirty="0"/>
          </a:p>
        </p:txBody>
      </p:sp>
      <p:pic>
        <p:nvPicPr>
          <p:cNvPr id="7" name="Imagen 6">
            <a:extLst>
              <a:ext uri="{FF2B5EF4-FFF2-40B4-BE49-F238E27FC236}">
                <a16:creationId xmlns:a16="http://schemas.microsoft.com/office/drawing/2014/main" id="{A071933C-A2A6-649A-7EEF-A3A8E649E6A8}"/>
              </a:ext>
            </a:extLst>
          </p:cNvPr>
          <p:cNvPicPr>
            <a:picLocks noChangeAspect="1"/>
          </p:cNvPicPr>
          <p:nvPr/>
        </p:nvPicPr>
        <p:blipFill>
          <a:blip r:embed="rId2"/>
          <a:stretch>
            <a:fillRect/>
          </a:stretch>
        </p:blipFill>
        <p:spPr>
          <a:xfrm>
            <a:off x="743712" y="932547"/>
            <a:ext cx="10774680" cy="2405013"/>
          </a:xfrm>
          <a:prstGeom prst="rect">
            <a:avLst/>
          </a:prstGeom>
        </p:spPr>
      </p:pic>
    </p:spTree>
    <p:extLst>
      <p:ext uri="{BB962C8B-B14F-4D97-AF65-F5344CB8AC3E}">
        <p14:creationId xmlns:p14="http://schemas.microsoft.com/office/powerpoint/2010/main" val="615795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75416-5606-E39E-054D-8735948BBFC4}"/>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4455E0F4-9A5E-C343-718B-E51F15A5CBBE}"/>
              </a:ext>
            </a:extLst>
          </p:cNvPr>
          <p:cNvSpPr/>
          <p:nvPr/>
        </p:nvSpPr>
        <p:spPr>
          <a:xfrm>
            <a:off x="809113" y="4535424"/>
            <a:ext cx="10465439" cy="19293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b="1" dirty="0"/>
              <a:t>Multimpuesto: </a:t>
            </a:r>
            <a:r>
              <a:rPr lang="es-CO" sz="1200" dirty="0"/>
              <a:t>Utilice esta sección para habilitar el procesamiento de multimpuesto en su institución, y configure las reglas para el procesamiento.</a:t>
            </a:r>
          </a:p>
          <a:p>
            <a:endParaRPr lang="es-ES" sz="1200" dirty="0"/>
          </a:p>
          <a:p>
            <a:pPr marL="171450" indent="-171450">
              <a:buFont typeface="Arial" panose="020B0604020202020204" pitchFamily="34" charset="0"/>
              <a:buChar char="•"/>
            </a:pPr>
            <a:r>
              <a:rPr lang="es-CL" sz="1200" b="1" dirty="0"/>
              <a:t>Habilitar multimpuesto</a:t>
            </a:r>
            <a:r>
              <a:rPr lang="es-ES" sz="1200" dirty="0"/>
              <a:t>: Seleccione este indicador para habilitar multimpuesto.</a:t>
            </a:r>
          </a:p>
          <a:p>
            <a:pPr marL="171450" indent="-171450">
              <a:buFont typeface="Arial" panose="020B0604020202020204" pitchFamily="34" charset="0"/>
              <a:buChar char="•"/>
            </a:pPr>
            <a:r>
              <a:rPr lang="es-CL" sz="1200" b="1" dirty="0"/>
              <a:t>Método de cálculo de impuestos</a:t>
            </a:r>
            <a:r>
              <a:rPr lang="es-ES" sz="1200" b="1" dirty="0"/>
              <a:t>: </a:t>
            </a:r>
            <a:r>
              <a:rPr lang="es-ES" sz="1200" dirty="0"/>
              <a:t>Los valores son, Hacia adelante, Hacia atrás, Ambos.</a:t>
            </a:r>
          </a:p>
          <a:p>
            <a:pPr marL="171450" indent="-171450">
              <a:buFont typeface="Arial" panose="020B0604020202020204" pitchFamily="34" charset="0"/>
              <a:buChar char="•"/>
            </a:pPr>
            <a:r>
              <a:rPr lang="es-CL" sz="1200" b="1" dirty="0"/>
              <a:t>Categoría de impuestos</a:t>
            </a:r>
            <a:r>
              <a:rPr lang="es-ES" sz="1200" b="1" dirty="0"/>
              <a:t>: </a:t>
            </a:r>
            <a:r>
              <a:rPr lang="es-ES" sz="1200" dirty="0"/>
              <a:t>Abre la página «Validación de código de categoría de detalle (TTVDCAT)» desde la que puede seleccionar los códigos de impuestos apropiados.</a:t>
            </a:r>
          </a:p>
          <a:p>
            <a:pPr marL="171450" indent="-171450">
              <a:buFont typeface="Arial" panose="020B0604020202020204" pitchFamily="34" charset="0"/>
              <a:buChar char="•"/>
            </a:pPr>
            <a:r>
              <a:rPr lang="es-ES" sz="1200" b="1" dirty="0"/>
              <a:t>Tipo de fecha del perfil de impuestos: </a:t>
            </a:r>
            <a:r>
              <a:rPr lang="es-ES" sz="1200" dirty="0"/>
              <a:t>Valores válidos, Fecha de transacción, Fecha de sistema.</a:t>
            </a:r>
          </a:p>
          <a:p>
            <a:endParaRPr lang="es-ES" sz="1200" dirty="0"/>
          </a:p>
          <a:p>
            <a:r>
              <a:rPr lang="es-ES" sz="1200" b="1" dirty="0"/>
              <a:t>Importante:</a:t>
            </a:r>
            <a:r>
              <a:rPr lang="es-ES" sz="1200" dirty="0"/>
              <a:t> Una vez se habilite está funcionalidad, no será posible inhabilitarla.</a:t>
            </a:r>
            <a:endParaRPr lang="es-CL" sz="1200" dirty="0"/>
          </a:p>
        </p:txBody>
      </p:sp>
      <p:sp>
        <p:nvSpPr>
          <p:cNvPr id="5" name="Título 3">
            <a:extLst>
              <a:ext uri="{FF2B5EF4-FFF2-40B4-BE49-F238E27FC236}">
                <a16:creationId xmlns:a16="http://schemas.microsoft.com/office/drawing/2014/main" id="{1BE53B1A-786C-2AFA-4FC4-2835FCD1ED6A}"/>
              </a:ext>
            </a:extLst>
          </p:cNvPr>
          <p:cNvSpPr txBox="1">
            <a:spLocks/>
          </p:cNvSpPr>
          <p:nvPr/>
        </p:nvSpPr>
        <p:spPr>
          <a:xfrm>
            <a:off x="109762" y="360758"/>
            <a:ext cx="10674618" cy="616915"/>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TGACTRL </a:t>
            </a:r>
            <a:r>
              <a:rPr lang="es-CL" dirty="0">
                <a:solidFill>
                  <a:schemeClr val="tx1"/>
                </a:solidFill>
              </a:rPr>
              <a:t>Control de cobro de CXC </a:t>
            </a:r>
            <a:br>
              <a:rPr lang="es-CL" dirty="0">
                <a:solidFill>
                  <a:schemeClr val="tx1"/>
                </a:solidFill>
              </a:rPr>
            </a:br>
            <a:endParaRPr lang="es-CL" dirty="0">
              <a:solidFill>
                <a:schemeClr val="tx1"/>
              </a:solidFill>
            </a:endParaRPr>
          </a:p>
        </p:txBody>
      </p:sp>
      <p:pic>
        <p:nvPicPr>
          <p:cNvPr id="8" name="Imagen 7">
            <a:extLst>
              <a:ext uri="{FF2B5EF4-FFF2-40B4-BE49-F238E27FC236}">
                <a16:creationId xmlns:a16="http://schemas.microsoft.com/office/drawing/2014/main" id="{85DA0F7D-F35C-F5B6-4227-4511B264C6C1}"/>
              </a:ext>
            </a:extLst>
          </p:cNvPr>
          <p:cNvPicPr>
            <a:picLocks noChangeAspect="1"/>
          </p:cNvPicPr>
          <p:nvPr/>
        </p:nvPicPr>
        <p:blipFill>
          <a:blip r:embed="rId2"/>
          <a:stretch>
            <a:fillRect/>
          </a:stretch>
        </p:blipFill>
        <p:spPr>
          <a:xfrm>
            <a:off x="982979" y="977673"/>
            <a:ext cx="10226040" cy="3426471"/>
          </a:xfrm>
          <a:prstGeom prst="rect">
            <a:avLst/>
          </a:prstGeom>
        </p:spPr>
      </p:pic>
    </p:spTree>
    <p:extLst>
      <p:ext uri="{BB962C8B-B14F-4D97-AF65-F5344CB8AC3E}">
        <p14:creationId xmlns:p14="http://schemas.microsoft.com/office/powerpoint/2010/main" val="3853194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B5DAB-2A51-F3F3-CF43-F600EC31B6D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C54A46D-EE2F-A900-DFF3-A64ECC0A8325}"/>
              </a:ext>
            </a:extLst>
          </p:cNvPr>
          <p:cNvSpPr txBox="1">
            <a:spLocks/>
          </p:cNvSpPr>
          <p:nvPr/>
        </p:nvSpPr>
        <p:spPr>
          <a:xfrm>
            <a:off x="386015" y="242229"/>
            <a:ext cx="10774395" cy="550580"/>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TSACTRL Control de Cobro a Alumnos</a:t>
            </a:r>
            <a:endParaRPr lang="es-CL" b="0" dirty="0">
              <a:solidFill>
                <a:schemeClr val="tx1"/>
              </a:solidFill>
            </a:endParaRPr>
          </a:p>
        </p:txBody>
      </p:sp>
      <p:sp>
        <p:nvSpPr>
          <p:cNvPr id="3" name="Rectángulo: esquinas redondeadas 2">
            <a:extLst>
              <a:ext uri="{FF2B5EF4-FFF2-40B4-BE49-F238E27FC236}">
                <a16:creationId xmlns:a16="http://schemas.microsoft.com/office/drawing/2014/main" id="{986FBA4E-09C1-B6C5-6E16-77B88DFFA756}"/>
              </a:ext>
            </a:extLst>
          </p:cNvPr>
          <p:cNvSpPr/>
          <p:nvPr/>
        </p:nvSpPr>
        <p:spPr>
          <a:xfrm>
            <a:off x="655320" y="4124079"/>
            <a:ext cx="10929029" cy="240013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Parámetros generales de configuración: en la página «Control de cobro a los alumnos (TSACTRL)» se ingresan los parámetros para el proceso de operación y control del módulo de CxC del alumno en la institución. La información capturada en esta página se utiliza para determinar el flujo de información y la operación de cuentas por cobrar del alumno.</a:t>
            </a:r>
          </a:p>
          <a:p>
            <a:pPr marL="171450" indent="-171450" algn="just">
              <a:buFont typeface="Arial" panose="020B0604020202020204" pitchFamily="34" charset="0"/>
              <a:buChar char="•"/>
            </a:pPr>
            <a:r>
              <a:rPr lang="es-ES" sz="1200" b="1" dirty="0"/>
              <a:t>Designador predefinido basado en periodo: </a:t>
            </a:r>
            <a:r>
              <a:rPr lang="es-ES" sz="1200" dirty="0"/>
              <a:t>Haga clic en el botón Buscar para seleccionar un código de designador predefinido para este campo en la página «Validación de designador basado en periodo (TTVTBDS)».</a:t>
            </a:r>
          </a:p>
          <a:p>
            <a:pPr marL="171450" indent="-171450" algn="just">
              <a:buFont typeface="Arial" panose="020B0604020202020204" pitchFamily="34" charset="0"/>
              <a:buChar char="•"/>
            </a:pPr>
            <a:r>
              <a:rPr lang="es-CL" sz="1200" b="1" dirty="0"/>
              <a:t>Fecha de vigencia</a:t>
            </a:r>
            <a:r>
              <a:rPr lang="es-ES" sz="1200" b="1" dirty="0"/>
              <a:t>: </a:t>
            </a:r>
            <a:r>
              <a:rPr lang="es-ES" sz="1200" dirty="0"/>
              <a:t>Seleccione la opción Fecha de vigencia para determinar si Banner actualizará los cargos futuros con fecha de vigencia a la fecha actual o conservará la fecha de cargo original cuando acepte cargos en la página «Pagos del alumno (TSASPAY)».</a:t>
            </a:r>
          </a:p>
          <a:p>
            <a:pPr algn="just"/>
            <a:r>
              <a:rPr lang="es-ES" sz="1200" dirty="0"/>
              <a:t>Las opciones de Fecha de vigencia son:</a:t>
            </a:r>
          </a:p>
          <a:p>
            <a:pPr algn="just"/>
            <a:r>
              <a:rPr lang="es-ES" sz="1200" i="1" dirty="0"/>
              <a:t>Fecha actual </a:t>
            </a:r>
            <a:r>
              <a:rPr lang="es-ES" sz="1200" dirty="0"/>
              <a:t>- actualiza los cargos futuros con fecha de vigencia a la fecha actual.</a:t>
            </a:r>
          </a:p>
          <a:p>
            <a:pPr algn="just"/>
            <a:r>
              <a:rPr lang="es-ES" sz="1200" i="1" dirty="0"/>
              <a:t>Fecha de cargos </a:t>
            </a:r>
            <a:r>
              <a:rPr lang="es-ES" sz="1200" dirty="0"/>
              <a:t>- conserva la fecha de cargo original.</a:t>
            </a:r>
          </a:p>
          <a:p>
            <a:pPr marL="171450" indent="-171450" algn="just">
              <a:buFont typeface="Arial" panose="020B0604020202020204" pitchFamily="34" charset="0"/>
              <a:buChar char="•"/>
            </a:pPr>
            <a:r>
              <a:rPr lang="es-CL" sz="1200" b="1" dirty="0"/>
              <a:t>Ayuda financiera guardada/autorizada reduce monto vencido</a:t>
            </a:r>
            <a:r>
              <a:rPr lang="es-ES" sz="1200" dirty="0"/>
              <a:t>: Seleccione este cuadro para solicitar ayuda para reducir el monto adeudado en la página «Pago de alumnos (TSASPAY)» y en el cobro.</a:t>
            </a:r>
            <a:endParaRPr lang="es-CL" sz="1200" dirty="0"/>
          </a:p>
        </p:txBody>
      </p:sp>
      <p:pic>
        <p:nvPicPr>
          <p:cNvPr id="6" name="Imagen 5">
            <a:extLst>
              <a:ext uri="{FF2B5EF4-FFF2-40B4-BE49-F238E27FC236}">
                <a16:creationId xmlns:a16="http://schemas.microsoft.com/office/drawing/2014/main" id="{FBA0BFF6-91AA-BBF2-96E9-1C7B410AB657}"/>
              </a:ext>
            </a:extLst>
          </p:cNvPr>
          <p:cNvPicPr>
            <a:picLocks noChangeAspect="1"/>
          </p:cNvPicPr>
          <p:nvPr/>
        </p:nvPicPr>
        <p:blipFill>
          <a:blip r:embed="rId2"/>
          <a:stretch>
            <a:fillRect/>
          </a:stretch>
        </p:blipFill>
        <p:spPr>
          <a:xfrm>
            <a:off x="1031590" y="879744"/>
            <a:ext cx="10128820" cy="3070464"/>
          </a:xfrm>
          <a:prstGeom prst="rect">
            <a:avLst/>
          </a:prstGeom>
        </p:spPr>
      </p:pic>
    </p:spTree>
    <p:extLst>
      <p:ext uri="{BB962C8B-B14F-4D97-AF65-F5344CB8AC3E}">
        <p14:creationId xmlns:p14="http://schemas.microsoft.com/office/powerpoint/2010/main" val="2806036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BB02-5B96-5DB8-C8E4-7D00D5539E35}"/>
            </a:ext>
          </a:extLst>
        </p:cNvPr>
        <p:cNvGrpSpPr/>
        <p:nvPr/>
      </p:nvGrpSpPr>
      <p:grpSpPr>
        <a:xfrm>
          <a:off x="0" y="0"/>
          <a:ext cx="0" cy="0"/>
          <a:chOff x="0" y="0"/>
          <a:chExt cx="0" cy="0"/>
        </a:xfrm>
      </p:grpSpPr>
      <p:sp>
        <p:nvSpPr>
          <p:cNvPr id="4" name="Rectángulo: esquinas redondeadas 3">
            <a:extLst>
              <a:ext uri="{FF2B5EF4-FFF2-40B4-BE49-F238E27FC236}">
                <a16:creationId xmlns:a16="http://schemas.microsoft.com/office/drawing/2014/main" id="{50BFC93A-7311-C2D2-0962-77EDDE681EE1}"/>
              </a:ext>
            </a:extLst>
          </p:cNvPr>
          <p:cNvSpPr/>
          <p:nvPr/>
        </p:nvSpPr>
        <p:spPr>
          <a:xfrm>
            <a:off x="1122062" y="4407768"/>
            <a:ext cx="10355161" cy="171871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s-CL" sz="1200" b="1" dirty="0"/>
              <a:t>Desembolsos automáticos por TSASPAY: </a:t>
            </a:r>
            <a:r>
              <a:rPr lang="es-ES" sz="1200" dirty="0"/>
              <a:t>Selecciones este cuadro para ejecutar automáticamente desembolsos en la página «Pago de alumno (TSASPAY)».</a:t>
            </a:r>
          </a:p>
          <a:p>
            <a:pPr marL="171450" indent="-171450">
              <a:buFont typeface="Arial" panose="020B0604020202020204" pitchFamily="34" charset="0"/>
              <a:buChar char="•"/>
            </a:pPr>
            <a:r>
              <a:rPr lang="es-ES" sz="1200" b="1" dirty="0"/>
              <a:t>Resumir inicialmente por fecha de vigencia en TSICSRV: </a:t>
            </a:r>
            <a:r>
              <a:rPr lang="es-ES" sz="1200" dirty="0"/>
              <a:t>Seleccione este cuadro para indicar cómo resumir la información del plan automatizado. Cuando selecciona este cuadro, también se selecciona el cuadro Resumir por fecha de vigencia en el bloque clave en la página «Servicio al cliente».</a:t>
            </a:r>
          </a:p>
          <a:p>
            <a:pPr marL="171450" indent="-171450">
              <a:buFont typeface="Arial" panose="020B0604020202020204" pitchFamily="34" charset="0"/>
              <a:buChar char="•"/>
            </a:pPr>
            <a:r>
              <a:rPr lang="es-CL" sz="1200" b="1" dirty="0"/>
              <a:t>Desplegar planes de estudios</a:t>
            </a:r>
            <a:r>
              <a:rPr lang="es-ES" sz="1200" dirty="0"/>
              <a:t>: Seleccione este cuadro para mostrar el campo Planes de estudio en la página «Detalle de la cuenta por periodo» en Banner </a:t>
            </a:r>
            <a:r>
              <a:rPr lang="es-ES" sz="1200" dirty="0" err="1"/>
              <a:t>Student</a:t>
            </a:r>
            <a:r>
              <a:rPr lang="es-ES" sz="1200" dirty="0"/>
              <a:t> Self-Service y en las siguientes páginas de Banner CxC: TSAACCT, TSAAREV, TSACONP, TSACONT, TSADETL, TSAEXPP, TSAEXPT, TSASPAY, TSICSRV.</a:t>
            </a:r>
            <a:endParaRPr lang="es-CL" sz="1200" dirty="0"/>
          </a:p>
        </p:txBody>
      </p:sp>
      <p:sp>
        <p:nvSpPr>
          <p:cNvPr id="6" name="Título 3">
            <a:extLst>
              <a:ext uri="{FF2B5EF4-FFF2-40B4-BE49-F238E27FC236}">
                <a16:creationId xmlns:a16="http://schemas.microsoft.com/office/drawing/2014/main" id="{A97D6299-016E-1087-676C-9AF00FB7F0DE}"/>
              </a:ext>
            </a:extLst>
          </p:cNvPr>
          <p:cNvSpPr txBox="1">
            <a:spLocks/>
          </p:cNvSpPr>
          <p:nvPr/>
        </p:nvSpPr>
        <p:spPr>
          <a:xfrm>
            <a:off x="878684" y="199228"/>
            <a:ext cx="10661044" cy="1179557"/>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TSACTRL Control de Cobro a Alumnos</a:t>
            </a:r>
            <a:endParaRPr lang="es-CL" b="0" dirty="0">
              <a:solidFill>
                <a:schemeClr val="tx1"/>
              </a:solidFill>
            </a:endParaRPr>
          </a:p>
        </p:txBody>
      </p:sp>
      <p:pic>
        <p:nvPicPr>
          <p:cNvPr id="7" name="Imagen 6">
            <a:extLst>
              <a:ext uri="{FF2B5EF4-FFF2-40B4-BE49-F238E27FC236}">
                <a16:creationId xmlns:a16="http://schemas.microsoft.com/office/drawing/2014/main" id="{3A6FF2E8-4D5B-CAE9-F000-C192EA19FC90}"/>
              </a:ext>
            </a:extLst>
          </p:cNvPr>
          <p:cNvPicPr>
            <a:picLocks noChangeAspect="1"/>
          </p:cNvPicPr>
          <p:nvPr/>
        </p:nvPicPr>
        <p:blipFill>
          <a:blip r:embed="rId2"/>
          <a:stretch>
            <a:fillRect/>
          </a:stretch>
        </p:blipFill>
        <p:spPr>
          <a:xfrm>
            <a:off x="990343" y="934180"/>
            <a:ext cx="10618597" cy="3198908"/>
          </a:xfrm>
          <a:prstGeom prst="rect">
            <a:avLst/>
          </a:prstGeom>
        </p:spPr>
      </p:pic>
    </p:spTree>
    <p:extLst>
      <p:ext uri="{BB962C8B-B14F-4D97-AF65-F5344CB8AC3E}">
        <p14:creationId xmlns:p14="http://schemas.microsoft.com/office/powerpoint/2010/main" val="3569156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19402-A1E2-0F1B-7845-DACE8F618DE9}"/>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8F965874-B318-D0DB-1ADF-FBF44102AB15}"/>
              </a:ext>
            </a:extLst>
          </p:cNvPr>
          <p:cNvSpPr/>
          <p:nvPr/>
        </p:nvSpPr>
        <p:spPr>
          <a:xfrm>
            <a:off x="1041063" y="4536292"/>
            <a:ext cx="10233638" cy="114300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s-ES" sz="1200" b="1" dirty="0"/>
              <a:t>Asignación automática de planes de pagos en TSAISTP, TSICSRV, autoservicio y RV</a:t>
            </a:r>
            <a:r>
              <a:rPr lang="es-ES" sz="1200" dirty="0"/>
              <a:t>: Seleccione este cuadro para asignar automáticamente a un alumno un plan para el que califica.</a:t>
            </a:r>
          </a:p>
          <a:p>
            <a:pPr marL="171450" indent="-171450">
              <a:buFont typeface="Arial" panose="020B0604020202020204" pitchFamily="34" charset="0"/>
              <a:buChar char="•"/>
            </a:pPr>
            <a:r>
              <a:rPr lang="es-ES" sz="1200" b="1" dirty="0"/>
              <a:t>Cálculo automático de los pagos a plazos en TSAISTP, TSICSRV, autoservicio y RV: </a:t>
            </a:r>
            <a:r>
              <a:rPr lang="es-ES" sz="1200" dirty="0"/>
              <a:t>Seleccione este cuadro para calcular dinámicamente los pagos a plazos.</a:t>
            </a:r>
            <a:endParaRPr lang="es-CL" sz="1200" dirty="0"/>
          </a:p>
        </p:txBody>
      </p:sp>
      <p:sp>
        <p:nvSpPr>
          <p:cNvPr id="5" name="Título 3">
            <a:extLst>
              <a:ext uri="{FF2B5EF4-FFF2-40B4-BE49-F238E27FC236}">
                <a16:creationId xmlns:a16="http://schemas.microsoft.com/office/drawing/2014/main" id="{6375E92E-7DA1-34D5-2807-D90EEE4FA0AA}"/>
              </a:ext>
            </a:extLst>
          </p:cNvPr>
          <p:cNvSpPr txBox="1">
            <a:spLocks/>
          </p:cNvSpPr>
          <p:nvPr/>
        </p:nvSpPr>
        <p:spPr>
          <a:xfrm>
            <a:off x="878684" y="199229"/>
            <a:ext cx="10244821" cy="578012"/>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TSACTRL Control de Cobro a Alumnos </a:t>
            </a:r>
            <a:endParaRPr lang="es-CL" dirty="0">
              <a:solidFill>
                <a:schemeClr val="tx1"/>
              </a:solidFill>
            </a:endParaRPr>
          </a:p>
        </p:txBody>
      </p:sp>
      <p:pic>
        <p:nvPicPr>
          <p:cNvPr id="7" name="Imagen 6">
            <a:extLst>
              <a:ext uri="{FF2B5EF4-FFF2-40B4-BE49-F238E27FC236}">
                <a16:creationId xmlns:a16="http://schemas.microsoft.com/office/drawing/2014/main" id="{467ECA5D-42C0-20C6-9AB0-562D6E7158E2}"/>
              </a:ext>
            </a:extLst>
          </p:cNvPr>
          <p:cNvPicPr>
            <a:picLocks noChangeAspect="1"/>
          </p:cNvPicPr>
          <p:nvPr/>
        </p:nvPicPr>
        <p:blipFill>
          <a:blip r:embed="rId2"/>
          <a:stretch>
            <a:fillRect/>
          </a:stretch>
        </p:blipFill>
        <p:spPr>
          <a:xfrm>
            <a:off x="732050" y="1031275"/>
            <a:ext cx="10852385" cy="3275550"/>
          </a:xfrm>
          <a:prstGeom prst="rect">
            <a:avLst/>
          </a:prstGeom>
        </p:spPr>
      </p:pic>
    </p:spTree>
    <p:extLst>
      <p:ext uri="{BB962C8B-B14F-4D97-AF65-F5344CB8AC3E}">
        <p14:creationId xmlns:p14="http://schemas.microsoft.com/office/powerpoint/2010/main" val="1359541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A3F684-E493-344A-9D63-D16CE9F96C82}"/>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AD2072B1-FA6B-ABA5-18FF-B0A42B5441C7}"/>
              </a:ext>
            </a:extLst>
          </p:cNvPr>
          <p:cNvSpPr/>
          <p:nvPr/>
        </p:nvSpPr>
        <p:spPr>
          <a:xfrm>
            <a:off x="898022" y="4592106"/>
            <a:ext cx="10395955" cy="119873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s-CL" sz="1200" b="1" dirty="0"/>
              <a:t>Recalcular ayuda financiera: </a:t>
            </a:r>
            <a:r>
              <a:rPr lang="es-ES" sz="1200" dirty="0"/>
              <a:t>Seleccione este cuadro para volver a calcular la ayuda financiera para la respuesta de voz.</a:t>
            </a:r>
          </a:p>
          <a:p>
            <a:pPr marL="171450" indent="-171450">
              <a:buFont typeface="Arial" panose="020B0604020202020204" pitchFamily="34" charset="0"/>
              <a:buChar char="•"/>
            </a:pPr>
            <a:r>
              <a:rPr lang="es-CL" sz="1200" b="1" dirty="0"/>
              <a:t>Aceptar cargos</a:t>
            </a:r>
            <a:r>
              <a:rPr lang="es-ES" sz="1200" b="1" dirty="0"/>
              <a:t>: </a:t>
            </a:r>
            <a:r>
              <a:rPr lang="es-ES" sz="1200" dirty="0"/>
              <a:t>Seleccione este cuadro para aceptar cargos por la respuesta de voz.</a:t>
            </a:r>
          </a:p>
          <a:p>
            <a:endParaRPr lang="es-ES" sz="1200" dirty="0"/>
          </a:p>
        </p:txBody>
      </p:sp>
      <p:sp>
        <p:nvSpPr>
          <p:cNvPr id="5" name="Título 3">
            <a:extLst>
              <a:ext uri="{FF2B5EF4-FFF2-40B4-BE49-F238E27FC236}">
                <a16:creationId xmlns:a16="http://schemas.microsoft.com/office/drawing/2014/main" id="{DEF6C2A6-6B79-40F8-BCD2-40E8AD9704D8}"/>
              </a:ext>
            </a:extLst>
          </p:cNvPr>
          <p:cNvSpPr txBox="1">
            <a:spLocks/>
          </p:cNvSpPr>
          <p:nvPr/>
        </p:nvSpPr>
        <p:spPr>
          <a:xfrm>
            <a:off x="878684" y="199229"/>
            <a:ext cx="10244821" cy="550580"/>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TSACTRL Control de Cobro a Alumnos</a:t>
            </a:r>
            <a:endParaRPr lang="es-CL" dirty="0">
              <a:solidFill>
                <a:schemeClr val="tx1"/>
              </a:solidFill>
            </a:endParaRPr>
          </a:p>
        </p:txBody>
      </p:sp>
      <p:pic>
        <p:nvPicPr>
          <p:cNvPr id="7" name="Imagen 6">
            <a:extLst>
              <a:ext uri="{FF2B5EF4-FFF2-40B4-BE49-F238E27FC236}">
                <a16:creationId xmlns:a16="http://schemas.microsoft.com/office/drawing/2014/main" id="{5254545E-3454-0102-49E2-7BD4A266F506}"/>
              </a:ext>
            </a:extLst>
          </p:cNvPr>
          <p:cNvPicPr>
            <a:picLocks noChangeAspect="1"/>
          </p:cNvPicPr>
          <p:nvPr/>
        </p:nvPicPr>
        <p:blipFill>
          <a:blip r:embed="rId2"/>
          <a:stretch>
            <a:fillRect/>
          </a:stretch>
        </p:blipFill>
        <p:spPr>
          <a:xfrm>
            <a:off x="973588" y="1271547"/>
            <a:ext cx="10244821" cy="3087921"/>
          </a:xfrm>
          <a:prstGeom prst="rect">
            <a:avLst/>
          </a:prstGeom>
        </p:spPr>
      </p:pic>
    </p:spTree>
    <p:extLst>
      <p:ext uri="{BB962C8B-B14F-4D97-AF65-F5344CB8AC3E}">
        <p14:creationId xmlns:p14="http://schemas.microsoft.com/office/powerpoint/2010/main" val="38133482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AEC9-566D-1C7A-0569-C7AFFB3C028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E844449-753A-E323-A66A-702062DD2327}"/>
              </a:ext>
            </a:extLst>
          </p:cNvPr>
          <p:cNvPicPr>
            <a:picLocks noChangeAspect="1"/>
          </p:cNvPicPr>
          <p:nvPr/>
        </p:nvPicPr>
        <p:blipFill>
          <a:blip r:embed="rId2"/>
          <a:stretch>
            <a:fillRect/>
          </a:stretch>
        </p:blipFill>
        <p:spPr>
          <a:xfrm>
            <a:off x="930561" y="967837"/>
            <a:ext cx="10454640" cy="3170222"/>
          </a:xfrm>
          <a:prstGeom prst="rect">
            <a:avLst/>
          </a:prstGeom>
        </p:spPr>
      </p:pic>
      <p:pic>
        <p:nvPicPr>
          <p:cNvPr id="8" name="Imagen 7">
            <a:extLst>
              <a:ext uri="{FF2B5EF4-FFF2-40B4-BE49-F238E27FC236}">
                <a16:creationId xmlns:a16="http://schemas.microsoft.com/office/drawing/2014/main" id="{AE1B1927-F75F-7B4E-CCE6-D79DBDCFA410}"/>
              </a:ext>
            </a:extLst>
          </p:cNvPr>
          <p:cNvPicPr>
            <a:picLocks noChangeAspect="1"/>
          </p:cNvPicPr>
          <p:nvPr/>
        </p:nvPicPr>
        <p:blipFill>
          <a:blip r:embed="rId3"/>
          <a:stretch>
            <a:fillRect/>
          </a:stretch>
        </p:blipFill>
        <p:spPr>
          <a:xfrm>
            <a:off x="1041063" y="4118500"/>
            <a:ext cx="10233637" cy="309787"/>
          </a:xfrm>
          <a:prstGeom prst="rect">
            <a:avLst/>
          </a:prstGeom>
        </p:spPr>
      </p:pic>
      <p:sp>
        <p:nvSpPr>
          <p:cNvPr id="2" name="Rectángulo: esquinas redondeadas 1">
            <a:extLst>
              <a:ext uri="{FF2B5EF4-FFF2-40B4-BE49-F238E27FC236}">
                <a16:creationId xmlns:a16="http://schemas.microsoft.com/office/drawing/2014/main" id="{E78FFF85-C449-92BC-CC47-A8D37B1CCD39}"/>
              </a:ext>
            </a:extLst>
          </p:cNvPr>
          <p:cNvSpPr/>
          <p:nvPr/>
        </p:nvSpPr>
        <p:spPr>
          <a:xfrm>
            <a:off x="1041063" y="5437920"/>
            <a:ext cx="10233637" cy="67154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Para pasar a la sección Parámetros generales de configuración de reglas de procesamiento de contratos, exenciones y contabilidad por programa, utilice la combinación de teclas </a:t>
            </a:r>
            <a:r>
              <a:rPr lang="es-ES" sz="1200" b="1" dirty="0"/>
              <a:t>Alt + </a:t>
            </a:r>
            <a:r>
              <a:rPr lang="es-ES" sz="1200" b="1" dirty="0" err="1"/>
              <a:t>Av</a:t>
            </a:r>
            <a:r>
              <a:rPr lang="es-ES" sz="1200" b="1" dirty="0"/>
              <a:t> Pág</a:t>
            </a:r>
            <a:r>
              <a:rPr lang="es-ES" sz="1200" dirty="0"/>
              <a:t>.</a:t>
            </a:r>
          </a:p>
        </p:txBody>
      </p:sp>
      <p:sp>
        <p:nvSpPr>
          <p:cNvPr id="3" name="Rectángulo: esquinas redondeadas 5">
            <a:extLst>
              <a:ext uri="{FF2B5EF4-FFF2-40B4-BE49-F238E27FC236}">
                <a16:creationId xmlns:a16="http://schemas.microsoft.com/office/drawing/2014/main" id="{4E65050A-925C-4832-E580-302898AE7B3B}"/>
              </a:ext>
            </a:extLst>
          </p:cNvPr>
          <p:cNvSpPr/>
          <p:nvPr/>
        </p:nvSpPr>
        <p:spPr>
          <a:xfrm>
            <a:off x="1041063" y="4681920"/>
            <a:ext cx="10233637" cy="56432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Al finalizar de diligenciar los campos, se presiona el botón para pasar a la siguiente sección (bloque siguiente) o presionar la combinación de teclas </a:t>
            </a:r>
            <a:r>
              <a:rPr lang="es-ES_tradnl" sz="1200" b="1" dirty="0"/>
              <a:t>Alt</a:t>
            </a:r>
            <a:r>
              <a:rPr lang="es-ES_tradnl" sz="1200" dirty="0"/>
              <a:t> + </a:t>
            </a:r>
            <a:r>
              <a:rPr lang="es-ES_tradnl" sz="1200" b="1" dirty="0" err="1"/>
              <a:t>Av</a:t>
            </a:r>
            <a:r>
              <a:rPr lang="es-ES_tradnl" sz="1200" b="1" dirty="0"/>
              <a:t> </a:t>
            </a:r>
            <a:r>
              <a:rPr lang="es-ES_tradnl" sz="1200" b="1" dirty="0" err="1"/>
              <a:t>Pag</a:t>
            </a:r>
            <a:r>
              <a:rPr lang="es-ES_tradnl" sz="1200" dirty="0" err="1"/>
              <a:t>.</a:t>
            </a:r>
            <a:endParaRPr lang="es-ES_tradnl" sz="1200" dirty="0"/>
          </a:p>
        </p:txBody>
      </p:sp>
      <p:sp>
        <p:nvSpPr>
          <p:cNvPr id="7" name="Título 3">
            <a:extLst>
              <a:ext uri="{FF2B5EF4-FFF2-40B4-BE49-F238E27FC236}">
                <a16:creationId xmlns:a16="http://schemas.microsoft.com/office/drawing/2014/main" id="{A7227987-3614-DA16-4C6E-77559D7B17C6}"/>
              </a:ext>
            </a:extLst>
          </p:cNvPr>
          <p:cNvSpPr txBox="1">
            <a:spLocks/>
          </p:cNvSpPr>
          <p:nvPr/>
        </p:nvSpPr>
        <p:spPr>
          <a:xfrm>
            <a:off x="878684" y="199228"/>
            <a:ext cx="10244821" cy="549311"/>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TSACTRL Control de Cobro a Alumnos</a:t>
            </a:r>
            <a:endParaRPr lang="es-CL" dirty="0">
              <a:solidFill>
                <a:schemeClr val="tx1"/>
              </a:solidFill>
            </a:endParaRPr>
          </a:p>
        </p:txBody>
      </p:sp>
      <p:sp>
        <p:nvSpPr>
          <p:cNvPr id="11" name="Rectángulo 10">
            <a:extLst>
              <a:ext uri="{FF2B5EF4-FFF2-40B4-BE49-F238E27FC236}">
                <a16:creationId xmlns:a16="http://schemas.microsoft.com/office/drawing/2014/main" id="{A819B236-2809-B617-2D6F-EF4972BFA3A1}"/>
              </a:ext>
            </a:extLst>
          </p:cNvPr>
          <p:cNvSpPr/>
          <p:nvPr/>
        </p:nvSpPr>
        <p:spPr>
          <a:xfrm>
            <a:off x="1325880" y="4064539"/>
            <a:ext cx="393192" cy="274530"/>
          </a:xfrm>
          <a:prstGeom prst="rect">
            <a:avLst/>
          </a:prstGeom>
          <a:noFill/>
          <a:ln w="3810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CO" dirty="0">
              <a:solidFill>
                <a:schemeClr val="accent1"/>
              </a:solidFill>
            </a:endParaRPr>
          </a:p>
        </p:txBody>
      </p:sp>
    </p:spTree>
    <p:extLst>
      <p:ext uri="{BB962C8B-B14F-4D97-AF65-F5344CB8AC3E}">
        <p14:creationId xmlns:p14="http://schemas.microsoft.com/office/powerpoint/2010/main" val="23777037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3">
            <a:extLst>
              <a:ext uri="{FF2B5EF4-FFF2-40B4-BE49-F238E27FC236}">
                <a16:creationId xmlns:a16="http://schemas.microsoft.com/office/drawing/2014/main" id="{D73B2380-6B08-97B5-9BD7-D764CA6216E0}"/>
              </a:ext>
            </a:extLst>
          </p:cNvPr>
          <p:cNvSpPr txBox="1">
            <a:spLocks/>
          </p:cNvSpPr>
          <p:nvPr/>
        </p:nvSpPr>
        <p:spPr>
          <a:xfrm>
            <a:off x="878684" y="199229"/>
            <a:ext cx="10244821" cy="619784"/>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TSACTRL Control de Cobro a Alumnos</a:t>
            </a:r>
            <a:endParaRPr lang="es-CL" dirty="0">
              <a:solidFill>
                <a:schemeClr val="tx1"/>
              </a:solidFill>
            </a:endParaRPr>
          </a:p>
        </p:txBody>
      </p:sp>
      <p:sp>
        <p:nvSpPr>
          <p:cNvPr id="3" name="Rectángulo: esquinas redondeadas 2">
            <a:extLst>
              <a:ext uri="{FF2B5EF4-FFF2-40B4-BE49-F238E27FC236}">
                <a16:creationId xmlns:a16="http://schemas.microsoft.com/office/drawing/2014/main" id="{F14CAD6B-E119-7AF1-B525-CCCF4D5DAA4D}"/>
              </a:ext>
            </a:extLst>
          </p:cNvPr>
          <p:cNvSpPr/>
          <p:nvPr/>
        </p:nvSpPr>
        <p:spPr>
          <a:xfrm>
            <a:off x="1092081" y="4914580"/>
            <a:ext cx="10031424" cy="99309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ES" sz="1200" b="1" dirty="0"/>
              <a:t>Pasar contratos y Pasar exenciones:</a:t>
            </a:r>
            <a:r>
              <a:rPr lang="es-ES" sz="1200" dirty="0"/>
              <a:t> Active este campo si la institución requiere pasar contratos y/o exenciones de un periodo a otro de forma masiva.</a:t>
            </a:r>
          </a:p>
          <a:p>
            <a:pPr marL="171450" indent="-171450" algn="just">
              <a:buFont typeface="Arial" panose="020B0604020202020204" pitchFamily="34" charset="0"/>
              <a:buChar char="•"/>
            </a:pPr>
            <a:r>
              <a:rPr lang="es-ES" sz="1200" b="1" dirty="0"/>
              <a:t>Pasar alumnos:</a:t>
            </a:r>
            <a:r>
              <a:rPr lang="es-ES" sz="1200" dirty="0"/>
              <a:t> Active este campo si la institución requiere pasar alumnos de contratos y exenciones de un periodo a otro de forma masiva.</a:t>
            </a:r>
            <a:endParaRPr lang="es-CL" sz="1200" dirty="0"/>
          </a:p>
        </p:txBody>
      </p:sp>
      <p:pic>
        <p:nvPicPr>
          <p:cNvPr id="11" name="Imagen 10">
            <a:extLst>
              <a:ext uri="{FF2B5EF4-FFF2-40B4-BE49-F238E27FC236}">
                <a16:creationId xmlns:a16="http://schemas.microsoft.com/office/drawing/2014/main" id="{643806D5-2339-9148-E8A7-444A682D6895}"/>
              </a:ext>
            </a:extLst>
          </p:cNvPr>
          <p:cNvPicPr>
            <a:picLocks noChangeAspect="1"/>
          </p:cNvPicPr>
          <p:nvPr/>
        </p:nvPicPr>
        <p:blipFill>
          <a:blip r:embed="rId2"/>
          <a:stretch>
            <a:fillRect/>
          </a:stretch>
        </p:blipFill>
        <p:spPr>
          <a:xfrm>
            <a:off x="998653" y="1156191"/>
            <a:ext cx="10194693" cy="3479817"/>
          </a:xfrm>
          <a:prstGeom prst="rect">
            <a:avLst/>
          </a:prstGeom>
        </p:spPr>
      </p:pic>
    </p:spTree>
    <p:extLst>
      <p:ext uri="{BB962C8B-B14F-4D97-AF65-F5344CB8AC3E}">
        <p14:creationId xmlns:p14="http://schemas.microsoft.com/office/powerpoint/2010/main" val="4936746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709E2-4D94-2DF2-9805-8C3A8F64B83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3A25B044-7DAE-37CF-896B-54DE8E6A245C}"/>
              </a:ext>
            </a:extLst>
          </p:cNvPr>
          <p:cNvSpPr txBox="1">
            <a:spLocks/>
          </p:cNvSpPr>
          <p:nvPr/>
        </p:nvSpPr>
        <p:spPr>
          <a:xfrm>
            <a:off x="878684" y="199228"/>
            <a:ext cx="10244821" cy="505349"/>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TSACTRL Control de Cobro a Alumnos</a:t>
            </a:r>
            <a:endParaRPr lang="es-CL" dirty="0">
              <a:solidFill>
                <a:schemeClr val="tx1"/>
              </a:solidFill>
            </a:endParaRPr>
          </a:p>
        </p:txBody>
      </p:sp>
      <p:sp>
        <p:nvSpPr>
          <p:cNvPr id="5" name="Rectángulo: esquinas redondeadas 4">
            <a:extLst>
              <a:ext uri="{FF2B5EF4-FFF2-40B4-BE49-F238E27FC236}">
                <a16:creationId xmlns:a16="http://schemas.microsoft.com/office/drawing/2014/main" id="{81EBF08D-43DF-192F-7F67-0B3222884AC7}"/>
              </a:ext>
            </a:extLst>
          </p:cNvPr>
          <p:cNvSpPr/>
          <p:nvPr/>
        </p:nvSpPr>
        <p:spPr>
          <a:xfrm>
            <a:off x="1008469" y="4521844"/>
            <a:ext cx="10115035" cy="183261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ES" sz="1200" b="1" dirty="0"/>
              <a:t>Orden de procesamiento de crédito: </a:t>
            </a:r>
            <a:r>
              <a:rPr lang="es-ES" sz="1200" dirty="0"/>
              <a:t>las opciones son:</a:t>
            </a:r>
          </a:p>
          <a:p>
            <a:pPr algn="just"/>
            <a:r>
              <a:rPr lang="es-ES" sz="1200" i="1" dirty="0"/>
              <a:t>Contratos primero: </a:t>
            </a:r>
            <a:r>
              <a:rPr lang="es-ES" sz="1200" dirty="0"/>
              <a:t>Active este campo si la institución requiere que los contratos se procesen antes que las exenciones.</a:t>
            </a:r>
          </a:p>
          <a:p>
            <a:pPr algn="just"/>
            <a:r>
              <a:rPr lang="es-ES" sz="1200" i="1" dirty="0"/>
              <a:t>Exenciones primero: </a:t>
            </a:r>
            <a:r>
              <a:rPr lang="es-ES" sz="1200" dirty="0"/>
              <a:t>Active este campo si la institución requiere que las exenciones se procesen antes que los contratos.</a:t>
            </a:r>
          </a:p>
          <a:p>
            <a:pPr algn="just"/>
            <a:r>
              <a:rPr lang="es-ES" sz="1200" dirty="0"/>
              <a:t>Esto implica que, si un estudiante tiene asignado un contrato y una exención para un mismo periodo, primero se procesará la exención y luego el contrato se calculará bajo el monto restante.</a:t>
            </a:r>
          </a:p>
          <a:p>
            <a:pPr marL="171450" indent="-171450" algn="just">
              <a:buFont typeface="Arial" panose="020B0604020202020204" pitchFamily="34" charset="0"/>
              <a:buChar char="•"/>
            </a:pPr>
            <a:r>
              <a:rPr lang="es-ES" sz="1200" b="1" dirty="0"/>
              <a:t>Autorización de alumno requerida para contratos: </a:t>
            </a:r>
            <a:r>
              <a:rPr lang="es-ES" sz="1200" dirty="0"/>
              <a:t>Active este campo si la institución requiere que los alumnos sean autorizados por defecto en la página TSACONT, campo Autorizar.</a:t>
            </a:r>
          </a:p>
          <a:p>
            <a:pPr marL="171450" indent="-171450" algn="just">
              <a:buFont typeface="Arial" panose="020B0604020202020204" pitchFamily="34" charset="0"/>
              <a:buChar char="•"/>
            </a:pPr>
            <a:r>
              <a:rPr lang="es-ES" sz="1200" b="1" dirty="0"/>
              <a:t>Permitir captura preautorizada de número de autorización: </a:t>
            </a:r>
            <a:r>
              <a:rPr lang="es-ES" sz="1200" dirty="0"/>
              <a:t>Permite ingresar un número de autorización de transacción antes de que un alumno esté autorizado.</a:t>
            </a:r>
            <a:endParaRPr lang="es-CL" sz="1200" dirty="0"/>
          </a:p>
        </p:txBody>
      </p:sp>
      <p:pic>
        <p:nvPicPr>
          <p:cNvPr id="8" name="Imagen 7">
            <a:extLst>
              <a:ext uri="{FF2B5EF4-FFF2-40B4-BE49-F238E27FC236}">
                <a16:creationId xmlns:a16="http://schemas.microsoft.com/office/drawing/2014/main" id="{27466596-0E61-F1A6-7F01-4059C111FA6F}"/>
              </a:ext>
            </a:extLst>
          </p:cNvPr>
          <p:cNvPicPr>
            <a:picLocks noChangeAspect="1"/>
          </p:cNvPicPr>
          <p:nvPr/>
        </p:nvPicPr>
        <p:blipFill>
          <a:blip r:embed="rId2"/>
          <a:stretch>
            <a:fillRect/>
          </a:stretch>
        </p:blipFill>
        <p:spPr>
          <a:xfrm>
            <a:off x="838666" y="801546"/>
            <a:ext cx="10454640" cy="3623328"/>
          </a:xfrm>
          <a:prstGeom prst="rect">
            <a:avLst/>
          </a:prstGeom>
        </p:spPr>
      </p:pic>
    </p:spTree>
    <p:extLst>
      <p:ext uri="{BB962C8B-B14F-4D97-AF65-F5344CB8AC3E}">
        <p14:creationId xmlns:p14="http://schemas.microsoft.com/office/powerpoint/2010/main" val="1042442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A8F90-2E2A-564C-A489-8E60319E7CA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E604538-347B-F8E4-184F-D25B5ED2F08F}"/>
              </a:ext>
            </a:extLst>
          </p:cNvPr>
          <p:cNvSpPr txBox="1">
            <a:spLocks/>
          </p:cNvSpPr>
          <p:nvPr/>
        </p:nvSpPr>
        <p:spPr>
          <a:xfrm>
            <a:off x="878684" y="199229"/>
            <a:ext cx="10244821" cy="532292"/>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TSACTRL Control de Cobro a Alumnos</a:t>
            </a:r>
            <a:endParaRPr lang="es-CL" dirty="0">
              <a:solidFill>
                <a:schemeClr val="tx1"/>
              </a:solidFill>
            </a:endParaRPr>
          </a:p>
        </p:txBody>
      </p:sp>
      <p:sp>
        <p:nvSpPr>
          <p:cNvPr id="3" name="Rectángulo: esquinas redondeadas 2">
            <a:extLst>
              <a:ext uri="{FF2B5EF4-FFF2-40B4-BE49-F238E27FC236}">
                <a16:creationId xmlns:a16="http://schemas.microsoft.com/office/drawing/2014/main" id="{D07FE44E-C0C0-5D72-2F39-BF65629AB4F4}"/>
              </a:ext>
            </a:extLst>
          </p:cNvPr>
          <p:cNvSpPr/>
          <p:nvPr/>
        </p:nvSpPr>
        <p:spPr>
          <a:xfrm>
            <a:off x="905257" y="4703984"/>
            <a:ext cx="10218248" cy="127086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O" sz="1200" b="1" dirty="0"/>
              <a:t>Reglas de la interfaz de cuenta por Programa: </a:t>
            </a:r>
            <a:r>
              <a:rPr lang="es-CO" sz="1200" dirty="0"/>
              <a:t>Permite configurar el número de cuenta con el cual se va a relacionar los códigos de detalle en la cuenta A o cuenta B para la distribución de contabilidad por programa.</a:t>
            </a:r>
          </a:p>
          <a:p>
            <a:pPr algn="just"/>
            <a:endParaRPr lang="es-CO" sz="1200" dirty="0"/>
          </a:p>
          <a:p>
            <a:pPr marL="171450" indent="-171450" algn="just">
              <a:buFont typeface="Arial" panose="020B0604020202020204" pitchFamily="34" charset="0"/>
              <a:buChar char="•"/>
            </a:pPr>
            <a:r>
              <a:rPr lang="es-CO" sz="1200" b="1" dirty="0"/>
              <a:t>CDC</a:t>
            </a:r>
            <a:r>
              <a:rPr lang="es-CO" sz="1200" dirty="0"/>
              <a:t>: Este campo es requerido si se tiene Banner Finanzas.</a:t>
            </a:r>
          </a:p>
          <a:p>
            <a:pPr algn="just"/>
            <a:endParaRPr lang="es-CL" sz="1200" dirty="0"/>
          </a:p>
        </p:txBody>
      </p:sp>
      <p:pic>
        <p:nvPicPr>
          <p:cNvPr id="8" name="Imagen 7">
            <a:extLst>
              <a:ext uri="{FF2B5EF4-FFF2-40B4-BE49-F238E27FC236}">
                <a16:creationId xmlns:a16="http://schemas.microsoft.com/office/drawing/2014/main" id="{B304A09E-E9BE-25F3-E4F0-195059FE2377}"/>
              </a:ext>
            </a:extLst>
          </p:cNvPr>
          <p:cNvPicPr>
            <a:picLocks noChangeAspect="1"/>
          </p:cNvPicPr>
          <p:nvPr/>
        </p:nvPicPr>
        <p:blipFill>
          <a:blip r:embed="rId2"/>
          <a:stretch>
            <a:fillRect/>
          </a:stretch>
        </p:blipFill>
        <p:spPr>
          <a:xfrm>
            <a:off x="905256" y="874169"/>
            <a:ext cx="10381488" cy="3614015"/>
          </a:xfrm>
          <a:prstGeom prst="rect">
            <a:avLst/>
          </a:prstGeom>
        </p:spPr>
      </p:pic>
    </p:spTree>
    <p:extLst>
      <p:ext uri="{BB962C8B-B14F-4D97-AF65-F5344CB8AC3E}">
        <p14:creationId xmlns:p14="http://schemas.microsoft.com/office/powerpoint/2010/main" val="3526054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6DDBC-BBE5-B7DB-138B-58AB66B58279}"/>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60E413C-32AE-928C-7C44-815120172E41}"/>
              </a:ext>
            </a:extLst>
          </p:cNvPr>
          <p:cNvSpPr txBox="1">
            <a:spLocks/>
          </p:cNvSpPr>
          <p:nvPr/>
        </p:nvSpPr>
        <p:spPr>
          <a:xfrm>
            <a:off x="878684" y="199229"/>
            <a:ext cx="10244821" cy="514494"/>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TSACTRL Control de Cobro a Alumnos</a:t>
            </a:r>
            <a:endParaRPr lang="es-CL" dirty="0">
              <a:solidFill>
                <a:schemeClr val="tx1"/>
              </a:solidFill>
            </a:endParaRPr>
          </a:p>
        </p:txBody>
      </p:sp>
      <p:sp>
        <p:nvSpPr>
          <p:cNvPr id="3" name="Rectángulo: esquinas redondeadas 2">
            <a:extLst>
              <a:ext uri="{FF2B5EF4-FFF2-40B4-BE49-F238E27FC236}">
                <a16:creationId xmlns:a16="http://schemas.microsoft.com/office/drawing/2014/main" id="{7E400DBB-5B26-9CE4-6668-961F8401253A}"/>
              </a:ext>
            </a:extLst>
          </p:cNvPr>
          <p:cNvSpPr/>
          <p:nvPr/>
        </p:nvSpPr>
        <p:spPr>
          <a:xfrm>
            <a:off x="1127342" y="4544568"/>
            <a:ext cx="9818026" cy="18417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L" sz="1200" b="1" dirty="0"/>
              <a:t>Habilitar SCP: </a:t>
            </a:r>
            <a:r>
              <a:rPr lang="es-ES" sz="1200" dirty="0"/>
              <a:t>Seleccione el cuadro Habilitar SCP para configurar la funcionalidad del periodo basado en alumno en Banner CxC.</a:t>
            </a:r>
          </a:p>
          <a:p>
            <a:pPr algn="just"/>
            <a:r>
              <a:rPr lang="es-ES" sz="1200" dirty="0"/>
              <a:t>Cuando el indicador Habilitar SCP está marcado:</a:t>
            </a:r>
          </a:p>
          <a:p>
            <a:pPr algn="just"/>
            <a:r>
              <a:rPr lang="es-ES" sz="1200" dirty="0"/>
              <a:t>La página «Control del código de detalle» (TSADETC) mostrará el indicador Igual al periodo basado en alumno. Banner habilita la Precedencia del procesamiento para la aplicación de pagos, que será utilizada por la aplicación del procesamiento de pagos.</a:t>
            </a:r>
          </a:p>
          <a:p>
            <a:pPr marL="171450" indent="-171450" algn="just">
              <a:buFont typeface="Arial" panose="020B0604020202020204" pitchFamily="34" charset="0"/>
              <a:buChar char="•"/>
            </a:pPr>
            <a:r>
              <a:rPr lang="es-ES" sz="1200" b="1" dirty="0"/>
              <a:t>Procedencia del procesamiento para la aplicación de pagos: </a:t>
            </a:r>
            <a:r>
              <a:rPr lang="es-ES" sz="1200" dirty="0"/>
              <a:t>Cuando tiene habilitado el procesamiento centrado en el alumno, seleccione una de las opciones para indicar el orden del procesamiento: Intervalo igual antes de SCP igual (predefinido) / SCP igual antes de intervalo igual.</a:t>
            </a:r>
          </a:p>
          <a:p>
            <a:pPr algn="just"/>
            <a:r>
              <a:rPr lang="es-ES" sz="1200" dirty="0"/>
              <a:t>Las instituciones que habilitan el SCP en TSACTRL y no tienen Banner Ayuda Financiera instalado deberán seleccionar la opción Intervalo igual antes de SCP igual.</a:t>
            </a:r>
            <a:endParaRPr lang="es-CL" sz="1200" dirty="0"/>
          </a:p>
        </p:txBody>
      </p:sp>
      <p:pic>
        <p:nvPicPr>
          <p:cNvPr id="7" name="Imagen 6">
            <a:extLst>
              <a:ext uri="{FF2B5EF4-FFF2-40B4-BE49-F238E27FC236}">
                <a16:creationId xmlns:a16="http://schemas.microsoft.com/office/drawing/2014/main" id="{45031AD1-1118-F5DC-2AA7-B64C9E5E71A2}"/>
              </a:ext>
            </a:extLst>
          </p:cNvPr>
          <p:cNvPicPr>
            <a:picLocks noChangeAspect="1"/>
          </p:cNvPicPr>
          <p:nvPr/>
        </p:nvPicPr>
        <p:blipFill>
          <a:blip r:embed="rId2"/>
          <a:stretch>
            <a:fillRect/>
          </a:stretch>
        </p:blipFill>
        <p:spPr>
          <a:xfrm>
            <a:off x="1202227" y="966468"/>
            <a:ext cx="9668256" cy="3325355"/>
          </a:xfrm>
          <a:prstGeom prst="rect">
            <a:avLst/>
          </a:prstGeom>
        </p:spPr>
      </p:pic>
    </p:spTree>
    <p:extLst>
      <p:ext uri="{BB962C8B-B14F-4D97-AF65-F5344CB8AC3E}">
        <p14:creationId xmlns:p14="http://schemas.microsoft.com/office/powerpoint/2010/main" val="6695153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D5F98-0F9C-1A57-ACA5-BA8EE89F82BE}"/>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B64E0E4B-84C7-AE0F-8E96-3B815F6AD00C}"/>
              </a:ext>
            </a:extLst>
          </p:cNvPr>
          <p:cNvSpPr txBox="1"/>
          <p:nvPr/>
        </p:nvSpPr>
        <p:spPr>
          <a:xfrm>
            <a:off x="576072" y="2328172"/>
            <a:ext cx="7815834" cy="1015663"/>
          </a:xfrm>
          <a:prstGeom prst="rect">
            <a:avLst/>
          </a:prstGeom>
          <a:noFill/>
        </p:spPr>
        <p:txBody>
          <a:bodyPr wrap="square">
            <a:spAutoFit/>
          </a:bodyPr>
          <a:lstStyle/>
          <a:p>
            <a:r>
              <a:rPr lang="en-US" sz="6000" b="1" dirty="0">
                <a:solidFill>
                  <a:schemeClr val="bg1"/>
                </a:solidFill>
              </a:rPr>
              <a:t>Configuraciones</a:t>
            </a:r>
          </a:p>
        </p:txBody>
      </p:sp>
      <p:sp>
        <p:nvSpPr>
          <p:cNvPr id="8" name="Text Placeholder 16">
            <a:extLst>
              <a:ext uri="{FF2B5EF4-FFF2-40B4-BE49-F238E27FC236}">
                <a16:creationId xmlns:a16="http://schemas.microsoft.com/office/drawing/2014/main" id="{1091C3C4-13F3-7186-A66A-1100BC1F3B24}"/>
              </a:ext>
            </a:extLst>
          </p:cNvPr>
          <p:cNvSpPr txBox="1">
            <a:spLocks/>
          </p:cNvSpPr>
          <p:nvPr/>
        </p:nvSpPr>
        <p:spPr>
          <a:xfrm>
            <a:off x="649224" y="4666986"/>
            <a:ext cx="7454279" cy="42062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Cuentas por Cobrar del Estudiante</a:t>
            </a:r>
            <a:endParaRPr lang="en-US" sz="2000" b="1" dirty="0">
              <a:solidFill>
                <a:schemeClr val="bg1"/>
              </a:solidFill>
            </a:endParaRPr>
          </a:p>
        </p:txBody>
      </p:sp>
      <p:sp>
        <p:nvSpPr>
          <p:cNvPr id="2" name="Text Placeholder 16">
            <a:extLst>
              <a:ext uri="{FF2B5EF4-FFF2-40B4-BE49-F238E27FC236}">
                <a16:creationId xmlns:a16="http://schemas.microsoft.com/office/drawing/2014/main" id="{0DFEEDED-92E5-5224-AE06-6BD6B79C3CAB}"/>
              </a:ext>
            </a:extLst>
          </p:cNvPr>
          <p:cNvSpPr txBox="1">
            <a:spLocks/>
          </p:cNvSpPr>
          <p:nvPr/>
        </p:nvSpPr>
        <p:spPr>
          <a:xfrm>
            <a:off x="576072" y="3278089"/>
            <a:ext cx="7454279"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Definir la configuración de multimoneda</a:t>
            </a:r>
            <a:endParaRPr lang="en-US" sz="2000" b="1" dirty="0">
              <a:solidFill>
                <a:schemeClr val="bg1"/>
              </a:solidFill>
            </a:endParaRPr>
          </a:p>
        </p:txBody>
      </p:sp>
    </p:spTree>
    <p:extLst>
      <p:ext uri="{BB962C8B-B14F-4D97-AF65-F5344CB8AC3E}">
        <p14:creationId xmlns:p14="http://schemas.microsoft.com/office/powerpoint/2010/main" val="9285279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66763-9166-0BDC-9B71-66877B43107C}"/>
            </a:ext>
          </a:extLst>
        </p:cNvPr>
        <p:cNvGrpSpPr/>
        <p:nvPr/>
      </p:nvGrpSpPr>
      <p:grpSpPr>
        <a:xfrm>
          <a:off x="0" y="0"/>
          <a:ext cx="0" cy="0"/>
          <a:chOff x="0" y="0"/>
          <a:chExt cx="0" cy="0"/>
        </a:xfrm>
      </p:grpSpPr>
      <p:sp>
        <p:nvSpPr>
          <p:cNvPr id="3" name="Título 3">
            <a:extLst>
              <a:ext uri="{FF2B5EF4-FFF2-40B4-BE49-F238E27FC236}">
                <a16:creationId xmlns:a16="http://schemas.microsoft.com/office/drawing/2014/main" id="{F54ABB83-7572-8D1D-8669-4E4071F756DE}"/>
              </a:ext>
            </a:extLst>
          </p:cNvPr>
          <p:cNvSpPr txBox="1">
            <a:spLocks/>
          </p:cNvSpPr>
          <p:nvPr/>
        </p:nvSpPr>
        <p:spPr>
          <a:xfrm>
            <a:off x="212155" y="170035"/>
            <a:ext cx="10294453" cy="449278"/>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GUAINST Controles de Instalación</a:t>
            </a:r>
            <a:endParaRPr lang="es-CL" dirty="0">
              <a:solidFill>
                <a:schemeClr val="tx1"/>
              </a:solidFill>
            </a:endParaRPr>
          </a:p>
        </p:txBody>
      </p:sp>
      <p:sp>
        <p:nvSpPr>
          <p:cNvPr id="4" name="Rectángulo: esquinas redondeadas 3">
            <a:extLst>
              <a:ext uri="{FF2B5EF4-FFF2-40B4-BE49-F238E27FC236}">
                <a16:creationId xmlns:a16="http://schemas.microsoft.com/office/drawing/2014/main" id="{E0F1F838-A2DF-199E-6028-B5B814E59F49}"/>
              </a:ext>
            </a:extLst>
          </p:cNvPr>
          <p:cNvSpPr/>
          <p:nvPr/>
        </p:nvSpPr>
        <p:spPr>
          <a:xfrm>
            <a:off x="1049692" y="4713849"/>
            <a:ext cx="9674352" cy="18619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Configuración de controles de instalación – Definición de Divisa Base – Formato de Fecha. En la página Controles de instalación se relaciona la información general de la institución y del sistema.</a:t>
            </a:r>
          </a:p>
          <a:p>
            <a:pPr marL="171450" indent="-171450" algn="just">
              <a:buFont typeface="Arial" panose="020B0604020202020204" pitchFamily="34" charset="0"/>
              <a:buChar char="•"/>
            </a:pPr>
            <a:r>
              <a:rPr lang="es-CL" sz="1200" b="1" dirty="0"/>
              <a:t>Sistema operativo</a:t>
            </a:r>
            <a:r>
              <a:rPr lang="es-ES" sz="1200" dirty="0"/>
              <a:t>: Desplegar la lista para seleccionar el sistema operativo.</a:t>
            </a:r>
          </a:p>
          <a:p>
            <a:pPr marL="171450" indent="-171450" algn="just">
              <a:buFont typeface="Arial" panose="020B0604020202020204" pitchFamily="34" charset="0"/>
              <a:buChar char="•"/>
            </a:pPr>
            <a:r>
              <a:rPr lang="es-CL" sz="1200" b="1" dirty="0"/>
              <a:t>Tipo de instalación</a:t>
            </a:r>
            <a:r>
              <a:rPr lang="es-ES" sz="1200" dirty="0"/>
              <a:t>: Desplegar la lista para seleccionar el tipo de instalación.</a:t>
            </a:r>
          </a:p>
          <a:p>
            <a:pPr marL="171450" indent="-171450" algn="just">
              <a:buFont typeface="Arial" panose="020B0604020202020204" pitchFamily="34" charset="0"/>
              <a:buChar char="•"/>
            </a:pPr>
            <a:r>
              <a:rPr lang="es-CL" sz="1200" b="1" dirty="0"/>
              <a:t>Nombre de instancia</a:t>
            </a:r>
            <a:r>
              <a:rPr lang="es-ES" sz="1200" b="1" dirty="0"/>
              <a:t>: </a:t>
            </a:r>
            <a:r>
              <a:rPr lang="es-ES" sz="1200" dirty="0"/>
              <a:t>Nombre de la instancia de la base de datos.</a:t>
            </a:r>
          </a:p>
          <a:p>
            <a:pPr marL="171450" indent="-171450" algn="just">
              <a:buFont typeface="Arial" panose="020B0604020202020204" pitchFamily="34" charset="0"/>
              <a:buChar char="•"/>
            </a:pPr>
            <a:r>
              <a:rPr lang="es-CL" sz="1200" b="1" dirty="0"/>
              <a:t>Longitud del código postal</a:t>
            </a:r>
            <a:r>
              <a:rPr lang="es-ES" sz="1200" b="1" dirty="0"/>
              <a:t>: </a:t>
            </a:r>
            <a:r>
              <a:rPr lang="es-ES" sz="1200" dirty="0"/>
              <a:t>Longitud del código postal, si su institución requiere una longitud.</a:t>
            </a:r>
          </a:p>
          <a:p>
            <a:pPr marL="171450" indent="-171450" algn="just">
              <a:buFont typeface="Arial" panose="020B0604020202020204" pitchFamily="34" charset="0"/>
              <a:buChar char="•"/>
            </a:pPr>
            <a:r>
              <a:rPr lang="es-ES" sz="1200" b="1" dirty="0"/>
              <a:t>Número máximo de páginas abiertas: </a:t>
            </a:r>
            <a:r>
              <a:rPr lang="es-ES" sz="1200" dirty="0"/>
              <a:t>Número máximo de páginas de Banner que se pueden abrir en una sesión concurrentemente, debido a consideraciones de memoria en la estación de trabajo del cliente. Por lo general se recomienda que configure este campo a NULL, debido a que la introducción de Banner Nativo de Internet reduce el potencial de problemas de memoria del lado del cliente.</a:t>
            </a:r>
            <a:endParaRPr lang="es-CL" sz="1200" dirty="0"/>
          </a:p>
        </p:txBody>
      </p:sp>
      <p:pic>
        <p:nvPicPr>
          <p:cNvPr id="5" name="Imagen 4">
            <a:extLst>
              <a:ext uri="{FF2B5EF4-FFF2-40B4-BE49-F238E27FC236}">
                <a16:creationId xmlns:a16="http://schemas.microsoft.com/office/drawing/2014/main" id="{AF22FC93-4E30-594F-8623-3BF177334398}"/>
              </a:ext>
            </a:extLst>
          </p:cNvPr>
          <p:cNvPicPr>
            <a:picLocks noChangeAspect="1"/>
          </p:cNvPicPr>
          <p:nvPr/>
        </p:nvPicPr>
        <p:blipFill>
          <a:blip r:embed="rId2"/>
          <a:stretch>
            <a:fillRect/>
          </a:stretch>
        </p:blipFill>
        <p:spPr>
          <a:xfrm>
            <a:off x="1095268" y="685982"/>
            <a:ext cx="9583200" cy="4027867"/>
          </a:xfrm>
          <a:prstGeom prst="rect">
            <a:avLst/>
          </a:prstGeom>
        </p:spPr>
      </p:pic>
    </p:spTree>
    <p:extLst>
      <p:ext uri="{BB962C8B-B14F-4D97-AF65-F5344CB8AC3E}">
        <p14:creationId xmlns:p14="http://schemas.microsoft.com/office/powerpoint/2010/main" val="3452216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FF1C8-C5E2-5A14-1A3D-0C584A43F1AC}"/>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FFA28A7B-0E8C-CF82-5D7D-2AB29A722DBD}"/>
              </a:ext>
            </a:extLst>
          </p:cNvPr>
          <p:cNvSpPr/>
          <p:nvPr/>
        </p:nvSpPr>
        <p:spPr>
          <a:xfrm>
            <a:off x="1304400" y="4800600"/>
            <a:ext cx="9583200" cy="166739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s-CL" sz="1100" b="1" dirty="0"/>
              <a:t>Divisa base</a:t>
            </a:r>
            <a:r>
              <a:rPr lang="es-ES" sz="1100" b="1" dirty="0"/>
              <a:t>: </a:t>
            </a:r>
            <a:r>
              <a:rPr lang="es-ES" sz="1100" dirty="0"/>
              <a:t>divisa base bajo la cual operará Banner CxC</a:t>
            </a:r>
            <a:endParaRPr lang="es-ES" sz="1100" b="1" dirty="0"/>
          </a:p>
          <a:p>
            <a:pPr marL="171450" indent="-171450">
              <a:buFont typeface="Arial" panose="020B0604020202020204" pitchFamily="34" charset="0"/>
              <a:buChar char="•"/>
            </a:pPr>
            <a:r>
              <a:rPr lang="es-ES" sz="1100" b="1" dirty="0"/>
              <a:t>Desplegar el método del multiplicador de la tasa de cambio</a:t>
            </a:r>
            <a:r>
              <a:rPr lang="es-ES" sz="1100" dirty="0"/>
              <a:t>: Indica si la columna del inverso del tipo de cambio (multiplicador) estará visible (Y) u oculta (N) en GUACURR y GTVCURR. </a:t>
            </a:r>
          </a:p>
          <a:p>
            <a:pPr marL="171450" indent="-171450">
              <a:buFont typeface="Arial" panose="020B0604020202020204" pitchFamily="34" charset="0"/>
              <a:buChar char="•"/>
            </a:pPr>
            <a:r>
              <a:rPr lang="es-CL" sz="1100" b="1" dirty="0"/>
              <a:t>Longitud máxima del NSS: </a:t>
            </a:r>
            <a:r>
              <a:rPr lang="es-ES" sz="1100" dirty="0"/>
              <a:t>La longitud máxima que aplica a los campos de NSS por medio de Banner. El valor predefinido es 9, en base a la longitud del NSS en Estados Unidos. Si usa los campos de NSS para otros números de identificación, puede establecer una longitud máxima de hasta 15.</a:t>
            </a:r>
          </a:p>
          <a:p>
            <a:pPr marL="171450" indent="-171450">
              <a:buFont typeface="Arial" panose="020B0604020202020204" pitchFamily="34" charset="0"/>
              <a:buChar char="•"/>
            </a:pPr>
            <a:r>
              <a:rPr lang="es-CL" sz="1100" b="1" dirty="0"/>
              <a:t>Validación de NSS</a:t>
            </a:r>
            <a:r>
              <a:rPr lang="es-ES" sz="1100" b="1" dirty="0"/>
              <a:t>: </a:t>
            </a:r>
            <a:r>
              <a:rPr lang="es-ES" sz="1100" dirty="0"/>
              <a:t>Especificar el tipo de mensaje de validación de NSS.</a:t>
            </a:r>
          </a:p>
          <a:p>
            <a:r>
              <a:rPr lang="es-ES" sz="1100" dirty="0"/>
              <a:t>Alerta - Despliega un mensaje de alerta cuando un usuario ingresar un NSS erróneo.</a:t>
            </a:r>
          </a:p>
          <a:p>
            <a:r>
              <a:rPr lang="es-ES" sz="1100" dirty="0"/>
              <a:t>Error - Despliega un mensaje de error cuando un usuario ingresar un NSS erróneo.</a:t>
            </a:r>
          </a:p>
          <a:p>
            <a:r>
              <a:rPr lang="es-ES" sz="1100" dirty="0"/>
              <a:t>No editar - El sistema no debe editar el NSS. No se muestra ningún mensaje.</a:t>
            </a:r>
            <a:endParaRPr lang="es-CL" sz="1100" dirty="0"/>
          </a:p>
        </p:txBody>
      </p:sp>
      <p:sp>
        <p:nvSpPr>
          <p:cNvPr id="5" name="Título 3">
            <a:extLst>
              <a:ext uri="{FF2B5EF4-FFF2-40B4-BE49-F238E27FC236}">
                <a16:creationId xmlns:a16="http://schemas.microsoft.com/office/drawing/2014/main" id="{DB390E6C-0126-1D44-D54C-707E2F3DC722}"/>
              </a:ext>
            </a:extLst>
          </p:cNvPr>
          <p:cNvSpPr txBox="1">
            <a:spLocks/>
          </p:cNvSpPr>
          <p:nvPr/>
        </p:nvSpPr>
        <p:spPr>
          <a:xfrm>
            <a:off x="593147" y="95969"/>
            <a:ext cx="10294453" cy="449278"/>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GUAINST Controles de Instalación</a:t>
            </a:r>
            <a:endParaRPr lang="es-CL" dirty="0">
              <a:solidFill>
                <a:schemeClr val="tx1"/>
              </a:solidFill>
            </a:endParaRPr>
          </a:p>
        </p:txBody>
      </p:sp>
      <p:pic>
        <p:nvPicPr>
          <p:cNvPr id="7" name="Imagen 6">
            <a:extLst>
              <a:ext uri="{FF2B5EF4-FFF2-40B4-BE49-F238E27FC236}">
                <a16:creationId xmlns:a16="http://schemas.microsoft.com/office/drawing/2014/main" id="{3DF967B7-8BFD-E7CE-79D5-85E95263A6C3}"/>
              </a:ext>
            </a:extLst>
          </p:cNvPr>
          <p:cNvPicPr>
            <a:picLocks noChangeAspect="1"/>
          </p:cNvPicPr>
          <p:nvPr/>
        </p:nvPicPr>
        <p:blipFill>
          <a:blip r:embed="rId2"/>
          <a:stretch>
            <a:fillRect/>
          </a:stretch>
        </p:blipFill>
        <p:spPr>
          <a:xfrm>
            <a:off x="1304400" y="658588"/>
            <a:ext cx="9583200" cy="4028670"/>
          </a:xfrm>
          <a:prstGeom prst="rect">
            <a:avLst/>
          </a:prstGeom>
        </p:spPr>
      </p:pic>
    </p:spTree>
    <p:extLst>
      <p:ext uri="{BB962C8B-B14F-4D97-AF65-F5344CB8AC3E}">
        <p14:creationId xmlns:p14="http://schemas.microsoft.com/office/powerpoint/2010/main" val="39158828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75A37-EF3F-C687-B688-E76EC3DA7A61}"/>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82F3B310-FAFA-EDD4-3120-2E8080BC7A82}"/>
              </a:ext>
            </a:extLst>
          </p:cNvPr>
          <p:cNvSpPr/>
          <p:nvPr/>
        </p:nvSpPr>
        <p:spPr>
          <a:xfrm>
            <a:off x="1399032" y="4570722"/>
            <a:ext cx="9491472" cy="164658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buFont typeface="Arial" panose="020B0604020202020204" pitchFamily="34" charset="0"/>
              <a:buChar char="•"/>
            </a:pPr>
            <a:r>
              <a:rPr lang="es-ES" sz="1200" b="1" dirty="0"/>
              <a:t>Pivote de siglo de los lotes: </a:t>
            </a:r>
            <a:r>
              <a:rPr lang="es-ES" sz="1200" dirty="0"/>
              <a:t>El procesamiento de lotes de envío de trabajo utiliza el valor de Pivote del siglo por lotes para la conversión de la fecha. Tiene un valor definido de 49. Esto significa que Banner convierte números del año de dos dígitos del 00 hasta 49 del 2000 hasta 2049, y números del año 50 y superiores a 1950 hasta 1999.</a:t>
            </a:r>
          </a:p>
          <a:p>
            <a:pPr marL="171450" indent="-171450">
              <a:buFont typeface="Arial" panose="020B0604020202020204" pitchFamily="34" charset="0"/>
              <a:buChar char="•"/>
            </a:pPr>
            <a:r>
              <a:rPr lang="es-CL" sz="1200" b="1" dirty="0"/>
              <a:t>Formato de fecha predefinido</a:t>
            </a:r>
            <a:r>
              <a:rPr lang="es-ES" sz="1200" b="1" dirty="0"/>
              <a:t>: </a:t>
            </a:r>
            <a:r>
              <a:rPr lang="es-ES" sz="1200" dirty="0"/>
              <a:t>El orden en que los componentes de mes, día y año de la fecha se despliegan.</a:t>
            </a:r>
          </a:p>
          <a:p>
            <a:pPr marL="171450" indent="-171450">
              <a:buFont typeface="Arial" panose="020B0604020202020204" pitchFamily="34" charset="0"/>
              <a:buChar char="•"/>
            </a:pPr>
            <a:r>
              <a:rPr lang="es-CL" sz="1200" b="1" dirty="0"/>
              <a:t>Diferencia horaria con UTC</a:t>
            </a:r>
            <a:r>
              <a:rPr lang="es-ES" sz="1200" dirty="0"/>
              <a:t>: Este campo le permite a Ellucian Ethos, agregar el soporte de la diferencia horaria con UTC por institución en GUAINST.</a:t>
            </a:r>
          </a:p>
          <a:p>
            <a:pPr marL="171450" indent="-171450">
              <a:buFont typeface="Arial" panose="020B0604020202020204" pitchFamily="34" charset="0"/>
              <a:buChar char="•"/>
            </a:pPr>
            <a:r>
              <a:rPr lang="es-CL" sz="1200" b="1" dirty="0"/>
              <a:t>Zona horaria</a:t>
            </a:r>
            <a:r>
              <a:rPr lang="es-ES" sz="1200" dirty="0"/>
              <a:t>: Zona horaria de la institución.</a:t>
            </a:r>
            <a:endParaRPr lang="es-CL" sz="1200" dirty="0"/>
          </a:p>
        </p:txBody>
      </p:sp>
      <p:sp>
        <p:nvSpPr>
          <p:cNvPr id="5" name="Título 3">
            <a:extLst>
              <a:ext uri="{FF2B5EF4-FFF2-40B4-BE49-F238E27FC236}">
                <a16:creationId xmlns:a16="http://schemas.microsoft.com/office/drawing/2014/main" id="{73A961BE-3D13-E982-4646-62682617AE62}"/>
              </a:ext>
            </a:extLst>
          </p:cNvPr>
          <p:cNvSpPr txBox="1">
            <a:spLocks/>
          </p:cNvSpPr>
          <p:nvPr/>
        </p:nvSpPr>
        <p:spPr>
          <a:xfrm>
            <a:off x="948773" y="109783"/>
            <a:ext cx="10294453" cy="449278"/>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GUAINST Controles de Instalación</a:t>
            </a:r>
            <a:endParaRPr lang="es-CL" dirty="0">
              <a:solidFill>
                <a:schemeClr val="tx1"/>
              </a:solidFill>
            </a:endParaRPr>
          </a:p>
        </p:txBody>
      </p:sp>
      <p:pic>
        <p:nvPicPr>
          <p:cNvPr id="7" name="Imagen 6">
            <a:extLst>
              <a:ext uri="{FF2B5EF4-FFF2-40B4-BE49-F238E27FC236}">
                <a16:creationId xmlns:a16="http://schemas.microsoft.com/office/drawing/2014/main" id="{6CBD5C5E-7944-2ED2-478F-5BDA4605ECDB}"/>
              </a:ext>
            </a:extLst>
          </p:cNvPr>
          <p:cNvPicPr>
            <a:picLocks noChangeAspect="1"/>
          </p:cNvPicPr>
          <p:nvPr/>
        </p:nvPicPr>
        <p:blipFill>
          <a:blip r:embed="rId2"/>
          <a:stretch>
            <a:fillRect/>
          </a:stretch>
        </p:blipFill>
        <p:spPr>
          <a:xfrm>
            <a:off x="1594104" y="640695"/>
            <a:ext cx="9003792" cy="3802756"/>
          </a:xfrm>
          <a:prstGeom prst="rect">
            <a:avLst/>
          </a:prstGeom>
        </p:spPr>
      </p:pic>
    </p:spTree>
    <p:extLst>
      <p:ext uri="{BB962C8B-B14F-4D97-AF65-F5344CB8AC3E}">
        <p14:creationId xmlns:p14="http://schemas.microsoft.com/office/powerpoint/2010/main" val="3083021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838BA-30CC-F4DB-9CAA-FDFBEE486234}"/>
            </a:ext>
          </a:extLst>
        </p:cNvPr>
        <p:cNvGrpSpPr/>
        <p:nvPr/>
      </p:nvGrpSpPr>
      <p:grpSpPr>
        <a:xfrm>
          <a:off x="0" y="0"/>
          <a:ext cx="0" cy="0"/>
          <a:chOff x="0" y="0"/>
          <a:chExt cx="0" cy="0"/>
        </a:xfrm>
      </p:grpSpPr>
      <p:sp>
        <p:nvSpPr>
          <p:cNvPr id="3" name="Rectángulo: esquinas redondeadas 2">
            <a:extLst>
              <a:ext uri="{FF2B5EF4-FFF2-40B4-BE49-F238E27FC236}">
                <a16:creationId xmlns:a16="http://schemas.microsoft.com/office/drawing/2014/main" id="{87D94BD1-638C-34A1-7B7F-0A209FE3FF4A}"/>
              </a:ext>
            </a:extLst>
          </p:cNvPr>
          <p:cNvSpPr/>
          <p:nvPr/>
        </p:nvSpPr>
        <p:spPr>
          <a:xfrm>
            <a:off x="1258824" y="4129588"/>
            <a:ext cx="9674351" cy="228035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endParaRPr lang="es-ES" sz="1200" b="1" dirty="0"/>
          </a:p>
          <a:p>
            <a:pPr algn="just"/>
            <a:r>
              <a:rPr lang="es-ES" sz="1200" b="1" dirty="0"/>
              <a:t>Indicadores de Proceso / Sistema Habilitado: </a:t>
            </a:r>
          </a:p>
          <a:p>
            <a:pPr algn="just"/>
            <a:endParaRPr lang="es-ES" sz="1200" b="1" dirty="0"/>
          </a:p>
          <a:p>
            <a:pPr marL="171450" indent="-171450" algn="just">
              <a:buFont typeface="Arial" panose="020B0604020202020204" pitchFamily="34" charset="0"/>
              <a:buChar char="•"/>
            </a:pPr>
            <a:r>
              <a:rPr lang="es-ES" sz="1200" b="1" dirty="0"/>
              <a:t>Habilitar proceso de coincidencia en línea: </a:t>
            </a:r>
            <a:r>
              <a:rPr lang="es-ES" sz="1200" dirty="0"/>
              <a:t>se usa para activar el proceso de coincidencia común de manera que se ejecute automáticamente.</a:t>
            </a:r>
          </a:p>
          <a:p>
            <a:pPr marL="171450" indent="-171450" algn="just">
              <a:buFont typeface="Arial" panose="020B0604020202020204" pitchFamily="34" charset="0"/>
              <a:buChar char="•"/>
            </a:pPr>
            <a:r>
              <a:rPr lang="es-CL" sz="1200" b="1" dirty="0" err="1"/>
              <a:t>Workflow</a:t>
            </a:r>
            <a:r>
              <a:rPr lang="es-CL" sz="1200" b="1" dirty="0"/>
              <a:t> habilitado</a:t>
            </a:r>
            <a:r>
              <a:rPr lang="es-ES" sz="1200" b="1" dirty="0"/>
              <a:t>:</a:t>
            </a:r>
            <a:r>
              <a:rPr lang="es-ES" sz="1200" dirty="0"/>
              <a:t>  es utilizado para activar Banner </a:t>
            </a:r>
            <a:r>
              <a:rPr lang="es-ES" sz="1200" dirty="0" err="1"/>
              <a:t>WorkFlow</a:t>
            </a:r>
            <a:r>
              <a:rPr lang="es-ES" sz="1200" dirty="0"/>
              <a:t> de manera que pueda ejecutarse con Banner.</a:t>
            </a:r>
          </a:p>
          <a:p>
            <a:pPr marL="171450" indent="-171450" algn="just">
              <a:buFont typeface="Arial" panose="020B0604020202020204" pitchFamily="34" charset="0"/>
              <a:buChar char="•"/>
            </a:pPr>
            <a:r>
              <a:rPr lang="es-CL" sz="1200" b="1" dirty="0"/>
              <a:t>Rastreo SQL habilitado</a:t>
            </a:r>
            <a:r>
              <a:rPr lang="es-ES" sz="1200" b="1" dirty="0"/>
              <a:t>: </a:t>
            </a:r>
            <a:r>
              <a:rPr lang="es-ES" sz="1200" dirty="0"/>
              <a:t>permite habilitar o inhabilitar la característica de análisis de SQL.</a:t>
            </a:r>
          </a:p>
          <a:p>
            <a:pPr marL="171450" indent="-171450" algn="just">
              <a:buFont typeface="Arial" panose="020B0604020202020204" pitchFamily="34" charset="0"/>
              <a:buChar char="•"/>
            </a:pPr>
            <a:r>
              <a:rPr lang="es-CL" sz="1200" b="1" dirty="0"/>
              <a:t>Mensajes habilitados</a:t>
            </a:r>
            <a:r>
              <a:rPr lang="es-ES" sz="1200" b="1" dirty="0"/>
              <a:t>:  </a:t>
            </a:r>
            <a:r>
              <a:rPr lang="es-ES" sz="1200" dirty="0"/>
              <a:t>permite especificar si su institución permite los mensajes.</a:t>
            </a:r>
          </a:p>
          <a:p>
            <a:pPr marL="171450" indent="-171450" algn="just">
              <a:buFont typeface="Arial" panose="020B0604020202020204" pitchFamily="34" charset="0"/>
              <a:buChar char="•"/>
            </a:pPr>
            <a:r>
              <a:rPr lang="es-CL" sz="1200" b="1" dirty="0"/>
              <a:t>Buscar NSS/NIT habilitado</a:t>
            </a:r>
            <a:r>
              <a:rPr lang="es-ES" sz="1200" dirty="0"/>
              <a:t>: Seleccione este cuadro para habilitar la búsqueda para números de seguridad social en los campos de ID.</a:t>
            </a:r>
          </a:p>
          <a:p>
            <a:pPr marL="171450" indent="-171450" algn="just">
              <a:buFont typeface="Arial" panose="020B0604020202020204" pitchFamily="34" charset="0"/>
              <a:buChar char="•"/>
            </a:pPr>
            <a:r>
              <a:rPr lang="es-ES" sz="1200" b="1" dirty="0"/>
              <a:t>Las preferencias de usuario para </a:t>
            </a:r>
            <a:r>
              <a:rPr lang="es-ES" sz="1200" b="1" dirty="0" err="1"/>
              <a:t>Admin</a:t>
            </a:r>
            <a:r>
              <a:rPr lang="es-ES" sz="1200" b="1" dirty="0"/>
              <a:t> están habilitadas</a:t>
            </a:r>
            <a:r>
              <a:rPr lang="es-ES" sz="1200" dirty="0"/>
              <a:t>: permite especificar si su institución usa la funcionalidad de preferencias de usuario para administración.</a:t>
            </a:r>
            <a:endParaRPr lang="es-CL" sz="1200" dirty="0"/>
          </a:p>
        </p:txBody>
      </p:sp>
      <p:sp>
        <p:nvSpPr>
          <p:cNvPr id="5" name="Título 3">
            <a:extLst>
              <a:ext uri="{FF2B5EF4-FFF2-40B4-BE49-F238E27FC236}">
                <a16:creationId xmlns:a16="http://schemas.microsoft.com/office/drawing/2014/main" id="{00B87ECB-8C69-F6C7-4E54-60408AD2E741}"/>
              </a:ext>
            </a:extLst>
          </p:cNvPr>
          <p:cNvSpPr txBox="1">
            <a:spLocks/>
          </p:cNvSpPr>
          <p:nvPr/>
        </p:nvSpPr>
        <p:spPr>
          <a:xfrm>
            <a:off x="668372" y="166594"/>
            <a:ext cx="10294453" cy="449278"/>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GUAINST Controles de Instalación</a:t>
            </a:r>
            <a:endParaRPr lang="es-CL" dirty="0">
              <a:solidFill>
                <a:schemeClr val="tx1"/>
              </a:solidFill>
            </a:endParaRPr>
          </a:p>
        </p:txBody>
      </p:sp>
      <p:pic>
        <p:nvPicPr>
          <p:cNvPr id="4" name="Imagen 3">
            <a:extLst>
              <a:ext uri="{FF2B5EF4-FFF2-40B4-BE49-F238E27FC236}">
                <a16:creationId xmlns:a16="http://schemas.microsoft.com/office/drawing/2014/main" id="{40EDEE0F-6959-F503-F5CC-9FC1F7AC1A0A}"/>
              </a:ext>
            </a:extLst>
          </p:cNvPr>
          <p:cNvPicPr>
            <a:picLocks noChangeAspect="1"/>
          </p:cNvPicPr>
          <p:nvPr/>
        </p:nvPicPr>
        <p:blipFill>
          <a:blip r:embed="rId2"/>
          <a:stretch>
            <a:fillRect/>
          </a:stretch>
        </p:blipFill>
        <p:spPr>
          <a:xfrm>
            <a:off x="1264934" y="811396"/>
            <a:ext cx="9101328" cy="3318192"/>
          </a:xfrm>
          <a:prstGeom prst="rect">
            <a:avLst/>
          </a:prstGeom>
        </p:spPr>
      </p:pic>
    </p:spTree>
    <p:extLst>
      <p:ext uri="{BB962C8B-B14F-4D97-AF65-F5344CB8AC3E}">
        <p14:creationId xmlns:p14="http://schemas.microsoft.com/office/powerpoint/2010/main" val="23504123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465E8-58B5-EAAC-A376-B948D1B09451}"/>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55BB4B3C-9BBB-A2A7-6B06-E0D37A1B378B}"/>
              </a:ext>
            </a:extLst>
          </p:cNvPr>
          <p:cNvSpPr/>
          <p:nvPr/>
        </p:nvSpPr>
        <p:spPr>
          <a:xfrm>
            <a:off x="1225295" y="4616071"/>
            <a:ext cx="9566149" cy="113550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En la sección Información de instalación se relaciona la información de los productos de Banner que la institución está utilizando (Estudiantes, </a:t>
            </a:r>
            <a:r>
              <a:rPr lang="es-CL" sz="1200" dirty="0" err="1"/>
              <a:t>CxC</a:t>
            </a:r>
            <a:r>
              <a:rPr lang="es-CL" sz="1200" dirty="0"/>
              <a:t>, General)</a:t>
            </a:r>
          </a:p>
          <a:p>
            <a:pPr algn="just"/>
            <a:endParaRPr lang="es-CL" sz="1200" dirty="0"/>
          </a:p>
          <a:p>
            <a:pPr algn="just"/>
            <a:r>
              <a:rPr lang="es-ES" sz="1200" b="1" dirty="0"/>
              <a:t>Desplegar la información de los parches instalados</a:t>
            </a:r>
            <a:r>
              <a:rPr lang="es-CL" sz="1200" b="1" dirty="0"/>
              <a:t>: </a:t>
            </a:r>
            <a:r>
              <a:rPr lang="es-ES" sz="1200" dirty="0"/>
              <a:t>Seleccione este botón para ver la página «Despliegue de versiones y parches de Banner» (GUIVERS).</a:t>
            </a:r>
            <a:endParaRPr lang="es-CL" sz="1200" dirty="0"/>
          </a:p>
        </p:txBody>
      </p:sp>
      <p:sp>
        <p:nvSpPr>
          <p:cNvPr id="4" name="Título 3">
            <a:extLst>
              <a:ext uri="{FF2B5EF4-FFF2-40B4-BE49-F238E27FC236}">
                <a16:creationId xmlns:a16="http://schemas.microsoft.com/office/drawing/2014/main" id="{B81A9A18-FBA6-7632-3983-F6E9D91C4FBD}"/>
              </a:ext>
            </a:extLst>
          </p:cNvPr>
          <p:cNvSpPr txBox="1">
            <a:spLocks/>
          </p:cNvSpPr>
          <p:nvPr/>
        </p:nvSpPr>
        <p:spPr>
          <a:xfrm>
            <a:off x="832964" y="227597"/>
            <a:ext cx="10294453" cy="449278"/>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GUAINST Controles de Instalación</a:t>
            </a:r>
            <a:endParaRPr lang="es-CL" dirty="0">
              <a:solidFill>
                <a:schemeClr val="tx1"/>
              </a:solidFill>
            </a:endParaRPr>
          </a:p>
        </p:txBody>
      </p:sp>
      <p:pic>
        <p:nvPicPr>
          <p:cNvPr id="8" name="Imagen 7">
            <a:extLst>
              <a:ext uri="{FF2B5EF4-FFF2-40B4-BE49-F238E27FC236}">
                <a16:creationId xmlns:a16="http://schemas.microsoft.com/office/drawing/2014/main" id="{244382A8-9CC8-C94D-96DB-5B3F984F1AF7}"/>
              </a:ext>
            </a:extLst>
          </p:cNvPr>
          <p:cNvPicPr>
            <a:picLocks noChangeAspect="1"/>
          </p:cNvPicPr>
          <p:nvPr/>
        </p:nvPicPr>
        <p:blipFill>
          <a:blip r:embed="rId2"/>
          <a:stretch>
            <a:fillRect/>
          </a:stretch>
        </p:blipFill>
        <p:spPr>
          <a:xfrm>
            <a:off x="1400556" y="1014984"/>
            <a:ext cx="9390888" cy="3433175"/>
          </a:xfrm>
          <a:prstGeom prst="rect">
            <a:avLst/>
          </a:prstGeom>
        </p:spPr>
      </p:pic>
    </p:spTree>
    <p:extLst>
      <p:ext uri="{BB962C8B-B14F-4D97-AF65-F5344CB8AC3E}">
        <p14:creationId xmlns:p14="http://schemas.microsoft.com/office/powerpoint/2010/main" val="34098610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DFE92-D872-6556-D83F-4AD9D9C49BC9}"/>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A881F8AA-3800-9148-64FC-1311A56F13F9}"/>
              </a:ext>
            </a:extLst>
          </p:cNvPr>
          <p:cNvSpPr/>
          <p:nvPr/>
        </p:nvSpPr>
        <p:spPr>
          <a:xfrm>
            <a:off x="1101852" y="5076044"/>
            <a:ext cx="10108692" cy="94985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Mantenimiento de divisa – Se crean y mantienen las diferentes monedas o divisas con las que la institución va a operar.</a:t>
            </a:r>
          </a:p>
          <a:p>
            <a:pPr algn="just"/>
            <a:r>
              <a:rPr lang="es-CL" sz="1200" dirty="0"/>
              <a:t>Al acceder a la página, esta habilita el filtro para realizar la búsqueda de una divisa, ya sea por código, descripción, país, etc. Digite la tecla </a:t>
            </a:r>
            <a:r>
              <a:rPr lang="es-CL" sz="1200" b="1" dirty="0"/>
              <a:t>F8</a:t>
            </a:r>
            <a:r>
              <a:rPr lang="es-CL" sz="1200" dirty="0"/>
              <a:t> para cargar la información de las divisas definidas por la institución.</a:t>
            </a:r>
          </a:p>
        </p:txBody>
      </p:sp>
      <p:sp>
        <p:nvSpPr>
          <p:cNvPr id="4" name="Título 3">
            <a:extLst>
              <a:ext uri="{FF2B5EF4-FFF2-40B4-BE49-F238E27FC236}">
                <a16:creationId xmlns:a16="http://schemas.microsoft.com/office/drawing/2014/main" id="{5805D738-86F5-2BE4-686F-350BED3A1E68}"/>
              </a:ext>
            </a:extLst>
          </p:cNvPr>
          <p:cNvSpPr txBox="1">
            <a:spLocks/>
          </p:cNvSpPr>
          <p:nvPr/>
        </p:nvSpPr>
        <p:spPr>
          <a:xfrm>
            <a:off x="889603" y="369902"/>
            <a:ext cx="10721553" cy="607653"/>
          </a:xfrm>
          <a:prstGeom prst="rect">
            <a:avLst/>
          </a:prstGeom>
        </p:spPr>
        <p:txBody>
          <a:bodyPr/>
          <a:lstStyle>
            <a:defPPr>
              <a:defRPr lang="en-US"/>
            </a:defPPr>
            <a:lvl1pPr algn="ctr">
              <a:lnSpc>
                <a:spcPct val="90000"/>
              </a:lnSpc>
              <a:spcBef>
                <a:spcPct val="0"/>
              </a:spcBef>
              <a:buNone/>
              <a:defRPr sz="3200" b="1">
                <a:solidFill>
                  <a:schemeClr val="accent1"/>
                </a:solidFill>
                <a:latin typeface="+mj-lt"/>
                <a:ea typeface="+mj-ea"/>
                <a:cs typeface="+mj-cs"/>
              </a:defRPr>
            </a:lvl1pPr>
          </a:lstStyle>
          <a:p>
            <a:pPr algn="l"/>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5" name="Imagen 4">
            <a:extLst>
              <a:ext uri="{FF2B5EF4-FFF2-40B4-BE49-F238E27FC236}">
                <a16:creationId xmlns:a16="http://schemas.microsoft.com/office/drawing/2014/main" id="{0361DC1E-E88F-6D9F-A9F0-DA83C037F7AD}"/>
              </a:ext>
            </a:extLst>
          </p:cNvPr>
          <p:cNvPicPr>
            <a:picLocks noChangeAspect="1"/>
          </p:cNvPicPr>
          <p:nvPr/>
        </p:nvPicPr>
        <p:blipFill>
          <a:blip r:embed="rId2"/>
          <a:stretch>
            <a:fillRect/>
          </a:stretch>
        </p:blipFill>
        <p:spPr>
          <a:xfrm>
            <a:off x="1041654" y="1082574"/>
            <a:ext cx="10108692" cy="3799983"/>
          </a:xfrm>
          <a:prstGeom prst="rect">
            <a:avLst/>
          </a:prstGeom>
        </p:spPr>
      </p:pic>
    </p:spTree>
    <p:extLst>
      <p:ext uri="{BB962C8B-B14F-4D97-AF65-F5344CB8AC3E}">
        <p14:creationId xmlns:p14="http://schemas.microsoft.com/office/powerpoint/2010/main" val="40847650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94C40E-5486-977D-DC7D-3B8384AEF572}"/>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074A79F1-A741-AA74-84B6-B6D4E92E7026}"/>
              </a:ext>
            </a:extLst>
          </p:cNvPr>
          <p:cNvSpPr/>
          <p:nvPr/>
        </p:nvSpPr>
        <p:spPr>
          <a:xfrm>
            <a:off x="987551" y="4380292"/>
            <a:ext cx="10213849" cy="156701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En la sección “</a:t>
            </a:r>
            <a:r>
              <a:rPr lang="es-CL" sz="1200" b="1" dirty="0"/>
              <a:t>Mantenimiento de código de divisa</a:t>
            </a:r>
            <a:r>
              <a:rPr lang="es-CL" sz="1200" dirty="0"/>
              <a:t>” se registra la información de la divisa:</a:t>
            </a:r>
          </a:p>
          <a:p>
            <a:pPr marL="171450" indent="-171450" algn="just">
              <a:buFont typeface="Arial" panose="020B0604020202020204" pitchFamily="34" charset="0"/>
              <a:buChar char="•"/>
            </a:pPr>
            <a:r>
              <a:rPr lang="es-CL" sz="1200" b="1" dirty="0"/>
              <a:t>Código de divisa: </a:t>
            </a:r>
            <a:r>
              <a:rPr lang="es-CL" sz="1200" dirty="0"/>
              <a:t>El código de divisa que identifica de manera única al tipo de divisa.</a:t>
            </a:r>
          </a:p>
          <a:p>
            <a:pPr marL="171450" indent="-171450" algn="just">
              <a:buFont typeface="Arial" panose="020B0604020202020204" pitchFamily="34" charset="0"/>
              <a:buChar char="•"/>
            </a:pPr>
            <a:r>
              <a:rPr lang="es-CL" sz="1200" b="1" dirty="0"/>
              <a:t>Código de banco</a:t>
            </a:r>
            <a:r>
              <a:rPr lang="es-CL" sz="1200" dirty="0"/>
              <a:t>: Identifica el código de banco predefinido cuando se usa una divisa extranjera para aplicar una factura.</a:t>
            </a:r>
          </a:p>
          <a:p>
            <a:pPr marL="171450" indent="-171450" algn="just">
              <a:buFont typeface="Arial" panose="020B0604020202020204" pitchFamily="34" charset="0"/>
              <a:buChar char="•"/>
            </a:pPr>
            <a:r>
              <a:rPr lang="es-CL" sz="1200" b="1" dirty="0"/>
              <a:t>Agente pagador: </a:t>
            </a:r>
            <a:r>
              <a:rPr lang="es-ES" sz="1200" dirty="0"/>
              <a:t>Número de identificación personal usado cuando una entidad genera un cheque en la divisa base con las instrucciones para que un tercero genere el cheque en la divisa extranjera. </a:t>
            </a:r>
          </a:p>
          <a:p>
            <a:pPr marL="171450" indent="-171450" algn="just">
              <a:buFont typeface="Arial" panose="020B0604020202020204" pitchFamily="34" charset="0"/>
              <a:buChar char="•"/>
            </a:pPr>
            <a:r>
              <a:rPr lang="es-CL" sz="1200" b="1" dirty="0"/>
              <a:t>País</a:t>
            </a:r>
            <a:r>
              <a:rPr lang="es-ES" sz="1200" b="1" dirty="0"/>
              <a:t>: </a:t>
            </a:r>
            <a:r>
              <a:rPr lang="es-ES" sz="1200" dirty="0"/>
              <a:t>Identifica el código de país asociado con el código de divisa.</a:t>
            </a:r>
            <a:endParaRPr lang="es-CL" sz="1200" dirty="0"/>
          </a:p>
        </p:txBody>
      </p:sp>
      <p:sp>
        <p:nvSpPr>
          <p:cNvPr id="4" name="Título 3">
            <a:extLst>
              <a:ext uri="{FF2B5EF4-FFF2-40B4-BE49-F238E27FC236}">
                <a16:creationId xmlns:a16="http://schemas.microsoft.com/office/drawing/2014/main" id="{4C52B4AC-8B2B-7B7B-9749-E2CC70EA84E7}"/>
              </a:ext>
            </a:extLst>
          </p:cNvPr>
          <p:cNvSpPr txBox="1">
            <a:spLocks/>
          </p:cNvSpPr>
          <p:nvPr/>
        </p:nvSpPr>
        <p:spPr>
          <a:xfrm>
            <a:off x="644625" y="241076"/>
            <a:ext cx="107715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5" name="Imagen 4">
            <a:extLst>
              <a:ext uri="{FF2B5EF4-FFF2-40B4-BE49-F238E27FC236}">
                <a16:creationId xmlns:a16="http://schemas.microsoft.com/office/drawing/2014/main" id="{16D63D77-0DD0-4216-A56B-2C5648C0F2B1}"/>
              </a:ext>
            </a:extLst>
          </p:cNvPr>
          <p:cNvPicPr>
            <a:picLocks noChangeAspect="1"/>
          </p:cNvPicPr>
          <p:nvPr/>
        </p:nvPicPr>
        <p:blipFill>
          <a:blip r:embed="rId2"/>
          <a:stretch>
            <a:fillRect/>
          </a:stretch>
        </p:blipFill>
        <p:spPr>
          <a:xfrm>
            <a:off x="987551" y="1082726"/>
            <a:ext cx="10213849" cy="3063622"/>
          </a:xfrm>
          <a:prstGeom prst="rect">
            <a:avLst/>
          </a:prstGeom>
        </p:spPr>
      </p:pic>
    </p:spTree>
    <p:extLst>
      <p:ext uri="{BB962C8B-B14F-4D97-AF65-F5344CB8AC3E}">
        <p14:creationId xmlns:p14="http://schemas.microsoft.com/office/powerpoint/2010/main" val="2618307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B8022-2883-4A9A-7005-6C335C426844}"/>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0BE2DC13-8CB9-666E-6453-B95083B58303}"/>
              </a:ext>
            </a:extLst>
          </p:cNvPr>
          <p:cNvSpPr/>
          <p:nvPr/>
        </p:nvSpPr>
        <p:spPr>
          <a:xfrm>
            <a:off x="727817" y="4555415"/>
            <a:ext cx="10688328" cy="148687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171450" indent="-171450" algn="just">
              <a:buFont typeface="Arial" panose="020B0604020202020204" pitchFamily="34" charset="0"/>
              <a:buChar char="•"/>
            </a:pPr>
            <a:r>
              <a:rPr lang="es-CL" sz="1200" b="1" dirty="0"/>
              <a:t>Código de divisa ISO: </a:t>
            </a:r>
            <a:r>
              <a:rPr lang="es-ES" sz="1200" dirty="0"/>
              <a:t>El código estándar ISO de tres caracteres para la divisa.</a:t>
            </a:r>
          </a:p>
          <a:p>
            <a:pPr marL="171450" indent="-171450" algn="just">
              <a:buFont typeface="Arial" panose="020B0604020202020204" pitchFamily="34" charset="0"/>
              <a:buChar char="•"/>
            </a:pPr>
            <a:r>
              <a:rPr lang="es-CL" sz="1200" b="1" dirty="0"/>
              <a:t>Tipo de cambio</a:t>
            </a:r>
            <a:r>
              <a:rPr lang="es-ES" sz="1200" b="1" dirty="0"/>
              <a:t>: </a:t>
            </a:r>
            <a:r>
              <a:rPr lang="es-ES" sz="1200" dirty="0"/>
              <a:t>Identifica el tipo de la tasa de conversión para el código de divisa. El tipo puede ser diario o periódico.</a:t>
            </a:r>
          </a:p>
          <a:p>
            <a:pPr marL="171450" indent="-171450" algn="just">
              <a:buFont typeface="Arial" panose="020B0604020202020204" pitchFamily="34" charset="0"/>
              <a:buChar char="•"/>
            </a:pPr>
            <a:r>
              <a:rPr lang="es-CL" sz="1200" b="1" dirty="0"/>
              <a:t>Estatus de activo</a:t>
            </a:r>
            <a:r>
              <a:rPr lang="es-ES" sz="1200" dirty="0"/>
              <a:t>: El estatus actual del registro asociado de la tabla de validación.</a:t>
            </a:r>
          </a:p>
          <a:p>
            <a:pPr marL="171450" indent="-171450" algn="just">
              <a:buFont typeface="Arial" panose="020B0604020202020204" pitchFamily="34" charset="0"/>
              <a:buChar char="•"/>
            </a:pPr>
            <a:r>
              <a:rPr lang="es-CL" sz="1200" b="1" dirty="0"/>
              <a:t>Fecha de vigencia</a:t>
            </a:r>
            <a:r>
              <a:rPr lang="es-ES" sz="1200" b="1" dirty="0"/>
              <a:t>: </a:t>
            </a:r>
            <a:r>
              <a:rPr lang="es-ES" sz="1200" dirty="0"/>
              <a:t>La fecha de vigencia de esta tasa de cambio en particular.</a:t>
            </a:r>
          </a:p>
          <a:p>
            <a:pPr marL="171450" indent="-171450" algn="just">
              <a:buFont typeface="Arial" panose="020B0604020202020204" pitchFamily="34" charset="0"/>
              <a:buChar char="•"/>
            </a:pPr>
            <a:r>
              <a:rPr lang="es-CL" sz="1200" b="1" dirty="0"/>
              <a:t>Fecha de terminación</a:t>
            </a:r>
            <a:r>
              <a:rPr lang="es-ES" sz="1200" b="1" dirty="0"/>
              <a:t>: </a:t>
            </a:r>
            <a:r>
              <a:rPr lang="es-ES" sz="1200" dirty="0"/>
              <a:t>La fecha en que la divisa dejará de estar vigente.</a:t>
            </a:r>
          </a:p>
          <a:p>
            <a:pPr marL="171450" indent="-171450" algn="just">
              <a:buFont typeface="Arial" panose="020B0604020202020204" pitchFamily="34" charset="0"/>
              <a:buChar char="•"/>
            </a:pPr>
            <a:r>
              <a:rPr lang="es-CL" sz="1200" b="1" dirty="0"/>
              <a:t>Siguiente fecha de cambio</a:t>
            </a:r>
            <a:r>
              <a:rPr lang="es-ES" sz="1200" dirty="0"/>
              <a:t>: La fecha en que la divisa cambiará.</a:t>
            </a:r>
            <a:endParaRPr lang="es-CL" sz="1200" dirty="0"/>
          </a:p>
        </p:txBody>
      </p:sp>
      <p:sp>
        <p:nvSpPr>
          <p:cNvPr id="7" name="Título 3">
            <a:extLst>
              <a:ext uri="{FF2B5EF4-FFF2-40B4-BE49-F238E27FC236}">
                <a16:creationId xmlns:a16="http://schemas.microsoft.com/office/drawing/2014/main" id="{C165A1E6-9E9D-EF09-1F49-8B154EAEC561}"/>
              </a:ext>
            </a:extLst>
          </p:cNvPr>
          <p:cNvSpPr txBox="1">
            <a:spLocks/>
          </p:cNvSpPr>
          <p:nvPr/>
        </p:nvSpPr>
        <p:spPr>
          <a:xfrm>
            <a:off x="644625" y="241076"/>
            <a:ext cx="107715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4" name="Imagen 3">
            <a:extLst>
              <a:ext uri="{FF2B5EF4-FFF2-40B4-BE49-F238E27FC236}">
                <a16:creationId xmlns:a16="http://schemas.microsoft.com/office/drawing/2014/main" id="{0115348C-6454-A2BF-3315-A7C4D8C0062C}"/>
              </a:ext>
            </a:extLst>
          </p:cNvPr>
          <p:cNvPicPr>
            <a:picLocks noChangeAspect="1"/>
          </p:cNvPicPr>
          <p:nvPr/>
        </p:nvPicPr>
        <p:blipFill>
          <a:blip r:embed="rId2"/>
          <a:stretch>
            <a:fillRect/>
          </a:stretch>
        </p:blipFill>
        <p:spPr>
          <a:xfrm>
            <a:off x="727817" y="1104792"/>
            <a:ext cx="10736366" cy="3194614"/>
          </a:xfrm>
          <a:prstGeom prst="rect">
            <a:avLst/>
          </a:prstGeom>
        </p:spPr>
      </p:pic>
    </p:spTree>
    <p:extLst>
      <p:ext uri="{BB962C8B-B14F-4D97-AF65-F5344CB8AC3E}">
        <p14:creationId xmlns:p14="http://schemas.microsoft.com/office/powerpoint/2010/main" val="2899557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DE7BA-1DEA-2FD0-AF12-D6C3DCA087B0}"/>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9C476D2F-385F-F1E3-8910-EFD49A2ED09F}"/>
              </a:ext>
            </a:extLst>
          </p:cNvPr>
          <p:cNvSpPr/>
          <p:nvPr/>
        </p:nvSpPr>
        <p:spPr>
          <a:xfrm>
            <a:off x="950976" y="4483740"/>
            <a:ext cx="10085832" cy="152386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En la sección “</a:t>
            </a:r>
            <a:r>
              <a:rPr lang="es-CL" sz="1200" b="1" dirty="0"/>
              <a:t>Tipo de Cambio</a:t>
            </a:r>
            <a:r>
              <a:rPr lang="es-CL" sz="1200" dirty="0"/>
              <a:t>” se registra la tasa de conversión de una moneda diferente a la divisa base.</a:t>
            </a:r>
          </a:p>
          <a:p>
            <a:pPr marL="171450" indent="-171450" algn="just">
              <a:buFont typeface="Arial" panose="020B0604020202020204" pitchFamily="34" charset="0"/>
              <a:buChar char="•"/>
            </a:pPr>
            <a:r>
              <a:rPr lang="es-CL" sz="1200" b="1" dirty="0"/>
              <a:t>Fecha de vigencia:</a:t>
            </a:r>
            <a:r>
              <a:rPr lang="es-CL" sz="1200" dirty="0"/>
              <a:t> </a:t>
            </a:r>
            <a:r>
              <a:rPr lang="es-ES" sz="1200" dirty="0"/>
              <a:t>Fecha desde la cual la divisa es vigente.</a:t>
            </a:r>
          </a:p>
          <a:p>
            <a:pPr marL="171450" indent="-171450" algn="just">
              <a:buFont typeface="Arial" panose="020B0604020202020204" pitchFamily="34" charset="0"/>
              <a:buChar char="•"/>
            </a:pPr>
            <a:r>
              <a:rPr lang="es-CL" sz="1200" b="1" dirty="0"/>
              <a:t>Siguiente fecha de cambio</a:t>
            </a:r>
            <a:r>
              <a:rPr lang="es-ES" sz="1200" b="1" dirty="0"/>
              <a:t>: </a:t>
            </a:r>
            <a:r>
              <a:rPr lang="es-ES" sz="1200" dirty="0"/>
              <a:t>La fecha en que la divisa cambiará.</a:t>
            </a:r>
          </a:p>
          <a:p>
            <a:pPr marL="171450" indent="-171450" algn="just">
              <a:buFont typeface="Arial" panose="020B0604020202020204" pitchFamily="34" charset="0"/>
              <a:buChar char="•"/>
            </a:pPr>
            <a:r>
              <a:rPr lang="es-ES" sz="1200" b="1" dirty="0"/>
              <a:t>Multiplicador de la tasa de cambio: </a:t>
            </a:r>
            <a:r>
              <a:rPr lang="es-ES" sz="1200" dirty="0"/>
              <a:t>El multiplicador de la tasa de cambio de la divisa base. Este campo es visible solo cuando la institución tiene seleccionado el cuadro Desplegar método del multiplicador de la tasa de cambio en la página Controles de Instalación (GUAINST).</a:t>
            </a:r>
          </a:p>
          <a:p>
            <a:pPr marL="171450" indent="-171450" algn="just">
              <a:buFont typeface="Arial" panose="020B0604020202020204" pitchFamily="34" charset="0"/>
              <a:buChar char="•"/>
            </a:pPr>
            <a:r>
              <a:rPr lang="es-ES" sz="1200" b="1" dirty="0"/>
              <a:t>Divisor de la tasa de cambio</a:t>
            </a:r>
            <a:r>
              <a:rPr lang="es-ES" sz="1200" dirty="0"/>
              <a:t>: El divisor de la tasa de cambio de la divisa.</a:t>
            </a:r>
            <a:endParaRPr lang="es-CL" sz="1200" dirty="0"/>
          </a:p>
        </p:txBody>
      </p:sp>
      <p:sp>
        <p:nvSpPr>
          <p:cNvPr id="7" name="Título 3">
            <a:extLst>
              <a:ext uri="{FF2B5EF4-FFF2-40B4-BE49-F238E27FC236}">
                <a16:creationId xmlns:a16="http://schemas.microsoft.com/office/drawing/2014/main" id="{1A2AEEE7-6701-752B-AB40-80003BA9A9E9}"/>
              </a:ext>
            </a:extLst>
          </p:cNvPr>
          <p:cNvSpPr txBox="1">
            <a:spLocks/>
          </p:cNvSpPr>
          <p:nvPr/>
        </p:nvSpPr>
        <p:spPr>
          <a:xfrm>
            <a:off x="644625" y="241076"/>
            <a:ext cx="107715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4" name="Imagen 3">
            <a:extLst>
              <a:ext uri="{FF2B5EF4-FFF2-40B4-BE49-F238E27FC236}">
                <a16:creationId xmlns:a16="http://schemas.microsoft.com/office/drawing/2014/main" id="{03639279-72F1-D19A-2B52-685A259766ED}"/>
              </a:ext>
            </a:extLst>
          </p:cNvPr>
          <p:cNvPicPr>
            <a:picLocks noChangeAspect="1"/>
          </p:cNvPicPr>
          <p:nvPr/>
        </p:nvPicPr>
        <p:blipFill>
          <a:blip r:embed="rId2"/>
          <a:stretch>
            <a:fillRect/>
          </a:stretch>
        </p:blipFill>
        <p:spPr>
          <a:xfrm>
            <a:off x="525807" y="1049842"/>
            <a:ext cx="11021568" cy="3232839"/>
          </a:xfrm>
          <a:prstGeom prst="rect">
            <a:avLst/>
          </a:prstGeom>
        </p:spPr>
      </p:pic>
    </p:spTree>
    <p:extLst>
      <p:ext uri="{BB962C8B-B14F-4D97-AF65-F5344CB8AC3E}">
        <p14:creationId xmlns:p14="http://schemas.microsoft.com/office/powerpoint/2010/main" val="401566755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B395C-5ECA-9002-0EA8-307EBFA5AFFF}"/>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F7910F73-34D8-3496-F481-1E34024F2D02}"/>
              </a:ext>
            </a:extLst>
          </p:cNvPr>
          <p:cNvSpPr/>
          <p:nvPr/>
        </p:nvSpPr>
        <p:spPr>
          <a:xfrm>
            <a:off x="1304399" y="4691651"/>
            <a:ext cx="9583200" cy="47785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b="1" dirty="0">
                <a:solidFill>
                  <a:schemeClr val="accent6">
                    <a:lumMod val="40000"/>
                    <a:lumOff val="60000"/>
                  </a:schemeClr>
                </a:solidFill>
              </a:rPr>
              <a:t>En el caso de la divisa configurada en GUAINST como divisa base, la tasa de conversión será 1.</a:t>
            </a:r>
          </a:p>
        </p:txBody>
      </p:sp>
      <p:sp>
        <p:nvSpPr>
          <p:cNvPr id="7" name="Título 3">
            <a:extLst>
              <a:ext uri="{FF2B5EF4-FFF2-40B4-BE49-F238E27FC236}">
                <a16:creationId xmlns:a16="http://schemas.microsoft.com/office/drawing/2014/main" id="{4531A4E4-52FD-047B-1B13-F751C68606CC}"/>
              </a:ext>
            </a:extLst>
          </p:cNvPr>
          <p:cNvSpPr txBox="1">
            <a:spLocks/>
          </p:cNvSpPr>
          <p:nvPr/>
        </p:nvSpPr>
        <p:spPr>
          <a:xfrm>
            <a:off x="1304398" y="416469"/>
            <a:ext cx="9583200" cy="946714"/>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GUACURR Mantenimiento </a:t>
            </a:r>
          </a:p>
          <a:p>
            <a:r>
              <a:rPr lang="es-ES_tradnl" dirty="0">
                <a:solidFill>
                  <a:schemeClr val="tx1"/>
                </a:solidFill>
              </a:rPr>
              <a:t>Código de Divisa</a:t>
            </a:r>
            <a:endParaRPr lang="es-CL" dirty="0">
              <a:solidFill>
                <a:schemeClr val="tx1"/>
              </a:solidFill>
            </a:endParaRPr>
          </a:p>
        </p:txBody>
      </p:sp>
      <p:pic>
        <p:nvPicPr>
          <p:cNvPr id="4" name="Imagen 3">
            <a:extLst>
              <a:ext uri="{FF2B5EF4-FFF2-40B4-BE49-F238E27FC236}">
                <a16:creationId xmlns:a16="http://schemas.microsoft.com/office/drawing/2014/main" id="{E5C4EEE5-C4A2-A5FE-6D44-80160204FE67}"/>
              </a:ext>
            </a:extLst>
          </p:cNvPr>
          <p:cNvPicPr>
            <a:picLocks noChangeAspect="1"/>
          </p:cNvPicPr>
          <p:nvPr/>
        </p:nvPicPr>
        <p:blipFill>
          <a:blip r:embed="rId2"/>
          <a:stretch>
            <a:fillRect/>
          </a:stretch>
        </p:blipFill>
        <p:spPr>
          <a:xfrm>
            <a:off x="1304398" y="1551337"/>
            <a:ext cx="9583200" cy="2842432"/>
          </a:xfrm>
          <a:prstGeom prst="rect">
            <a:avLst/>
          </a:prstGeom>
        </p:spPr>
      </p:pic>
    </p:spTree>
    <p:extLst>
      <p:ext uri="{BB962C8B-B14F-4D97-AF65-F5344CB8AC3E}">
        <p14:creationId xmlns:p14="http://schemas.microsoft.com/office/powerpoint/2010/main" val="22577120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5B0F3-B54F-C83D-1F86-254C1CD2110B}"/>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790067E9-A7E8-F89C-5D54-BC62AE7D5F21}"/>
              </a:ext>
            </a:extLst>
          </p:cNvPr>
          <p:cNvSpPr/>
          <p:nvPr/>
        </p:nvSpPr>
        <p:spPr>
          <a:xfrm>
            <a:off x="1029813" y="4712985"/>
            <a:ext cx="5066186" cy="6406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1. Para crear un nuevo registro, se hace click en el botón </a:t>
            </a:r>
            <a:r>
              <a:rPr lang="es-CL" sz="1200" b="1" dirty="0"/>
              <a:t>Insertar</a:t>
            </a:r>
            <a:r>
              <a:rPr lang="es-CL" sz="1200" dirty="0"/>
              <a:t> y se diligencian los campos según corresponda.</a:t>
            </a:r>
          </a:p>
        </p:txBody>
      </p:sp>
      <p:sp>
        <p:nvSpPr>
          <p:cNvPr id="6" name="Rectángulo: esquinas redondeadas 9">
            <a:extLst>
              <a:ext uri="{FF2B5EF4-FFF2-40B4-BE49-F238E27FC236}">
                <a16:creationId xmlns:a16="http://schemas.microsoft.com/office/drawing/2014/main" id="{EB5CF633-6253-7CDD-9310-16203B64A5E7}"/>
              </a:ext>
            </a:extLst>
          </p:cNvPr>
          <p:cNvSpPr/>
          <p:nvPr/>
        </p:nvSpPr>
        <p:spPr>
          <a:xfrm>
            <a:off x="7419946" y="4712985"/>
            <a:ext cx="3614641" cy="64065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2. Para finalizar, se hace click en el botón </a:t>
            </a:r>
            <a:r>
              <a:rPr lang="es-CL" sz="1200" b="1" dirty="0"/>
              <a:t>Guardar</a:t>
            </a:r>
            <a:r>
              <a:rPr lang="es-CL" sz="1200" dirty="0"/>
              <a:t> o se digita la tecla </a:t>
            </a:r>
            <a:r>
              <a:rPr lang="es-CL" sz="1200" b="1" dirty="0"/>
              <a:t>F10</a:t>
            </a:r>
            <a:r>
              <a:rPr lang="es-CL" sz="1200" dirty="0"/>
              <a:t>.</a:t>
            </a:r>
          </a:p>
        </p:txBody>
      </p:sp>
      <p:sp>
        <p:nvSpPr>
          <p:cNvPr id="8" name="Título 3">
            <a:extLst>
              <a:ext uri="{FF2B5EF4-FFF2-40B4-BE49-F238E27FC236}">
                <a16:creationId xmlns:a16="http://schemas.microsoft.com/office/drawing/2014/main" id="{8B749B67-9C17-9931-ACE8-DFCADEFCA668}"/>
              </a:ext>
            </a:extLst>
          </p:cNvPr>
          <p:cNvSpPr txBox="1">
            <a:spLocks/>
          </p:cNvSpPr>
          <p:nvPr/>
        </p:nvSpPr>
        <p:spPr>
          <a:xfrm>
            <a:off x="644625" y="241076"/>
            <a:ext cx="10771520"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GUACURR Mantenimiento Código de Divisa</a:t>
            </a:r>
            <a:endParaRPr lang="es-CL" dirty="0">
              <a:solidFill>
                <a:schemeClr val="tx1"/>
              </a:solidFill>
            </a:endParaRPr>
          </a:p>
        </p:txBody>
      </p:sp>
      <p:pic>
        <p:nvPicPr>
          <p:cNvPr id="3" name="Imagen 2">
            <a:extLst>
              <a:ext uri="{FF2B5EF4-FFF2-40B4-BE49-F238E27FC236}">
                <a16:creationId xmlns:a16="http://schemas.microsoft.com/office/drawing/2014/main" id="{4D4F5DF5-22B6-5F33-32D2-05457846FA55}"/>
              </a:ext>
            </a:extLst>
          </p:cNvPr>
          <p:cNvPicPr>
            <a:picLocks noChangeAspect="1"/>
          </p:cNvPicPr>
          <p:nvPr/>
        </p:nvPicPr>
        <p:blipFill>
          <a:blip r:embed="rId2"/>
          <a:stretch>
            <a:fillRect/>
          </a:stretch>
        </p:blipFill>
        <p:spPr>
          <a:xfrm>
            <a:off x="1067519" y="1046667"/>
            <a:ext cx="10056960" cy="2953609"/>
          </a:xfrm>
          <a:prstGeom prst="rect">
            <a:avLst/>
          </a:prstGeom>
        </p:spPr>
      </p:pic>
      <p:pic>
        <p:nvPicPr>
          <p:cNvPr id="7" name="Imagen 6">
            <a:extLst>
              <a:ext uri="{FF2B5EF4-FFF2-40B4-BE49-F238E27FC236}">
                <a16:creationId xmlns:a16="http://schemas.microsoft.com/office/drawing/2014/main" id="{F3C06B14-BA5F-2682-88EA-97B65916EB14}"/>
              </a:ext>
            </a:extLst>
          </p:cNvPr>
          <p:cNvPicPr>
            <a:picLocks noChangeAspect="1"/>
          </p:cNvPicPr>
          <p:nvPr/>
        </p:nvPicPr>
        <p:blipFill>
          <a:blip r:embed="rId3"/>
          <a:stretch>
            <a:fillRect/>
          </a:stretch>
        </p:blipFill>
        <p:spPr>
          <a:xfrm>
            <a:off x="1067519" y="4000275"/>
            <a:ext cx="10056960" cy="341181"/>
          </a:xfrm>
          <a:prstGeom prst="rect">
            <a:avLst/>
          </a:prstGeom>
        </p:spPr>
      </p:pic>
    </p:spTree>
    <p:extLst>
      <p:ext uri="{BB962C8B-B14F-4D97-AF65-F5344CB8AC3E}">
        <p14:creationId xmlns:p14="http://schemas.microsoft.com/office/powerpoint/2010/main" val="1515818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9ACB8-DF7F-3CCF-F12D-CCACA929EA2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B192EFA1-4B13-9710-C5E9-13E8B755DED1}"/>
              </a:ext>
            </a:extLst>
          </p:cNvPr>
          <p:cNvSpPr txBox="1"/>
          <p:nvPr/>
        </p:nvSpPr>
        <p:spPr>
          <a:xfrm>
            <a:off x="576072" y="2328172"/>
            <a:ext cx="7815834" cy="1015663"/>
          </a:xfrm>
          <a:prstGeom prst="rect">
            <a:avLst/>
          </a:prstGeom>
          <a:noFill/>
        </p:spPr>
        <p:txBody>
          <a:bodyPr wrap="square">
            <a:spAutoFit/>
          </a:bodyPr>
          <a:lstStyle/>
          <a:p>
            <a:r>
              <a:rPr lang="en-US" sz="6000" b="1" dirty="0">
                <a:solidFill>
                  <a:schemeClr val="bg1"/>
                </a:solidFill>
              </a:rPr>
              <a:t>Configuraciones</a:t>
            </a:r>
          </a:p>
        </p:txBody>
      </p:sp>
      <p:sp>
        <p:nvSpPr>
          <p:cNvPr id="8" name="Text Placeholder 16">
            <a:extLst>
              <a:ext uri="{FF2B5EF4-FFF2-40B4-BE49-F238E27FC236}">
                <a16:creationId xmlns:a16="http://schemas.microsoft.com/office/drawing/2014/main" id="{8EEAB422-3314-4C97-27EB-94B0F690A8C0}"/>
              </a:ext>
            </a:extLst>
          </p:cNvPr>
          <p:cNvSpPr txBox="1">
            <a:spLocks/>
          </p:cNvSpPr>
          <p:nvPr/>
        </p:nvSpPr>
        <p:spPr>
          <a:xfrm>
            <a:off x="649224" y="4666986"/>
            <a:ext cx="7454279" cy="42062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Cuentas por Cobrar del Estudiante</a:t>
            </a:r>
            <a:endParaRPr lang="en-US" sz="2000" b="1" dirty="0">
              <a:solidFill>
                <a:schemeClr val="bg1"/>
              </a:solidFill>
            </a:endParaRPr>
          </a:p>
        </p:txBody>
      </p:sp>
      <p:sp>
        <p:nvSpPr>
          <p:cNvPr id="2" name="Text Placeholder 16">
            <a:extLst>
              <a:ext uri="{FF2B5EF4-FFF2-40B4-BE49-F238E27FC236}">
                <a16:creationId xmlns:a16="http://schemas.microsoft.com/office/drawing/2014/main" id="{5D0A2C86-AD66-6E91-A135-BBE3AD67F341}"/>
              </a:ext>
            </a:extLst>
          </p:cNvPr>
          <p:cNvSpPr txBox="1">
            <a:spLocks/>
          </p:cNvSpPr>
          <p:nvPr/>
        </p:nvSpPr>
        <p:spPr>
          <a:xfrm>
            <a:off x="576072" y="3278089"/>
            <a:ext cx="7454279" cy="77444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Definir la configuración de multimpuestos  </a:t>
            </a:r>
            <a:endParaRPr lang="en-US" sz="2000" b="1" dirty="0">
              <a:solidFill>
                <a:schemeClr val="bg1"/>
              </a:solidFill>
            </a:endParaRPr>
          </a:p>
        </p:txBody>
      </p:sp>
    </p:spTree>
    <p:extLst>
      <p:ext uri="{BB962C8B-B14F-4D97-AF65-F5344CB8AC3E}">
        <p14:creationId xmlns:p14="http://schemas.microsoft.com/office/powerpoint/2010/main" val="28025954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FE3A7-7536-5DD7-49AC-09FAD7F36449}"/>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B494D819-85E1-8C09-9FCB-EC566F2BDED1}"/>
              </a:ext>
            </a:extLst>
          </p:cNvPr>
          <p:cNvSpPr/>
          <p:nvPr/>
        </p:nvSpPr>
        <p:spPr>
          <a:xfrm>
            <a:off x="1029813" y="4539348"/>
            <a:ext cx="5066186" cy="4890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Activación funcionalidad e impuestos.</a:t>
            </a:r>
          </a:p>
        </p:txBody>
      </p:sp>
      <p:sp>
        <p:nvSpPr>
          <p:cNvPr id="8" name="Título 3">
            <a:extLst>
              <a:ext uri="{FF2B5EF4-FFF2-40B4-BE49-F238E27FC236}">
                <a16:creationId xmlns:a16="http://schemas.microsoft.com/office/drawing/2014/main" id="{28FB2C95-E0D1-27BC-2A97-0F8AD2D27A48}"/>
              </a:ext>
            </a:extLst>
          </p:cNvPr>
          <p:cNvSpPr txBox="1">
            <a:spLocks/>
          </p:cNvSpPr>
          <p:nvPr/>
        </p:nvSpPr>
        <p:spPr>
          <a:xfrm>
            <a:off x="929201" y="359829"/>
            <a:ext cx="10105386"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TGACTRL – Control de cobro de CXC</a:t>
            </a:r>
          </a:p>
        </p:txBody>
      </p:sp>
      <p:pic>
        <p:nvPicPr>
          <p:cNvPr id="4" name="Imagen 3">
            <a:extLst>
              <a:ext uri="{FF2B5EF4-FFF2-40B4-BE49-F238E27FC236}">
                <a16:creationId xmlns:a16="http://schemas.microsoft.com/office/drawing/2014/main" id="{7F1968CB-61DB-D3A7-F5D9-2E09EEB97423}"/>
              </a:ext>
            </a:extLst>
          </p:cNvPr>
          <p:cNvPicPr>
            <a:picLocks noChangeAspect="1"/>
          </p:cNvPicPr>
          <p:nvPr/>
        </p:nvPicPr>
        <p:blipFill>
          <a:blip r:embed="rId2"/>
          <a:stretch>
            <a:fillRect/>
          </a:stretch>
        </p:blipFill>
        <p:spPr>
          <a:xfrm>
            <a:off x="929201" y="1504365"/>
            <a:ext cx="10333596" cy="2742668"/>
          </a:xfrm>
          <a:prstGeom prst="rect">
            <a:avLst/>
          </a:prstGeom>
        </p:spPr>
      </p:pic>
    </p:spTree>
    <p:extLst>
      <p:ext uri="{BB962C8B-B14F-4D97-AF65-F5344CB8AC3E}">
        <p14:creationId xmlns:p14="http://schemas.microsoft.com/office/powerpoint/2010/main" val="294340556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07225-1EED-63C5-0635-D10E94A657F6}"/>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7242EA36-CD9A-9D5A-8207-4BDCF33978DB}"/>
              </a:ext>
            </a:extLst>
          </p:cNvPr>
          <p:cNvSpPr/>
          <p:nvPr/>
        </p:nvSpPr>
        <p:spPr>
          <a:xfrm>
            <a:off x="1057849" y="4063860"/>
            <a:ext cx="3258119" cy="4890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Formalización de los perfiles de impuesto.</a:t>
            </a:r>
            <a:endParaRPr lang="es-CL" sz="1200" dirty="0"/>
          </a:p>
        </p:txBody>
      </p:sp>
      <p:sp>
        <p:nvSpPr>
          <p:cNvPr id="8" name="Título 3">
            <a:extLst>
              <a:ext uri="{FF2B5EF4-FFF2-40B4-BE49-F238E27FC236}">
                <a16:creationId xmlns:a16="http://schemas.microsoft.com/office/drawing/2014/main" id="{6AFD7097-645A-9820-A103-57956D041041}"/>
              </a:ext>
            </a:extLst>
          </p:cNvPr>
          <p:cNvSpPr txBox="1">
            <a:spLocks/>
          </p:cNvSpPr>
          <p:nvPr/>
        </p:nvSpPr>
        <p:spPr>
          <a:xfrm>
            <a:off x="929200" y="423837"/>
            <a:ext cx="10105386"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CO" dirty="0">
                <a:solidFill>
                  <a:schemeClr val="tx1"/>
                </a:solidFill>
              </a:rPr>
              <a:t>TVVTXPR Validación del perfil de impuestos</a:t>
            </a:r>
            <a:endParaRPr lang="es-ES_tradnl" dirty="0">
              <a:solidFill>
                <a:schemeClr val="tx1"/>
              </a:solidFill>
            </a:endParaRPr>
          </a:p>
        </p:txBody>
      </p:sp>
      <p:pic>
        <p:nvPicPr>
          <p:cNvPr id="3" name="Imagen 2">
            <a:extLst>
              <a:ext uri="{FF2B5EF4-FFF2-40B4-BE49-F238E27FC236}">
                <a16:creationId xmlns:a16="http://schemas.microsoft.com/office/drawing/2014/main" id="{3762AA85-2388-BC29-1744-453E4515B926}"/>
              </a:ext>
            </a:extLst>
          </p:cNvPr>
          <p:cNvPicPr>
            <a:picLocks noChangeAspect="1"/>
          </p:cNvPicPr>
          <p:nvPr/>
        </p:nvPicPr>
        <p:blipFill>
          <a:blip r:embed="rId2"/>
          <a:stretch>
            <a:fillRect/>
          </a:stretch>
        </p:blipFill>
        <p:spPr>
          <a:xfrm>
            <a:off x="1057849" y="1724589"/>
            <a:ext cx="9848089" cy="2260805"/>
          </a:xfrm>
          <a:prstGeom prst="rect">
            <a:avLst/>
          </a:prstGeom>
        </p:spPr>
      </p:pic>
    </p:spTree>
    <p:extLst>
      <p:ext uri="{BB962C8B-B14F-4D97-AF65-F5344CB8AC3E}">
        <p14:creationId xmlns:p14="http://schemas.microsoft.com/office/powerpoint/2010/main" val="4257401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5C2FB-8CC1-449E-B975-A066C120C5A8}"/>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6FAC6522-3D67-B316-816C-F1285AD5FBD2}"/>
              </a:ext>
            </a:extLst>
          </p:cNvPr>
          <p:cNvSpPr/>
          <p:nvPr/>
        </p:nvSpPr>
        <p:spPr>
          <a:xfrm>
            <a:off x="989238" y="4704585"/>
            <a:ext cx="10026330" cy="65379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Configuración de los perfiles de impuesto con el código de detalle que lo representaría y el porcentaje del impuesto a aplicar. </a:t>
            </a:r>
          </a:p>
          <a:p>
            <a:pPr algn="just"/>
            <a:r>
              <a:rPr lang="es-ES" sz="1200" dirty="0"/>
              <a:t>Particularmente se debe definir si el impuesto será aplicado “hacia adelante” o “hacia atrás” para este perfil</a:t>
            </a:r>
            <a:endParaRPr lang="es-CL" sz="1200" dirty="0"/>
          </a:p>
        </p:txBody>
      </p:sp>
      <p:sp>
        <p:nvSpPr>
          <p:cNvPr id="8" name="Título 3">
            <a:extLst>
              <a:ext uri="{FF2B5EF4-FFF2-40B4-BE49-F238E27FC236}">
                <a16:creationId xmlns:a16="http://schemas.microsoft.com/office/drawing/2014/main" id="{C52094B6-9A10-39B7-3B94-A1571CBEE379}"/>
              </a:ext>
            </a:extLst>
          </p:cNvPr>
          <p:cNvSpPr txBox="1">
            <a:spLocks/>
          </p:cNvSpPr>
          <p:nvPr/>
        </p:nvSpPr>
        <p:spPr>
          <a:xfrm>
            <a:off x="883480" y="423837"/>
            <a:ext cx="10105386"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CO" dirty="0">
                <a:solidFill>
                  <a:schemeClr val="tx1"/>
                </a:solidFill>
              </a:rPr>
              <a:t>TVATXPR Configuración del perfil de impuesto</a:t>
            </a:r>
            <a:endParaRPr lang="es-ES_tradnl" dirty="0">
              <a:solidFill>
                <a:schemeClr val="tx1"/>
              </a:solidFill>
            </a:endParaRPr>
          </a:p>
        </p:txBody>
      </p:sp>
      <p:pic>
        <p:nvPicPr>
          <p:cNvPr id="4" name="Imagen 3">
            <a:extLst>
              <a:ext uri="{FF2B5EF4-FFF2-40B4-BE49-F238E27FC236}">
                <a16:creationId xmlns:a16="http://schemas.microsoft.com/office/drawing/2014/main" id="{C8962F70-B491-56BB-E25B-2DEB7561382D}"/>
              </a:ext>
            </a:extLst>
          </p:cNvPr>
          <p:cNvPicPr>
            <a:picLocks noChangeAspect="1"/>
          </p:cNvPicPr>
          <p:nvPr/>
        </p:nvPicPr>
        <p:blipFill>
          <a:blip r:embed="rId2"/>
          <a:stretch>
            <a:fillRect/>
          </a:stretch>
        </p:blipFill>
        <p:spPr>
          <a:xfrm>
            <a:off x="989238" y="1582092"/>
            <a:ext cx="10105386" cy="2784783"/>
          </a:xfrm>
          <a:prstGeom prst="rect">
            <a:avLst/>
          </a:prstGeom>
        </p:spPr>
      </p:pic>
    </p:spTree>
    <p:extLst>
      <p:ext uri="{BB962C8B-B14F-4D97-AF65-F5344CB8AC3E}">
        <p14:creationId xmlns:p14="http://schemas.microsoft.com/office/powerpoint/2010/main" val="27877631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DA129-091C-8663-E9FF-66429A5B5702}"/>
            </a:ext>
          </a:extLst>
        </p:cNvPr>
        <p:cNvGrpSpPr/>
        <p:nvPr/>
      </p:nvGrpSpPr>
      <p:grpSpPr>
        <a:xfrm>
          <a:off x="0" y="0"/>
          <a:ext cx="0" cy="0"/>
          <a:chOff x="0" y="0"/>
          <a:chExt cx="0" cy="0"/>
        </a:xfrm>
      </p:grpSpPr>
      <p:sp>
        <p:nvSpPr>
          <p:cNvPr id="5" name="Rectángulo: esquinas redondeadas 4">
            <a:extLst>
              <a:ext uri="{FF2B5EF4-FFF2-40B4-BE49-F238E27FC236}">
                <a16:creationId xmlns:a16="http://schemas.microsoft.com/office/drawing/2014/main" id="{DBD65969-3135-3DCE-9BC6-9E0781F4FF57}"/>
              </a:ext>
            </a:extLst>
          </p:cNvPr>
          <p:cNvSpPr/>
          <p:nvPr/>
        </p:nvSpPr>
        <p:spPr>
          <a:xfrm>
            <a:off x="1271104" y="5503620"/>
            <a:ext cx="5038256" cy="4890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Configuración de cargos afectos – Se les asocio un perfil de impuesto.</a:t>
            </a:r>
            <a:endParaRPr lang="es-CL" sz="1200" dirty="0"/>
          </a:p>
        </p:txBody>
      </p:sp>
      <p:sp>
        <p:nvSpPr>
          <p:cNvPr id="8" name="Título 3">
            <a:extLst>
              <a:ext uri="{FF2B5EF4-FFF2-40B4-BE49-F238E27FC236}">
                <a16:creationId xmlns:a16="http://schemas.microsoft.com/office/drawing/2014/main" id="{1195583B-C23C-99B9-13DF-482DFCF8AA80}"/>
              </a:ext>
            </a:extLst>
          </p:cNvPr>
          <p:cNvSpPr txBox="1">
            <a:spLocks/>
          </p:cNvSpPr>
          <p:nvPr/>
        </p:nvSpPr>
        <p:spPr>
          <a:xfrm>
            <a:off x="929200" y="423837"/>
            <a:ext cx="10105386" cy="607707"/>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TVAMCTX Perfil de impuestos y divisa de códigos de detalle múltiples </a:t>
            </a:r>
          </a:p>
        </p:txBody>
      </p:sp>
      <p:pic>
        <p:nvPicPr>
          <p:cNvPr id="4" name="Imagen 3">
            <a:extLst>
              <a:ext uri="{FF2B5EF4-FFF2-40B4-BE49-F238E27FC236}">
                <a16:creationId xmlns:a16="http://schemas.microsoft.com/office/drawing/2014/main" id="{0DB7049D-C2F5-1CB4-B3BE-E8116DFD2BB9}"/>
              </a:ext>
            </a:extLst>
          </p:cNvPr>
          <p:cNvPicPr>
            <a:picLocks noChangeAspect="1"/>
          </p:cNvPicPr>
          <p:nvPr/>
        </p:nvPicPr>
        <p:blipFill>
          <a:blip r:embed="rId2"/>
          <a:stretch>
            <a:fillRect/>
          </a:stretch>
        </p:blipFill>
        <p:spPr>
          <a:xfrm>
            <a:off x="1271104" y="1517154"/>
            <a:ext cx="9649792" cy="3823692"/>
          </a:xfrm>
          <a:prstGeom prst="rect">
            <a:avLst/>
          </a:prstGeom>
        </p:spPr>
      </p:pic>
    </p:spTree>
    <p:extLst>
      <p:ext uri="{BB962C8B-B14F-4D97-AF65-F5344CB8AC3E}">
        <p14:creationId xmlns:p14="http://schemas.microsoft.com/office/powerpoint/2010/main" val="14915596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3CF4D-0317-5D0F-BAAC-A970024BBCFE}"/>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D80145C3-3999-4BC1-06B4-17C0B706DC78}"/>
              </a:ext>
            </a:extLst>
          </p:cNvPr>
          <p:cNvSpPr txBox="1"/>
          <p:nvPr/>
        </p:nvSpPr>
        <p:spPr>
          <a:xfrm>
            <a:off x="576072" y="2328172"/>
            <a:ext cx="7815834" cy="1015663"/>
          </a:xfrm>
          <a:prstGeom prst="rect">
            <a:avLst/>
          </a:prstGeom>
          <a:noFill/>
        </p:spPr>
        <p:txBody>
          <a:bodyPr wrap="square">
            <a:spAutoFit/>
          </a:bodyPr>
          <a:lstStyle/>
          <a:p>
            <a:r>
              <a:rPr lang="en-US" sz="6000" b="1" dirty="0">
                <a:solidFill>
                  <a:schemeClr val="bg1"/>
                </a:solidFill>
              </a:rPr>
              <a:t>Configuraciones</a:t>
            </a:r>
          </a:p>
        </p:txBody>
      </p:sp>
      <p:sp>
        <p:nvSpPr>
          <p:cNvPr id="8" name="Text Placeholder 16">
            <a:extLst>
              <a:ext uri="{FF2B5EF4-FFF2-40B4-BE49-F238E27FC236}">
                <a16:creationId xmlns:a16="http://schemas.microsoft.com/office/drawing/2014/main" id="{86B8B923-0DB9-6A4A-302E-8D4766BB150C}"/>
              </a:ext>
            </a:extLst>
          </p:cNvPr>
          <p:cNvSpPr txBox="1">
            <a:spLocks/>
          </p:cNvSpPr>
          <p:nvPr/>
        </p:nvSpPr>
        <p:spPr>
          <a:xfrm>
            <a:off x="685799" y="4324729"/>
            <a:ext cx="7454279" cy="42062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Cuentas por Cobrar del Estudiante</a:t>
            </a:r>
            <a:endParaRPr lang="en-US" sz="2000" b="1" dirty="0">
              <a:solidFill>
                <a:schemeClr val="bg1"/>
              </a:solidFill>
            </a:endParaRPr>
          </a:p>
        </p:txBody>
      </p:sp>
      <p:sp>
        <p:nvSpPr>
          <p:cNvPr id="2" name="Text Placeholder 16">
            <a:extLst>
              <a:ext uri="{FF2B5EF4-FFF2-40B4-BE49-F238E27FC236}">
                <a16:creationId xmlns:a16="http://schemas.microsoft.com/office/drawing/2014/main" id="{7491FE36-9527-0687-22B3-67E67F56DBAE}"/>
              </a:ext>
            </a:extLst>
          </p:cNvPr>
          <p:cNvSpPr txBox="1">
            <a:spLocks/>
          </p:cNvSpPr>
          <p:nvPr/>
        </p:nvSpPr>
        <p:spPr>
          <a:xfrm>
            <a:off x="685798" y="3301130"/>
            <a:ext cx="7454279" cy="53315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Definición de conceptos de cargo y pago    </a:t>
            </a:r>
            <a:endParaRPr lang="en-US" sz="2000" b="1" dirty="0">
              <a:solidFill>
                <a:schemeClr val="bg1"/>
              </a:solidFill>
            </a:endParaRPr>
          </a:p>
        </p:txBody>
      </p:sp>
    </p:spTree>
    <p:extLst>
      <p:ext uri="{BB962C8B-B14F-4D97-AF65-F5344CB8AC3E}">
        <p14:creationId xmlns:p14="http://schemas.microsoft.com/office/powerpoint/2010/main" val="26973782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A11F7-9A3A-1554-4AAA-BC4B9147F433}"/>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565B2F26-7AA2-0003-DC68-E10B5646B62F}"/>
              </a:ext>
            </a:extLst>
          </p:cNvPr>
          <p:cNvSpPr/>
          <p:nvPr/>
        </p:nvSpPr>
        <p:spPr>
          <a:xfrm>
            <a:off x="842918" y="4648423"/>
            <a:ext cx="10327667" cy="83406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200" dirty="0"/>
              <a:t>Los registros de esta tabla serán ocupados para la clasificación de los códigos de detalle, generación de los perfiles de cajeros, configuración de los planes de pago automáticos, entre otros.</a:t>
            </a:r>
          </a:p>
        </p:txBody>
      </p:sp>
      <p:sp>
        <p:nvSpPr>
          <p:cNvPr id="7" name="Título 3">
            <a:extLst>
              <a:ext uri="{FF2B5EF4-FFF2-40B4-BE49-F238E27FC236}">
                <a16:creationId xmlns:a16="http://schemas.microsoft.com/office/drawing/2014/main" id="{6387E378-9EC0-4856-FEAD-953AE70BAD89}"/>
              </a:ext>
            </a:extLst>
          </p:cNvPr>
          <p:cNvSpPr txBox="1">
            <a:spLocks/>
          </p:cNvSpPr>
          <p:nvPr/>
        </p:nvSpPr>
        <p:spPr>
          <a:xfrm>
            <a:off x="842918" y="269194"/>
            <a:ext cx="10677393"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TTVDCAT Validación de código de Categoría de detalle </a:t>
            </a:r>
            <a:endParaRPr lang="es-CL" dirty="0">
              <a:solidFill>
                <a:schemeClr val="tx1"/>
              </a:solidFill>
            </a:endParaRPr>
          </a:p>
        </p:txBody>
      </p:sp>
      <p:pic>
        <p:nvPicPr>
          <p:cNvPr id="4" name="Imagen 3">
            <a:extLst>
              <a:ext uri="{FF2B5EF4-FFF2-40B4-BE49-F238E27FC236}">
                <a16:creationId xmlns:a16="http://schemas.microsoft.com/office/drawing/2014/main" id="{D05494EA-7396-7A43-FFE3-1837C4DD1735}"/>
              </a:ext>
            </a:extLst>
          </p:cNvPr>
          <p:cNvPicPr>
            <a:picLocks noChangeAspect="1"/>
          </p:cNvPicPr>
          <p:nvPr/>
        </p:nvPicPr>
        <p:blipFill>
          <a:blip r:embed="rId2"/>
          <a:stretch>
            <a:fillRect/>
          </a:stretch>
        </p:blipFill>
        <p:spPr>
          <a:xfrm>
            <a:off x="754601" y="1509347"/>
            <a:ext cx="10682798" cy="2797478"/>
          </a:xfrm>
          <a:prstGeom prst="rect">
            <a:avLst/>
          </a:prstGeom>
        </p:spPr>
      </p:pic>
    </p:spTree>
    <p:extLst>
      <p:ext uri="{BB962C8B-B14F-4D97-AF65-F5344CB8AC3E}">
        <p14:creationId xmlns:p14="http://schemas.microsoft.com/office/powerpoint/2010/main" val="334589538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41672-016C-2AA2-FE09-F2E840C5243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AE772844-ECC3-DC3C-7EEC-B2E0BC147792}"/>
              </a:ext>
            </a:extLst>
          </p:cNvPr>
          <p:cNvPicPr>
            <a:picLocks noChangeAspect="1"/>
          </p:cNvPicPr>
          <p:nvPr/>
        </p:nvPicPr>
        <p:blipFill>
          <a:blip r:embed="rId2"/>
          <a:stretch>
            <a:fillRect/>
          </a:stretch>
        </p:blipFill>
        <p:spPr>
          <a:xfrm>
            <a:off x="757303" y="3997313"/>
            <a:ext cx="10409697" cy="352963"/>
          </a:xfrm>
          <a:prstGeom prst="rect">
            <a:avLst/>
          </a:prstGeom>
        </p:spPr>
      </p:pic>
      <p:pic>
        <p:nvPicPr>
          <p:cNvPr id="4" name="Imagen 3">
            <a:extLst>
              <a:ext uri="{FF2B5EF4-FFF2-40B4-BE49-F238E27FC236}">
                <a16:creationId xmlns:a16="http://schemas.microsoft.com/office/drawing/2014/main" id="{AF79C9DC-B3D0-A336-6511-E372A8F6EA42}"/>
              </a:ext>
            </a:extLst>
          </p:cNvPr>
          <p:cNvPicPr>
            <a:picLocks noChangeAspect="1"/>
          </p:cNvPicPr>
          <p:nvPr/>
        </p:nvPicPr>
        <p:blipFill>
          <a:blip r:embed="rId3"/>
          <a:stretch>
            <a:fillRect/>
          </a:stretch>
        </p:blipFill>
        <p:spPr>
          <a:xfrm>
            <a:off x="750704" y="1283308"/>
            <a:ext cx="10416296" cy="2730537"/>
          </a:xfrm>
          <a:prstGeom prst="rect">
            <a:avLst/>
          </a:prstGeom>
        </p:spPr>
      </p:pic>
      <p:sp>
        <p:nvSpPr>
          <p:cNvPr id="10" name="Rectángulo: esquinas redondeadas 9">
            <a:extLst>
              <a:ext uri="{FF2B5EF4-FFF2-40B4-BE49-F238E27FC236}">
                <a16:creationId xmlns:a16="http://schemas.microsoft.com/office/drawing/2014/main" id="{8D625B94-9442-DC7D-E2FF-992088B29983}"/>
              </a:ext>
            </a:extLst>
          </p:cNvPr>
          <p:cNvSpPr/>
          <p:nvPr/>
        </p:nvSpPr>
        <p:spPr>
          <a:xfrm>
            <a:off x="769868" y="6061321"/>
            <a:ext cx="3755478" cy="42665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4. Para finalizar, se hace click en el botón </a:t>
            </a:r>
            <a:r>
              <a:rPr lang="es-CL" sz="1200" b="1" dirty="0"/>
              <a:t>Guardar</a:t>
            </a:r>
            <a:r>
              <a:rPr lang="es-CL" sz="1200" dirty="0"/>
              <a:t> o se digita la tecla </a:t>
            </a:r>
            <a:r>
              <a:rPr lang="es-CL" sz="1200" b="1" dirty="0"/>
              <a:t>F10</a:t>
            </a:r>
            <a:r>
              <a:rPr lang="es-CL" sz="1200" dirty="0"/>
              <a:t>.</a:t>
            </a:r>
          </a:p>
        </p:txBody>
      </p:sp>
      <p:sp>
        <p:nvSpPr>
          <p:cNvPr id="11" name="Rectángulo: esquinas redondeadas 10">
            <a:extLst>
              <a:ext uri="{FF2B5EF4-FFF2-40B4-BE49-F238E27FC236}">
                <a16:creationId xmlns:a16="http://schemas.microsoft.com/office/drawing/2014/main" id="{6E4E7009-89CD-0ED0-ED1D-530B0F1FC9B9}"/>
              </a:ext>
            </a:extLst>
          </p:cNvPr>
          <p:cNvSpPr/>
          <p:nvPr/>
        </p:nvSpPr>
        <p:spPr>
          <a:xfrm>
            <a:off x="769868" y="4520088"/>
            <a:ext cx="5987039" cy="42665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1. Para crear un nuevo registro, se hace click en el botón </a:t>
            </a:r>
            <a:r>
              <a:rPr lang="es-CL" sz="1200" b="1" dirty="0"/>
              <a:t>Insertar.</a:t>
            </a:r>
            <a:endParaRPr lang="es-CL" sz="1200" dirty="0"/>
          </a:p>
        </p:txBody>
      </p:sp>
      <p:sp>
        <p:nvSpPr>
          <p:cNvPr id="12" name="Rectángulo: esquinas redondeadas 7">
            <a:extLst>
              <a:ext uri="{FF2B5EF4-FFF2-40B4-BE49-F238E27FC236}">
                <a16:creationId xmlns:a16="http://schemas.microsoft.com/office/drawing/2014/main" id="{449D3AA2-9117-C1F5-70C0-9CA99D4151C4}"/>
              </a:ext>
            </a:extLst>
          </p:cNvPr>
          <p:cNvSpPr/>
          <p:nvPr/>
        </p:nvSpPr>
        <p:spPr>
          <a:xfrm>
            <a:off x="757303" y="5010402"/>
            <a:ext cx="5999604" cy="4104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2. Se diligencia el campo </a:t>
            </a:r>
            <a:r>
              <a:rPr lang="es-CL" sz="1200" b="1" dirty="0"/>
              <a:t>Código</a:t>
            </a:r>
            <a:r>
              <a:rPr lang="es-CL" sz="1200" dirty="0"/>
              <a:t> y </a:t>
            </a:r>
            <a:r>
              <a:rPr lang="es-CL" sz="1200" b="1" dirty="0"/>
              <a:t>Descripción</a:t>
            </a:r>
            <a:r>
              <a:rPr lang="es-CL" sz="1200" dirty="0"/>
              <a:t>.</a:t>
            </a:r>
          </a:p>
        </p:txBody>
      </p:sp>
      <p:sp>
        <p:nvSpPr>
          <p:cNvPr id="13" name="Rectángulo: esquinas redondeadas 7">
            <a:extLst>
              <a:ext uri="{FF2B5EF4-FFF2-40B4-BE49-F238E27FC236}">
                <a16:creationId xmlns:a16="http://schemas.microsoft.com/office/drawing/2014/main" id="{E0F665DC-938B-8FED-8A6D-8C3F9CF157EC}"/>
              </a:ext>
            </a:extLst>
          </p:cNvPr>
          <p:cNvSpPr/>
          <p:nvPr/>
        </p:nvSpPr>
        <p:spPr>
          <a:xfrm>
            <a:off x="757303" y="5484546"/>
            <a:ext cx="10403098" cy="52358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3. </a:t>
            </a:r>
            <a:r>
              <a:rPr lang="es-ES" sz="1200" dirty="0"/>
              <a:t>El cuadro </a:t>
            </a:r>
            <a:r>
              <a:rPr lang="es-ES" sz="1200" b="1" dirty="0"/>
              <a:t>Requerido por el sistema </a:t>
            </a:r>
            <a:r>
              <a:rPr lang="es-ES" sz="1200" dirty="0"/>
              <a:t>se usa para determinar aquellos valores que son requeridos por el sistema. Si el cuadro Requerido por el sistema está seleccionado, entonces el registro de la tabla de validación no puede ser borrado.</a:t>
            </a:r>
            <a:endParaRPr lang="es-CL" sz="1200" dirty="0"/>
          </a:p>
        </p:txBody>
      </p:sp>
      <p:sp>
        <p:nvSpPr>
          <p:cNvPr id="3" name="Título 3">
            <a:extLst>
              <a:ext uri="{FF2B5EF4-FFF2-40B4-BE49-F238E27FC236}">
                <a16:creationId xmlns:a16="http://schemas.microsoft.com/office/drawing/2014/main" id="{B0B949EF-DE1F-F0B6-E140-A9C718D72425}"/>
              </a:ext>
            </a:extLst>
          </p:cNvPr>
          <p:cNvSpPr txBox="1">
            <a:spLocks/>
          </p:cNvSpPr>
          <p:nvPr/>
        </p:nvSpPr>
        <p:spPr>
          <a:xfrm>
            <a:off x="757303" y="299363"/>
            <a:ext cx="10677393"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TTVDCAT Validación de código de Categoría de detalle </a:t>
            </a:r>
            <a:endParaRPr lang="es-CL" dirty="0">
              <a:solidFill>
                <a:schemeClr val="tx1"/>
              </a:solidFill>
            </a:endParaRPr>
          </a:p>
        </p:txBody>
      </p:sp>
      <p:pic>
        <p:nvPicPr>
          <p:cNvPr id="19" name="Imagen 18">
            <a:extLst>
              <a:ext uri="{FF2B5EF4-FFF2-40B4-BE49-F238E27FC236}">
                <a16:creationId xmlns:a16="http://schemas.microsoft.com/office/drawing/2014/main" id="{860F6CAB-7787-9C00-9A65-D63087243189}"/>
              </a:ext>
            </a:extLst>
          </p:cNvPr>
          <p:cNvPicPr>
            <a:picLocks noChangeAspect="1"/>
          </p:cNvPicPr>
          <p:nvPr/>
        </p:nvPicPr>
        <p:blipFill>
          <a:blip r:embed="rId4"/>
          <a:stretch>
            <a:fillRect/>
          </a:stretch>
        </p:blipFill>
        <p:spPr>
          <a:xfrm>
            <a:off x="11242135" y="4048754"/>
            <a:ext cx="160602" cy="160602"/>
          </a:xfrm>
          <a:prstGeom prst="rect">
            <a:avLst/>
          </a:prstGeom>
        </p:spPr>
      </p:pic>
      <p:pic>
        <p:nvPicPr>
          <p:cNvPr id="21" name="Imagen 20">
            <a:extLst>
              <a:ext uri="{FF2B5EF4-FFF2-40B4-BE49-F238E27FC236}">
                <a16:creationId xmlns:a16="http://schemas.microsoft.com/office/drawing/2014/main" id="{212C8196-9BC5-B58C-9869-AEF62A747DE2}"/>
              </a:ext>
            </a:extLst>
          </p:cNvPr>
          <p:cNvPicPr>
            <a:picLocks noChangeAspect="1"/>
          </p:cNvPicPr>
          <p:nvPr/>
        </p:nvPicPr>
        <p:blipFill>
          <a:blip r:embed="rId5"/>
          <a:stretch>
            <a:fillRect/>
          </a:stretch>
        </p:blipFill>
        <p:spPr>
          <a:xfrm>
            <a:off x="521599" y="2109552"/>
            <a:ext cx="160602" cy="160602"/>
          </a:xfrm>
          <a:prstGeom prst="rect">
            <a:avLst/>
          </a:prstGeom>
        </p:spPr>
      </p:pic>
      <p:pic>
        <p:nvPicPr>
          <p:cNvPr id="23" name="Imagen 22">
            <a:extLst>
              <a:ext uri="{FF2B5EF4-FFF2-40B4-BE49-F238E27FC236}">
                <a16:creationId xmlns:a16="http://schemas.microsoft.com/office/drawing/2014/main" id="{394A0C22-F921-0F06-5CC7-422BAB49850B}"/>
              </a:ext>
            </a:extLst>
          </p:cNvPr>
          <p:cNvPicPr>
            <a:picLocks noChangeAspect="1"/>
          </p:cNvPicPr>
          <p:nvPr/>
        </p:nvPicPr>
        <p:blipFill>
          <a:blip r:embed="rId6"/>
          <a:stretch>
            <a:fillRect/>
          </a:stretch>
        </p:blipFill>
        <p:spPr>
          <a:xfrm>
            <a:off x="9650721" y="1920502"/>
            <a:ext cx="160646" cy="160644"/>
          </a:xfrm>
          <a:prstGeom prst="rect">
            <a:avLst/>
          </a:prstGeom>
        </p:spPr>
      </p:pic>
      <p:pic>
        <p:nvPicPr>
          <p:cNvPr id="25" name="Imagen 24">
            <a:extLst>
              <a:ext uri="{FF2B5EF4-FFF2-40B4-BE49-F238E27FC236}">
                <a16:creationId xmlns:a16="http://schemas.microsoft.com/office/drawing/2014/main" id="{C66FF15B-2D1F-C9AA-9A44-5D243C057292}"/>
              </a:ext>
            </a:extLst>
          </p:cNvPr>
          <p:cNvPicPr>
            <a:picLocks noChangeAspect="1"/>
          </p:cNvPicPr>
          <p:nvPr/>
        </p:nvPicPr>
        <p:blipFill>
          <a:blip r:embed="rId7"/>
          <a:stretch>
            <a:fillRect/>
          </a:stretch>
        </p:blipFill>
        <p:spPr>
          <a:xfrm>
            <a:off x="8578627" y="2270154"/>
            <a:ext cx="160646" cy="160644"/>
          </a:xfrm>
          <a:prstGeom prst="rect">
            <a:avLst/>
          </a:prstGeom>
        </p:spPr>
      </p:pic>
      <p:sp>
        <p:nvSpPr>
          <p:cNvPr id="34" name="Rectángulo 33">
            <a:extLst>
              <a:ext uri="{FF2B5EF4-FFF2-40B4-BE49-F238E27FC236}">
                <a16:creationId xmlns:a16="http://schemas.microsoft.com/office/drawing/2014/main" id="{B7C75757-E20D-6982-0AF4-93FC6F6AB9FA}"/>
              </a:ext>
            </a:extLst>
          </p:cNvPr>
          <p:cNvSpPr/>
          <p:nvPr/>
        </p:nvSpPr>
        <p:spPr>
          <a:xfrm>
            <a:off x="10579266" y="4013845"/>
            <a:ext cx="616158" cy="272922"/>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24608310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FD730-DE0A-2E5E-54E0-8A52B617215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B007BEA-90AD-6ED6-29E7-851427EEA8CD}"/>
              </a:ext>
            </a:extLst>
          </p:cNvPr>
          <p:cNvPicPr>
            <a:picLocks noChangeAspect="1"/>
          </p:cNvPicPr>
          <p:nvPr/>
        </p:nvPicPr>
        <p:blipFill>
          <a:blip r:embed="rId2"/>
          <a:stretch>
            <a:fillRect/>
          </a:stretch>
        </p:blipFill>
        <p:spPr>
          <a:xfrm>
            <a:off x="1067824" y="3245394"/>
            <a:ext cx="10218211" cy="373122"/>
          </a:xfrm>
          <a:prstGeom prst="rect">
            <a:avLst/>
          </a:prstGeom>
        </p:spPr>
      </p:pic>
      <p:pic>
        <p:nvPicPr>
          <p:cNvPr id="3" name="Imagen 2">
            <a:extLst>
              <a:ext uri="{FF2B5EF4-FFF2-40B4-BE49-F238E27FC236}">
                <a16:creationId xmlns:a16="http://schemas.microsoft.com/office/drawing/2014/main" id="{BC57B0FF-B1F1-4BAB-1580-870EAA33DAF6}"/>
              </a:ext>
            </a:extLst>
          </p:cNvPr>
          <p:cNvPicPr>
            <a:picLocks noChangeAspect="1"/>
          </p:cNvPicPr>
          <p:nvPr/>
        </p:nvPicPr>
        <p:blipFill>
          <a:blip r:embed="rId3"/>
          <a:stretch>
            <a:fillRect/>
          </a:stretch>
        </p:blipFill>
        <p:spPr>
          <a:xfrm>
            <a:off x="1058093" y="1356619"/>
            <a:ext cx="10227942" cy="1945126"/>
          </a:xfrm>
          <a:prstGeom prst="rect">
            <a:avLst/>
          </a:prstGeom>
        </p:spPr>
      </p:pic>
      <p:sp>
        <p:nvSpPr>
          <p:cNvPr id="10" name="Rectángulo: esquinas redondeadas 9">
            <a:extLst>
              <a:ext uri="{FF2B5EF4-FFF2-40B4-BE49-F238E27FC236}">
                <a16:creationId xmlns:a16="http://schemas.microsoft.com/office/drawing/2014/main" id="{49CF0D57-CC83-FDE6-A142-998DE527572D}"/>
              </a:ext>
            </a:extLst>
          </p:cNvPr>
          <p:cNvSpPr/>
          <p:nvPr/>
        </p:nvSpPr>
        <p:spPr>
          <a:xfrm>
            <a:off x="1058093" y="5742809"/>
            <a:ext cx="10327668" cy="60637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Los registros de esta tabla serán ocupados para la clasificación de los códigos de detalle del tipo pago, y serán traspasados en el proceso de paso a contabilidad cuando aplique para la institución.</a:t>
            </a:r>
            <a:endParaRPr lang="es-CL" sz="1200" dirty="0"/>
          </a:p>
        </p:txBody>
      </p:sp>
      <p:sp>
        <p:nvSpPr>
          <p:cNvPr id="11" name="Rectángulo: esquinas redondeadas 7">
            <a:extLst>
              <a:ext uri="{FF2B5EF4-FFF2-40B4-BE49-F238E27FC236}">
                <a16:creationId xmlns:a16="http://schemas.microsoft.com/office/drawing/2014/main" id="{42445D9A-444D-2EF7-3161-BA0A5AF3E7C3}"/>
              </a:ext>
            </a:extLst>
          </p:cNvPr>
          <p:cNvSpPr/>
          <p:nvPr/>
        </p:nvSpPr>
        <p:spPr>
          <a:xfrm>
            <a:off x="1067825" y="3849812"/>
            <a:ext cx="4822167" cy="41172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1. Para crear un nuevo registro, se hace click en el botón </a:t>
            </a:r>
            <a:r>
              <a:rPr lang="es-CL" sz="1200" b="1" dirty="0"/>
              <a:t>Insertar.</a:t>
            </a:r>
            <a:endParaRPr lang="es-CL" sz="1200" dirty="0"/>
          </a:p>
        </p:txBody>
      </p:sp>
      <p:sp>
        <p:nvSpPr>
          <p:cNvPr id="12" name="Rectángulo: esquinas redondeadas 7">
            <a:extLst>
              <a:ext uri="{FF2B5EF4-FFF2-40B4-BE49-F238E27FC236}">
                <a16:creationId xmlns:a16="http://schemas.microsoft.com/office/drawing/2014/main" id="{65A74C35-B37C-3B91-9862-55C47B6576BB}"/>
              </a:ext>
            </a:extLst>
          </p:cNvPr>
          <p:cNvSpPr/>
          <p:nvPr/>
        </p:nvSpPr>
        <p:spPr>
          <a:xfrm>
            <a:off x="1067825" y="4328576"/>
            <a:ext cx="4792404" cy="41172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2. Se diligencia el campo </a:t>
            </a:r>
            <a:r>
              <a:rPr lang="es-CL" sz="1200" b="1" dirty="0"/>
              <a:t>Código</a:t>
            </a:r>
            <a:r>
              <a:rPr lang="es-CL" sz="1200" dirty="0"/>
              <a:t> y </a:t>
            </a:r>
            <a:r>
              <a:rPr lang="es-CL" sz="1200" b="1" dirty="0"/>
              <a:t>Descripción</a:t>
            </a:r>
            <a:r>
              <a:rPr lang="es-CL" sz="1200" dirty="0"/>
              <a:t>.</a:t>
            </a:r>
          </a:p>
        </p:txBody>
      </p:sp>
      <p:sp>
        <p:nvSpPr>
          <p:cNvPr id="13" name="Rectángulo: esquinas redondeadas 9">
            <a:extLst>
              <a:ext uri="{FF2B5EF4-FFF2-40B4-BE49-F238E27FC236}">
                <a16:creationId xmlns:a16="http://schemas.microsoft.com/office/drawing/2014/main" id="{EB1616BF-E54A-F855-910A-1A23106628E7}"/>
              </a:ext>
            </a:extLst>
          </p:cNvPr>
          <p:cNvSpPr/>
          <p:nvPr/>
        </p:nvSpPr>
        <p:spPr>
          <a:xfrm>
            <a:off x="6670235" y="4292036"/>
            <a:ext cx="4694947" cy="48480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4. Para finalizar, se hace click en el botón </a:t>
            </a:r>
            <a:r>
              <a:rPr lang="es-CL" sz="1200" b="1" dirty="0"/>
              <a:t>Guardar</a:t>
            </a:r>
            <a:r>
              <a:rPr lang="es-CL" sz="1200" dirty="0"/>
              <a:t> o se digita la tecla </a:t>
            </a:r>
            <a:r>
              <a:rPr lang="es-CL" sz="1200" b="1" dirty="0"/>
              <a:t>F10</a:t>
            </a:r>
            <a:r>
              <a:rPr lang="es-CL" sz="1200" dirty="0"/>
              <a:t>.</a:t>
            </a:r>
          </a:p>
        </p:txBody>
      </p:sp>
      <p:sp>
        <p:nvSpPr>
          <p:cNvPr id="14" name="Rectángulo: esquinas redondeadas 7">
            <a:extLst>
              <a:ext uri="{FF2B5EF4-FFF2-40B4-BE49-F238E27FC236}">
                <a16:creationId xmlns:a16="http://schemas.microsoft.com/office/drawing/2014/main" id="{9BC6F797-EEE3-2F4D-EB3B-BA2BBB707F1E}"/>
              </a:ext>
            </a:extLst>
          </p:cNvPr>
          <p:cNvSpPr/>
          <p:nvPr/>
        </p:nvSpPr>
        <p:spPr>
          <a:xfrm>
            <a:off x="1067826" y="4858012"/>
            <a:ext cx="10327668" cy="55349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3. </a:t>
            </a:r>
            <a:r>
              <a:rPr lang="es-ES" sz="1200" dirty="0"/>
              <a:t>El cuadro </a:t>
            </a:r>
            <a:r>
              <a:rPr lang="es-ES" sz="1200" b="1" dirty="0"/>
              <a:t>Requerido por el sistema </a:t>
            </a:r>
            <a:r>
              <a:rPr lang="es-ES" sz="1200" dirty="0"/>
              <a:t>se usa para determinar aquellos valores que son requeridos por el sistema. Si el cuadro Requerido por el sistema está seleccionado, entonces el registro de la tabla de validación no puede ser borrado.</a:t>
            </a:r>
            <a:endParaRPr lang="es-CL" sz="1200" dirty="0"/>
          </a:p>
        </p:txBody>
      </p:sp>
      <p:sp>
        <p:nvSpPr>
          <p:cNvPr id="15" name="Título 3">
            <a:extLst>
              <a:ext uri="{FF2B5EF4-FFF2-40B4-BE49-F238E27FC236}">
                <a16:creationId xmlns:a16="http://schemas.microsoft.com/office/drawing/2014/main" id="{44D46F68-92A3-3C0C-96B0-021032B423D3}"/>
              </a:ext>
            </a:extLst>
          </p:cNvPr>
          <p:cNvSpPr txBox="1">
            <a:spLocks/>
          </p:cNvSpPr>
          <p:nvPr/>
        </p:nvSpPr>
        <p:spPr>
          <a:xfrm>
            <a:off x="842919" y="401234"/>
            <a:ext cx="10526542"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TTVPAYT Validación de código de tipo de Pago</a:t>
            </a:r>
            <a:endParaRPr lang="es-CL" dirty="0">
              <a:solidFill>
                <a:schemeClr val="tx1"/>
              </a:solidFill>
            </a:endParaRPr>
          </a:p>
        </p:txBody>
      </p:sp>
      <p:sp>
        <p:nvSpPr>
          <p:cNvPr id="23" name="Rectángulo 22">
            <a:extLst>
              <a:ext uri="{FF2B5EF4-FFF2-40B4-BE49-F238E27FC236}">
                <a16:creationId xmlns:a16="http://schemas.microsoft.com/office/drawing/2014/main" id="{B26B8737-285F-5B9D-736F-68C545DB4A71}"/>
              </a:ext>
            </a:extLst>
          </p:cNvPr>
          <p:cNvSpPr/>
          <p:nvPr/>
        </p:nvSpPr>
        <p:spPr>
          <a:xfrm>
            <a:off x="10727667" y="3252796"/>
            <a:ext cx="616158" cy="272922"/>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24" name="Imagen 23">
            <a:extLst>
              <a:ext uri="{FF2B5EF4-FFF2-40B4-BE49-F238E27FC236}">
                <a16:creationId xmlns:a16="http://schemas.microsoft.com/office/drawing/2014/main" id="{B702F19E-4BFF-7E5A-4672-CA55CAE95917}"/>
              </a:ext>
            </a:extLst>
          </p:cNvPr>
          <p:cNvPicPr>
            <a:picLocks noChangeAspect="1"/>
          </p:cNvPicPr>
          <p:nvPr/>
        </p:nvPicPr>
        <p:blipFill>
          <a:blip r:embed="rId4"/>
          <a:stretch>
            <a:fillRect/>
          </a:stretch>
        </p:blipFill>
        <p:spPr>
          <a:xfrm>
            <a:off x="10444443" y="3310498"/>
            <a:ext cx="160602" cy="160602"/>
          </a:xfrm>
          <a:prstGeom prst="rect">
            <a:avLst/>
          </a:prstGeom>
        </p:spPr>
      </p:pic>
      <p:pic>
        <p:nvPicPr>
          <p:cNvPr id="25" name="Imagen 24">
            <a:extLst>
              <a:ext uri="{FF2B5EF4-FFF2-40B4-BE49-F238E27FC236}">
                <a16:creationId xmlns:a16="http://schemas.microsoft.com/office/drawing/2014/main" id="{05234CDF-FB1B-DDB3-A1E9-2B0E7323E9DF}"/>
              </a:ext>
            </a:extLst>
          </p:cNvPr>
          <p:cNvPicPr>
            <a:picLocks noChangeAspect="1"/>
          </p:cNvPicPr>
          <p:nvPr/>
        </p:nvPicPr>
        <p:blipFill>
          <a:blip r:embed="rId5"/>
          <a:stretch>
            <a:fillRect/>
          </a:stretch>
        </p:blipFill>
        <p:spPr>
          <a:xfrm>
            <a:off x="817234" y="2186721"/>
            <a:ext cx="160602" cy="160602"/>
          </a:xfrm>
          <a:prstGeom prst="rect">
            <a:avLst/>
          </a:prstGeom>
        </p:spPr>
      </p:pic>
      <p:pic>
        <p:nvPicPr>
          <p:cNvPr id="26" name="Imagen 25">
            <a:extLst>
              <a:ext uri="{FF2B5EF4-FFF2-40B4-BE49-F238E27FC236}">
                <a16:creationId xmlns:a16="http://schemas.microsoft.com/office/drawing/2014/main" id="{3172E9C9-8184-B670-8C77-623114E561C6}"/>
              </a:ext>
            </a:extLst>
          </p:cNvPr>
          <p:cNvPicPr>
            <a:picLocks noChangeAspect="1"/>
          </p:cNvPicPr>
          <p:nvPr/>
        </p:nvPicPr>
        <p:blipFill>
          <a:blip r:embed="rId6"/>
          <a:stretch>
            <a:fillRect/>
          </a:stretch>
        </p:blipFill>
        <p:spPr>
          <a:xfrm>
            <a:off x="9794361" y="1964165"/>
            <a:ext cx="160646" cy="160644"/>
          </a:xfrm>
          <a:prstGeom prst="rect">
            <a:avLst/>
          </a:prstGeom>
        </p:spPr>
      </p:pic>
      <p:pic>
        <p:nvPicPr>
          <p:cNvPr id="27" name="Imagen 26">
            <a:extLst>
              <a:ext uri="{FF2B5EF4-FFF2-40B4-BE49-F238E27FC236}">
                <a16:creationId xmlns:a16="http://schemas.microsoft.com/office/drawing/2014/main" id="{AD995444-FA70-BA6F-4912-0EE1B4F02815}"/>
              </a:ext>
            </a:extLst>
          </p:cNvPr>
          <p:cNvPicPr>
            <a:picLocks noChangeAspect="1"/>
          </p:cNvPicPr>
          <p:nvPr/>
        </p:nvPicPr>
        <p:blipFill>
          <a:blip r:embed="rId7"/>
          <a:stretch>
            <a:fillRect/>
          </a:stretch>
        </p:blipFill>
        <p:spPr>
          <a:xfrm>
            <a:off x="8222100" y="2338326"/>
            <a:ext cx="160646" cy="160644"/>
          </a:xfrm>
          <a:prstGeom prst="rect">
            <a:avLst/>
          </a:prstGeom>
        </p:spPr>
      </p:pic>
    </p:spTree>
    <p:extLst>
      <p:ext uri="{BB962C8B-B14F-4D97-AF65-F5344CB8AC3E}">
        <p14:creationId xmlns:p14="http://schemas.microsoft.com/office/powerpoint/2010/main" val="31668531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10ECA-FB1A-BEEF-F0A9-8DF88202B9E3}"/>
            </a:ext>
          </a:extLst>
        </p:cNvPr>
        <p:cNvGrpSpPr/>
        <p:nvPr/>
      </p:nvGrpSpPr>
      <p:grpSpPr>
        <a:xfrm>
          <a:off x="0" y="0"/>
          <a:ext cx="0" cy="0"/>
          <a:chOff x="0" y="0"/>
          <a:chExt cx="0" cy="0"/>
        </a:xfrm>
      </p:grpSpPr>
      <p:sp>
        <p:nvSpPr>
          <p:cNvPr id="2" name="Rectángulo: esquinas redondeadas 1">
            <a:extLst>
              <a:ext uri="{FF2B5EF4-FFF2-40B4-BE49-F238E27FC236}">
                <a16:creationId xmlns:a16="http://schemas.microsoft.com/office/drawing/2014/main" id="{3A14A0F2-DDCB-D3E2-886E-2C826009964C}"/>
              </a:ext>
            </a:extLst>
          </p:cNvPr>
          <p:cNvSpPr/>
          <p:nvPr/>
        </p:nvSpPr>
        <p:spPr>
          <a:xfrm>
            <a:off x="786382" y="5330356"/>
            <a:ext cx="10217161" cy="54662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ES" sz="1200" dirty="0"/>
              <a:t>Página principal destinada a la formalización de los conceptos de cobro y pago que serán registrados en la cuenta corriente del estudiante.</a:t>
            </a:r>
            <a:endParaRPr lang="es-CL" sz="1200" dirty="0"/>
          </a:p>
        </p:txBody>
      </p:sp>
      <p:sp>
        <p:nvSpPr>
          <p:cNvPr id="3" name="Rectángulo: esquinas redondeadas 2">
            <a:extLst>
              <a:ext uri="{FF2B5EF4-FFF2-40B4-BE49-F238E27FC236}">
                <a16:creationId xmlns:a16="http://schemas.microsoft.com/office/drawing/2014/main" id="{0F0E3C27-90A3-7356-C56F-D72D9BA9DD23}"/>
              </a:ext>
            </a:extLst>
          </p:cNvPr>
          <p:cNvSpPr/>
          <p:nvPr/>
        </p:nvSpPr>
        <p:spPr>
          <a:xfrm>
            <a:off x="786383" y="4608666"/>
            <a:ext cx="7874538" cy="4770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Para crear un nuevo registro, se hace click en el botón </a:t>
            </a:r>
            <a:r>
              <a:rPr lang="es-CL" sz="1200" b="1" dirty="0"/>
              <a:t>Insertar</a:t>
            </a:r>
            <a:r>
              <a:rPr lang="es-CL" sz="1200" dirty="0"/>
              <a:t> y se diligencian los campos según corresponda.</a:t>
            </a:r>
          </a:p>
        </p:txBody>
      </p:sp>
      <p:sp>
        <p:nvSpPr>
          <p:cNvPr id="5" name="Título 3">
            <a:extLst>
              <a:ext uri="{FF2B5EF4-FFF2-40B4-BE49-F238E27FC236}">
                <a16:creationId xmlns:a16="http://schemas.microsoft.com/office/drawing/2014/main" id="{2B7FFC65-5072-F028-B8CF-0D061B6CC70A}"/>
              </a:ext>
            </a:extLst>
          </p:cNvPr>
          <p:cNvSpPr txBox="1">
            <a:spLocks/>
          </p:cNvSpPr>
          <p:nvPr/>
        </p:nvSpPr>
        <p:spPr>
          <a:xfrm>
            <a:off x="842918" y="401234"/>
            <a:ext cx="10785489"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6" name="Imagen 5">
            <a:extLst>
              <a:ext uri="{FF2B5EF4-FFF2-40B4-BE49-F238E27FC236}">
                <a16:creationId xmlns:a16="http://schemas.microsoft.com/office/drawing/2014/main" id="{4781562F-5136-5FE7-2B34-34761B95223E}"/>
              </a:ext>
            </a:extLst>
          </p:cNvPr>
          <p:cNvPicPr>
            <a:picLocks noChangeAspect="1"/>
          </p:cNvPicPr>
          <p:nvPr/>
        </p:nvPicPr>
        <p:blipFill>
          <a:blip r:embed="rId2"/>
          <a:stretch>
            <a:fillRect/>
          </a:stretch>
        </p:blipFill>
        <p:spPr>
          <a:xfrm>
            <a:off x="923545" y="1527644"/>
            <a:ext cx="10079998" cy="2889004"/>
          </a:xfrm>
          <a:prstGeom prst="rect">
            <a:avLst/>
          </a:prstGeom>
        </p:spPr>
      </p:pic>
    </p:spTree>
    <p:extLst>
      <p:ext uri="{BB962C8B-B14F-4D97-AF65-F5344CB8AC3E}">
        <p14:creationId xmlns:p14="http://schemas.microsoft.com/office/powerpoint/2010/main" val="18641945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D8D83-6EA2-F705-715F-3CC47EBE158B}"/>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65C7C109-8185-88D6-2E10-387330E3C5B7}"/>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12" name="Rectángulo: esquinas redondeadas 11">
            <a:extLst>
              <a:ext uri="{FF2B5EF4-FFF2-40B4-BE49-F238E27FC236}">
                <a16:creationId xmlns:a16="http://schemas.microsoft.com/office/drawing/2014/main" id="{49D455EE-99F4-71B9-A2F5-4478A689ACC4}"/>
              </a:ext>
            </a:extLst>
          </p:cNvPr>
          <p:cNvSpPr/>
          <p:nvPr/>
        </p:nvSpPr>
        <p:spPr>
          <a:xfrm>
            <a:off x="1142999" y="5082232"/>
            <a:ext cx="9966961" cy="1281659"/>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a:pPr>
            <a:r>
              <a:rPr lang="es-ES" sz="1100" b="1" dirty="0"/>
              <a:t>*Código Detalle: </a:t>
            </a:r>
            <a:r>
              <a:rPr lang="es-ES" sz="1100" dirty="0"/>
              <a:t>Código alfanumérico de 04 caracteres que representa un concepto de cargo o pago, mismo que es materializado por medio de las transacciones en la Cuenta Corriente.</a:t>
            </a:r>
          </a:p>
          <a:p>
            <a:pPr marL="342900" indent="-342900" algn="just">
              <a:buFont typeface="+mj-lt"/>
              <a:buAutoNum type="arabicPeriod"/>
            </a:pPr>
            <a:r>
              <a:rPr lang="es-CL" sz="1100" b="1" dirty="0"/>
              <a:t>Descripción de Código de Detalle: </a:t>
            </a:r>
            <a:r>
              <a:rPr lang="es-CL" sz="1100" dirty="0"/>
              <a:t>Campo alfanumérico de hasta 30 caracteres que representa el concepto del código de detalle señalado anteriormente.</a:t>
            </a:r>
          </a:p>
          <a:p>
            <a:pPr marL="342900" indent="-342900" algn="just">
              <a:buFont typeface="+mj-lt"/>
              <a:buAutoNum type="arabicPeriod"/>
            </a:pPr>
            <a:r>
              <a:rPr lang="es-CL" sz="1100" b="1" dirty="0"/>
              <a:t>*Tipo</a:t>
            </a:r>
            <a:r>
              <a:rPr lang="es-CL" sz="1100" dirty="0"/>
              <a:t>: Campo que indica la naturaleza del Código de Detalle, los cuales pueden ser tipo Cargo (C) o Pago (P). </a:t>
            </a:r>
          </a:p>
          <a:p>
            <a:pPr marL="342900" indent="-342900" algn="just">
              <a:buFont typeface="+mj-lt"/>
              <a:buAutoNum type="arabicPeriod"/>
            </a:pPr>
            <a:r>
              <a:rPr lang="es-CL" sz="1100" b="1" dirty="0"/>
              <a:t>*Categoría</a:t>
            </a:r>
            <a:r>
              <a:rPr lang="es-CL" sz="1100" dirty="0"/>
              <a:t>: Corresponde a la clasificación o agrupación de los códigos de detalle, misma que es utilizada para proceso de CXC y reportería. Se utiliza como referencia en los registros de la tabla de validación TTVDCAT.</a:t>
            </a:r>
          </a:p>
        </p:txBody>
      </p:sp>
      <p:sp>
        <p:nvSpPr>
          <p:cNvPr id="15" name="Título 3">
            <a:extLst>
              <a:ext uri="{FF2B5EF4-FFF2-40B4-BE49-F238E27FC236}">
                <a16:creationId xmlns:a16="http://schemas.microsoft.com/office/drawing/2014/main" id="{D18733C4-9D89-38DC-6A0F-92B58BDA7820}"/>
              </a:ext>
            </a:extLst>
          </p:cNvPr>
          <p:cNvSpPr txBox="1">
            <a:spLocks/>
          </p:cNvSpPr>
          <p:nvPr/>
        </p:nvSpPr>
        <p:spPr>
          <a:xfrm>
            <a:off x="1236110" y="163490"/>
            <a:ext cx="10785489"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16" name="Imagen 15">
            <a:extLst>
              <a:ext uri="{FF2B5EF4-FFF2-40B4-BE49-F238E27FC236}">
                <a16:creationId xmlns:a16="http://schemas.microsoft.com/office/drawing/2014/main" id="{1421B081-4C04-27F4-44C0-2F4A6BD069F0}"/>
              </a:ext>
            </a:extLst>
          </p:cNvPr>
          <p:cNvPicPr>
            <a:picLocks noChangeAspect="1"/>
          </p:cNvPicPr>
          <p:nvPr/>
        </p:nvPicPr>
        <p:blipFill>
          <a:blip r:embed="rId3"/>
          <a:stretch>
            <a:fillRect/>
          </a:stretch>
        </p:blipFill>
        <p:spPr>
          <a:xfrm>
            <a:off x="3277364" y="2331761"/>
            <a:ext cx="160602" cy="160602"/>
          </a:xfrm>
          <a:prstGeom prst="rect">
            <a:avLst/>
          </a:prstGeom>
        </p:spPr>
      </p:pic>
      <p:pic>
        <p:nvPicPr>
          <p:cNvPr id="17" name="Imagen 16">
            <a:extLst>
              <a:ext uri="{FF2B5EF4-FFF2-40B4-BE49-F238E27FC236}">
                <a16:creationId xmlns:a16="http://schemas.microsoft.com/office/drawing/2014/main" id="{E76314A6-C1EF-6B20-B738-A607FFCC82DC}"/>
              </a:ext>
            </a:extLst>
          </p:cNvPr>
          <p:cNvPicPr>
            <a:picLocks noChangeAspect="1"/>
          </p:cNvPicPr>
          <p:nvPr/>
        </p:nvPicPr>
        <p:blipFill>
          <a:blip r:embed="rId4"/>
          <a:stretch>
            <a:fillRect/>
          </a:stretch>
        </p:blipFill>
        <p:spPr>
          <a:xfrm>
            <a:off x="4334647" y="2001329"/>
            <a:ext cx="160602" cy="160602"/>
          </a:xfrm>
          <a:prstGeom prst="rect">
            <a:avLst/>
          </a:prstGeom>
        </p:spPr>
      </p:pic>
      <p:pic>
        <p:nvPicPr>
          <p:cNvPr id="18" name="Imagen 17">
            <a:extLst>
              <a:ext uri="{FF2B5EF4-FFF2-40B4-BE49-F238E27FC236}">
                <a16:creationId xmlns:a16="http://schemas.microsoft.com/office/drawing/2014/main" id="{58DB7B91-FC42-2CCF-B626-BFCE0436CF86}"/>
              </a:ext>
            </a:extLst>
          </p:cNvPr>
          <p:cNvPicPr>
            <a:picLocks noChangeAspect="1"/>
          </p:cNvPicPr>
          <p:nvPr/>
        </p:nvPicPr>
        <p:blipFill>
          <a:blip r:embed="rId5"/>
          <a:stretch>
            <a:fillRect/>
          </a:stretch>
        </p:blipFill>
        <p:spPr>
          <a:xfrm>
            <a:off x="1125115" y="2001287"/>
            <a:ext cx="160646" cy="160644"/>
          </a:xfrm>
          <a:prstGeom prst="rect">
            <a:avLst/>
          </a:prstGeom>
        </p:spPr>
      </p:pic>
      <p:pic>
        <p:nvPicPr>
          <p:cNvPr id="19" name="Imagen 18">
            <a:extLst>
              <a:ext uri="{FF2B5EF4-FFF2-40B4-BE49-F238E27FC236}">
                <a16:creationId xmlns:a16="http://schemas.microsoft.com/office/drawing/2014/main" id="{DF5135C5-3CB3-46D2-68E5-98D7A4203850}"/>
              </a:ext>
            </a:extLst>
          </p:cNvPr>
          <p:cNvPicPr>
            <a:picLocks noChangeAspect="1"/>
          </p:cNvPicPr>
          <p:nvPr/>
        </p:nvPicPr>
        <p:blipFill>
          <a:blip r:embed="rId6"/>
          <a:stretch>
            <a:fillRect/>
          </a:stretch>
        </p:blipFill>
        <p:spPr>
          <a:xfrm>
            <a:off x="3034662" y="2171117"/>
            <a:ext cx="160646" cy="160644"/>
          </a:xfrm>
          <a:prstGeom prst="rect">
            <a:avLst/>
          </a:prstGeom>
        </p:spPr>
      </p:pic>
      <p:cxnSp>
        <p:nvCxnSpPr>
          <p:cNvPr id="23" name="Conector recto de flecha 22">
            <a:extLst>
              <a:ext uri="{FF2B5EF4-FFF2-40B4-BE49-F238E27FC236}">
                <a16:creationId xmlns:a16="http://schemas.microsoft.com/office/drawing/2014/main" id="{55655239-5090-B901-B37E-5FC0C6CB1181}"/>
              </a:ext>
            </a:extLst>
          </p:cNvPr>
          <p:cNvCxnSpPr>
            <a:cxnSpLocks/>
          </p:cNvCxnSpPr>
          <p:nvPr/>
        </p:nvCxnSpPr>
        <p:spPr>
          <a:xfrm flipH="1">
            <a:off x="3959352" y="2087902"/>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ector recto de flecha 24">
            <a:extLst>
              <a:ext uri="{FF2B5EF4-FFF2-40B4-BE49-F238E27FC236}">
                <a16:creationId xmlns:a16="http://schemas.microsoft.com/office/drawing/2014/main" id="{6F91BC27-7C5C-6F21-508D-9D586B7204F4}"/>
              </a:ext>
            </a:extLst>
          </p:cNvPr>
          <p:cNvCxnSpPr>
            <a:cxnSpLocks/>
          </p:cNvCxnSpPr>
          <p:nvPr/>
        </p:nvCxnSpPr>
        <p:spPr>
          <a:xfrm flipH="1">
            <a:off x="2612696" y="2252735"/>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Conector recto de flecha 25">
            <a:extLst>
              <a:ext uri="{FF2B5EF4-FFF2-40B4-BE49-F238E27FC236}">
                <a16:creationId xmlns:a16="http://schemas.microsoft.com/office/drawing/2014/main" id="{7E8351F7-7C9C-A690-3F10-4470F619E02A}"/>
              </a:ext>
            </a:extLst>
          </p:cNvPr>
          <p:cNvCxnSpPr>
            <a:cxnSpLocks/>
          </p:cNvCxnSpPr>
          <p:nvPr/>
        </p:nvCxnSpPr>
        <p:spPr>
          <a:xfrm flipH="1">
            <a:off x="2883590" y="2418312"/>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986839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20C63-BE8A-C29B-05C6-6B9FF5E64D0B}"/>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7603B97E-D3A5-6694-C6C4-277F2B0EDB34}"/>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13" name="Rectángulo: esquinas redondeadas 12">
            <a:extLst>
              <a:ext uri="{FF2B5EF4-FFF2-40B4-BE49-F238E27FC236}">
                <a16:creationId xmlns:a16="http://schemas.microsoft.com/office/drawing/2014/main" id="{6F140559-519C-5B65-4480-78DD5774A0A3}"/>
              </a:ext>
            </a:extLst>
          </p:cNvPr>
          <p:cNvSpPr/>
          <p:nvPr/>
        </p:nvSpPr>
        <p:spPr>
          <a:xfrm>
            <a:off x="1197863" y="5035386"/>
            <a:ext cx="10085833" cy="1410576"/>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5"/>
            </a:pPr>
            <a:r>
              <a:rPr lang="es-ES" sz="1100" b="1" dirty="0"/>
              <a:t>Tipo Subv: </a:t>
            </a:r>
            <a:r>
              <a:rPr lang="es-ES" sz="1100" dirty="0"/>
              <a:t>Campo utilizado para la asignación de la categoría GRN facturación de subvención, propio de Banner Finanzas. Los Códigos de Detalle que se les asigne Tipo de Subvención sólo podrán ser utilizados como cargos cuando se factura con el proceso FRRBILL o como pago recibido por agencias patrocinadoras en la forma FRAAREV.</a:t>
            </a:r>
            <a:r>
              <a:rPr lang="es-ES" sz="1100" b="1" dirty="0"/>
              <a:t> </a:t>
            </a:r>
          </a:p>
          <a:p>
            <a:pPr marL="342900" indent="-342900" algn="just">
              <a:buFont typeface="+mj-lt"/>
              <a:buAutoNum type="arabicPeriod" startAt="5"/>
            </a:pPr>
            <a:r>
              <a:rPr lang="es-ES" sz="1100" b="1" dirty="0"/>
              <a:t>*Prioridad: </a:t>
            </a:r>
            <a:r>
              <a:rPr lang="es-ES" sz="1100" dirty="0"/>
              <a:t>Permite manejar el pago de cargos basados en prioridades al ejecutar el proceso de aplicación de pagos. Corresponde a un valor numérico del 000 al 999, donde el 0 actúa como comodín frente a las unidades, decenas o centenas que represente</a:t>
            </a:r>
            <a:r>
              <a:rPr lang="es-ES" sz="1100" dirty="0">
                <a:solidFill>
                  <a:schemeClr val="bg1"/>
                </a:solidFill>
              </a:rPr>
              <a:t>. </a:t>
            </a:r>
            <a:r>
              <a:rPr lang="es-ES" sz="1100" b="1" dirty="0">
                <a:solidFill>
                  <a:schemeClr val="bg1"/>
                </a:solidFill>
              </a:rPr>
              <a:t>Para ampliar la información sobre las prioridades, ver diapositiva 59 a la 62.</a:t>
            </a:r>
          </a:p>
          <a:p>
            <a:pPr marL="342900" indent="-342900" algn="just">
              <a:buFont typeface="+mj-lt"/>
              <a:buAutoNum type="arabicPeriod" startAt="5"/>
            </a:pPr>
            <a:r>
              <a:rPr lang="es-ES" sz="1100" b="1" dirty="0"/>
              <a:t>Código Reembolso. </a:t>
            </a:r>
            <a:r>
              <a:rPr lang="es-ES" sz="1100" dirty="0"/>
              <a:t>Se asigna a los códigos de detalle que se crearan en el estado de cuenta del alumno como reembolso, a través del proceso Reembolso Automático TSRRFND.</a:t>
            </a:r>
            <a:endParaRPr lang="es-ES" sz="1100" i="1" dirty="0"/>
          </a:p>
        </p:txBody>
      </p:sp>
      <p:sp>
        <p:nvSpPr>
          <p:cNvPr id="11" name="Título 3">
            <a:extLst>
              <a:ext uri="{FF2B5EF4-FFF2-40B4-BE49-F238E27FC236}">
                <a16:creationId xmlns:a16="http://schemas.microsoft.com/office/drawing/2014/main" id="{CEB85181-E5B2-E1E5-5330-17250725649A}"/>
              </a:ext>
            </a:extLst>
          </p:cNvPr>
          <p:cNvSpPr txBox="1">
            <a:spLocks/>
          </p:cNvSpPr>
          <p:nvPr/>
        </p:nvSpPr>
        <p:spPr>
          <a:xfrm>
            <a:off x="1014984" y="163490"/>
            <a:ext cx="11006615"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28" name="Imagen 27">
            <a:extLst>
              <a:ext uri="{FF2B5EF4-FFF2-40B4-BE49-F238E27FC236}">
                <a16:creationId xmlns:a16="http://schemas.microsoft.com/office/drawing/2014/main" id="{6A57BB60-B229-6460-7B6C-7C022C2CC427}"/>
              </a:ext>
            </a:extLst>
          </p:cNvPr>
          <p:cNvPicPr>
            <a:picLocks noChangeAspect="1"/>
          </p:cNvPicPr>
          <p:nvPr/>
        </p:nvPicPr>
        <p:blipFill>
          <a:blip r:embed="rId3"/>
          <a:stretch>
            <a:fillRect/>
          </a:stretch>
        </p:blipFill>
        <p:spPr>
          <a:xfrm>
            <a:off x="3034361" y="2695513"/>
            <a:ext cx="162000" cy="162000"/>
          </a:xfrm>
          <a:prstGeom prst="rect">
            <a:avLst/>
          </a:prstGeom>
        </p:spPr>
      </p:pic>
      <p:pic>
        <p:nvPicPr>
          <p:cNvPr id="30" name="Imagen 29">
            <a:extLst>
              <a:ext uri="{FF2B5EF4-FFF2-40B4-BE49-F238E27FC236}">
                <a16:creationId xmlns:a16="http://schemas.microsoft.com/office/drawing/2014/main" id="{4A291067-D233-65B6-4BCB-88358AFCB66F}"/>
              </a:ext>
            </a:extLst>
          </p:cNvPr>
          <p:cNvPicPr>
            <a:picLocks noChangeAspect="1"/>
          </p:cNvPicPr>
          <p:nvPr/>
        </p:nvPicPr>
        <p:blipFill>
          <a:blip r:embed="rId4"/>
          <a:stretch>
            <a:fillRect/>
          </a:stretch>
        </p:blipFill>
        <p:spPr>
          <a:xfrm>
            <a:off x="3034361" y="2889173"/>
            <a:ext cx="162000" cy="162000"/>
          </a:xfrm>
          <a:prstGeom prst="rect">
            <a:avLst/>
          </a:prstGeom>
        </p:spPr>
      </p:pic>
      <p:pic>
        <p:nvPicPr>
          <p:cNvPr id="32" name="Imagen 31">
            <a:extLst>
              <a:ext uri="{FF2B5EF4-FFF2-40B4-BE49-F238E27FC236}">
                <a16:creationId xmlns:a16="http://schemas.microsoft.com/office/drawing/2014/main" id="{2925548F-69DE-4866-A1A5-56C499DFE9FD}"/>
              </a:ext>
            </a:extLst>
          </p:cNvPr>
          <p:cNvPicPr>
            <a:picLocks noChangeAspect="1"/>
          </p:cNvPicPr>
          <p:nvPr/>
        </p:nvPicPr>
        <p:blipFill>
          <a:blip r:embed="rId5"/>
          <a:stretch>
            <a:fillRect/>
          </a:stretch>
        </p:blipFill>
        <p:spPr>
          <a:xfrm>
            <a:off x="3034361" y="2476767"/>
            <a:ext cx="162000" cy="162000"/>
          </a:xfrm>
          <a:prstGeom prst="rect">
            <a:avLst/>
          </a:prstGeom>
        </p:spPr>
      </p:pic>
      <p:cxnSp>
        <p:nvCxnSpPr>
          <p:cNvPr id="14" name="Conector recto de flecha 13">
            <a:extLst>
              <a:ext uri="{FF2B5EF4-FFF2-40B4-BE49-F238E27FC236}">
                <a16:creationId xmlns:a16="http://schemas.microsoft.com/office/drawing/2014/main" id="{D7FE0896-4279-2C63-548D-28EDF99851E0}"/>
              </a:ext>
            </a:extLst>
          </p:cNvPr>
          <p:cNvCxnSpPr>
            <a:cxnSpLocks/>
          </p:cNvCxnSpPr>
          <p:nvPr/>
        </p:nvCxnSpPr>
        <p:spPr>
          <a:xfrm flipH="1">
            <a:off x="2671950" y="2586359"/>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2F2D9B8E-97C6-5A18-9D9B-915041A4E666}"/>
              </a:ext>
            </a:extLst>
          </p:cNvPr>
          <p:cNvCxnSpPr>
            <a:cxnSpLocks/>
          </p:cNvCxnSpPr>
          <p:nvPr/>
        </p:nvCxnSpPr>
        <p:spPr>
          <a:xfrm flipH="1">
            <a:off x="2671950" y="2766191"/>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Conector recto de flecha 15">
            <a:extLst>
              <a:ext uri="{FF2B5EF4-FFF2-40B4-BE49-F238E27FC236}">
                <a16:creationId xmlns:a16="http://schemas.microsoft.com/office/drawing/2014/main" id="{364B5629-78BB-7AB9-974F-744D9F438D8D}"/>
              </a:ext>
            </a:extLst>
          </p:cNvPr>
          <p:cNvCxnSpPr>
            <a:cxnSpLocks/>
          </p:cNvCxnSpPr>
          <p:nvPr/>
        </p:nvCxnSpPr>
        <p:spPr>
          <a:xfrm flipH="1">
            <a:off x="2671950" y="2950133"/>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9967426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A3F87-CACE-1669-60B7-F24C752924FC}"/>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0569406C-ED42-6D9B-99EC-F8A861B030D9}"/>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18" name="Rectángulo: esquinas redondeadas 17">
            <a:extLst>
              <a:ext uri="{FF2B5EF4-FFF2-40B4-BE49-F238E27FC236}">
                <a16:creationId xmlns:a16="http://schemas.microsoft.com/office/drawing/2014/main" id="{F958AE1A-08EC-C258-A2EB-847979616B9E}"/>
              </a:ext>
            </a:extLst>
          </p:cNvPr>
          <p:cNvSpPr/>
          <p:nvPr/>
        </p:nvSpPr>
        <p:spPr>
          <a:xfrm>
            <a:off x="1014985" y="5129659"/>
            <a:ext cx="10195559" cy="1269531"/>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8"/>
            </a:pPr>
            <a:r>
              <a:rPr lang="es-ES" sz="1100" b="1" dirty="0"/>
              <a:t>*Código de divisa:</a:t>
            </a:r>
            <a:r>
              <a:rPr lang="es-ES" sz="1100" dirty="0"/>
              <a:t> corresponde a la Divisa en la cual sería considerada la transacción del código de detalle en cuestión. Dicha divisa se utiliza con la tasa de cambio para que en el proceso de paso a contabilidad todos los registros queden en términos de la divisa base.</a:t>
            </a:r>
          </a:p>
          <a:p>
            <a:pPr marL="342900" indent="-342900" algn="just">
              <a:buFont typeface="+mj-lt"/>
              <a:buAutoNum type="arabicPeriod" startAt="8"/>
            </a:pPr>
            <a:r>
              <a:rPr lang="es-ES" sz="1100" b="1" dirty="0"/>
              <a:t>Depósito Directo: </a:t>
            </a:r>
            <a:r>
              <a:rPr lang="es-ES" sz="1100" dirty="0"/>
              <a:t>Se activa sólo si el código de detalle tiene asignado ‘Y’ en el campo “Código Reembolso”, si se selecciona esta casilla indica que el reembolso se le puede aplicar al alumno como depósito directo a través de la funcionalidad de Bancos de Banner.</a:t>
            </a:r>
            <a:r>
              <a:rPr lang="es-ES" sz="1100" i="1" dirty="0"/>
              <a:t> </a:t>
            </a:r>
          </a:p>
          <a:p>
            <a:pPr marL="342900" indent="-342900" algn="just">
              <a:buFont typeface="+mj-lt"/>
              <a:buAutoNum type="arabicPeriod" startAt="8"/>
            </a:pPr>
            <a:r>
              <a:rPr lang="es-ES" sz="1100" b="1" dirty="0"/>
              <a:t>Reembolsable:</a:t>
            </a:r>
            <a:r>
              <a:rPr lang="es-ES" sz="1100" dirty="0"/>
              <a:t> Se asigna a los códigos que se ocupará para el cálculo de reembolso en el proceso Reembolso Automático TSRRFND, sólo aplica si lo usa la estimación de colegiatura y/o matrícula.</a:t>
            </a:r>
            <a:endParaRPr lang="es-ES" sz="1100" i="1" dirty="0"/>
          </a:p>
        </p:txBody>
      </p:sp>
      <p:sp>
        <p:nvSpPr>
          <p:cNvPr id="4" name="Título 3">
            <a:extLst>
              <a:ext uri="{FF2B5EF4-FFF2-40B4-BE49-F238E27FC236}">
                <a16:creationId xmlns:a16="http://schemas.microsoft.com/office/drawing/2014/main" id="{235E78FE-31FC-DC36-2170-A344ABE6BE9E}"/>
              </a:ext>
            </a:extLst>
          </p:cNvPr>
          <p:cNvSpPr txBox="1">
            <a:spLocks/>
          </p:cNvSpPr>
          <p:nvPr/>
        </p:nvSpPr>
        <p:spPr>
          <a:xfrm>
            <a:off x="1014985" y="163490"/>
            <a:ext cx="10479024"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6" name="Imagen 5">
            <a:extLst>
              <a:ext uri="{FF2B5EF4-FFF2-40B4-BE49-F238E27FC236}">
                <a16:creationId xmlns:a16="http://schemas.microsoft.com/office/drawing/2014/main" id="{282A4656-608A-673B-75F4-4D1245E0570D}"/>
              </a:ext>
            </a:extLst>
          </p:cNvPr>
          <p:cNvPicPr>
            <a:picLocks noChangeAspect="1"/>
          </p:cNvPicPr>
          <p:nvPr/>
        </p:nvPicPr>
        <p:blipFill>
          <a:blip r:embed="rId3"/>
          <a:stretch>
            <a:fillRect/>
          </a:stretch>
        </p:blipFill>
        <p:spPr>
          <a:xfrm>
            <a:off x="3206801" y="3345873"/>
            <a:ext cx="162000" cy="162000"/>
          </a:xfrm>
          <a:prstGeom prst="rect">
            <a:avLst/>
          </a:prstGeom>
        </p:spPr>
      </p:pic>
      <p:pic>
        <p:nvPicPr>
          <p:cNvPr id="8" name="Imagen 7">
            <a:extLst>
              <a:ext uri="{FF2B5EF4-FFF2-40B4-BE49-F238E27FC236}">
                <a16:creationId xmlns:a16="http://schemas.microsoft.com/office/drawing/2014/main" id="{3EB7A084-8081-A880-4C54-052EAD24F3E4}"/>
              </a:ext>
            </a:extLst>
          </p:cNvPr>
          <p:cNvPicPr>
            <a:picLocks noChangeAspect="1"/>
          </p:cNvPicPr>
          <p:nvPr/>
        </p:nvPicPr>
        <p:blipFill>
          <a:blip r:embed="rId4"/>
          <a:stretch>
            <a:fillRect/>
          </a:stretch>
        </p:blipFill>
        <p:spPr>
          <a:xfrm>
            <a:off x="3206801" y="3153682"/>
            <a:ext cx="162000" cy="162000"/>
          </a:xfrm>
          <a:prstGeom prst="rect">
            <a:avLst/>
          </a:prstGeom>
        </p:spPr>
      </p:pic>
      <p:pic>
        <p:nvPicPr>
          <p:cNvPr id="19" name="Imagen 18">
            <a:extLst>
              <a:ext uri="{FF2B5EF4-FFF2-40B4-BE49-F238E27FC236}">
                <a16:creationId xmlns:a16="http://schemas.microsoft.com/office/drawing/2014/main" id="{428F81C8-6EAB-9335-DF5D-69B2E20861DD}"/>
              </a:ext>
            </a:extLst>
          </p:cNvPr>
          <p:cNvPicPr>
            <a:picLocks noChangeAspect="1"/>
          </p:cNvPicPr>
          <p:nvPr/>
        </p:nvPicPr>
        <p:blipFill>
          <a:blip r:embed="rId5"/>
          <a:stretch>
            <a:fillRect/>
          </a:stretch>
        </p:blipFill>
        <p:spPr>
          <a:xfrm>
            <a:off x="3198953" y="2953865"/>
            <a:ext cx="162000" cy="162000"/>
          </a:xfrm>
          <a:prstGeom prst="rect">
            <a:avLst/>
          </a:prstGeom>
        </p:spPr>
      </p:pic>
      <p:cxnSp>
        <p:nvCxnSpPr>
          <p:cNvPr id="20" name="Conector recto de flecha 19">
            <a:extLst>
              <a:ext uri="{FF2B5EF4-FFF2-40B4-BE49-F238E27FC236}">
                <a16:creationId xmlns:a16="http://schemas.microsoft.com/office/drawing/2014/main" id="{A771F488-6AFE-427F-2A7F-24F5CE586412}"/>
              </a:ext>
            </a:extLst>
          </p:cNvPr>
          <p:cNvCxnSpPr>
            <a:cxnSpLocks/>
          </p:cNvCxnSpPr>
          <p:nvPr/>
        </p:nvCxnSpPr>
        <p:spPr>
          <a:xfrm flipH="1">
            <a:off x="2868924" y="3050759"/>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ector recto de flecha 20">
            <a:extLst>
              <a:ext uri="{FF2B5EF4-FFF2-40B4-BE49-F238E27FC236}">
                <a16:creationId xmlns:a16="http://schemas.microsoft.com/office/drawing/2014/main" id="{EB5056D7-CEAE-B8AD-A323-F8E734A1CD96}"/>
              </a:ext>
            </a:extLst>
          </p:cNvPr>
          <p:cNvCxnSpPr>
            <a:cxnSpLocks/>
          </p:cNvCxnSpPr>
          <p:nvPr/>
        </p:nvCxnSpPr>
        <p:spPr>
          <a:xfrm flipH="1">
            <a:off x="2868924" y="3248879"/>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2A3E2FE1-4149-2BC9-5375-F1D6F557CBE0}"/>
              </a:ext>
            </a:extLst>
          </p:cNvPr>
          <p:cNvCxnSpPr>
            <a:cxnSpLocks/>
          </p:cNvCxnSpPr>
          <p:nvPr/>
        </p:nvCxnSpPr>
        <p:spPr>
          <a:xfrm flipH="1">
            <a:off x="2868924" y="3428711"/>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031161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E7D33E-DD15-ADD6-F4AC-237B94436FB3}"/>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2E8F04CB-575C-B61F-6306-E26048D1901E}"/>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11" name="Rectángulo: esquinas redondeadas 10">
            <a:extLst>
              <a:ext uri="{FF2B5EF4-FFF2-40B4-BE49-F238E27FC236}">
                <a16:creationId xmlns:a16="http://schemas.microsoft.com/office/drawing/2014/main" id="{BDE3315C-ABC3-10BF-CCBD-50E962AA3015}"/>
              </a:ext>
            </a:extLst>
          </p:cNvPr>
          <p:cNvSpPr/>
          <p:nvPr/>
        </p:nvSpPr>
        <p:spPr>
          <a:xfrm>
            <a:off x="1112519" y="5151749"/>
            <a:ext cx="10085832" cy="103937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11"/>
            </a:pPr>
            <a:r>
              <a:rPr lang="es-ES" sz="1100" b="1" dirty="0"/>
              <a:t>Recibo:</a:t>
            </a:r>
            <a:r>
              <a:rPr lang="es-ES" sz="1100" dirty="0"/>
              <a:t> Se asigna a los códigos de detalle que deban crear comprobante, cuando se realizan transacciones con códigos que tienen seleccionado este campo, a la transacción se le asigna un número de recibo el cual puede ser consultado e impreso.</a:t>
            </a:r>
          </a:p>
          <a:p>
            <a:pPr marL="342900" indent="-342900" algn="just">
              <a:buFont typeface="+mj-lt"/>
              <a:buAutoNum type="arabicPeriod" startAt="11"/>
            </a:pPr>
            <a:r>
              <a:rPr lang="es-ES" sz="1100" b="1" dirty="0"/>
              <a:t>*Activo. </a:t>
            </a:r>
            <a:r>
              <a:rPr lang="es-ES" sz="1100" dirty="0"/>
              <a:t>Indica si el código de detalle puede ser utilizado en los procesos de CXC, o bien se encuentra bloqueado para su uso (inactivo).</a:t>
            </a:r>
          </a:p>
          <a:p>
            <a:pPr marL="342900" indent="-342900" algn="just">
              <a:buFont typeface="+mj-lt"/>
              <a:buAutoNum type="arabicPeriod" startAt="11"/>
            </a:pPr>
            <a:r>
              <a:rPr lang="es-ES" sz="1100" b="1" dirty="0"/>
              <a:t>Basado en Periodo:</a:t>
            </a:r>
            <a:r>
              <a:rPr lang="es-ES" sz="1100" dirty="0"/>
              <a:t> Indica si las cuentas contables configuradas para el código de detalle poseen una configuración basada en uno o un conjunto de periodos académicos específicos.</a:t>
            </a:r>
          </a:p>
        </p:txBody>
      </p:sp>
      <p:sp>
        <p:nvSpPr>
          <p:cNvPr id="13" name="Título 3">
            <a:extLst>
              <a:ext uri="{FF2B5EF4-FFF2-40B4-BE49-F238E27FC236}">
                <a16:creationId xmlns:a16="http://schemas.microsoft.com/office/drawing/2014/main" id="{04AB1B2E-A70C-1472-DB55-FF1BA13A43EE}"/>
              </a:ext>
            </a:extLst>
          </p:cNvPr>
          <p:cNvSpPr txBox="1">
            <a:spLocks/>
          </p:cNvSpPr>
          <p:nvPr/>
        </p:nvSpPr>
        <p:spPr>
          <a:xfrm>
            <a:off x="1014985" y="163490"/>
            <a:ext cx="10479024"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15" name="Imagen 14">
            <a:extLst>
              <a:ext uri="{FF2B5EF4-FFF2-40B4-BE49-F238E27FC236}">
                <a16:creationId xmlns:a16="http://schemas.microsoft.com/office/drawing/2014/main" id="{83484982-DE60-E8F2-F510-238FB7C2E03A}"/>
              </a:ext>
            </a:extLst>
          </p:cNvPr>
          <p:cNvPicPr>
            <a:picLocks noChangeAspect="1"/>
          </p:cNvPicPr>
          <p:nvPr/>
        </p:nvPicPr>
        <p:blipFill>
          <a:blip r:embed="rId3"/>
          <a:stretch>
            <a:fillRect/>
          </a:stretch>
        </p:blipFill>
        <p:spPr>
          <a:xfrm>
            <a:off x="3163483" y="3483715"/>
            <a:ext cx="162000" cy="162000"/>
          </a:xfrm>
          <a:prstGeom prst="rect">
            <a:avLst/>
          </a:prstGeom>
        </p:spPr>
      </p:pic>
      <p:pic>
        <p:nvPicPr>
          <p:cNvPr id="17" name="Imagen 16">
            <a:extLst>
              <a:ext uri="{FF2B5EF4-FFF2-40B4-BE49-F238E27FC236}">
                <a16:creationId xmlns:a16="http://schemas.microsoft.com/office/drawing/2014/main" id="{7C602742-CD13-C546-A826-5B613BDD1EE7}"/>
              </a:ext>
            </a:extLst>
          </p:cNvPr>
          <p:cNvPicPr>
            <a:picLocks noChangeAspect="1"/>
          </p:cNvPicPr>
          <p:nvPr/>
        </p:nvPicPr>
        <p:blipFill>
          <a:blip r:embed="rId4"/>
          <a:stretch>
            <a:fillRect/>
          </a:stretch>
        </p:blipFill>
        <p:spPr>
          <a:xfrm>
            <a:off x="3514651" y="3813818"/>
            <a:ext cx="162000" cy="162000"/>
          </a:xfrm>
          <a:prstGeom prst="rect">
            <a:avLst/>
          </a:prstGeom>
        </p:spPr>
      </p:pic>
      <p:pic>
        <p:nvPicPr>
          <p:cNvPr id="19" name="Imagen 18">
            <a:extLst>
              <a:ext uri="{FF2B5EF4-FFF2-40B4-BE49-F238E27FC236}">
                <a16:creationId xmlns:a16="http://schemas.microsoft.com/office/drawing/2014/main" id="{D0ECF986-3FD9-06F0-8659-D21C4190264C}"/>
              </a:ext>
            </a:extLst>
          </p:cNvPr>
          <p:cNvPicPr>
            <a:picLocks noChangeAspect="1"/>
          </p:cNvPicPr>
          <p:nvPr/>
        </p:nvPicPr>
        <p:blipFill>
          <a:blip r:embed="rId5"/>
          <a:stretch>
            <a:fillRect/>
          </a:stretch>
        </p:blipFill>
        <p:spPr>
          <a:xfrm>
            <a:off x="3160094" y="3679250"/>
            <a:ext cx="162000" cy="162000"/>
          </a:xfrm>
          <a:prstGeom prst="rect">
            <a:avLst/>
          </a:prstGeom>
        </p:spPr>
      </p:pic>
      <p:cxnSp>
        <p:nvCxnSpPr>
          <p:cNvPr id="20" name="Conector recto de flecha 19">
            <a:extLst>
              <a:ext uri="{FF2B5EF4-FFF2-40B4-BE49-F238E27FC236}">
                <a16:creationId xmlns:a16="http://schemas.microsoft.com/office/drawing/2014/main" id="{0B5DA95C-2667-6018-43AA-E1DEDEF85CD2}"/>
              </a:ext>
            </a:extLst>
          </p:cNvPr>
          <p:cNvCxnSpPr>
            <a:cxnSpLocks/>
          </p:cNvCxnSpPr>
          <p:nvPr/>
        </p:nvCxnSpPr>
        <p:spPr>
          <a:xfrm flipH="1">
            <a:off x="2786628" y="3566160"/>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ector recto de flecha 20">
            <a:extLst>
              <a:ext uri="{FF2B5EF4-FFF2-40B4-BE49-F238E27FC236}">
                <a16:creationId xmlns:a16="http://schemas.microsoft.com/office/drawing/2014/main" id="{C188173F-E08D-574B-F251-2AC0667A9CEA}"/>
              </a:ext>
            </a:extLst>
          </p:cNvPr>
          <p:cNvCxnSpPr>
            <a:cxnSpLocks/>
          </p:cNvCxnSpPr>
          <p:nvPr/>
        </p:nvCxnSpPr>
        <p:spPr>
          <a:xfrm flipH="1">
            <a:off x="2786628" y="3764280"/>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DB3C7A84-EE1C-DBF7-E8A2-63FE21D061A7}"/>
              </a:ext>
            </a:extLst>
          </p:cNvPr>
          <p:cNvCxnSpPr>
            <a:cxnSpLocks/>
          </p:cNvCxnSpPr>
          <p:nvPr/>
        </p:nvCxnSpPr>
        <p:spPr>
          <a:xfrm flipH="1">
            <a:off x="3185076" y="3917450"/>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420659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27650-DC9B-EA86-847C-9E6C5AA5144D}"/>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5CDC689E-11A2-7AE8-A49B-EE49C4CDF5D2}"/>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3" name="Rectángulo: esquinas redondeadas 2">
            <a:extLst>
              <a:ext uri="{FF2B5EF4-FFF2-40B4-BE49-F238E27FC236}">
                <a16:creationId xmlns:a16="http://schemas.microsoft.com/office/drawing/2014/main" id="{A09D36BA-8F44-DB49-CBF3-D2639D9868D0}"/>
              </a:ext>
            </a:extLst>
          </p:cNvPr>
          <p:cNvSpPr/>
          <p:nvPr/>
        </p:nvSpPr>
        <p:spPr>
          <a:xfrm>
            <a:off x="1188720" y="5316974"/>
            <a:ext cx="9985248" cy="103937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14"/>
            </a:pPr>
            <a:r>
              <a:rPr lang="es-ES" sz="1100" b="1" dirty="0"/>
              <a:t>Basado en año de ayuda: </a:t>
            </a:r>
            <a:r>
              <a:rPr lang="es-ES" sz="1100" dirty="0"/>
              <a:t>Indica si las cuentas contables</a:t>
            </a:r>
            <a:r>
              <a:rPr lang="es-ES" sz="1100" i="1" dirty="0"/>
              <a:t> </a:t>
            </a:r>
            <a:r>
              <a:rPr lang="es-ES" sz="1100" dirty="0"/>
              <a:t>configuradas para el código de detalle se aplican para Año Proceso de Ayuda Financiera específico. </a:t>
            </a:r>
            <a:r>
              <a:rPr lang="es-ES" sz="1100" i="1" dirty="0"/>
              <a:t>(Configuración no utilizada en América Latina).</a:t>
            </a:r>
          </a:p>
          <a:p>
            <a:pPr marL="342900" indent="-342900" algn="just">
              <a:buFont typeface="+mj-lt"/>
              <a:buAutoNum type="arabicPeriod" startAt="14"/>
            </a:pPr>
            <a:r>
              <a:rPr lang="es-ES" sz="1100" b="1" dirty="0"/>
              <a:t>Periodo Igual:</a:t>
            </a:r>
            <a:r>
              <a:rPr lang="es-ES" sz="1100" dirty="0"/>
              <a:t> Indica que los pagos se aplicarán a cargos que sean del mismo periodo académico que el pago.</a:t>
            </a:r>
          </a:p>
          <a:p>
            <a:pPr marL="342900" indent="-342900" algn="just">
              <a:buFont typeface="+mj-lt"/>
              <a:buAutoNum type="arabicPeriod" startAt="14"/>
            </a:pPr>
            <a:r>
              <a:rPr lang="es-ES" sz="1100" b="1" dirty="0"/>
              <a:t>Año Ayuda Igual:</a:t>
            </a:r>
            <a:r>
              <a:rPr lang="es-ES" sz="1100" dirty="0"/>
              <a:t> Indica que los pagos se aplicarán a cargos que sean del mismo Año Proceso de Ayuda Financiera que el pago. </a:t>
            </a:r>
            <a:r>
              <a:rPr lang="es-ES" sz="1100" i="1" dirty="0"/>
              <a:t>(Configuración no utilizada en América Latina).</a:t>
            </a:r>
          </a:p>
        </p:txBody>
      </p:sp>
      <p:sp>
        <p:nvSpPr>
          <p:cNvPr id="13" name="Título 3">
            <a:extLst>
              <a:ext uri="{FF2B5EF4-FFF2-40B4-BE49-F238E27FC236}">
                <a16:creationId xmlns:a16="http://schemas.microsoft.com/office/drawing/2014/main" id="{7A4D699D-2AC1-3DF9-A805-9284CF9E33B3}"/>
              </a:ext>
            </a:extLst>
          </p:cNvPr>
          <p:cNvSpPr txBox="1">
            <a:spLocks/>
          </p:cNvSpPr>
          <p:nvPr/>
        </p:nvSpPr>
        <p:spPr>
          <a:xfrm>
            <a:off x="1053908" y="184558"/>
            <a:ext cx="10479024"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15" name="Imagen 14">
            <a:extLst>
              <a:ext uri="{FF2B5EF4-FFF2-40B4-BE49-F238E27FC236}">
                <a16:creationId xmlns:a16="http://schemas.microsoft.com/office/drawing/2014/main" id="{96004AEC-C1D0-0310-6B54-7A0F74065D70}"/>
              </a:ext>
            </a:extLst>
          </p:cNvPr>
          <p:cNvPicPr>
            <a:picLocks noChangeAspect="1"/>
          </p:cNvPicPr>
          <p:nvPr/>
        </p:nvPicPr>
        <p:blipFill>
          <a:blip r:embed="rId3"/>
          <a:stretch>
            <a:fillRect/>
          </a:stretch>
        </p:blipFill>
        <p:spPr>
          <a:xfrm>
            <a:off x="8175234" y="1998310"/>
            <a:ext cx="162000" cy="162000"/>
          </a:xfrm>
          <a:prstGeom prst="rect">
            <a:avLst/>
          </a:prstGeom>
        </p:spPr>
      </p:pic>
      <p:pic>
        <p:nvPicPr>
          <p:cNvPr id="17" name="Imagen 16">
            <a:extLst>
              <a:ext uri="{FF2B5EF4-FFF2-40B4-BE49-F238E27FC236}">
                <a16:creationId xmlns:a16="http://schemas.microsoft.com/office/drawing/2014/main" id="{81709B15-196F-F594-0005-F326EC41211C}"/>
              </a:ext>
            </a:extLst>
          </p:cNvPr>
          <p:cNvPicPr>
            <a:picLocks noChangeAspect="1"/>
          </p:cNvPicPr>
          <p:nvPr/>
        </p:nvPicPr>
        <p:blipFill>
          <a:blip r:embed="rId4"/>
          <a:stretch>
            <a:fillRect/>
          </a:stretch>
        </p:blipFill>
        <p:spPr>
          <a:xfrm>
            <a:off x="3280068" y="4152444"/>
            <a:ext cx="162000" cy="162000"/>
          </a:xfrm>
          <a:prstGeom prst="rect">
            <a:avLst/>
          </a:prstGeom>
        </p:spPr>
      </p:pic>
      <p:pic>
        <p:nvPicPr>
          <p:cNvPr id="19" name="Imagen 18">
            <a:extLst>
              <a:ext uri="{FF2B5EF4-FFF2-40B4-BE49-F238E27FC236}">
                <a16:creationId xmlns:a16="http://schemas.microsoft.com/office/drawing/2014/main" id="{F42BADFB-5EE1-54CF-C6E3-A14109CC695C}"/>
              </a:ext>
            </a:extLst>
          </p:cNvPr>
          <p:cNvPicPr>
            <a:picLocks noChangeAspect="1"/>
          </p:cNvPicPr>
          <p:nvPr/>
        </p:nvPicPr>
        <p:blipFill>
          <a:blip r:embed="rId5"/>
          <a:stretch>
            <a:fillRect/>
          </a:stretch>
        </p:blipFill>
        <p:spPr>
          <a:xfrm>
            <a:off x="3500058" y="3976194"/>
            <a:ext cx="162000" cy="162000"/>
          </a:xfrm>
          <a:prstGeom prst="rect">
            <a:avLst/>
          </a:prstGeom>
        </p:spPr>
      </p:pic>
      <p:cxnSp>
        <p:nvCxnSpPr>
          <p:cNvPr id="20" name="Conector recto de flecha 19">
            <a:extLst>
              <a:ext uri="{FF2B5EF4-FFF2-40B4-BE49-F238E27FC236}">
                <a16:creationId xmlns:a16="http://schemas.microsoft.com/office/drawing/2014/main" id="{0E999A9A-A946-85B6-E02C-C9EC3994674A}"/>
              </a:ext>
            </a:extLst>
          </p:cNvPr>
          <p:cNvCxnSpPr>
            <a:cxnSpLocks/>
          </p:cNvCxnSpPr>
          <p:nvPr/>
        </p:nvCxnSpPr>
        <p:spPr>
          <a:xfrm flipH="1">
            <a:off x="3145643" y="4065042"/>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ector recto de flecha 20">
            <a:extLst>
              <a:ext uri="{FF2B5EF4-FFF2-40B4-BE49-F238E27FC236}">
                <a16:creationId xmlns:a16="http://schemas.microsoft.com/office/drawing/2014/main" id="{EA81D51F-C230-E01F-4A7E-27F0126117CC}"/>
              </a:ext>
            </a:extLst>
          </p:cNvPr>
          <p:cNvCxnSpPr>
            <a:cxnSpLocks/>
          </p:cNvCxnSpPr>
          <p:nvPr/>
        </p:nvCxnSpPr>
        <p:spPr>
          <a:xfrm flipH="1">
            <a:off x="2945515" y="4241292"/>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363682D7-41E3-EACD-E77F-CEDB197D53F0}"/>
              </a:ext>
            </a:extLst>
          </p:cNvPr>
          <p:cNvCxnSpPr>
            <a:cxnSpLocks/>
          </p:cNvCxnSpPr>
          <p:nvPr/>
        </p:nvCxnSpPr>
        <p:spPr>
          <a:xfrm flipH="1">
            <a:off x="7822603" y="2096302"/>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00161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50E97-9560-3C22-305A-ECD067A66680}"/>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64F6AD99-9871-6D46-FCB3-A98FCCF58875}"/>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13" name="Rectángulo: esquinas redondeadas 12">
            <a:extLst>
              <a:ext uri="{FF2B5EF4-FFF2-40B4-BE49-F238E27FC236}">
                <a16:creationId xmlns:a16="http://schemas.microsoft.com/office/drawing/2014/main" id="{2676B727-2B53-80C8-D57D-2FB4981A9146}"/>
              </a:ext>
            </a:extLst>
          </p:cNvPr>
          <p:cNvSpPr/>
          <p:nvPr/>
        </p:nvSpPr>
        <p:spPr>
          <a:xfrm>
            <a:off x="1053908" y="5142118"/>
            <a:ext cx="10214512" cy="1243192"/>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17"/>
            </a:pPr>
            <a:r>
              <a:rPr lang="es-ES" sz="1100" b="1" dirty="0"/>
              <a:t>Intervalo Igual:</a:t>
            </a:r>
            <a:r>
              <a:rPr lang="es-ES" sz="1100" dirty="0"/>
              <a:t> Indica que los pagos se aplicarán a cargos que sean del mismo periodo de Ayuda Financiera que el pago. </a:t>
            </a:r>
            <a:r>
              <a:rPr lang="es-ES" sz="1100" i="1" dirty="0"/>
              <a:t>(Configuración no utilizada en América Latina).</a:t>
            </a:r>
          </a:p>
          <a:p>
            <a:pPr marL="342900" indent="-342900" algn="just">
              <a:buFont typeface="+mj-lt"/>
              <a:buAutoNum type="arabicPeriod" startAt="18"/>
            </a:pPr>
            <a:r>
              <a:rPr lang="es-ES" sz="1100" b="1" dirty="0"/>
              <a:t>LM Ingresable:</a:t>
            </a:r>
            <a:r>
              <a:rPr lang="es-ES" sz="1100" dirty="0"/>
              <a:t> Este indicador permite modificar las cuentas contables en la forma de transacción Miscelánea TSAMISC. </a:t>
            </a:r>
          </a:p>
          <a:p>
            <a:pPr marL="342900" indent="-342900" algn="just">
              <a:buFont typeface="+mj-lt"/>
              <a:buAutoNum type="arabicPeriod" startAt="18"/>
            </a:pPr>
            <a:r>
              <a:rPr lang="es-ES" sz="1100" b="1" dirty="0"/>
              <a:t>*Tipo de Pago:</a:t>
            </a:r>
            <a:r>
              <a:rPr lang="es-ES" sz="1100" dirty="0"/>
              <a:t> Indica qué tipo de pago que es el código de detalle, misma que es utilizada para proceso de CXC y reportería. Utiliza como referencia los registros de la tabla de validación TTVPAYT y asignar tipo de pago </a:t>
            </a:r>
            <a:r>
              <a:rPr lang="es-ES" sz="1100" b="1" dirty="0"/>
              <a:t>I</a:t>
            </a:r>
            <a:r>
              <a:rPr lang="es-ES" sz="1100" dirty="0"/>
              <a:t> para los cargos institucionales para aquellos cargos correspondientes a matrícula y </a:t>
            </a:r>
            <a:r>
              <a:rPr lang="es-ES" sz="1100" b="1" dirty="0"/>
              <a:t>N</a:t>
            </a:r>
            <a:r>
              <a:rPr lang="es-ES" sz="1100" dirty="0"/>
              <a:t> para las demás transacciones. El tipo de pago I es requerido para el correcto funcionamiento del componente inscripción por bloques.</a:t>
            </a:r>
            <a:endParaRPr lang="es-CL" sz="1100" dirty="0"/>
          </a:p>
        </p:txBody>
      </p:sp>
      <p:sp>
        <p:nvSpPr>
          <p:cNvPr id="3" name="Título 3">
            <a:extLst>
              <a:ext uri="{FF2B5EF4-FFF2-40B4-BE49-F238E27FC236}">
                <a16:creationId xmlns:a16="http://schemas.microsoft.com/office/drawing/2014/main" id="{95BB1FEC-6DE6-79C7-11D9-34FAB75EF06A}"/>
              </a:ext>
            </a:extLst>
          </p:cNvPr>
          <p:cNvSpPr txBox="1">
            <a:spLocks/>
          </p:cNvSpPr>
          <p:nvPr/>
        </p:nvSpPr>
        <p:spPr>
          <a:xfrm>
            <a:off x="1053908" y="184558"/>
            <a:ext cx="10479024"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15" name="Imagen 14">
            <a:extLst>
              <a:ext uri="{FF2B5EF4-FFF2-40B4-BE49-F238E27FC236}">
                <a16:creationId xmlns:a16="http://schemas.microsoft.com/office/drawing/2014/main" id="{09AEA236-5E98-5CF0-7D9A-86979710CB6B}"/>
              </a:ext>
            </a:extLst>
          </p:cNvPr>
          <p:cNvPicPr>
            <a:picLocks noChangeAspect="1"/>
          </p:cNvPicPr>
          <p:nvPr/>
        </p:nvPicPr>
        <p:blipFill>
          <a:blip r:embed="rId3"/>
          <a:stretch>
            <a:fillRect/>
          </a:stretch>
        </p:blipFill>
        <p:spPr>
          <a:xfrm>
            <a:off x="8146963" y="2167094"/>
            <a:ext cx="162000" cy="162000"/>
          </a:xfrm>
          <a:prstGeom prst="rect">
            <a:avLst/>
          </a:prstGeom>
        </p:spPr>
      </p:pic>
      <p:pic>
        <p:nvPicPr>
          <p:cNvPr id="17" name="Imagen 16">
            <a:extLst>
              <a:ext uri="{FF2B5EF4-FFF2-40B4-BE49-F238E27FC236}">
                <a16:creationId xmlns:a16="http://schemas.microsoft.com/office/drawing/2014/main" id="{F68795C5-94FB-2760-E7D8-027EE738DE88}"/>
              </a:ext>
            </a:extLst>
          </p:cNvPr>
          <p:cNvPicPr>
            <a:picLocks noChangeAspect="1"/>
          </p:cNvPicPr>
          <p:nvPr/>
        </p:nvPicPr>
        <p:blipFill>
          <a:blip r:embed="rId4"/>
          <a:stretch>
            <a:fillRect/>
          </a:stretch>
        </p:blipFill>
        <p:spPr>
          <a:xfrm>
            <a:off x="8156107" y="2691232"/>
            <a:ext cx="162000" cy="162000"/>
          </a:xfrm>
          <a:prstGeom prst="rect">
            <a:avLst/>
          </a:prstGeom>
        </p:spPr>
      </p:pic>
      <p:pic>
        <p:nvPicPr>
          <p:cNvPr id="19" name="Imagen 18">
            <a:extLst>
              <a:ext uri="{FF2B5EF4-FFF2-40B4-BE49-F238E27FC236}">
                <a16:creationId xmlns:a16="http://schemas.microsoft.com/office/drawing/2014/main" id="{DC1B924A-92C5-4038-295F-74DD51C53250}"/>
              </a:ext>
            </a:extLst>
          </p:cNvPr>
          <p:cNvPicPr>
            <a:picLocks noChangeAspect="1"/>
          </p:cNvPicPr>
          <p:nvPr/>
        </p:nvPicPr>
        <p:blipFill>
          <a:blip r:embed="rId5"/>
          <a:stretch>
            <a:fillRect/>
          </a:stretch>
        </p:blipFill>
        <p:spPr>
          <a:xfrm>
            <a:off x="8146963" y="2480770"/>
            <a:ext cx="162000" cy="162000"/>
          </a:xfrm>
          <a:prstGeom prst="rect">
            <a:avLst/>
          </a:prstGeom>
        </p:spPr>
      </p:pic>
      <p:cxnSp>
        <p:nvCxnSpPr>
          <p:cNvPr id="20" name="Conector recto de flecha 19">
            <a:extLst>
              <a:ext uri="{FF2B5EF4-FFF2-40B4-BE49-F238E27FC236}">
                <a16:creationId xmlns:a16="http://schemas.microsoft.com/office/drawing/2014/main" id="{D881CF11-6F35-570F-F1BE-BAB8858CBFB7}"/>
              </a:ext>
            </a:extLst>
          </p:cNvPr>
          <p:cNvCxnSpPr>
            <a:cxnSpLocks/>
          </p:cNvCxnSpPr>
          <p:nvPr/>
        </p:nvCxnSpPr>
        <p:spPr>
          <a:xfrm flipH="1">
            <a:off x="7789956" y="2254530"/>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1" name="Conector recto de flecha 20">
            <a:extLst>
              <a:ext uri="{FF2B5EF4-FFF2-40B4-BE49-F238E27FC236}">
                <a16:creationId xmlns:a16="http://schemas.microsoft.com/office/drawing/2014/main" id="{E96FBA80-F12D-B342-56A7-F82C12B13FD3}"/>
              </a:ext>
            </a:extLst>
          </p:cNvPr>
          <p:cNvCxnSpPr>
            <a:cxnSpLocks/>
          </p:cNvCxnSpPr>
          <p:nvPr/>
        </p:nvCxnSpPr>
        <p:spPr>
          <a:xfrm flipH="1">
            <a:off x="7799100" y="2560474"/>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Conector recto de flecha 21">
            <a:extLst>
              <a:ext uri="{FF2B5EF4-FFF2-40B4-BE49-F238E27FC236}">
                <a16:creationId xmlns:a16="http://schemas.microsoft.com/office/drawing/2014/main" id="{2090466F-2BD9-ECEE-60DE-35CD6DC5A881}"/>
              </a:ext>
            </a:extLst>
          </p:cNvPr>
          <p:cNvCxnSpPr>
            <a:cxnSpLocks/>
          </p:cNvCxnSpPr>
          <p:nvPr/>
        </p:nvCxnSpPr>
        <p:spPr>
          <a:xfrm flipH="1">
            <a:off x="7805196" y="2749450"/>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93112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95CD6-A216-1907-25EB-0698D0348801}"/>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06173CBC-968A-E1E6-AA20-27A05CE96C77}"/>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31" name="Rectángulo: esquinas redondeadas 30">
            <a:extLst>
              <a:ext uri="{FF2B5EF4-FFF2-40B4-BE49-F238E27FC236}">
                <a16:creationId xmlns:a16="http://schemas.microsoft.com/office/drawing/2014/main" id="{8D209D48-A336-3E1C-F20E-178610983BCB}"/>
              </a:ext>
            </a:extLst>
          </p:cNvPr>
          <p:cNvSpPr/>
          <p:nvPr/>
        </p:nvSpPr>
        <p:spPr>
          <a:xfrm>
            <a:off x="816125" y="5114567"/>
            <a:ext cx="10886058" cy="128034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20"/>
            </a:pPr>
            <a:r>
              <a:rPr lang="es-ES" sz="1100" b="1" dirty="0"/>
              <a:t>Tipo Impuesto: </a:t>
            </a:r>
            <a:r>
              <a:rPr lang="es-ES" sz="1100" dirty="0"/>
              <a:t>Este campo indica el Código del Tipo de Impuesto asociado con el código de detalle. Este campo es configurado con los registros de la tabla de validación TTVTAXT y se encuentra asociado a la morosidad del pago.</a:t>
            </a:r>
          </a:p>
          <a:p>
            <a:pPr marL="342900" indent="-342900" algn="just">
              <a:buFont typeface="+mj-lt"/>
              <a:buAutoNum type="arabicPeriod" startAt="20"/>
            </a:pPr>
            <a:r>
              <a:rPr lang="es-ES" sz="1100" b="1" dirty="0"/>
              <a:t>Título IV: </a:t>
            </a:r>
            <a:r>
              <a:rPr lang="es-ES" sz="1100" dirty="0"/>
              <a:t>Para códigos de detalle de pago, indica que son de tipo Título IV, y es una funcionalidad de reembolso de la regulación </a:t>
            </a:r>
            <a:r>
              <a:rPr lang="es-ES" sz="1100" dirty="0" err="1"/>
              <a:t>Financial</a:t>
            </a:r>
            <a:r>
              <a:rPr lang="es-ES" sz="1100" dirty="0"/>
              <a:t> </a:t>
            </a:r>
            <a:r>
              <a:rPr lang="es-ES" sz="1100" dirty="0" err="1"/>
              <a:t>Services</a:t>
            </a:r>
            <a:r>
              <a:rPr lang="es-ES" sz="1100" dirty="0"/>
              <a:t> </a:t>
            </a:r>
            <a:r>
              <a:rPr lang="es-ES" sz="1100" dirty="0" err="1"/>
              <a:t>Authority</a:t>
            </a:r>
            <a:r>
              <a:rPr lang="es-ES" sz="1100" dirty="0"/>
              <a:t> (FSA), la cual </a:t>
            </a:r>
            <a:r>
              <a:rPr lang="es-ES" sz="1100" i="1" dirty="0"/>
              <a:t>no se utiliza en Latinoamérica</a:t>
            </a:r>
            <a:r>
              <a:rPr lang="es-ES" sz="1100" dirty="0"/>
              <a:t>.</a:t>
            </a:r>
          </a:p>
          <a:p>
            <a:pPr marL="342900" indent="-342900" algn="just">
              <a:buFont typeface="+mj-lt"/>
              <a:buAutoNum type="arabicPeriod" startAt="20"/>
            </a:pPr>
            <a:r>
              <a:rPr lang="es-ES" sz="1100" b="1" dirty="0"/>
              <a:t>Cargos Institucionales:</a:t>
            </a:r>
            <a:r>
              <a:rPr lang="es-ES" sz="1100" dirty="0"/>
              <a:t> Indica que las transacciones tipo cargo con este código de detalle corresponden a un cargo institucional.</a:t>
            </a:r>
          </a:p>
        </p:txBody>
      </p:sp>
      <p:sp>
        <p:nvSpPr>
          <p:cNvPr id="3" name="Título 3">
            <a:extLst>
              <a:ext uri="{FF2B5EF4-FFF2-40B4-BE49-F238E27FC236}">
                <a16:creationId xmlns:a16="http://schemas.microsoft.com/office/drawing/2014/main" id="{8708E050-2405-D562-E104-E977971CEB73}"/>
              </a:ext>
            </a:extLst>
          </p:cNvPr>
          <p:cNvSpPr txBox="1">
            <a:spLocks/>
          </p:cNvSpPr>
          <p:nvPr/>
        </p:nvSpPr>
        <p:spPr>
          <a:xfrm>
            <a:off x="1053908" y="184558"/>
            <a:ext cx="10479024"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6" name="Imagen 5">
            <a:extLst>
              <a:ext uri="{FF2B5EF4-FFF2-40B4-BE49-F238E27FC236}">
                <a16:creationId xmlns:a16="http://schemas.microsoft.com/office/drawing/2014/main" id="{EC3E48AF-D0A6-29D2-0CDB-279ED24B2668}"/>
              </a:ext>
            </a:extLst>
          </p:cNvPr>
          <p:cNvPicPr>
            <a:picLocks noChangeAspect="1"/>
          </p:cNvPicPr>
          <p:nvPr/>
        </p:nvPicPr>
        <p:blipFill>
          <a:blip r:embed="rId3"/>
          <a:stretch>
            <a:fillRect/>
          </a:stretch>
        </p:blipFill>
        <p:spPr>
          <a:xfrm>
            <a:off x="8544955" y="3196326"/>
            <a:ext cx="162000" cy="162000"/>
          </a:xfrm>
          <a:prstGeom prst="rect">
            <a:avLst/>
          </a:prstGeom>
        </p:spPr>
      </p:pic>
      <p:pic>
        <p:nvPicPr>
          <p:cNvPr id="8" name="Imagen 7">
            <a:extLst>
              <a:ext uri="{FF2B5EF4-FFF2-40B4-BE49-F238E27FC236}">
                <a16:creationId xmlns:a16="http://schemas.microsoft.com/office/drawing/2014/main" id="{301228FC-2ED1-7D9F-EDB0-ECEA9046EA00}"/>
              </a:ext>
            </a:extLst>
          </p:cNvPr>
          <p:cNvPicPr>
            <a:picLocks noChangeAspect="1"/>
          </p:cNvPicPr>
          <p:nvPr/>
        </p:nvPicPr>
        <p:blipFill>
          <a:blip r:embed="rId4"/>
          <a:stretch>
            <a:fillRect/>
          </a:stretch>
        </p:blipFill>
        <p:spPr>
          <a:xfrm>
            <a:off x="8358115" y="3018157"/>
            <a:ext cx="162000" cy="162000"/>
          </a:xfrm>
          <a:prstGeom prst="rect">
            <a:avLst/>
          </a:prstGeom>
        </p:spPr>
      </p:pic>
      <p:pic>
        <p:nvPicPr>
          <p:cNvPr id="10" name="Imagen 9">
            <a:extLst>
              <a:ext uri="{FF2B5EF4-FFF2-40B4-BE49-F238E27FC236}">
                <a16:creationId xmlns:a16="http://schemas.microsoft.com/office/drawing/2014/main" id="{EE237A64-903D-6FE7-5C94-239C66CBFD8D}"/>
              </a:ext>
            </a:extLst>
          </p:cNvPr>
          <p:cNvPicPr>
            <a:picLocks noChangeAspect="1"/>
          </p:cNvPicPr>
          <p:nvPr/>
        </p:nvPicPr>
        <p:blipFill>
          <a:blip r:embed="rId5"/>
          <a:stretch>
            <a:fillRect/>
          </a:stretch>
        </p:blipFill>
        <p:spPr>
          <a:xfrm>
            <a:off x="8209219" y="2830209"/>
            <a:ext cx="162000" cy="162000"/>
          </a:xfrm>
          <a:prstGeom prst="rect">
            <a:avLst/>
          </a:prstGeom>
        </p:spPr>
      </p:pic>
      <p:cxnSp>
        <p:nvCxnSpPr>
          <p:cNvPr id="11" name="Conector recto de flecha 10">
            <a:extLst>
              <a:ext uri="{FF2B5EF4-FFF2-40B4-BE49-F238E27FC236}">
                <a16:creationId xmlns:a16="http://schemas.microsoft.com/office/drawing/2014/main" id="{07107CCE-8826-16F3-F42E-F0B4AF3FD8EE}"/>
              </a:ext>
            </a:extLst>
          </p:cNvPr>
          <p:cNvCxnSpPr>
            <a:cxnSpLocks/>
          </p:cNvCxnSpPr>
          <p:nvPr/>
        </p:nvCxnSpPr>
        <p:spPr>
          <a:xfrm flipH="1">
            <a:off x="7863607" y="2924163"/>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Conector recto de flecha 11">
            <a:extLst>
              <a:ext uri="{FF2B5EF4-FFF2-40B4-BE49-F238E27FC236}">
                <a16:creationId xmlns:a16="http://schemas.microsoft.com/office/drawing/2014/main" id="{C2775656-EEF7-0D3A-6252-2CBB1156F209}"/>
              </a:ext>
            </a:extLst>
          </p:cNvPr>
          <p:cNvCxnSpPr>
            <a:cxnSpLocks/>
          </p:cNvCxnSpPr>
          <p:nvPr/>
        </p:nvCxnSpPr>
        <p:spPr>
          <a:xfrm flipH="1">
            <a:off x="8041719" y="3100858"/>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ector recto de flecha 12">
            <a:extLst>
              <a:ext uri="{FF2B5EF4-FFF2-40B4-BE49-F238E27FC236}">
                <a16:creationId xmlns:a16="http://schemas.microsoft.com/office/drawing/2014/main" id="{006B9939-B419-5092-4D32-D02E18112FCC}"/>
              </a:ext>
            </a:extLst>
          </p:cNvPr>
          <p:cNvCxnSpPr>
            <a:cxnSpLocks/>
          </p:cNvCxnSpPr>
          <p:nvPr/>
        </p:nvCxnSpPr>
        <p:spPr>
          <a:xfrm flipH="1">
            <a:off x="8221551" y="3289834"/>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33220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912B8-4BC9-56FE-DC44-4284B07D8033}"/>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01B28B05-C2EC-1F58-B32D-7E3201C56CB5}"/>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11" name="Rectángulo: esquinas redondeadas 10">
            <a:extLst>
              <a:ext uri="{FF2B5EF4-FFF2-40B4-BE49-F238E27FC236}">
                <a16:creationId xmlns:a16="http://schemas.microsoft.com/office/drawing/2014/main" id="{DF53DDF4-B848-3951-B4E2-8EBB2F62E549}"/>
              </a:ext>
            </a:extLst>
          </p:cNvPr>
          <p:cNvSpPr/>
          <p:nvPr/>
        </p:nvSpPr>
        <p:spPr>
          <a:xfrm>
            <a:off x="1207008" y="5061164"/>
            <a:ext cx="9784080" cy="1295185"/>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23"/>
            </a:pPr>
            <a:r>
              <a:rPr lang="es-ES" sz="1100" b="1" dirty="0"/>
              <a:t>Cargo no Permitido:</a:t>
            </a:r>
            <a:r>
              <a:rPr lang="es-ES" sz="1100" dirty="0"/>
              <a:t> corresponde a los códigos de detalle que no serán pagados con fondos del título IV. Esto para la funcionalidad de reembolso de la regulación </a:t>
            </a:r>
            <a:r>
              <a:rPr lang="es-ES" sz="1100" dirty="0" err="1"/>
              <a:t>Financial</a:t>
            </a:r>
            <a:r>
              <a:rPr lang="es-ES" sz="1100" dirty="0"/>
              <a:t> </a:t>
            </a:r>
            <a:r>
              <a:rPr lang="es-ES" sz="1100" dirty="0" err="1"/>
              <a:t>Services</a:t>
            </a:r>
            <a:r>
              <a:rPr lang="es-ES" sz="1100" dirty="0"/>
              <a:t> </a:t>
            </a:r>
            <a:r>
              <a:rPr lang="es-ES" sz="1100" dirty="0" err="1"/>
              <a:t>Authority</a:t>
            </a:r>
            <a:r>
              <a:rPr lang="es-ES" sz="1100" dirty="0"/>
              <a:t> (FSA), la </a:t>
            </a:r>
            <a:r>
              <a:rPr lang="es-ES" sz="1100" i="1" dirty="0"/>
              <a:t>cual no se utiliza en Latinoamérica.</a:t>
            </a:r>
          </a:p>
          <a:p>
            <a:pPr marL="342900" indent="-342900" algn="just">
              <a:buFont typeface="+mj-lt"/>
              <a:buAutoNum type="arabicPeriod" startAt="23"/>
            </a:pPr>
            <a:r>
              <a:rPr lang="es-ES" sz="1100" b="1" dirty="0"/>
              <a:t>Excluir Impresión de Factura.</a:t>
            </a:r>
            <a:r>
              <a:rPr lang="es-ES" sz="1100" dirty="0"/>
              <a:t> Los códigos que tengan configurado este indicador no se procesarán en la factura del estudiante la cual se crea con el proceso TSRCBIL. No se utiliza en Latinoamérica.</a:t>
            </a:r>
          </a:p>
          <a:p>
            <a:pPr marL="342900" indent="-342900" algn="just">
              <a:buFont typeface="+mj-lt"/>
              <a:buAutoNum type="arabicPeriod" startAt="23"/>
            </a:pPr>
            <a:r>
              <a:rPr lang="es-ES" sz="1100" b="1" dirty="0"/>
              <a:t>Historia de Pago:</a:t>
            </a:r>
            <a:r>
              <a:rPr lang="es-ES" sz="1100" dirty="0"/>
              <a:t> Los códigos de detalle que se configuren con este indicador serán mostrados en la forma de Petición de Historia de Pago y Declaración TGISTMT.</a:t>
            </a:r>
          </a:p>
        </p:txBody>
      </p:sp>
      <p:sp>
        <p:nvSpPr>
          <p:cNvPr id="12" name="Título 3">
            <a:extLst>
              <a:ext uri="{FF2B5EF4-FFF2-40B4-BE49-F238E27FC236}">
                <a16:creationId xmlns:a16="http://schemas.microsoft.com/office/drawing/2014/main" id="{34D9B61B-EAA1-EDB1-BADE-F77F2A7BF1F7}"/>
              </a:ext>
            </a:extLst>
          </p:cNvPr>
          <p:cNvSpPr txBox="1">
            <a:spLocks/>
          </p:cNvSpPr>
          <p:nvPr/>
        </p:nvSpPr>
        <p:spPr>
          <a:xfrm>
            <a:off x="1053908" y="184558"/>
            <a:ext cx="10479024"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19" name="Imagen 18">
            <a:extLst>
              <a:ext uri="{FF2B5EF4-FFF2-40B4-BE49-F238E27FC236}">
                <a16:creationId xmlns:a16="http://schemas.microsoft.com/office/drawing/2014/main" id="{258F4BAB-24C9-989A-4880-11AF564EC386}"/>
              </a:ext>
            </a:extLst>
          </p:cNvPr>
          <p:cNvPicPr>
            <a:picLocks noChangeAspect="1"/>
          </p:cNvPicPr>
          <p:nvPr/>
        </p:nvPicPr>
        <p:blipFill>
          <a:blip r:embed="rId3"/>
          <a:stretch>
            <a:fillRect/>
          </a:stretch>
        </p:blipFill>
        <p:spPr>
          <a:xfrm>
            <a:off x="8192630" y="3668370"/>
            <a:ext cx="162000" cy="162000"/>
          </a:xfrm>
          <a:prstGeom prst="rect">
            <a:avLst/>
          </a:prstGeom>
        </p:spPr>
      </p:pic>
      <p:pic>
        <p:nvPicPr>
          <p:cNvPr id="21" name="Imagen 20">
            <a:extLst>
              <a:ext uri="{FF2B5EF4-FFF2-40B4-BE49-F238E27FC236}">
                <a16:creationId xmlns:a16="http://schemas.microsoft.com/office/drawing/2014/main" id="{1A5535CA-BD85-86B3-D8F6-F3573795A08C}"/>
              </a:ext>
            </a:extLst>
          </p:cNvPr>
          <p:cNvPicPr>
            <a:picLocks noChangeAspect="1"/>
          </p:cNvPicPr>
          <p:nvPr/>
        </p:nvPicPr>
        <p:blipFill>
          <a:blip r:embed="rId4"/>
          <a:stretch>
            <a:fillRect/>
          </a:stretch>
        </p:blipFill>
        <p:spPr>
          <a:xfrm>
            <a:off x="8824934" y="3508069"/>
            <a:ext cx="162000" cy="162000"/>
          </a:xfrm>
          <a:prstGeom prst="rect">
            <a:avLst/>
          </a:prstGeom>
        </p:spPr>
      </p:pic>
      <p:pic>
        <p:nvPicPr>
          <p:cNvPr id="23" name="Imagen 22">
            <a:extLst>
              <a:ext uri="{FF2B5EF4-FFF2-40B4-BE49-F238E27FC236}">
                <a16:creationId xmlns:a16="http://schemas.microsoft.com/office/drawing/2014/main" id="{66201374-7C82-2559-E1BF-69EBAC5EB29D}"/>
              </a:ext>
            </a:extLst>
          </p:cNvPr>
          <p:cNvPicPr>
            <a:picLocks noChangeAspect="1"/>
          </p:cNvPicPr>
          <p:nvPr/>
        </p:nvPicPr>
        <p:blipFill>
          <a:blip r:embed="rId5"/>
          <a:stretch>
            <a:fillRect/>
          </a:stretch>
        </p:blipFill>
        <p:spPr>
          <a:xfrm>
            <a:off x="8515262" y="3315716"/>
            <a:ext cx="162000" cy="162000"/>
          </a:xfrm>
          <a:prstGeom prst="rect">
            <a:avLst/>
          </a:prstGeom>
        </p:spPr>
      </p:pic>
      <p:cxnSp>
        <p:nvCxnSpPr>
          <p:cNvPr id="24" name="Conector recto de flecha 23">
            <a:extLst>
              <a:ext uri="{FF2B5EF4-FFF2-40B4-BE49-F238E27FC236}">
                <a16:creationId xmlns:a16="http://schemas.microsoft.com/office/drawing/2014/main" id="{4D73659A-754A-955A-32EA-6001ADB5919B}"/>
              </a:ext>
            </a:extLst>
          </p:cNvPr>
          <p:cNvCxnSpPr>
            <a:cxnSpLocks/>
          </p:cNvCxnSpPr>
          <p:nvPr/>
        </p:nvCxnSpPr>
        <p:spPr>
          <a:xfrm flipH="1">
            <a:off x="8162215" y="3405997"/>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5" name="Conector recto de flecha 24">
            <a:extLst>
              <a:ext uri="{FF2B5EF4-FFF2-40B4-BE49-F238E27FC236}">
                <a16:creationId xmlns:a16="http://schemas.microsoft.com/office/drawing/2014/main" id="{23BCE202-0F19-E009-4922-A7609EEBA2B7}"/>
              </a:ext>
            </a:extLst>
          </p:cNvPr>
          <p:cNvCxnSpPr>
            <a:cxnSpLocks/>
          </p:cNvCxnSpPr>
          <p:nvPr/>
        </p:nvCxnSpPr>
        <p:spPr>
          <a:xfrm flipH="1">
            <a:off x="8479207" y="3594973"/>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6" name="Conector recto de flecha 25">
            <a:extLst>
              <a:ext uri="{FF2B5EF4-FFF2-40B4-BE49-F238E27FC236}">
                <a16:creationId xmlns:a16="http://schemas.microsoft.com/office/drawing/2014/main" id="{D42BAEB7-4E73-73D3-3C15-29617D163509}"/>
              </a:ext>
            </a:extLst>
          </p:cNvPr>
          <p:cNvCxnSpPr>
            <a:cxnSpLocks/>
          </p:cNvCxnSpPr>
          <p:nvPr/>
        </p:nvCxnSpPr>
        <p:spPr>
          <a:xfrm flipH="1">
            <a:off x="7799503" y="3747373"/>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44507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0DF9B-D6B6-AC83-0280-1FDF67FB298B}"/>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94EB30E3-89F5-66B5-DBAB-395EFC448DBC}"/>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3" name="Rectángulo: esquinas redondeadas 2">
            <a:extLst>
              <a:ext uri="{FF2B5EF4-FFF2-40B4-BE49-F238E27FC236}">
                <a16:creationId xmlns:a16="http://schemas.microsoft.com/office/drawing/2014/main" id="{7AB6CB57-91AD-43BF-359F-AA04221627FF}"/>
              </a:ext>
            </a:extLst>
          </p:cNvPr>
          <p:cNvSpPr/>
          <p:nvPr/>
        </p:nvSpPr>
        <p:spPr>
          <a:xfrm>
            <a:off x="1302235" y="5201529"/>
            <a:ext cx="9587529" cy="743340"/>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342900" indent="-342900" algn="just">
              <a:buFont typeface="+mj-lt"/>
              <a:buAutoNum type="arabicPeriod" startAt="26"/>
            </a:pPr>
            <a:r>
              <a:rPr lang="es-ES" sz="1100" b="1" dirty="0"/>
              <a:t>Monto Predefinido: </a:t>
            </a:r>
            <a:r>
              <a:rPr lang="es-ES" sz="1100" dirty="0"/>
              <a:t>Asigna el valor a la columna de cargo o pago dependiendo de la naturaleza del código de detalle. Al momento de ingresar una transacción con algún código de detalle que tenga configurado un monto, este valor se asignara en la transacción automáticamente, aunque puede ser sobrescrito antes de guardar el registro.</a:t>
            </a:r>
          </a:p>
        </p:txBody>
      </p:sp>
      <p:sp>
        <p:nvSpPr>
          <p:cNvPr id="8" name="Título 3">
            <a:extLst>
              <a:ext uri="{FF2B5EF4-FFF2-40B4-BE49-F238E27FC236}">
                <a16:creationId xmlns:a16="http://schemas.microsoft.com/office/drawing/2014/main" id="{9CC899E3-94D0-BB38-8444-5638AC21DD3E}"/>
              </a:ext>
            </a:extLst>
          </p:cNvPr>
          <p:cNvSpPr txBox="1">
            <a:spLocks/>
          </p:cNvSpPr>
          <p:nvPr/>
        </p:nvSpPr>
        <p:spPr>
          <a:xfrm>
            <a:off x="1053908" y="184558"/>
            <a:ext cx="10479024"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cxnSp>
        <p:nvCxnSpPr>
          <p:cNvPr id="10" name="Conector recto de flecha 9">
            <a:extLst>
              <a:ext uri="{FF2B5EF4-FFF2-40B4-BE49-F238E27FC236}">
                <a16:creationId xmlns:a16="http://schemas.microsoft.com/office/drawing/2014/main" id="{590C6BCB-664C-E53C-464D-6711A6B512DB}"/>
              </a:ext>
            </a:extLst>
          </p:cNvPr>
          <p:cNvCxnSpPr>
            <a:cxnSpLocks/>
          </p:cNvCxnSpPr>
          <p:nvPr/>
        </p:nvCxnSpPr>
        <p:spPr>
          <a:xfrm flipH="1">
            <a:off x="2674903" y="4538280"/>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2" name="Imagen 11">
            <a:extLst>
              <a:ext uri="{FF2B5EF4-FFF2-40B4-BE49-F238E27FC236}">
                <a16:creationId xmlns:a16="http://schemas.microsoft.com/office/drawing/2014/main" id="{73B81AC2-0DF6-86D2-60BD-7F5585E0B756}"/>
              </a:ext>
            </a:extLst>
          </p:cNvPr>
          <p:cNvPicPr>
            <a:picLocks noChangeAspect="1"/>
          </p:cNvPicPr>
          <p:nvPr/>
        </p:nvPicPr>
        <p:blipFill>
          <a:blip r:embed="rId3"/>
          <a:stretch>
            <a:fillRect/>
          </a:stretch>
        </p:blipFill>
        <p:spPr>
          <a:xfrm>
            <a:off x="3053755" y="4453553"/>
            <a:ext cx="162000" cy="162000"/>
          </a:xfrm>
          <a:prstGeom prst="rect">
            <a:avLst/>
          </a:prstGeom>
        </p:spPr>
      </p:pic>
    </p:spTree>
    <p:extLst>
      <p:ext uri="{BB962C8B-B14F-4D97-AF65-F5344CB8AC3E}">
        <p14:creationId xmlns:p14="http://schemas.microsoft.com/office/powerpoint/2010/main" val="24348260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7B769-74CD-FC54-BFEF-73C0AA296764}"/>
            </a:ext>
          </a:extLst>
        </p:cNvPr>
        <p:cNvGrpSpPr/>
        <p:nvPr/>
      </p:nvGrpSpPr>
      <p:grpSpPr>
        <a:xfrm>
          <a:off x="0" y="0"/>
          <a:ext cx="0" cy="0"/>
          <a:chOff x="0" y="0"/>
          <a:chExt cx="0" cy="0"/>
        </a:xfrm>
      </p:grpSpPr>
      <p:pic>
        <p:nvPicPr>
          <p:cNvPr id="2" name="Imagen 1">
            <a:extLst>
              <a:ext uri="{FF2B5EF4-FFF2-40B4-BE49-F238E27FC236}">
                <a16:creationId xmlns:a16="http://schemas.microsoft.com/office/drawing/2014/main" id="{10B209C7-65A5-B0C9-4B19-BF06C24E6630}"/>
              </a:ext>
            </a:extLst>
          </p:cNvPr>
          <p:cNvPicPr>
            <a:picLocks noChangeAspect="1"/>
          </p:cNvPicPr>
          <p:nvPr/>
        </p:nvPicPr>
        <p:blipFill>
          <a:blip r:embed="rId2"/>
          <a:stretch>
            <a:fillRect/>
          </a:stretch>
        </p:blipFill>
        <p:spPr>
          <a:xfrm>
            <a:off x="1112519" y="1190647"/>
            <a:ext cx="9966961" cy="3762983"/>
          </a:xfrm>
          <a:prstGeom prst="rect">
            <a:avLst/>
          </a:prstGeom>
        </p:spPr>
      </p:pic>
      <p:sp>
        <p:nvSpPr>
          <p:cNvPr id="3" name="Rectángulo: esquinas redondeadas 2">
            <a:extLst>
              <a:ext uri="{FF2B5EF4-FFF2-40B4-BE49-F238E27FC236}">
                <a16:creationId xmlns:a16="http://schemas.microsoft.com/office/drawing/2014/main" id="{56EF615D-DA87-DFC6-75B0-4CF3D8269680}"/>
              </a:ext>
            </a:extLst>
          </p:cNvPr>
          <p:cNvSpPr/>
          <p:nvPr/>
        </p:nvSpPr>
        <p:spPr>
          <a:xfrm>
            <a:off x="1302235" y="5310882"/>
            <a:ext cx="9587529" cy="907038"/>
          </a:xfrm>
          <a:prstGeom prst="roundRect">
            <a:avLst>
              <a:gd name="adj" fmla="val 14466"/>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 sz="1100" b="1" dirty="0"/>
              <a:t>27. Periodo Predefinido: </a:t>
            </a:r>
            <a:r>
              <a:rPr lang="es-ES" sz="1100" dirty="0"/>
              <a:t>Asigna este valor al periodo académico de la transacción, al momento de ingresar una transacción con algún código de detalle que tenga configurado un periodo académico, este valor se asigna en la transacción automáticamente, aunque puede ser reemplazado antes de guardar el registro.</a:t>
            </a:r>
          </a:p>
          <a:p>
            <a:pPr algn="just"/>
            <a:r>
              <a:rPr lang="es-ES" sz="1100" b="1" dirty="0"/>
              <a:t>28. Inicio de vigencia Predefinido:</a:t>
            </a:r>
            <a:r>
              <a:rPr lang="es-ES" sz="1100" dirty="0"/>
              <a:t> Asigna esta fecha a la fecha vigente. </a:t>
            </a:r>
          </a:p>
        </p:txBody>
      </p:sp>
      <p:sp>
        <p:nvSpPr>
          <p:cNvPr id="10" name="Título 3">
            <a:extLst>
              <a:ext uri="{FF2B5EF4-FFF2-40B4-BE49-F238E27FC236}">
                <a16:creationId xmlns:a16="http://schemas.microsoft.com/office/drawing/2014/main" id="{9CA42B9E-9418-9FCA-78EA-FC68F20F199A}"/>
              </a:ext>
            </a:extLst>
          </p:cNvPr>
          <p:cNvSpPr txBox="1">
            <a:spLocks/>
          </p:cNvSpPr>
          <p:nvPr/>
        </p:nvSpPr>
        <p:spPr>
          <a:xfrm>
            <a:off x="1053908" y="184558"/>
            <a:ext cx="10479024"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cxnSp>
        <p:nvCxnSpPr>
          <p:cNvPr id="12" name="Conector recto de flecha 11">
            <a:extLst>
              <a:ext uri="{FF2B5EF4-FFF2-40B4-BE49-F238E27FC236}">
                <a16:creationId xmlns:a16="http://schemas.microsoft.com/office/drawing/2014/main" id="{763E9AFA-348F-6658-6DC8-9020DD54A854}"/>
              </a:ext>
            </a:extLst>
          </p:cNvPr>
          <p:cNvCxnSpPr>
            <a:cxnSpLocks/>
          </p:cNvCxnSpPr>
          <p:nvPr/>
        </p:nvCxnSpPr>
        <p:spPr>
          <a:xfrm flipH="1">
            <a:off x="9569479" y="4519992"/>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Conector recto de flecha 12">
            <a:extLst>
              <a:ext uri="{FF2B5EF4-FFF2-40B4-BE49-F238E27FC236}">
                <a16:creationId xmlns:a16="http://schemas.microsoft.com/office/drawing/2014/main" id="{480F2D2A-E82A-C681-7685-4DD036C26D57}"/>
              </a:ext>
            </a:extLst>
          </p:cNvPr>
          <p:cNvCxnSpPr>
            <a:cxnSpLocks/>
          </p:cNvCxnSpPr>
          <p:nvPr/>
        </p:nvCxnSpPr>
        <p:spPr>
          <a:xfrm flipH="1">
            <a:off x="5986272" y="4538280"/>
            <a:ext cx="302143"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7" name="Imagen 16">
            <a:extLst>
              <a:ext uri="{FF2B5EF4-FFF2-40B4-BE49-F238E27FC236}">
                <a16:creationId xmlns:a16="http://schemas.microsoft.com/office/drawing/2014/main" id="{093355A4-3C49-6EFD-EFBB-94482BAA07E4}"/>
              </a:ext>
            </a:extLst>
          </p:cNvPr>
          <p:cNvPicPr>
            <a:picLocks noChangeAspect="1"/>
          </p:cNvPicPr>
          <p:nvPr/>
        </p:nvPicPr>
        <p:blipFill>
          <a:blip r:embed="rId3"/>
          <a:stretch>
            <a:fillRect/>
          </a:stretch>
        </p:blipFill>
        <p:spPr>
          <a:xfrm>
            <a:off x="9967553" y="4425576"/>
            <a:ext cx="162000" cy="162000"/>
          </a:xfrm>
          <a:prstGeom prst="rect">
            <a:avLst/>
          </a:prstGeom>
        </p:spPr>
      </p:pic>
      <p:pic>
        <p:nvPicPr>
          <p:cNvPr id="19" name="Imagen 18">
            <a:extLst>
              <a:ext uri="{FF2B5EF4-FFF2-40B4-BE49-F238E27FC236}">
                <a16:creationId xmlns:a16="http://schemas.microsoft.com/office/drawing/2014/main" id="{2001062B-8CD8-3DC1-B9F3-E6D51F5E6492}"/>
              </a:ext>
            </a:extLst>
          </p:cNvPr>
          <p:cNvPicPr>
            <a:picLocks noChangeAspect="1"/>
          </p:cNvPicPr>
          <p:nvPr/>
        </p:nvPicPr>
        <p:blipFill>
          <a:blip r:embed="rId4"/>
          <a:stretch>
            <a:fillRect/>
          </a:stretch>
        </p:blipFill>
        <p:spPr>
          <a:xfrm>
            <a:off x="6344662" y="4453848"/>
            <a:ext cx="162000" cy="162000"/>
          </a:xfrm>
          <a:prstGeom prst="rect">
            <a:avLst/>
          </a:prstGeom>
        </p:spPr>
      </p:pic>
    </p:spTree>
    <p:extLst>
      <p:ext uri="{BB962C8B-B14F-4D97-AF65-F5344CB8AC3E}">
        <p14:creationId xmlns:p14="http://schemas.microsoft.com/office/powerpoint/2010/main" val="7392098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EC576-61FA-5218-0AD4-75543781C41F}"/>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F46B6A32-BF89-E19F-B7A0-C0241BB72ACF}"/>
              </a:ext>
            </a:extLst>
          </p:cNvPr>
          <p:cNvSpPr txBox="1"/>
          <p:nvPr/>
        </p:nvSpPr>
        <p:spPr>
          <a:xfrm>
            <a:off x="576072" y="2328172"/>
            <a:ext cx="7815834" cy="1015663"/>
          </a:xfrm>
          <a:prstGeom prst="rect">
            <a:avLst/>
          </a:prstGeom>
          <a:noFill/>
        </p:spPr>
        <p:txBody>
          <a:bodyPr wrap="square">
            <a:spAutoFit/>
          </a:bodyPr>
          <a:lstStyle/>
          <a:p>
            <a:r>
              <a:rPr lang="en-US" sz="6000" b="1" dirty="0">
                <a:solidFill>
                  <a:schemeClr val="bg1"/>
                </a:solidFill>
              </a:rPr>
              <a:t>Configuraciones</a:t>
            </a:r>
          </a:p>
        </p:txBody>
      </p:sp>
      <p:sp>
        <p:nvSpPr>
          <p:cNvPr id="8" name="Text Placeholder 16">
            <a:extLst>
              <a:ext uri="{FF2B5EF4-FFF2-40B4-BE49-F238E27FC236}">
                <a16:creationId xmlns:a16="http://schemas.microsoft.com/office/drawing/2014/main" id="{396885DC-7B52-822C-3387-7F6B533A9D5B}"/>
              </a:ext>
            </a:extLst>
          </p:cNvPr>
          <p:cNvSpPr txBox="1">
            <a:spLocks/>
          </p:cNvSpPr>
          <p:nvPr/>
        </p:nvSpPr>
        <p:spPr>
          <a:xfrm>
            <a:off x="576072" y="4779478"/>
            <a:ext cx="7454279" cy="420624"/>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Cuentas por Cobrar del Estudiante</a:t>
            </a:r>
            <a:endParaRPr lang="en-US" sz="2000" b="1" dirty="0">
              <a:solidFill>
                <a:schemeClr val="bg1"/>
              </a:solidFill>
            </a:endParaRPr>
          </a:p>
        </p:txBody>
      </p:sp>
      <p:sp>
        <p:nvSpPr>
          <p:cNvPr id="2" name="Text Placeholder 16">
            <a:extLst>
              <a:ext uri="{FF2B5EF4-FFF2-40B4-BE49-F238E27FC236}">
                <a16:creationId xmlns:a16="http://schemas.microsoft.com/office/drawing/2014/main" id="{121945DE-953B-6105-C017-4DC6BDF0CE59}"/>
              </a:ext>
            </a:extLst>
          </p:cNvPr>
          <p:cNvSpPr txBox="1">
            <a:spLocks/>
          </p:cNvSpPr>
          <p:nvPr/>
        </p:nvSpPr>
        <p:spPr>
          <a:xfrm>
            <a:off x="658367" y="3247590"/>
            <a:ext cx="7454279" cy="533151"/>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s-CO" sz="2000" b="1" dirty="0">
                <a:solidFill>
                  <a:schemeClr val="bg1"/>
                </a:solidFill>
              </a:rPr>
              <a:t>Asignación de distribución contable.    </a:t>
            </a:r>
            <a:endParaRPr lang="en-US" sz="2000" b="1" dirty="0">
              <a:solidFill>
                <a:schemeClr val="bg1"/>
              </a:solidFill>
            </a:endParaRPr>
          </a:p>
        </p:txBody>
      </p:sp>
    </p:spTree>
    <p:extLst>
      <p:ext uri="{BB962C8B-B14F-4D97-AF65-F5344CB8AC3E}">
        <p14:creationId xmlns:p14="http://schemas.microsoft.com/office/powerpoint/2010/main" val="36301710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6502E-04A4-29D9-BCAC-B9E50CA2AB39}"/>
            </a:ext>
          </a:extLst>
        </p:cNvPr>
        <p:cNvGrpSpPr/>
        <p:nvPr/>
      </p:nvGrpSpPr>
      <p:grpSpPr>
        <a:xfrm>
          <a:off x="0" y="0"/>
          <a:ext cx="0" cy="0"/>
          <a:chOff x="0" y="0"/>
          <a:chExt cx="0" cy="0"/>
        </a:xfrm>
      </p:grpSpPr>
      <p:sp>
        <p:nvSpPr>
          <p:cNvPr id="3" name="Rectangle: Rounded Corners 6">
            <a:extLst>
              <a:ext uri="{FF2B5EF4-FFF2-40B4-BE49-F238E27FC236}">
                <a16:creationId xmlns:a16="http://schemas.microsoft.com/office/drawing/2014/main" id="{549452FF-27B3-61DB-D316-6EA04FD610AD}"/>
              </a:ext>
            </a:extLst>
          </p:cNvPr>
          <p:cNvSpPr/>
          <p:nvPr/>
        </p:nvSpPr>
        <p:spPr>
          <a:xfrm>
            <a:off x="1000436" y="4371823"/>
            <a:ext cx="10191127" cy="62896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La segunda ventana de </a:t>
            </a:r>
            <a:r>
              <a:rPr lang="es-CO" sz="1300" b="1" dirty="0"/>
              <a:t>TSADETC</a:t>
            </a:r>
            <a:r>
              <a:rPr lang="es-CO" sz="1200" dirty="0"/>
              <a:t> permite la configuración contable de los códigos de detalle de las transacciones de cargo/pago que se verán reflejados en la cuenta corriente.</a:t>
            </a:r>
          </a:p>
        </p:txBody>
      </p:sp>
      <p:sp>
        <p:nvSpPr>
          <p:cNvPr id="4" name="Rectangle: Rounded Corners 14">
            <a:extLst>
              <a:ext uri="{FF2B5EF4-FFF2-40B4-BE49-F238E27FC236}">
                <a16:creationId xmlns:a16="http://schemas.microsoft.com/office/drawing/2014/main" id="{D0794670-45E4-22E8-2B14-72B0C1B3EBEA}"/>
              </a:ext>
            </a:extLst>
          </p:cNvPr>
          <p:cNvSpPr/>
          <p:nvPr/>
        </p:nvSpPr>
        <p:spPr>
          <a:xfrm>
            <a:off x="1000435" y="5277475"/>
            <a:ext cx="10191128" cy="770467"/>
          </a:xfrm>
          <a:prstGeom prst="roundRect">
            <a:avLst/>
          </a:prstGeom>
          <a:solidFill>
            <a:schemeClr val="accent2">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CO" sz="1200" b="1" dirty="0"/>
              <a:t>Nota</a:t>
            </a:r>
            <a:r>
              <a:rPr lang="es-CO" sz="1200" dirty="0"/>
              <a:t>: </a:t>
            </a:r>
          </a:p>
          <a:p>
            <a:pPr algn="just"/>
            <a:r>
              <a:rPr lang="es-CO" sz="1200" dirty="0"/>
              <a:t>La configuración contable debe ser realizada antes del traspaso de las transacciones hacia la contabilidad, particularmente con el proceso TVRFEED, en la tabla GURFEED. De igual forma es el insumo para la configuración de las cuentas contables por programa en TVAAIPR.</a:t>
            </a:r>
          </a:p>
        </p:txBody>
      </p:sp>
      <p:sp>
        <p:nvSpPr>
          <p:cNvPr id="6" name="Título 3">
            <a:extLst>
              <a:ext uri="{FF2B5EF4-FFF2-40B4-BE49-F238E27FC236}">
                <a16:creationId xmlns:a16="http://schemas.microsoft.com/office/drawing/2014/main" id="{3ED51897-4E76-8E7E-263E-6E373BFB33CE}"/>
              </a:ext>
            </a:extLst>
          </p:cNvPr>
          <p:cNvSpPr txBox="1">
            <a:spLocks/>
          </p:cNvSpPr>
          <p:nvPr/>
        </p:nvSpPr>
        <p:spPr>
          <a:xfrm>
            <a:off x="1000436" y="331195"/>
            <a:ext cx="9981508"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5" name="Imagen 4">
            <a:extLst>
              <a:ext uri="{FF2B5EF4-FFF2-40B4-BE49-F238E27FC236}">
                <a16:creationId xmlns:a16="http://schemas.microsoft.com/office/drawing/2014/main" id="{B1841635-21BE-7401-22E2-C4CE15B7F90A}"/>
              </a:ext>
            </a:extLst>
          </p:cNvPr>
          <p:cNvPicPr>
            <a:picLocks noChangeAspect="1"/>
          </p:cNvPicPr>
          <p:nvPr/>
        </p:nvPicPr>
        <p:blipFill>
          <a:blip r:embed="rId2"/>
          <a:stretch>
            <a:fillRect/>
          </a:stretch>
        </p:blipFill>
        <p:spPr>
          <a:xfrm>
            <a:off x="1101435" y="1621152"/>
            <a:ext cx="9989127" cy="2359268"/>
          </a:xfrm>
          <a:prstGeom prst="rect">
            <a:avLst/>
          </a:prstGeom>
        </p:spPr>
      </p:pic>
    </p:spTree>
    <p:extLst>
      <p:ext uri="{BB962C8B-B14F-4D97-AF65-F5344CB8AC3E}">
        <p14:creationId xmlns:p14="http://schemas.microsoft.com/office/powerpoint/2010/main" val="211670846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78E63-C5EC-D017-F52C-8E724CD5969C}"/>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68A762B-8B30-2EB8-D59D-B21ED1B03864}"/>
              </a:ext>
            </a:extLst>
          </p:cNvPr>
          <p:cNvPicPr>
            <a:picLocks noChangeAspect="1"/>
          </p:cNvPicPr>
          <p:nvPr/>
        </p:nvPicPr>
        <p:blipFill>
          <a:blip r:embed="rId2"/>
          <a:stretch>
            <a:fillRect/>
          </a:stretch>
        </p:blipFill>
        <p:spPr>
          <a:xfrm>
            <a:off x="1010272" y="1667180"/>
            <a:ext cx="10391869" cy="2411044"/>
          </a:xfrm>
          <a:prstGeom prst="rect">
            <a:avLst/>
          </a:prstGeom>
        </p:spPr>
      </p:pic>
      <p:sp>
        <p:nvSpPr>
          <p:cNvPr id="2" name="Rectangle: Rounded Corners 6">
            <a:extLst>
              <a:ext uri="{FF2B5EF4-FFF2-40B4-BE49-F238E27FC236}">
                <a16:creationId xmlns:a16="http://schemas.microsoft.com/office/drawing/2014/main" id="{DF5E8FAD-E11B-EF0F-DC15-B4B10FA237EB}"/>
              </a:ext>
            </a:extLst>
          </p:cNvPr>
          <p:cNvSpPr/>
          <p:nvPr/>
        </p:nvSpPr>
        <p:spPr>
          <a:xfrm>
            <a:off x="1010271" y="4421052"/>
            <a:ext cx="10391869" cy="85642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 El indicador “</a:t>
            </a:r>
            <a:r>
              <a:rPr lang="es-CO" sz="1200" b="1" dirty="0"/>
              <a:t>Basado en periodo</a:t>
            </a:r>
            <a:r>
              <a:rPr lang="es-CO" sz="1200" dirty="0"/>
              <a:t>” se utiliza en el caso que la distribución de las cuentas contables cambie según sea el periodo académico. Si el concepto siempre va a la misma cuenta contable, se debe dejar inactivo.</a:t>
            </a:r>
          </a:p>
        </p:txBody>
      </p:sp>
      <p:sp>
        <p:nvSpPr>
          <p:cNvPr id="8" name="Título 3">
            <a:extLst>
              <a:ext uri="{FF2B5EF4-FFF2-40B4-BE49-F238E27FC236}">
                <a16:creationId xmlns:a16="http://schemas.microsoft.com/office/drawing/2014/main" id="{E0B46658-430F-694E-ADF2-4315A7DFEE66}"/>
              </a:ext>
            </a:extLst>
          </p:cNvPr>
          <p:cNvSpPr txBox="1">
            <a:spLocks/>
          </p:cNvSpPr>
          <p:nvPr/>
        </p:nvSpPr>
        <p:spPr>
          <a:xfrm>
            <a:off x="1000436" y="331195"/>
            <a:ext cx="9981508"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11" name="Imagen 10">
            <a:extLst>
              <a:ext uri="{FF2B5EF4-FFF2-40B4-BE49-F238E27FC236}">
                <a16:creationId xmlns:a16="http://schemas.microsoft.com/office/drawing/2014/main" id="{5F46ACBD-1DE0-7AB4-8F1C-C3D7AFA728A8}"/>
              </a:ext>
            </a:extLst>
          </p:cNvPr>
          <p:cNvPicPr>
            <a:picLocks noChangeAspect="1"/>
          </p:cNvPicPr>
          <p:nvPr/>
        </p:nvPicPr>
        <p:blipFill>
          <a:blip r:embed="rId3"/>
          <a:stretch>
            <a:fillRect/>
          </a:stretch>
        </p:blipFill>
        <p:spPr>
          <a:xfrm>
            <a:off x="5952288" y="2511956"/>
            <a:ext cx="162000" cy="162000"/>
          </a:xfrm>
          <a:prstGeom prst="rect">
            <a:avLst/>
          </a:prstGeom>
        </p:spPr>
      </p:pic>
    </p:spTree>
    <p:extLst>
      <p:ext uri="{BB962C8B-B14F-4D97-AF65-F5344CB8AC3E}">
        <p14:creationId xmlns:p14="http://schemas.microsoft.com/office/powerpoint/2010/main" val="1631117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D441A-574E-7348-CA92-F4B27A31ED70}"/>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E7254AF1-4517-4BAA-9A32-7E230AD933A7}"/>
              </a:ext>
            </a:extLst>
          </p:cNvPr>
          <p:cNvPicPr>
            <a:picLocks noChangeAspect="1"/>
          </p:cNvPicPr>
          <p:nvPr/>
        </p:nvPicPr>
        <p:blipFill>
          <a:blip r:embed="rId2"/>
          <a:stretch>
            <a:fillRect/>
          </a:stretch>
        </p:blipFill>
        <p:spPr>
          <a:xfrm>
            <a:off x="1092707" y="1404368"/>
            <a:ext cx="9844427" cy="2261905"/>
          </a:xfrm>
          <a:prstGeom prst="rect">
            <a:avLst/>
          </a:prstGeom>
        </p:spPr>
      </p:pic>
      <p:sp>
        <p:nvSpPr>
          <p:cNvPr id="10" name="Rectangle: Rounded Corners 6">
            <a:extLst>
              <a:ext uri="{FF2B5EF4-FFF2-40B4-BE49-F238E27FC236}">
                <a16:creationId xmlns:a16="http://schemas.microsoft.com/office/drawing/2014/main" id="{57ADBA72-15B6-6895-BB16-8BB38748D887}"/>
              </a:ext>
            </a:extLst>
          </p:cNvPr>
          <p:cNvSpPr/>
          <p:nvPr/>
        </p:nvSpPr>
        <p:spPr>
          <a:xfrm>
            <a:off x="968274" y="4200021"/>
            <a:ext cx="10200964" cy="53445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2. Para cada código de detalle se debe configurar los bloques “</a:t>
            </a:r>
            <a:r>
              <a:rPr lang="es-CO" sz="1300" b="1" dirty="0"/>
              <a:t>Cuenta A</a:t>
            </a:r>
            <a:r>
              <a:rPr lang="es-CO" sz="1200" dirty="0"/>
              <a:t>” (Débito) y “</a:t>
            </a:r>
            <a:r>
              <a:rPr lang="es-CO" sz="1300" b="1" dirty="0"/>
              <a:t>Cuenta B</a:t>
            </a:r>
            <a:r>
              <a:rPr lang="es-CO" sz="1200" dirty="0"/>
              <a:t>” (Crédito) con la información de las cuentas contables.</a:t>
            </a:r>
          </a:p>
        </p:txBody>
      </p:sp>
      <p:sp>
        <p:nvSpPr>
          <p:cNvPr id="11" name="Rectangle: Rounded Corners 6">
            <a:extLst>
              <a:ext uri="{FF2B5EF4-FFF2-40B4-BE49-F238E27FC236}">
                <a16:creationId xmlns:a16="http://schemas.microsoft.com/office/drawing/2014/main" id="{DE46C288-AC14-7463-894F-347F20360206}"/>
              </a:ext>
            </a:extLst>
          </p:cNvPr>
          <p:cNvSpPr/>
          <p:nvPr/>
        </p:nvSpPr>
        <p:spPr>
          <a:xfrm>
            <a:off x="980118" y="4796317"/>
            <a:ext cx="10200964" cy="46163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3. Si el código de detalle cuenta con una configuración basada en periodo, debe ser asociado mediante el campo “Designador”.</a:t>
            </a:r>
          </a:p>
        </p:txBody>
      </p:sp>
      <p:sp>
        <p:nvSpPr>
          <p:cNvPr id="12" name="Rectangle: Rounded Corners 6">
            <a:extLst>
              <a:ext uri="{FF2B5EF4-FFF2-40B4-BE49-F238E27FC236}">
                <a16:creationId xmlns:a16="http://schemas.microsoft.com/office/drawing/2014/main" id="{5EF0CD8F-BD61-7C45-C766-778F6CFFE335}"/>
              </a:ext>
            </a:extLst>
          </p:cNvPr>
          <p:cNvSpPr/>
          <p:nvPr/>
        </p:nvSpPr>
        <p:spPr>
          <a:xfrm>
            <a:off x="968274" y="5314465"/>
            <a:ext cx="10200964" cy="61715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4. Definir la asignación de la distribución porcentual del monto asociado a dicha transacción, la cual es distinto de 100 para el caso que la transacción se represente contablemente con dos o más cuentas.</a:t>
            </a:r>
          </a:p>
        </p:txBody>
      </p:sp>
      <p:sp>
        <p:nvSpPr>
          <p:cNvPr id="13" name="Rectangle: Rounded Corners 6">
            <a:extLst>
              <a:ext uri="{FF2B5EF4-FFF2-40B4-BE49-F238E27FC236}">
                <a16:creationId xmlns:a16="http://schemas.microsoft.com/office/drawing/2014/main" id="{CD87715A-9A98-E17F-BDD0-BD79EF9B8665}"/>
              </a:ext>
            </a:extLst>
          </p:cNvPr>
          <p:cNvSpPr/>
          <p:nvPr/>
        </p:nvSpPr>
        <p:spPr>
          <a:xfrm>
            <a:off x="980118" y="6006974"/>
            <a:ext cx="10189120" cy="36512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5. Luego de diligenciar los campos, presionar el botón Guardar.</a:t>
            </a:r>
          </a:p>
        </p:txBody>
      </p:sp>
      <p:sp>
        <p:nvSpPr>
          <p:cNvPr id="15" name="Título 3">
            <a:extLst>
              <a:ext uri="{FF2B5EF4-FFF2-40B4-BE49-F238E27FC236}">
                <a16:creationId xmlns:a16="http://schemas.microsoft.com/office/drawing/2014/main" id="{0910C99C-7F9B-F637-2CCE-2D9ADD959AA5}"/>
              </a:ext>
            </a:extLst>
          </p:cNvPr>
          <p:cNvSpPr txBox="1">
            <a:spLocks/>
          </p:cNvSpPr>
          <p:nvPr/>
        </p:nvSpPr>
        <p:spPr>
          <a:xfrm>
            <a:off x="995518" y="261049"/>
            <a:ext cx="9981508"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Configuraciones: </a:t>
            </a:r>
            <a:r>
              <a:rPr lang="es-ES_tradnl" dirty="0">
                <a:solidFill>
                  <a:schemeClr val="tx1"/>
                </a:solidFill>
              </a:rPr>
              <a:t>TSADETC Control código de detalle - Alumnos (cargo y pago)</a:t>
            </a:r>
            <a:endParaRPr lang="es-CL" dirty="0">
              <a:solidFill>
                <a:schemeClr val="tx1"/>
              </a:solidFill>
            </a:endParaRPr>
          </a:p>
        </p:txBody>
      </p:sp>
      <p:pic>
        <p:nvPicPr>
          <p:cNvPr id="22" name="Imagen 21">
            <a:extLst>
              <a:ext uri="{FF2B5EF4-FFF2-40B4-BE49-F238E27FC236}">
                <a16:creationId xmlns:a16="http://schemas.microsoft.com/office/drawing/2014/main" id="{E14BBED5-3C00-8206-D3C9-FF9CA9C4160B}"/>
              </a:ext>
            </a:extLst>
          </p:cNvPr>
          <p:cNvPicPr>
            <a:picLocks noChangeAspect="1"/>
          </p:cNvPicPr>
          <p:nvPr/>
        </p:nvPicPr>
        <p:blipFill>
          <a:blip r:embed="rId3"/>
          <a:stretch>
            <a:fillRect/>
          </a:stretch>
        </p:blipFill>
        <p:spPr>
          <a:xfrm>
            <a:off x="11007238" y="3656658"/>
            <a:ext cx="162000" cy="162000"/>
          </a:xfrm>
          <a:prstGeom prst="rect">
            <a:avLst/>
          </a:prstGeom>
        </p:spPr>
      </p:pic>
      <p:pic>
        <p:nvPicPr>
          <p:cNvPr id="24" name="Imagen 23">
            <a:extLst>
              <a:ext uri="{FF2B5EF4-FFF2-40B4-BE49-F238E27FC236}">
                <a16:creationId xmlns:a16="http://schemas.microsoft.com/office/drawing/2014/main" id="{9DD9F63D-3C9B-7EB3-1AAA-0AC48498987C}"/>
              </a:ext>
            </a:extLst>
          </p:cNvPr>
          <p:cNvPicPr>
            <a:picLocks noChangeAspect="1"/>
          </p:cNvPicPr>
          <p:nvPr/>
        </p:nvPicPr>
        <p:blipFill>
          <a:blip r:embed="rId4"/>
          <a:stretch>
            <a:fillRect/>
          </a:stretch>
        </p:blipFill>
        <p:spPr>
          <a:xfrm>
            <a:off x="10482527" y="2983637"/>
            <a:ext cx="162000" cy="162000"/>
          </a:xfrm>
          <a:prstGeom prst="rect">
            <a:avLst/>
          </a:prstGeom>
        </p:spPr>
      </p:pic>
      <p:pic>
        <p:nvPicPr>
          <p:cNvPr id="26" name="Imagen 25">
            <a:extLst>
              <a:ext uri="{FF2B5EF4-FFF2-40B4-BE49-F238E27FC236}">
                <a16:creationId xmlns:a16="http://schemas.microsoft.com/office/drawing/2014/main" id="{A15B83F7-BD5B-CD3F-FA3C-B2ADEBC6AF43}"/>
              </a:ext>
            </a:extLst>
          </p:cNvPr>
          <p:cNvPicPr>
            <a:picLocks noChangeAspect="1"/>
          </p:cNvPicPr>
          <p:nvPr/>
        </p:nvPicPr>
        <p:blipFill>
          <a:blip r:embed="rId5"/>
          <a:stretch>
            <a:fillRect/>
          </a:stretch>
        </p:blipFill>
        <p:spPr>
          <a:xfrm>
            <a:off x="850989" y="3175205"/>
            <a:ext cx="162000" cy="162000"/>
          </a:xfrm>
          <a:prstGeom prst="rect">
            <a:avLst/>
          </a:prstGeom>
        </p:spPr>
      </p:pic>
      <p:pic>
        <p:nvPicPr>
          <p:cNvPr id="28" name="Imagen 27">
            <a:extLst>
              <a:ext uri="{FF2B5EF4-FFF2-40B4-BE49-F238E27FC236}">
                <a16:creationId xmlns:a16="http://schemas.microsoft.com/office/drawing/2014/main" id="{EB361A68-1643-DD98-0F55-7549C27D3839}"/>
              </a:ext>
            </a:extLst>
          </p:cNvPr>
          <p:cNvPicPr>
            <a:picLocks noChangeAspect="1"/>
          </p:cNvPicPr>
          <p:nvPr/>
        </p:nvPicPr>
        <p:blipFill>
          <a:blip r:embed="rId6"/>
          <a:stretch>
            <a:fillRect/>
          </a:stretch>
        </p:blipFill>
        <p:spPr>
          <a:xfrm>
            <a:off x="9788424" y="2973718"/>
            <a:ext cx="162000" cy="162000"/>
          </a:xfrm>
          <a:prstGeom prst="rect">
            <a:avLst/>
          </a:prstGeom>
        </p:spPr>
      </p:pic>
      <p:pic>
        <p:nvPicPr>
          <p:cNvPr id="7" name="Imagen 6">
            <a:extLst>
              <a:ext uri="{FF2B5EF4-FFF2-40B4-BE49-F238E27FC236}">
                <a16:creationId xmlns:a16="http://schemas.microsoft.com/office/drawing/2014/main" id="{1233B5D8-E4CE-52A6-F369-697D081E3715}"/>
              </a:ext>
            </a:extLst>
          </p:cNvPr>
          <p:cNvPicPr>
            <a:picLocks noChangeAspect="1"/>
          </p:cNvPicPr>
          <p:nvPr/>
        </p:nvPicPr>
        <p:blipFill>
          <a:blip r:embed="rId7"/>
          <a:stretch>
            <a:fillRect/>
          </a:stretch>
        </p:blipFill>
        <p:spPr>
          <a:xfrm>
            <a:off x="1092706" y="3656658"/>
            <a:ext cx="9844427" cy="312441"/>
          </a:xfrm>
          <a:prstGeom prst="rect">
            <a:avLst/>
          </a:prstGeom>
        </p:spPr>
      </p:pic>
    </p:spTree>
    <p:extLst>
      <p:ext uri="{BB962C8B-B14F-4D97-AF65-F5344CB8AC3E}">
        <p14:creationId xmlns:p14="http://schemas.microsoft.com/office/powerpoint/2010/main" val="20251977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7B606-1542-F288-6901-1BD5C3982083}"/>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CC87DDC2-A772-51AA-9E14-2DF100E986FC}"/>
              </a:ext>
            </a:extLst>
          </p:cNvPr>
          <p:cNvSpPr txBox="1"/>
          <p:nvPr/>
        </p:nvSpPr>
        <p:spPr>
          <a:xfrm>
            <a:off x="509016" y="2413337"/>
            <a:ext cx="9400032" cy="1015663"/>
          </a:xfrm>
          <a:prstGeom prst="rect">
            <a:avLst/>
          </a:prstGeom>
          <a:noFill/>
        </p:spPr>
        <p:txBody>
          <a:bodyPr wrap="square">
            <a:spAutoFit/>
          </a:bodyPr>
          <a:lstStyle/>
          <a:p>
            <a:r>
              <a:rPr lang="es-ES" sz="6000" b="1" dirty="0">
                <a:solidFill>
                  <a:schemeClr val="bg1"/>
                </a:solidFill>
              </a:rPr>
              <a:t>Manejo de Prioridades</a:t>
            </a:r>
            <a:endParaRPr lang="en-US" sz="6000" b="1" dirty="0">
              <a:solidFill>
                <a:schemeClr val="bg1"/>
              </a:solidFill>
            </a:endParaRPr>
          </a:p>
        </p:txBody>
      </p:sp>
      <p:sp>
        <p:nvSpPr>
          <p:cNvPr id="4" name="CuadroTexto 3">
            <a:extLst>
              <a:ext uri="{FF2B5EF4-FFF2-40B4-BE49-F238E27FC236}">
                <a16:creationId xmlns:a16="http://schemas.microsoft.com/office/drawing/2014/main" id="{15E8F1BE-DD34-5DD7-9961-C05424BA763B}"/>
              </a:ext>
            </a:extLst>
          </p:cNvPr>
          <p:cNvSpPr txBox="1"/>
          <p:nvPr/>
        </p:nvSpPr>
        <p:spPr>
          <a:xfrm>
            <a:off x="574153" y="3429000"/>
            <a:ext cx="6094476" cy="369332"/>
          </a:xfrm>
          <a:prstGeom prst="rect">
            <a:avLst/>
          </a:prstGeom>
          <a:noFill/>
        </p:spPr>
        <p:txBody>
          <a:bodyPr wrap="square">
            <a:spAutoFit/>
          </a:bodyPr>
          <a:lstStyle/>
          <a:p>
            <a:pPr marL="0" indent="0">
              <a:buNone/>
            </a:pPr>
            <a:r>
              <a:rPr lang="es-CO" sz="1800" b="1" dirty="0">
                <a:solidFill>
                  <a:schemeClr val="bg1"/>
                </a:solidFill>
              </a:rPr>
              <a:t>Cuentas por Cobrar del Estudiante</a:t>
            </a:r>
            <a:endParaRPr lang="en-US" sz="1800" b="1" dirty="0">
              <a:solidFill>
                <a:schemeClr val="bg1"/>
              </a:solidFill>
            </a:endParaRPr>
          </a:p>
        </p:txBody>
      </p:sp>
    </p:spTree>
    <p:extLst>
      <p:ext uri="{BB962C8B-B14F-4D97-AF65-F5344CB8AC3E}">
        <p14:creationId xmlns:p14="http://schemas.microsoft.com/office/powerpoint/2010/main" val="179947079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F95B9-B08E-F8CF-7C0F-372EA837B06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72E492CF-24AA-DC5A-2502-536F82900238}"/>
              </a:ext>
            </a:extLst>
          </p:cNvPr>
          <p:cNvSpPr txBox="1">
            <a:spLocks/>
          </p:cNvSpPr>
          <p:nvPr/>
        </p:nvSpPr>
        <p:spPr>
          <a:xfrm>
            <a:off x="832729" y="336834"/>
            <a:ext cx="10526542"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Procedimiento : </a:t>
            </a:r>
            <a:r>
              <a:rPr lang="es-ES_tradnl" dirty="0">
                <a:solidFill>
                  <a:schemeClr val="tx1"/>
                </a:solidFill>
              </a:rPr>
              <a:t>Gestionar los conceptos de cobro</a:t>
            </a:r>
            <a:br>
              <a:rPr lang="es-ES_tradnl" dirty="0">
                <a:solidFill>
                  <a:schemeClr val="tx1"/>
                </a:solidFill>
              </a:rPr>
            </a:br>
            <a:r>
              <a:rPr lang="es-ES_tradnl" dirty="0">
                <a:solidFill>
                  <a:schemeClr val="tx1"/>
                </a:solidFill>
              </a:rPr>
              <a:t>Designar Prioridades</a:t>
            </a:r>
            <a:endParaRPr lang="es-CL" dirty="0">
              <a:solidFill>
                <a:schemeClr val="tx1"/>
              </a:solidFill>
            </a:endParaRPr>
          </a:p>
        </p:txBody>
      </p:sp>
      <p:sp>
        <p:nvSpPr>
          <p:cNvPr id="3" name="TextBox 3">
            <a:extLst>
              <a:ext uri="{FF2B5EF4-FFF2-40B4-BE49-F238E27FC236}">
                <a16:creationId xmlns:a16="http://schemas.microsoft.com/office/drawing/2014/main" id="{7F8900CD-5AAD-EF08-BCD0-0B6921C58BA1}"/>
              </a:ext>
            </a:extLst>
          </p:cNvPr>
          <p:cNvSpPr txBox="1"/>
          <p:nvPr/>
        </p:nvSpPr>
        <p:spPr>
          <a:xfrm>
            <a:off x="859016" y="1404689"/>
            <a:ext cx="9264987" cy="369332"/>
          </a:xfrm>
          <a:prstGeom prst="rect">
            <a:avLst/>
          </a:prstGeom>
          <a:noFill/>
        </p:spPr>
        <p:txBody>
          <a:bodyPr wrap="square" rtlCol="0">
            <a:spAutoFit/>
          </a:bodyPr>
          <a:lstStyle/>
          <a:p>
            <a:r>
              <a:rPr lang="es-CO" dirty="0"/>
              <a:t>Lógica de prioridades usada en </a:t>
            </a:r>
            <a:r>
              <a:rPr lang="es-CO" b="1" dirty="0"/>
              <a:t>Aplicación de Pagos </a:t>
            </a:r>
            <a:r>
              <a:rPr lang="es-CO" dirty="0"/>
              <a:t>sigue los siguientes pasos:</a:t>
            </a:r>
          </a:p>
        </p:txBody>
      </p:sp>
      <p:sp>
        <p:nvSpPr>
          <p:cNvPr id="63" name="Rectangle 110">
            <a:extLst>
              <a:ext uri="{FF2B5EF4-FFF2-40B4-BE49-F238E27FC236}">
                <a16:creationId xmlns:a16="http://schemas.microsoft.com/office/drawing/2014/main" id="{62F8C749-2D18-3502-8F75-49B0EB5B42E0}"/>
              </a:ext>
            </a:extLst>
          </p:cNvPr>
          <p:cNvSpPr/>
          <p:nvPr/>
        </p:nvSpPr>
        <p:spPr>
          <a:xfrm rot="233751">
            <a:off x="7155321" y="4337107"/>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111">
            <a:extLst>
              <a:ext uri="{FF2B5EF4-FFF2-40B4-BE49-F238E27FC236}">
                <a16:creationId xmlns:a16="http://schemas.microsoft.com/office/drawing/2014/main" id="{C1661F30-F8EE-39B3-26D0-7CCC00017218}"/>
              </a:ext>
            </a:extLst>
          </p:cNvPr>
          <p:cNvSpPr/>
          <p:nvPr/>
        </p:nvSpPr>
        <p:spPr>
          <a:xfrm rot="233751">
            <a:off x="7188582" y="5523931"/>
            <a:ext cx="3713868" cy="692443"/>
          </a:xfrm>
          <a:prstGeom prst="rect">
            <a:avLst/>
          </a:prstGeom>
          <a:solidFill>
            <a:schemeClr val="tx1">
              <a:alpha val="32000"/>
            </a:schemeClr>
          </a:solidFill>
          <a:ln>
            <a:noFill/>
          </a:ln>
          <a:effectLst>
            <a:softEdge rad="177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Rounded Corners 6">
            <a:extLst>
              <a:ext uri="{FF2B5EF4-FFF2-40B4-BE49-F238E27FC236}">
                <a16:creationId xmlns:a16="http://schemas.microsoft.com/office/drawing/2014/main" id="{C6B47743-E72D-BC63-565A-92F84400AC8F}"/>
              </a:ext>
            </a:extLst>
          </p:cNvPr>
          <p:cNvSpPr/>
          <p:nvPr/>
        </p:nvSpPr>
        <p:spPr>
          <a:xfrm>
            <a:off x="6487887" y="2209828"/>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Rounded Corners 24">
            <a:extLst>
              <a:ext uri="{FF2B5EF4-FFF2-40B4-BE49-F238E27FC236}">
                <a16:creationId xmlns:a16="http://schemas.microsoft.com/office/drawing/2014/main" id="{1321C689-5084-44D4-DC78-9FFEE232A1DF}"/>
              </a:ext>
            </a:extLst>
          </p:cNvPr>
          <p:cNvSpPr/>
          <p:nvPr/>
        </p:nvSpPr>
        <p:spPr>
          <a:xfrm>
            <a:off x="943429" y="3694579"/>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1" name="Rectangle: Rounded Corners 27">
            <a:extLst>
              <a:ext uri="{FF2B5EF4-FFF2-40B4-BE49-F238E27FC236}">
                <a16:creationId xmlns:a16="http://schemas.microsoft.com/office/drawing/2014/main" id="{B04A3ED4-5655-E6B0-E383-CFC78915590D}"/>
              </a:ext>
            </a:extLst>
          </p:cNvPr>
          <p:cNvSpPr/>
          <p:nvPr/>
        </p:nvSpPr>
        <p:spPr>
          <a:xfrm>
            <a:off x="6487887" y="3711439"/>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Rounded Corners 42">
            <a:extLst>
              <a:ext uri="{FF2B5EF4-FFF2-40B4-BE49-F238E27FC236}">
                <a16:creationId xmlns:a16="http://schemas.microsoft.com/office/drawing/2014/main" id="{06A07B9F-7F8D-AD5B-22E0-4F3A1631EEB0}"/>
              </a:ext>
            </a:extLst>
          </p:cNvPr>
          <p:cNvSpPr/>
          <p:nvPr/>
        </p:nvSpPr>
        <p:spPr>
          <a:xfrm>
            <a:off x="943429" y="5225221"/>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3" name="Rectangle: Rounded Corners 45">
            <a:extLst>
              <a:ext uri="{FF2B5EF4-FFF2-40B4-BE49-F238E27FC236}">
                <a16:creationId xmlns:a16="http://schemas.microsoft.com/office/drawing/2014/main" id="{DAEDAE47-0302-FD22-935E-1C684DC660B8}"/>
              </a:ext>
            </a:extLst>
          </p:cNvPr>
          <p:cNvSpPr/>
          <p:nvPr/>
        </p:nvSpPr>
        <p:spPr>
          <a:xfrm>
            <a:off x="6487887" y="5242081"/>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4" name="Rectangle: Rounded Corners 2">
            <a:extLst>
              <a:ext uri="{FF2B5EF4-FFF2-40B4-BE49-F238E27FC236}">
                <a16:creationId xmlns:a16="http://schemas.microsoft.com/office/drawing/2014/main" id="{DFE8D778-5D3D-8DC8-C999-5AA3892B8ECB}"/>
              </a:ext>
            </a:extLst>
          </p:cNvPr>
          <p:cNvSpPr/>
          <p:nvPr/>
        </p:nvSpPr>
        <p:spPr>
          <a:xfrm>
            <a:off x="943429" y="2192968"/>
            <a:ext cx="4760686" cy="1045029"/>
          </a:xfrm>
          <a:prstGeom prst="roundRect">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5" name="Group 100">
            <a:extLst>
              <a:ext uri="{FF2B5EF4-FFF2-40B4-BE49-F238E27FC236}">
                <a16:creationId xmlns:a16="http://schemas.microsoft.com/office/drawing/2014/main" id="{350CE17E-47BE-7A77-8FDD-9427789223CD}"/>
              </a:ext>
            </a:extLst>
          </p:cNvPr>
          <p:cNvGrpSpPr/>
          <p:nvPr/>
        </p:nvGrpSpPr>
        <p:grpSpPr>
          <a:xfrm>
            <a:off x="1202173" y="2292222"/>
            <a:ext cx="4213888" cy="846520"/>
            <a:chOff x="1202173" y="694343"/>
            <a:chExt cx="4213888" cy="846520"/>
          </a:xfrm>
        </p:grpSpPr>
        <p:sp>
          <p:nvSpPr>
            <p:cNvPr id="76" name="Rectangle: Rounded Corners 4">
              <a:extLst>
                <a:ext uri="{FF2B5EF4-FFF2-40B4-BE49-F238E27FC236}">
                  <a16:creationId xmlns:a16="http://schemas.microsoft.com/office/drawing/2014/main" id="{569BEBD1-2229-9CBD-B158-A559697F63A4}"/>
                </a:ext>
              </a:extLst>
            </p:cNvPr>
            <p:cNvSpPr/>
            <p:nvPr/>
          </p:nvSpPr>
          <p:spPr>
            <a:xfrm>
              <a:off x="1202173" y="694343"/>
              <a:ext cx="4213888" cy="846520"/>
            </a:xfrm>
            <a:prstGeom prst="roundRect">
              <a:avLst/>
            </a:prstGeom>
            <a:gradFill>
              <a:gsLst>
                <a:gs pos="56000">
                  <a:schemeClr val="bg1"/>
                </a:gs>
                <a:gs pos="100000">
                  <a:schemeClr val="bg1">
                    <a:lumMod val="95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7" name="Group 91">
              <a:extLst>
                <a:ext uri="{FF2B5EF4-FFF2-40B4-BE49-F238E27FC236}">
                  <a16:creationId xmlns:a16="http://schemas.microsoft.com/office/drawing/2014/main" id="{1BF2E837-C2BC-E78F-6E6A-01698EED2F1E}"/>
                </a:ext>
              </a:extLst>
            </p:cNvPr>
            <p:cNvGrpSpPr/>
            <p:nvPr/>
          </p:nvGrpSpPr>
          <p:grpSpPr>
            <a:xfrm>
              <a:off x="1399583" y="762003"/>
              <a:ext cx="3690145" cy="711200"/>
              <a:chOff x="1399583" y="762003"/>
              <a:chExt cx="3690145" cy="711200"/>
            </a:xfrm>
          </p:grpSpPr>
          <p:cxnSp>
            <p:nvCxnSpPr>
              <p:cNvPr id="78" name="Straight Connector 10">
                <a:extLst>
                  <a:ext uri="{FF2B5EF4-FFF2-40B4-BE49-F238E27FC236}">
                    <a16:creationId xmlns:a16="http://schemas.microsoft.com/office/drawing/2014/main" id="{30BDB249-08C4-9001-7A26-53C42F910044}"/>
                  </a:ext>
                </a:extLst>
              </p:cNvPr>
              <p:cNvCxnSpPr/>
              <p:nvPr/>
            </p:nvCxnSpPr>
            <p:spPr>
              <a:xfrm>
                <a:off x="2075544" y="762003"/>
                <a:ext cx="0" cy="7112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9" name="TextBox 11">
                <a:extLst>
                  <a:ext uri="{FF2B5EF4-FFF2-40B4-BE49-F238E27FC236}">
                    <a16:creationId xmlns:a16="http://schemas.microsoft.com/office/drawing/2014/main" id="{31B49145-56A6-C61C-CA32-0BD001898D7D}"/>
                  </a:ext>
                </a:extLst>
              </p:cNvPr>
              <p:cNvSpPr txBox="1"/>
              <p:nvPr/>
            </p:nvSpPr>
            <p:spPr>
              <a:xfrm>
                <a:off x="1399583" y="880135"/>
                <a:ext cx="568150" cy="369332"/>
              </a:xfrm>
              <a:prstGeom prst="rect">
                <a:avLst/>
              </a:prstGeom>
              <a:noFill/>
            </p:spPr>
            <p:txBody>
              <a:bodyPr wrap="square" rtlCol="0">
                <a:spAutoFit/>
              </a:bodyPr>
              <a:lstStyle/>
              <a:p>
                <a:pPr algn="ctr"/>
                <a:r>
                  <a:rPr lang="en-US" b="1" dirty="0">
                    <a:latin typeface="Century Gothic" panose="020B0502020202020204" pitchFamily="34" charset="0"/>
                  </a:rPr>
                  <a:t>01</a:t>
                </a:r>
              </a:p>
            </p:txBody>
          </p:sp>
          <p:sp>
            <p:nvSpPr>
              <p:cNvPr id="80" name="TextBox 14">
                <a:extLst>
                  <a:ext uri="{FF2B5EF4-FFF2-40B4-BE49-F238E27FC236}">
                    <a16:creationId xmlns:a16="http://schemas.microsoft.com/office/drawing/2014/main" id="{74804A13-EB9B-00D8-856B-27C3BCFCE607}"/>
                  </a:ext>
                </a:extLst>
              </p:cNvPr>
              <p:cNvSpPr txBox="1"/>
              <p:nvPr/>
            </p:nvSpPr>
            <p:spPr>
              <a:xfrm>
                <a:off x="2107298" y="889016"/>
                <a:ext cx="2104772" cy="369332"/>
              </a:xfrm>
              <a:prstGeom prst="rect">
                <a:avLst/>
              </a:prstGeom>
              <a:noFill/>
            </p:spPr>
            <p:txBody>
              <a:bodyPr wrap="square" rtlCol="0">
                <a:spAutoFit/>
              </a:bodyPr>
              <a:lstStyle/>
              <a:p>
                <a:r>
                  <a:rPr lang="es-CO" dirty="0">
                    <a:solidFill>
                      <a:schemeClr val="accent5">
                        <a:lumMod val="10000"/>
                      </a:schemeClr>
                    </a:solidFill>
                  </a:rPr>
                  <a:t>Pagos directos </a:t>
                </a:r>
              </a:p>
            </p:txBody>
          </p:sp>
          <p:pic>
            <p:nvPicPr>
              <p:cNvPr id="81" name="Graphic 9" descr="Bullseye">
                <a:extLst>
                  <a:ext uri="{FF2B5EF4-FFF2-40B4-BE49-F238E27FC236}">
                    <a16:creationId xmlns:a16="http://schemas.microsoft.com/office/drawing/2014/main" id="{2B13EE1E-A3C5-2282-ADA7-6851F371258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632528" y="879872"/>
                <a:ext cx="457200" cy="457200"/>
              </a:xfrm>
              <a:prstGeom prst="rect">
                <a:avLst/>
              </a:prstGeom>
            </p:spPr>
          </p:pic>
        </p:grpSp>
      </p:grpSp>
      <p:sp>
        <p:nvSpPr>
          <p:cNvPr id="82" name="Rectangle: Rounded Corners 1">
            <a:extLst>
              <a:ext uri="{FF2B5EF4-FFF2-40B4-BE49-F238E27FC236}">
                <a16:creationId xmlns:a16="http://schemas.microsoft.com/office/drawing/2014/main" id="{0F6CF5CA-0E1E-6A4D-DF14-8BC5AC5B9D37}"/>
              </a:ext>
            </a:extLst>
          </p:cNvPr>
          <p:cNvSpPr/>
          <p:nvPr/>
        </p:nvSpPr>
        <p:spPr>
          <a:xfrm>
            <a:off x="5416061" y="1967334"/>
            <a:ext cx="1389117" cy="4525818"/>
          </a:xfrm>
          <a:prstGeom prst="roundRect">
            <a:avLst>
              <a:gd name="adj" fmla="val 19869"/>
            </a:avLst>
          </a:prstGeom>
          <a:noFill/>
          <a:ln w="142875">
            <a:gradFill flip="none" rotWithShape="1">
              <a:gsLst>
                <a:gs pos="0">
                  <a:schemeClr val="accent1">
                    <a:lumMod val="5000"/>
                    <a:lumOff val="95000"/>
                  </a:schemeClr>
                </a:gs>
                <a:gs pos="100000">
                  <a:schemeClr val="bg1"/>
                </a:gs>
                <a:gs pos="65000">
                  <a:schemeClr val="bg1"/>
                </a:gs>
              </a:gsLst>
              <a:lin ang="16200000" scaled="1"/>
              <a:tileRect/>
            </a:gradFill>
          </a:ln>
          <a:effectLst>
            <a:outerShdw blurRad="50800" dist="177800" dir="5400000" algn="t" rotWithShape="0">
              <a:prstClr val="black">
                <a:alpha val="22000"/>
              </a:prst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3" name="Group 107">
            <a:extLst>
              <a:ext uri="{FF2B5EF4-FFF2-40B4-BE49-F238E27FC236}">
                <a16:creationId xmlns:a16="http://schemas.microsoft.com/office/drawing/2014/main" id="{7DB47E82-4970-6669-C6A6-14F7C7D838FA}"/>
              </a:ext>
            </a:extLst>
          </p:cNvPr>
          <p:cNvGrpSpPr/>
          <p:nvPr/>
        </p:nvGrpSpPr>
        <p:grpSpPr>
          <a:xfrm>
            <a:off x="6781662" y="2308554"/>
            <a:ext cx="4213888" cy="846520"/>
            <a:chOff x="6781662" y="710675"/>
            <a:chExt cx="4213888" cy="846520"/>
          </a:xfrm>
        </p:grpSpPr>
        <p:sp>
          <p:nvSpPr>
            <p:cNvPr id="84" name="Rectangle: Rounded Corners 7">
              <a:extLst>
                <a:ext uri="{FF2B5EF4-FFF2-40B4-BE49-F238E27FC236}">
                  <a16:creationId xmlns:a16="http://schemas.microsoft.com/office/drawing/2014/main" id="{66F3EF0B-8DE4-833A-E6D1-527F6371CD75}"/>
                </a:ext>
              </a:extLst>
            </p:cNvPr>
            <p:cNvSpPr/>
            <p:nvPr/>
          </p:nvSpPr>
          <p:spPr>
            <a:xfrm>
              <a:off x="6781662" y="710675"/>
              <a:ext cx="4213888" cy="846520"/>
            </a:xfrm>
            <a:prstGeom prst="roundRect">
              <a:avLst/>
            </a:prstGeom>
            <a:gradFill>
              <a:gsLst>
                <a:gs pos="56000">
                  <a:schemeClr val="bg1"/>
                </a:gs>
                <a:gs pos="100000">
                  <a:schemeClr val="bg1">
                    <a:lumMod val="95000"/>
                  </a:schemeClr>
                </a:gs>
              </a:gsLst>
              <a:lin ang="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5" name="Group 106">
              <a:extLst>
                <a:ext uri="{FF2B5EF4-FFF2-40B4-BE49-F238E27FC236}">
                  <a16:creationId xmlns:a16="http://schemas.microsoft.com/office/drawing/2014/main" id="{EFA18F6E-2C4D-1CAA-3920-3BF31BF52DDA}"/>
                </a:ext>
              </a:extLst>
            </p:cNvPr>
            <p:cNvGrpSpPr/>
            <p:nvPr/>
          </p:nvGrpSpPr>
          <p:grpSpPr>
            <a:xfrm>
              <a:off x="7133205" y="814692"/>
              <a:ext cx="3700110" cy="670347"/>
              <a:chOff x="7133205" y="814692"/>
              <a:chExt cx="3700110" cy="670347"/>
            </a:xfrm>
          </p:grpSpPr>
          <p:cxnSp>
            <p:nvCxnSpPr>
              <p:cNvPr id="86" name="Straight Connector 15">
                <a:extLst>
                  <a:ext uri="{FF2B5EF4-FFF2-40B4-BE49-F238E27FC236}">
                    <a16:creationId xmlns:a16="http://schemas.microsoft.com/office/drawing/2014/main" id="{AEEADBE8-3638-DCCC-9FDF-55CEA2E3E70E}"/>
                  </a:ext>
                </a:extLst>
              </p:cNvPr>
              <p:cNvCxnSpPr>
                <a:cxnSpLocks/>
              </p:cNvCxnSpPr>
              <p:nvPr/>
            </p:nvCxnSpPr>
            <p:spPr>
              <a:xfrm>
                <a:off x="7823179" y="885879"/>
                <a:ext cx="0" cy="5991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87" name="TextBox 16">
                <a:extLst>
                  <a:ext uri="{FF2B5EF4-FFF2-40B4-BE49-F238E27FC236}">
                    <a16:creationId xmlns:a16="http://schemas.microsoft.com/office/drawing/2014/main" id="{6F0EF575-A01C-E7D6-26CC-1A3E4E378DDB}"/>
                  </a:ext>
                </a:extLst>
              </p:cNvPr>
              <p:cNvSpPr txBox="1"/>
              <p:nvPr/>
            </p:nvSpPr>
            <p:spPr>
              <a:xfrm>
                <a:off x="7133205" y="925223"/>
                <a:ext cx="489784" cy="369332"/>
              </a:xfrm>
              <a:prstGeom prst="rect">
                <a:avLst/>
              </a:prstGeom>
              <a:noFill/>
            </p:spPr>
            <p:txBody>
              <a:bodyPr wrap="square" rtlCol="0">
                <a:spAutoFit/>
              </a:bodyPr>
              <a:lstStyle/>
              <a:p>
                <a:pPr algn="ctr"/>
                <a:r>
                  <a:rPr lang="en-US" b="1" dirty="0">
                    <a:latin typeface="Century Gothic" panose="020B0502020202020204" pitchFamily="34" charset="0"/>
                  </a:rPr>
                  <a:t>02</a:t>
                </a:r>
              </a:p>
            </p:txBody>
          </p:sp>
          <p:sp>
            <p:nvSpPr>
              <p:cNvPr id="88" name="TextBox 19">
                <a:extLst>
                  <a:ext uri="{FF2B5EF4-FFF2-40B4-BE49-F238E27FC236}">
                    <a16:creationId xmlns:a16="http://schemas.microsoft.com/office/drawing/2014/main" id="{37D1A5FD-E268-0F2E-7B77-8FCC3FB493AB}"/>
                  </a:ext>
                </a:extLst>
              </p:cNvPr>
              <p:cNvSpPr txBox="1"/>
              <p:nvPr/>
            </p:nvSpPr>
            <p:spPr>
              <a:xfrm>
                <a:off x="7783653" y="814692"/>
                <a:ext cx="2726922" cy="584775"/>
              </a:xfrm>
              <a:prstGeom prst="rect">
                <a:avLst/>
              </a:prstGeom>
              <a:noFill/>
            </p:spPr>
            <p:txBody>
              <a:bodyPr wrap="square" rtlCol="0">
                <a:spAutoFit/>
              </a:bodyPr>
              <a:lstStyle/>
              <a:p>
                <a:r>
                  <a:rPr lang="es-CO" sz="1600" dirty="0">
                    <a:solidFill>
                      <a:schemeClr val="accent5">
                        <a:lumMod val="10000"/>
                      </a:schemeClr>
                    </a:solidFill>
                  </a:rPr>
                  <a:t>Códigos de detalle iguales del mismo período</a:t>
                </a:r>
                <a:endParaRPr lang="en-US" sz="1600" dirty="0">
                  <a:solidFill>
                    <a:schemeClr val="accent5">
                      <a:lumMod val="10000"/>
                    </a:schemeClr>
                  </a:solidFill>
                </a:endParaRPr>
              </a:p>
            </p:txBody>
          </p:sp>
          <p:pic>
            <p:nvPicPr>
              <p:cNvPr id="89" name="Graphic 79" descr="Presentation with bar chart">
                <a:extLst>
                  <a:ext uri="{FF2B5EF4-FFF2-40B4-BE49-F238E27FC236}">
                    <a16:creationId xmlns:a16="http://schemas.microsoft.com/office/drawing/2014/main" id="{A3EC5A76-1C38-21EB-5FC0-DA6CDD9A46C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439177" y="935898"/>
                <a:ext cx="394138" cy="394138"/>
              </a:xfrm>
              <a:prstGeom prst="rect">
                <a:avLst/>
              </a:prstGeom>
            </p:spPr>
          </p:pic>
        </p:grpSp>
      </p:grpSp>
      <p:sp>
        <p:nvSpPr>
          <p:cNvPr id="90" name="Rectangle: Top Corners Rounded 5">
            <a:extLst>
              <a:ext uri="{FF2B5EF4-FFF2-40B4-BE49-F238E27FC236}">
                <a16:creationId xmlns:a16="http://schemas.microsoft.com/office/drawing/2014/main" id="{A54F5196-98E3-B926-A3D8-6265B18039AB}"/>
              </a:ext>
            </a:extLst>
          </p:cNvPr>
          <p:cNvSpPr/>
          <p:nvPr/>
        </p:nvSpPr>
        <p:spPr>
          <a:xfrm rot="5400000">
            <a:off x="5009660" y="2541311"/>
            <a:ext cx="812800" cy="348343"/>
          </a:xfrm>
          <a:prstGeom prst="round2SameRect">
            <a:avLst/>
          </a:prstGeom>
          <a:solidFill>
            <a:schemeClr val="tx2">
              <a:lumMod val="75000"/>
              <a:lumOff val="2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Top Corners Rounded 8">
            <a:extLst>
              <a:ext uri="{FF2B5EF4-FFF2-40B4-BE49-F238E27FC236}">
                <a16:creationId xmlns:a16="http://schemas.microsoft.com/office/drawing/2014/main" id="{9EA96E4A-816E-5A9E-0438-F14EDBB44211}"/>
              </a:ext>
            </a:extLst>
          </p:cNvPr>
          <p:cNvSpPr/>
          <p:nvPr/>
        </p:nvSpPr>
        <p:spPr>
          <a:xfrm rot="5400000">
            <a:off x="6369537" y="2541312"/>
            <a:ext cx="812800" cy="348343"/>
          </a:xfrm>
          <a:prstGeom prst="round2SameRect">
            <a:avLst/>
          </a:prstGeom>
          <a:solidFill>
            <a:schemeClr val="tx2">
              <a:lumMod val="75000"/>
              <a:lumOff val="2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2" name="Group 101">
            <a:extLst>
              <a:ext uri="{FF2B5EF4-FFF2-40B4-BE49-F238E27FC236}">
                <a16:creationId xmlns:a16="http://schemas.microsoft.com/office/drawing/2014/main" id="{50D5CC9E-3DE2-A1E1-B595-F8CF32F60A2D}"/>
              </a:ext>
            </a:extLst>
          </p:cNvPr>
          <p:cNvGrpSpPr/>
          <p:nvPr/>
        </p:nvGrpSpPr>
        <p:grpSpPr>
          <a:xfrm>
            <a:off x="1202173" y="3793833"/>
            <a:ext cx="4213888" cy="846520"/>
            <a:chOff x="1202173" y="2195955"/>
            <a:chExt cx="4213887" cy="846520"/>
          </a:xfrm>
        </p:grpSpPr>
        <p:sp>
          <p:nvSpPr>
            <p:cNvPr id="93" name="Rectangle: Rounded Corners 25">
              <a:extLst>
                <a:ext uri="{FF2B5EF4-FFF2-40B4-BE49-F238E27FC236}">
                  <a16:creationId xmlns:a16="http://schemas.microsoft.com/office/drawing/2014/main" id="{97141CB3-8036-D842-386C-F967EDD59F7C}"/>
                </a:ext>
              </a:extLst>
            </p:cNvPr>
            <p:cNvSpPr/>
            <p:nvPr/>
          </p:nvSpPr>
          <p:spPr>
            <a:xfrm>
              <a:off x="1202173" y="2195955"/>
              <a:ext cx="4213887" cy="846520"/>
            </a:xfrm>
            <a:prstGeom prst="roundRect">
              <a:avLst/>
            </a:prstGeom>
            <a:gradFill>
              <a:gsLst>
                <a:gs pos="56000">
                  <a:schemeClr val="bg1"/>
                </a:gs>
                <a:gs pos="100000">
                  <a:schemeClr val="bg1">
                    <a:lumMod val="95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4" name="Group 92">
              <a:extLst>
                <a:ext uri="{FF2B5EF4-FFF2-40B4-BE49-F238E27FC236}">
                  <a16:creationId xmlns:a16="http://schemas.microsoft.com/office/drawing/2014/main" id="{6743E6FF-9827-7719-FC15-202CEDF14E42}"/>
                </a:ext>
              </a:extLst>
            </p:cNvPr>
            <p:cNvGrpSpPr/>
            <p:nvPr/>
          </p:nvGrpSpPr>
          <p:grpSpPr>
            <a:xfrm>
              <a:off x="1392376" y="2263614"/>
              <a:ext cx="3665712" cy="711200"/>
              <a:chOff x="1392376" y="2263614"/>
              <a:chExt cx="3665713" cy="711200"/>
            </a:xfrm>
          </p:grpSpPr>
          <p:cxnSp>
            <p:nvCxnSpPr>
              <p:cNvPr id="95" name="Straight Connector 30">
                <a:extLst>
                  <a:ext uri="{FF2B5EF4-FFF2-40B4-BE49-F238E27FC236}">
                    <a16:creationId xmlns:a16="http://schemas.microsoft.com/office/drawing/2014/main" id="{8DCCC273-1B14-6253-F41A-3550D1AC25D9}"/>
                  </a:ext>
                </a:extLst>
              </p:cNvPr>
              <p:cNvCxnSpPr/>
              <p:nvPr/>
            </p:nvCxnSpPr>
            <p:spPr>
              <a:xfrm>
                <a:off x="2075544" y="2263614"/>
                <a:ext cx="0" cy="7112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6" name="TextBox 31">
                <a:extLst>
                  <a:ext uri="{FF2B5EF4-FFF2-40B4-BE49-F238E27FC236}">
                    <a16:creationId xmlns:a16="http://schemas.microsoft.com/office/drawing/2014/main" id="{6257DA16-EBFD-8D24-F620-BAE1949888BC}"/>
                  </a:ext>
                </a:extLst>
              </p:cNvPr>
              <p:cNvSpPr txBox="1"/>
              <p:nvPr/>
            </p:nvSpPr>
            <p:spPr>
              <a:xfrm>
                <a:off x="1392376" y="2410711"/>
                <a:ext cx="568150" cy="369332"/>
              </a:xfrm>
              <a:prstGeom prst="rect">
                <a:avLst/>
              </a:prstGeom>
              <a:noFill/>
            </p:spPr>
            <p:txBody>
              <a:bodyPr wrap="square" rtlCol="0">
                <a:spAutoFit/>
              </a:bodyPr>
              <a:lstStyle/>
              <a:p>
                <a:pPr algn="ctr"/>
                <a:r>
                  <a:rPr lang="en-US" b="1" dirty="0">
                    <a:latin typeface="Century Gothic" panose="020B0502020202020204" pitchFamily="34" charset="0"/>
                  </a:rPr>
                  <a:t>03</a:t>
                </a:r>
              </a:p>
            </p:txBody>
          </p:sp>
          <p:sp>
            <p:nvSpPr>
              <p:cNvPr id="97" name="TextBox 34">
                <a:extLst>
                  <a:ext uri="{FF2B5EF4-FFF2-40B4-BE49-F238E27FC236}">
                    <a16:creationId xmlns:a16="http://schemas.microsoft.com/office/drawing/2014/main" id="{2BFA472B-3496-8EF8-B8E7-9E59B82B713A}"/>
                  </a:ext>
                </a:extLst>
              </p:cNvPr>
              <p:cNvSpPr txBox="1"/>
              <p:nvPr/>
            </p:nvSpPr>
            <p:spPr>
              <a:xfrm>
                <a:off x="2076862" y="2378141"/>
                <a:ext cx="1845905" cy="369332"/>
              </a:xfrm>
              <a:prstGeom prst="rect">
                <a:avLst/>
              </a:prstGeom>
              <a:noFill/>
            </p:spPr>
            <p:txBody>
              <a:bodyPr wrap="square" rtlCol="0">
                <a:spAutoFit/>
              </a:bodyPr>
              <a:lstStyle/>
              <a:p>
                <a:r>
                  <a:rPr lang="es-CO" dirty="0">
                    <a:solidFill>
                      <a:schemeClr val="accent5">
                        <a:lumMod val="10000"/>
                      </a:schemeClr>
                    </a:solidFill>
                  </a:rPr>
                  <a:t>Prioridades </a:t>
                </a:r>
              </a:p>
            </p:txBody>
          </p:sp>
          <p:pic>
            <p:nvPicPr>
              <p:cNvPr id="98" name="Graphic 77" descr="Venn diagram">
                <a:extLst>
                  <a:ext uri="{FF2B5EF4-FFF2-40B4-BE49-F238E27FC236}">
                    <a16:creationId xmlns:a16="http://schemas.microsoft.com/office/drawing/2014/main" id="{FB7806A6-17EA-63D5-B121-2F4FB21254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00889" y="2348377"/>
                <a:ext cx="457200" cy="457200"/>
              </a:xfrm>
              <a:prstGeom prst="rect">
                <a:avLst/>
              </a:prstGeom>
            </p:spPr>
          </p:pic>
        </p:grpSp>
      </p:grpSp>
      <p:grpSp>
        <p:nvGrpSpPr>
          <p:cNvPr id="99" name="Group 105">
            <a:extLst>
              <a:ext uri="{FF2B5EF4-FFF2-40B4-BE49-F238E27FC236}">
                <a16:creationId xmlns:a16="http://schemas.microsoft.com/office/drawing/2014/main" id="{61B88D0B-3233-CFD3-CE7E-3EB2916BD847}"/>
              </a:ext>
            </a:extLst>
          </p:cNvPr>
          <p:cNvGrpSpPr/>
          <p:nvPr/>
        </p:nvGrpSpPr>
        <p:grpSpPr>
          <a:xfrm>
            <a:off x="6746631" y="3810693"/>
            <a:ext cx="4213888" cy="846520"/>
            <a:chOff x="6746630" y="2212815"/>
            <a:chExt cx="4213887" cy="846520"/>
          </a:xfrm>
        </p:grpSpPr>
        <p:sp>
          <p:nvSpPr>
            <p:cNvPr id="100" name="Rectangle: Rounded Corners 28">
              <a:extLst>
                <a:ext uri="{FF2B5EF4-FFF2-40B4-BE49-F238E27FC236}">
                  <a16:creationId xmlns:a16="http://schemas.microsoft.com/office/drawing/2014/main" id="{D8DD9C40-CFB2-E040-0EB5-C655546CA06B}"/>
                </a:ext>
              </a:extLst>
            </p:cNvPr>
            <p:cNvSpPr/>
            <p:nvPr/>
          </p:nvSpPr>
          <p:spPr>
            <a:xfrm>
              <a:off x="6746630" y="2212815"/>
              <a:ext cx="4213887" cy="846520"/>
            </a:xfrm>
            <a:prstGeom prst="roundRect">
              <a:avLst/>
            </a:prstGeom>
            <a:gradFill>
              <a:gsLst>
                <a:gs pos="56000">
                  <a:schemeClr val="bg1"/>
                </a:gs>
                <a:gs pos="100000">
                  <a:schemeClr val="bg1">
                    <a:lumMod val="95000"/>
                  </a:schemeClr>
                </a:gs>
              </a:gsLst>
              <a:lin ang="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1" name="Group 97">
              <a:extLst>
                <a:ext uri="{FF2B5EF4-FFF2-40B4-BE49-F238E27FC236}">
                  <a16:creationId xmlns:a16="http://schemas.microsoft.com/office/drawing/2014/main" id="{B4D0E8C3-C4D7-4A66-ED3E-F1CD8918B7C4}"/>
                </a:ext>
              </a:extLst>
            </p:cNvPr>
            <p:cNvGrpSpPr/>
            <p:nvPr/>
          </p:nvGrpSpPr>
          <p:grpSpPr>
            <a:xfrm>
              <a:off x="7129982" y="2275450"/>
              <a:ext cx="3715517" cy="711200"/>
              <a:chOff x="7129982" y="2275450"/>
              <a:chExt cx="3715518" cy="711200"/>
            </a:xfrm>
          </p:grpSpPr>
          <p:cxnSp>
            <p:nvCxnSpPr>
              <p:cNvPr id="102" name="Straight Connector 35">
                <a:extLst>
                  <a:ext uri="{FF2B5EF4-FFF2-40B4-BE49-F238E27FC236}">
                    <a16:creationId xmlns:a16="http://schemas.microsoft.com/office/drawing/2014/main" id="{D285A326-2CBD-7E63-61AA-2BC2E402EF67}"/>
                  </a:ext>
                </a:extLst>
              </p:cNvPr>
              <p:cNvCxnSpPr/>
              <p:nvPr/>
            </p:nvCxnSpPr>
            <p:spPr>
              <a:xfrm>
                <a:off x="7823179" y="2275450"/>
                <a:ext cx="0" cy="7112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03" name="TextBox 36">
                <a:extLst>
                  <a:ext uri="{FF2B5EF4-FFF2-40B4-BE49-F238E27FC236}">
                    <a16:creationId xmlns:a16="http://schemas.microsoft.com/office/drawing/2014/main" id="{9AD21B8A-42E8-3F99-E7EB-BBFFF22C7B43}"/>
                  </a:ext>
                </a:extLst>
              </p:cNvPr>
              <p:cNvSpPr txBox="1"/>
              <p:nvPr/>
            </p:nvSpPr>
            <p:spPr>
              <a:xfrm>
                <a:off x="7129982" y="2386828"/>
                <a:ext cx="568150" cy="369332"/>
              </a:xfrm>
              <a:prstGeom prst="rect">
                <a:avLst/>
              </a:prstGeom>
              <a:noFill/>
            </p:spPr>
            <p:txBody>
              <a:bodyPr wrap="square" rtlCol="0">
                <a:spAutoFit/>
              </a:bodyPr>
              <a:lstStyle/>
              <a:p>
                <a:pPr algn="ctr"/>
                <a:r>
                  <a:rPr lang="en-US" b="1" dirty="0">
                    <a:latin typeface="Century Gothic" panose="020B0502020202020204" pitchFamily="34" charset="0"/>
                  </a:rPr>
                  <a:t>04</a:t>
                </a:r>
              </a:p>
            </p:txBody>
          </p:sp>
          <p:sp>
            <p:nvSpPr>
              <p:cNvPr id="104" name="TextBox 39">
                <a:extLst>
                  <a:ext uri="{FF2B5EF4-FFF2-40B4-BE49-F238E27FC236}">
                    <a16:creationId xmlns:a16="http://schemas.microsoft.com/office/drawing/2014/main" id="{09DAFF0A-8649-60C2-B834-16E17A0C91BE}"/>
                  </a:ext>
                </a:extLst>
              </p:cNvPr>
              <p:cNvSpPr txBox="1"/>
              <p:nvPr/>
            </p:nvSpPr>
            <p:spPr>
              <a:xfrm>
                <a:off x="7823178" y="2308743"/>
                <a:ext cx="2339574" cy="584775"/>
              </a:xfrm>
              <a:prstGeom prst="rect">
                <a:avLst/>
              </a:prstGeom>
              <a:noFill/>
            </p:spPr>
            <p:txBody>
              <a:bodyPr wrap="square" rtlCol="0">
                <a:spAutoFit/>
              </a:bodyPr>
              <a:lstStyle/>
              <a:p>
                <a:r>
                  <a:rPr lang="es-CO" sz="1600" dirty="0">
                    <a:solidFill>
                      <a:schemeClr val="accent5">
                        <a:lumMod val="10000"/>
                      </a:schemeClr>
                    </a:solidFill>
                  </a:rPr>
                  <a:t>Reembolsos a cualquier prioridad </a:t>
                </a:r>
              </a:p>
            </p:txBody>
          </p:sp>
          <p:pic>
            <p:nvPicPr>
              <p:cNvPr id="105" name="Graphic 87" descr="Briefcase">
                <a:extLst>
                  <a:ext uri="{FF2B5EF4-FFF2-40B4-BE49-F238E27FC236}">
                    <a16:creationId xmlns:a16="http://schemas.microsoft.com/office/drawing/2014/main" id="{9A23BBF3-3B60-10EC-D6C7-BE67936A9EB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388300" y="2402350"/>
                <a:ext cx="457200" cy="457200"/>
              </a:xfrm>
              <a:prstGeom prst="rect">
                <a:avLst/>
              </a:prstGeom>
            </p:spPr>
          </p:pic>
        </p:grpSp>
      </p:grpSp>
      <p:sp>
        <p:nvSpPr>
          <p:cNvPr id="106" name="Rectangle: Top Corners Rounded 26">
            <a:extLst>
              <a:ext uri="{FF2B5EF4-FFF2-40B4-BE49-F238E27FC236}">
                <a16:creationId xmlns:a16="http://schemas.microsoft.com/office/drawing/2014/main" id="{D93A3384-A6FD-C0F3-A934-DE7D9A9E0420}"/>
              </a:ext>
            </a:extLst>
          </p:cNvPr>
          <p:cNvSpPr/>
          <p:nvPr/>
        </p:nvSpPr>
        <p:spPr>
          <a:xfrm rot="5400000">
            <a:off x="5009660" y="4042922"/>
            <a:ext cx="812800" cy="348343"/>
          </a:xfrm>
          <a:prstGeom prst="round2SameRect">
            <a:avLst/>
          </a:prstGeom>
          <a:solidFill>
            <a:schemeClr val="tx2">
              <a:lumMod val="75000"/>
              <a:lumOff val="2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7" name="Rectangle: Top Corners Rounded 29">
            <a:extLst>
              <a:ext uri="{FF2B5EF4-FFF2-40B4-BE49-F238E27FC236}">
                <a16:creationId xmlns:a16="http://schemas.microsoft.com/office/drawing/2014/main" id="{3502ABC3-E415-04E5-0C21-185A15004A5E}"/>
              </a:ext>
            </a:extLst>
          </p:cNvPr>
          <p:cNvSpPr/>
          <p:nvPr/>
        </p:nvSpPr>
        <p:spPr>
          <a:xfrm rot="5400000">
            <a:off x="6369537" y="4042923"/>
            <a:ext cx="812800" cy="348343"/>
          </a:xfrm>
          <a:prstGeom prst="round2SameRect">
            <a:avLst/>
          </a:prstGeom>
          <a:solidFill>
            <a:schemeClr val="tx2">
              <a:lumMod val="75000"/>
              <a:lumOff val="2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8" name="Group 102">
            <a:extLst>
              <a:ext uri="{FF2B5EF4-FFF2-40B4-BE49-F238E27FC236}">
                <a16:creationId xmlns:a16="http://schemas.microsoft.com/office/drawing/2014/main" id="{6C43860A-EC3F-DC01-03DB-F84A2B2F5BF6}"/>
              </a:ext>
            </a:extLst>
          </p:cNvPr>
          <p:cNvGrpSpPr/>
          <p:nvPr/>
        </p:nvGrpSpPr>
        <p:grpSpPr>
          <a:xfrm>
            <a:off x="1202173" y="5324475"/>
            <a:ext cx="4213888" cy="846520"/>
            <a:chOff x="1202173" y="3726598"/>
            <a:chExt cx="4213888" cy="846520"/>
          </a:xfrm>
        </p:grpSpPr>
        <p:sp>
          <p:nvSpPr>
            <p:cNvPr id="109" name="Rectangle: Rounded Corners 43">
              <a:extLst>
                <a:ext uri="{FF2B5EF4-FFF2-40B4-BE49-F238E27FC236}">
                  <a16:creationId xmlns:a16="http://schemas.microsoft.com/office/drawing/2014/main" id="{7BECAB64-9A4F-1BBA-089D-5EAE1963C9B3}"/>
                </a:ext>
              </a:extLst>
            </p:cNvPr>
            <p:cNvSpPr/>
            <p:nvPr/>
          </p:nvSpPr>
          <p:spPr>
            <a:xfrm>
              <a:off x="1202173" y="3726598"/>
              <a:ext cx="4213888" cy="846520"/>
            </a:xfrm>
            <a:prstGeom prst="roundRect">
              <a:avLst/>
            </a:prstGeom>
            <a:gradFill>
              <a:gsLst>
                <a:gs pos="56000">
                  <a:schemeClr val="bg1"/>
                </a:gs>
                <a:gs pos="100000">
                  <a:schemeClr val="bg1">
                    <a:lumMod val="95000"/>
                  </a:schemeClr>
                </a:gs>
              </a:gsLst>
              <a:lin ang="0" scaled="1"/>
            </a:gra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0" name="Group 93">
              <a:extLst>
                <a:ext uri="{FF2B5EF4-FFF2-40B4-BE49-F238E27FC236}">
                  <a16:creationId xmlns:a16="http://schemas.microsoft.com/office/drawing/2014/main" id="{8273118C-0FA2-2421-809E-D5F6F35B4122}"/>
                </a:ext>
              </a:extLst>
            </p:cNvPr>
            <p:cNvGrpSpPr/>
            <p:nvPr/>
          </p:nvGrpSpPr>
          <p:grpSpPr>
            <a:xfrm>
              <a:off x="1327153" y="3794256"/>
              <a:ext cx="3726606" cy="711200"/>
              <a:chOff x="1327153" y="3794256"/>
              <a:chExt cx="3726606" cy="711200"/>
            </a:xfrm>
          </p:grpSpPr>
          <p:cxnSp>
            <p:nvCxnSpPr>
              <p:cNvPr id="111" name="Straight Connector 48">
                <a:extLst>
                  <a:ext uri="{FF2B5EF4-FFF2-40B4-BE49-F238E27FC236}">
                    <a16:creationId xmlns:a16="http://schemas.microsoft.com/office/drawing/2014/main" id="{A076678F-0C8D-CF16-1329-0A33A2A7A6FE}"/>
                  </a:ext>
                </a:extLst>
              </p:cNvPr>
              <p:cNvCxnSpPr/>
              <p:nvPr/>
            </p:nvCxnSpPr>
            <p:spPr>
              <a:xfrm>
                <a:off x="2075544" y="3794256"/>
                <a:ext cx="0" cy="71120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2" name="TextBox 49">
                <a:extLst>
                  <a:ext uri="{FF2B5EF4-FFF2-40B4-BE49-F238E27FC236}">
                    <a16:creationId xmlns:a16="http://schemas.microsoft.com/office/drawing/2014/main" id="{BF6796BB-F77C-3B61-FC17-4FF703CEF036}"/>
                  </a:ext>
                </a:extLst>
              </p:cNvPr>
              <p:cNvSpPr txBox="1"/>
              <p:nvPr/>
            </p:nvSpPr>
            <p:spPr>
              <a:xfrm>
                <a:off x="1327153" y="3922272"/>
                <a:ext cx="568150" cy="369332"/>
              </a:xfrm>
              <a:prstGeom prst="rect">
                <a:avLst/>
              </a:prstGeom>
              <a:noFill/>
            </p:spPr>
            <p:txBody>
              <a:bodyPr wrap="square" rtlCol="0">
                <a:spAutoFit/>
              </a:bodyPr>
              <a:lstStyle/>
              <a:p>
                <a:pPr algn="ctr"/>
                <a:r>
                  <a:rPr lang="en-US" b="1" dirty="0">
                    <a:latin typeface="Century Gothic" panose="020B0502020202020204" pitchFamily="34" charset="0"/>
                  </a:rPr>
                  <a:t>05</a:t>
                </a:r>
              </a:p>
            </p:txBody>
          </p:sp>
          <p:sp>
            <p:nvSpPr>
              <p:cNvPr id="113" name="TextBox 52">
                <a:extLst>
                  <a:ext uri="{FF2B5EF4-FFF2-40B4-BE49-F238E27FC236}">
                    <a16:creationId xmlns:a16="http://schemas.microsoft.com/office/drawing/2014/main" id="{023F632D-7B20-2E49-3FD5-516FB906B3B3}"/>
                  </a:ext>
                </a:extLst>
              </p:cNvPr>
              <p:cNvSpPr txBox="1"/>
              <p:nvPr/>
            </p:nvSpPr>
            <p:spPr>
              <a:xfrm>
                <a:off x="2096160" y="3807407"/>
                <a:ext cx="2368580" cy="584775"/>
              </a:xfrm>
              <a:prstGeom prst="rect">
                <a:avLst/>
              </a:prstGeom>
              <a:noFill/>
            </p:spPr>
            <p:txBody>
              <a:bodyPr wrap="square" rtlCol="0">
                <a:spAutoFit/>
              </a:bodyPr>
              <a:lstStyle/>
              <a:p>
                <a:r>
                  <a:rPr lang="es-CO" sz="1600" dirty="0">
                    <a:solidFill>
                      <a:schemeClr val="accent5">
                        <a:lumMod val="10000"/>
                      </a:schemeClr>
                    </a:solidFill>
                  </a:rPr>
                  <a:t>Cargos negativos a cualquier prioridad </a:t>
                </a:r>
              </a:p>
            </p:txBody>
          </p:sp>
          <p:pic>
            <p:nvPicPr>
              <p:cNvPr id="114" name="Graphic 83" descr="Bank">
                <a:extLst>
                  <a:ext uri="{FF2B5EF4-FFF2-40B4-BE49-F238E27FC236}">
                    <a16:creationId xmlns:a16="http://schemas.microsoft.com/office/drawing/2014/main" id="{AAA46D85-F5FA-E3E1-5474-28034DB4120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96559" y="3947796"/>
                <a:ext cx="457200" cy="457200"/>
              </a:xfrm>
              <a:prstGeom prst="rect">
                <a:avLst/>
              </a:prstGeom>
            </p:spPr>
          </p:pic>
        </p:grpSp>
      </p:grpSp>
      <p:sp>
        <p:nvSpPr>
          <p:cNvPr id="115" name="Rectangle: Top Corners Rounded 44">
            <a:extLst>
              <a:ext uri="{FF2B5EF4-FFF2-40B4-BE49-F238E27FC236}">
                <a16:creationId xmlns:a16="http://schemas.microsoft.com/office/drawing/2014/main" id="{49AC731E-79C8-C974-11B4-205AE8A8DAF8}"/>
              </a:ext>
            </a:extLst>
          </p:cNvPr>
          <p:cNvSpPr/>
          <p:nvPr/>
        </p:nvSpPr>
        <p:spPr>
          <a:xfrm rot="5400000">
            <a:off x="5009660" y="5573564"/>
            <a:ext cx="812800" cy="348343"/>
          </a:xfrm>
          <a:prstGeom prst="round2SameRect">
            <a:avLst/>
          </a:prstGeom>
          <a:solidFill>
            <a:schemeClr val="tx2">
              <a:lumMod val="75000"/>
              <a:lumOff val="25000"/>
            </a:schemeClr>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16" name="Group 96">
            <a:extLst>
              <a:ext uri="{FF2B5EF4-FFF2-40B4-BE49-F238E27FC236}">
                <a16:creationId xmlns:a16="http://schemas.microsoft.com/office/drawing/2014/main" id="{1FA68DF7-B1D6-9672-13D3-CBADD22F668B}"/>
              </a:ext>
            </a:extLst>
          </p:cNvPr>
          <p:cNvGrpSpPr/>
          <p:nvPr/>
        </p:nvGrpSpPr>
        <p:grpSpPr>
          <a:xfrm>
            <a:off x="6746631" y="5341335"/>
            <a:ext cx="4213888" cy="846520"/>
            <a:chOff x="6746628" y="3743453"/>
            <a:chExt cx="4213887" cy="846519"/>
          </a:xfrm>
        </p:grpSpPr>
        <p:sp>
          <p:nvSpPr>
            <p:cNvPr id="117" name="Rectangle: Rounded Corners 46">
              <a:extLst>
                <a:ext uri="{FF2B5EF4-FFF2-40B4-BE49-F238E27FC236}">
                  <a16:creationId xmlns:a16="http://schemas.microsoft.com/office/drawing/2014/main" id="{D4BD6566-9573-40F3-45E0-D86CEA07B9AB}"/>
                </a:ext>
              </a:extLst>
            </p:cNvPr>
            <p:cNvSpPr/>
            <p:nvPr/>
          </p:nvSpPr>
          <p:spPr>
            <a:xfrm>
              <a:off x="6746628" y="3743453"/>
              <a:ext cx="4213887" cy="846519"/>
            </a:xfrm>
            <a:prstGeom prst="roundRect">
              <a:avLst/>
            </a:prstGeom>
            <a:gradFill>
              <a:gsLst>
                <a:gs pos="56000">
                  <a:schemeClr val="bg1"/>
                </a:gs>
                <a:gs pos="100000">
                  <a:schemeClr val="bg1">
                    <a:lumMod val="95000"/>
                  </a:schemeClr>
                </a:gs>
              </a:gsLst>
              <a:lin ang="0" scaled="1"/>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8" name="Straight Connector 53">
              <a:extLst>
                <a:ext uri="{FF2B5EF4-FFF2-40B4-BE49-F238E27FC236}">
                  <a16:creationId xmlns:a16="http://schemas.microsoft.com/office/drawing/2014/main" id="{1CDB9DD2-7C78-1FBF-A211-5D5FEA23326D}"/>
                </a:ext>
              </a:extLst>
            </p:cNvPr>
            <p:cNvCxnSpPr/>
            <p:nvPr/>
          </p:nvCxnSpPr>
          <p:spPr>
            <a:xfrm>
              <a:off x="7823176" y="3806089"/>
              <a:ext cx="0" cy="711199"/>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19" name="TextBox 54">
              <a:extLst>
                <a:ext uri="{FF2B5EF4-FFF2-40B4-BE49-F238E27FC236}">
                  <a16:creationId xmlns:a16="http://schemas.microsoft.com/office/drawing/2014/main" id="{D37B9AE8-D7D1-8E36-DF05-F92BB0CE6035}"/>
                </a:ext>
              </a:extLst>
            </p:cNvPr>
            <p:cNvSpPr txBox="1"/>
            <p:nvPr/>
          </p:nvSpPr>
          <p:spPr>
            <a:xfrm>
              <a:off x="7110095" y="3970091"/>
              <a:ext cx="568150" cy="369332"/>
            </a:xfrm>
            <a:prstGeom prst="rect">
              <a:avLst/>
            </a:prstGeom>
            <a:noFill/>
          </p:spPr>
          <p:txBody>
            <a:bodyPr wrap="square" rtlCol="0">
              <a:spAutoFit/>
            </a:bodyPr>
            <a:lstStyle/>
            <a:p>
              <a:pPr algn="ctr"/>
              <a:r>
                <a:rPr lang="en-US" b="1" dirty="0">
                  <a:latin typeface="Century Gothic" panose="020B0502020202020204" pitchFamily="34" charset="0"/>
                </a:rPr>
                <a:t>06</a:t>
              </a:r>
            </a:p>
          </p:txBody>
        </p:sp>
        <p:sp>
          <p:nvSpPr>
            <p:cNvPr id="120" name="TextBox 57">
              <a:extLst>
                <a:ext uri="{FF2B5EF4-FFF2-40B4-BE49-F238E27FC236}">
                  <a16:creationId xmlns:a16="http://schemas.microsoft.com/office/drawing/2014/main" id="{02E68B79-F2DA-EF8D-DD7F-FBFBDB2B1051}"/>
                </a:ext>
              </a:extLst>
            </p:cNvPr>
            <p:cNvSpPr txBox="1"/>
            <p:nvPr/>
          </p:nvSpPr>
          <p:spPr>
            <a:xfrm>
              <a:off x="7823176" y="3794252"/>
              <a:ext cx="2661740" cy="738663"/>
            </a:xfrm>
            <a:prstGeom prst="rect">
              <a:avLst/>
            </a:prstGeom>
            <a:noFill/>
          </p:spPr>
          <p:txBody>
            <a:bodyPr wrap="square" rtlCol="0">
              <a:spAutoFit/>
            </a:bodyPr>
            <a:lstStyle/>
            <a:p>
              <a:pPr algn="just"/>
              <a:r>
                <a:rPr lang="es-CO" sz="1400" dirty="0">
                  <a:solidFill>
                    <a:schemeClr val="accent5">
                      <a:lumMod val="10000"/>
                    </a:schemeClr>
                  </a:solidFill>
                </a:rPr>
                <a:t>Si es una transacción de Contrato o Exención se debe cumplir con el código de origen </a:t>
              </a:r>
            </a:p>
          </p:txBody>
        </p:sp>
        <p:pic>
          <p:nvPicPr>
            <p:cNvPr id="121" name="Graphic 85" descr="Boardroom">
              <a:extLst>
                <a:ext uri="{FF2B5EF4-FFF2-40B4-BE49-F238E27FC236}">
                  <a16:creationId xmlns:a16="http://schemas.microsoft.com/office/drawing/2014/main" id="{B4A4659F-9C87-01A4-A304-2E750C5166C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499904" y="3921250"/>
              <a:ext cx="457200" cy="457200"/>
            </a:xfrm>
            <a:prstGeom prst="rect">
              <a:avLst/>
            </a:prstGeom>
          </p:spPr>
        </p:pic>
      </p:grpSp>
      <p:sp>
        <p:nvSpPr>
          <p:cNvPr id="122" name="Rectangle: Top Corners Rounded 47">
            <a:extLst>
              <a:ext uri="{FF2B5EF4-FFF2-40B4-BE49-F238E27FC236}">
                <a16:creationId xmlns:a16="http://schemas.microsoft.com/office/drawing/2014/main" id="{319CF70C-DCA0-E29F-14D4-4B61390AF10C}"/>
              </a:ext>
            </a:extLst>
          </p:cNvPr>
          <p:cNvSpPr/>
          <p:nvPr/>
        </p:nvSpPr>
        <p:spPr>
          <a:xfrm rot="5400000">
            <a:off x="6369537" y="5573565"/>
            <a:ext cx="812800" cy="348343"/>
          </a:xfrm>
          <a:prstGeom prst="round2SameRect">
            <a:avLst/>
          </a:prstGeom>
          <a:solidFill>
            <a:schemeClr val="tx2">
              <a:lumMod val="75000"/>
              <a:lumOff val="2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7824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 calcmode="lin" valueType="num">
                                      <p:cBhvr>
                                        <p:cTn id="7" dur="500" fill="hold"/>
                                        <p:tgtEl>
                                          <p:spTgt spid="90"/>
                                        </p:tgtEl>
                                        <p:attrNameLst>
                                          <p:attrName>ppt_x</p:attrName>
                                        </p:attrNameLst>
                                      </p:cBhvr>
                                      <p:tavLst>
                                        <p:tav tm="0">
                                          <p:val>
                                            <p:strVal val="#ppt_x-#ppt_w/2"/>
                                          </p:val>
                                        </p:tav>
                                        <p:tav tm="100000">
                                          <p:val>
                                            <p:strVal val="#ppt_x"/>
                                          </p:val>
                                        </p:tav>
                                      </p:tavLst>
                                    </p:anim>
                                    <p:anim calcmode="lin" valueType="num">
                                      <p:cBhvr>
                                        <p:cTn id="8" dur="500" fill="hold"/>
                                        <p:tgtEl>
                                          <p:spTgt spid="90"/>
                                        </p:tgtEl>
                                        <p:attrNameLst>
                                          <p:attrName>ppt_y</p:attrName>
                                        </p:attrNameLst>
                                      </p:cBhvr>
                                      <p:tavLst>
                                        <p:tav tm="0">
                                          <p:val>
                                            <p:strVal val="#ppt_y"/>
                                          </p:val>
                                        </p:tav>
                                        <p:tav tm="100000">
                                          <p:val>
                                            <p:strVal val="#ppt_y"/>
                                          </p:val>
                                        </p:tav>
                                      </p:tavLst>
                                    </p:anim>
                                    <p:anim calcmode="lin" valueType="num">
                                      <p:cBhvr>
                                        <p:cTn id="9" dur="500" fill="hold"/>
                                        <p:tgtEl>
                                          <p:spTgt spid="90"/>
                                        </p:tgtEl>
                                        <p:attrNameLst>
                                          <p:attrName>ppt_w</p:attrName>
                                        </p:attrNameLst>
                                      </p:cBhvr>
                                      <p:tavLst>
                                        <p:tav tm="0">
                                          <p:val>
                                            <p:fltVal val="0"/>
                                          </p:val>
                                        </p:tav>
                                        <p:tav tm="100000">
                                          <p:val>
                                            <p:strVal val="#ppt_w"/>
                                          </p:val>
                                        </p:tav>
                                      </p:tavLst>
                                    </p:anim>
                                    <p:anim calcmode="lin" valueType="num">
                                      <p:cBhvr>
                                        <p:cTn id="10" dur="500" fill="hold"/>
                                        <p:tgtEl>
                                          <p:spTgt spid="90"/>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2" fill="hold" grpId="0" nodeType="afterEffect">
                                  <p:stCondLst>
                                    <p:cond delay="0"/>
                                  </p:stCondLst>
                                  <p:childTnLst>
                                    <p:set>
                                      <p:cBhvr>
                                        <p:cTn id="13" dur="1" fill="hold">
                                          <p:stCondLst>
                                            <p:cond delay="0"/>
                                          </p:stCondLst>
                                        </p:cTn>
                                        <p:tgtEl>
                                          <p:spTgt spid="74"/>
                                        </p:tgtEl>
                                        <p:attrNameLst>
                                          <p:attrName>style.visibility</p:attrName>
                                        </p:attrNameLst>
                                      </p:cBhvr>
                                      <p:to>
                                        <p:strVal val="visible"/>
                                      </p:to>
                                    </p:set>
                                    <p:anim calcmode="lin" valueType="num">
                                      <p:cBhvr>
                                        <p:cTn id="14" dur="500" fill="hold"/>
                                        <p:tgtEl>
                                          <p:spTgt spid="74"/>
                                        </p:tgtEl>
                                        <p:attrNameLst>
                                          <p:attrName>ppt_x</p:attrName>
                                        </p:attrNameLst>
                                      </p:cBhvr>
                                      <p:tavLst>
                                        <p:tav tm="0">
                                          <p:val>
                                            <p:strVal val="#ppt_x+#ppt_w/2"/>
                                          </p:val>
                                        </p:tav>
                                        <p:tav tm="100000">
                                          <p:val>
                                            <p:strVal val="#ppt_x"/>
                                          </p:val>
                                        </p:tav>
                                      </p:tavLst>
                                    </p:anim>
                                    <p:anim calcmode="lin" valueType="num">
                                      <p:cBhvr>
                                        <p:cTn id="15" dur="500" fill="hold"/>
                                        <p:tgtEl>
                                          <p:spTgt spid="74"/>
                                        </p:tgtEl>
                                        <p:attrNameLst>
                                          <p:attrName>ppt_y</p:attrName>
                                        </p:attrNameLst>
                                      </p:cBhvr>
                                      <p:tavLst>
                                        <p:tav tm="0">
                                          <p:val>
                                            <p:strVal val="#ppt_y"/>
                                          </p:val>
                                        </p:tav>
                                        <p:tav tm="100000">
                                          <p:val>
                                            <p:strVal val="#ppt_y"/>
                                          </p:val>
                                        </p:tav>
                                      </p:tavLst>
                                    </p:anim>
                                    <p:anim calcmode="lin" valueType="num">
                                      <p:cBhvr>
                                        <p:cTn id="16" dur="500" fill="hold"/>
                                        <p:tgtEl>
                                          <p:spTgt spid="74"/>
                                        </p:tgtEl>
                                        <p:attrNameLst>
                                          <p:attrName>ppt_w</p:attrName>
                                        </p:attrNameLst>
                                      </p:cBhvr>
                                      <p:tavLst>
                                        <p:tav tm="0">
                                          <p:val>
                                            <p:fltVal val="0"/>
                                          </p:val>
                                        </p:tav>
                                        <p:tav tm="100000">
                                          <p:val>
                                            <p:strVal val="#ppt_w"/>
                                          </p:val>
                                        </p:tav>
                                      </p:tavLst>
                                    </p:anim>
                                    <p:anim calcmode="lin" valueType="num">
                                      <p:cBhvr>
                                        <p:cTn id="17" dur="500" fill="hold"/>
                                        <p:tgtEl>
                                          <p:spTgt spid="74"/>
                                        </p:tgtEl>
                                        <p:attrNameLst>
                                          <p:attrName>ppt_h</p:attrName>
                                        </p:attrNameLst>
                                      </p:cBhvr>
                                      <p:tavLst>
                                        <p:tav tm="0">
                                          <p:val>
                                            <p:strVal val="#ppt_h"/>
                                          </p:val>
                                        </p:tav>
                                        <p:tav tm="100000">
                                          <p:val>
                                            <p:strVal val="#ppt_h"/>
                                          </p:val>
                                        </p:tav>
                                      </p:tavLst>
                                    </p:anim>
                                  </p:childTnLst>
                                </p:cTn>
                              </p:par>
                            </p:childTnLst>
                          </p:cTn>
                        </p:par>
                        <p:par>
                          <p:cTn id="18" fill="hold">
                            <p:stCondLst>
                              <p:cond delay="1000"/>
                            </p:stCondLst>
                            <p:childTnLst>
                              <p:par>
                                <p:cTn id="19" presetID="17" presetClass="entr" presetSubtype="2" fill="hold" nodeType="afterEffect">
                                  <p:stCondLst>
                                    <p:cond delay="0"/>
                                  </p:stCondLst>
                                  <p:childTnLst>
                                    <p:set>
                                      <p:cBhvr>
                                        <p:cTn id="20" dur="1" fill="hold">
                                          <p:stCondLst>
                                            <p:cond delay="0"/>
                                          </p:stCondLst>
                                        </p:cTn>
                                        <p:tgtEl>
                                          <p:spTgt spid="75"/>
                                        </p:tgtEl>
                                        <p:attrNameLst>
                                          <p:attrName>style.visibility</p:attrName>
                                        </p:attrNameLst>
                                      </p:cBhvr>
                                      <p:to>
                                        <p:strVal val="visible"/>
                                      </p:to>
                                    </p:set>
                                    <p:anim calcmode="lin" valueType="num">
                                      <p:cBhvr>
                                        <p:cTn id="21" dur="500" fill="hold"/>
                                        <p:tgtEl>
                                          <p:spTgt spid="75"/>
                                        </p:tgtEl>
                                        <p:attrNameLst>
                                          <p:attrName>ppt_x</p:attrName>
                                        </p:attrNameLst>
                                      </p:cBhvr>
                                      <p:tavLst>
                                        <p:tav tm="0">
                                          <p:val>
                                            <p:strVal val="#ppt_x+#ppt_w/2"/>
                                          </p:val>
                                        </p:tav>
                                        <p:tav tm="100000">
                                          <p:val>
                                            <p:strVal val="#ppt_x"/>
                                          </p:val>
                                        </p:tav>
                                      </p:tavLst>
                                    </p:anim>
                                    <p:anim calcmode="lin" valueType="num">
                                      <p:cBhvr>
                                        <p:cTn id="22" dur="500" fill="hold"/>
                                        <p:tgtEl>
                                          <p:spTgt spid="75"/>
                                        </p:tgtEl>
                                        <p:attrNameLst>
                                          <p:attrName>ppt_y</p:attrName>
                                        </p:attrNameLst>
                                      </p:cBhvr>
                                      <p:tavLst>
                                        <p:tav tm="0">
                                          <p:val>
                                            <p:strVal val="#ppt_y"/>
                                          </p:val>
                                        </p:tav>
                                        <p:tav tm="100000">
                                          <p:val>
                                            <p:strVal val="#ppt_y"/>
                                          </p:val>
                                        </p:tav>
                                      </p:tavLst>
                                    </p:anim>
                                    <p:anim calcmode="lin" valueType="num">
                                      <p:cBhvr>
                                        <p:cTn id="23" dur="500" fill="hold"/>
                                        <p:tgtEl>
                                          <p:spTgt spid="75"/>
                                        </p:tgtEl>
                                        <p:attrNameLst>
                                          <p:attrName>ppt_w</p:attrName>
                                        </p:attrNameLst>
                                      </p:cBhvr>
                                      <p:tavLst>
                                        <p:tav tm="0">
                                          <p:val>
                                            <p:fltVal val="0"/>
                                          </p:val>
                                        </p:tav>
                                        <p:tav tm="100000">
                                          <p:val>
                                            <p:strVal val="#ppt_w"/>
                                          </p:val>
                                        </p:tav>
                                      </p:tavLst>
                                    </p:anim>
                                    <p:anim calcmode="lin" valueType="num">
                                      <p:cBhvr>
                                        <p:cTn id="24" dur="500" fill="hold"/>
                                        <p:tgtEl>
                                          <p:spTgt spid="75"/>
                                        </p:tgtEl>
                                        <p:attrNameLst>
                                          <p:attrName>ppt_h</p:attrName>
                                        </p:attrNameLst>
                                      </p:cBhvr>
                                      <p:tavLst>
                                        <p:tav tm="0">
                                          <p:val>
                                            <p:strVal val="#ppt_h"/>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ID="17" presetClass="entr" presetSubtype="2" fill="hold" grpId="0" nodeType="clickEffect">
                                  <p:stCondLst>
                                    <p:cond delay="0"/>
                                  </p:stCondLst>
                                  <p:childTnLst>
                                    <p:set>
                                      <p:cBhvr>
                                        <p:cTn id="28" dur="1" fill="hold">
                                          <p:stCondLst>
                                            <p:cond delay="0"/>
                                          </p:stCondLst>
                                        </p:cTn>
                                        <p:tgtEl>
                                          <p:spTgt spid="91"/>
                                        </p:tgtEl>
                                        <p:attrNameLst>
                                          <p:attrName>style.visibility</p:attrName>
                                        </p:attrNameLst>
                                      </p:cBhvr>
                                      <p:to>
                                        <p:strVal val="visible"/>
                                      </p:to>
                                    </p:set>
                                    <p:anim calcmode="lin" valueType="num">
                                      <p:cBhvr>
                                        <p:cTn id="29" dur="500" fill="hold"/>
                                        <p:tgtEl>
                                          <p:spTgt spid="91"/>
                                        </p:tgtEl>
                                        <p:attrNameLst>
                                          <p:attrName>ppt_x</p:attrName>
                                        </p:attrNameLst>
                                      </p:cBhvr>
                                      <p:tavLst>
                                        <p:tav tm="0">
                                          <p:val>
                                            <p:strVal val="#ppt_x+#ppt_w/2"/>
                                          </p:val>
                                        </p:tav>
                                        <p:tav tm="100000">
                                          <p:val>
                                            <p:strVal val="#ppt_x"/>
                                          </p:val>
                                        </p:tav>
                                      </p:tavLst>
                                    </p:anim>
                                    <p:anim calcmode="lin" valueType="num">
                                      <p:cBhvr>
                                        <p:cTn id="30" dur="500" fill="hold"/>
                                        <p:tgtEl>
                                          <p:spTgt spid="91"/>
                                        </p:tgtEl>
                                        <p:attrNameLst>
                                          <p:attrName>ppt_y</p:attrName>
                                        </p:attrNameLst>
                                      </p:cBhvr>
                                      <p:tavLst>
                                        <p:tav tm="0">
                                          <p:val>
                                            <p:strVal val="#ppt_y"/>
                                          </p:val>
                                        </p:tav>
                                        <p:tav tm="100000">
                                          <p:val>
                                            <p:strVal val="#ppt_y"/>
                                          </p:val>
                                        </p:tav>
                                      </p:tavLst>
                                    </p:anim>
                                    <p:anim calcmode="lin" valueType="num">
                                      <p:cBhvr>
                                        <p:cTn id="31" dur="500" fill="hold"/>
                                        <p:tgtEl>
                                          <p:spTgt spid="91"/>
                                        </p:tgtEl>
                                        <p:attrNameLst>
                                          <p:attrName>ppt_w</p:attrName>
                                        </p:attrNameLst>
                                      </p:cBhvr>
                                      <p:tavLst>
                                        <p:tav tm="0">
                                          <p:val>
                                            <p:fltVal val="0"/>
                                          </p:val>
                                        </p:tav>
                                        <p:tav tm="100000">
                                          <p:val>
                                            <p:strVal val="#ppt_w"/>
                                          </p:val>
                                        </p:tav>
                                      </p:tavLst>
                                    </p:anim>
                                    <p:anim calcmode="lin" valueType="num">
                                      <p:cBhvr>
                                        <p:cTn id="32" dur="500" fill="hold"/>
                                        <p:tgtEl>
                                          <p:spTgt spid="91"/>
                                        </p:tgtEl>
                                        <p:attrNameLst>
                                          <p:attrName>ppt_h</p:attrName>
                                        </p:attrNameLst>
                                      </p:cBhvr>
                                      <p:tavLst>
                                        <p:tav tm="0">
                                          <p:val>
                                            <p:strVal val="#ppt_h"/>
                                          </p:val>
                                        </p:tav>
                                        <p:tav tm="100000">
                                          <p:val>
                                            <p:strVal val="#ppt_h"/>
                                          </p:val>
                                        </p:tav>
                                      </p:tavLst>
                                    </p:anim>
                                  </p:childTnLst>
                                </p:cTn>
                              </p:par>
                            </p:childTnLst>
                          </p:cTn>
                        </p:par>
                        <p:par>
                          <p:cTn id="33" fill="hold">
                            <p:stCondLst>
                              <p:cond delay="500"/>
                            </p:stCondLst>
                            <p:childTnLst>
                              <p:par>
                                <p:cTn id="34" presetID="17" presetClass="entr" presetSubtype="8" fill="hold" grpId="0" nodeType="afterEffect">
                                  <p:stCondLst>
                                    <p:cond delay="0"/>
                                  </p:stCondLst>
                                  <p:childTnLst>
                                    <p:set>
                                      <p:cBhvr>
                                        <p:cTn id="35" dur="1" fill="hold">
                                          <p:stCondLst>
                                            <p:cond delay="0"/>
                                          </p:stCondLst>
                                        </p:cTn>
                                        <p:tgtEl>
                                          <p:spTgt spid="69"/>
                                        </p:tgtEl>
                                        <p:attrNameLst>
                                          <p:attrName>style.visibility</p:attrName>
                                        </p:attrNameLst>
                                      </p:cBhvr>
                                      <p:to>
                                        <p:strVal val="visible"/>
                                      </p:to>
                                    </p:set>
                                    <p:anim calcmode="lin" valueType="num">
                                      <p:cBhvr>
                                        <p:cTn id="36" dur="500" fill="hold"/>
                                        <p:tgtEl>
                                          <p:spTgt spid="69"/>
                                        </p:tgtEl>
                                        <p:attrNameLst>
                                          <p:attrName>ppt_x</p:attrName>
                                        </p:attrNameLst>
                                      </p:cBhvr>
                                      <p:tavLst>
                                        <p:tav tm="0">
                                          <p:val>
                                            <p:strVal val="#ppt_x-#ppt_w/2"/>
                                          </p:val>
                                        </p:tav>
                                        <p:tav tm="100000">
                                          <p:val>
                                            <p:strVal val="#ppt_x"/>
                                          </p:val>
                                        </p:tav>
                                      </p:tavLst>
                                    </p:anim>
                                    <p:anim calcmode="lin" valueType="num">
                                      <p:cBhvr>
                                        <p:cTn id="37" dur="500" fill="hold"/>
                                        <p:tgtEl>
                                          <p:spTgt spid="69"/>
                                        </p:tgtEl>
                                        <p:attrNameLst>
                                          <p:attrName>ppt_y</p:attrName>
                                        </p:attrNameLst>
                                      </p:cBhvr>
                                      <p:tavLst>
                                        <p:tav tm="0">
                                          <p:val>
                                            <p:strVal val="#ppt_y"/>
                                          </p:val>
                                        </p:tav>
                                        <p:tav tm="100000">
                                          <p:val>
                                            <p:strVal val="#ppt_y"/>
                                          </p:val>
                                        </p:tav>
                                      </p:tavLst>
                                    </p:anim>
                                    <p:anim calcmode="lin" valueType="num">
                                      <p:cBhvr>
                                        <p:cTn id="38" dur="500" fill="hold"/>
                                        <p:tgtEl>
                                          <p:spTgt spid="69"/>
                                        </p:tgtEl>
                                        <p:attrNameLst>
                                          <p:attrName>ppt_w</p:attrName>
                                        </p:attrNameLst>
                                      </p:cBhvr>
                                      <p:tavLst>
                                        <p:tav tm="0">
                                          <p:val>
                                            <p:fltVal val="0"/>
                                          </p:val>
                                        </p:tav>
                                        <p:tav tm="100000">
                                          <p:val>
                                            <p:strVal val="#ppt_w"/>
                                          </p:val>
                                        </p:tav>
                                      </p:tavLst>
                                    </p:anim>
                                    <p:anim calcmode="lin" valueType="num">
                                      <p:cBhvr>
                                        <p:cTn id="39" dur="500" fill="hold"/>
                                        <p:tgtEl>
                                          <p:spTgt spid="69"/>
                                        </p:tgtEl>
                                        <p:attrNameLst>
                                          <p:attrName>ppt_h</p:attrName>
                                        </p:attrNameLst>
                                      </p:cBhvr>
                                      <p:tavLst>
                                        <p:tav tm="0">
                                          <p:val>
                                            <p:strVal val="#ppt_h"/>
                                          </p:val>
                                        </p:tav>
                                        <p:tav tm="100000">
                                          <p:val>
                                            <p:strVal val="#ppt_h"/>
                                          </p:val>
                                        </p:tav>
                                      </p:tavLst>
                                    </p:anim>
                                  </p:childTnLst>
                                </p:cTn>
                              </p:par>
                            </p:childTnLst>
                          </p:cTn>
                        </p:par>
                        <p:par>
                          <p:cTn id="40" fill="hold">
                            <p:stCondLst>
                              <p:cond delay="1000"/>
                            </p:stCondLst>
                            <p:childTnLst>
                              <p:par>
                                <p:cTn id="41" presetID="17" presetClass="entr" presetSubtype="8" fill="hold" nodeType="afterEffect">
                                  <p:stCondLst>
                                    <p:cond delay="0"/>
                                  </p:stCondLst>
                                  <p:childTnLst>
                                    <p:set>
                                      <p:cBhvr>
                                        <p:cTn id="42" dur="1" fill="hold">
                                          <p:stCondLst>
                                            <p:cond delay="0"/>
                                          </p:stCondLst>
                                        </p:cTn>
                                        <p:tgtEl>
                                          <p:spTgt spid="83"/>
                                        </p:tgtEl>
                                        <p:attrNameLst>
                                          <p:attrName>style.visibility</p:attrName>
                                        </p:attrNameLst>
                                      </p:cBhvr>
                                      <p:to>
                                        <p:strVal val="visible"/>
                                      </p:to>
                                    </p:set>
                                    <p:anim calcmode="lin" valueType="num">
                                      <p:cBhvr>
                                        <p:cTn id="43" dur="500" fill="hold"/>
                                        <p:tgtEl>
                                          <p:spTgt spid="83"/>
                                        </p:tgtEl>
                                        <p:attrNameLst>
                                          <p:attrName>ppt_x</p:attrName>
                                        </p:attrNameLst>
                                      </p:cBhvr>
                                      <p:tavLst>
                                        <p:tav tm="0">
                                          <p:val>
                                            <p:strVal val="#ppt_x-#ppt_w/2"/>
                                          </p:val>
                                        </p:tav>
                                        <p:tav tm="100000">
                                          <p:val>
                                            <p:strVal val="#ppt_x"/>
                                          </p:val>
                                        </p:tav>
                                      </p:tavLst>
                                    </p:anim>
                                    <p:anim calcmode="lin" valueType="num">
                                      <p:cBhvr>
                                        <p:cTn id="44" dur="500" fill="hold"/>
                                        <p:tgtEl>
                                          <p:spTgt spid="83"/>
                                        </p:tgtEl>
                                        <p:attrNameLst>
                                          <p:attrName>ppt_y</p:attrName>
                                        </p:attrNameLst>
                                      </p:cBhvr>
                                      <p:tavLst>
                                        <p:tav tm="0">
                                          <p:val>
                                            <p:strVal val="#ppt_y"/>
                                          </p:val>
                                        </p:tav>
                                        <p:tav tm="100000">
                                          <p:val>
                                            <p:strVal val="#ppt_y"/>
                                          </p:val>
                                        </p:tav>
                                      </p:tavLst>
                                    </p:anim>
                                    <p:anim calcmode="lin" valueType="num">
                                      <p:cBhvr>
                                        <p:cTn id="45" dur="500" fill="hold"/>
                                        <p:tgtEl>
                                          <p:spTgt spid="83"/>
                                        </p:tgtEl>
                                        <p:attrNameLst>
                                          <p:attrName>ppt_w</p:attrName>
                                        </p:attrNameLst>
                                      </p:cBhvr>
                                      <p:tavLst>
                                        <p:tav tm="0">
                                          <p:val>
                                            <p:fltVal val="0"/>
                                          </p:val>
                                        </p:tav>
                                        <p:tav tm="100000">
                                          <p:val>
                                            <p:strVal val="#ppt_w"/>
                                          </p:val>
                                        </p:tav>
                                      </p:tavLst>
                                    </p:anim>
                                    <p:anim calcmode="lin" valueType="num">
                                      <p:cBhvr>
                                        <p:cTn id="46" dur="500" fill="hold"/>
                                        <p:tgtEl>
                                          <p:spTgt spid="83"/>
                                        </p:tgtEl>
                                        <p:attrNameLst>
                                          <p:attrName>ppt_h</p:attrName>
                                        </p:attrNameLst>
                                      </p:cBhvr>
                                      <p:tavLst>
                                        <p:tav tm="0">
                                          <p:val>
                                            <p:strVal val="#ppt_h"/>
                                          </p:val>
                                        </p:tav>
                                        <p:tav tm="100000">
                                          <p:val>
                                            <p:strVal val="#ppt_h"/>
                                          </p:val>
                                        </p:tav>
                                      </p:tavLst>
                                    </p:anim>
                                  </p:childTnLst>
                                </p:cTn>
                              </p:par>
                            </p:childTnLst>
                          </p:cTn>
                        </p:par>
                      </p:childTnLst>
                    </p:cTn>
                  </p:par>
                  <p:par>
                    <p:cTn id="47" fill="hold">
                      <p:stCondLst>
                        <p:cond delay="indefinite"/>
                      </p:stCondLst>
                      <p:childTnLst>
                        <p:par>
                          <p:cTn id="48" fill="hold">
                            <p:stCondLst>
                              <p:cond delay="0"/>
                            </p:stCondLst>
                            <p:childTnLst>
                              <p:par>
                                <p:cTn id="49" presetID="17" presetClass="entr" presetSubtype="8" fill="hold" grpId="0" nodeType="clickEffect">
                                  <p:stCondLst>
                                    <p:cond delay="0"/>
                                  </p:stCondLst>
                                  <p:childTnLst>
                                    <p:set>
                                      <p:cBhvr>
                                        <p:cTn id="50" dur="1" fill="hold">
                                          <p:stCondLst>
                                            <p:cond delay="0"/>
                                          </p:stCondLst>
                                        </p:cTn>
                                        <p:tgtEl>
                                          <p:spTgt spid="106"/>
                                        </p:tgtEl>
                                        <p:attrNameLst>
                                          <p:attrName>style.visibility</p:attrName>
                                        </p:attrNameLst>
                                      </p:cBhvr>
                                      <p:to>
                                        <p:strVal val="visible"/>
                                      </p:to>
                                    </p:set>
                                    <p:anim calcmode="lin" valueType="num">
                                      <p:cBhvr>
                                        <p:cTn id="51" dur="500" fill="hold"/>
                                        <p:tgtEl>
                                          <p:spTgt spid="106"/>
                                        </p:tgtEl>
                                        <p:attrNameLst>
                                          <p:attrName>ppt_x</p:attrName>
                                        </p:attrNameLst>
                                      </p:cBhvr>
                                      <p:tavLst>
                                        <p:tav tm="0">
                                          <p:val>
                                            <p:strVal val="#ppt_x-#ppt_w/2"/>
                                          </p:val>
                                        </p:tav>
                                        <p:tav tm="100000">
                                          <p:val>
                                            <p:strVal val="#ppt_x"/>
                                          </p:val>
                                        </p:tav>
                                      </p:tavLst>
                                    </p:anim>
                                    <p:anim calcmode="lin" valueType="num">
                                      <p:cBhvr>
                                        <p:cTn id="52" dur="500" fill="hold"/>
                                        <p:tgtEl>
                                          <p:spTgt spid="106"/>
                                        </p:tgtEl>
                                        <p:attrNameLst>
                                          <p:attrName>ppt_y</p:attrName>
                                        </p:attrNameLst>
                                      </p:cBhvr>
                                      <p:tavLst>
                                        <p:tav tm="0">
                                          <p:val>
                                            <p:strVal val="#ppt_y"/>
                                          </p:val>
                                        </p:tav>
                                        <p:tav tm="100000">
                                          <p:val>
                                            <p:strVal val="#ppt_y"/>
                                          </p:val>
                                        </p:tav>
                                      </p:tavLst>
                                    </p:anim>
                                    <p:anim calcmode="lin" valueType="num">
                                      <p:cBhvr>
                                        <p:cTn id="53" dur="500" fill="hold"/>
                                        <p:tgtEl>
                                          <p:spTgt spid="106"/>
                                        </p:tgtEl>
                                        <p:attrNameLst>
                                          <p:attrName>ppt_w</p:attrName>
                                        </p:attrNameLst>
                                      </p:cBhvr>
                                      <p:tavLst>
                                        <p:tav tm="0">
                                          <p:val>
                                            <p:fltVal val="0"/>
                                          </p:val>
                                        </p:tav>
                                        <p:tav tm="100000">
                                          <p:val>
                                            <p:strVal val="#ppt_w"/>
                                          </p:val>
                                        </p:tav>
                                      </p:tavLst>
                                    </p:anim>
                                    <p:anim calcmode="lin" valueType="num">
                                      <p:cBhvr>
                                        <p:cTn id="54" dur="500" fill="hold"/>
                                        <p:tgtEl>
                                          <p:spTgt spid="106"/>
                                        </p:tgtEl>
                                        <p:attrNameLst>
                                          <p:attrName>ppt_h</p:attrName>
                                        </p:attrNameLst>
                                      </p:cBhvr>
                                      <p:tavLst>
                                        <p:tav tm="0">
                                          <p:val>
                                            <p:strVal val="#ppt_h"/>
                                          </p:val>
                                        </p:tav>
                                        <p:tav tm="100000">
                                          <p:val>
                                            <p:strVal val="#ppt_h"/>
                                          </p:val>
                                        </p:tav>
                                      </p:tavLst>
                                    </p:anim>
                                  </p:childTnLst>
                                </p:cTn>
                              </p:par>
                            </p:childTnLst>
                          </p:cTn>
                        </p:par>
                        <p:par>
                          <p:cTn id="55" fill="hold">
                            <p:stCondLst>
                              <p:cond delay="500"/>
                            </p:stCondLst>
                            <p:childTnLst>
                              <p:par>
                                <p:cTn id="56" presetID="17" presetClass="entr" presetSubtype="2" fill="hold" grpId="0" nodeType="afterEffect">
                                  <p:stCondLst>
                                    <p:cond delay="0"/>
                                  </p:stCondLst>
                                  <p:childTnLst>
                                    <p:set>
                                      <p:cBhvr>
                                        <p:cTn id="57" dur="1" fill="hold">
                                          <p:stCondLst>
                                            <p:cond delay="0"/>
                                          </p:stCondLst>
                                        </p:cTn>
                                        <p:tgtEl>
                                          <p:spTgt spid="70"/>
                                        </p:tgtEl>
                                        <p:attrNameLst>
                                          <p:attrName>style.visibility</p:attrName>
                                        </p:attrNameLst>
                                      </p:cBhvr>
                                      <p:to>
                                        <p:strVal val="visible"/>
                                      </p:to>
                                    </p:set>
                                    <p:anim calcmode="lin" valueType="num">
                                      <p:cBhvr>
                                        <p:cTn id="58" dur="500" fill="hold"/>
                                        <p:tgtEl>
                                          <p:spTgt spid="70"/>
                                        </p:tgtEl>
                                        <p:attrNameLst>
                                          <p:attrName>ppt_x</p:attrName>
                                        </p:attrNameLst>
                                      </p:cBhvr>
                                      <p:tavLst>
                                        <p:tav tm="0">
                                          <p:val>
                                            <p:strVal val="#ppt_x+#ppt_w/2"/>
                                          </p:val>
                                        </p:tav>
                                        <p:tav tm="100000">
                                          <p:val>
                                            <p:strVal val="#ppt_x"/>
                                          </p:val>
                                        </p:tav>
                                      </p:tavLst>
                                    </p:anim>
                                    <p:anim calcmode="lin" valueType="num">
                                      <p:cBhvr>
                                        <p:cTn id="59" dur="500" fill="hold"/>
                                        <p:tgtEl>
                                          <p:spTgt spid="70"/>
                                        </p:tgtEl>
                                        <p:attrNameLst>
                                          <p:attrName>ppt_y</p:attrName>
                                        </p:attrNameLst>
                                      </p:cBhvr>
                                      <p:tavLst>
                                        <p:tav tm="0">
                                          <p:val>
                                            <p:strVal val="#ppt_y"/>
                                          </p:val>
                                        </p:tav>
                                        <p:tav tm="100000">
                                          <p:val>
                                            <p:strVal val="#ppt_y"/>
                                          </p:val>
                                        </p:tav>
                                      </p:tavLst>
                                    </p:anim>
                                    <p:anim calcmode="lin" valueType="num">
                                      <p:cBhvr>
                                        <p:cTn id="60" dur="500" fill="hold"/>
                                        <p:tgtEl>
                                          <p:spTgt spid="70"/>
                                        </p:tgtEl>
                                        <p:attrNameLst>
                                          <p:attrName>ppt_w</p:attrName>
                                        </p:attrNameLst>
                                      </p:cBhvr>
                                      <p:tavLst>
                                        <p:tav tm="0">
                                          <p:val>
                                            <p:fltVal val="0"/>
                                          </p:val>
                                        </p:tav>
                                        <p:tav tm="100000">
                                          <p:val>
                                            <p:strVal val="#ppt_w"/>
                                          </p:val>
                                        </p:tav>
                                      </p:tavLst>
                                    </p:anim>
                                    <p:anim calcmode="lin" valueType="num">
                                      <p:cBhvr>
                                        <p:cTn id="61" dur="500" fill="hold"/>
                                        <p:tgtEl>
                                          <p:spTgt spid="70"/>
                                        </p:tgtEl>
                                        <p:attrNameLst>
                                          <p:attrName>ppt_h</p:attrName>
                                        </p:attrNameLst>
                                      </p:cBhvr>
                                      <p:tavLst>
                                        <p:tav tm="0">
                                          <p:val>
                                            <p:strVal val="#ppt_h"/>
                                          </p:val>
                                        </p:tav>
                                        <p:tav tm="100000">
                                          <p:val>
                                            <p:strVal val="#ppt_h"/>
                                          </p:val>
                                        </p:tav>
                                      </p:tavLst>
                                    </p:anim>
                                  </p:childTnLst>
                                </p:cTn>
                              </p:par>
                            </p:childTnLst>
                          </p:cTn>
                        </p:par>
                        <p:par>
                          <p:cTn id="62" fill="hold">
                            <p:stCondLst>
                              <p:cond delay="1000"/>
                            </p:stCondLst>
                            <p:childTnLst>
                              <p:par>
                                <p:cTn id="63" presetID="17" presetClass="entr" presetSubtype="2" fill="hold" nodeType="afterEffect">
                                  <p:stCondLst>
                                    <p:cond delay="0"/>
                                  </p:stCondLst>
                                  <p:childTnLst>
                                    <p:set>
                                      <p:cBhvr>
                                        <p:cTn id="64" dur="1" fill="hold">
                                          <p:stCondLst>
                                            <p:cond delay="0"/>
                                          </p:stCondLst>
                                        </p:cTn>
                                        <p:tgtEl>
                                          <p:spTgt spid="92"/>
                                        </p:tgtEl>
                                        <p:attrNameLst>
                                          <p:attrName>style.visibility</p:attrName>
                                        </p:attrNameLst>
                                      </p:cBhvr>
                                      <p:to>
                                        <p:strVal val="visible"/>
                                      </p:to>
                                    </p:set>
                                    <p:anim calcmode="lin" valueType="num">
                                      <p:cBhvr>
                                        <p:cTn id="65" dur="500" fill="hold"/>
                                        <p:tgtEl>
                                          <p:spTgt spid="92"/>
                                        </p:tgtEl>
                                        <p:attrNameLst>
                                          <p:attrName>ppt_x</p:attrName>
                                        </p:attrNameLst>
                                      </p:cBhvr>
                                      <p:tavLst>
                                        <p:tav tm="0">
                                          <p:val>
                                            <p:strVal val="#ppt_x+#ppt_w/2"/>
                                          </p:val>
                                        </p:tav>
                                        <p:tav tm="100000">
                                          <p:val>
                                            <p:strVal val="#ppt_x"/>
                                          </p:val>
                                        </p:tav>
                                      </p:tavLst>
                                    </p:anim>
                                    <p:anim calcmode="lin" valueType="num">
                                      <p:cBhvr>
                                        <p:cTn id="66" dur="500" fill="hold"/>
                                        <p:tgtEl>
                                          <p:spTgt spid="92"/>
                                        </p:tgtEl>
                                        <p:attrNameLst>
                                          <p:attrName>ppt_y</p:attrName>
                                        </p:attrNameLst>
                                      </p:cBhvr>
                                      <p:tavLst>
                                        <p:tav tm="0">
                                          <p:val>
                                            <p:strVal val="#ppt_y"/>
                                          </p:val>
                                        </p:tav>
                                        <p:tav tm="100000">
                                          <p:val>
                                            <p:strVal val="#ppt_y"/>
                                          </p:val>
                                        </p:tav>
                                      </p:tavLst>
                                    </p:anim>
                                    <p:anim calcmode="lin" valueType="num">
                                      <p:cBhvr>
                                        <p:cTn id="67" dur="500" fill="hold"/>
                                        <p:tgtEl>
                                          <p:spTgt spid="92"/>
                                        </p:tgtEl>
                                        <p:attrNameLst>
                                          <p:attrName>ppt_w</p:attrName>
                                        </p:attrNameLst>
                                      </p:cBhvr>
                                      <p:tavLst>
                                        <p:tav tm="0">
                                          <p:val>
                                            <p:fltVal val="0"/>
                                          </p:val>
                                        </p:tav>
                                        <p:tav tm="100000">
                                          <p:val>
                                            <p:strVal val="#ppt_w"/>
                                          </p:val>
                                        </p:tav>
                                      </p:tavLst>
                                    </p:anim>
                                    <p:anim calcmode="lin" valueType="num">
                                      <p:cBhvr>
                                        <p:cTn id="68" dur="500" fill="hold"/>
                                        <p:tgtEl>
                                          <p:spTgt spid="92"/>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7" presetClass="entr" presetSubtype="2" fill="hold" grpId="0" nodeType="clickEffect">
                                  <p:stCondLst>
                                    <p:cond delay="0"/>
                                  </p:stCondLst>
                                  <p:childTnLst>
                                    <p:set>
                                      <p:cBhvr>
                                        <p:cTn id="72" dur="1" fill="hold">
                                          <p:stCondLst>
                                            <p:cond delay="0"/>
                                          </p:stCondLst>
                                        </p:cTn>
                                        <p:tgtEl>
                                          <p:spTgt spid="107"/>
                                        </p:tgtEl>
                                        <p:attrNameLst>
                                          <p:attrName>style.visibility</p:attrName>
                                        </p:attrNameLst>
                                      </p:cBhvr>
                                      <p:to>
                                        <p:strVal val="visible"/>
                                      </p:to>
                                    </p:set>
                                    <p:anim calcmode="lin" valueType="num">
                                      <p:cBhvr>
                                        <p:cTn id="73" dur="500" fill="hold"/>
                                        <p:tgtEl>
                                          <p:spTgt spid="107"/>
                                        </p:tgtEl>
                                        <p:attrNameLst>
                                          <p:attrName>ppt_x</p:attrName>
                                        </p:attrNameLst>
                                      </p:cBhvr>
                                      <p:tavLst>
                                        <p:tav tm="0">
                                          <p:val>
                                            <p:strVal val="#ppt_x+#ppt_w/2"/>
                                          </p:val>
                                        </p:tav>
                                        <p:tav tm="100000">
                                          <p:val>
                                            <p:strVal val="#ppt_x"/>
                                          </p:val>
                                        </p:tav>
                                      </p:tavLst>
                                    </p:anim>
                                    <p:anim calcmode="lin" valueType="num">
                                      <p:cBhvr>
                                        <p:cTn id="74" dur="500" fill="hold"/>
                                        <p:tgtEl>
                                          <p:spTgt spid="107"/>
                                        </p:tgtEl>
                                        <p:attrNameLst>
                                          <p:attrName>ppt_y</p:attrName>
                                        </p:attrNameLst>
                                      </p:cBhvr>
                                      <p:tavLst>
                                        <p:tav tm="0">
                                          <p:val>
                                            <p:strVal val="#ppt_y"/>
                                          </p:val>
                                        </p:tav>
                                        <p:tav tm="100000">
                                          <p:val>
                                            <p:strVal val="#ppt_y"/>
                                          </p:val>
                                        </p:tav>
                                      </p:tavLst>
                                    </p:anim>
                                    <p:anim calcmode="lin" valueType="num">
                                      <p:cBhvr>
                                        <p:cTn id="75" dur="500" fill="hold"/>
                                        <p:tgtEl>
                                          <p:spTgt spid="107"/>
                                        </p:tgtEl>
                                        <p:attrNameLst>
                                          <p:attrName>ppt_w</p:attrName>
                                        </p:attrNameLst>
                                      </p:cBhvr>
                                      <p:tavLst>
                                        <p:tav tm="0">
                                          <p:val>
                                            <p:fltVal val="0"/>
                                          </p:val>
                                        </p:tav>
                                        <p:tav tm="100000">
                                          <p:val>
                                            <p:strVal val="#ppt_w"/>
                                          </p:val>
                                        </p:tav>
                                      </p:tavLst>
                                    </p:anim>
                                    <p:anim calcmode="lin" valueType="num">
                                      <p:cBhvr>
                                        <p:cTn id="76" dur="500" fill="hold"/>
                                        <p:tgtEl>
                                          <p:spTgt spid="107"/>
                                        </p:tgtEl>
                                        <p:attrNameLst>
                                          <p:attrName>ppt_h</p:attrName>
                                        </p:attrNameLst>
                                      </p:cBhvr>
                                      <p:tavLst>
                                        <p:tav tm="0">
                                          <p:val>
                                            <p:strVal val="#ppt_h"/>
                                          </p:val>
                                        </p:tav>
                                        <p:tav tm="100000">
                                          <p:val>
                                            <p:strVal val="#ppt_h"/>
                                          </p:val>
                                        </p:tav>
                                      </p:tavLst>
                                    </p:anim>
                                  </p:childTnLst>
                                </p:cTn>
                              </p:par>
                            </p:childTnLst>
                          </p:cTn>
                        </p:par>
                        <p:par>
                          <p:cTn id="77" fill="hold">
                            <p:stCondLst>
                              <p:cond delay="500"/>
                            </p:stCondLst>
                            <p:childTnLst>
                              <p:par>
                                <p:cTn id="78" presetID="17" presetClass="entr" presetSubtype="8" fill="hold" grpId="0" nodeType="afterEffect">
                                  <p:stCondLst>
                                    <p:cond delay="0"/>
                                  </p:stCondLst>
                                  <p:childTnLst>
                                    <p:set>
                                      <p:cBhvr>
                                        <p:cTn id="79" dur="1" fill="hold">
                                          <p:stCondLst>
                                            <p:cond delay="0"/>
                                          </p:stCondLst>
                                        </p:cTn>
                                        <p:tgtEl>
                                          <p:spTgt spid="71"/>
                                        </p:tgtEl>
                                        <p:attrNameLst>
                                          <p:attrName>style.visibility</p:attrName>
                                        </p:attrNameLst>
                                      </p:cBhvr>
                                      <p:to>
                                        <p:strVal val="visible"/>
                                      </p:to>
                                    </p:set>
                                    <p:anim calcmode="lin" valueType="num">
                                      <p:cBhvr>
                                        <p:cTn id="80" dur="500" fill="hold"/>
                                        <p:tgtEl>
                                          <p:spTgt spid="71"/>
                                        </p:tgtEl>
                                        <p:attrNameLst>
                                          <p:attrName>ppt_x</p:attrName>
                                        </p:attrNameLst>
                                      </p:cBhvr>
                                      <p:tavLst>
                                        <p:tav tm="0">
                                          <p:val>
                                            <p:strVal val="#ppt_x-#ppt_w/2"/>
                                          </p:val>
                                        </p:tav>
                                        <p:tav tm="100000">
                                          <p:val>
                                            <p:strVal val="#ppt_x"/>
                                          </p:val>
                                        </p:tav>
                                      </p:tavLst>
                                    </p:anim>
                                    <p:anim calcmode="lin" valueType="num">
                                      <p:cBhvr>
                                        <p:cTn id="81" dur="500" fill="hold"/>
                                        <p:tgtEl>
                                          <p:spTgt spid="71"/>
                                        </p:tgtEl>
                                        <p:attrNameLst>
                                          <p:attrName>ppt_y</p:attrName>
                                        </p:attrNameLst>
                                      </p:cBhvr>
                                      <p:tavLst>
                                        <p:tav tm="0">
                                          <p:val>
                                            <p:strVal val="#ppt_y"/>
                                          </p:val>
                                        </p:tav>
                                        <p:tav tm="100000">
                                          <p:val>
                                            <p:strVal val="#ppt_y"/>
                                          </p:val>
                                        </p:tav>
                                      </p:tavLst>
                                    </p:anim>
                                    <p:anim calcmode="lin" valueType="num">
                                      <p:cBhvr>
                                        <p:cTn id="82" dur="500" fill="hold"/>
                                        <p:tgtEl>
                                          <p:spTgt spid="71"/>
                                        </p:tgtEl>
                                        <p:attrNameLst>
                                          <p:attrName>ppt_w</p:attrName>
                                        </p:attrNameLst>
                                      </p:cBhvr>
                                      <p:tavLst>
                                        <p:tav tm="0">
                                          <p:val>
                                            <p:fltVal val="0"/>
                                          </p:val>
                                        </p:tav>
                                        <p:tav tm="100000">
                                          <p:val>
                                            <p:strVal val="#ppt_w"/>
                                          </p:val>
                                        </p:tav>
                                      </p:tavLst>
                                    </p:anim>
                                    <p:anim calcmode="lin" valueType="num">
                                      <p:cBhvr>
                                        <p:cTn id="83" dur="500" fill="hold"/>
                                        <p:tgtEl>
                                          <p:spTgt spid="71"/>
                                        </p:tgtEl>
                                        <p:attrNameLst>
                                          <p:attrName>ppt_h</p:attrName>
                                        </p:attrNameLst>
                                      </p:cBhvr>
                                      <p:tavLst>
                                        <p:tav tm="0">
                                          <p:val>
                                            <p:strVal val="#ppt_h"/>
                                          </p:val>
                                        </p:tav>
                                        <p:tav tm="100000">
                                          <p:val>
                                            <p:strVal val="#ppt_h"/>
                                          </p:val>
                                        </p:tav>
                                      </p:tavLst>
                                    </p:anim>
                                  </p:childTnLst>
                                </p:cTn>
                              </p:par>
                            </p:childTnLst>
                          </p:cTn>
                        </p:par>
                        <p:par>
                          <p:cTn id="84" fill="hold">
                            <p:stCondLst>
                              <p:cond delay="1000"/>
                            </p:stCondLst>
                            <p:childTnLst>
                              <p:par>
                                <p:cTn id="85" presetID="17" presetClass="entr" presetSubtype="8" fill="hold" nodeType="afterEffect">
                                  <p:stCondLst>
                                    <p:cond delay="0"/>
                                  </p:stCondLst>
                                  <p:childTnLst>
                                    <p:set>
                                      <p:cBhvr>
                                        <p:cTn id="86" dur="1" fill="hold">
                                          <p:stCondLst>
                                            <p:cond delay="0"/>
                                          </p:stCondLst>
                                        </p:cTn>
                                        <p:tgtEl>
                                          <p:spTgt spid="99"/>
                                        </p:tgtEl>
                                        <p:attrNameLst>
                                          <p:attrName>style.visibility</p:attrName>
                                        </p:attrNameLst>
                                      </p:cBhvr>
                                      <p:to>
                                        <p:strVal val="visible"/>
                                      </p:to>
                                    </p:set>
                                    <p:anim calcmode="lin" valueType="num">
                                      <p:cBhvr>
                                        <p:cTn id="87" dur="500" fill="hold"/>
                                        <p:tgtEl>
                                          <p:spTgt spid="99"/>
                                        </p:tgtEl>
                                        <p:attrNameLst>
                                          <p:attrName>ppt_x</p:attrName>
                                        </p:attrNameLst>
                                      </p:cBhvr>
                                      <p:tavLst>
                                        <p:tav tm="0">
                                          <p:val>
                                            <p:strVal val="#ppt_x-#ppt_w/2"/>
                                          </p:val>
                                        </p:tav>
                                        <p:tav tm="100000">
                                          <p:val>
                                            <p:strVal val="#ppt_x"/>
                                          </p:val>
                                        </p:tav>
                                      </p:tavLst>
                                    </p:anim>
                                    <p:anim calcmode="lin" valueType="num">
                                      <p:cBhvr>
                                        <p:cTn id="88" dur="500" fill="hold"/>
                                        <p:tgtEl>
                                          <p:spTgt spid="99"/>
                                        </p:tgtEl>
                                        <p:attrNameLst>
                                          <p:attrName>ppt_y</p:attrName>
                                        </p:attrNameLst>
                                      </p:cBhvr>
                                      <p:tavLst>
                                        <p:tav tm="0">
                                          <p:val>
                                            <p:strVal val="#ppt_y"/>
                                          </p:val>
                                        </p:tav>
                                        <p:tav tm="100000">
                                          <p:val>
                                            <p:strVal val="#ppt_y"/>
                                          </p:val>
                                        </p:tav>
                                      </p:tavLst>
                                    </p:anim>
                                    <p:anim calcmode="lin" valueType="num">
                                      <p:cBhvr>
                                        <p:cTn id="89" dur="500" fill="hold"/>
                                        <p:tgtEl>
                                          <p:spTgt spid="99"/>
                                        </p:tgtEl>
                                        <p:attrNameLst>
                                          <p:attrName>ppt_w</p:attrName>
                                        </p:attrNameLst>
                                      </p:cBhvr>
                                      <p:tavLst>
                                        <p:tav tm="0">
                                          <p:val>
                                            <p:fltVal val="0"/>
                                          </p:val>
                                        </p:tav>
                                        <p:tav tm="100000">
                                          <p:val>
                                            <p:strVal val="#ppt_w"/>
                                          </p:val>
                                        </p:tav>
                                      </p:tavLst>
                                    </p:anim>
                                    <p:anim calcmode="lin" valueType="num">
                                      <p:cBhvr>
                                        <p:cTn id="90" dur="500" fill="hold"/>
                                        <p:tgtEl>
                                          <p:spTgt spid="99"/>
                                        </p:tgtEl>
                                        <p:attrNameLst>
                                          <p:attrName>ppt_h</p:attrName>
                                        </p:attrNameLst>
                                      </p:cBhvr>
                                      <p:tavLst>
                                        <p:tav tm="0">
                                          <p:val>
                                            <p:strVal val="#ppt_h"/>
                                          </p:val>
                                        </p:tav>
                                        <p:tav tm="100000">
                                          <p:val>
                                            <p:strVal val="#ppt_h"/>
                                          </p:val>
                                        </p:tav>
                                      </p:tavLst>
                                    </p:anim>
                                  </p:childTnLst>
                                </p:cTn>
                              </p:par>
                            </p:childTnLst>
                          </p:cTn>
                        </p:par>
                        <p:par>
                          <p:cTn id="91" fill="hold">
                            <p:stCondLst>
                              <p:cond delay="1500"/>
                            </p:stCondLst>
                            <p:childTnLst>
                              <p:par>
                                <p:cTn id="92" presetID="10" presetClass="entr" presetSubtype="0" fill="hold" grpId="0" nodeType="afterEffect">
                                  <p:stCondLst>
                                    <p:cond delay="0"/>
                                  </p:stCondLst>
                                  <p:childTnLst>
                                    <p:set>
                                      <p:cBhvr>
                                        <p:cTn id="93" dur="1" fill="hold">
                                          <p:stCondLst>
                                            <p:cond delay="0"/>
                                          </p:stCondLst>
                                        </p:cTn>
                                        <p:tgtEl>
                                          <p:spTgt spid="63"/>
                                        </p:tgtEl>
                                        <p:attrNameLst>
                                          <p:attrName>style.visibility</p:attrName>
                                        </p:attrNameLst>
                                      </p:cBhvr>
                                      <p:to>
                                        <p:strVal val="visible"/>
                                      </p:to>
                                    </p:set>
                                    <p:animEffect transition="in" filter="fade">
                                      <p:cBhvr>
                                        <p:cTn id="94" dur="500"/>
                                        <p:tgtEl>
                                          <p:spTgt spid="63"/>
                                        </p:tgtEl>
                                      </p:cBhvr>
                                    </p:animEffect>
                                  </p:childTnLst>
                                </p:cTn>
                              </p:par>
                            </p:childTnLst>
                          </p:cTn>
                        </p:par>
                      </p:childTnLst>
                    </p:cTn>
                  </p:par>
                  <p:par>
                    <p:cTn id="95" fill="hold">
                      <p:stCondLst>
                        <p:cond delay="indefinite"/>
                      </p:stCondLst>
                      <p:childTnLst>
                        <p:par>
                          <p:cTn id="96" fill="hold">
                            <p:stCondLst>
                              <p:cond delay="0"/>
                            </p:stCondLst>
                            <p:childTnLst>
                              <p:par>
                                <p:cTn id="97" presetID="17" presetClass="entr" presetSubtype="8" fill="hold" grpId="0" nodeType="clickEffect">
                                  <p:stCondLst>
                                    <p:cond delay="0"/>
                                  </p:stCondLst>
                                  <p:childTnLst>
                                    <p:set>
                                      <p:cBhvr>
                                        <p:cTn id="98" dur="1" fill="hold">
                                          <p:stCondLst>
                                            <p:cond delay="0"/>
                                          </p:stCondLst>
                                        </p:cTn>
                                        <p:tgtEl>
                                          <p:spTgt spid="115"/>
                                        </p:tgtEl>
                                        <p:attrNameLst>
                                          <p:attrName>style.visibility</p:attrName>
                                        </p:attrNameLst>
                                      </p:cBhvr>
                                      <p:to>
                                        <p:strVal val="visible"/>
                                      </p:to>
                                    </p:set>
                                    <p:anim calcmode="lin" valueType="num">
                                      <p:cBhvr>
                                        <p:cTn id="99" dur="500" fill="hold"/>
                                        <p:tgtEl>
                                          <p:spTgt spid="115"/>
                                        </p:tgtEl>
                                        <p:attrNameLst>
                                          <p:attrName>ppt_x</p:attrName>
                                        </p:attrNameLst>
                                      </p:cBhvr>
                                      <p:tavLst>
                                        <p:tav tm="0">
                                          <p:val>
                                            <p:strVal val="#ppt_x-#ppt_w/2"/>
                                          </p:val>
                                        </p:tav>
                                        <p:tav tm="100000">
                                          <p:val>
                                            <p:strVal val="#ppt_x"/>
                                          </p:val>
                                        </p:tav>
                                      </p:tavLst>
                                    </p:anim>
                                    <p:anim calcmode="lin" valueType="num">
                                      <p:cBhvr>
                                        <p:cTn id="100" dur="500" fill="hold"/>
                                        <p:tgtEl>
                                          <p:spTgt spid="115"/>
                                        </p:tgtEl>
                                        <p:attrNameLst>
                                          <p:attrName>ppt_y</p:attrName>
                                        </p:attrNameLst>
                                      </p:cBhvr>
                                      <p:tavLst>
                                        <p:tav tm="0">
                                          <p:val>
                                            <p:strVal val="#ppt_y"/>
                                          </p:val>
                                        </p:tav>
                                        <p:tav tm="100000">
                                          <p:val>
                                            <p:strVal val="#ppt_y"/>
                                          </p:val>
                                        </p:tav>
                                      </p:tavLst>
                                    </p:anim>
                                    <p:anim calcmode="lin" valueType="num">
                                      <p:cBhvr>
                                        <p:cTn id="101" dur="500" fill="hold"/>
                                        <p:tgtEl>
                                          <p:spTgt spid="115"/>
                                        </p:tgtEl>
                                        <p:attrNameLst>
                                          <p:attrName>ppt_w</p:attrName>
                                        </p:attrNameLst>
                                      </p:cBhvr>
                                      <p:tavLst>
                                        <p:tav tm="0">
                                          <p:val>
                                            <p:fltVal val="0"/>
                                          </p:val>
                                        </p:tav>
                                        <p:tav tm="100000">
                                          <p:val>
                                            <p:strVal val="#ppt_w"/>
                                          </p:val>
                                        </p:tav>
                                      </p:tavLst>
                                    </p:anim>
                                    <p:anim calcmode="lin" valueType="num">
                                      <p:cBhvr>
                                        <p:cTn id="102" dur="500" fill="hold"/>
                                        <p:tgtEl>
                                          <p:spTgt spid="115"/>
                                        </p:tgtEl>
                                        <p:attrNameLst>
                                          <p:attrName>ppt_h</p:attrName>
                                        </p:attrNameLst>
                                      </p:cBhvr>
                                      <p:tavLst>
                                        <p:tav tm="0">
                                          <p:val>
                                            <p:strVal val="#ppt_h"/>
                                          </p:val>
                                        </p:tav>
                                        <p:tav tm="100000">
                                          <p:val>
                                            <p:strVal val="#ppt_h"/>
                                          </p:val>
                                        </p:tav>
                                      </p:tavLst>
                                    </p:anim>
                                  </p:childTnLst>
                                </p:cTn>
                              </p:par>
                            </p:childTnLst>
                          </p:cTn>
                        </p:par>
                        <p:par>
                          <p:cTn id="103" fill="hold">
                            <p:stCondLst>
                              <p:cond delay="500"/>
                            </p:stCondLst>
                            <p:childTnLst>
                              <p:par>
                                <p:cTn id="104" presetID="17" presetClass="entr" presetSubtype="2" fill="hold" grpId="0" nodeType="afterEffect">
                                  <p:stCondLst>
                                    <p:cond delay="0"/>
                                  </p:stCondLst>
                                  <p:childTnLst>
                                    <p:set>
                                      <p:cBhvr>
                                        <p:cTn id="105" dur="1" fill="hold">
                                          <p:stCondLst>
                                            <p:cond delay="0"/>
                                          </p:stCondLst>
                                        </p:cTn>
                                        <p:tgtEl>
                                          <p:spTgt spid="72"/>
                                        </p:tgtEl>
                                        <p:attrNameLst>
                                          <p:attrName>style.visibility</p:attrName>
                                        </p:attrNameLst>
                                      </p:cBhvr>
                                      <p:to>
                                        <p:strVal val="visible"/>
                                      </p:to>
                                    </p:set>
                                    <p:anim calcmode="lin" valueType="num">
                                      <p:cBhvr>
                                        <p:cTn id="106" dur="500" fill="hold"/>
                                        <p:tgtEl>
                                          <p:spTgt spid="72"/>
                                        </p:tgtEl>
                                        <p:attrNameLst>
                                          <p:attrName>ppt_x</p:attrName>
                                        </p:attrNameLst>
                                      </p:cBhvr>
                                      <p:tavLst>
                                        <p:tav tm="0">
                                          <p:val>
                                            <p:strVal val="#ppt_x+#ppt_w/2"/>
                                          </p:val>
                                        </p:tav>
                                        <p:tav tm="100000">
                                          <p:val>
                                            <p:strVal val="#ppt_x"/>
                                          </p:val>
                                        </p:tav>
                                      </p:tavLst>
                                    </p:anim>
                                    <p:anim calcmode="lin" valueType="num">
                                      <p:cBhvr>
                                        <p:cTn id="107" dur="500" fill="hold"/>
                                        <p:tgtEl>
                                          <p:spTgt spid="72"/>
                                        </p:tgtEl>
                                        <p:attrNameLst>
                                          <p:attrName>ppt_y</p:attrName>
                                        </p:attrNameLst>
                                      </p:cBhvr>
                                      <p:tavLst>
                                        <p:tav tm="0">
                                          <p:val>
                                            <p:strVal val="#ppt_y"/>
                                          </p:val>
                                        </p:tav>
                                        <p:tav tm="100000">
                                          <p:val>
                                            <p:strVal val="#ppt_y"/>
                                          </p:val>
                                        </p:tav>
                                      </p:tavLst>
                                    </p:anim>
                                    <p:anim calcmode="lin" valueType="num">
                                      <p:cBhvr>
                                        <p:cTn id="108" dur="500" fill="hold"/>
                                        <p:tgtEl>
                                          <p:spTgt spid="72"/>
                                        </p:tgtEl>
                                        <p:attrNameLst>
                                          <p:attrName>ppt_w</p:attrName>
                                        </p:attrNameLst>
                                      </p:cBhvr>
                                      <p:tavLst>
                                        <p:tav tm="0">
                                          <p:val>
                                            <p:fltVal val="0"/>
                                          </p:val>
                                        </p:tav>
                                        <p:tav tm="100000">
                                          <p:val>
                                            <p:strVal val="#ppt_w"/>
                                          </p:val>
                                        </p:tav>
                                      </p:tavLst>
                                    </p:anim>
                                    <p:anim calcmode="lin" valueType="num">
                                      <p:cBhvr>
                                        <p:cTn id="109" dur="500" fill="hold"/>
                                        <p:tgtEl>
                                          <p:spTgt spid="72"/>
                                        </p:tgtEl>
                                        <p:attrNameLst>
                                          <p:attrName>ppt_h</p:attrName>
                                        </p:attrNameLst>
                                      </p:cBhvr>
                                      <p:tavLst>
                                        <p:tav tm="0">
                                          <p:val>
                                            <p:strVal val="#ppt_h"/>
                                          </p:val>
                                        </p:tav>
                                        <p:tav tm="100000">
                                          <p:val>
                                            <p:strVal val="#ppt_h"/>
                                          </p:val>
                                        </p:tav>
                                      </p:tavLst>
                                    </p:anim>
                                  </p:childTnLst>
                                </p:cTn>
                              </p:par>
                            </p:childTnLst>
                          </p:cTn>
                        </p:par>
                        <p:par>
                          <p:cTn id="110" fill="hold">
                            <p:stCondLst>
                              <p:cond delay="1000"/>
                            </p:stCondLst>
                            <p:childTnLst>
                              <p:par>
                                <p:cTn id="111" presetID="17" presetClass="entr" presetSubtype="2" fill="hold" nodeType="afterEffect">
                                  <p:stCondLst>
                                    <p:cond delay="0"/>
                                  </p:stCondLst>
                                  <p:childTnLst>
                                    <p:set>
                                      <p:cBhvr>
                                        <p:cTn id="112" dur="1" fill="hold">
                                          <p:stCondLst>
                                            <p:cond delay="0"/>
                                          </p:stCondLst>
                                        </p:cTn>
                                        <p:tgtEl>
                                          <p:spTgt spid="108"/>
                                        </p:tgtEl>
                                        <p:attrNameLst>
                                          <p:attrName>style.visibility</p:attrName>
                                        </p:attrNameLst>
                                      </p:cBhvr>
                                      <p:to>
                                        <p:strVal val="visible"/>
                                      </p:to>
                                    </p:set>
                                    <p:anim calcmode="lin" valueType="num">
                                      <p:cBhvr>
                                        <p:cTn id="113" dur="500" fill="hold"/>
                                        <p:tgtEl>
                                          <p:spTgt spid="108"/>
                                        </p:tgtEl>
                                        <p:attrNameLst>
                                          <p:attrName>ppt_x</p:attrName>
                                        </p:attrNameLst>
                                      </p:cBhvr>
                                      <p:tavLst>
                                        <p:tav tm="0">
                                          <p:val>
                                            <p:strVal val="#ppt_x+#ppt_w/2"/>
                                          </p:val>
                                        </p:tav>
                                        <p:tav tm="100000">
                                          <p:val>
                                            <p:strVal val="#ppt_x"/>
                                          </p:val>
                                        </p:tav>
                                      </p:tavLst>
                                    </p:anim>
                                    <p:anim calcmode="lin" valueType="num">
                                      <p:cBhvr>
                                        <p:cTn id="114" dur="500" fill="hold"/>
                                        <p:tgtEl>
                                          <p:spTgt spid="108"/>
                                        </p:tgtEl>
                                        <p:attrNameLst>
                                          <p:attrName>ppt_y</p:attrName>
                                        </p:attrNameLst>
                                      </p:cBhvr>
                                      <p:tavLst>
                                        <p:tav tm="0">
                                          <p:val>
                                            <p:strVal val="#ppt_y"/>
                                          </p:val>
                                        </p:tav>
                                        <p:tav tm="100000">
                                          <p:val>
                                            <p:strVal val="#ppt_y"/>
                                          </p:val>
                                        </p:tav>
                                      </p:tavLst>
                                    </p:anim>
                                    <p:anim calcmode="lin" valueType="num">
                                      <p:cBhvr>
                                        <p:cTn id="115" dur="500" fill="hold"/>
                                        <p:tgtEl>
                                          <p:spTgt spid="108"/>
                                        </p:tgtEl>
                                        <p:attrNameLst>
                                          <p:attrName>ppt_w</p:attrName>
                                        </p:attrNameLst>
                                      </p:cBhvr>
                                      <p:tavLst>
                                        <p:tav tm="0">
                                          <p:val>
                                            <p:fltVal val="0"/>
                                          </p:val>
                                        </p:tav>
                                        <p:tav tm="100000">
                                          <p:val>
                                            <p:strVal val="#ppt_w"/>
                                          </p:val>
                                        </p:tav>
                                      </p:tavLst>
                                    </p:anim>
                                    <p:anim calcmode="lin" valueType="num">
                                      <p:cBhvr>
                                        <p:cTn id="116" dur="500" fill="hold"/>
                                        <p:tgtEl>
                                          <p:spTgt spid="108"/>
                                        </p:tgtEl>
                                        <p:attrNameLst>
                                          <p:attrName>ppt_h</p:attrName>
                                        </p:attrNameLst>
                                      </p:cBhvr>
                                      <p:tavLst>
                                        <p:tav tm="0">
                                          <p:val>
                                            <p:strVal val="#ppt_h"/>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17" presetClass="entr" presetSubtype="2" fill="hold" grpId="0" nodeType="clickEffect">
                                  <p:stCondLst>
                                    <p:cond delay="0"/>
                                  </p:stCondLst>
                                  <p:childTnLst>
                                    <p:set>
                                      <p:cBhvr>
                                        <p:cTn id="120" dur="1" fill="hold">
                                          <p:stCondLst>
                                            <p:cond delay="0"/>
                                          </p:stCondLst>
                                        </p:cTn>
                                        <p:tgtEl>
                                          <p:spTgt spid="122"/>
                                        </p:tgtEl>
                                        <p:attrNameLst>
                                          <p:attrName>style.visibility</p:attrName>
                                        </p:attrNameLst>
                                      </p:cBhvr>
                                      <p:to>
                                        <p:strVal val="visible"/>
                                      </p:to>
                                    </p:set>
                                    <p:anim calcmode="lin" valueType="num">
                                      <p:cBhvr>
                                        <p:cTn id="121" dur="500" fill="hold"/>
                                        <p:tgtEl>
                                          <p:spTgt spid="122"/>
                                        </p:tgtEl>
                                        <p:attrNameLst>
                                          <p:attrName>ppt_x</p:attrName>
                                        </p:attrNameLst>
                                      </p:cBhvr>
                                      <p:tavLst>
                                        <p:tav tm="0">
                                          <p:val>
                                            <p:strVal val="#ppt_x+#ppt_w/2"/>
                                          </p:val>
                                        </p:tav>
                                        <p:tav tm="100000">
                                          <p:val>
                                            <p:strVal val="#ppt_x"/>
                                          </p:val>
                                        </p:tav>
                                      </p:tavLst>
                                    </p:anim>
                                    <p:anim calcmode="lin" valueType="num">
                                      <p:cBhvr>
                                        <p:cTn id="122" dur="500" fill="hold"/>
                                        <p:tgtEl>
                                          <p:spTgt spid="122"/>
                                        </p:tgtEl>
                                        <p:attrNameLst>
                                          <p:attrName>ppt_y</p:attrName>
                                        </p:attrNameLst>
                                      </p:cBhvr>
                                      <p:tavLst>
                                        <p:tav tm="0">
                                          <p:val>
                                            <p:strVal val="#ppt_y"/>
                                          </p:val>
                                        </p:tav>
                                        <p:tav tm="100000">
                                          <p:val>
                                            <p:strVal val="#ppt_y"/>
                                          </p:val>
                                        </p:tav>
                                      </p:tavLst>
                                    </p:anim>
                                    <p:anim calcmode="lin" valueType="num">
                                      <p:cBhvr>
                                        <p:cTn id="123" dur="500" fill="hold"/>
                                        <p:tgtEl>
                                          <p:spTgt spid="122"/>
                                        </p:tgtEl>
                                        <p:attrNameLst>
                                          <p:attrName>ppt_w</p:attrName>
                                        </p:attrNameLst>
                                      </p:cBhvr>
                                      <p:tavLst>
                                        <p:tav tm="0">
                                          <p:val>
                                            <p:fltVal val="0"/>
                                          </p:val>
                                        </p:tav>
                                        <p:tav tm="100000">
                                          <p:val>
                                            <p:strVal val="#ppt_w"/>
                                          </p:val>
                                        </p:tav>
                                      </p:tavLst>
                                    </p:anim>
                                    <p:anim calcmode="lin" valueType="num">
                                      <p:cBhvr>
                                        <p:cTn id="124" dur="500" fill="hold"/>
                                        <p:tgtEl>
                                          <p:spTgt spid="122"/>
                                        </p:tgtEl>
                                        <p:attrNameLst>
                                          <p:attrName>ppt_h</p:attrName>
                                        </p:attrNameLst>
                                      </p:cBhvr>
                                      <p:tavLst>
                                        <p:tav tm="0">
                                          <p:val>
                                            <p:strVal val="#ppt_h"/>
                                          </p:val>
                                        </p:tav>
                                        <p:tav tm="100000">
                                          <p:val>
                                            <p:strVal val="#ppt_h"/>
                                          </p:val>
                                        </p:tav>
                                      </p:tavLst>
                                    </p:anim>
                                  </p:childTnLst>
                                </p:cTn>
                              </p:par>
                            </p:childTnLst>
                          </p:cTn>
                        </p:par>
                        <p:par>
                          <p:cTn id="125" fill="hold">
                            <p:stCondLst>
                              <p:cond delay="500"/>
                            </p:stCondLst>
                            <p:childTnLst>
                              <p:par>
                                <p:cTn id="126" presetID="17" presetClass="entr" presetSubtype="8" fill="hold" grpId="0" nodeType="afterEffect">
                                  <p:stCondLst>
                                    <p:cond delay="0"/>
                                  </p:stCondLst>
                                  <p:childTnLst>
                                    <p:set>
                                      <p:cBhvr>
                                        <p:cTn id="127" dur="1" fill="hold">
                                          <p:stCondLst>
                                            <p:cond delay="0"/>
                                          </p:stCondLst>
                                        </p:cTn>
                                        <p:tgtEl>
                                          <p:spTgt spid="73"/>
                                        </p:tgtEl>
                                        <p:attrNameLst>
                                          <p:attrName>style.visibility</p:attrName>
                                        </p:attrNameLst>
                                      </p:cBhvr>
                                      <p:to>
                                        <p:strVal val="visible"/>
                                      </p:to>
                                    </p:set>
                                    <p:anim calcmode="lin" valueType="num">
                                      <p:cBhvr>
                                        <p:cTn id="128" dur="500" fill="hold"/>
                                        <p:tgtEl>
                                          <p:spTgt spid="73"/>
                                        </p:tgtEl>
                                        <p:attrNameLst>
                                          <p:attrName>ppt_x</p:attrName>
                                        </p:attrNameLst>
                                      </p:cBhvr>
                                      <p:tavLst>
                                        <p:tav tm="0">
                                          <p:val>
                                            <p:strVal val="#ppt_x-#ppt_w/2"/>
                                          </p:val>
                                        </p:tav>
                                        <p:tav tm="100000">
                                          <p:val>
                                            <p:strVal val="#ppt_x"/>
                                          </p:val>
                                        </p:tav>
                                      </p:tavLst>
                                    </p:anim>
                                    <p:anim calcmode="lin" valueType="num">
                                      <p:cBhvr>
                                        <p:cTn id="129" dur="500" fill="hold"/>
                                        <p:tgtEl>
                                          <p:spTgt spid="73"/>
                                        </p:tgtEl>
                                        <p:attrNameLst>
                                          <p:attrName>ppt_y</p:attrName>
                                        </p:attrNameLst>
                                      </p:cBhvr>
                                      <p:tavLst>
                                        <p:tav tm="0">
                                          <p:val>
                                            <p:strVal val="#ppt_y"/>
                                          </p:val>
                                        </p:tav>
                                        <p:tav tm="100000">
                                          <p:val>
                                            <p:strVal val="#ppt_y"/>
                                          </p:val>
                                        </p:tav>
                                      </p:tavLst>
                                    </p:anim>
                                    <p:anim calcmode="lin" valueType="num">
                                      <p:cBhvr>
                                        <p:cTn id="130" dur="500" fill="hold"/>
                                        <p:tgtEl>
                                          <p:spTgt spid="73"/>
                                        </p:tgtEl>
                                        <p:attrNameLst>
                                          <p:attrName>ppt_w</p:attrName>
                                        </p:attrNameLst>
                                      </p:cBhvr>
                                      <p:tavLst>
                                        <p:tav tm="0">
                                          <p:val>
                                            <p:fltVal val="0"/>
                                          </p:val>
                                        </p:tav>
                                        <p:tav tm="100000">
                                          <p:val>
                                            <p:strVal val="#ppt_w"/>
                                          </p:val>
                                        </p:tav>
                                      </p:tavLst>
                                    </p:anim>
                                    <p:anim calcmode="lin" valueType="num">
                                      <p:cBhvr>
                                        <p:cTn id="131" dur="500" fill="hold"/>
                                        <p:tgtEl>
                                          <p:spTgt spid="73"/>
                                        </p:tgtEl>
                                        <p:attrNameLst>
                                          <p:attrName>ppt_h</p:attrName>
                                        </p:attrNameLst>
                                      </p:cBhvr>
                                      <p:tavLst>
                                        <p:tav tm="0">
                                          <p:val>
                                            <p:strVal val="#ppt_h"/>
                                          </p:val>
                                        </p:tav>
                                        <p:tav tm="100000">
                                          <p:val>
                                            <p:strVal val="#ppt_h"/>
                                          </p:val>
                                        </p:tav>
                                      </p:tavLst>
                                    </p:anim>
                                  </p:childTnLst>
                                </p:cTn>
                              </p:par>
                            </p:childTnLst>
                          </p:cTn>
                        </p:par>
                        <p:par>
                          <p:cTn id="132" fill="hold">
                            <p:stCondLst>
                              <p:cond delay="1000"/>
                            </p:stCondLst>
                            <p:childTnLst>
                              <p:par>
                                <p:cTn id="133" presetID="17" presetClass="entr" presetSubtype="8" fill="hold" nodeType="afterEffect">
                                  <p:stCondLst>
                                    <p:cond delay="0"/>
                                  </p:stCondLst>
                                  <p:childTnLst>
                                    <p:set>
                                      <p:cBhvr>
                                        <p:cTn id="134" dur="1" fill="hold">
                                          <p:stCondLst>
                                            <p:cond delay="0"/>
                                          </p:stCondLst>
                                        </p:cTn>
                                        <p:tgtEl>
                                          <p:spTgt spid="116"/>
                                        </p:tgtEl>
                                        <p:attrNameLst>
                                          <p:attrName>style.visibility</p:attrName>
                                        </p:attrNameLst>
                                      </p:cBhvr>
                                      <p:to>
                                        <p:strVal val="visible"/>
                                      </p:to>
                                    </p:set>
                                    <p:anim calcmode="lin" valueType="num">
                                      <p:cBhvr>
                                        <p:cTn id="135" dur="500" fill="hold"/>
                                        <p:tgtEl>
                                          <p:spTgt spid="116"/>
                                        </p:tgtEl>
                                        <p:attrNameLst>
                                          <p:attrName>ppt_x</p:attrName>
                                        </p:attrNameLst>
                                      </p:cBhvr>
                                      <p:tavLst>
                                        <p:tav tm="0">
                                          <p:val>
                                            <p:strVal val="#ppt_x-#ppt_w/2"/>
                                          </p:val>
                                        </p:tav>
                                        <p:tav tm="100000">
                                          <p:val>
                                            <p:strVal val="#ppt_x"/>
                                          </p:val>
                                        </p:tav>
                                      </p:tavLst>
                                    </p:anim>
                                    <p:anim calcmode="lin" valueType="num">
                                      <p:cBhvr>
                                        <p:cTn id="136" dur="500" fill="hold"/>
                                        <p:tgtEl>
                                          <p:spTgt spid="116"/>
                                        </p:tgtEl>
                                        <p:attrNameLst>
                                          <p:attrName>ppt_y</p:attrName>
                                        </p:attrNameLst>
                                      </p:cBhvr>
                                      <p:tavLst>
                                        <p:tav tm="0">
                                          <p:val>
                                            <p:strVal val="#ppt_y"/>
                                          </p:val>
                                        </p:tav>
                                        <p:tav tm="100000">
                                          <p:val>
                                            <p:strVal val="#ppt_y"/>
                                          </p:val>
                                        </p:tav>
                                      </p:tavLst>
                                    </p:anim>
                                    <p:anim calcmode="lin" valueType="num">
                                      <p:cBhvr>
                                        <p:cTn id="137" dur="500" fill="hold"/>
                                        <p:tgtEl>
                                          <p:spTgt spid="116"/>
                                        </p:tgtEl>
                                        <p:attrNameLst>
                                          <p:attrName>ppt_w</p:attrName>
                                        </p:attrNameLst>
                                      </p:cBhvr>
                                      <p:tavLst>
                                        <p:tav tm="0">
                                          <p:val>
                                            <p:fltVal val="0"/>
                                          </p:val>
                                        </p:tav>
                                        <p:tav tm="100000">
                                          <p:val>
                                            <p:strVal val="#ppt_w"/>
                                          </p:val>
                                        </p:tav>
                                      </p:tavLst>
                                    </p:anim>
                                    <p:anim calcmode="lin" valueType="num">
                                      <p:cBhvr>
                                        <p:cTn id="138" dur="500" fill="hold"/>
                                        <p:tgtEl>
                                          <p:spTgt spid="116"/>
                                        </p:tgtEl>
                                        <p:attrNameLst>
                                          <p:attrName>ppt_h</p:attrName>
                                        </p:attrNameLst>
                                      </p:cBhvr>
                                      <p:tavLst>
                                        <p:tav tm="0">
                                          <p:val>
                                            <p:strVal val="#ppt_h"/>
                                          </p:val>
                                        </p:tav>
                                        <p:tav tm="100000">
                                          <p:val>
                                            <p:strVal val="#ppt_h"/>
                                          </p:val>
                                        </p:tav>
                                      </p:tavLst>
                                    </p:anim>
                                  </p:childTnLst>
                                </p:cTn>
                              </p:par>
                            </p:childTnLst>
                          </p:cTn>
                        </p:par>
                        <p:par>
                          <p:cTn id="139" fill="hold">
                            <p:stCondLst>
                              <p:cond delay="1500"/>
                            </p:stCondLst>
                            <p:childTnLst>
                              <p:par>
                                <p:cTn id="140" presetID="10" presetClass="entr" presetSubtype="0" fill="hold" grpId="0" nodeType="afterEffect">
                                  <p:stCondLst>
                                    <p:cond delay="0"/>
                                  </p:stCondLst>
                                  <p:childTnLst>
                                    <p:set>
                                      <p:cBhvr>
                                        <p:cTn id="141" dur="1" fill="hold">
                                          <p:stCondLst>
                                            <p:cond delay="0"/>
                                          </p:stCondLst>
                                        </p:cTn>
                                        <p:tgtEl>
                                          <p:spTgt spid="64"/>
                                        </p:tgtEl>
                                        <p:attrNameLst>
                                          <p:attrName>style.visibility</p:attrName>
                                        </p:attrNameLst>
                                      </p:cBhvr>
                                      <p:to>
                                        <p:strVal val="visible"/>
                                      </p:to>
                                    </p:set>
                                    <p:animEffect transition="in" filter="fade">
                                      <p:cBhvr>
                                        <p:cTn id="14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P spid="64" grpId="0" animBg="1"/>
      <p:bldP spid="69" grpId="0" animBg="1"/>
      <p:bldP spid="70" grpId="0" animBg="1"/>
      <p:bldP spid="71" grpId="0" animBg="1"/>
      <p:bldP spid="72" grpId="0" animBg="1"/>
      <p:bldP spid="73" grpId="0" animBg="1"/>
      <p:bldP spid="74" grpId="0" animBg="1"/>
      <p:bldP spid="90" grpId="0" animBg="1"/>
      <p:bldP spid="91" grpId="0" animBg="1"/>
      <p:bldP spid="106" grpId="0" animBg="1"/>
      <p:bldP spid="107" grpId="0" animBg="1"/>
      <p:bldP spid="115" grpId="0" animBg="1"/>
      <p:bldP spid="122"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90B13-1FB2-B089-D59E-7E3598251C94}"/>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AD82A34-7A1F-DDD5-9621-CC41BAF0A654}"/>
              </a:ext>
            </a:extLst>
          </p:cNvPr>
          <p:cNvSpPr txBox="1"/>
          <p:nvPr/>
        </p:nvSpPr>
        <p:spPr>
          <a:xfrm>
            <a:off x="878692" y="1411221"/>
            <a:ext cx="9842050" cy="923330"/>
          </a:xfrm>
          <a:prstGeom prst="rect">
            <a:avLst/>
          </a:prstGeom>
          <a:noFill/>
        </p:spPr>
        <p:txBody>
          <a:bodyPr wrap="square" rtlCol="0">
            <a:spAutoFit/>
          </a:bodyPr>
          <a:lstStyle/>
          <a:p>
            <a:r>
              <a:rPr lang="es-CO" dirty="0"/>
              <a:t>Lógica de prioridades usada en Aplicación de Pagos</a:t>
            </a:r>
          </a:p>
          <a:p>
            <a:r>
              <a:rPr lang="es-CO" dirty="0"/>
              <a:t>Se realiza una selección de pagos y luego de cargos basado en un ordenamiento de la siguiente manera: </a:t>
            </a:r>
          </a:p>
        </p:txBody>
      </p:sp>
      <p:grpSp>
        <p:nvGrpSpPr>
          <p:cNvPr id="4" name="Group 5">
            <a:extLst>
              <a:ext uri="{FF2B5EF4-FFF2-40B4-BE49-F238E27FC236}">
                <a16:creationId xmlns:a16="http://schemas.microsoft.com/office/drawing/2014/main" id="{698E1A9A-98BF-44FC-69E1-932A3524312A}"/>
              </a:ext>
            </a:extLst>
          </p:cNvPr>
          <p:cNvGrpSpPr/>
          <p:nvPr/>
        </p:nvGrpSpPr>
        <p:grpSpPr>
          <a:xfrm>
            <a:off x="1278445" y="2363494"/>
            <a:ext cx="4823659" cy="1102014"/>
            <a:chOff x="1378226" y="795384"/>
            <a:chExt cx="5248242" cy="1036307"/>
          </a:xfrm>
        </p:grpSpPr>
        <p:sp>
          <p:nvSpPr>
            <p:cNvPr id="5" name="Rectangle 21">
              <a:extLst>
                <a:ext uri="{FF2B5EF4-FFF2-40B4-BE49-F238E27FC236}">
                  <a16:creationId xmlns:a16="http://schemas.microsoft.com/office/drawing/2014/main" id="{2CEEFEB6-FDF3-29BF-DF0A-D03496A4656E}"/>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Shape 15">
              <a:extLst>
                <a:ext uri="{FF2B5EF4-FFF2-40B4-BE49-F238E27FC236}">
                  <a16:creationId xmlns:a16="http://schemas.microsoft.com/office/drawing/2014/main" id="{70E2E313-33FE-27F6-0F5C-9B2523896885}"/>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A76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4">
              <a:extLst>
                <a:ext uri="{FF2B5EF4-FFF2-40B4-BE49-F238E27FC236}">
                  <a16:creationId xmlns:a16="http://schemas.microsoft.com/office/drawing/2014/main" id="{F20F9518-F14B-4930-6099-0401B729A43C}"/>
                </a:ext>
              </a:extLst>
            </p:cNvPr>
            <p:cNvSpPr/>
            <p:nvPr/>
          </p:nvSpPr>
          <p:spPr>
            <a:xfrm>
              <a:off x="1378226" y="1113182"/>
              <a:ext cx="4505739" cy="662609"/>
            </a:xfrm>
            <a:prstGeom prst="rect">
              <a:avLst/>
            </a:prstGeom>
            <a:gradFill flip="none" rotWithShape="1">
              <a:gsLst>
                <a:gs pos="100000">
                  <a:srgbClr val="D48D3E"/>
                </a:gs>
                <a:gs pos="0">
                  <a:srgbClr val="FAC86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1">
              <a:extLst>
                <a:ext uri="{FF2B5EF4-FFF2-40B4-BE49-F238E27FC236}">
                  <a16:creationId xmlns:a16="http://schemas.microsoft.com/office/drawing/2014/main" id="{4373E6AD-7AA1-AEAE-9B0D-E51E4AD9DABA}"/>
                </a:ext>
              </a:extLst>
            </p:cNvPr>
            <p:cNvGrpSpPr/>
            <p:nvPr/>
          </p:nvGrpSpPr>
          <p:grpSpPr>
            <a:xfrm>
              <a:off x="5592288" y="1513843"/>
              <a:ext cx="390125" cy="205592"/>
              <a:chOff x="5592288" y="1513843"/>
              <a:chExt cx="390125" cy="205592"/>
            </a:xfrm>
          </p:grpSpPr>
          <p:sp>
            <p:nvSpPr>
              <p:cNvPr id="11" name="Oval 17">
                <a:extLst>
                  <a:ext uri="{FF2B5EF4-FFF2-40B4-BE49-F238E27FC236}">
                    <a16:creationId xmlns:a16="http://schemas.microsoft.com/office/drawing/2014/main" id="{8C14C873-63FE-6916-82C2-5AF4A74D9C06}"/>
                  </a:ext>
                </a:extLst>
              </p:cNvPr>
              <p:cNvSpPr/>
              <p:nvPr/>
            </p:nvSpPr>
            <p:spPr>
              <a:xfrm>
                <a:off x="5592288" y="1513843"/>
                <a:ext cx="390125" cy="205592"/>
              </a:xfrm>
              <a:prstGeom prst="ellipse">
                <a:avLst/>
              </a:prstGeom>
              <a:gradFill flip="none" rotWithShape="1">
                <a:gsLst>
                  <a:gs pos="52000">
                    <a:srgbClr val="FBD48F"/>
                  </a:gs>
                  <a:gs pos="14000">
                    <a:srgbClr val="A76124"/>
                  </a:gs>
                  <a:gs pos="100000">
                    <a:srgbClr val="CE853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Freeform: Shape 16">
                <a:extLst>
                  <a:ext uri="{FF2B5EF4-FFF2-40B4-BE49-F238E27FC236}">
                    <a16:creationId xmlns:a16="http://schemas.microsoft.com/office/drawing/2014/main" id="{18A818F6-8879-0003-A0D9-72B2019DDF96}"/>
                  </a:ext>
                </a:extLst>
              </p:cNvPr>
              <p:cNvSpPr/>
              <p:nvPr/>
            </p:nvSpPr>
            <p:spPr>
              <a:xfrm rot="16200000" flipH="1">
                <a:off x="5760363" y="1592803"/>
                <a:ext cx="107266" cy="11464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A76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Freeform: Shape 18">
              <a:extLst>
                <a:ext uri="{FF2B5EF4-FFF2-40B4-BE49-F238E27FC236}">
                  <a16:creationId xmlns:a16="http://schemas.microsoft.com/office/drawing/2014/main" id="{DC6E08BC-AAC1-F47C-61E4-1195BAD99902}"/>
                </a:ext>
              </a:extLst>
            </p:cNvPr>
            <p:cNvSpPr/>
            <p:nvPr/>
          </p:nvSpPr>
          <p:spPr>
            <a:xfrm>
              <a:off x="5754679" y="1214955"/>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DD8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20">
              <a:extLst>
                <a:ext uri="{FF2B5EF4-FFF2-40B4-BE49-F238E27FC236}">
                  <a16:creationId xmlns:a16="http://schemas.microsoft.com/office/drawing/2014/main" id="{BF6E1E55-067E-4875-3424-BEA9DAABC966}"/>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FBD48F"/>
                </a:gs>
                <a:gs pos="100000">
                  <a:srgbClr val="CE8537"/>
                </a:gs>
                <a:gs pos="0">
                  <a:srgbClr val="FAC86F"/>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3" name="Group 22">
            <a:extLst>
              <a:ext uri="{FF2B5EF4-FFF2-40B4-BE49-F238E27FC236}">
                <a16:creationId xmlns:a16="http://schemas.microsoft.com/office/drawing/2014/main" id="{3E7C8ECC-D72F-15CB-026E-A5CFA4024D13}"/>
              </a:ext>
            </a:extLst>
          </p:cNvPr>
          <p:cNvGrpSpPr/>
          <p:nvPr/>
        </p:nvGrpSpPr>
        <p:grpSpPr>
          <a:xfrm>
            <a:off x="1313567" y="3654908"/>
            <a:ext cx="4486150" cy="1036307"/>
            <a:chOff x="2140318" y="795384"/>
            <a:chExt cx="4486150" cy="1036307"/>
          </a:xfrm>
        </p:grpSpPr>
        <p:sp>
          <p:nvSpPr>
            <p:cNvPr id="14" name="Rectangle 23">
              <a:extLst>
                <a:ext uri="{FF2B5EF4-FFF2-40B4-BE49-F238E27FC236}">
                  <a16:creationId xmlns:a16="http://schemas.microsoft.com/office/drawing/2014/main" id="{39CB8849-56A6-7468-E580-234323727A36}"/>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24">
              <a:extLst>
                <a:ext uri="{FF2B5EF4-FFF2-40B4-BE49-F238E27FC236}">
                  <a16:creationId xmlns:a16="http://schemas.microsoft.com/office/drawing/2014/main" id="{21FEDE21-3633-65B2-86FC-6CB61C958CDB}"/>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25">
              <a:extLst>
                <a:ext uri="{FF2B5EF4-FFF2-40B4-BE49-F238E27FC236}">
                  <a16:creationId xmlns:a16="http://schemas.microsoft.com/office/drawing/2014/main" id="{E7556078-28C6-DED6-87BD-26E0EE507587}"/>
                </a:ext>
              </a:extLst>
            </p:cNvPr>
            <p:cNvSpPr/>
            <p:nvPr/>
          </p:nvSpPr>
          <p:spPr>
            <a:xfrm>
              <a:off x="2140318" y="1113182"/>
              <a:ext cx="3743647" cy="662609"/>
            </a:xfrm>
            <a:prstGeom prst="rect">
              <a:avLst/>
            </a:prstGeom>
            <a:gradFill flip="none" rotWithShape="1">
              <a:gsLst>
                <a:gs pos="100000">
                  <a:srgbClr val="006666"/>
                </a:gs>
                <a:gs pos="0">
                  <a:srgbClr val="00CC9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26">
              <a:extLst>
                <a:ext uri="{FF2B5EF4-FFF2-40B4-BE49-F238E27FC236}">
                  <a16:creationId xmlns:a16="http://schemas.microsoft.com/office/drawing/2014/main" id="{1C011B6B-9573-002A-6D5E-8746456B0376}"/>
                </a:ext>
              </a:extLst>
            </p:cNvPr>
            <p:cNvGrpSpPr/>
            <p:nvPr/>
          </p:nvGrpSpPr>
          <p:grpSpPr>
            <a:xfrm>
              <a:off x="5588896" y="1531471"/>
              <a:ext cx="390125" cy="205592"/>
              <a:chOff x="5588896" y="1531471"/>
              <a:chExt cx="390125" cy="205592"/>
            </a:xfrm>
          </p:grpSpPr>
          <p:sp>
            <p:nvSpPr>
              <p:cNvPr id="20" name="Oval 29">
                <a:extLst>
                  <a:ext uri="{FF2B5EF4-FFF2-40B4-BE49-F238E27FC236}">
                    <a16:creationId xmlns:a16="http://schemas.microsoft.com/office/drawing/2014/main" id="{09D7DB9D-A25D-7B85-AA3F-9E12332557F2}"/>
                  </a:ext>
                </a:extLst>
              </p:cNvPr>
              <p:cNvSpPr/>
              <p:nvPr/>
            </p:nvSpPr>
            <p:spPr>
              <a:xfrm>
                <a:off x="5588896" y="1531471"/>
                <a:ext cx="390125" cy="205592"/>
              </a:xfrm>
              <a:prstGeom prst="ellipse">
                <a:avLst/>
              </a:prstGeom>
              <a:gradFill flip="none" rotWithShape="1">
                <a:gsLst>
                  <a:gs pos="52000">
                    <a:srgbClr val="1DFFC4"/>
                  </a:gs>
                  <a:gs pos="14000">
                    <a:srgbClr val="004846"/>
                  </a:gs>
                  <a:gs pos="100000">
                    <a:srgbClr val="00CC9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Freeform: Shape 30">
                <a:extLst>
                  <a:ext uri="{FF2B5EF4-FFF2-40B4-BE49-F238E27FC236}">
                    <a16:creationId xmlns:a16="http://schemas.microsoft.com/office/drawing/2014/main" id="{0BC445C6-1074-0F88-8848-72A5D3494189}"/>
                  </a:ext>
                </a:extLst>
              </p:cNvPr>
              <p:cNvSpPr/>
              <p:nvPr/>
            </p:nvSpPr>
            <p:spPr>
              <a:xfrm rot="16200000" flipH="1">
                <a:off x="5750509" y="1595010"/>
                <a:ext cx="113947" cy="109463"/>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Freeform: Shape 27">
              <a:extLst>
                <a:ext uri="{FF2B5EF4-FFF2-40B4-BE49-F238E27FC236}">
                  <a16:creationId xmlns:a16="http://schemas.microsoft.com/office/drawing/2014/main" id="{39CFC237-11B4-16C2-E0CB-F1EB6B7FD29E}"/>
                </a:ext>
              </a:extLst>
            </p:cNvPr>
            <p:cNvSpPr/>
            <p:nvPr/>
          </p:nvSpPr>
          <p:spPr>
            <a:xfrm>
              <a:off x="5754500" y="1221349"/>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008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28">
              <a:extLst>
                <a:ext uri="{FF2B5EF4-FFF2-40B4-BE49-F238E27FC236}">
                  <a16:creationId xmlns:a16="http://schemas.microsoft.com/office/drawing/2014/main" id="{6A90D1F3-52E9-0649-62BA-5A6F2D165C31}"/>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1DFFC4"/>
                </a:gs>
                <a:gs pos="100000">
                  <a:srgbClr val="006666"/>
                </a:gs>
                <a:gs pos="0">
                  <a:srgbClr val="00CC9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2" name="Group 31">
            <a:extLst>
              <a:ext uri="{FF2B5EF4-FFF2-40B4-BE49-F238E27FC236}">
                <a16:creationId xmlns:a16="http://schemas.microsoft.com/office/drawing/2014/main" id="{68F8CB8F-D189-BA5A-3956-292E85C81CB7}"/>
              </a:ext>
            </a:extLst>
          </p:cNvPr>
          <p:cNvGrpSpPr/>
          <p:nvPr/>
        </p:nvGrpSpPr>
        <p:grpSpPr>
          <a:xfrm>
            <a:off x="1302987" y="4808094"/>
            <a:ext cx="3639649" cy="1036307"/>
            <a:chOff x="320494" y="795384"/>
            <a:chExt cx="6305974" cy="1036307"/>
          </a:xfrm>
        </p:grpSpPr>
        <p:sp>
          <p:nvSpPr>
            <p:cNvPr id="23" name="Rectangle 32">
              <a:extLst>
                <a:ext uri="{FF2B5EF4-FFF2-40B4-BE49-F238E27FC236}">
                  <a16:creationId xmlns:a16="http://schemas.microsoft.com/office/drawing/2014/main" id="{8B817532-F9DD-DC01-88F6-2A6431252E78}"/>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33">
              <a:extLst>
                <a:ext uri="{FF2B5EF4-FFF2-40B4-BE49-F238E27FC236}">
                  <a16:creationId xmlns:a16="http://schemas.microsoft.com/office/drawing/2014/main" id="{2846CFB8-2FBC-8DD4-AC64-D12577572BF7}"/>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5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34">
              <a:extLst>
                <a:ext uri="{FF2B5EF4-FFF2-40B4-BE49-F238E27FC236}">
                  <a16:creationId xmlns:a16="http://schemas.microsoft.com/office/drawing/2014/main" id="{3E63B18C-288F-9555-E0DB-1D06569328FF}"/>
                </a:ext>
              </a:extLst>
            </p:cNvPr>
            <p:cNvSpPr/>
            <p:nvPr/>
          </p:nvSpPr>
          <p:spPr>
            <a:xfrm>
              <a:off x="320494" y="1113182"/>
              <a:ext cx="5563472" cy="662609"/>
            </a:xfrm>
            <a:prstGeom prst="rect">
              <a:avLst/>
            </a:prstGeom>
            <a:gradFill flip="none" rotWithShape="1">
              <a:gsLst>
                <a:gs pos="100000">
                  <a:srgbClr val="0066CC"/>
                </a:gs>
                <a:gs pos="0">
                  <a:srgbClr val="0099F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6" name="Group 35">
              <a:extLst>
                <a:ext uri="{FF2B5EF4-FFF2-40B4-BE49-F238E27FC236}">
                  <a16:creationId xmlns:a16="http://schemas.microsoft.com/office/drawing/2014/main" id="{58B0E1F1-F281-7CD6-2CF4-B20A88DF4F0A}"/>
                </a:ext>
              </a:extLst>
            </p:cNvPr>
            <p:cNvGrpSpPr/>
            <p:nvPr/>
          </p:nvGrpSpPr>
          <p:grpSpPr>
            <a:xfrm>
              <a:off x="5588896" y="1531471"/>
              <a:ext cx="390125" cy="205592"/>
              <a:chOff x="5588896" y="1531471"/>
              <a:chExt cx="390125" cy="205592"/>
            </a:xfrm>
          </p:grpSpPr>
          <p:sp>
            <p:nvSpPr>
              <p:cNvPr id="29" name="Oval 38">
                <a:extLst>
                  <a:ext uri="{FF2B5EF4-FFF2-40B4-BE49-F238E27FC236}">
                    <a16:creationId xmlns:a16="http://schemas.microsoft.com/office/drawing/2014/main" id="{C677FCBE-6D1C-9C1C-48CD-0117E624A527}"/>
                  </a:ext>
                </a:extLst>
              </p:cNvPr>
              <p:cNvSpPr/>
              <p:nvPr/>
            </p:nvSpPr>
            <p:spPr>
              <a:xfrm>
                <a:off x="5588896" y="1531471"/>
                <a:ext cx="390125" cy="205592"/>
              </a:xfrm>
              <a:prstGeom prst="ellipse">
                <a:avLst/>
              </a:prstGeom>
              <a:gradFill flip="none" rotWithShape="1">
                <a:gsLst>
                  <a:gs pos="52000">
                    <a:srgbClr val="3BB0FF"/>
                  </a:gs>
                  <a:gs pos="14000">
                    <a:srgbClr val="00458A"/>
                  </a:gs>
                  <a:gs pos="100000">
                    <a:srgbClr val="00458A"/>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0" name="Freeform: Shape 39">
                <a:extLst>
                  <a:ext uri="{FF2B5EF4-FFF2-40B4-BE49-F238E27FC236}">
                    <a16:creationId xmlns:a16="http://schemas.microsoft.com/office/drawing/2014/main" id="{C2C0B3EF-F41A-3D2E-6839-0914957745B3}"/>
                  </a:ext>
                </a:extLst>
              </p:cNvPr>
              <p:cNvSpPr/>
              <p:nvPr/>
            </p:nvSpPr>
            <p:spPr>
              <a:xfrm rot="16200000" flipH="1">
                <a:off x="5741094" y="1594727"/>
                <a:ext cx="120627" cy="103349"/>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2858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Freeform: Shape 36">
              <a:extLst>
                <a:ext uri="{FF2B5EF4-FFF2-40B4-BE49-F238E27FC236}">
                  <a16:creationId xmlns:a16="http://schemas.microsoft.com/office/drawing/2014/main" id="{7923FDD4-7628-32A4-CCA2-CA7393AE24F4}"/>
                </a:ext>
              </a:extLst>
            </p:cNvPr>
            <p:cNvSpPr/>
            <p:nvPr/>
          </p:nvSpPr>
          <p:spPr>
            <a:xfrm>
              <a:off x="5751482" y="1221349"/>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81C6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Freeform: Shape 37">
              <a:extLst>
                <a:ext uri="{FF2B5EF4-FFF2-40B4-BE49-F238E27FC236}">
                  <a16:creationId xmlns:a16="http://schemas.microsoft.com/office/drawing/2014/main" id="{5AAE47B5-044D-8510-9413-D3215C88510C}"/>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3BB0FF"/>
                </a:gs>
                <a:gs pos="100000">
                  <a:srgbClr val="0066CC"/>
                </a:gs>
                <a:gs pos="0">
                  <a:srgbClr val="0099FF"/>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1" name="Rectangle 6">
            <a:extLst>
              <a:ext uri="{FF2B5EF4-FFF2-40B4-BE49-F238E27FC236}">
                <a16:creationId xmlns:a16="http://schemas.microsoft.com/office/drawing/2014/main" id="{95FCF989-B17B-9063-2C56-F3C3D36D73C2}"/>
              </a:ext>
            </a:extLst>
          </p:cNvPr>
          <p:cNvSpPr/>
          <p:nvPr/>
        </p:nvSpPr>
        <p:spPr>
          <a:xfrm>
            <a:off x="993519" y="2467131"/>
            <a:ext cx="514595" cy="3776647"/>
          </a:xfrm>
          <a:prstGeom prst="rect">
            <a:avLst/>
          </a:prstGeom>
          <a:solidFill>
            <a:srgbClr val="F4F4F4"/>
          </a:solidFill>
          <a:ln>
            <a:noFill/>
          </a:ln>
          <a:effectLst>
            <a:outerShdw blurRad="139700" dist="889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8">
            <a:extLst>
              <a:ext uri="{FF2B5EF4-FFF2-40B4-BE49-F238E27FC236}">
                <a16:creationId xmlns:a16="http://schemas.microsoft.com/office/drawing/2014/main" id="{B8A8955B-AED8-21BA-3487-9FDA933B3A26}"/>
              </a:ext>
            </a:extLst>
          </p:cNvPr>
          <p:cNvSpPr txBox="1"/>
          <p:nvPr/>
        </p:nvSpPr>
        <p:spPr>
          <a:xfrm>
            <a:off x="1522145" y="2782926"/>
            <a:ext cx="3507707" cy="523220"/>
          </a:xfrm>
          <a:prstGeom prst="rect">
            <a:avLst/>
          </a:prstGeom>
          <a:noFill/>
        </p:spPr>
        <p:txBody>
          <a:bodyPr wrap="square" rtlCol="0">
            <a:spAutoFit/>
          </a:bodyPr>
          <a:lstStyle/>
          <a:p>
            <a:r>
              <a:rPr lang="es-CO" sz="1400" dirty="0"/>
              <a:t>Prioridad de</a:t>
            </a:r>
            <a:r>
              <a:rPr lang="es-CO" sz="1400" b="1" dirty="0"/>
              <a:t> Pagos </a:t>
            </a:r>
            <a:r>
              <a:rPr lang="es-CO" sz="1400" dirty="0"/>
              <a:t>en Orden Descendente</a:t>
            </a:r>
            <a:endParaRPr lang="en-US" sz="1400" dirty="0"/>
          </a:p>
        </p:txBody>
      </p:sp>
      <p:sp>
        <p:nvSpPr>
          <p:cNvPr id="33" name="TextBox 49">
            <a:extLst>
              <a:ext uri="{FF2B5EF4-FFF2-40B4-BE49-F238E27FC236}">
                <a16:creationId xmlns:a16="http://schemas.microsoft.com/office/drawing/2014/main" id="{98919D44-5003-1CE7-A834-13E97E8D25E2}"/>
              </a:ext>
            </a:extLst>
          </p:cNvPr>
          <p:cNvSpPr txBox="1"/>
          <p:nvPr/>
        </p:nvSpPr>
        <p:spPr>
          <a:xfrm>
            <a:off x="1600667" y="4059034"/>
            <a:ext cx="2923995" cy="523220"/>
          </a:xfrm>
          <a:prstGeom prst="rect">
            <a:avLst/>
          </a:prstGeom>
          <a:noFill/>
        </p:spPr>
        <p:txBody>
          <a:bodyPr wrap="square" rtlCol="0">
            <a:spAutoFit/>
          </a:bodyPr>
          <a:lstStyle/>
          <a:p>
            <a:r>
              <a:rPr lang="es-419" sz="1400" dirty="0"/>
              <a:t>Fecha Vigente de </a:t>
            </a:r>
            <a:r>
              <a:rPr lang="es-419" sz="1400" b="1" dirty="0"/>
              <a:t>Pago </a:t>
            </a:r>
            <a:r>
              <a:rPr lang="es-419" sz="1400" dirty="0"/>
              <a:t>de la más antigua a más reciente</a:t>
            </a:r>
            <a:endParaRPr lang="en-US" sz="1400" dirty="0"/>
          </a:p>
        </p:txBody>
      </p:sp>
      <p:sp>
        <p:nvSpPr>
          <p:cNvPr id="34" name="TextBox 50">
            <a:extLst>
              <a:ext uri="{FF2B5EF4-FFF2-40B4-BE49-F238E27FC236}">
                <a16:creationId xmlns:a16="http://schemas.microsoft.com/office/drawing/2014/main" id="{CF29A3D1-34ED-719C-D39C-3258CE9C8279}"/>
              </a:ext>
            </a:extLst>
          </p:cNvPr>
          <p:cNvSpPr txBox="1"/>
          <p:nvPr/>
        </p:nvSpPr>
        <p:spPr>
          <a:xfrm>
            <a:off x="1508114" y="5189313"/>
            <a:ext cx="2590414" cy="523220"/>
          </a:xfrm>
          <a:prstGeom prst="rect">
            <a:avLst/>
          </a:prstGeom>
          <a:noFill/>
        </p:spPr>
        <p:txBody>
          <a:bodyPr wrap="square" rtlCol="0">
            <a:spAutoFit/>
          </a:bodyPr>
          <a:lstStyle/>
          <a:p>
            <a:r>
              <a:rPr lang="es-CO" sz="1400" dirty="0"/>
              <a:t>Número de transacción de </a:t>
            </a:r>
            <a:r>
              <a:rPr lang="es-CO" sz="1400" b="1" dirty="0"/>
              <a:t>Pago</a:t>
            </a:r>
            <a:r>
              <a:rPr lang="es-CO" sz="1400" dirty="0"/>
              <a:t> de menor a mayor</a:t>
            </a:r>
            <a:endParaRPr lang="en-US" sz="1400" dirty="0"/>
          </a:p>
        </p:txBody>
      </p:sp>
      <p:grpSp>
        <p:nvGrpSpPr>
          <p:cNvPr id="35" name="Group 5">
            <a:extLst>
              <a:ext uri="{FF2B5EF4-FFF2-40B4-BE49-F238E27FC236}">
                <a16:creationId xmlns:a16="http://schemas.microsoft.com/office/drawing/2014/main" id="{8BF748E7-09D5-2F5F-ED36-A05CFEA4BA28}"/>
              </a:ext>
            </a:extLst>
          </p:cNvPr>
          <p:cNvGrpSpPr/>
          <p:nvPr/>
        </p:nvGrpSpPr>
        <p:grpSpPr>
          <a:xfrm>
            <a:off x="6769494" y="2515894"/>
            <a:ext cx="4823659" cy="1102014"/>
            <a:chOff x="1378226" y="795384"/>
            <a:chExt cx="5248242" cy="1036307"/>
          </a:xfrm>
        </p:grpSpPr>
        <p:sp>
          <p:nvSpPr>
            <p:cNvPr id="36" name="Rectangle 21">
              <a:extLst>
                <a:ext uri="{FF2B5EF4-FFF2-40B4-BE49-F238E27FC236}">
                  <a16:creationId xmlns:a16="http://schemas.microsoft.com/office/drawing/2014/main" id="{FD496868-1C93-115B-7D0E-90F226E7FA93}"/>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15">
              <a:extLst>
                <a:ext uri="{FF2B5EF4-FFF2-40B4-BE49-F238E27FC236}">
                  <a16:creationId xmlns:a16="http://schemas.microsoft.com/office/drawing/2014/main" id="{960E11A2-3F0C-01D3-17CE-42990811ABB2}"/>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A76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4">
              <a:extLst>
                <a:ext uri="{FF2B5EF4-FFF2-40B4-BE49-F238E27FC236}">
                  <a16:creationId xmlns:a16="http://schemas.microsoft.com/office/drawing/2014/main" id="{217F0267-2B5C-291B-A33C-4361DF886970}"/>
                </a:ext>
              </a:extLst>
            </p:cNvPr>
            <p:cNvSpPr/>
            <p:nvPr/>
          </p:nvSpPr>
          <p:spPr>
            <a:xfrm>
              <a:off x="1378226" y="1113182"/>
              <a:ext cx="4505739" cy="662609"/>
            </a:xfrm>
            <a:prstGeom prst="rect">
              <a:avLst/>
            </a:prstGeom>
            <a:gradFill flip="none" rotWithShape="1">
              <a:gsLst>
                <a:gs pos="100000">
                  <a:srgbClr val="D48D3E"/>
                </a:gs>
                <a:gs pos="0">
                  <a:srgbClr val="FAC86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Group 1">
              <a:extLst>
                <a:ext uri="{FF2B5EF4-FFF2-40B4-BE49-F238E27FC236}">
                  <a16:creationId xmlns:a16="http://schemas.microsoft.com/office/drawing/2014/main" id="{05BE79A6-C0AC-3C95-47C7-DBB4F02FD5C1}"/>
                </a:ext>
              </a:extLst>
            </p:cNvPr>
            <p:cNvGrpSpPr/>
            <p:nvPr/>
          </p:nvGrpSpPr>
          <p:grpSpPr>
            <a:xfrm>
              <a:off x="5592288" y="1513843"/>
              <a:ext cx="390125" cy="205592"/>
              <a:chOff x="5592288" y="1513843"/>
              <a:chExt cx="390125" cy="205592"/>
            </a:xfrm>
          </p:grpSpPr>
          <p:sp>
            <p:nvSpPr>
              <p:cNvPr id="42" name="Oval 17">
                <a:extLst>
                  <a:ext uri="{FF2B5EF4-FFF2-40B4-BE49-F238E27FC236}">
                    <a16:creationId xmlns:a16="http://schemas.microsoft.com/office/drawing/2014/main" id="{CB6FDE94-3091-C95D-16D4-8AC822D86E76}"/>
                  </a:ext>
                </a:extLst>
              </p:cNvPr>
              <p:cNvSpPr/>
              <p:nvPr/>
            </p:nvSpPr>
            <p:spPr>
              <a:xfrm>
                <a:off x="5592288" y="1513843"/>
                <a:ext cx="390125" cy="205592"/>
              </a:xfrm>
              <a:prstGeom prst="ellipse">
                <a:avLst/>
              </a:prstGeom>
              <a:gradFill flip="none" rotWithShape="1">
                <a:gsLst>
                  <a:gs pos="52000">
                    <a:srgbClr val="FBD48F"/>
                  </a:gs>
                  <a:gs pos="14000">
                    <a:srgbClr val="A76124"/>
                  </a:gs>
                  <a:gs pos="100000">
                    <a:srgbClr val="CE853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16">
                <a:extLst>
                  <a:ext uri="{FF2B5EF4-FFF2-40B4-BE49-F238E27FC236}">
                    <a16:creationId xmlns:a16="http://schemas.microsoft.com/office/drawing/2014/main" id="{2302617E-497F-F16C-752F-6B3D088960B1}"/>
                  </a:ext>
                </a:extLst>
              </p:cNvPr>
              <p:cNvSpPr/>
              <p:nvPr/>
            </p:nvSpPr>
            <p:spPr>
              <a:xfrm rot="16200000" flipH="1">
                <a:off x="5760363" y="1592803"/>
                <a:ext cx="107266" cy="11464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A761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Freeform: Shape 18">
              <a:extLst>
                <a:ext uri="{FF2B5EF4-FFF2-40B4-BE49-F238E27FC236}">
                  <a16:creationId xmlns:a16="http://schemas.microsoft.com/office/drawing/2014/main" id="{9AF9B96D-803E-E09D-0CF3-07713D046DF2}"/>
                </a:ext>
              </a:extLst>
            </p:cNvPr>
            <p:cNvSpPr/>
            <p:nvPr/>
          </p:nvSpPr>
          <p:spPr>
            <a:xfrm>
              <a:off x="5754679" y="1214955"/>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DD821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Freeform: Shape 20">
              <a:extLst>
                <a:ext uri="{FF2B5EF4-FFF2-40B4-BE49-F238E27FC236}">
                  <a16:creationId xmlns:a16="http://schemas.microsoft.com/office/drawing/2014/main" id="{BCBE43FA-7D8C-3A94-1AE1-B4249487010E}"/>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FBD48F"/>
                </a:gs>
                <a:gs pos="100000">
                  <a:srgbClr val="CE8537"/>
                </a:gs>
                <a:gs pos="0">
                  <a:srgbClr val="FAC86F"/>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4" name="Group 22">
            <a:extLst>
              <a:ext uri="{FF2B5EF4-FFF2-40B4-BE49-F238E27FC236}">
                <a16:creationId xmlns:a16="http://schemas.microsoft.com/office/drawing/2014/main" id="{298E45C1-80C3-0CE1-8709-AB5DEFAB52ED}"/>
              </a:ext>
            </a:extLst>
          </p:cNvPr>
          <p:cNvGrpSpPr/>
          <p:nvPr/>
        </p:nvGrpSpPr>
        <p:grpSpPr>
          <a:xfrm>
            <a:off x="6804616" y="3807308"/>
            <a:ext cx="4486150" cy="1036307"/>
            <a:chOff x="2140318" y="795384"/>
            <a:chExt cx="4486150" cy="1036307"/>
          </a:xfrm>
        </p:grpSpPr>
        <p:sp>
          <p:nvSpPr>
            <p:cNvPr id="45" name="Rectangle 23">
              <a:extLst>
                <a:ext uri="{FF2B5EF4-FFF2-40B4-BE49-F238E27FC236}">
                  <a16:creationId xmlns:a16="http://schemas.microsoft.com/office/drawing/2014/main" id="{55CCB796-AC6F-3A8A-013F-37C4EA337555}"/>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24">
              <a:extLst>
                <a:ext uri="{FF2B5EF4-FFF2-40B4-BE49-F238E27FC236}">
                  <a16:creationId xmlns:a16="http://schemas.microsoft.com/office/drawing/2014/main" id="{9F0C837D-D26D-6275-B510-01EC23AD09E9}"/>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25">
              <a:extLst>
                <a:ext uri="{FF2B5EF4-FFF2-40B4-BE49-F238E27FC236}">
                  <a16:creationId xmlns:a16="http://schemas.microsoft.com/office/drawing/2014/main" id="{E5A9FF78-AC24-B30B-B1D6-D717D3D6CCA7}"/>
                </a:ext>
              </a:extLst>
            </p:cNvPr>
            <p:cNvSpPr/>
            <p:nvPr/>
          </p:nvSpPr>
          <p:spPr>
            <a:xfrm>
              <a:off x="2140318" y="1113182"/>
              <a:ext cx="3743647" cy="662609"/>
            </a:xfrm>
            <a:prstGeom prst="rect">
              <a:avLst/>
            </a:prstGeom>
            <a:gradFill flip="none" rotWithShape="1">
              <a:gsLst>
                <a:gs pos="100000">
                  <a:srgbClr val="006666"/>
                </a:gs>
                <a:gs pos="0">
                  <a:srgbClr val="00CC9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26">
              <a:extLst>
                <a:ext uri="{FF2B5EF4-FFF2-40B4-BE49-F238E27FC236}">
                  <a16:creationId xmlns:a16="http://schemas.microsoft.com/office/drawing/2014/main" id="{04B1CC39-1A8A-50BA-66D8-77A9389DEB4B}"/>
                </a:ext>
              </a:extLst>
            </p:cNvPr>
            <p:cNvGrpSpPr/>
            <p:nvPr/>
          </p:nvGrpSpPr>
          <p:grpSpPr>
            <a:xfrm>
              <a:off x="5588896" y="1531471"/>
              <a:ext cx="390125" cy="205592"/>
              <a:chOff x="5588896" y="1531471"/>
              <a:chExt cx="390125" cy="205592"/>
            </a:xfrm>
          </p:grpSpPr>
          <p:sp>
            <p:nvSpPr>
              <p:cNvPr id="51" name="Oval 29">
                <a:extLst>
                  <a:ext uri="{FF2B5EF4-FFF2-40B4-BE49-F238E27FC236}">
                    <a16:creationId xmlns:a16="http://schemas.microsoft.com/office/drawing/2014/main" id="{6ED3EE45-5365-4E6A-16BD-2DE971174A64}"/>
                  </a:ext>
                </a:extLst>
              </p:cNvPr>
              <p:cNvSpPr/>
              <p:nvPr/>
            </p:nvSpPr>
            <p:spPr>
              <a:xfrm>
                <a:off x="5588896" y="1531471"/>
                <a:ext cx="390125" cy="205592"/>
              </a:xfrm>
              <a:prstGeom prst="ellipse">
                <a:avLst/>
              </a:prstGeom>
              <a:gradFill flip="none" rotWithShape="1">
                <a:gsLst>
                  <a:gs pos="52000">
                    <a:srgbClr val="1DFFC4"/>
                  </a:gs>
                  <a:gs pos="14000">
                    <a:srgbClr val="004846"/>
                  </a:gs>
                  <a:gs pos="100000">
                    <a:srgbClr val="00CC99"/>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2" name="Freeform: Shape 30">
                <a:extLst>
                  <a:ext uri="{FF2B5EF4-FFF2-40B4-BE49-F238E27FC236}">
                    <a16:creationId xmlns:a16="http://schemas.microsoft.com/office/drawing/2014/main" id="{2A0048FF-D1ED-096B-D212-C231D4D1E549}"/>
                  </a:ext>
                </a:extLst>
              </p:cNvPr>
              <p:cNvSpPr/>
              <p:nvPr/>
            </p:nvSpPr>
            <p:spPr>
              <a:xfrm rot="16200000" flipH="1">
                <a:off x="5750509" y="1595010"/>
                <a:ext cx="113947" cy="109463"/>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8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9" name="Freeform: Shape 27">
              <a:extLst>
                <a:ext uri="{FF2B5EF4-FFF2-40B4-BE49-F238E27FC236}">
                  <a16:creationId xmlns:a16="http://schemas.microsoft.com/office/drawing/2014/main" id="{F69DFDE1-EB07-045A-2C26-6955BBD6EE4B}"/>
                </a:ext>
              </a:extLst>
            </p:cNvPr>
            <p:cNvSpPr/>
            <p:nvPr/>
          </p:nvSpPr>
          <p:spPr>
            <a:xfrm>
              <a:off x="5754500" y="1221349"/>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008E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Freeform: Shape 28">
              <a:extLst>
                <a:ext uri="{FF2B5EF4-FFF2-40B4-BE49-F238E27FC236}">
                  <a16:creationId xmlns:a16="http://schemas.microsoft.com/office/drawing/2014/main" id="{F611ECE0-F4A8-6C4C-00D9-06C33209A9B8}"/>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1DFFC4"/>
                </a:gs>
                <a:gs pos="100000">
                  <a:srgbClr val="006666"/>
                </a:gs>
                <a:gs pos="0">
                  <a:srgbClr val="00CC99"/>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53" name="Group 31">
            <a:extLst>
              <a:ext uri="{FF2B5EF4-FFF2-40B4-BE49-F238E27FC236}">
                <a16:creationId xmlns:a16="http://schemas.microsoft.com/office/drawing/2014/main" id="{2E1E63B3-F4E7-2889-CFC4-B25D4D40EE02}"/>
              </a:ext>
            </a:extLst>
          </p:cNvPr>
          <p:cNvGrpSpPr/>
          <p:nvPr/>
        </p:nvGrpSpPr>
        <p:grpSpPr>
          <a:xfrm>
            <a:off x="6794036" y="4960494"/>
            <a:ext cx="3639649" cy="1036307"/>
            <a:chOff x="320494" y="795384"/>
            <a:chExt cx="6305974" cy="1036307"/>
          </a:xfrm>
        </p:grpSpPr>
        <p:sp>
          <p:nvSpPr>
            <p:cNvPr id="54" name="Rectangle 32">
              <a:extLst>
                <a:ext uri="{FF2B5EF4-FFF2-40B4-BE49-F238E27FC236}">
                  <a16:creationId xmlns:a16="http://schemas.microsoft.com/office/drawing/2014/main" id="{3F5ECDB8-FCE7-ECC5-4F86-F66B0A83F9F6}"/>
                </a:ext>
              </a:extLst>
            </p:cNvPr>
            <p:cNvSpPr/>
            <p:nvPr/>
          </p:nvSpPr>
          <p:spPr>
            <a:xfrm flipH="1">
              <a:off x="5779968" y="1044735"/>
              <a:ext cx="846500" cy="786956"/>
            </a:xfrm>
            <a:prstGeom prst="rect">
              <a:avLst/>
            </a:prstGeom>
            <a:gradFill>
              <a:gsLst>
                <a:gs pos="100000">
                  <a:schemeClr val="tx1"/>
                </a:gs>
                <a:gs pos="0">
                  <a:srgbClr val="E9EBEA">
                    <a:alpha val="0"/>
                  </a:srgbClr>
                </a:gs>
              </a:gsLst>
              <a:lin ang="0" scaled="1"/>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33">
              <a:extLst>
                <a:ext uri="{FF2B5EF4-FFF2-40B4-BE49-F238E27FC236}">
                  <a16:creationId xmlns:a16="http://schemas.microsoft.com/office/drawing/2014/main" id="{05F87A6A-932E-D819-4521-DA5D5B2FA72F}"/>
                </a:ext>
              </a:extLst>
            </p:cNvPr>
            <p:cNvSpPr/>
            <p:nvPr/>
          </p:nvSpPr>
          <p:spPr>
            <a:xfrm rot="5400000">
              <a:off x="5848454" y="1528250"/>
              <a:ext cx="283053" cy="212035"/>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00458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34">
              <a:extLst>
                <a:ext uri="{FF2B5EF4-FFF2-40B4-BE49-F238E27FC236}">
                  <a16:creationId xmlns:a16="http://schemas.microsoft.com/office/drawing/2014/main" id="{57EFD39E-105F-81DD-519D-55ACBF77F257}"/>
                </a:ext>
              </a:extLst>
            </p:cNvPr>
            <p:cNvSpPr/>
            <p:nvPr/>
          </p:nvSpPr>
          <p:spPr>
            <a:xfrm>
              <a:off x="320494" y="1113182"/>
              <a:ext cx="5563472" cy="662609"/>
            </a:xfrm>
            <a:prstGeom prst="rect">
              <a:avLst/>
            </a:prstGeom>
            <a:gradFill flip="none" rotWithShape="1">
              <a:gsLst>
                <a:gs pos="100000">
                  <a:srgbClr val="0066CC"/>
                </a:gs>
                <a:gs pos="0">
                  <a:srgbClr val="0099FF"/>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35">
              <a:extLst>
                <a:ext uri="{FF2B5EF4-FFF2-40B4-BE49-F238E27FC236}">
                  <a16:creationId xmlns:a16="http://schemas.microsoft.com/office/drawing/2014/main" id="{68BA5A1A-B1FC-E088-C1FC-A2B95864A162}"/>
                </a:ext>
              </a:extLst>
            </p:cNvPr>
            <p:cNvGrpSpPr/>
            <p:nvPr/>
          </p:nvGrpSpPr>
          <p:grpSpPr>
            <a:xfrm>
              <a:off x="5588896" y="1531471"/>
              <a:ext cx="390125" cy="205592"/>
              <a:chOff x="5588896" y="1531471"/>
              <a:chExt cx="390125" cy="205592"/>
            </a:xfrm>
          </p:grpSpPr>
          <p:sp>
            <p:nvSpPr>
              <p:cNvPr id="60" name="Oval 38">
                <a:extLst>
                  <a:ext uri="{FF2B5EF4-FFF2-40B4-BE49-F238E27FC236}">
                    <a16:creationId xmlns:a16="http://schemas.microsoft.com/office/drawing/2014/main" id="{A3053C56-DD10-E8F5-92AF-588FEB88F9FF}"/>
                  </a:ext>
                </a:extLst>
              </p:cNvPr>
              <p:cNvSpPr/>
              <p:nvPr/>
            </p:nvSpPr>
            <p:spPr>
              <a:xfrm>
                <a:off x="5588896" y="1531471"/>
                <a:ext cx="390125" cy="205592"/>
              </a:xfrm>
              <a:prstGeom prst="ellipse">
                <a:avLst/>
              </a:prstGeom>
              <a:gradFill flip="none" rotWithShape="1">
                <a:gsLst>
                  <a:gs pos="52000">
                    <a:srgbClr val="3BB0FF"/>
                  </a:gs>
                  <a:gs pos="14000">
                    <a:srgbClr val="00458A"/>
                  </a:gs>
                  <a:gs pos="100000">
                    <a:srgbClr val="00458A"/>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1" name="Freeform: Shape 39">
                <a:extLst>
                  <a:ext uri="{FF2B5EF4-FFF2-40B4-BE49-F238E27FC236}">
                    <a16:creationId xmlns:a16="http://schemas.microsoft.com/office/drawing/2014/main" id="{E9810D82-502B-A804-E2A3-C310450208AF}"/>
                  </a:ext>
                </a:extLst>
              </p:cNvPr>
              <p:cNvSpPr/>
              <p:nvPr/>
            </p:nvSpPr>
            <p:spPr>
              <a:xfrm rot="16200000" flipH="1">
                <a:off x="5741094" y="1594727"/>
                <a:ext cx="120627" cy="103349"/>
              </a:xfrm>
              <a:custGeom>
                <a:avLst/>
                <a:gdLst>
                  <a:gd name="connsiteX0" fmla="*/ 238370 w 476740"/>
                  <a:gd name="connsiteY0" fmla="*/ 0 h 238369"/>
                  <a:gd name="connsiteX1" fmla="*/ 458008 w 476740"/>
                  <a:gd name="connsiteY1" fmla="*/ 145586 h 238369"/>
                  <a:gd name="connsiteX2" fmla="*/ 476740 w 476740"/>
                  <a:gd name="connsiteY2" fmla="*/ 238369 h 238369"/>
                  <a:gd name="connsiteX3" fmla="*/ 0 w 476740"/>
                  <a:gd name="connsiteY3" fmla="*/ 238369 h 238369"/>
                  <a:gd name="connsiteX4" fmla="*/ 18733 w 476740"/>
                  <a:gd name="connsiteY4" fmla="*/ 145586 h 238369"/>
                  <a:gd name="connsiteX5" fmla="*/ 238370 w 476740"/>
                  <a:gd name="connsiteY5" fmla="*/ 0 h 2383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6740" h="238369">
                    <a:moveTo>
                      <a:pt x="238370" y="0"/>
                    </a:moveTo>
                    <a:cubicBezTo>
                      <a:pt x="337106" y="0"/>
                      <a:pt x="421821" y="60031"/>
                      <a:pt x="458008" y="145586"/>
                    </a:cubicBezTo>
                    <a:lnTo>
                      <a:pt x="476740" y="238369"/>
                    </a:lnTo>
                    <a:lnTo>
                      <a:pt x="0" y="238369"/>
                    </a:lnTo>
                    <a:lnTo>
                      <a:pt x="18733" y="145586"/>
                    </a:lnTo>
                    <a:cubicBezTo>
                      <a:pt x="54919" y="60031"/>
                      <a:pt x="139634" y="0"/>
                      <a:pt x="238370" y="0"/>
                    </a:cubicBezTo>
                    <a:close/>
                  </a:path>
                </a:pathLst>
              </a:custGeom>
              <a:solidFill>
                <a:srgbClr val="2858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8" name="Freeform: Shape 36">
              <a:extLst>
                <a:ext uri="{FF2B5EF4-FFF2-40B4-BE49-F238E27FC236}">
                  <a16:creationId xmlns:a16="http://schemas.microsoft.com/office/drawing/2014/main" id="{F7522640-49ED-AAEF-DB00-FEDC0A436531}"/>
                </a:ext>
              </a:extLst>
            </p:cNvPr>
            <p:cNvSpPr/>
            <p:nvPr/>
          </p:nvSpPr>
          <p:spPr>
            <a:xfrm>
              <a:off x="5751482" y="1221349"/>
              <a:ext cx="225789" cy="441729"/>
            </a:xfrm>
            <a:custGeom>
              <a:avLst/>
              <a:gdLst>
                <a:gd name="connsiteX0" fmla="*/ 264315 w 507102"/>
                <a:gd name="connsiteY0" fmla="*/ 61 h 819465"/>
                <a:gd name="connsiteX1" fmla="*/ 507102 w 507102"/>
                <a:gd name="connsiteY1" fmla="*/ 69499 h 819465"/>
                <a:gd name="connsiteX2" fmla="*/ 507102 w 507102"/>
                <a:gd name="connsiteY2" fmla="*/ 809074 h 819465"/>
                <a:gd name="connsiteX3" fmla="*/ 506404 w 507102"/>
                <a:gd name="connsiteY3" fmla="*/ 808339 h 819465"/>
                <a:gd name="connsiteX4" fmla="*/ 258479 w 507102"/>
                <a:gd name="connsiteY4" fmla="*/ 719015 h 819465"/>
                <a:gd name="connsiteX5" fmla="*/ 10554 w 507102"/>
                <a:gd name="connsiteY5" fmla="*/ 808339 h 819465"/>
                <a:gd name="connsiteX6" fmla="*/ 0 w 507102"/>
                <a:gd name="connsiteY6" fmla="*/ 819465 h 819465"/>
                <a:gd name="connsiteX7" fmla="*/ 0 w 507102"/>
                <a:gd name="connsiteY7" fmla="*/ 69499 h 819465"/>
                <a:gd name="connsiteX8" fmla="*/ 264315 w 507102"/>
                <a:gd name="connsiteY8" fmla="*/ 61 h 819465"/>
                <a:gd name="connsiteX0" fmla="*/ 260838 w 507102"/>
                <a:gd name="connsiteY0" fmla="*/ 15 h 888955"/>
                <a:gd name="connsiteX1" fmla="*/ 507102 w 507102"/>
                <a:gd name="connsiteY1" fmla="*/ 138989 h 888955"/>
                <a:gd name="connsiteX2" fmla="*/ 507102 w 507102"/>
                <a:gd name="connsiteY2" fmla="*/ 878564 h 888955"/>
                <a:gd name="connsiteX3" fmla="*/ 506404 w 507102"/>
                <a:gd name="connsiteY3" fmla="*/ 877829 h 888955"/>
                <a:gd name="connsiteX4" fmla="*/ 258479 w 507102"/>
                <a:gd name="connsiteY4" fmla="*/ 788505 h 888955"/>
                <a:gd name="connsiteX5" fmla="*/ 10554 w 507102"/>
                <a:gd name="connsiteY5" fmla="*/ 877829 h 888955"/>
                <a:gd name="connsiteX6" fmla="*/ 0 w 507102"/>
                <a:gd name="connsiteY6" fmla="*/ 888955 h 888955"/>
                <a:gd name="connsiteX7" fmla="*/ 0 w 507102"/>
                <a:gd name="connsiteY7" fmla="*/ 138989 h 888955"/>
                <a:gd name="connsiteX8" fmla="*/ 260838 w 507102"/>
                <a:gd name="connsiteY8" fmla="*/ 15 h 888955"/>
                <a:gd name="connsiteX0" fmla="*/ 0 w 507102"/>
                <a:gd name="connsiteY0" fmla="*/ 93098 h 843064"/>
                <a:gd name="connsiteX1" fmla="*/ 507102 w 507102"/>
                <a:gd name="connsiteY1" fmla="*/ 93098 h 843064"/>
                <a:gd name="connsiteX2" fmla="*/ 507102 w 507102"/>
                <a:gd name="connsiteY2" fmla="*/ 832673 h 843064"/>
                <a:gd name="connsiteX3" fmla="*/ 506404 w 507102"/>
                <a:gd name="connsiteY3" fmla="*/ 831938 h 843064"/>
                <a:gd name="connsiteX4" fmla="*/ 258479 w 507102"/>
                <a:gd name="connsiteY4" fmla="*/ 742614 h 843064"/>
                <a:gd name="connsiteX5" fmla="*/ 10554 w 507102"/>
                <a:gd name="connsiteY5" fmla="*/ 831938 h 843064"/>
                <a:gd name="connsiteX6" fmla="*/ 0 w 507102"/>
                <a:gd name="connsiteY6" fmla="*/ 843064 h 843064"/>
                <a:gd name="connsiteX7" fmla="*/ 0 w 507102"/>
                <a:gd name="connsiteY7" fmla="*/ 93098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7102" h="843064">
                  <a:moveTo>
                    <a:pt x="0" y="93098"/>
                  </a:moveTo>
                  <a:cubicBezTo>
                    <a:pt x="84517" y="-31896"/>
                    <a:pt x="422585" y="-30164"/>
                    <a:pt x="507102" y="93098"/>
                  </a:cubicBezTo>
                  <a:lnTo>
                    <a:pt x="507102" y="832673"/>
                  </a:lnTo>
                  <a:lnTo>
                    <a:pt x="506404" y="831938"/>
                  </a:lnTo>
                  <a:cubicBezTo>
                    <a:pt x="442955" y="776749"/>
                    <a:pt x="355300" y="742614"/>
                    <a:pt x="258479" y="742614"/>
                  </a:cubicBezTo>
                  <a:cubicBezTo>
                    <a:pt x="161658" y="742614"/>
                    <a:pt x="74004" y="776749"/>
                    <a:pt x="10554" y="831938"/>
                  </a:cubicBezTo>
                  <a:lnTo>
                    <a:pt x="0" y="843064"/>
                  </a:lnTo>
                  <a:lnTo>
                    <a:pt x="0" y="93098"/>
                  </a:lnTo>
                  <a:close/>
                </a:path>
              </a:pathLst>
            </a:custGeom>
            <a:solidFill>
              <a:srgbClr val="81C6D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Freeform: Shape 37">
              <a:extLst>
                <a:ext uri="{FF2B5EF4-FFF2-40B4-BE49-F238E27FC236}">
                  <a16:creationId xmlns:a16="http://schemas.microsoft.com/office/drawing/2014/main" id="{E6451F92-F769-D090-F98A-2605F78A8CF5}"/>
                </a:ext>
              </a:extLst>
            </p:cNvPr>
            <p:cNvSpPr/>
            <p:nvPr/>
          </p:nvSpPr>
          <p:spPr>
            <a:xfrm>
              <a:off x="5588897" y="795384"/>
              <a:ext cx="507102" cy="843064"/>
            </a:xfrm>
            <a:custGeom>
              <a:avLst/>
              <a:gdLst>
                <a:gd name="connsiteX0" fmla="*/ 0 w 507102"/>
                <a:gd name="connsiteY0" fmla="*/ 838892 h 843064"/>
                <a:gd name="connsiteX1" fmla="*/ 734 w 507102"/>
                <a:gd name="connsiteY1" fmla="*/ 842290 h 843064"/>
                <a:gd name="connsiteX2" fmla="*/ 0 w 507102"/>
                <a:gd name="connsiteY2" fmla="*/ 843064 h 843064"/>
                <a:gd name="connsiteX3" fmla="*/ 253551 w 507102"/>
                <a:gd name="connsiteY3" fmla="*/ 2 h 843064"/>
                <a:gd name="connsiteX4" fmla="*/ 507102 w 507102"/>
                <a:gd name="connsiteY4" fmla="*/ 93098 h 843064"/>
                <a:gd name="connsiteX5" fmla="*/ 507102 w 507102"/>
                <a:gd name="connsiteY5" fmla="*/ 832673 h 843064"/>
                <a:gd name="connsiteX6" fmla="*/ 506404 w 507102"/>
                <a:gd name="connsiteY6" fmla="*/ 831938 h 843064"/>
                <a:gd name="connsiteX7" fmla="*/ 394956 w 507102"/>
                <a:gd name="connsiteY7" fmla="*/ 766580 h 843064"/>
                <a:gd name="connsiteX8" fmla="*/ 354875 w 507102"/>
                <a:gd name="connsiteY8" fmla="*/ 759542 h 843064"/>
                <a:gd name="connsiteX9" fmla="*/ 306006 w 507102"/>
                <a:gd name="connsiteY9" fmla="*/ 744165 h 843064"/>
                <a:gd name="connsiteX10" fmla="*/ 220267 w 507102"/>
                <a:gd name="connsiteY10" fmla="*/ 736087 h 843064"/>
                <a:gd name="connsiteX11" fmla="*/ 4473 w 507102"/>
                <a:gd name="connsiteY11" fmla="*/ 818166 h 843064"/>
                <a:gd name="connsiteX12" fmla="*/ 0 w 507102"/>
                <a:gd name="connsiteY12" fmla="*/ 838874 h 843064"/>
                <a:gd name="connsiteX13" fmla="*/ 0 w 507102"/>
                <a:gd name="connsiteY13" fmla="*/ 93098 h 843064"/>
                <a:gd name="connsiteX14" fmla="*/ 253551 w 507102"/>
                <a:gd name="connsiteY14" fmla="*/ 2 h 843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07102" h="843064">
                  <a:moveTo>
                    <a:pt x="0" y="838892"/>
                  </a:moveTo>
                  <a:lnTo>
                    <a:pt x="734" y="842290"/>
                  </a:lnTo>
                  <a:lnTo>
                    <a:pt x="0" y="843064"/>
                  </a:lnTo>
                  <a:close/>
                  <a:moveTo>
                    <a:pt x="253551" y="2"/>
                  </a:moveTo>
                  <a:cubicBezTo>
                    <a:pt x="359198" y="219"/>
                    <a:pt x="464844" y="31467"/>
                    <a:pt x="507102" y="93098"/>
                  </a:cubicBezTo>
                  <a:lnTo>
                    <a:pt x="507102" y="832673"/>
                  </a:lnTo>
                  <a:lnTo>
                    <a:pt x="506404" y="831938"/>
                  </a:lnTo>
                  <a:cubicBezTo>
                    <a:pt x="474680" y="804344"/>
                    <a:pt x="436904" y="782013"/>
                    <a:pt x="394956" y="766580"/>
                  </a:cubicBezTo>
                  <a:lnTo>
                    <a:pt x="354875" y="759542"/>
                  </a:lnTo>
                  <a:lnTo>
                    <a:pt x="306006" y="744165"/>
                  </a:lnTo>
                  <a:cubicBezTo>
                    <a:pt x="279653" y="738963"/>
                    <a:pt x="250680" y="736087"/>
                    <a:pt x="220267" y="736087"/>
                  </a:cubicBezTo>
                  <a:cubicBezTo>
                    <a:pt x="113823" y="736087"/>
                    <a:pt x="25013" y="771323"/>
                    <a:pt x="4473" y="818166"/>
                  </a:cubicBezTo>
                  <a:lnTo>
                    <a:pt x="0" y="838874"/>
                  </a:lnTo>
                  <a:lnTo>
                    <a:pt x="0" y="93098"/>
                  </a:lnTo>
                  <a:cubicBezTo>
                    <a:pt x="42259" y="30601"/>
                    <a:pt x="147905" y="-215"/>
                    <a:pt x="253551" y="2"/>
                  </a:cubicBezTo>
                  <a:close/>
                </a:path>
              </a:pathLst>
            </a:custGeom>
            <a:gradFill>
              <a:gsLst>
                <a:gs pos="30000">
                  <a:srgbClr val="3BB0FF"/>
                </a:gs>
                <a:gs pos="100000">
                  <a:srgbClr val="0066CC"/>
                </a:gs>
                <a:gs pos="0">
                  <a:srgbClr val="0099FF"/>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2" name="Rectangle 6">
            <a:extLst>
              <a:ext uri="{FF2B5EF4-FFF2-40B4-BE49-F238E27FC236}">
                <a16:creationId xmlns:a16="http://schemas.microsoft.com/office/drawing/2014/main" id="{E34F367C-9F3F-3435-6E12-4A6174D23F70}"/>
              </a:ext>
            </a:extLst>
          </p:cNvPr>
          <p:cNvSpPr/>
          <p:nvPr/>
        </p:nvSpPr>
        <p:spPr>
          <a:xfrm>
            <a:off x="6484568" y="2619531"/>
            <a:ext cx="514595" cy="3776647"/>
          </a:xfrm>
          <a:prstGeom prst="rect">
            <a:avLst/>
          </a:prstGeom>
          <a:solidFill>
            <a:srgbClr val="F4F4F4"/>
          </a:solidFill>
          <a:ln>
            <a:noFill/>
          </a:ln>
          <a:effectLst>
            <a:outerShdw blurRad="139700" dist="889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TextBox 8">
            <a:extLst>
              <a:ext uri="{FF2B5EF4-FFF2-40B4-BE49-F238E27FC236}">
                <a16:creationId xmlns:a16="http://schemas.microsoft.com/office/drawing/2014/main" id="{4ED9E0C1-9D1E-1CB6-3E67-F0A81DE200CE}"/>
              </a:ext>
            </a:extLst>
          </p:cNvPr>
          <p:cNvSpPr txBox="1"/>
          <p:nvPr/>
        </p:nvSpPr>
        <p:spPr>
          <a:xfrm>
            <a:off x="7013194" y="2935326"/>
            <a:ext cx="3507707" cy="738664"/>
          </a:xfrm>
          <a:prstGeom prst="rect">
            <a:avLst/>
          </a:prstGeom>
          <a:noFill/>
        </p:spPr>
        <p:txBody>
          <a:bodyPr wrap="square" rtlCol="0">
            <a:spAutoFit/>
          </a:bodyPr>
          <a:lstStyle/>
          <a:p>
            <a:r>
              <a:rPr lang="es-419" sz="1400" dirty="0"/>
              <a:t>Prioridad de </a:t>
            </a:r>
            <a:r>
              <a:rPr lang="es-419" sz="1400" b="1" dirty="0"/>
              <a:t>Cargos</a:t>
            </a:r>
            <a:r>
              <a:rPr lang="es-419" sz="1400" dirty="0"/>
              <a:t> en Orden Descendente </a:t>
            </a:r>
            <a:endParaRPr lang="en-US" sz="1400" dirty="0"/>
          </a:p>
          <a:p>
            <a:endParaRPr lang="en-US" sz="1400" dirty="0"/>
          </a:p>
        </p:txBody>
      </p:sp>
      <p:sp>
        <p:nvSpPr>
          <p:cNvPr id="64" name="TextBox 49">
            <a:extLst>
              <a:ext uri="{FF2B5EF4-FFF2-40B4-BE49-F238E27FC236}">
                <a16:creationId xmlns:a16="http://schemas.microsoft.com/office/drawing/2014/main" id="{6909354B-AEFD-23A7-0A99-ACF8A2983B1C}"/>
              </a:ext>
            </a:extLst>
          </p:cNvPr>
          <p:cNvSpPr txBox="1"/>
          <p:nvPr/>
        </p:nvSpPr>
        <p:spPr>
          <a:xfrm>
            <a:off x="7087922" y="4186058"/>
            <a:ext cx="2923995" cy="523220"/>
          </a:xfrm>
          <a:prstGeom prst="rect">
            <a:avLst/>
          </a:prstGeom>
          <a:noFill/>
        </p:spPr>
        <p:txBody>
          <a:bodyPr wrap="square" rtlCol="0">
            <a:spAutoFit/>
          </a:bodyPr>
          <a:lstStyle/>
          <a:p>
            <a:r>
              <a:rPr lang="es-419" sz="1400" dirty="0"/>
              <a:t>Fecha Vigente de </a:t>
            </a:r>
            <a:r>
              <a:rPr lang="es-419" sz="1400" b="1" dirty="0"/>
              <a:t>Cargo</a:t>
            </a:r>
            <a:r>
              <a:rPr lang="es-419" sz="1400" dirty="0"/>
              <a:t> de la más antigua a más reciente</a:t>
            </a:r>
            <a:endParaRPr lang="en-US" sz="1400" dirty="0"/>
          </a:p>
        </p:txBody>
      </p:sp>
      <p:sp>
        <p:nvSpPr>
          <p:cNvPr id="65" name="TextBox 50">
            <a:extLst>
              <a:ext uri="{FF2B5EF4-FFF2-40B4-BE49-F238E27FC236}">
                <a16:creationId xmlns:a16="http://schemas.microsoft.com/office/drawing/2014/main" id="{24A50162-366F-2141-5CD4-DF6930B91B06}"/>
              </a:ext>
            </a:extLst>
          </p:cNvPr>
          <p:cNvSpPr txBox="1"/>
          <p:nvPr/>
        </p:nvSpPr>
        <p:spPr>
          <a:xfrm>
            <a:off x="6999163" y="5341713"/>
            <a:ext cx="2590414" cy="523220"/>
          </a:xfrm>
          <a:prstGeom prst="rect">
            <a:avLst/>
          </a:prstGeom>
          <a:noFill/>
        </p:spPr>
        <p:txBody>
          <a:bodyPr wrap="square" rtlCol="0">
            <a:spAutoFit/>
          </a:bodyPr>
          <a:lstStyle/>
          <a:p>
            <a:r>
              <a:rPr lang="es-CO" sz="1400" dirty="0"/>
              <a:t>Número de transacción de </a:t>
            </a:r>
            <a:r>
              <a:rPr lang="es-CO" sz="1400" b="1" dirty="0"/>
              <a:t>Cargo</a:t>
            </a:r>
            <a:r>
              <a:rPr lang="es-CO" sz="1400" dirty="0"/>
              <a:t> de menor a mayor</a:t>
            </a:r>
            <a:endParaRPr lang="en-US" sz="1400" dirty="0"/>
          </a:p>
        </p:txBody>
      </p:sp>
      <p:sp>
        <p:nvSpPr>
          <p:cNvPr id="66" name="CuadroTexto 65">
            <a:extLst>
              <a:ext uri="{FF2B5EF4-FFF2-40B4-BE49-F238E27FC236}">
                <a16:creationId xmlns:a16="http://schemas.microsoft.com/office/drawing/2014/main" id="{0464A1B1-AFF9-9BDD-646E-22C902D3E66F}"/>
              </a:ext>
            </a:extLst>
          </p:cNvPr>
          <p:cNvSpPr txBox="1"/>
          <p:nvPr/>
        </p:nvSpPr>
        <p:spPr>
          <a:xfrm>
            <a:off x="989862" y="2619531"/>
            <a:ext cx="485518" cy="2212932"/>
          </a:xfrm>
          <a:prstGeom prst="rect">
            <a:avLst/>
          </a:prstGeom>
          <a:noFill/>
        </p:spPr>
        <p:txBody>
          <a:bodyPr vert="wordArtVert" wrap="square" rtlCol="0">
            <a:spAutoFit/>
          </a:bodyPr>
          <a:lstStyle/>
          <a:p>
            <a:r>
              <a:rPr lang="es-CO" b="1" dirty="0"/>
              <a:t>Pagos</a:t>
            </a:r>
            <a:endParaRPr lang="en-US" b="1" dirty="0"/>
          </a:p>
        </p:txBody>
      </p:sp>
      <p:sp>
        <p:nvSpPr>
          <p:cNvPr id="67" name="CuadroTexto 66">
            <a:extLst>
              <a:ext uri="{FF2B5EF4-FFF2-40B4-BE49-F238E27FC236}">
                <a16:creationId xmlns:a16="http://schemas.microsoft.com/office/drawing/2014/main" id="{EE8240AC-0B05-B0DB-2379-034F681493F3}"/>
              </a:ext>
            </a:extLst>
          </p:cNvPr>
          <p:cNvSpPr txBox="1"/>
          <p:nvPr/>
        </p:nvSpPr>
        <p:spPr>
          <a:xfrm>
            <a:off x="6500352" y="2751234"/>
            <a:ext cx="485518" cy="2193339"/>
          </a:xfrm>
          <a:prstGeom prst="rect">
            <a:avLst/>
          </a:prstGeom>
          <a:noFill/>
        </p:spPr>
        <p:txBody>
          <a:bodyPr vert="wordArtVert" wrap="square" rtlCol="0">
            <a:spAutoFit/>
          </a:bodyPr>
          <a:lstStyle/>
          <a:p>
            <a:r>
              <a:rPr lang="es-CO" b="1" dirty="0"/>
              <a:t>Cargos</a:t>
            </a:r>
            <a:endParaRPr lang="en-US" b="1" dirty="0"/>
          </a:p>
        </p:txBody>
      </p:sp>
      <p:sp>
        <p:nvSpPr>
          <p:cNvPr id="68" name="Título 3">
            <a:extLst>
              <a:ext uri="{FF2B5EF4-FFF2-40B4-BE49-F238E27FC236}">
                <a16:creationId xmlns:a16="http://schemas.microsoft.com/office/drawing/2014/main" id="{90890966-5627-231B-9294-F90D43E21088}"/>
              </a:ext>
            </a:extLst>
          </p:cNvPr>
          <p:cNvSpPr txBox="1">
            <a:spLocks/>
          </p:cNvSpPr>
          <p:nvPr/>
        </p:nvSpPr>
        <p:spPr>
          <a:xfrm>
            <a:off x="832729" y="336834"/>
            <a:ext cx="10526542" cy="898555"/>
          </a:xfrm>
          <a:prstGeom prst="rect">
            <a:avLst/>
          </a:prstGeom>
        </p:spPr>
        <p:txBody>
          <a:bodyPr/>
          <a:lstStyle>
            <a:defPPr>
              <a:defRPr lang="en-US"/>
            </a:defPPr>
            <a:lvl1pPr>
              <a:lnSpc>
                <a:spcPct val="90000"/>
              </a:lnSpc>
              <a:spcBef>
                <a:spcPct val="0"/>
              </a:spcBef>
              <a:buNone/>
              <a:defRPr sz="3200" b="1">
                <a:solidFill>
                  <a:schemeClr val="accent1"/>
                </a:solidFill>
                <a:latin typeface="+mj-lt"/>
                <a:ea typeface="+mj-ea"/>
                <a:cs typeface="+mj-cs"/>
              </a:defRPr>
            </a:lvl1pPr>
          </a:lstStyle>
          <a:p>
            <a:r>
              <a:rPr lang="es-ES_tradnl" dirty="0"/>
              <a:t>Procedimiento : </a:t>
            </a:r>
            <a:r>
              <a:rPr lang="es-ES_tradnl" dirty="0">
                <a:solidFill>
                  <a:schemeClr val="tx1"/>
                </a:solidFill>
              </a:rPr>
              <a:t>Gestionar los conceptos de cobro</a:t>
            </a:r>
            <a:br>
              <a:rPr lang="es-ES_tradnl" dirty="0">
                <a:solidFill>
                  <a:schemeClr val="tx1"/>
                </a:solidFill>
              </a:rPr>
            </a:br>
            <a:r>
              <a:rPr lang="es-ES_tradnl" dirty="0">
                <a:solidFill>
                  <a:schemeClr val="tx1"/>
                </a:solidFill>
              </a:rPr>
              <a:t>Designar Prioridades</a:t>
            </a:r>
            <a:endParaRPr lang="es-CL" dirty="0">
              <a:solidFill>
                <a:schemeClr val="tx1"/>
              </a:solidFill>
            </a:endParaRPr>
          </a:p>
        </p:txBody>
      </p:sp>
    </p:spTree>
    <p:extLst>
      <p:ext uri="{BB962C8B-B14F-4D97-AF65-F5344CB8AC3E}">
        <p14:creationId xmlns:p14="http://schemas.microsoft.com/office/powerpoint/2010/main" val="2654970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ppt_x</p:attrName>
                                        </p:attrNameLst>
                                      </p:cBhvr>
                                      <p:tavLst>
                                        <p:tav tm="0">
                                          <p:val>
                                            <p:strVal val="#ppt_x-#ppt_w/2"/>
                                          </p:val>
                                        </p:tav>
                                        <p:tav tm="100000">
                                          <p:val>
                                            <p:strVal val="#ppt_x"/>
                                          </p:val>
                                        </p:tav>
                                      </p:tavLst>
                                    </p:anim>
                                    <p:anim calcmode="lin" valueType="num">
                                      <p:cBhvr>
                                        <p:cTn id="8" dur="500" fill="hold"/>
                                        <p:tgtEl>
                                          <p:spTgt spid="4"/>
                                        </p:tgtEl>
                                        <p:attrNameLst>
                                          <p:attrName>ppt_y</p:attrName>
                                        </p:attrNameLst>
                                      </p:cBhvr>
                                      <p:tavLst>
                                        <p:tav tm="0">
                                          <p:val>
                                            <p:strVal val="#ppt_y"/>
                                          </p:val>
                                        </p:tav>
                                        <p:tav tm="100000">
                                          <p:val>
                                            <p:strVal val="#ppt_y"/>
                                          </p:val>
                                        </p:tav>
                                      </p:tavLst>
                                    </p:anim>
                                    <p:anim calcmode="lin" valueType="num">
                                      <p:cBhvr>
                                        <p:cTn id="9" dur="500" fill="hold"/>
                                        <p:tgtEl>
                                          <p:spTgt spid="4"/>
                                        </p:tgtEl>
                                        <p:attrNameLst>
                                          <p:attrName>ppt_w</p:attrName>
                                        </p:attrNameLst>
                                      </p:cBhvr>
                                      <p:tavLst>
                                        <p:tav tm="0">
                                          <p:val>
                                            <p:fltVal val="0"/>
                                          </p:val>
                                        </p:tav>
                                        <p:tav tm="100000">
                                          <p:val>
                                            <p:strVal val="#ppt_w"/>
                                          </p:val>
                                        </p:tav>
                                      </p:tavLst>
                                    </p:anim>
                                    <p:anim calcmode="lin" valueType="num">
                                      <p:cBhvr>
                                        <p:cTn id="10" dur="500" fill="hold"/>
                                        <p:tgtEl>
                                          <p:spTgt spid="4"/>
                                        </p:tgtEl>
                                        <p:attrNameLst>
                                          <p:attrName>ppt_h</p:attrName>
                                        </p:attrNameLst>
                                      </p:cBhvr>
                                      <p:tavLst>
                                        <p:tav tm="0">
                                          <p:val>
                                            <p:strVal val="#ppt_h"/>
                                          </p:val>
                                        </p:tav>
                                        <p:tav tm="100000">
                                          <p:val>
                                            <p:strVal val="#ppt_h"/>
                                          </p:val>
                                        </p:tav>
                                      </p:tavLst>
                                    </p:anim>
                                  </p:childTnLst>
                                </p:cTn>
                              </p:par>
                            </p:childTnLst>
                          </p:cTn>
                        </p:par>
                        <p:par>
                          <p:cTn id="11" fill="hold">
                            <p:stCondLst>
                              <p:cond delay="500"/>
                            </p:stCondLst>
                            <p:childTnLst>
                              <p:par>
                                <p:cTn id="12" presetID="17" presetClass="entr" presetSubtype="8" fill="hold" grpId="0" nodeType="afterEffect">
                                  <p:stCondLst>
                                    <p:cond delay="0"/>
                                  </p:stCondLst>
                                  <p:childTnLst>
                                    <p:set>
                                      <p:cBhvr>
                                        <p:cTn id="13" dur="1" fill="hold">
                                          <p:stCondLst>
                                            <p:cond delay="0"/>
                                          </p:stCondLst>
                                        </p:cTn>
                                        <p:tgtEl>
                                          <p:spTgt spid="32"/>
                                        </p:tgtEl>
                                        <p:attrNameLst>
                                          <p:attrName>style.visibility</p:attrName>
                                        </p:attrNameLst>
                                      </p:cBhvr>
                                      <p:to>
                                        <p:strVal val="visible"/>
                                      </p:to>
                                    </p:set>
                                    <p:anim calcmode="lin" valueType="num">
                                      <p:cBhvr>
                                        <p:cTn id="14" dur="500" fill="hold"/>
                                        <p:tgtEl>
                                          <p:spTgt spid="32"/>
                                        </p:tgtEl>
                                        <p:attrNameLst>
                                          <p:attrName>ppt_x</p:attrName>
                                        </p:attrNameLst>
                                      </p:cBhvr>
                                      <p:tavLst>
                                        <p:tav tm="0">
                                          <p:val>
                                            <p:strVal val="#ppt_x-#ppt_w/2"/>
                                          </p:val>
                                        </p:tav>
                                        <p:tav tm="100000">
                                          <p:val>
                                            <p:strVal val="#ppt_x"/>
                                          </p:val>
                                        </p:tav>
                                      </p:tavLst>
                                    </p:anim>
                                    <p:anim calcmode="lin" valueType="num">
                                      <p:cBhvr>
                                        <p:cTn id="15" dur="500" fill="hold"/>
                                        <p:tgtEl>
                                          <p:spTgt spid="32"/>
                                        </p:tgtEl>
                                        <p:attrNameLst>
                                          <p:attrName>ppt_y</p:attrName>
                                        </p:attrNameLst>
                                      </p:cBhvr>
                                      <p:tavLst>
                                        <p:tav tm="0">
                                          <p:val>
                                            <p:strVal val="#ppt_y"/>
                                          </p:val>
                                        </p:tav>
                                        <p:tav tm="100000">
                                          <p:val>
                                            <p:strVal val="#ppt_y"/>
                                          </p:val>
                                        </p:tav>
                                      </p:tavLst>
                                    </p:anim>
                                    <p:anim calcmode="lin" valueType="num">
                                      <p:cBhvr>
                                        <p:cTn id="16" dur="500" fill="hold"/>
                                        <p:tgtEl>
                                          <p:spTgt spid="32"/>
                                        </p:tgtEl>
                                        <p:attrNameLst>
                                          <p:attrName>ppt_w</p:attrName>
                                        </p:attrNameLst>
                                      </p:cBhvr>
                                      <p:tavLst>
                                        <p:tav tm="0">
                                          <p:val>
                                            <p:fltVal val="0"/>
                                          </p:val>
                                        </p:tav>
                                        <p:tav tm="100000">
                                          <p:val>
                                            <p:strVal val="#ppt_w"/>
                                          </p:val>
                                        </p:tav>
                                      </p:tavLst>
                                    </p:anim>
                                    <p:anim calcmode="lin" valueType="num">
                                      <p:cBhvr>
                                        <p:cTn id="17" dur="500" fill="hold"/>
                                        <p:tgtEl>
                                          <p:spTgt spid="32"/>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17" presetClass="entr" presetSubtype="8"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ppt_x</p:attrName>
                                        </p:attrNameLst>
                                      </p:cBhvr>
                                      <p:tavLst>
                                        <p:tav tm="0">
                                          <p:val>
                                            <p:strVal val="#ppt_x-#ppt_w/2"/>
                                          </p:val>
                                        </p:tav>
                                        <p:tav tm="100000">
                                          <p:val>
                                            <p:strVal val="#ppt_x"/>
                                          </p:val>
                                        </p:tav>
                                      </p:tavLst>
                                    </p:anim>
                                    <p:anim calcmode="lin" valueType="num">
                                      <p:cBhvr>
                                        <p:cTn id="23" dur="500" fill="hold"/>
                                        <p:tgtEl>
                                          <p:spTgt spid="13"/>
                                        </p:tgtEl>
                                        <p:attrNameLst>
                                          <p:attrName>ppt_y</p:attrName>
                                        </p:attrNameLst>
                                      </p:cBhvr>
                                      <p:tavLst>
                                        <p:tav tm="0">
                                          <p:val>
                                            <p:strVal val="#ppt_y"/>
                                          </p:val>
                                        </p:tav>
                                        <p:tav tm="100000">
                                          <p:val>
                                            <p:strVal val="#ppt_y"/>
                                          </p:val>
                                        </p:tav>
                                      </p:tavLst>
                                    </p:anim>
                                    <p:anim calcmode="lin" valueType="num">
                                      <p:cBhvr>
                                        <p:cTn id="24" dur="500" fill="hold"/>
                                        <p:tgtEl>
                                          <p:spTgt spid="13"/>
                                        </p:tgtEl>
                                        <p:attrNameLst>
                                          <p:attrName>ppt_w</p:attrName>
                                        </p:attrNameLst>
                                      </p:cBhvr>
                                      <p:tavLst>
                                        <p:tav tm="0">
                                          <p:val>
                                            <p:fltVal val="0"/>
                                          </p:val>
                                        </p:tav>
                                        <p:tav tm="100000">
                                          <p:val>
                                            <p:strVal val="#ppt_w"/>
                                          </p:val>
                                        </p:tav>
                                      </p:tavLst>
                                    </p:anim>
                                    <p:anim calcmode="lin" valueType="num">
                                      <p:cBhvr>
                                        <p:cTn id="25" dur="500" fill="hold"/>
                                        <p:tgtEl>
                                          <p:spTgt spid="13"/>
                                        </p:tgtEl>
                                        <p:attrNameLst>
                                          <p:attrName>ppt_h</p:attrName>
                                        </p:attrNameLst>
                                      </p:cBhvr>
                                      <p:tavLst>
                                        <p:tav tm="0">
                                          <p:val>
                                            <p:strVal val="#ppt_h"/>
                                          </p:val>
                                        </p:tav>
                                        <p:tav tm="100000">
                                          <p:val>
                                            <p:strVal val="#ppt_h"/>
                                          </p:val>
                                        </p:tav>
                                      </p:tavLst>
                                    </p:anim>
                                  </p:childTnLst>
                                </p:cTn>
                              </p:par>
                            </p:childTnLst>
                          </p:cTn>
                        </p:par>
                        <p:par>
                          <p:cTn id="26" fill="hold">
                            <p:stCondLst>
                              <p:cond delay="500"/>
                            </p:stCondLst>
                            <p:childTnLst>
                              <p:par>
                                <p:cTn id="27" presetID="17" presetClass="entr" presetSubtype="8" fill="hold" grpId="0" nodeType="afterEffect">
                                  <p:stCondLst>
                                    <p:cond delay="0"/>
                                  </p:stCondLst>
                                  <p:childTnLst>
                                    <p:set>
                                      <p:cBhvr>
                                        <p:cTn id="28" dur="1" fill="hold">
                                          <p:stCondLst>
                                            <p:cond delay="0"/>
                                          </p:stCondLst>
                                        </p:cTn>
                                        <p:tgtEl>
                                          <p:spTgt spid="33"/>
                                        </p:tgtEl>
                                        <p:attrNameLst>
                                          <p:attrName>style.visibility</p:attrName>
                                        </p:attrNameLst>
                                      </p:cBhvr>
                                      <p:to>
                                        <p:strVal val="visible"/>
                                      </p:to>
                                    </p:set>
                                    <p:anim calcmode="lin" valueType="num">
                                      <p:cBhvr>
                                        <p:cTn id="29" dur="500" fill="hold"/>
                                        <p:tgtEl>
                                          <p:spTgt spid="33"/>
                                        </p:tgtEl>
                                        <p:attrNameLst>
                                          <p:attrName>ppt_x</p:attrName>
                                        </p:attrNameLst>
                                      </p:cBhvr>
                                      <p:tavLst>
                                        <p:tav tm="0">
                                          <p:val>
                                            <p:strVal val="#ppt_x-#ppt_w/2"/>
                                          </p:val>
                                        </p:tav>
                                        <p:tav tm="100000">
                                          <p:val>
                                            <p:strVal val="#ppt_x"/>
                                          </p:val>
                                        </p:tav>
                                      </p:tavLst>
                                    </p:anim>
                                    <p:anim calcmode="lin" valueType="num">
                                      <p:cBhvr>
                                        <p:cTn id="30" dur="500" fill="hold"/>
                                        <p:tgtEl>
                                          <p:spTgt spid="33"/>
                                        </p:tgtEl>
                                        <p:attrNameLst>
                                          <p:attrName>ppt_y</p:attrName>
                                        </p:attrNameLst>
                                      </p:cBhvr>
                                      <p:tavLst>
                                        <p:tav tm="0">
                                          <p:val>
                                            <p:strVal val="#ppt_y"/>
                                          </p:val>
                                        </p:tav>
                                        <p:tav tm="100000">
                                          <p:val>
                                            <p:strVal val="#ppt_y"/>
                                          </p:val>
                                        </p:tav>
                                      </p:tavLst>
                                    </p:anim>
                                    <p:anim calcmode="lin" valueType="num">
                                      <p:cBhvr>
                                        <p:cTn id="31" dur="500" fill="hold"/>
                                        <p:tgtEl>
                                          <p:spTgt spid="33"/>
                                        </p:tgtEl>
                                        <p:attrNameLst>
                                          <p:attrName>ppt_w</p:attrName>
                                        </p:attrNameLst>
                                      </p:cBhvr>
                                      <p:tavLst>
                                        <p:tav tm="0">
                                          <p:val>
                                            <p:fltVal val="0"/>
                                          </p:val>
                                        </p:tav>
                                        <p:tav tm="100000">
                                          <p:val>
                                            <p:strVal val="#ppt_w"/>
                                          </p:val>
                                        </p:tav>
                                      </p:tavLst>
                                    </p:anim>
                                    <p:anim calcmode="lin" valueType="num">
                                      <p:cBhvr>
                                        <p:cTn id="32" dur="500" fill="hold"/>
                                        <p:tgtEl>
                                          <p:spTgt spid="33"/>
                                        </p:tgtEl>
                                        <p:attrNameLst>
                                          <p:attrName>ppt_h</p:attrName>
                                        </p:attrNameLst>
                                      </p:cBhvr>
                                      <p:tavLst>
                                        <p:tav tm="0">
                                          <p:val>
                                            <p:strVal val="#ppt_h"/>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17" presetClass="entr" presetSubtype="8"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anim calcmode="lin" valueType="num">
                                      <p:cBhvr>
                                        <p:cTn id="37" dur="500" fill="hold"/>
                                        <p:tgtEl>
                                          <p:spTgt spid="22"/>
                                        </p:tgtEl>
                                        <p:attrNameLst>
                                          <p:attrName>ppt_x</p:attrName>
                                        </p:attrNameLst>
                                      </p:cBhvr>
                                      <p:tavLst>
                                        <p:tav tm="0">
                                          <p:val>
                                            <p:strVal val="#ppt_x-#ppt_w/2"/>
                                          </p:val>
                                        </p:tav>
                                        <p:tav tm="100000">
                                          <p:val>
                                            <p:strVal val="#ppt_x"/>
                                          </p:val>
                                        </p:tav>
                                      </p:tavLst>
                                    </p:anim>
                                    <p:anim calcmode="lin" valueType="num">
                                      <p:cBhvr>
                                        <p:cTn id="38" dur="500" fill="hold"/>
                                        <p:tgtEl>
                                          <p:spTgt spid="22"/>
                                        </p:tgtEl>
                                        <p:attrNameLst>
                                          <p:attrName>ppt_y</p:attrName>
                                        </p:attrNameLst>
                                      </p:cBhvr>
                                      <p:tavLst>
                                        <p:tav tm="0">
                                          <p:val>
                                            <p:strVal val="#ppt_y"/>
                                          </p:val>
                                        </p:tav>
                                        <p:tav tm="100000">
                                          <p:val>
                                            <p:strVal val="#ppt_y"/>
                                          </p:val>
                                        </p:tav>
                                      </p:tavLst>
                                    </p:anim>
                                    <p:anim calcmode="lin" valueType="num">
                                      <p:cBhvr>
                                        <p:cTn id="39" dur="500" fill="hold"/>
                                        <p:tgtEl>
                                          <p:spTgt spid="22"/>
                                        </p:tgtEl>
                                        <p:attrNameLst>
                                          <p:attrName>ppt_w</p:attrName>
                                        </p:attrNameLst>
                                      </p:cBhvr>
                                      <p:tavLst>
                                        <p:tav tm="0">
                                          <p:val>
                                            <p:fltVal val="0"/>
                                          </p:val>
                                        </p:tav>
                                        <p:tav tm="100000">
                                          <p:val>
                                            <p:strVal val="#ppt_w"/>
                                          </p:val>
                                        </p:tav>
                                      </p:tavLst>
                                    </p:anim>
                                    <p:anim calcmode="lin" valueType="num">
                                      <p:cBhvr>
                                        <p:cTn id="40" dur="500" fill="hold"/>
                                        <p:tgtEl>
                                          <p:spTgt spid="22"/>
                                        </p:tgtEl>
                                        <p:attrNameLst>
                                          <p:attrName>ppt_h</p:attrName>
                                        </p:attrNameLst>
                                      </p:cBhvr>
                                      <p:tavLst>
                                        <p:tav tm="0">
                                          <p:val>
                                            <p:strVal val="#ppt_h"/>
                                          </p:val>
                                        </p:tav>
                                        <p:tav tm="100000">
                                          <p:val>
                                            <p:strVal val="#ppt_h"/>
                                          </p:val>
                                        </p:tav>
                                      </p:tavLst>
                                    </p:anim>
                                  </p:childTnLst>
                                </p:cTn>
                              </p:par>
                            </p:childTnLst>
                          </p:cTn>
                        </p:par>
                        <p:par>
                          <p:cTn id="41" fill="hold">
                            <p:stCondLst>
                              <p:cond delay="500"/>
                            </p:stCondLst>
                            <p:childTnLst>
                              <p:par>
                                <p:cTn id="42" presetID="17" presetClass="entr" presetSubtype="8" fill="hold" grpId="0" nodeType="after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p:cTn id="44" dur="500" fill="hold"/>
                                        <p:tgtEl>
                                          <p:spTgt spid="34"/>
                                        </p:tgtEl>
                                        <p:attrNameLst>
                                          <p:attrName>ppt_x</p:attrName>
                                        </p:attrNameLst>
                                      </p:cBhvr>
                                      <p:tavLst>
                                        <p:tav tm="0">
                                          <p:val>
                                            <p:strVal val="#ppt_x-#ppt_w/2"/>
                                          </p:val>
                                        </p:tav>
                                        <p:tav tm="100000">
                                          <p:val>
                                            <p:strVal val="#ppt_x"/>
                                          </p:val>
                                        </p:tav>
                                      </p:tavLst>
                                    </p:anim>
                                    <p:anim calcmode="lin" valueType="num">
                                      <p:cBhvr>
                                        <p:cTn id="45" dur="500" fill="hold"/>
                                        <p:tgtEl>
                                          <p:spTgt spid="34"/>
                                        </p:tgtEl>
                                        <p:attrNameLst>
                                          <p:attrName>ppt_y</p:attrName>
                                        </p:attrNameLst>
                                      </p:cBhvr>
                                      <p:tavLst>
                                        <p:tav tm="0">
                                          <p:val>
                                            <p:strVal val="#ppt_y"/>
                                          </p:val>
                                        </p:tav>
                                        <p:tav tm="100000">
                                          <p:val>
                                            <p:strVal val="#ppt_y"/>
                                          </p:val>
                                        </p:tav>
                                      </p:tavLst>
                                    </p:anim>
                                    <p:anim calcmode="lin" valueType="num">
                                      <p:cBhvr>
                                        <p:cTn id="46" dur="500" fill="hold"/>
                                        <p:tgtEl>
                                          <p:spTgt spid="34"/>
                                        </p:tgtEl>
                                        <p:attrNameLst>
                                          <p:attrName>ppt_w</p:attrName>
                                        </p:attrNameLst>
                                      </p:cBhvr>
                                      <p:tavLst>
                                        <p:tav tm="0">
                                          <p:val>
                                            <p:fltVal val="0"/>
                                          </p:val>
                                        </p:tav>
                                        <p:tav tm="100000">
                                          <p:val>
                                            <p:strVal val="#ppt_w"/>
                                          </p:val>
                                        </p:tav>
                                      </p:tavLst>
                                    </p:anim>
                                    <p:anim calcmode="lin" valueType="num">
                                      <p:cBhvr>
                                        <p:cTn id="47" dur="500" fill="hold"/>
                                        <p:tgtEl>
                                          <p:spTgt spid="34"/>
                                        </p:tgtEl>
                                        <p:attrNameLst>
                                          <p:attrName>ppt_h</p:attrName>
                                        </p:attrNameLst>
                                      </p:cBhvr>
                                      <p:tavLst>
                                        <p:tav tm="0">
                                          <p:val>
                                            <p:strVal val="#ppt_h"/>
                                          </p:val>
                                        </p:tav>
                                        <p:tav tm="100000">
                                          <p:val>
                                            <p:strVal val="#ppt_h"/>
                                          </p:val>
                                        </p:tav>
                                      </p:tavLst>
                                    </p:anim>
                                  </p:childTnLst>
                                </p:cTn>
                              </p:par>
                            </p:childTnLst>
                          </p:cTn>
                        </p:par>
                      </p:childTnLst>
                    </p:cTn>
                  </p:par>
                  <p:par>
                    <p:cTn id="48" fill="hold">
                      <p:stCondLst>
                        <p:cond delay="indefinite"/>
                      </p:stCondLst>
                      <p:childTnLst>
                        <p:par>
                          <p:cTn id="49" fill="hold">
                            <p:stCondLst>
                              <p:cond delay="0"/>
                            </p:stCondLst>
                            <p:childTnLst>
                              <p:par>
                                <p:cTn id="50" presetID="17" presetClass="entr" presetSubtype="8" fill="hold" nodeType="clickEffect">
                                  <p:stCondLst>
                                    <p:cond delay="0"/>
                                  </p:stCondLst>
                                  <p:childTnLst>
                                    <p:set>
                                      <p:cBhvr>
                                        <p:cTn id="51" dur="1" fill="hold">
                                          <p:stCondLst>
                                            <p:cond delay="0"/>
                                          </p:stCondLst>
                                        </p:cTn>
                                        <p:tgtEl>
                                          <p:spTgt spid="35"/>
                                        </p:tgtEl>
                                        <p:attrNameLst>
                                          <p:attrName>style.visibility</p:attrName>
                                        </p:attrNameLst>
                                      </p:cBhvr>
                                      <p:to>
                                        <p:strVal val="visible"/>
                                      </p:to>
                                    </p:set>
                                    <p:anim calcmode="lin" valueType="num">
                                      <p:cBhvr>
                                        <p:cTn id="52" dur="500" fill="hold"/>
                                        <p:tgtEl>
                                          <p:spTgt spid="35"/>
                                        </p:tgtEl>
                                        <p:attrNameLst>
                                          <p:attrName>ppt_x</p:attrName>
                                        </p:attrNameLst>
                                      </p:cBhvr>
                                      <p:tavLst>
                                        <p:tav tm="0">
                                          <p:val>
                                            <p:strVal val="#ppt_x-#ppt_w/2"/>
                                          </p:val>
                                        </p:tav>
                                        <p:tav tm="100000">
                                          <p:val>
                                            <p:strVal val="#ppt_x"/>
                                          </p:val>
                                        </p:tav>
                                      </p:tavLst>
                                    </p:anim>
                                    <p:anim calcmode="lin" valueType="num">
                                      <p:cBhvr>
                                        <p:cTn id="53" dur="500" fill="hold"/>
                                        <p:tgtEl>
                                          <p:spTgt spid="35"/>
                                        </p:tgtEl>
                                        <p:attrNameLst>
                                          <p:attrName>ppt_y</p:attrName>
                                        </p:attrNameLst>
                                      </p:cBhvr>
                                      <p:tavLst>
                                        <p:tav tm="0">
                                          <p:val>
                                            <p:strVal val="#ppt_y"/>
                                          </p:val>
                                        </p:tav>
                                        <p:tav tm="100000">
                                          <p:val>
                                            <p:strVal val="#ppt_y"/>
                                          </p:val>
                                        </p:tav>
                                      </p:tavLst>
                                    </p:anim>
                                    <p:anim calcmode="lin" valueType="num">
                                      <p:cBhvr>
                                        <p:cTn id="54" dur="500" fill="hold"/>
                                        <p:tgtEl>
                                          <p:spTgt spid="35"/>
                                        </p:tgtEl>
                                        <p:attrNameLst>
                                          <p:attrName>ppt_w</p:attrName>
                                        </p:attrNameLst>
                                      </p:cBhvr>
                                      <p:tavLst>
                                        <p:tav tm="0">
                                          <p:val>
                                            <p:fltVal val="0"/>
                                          </p:val>
                                        </p:tav>
                                        <p:tav tm="100000">
                                          <p:val>
                                            <p:strVal val="#ppt_w"/>
                                          </p:val>
                                        </p:tav>
                                      </p:tavLst>
                                    </p:anim>
                                    <p:anim calcmode="lin" valueType="num">
                                      <p:cBhvr>
                                        <p:cTn id="55" dur="500" fill="hold"/>
                                        <p:tgtEl>
                                          <p:spTgt spid="35"/>
                                        </p:tgtEl>
                                        <p:attrNameLst>
                                          <p:attrName>ppt_h</p:attrName>
                                        </p:attrNameLst>
                                      </p:cBhvr>
                                      <p:tavLst>
                                        <p:tav tm="0">
                                          <p:val>
                                            <p:strVal val="#ppt_h"/>
                                          </p:val>
                                        </p:tav>
                                        <p:tav tm="100000">
                                          <p:val>
                                            <p:strVal val="#ppt_h"/>
                                          </p:val>
                                        </p:tav>
                                      </p:tavLst>
                                    </p:anim>
                                  </p:childTnLst>
                                </p:cTn>
                              </p:par>
                            </p:childTnLst>
                          </p:cTn>
                        </p:par>
                        <p:par>
                          <p:cTn id="56" fill="hold">
                            <p:stCondLst>
                              <p:cond delay="500"/>
                            </p:stCondLst>
                            <p:childTnLst>
                              <p:par>
                                <p:cTn id="57" presetID="17" presetClass="entr" presetSubtype="8" fill="hold" grpId="0" nodeType="afterEffect">
                                  <p:stCondLst>
                                    <p:cond delay="0"/>
                                  </p:stCondLst>
                                  <p:childTnLst>
                                    <p:set>
                                      <p:cBhvr>
                                        <p:cTn id="58" dur="1" fill="hold">
                                          <p:stCondLst>
                                            <p:cond delay="0"/>
                                          </p:stCondLst>
                                        </p:cTn>
                                        <p:tgtEl>
                                          <p:spTgt spid="63"/>
                                        </p:tgtEl>
                                        <p:attrNameLst>
                                          <p:attrName>style.visibility</p:attrName>
                                        </p:attrNameLst>
                                      </p:cBhvr>
                                      <p:to>
                                        <p:strVal val="visible"/>
                                      </p:to>
                                    </p:set>
                                    <p:anim calcmode="lin" valueType="num">
                                      <p:cBhvr>
                                        <p:cTn id="59" dur="500" fill="hold"/>
                                        <p:tgtEl>
                                          <p:spTgt spid="63"/>
                                        </p:tgtEl>
                                        <p:attrNameLst>
                                          <p:attrName>ppt_x</p:attrName>
                                        </p:attrNameLst>
                                      </p:cBhvr>
                                      <p:tavLst>
                                        <p:tav tm="0">
                                          <p:val>
                                            <p:strVal val="#ppt_x-#ppt_w/2"/>
                                          </p:val>
                                        </p:tav>
                                        <p:tav tm="100000">
                                          <p:val>
                                            <p:strVal val="#ppt_x"/>
                                          </p:val>
                                        </p:tav>
                                      </p:tavLst>
                                    </p:anim>
                                    <p:anim calcmode="lin" valueType="num">
                                      <p:cBhvr>
                                        <p:cTn id="60" dur="500" fill="hold"/>
                                        <p:tgtEl>
                                          <p:spTgt spid="63"/>
                                        </p:tgtEl>
                                        <p:attrNameLst>
                                          <p:attrName>ppt_y</p:attrName>
                                        </p:attrNameLst>
                                      </p:cBhvr>
                                      <p:tavLst>
                                        <p:tav tm="0">
                                          <p:val>
                                            <p:strVal val="#ppt_y"/>
                                          </p:val>
                                        </p:tav>
                                        <p:tav tm="100000">
                                          <p:val>
                                            <p:strVal val="#ppt_y"/>
                                          </p:val>
                                        </p:tav>
                                      </p:tavLst>
                                    </p:anim>
                                    <p:anim calcmode="lin" valueType="num">
                                      <p:cBhvr>
                                        <p:cTn id="61" dur="500" fill="hold"/>
                                        <p:tgtEl>
                                          <p:spTgt spid="63"/>
                                        </p:tgtEl>
                                        <p:attrNameLst>
                                          <p:attrName>ppt_w</p:attrName>
                                        </p:attrNameLst>
                                      </p:cBhvr>
                                      <p:tavLst>
                                        <p:tav tm="0">
                                          <p:val>
                                            <p:fltVal val="0"/>
                                          </p:val>
                                        </p:tav>
                                        <p:tav tm="100000">
                                          <p:val>
                                            <p:strVal val="#ppt_w"/>
                                          </p:val>
                                        </p:tav>
                                      </p:tavLst>
                                    </p:anim>
                                    <p:anim calcmode="lin" valueType="num">
                                      <p:cBhvr>
                                        <p:cTn id="62" dur="500" fill="hold"/>
                                        <p:tgtEl>
                                          <p:spTgt spid="63"/>
                                        </p:tgtEl>
                                        <p:attrNameLst>
                                          <p:attrName>ppt_h</p:attrName>
                                        </p:attrNameLst>
                                      </p:cBhvr>
                                      <p:tavLst>
                                        <p:tav tm="0">
                                          <p:val>
                                            <p:strVal val="#ppt_h"/>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17" presetClass="entr" presetSubtype="8" fill="hold" nodeType="clickEffect">
                                  <p:stCondLst>
                                    <p:cond delay="0"/>
                                  </p:stCondLst>
                                  <p:childTnLst>
                                    <p:set>
                                      <p:cBhvr>
                                        <p:cTn id="66" dur="1" fill="hold">
                                          <p:stCondLst>
                                            <p:cond delay="0"/>
                                          </p:stCondLst>
                                        </p:cTn>
                                        <p:tgtEl>
                                          <p:spTgt spid="44"/>
                                        </p:tgtEl>
                                        <p:attrNameLst>
                                          <p:attrName>style.visibility</p:attrName>
                                        </p:attrNameLst>
                                      </p:cBhvr>
                                      <p:to>
                                        <p:strVal val="visible"/>
                                      </p:to>
                                    </p:set>
                                    <p:anim calcmode="lin" valueType="num">
                                      <p:cBhvr>
                                        <p:cTn id="67" dur="500" fill="hold"/>
                                        <p:tgtEl>
                                          <p:spTgt spid="44"/>
                                        </p:tgtEl>
                                        <p:attrNameLst>
                                          <p:attrName>ppt_x</p:attrName>
                                        </p:attrNameLst>
                                      </p:cBhvr>
                                      <p:tavLst>
                                        <p:tav tm="0">
                                          <p:val>
                                            <p:strVal val="#ppt_x-#ppt_w/2"/>
                                          </p:val>
                                        </p:tav>
                                        <p:tav tm="100000">
                                          <p:val>
                                            <p:strVal val="#ppt_x"/>
                                          </p:val>
                                        </p:tav>
                                      </p:tavLst>
                                    </p:anim>
                                    <p:anim calcmode="lin" valueType="num">
                                      <p:cBhvr>
                                        <p:cTn id="68" dur="500" fill="hold"/>
                                        <p:tgtEl>
                                          <p:spTgt spid="44"/>
                                        </p:tgtEl>
                                        <p:attrNameLst>
                                          <p:attrName>ppt_y</p:attrName>
                                        </p:attrNameLst>
                                      </p:cBhvr>
                                      <p:tavLst>
                                        <p:tav tm="0">
                                          <p:val>
                                            <p:strVal val="#ppt_y"/>
                                          </p:val>
                                        </p:tav>
                                        <p:tav tm="100000">
                                          <p:val>
                                            <p:strVal val="#ppt_y"/>
                                          </p:val>
                                        </p:tav>
                                      </p:tavLst>
                                    </p:anim>
                                    <p:anim calcmode="lin" valueType="num">
                                      <p:cBhvr>
                                        <p:cTn id="69" dur="500" fill="hold"/>
                                        <p:tgtEl>
                                          <p:spTgt spid="44"/>
                                        </p:tgtEl>
                                        <p:attrNameLst>
                                          <p:attrName>ppt_w</p:attrName>
                                        </p:attrNameLst>
                                      </p:cBhvr>
                                      <p:tavLst>
                                        <p:tav tm="0">
                                          <p:val>
                                            <p:fltVal val="0"/>
                                          </p:val>
                                        </p:tav>
                                        <p:tav tm="100000">
                                          <p:val>
                                            <p:strVal val="#ppt_w"/>
                                          </p:val>
                                        </p:tav>
                                      </p:tavLst>
                                    </p:anim>
                                    <p:anim calcmode="lin" valueType="num">
                                      <p:cBhvr>
                                        <p:cTn id="70" dur="500" fill="hold"/>
                                        <p:tgtEl>
                                          <p:spTgt spid="44"/>
                                        </p:tgtEl>
                                        <p:attrNameLst>
                                          <p:attrName>ppt_h</p:attrName>
                                        </p:attrNameLst>
                                      </p:cBhvr>
                                      <p:tavLst>
                                        <p:tav tm="0">
                                          <p:val>
                                            <p:strVal val="#ppt_h"/>
                                          </p:val>
                                        </p:tav>
                                        <p:tav tm="100000">
                                          <p:val>
                                            <p:strVal val="#ppt_h"/>
                                          </p:val>
                                        </p:tav>
                                      </p:tavLst>
                                    </p:anim>
                                  </p:childTnLst>
                                </p:cTn>
                              </p:par>
                            </p:childTnLst>
                          </p:cTn>
                        </p:par>
                        <p:par>
                          <p:cTn id="71" fill="hold">
                            <p:stCondLst>
                              <p:cond delay="500"/>
                            </p:stCondLst>
                            <p:childTnLst>
                              <p:par>
                                <p:cTn id="72" presetID="17" presetClass="entr" presetSubtype="8" fill="hold" grpId="0" nodeType="afterEffect">
                                  <p:stCondLst>
                                    <p:cond delay="0"/>
                                  </p:stCondLst>
                                  <p:childTnLst>
                                    <p:set>
                                      <p:cBhvr>
                                        <p:cTn id="73" dur="1" fill="hold">
                                          <p:stCondLst>
                                            <p:cond delay="0"/>
                                          </p:stCondLst>
                                        </p:cTn>
                                        <p:tgtEl>
                                          <p:spTgt spid="64"/>
                                        </p:tgtEl>
                                        <p:attrNameLst>
                                          <p:attrName>style.visibility</p:attrName>
                                        </p:attrNameLst>
                                      </p:cBhvr>
                                      <p:to>
                                        <p:strVal val="visible"/>
                                      </p:to>
                                    </p:set>
                                    <p:anim calcmode="lin" valueType="num">
                                      <p:cBhvr>
                                        <p:cTn id="74" dur="500" fill="hold"/>
                                        <p:tgtEl>
                                          <p:spTgt spid="64"/>
                                        </p:tgtEl>
                                        <p:attrNameLst>
                                          <p:attrName>ppt_x</p:attrName>
                                        </p:attrNameLst>
                                      </p:cBhvr>
                                      <p:tavLst>
                                        <p:tav tm="0">
                                          <p:val>
                                            <p:strVal val="#ppt_x-#ppt_w/2"/>
                                          </p:val>
                                        </p:tav>
                                        <p:tav tm="100000">
                                          <p:val>
                                            <p:strVal val="#ppt_x"/>
                                          </p:val>
                                        </p:tav>
                                      </p:tavLst>
                                    </p:anim>
                                    <p:anim calcmode="lin" valueType="num">
                                      <p:cBhvr>
                                        <p:cTn id="75" dur="500" fill="hold"/>
                                        <p:tgtEl>
                                          <p:spTgt spid="64"/>
                                        </p:tgtEl>
                                        <p:attrNameLst>
                                          <p:attrName>ppt_y</p:attrName>
                                        </p:attrNameLst>
                                      </p:cBhvr>
                                      <p:tavLst>
                                        <p:tav tm="0">
                                          <p:val>
                                            <p:strVal val="#ppt_y"/>
                                          </p:val>
                                        </p:tav>
                                        <p:tav tm="100000">
                                          <p:val>
                                            <p:strVal val="#ppt_y"/>
                                          </p:val>
                                        </p:tav>
                                      </p:tavLst>
                                    </p:anim>
                                    <p:anim calcmode="lin" valueType="num">
                                      <p:cBhvr>
                                        <p:cTn id="76" dur="500" fill="hold"/>
                                        <p:tgtEl>
                                          <p:spTgt spid="64"/>
                                        </p:tgtEl>
                                        <p:attrNameLst>
                                          <p:attrName>ppt_w</p:attrName>
                                        </p:attrNameLst>
                                      </p:cBhvr>
                                      <p:tavLst>
                                        <p:tav tm="0">
                                          <p:val>
                                            <p:fltVal val="0"/>
                                          </p:val>
                                        </p:tav>
                                        <p:tav tm="100000">
                                          <p:val>
                                            <p:strVal val="#ppt_w"/>
                                          </p:val>
                                        </p:tav>
                                      </p:tavLst>
                                    </p:anim>
                                    <p:anim calcmode="lin" valueType="num">
                                      <p:cBhvr>
                                        <p:cTn id="77" dur="500" fill="hold"/>
                                        <p:tgtEl>
                                          <p:spTgt spid="64"/>
                                        </p:tgtEl>
                                        <p:attrNameLst>
                                          <p:attrName>ppt_h</p:attrName>
                                        </p:attrNameLst>
                                      </p:cBhvr>
                                      <p:tavLst>
                                        <p:tav tm="0">
                                          <p:val>
                                            <p:strVal val="#ppt_h"/>
                                          </p:val>
                                        </p:tav>
                                        <p:tav tm="100000">
                                          <p:val>
                                            <p:strVal val="#ppt_h"/>
                                          </p:val>
                                        </p:tav>
                                      </p:tavLst>
                                    </p:anim>
                                  </p:childTnLst>
                                </p:cTn>
                              </p:par>
                            </p:childTnLst>
                          </p:cTn>
                        </p:par>
                      </p:childTnLst>
                    </p:cTn>
                  </p:par>
                  <p:par>
                    <p:cTn id="78" fill="hold">
                      <p:stCondLst>
                        <p:cond delay="indefinite"/>
                      </p:stCondLst>
                      <p:childTnLst>
                        <p:par>
                          <p:cTn id="79" fill="hold">
                            <p:stCondLst>
                              <p:cond delay="0"/>
                            </p:stCondLst>
                            <p:childTnLst>
                              <p:par>
                                <p:cTn id="80" presetID="17" presetClass="entr" presetSubtype="8" fill="hold" nodeType="clickEffect">
                                  <p:stCondLst>
                                    <p:cond delay="0"/>
                                  </p:stCondLst>
                                  <p:childTnLst>
                                    <p:set>
                                      <p:cBhvr>
                                        <p:cTn id="81" dur="1" fill="hold">
                                          <p:stCondLst>
                                            <p:cond delay="0"/>
                                          </p:stCondLst>
                                        </p:cTn>
                                        <p:tgtEl>
                                          <p:spTgt spid="53"/>
                                        </p:tgtEl>
                                        <p:attrNameLst>
                                          <p:attrName>style.visibility</p:attrName>
                                        </p:attrNameLst>
                                      </p:cBhvr>
                                      <p:to>
                                        <p:strVal val="visible"/>
                                      </p:to>
                                    </p:set>
                                    <p:anim calcmode="lin" valueType="num">
                                      <p:cBhvr>
                                        <p:cTn id="82" dur="500" fill="hold"/>
                                        <p:tgtEl>
                                          <p:spTgt spid="53"/>
                                        </p:tgtEl>
                                        <p:attrNameLst>
                                          <p:attrName>ppt_x</p:attrName>
                                        </p:attrNameLst>
                                      </p:cBhvr>
                                      <p:tavLst>
                                        <p:tav tm="0">
                                          <p:val>
                                            <p:strVal val="#ppt_x-#ppt_w/2"/>
                                          </p:val>
                                        </p:tav>
                                        <p:tav tm="100000">
                                          <p:val>
                                            <p:strVal val="#ppt_x"/>
                                          </p:val>
                                        </p:tav>
                                      </p:tavLst>
                                    </p:anim>
                                    <p:anim calcmode="lin" valueType="num">
                                      <p:cBhvr>
                                        <p:cTn id="83" dur="500" fill="hold"/>
                                        <p:tgtEl>
                                          <p:spTgt spid="53"/>
                                        </p:tgtEl>
                                        <p:attrNameLst>
                                          <p:attrName>ppt_y</p:attrName>
                                        </p:attrNameLst>
                                      </p:cBhvr>
                                      <p:tavLst>
                                        <p:tav tm="0">
                                          <p:val>
                                            <p:strVal val="#ppt_y"/>
                                          </p:val>
                                        </p:tav>
                                        <p:tav tm="100000">
                                          <p:val>
                                            <p:strVal val="#ppt_y"/>
                                          </p:val>
                                        </p:tav>
                                      </p:tavLst>
                                    </p:anim>
                                    <p:anim calcmode="lin" valueType="num">
                                      <p:cBhvr>
                                        <p:cTn id="84" dur="500" fill="hold"/>
                                        <p:tgtEl>
                                          <p:spTgt spid="53"/>
                                        </p:tgtEl>
                                        <p:attrNameLst>
                                          <p:attrName>ppt_w</p:attrName>
                                        </p:attrNameLst>
                                      </p:cBhvr>
                                      <p:tavLst>
                                        <p:tav tm="0">
                                          <p:val>
                                            <p:fltVal val="0"/>
                                          </p:val>
                                        </p:tav>
                                        <p:tav tm="100000">
                                          <p:val>
                                            <p:strVal val="#ppt_w"/>
                                          </p:val>
                                        </p:tav>
                                      </p:tavLst>
                                    </p:anim>
                                    <p:anim calcmode="lin" valueType="num">
                                      <p:cBhvr>
                                        <p:cTn id="85" dur="500" fill="hold"/>
                                        <p:tgtEl>
                                          <p:spTgt spid="53"/>
                                        </p:tgtEl>
                                        <p:attrNameLst>
                                          <p:attrName>ppt_h</p:attrName>
                                        </p:attrNameLst>
                                      </p:cBhvr>
                                      <p:tavLst>
                                        <p:tav tm="0">
                                          <p:val>
                                            <p:strVal val="#ppt_h"/>
                                          </p:val>
                                        </p:tav>
                                        <p:tav tm="100000">
                                          <p:val>
                                            <p:strVal val="#ppt_h"/>
                                          </p:val>
                                        </p:tav>
                                      </p:tavLst>
                                    </p:anim>
                                  </p:childTnLst>
                                </p:cTn>
                              </p:par>
                            </p:childTnLst>
                          </p:cTn>
                        </p:par>
                        <p:par>
                          <p:cTn id="86" fill="hold">
                            <p:stCondLst>
                              <p:cond delay="500"/>
                            </p:stCondLst>
                            <p:childTnLst>
                              <p:par>
                                <p:cTn id="87" presetID="17" presetClass="entr" presetSubtype="8" fill="hold" grpId="0" nodeType="afterEffect">
                                  <p:stCondLst>
                                    <p:cond delay="0"/>
                                  </p:stCondLst>
                                  <p:childTnLst>
                                    <p:set>
                                      <p:cBhvr>
                                        <p:cTn id="88" dur="1" fill="hold">
                                          <p:stCondLst>
                                            <p:cond delay="0"/>
                                          </p:stCondLst>
                                        </p:cTn>
                                        <p:tgtEl>
                                          <p:spTgt spid="65"/>
                                        </p:tgtEl>
                                        <p:attrNameLst>
                                          <p:attrName>style.visibility</p:attrName>
                                        </p:attrNameLst>
                                      </p:cBhvr>
                                      <p:to>
                                        <p:strVal val="visible"/>
                                      </p:to>
                                    </p:set>
                                    <p:anim calcmode="lin" valueType="num">
                                      <p:cBhvr>
                                        <p:cTn id="89" dur="500" fill="hold"/>
                                        <p:tgtEl>
                                          <p:spTgt spid="65"/>
                                        </p:tgtEl>
                                        <p:attrNameLst>
                                          <p:attrName>ppt_x</p:attrName>
                                        </p:attrNameLst>
                                      </p:cBhvr>
                                      <p:tavLst>
                                        <p:tav tm="0">
                                          <p:val>
                                            <p:strVal val="#ppt_x-#ppt_w/2"/>
                                          </p:val>
                                        </p:tav>
                                        <p:tav tm="100000">
                                          <p:val>
                                            <p:strVal val="#ppt_x"/>
                                          </p:val>
                                        </p:tav>
                                      </p:tavLst>
                                    </p:anim>
                                    <p:anim calcmode="lin" valueType="num">
                                      <p:cBhvr>
                                        <p:cTn id="90" dur="500" fill="hold"/>
                                        <p:tgtEl>
                                          <p:spTgt spid="65"/>
                                        </p:tgtEl>
                                        <p:attrNameLst>
                                          <p:attrName>ppt_y</p:attrName>
                                        </p:attrNameLst>
                                      </p:cBhvr>
                                      <p:tavLst>
                                        <p:tav tm="0">
                                          <p:val>
                                            <p:strVal val="#ppt_y"/>
                                          </p:val>
                                        </p:tav>
                                        <p:tav tm="100000">
                                          <p:val>
                                            <p:strVal val="#ppt_y"/>
                                          </p:val>
                                        </p:tav>
                                      </p:tavLst>
                                    </p:anim>
                                    <p:anim calcmode="lin" valueType="num">
                                      <p:cBhvr>
                                        <p:cTn id="91" dur="500" fill="hold"/>
                                        <p:tgtEl>
                                          <p:spTgt spid="65"/>
                                        </p:tgtEl>
                                        <p:attrNameLst>
                                          <p:attrName>ppt_w</p:attrName>
                                        </p:attrNameLst>
                                      </p:cBhvr>
                                      <p:tavLst>
                                        <p:tav tm="0">
                                          <p:val>
                                            <p:fltVal val="0"/>
                                          </p:val>
                                        </p:tav>
                                        <p:tav tm="100000">
                                          <p:val>
                                            <p:strVal val="#ppt_w"/>
                                          </p:val>
                                        </p:tav>
                                      </p:tavLst>
                                    </p:anim>
                                    <p:anim calcmode="lin" valueType="num">
                                      <p:cBhvr>
                                        <p:cTn id="92" dur="500" fill="hold"/>
                                        <p:tgtEl>
                                          <p:spTgt spid="6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63" grpId="0"/>
      <p:bldP spid="64" grpId="0"/>
      <p:bldP spid="65"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5EBAD-66C4-6617-5DCA-8322DD1639E7}"/>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7AD3FBB-EC14-4DB0-1010-AAB82CF17306}"/>
              </a:ext>
            </a:extLst>
          </p:cNvPr>
          <p:cNvSpPr txBox="1">
            <a:spLocks/>
          </p:cNvSpPr>
          <p:nvPr/>
        </p:nvSpPr>
        <p:spPr>
          <a:xfrm>
            <a:off x="832729" y="336834"/>
            <a:ext cx="10526542"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a:t>
            </a:r>
            <a:r>
              <a:rPr lang="es-ES_tradnl" sz="3200" b="0" dirty="0">
                <a:solidFill>
                  <a:schemeClr val="accent1"/>
                </a:solidFill>
              </a:rPr>
              <a:t> </a:t>
            </a:r>
            <a:r>
              <a:rPr lang="es-ES_tradnl" sz="3200" dirty="0">
                <a:solidFill>
                  <a:schemeClr val="accent1"/>
                </a:solidFill>
              </a:rPr>
              <a:t>: </a:t>
            </a:r>
            <a:r>
              <a:rPr lang="es-ES_tradnl" sz="3200" dirty="0"/>
              <a:t>Lógica de la aplicación de pagos </a:t>
            </a:r>
            <a:r>
              <a:rPr lang="es-CO" sz="3200" dirty="0"/>
              <a:t>(TGRAPPL)</a:t>
            </a:r>
            <a:r>
              <a:rPr lang="es-ES_tradnl" sz="3200" dirty="0"/>
              <a:t> basada en Prioridades (</a:t>
            </a:r>
            <a:r>
              <a:rPr lang="es-CO" sz="3200" dirty="0"/>
              <a:t>TSADETC)</a:t>
            </a:r>
            <a:endParaRPr lang="es-CL" sz="3200" dirty="0"/>
          </a:p>
        </p:txBody>
      </p:sp>
      <p:sp>
        <p:nvSpPr>
          <p:cNvPr id="6" name="CuadroTexto 5">
            <a:extLst>
              <a:ext uri="{FF2B5EF4-FFF2-40B4-BE49-F238E27FC236}">
                <a16:creationId xmlns:a16="http://schemas.microsoft.com/office/drawing/2014/main" id="{8FA5AE02-4414-00B1-B8D5-6AC0E89ECBE3}"/>
              </a:ext>
            </a:extLst>
          </p:cNvPr>
          <p:cNvSpPr txBox="1"/>
          <p:nvPr/>
        </p:nvSpPr>
        <p:spPr>
          <a:xfrm>
            <a:off x="937255" y="1543598"/>
            <a:ext cx="10387664" cy="3970318"/>
          </a:xfrm>
          <a:prstGeom prst="rect">
            <a:avLst/>
          </a:prstGeom>
          <a:noFill/>
        </p:spPr>
        <p:txBody>
          <a:bodyPr wrap="square">
            <a:spAutoFit/>
          </a:bodyPr>
          <a:lstStyle/>
          <a:p>
            <a:pPr marL="285750" indent="-285750" algn="just">
              <a:buBlip>
                <a:blip r:embed="rId2"/>
              </a:buBlip>
            </a:pPr>
            <a:r>
              <a:rPr lang="es-CO" sz="1800" b="1" dirty="0">
                <a:solidFill>
                  <a:schemeClr val="accent1"/>
                </a:solidFill>
              </a:rPr>
              <a:t>Prioridad</a:t>
            </a:r>
            <a:r>
              <a:rPr lang="es-CO" sz="1800" dirty="0">
                <a:solidFill>
                  <a:schemeClr val="accent1"/>
                </a:solidFill>
              </a:rPr>
              <a:t>: </a:t>
            </a:r>
            <a:r>
              <a:rPr lang="es-CO" sz="1800" dirty="0"/>
              <a:t>Permite manejar el pago de cargos basado en prioridades al ejecutar el Proceso de Aplicación de Pagos (TGRAPPL). </a:t>
            </a:r>
          </a:p>
          <a:p>
            <a:pPr marL="285750" indent="-285750" algn="just">
              <a:buBlip>
                <a:blip r:embed="rId2"/>
              </a:buBlip>
            </a:pPr>
            <a:endParaRPr lang="es-CO" sz="1800" dirty="0"/>
          </a:p>
          <a:p>
            <a:pPr marL="285750" indent="-285750" algn="just">
              <a:buBlip>
                <a:blip r:embed="rId2"/>
              </a:buBlip>
            </a:pPr>
            <a:r>
              <a:rPr lang="es-CO" sz="1800" dirty="0"/>
              <a:t>El digito </a:t>
            </a:r>
            <a:r>
              <a:rPr lang="es-CO" sz="1800" b="1" dirty="0">
                <a:solidFill>
                  <a:schemeClr val="accent1"/>
                </a:solidFill>
              </a:rPr>
              <a:t>cero</a:t>
            </a:r>
            <a:r>
              <a:rPr lang="es-CO" sz="1800" dirty="0"/>
              <a:t> en una posición determinada en la prioridad de un código de detalle, se utiliza como </a:t>
            </a:r>
            <a:r>
              <a:rPr lang="es-CO" sz="1800" b="1" i="1" dirty="0">
                <a:solidFill>
                  <a:schemeClr val="accent1"/>
                </a:solidFill>
              </a:rPr>
              <a:t>comodín</a:t>
            </a:r>
            <a:r>
              <a:rPr lang="es-CO" sz="1800" dirty="0"/>
              <a:t> para pagar un rango de cargos con códigos de detalle que tienen valores entre 0 y 9 en la misma posición. </a:t>
            </a:r>
          </a:p>
          <a:p>
            <a:pPr marL="285750" indent="-285750">
              <a:buBlip>
                <a:blip r:embed="rId2"/>
              </a:buBlip>
            </a:pPr>
            <a:endParaRPr lang="es-CO" sz="1800" dirty="0"/>
          </a:p>
          <a:p>
            <a:pPr marL="285750" indent="-285750">
              <a:buBlip>
                <a:blip r:embed="rId2"/>
              </a:buBlip>
            </a:pPr>
            <a:r>
              <a:rPr lang="es-CO" sz="1800" dirty="0"/>
              <a:t>Un pago con prioridad </a:t>
            </a:r>
            <a:r>
              <a:rPr lang="es-CO" sz="1800" b="1" dirty="0">
                <a:solidFill>
                  <a:schemeClr val="accent1"/>
                </a:solidFill>
              </a:rPr>
              <a:t>000</a:t>
            </a:r>
            <a:r>
              <a:rPr lang="es-CO" sz="1800" dirty="0"/>
              <a:t> paga cualquier cargo. </a:t>
            </a:r>
          </a:p>
          <a:p>
            <a:endParaRPr lang="es-CO" sz="1800" dirty="0"/>
          </a:p>
          <a:p>
            <a:r>
              <a:rPr lang="es-CO" sz="1800" b="1" dirty="0">
                <a:solidFill>
                  <a:schemeClr val="accent1"/>
                </a:solidFill>
              </a:rPr>
              <a:t>Ejemplos: </a:t>
            </a:r>
          </a:p>
          <a:p>
            <a:pPr marL="285750" indent="-285750">
              <a:buFont typeface="Wingdings" panose="05000000000000000000" pitchFamily="2" charset="2"/>
              <a:buChar char="ü"/>
            </a:pPr>
            <a:r>
              <a:rPr lang="es-CO" sz="1800" dirty="0"/>
              <a:t>Pago con prioridad 999 solo cubre cargos con prioridad 999 </a:t>
            </a:r>
          </a:p>
          <a:p>
            <a:pPr marL="285750" indent="-285750">
              <a:buFont typeface="Wingdings" panose="05000000000000000000" pitchFamily="2" charset="2"/>
              <a:buChar char="ü"/>
            </a:pPr>
            <a:r>
              <a:rPr lang="es-CO" sz="1800" dirty="0"/>
              <a:t>Pago con prioridad 900 cubre cargos con prioridad de 900 a 999 </a:t>
            </a:r>
          </a:p>
          <a:p>
            <a:pPr marL="285750" indent="-285750">
              <a:buFont typeface="Wingdings" panose="05000000000000000000" pitchFamily="2" charset="2"/>
              <a:buChar char="ü"/>
            </a:pPr>
            <a:r>
              <a:rPr lang="es-CO" sz="1800" dirty="0"/>
              <a:t>Pago con prioridad 420 cubre cargos con prioridad de 420 a 429 </a:t>
            </a:r>
          </a:p>
          <a:p>
            <a:pPr marL="285750" indent="-285750">
              <a:buFont typeface="Wingdings" panose="05000000000000000000" pitchFamily="2" charset="2"/>
              <a:buChar char="ü"/>
            </a:pPr>
            <a:r>
              <a:rPr lang="es-CO" sz="1800" dirty="0"/>
              <a:t>Pago con prioridad 000 cubre cargos con prioridad de 000 a 999</a:t>
            </a:r>
            <a:endParaRPr lang="es-CL" dirty="0"/>
          </a:p>
        </p:txBody>
      </p:sp>
      <p:sp>
        <p:nvSpPr>
          <p:cNvPr id="7" name="Rectángulo: esquinas redondeadas 6">
            <a:extLst>
              <a:ext uri="{FF2B5EF4-FFF2-40B4-BE49-F238E27FC236}">
                <a16:creationId xmlns:a16="http://schemas.microsoft.com/office/drawing/2014/main" id="{7749F3FD-9AED-1705-8EC6-48FAA17757FF}"/>
              </a:ext>
            </a:extLst>
          </p:cNvPr>
          <p:cNvSpPr/>
          <p:nvPr/>
        </p:nvSpPr>
        <p:spPr>
          <a:xfrm>
            <a:off x="1017260" y="5606836"/>
            <a:ext cx="10227653" cy="43605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dirty="0"/>
              <a:t>Pago en Efectivo, Tarjeta de crédito o Cheque se sugiere usar código de detalle con prioridad 000.</a:t>
            </a:r>
            <a:endParaRPr lang="es-CL" dirty="0"/>
          </a:p>
        </p:txBody>
      </p:sp>
    </p:spTree>
    <p:extLst>
      <p:ext uri="{BB962C8B-B14F-4D97-AF65-F5344CB8AC3E}">
        <p14:creationId xmlns:p14="http://schemas.microsoft.com/office/powerpoint/2010/main" val="31141158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55F8F-799A-9979-7DA1-8BFAEDCC575D}"/>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CD0EE298-2B8E-D884-73F0-DA44DC04D934}"/>
              </a:ext>
            </a:extLst>
          </p:cNvPr>
          <p:cNvSpPr txBox="1"/>
          <p:nvPr/>
        </p:nvSpPr>
        <p:spPr>
          <a:xfrm>
            <a:off x="591311" y="1490008"/>
            <a:ext cx="10889375" cy="1938992"/>
          </a:xfrm>
          <a:prstGeom prst="rect">
            <a:avLst/>
          </a:prstGeom>
          <a:noFill/>
        </p:spPr>
        <p:txBody>
          <a:bodyPr wrap="square">
            <a:spAutoFit/>
          </a:bodyPr>
          <a:lstStyle/>
          <a:p>
            <a:r>
              <a:rPr lang="es-CO" sz="6000" b="1" dirty="0">
                <a:solidFill>
                  <a:schemeClr val="bg1"/>
                </a:solidFill>
              </a:rPr>
              <a:t>Configuración de contabilidad por programa </a:t>
            </a:r>
            <a:endParaRPr lang="en-US" sz="6000" b="1" dirty="0">
              <a:solidFill>
                <a:schemeClr val="bg1"/>
              </a:solidFill>
            </a:endParaRPr>
          </a:p>
        </p:txBody>
      </p:sp>
      <p:sp>
        <p:nvSpPr>
          <p:cNvPr id="3" name="CuadroTexto 2">
            <a:extLst>
              <a:ext uri="{FF2B5EF4-FFF2-40B4-BE49-F238E27FC236}">
                <a16:creationId xmlns:a16="http://schemas.microsoft.com/office/drawing/2014/main" id="{8077B8A7-A217-E1D0-6A2B-E93E70279792}"/>
              </a:ext>
            </a:extLst>
          </p:cNvPr>
          <p:cNvSpPr txBox="1"/>
          <p:nvPr/>
        </p:nvSpPr>
        <p:spPr>
          <a:xfrm>
            <a:off x="591311" y="3511296"/>
            <a:ext cx="6094476" cy="369332"/>
          </a:xfrm>
          <a:prstGeom prst="rect">
            <a:avLst/>
          </a:prstGeom>
          <a:noFill/>
        </p:spPr>
        <p:txBody>
          <a:bodyPr wrap="square">
            <a:spAutoFit/>
          </a:bodyPr>
          <a:lstStyle/>
          <a:p>
            <a:pPr marL="0" indent="0">
              <a:buNone/>
            </a:pPr>
            <a:r>
              <a:rPr lang="es-CO" sz="1800" b="1" dirty="0">
                <a:solidFill>
                  <a:schemeClr val="bg1"/>
                </a:solidFill>
              </a:rPr>
              <a:t>Cuentas por Cobrar del Estudiante</a:t>
            </a:r>
            <a:endParaRPr lang="en-US" sz="1800" b="1" dirty="0">
              <a:solidFill>
                <a:schemeClr val="bg1"/>
              </a:solidFill>
            </a:endParaRPr>
          </a:p>
        </p:txBody>
      </p:sp>
    </p:spTree>
    <p:extLst>
      <p:ext uri="{BB962C8B-B14F-4D97-AF65-F5344CB8AC3E}">
        <p14:creationId xmlns:p14="http://schemas.microsoft.com/office/powerpoint/2010/main" val="27514739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4A15B-F379-0771-AC07-F65F7E1C0FA2}"/>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5099380B-D42C-88C5-E4CB-D807754D59E2}"/>
              </a:ext>
            </a:extLst>
          </p:cNvPr>
          <p:cNvSpPr txBox="1">
            <a:spLocks/>
          </p:cNvSpPr>
          <p:nvPr/>
        </p:nvSpPr>
        <p:spPr>
          <a:xfrm>
            <a:off x="1104507" y="804811"/>
            <a:ext cx="9639693" cy="548501"/>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CO" sz="3200" dirty="0">
                <a:solidFill>
                  <a:schemeClr val="accent1"/>
                </a:solidFill>
              </a:rPr>
              <a:t>Overview: </a:t>
            </a:r>
            <a:r>
              <a:rPr lang="es-CO" sz="3200" dirty="0"/>
              <a:t>Configuración de contabilidad por programa</a:t>
            </a:r>
          </a:p>
          <a:p>
            <a:endParaRPr lang="es-CL" sz="3200" dirty="0"/>
          </a:p>
        </p:txBody>
      </p:sp>
      <p:pic>
        <p:nvPicPr>
          <p:cNvPr id="11" name="Imagen 10">
            <a:extLst>
              <a:ext uri="{FF2B5EF4-FFF2-40B4-BE49-F238E27FC236}">
                <a16:creationId xmlns:a16="http://schemas.microsoft.com/office/drawing/2014/main" id="{FF78A5F4-98B4-B22B-7329-D0B020FFF6EB}"/>
              </a:ext>
            </a:extLst>
          </p:cNvPr>
          <p:cNvPicPr>
            <a:picLocks noChangeAspect="1"/>
          </p:cNvPicPr>
          <p:nvPr/>
        </p:nvPicPr>
        <p:blipFill>
          <a:blip r:embed="rId2"/>
          <a:srcRect l="2085" t="3203" r="30959" b="54767"/>
          <a:stretch>
            <a:fillRect/>
          </a:stretch>
        </p:blipFill>
        <p:spPr>
          <a:xfrm>
            <a:off x="1104507" y="1951066"/>
            <a:ext cx="9982986" cy="3219526"/>
          </a:xfrm>
          <a:prstGeom prst="rect">
            <a:avLst/>
          </a:prstGeom>
        </p:spPr>
      </p:pic>
    </p:spTree>
    <p:extLst>
      <p:ext uri="{BB962C8B-B14F-4D97-AF65-F5344CB8AC3E}">
        <p14:creationId xmlns:p14="http://schemas.microsoft.com/office/powerpoint/2010/main" val="39371596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52F88-DA33-2A51-7431-6ED1C1A6F21E}"/>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8FD96C8-5DEB-044C-A87D-CFFF34513948}"/>
              </a:ext>
            </a:extLst>
          </p:cNvPr>
          <p:cNvSpPr txBox="1">
            <a:spLocks/>
          </p:cNvSpPr>
          <p:nvPr/>
        </p:nvSpPr>
        <p:spPr>
          <a:xfrm>
            <a:off x="1244652" y="264362"/>
            <a:ext cx="9702695"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CO" sz="3200" dirty="0"/>
              <a:t>TSACTRL  Control de cobro a alumnos</a:t>
            </a:r>
            <a:endParaRPr lang="es-CL" sz="3200" dirty="0"/>
          </a:p>
        </p:txBody>
      </p:sp>
      <p:sp>
        <p:nvSpPr>
          <p:cNvPr id="3" name="Rectangle: Rounded Corners 9">
            <a:extLst>
              <a:ext uri="{FF2B5EF4-FFF2-40B4-BE49-F238E27FC236}">
                <a16:creationId xmlns:a16="http://schemas.microsoft.com/office/drawing/2014/main" id="{800083BD-9DAE-AE08-420A-4B0C86F7A6F7}"/>
              </a:ext>
            </a:extLst>
          </p:cNvPr>
          <p:cNvSpPr/>
          <p:nvPr/>
        </p:nvSpPr>
        <p:spPr>
          <a:xfrm>
            <a:off x="1352804" y="5381730"/>
            <a:ext cx="7800743" cy="48619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Configuración reglas de contabilidad por programa. </a:t>
            </a:r>
          </a:p>
        </p:txBody>
      </p:sp>
      <p:pic>
        <p:nvPicPr>
          <p:cNvPr id="6" name="Imagen 5">
            <a:extLst>
              <a:ext uri="{FF2B5EF4-FFF2-40B4-BE49-F238E27FC236}">
                <a16:creationId xmlns:a16="http://schemas.microsoft.com/office/drawing/2014/main" id="{B9EADB34-501D-F127-F43A-D02A63144439}"/>
              </a:ext>
            </a:extLst>
          </p:cNvPr>
          <p:cNvPicPr>
            <a:picLocks noChangeAspect="1"/>
          </p:cNvPicPr>
          <p:nvPr/>
        </p:nvPicPr>
        <p:blipFill>
          <a:blip r:embed="rId2"/>
          <a:stretch>
            <a:fillRect/>
          </a:stretch>
        </p:blipFill>
        <p:spPr>
          <a:xfrm>
            <a:off x="1352804" y="1162917"/>
            <a:ext cx="9486390" cy="3806451"/>
          </a:xfrm>
          <a:prstGeom prst="rect">
            <a:avLst/>
          </a:prstGeom>
        </p:spPr>
      </p:pic>
    </p:spTree>
    <p:extLst>
      <p:ext uri="{BB962C8B-B14F-4D97-AF65-F5344CB8AC3E}">
        <p14:creationId xmlns:p14="http://schemas.microsoft.com/office/powerpoint/2010/main" val="27374264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ECFA9-3CFD-4A9F-202E-A7394516330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841F347-54FC-6E65-AB81-781B836215F2}"/>
              </a:ext>
            </a:extLst>
          </p:cNvPr>
          <p:cNvSpPr txBox="1">
            <a:spLocks/>
          </p:cNvSpPr>
          <p:nvPr/>
        </p:nvSpPr>
        <p:spPr>
          <a:xfrm>
            <a:off x="611168" y="375043"/>
            <a:ext cx="10907632"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ES_tradnl" sz="3200" dirty="0"/>
              <a:t>TVVCTCR </a:t>
            </a:r>
            <a:r>
              <a:rPr lang="es-CO" sz="3200" dirty="0"/>
              <a:t>Validación de código de centro de costo</a:t>
            </a:r>
            <a:endParaRPr lang="es-CL" sz="3200" dirty="0"/>
          </a:p>
        </p:txBody>
      </p:sp>
      <p:sp>
        <p:nvSpPr>
          <p:cNvPr id="3" name="Rectangle: Rounded Corners 9">
            <a:extLst>
              <a:ext uri="{FF2B5EF4-FFF2-40B4-BE49-F238E27FC236}">
                <a16:creationId xmlns:a16="http://schemas.microsoft.com/office/drawing/2014/main" id="{BECBE626-F4D3-3363-868D-96E232109B71}"/>
              </a:ext>
            </a:extLst>
          </p:cNvPr>
          <p:cNvSpPr/>
          <p:nvPr/>
        </p:nvSpPr>
        <p:spPr>
          <a:xfrm>
            <a:off x="641558" y="5016946"/>
            <a:ext cx="10961358" cy="67312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Esta pantalla es usada para la creación de los centros de costos usados en la configuración de reglas de contabilidad por programa en la página </a:t>
            </a:r>
            <a:r>
              <a:rPr lang="es-CO" sz="1200" b="1" dirty="0"/>
              <a:t>TVAAIPR</a:t>
            </a:r>
            <a:r>
              <a:rPr lang="es-CO" sz="1200" dirty="0"/>
              <a:t>. </a:t>
            </a:r>
          </a:p>
        </p:txBody>
      </p:sp>
      <p:pic>
        <p:nvPicPr>
          <p:cNvPr id="7" name="Imagen 6">
            <a:extLst>
              <a:ext uri="{FF2B5EF4-FFF2-40B4-BE49-F238E27FC236}">
                <a16:creationId xmlns:a16="http://schemas.microsoft.com/office/drawing/2014/main" id="{BEFC030E-756A-A021-856C-95D69641C34A}"/>
              </a:ext>
            </a:extLst>
          </p:cNvPr>
          <p:cNvPicPr>
            <a:picLocks noChangeAspect="1"/>
          </p:cNvPicPr>
          <p:nvPr/>
        </p:nvPicPr>
        <p:blipFill>
          <a:blip r:embed="rId2"/>
          <a:stretch>
            <a:fillRect/>
          </a:stretch>
        </p:blipFill>
        <p:spPr>
          <a:xfrm>
            <a:off x="611168" y="1608832"/>
            <a:ext cx="10991748" cy="2935720"/>
          </a:xfrm>
          <a:prstGeom prst="rect">
            <a:avLst/>
          </a:prstGeom>
        </p:spPr>
      </p:pic>
    </p:spTree>
    <p:extLst>
      <p:ext uri="{BB962C8B-B14F-4D97-AF65-F5344CB8AC3E}">
        <p14:creationId xmlns:p14="http://schemas.microsoft.com/office/powerpoint/2010/main" val="10703663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B040A-00A1-EE6A-6E8F-9D1066DBEB8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8BFC47E9-0171-CCDC-B018-17F57E1B75BF}"/>
              </a:ext>
            </a:extLst>
          </p:cNvPr>
          <p:cNvSpPr txBox="1">
            <a:spLocks/>
          </p:cNvSpPr>
          <p:nvPr/>
        </p:nvSpPr>
        <p:spPr>
          <a:xfrm>
            <a:off x="584305" y="173875"/>
            <a:ext cx="10907632"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s-ES_tradnl" sz="3200" dirty="0">
                <a:solidFill>
                  <a:schemeClr val="accent1"/>
                </a:solidFill>
              </a:rPr>
              <a:t>Configuraciones: </a:t>
            </a:r>
            <a:r>
              <a:rPr lang="es-CO" sz="3200" dirty="0"/>
              <a:t>TVAAIPR  Interfaz de contabilidad por reglas de programa</a:t>
            </a:r>
            <a:endParaRPr lang="es-CO" sz="3200" i="1" dirty="0"/>
          </a:p>
        </p:txBody>
      </p:sp>
      <p:sp>
        <p:nvSpPr>
          <p:cNvPr id="3" name="Rectangle: Rounded Corners 9">
            <a:extLst>
              <a:ext uri="{FF2B5EF4-FFF2-40B4-BE49-F238E27FC236}">
                <a16:creationId xmlns:a16="http://schemas.microsoft.com/office/drawing/2014/main" id="{55987EA8-5498-3875-65CB-B62B02F5EC84}"/>
              </a:ext>
            </a:extLst>
          </p:cNvPr>
          <p:cNvSpPr/>
          <p:nvPr/>
        </p:nvSpPr>
        <p:spPr>
          <a:xfrm>
            <a:off x="1163957" y="4697692"/>
            <a:ext cx="9932097" cy="141046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ES_tradnl" sz="1200" dirty="0"/>
              <a:t>Configuración de cada regla de contabilidad por programa:</a:t>
            </a:r>
          </a:p>
          <a:p>
            <a:pPr algn="just"/>
            <a:endParaRPr lang="es-ES_tradnl" sz="1200" dirty="0"/>
          </a:p>
          <a:p>
            <a:pPr algn="just"/>
            <a:r>
              <a:rPr lang="es-ES_tradnl" sz="1300" b="1" dirty="0"/>
              <a:t>Bloque Detalles</a:t>
            </a:r>
            <a:r>
              <a:rPr lang="es-ES_tradnl" sz="1200" dirty="0"/>
              <a:t>: Para cada regla de contabilidad por programa se define un código de cuenta o código de centro de costos configurado en </a:t>
            </a:r>
            <a:r>
              <a:rPr lang="es-ES_tradnl" sz="1200" b="1" dirty="0"/>
              <a:t>TVVCTCR.</a:t>
            </a:r>
          </a:p>
          <a:p>
            <a:pPr algn="just"/>
            <a:r>
              <a:rPr lang="es-ES_tradnl" sz="1200" dirty="0"/>
              <a:t>Las reglas de contabilidad por programa serán consultadas durante la ejecución del proceso </a:t>
            </a:r>
            <a:r>
              <a:rPr lang="es-ES_tradnl" sz="1200" b="1" dirty="0"/>
              <a:t>TVPFAIP</a:t>
            </a:r>
            <a:r>
              <a:rPr lang="es-ES_tradnl" sz="1200" dirty="0"/>
              <a:t> (Contabilidad por programa);  sobre las transacciones insertadas en la tabla GURFEED, posterior a la ejecución del proceso TGRFEED.</a:t>
            </a:r>
          </a:p>
          <a:p>
            <a:pPr algn="just"/>
            <a:endParaRPr lang="es-CO" sz="1200" b="1" dirty="0"/>
          </a:p>
        </p:txBody>
      </p:sp>
      <p:pic>
        <p:nvPicPr>
          <p:cNvPr id="6" name="Imagen 5">
            <a:extLst>
              <a:ext uri="{FF2B5EF4-FFF2-40B4-BE49-F238E27FC236}">
                <a16:creationId xmlns:a16="http://schemas.microsoft.com/office/drawing/2014/main" id="{8859641F-6864-E6EA-A946-3C1F1DDC698F}"/>
              </a:ext>
            </a:extLst>
          </p:cNvPr>
          <p:cNvPicPr>
            <a:picLocks noChangeAspect="1"/>
          </p:cNvPicPr>
          <p:nvPr/>
        </p:nvPicPr>
        <p:blipFill>
          <a:blip r:embed="rId2"/>
          <a:stretch>
            <a:fillRect/>
          </a:stretch>
        </p:blipFill>
        <p:spPr>
          <a:xfrm>
            <a:off x="1163957" y="1188747"/>
            <a:ext cx="9864085" cy="3282899"/>
          </a:xfrm>
          <a:prstGeom prst="rect">
            <a:avLst/>
          </a:prstGeom>
        </p:spPr>
      </p:pic>
    </p:spTree>
    <p:extLst>
      <p:ext uri="{BB962C8B-B14F-4D97-AF65-F5344CB8AC3E}">
        <p14:creationId xmlns:p14="http://schemas.microsoft.com/office/powerpoint/2010/main" val="206945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5ECA2-C968-2B56-CC1C-94176546CFFC}"/>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1FC59E48-29B0-87B0-5263-BA26502A7C0C}"/>
              </a:ext>
            </a:extLst>
          </p:cNvPr>
          <p:cNvSpPr txBox="1"/>
          <p:nvPr/>
        </p:nvSpPr>
        <p:spPr>
          <a:xfrm>
            <a:off x="591311" y="1490008"/>
            <a:ext cx="10889375" cy="1938992"/>
          </a:xfrm>
          <a:prstGeom prst="rect">
            <a:avLst/>
          </a:prstGeom>
          <a:noFill/>
        </p:spPr>
        <p:txBody>
          <a:bodyPr wrap="square">
            <a:spAutoFit/>
          </a:bodyPr>
          <a:lstStyle/>
          <a:p>
            <a:r>
              <a:rPr lang="es-CO" sz="6000" b="1" dirty="0">
                <a:solidFill>
                  <a:schemeClr val="bg1"/>
                </a:solidFill>
              </a:rPr>
              <a:t>Gestionar los conceptos de cobro y tarifas </a:t>
            </a:r>
            <a:endParaRPr lang="en-US" sz="6000" b="1" dirty="0">
              <a:solidFill>
                <a:schemeClr val="bg1"/>
              </a:solidFill>
            </a:endParaRPr>
          </a:p>
        </p:txBody>
      </p:sp>
      <p:sp>
        <p:nvSpPr>
          <p:cNvPr id="3" name="CuadroTexto 2">
            <a:extLst>
              <a:ext uri="{FF2B5EF4-FFF2-40B4-BE49-F238E27FC236}">
                <a16:creationId xmlns:a16="http://schemas.microsoft.com/office/drawing/2014/main" id="{F832B1EF-1B98-042A-2AAF-8FD8517C6854}"/>
              </a:ext>
            </a:extLst>
          </p:cNvPr>
          <p:cNvSpPr txBox="1"/>
          <p:nvPr/>
        </p:nvSpPr>
        <p:spPr>
          <a:xfrm>
            <a:off x="591311" y="3557016"/>
            <a:ext cx="6094476" cy="369332"/>
          </a:xfrm>
          <a:prstGeom prst="rect">
            <a:avLst/>
          </a:prstGeom>
          <a:noFill/>
        </p:spPr>
        <p:txBody>
          <a:bodyPr wrap="square">
            <a:spAutoFit/>
          </a:bodyPr>
          <a:lstStyle/>
          <a:p>
            <a:pPr marL="0" indent="0">
              <a:buNone/>
            </a:pPr>
            <a:r>
              <a:rPr lang="es-CO" sz="1800" b="1" dirty="0">
                <a:solidFill>
                  <a:schemeClr val="bg1"/>
                </a:solidFill>
              </a:rPr>
              <a:t>Cuentas por Cobrar del Estudiante</a:t>
            </a:r>
            <a:endParaRPr lang="en-US" sz="1800" b="1" dirty="0">
              <a:solidFill>
                <a:schemeClr val="bg1"/>
              </a:solidFill>
            </a:endParaRPr>
          </a:p>
        </p:txBody>
      </p:sp>
    </p:spTree>
    <p:extLst>
      <p:ext uri="{BB962C8B-B14F-4D97-AF65-F5344CB8AC3E}">
        <p14:creationId xmlns:p14="http://schemas.microsoft.com/office/powerpoint/2010/main" val="42196583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DF961FD1-3266-FFCC-EBDF-4E9D8D66DADF}"/>
              </a:ext>
            </a:extLst>
          </p:cNvPr>
          <p:cNvSpPr>
            <a:spLocks noGrp="1"/>
          </p:cNvSpPr>
          <p:nvPr>
            <p:ph type="body" sz="quarter" idx="10"/>
          </p:nvPr>
        </p:nvSpPr>
        <p:spPr>
          <a:xfrm>
            <a:off x="593477" y="2762054"/>
            <a:ext cx="8313737" cy="1333891"/>
          </a:xfrm>
        </p:spPr>
        <p:txBody>
          <a:bodyPr/>
          <a:lstStyle/>
          <a:p>
            <a:r>
              <a:rPr lang="es-CO" dirty="0"/>
              <a:t>Definir las reglas de cobro y estimación de cuotas</a:t>
            </a:r>
          </a:p>
        </p:txBody>
      </p:sp>
    </p:spTree>
    <p:extLst>
      <p:ext uri="{BB962C8B-B14F-4D97-AF65-F5344CB8AC3E}">
        <p14:creationId xmlns:p14="http://schemas.microsoft.com/office/powerpoint/2010/main" val="7726870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EEF16-CF76-2F32-8C1B-DC5ED57E09C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BE281EB7-6828-8F52-AEEC-804C887E053D}"/>
              </a:ext>
            </a:extLst>
          </p:cNvPr>
          <p:cNvPicPr>
            <a:picLocks noChangeAspect="1"/>
          </p:cNvPicPr>
          <p:nvPr/>
        </p:nvPicPr>
        <p:blipFill>
          <a:blip r:embed="rId2"/>
          <a:stretch>
            <a:fillRect/>
          </a:stretch>
        </p:blipFill>
        <p:spPr>
          <a:xfrm>
            <a:off x="1164915" y="950384"/>
            <a:ext cx="9311640" cy="4325689"/>
          </a:xfrm>
          <a:prstGeom prst="rect">
            <a:avLst/>
          </a:prstGeom>
        </p:spPr>
      </p:pic>
      <p:sp>
        <p:nvSpPr>
          <p:cNvPr id="2" name="Título 3">
            <a:extLst>
              <a:ext uri="{FF2B5EF4-FFF2-40B4-BE49-F238E27FC236}">
                <a16:creationId xmlns:a16="http://schemas.microsoft.com/office/drawing/2014/main" id="{033C1822-FD1B-8C09-32E1-984CAF37F1E9}"/>
              </a:ext>
            </a:extLst>
          </p:cNvPr>
          <p:cNvSpPr txBox="1">
            <a:spLocks/>
          </p:cNvSpPr>
          <p:nvPr/>
        </p:nvSpPr>
        <p:spPr>
          <a:xfrm>
            <a:off x="850971" y="51829"/>
            <a:ext cx="993952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p>
          <a:p>
            <a:pPr algn="just"/>
            <a:endParaRPr lang="es-CL" sz="3200" dirty="0"/>
          </a:p>
        </p:txBody>
      </p:sp>
      <p:sp>
        <p:nvSpPr>
          <p:cNvPr id="3" name="Rectangle: Rounded Corners 9">
            <a:extLst>
              <a:ext uri="{FF2B5EF4-FFF2-40B4-BE49-F238E27FC236}">
                <a16:creationId xmlns:a16="http://schemas.microsoft.com/office/drawing/2014/main" id="{5770175B-23D8-7261-2938-0E8890A408C4}"/>
              </a:ext>
            </a:extLst>
          </p:cNvPr>
          <p:cNvSpPr/>
          <p:nvPr/>
        </p:nvSpPr>
        <p:spPr>
          <a:xfrm>
            <a:off x="584305" y="5719499"/>
            <a:ext cx="10961358" cy="67312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Corresponde a un conjunto de reglas de cargos definidas entorno a un código de detalle y un conjunto de variables académicas con las cuales luego se identifica a los estudiantes que, cumpliendo dichas características académicas, se le asignan cargos a su cuenta corriente acorde a la regla con la cual sus características académicas coincidan.</a:t>
            </a:r>
            <a:endParaRPr lang="es-CO" sz="1200" b="1" dirty="0"/>
          </a:p>
        </p:txBody>
      </p:sp>
      <p:sp>
        <p:nvSpPr>
          <p:cNvPr id="4" name="Rectangle: Rounded Corners 9">
            <a:extLst>
              <a:ext uri="{FF2B5EF4-FFF2-40B4-BE49-F238E27FC236}">
                <a16:creationId xmlns:a16="http://schemas.microsoft.com/office/drawing/2014/main" id="{8B771468-302C-F2B4-9064-CBAD2D5EA8A6}"/>
              </a:ext>
            </a:extLst>
          </p:cNvPr>
          <p:cNvSpPr/>
          <p:nvPr/>
        </p:nvSpPr>
        <p:spPr>
          <a:xfrm>
            <a:off x="611736" y="5276073"/>
            <a:ext cx="10907633" cy="354688"/>
          </a:xfrm>
          <a:prstGeom prst="roundRect">
            <a:avLst/>
          </a:prstGeom>
          <a:solidFill>
            <a:schemeClr val="accent2">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CO" sz="1200" dirty="0">
                <a:solidFill>
                  <a:schemeClr val="dk1"/>
                </a:solidFill>
              </a:rPr>
              <a:t>Regularmente estas reglas son utilizadas para representar los cargos iniciales como Matrícula, Colegiatura, Pensión y Carnet estudiantil.</a:t>
            </a:r>
          </a:p>
        </p:txBody>
      </p:sp>
    </p:spTree>
    <p:extLst>
      <p:ext uri="{BB962C8B-B14F-4D97-AF65-F5344CB8AC3E}">
        <p14:creationId xmlns:p14="http://schemas.microsoft.com/office/powerpoint/2010/main" val="17338183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6D18B-45DA-15A2-E31D-90F0A8610E02}"/>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698DCF76-D047-DAD9-E0F4-87909913C93F}"/>
              </a:ext>
            </a:extLst>
          </p:cNvPr>
          <p:cNvPicPr>
            <a:picLocks noChangeAspect="1"/>
          </p:cNvPicPr>
          <p:nvPr/>
        </p:nvPicPr>
        <p:blipFill>
          <a:blip r:embed="rId2"/>
          <a:stretch>
            <a:fillRect/>
          </a:stretch>
        </p:blipFill>
        <p:spPr>
          <a:xfrm>
            <a:off x="786828" y="1207764"/>
            <a:ext cx="10602256" cy="1809756"/>
          </a:xfrm>
          <a:prstGeom prst="rect">
            <a:avLst/>
          </a:prstGeom>
        </p:spPr>
      </p:pic>
      <p:sp>
        <p:nvSpPr>
          <p:cNvPr id="2" name="Título 3">
            <a:extLst>
              <a:ext uri="{FF2B5EF4-FFF2-40B4-BE49-F238E27FC236}">
                <a16:creationId xmlns:a16="http://schemas.microsoft.com/office/drawing/2014/main" id="{423ACE2A-9DA1-71F6-9B58-E168FF1E447A}"/>
              </a:ext>
            </a:extLst>
          </p:cNvPr>
          <p:cNvSpPr txBox="1">
            <a:spLocks/>
          </p:cNvSpPr>
          <p:nvPr/>
        </p:nvSpPr>
        <p:spPr>
          <a:xfrm>
            <a:off x="794872" y="309209"/>
            <a:ext cx="10691898"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sp>
        <p:nvSpPr>
          <p:cNvPr id="4" name="Rectangle: Rounded Corners 9">
            <a:extLst>
              <a:ext uri="{FF2B5EF4-FFF2-40B4-BE49-F238E27FC236}">
                <a16:creationId xmlns:a16="http://schemas.microsoft.com/office/drawing/2014/main" id="{3FC0FF27-5992-3CC8-12ED-0AF4F6969618}"/>
              </a:ext>
            </a:extLst>
          </p:cNvPr>
          <p:cNvSpPr/>
          <p:nvPr/>
        </p:nvSpPr>
        <p:spPr>
          <a:xfrm>
            <a:off x="876917" y="4017287"/>
            <a:ext cx="10422078" cy="70917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2. Despliegue la lista del campo </a:t>
            </a:r>
            <a:r>
              <a:rPr lang="es-CO" sz="1200" b="1" dirty="0"/>
              <a:t>Tipo de regla </a:t>
            </a:r>
            <a:r>
              <a:rPr lang="es-CO" sz="1200" dirty="0"/>
              <a:t>y seleccione la opción ‘</a:t>
            </a:r>
            <a:r>
              <a:rPr lang="es-CO" sz="1200" b="1" dirty="0"/>
              <a:t>STUDYPATH</a:t>
            </a:r>
            <a:r>
              <a:rPr lang="es-CO" sz="1200" dirty="0"/>
              <a:t>’. Los demás valores son: </a:t>
            </a:r>
            <a:r>
              <a:rPr lang="es-ES" sz="1200" dirty="0"/>
              <a:t>ATTR (atributo de curso), CAMPUS (campus del curso), LEVEL (nivel de curso), STUDENT (características del alumno), STUDYPATH (planes de estudio), o STUDYPATH_ATTR (planes de estudio con atributos de curso).</a:t>
            </a:r>
            <a:endParaRPr lang="es-CO" sz="1200" dirty="0"/>
          </a:p>
        </p:txBody>
      </p:sp>
      <p:sp>
        <p:nvSpPr>
          <p:cNvPr id="5" name="Rectangle: Rounded Corners 9">
            <a:extLst>
              <a:ext uri="{FF2B5EF4-FFF2-40B4-BE49-F238E27FC236}">
                <a16:creationId xmlns:a16="http://schemas.microsoft.com/office/drawing/2014/main" id="{EA270555-C0D7-C426-5640-BBCC19C2CDD4}"/>
              </a:ext>
            </a:extLst>
          </p:cNvPr>
          <p:cNvSpPr/>
          <p:nvPr/>
        </p:nvSpPr>
        <p:spPr>
          <a:xfrm>
            <a:off x="876916" y="5497868"/>
            <a:ext cx="10430121" cy="501161"/>
          </a:xfrm>
          <a:prstGeom prst="roundRect">
            <a:avLst/>
          </a:prstGeom>
          <a:solidFill>
            <a:schemeClr val="accent2">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CO" sz="1200" dirty="0">
                <a:solidFill>
                  <a:schemeClr val="dk1"/>
                </a:solidFill>
              </a:rPr>
              <a:t>Los cargos configurados en esta página son asignados a la cuenta corriente del estudiante en función a los parámetros definidos para cada registro.</a:t>
            </a:r>
          </a:p>
        </p:txBody>
      </p:sp>
      <p:sp>
        <p:nvSpPr>
          <p:cNvPr id="9" name="Rectangle: Rounded Corners 9">
            <a:extLst>
              <a:ext uri="{FF2B5EF4-FFF2-40B4-BE49-F238E27FC236}">
                <a16:creationId xmlns:a16="http://schemas.microsoft.com/office/drawing/2014/main" id="{E9ED699A-DCBE-75A4-4635-9C62B2A8B6CD}"/>
              </a:ext>
            </a:extLst>
          </p:cNvPr>
          <p:cNvSpPr/>
          <p:nvPr/>
        </p:nvSpPr>
        <p:spPr>
          <a:xfrm>
            <a:off x="891638" y="3403626"/>
            <a:ext cx="10407357" cy="5011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 Para una configuración de reglas de cobro diferenciada por periodo académico, digite o seleccione el periodo al cual aplicarían las reglas de cobro.</a:t>
            </a:r>
          </a:p>
        </p:txBody>
      </p:sp>
      <p:sp>
        <p:nvSpPr>
          <p:cNvPr id="10" name="Rectangle: Rounded Corners 9">
            <a:extLst>
              <a:ext uri="{FF2B5EF4-FFF2-40B4-BE49-F238E27FC236}">
                <a16:creationId xmlns:a16="http://schemas.microsoft.com/office/drawing/2014/main" id="{EEC2E14E-7201-1719-11C9-849AB32019DF}"/>
              </a:ext>
            </a:extLst>
          </p:cNvPr>
          <p:cNvSpPr/>
          <p:nvPr/>
        </p:nvSpPr>
        <p:spPr>
          <a:xfrm>
            <a:off x="884961" y="4825240"/>
            <a:ext cx="10414034" cy="50116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3. Despliegue la lista del campo </a:t>
            </a:r>
            <a:r>
              <a:rPr lang="es-CO" sz="1200" b="1" dirty="0"/>
              <a:t>Tipo de captura</a:t>
            </a:r>
            <a:r>
              <a:rPr lang="es-CO" sz="1200" dirty="0"/>
              <a:t> y seleccione la opción </a:t>
            </a:r>
            <a:r>
              <a:rPr lang="es-CO" sz="1200" b="1" dirty="0"/>
              <a:t>Regular</a:t>
            </a:r>
            <a:r>
              <a:rPr lang="es-CO" sz="1200" dirty="0"/>
              <a:t>. </a:t>
            </a:r>
            <a:r>
              <a:rPr lang="es-ES" sz="1200" dirty="0"/>
              <a:t>Los tipos de entrada son PREBILL (Precobrar) o REGULAR.</a:t>
            </a:r>
            <a:endParaRPr lang="es-CO" sz="1200" dirty="0"/>
          </a:p>
        </p:txBody>
      </p:sp>
      <p:pic>
        <p:nvPicPr>
          <p:cNvPr id="19" name="Imagen 18">
            <a:extLst>
              <a:ext uri="{FF2B5EF4-FFF2-40B4-BE49-F238E27FC236}">
                <a16:creationId xmlns:a16="http://schemas.microsoft.com/office/drawing/2014/main" id="{DC82125B-7F62-5904-1E90-36885813D3C5}"/>
              </a:ext>
            </a:extLst>
          </p:cNvPr>
          <p:cNvPicPr>
            <a:picLocks noChangeAspect="1"/>
          </p:cNvPicPr>
          <p:nvPr/>
        </p:nvPicPr>
        <p:blipFill>
          <a:blip r:embed="rId3"/>
          <a:stretch>
            <a:fillRect/>
          </a:stretch>
        </p:blipFill>
        <p:spPr>
          <a:xfrm>
            <a:off x="5367833" y="1886758"/>
            <a:ext cx="162000" cy="162000"/>
          </a:xfrm>
          <a:prstGeom prst="rect">
            <a:avLst/>
          </a:prstGeom>
        </p:spPr>
      </p:pic>
      <p:pic>
        <p:nvPicPr>
          <p:cNvPr id="23" name="Imagen 22">
            <a:extLst>
              <a:ext uri="{FF2B5EF4-FFF2-40B4-BE49-F238E27FC236}">
                <a16:creationId xmlns:a16="http://schemas.microsoft.com/office/drawing/2014/main" id="{748389C5-8EBA-3A59-13AF-2CCC2F9A97C3}"/>
              </a:ext>
            </a:extLst>
          </p:cNvPr>
          <p:cNvPicPr>
            <a:picLocks noChangeAspect="1"/>
          </p:cNvPicPr>
          <p:nvPr/>
        </p:nvPicPr>
        <p:blipFill>
          <a:blip r:embed="rId4"/>
          <a:stretch>
            <a:fillRect/>
          </a:stretch>
        </p:blipFill>
        <p:spPr>
          <a:xfrm>
            <a:off x="3312064" y="2108243"/>
            <a:ext cx="162000" cy="162000"/>
          </a:xfrm>
          <a:prstGeom prst="rect">
            <a:avLst/>
          </a:prstGeom>
        </p:spPr>
      </p:pic>
      <p:pic>
        <p:nvPicPr>
          <p:cNvPr id="24" name="Imagen 23">
            <a:extLst>
              <a:ext uri="{FF2B5EF4-FFF2-40B4-BE49-F238E27FC236}">
                <a16:creationId xmlns:a16="http://schemas.microsoft.com/office/drawing/2014/main" id="{8D8AE1C7-9FBC-591E-0649-8663E09D922C}"/>
              </a:ext>
            </a:extLst>
          </p:cNvPr>
          <p:cNvPicPr>
            <a:picLocks noChangeAspect="1"/>
          </p:cNvPicPr>
          <p:nvPr/>
        </p:nvPicPr>
        <p:blipFill>
          <a:blip r:embed="rId5"/>
          <a:stretch>
            <a:fillRect/>
          </a:stretch>
        </p:blipFill>
        <p:spPr>
          <a:xfrm>
            <a:off x="3312064" y="1908170"/>
            <a:ext cx="162000" cy="162000"/>
          </a:xfrm>
          <a:prstGeom prst="rect">
            <a:avLst/>
          </a:prstGeom>
        </p:spPr>
      </p:pic>
    </p:spTree>
    <p:extLst>
      <p:ext uri="{BB962C8B-B14F-4D97-AF65-F5344CB8AC3E}">
        <p14:creationId xmlns:p14="http://schemas.microsoft.com/office/powerpoint/2010/main" val="278379454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8E1E-C0CF-B4CE-5FDF-097DEA024FA4}"/>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F76B4631-CD50-0F79-DDD8-BDF46A58E541}"/>
              </a:ext>
            </a:extLst>
          </p:cNvPr>
          <p:cNvPicPr>
            <a:picLocks noChangeAspect="1"/>
          </p:cNvPicPr>
          <p:nvPr/>
        </p:nvPicPr>
        <p:blipFill>
          <a:blip r:embed="rId2"/>
          <a:stretch>
            <a:fillRect/>
          </a:stretch>
        </p:blipFill>
        <p:spPr>
          <a:xfrm>
            <a:off x="721727" y="1189706"/>
            <a:ext cx="10748544" cy="3244738"/>
          </a:xfrm>
          <a:prstGeom prst="rect">
            <a:avLst/>
          </a:prstGeom>
        </p:spPr>
      </p:pic>
      <p:sp>
        <p:nvSpPr>
          <p:cNvPr id="4" name="Rectángulo: esquinas redondeadas 7">
            <a:extLst>
              <a:ext uri="{FF2B5EF4-FFF2-40B4-BE49-F238E27FC236}">
                <a16:creationId xmlns:a16="http://schemas.microsoft.com/office/drawing/2014/main" id="{3982C665-4CD6-13ED-C654-523D7277DE02}"/>
              </a:ext>
            </a:extLst>
          </p:cNvPr>
          <p:cNvSpPr/>
          <p:nvPr/>
        </p:nvSpPr>
        <p:spPr>
          <a:xfrm>
            <a:off x="859535" y="4660161"/>
            <a:ext cx="9725052" cy="39625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L" sz="1200" dirty="0"/>
              <a:t>1. Para crear un nuevo registro, se hace click en el botón </a:t>
            </a:r>
            <a:r>
              <a:rPr lang="es-CL" sz="1200" b="1" dirty="0"/>
              <a:t>Insertar.</a:t>
            </a:r>
            <a:endParaRPr lang="es-CL" sz="1200" dirty="0"/>
          </a:p>
        </p:txBody>
      </p:sp>
      <p:sp>
        <p:nvSpPr>
          <p:cNvPr id="6" name="Rectangle: Rounded Corners 9">
            <a:extLst>
              <a:ext uri="{FF2B5EF4-FFF2-40B4-BE49-F238E27FC236}">
                <a16:creationId xmlns:a16="http://schemas.microsoft.com/office/drawing/2014/main" id="{B65E16F2-4B16-1A57-6B75-31EC587939E9}"/>
              </a:ext>
            </a:extLst>
          </p:cNvPr>
          <p:cNvSpPr/>
          <p:nvPr/>
        </p:nvSpPr>
        <p:spPr>
          <a:xfrm>
            <a:off x="859536" y="5099472"/>
            <a:ext cx="9725052" cy="57424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2. Lo primero es definir el </a:t>
            </a:r>
            <a:r>
              <a:rPr lang="es-CO" sz="1200" b="1" dirty="0"/>
              <a:t>Código de detalle </a:t>
            </a:r>
            <a:r>
              <a:rPr lang="es-CO" sz="1200" dirty="0"/>
              <a:t>del cargo que se generará en la cuenta corriente, el sistema asigna el </a:t>
            </a:r>
            <a:r>
              <a:rPr lang="es-CO" sz="1200" b="1" dirty="0"/>
              <a:t>código de categoría </a:t>
            </a:r>
            <a:r>
              <a:rPr lang="es-CO" sz="1200" dirty="0"/>
              <a:t>automáticamente.</a:t>
            </a:r>
          </a:p>
        </p:txBody>
      </p:sp>
      <p:sp>
        <p:nvSpPr>
          <p:cNvPr id="7" name="Rectangle: Rounded Corners 9">
            <a:extLst>
              <a:ext uri="{FF2B5EF4-FFF2-40B4-BE49-F238E27FC236}">
                <a16:creationId xmlns:a16="http://schemas.microsoft.com/office/drawing/2014/main" id="{80E9059E-46E5-B0C4-F40E-F6F68AA3D798}"/>
              </a:ext>
            </a:extLst>
          </p:cNvPr>
          <p:cNvSpPr/>
          <p:nvPr/>
        </p:nvSpPr>
        <p:spPr>
          <a:xfrm>
            <a:off x="859536" y="5716779"/>
            <a:ext cx="9725052" cy="57424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3. Asignar el rango de cargos a configurar, donde regularmente los </a:t>
            </a:r>
            <a:r>
              <a:rPr lang="es-CO" sz="1200" b="1" dirty="0"/>
              <a:t>cargos mínimos </a:t>
            </a:r>
            <a:r>
              <a:rPr lang="es-CO" sz="1200" dirty="0"/>
              <a:t>y </a:t>
            </a:r>
            <a:r>
              <a:rPr lang="es-CO" sz="1200" b="1" dirty="0"/>
              <a:t>máximos</a:t>
            </a:r>
            <a:r>
              <a:rPr lang="es-CO" sz="1200" dirty="0"/>
              <a:t> han de ser iguales para tener un único monto asociado a la regla (tarifa plana). De igual forma es posible definir un </a:t>
            </a:r>
            <a:r>
              <a:rPr lang="es-CO" sz="1200" b="1" dirty="0"/>
              <a:t>cargo por crédito</a:t>
            </a:r>
            <a:r>
              <a:rPr lang="es-CO" sz="1200" dirty="0"/>
              <a:t> inscrito que posea el estudiante.</a:t>
            </a:r>
          </a:p>
        </p:txBody>
      </p:sp>
      <p:sp>
        <p:nvSpPr>
          <p:cNvPr id="9" name="Título 3">
            <a:extLst>
              <a:ext uri="{FF2B5EF4-FFF2-40B4-BE49-F238E27FC236}">
                <a16:creationId xmlns:a16="http://schemas.microsoft.com/office/drawing/2014/main" id="{D177A941-7496-13E3-6CC2-D17059F817E7}"/>
              </a:ext>
            </a:extLst>
          </p:cNvPr>
          <p:cNvSpPr txBox="1">
            <a:spLocks/>
          </p:cNvSpPr>
          <p:nvPr/>
        </p:nvSpPr>
        <p:spPr>
          <a:xfrm>
            <a:off x="774573" y="245489"/>
            <a:ext cx="10642853"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pic>
        <p:nvPicPr>
          <p:cNvPr id="15" name="Imagen 14">
            <a:extLst>
              <a:ext uri="{FF2B5EF4-FFF2-40B4-BE49-F238E27FC236}">
                <a16:creationId xmlns:a16="http://schemas.microsoft.com/office/drawing/2014/main" id="{6F776B7E-B23B-A5F9-C2E1-129230250370}"/>
              </a:ext>
            </a:extLst>
          </p:cNvPr>
          <p:cNvPicPr>
            <a:picLocks noChangeAspect="1"/>
          </p:cNvPicPr>
          <p:nvPr/>
        </p:nvPicPr>
        <p:blipFill>
          <a:blip r:embed="rId3"/>
          <a:stretch>
            <a:fillRect/>
          </a:stretch>
        </p:blipFill>
        <p:spPr>
          <a:xfrm>
            <a:off x="520776" y="2572453"/>
            <a:ext cx="162000" cy="162000"/>
          </a:xfrm>
          <a:prstGeom prst="rect">
            <a:avLst/>
          </a:prstGeom>
        </p:spPr>
      </p:pic>
      <p:pic>
        <p:nvPicPr>
          <p:cNvPr id="16" name="Imagen 15">
            <a:extLst>
              <a:ext uri="{FF2B5EF4-FFF2-40B4-BE49-F238E27FC236}">
                <a16:creationId xmlns:a16="http://schemas.microsoft.com/office/drawing/2014/main" id="{651169F4-EEB2-8F79-0735-3032A653A6C6}"/>
              </a:ext>
            </a:extLst>
          </p:cNvPr>
          <p:cNvPicPr>
            <a:picLocks noChangeAspect="1"/>
          </p:cNvPicPr>
          <p:nvPr/>
        </p:nvPicPr>
        <p:blipFill>
          <a:blip r:embed="rId4"/>
          <a:stretch>
            <a:fillRect/>
          </a:stretch>
        </p:blipFill>
        <p:spPr>
          <a:xfrm>
            <a:off x="4556304" y="2279224"/>
            <a:ext cx="162000" cy="162000"/>
          </a:xfrm>
          <a:prstGeom prst="rect">
            <a:avLst/>
          </a:prstGeom>
        </p:spPr>
      </p:pic>
      <p:pic>
        <p:nvPicPr>
          <p:cNvPr id="17" name="Imagen 16">
            <a:extLst>
              <a:ext uri="{FF2B5EF4-FFF2-40B4-BE49-F238E27FC236}">
                <a16:creationId xmlns:a16="http://schemas.microsoft.com/office/drawing/2014/main" id="{826B8515-492E-C1A0-17E1-8BC4C0310284}"/>
              </a:ext>
            </a:extLst>
          </p:cNvPr>
          <p:cNvPicPr>
            <a:picLocks noChangeAspect="1"/>
          </p:cNvPicPr>
          <p:nvPr/>
        </p:nvPicPr>
        <p:blipFill>
          <a:blip r:embed="rId5"/>
          <a:stretch>
            <a:fillRect/>
          </a:stretch>
        </p:blipFill>
        <p:spPr>
          <a:xfrm>
            <a:off x="9902044" y="1861929"/>
            <a:ext cx="162000" cy="162000"/>
          </a:xfrm>
          <a:prstGeom prst="rect">
            <a:avLst/>
          </a:prstGeom>
        </p:spPr>
      </p:pic>
    </p:spTree>
    <p:extLst>
      <p:ext uri="{BB962C8B-B14F-4D97-AF65-F5344CB8AC3E}">
        <p14:creationId xmlns:p14="http://schemas.microsoft.com/office/powerpoint/2010/main" val="52097723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40153-6D9B-8528-A6B9-B0194DC443F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FD0FC7C1-D15D-0DBC-1E29-C5992781E386}"/>
              </a:ext>
            </a:extLst>
          </p:cNvPr>
          <p:cNvSpPr txBox="1">
            <a:spLocks/>
          </p:cNvSpPr>
          <p:nvPr/>
        </p:nvSpPr>
        <p:spPr>
          <a:xfrm>
            <a:off x="589788" y="236522"/>
            <a:ext cx="1076629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sp>
        <p:nvSpPr>
          <p:cNvPr id="3" name="Rectangle: Rounded Corners 9">
            <a:extLst>
              <a:ext uri="{FF2B5EF4-FFF2-40B4-BE49-F238E27FC236}">
                <a16:creationId xmlns:a16="http://schemas.microsoft.com/office/drawing/2014/main" id="{58E140B5-B871-7D81-A517-75613DB44E53}"/>
              </a:ext>
            </a:extLst>
          </p:cNvPr>
          <p:cNvSpPr/>
          <p:nvPr/>
        </p:nvSpPr>
        <p:spPr>
          <a:xfrm>
            <a:off x="589787" y="4732109"/>
            <a:ext cx="10646597" cy="49677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4. Los cargos configurados son asignados en la cuenta corriente de los estudiantes basados en los criterios configurados en cada regla de cobro, particularmente en las secciones “Plan de Estudios”, “Criterios de Inscripción” y “Alumno/Curso”. </a:t>
            </a:r>
          </a:p>
        </p:txBody>
      </p:sp>
      <p:sp>
        <p:nvSpPr>
          <p:cNvPr id="4" name="Rectangle: Rounded Corners 9">
            <a:extLst>
              <a:ext uri="{FF2B5EF4-FFF2-40B4-BE49-F238E27FC236}">
                <a16:creationId xmlns:a16="http://schemas.microsoft.com/office/drawing/2014/main" id="{0D5D1D43-A2CB-52C4-F5B9-E0FA3C3D9F2E}"/>
              </a:ext>
            </a:extLst>
          </p:cNvPr>
          <p:cNvSpPr/>
          <p:nvPr/>
        </p:nvSpPr>
        <p:spPr>
          <a:xfrm>
            <a:off x="589788" y="5430035"/>
            <a:ext cx="10646597" cy="496775"/>
          </a:xfrm>
          <a:prstGeom prst="roundRect">
            <a:avLst/>
          </a:prstGeom>
          <a:solidFill>
            <a:schemeClr val="accent2">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CO" sz="1200" b="1" dirty="0">
                <a:solidFill>
                  <a:schemeClr val="dk1"/>
                </a:solidFill>
              </a:rPr>
              <a:t>NOTA: </a:t>
            </a:r>
            <a:r>
              <a:rPr lang="es-CO" sz="1200" dirty="0">
                <a:solidFill>
                  <a:schemeClr val="dk1"/>
                </a:solidFill>
              </a:rPr>
              <a:t>Un estudiante puede aplicar para más de una regla de cobro simultáneamente, por lo cual las definiciones de configuración de las reglas de cobro determinarán la exactitud con la que dichos cargos sean asociados según sea el caso.</a:t>
            </a:r>
          </a:p>
        </p:txBody>
      </p:sp>
      <p:pic>
        <p:nvPicPr>
          <p:cNvPr id="12" name="Imagen 11">
            <a:extLst>
              <a:ext uri="{FF2B5EF4-FFF2-40B4-BE49-F238E27FC236}">
                <a16:creationId xmlns:a16="http://schemas.microsoft.com/office/drawing/2014/main" id="{4F47B61F-AD2D-0438-650E-8C7EE89D963C}"/>
              </a:ext>
            </a:extLst>
          </p:cNvPr>
          <p:cNvPicPr>
            <a:picLocks noChangeAspect="1"/>
          </p:cNvPicPr>
          <p:nvPr/>
        </p:nvPicPr>
        <p:blipFill>
          <a:blip r:embed="rId2"/>
          <a:stretch>
            <a:fillRect/>
          </a:stretch>
        </p:blipFill>
        <p:spPr>
          <a:xfrm>
            <a:off x="455219" y="3384576"/>
            <a:ext cx="162000" cy="162000"/>
          </a:xfrm>
          <a:prstGeom prst="rect">
            <a:avLst/>
          </a:prstGeom>
        </p:spPr>
      </p:pic>
      <p:pic>
        <p:nvPicPr>
          <p:cNvPr id="6" name="Imagen 5">
            <a:extLst>
              <a:ext uri="{FF2B5EF4-FFF2-40B4-BE49-F238E27FC236}">
                <a16:creationId xmlns:a16="http://schemas.microsoft.com/office/drawing/2014/main" id="{A707053B-CA96-E1B1-83EE-C1AED0EA7DAB}"/>
              </a:ext>
            </a:extLst>
          </p:cNvPr>
          <p:cNvPicPr>
            <a:picLocks noChangeAspect="1"/>
          </p:cNvPicPr>
          <p:nvPr/>
        </p:nvPicPr>
        <p:blipFill>
          <a:blip r:embed="rId3"/>
          <a:stretch>
            <a:fillRect/>
          </a:stretch>
        </p:blipFill>
        <p:spPr>
          <a:xfrm>
            <a:off x="685238" y="1418098"/>
            <a:ext cx="10575395" cy="3030989"/>
          </a:xfrm>
          <a:prstGeom prst="rect">
            <a:avLst/>
          </a:prstGeom>
        </p:spPr>
      </p:pic>
    </p:spTree>
    <p:extLst>
      <p:ext uri="{BB962C8B-B14F-4D97-AF65-F5344CB8AC3E}">
        <p14:creationId xmlns:p14="http://schemas.microsoft.com/office/powerpoint/2010/main" val="40326058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F4350-57FE-838F-DB65-BF1B74432A70}"/>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F50E7C9-C5BB-3B98-8EEF-BF18A201D076}"/>
              </a:ext>
            </a:extLst>
          </p:cNvPr>
          <p:cNvPicPr>
            <a:picLocks noChangeAspect="1"/>
          </p:cNvPicPr>
          <p:nvPr/>
        </p:nvPicPr>
        <p:blipFill>
          <a:blip r:embed="rId2"/>
          <a:stretch>
            <a:fillRect/>
          </a:stretch>
        </p:blipFill>
        <p:spPr>
          <a:xfrm>
            <a:off x="1133856" y="1156663"/>
            <a:ext cx="9437356" cy="4386723"/>
          </a:xfrm>
          <a:prstGeom prst="rect">
            <a:avLst/>
          </a:prstGeom>
        </p:spPr>
      </p:pic>
      <p:sp>
        <p:nvSpPr>
          <p:cNvPr id="2" name="Título 3">
            <a:extLst>
              <a:ext uri="{FF2B5EF4-FFF2-40B4-BE49-F238E27FC236}">
                <a16:creationId xmlns:a16="http://schemas.microsoft.com/office/drawing/2014/main" id="{466A78CA-E7E8-FBEB-AE5F-DA63B9408CBF}"/>
              </a:ext>
            </a:extLst>
          </p:cNvPr>
          <p:cNvSpPr txBox="1">
            <a:spLocks/>
          </p:cNvSpPr>
          <p:nvPr/>
        </p:nvSpPr>
        <p:spPr>
          <a:xfrm>
            <a:off x="685365" y="181658"/>
            <a:ext cx="10821268"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sp>
        <p:nvSpPr>
          <p:cNvPr id="4" name="Rectangle: Rounded Corners 9">
            <a:extLst>
              <a:ext uri="{FF2B5EF4-FFF2-40B4-BE49-F238E27FC236}">
                <a16:creationId xmlns:a16="http://schemas.microsoft.com/office/drawing/2014/main" id="{4225B4FE-D139-771E-7943-1F62A3C4EDDB}"/>
              </a:ext>
            </a:extLst>
          </p:cNvPr>
          <p:cNvSpPr/>
          <p:nvPr/>
        </p:nvSpPr>
        <p:spPr>
          <a:xfrm>
            <a:off x="685363" y="5619836"/>
            <a:ext cx="10497749" cy="81819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5. En la sección “</a:t>
            </a:r>
            <a:r>
              <a:rPr lang="es-CO" sz="1300" b="1" dirty="0"/>
              <a:t>Plan de Estudios</a:t>
            </a:r>
            <a:r>
              <a:rPr lang="es-CO" sz="1200" dirty="0"/>
              <a:t>” se definen los parámetros aplicables a las variables académicas del </a:t>
            </a:r>
            <a:r>
              <a:rPr lang="es-CO" sz="1200" b="1" dirty="0"/>
              <a:t>Plan de Estudios del estudiante</a:t>
            </a:r>
            <a:r>
              <a:rPr lang="es-CO" sz="1200" dirty="0"/>
              <a:t>, basándose en los valores que tenga en campos como Nivel Académico, Campus, Programa de Estudios, Periodo de Admisión, Tipo de Campos de estudio, Código de campos de estudio, Tarifa de currículos, entre otros.</a:t>
            </a:r>
          </a:p>
        </p:txBody>
      </p:sp>
      <p:pic>
        <p:nvPicPr>
          <p:cNvPr id="14" name="Imagen 13">
            <a:extLst>
              <a:ext uri="{FF2B5EF4-FFF2-40B4-BE49-F238E27FC236}">
                <a16:creationId xmlns:a16="http://schemas.microsoft.com/office/drawing/2014/main" id="{B9B5A9CA-4415-A817-319A-B34B3E3E2F60}"/>
              </a:ext>
            </a:extLst>
          </p:cNvPr>
          <p:cNvPicPr>
            <a:picLocks noChangeAspect="1"/>
          </p:cNvPicPr>
          <p:nvPr/>
        </p:nvPicPr>
        <p:blipFill>
          <a:blip r:embed="rId3"/>
          <a:stretch>
            <a:fillRect/>
          </a:stretch>
        </p:blipFill>
        <p:spPr>
          <a:xfrm>
            <a:off x="867182" y="3998519"/>
            <a:ext cx="162000" cy="162000"/>
          </a:xfrm>
          <a:prstGeom prst="rect">
            <a:avLst/>
          </a:prstGeom>
        </p:spPr>
      </p:pic>
    </p:spTree>
    <p:extLst>
      <p:ext uri="{BB962C8B-B14F-4D97-AF65-F5344CB8AC3E}">
        <p14:creationId xmlns:p14="http://schemas.microsoft.com/office/powerpoint/2010/main" val="37111563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71B81-F270-CE3E-B333-FC8305C82782}"/>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BDF11A57-360E-818A-03EC-F3D4ECF2C468}"/>
              </a:ext>
            </a:extLst>
          </p:cNvPr>
          <p:cNvPicPr>
            <a:picLocks noChangeAspect="1"/>
          </p:cNvPicPr>
          <p:nvPr/>
        </p:nvPicPr>
        <p:blipFill>
          <a:blip r:embed="rId2"/>
          <a:stretch>
            <a:fillRect/>
          </a:stretch>
        </p:blipFill>
        <p:spPr>
          <a:xfrm>
            <a:off x="915947" y="1061752"/>
            <a:ext cx="10360104" cy="4087807"/>
          </a:xfrm>
          <a:prstGeom prst="rect">
            <a:avLst/>
          </a:prstGeom>
        </p:spPr>
      </p:pic>
      <p:sp>
        <p:nvSpPr>
          <p:cNvPr id="2" name="Título 3">
            <a:extLst>
              <a:ext uri="{FF2B5EF4-FFF2-40B4-BE49-F238E27FC236}">
                <a16:creationId xmlns:a16="http://schemas.microsoft.com/office/drawing/2014/main" id="{37CFDAEE-EFE1-F542-9356-1D81D11C4A23}"/>
              </a:ext>
            </a:extLst>
          </p:cNvPr>
          <p:cNvSpPr txBox="1">
            <a:spLocks/>
          </p:cNvSpPr>
          <p:nvPr/>
        </p:nvSpPr>
        <p:spPr>
          <a:xfrm>
            <a:off x="832729" y="163197"/>
            <a:ext cx="10526542"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sp>
        <p:nvSpPr>
          <p:cNvPr id="4" name="Rectangle: Rounded Corners 9">
            <a:extLst>
              <a:ext uri="{FF2B5EF4-FFF2-40B4-BE49-F238E27FC236}">
                <a16:creationId xmlns:a16="http://schemas.microsoft.com/office/drawing/2014/main" id="{AF9DCF21-FCF6-2E56-5033-14704C007F8B}"/>
              </a:ext>
            </a:extLst>
          </p:cNvPr>
          <p:cNvSpPr/>
          <p:nvPr/>
        </p:nvSpPr>
        <p:spPr>
          <a:xfrm>
            <a:off x="799666" y="5283205"/>
            <a:ext cx="10592667" cy="102608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6. En la sección “</a:t>
            </a:r>
            <a:r>
              <a:rPr lang="es-CO" sz="1300" b="1" dirty="0"/>
              <a:t>Criterio de inscripción</a:t>
            </a:r>
            <a:r>
              <a:rPr lang="es-CO" sz="1200" dirty="0"/>
              <a:t>” se definen los parámetros aplicables a los criterios de inscripción, tales como Rango de horas de cobro facturables (deben ser configuradas de 0,1 a 9999 para no ser consideradas como limitantes de aplicación) o asignar el número tope de créditos definidos por la institución para cada regla y rango de fechas de inscripción en caso de que se requiera, lo cual limitaría la aplicación de la regla de cobro dentro de un periodo de tiempo determinado.</a:t>
            </a:r>
          </a:p>
        </p:txBody>
      </p:sp>
      <p:pic>
        <p:nvPicPr>
          <p:cNvPr id="11" name="Imagen 10">
            <a:extLst>
              <a:ext uri="{FF2B5EF4-FFF2-40B4-BE49-F238E27FC236}">
                <a16:creationId xmlns:a16="http://schemas.microsoft.com/office/drawing/2014/main" id="{B68ADD75-4AEC-AC63-7376-EE52B8B94EB0}"/>
              </a:ext>
            </a:extLst>
          </p:cNvPr>
          <p:cNvPicPr>
            <a:picLocks noChangeAspect="1"/>
          </p:cNvPicPr>
          <p:nvPr/>
        </p:nvPicPr>
        <p:blipFill>
          <a:blip r:embed="rId3"/>
          <a:stretch>
            <a:fillRect/>
          </a:stretch>
        </p:blipFill>
        <p:spPr>
          <a:xfrm>
            <a:off x="1758240" y="4007665"/>
            <a:ext cx="162000" cy="162000"/>
          </a:xfrm>
          <a:prstGeom prst="rect">
            <a:avLst/>
          </a:prstGeom>
        </p:spPr>
      </p:pic>
    </p:spTree>
    <p:extLst>
      <p:ext uri="{BB962C8B-B14F-4D97-AF65-F5344CB8AC3E}">
        <p14:creationId xmlns:p14="http://schemas.microsoft.com/office/powerpoint/2010/main" val="38043314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CD233-8142-1763-8132-87EB7FF308B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A4C9B968-F858-95FE-1E33-441EC21CBDC2}"/>
              </a:ext>
            </a:extLst>
          </p:cNvPr>
          <p:cNvPicPr>
            <a:picLocks noChangeAspect="1"/>
          </p:cNvPicPr>
          <p:nvPr/>
        </p:nvPicPr>
        <p:blipFill>
          <a:blip r:embed="rId2"/>
          <a:stretch>
            <a:fillRect/>
          </a:stretch>
        </p:blipFill>
        <p:spPr>
          <a:xfrm>
            <a:off x="1073466" y="1052781"/>
            <a:ext cx="10045068" cy="4027454"/>
          </a:xfrm>
          <a:prstGeom prst="rect">
            <a:avLst/>
          </a:prstGeom>
        </p:spPr>
      </p:pic>
      <p:sp>
        <p:nvSpPr>
          <p:cNvPr id="2" name="Título 3">
            <a:extLst>
              <a:ext uri="{FF2B5EF4-FFF2-40B4-BE49-F238E27FC236}">
                <a16:creationId xmlns:a16="http://schemas.microsoft.com/office/drawing/2014/main" id="{C98808F1-18A4-6A6B-A264-6211842C0A69}"/>
              </a:ext>
            </a:extLst>
          </p:cNvPr>
          <p:cNvSpPr txBox="1">
            <a:spLocks/>
          </p:cNvSpPr>
          <p:nvPr/>
        </p:nvSpPr>
        <p:spPr>
          <a:xfrm>
            <a:off x="731520" y="154226"/>
            <a:ext cx="10725912"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sp>
        <p:nvSpPr>
          <p:cNvPr id="6" name="Rectangle: Rounded Corners 8">
            <a:extLst>
              <a:ext uri="{FF2B5EF4-FFF2-40B4-BE49-F238E27FC236}">
                <a16:creationId xmlns:a16="http://schemas.microsoft.com/office/drawing/2014/main" id="{7927EADA-4037-DAC6-F219-1B6F4DA72CE9}"/>
              </a:ext>
            </a:extLst>
          </p:cNvPr>
          <p:cNvSpPr/>
          <p:nvPr/>
        </p:nvSpPr>
        <p:spPr>
          <a:xfrm>
            <a:off x="855621" y="5490094"/>
            <a:ext cx="10601811" cy="46565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7. En la sección “</a:t>
            </a:r>
            <a:r>
              <a:rPr lang="es-CO" sz="1300" b="1" dirty="0"/>
              <a:t>Alumno/Curso</a:t>
            </a:r>
            <a:r>
              <a:rPr lang="es-CO" sz="1200" dirty="0"/>
              <a:t>” se definen los parámetros aplicables a los registros asociados al estudiante tales como: Atributo del Alumno, Tipo de Alumno, Tarifa de Alumno, Cohorte, entre otros.</a:t>
            </a:r>
          </a:p>
        </p:txBody>
      </p:sp>
      <p:sp>
        <p:nvSpPr>
          <p:cNvPr id="7" name="Rectángulo: esquinas redondeadas 9">
            <a:extLst>
              <a:ext uri="{FF2B5EF4-FFF2-40B4-BE49-F238E27FC236}">
                <a16:creationId xmlns:a16="http://schemas.microsoft.com/office/drawing/2014/main" id="{A4A910A6-A738-CF96-9AD7-EDBC27A8A88A}"/>
              </a:ext>
            </a:extLst>
          </p:cNvPr>
          <p:cNvSpPr/>
          <p:nvPr/>
        </p:nvSpPr>
        <p:spPr>
          <a:xfrm>
            <a:off x="855621" y="6041656"/>
            <a:ext cx="10601811" cy="46565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8. Para finalizar, se hace click en el botón </a:t>
            </a:r>
            <a:r>
              <a:rPr lang="es-CL" sz="1200" b="1" dirty="0"/>
              <a:t>Guardar</a:t>
            </a:r>
            <a:r>
              <a:rPr lang="es-CL" sz="1200" dirty="0"/>
              <a:t> o se digita la tecla </a:t>
            </a:r>
            <a:r>
              <a:rPr lang="es-CL" sz="1200" b="1" dirty="0"/>
              <a:t>F10</a:t>
            </a:r>
            <a:r>
              <a:rPr lang="es-CL" sz="1200" dirty="0"/>
              <a:t>.</a:t>
            </a:r>
          </a:p>
        </p:txBody>
      </p:sp>
      <p:pic>
        <p:nvPicPr>
          <p:cNvPr id="18" name="Imagen 17">
            <a:extLst>
              <a:ext uri="{FF2B5EF4-FFF2-40B4-BE49-F238E27FC236}">
                <a16:creationId xmlns:a16="http://schemas.microsoft.com/office/drawing/2014/main" id="{32D06580-CB07-21DA-F743-4C7460592C2F}"/>
              </a:ext>
            </a:extLst>
          </p:cNvPr>
          <p:cNvPicPr>
            <a:picLocks noChangeAspect="1"/>
          </p:cNvPicPr>
          <p:nvPr/>
        </p:nvPicPr>
        <p:blipFill>
          <a:blip r:embed="rId3"/>
          <a:stretch>
            <a:fillRect/>
          </a:stretch>
        </p:blipFill>
        <p:spPr>
          <a:xfrm>
            <a:off x="2643912" y="3927649"/>
            <a:ext cx="162000" cy="162000"/>
          </a:xfrm>
          <a:prstGeom prst="rect">
            <a:avLst/>
          </a:prstGeom>
        </p:spPr>
      </p:pic>
      <p:pic>
        <p:nvPicPr>
          <p:cNvPr id="10" name="Imagen 9">
            <a:extLst>
              <a:ext uri="{FF2B5EF4-FFF2-40B4-BE49-F238E27FC236}">
                <a16:creationId xmlns:a16="http://schemas.microsoft.com/office/drawing/2014/main" id="{22C299F7-F19C-09D5-E4D0-6A5341ED4F85}"/>
              </a:ext>
            </a:extLst>
          </p:cNvPr>
          <p:cNvPicPr>
            <a:picLocks noChangeAspect="1"/>
          </p:cNvPicPr>
          <p:nvPr/>
        </p:nvPicPr>
        <p:blipFill>
          <a:blip r:embed="rId4"/>
          <a:stretch>
            <a:fillRect/>
          </a:stretch>
        </p:blipFill>
        <p:spPr>
          <a:xfrm>
            <a:off x="1073466" y="5022859"/>
            <a:ext cx="10045068" cy="324203"/>
          </a:xfrm>
          <a:prstGeom prst="rect">
            <a:avLst/>
          </a:prstGeom>
        </p:spPr>
      </p:pic>
      <p:pic>
        <p:nvPicPr>
          <p:cNvPr id="12" name="Imagen 11">
            <a:extLst>
              <a:ext uri="{FF2B5EF4-FFF2-40B4-BE49-F238E27FC236}">
                <a16:creationId xmlns:a16="http://schemas.microsoft.com/office/drawing/2014/main" id="{4C5BC42D-B940-2019-B9B1-E2932E2294C4}"/>
              </a:ext>
            </a:extLst>
          </p:cNvPr>
          <p:cNvPicPr>
            <a:picLocks noChangeAspect="1"/>
          </p:cNvPicPr>
          <p:nvPr/>
        </p:nvPicPr>
        <p:blipFill>
          <a:blip r:embed="rId5"/>
          <a:stretch>
            <a:fillRect/>
          </a:stretch>
        </p:blipFill>
        <p:spPr>
          <a:xfrm>
            <a:off x="10342169" y="5051081"/>
            <a:ext cx="162000" cy="162000"/>
          </a:xfrm>
          <a:prstGeom prst="rect">
            <a:avLst/>
          </a:prstGeom>
        </p:spPr>
      </p:pic>
    </p:spTree>
    <p:extLst>
      <p:ext uri="{BB962C8B-B14F-4D97-AF65-F5344CB8AC3E}">
        <p14:creationId xmlns:p14="http://schemas.microsoft.com/office/powerpoint/2010/main" val="151883461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626CB-0910-8123-4C42-83E9F9A3DD5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C1EC7E5-AFBE-6AB3-144B-C445C1DDA3BF}"/>
              </a:ext>
            </a:extLst>
          </p:cNvPr>
          <p:cNvSpPr txBox="1"/>
          <p:nvPr/>
        </p:nvSpPr>
        <p:spPr>
          <a:xfrm>
            <a:off x="711313" y="3429000"/>
            <a:ext cx="9160030" cy="669094"/>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endParaRPr kumimoji="0" lang="en-US" sz="4800" b="1"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5" name="CuadroTexto 4">
            <a:extLst>
              <a:ext uri="{FF2B5EF4-FFF2-40B4-BE49-F238E27FC236}">
                <a16:creationId xmlns:a16="http://schemas.microsoft.com/office/drawing/2014/main" id="{DB4D40F8-E8B5-5DA4-FD2A-519A0CB47EFE}"/>
              </a:ext>
            </a:extLst>
          </p:cNvPr>
          <p:cNvSpPr txBox="1"/>
          <p:nvPr/>
        </p:nvSpPr>
        <p:spPr>
          <a:xfrm>
            <a:off x="591312" y="1490008"/>
            <a:ext cx="11268456" cy="1938992"/>
          </a:xfrm>
          <a:prstGeom prst="rect">
            <a:avLst/>
          </a:prstGeom>
          <a:noFill/>
        </p:spPr>
        <p:txBody>
          <a:bodyPr wrap="square">
            <a:spAutoFit/>
          </a:bodyPr>
          <a:lstStyle/>
          <a:p>
            <a:r>
              <a:rPr lang="es-ES" sz="6000" b="1" dirty="0">
                <a:solidFill>
                  <a:schemeClr val="bg1"/>
                </a:solidFill>
              </a:rPr>
              <a:t>Copiar reglas de un periodo a otro</a:t>
            </a:r>
            <a:endParaRPr lang="en-US" sz="6000" b="1" dirty="0">
              <a:solidFill>
                <a:schemeClr val="bg1"/>
              </a:solidFill>
            </a:endParaRPr>
          </a:p>
        </p:txBody>
      </p:sp>
      <p:sp>
        <p:nvSpPr>
          <p:cNvPr id="3" name="CuadroTexto 2">
            <a:extLst>
              <a:ext uri="{FF2B5EF4-FFF2-40B4-BE49-F238E27FC236}">
                <a16:creationId xmlns:a16="http://schemas.microsoft.com/office/drawing/2014/main" id="{D0771F04-313E-BDCC-0FF4-6C300964833C}"/>
              </a:ext>
            </a:extLst>
          </p:cNvPr>
          <p:cNvSpPr txBox="1"/>
          <p:nvPr/>
        </p:nvSpPr>
        <p:spPr>
          <a:xfrm>
            <a:off x="591312" y="3578881"/>
            <a:ext cx="6094476" cy="369332"/>
          </a:xfrm>
          <a:prstGeom prst="rect">
            <a:avLst/>
          </a:prstGeom>
          <a:noFill/>
        </p:spPr>
        <p:txBody>
          <a:bodyPr wrap="square">
            <a:spAutoFit/>
          </a:bodyPr>
          <a:lstStyle/>
          <a:p>
            <a:pPr marL="0" indent="0">
              <a:buNone/>
            </a:pPr>
            <a:r>
              <a:rPr lang="es-CO" sz="1800" b="1" dirty="0">
                <a:solidFill>
                  <a:schemeClr val="bg1"/>
                </a:solidFill>
              </a:rPr>
              <a:t>Capacidad Operativa: Cuentas por Cobrar del Estudiante</a:t>
            </a:r>
            <a:endParaRPr lang="en-US" sz="1800" b="1" dirty="0">
              <a:solidFill>
                <a:schemeClr val="bg1"/>
              </a:solidFill>
            </a:endParaRPr>
          </a:p>
        </p:txBody>
      </p:sp>
    </p:spTree>
    <p:extLst>
      <p:ext uri="{BB962C8B-B14F-4D97-AF65-F5344CB8AC3E}">
        <p14:creationId xmlns:p14="http://schemas.microsoft.com/office/powerpoint/2010/main" val="26161434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CB5C8-B4F3-8104-CF38-2CBCC899AA2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8175A2D-9591-74A8-DD69-C6E20ACC6A63}"/>
              </a:ext>
            </a:extLst>
          </p:cNvPr>
          <p:cNvPicPr>
            <a:picLocks noChangeAspect="1"/>
          </p:cNvPicPr>
          <p:nvPr/>
        </p:nvPicPr>
        <p:blipFill>
          <a:blip r:embed="rId2"/>
          <a:stretch>
            <a:fillRect/>
          </a:stretch>
        </p:blipFill>
        <p:spPr>
          <a:xfrm>
            <a:off x="1225504" y="1043054"/>
            <a:ext cx="9740991" cy="4520793"/>
          </a:xfrm>
          <a:prstGeom prst="rect">
            <a:avLst/>
          </a:prstGeom>
        </p:spPr>
      </p:pic>
      <p:sp>
        <p:nvSpPr>
          <p:cNvPr id="2" name="Título 3">
            <a:extLst>
              <a:ext uri="{FF2B5EF4-FFF2-40B4-BE49-F238E27FC236}">
                <a16:creationId xmlns:a16="http://schemas.microsoft.com/office/drawing/2014/main" id="{87629D8E-F8D8-987A-EB15-2C5C30602EAB}"/>
              </a:ext>
            </a:extLst>
          </p:cNvPr>
          <p:cNvSpPr txBox="1">
            <a:spLocks/>
          </p:cNvSpPr>
          <p:nvPr/>
        </p:nvSpPr>
        <p:spPr>
          <a:xfrm>
            <a:off x="658990" y="153604"/>
            <a:ext cx="10734431"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sp>
        <p:nvSpPr>
          <p:cNvPr id="4" name="Rectangle: Rounded Corners 8">
            <a:extLst>
              <a:ext uri="{FF2B5EF4-FFF2-40B4-BE49-F238E27FC236}">
                <a16:creationId xmlns:a16="http://schemas.microsoft.com/office/drawing/2014/main" id="{A91430D2-948E-BAC8-D1F0-5523E304A747}"/>
              </a:ext>
            </a:extLst>
          </p:cNvPr>
          <p:cNvSpPr/>
          <p:nvPr/>
        </p:nvSpPr>
        <p:spPr>
          <a:xfrm>
            <a:off x="1468764" y="5593390"/>
            <a:ext cx="9114885" cy="38541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 Para rolar o copiar reglas de un periodo a otro, el </a:t>
            </a:r>
            <a:r>
              <a:rPr lang="es-CO" sz="1200" dirty="0" err="1"/>
              <a:t>check</a:t>
            </a:r>
            <a:r>
              <a:rPr lang="es-CO" sz="1200" dirty="0"/>
              <a:t> del campo </a:t>
            </a:r>
            <a:r>
              <a:rPr lang="es-CO" sz="1200" b="1" dirty="0"/>
              <a:t>Copiar</a:t>
            </a:r>
            <a:r>
              <a:rPr lang="es-CO" sz="1200" dirty="0"/>
              <a:t> debe estar activo para cada regla.</a:t>
            </a:r>
          </a:p>
        </p:txBody>
      </p:sp>
      <p:sp>
        <p:nvSpPr>
          <p:cNvPr id="6" name="Rectángulo: esquinas redondeadas 9">
            <a:extLst>
              <a:ext uri="{FF2B5EF4-FFF2-40B4-BE49-F238E27FC236}">
                <a16:creationId xmlns:a16="http://schemas.microsoft.com/office/drawing/2014/main" id="{CF3FCC37-55B7-6D9C-9D99-E2C473936AFD}"/>
              </a:ext>
            </a:extLst>
          </p:cNvPr>
          <p:cNvSpPr/>
          <p:nvPr/>
        </p:nvSpPr>
        <p:spPr>
          <a:xfrm>
            <a:off x="1468764" y="6037892"/>
            <a:ext cx="9114885" cy="31718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2. Presionar el botón </a:t>
            </a:r>
            <a:r>
              <a:rPr lang="es-CL" sz="1200" b="1" dirty="0"/>
              <a:t>Copiar</a:t>
            </a:r>
            <a:r>
              <a:rPr lang="es-CL" sz="1200" dirty="0"/>
              <a:t>.</a:t>
            </a:r>
          </a:p>
        </p:txBody>
      </p:sp>
      <p:pic>
        <p:nvPicPr>
          <p:cNvPr id="13" name="Imagen 12">
            <a:extLst>
              <a:ext uri="{FF2B5EF4-FFF2-40B4-BE49-F238E27FC236}">
                <a16:creationId xmlns:a16="http://schemas.microsoft.com/office/drawing/2014/main" id="{A5DA004E-83FB-A7F5-A835-C40B1406D4DB}"/>
              </a:ext>
            </a:extLst>
          </p:cNvPr>
          <p:cNvPicPr>
            <a:picLocks noChangeAspect="1"/>
          </p:cNvPicPr>
          <p:nvPr/>
        </p:nvPicPr>
        <p:blipFill>
          <a:blip r:embed="rId3"/>
          <a:stretch>
            <a:fillRect/>
          </a:stretch>
        </p:blipFill>
        <p:spPr>
          <a:xfrm>
            <a:off x="3010919" y="1965685"/>
            <a:ext cx="162000" cy="162000"/>
          </a:xfrm>
          <a:prstGeom prst="rect">
            <a:avLst/>
          </a:prstGeom>
        </p:spPr>
      </p:pic>
      <p:pic>
        <p:nvPicPr>
          <p:cNvPr id="15" name="Imagen 14">
            <a:extLst>
              <a:ext uri="{FF2B5EF4-FFF2-40B4-BE49-F238E27FC236}">
                <a16:creationId xmlns:a16="http://schemas.microsoft.com/office/drawing/2014/main" id="{81F1B56F-349A-646A-1A67-0C5D1DB7729E}"/>
              </a:ext>
            </a:extLst>
          </p:cNvPr>
          <p:cNvPicPr>
            <a:picLocks noChangeAspect="1"/>
          </p:cNvPicPr>
          <p:nvPr/>
        </p:nvPicPr>
        <p:blipFill>
          <a:blip r:embed="rId4"/>
          <a:stretch>
            <a:fillRect/>
          </a:stretch>
        </p:blipFill>
        <p:spPr>
          <a:xfrm>
            <a:off x="2025215" y="2383717"/>
            <a:ext cx="162000" cy="162000"/>
          </a:xfrm>
          <a:prstGeom prst="rect">
            <a:avLst/>
          </a:prstGeom>
        </p:spPr>
      </p:pic>
    </p:spTree>
    <p:extLst>
      <p:ext uri="{BB962C8B-B14F-4D97-AF65-F5344CB8AC3E}">
        <p14:creationId xmlns:p14="http://schemas.microsoft.com/office/powerpoint/2010/main" val="25870846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AF73F-1925-7107-B189-F8DDB175890E}"/>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2D62CFA-5430-63AD-B3FD-965A5D8E2493}"/>
              </a:ext>
            </a:extLst>
          </p:cNvPr>
          <p:cNvPicPr>
            <a:picLocks noChangeAspect="1"/>
          </p:cNvPicPr>
          <p:nvPr/>
        </p:nvPicPr>
        <p:blipFill>
          <a:blip r:embed="rId2"/>
          <a:stretch>
            <a:fillRect/>
          </a:stretch>
        </p:blipFill>
        <p:spPr>
          <a:xfrm>
            <a:off x="757343" y="1486410"/>
            <a:ext cx="10429800" cy="2945779"/>
          </a:xfrm>
          <a:prstGeom prst="rect">
            <a:avLst/>
          </a:prstGeom>
        </p:spPr>
      </p:pic>
      <p:sp>
        <p:nvSpPr>
          <p:cNvPr id="2" name="Título 3">
            <a:extLst>
              <a:ext uri="{FF2B5EF4-FFF2-40B4-BE49-F238E27FC236}">
                <a16:creationId xmlns:a16="http://schemas.microsoft.com/office/drawing/2014/main" id="{9D05965B-90C9-956E-1207-B0CFB0F3F18B}"/>
              </a:ext>
            </a:extLst>
          </p:cNvPr>
          <p:cNvSpPr txBox="1">
            <a:spLocks/>
          </p:cNvSpPr>
          <p:nvPr/>
        </p:nvSpPr>
        <p:spPr>
          <a:xfrm>
            <a:off x="585216" y="236522"/>
            <a:ext cx="10774055"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sp>
        <p:nvSpPr>
          <p:cNvPr id="4" name="Rectangle: Rounded Corners 8">
            <a:extLst>
              <a:ext uri="{FF2B5EF4-FFF2-40B4-BE49-F238E27FC236}">
                <a16:creationId xmlns:a16="http://schemas.microsoft.com/office/drawing/2014/main" id="{A4006B27-B2BB-B776-2B18-4917916696E1}"/>
              </a:ext>
            </a:extLst>
          </p:cNvPr>
          <p:cNvSpPr/>
          <p:nvPr/>
        </p:nvSpPr>
        <p:spPr>
          <a:xfrm>
            <a:off x="585216" y="4749018"/>
            <a:ext cx="7408058" cy="43914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3. El sistema relaciona el periodo base a partir del cual se copiarán las reglas al nuevo periodo.</a:t>
            </a:r>
          </a:p>
        </p:txBody>
      </p:sp>
      <p:sp>
        <p:nvSpPr>
          <p:cNvPr id="6" name="Rectángulo: esquinas redondeadas 9">
            <a:extLst>
              <a:ext uri="{FF2B5EF4-FFF2-40B4-BE49-F238E27FC236}">
                <a16:creationId xmlns:a16="http://schemas.microsoft.com/office/drawing/2014/main" id="{CB9370D7-8D9C-9CAA-EE26-A573265B175C}"/>
              </a:ext>
            </a:extLst>
          </p:cNvPr>
          <p:cNvSpPr/>
          <p:nvPr/>
        </p:nvSpPr>
        <p:spPr>
          <a:xfrm>
            <a:off x="589559" y="5222664"/>
            <a:ext cx="4797081" cy="43914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4. Diligenciar el nuevo periodo al que van a ser copiadas las reglas.</a:t>
            </a:r>
          </a:p>
        </p:txBody>
      </p:sp>
      <p:sp>
        <p:nvSpPr>
          <p:cNvPr id="9" name="Rectángulo: esquinas redondeadas 9">
            <a:extLst>
              <a:ext uri="{FF2B5EF4-FFF2-40B4-BE49-F238E27FC236}">
                <a16:creationId xmlns:a16="http://schemas.microsoft.com/office/drawing/2014/main" id="{F553CA76-610D-1234-128E-0DBA60E6079F}"/>
              </a:ext>
            </a:extLst>
          </p:cNvPr>
          <p:cNvSpPr/>
          <p:nvPr/>
        </p:nvSpPr>
        <p:spPr>
          <a:xfrm>
            <a:off x="5471730" y="5226976"/>
            <a:ext cx="2521544" cy="43483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5. Presionar el botón </a:t>
            </a:r>
            <a:r>
              <a:rPr lang="es-CL" sz="1200" b="1" dirty="0"/>
              <a:t>Procesar copiar regla</a:t>
            </a:r>
            <a:r>
              <a:rPr lang="es-CL" sz="1200" dirty="0"/>
              <a:t>.</a:t>
            </a:r>
          </a:p>
        </p:txBody>
      </p:sp>
      <p:sp>
        <p:nvSpPr>
          <p:cNvPr id="11" name="Rectángulo: esquinas redondeadas 9">
            <a:extLst>
              <a:ext uri="{FF2B5EF4-FFF2-40B4-BE49-F238E27FC236}">
                <a16:creationId xmlns:a16="http://schemas.microsoft.com/office/drawing/2014/main" id="{58751F7A-347D-DE77-F025-2FC9CBA46C38}"/>
              </a:ext>
            </a:extLst>
          </p:cNvPr>
          <p:cNvSpPr/>
          <p:nvPr/>
        </p:nvSpPr>
        <p:spPr>
          <a:xfrm>
            <a:off x="8165802" y="4783522"/>
            <a:ext cx="3339375" cy="63301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6. Se genera mensaje indicando que el copiado de la regla se completó exitosamente.</a:t>
            </a:r>
          </a:p>
        </p:txBody>
      </p:sp>
      <p:pic>
        <p:nvPicPr>
          <p:cNvPr id="20" name="Imagen 19">
            <a:extLst>
              <a:ext uri="{FF2B5EF4-FFF2-40B4-BE49-F238E27FC236}">
                <a16:creationId xmlns:a16="http://schemas.microsoft.com/office/drawing/2014/main" id="{BAB9DA71-F0C2-A7B9-1266-763631AFDD20}"/>
              </a:ext>
            </a:extLst>
          </p:cNvPr>
          <p:cNvPicPr>
            <a:picLocks noChangeAspect="1"/>
          </p:cNvPicPr>
          <p:nvPr/>
        </p:nvPicPr>
        <p:blipFill>
          <a:blip r:embed="rId3"/>
          <a:stretch>
            <a:fillRect/>
          </a:stretch>
        </p:blipFill>
        <p:spPr>
          <a:xfrm>
            <a:off x="8632241" y="1937715"/>
            <a:ext cx="162000" cy="162000"/>
          </a:xfrm>
          <a:prstGeom prst="rect">
            <a:avLst/>
          </a:prstGeom>
        </p:spPr>
      </p:pic>
      <p:pic>
        <p:nvPicPr>
          <p:cNvPr id="22" name="Imagen 21">
            <a:extLst>
              <a:ext uri="{FF2B5EF4-FFF2-40B4-BE49-F238E27FC236}">
                <a16:creationId xmlns:a16="http://schemas.microsoft.com/office/drawing/2014/main" id="{D0D12A22-8945-E98D-4C35-353B7E25E124}"/>
              </a:ext>
            </a:extLst>
          </p:cNvPr>
          <p:cNvPicPr>
            <a:picLocks noChangeAspect="1"/>
          </p:cNvPicPr>
          <p:nvPr/>
        </p:nvPicPr>
        <p:blipFill>
          <a:blip r:embed="rId4"/>
          <a:stretch>
            <a:fillRect/>
          </a:stretch>
        </p:blipFill>
        <p:spPr>
          <a:xfrm>
            <a:off x="7448483" y="2335479"/>
            <a:ext cx="162000" cy="162000"/>
          </a:xfrm>
          <a:prstGeom prst="rect">
            <a:avLst/>
          </a:prstGeom>
        </p:spPr>
      </p:pic>
      <p:pic>
        <p:nvPicPr>
          <p:cNvPr id="24" name="Imagen 23">
            <a:extLst>
              <a:ext uri="{FF2B5EF4-FFF2-40B4-BE49-F238E27FC236}">
                <a16:creationId xmlns:a16="http://schemas.microsoft.com/office/drawing/2014/main" id="{37C7D93A-4B2B-40CF-16E4-0E3DB4A1BCB2}"/>
              </a:ext>
            </a:extLst>
          </p:cNvPr>
          <p:cNvPicPr>
            <a:picLocks noChangeAspect="1"/>
          </p:cNvPicPr>
          <p:nvPr/>
        </p:nvPicPr>
        <p:blipFill>
          <a:blip r:embed="rId5"/>
          <a:stretch>
            <a:fillRect/>
          </a:stretch>
        </p:blipFill>
        <p:spPr>
          <a:xfrm>
            <a:off x="4021913" y="2335479"/>
            <a:ext cx="162000" cy="162000"/>
          </a:xfrm>
          <a:prstGeom prst="rect">
            <a:avLst/>
          </a:prstGeom>
        </p:spPr>
      </p:pic>
      <p:pic>
        <p:nvPicPr>
          <p:cNvPr id="26" name="Imagen 25">
            <a:extLst>
              <a:ext uri="{FF2B5EF4-FFF2-40B4-BE49-F238E27FC236}">
                <a16:creationId xmlns:a16="http://schemas.microsoft.com/office/drawing/2014/main" id="{243C8B76-6BBB-FA15-0520-B0C1D020FA1B}"/>
              </a:ext>
            </a:extLst>
          </p:cNvPr>
          <p:cNvPicPr>
            <a:picLocks noChangeAspect="1"/>
          </p:cNvPicPr>
          <p:nvPr/>
        </p:nvPicPr>
        <p:blipFill>
          <a:blip r:embed="rId6"/>
          <a:stretch>
            <a:fillRect/>
          </a:stretch>
        </p:blipFill>
        <p:spPr>
          <a:xfrm>
            <a:off x="585216" y="2335479"/>
            <a:ext cx="162000" cy="162000"/>
          </a:xfrm>
          <a:prstGeom prst="rect">
            <a:avLst/>
          </a:prstGeom>
        </p:spPr>
      </p:pic>
    </p:spTree>
    <p:extLst>
      <p:ext uri="{BB962C8B-B14F-4D97-AF65-F5344CB8AC3E}">
        <p14:creationId xmlns:p14="http://schemas.microsoft.com/office/powerpoint/2010/main" val="4383451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CAE30-2919-B84F-CA33-7604041A5258}"/>
            </a:ext>
          </a:extLst>
        </p:cNvPr>
        <p:cNvGrpSpPr/>
        <p:nvPr/>
      </p:nvGrpSpPr>
      <p:grpSpPr>
        <a:xfrm>
          <a:off x="0" y="0"/>
          <a:ext cx="0" cy="0"/>
          <a:chOff x="0" y="0"/>
          <a:chExt cx="0" cy="0"/>
        </a:xfrm>
      </p:grpSpPr>
      <p:pic>
        <p:nvPicPr>
          <p:cNvPr id="6" name="Imagen 5">
            <a:extLst>
              <a:ext uri="{FF2B5EF4-FFF2-40B4-BE49-F238E27FC236}">
                <a16:creationId xmlns:a16="http://schemas.microsoft.com/office/drawing/2014/main" id="{388A9252-D2C0-FE5C-F2B2-DF4919147FE8}"/>
              </a:ext>
            </a:extLst>
          </p:cNvPr>
          <p:cNvPicPr>
            <a:picLocks noChangeAspect="1"/>
          </p:cNvPicPr>
          <p:nvPr/>
        </p:nvPicPr>
        <p:blipFill>
          <a:blip r:embed="rId2"/>
          <a:stretch>
            <a:fillRect/>
          </a:stretch>
        </p:blipFill>
        <p:spPr>
          <a:xfrm>
            <a:off x="1243886" y="4573950"/>
            <a:ext cx="9799643" cy="315789"/>
          </a:xfrm>
          <a:prstGeom prst="rect">
            <a:avLst/>
          </a:prstGeom>
        </p:spPr>
      </p:pic>
      <p:sp>
        <p:nvSpPr>
          <p:cNvPr id="2" name="Título 3">
            <a:extLst>
              <a:ext uri="{FF2B5EF4-FFF2-40B4-BE49-F238E27FC236}">
                <a16:creationId xmlns:a16="http://schemas.microsoft.com/office/drawing/2014/main" id="{4435C35E-5E3B-C785-3221-65F9772B1786}"/>
              </a:ext>
            </a:extLst>
          </p:cNvPr>
          <p:cNvSpPr txBox="1">
            <a:spLocks/>
          </p:cNvSpPr>
          <p:nvPr/>
        </p:nvSpPr>
        <p:spPr>
          <a:xfrm>
            <a:off x="740976" y="227780"/>
            <a:ext cx="1071004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sp>
        <p:nvSpPr>
          <p:cNvPr id="7" name="Rectángulo: esquinas redondeadas 9">
            <a:extLst>
              <a:ext uri="{FF2B5EF4-FFF2-40B4-BE49-F238E27FC236}">
                <a16:creationId xmlns:a16="http://schemas.microsoft.com/office/drawing/2014/main" id="{BAD83B31-448A-C077-B1C3-76DE89F29043}"/>
              </a:ext>
            </a:extLst>
          </p:cNvPr>
          <p:cNvSpPr/>
          <p:nvPr/>
        </p:nvSpPr>
        <p:spPr>
          <a:xfrm>
            <a:off x="1056729" y="5671702"/>
            <a:ext cx="6867354" cy="369942"/>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8. Se valida que las reglas se copiaron de forma correcta.</a:t>
            </a:r>
          </a:p>
        </p:txBody>
      </p:sp>
      <p:sp>
        <p:nvSpPr>
          <p:cNvPr id="9" name="Rectángulo: esquinas redondeadas 9">
            <a:extLst>
              <a:ext uri="{FF2B5EF4-FFF2-40B4-BE49-F238E27FC236}">
                <a16:creationId xmlns:a16="http://schemas.microsoft.com/office/drawing/2014/main" id="{1ACF12FC-580F-62BE-C8B7-CA8E1CD7EF18}"/>
              </a:ext>
            </a:extLst>
          </p:cNvPr>
          <p:cNvSpPr/>
          <p:nvPr/>
        </p:nvSpPr>
        <p:spPr>
          <a:xfrm>
            <a:off x="1056729" y="5186541"/>
            <a:ext cx="6867354" cy="409531"/>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s-CL" sz="1200" dirty="0"/>
              <a:t>7. Se consulta el nuevo periodo copiado.</a:t>
            </a:r>
          </a:p>
        </p:txBody>
      </p:sp>
      <p:pic>
        <p:nvPicPr>
          <p:cNvPr id="20" name="Imagen 19">
            <a:extLst>
              <a:ext uri="{FF2B5EF4-FFF2-40B4-BE49-F238E27FC236}">
                <a16:creationId xmlns:a16="http://schemas.microsoft.com/office/drawing/2014/main" id="{22E319B8-0A45-6DED-37B4-5A9E6D39B32A}"/>
              </a:ext>
            </a:extLst>
          </p:cNvPr>
          <p:cNvPicPr>
            <a:picLocks noChangeAspect="1"/>
          </p:cNvPicPr>
          <p:nvPr/>
        </p:nvPicPr>
        <p:blipFill>
          <a:blip r:embed="rId3"/>
          <a:stretch>
            <a:fillRect/>
          </a:stretch>
        </p:blipFill>
        <p:spPr>
          <a:xfrm>
            <a:off x="900819" y="1848112"/>
            <a:ext cx="162000" cy="162000"/>
          </a:xfrm>
          <a:prstGeom prst="rect">
            <a:avLst/>
          </a:prstGeom>
        </p:spPr>
      </p:pic>
      <p:pic>
        <p:nvPicPr>
          <p:cNvPr id="22" name="Imagen 21">
            <a:extLst>
              <a:ext uri="{FF2B5EF4-FFF2-40B4-BE49-F238E27FC236}">
                <a16:creationId xmlns:a16="http://schemas.microsoft.com/office/drawing/2014/main" id="{2F6A0B57-B74E-5743-E3AE-F9E0A198ECF2}"/>
              </a:ext>
            </a:extLst>
          </p:cNvPr>
          <p:cNvPicPr>
            <a:picLocks noChangeAspect="1"/>
          </p:cNvPicPr>
          <p:nvPr/>
        </p:nvPicPr>
        <p:blipFill>
          <a:blip r:embed="rId4"/>
          <a:stretch>
            <a:fillRect/>
          </a:stretch>
        </p:blipFill>
        <p:spPr>
          <a:xfrm>
            <a:off x="901124" y="2342856"/>
            <a:ext cx="162000" cy="162000"/>
          </a:xfrm>
          <a:prstGeom prst="rect">
            <a:avLst/>
          </a:prstGeom>
        </p:spPr>
      </p:pic>
      <p:pic>
        <p:nvPicPr>
          <p:cNvPr id="23" name="Imagen 22">
            <a:extLst>
              <a:ext uri="{FF2B5EF4-FFF2-40B4-BE49-F238E27FC236}">
                <a16:creationId xmlns:a16="http://schemas.microsoft.com/office/drawing/2014/main" id="{B32B30CA-BFB6-36DE-FCCB-B71EB6FD65B3}"/>
              </a:ext>
            </a:extLst>
          </p:cNvPr>
          <p:cNvPicPr>
            <a:picLocks noChangeAspect="1"/>
          </p:cNvPicPr>
          <p:nvPr/>
        </p:nvPicPr>
        <p:blipFill>
          <a:blip r:embed="rId4"/>
          <a:stretch>
            <a:fillRect/>
          </a:stretch>
        </p:blipFill>
        <p:spPr>
          <a:xfrm>
            <a:off x="4456724" y="4587738"/>
            <a:ext cx="162000" cy="162000"/>
          </a:xfrm>
          <a:prstGeom prst="rect">
            <a:avLst/>
          </a:prstGeom>
        </p:spPr>
      </p:pic>
      <p:pic>
        <p:nvPicPr>
          <p:cNvPr id="4" name="Imagen 3">
            <a:extLst>
              <a:ext uri="{FF2B5EF4-FFF2-40B4-BE49-F238E27FC236}">
                <a16:creationId xmlns:a16="http://schemas.microsoft.com/office/drawing/2014/main" id="{941F31C7-C4E7-F2B2-A4F4-2E751B8443AB}"/>
              </a:ext>
            </a:extLst>
          </p:cNvPr>
          <p:cNvPicPr>
            <a:picLocks noChangeAspect="1"/>
          </p:cNvPicPr>
          <p:nvPr/>
        </p:nvPicPr>
        <p:blipFill>
          <a:blip r:embed="rId5"/>
          <a:stretch>
            <a:fillRect/>
          </a:stretch>
        </p:blipFill>
        <p:spPr>
          <a:xfrm>
            <a:off x="1148471" y="1261928"/>
            <a:ext cx="9895058" cy="3325810"/>
          </a:xfrm>
          <a:prstGeom prst="rect">
            <a:avLst/>
          </a:prstGeom>
        </p:spPr>
      </p:pic>
    </p:spTree>
    <p:extLst>
      <p:ext uri="{BB962C8B-B14F-4D97-AF65-F5344CB8AC3E}">
        <p14:creationId xmlns:p14="http://schemas.microsoft.com/office/powerpoint/2010/main" val="18092424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4C358-2CD2-A26A-6A4E-2867549996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B3F3197-D262-98D2-DBED-815EF3075604}"/>
              </a:ext>
            </a:extLst>
          </p:cNvPr>
          <p:cNvSpPr txBox="1"/>
          <p:nvPr/>
        </p:nvSpPr>
        <p:spPr>
          <a:xfrm>
            <a:off x="711313" y="3429000"/>
            <a:ext cx="9160030" cy="669094"/>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endParaRPr kumimoji="0" lang="en-US" sz="4800" b="1"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5" name="CuadroTexto 4">
            <a:extLst>
              <a:ext uri="{FF2B5EF4-FFF2-40B4-BE49-F238E27FC236}">
                <a16:creationId xmlns:a16="http://schemas.microsoft.com/office/drawing/2014/main" id="{741A30CD-9160-6D69-0FF6-7808F33D1020}"/>
              </a:ext>
            </a:extLst>
          </p:cNvPr>
          <p:cNvSpPr txBox="1"/>
          <p:nvPr/>
        </p:nvSpPr>
        <p:spPr>
          <a:xfrm>
            <a:off x="591312" y="1490008"/>
            <a:ext cx="11009376" cy="1938992"/>
          </a:xfrm>
          <a:prstGeom prst="rect">
            <a:avLst/>
          </a:prstGeom>
          <a:noFill/>
        </p:spPr>
        <p:txBody>
          <a:bodyPr wrap="square">
            <a:spAutoFit/>
          </a:bodyPr>
          <a:lstStyle/>
          <a:p>
            <a:r>
              <a:rPr lang="es-CO" sz="6000" b="1" dirty="0">
                <a:solidFill>
                  <a:schemeClr val="bg1"/>
                </a:solidFill>
              </a:rPr>
              <a:t>Definir el cargue masivo de reglas de cobro</a:t>
            </a:r>
            <a:endParaRPr lang="en-US" sz="6000" b="1" dirty="0">
              <a:solidFill>
                <a:schemeClr val="bg1"/>
              </a:solidFill>
            </a:endParaRPr>
          </a:p>
        </p:txBody>
      </p:sp>
      <p:sp>
        <p:nvSpPr>
          <p:cNvPr id="3" name="CuadroTexto 2">
            <a:extLst>
              <a:ext uri="{FF2B5EF4-FFF2-40B4-BE49-F238E27FC236}">
                <a16:creationId xmlns:a16="http://schemas.microsoft.com/office/drawing/2014/main" id="{370B9018-B055-E826-B85D-D850E6FF169C}"/>
              </a:ext>
            </a:extLst>
          </p:cNvPr>
          <p:cNvSpPr txBox="1"/>
          <p:nvPr/>
        </p:nvSpPr>
        <p:spPr>
          <a:xfrm>
            <a:off x="591312" y="3578881"/>
            <a:ext cx="6094476" cy="369332"/>
          </a:xfrm>
          <a:prstGeom prst="rect">
            <a:avLst/>
          </a:prstGeom>
          <a:noFill/>
        </p:spPr>
        <p:txBody>
          <a:bodyPr wrap="square">
            <a:spAutoFit/>
          </a:bodyPr>
          <a:lstStyle/>
          <a:p>
            <a:pPr marL="0" indent="0">
              <a:buNone/>
            </a:pPr>
            <a:r>
              <a:rPr lang="es-CO" sz="1800" b="1" dirty="0">
                <a:solidFill>
                  <a:schemeClr val="bg1"/>
                </a:solidFill>
              </a:rPr>
              <a:t>Capacidad Operativa: Cuentas por Cobrar del Estudiante</a:t>
            </a:r>
            <a:endParaRPr lang="en-US" sz="1800" b="1" dirty="0">
              <a:solidFill>
                <a:schemeClr val="bg1"/>
              </a:solidFill>
            </a:endParaRPr>
          </a:p>
        </p:txBody>
      </p:sp>
    </p:spTree>
    <p:extLst>
      <p:ext uri="{BB962C8B-B14F-4D97-AF65-F5344CB8AC3E}">
        <p14:creationId xmlns:p14="http://schemas.microsoft.com/office/powerpoint/2010/main" val="304851810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786A5-61F1-06FD-F972-763DA601C440}"/>
            </a:ext>
          </a:extLst>
        </p:cNvPr>
        <p:cNvGrpSpPr/>
        <p:nvPr/>
      </p:nvGrpSpPr>
      <p:grpSpPr>
        <a:xfrm>
          <a:off x="0" y="0"/>
          <a:ext cx="0" cy="0"/>
          <a:chOff x="0" y="0"/>
          <a:chExt cx="0" cy="0"/>
        </a:xfrm>
      </p:grpSpPr>
      <p:sp>
        <p:nvSpPr>
          <p:cNvPr id="11" name="Título 3">
            <a:extLst>
              <a:ext uri="{FF2B5EF4-FFF2-40B4-BE49-F238E27FC236}">
                <a16:creationId xmlns:a16="http://schemas.microsoft.com/office/drawing/2014/main" id="{7C1D728F-A85E-7A2C-7250-22EFCDF261A4}"/>
              </a:ext>
            </a:extLst>
          </p:cNvPr>
          <p:cNvSpPr txBox="1">
            <a:spLocks/>
          </p:cNvSpPr>
          <p:nvPr/>
        </p:nvSpPr>
        <p:spPr>
          <a:xfrm>
            <a:off x="609138" y="550830"/>
            <a:ext cx="1071004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_tradnl" sz="3200" dirty="0"/>
              <a:t>Template </a:t>
            </a:r>
            <a:r>
              <a:rPr lang="es-ES" sz="3200" dirty="0"/>
              <a:t>SFARGFE</a:t>
            </a:r>
            <a:endParaRPr lang="es-CL" sz="3200" dirty="0"/>
          </a:p>
        </p:txBody>
      </p:sp>
      <p:pic>
        <p:nvPicPr>
          <p:cNvPr id="3" name="Picture 2">
            <a:extLst>
              <a:ext uri="{FF2B5EF4-FFF2-40B4-BE49-F238E27FC236}">
                <a16:creationId xmlns:a16="http://schemas.microsoft.com/office/drawing/2014/main" id="{4EAB96F6-34A1-6F71-08CB-A90DE18FB3E1}"/>
              </a:ext>
            </a:extLst>
          </p:cNvPr>
          <p:cNvPicPr>
            <a:picLocks noChangeAspect="1"/>
          </p:cNvPicPr>
          <p:nvPr/>
        </p:nvPicPr>
        <p:blipFill>
          <a:blip r:embed="rId2"/>
          <a:stretch>
            <a:fillRect/>
          </a:stretch>
        </p:blipFill>
        <p:spPr>
          <a:xfrm>
            <a:off x="0" y="1259044"/>
            <a:ext cx="12192000" cy="3409476"/>
          </a:xfrm>
          <a:prstGeom prst="rect">
            <a:avLst/>
          </a:prstGeom>
        </p:spPr>
      </p:pic>
      <p:pic>
        <p:nvPicPr>
          <p:cNvPr id="6" name="Picture 5">
            <a:extLst>
              <a:ext uri="{FF2B5EF4-FFF2-40B4-BE49-F238E27FC236}">
                <a16:creationId xmlns:a16="http://schemas.microsoft.com/office/drawing/2014/main" id="{70C013D0-ADAD-18F6-E42C-26CDFDEFEAD0}"/>
              </a:ext>
            </a:extLst>
          </p:cNvPr>
          <p:cNvPicPr>
            <a:picLocks noChangeAspect="1"/>
          </p:cNvPicPr>
          <p:nvPr/>
        </p:nvPicPr>
        <p:blipFill>
          <a:blip r:embed="rId3"/>
          <a:stretch>
            <a:fillRect/>
          </a:stretch>
        </p:blipFill>
        <p:spPr>
          <a:xfrm>
            <a:off x="0" y="4832530"/>
            <a:ext cx="12192000" cy="1235553"/>
          </a:xfrm>
          <a:prstGeom prst="rect">
            <a:avLst/>
          </a:prstGeom>
        </p:spPr>
      </p:pic>
      <p:sp>
        <p:nvSpPr>
          <p:cNvPr id="7" name="Rectangle: Rounded Corners 14">
            <a:extLst>
              <a:ext uri="{FF2B5EF4-FFF2-40B4-BE49-F238E27FC236}">
                <a16:creationId xmlns:a16="http://schemas.microsoft.com/office/drawing/2014/main" id="{2D903220-6B54-4FC7-A76B-C0788D4EA61C}"/>
              </a:ext>
            </a:extLst>
          </p:cNvPr>
          <p:cNvSpPr/>
          <p:nvPr/>
        </p:nvSpPr>
        <p:spPr>
          <a:xfrm>
            <a:off x="3693473" y="6136401"/>
            <a:ext cx="4541376" cy="34153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Template de carga de tarifas (archivo .csv delimitado por comas)</a:t>
            </a:r>
            <a:endParaRPr lang="es-CO" sz="1200" b="1" dirty="0"/>
          </a:p>
        </p:txBody>
      </p:sp>
    </p:spTree>
    <p:extLst>
      <p:ext uri="{BB962C8B-B14F-4D97-AF65-F5344CB8AC3E}">
        <p14:creationId xmlns:p14="http://schemas.microsoft.com/office/powerpoint/2010/main" val="255144253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86152B-17BE-647A-E9F6-CA0612C7D2C9}"/>
            </a:ext>
          </a:extLst>
        </p:cNvPr>
        <p:cNvGrpSpPr/>
        <p:nvPr/>
      </p:nvGrpSpPr>
      <p:grpSpPr>
        <a:xfrm>
          <a:off x="0" y="0"/>
          <a:ext cx="0" cy="0"/>
          <a:chOff x="0" y="0"/>
          <a:chExt cx="0" cy="0"/>
        </a:xfrm>
      </p:grpSpPr>
      <p:sp>
        <p:nvSpPr>
          <p:cNvPr id="4" name="Rectangle: Rounded Corners 14">
            <a:extLst>
              <a:ext uri="{FF2B5EF4-FFF2-40B4-BE49-F238E27FC236}">
                <a16:creationId xmlns:a16="http://schemas.microsoft.com/office/drawing/2014/main" id="{BCBC9A36-A582-DE57-F3DF-0D121889B690}"/>
              </a:ext>
            </a:extLst>
          </p:cNvPr>
          <p:cNvSpPr/>
          <p:nvPr/>
        </p:nvSpPr>
        <p:spPr>
          <a:xfrm>
            <a:off x="816237" y="4992624"/>
            <a:ext cx="7651108" cy="43918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 Se validan los registros en SFARGFE, se debe ingresar el periodo, tipo de regla y tipo de captura de cobro.</a:t>
            </a:r>
          </a:p>
        </p:txBody>
      </p:sp>
      <p:sp>
        <p:nvSpPr>
          <p:cNvPr id="11" name="Título 3">
            <a:extLst>
              <a:ext uri="{FF2B5EF4-FFF2-40B4-BE49-F238E27FC236}">
                <a16:creationId xmlns:a16="http://schemas.microsoft.com/office/drawing/2014/main" id="{B072EDF3-22E2-4C96-2462-7E6C6C1E2797}"/>
              </a:ext>
            </a:extLst>
          </p:cNvPr>
          <p:cNvSpPr txBox="1">
            <a:spLocks/>
          </p:cNvSpPr>
          <p:nvPr/>
        </p:nvSpPr>
        <p:spPr>
          <a:xfrm>
            <a:off x="609138" y="550830"/>
            <a:ext cx="1071004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Configuraciones: </a:t>
            </a:r>
            <a:r>
              <a:rPr lang="es-ES" sz="3200" dirty="0"/>
              <a:t>SFARGFE Reglas de estimación de cuotas de inscripción</a:t>
            </a:r>
            <a:endParaRPr lang="es-CL" sz="3200" dirty="0"/>
          </a:p>
        </p:txBody>
      </p:sp>
      <p:pic>
        <p:nvPicPr>
          <p:cNvPr id="13" name="Imagen 12">
            <a:extLst>
              <a:ext uri="{FF2B5EF4-FFF2-40B4-BE49-F238E27FC236}">
                <a16:creationId xmlns:a16="http://schemas.microsoft.com/office/drawing/2014/main" id="{928B0A7F-3A82-3559-8C3E-B8A6C8B75E49}"/>
              </a:ext>
            </a:extLst>
          </p:cNvPr>
          <p:cNvPicPr>
            <a:picLocks noChangeAspect="1"/>
          </p:cNvPicPr>
          <p:nvPr/>
        </p:nvPicPr>
        <p:blipFill>
          <a:blip r:embed="rId2"/>
          <a:stretch>
            <a:fillRect/>
          </a:stretch>
        </p:blipFill>
        <p:spPr>
          <a:xfrm>
            <a:off x="816235" y="2047362"/>
            <a:ext cx="10295848" cy="2469151"/>
          </a:xfrm>
          <a:prstGeom prst="rect">
            <a:avLst/>
          </a:prstGeom>
        </p:spPr>
      </p:pic>
      <p:pic>
        <p:nvPicPr>
          <p:cNvPr id="19" name="Imagen 18">
            <a:extLst>
              <a:ext uri="{FF2B5EF4-FFF2-40B4-BE49-F238E27FC236}">
                <a16:creationId xmlns:a16="http://schemas.microsoft.com/office/drawing/2014/main" id="{24E390AD-7A46-84D2-1568-C0E64E91DF4D}"/>
              </a:ext>
            </a:extLst>
          </p:cNvPr>
          <p:cNvPicPr>
            <a:picLocks noChangeAspect="1"/>
          </p:cNvPicPr>
          <p:nvPr/>
        </p:nvPicPr>
        <p:blipFill>
          <a:blip r:embed="rId3"/>
          <a:stretch>
            <a:fillRect/>
          </a:stretch>
        </p:blipFill>
        <p:spPr>
          <a:xfrm>
            <a:off x="609138" y="2542749"/>
            <a:ext cx="162000" cy="162000"/>
          </a:xfrm>
          <a:prstGeom prst="rect">
            <a:avLst/>
          </a:prstGeom>
        </p:spPr>
      </p:pic>
    </p:spTree>
    <p:extLst>
      <p:ext uri="{BB962C8B-B14F-4D97-AF65-F5344CB8AC3E}">
        <p14:creationId xmlns:p14="http://schemas.microsoft.com/office/powerpoint/2010/main" val="21809967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E7A92-3DD8-4DF0-C4A6-582D81B6302B}"/>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1FA232F-1A64-F8B0-116C-9786089C7C32}"/>
              </a:ext>
            </a:extLst>
          </p:cNvPr>
          <p:cNvSpPr txBox="1">
            <a:spLocks/>
          </p:cNvSpPr>
          <p:nvPr/>
        </p:nvSpPr>
        <p:spPr>
          <a:xfrm>
            <a:off x="767751" y="478427"/>
            <a:ext cx="10526542" cy="4908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 </a:t>
            </a:r>
            <a:r>
              <a:rPr lang="es-ES_tradnl" sz="3200" dirty="0"/>
              <a:t>Ellucian EXPERIENCE</a:t>
            </a:r>
            <a:endParaRPr lang="es-CL" sz="3200" dirty="0"/>
          </a:p>
        </p:txBody>
      </p:sp>
      <p:sp>
        <p:nvSpPr>
          <p:cNvPr id="4" name="Rectangle: Rounded Corners 14">
            <a:extLst>
              <a:ext uri="{FF2B5EF4-FFF2-40B4-BE49-F238E27FC236}">
                <a16:creationId xmlns:a16="http://schemas.microsoft.com/office/drawing/2014/main" id="{6B3D1D47-E8FA-5403-C2BD-390FBEA59C65}"/>
              </a:ext>
            </a:extLst>
          </p:cNvPr>
          <p:cNvSpPr/>
          <p:nvPr/>
        </p:nvSpPr>
        <p:spPr>
          <a:xfrm>
            <a:off x="908884" y="4868710"/>
            <a:ext cx="7247564" cy="42089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2. En Experience acceder a la tarjeta - Integration Designer</a:t>
            </a:r>
          </a:p>
        </p:txBody>
      </p:sp>
      <p:pic>
        <p:nvPicPr>
          <p:cNvPr id="10" name="Imagen 9">
            <a:extLst>
              <a:ext uri="{FF2B5EF4-FFF2-40B4-BE49-F238E27FC236}">
                <a16:creationId xmlns:a16="http://schemas.microsoft.com/office/drawing/2014/main" id="{1AA65B0D-F7F9-784E-DB9F-5B1F317FBE01}"/>
              </a:ext>
            </a:extLst>
          </p:cNvPr>
          <p:cNvPicPr>
            <a:picLocks noChangeAspect="1"/>
          </p:cNvPicPr>
          <p:nvPr/>
        </p:nvPicPr>
        <p:blipFill>
          <a:blip r:embed="rId3"/>
          <a:stretch>
            <a:fillRect/>
          </a:stretch>
        </p:blipFill>
        <p:spPr>
          <a:xfrm>
            <a:off x="908884" y="1206736"/>
            <a:ext cx="9844460" cy="3192027"/>
          </a:xfrm>
          <a:prstGeom prst="rect">
            <a:avLst/>
          </a:prstGeom>
        </p:spPr>
      </p:pic>
      <p:sp>
        <p:nvSpPr>
          <p:cNvPr id="6" name="Rectángulo 5">
            <a:extLst>
              <a:ext uri="{FF2B5EF4-FFF2-40B4-BE49-F238E27FC236}">
                <a16:creationId xmlns:a16="http://schemas.microsoft.com/office/drawing/2014/main" id="{2022D316-0C45-A4FB-DBA7-D6C3182916AE}"/>
              </a:ext>
            </a:extLst>
          </p:cNvPr>
          <p:cNvSpPr/>
          <p:nvPr/>
        </p:nvSpPr>
        <p:spPr>
          <a:xfrm>
            <a:off x="1143000" y="1866093"/>
            <a:ext cx="1856232" cy="22352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ln>
                <a:solidFill>
                  <a:schemeClr val="accent1"/>
                </a:solidFill>
              </a:ln>
            </a:endParaRPr>
          </a:p>
        </p:txBody>
      </p:sp>
      <p:sp>
        <p:nvSpPr>
          <p:cNvPr id="7" name="Rectangle: Rounded Corners 14">
            <a:extLst>
              <a:ext uri="{FF2B5EF4-FFF2-40B4-BE49-F238E27FC236}">
                <a16:creationId xmlns:a16="http://schemas.microsoft.com/office/drawing/2014/main" id="{FA2EC973-F83E-A9CE-63E8-B0808937FC7D}"/>
              </a:ext>
            </a:extLst>
          </p:cNvPr>
          <p:cNvSpPr/>
          <p:nvPr/>
        </p:nvSpPr>
        <p:spPr>
          <a:xfrm>
            <a:off x="908884" y="5534664"/>
            <a:ext cx="7247564" cy="44977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3. A través de la tarjeta acceder al Data Connect </a:t>
            </a:r>
            <a:r>
              <a:rPr lang="es-CO" sz="1200" b="1" dirty="0"/>
              <a:t>: </a:t>
            </a:r>
            <a:r>
              <a:rPr lang="es-CO" sz="1200" b="1" dirty="0" err="1"/>
              <a:t>xlac</a:t>
            </a:r>
            <a:r>
              <a:rPr lang="es-CO" sz="1200" b="1" dirty="0"/>
              <a:t>-</a:t>
            </a:r>
            <a:r>
              <a:rPr lang="es-CO" sz="1200" b="1" dirty="0" err="1"/>
              <a:t>revw</a:t>
            </a:r>
            <a:r>
              <a:rPr lang="es-CO" sz="1200" b="1" dirty="0"/>
              <a:t>-</a:t>
            </a:r>
            <a:r>
              <a:rPr lang="es-CO" sz="1200" b="1" dirty="0" err="1"/>
              <a:t>gu</a:t>
            </a:r>
            <a:r>
              <a:rPr lang="es-CO" sz="1200" b="1" dirty="0"/>
              <a:t>-fee-</a:t>
            </a:r>
            <a:r>
              <a:rPr lang="es-CO" sz="1200" b="1" dirty="0" err="1"/>
              <a:t>assessment</a:t>
            </a:r>
            <a:r>
              <a:rPr lang="es-CO" sz="1200" b="1" dirty="0"/>
              <a:t>-</a:t>
            </a:r>
            <a:r>
              <a:rPr lang="es-CO" sz="1200" b="1" dirty="0" err="1"/>
              <a:t>import</a:t>
            </a:r>
            <a:endParaRPr lang="es-CO" sz="1200" b="1" dirty="0"/>
          </a:p>
        </p:txBody>
      </p:sp>
      <p:pic>
        <p:nvPicPr>
          <p:cNvPr id="9" name="Imagen 8">
            <a:extLst>
              <a:ext uri="{FF2B5EF4-FFF2-40B4-BE49-F238E27FC236}">
                <a16:creationId xmlns:a16="http://schemas.microsoft.com/office/drawing/2014/main" id="{9D1B5507-7D88-2757-8EDB-6098783F2569}"/>
              </a:ext>
            </a:extLst>
          </p:cNvPr>
          <p:cNvPicPr>
            <a:picLocks noChangeAspect="1"/>
          </p:cNvPicPr>
          <p:nvPr/>
        </p:nvPicPr>
        <p:blipFill>
          <a:blip r:embed="rId4"/>
          <a:stretch>
            <a:fillRect/>
          </a:stretch>
        </p:blipFill>
        <p:spPr>
          <a:xfrm>
            <a:off x="3496525" y="1887131"/>
            <a:ext cx="162000" cy="162000"/>
          </a:xfrm>
          <a:prstGeom prst="rect">
            <a:avLst/>
          </a:prstGeom>
        </p:spPr>
      </p:pic>
      <p:pic>
        <p:nvPicPr>
          <p:cNvPr id="12" name="Imagen 11">
            <a:extLst>
              <a:ext uri="{FF2B5EF4-FFF2-40B4-BE49-F238E27FC236}">
                <a16:creationId xmlns:a16="http://schemas.microsoft.com/office/drawing/2014/main" id="{EEA985D6-D043-A215-82B6-B47D0651074E}"/>
              </a:ext>
            </a:extLst>
          </p:cNvPr>
          <p:cNvPicPr>
            <a:picLocks noChangeAspect="1"/>
          </p:cNvPicPr>
          <p:nvPr/>
        </p:nvPicPr>
        <p:blipFill>
          <a:blip r:embed="rId5"/>
          <a:stretch>
            <a:fillRect/>
          </a:stretch>
        </p:blipFill>
        <p:spPr>
          <a:xfrm>
            <a:off x="3960277" y="2833448"/>
            <a:ext cx="162000" cy="162000"/>
          </a:xfrm>
          <a:prstGeom prst="rect">
            <a:avLst/>
          </a:prstGeom>
        </p:spPr>
      </p:pic>
      <p:cxnSp>
        <p:nvCxnSpPr>
          <p:cNvPr id="13" name="Conector recto de flecha 12">
            <a:extLst>
              <a:ext uri="{FF2B5EF4-FFF2-40B4-BE49-F238E27FC236}">
                <a16:creationId xmlns:a16="http://schemas.microsoft.com/office/drawing/2014/main" id="{ECC0D5AD-4516-BE2D-E25F-3B25D91187E4}"/>
              </a:ext>
            </a:extLst>
          </p:cNvPr>
          <p:cNvCxnSpPr>
            <a:cxnSpLocks/>
          </p:cNvCxnSpPr>
          <p:nvPr/>
        </p:nvCxnSpPr>
        <p:spPr>
          <a:xfrm flipH="1">
            <a:off x="3063240" y="1977854"/>
            <a:ext cx="3585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ector recto de flecha 14">
            <a:extLst>
              <a:ext uri="{FF2B5EF4-FFF2-40B4-BE49-F238E27FC236}">
                <a16:creationId xmlns:a16="http://schemas.microsoft.com/office/drawing/2014/main" id="{E9F00816-D7DD-62B1-2013-88CCFF52D090}"/>
              </a:ext>
            </a:extLst>
          </p:cNvPr>
          <p:cNvCxnSpPr>
            <a:cxnSpLocks/>
          </p:cNvCxnSpPr>
          <p:nvPr/>
        </p:nvCxnSpPr>
        <p:spPr>
          <a:xfrm flipH="1">
            <a:off x="3568381" y="2922296"/>
            <a:ext cx="35857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76634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B46E0-2FE6-5DF1-FAE0-AAD0713D9EE8}"/>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9289573A-80FE-93E3-F5D7-0D25F9B92FE9}"/>
              </a:ext>
            </a:extLst>
          </p:cNvPr>
          <p:cNvSpPr txBox="1">
            <a:spLocks/>
          </p:cNvSpPr>
          <p:nvPr/>
        </p:nvSpPr>
        <p:spPr>
          <a:xfrm>
            <a:off x="832729" y="377319"/>
            <a:ext cx="10526542" cy="4908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 </a:t>
            </a:r>
            <a:r>
              <a:rPr lang="es-ES_tradnl" sz="3200" dirty="0"/>
              <a:t>Ellucian EXPERIENCE - DATA CONNECT</a:t>
            </a:r>
            <a:endParaRPr lang="es-CL" sz="3200" dirty="0"/>
          </a:p>
        </p:txBody>
      </p:sp>
      <p:sp>
        <p:nvSpPr>
          <p:cNvPr id="4" name="Rectangle: Rounded Corners 14">
            <a:extLst>
              <a:ext uri="{FF2B5EF4-FFF2-40B4-BE49-F238E27FC236}">
                <a16:creationId xmlns:a16="http://schemas.microsoft.com/office/drawing/2014/main" id="{5FD24211-2EFF-FB83-BDB9-A2C4E026B23C}"/>
              </a:ext>
            </a:extLst>
          </p:cNvPr>
          <p:cNvSpPr/>
          <p:nvPr/>
        </p:nvSpPr>
        <p:spPr>
          <a:xfrm>
            <a:off x="1173770" y="5480807"/>
            <a:ext cx="4842982" cy="33693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4. Dentro del Data Connect se debe seleccionar la opción </a:t>
            </a:r>
            <a:r>
              <a:rPr lang="es-CO" sz="1200" b="1" dirty="0"/>
              <a:t>PROBAR</a:t>
            </a:r>
          </a:p>
        </p:txBody>
      </p:sp>
      <p:pic>
        <p:nvPicPr>
          <p:cNvPr id="3" name="Imagen 2">
            <a:extLst>
              <a:ext uri="{FF2B5EF4-FFF2-40B4-BE49-F238E27FC236}">
                <a16:creationId xmlns:a16="http://schemas.microsoft.com/office/drawing/2014/main" id="{C589FFE7-D70F-38ED-4511-6EB10A7CC1C4}"/>
              </a:ext>
            </a:extLst>
          </p:cNvPr>
          <p:cNvPicPr>
            <a:picLocks noChangeAspect="1"/>
          </p:cNvPicPr>
          <p:nvPr/>
        </p:nvPicPr>
        <p:blipFill>
          <a:blip r:embed="rId2"/>
          <a:stretch>
            <a:fillRect/>
          </a:stretch>
        </p:blipFill>
        <p:spPr>
          <a:xfrm>
            <a:off x="1311998" y="1108495"/>
            <a:ext cx="9056519" cy="3949710"/>
          </a:xfrm>
          <a:prstGeom prst="rect">
            <a:avLst/>
          </a:prstGeom>
        </p:spPr>
      </p:pic>
      <p:cxnSp>
        <p:nvCxnSpPr>
          <p:cNvPr id="12" name="Conector recto de flecha 11">
            <a:extLst>
              <a:ext uri="{FF2B5EF4-FFF2-40B4-BE49-F238E27FC236}">
                <a16:creationId xmlns:a16="http://schemas.microsoft.com/office/drawing/2014/main" id="{EC550706-288F-0BDE-0C1C-80E43432F728}"/>
              </a:ext>
            </a:extLst>
          </p:cNvPr>
          <p:cNvCxnSpPr>
            <a:cxnSpLocks/>
          </p:cNvCxnSpPr>
          <p:nvPr/>
        </p:nvCxnSpPr>
        <p:spPr>
          <a:xfrm>
            <a:off x="8514091" y="1621241"/>
            <a:ext cx="4123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5" name="Imagen 14">
            <a:extLst>
              <a:ext uri="{FF2B5EF4-FFF2-40B4-BE49-F238E27FC236}">
                <a16:creationId xmlns:a16="http://schemas.microsoft.com/office/drawing/2014/main" id="{724B40EA-A229-6241-67D0-989839586B2E}"/>
              </a:ext>
            </a:extLst>
          </p:cNvPr>
          <p:cNvPicPr>
            <a:picLocks noChangeAspect="1"/>
          </p:cNvPicPr>
          <p:nvPr/>
        </p:nvPicPr>
        <p:blipFill>
          <a:blip r:embed="rId3"/>
          <a:stretch>
            <a:fillRect/>
          </a:stretch>
        </p:blipFill>
        <p:spPr>
          <a:xfrm>
            <a:off x="8275625" y="1531097"/>
            <a:ext cx="162000" cy="162000"/>
          </a:xfrm>
          <a:prstGeom prst="rect">
            <a:avLst/>
          </a:prstGeom>
        </p:spPr>
      </p:pic>
    </p:spTree>
    <p:extLst>
      <p:ext uri="{BB962C8B-B14F-4D97-AF65-F5344CB8AC3E}">
        <p14:creationId xmlns:p14="http://schemas.microsoft.com/office/powerpoint/2010/main" val="81283096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D9606-5C5A-2D77-B569-62F93E330E34}"/>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BF49D5A9-6760-5B72-8875-D72BFAB2DE45}"/>
              </a:ext>
            </a:extLst>
          </p:cNvPr>
          <p:cNvSpPr txBox="1">
            <a:spLocks/>
          </p:cNvSpPr>
          <p:nvPr/>
        </p:nvSpPr>
        <p:spPr>
          <a:xfrm>
            <a:off x="832729" y="377319"/>
            <a:ext cx="10526542" cy="4908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 </a:t>
            </a:r>
            <a:r>
              <a:rPr lang="es-ES_tradnl" sz="3200" dirty="0"/>
              <a:t>Ellucian EXPERIENCE - DATA CONNECT</a:t>
            </a:r>
            <a:endParaRPr lang="es-CL" sz="3200" dirty="0"/>
          </a:p>
        </p:txBody>
      </p:sp>
      <p:pic>
        <p:nvPicPr>
          <p:cNvPr id="5" name="Imagen 4">
            <a:extLst>
              <a:ext uri="{FF2B5EF4-FFF2-40B4-BE49-F238E27FC236}">
                <a16:creationId xmlns:a16="http://schemas.microsoft.com/office/drawing/2014/main" id="{B903569F-D9F5-2FAA-CDC1-8DFFDA89B1F8}"/>
              </a:ext>
            </a:extLst>
          </p:cNvPr>
          <p:cNvPicPr>
            <a:picLocks noChangeAspect="1"/>
          </p:cNvPicPr>
          <p:nvPr/>
        </p:nvPicPr>
        <p:blipFill>
          <a:blip r:embed="rId2"/>
          <a:stretch>
            <a:fillRect/>
          </a:stretch>
        </p:blipFill>
        <p:spPr>
          <a:xfrm>
            <a:off x="821321" y="1271016"/>
            <a:ext cx="10623247" cy="3942597"/>
          </a:xfrm>
          <a:prstGeom prst="rect">
            <a:avLst/>
          </a:prstGeom>
        </p:spPr>
      </p:pic>
      <p:sp>
        <p:nvSpPr>
          <p:cNvPr id="7" name="Rectangle: Rounded Corners 14">
            <a:extLst>
              <a:ext uri="{FF2B5EF4-FFF2-40B4-BE49-F238E27FC236}">
                <a16:creationId xmlns:a16="http://schemas.microsoft.com/office/drawing/2014/main" id="{45841F87-2C8F-D7B2-A5F5-9242E14B5CB7}"/>
              </a:ext>
            </a:extLst>
          </p:cNvPr>
          <p:cNvSpPr/>
          <p:nvPr/>
        </p:nvSpPr>
        <p:spPr>
          <a:xfrm>
            <a:off x="832729" y="5513831"/>
            <a:ext cx="7515743" cy="37876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5. Seleccionar cargar archivo - para subir el template de carga de tarifas (archivo .csv delimitado por comas)</a:t>
            </a:r>
            <a:endParaRPr lang="es-CO" sz="1200" b="1" dirty="0"/>
          </a:p>
        </p:txBody>
      </p:sp>
      <p:pic>
        <p:nvPicPr>
          <p:cNvPr id="9" name="Imagen 8">
            <a:extLst>
              <a:ext uri="{FF2B5EF4-FFF2-40B4-BE49-F238E27FC236}">
                <a16:creationId xmlns:a16="http://schemas.microsoft.com/office/drawing/2014/main" id="{371C34D9-3906-F042-596D-ECE5DF790304}"/>
              </a:ext>
            </a:extLst>
          </p:cNvPr>
          <p:cNvPicPr>
            <a:picLocks noChangeAspect="1"/>
          </p:cNvPicPr>
          <p:nvPr/>
        </p:nvPicPr>
        <p:blipFill>
          <a:blip r:embed="rId3"/>
          <a:stretch>
            <a:fillRect/>
          </a:stretch>
        </p:blipFill>
        <p:spPr>
          <a:xfrm>
            <a:off x="5402921" y="2799929"/>
            <a:ext cx="163488" cy="163488"/>
          </a:xfrm>
          <a:prstGeom prst="rect">
            <a:avLst/>
          </a:prstGeom>
        </p:spPr>
      </p:pic>
      <p:cxnSp>
        <p:nvCxnSpPr>
          <p:cNvPr id="10" name="Conector recto de flecha 9">
            <a:extLst>
              <a:ext uri="{FF2B5EF4-FFF2-40B4-BE49-F238E27FC236}">
                <a16:creationId xmlns:a16="http://schemas.microsoft.com/office/drawing/2014/main" id="{41B8D236-C455-D167-25C3-A186D6592682}"/>
              </a:ext>
            </a:extLst>
          </p:cNvPr>
          <p:cNvCxnSpPr>
            <a:cxnSpLocks/>
          </p:cNvCxnSpPr>
          <p:nvPr/>
        </p:nvCxnSpPr>
        <p:spPr>
          <a:xfrm>
            <a:off x="5602985" y="2883113"/>
            <a:ext cx="4123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581483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286D5-6857-AFFF-3D03-AE10F4CA1DD5}"/>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EB26152E-E513-9A13-6FE2-702B0333AA99}"/>
              </a:ext>
            </a:extLst>
          </p:cNvPr>
          <p:cNvSpPr txBox="1">
            <a:spLocks/>
          </p:cNvSpPr>
          <p:nvPr/>
        </p:nvSpPr>
        <p:spPr>
          <a:xfrm>
            <a:off x="832729" y="377319"/>
            <a:ext cx="10526542" cy="4908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 </a:t>
            </a:r>
            <a:r>
              <a:rPr lang="es-ES_tradnl" sz="3200" dirty="0"/>
              <a:t>Ellucian EXPERIENCE - DATA CONNECT</a:t>
            </a:r>
            <a:endParaRPr lang="es-CL" sz="3200" dirty="0"/>
          </a:p>
        </p:txBody>
      </p:sp>
      <p:sp>
        <p:nvSpPr>
          <p:cNvPr id="4" name="Rectangle: Rounded Corners 14">
            <a:extLst>
              <a:ext uri="{FF2B5EF4-FFF2-40B4-BE49-F238E27FC236}">
                <a16:creationId xmlns:a16="http://schemas.microsoft.com/office/drawing/2014/main" id="{E85CAA8E-3F8A-B2C6-2F43-48D7E21140CF}"/>
              </a:ext>
            </a:extLst>
          </p:cNvPr>
          <p:cNvSpPr/>
          <p:nvPr/>
        </p:nvSpPr>
        <p:spPr>
          <a:xfrm>
            <a:off x="578204" y="4407820"/>
            <a:ext cx="3833539" cy="61789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7. Si la carga fue exitosa se visualizar el nombre de archivo en archivo cargado. </a:t>
            </a:r>
          </a:p>
        </p:txBody>
      </p:sp>
      <p:pic>
        <p:nvPicPr>
          <p:cNvPr id="3" name="Imagen 2">
            <a:extLst>
              <a:ext uri="{FF2B5EF4-FFF2-40B4-BE49-F238E27FC236}">
                <a16:creationId xmlns:a16="http://schemas.microsoft.com/office/drawing/2014/main" id="{8DCA3E5C-9811-9AD1-AF1D-D1B96564B44D}"/>
              </a:ext>
            </a:extLst>
          </p:cNvPr>
          <p:cNvPicPr>
            <a:picLocks noChangeAspect="1"/>
          </p:cNvPicPr>
          <p:nvPr/>
        </p:nvPicPr>
        <p:blipFill>
          <a:blip r:embed="rId2"/>
          <a:srcRect l="19461" t="6503" r="31637" b="24786"/>
          <a:stretch>
            <a:fillRect/>
          </a:stretch>
        </p:blipFill>
        <p:spPr>
          <a:xfrm>
            <a:off x="493676" y="1067329"/>
            <a:ext cx="5602324" cy="2162498"/>
          </a:xfrm>
          <a:prstGeom prst="rect">
            <a:avLst/>
          </a:prstGeom>
        </p:spPr>
      </p:pic>
      <p:pic>
        <p:nvPicPr>
          <p:cNvPr id="5" name="Imagen 4">
            <a:extLst>
              <a:ext uri="{FF2B5EF4-FFF2-40B4-BE49-F238E27FC236}">
                <a16:creationId xmlns:a16="http://schemas.microsoft.com/office/drawing/2014/main" id="{69BE9708-D2A2-4A36-F4FB-A2C133941F8F}"/>
              </a:ext>
            </a:extLst>
          </p:cNvPr>
          <p:cNvPicPr>
            <a:picLocks noChangeAspect="1"/>
          </p:cNvPicPr>
          <p:nvPr/>
        </p:nvPicPr>
        <p:blipFill>
          <a:blip r:embed="rId3"/>
          <a:srcRect t="9078"/>
          <a:stretch>
            <a:fillRect/>
          </a:stretch>
        </p:blipFill>
        <p:spPr>
          <a:xfrm>
            <a:off x="4734415" y="3429001"/>
            <a:ext cx="6961667" cy="2575534"/>
          </a:xfrm>
          <a:prstGeom prst="rect">
            <a:avLst/>
          </a:prstGeom>
        </p:spPr>
      </p:pic>
      <p:sp>
        <p:nvSpPr>
          <p:cNvPr id="6" name="Rectangle: Rounded Corners 14">
            <a:extLst>
              <a:ext uri="{FF2B5EF4-FFF2-40B4-BE49-F238E27FC236}">
                <a16:creationId xmlns:a16="http://schemas.microsoft.com/office/drawing/2014/main" id="{6D64BBA4-C042-59DB-6E17-CCB021AF9418}"/>
              </a:ext>
            </a:extLst>
          </p:cNvPr>
          <p:cNvSpPr/>
          <p:nvPr/>
        </p:nvSpPr>
        <p:spPr>
          <a:xfrm>
            <a:off x="6345562" y="1966688"/>
            <a:ext cx="5013709" cy="490837"/>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6. Seleccionar el archivo a cargar. </a:t>
            </a:r>
            <a:endParaRPr lang="es-CO" sz="1200" b="1" dirty="0"/>
          </a:p>
        </p:txBody>
      </p:sp>
      <p:pic>
        <p:nvPicPr>
          <p:cNvPr id="8" name="Imagen 7">
            <a:extLst>
              <a:ext uri="{FF2B5EF4-FFF2-40B4-BE49-F238E27FC236}">
                <a16:creationId xmlns:a16="http://schemas.microsoft.com/office/drawing/2014/main" id="{77586ECC-BA87-78C4-D872-AD7110247C4E}"/>
              </a:ext>
            </a:extLst>
          </p:cNvPr>
          <p:cNvPicPr>
            <a:picLocks noChangeAspect="1"/>
          </p:cNvPicPr>
          <p:nvPr/>
        </p:nvPicPr>
        <p:blipFill>
          <a:blip r:embed="rId4"/>
          <a:stretch>
            <a:fillRect/>
          </a:stretch>
        </p:blipFill>
        <p:spPr>
          <a:xfrm>
            <a:off x="997001" y="2692070"/>
            <a:ext cx="162000" cy="162000"/>
          </a:xfrm>
          <a:prstGeom prst="rect">
            <a:avLst/>
          </a:prstGeom>
        </p:spPr>
      </p:pic>
      <p:pic>
        <p:nvPicPr>
          <p:cNvPr id="10" name="Imagen 9">
            <a:extLst>
              <a:ext uri="{FF2B5EF4-FFF2-40B4-BE49-F238E27FC236}">
                <a16:creationId xmlns:a16="http://schemas.microsoft.com/office/drawing/2014/main" id="{A99DFA15-685E-5045-B4FD-72548B5C37A7}"/>
              </a:ext>
            </a:extLst>
          </p:cNvPr>
          <p:cNvPicPr>
            <a:picLocks noChangeAspect="1"/>
          </p:cNvPicPr>
          <p:nvPr/>
        </p:nvPicPr>
        <p:blipFill>
          <a:blip r:embed="rId5"/>
          <a:stretch>
            <a:fillRect/>
          </a:stretch>
        </p:blipFill>
        <p:spPr>
          <a:xfrm>
            <a:off x="7959281" y="4245820"/>
            <a:ext cx="162000" cy="162000"/>
          </a:xfrm>
          <a:prstGeom prst="rect">
            <a:avLst/>
          </a:prstGeom>
        </p:spPr>
      </p:pic>
    </p:spTree>
    <p:extLst>
      <p:ext uri="{BB962C8B-B14F-4D97-AF65-F5344CB8AC3E}">
        <p14:creationId xmlns:p14="http://schemas.microsoft.com/office/powerpoint/2010/main" val="283639971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73048-A1B3-6538-2A9E-A9CE91948B96}"/>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45DCE8DB-EEE9-1F4C-EE9E-B88F7F6669AB}"/>
              </a:ext>
            </a:extLst>
          </p:cNvPr>
          <p:cNvSpPr txBox="1">
            <a:spLocks/>
          </p:cNvSpPr>
          <p:nvPr/>
        </p:nvSpPr>
        <p:spPr>
          <a:xfrm>
            <a:off x="961640" y="276735"/>
            <a:ext cx="10526542" cy="4908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 </a:t>
            </a:r>
            <a:r>
              <a:rPr lang="es-ES_tradnl" sz="3200" dirty="0"/>
              <a:t>Ellucian EXPERIENCE - DATA CONNECT</a:t>
            </a:r>
            <a:endParaRPr lang="es-CL" sz="3200" dirty="0"/>
          </a:p>
        </p:txBody>
      </p:sp>
      <p:sp>
        <p:nvSpPr>
          <p:cNvPr id="4" name="Rectangle: Rounded Corners 14">
            <a:extLst>
              <a:ext uri="{FF2B5EF4-FFF2-40B4-BE49-F238E27FC236}">
                <a16:creationId xmlns:a16="http://schemas.microsoft.com/office/drawing/2014/main" id="{996AFCE1-8E4F-FC9D-00F0-8B48F3B13FF6}"/>
              </a:ext>
            </a:extLst>
          </p:cNvPr>
          <p:cNvSpPr/>
          <p:nvPr/>
        </p:nvSpPr>
        <p:spPr>
          <a:xfrm>
            <a:off x="897632" y="5018931"/>
            <a:ext cx="6271264" cy="39447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8. *Campo </a:t>
            </a:r>
            <a:r>
              <a:rPr lang="es-CO" sz="1200" b="1" dirty="0"/>
              <a:t>TERM CODE </a:t>
            </a:r>
            <a:r>
              <a:rPr lang="es-CO" sz="1200" dirty="0"/>
              <a:t>ingresar código de periodo en el que se van a insertar la tarifas</a:t>
            </a:r>
          </a:p>
        </p:txBody>
      </p:sp>
      <p:pic>
        <p:nvPicPr>
          <p:cNvPr id="7" name="Imagen 6">
            <a:extLst>
              <a:ext uri="{FF2B5EF4-FFF2-40B4-BE49-F238E27FC236}">
                <a16:creationId xmlns:a16="http://schemas.microsoft.com/office/drawing/2014/main" id="{6ABB1FD7-4199-15CC-EBDE-DFD3C2FA25AD}"/>
              </a:ext>
            </a:extLst>
          </p:cNvPr>
          <p:cNvPicPr>
            <a:picLocks noChangeAspect="1"/>
          </p:cNvPicPr>
          <p:nvPr/>
        </p:nvPicPr>
        <p:blipFill>
          <a:blip r:embed="rId2"/>
          <a:stretch>
            <a:fillRect/>
          </a:stretch>
        </p:blipFill>
        <p:spPr>
          <a:xfrm>
            <a:off x="961640" y="962690"/>
            <a:ext cx="10263398" cy="3764758"/>
          </a:xfrm>
          <a:prstGeom prst="rect">
            <a:avLst/>
          </a:prstGeom>
        </p:spPr>
      </p:pic>
      <p:sp>
        <p:nvSpPr>
          <p:cNvPr id="9" name="Rectangle: Rounded Corners 9">
            <a:extLst>
              <a:ext uri="{FF2B5EF4-FFF2-40B4-BE49-F238E27FC236}">
                <a16:creationId xmlns:a16="http://schemas.microsoft.com/office/drawing/2014/main" id="{6DF4C1AC-568E-7622-D1EF-F269EFD0BD2C}"/>
              </a:ext>
            </a:extLst>
          </p:cNvPr>
          <p:cNvSpPr/>
          <p:nvPr/>
        </p:nvSpPr>
        <p:spPr>
          <a:xfrm>
            <a:off x="897632" y="5608524"/>
            <a:ext cx="10327406" cy="496775"/>
          </a:xfrm>
          <a:prstGeom prst="roundRect">
            <a:avLst/>
          </a:prstGeom>
          <a:solidFill>
            <a:schemeClr val="accent2">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CO" sz="1200" b="1" dirty="0">
                <a:solidFill>
                  <a:schemeClr val="dk1"/>
                </a:solidFill>
              </a:rPr>
              <a:t>NOTA: </a:t>
            </a:r>
            <a:r>
              <a:rPr lang="es-CO" sz="1200" dirty="0">
                <a:solidFill>
                  <a:schemeClr val="dk1"/>
                </a:solidFill>
              </a:rPr>
              <a:t>Si el template en el campo "TERM" es diferente al ingresado en el campo del parámetro del Data Connect "TERM CODE”, entonces en SFARGFE se insertará el periodo ingresado en el DATA CONNECT y reemplaza el registrado en el Template. </a:t>
            </a:r>
          </a:p>
        </p:txBody>
      </p:sp>
      <p:pic>
        <p:nvPicPr>
          <p:cNvPr id="12" name="Imagen 11">
            <a:extLst>
              <a:ext uri="{FF2B5EF4-FFF2-40B4-BE49-F238E27FC236}">
                <a16:creationId xmlns:a16="http://schemas.microsoft.com/office/drawing/2014/main" id="{9448CE4E-98F2-74F1-0C27-0BCA05B9EB59}"/>
              </a:ext>
            </a:extLst>
          </p:cNvPr>
          <p:cNvPicPr>
            <a:picLocks noChangeAspect="1"/>
          </p:cNvPicPr>
          <p:nvPr/>
        </p:nvPicPr>
        <p:blipFill>
          <a:blip r:embed="rId3"/>
          <a:stretch>
            <a:fillRect/>
          </a:stretch>
        </p:blipFill>
        <p:spPr>
          <a:xfrm>
            <a:off x="6564535" y="2863357"/>
            <a:ext cx="162000" cy="162000"/>
          </a:xfrm>
          <a:prstGeom prst="rect">
            <a:avLst/>
          </a:prstGeom>
        </p:spPr>
      </p:pic>
      <p:cxnSp>
        <p:nvCxnSpPr>
          <p:cNvPr id="13" name="Conector recto de flecha 12">
            <a:extLst>
              <a:ext uri="{FF2B5EF4-FFF2-40B4-BE49-F238E27FC236}">
                <a16:creationId xmlns:a16="http://schemas.microsoft.com/office/drawing/2014/main" id="{F643B971-8C3D-109D-659B-60360631A114}"/>
              </a:ext>
            </a:extLst>
          </p:cNvPr>
          <p:cNvCxnSpPr>
            <a:cxnSpLocks/>
          </p:cNvCxnSpPr>
          <p:nvPr/>
        </p:nvCxnSpPr>
        <p:spPr>
          <a:xfrm flipH="1">
            <a:off x="6134206" y="2956265"/>
            <a:ext cx="3846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860600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EB2F-14C9-DA35-FD0E-AA30CA05BF3C}"/>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1EF534D0-2A44-D0F4-66A8-30D93EC33C5C}"/>
              </a:ext>
            </a:extLst>
          </p:cNvPr>
          <p:cNvSpPr txBox="1">
            <a:spLocks/>
          </p:cNvSpPr>
          <p:nvPr/>
        </p:nvSpPr>
        <p:spPr>
          <a:xfrm>
            <a:off x="961640" y="276735"/>
            <a:ext cx="10526542" cy="4908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 </a:t>
            </a:r>
            <a:r>
              <a:rPr lang="es-ES_tradnl" sz="3200" dirty="0"/>
              <a:t>Ellucian EXPERIENCE - DATA CONNECT</a:t>
            </a:r>
            <a:endParaRPr lang="es-CL" sz="3200" dirty="0"/>
          </a:p>
        </p:txBody>
      </p:sp>
      <p:sp>
        <p:nvSpPr>
          <p:cNvPr id="4" name="Rectangle: Rounded Corners 14">
            <a:extLst>
              <a:ext uri="{FF2B5EF4-FFF2-40B4-BE49-F238E27FC236}">
                <a16:creationId xmlns:a16="http://schemas.microsoft.com/office/drawing/2014/main" id="{94ADBAFF-8394-00E1-0E94-05F5BA3F1611}"/>
              </a:ext>
            </a:extLst>
          </p:cNvPr>
          <p:cNvSpPr/>
          <p:nvPr/>
        </p:nvSpPr>
        <p:spPr>
          <a:xfrm>
            <a:off x="1169580" y="4873753"/>
            <a:ext cx="5276146" cy="35842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9. *Ingresar en API KEY del ambiente en el campo "ETHOS API KEY"</a:t>
            </a:r>
          </a:p>
        </p:txBody>
      </p:sp>
      <p:pic>
        <p:nvPicPr>
          <p:cNvPr id="3" name="Imagen 2">
            <a:extLst>
              <a:ext uri="{FF2B5EF4-FFF2-40B4-BE49-F238E27FC236}">
                <a16:creationId xmlns:a16="http://schemas.microsoft.com/office/drawing/2014/main" id="{D003A451-00AB-19A4-AA62-DCEB981CE39E}"/>
              </a:ext>
            </a:extLst>
          </p:cNvPr>
          <p:cNvPicPr>
            <a:picLocks noChangeAspect="1"/>
          </p:cNvPicPr>
          <p:nvPr/>
        </p:nvPicPr>
        <p:blipFill>
          <a:blip r:embed="rId2"/>
          <a:stretch>
            <a:fillRect/>
          </a:stretch>
        </p:blipFill>
        <p:spPr>
          <a:xfrm>
            <a:off x="1169580" y="767572"/>
            <a:ext cx="9655493" cy="3800771"/>
          </a:xfrm>
          <a:prstGeom prst="rect">
            <a:avLst/>
          </a:prstGeom>
        </p:spPr>
      </p:pic>
      <p:sp>
        <p:nvSpPr>
          <p:cNvPr id="5" name="Rectangle: Rounded Corners 14">
            <a:extLst>
              <a:ext uri="{FF2B5EF4-FFF2-40B4-BE49-F238E27FC236}">
                <a16:creationId xmlns:a16="http://schemas.microsoft.com/office/drawing/2014/main" id="{72775B55-23FB-A847-567A-29EC8FE4DAE7}"/>
              </a:ext>
            </a:extLst>
          </p:cNvPr>
          <p:cNvSpPr/>
          <p:nvPr/>
        </p:nvSpPr>
        <p:spPr>
          <a:xfrm>
            <a:off x="1169580" y="5347281"/>
            <a:ext cx="7834888" cy="49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10. El activar el campo "</a:t>
            </a:r>
            <a:r>
              <a:rPr lang="es-CO" sz="1200"/>
              <a:t>REDUNDANT DATA </a:t>
            </a:r>
            <a:r>
              <a:rPr lang="es-CO" sz="1200" dirty="0"/>
              <a:t>CHECK"  el Data Connect valida que no se cargan en el mismo periodo una regla de cobro ya  existente. </a:t>
            </a:r>
          </a:p>
        </p:txBody>
      </p:sp>
      <p:sp>
        <p:nvSpPr>
          <p:cNvPr id="6" name="Rectangle: Rounded Corners 14">
            <a:extLst>
              <a:ext uri="{FF2B5EF4-FFF2-40B4-BE49-F238E27FC236}">
                <a16:creationId xmlns:a16="http://schemas.microsoft.com/office/drawing/2014/main" id="{A842CDC1-538A-629F-7689-6E92BC7238C3}"/>
              </a:ext>
            </a:extLst>
          </p:cNvPr>
          <p:cNvSpPr/>
          <p:nvPr/>
        </p:nvSpPr>
        <p:spPr>
          <a:xfrm>
            <a:off x="1169580" y="5953223"/>
            <a:ext cx="1975956" cy="490838"/>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11. Ejecutar Prueba</a:t>
            </a:r>
          </a:p>
        </p:txBody>
      </p:sp>
      <p:sp>
        <p:nvSpPr>
          <p:cNvPr id="8" name="Rectángulo 7">
            <a:extLst>
              <a:ext uri="{FF2B5EF4-FFF2-40B4-BE49-F238E27FC236}">
                <a16:creationId xmlns:a16="http://schemas.microsoft.com/office/drawing/2014/main" id="{18B413AB-E11B-5ADC-2040-766E1D6AE836}"/>
              </a:ext>
            </a:extLst>
          </p:cNvPr>
          <p:cNvSpPr/>
          <p:nvPr/>
        </p:nvSpPr>
        <p:spPr>
          <a:xfrm>
            <a:off x="4142232" y="2798064"/>
            <a:ext cx="1828800" cy="32004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0" name="Rectángulo 9">
            <a:extLst>
              <a:ext uri="{FF2B5EF4-FFF2-40B4-BE49-F238E27FC236}">
                <a16:creationId xmlns:a16="http://schemas.microsoft.com/office/drawing/2014/main" id="{62BB6ACB-EACA-1109-BCDB-34572019C28F}"/>
              </a:ext>
            </a:extLst>
          </p:cNvPr>
          <p:cNvSpPr/>
          <p:nvPr/>
        </p:nvSpPr>
        <p:spPr>
          <a:xfrm>
            <a:off x="4150238" y="3158587"/>
            <a:ext cx="1828800" cy="32004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2" name="Imagen 11">
            <a:extLst>
              <a:ext uri="{FF2B5EF4-FFF2-40B4-BE49-F238E27FC236}">
                <a16:creationId xmlns:a16="http://schemas.microsoft.com/office/drawing/2014/main" id="{6278543E-A9DC-CAA0-DBD2-014FA0EBBCD4}"/>
              </a:ext>
            </a:extLst>
          </p:cNvPr>
          <p:cNvPicPr>
            <a:picLocks noChangeAspect="1"/>
          </p:cNvPicPr>
          <p:nvPr/>
        </p:nvPicPr>
        <p:blipFill>
          <a:blip r:embed="rId3"/>
          <a:stretch>
            <a:fillRect/>
          </a:stretch>
        </p:blipFill>
        <p:spPr>
          <a:xfrm>
            <a:off x="6875947" y="4044355"/>
            <a:ext cx="162000" cy="162000"/>
          </a:xfrm>
          <a:prstGeom prst="rect">
            <a:avLst/>
          </a:prstGeom>
        </p:spPr>
      </p:pic>
      <p:pic>
        <p:nvPicPr>
          <p:cNvPr id="14" name="Imagen 13">
            <a:extLst>
              <a:ext uri="{FF2B5EF4-FFF2-40B4-BE49-F238E27FC236}">
                <a16:creationId xmlns:a16="http://schemas.microsoft.com/office/drawing/2014/main" id="{79972812-A95A-0B20-8D79-C68103680BA5}"/>
              </a:ext>
            </a:extLst>
          </p:cNvPr>
          <p:cNvPicPr>
            <a:picLocks noChangeAspect="1"/>
          </p:cNvPicPr>
          <p:nvPr/>
        </p:nvPicPr>
        <p:blipFill>
          <a:blip r:embed="rId4"/>
          <a:stretch>
            <a:fillRect/>
          </a:stretch>
        </p:blipFill>
        <p:spPr>
          <a:xfrm>
            <a:off x="6445726" y="3246751"/>
            <a:ext cx="162000" cy="162000"/>
          </a:xfrm>
          <a:prstGeom prst="rect">
            <a:avLst/>
          </a:prstGeom>
        </p:spPr>
      </p:pic>
      <p:pic>
        <p:nvPicPr>
          <p:cNvPr id="16" name="Imagen 15">
            <a:extLst>
              <a:ext uri="{FF2B5EF4-FFF2-40B4-BE49-F238E27FC236}">
                <a16:creationId xmlns:a16="http://schemas.microsoft.com/office/drawing/2014/main" id="{72F81D16-EF65-38EA-5E8B-04F90BFCE1BD}"/>
              </a:ext>
            </a:extLst>
          </p:cNvPr>
          <p:cNvPicPr>
            <a:picLocks noChangeAspect="1"/>
          </p:cNvPicPr>
          <p:nvPr/>
        </p:nvPicPr>
        <p:blipFill>
          <a:blip r:embed="rId5"/>
          <a:stretch>
            <a:fillRect/>
          </a:stretch>
        </p:blipFill>
        <p:spPr>
          <a:xfrm>
            <a:off x="6445726" y="2866644"/>
            <a:ext cx="162000" cy="162000"/>
          </a:xfrm>
          <a:prstGeom prst="rect">
            <a:avLst/>
          </a:prstGeom>
        </p:spPr>
      </p:pic>
      <p:cxnSp>
        <p:nvCxnSpPr>
          <p:cNvPr id="17" name="Conector recto de flecha 16">
            <a:extLst>
              <a:ext uri="{FF2B5EF4-FFF2-40B4-BE49-F238E27FC236}">
                <a16:creationId xmlns:a16="http://schemas.microsoft.com/office/drawing/2014/main" id="{33C3D33F-3386-2BF7-230E-67718F579073}"/>
              </a:ext>
            </a:extLst>
          </p:cNvPr>
          <p:cNvCxnSpPr>
            <a:cxnSpLocks/>
          </p:cNvCxnSpPr>
          <p:nvPr/>
        </p:nvCxnSpPr>
        <p:spPr>
          <a:xfrm flipH="1">
            <a:off x="6015334" y="2956265"/>
            <a:ext cx="3846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ector recto de flecha 17">
            <a:extLst>
              <a:ext uri="{FF2B5EF4-FFF2-40B4-BE49-F238E27FC236}">
                <a16:creationId xmlns:a16="http://schemas.microsoft.com/office/drawing/2014/main" id="{9A3F99B9-8678-F76A-1316-4D669948009B}"/>
              </a:ext>
            </a:extLst>
          </p:cNvPr>
          <p:cNvCxnSpPr>
            <a:cxnSpLocks/>
          </p:cNvCxnSpPr>
          <p:nvPr/>
        </p:nvCxnSpPr>
        <p:spPr>
          <a:xfrm flipH="1">
            <a:off x="6015614" y="3337265"/>
            <a:ext cx="38460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7789287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5E028-FF7B-14A4-193B-76E7FA45C0E3}"/>
            </a:ext>
          </a:extLst>
        </p:cNvPr>
        <p:cNvGrpSpPr/>
        <p:nvPr/>
      </p:nvGrpSpPr>
      <p:grpSpPr>
        <a:xfrm>
          <a:off x="0" y="0"/>
          <a:ext cx="0" cy="0"/>
          <a:chOff x="0" y="0"/>
          <a:chExt cx="0" cy="0"/>
        </a:xfrm>
      </p:grpSpPr>
      <p:sp>
        <p:nvSpPr>
          <p:cNvPr id="2" name="Título 3">
            <a:extLst>
              <a:ext uri="{FF2B5EF4-FFF2-40B4-BE49-F238E27FC236}">
                <a16:creationId xmlns:a16="http://schemas.microsoft.com/office/drawing/2014/main" id="{689BDBDC-17D7-9F71-0CB9-EE56ABD0D19B}"/>
              </a:ext>
            </a:extLst>
          </p:cNvPr>
          <p:cNvSpPr txBox="1">
            <a:spLocks/>
          </p:cNvSpPr>
          <p:nvPr/>
        </p:nvSpPr>
        <p:spPr>
          <a:xfrm>
            <a:off x="961640" y="505335"/>
            <a:ext cx="10526542" cy="4908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 </a:t>
            </a:r>
            <a:r>
              <a:rPr lang="es-ES_tradnl" sz="3200" dirty="0"/>
              <a:t>Ellucian EXPERIENCE - DATA CONNECT</a:t>
            </a:r>
            <a:endParaRPr lang="es-CL" sz="3200" dirty="0"/>
          </a:p>
        </p:txBody>
      </p:sp>
      <p:sp>
        <p:nvSpPr>
          <p:cNvPr id="4" name="Rectangle: Rounded Corners 14">
            <a:extLst>
              <a:ext uri="{FF2B5EF4-FFF2-40B4-BE49-F238E27FC236}">
                <a16:creationId xmlns:a16="http://schemas.microsoft.com/office/drawing/2014/main" id="{6BFECA12-48D5-9624-A759-B5490F783F8B}"/>
              </a:ext>
            </a:extLst>
          </p:cNvPr>
          <p:cNvSpPr/>
          <p:nvPr/>
        </p:nvSpPr>
        <p:spPr>
          <a:xfrm>
            <a:off x="1281258" y="5095647"/>
            <a:ext cx="9629484" cy="62618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12. Para revisar la salida generada del proceso se debe </a:t>
            </a:r>
            <a:r>
              <a:rPr lang="es-CO" sz="1200" b="1" dirty="0"/>
              <a:t>COPIAR </a:t>
            </a:r>
            <a:r>
              <a:rPr lang="es-CO" sz="1200" dirty="0"/>
              <a:t>de la sección de "SIN FORMATO”, en la línea 9 - desde https hasta csv en la parte final, no incluir las dobles comillas. </a:t>
            </a:r>
          </a:p>
        </p:txBody>
      </p:sp>
      <p:pic>
        <p:nvPicPr>
          <p:cNvPr id="7" name="Imagen 6">
            <a:extLst>
              <a:ext uri="{FF2B5EF4-FFF2-40B4-BE49-F238E27FC236}">
                <a16:creationId xmlns:a16="http://schemas.microsoft.com/office/drawing/2014/main" id="{074B69D5-3A0F-2002-C6C4-49F7C06013D8}"/>
              </a:ext>
            </a:extLst>
          </p:cNvPr>
          <p:cNvPicPr>
            <a:picLocks noChangeAspect="1"/>
          </p:cNvPicPr>
          <p:nvPr/>
        </p:nvPicPr>
        <p:blipFill>
          <a:blip r:embed="rId2"/>
          <a:stretch>
            <a:fillRect/>
          </a:stretch>
        </p:blipFill>
        <p:spPr>
          <a:xfrm>
            <a:off x="2001843" y="1193510"/>
            <a:ext cx="3594802" cy="3661325"/>
          </a:xfrm>
          <a:prstGeom prst="rect">
            <a:avLst/>
          </a:prstGeom>
        </p:spPr>
      </p:pic>
      <p:pic>
        <p:nvPicPr>
          <p:cNvPr id="9" name="Imagen 8">
            <a:extLst>
              <a:ext uri="{FF2B5EF4-FFF2-40B4-BE49-F238E27FC236}">
                <a16:creationId xmlns:a16="http://schemas.microsoft.com/office/drawing/2014/main" id="{0EB3A9EE-806E-2470-1753-F93F5B5F12EF}"/>
              </a:ext>
            </a:extLst>
          </p:cNvPr>
          <p:cNvPicPr>
            <a:picLocks noChangeAspect="1"/>
          </p:cNvPicPr>
          <p:nvPr/>
        </p:nvPicPr>
        <p:blipFill>
          <a:blip r:embed="rId3"/>
          <a:stretch>
            <a:fillRect/>
          </a:stretch>
        </p:blipFill>
        <p:spPr>
          <a:xfrm>
            <a:off x="5802045" y="1111276"/>
            <a:ext cx="3700769" cy="3743559"/>
          </a:xfrm>
          <a:prstGeom prst="rect">
            <a:avLst/>
          </a:prstGeom>
        </p:spPr>
      </p:pic>
      <p:sp>
        <p:nvSpPr>
          <p:cNvPr id="11" name="Rectángulo 10">
            <a:extLst>
              <a:ext uri="{FF2B5EF4-FFF2-40B4-BE49-F238E27FC236}">
                <a16:creationId xmlns:a16="http://schemas.microsoft.com/office/drawing/2014/main" id="{1E11AA0D-70E4-3370-632E-AD86F483C423}"/>
              </a:ext>
            </a:extLst>
          </p:cNvPr>
          <p:cNvSpPr/>
          <p:nvPr/>
        </p:nvSpPr>
        <p:spPr>
          <a:xfrm>
            <a:off x="2139696" y="3099816"/>
            <a:ext cx="1179576" cy="162000"/>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13" name="Rectángulo 12">
            <a:extLst>
              <a:ext uri="{FF2B5EF4-FFF2-40B4-BE49-F238E27FC236}">
                <a16:creationId xmlns:a16="http://schemas.microsoft.com/office/drawing/2014/main" id="{314DC9DC-31BC-BF67-32F2-DE76ADF387B4}"/>
              </a:ext>
            </a:extLst>
          </p:cNvPr>
          <p:cNvSpPr/>
          <p:nvPr/>
        </p:nvSpPr>
        <p:spPr>
          <a:xfrm>
            <a:off x="6516624" y="3892296"/>
            <a:ext cx="768096" cy="164592"/>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pic>
        <p:nvPicPr>
          <p:cNvPr id="19" name="Imagen 18">
            <a:extLst>
              <a:ext uri="{FF2B5EF4-FFF2-40B4-BE49-F238E27FC236}">
                <a16:creationId xmlns:a16="http://schemas.microsoft.com/office/drawing/2014/main" id="{896D9BF8-AF79-89E0-163E-D11E40E96F9F}"/>
              </a:ext>
            </a:extLst>
          </p:cNvPr>
          <p:cNvPicPr>
            <a:picLocks noChangeAspect="1"/>
          </p:cNvPicPr>
          <p:nvPr/>
        </p:nvPicPr>
        <p:blipFill>
          <a:blip r:embed="rId4"/>
          <a:stretch>
            <a:fillRect/>
          </a:stretch>
        </p:blipFill>
        <p:spPr>
          <a:xfrm>
            <a:off x="1798349" y="3090672"/>
            <a:ext cx="162000" cy="162000"/>
          </a:xfrm>
          <a:prstGeom prst="rect">
            <a:avLst/>
          </a:prstGeom>
        </p:spPr>
      </p:pic>
      <p:pic>
        <p:nvPicPr>
          <p:cNvPr id="20" name="Imagen 19">
            <a:extLst>
              <a:ext uri="{FF2B5EF4-FFF2-40B4-BE49-F238E27FC236}">
                <a16:creationId xmlns:a16="http://schemas.microsoft.com/office/drawing/2014/main" id="{139646ED-43B0-9735-9106-1E6C096E4E0B}"/>
              </a:ext>
            </a:extLst>
          </p:cNvPr>
          <p:cNvPicPr>
            <a:picLocks noChangeAspect="1"/>
          </p:cNvPicPr>
          <p:nvPr/>
        </p:nvPicPr>
        <p:blipFill>
          <a:blip r:embed="rId4"/>
          <a:stretch>
            <a:fillRect/>
          </a:stretch>
        </p:blipFill>
        <p:spPr>
          <a:xfrm>
            <a:off x="6272532" y="3894888"/>
            <a:ext cx="162000" cy="162000"/>
          </a:xfrm>
          <a:prstGeom prst="rect">
            <a:avLst/>
          </a:prstGeom>
        </p:spPr>
      </p:pic>
      <p:sp>
        <p:nvSpPr>
          <p:cNvPr id="21" name="Rectángulo 20">
            <a:extLst>
              <a:ext uri="{FF2B5EF4-FFF2-40B4-BE49-F238E27FC236}">
                <a16:creationId xmlns:a16="http://schemas.microsoft.com/office/drawing/2014/main" id="{AFB38CE6-D631-6571-2153-0411D74A6FD2}"/>
              </a:ext>
            </a:extLst>
          </p:cNvPr>
          <p:cNvSpPr/>
          <p:nvPr/>
        </p:nvSpPr>
        <p:spPr>
          <a:xfrm>
            <a:off x="2139696" y="2839147"/>
            <a:ext cx="630936" cy="162000"/>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2" name="Rectángulo 21">
            <a:extLst>
              <a:ext uri="{FF2B5EF4-FFF2-40B4-BE49-F238E27FC236}">
                <a16:creationId xmlns:a16="http://schemas.microsoft.com/office/drawing/2014/main" id="{C39BE8CD-33C9-5364-9FE2-6B226D29D66E}"/>
              </a:ext>
            </a:extLst>
          </p:cNvPr>
          <p:cNvSpPr/>
          <p:nvPr/>
        </p:nvSpPr>
        <p:spPr>
          <a:xfrm>
            <a:off x="5909443" y="2801112"/>
            <a:ext cx="630936" cy="162000"/>
          </a:xfrm>
          <a:prstGeom prst="rect">
            <a:avLst/>
          </a:prstGeom>
          <a:noFill/>
          <a:ln w="1905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15057851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2869E-C4CB-BB52-F944-F4EF994F1F82}"/>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E8C1909E-48A7-53F2-2D3F-89B00C183CFC}"/>
              </a:ext>
            </a:extLst>
          </p:cNvPr>
          <p:cNvPicPr>
            <a:picLocks noChangeAspect="1"/>
          </p:cNvPicPr>
          <p:nvPr/>
        </p:nvPicPr>
        <p:blipFill>
          <a:blip r:embed="rId2"/>
          <a:stretch>
            <a:fillRect/>
          </a:stretch>
        </p:blipFill>
        <p:spPr>
          <a:xfrm>
            <a:off x="384811" y="2441896"/>
            <a:ext cx="11405614" cy="1341043"/>
          </a:xfrm>
          <a:prstGeom prst="rect">
            <a:avLst/>
          </a:prstGeom>
        </p:spPr>
      </p:pic>
      <p:sp>
        <p:nvSpPr>
          <p:cNvPr id="2" name="Título 3">
            <a:extLst>
              <a:ext uri="{FF2B5EF4-FFF2-40B4-BE49-F238E27FC236}">
                <a16:creationId xmlns:a16="http://schemas.microsoft.com/office/drawing/2014/main" id="{61257BF3-DCB0-C7E8-5DA7-EE22F7782D82}"/>
              </a:ext>
            </a:extLst>
          </p:cNvPr>
          <p:cNvSpPr txBox="1">
            <a:spLocks/>
          </p:cNvSpPr>
          <p:nvPr/>
        </p:nvSpPr>
        <p:spPr>
          <a:xfrm>
            <a:off x="961640" y="276735"/>
            <a:ext cx="10526542" cy="49083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 </a:t>
            </a:r>
            <a:r>
              <a:rPr lang="es-ES_tradnl" sz="3200" dirty="0"/>
              <a:t>Ellucian EXPERIENCE - DATA CONNECT</a:t>
            </a:r>
            <a:endParaRPr lang="es-CL" sz="3200" dirty="0"/>
          </a:p>
        </p:txBody>
      </p:sp>
      <p:sp>
        <p:nvSpPr>
          <p:cNvPr id="4" name="Rectangle: Rounded Corners 14">
            <a:extLst>
              <a:ext uri="{FF2B5EF4-FFF2-40B4-BE49-F238E27FC236}">
                <a16:creationId xmlns:a16="http://schemas.microsoft.com/office/drawing/2014/main" id="{639A63F8-4F0D-006F-DBEB-94155FBC1FF7}"/>
              </a:ext>
            </a:extLst>
          </p:cNvPr>
          <p:cNvSpPr/>
          <p:nvPr/>
        </p:nvSpPr>
        <p:spPr>
          <a:xfrm>
            <a:off x="384811" y="3620639"/>
            <a:ext cx="4270247" cy="39142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14. Dar </a:t>
            </a:r>
            <a:r>
              <a:rPr lang="es-CO" sz="1200" b="1" dirty="0"/>
              <a:t>ENTER </a:t>
            </a:r>
            <a:r>
              <a:rPr lang="es-CO" sz="1200" dirty="0"/>
              <a:t>- Se descarga archivo </a:t>
            </a:r>
            <a:r>
              <a:rPr lang="es-CO" sz="1200" b="1" dirty="0"/>
              <a:t>.csv</a:t>
            </a:r>
          </a:p>
        </p:txBody>
      </p:sp>
      <p:pic>
        <p:nvPicPr>
          <p:cNvPr id="3" name="Imagen 2">
            <a:extLst>
              <a:ext uri="{FF2B5EF4-FFF2-40B4-BE49-F238E27FC236}">
                <a16:creationId xmlns:a16="http://schemas.microsoft.com/office/drawing/2014/main" id="{20CC4518-C029-708D-9796-A8F9EB4E6291}"/>
              </a:ext>
            </a:extLst>
          </p:cNvPr>
          <p:cNvPicPr>
            <a:picLocks noChangeAspect="1"/>
          </p:cNvPicPr>
          <p:nvPr/>
        </p:nvPicPr>
        <p:blipFill>
          <a:blip r:embed="rId3"/>
          <a:srcRect b="30900"/>
          <a:stretch>
            <a:fillRect/>
          </a:stretch>
        </p:blipFill>
        <p:spPr>
          <a:xfrm>
            <a:off x="393193" y="963779"/>
            <a:ext cx="11405614" cy="942861"/>
          </a:xfrm>
          <a:prstGeom prst="rect">
            <a:avLst/>
          </a:prstGeom>
        </p:spPr>
      </p:pic>
      <p:sp>
        <p:nvSpPr>
          <p:cNvPr id="8" name="Rectangle: Rounded Corners 14">
            <a:extLst>
              <a:ext uri="{FF2B5EF4-FFF2-40B4-BE49-F238E27FC236}">
                <a16:creationId xmlns:a16="http://schemas.microsoft.com/office/drawing/2014/main" id="{BD1E6A55-08F1-4760-99CE-2B78D5B08DB2}"/>
              </a:ext>
            </a:extLst>
          </p:cNvPr>
          <p:cNvSpPr/>
          <p:nvPr/>
        </p:nvSpPr>
        <p:spPr>
          <a:xfrm>
            <a:off x="384811" y="1946828"/>
            <a:ext cx="4270247" cy="34736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13. Pegar en el navegador el texto copiado anteriormente. </a:t>
            </a:r>
          </a:p>
        </p:txBody>
      </p:sp>
      <p:pic>
        <p:nvPicPr>
          <p:cNvPr id="11" name="Imagen 10">
            <a:extLst>
              <a:ext uri="{FF2B5EF4-FFF2-40B4-BE49-F238E27FC236}">
                <a16:creationId xmlns:a16="http://schemas.microsoft.com/office/drawing/2014/main" id="{5685BD6A-4FC9-2D3F-A113-14A6836CFC46}"/>
              </a:ext>
            </a:extLst>
          </p:cNvPr>
          <p:cNvPicPr>
            <a:picLocks noChangeAspect="1"/>
          </p:cNvPicPr>
          <p:nvPr/>
        </p:nvPicPr>
        <p:blipFill>
          <a:blip r:embed="rId4"/>
          <a:stretch>
            <a:fillRect/>
          </a:stretch>
        </p:blipFill>
        <p:spPr>
          <a:xfrm>
            <a:off x="8201827" y="3468644"/>
            <a:ext cx="162000" cy="162000"/>
          </a:xfrm>
          <a:prstGeom prst="rect">
            <a:avLst/>
          </a:prstGeom>
        </p:spPr>
      </p:pic>
      <p:pic>
        <p:nvPicPr>
          <p:cNvPr id="13" name="Imagen 12">
            <a:extLst>
              <a:ext uri="{FF2B5EF4-FFF2-40B4-BE49-F238E27FC236}">
                <a16:creationId xmlns:a16="http://schemas.microsoft.com/office/drawing/2014/main" id="{10700398-797C-6BF6-00F8-1300DC113969}"/>
              </a:ext>
            </a:extLst>
          </p:cNvPr>
          <p:cNvPicPr>
            <a:picLocks noChangeAspect="1"/>
          </p:cNvPicPr>
          <p:nvPr/>
        </p:nvPicPr>
        <p:blipFill>
          <a:blip r:embed="rId5"/>
          <a:stretch>
            <a:fillRect/>
          </a:stretch>
        </p:blipFill>
        <p:spPr>
          <a:xfrm>
            <a:off x="880640" y="1172326"/>
            <a:ext cx="162000" cy="162000"/>
          </a:xfrm>
          <a:prstGeom prst="rect">
            <a:avLst/>
          </a:prstGeom>
        </p:spPr>
      </p:pic>
      <p:sp>
        <p:nvSpPr>
          <p:cNvPr id="14" name="Rectangle: Rounded Corners 9">
            <a:extLst>
              <a:ext uri="{FF2B5EF4-FFF2-40B4-BE49-F238E27FC236}">
                <a16:creationId xmlns:a16="http://schemas.microsoft.com/office/drawing/2014/main" id="{9B6E30FA-0F7D-BF7B-3D48-8C4130D8844A}"/>
              </a:ext>
            </a:extLst>
          </p:cNvPr>
          <p:cNvSpPr/>
          <p:nvPr/>
        </p:nvSpPr>
        <p:spPr>
          <a:xfrm>
            <a:off x="384810" y="5645833"/>
            <a:ext cx="10327406" cy="496775"/>
          </a:xfrm>
          <a:prstGeom prst="roundRect">
            <a:avLst/>
          </a:prstGeom>
          <a:solidFill>
            <a:schemeClr val="accent2">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CO" sz="1200" b="1" dirty="0">
                <a:solidFill>
                  <a:schemeClr val="dk1"/>
                </a:solidFill>
              </a:rPr>
              <a:t>NOTA: </a:t>
            </a:r>
            <a:r>
              <a:rPr lang="es-CO" sz="1200" dirty="0">
                <a:solidFill>
                  <a:schemeClr val="dk1"/>
                </a:solidFill>
              </a:rPr>
              <a:t>Recuperar el</a:t>
            </a:r>
            <a:r>
              <a:rPr lang="es-CO" sz="1200" b="1" dirty="0">
                <a:solidFill>
                  <a:schemeClr val="dk1"/>
                </a:solidFill>
              </a:rPr>
              <a:t> </a:t>
            </a:r>
            <a:r>
              <a:rPr lang="es-CO" sz="1200" dirty="0">
                <a:solidFill>
                  <a:schemeClr val="dk1"/>
                </a:solidFill>
              </a:rPr>
              <a:t>archivo descargado - se guarda en la carpeta de descargas.</a:t>
            </a:r>
          </a:p>
        </p:txBody>
      </p:sp>
      <p:cxnSp>
        <p:nvCxnSpPr>
          <p:cNvPr id="15" name="Conector recto de flecha 14">
            <a:extLst>
              <a:ext uri="{FF2B5EF4-FFF2-40B4-BE49-F238E27FC236}">
                <a16:creationId xmlns:a16="http://schemas.microsoft.com/office/drawing/2014/main" id="{D5DD607D-2844-8C85-E6F4-5B0B762D9B30}"/>
              </a:ext>
            </a:extLst>
          </p:cNvPr>
          <p:cNvCxnSpPr>
            <a:cxnSpLocks/>
          </p:cNvCxnSpPr>
          <p:nvPr/>
        </p:nvCxnSpPr>
        <p:spPr>
          <a:xfrm>
            <a:off x="8421047" y="3539204"/>
            <a:ext cx="3754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ector recto de flecha 16">
            <a:extLst>
              <a:ext uri="{FF2B5EF4-FFF2-40B4-BE49-F238E27FC236}">
                <a16:creationId xmlns:a16="http://schemas.microsoft.com/office/drawing/2014/main" id="{418185FD-E836-D9F5-F3B7-003D76B7E38F}"/>
              </a:ext>
            </a:extLst>
          </p:cNvPr>
          <p:cNvCxnSpPr>
            <a:cxnSpLocks/>
          </p:cNvCxnSpPr>
          <p:nvPr/>
        </p:nvCxnSpPr>
        <p:spPr>
          <a:xfrm>
            <a:off x="1079216" y="1311338"/>
            <a:ext cx="37548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tangle: Rounded Corners 14">
            <a:extLst>
              <a:ext uri="{FF2B5EF4-FFF2-40B4-BE49-F238E27FC236}">
                <a16:creationId xmlns:a16="http://schemas.microsoft.com/office/drawing/2014/main" id="{B1DC69C4-0268-7793-F79C-38889E4F80FB}"/>
              </a:ext>
            </a:extLst>
          </p:cNvPr>
          <p:cNvSpPr/>
          <p:nvPr/>
        </p:nvSpPr>
        <p:spPr>
          <a:xfrm>
            <a:off x="384811" y="4193216"/>
            <a:ext cx="5702807" cy="39142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15. Validar archivo descargado. </a:t>
            </a:r>
            <a:endParaRPr lang="es-CO" sz="1200" b="1" dirty="0"/>
          </a:p>
        </p:txBody>
      </p:sp>
      <p:sp>
        <p:nvSpPr>
          <p:cNvPr id="20" name="Rectangle: Rounded Corners 14">
            <a:extLst>
              <a:ext uri="{FF2B5EF4-FFF2-40B4-BE49-F238E27FC236}">
                <a16:creationId xmlns:a16="http://schemas.microsoft.com/office/drawing/2014/main" id="{9782E8FB-6DBD-FA7F-0B5A-0EB20B7FB623}"/>
              </a:ext>
            </a:extLst>
          </p:cNvPr>
          <p:cNvSpPr/>
          <p:nvPr/>
        </p:nvSpPr>
        <p:spPr>
          <a:xfrm>
            <a:off x="393193" y="4765793"/>
            <a:ext cx="8283702" cy="391423"/>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16. En la última columna del archivo indica "RESPONSE ", se inserta mensaje de cargue exitoso o mensaje de error.</a:t>
            </a:r>
            <a:endParaRPr lang="es-CO" sz="1200" b="1" dirty="0"/>
          </a:p>
        </p:txBody>
      </p:sp>
    </p:spTree>
    <p:extLst>
      <p:ext uri="{BB962C8B-B14F-4D97-AF65-F5344CB8AC3E}">
        <p14:creationId xmlns:p14="http://schemas.microsoft.com/office/powerpoint/2010/main" val="160970809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D8C9E-4AC8-073F-0855-A56B68F89096}"/>
            </a:ext>
          </a:extLst>
        </p:cNvPr>
        <p:cNvGrpSpPr/>
        <p:nvPr/>
      </p:nvGrpSpPr>
      <p:grpSpPr>
        <a:xfrm>
          <a:off x="0" y="0"/>
          <a:ext cx="0" cy="0"/>
          <a:chOff x="0" y="0"/>
          <a:chExt cx="0" cy="0"/>
        </a:xfrm>
      </p:grpSpPr>
      <p:sp>
        <p:nvSpPr>
          <p:cNvPr id="13" name="Título 3">
            <a:extLst>
              <a:ext uri="{FF2B5EF4-FFF2-40B4-BE49-F238E27FC236}">
                <a16:creationId xmlns:a16="http://schemas.microsoft.com/office/drawing/2014/main" id="{8C32E699-4B59-E73B-F75C-8401B59DFA6E}"/>
              </a:ext>
            </a:extLst>
          </p:cNvPr>
          <p:cNvSpPr txBox="1">
            <a:spLocks/>
          </p:cNvSpPr>
          <p:nvPr/>
        </p:nvSpPr>
        <p:spPr>
          <a:xfrm>
            <a:off x="590850" y="319220"/>
            <a:ext cx="10710047"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Procedimiento</a:t>
            </a:r>
            <a:r>
              <a:rPr lang="es-ES_tradnl" sz="3200" b="0" dirty="0">
                <a:solidFill>
                  <a:schemeClr val="accent1"/>
                </a:solidFill>
              </a:rPr>
              <a:t> </a:t>
            </a:r>
            <a:r>
              <a:rPr lang="es-ES_tradnl" sz="3200" dirty="0">
                <a:solidFill>
                  <a:schemeClr val="accent1"/>
                </a:solidFill>
              </a:rPr>
              <a:t>: </a:t>
            </a:r>
            <a:r>
              <a:rPr lang="es-ES" sz="3200" dirty="0"/>
              <a:t>SFARGFE Reglas de estimación de cuotas de inscripción</a:t>
            </a:r>
            <a:endParaRPr lang="es-CL" sz="3200" dirty="0"/>
          </a:p>
        </p:txBody>
      </p:sp>
      <p:pic>
        <p:nvPicPr>
          <p:cNvPr id="14" name="Imagen 13">
            <a:extLst>
              <a:ext uri="{FF2B5EF4-FFF2-40B4-BE49-F238E27FC236}">
                <a16:creationId xmlns:a16="http://schemas.microsoft.com/office/drawing/2014/main" id="{BC8B337A-52DA-43C8-CF6F-09793FD748C8}"/>
              </a:ext>
            </a:extLst>
          </p:cNvPr>
          <p:cNvPicPr>
            <a:picLocks noChangeAspect="1"/>
          </p:cNvPicPr>
          <p:nvPr/>
        </p:nvPicPr>
        <p:blipFill>
          <a:blip r:embed="rId2"/>
          <a:stretch>
            <a:fillRect/>
          </a:stretch>
        </p:blipFill>
        <p:spPr>
          <a:xfrm>
            <a:off x="505356" y="1529567"/>
            <a:ext cx="11181288" cy="2771364"/>
          </a:xfrm>
          <a:prstGeom prst="rect">
            <a:avLst/>
          </a:prstGeom>
        </p:spPr>
      </p:pic>
      <p:sp>
        <p:nvSpPr>
          <p:cNvPr id="15" name="Rectángulo 14">
            <a:extLst>
              <a:ext uri="{FF2B5EF4-FFF2-40B4-BE49-F238E27FC236}">
                <a16:creationId xmlns:a16="http://schemas.microsoft.com/office/drawing/2014/main" id="{F79E2413-5B48-A23F-2D70-3723A835A6A9}"/>
              </a:ext>
            </a:extLst>
          </p:cNvPr>
          <p:cNvSpPr/>
          <p:nvPr/>
        </p:nvSpPr>
        <p:spPr>
          <a:xfrm>
            <a:off x="505356" y="2280980"/>
            <a:ext cx="11181288" cy="57607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ln>
                <a:solidFill>
                  <a:schemeClr val="accent1"/>
                </a:solidFill>
              </a:ln>
            </a:endParaRPr>
          </a:p>
        </p:txBody>
      </p:sp>
      <p:sp>
        <p:nvSpPr>
          <p:cNvPr id="16" name="Rectángulo 15">
            <a:extLst>
              <a:ext uri="{FF2B5EF4-FFF2-40B4-BE49-F238E27FC236}">
                <a16:creationId xmlns:a16="http://schemas.microsoft.com/office/drawing/2014/main" id="{FE3E5E03-11D1-3697-5D54-4883A34DFB1E}"/>
              </a:ext>
            </a:extLst>
          </p:cNvPr>
          <p:cNvSpPr/>
          <p:nvPr/>
        </p:nvSpPr>
        <p:spPr>
          <a:xfrm>
            <a:off x="505356" y="2990983"/>
            <a:ext cx="2429868" cy="14953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dirty="0">
              <a:ln>
                <a:solidFill>
                  <a:schemeClr val="accent1"/>
                </a:solidFill>
              </a:ln>
            </a:endParaRPr>
          </a:p>
        </p:txBody>
      </p:sp>
      <p:sp>
        <p:nvSpPr>
          <p:cNvPr id="17" name="Rectangle: Rounded Corners 14">
            <a:extLst>
              <a:ext uri="{FF2B5EF4-FFF2-40B4-BE49-F238E27FC236}">
                <a16:creationId xmlns:a16="http://schemas.microsoft.com/office/drawing/2014/main" id="{27FE2711-24CF-D98D-CD26-C6071AA724AC}"/>
              </a:ext>
            </a:extLst>
          </p:cNvPr>
          <p:cNvSpPr/>
          <p:nvPr/>
        </p:nvSpPr>
        <p:spPr>
          <a:xfrm>
            <a:off x="590850" y="4764024"/>
            <a:ext cx="8283702" cy="42062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16. Se valida en SFARGFE el registro de la tarifa o regla de cobro insertada mediante archivo .csv</a:t>
            </a:r>
            <a:endParaRPr lang="es-CO" sz="1200" b="1" dirty="0"/>
          </a:p>
        </p:txBody>
      </p:sp>
      <p:pic>
        <p:nvPicPr>
          <p:cNvPr id="19" name="Imagen 18">
            <a:extLst>
              <a:ext uri="{FF2B5EF4-FFF2-40B4-BE49-F238E27FC236}">
                <a16:creationId xmlns:a16="http://schemas.microsoft.com/office/drawing/2014/main" id="{EF6532AB-C097-8027-DD11-16D69E28EEF9}"/>
              </a:ext>
            </a:extLst>
          </p:cNvPr>
          <p:cNvPicPr>
            <a:picLocks noChangeAspect="1"/>
          </p:cNvPicPr>
          <p:nvPr/>
        </p:nvPicPr>
        <p:blipFill>
          <a:blip r:embed="rId3"/>
          <a:stretch>
            <a:fillRect/>
          </a:stretch>
        </p:blipFill>
        <p:spPr>
          <a:xfrm>
            <a:off x="270204" y="2271836"/>
            <a:ext cx="162000" cy="162000"/>
          </a:xfrm>
          <a:prstGeom prst="rect">
            <a:avLst/>
          </a:prstGeom>
        </p:spPr>
      </p:pic>
    </p:spTree>
    <p:extLst>
      <p:ext uri="{BB962C8B-B14F-4D97-AF65-F5344CB8AC3E}">
        <p14:creationId xmlns:p14="http://schemas.microsoft.com/office/powerpoint/2010/main" val="110907926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E3A6D-A306-5DC4-8A6E-FF3C84531BF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F4CB7D-A809-427A-3AFE-40A6FD53BEA3}"/>
              </a:ext>
            </a:extLst>
          </p:cNvPr>
          <p:cNvSpPr txBox="1"/>
          <p:nvPr/>
        </p:nvSpPr>
        <p:spPr>
          <a:xfrm>
            <a:off x="711313" y="3429000"/>
            <a:ext cx="9160030" cy="669094"/>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 typeface="Arial" panose="020B0604020202020204" pitchFamily="34" charset="0"/>
              <a:buNone/>
              <a:tabLst/>
              <a:defRPr/>
            </a:pPr>
            <a:endParaRPr kumimoji="0" lang="en-US" sz="4800" b="1" i="0" u="none" strike="noStrike" kern="1200" cap="none" spc="0" normalizeH="0" baseline="0" noProof="0" dirty="0">
              <a:ln>
                <a:noFill/>
              </a:ln>
              <a:solidFill>
                <a:schemeClr val="bg1"/>
              </a:solidFill>
              <a:effectLst/>
              <a:uLnTx/>
              <a:uFillTx/>
              <a:latin typeface="Aptos" panose="02110004020202020204"/>
              <a:ea typeface="+mn-ea"/>
              <a:cs typeface="+mn-cs"/>
            </a:endParaRPr>
          </a:p>
        </p:txBody>
      </p:sp>
      <p:sp>
        <p:nvSpPr>
          <p:cNvPr id="5" name="CuadroTexto 4">
            <a:extLst>
              <a:ext uri="{FF2B5EF4-FFF2-40B4-BE49-F238E27FC236}">
                <a16:creationId xmlns:a16="http://schemas.microsoft.com/office/drawing/2014/main" id="{C6188E14-1377-409F-A944-5DA0C72778A8}"/>
              </a:ext>
            </a:extLst>
          </p:cNvPr>
          <p:cNvSpPr txBox="1"/>
          <p:nvPr/>
        </p:nvSpPr>
        <p:spPr>
          <a:xfrm>
            <a:off x="591312" y="1490008"/>
            <a:ext cx="11009376" cy="1938992"/>
          </a:xfrm>
          <a:prstGeom prst="rect">
            <a:avLst/>
          </a:prstGeom>
          <a:noFill/>
        </p:spPr>
        <p:txBody>
          <a:bodyPr wrap="square">
            <a:spAutoFit/>
          </a:bodyPr>
          <a:lstStyle/>
          <a:p>
            <a:r>
              <a:rPr lang="es-ES" sz="6000" b="1" dirty="0">
                <a:solidFill>
                  <a:schemeClr val="bg1"/>
                </a:solidFill>
              </a:rPr>
              <a:t>Configuración </a:t>
            </a:r>
            <a:br>
              <a:rPr lang="es-ES" sz="6000" b="1" dirty="0">
                <a:solidFill>
                  <a:schemeClr val="bg1"/>
                </a:solidFill>
              </a:rPr>
            </a:br>
            <a:r>
              <a:rPr lang="es-ES" sz="6000" b="1" dirty="0">
                <a:solidFill>
                  <a:schemeClr val="bg1"/>
                </a:solidFill>
              </a:rPr>
              <a:t>Reglas de Cobro por NRC</a:t>
            </a:r>
            <a:endParaRPr lang="en-US" sz="6000" b="1" dirty="0">
              <a:solidFill>
                <a:schemeClr val="bg1"/>
              </a:solidFill>
            </a:endParaRPr>
          </a:p>
        </p:txBody>
      </p:sp>
      <p:sp>
        <p:nvSpPr>
          <p:cNvPr id="3" name="CuadroTexto 2">
            <a:extLst>
              <a:ext uri="{FF2B5EF4-FFF2-40B4-BE49-F238E27FC236}">
                <a16:creationId xmlns:a16="http://schemas.microsoft.com/office/drawing/2014/main" id="{0C504836-85AC-8FF8-B8B9-F4E0427CB802}"/>
              </a:ext>
            </a:extLst>
          </p:cNvPr>
          <p:cNvSpPr txBox="1"/>
          <p:nvPr/>
        </p:nvSpPr>
        <p:spPr>
          <a:xfrm>
            <a:off x="591312" y="3728762"/>
            <a:ext cx="6094476" cy="369332"/>
          </a:xfrm>
          <a:prstGeom prst="rect">
            <a:avLst/>
          </a:prstGeom>
          <a:noFill/>
        </p:spPr>
        <p:txBody>
          <a:bodyPr wrap="square">
            <a:spAutoFit/>
          </a:bodyPr>
          <a:lstStyle/>
          <a:p>
            <a:pPr marL="0" indent="0">
              <a:buNone/>
            </a:pPr>
            <a:r>
              <a:rPr lang="es-CO" sz="1800" b="1" dirty="0">
                <a:solidFill>
                  <a:schemeClr val="bg1"/>
                </a:solidFill>
              </a:rPr>
              <a:t>Cuentas por Cobrar del Estudiante</a:t>
            </a:r>
            <a:endParaRPr lang="en-US" sz="1800" b="1" dirty="0">
              <a:solidFill>
                <a:schemeClr val="bg1"/>
              </a:solidFill>
            </a:endParaRPr>
          </a:p>
        </p:txBody>
      </p:sp>
    </p:spTree>
    <p:extLst>
      <p:ext uri="{BB962C8B-B14F-4D97-AF65-F5344CB8AC3E}">
        <p14:creationId xmlns:p14="http://schemas.microsoft.com/office/powerpoint/2010/main" val="19981602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F91C4-6244-C6C2-12E0-C0F2313B3A16}"/>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1D88DA6E-26EB-8FA5-F8B6-4C7743ED182E}"/>
              </a:ext>
            </a:extLst>
          </p:cNvPr>
          <p:cNvPicPr>
            <a:picLocks noChangeAspect="1"/>
          </p:cNvPicPr>
          <p:nvPr/>
        </p:nvPicPr>
        <p:blipFill>
          <a:blip r:embed="rId2"/>
          <a:stretch>
            <a:fillRect/>
          </a:stretch>
        </p:blipFill>
        <p:spPr>
          <a:xfrm>
            <a:off x="758312" y="1376982"/>
            <a:ext cx="10665937" cy="1787867"/>
          </a:xfrm>
          <a:prstGeom prst="rect">
            <a:avLst/>
          </a:prstGeom>
        </p:spPr>
      </p:pic>
      <p:sp>
        <p:nvSpPr>
          <p:cNvPr id="2" name="Título 3">
            <a:extLst>
              <a:ext uri="{FF2B5EF4-FFF2-40B4-BE49-F238E27FC236}">
                <a16:creationId xmlns:a16="http://schemas.microsoft.com/office/drawing/2014/main" id="{8DC4CCC9-BD93-C9D1-58A3-70868DE20775}"/>
              </a:ext>
            </a:extLst>
          </p:cNvPr>
          <p:cNvSpPr txBox="1">
            <a:spLocks/>
          </p:cNvSpPr>
          <p:nvPr/>
        </p:nvSpPr>
        <p:spPr>
          <a:xfrm>
            <a:off x="767751" y="478427"/>
            <a:ext cx="10526542"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Configuración</a:t>
            </a:r>
            <a:r>
              <a:rPr lang="es-ES_tradnl" sz="3200" b="0" dirty="0">
                <a:solidFill>
                  <a:schemeClr val="accent1"/>
                </a:solidFill>
              </a:rPr>
              <a:t> </a:t>
            </a:r>
            <a:r>
              <a:rPr lang="es-ES_tradnl" sz="3200" dirty="0">
                <a:solidFill>
                  <a:schemeClr val="accent1"/>
                </a:solidFill>
              </a:rPr>
              <a:t>: </a:t>
            </a:r>
            <a:r>
              <a:rPr lang="es-ES_tradnl" sz="3200" dirty="0"/>
              <a:t>SSADETL Detalle de Horario </a:t>
            </a:r>
            <a:endParaRPr lang="es-CL" sz="3200" dirty="0"/>
          </a:p>
        </p:txBody>
      </p:sp>
      <p:sp>
        <p:nvSpPr>
          <p:cNvPr id="4" name="Rectangle: Rounded Corners 14">
            <a:extLst>
              <a:ext uri="{FF2B5EF4-FFF2-40B4-BE49-F238E27FC236}">
                <a16:creationId xmlns:a16="http://schemas.microsoft.com/office/drawing/2014/main" id="{12B12D6B-8C66-5F02-E49D-9EC0B0ED1EE6}"/>
              </a:ext>
            </a:extLst>
          </p:cNvPr>
          <p:cNvSpPr/>
          <p:nvPr/>
        </p:nvSpPr>
        <p:spPr>
          <a:xfrm>
            <a:off x="908884" y="3396592"/>
            <a:ext cx="5709736" cy="61789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1. Digite o consulte el periodo académico en el cual se requiere definir la regla de cobro por tarifa plana.</a:t>
            </a:r>
          </a:p>
        </p:txBody>
      </p:sp>
      <p:sp>
        <p:nvSpPr>
          <p:cNvPr id="5" name="Rectangle: Rounded Corners 15">
            <a:extLst>
              <a:ext uri="{FF2B5EF4-FFF2-40B4-BE49-F238E27FC236}">
                <a16:creationId xmlns:a16="http://schemas.microsoft.com/office/drawing/2014/main" id="{39CB5AD7-0168-0385-212F-C67C8A9C8029}"/>
              </a:ext>
            </a:extLst>
          </p:cNvPr>
          <p:cNvSpPr/>
          <p:nvPr/>
        </p:nvSpPr>
        <p:spPr>
          <a:xfrm>
            <a:off x="908884" y="4081761"/>
            <a:ext cx="5709736" cy="46902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2. Digite o consulte el NRC de la materia / curso.</a:t>
            </a:r>
          </a:p>
        </p:txBody>
      </p:sp>
      <p:sp>
        <p:nvSpPr>
          <p:cNvPr id="6" name="Rectangle: Rounded Corners 18">
            <a:extLst>
              <a:ext uri="{FF2B5EF4-FFF2-40B4-BE49-F238E27FC236}">
                <a16:creationId xmlns:a16="http://schemas.microsoft.com/office/drawing/2014/main" id="{7D0308D8-3CF1-2BC0-F8FC-1EAD4867B9A0}"/>
              </a:ext>
            </a:extLst>
          </p:cNvPr>
          <p:cNvSpPr/>
          <p:nvPr/>
        </p:nvSpPr>
        <p:spPr>
          <a:xfrm>
            <a:off x="7110984" y="3396592"/>
            <a:ext cx="3743864" cy="61789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4. Presione el botón Ir para pasar a la siguiente sección de la página.</a:t>
            </a:r>
          </a:p>
        </p:txBody>
      </p:sp>
      <p:sp>
        <p:nvSpPr>
          <p:cNvPr id="7" name="Rectangle: Rounded Corners 19">
            <a:extLst>
              <a:ext uri="{FF2B5EF4-FFF2-40B4-BE49-F238E27FC236}">
                <a16:creationId xmlns:a16="http://schemas.microsoft.com/office/drawing/2014/main" id="{BA53E1C1-9986-86DD-F7E2-111D712A4913}"/>
              </a:ext>
            </a:extLst>
          </p:cNvPr>
          <p:cNvSpPr/>
          <p:nvPr/>
        </p:nvSpPr>
        <p:spPr>
          <a:xfrm>
            <a:off x="908884" y="4618061"/>
            <a:ext cx="5709736" cy="61789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3. Al ingresar el periodo y el NRC, el sistema relaciona la información de la </a:t>
            </a:r>
            <a:r>
              <a:rPr lang="es-CO" sz="1200" b="1" dirty="0"/>
              <a:t>Materia</a:t>
            </a:r>
            <a:r>
              <a:rPr lang="es-CO" sz="1200" dirty="0"/>
              <a:t>, el </a:t>
            </a:r>
            <a:r>
              <a:rPr lang="es-CO" sz="1200" b="1" dirty="0"/>
              <a:t>Curso</a:t>
            </a:r>
            <a:r>
              <a:rPr lang="es-CO" sz="1200" dirty="0"/>
              <a:t> y el </a:t>
            </a:r>
            <a:r>
              <a:rPr lang="es-CO" sz="1200" b="1" dirty="0"/>
              <a:t>Título</a:t>
            </a:r>
            <a:r>
              <a:rPr lang="es-CO" sz="1200" dirty="0"/>
              <a:t>.</a:t>
            </a:r>
          </a:p>
        </p:txBody>
      </p:sp>
      <p:sp>
        <p:nvSpPr>
          <p:cNvPr id="8" name="Rectangle: Rounded Corners 9">
            <a:extLst>
              <a:ext uri="{FF2B5EF4-FFF2-40B4-BE49-F238E27FC236}">
                <a16:creationId xmlns:a16="http://schemas.microsoft.com/office/drawing/2014/main" id="{D4810317-4374-6D2D-D4FC-85D449B6B4D8}"/>
              </a:ext>
            </a:extLst>
          </p:cNvPr>
          <p:cNvSpPr/>
          <p:nvPr/>
        </p:nvSpPr>
        <p:spPr>
          <a:xfrm>
            <a:off x="908884" y="5539018"/>
            <a:ext cx="9945964" cy="707603"/>
          </a:xfrm>
          <a:prstGeom prst="roundRect">
            <a:avLst/>
          </a:prstGeom>
          <a:solidFill>
            <a:schemeClr val="accent2">
              <a:lumMod val="40000"/>
              <a:lumOff val="6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just"/>
            <a:r>
              <a:rPr lang="es-CO" sz="1200" b="1" dirty="0">
                <a:solidFill>
                  <a:schemeClr val="dk1"/>
                </a:solidFill>
              </a:rPr>
              <a:t>Reglas de cobro específicas para una Sección:</a:t>
            </a:r>
          </a:p>
          <a:p>
            <a:pPr algn="just"/>
            <a:r>
              <a:rPr lang="es-CO" sz="1200" dirty="0">
                <a:solidFill>
                  <a:schemeClr val="dk1"/>
                </a:solidFill>
              </a:rPr>
              <a:t>Adicional a las reglas de cobros configurables en SFARGFE, es posible definir cargos asociados a la inscripción de un NRC específico, lo cual se desarrollaría en la sección “Cuotas de Sección” de la aplicación SSADETL.</a:t>
            </a:r>
          </a:p>
        </p:txBody>
      </p:sp>
      <p:pic>
        <p:nvPicPr>
          <p:cNvPr id="20" name="Imagen 19">
            <a:extLst>
              <a:ext uri="{FF2B5EF4-FFF2-40B4-BE49-F238E27FC236}">
                <a16:creationId xmlns:a16="http://schemas.microsoft.com/office/drawing/2014/main" id="{FFE229BE-3251-764D-F32C-D94D166CAEF1}"/>
              </a:ext>
            </a:extLst>
          </p:cNvPr>
          <p:cNvPicPr>
            <a:picLocks noChangeAspect="1"/>
          </p:cNvPicPr>
          <p:nvPr/>
        </p:nvPicPr>
        <p:blipFill>
          <a:blip r:embed="rId3"/>
          <a:stretch>
            <a:fillRect/>
          </a:stretch>
        </p:blipFill>
        <p:spPr>
          <a:xfrm>
            <a:off x="10747360" y="2079738"/>
            <a:ext cx="162000" cy="162000"/>
          </a:xfrm>
          <a:prstGeom prst="rect">
            <a:avLst/>
          </a:prstGeom>
        </p:spPr>
      </p:pic>
      <p:pic>
        <p:nvPicPr>
          <p:cNvPr id="22" name="Imagen 21">
            <a:extLst>
              <a:ext uri="{FF2B5EF4-FFF2-40B4-BE49-F238E27FC236}">
                <a16:creationId xmlns:a16="http://schemas.microsoft.com/office/drawing/2014/main" id="{E5D16D1C-5ABC-52BE-A16D-D3DFB6B69436}"/>
              </a:ext>
            </a:extLst>
          </p:cNvPr>
          <p:cNvPicPr>
            <a:picLocks noChangeAspect="1"/>
          </p:cNvPicPr>
          <p:nvPr/>
        </p:nvPicPr>
        <p:blipFill>
          <a:blip r:embed="rId4"/>
          <a:stretch>
            <a:fillRect/>
          </a:stretch>
        </p:blipFill>
        <p:spPr>
          <a:xfrm>
            <a:off x="5850734" y="2047508"/>
            <a:ext cx="162000" cy="162000"/>
          </a:xfrm>
          <a:prstGeom prst="rect">
            <a:avLst/>
          </a:prstGeom>
        </p:spPr>
      </p:pic>
      <p:pic>
        <p:nvPicPr>
          <p:cNvPr id="24" name="Imagen 23">
            <a:extLst>
              <a:ext uri="{FF2B5EF4-FFF2-40B4-BE49-F238E27FC236}">
                <a16:creationId xmlns:a16="http://schemas.microsoft.com/office/drawing/2014/main" id="{BF5CFB29-6B15-242F-A404-D34195D32A3A}"/>
              </a:ext>
            </a:extLst>
          </p:cNvPr>
          <p:cNvPicPr>
            <a:picLocks noChangeAspect="1"/>
          </p:cNvPicPr>
          <p:nvPr/>
        </p:nvPicPr>
        <p:blipFill>
          <a:blip r:embed="rId5"/>
          <a:stretch>
            <a:fillRect/>
          </a:stretch>
        </p:blipFill>
        <p:spPr>
          <a:xfrm>
            <a:off x="972396" y="2040981"/>
            <a:ext cx="162000" cy="162000"/>
          </a:xfrm>
          <a:prstGeom prst="rect">
            <a:avLst/>
          </a:prstGeom>
        </p:spPr>
      </p:pic>
      <p:pic>
        <p:nvPicPr>
          <p:cNvPr id="26" name="Imagen 25">
            <a:extLst>
              <a:ext uri="{FF2B5EF4-FFF2-40B4-BE49-F238E27FC236}">
                <a16:creationId xmlns:a16="http://schemas.microsoft.com/office/drawing/2014/main" id="{FADA773C-6A62-8FE3-DA94-61A16E72F2BF}"/>
              </a:ext>
            </a:extLst>
          </p:cNvPr>
          <p:cNvPicPr>
            <a:picLocks noChangeAspect="1"/>
          </p:cNvPicPr>
          <p:nvPr/>
        </p:nvPicPr>
        <p:blipFill>
          <a:blip r:embed="rId6"/>
          <a:stretch>
            <a:fillRect/>
          </a:stretch>
        </p:blipFill>
        <p:spPr>
          <a:xfrm>
            <a:off x="981540" y="2270915"/>
            <a:ext cx="162000" cy="162000"/>
          </a:xfrm>
          <a:prstGeom prst="rect">
            <a:avLst/>
          </a:prstGeom>
        </p:spPr>
      </p:pic>
    </p:spTree>
    <p:extLst>
      <p:ext uri="{BB962C8B-B14F-4D97-AF65-F5344CB8AC3E}">
        <p14:creationId xmlns:p14="http://schemas.microsoft.com/office/powerpoint/2010/main" val="146351200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7BD3F-01AB-64A8-8AFD-027ADB31DFD1}"/>
            </a:ext>
          </a:extLst>
        </p:cNvPr>
        <p:cNvGrpSpPr/>
        <p:nvPr/>
      </p:nvGrpSpPr>
      <p:grpSpPr>
        <a:xfrm>
          <a:off x="0" y="0"/>
          <a:ext cx="0" cy="0"/>
          <a:chOff x="0" y="0"/>
          <a:chExt cx="0" cy="0"/>
        </a:xfrm>
      </p:grpSpPr>
      <p:pic>
        <p:nvPicPr>
          <p:cNvPr id="3" name="Imagen 2">
            <a:extLst>
              <a:ext uri="{FF2B5EF4-FFF2-40B4-BE49-F238E27FC236}">
                <a16:creationId xmlns:a16="http://schemas.microsoft.com/office/drawing/2014/main" id="{D80D898B-6630-CD3F-B8C4-CBAC2747F5DD}"/>
              </a:ext>
            </a:extLst>
          </p:cNvPr>
          <p:cNvPicPr>
            <a:picLocks noChangeAspect="1"/>
          </p:cNvPicPr>
          <p:nvPr/>
        </p:nvPicPr>
        <p:blipFill>
          <a:blip r:embed="rId2"/>
          <a:stretch>
            <a:fillRect/>
          </a:stretch>
        </p:blipFill>
        <p:spPr>
          <a:xfrm>
            <a:off x="889698" y="1385308"/>
            <a:ext cx="10412604" cy="2850166"/>
          </a:xfrm>
          <a:prstGeom prst="rect">
            <a:avLst/>
          </a:prstGeom>
        </p:spPr>
      </p:pic>
      <p:sp>
        <p:nvSpPr>
          <p:cNvPr id="4" name="Rectangle: Rounded Corners 9">
            <a:extLst>
              <a:ext uri="{FF2B5EF4-FFF2-40B4-BE49-F238E27FC236}">
                <a16:creationId xmlns:a16="http://schemas.microsoft.com/office/drawing/2014/main" id="{E117B241-BF2D-696E-DDE2-FAC37237B044}"/>
              </a:ext>
            </a:extLst>
          </p:cNvPr>
          <p:cNvSpPr/>
          <p:nvPr/>
        </p:nvSpPr>
        <p:spPr>
          <a:xfrm>
            <a:off x="840509" y="4414622"/>
            <a:ext cx="3266795" cy="414729"/>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5. Seleccionar la pestaña Cuotas de sección.</a:t>
            </a:r>
          </a:p>
        </p:txBody>
      </p:sp>
      <p:sp>
        <p:nvSpPr>
          <p:cNvPr id="5" name="Rectangle: Rounded Corners 7">
            <a:extLst>
              <a:ext uri="{FF2B5EF4-FFF2-40B4-BE49-F238E27FC236}">
                <a16:creationId xmlns:a16="http://schemas.microsoft.com/office/drawing/2014/main" id="{79D93702-AE98-D7E8-F8DD-2AA22056C0BD}"/>
              </a:ext>
            </a:extLst>
          </p:cNvPr>
          <p:cNvSpPr/>
          <p:nvPr/>
        </p:nvSpPr>
        <p:spPr>
          <a:xfrm>
            <a:off x="840509" y="5008499"/>
            <a:ext cx="10461793" cy="92576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6. </a:t>
            </a:r>
            <a:r>
              <a:rPr lang="es-ES" sz="1200" dirty="0"/>
              <a:t>En este apartado, por NRC se deberá especificar el Código de Detalle que represente el cargo por inscripción asociado, junto con el monto y el tipo de cuota; este último campo representa el método por el cual se calcularía el cargo del NRC, considerando las opciones: por hora, por créditos, por duración o por tipo de cuota fija (FLAT).</a:t>
            </a:r>
            <a:endParaRPr lang="es-CO" sz="1200" dirty="0"/>
          </a:p>
        </p:txBody>
      </p:sp>
      <p:sp>
        <p:nvSpPr>
          <p:cNvPr id="8" name="Título 3">
            <a:extLst>
              <a:ext uri="{FF2B5EF4-FFF2-40B4-BE49-F238E27FC236}">
                <a16:creationId xmlns:a16="http://schemas.microsoft.com/office/drawing/2014/main" id="{491AF95C-91F3-608D-F8ED-34E822F9E609}"/>
              </a:ext>
            </a:extLst>
          </p:cNvPr>
          <p:cNvSpPr txBox="1">
            <a:spLocks/>
          </p:cNvSpPr>
          <p:nvPr/>
        </p:nvSpPr>
        <p:spPr>
          <a:xfrm>
            <a:off x="767751" y="478427"/>
            <a:ext cx="10526542" cy="898555"/>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Configuración</a:t>
            </a:r>
            <a:r>
              <a:rPr lang="es-ES_tradnl" sz="3200" b="0" dirty="0">
                <a:solidFill>
                  <a:schemeClr val="accent1"/>
                </a:solidFill>
              </a:rPr>
              <a:t> </a:t>
            </a:r>
            <a:r>
              <a:rPr lang="es-ES_tradnl" sz="3200" dirty="0">
                <a:solidFill>
                  <a:schemeClr val="accent1"/>
                </a:solidFill>
              </a:rPr>
              <a:t>: </a:t>
            </a:r>
            <a:r>
              <a:rPr lang="es-ES_tradnl" sz="3200" dirty="0"/>
              <a:t>SSADETL Detalle de Horario </a:t>
            </a:r>
            <a:endParaRPr lang="es-CL" sz="3200" dirty="0"/>
          </a:p>
        </p:txBody>
      </p:sp>
      <p:pic>
        <p:nvPicPr>
          <p:cNvPr id="13" name="Imagen 12">
            <a:extLst>
              <a:ext uri="{FF2B5EF4-FFF2-40B4-BE49-F238E27FC236}">
                <a16:creationId xmlns:a16="http://schemas.microsoft.com/office/drawing/2014/main" id="{28F3B169-3851-0B2E-6732-700F205A7BFF}"/>
              </a:ext>
            </a:extLst>
          </p:cNvPr>
          <p:cNvPicPr>
            <a:picLocks noChangeAspect="1"/>
          </p:cNvPicPr>
          <p:nvPr/>
        </p:nvPicPr>
        <p:blipFill>
          <a:blip r:embed="rId3"/>
          <a:stretch>
            <a:fillRect/>
          </a:stretch>
        </p:blipFill>
        <p:spPr>
          <a:xfrm>
            <a:off x="669365" y="2662690"/>
            <a:ext cx="162000" cy="162000"/>
          </a:xfrm>
          <a:prstGeom prst="rect">
            <a:avLst/>
          </a:prstGeom>
        </p:spPr>
      </p:pic>
      <p:pic>
        <p:nvPicPr>
          <p:cNvPr id="15" name="Imagen 14">
            <a:extLst>
              <a:ext uri="{FF2B5EF4-FFF2-40B4-BE49-F238E27FC236}">
                <a16:creationId xmlns:a16="http://schemas.microsoft.com/office/drawing/2014/main" id="{3CB4B50B-D45F-271F-CC44-69D538AC1C21}"/>
              </a:ext>
            </a:extLst>
          </p:cNvPr>
          <p:cNvPicPr>
            <a:picLocks noChangeAspect="1"/>
          </p:cNvPicPr>
          <p:nvPr/>
        </p:nvPicPr>
        <p:blipFill>
          <a:blip r:embed="rId4"/>
          <a:stretch>
            <a:fillRect/>
          </a:stretch>
        </p:blipFill>
        <p:spPr>
          <a:xfrm>
            <a:off x="1960704" y="2262070"/>
            <a:ext cx="162000" cy="162000"/>
          </a:xfrm>
          <a:prstGeom prst="rect">
            <a:avLst/>
          </a:prstGeom>
        </p:spPr>
      </p:pic>
    </p:spTree>
    <p:extLst>
      <p:ext uri="{BB962C8B-B14F-4D97-AF65-F5344CB8AC3E}">
        <p14:creationId xmlns:p14="http://schemas.microsoft.com/office/powerpoint/2010/main" val="141520080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E89D4C-D98B-B127-1D84-1C4255034378}"/>
            </a:ext>
          </a:extLst>
        </p:cNvPr>
        <p:cNvGrpSpPr/>
        <p:nvPr/>
      </p:nvGrpSpPr>
      <p:grpSpPr>
        <a:xfrm>
          <a:off x="0" y="0"/>
          <a:ext cx="0" cy="0"/>
          <a:chOff x="0" y="0"/>
          <a:chExt cx="0" cy="0"/>
        </a:xfrm>
      </p:grpSpPr>
      <p:sp>
        <p:nvSpPr>
          <p:cNvPr id="4" name="Rectangle: Rounded Corners 9">
            <a:extLst>
              <a:ext uri="{FF2B5EF4-FFF2-40B4-BE49-F238E27FC236}">
                <a16:creationId xmlns:a16="http://schemas.microsoft.com/office/drawing/2014/main" id="{894E7580-1FA9-60DA-0404-581D70AD8276}"/>
              </a:ext>
            </a:extLst>
          </p:cNvPr>
          <p:cNvSpPr/>
          <p:nvPr/>
        </p:nvSpPr>
        <p:spPr>
          <a:xfrm>
            <a:off x="879728" y="5482154"/>
            <a:ext cx="10275230" cy="569626"/>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8. Cada registro también puede ser diferenciado por las variables académicas definidas en el apartado inferior “Currículo del Alumno”, como: nivel, campus, escuela, grado, programa, tipo de campo de estudio, entre otros.</a:t>
            </a:r>
          </a:p>
        </p:txBody>
      </p:sp>
      <p:sp>
        <p:nvSpPr>
          <p:cNvPr id="5" name="Rectangle: Rounded Corners 6">
            <a:extLst>
              <a:ext uri="{FF2B5EF4-FFF2-40B4-BE49-F238E27FC236}">
                <a16:creationId xmlns:a16="http://schemas.microsoft.com/office/drawing/2014/main" id="{E822C0F7-E570-AED6-3919-14671368AA52}"/>
              </a:ext>
            </a:extLst>
          </p:cNvPr>
          <p:cNvSpPr/>
          <p:nvPr/>
        </p:nvSpPr>
        <p:spPr>
          <a:xfrm>
            <a:off x="879728" y="4697603"/>
            <a:ext cx="10275230" cy="60413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7. Dentro de un mismo NRC, pueden haber más de una configuración de cargo asociado por concepto de inscripción, donde cada registro además puede ser diferenciado por las variables académicas definidas en el apartado inferior “Currículo del Alumno” y “Alumno”</a:t>
            </a:r>
          </a:p>
        </p:txBody>
      </p:sp>
      <p:sp>
        <p:nvSpPr>
          <p:cNvPr id="8" name="Título 3">
            <a:extLst>
              <a:ext uri="{FF2B5EF4-FFF2-40B4-BE49-F238E27FC236}">
                <a16:creationId xmlns:a16="http://schemas.microsoft.com/office/drawing/2014/main" id="{79497C19-552F-7274-228B-D3DFA86682C6}"/>
              </a:ext>
            </a:extLst>
          </p:cNvPr>
          <p:cNvSpPr txBox="1">
            <a:spLocks/>
          </p:cNvSpPr>
          <p:nvPr/>
        </p:nvSpPr>
        <p:spPr>
          <a:xfrm>
            <a:off x="968919" y="295547"/>
            <a:ext cx="10526542" cy="56962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Configuración</a:t>
            </a:r>
            <a:r>
              <a:rPr lang="es-ES_tradnl" sz="3200" b="0" dirty="0">
                <a:solidFill>
                  <a:schemeClr val="accent1"/>
                </a:solidFill>
              </a:rPr>
              <a:t> </a:t>
            </a:r>
            <a:r>
              <a:rPr lang="es-ES_tradnl" sz="3200" dirty="0">
                <a:solidFill>
                  <a:schemeClr val="accent1"/>
                </a:solidFill>
              </a:rPr>
              <a:t>: </a:t>
            </a:r>
            <a:r>
              <a:rPr lang="es-ES_tradnl" sz="3200" dirty="0"/>
              <a:t>SSADETL Detalle de Horario C</a:t>
            </a:r>
            <a:endParaRPr lang="es-CL" sz="3200" dirty="0"/>
          </a:p>
        </p:txBody>
      </p:sp>
      <p:pic>
        <p:nvPicPr>
          <p:cNvPr id="13" name="Imagen 12">
            <a:extLst>
              <a:ext uri="{FF2B5EF4-FFF2-40B4-BE49-F238E27FC236}">
                <a16:creationId xmlns:a16="http://schemas.microsoft.com/office/drawing/2014/main" id="{08FEDBAF-AFCD-A619-D34B-7C04FC333622}"/>
              </a:ext>
            </a:extLst>
          </p:cNvPr>
          <p:cNvPicPr>
            <a:picLocks noChangeAspect="1"/>
          </p:cNvPicPr>
          <p:nvPr/>
        </p:nvPicPr>
        <p:blipFill>
          <a:blip r:embed="rId2"/>
          <a:stretch>
            <a:fillRect/>
          </a:stretch>
        </p:blipFill>
        <p:spPr>
          <a:xfrm>
            <a:off x="806919" y="2420591"/>
            <a:ext cx="162000" cy="162000"/>
          </a:xfrm>
          <a:prstGeom prst="rect">
            <a:avLst/>
          </a:prstGeom>
        </p:spPr>
      </p:pic>
      <p:pic>
        <p:nvPicPr>
          <p:cNvPr id="15" name="Imagen 14">
            <a:extLst>
              <a:ext uri="{FF2B5EF4-FFF2-40B4-BE49-F238E27FC236}">
                <a16:creationId xmlns:a16="http://schemas.microsoft.com/office/drawing/2014/main" id="{BFC98813-187E-4CB8-8F7E-C10569FA8030}"/>
              </a:ext>
            </a:extLst>
          </p:cNvPr>
          <p:cNvPicPr>
            <a:picLocks noChangeAspect="1"/>
          </p:cNvPicPr>
          <p:nvPr/>
        </p:nvPicPr>
        <p:blipFill>
          <a:blip r:embed="rId3"/>
          <a:stretch>
            <a:fillRect/>
          </a:stretch>
        </p:blipFill>
        <p:spPr>
          <a:xfrm>
            <a:off x="806919" y="3559097"/>
            <a:ext cx="162000" cy="162000"/>
          </a:xfrm>
          <a:prstGeom prst="rect">
            <a:avLst/>
          </a:prstGeom>
        </p:spPr>
      </p:pic>
      <p:pic>
        <p:nvPicPr>
          <p:cNvPr id="3" name="Imagen 2">
            <a:extLst>
              <a:ext uri="{FF2B5EF4-FFF2-40B4-BE49-F238E27FC236}">
                <a16:creationId xmlns:a16="http://schemas.microsoft.com/office/drawing/2014/main" id="{67508630-2D26-017F-93E7-943FE08BB21F}"/>
              </a:ext>
            </a:extLst>
          </p:cNvPr>
          <p:cNvPicPr>
            <a:picLocks noChangeAspect="1"/>
          </p:cNvPicPr>
          <p:nvPr/>
        </p:nvPicPr>
        <p:blipFill>
          <a:blip r:embed="rId4"/>
          <a:stretch>
            <a:fillRect/>
          </a:stretch>
        </p:blipFill>
        <p:spPr>
          <a:xfrm>
            <a:off x="1069848" y="1268894"/>
            <a:ext cx="9893808" cy="2980000"/>
          </a:xfrm>
          <a:prstGeom prst="rect">
            <a:avLst/>
          </a:prstGeom>
        </p:spPr>
      </p:pic>
    </p:spTree>
    <p:extLst>
      <p:ext uri="{BB962C8B-B14F-4D97-AF65-F5344CB8AC3E}">
        <p14:creationId xmlns:p14="http://schemas.microsoft.com/office/powerpoint/2010/main" val="33618359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053E4-5676-C8A4-EB31-4BB7B9FDEE4A}"/>
            </a:ext>
          </a:extLst>
        </p:cNvPr>
        <p:cNvGrpSpPr/>
        <p:nvPr/>
      </p:nvGrpSpPr>
      <p:grpSpPr>
        <a:xfrm>
          <a:off x="0" y="0"/>
          <a:ext cx="0" cy="0"/>
          <a:chOff x="0" y="0"/>
          <a:chExt cx="0" cy="0"/>
        </a:xfrm>
      </p:grpSpPr>
      <p:sp>
        <p:nvSpPr>
          <p:cNvPr id="3" name="Rectangle: Rounded Corners 9">
            <a:extLst>
              <a:ext uri="{FF2B5EF4-FFF2-40B4-BE49-F238E27FC236}">
                <a16:creationId xmlns:a16="http://schemas.microsoft.com/office/drawing/2014/main" id="{0343952E-9411-4759-7758-84613537F541}"/>
              </a:ext>
            </a:extLst>
          </p:cNvPr>
          <p:cNvSpPr/>
          <p:nvPr/>
        </p:nvSpPr>
        <p:spPr>
          <a:xfrm>
            <a:off x="965215" y="4774212"/>
            <a:ext cx="10273388" cy="898555"/>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just"/>
            <a:r>
              <a:rPr lang="es-CO" sz="1200" dirty="0"/>
              <a:t>9. Cada registro además puede ser diferenciado por las variables académicas definidas en el apartado inferior “Alumno”, como: residencia, atributo del alumno, tarifa, tipo de alumno, cohorte, entre otros.</a:t>
            </a:r>
          </a:p>
        </p:txBody>
      </p:sp>
      <p:sp>
        <p:nvSpPr>
          <p:cNvPr id="7" name="Título 3">
            <a:extLst>
              <a:ext uri="{FF2B5EF4-FFF2-40B4-BE49-F238E27FC236}">
                <a16:creationId xmlns:a16="http://schemas.microsoft.com/office/drawing/2014/main" id="{8473384D-CFB7-3C12-E445-1AE455F4059E}"/>
              </a:ext>
            </a:extLst>
          </p:cNvPr>
          <p:cNvSpPr txBox="1">
            <a:spLocks/>
          </p:cNvSpPr>
          <p:nvPr/>
        </p:nvSpPr>
        <p:spPr>
          <a:xfrm>
            <a:off x="968919" y="295547"/>
            <a:ext cx="10526542" cy="569627"/>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algn="just"/>
            <a:r>
              <a:rPr lang="es-ES_tradnl" sz="3200" dirty="0">
                <a:solidFill>
                  <a:schemeClr val="accent1"/>
                </a:solidFill>
              </a:rPr>
              <a:t>Configuración</a:t>
            </a:r>
            <a:r>
              <a:rPr lang="es-ES_tradnl" sz="3200" b="0" dirty="0">
                <a:solidFill>
                  <a:schemeClr val="accent1"/>
                </a:solidFill>
              </a:rPr>
              <a:t> </a:t>
            </a:r>
            <a:r>
              <a:rPr lang="es-ES_tradnl" sz="3200" dirty="0">
                <a:solidFill>
                  <a:schemeClr val="accent1"/>
                </a:solidFill>
              </a:rPr>
              <a:t>: </a:t>
            </a:r>
            <a:r>
              <a:rPr lang="es-ES_tradnl" sz="3200" dirty="0"/>
              <a:t>SSADETL Detalle de Horario C</a:t>
            </a:r>
            <a:endParaRPr lang="es-CL" sz="3200" dirty="0"/>
          </a:p>
        </p:txBody>
      </p:sp>
      <p:pic>
        <p:nvPicPr>
          <p:cNvPr id="12" name="Imagen 11">
            <a:extLst>
              <a:ext uri="{FF2B5EF4-FFF2-40B4-BE49-F238E27FC236}">
                <a16:creationId xmlns:a16="http://schemas.microsoft.com/office/drawing/2014/main" id="{26F39C12-7BBD-0E38-77CE-B63AB4837484}"/>
              </a:ext>
            </a:extLst>
          </p:cNvPr>
          <p:cNvPicPr>
            <a:picLocks noChangeAspect="1"/>
          </p:cNvPicPr>
          <p:nvPr/>
        </p:nvPicPr>
        <p:blipFill>
          <a:blip r:embed="rId2"/>
          <a:stretch>
            <a:fillRect/>
          </a:stretch>
        </p:blipFill>
        <p:spPr>
          <a:xfrm>
            <a:off x="709102" y="3429000"/>
            <a:ext cx="162000" cy="162000"/>
          </a:xfrm>
          <a:prstGeom prst="rect">
            <a:avLst/>
          </a:prstGeom>
        </p:spPr>
      </p:pic>
      <p:pic>
        <p:nvPicPr>
          <p:cNvPr id="4" name="Imagen 3">
            <a:extLst>
              <a:ext uri="{FF2B5EF4-FFF2-40B4-BE49-F238E27FC236}">
                <a16:creationId xmlns:a16="http://schemas.microsoft.com/office/drawing/2014/main" id="{210B33CD-ECE8-25EE-3E7F-83B606BE692F}"/>
              </a:ext>
            </a:extLst>
          </p:cNvPr>
          <p:cNvPicPr>
            <a:picLocks noChangeAspect="1"/>
          </p:cNvPicPr>
          <p:nvPr/>
        </p:nvPicPr>
        <p:blipFill>
          <a:blip r:embed="rId3"/>
          <a:stretch>
            <a:fillRect/>
          </a:stretch>
        </p:blipFill>
        <p:spPr>
          <a:xfrm>
            <a:off x="965215" y="1330360"/>
            <a:ext cx="10283270" cy="3075871"/>
          </a:xfrm>
          <a:prstGeom prst="rect">
            <a:avLst/>
          </a:prstGeom>
        </p:spPr>
      </p:pic>
    </p:spTree>
    <p:extLst>
      <p:ext uri="{BB962C8B-B14F-4D97-AF65-F5344CB8AC3E}">
        <p14:creationId xmlns:p14="http://schemas.microsoft.com/office/powerpoint/2010/main" val="150048724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0A807-D28A-EF39-6A44-2A2F47786E89}"/>
            </a:ext>
          </a:extLst>
        </p:cNvPr>
        <p:cNvGrpSpPr/>
        <p:nvPr/>
      </p:nvGrpSpPr>
      <p:grpSpPr>
        <a:xfrm>
          <a:off x="0" y="0"/>
          <a:ext cx="0" cy="0"/>
          <a:chOff x="0" y="0"/>
          <a:chExt cx="0" cy="0"/>
        </a:xfrm>
      </p:grpSpPr>
      <p:sp>
        <p:nvSpPr>
          <p:cNvPr id="2" name="Title 15">
            <a:extLst>
              <a:ext uri="{FF2B5EF4-FFF2-40B4-BE49-F238E27FC236}">
                <a16:creationId xmlns:a16="http://schemas.microsoft.com/office/drawing/2014/main" id="{EAA774FF-A16C-0516-8A83-6BE31A595B68}"/>
              </a:ext>
            </a:extLst>
          </p:cNvPr>
          <p:cNvSpPr txBox="1">
            <a:spLocks/>
          </p:cNvSpPr>
          <p:nvPr/>
        </p:nvSpPr>
        <p:spPr>
          <a:xfrm>
            <a:off x="463619" y="1475218"/>
            <a:ext cx="2361877" cy="606699"/>
          </a:xfrm>
          <a:prstGeom prst="rect">
            <a:avLst/>
          </a:prstGeom>
        </p:spPr>
        <p:txBody>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en-US" sz="3600" dirty="0"/>
              <a:t>RESUMEN</a:t>
            </a:r>
          </a:p>
        </p:txBody>
      </p:sp>
      <p:sp>
        <p:nvSpPr>
          <p:cNvPr id="3" name="Text Placeholder 4">
            <a:extLst>
              <a:ext uri="{FF2B5EF4-FFF2-40B4-BE49-F238E27FC236}">
                <a16:creationId xmlns:a16="http://schemas.microsoft.com/office/drawing/2014/main" id="{A4230D26-77A4-9999-B174-9B6175E41799}"/>
              </a:ext>
            </a:extLst>
          </p:cNvPr>
          <p:cNvSpPr txBox="1">
            <a:spLocks/>
          </p:cNvSpPr>
          <p:nvPr/>
        </p:nvSpPr>
        <p:spPr>
          <a:xfrm>
            <a:off x="463619" y="2081917"/>
            <a:ext cx="11118458" cy="3003430"/>
          </a:xfrm>
          <a:prstGeom prst="rect">
            <a:avLst/>
          </a:prstGeom>
        </p:spPr>
        <p:txBody>
          <a:bodyPr/>
          <a:lst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s-ES" sz="2000" dirty="0">
                <a:latin typeface="Helvetica Neue" panose="02000503000000020004" pitchFamily="2" charset="0"/>
              </a:rPr>
              <a:t>Gestionar los conceptos de configuración de la cuenta corriente:</a:t>
            </a:r>
          </a:p>
          <a:p>
            <a:pPr algn="just">
              <a:buBlip>
                <a:blip r:embed="rId2"/>
              </a:buBlip>
            </a:pPr>
            <a:r>
              <a:rPr lang="es-419" sz="2000" dirty="0">
                <a:latin typeface="Helvetica Neue" panose="02000503000000020004" pitchFamily="2" charset="0"/>
              </a:rPr>
              <a:t>Gestionar conceptos de cargo y pago.</a:t>
            </a:r>
          </a:p>
          <a:p>
            <a:pPr algn="just">
              <a:buClr>
                <a:srgbClr val="0CB4B4"/>
              </a:buClr>
              <a:buBlip>
                <a:blip r:embed="rId2"/>
              </a:buBlip>
            </a:pPr>
            <a:r>
              <a:rPr lang="es-419" sz="2000" dirty="0">
                <a:latin typeface="Helvetica Neue" panose="02000503000000020004" pitchFamily="2" charset="0"/>
              </a:rPr>
              <a:t> Se definen las configuraciones generales.</a:t>
            </a:r>
          </a:p>
          <a:p>
            <a:pPr algn="just">
              <a:buClr>
                <a:srgbClr val="0CB4B4"/>
              </a:buClr>
              <a:buBlip>
                <a:blip r:embed="rId2"/>
              </a:buBlip>
            </a:pPr>
            <a:r>
              <a:rPr lang="es-419" sz="2000" dirty="0">
                <a:latin typeface="Helvetica Neue" panose="02000503000000020004" pitchFamily="2" charset="0"/>
              </a:rPr>
              <a:t> Se definen los códigos de detalles que representan los conceptos de cargo y pago.</a:t>
            </a:r>
          </a:p>
          <a:p>
            <a:pPr algn="just">
              <a:buClr>
                <a:srgbClr val="0CB4B4"/>
              </a:buClr>
              <a:buBlip>
                <a:blip r:embed="rId2"/>
              </a:buBlip>
            </a:pPr>
            <a:r>
              <a:rPr lang="es-419" sz="2000" dirty="0">
                <a:latin typeface="Helvetica Neue" panose="02000503000000020004" pitchFamily="2" charset="0"/>
              </a:rPr>
              <a:t> Se establecen el manejo de prioridades.</a:t>
            </a:r>
          </a:p>
          <a:p>
            <a:pPr algn="just">
              <a:buClr>
                <a:srgbClr val="0CB4B4"/>
              </a:buClr>
              <a:buBlip>
                <a:blip r:embed="rId2"/>
              </a:buBlip>
            </a:pPr>
            <a:r>
              <a:rPr lang="es-419" sz="2000" dirty="0">
                <a:latin typeface="Helvetica Neue" panose="02000503000000020004" pitchFamily="2" charset="0"/>
              </a:rPr>
              <a:t> Se definen los conceptos para las reglas de cobro y cargos por inscripción de NRC.</a:t>
            </a:r>
          </a:p>
          <a:p>
            <a:pPr algn="just">
              <a:buClr>
                <a:srgbClr val="0CB4B4"/>
              </a:buClr>
              <a:buBlip>
                <a:blip r:embed="rId2"/>
              </a:buBlip>
            </a:pPr>
            <a:r>
              <a:rPr lang="es-419" sz="2000" dirty="0">
                <a:latin typeface="Helvetica Neue" panose="02000503000000020004" pitchFamily="2" charset="0"/>
              </a:rPr>
              <a:t>Se realiza carga masiva de tarifas - Data Connect.</a:t>
            </a:r>
          </a:p>
        </p:txBody>
      </p:sp>
    </p:spTree>
    <p:extLst>
      <p:ext uri="{BB962C8B-B14F-4D97-AF65-F5344CB8AC3E}">
        <p14:creationId xmlns:p14="http://schemas.microsoft.com/office/powerpoint/2010/main" val="290081278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555C3-54CB-FB22-24D3-CB56D25AA16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8C8C561-01AA-93BA-31A2-AAD8E5DED18B}"/>
              </a:ext>
            </a:extLst>
          </p:cNvPr>
          <p:cNvSpPr>
            <a:spLocks noGrp="1"/>
          </p:cNvSpPr>
          <p:nvPr>
            <p:ph type="body" sz="quarter" idx="11"/>
          </p:nvPr>
        </p:nvSpPr>
        <p:spPr/>
        <p:txBody>
          <a:bodyPr/>
          <a:lstStyle/>
          <a:p>
            <a:r>
              <a:rPr lang="es-CO" dirty="0"/>
              <a:t>Faver Herrera Mejia</a:t>
            </a:r>
            <a:endParaRPr lang="en-US" dirty="0"/>
          </a:p>
        </p:txBody>
      </p:sp>
      <p:sp>
        <p:nvSpPr>
          <p:cNvPr id="3" name="Text Placeholder 2">
            <a:extLst>
              <a:ext uri="{FF2B5EF4-FFF2-40B4-BE49-F238E27FC236}">
                <a16:creationId xmlns:a16="http://schemas.microsoft.com/office/drawing/2014/main" id="{E41D6D2D-BB92-CF38-BDA6-D770C4633ECA}"/>
              </a:ext>
            </a:extLst>
          </p:cNvPr>
          <p:cNvSpPr>
            <a:spLocks noGrp="1"/>
          </p:cNvSpPr>
          <p:nvPr>
            <p:ph type="body" sz="quarter" idx="12"/>
          </p:nvPr>
        </p:nvSpPr>
        <p:spPr/>
        <p:txBody>
          <a:bodyPr/>
          <a:lstStyle/>
          <a:p>
            <a:r>
              <a:rPr lang="es-CO" dirty="0"/>
              <a:t>faver.herreramejia@ellucian.com</a:t>
            </a:r>
            <a:endParaRPr lang="en-US" dirty="0"/>
          </a:p>
        </p:txBody>
      </p:sp>
    </p:spTree>
    <p:extLst>
      <p:ext uri="{BB962C8B-B14F-4D97-AF65-F5344CB8AC3E}">
        <p14:creationId xmlns:p14="http://schemas.microsoft.com/office/powerpoint/2010/main" val="829329984"/>
      </p:ext>
    </p:extLst>
  </p:cSld>
  <p:clrMapOvr>
    <a:masterClrMapping/>
  </p:clrMapOvr>
</p:sld>
</file>

<file path=ppt/theme/theme1.xml><?xml version="1.0" encoding="utf-8"?>
<a:theme xmlns:a="http://schemas.openxmlformats.org/drawingml/2006/main" name="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9275</TotalTime>
  <Words>7963</Words>
  <Application>Microsoft Office PowerPoint</Application>
  <PresentationFormat>Widescreen</PresentationFormat>
  <Paragraphs>447</Paragraphs>
  <Slides>103</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103</vt:i4>
      </vt:variant>
    </vt:vector>
  </HeadingPairs>
  <TitlesOfParts>
    <vt:vector size="113" baseType="lpstr">
      <vt:lpstr>Aptos</vt:lpstr>
      <vt:lpstr>Aptos Display</vt:lpstr>
      <vt:lpstr>Arial</vt:lpstr>
      <vt:lpstr>Century Gothic</vt:lpstr>
      <vt:lpstr>Courier New</vt:lpstr>
      <vt:lpstr>Helvetica Neue</vt:lpstr>
      <vt:lpstr>Wingdings</vt:lpstr>
      <vt:lpstr>Ellucian Main Layouts</vt:lpstr>
      <vt:lpstr>1_Ellucian Main Layouts</vt:lpstr>
      <vt:lpstr>2_Ellucian Main Layouts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DeChurch, Damien</dc:creator>
  <cp:lastModifiedBy>Herrera Mejía, Faver</cp:lastModifiedBy>
  <cp:revision>350</cp:revision>
  <dcterms:created xsi:type="dcterms:W3CDTF">2024-12-23T17:11:20Z</dcterms:created>
  <dcterms:modified xsi:type="dcterms:W3CDTF">2026-06-25T13:49:02Z</dcterms:modified>
</cp:coreProperties>
</file>
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 id="2147483751" r:id="rId2"/>
  </p:sldMasterIdLst>
  <p:notesMasterIdLst>
    <p:notesMasterId r:id="rId29"/>
  </p:notesMasterIdLst>
  <p:sldIdLst>
    <p:sldId id="1274" r:id="rId3"/>
    <p:sldId id="1275" r:id="rId4"/>
    <p:sldId id="1276" r:id="rId5"/>
    <p:sldId id="348" r:id="rId6"/>
    <p:sldId id="1278" r:id="rId7"/>
    <p:sldId id="1251" r:id="rId8"/>
    <p:sldId id="1259" r:id="rId9"/>
    <p:sldId id="1250" r:id="rId10"/>
    <p:sldId id="1280" r:id="rId11"/>
    <p:sldId id="1282" r:id="rId12"/>
    <p:sldId id="1225" r:id="rId13"/>
    <p:sldId id="1261" r:id="rId14"/>
    <p:sldId id="1262" r:id="rId15"/>
    <p:sldId id="1263" r:id="rId16"/>
    <p:sldId id="1283" r:id="rId17"/>
    <p:sldId id="1260" r:id="rId18"/>
    <p:sldId id="1269" r:id="rId19"/>
    <p:sldId id="1264" r:id="rId20"/>
    <p:sldId id="1265" r:id="rId21"/>
    <p:sldId id="1266" r:id="rId22"/>
    <p:sldId id="1267" r:id="rId23"/>
    <p:sldId id="1268" r:id="rId24"/>
    <p:sldId id="1270" r:id="rId25"/>
    <p:sldId id="1271" r:id="rId26"/>
    <p:sldId id="1272" r:id="rId27"/>
    <p:sldId id="127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B06FD8-FBF7-48A6-EC94-7EAC12BBF7D7}" name="Mardones, Francisco" initials="MF" userId="S::Francisco.Mardones@ellucian.com::216dec8c-35d0-45c5-a341-2c26a655750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00B0"/>
    <a:srgbClr val="0CA8B4"/>
    <a:srgbClr val="33CCCC"/>
    <a:srgbClr val="0CB4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741D45-1629-4446-A5E6-D899D9078158}" v="2" dt="2026-04-14T16:29:46.759"/>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Estilo medio 1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34" autoAdjust="0"/>
    <p:restoredTop sz="94660"/>
  </p:normalViewPr>
  <p:slideViewPr>
    <p:cSldViewPr snapToGrid="0">
      <p:cViewPr>
        <p:scale>
          <a:sx n="100" d="100"/>
          <a:sy n="100" d="100"/>
        </p:scale>
        <p:origin x="1008" y="31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48" d="100"/>
          <a:sy n="48" d="100"/>
        </p:scale>
        <p:origin x="2684" y="4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35" Type="http://schemas.microsoft.com/office/2018/10/relationships/authors" Target="author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422212-D69D-41E4-A547-75F507D8A64A}" type="datetimeFigureOut">
              <a:rPr lang="es-CL" smtClean="0"/>
              <a:t>14-04-2026</a:t>
            </a:fld>
            <a:endParaRPr lang="es-CL"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582945-6648-41CA-B880-4B10E0E03327}" type="slidenum">
              <a:rPr lang="es-CL" smtClean="0"/>
              <a:t>‹#›</a:t>
            </a:fld>
            <a:endParaRPr lang="es-CL" dirty="0"/>
          </a:p>
        </p:txBody>
      </p:sp>
    </p:spTree>
    <p:extLst>
      <p:ext uri="{BB962C8B-B14F-4D97-AF65-F5344CB8AC3E}">
        <p14:creationId xmlns:p14="http://schemas.microsoft.com/office/powerpoint/2010/main" val="125908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419"/>
          </a:p>
        </p:txBody>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11</a:t>
            </a:fld>
            <a:endParaRPr lang="en-US"/>
          </a:p>
        </p:txBody>
      </p:sp>
    </p:spTree>
    <p:extLst>
      <p:ext uri="{BB962C8B-B14F-4D97-AF65-F5344CB8AC3E}">
        <p14:creationId xmlns:p14="http://schemas.microsoft.com/office/powerpoint/2010/main" val="234001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419"/>
          </a:p>
        </p:txBody>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12</a:t>
            </a:fld>
            <a:endParaRPr lang="en-US"/>
          </a:p>
        </p:txBody>
      </p:sp>
    </p:spTree>
    <p:extLst>
      <p:ext uri="{BB962C8B-B14F-4D97-AF65-F5344CB8AC3E}">
        <p14:creationId xmlns:p14="http://schemas.microsoft.com/office/powerpoint/2010/main" val="12012444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419"/>
          </a:p>
        </p:txBody>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13</a:t>
            </a:fld>
            <a:endParaRPr lang="en-US"/>
          </a:p>
        </p:txBody>
      </p:sp>
    </p:spTree>
    <p:extLst>
      <p:ext uri="{BB962C8B-B14F-4D97-AF65-F5344CB8AC3E}">
        <p14:creationId xmlns:p14="http://schemas.microsoft.com/office/powerpoint/2010/main" val="10410674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419"/>
          </a:p>
        </p:txBody>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14</a:t>
            </a:fld>
            <a:endParaRPr lang="en-US"/>
          </a:p>
        </p:txBody>
      </p:sp>
    </p:spTree>
    <p:extLst>
      <p:ext uri="{BB962C8B-B14F-4D97-AF65-F5344CB8AC3E}">
        <p14:creationId xmlns:p14="http://schemas.microsoft.com/office/powerpoint/2010/main" val="16517496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419"/>
          </a:p>
        </p:txBody>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16</a:t>
            </a:fld>
            <a:endParaRPr lang="en-US"/>
          </a:p>
        </p:txBody>
      </p:sp>
    </p:spTree>
    <p:extLst>
      <p:ext uri="{BB962C8B-B14F-4D97-AF65-F5344CB8AC3E}">
        <p14:creationId xmlns:p14="http://schemas.microsoft.com/office/powerpoint/2010/main" val="12326429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419"/>
          </a:p>
        </p:txBody>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17</a:t>
            </a:fld>
            <a:endParaRPr lang="en-US"/>
          </a:p>
        </p:txBody>
      </p:sp>
    </p:spTree>
    <p:extLst>
      <p:ext uri="{BB962C8B-B14F-4D97-AF65-F5344CB8AC3E}">
        <p14:creationId xmlns:p14="http://schemas.microsoft.com/office/powerpoint/2010/main" val="33717140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419"/>
          </a:p>
        </p:txBody>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18</a:t>
            </a:fld>
            <a:endParaRPr lang="en-US"/>
          </a:p>
        </p:txBody>
      </p:sp>
    </p:spTree>
    <p:extLst>
      <p:ext uri="{BB962C8B-B14F-4D97-AF65-F5344CB8AC3E}">
        <p14:creationId xmlns:p14="http://schemas.microsoft.com/office/powerpoint/2010/main" val="40354411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419"/>
          </a:p>
        </p:txBody>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19</a:t>
            </a:fld>
            <a:endParaRPr lang="en-US"/>
          </a:p>
        </p:txBody>
      </p:sp>
    </p:spTree>
    <p:extLst>
      <p:ext uri="{BB962C8B-B14F-4D97-AF65-F5344CB8AC3E}">
        <p14:creationId xmlns:p14="http://schemas.microsoft.com/office/powerpoint/2010/main" val="334927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419"/>
          </a:p>
        </p:txBody>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20</a:t>
            </a:fld>
            <a:endParaRPr lang="en-US"/>
          </a:p>
        </p:txBody>
      </p:sp>
    </p:spTree>
    <p:extLst>
      <p:ext uri="{BB962C8B-B14F-4D97-AF65-F5344CB8AC3E}">
        <p14:creationId xmlns:p14="http://schemas.microsoft.com/office/powerpoint/2010/main" val="19563816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419"/>
          </a:p>
        </p:txBody>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21</a:t>
            </a:fld>
            <a:endParaRPr lang="en-US"/>
          </a:p>
        </p:txBody>
      </p:sp>
    </p:spTree>
    <p:extLst>
      <p:ext uri="{BB962C8B-B14F-4D97-AF65-F5344CB8AC3E}">
        <p14:creationId xmlns:p14="http://schemas.microsoft.com/office/powerpoint/2010/main" val="11410758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419"/>
          </a:p>
        </p:txBody>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22</a:t>
            </a:fld>
            <a:endParaRPr lang="en-US"/>
          </a:p>
        </p:txBody>
      </p:sp>
    </p:spTree>
    <p:extLst>
      <p:ext uri="{BB962C8B-B14F-4D97-AF65-F5344CB8AC3E}">
        <p14:creationId xmlns:p14="http://schemas.microsoft.com/office/powerpoint/2010/main" val="26581414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419"/>
          </a:p>
        </p:txBody>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23</a:t>
            </a:fld>
            <a:endParaRPr lang="en-US"/>
          </a:p>
        </p:txBody>
      </p:sp>
    </p:spTree>
    <p:extLst>
      <p:ext uri="{BB962C8B-B14F-4D97-AF65-F5344CB8AC3E}">
        <p14:creationId xmlns:p14="http://schemas.microsoft.com/office/powerpoint/2010/main" val="18074588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419"/>
          </a:p>
        </p:txBody>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24</a:t>
            </a:fld>
            <a:endParaRPr lang="en-US"/>
          </a:p>
        </p:txBody>
      </p:sp>
    </p:spTree>
    <p:extLst>
      <p:ext uri="{BB962C8B-B14F-4D97-AF65-F5344CB8AC3E}">
        <p14:creationId xmlns:p14="http://schemas.microsoft.com/office/powerpoint/2010/main" val="33635367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440251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74846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41959913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220231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818966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686695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4139896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0047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2127665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66522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7183768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2041840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8866362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0169626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22340799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8394536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5667934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909608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3548939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8686599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057511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07582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522876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0609302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6375296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171805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20841575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864919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5212970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6741338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7310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8147606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68278839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811078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0978772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a:t>
            </a:fld>
            <a:endParaRPr lang="es-CL" dirty="0"/>
          </a:p>
        </p:txBody>
      </p:sp>
    </p:spTree>
    <p:extLst>
      <p:ext uri="{BB962C8B-B14F-4D97-AF65-F5344CB8AC3E}">
        <p14:creationId xmlns:p14="http://schemas.microsoft.com/office/powerpoint/2010/main" val="3624596299"/>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a:t>
            </a:fld>
            <a:endParaRPr lang="es-CL" dirty="0"/>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2839382061"/>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Single column layout">
    <p:spTree>
      <p:nvGrpSpPr>
        <p:cNvPr id="1" name=""/>
        <p:cNvGrpSpPr/>
        <p:nvPr/>
      </p:nvGrpSpPr>
      <p:grpSpPr>
        <a:xfrm>
          <a:off x="0" y="0"/>
          <a:ext cx="0" cy="0"/>
          <a:chOff x="0" y="0"/>
          <a:chExt cx="0" cy="0"/>
        </a:xfrm>
      </p:grpSpPr>
      <p:sp>
        <p:nvSpPr>
          <p:cNvPr id="3" name="Content Placeholder 2"/>
          <p:cNvSpPr>
            <a:spLocks noGrp="1"/>
          </p:cNvSpPr>
          <p:nvPr>
            <p:ph idx="1"/>
          </p:nvPr>
        </p:nvSpPr>
        <p:spPr>
          <a:xfrm>
            <a:off x="475488" y="1600200"/>
            <a:ext cx="11267392" cy="4343400"/>
          </a:xfrm>
        </p:spPr>
        <p:txBody>
          <a:bodyPr>
            <a:noAutofit/>
          </a:bodyPr>
          <a:lstStyle>
            <a:lvl1pPr marL="0" indent="0" algn="l" defTabSz="609585" rtl="0" eaLnBrk="1" latinLnBrk="0" hangingPunct="1">
              <a:spcBef>
                <a:spcPts val="1200"/>
              </a:spcBef>
              <a:buFontTx/>
              <a:buNone/>
              <a:defRPr lang="en-US" sz="2133" b="1" kern="1200" dirty="0" smtClean="0">
                <a:solidFill>
                  <a:srgbClr val="45A1AA"/>
                </a:solidFill>
                <a:latin typeface="Arial"/>
                <a:ea typeface="+mn-ea"/>
                <a:cs typeface="Arial"/>
              </a:defRPr>
            </a:lvl1pPr>
            <a:lvl2pPr marL="380990" indent="-380990" algn="l" defTabSz="609585" rtl="0" eaLnBrk="1" latinLnBrk="0" hangingPunct="1">
              <a:lnSpc>
                <a:spcPct val="95000"/>
              </a:lnSpc>
              <a:spcBef>
                <a:spcPts val="1200"/>
              </a:spcBef>
              <a:buClr>
                <a:schemeClr val="tx1"/>
              </a:buClr>
              <a:buFont typeface="Arial" pitchFamily="34" charset="0"/>
              <a:buChar char="•"/>
              <a:defRPr lang="en-US" sz="2133" b="0" kern="1200" dirty="0" smtClean="0">
                <a:solidFill>
                  <a:schemeClr val="tx1"/>
                </a:solidFill>
                <a:latin typeface="Arial"/>
                <a:ea typeface="+mn-ea"/>
                <a:cs typeface="Arial"/>
              </a:defRPr>
            </a:lvl2pPr>
            <a:lvl3pPr marL="683667" indent="-380990" algn="l" defTabSz="609585" rtl="0" eaLnBrk="1" latinLnBrk="0" hangingPunct="1">
              <a:spcBef>
                <a:spcPts val="1200"/>
              </a:spcBef>
              <a:buClr>
                <a:srgbClr val="642673"/>
              </a:buClr>
              <a:buFont typeface="Arial"/>
              <a:buChar char="•"/>
              <a:defRPr lang="en-US" sz="1867" kern="1200" dirty="0" smtClean="0">
                <a:solidFill>
                  <a:srgbClr val="414042"/>
                </a:solidFill>
                <a:latin typeface="Arial"/>
                <a:ea typeface="+mn-ea"/>
                <a:cs typeface="Arial"/>
              </a:defRPr>
            </a:lvl3pPr>
            <a:lvl4pPr marL="916493" indent="-380990" algn="l" defTabSz="609585" rtl="0" eaLnBrk="1" latinLnBrk="0" hangingPunct="1">
              <a:spcBef>
                <a:spcPts val="1200"/>
              </a:spcBef>
              <a:buClr>
                <a:srgbClr val="45A1AA"/>
              </a:buClr>
              <a:buFont typeface="Arial" panose="020B0604020202020204" pitchFamily="34" charset="0"/>
              <a:buChar char="•"/>
              <a:defRPr lang="en-US" sz="1600" kern="1200" dirty="0" smtClean="0">
                <a:solidFill>
                  <a:srgbClr val="414042"/>
                </a:solidFill>
                <a:latin typeface="Arial"/>
                <a:ea typeface="+mn-ea"/>
                <a:cs typeface="Arial"/>
              </a:defRPr>
            </a:lvl4pPr>
            <a:lvl5pPr marL="916493" indent="-380990" algn="l" defTabSz="609585" rtl="0" eaLnBrk="1" latinLnBrk="0" hangingPunct="1">
              <a:spcBef>
                <a:spcPts val="1200"/>
              </a:spcBef>
              <a:buClr>
                <a:srgbClr val="414042"/>
              </a:buClr>
              <a:buFont typeface="Arial" panose="020B0604020202020204" pitchFamily="34" charset="0"/>
              <a:buChar char="̶"/>
              <a:defRPr lang="en-US" sz="1600" kern="1200" dirty="0">
                <a:solidFill>
                  <a:srgbClr val="414042"/>
                </a:solidFill>
                <a:latin typeface="Arial"/>
                <a:ea typeface="+mn-ea"/>
                <a:cs typeface="Arial"/>
              </a:defRPr>
            </a:lvl5pPr>
          </a:lstStyle>
          <a:p>
            <a:pPr marL="457189" lvl="0" indent="-457189" algn="l" defTabSz="609585" rtl="0" eaLnBrk="1" latinLnBrk="0" hangingPunct="1">
              <a:spcBef>
                <a:spcPts val="1600"/>
              </a:spcBef>
              <a:buFontTx/>
              <a:buNone/>
            </a:pPr>
            <a:r>
              <a:rPr lang="en-US" dirty="0"/>
              <a:t>Click to edit Master text styles</a:t>
            </a:r>
          </a:p>
          <a:p>
            <a:pPr marL="230712" lvl="1" indent="-230712" algn="l" defTabSz="609585" rtl="0" eaLnBrk="1" latinLnBrk="0" hangingPunct="1">
              <a:lnSpc>
                <a:spcPct val="95000"/>
              </a:lnSpc>
              <a:spcBef>
                <a:spcPts val="1200"/>
              </a:spcBef>
              <a:buClr>
                <a:schemeClr val="tx1"/>
              </a:buClr>
              <a:buFont typeface="Arial" panose="020B0604020202020204" pitchFamily="34" charset="0"/>
              <a:buChar char="•"/>
            </a:pPr>
            <a:r>
              <a:rPr lang="en-US" dirty="0"/>
              <a:t>Second level</a:t>
            </a:r>
          </a:p>
          <a:p>
            <a:pPr marL="535504" lvl="2" indent="-232828" algn="l" defTabSz="609585" rtl="0" eaLnBrk="1" latinLnBrk="0" hangingPunct="1">
              <a:spcBef>
                <a:spcPts val="1200"/>
              </a:spcBef>
              <a:buClr>
                <a:srgbClr val="642673"/>
              </a:buClr>
              <a:buFont typeface="Arial"/>
              <a:buChar char="•"/>
            </a:pPr>
            <a:r>
              <a:rPr lang="en-US" dirty="0"/>
              <a:t>Third level</a:t>
            </a:r>
          </a:p>
          <a:p>
            <a:pPr marL="766214" lvl="3" indent="-230712" algn="l" defTabSz="609585" rtl="0" eaLnBrk="1" latinLnBrk="0" hangingPunct="1">
              <a:spcBef>
                <a:spcPts val="1200"/>
              </a:spcBef>
              <a:buClr>
                <a:srgbClr val="45A1AA"/>
              </a:buClr>
              <a:buFont typeface="Arial" panose="020B0604020202020204" pitchFamily="34" charset="0"/>
              <a:buChar char="•"/>
            </a:pPr>
            <a:r>
              <a:rPr lang="en-US" dirty="0"/>
              <a:t>Fourth level</a:t>
            </a:r>
          </a:p>
          <a:p>
            <a:pPr marL="1071007" lvl="4" indent="-230712" algn="l" defTabSz="609585" rtl="0" eaLnBrk="1" latinLnBrk="0" hangingPunct="1">
              <a:spcBef>
                <a:spcPts val="1200"/>
              </a:spcBef>
              <a:buClr>
                <a:srgbClr val="414042"/>
              </a:buClr>
              <a:buFont typeface="Arial" panose="020B0604020202020204" pitchFamily="34" charset="0"/>
              <a:buChar char="̶"/>
            </a:pPr>
            <a:r>
              <a:rPr lang="en-US" dirty="0"/>
              <a:t>Fifth level</a:t>
            </a:r>
          </a:p>
        </p:txBody>
      </p:sp>
      <p:sp>
        <p:nvSpPr>
          <p:cNvPr id="5" name="Title Placeholder 1"/>
          <p:cNvSpPr>
            <a:spLocks noGrp="1"/>
          </p:cNvSpPr>
          <p:nvPr>
            <p:ph type="title"/>
          </p:nvPr>
        </p:nvSpPr>
        <p:spPr>
          <a:xfrm>
            <a:off x="475488" y="487681"/>
            <a:ext cx="11267392" cy="582679"/>
          </a:xfrm>
          <a:prstGeom prst="rect">
            <a:avLst/>
          </a:prstGeom>
        </p:spPr>
        <p:txBody>
          <a:bodyPr vert="horz" lIns="0" tIns="0" rIns="0" bIns="0" rtlCol="0" anchor="t">
            <a:noAutofit/>
          </a:bodyPr>
          <a:lstStyle/>
          <a:p>
            <a:r>
              <a:rPr lang="en-US" dirty="0"/>
              <a:t>Click to edit Master title style</a:t>
            </a:r>
          </a:p>
        </p:txBody>
      </p:sp>
    </p:spTree>
    <p:extLst>
      <p:ext uri="{BB962C8B-B14F-4D97-AF65-F5344CB8AC3E}">
        <p14:creationId xmlns:p14="http://schemas.microsoft.com/office/powerpoint/2010/main" val="1128343638"/>
      </p:ext>
    </p:extLst>
  </p:cSld>
  <p:clrMapOvr>
    <a:masterClrMapping/>
  </p:clrMapOvr>
  <p:transition spd="slow">
    <p:wipe dir="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020769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71458703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49351346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4397043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4906036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27693336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48903591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61281643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414770064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14873101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05201090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30610595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26080483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58895518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15013827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67523774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79450206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42490735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6843315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sv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18" Type="http://schemas.openxmlformats.org/officeDocument/2006/relationships/slideLayout" Target="../slideLayouts/slideLayout5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17" Type="http://schemas.openxmlformats.org/officeDocument/2006/relationships/slideLayout" Target="../slideLayouts/slideLayout54.xml"/><Relationship Id="rId2" Type="http://schemas.openxmlformats.org/officeDocument/2006/relationships/slideLayout" Target="../slideLayouts/slideLayout39.xml"/><Relationship Id="rId16" Type="http://schemas.openxmlformats.org/officeDocument/2006/relationships/slideLayout" Target="../slideLayouts/slideLayout53.xml"/><Relationship Id="rId20" Type="http://schemas.openxmlformats.org/officeDocument/2006/relationships/theme" Target="../theme/theme2.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slideLayout" Target="../slideLayouts/slideLayout52.xml"/><Relationship Id="rId10" Type="http://schemas.openxmlformats.org/officeDocument/2006/relationships/slideLayout" Target="../slideLayouts/slideLayout47.xml"/><Relationship Id="rId19" Type="http://schemas.openxmlformats.org/officeDocument/2006/relationships/slideLayout" Target="../slideLayouts/slideLayout56.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127361715"/>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 id="2147483739" r:id="rId28"/>
    <p:sldLayoutId id="2147483740" r:id="rId29"/>
    <p:sldLayoutId id="2147483741" r:id="rId30"/>
    <p:sldLayoutId id="2147483742" r:id="rId31"/>
    <p:sldLayoutId id="2147483743" r:id="rId32"/>
    <p:sldLayoutId id="2147483744" r:id="rId33"/>
    <p:sldLayoutId id="2147483745" r:id="rId34"/>
    <p:sldLayoutId id="2147483747" r:id="rId35"/>
    <p:sldLayoutId id="2147483748" r:id="rId36"/>
    <p:sldLayoutId id="2147483774" r:id="rId37"/>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255528"/>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 id="2147483765" r:id="rId14"/>
    <p:sldLayoutId id="2147483766" r:id="rId15"/>
    <p:sldLayoutId id="2147483767" r:id="rId16"/>
    <p:sldLayoutId id="2147483768" r:id="rId17"/>
    <p:sldLayoutId id="2147483769" r:id="rId18"/>
    <p:sldLayoutId id="2147483770"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3111A-76FE-3335-54BD-330444BFEB3E}"/>
            </a:ext>
          </a:extLst>
        </p:cNvPr>
        <p:cNvGrpSpPr/>
        <p:nvPr/>
      </p:nvGrpSpPr>
      <p:grpSpPr>
        <a:xfrm>
          <a:off x="0" y="0"/>
          <a:ext cx="0" cy="0"/>
          <a:chOff x="0" y="0"/>
          <a:chExt cx="0" cy="0"/>
        </a:xfrm>
      </p:grpSpPr>
      <p:sp>
        <p:nvSpPr>
          <p:cNvPr id="3" name="Marcador de texto 2">
            <a:extLst>
              <a:ext uri="{FF2B5EF4-FFF2-40B4-BE49-F238E27FC236}">
                <a16:creationId xmlns:a16="http://schemas.microsoft.com/office/drawing/2014/main" id="{FF4E5E8D-6DFC-938C-20CD-36ED4D9CB1FA}"/>
              </a:ext>
            </a:extLst>
          </p:cNvPr>
          <p:cNvSpPr>
            <a:spLocks noGrp="1"/>
          </p:cNvSpPr>
          <p:nvPr>
            <p:ph type="body" sz="quarter" idx="10"/>
          </p:nvPr>
        </p:nvSpPr>
        <p:spPr>
          <a:xfrm>
            <a:off x="556902" y="2249757"/>
            <a:ext cx="5427132" cy="1222707"/>
          </a:xfrm>
        </p:spPr>
        <p:txBody>
          <a:bodyPr/>
          <a:lstStyle/>
          <a:p>
            <a:r>
              <a:rPr lang="es-ES" sz="4400" dirty="0"/>
              <a:t>Evaluar la solicitud de admisión</a:t>
            </a:r>
            <a:endParaRPr lang="es-419" noProof="0" dirty="0">
              <a:latin typeface="+mj-lt"/>
            </a:endParaRPr>
          </a:p>
        </p:txBody>
      </p:sp>
      <p:sp>
        <p:nvSpPr>
          <p:cNvPr id="4" name="Marcador de texto 3">
            <a:extLst>
              <a:ext uri="{FF2B5EF4-FFF2-40B4-BE49-F238E27FC236}">
                <a16:creationId xmlns:a16="http://schemas.microsoft.com/office/drawing/2014/main" id="{AAE3A3C6-D149-08BA-ED2F-AE377D569B85}"/>
              </a:ext>
            </a:extLst>
          </p:cNvPr>
          <p:cNvSpPr>
            <a:spLocks noGrp="1"/>
          </p:cNvSpPr>
          <p:nvPr>
            <p:ph type="body" sz="quarter" idx="11"/>
          </p:nvPr>
        </p:nvSpPr>
        <p:spPr>
          <a:xfrm>
            <a:off x="556902" y="4116116"/>
            <a:ext cx="5427132" cy="292452"/>
          </a:xfrm>
        </p:spPr>
        <p:txBody>
          <a:bodyPr/>
          <a:lstStyle/>
          <a:p>
            <a:r>
              <a:rPr lang="es-419" sz="1800" noProof="0" dirty="0"/>
              <a:t>Instructivo</a:t>
            </a:r>
            <a:endParaRPr lang="es-419" noProof="0" dirty="0"/>
          </a:p>
        </p:txBody>
      </p:sp>
      <p:sp>
        <p:nvSpPr>
          <p:cNvPr id="5" name="Marcador de texto 4">
            <a:extLst>
              <a:ext uri="{FF2B5EF4-FFF2-40B4-BE49-F238E27FC236}">
                <a16:creationId xmlns:a16="http://schemas.microsoft.com/office/drawing/2014/main" id="{D3D8B592-84E8-2F79-BA83-B95FC08180BA}"/>
              </a:ext>
            </a:extLst>
          </p:cNvPr>
          <p:cNvSpPr>
            <a:spLocks noGrp="1"/>
          </p:cNvSpPr>
          <p:nvPr>
            <p:ph type="body" sz="quarter" idx="12"/>
          </p:nvPr>
        </p:nvSpPr>
        <p:spPr>
          <a:xfrm>
            <a:off x="556902" y="5609784"/>
            <a:ext cx="3032274" cy="398058"/>
          </a:xfrm>
        </p:spPr>
        <p:txBody>
          <a:bodyPr/>
          <a:lstStyle/>
          <a:p>
            <a:r>
              <a:rPr lang="es-419" noProof="0" dirty="0"/>
              <a:t>Consultor</a:t>
            </a:r>
          </a:p>
          <a:p>
            <a:r>
              <a:rPr lang="es-419" dirty="0"/>
              <a:t>Cargo</a:t>
            </a:r>
            <a:endParaRPr lang="es-419" noProof="0" dirty="0"/>
          </a:p>
        </p:txBody>
      </p:sp>
      <p:sp>
        <p:nvSpPr>
          <p:cNvPr id="6" name="Marcador de texto 5">
            <a:extLst>
              <a:ext uri="{FF2B5EF4-FFF2-40B4-BE49-F238E27FC236}">
                <a16:creationId xmlns:a16="http://schemas.microsoft.com/office/drawing/2014/main" id="{B2C5C510-4E88-0504-97BA-59655CB30491}"/>
              </a:ext>
            </a:extLst>
          </p:cNvPr>
          <p:cNvSpPr>
            <a:spLocks noGrp="1"/>
          </p:cNvSpPr>
          <p:nvPr>
            <p:ph type="body" sz="quarter" idx="13"/>
          </p:nvPr>
        </p:nvSpPr>
        <p:spPr/>
        <p:txBody>
          <a:bodyPr/>
          <a:lstStyle/>
          <a:p>
            <a:r>
              <a:rPr lang="es-419" noProof="0" dirty="0"/>
              <a:t>Mes, Año</a:t>
            </a:r>
          </a:p>
        </p:txBody>
      </p:sp>
      <p:pic>
        <p:nvPicPr>
          <p:cNvPr id="9" name="Marcador de posición de imagen 8" descr="Mujer sentada en un escritorio&#10;&#10;El contenido generado por IA puede ser incorrecto.">
            <a:extLst>
              <a:ext uri="{FF2B5EF4-FFF2-40B4-BE49-F238E27FC236}">
                <a16:creationId xmlns:a16="http://schemas.microsoft.com/office/drawing/2014/main" id="{C567C05B-E37F-461D-DB7D-FF1CE8900358}"/>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17881" r="17881"/>
          <a:stretch>
            <a:fillRect/>
          </a:stretch>
        </p:blipFill>
        <p:spPr/>
      </p:pic>
    </p:spTree>
    <p:extLst>
      <p:ext uri="{BB962C8B-B14F-4D97-AF65-F5344CB8AC3E}">
        <p14:creationId xmlns:p14="http://schemas.microsoft.com/office/powerpoint/2010/main" val="1434090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6FBF7-0F29-5FC9-7852-E5ED22275FD8}"/>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D8721FE2-9EB5-6B90-ED74-CBF10C5A06B9}"/>
              </a:ext>
            </a:extLst>
          </p:cNvPr>
          <p:cNvSpPr>
            <a:spLocks noGrp="1"/>
          </p:cNvSpPr>
          <p:nvPr>
            <p:ph type="body" orient="vert" sz="quarter" idx="10"/>
          </p:nvPr>
        </p:nvSpPr>
        <p:spPr/>
        <p:txBody>
          <a:bodyPr/>
          <a:lstStyle/>
          <a:p>
            <a:r>
              <a:rPr lang="es-ES" dirty="0"/>
              <a:t>Evaluar la solicitud de admisión</a:t>
            </a:r>
            <a:endParaRPr lang="es-419" sz="800" dirty="0"/>
          </a:p>
        </p:txBody>
      </p:sp>
      <p:sp>
        <p:nvSpPr>
          <p:cNvPr id="18" name="Slide Number Placeholder 17">
            <a:extLst>
              <a:ext uri="{FF2B5EF4-FFF2-40B4-BE49-F238E27FC236}">
                <a16:creationId xmlns:a16="http://schemas.microsoft.com/office/drawing/2014/main" id="{FD6775DF-B19C-6E75-AA15-1FD8D68FF9A7}"/>
              </a:ext>
            </a:extLst>
          </p:cNvPr>
          <p:cNvSpPr>
            <a:spLocks noGrp="1"/>
          </p:cNvSpPr>
          <p:nvPr>
            <p:ph type="sldNum" sz="quarter" idx="4"/>
          </p:nvPr>
        </p:nvSpPr>
        <p:spPr/>
        <p:txBody>
          <a:bodyPr/>
          <a:lstStyle/>
          <a:p>
            <a:fld id="{4A16F8ED-7337-F64C-865A-41A1F48E54DF}" type="slidenum">
              <a:rPr lang="en-US" smtClean="0"/>
              <a:pPr/>
              <a:t>2</a:t>
            </a:fld>
            <a:endParaRPr lang="en-US" dirty="0"/>
          </a:p>
        </p:txBody>
      </p:sp>
      <p:graphicFrame>
        <p:nvGraphicFramePr>
          <p:cNvPr id="4" name="Table 2">
            <a:extLst>
              <a:ext uri="{FF2B5EF4-FFF2-40B4-BE49-F238E27FC236}">
                <a16:creationId xmlns:a16="http://schemas.microsoft.com/office/drawing/2014/main" id="{2127A2A7-90B7-66B3-7761-78F3A6E62CC1}"/>
              </a:ext>
            </a:extLst>
          </p:cNvPr>
          <p:cNvGraphicFramePr>
            <a:graphicFrameLocks noGrp="1"/>
          </p:cNvGraphicFramePr>
          <p:nvPr>
            <p:extLst>
              <p:ext uri="{D42A27DB-BD31-4B8C-83A1-F6EECF244321}">
                <p14:modId xmlns:p14="http://schemas.microsoft.com/office/powerpoint/2010/main" val="4027519896"/>
              </p:ext>
            </p:extLst>
          </p:nvPr>
        </p:nvGraphicFramePr>
        <p:xfrm>
          <a:off x="786088" y="1651015"/>
          <a:ext cx="9058128" cy="2442597"/>
        </p:xfrm>
        <a:graphic>
          <a:graphicData uri="http://schemas.openxmlformats.org/drawingml/2006/table">
            <a:tbl>
              <a:tblPr>
                <a:tableStyleId>{5C22544A-7EE6-4342-B048-85BDC9FD1C3A}</a:tableStyleId>
              </a:tblPr>
              <a:tblGrid>
                <a:gridCol w="930128">
                  <a:extLst>
                    <a:ext uri="{9D8B030D-6E8A-4147-A177-3AD203B41FA5}">
                      <a16:colId xmlns:a16="http://schemas.microsoft.com/office/drawing/2014/main" val="1835725686"/>
                    </a:ext>
                  </a:extLst>
                </a:gridCol>
                <a:gridCol w="8128000">
                  <a:extLst>
                    <a:ext uri="{9D8B030D-6E8A-4147-A177-3AD203B41FA5}">
                      <a16:colId xmlns:a16="http://schemas.microsoft.com/office/drawing/2014/main" val="52046442"/>
                    </a:ext>
                  </a:extLst>
                </a:gridCol>
              </a:tblGrid>
              <a:tr h="814199">
                <a:tc>
                  <a:txBody>
                    <a:bodyPr/>
                    <a:lstStyle/>
                    <a:p>
                      <a:r>
                        <a:rPr lang="en-US" sz="2800" b="1" dirty="0">
                          <a:solidFill>
                            <a:schemeClr val="bg1"/>
                          </a:solidFill>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Overview</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n-US" sz="2800" b="1" dirty="0">
                          <a:solidFill>
                            <a:schemeClr val="bg1"/>
                          </a:solidFill>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Asignar decisiones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s-419" sz="2800" b="1" noProof="0" dirty="0">
                          <a:solidFill>
                            <a:schemeClr val="bg1"/>
                          </a:solidFill>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CO" sz="2800" b="1" noProof="0" dirty="0">
                          <a:solidFill>
                            <a:schemeClr val="bg1"/>
                          </a:solidFill>
                        </a:rPr>
                        <a:t>Resumen</a:t>
                      </a:r>
                      <a:endParaRPr lang="es-419" sz="2800" b="1" noProof="0" dirty="0">
                        <a:solidFill>
                          <a:schemeClr val="bg1"/>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936347"/>
                  </a:ext>
                </a:extLst>
              </a:tr>
            </a:tbl>
          </a:graphicData>
        </a:graphic>
      </p:graphicFrame>
    </p:spTree>
    <p:extLst>
      <p:ext uri="{BB962C8B-B14F-4D97-AF65-F5344CB8AC3E}">
        <p14:creationId xmlns:p14="http://schemas.microsoft.com/office/powerpoint/2010/main" val="1378977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4FB36-EE72-044B-DBCC-52C090DF1C09}"/>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DC1541D4-10D9-C735-7155-F3218C325545}"/>
              </a:ext>
            </a:extLst>
          </p:cNvPr>
          <p:cNvSpPr>
            <a:spLocks noGrp="1"/>
          </p:cNvSpPr>
          <p:nvPr>
            <p:ph type="body" orient="vert" sz="quarter" idx="10"/>
          </p:nvPr>
        </p:nvSpPr>
        <p:spPr/>
        <p:txBody>
          <a:bodyPr/>
          <a:lstStyle/>
          <a:p>
            <a:r>
              <a:rPr lang="es-ES" dirty="0"/>
              <a:t>Evaluar la solicitud de admisión</a:t>
            </a:r>
            <a:endParaRPr lang="es-419" sz="800" dirty="0"/>
          </a:p>
        </p:txBody>
      </p:sp>
      <p:sp>
        <p:nvSpPr>
          <p:cNvPr id="16" name="Title 15">
            <a:extLst>
              <a:ext uri="{FF2B5EF4-FFF2-40B4-BE49-F238E27FC236}">
                <a16:creationId xmlns:a16="http://schemas.microsoft.com/office/drawing/2014/main" id="{9F226E22-530C-4D38-7738-CD7B67EF7832}"/>
              </a:ext>
            </a:extLst>
          </p:cNvPr>
          <p:cNvSpPr>
            <a:spLocks noGrp="1"/>
          </p:cNvSpPr>
          <p:nvPr>
            <p:ph type="title"/>
          </p:nvPr>
        </p:nvSpPr>
        <p:spPr/>
        <p:txBody>
          <a:bodyPr/>
          <a:lstStyle/>
          <a:p>
            <a:r>
              <a:rPr lang="en-US" sz="3200" b="1" dirty="0">
                <a:solidFill>
                  <a:schemeClr val="bg1"/>
                </a:solidFill>
              </a:rPr>
              <a:t>Overview</a:t>
            </a:r>
          </a:p>
        </p:txBody>
      </p:sp>
      <p:sp>
        <p:nvSpPr>
          <p:cNvPr id="18" name="Slide Number Placeholder 17">
            <a:extLst>
              <a:ext uri="{FF2B5EF4-FFF2-40B4-BE49-F238E27FC236}">
                <a16:creationId xmlns:a16="http://schemas.microsoft.com/office/drawing/2014/main" id="{1F4E1E48-DF5A-3E66-8E42-0E429253C72D}"/>
              </a:ext>
            </a:extLst>
          </p:cNvPr>
          <p:cNvSpPr>
            <a:spLocks noGrp="1"/>
          </p:cNvSpPr>
          <p:nvPr>
            <p:ph type="sldNum" sz="quarter" idx="4"/>
          </p:nvPr>
        </p:nvSpPr>
        <p:spPr/>
        <p:txBody>
          <a:bodyPr/>
          <a:lstStyle/>
          <a:p>
            <a:fld id="{4A16F8ED-7337-F64C-865A-41A1F48E54DF}" type="slidenum">
              <a:rPr lang="en-US" smtClean="0"/>
              <a:pPr/>
              <a:t>3</a:t>
            </a:fld>
            <a:endParaRPr lang="en-US" dirty="0"/>
          </a:p>
        </p:txBody>
      </p:sp>
    </p:spTree>
    <p:extLst>
      <p:ext uri="{BB962C8B-B14F-4D97-AF65-F5344CB8AC3E}">
        <p14:creationId xmlns:p14="http://schemas.microsoft.com/office/powerpoint/2010/main" val="2758977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tical Text Placeholder 3">
            <a:extLst>
              <a:ext uri="{FF2B5EF4-FFF2-40B4-BE49-F238E27FC236}">
                <a16:creationId xmlns:a16="http://schemas.microsoft.com/office/drawing/2014/main" id="{E84A95C1-A1C4-874B-A0F8-44AB6CD99FF1}"/>
              </a:ext>
            </a:extLst>
          </p:cNvPr>
          <p:cNvSpPr>
            <a:spLocks noGrp="1"/>
          </p:cNvSpPr>
          <p:nvPr>
            <p:ph type="body" orient="vert" sz="quarter" idx="17"/>
          </p:nvPr>
        </p:nvSpPr>
        <p:spPr/>
        <p:txBody>
          <a:bodyPr/>
          <a:lstStyle/>
          <a:p>
            <a:r>
              <a:rPr lang="es-419" sz="1200" dirty="0"/>
              <a:t>Crear solicitudes de admisión</a:t>
            </a:r>
            <a:endParaRPr lang="en-US" dirty="0"/>
          </a:p>
        </p:txBody>
      </p:sp>
      <p:sp>
        <p:nvSpPr>
          <p:cNvPr id="17" name="Slide Number Placeholder 16">
            <a:extLst>
              <a:ext uri="{FF2B5EF4-FFF2-40B4-BE49-F238E27FC236}">
                <a16:creationId xmlns:a16="http://schemas.microsoft.com/office/drawing/2014/main" id="{8AC1633D-9215-2128-452C-BEE52AEB6D5E}"/>
              </a:ext>
            </a:extLst>
          </p:cNvPr>
          <p:cNvSpPr>
            <a:spLocks noGrp="1"/>
          </p:cNvSpPr>
          <p:nvPr>
            <p:ph type="sldNum" sz="quarter" idx="4"/>
          </p:nvPr>
        </p:nvSpPr>
        <p:spPr/>
        <p:txBody>
          <a:bodyPr/>
          <a:lstStyle/>
          <a:p>
            <a:fld id="{4A16F8ED-7337-F64C-865A-41A1F48E54DF}" type="slidenum">
              <a:rPr lang="en-US" smtClean="0"/>
              <a:pPr/>
              <a:t>4</a:t>
            </a:fld>
            <a:endParaRPr lang="en-US" dirty="0"/>
          </a:p>
        </p:txBody>
      </p:sp>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08268"/>
            <a:ext cx="9418021" cy="898555"/>
          </a:xfrm>
        </p:spPr>
        <p:txBody>
          <a:bodyPr/>
          <a:lstStyle/>
          <a:p>
            <a:r>
              <a:rPr lang="es-ES_tradnl" sz="3200" dirty="0">
                <a:solidFill>
                  <a:schemeClr val="tx2"/>
                </a:solidFill>
              </a:rPr>
              <a:t>Overview: </a:t>
            </a:r>
            <a:r>
              <a:rPr lang="es-ES_tradnl" sz="3200" b="1" dirty="0">
                <a:solidFill>
                  <a:schemeClr val="tx2"/>
                </a:solidFill>
              </a:rPr>
              <a:t>Mapa de capacidades</a:t>
            </a:r>
            <a:endParaRPr lang="en-US" dirty="0"/>
          </a:p>
        </p:txBody>
      </p:sp>
      <p:pic>
        <p:nvPicPr>
          <p:cNvPr id="5" name="Imagen 2">
            <a:extLst>
              <a:ext uri="{FF2B5EF4-FFF2-40B4-BE49-F238E27FC236}">
                <a16:creationId xmlns:a16="http://schemas.microsoft.com/office/drawing/2014/main" id="{911D7325-C46C-1AEC-08B6-C55A90B2B5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6432" y="1070392"/>
            <a:ext cx="10431829" cy="4915227"/>
          </a:xfrm>
          <a:prstGeom prst="rect">
            <a:avLst/>
          </a:prstGeom>
        </p:spPr>
      </p:pic>
      <p:sp>
        <p:nvSpPr>
          <p:cNvPr id="6" name="Rectangle 5">
            <a:extLst>
              <a:ext uri="{FF2B5EF4-FFF2-40B4-BE49-F238E27FC236}">
                <a16:creationId xmlns:a16="http://schemas.microsoft.com/office/drawing/2014/main" id="{CF2653C0-9C4D-C472-2B38-7CAA18C9EF8A}"/>
              </a:ext>
            </a:extLst>
          </p:cNvPr>
          <p:cNvSpPr/>
          <p:nvPr/>
        </p:nvSpPr>
        <p:spPr>
          <a:xfrm>
            <a:off x="1354347" y="3209026"/>
            <a:ext cx="2536166" cy="767751"/>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733128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F752C-CF3D-7CB5-792E-0BFC6A710C6C}"/>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BF9288E2-41C9-AE33-A7F1-D43618F3C7B2}"/>
              </a:ext>
            </a:extLst>
          </p:cNvPr>
          <p:cNvSpPr>
            <a:spLocks noGrp="1"/>
          </p:cNvSpPr>
          <p:nvPr>
            <p:ph type="body" sz="quarter" idx="18"/>
          </p:nvPr>
        </p:nvSpPr>
        <p:spPr>
          <a:xfrm>
            <a:off x="1165285" y="1584355"/>
            <a:ext cx="9698935" cy="1245109"/>
          </a:xfrm>
        </p:spPr>
        <p:txBody>
          <a:bodyPr anchor="ctr"/>
          <a:lstStyle/>
          <a:p>
            <a:pPr marL="285750" indent="-285750">
              <a:buClr>
                <a:srgbClr val="0CB4B4"/>
              </a:buClr>
              <a:buFont typeface="Wingdings" panose="05000000000000000000" pitchFamily="2" charset="2"/>
              <a:buChar char="q"/>
            </a:pPr>
            <a:r>
              <a:rPr lang="es-419" sz="2400" b="1" dirty="0">
                <a:solidFill>
                  <a:srgbClr val="7030A0"/>
                </a:solidFill>
              </a:rPr>
              <a:t>Gestionar la admisión</a:t>
            </a:r>
          </a:p>
          <a:p>
            <a:pPr marL="0" lvl="0" indent="0">
              <a:buClr>
                <a:srgbClr val="0CB4B4"/>
              </a:buClr>
              <a:buNone/>
            </a:pPr>
            <a:endParaRPr lang="es-CO" sz="2400" dirty="0"/>
          </a:p>
        </p:txBody>
      </p:sp>
      <p:sp>
        <p:nvSpPr>
          <p:cNvPr id="3" name="Marcador de texto vertical 2">
            <a:extLst>
              <a:ext uri="{FF2B5EF4-FFF2-40B4-BE49-F238E27FC236}">
                <a16:creationId xmlns:a16="http://schemas.microsoft.com/office/drawing/2014/main" id="{3DAE6A6D-F3EC-DD82-8B14-16AE55D55A4B}"/>
              </a:ext>
            </a:extLst>
          </p:cNvPr>
          <p:cNvSpPr>
            <a:spLocks noGrp="1"/>
          </p:cNvSpPr>
          <p:nvPr>
            <p:ph type="body" orient="vert" sz="quarter" idx="17"/>
          </p:nvPr>
        </p:nvSpPr>
        <p:spPr/>
        <p:txBody>
          <a:bodyPr/>
          <a:lstStyle/>
          <a:p>
            <a:r>
              <a:rPr lang="es-ES" dirty="0"/>
              <a:t>Evaluar la solicitud de admisión</a:t>
            </a:r>
            <a:endParaRPr lang="es-419" sz="800" dirty="0"/>
          </a:p>
        </p:txBody>
      </p:sp>
      <p:sp>
        <p:nvSpPr>
          <p:cNvPr id="5" name="Slide Number Placeholder 17">
            <a:extLst>
              <a:ext uri="{FF2B5EF4-FFF2-40B4-BE49-F238E27FC236}">
                <a16:creationId xmlns:a16="http://schemas.microsoft.com/office/drawing/2014/main" id="{4D496DCC-EEC1-18B1-7578-823D0E65031B}"/>
              </a:ext>
            </a:extLst>
          </p:cNvPr>
          <p:cNvSpPr>
            <a:spLocks noGrp="1"/>
          </p:cNvSpPr>
          <p:nvPr>
            <p:ph type="sldNum" sz="quarter" idx="4"/>
          </p:nvPr>
        </p:nvSpPr>
        <p:spPr/>
        <p:txBody>
          <a:bodyPr/>
          <a:lstStyle/>
          <a:p>
            <a:fld id="{4A16F8ED-7337-F64C-865A-41A1F48E54DF}" type="slidenum">
              <a:rPr lang="en-US" smtClean="0"/>
              <a:pPr/>
              <a:t>5</a:t>
            </a:fld>
            <a:endParaRPr lang="en-US" dirty="0"/>
          </a:p>
        </p:txBody>
      </p:sp>
      <p:sp>
        <p:nvSpPr>
          <p:cNvPr id="4" name="Título 3">
            <a:extLst>
              <a:ext uri="{FF2B5EF4-FFF2-40B4-BE49-F238E27FC236}">
                <a16:creationId xmlns:a16="http://schemas.microsoft.com/office/drawing/2014/main" id="{B738ED75-87FD-2139-387A-1CD89FE0F1EC}"/>
              </a:ext>
            </a:extLst>
          </p:cNvPr>
          <p:cNvSpPr>
            <a:spLocks noGrp="1"/>
          </p:cNvSpPr>
          <p:nvPr>
            <p:ph type="title"/>
          </p:nvPr>
        </p:nvSpPr>
        <p:spPr/>
        <p:txBody>
          <a:bodyPr vert="horz" lIns="0" tIns="0" rIns="0" bIns="0" rtlCol="0" anchor="t" anchorCtr="0">
            <a:noAutofit/>
          </a:bodyPr>
          <a:lstStyle/>
          <a:p>
            <a:r>
              <a:rPr lang="es-ES_tradnl" sz="3000" dirty="0"/>
              <a:t>Overview: Procedimiento evaluar la solicitud de admisión</a:t>
            </a:r>
            <a:endParaRPr lang="es-CL" sz="3000" dirty="0"/>
          </a:p>
        </p:txBody>
      </p:sp>
    </p:spTree>
    <p:extLst>
      <p:ext uri="{BB962C8B-B14F-4D97-AF65-F5344CB8AC3E}">
        <p14:creationId xmlns:p14="http://schemas.microsoft.com/office/powerpoint/2010/main" val="15825694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vert="horz" lIns="0" tIns="0" rIns="0" bIns="0" rtlCol="0" anchor="t" anchorCtr="0">
            <a:noAutofit/>
          </a:bodyPr>
          <a:lstStyle/>
          <a:p>
            <a:r>
              <a:rPr lang="es-ES_tradnl" sz="3000" dirty="0"/>
              <a:t>Overview: Procedimiento- Evaluar la solicitud de admisión</a:t>
            </a:r>
          </a:p>
        </p:txBody>
      </p:sp>
      <p:pic>
        <p:nvPicPr>
          <p:cNvPr id="1028" name="Picture 4">
            <a:extLst>
              <a:ext uri="{FF2B5EF4-FFF2-40B4-BE49-F238E27FC236}">
                <a16:creationId xmlns:a16="http://schemas.microsoft.com/office/drawing/2014/main" id="{298A51C4-52C4-8A9C-0F7F-F00842CE03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742" y="1247775"/>
            <a:ext cx="9725025" cy="4362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08033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363377" y="548966"/>
            <a:ext cx="11267392" cy="582679"/>
          </a:xfrm>
        </p:spPr>
        <p:txBody>
          <a:bodyPr/>
          <a:lstStyle/>
          <a:p>
            <a:r>
              <a:rPr lang="es-ES_tradnl" sz="3200" dirty="0" err="1"/>
              <a:t>Overview</a:t>
            </a:r>
            <a:r>
              <a:rPr lang="es-ES_tradnl" sz="3200" dirty="0"/>
              <a:t>: </a:t>
            </a:r>
            <a:r>
              <a:rPr lang="es-ES_tradnl" sz="3200" b="1" dirty="0"/>
              <a:t>Región donde aplica</a:t>
            </a:r>
          </a:p>
        </p:txBody>
      </p:sp>
      <p:sp>
        <p:nvSpPr>
          <p:cNvPr id="14" name="CuadroTexto 13">
            <a:extLst>
              <a:ext uri="{FF2B5EF4-FFF2-40B4-BE49-F238E27FC236}">
                <a16:creationId xmlns:a16="http://schemas.microsoft.com/office/drawing/2014/main" id="{67F9A8D2-DB8A-9348-9C89-4582AE2EB894}"/>
              </a:ext>
            </a:extLst>
          </p:cNvPr>
          <p:cNvSpPr txBox="1"/>
          <p:nvPr/>
        </p:nvSpPr>
        <p:spPr>
          <a:xfrm>
            <a:off x="8409274" y="3182780"/>
            <a:ext cx="1428853" cy="461665"/>
          </a:xfrm>
          <a:prstGeom prst="rect">
            <a:avLst/>
          </a:prstGeom>
          <a:noFill/>
        </p:spPr>
        <p:txBody>
          <a:bodyPr wrap="none" rtlCol="0">
            <a:spAutoFit/>
          </a:bodyPr>
          <a:lstStyle/>
          <a:p>
            <a:r>
              <a:rPr lang="es-ES_tradnl" sz="2400" dirty="0"/>
              <a:t>Todo LAC</a:t>
            </a:r>
          </a:p>
        </p:txBody>
      </p:sp>
      <p:pic>
        <p:nvPicPr>
          <p:cNvPr id="3" name="Picture 2">
            <a:extLst>
              <a:ext uri="{FF2B5EF4-FFF2-40B4-BE49-F238E27FC236}">
                <a16:creationId xmlns:a16="http://schemas.microsoft.com/office/drawing/2014/main" id="{774A9034-B0A6-0D80-C0EA-C22D0071C389}"/>
              </a:ext>
            </a:extLst>
          </p:cNvPr>
          <p:cNvPicPr>
            <a:picLocks noChangeAspect="1"/>
          </p:cNvPicPr>
          <p:nvPr/>
        </p:nvPicPr>
        <p:blipFill>
          <a:blip r:embed="rId2"/>
          <a:stretch>
            <a:fillRect/>
          </a:stretch>
        </p:blipFill>
        <p:spPr>
          <a:xfrm>
            <a:off x="3098322" y="1682151"/>
            <a:ext cx="4536882" cy="4536882"/>
          </a:xfrm>
          <a:prstGeom prst="rect">
            <a:avLst/>
          </a:prstGeom>
        </p:spPr>
      </p:pic>
    </p:spTree>
    <p:extLst>
      <p:ext uri="{BB962C8B-B14F-4D97-AF65-F5344CB8AC3E}">
        <p14:creationId xmlns:p14="http://schemas.microsoft.com/office/powerpoint/2010/main" val="1405208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285750" lvl="1" indent="-285750" algn="just" defTabSz="914400">
              <a:lnSpc>
                <a:spcPct val="100000"/>
              </a:lnSpc>
              <a:spcBef>
                <a:spcPts val="0"/>
              </a:spcBef>
              <a:buClr>
                <a:srgbClr val="0CB4B4"/>
              </a:buClr>
              <a:buFont typeface="Wingdings" panose="05000000000000000000" pitchFamily="2" charset="2"/>
              <a:buChar char="q"/>
            </a:pPr>
            <a:r>
              <a:rPr lang="es-ES_tradnl" sz="2400" dirty="0">
                <a:solidFill>
                  <a:srgbClr val="7030A0"/>
                </a:solidFill>
                <a:latin typeface="+mn-lt"/>
                <a:cs typeface="+mn-cs"/>
              </a:rPr>
              <a:t>En el instructivo Configurar solicitudes de admisión, se mostró cómo configurar las distintas decisiones que podrían adquirir las solicitudes de admisión (STVAPDC).</a:t>
            </a:r>
          </a:p>
          <a:p>
            <a:pPr marL="285750" lvl="1" indent="-285750" algn="just" defTabSz="914400">
              <a:lnSpc>
                <a:spcPct val="100000"/>
              </a:lnSpc>
              <a:spcBef>
                <a:spcPts val="0"/>
              </a:spcBef>
              <a:buClr>
                <a:srgbClr val="0CB4B4"/>
              </a:buClr>
              <a:buFont typeface="Wingdings" panose="05000000000000000000" pitchFamily="2" charset="2"/>
              <a:buChar char="q"/>
            </a:pPr>
            <a:r>
              <a:rPr lang="es-ES_tradnl" sz="2400" dirty="0">
                <a:solidFill>
                  <a:srgbClr val="7030A0"/>
                </a:solidFill>
                <a:latin typeface="+mn-lt"/>
                <a:cs typeface="+mn-cs"/>
              </a:rPr>
              <a:t>En este instructivo, se mostrará cómo asignar esas decisiones a las solicitudes, para ofrecer admisión al postulante o para rechazar su solicitud de admisión. </a:t>
            </a:r>
          </a:p>
          <a:p>
            <a:pPr marL="285750" lvl="1" indent="-285750" algn="just" defTabSz="914400">
              <a:lnSpc>
                <a:spcPct val="100000"/>
              </a:lnSpc>
              <a:spcBef>
                <a:spcPts val="0"/>
              </a:spcBef>
              <a:buClr>
                <a:srgbClr val="0CB4B4"/>
              </a:buClr>
              <a:buFont typeface="Wingdings" panose="05000000000000000000" pitchFamily="2" charset="2"/>
              <a:buChar char="q"/>
            </a:pPr>
            <a:r>
              <a:rPr lang="es-ES_tradnl" sz="2400" dirty="0">
                <a:solidFill>
                  <a:srgbClr val="7030A0"/>
                </a:solidFill>
                <a:latin typeface="+mn-lt"/>
                <a:cs typeface="+mn-cs"/>
              </a:rPr>
              <a:t>La decisión puede ser asignada de manera individual o masiva. </a:t>
            </a:r>
          </a:p>
          <a:p>
            <a:pPr marL="518576" lvl="3" indent="-285750" algn="just" defTabSz="914400">
              <a:lnSpc>
                <a:spcPct val="100000"/>
              </a:lnSpc>
              <a:spcBef>
                <a:spcPts val="0"/>
              </a:spcBef>
              <a:buClr>
                <a:srgbClr val="0CB4B4"/>
              </a:buClr>
              <a:buFont typeface="Wingdings" panose="05000000000000000000" pitchFamily="2" charset="2"/>
              <a:buChar char="q"/>
            </a:pPr>
            <a:r>
              <a:rPr lang="es-ES_tradnl" sz="2133" dirty="0">
                <a:solidFill>
                  <a:srgbClr val="7030A0"/>
                </a:solidFill>
                <a:latin typeface="+mn-lt"/>
                <a:cs typeface="+mn-cs"/>
              </a:rPr>
              <a:t>La asignación masiva de decisiones se realiza de acuerdo con las reglas establecidas y configuradas por la institución. </a:t>
            </a:r>
          </a:p>
        </p:txBody>
      </p:sp>
      <p:sp>
        <p:nvSpPr>
          <p:cNvPr id="13" name="Title 12"/>
          <p:cNvSpPr>
            <a:spLocks noGrp="1"/>
          </p:cNvSpPr>
          <p:nvPr>
            <p:ph type="title"/>
          </p:nvPr>
        </p:nvSpPr>
        <p:spPr/>
        <p:txBody>
          <a:bodyPr/>
          <a:lstStyle/>
          <a:p>
            <a:r>
              <a:rPr lang="es-ES_tradnl" sz="3200" dirty="0">
                <a:solidFill>
                  <a:schemeClr val="tx2"/>
                </a:solidFill>
              </a:rPr>
              <a:t>Overview: </a:t>
            </a:r>
            <a:r>
              <a:rPr lang="es-ES_tradnl" sz="3200" dirty="0"/>
              <a:t>Evaluar la solicitud de admisión</a:t>
            </a:r>
          </a:p>
        </p:txBody>
      </p:sp>
    </p:spTree>
    <p:extLst>
      <p:ext uri="{BB962C8B-B14F-4D97-AF65-F5344CB8AC3E}">
        <p14:creationId xmlns:p14="http://schemas.microsoft.com/office/powerpoint/2010/main" val="14919822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DA14-33BB-0407-7C99-646E8BDC7A7D}"/>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DDF4F39C-0A0F-9757-33D5-E13DD79B8462}"/>
              </a:ext>
            </a:extLst>
          </p:cNvPr>
          <p:cNvSpPr>
            <a:spLocks noGrp="1"/>
          </p:cNvSpPr>
          <p:nvPr>
            <p:ph type="body" orient="vert" sz="quarter" idx="10"/>
          </p:nvPr>
        </p:nvSpPr>
        <p:spPr/>
        <p:txBody>
          <a:bodyPr/>
          <a:lstStyle/>
          <a:p>
            <a:r>
              <a:rPr lang="es-ES" dirty="0"/>
              <a:t>Evaluar la solicitud de admisión</a:t>
            </a:r>
            <a:endParaRPr lang="es-419" sz="800" dirty="0"/>
          </a:p>
        </p:txBody>
      </p:sp>
      <p:sp>
        <p:nvSpPr>
          <p:cNvPr id="16" name="Title 15">
            <a:extLst>
              <a:ext uri="{FF2B5EF4-FFF2-40B4-BE49-F238E27FC236}">
                <a16:creationId xmlns:a16="http://schemas.microsoft.com/office/drawing/2014/main" id="{6E38195D-0FED-D856-2D9C-CADAF1FCE9CA}"/>
              </a:ext>
            </a:extLst>
          </p:cNvPr>
          <p:cNvSpPr>
            <a:spLocks noGrp="1"/>
          </p:cNvSpPr>
          <p:nvPr>
            <p:ph type="title"/>
          </p:nvPr>
        </p:nvSpPr>
        <p:spPr/>
        <p:txBody>
          <a:bodyPr/>
          <a:lstStyle/>
          <a:p>
            <a:r>
              <a:rPr lang="es-ES_tradnl" dirty="0"/>
              <a:t>Asignar decisiones</a:t>
            </a:r>
            <a:br>
              <a:rPr lang="es-ES_tradnl" dirty="0"/>
            </a:br>
            <a:endParaRPr lang="en-US" sz="3200" b="1" dirty="0">
              <a:solidFill>
                <a:schemeClr val="bg1"/>
              </a:solidFill>
            </a:endParaRPr>
          </a:p>
        </p:txBody>
      </p:sp>
      <p:sp>
        <p:nvSpPr>
          <p:cNvPr id="18" name="Slide Number Placeholder 17">
            <a:extLst>
              <a:ext uri="{FF2B5EF4-FFF2-40B4-BE49-F238E27FC236}">
                <a16:creationId xmlns:a16="http://schemas.microsoft.com/office/drawing/2014/main" id="{D3E7B451-39B8-1BFE-E394-A9E3A58B8A30}"/>
              </a:ext>
            </a:extLst>
          </p:cNvPr>
          <p:cNvSpPr>
            <a:spLocks noGrp="1"/>
          </p:cNvSpPr>
          <p:nvPr>
            <p:ph type="sldNum" sz="quarter" idx="4"/>
          </p:nvPr>
        </p:nvSpPr>
        <p:spPr/>
        <p:txBody>
          <a:bodyPr/>
          <a:lstStyle/>
          <a:p>
            <a:fld id="{4A16F8ED-7337-F64C-865A-41A1F48E54DF}" type="slidenum">
              <a:rPr lang="en-US" smtClean="0"/>
              <a:pPr/>
              <a:t>9</a:t>
            </a:fld>
            <a:endParaRPr lang="en-US" dirty="0"/>
          </a:p>
        </p:txBody>
      </p:sp>
      <p:sp>
        <p:nvSpPr>
          <p:cNvPr id="5" name="Subtitle 5">
            <a:extLst>
              <a:ext uri="{FF2B5EF4-FFF2-40B4-BE49-F238E27FC236}">
                <a16:creationId xmlns:a16="http://schemas.microsoft.com/office/drawing/2014/main" id="{B6A3474A-F43B-355D-6A6F-6DBDF92CFC1C}"/>
              </a:ext>
            </a:extLst>
          </p:cNvPr>
          <p:cNvSpPr txBox="1">
            <a:spLocks/>
          </p:cNvSpPr>
          <p:nvPr/>
        </p:nvSpPr>
        <p:spPr>
          <a:xfrm>
            <a:off x="1021222" y="3060849"/>
            <a:ext cx="7108205" cy="2462723"/>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dirty="0">
                <a:solidFill>
                  <a:schemeClr val="bg1"/>
                </a:solidFill>
              </a:rPr>
              <a:t>Asignar decisiones a las solicitudes de admisión</a:t>
            </a:r>
            <a:endParaRPr lang="es-ES_tradnl" dirty="0">
              <a:solidFill>
                <a:schemeClr val="bg1"/>
              </a:solidFill>
            </a:endParaRPr>
          </a:p>
        </p:txBody>
      </p:sp>
    </p:spTree>
    <p:extLst>
      <p:ext uri="{BB962C8B-B14F-4D97-AF65-F5344CB8AC3E}">
        <p14:creationId xmlns:p14="http://schemas.microsoft.com/office/powerpoint/2010/main" val="1852502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DC10B-1878-2986-B7D8-1A6BFC3E4149}"/>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44A1B273-5AEC-4867-4467-8C4A7FB7518B}"/>
              </a:ext>
            </a:extLst>
          </p:cNvPr>
          <p:cNvSpPr>
            <a:spLocks noGrp="1"/>
          </p:cNvSpPr>
          <p:nvPr>
            <p:ph type="body" orient="vert" sz="quarter" idx="10"/>
          </p:nvPr>
        </p:nvSpPr>
        <p:spPr/>
        <p:txBody>
          <a:bodyPr/>
          <a:lstStyle/>
          <a:p>
            <a:r>
              <a:rPr lang="es-ES" dirty="0"/>
              <a:t>Evaluar la solicitud de admisión</a:t>
            </a:r>
            <a:endParaRPr lang="es-419" sz="800" dirty="0"/>
          </a:p>
        </p:txBody>
      </p:sp>
      <p:sp>
        <p:nvSpPr>
          <p:cNvPr id="16" name="Title 15">
            <a:extLst>
              <a:ext uri="{FF2B5EF4-FFF2-40B4-BE49-F238E27FC236}">
                <a16:creationId xmlns:a16="http://schemas.microsoft.com/office/drawing/2014/main" id="{546D7A8A-20AC-0ACA-E33C-E73CC483081C}"/>
              </a:ext>
            </a:extLst>
          </p:cNvPr>
          <p:cNvSpPr>
            <a:spLocks noGrp="1"/>
          </p:cNvSpPr>
          <p:nvPr>
            <p:ph type="title"/>
          </p:nvPr>
        </p:nvSpPr>
        <p:spPr/>
        <p:txBody>
          <a:bodyPr/>
          <a:lstStyle/>
          <a:p>
            <a:r>
              <a:rPr lang="es-ES" dirty="0"/>
              <a:t>Individual</a:t>
            </a:r>
            <a:br>
              <a:rPr lang="es-ES_tradnl" dirty="0"/>
            </a:br>
            <a:endParaRPr lang="en-US" sz="3200" b="1" dirty="0">
              <a:solidFill>
                <a:schemeClr val="bg1"/>
              </a:solidFill>
            </a:endParaRPr>
          </a:p>
        </p:txBody>
      </p:sp>
      <p:sp>
        <p:nvSpPr>
          <p:cNvPr id="18" name="Slide Number Placeholder 17">
            <a:extLst>
              <a:ext uri="{FF2B5EF4-FFF2-40B4-BE49-F238E27FC236}">
                <a16:creationId xmlns:a16="http://schemas.microsoft.com/office/drawing/2014/main" id="{A5135EE0-D843-6D8D-8729-F951CD051DA2}"/>
              </a:ext>
            </a:extLst>
          </p:cNvPr>
          <p:cNvSpPr>
            <a:spLocks noGrp="1"/>
          </p:cNvSpPr>
          <p:nvPr>
            <p:ph type="sldNum" sz="quarter" idx="4"/>
          </p:nvPr>
        </p:nvSpPr>
        <p:spPr/>
        <p:txBody>
          <a:bodyPr/>
          <a:lstStyle/>
          <a:p>
            <a:fld id="{4A16F8ED-7337-F64C-865A-41A1F48E54DF}" type="slidenum">
              <a:rPr lang="en-US" smtClean="0"/>
              <a:pPr/>
              <a:t>10</a:t>
            </a:fld>
            <a:endParaRPr lang="en-US" dirty="0"/>
          </a:p>
        </p:txBody>
      </p:sp>
      <p:sp>
        <p:nvSpPr>
          <p:cNvPr id="2" name="Text Placeholder 5">
            <a:extLst>
              <a:ext uri="{FF2B5EF4-FFF2-40B4-BE49-F238E27FC236}">
                <a16:creationId xmlns:a16="http://schemas.microsoft.com/office/drawing/2014/main" id="{A4942CB1-967E-DABA-A052-00503CE35752}"/>
              </a:ext>
            </a:extLst>
          </p:cNvPr>
          <p:cNvSpPr txBox="1">
            <a:spLocks/>
          </p:cNvSpPr>
          <p:nvPr/>
        </p:nvSpPr>
        <p:spPr>
          <a:xfrm>
            <a:off x="1104900" y="3017666"/>
            <a:ext cx="5407861" cy="1701216"/>
          </a:xfrm>
          <a:prstGeom prst="rect">
            <a:avLst/>
          </a:prstGeom>
        </p:spPr>
        <p:txBody>
          <a:bodyPr vert="horz" lIns="0" tIns="0" rIns="0" bIns="0" rtlCol="0">
            <a:noAutofit/>
          </a:bodyPr>
          <a:lstStyle>
            <a:lvl1pPr marL="0" indent="0" algn="l" defTabSz="457200" rtl="0" eaLnBrk="1" latinLnBrk="0" hangingPunct="1">
              <a:spcBef>
                <a:spcPts val="900"/>
              </a:spcBef>
              <a:buFontTx/>
              <a:buNone/>
              <a:defRPr lang="en-US" sz="1600" b="1" kern="1200" spc="100">
                <a:solidFill>
                  <a:schemeClr val="bg1">
                    <a:lumMod val="75000"/>
                  </a:schemeClr>
                </a:solidFill>
                <a:latin typeface="Arial"/>
                <a:ea typeface="+mn-ea"/>
                <a:cs typeface="Arial"/>
              </a:defRPr>
            </a:lvl1pPr>
            <a:lvl2pPr marL="457200" indent="0" algn="l" defTabSz="457200" rtl="0" eaLnBrk="1" latinLnBrk="0" hangingPunct="1">
              <a:spcBef>
                <a:spcPts val="900"/>
              </a:spcBef>
              <a:buFont typeface="Arial" panose="020B0604020202020204" pitchFamily="34" charset="0"/>
              <a:buNone/>
              <a:defRPr lang="en-US" sz="1600" b="0" kern="1200">
                <a:solidFill>
                  <a:schemeClr val="tx1"/>
                </a:solidFill>
                <a:latin typeface="Arial"/>
                <a:ea typeface="+mn-ea"/>
                <a:cs typeface="Arial"/>
              </a:defRPr>
            </a:lvl2pPr>
            <a:lvl3pPr marL="914400" indent="0" algn="l" defTabSz="457200" rtl="0" eaLnBrk="1" latinLnBrk="0" hangingPunct="1">
              <a:spcBef>
                <a:spcPts val="900"/>
              </a:spcBef>
              <a:buFont typeface="Arial"/>
              <a:buNone/>
              <a:defRPr lang="en-US" sz="1400" kern="1200">
                <a:solidFill>
                  <a:srgbClr val="414042"/>
                </a:solidFill>
                <a:latin typeface="Arial"/>
                <a:ea typeface="+mn-ea"/>
                <a:cs typeface="Arial"/>
              </a:defRPr>
            </a:lvl3pPr>
            <a:lvl4pPr marL="13716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4pPr>
            <a:lvl5pPr marL="18288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s-ES" sz="2133" dirty="0"/>
              <a:t>Asignar una decisión a la solicitud de admisión de un postulante</a:t>
            </a:r>
            <a:endParaRPr lang="es-ES_tradnl" sz="2133" dirty="0"/>
          </a:p>
        </p:txBody>
      </p:sp>
    </p:spTree>
    <p:extLst>
      <p:ext uri="{BB962C8B-B14F-4D97-AF65-F5344CB8AC3E}">
        <p14:creationId xmlns:p14="http://schemas.microsoft.com/office/powerpoint/2010/main" val="658296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A57B234-7615-55EE-A8BE-3E502948E72E}"/>
              </a:ext>
            </a:extLst>
          </p:cNvPr>
          <p:cNvPicPr>
            <a:picLocks noChangeAspect="1"/>
          </p:cNvPicPr>
          <p:nvPr/>
        </p:nvPicPr>
        <p:blipFill>
          <a:blip r:embed="rId3"/>
          <a:stretch>
            <a:fillRect/>
          </a:stretch>
        </p:blipFill>
        <p:spPr>
          <a:xfrm>
            <a:off x="845389" y="1442946"/>
            <a:ext cx="10067026" cy="4794323"/>
          </a:xfrm>
          <a:prstGeom prst="rect">
            <a:avLst/>
          </a:prstGeom>
        </p:spPr>
      </p:pic>
      <p:sp>
        <p:nvSpPr>
          <p:cNvPr id="13" name="Title 12"/>
          <p:cNvSpPr>
            <a:spLocks noGrp="1"/>
          </p:cNvSpPr>
          <p:nvPr>
            <p:ph type="title"/>
          </p:nvPr>
        </p:nvSpPr>
        <p:spPr/>
        <p:txBody>
          <a:bodyPr vert="horz" lIns="0" tIns="0" rIns="0" bIns="0" rtlCol="0" anchor="t" anchorCtr="0">
            <a:noAutofit/>
          </a:bodyPr>
          <a:lstStyle/>
          <a:p>
            <a:r>
              <a:rPr lang="es-ES_tradnl" sz="3000" dirty="0"/>
              <a:t>Asignar decisiones: Individual</a:t>
            </a:r>
          </a:p>
        </p:txBody>
      </p:sp>
      <p:sp>
        <p:nvSpPr>
          <p:cNvPr id="4" name="Rectángulo redondeado 5">
            <a:extLst>
              <a:ext uri="{FF2B5EF4-FFF2-40B4-BE49-F238E27FC236}">
                <a16:creationId xmlns:a16="http://schemas.microsoft.com/office/drawing/2014/main" id="{FB21E4DC-7D52-468C-AD82-8F78EA6FE207}"/>
              </a:ext>
            </a:extLst>
          </p:cNvPr>
          <p:cNvSpPr/>
          <p:nvPr/>
        </p:nvSpPr>
        <p:spPr>
          <a:xfrm>
            <a:off x="3740302" y="1748612"/>
            <a:ext cx="4896273" cy="54774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Se utiliza la página SAADCRV para asignar una decisión a la solicitud de admisión de un postulante</a:t>
            </a:r>
          </a:p>
        </p:txBody>
      </p:sp>
      <p:sp>
        <p:nvSpPr>
          <p:cNvPr id="5" name="Rectángulo redondeado 5">
            <a:extLst>
              <a:ext uri="{FF2B5EF4-FFF2-40B4-BE49-F238E27FC236}">
                <a16:creationId xmlns:a16="http://schemas.microsoft.com/office/drawing/2014/main" id="{E0E89A21-4354-457A-AA50-E55AC2848308}"/>
              </a:ext>
            </a:extLst>
          </p:cNvPr>
          <p:cNvSpPr/>
          <p:nvPr/>
        </p:nvSpPr>
        <p:spPr>
          <a:xfrm>
            <a:off x="1152034" y="3569064"/>
            <a:ext cx="5921626" cy="54774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Si el postulante tiene más que una solicitud en el periodo seleccionado, se puede buscar la que se necesite con las flechas</a:t>
            </a:r>
          </a:p>
        </p:txBody>
      </p:sp>
    </p:spTree>
    <p:extLst>
      <p:ext uri="{BB962C8B-B14F-4D97-AF65-F5344CB8AC3E}">
        <p14:creationId xmlns:p14="http://schemas.microsoft.com/office/powerpoint/2010/main" val="2607860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53284E7-A164-D100-32DB-AC1984760F50}"/>
              </a:ext>
            </a:extLst>
          </p:cNvPr>
          <p:cNvPicPr>
            <a:picLocks noChangeAspect="1"/>
          </p:cNvPicPr>
          <p:nvPr/>
        </p:nvPicPr>
        <p:blipFill>
          <a:blip r:embed="rId3"/>
          <a:stretch>
            <a:fillRect/>
          </a:stretch>
        </p:blipFill>
        <p:spPr>
          <a:xfrm>
            <a:off x="724619" y="1070360"/>
            <a:ext cx="10912415" cy="5169338"/>
          </a:xfrm>
          <a:prstGeom prst="rect">
            <a:avLst/>
          </a:prstGeom>
        </p:spPr>
      </p:pic>
      <p:sp>
        <p:nvSpPr>
          <p:cNvPr id="13" name="Title 12"/>
          <p:cNvSpPr>
            <a:spLocks noGrp="1"/>
          </p:cNvSpPr>
          <p:nvPr>
            <p:ph type="title"/>
          </p:nvPr>
        </p:nvSpPr>
        <p:spPr/>
        <p:txBody>
          <a:bodyPr vert="horz" lIns="0" tIns="0" rIns="0" bIns="0" rtlCol="0" anchor="t" anchorCtr="0">
            <a:noAutofit/>
          </a:bodyPr>
          <a:lstStyle/>
          <a:p>
            <a:r>
              <a:rPr lang="es-ES_tradnl" sz="3000" dirty="0"/>
              <a:t>Asignar decisiones</a:t>
            </a:r>
            <a:r>
              <a:rPr lang="es-ES_tradnl" sz="3000"/>
              <a:t>: Individual</a:t>
            </a:r>
            <a:endParaRPr lang="es-ES_tradnl" sz="3000" dirty="0"/>
          </a:p>
        </p:txBody>
      </p:sp>
      <p:sp>
        <p:nvSpPr>
          <p:cNvPr id="5" name="Rectángulo redondeado 5">
            <a:extLst>
              <a:ext uri="{FF2B5EF4-FFF2-40B4-BE49-F238E27FC236}">
                <a16:creationId xmlns:a16="http://schemas.microsoft.com/office/drawing/2014/main" id="{E0E89A21-4354-457A-AA50-E55AC2848308}"/>
              </a:ext>
            </a:extLst>
          </p:cNvPr>
          <p:cNvSpPr/>
          <p:nvPr/>
        </p:nvSpPr>
        <p:spPr>
          <a:xfrm>
            <a:off x="1555327" y="4238906"/>
            <a:ext cx="4094359" cy="68780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Para ofrecer admisión al postulante, asigne una decisión que tiene el indicador Aceptación de institución</a:t>
            </a:r>
          </a:p>
        </p:txBody>
      </p:sp>
      <p:sp>
        <p:nvSpPr>
          <p:cNvPr id="9" name="Rectángulo redondeado 5">
            <a:extLst>
              <a:ext uri="{FF2B5EF4-FFF2-40B4-BE49-F238E27FC236}">
                <a16:creationId xmlns:a16="http://schemas.microsoft.com/office/drawing/2014/main" id="{2C7B6F5C-8DD9-49D0-956F-AD11B4B63D5F}"/>
              </a:ext>
            </a:extLst>
          </p:cNvPr>
          <p:cNvSpPr/>
          <p:nvPr/>
        </p:nvSpPr>
        <p:spPr>
          <a:xfrm>
            <a:off x="3602506" y="5573662"/>
            <a:ext cx="4931895" cy="48968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Las propiedades de la decisión de rellenarán según lo configurado en STVAPDC y no pueden ser modificadas</a:t>
            </a:r>
          </a:p>
        </p:txBody>
      </p:sp>
      <p:sp>
        <p:nvSpPr>
          <p:cNvPr id="11" name="Rectángulo 6">
            <a:extLst>
              <a:ext uri="{FF2B5EF4-FFF2-40B4-BE49-F238E27FC236}">
                <a16:creationId xmlns:a16="http://schemas.microsoft.com/office/drawing/2014/main" id="{13C97093-CB72-4798-AC4F-F34C4BF9145B}"/>
              </a:ext>
            </a:extLst>
          </p:cNvPr>
          <p:cNvSpPr/>
          <p:nvPr/>
        </p:nvSpPr>
        <p:spPr>
          <a:xfrm>
            <a:off x="10798629" y="5918373"/>
            <a:ext cx="489857" cy="254692"/>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2" name="Rectángulo redondeado 9">
            <a:extLst>
              <a:ext uri="{FF2B5EF4-FFF2-40B4-BE49-F238E27FC236}">
                <a16:creationId xmlns:a16="http://schemas.microsoft.com/office/drawing/2014/main" id="{139F779B-0346-44C3-9D9B-FB6BC2C2134B}"/>
              </a:ext>
            </a:extLst>
          </p:cNvPr>
          <p:cNvSpPr/>
          <p:nvPr/>
        </p:nvSpPr>
        <p:spPr>
          <a:xfrm>
            <a:off x="10477944" y="5873963"/>
            <a:ext cx="244005" cy="29910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67" dirty="0"/>
              <a:t>2</a:t>
            </a:r>
          </a:p>
        </p:txBody>
      </p:sp>
      <p:sp>
        <p:nvSpPr>
          <p:cNvPr id="14" name="Rectángulo redondeado 5">
            <a:extLst>
              <a:ext uri="{FF2B5EF4-FFF2-40B4-BE49-F238E27FC236}">
                <a16:creationId xmlns:a16="http://schemas.microsoft.com/office/drawing/2014/main" id="{5BAABCEF-4144-4EED-BDEC-C50ED66B0ED8}"/>
              </a:ext>
            </a:extLst>
          </p:cNvPr>
          <p:cNvSpPr/>
          <p:nvPr/>
        </p:nvSpPr>
        <p:spPr>
          <a:xfrm>
            <a:off x="10477944" y="5431897"/>
            <a:ext cx="909867" cy="35251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67" dirty="0"/>
              <a:t>Grabe</a:t>
            </a:r>
          </a:p>
        </p:txBody>
      </p:sp>
      <p:sp>
        <p:nvSpPr>
          <p:cNvPr id="15" name="Rectángulo redondeado 23">
            <a:extLst>
              <a:ext uri="{FF2B5EF4-FFF2-40B4-BE49-F238E27FC236}">
                <a16:creationId xmlns:a16="http://schemas.microsoft.com/office/drawing/2014/main" id="{512A9691-577C-61B7-2A44-3B7FD29EB881}"/>
              </a:ext>
            </a:extLst>
          </p:cNvPr>
          <p:cNvSpPr/>
          <p:nvPr/>
        </p:nvSpPr>
        <p:spPr>
          <a:xfrm>
            <a:off x="475488" y="4843868"/>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Tree>
    <p:extLst>
      <p:ext uri="{BB962C8B-B14F-4D97-AF65-F5344CB8AC3E}">
        <p14:creationId xmlns:p14="http://schemas.microsoft.com/office/powerpoint/2010/main" val="23099576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8246D1-0C5B-E382-B9E7-22B44FBAF673}"/>
              </a:ext>
            </a:extLst>
          </p:cNvPr>
          <p:cNvPicPr>
            <a:picLocks noChangeAspect="1"/>
          </p:cNvPicPr>
          <p:nvPr/>
        </p:nvPicPr>
        <p:blipFill>
          <a:blip r:embed="rId3"/>
          <a:stretch>
            <a:fillRect/>
          </a:stretch>
        </p:blipFill>
        <p:spPr>
          <a:xfrm>
            <a:off x="475488" y="1033155"/>
            <a:ext cx="10843404" cy="5139909"/>
          </a:xfrm>
          <a:prstGeom prst="rect">
            <a:avLst/>
          </a:prstGeom>
        </p:spPr>
      </p:pic>
      <p:sp>
        <p:nvSpPr>
          <p:cNvPr id="13" name="Title 12"/>
          <p:cNvSpPr>
            <a:spLocks noGrp="1"/>
          </p:cNvSpPr>
          <p:nvPr>
            <p:ph type="title"/>
          </p:nvPr>
        </p:nvSpPr>
        <p:spPr/>
        <p:txBody>
          <a:bodyPr vert="horz" lIns="0" tIns="0" rIns="0" bIns="0" rtlCol="0" anchor="t" anchorCtr="0">
            <a:noAutofit/>
          </a:bodyPr>
          <a:lstStyle/>
          <a:p>
            <a:r>
              <a:rPr lang="es-ES_tradnl" sz="3000" dirty="0"/>
              <a:t>Asignar decisiones: Individual</a:t>
            </a:r>
          </a:p>
        </p:txBody>
      </p:sp>
      <p:sp>
        <p:nvSpPr>
          <p:cNvPr id="5" name="Rectángulo redondeado 5">
            <a:extLst>
              <a:ext uri="{FF2B5EF4-FFF2-40B4-BE49-F238E27FC236}">
                <a16:creationId xmlns:a16="http://schemas.microsoft.com/office/drawing/2014/main" id="{E0E89A21-4354-457A-AA50-E55AC2848308}"/>
              </a:ext>
            </a:extLst>
          </p:cNvPr>
          <p:cNvSpPr/>
          <p:nvPr/>
        </p:nvSpPr>
        <p:spPr>
          <a:xfrm>
            <a:off x="1555327" y="4238906"/>
            <a:ext cx="4094359" cy="68780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Alternativamente, para rechazar la solicitud del postulante, asigne una decisión que tiene el indicador Rechazo de institución</a:t>
            </a:r>
          </a:p>
        </p:txBody>
      </p:sp>
      <p:sp>
        <p:nvSpPr>
          <p:cNvPr id="7" name="Rectángulo redondeado 23">
            <a:extLst>
              <a:ext uri="{FF2B5EF4-FFF2-40B4-BE49-F238E27FC236}">
                <a16:creationId xmlns:a16="http://schemas.microsoft.com/office/drawing/2014/main" id="{EAE01AAA-8BB8-5A9D-53DC-8C9F8A36C5AA}"/>
              </a:ext>
            </a:extLst>
          </p:cNvPr>
          <p:cNvSpPr/>
          <p:nvPr/>
        </p:nvSpPr>
        <p:spPr>
          <a:xfrm>
            <a:off x="241719" y="4927739"/>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Tree>
    <p:extLst>
      <p:ext uri="{BB962C8B-B14F-4D97-AF65-F5344CB8AC3E}">
        <p14:creationId xmlns:p14="http://schemas.microsoft.com/office/powerpoint/2010/main" val="7031758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87374D-A9F7-7071-6B05-CFCAB8C1AADA}"/>
              </a:ext>
            </a:extLst>
          </p:cNvPr>
          <p:cNvPicPr>
            <a:picLocks noChangeAspect="1"/>
          </p:cNvPicPr>
          <p:nvPr/>
        </p:nvPicPr>
        <p:blipFill>
          <a:blip r:embed="rId3"/>
          <a:stretch>
            <a:fillRect/>
          </a:stretch>
        </p:blipFill>
        <p:spPr>
          <a:xfrm>
            <a:off x="543464" y="1097691"/>
            <a:ext cx="10895162" cy="5194668"/>
          </a:xfrm>
          <a:prstGeom prst="rect">
            <a:avLst/>
          </a:prstGeom>
        </p:spPr>
      </p:pic>
      <p:sp>
        <p:nvSpPr>
          <p:cNvPr id="13" name="Title 12"/>
          <p:cNvSpPr>
            <a:spLocks noGrp="1"/>
          </p:cNvSpPr>
          <p:nvPr>
            <p:ph type="title"/>
          </p:nvPr>
        </p:nvSpPr>
        <p:spPr/>
        <p:txBody>
          <a:bodyPr vert="horz" lIns="0" tIns="0" rIns="0" bIns="0" rtlCol="0" anchor="t" anchorCtr="0">
            <a:noAutofit/>
          </a:bodyPr>
          <a:lstStyle/>
          <a:p>
            <a:r>
              <a:rPr lang="es-ES_tradnl" sz="3000" dirty="0"/>
              <a:t>Asignar decisiones: Individual</a:t>
            </a:r>
          </a:p>
        </p:txBody>
      </p:sp>
      <p:sp>
        <p:nvSpPr>
          <p:cNvPr id="16" name="Rectángulo redondeado 5">
            <a:extLst>
              <a:ext uri="{FF2B5EF4-FFF2-40B4-BE49-F238E27FC236}">
                <a16:creationId xmlns:a16="http://schemas.microsoft.com/office/drawing/2014/main" id="{62B61A0B-32B6-4EBD-9712-809325AB2BB2}"/>
              </a:ext>
            </a:extLst>
          </p:cNvPr>
          <p:cNvSpPr/>
          <p:nvPr/>
        </p:nvSpPr>
        <p:spPr>
          <a:xfrm>
            <a:off x="5229359" y="3959623"/>
            <a:ext cx="4301188" cy="68780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Al asignar una decisión con la propiedad Decisión significativa, se actualiza el estado de la solicitud a D – Decisión Elaborada</a:t>
            </a:r>
          </a:p>
        </p:txBody>
      </p:sp>
    </p:spTree>
    <p:extLst>
      <p:ext uri="{BB962C8B-B14F-4D97-AF65-F5344CB8AC3E}">
        <p14:creationId xmlns:p14="http://schemas.microsoft.com/office/powerpoint/2010/main" val="6518993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1B851-2FB2-C0F6-F5BB-60B27F0F96C2}"/>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7DFB151-A4BD-59A1-11D2-7CF460BBC8A3}"/>
              </a:ext>
            </a:extLst>
          </p:cNvPr>
          <p:cNvSpPr>
            <a:spLocks noGrp="1"/>
          </p:cNvSpPr>
          <p:nvPr>
            <p:ph type="body" orient="vert" sz="quarter" idx="10"/>
          </p:nvPr>
        </p:nvSpPr>
        <p:spPr/>
        <p:txBody>
          <a:bodyPr/>
          <a:lstStyle/>
          <a:p>
            <a:r>
              <a:rPr lang="es-ES" dirty="0"/>
              <a:t>Evaluar la solicitud de admisión</a:t>
            </a:r>
            <a:endParaRPr lang="es-419" sz="800" dirty="0"/>
          </a:p>
        </p:txBody>
      </p:sp>
      <p:sp>
        <p:nvSpPr>
          <p:cNvPr id="16" name="Title 15">
            <a:extLst>
              <a:ext uri="{FF2B5EF4-FFF2-40B4-BE49-F238E27FC236}">
                <a16:creationId xmlns:a16="http://schemas.microsoft.com/office/drawing/2014/main" id="{56AC17F6-7F46-2C40-8D87-9B6A1906D102}"/>
              </a:ext>
            </a:extLst>
          </p:cNvPr>
          <p:cNvSpPr>
            <a:spLocks noGrp="1"/>
          </p:cNvSpPr>
          <p:nvPr>
            <p:ph type="title"/>
          </p:nvPr>
        </p:nvSpPr>
        <p:spPr/>
        <p:txBody>
          <a:bodyPr/>
          <a:lstStyle/>
          <a:p>
            <a:r>
              <a:rPr lang="es-ES" dirty="0"/>
              <a:t>Masiva</a:t>
            </a:r>
            <a:br>
              <a:rPr lang="es-ES_tradnl" dirty="0"/>
            </a:br>
            <a:endParaRPr lang="en-US" sz="3200" b="1" dirty="0">
              <a:solidFill>
                <a:schemeClr val="bg1"/>
              </a:solidFill>
            </a:endParaRPr>
          </a:p>
        </p:txBody>
      </p:sp>
      <p:sp>
        <p:nvSpPr>
          <p:cNvPr id="18" name="Slide Number Placeholder 17">
            <a:extLst>
              <a:ext uri="{FF2B5EF4-FFF2-40B4-BE49-F238E27FC236}">
                <a16:creationId xmlns:a16="http://schemas.microsoft.com/office/drawing/2014/main" id="{7ED5BA6C-BD8E-A919-10EC-95130BF4AF77}"/>
              </a:ext>
            </a:extLst>
          </p:cNvPr>
          <p:cNvSpPr>
            <a:spLocks noGrp="1"/>
          </p:cNvSpPr>
          <p:nvPr>
            <p:ph type="sldNum" sz="quarter" idx="4"/>
          </p:nvPr>
        </p:nvSpPr>
        <p:spPr/>
        <p:txBody>
          <a:bodyPr/>
          <a:lstStyle/>
          <a:p>
            <a:fld id="{4A16F8ED-7337-F64C-865A-41A1F48E54DF}" type="slidenum">
              <a:rPr lang="en-US" smtClean="0"/>
              <a:pPr/>
              <a:t>15</a:t>
            </a:fld>
            <a:endParaRPr lang="en-US" dirty="0"/>
          </a:p>
        </p:txBody>
      </p:sp>
      <p:sp>
        <p:nvSpPr>
          <p:cNvPr id="2" name="Text Placeholder 5">
            <a:extLst>
              <a:ext uri="{FF2B5EF4-FFF2-40B4-BE49-F238E27FC236}">
                <a16:creationId xmlns:a16="http://schemas.microsoft.com/office/drawing/2014/main" id="{D54E9379-8CE6-D1E2-7683-6DEED5D24EF1}"/>
              </a:ext>
            </a:extLst>
          </p:cNvPr>
          <p:cNvSpPr txBox="1">
            <a:spLocks/>
          </p:cNvSpPr>
          <p:nvPr/>
        </p:nvSpPr>
        <p:spPr>
          <a:xfrm>
            <a:off x="1104900" y="3017666"/>
            <a:ext cx="5407861" cy="1701216"/>
          </a:xfrm>
          <a:prstGeom prst="rect">
            <a:avLst/>
          </a:prstGeom>
        </p:spPr>
        <p:txBody>
          <a:bodyPr vert="horz" lIns="0" tIns="0" rIns="0" bIns="0" rtlCol="0">
            <a:noAutofit/>
          </a:bodyPr>
          <a:lstStyle>
            <a:lvl1pPr marL="0" indent="0" algn="l" defTabSz="457200" rtl="0" eaLnBrk="1" latinLnBrk="0" hangingPunct="1">
              <a:spcBef>
                <a:spcPts val="900"/>
              </a:spcBef>
              <a:buFontTx/>
              <a:buNone/>
              <a:defRPr lang="en-US" sz="1600" b="1" kern="1200" spc="100">
                <a:solidFill>
                  <a:schemeClr val="bg1">
                    <a:lumMod val="75000"/>
                  </a:schemeClr>
                </a:solidFill>
                <a:latin typeface="Arial"/>
                <a:ea typeface="+mn-ea"/>
                <a:cs typeface="Arial"/>
              </a:defRPr>
            </a:lvl1pPr>
            <a:lvl2pPr marL="457200" indent="0" algn="l" defTabSz="457200" rtl="0" eaLnBrk="1" latinLnBrk="0" hangingPunct="1">
              <a:spcBef>
                <a:spcPts val="900"/>
              </a:spcBef>
              <a:buFont typeface="Arial" panose="020B0604020202020204" pitchFamily="34" charset="0"/>
              <a:buNone/>
              <a:defRPr lang="en-US" sz="1600" b="0" kern="1200">
                <a:solidFill>
                  <a:schemeClr val="tx1"/>
                </a:solidFill>
                <a:latin typeface="Arial"/>
                <a:ea typeface="+mn-ea"/>
                <a:cs typeface="Arial"/>
              </a:defRPr>
            </a:lvl2pPr>
            <a:lvl3pPr marL="914400" indent="0" algn="l" defTabSz="457200" rtl="0" eaLnBrk="1" latinLnBrk="0" hangingPunct="1">
              <a:spcBef>
                <a:spcPts val="900"/>
              </a:spcBef>
              <a:buFont typeface="Arial"/>
              <a:buNone/>
              <a:defRPr lang="en-US" sz="1400" kern="1200">
                <a:solidFill>
                  <a:srgbClr val="414042"/>
                </a:solidFill>
                <a:latin typeface="Arial"/>
                <a:ea typeface="+mn-ea"/>
                <a:cs typeface="Arial"/>
              </a:defRPr>
            </a:lvl3pPr>
            <a:lvl4pPr marL="13716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4pPr>
            <a:lvl5pPr marL="18288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s-ES" sz="2133" dirty="0"/>
              <a:t>Asignar decisiones de forma masiva a las solicitudes de admisión</a:t>
            </a:r>
            <a:endParaRPr lang="es-ES_tradnl" sz="2133" dirty="0"/>
          </a:p>
        </p:txBody>
      </p:sp>
    </p:spTree>
    <p:extLst>
      <p:ext uri="{BB962C8B-B14F-4D97-AF65-F5344CB8AC3E}">
        <p14:creationId xmlns:p14="http://schemas.microsoft.com/office/powerpoint/2010/main" val="38514949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EC54FB0-C458-3378-C51E-D814B244ED5C}"/>
              </a:ext>
            </a:extLst>
          </p:cNvPr>
          <p:cNvPicPr>
            <a:picLocks noChangeAspect="1"/>
          </p:cNvPicPr>
          <p:nvPr/>
        </p:nvPicPr>
        <p:blipFill>
          <a:blip r:embed="rId3"/>
          <a:stretch>
            <a:fillRect/>
          </a:stretch>
        </p:blipFill>
        <p:spPr>
          <a:xfrm>
            <a:off x="475489" y="1178649"/>
            <a:ext cx="10756104" cy="5103262"/>
          </a:xfrm>
          <a:prstGeom prst="rect">
            <a:avLst/>
          </a:prstGeom>
        </p:spPr>
      </p:pic>
      <p:sp>
        <p:nvSpPr>
          <p:cNvPr id="13" name="Title 12"/>
          <p:cNvSpPr>
            <a:spLocks noGrp="1"/>
          </p:cNvSpPr>
          <p:nvPr>
            <p:ph type="title"/>
          </p:nvPr>
        </p:nvSpPr>
        <p:spPr/>
        <p:txBody>
          <a:bodyPr vert="horz" lIns="0" tIns="0" rIns="0" bIns="0" rtlCol="0" anchor="t" anchorCtr="0">
            <a:noAutofit/>
          </a:bodyPr>
          <a:lstStyle/>
          <a:p>
            <a:r>
              <a:rPr lang="es-ES_tradnl" sz="3000" dirty="0"/>
              <a:t>Reglas de decisión de admisión</a:t>
            </a:r>
          </a:p>
        </p:txBody>
      </p:sp>
      <p:sp>
        <p:nvSpPr>
          <p:cNvPr id="4" name="Rectángulo redondeado 5">
            <a:extLst>
              <a:ext uri="{FF2B5EF4-FFF2-40B4-BE49-F238E27FC236}">
                <a16:creationId xmlns:a16="http://schemas.microsoft.com/office/drawing/2014/main" id="{0AFCC04C-F2E0-4046-8736-32D5DE667502}"/>
              </a:ext>
            </a:extLst>
          </p:cNvPr>
          <p:cNvSpPr/>
          <p:nvPr/>
        </p:nvSpPr>
        <p:spPr>
          <a:xfrm>
            <a:off x="1807562" y="3648907"/>
            <a:ext cx="4896273" cy="44864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Para asignar decisiones de manera masiva, primero se debe configurar reglas de decisión en SAADCSN</a:t>
            </a:r>
          </a:p>
        </p:txBody>
      </p:sp>
      <p:sp>
        <p:nvSpPr>
          <p:cNvPr id="9" name="Rectángulo redondeado 23">
            <a:extLst>
              <a:ext uri="{FF2B5EF4-FFF2-40B4-BE49-F238E27FC236}">
                <a16:creationId xmlns:a16="http://schemas.microsoft.com/office/drawing/2014/main" id="{5D53AC6D-9BC3-D00D-085B-F87B157A0020}"/>
              </a:ext>
            </a:extLst>
          </p:cNvPr>
          <p:cNvSpPr/>
          <p:nvPr/>
        </p:nvSpPr>
        <p:spPr>
          <a:xfrm>
            <a:off x="3907946" y="1996856"/>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Tree>
    <p:extLst>
      <p:ext uri="{BB962C8B-B14F-4D97-AF65-F5344CB8AC3E}">
        <p14:creationId xmlns:p14="http://schemas.microsoft.com/office/powerpoint/2010/main" val="17554799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3081FB-4053-A872-095B-C1D1BDE82BE6}"/>
              </a:ext>
            </a:extLst>
          </p:cNvPr>
          <p:cNvPicPr>
            <a:picLocks noChangeAspect="1"/>
          </p:cNvPicPr>
          <p:nvPr/>
        </p:nvPicPr>
        <p:blipFill>
          <a:blip r:embed="rId3"/>
          <a:stretch>
            <a:fillRect/>
          </a:stretch>
        </p:blipFill>
        <p:spPr>
          <a:xfrm>
            <a:off x="819510" y="1228166"/>
            <a:ext cx="10377577" cy="4937063"/>
          </a:xfrm>
          <a:prstGeom prst="rect">
            <a:avLst/>
          </a:prstGeom>
        </p:spPr>
      </p:pic>
      <p:sp>
        <p:nvSpPr>
          <p:cNvPr id="13" name="Title 12"/>
          <p:cNvSpPr>
            <a:spLocks noGrp="1"/>
          </p:cNvSpPr>
          <p:nvPr>
            <p:ph type="title"/>
          </p:nvPr>
        </p:nvSpPr>
        <p:spPr>
          <a:xfrm>
            <a:off x="475488" y="465910"/>
            <a:ext cx="11267392" cy="582679"/>
          </a:xfrm>
        </p:spPr>
        <p:txBody>
          <a:bodyPr vert="horz" lIns="0" tIns="0" rIns="0" bIns="0" rtlCol="0" anchor="t" anchorCtr="0">
            <a:noAutofit/>
          </a:bodyPr>
          <a:lstStyle/>
          <a:p>
            <a:r>
              <a:rPr lang="es-ES_tradnl" sz="3000" dirty="0"/>
              <a:t>Reglas de decisión de admisión</a:t>
            </a:r>
          </a:p>
        </p:txBody>
      </p:sp>
      <p:sp>
        <p:nvSpPr>
          <p:cNvPr id="11" name="Rectángulo redondeado 5">
            <a:extLst>
              <a:ext uri="{FF2B5EF4-FFF2-40B4-BE49-F238E27FC236}">
                <a16:creationId xmlns:a16="http://schemas.microsoft.com/office/drawing/2014/main" id="{473D30A2-ACAD-47C6-9B69-AA801A76CAC9}"/>
              </a:ext>
            </a:extLst>
          </p:cNvPr>
          <p:cNvSpPr/>
          <p:nvPr/>
        </p:nvSpPr>
        <p:spPr>
          <a:xfrm>
            <a:off x="2923524" y="1834624"/>
            <a:ext cx="4241461" cy="29135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Ingrese el periodo en el cual se aplicará la regla</a:t>
            </a:r>
          </a:p>
        </p:txBody>
      </p:sp>
      <p:sp>
        <p:nvSpPr>
          <p:cNvPr id="15" name="Rectángulo redondeado 5">
            <a:extLst>
              <a:ext uri="{FF2B5EF4-FFF2-40B4-BE49-F238E27FC236}">
                <a16:creationId xmlns:a16="http://schemas.microsoft.com/office/drawing/2014/main" id="{F871F35A-64E4-4DB3-B10B-1ABC2A3BBABF}"/>
              </a:ext>
            </a:extLst>
          </p:cNvPr>
          <p:cNvSpPr/>
          <p:nvPr/>
        </p:nvSpPr>
        <p:spPr>
          <a:xfrm>
            <a:off x="3309257" y="2218813"/>
            <a:ext cx="4514526" cy="29910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Ingrese la decisión por asignar si la regla se cumpla</a:t>
            </a:r>
          </a:p>
        </p:txBody>
      </p:sp>
      <p:sp>
        <p:nvSpPr>
          <p:cNvPr id="18" name="Rectángulo redondeado 5">
            <a:extLst>
              <a:ext uri="{FF2B5EF4-FFF2-40B4-BE49-F238E27FC236}">
                <a16:creationId xmlns:a16="http://schemas.microsoft.com/office/drawing/2014/main" id="{9F051A80-D1CE-4DD7-844F-B155A80E7D0C}"/>
              </a:ext>
            </a:extLst>
          </p:cNvPr>
          <p:cNvSpPr/>
          <p:nvPr/>
        </p:nvSpPr>
        <p:spPr>
          <a:xfrm>
            <a:off x="2923524" y="2715783"/>
            <a:ext cx="4669048" cy="71321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Ingrese una prioridad de la regla. Si más que una regla podría aplicar a un postulante, se asignará la decisión según la prioridad de la regla.</a:t>
            </a:r>
          </a:p>
        </p:txBody>
      </p:sp>
      <p:sp>
        <p:nvSpPr>
          <p:cNvPr id="5" name="Rectángulo redondeado 23">
            <a:extLst>
              <a:ext uri="{FF2B5EF4-FFF2-40B4-BE49-F238E27FC236}">
                <a16:creationId xmlns:a16="http://schemas.microsoft.com/office/drawing/2014/main" id="{1078CAD9-C36B-9F09-979D-3A4D727D9353}"/>
              </a:ext>
            </a:extLst>
          </p:cNvPr>
          <p:cNvSpPr/>
          <p:nvPr/>
        </p:nvSpPr>
        <p:spPr>
          <a:xfrm>
            <a:off x="878028" y="1911721"/>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6" name="Rectángulo redondeado 23">
            <a:extLst>
              <a:ext uri="{FF2B5EF4-FFF2-40B4-BE49-F238E27FC236}">
                <a16:creationId xmlns:a16="http://schemas.microsoft.com/office/drawing/2014/main" id="{07A3BF47-B997-B224-DACD-3EA5094C445D}"/>
              </a:ext>
            </a:extLst>
          </p:cNvPr>
          <p:cNvSpPr/>
          <p:nvPr/>
        </p:nvSpPr>
        <p:spPr>
          <a:xfrm>
            <a:off x="878028" y="2218813"/>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7" name="Rectángulo redondeado 23">
            <a:extLst>
              <a:ext uri="{FF2B5EF4-FFF2-40B4-BE49-F238E27FC236}">
                <a16:creationId xmlns:a16="http://schemas.microsoft.com/office/drawing/2014/main" id="{40ED9E3E-E556-F6B9-8570-BB753BDC6DBA}"/>
              </a:ext>
            </a:extLst>
          </p:cNvPr>
          <p:cNvSpPr/>
          <p:nvPr/>
        </p:nvSpPr>
        <p:spPr>
          <a:xfrm>
            <a:off x="2806640" y="2384498"/>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Tree>
    <p:extLst>
      <p:ext uri="{BB962C8B-B14F-4D97-AF65-F5344CB8AC3E}">
        <p14:creationId xmlns:p14="http://schemas.microsoft.com/office/powerpoint/2010/main" val="5259674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FE6FC39-F2E3-CC99-B2A5-88AC8605DD34}"/>
              </a:ext>
            </a:extLst>
          </p:cNvPr>
          <p:cNvPicPr>
            <a:picLocks noChangeAspect="1"/>
          </p:cNvPicPr>
          <p:nvPr/>
        </p:nvPicPr>
        <p:blipFill>
          <a:blip r:embed="rId3"/>
          <a:stretch>
            <a:fillRect/>
          </a:stretch>
        </p:blipFill>
        <p:spPr>
          <a:xfrm>
            <a:off x="672861" y="1165041"/>
            <a:ext cx="10455215" cy="4957918"/>
          </a:xfrm>
          <a:prstGeom prst="rect">
            <a:avLst/>
          </a:prstGeom>
        </p:spPr>
      </p:pic>
      <p:sp>
        <p:nvSpPr>
          <p:cNvPr id="13" name="Title 12"/>
          <p:cNvSpPr>
            <a:spLocks noGrp="1"/>
          </p:cNvSpPr>
          <p:nvPr>
            <p:ph type="title"/>
          </p:nvPr>
        </p:nvSpPr>
        <p:spPr>
          <a:xfrm>
            <a:off x="475488" y="465910"/>
            <a:ext cx="11267392" cy="582679"/>
          </a:xfrm>
        </p:spPr>
        <p:txBody>
          <a:bodyPr vert="horz" lIns="0" tIns="0" rIns="0" bIns="0" rtlCol="0" anchor="t" anchorCtr="0">
            <a:noAutofit/>
          </a:bodyPr>
          <a:lstStyle/>
          <a:p>
            <a:r>
              <a:rPr lang="es-ES_tradnl" sz="3000" dirty="0"/>
              <a:t>Reglas de decisión de admisión</a:t>
            </a:r>
          </a:p>
        </p:txBody>
      </p:sp>
      <p:sp>
        <p:nvSpPr>
          <p:cNvPr id="11" name="Rectángulo redondeado 5">
            <a:extLst>
              <a:ext uri="{FF2B5EF4-FFF2-40B4-BE49-F238E27FC236}">
                <a16:creationId xmlns:a16="http://schemas.microsoft.com/office/drawing/2014/main" id="{473D30A2-ACAD-47C6-9B69-AA801A76CAC9}"/>
              </a:ext>
            </a:extLst>
          </p:cNvPr>
          <p:cNvSpPr/>
          <p:nvPr/>
        </p:nvSpPr>
        <p:spPr>
          <a:xfrm>
            <a:off x="2903507" y="2477258"/>
            <a:ext cx="3090620" cy="69953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Rellene los demás campos con los criterios para identificar los postulantes a quienes la regla debe aplicar</a:t>
            </a:r>
          </a:p>
        </p:txBody>
      </p:sp>
      <p:sp>
        <p:nvSpPr>
          <p:cNvPr id="21" name="Rectángulo redondeado 5">
            <a:extLst>
              <a:ext uri="{FF2B5EF4-FFF2-40B4-BE49-F238E27FC236}">
                <a16:creationId xmlns:a16="http://schemas.microsoft.com/office/drawing/2014/main" id="{BF5D90B8-39C3-4110-A953-39EF68F791B8}"/>
              </a:ext>
            </a:extLst>
          </p:cNvPr>
          <p:cNvSpPr/>
          <p:nvPr/>
        </p:nvSpPr>
        <p:spPr>
          <a:xfrm>
            <a:off x="1911827" y="5888083"/>
            <a:ext cx="3090620" cy="39406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Haga bloque siguiente dos veces</a:t>
            </a:r>
          </a:p>
        </p:txBody>
      </p:sp>
      <p:sp>
        <p:nvSpPr>
          <p:cNvPr id="5" name="Rectángulo redondeado 23">
            <a:extLst>
              <a:ext uri="{FF2B5EF4-FFF2-40B4-BE49-F238E27FC236}">
                <a16:creationId xmlns:a16="http://schemas.microsoft.com/office/drawing/2014/main" id="{9CA5D13F-A9E5-652C-5EE0-10E65B9190FD}"/>
              </a:ext>
            </a:extLst>
          </p:cNvPr>
          <p:cNvSpPr/>
          <p:nvPr/>
        </p:nvSpPr>
        <p:spPr>
          <a:xfrm>
            <a:off x="555976" y="2744183"/>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6" name="Rectángulo redondeado 23">
            <a:extLst>
              <a:ext uri="{FF2B5EF4-FFF2-40B4-BE49-F238E27FC236}">
                <a16:creationId xmlns:a16="http://schemas.microsoft.com/office/drawing/2014/main" id="{8CE59FD4-F316-A2D5-4C79-322A1556AEF9}"/>
              </a:ext>
            </a:extLst>
          </p:cNvPr>
          <p:cNvSpPr/>
          <p:nvPr/>
        </p:nvSpPr>
        <p:spPr>
          <a:xfrm>
            <a:off x="1401364" y="5805240"/>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Tree>
    <p:extLst>
      <p:ext uri="{BB962C8B-B14F-4D97-AF65-F5344CB8AC3E}">
        <p14:creationId xmlns:p14="http://schemas.microsoft.com/office/powerpoint/2010/main" val="15094146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A135077-B39E-7BF1-B822-5D6E739E674D}"/>
              </a:ext>
            </a:extLst>
          </p:cNvPr>
          <p:cNvPicPr>
            <a:picLocks noChangeAspect="1"/>
          </p:cNvPicPr>
          <p:nvPr/>
        </p:nvPicPr>
        <p:blipFill>
          <a:blip r:embed="rId3"/>
          <a:stretch>
            <a:fillRect/>
          </a:stretch>
        </p:blipFill>
        <p:spPr>
          <a:xfrm>
            <a:off x="475489" y="1023340"/>
            <a:ext cx="10791904" cy="5092429"/>
          </a:xfrm>
          <a:prstGeom prst="rect">
            <a:avLst/>
          </a:prstGeom>
        </p:spPr>
      </p:pic>
      <p:sp>
        <p:nvSpPr>
          <p:cNvPr id="13" name="Title 12"/>
          <p:cNvSpPr>
            <a:spLocks noGrp="1"/>
          </p:cNvSpPr>
          <p:nvPr>
            <p:ph type="title"/>
          </p:nvPr>
        </p:nvSpPr>
        <p:spPr>
          <a:xfrm>
            <a:off x="475488" y="465910"/>
            <a:ext cx="11267392" cy="582679"/>
          </a:xfrm>
        </p:spPr>
        <p:txBody>
          <a:bodyPr vert="horz" lIns="0" tIns="0" rIns="0" bIns="0" rtlCol="0" anchor="t" anchorCtr="0">
            <a:noAutofit/>
          </a:bodyPr>
          <a:lstStyle/>
          <a:p>
            <a:r>
              <a:rPr lang="es-ES_tradnl" sz="3000" dirty="0"/>
              <a:t>Reglas de decisión de admisión</a:t>
            </a:r>
          </a:p>
        </p:txBody>
      </p:sp>
      <p:sp>
        <p:nvSpPr>
          <p:cNvPr id="6" name="Rectángulo redondeado 5">
            <a:extLst>
              <a:ext uri="{FF2B5EF4-FFF2-40B4-BE49-F238E27FC236}">
                <a16:creationId xmlns:a16="http://schemas.microsoft.com/office/drawing/2014/main" id="{A851CDB7-C5BC-42D7-A92C-CF0989CBA50D}"/>
              </a:ext>
            </a:extLst>
          </p:cNvPr>
          <p:cNvSpPr/>
          <p:nvPr/>
        </p:nvSpPr>
        <p:spPr>
          <a:xfrm>
            <a:off x="3993277" y="5215517"/>
            <a:ext cx="3090620" cy="79095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Ingrese un código de examen y el puntaje mínimo y/o máximo necesario para que se aplique la decisión indicada anteriormente</a:t>
            </a:r>
          </a:p>
        </p:txBody>
      </p:sp>
      <p:sp>
        <p:nvSpPr>
          <p:cNvPr id="9" name="Rectángulo redondeado 5">
            <a:extLst>
              <a:ext uri="{FF2B5EF4-FFF2-40B4-BE49-F238E27FC236}">
                <a16:creationId xmlns:a16="http://schemas.microsoft.com/office/drawing/2014/main" id="{4252EDAF-371F-44C6-9C23-1A121A149D0F}"/>
              </a:ext>
            </a:extLst>
          </p:cNvPr>
          <p:cNvSpPr/>
          <p:nvPr/>
        </p:nvSpPr>
        <p:spPr>
          <a:xfrm>
            <a:off x="8620917" y="5276131"/>
            <a:ext cx="2583083" cy="40343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Se debe indicar un orden de procesamiento</a:t>
            </a:r>
          </a:p>
        </p:txBody>
      </p:sp>
      <p:sp>
        <p:nvSpPr>
          <p:cNvPr id="11" name="Rectángulo redondeado 23">
            <a:extLst>
              <a:ext uri="{FF2B5EF4-FFF2-40B4-BE49-F238E27FC236}">
                <a16:creationId xmlns:a16="http://schemas.microsoft.com/office/drawing/2014/main" id="{90E291E9-F483-A801-4171-7D3197B9B869}"/>
              </a:ext>
            </a:extLst>
          </p:cNvPr>
          <p:cNvSpPr/>
          <p:nvPr/>
        </p:nvSpPr>
        <p:spPr>
          <a:xfrm>
            <a:off x="6045924" y="4592128"/>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
        <p:nvSpPr>
          <p:cNvPr id="12" name="Rectángulo redondeado 23">
            <a:extLst>
              <a:ext uri="{FF2B5EF4-FFF2-40B4-BE49-F238E27FC236}">
                <a16:creationId xmlns:a16="http://schemas.microsoft.com/office/drawing/2014/main" id="{7E6A9970-DD9D-F267-FFF5-15507C3DF25B}"/>
              </a:ext>
            </a:extLst>
          </p:cNvPr>
          <p:cNvSpPr/>
          <p:nvPr/>
        </p:nvSpPr>
        <p:spPr>
          <a:xfrm>
            <a:off x="10258674" y="4831731"/>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7</a:t>
            </a:r>
          </a:p>
        </p:txBody>
      </p:sp>
    </p:spTree>
    <p:extLst>
      <p:ext uri="{BB962C8B-B14F-4D97-AF65-F5344CB8AC3E}">
        <p14:creationId xmlns:p14="http://schemas.microsoft.com/office/powerpoint/2010/main" val="29132278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06275940-2658-FB71-D37C-D33E822D1E6F}"/>
              </a:ext>
            </a:extLst>
          </p:cNvPr>
          <p:cNvPicPr>
            <a:picLocks noChangeAspect="1"/>
          </p:cNvPicPr>
          <p:nvPr/>
        </p:nvPicPr>
        <p:blipFill>
          <a:blip r:embed="rId3"/>
          <a:stretch>
            <a:fillRect/>
          </a:stretch>
        </p:blipFill>
        <p:spPr>
          <a:xfrm>
            <a:off x="639817" y="1120080"/>
            <a:ext cx="10595071" cy="5024239"/>
          </a:xfrm>
          <a:prstGeom prst="rect">
            <a:avLst/>
          </a:prstGeom>
        </p:spPr>
      </p:pic>
      <p:sp>
        <p:nvSpPr>
          <p:cNvPr id="13" name="Title 12"/>
          <p:cNvSpPr>
            <a:spLocks noGrp="1"/>
          </p:cNvSpPr>
          <p:nvPr>
            <p:ph type="title"/>
          </p:nvPr>
        </p:nvSpPr>
        <p:spPr>
          <a:xfrm>
            <a:off x="475488" y="465910"/>
            <a:ext cx="11267392" cy="582679"/>
          </a:xfrm>
        </p:spPr>
        <p:txBody>
          <a:bodyPr vert="horz" lIns="0" tIns="0" rIns="0" bIns="0" rtlCol="0" anchor="t" anchorCtr="0">
            <a:noAutofit/>
          </a:bodyPr>
          <a:lstStyle/>
          <a:p>
            <a:r>
              <a:rPr lang="es-ES_tradnl" sz="3000" dirty="0"/>
              <a:t>Reglas de decisión de admisión</a:t>
            </a:r>
          </a:p>
        </p:txBody>
      </p:sp>
      <p:sp>
        <p:nvSpPr>
          <p:cNvPr id="5" name="Rectángulo redondeado 5">
            <a:extLst>
              <a:ext uri="{FF2B5EF4-FFF2-40B4-BE49-F238E27FC236}">
                <a16:creationId xmlns:a16="http://schemas.microsoft.com/office/drawing/2014/main" id="{42E616BD-C4DC-408D-88B8-7CA7270CBAF3}"/>
              </a:ext>
            </a:extLst>
          </p:cNvPr>
          <p:cNvSpPr/>
          <p:nvPr/>
        </p:nvSpPr>
        <p:spPr>
          <a:xfrm>
            <a:off x="7677057" y="2394858"/>
            <a:ext cx="3090620" cy="75316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Se puede asociar más que un examen con una regla, utilizando el botón Insertar</a:t>
            </a:r>
          </a:p>
        </p:txBody>
      </p:sp>
      <p:sp>
        <p:nvSpPr>
          <p:cNvPr id="6" name="Rectángulo redondeado 5">
            <a:extLst>
              <a:ext uri="{FF2B5EF4-FFF2-40B4-BE49-F238E27FC236}">
                <a16:creationId xmlns:a16="http://schemas.microsoft.com/office/drawing/2014/main" id="{A1744209-1FBF-46DF-8223-8D739997B294}"/>
              </a:ext>
            </a:extLst>
          </p:cNvPr>
          <p:cNvSpPr/>
          <p:nvPr/>
        </p:nvSpPr>
        <p:spPr>
          <a:xfrm>
            <a:off x="678107" y="2068723"/>
            <a:ext cx="3539548" cy="95137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Cuando hay múltiples exámenes se debe indicar la relación entre ellos. El primero de la lista siempre tendrá la relación Ninguno, pero todos los demás exámenes deben tener una relación de Y u O con los anteriores.</a:t>
            </a:r>
          </a:p>
        </p:txBody>
      </p:sp>
      <p:sp>
        <p:nvSpPr>
          <p:cNvPr id="10" name="Rectángulo redondeado 5">
            <a:extLst>
              <a:ext uri="{FF2B5EF4-FFF2-40B4-BE49-F238E27FC236}">
                <a16:creationId xmlns:a16="http://schemas.microsoft.com/office/drawing/2014/main" id="{EB5123DB-3D59-4BCB-AFB4-1D75B88E9D56}"/>
              </a:ext>
            </a:extLst>
          </p:cNvPr>
          <p:cNvSpPr/>
          <p:nvPr/>
        </p:nvSpPr>
        <p:spPr>
          <a:xfrm>
            <a:off x="4588518" y="5211137"/>
            <a:ext cx="3539548" cy="61885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Se pueden utilizar paréntesis para agrupar condiciones de exámenes</a:t>
            </a:r>
          </a:p>
        </p:txBody>
      </p:sp>
      <p:sp>
        <p:nvSpPr>
          <p:cNvPr id="21" name="Rectángulo redondeado 5">
            <a:extLst>
              <a:ext uri="{FF2B5EF4-FFF2-40B4-BE49-F238E27FC236}">
                <a16:creationId xmlns:a16="http://schemas.microsoft.com/office/drawing/2014/main" id="{61C46301-A204-41A3-A2BC-FF5229F0A819}"/>
              </a:ext>
            </a:extLst>
          </p:cNvPr>
          <p:cNvSpPr/>
          <p:nvPr/>
        </p:nvSpPr>
        <p:spPr>
          <a:xfrm>
            <a:off x="10500510" y="6190751"/>
            <a:ext cx="909867" cy="24750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Grabe</a:t>
            </a:r>
          </a:p>
        </p:txBody>
      </p:sp>
      <p:sp>
        <p:nvSpPr>
          <p:cNvPr id="18" name="Rectángulo redondeado 23">
            <a:extLst>
              <a:ext uri="{FF2B5EF4-FFF2-40B4-BE49-F238E27FC236}">
                <a16:creationId xmlns:a16="http://schemas.microsoft.com/office/drawing/2014/main" id="{602FF495-0460-A14B-BF94-B64A7D06A94D}"/>
              </a:ext>
            </a:extLst>
          </p:cNvPr>
          <p:cNvSpPr/>
          <p:nvPr/>
        </p:nvSpPr>
        <p:spPr>
          <a:xfrm>
            <a:off x="7297110" y="2753322"/>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8</a:t>
            </a:r>
          </a:p>
        </p:txBody>
      </p:sp>
      <p:sp>
        <p:nvSpPr>
          <p:cNvPr id="22" name="Rectángulo redondeado 23">
            <a:extLst>
              <a:ext uri="{FF2B5EF4-FFF2-40B4-BE49-F238E27FC236}">
                <a16:creationId xmlns:a16="http://schemas.microsoft.com/office/drawing/2014/main" id="{10434A29-4A8E-301A-E43C-FC551C335A31}"/>
              </a:ext>
            </a:extLst>
          </p:cNvPr>
          <p:cNvSpPr/>
          <p:nvPr/>
        </p:nvSpPr>
        <p:spPr>
          <a:xfrm>
            <a:off x="2330996" y="4674137"/>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9</a:t>
            </a:r>
          </a:p>
        </p:txBody>
      </p:sp>
      <p:sp>
        <p:nvSpPr>
          <p:cNvPr id="23" name="Rectángulo redondeado 23">
            <a:extLst>
              <a:ext uri="{FF2B5EF4-FFF2-40B4-BE49-F238E27FC236}">
                <a16:creationId xmlns:a16="http://schemas.microsoft.com/office/drawing/2014/main" id="{387D025A-8A38-D0C2-8756-BED6B589FBEE}"/>
              </a:ext>
            </a:extLst>
          </p:cNvPr>
          <p:cNvSpPr/>
          <p:nvPr/>
        </p:nvSpPr>
        <p:spPr>
          <a:xfrm>
            <a:off x="3870463" y="5016651"/>
            <a:ext cx="382193" cy="2329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050" dirty="0"/>
              <a:t>10</a:t>
            </a:r>
          </a:p>
        </p:txBody>
      </p:sp>
      <p:sp>
        <p:nvSpPr>
          <p:cNvPr id="24" name="Rectángulo redondeado 23">
            <a:extLst>
              <a:ext uri="{FF2B5EF4-FFF2-40B4-BE49-F238E27FC236}">
                <a16:creationId xmlns:a16="http://schemas.microsoft.com/office/drawing/2014/main" id="{7DD7A158-1449-14BE-FB11-E857589628C7}"/>
              </a:ext>
            </a:extLst>
          </p:cNvPr>
          <p:cNvSpPr/>
          <p:nvPr/>
        </p:nvSpPr>
        <p:spPr>
          <a:xfrm>
            <a:off x="9845693" y="5937603"/>
            <a:ext cx="382193" cy="2329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050" dirty="0"/>
              <a:t>11</a:t>
            </a:r>
          </a:p>
        </p:txBody>
      </p:sp>
    </p:spTree>
    <p:extLst>
      <p:ext uri="{BB962C8B-B14F-4D97-AF65-F5344CB8AC3E}">
        <p14:creationId xmlns:p14="http://schemas.microsoft.com/office/powerpoint/2010/main" val="34504494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D57386E0-7F5F-4753-4FED-3F449A1AD809}"/>
              </a:ext>
            </a:extLst>
          </p:cNvPr>
          <p:cNvPicPr>
            <a:picLocks noChangeAspect="1"/>
          </p:cNvPicPr>
          <p:nvPr/>
        </p:nvPicPr>
        <p:blipFill>
          <a:blip r:embed="rId3"/>
          <a:stretch>
            <a:fillRect/>
          </a:stretch>
        </p:blipFill>
        <p:spPr>
          <a:xfrm>
            <a:off x="475488" y="1078368"/>
            <a:ext cx="10998679" cy="5246760"/>
          </a:xfrm>
          <a:prstGeom prst="rect">
            <a:avLst/>
          </a:prstGeom>
        </p:spPr>
      </p:pic>
      <p:sp>
        <p:nvSpPr>
          <p:cNvPr id="13" name="Title 12"/>
          <p:cNvSpPr>
            <a:spLocks noGrp="1"/>
          </p:cNvSpPr>
          <p:nvPr>
            <p:ph type="title"/>
          </p:nvPr>
        </p:nvSpPr>
        <p:spPr>
          <a:xfrm>
            <a:off x="475488" y="465910"/>
            <a:ext cx="11267392" cy="582679"/>
          </a:xfrm>
        </p:spPr>
        <p:txBody>
          <a:bodyPr vert="horz" lIns="0" tIns="0" rIns="0" bIns="0" rtlCol="0" anchor="t" anchorCtr="0">
            <a:noAutofit/>
          </a:bodyPr>
          <a:lstStyle/>
          <a:p>
            <a:r>
              <a:rPr lang="es-ES_tradnl" sz="3000" dirty="0"/>
              <a:t>Asignar decisiones: Masiva</a:t>
            </a:r>
          </a:p>
        </p:txBody>
      </p:sp>
      <p:sp>
        <p:nvSpPr>
          <p:cNvPr id="8" name="Rectángulo redondeado 5">
            <a:extLst>
              <a:ext uri="{FF2B5EF4-FFF2-40B4-BE49-F238E27FC236}">
                <a16:creationId xmlns:a16="http://schemas.microsoft.com/office/drawing/2014/main" id="{E2977ADF-F955-4894-B3B3-EE8639399B32}"/>
              </a:ext>
            </a:extLst>
          </p:cNvPr>
          <p:cNvSpPr/>
          <p:nvPr/>
        </p:nvSpPr>
        <p:spPr>
          <a:xfrm>
            <a:off x="5974827" y="1446393"/>
            <a:ext cx="3576417" cy="58267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Utilice el proceso SARBDSN para asignar las decisiones según las reglas</a:t>
            </a:r>
          </a:p>
        </p:txBody>
      </p:sp>
      <p:sp>
        <p:nvSpPr>
          <p:cNvPr id="10" name="Rectángulo redondeado 5">
            <a:extLst>
              <a:ext uri="{FF2B5EF4-FFF2-40B4-BE49-F238E27FC236}">
                <a16:creationId xmlns:a16="http://schemas.microsoft.com/office/drawing/2014/main" id="{10FCEEA0-E797-4E0D-92E8-66962DAD773A}"/>
              </a:ext>
            </a:extLst>
          </p:cNvPr>
          <p:cNvSpPr/>
          <p:nvPr/>
        </p:nvSpPr>
        <p:spPr>
          <a:xfrm>
            <a:off x="2598535" y="1832486"/>
            <a:ext cx="3141389" cy="35840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Ingrese la impresora DATABASE</a:t>
            </a:r>
          </a:p>
        </p:txBody>
      </p:sp>
      <p:sp>
        <p:nvSpPr>
          <p:cNvPr id="15" name="Rectángulo redondeado 5">
            <a:extLst>
              <a:ext uri="{FF2B5EF4-FFF2-40B4-BE49-F238E27FC236}">
                <a16:creationId xmlns:a16="http://schemas.microsoft.com/office/drawing/2014/main" id="{63A51E62-75D0-4644-8742-B1DA9307BE57}"/>
              </a:ext>
            </a:extLst>
          </p:cNvPr>
          <p:cNvSpPr/>
          <p:nvPr/>
        </p:nvSpPr>
        <p:spPr>
          <a:xfrm>
            <a:off x="7605496" y="3701748"/>
            <a:ext cx="3141389" cy="58267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Complete los parámetros (refiérase al siguiente slide para más información)</a:t>
            </a:r>
          </a:p>
        </p:txBody>
      </p:sp>
      <p:sp>
        <p:nvSpPr>
          <p:cNvPr id="22" name="Rectángulo redondeado 23">
            <a:extLst>
              <a:ext uri="{FF2B5EF4-FFF2-40B4-BE49-F238E27FC236}">
                <a16:creationId xmlns:a16="http://schemas.microsoft.com/office/drawing/2014/main" id="{B72F01FB-B6CE-8928-E6CF-940410F93C8F}"/>
              </a:ext>
            </a:extLst>
          </p:cNvPr>
          <p:cNvSpPr/>
          <p:nvPr/>
        </p:nvSpPr>
        <p:spPr>
          <a:xfrm>
            <a:off x="558727" y="2011690"/>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23" name="Rectángulo redondeado 23">
            <a:extLst>
              <a:ext uri="{FF2B5EF4-FFF2-40B4-BE49-F238E27FC236}">
                <a16:creationId xmlns:a16="http://schemas.microsoft.com/office/drawing/2014/main" id="{281BC81E-E3B4-4B5F-2AA3-26E4A4E02B2D}"/>
              </a:ext>
            </a:extLst>
          </p:cNvPr>
          <p:cNvSpPr/>
          <p:nvPr/>
        </p:nvSpPr>
        <p:spPr>
          <a:xfrm>
            <a:off x="6837035" y="3500177"/>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Tree>
    <p:extLst>
      <p:ext uri="{BB962C8B-B14F-4D97-AF65-F5344CB8AC3E}">
        <p14:creationId xmlns:p14="http://schemas.microsoft.com/office/powerpoint/2010/main" val="35759041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475488" y="465910"/>
            <a:ext cx="11267392" cy="582679"/>
          </a:xfrm>
        </p:spPr>
        <p:txBody>
          <a:bodyPr vert="horz" lIns="0" tIns="0" rIns="0" bIns="0" rtlCol="0" anchor="t" anchorCtr="0">
            <a:noAutofit/>
          </a:bodyPr>
          <a:lstStyle/>
          <a:p>
            <a:r>
              <a:rPr lang="es-ES_tradnl" sz="3000" dirty="0"/>
              <a:t>Asignar decisiones: Masiva</a:t>
            </a:r>
          </a:p>
        </p:txBody>
      </p:sp>
      <p:sp>
        <p:nvSpPr>
          <p:cNvPr id="3" name="TextBox 2">
            <a:extLst>
              <a:ext uri="{FF2B5EF4-FFF2-40B4-BE49-F238E27FC236}">
                <a16:creationId xmlns:a16="http://schemas.microsoft.com/office/drawing/2014/main" id="{8D3646AD-106C-4644-95F3-73E3418D9166}"/>
              </a:ext>
            </a:extLst>
          </p:cNvPr>
          <p:cNvSpPr txBox="1"/>
          <p:nvPr/>
        </p:nvSpPr>
        <p:spPr>
          <a:xfrm>
            <a:off x="4495800" y="1361781"/>
            <a:ext cx="7220713" cy="3867725"/>
          </a:xfrm>
          <a:prstGeom prst="rect">
            <a:avLst/>
          </a:prstGeom>
          <a:noFill/>
        </p:spPr>
        <p:txBody>
          <a:bodyPr wrap="square" rtlCol="0">
            <a:spAutoFit/>
          </a:bodyPr>
          <a:lstStyle/>
          <a:p>
            <a:pPr marL="228594" indent="-228594">
              <a:spcAft>
                <a:spcPts val="1600"/>
              </a:spcAft>
              <a:buFont typeface="Arial" panose="020B0604020202020204" pitchFamily="34" charset="0"/>
              <a:buChar char="•"/>
            </a:pPr>
            <a:r>
              <a:rPr lang="es-CL" sz="1600" b="1" dirty="0">
                <a:solidFill>
                  <a:schemeClr val="accent1"/>
                </a:solidFill>
              </a:rPr>
              <a:t>01</a:t>
            </a:r>
            <a:r>
              <a:rPr lang="es-CL" sz="1600" dirty="0"/>
              <a:t>: Indique el periodo por procesar.</a:t>
            </a:r>
          </a:p>
          <a:p>
            <a:pPr marL="228594" indent="-228594">
              <a:spcAft>
                <a:spcPts val="1600"/>
              </a:spcAft>
              <a:buFont typeface="Arial" panose="020B0604020202020204" pitchFamily="34" charset="0"/>
              <a:buChar char="•"/>
            </a:pPr>
            <a:r>
              <a:rPr lang="es-CL" sz="1600" b="1" dirty="0">
                <a:solidFill>
                  <a:schemeClr val="accent1"/>
                </a:solidFill>
              </a:rPr>
              <a:t>02-10 </a:t>
            </a:r>
            <a:r>
              <a:rPr lang="es-CL" sz="1600" dirty="0"/>
              <a:t>y </a:t>
            </a:r>
            <a:r>
              <a:rPr lang="es-CL" sz="1600" b="1" dirty="0">
                <a:solidFill>
                  <a:schemeClr val="accent1"/>
                </a:solidFill>
              </a:rPr>
              <a:t>12-15</a:t>
            </a:r>
            <a:r>
              <a:rPr lang="es-CL" sz="1600" dirty="0"/>
              <a:t>: (Opcional) Si se desea aplicar decisiones a sólo ciertas solicitudes, indique los criterios para identificar las solicitudes por procesar. </a:t>
            </a:r>
          </a:p>
          <a:p>
            <a:pPr marL="228594" indent="-228594">
              <a:spcAft>
                <a:spcPts val="1600"/>
              </a:spcAft>
              <a:buFont typeface="Arial" panose="020B0604020202020204" pitchFamily="34" charset="0"/>
              <a:buChar char="•"/>
            </a:pPr>
            <a:r>
              <a:rPr lang="es-CL" sz="1600" b="1" dirty="0">
                <a:solidFill>
                  <a:schemeClr val="accent1"/>
                </a:solidFill>
              </a:rPr>
              <a:t>11</a:t>
            </a:r>
            <a:r>
              <a:rPr lang="es-CL" sz="1600" dirty="0"/>
              <a:t>: Indique el valor </a:t>
            </a:r>
            <a:r>
              <a:rPr lang="es-CL" sz="1600" b="1" dirty="0"/>
              <a:t>N </a:t>
            </a:r>
            <a:r>
              <a:rPr lang="es-CL" sz="1600" dirty="0"/>
              <a:t>si desea ejecutar el proceso en modo de auditoría (permite validar el proceso antes de aplicar las decisiones - recomendado). Indique el valor </a:t>
            </a:r>
            <a:r>
              <a:rPr lang="es-CL" sz="1600" b="1" dirty="0"/>
              <a:t>Y</a:t>
            </a:r>
            <a:r>
              <a:rPr lang="es-CL" sz="1600" dirty="0"/>
              <a:t> para asignar las decisiones.</a:t>
            </a:r>
          </a:p>
          <a:p>
            <a:pPr>
              <a:spcAft>
                <a:spcPts val="1600"/>
              </a:spcAft>
            </a:pPr>
            <a:r>
              <a:rPr lang="es-CL" sz="1600" b="1" dirty="0">
                <a:solidFill>
                  <a:schemeClr val="accent5"/>
                </a:solidFill>
              </a:rPr>
              <a:t>Observación 1</a:t>
            </a:r>
            <a:r>
              <a:rPr lang="es-CL" sz="1600" dirty="0"/>
              <a:t>: Este proceso </a:t>
            </a:r>
            <a:r>
              <a:rPr lang="es-CL" sz="1600" b="1" dirty="0"/>
              <a:t>no</a:t>
            </a:r>
            <a:r>
              <a:rPr lang="es-CL" sz="1600" dirty="0"/>
              <a:t> asignará una decisión a una solicitud si tiene ítems obligatorios pendientes en su lista de verificación.</a:t>
            </a:r>
          </a:p>
          <a:p>
            <a:pPr>
              <a:spcAft>
                <a:spcPts val="1600"/>
              </a:spcAft>
            </a:pPr>
            <a:r>
              <a:rPr lang="es-CL" sz="1600" b="1" dirty="0">
                <a:solidFill>
                  <a:schemeClr val="accent5"/>
                </a:solidFill>
              </a:rPr>
              <a:t>Observación 2</a:t>
            </a:r>
            <a:r>
              <a:rPr lang="es-CL" sz="1600" dirty="0"/>
              <a:t>: Se debe crear reglas de decisión en SAADCSN para cada periodo de admisión. (Es decir, las reglas creadas para 201910 sólo aplicarán a solicitudes de 201910, y no podrán ser aplicadas a solicitudes de otros periodos.) </a:t>
            </a:r>
          </a:p>
        </p:txBody>
      </p:sp>
      <p:pic>
        <p:nvPicPr>
          <p:cNvPr id="5" name="Picture 4">
            <a:extLst>
              <a:ext uri="{FF2B5EF4-FFF2-40B4-BE49-F238E27FC236}">
                <a16:creationId xmlns:a16="http://schemas.microsoft.com/office/drawing/2014/main" id="{C4945E50-A2FC-2F5E-C1DB-0602924074F0}"/>
              </a:ext>
            </a:extLst>
          </p:cNvPr>
          <p:cNvPicPr>
            <a:picLocks noChangeAspect="1"/>
          </p:cNvPicPr>
          <p:nvPr/>
        </p:nvPicPr>
        <p:blipFill>
          <a:blip r:embed="rId3"/>
          <a:stretch>
            <a:fillRect/>
          </a:stretch>
        </p:blipFill>
        <p:spPr>
          <a:xfrm>
            <a:off x="221321" y="1620789"/>
            <a:ext cx="3933825" cy="3962400"/>
          </a:xfrm>
          <a:prstGeom prst="rect">
            <a:avLst/>
          </a:prstGeom>
        </p:spPr>
      </p:pic>
    </p:spTree>
    <p:extLst>
      <p:ext uri="{BB962C8B-B14F-4D97-AF65-F5344CB8AC3E}">
        <p14:creationId xmlns:p14="http://schemas.microsoft.com/office/powerpoint/2010/main" val="20037375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19DC0A0-C9C5-A890-3EFC-A3254C9ED5B9}"/>
              </a:ext>
            </a:extLst>
          </p:cNvPr>
          <p:cNvPicPr>
            <a:picLocks noChangeAspect="1"/>
          </p:cNvPicPr>
          <p:nvPr/>
        </p:nvPicPr>
        <p:blipFill>
          <a:blip r:embed="rId3"/>
          <a:stretch>
            <a:fillRect/>
          </a:stretch>
        </p:blipFill>
        <p:spPr>
          <a:xfrm>
            <a:off x="656771" y="1102256"/>
            <a:ext cx="10757140" cy="5137403"/>
          </a:xfrm>
          <a:prstGeom prst="rect">
            <a:avLst/>
          </a:prstGeom>
        </p:spPr>
      </p:pic>
      <p:sp>
        <p:nvSpPr>
          <p:cNvPr id="13" name="Title 12"/>
          <p:cNvSpPr>
            <a:spLocks noGrp="1"/>
          </p:cNvSpPr>
          <p:nvPr>
            <p:ph type="title"/>
          </p:nvPr>
        </p:nvSpPr>
        <p:spPr>
          <a:xfrm>
            <a:off x="493776" y="465910"/>
            <a:ext cx="11267392" cy="582679"/>
          </a:xfrm>
        </p:spPr>
        <p:txBody>
          <a:bodyPr vert="horz" lIns="0" tIns="0" rIns="0" bIns="0" rtlCol="0" anchor="t" anchorCtr="0">
            <a:noAutofit/>
          </a:bodyPr>
          <a:lstStyle/>
          <a:p>
            <a:r>
              <a:rPr lang="es-ES_tradnl" sz="3000" dirty="0"/>
              <a:t>Asignar decisiones: Masiva</a:t>
            </a:r>
          </a:p>
        </p:txBody>
      </p:sp>
      <p:sp>
        <p:nvSpPr>
          <p:cNvPr id="6" name="Rectángulo redondeado 5">
            <a:extLst>
              <a:ext uri="{FF2B5EF4-FFF2-40B4-BE49-F238E27FC236}">
                <a16:creationId xmlns:a16="http://schemas.microsoft.com/office/drawing/2014/main" id="{171C9FAB-B5A3-4B4B-BFE4-6F6B047551B3}"/>
              </a:ext>
            </a:extLst>
          </p:cNvPr>
          <p:cNvSpPr/>
          <p:nvPr/>
        </p:nvSpPr>
        <p:spPr>
          <a:xfrm>
            <a:off x="1866437" y="977550"/>
            <a:ext cx="4077163" cy="58267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Si desea copiar reglas de periodo en periodo, se puede usar el proceso SARDCSN</a:t>
            </a:r>
          </a:p>
        </p:txBody>
      </p:sp>
      <p:sp>
        <p:nvSpPr>
          <p:cNvPr id="8" name="Rectángulo redondeado 5">
            <a:extLst>
              <a:ext uri="{FF2B5EF4-FFF2-40B4-BE49-F238E27FC236}">
                <a16:creationId xmlns:a16="http://schemas.microsoft.com/office/drawing/2014/main" id="{082D857E-0818-457C-8623-F33020D564A4}"/>
              </a:ext>
            </a:extLst>
          </p:cNvPr>
          <p:cNvSpPr/>
          <p:nvPr/>
        </p:nvSpPr>
        <p:spPr>
          <a:xfrm>
            <a:off x="4372906" y="2102981"/>
            <a:ext cx="3141389" cy="35840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Ingrese la impresora DATABASE</a:t>
            </a:r>
          </a:p>
        </p:txBody>
      </p:sp>
      <p:sp>
        <p:nvSpPr>
          <p:cNvPr id="12" name="Rectángulo redondeado 5">
            <a:extLst>
              <a:ext uri="{FF2B5EF4-FFF2-40B4-BE49-F238E27FC236}">
                <a16:creationId xmlns:a16="http://schemas.microsoft.com/office/drawing/2014/main" id="{C91B4F99-D473-42CB-8CF2-5EE8AC924CDE}"/>
              </a:ext>
            </a:extLst>
          </p:cNvPr>
          <p:cNvSpPr/>
          <p:nvPr/>
        </p:nvSpPr>
        <p:spPr>
          <a:xfrm>
            <a:off x="8272522" y="3487920"/>
            <a:ext cx="3141389" cy="69219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Complete los parámetros (refiérase al siguiente slide para más información)</a:t>
            </a:r>
          </a:p>
        </p:txBody>
      </p:sp>
      <p:sp>
        <p:nvSpPr>
          <p:cNvPr id="16" name="Rectángulo redondeado 5">
            <a:extLst>
              <a:ext uri="{FF2B5EF4-FFF2-40B4-BE49-F238E27FC236}">
                <a16:creationId xmlns:a16="http://schemas.microsoft.com/office/drawing/2014/main" id="{614D362B-3372-46A0-A092-5C837E7827CD}"/>
              </a:ext>
            </a:extLst>
          </p:cNvPr>
          <p:cNvSpPr/>
          <p:nvPr/>
        </p:nvSpPr>
        <p:spPr>
          <a:xfrm>
            <a:off x="10009277" y="5244931"/>
            <a:ext cx="2017787" cy="51081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Grabe (se ejecutará el proceso)</a:t>
            </a:r>
          </a:p>
        </p:txBody>
      </p:sp>
      <p:sp>
        <p:nvSpPr>
          <p:cNvPr id="5" name="Rectángulo redondeado 23">
            <a:extLst>
              <a:ext uri="{FF2B5EF4-FFF2-40B4-BE49-F238E27FC236}">
                <a16:creationId xmlns:a16="http://schemas.microsoft.com/office/drawing/2014/main" id="{3215EDB8-4EAB-9DFD-80A9-D72529FEE552}"/>
              </a:ext>
            </a:extLst>
          </p:cNvPr>
          <p:cNvSpPr/>
          <p:nvPr/>
        </p:nvSpPr>
        <p:spPr>
          <a:xfrm>
            <a:off x="558727" y="2011690"/>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7" name="Rectángulo redondeado 23">
            <a:extLst>
              <a:ext uri="{FF2B5EF4-FFF2-40B4-BE49-F238E27FC236}">
                <a16:creationId xmlns:a16="http://schemas.microsoft.com/office/drawing/2014/main" id="{255406BD-2E25-4A92-43BD-56E707990919}"/>
              </a:ext>
            </a:extLst>
          </p:cNvPr>
          <p:cNvSpPr/>
          <p:nvPr/>
        </p:nvSpPr>
        <p:spPr>
          <a:xfrm>
            <a:off x="5140742" y="3405077"/>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8" name="Rectángulo redondeado 23">
            <a:extLst>
              <a:ext uri="{FF2B5EF4-FFF2-40B4-BE49-F238E27FC236}">
                <a16:creationId xmlns:a16="http://schemas.microsoft.com/office/drawing/2014/main" id="{54923A7F-0009-8819-8F02-8EB554763249}"/>
              </a:ext>
            </a:extLst>
          </p:cNvPr>
          <p:cNvSpPr/>
          <p:nvPr/>
        </p:nvSpPr>
        <p:spPr>
          <a:xfrm>
            <a:off x="10607014" y="5914859"/>
            <a:ext cx="23376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Tree>
    <p:extLst>
      <p:ext uri="{BB962C8B-B14F-4D97-AF65-F5344CB8AC3E}">
        <p14:creationId xmlns:p14="http://schemas.microsoft.com/office/powerpoint/2010/main" val="25892206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493776" y="465910"/>
            <a:ext cx="11267392" cy="582679"/>
          </a:xfrm>
        </p:spPr>
        <p:txBody>
          <a:bodyPr vert="horz" lIns="0" tIns="0" rIns="0" bIns="0" rtlCol="0" anchor="t" anchorCtr="0">
            <a:noAutofit/>
          </a:bodyPr>
          <a:lstStyle/>
          <a:p>
            <a:r>
              <a:rPr lang="es-ES_tradnl" sz="3000" dirty="0"/>
              <a:t>Asignar decisiones: Masiva</a:t>
            </a:r>
          </a:p>
        </p:txBody>
      </p:sp>
      <p:sp>
        <p:nvSpPr>
          <p:cNvPr id="6" name="TextBox 5">
            <a:extLst>
              <a:ext uri="{FF2B5EF4-FFF2-40B4-BE49-F238E27FC236}">
                <a16:creationId xmlns:a16="http://schemas.microsoft.com/office/drawing/2014/main" id="{DDA76A9B-D45F-4695-BFC1-3548BEA1E17C}"/>
              </a:ext>
            </a:extLst>
          </p:cNvPr>
          <p:cNvSpPr txBox="1"/>
          <p:nvPr/>
        </p:nvSpPr>
        <p:spPr>
          <a:xfrm>
            <a:off x="4495800" y="1361782"/>
            <a:ext cx="7220713" cy="1487587"/>
          </a:xfrm>
          <a:prstGeom prst="rect">
            <a:avLst/>
          </a:prstGeom>
          <a:noFill/>
        </p:spPr>
        <p:txBody>
          <a:bodyPr wrap="square" rtlCol="0">
            <a:spAutoFit/>
          </a:bodyPr>
          <a:lstStyle/>
          <a:p>
            <a:pPr marL="228594" indent="-228594">
              <a:spcAft>
                <a:spcPts val="1600"/>
              </a:spcAft>
              <a:buFont typeface="Arial" panose="020B0604020202020204" pitchFamily="34" charset="0"/>
              <a:buChar char="•"/>
            </a:pPr>
            <a:r>
              <a:rPr lang="es-CL" sz="1600" b="1" dirty="0">
                <a:solidFill>
                  <a:schemeClr val="accent1"/>
                </a:solidFill>
              </a:rPr>
              <a:t>01</a:t>
            </a:r>
            <a:r>
              <a:rPr lang="es-CL" sz="1600" dirty="0"/>
              <a:t>: Indique el periodo con reglas existentes por copiar</a:t>
            </a:r>
          </a:p>
          <a:p>
            <a:pPr marL="228594" indent="-228594">
              <a:spcAft>
                <a:spcPts val="1600"/>
              </a:spcAft>
              <a:buFont typeface="Arial" panose="020B0604020202020204" pitchFamily="34" charset="0"/>
              <a:buChar char="•"/>
            </a:pPr>
            <a:r>
              <a:rPr lang="es-CL" sz="1600" b="1" dirty="0">
                <a:solidFill>
                  <a:schemeClr val="accent1"/>
                </a:solidFill>
              </a:rPr>
              <a:t>02</a:t>
            </a:r>
            <a:r>
              <a:rPr lang="es-CL" sz="1600" dirty="0"/>
              <a:t>: Indique el nuevo periodo al cual estarán copiadas las reglas. </a:t>
            </a:r>
          </a:p>
          <a:p>
            <a:pPr marL="228594" indent="-228594">
              <a:spcAft>
                <a:spcPts val="1600"/>
              </a:spcAft>
              <a:buFont typeface="Arial" panose="020B0604020202020204" pitchFamily="34" charset="0"/>
              <a:buChar char="•"/>
            </a:pPr>
            <a:r>
              <a:rPr lang="es-CL" sz="1600" b="1" dirty="0">
                <a:solidFill>
                  <a:schemeClr val="accent1"/>
                </a:solidFill>
              </a:rPr>
              <a:t>03</a:t>
            </a:r>
            <a:r>
              <a:rPr lang="es-CL" sz="1600" dirty="0"/>
              <a:t>: Ingrese el valor </a:t>
            </a:r>
            <a:r>
              <a:rPr lang="es-CL" sz="1600" b="1" dirty="0"/>
              <a:t>Y</a:t>
            </a:r>
            <a:r>
              <a:rPr lang="es-CL" sz="1600" dirty="0"/>
              <a:t> para eliminar las reglas del periodo indicado en parámetro 01 después de copiarlas o </a:t>
            </a:r>
            <a:r>
              <a:rPr lang="es-CL" sz="1600" b="1" dirty="0"/>
              <a:t>N</a:t>
            </a:r>
            <a:r>
              <a:rPr lang="es-CL" sz="1600" dirty="0"/>
              <a:t> para mantenerlas.</a:t>
            </a:r>
          </a:p>
        </p:txBody>
      </p:sp>
      <p:pic>
        <p:nvPicPr>
          <p:cNvPr id="3" name="Picture 2">
            <a:extLst>
              <a:ext uri="{FF2B5EF4-FFF2-40B4-BE49-F238E27FC236}">
                <a16:creationId xmlns:a16="http://schemas.microsoft.com/office/drawing/2014/main" id="{D9D3FEDE-3907-4496-B397-C32A130632D4}"/>
              </a:ext>
            </a:extLst>
          </p:cNvPr>
          <p:cNvPicPr>
            <a:picLocks noChangeAspect="1"/>
          </p:cNvPicPr>
          <p:nvPr/>
        </p:nvPicPr>
        <p:blipFill>
          <a:blip r:embed="rId3"/>
          <a:srcRect r="32075"/>
          <a:stretch>
            <a:fillRect/>
          </a:stretch>
        </p:blipFill>
        <p:spPr>
          <a:xfrm>
            <a:off x="475487" y="1283808"/>
            <a:ext cx="3933646" cy="1495425"/>
          </a:xfrm>
          <a:prstGeom prst="rect">
            <a:avLst/>
          </a:prstGeom>
        </p:spPr>
      </p:pic>
    </p:spTree>
    <p:extLst>
      <p:ext uri="{BB962C8B-B14F-4D97-AF65-F5344CB8AC3E}">
        <p14:creationId xmlns:p14="http://schemas.microsoft.com/office/powerpoint/2010/main" val="33174243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ECA41-D968-57FB-4438-209E67DD1298}"/>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3CAF9896-20AC-624F-53EA-8DD6E7AEC7F6}"/>
              </a:ext>
            </a:extLst>
          </p:cNvPr>
          <p:cNvSpPr>
            <a:spLocks noGrp="1"/>
          </p:cNvSpPr>
          <p:nvPr>
            <p:ph type="body" orient="vert" sz="quarter" idx="10"/>
          </p:nvPr>
        </p:nvSpPr>
        <p:spPr/>
        <p:txBody>
          <a:bodyPr/>
          <a:lstStyle/>
          <a:p>
            <a:r>
              <a:rPr lang="es-419" sz="1200" dirty="0"/>
              <a:t>Val</a:t>
            </a:r>
            <a:r>
              <a:rPr lang="es-419" dirty="0"/>
              <a:t>idar los datos suplementarios</a:t>
            </a:r>
            <a:endParaRPr lang="en-US" dirty="0"/>
          </a:p>
        </p:txBody>
      </p:sp>
      <p:sp>
        <p:nvSpPr>
          <p:cNvPr id="16" name="Title 15">
            <a:extLst>
              <a:ext uri="{FF2B5EF4-FFF2-40B4-BE49-F238E27FC236}">
                <a16:creationId xmlns:a16="http://schemas.microsoft.com/office/drawing/2014/main" id="{3C63224C-E10E-CCE0-56EF-F232A0AB5FB8}"/>
              </a:ext>
            </a:extLst>
          </p:cNvPr>
          <p:cNvSpPr>
            <a:spLocks noGrp="1"/>
          </p:cNvSpPr>
          <p:nvPr>
            <p:ph type="title"/>
          </p:nvPr>
        </p:nvSpPr>
        <p:spPr>
          <a:xfrm>
            <a:off x="984827" y="258335"/>
            <a:ext cx="7092820" cy="1628192"/>
          </a:xfrm>
        </p:spPr>
        <p:txBody>
          <a:bodyPr/>
          <a:lstStyle/>
          <a:p>
            <a:r>
              <a:rPr lang="en-US" sz="3600" dirty="0"/>
              <a:t>RESUMEN</a:t>
            </a:r>
          </a:p>
        </p:txBody>
      </p:sp>
      <p:sp>
        <p:nvSpPr>
          <p:cNvPr id="2" name="Text Placeholder 4">
            <a:extLst>
              <a:ext uri="{FF2B5EF4-FFF2-40B4-BE49-F238E27FC236}">
                <a16:creationId xmlns:a16="http://schemas.microsoft.com/office/drawing/2014/main" id="{63DC88A0-1776-8F51-3024-BA519C709A01}"/>
              </a:ext>
            </a:extLst>
          </p:cNvPr>
          <p:cNvSpPr>
            <a:spLocks noGrp="1"/>
          </p:cNvSpPr>
          <p:nvPr>
            <p:ph type="body" sz="quarter" idx="18"/>
          </p:nvPr>
        </p:nvSpPr>
        <p:spPr>
          <a:xfrm>
            <a:off x="984826" y="2008765"/>
            <a:ext cx="10687221" cy="4022580"/>
          </a:xfrm>
        </p:spPr>
        <p:txBody>
          <a:bodyPr/>
          <a:lstStyle/>
          <a:p>
            <a:pPr marL="0" indent="0">
              <a:buNone/>
            </a:pPr>
            <a:r>
              <a:rPr lang="es-419" sz="2000" dirty="0"/>
              <a:t>Validar los datos suplementarios</a:t>
            </a:r>
          </a:p>
          <a:p>
            <a:pPr marL="460375" lvl="1" indent="-285750">
              <a:buFont typeface="Arial" panose="020B0604020202020204" pitchFamily="34" charset="0"/>
              <a:buChar char="•"/>
            </a:pPr>
            <a:r>
              <a:rPr lang="es-ES_tradnl" sz="2000" dirty="0"/>
              <a:t>Se puede asignar una decisión de admisión a una solicitud individual en SAADCRV.</a:t>
            </a:r>
          </a:p>
          <a:p>
            <a:pPr marL="460375" lvl="1" indent="-285750">
              <a:buFont typeface="Arial" panose="020B0604020202020204" pitchFamily="34" charset="0"/>
              <a:buChar char="•"/>
            </a:pPr>
            <a:r>
              <a:rPr lang="es-ES_tradnl" sz="2000" dirty="0"/>
              <a:t>Alternativamente, se puede definir reglas de decisión en SAADCSN y después aplicar las reglas con el proceso SARBDSN para asignar decisiones masivamente.</a:t>
            </a:r>
          </a:p>
          <a:p>
            <a:pPr marL="628650" lvl="2" indent="-285750">
              <a:buFont typeface="Arial" panose="020B0604020202020204" pitchFamily="34" charset="0"/>
              <a:buChar char="•"/>
            </a:pPr>
            <a:r>
              <a:rPr lang="es-ES_tradnl" sz="2000" dirty="0"/>
              <a:t>Es necesario crear reglas para cada periodo. Se puede copiar reglas de periodo en periodo con el proceso SARDCSN.</a:t>
            </a:r>
          </a:p>
        </p:txBody>
      </p:sp>
      <p:sp>
        <p:nvSpPr>
          <p:cNvPr id="18" name="Slide Number Placeholder 17">
            <a:extLst>
              <a:ext uri="{FF2B5EF4-FFF2-40B4-BE49-F238E27FC236}">
                <a16:creationId xmlns:a16="http://schemas.microsoft.com/office/drawing/2014/main" id="{4A17BD17-12E0-539D-FE47-84112E4F9F09}"/>
              </a:ext>
            </a:extLst>
          </p:cNvPr>
          <p:cNvSpPr>
            <a:spLocks noGrp="1"/>
          </p:cNvSpPr>
          <p:nvPr>
            <p:ph type="sldNum" sz="quarter" idx="4"/>
          </p:nvPr>
        </p:nvSpPr>
        <p:spPr/>
        <p:txBody>
          <a:bodyPr/>
          <a:lstStyle/>
          <a:p>
            <a:fld id="{4A16F8ED-7337-F64C-865A-41A1F48E54DF}" type="slidenum">
              <a:rPr lang="en-US" smtClean="0"/>
              <a:pPr/>
              <a:t>25</a:t>
            </a:fld>
            <a:endParaRPr lang="en-US" dirty="0"/>
          </a:p>
        </p:txBody>
      </p:sp>
    </p:spTree>
    <p:extLst>
      <p:ext uri="{BB962C8B-B14F-4D97-AF65-F5344CB8AC3E}">
        <p14:creationId xmlns:p14="http://schemas.microsoft.com/office/powerpoint/2010/main" val="1106838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0ACF4-A6E4-06F3-2BA5-7DBD551D7B3F}"/>
            </a:ext>
          </a:extLst>
        </p:cNvPr>
        <p:cNvGrpSpPr/>
        <p:nvPr/>
      </p:nvGrpSpPr>
      <p:grpSpPr>
        <a:xfrm>
          <a:off x="0" y="0"/>
          <a:ext cx="0" cy="0"/>
          <a:chOff x="0" y="0"/>
          <a:chExt cx="0" cy="0"/>
        </a:xfrm>
      </p:grpSpPr>
      <p:sp>
        <p:nvSpPr>
          <p:cNvPr id="13" name="Marcador de texto 12">
            <a:extLst>
              <a:ext uri="{FF2B5EF4-FFF2-40B4-BE49-F238E27FC236}">
                <a16:creationId xmlns:a16="http://schemas.microsoft.com/office/drawing/2014/main" id="{F7F3E3E6-3D65-C648-0DD7-6E8F3AB03F0D}"/>
              </a:ext>
            </a:extLst>
          </p:cNvPr>
          <p:cNvSpPr>
            <a:spLocks noGrp="1"/>
          </p:cNvSpPr>
          <p:nvPr>
            <p:ph type="body" sz="quarter" idx="10"/>
          </p:nvPr>
        </p:nvSpPr>
        <p:spPr>
          <a:xfrm>
            <a:off x="914399" y="2238843"/>
            <a:ext cx="10363202" cy="669094"/>
          </a:xfrm>
        </p:spPr>
        <p:txBody>
          <a:bodyPr/>
          <a:lstStyle/>
          <a:p>
            <a:r>
              <a:rPr lang="es-419" noProof="0" dirty="0"/>
              <a:t>MUCHAS GRACIAS</a:t>
            </a:r>
          </a:p>
        </p:txBody>
      </p:sp>
      <p:sp>
        <p:nvSpPr>
          <p:cNvPr id="5" name="Marcador de texto 4">
            <a:extLst>
              <a:ext uri="{FF2B5EF4-FFF2-40B4-BE49-F238E27FC236}">
                <a16:creationId xmlns:a16="http://schemas.microsoft.com/office/drawing/2014/main" id="{470858B2-425E-FB27-8D50-62D47DB73D27}"/>
              </a:ext>
            </a:extLst>
          </p:cNvPr>
          <p:cNvSpPr>
            <a:spLocks noGrp="1"/>
          </p:cNvSpPr>
          <p:nvPr>
            <p:ph type="body" sz="quarter" idx="11"/>
          </p:nvPr>
        </p:nvSpPr>
        <p:spPr>
          <a:xfrm>
            <a:off x="1229043" y="4584074"/>
            <a:ext cx="10363202" cy="324961"/>
          </a:xfrm>
        </p:spPr>
        <p:txBody>
          <a:bodyPr/>
          <a:lstStyle/>
          <a:p>
            <a:pPr algn="l"/>
            <a:r>
              <a:rPr lang="es-419" sz="2000" noProof="0" dirty="0"/>
              <a:t>Consultor</a:t>
            </a:r>
          </a:p>
        </p:txBody>
      </p:sp>
      <p:pic>
        <p:nvPicPr>
          <p:cNvPr id="8" name="Graphic 7" descr="User with solid fill">
            <a:extLst>
              <a:ext uri="{FF2B5EF4-FFF2-40B4-BE49-F238E27FC236}">
                <a16:creationId xmlns:a16="http://schemas.microsoft.com/office/drawing/2014/main" id="{BB71EFEC-5BED-A3B3-5055-1811AC8E99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4490" y="4609395"/>
            <a:ext cx="274320" cy="274320"/>
          </a:xfrm>
          <a:prstGeom prst="rect">
            <a:avLst/>
          </a:prstGeom>
        </p:spPr>
      </p:pic>
      <p:pic>
        <p:nvPicPr>
          <p:cNvPr id="9" name="Graphic 8" descr="Email with solid fill">
            <a:extLst>
              <a:ext uri="{FF2B5EF4-FFF2-40B4-BE49-F238E27FC236}">
                <a16:creationId xmlns:a16="http://schemas.microsoft.com/office/drawing/2014/main" id="{5878D393-87CA-630B-596F-8936D5A436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3543" y="4985033"/>
            <a:ext cx="274320" cy="274320"/>
          </a:xfrm>
          <a:prstGeom prst="rect">
            <a:avLst/>
          </a:prstGeom>
        </p:spPr>
      </p:pic>
      <p:sp>
        <p:nvSpPr>
          <p:cNvPr id="11" name="Marcador de texto 4">
            <a:extLst>
              <a:ext uri="{FF2B5EF4-FFF2-40B4-BE49-F238E27FC236}">
                <a16:creationId xmlns:a16="http://schemas.microsoft.com/office/drawing/2014/main" id="{A5F836FE-B1CC-0407-A687-6652339C37F4}"/>
              </a:ext>
            </a:extLst>
          </p:cNvPr>
          <p:cNvSpPr txBox="1">
            <a:spLocks/>
          </p:cNvSpPr>
          <p:nvPr/>
        </p:nvSpPr>
        <p:spPr>
          <a:xfrm>
            <a:off x="1229043" y="4959712"/>
            <a:ext cx="5334046" cy="324961"/>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600"/>
              </a:spcAft>
              <a:buFont typeface="Arial" panose="020B0604020202020204" pitchFamily="34" charset="0"/>
              <a:buNone/>
              <a:defRPr sz="2000" b="0" kern="1200">
                <a:solidFill>
                  <a:schemeClr val="bg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noProof="0" dirty="0"/>
              <a:t>Correo</a:t>
            </a:r>
          </a:p>
        </p:txBody>
      </p:sp>
    </p:spTree>
    <p:extLst>
      <p:ext uri="{BB962C8B-B14F-4D97-AF65-F5344CB8AC3E}">
        <p14:creationId xmlns:p14="http://schemas.microsoft.com/office/powerpoint/2010/main" val="3106451088"/>
      </p:ext>
    </p:extLst>
  </p:cSld>
  <p:clrMapOvr>
    <a:masterClrMapping/>
  </p:clrMapOvr>
</p:sld>
</file>

<file path=ppt/theme/theme1.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Ellucian-PPT-Template-2026</Template>
  <TotalTime>8791</TotalTime>
  <Words>925</Words>
  <Application>Microsoft Office PowerPoint</Application>
  <PresentationFormat>Widescreen</PresentationFormat>
  <Paragraphs>133</Paragraphs>
  <Slides>26</Slides>
  <Notes>13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26</vt:i4>
      </vt:variant>
    </vt:vector>
  </HeadingPairs>
  <TitlesOfParts>
    <vt:vector size="35" baseType="lpstr">
      <vt:lpstr>Aptos</vt:lpstr>
      <vt:lpstr>Aptos Display</vt:lpstr>
      <vt:lpstr>Arial</vt:lpstr>
      <vt:lpstr>Calibri</vt:lpstr>
      <vt:lpstr>Courier New</vt:lpstr>
      <vt:lpstr>Helvetica Neue</vt:lpstr>
      <vt:lpstr>Wingdings</vt:lpstr>
      <vt:lpstr>Ellucian Main Layouts</vt:lpstr>
      <vt:lpstr>Ellucian Blank Layouts</vt:lpstr>
      <vt:lpstr>PowerPoint Presentation</vt:lpstr>
      <vt:lpstr>PowerPoint Presentation</vt:lpstr>
      <vt:lpstr>Overview</vt:lpstr>
      <vt:lpstr>Overview: Mapa de capacidades</vt:lpstr>
      <vt:lpstr>Overview: Procedimiento evaluar la solicitud de admisión</vt:lpstr>
      <vt:lpstr>Overview: Procedimiento- Evaluar la solicitud de admisión</vt:lpstr>
      <vt:lpstr>Overview: Región donde aplica</vt:lpstr>
      <vt:lpstr>Overview: Evaluar la solicitud de admisión</vt:lpstr>
      <vt:lpstr>Asignar decisiones </vt:lpstr>
      <vt:lpstr>Individual </vt:lpstr>
      <vt:lpstr>Asignar decisiones: Individual</vt:lpstr>
      <vt:lpstr>Asignar decisiones: Individual</vt:lpstr>
      <vt:lpstr>Asignar decisiones: Individual</vt:lpstr>
      <vt:lpstr>Asignar decisiones: Individual</vt:lpstr>
      <vt:lpstr>Masiva </vt:lpstr>
      <vt:lpstr>Reglas de decisión de admisión</vt:lpstr>
      <vt:lpstr>Reglas de decisión de admisión</vt:lpstr>
      <vt:lpstr>Reglas de decisión de admisión</vt:lpstr>
      <vt:lpstr>Reglas de decisión de admisión</vt:lpstr>
      <vt:lpstr>Reglas de decisión de admisión</vt:lpstr>
      <vt:lpstr>Asignar decisiones: Masiva</vt:lpstr>
      <vt:lpstr>Asignar decisiones: Masiva</vt:lpstr>
      <vt:lpstr>Asignar decisiones: Masiva</vt:lpstr>
      <vt:lpstr>Asignar decisiones: Masiva</vt:lpstr>
      <vt:lpstr>RESUMEN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Gestionar conceptos de cobro y pago</dc:title>
  <dc:creator>Mardones, Francisco</dc:creator>
  <cp:lastModifiedBy>Molina, Sergio</cp:lastModifiedBy>
  <cp:revision>665</cp:revision>
  <dcterms:created xsi:type="dcterms:W3CDTF">2023-07-17T20:07:38Z</dcterms:created>
  <dcterms:modified xsi:type="dcterms:W3CDTF">2026-04-14T16:30:18Z</dcterms:modified>
</cp:coreProperties>
</file>
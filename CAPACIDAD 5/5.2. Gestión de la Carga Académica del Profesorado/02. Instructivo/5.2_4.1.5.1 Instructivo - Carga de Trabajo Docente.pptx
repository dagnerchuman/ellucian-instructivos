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3.xml" ContentType="application/vnd.openxmlformats-officedocument.theme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  <p:sldMasterId id="2147483751" r:id="rId2"/>
    <p:sldMasterId id="2147483771" r:id="rId3"/>
    <p:sldMasterId id="2147483808" r:id="rId4"/>
  </p:sldMasterIdLst>
  <p:notesMasterIdLst>
    <p:notesMasterId r:id="rId49"/>
  </p:notesMasterIdLst>
  <p:sldIdLst>
    <p:sldId id="257" r:id="rId5"/>
    <p:sldId id="423" r:id="rId6"/>
    <p:sldId id="476" r:id="rId7"/>
    <p:sldId id="348" r:id="rId8"/>
    <p:sldId id="349" r:id="rId9"/>
    <p:sldId id="350" r:id="rId10"/>
    <p:sldId id="484" r:id="rId11"/>
    <p:sldId id="421" r:id="rId12"/>
    <p:sldId id="352" r:id="rId13"/>
    <p:sldId id="469" r:id="rId14"/>
    <p:sldId id="355" r:id="rId15"/>
    <p:sldId id="487" r:id="rId16"/>
    <p:sldId id="520" r:id="rId17"/>
    <p:sldId id="474" r:id="rId18"/>
    <p:sldId id="488" r:id="rId19"/>
    <p:sldId id="491" r:id="rId20"/>
    <p:sldId id="498" r:id="rId21"/>
    <p:sldId id="499" r:id="rId22"/>
    <p:sldId id="500" r:id="rId23"/>
    <p:sldId id="501" r:id="rId24"/>
    <p:sldId id="490" r:id="rId25"/>
    <p:sldId id="503" r:id="rId26"/>
    <p:sldId id="492" r:id="rId27"/>
    <p:sldId id="494" r:id="rId28"/>
    <p:sldId id="495" r:id="rId29"/>
    <p:sldId id="496" r:id="rId30"/>
    <p:sldId id="497" r:id="rId31"/>
    <p:sldId id="489" r:id="rId32"/>
    <p:sldId id="485" r:id="rId33"/>
    <p:sldId id="506" r:id="rId34"/>
    <p:sldId id="507" r:id="rId35"/>
    <p:sldId id="508" r:id="rId36"/>
    <p:sldId id="524" r:id="rId37"/>
    <p:sldId id="525" r:id="rId38"/>
    <p:sldId id="502" r:id="rId39"/>
    <p:sldId id="504" r:id="rId40"/>
    <p:sldId id="505" r:id="rId41"/>
    <p:sldId id="511" r:id="rId42"/>
    <p:sldId id="523" r:id="rId43"/>
    <p:sldId id="518" r:id="rId44"/>
    <p:sldId id="519" r:id="rId45"/>
    <p:sldId id="521" r:id="rId46"/>
    <p:sldId id="345" r:id="rId47"/>
    <p:sldId id="620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1D8A825-6094-F40C-3852-859E2E57EF50}" name="Paredes, Claudio" initials="CP" userId="S::Claudio.Paredes@ellucian.com::fb4c8112-fb4f-4a31-afa3-9cde86169bd8" providerId="AD"/>
  <p188:author id="{0538742B-AA87-7862-DC8C-B887E2934E04}" name="Herrera Mejía, Faver" initials="FH" userId="S::Faver.HerreraMejia@ellucian.com::a216f920-99da-41f1-ba24-0851e945f311" providerId="AD"/>
  <p188:author id="{0E539551-222C-61D3-F57B-104FF550F0E9}" name="Daniela López Ospino" initials="DL" userId="S::daniela.lopez@cesa.edu.co::e5b24024-a4ca-41d6-bb62-8d441da97dac" providerId="AD"/>
  <p188:author id="{94B06FD8-FBF7-48A6-EC94-7EAC12BBF7D7}" name="Mardones, Francisco" initials="MF" userId="S::Francisco.Mardones@ellucian.com::216dec8c-35d0-45c5-a341-2c26a65575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00B0"/>
    <a:srgbClr val="0CA8B4"/>
    <a:srgbClr val="33CCCC"/>
    <a:srgbClr val="0C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C7A533-0155-44AA-B449-0CA993ACF957}" v="8" dt="2026-04-14T20:24:41.6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55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22212-D69D-41E4-A547-75F507D8A64A}" type="datetimeFigureOut">
              <a:rPr lang="es-CL" smtClean="0"/>
              <a:t>30-06-2026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582945-6648-41CA-B880-4B10E0E0332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908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69980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775096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53566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81302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81880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78647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50032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502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614041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500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31250903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5553428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3069345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9097362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35474006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778694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254854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7253494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0801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8580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2677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6111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6998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732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9906494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1686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5996251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0482181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998852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957655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858330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948819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0505975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2198541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330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2615-324D-B5FF-2EBE-81DB544E7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285997"/>
            <a:ext cx="7317783" cy="1282485"/>
          </a:xfrm>
        </p:spPr>
        <p:txBody>
          <a:bodyPr l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8C979F-7ABF-A5C6-5C58-6DD9C3DA76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599" y="3792020"/>
            <a:ext cx="7317783" cy="774441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118141F-3632-B706-5864-39BC20F0FD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" y="5186273"/>
            <a:ext cx="7092820" cy="1056694"/>
          </a:xfrm>
        </p:spPr>
        <p:txBody>
          <a:bodyPr l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Name, Job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176DD36-E885-ABAF-DBBD-C96AC12C77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09088" y="5603032"/>
            <a:ext cx="2373312" cy="569168"/>
          </a:xfrm>
        </p:spPr>
        <p:txBody>
          <a:bodyPr rIns="0" bIns="0" anchor="b" anchorCtr="0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457200" indent="0" algn="r">
              <a:buNone/>
              <a:defRPr sz="1600">
                <a:solidFill>
                  <a:schemeClr val="bg1"/>
                </a:solidFill>
              </a:defRPr>
            </a:lvl2pPr>
            <a:lvl3pPr marL="914400" indent="0" algn="r">
              <a:buNone/>
              <a:defRPr sz="1400">
                <a:solidFill>
                  <a:schemeClr val="bg1"/>
                </a:solidFill>
              </a:defRPr>
            </a:lvl3pPr>
            <a:lvl4pPr marL="1371600" indent="0" algn="r">
              <a:buNone/>
              <a:defRPr sz="1200">
                <a:solidFill>
                  <a:schemeClr val="bg1"/>
                </a:solidFill>
              </a:defRPr>
            </a:lvl4pPr>
            <a:lvl5pPr marL="1828800" indent="0" algn="r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Month XX, 20XX</a:t>
            </a:r>
          </a:p>
        </p:txBody>
      </p:sp>
    </p:spTree>
    <p:extLst>
      <p:ext uri="{BB962C8B-B14F-4D97-AF65-F5344CB8AC3E}">
        <p14:creationId xmlns:p14="http://schemas.microsoft.com/office/powerpoint/2010/main" val="10633586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/>
              <a:t>Subhead (not required, max two lines)</a:t>
            </a:r>
          </a:p>
          <a:p>
            <a:pPr lvl="0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907750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1733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-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Sub-section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/>
              <a:t>Sub-subhead (not required, max two lines)</a:t>
            </a:r>
          </a:p>
          <a:p>
            <a:pPr lvl="0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829278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428560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486223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070275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15120833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1325159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9491662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818146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02264845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642688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0324559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464749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1625818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3053003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864376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7334572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7579805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3745319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8015368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02833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9820007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72733736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936472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9423520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8671577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4719122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1190087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933908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415437015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3256415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5810737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032695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9573746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8163609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343725045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6835863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06112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1344525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89043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18773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24780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47424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42013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87485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281298055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78308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3394338130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3885398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9065128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2188502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7310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18436001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818154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2723877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97378722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/>
              <a:t>Subhead (not required, max two lines)</a:t>
            </a:r>
          </a:p>
          <a:p>
            <a:pPr lvl="0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66192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5638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588094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97542946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96023275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7882841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62850835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16505124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83398214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91749262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08871967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54378852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6872599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10237638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8551017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51678885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33790092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1389396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033100112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26531567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5339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57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0.xml"/><Relationship Id="rId18" Type="http://schemas.openxmlformats.org/officeDocument/2006/relationships/slideLayout" Target="../slideLayouts/slideLayout75.xml"/><Relationship Id="rId26" Type="http://schemas.openxmlformats.org/officeDocument/2006/relationships/slideLayout" Target="../slideLayouts/slideLayout83.xml"/><Relationship Id="rId21" Type="http://schemas.openxmlformats.org/officeDocument/2006/relationships/slideLayout" Target="../slideLayouts/slideLayout78.xml"/><Relationship Id="rId34" Type="http://schemas.openxmlformats.org/officeDocument/2006/relationships/slideLayout" Target="../slideLayouts/slideLayout91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4.xml"/><Relationship Id="rId25" Type="http://schemas.openxmlformats.org/officeDocument/2006/relationships/slideLayout" Target="../slideLayouts/slideLayout82.xml"/><Relationship Id="rId33" Type="http://schemas.openxmlformats.org/officeDocument/2006/relationships/slideLayout" Target="../slideLayouts/slideLayout90.xml"/><Relationship Id="rId38" Type="http://schemas.openxmlformats.org/officeDocument/2006/relationships/image" Target="../media/image1.svg"/><Relationship Id="rId2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73.xml"/><Relationship Id="rId20" Type="http://schemas.openxmlformats.org/officeDocument/2006/relationships/slideLayout" Target="../slideLayouts/slideLayout77.xml"/><Relationship Id="rId29" Type="http://schemas.openxmlformats.org/officeDocument/2006/relationships/slideLayout" Target="../slideLayouts/slideLayout86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24" Type="http://schemas.openxmlformats.org/officeDocument/2006/relationships/slideLayout" Target="../slideLayouts/slideLayout81.xml"/><Relationship Id="rId32" Type="http://schemas.openxmlformats.org/officeDocument/2006/relationships/slideLayout" Target="../slideLayouts/slideLayout89.xml"/><Relationship Id="rId37" Type="http://schemas.openxmlformats.org/officeDocument/2006/relationships/theme" Target="../theme/theme3.xml"/><Relationship Id="rId5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72.xml"/><Relationship Id="rId23" Type="http://schemas.openxmlformats.org/officeDocument/2006/relationships/slideLayout" Target="../slideLayouts/slideLayout80.xml"/><Relationship Id="rId28" Type="http://schemas.openxmlformats.org/officeDocument/2006/relationships/slideLayout" Target="../slideLayouts/slideLayout85.xml"/><Relationship Id="rId36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67.xml"/><Relationship Id="rId19" Type="http://schemas.openxmlformats.org/officeDocument/2006/relationships/slideLayout" Target="../slideLayouts/slideLayout76.xml"/><Relationship Id="rId31" Type="http://schemas.openxmlformats.org/officeDocument/2006/relationships/slideLayout" Target="../slideLayouts/slideLayout88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Relationship Id="rId22" Type="http://schemas.openxmlformats.org/officeDocument/2006/relationships/slideLayout" Target="../slideLayouts/slideLayout79.xml"/><Relationship Id="rId27" Type="http://schemas.openxmlformats.org/officeDocument/2006/relationships/slideLayout" Target="../slideLayouts/slideLayout84.xml"/><Relationship Id="rId30" Type="http://schemas.openxmlformats.org/officeDocument/2006/relationships/slideLayout" Target="../slideLayouts/slideLayout87.xml"/><Relationship Id="rId35" Type="http://schemas.openxmlformats.org/officeDocument/2006/relationships/slideLayout" Target="../slideLayouts/slideLayout92.xml"/><Relationship Id="rId8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1.xml"/><Relationship Id="rId13" Type="http://schemas.openxmlformats.org/officeDocument/2006/relationships/slideLayout" Target="../slideLayouts/slideLayout106.xml"/><Relationship Id="rId18" Type="http://schemas.openxmlformats.org/officeDocument/2006/relationships/slideLayout" Target="../slideLayouts/slideLayout111.xml"/><Relationship Id="rId3" Type="http://schemas.openxmlformats.org/officeDocument/2006/relationships/slideLayout" Target="../slideLayouts/slideLayout96.xml"/><Relationship Id="rId7" Type="http://schemas.openxmlformats.org/officeDocument/2006/relationships/slideLayout" Target="../slideLayouts/slideLayout100.xml"/><Relationship Id="rId12" Type="http://schemas.openxmlformats.org/officeDocument/2006/relationships/slideLayout" Target="../slideLayouts/slideLayout105.xml"/><Relationship Id="rId17" Type="http://schemas.openxmlformats.org/officeDocument/2006/relationships/slideLayout" Target="../slideLayouts/slideLayout110.xml"/><Relationship Id="rId2" Type="http://schemas.openxmlformats.org/officeDocument/2006/relationships/slideLayout" Target="../slideLayouts/slideLayout95.xml"/><Relationship Id="rId16" Type="http://schemas.openxmlformats.org/officeDocument/2006/relationships/slideLayout" Target="../slideLayouts/slideLayout109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94.xml"/><Relationship Id="rId6" Type="http://schemas.openxmlformats.org/officeDocument/2006/relationships/slideLayout" Target="../slideLayouts/slideLayout99.xml"/><Relationship Id="rId11" Type="http://schemas.openxmlformats.org/officeDocument/2006/relationships/slideLayout" Target="../slideLayouts/slideLayout104.xml"/><Relationship Id="rId5" Type="http://schemas.openxmlformats.org/officeDocument/2006/relationships/slideLayout" Target="../slideLayouts/slideLayout98.xml"/><Relationship Id="rId15" Type="http://schemas.openxmlformats.org/officeDocument/2006/relationships/slideLayout" Target="../slideLayouts/slideLayout108.xml"/><Relationship Id="rId10" Type="http://schemas.openxmlformats.org/officeDocument/2006/relationships/slideLayout" Target="../slideLayouts/slideLayout103.xml"/><Relationship Id="rId19" Type="http://schemas.openxmlformats.org/officeDocument/2006/relationships/slideLayout" Target="../slideLayouts/slideLayout112.xml"/><Relationship Id="rId4" Type="http://schemas.openxmlformats.org/officeDocument/2006/relationships/slideLayout" Target="../slideLayouts/slideLayout97.xml"/><Relationship Id="rId9" Type="http://schemas.openxmlformats.org/officeDocument/2006/relationships/slideLayout" Target="../slideLayouts/slideLayout102.xml"/><Relationship Id="rId14" Type="http://schemas.openxmlformats.org/officeDocument/2006/relationships/slideLayout" Target="../slideLayouts/slideLayout10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98643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  <p:sldLayoutId id="2147483732" r:id="rId21"/>
    <p:sldLayoutId id="2147483733" r:id="rId22"/>
    <p:sldLayoutId id="2147483734" r:id="rId23"/>
    <p:sldLayoutId id="2147483735" r:id="rId24"/>
    <p:sldLayoutId id="2147483736" r:id="rId25"/>
    <p:sldLayoutId id="2147483737" r:id="rId26"/>
    <p:sldLayoutId id="2147483738" r:id="rId27"/>
    <p:sldLayoutId id="2147483739" r:id="rId28"/>
    <p:sldLayoutId id="2147483740" r:id="rId29"/>
    <p:sldLayoutId id="2147483741" r:id="rId30"/>
    <p:sldLayoutId id="2147483742" r:id="rId31"/>
    <p:sldLayoutId id="2147483743" r:id="rId32"/>
    <p:sldLayoutId id="2147483744" r:id="rId33"/>
    <p:sldLayoutId id="2147483745" r:id="rId34"/>
    <p:sldLayoutId id="2147483746" r:id="rId35"/>
    <p:sldLayoutId id="2147483747" r:id="rId36"/>
    <p:sldLayoutId id="2147483748" r:id="rId37"/>
    <p:sldLayoutId id="2147483749" r:id="rId3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3458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  <p:sldLayoutId id="2147483768" r:id="rId17"/>
    <p:sldLayoutId id="2147483769" r:id="rId18"/>
    <p:sldLayoutId id="2147483770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07782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  <p:sldLayoutId id="2147483785" r:id="rId14"/>
    <p:sldLayoutId id="2147483786" r:id="rId15"/>
    <p:sldLayoutId id="2147483787" r:id="rId16"/>
    <p:sldLayoutId id="2147483788" r:id="rId17"/>
    <p:sldLayoutId id="2147483789" r:id="rId18"/>
    <p:sldLayoutId id="2147483790" r:id="rId19"/>
    <p:sldLayoutId id="2147483791" r:id="rId20"/>
    <p:sldLayoutId id="2147483792" r:id="rId21"/>
    <p:sldLayoutId id="2147483793" r:id="rId22"/>
    <p:sldLayoutId id="2147483794" r:id="rId23"/>
    <p:sldLayoutId id="2147483795" r:id="rId24"/>
    <p:sldLayoutId id="2147483796" r:id="rId25"/>
    <p:sldLayoutId id="2147483797" r:id="rId26"/>
    <p:sldLayoutId id="2147483798" r:id="rId27"/>
    <p:sldLayoutId id="2147483799" r:id="rId28"/>
    <p:sldLayoutId id="2147483800" r:id="rId29"/>
    <p:sldLayoutId id="2147483801" r:id="rId30"/>
    <p:sldLayoutId id="2147483802" r:id="rId31"/>
    <p:sldLayoutId id="2147483803" r:id="rId32"/>
    <p:sldLayoutId id="2147483804" r:id="rId33"/>
    <p:sldLayoutId id="2147483805" r:id="rId34"/>
    <p:sldLayoutId id="2147483806" r:id="rId35"/>
    <p:sldLayoutId id="2147483807" r:id="rId3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9731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  <p:sldLayoutId id="2147483821" r:id="rId13"/>
    <p:sldLayoutId id="2147483822" r:id="rId14"/>
    <p:sldLayoutId id="2147483823" r:id="rId15"/>
    <p:sldLayoutId id="2147483824" r:id="rId16"/>
    <p:sldLayoutId id="2147483825" r:id="rId17"/>
    <p:sldLayoutId id="2147483826" r:id="rId18"/>
    <p:sldLayoutId id="214748382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775F30-4948-8625-4D18-95EE2803BD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6902" y="2249757"/>
            <a:ext cx="5427132" cy="1336723"/>
          </a:xfrm>
        </p:spPr>
        <p:txBody>
          <a:bodyPr>
            <a:normAutofit/>
          </a:bodyPr>
          <a:lstStyle/>
          <a:p>
            <a:r>
              <a:rPr lang="es-ES"/>
              <a:t>Gestionar la Carga de Trabajo Docente</a:t>
            </a:r>
            <a:endParaRPr lang="es-CL"/>
          </a:p>
        </p:txBody>
      </p:sp>
      <p:pic>
        <p:nvPicPr>
          <p:cNvPr id="8" name="Marcador de posición de imagen 8" descr="Un par de personas sentadas en una mesa&#10;&#10;El contenido generado por IA puede ser incorrecto.">
            <a:extLst>
              <a:ext uri="{FF2B5EF4-FFF2-40B4-BE49-F238E27FC236}">
                <a16:creationId xmlns:a16="http://schemas.microsoft.com/office/drawing/2014/main" id="{821FAC7A-0C26-C954-7093-A22F76D354F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9" r="17869"/>
          <a:stretch>
            <a:fillRect/>
          </a:stretch>
        </p:blipFill>
        <p:spPr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</p:pic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3C365DF8-25D8-DF24-696B-6FE5BAE0C3F2}"/>
              </a:ext>
            </a:extLst>
          </p:cNvPr>
          <p:cNvSpPr txBox="1">
            <a:spLocks/>
          </p:cNvSpPr>
          <p:nvPr/>
        </p:nvSpPr>
        <p:spPr>
          <a:xfrm>
            <a:off x="589062" y="3388886"/>
            <a:ext cx="5427132" cy="66351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/>
              <a:t>Instructivo</a:t>
            </a:r>
          </a:p>
        </p:txBody>
      </p:sp>
      <p:sp>
        <p:nvSpPr>
          <p:cNvPr id="7" name="Marcador de texto 4">
            <a:extLst>
              <a:ext uri="{FF2B5EF4-FFF2-40B4-BE49-F238E27FC236}">
                <a16:creationId xmlns:a16="http://schemas.microsoft.com/office/drawing/2014/main" id="{EA02737D-2FAB-C972-FBDB-6DA542CE5B4D}"/>
              </a:ext>
            </a:extLst>
          </p:cNvPr>
          <p:cNvSpPr txBox="1">
            <a:spLocks/>
          </p:cNvSpPr>
          <p:nvPr/>
        </p:nvSpPr>
        <p:spPr>
          <a:xfrm>
            <a:off x="556902" y="5609784"/>
            <a:ext cx="3032274" cy="39805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/>
              <a:t>Consultor</a:t>
            </a:r>
          </a:p>
          <a:p>
            <a:r>
              <a:rPr lang="es-419"/>
              <a:t>Cargo</a:t>
            </a:r>
            <a:endParaRPr lang="es-419" dirty="0"/>
          </a:p>
        </p:txBody>
      </p:sp>
      <p:sp>
        <p:nvSpPr>
          <p:cNvPr id="10" name="Marcador de texto 5">
            <a:extLst>
              <a:ext uri="{FF2B5EF4-FFF2-40B4-BE49-F238E27FC236}">
                <a16:creationId xmlns:a16="http://schemas.microsoft.com/office/drawing/2014/main" id="{5C0BC0FA-3563-7F19-0DB8-00B290632714}"/>
              </a:ext>
            </a:extLst>
          </p:cNvPr>
          <p:cNvSpPr txBox="1">
            <a:spLocks/>
          </p:cNvSpPr>
          <p:nvPr/>
        </p:nvSpPr>
        <p:spPr>
          <a:xfrm>
            <a:off x="556902" y="6230769"/>
            <a:ext cx="2228873" cy="194925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/>
              <a:t>Mes, año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353114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  <a:endParaRPr lang="en-US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86028BF8-A141-2E97-2FAA-0A37BCE60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01983"/>
              </p:ext>
            </p:extLst>
          </p:nvPr>
        </p:nvGraphicFramePr>
        <p:xfrm>
          <a:off x="786088" y="1651015"/>
          <a:ext cx="9058128" cy="32567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0128">
                  <a:extLst>
                    <a:ext uri="{9D8B030D-6E8A-4147-A177-3AD203B41FA5}">
                      <a16:colId xmlns:a16="http://schemas.microsoft.com/office/drawing/2014/main" val="1835725686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52046442"/>
                    </a:ext>
                  </a:extLst>
                </a:gridCol>
              </a:tblGrid>
              <a:tr h="814199">
                <a:tc>
                  <a:txBody>
                    <a:bodyPr/>
                    <a:lstStyle/>
                    <a:p>
                      <a:r>
                        <a:rPr lang="en-US" sz="2800" b="1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>
                          <a:solidFill>
                            <a:schemeClr val="bg1"/>
                          </a:solidFill>
                        </a:rPr>
                        <a:t>Overview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948859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>
                          <a:solidFill>
                            <a:schemeClr val="bg1"/>
                          </a:solidFill>
                        </a:rPr>
                        <a:t>02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>
                          <a:solidFill>
                            <a:schemeClr val="bg1"/>
                          </a:solidFill>
                        </a:rPr>
                        <a:t>Configuraciones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980871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>
                          <a:solidFill>
                            <a:schemeClr val="bg1"/>
                          </a:solidFill>
                        </a:rPr>
                        <a:t>03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Carga de Trabajo Docente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936347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>
                          <a:solidFill>
                            <a:schemeClr val="bg1"/>
                          </a:solidFill>
                        </a:rPr>
                        <a:t>04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Resumen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436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1571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576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tical Text Placeholder 3">
            <a:extLst>
              <a:ext uri="{FF2B5EF4-FFF2-40B4-BE49-F238E27FC236}">
                <a16:creationId xmlns:a16="http://schemas.microsoft.com/office/drawing/2014/main" id="{E84A95C1-A1C4-874B-A0F8-44AB6CD99FF1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8AC1633D-9215-2128-452C-BEE52AEB6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1505E3-5A51-3A2E-57EA-74DF6A59B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337" y="508268"/>
            <a:ext cx="9418021" cy="898555"/>
          </a:xfrm>
        </p:spPr>
        <p:txBody>
          <a:bodyPr/>
          <a:lstStyle/>
          <a:p>
            <a:r>
              <a:rPr lang="es-ES_tradnl" sz="3200" dirty="0">
                <a:solidFill>
                  <a:schemeClr val="tx2"/>
                </a:solidFill>
              </a:rPr>
              <a:t>Overview: </a:t>
            </a:r>
            <a:r>
              <a:rPr lang="es-ES_tradnl" sz="3200" b="1" dirty="0">
                <a:solidFill>
                  <a:schemeClr val="tx2"/>
                </a:solidFill>
              </a:rPr>
              <a:t>Mapa de capacidades</a:t>
            </a:r>
            <a:endParaRPr lang="en-US" dirty="0"/>
          </a:p>
        </p:txBody>
      </p:sp>
      <p:pic>
        <p:nvPicPr>
          <p:cNvPr id="2" name="Imagen 2">
            <a:extLst>
              <a:ext uri="{FF2B5EF4-FFF2-40B4-BE49-F238E27FC236}">
                <a16:creationId xmlns:a16="http://schemas.microsoft.com/office/drawing/2014/main" id="{CD767F04-A4F8-7CF9-45B1-8070B88894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49" y="1140417"/>
            <a:ext cx="10180101" cy="479661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26A4735-976B-631C-3E5A-3509C44EC4B5}"/>
              </a:ext>
            </a:extLst>
          </p:cNvPr>
          <p:cNvSpPr/>
          <p:nvPr/>
        </p:nvSpPr>
        <p:spPr>
          <a:xfrm>
            <a:off x="1463336" y="4713818"/>
            <a:ext cx="3986487" cy="67286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33128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D552BA8-E40D-BE5E-B33E-255C974B1B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584355"/>
            <a:ext cx="9698935" cy="4267198"/>
          </a:xfrm>
        </p:spPr>
        <p:txBody>
          <a:bodyPr anchor="ctr"/>
          <a:lstStyle/>
          <a:p>
            <a:pPr marL="285750" lvl="0" indent="-285750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CO" sz="2400" b="1" dirty="0">
                <a:solidFill>
                  <a:srgbClr val="7030A0"/>
                </a:solidFill>
              </a:rPr>
              <a:t> </a:t>
            </a:r>
            <a:r>
              <a:rPr lang="es-419" sz="2400" dirty="0">
                <a:solidFill>
                  <a:srgbClr val="7030A0"/>
                </a:solidFill>
              </a:rPr>
              <a:t>Gestionar la información de docente </a:t>
            </a:r>
          </a:p>
          <a:p>
            <a:pPr marL="285750" lvl="0" indent="-285750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400" b="1" dirty="0">
                <a:solidFill>
                  <a:srgbClr val="7030A0"/>
                </a:solidFill>
              </a:rPr>
              <a:t> Gestionar la carga de trabajo docente</a:t>
            </a:r>
          </a:p>
          <a:p>
            <a:pPr marL="0" lvl="0" indent="0">
              <a:buClr>
                <a:srgbClr val="0CB4B4"/>
              </a:buClr>
              <a:buNone/>
            </a:pPr>
            <a:endParaRPr lang="es-CO" sz="2400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200">
                <a:solidFill>
                  <a:schemeClr val="tx2"/>
                </a:solidFill>
              </a:rPr>
              <a:t>Overview: </a:t>
            </a:r>
            <a:r>
              <a:rPr lang="es-ES_tradnl"/>
              <a:t>Macroproceso Gestionar </a:t>
            </a:r>
            <a:r>
              <a:rPr lang="es-ES_tradnl" sz="3200" b="1"/>
              <a:t>Profesores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04878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1D2E5BD-8D92-BBEB-6DE7-7F46E2C205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27871" y="1789044"/>
            <a:ext cx="10136257" cy="447260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CO" sz="2400">
                <a:solidFill>
                  <a:srgbClr val="7030A0"/>
                </a:solidFill>
              </a:rPr>
              <a:t> Tiene por objetivo a</a:t>
            </a:r>
            <a:r>
              <a:rPr lang="es-419" sz="2400">
                <a:solidFill>
                  <a:srgbClr val="7030A0"/>
                </a:solidFill>
              </a:rPr>
              <a:t>signar al docente a sus labores educativas y no educativas, con el objetivo de que cumpla con sus horas contratadas y no quede por debajo o por encima de su regla de contrato laboral.</a:t>
            </a:r>
            <a:endParaRPr lang="es-ES" sz="2400">
              <a:solidFill>
                <a:srgbClr val="7030A0"/>
              </a:solidFill>
            </a:endParaRP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96A5721-C06B-CE2D-66A9-59404F187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200">
                <a:solidFill>
                  <a:schemeClr val="tx2"/>
                </a:solidFill>
              </a:rPr>
              <a:t>Overview: </a:t>
            </a:r>
            <a:r>
              <a:rPr lang="es-ES_tradnl"/>
              <a:t>Proceso </a:t>
            </a:r>
            <a:r>
              <a:rPr lang="es-419"/>
              <a:t>gestionar la carga de trabajo docente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7875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1D2E5BD-8D92-BBEB-6DE7-7F46E2C205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27871" y="1584355"/>
            <a:ext cx="10136257" cy="447260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400" dirty="0">
                <a:solidFill>
                  <a:srgbClr val="7030A0"/>
                </a:solidFill>
              </a:rPr>
              <a:t>Podemos revisar la información por:</a:t>
            </a:r>
          </a:p>
          <a:p>
            <a:pPr marL="630238" lvl="2" indent="-285750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400" dirty="0">
                <a:solidFill>
                  <a:srgbClr val="7030A0"/>
                </a:solidFill>
              </a:rPr>
              <a:t>Regla de carga de trabajo es el tipo de asignación general del docente, por ejemplo: Docente, Docente Investigador, Docente Pasante, Docente en comisión Administrativa, etc...</a:t>
            </a:r>
          </a:p>
          <a:p>
            <a:pPr marL="630238" lvl="2" indent="-285750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400" dirty="0">
                <a:solidFill>
                  <a:srgbClr val="7030A0"/>
                </a:solidFill>
              </a:rPr>
              <a:t>Contrato es el tipo de contrato que tiene el docente, por ejemplo: Tiempo completo indefinido, Tiempo parcial definido, Por horas, Por honorarios, etc..</a:t>
            </a:r>
          </a:p>
          <a:p>
            <a:pPr marL="285750" indent="-285750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400" dirty="0">
                <a:solidFill>
                  <a:srgbClr val="7030A0"/>
                </a:solidFill>
              </a:rPr>
              <a:t>La carga de trabajo puede estar:</a:t>
            </a:r>
          </a:p>
          <a:p>
            <a:pPr marL="630238" lvl="2" indent="-285750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400" dirty="0">
                <a:solidFill>
                  <a:srgbClr val="7030A0"/>
                </a:solidFill>
              </a:rPr>
              <a:t>Sobre las horas que indica la regla de trabajo (O).</a:t>
            </a:r>
          </a:p>
          <a:p>
            <a:pPr marL="630238" lvl="2" indent="-285750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400" dirty="0">
                <a:solidFill>
                  <a:srgbClr val="7030A0"/>
                </a:solidFill>
              </a:rPr>
              <a:t>En el rango de horas que indica la regla de trabajo.</a:t>
            </a:r>
          </a:p>
          <a:p>
            <a:pPr marL="630238" lvl="2" indent="-285750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400" dirty="0">
                <a:solidFill>
                  <a:srgbClr val="7030A0"/>
                </a:solidFill>
              </a:rPr>
              <a:t>Bajo las horas que indica la regla de trabajo (U).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96A5721-C06B-CE2D-66A9-59404F187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200">
                <a:solidFill>
                  <a:schemeClr val="tx2"/>
                </a:solidFill>
              </a:rPr>
              <a:t>Overview: </a:t>
            </a:r>
            <a:r>
              <a:rPr lang="es-ES_tradnl"/>
              <a:t>Proceso </a:t>
            </a:r>
            <a:r>
              <a:rPr lang="es-419"/>
              <a:t>gestionar la carga de trabajo docente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56553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CCA54959-6279-D1AE-349E-8840E0B3CBEC}"/>
              </a:ext>
            </a:extLst>
          </p:cNvPr>
          <p:cNvSpPr txBox="1">
            <a:spLocks/>
          </p:cNvSpPr>
          <p:nvPr/>
        </p:nvSpPr>
        <p:spPr>
          <a:xfrm>
            <a:off x="1104900" y="685800"/>
            <a:ext cx="10477497" cy="898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>
                <a:solidFill>
                  <a:schemeClr val="tx2"/>
                </a:solidFill>
              </a:rPr>
              <a:t>Overview: </a:t>
            </a:r>
            <a:r>
              <a:rPr lang="es-ES_tradnl"/>
              <a:t>Proceso </a:t>
            </a:r>
            <a:r>
              <a:rPr lang="es-419"/>
              <a:t>gestionar la carga de trabajo docente</a:t>
            </a:r>
            <a:endParaRPr lang="es-CL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5434977-41E3-EDC1-E8CB-6EEFBAACC4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1" t="5954" r="1226" b="5141"/>
          <a:stretch/>
        </p:blipFill>
        <p:spPr bwMode="auto">
          <a:xfrm>
            <a:off x="1104900" y="2183175"/>
            <a:ext cx="10477497" cy="275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5546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DA0D89D-33DC-4151-D805-A43C6E21B822}"/>
              </a:ext>
            </a:extLst>
          </p:cNvPr>
          <p:cNvSpPr txBox="1"/>
          <p:nvPr/>
        </p:nvSpPr>
        <p:spPr>
          <a:xfrm>
            <a:off x="6939975" y="2743200"/>
            <a:ext cx="21114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/>
              <a:t>Todo LAC</a:t>
            </a:r>
          </a:p>
        </p:txBody>
      </p:sp>
      <p:sp>
        <p:nvSpPr>
          <p:cNvPr id="7" name="Título 3">
            <a:extLst>
              <a:ext uri="{FF2B5EF4-FFF2-40B4-BE49-F238E27FC236}">
                <a16:creationId xmlns:a16="http://schemas.microsoft.com/office/drawing/2014/main" id="{41A78240-C607-71D5-FFEE-AC493BD21BE1}"/>
              </a:ext>
            </a:extLst>
          </p:cNvPr>
          <p:cNvSpPr txBox="1">
            <a:spLocks/>
          </p:cNvSpPr>
          <p:nvPr/>
        </p:nvSpPr>
        <p:spPr>
          <a:xfrm>
            <a:off x="1104900" y="276729"/>
            <a:ext cx="10477497" cy="898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>
                <a:solidFill>
                  <a:schemeClr val="tx2"/>
                </a:solidFill>
              </a:rPr>
              <a:t>Overview: </a:t>
            </a:r>
            <a:r>
              <a:rPr lang="es-ES_tradnl"/>
              <a:t>Proceso </a:t>
            </a:r>
            <a:r>
              <a:rPr lang="es-419"/>
              <a:t>gestionar la carga de trabajo docente</a:t>
            </a:r>
            <a:endParaRPr lang="es-CL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0338A1-EDB7-22EE-0859-43F1037C5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304" y="1175284"/>
            <a:ext cx="5209671" cy="520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098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CONFIGURACIONES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636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C183806-BB6A-91C3-4974-1C069C43A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630" y="1659828"/>
            <a:ext cx="10756392" cy="1095871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000" b="1" dirty="0"/>
              <a:t>SIATERM Control de periodo de carga de docente 1/2 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11" name="Rectángulo redondeado 5">
            <a:extLst>
              <a:ext uri="{FF2B5EF4-FFF2-40B4-BE49-F238E27FC236}">
                <a16:creationId xmlns:a16="http://schemas.microsoft.com/office/drawing/2014/main" id="{E29F1A9A-6237-24F4-0090-C3170F22EE49}"/>
              </a:ext>
            </a:extLst>
          </p:cNvPr>
          <p:cNvSpPr/>
          <p:nvPr/>
        </p:nvSpPr>
        <p:spPr>
          <a:xfrm>
            <a:off x="3716427" y="2755699"/>
            <a:ext cx="3998567" cy="107093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/>
              <a:t>Se inserta el periodo académico en al cual se definirá el Factor de Equivalencia de Tiempo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3FEF1C1-DE99-20EA-69C1-9FFC63D62A7A}"/>
              </a:ext>
            </a:extLst>
          </p:cNvPr>
          <p:cNvSpPr/>
          <p:nvPr/>
        </p:nvSpPr>
        <p:spPr>
          <a:xfrm>
            <a:off x="11003447" y="2050754"/>
            <a:ext cx="493378" cy="348973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0" name="Rectángulo redondeado 5">
            <a:extLst>
              <a:ext uri="{FF2B5EF4-FFF2-40B4-BE49-F238E27FC236}">
                <a16:creationId xmlns:a16="http://schemas.microsoft.com/office/drawing/2014/main" id="{28F914DA-4F4F-D5E8-92CD-805694BDF2E7}"/>
              </a:ext>
            </a:extLst>
          </p:cNvPr>
          <p:cNvSpPr/>
          <p:nvPr/>
        </p:nvSpPr>
        <p:spPr>
          <a:xfrm>
            <a:off x="9719146" y="3182561"/>
            <a:ext cx="1330220" cy="77209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/>
              <a:t>Presionar el botón ‘Ir’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4802DD9-7388-52C7-C2F5-67A5A33D32F5}"/>
              </a:ext>
            </a:extLst>
          </p:cNvPr>
          <p:cNvSpPr/>
          <p:nvPr/>
        </p:nvSpPr>
        <p:spPr>
          <a:xfrm>
            <a:off x="1335120" y="2074591"/>
            <a:ext cx="2598083" cy="34897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2" name="Rectángulo redondeado 9">
            <a:extLst>
              <a:ext uri="{FF2B5EF4-FFF2-40B4-BE49-F238E27FC236}">
                <a16:creationId xmlns:a16="http://schemas.microsoft.com/office/drawing/2014/main" id="{178DD87A-3EA7-CF93-9647-BF2BB596E53B}"/>
              </a:ext>
            </a:extLst>
          </p:cNvPr>
          <p:cNvSpPr/>
          <p:nvPr/>
        </p:nvSpPr>
        <p:spPr>
          <a:xfrm>
            <a:off x="819630" y="2084114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1</a:t>
            </a:r>
          </a:p>
        </p:txBody>
      </p:sp>
      <p:sp>
        <p:nvSpPr>
          <p:cNvPr id="23" name="Rectángulo redondeado 9">
            <a:extLst>
              <a:ext uri="{FF2B5EF4-FFF2-40B4-BE49-F238E27FC236}">
                <a16:creationId xmlns:a16="http://schemas.microsoft.com/office/drawing/2014/main" id="{04C1E94F-1211-8739-B308-490B6B3C8F46}"/>
              </a:ext>
            </a:extLst>
          </p:cNvPr>
          <p:cNvSpPr/>
          <p:nvPr/>
        </p:nvSpPr>
        <p:spPr>
          <a:xfrm>
            <a:off x="10563829" y="2074591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28105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65B2755D-1A0B-5C8D-304F-C97C65737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905" y="1458229"/>
            <a:ext cx="10908823" cy="468172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/>
              <a:t>Configuraciones: </a:t>
            </a:r>
            <a:r>
              <a:rPr lang="es-ES_tradnl" sz="3000" b="1"/>
              <a:t>SIATERM Control de periodo de carga de docente 2/2 </a:t>
            </a:r>
            <a:br>
              <a:rPr lang="es-CL" b="1">
                <a:effectLst/>
              </a:rPr>
            </a:br>
            <a:endParaRPr lang="es-CL"/>
          </a:p>
        </p:txBody>
      </p:sp>
      <p:sp>
        <p:nvSpPr>
          <p:cNvPr id="11" name="Rectángulo redondeado 5">
            <a:extLst>
              <a:ext uri="{FF2B5EF4-FFF2-40B4-BE49-F238E27FC236}">
                <a16:creationId xmlns:a16="http://schemas.microsoft.com/office/drawing/2014/main" id="{E29F1A9A-6237-24F4-0090-C3170F22EE49}"/>
              </a:ext>
            </a:extLst>
          </p:cNvPr>
          <p:cNvSpPr/>
          <p:nvPr/>
        </p:nvSpPr>
        <p:spPr>
          <a:xfrm>
            <a:off x="622570" y="3058733"/>
            <a:ext cx="3859858" cy="238733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Se ingresa el valor del campo ‘Factor FTE’ que representa el equivalente en horas de una jornada de tiempo completo (full-time </a:t>
            </a:r>
            <a:r>
              <a:rPr lang="es-PE" sz="1400" dirty="0" err="1"/>
              <a:t>equivalent</a:t>
            </a:r>
            <a:r>
              <a:rPr lang="es-PE" sz="1400" dirty="0"/>
              <a:t>, en inglés), siendo una forma de medir la cantidad de empleados a tiempo completo que se necesitarían para llevar a cabo el trabajo realizado. En este caso, quiere decir que cada 50 horas equivalen a 1 FTE.</a:t>
            </a:r>
            <a:endParaRPr lang="es-ES_tradnl" sz="140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1AD3936-EC48-7A01-C4BE-5257B16CDAAE}"/>
              </a:ext>
            </a:extLst>
          </p:cNvPr>
          <p:cNvSpPr/>
          <p:nvPr/>
        </p:nvSpPr>
        <p:spPr>
          <a:xfrm>
            <a:off x="10783822" y="5843048"/>
            <a:ext cx="804273" cy="296908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7126E7F-6197-B489-D678-0B11C60645EF}"/>
              </a:ext>
            </a:extLst>
          </p:cNvPr>
          <p:cNvSpPr/>
          <p:nvPr/>
        </p:nvSpPr>
        <p:spPr>
          <a:xfrm>
            <a:off x="1122176" y="2372103"/>
            <a:ext cx="2187952" cy="283834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Rectángulo redondeado 9">
            <a:extLst>
              <a:ext uri="{FF2B5EF4-FFF2-40B4-BE49-F238E27FC236}">
                <a16:creationId xmlns:a16="http://schemas.microsoft.com/office/drawing/2014/main" id="{A6ACDBC1-989E-7128-BB78-B28B6D6BD9C6}"/>
              </a:ext>
            </a:extLst>
          </p:cNvPr>
          <p:cNvSpPr/>
          <p:nvPr/>
        </p:nvSpPr>
        <p:spPr>
          <a:xfrm>
            <a:off x="622570" y="2382263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3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FDDF006-C951-7EC1-70C3-840A49EA424E}"/>
              </a:ext>
            </a:extLst>
          </p:cNvPr>
          <p:cNvSpPr/>
          <p:nvPr/>
        </p:nvSpPr>
        <p:spPr>
          <a:xfrm>
            <a:off x="6173507" y="2306965"/>
            <a:ext cx="2598083" cy="34897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DEA769E7-B00A-115D-61EB-AAA48D843805}"/>
              </a:ext>
            </a:extLst>
          </p:cNvPr>
          <p:cNvSpPr/>
          <p:nvPr/>
        </p:nvSpPr>
        <p:spPr>
          <a:xfrm>
            <a:off x="5781972" y="2372103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4</a:t>
            </a:r>
          </a:p>
        </p:txBody>
      </p:sp>
      <p:sp>
        <p:nvSpPr>
          <p:cNvPr id="12" name="Rectángulo redondeado 10">
            <a:extLst>
              <a:ext uri="{FF2B5EF4-FFF2-40B4-BE49-F238E27FC236}">
                <a16:creationId xmlns:a16="http://schemas.microsoft.com/office/drawing/2014/main" id="{AAFB756F-828E-C229-BF37-2A0621F9EB11}"/>
              </a:ext>
            </a:extLst>
          </p:cNvPr>
          <p:cNvSpPr/>
          <p:nvPr/>
        </p:nvSpPr>
        <p:spPr>
          <a:xfrm>
            <a:off x="5739444" y="2883255"/>
            <a:ext cx="3169076" cy="127550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En el campo Factor de duración se ingresa la equivalencia de minutos para la hora académica. En este caso se dice que la hora de clase equivale a 50 minutos.</a:t>
            </a:r>
          </a:p>
        </p:txBody>
      </p:sp>
      <p:sp>
        <p:nvSpPr>
          <p:cNvPr id="14" name="Rectángulo redondeado 5">
            <a:extLst>
              <a:ext uri="{FF2B5EF4-FFF2-40B4-BE49-F238E27FC236}">
                <a16:creationId xmlns:a16="http://schemas.microsoft.com/office/drawing/2014/main" id="{BE7C4269-44C6-4FFA-4020-04AA053B0A6D}"/>
              </a:ext>
            </a:extLst>
          </p:cNvPr>
          <p:cNvSpPr/>
          <p:nvPr/>
        </p:nvSpPr>
        <p:spPr>
          <a:xfrm>
            <a:off x="10434895" y="5169500"/>
            <a:ext cx="1153200" cy="51268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/>
              <a:t>Guardar información</a:t>
            </a:r>
          </a:p>
        </p:txBody>
      </p:sp>
      <p:sp>
        <p:nvSpPr>
          <p:cNvPr id="15" name="Rectángulo redondeado 9">
            <a:extLst>
              <a:ext uri="{FF2B5EF4-FFF2-40B4-BE49-F238E27FC236}">
                <a16:creationId xmlns:a16="http://schemas.microsoft.com/office/drawing/2014/main" id="{DF81D294-AEC9-1623-2E75-D82413F491FA}"/>
              </a:ext>
            </a:extLst>
          </p:cNvPr>
          <p:cNvSpPr/>
          <p:nvPr/>
        </p:nvSpPr>
        <p:spPr>
          <a:xfrm>
            <a:off x="10222756" y="5904593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5</a:t>
            </a:r>
          </a:p>
        </p:txBody>
      </p:sp>
      <p:sp>
        <p:nvSpPr>
          <p:cNvPr id="17" name="Rectángulo redondeado 10">
            <a:extLst>
              <a:ext uri="{FF2B5EF4-FFF2-40B4-BE49-F238E27FC236}">
                <a16:creationId xmlns:a16="http://schemas.microsoft.com/office/drawing/2014/main" id="{5A675E31-9374-EDC7-669C-BF33A3615002}"/>
              </a:ext>
            </a:extLst>
          </p:cNvPr>
          <p:cNvSpPr/>
          <p:nvPr/>
        </p:nvSpPr>
        <p:spPr>
          <a:xfrm>
            <a:off x="5622133" y="4320942"/>
            <a:ext cx="3403698" cy="127550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/>
              <a:t>Estos valores pueden ser eliminados presionando le botón ‘Eliminar’ o dejándolos en blanco en cada campo, pero esto generaría que no se desarrollará el análisis a la carga académica por FTE de periodo en la página de Asignación Docente (SIAASGN).</a:t>
            </a:r>
            <a:endParaRPr lang="es-ES_tradnl" sz="1100"/>
          </a:p>
        </p:txBody>
      </p:sp>
    </p:spTree>
    <p:extLst>
      <p:ext uri="{BB962C8B-B14F-4D97-AF65-F5344CB8AC3E}">
        <p14:creationId xmlns:p14="http://schemas.microsoft.com/office/powerpoint/2010/main" val="3479738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F5EC2795-0BF3-7EBB-F18F-C3BFF7FD6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60" y="1436077"/>
            <a:ext cx="11177016" cy="473612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000" b="1" dirty="0"/>
              <a:t>STVNIST </a:t>
            </a:r>
            <a:r>
              <a:rPr lang="es-419" b="1" dirty="0">
                <a:effectLst/>
              </a:rPr>
              <a:t>Validación de código de tipo no educativo del docente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C53F5CC-812C-833C-A684-5BD2876D28FD}"/>
              </a:ext>
            </a:extLst>
          </p:cNvPr>
          <p:cNvSpPr/>
          <p:nvPr/>
        </p:nvSpPr>
        <p:spPr>
          <a:xfrm>
            <a:off x="11218202" y="5849061"/>
            <a:ext cx="721978" cy="296908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Rectángulo redondeado 5">
            <a:extLst>
              <a:ext uri="{FF2B5EF4-FFF2-40B4-BE49-F238E27FC236}">
                <a16:creationId xmlns:a16="http://schemas.microsoft.com/office/drawing/2014/main" id="{060BAF68-2486-3555-502E-6E65447B9281}"/>
              </a:ext>
            </a:extLst>
          </p:cNvPr>
          <p:cNvSpPr/>
          <p:nvPr/>
        </p:nvSpPr>
        <p:spPr>
          <a:xfrm>
            <a:off x="10033358" y="5867453"/>
            <a:ext cx="1153200" cy="51268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/>
              <a:t>Guardar información</a:t>
            </a:r>
          </a:p>
        </p:txBody>
      </p:sp>
      <p:sp>
        <p:nvSpPr>
          <p:cNvPr id="9" name="Rectángulo redondeado 5">
            <a:extLst>
              <a:ext uri="{FF2B5EF4-FFF2-40B4-BE49-F238E27FC236}">
                <a16:creationId xmlns:a16="http://schemas.microsoft.com/office/drawing/2014/main" id="{2A6AC831-C8F7-6118-02CC-9F59E50DB4E0}"/>
              </a:ext>
            </a:extLst>
          </p:cNvPr>
          <p:cNvSpPr/>
          <p:nvPr/>
        </p:nvSpPr>
        <p:spPr>
          <a:xfrm>
            <a:off x="902063" y="4055547"/>
            <a:ext cx="10960413" cy="146292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419" sz="1400" dirty="0"/>
              <a:t>Se debe definir un código y una descripción que identifique el tipo no educativo del docente que se utilizará en la página de SIAINST. 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Presione la opción Insertar (+)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Ingrese el código: campo de 4 caracteres. Campo obligatorio.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Ingrese la Descripción del código. Campo de 30 caracteres. Campo obligatorio.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Guarde los datos.</a:t>
            </a:r>
          </a:p>
          <a:p>
            <a:endParaRPr lang="es-419" sz="1100" dirty="0"/>
          </a:p>
        </p:txBody>
      </p:sp>
      <p:sp>
        <p:nvSpPr>
          <p:cNvPr id="10" name="Rectángulo redondeado 15">
            <a:extLst>
              <a:ext uri="{FF2B5EF4-FFF2-40B4-BE49-F238E27FC236}">
                <a16:creationId xmlns:a16="http://schemas.microsoft.com/office/drawing/2014/main" id="{6E688C96-C912-3C61-C995-8E7688C964C5}"/>
              </a:ext>
            </a:extLst>
          </p:cNvPr>
          <p:cNvSpPr/>
          <p:nvPr/>
        </p:nvSpPr>
        <p:spPr>
          <a:xfrm>
            <a:off x="10267550" y="1773196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1" name="Rectángulo redondeado 15">
            <a:extLst>
              <a:ext uri="{FF2B5EF4-FFF2-40B4-BE49-F238E27FC236}">
                <a16:creationId xmlns:a16="http://schemas.microsoft.com/office/drawing/2014/main" id="{5EECB72B-5751-93D9-AD0D-29881E647C4E}"/>
              </a:ext>
            </a:extLst>
          </p:cNvPr>
          <p:cNvSpPr/>
          <p:nvPr/>
        </p:nvSpPr>
        <p:spPr>
          <a:xfrm>
            <a:off x="393192" y="2348742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9BE0BBF3-46D5-EC65-64B5-13F72DF9204D}"/>
              </a:ext>
            </a:extLst>
          </p:cNvPr>
          <p:cNvSpPr/>
          <p:nvPr/>
        </p:nvSpPr>
        <p:spPr>
          <a:xfrm>
            <a:off x="3723829" y="2327794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2E988F6-B82B-4FF0-FEB3-550393357667}"/>
              </a:ext>
            </a:extLst>
          </p:cNvPr>
          <p:cNvSpPr/>
          <p:nvPr/>
        </p:nvSpPr>
        <p:spPr>
          <a:xfrm>
            <a:off x="10627698" y="1848810"/>
            <a:ext cx="234824" cy="15101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3F41628-72AB-413C-9DC2-A6A6D50A5A25}"/>
              </a:ext>
            </a:extLst>
          </p:cNvPr>
          <p:cNvSpPr/>
          <p:nvPr/>
        </p:nvSpPr>
        <p:spPr>
          <a:xfrm>
            <a:off x="1653849" y="2357020"/>
            <a:ext cx="1922544" cy="151011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F3C414D-F906-D335-6E65-342545C2716E}"/>
              </a:ext>
            </a:extLst>
          </p:cNvPr>
          <p:cNvSpPr/>
          <p:nvPr/>
        </p:nvSpPr>
        <p:spPr>
          <a:xfrm>
            <a:off x="652331" y="2348742"/>
            <a:ext cx="700070" cy="159289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83998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chemeClr val="bg1"/>
                </a:solidFill>
              </a:rPr>
              <a:t>CARGA DE TRABAJO DOCENTE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761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73D210C-FF72-BDA5-6026-3D590DD4CD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1333891"/>
          </a:xfrm>
        </p:spPr>
        <p:txBody>
          <a:bodyPr/>
          <a:lstStyle/>
          <a:p>
            <a:r>
              <a:rPr lang="en-US" dirty="0"/>
              <a:t>Carga de Trabajo Docente– Regla de Carga de Trabajo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504778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7FB7C491-5D85-F33B-24DB-101D49DE2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1430407"/>
            <a:ext cx="11484703" cy="297328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200" dirty="0"/>
              <a:t>SIAFLRT </a:t>
            </a:r>
            <a:r>
              <a:rPr lang="es-419" sz="3200" dirty="0"/>
              <a:t>Reglas de periodo de carga de trabajo de docente 1/2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8F6D1D81-1348-DB3B-949D-28099073A944}"/>
              </a:ext>
            </a:extLst>
          </p:cNvPr>
          <p:cNvSpPr/>
          <p:nvPr/>
        </p:nvSpPr>
        <p:spPr>
          <a:xfrm>
            <a:off x="1757077" y="3429000"/>
            <a:ext cx="2934640" cy="107623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Se debe ingresar el Periodo Académico sobre el cual se definirá la regla de carga de trabajo.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D95A964-5852-3A45-87B7-6A8D3A3D906A}"/>
              </a:ext>
            </a:extLst>
          </p:cNvPr>
          <p:cNvSpPr/>
          <p:nvPr/>
        </p:nvSpPr>
        <p:spPr>
          <a:xfrm>
            <a:off x="1667340" y="2612347"/>
            <a:ext cx="2737543" cy="282203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E32D6EB-FC3D-ED98-5426-2C45F15F2DD6}"/>
              </a:ext>
            </a:extLst>
          </p:cNvPr>
          <p:cNvSpPr/>
          <p:nvPr/>
        </p:nvSpPr>
        <p:spPr>
          <a:xfrm>
            <a:off x="11313943" y="2620525"/>
            <a:ext cx="360421" cy="296908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8E19E7A6-7CC6-76A1-49F0-4C8C12CD9A43}"/>
              </a:ext>
            </a:extLst>
          </p:cNvPr>
          <p:cNvSpPr/>
          <p:nvPr/>
        </p:nvSpPr>
        <p:spPr>
          <a:xfrm>
            <a:off x="10422989" y="3429000"/>
            <a:ext cx="1330220" cy="77209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Presionar el botón ‘Ir’</a:t>
            </a:r>
          </a:p>
        </p:txBody>
      </p:sp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0AAFBD08-5F94-6379-74B1-2F1268AA9D6D}"/>
              </a:ext>
            </a:extLst>
          </p:cNvPr>
          <p:cNvSpPr/>
          <p:nvPr/>
        </p:nvSpPr>
        <p:spPr>
          <a:xfrm>
            <a:off x="1219203" y="2644101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1</a:t>
            </a:r>
          </a:p>
        </p:txBody>
      </p:sp>
      <p:sp>
        <p:nvSpPr>
          <p:cNvPr id="14" name="Rectángulo redondeado 9">
            <a:extLst>
              <a:ext uri="{FF2B5EF4-FFF2-40B4-BE49-F238E27FC236}">
                <a16:creationId xmlns:a16="http://schemas.microsoft.com/office/drawing/2014/main" id="{4CE2A6A8-6DAE-6ACC-7C3C-4942A37CC2B6}"/>
              </a:ext>
            </a:extLst>
          </p:cNvPr>
          <p:cNvSpPr/>
          <p:nvPr/>
        </p:nvSpPr>
        <p:spPr>
          <a:xfrm>
            <a:off x="10672989" y="2650803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50979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DDC64F6F-816F-5021-8531-FDE1703DD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590343"/>
            <a:ext cx="10664952" cy="458185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/>
              <a:t>Configuraciones: </a:t>
            </a:r>
            <a:r>
              <a:rPr lang="es-ES_tradnl" sz="3200"/>
              <a:t>SIAFLRT </a:t>
            </a:r>
            <a:r>
              <a:rPr lang="es-419" sz="3200"/>
              <a:t>Reglas de periodo de carga de trabajo de docente 2/2</a:t>
            </a:r>
            <a:br>
              <a:rPr lang="es-CL" b="1">
                <a:effectLst/>
              </a:rPr>
            </a:br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7EDC4D9-6D91-824B-215A-116AA296E999}"/>
              </a:ext>
            </a:extLst>
          </p:cNvPr>
          <p:cNvSpPr/>
          <p:nvPr/>
        </p:nvSpPr>
        <p:spPr>
          <a:xfrm>
            <a:off x="6124754" y="2564916"/>
            <a:ext cx="2799789" cy="388595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912F7ADF-B237-38D0-1E84-E6781513B1D7}"/>
              </a:ext>
            </a:extLst>
          </p:cNvPr>
          <p:cNvSpPr/>
          <p:nvPr/>
        </p:nvSpPr>
        <p:spPr>
          <a:xfrm>
            <a:off x="5459090" y="2385018"/>
            <a:ext cx="366050" cy="27451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4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B1F7254-EC1C-94C0-429C-9A3FEAFF5F7A}"/>
              </a:ext>
            </a:extLst>
          </p:cNvPr>
          <p:cNvSpPr/>
          <p:nvPr/>
        </p:nvSpPr>
        <p:spPr>
          <a:xfrm>
            <a:off x="1889634" y="2564917"/>
            <a:ext cx="670686" cy="271925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ángulo redondeado 9">
            <a:extLst>
              <a:ext uri="{FF2B5EF4-FFF2-40B4-BE49-F238E27FC236}">
                <a16:creationId xmlns:a16="http://schemas.microsoft.com/office/drawing/2014/main" id="{0EF5B9F3-2845-B126-0CAB-AA1C7E48DC8F}"/>
              </a:ext>
            </a:extLst>
          </p:cNvPr>
          <p:cNvSpPr/>
          <p:nvPr/>
        </p:nvSpPr>
        <p:spPr>
          <a:xfrm>
            <a:off x="1342391" y="2564917"/>
            <a:ext cx="366050" cy="27451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3</a:t>
            </a:r>
          </a:p>
        </p:txBody>
      </p:sp>
      <p:sp>
        <p:nvSpPr>
          <p:cNvPr id="2" name="Rectángulo redondeado 5">
            <a:extLst>
              <a:ext uri="{FF2B5EF4-FFF2-40B4-BE49-F238E27FC236}">
                <a16:creationId xmlns:a16="http://schemas.microsoft.com/office/drawing/2014/main" id="{D86DA675-23B0-8B08-B339-3B7B9698D75B}"/>
              </a:ext>
            </a:extLst>
          </p:cNvPr>
          <p:cNvSpPr/>
          <p:nvPr/>
        </p:nvSpPr>
        <p:spPr>
          <a:xfrm>
            <a:off x="1644722" y="4696230"/>
            <a:ext cx="2395171" cy="69069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Lo primero es ratificar que la regla cuente con la casilla activada del campo ‘Activo’.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64131CAF-1886-D267-C1A2-4AF10CF1FC45}"/>
              </a:ext>
            </a:extLst>
          </p:cNvPr>
          <p:cNvSpPr/>
          <p:nvPr/>
        </p:nvSpPr>
        <p:spPr>
          <a:xfrm>
            <a:off x="6131437" y="4966104"/>
            <a:ext cx="4310634" cy="69069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Se debe ingresar en el campo ‘Código de regla de carga de trabajo’ aquel valor al cual se configurarán los parámetros a medir,</a:t>
            </a:r>
          </a:p>
        </p:txBody>
      </p:sp>
    </p:spTree>
    <p:extLst>
      <p:ext uri="{BB962C8B-B14F-4D97-AF65-F5344CB8AC3E}">
        <p14:creationId xmlns:p14="http://schemas.microsoft.com/office/powerpoint/2010/main" val="30004819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9190705-2910-7D5A-4D50-B89CC3393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70" y="1621015"/>
            <a:ext cx="10664952" cy="458185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/>
              <a:t>Configuraciones: </a:t>
            </a:r>
            <a:r>
              <a:rPr lang="es-ES_tradnl" sz="3200"/>
              <a:t>SIAFLRT </a:t>
            </a:r>
            <a:r>
              <a:rPr lang="es-419" sz="3200"/>
              <a:t>Reglas de periodo de carga de trabajo de docente 2/2</a:t>
            </a:r>
            <a:br>
              <a:rPr lang="es-CL" b="1">
                <a:effectLst/>
              </a:rPr>
            </a:br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B1F7254-EC1C-94C0-429C-9A3FEAFF5F7A}"/>
              </a:ext>
            </a:extLst>
          </p:cNvPr>
          <p:cNvSpPr/>
          <p:nvPr/>
        </p:nvSpPr>
        <p:spPr>
          <a:xfrm>
            <a:off x="1801367" y="2839453"/>
            <a:ext cx="3922777" cy="206943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A626E6F0-7BF4-E78B-94EC-CA043E87A04E}"/>
              </a:ext>
            </a:extLst>
          </p:cNvPr>
          <p:cNvSpPr/>
          <p:nvPr/>
        </p:nvSpPr>
        <p:spPr>
          <a:xfrm>
            <a:off x="6719086" y="2660016"/>
            <a:ext cx="4360963" cy="2503854"/>
          </a:xfrm>
          <a:prstGeom prst="round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1000" b="1" dirty="0"/>
              <a:t>Las reglas de carga de trabajo se clasifican en 3 grupos de medición: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PE" sz="1000" b="1" dirty="0"/>
              <a:t>Horas crédito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PE" sz="1000" b="1" dirty="0"/>
              <a:t>Totales</a:t>
            </a:r>
            <a:r>
              <a:rPr lang="es-PE" sz="1000" dirty="0"/>
              <a:t>: suma de créditos de </a:t>
            </a:r>
            <a:r>
              <a:rPr lang="es-PE" sz="1000" dirty="0" err="1"/>
              <a:t>NRCs</a:t>
            </a:r>
            <a:r>
              <a:rPr lang="es-PE" sz="1000" dirty="0"/>
              <a:t> a su cargo.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PE" sz="1000" b="1" dirty="0"/>
              <a:t>Generadas</a:t>
            </a:r>
            <a:r>
              <a:rPr lang="es-PE" sz="1000" dirty="0"/>
              <a:t>: créditos del NRC por número de alumnos inscritos.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PE" sz="1000" b="1" dirty="0"/>
              <a:t>Horas de contacto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PE" sz="1000" b="1" dirty="0"/>
              <a:t>Semanales:</a:t>
            </a:r>
            <a:r>
              <a:rPr lang="es-PE" sz="1000" dirty="0"/>
              <a:t> suma de horas semanales de </a:t>
            </a:r>
            <a:r>
              <a:rPr lang="es-PE" sz="1000" dirty="0" err="1"/>
              <a:t>NRCs</a:t>
            </a:r>
            <a:r>
              <a:rPr lang="es-PE" sz="1000" dirty="0"/>
              <a:t> a su cargo (SSASECT).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PE" sz="1000" b="1" dirty="0"/>
              <a:t>Totales:</a:t>
            </a:r>
            <a:r>
              <a:rPr lang="es-PE" sz="1000" dirty="0"/>
              <a:t> horas semanales por # de semanas del NRC menos festivos. El número de </a:t>
            </a:r>
            <a:r>
              <a:rPr lang="es-PE" sz="1000" dirty="0" err="1"/>
              <a:t>semenas</a:t>
            </a:r>
            <a:r>
              <a:rPr lang="es-PE" sz="1000" dirty="0"/>
              <a:t> depende de la fecha de inicio y fin de cada NRC.</a:t>
            </a:r>
          </a:p>
          <a:p>
            <a:br>
              <a:rPr lang="es-ES_tradnl" sz="1000" dirty="0"/>
            </a:br>
            <a:r>
              <a:rPr lang="es-ES_tradnl" sz="1000" dirty="0"/>
              <a:t>Los valores Inferior y Superior son el rango que cada profesor debe cumplir.</a:t>
            </a:r>
          </a:p>
        </p:txBody>
      </p:sp>
      <p:sp>
        <p:nvSpPr>
          <p:cNvPr id="13" name="Rectángulo redondeado 9">
            <a:extLst>
              <a:ext uri="{FF2B5EF4-FFF2-40B4-BE49-F238E27FC236}">
                <a16:creationId xmlns:a16="http://schemas.microsoft.com/office/drawing/2014/main" id="{08BD0592-0547-F079-A31C-43C55209704A}"/>
              </a:ext>
            </a:extLst>
          </p:cNvPr>
          <p:cNvSpPr/>
          <p:nvPr/>
        </p:nvSpPr>
        <p:spPr>
          <a:xfrm>
            <a:off x="1699869" y="2480104"/>
            <a:ext cx="366050" cy="27451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90675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D996112D-A6E5-BD6A-035B-7B2552D62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429" y="1435346"/>
            <a:ext cx="10240929" cy="439968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/>
              <a:t>Configuraciones: </a:t>
            </a:r>
            <a:r>
              <a:rPr lang="es-ES_tradnl" sz="3200"/>
              <a:t>SIAFLRT </a:t>
            </a:r>
            <a:r>
              <a:rPr lang="es-419" sz="3200"/>
              <a:t>Reglas de periodo de carga de trabajo de docente 2/2</a:t>
            </a:r>
            <a:br>
              <a:rPr lang="es-CL" b="1">
                <a:effectLst/>
              </a:rPr>
            </a:br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B1F7254-EC1C-94C0-429C-9A3FEAFF5F7A}"/>
              </a:ext>
            </a:extLst>
          </p:cNvPr>
          <p:cNvSpPr/>
          <p:nvPr/>
        </p:nvSpPr>
        <p:spPr>
          <a:xfrm>
            <a:off x="6158115" y="2920431"/>
            <a:ext cx="4676273" cy="206943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1E37841-4035-4186-55BE-BD98BA597DE3}"/>
              </a:ext>
            </a:extLst>
          </p:cNvPr>
          <p:cNvSpPr/>
          <p:nvPr/>
        </p:nvSpPr>
        <p:spPr>
          <a:xfrm>
            <a:off x="10596779" y="5422654"/>
            <a:ext cx="731988" cy="36783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redondeado 5">
            <a:extLst>
              <a:ext uri="{FF2B5EF4-FFF2-40B4-BE49-F238E27FC236}">
                <a16:creationId xmlns:a16="http://schemas.microsoft.com/office/drawing/2014/main" id="{E46EB9AD-BA2A-451A-D04B-0A95A963E579}"/>
              </a:ext>
            </a:extLst>
          </p:cNvPr>
          <p:cNvSpPr/>
          <p:nvPr/>
        </p:nvSpPr>
        <p:spPr>
          <a:xfrm>
            <a:off x="9223344" y="5422654"/>
            <a:ext cx="1083612" cy="436426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Guardar información</a:t>
            </a:r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A626E6F0-7BF4-E78B-94EC-CA043E87A04E}"/>
              </a:ext>
            </a:extLst>
          </p:cNvPr>
          <p:cNvSpPr/>
          <p:nvPr/>
        </p:nvSpPr>
        <p:spPr>
          <a:xfrm>
            <a:off x="1088136" y="2599792"/>
            <a:ext cx="4360963" cy="2390070"/>
          </a:xfrm>
          <a:prstGeom prst="round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PE" sz="1000" b="1" dirty="0"/>
              <a:t>Carga de Trabajo </a:t>
            </a:r>
            <a:r>
              <a:rPr lang="es-PE" sz="1000" dirty="0"/>
              <a:t>(usado para profesor tiempo completo o de planta)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PE" sz="1000" b="1" dirty="0"/>
              <a:t>Educativa</a:t>
            </a:r>
            <a:r>
              <a:rPr lang="es-PE" sz="1000" dirty="0"/>
              <a:t>: valor que viene desde el catálogo de cursos (SCACRSE).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PE" sz="1000" b="1" dirty="0"/>
              <a:t>No Educativa:</a:t>
            </a:r>
            <a:r>
              <a:rPr lang="es-PE" sz="1000" dirty="0"/>
              <a:t> valor registrado en SIAASGN.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PE" sz="1000" b="1" dirty="0"/>
              <a:t>Total</a:t>
            </a:r>
            <a:r>
              <a:rPr lang="es-PE" sz="1000" dirty="0"/>
              <a:t>: total de carga educativa y no educativa, no se suma automáticamente.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PE" sz="1000" b="1" dirty="0"/>
              <a:t>Rango FTE</a:t>
            </a:r>
            <a:r>
              <a:rPr lang="es-PE" sz="1000" dirty="0"/>
              <a:t>: a cuantos FTE debe de equivaler.</a:t>
            </a:r>
          </a:p>
          <a:p>
            <a:endParaRPr lang="es-ES_tradnl" sz="1000" dirty="0"/>
          </a:p>
          <a:p>
            <a:r>
              <a:rPr lang="es-ES_tradnl" sz="1000" dirty="0"/>
              <a:t>Los valores Inferior y Superior son el rango  que cada docente debe cumplir</a:t>
            </a:r>
          </a:p>
        </p:txBody>
      </p:sp>
      <p:sp>
        <p:nvSpPr>
          <p:cNvPr id="2" name="Rectángulo redondeado 9">
            <a:extLst>
              <a:ext uri="{FF2B5EF4-FFF2-40B4-BE49-F238E27FC236}">
                <a16:creationId xmlns:a16="http://schemas.microsoft.com/office/drawing/2014/main" id="{C87A63A7-3445-9FD2-C858-D8A78A770388}"/>
              </a:ext>
            </a:extLst>
          </p:cNvPr>
          <p:cNvSpPr/>
          <p:nvPr/>
        </p:nvSpPr>
        <p:spPr>
          <a:xfrm>
            <a:off x="5620582" y="2783173"/>
            <a:ext cx="366050" cy="27451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3956344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A1B00B0-0C7C-95DF-5018-1EC2DF64B3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1998689"/>
          </a:xfrm>
        </p:spPr>
        <p:txBody>
          <a:bodyPr/>
          <a:lstStyle/>
          <a:p>
            <a:r>
              <a:rPr lang="en-US" dirty="0"/>
              <a:t>ANÁLISIS DE LA CARGA DE TRABAJO DOCENTE</a:t>
            </a:r>
            <a:r>
              <a:rPr lang="en-US" sz="3600" dirty="0"/>
              <a:t> – </a:t>
            </a:r>
            <a:r>
              <a:rPr lang="en-US" dirty="0"/>
              <a:t>REGLA DE CARGA DE TRABAJO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6250820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51ADC3A-AB20-F213-6187-5DA9B561D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240" y="1058250"/>
            <a:ext cx="10610767" cy="453243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/>
              <a:t>Premisa: </a:t>
            </a:r>
            <a:r>
              <a:rPr lang="es-ES_tradnl" sz="3200"/>
              <a:t>SIAINST </a:t>
            </a:r>
            <a:r>
              <a:rPr lang="es-419" b="1">
                <a:effectLst/>
              </a:rPr>
              <a:t>Información de docente / asesor</a:t>
            </a:r>
            <a:br>
              <a:rPr lang="es-CL" b="1">
                <a:effectLst/>
              </a:rPr>
            </a:br>
            <a:endParaRPr lang="es-CL"/>
          </a:p>
        </p:txBody>
      </p:sp>
      <p:sp>
        <p:nvSpPr>
          <p:cNvPr id="17" name="Rectángulo redondeado 5">
            <a:extLst>
              <a:ext uri="{FF2B5EF4-FFF2-40B4-BE49-F238E27FC236}">
                <a16:creationId xmlns:a16="http://schemas.microsoft.com/office/drawing/2014/main" id="{EBFE1B0C-4638-DE97-13BD-C9362AE782B5}"/>
              </a:ext>
            </a:extLst>
          </p:cNvPr>
          <p:cNvSpPr/>
          <p:nvPr/>
        </p:nvSpPr>
        <p:spPr>
          <a:xfrm>
            <a:off x="6596512" y="4323102"/>
            <a:ext cx="4868248" cy="103439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400"/>
              <a:t>Las reglas por Carga de Trabajo requieren</a:t>
            </a:r>
            <a:r>
              <a:rPr lang="es-ES_tradnl" sz="1400"/>
              <a:t> que los docentes a analizar cuenten con un registro definido en el campo ‘Regla de carga de trabajo’ de la página administrativa SIAINST.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A7E5062-2727-FEC3-BC24-E04CA848F711}"/>
              </a:ext>
            </a:extLst>
          </p:cNvPr>
          <p:cNvSpPr/>
          <p:nvPr/>
        </p:nvSpPr>
        <p:spPr>
          <a:xfrm>
            <a:off x="5872612" y="3537590"/>
            <a:ext cx="3271388" cy="412618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1EC4CCDD-958D-C70D-C5D3-4A6F6811CFB0}"/>
              </a:ext>
            </a:extLst>
          </p:cNvPr>
          <p:cNvSpPr/>
          <p:nvPr/>
        </p:nvSpPr>
        <p:spPr>
          <a:xfrm>
            <a:off x="1615844" y="4765351"/>
            <a:ext cx="4672660" cy="1034398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b="1" dirty="0"/>
              <a:t>Nota:</a:t>
            </a:r>
            <a:r>
              <a:rPr lang="es-ES_tradnl" sz="1400" dirty="0"/>
              <a:t> el detalle de la operación de esta página administrativa se desarrolla en el instructivo </a:t>
            </a:r>
            <a:r>
              <a:rPr lang="es-ES" sz="1400" dirty="0"/>
              <a:t>Información de Docentes</a:t>
            </a:r>
            <a:endParaRPr lang="es-ES_tradnl" sz="1400" dirty="0"/>
          </a:p>
        </p:txBody>
      </p:sp>
    </p:spTree>
    <p:extLst>
      <p:ext uri="{BB962C8B-B14F-4D97-AF65-F5344CB8AC3E}">
        <p14:creationId xmlns:p14="http://schemas.microsoft.com/office/powerpoint/2010/main" val="8506627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35876BCA-A8F0-7937-7383-DA2843490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92" y="1032851"/>
            <a:ext cx="10206392" cy="431398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/>
              <a:t>Premisa: </a:t>
            </a:r>
            <a:r>
              <a:rPr lang="es-ES_tradnl" sz="3200"/>
              <a:t>SSASECT </a:t>
            </a:r>
            <a:r>
              <a:rPr lang="es-419" b="1">
                <a:effectLst/>
              </a:rPr>
              <a:t>Horario</a:t>
            </a:r>
            <a:br>
              <a:rPr lang="es-CL" b="1">
                <a:effectLst/>
              </a:rPr>
            </a:br>
            <a:endParaRPr lang="es-CL"/>
          </a:p>
        </p:txBody>
      </p:sp>
      <p:sp>
        <p:nvSpPr>
          <p:cNvPr id="17" name="Rectángulo redondeado 5">
            <a:extLst>
              <a:ext uri="{FF2B5EF4-FFF2-40B4-BE49-F238E27FC236}">
                <a16:creationId xmlns:a16="http://schemas.microsoft.com/office/drawing/2014/main" id="{EBFE1B0C-4638-DE97-13BD-C9362AE782B5}"/>
              </a:ext>
            </a:extLst>
          </p:cNvPr>
          <p:cNvSpPr/>
          <p:nvPr/>
        </p:nvSpPr>
        <p:spPr>
          <a:xfrm>
            <a:off x="1304023" y="4979942"/>
            <a:ext cx="5471967" cy="103439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/>
              <a:t>El docente debe estar asignado al menos a un NRC dentro del periodo académico a analizar para estimar la carga académica educativa.</a:t>
            </a:r>
            <a:endParaRPr lang="es-ES_tradnl" sz="140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A7E5062-2727-FEC3-BC24-E04CA848F711}"/>
              </a:ext>
            </a:extLst>
          </p:cNvPr>
          <p:cNvSpPr/>
          <p:nvPr/>
        </p:nvSpPr>
        <p:spPr>
          <a:xfrm>
            <a:off x="609601" y="4164898"/>
            <a:ext cx="7336535" cy="461966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51317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C4BD09B-9F30-8D58-EED6-871702964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48" y="1483426"/>
            <a:ext cx="10492879" cy="118849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000" b="1" dirty="0"/>
              <a:t>SIAASGN Asignación de docente 1/6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11" name="Rectángulo redondeado 5">
            <a:extLst>
              <a:ext uri="{FF2B5EF4-FFF2-40B4-BE49-F238E27FC236}">
                <a16:creationId xmlns:a16="http://schemas.microsoft.com/office/drawing/2014/main" id="{E29F1A9A-6237-24F4-0090-C3170F22EE49}"/>
              </a:ext>
            </a:extLst>
          </p:cNvPr>
          <p:cNvSpPr/>
          <p:nvPr/>
        </p:nvSpPr>
        <p:spPr>
          <a:xfrm>
            <a:off x="1785428" y="3844530"/>
            <a:ext cx="5075197" cy="107093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/>
              <a:t>Se ingresa el ID del Docente y el Periodo Académico al cual se analizará su Carga Académica y No-Académica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40E98F8-30DE-4D83-116C-C8BA5F628C3D}"/>
              </a:ext>
            </a:extLst>
          </p:cNvPr>
          <p:cNvSpPr/>
          <p:nvPr/>
        </p:nvSpPr>
        <p:spPr>
          <a:xfrm>
            <a:off x="1648230" y="1850526"/>
            <a:ext cx="6376833" cy="34548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85870A41-5285-3443-21F3-67B9004C4CCC}"/>
              </a:ext>
            </a:extLst>
          </p:cNvPr>
          <p:cNvSpPr/>
          <p:nvPr/>
        </p:nvSpPr>
        <p:spPr>
          <a:xfrm>
            <a:off x="1181296" y="1913917"/>
            <a:ext cx="360421" cy="21869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1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307885C-5336-DE39-B04A-E52F8C25E968}"/>
              </a:ext>
            </a:extLst>
          </p:cNvPr>
          <p:cNvSpPr/>
          <p:nvPr/>
        </p:nvSpPr>
        <p:spPr>
          <a:xfrm>
            <a:off x="10797679" y="1874811"/>
            <a:ext cx="360421" cy="296908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Rectángulo redondeado 5">
            <a:extLst>
              <a:ext uri="{FF2B5EF4-FFF2-40B4-BE49-F238E27FC236}">
                <a16:creationId xmlns:a16="http://schemas.microsoft.com/office/drawing/2014/main" id="{D6B6CF59-876B-CC4C-D82D-AC93FACCE925}"/>
              </a:ext>
            </a:extLst>
          </p:cNvPr>
          <p:cNvSpPr/>
          <p:nvPr/>
        </p:nvSpPr>
        <p:spPr>
          <a:xfrm>
            <a:off x="8660919" y="2147118"/>
            <a:ext cx="1330220" cy="77209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/>
              <a:t>Presionar el botón ‘Ir’</a:t>
            </a:r>
          </a:p>
        </p:txBody>
      </p:sp>
      <p:sp>
        <p:nvSpPr>
          <p:cNvPr id="14" name="Rectángulo redondeado 9">
            <a:extLst>
              <a:ext uri="{FF2B5EF4-FFF2-40B4-BE49-F238E27FC236}">
                <a16:creationId xmlns:a16="http://schemas.microsoft.com/office/drawing/2014/main" id="{AEDBDA66-F5AD-3C71-7CC6-69CE9D4F0F0A}"/>
              </a:ext>
            </a:extLst>
          </p:cNvPr>
          <p:cNvSpPr/>
          <p:nvPr/>
        </p:nvSpPr>
        <p:spPr>
          <a:xfrm>
            <a:off x="10025429" y="1899098"/>
            <a:ext cx="360421" cy="296908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2" name="Rectángulo redondeado 5">
            <a:extLst>
              <a:ext uri="{FF2B5EF4-FFF2-40B4-BE49-F238E27FC236}">
                <a16:creationId xmlns:a16="http://schemas.microsoft.com/office/drawing/2014/main" id="{C552DE44-B019-B299-6AE4-EA56160D94E2}"/>
              </a:ext>
            </a:extLst>
          </p:cNvPr>
          <p:cNvSpPr/>
          <p:nvPr/>
        </p:nvSpPr>
        <p:spPr>
          <a:xfrm>
            <a:off x="952500" y="3013470"/>
            <a:ext cx="9358687" cy="514926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La página «Asignación docente» se usa para ingresar y mantener la información de asignación para un periodo por docente o asesor.</a:t>
            </a:r>
            <a:endParaRPr lang="es-ES_tradnl" sz="14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C2D2637-7EEA-61DA-AF42-FB69382EF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237" y="3424237"/>
            <a:ext cx="9526" cy="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9169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5E52D7C2-FF21-383D-F6A6-82E112566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034" y="1175567"/>
            <a:ext cx="11332965" cy="4876501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/>
              <a:t>Configuraciones: </a:t>
            </a:r>
            <a:r>
              <a:rPr lang="es-ES_tradnl" sz="3000" b="1"/>
              <a:t>SIAASGN Asignación de docente</a:t>
            </a:r>
            <a:r>
              <a:rPr lang="es-ES_tradnl" sz="3200" b="1"/>
              <a:t> 2/6</a:t>
            </a:r>
            <a:br>
              <a:rPr lang="es-CL" b="1">
                <a:effectLst/>
              </a:rPr>
            </a:br>
            <a:endParaRPr lang="es-CL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C704260-3F91-C061-EB8B-FCDAE2AD4A65}"/>
              </a:ext>
            </a:extLst>
          </p:cNvPr>
          <p:cNvSpPr/>
          <p:nvPr/>
        </p:nvSpPr>
        <p:spPr>
          <a:xfrm>
            <a:off x="11405967" y="5638628"/>
            <a:ext cx="786032" cy="303198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5F8CBDC1-C3E3-84E3-0C59-2F9FCB7A8D57}"/>
              </a:ext>
            </a:extLst>
          </p:cNvPr>
          <p:cNvSpPr/>
          <p:nvPr/>
        </p:nvSpPr>
        <p:spPr>
          <a:xfrm>
            <a:off x="10947885" y="5720780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3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8C62241-42BF-98A1-96F6-3E2D04E3ADEC}"/>
              </a:ext>
            </a:extLst>
          </p:cNvPr>
          <p:cNvSpPr/>
          <p:nvPr/>
        </p:nvSpPr>
        <p:spPr>
          <a:xfrm>
            <a:off x="859034" y="2130551"/>
            <a:ext cx="10900149" cy="2586113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021F5409-1BB4-E5C0-5D62-51CCA9079E5F}"/>
              </a:ext>
            </a:extLst>
          </p:cNvPr>
          <p:cNvSpPr/>
          <p:nvPr/>
        </p:nvSpPr>
        <p:spPr>
          <a:xfrm>
            <a:off x="9844305" y="4877430"/>
            <a:ext cx="1353997" cy="87477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/>
              <a:t>Si hicimos alguna modificación, guardamos</a:t>
            </a:r>
          </a:p>
        </p:txBody>
      </p:sp>
      <p:sp>
        <p:nvSpPr>
          <p:cNvPr id="11" name="Rectángulo redondeado 5">
            <a:extLst>
              <a:ext uri="{FF2B5EF4-FFF2-40B4-BE49-F238E27FC236}">
                <a16:creationId xmlns:a16="http://schemas.microsoft.com/office/drawing/2014/main" id="{E29F1A9A-6237-24F4-0090-C3170F22EE49}"/>
              </a:ext>
            </a:extLst>
          </p:cNvPr>
          <p:cNvSpPr/>
          <p:nvPr/>
        </p:nvSpPr>
        <p:spPr>
          <a:xfrm>
            <a:off x="2226187" y="4851235"/>
            <a:ext cx="7410453" cy="133324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_tradnl" sz="1400"/>
              <a:t>En esta sección se visualiza la carga de trabajo por NRC que tenga asociado el docente. Inclusive podemos realizar algunas modificaciones a los porcentajes de sesión y responsabilidad. Adicionalmente podemos sobrepasar la carga de trabajo que viene de SCACRSE y también asignar o cambiar el tipo de contrato que tiene el docente (podemos predefinir que cargue un contrato por defecto en SIAINST).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C2E8090-9265-FFDE-9BD4-45855663A0FE}"/>
              </a:ext>
            </a:extLst>
          </p:cNvPr>
          <p:cNvSpPr/>
          <p:nvPr/>
        </p:nvSpPr>
        <p:spPr>
          <a:xfrm>
            <a:off x="1329335" y="5608361"/>
            <a:ext cx="426551" cy="373729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redondeado 9">
            <a:extLst>
              <a:ext uri="{FF2B5EF4-FFF2-40B4-BE49-F238E27FC236}">
                <a16:creationId xmlns:a16="http://schemas.microsoft.com/office/drawing/2014/main" id="{406E4DBB-7C80-4D76-4327-58A491732C55}"/>
              </a:ext>
            </a:extLst>
          </p:cNvPr>
          <p:cNvSpPr/>
          <p:nvPr/>
        </p:nvSpPr>
        <p:spPr>
          <a:xfrm>
            <a:off x="968913" y="5790227"/>
            <a:ext cx="360421" cy="21869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5" name="Rectángulo redondeado 5">
            <a:extLst>
              <a:ext uri="{FF2B5EF4-FFF2-40B4-BE49-F238E27FC236}">
                <a16:creationId xmlns:a16="http://schemas.microsoft.com/office/drawing/2014/main" id="{F357A7F8-C3AE-7A73-EE4A-779F6141A4A7}"/>
              </a:ext>
            </a:extLst>
          </p:cNvPr>
          <p:cNvSpPr/>
          <p:nvPr/>
        </p:nvSpPr>
        <p:spPr>
          <a:xfrm>
            <a:off x="895323" y="6184476"/>
            <a:ext cx="1101518" cy="40968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/>
              <a:t>Bloque siguiente</a:t>
            </a:r>
          </a:p>
        </p:txBody>
      </p:sp>
    </p:spTree>
    <p:extLst>
      <p:ext uri="{BB962C8B-B14F-4D97-AF65-F5344CB8AC3E}">
        <p14:creationId xmlns:p14="http://schemas.microsoft.com/office/powerpoint/2010/main" val="11895259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n 23">
            <a:extLst>
              <a:ext uri="{FF2B5EF4-FFF2-40B4-BE49-F238E27FC236}">
                <a16:creationId xmlns:a16="http://schemas.microsoft.com/office/drawing/2014/main" id="{AB8CBFA3-4006-CCA4-61AA-45AA4B468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98" y="1235399"/>
            <a:ext cx="11171906" cy="477961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/>
              <a:t>Configuraciones: </a:t>
            </a:r>
            <a:r>
              <a:rPr lang="es-ES_tradnl" sz="3000" b="1"/>
              <a:t>SIAASGN Asignación de docente </a:t>
            </a:r>
            <a:r>
              <a:rPr lang="es-ES_tradnl" sz="3200" b="1"/>
              <a:t>3/6</a:t>
            </a:r>
            <a:br>
              <a:rPr lang="es-CL" b="1">
                <a:effectLst/>
              </a:rPr>
            </a:br>
            <a:endParaRPr lang="es-CL"/>
          </a:p>
        </p:txBody>
      </p:sp>
      <p:sp>
        <p:nvSpPr>
          <p:cNvPr id="9" name="Rectángulo redondeado 5">
            <a:extLst>
              <a:ext uri="{FF2B5EF4-FFF2-40B4-BE49-F238E27FC236}">
                <a16:creationId xmlns:a16="http://schemas.microsoft.com/office/drawing/2014/main" id="{CB8C1D01-D630-A856-A731-8ED9D0C25232}"/>
              </a:ext>
            </a:extLst>
          </p:cNvPr>
          <p:cNvSpPr/>
          <p:nvPr/>
        </p:nvSpPr>
        <p:spPr>
          <a:xfrm>
            <a:off x="762510" y="3324292"/>
            <a:ext cx="3090640" cy="176964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6. En esta sección registramos la labor no educativa que tuviera asociado el docente.</a:t>
            </a:r>
          </a:p>
          <a:p>
            <a:pPr algn="ctr"/>
            <a:r>
              <a:rPr lang="es-ES_tradnl" sz="1400" dirty="0"/>
              <a:t>Lo primero es definir el tipo de actividad (campo ‘</a:t>
            </a:r>
            <a:r>
              <a:rPr lang="es-ES_tradnl" sz="1400" b="1" dirty="0"/>
              <a:t>Tipo</a:t>
            </a:r>
            <a:r>
              <a:rPr lang="es-ES_tradnl" sz="1400" dirty="0"/>
              <a:t>’), para lo cual se selecciona el tipo no educativo de docente definido en STVNIST.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E87E3B7-E4CE-E1F2-63FF-169F370D8FEC}"/>
              </a:ext>
            </a:extLst>
          </p:cNvPr>
          <p:cNvSpPr/>
          <p:nvPr/>
        </p:nvSpPr>
        <p:spPr>
          <a:xfrm>
            <a:off x="1126572" y="5661270"/>
            <a:ext cx="426551" cy="373729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77ABE2A6-4081-AFCD-87ED-DB046B0C4470}"/>
              </a:ext>
            </a:extLst>
          </p:cNvPr>
          <p:cNvSpPr/>
          <p:nvPr/>
        </p:nvSpPr>
        <p:spPr>
          <a:xfrm>
            <a:off x="1461255" y="5255568"/>
            <a:ext cx="360421" cy="21869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11</a:t>
            </a:r>
          </a:p>
        </p:txBody>
      </p:sp>
      <p:sp>
        <p:nvSpPr>
          <p:cNvPr id="14" name="Rectángulo redondeado 5">
            <a:extLst>
              <a:ext uri="{FF2B5EF4-FFF2-40B4-BE49-F238E27FC236}">
                <a16:creationId xmlns:a16="http://schemas.microsoft.com/office/drawing/2014/main" id="{CB46047F-489F-D734-9231-9261C88D827F}"/>
              </a:ext>
            </a:extLst>
          </p:cNvPr>
          <p:cNvSpPr/>
          <p:nvPr/>
        </p:nvSpPr>
        <p:spPr>
          <a:xfrm>
            <a:off x="1821676" y="5755507"/>
            <a:ext cx="1101518" cy="57031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/>
              <a:t>Bloque siguiente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4EB7AC0-F0C6-A0BD-8FD3-2417D6E94E1C}"/>
              </a:ext>
            </a:extLst>
          </p:cNvPr>
          <p:cNvSpPr/>
          <p:nvPr/>
        </p:nvSpPr>
        <p:spPr>
          <a:xfrm>
            <a:off x="746598" y="2446719"/>
            <a:ext cx="2865282" cy="35513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0FD21B0-4A6A-435B-0721-633937A938E4}"/>
              </a:ext>
            </a:extLst>
          </p:cNvPr>
          <p:cNvSpPr/>
          <p:nvPr/>
        </p:nvSpPr>
        <p:spPr>
          <a:xfrm>
            <a:off x="5194360" y="2456470"/>
            <a:ext cx="1526480" cy="35513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Rectángulo redondeado 9">
            <a:extLst>
              <a:ext uri="{FF2B5EF4-FFF2-40B4-BE49-F238E27FC236}">
                <a16:creationId xmlns:a16="http://schemas.microsoft.com/office/drawing/2014/main" id="{DD05BA76-4DCA-76AE-B7A2-AD5ED6D8BEA7}"/>
              </a:ext>
            </a:extLst>
          </p:cNvPr>
          <p:cNvSpPr/>
          <p:nvPr/>
        </p:nvSpPr>
        <p:spPr>
          <a:xfrm>
            <a:off x="720157" y="2909580"/>
            <a:ext cx="360421" cy="21869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6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693C4EE-3A53-5647-E3BC-96016994367A}"/>
              </a:ext>
            </a:extLst>
          </p:cNvPr>
          <p:cNvSpPr/>
          <p:nvPr/>
        </p:nvSpPr>
        <p:spPr>
          <a:xfrm>
            <a:off x="11181051" y="5664430"/>
            <a:ext cx="775618" cy="323104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9" name="Rectángulo redondeado 9">
            <a:extLst>
              <a:ext uri="{FF2B5EF4-FFF2-40B4-BE49-F238E27FC236}">
                <a16:creationId xmlns:a16="http://schemas.microsoft.com/office/drawing/2014/main" id="{66836929-FAD3-7528-E00A-091DFAD9E047}"/>
              </a:ext>
            </a:extLst>
          </p:cNvPr>
          <p:cNvSpPr/>
          <p:nvPr/>
        </p:nvSpPr>
        <p:spPr>
          <a:xfrm>
            <a:off x="10830594" y="5733475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10</a:t>
            </a:r>
          </a:p>
        </p:txBody>
      </p:sp>
      <p:sp>
        <p:nvSpPr>
          <p:cNvPr id="20" name="Rectángulo redondeado 5">
            <a:extLst>
              <a:ext uri="{FF2B5EF4-FFF2-40B4-BE49-F238E27FC236}">
                <a16:creationId xmlns:a16="http://schemas.microsoft.com/office/drawing/2014/main" id="{6E258A43-154B-51D2-3BBF-640556B51D1E}"/>
              </a:ext>
            </a:extLst>
          </p:cNvPr>
          <p:cNvSpPr/>
          <p:nvPr/>
        </p:nvSpPr>
        <p:spPr>
          <a:xfrm>
            <a:off x="10333807" y="5111945"/>
            <a:ext cx="1353997" cy="58616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/>
              <a:t>Guardamos información</a:t>
            </a:r>
          </a:p>
        </p:txBody>
      </p:sp>
      <p:sp>
        <p:nvSpPr>
          <p:cNvPr id="2" name="Rectángulo redondeado 5">
            <a:extLst>
              <a:ext uri="{FF2B5EF4-FFF2-40B4-BE49-F238E27FC236}">
                <a16:creationId xmlns:a16="http://schemas.microsoft.com/office/drawing/2014/main" id="{036E9EC5-4616-903F-29FA-A33124A72D16}"/>
              </a:ext>
            </a:extLst>
          </p:cNvPr>
          <p:cNvSpPr/>
          <p:nvPr/>
        </p:nvSpPr>
        <p:spPr>
          <a:xfrm>
            <a:off x="6821774" y="3768355"/>
            <a:ext cx="4359277" cy="87067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9. También esta asignación puede encontrarse relacionada al Tipo de </a:t>
            </a:r>
            <a:r>
              <a:rPr lang="es-ES_tradnl" sz="1400" b="1" dirty="0"/>
              <a:t>Contrato</a:t>
            </a:r>
            <a:r>
              <a:rPr lang="es-ES_tradnl" sz="1400" dirty="0"/>
              <a:t> al que pertenece esta actividad.</a:t>
            </a:r>
          </a:p>
        </p:txBody>
      </p:sp>
      <p:sp>
        <p:nvSpPr>
          <p:cNvPr id="7" name="Rectángulo redondeado 9">
            <a:extLst>
              <a:ext uri="{FF2B5EF4-FFF2-40B4-BE49-F238E27FC236}">
                <a16:creationId xmlns:a16="http://schemas.microsoft.com/office/drawing/2014/main" id="{17D18437-8181-25E8-C54B-419FBB13CBA6}"/>
              </a:ext>
            </a:extLst>
          </p:cNvPr>
          <p:cNvSpPr/>
          <p:nvPr/>
        </p:nvSpPr>
        <p:spPr>
          <a:xfrm>
            <a:off x="1530040" y="2938088"/>
            <a:ext cx="360421" cy="21869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7</a:t>
            </a:r>
          </a:p>
        </p:txBody>
      </p:sp>
      <p:sp>
        <p:nvSpPr>
          <p:cNvPr id="8" name="Rectángulo redondeado 9">
            <a:extLst>
              <a:ext uri="{FF2B5EF4-FFF2-40B4-BE49-F238E27FC236}">
                <a16:creationId xmlns:a16="http://schemas.microsoft.com/office/drawing/2014/main" id="{04241DE4-49A1-1048-ABB6-66FCFF98AB2B}"/>
              </a:ext>
            </a:extLst>
          </p:cNvPr>
          <p:cNvSpPr/>
          <p:nvPr/>
        </p:nvSpPr>
        <p:spPr>
          <a:xfrm>
            <a:off x="3059710" y="2923686"/>
            <a:ext cx="360421" cy="21869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8</a:t>
            </a:r>
          </a:p>
        </p:txBody>
      </p:sp>
      <p:sp>
        <p:nvSpPr>
          <p:cNvPr id="11" name="Rectángulo redondeado 9">
            <a:extLst>
              <a:ext uri="{FF2B5EF4-FFF2-40B4-BE49-F238E27FC236}">
                <a16:creationId xmlns:a16="http://schemas.microsoft.com/office/drawing/2014/main" id="{B3AC8BB7-611E-11D6-834F-A908C2194D8E}"/>
              </a:ext>
            </a:extLst>
          </p:cNvPr>
          <p:cNvSpPr/>
          <p:nvPr/>
        </p:nvSpPr>
        <p:spPr>
          <a:xfrm>
            <a:off x="5759685" y="2886175"/>
            <a:ext cx="360421" cy="21869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9</a:t>
            </a:r>
          </a:p>
        </p:txBody>
      </p:sp>
      <p:sp>
        <p:nvSpPr>
          <p:cNvPr id="13" name="Rectángulo redondeado 5">
            <a:extLst>
              <a:ext uri="{FF2B5EF4-FFF2-40B4-BE49-F238E27FC236}">
                <a16:creationId xmlns:a16="http://schemas.microsoft.com/office/drawing/2014/main" id="{DCED8227-804C-538B-2C1A-7B21F0171414}"/>
              </a:ext>
            </a:extLst>
          </p:cNvPr>
          <p:cNvSpPr/>
          <p:nvPr/>
        </p:nvSpPr>
        <p:spPr>
          <a:xfrm>
            <a:off x="4095454" y="3600875"/>
            <a:ext cx="2339121" cy="1216478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7 y 8: Luego registramos las horas que se ocuparon para esta actividad en el campo </a:t>
            </a:r>
            <a:r>
              <a:rPr lang="es-ES_tradnl" sz="1400" b="1" dirty="0"/>
              <a:t>Carga de trabajo </a:t>
            </a:r>
            <a:r>
              <a:rPr lang="es-ES_tradnl" sz="1400" dirty="0"/>
              <a:t>y </a:t>
            </a:r>
            <a:r>
              <a:rPr lang="es-ES_tradnl" sz="1400" b="1" dirty="0"/>
              <a:t>Contacto semanal</a:t>
            </a:r>
            <a:r>
              <a:rPr lang="es-ES_tradnl" sz="1400" dirty="0"/>
              <a:t>.</a:t>
            </a:r>
          </a:p>
        </p:txBody>
      </p:sp>
      <p:sp>
        <p:nvSpPr>
          <p:cNvPr id="21" name="Rectángulo 15">
            <a:extLst>
              <a:ext uri="{FF2B5EF4-FFF2-40B4-BE49-F238E27FC236}">
                <a16:creationId xmlns:a16="http://schemas.microsoft.com/office/drawing/2014/main" id="{147D2B29-B975-F146-7522-3BC8C7ED1FEB}"/>
              </a:ext>
            </a:extLst>
          </p:cNvPr>
          <p:cNvSpPr/>
          <p:nvPr/>
        </p:nvSpPr>
        <p:spPr>
          <a:xfrm>
            <a:off x="10844949" y="1971078"/>
            <a:ext cx="200025" cy="21796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2" name="Rectángulo redondeado 5">
            <a:extLst>
              <a:ext uri="{FF2B5EF4-FFF2-40B4-BE49-F238E27FC236}">
                <a16:creationId xmlns:a16="http://schemas.microsoft.com/office/drawing/2014/main" id="{DF1E1861-97DC-57D1-F449-AA46E799B76B}"/>
              </a:ext>
            </a:extLst>
          </p:cNvPr>
          <p:cNvSpPr/>
          <p:nvPr/>
        </p:nvSpPr>
        <p:spPr>
          <a:xfrm>
            <a:off x="7885218" y="2746115"/>
            <a:ext cx="3684475" cy="71751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5. Presione el botón Insertar para crear un nuevo registro o utilice el botón Eliminar si requiere eliminar un registro existente.</a:t>
            </a:r>
          </a:p>
        </p:txBody>
      </p:sp>
      <p:sp>
        <p:nvSpPr>
          <p:cNvPr id="23" name="Rectángulo redondeado 9">
            <a:extLst>
              <a:ext uri="{FF2B5EF4-FFF2-40B4-BE49-F238E27FC236}">
                <a16:creationId xmlns:a16="http://schemas.microsoft.com/office/drawing/2014/main" id="{AF600A25-17BF-700B-D868-19BD7AFC90E2}"/>
              </a:ext>
            </a:extLst>
          </p:cNvPr>
          <p:cNvSpPr/>
          <p:nvPr/>
        </p:nvSpPr>
        <p:spPr>
          <a:xfrm>
            <a:off x="10468739" y="1752381"/>
            <a:ext cx="360421" cy="21869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702675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81608750-8221-F080-1D1B-B933A4BC9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1138492"/>
            <a:ext cx="11453119" cy="492639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/>
              <a:t>Configuraciones: </a:t>
            </a:r>
            <a:r>
              <a:rPr lang="es-ES_tradnl" sz="3000" b="1"/>
              <a:t>SIAASGN Asignación de docente</a:t>
            </a:r>
            <a:br>
              <a:rPr lang="es-CL" b="1">
                <a:effectLst/>
              </a:rPr>
            </a:br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34DD394-E225-1E76-1CDB-2004B2BAB3AA}"/>
              </a:ext>
            </a:extLst>
          </p:cNvPr>
          <p:cNvSpPr/>
          <p:nvPr/>
        </p:nvSpPr>
        <p:spPr>
          <a:xfrm>
            <a:off x="680742" y="2153293"/>
            <a:ext cx="10138805" cy="2208395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Rectángulo redondeado 5">
            <a:extLst>
              <a:ext uri="{FF2B5EF4-FFF2-40B4-BE49-F238E27FC236}">
                <a16:creationId xmlns:a16="http://schemas.microsoft.com/office/drawing/2014/main" id="{A6F22ED7-1928-CDF8-D900-E7DD918CC951}"/>
              </a:ext>
            </a:extLst>
          </p:cNvPr>
          <p:cNvSpPr/>
          <p:nvPr/>
        </p:nvSpPr>
        <p:spPr>
          <a:xfrm>
            <a:off x="4944529" y="4249159"/>
            <a:ext cx="4582415" cy="804242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/>
              <a:t>En este bloque aparece un resumen de la carga horario docente.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8B99DC7-6195-A3CC-89BE-61BE4FF0B85B}"/>
              </a:ext>
            </a:extLst>
          </p:cNvPr>
          <p:cNvSpPr/>
          <p:nvPr/>
        </p:nvSpPr>
        <p:spPr>
          <a:xfrm>
            <a:off x="1046521" y="5719508"/>
            <a:ext cx="426551" cy="373729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ángulo redondeado 9">
            <a:extLst>
              <a:ext uri="{FF2B5EF4-FFF2-40B4-BE49-F238E27FC236}">
                <a16:creationId xmlns:a16="http://schemas.microsoft.com/office/drawing/2014/main" id="{C90B07FD-8D9A-6F34-3827-745EBED2ECBD}"/>
              </a:ext>
            </a:extLst>
          </p:cNvPr>
          <p:cNvSpPr/>
          <p:nvPr/>
        </p:nvSpPr>
        <p:spPr>
          <a:xfrm>
            <a:off x="680742" y="5847125"/>
            <a:ext cx="360421" cy="21869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12</a:t>
            </a:r>
          </a:p>
        </p:txBody>
      </p:sp>
      <p:sp>
        <p:nvSpPr>
          <p:cNvPr id="16" name="Rectángulo redondeado 5">
            <a:extLst>
              <a:ext uri="{FF2B5EF4-FFF2-40B4-BE49-F238E27FC236}">
                <a16:creationId xmlns:a16="http://schemas.microsoft.com/office/drawing/2014/main" id="{83A8E6BF-D6A6-4E34-1843-EC3D88DA3273}"/>
              </a:ext>
            </a:extLst>
          </p:cNvPr>
          <p:cNvSpPr/>
          <p:nvPr/>
        </p:nvSpPr>
        <p:spPr>
          <a:xfrm>
            <a:off x="1650765" y="5639955"/>
            <a:ext cx="1101518" cy="53283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/>
              <a:t>Siguiente sección</a:t>
            </a:r>
          </a:p>
        </p:txBody>
      </p:sp>
    </p:spTree>
    <p:extLst>
      <p:ext uri="{BB962C8B-B14F-4D97-AF65-F5344CB8AC3E}">
        <p14:creationId xmlns:p14="http://schemas.microsoft.com/office/powerpoint/2010/main" val="24693384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68A9633-D3D8-68B3-328D-C7616505A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799" y="1106424"/>
            <a:ext cx="11074129" cy="498755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000" b="1" dirty="0"/>
              <a:t>SIAASGN Asignación de docente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037DDDF-D899-BC78-2E1E-5328FD47931E}"/>
              </a:ext>
            </a:extLst>
          </p:cNvPr>
          <p:cNvSpPr/>
          <p:nvPr/>
        </p:nvSpPr>
        <p:spPr>
          <a:xfrm>
            <a:off x="1005094" y="2864094"/>
            <a:ext cx="10763233" cy="275032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redondeado 5">
            <a:extLst>
              <a:ext uri="{FF2B5EF4-FFF2-40B4-BE49-F238E27FC236}">
                <a16:creationId xmlns:a16="http://schemas.microsoft.com/office/drawing/2014/main" id="{E29F1A9A-6237-24F4-0090-C3170F22EE49}"/>
              </a:ext>
            </a:extLst>
          </p:cNvPr>
          <p:cNvSpPr/>
          <p:nvPr/>
        </p:nvSpPr>
        <p:spPr>
          <a:xfrm>
            <a:off x="1765758" y="1694795"/>
            <a:ext cx="8083092" cy="116929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/>
              <a:t>En la siguiente sección, se calcula para cada criterio de carga de trabajo si el docente se encuentra con una sobrecarga (O) y/o una </a:t>
            </a:r>
            <a:r>
              <a:rPr lang="es-ES_tradnl" sz="1400" err="1"/>
              <a:t>subcarga</a:t>
            </a:r>
            <a:r>
              <a:rPr lang="es-ES_tradnl" sz="1400"/>
              <a:t> (U) del docente. En la imagen podemos ver que el docente está bajo la carga esperada en términos de </a:t>
            </a:r>
            <a:r>
              <a:rPr lang="es-ES_tradnl" sz="1400" err="1"/>
              <a:t>creditaje</a:t>
            </a:r>
            <a:r>
              <a:rPr lang="es-ES_tradnl" sz="1400"/>
              <a:t> y carga de trabajo educativa, pero está con una sobrecarga de trabajo a nivel No-Educativo.</a:t>
            </a:r>
          </a:p>
        </p:txBody>
      </p:sp>
    </p:spTree>
    <p:extLst>
      <p:ext uri="{BB962C8B-B14F-4D97-AF65-F5344CB8AC3E}">
        <p14:creationId xmlns:p14="http://schemas.microsoft.com/office/powerpoint/2010/main" val="6654082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85285AE-146C-6B5D-AA54-500D7B54F1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1333891"/>
          </a:xfrm>
        </p:spPr>
        <p:txBody>
          <a:bodyPr/>
          <a:lstStyle/>
          <a:p>
            <a:r>
              <a:rPr lang="en-US" dirty="0"/>
              <a:t>Regla de Carga de Trabajo– Regla de Contrato de Docente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4345775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3E572075-7963-797C-8CA3-47F3EE22A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741" y="1556394"/>
            <a:ext cx="11177305" cy="140505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000" b="1" dirty="0"/>
              <a:t>SIAFLCT Reglas de periodo de contrato de docente 1/2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6A05A6DB-BA5D-59E0-472C-C95221767890}"/>
              </a:ext>
            </a:extLst>
          </p:cNvPr>
          <p:cNvSpPr/>
          <p:nvPr/>
        </p:nvSpPr>
        <p:spPr>
          <a:xfrm>
            <a:off x="2519675" y="2704398"/>
            <a:ext cx="2934640" cy="118581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/>
              <a:t>Se debe ingresar el Periodo Académico y el Tipo de Contrato sobre el cual se definirá la regla por contrato docente a configurar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52AE7F6-9047-6856-73DB-B4E290183887}"/>
              </a:ext>
            </a:extLst>
          </p:cNvPr>
          <p:cNvSpPr/>
          <p:nvPr/>
        </p:nvSpPr>
        <p:spPr>
          <a:xfrm>
            <a:off x="992092" y="2026014"/>
            <a:ext cx="4110259" cy="561738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C6E1F90-FC84-1D53-31B3-B81F8ADE469E}"/>
              </a:ext>
            </a:extLst>
          </p:cNvPr>
          <p:cNvSpPr/>
          <p:nvPr/>
        </p:nvSpPr>
        <p:spPr>
          <a:xfrm>
            <a:off x="11623548" y="2031006"/>
            <a:ext cx="328359" cy="24757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C874BC18-80D9-260B-0365-0FD5CA3F8E07}"/>
              </a:ext>
            </a:extLst>
          </p:cNvPr>
          <p:cNvSpPr/>
          <p:nvPr/>
        </p:nvSpPr>
        <p:spPr>
          <a:xfrm>
            <a:off x="10115308" y="2448002"/>
            <a:ext cx="1330220" cy="849302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/>
              <a:t>Presionar el botón ‘Ir’</a:t>
            </a:r>
          </a:p>
        </p:txBody>
      </p:sp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C2406D92-02A8-0B2D-B29C-781EAAD349F3}"/>
              </a:ext>
            </a:extLst>
          </p:cNvPr>
          <p:cNvSpPr/>
          <p:nvPr/>
        </p:nvSpPr>
        <p:spPr>
          <a:xfrm>
            <a:off x="11226419" y="2026014"/>
            <a:ext cx="360421" cy="24056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2</a:t>
            </a:r>
          </a:p>
        </p:txBody>
      </p:sp>
      <p:sp>
        <p:nvSpPr>
          <p:cNvPr id="14" name="Rectángulo redondeado 9">
            <a:extLst>
              <a:ext uri="{FF2B5EF4-FFF2-40B4-BE49-F238E27FC236}">
                <a16:creationId xmlns:a16="http://schemas.microsoft.com/office/drawing/2014/main" id="{0C7B3960-A3B8-C21F-3058-5F862D5A4A74}"/>
              </a:ext>
            </a:extLst>
          </p:cNvPr>
          <p:cNvSpPr/>
          <p:nvPr/>
        </p:nvSpPr>
        <p:spPr>
          <a:xfrm>
            <a:off x="5083702" y="1967267"/>
            <a:ext cx="360421" cy="24056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444824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A2289502-B74F-A2F8-F927-2106D934D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88" y="1406054"/>
            <a:ext cx="10625777" cy="474785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/>
              <a:t>Configuraciones: </a:t>
            </a:r>
            <a:r>
              <a:rPr lang="es-ES_tradnl" sz="3000" b="1"/>
              <a:t>SIAFLCT Reglas de periodo de contrato de docente </a:t>
            </a:r>
            <a:r>
              <a:rPr lang="es-ES_tradnl" sz="3000"/>
              <a:t>2</a:t>
            </a:r>
            <a:r>
              <a:rPr lang="es-ES_tradnl" sz="3000" b="1"/>
              <a:t>/2</a:t>
            </a:r>
            <a:br>
              <a:rPr lang="es-CL" b="1">
                <a:effectLst/>
              </a:rPr>
            </a:br>
            <a:endParaRPr lang="es-CL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C73789A-9A38-7433-D054-255917DE1BA2}"/>
              </a:ext>
            </a:extLst>
          </p:cNvPr>
          <p:cNvSpPr/>
          <p:nvPr/>
        </p:nvSpPr>
        <p:spPr>
          <a:xfrm>
            <a:off x="6096000" y="2362200"/>
            <a:ext cx="3953256" cy="36987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1488891F-0F09-875D-66E5-DD5AD390431C}"/>
              </a:ext>
            </a:extLst>
          </p:cNvPr>
          <p:cNvSpPr/>
          <p:nvPr/>
        </p:nvSpPr>
        <p:spPr>
          <a:xfrm>
            <a:off x="5565503" y="2327662"/>
            <a:ext cx="366050" cy="27451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4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B603402-7F12-8713-639C-53979E62924D}"/>
              </a:ext>
            </a:extLst>
          </p:cNvPr>
          <p:cNvSpPr/>
          <p:nvPr/>
        </p:nvSpPr>
        <p:spPr>
          <a:xfrm>
            <a:off x="1881465" y="2430986"/>
            <a:ext cx="599607" cy="28103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redondeado 9">
            <a:extLst>
              <a:ext uri="{FF2B5EF4-FFF2-40B4-BE49-F238E27FC236}">
                <a16:creationId xmlns:a16="http://schemas.microsoft.com/office/drawing/2014/main" id="{60B3AFCC-32D6-AED2-86FD-CB86469860D9}"/>
              </a:ext>
            </a:extLst>
          </p:cNvPr>
          <p:cNvSpPr/>
          <p:nvPr/>
        </p:nvSpPr>
        <p:spPr>
          <a:xfrm>
            <a:off x="1410775" y="2437501"/>
            <a:ext cx="366050" cy="27451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3</a:t>
            </a:r>
          </a:p>
        </p:txBody>
      </p:sp>
      <p:sp>
        <p:nvSpPr>
          <p:cNvPr id="12" name="Rectángulo redondeado 5">
            <a:extLst>
              <a:ext uri="{FF2B5EF4-FFF2-40B4-BE49-F238E27FC236}">
                <a16:creationId xmlns:a16="http://schemas.microsoft.com/office/drawing/2014/main" id="{282B51CC-D650-DB6E-C1A2-03730ADA5DA1}"/>
              </a:ext>
            </a:extLst>
          </p:cNvPr>
          <p:cNvSpPr/>
          <p:nvPr/>
        </p:nvSpPr>
        <p:spPr>
          <a:xfrm>
            <a:off x="2392592" y="3959883"/>
            <a:ext cx="2395171" cy="69069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Lo primero es ratificar que la regla cuente con la casilla activada del campo ‘Activo’.</a:t>
            </a:r>
          </a:p>
        </p:txBody>
      </p:sp>
      <p:sp>
        <p:nvSpPr>
          <p:cNvPr id="13" name="Rectángulo redondeado 5">
            <a:extLst>
              <a:ext uri="{FF2B5EF4-FFF2-40B4-BE49-F238E27FC236}">
                <a16:creationId xmlns:a16="http://schemas.microsoft.com/office/drawing/2014/main" id="{B2695C4E-DD86-0408-1A73-655E61BF646B}"/>
              </a:ext>
            </a:extLst>
          </p:cNvPr>
          <p:cNvSpPr/>
          <p:nvPr/>
        </p:nvSpPr>
        <p:spPr>
          <a:xfrm>
            <a:off x="6700827" y="4398034"/>
            <a:ext cx="4310634" cy="69069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Se debe ingresar en el campo ‘Código de regla de contrato’ aquel valor al cual se configurarán los parámetros a medir.</a:t>
            </a:r>
          </a:p>
        </p:txBody>
      </p:sp>
    </p:spTree>
    <p:extLst>
      <p:ext uri="{BB962C8B-B14F-4D97-AF65-F5344CB8AC3E}">
        <p14:creationId xmlns:p14="http://schemas.microsoft.com/office/powerpoint/2010/main" val="37587543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32E231CA-7688-0517-DC44-18C9D486F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99" y="1241462"/>
            <a:ext cx="10625777" cy="474785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/>
              <a:t>Configuraciones: </a:t>
            </a:r>
            <a:r>
              <a:rPr lang="es-ES_tradnl" sz="3000" b="1"/>
              <a:t>SIAFLCT Reglas de periodo de contrato de docente 2/2</a:t>
            </a:r>
            <a:br>
              <a:rPr lang="es-CL" b="1">
                <a:effectLst/>
              </a:rPr>
            </a:br>
            <a:endParaRPr lang="es-CL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0C8421F-80EB-2851-8B60-F1EF22A90855}"/>
              </a:ext>
            </a:extLst>
          </p:cNvPr>
          <p:cNvSpPr/>
          <p:nvPr/>
        </p:nvSpPr>
        <p:spPr>
          <a:xfrm>
            <a:off x="1837944" y="2676525"/>
            <a:ext cx="3886581" cy="2031834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D5A3C0EE-07D9-22DF-5AE5-4FC6FADB9EA4}"/>
              </a:ext>
            </a:extLst>
          </p:cNvPr>
          <p:cNvSpPr/>
          <p:nvPr/>
        </p:nvSpPr>
        <p:spPr>
          <a:xfrm>
            <a:off x="6202763" y="2539267"/>
            <a:ext cx="4360963" cy="2503854"/>
          </a:xfrm>
          <a:prstGeom prst="round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1000" b="1"/>
              <a:t>Las reglas de carga de trabajo se clasifican en 3 grupos de medición: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PE" sz="1000" b="1"/>
              <a:t>Horas crédito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PE" sz="1000" b="1"/>
              <a:t>Totales</a:t>
            </a:r>
            <a:r>
              <a:rPr lang="es-PE" sz="1000"/>
              <a:t>: suma de créditos de NRCs a su cargo.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PE" sz="1000" b="1"/>
              <a:t>Generadas</a:t>
            </a:r>
            <a:r>
              <a:rPr lang="es-PE" sz="1000"/>
              <a:t>: créditos del NRC por número de alumnos inscritos.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PE" sz="1000" b="1"/>
              <a:t>Horas de contacto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PE" sz="1000" b="1"/>
              <a:t>Semanales:</a:t>
            </a:r>
            <a:r>
              <a:rPr lang="es-PE" sz="1000"/>
              <a:t> suma de horas semanales de NRCs a su cargo (SSASECT).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PE" sz="1000" b="1"/>
              <a:t>Totales:</a:t>
            </a:r>
            <a:r>
              <a:rPr lang="es-PE" sz="1000"/>
              <a:t> horas semanales por # de semanas del NRC menos festivos.</a:t>
            </a:r>
          </a:p>
          <a:p>
            <a:br>
              <a:rPr lang="es-ES_tradnl" sz="1000"/>
            </a:br>
            <a:r>
              <a:rPr lang="es-ES_tradnl" sz="1000"/>
              <a:t>Los valores Inferior y Superior son el rango donde el profesor lleva un dictado dentro de lo esperado.</a:t>
            </a:r>
          </a:p>
        </p:txBody>
      </p:sp>
      <p:sp>
        <p:nvSpPr>
          <p:cNvPr id="14" name="Rectángulo redondeado 9">
            <a:extLst>
              <a:ext uri="{FF2B5EF4-FFF2-40B4-BE49-F238E27FC236}">
                <a16:creationId xmlns:a16="http://schemas.microsoft.com/office/drawing/2014/main" id="{8D37CAFC-89F4-0C4B-D72A-7A63D7B2A66D}"/>
              </a:ext>
            </a:extLst>
          </p:cNvPr>
          <p:cNvSpPr/>
          <p:nvPr/>
        </p:nvSpPr>
        <p:spPr>
          <a:xfrm>
            <a:off x="947969" y="2539267"/>
            <a:ext cx="366050" cy="27451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8609618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3C07AB93-48C9-0566-D92E-99A88F2FF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10" y="1406054"/>
            <a:ext cx="10521155" cy="474785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/>
              <a:t>Configuraciones: </a:t>
            </a:r>
            <a:r>
              <a:rPr lang="es-ES_tradnl" sz="3000" b="1"/>
              <a:t>SIAFLCT Reglas de periodo de contrato de docente 2/2</a:t>
            </a:r>
            <a:br>
              <a:rPr lang="es-CL" b="1">
                <a:effectLst/>
              </a:rPr>
            </a:br>
            <a:endParaRPr lang="es-CL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DAAADC9-D9B9-83C6-8BDD-71A73D8EDDF1}"/>
              </a:ext>
            </a:extLst>
          </p:cNvPr>
          <p:cNvSpPr/>
          <p:nvPr/>
        </p:nvSpPr>
        <p:spPr>
          <a:xfrm>
            <a:off x="6037725" y="2467061"/>
            <a:ext cx="4925931" cy="239007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13D9CAF0-221F-7A1A-7F07-F14C118A30D5}"/>
              </a:ext>
            </a:extLst>
          </p:cNvPr>
          <p:cNvSpPr/>
          <p:nvPr/>
        </p:nvSpPr>
        <p:spPr>
          <a:xfrm>
            <a:off x="997844" y="2679032"/>
            <a:ext cx="4360963" cy="2390070"/>
          </a:xfrm>
          <a:prstGeom prst="round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PE" sz="1000" b="1"/>
              <a:t>Carga de Trabajo </a:t>
            </a:r>
            <a:r>
              <a:rPr lang="es-PE" sz="1000"/>
              <a:t>(usado para profesor tiempo completo o de planta)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PE" sz="1000" b="1"/>
              <a:t>Educativa</a:t>
            </a:r>
            <a:r>
              <a:rPr lang="es-PE" sz="1000"/>
              <a:t>: valor que viene desde el catálogo de cursos (SCACRSE).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PE" sz="1000" b="1"/>
              <a:t>No Educativa:</a:t>
            </a:r>
            <a:r>
              <a:rPr lang="es-PE" sz="1000"/>
              <a:t> valor  registrado en SIAASGN.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PE" sz="1000" b="1"/>
              <a:t>Total</a:t>
            </a:r>
            <a:r>
              <a:rPr lang="es-PE" sz="1000"/>
              <a:t>: total de carga educativa y no educativa, no se suma automáticamente.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PE" sz="1000" b="1"/>
              <a:t>Rango FTE</a:t>
            </a:r>
            <a:r>
              <a:rPr lang="es-PE" sz="1000"/>
              <a:t>: a cuantos FTE debe de equivaler.</a:t>
            </a:r>
          </a:p>
          <a:p>
            <a:endParaRPr lang="es-ES_tradnl" sz="1000"/>
          </a:p>
          <a:p>
            <a:r>
              <a:rPr lang="es-ES_tradnl" sz="1000"/>
              <a:t>Los valores Inferior y Superior son el rango donde el profesor lleva un dictado dentro de lo esperado.</a:t>
            </a:r>
          </a:p>
        </p:txBody>
      </p:sp>
      <p:sp>
        <p:nvSpPr>
          <p:cNvPr id="14" name="Rectángulo redondeado 9">
            <a:extLst>
              <a:ext uri="{FF2B5EF4-FFF2-40B4-BE49-F238E27FC236}">
                <a16:creationId xmlns:a16="http://schemas.microsoft.com/office/drawing/2014/main" id="{CDE03B21-6E12-5987-3355-8C6861FBC497}"/>
              </a:ext>
            </a:extLst>
          </p:cNvPr>
          <p:cNvSpPr/>
          <p:nvPr/>
        </p:nvSpPr>
        <p:spPr>
          <a:xfrm>
            <a:off x="5515241" y="2404516"/>
            <a:ext cx="366050" cy="27451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6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D25342B-1051-0A1E-DBF7-B05ECB3E8558}"/>
              </a:ext>
            </a:extLst>
          </p:cNvPr>
          <p:cNvSpPr/>
          <p:nvPr/>
        </p:nvSpPr>
        <p:spPr>
          <a:xfrm>
            <a:off x="10506759" y="5830896"/>
            <a:ext cx="875631" cy="40642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Rectángulo redondeado 9">
            <a:extLst>
              <a:ext uri="{FF2B5EF4-FFF2-40B4-BE49-F238E27FC236}">
                <a16:creationId xmlns:a16="http://schemas.microsoft.com/office/drawing/2014/main" id="{EBDBF988-E41A-8983-71F8-5EB30F099556}"/>
              </a:ext>
            </a:extLst>
          </p:cNvPr>
          <p:cNvSpPr/>
          <p:nvPr/>
        </p:nvSpPr>
        <p:spPr>
          <a:xfrm>
            <a:off x="11548466" y="5893574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7</a:t>
            </a:r>
          </a:p>
        </p:txBody>
      </p:sp>
      <p:sp>
        <p:nvSpPr>
          <p:cNvPr id="19" name="Rectángulo redondeado 5">
            <a:extLst>
              <a:ext uri="{FF2B5EF4-FFF2-40B4-BE49-F238E27FC236}">
                <a16:creationId xmlns:a16="http://schemas.microsoft.com/office/drawing/2014/main" id="{B30454A8-708A-E814-14FF-B1517655962E}"/>
              </a:ext>
            </a:extLst>
          </p:cNvPr>
          <p:cNvSpPr/>
          <p:nvPr/>
        </p:nvSpPr>
        <p:spPr>
          <a:xfrm>
            <a:off x="10194469" y="5167246"/>
            <a:ext cx="1353997" cy="58616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/>
              <a:t>Guardar información</a:t>
            </a:r>
          </a:p>
        </p:txBody>
      </p:sp>
    </p:spTree>
    <p:extLst>
      <p:ext uri="{BB962C8B-B14F-4D97-AF65-F5344CB8AC3E}">
        <p14:creationId xmlns:p14="http://schemas.microsoft.com/office/powerpoint/2010/main" val="41569663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8CF76253-2B82-1A59-6B2C-6448113E3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23975"/>
            <a:ext cx="10682031" cy="490313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dirty="0">
                <a:ea typeface="+mj-lt"/>
                <a:cs typeface="+mj-lt"/>
              </a:rPr>
              <a:t>SIAFCTR </a:t>
            </a:r>
            <a:r>
              <a:rPr lang="es-ES_tradnl" b="0" dirty="0">
                <a:ea typeface="+mj-lt"/>
                <a:cs typeface="+mj-lt"/>
              </a:rPr>
              <a:t>Reglas de periodo de tipo de contrato de docente</a:t>
            </a:r>
            <a:endParaRPr lang="es-CL" b="0" dirty="0">
              <a:ea typeface="+mj-lt"/>
              <a:cs typeface="+mj-lt"/>
            </a:endParaRPr>
          </a:p>
          <a:p>
            <a:endParaRPr lang="es-ES_tradnl" dirty="0">
              <a:cs typeface="Arial"/>
            </a:endParaRPr>
          </a:p>
        </p:txBody>
      </p:sp>
      <p:sp>
        <p:nvSpPr>
          <p:cNvPr id="31" name="Rectángulo redondeado 5">
            <a:extLst>
              <a:ext uri="{FF2B5EF4-FFF2-40B4-BE49-F238E27FC236}">
                <a16:creationId xmlns:a16="http://schemas.microsoft.com/office/drawing/2014/main" id="{AB9039B3-FD13-639F-39B8-B536B2C6BD08}"/>
              </a:ext>
            </a:extLst>
          </p:cNvPr>
          <p:cNvSpPr/>
          <p:nvPr/>
        </p:nvSpPr>
        <p:spPr>
          <a:xfrm>
            <a:off x="2567300" y="2713923"/>
            <a:ext cx="6201715" cy="118581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_tradnl" sz="1400" b="1"/>
              <a:t>1, 2, y 3. </a:t>
            </a:r>
            <a:r>
              <a:rPr lang="es-ES_tradnl" sz="1400"/>
              <a:t>Se debe ingresar el Tipo de Contrato y el Periodo Académico sobre el cual se definirá la regla por contrato docente a evaluar. Posteriormente se debe presionar el botón 'Ir'.</a:t>
            </a:r>
          </a:p>
        </p:txBody>
      </p:sp>
      <p:sp>
        <p:nvSpPr>
          <p:cNvPr id="33" name="Rectángulo 7">
            <a:extLst>
              <a:ext uri="{FF2B5EF4-FFF2-40B4-BE49-F238E27FC236}">
                <a16:creationId xmlns:a16="http://schemas.microsoft.com/office/drawing/2014/main" id="{C57EC42B-BF3D-F1E0-4FE7-5DB7910613C7}"/>
              </a:ext>
            </a:extLst>
          </p:cNvPr>
          <p:cNvSpPr/>
          <p:nvPr/>
        </p:nvSpPr>
        <p:spPr>
          <a:xfrm>
            <a:off x="1082926" y="1908963"/>
            <a:ext cx="3229278" cy="26135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5" name="Rectángulo 8">
            <a:extLst>
              <a:ext uri="{FF2B5EF4-FFF2-40B4-BE49-F238E27FC236}">
                <a16:creationId xmlns:a16="http://schemas.microsoft.com/office/drawing/2014/main" id="{46DC0FBB-7FBA-8459-795F-012B03A76D30}"/>
              </a:ext>
            </a:extLst>
          </p:cNvPr>
          <p:cNvSpPr/>
          <p:nvPr/>
        </p:nvSpPr>
        <p:spPr>
          <a:xfrm>
            <a:off x="6223177" y="1929752"/>
            <a:ext cx="2762794" cy="24056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7" name="Rectángulo redondeado 5">
            <a:extLst>
              <a:ext uri="{FF2B5EF4-FFF2-40B4-BE49-F238E27FC236}">
                <a16:creationId xmlns:a16="http://schemas.microsoft.com/office/drawing/2014/main" id="{9E5E85D4-E988-DC8C-5B78-0214745F7CEA}"/>
              </a:ext>
            </a:extLst>
          </p:cNvPr>
          <p:cNvSpPr/>
          <p:nvPr/>
        </p:nvSpPr>
        <p:spPr>
          <a:xfrm>
            <a:off x="10166527" y="2460428"/>
            <a:ext cx="1330220" cy="849302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/>
              <a:t>Presionar el botón ‘Ir’</a:t>
            </a:r>
          </a:p>
        </p:txBody>
      </p:sp>
      <p:sp>
        <p:nvSpPr>
          <p:cNvPr id="39" name="Rectángulo redondeado 9">
            <a:extLst>
              <a:ext uri="{FF2B5EF4-FFF2-40B4-BE49-F238E27FC236}">
                <a16:creationId xmlns:a16="http://schemas.microsoft.com/office/drawing/2014/main" id="{7FF1EAAF-BDCE-BCE6-8D0B-939187806932}"/>
              </a:ext>
            </a:extLst>
          </p:cNvPr>
          <p:cNvSpPr/>
          <p:nvPr/>
        </p:nvSpPr>
        <p:spPr>
          <a:xfrm>
            <a:off x="5505840" y="1929752"/>
            <a:ext cx="360421" cy="24056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2</a:t>
            </a:r>
          </a:p>
        </p:txBody>
      </p:sp>
      <p:sp>
        <p:nvSpPr>
          <p:cNvPr id="41" name="Rectángulo redondeado 9">
            <a:extLst>
              <a:ext uri="{FF2B5EF4-FFF2-40B4-BE49-F238E27FC236}">
                <a16:creationId xmlns:a16="http://schemas.microsoft.com/office/drawing/2014/main" id="{96672E08-4230-0CAE-26AE-1F1759F7F90A}"/>
              </a:ext>
            </a:extLst>
          </p:cNvPr>
          <p:cNvSpPr/>
          <p:nvPr/>
        </p:nvSpPr>
        <p:spPr>
          <a:xfrm>
            <a:off x="666053" y="1929753"/>
            <a:ext cx="360421" cy="24056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1</a:t>
            </a:r>
          </a:p>
        </p:txBody>
      </p:sp>
      <p:sp>
        <p:nvSpPr>
          <p:cNvPr id="42" name="Rectángulo 8">
            <a:extLst>
              <a:ext uri="{FF2B5EF4-FFF2-40B4-BE49-F238E27FC236}">
                <a16:creationId xmlns:a16="http://schemas.microsoft.com/office/drawing/2014/main" id="{674D2641-8561-6961-7281-5D8B568A6846}"/>
              </a:ext>
            </a:extLst>
          </p:cNvPr>
          <p:cNvSpPr/>
          <p:nvPr/>
        </p:nvSpPr>
        <p:spPr>
          <a:xfrm>
            <a:off x="11082130" y="1926940"/>
            <a:ext cx="621717" cy="355174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3" name="Rectángulo redondeado 9">
            <a:extLst>
              <a:ext uri="{FF2B5EF4-FFF2-40B4-BE49-F238E27FC236}">
                <a16:creationId xmlns:a16="http://schemas.microsoft.com/office/drawing/2014/main" id="{BF0FB211-B651-D8BC-8E0D-C28C00FB7B7D}"/>
              </a:ext>
            </a:extLst>
          </p:cNvPr>
          <p:cNvSpPr/>
          <p:nvPr/>
        </p:nvSpPr>
        <p:spPr>
          <a:xfrm>
            <a:off x="10569309" y="1970326"/>
            <a:ext cx="360421" cy="24056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_tradnl" sz="1100" dirty="0">
                <a:cs typeface="Arial"/>
              </a:rPr>
              <a:t>3</a:t>
            </a:r>
            <a:endParaRPr lang="es-ES_tradnl" sz="1100" dirty="0"/>
          </a:p>
        </p:txBody>
      </p:sp>
    </p:spTree>
    <p:extLst>
      <p:ext uri="{BB962C8B-B14F-4D97-AF65-F5344CB8AC3E}">
        <p14:creationId xmlns:p14="http://schemas.microsoft.com/office/powerpoint/2010/main" val="34262687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6F10E65-F9C0-6AB0-A3F9-B933101FE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1533525"/>
            <a:ext cx="10350830" cy="461116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dirty="0">
                <a:ea typeface="+mj-lt"/>
                <a:cs typeface="+mj-lt"/>
              </a:rPr>
              <a:t>SIAFCTR </a:t>
            </a:r>
            <a:r>
              <a:rPr lang="es-ES" b="0" dirty="0">
                <a:ea typeface="+mj-lt"/>
                <a:cs typeface="+mj-lt"/>
              </a:rPr>
              <a:t>Reglas de periodo de tipo de contrato de docente</a:t>
            </a:r>
            <a:endParaRPr lang="es-ES_tradnl" b="0" dirty="0">
              <a:solidFill>
                <a:srgbClr val="000000"/>
              </a:solidFill>
              <a:ea typeface="+mj-lt"/>
              <a:cs typeface="+mj-lt"/>
            </a:endParaRPr>
          </a:p>
          <a:p>
            <a:endParaRPr lang="es-ES_tradnl" dirty="0">
              <a:cs typeface="Arial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B2C97BF-2BB6-C620-C95F-E06389358A09}"/>
              </a:ext>
            </a:extLst>
          </p:cNvPr>
          <p:cNvSpPr/>
          <p:nvPr/>
        </p:nvSpPr>
        <p:spPr>
          <a:xfrm>
            <a:off x="10625800" y="2264363"/>
            <a:ext cx="166025" cy="24056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AFFB9227-E6EA-25A3-AC57-35EF53A2E4E3}"/>
              </a:ext>
            </a:extLst>
          </p:cNvPr>
          <p:cNvSpPr/>
          <p:nvPr/>
        </p:nvSpPr>
        <p:spPr>
          <a:xfrm>
            <a:off x="9848359" y="2264362"/>
            <a:ext cx="360421" cy="24056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_tradnl" sz="1100">
                <a:cs typeface="Arial"/>
              </a:rPr>
              <a:t>4</a:t>
            </a:r>
            <a:endParaRPr lang="es-ES_tradnl" sz="1100"/>
          </a:p>
        </p:txBody>
      </p:sp>
      <p:sp>
        <p:nvSpPr>
          <p:cNvPr id="16" name="Rectángulo 8">
            <a:extLst>
              <a:ext uri="{FF2B5EF4-FFF2-40B4-BE49-F238E27FC236}">
                <a16:creationId xmlns:a16="http://schemas.microsoft.com/office/drawing/2014/main" id="{E5906185-C595-FB60-E14D-F864BD25AA17}"/>
              </a:ext>
            </a:extLst>
          </p:cNvPr>
          <p:cNvSpPr/>
          <p:nvPr/>
        </p:nvSpPr>
        <p:spPr>
          <a:xfrm>
            <a:off x="1038225" y="2625068"/>
            <a:ext cx="771526" cy="41694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Rectángulo redondeado 9">
            <a:extLst>
              <a:ext uri="{FF2B5EF4-FFF2-40B4-BE49-F238E27FC236}">
                <a16:creationId xmlns:a16="http://schemas.microsoft.com/office/drawing/2014/main" id="{4A54DDBD-9478-C184-0DB6-8C5DD1E08AA5}"/>
              </a:ext>
            </a:extLst>
          </p:cNvPr>
          <p:cNvSpPr/>
          <p:nvPr/>
        </p:nvSpPr>
        <p:spPr>
          <a:xfrm>
            <a:off x="643702" y="2801442"/>
            <a:ext cx="360421" cy="24056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_tradnl" sz="1100">
                <a:cs typeface="Arial"/>
              </a:rPr>
              <a:t>5</a:t>
            </a:r>
            <a:endParaRPr lang="es-ES_tradnl" sz="1100"/>
          </a:p>
        </p:txBody>
      </p:sp>
      <p:sp>
        <p:nvSpPr>
          <p:cNvPr id="19" name="Rectángulo redondeado 5">
            <a:extLst>
              <a:ext uri="{FF2B5EF4-FFF2-40B4-BE49-F238E27FC236}">
                <a16:creationId xmlns:a16="http://schemas.microsoft.com/office/drawing/2014/main" id="{E55B5B03-40E6-E282-F509-D1A98B637F5A}"/>
              </a:ext>
            </a:extLst>
          </p:cNvPr>
          <p:cNvSpPr/>
          <p:nvPr/>
        </p:nvSpPr>
        <p:spPr>
          <a:xfrm>
            <a:off x="2843525" y="3523548"/>
            <a:ext cx="6201715" cy="118581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_tradnl" sz="1400" b="1">
                <a:cs typeface="Arial"/>
              </a:rPr>
              <a:t>4 y 5. </a:t>
            </a:r>
            <a:r>
              <a:rPr lang="es-ES_tradnl" sz="1400">
                <a:cs typeface="Arial"/>
              </a:rPr>
              <a:t>En esta página administrativa se debe incorporar los periodos académicos que serían considerados en la evaluación de la carga académica del docente, lo que se visualizaría en SIACONA.</a:t>
            </a:r>
            <a:endParaRPr lang="es-ES_tradnl" sz="1400"/>
          </a:p>
        </p:txBody>
      </p:sp>
    </p:spTree>
    <p:extLst>
      <p:ext uri="{BB962C8B-B14F-4D97-AF65-F5344CB8AC3E}">
        <p14:creationId xmlns:p14="http://schemas.microsoft.com/office/powerpoint/2010/main" val="1582615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5CF553-4912-10B0-B7AA-088C465393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1333891"/>
          </a:xfrm>
        </p:spPr>
        <p:txBody>
          <a:bodyPr/>
          <a:lstStyle/>
          <a:p>
            <a:r>
              <a:rPr lang="en-US" dirty="0"/>
              <a:t>Análisis de la Carga de Trabajo –</a:t>
            </a:r>
            <a:r>
              <a:rPr lang="en-US" sz="3600" dirty="0"/>
              <a:t> </a:t>
            </a:r>
            <a:r>
              <a:rPr lang="en-US" dirty="0"/>
              <a:t>Regla de Contrato Docente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0472044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738B27E2-74CF-09DA-8677-C0F999AE9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6" y="950452"/>
            <a:ext cx="11381753" cy="509887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/>
              <a:t>Premisa: </a:t>
            </a:r>
            <a:r>
              <a:rPr lang="es-ES_tradnl" sz="3200"/>
              <a:t>SIAINST </a:t>
            </a:r>
            <a:r>
              <a:rPr lang="es-419" b="1">
                <a:effectLst/>
              </a:rPr>
              <a:t>Información de docente / asesor</a:t>
            </a:r>
            <a:br>
              <a:rPr lang="es-CL" b="1">
                <a:effectLst/>
              </a:rPr>
            </a:br>
            <a:endParaRPr lang="es-CL"/>
          </a:p>
        </p:txBody>
      </p:sp>
      <p:sp>
        <p:nvSpPr>
          <p:cNvPr id="17" name="Rectángulo redondeado 5">
            <a:extLst>
              <a:ext uri="{FF2B5EF4-FFF2-40B4-BE49-F238E27FC236}">
                <a16:creationId xmlns:a16="http://schemas.microsoft.com/office/drawing/2014/main" id="{EBFE1B0C-4638-DE97-13BD-C9362AE782B5}"/>
              </a:ext>
            </a:extLst>
          </p:cNvPr>
          <p:cNvSpPr/>
          <p:nvPr/>
        </p:nvSpPr>
        <p:spPr>
          <a:xfrm>
            <a:off x="2937972" y="3983989"/>
            <a:ext cx="5471967" cy="103439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400"/>
              <a:t>Las reglas por Contrato Docente requieren</a:t>
            </a:r>
            <a:r>
              <a:rPr lang="es-ES_tradnl" sz="1400"/>
              <a:t> que los docentes a analizar cuenten con un registro definido en la sección ‘Contrato de Docente’ de la página administrativa SIAINST, además dicho registro debe contar con el campo ‘Regla’ definido.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A7E5062-2727-FEC3-BC24-E04CA848F711}"/>
              </a:ext>
            </a:extLst>
          </p:cNvPr>
          <p:cNvSpPr/>
          <p:nvPr/>
        </p:nvSpPr>
        <p:spPr>
          <a:xfrm>
            <a:off x="609601" y="2436312"/>
            <a:ext cx="7111467" cy="607685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551258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73E2C0E5-96C2-6F72-01A5-87A4C29B9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163527"/>
            <a:ext cx="11049000" cy="468657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/>
              <a:t>Premisa: </a:t>
            </a:r>
            <a:r>
              <a:rPr lang="es-ES_tradnl" sz="3200"/>
              <a:t>SSASECT </a:t>
            </a:r>
            <a:r>
              <a:rPr lang="es-419" b="1">
                <a:effectLst/>
              </a:rPr>
              <a:t>Horario</a:t>
            </a:r>
            <a:br>
              <a:rPr lang="es-CL" b="1">
                <a:effectLst/>
              </a:rPr>
            </a:br>
            <a:endParaRPr lang="es-CL"/>
          </a:p>
        </p:txBody>
      </p:sp>
      <p:sp>
        <p:nvSpPr>
          <p:cNvPr id="17" name="Rectángulo redondeado 5">
            <a:extLst>
              <a:ext uri="{FF2B5EF4-FFF2-40B4-BE49-F238E27FC236}">
                <a16:creationId xmlns:a16="http://schemas.microsoft.com/office/drawing/2014/main" id="{EBFE1B0C-4638-DE97-13BD-C9362AE782B5}"/>
              </a:ext>
            </a:extLst>
          </p:cNvPr>
          <p:cNvSpPr/>
          <p:nvPr/>
        </p:nvSpPr>
        <p:spPr>
          <a:xfrm>
            <a:off x="2190023" y="5177273"/>
            <a:ext cx="5471967" cy="103439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/>
              <a:t>El docente debe estar asignado al menos a un NRC dentro del periodo académico a analizar para estimar la carga académica educativa.</a:t>
            </a:r>
            <a:endParaRPr lang="es-ES_tradnl" sz="140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A7E5062-2727-FEC3-BC24-E04CA848F711}"/>
              </a:ext>
            </a:extLst>
          </p:cNvPr>
          <p:cNvSpPr/>
          <p:nvPr/>
        </p:nvSpPr>
        <p:spPr>
          <a:xfrm>
            <a:off x="810246" y="4507228"/>
            <a:ext cx="6687833" cy="20193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68564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F3D4BD37-A71C-3127-57A2-9186F8B8C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444" y="1179576"/>
            <a:ext cx="11215811" cy="478752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Premisa: </a:t>
            </a:r>
            <a:r>
              <a:rPr lang="es-ES_tradnl" sz="3200" dirty="0"/>
              <a:t>SIAASGN </a:t>
            </a:r>
            <a:r>
              <a:rPr lang="es-419" b="1" dirty="0">
                <a:effectLst/>
              </a:rPr>
              <a:t>Asignación de docente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17" name="Rectángulo redondeado 5">
            <a:extLst>
              <a:ext uri="{FF2B5EF4-FFF2-40B4-BE49-F238E27FC236}">
                <a16:creationId xmlns:a16="http://schemas.microsoft.com/office/drawing/2014/main" id="{EBFE1B0C-4638-DE97-13BD-C9362AE782B5}"/>
              </a:ext>
            </a:extLst>
          </p:cNvPr>
          <p:cNvSpPr/>
          <p:nvPr/>
        </p:nvSpPr>
        <p:spPr>
          <a:xfrm>
            <a:off x="3509472" y="4460240"/>
            <a:ext cx="5471967" cy="921386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 dirty="0"/>
              <a:t>Se requiere definir aquellos NRC que tributan a un tipo de contrato específico por parte del Docente,</a:t>
            </a:r>
            <a:r>
              <a:rPr lang="es-ES_tradnl" sz="1400" dirty="0"/>
              <a:t>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A7E5062-2727-FEC3-BC24-E04CA848F711}"/>
              </a:ext>
            </a:extLst>
          </p:cNvPr>
          <p:cNvSpPr/>
          <p:nvPr/>
        </p:nvSpPr>
        <p:spPr>
          <a:xfrm>
            <a:off x="8732127" y="2818006"/>
            <a:ext cx="2831968" cy="36745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209247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2DBDA092-E62C-842B-C071-12ED6043E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539" y="1468317"/>
            <a:ext cx="11021332" cy="136820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419" sz="3000" b="1" dirty="0"/>
              <a:t>SIACONA </a:t>
            </a:r>
            <a:r>
              <a:rPr lang="pt-BR" sz="3000" b="1" dirty="0"/>
              <a:t>Análisis de contrato de docente 1/2</a:t>
            </a:r>
            <a:endParaRPr lang="es-CL" dirty="0"/>
          </a:p>
        </p:txBody>
      </p:sp>
      <p:sp>
        <p:nvSpPr>
          <p:cNvPr id="11" name="Rectángulo redondeado 5">
            <a:extLst>
              <a:ext uri="{FF2B5EF4-FFF2-40B4-BE49-F238E27FC236}">
                <a16:creationId xmlns:a16="http://schemas.microsoft.com/office/drawing/2014/main" id="{EE7710F0-5A29-73F3-E41C-4E7BF4270929}"/>
              </a:ext>
            </a:extLst>
          </p:cNvPr>
          <p:cNvSpPr/>
          <p:nvPr/>
        </p:nvSpPr>
        <p:spPr>
          <a:xfrm>
            <a:off x="2287647" y="3150203"/>
            <a:ext cx="5075197" cy="107093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/>
              <a:t>Se ingresa el Contrato, el Periodo Académico y el ID del Docente al cual se analizará su Carga Académica y No-Académica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E27C71E-6197-66F8-035C-CAB2581788C0}"/>
              </a:ext>
            </a:extLst>
          </p:cNvPr>
          <p:cNvSpPr/>
          <p:nvPr/>
        </p:nvSpPr>
        <p:spPr>
          <a:xfrm>
            <a:off x="1264743" y="1835962"/>
            <a:ext cx="6660057" cy="63291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Rectángulo redondeado 8">
            <a:extLst>
              <a:ext uri="{FF2B5EF4-FFF2-40B4-BE49-F238E27FC236}">
                <a16:creationId xmlns:a16="http://schemas.microsoft.com/office/drawing/2014/main" id="{88912C1C-39D3-831A-FD76-193C67D8A28B}"/>
              </a:ext>
            </a:extLst>
          </p:cNvPr>
          <p:cNvSpPr/>
          <p:nvPr/>
        </p:nvSpPr>
        <p:spPr>
          <a:xfrm>
            <a:off x="810247" y="1914174"/>
            <a:ext cx="360421" cy="21869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74A4F8E-0A59-771D-D53B-DD52547E9BAC}"/>
              </a:ext>
            </a:extLst>
          </p:cNvPr>
          <p:cNvSpPr/>
          <p:nvPr/>
        </p:nvSpPr>
        <p:spPr>
          <a:xfrm>
            <a:off x="11487912" y="1914174"/>
            <a:ext cx="547959" cy="296908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ángulo redondeado 5">
            <a:extLst>
              <a:ext uri="{FF2B5EF4-FFF2-40B4-BE49-F238E27FC236}">
                <a16:creationId xmlns:a16="http://schemas.microsoft.com/office/drawing/2014/main" id="{80711045-2B19-2117-6C15-C0002A6B56F1}"/>
              </a:ext>
            </a:extLst>
          </p:cNvPr>
          <p:cNvSpPr/>
          <p:nvPr/>
        </p:nvSpPr>
        <p:spPr>
          <a:xfrm>
            <a:off x="10322280" y="2378110"/>
            <a:ext cx="1330220" cy="77209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/>
              <a:t>Presionar el botón ‘Ir’</a:t>
            </a:r>
          </a:p>
        </p:txBody>
      </p:sp>
      <p:sp>
        <p:nvSpPr>
          <p:cNvPr id="16" name="Rectángulo redondeado 9">
            <a:extLst>
              <a:ext uri="{FF2B5EF4-FFF2-40B4-BE49-F238E27FC236}">
                <a16:creationId xmlns:a16="http://schemas.microsoft.com/office/drawing/2014/main" id="{55E0AADE-2542-59A1-853B-2EF9680C5810}"/>
              </a:ext>
            </a:extLst>
          </p:cNvPr>
          <p:cNvSpPr/>
          <p:nvPr/>
        </p:nvSpPr>
        <p:spPr>
          <a:xfrm>
            <a:off x="10786328" y="1918151"/>
            <a:ext cx="360421" cy="296908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623458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56855DC7-3993-9E70-FEF0-1C411C5F4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960" y="1181100"/>
            <a:ext cx="11437433" cy="499109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/>
              <a:t>Configuraciones: </a:t>
            </a:r>
            <a:r>
              <a:rPr lang="es-419" sz="3000" b="1"/>
              <a:t>SIACONA </a:t>
            </a:r>
            <a:r>
              <a:rPr lang="pt-BR" sz="3000" b="1"/>
              <a:t>Análisis de contrato de docente 1/2</a:t>
            </a:r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72194BE-F393-E9D4-803A-A0FC9800517D}"/>
              </a:ext>
            </a:extLst>
          </p:cNvPr>
          <p:cNvSpPr/>
          <p:nvPr/>
        </p:nvSpPr>
        <p:spPr>
          <a:xfrm>
            <a:off x="648485" y="2154229"/>
            <a:ext cx="10009300" cy="2007678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D19D0799-BF17-ADF2-69B9-DA17D79FCF3E}"/>
              </a:ext>
            </a:extLst>
          </p:cNvPr>
          <p:cNvSpPr/>
          <p:nvPr/>
        </p:nvSpPr>
        <p:spPr>
          <a:xfrm>
            <a:off x="5828911" y="4479459"/>
            <a:ext cx="4582415" cy="804242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/>
              <a:t>En este bloque aparece un resumen de la carga horario docente en función al total de NRC asociados al Contrato.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AD84F6B-6ACD-C783-ACF3-0D48DBC399EA}"/>
              </a:ext>
            </a:extLst>
          </p:cNvPr>
          <p:cNvSpPr/>
          <p:nvPr/>
        </p:nvSpPr>
        <p:spPr>
          <a:xfrm>
            <a:off x="1064820" y="5798470"/>
            <a:ext cx="426551" cy="373729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Rectángulo redondeado 9">
            <a:extLst>
              <a:ext uri="{FF2B5EF4-FFF2-40B4-BE49-F238E27FC236}">
                <a16:creationId xmlns:a16="http://schemas.microsoft.com/office/drawing/2014/main" id="{3F35EFCA-F322-7035-7884-7F39DAEAC55D}"/>
              </a:ext>
            </a:extLst>
          </p:cNvPr>
          <p:cNvSpPr/>
          <p:nvPr/>
        </p:nvSpPr>
        <p:spPr>
          <a:xfrm>
            <a:off x="394146" y="5871235"/>
            <a:ext cx="360421" cy="21869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3</a:t>
            </a:r>
          </a:p>
        </p:txBody>
      </p:sp>
      <p:sp>
        <p:nvSpPr>
          <p:cNvPr id="18" name="Rectángulo redondeado 5">
            <a:extLst>
              <a:ext uri="{FF2B5EF4-FFF2-40B4-BE49-F238E27FC236}">
                <a16:creationId xmlns:a16="http://schemas.microsoft.com/office/drawing/2014/main" id="{81287914-37BD-9F1F-068D-F13AF01750E1}"/>
              </a:ext>
            </a:extLst>
          </p:cNvPr>
          <p:cNvSpPr/>
          <p:nvPr/>
        </p:nvSpPr>
        <p:spPr>
          <a:xfrm>
            <a:off x="1946590" y="5714166"/>
            <a:ext cx="1101518" cy="53283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/>
              <a:t>Siguiente sección</a:t>
            </a:r>
          </a:p>
        </p:txBody>
      </p:sp>
    </p:spTree>
    <p:extLst>
      <p:ext uri="{BB962C8B-B14F-4D97-AF65-F5344CB8AC3E}">
        <p14:creationId xmlns:p14="http://schemas.microsoft.com/office/powerpoint/2010/main" val="35781585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EF2CC882-5031-053F-A8D3-B72889076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960" y="1333439"/>
            <a:ext cx="11381753" cy="493308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/>
              <a:t>Configuraciones: </a:t>
            </a:r>
            <a:r>
              <a:rPr lang="es-419" sz="3000" b="1"/>
              <a:t>SIACONA </a:t>
            </a:r>
            <a:r>
              <a:rPr lang="pt-BR" sz="3000" b="1"/>
              <a:t>Análisis de contrato de docente 1/2</a:t>
            </a:r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72194BE-F393-E9D4-803A-A0FC9800517D}"/>
              </a:ext>
            </a:extLst>
          </p:cNvPr>
          <p:cNvSpPr/>
          <p:nvPr/>
        </p:nvSpPr>
        <p:spPr>
          <a:xfrm>
            <a:off x="1085850" y="2026209"/>
            <a:ext cx="10262862" cy="3547545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redondeado 5">
            <a:extLst>
              <a:ext uri="{FF2B5EF4-FFF2-40B4-BE49-F238E27FC236}">
                <a16:creationId xmlns:a16="http://schemas.microsoft.com/office/drawing/2014/main" id="{15F7251C-E32F-E8BF-C805-DEAE25B81174}"/>
              </a:ext>
            </a:extLst>
          </p:cNvPr>
          <p:cNvSpPr/>
          <p:nvPr/>
        </p:nvSpPr>
        <p:spPr>
          <a:xfrm>
            <a:off x="2255721" y="4342667"/>
            <a:ext cx="7923119" cy="95143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En la sección </a:t>
            </a:r>
            <a:r>
              <a:rPr lang="es-ES_tradnl" sz="1400" b="1" dirty="0"/>
              <a:t>Análisis de periodo de contrato</a:t>
            </a:r>
            <a:r>
              <a:rPr lang="es-ES_tradnl" sz="1400" dirty="0"/>
              <a:t>, se calcula la carga de trabajo del docente en función al conjunto de NRC asociados al contrato (MD) en función a la regla de contrato (MTIE), clasificándola en sobrecarga (O) y/o </a:t>
            </a:r>
            <a:r>
              <a:rPr lang="es-ES_tradnl" sz="1400" dirty="0" err="1"/>
              <a:t>subcarga</a:t>
            </a:r>
            <a:r>
              <a:rPr lang="es-ES_tradnl" sz="1400" dirty="0"/>
              <a:t> (U).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897BA4D-3970-BA4D-C23B-FE73A9AC7307}"/>
              </a:ext>
            </a:extLst>
          </p:cNvPr>
          <p:cNvSpPr/>
          <p:nvPr/>
        </p:nvSpPr>
        <p:spPr>
          <a:xfrm>
            <a:off x="1177069" y="2371813"/>
            <a:ext cx="8638674" cy="27831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Rectángulo redondeado 9">
            <a:extLst>
              <a:ext uri="{FF2B5EF4-FFF2-40B4-BE49-F238E27FC236}">
                <a16:creationId xmlns:a16="http://schemas.microsoft.com/office/drawing/2014/main" id="{F0DB6071-85FF-D954-0C5F-AE7ADC622F42}"/>
              </a:ext>
            </a:extLst>
          </p:cNvPr>
          <p:cNvSpPr/>
          <p:nvPr/>
        </p:nvSpPr>
        <p:spPr>
          <a:xfrm>
            <a:off x="622570" y="2431426"/>
            <a:ext cx="360421" cy="21869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647210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11C3B-EC98-2965-F2EB-4F58B2461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B3E62DC5-6541-14DA-294B-8CCDA4821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72" y="881774"/>
            <a:ext cx="11381753" cy="493308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B8062C4-4C8E-E7D0-B6CB-AED7281B0D05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C2574797-9A33-ADBA-9396-CEB2EEAF7B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D5743AD-4513-641B-0A3D-A17A2FCCF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/>
              <a:t>Configuraciones: </a:t>
            </a:r>
            <a:r>
              <a:rPr lang="es-419" sz="3000" b="1"/>
              <a:t>SIACONA </a:t>
            </a:r>
            <a:r>
              <a:rPr lang="pt-BR" sz="3000" b="1"/>
              <a:t>Análisis de contrato de docente 1/2</a:t>
            </a:r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7F75804-360B-C5E7-F4F5-F406D67782FE}"/>
              </a:ext>
            </a:extLst>
          </p:cNvPr>
          <p:cNvSpPr/>
          <p:nvPr/>
        </p:nvSpPr>
        <p:spPr>
          <a:xfrm>
            <a:off x="738772" y="3520440"/>
            <a:ext cx="10609940" cy="222820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redondeado 5">
            <a:extLst>
              <a:ext uri="{FF2B5EF4-FFF2-40B4-BE49-F238E27FC236}">
                <a16:creationId xmlns:a16="http://schemas.microsoft.com/office/drawing/2014/main" id="{2BCAEA8C-E524-9F7A-BD5D-7B01F8FE60A4}"/>
              </a:ext>
            </a:extLst>
          </p:cNvPr>
          <p:cNvSpPr/>
          <p:nvPr/>
        </p:nvSpPr>
        <p:spPr>
          <a:xfrm>
            <a:off x="2134440" y="5814857"/>
            <a:ext cx="7923119" cy="79026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/>
              <a:t>En la imagen podemos ver que el docente está bajo la carga mínima esperada (</a:t>
            </a:r>
            <a:r>
              <a:rPr lang="es-ES_tradnl" sz="1400" b="1"/>
              <a:t>U</a:t>
            </a:r>
            <a:r>
              <a:rPr lang="es-ES_tradnl" sz="1400"/>
              <a:t>) en términos de </a:t>
            </a:r>
            <a:r>
              <a:rPr lang="es-ES_tradnl" sz="1400" err="1"/>
              <a:t>creditaje</a:t>
            </a:r>
            <a:r>
              <a:rPr lang="es-ES_tradnl" sz="1400"/>
              <a:t> y trabajo educativo, pero está con una Sobrecarga de trabajo (</a:t>
            </a:r>
            <a:r>
              <a:rPr lang="es-ES_tradnl" sz="1400" b="1"/>
              <a:t>O</a:t>
            </a:r>
            <a:r>
              <a:rPr lang="es-ES_tradnl" sz="1400"/>
              <a:t>) a nivel No-Educativo.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9BE7BAA-FE05-C45E-EDCB-0F95DE0E2DB7}"/>
              </a:ext>
            </a:extLst>
          </p:cNvPr>
          <p:cNvSpPr/>
          <p:nvPr/>
        </p:nvSpPr>
        <p:spPr>
          <a:xfrm>
            <a:off x="2110310" y="4370960"/>
            <a:ext cx="8743617" cy="1106296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Rectángulo redondeado 9">
            <a:extLst>
              <a:ext uri="{FF2B5EF4-FFF2-40B4-BE49-F238E27FC236}">
                <a16:creationId xmlns:a16="http://schemas.microsoft.com/office/drawing/2014/main" id="{AFB09E8A-D654-6BBF-5F3B-AC4BB66CDA3B}"/>
              </a:ext>
            </a:extLst>
          </p:cNvPr>
          <p:cNvSpPr/>
          <p:nvPr/>
        </p:nvSpPr>
        <p:spPr>
          <a:xfrm>
            <a:off x="738772" y="4108191"/>
            <a:ext cx="360421" cy="21869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670465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827" y="258335"/>
            <a:ext cx="7092820" cy="1628192"/>
          </a:xfrm>
        </p:spPr>
        <p:txBody>
          <a:bodyPr/>
          <a:lstStyle/>
          <a:p>
            <a:r>
              <a:rPr lang="en-US" sz="3600"/>
              <a:t>RESUMEN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636CD3-9D55-E7D6-7F08-EB5DED1D28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84827" y="2008765"/>
            <a:ext cx="9720118" cy="4022580"/>
          </a:xfrm>
        </p:spPr>
        <p:txBody>
          <a:bodyPr/>
          <a:lstStyle/>
          <a:p>
            <a:pPr marL="0" indent="0">
              <a:buNone/>
            </a:pPr>
            <a:r>
              <a:rPr lang="es-419" sz="2000" dirty="0"/>
              <a:t>Gestionar la Carga de Trabajo Docente: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000" dirty="0"/>
              <a:t>Ellucian Student permite analizar la carga docente para poder tomar decisiones acerca del dictado de horas y asignación de labor no educativa de un docente.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000" dirty="0"/>
              <a:t>La evaluación de la carga de trabajo de los docentes puede ser realizada en función a la “Regla de Carga de Trabajo’ de SIAINST, luego visualizada en SIAASGN.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000" dirty="0"/>
              <a:t>De igual forma, la evaluación de la carga de trabajo de los docentes puede ser realizada en función al ‘Tipo de Contrato Docente y Regla de Contratos’ asignados en SIAINST, mismos que luego son visualizados en SIACONA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endParaRPr lang="es-419" sz="2000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4856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A4B0D3FF-2F8B-8FC5-7AC2-84CC61ED89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669094"/>
          </a:xfrm>
        </p:spPr>
        <p:txBody>
          <a:bodyPr/>
          <a:lstStyle/>
          <a:p>
            <a:r>
              <a:rPr lang="es-419" noProof="0" dirty="0"/>
              <a:t>MUCHAS GRACIAS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26401A9-DE11-DDDF-9F42-FAAE12FE6B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29043" y="4584074"/>
            <a:ext cx="10363202" cy="324961"/>
          </a:xfrm>
        </p:spPr>
        <p:txBody>
          <a:bodyPr/>
          <a:lstStyle/>
          <a:p>
            <a:pPr algn="l"/>
            <a:r>
              <a:rPr lang="es-419" sz="2000" noProof="0" dirty="0"/>
              <a:t>Consultor.</a:t>
            </a:r>
          </a:p>
        </p:txBody>
      </p:sp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C726B198-B5C8-1C5D-4D10-BFFD13AADE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4490" y="4609395"/>
            <a:ext cx="274320" cy="274320"/>
          </a:xfrm>
          <a:prstGeom prst="rect">
            <a:avLst/>
          </a:prstGeom>
        </p:spPr>
      </p:pic>
      <p:pic>
        <p:nvPicPr>
          <p:cNvPr id="9" name="Graphic 8" descr="Email with solid fill">
            <a:extLst>
              <a:ext uri="{FF2B5EF4-FFF2-40B4-BE49-F238E27FC236}">
                <a16:creationId xmlns:a16="http://schemas.microsoft.com/office/drawing/2014/main" id="{DD7F5D3F-15A6-F216-AF41-EA0DCDE6B3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543" y="4985033"/>
            <a:ext cx="274320" cy="274320"/>
          </a:xfrm>
          <a:prstGeom prst="rect">
            <a:avLst/>
          </a:prstGeom>
        </p:spPr>
      </p:pic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88780A86-7F59-00BD-9B1E-C1DFAC865719}"/>
              </a:ext>
            </a:extLst>
          </p:cNvPr>
          <p:cNvSpPr txBox="1">
            <a:spLocks/>
          </p:cNvSpPr>
          <p:nvPr/>
        </p:nvSpPr>
        <p:spPr>
          <a:xfrm>
            <a:off x="1229043" y="4959712"/>
            <a:ext cx="5334046" cy="324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dirty="0"/>
              <a:t>Correo</a:t>
            </a:r>
            <a:r>
              <a:rPr lang="es-419" noProof="0" dirty="0"/>
              <a:t>@ellucian.com</a:t>
            </a:r>
          </a:p>
        </p:txBody>
      </p:sp>
    </p:spTree>
    <p:extLst>
      <p:ext uri="{BB962C8B-B14F-4D97-AF65-F5344CB8AC3E}">
        <p14:creationId xmlns:p14="http://schemas.microsoft.com/office/powerpoint/2010/main" val="149292278"/>
      </p:ext>
    </p:extLst>
  </p:cSld>
  <p:clrMapOvr>
    <a:masterClrMapping/>
  </p:clrMapOvr>
</p:sld>
</file>

<file path=ppt/theme/theme1.xml><?xml version="1.0" encoding="utf-8"?>
<a:theme xmlns:a="http://schemas.openxmlformats.org/drawingml/2006/main" name="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lucian-PPT-Template-2025-V5" id="{8E342B2F-0662-4103-A2D9-0955199F3085}" vid="{C5F4BFEF-EBA5-4449-9DDB-9D044EAA59E9}"/>
    </a:ext>
  </a:extLst>
</a:theme>
</file>

<file path=ppt/theme/theme2.xml><?xml version="1.0" encoding="utf-8"?>
<a:theme xmlns:a="http://schemas.openxmlformats.org/drawingml/2006/main" name="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lucian-PPT-Template-2025-V5" id="{8E342B2F-0662-4103-A2D9-0955199F3085}" vid="{D5A50C3E-685D-4ADD-B93A-1035FFFC57E2}"/>
    </a:ext>
  </a:extLst>
</a:theme>
</file>

<file path=ppt/theme/theme3.xml><?xml version="1.0" encoding="utf-8"?>
<a:theme xmlns:a="http://schemas.openxmlformats.org/drawingml/2006/main" name="1_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1_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NUEVO TEMPLATE</Template>
  <TotalTime>1357</TotalTime>
  <Words>2388</Words>
  <Application>Microsoft Office PowerPoint</Application>
  <PresentationFormat>Panorámica</PresentationFormat>
  <Paragraphs>267</Paragraphs>
  <Slides>44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44</vt:i4>
      </vt:variant>
    </vt:vector>
  </HeadingPairs>
  <TitlesOfParts>
    <vt:vector size="55" baseType="lpstr">
      <vt:lpstr>Aptos</vt:lpstr>
      <vt:lpstr>Aptos Display</vt:lpstr>
      <vt:lpstr>Arial</vt:lpstr>
      <vt:lpstr>Calibri</vt:lpstr>
      <vt:lpstr>Courier New</vt:lpstr>
      <vt:lpstr>Helvetica Neue</vt:lpstr>
      <vt:lpstr>Wingdings</vt:lpstr>
      <vt:lpstr>Ellucian Main Layouts</vt:lpstr>
      <vt:lpstr>Ellucian Blank Layouts</vt:lpstr>
      <vt:lpstr>1_Ellucian Main Layouts</vt:lpstr>
      <vt:lpstr>1_Ellucian Blank Layouts</vt:lpstr>
      <vt:lpstr>Presentación de PowerPoint</vt:lpstr>
      <vt:lpstr>Presentación de PowerPoint</vt:lpstr>
      <vt:lpstr>Overview</vt:lpstr>
      <vt:lpstr>Overview: Mapa de capacidades</vt:lpstr>
      <vt:lpstr>Overview: Macroproceso Gestionar Profesores</vt:lpstr>
      <vt:lpstr>Overview: Proceso gestionar la carga de trabajo docente</vt:lpstr>
      <vt:lpstr>Overview: Proceso gestionar la carga de trabajo docente</vt:lpstr>
      <vt:lpstr>Presentación de PowerPoint</vt:lpstr>
      <vt:lpstr>Presentación de PowerPoint</vt:lpstr>
      <vt:lpstr>CONFIGURACIONES</vt:lpstr>
      <vt:lpstr>Configuraciones: SIATERM Control de periodo de carga de docente 1/2  </vt:lpstr>
      <vt:lpstr>Configuraciones: SIATERM Control de periodo de carga de docente 2/2  </vt:lpstr>
      <vt:lpstr>Configuraciones: STVNIST Validación de código de tipo no educativo del docente </vt:lpstr>
      <vt:lpstr>CARGA DE TRABAJO DOCENTE</vt:lpstr>
      <vt:lpstr>Presentación de PowerPoint</vt:lpstr>
      <vt:lpstr>Configuraciones: SIAFLRT Reglas de periodo de carga de trabajo de docente 1/2 </vt:lpstr>
      <vt:lpstr>Configuraciones: SIAFLRT Reglas de periodo de carga de trabajo de docente 2/2 </vt:lpstr>
      <vt:lpstr>Configuraciones: SIAFLRT Reglas de periodo de carga de trabajo de docente 2/2 </vt:lpstr>
      <vt:lpstr>Configuraciones: SIAFLRT Reglas de periodo de carga de trabajo de docente 2/2 </vt:lpstr>
      <vt:lpstr>Presentación de PowerPoint</vt:lpstr>
      <vt:lpstr>Premisa: SIAINST Información de docente / asesor </vt:lpstr>
      <vt:lpstr>Premisa: SSASECT Horario </vt:lpstr>
      <vt:lpstr>Configuraciones: SIAASGN Asignación de docente 1/6 </vt:lpstr>
      <vt:lpstr>Configuraciones: SIAASGN Asignación de docente 2/6 </vt:lpstr>
      <vt:lpstr>Configuraciones: SIAASGN Asignación de docente 3/6 </vt:lpstr>
      <vt:lpstr>Configuraciones: SIAASGN Asignación de docente </vt:lpstr>
      <vt:lpstr>Configuraciones: SIAASGN Asignación de docente </vt:lpstr>
      <vt:lpstr>Presentación de PowerPoint</vt:lpstr>
      <vt:lpstr>Configuraciones: SIAFLCT Reglas de periodo de contrato de docente 1/2 </vt:lpstr>
      <vt:lpstr>Configuraciones: SIAFLCT Reglas de periodo de contrato de docente 2/2 </vt:lpstr>
      <vt:lpstr>Configuraciones: SIAFLCT Reglas de periodo de contrato de docente 2/2 </vt:lpstr>
      <vt:lpstr>Configuraciones: SIAFLCT Reglas de periodo de contrato de docente 2/2 </vt:lpstr>
      <vt:lpstr>Configuraciones: SIAFCTR Reglas de periodo de tipo de contrato de docente </vt:lpstr>
      <vt:lpstr>Configuraciones: SIAFCTR Reglas de periodo de tipo de contrato de docente </vt:lpstr>
      <vt:lpstr>Presentación de PowerPoint</vt:lpstr>
      <vt:lpstr>Premisa: SIAINST Información de docente / asesor </vt:lpstr>
      <vt:lpstr>Premisa: SSASECT Horario </vt:lpstr>
      <vt:lpstr>Premisa: SIAASGN Asignación de docente </vt:lpstr>
      <vt:lpstr>Configuraciones: SIACONA Análisis de contrato de docente 1/2</vt:lpstr>
      <vt:lpstr>Configuraciones: SIACONA Análisis de contrato de docente 1/2</vt:lpstr>
      <vt:lpstr>Configuraciones: SIACONA Análisis de contrato de docente 1/2</vt:lpstr>
      <vt:lpstr>Configuraciones: SIACONA Análisis de contrato de docente 1/2</vt:lpstr>
      <vt:lpstr>RESUMEN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Gestionar conceptos de cobro y pago</dc:title>
  <dc:creator>Mardones, Francisco</dc:creator>
  <cp:lastModifiedBy>Beltran, Nidia</cp:lastModifiedBy>
  <cp:revision>12</cp:revision>
  <dcterms:created xsi:type="dcterms:W3CDTF">2023-07-17T20:07:38Z</dcterms:created>
  <dcterms:modified xsi:type="dcterms:W3CDTF">2026-07-01T13:28:04Z</dcterms:modified>
</cp:coreProperties>
</file>
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72"/>
  </p:notesMasterIdLst>
  <p:sldIdLst>
    <p:sldId id="257" r:id="rId3"/>
    <p:sldId id="423" r:id="rId4"/>
    <p:sldId id="476" r:id="rId5"/>
    <p:sldId id="569" r:id="rId6"/>
    <p:sldId id="350" r:id="rId7"/>
    <p:sldId id="421" r:id="rId8"/>
    <p:sldId id="261" r:id="rId9"/>
    <p:sldId id="469" r:id="rId10"/>
    <p:sldId id="513" r:id="rId11"/>
    <p:sldId id="514" r:id="rId12"/>
    <p:sldId id="505" r:id="rId13"/>
    <p:sldId id="501" r:id="rId14"/>
    <p:sldId id="515" r:id="rId15"/>
    <p:sldId id="500" r:id="rId16"/>
    <p:sldId id="502" r:id="rId17"/>
    <p:sldId id="516" r:id="rId18"/>
    <p:sldId id="485" r:id="rId19"/>
    <p:sldId id="570" r:id="rId20"/>
    <p:sldId id="517" r:id="rId21"/>
    <p:sldId id="503" r:id="rId22"/>
    <p:sldId id="518" r:id="rId23"/>
    <p:sldId id="519" r:id="rId24"/>
    <p:sldId id="520" r:id="rId25"/>
    <p:sldId id="521" r:id="rId26"/>
    <p:sldId id="506" r:id="rId27"/>
    <p:sldId id="522" r:id="rId28"/>
    <p:sldId id="523" r:id="rId29"/>
    <p:sldId id="507" r:id="rId30"/>
    <p:sldId id="524" r:id="rId31"/>
    <p:sldId id="525" r:id="rId32"/>
    <p:sldId id="526" r:id="rId33"/>
    <p:sldId id="532" r:id="rId34"/>
    <p:sldId id="531" r:id="rId35"/>
    <p:sldId id="528" r:id="rId36"/>
    <p:sldId id="530" r:id="rId37"/>
    <p:sldId id="509" r:id="rId38"/>
    <p:sldId id="527" r:id="rId39"/>
    <p:sldId id="529" r:id="rId40"/>
    <p:sldId id="535" r:id="rId41"/>
    <p:sldId id="534" r:id="rId42"/>
    <p:sldId id="566" r:id="rId43"/>
    <p:sldId id="567" r:id="rId44"/>
    <p:sldId id="565" r:id="rId45"/>
    <p:sldId id="533" r:id="rId46"/>
    <p:sldId id="571" r:id="rId47"/>
    <p:sldId id="510" r:id="rId48"/>
    <p:sldId id="540" r:id="rId49"/>
    <p:sldId id="541" r:id="rId50"/>
    <p:sldId id="543" r:id="rId51"/>
    <p:sldId id="546" r:id="rId52"/>
    <p:sldId id="547" r:id="rId53"/>
    <p:sldId id="548" r:id="rId54"/>
    <p:sldId id="572" r:id="rId55"/>
    <p:sldId id="539" r:id="rId56"/>
    <p:sldId id="551" r:id="rId57"/>
    <p:sldId id="552" r:id="rId58"/>
    <p:sldId id="554" r:id="rId59"/>
    <p:sldId id="511" r:id="rId60"/>
    <p:sldId id="555" r:id="rId61"/>
    <p:sldId id="573" r:id="rId62"/>
    <p:sldId id="512" r:id="rId63"/>
    <p:sldId id="536" r:id="rId64"/>
    <p:sldId id="560" r:id="rId65"/>
    <p:sldId id="561" r:id="rId66"/>
    <p:sldId id="562" r:id="rId67"/>
    <p:sldId id="563" r:id="rId68"/>
    <p:sldId id="564" r:id="rId69"/>
    <p:sldId id="345" r:id="rId70"/>
    <p:sldId id="56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D8A825-6094-F40C-3852-859E2E57EF50}" name="Paredes, Claudio" initials="CP" userId="S::Claudio.Paredes@ellucian.com::fb4c8112-fb4f-4a31-afa3-9cde86169bd8" providerId="AD"/>
  <p188:author id="{0538742B-AA87-7862-DC8C-B887E2934E04}" name="Herrera Mejía, Faver" initials="FH" userId="S::Faver.HerreraMejia@ellucian.com::a216f920-99da-41f1-ba24-0851e945f311" providerId="AD"/>
  <p188:author id="{0E539551-222C-61D3-F57B-104FF550F0E9}" name="Daniela López Ospino" initials="DL" userId="S::daniela.lopez@cesa.edu.co::e5b24024-a4ca-41d6-bb62-8d441da97dac" providerId="AD"/>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60" d="100"/>
          <a:sy n="60" d="100"/>
        </p:scale>
        <p:origin x="44" y="44"/>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Paredes" userId="34294340581_tp_box_2" providerId="OAuth2" clId="{0D63009D-A2D7-4970-9DBF-F181FBC81B6C}"/>
    <pc:docChg chg="modSld">
      <pc:chgData name="Claudio Paredes" userId="34294340581_tp_box_2" providerId="OAuth2" clId="{0D63009D-A2D7-4970-9DBF-F181FBC81B6C}" dt="2026-01-16T14:21:31.260" v="1" actId="1076"/>
      <pc:docMkLst>
        <pc:docMk/>
      </pc:docMkLst>
      <pc:sldChg chg="modSp mod">
        <pc:chgData name="Claudio Paredes" userId="34294340581_tp_box_2" providerId="OAuth2" clId="{0D63009D-A2D7-4970-9DBF-F181FBC81B6C}" dt="2026-01-16T14:21:31.260" v="1" actId="1076"/>
        <pc:sldMkLst>
          <pc:docMk/>
          <pc:sldMk cId="2439473697" sldId="530"/>
        </pc:sldMkLst>
        <pc:spChg chg="mod">
          <ac:chgData name="Claudio Paredes" userId="34294340581_tp_box_2" providerId="OAuth2" clId="{0D63009D-A2D7-4970-9DBF-F181FBC81B6C}" dt="2026-01-16T14:21:31.260" v="1" actId="1076"/>
          <ac:spMkLst>
            <pc:docMk/>
            <pc:sldMk cId="2439473697" sldId="530"/>
            <ac:spMk id="7" creationId="{27703070-3E55-06CF-7481-A22C9F7E2CCF}"/>
          </ac:spMkLst>
        </pc:spChg>
        <pc:spChg chg="mod">
          <ac:chgData name="Claudio Paredes" userId="34294340581_tp_box_2" providerId="OAuth2" clId="{0D63009D-A2D7-4970-9DBF-F181FBC81B6C}" dt="2026-01-16T14:20:18.826" v="0" actId="1076"/>
          <ac:spMkLst>
            <pc:docMk/>
            <pc:sldMk cId="2439473697" sldId="530"/>
            <ac:spMk id="9" creationId="{48DAC190-96BA-F4E0-C294-FBF9C5A3B2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16-04-2026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5089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3327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27592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745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44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8123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1975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886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607125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00B655AC-D933-0DA3-131C-D66FAC3EB545}"/>
              </a:ext>
            </a:extLst>
          </p:cNvPr>
          <p:cNvSpPr/>
          <p:nvPr userDrawn="1"/>
        </p:nvSpPr>
        <p:spPr>
          <a:xfrm>
            <a:off x="9229060" y="6507126"/>
            <a:ext cx="2415415" cy="255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47E1B87B-17E5-9FBE-6747-AA98A94CAAA2}"/>
              </a:ext>
            </a:extLst>
          </p:cNvPr>
          <p:cNvPicPr>
            <a:picLocks noChangeAspect="1"/>
          </p:cNvPicPr>
          <p:nvPr userDrawn="1"/>
        </p:nvPicPr>
        <p:blipFill>
          <a:blip r:embed="rId2"/>
          <a:stretch>
            <a:fillRect/>
          </a:stretch>
        </p:blipFill>
        <p:spPr>
          <a:xfrm>
            <a:off x="9785073" y="6496178"/>
            <a:ext cx="1962700" cy="266129"/>
          </a:xfrm>
          <a:prstGeom prst="rect">
            <a:avLst/>
          </a:prstGeom>
        </p:spPr>
      </p:pic>
    </p:spTree>
    <p:extLst>
      <p:ext uri="{BB962C8B-B14F-4D97-AF65-F5344CB8AC3E}">
        <p14:creationId xmlns:p14="http://schemas.microsoft.com/office/powerpoint/2010/main" val="1556783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638618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019739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761988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905265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625422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9679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42399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6680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158642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04564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191022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360024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120168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61411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4927371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368713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9060353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9620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583899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473298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095998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35716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525155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589606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92974266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dirty="0"/>
          </a:p>
        </p:txBody>
      </p:sp>
      <p:sp>
        <p:nvSpPr>
          <p:cNvPr id="3" name="Rectangle 2">
            <a:extLst>
              <a:ext uri="{FF2B5EF4-FFF2-40B4-BE49-F238E27FC236}">
                <a16:creationId xmlns:a16="http://schemas.microsoft.com/office/drawing/2014/main" id="{E5AD1503-CA3E-4B3F-93D3-D29AFC0E8884}"/>
              </a:ext>
            </a:extLst>
          </p:cNvPr>
          <p:cNvSpPr/>
          <p:nvPr userDrawn="1"/>
        </p:nvSpPr>
        <p:spPr>
          <a:xfrm>
            <a:off x="9207062" y="6495393"/>
            <a:ext cx="2459421" cy="2260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7CEF0C2A-EF06-B00F-EEB2-C7583BD18E21}"/>
              </a:ext>
            </a:extLst>
          </p:cNvPr>
          <p:cNvPicPr>
            <a:picLocks noChangeAspect="1"/>
          </p:cNvPicPr>
          <p:nvPr userDrawn="1"/>
        </p:nvPicPr>
        <p:blipFill>
          <a:blip r:embed="rId2"/>
          <a:stretch>
            <a:fillRect/>
          </a:stretch>
        </p:blipFill>
        <p:spPr>
          <a:xfrm>
            <a:off x="9934226" y="6501697"/>
            <a:ext cx="1829055" cy="228632"/>
          </a:xfrm>
          <a:prstGeom prst="rect">
            <a:avLst/>
          </a:prstGeom>
        </p:spPr>
      </p:pic>
    </p:spTree>
    <p:extLst>
      <p:ext uri="{BB962C8B-B14F-4D97-AF65-F5344CB8AC3E}">
        <p14:creationId xmlns:p14="http://schemas.microsoft.com/office/powerpoint/2010/main" val="401670268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9D143C1E-F99F-4021-5CA7-BE48F96A213E}"/>
              </a:ext>
            </a:extLst>
          </p:cNvPr>
          <p:cNvSpPr/>
          <p:nvPr userDrawn="1"/>
        </p:nvSpPr>
        <p:spPr>
          <a:xfrm>
            <a:off x="9270124" y="6526924"/>
            <a:ext cx="2312273" cy="194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3C913CA9-6310-EB09-E0B8-92E51B54C6FD}"/>
              </a:ext>
            </a:extLst>
          </p:cNvPr>
          <p:cNvPicPr>
            <a:picLocks noChangeAspect="1"/>
          </p:cNvPicPr>
          <p:nvPr userDrawn="1"/>
        </p:nvPicPr>
        <p:blipFill>
          <a:blip r:embed="rId2"/>
          <a:stretch>
            <a:fillRect/>
          </a:stretch>
        </p:blipFill>
        <p:spPr>
          <a:xfrm>
            <a:off x="9924700" y="6486067"/>
            <a:ext cx="1848108" cy="276264"/>
          </a:xfrm>
          <a:prstGeom prst="rect">
            <a:avLst/>
          </a:prstGeom>
        </p:spPr>
      </p:pic>
    </p:spTree>
    <p:extLst>
      <p:ext uri="{BB962C8B-B14F-4D97-AF65-F5344CB8AC3E}">
        <p14:creationId xmlns:p14="http://schemas.microsoft.com/office/powerpoint/2010/main" val="101475407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dirty="0"/>
          </a:p>
        </p:txBody>
      </p:sp>
    </p:spTree>
    <p:extLst>
      <p:ext uri="{BB962C8B-B14F-4D97-AF65-F5344CB8AC3E}">
        <p14:creationId xmlns:p14="http://schemas.microsoft.com/office/powerpoint/2010/main" val="138867660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2558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420394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113330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65944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78940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2681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084403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113557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422952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654240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513935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823887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76595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02279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93977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4431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465044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39222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880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4973930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39734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7.xml"/></Relationships>
</file>

<file path=ppt/slides/_rels/slide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Layout" Target="../slideLayouts/slideLayout36.xml"/><Relationship Id="rId5" Type="http://schemas.openxmlformats.org/officeDocument/2006/relationships/image" Target="../media/image81.svg"/><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75F30-4948-8625-4D18-95EE2803BD83}"/>
              </a:ext>
            </a:extLst>
          </p:cNvPr>
          <p:cNvSpPr>
            <a:spLocks noGrp="1"/>
          </p:cNvSpPr>
          <p:nvPr>
            <p:ph type="body" sz="quarter" idx="10"/>
          </p:nvPr>
        </p:nvSpPr>
        <p:spPr>
          <a:xfrm>
            <a:off x="556902" y="2249757"/>
            <a:ext cx="5427132" cy="1274493"/>
          </a:xfrm>
        </p:spPr>
        <p:txBody>
          <a:bodyPr>
            <a:normAutofit/>
          </a:bodyPr>
          <a:lstStyle/>
          <a:p>
            <a:r>
              <a:rPr lang="es-419"/>
              <a:t>Gestionar la evaluación docente</a:t>
            </a:r>
            <a:endParaRPr lang="es-CL"/>
          </a:p>
        </p:txBody>
      </p:sp>
      <p:sp>
        <p:nvSpPr>
          <p:cNvPr id="14" name="Marcador de texto 13">
            <a:extLst>
              <a:ext uri="{FF2B5EF4-FFF2-40B4-BE49-F238E27FC236}">
                <a16:creationId xmlns:a16="http://schemas.microsoft.com/office/drawing/2014/main" id="{8A918CF7-463A-07E2-BE6B-37836433BCBA}"/>
              </a:ext>
            </a:extLst>
          </p:cNvPr>
          <p:cNvSpPr>
            <a:spLocks noGrp="1"/>
          </p:cNvSpPr>
          <p:nvPr>
            <p:ph type="body" sz="quarter" idx="13"/>
          </p:nvPr>
        </p:nvSpPr>
        <p:spPr/>
        <p:txBody>
          <a:bodyPr/>
          <a:lstStyle/>
          <a:p>
            <a:r>
              <a:rPr lang="es-CL" dirty="0"/>
              <a:t>Mes, Año</a:t>
            </a:r>
          </a:p>
        </p:txBody>
      </p:sp>
      <p:sp>
        <p:nvSpPr>
          <p:cNvPr id="16" name="Marcador de texto 2">
            <a:extLst>
              <a:ext uri="{FF2B5EF4-FFF2-40B4-BE49-F238E27FC236}">
                <a16:creationId xmlns:a16="http://schemas.microsoft.com/office/drawing/2014/main" id="{5898FC17-6ABA-6318-306B-84C47CB1F32D}"/>
              </a:ext>
            </a:extLst>
          </p:cNvPr>
          <p:cNvSpPr txBox="1">
            <a:spLocks/>
          </p:cNvSpPr>
          <p:nvPr/>
        </p:nvSpPr>
        <p:spPr>
          <a:xfrm>
            <a:off x="749939" y="3429493"/>
            <a:ext cx="5427132" cy="663515"/>
          </a:xfrm>
          <a:prstGeom prst="rect">
            <a:avLst/>
          </a:prstGeom>
        </p:spPr>
        <p:txBody>
          <a:bodyPr vert="horz" wrap="square" lIns="0" tIns="0" rIns="0" bIns="0" rtlCol="0">
            <a:norm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dirty="0"/>
              <a:t>Instructivo</a:t>
            </a:r>
          </a:p>
        </p:txBody>
      </p:sp>
      <p:sp>
        <p:nvSpPr>
          <p:cNvPr id="17" name="Marcador de texto 5">
            <a:extLst>
              <a:ext uri="{FF2B5EF4-FFF2-40B4-BE49-F238E27FC236}">
                <a16:creationId xmlns:a16="http://schemas.microsoft.com/office/drawing/2014/main" id="{36CADDF3-3735-2B82-F83A-34A047F27186}"/>
              </a:ext>
            </a:extLst>
          </p:cNvPr>
          <p:cNvSpPr txBox="1">
            <a:spLocks/>
          </p:cNvSpPr>
          <p:nvPr/>
        </p:nvSpPr>
        <p:spPr>
          <a:xfrm>
            <a:off x="557213" y="5610225"/>
            <a:ext cx="3032125" cy="398058"/>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sz="12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dirty="0"/>
              <a:t>Consultor</a:t>
            </a:r>
          </a:p>
          <a:p>
            <a:r>
              <a:rPr lang="es-CL" dirty="0"/>
              <a:t>Cargo</a:t>
            </a:r>
          </a:p>
        </p:txBody>
      </p:sp>
      <p:pic>
        <p:nvPicPr>
          <p:cNvPr id="18" name="Marcador de posición de imagen 8" descr="Un par de personas sentadas en una mesa&#10;&#10;El contenido generado por IA puede ser incorrecto.">
            <a:extLst>
              <a:ext uri="{FF2B5EF4-FFF2-40B4-BE49-F238E27FC236}">
                <a16:creationId xmlns:a16="http://schemas.microsoft.com/office/drawing/2014/main" id="{852AC0FC-936F-D892-CEED-8559B4FA8EC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evaluación docente</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310380197"/>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Evaluación Docente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evaluación docente</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Gestionar la evaluación docente</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1839686"/>
            <a:ext cx="2531719" cy="762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400" dirty="0"/>
              <a:t>Implementar un instrumento institucional que permita generar un consolidado de información, con el fin de analizar y evaluar a los docentes de la institución de forma unificada, generando indicadores comparativos en el tiempo, a nivel de institución, facultad y/o docentes.</a:t>
            </a:r>
          </a:p>
          <a:p>
            <a:pPr marL="285750" indent="-285750" algn="just">
              <a:buClr>
                <a:srgbClr val="0CB4B4"/>
              </a:buClr>
              <a:buFont typeface="Wingdings" panose="05000000000000000000" pitchFamily="2" charset="2"/>
              <a:buChar char="q"/>
            </a:pPr>
            <a:r>
              <a:rPr lang="es-419" sz="2400" dirty="0"/>
              <a:t>Esta encuesta está pensada para evaluar a los docentes, por parte de los estudiantes, pudiendo existir múltiples tipos de encuestas.</a:t>
            </a:r>
          </a:p>
          <a:p>
            <a:pPr marL="285750" indent="-285750" algn="just">
              <a:buClr>
                <a:srgbClr val="0CB4B4"/>
              </a:buClr>
              <a:buFont typeface="Wingdings" panose="05000000000000000000" pitchFamily="2" charset="2"/>
              <a:buChar char="q"/>
            </a:pPr>
            <a:r>
              <a:rPr lang="es-419" sz="2400" dirty="0"/>
              <a:t>El tipo de encuesta se asocia según los cursos configurados para responder la encuesta, donde además los estudiantes responden la encuesta en una fecha determinada. Opcionalmente se puede asignar una retención a los estudiantes mientras no respondan la encuesta.</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la evaluación docente</a:t>
            </a: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accent1"/>
                </a:solidFill>
              </a:rPr>
              <a:t>Overview: </a:t>
            </a:r>
            <a:r>
              <a:rPr lang="es-ES_tradnl" b="0" dirty="0">
                <a:solidFill>
                  <a:schemeClr val="accent1"/>
                </a:solidFill>
              </a:rPr>
              <a:t>Proceso </a:t>
            </a:r>
            <a:r>
              <a:rPr lang="es-419" b="0" dirty="0">
                <a:solidFill>
                  <a:schemeClr val="accent1"/>
                </a:solidFill>
              </a:rPr>
              <a:t>gestionar la carga de trabajo docente</a:t>
            </a:r>
            <a:endParaRPr lang="es-CL" b="0" dirty="0">
              <a:solidFill>
                <a:schemeClr val="accent1"/>
              </a:solidFill>
            </a:endParaRPr>
          </a:p>
        </p:txBody>
      </p:sp>
    </p:spTree>
    <p:extLst>
      <p:ext uri="{BB962C8B-B14F-4D97-AF65-F5344CB8AC3E}">
        <p14:creationId xmlns:p14="http://schemas.microsoft.com/office/powerpoint/2010/main" val="16787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la evaluación docente</a:t>
            </a:r>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Proceso </a:t>
            </a:r>
            <a:r>
              <a:rPr lang="es-419" b="0" dirty="0">
                <a:solidFill>
                  <a:schemeClr val="accent1"/>
                </a:solidFill>
              </a:rPr>
              <a:t>gestionar la evaluación docente</a:t>
            </a:r>
            <a:endParaRPr lang="es-CL" b="0" dirty="0">
              <a:solidFill>
                <a:schemeClr val="accent1"/>
              </a:solidFill>
            </a:endParaRPr>
          </a:p>
        </p:txBody>
      </p:sp>
      <p:pic>
        <p:nvPicPr>
          <p:cNvPr id="1028" name="Picture 4">
            <a:extLst>
              <a:ext uri="{FF2B5EF4-FFF2-40B4-BE49-F238E27FC236}">
                <a16:creationId xmlns:a16="http://schemas.microsoft.com/office/drawing/2014/main" id="{8E7509EF-D548-49BE-6F46-CEF2A97F3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258" y="1281381"/>
            <a:ext cx="10113484" cy="4890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evaluación docente</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1E408B24-5A60-6E27-2521-60CCCB6141D0}"/>
              </a:ext>
            </a:extLst>
          </p:cNvPr>
          <p:cNvPicPr>
            <a:picLocks noChangeAspect="1"/>
          </p:cNvPicPr>
          <p:nvPr/>
        </p:nvPicPr>
        <p:blipFill>
          <a:blip r:embed="rId2"/>
          <a:stretch>
            <a:fillRect/>
          </a:stretch>
        </p:blipFill>
        <p:spPr>
          <a:xfrm>
            <a:off x="923356" y="1074654"/>
            <a:ext cx="10405051" cy="493385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SVVACOD Validación de códigos de respuesta</a:t>
            </a:r>
            <a:endParaRPr lang="es-CL" dirty="0"/>
          </a:p>
        </p:txBody>
      </p:sp>
      <p:sp>
        <p:nvSpPr>
          <p:cNvPr id="21" name="Rectángulo 20">
            <a:extLst>
              <a:ext uri="{FF2B5EF4-FFF2-40B4-BE49-F238E27FC236}">
                <a16:creationId xmlns:a16="http://schemas.microsoft.com/office/drawing/2014/main" id="{14802DD9-7388-52C7-C2F5-67A5A33D32F5}"/>
              </a:ext>
            </a:extLst>
          </p:cNvPr>
          <p:cNvSpPr/>
          <p:nvPr/>
        </p:nvSpPr>
        <p:spPr>
          <a:xfrm>
            <a:off x="10593920" y="1586272"/>
            <a:ext cx="235670" cy="27425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5122A535-8FC4-917D-A68F-E70F2D72205F}"/>
              </a:ext>
            </a:extLst>
          </p:cNvPr>
          <p:cNvSpPr/>
          <p:nvPr/>
        </p:nvSpPr>
        <p:spPr>
          <a:xfrm>
            <a:off x="9986036" y="1582751"/>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939208" y="2844343"/>
            <a:ext cx="3405020" cy="6972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definir código y descripción de código de respuesta.</a:t>
            </a:r>
          </a:p>
        </p:txBody>
      </p:sp>
      <p:sp>
        <p:nvSpPr>
          <p:cNvPr id="15" name="Rectángulo 14">
            <a:extLst>
              <a:ext uri="{FF2B5EF4-FFF2-40B4-BE49-F238E27FC236}">
                <a16:creationId xmlns:a16="http://schemas.microsoft.com/office/drawing/2014/main" id="{56DC41C5-1845-7C8A-0D2B-B626CFD806CE}"/>
              </a:ext>
            </a:extLst>
          </p:cNvPr>
          <p:cNvSpPr/>
          <p:nvPr/>
        </p:nvSpPr>
        <p:spPr>
          <a:xfrm>
            <a:off x="788850" y="2384980"/>
            <a:ext cx="5879847" cy="17573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B71FC285-FD75-61B3-3246-3725987B1D12}"/>
              </a:ext>
            </a:extLst>
          </p:cNvPr>
          <p:cNvSpPr/>
          <p:nvPr/>
        </p:nvSpPr>
        <p:spPr>
          <a:xfrm>
            <a:off x="10593920" y="2384980"/>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2" name="Rectángulo redondeado 5">
            <a:extLst>
              <a:ext uri="{FF2B5EF4-FFF2-40B4-BE49-F238E27FC236}">
                <a16:creationId xmlns:a16="http://schemas.microsoft.com/office/drawing/2014/main" id="{F624CFF2-8B8A-F930-9E3B-47400B5177C1}"/>
              </a:ext>
            </a:extLst>
          </p:cNvPr>
          <p:cNvSpPr/>
          <p:nvPr/>
        </p:nvSpPr>
        <p:spPr>
          <a:xfrm>
            <a:off x="7231513" y="1258858"/>
            <a:ext cx="2176924" cy="70619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s-ES_tradnl" sz="1400" dirty="0"/>
              <a:t>Para crear un nuevo código, presionar el botón </a:t>
            </a:r>
            <a:r>
              <a:rPr lang="es-ES_tradnl" sz="1400" b="1" dirty="0"/>
              <a:t>Insertar</a:t>
            </a:r>
            <a:r>
              <a:rPr lang="es-ES_tradnl" sz="1400" dirty="0"/>
              <a:t>.</a:t>
            </a:r>
          </a:p>
        </p:txBody>
      </p:sp>
      <p:sp>
        <p:nvSpPr>
          <p:cNvPr id="12" name="Rectángulo 14">
            <a:extLst>
              <a:ext uri="{FF2B5EF4-FFF2-40B4-BE49-F238E27FC236}">
                <a16:creationId xmlns:a16="http://schemas.microsoft.com/office/drawing/2014/main" id="{10DBBA49-6E95-9373-D771-75BD0ECB4862}"/>
              </a:ext>
            </a:extLst>
          </p:cNvPr>
          <p:cNvSpPr/>
          <p:nvPr/>
        </p:nvSpPr>
        <p:spPr>
          <a:xfrm>
            <a:off x="7059933" y="2337877"/>
            <a:ext cx="3286524" cy="31260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523CFF63-F4CE-9C81-4336-FE04FE4EA1B4}"/>
              </a:ext>
            </a:extLst>
          </p:cNvPr>
          <p:cNvSpPr/>
          <p:nvPr/>
        </p:nvSpPr>
        <p:spPr>
          <a:xfrm>
            <a:off x="368892" y="233395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7" name="Rectángulo redondeado 5">
            <a:extLst>
              <a:ext uri="{FF2B5EF4-FFF2-40B4-BE49-F238E27FC236}">
                <a16:creationId xmlns:a16="http://schemas.microsoft.com/office/drawing/2014/main" id="{7C71C49C-A23C-763C-AA1C-D3BDCA6CBC48}"/>
              </a:ext>
            </a:extLst>
          </p:cNvPr>
          <p:cNvSpPr/>
          <p:nvPr/>
        </p:nvSpPr>
        <p:spPr>
          <a:xfrm>
            <a:off x="6941437" y="3023309"/>
            <a:ext cx="3405020" cy="6972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del campo </a:t>
            </a:r>
            <a:r>
              <a:rPr lang="es-ES_tradnl" sz="1400" b="1" dirty="0"/>
              <a:t>Tipo de respuesta</a:t>
            </a:r>
            <a:r>
              <a:rPr lang="es-ES_tradnl" sz="1400" dirty="0"/>
              <a:t>.</a:t>
            </a:r>
          </a:p>
        </p:txBody>
      </p:sp>
      <p:pic>
        <p:nvPicPr>
          <p:cNvPr id="19" name="Picture 18">
            <a:extLst>
              <a:ext uri="{FF2B5EF4-FFF2-40B4-BE49-F238E27FC236}">
                <a16:creationId xmlns:a16="http://schemas.microsoft.com/office/drawing/2014/main" id="{94AF2B67-09A1-B664-7ED1-C53008B08B69}"/>
              </a:ext>
            </a:extLst>
          </p:cNvPr>
          <p:cNvPicPr>
            <a:picLocks noChangeAspect="1"/>
          </p:cNvPicPr>
          <p:nvPr/>
        </p:nvPicPr>
        <p:blipFill>
          <a:blip r:embed="rId3"/>
          <a:stretch>
            <a:fillRect/>
          </a:stretch>
        </p:blipFill>
        <p:spPr>
          <a:xfrm>
            <a:off x="8548697" y="3154798"/>
            <a:ext cx="190500" cy="209550"/>
          </a:xfrm>
          <a:prstGeom prst="rect">
            <a:avLst/>
          </a:prstGeom>
        </p:spPr>
      </p:pic>
    </p:spTree>
    <p:extLst>
      <p:ext uri="{BB962C8B-B14F-4D97-AF65-F5344CB8AC3E}">
        <p14:creationId xmlns:p14="http://schemas.microsoft.com/office/powerpoint/2010/main" val="2822984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BE65EB6-EB30-05C7-DE57-9E721EDDE2C6}"/>
              </a:ext>
            </a:extLst>
          </p:cNvPr>
          <p:cNvPicPr>
            <a:picLocks noChangeAspect="1"/>
          </p:cNvPicPr>
          <p:nvPr/>
        </p:nvPicPr>
        <p:blipFill>
          <a:blip r:embed="rId2"/>
          <a:stretch>
            <a:fillRect/>
          </a:stretch>
        </p:blipFill>
        <p:spPr>
          <a:xfrm>
            <a:off x="810246" y="1516524"/>
            <a:ext cx="10378233" cy="463499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SVVACOD Validación de códigos de respuesta</a:t>
            </a:r>
            <a:endParaRPr lang="es-CL" dirty="0"/>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1723869" y="4350840"/>
            <a:ext cx="4302110" cy="15552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llamar a la ventana emergente del campo ‘Tipo de respuesta’ se desplegarán las tres opciones existentes:</a:t>
            </a:r>
            <a:br>
              <a:rPr lang="es-ES_tradnl" sz="1400" dirty="0"/>
            </a:br>
            <a:r>
              <a:rPr lang="es-ES_tradnl" sz="1400" dirty="0"/>
              <a:t>- Selección múltiple (</a:t>
            </a:r>
            <a:r>
              <a:rPr lang="es-ES_tradnl" sz="1400" b="1" dirty="0"/>
              <a:t>MS</a:t>
            </a:r>
            <a:r>
              <a:rPr lang="es-ES_tradnl" sz="1400" dirty="0"/>
              <a:t>)</a:t>
            </a:r>
          </a:p>
          <a:p>
            <a:pPr algn="ctr"/>
            <a:r>
              <a:rPr lang="es-ES_tradnl" sz="1400" dirty="0"/>
              <a:t>- Opción múltiple (</a:t>
            </a:r>
            <a:r>
              <a:rPr lang="es-ES_tradnl" sz="1400" b="1" dirty="0"/>
              <a:t>MO</a:t>
            </a:r>
            <a:r>
              <a:rPr lang="es-ES_tradnl" sz="1400" dirty="0"/>
              <a:t>)</a:t>
            </a:r>
          </a:p>
          <a:p>
            <a:pPr algn="ctr"/>
            <a:r>
              <a:rPr lang="es-ES_tradnl" sz="1400" dirty="0"/>
              <a:t>- Pregunta abierta (</a:t>
            </a:r>
            <a:r>
              <a:rPr lang="es-ES_tradnl" sz="1400" b="1" dirty="0"/>
              <a:t>OP</a:t>
            </a:r>
            <a:r>
              <a:rPr lang="es-ES_tradnl" sz="1400" dirty="0"/>
              <a:t>)</a:t>
            </a:r>
          </a:p>
        </p:txBody>
      </p:sp>
      <p:sp>
        <p:nvSpPr>
          <p:cNvPr id="15" name="Rectángulo 14">
            <a:extLst>
              <a:ext uri="{FF2B5EF4-FFF2-40B4-BE49-F238E27FC236}">
                <a16:creationId xmlns:a16="http://schemas.microsoft.com/office/drawing/2014/main" id="{56DC41C5-1845-7C8A-0D2B-B626CFD806CE}"/>
              </a:ext>
            </a:extLst>
          </p:cNvPr>
          <p:cNvSpPr/>
          <p:nvPr/>
        </p:nvSpPr>
        <p:spPr>
          <a:xfrm>
            <a:off x="3755512" y="3102460"/>
            <a:ext cx="5355538" cy="107454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8" name="Rectángulo 17">
            <a:extLst>
              <a:ext uri="{FF2B5EF4-FFF2-40B4-BE49-F238E27FC236}">
                <a16:creationId xmlns:a16="http://schemas.microsoft.com/office/drawing/2014/main" id="{03914803-B173-A98B-6F54-4C702974B904}"/>
              </a:ext>
            </a:extLst>
          </p:cNvPr>
          <p:cNvSpPr/>
          <p:nvPr/>
        </p:nvSpPr>
        <p:spPr>
          <a:xfrm>
            <a:off x="7436394" y="5246314"/>
            <a:ext cx="637932" cy="31506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3264495" y="3102460"/>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2" name="Rectángulo redondeado 8">
            <a:extLst>
              <a:ext uri="{FF2B5EF4-FFF2-40B4-BE49-F238E27FC236}">
                <a16:creationId xmlns:a16="http://schemas.microsoft.com/office/drawing/2014/main" id="{F6946715-88D1-ADA4-2D64-DE8375DCED7C}"/>
              </a:ext>
            </a:extLst>
          </p:cNvPr>
          <p:cNvSpPr/>
          <p:nvPr/>
        </p:nvSpPr>
        <p:spPr>
          <a:xfrm>
            <a:off x="8246807" y="5264960"/>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6" name="Rectángulo redondeado 5">
            <a:extLst>
              <a:ext uri="{FF2B5EF4-FFF2-40B4-BE49-F238E27FC236}">
                <a16:creationId xmlns:a16="http://schemas.microsoft.com/office/drawing/2014/main" id="{4EB73AE2-E152-B540-2B67-DF95B0BF0AC2}"/>
              </a:ext>
            </a:extLst>
          </p:cNvPr>
          <p:cNvSpPr/>
          <p:nvPr/>
        </p:nvSpPr>
        <p:spPr>
          <a:xfrm>
            <a:off x="8764298" y="5147503"/>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Presionar el botón </a:t>
            </a:r>
            <a:r>
              <a:rPr lang="es-ES_tradnl" sz="1200" b="1" dirty="0"/>
              <a:t>OK</a:t>
            </a:r>
          </a:p>
        </p:txBody>
      </p:sp>
    </p:spTree>
    <p:extLst>
      <p:ext uri="{BB962C8B-B14F-4D97-AF65-F5344CB8AC3E}">
        <p14:creationId xmlns:p14="http://schemas.microsoft.com/office/powerpoint/2010/main" val="216622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BF8ABCF-6764-4E8A-37F0-C49D99B6FB49}"/>
              </a:ext>
            </a:extLst>
          </p:cNvPr>
          <p:cNvPicPr>
            <a:picLocks noChangeAspect="1"/>
          </p:cNvPicPr>
          <p:nvPr/>
        </p:nvPicPr>
        <p:blipFill>
          <a:blip r:embed="rId2"/>
          <a:stretch>
            <a:fillRect/>
          </a:stretch>
        </p:blipFill>
        <p:spPr>
          <a:xfrm>
            <a:off x="923026" y="1449237"/>
            <a:ext cx="10511860" cy="471278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SVVACOD Validación de códigos de respuesta</a:t>
            </a:r>
            <a:endParaRPr lang="es-CL" dirty="0"/>
          </a:p>
        </p:txBody>
      </p:sp>
      <p:sp>
        <p:nvSpPr>
          <p:cNvPr id="10" name="Rectángulo 9">
            <a:extLst>
              <a:ext uri="{FF2B5EF4-FFF2-40B4-BE49-F238E27FC236}">
                <a16:creationId xmlns:a16="http://schemas.microsoft.com/office/drawing/2014/main" id="{67374D74-D989-F6A3-35AE-49F04BBAA145}"/>
              </a:ext>
            </a:extLst>
          </p:cNvPr>
          <p:cNvSpPr/>
          <p:nvPr/>
        </p:nvSpPr>
        <p:spPr>
          <a:xfrm>
            <a:off x="10744408" y="5727972"/>
            <a:ext cx="820504"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5">
            <a:extLst>
              <a:ext uri="{FF2B5EF4-FFF2-40B4-BE49-F238E27FC236}">
                <a16:creationId xmlns:a16="http://schemas.microsoft.com/office/drawing/2014/main" id="{EBFBF872-F340-7E43-B427-681DA6F5E8AE}"/>
              </a:ext>
            </a:extLst>
          </p:cNvPr>
          <p:cNvSpPr/>
          <p:nvPr/>
        </p:nvSpPr>
        <p:spPr>
          <a:xfrm>
            <a:off x="10317708" y="5127179"/>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14" name="Rectángulo redondeado 9">
            <a:extLst>
              <a:ext uri="{FF2B5EF4-FFF2-40B4-BE49-F238E27FC236}">
                <a16:creationId xmlns:a16="http://schemas.microsoft.com/office/drawing/2014/main" id="{5C84312C-D0E1-682C-4776-621401CEC65D}"/>
              </a:ext>
            </a:extLst>
          </p:cNvPr>
          <p:cNvSpPr/>
          <p:nvPr/>
        </p:nvSpPr>
        <p:spPr>
          <a:xfrm>
            <a:off x="10222039" y="582112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9" name="Rectángulo 8">
            <a:extLst>
              <a:ext uri="{FF2B5EF4-FFF2-40B4-BE49-F238E27FC236}">
                <a16:creationId xmlns:a16="http://schemas.microsoft.com/office/drawing/2014/main" id="{E7CEEC3C-8816-C51C-44E4-BC2F8B94E2AC}"/>
              </a:ext>
            </a:extLst>
          </p:cNvPr>
          <p:cNvSpPr/>
          <p:nvPr/>
        </p:nvSpPr>
        <p:spPr>
          <a:xfrm>
            <a:off x="887004" y="3085327"/>
            <a:ext cx="9318825" cy="26101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993034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6899A96-4521-1814-CE31-0A7A6AFDD4F2}"/>
              </a:ext>
            </a:extLst>
          </p:cNvPr>
          <p:cNvPicPr>
            <a:picLocks noChangeAspect="1"/>
          </p:cNvPicPr>
          <p:nvPr/>
        </p:nvPicPr>
        <p:blipFill>
          <a:blip r:embed="rId2"/>
          <a:stretch>
            <a:fillRect/>
          </a:stretch>
        </p:blipFill>
        <p:spPr>
          <a:xfrm>
            <a:off x="810247" y="1106229"/>
            <a:ext cx="10521106" cy="464554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SVAPVAC Definición de código de respuesta</a:t>
            </a:r>
            <a:endParaRPr lang="es-CL" dirty="0"/>
          </a:p>
        </p:txBody>
      </p:sp>
      <p:sp>
        <p:nvSpPr>
          <p:cNvPr id="9" name="Rectángulo 8">
            <a:extLst>
              <a:ext uri="{FF2B5EF4-FFF2-40B4-BE49-F238E27FC236}">
                <a16:creationId xmlns:a16="http://schemas.microsoft.com/office/drawing/2014/main" id="{585A7C8F-64A6-EB83-76BE-0EDA0818DBE5}"/>
              </a:ext>
            </a:extLst>
          </p:cNvPr>
          <p:cNvSpPr/>
          <p:nvPr/>
        </p:nvSpPr>
        <p:spPr>
          <a:xfrm>
            <a:off x="810247" y="1729378"/>
            <a:ext cx="3679212" cy="27777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12">
            <a:extLst>
              <a:ext uri="{FF2B5EF4-FFF2-40B4-BE49-F238E27FC236}">
                <a16:creationId xmlns:a16="http://schemas.microsoft.com/office/drawing/2014/main" id="{69A02F07-9B0D-77D1-BDB8-810D7D4773F8}"/>
              </a:ext>
            </a:extLst>
          </p:cNvPr>
          <p:cNvSpPr/>
          <p:nvPr/>
        </p:nvSpPr>
        <p:spPr>
          <a:xfrm>
            <a:off x="10852030" y="1788182"/>
            <a:ext cx="529723"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redondeado 5">
            <a:extLst>
              <a:ext uri="{FF2B5EF4-FFF2-40B4-BE49-F238E27FC236}">
                <a16:creationId xmlns:a16="http://schemas.microsoft.com/office/drawing/2014/main" id="{F824EE9C-B2FE-B121-0B63-E85B851AA49A}"/>
              </a:ext>
            </a:extLst>
          </p:cNvPr>
          <p:cNvSpPr/>
          <p:nvPr/>
        </p:nvSpPr>
        <p:spPr>
          <a:xfrm>
            <a:off x="766373" y="2307911"/>
            <a:ext cx="4213303" cy="88909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ingresar el código de respuesta a la cual se asignarán los posibles valores a seleccionar.</a:t>
            </a:r>
          </a:p>
        </p:txBody>
      </p:sp>
      <p:sp>
        <p:nvSpPr>
          <p:cNvPr id="16" name="Rectángulo redondeado 5">
            <a:extLst>
              <a:ext uri="{FF2B5EF4-FFF2-40B4-BE49-F238E27FC236}">
                <a16:creationId xmlns:a16="http://schemas.microsoft.com/office/drawing/2014/main" id="{5520DD6C-0B95-1617-537F-245CF802DC3E}"/>
              </a:ext>
            </a:extLst>
          </p:cNvPr>
          <p:cNvSpPr/>
          <p:nvPr/>
        </p:nvSpPr>
        <p:spPr>
          <a:xfrm>
            <a:off x="9888307" y="2265413"/>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9" name="Rectángulo redondeado 8">
            <a:extLst>
              <a:ext uri="{FF2B5EF4-FFF2-40B4-BE49-F238E27FC236}">
                <a16:creationId xmlns:a16="http://schemas.microsoft.com/office/drawing/2014/main" id="{6B49DDE7-9356-1373-B85B-32E2661DF24F}"/>
              </a:ext>
            </a:extLst>
          </p:cNvPr>
          <p:cNvSpPr/>
          <p:nvPr/>
        </p:nvSpPr>
        <p:spPr>
          <a:xfrm>
            <a:off x="4619255" y="172937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20" name="Rectángulo redondeado 8">
            <a:extLst>
              <a:ext uri="{FF2B5EF4-FFF2-40B4-BE49-F238E27FC236}">
                <a16:creationId xmlns:a16="http://schemas.microsoft.com/office/drawing/2014/main" id="{439B32D6-F216-566F-9982-DAD79ADEAEFD}"/>
              </a:ext>
            </a:extLst>
          </p:cNvPr>
          <p:cNvSpPr/>
          <p:nvPr/>
        </p:nvSpPr>
        <p:spPr>
          <a:xfrm>
            <a:off x="10181602" y="1783771"/>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3192422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6596D446-C7EA-2BBC-68D4-43EAB4FD1751}"/>
              </a:ext>
            </a:extLst>
          </p:cNvPr>
          <p:cNvPicPr>
            <a:picLocks noChangeAspect="1"/>
          </p:cNvPicPr>
          <p:nvPr/>
        </p:nvPicPr>
        <p:blipFill>
          <a:blip r:embed="rId2"/>
          <a:stretch>
            <a:fillRect/>
          </a:stretch>
        </p:blipFill>
        <p:spPr>
          <a:xfrm>
            <a:off x="810248" y="1227221"/>
            <a:ext cx="10404392" cy="466516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SVAPVAC Definición de código de respuesta</a:t>
            </a:r>
            <a:endParaRPr lang="es-CL" dirty="0"/>
          </a:p>
        </p:txBody>
      </p:sp>
      <p:sp>
        <p:nvSpPr>
          <p:cNvPr id="9" name="Rectángulo 8">
            <a:extLst>
              <a:ext uri="{FF2B5EF4-FFF2-40B4-BE49-F238E27FC236}">
                <a16:creationId xmlns:a16="http://schemas.microsoft.com/office/drawing/2014/main" id="{585A7C8F-64A6-EB83-76BE-0EDA0818DBE5}"/>
              </a:ext>
            </a:extLst>
          </p:cNvPr>
          <p:cNvSpPr/>
          <p:nvPr/>
        </p:nvSpPr>
        <p:spPr>
          <a:xfrm>
            <a:off x="2801388" y="2469078"/>
            <a:ext cx="8413251"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redondeado 5">
            <a:extLst>
              <a:ext uri="{FF2B5EF4-FFF2-40B4-BE49-F238E27FC236}">
                <a16:creationId xmlns:a16="http://schemas.microsoft.com/office/drawing/2014/main" id="{F824EE9C-B2FE-B121-0B63-E85B851AA49A}"/>
              </a:ext>
            </a:extLst>
          </p:cNvPr>
          <p:cNvSpPr/>
          <p:nvPr/>
        </p:nvSpPr>
        <p:spPr>
          <a:xfrm>
            <a:off x="1718028" y="4111151"/>
            <a:ext cx="7116926" cy="14684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generar el registro se debe definir lo que fuera el campo ‘Descripción de la respuesta’ y asignar los puntos de calidad que le otorgaría dicha opción a ese estudiante. El campo ‘Número de secuencia’ se define automáticamente a medida que se van formalizando los registros.</a:t>
            </a:r>
          </a:p>
        </p:txBody>
      </p:sp>
      <p:sp>
        <p:nvSpPr>
          <p:cNvPr id="7" name="Rectángulo 6">
            <a:extLst>
              <a:ext uri="{FF2B5EF4-FFF2-40B4-BE49-F238E27FC236}">
                <a16:creationId xmlns:a16="http://schemas.microsoft.com/office/drawing/2014/main" id="{6099C91E-B8BB-65F2-00F7-54348007634B}"/>
              </a:ext>
            </a:extLst>
          </p:cNvPr>
          <p:cNvSpPr/>
          <p:nvPr/>
        </p:nvSpPr>
        <p:spPr>
          <a:xfrm>
            <a:off x="10328320" y="2058420"/>
            <a:ext cx="258699" cy="2969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86CE3B9F-6896-8CC7-7902-A3553A19DE06}"/>
              </a:ext>
            </a:extLst>
          </p:cNvPr>
          <p:cNvSpPr/>
          <p:nvPr/>
        </p:nvSpPr>
        <p:spPr>
          <a:xfrm>
            <a:off x="9184008" y="1888293"/>
            <a:ext cx="854325" cy="44425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Insertar</a:t>
            </a:r>
          </a:p>
        </p:txBody>
      </p:sp>
      <p:sp>
        <p:nvSpPr>
          <p:cNvPr id="10" name="Rectángulo redondeado 8">
            <a:extLst>
              <a:ext uri="{FF2B5EF4-FFF2-40B4-BE49-F238E27FC236}">
                <a16:creationId xmlns:a16="http://schemas.microsoft.com/office/drawing/2014/main" id="{A5439F2B-1A54-8201-64F2-5AAB63FA2A32}"/>
              </a:ext>
            </a:extLst>
          </p:cNvPr>
          <p:cNvSpPr/>
          <p:nvPr/>
        </p:nvSpPr>
        <p:spPr>
          <a:xfrm>
            <a:off x="8654743" y="203967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1" name="Rectángulo redondeado 8">
            <a:extLst>
              <a:ext uri="{FF2B5EF4-FFF2-40B4-BE49-F238E27FC236}">
                <a16:creationId xmlns:a16="http://schemas.microsoft.com/office/drawing/2014/main" id="{A4B02B0C-C950-5F93-8F01-D5F6E0F5A491}"/>
              </a:ext>
            </a:extLst>
          </p:cNvPr>
          <p:cNvSpPr/>
          <p:nvPr/>
        </p:nvSpPr>
        <p:spPr>
          <a:xfrm>
            <a:off x="2138104" y="246907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2" name="Rectángulo 11">
            <a:extLst>
              <a:ext uri="{FF2B5EF4-FFF2-40B4-BE49-F238E27FC236}">
                <a16:creationId xmlns:a16="http://schemas.microsoft.com/office/drawing/2014/main" id="{D401C710-94D2-75D7-DFCA-5C9B9871DB32}"/>
              </a:ext>
            </a:extLst>
          </p:cNvPr>
          <p:cNvSpPr/>
          <p:nvPr/>
        </p:nvSpPr>
        <p:spPr>
          <a:xfrm>
            <a:off x="10550356" y="5493813"/>
            <a:ext cx="820504"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5">
            <a:extLst>
              <a:ext uri="{FF2B5EF4-FFF2-40B4-BE49-F238E27FC236}">
                <a16:creationId xmlns:a16="http://schemas.microsoft.com/office/drawing/2014/main" id="{40B59E11-367C-D2A2-77C8-6514F50F09A0}"/>
              </a:ext>
            </a:extLst>
          </p:cNvPr>
          <p:cNvSpPr/>
          <p:nvPr/>
        </p:nvSpPr>
        <p:spPr>
          <a:xfrm>
            <a:off x="10530861" y="4332671"/>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17" name="Rectángulo redondeado 9">
            <a:extLst>
              <a:ext uri="{FF2B5EF4-FFF2-40B4-BE49-F238E27FC236}">
                <a16:creationId xmlns:a16="http://schemas.microsoft.com/office/drawing/2014/main" id="{B3AA1E8A-0D3A-4BC6-E9F6-77A9D9676642}"/>
              </a:ext>
            </a:extLst>
          </p:cNvPr>
          <p:cNvSpPr/>
          <p:nvPr/>
        </p:nvSpPr>
        <p:spPr>
          <a:xfrm>
            <a:off x="10744774" y="511841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Tree>
    <p:extLst>
      <p:ext uri="{BB962C8B-B14F-4D97-AF65-F5344CB8AC3E}">
        <p14:creationId xmlns:p14="http://schemas.microsoft.com/office/powerpoint/2010/main" val="1458553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12B4B2B7-39C5-316C-DCB5-B57F535886D0}"/>
              </a:ext>
            </a:extLst>
          </p:cNvPr>
          <p:cNvPicPr>
            <a:picLocks noChangeAspect="1"/>
          </p:cNvPicPr>
          <p:nvPr/>
        </p:nvPicPr>
        <p:blipFill>
          <a:blip r:embed="rId2"/>
          <a:stretch>
            <a:fillRect/>
          </a:stretch>
        </p:blipFill>
        <p:spPr>
          <a:xfrm>
            <a:off x="1069591" y="1128626"/>
            <a:ext cx="10250042" cy="464889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SVAQCOD Catálogo de preguntas</a:t>
            </a:r>
            <a:endParaRPr lang="es-CL" dirty="0"/>
          </a:p>
        </p:txBody>
      </p:sp>
      <p:sp>
        <p:nvSpPr>
          <p:cNvPr id="9" name="Rectángulo 8">
            <a:extLst>
              <a:ext uri="{FF2B5EF4-FFF2-40B4-BE49-F238E27FC236}">
                <a16:creationId xmlns:a16="http://schemas.microsoft.com/office/drawing/2014/main" id="{E25D56B8-B5B5-D1B5-8851-45CC5DAD8CA8}"/>
              </a:ext>
            </a:extLst>
          </p:cNvPr>
          <p:cNvSpPr/>
          <p:nvPr/>
        </p:nvSpPr>
        <p:spPr>
          <a:xfrm>
            <a:off x="1069591" y="2870761"/>
            <a:ext cx="7423509"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14">
            <a:extLst>
              <a:ext uri="{FF2B5EF4-FFF2-40B4-BE49-F238E27FC236}">
                <a16:creationId xmlns:a16="http://schemas.microsoft.com/office/drawing/2014/main" id="{865BB6B6-9255-E5E2-014D-038A0E87F105}"/>
              </a:ext>
            </a:extLst>
          </p:cNvPr>
          <p:cNvSpPr/>
          <p:nvPr/>
        </p:nvSpPr>
        <p:spPr>
          <a:xfrm>
            <a:off x="10473179" y="1742798"/>
            <a:ext cx="207390" cy="27777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5">
            <a:extLst>
              <a:ext uri="{FF2B5EF4-FFF2-40B4-BE49-F238E27FC236}">
                <a16:creationId xmlns:a16="http://schemas.microsoft.com/office/drawing/2014/main" id="{CD980479-B0DE-C81F-21B6-FB48A4F19191}"/>
              </a:ext>
            </a:extLst>
          </p:cNvPr>
          <p:cNvSpPr/>
          <p:nvPr/>
        </p:nvSpPr>
        <p:spPr>
          <a:xfrm>
            <a:off x="7720614" y="1516829"/>
            <a:ext cx="2052699" cy="69324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s-ES_tradnl" sz="1400" dirty="0"/>
              <a:t>Para crear un nuevo código, presionar el botón </a:t>
            </a:r>
            <a:r>
              <a:rPr lang="es-ES_tradnl" sz="1400" b="1" dirty="0"/>
              <a:t>Insertar</a:t>
            </a:r>
            <a:r>
              <a:rPr lang="es-ES_tradnl" sz="1400" dirty="0"/>
              <a:t>.</a:t>
            </a:r>
          </a:p>
        </p:txBody>
      </p:sp>
      <p:sp>
        <p:nvSpPr>
          <p:cNvPr id="17" name="Rectángulo redondeado 8">
            <a:extLst>
              <a:ext uri="{FF2B5EF4-FFF2-40B4-BE49-F238E27FC236}">
                <a16:creationId xmlns:a16="http://schemas.microsoft.com/office/drawing/2014/main" id="{A21CE54D-AC2A-3C8B-51F5-DA604EBC5E12}"/>
              </a:ext>
            </a:extLst>
          </p:cNvPr>
          <p:cNvSpPr/>
          <p:nvPr/>
        </p:nvSpPr>
        <p:spPr>
          <a:xfrm>
            <a:off x="9919270" y="170110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8" name="Rectángulo redondeado 8">
            <a:extLst>
              <a:ext uri="{FF2B5EF4-FFF2-40B4-BE49-F238E27FC236}">
                <a16:creationId xmlns:a16="http://schemas.microsoft.com/office/drawing/2014/main" id="{20F0744A-C5BA-BA8D-97E5-DC7D0A15394C}"/>
              </a:ext>
            </a:extLst>
          </p:cNvPr>
          <p:cNvSpPr/>
          <p:nvPr/>
        </p:nvSpPr>
        <p:spPr>
          <a:xfrm>
            <a:off x="578053" y="293977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9" name="Rectángulo 18">
            <a:extLst>
              <a:ext uri="{FF2B5EF4-FFF2-40B4-BE49-F238E27FC236}">
                <a16:creationId xmlns:a16="http://schemas.microsoft.com/office/drawing/2014/main" id="{9305F2B0-6C0E-74E0-7BA3-580FF402AEA2}"/>
              </a:ext>
            </a:extLst>
          </p:cNvPr>
          <p:cNvSpPr/>
          <p:nvPr/>
        </p:nvSpPr>
        <p:spPr>
          <a:xfrm>
            <a:off x="10680569" y="5388882"/>
            <a:ext cx="717069" cy="34122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0" name="Rectángulo redondeado 5">
            <a:extLst>
              <a:ext uri="{FF2B5EF4-FFF2-40B4-BE49-F238E27FC236}">
                <a16:creationId xmlns:a16="http://schemas.microsoft.com/office/drawing/2014/main" id="{C9EEBDB0-FF33-BC2E-E1E5-A82F428C767F}"/>
              </a:ext>
            </a:extLst>
          </p:cNvPr>
          <p:cNvSpPr/>
          <p:nvPr/>
        </p:nvSpPr>
        <p:spPr>
          <a:xfrm>
            <a:off x="8466544" y="5388882"/>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22" name="Rectángulo redondeado 9">
            <a:extLst>
              <a:ext uri="{FF2B5EF4-FFF2-40B4-BE49-F238E27FC236}">
                <a16:creationId xmlns:a16="http://schemas.microsoft.com/office/drawing/2014/main" id="{AD9716C4-7BEB-DA64-0B9C-5553A4334170}"/>
              </a:ext>
            </a:extLst>
          </p:cNvPr>
          <p:cNvSpPr/>
          <p:nvPr/>
        </p:nvSpPr>
        <p:spPr>
          <a:xfrm>
            <a:off x="9860158" y="551141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23" name="Rectángulo 22">
            <a:extLst>
              <a:ext uri="{FF2B5EF4-FFF2-40B4-BE49-F238E27FC236}">
                <a16:creationId xmlns:a16="http://schemas.microsoft.com/office/drawing/2014/main" id="{F9383C45-B1E6-DDE9-7609-93A416019E03}"/>
              </a:ext>
            </a:extLst>
          </p:cNvPr>
          <p:cNvSpPr/>
          <p:nvPr/>
        </p:nvSpPr>
        <p:spPr>
          <a:xfrm>
            <a:off x="1054662" y="4175432"/>
            <a:ext cx="4629701" cy="102725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4" name="Rectángulo redondeado 8">
            <a:extLst>
              <a:ext uri="{FF2B5EF4-FFF2-40B4-BE49-F238E27FC236}">
                <a16:creationId xmlns:a16="http://schemas.microsoft.com/office/drawing/2014/main" id="{3288F531-FA7F-8DC3-87D7-89F1C17B843B}"/>
              </a:ext>
            </a:extLst>
          </p:cNvPr>
          <p:cNvSpPr/>
          <p:nvPr/>
        </p:nvSpPr>
        <p:spPr>
          <a:xfrm>
            <a:off x="630036" y="4175432"/>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3" name="Rectángulo redondeado 5">
            <a:extLst>
              <a:ext uri="{FF2B5EF4-FFF2-40B4-BE49-F238E27FC236}">
                <a16:creationId xmlns:a16="http://schemas.microsoft.com/office/drawing/2014/main" id="{15F3723A-F1AD-0E36-1F7F-DFC9D09E4369}"/>
              </a:ext>
            </a:extLst>
          </p:cNvPr>
          <p:cNvSpPr/>
          <p:nvPr/>
        </p:nvSpPr>
        <p:spPr>
          <a:xfrm>
            <a:off x="1513388" y="2352466"/>
            <a:ext cx="4432800" cy="4116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el código y la descripción de la pregunta.</a:t>
            </a:r>
          </a:p>
        </p:txBody>
      </p:sp>
      <p:sp>
        <p:nvSpPr>
          <p:cNvPr id="2" name="Rectángulo 8">
            <a:extLst>
              <a:ext uri="{FF2B5EF4-FFF2-40B4-BE49-F238E27FC236}">
                <a16:creationId xmlns:a16="http://schemas.microsoft.com/office/drawing/2014/main" id="{C1824BF6-C81F-1E6D-24CC-95CDDBC3350C}"/>
              </a:ext>
            </a:extLst>
          </p:cNvPr>
          <p:cNvSpPr/>
          <p:nvPr/>
        </p:nvSpPr>
        <p:spPr>
          <a:xfrm>
            <a:off x="8953090" y="2870148"/>
            <a:ext cx="2106449"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BF989A4D-230D-7B29-C944-D9285A6AB282}"/>
              </a:ext>
            </a:extLst>
          </p:cNvPr>
          <p:cNvSpPr/>
          <p:nvPr/>
        </p:nvSpPr>
        <p:spPr>
          <a:xfrm>
            <a:off x="8378178" y="3639123"/>
            <a:ext cx="3405020" cy="10272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del campo </a:t>
            </a:r>
            <a:r>
              <a:rPr lang="es-ES_tradnl" sz="1400" b="1" dirty="0"/>
              <a:t>Código de respuesta</a:t>
            </a:r>
            <a:r>
              <a:rPr lang="es-ES_tradnl" sz="1400" dirty="0"/>
              <a:t> y seleccionar un código que habilitaría las opciones a concretar de dicha encuesta.</a:t>
            </a:r>
          </a:p>
        </p:txBody>
      </p:sp>
      <p:pic>
        <p:nvPicPr>
          <p:cNvPr id="8" name="Picture 7">
            <a:extLst>
              <a:ext uri="{FF2B5EF4-FFF2-40B4-BE49-F238E27FC236}">
                <a16:creationId xmlns:a16="http://schemas.microsoft.com/office/drawing/2014/main" id="{7E561FEB-4EC6-4A47-F00F-A9465DB082D5}"/>
              </a:ext>
            </a:extLst>
          </p:cNvPr>
          <p:cNvPicPr>
            <a:picLocks noChangeAspect="1"/>
          </p:cNvPicPr>
          <p:nvPr/>
        </p:nvPicPr>
        <p:blipFill>
          <a:blip r:embed="rId3"/>
          <a:stretch>
            <a:fillRect/>
          </a:stretch>
        </p:blipFill>
        <p:spPr>
          <a:xfrm>
            <a:off x="10000871" y="3737318"/>
            <a:ext cx="190500" cy="209550"/>
          </a:xfrm>
          <a:prstGeom prst="rect">
            <a:avLst/>
          </a:prstGeom>
        </p:spPr>
      </p:pic>
      <p:sp>
        <p:nvSpPr>
          <p:cNvPr id="10" name="Rectángulo redondeado 5">
            <a:extLst>
              <a:ext uri="{FF2B5EF4-FFF2-40B4-BE49-F238E27FC236}">
                <a16:creationId xmlns:a16="http://schemas.microsoft.com/office/drawing/2014/main" id="{854F9E1C-F56E-74B3-EF57-57CE4D9BBDAD}"/>
              </a:ext>
            </a:extLst>
          </p:cNvPr>
          <p:cNvSpPr/>
          <p:nvPr/>
        </p:nvSpPr>
        <p:spPr>
          <a:xfrm>
            <a:off x="1043035" y="5299628"/>
            <a:ext cx="5518322" cy="4778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la descripción larga de lo que fuera una pregunta de la evaluación.</a:t>
            </a:r>
          </a:p>
        </p:txBody>
      </p:sp>
      <p:sp>
        <p:nvSpPr>
          <p:cNvPr id="11" name="Rectángulo redondeado 8">
            <a:extLst>
              <a:ext uri="{FF2B5EF4-FFF2-40B4-BE49-F238E27FC236}">
                <a16:creationId xmlns:a16="http://schemas.microsoft.com/office/drawing/2014/main" id="{340C2773-F3CA-E10F-CFEE-3615A9EF2D1A}"/>
              </a:ext>
            </a:extLst>
          </p:cNvPr>
          <p:cNvSpPr/>
          <p:nvPr/>
        </p:nvSpPr>
        <p:spPr>
          <a:xfrm>
            <a:off x="11139422" y="2853177"/>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pic>
        <p:nvPicPr>
          <p:cNvPr id="12" name="Picture 11">
            <a:extLst>
              <a:ext uri="{FF2B5EF4-FFF2-40B4-BE49-F238E27FC236}">
                <a16:creationId xmlns:a16="http://schemas.microsoft.com/office/drawing/2014/main" id="{660F6E51-AE27-1026-D6A8-02EC99AC0EEC}"/>
              </a:ext>
            </a:extLst>
          </p:cNvPr>
          <p:cNvPicPr>
            <a:picLocks noChangeAspect="1"/>
          </p:cNvPicPr>
          <p:nvPr/>
        </p:nvPicPr>
        <p:blipFill>
          <a:blip r:embed="rId3"/>
          <a:stretch>
            <a:fillRect/>
          </a:stretch>
        </p:blipFill>
        <p:spPr>
          <a:xfrm>
            <a:off x="9905621" y="2900310"/>
            <a:ext cx="190500" cy="209550"/>
          </a:xfrm>
          <a:prstGeom prst="rect">
            <a:avLst/>
          </a:prstGeom>
        </p:spPr>
      </p:pic>
    </p:spTree>
    <p:extLst>
      <p:ext uri="{BB962C8B-B14F-4D97-AF65-F5344CB8AC3E}">
        <p14:creationId xmlns:p14="http://schemas.microsoft.com/office/powerpoint/2010/main" val="3449934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C541FB94-1E62-638D-EBF5-DBC6F5C21F8E}"/>
              </a:ext>
            </a:extLst>
          </p:cNvPr>
          <p:cNvPicPr>
            <a:picLocks noChangeAspect="1"/>
          </p:cNvPicPr>
          <p:nvPr/>
        </p:nvPicPr>
        <p:blipFill>
          <a:blip r:embed="rId2"/>
          <a:stretch>
            <a:fillRect/>
          </a:stretch>
        </p:blipFill>
        <p:spPr>
          <a:xfrm>
            <a:off x="864810" y="1132854"/>
            <a:ext cx="10462380" cy="473778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pt-BR" sz="3200" dirty="0"/>
              <a:t>SVVTEQA Catálogo de áreas de preguntas</a:t>
            </a:r>
            <a:endParaRPr lang="es-CL" dirty="0"/>
          </a:p>
        </p:txBody>
      </p:sp>
      <p:sp>
        <p:nvSpPr>
          <p:cNvPr id="7" name="Rectángulo 6">
            <a:extLst>
              <a:ext uri="{FF2B5EF4-FFF2-40B4-BE49-F238E27FC236}">
                <a16:creationId xmlns:a16="http://schemas.microsoft.com/office/drawing/2014/main" id="{A86750C5-D392-8C63-1363-6B127879B6DE}"/>
              </a:ext>
            </a:extLst>
          </p:cNvPr>
          <p:cNvSpPr/>
          <p:nvPr/>
        </p:nvSpPr>
        <p:spPr>
          <a:xfrm>
            <a:off x="864810" y="2142551"/>
            <a:ext cx="8568270" cy="296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D00433C1-52AE-B698-B641-E82DEEC9995B}"/>
              </a:ext>
            </a:extLst>
          </p:cNvPr>
          <p:cNvSpPr/>
          <p:nvPr/>
        </p:nvSpPr>
        <p:spPr>
          <a:xfrm>
            <a:off x="10472865" y="1741968"/>
            <a:ext cx="192248" cy="2969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040FAFEB-319C-8C50-9A3F-2070DE872C71}"/>
              </a:ext>
            </a:extLst>
          </p:cNvPr>
          <p:cNvSpPr/>
          <p:nvPr/>
        </p:nvSpPr>
        <p:spPr>
          <a:xfrm>
            <a:off x="10743491" y="1672022"/>
            <a:ext cx="854325" cy="44425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Insertar</a:t>
            </a:r>
          </a:p>
        </p:txBody>
      </p:sp>
      <p:sp>
        <p:nvSpPr>
          <p:cNvPr id="10" name="Rectángulo redondeado 8">
            <a:extLst>
              <a:ext uri="{FF2B5EF4-FFF2-40B4-BE49-F238E27FC236}">
                <a16:creationId xmlns:a16="http://schemas.microsoft.com/office/drawing/2014/main" id="{954BD9F5-6B17-D5C2-6CD4-81DF860DEB46}"/>
              </a:ext>
            </a:extLst>
          </p:cNvPr>
          <p:cNvSpPr/>
          <p:nvPr/>
        </p:nvSpPr>
        <p:spPr>
          <a:xfrm>
            <a:off x="9804629" y="176110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1" name="Rectángulo redondeado 8">
            <a:extLst>
              <a:ext uri="{FF2B5EF4-FFF2-40B4-BE49-F238E27FC236}">
                <a16:creationId xmlns:a16="http://schemas.microsoft.com/office/drawing/2014/main" id="{C0B14009-3AE9-74FF-3288-7DBF8947FAA0}"/>
              </a:ext>
            </a:extLst>
          </p:cNvPr>
          <p:cNvSpPr/>
          <p:nvPr/>
        </p:nvSpPr>
        <p:spPr>
          <a:xfrm>
            <a:off x="376784" y="2151757"/>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ángulo 11">
            <a:extLst>
              <a:ext uri="{FF2B5EF4-FFF2-40B4-BE49-F238E27FC236}">
                <a16:creationId xmlns:a16="http://schemas.microsoft.com/office/drawing/2014/main" id="{184BBD63-B4BB-6C32-7D7F-4F576FB71D80}"/>
              </a:ext>
            </a:extLst>
          </p:cNvPr>
          <p:cNvSpPr/>
          <p:nvPr/>
        </p:nvSpPr>
        <p:spPr>
          <a:xfrm>
            <a:off x="10703336" y="5480454"/>
            <a:ext cx="720113"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5">
            <a:extLst>
              <a:ext uri="{FF2B5EF4-FFF2-40B4-BE49-F238E27FC236}">
                <a16:creationId xmlns:a16="http://schemas.microsoft.com/office/drawing/2014/main" id="{96C0205E-2C8A-9B46-DE02-BB25F09C2FCE}"/>
              </a:ext>
            </a:extLst>
          </p:cNvPr>
          <p:cNvSpPr/>
          <p:nvPr/>
        </p:nvSpPr>
        <p:spPr>
          <a:xfrm>
            <a:off x="10505530" y="4826291"/>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14" name="Rectángulo redondeado 9">
            <a:extLst>
              <a:ext uri="{FF2B5EF4-FFF2-40B4-BE49-F238E27FC236}">
                <a16:creationId xmlns:a16="http://schemas.microsoft.com/office/drawing/2014/main" id="{28E6C8D3-1497-66E2-EDB6-69B8A7A7922B}"/>
              </a:ext>
            </a:extLst>
          </p:cNvPr>
          <p:cNvSpPr/>
          <p:nvPr/>
        </p:nvSpPr>
        <p:spPr>
          <a:xfrm>
            <a:off x="10035100" y="556619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7" name="Rectángulo redondeado 5">
            <a:extLst>
              <a:ext uri="{FF2B5EF4-FFF2-40B4-BE49-F238E27FC236}">
                <a16:creationId xmlns:a16="http://schemas.microsoft.com/office/drawing/2014/main" id="{BAA74C64-FBD8-7C50-CE07-565939791FFC}"/>
              </a:ext>
            </a:extLst>
          </p:cNvPr>
          <p:cNvSpPr/>
          <p:nvPr/>
        </p:nvSpPr>
        <p:spPr>
          <a:xfrm>
            <a:off x="992558" y="2702520"/>
            <a:ext cx="7116926" cy="8999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código y descripción de lo que serían las áreas por las cuales se agruparía un conjunto de preguntas dentro de la distribución de la encuesta.</a:t>
            </a:r>
          </a:p>
        </p:txBody>
      </p:sp>
    </p:spTree>
    <p:extLst>
      <p:ext uri="{BB962C8B-B14F-4D97-AF65-F5344CB8AC3E}">
        <p14:creationId xmlns:p14="http://schemas.microsoft.com/office/powerpoint/2010/main" val="2305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EFF61BE9-23CE-3DD8-1961-AB306FEEBA05}"/>
              </a:ext>
            </a:extLst>
          </p:cNvPr>
          <p:cNvPicPr>
            <a:picLocks noChangeAspect="1"/>
          </p:cNvPicPr>
          <p:nvPr/>
        </p:nvPicPr>
        <p:blipFill>
          <a:blip r:embed="rId2"/>
          <a:stretch>
            <a:fillRect/>
          </a:stretch>
        </p:blipFill>
        <p:spPr>
          <a:xfrm>
            <a:off x="946680" y="1450183"/>
            <a:ext cx="10106588" cy="455508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200" dirty="0"/>
              <a:t>SVVTSSC </a:t>
            </a:r>
            <a:r>
              <a:rPr lang="es-419" sz="3000" b="1" dirty="0"/>
              <a:t>Validación de código de encuesta de evaluación de docente por alumnos</a:t>
            </a:r>
            <a:endParaRPr lang="es-CL" dirty="0"/>
          </a:p>
        </p:txBody>
      </p:sp>
      <p:sp>
        <p:nvSpPr>
          <p:cNvPr id="7" name="Rectángulo 6">
            <a:extLst>
              <a:ext uri="{FF2B5EF4-FFF2-40B4-BE49-F238E27FC236}">
                <a16:creationId xmlns:a16="http://schemas.microsoft.com/office/drawing/2014/main" id="{1F6EAC0B-692D-8F7D-12DD-FF277FCFE117}"/>
              </a:ext>
            </a:extLst>
          </p:cNvPr>
          <p:cNvSpPr/>
          <p:nvPr/>
        </p:nvSpPr>
        <p:spPr>
          <a:xfrm>
            <a:off x="946680" y="2443593"/>
            <a:ext cx="7576885" cy="29690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B128D987-7792-F648-153F-5CB9CE9F94A4}"/>
              </a:ext>
            </a:extLst>
          </p:cNvPr>
          <p:cNvSpPr/>
          <p:nvPr/>
        </p:nvSpPr>
        <p:spPr>
          <a:xfrm>
            <a:off x="10218655" y="2116744"/>
            <a:ext cx="197963" cy="1881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71965B77-8871-6B27-35AE-6814886C3D21}"/>
              </a:ext>
            </a:extLst>
          </p:cNvPr>
          <p:cNvSpPr/>
          <p:nvPr/>
        </p:nvSpPr>
        <p:spPr>
          <a:xfrm>
            <a:off x="9804640" y="1102098"/>
            <a:ext cx="2053679" cy="70678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crear un nuevo código, presionar el botón </a:t>
            </a:r>
            <a:r>
              <a:rPr lang="es-ES_tradnl" sz="1400" b="1" dirty="0"/>
              <a:t>Insertar</a:t>
            </a:r>
            <a:r>
              <a:rPr lang="es-ES_tradnl" sz="1400" dirty="0"/>
              <a:t>.</a:t>
            </a:r>
          </a:p>
        </p:txBody>
      </p:sp>
      <p:sp>
        <p:nvSpPr>
          <p:cNvPr id="10" name="Rectángulo redondeado 8">
            <a:extLst>
              <a:ext uri="{FF2B5EF4-FFF2-40B4-BE49-F238E27FC236}">
                <a16:creationId xmlns:a16="http://schemas.microsoft.com/office/drawing/2014/main" id="{653B5B85-34FC-8F7D-E9FF-B43376174DBD}"/>
              </a:ext>
            </a:extLst>
          </p:cNvPr>
          <p:cNvSpPr/>
          <p:nvPr/>
        </p:nvSpPr>
        <p:spPr>
          <a:xfrm>
            <a:off x="9609807" y="2047750"/>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1" name="Rectángulo redondeado 8">
            <a:extLst>
              <a:ext uri="{FF2B5EF4-FFF2-40B4-BE49-F238E27FC236}">
                <a16:creationId xmlns:a16="http://schemas.microsoft.com/office/drawing/2014/main" id="{ADF2BF33-E591-20E4-EFFA-7E0DA03E7E94}"/>
              </a:ext>
            </a:extLst>
          </p:cNvPr>
          <p:cNvSpPr/>
          <p:nvPr/>
        </p:nvSpPr>
        <p:spPr>
          <a:xfrm>
            <a:off x="496316" y="241341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ángulo redondeado 5">
            <a:extLst>
              <a:ext uri="{FF2B5EF4-FFF2-40B4-BE49-F238E27FC236}">
                <a16:creationId xmlns:a16="http://schemas.microsoft.com/office/drawing/2014/main" id="{C0ABB03E-260B-D0FC-BB39-2CBF9AB6BF28}"/>
              </a:ext>
            </a:extLst>
          </p:cNvPr>
          <p:cNvSpPr/>
          <p:nvPr/>
        </p:nvSpPr>
        <p:spPr>
          <a:xfrm>
            <a:off x="10566611" y="5010298"/>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13" name="Rectángulo redondeado 9">
            <a:extLst>
              <a:ext uri="{FF2B5EF4-FFF2-40B4-BE49-F238E27FC236}">
                <a16:creationId xmlns:a16="http://schemas.microsoft.com/office/drawing/2014/main" id="{B85052A8-9070-413A-BC71-F8D50614CDC0}"/>
              </a:ext>
            </a:extLst>
          </p:cNvPr>
          <p:cNvSpPr/>
          <p:nvPr/>
        </p:nvSpPr>
        <p:spPr>
          <a:xfrm>
            <a:off x="9884500" y="571534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4" name="Rectángulo redondeado 5">
            <a:extLst>
              <a:ext uri="{FF2B5EF4-FFF2-40B4-BE49-F238E27FC236}">
                <a16:creationId xmlns:a16="http://schemas.microsoft.com/office/drawing/2014/main" id="{3AF48444-F261-18E6-5B55-FB9AD0FDB5D2}"/>
              </a:ext>
            </a:extLst>
          </p:cNvPr>
          <p:cNvSpPr/>
          <p:nvPr/>
        </p:nvSpPr>
        <p:spPr>
          <a:xfrm>
            <a:off x="1432203" y="3557778"/>
            <a:ext cx="4891105" cy="57071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definir un código único de respuesta y una descripción de lo que sería la encuesta.</a:t>
            </a:r>
          </a:p>
        </p:txBody>
      </p:sp>
      <p:sp>
        <p:nvSpPr>
          <p:cNvPr id="15" name="Rectángulo 14">
            <a:extLst>
              <a:ext uri="{FF2B5EF4-FFF2-40B4-BE49-F238E27FC236}">
                <a16:creationId xmlns:a16="http://schemas.microsoft.com/office/drawing/2014/main" id="{5AC3F91B-0F4D-B93C-557A-4E8041805826}"/>
              </a:ext>
            </a:extLst>
          </p:cNvPr>
          <p:cNvSpPr/>
          <p:nvPr/>
        </p:nvSpPr>
        <p:spPr>
          <a:xfrm>
            <a:off x="10416618" y="5641182"/>
            <a:ext cx="820504"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6">
            <a:extLst>
              <a:ext uri="{FF2B5EF4-FFF2-40B4-BE49-F238E27FC236}">
                <a16:creationId xmlns:a16="http://schemas.microsoft.com/office/drawing/2014/main" id="{6FECA16C-E95E-1D87-E273-E9324C424388}"/>
              </a:ext>
            </a:extLst>
          </p:cNvPr>
          <p:cNvSpPr/>
          <p:nvPr/>
        </p:nvSpPr>
        <p:spPr>
          <a:xfrm>
            <a:off x="8613508" y="2459188"/>
            <a:ext cx="2219903" cy="29043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pic>
        <p:nvPicPr>
          <p:cNvPr id="17" name="Picture 16">
            <a:extLst>
              <a:ext uri="{FF2B5EF4-FFF2-40B4-BE49-F238E27FC236}">
                <a16:creationId xmlns:a16="http://schemas.microsoft.com/office/drawing/2014/main" id="{41A07F86-FA07-A472-7321-ED031B3E97A3}"/>
              </a:ext>
            </a:extLst>
          </p:cNvPr>
          <p:cNvPicPr>
            <a:picLocks noChangeAspect="1"/>
          </p:cNvPicPr>
          <p:nvPr/>
        </p:nvPicPr>
        <p:blipFill>
          <a:blip r:embed="rId3"/>
          <a:stretch>
            <a:fillRect/>
          </a:stretch>
        </p:blipFill>
        <p:spPr>
          <a:xfrm>
            <a:off x="9446599" y="2457554"/>
            <a:ext cx="209550" cy="228600"/>
          </a:xfrm>
          <a:prstGeom prst="rect">
            <a:avLst/>
          </a:prstGeom>
        </p:spPr>
      </p:pic>
      <p:sp>
        <p:nvSpPr>
          <p:cNvPr id="18" name="Rectángulo redondeado 5">
            <a:extLst>
              <a:ext uri="{FF2B5EF4-FFF2-40B4-BE49-F238E27FC236}">
                <a16:creationId xmlns:a16="http://schemas.microsoft.com/office/drawing/2014/main" id="{41BDE31D-630C-8172-F2F4-D023148AC5B0}"/>
              </a:ext>
            </a:extLst>
          </p:cNvPr>
          <p:cNvSpPr/>
          <p:nvPr/>
        </p:nvSpPr>
        <p:spPr>
          <a:xfrm>
            <a:off x="7547676" y="3563422"/>
            <a:ext cx="4310644" cy="938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del campo </a:t>
            </a:r>
            <a:r>
              <a:rPr lang="es-ES_tradnl" sz="1400" b="1" dirty="0"/>
              <a:t>Tipo de presentación</a:t>
            </a:r>
            <a:r>
              <a:rPr lang="es-ES_tradnl" sz="1400" dirty="0"/>
              <a:t> para definir si la encuesta tendrá una distribución de preguntas Vertical u Horizontal.</a:t>
            </a:r>
          </a:p>
        </p:txBody>
      </p:sp>
      <p:pic>
        <p:nvPicPr>
          <p:cNvPr id="19" name="Picture 18">
            <a:extLst>
              <a:ext uri="{FF2B5EF4-FFF2-40B4-BE49-F238E27FC236}">
                <a16:creationId xmlns:a16="http://schemas.microsoft.com/office/drawing/2014/main" id="{EA62DB48-B28C-C026-0BBF-F45DBC88F289}"/>
              </a:ext>
            </a:extLst>
          </p:cNvPr>
          <p:cNvPicPr>
            <a:picLocks noChangeAspect="1"/>
          </p:cNvPicPr>
          <p:nvPr/>
        </p:nvPicPr>
        <p:blipFill>
          <a:blip r:embed="rId3"/>
          <a:stretch>
            <a:fillRect/>
          </a:stretch>
        </p:blipFill>
        <p:spPr>
          <a:xfrm>
            <a:off x="9564094" y="3693788"/>
            <a:ext cx="209550" cy="228600"/>
          </a:xfrm>
          <a:prstGeom prst="rect">
            <a:avLst/>
          </a:prstGeom>
        </p:spPr>
      </p:pic>
      <p:sp>
        <p:nvSpPr>
          <p:cNvPr id="20" name="Rectángulo redondeado 9">
            <a:extLst>
              <a:ext uri="{FF2B5EF4-FFF2-40B4-BE49-F238E27FC236}">
                <a16:creationId xmlns:a16="http://schemas.microsoft.com/office/drawing/2014/main" id="{D8176158-A5A6-DC18-0B81-CB03F82D921B}"/>
              </a:ext>
            </a:extLst>
          </p:cNvPr>
          <p:cNvSpPr/>
          <p:nvPr/>
        </p:nvSpPr>
        <p:spPr>
          <a:xfrm>
            <a:off x="10946139" y="248999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850920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evaluación docente</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EVALUACIÓN DOCENTE</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1852400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9ADAB-5283-3356-D681-D459A574B7BE}"/>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80E65090-347F-3C8A-7B55-DA7F6A372F04}"/>
              </a:ext>
            </a:extLst>
          </p:cNvPr>
          <p:cNvSpPr>
            <a:spLocks noGrp="1"/>
          </p:cNvSpPr>
          <p:nvPr>
            <p:ph type="body" orient="vert" sz="quarter" idx="10"/>
          </p:nvPr>
        </p:nvSpPr>
        <p:spPr/>
        <p:txBody>
          <a:bodyPr/>
          <a:lstStyle/>
          <a:p>
            <a:r>
              <a:rPr lang="es-419" sz="1200" dirty="0"/>
              <a:t>Gestionar la evaluación docente</a:t>
            </a:r>
          </a:p>
        </p:txBody>
      </p:sp>
      <p:pic>
        <p:nvPicPr>
          <p:cNvPr id="7" name="Picture 6">
            <a:extLst>
              <a:ext uri="{FF2B5EF4-FFF2-40B4-BE49-F238E27FC236}">
                <a16:creationId xmlns:a16="http://schemas.microsoft.com/office/drawing/2014/main" id="{B59D77A7-CE67-6940-E94C-38662F58B683}"/>
              </a:ext>
            </a:extLst>
          </p:cNvPr>
          <p:cNvPicPr>
            <a:picLocks noChangeAspect="1"/>
          </p:cNvPicPr>
          <p:nvPr/>
        </p:nvPicPr>
        <p:blipFill>
          <a:blip r:embed="rId2"/>
          <a:stretch>
            <a:fillRect/>
          </a:stretch>
        </p:blipFill>
        <p:spPr>
          <a:xfrm>
            <a:off x="913951" y="2456603"/>
            <a:ext cx="10364098" cy="1944793"/>
          </a:xfrm>
          <a:prstGeom prst="rect">
            <a:avLst/>
          </a:prstGeom>
        </p:spPr>
      </p:pic>
    </p:spTree>
    <p:extLst>
      <p:ext uri="{BB962C8B-B14F-4D97-AF65-F5344CB8AC3E}">
        <p14:creationId xmlns:p14="http://schemas.microsoft.com/office/powerpoint/2010/main" val="2842962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615AF06-F153-4897-0D39-A5551F63B1E3}"/>
              </a:ext>
            </a:extLst>
          </p:cNvPr>
          <p:cNvPicPr>
            <a:picLocks noChangeAspect="1"/>
          </p:cNvPicPr>
          <p:nvPr/>
        </p:nvPicPr>
        <p:blipFill>
          <a:blip r:embed="rId2"/>
          <a:stretch>
            <a:fillRect/>
          </a:stretch>
        </p:blipFill>
        <p:spPr>
          <a:xfrm>
            <a:off x="912148" y="1440063"/>
            <a:ext cx="10070619" cy="457994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10" name="Rectángulo 9">
            <a:extLst>
              <a:ext uri="{FF2B5EF4-FFF2-40B4-BE49-F238E27FC236}">
                <a16:creationId xmlns:a16="http://schemas.microsoft.com/office/drawing/2014/main" id="{0F37B082-EE82-5C94-0AD6-BD959CA7836A}"/>
              </a:ext>
            </a:extLst>
          </p:cNvPr>
          <p:cNvSpPr/>
          <p:nvPr/>
        </p:nvSpPr>
        <p:spPr>
          <a:xfrm>
            <a:off x="926402" y="2003285"/>
            <a:ext cx="3954631" cy="49178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10">
            <a:extLst>
              <a:ext uri="{FF2B5EF4-FFF2-40B4-BE49-F238E27FC236}">
                <a16:creationId xmlns:a16="http://schemas.microsoft.com/office/drawing/2014/main" id="{67B2DEA2-29DA-0C7D-66DE-870AC264EC05}"/>
              </a:ext>
            </a:extLst>
          </p:cNvPr>
          <p:cNvSpPr/>
          <p:nvPr/>
        </p:nvSpPr>
        <p:spPr>
          <a:xfrm>
            <a:off x="10444899" y="2085403"/>
            <a:ext cx="633974"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5">
            <a:extLst>
              <a:ext uri="{FF2B5EF4-FFF2-40B4-BE49-F238E27FC236}">
                <a16:creationId xmlns:a16="http://schemas.microsoft.com/office/drawing/2014/main" id="{616EF658-4D52-C155-2047-6AA514BD7A94}"/>
              </a:ext>
            </a:extLst>
          </p:cNvPr>
          <p:cNvSpPr/>
          <p:nvPr/>
        </p:nvSpPr>
        <p:spPr>
          <a:xfrm>
            <a:off x="2219579" y="2840939"/>
            <a:ext cx="4213303" cy="88909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ingresar el código de respuesta a la cual se asignarán los posibles valores a seleccionar.</a:t>
            </a:r>
          </a:p>
        </p:txBody>
      </p:sp>
      <p:sp>
        <p:nvSpPr>
          <p:cNvPr id="13" name="Rectángulo redondeado 5">
            <a:extLst>
              <a:ext uri="{FF2B5EF4-FFF2-40B4-BE49-F238E27FC236}">
                <a16:creationId xmlns:a16="http://schemas.microsoft.com/office/drawing/2014/main" id="{2D6B9567-930F-7CBF-D6AD-7F551D80F73D}"/>
              </a:ext>
            </a:extLst>
          </p:cNvPr>
          <p:cNvSpPr/>
          <p:nvPr/>
        </p:nvSpPr>
        <p:spPr>
          <a:xfrm>
            <a:off x="9972420" y="2539073"/>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4" name="Rectángulo redondeado 8">
            <a:extLst>
              <a:ext uri="{FF2B5EF4-FFF2-40B4-BE49-F238E27FC236}">
                <a16:creationId xmlns:a16="http://schemas.microsoft.com/office/drawing/2014/main" id="{8BC803C1-22D5-0032-496D-34C749080C37}"/>
              </a:ext>
            </a:extLst>
          </p:cNvPr>
          <p:cNvSpPr/>
          <p:nvPr/>
        </p:nvSpPr>
        <p:spPr>
          <a:xfrm>
            <a:off x="4977139" y="1971407"/>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5" name="Rectángulo redondeado 8">
            <a:extLst>
              <a:ext uri="{FF2B5EF4-FFF2-40B4-BE49-F238E27FC236}">
                <a16:creationId xmlns:a16="http://schemas.microsoft.com/office/drawing/2014/main" id="{2B6AC6B0-D1D5-A215-9DFC-CC80C98D9A56}"/>
              </a:ext>
            </a:extLst>
          </p:cNvPr>
          <p:cNvSpPr/>
          <p:nvPr/>
        </p:nvSpPr>
        <p:spPr>
          <a:xfrm>
            <a:off x="9908661" y="194651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1373227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E1E758F-3BD6-AF0C-A2A5-FC63945BB4AF}"/>
              </a:ext>
            </a:extLst>
          </p:cNvPr>
          <p:cNvPicPr>
            <a:picLocks noChangeAspect="1"/>
          </p:cNvPicPr>
          <p:nvPr/>
        </p:nvPicPr>
        <p:blipFill>
          <a:blip r:embed="rId2"/>
          <a:stretch>
            <a:fillRect/>
          </a:stretch>
        </p:blipFill>
        <p:spPr>
          <a:xfrm>
            <a:off x="831348" y="1395167"/>
            <a:ext cx="10122843" cy="456768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9" name="Rectángulo redondeado 5">
            <a:extLst>
              <a:ext uri="{FF2B5EF4-FFF2-40B4-BE49-F238E27FC236}">
                <a16:creationId xmlns:a16="http://schemas.microsoft.com/office/drawing/2014/main" id="{21714A4C-CA8E-8C24-3449-A12CB97D760C}"/>
              </a:ext>
            </a:extLst>
          </p:cNvPr>
          <p:cNvSpPr/>
          <p:nvPr/>
        </p:nvSpPr>
        <p:spPr>
          <a:xfrm>
            <a:off x="2387725" y="3322026"/>
            <a:ext cx="7116926" cy="16677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esta página administrativa es donde se configura la estructura de lo que fuera la propia encuesta. En ello se han de definir las preguntas, los códigos de respuestas asociados, el peso específico de la pregunta, el peso base de la misma, el porcentaje que tributan los puntos de calidad sobre los resultados finales y el área en la cual estaría agrupada la pregunta dentro de la encuesta.</a:t>
            </a:r>
          </a:p>
        </p:txBody>
      </p:sp>
    </p:spTree>
    <p:extLst>
      <p:ext uri="{BB962C8B-B14F-4D97-AF65-F5344CB8AC3E}">
        <p14:creationId xmlns:p14="http://schemas.microsoft.com/office/powerpoint/2010/main" val="3328551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0D2C41B-3DD6-1785-90A3-7F368A6AC931}"/>
              </a:ext>
            </a:extLst>
          </p:cNvPr>
          <p:cNvPicPr>
            <a:picLocks noChangeAspect="1"/>
          </p:cNvPicPr>
          <p:nvPr/>
        </p:nvPicPr>
        <p:blipFill>
          <a:blip r:embed="rId2"/>
          <a:stretch>
            <a:fillRect/>
          </a:stretch>
        </p:blipFill>
        <p:spPr>
          <a:xfrm>
            <a:off x="989814" y="1574276"/>
            <a:ext cx="10226483" cy="459202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9" name="Rectángulo redondeado 5">
            <a:extLst>
              <a:ext uri="{FF2B5EF4-FFF2-40B4-BE49-F238E27FC236}">
                <a16:creationId xmlns:a16="http://schemas.microsoft.com/office/drawing/2014/main" id="{21714A4C-CA8E-8C24-3449-A12CB97D760C}"/>
              </a:ext>
            </a:extLst>
          </p:cNvPr>
          <p:cNvSpPr/>
          <p:nvPr/>
        </p:nvSpPr>
        <p:spPr>
          <a:xfrm>
            <a:off x="2065995" y="3757944"/>
            <a:ext cx="7116926" cy="16677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insertar un registro se solicitará definir los campos: ‘Número de secuencia’, ‘Código de Pregunta’, ‘Peso’, ‘Base del peso’ y ‘Código de área’. </a:t>
            </a:r>
            <a:br>
              <a:rPr lang="es-ES_tradnl" sz="1400" dirty="0"/>
            </a:br>
            <a:r>
              <a:rPr lang="es-ES_tradnl" sz="1400" dirty="0"/>
              <a:t>El campo ‘Número de secuencia’ básicamente representa el orden de las preguntas dentro de la encuesta, lo cual debe ser de carácter numérico y siguiendo una secuencialidad entre las mismas preguntas registradas.</a:t>
            </a:r>
          </a:p>
        </p:txBody>
      </p:sp>
      <p:sp>
        <p:nvSpPr>
          <p:cNvPr id="10" name="Rectángulo 9">
            <a:extLst>
              <a:ext uri="{FF2B5EF4-FFF2-40B4-BE49-F238E27FC236}">
                <a16:creationId xmlns:a16="http://schemas.microsoft.com/office/drawing/2014/main" id="{AFE197F2-48EF-C1AD-C0CC-86F20E51B7E9}"/>
              </a:ext>
            </a:extLst>
          </p:cNvPr>
          <p:cNvSpPr/>
          <p:nvPr/>
        </p:nvSpPr>
        <p:spPr>
          <a:xfrm>
            <a:off x="10274754" y="2432115"/>
            <a:ext cx="207852" cy="2356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21F7BDE9-055C-F75B-57AF-0DFB0A62082A}"/>
              </a:ext>
            </a:extLst>
          </p:cNvPr>
          <p:cNvSpPr/>
          <p:nvPr/>
        </p:nvSpPr>
        <p:spPr>
          <a:xfrm>
            <a:off x="10654967" y="2094868"/>
            <a:ext cx="854325" cy="44425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Insertar</a:t>
            </a:r>
          </a:p>
        </p:txBody>
      </p:sp>
      <p:sp>
        <p:nvSpPr>
          <p:cNvPr id="12" name="Rectángulo redondeado 8">
            <a:extLst>
              <a:ext uri="{FF2B5EF4-FFF2-40B4-BE49-F238E27FC236}">
                <a16:creationId xmlns:a16="http://schemas.microsoft.com/office/drawing/2014/main" id="{71331DCC-AF06-963F-29B0-1E8AC29572B5}"/>
              </a:ext>
            </a:extLst>
          </p:cNvPr>
          <p:cNvSpPr/>
          <p:nvPr/>
        </p:nvSpPr>
        <p:spPr>
          <a:xfrm>
            <a:off x="9621338" y="239001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5" name="Rectángulo 14">
            <a:extLst>
              <a:ext uri="{FF2B5EF4-FFF2-40B4-BE49-F238E27FC236}">
                <a16:creationId xmlns:a16="http://schemas.microsoft.com/office/drawing/2014/main" id="{675405E1-D876-B545-D3A5-E94C9F5D2736}"/>
              </a:ext>
            </a:extLst>
          </p:cNvPr>
          <p:cNvSpPr/>
          <p:nvPr/>
        </p:nvSpPr>
        <p:spPr>
          <a:xfrm>
            <a:off x="1861749" y="3100056"/>
            <a:ext cx="1616741" cy="20875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59920F08-88F9-A388-459A-BACF0012D2E1}"/>
              </a:ext>
            </a:extLst>
          </p:cNvPr>
          <p:cNvSpPr/>
          <p:nvPr/>
        </p:nvSpPr>
        <p:spPr>
          <a:xfrm>
            <a:off x="1245571" y="310005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1644869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28C410A-8053-4B2B-6E3C-C4B9116F914B}"/>
              </a:ext>
            </a:extLst>
          </p:cNvPr>
          <p:cNvPicPr>
            <a:picLocks noChangeAspect="1"/>
          </p:cNvPicPr>
          <p:nvPr/>
        </p:nvPicPr>
        <p:blipFill>
          <a:blip r:embed="rId2"/>
          <a:stretch>
            <a:fillRect/>
          </a:stretch>
        </p:blipFill>
        <p:spPr>
          <a:xfrm>
            <a:off x="904972" y="1624914"/>
            <a:ext cx="10098813" cy="455157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9" name="Rectángulo redondeado 5">
            <a:extLst>
              <a:ext uri="{FF2B5EF4-FFF2-40B4-BE49-F238E27FC236}">
                <a16:creationId xmlns:a16="http://schemas.microsoft.com/office/drawing/2014/main" id="{21714A4C-CA8E-8C24-3449-A12CB97D760C}"/>
              </a:ext>
            </a:extLst>
          </p:cNvPr>
          <p:cNvSpPr/>
          <p:nvPr/>
        </p:nvSpPr>
        <p:spPr>
          <a:xfrm>
            <a:off x="8101504" y="3497180"/>
            <a:ext cx="2980626" cy="17359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campo ‘Código de Pregunta’ utiliza una ventana emergente como opción para seleccionar la pregunta a incorporar en la encuesta.</a:t>
            </a:r>
          </a:p>
        </p:txBody>
      </p:sp>
      <p:sp>
        <p:nvSpPr>
          <p:cNvPr id="15" name="Rectángulo 14">
            <a:extLst>
              <a:ext uri="{FF2B5EF4-FFF2-40B4-BE49-F238E27FC236}">
                <a16:creationId xmlns:a16="http://schemas.microsoft.com/office/drawing/2014/main" id="{675405E1-D876-B545-D3A5-E94C9F5D2736}"/>
              </a:ext>
            </a:extLst>
          </p:cNvPr>
          <p:cNvSpPr/>
          <p:nvPr/>
        </p:nvSpPr>
        <p:spPr>
          <a:xfrm>
            <a:off x="1820202" y="3086441"/>
            <a:ext cx="963271" cy="2969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59920F08-88F9-A388-459A-BACF0012D2E1}"/>
              </a:ext>
            </a:extLst>
          </p:cNvPr>
          <p:cNvSpPr/>
          <p:nvPr/>
        </p:nvSpPr>
        <p:spPr>
          <a:xfrm>
            <a:off x="1164410" y="306704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Tree>
    <p:extLst>
      <p:ext uri="{BB962C8B-B14F-4D97-AF65-F5344CB8AC3E}">
        <p14:creationId xmlns:p14="http://schemas.microsoft.com/office/powerpoint/2010/main" val="1206288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E315764-33A9-4A0B-6266-30E1A55F985E}"/>
              </a:ext>
            </a:extLst>
          </p:cNvPr>
          <p:cNvPicPr>
            <a:picLocks noChangeAspect="1"/>
          </p:cNvPicPr>
          <p:nvPr/>
        </p:nvPicPr>
        <p:blipFill>
          <a:blip r:embed="rId2"/>
          <a:stretch>
            <a:fillRect/>
          </a:stretch>
        </p:blipFill>
        <p:spPr>
          <a:xfrm>
            <a:off x="923854" y="1300898"/>
            <a:ext cx="10309617" cy="465334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9" name="Rectángulo redondeado 5">
            <a:extLst>
              <a:ext uri="{FF2B5EF4-FFF2-40B4-BE49-F238E27FC236}">
                <a16:creationId xmlns:a16="http://schemas.microsoft.com/office/drawing/2014/main" id="{21714A4C-CA8E-8C24-3449-A12CB97D760C}"/>
              </a:ext>
            </a:extLst>
          </p:cNvPr>
          <p:cNvSpPr/>
          <p:nvPr/>
        </p:nvSpPr>
        <p:spPr>
          <a:xfrm>
            <a:off x="2722343" y="3224464"/>
            <a:ext cx="6750520" cy="24865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Seleccionada la pregunta se precargan los registros de la descripción y el código de respuesta que le estuviera asociado. Tras ello se requiere definir el Peso y Base del Peso con el cual se considerarían los puntos de calidad obtenidos de la respuesta recibida de dicha pregunta. Se sugiere utilizar márgenes de 0 a 100 puntos de peso, mismos que luego son reflejados de forma porcentual tras la división de PESO / BASE DEL PESO. Se debe considerar que la ambos valores reflejarán el peso porcentual en el campo ‘porcentaje’</a:t>
            </a:r>
          </a:p>
        </p:txBody>
      </p:sp>
      <p:sp>
        <p:nvSpPr>
          <p:cNvPr id="15" name="Rectángulo 14">
            <a:extLst>
              <a:ext uri="{FF2B5EF4-FFF2-40B4-BE49-F238E27FC236}">
                <a16:creationId xmlns:a16="http://schemas.microsoft.com/office/drawing/2014/main" id="{675405E1-D876-B545-D3A5-E94C9F5D2736}"/>
              </a:ext>
            </a:extLst>
          </p:cNvPr>
          <p:cNvSpPr/>
          <p:nvPr/>
        </p:nvSpPr>
        <p:spPr>
          <a:xfrm>
            <a:off x="6728634" y="2832754"/>
            <a:ext cx="2592883" cy="2969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59920F08-88F9-A388-459A-BACF0012D2E1}"/>
              </a:ext>
            </a:extLst>
          </p:cNvPr>
          <p:cNvSpPr/>
          <p:nvPr/>
        </p:nvSpPr>
        <p:spPr>
          <a:xfrm>
            <a:off x="5672246" y="2764912"/>
            <a:ext cx="330409"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Tree>
    <p:extLst>
      <p:ext uri="{BB962C8B-B14F-4D97-AF65-F5344CB8AC3E}">
        <p14:creationId xmlns:p14="http://schemas.microsoft.com/office/powerpoint/2010/main" val="756128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A411484-7F75-0A0D-E46F-B977A6DE54D1}"/>
              </a:ext>
            </a:extLst>
          </p:cNvPr>
          <p:cNvPicPr>
            <a:picLocks noChangeAspect="1"/>
          </p:cNvPicPr>
          <p:nvPr/>
        </p:nvPicPr>
        <p:blipFill>
          <a:blip r:embed="rId2"/>
          <a:stretch>
            <a:fillRect/>
          </a:stretch>
        </p:blipFill>
        <p:spPr>
          <a:xfrm>
            <a:off x="808273" y="1369030"/>
            <a:ext cx="9941711" cy="447792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SVASDEF Definición de encuesta de evaluación del docente por alumno</a:t>
            </a:r>
            <a:endParaRPr lang="es-CL" dirty="0"/>
          </a:p>
        </p:txBody>
      </p:sp>
      <p:sp>
        <p:nvSpPr>
          <p:cNvPr id="9" name="Rectángulo redondeado 5">
            <a:extLst>
              <a:ext uri="{FF2B5EF4-FFF2-40B4-BE49-F238E27FC236}">
                <a16:creationId xmlns:a16="http://schemas.microsoft.com/office/drawing/2014/main" id="{21714A4C-CA8E-8C24-3449-A12CB97D760C}"/>
              </a:ext>
            </a:extLst>
          </p:cNvPr>
          <p:cNvSpPr/>
          <p:nvPr/>
        </p:nvSpPr>
        <p:spPr>
          <a:xfrm>
            <a:off x="1304023" y="5185610"/>
            <a:ext cx="6750520" cy="98658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Finalmente, cada pregunta ingresada se debe asignar a un área específica dentro de la encuesta, misma que al desplegar el campo ‘Código de área’ se presenta una ventana emergente desde la cual seleccionaríamos el área en cuestión.</a:t>
            </a:r>
          </a:p>
        </p:txBody>
      </p:sp>
      <p:sp>
        <p:nvSpPr>
          <p:cNvPr id="15" name="Rectángulo 14">
            <a:extLst>
              <a:ext uri="{FF2B5EF4-FFF2-40B4-BE49-F238E27FC236}">
                <a16:creationId xmlns:a16="http://schemas.microsoft.com/office/drawing/2014/main" id="{675405E1-D876-B545-D3A5-E94C9F5D2736}"/>
              </a:ext>
            </a:extLst>
          </p:cNvPr>
          <p:cNvSpPr/>
          <p:nvPr/>
        </p:nvSpPr>
        <p:spPr>
          <a:xfrm>
            <a:off x="9616983" y="2852815"/>
            <a:ext cx="922421" cy="2969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59920F08-88F9-A388-459A-BACF0012D2E1}"/>
              </a:ext>
            </a:extLst>
          </p:cNvPr>
          <p:cNvSpPr/>
          <p:nvPr/>
        </p:nvSpPr>
        <p:spPr>
          <a:xfrm>
            <a:off x="9197577" y="2862384"/>
            <a:ext cx="330409"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2" name="Rectángulo 1">
            <a:extLst>
              <a:ext uri="{FF2B5EF4-FFF2-40B4-BE49-F238E27FC236}">
                <a16:creationId xmlns:a16="http://schemas.microsoft.com/office/drawing/2014/main" id="{CBDF5E3C-3AED-9F7E-BB3B-138463407A88}"/>
              </a:ext>
            </a:extLst>
          </p:cNvPr>
          <p:cNvSpPr/>
          <p:nvPr/>
        </p:nvSpPr>
        <p:spPr>
          <a:xfrm>
            <a:off x="10177530" y="5476133"/>
            <a:ext cx="644743"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5">
            <a:extLst>
              <a:ext uri="{FF2B5EF4-FFF2-40B4-BE49-F238E27FC236}">
                <a16:creationId xmlns:a16="http://schemas.microsoft.com/office/drawing/2014/main" id="{FAC750A3-4FCE-8A23-50EF-EAAAA3E98480}"/>
              </a:ext>
            </a:extLst>
          </p:cNvPr>
          <p:cNvSpPr/>
          <p:nvPr/>
        </p:nvSpPr>
        <p:spPr>
          <a:xfrm>
            <a:off x="8374786" y="5422562"/>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7" name="Rectángulo redondeado 9">
            <a:extLst>
              <a:ext uri="{FF2B5EF4-FFF2-40B4-BE49-F238E27FC236}">
                <a16:creationId xmlns:a16="http://schemas.microsoft.com/office/drawing/2014/main" id="{F9B461B0-764D-36B0-9228-82A0608AE059}"/>
              </a:ext>
            </a:extLst>
          </p:cNvPr>
          <p:cNvSpPr/>
          <p:nvPr/>
        </p:nvSpPr>
        <p:spPr>
          <a:xfrm>
            <a:off x="9717773" y="556305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Tree>
    <p:extLst>
      <p:ext uri="{BB962C8B-B14F-4D97-AF65-F5344CB8AC3E}">
        <p14:creationId xmlns:p14="http://schemas.microsoft.com/office/powerpoint/2010/main" val="3023949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8CCEA27B-654B-2A0B-7804-839A5978D42C}"/>
              </a:ext>
            </a:extLst>
          </p:cNvPr>
          <p:cNvPicPr>
            <a:picLocks noChangeAspect="1"/>
          </p:cNvPicPr>
          <p:nvPr/>
        </p:nvPicPr>
        <p:blipFill>
          <a:blip r:embed="rId2"/>
          <a:stretch>
            <a:fillRect/>
          </a:stretch>
        </p:blipFill>
        <p:spPr>
          <a:xfrm>
            <a:off x="923827" y="1574276"/>
            <a:ext cx="10193544" cy="461403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SVADTES Rango de fecha predefinido de aplicación de encuesta de TES</a:t>
            </a:r>
            <a:endParaRPr lang="es-CL" dirty="0"/>
          </a:p>
        </p:txBody>
      </p:sp>
      <p:sp>
        <p:nvSpPr>
          <p:cNvPr id="2" name="Rectángulo 1">
            <a:extLst>
              <a:ext uri="{FF2B5EF4-FFF2-40B4-BE49-F238E27FC236}">
                <a16:creationId xmlns:a16="http://schemas.microsoft.com/office/drawing/2014/main" id="{23026F67-7EFF-FCE8-B54F-D12761C7702C}"/>
              </a:ext>
            </a:extLst>
          </p:cNvPr>
          <p:cNvSpPr/>
          <p:nvPr/>
        </p:nvSpPr>
        <p:spPr>
          <a:xfrm>
            <a:off x="1301877" y="2159603"/>
            <a:ext cx="7919013" cy="31128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38C80C69-DF67-4755-26C8-1EF1CACAD975}"/>
              </a:ext>
            </a:extLst>
          </p:cNvPr>
          <p:cNvSpPr/>
          <p:nvPr/>
        </p:nvSpPr>
        <p:spPr>
          <a:xfrm>
            <a:off x="10558021" y="2193119"/>
            <a:ext cx="710152" cy="31128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3B0536E6-3A3E-D350-57C4-C1E866C90623}"/>
              </a:ext>
            </a:extLst>
          </p:cNvPr>
          <p:cNvSpPr/>
          <p:nvPr/>
        </p:nvSpPr>
        <p:spPr>
          <a:xfrm>
            <a:off x="3491746" y="2748661"/>
            <a:ext cx="4908883" cy="170311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ingresar el periodo académico y la parte de periodo a la cual se configurará el rango de fechas para contestar la encuesta, entendiendo que se verán afectados todos los NRC que pertenezcan a dicha parte de periodo.</a:t>
            </a:r>
          </a:p>
        </p:txBody>
      </p:sp>
      <p:sp>
        <p:nvSpPr>
          <p:cNvPr id="9" name="Rectángulo redondeado 5">
            <a:extLst>
              <a:ext uri="{FF2B5EF4-FFF2-40B4-BE49-F238E27FC236}">
                <a16:creationId xmlns:a16="http://schemas.microsoft.com/office/drawing/2014/main" id="{3C58B2C3-E125-3F6A-A640-C05F69AFE5E1}"/>
              </a:ext>
            </a:extLst>
          </p:cNvPr>
          <p:cNvSpPr/>
          <p:nvPr/>
        </p:nvSpPr>
        <p:spPr>
          <a:xfrm>
            <a:off x="9471350" y="2611005"/>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0" name="Rectángulo redondeado 8">
            <a:extLst>
              <a:ext uri="{FF2B5EF4-FFF2-40B4-BE49-F238E27FC236}">
                <a16:creationId xmlns:a16="http://schemas.microsoft.com/office/drawing/2014/main" id="{66C5AAA0-9A64-EA29-235E-E51B444859D4}"/>
              </a:ext>
            </a:extLst>
          </p:cNvPr>
          <p:cNvSpPr/>
          <p:nvPr/>
        </p:nvSpPr>
        <p:spPr>
          <a:xfrm>
            <a:off x="710129" y="219311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1" name="Rectángulo redondeado 8">
            <a:extLst>
              <a:ext uri="{FF2B5EF4-FFF2-40B4-BE49-F238E27FC236}">
                <a16:creationId xmlns:a16="http://schemas.microsoft.com/office/drawing/2014/main" id="{6EE590A2-07C1-DBFE-2348-B0DA8FDAADDF}"/>
              </a:ext>
            </a:extLst>
          </p:cNvPr>
          <p:cNvSpPr/>
          <p:nvPr/>
        </p:nvSpPr>
        <p:spPr>
          <a:xfrm>
            <a:off x="9536832" y="219311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2917578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F2978E51-512C-5CB7-C125-19E975515D9F}"/>
              </a:ext>
            </a:extLst>
          </p:cNvPr>
          <p:cNvPicPr>
            <a:picLocks noChangeAspect="1"/>
          </p:cNvPicPr>
          <p:nvPr/>
        </p:nvPicPr>
        <p:blipFill>
          <a:blip r:embed="rId2"/>
          <a:stretch>
            <a:fillRect/>
          </a:stretch>
        </p:blipFill>
        <p:spPr>
          <a:xfrm>
            <a:off x="895546" y="1583703"/>
            <a:ext cx="10223185" cy="457086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SVADTES Rango de fecha predefinido de aplicación de encuesta de TES</a:t>
            </a:r>
            <a:endParaRPr lang="es-CL" dirty="0"/>
          </a:p>
        </p:txBody>
      </p:sp>
      <p:sp>
        <p:nvSpPr>
          <p:cNvPr id="2" name="Rectángulo 1">
            <a:extLst>
              <a:ext uri="{FF2B5EF4-FFF2-40B4-BE49-F238E27FC236}">
                <a16:creationId xmlns:a16="http://schemas.microsoft.com/office/drawing/2014/main" id="{76669E37-412D-005F-D5D8-A79D8BD5AF86}"/>
              </a:ext>
            </a:extLst>
          </p:cNvPr>
          <p:cNvSpPr/>
          <p:nvPr/>
        </p:nvSpPr>
        <p:spPr>
          <a:xfrm>
            <a:off x="1073269" y="2622823"/>
            <a:ext cx="7748337" cy="35715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B5D0FA14-7312-792E-5AC5-F969604E79D4}"/>
              </a:ext>
            </a:extLst>
          </p:cNvPr>
          <p:cNvSpPr/>
          <p:nvPr/>
        </p:nvSpPr>
        <p:spPr>
          <a:xfrm>
            <a:off x="2954419" y="3230689"/>
            <a:ext cx="4908883" cy="170311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ingresar en la página administrativa, se deben definir la fecha de inicio y la fecha de fin de lo que fuera el rango de tiempo en el cual las encuestas podrían ser respondidas. Se debe considerar que esta configuración aplica para todos los NRC de esa parte de periodo.</a:t>
            </a:r>
          </a:p>
        </p:txBody>
      </p:sp>
      <p:sp>
        <p:nvSpPr>
          <p:cNvPr id="8" name="Rectángulo redondeado 8">
            <a:extLst>
              <a:ext uri="{FF2B5EF4-FFF2-40B4-BE49-F238E27FC236}">
                <a16:creationId xmlns:a16="http://schemas.microsoft.com/office/drawing/2014/main" id="{CEFE75D6-4754-2307-AA04-87BCBF5786AD}"/>
              </a:ext>
            </a:extLst>
          </p:cNvPr>
          <p:cNvSpPr/>
          <p:nvPr/>
        </p:nvSpPr>
        <p:spPr>
          <a:xfrm>
            <a:off x="572363" y="263917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9" name="Rectángulo 8">
            <a:extLst>
              <a:ext uri="{FF2B5EF4-FFF2-40B4-BE49-F238E27FC236}">
                <a16:creationId xmlns:a16="http://schemas.microsoft.com/office/drawing/2014/main" id="{19CB181D-F238-0104-C462-05FB9C08B558}"/>
              </a:ext>
            </a:extLst>
          </p:cNvPr>
          <p:cNvSpPr/>
          <p:nvPr/>
        </p:nvSpPr>
        <p:spPr>
          <a:xfrm>
            <a:off x="10475950" y="5784698"/>
            <a:ext cx="820504"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CC66B142-734A-5FA8-F0FB-6EE5385CEAAF}"/>
              </a:ext>
            </a:extLst>
          </p:cNvPr>
          <p:cNvSpPr/>
          <p:nvPr/>
        </p:nvSpPr>
        <p:spPr>
          <a:xfrm>
            <a:off x="10497202" y="5108729"/>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11" name="Rectángulo redondeado 9">
            <a:extLst>
              <a:ext uri="{FF2B5EF4-FFF2-40B4-BE49-F238E27FC236}">
                <a16:creationId xmlns:a16="http://schemas.microsoft.com/office/drawing/2014/main" id="{CD1DF15F-41C8-6C5E-2754-AACB6DD231CA}"/>
              </a:ext>
            </a:extLst>
          </p:cNvPr>
          <p:cNvSpPr/>
          <p:nvPr/>
        </p:nvSpPr>
        <p:spPr>
          <a:xfrm>
            <a:off x="9765174" y="5867759"/>
            <a:ext cx="360421" cy="304440"/>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76607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0C5AE48B-047D-9112-8050-C70155C569F5}"/>
              </a:ext>
            </a:extLst>
          </p:cNvPr>
          <p:cNvPicPr>
            <a:picLocks noChangeAspect="1"/>
          </p:cNvPicPr>
          <p:nvPr/>
        </p:nvPicPr>
        <p:blipFill>
          <a:blip r:embed="rId2"/>
          <a:stretch>
            <a:fillRect/>
          </a:stretch>
        </p:blipFill>
        <p:spPr>
          <a:xfrm>
            <a:off x="989814" y="1452785"/>
            <a:ext cx="10463753" cy="47343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SVACTES Tipo de asignación de TESS por horario de curso</a:t>
            </a:r>
            <a:endParaRPr lang="es-CL" dirty="0"/>
          </a:p>
        </p:txBody>
      </p:sp>
      <p:sp>
        <p:nvSpPr>
          <p:cNvPr id="2" name="Rectángulo 1">
            <a:extLst>
              <a:ext uri="{FF2B5EF4-FFF2-40B4-BE49-F238E27FC236}">
                <a16:creationId xmlns:a16="http://schemas.microsoft.com/office/drawing/2014/main" id="{4CA6A3F7-5159-B4D9-BF6D-D72E6437540B}"/>
              </a:ext>
            </a:extLst>
          </p:cNvPr>
          <p:cNvSpPr/>
          <p:nvPr/>
        </p:nvSpPr>
        <p:spPr>
          <a:xfrm>
            <a:off x="1484122" y="2051676"/>
            <a:ext cx="3516673"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626BC135-94CA-8157-3EA2-06ED7A3AD86E}"/>
              </a:ext>
            </a:extLst>
          </p:cNvPr>
          <p:cNvSpPr/>
          <p:nvPr/>
        </p:nvSpPr>
        <p:spPr>
          <a:xfrm>
            <a:off x="11082130" y="2092926"/>
            <a:ext cx="371438"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FACF53CB-ADD0-A8FE-38DE-E3518BF3B163}"/>
              </a:ext>
            </a:extLst>
          </p:cNvPr>
          <p:cNvSpPr/>
          <p:nvPr/>
        </p:nvSpPr>
        <p:spPr>
          <a:xfrm>
            <a:off x="10526348" y="2741584"/>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9" name="Rectángulo redondeado 8">
            <a:extLst>
              <a:ext uri="{FF2B5EF4-FFF2-40B4-BE49-F238E27FC236}">
                <a16:creationId xmlns:a16="http://schemas.microsoft.com/office/drawing/2014/main" id="{41F60015-0977-C4A8-683F-E4A4D33B823D}"/>
              </a:ext>
            </a:extLst>
          </p:cNvPr>
          <p:cNvSpPr/>
          <p:nvPr/>
        </p:nvSpPr>
        <p:spPr>
          <a:xfrm>
            <a:off x="989814" y="2002742"/>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0" name="Rectángulo redondeado 8">
            <a:extLst>
              <a:ext uri="{FF2B5EF4-FFF2-40B4-BE49-F238E27FC236}">
                <a16:creationId xmlns:a16="http://schemas.microsoft.com/office/drawing/2014/main" id="{0E7AC9A1-4334-589F-9E62-0ECDFFCC5A06}"/>
              </a:ext>
            </a:extLst>
          </p:cNvPr>
          <p:cNvSpPr/>
          <p:nvPr/>
        </p:nvSpPr>
        <p:spPr>
          <a:xfrm>
            <a:off x="9992650" y="2092927"/>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1" name="Rectángulo redondeado 5">
            <a:extLst>
              <a:ext uri="{FF2B5EF4-FFF2-40B4-BE49-F238E27FC236}">
                <a16:creationId xmlns:a16="http://schemas.microsoft.com/office/drawing/2014/main" id="{53C51D64-85DA-F707-1890-F3798DA18775}"/>
              </a:ext>
            </a:extLst>
          </p:cNvPr>
          <p:cNvSpPr/>
          <p:nvPr/>
        </p:nvSpPr>
        <p:spPr>
          <a:xfrm>
            <a:off x="1587144" y="3155820"/>
            <a:ext cx="3847469"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el código de </a:t>
            </a:r>
            <a:r>
              <a:rPr lang="es-ES_tradnl" sz="1400" b="1" dirty="0"/>
              <a:t>Materia</a:t>
            </a:r>
            <a:r>
              <a:rPr lang="es-ES_tradnl" sz="1400" dirty="0"/>
              <a:t> a la cual se aplicaría la encuesta.</a:t>
            </a:r>
          </a:p>
        </p:txBody>
      </p:sp>
      <p:sp>
        <p:nvSpPr>
          <p:cNvPr id="12" name="Rectángulo 1">
            <a:extLst>
              <a:ext uri="{FF2B5EF4-FFF2-40B4-BE49-F238E27FC236}">
                <a16:creationId xmlns:a16="http://schemas.microsoft.com/office/drawing/2014/main" id="{2FDFB925-E229-2347-0C7E-55363B7ABA4F}"/>
              </a:ext>
            </a:extLst>
          </p:cNvPr>
          <p:cNvSpPr/>
          <p:nvPr/>
        </p:nvSpPr>
        <p:spPr>
          <a:xfrm>
            <a:off x="1484123" y="2351152"/>
            <a:ext cx="2276270" cy="24812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1">
            <a:extLst>
              <a:ext uri="{FF2B5EF4-FFF2-40B4-BE49-F238E27FC236}">
                <a16:creationId xmlns:a16="http://schemas.microsoft.com/office/drawing/2014/main" id="{2E167591-537B-BC18-B166-ED07409FDEB7}"/>
              </a:ext>
            </a:extLst>
          </p:cNvPr>
          <p:cNvSpPr/>
          <p:nvPr/>
        </p:nvSpPr>
        <p:spPr>
          <a:xfrm>
            <a:off x="6155409" y="2122570"/>
            <a:ext cx="2276270" cy="24812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0C07633F-CA6B-4174-EE62-C23378F6FD4D}"/>
              </a:ext>
            </a:extLst>
          </p:cNvPr>
          <p:cNvSpPr/>
          <p:nvPr/>
        </p:nvSpPr>
        <p:spPr>
          <a:xfrm>
            <a:off x="5687802" y="205167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5" name="Rectángulo redondeado 8">
            <a:extLst>
              <a:ext uri="{FF2B5EF4-FFF2-40B4-BE49-F238E27FC236}">
                <a16:creationId xmlns:a16="http://schemas.microsoft.com/office/drawing/2014/main" id="{9FA8C981-BC1E-24AB-D3E8-DA1199088C55}"/>
              </a:ext>
            </a:extLst>
          </p:cNvPr>
          <p:cNvSpPr/>
          <p:nvPr/>
        </p:nvSpPr>
        <p:spPr>
          <a:xfrm>
            <a:off x="989814" y="2329447"/>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6" name="Rectángulo redondeado 5">
            <a:extLst>
              <a:ext uri="{FF2B5EF4-FFF2-40B4-BE49-F238E27FC236}">
                <a16:creationId xmlns:a16="http://schemas.microsoft.com/office/drawing/2014/main" id="{880D170B-83DE-22A0-B119-5BE338E06B95}"/>
              </a:ext>
            </a:extLst>
          </p:cNvPr>
          <p:cNvSpPr/>
          <p:nvPr/>
        </p:nvSpPr>
        <p:spPr>
          <a:xfrm>
            <a:off x="1484123" y="3952516"/>
            <a:ext cx="2848034" cy="62434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el período desde el cual se aplicaría la encuesta.</a:t>
            </a:r>
          </a:p>
        </p:txBody>
      </p:sp>
      <p:sp>
        <p:nvSpPr>
          <p:cNvPr id="17" name="Rectángulo redondeado 5">
            <a:extLst>
              <a:ext uri="{FF2B5EF4-FFF2-40B4-BE49-F238E27FC236}">
                <a16:creationId xmlns:a16="http://schemas.microsoft.com/office/drawing/2014/main" id="{8144167F-CB1E-AEC4-0EA8-63D331ADCA8D}"/>
              </a:ext>
            </a:extLst>
          </p:cNvPr>
          <p:cNvSpPr/>
          <p:nvPr/>
        </p:nvSpPr>
        <p:spPr>
          <a:xfrm>
            <a:off x="6031943" y="2812641"/>
            <a:ext cx="2647625" cy="6863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ingresa el código de </a:t>
            </a:r>
            <a:r>
              <a:rPr lang="es-ES_tradnl" sz="1400" b="1" dirty="0"/>
              <a:t>Curso</a:t>
            </a:r>
            <a:r>
              <a:rPr lang="es-ES_tradnl" sz="1400" dirty="0"/>
              <a:t> al cual se aplicaría la encuesta.</a:t>
            </a:r>
          </a:p>
        </p:txBody>
      </p:sp>
    </p:spTree>
    <p:extLst>
      <p:ext uri="{BB962C8B-B14F-4D97-AF65-F5344CB8AC3E}">
        <p14:creationId xmlns:p14="http://schemas.microsoft.com/office/powerpoint/2010/main" val="3221607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DA73EC54-A643-33C3-420B-8004C96C83B3}"/>
              </a:ext>
            </a:extLst>
          </p:cNvPr>
          <p:cNvPicPr>
            <a:picLocks noChangeAspect="1"/>
          </p:cNvPicPr>
          <p:nvPr/>
        </p:nvPicPr>
        <p:blipFill>
          <a:blip r:embed="rId2"/>
          <a:stretch>
            <a:fillRect/>
          </a:stretch>
        </p:blipFill>
        <p:spPr>
          <a:xfrm>
            <a:off x="810247" y="1389344"/>
            <a:ext cx="10679296" cy="478285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SVACTES Tipo de asignación de TESS por horario de curso</a:t>
            </a:r>
            <a:endParaRPr lang="es-CL" dirty="0"/>
          </a:p>
        </p:txBody>
      </p:sp>
      <p:sp>
        <p:nvSpPr>
          <p:cNvPr id="12" name="Rectángulo 11">
            <a:extLst>
              <a:ext uri="{FF2B5EF4-FFF2-40B4-BE49-F238E27FC236}">
                <a16:creationId xmlns:a16="http://schemas.microsoft.com/office/drawing/2014/main" id="{C13A1343-0CE9-22C6-AF05-84F5ADDCD822}"/>
              </a:ext>
            </a:extLst>
          </p:cNvPr>
          <p:cNvSpPr/>
          <p:nvPr/>
        </p:nvSpPr>
        <p:spPr>
          <a:xfrm>
            <a:off x="810247" y="2712682"/>
            <a:ext cx="3152275" cy="50963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5">
            <a:extLst>
              <a:ext uri="{FF2B5EF4-FFF2-40B4-BE49-F238E27FC236}">
                <a16:creationId xmlns:a16="http://schemas.microsoft.com/office/drawing/2014/main" id="{8E1E0247-4D84-8D23-E6BE-1DEED17118CB}"/>
              </a:ext>
            </a:extLst>
          </p:cNvPr>
          <p:cNvSpPr/>
          <p:nvPr/>
        </p:nvSpPr>
        <p:spPr>
          <a:xfrm>
            <a:off x="1416219" y="3703472"/>
            <a:ext cx="3183077" cy="150396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el campo </a:t>
            </a:r>
            <a:r>
              <a:rPr lang="es-ES_tradnl" sz="1400" b="1" dirty="0"/>
              <a:t>Código de horario</a:t>
            </a:r>
            <a:r>
              <a:rPr lang="es-ES_tradnl" sz="1400" dirty="0"/>
              <a:t> se requiere definir el Tipo de Horario a los cuales pertenecerían los NRC de la asignatura, mismos a los cuales se le asignaría una encuesta en particular.</a:t>
            </a:r>
          </a:p>
        </p:txBody>
      </p:sp>
      <p:sp>
        <p:nvSpPr>
          <p:cNvPr id="14" name="Rectángulo redondeado 8">
            <a:extLst>
              <a:ext uri="{FF2B5EF4-FFF2-40B4-BE49-F238E27FC236}">
                <a16:creationId xmlns:a16="http://schemas.microsoft.com/office/drawing/2014/main" id="{50DEA522-D5E0-7496-0C01-6C9D3A73B3EE}"/>
              </a:ext>
            </a:extLst>
          </p:cNvPr>
          <p:cNvSpPr/>
          <p:nvPr/>
        </p:nvSpPr>
        <p:spPr>
          <a:xfrm>
            <a:off x="1491915" y="329011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5" name="Rectángulo 14">
            <a:extLst>
              <a:ext uri="{FF2B5EF4-FFF2-40B4-BE49-F238E27FC236}">
                <a16:creationId xmlns:a16="http://schemas.microsoft.com/office/drawing/2014/main" id="{DD247096-CC68-4378-39DD-1F4C3453D6B1}"/>
              </a:ext>
            </a:extLst>
          </p:cNvPr>
          <p:cNvSpPr/>
          <p:nvPr/>
        </p:nvSpPr>
        <p:spPr>
          <a:xfrm>
            <a:off x="5084850" y="2712682"/>
            <a:ext cx="3617496" cy="5717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15">
            <a:extLst>
              <a:ext uri="{FF2B5EF4-FFF2-40B4-BE49-F238E27FC236}">
                <a16:creationId xmlns:a16="http://schemas.microsoft.com/office/drawing/2014/main" id="{9482CBD7-13B5-A77A-A26E-B8A905C84857}"/>
              </a:ext>
            </a:extLst>
          </p:cNvPr>
          <p:cNvSpPr/>
          <p:nvPr/>
        </p:nvSpPr>
        <p:spPr>
          <a:xfrm>
            <a:off x="9198555" y="2718925"/>
            <a:ext cx="1343527" cy="5717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7" name="Rectángulo redondeado 8">
            <a:extLst>
              <a:ext uri="{FF2B5EF4-FFF2-40B4-BE49-F238E27FC236}">
                <a16:creationId xmlns:a16="http://schemas.microsoft.com/office/drawing/2014/main" id="{C791CE32-1EEA-9C33-7851-E8D81541AA68}"/>
              </a:ext>
            </a:extLst>
          </p:cNvPr>
          <p:cNvSpPr/>
          <p:nvPr/>
        </p:nvSpPr>
        <p:spPr>
          <a:xfrm>
            <a:off x="5531808" y="330203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8" name="Rectángulo redondeado 8">
            <a:extLst>
              <a:ext uri="{FF2B5EF4-FFF2-40B4-BE49-F238E27FC236}">
                <a16:creationId xmlns:a16="http://schemas.microsoft.com/office/drawing/2014/main" id="{01165EFA-BD25-621E-B665-ACCAB55B5D83}"/>
              </a:ext>
            </a:extLst>
          </p:cNvPr>
          <p:cNvSpPr/>
          <p:nvPr/>
        </p:nvSpPr>
        <p:spPr>
          <a:xfrm>
            <a:off x="9571702" y="329011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9" name="Rectángulo 18">
            <a:extLst>
              <a:ext uri="{FF2B5EF4-FFF2-40B4-BE49-F238E27FC236}">
                <a16:creationId xmlns:a16="http://schemas.microsoft.com/office/drawing/2014/main" id="{46850932-3C3B-AF11-CC94-7743863A2BC0}"/>
              </a:ext>
            </a:extLst>
          </p:cNvPr>
          <p:cNvSpPr/>
          <p:nvPr/>
        </p:nvSpPr>
        <p:spPr>
          <a:xfrm>
            <a:off x="10878013" y="5808376"/>
            <a:ext cx="812176" cy="39018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0" name="Rectángulo redondeado 5">
            <a:extLst>
              <a:ext uri="{FF2B5EF4-FFF2-40B4-BE49-F238E27FC236}">
                <a16:creationId xmlns:a16="http://schemas.microsoft.com/office/drawing/2014/main" id="{9209C1E8-7063-899F-E70F-ABA6AAE56924}"/>
              </a:ext>
            </a:extLst>
          </p:cNvPr>
          <p:cNvSpPr/>
          <p:nvPr/>
        </p:nvSpPr>
        <p:spPr>
          <a:xfrm>
            <a:off x="10741106" y="5269332"/>
            <a:ext cx="1153200" cy="5126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
        <p:nvSpPr>
          <p:cNvPr id="21" name="Rectángulo redondeado 9">
            <a:extLst>
              <a:ext uri="{FF2B5EF4-FFF2-40B4-BE49-F238E27FC236}">
                <a16:creationId xmlns:a16="http://schemas.microsoft.com/office/drawing/2014/main" id="{6CDB96FD-A059-CEBE-CDA6-8B22C188AF07}"/>
              </a:ext>
            </a:extLst>
          </p:cNvPr>
          <p:cNvSpPr/>
          <p:nvPr/>
        </p:nvSpPr>
        <p:spPr>
          <a:xfrm>
            <a:off x="10181661" y="5851248"/>
            <a:ext cx="360421" cy="304440"/>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2" name="Rectángulo redondeado 5">
            <a:extLst>
              <a:ext uri="{FF2B5EF4-FFF2-40B4-BE49-F238E27FC236}">
                <a16:creationId xmlns:a16="http://schemas.microsoft.com/office/drawing/2014/main" id="{BF322EAA-602C-0D29-51EF-B36B05D8C3AB}"/>
              </a:ext>
            </a:extLst>
          </p:cNvPr>
          <p:cNvSpPr/>
          <p:nvPr/>
        </p:nvSpPr>
        <p:spPr>
          <a:xfrm>
            <a:off x="5506052" y="3641267"/>
            <a:ext cx="3629927" cy="8707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el campo </a:t>
            </a:r>
            <a:r>
              <a:rPr lang="es-ES_tradnl" sz="1400" b="1" dirty="0"/>
              <a:t>Código TESC</a:t>
            </a:r>
            <a:r>
              <a:rPr lang="es-ES_tradnl" sz="1400" dirty="0"/>
              <a:t> se ha de definir el código de la encuesta que sería aplicada.</a:t>
            </a:r>
          </a:p>
        </p:txBody>
      </p:sp>
      <p:sp>
        <p:nvSpPr>
          <p:cNvPr id="7" name="Rectángulo redondeado 5">
            <a:extLst>
              <a:ext uri="{FF2B5EF4-FFF2-40B4-BE49-F238E27FC236}">
                <a16:creationId xmlns:a16="http://schemas.microsoft.com/office/drawing/2014/main" id="{2BBC856D-F244-075E-07BE-C6335C722B9C}"/>
              </a:ext>
            </a:extLst>
          </p:cNvPr>
          <p:cNvSpPr/>
          <p:nvPr/>
        </p:nvSpPr>
        <p:spPr>
          <a:xfrm>
            <a:off x="9446596" y="3641267"/>
            <a:ext cx="2360236" cy="14920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La casilla ‘Indicador de anónima’ permite que las encuestas puedan ser respondida de forma anónima por parte de los estudiantes.</a:t>
            </a:r>
          </a:p>
        </p:txBody>
      </p:sp>
    </p:spTree>
    <p:extLst>
      <p:ext uri="{BB962C8B-B14F-4D97-AF65-F5344CB8AC3E}">
        <p14:creationId xmlns:p14="http://schemas.microsoft.com/office/powerpoint/2010/main" val="2802533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73D6B61A-6289-643E-5889-9E667D47FA4F}"/>
              </a:ext>
            </a:extLst>
          </p:cNvPr>
          <p:cNvPicPr>
            <a:picLocks noChangeAspect="1"/>
          </p:cNvPicPr>
          <p:nvPr/>
        </p:nvPicPr>
        <p:blipFill>
          <a:blip r:embed="rId2"/>
          <a:stretch>
            <a:fillRect/>
          </a:stretch>
        </p:blipFill>
        <p:spPr>
          <a:xfrm>
            <a:off x="810246" y="1404213"/>
            <a:ext cx="10595265" cy="476814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SVPTESS </a:t>
            </a:r>
            <a:r>
              <a:rPr lang="es-419" sz="3000" b="1" dirty="0"/>
              <a:t>Asignación secciones de TESS</a:t>
            </a:r>
            <a:endParaRPr lang="es-CL" dirty="0"/>
          </a:p>
        </p:txBody>
      </p:sp>
      <p:sp>
        <p:nvSpPr>
          <p:cNvPr id="2" name="Rectángulo 1">
            <a:extLst>
              <a:ext uri="{FF2B5EF4-FFF2-40B4-BE49-F238E27FC236}">
                <a16:creationId xmlns:a16="http://schemas.microsoft.com/office/drawing/2014/main" id="{F45F944D-2B7A-31C6-FCC0-F708D40C4F68}"/>
              </a:ext>
            </a:extLst>
          </p:cNvPr>
          <p:cNvSpPr/>
          <p:nvPr/>
        </p:nvSpPr>
        <p:spPr>
          <a:xfrm>
            <a:off x="1209530" y="2091985"/>
            <a:ext cx="2943729"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95AA87DC-B879-3EB1-3848-AC2B8E80FD52}"/>
              </a:ext>
            </a:extLst>
          </p:cNvPr>
          <p:cNvSpPr/>
          <p:nvPr/>
        </p:nvSpPr>
        <p:spPr>
          <a:xfrm>
            <a:off x="10869104" y="2091984"/>
            <a:ext cx="659877"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92DFEA16-AF3D-A2F5-39A8-4372C4EEBAF6}"/>
              </a:ext>
            </a:extLst>
          </p:cNvPr>
          <p:cNvSpPr/>
          <p:nvPr/>
        </p:nvSpPr>
        <p:spPr>
          <a:xfrm>
            <a:off x="10312630" y="2584785"/>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9" name="Rectángulo redondeado 8">
            <a:extLst>
              <a:ext uri="{FF2B5EF4-FFF2-40B4-BE49-F238E27FC236}">
                <a16:creationId xmlns:a16="http://schemas.microsoft.com/office/drawing/2014/main" id="{CA3D9221-8FAC-DC3C-32F0-5A3D74AF450B}"/>
              </a:ext>
            </a:extLst>
          </p:cNvPr>
          <p:cNvSpPr/>
          <p:nvPr/>
        </p:nvSpPr>
        <p:spPr>
          <a:xfrm>
            <a:off x="810246" y="209198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0" name="Rectángulo redondeado 8">
            <a:extLst>
              <a:ext uri="{FF2B5EF4-FFF2-40B4-BE49-F238E27FC236}">
                <a16:creationId xmlns:a16="http://schemas.microsoft.com/office/drawing/2014/main" id="{20651020-4252-4EEC-C4F8-561FE341D324}"/>
              </a:ext>
            </a:extLst>
          </p:cNvPr>
          <p:cNvSpPr/>
          <p:nvPr/>
        </p:nvSpPr>
        <p:spPr>
          <a:xfrm>
            <a:off x="10385213" y="2091984"/>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5">
            <a:extLst>
              <a:ext uri="{FF2B5EF4-FFF2-40B4-BE49-F238E27FC236}">
                <a16:creationId xmlns:a16="http://schemas.microsoft.com/office/drawing/2014/main" id="{BF0ACB15-032B-484C-F324-8F08B6E27755}"/>
              </a:ext>
            </a:extLst>
          </p:cNvPr>
          <p:cNvSpPr/>
          <p:nvPr/>
        </p:nvSpPr>
        <p:spPr>
          <a:xfrm>
            <a:off x="3427626" y="3072063"/>
            <a:ext cx="5796585" cy="10191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asignar las encuestas configuradas en</a:t>
            </a:r>
            <a:r>
              <a:rPr lang="es-419" sz="1400" b="1" dirty="0"/>
              <a:t> SVACTES </a:t>
            </a:r>
            <a:r>
              <a:rPr lang="es-419" sz="1400" dirty="0"/>
              <a:t>a los distintos </a:t>
            </a:r>
            <a:r>
              <a:rPr lang="es-ES_tradnl" sz="1400" dirty="0"/>
              <a:t>NRC programados, se necesita ejecutar el proceso SVPTESS el cual se puede ingresar directamente utilizando el buscador principal o bien ingresando a GJAPCTL y luego seleccionando el proceso SVPTESS.</a:t>
            </a:r>
          </a:p>
        </p:txBody>
      </p:sp>
    </p:spTree>
    <p:extLst>
      <p:ext uri="{BB962C8B-B14F-4D97-AF65-F5344CB8AC3E}">
        <p14:creationId xmlns:p14="http://schemas.microsoft.com/office/powerpoint/2010/main" val="2350754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7C16740-0676-96BD-AE76-1385EE2E48AA}"/>
              </a:ext>
            </a:extLst>
          </p:cNvPr>
          <p:cNvPicPr>
            <a:picLocks noChangeAspect="1"/>
          </p:cNvPicPr>
          <p:nvPr/>
        </p:nvPicPr>
        <p:blipFill>
          <a:blip r:embed="rId2"/>
          <a:stretch>
            <a:fillRect/>
          </a:stretch>
        </p:blipFill>
        <p:spPr>
          <a:xfrm>
            <a:off x="914400" y="1210164"/>
            <a:ext cx="9784423" cy="440196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SVPTESS </a:t>
            </a:r>
            <a:r>
              <a:rPr lang="es-419" sz="3000" b="1" dirty="0"/>
              <a:t>Asignación secciones de TESS</a:t>
            </a:r>
            <a:endParaRPr lang="es-CL" dirty="0"/>
          </a:p>
        </p:txBody>
      </p:sp>
      <p:sp>
        <p:nvSpPr>
          <p:cNvPr id="12" name="Rectángulo 11">
            <a:extLst>
              <a:ext uri="{FF2B5EF4-FFF2-40B4-BE49-F238E27FC236}">
                <a16:creationId xmlns:a16="http://schemas.microsoft.com/office/drawing/2014/main" id="{7BE1501D-D3B0-FD55-927E-F7DEB65FCFD4}"/>
              </a:ext>
            </a:extLst>
          </p:cNvPr>
          <p:cNvSpPr/>
          <p:nvPr/>
        </p:nvSpPr>
        <p:spPr>
          <a:xfrm>
            <a:off x="942211" y="1825678"/>
            <a:ext cx="2027232" cy="29901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9">
            <a:extLst>
              <a:ext uri="{FF2B5EF4-FFF2-40B4-BE49-F238E27FC236}">
                <a16:creationId xmlns:a16="http://schemas.microsoft.com/office/drawing/2014/main" id="{26024F88-C17F-5494-B8D2-C0DBF5966BCD}"/>
              </a:ext>
            </a:extLst>
          </p:cNvPr>
          <p:cNvSpPr/>
          <p:nvPr/>
        </p:nvSpPr>
        <p:spPr>
          <a:xfrm>
            <a:off x="457201" y="1865834"/>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5" name="Rectángulo redondeado 9">
            <a:extLst>
              <a:ext uri="{FF2B5EF4-FFF2-40B4-BE49-F238E27FC236}">
                <a16:creationId xmlns:a16="http://schemas.microsoft.com/office/drawing/2014/main" id="{32080108-0D87-D4DD-4177-93F90ADAA68F}"/>
              </a:ext>
            </a:extLst>
          </p:cNvPr>
          <p:cNvSpPr/>
          <p:nvPr/>
        </p:nvSpPr>
        <p:spPr>
          <a:xfrm>
            <a:off x="1092007" y="301413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6" name="Rectángulo 15">
            <a:extLst>
              <a:ext uri="{FF2B5EF4-FFF2-40B4-BE49-F238E27FC236}">
                <a16:creationId xmlns:a16="http://schemas.microsoft.com/office/drawing/2014/main" id="{B08E4A5E-8676-1077-8858-5F9EC542CEBC}"/>
              </a:ext>
            </a:extLst>
          </p:cNvPr>
          <p:cNvSpPr/>
          <p:nvPr/>
        </p:nvSpPr>
        <p:spPr>
          <a:xfrm>
            <a:off x="1533082" y="5018311"/>
            <a:ext cx="1766299" cy="4255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7" name="Rectángulo redondeado 9">
            <a:extLst>
              <a:ext uri="{FF2B5EF4-FFF2-40B4-BE49-F238E27FC236}">
                <a16:creationId xmlns:a16="http://schemas.microsoft.com/office/drawing/2014/main" id="{2CCD9D71-AD79-8CB2-E9F6-07C9466802D8}"/>
              </a:ext>
            </a:extLst>
          </p:cNvPr>
          <p:cNvSpPr/>
          <p:nvPr/>
        </p:nvSpPr>
        <p:spPr>
          <a:xfrm>
            <a:off x="3372685" y="512174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8" name="Rectángulo 17">
            <a:extLst>
              <a:ext uri="{FF2B5EF4-FFF2-40B4-BE49-F238E27FC236}">
                <a16:creationId xmlns:a16="http://schemas.microsoft.com/office/drawing/2014/main" id="{41C62D66-5029-A2C7-9CC4-B1C243F07933}"/>
              </a:ext>
            </a:extLst>
          </p:cNvPr>
          <p:cNvSpPr/>
          <p:nvPr/>
        </p:nvSpPr>
        <p:spPr>
          <a:xfrm>
            <a:off x="851130" y="3344478"/>
            <a:ext cx="3570042" cy="116153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1" name="Rectángulo redondeado 5">
            <a:extLst>
              <a:ext uri="{FF2B5EF4-FFF2-40B4-BE49-F238E27FC236}">
                <a16:creationId xmlns:a16="http://schemas.microsoft.com/office/drawing/2014/main" id="{97EA71E8-A007-BCBF-9420-33AC6B53FC98}"/>
              </a:ext>
            </a:extLst>
          </p:cNvPr>
          <p:cNvSpPr/>
          <p:nvPr/>
        </p:nvSpPr>
        <p:spPr>
          <a:xfrm>
            <a:off x="4517950" y="1235242"/>
            <a:ext cx="6053710" cy="218555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Tras acceder al proceso SVPTESS, en la sección “Control de Impresora” campo ‘Impresora’ se debe asignar la sentencia ‘DATABASE’. </a:t>
            </a:r>
            <a:r>
              <a:rPr lang="es-PE" sz="1400" dirty="0"/>
              <a:t>Para correr el proceso de manera específica se pueden ingresar los datos solicitados por la forma de proceso, de lo contrario, indicando únicamente los valores 01, 05 y 06 se ejecutará para todas las evaluaciones asignadas a algún curso. El parámetro 05 mostrará en el log un detallado de las asignaciones. El 06 activa la eliminación de los registros de encuestas preexistentes.</a:t>
            </a:r>
            <a:endParaRPr lang="es-ES_tradnl" sz="1400" dirty="0"/>
          </a:p>
        </p:txBody>
      </p:sp>
      <p:sp>
        <p:nvSpPr>
          <p:cNvPr id="22" name="Rectángulo 21">
            <a:extLst>
              <a:ext uri="{FF2B5EF4-FFF2-40B4-BE49-F238E27FC236}">
                <a16:creationId xmlns:a16="http://schemas.microsoft.com/office/drawing/2014/main" id="{4882A567-F731-D388-F7EA-520A00A3AA7F}"/>
              </a:ext>
            </a:extLst>
          </p:cNvPr>
          <p:cNvSpPr/>
          <p:nvPr/>
        </p:nvSpPr>
        <p:spPr>
          <a:xfrm>
            <a:off x="10144521" y="5278983"/>
            <a:ext cx="671486" cy="30444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4" name="Rectángulo redondeado 9">
            <a:extLst>
              <a:ext uri="{FF2B5EF4-FFF2-40B4-BE49-F238E27FC236}">
                <a16:creationId xmlns:a16="http://schemas.microsoft.com/office/drawing/2014/main" id="{2A664EAD-3361-5252-C37C-D45E8BB96FEC}"/>
              </a:ext>
            </a:extLst>
          </p:cNvPr>
          <p:cNvSpPr/>
          <p:nvPr/>
        </p:nvSpPr>
        <p:spPr>
          <a:xfrm>
            <a:off x="9631606" y="5291659"/>
            <a:ext cx="360421" cy="304440"/>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28" name="Rectángulo redondeado 5">
            <a:extLst>
              <a:ext uri="{FF2B5EF4-FFF2-40B4-BE49-F238E27FC236}">
                <a16:creationId xmlns:a16="http://schemas.microsoft.com/office/drawing/2014/main" id="{22A874C4-1A2C-A1BB-1612-3CE00660355A}"/>
              </a:ext>
            </a:extLst>
          </p:cNvPr>
          <p:cNvSpPr/>
          <p:nvPr/>
        </p:nvSpPr>
        <p:spPr>
          <a:xfrm>
            <a:off x="7824462" y="4872505"/>
            <a:ext cx="1672362" cy="9358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Presionar, el botón ‘Guardar’ para la ejecución del proceso.</a:t>
            </a:r>
          </a:p>
        </p:txBody>
      </p:sp>
    </p:spTree>
    <p:extLst>
      <p:ext uri="{BB962C8B-B14F-4D97-AF65-F5344CB8AC3E}">
        <p14:creationId xmlns:p14="http://schemas.microsoft.com/office/powerpoint/2010/main" val="122864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SVPTESS </a:t>
            </a:r>
            <a:r>
              <a:rPr lang="es-419" sz="3000" b="1" dirty="0"/>
              <a:t>Asignación secciones de TESS</a:t>
            </a:r>
            <a:endParaRPr lang="es-CL" dirty="0"/>
          </a:p>
        </p:txBody>
      </p:sp>
      <p:sp>
        <p:nvSpPr>
          <p:cNvPr id="2" name="Rectángulo redondeado 5">
            <a:extLst>
              <a:ext uri="{FF2B5EF4-FFF2-40B4-BE49-F238E27FC236}">
                <a16:creationId xmlns:a16="http://schemas.microsoft.com/office/drawing/2014/main" id="{724C1B8B-AC24-3926-B070-C5BD87C256D2}"/>
              </a:ext>
            </a:extLst>
          </p:cNvPr>
          <p:cNvSpPr/>
          <p:nvPr/>
        </p:nvSpPr>
        <p:spPr>
          <a:xfrm>
            <a:off x="1370600" y="1694666"/>
            <a:ext cx="6979316" cy="4148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Valores de Parámetros</a:t>
            </a:r>
          </a:p>
        </p:txBody>
      </p:sp>
      <p:graphicFrame>
        <p:nvGraphicFramePr>
          <p:cNvPr id="6" name="Tabla 5">
            <a:extLst>
              <a:ext uri="{FF2B5EF4-FFF2-40B4-BE49-F238E27FC236}">
                <a16:creationId xmlns:a16="http://schemas.microsoft.com/office/drawing/2014/main" id="{62ACB9E6-A45F-CDF4-DE25-C823DDFC81BF}"/>
              </a:ext>
            </a:extLst>
          </p:cNvPr>
          <p:cNvGraphicFramePr>
            <a:graphicFrameLocks noGrp="1"/>
          </p:cNvGraphicFramePr>
          <p:nvPr>
            <p:extLst>
              <p:ext uri="{D42A27DB-BD31-4B8C-83A1-F6EECF244321}">
                <p14:modId xmlns:p14="http://schemas.microsoft.com/office/powerpoint/2010/main" val="1441302195"/>
              </p:ext>
            </p:extLst>
          </p:nvPr>
        </p:nvGraphicFramePr>
        <p:xfrm>
          <a:off x="1370599" y="2288572"/>
          <a:ext cx="9174566" cy="2990349"/>
        </p:xfrm>
        <a:graphic>
          <a:graphicData uri="http://schemas.openxmlformats.org/drawingml/2006/table">
            <a:tbl>
              <a:tblPr firstRow="1" bandRow="1">
                <a:tableStyleId>{5C22544A-7EE6-4342-B048-85BDC9FD1C3A}</a:tableStyleId>
              </a:tblPr>
              <a:tblGrid>
                <a:gridCol w="776370">
                  <a:extLst>
                    <a:ext uri="{9D8B030D-6E8A-4147-A177-3AD203B41FA5}">
                      <a16:colId xmlns:a16="http://schemas.microsoft.com/office/drawing/2014/main" val="3671970364"/>
                    </a:ext>
                  </a:extLst>
                </a:gridCol>
                <a:gridCol w="1991672">
                  <a:extLst>
                    <a:ext uri="{9D8B030D-6E8A-4147-A177-3AD203B41FA5}">
                      <a16:colId xmlns:a16="http://schemas.microsoft.com/office/drawing/2014/main" val="1822289275"/>
                    </a:ext>
                  </a:extLst>
                </a:gridCol>
                <a:gridCol w="6406524">
                  <a:extLst>
                    <a:ext uri="{9D8B030D-6E8A-4147-A177-3AD203B41FA5}">
                      <a16:colId xmlns:a16="http://schemas.microsoft.com/office/drawing/2014/main" val="3567961620"/>
                    </a:ext>
                  </a:extLst>
                </a:gridCol>
              </a:tblGrid>
              <a:tr h="370840">
                <a:tc>
                  <a:txBody>
                    <a:bodyPr/>
                    <a:lstStyle/>
                    <a:p>
                      <a:pPr algn="ctr" fontAlgn="ctr"/>
                      <a:r>
                        <a:rPr lang="es-419" sz="1200" b="1" i="0" u="none" strike="noStrike" dirty="0">
                          <a:solidFill>
                            <a:srgbClr val="FFFFFF"/>
                          </a:solidFill>
                          <a:effectLst/>
                          <a:latin typeface="Calibri" panose="020F0502020204030204" pitchFamily="34" charset="0"/>
                        </a:rPr>
                        <a:t>Número</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Parámetros</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Descripción</a:t>
                      </a:r>
                    </a:p>
                  </a:txBody>
                  <a:tcPr marL="0" marR="0" marT="0" marB="0" anchor="ctr"/>
                </a:tc>
                <a:extLst>
                  <a:ext uri="{0D108BD9-81ED-4DB2-BD59-A6C34878D82A}">
                    <a16:rowId xmlns:a16="http://schemas.microsoft.com/office/drawing/2014/main" val="1600408903"/>
                  </a:ext>
                </a:extLst>
              </a:tr>
              <a:tr h="404629">
                <a:tc>
                  <a:txBody>
                    <a:bodyPr/>
                    <a:lstStyle/>
                    <a:p>
                      <a:pPr algn="ctr" fontAlgn="b"/>
                      <a:r>
                        <a:rPr lang="es-419" sz="1200" b="0" i="0" u="none" strike="noStrike" dirty="0">
                          <a:solidFill>
                            <a:srgbClr val="000000"/>
                          </a:solidFill>
                          <a:effectLst/>
                          <a:latin typeface="Calibri" panose="020F0502020204030204" pitchFamily="34" charset="0"/>
                        </a:rPr>
                        <a:t>01</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Código de periodo*</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Periodo académico donde están programados los NRC a los cuales se asociará la encuesta.</a:t>
                      </a:r>
                    </a:p>
                  </a:txBody>
                  <a:tcPr marL="0" marR="0" marT="0" marB="0" anchor="ctr"/>
                </a:tc>
                <a:extLst>
                  <a:ext uri="{0D108BD9-81ED-4DB2-BD59-A6C34878D82A}">
                    <a16:rowId xmlns:a16="http://schemas.microsoft.com/office/drawing/2014/main" val="1252697042"/>
                  </a:ext>
                </a:extLst>
              </a:tr>
              <a:tr h="370840">
                <a:tc>
                  <a:txBody>
                    <a:bodyPr/>
                    <a:lstStyle/>
                    <a:p>
                      <a:pPr algn="ctr" fontAlgn="b"/>
                      <a:r>
                        <a:rPr lang="es-419" sz="1200" b="0" i="0" u="none" strike="noStrike" dirty="0">
                          <a:solidFill>
                            <a:srgbClr val="000000"/>
                          </a:solidFill>
                          <a:effectLst/>
                          <a:latin typeface="Calibri" panose="020F0502020204030204" pitchFamily="34" charset="0"/>
                        </a:rPr>
                        <a:t>02</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Código de materia</a:t>
                      </a:r>
                    </a:p>
                  </a:txBody>
                  <a:tcPr marL="0" marR="0" marT="0" marB="0" anchor="ctr"/>
                </a:tc>
                <a:tc>
                  <a:txBody>
                    <a:bodyPr/>
                    <a:lstStyle/>
                    <a:p>
                      <a:pPr algn="l" fontAlgn="b"/>
                      <a:r>
                        <a:rPr lang="es-CL" sz="1200" b="0" i="0" u="none" strike="noStrike" dirty="0">
                          <a:solidFill>
                            <a:srgbClr val="000000"/>
                          </a:solidFill>
                          <a:effectLst/>
                          <a:latin typeface="Calibri" panose="020F0502020204030204" pitchFamily="34" charset="0"/>
                        </a:rPr>
                        <a:t>Código de materia de las asignaturas a asociar las encuestas</a:t>
                      </a:r>
                      <a:endParaRPr lang="es-419"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17954487"/>
                  </a:ext>
                </a:extLst>
              </a:tr>
              <a:tr h="370840">
                <a:tc>
                  <a:txBody>
                    <a:bodyPr/>
                    <a:lstStyle/>
                    <a:p>
                      <a:pPr algn="ctr" fontAlgn="b"/>
                      <a:r>
                        <a:rPr lang="es-419" sz="1200" b="0" i="0" u="none" strike="noStrike" dirty="0">
                          <a:solidFill>
                            <a:srgbClr val="000000"/>
                          </a:solidFill>
                          <a:effectLst/>
                          <a:latin typeface="Calibri" panose="020F0502020204030204" pitchFamily="34" charset="0"/>
                        </a:rPr>
                        <a:t>03</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Número de curso</a:t>
                      </a: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L" sz="1200" b="0" i="0" u="none" strike="noStrike" dirty="0">
                          <a:solidFill>
                            <a:srgbClr val="000000"/>
                          </a:solidFill>
                          <a:effectLst/>
                          <a:latin typeface="Calibri" panose="020F0502020204030204" pitchFamily="34" charset="0"/>
                        </a:rPr>
                        <a:t>Código de curso de las asignaturas a asociar las encuestas</a:t>
                      </a:r>
                      <a:endParaRPr lang="es-419"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807490090"/>
                  </a:ext>
                </a:extLst>
              </a:tr>
              <a:tr h="370840">
                <a:tc>
                  <a:txBody>
                    <a:bodyPr/>
                    <a:lstStyle/>
                    <a:p>
                      <a:pPr algn="ctr" fontAlgn="b"/>
                      <a:r>
                        <a:rPr lang="es-419" sz="1200" b="0" i="0" u="none" strike="noStrike" dirty="0">
                          <a:solidFill>
                            <a:srgbClr val="000000"/>
                          </a:solidFill>
                          <a:effectLst/>
                          <a:latin typeface="Calibri" panose="020F0502020204030204" pitchFamily="34" charset="0"/>
                        </a:rPr>
                        <a:t>04</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NRC</a:t>
                      </a:r>
                    </a:p>
                  </a:txBody>
                  <a:tcPr marL="0" marR="0" marT="0" marB="0" anchor="ctr"/>
                </a:tc>
                <a:tc>
                  <a:txBody>
                    <a:bodyPr/>
                    <a:lstStyle/>
                    <a:p>
                      <a:pPr algn="l" fontAlgn="b"/>
                      <a:r>
                        <a:rPr lang="es-CL" sz="1200" b="0" i="0" u="none" strike="noStrike" dirty="0">
                          <a:solidFill>
                            <a:srgbClr val="000000"/>
                          </a:solidFill>
                          <a:effectLst/>
                          <a:latin typeface="Calibri" panose="020F0502020204030204" pitchFamily="34" charset="0"/>
                        </a:rPr>
                        <a:t>NRC específico al cual se asignaría una encuesta</a:t>
                      </a:r>
                      <a:endParaRPr lang="es-419"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580853560"/>
                  </a:ext>
                </a:extLst>
              </a:tr>
              <a:tr h="370840">
                <a:tc>
                  <a:txBody>
                    <a:bodyPr/>
                    <a:lstStyle/>
                    <a:p>
                      <a:pPr algn="ctr" fontAlgn="b"/>
                      <a:r>
                        <a:rPr lang="es-419" sz="1200" b="0" i="0" u="none" strike="noStrike" dirty="0">
                          <a:solidFill>
                            <a:srgbClr val="000000"/>
                          </a:solidFill>
                          <a:effectLst/>
                          <a:latin typeface="Calibri" panose="020F0502020204030204" pitchFamily="34" charset="0"/>
                        </a:rPr>
                        <a:t>05</a:t>
                      </a:r>
                    </a:p>
                  </a:txBody>
                  <a:tcPr marL="0" marR="0" marT="0" marB="0" anchor="ctr"/>
                </a:tc>
                <a:tc>
                  <a:txBody>
                    <a:bodyPr/>
                    <a:lstStyle/>
                    <a:p>
                      <a:pPr algn="l" fontAlgn="b"/>
                      <a:r>
                        <a:rPr lang="es-419" sz="1200" b="0" i="0" u="none" strike="noStrike" dirty="0">
                          <a:solidFill>
                            <a:srgbClr val="000000"/>
                          </a:solidFill>
                          <a:effectLst/>
                          <a:latin typeface="Calibri" panose="020F0502020204030204" pitchFamily="34" charset="0"/>
                        </a:rPr>
                        <a:t>Reporte Detallado [Y/N]*</a:t>
                      </a:r>
                    </a:p>
                  </a:txBody>
                  <a:tcPr marL="0" marR="0" marT="0" marB="0" anchor="ctr"/>
                </a:tc>
                <a:tc>
                  <a:txBody>
                    <a:bodyPr/>
                    <a:lstStyle/>
                    <a:p>
                      <a:pPr algn="l" fontAlgn="b"/>
                      <a:r>
                        <a:rPr lang="es-CL" sz="1200" b="0" i="0" u="none" strike="noStrike" dirty="0">
                          <a:solidFill>
                            <a:srgbClr val="000000"/>
                          </a:solidFill>
                          <a:effectLst/>
                          <a:latin typeface="Calibri" panose="020F0502020204030204" pitchFamily="34" charset="0"/>
                        </a:rPr>
                        <a:t>Usar ‘Y’ en el caso que se desee que el archivo .log contenga el detalle de la asignación por cada NRC identificado. Usar ‘N’ en caso de que no se requiera este detalle.</a:t>
                      </a:r>
                      <a:endParaRPr lang="es-419"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452798"/>
                  </a:ext>
                </a:extLst>
              </a:tr>
              <a:tr h="370840">
                <a:tc>
                  <a:txBody>
                    <a:bodyPr/>
                    <a:lstStyle/>
                    <a:p>
                      <a:pPr algn="ctr" fontAlgn="b"/>
                      <a:r>
                        <a:rPr lang="es-419" sz="1200" b="0" i="0" u="none" strike="noStrike" dirty="0">
                          <a:solidFill>
                            <a:srgbClr val="000000"/>
                          </a:solidFill>
                          <a:effectLst/>
                          <a:latin typeface="Calibri" panose="020F0502020204030204" pitchFamily="34" charset="0"/>
                        </a:rPr>
                        <a:t>06</a:t>
                      </a:r>
                    </a:p>
                  </a:txBody>
                  <a:tcPr marL="0" marR="0" marT="0" marB="0" anchor="ctr"/>
                </a:tc>
                <a:tc>
                  <a:txBody>
                    <a:bodyPr/>
                    <a:lstStyle/>
                    <a:p>
                      <a:pPr algn="l" fontAlgn="b"/>
                      <a:r>
                        <a:rPr lang="es-CL" sz="1200" b="0" i="0" u="none" strike="noStrike" dirty="0">
                          <a:solidFill>
                            <a:srgbClr val="000000"/>
                          </a:solidFill>
                          <a:effectLst/>
                          <a:latin typeface="Calibri" panose="020F0502020204030204" pitchFamily="34" charset="0"/>
                        </a:rPr>
                        <a:t>Eliminar todos los regs </a:t>
                      </a:r>
                      <a:r>
                        <a:rPr lang="es-419" sz="1200" b="0" i="0" u="none" strike="noStrike" dirty="0">
                          <a:solidFill>
                            <a:srgbClr val="000000"/>
                          </a:solidFill>
                          <a:effectLst/>
                          <a:latin typeface="Calibri" panose="020F0502020204030204" pitchFamily="34" charset="0"/>
                        </a:rPr>
                        <a:t>[Y/N]*</a:t>
                      </a: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L" sz="1200" b="0" i="0" u="none" strike="noStrike" dirty="0">
                          <a:solidFill>
                            <a:srgbClr val="000000"/>
                          </a:solidFill>
                          <a:effectLst/>
                          <a:latin typeface="Calibri" panose="020F0502020204030204" pitchFamily="34" charset="0"/>
                        </a:rPr>
                        <a:t>Usar ‘Y’ en el caso que se desee reemplazar la asignación de encuestas que tengan los NRC afectos. Usar ‘N’ en caso de que no se requiera eliminar las asignaciones previas de encuestas en los NRC afectos</a:t>
                      </a:r>
                      <a:endParaRPr lang="es-419" sz="1200" b="0" i="0" u="none" strike="noStrike" dirty="0">
                        <a:solidFill>
                          <a:srgbClr val="000000"/>
                        </a:solidFill>
                        <a:effectLst/>
                        <a:latin typeface="Calibri" panose="020F0502020204030204" pitchFamily="34" charset="0"/>
                      </a:endParaRPr>
                    </a:p>
                    <a:p>
                      <a:pPr algn="l" fontAlgn="b"/>
                      <a:endParaRPr lang="es-419" sz="12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85379510"/>
                  </a:ext>
                </a:extLst>
              </a:tr>
            </a:tbl>
          </a:graphicData>
        </a:graphic>
      </p:graphicFrame>
    </p:spTree>
    <p:extLst>
      <p:ext uri="{BB962C8B-B14F-4D97-AF65-F5344CB8AC3E}">
        <p14:creationId xmlns:p14="http://schemas.microsoft.com/office/powerpoint/2010/main" val="3984723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949F779-2FBC-D653-9965-E2757D46D8F8}"/>
              </a:ext>
            </a:extLst>
          </p:cNvPr>
          <p:cNvPicPr>
            <a:picLocks noChangeAspect="1"/>
          </p:cNvPicPr>
          <p:nvPr/>
        </p:nvPicPr>
        <p:blipFill>
          <a:blip r:embed="rId2"/>
          <a:stretch>
            <a:fillRect/>
          </a:stretch>
        </p:blipFill>
        <p:spPr>
          <a:xfrm>
            <a:off x="810247" y="1055468"/>
            <a:ext cx="10665553" cy="474706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SVPTESS </a:t>
            </a:r>
            <a:r>
              <a:rPr lang="es-419" sz="3000" b="1" dirty="0"/>
              <a:t>Asignación secciones de TESS .LOG</a:t>
            </a:r>
            <a:endParaRPr lang="es-CL" dirty="0"/>
          </a:p>
        </p:txBody>
      </p:sp>
      <p:sp>
        <p:nvSpPr>
          <p:cNvPr id="8" name="Rectángulo 7">
            <a:extLst>
              <a:ext uri="{FF2B5EF4-FFF2-40B4-BE49-F238E27FC236}">
                <a16:creationId xmlns:a16="http://schemas.microsoft.com/office/drawing/2014/main" id="{C36DFC86-0CD5-79FD-FF7A-07D8D0884F26}"/>
              </a:ext>
            </a:extLst>
          </p:cNvPr>
          <p:cNvSpPr/>
          <p:nvPr/>
        </p:nvSpPr>
        <p:spPr>
          <a:xfrm>
            <a:off x="716200" y="3285523"/>
            <a:ext cx="3721933" cy="46672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504402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FFC971A-FF78-1D2B-2E0D-EF67F79360BE}"/>
              </a:ext>
            </a:extLst>
          </p:cNvPr>
          <p:cNvPicPr>
            <a:picLocks noChangeAspect="1"/>
          </p:cNvPicPr>
          <p:nvPr/>
        </p:nvPicPr>
        <p:blipFill>
          <a:blip r:embed="rId2"/>
          <a:stretch>
            <a:fillRect/>
          </a:stretch>
        </p:blipFill>
        <p:spPr>
          <a:xfrm>
            <a:off x="810247" y="1192798"/>
            <a:ext cx="10018386" cy="44724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SVPTESS </a:t>
            </a:r>
            <a:r>
              <a:rPr lang="es-419" sz="3000" b="1" dirty="0"/>
              <a:t>Asignación secciones de TESS .LIS</a:t>
            </a:r>
            <a:endParaRPr lang="es-CL" dirty="0"/>
          </a:p>
        </p:txBody>
      </p:sp>
      <p:sp>
        <p:nvSpPr>
          <p:cNvPr id="6" name="Rectángulo 5">
            <a:extLst>
              <a:ext uri="{FF2B5EF4-FFF2-40B4-BE49-F238E27FC236}">
                <a16:creationId xmlns:a16="http://schemas.microsoft.com/office/drawing/2014/main" id="{6A76C34A-4C12-83D1-62A8-C62D30425214}"/>
              </a:ext>
            </a:extLst>
          </p:cNvPr>
          <p:cNvSpPr/>
          <p:nvPr/>
        </p:nvSpPr>
        <p:spPr>
          <a:xfrm>
            <a:off x="689084" y="3513839"/>
            <a:ext cx="5331502" cy="131445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411383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B6DB927-001F-CEA4-B677-D4A30F4108A0}"/>
              </a:ext>
            </a:extLst>
          </p:cNvPr>
          <p:cNvPicPr>
            <a:picLocks noChangeAspect="1"/>
          </p:cNvPicPr>
          <p:nvPr/>
        </p:nvPicPr>
        <p:blipFill>
          <a:blip r:embed="rId2"/>
          <a:stretch>
            <a:fillRect/>
          </a:stretch>
        </p:blipFill>
        <p:spPr>
          <a:xfrm>
            <a:off x="952500" y="1432874"/>
            <a:ext cx="10553006" cy="472629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Premisa: </a:t>
            </a:r>
            <a:r>
              <a:rPr lang="es-CL" sz="3200" dirty="0"/>
              <a:t>STVHLDD </a:t>
            </a:r>
            <a:r>
              <a:rPr lang="es-419" sz="3200" dirty="0"/>
              <a:t>Validación de código de tipo de retención</a:t>
            </a:r>
            <a:endParaRPr lang="es-CL" dirty="0"/>
          </a:p>
        </p:txBody>
      </p:sp>
      <p:sp>
        <p:nvSpPr>
          <p:cNvPr id="17" name="Rectángulo 16">
            <a:extLst>
              <a:ext uri="{FF2B5EF4-FFF2-40B4-BE49-F238E27FC236}">
                <a16:creationId xmlns:a16="http://schemas.microsoft.com/office/drawing/2014/main" id="{73D10A4F-C2D1-BE71-F5D4-A2CB28E148C1}"/>
              </a:ext>
            </a:extLst>
          </p:cNvPr>
          <p:cNvSpPr/>
          <p:nvPr/>
        </p:nvSpPr>
        <p:spPr>
          <a:xfrm>
            <a:off x="952499" y="2897601"/>
            <a:ext cx="10199409" cy="25095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9" name="Rectángulo redondeado 5">
            <a:extLst>
              <a:ext uri="{FF2B5EF4-FFF2-40B4-BE49-F238E27FC236}">
                <a16:creationId xmlns:a16="http://schemas.microsoft.com/office/drawing/2014/main" id="{37EEB011-9BB4-DEE4-C093-2F696405912E}"/>
              </a:ext>
            </a:extLst>
          </p:cNvPr>
          <p:cNvSpPr/>
          <p:nvPr/>
        </p:nvSpPr>
        <p:spPr>
          <a:xfrm>
            <a:off x="3302482" y="4772025"/>
            <a:ext cx="5796585" cy="9339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La retención asociada a la evaluación docente ya se encuentre creada y configurada en STVHLDD.</a:t>
            </a:r>
          </a:p>
        </p:txBody>
      </p:sp>
    </p:spTree>
    <p:extLst>
      <p:ext uri="{BB962C8B-B14F-4D97-AF65-F5344CB8AC3E}">
        <p14:creationId xmlns:p14="http://schemas.microsoft.com/office/powerpoint/2010/main" val="644202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F9086DE4-A892-55ED-ABF6-0BD8BCEB7DB9}"/>
              </a:ext>
            </a:extLst>
          </p:cNvPr>
          <p:cNvPicPr>
            <a:picLocks noChangeAspect="1"/>
          </p:cNvPicPr>
          <p:nvPr/>
        </p:nvPicPr>
        <p:blipFill>
          <a:blip r:embed="rId2"/>
          <a:stretch>
            <a:fillRect/>
          </a:stretch>
        </p:blipFill>
        <p:spPr>
          <a:xfrm>
            <a:off x="716437" y="1180488"/>
            <a:ext cx="10436777" cy="467424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Configuración: </a:t>
            </a:r>
            <a:r>
              <a:rPr lang="es-CL" sz="3200" dirty="0"/>
              <a:t>GTVSDAX Validación de transposición</a:t>
            </a:r>
            <a:endParaRPr lang="es-CL" dirty="0"/>
          </a:p>
        </p:txBody>
      </p:sp>
      <p:sp>
        <p:nvSpPr>
          <p:cNvPr id="7" name="Rectángulo redondeado 5">
            <a:extLst>
              <a:ext uri="{FF2B5EF4-FFF2-40B4-BE49-F238E27FC236}">
                <a16:creationId xmlns:a16="http://schemas.microsoft.com/office/drawing/2014/main" id="{27703070-3E55-06CF-7481-A22C9F7E2CCF}"/>
              </a:ext>
            </a:extLst>
          </p:cNvPr>
          <p:cNvSpPr/>
          <p:nvPr/>
        </p:nvSpPr>
        <p:spPr>
          <a:xfrm>
            <a:off x="2519137" y="2443521"/>
            <a:ext cx="5796585" cy="16292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debe definir la retención que sería aplicada a los estudiantes durante el desarrollo de la encuesta de evaluación docente, lo cual debe quedar definido en el campo ‘Código externo’ de la página de configuración GTVSDAX &gt; Código: ‘HOLDTYPE’. </a:t>
            </a:r>
          </a:p>
        </p:txBody>
      </p:sp>
      <p:sp>
        <p:nvSpPr>
          <p:cNvPr id="8" name="Rectángulo 7">
            <a:extLst>
              <a:ext uri="{FF2B5EF4-FFF2-40B4-BE49-F238E27FC236}">
                <a16:creationId xmlns:a16="http://schemas.microsoft.com/office/drawing/2014/main" id="{0E4819BC-9C0D-3AF3-61F4-440916C1315F}"/>
              </a:ext>
            </a:extLst>
          </p:cNvPr>
          <p:cNvSpPr/>
          <p:nvPr/>
        </p:nvSpPr>
        <p:spPr>
          <a:xfrm>
            <a:off x="1292269" y="2392427"/>
            <a:ext cx="1475287" cy="250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48DAC190-96BA-F4E0-C294-FBF9C5A3B215}"/>
              </a:ext>
            </a:extLst>
          </p:cNvPr>
          <p:cNvSpPr/>
          <p:nvPr/>
        </p:nvSpPr>
        <p:spPr>
          <a:xfrm>
            <a:off x="1111249" y="2916348"/>
            <a:ext cx="1732462" cy="24819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E50B2614-78C5-8BC8-1AA9-3F0EE706AFA5}"/>
              </a:ext>
            </a:extLst>
          </p:cNvPr>
          <p:cNvSpPr/>
          <p:nvPr/>
        </p:nvSpPr>
        <p:spPr>
          <a:xfrm>
            <a:off x="810247" y="240624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2" name="Rectángulo redondeado 8">
            <a:extLst>
              <a:ext uri="{FF2B5EF4-FFF2-40B4-BE49-F238E27FC236}">
                <a16:creationId xmlns:a16="http://schemas.microsoft.com/office/drawing/2014/main" id="{8055CB8D-56A9-1596-A287-0C0E2F146F3C}"/>
              </a:ext>
            </a:extLst>
          </p:cNvPr>
          <p:cNvSpPr/>
          <p:nvPr/>
        </p:nvSpPr>
        <p:spPr>
          <a:xfrm>
            <a:off x="552581" y="298038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3" name="Rectángulo 12">
            <a:extLst>
              <a:ext uri="{FF2B5EF4-FFF2-40B4-BE49-F238E27FC236}">
                <a16:creationId xmlns:a16="http://schemas.microsoft.com/office/drawing/2014/main" id="{2FD6AB25-D925-8101-0832-E121CE885F24}"/>
              </a:ext>
            </a:extLst>
          </p:cNvPr>
          <p:cNvSpPr/>
          <p:nvPr/>
        </p:nvSpPr>
        <p:spPr>
          <a:xfrm>
            <a:off x="10544684" y="5510984"/>
            <a:ext cx="657406" cy="31874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9">
            <a:extLst>
              <a:ext uri="{FF2B5EF4-FFF2-40B4-BE49-F238E27FC236}">
                <a16:creationId xmlns:a16="http://schemas.microsoft.com/office/drawing/2014/main" id="{EF456838-8EA2-BB67-EB0A-A726CDE181EB}"/>
              </a:ext>
            </a:extLst>
          </p:cNvPr>
          <p:cNvSpPr/>
          <p:nvPr/>
        </p:nvSpPr>
        <p:spPr>
          <a:xfrm>
            <a:off x="9974199" y="5525291"/>
            <a:ext cx="360421" cy="304440"/>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5" name="Rectángulo redondeado 5">
            <a:extLst>
              <a:ext uri="{FF2B5EF4-FFF2-40B4-BE49-F238E27FC236}">
                <a16:creationId xmlns:a16="http://schemas.microsoft.com/office/drawing/2014/main" id="{5FB00A4D-512C-EDBF-0ECC-1122D412F859}"/>
              </a:ext>
            </a:extLst>
          </p:cNvPr>
          <p:cNvSpPr/>
          <p:nvPr/>
        </p:nvSpPr>
        <p:spPr>
          <a:xfrm>
            <a:off x="8607793" y="5426686"/>
            <a:ext cx="1268654" cy="501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Guardar información</a:t>
            </a:r>
          </a:p>
        </p:txBody>
      </p:sp>
    </p:spTree>
    <p:extLst>
      <p:ext uri="{BB962C8B-B14F-4D97-AF65-F5344CB8AC3E}">
        <p14:creationId xmlns:p14="http://schemas.microsoft.com/office/powerpoint/2010/main" val="2439473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5824C6F-079B-DE99-DDA9-DC575372CFCE}"/>
              </a:ext>
            </a:extLst>
          </p:cNvPr>
          <p:cNvPicPr>
            <a:picLocks noChangeAspect="1"/>
          </p:cNvPicPr>
          <p:nvPr/>
        </p:nvPicPr>
        <p:blipFill>
          <a:blip r:embed="rId2"/>
          <a:stretch>
            <a:fillRect/>
          </a:stretch>
        </p:blipFill>
        <p:spPr>
          <a:xfrm>
            <a:off x="622570" y="1065560"/>
            <a:ext cx="10994879" cy="492359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a:t>
            </a:r>
            <a:endParaRPr lang="es-CL" dirty="0"/>
          </a:p>
        </p:txBody>
      </p:sp>
      <p:sp>
        <p:nvSpPr>
          <p:cNvPr id="7" name="Rectángulo 6">
            <a:extLst>
              <a:ext uri="{FF2B5EF4-FFF2-40B4-BE49-F238E27FC236}">
                <a16:creationId xmlns:a16="http://schemas.microsoft.com/office/drawing/2014/main" id="{3D797F14-597F-C9D2-CFB7-10886778A5F0}"/>
              </a:ext>
            </a:extLst>
          </p:cNvPr>
          <p:cNvSpPr/>
          <p:nvPr/>
        </p:nvSpPr>
        <p:spPr>
          <a:xfrm>
            <a:off x="1101147" y="1725324"/>
            <a:ext cx="3367158"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4FB73A09-A9D6-7694-6205-A7CC5903F02C}"/>
              </a:ext>
            </a:extLst>
          </p:cNvPr>
          <p:cNvSpPr/>
          <p:nvPr/>
        </p:nvSpPr>
        <p:spPr>
          <a:xfrm>
            <a:off x="11082130" y="1755133"/>
            <a:ext cx="548288" cy="34704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E176327A-ADA2-8D68-6514-E5369B69FEE5}"/>
              </a:ext>
            </a:extLst>
          </p:cNvPr>
          <p:cNvSpPr/>
          <p:nvPr/>
        </p:nvSpPr>
        <p:spPr>
          <a:xfrm>
            <a:off x="9266941" y="1670944"/>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0" name="Rectángulo redondeado 8">
            <a:extLst>
              <a:ext uri="{FF2B5EF4-FFF2-40B4-BE49-F238E27FC236}">
                <a16:creationId xmlns:a16="http://schemas.microsoft.com/office/drawing/2014/main" id="{567BAFF7-DFE4-0980-BAA4-FD1A6DA639E2}"/>
              </a:ext>
            </a:extLst>
          </p:cNvPr>
          <p:cNvSpPr/>
          <p:nvPr/>
        </p:nvSpPr>
        <p:spPr>
          <a:xfrm>
            <a:off x="574551" y="170718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1" name="Rectángulo redondeado 8">
            <a:extLst>
              <a:ext uri="{FF2B5EF4-FFF2-40B4-BE49-F238E27FC236}">
                <a16:creationId xmlns:a16="http://schemas.microsoft.com/office/drawing/2014/main" id="{F215AE83-8075-176E-D8B1-817C91C64490}"/>
              </a:ext>
            </a:extLst>
          </p:cNvPr>
          <p:cNvSpPr/>
          <p:nvPr/>
        </p:nvSpPr>
        <p:spPr>
          <a:xfrm>
            <a:off x="10648041" y="173699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ángulo redondeado 5">
            <a:extLst>
              <a:ext uri="{FF2B5EF4-FFF2-40B4-BE49-F238E27FC236}">
                <a16:creationId xmlns:a16="http://schemas.microsoft.com/office/drawing/2014/main" id="{A43C79AB-D0E9-2092-B412-8BEAAE1262C9}"/>
              </a:ext>
            </a:extLst>
          </p:cNvPr>
          <p:cNvSpPr/>
          <p:nvPr/>
        </p:nvSpPr>
        <p:spPr>
          <a:xfrm>
            <a:off x="3427626" y="3072062"/>
            <a:ext cx="5796585" cy="23100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Posterior a la ejecución del proceso SVPTESS, se han de asignar las encuestas a los estudiantes de los NRC ya identificados del proceso anterior, mediante la ejecución del proceso SVPSTSS al cual se puede ingresar directamente utilizando el buscador principal o bien ingresando a GJAPCTL y luego seleccionando el proceso SVPSTSS.</a:t>
            </a:r>
          </a:p>
        </p:txBody>
      </p:sp>
    </p:spTree>
    <p:extLst>
      <p:ext uri="{BB962C8B-B14F-4D97-AF65-F5344CB8AC3E}">
        <p14:creationId xmlns:p14="http://schemas.microsoft.com/office/powerpoint/2010/main" val="1010036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5272613-BD0A-E45B-0099-3FBFFE3BCDDC}"/>
              </a:ext>
            </a:extLst>
          </p:cNvPr>
          <p:cNvPicPr>
            <a:picLocks noChangeAspect="1"/>
          </p:cNvPicPr>
          <p:nvPr/>
        </p:nvPicPr>
        <p:blipFill>
          <a:blip r:embed="rId2"/>
          <a:stretch>
            <a:fillRect/>
          </a:stretch>
        </p:blipFill>
        <p:spPr>
          <a:xfrm>
            <a:off x="853664" y="1105334"/>
            <a:ext cx="10484672" cy="465620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a:t>
            </a:r>
            <a:endParaRPr lang="es-CL" dirty="0"/>
          </a:p>
        </p:txBody>
      </p:sp>
      <p:sp>
        <p:nvSpPr>
          <p:cNvPr id="7" name="Slide Number Placeholder 17">
            <a:extLst>
              <a:ext uri="{FF2B5EF4-FFF2-40B4-BE49-F238E27FC236}">
                <a16:creationId xmlns:a16="http://schemas.microsoft.com/office/drawing/2014/main" id="{5D4D6AC5-024D-D73A-B276-9CF7CE4374C4}"/>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37</a:t>
            </a:fld>
            <a:endParaRPr lang="en-US" dirty="0"/>
          </a:p>
        </p:txBody>
      </p:sp>
      <p:sp>
        <p:nvSpPr>
          <p:cNvPr id="8" name="Rectángulo 7">
            <a:extLst>
              <a:ext uri="{FF2B5EF4-FFF2-40B4-BE49-F238E27FC236}">
                <a16:creationId xmlns:a16="http://schemas.microsoft.com/office/drawing/2014/main" id="{04A614B6-0A8E-938C-0F38-C2265DB0FF84}"/>
              </a:ext>
            </a:extLst>
          </p:cNvPr>
          <p:cNvSpPr/>
          <p:nvPr/>
        </p:nvSpPr>
        <p:spPr>
          <a:xfrm>
            <a:off x="1257502" y="2071276"/>
            <a:ext cx="2210445" cy="250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9">
            <a:extLst>
              <a:ext uri="{FF2B5EF4-FFF2-40B4-BE49-F238E27FC236}">
                <a16:creationId xmlns:a16="http://schemas.microsoft.com/office/drawing/2014/main" id="{7A0FB15B-73D0-D1BC-3854-155D7ED6E0BC}"/>
              </a:ext>
            </a:extLst>
          </p:cNvPr>
          <p:cNvSpPr/>
          <p:nvPr/>
        </p:nvSpPr>
        <p:spPr>
          <a:xfrm>
            <a:off x="853664" y="207127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0" name="Rectángulo redondeado 9">
            <a:extLst>
              <a:ext uri="{FF2B5EF4-FFF2-40B4-BE49-F238E27FC236}">
                <a16:creationId xmlns:a16="http://schemas.microsoft.com/office/drawing/2014/main" id="{F97F741F-D51E-6697-DA37-81F8897E4E55}"/>
              </a:ext>
            </a:extLst>
          </p:cNvPr>
          <p:cNvSpPr/>
          <p:nvPr/>
        </p:nvSpPr>
        <p:spPr>
          <a:xfrm>
            <a:off x="1378514" y="273289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1" name="Rectángulo 10">
            <a:extLst>
              <a:ext uri="{FF2B5EF4-FFF2-40B4-BE49-F238E27FC236}">
                <a16:creationId xmlns:a16="http://schemas.microsoft.com/office/drawing/2014/main" id="{4888DC9E-0A0B-9EE3-FA2C-CD5FD7C388B4}"/>
              </a:ext>
            </a:extLst>
          </p:cNvPr>
          <p:cNvSpPr/>
          <p:nvPr/>
        </p:nvSpPr>
        <p:spPr>
          <a:xfrm>
            <a:off x="1283251" y="5117271"/>
            <a:ext cx="2497486" cy="250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9">
            <a:extLst>
              <a:ext uri="{FF2B5EF4-FFF2-40B4-BE49-F238E27FC236}">
                <a16:creationId xmlns:a16="http://schemas.microsoft.com/office/drawing/2014/main" id="{DD0D7E91-18A4-A309-23F0-77F0A669B939}"/>
              </a:ext>
            </a:extLst>
          </p:cNvPr>
          <p:cNvSpPr/>
          <p:nvPr/>
        </p:nvSpPr>
        <p:spPr>
          <a:xfrm>
            <a:off x="3849903" y="511727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3" name="Rectángulo 12">
            <a:extLst>
              <a:ext uri="{FF2B5EF4-FFF2-40B4-BE49-F238E27FC236}">
                <a16:creationId xmlns:a16="http://schemas.microsoft.com/office/drawing/2014/main" id="{8BBF4E38-CAA2-3E40-E6BD-012EDA9CD04D}"/>
              </a:ext>
            </a:extLst>
          </p:cNvPr>
          <p:cNvSpPr/>
          <p:nvPr/>
        </p:nvSpPr>
        <p:spPr>
          <a:xfrm>
            <a:off x="713262" y="3067315"/>
            <a:ext cx="4074318" cy="184656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5">
            <a:extLst>
              <a:ext uri="{FF2B5EF4-FFF2-40B4-BE49-F238E27FC236}">
                <a16:creationId xmlns:a16="http://schemas.microsoft.com/office/drawing/2014/main" id="{1801D888-D863-3C6D-FA50-ED952E5CAC76}"/>
              </a:ext>
            </a:extLst>
          </p:cNvPr>
          <p:cNvSpPr/>
          <p:nvPr/>
        </p:nvSpPr>
        <p:spPr>
          <a:xfrm>
            <a:off x="5392064" y="959669"/>
            <a:ext cx="5769980" cy="22863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Tras acceder al proceso SVPSTSS, en la sección “Control de Impresora” campo ‘Impresora’ se debe asignar la sentencia ‘DATABASE’. </a:t>
            </a:r>
            <a:r>
              <a:rPr lang="es-PE" sz="1400" dirty="0"/>
              <a:t>Para correr el proceso de forma masiva, basta con definir lo que fueron los parámetros 01, 05 y 08 donde se asignaría la encuesta a todas las asignaturas del periodo definido. El proceso además puede ser ejecutado para una asignatura en particular (parámetros 02 y 03) o para un NRC específico (parámetro 04).</a:t>
            </a:r>
            <a:endParaRPr lang="es-ES_tradnl" sz="1400" dirty="0"/>
          </a:p>
        </p:txBody>
      </p:sp>
    </p:spTree>
    <p:extLst>
      <p:ext uri="{BB962C8B-B14F-4D97-AF65-F5344CB8AC3E}">
        <p14:creationId xmlns:p14="http://schemas.microsoft.com/office/powerpoint/2010/main" val="1298966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ACAD29B3-4466-D37E-46DB-2B993C165C7E}"/>
              </a:ext>
            </a:extLst>
          </p:cNvPr>
          <p:cNvPicPr>
            <a:picLocks noChangeAspect="1"/>
          </p:cNvPicPr>
          <p:nvPr/>
        </p:nvPicPr>
        <p:blipFill>
          <a:blip r:embed="rId2"/>
          <a:stretch>
            <a:fillRect/>
          </a:stretch>
        </p:blipFill>
        <p:spPr>
          <a:xfrm>
            <a:off x="810247" y="818708"/>
            <a:ext cx="11261654" cy="51461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a:t>
            </a:r>
            <a:endParaRPr lang="es-CL" dirty="0"/>
          </a:p>
        </p:txBody>
      </p:sp>
      <p:sp>
        <p:nvSpPr>
          <p:cNvPr id="7" name="Slide Number Placeholder 17">
            <a:extLst>
              <a:ext uri="{FF2B5EF4-FFF2-40B4-BE49-F238E27FC236}">
                <a16:creationId xmlns:a16="http://schemas.microsoft.com/office/drawing/2014/main" id="{5D4D6AC5-024D-D73A-B276-9CF7CE4374C4}"/>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38</a:t>
            </a:fld>
            <a:endParaRPr lang="en-US" dirty="0"/>
          </a:p>
        </p:txBody>
      </p:sp>
      <p:sp>
        <p:nvSpPr>
          <p:cNvPr id="8" name="Rectángulo 7">
            <a:extLst>
              <a:ext uri="{FF2B5EF4-FFF2-40B4-BE49-F238E27FC236}">
                <a16:creationId xmlns:a16="http://schemas.microsoft.com/office/drawing/2014/main" id="{04A614B6-0A8E-938C-0F38-C2265DB0FF84}"/>
              </a:ext>
            </a:extLst>
          </p:cNvPr>
          <p:cNvSpPr/>
          <p:nvPr/>
        </p:nvSpPr>
        <p:spPr>
          <a:xfrm>
            <a:off x="1192345" y="1855822"/>
            <a:ext cx="2210445" cy="250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9">
            <a:extLst>
              <a:ext uri="{FF2B5EF4-FFF2-40B4-BE49-F238E27FC236}">
                <a16:creationId xmlns:a16="http://schemas.microsoft.com/office/drawing/2014/main" id="{7A0FB15B-73D0-D1BC-3854-155D7ED6E0BC}"/>
              </a:ext>
            </a:extLst>
          </p:cNvPr>
          <p:cNvSpPr/>
          <p:nvPr/>
        </p:nvSpPr>
        <p:spPr>
          <a:xfrm>
            <a:off x="810247" y="187169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0" name="Rectángulo redondeado 9">
            <a:extLst>
              <a:ext uri="{FF2B5EF4-FFF2-40B4-BE49-F238E27FC236}">
                <a16:creationId xmlns:a16="http://schemas.microsoft.com/office/drawing/2014/main" id="{F97F741F-D51E-6697-DA37-81F8897E4E55}"/>
              </a:ext>
            </a:extLst>
          </p:cNvPr>
          <p:cNvSpPr/>
          <p:nvPr/>
        </p:nvSpPr>
        <p:spPr>
          <a:xfrm>
            <a:off x="2235331" y="2813289"/>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1" name="Rectángulo 10">
            <a:extLst>
              <a:ext uri="{FF2B5EF4-FFF2-40B4-BE49-F238E27FC236}">
                <a16:creationId xmlns:a16="http://schemas.microsoft.com/office/drawing/2014/main" id="{4888DC9E-0A0B-9EE3-FA2C-CD5FD7C388B4}"/>
              </a:ext>
            </a:extLst>
          </p:cNvPr>
          <p:cNvSpPr/>
          <p:nvPr/>
        </p:nvSpPr>
        <p:spPr>
          <a:xfrm>
            <a:off x="1229002" y="5123184"/>
            <a:ext cx="2490222" cy="4255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9">
            <a:extLst>
              <a:ext uri="{FF2B5EF4-FFF2-40B4-BE49-F238E27FC236}">
                <a16:creationId xmlns:a16="http://schemas.microsoft.com/office/drawing/2014/main" id="{DD0D7E91-18A4-A309-23F0-77F0A669B939}"/>
              </a:ext>
            </a:extLst>
          </p:cNvPr>
          <p:cNvSpPr/>
          <p:nvPr/>
        </p:nvSpPr>
        <p:spPr>
          <a:xfrm>
            <a:off x="3777558" y="522408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3" name="Rectángulo 12">
            <a:extLst>
              <a:ext uri="{FF2B5EF4-FFF2-40B4-BE49-F238E27FC236}">
                <a16:creationId xmlns:a16="http://schemas.microsoft.com/office/drawing/2014/main" id="{8BBF4E38-CAA2-3E40-E6BD-012EDA9CD04D}"/>
              </a:ext>
            </a:extLst>
          </p:cNvPr>
          <p:cNvSpPr/>
          <p:nvPr/>
        </p:nvSpPr>
        <p:spPr>
          <a:xfrm>
            <a:off x="810247" y="3074130"/>
            <a:ext cx="4074318" cy="184656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5">
            <a:extLst>
              <a:ext uri="{FF2B5EF4-FFF2-40B4-BE49-F238E27FC236}">
                <a16:creationId xmlns:a16="http://schemas.microsoft.com/office/drawing/2014/main" id="{1801D888-D863-3C6D-FA50-ED952E5CAC76}"/>
              </a:ext>
            </a:extLst>
          </p:cNvPr>
          <p:cNvSpPr/>
          <p:nvPr/>
        </p:nvSpPr>
        <p:spPr>
          <a:xfrm>
            <a:off x="5844728" y="2922638"/>
            <a:ext cx="5769980" cy="21434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400" dirty="0"/>
              <a:t>Los parámetros 05, 06 y 07 habilitan la asignación de una retención asociada a los estudiantes, misma que estaría activa hasta que la hayan respondido. La retención asignada corresponderá a la que se encuentre definida en GTVSDAX &gt; Código: ‘HOLDTYPE’. EL parámetro 08 habilita el hecho que el archivo . log se encuentre el detalle de las asignaciones de encuetas realizadas.</a:t>
            </a:r>
            <a:endParaRPr lang="es-ES_tradnl" sz="1400" dirty="0"/>
          </a:p>
        </p:txBody>
      </p:sp>
      <p:sp>
        <p:nvSpPr>
          <p:cNvPr id="15" name="Rectángulo 14">
            <a:extLst>
              <a:ext uri="{FF2B5EF4-FFF2-40B4-BE49-F238E27FC236}">
                <a16:creationId xmlns:a16="http://schemas.microsoft.com/office/drawing/2014/main" id="{381568CB-12BA-F2CC-15DD-255A9976F87C}"/>
              </a:ext>
            </a:extLst>
          </p:cNvPr>
          <p:cNvSpPr/>
          <p:nvPr/>
        </p:nvSpPr>
        <p:spPr>
          <a:xfrm>
            <a:off x="11490647" y="5595122"/>
            <a:ext cx="649004" cy="33282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9">
            <a:extLst>
              <a:ext uri="{FF2B5EF4-FFF2-40B4-BE49-F238E27FC236}">
                <a16:creationId xmlns:a16="http://schemas.microsoft.com/office/drawing/2014/main" id="{8F64C9B7-281D-B251-1173-BED61582ADC7}"/>
              </a:ext>
            </a:extLst>
          </p:cNvPr>
          <p:cNvSpPr/>
          <p:nvPr/>
        </p:nvSpPr>
        <p:spPr>
          <a:xfrm>
            <a:off x="11062476" y="5623509"/>
            <a:ext cx="360421" cy="304440"/>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7" name="Rectángulo redondeado 5">
            <a:extLst>
              <a:ext uri="{FF2B5EF4-FFF2-40B4-BE49-F238E27FC236}">
                <a16:creationId xmlns:a16="http://schemas.microsoft.com/office/drawing/2014/main" id="{2B66AF6F-3019-5A35-83C0-A1CFA953B29B}"/>
              </a:ext>
            </a:extLst>
          </p:cNvPr>
          <p:cNvSpPr/>
          <p:nvPr/>
        </p:nvSpPr>
        <p:spPr>
          <a:xfrm>
            <a:off x="9290636" y="5333435"/>
            <a:ext cx="1672362" cy="9358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Presionar, el botón ‘Guardar’ para la ejecución del proceso.</a:t>
            </a:r>
          </a:p>
        </p:txBody>
      </p:sp>
    </p:spTree>
    <p:extLst>
      <p:ext uri="{BB962C8B-B14F-4D97-AF65-F5344CB8AC3E}">
        <p14:creationId xmlns:p14="http://schemas.microsoft.com/office/powerpoint/2010/main" val="2670216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a:t>
            </a:r>
            <a:endParaRPr lang="es-CL" dirty="0"/>
          </a:p>
        </p:txBody>
      </p:sp>
      <p:sp>
        <p:nvSpPr>
          <p:cNvPr id="7" name="Slide Number Placeholder 17">
            <a:extLst>
              <a:ext uri="{FF2B5EF4-FFF2-40B4-BE49-F238E27FC236}">
                <a16:creationId xmlns:a16="http://schemas.microsoft.com/office/drawing/2014/main" id="{5D4D6AC5-024D-D73A-B276-9CF7CE4374C4}"/>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39</a:t>
            </a:fld>
            <a:endParaRPr lang="en-US" dirty="0"/>
          </a:p>
        </p:txBody>
      </p:sp>
      <p:sp>
        <p:nvSpPr>
          <p:cNvPr id="8" name="Rectángulo redondeado 5">
            <a:extLst>
              <a:ext uri="{FF2B5EF4-FFF2-40B4-BE49-F238E27FC236}">
                <a16:creationId xmlns:a16="http://schemas.microsoft.com/office/drawing/2014/main" id="{52D8273B-D9BD-C9C0-16DC-591745E98E80}"/>
              </a:ext>
            </a:extLst>
          </p:cNvPr>
          <p:cNvSpPr/>
          <p:nvPr/>
        </p:nvSpPr>
        <p:spPr>
          <a:xfrm>
            <a:off x="1370600" y="1694666"/>
            <a:ext cx="6979316" cy="4148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Valores de Parámetros</a:t>
            </a:r>
          </a:p>
        </p:txBody>
      </p:sp>
      <p:graphicFrame>
        <p:nvGraphicFramePr>
          <p:cNvPr id="9" name="Tabla 8">
            <a:extLst>
              <a:ext uri="{FF2B5EF4-FFF2-40B4-BE49-F238E27FC236}">
                <a16:creationId xmlns:a16="http://schemas.microsoft.com/office/drawing/2014/main" id="{035EE122-4425-650E-EF25-4BBF016B68BE}"/>
              </a:ext>
            </a:extLst>
          </p:cNvPr>
          <p:cNvGraphicFramePr>
            <a:graphicFrameLocks noGrp="1"/>
          </p:cNvGraphicFramePr>
          <p:nvPr>
            <p:extLst>
              <p:ext uri="{D42A27DB-BD31-4B8C-83A1-F6EECF244321}">
                <p14:modId xmlns:p14="http://schemas.microsoft.com/office/powerpoint/2010/main" val="3631563581"/>
              </p:ext>
            </p:extLst>
          </p:nvPr>
        </p:nvGraphicFramePr>
        <p:xfrm>
          <a:off x="1370599" y="2288572"/>
          <a:ext cx="9174566" cy="3371349"/>
        </p:xfrm>
        <a:graphic>
          <a:graphicData uri="http://schemas.openxmlformats.org/drawingml/2006/table">
            <a:tbl>
              <a:tblPr firstRow="1" bandRow="1">
                <a:tableStyleId>{5C22544A-7EE6-4342-B048-85BDC9FD1C3A}</a:tableStyleId>
              </a:tblPr>
              <a:tblGrid>
                <a:gridCol w="776370">
                  <a:extLst>
                    <a:ext uri="{9D8B030D-6E8A-4147-A177-3AD203B41FA5}">
                      <a16:colId xmlns:a16="http://schemas.microsoft.com/office/drawing/2014/main" val="3671970364"/>
                    </a:ext>
                  </a:extLst>
                </a:gridCol>
                <a:gridCol w="1991672">
                  <a:extLst>
                    <a:ext uri="{9D8B030D-6E8A-4147-A177-3AD203B41FA5}">
                      <a16:colId xmlns:a16="http://schemas.microsoft.com/office/drawing/2014/main" val="1822289275"/>
                    </a:ext>
                  </a:extLst>
                </a:gridCol>
                <a:gridCol w="6406524">
                  <a:extLst>
                    <a:ext uri="{9D8B030D-6E8A-4147-A177-3AD203B41FA5}">
                      <a16:colId xmlns:a16="http://schemas.microsoft.com/office/drawing/2014/main" val="3567961620"/>
                    </a:ext>
                  </a:extLst>
                </a:gridCol>
              </a:tblGrid>
              <a:tr h="370840">
                <a:tc>
                  <a:txBody>
                    <a:bodyPr/>
                    <a:lstStyle/>
                    <a:p>
                      <a:pPr algn="ctr" fontAlgn="ctr"/>
                      <a:r>
                        <a:rPr lang="es-419" sz="1200" b="1" i="0" u="none" strike="noStrike" dirty="0">
                          <a:solidFill>
                            <a:srgbClr val="FFFFFF"/>
                          </a:solidFill>
                          <a:effectLst/>
                          <a:latin typeface="Calibri" panose="020F0502020204030204" pitchFamily="34" charset="0"/>
                        </a:rPr>
                        <a:t>Número</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Parámetros</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Descripción</a:t>
                      </a:r>
                    </a:p>
                  </a:txBody>
                  <a:tcPr marL="0" marR="0" marT="0" marB="0" anchor="ctr"/>
                </a:tc>
                <a:extLst>
                  <a:ext uri="{0D108BD9-81ED-4DB2-BD59-A6C34878D82A}">
                    <a16:rowId xmlns:a16="http://schemas.microsoft.com/office/drawing/2014/main" val="1600408903"/>
                  </a:ext>
                </a:extLst>
              </a:tr>
              <a:tr h="404629">
                <a:tc>
                  <a:txBody>
                    <a:bodyPr/>
                    <a:lstStyle/>
                    <a:p>
                      <a:pPr algn="ctr" rtl="0" fontAlgn="b"/>
                      <a:r>
                        <a:rPr lang="es-419" sz="1200" b="0" i="0" u="none" strike="noStrike" dirty="0">
                          <a:solidFill>
                            <a:srgbClr val="000000"/>
                          </a:solidFill>
                          <a:effectLst/>
                          <a:latin typeface="Calibri" panose="020F0502020204030204" pitchFamily="34" charset="0"/>
                        </a:rPr>
                        <a:t>1</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periodo*</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Periodo académico donde están programados los NRC a los cuales se asociará la encuesta a los estudiantes inscritos en dichos NRC.</a:t>
                      </a:r>
                    </a:p>
                  </a:txBody>
                  <a:tcPr marL="0" marR="0" marT="0" marB="0" anchor="ctr"/>
                </a:tc>
                <a:extLst>
                  <a:ext uri="{0D108BD9-81ED-4DB2-BD59-A6C34878D82A}">
                    <a16:rowId xmlns:a16="http://schemas.microsoft.com/office/drawing/2014/main" val="1252697042"/>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2</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materia</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materia de las asignaturas a asociar las encuestas a los estudiantes</a:t>
                      </a:r>
                    </a:p>
                  </a:txBody>
                  <a:tcPr marL="0" marR="0" marT="0" marB="0" anchor="ctr"/>
                </a:tc>
                <a:extLst>
                  <a:ext uri="{0D108BD9-81ED-4DB2-BD59-A6C34878D82A}">
                    <a16:rowId xmlns:a16="http://schemas.microsoft.com/office/drawing/2014/main" val="2717954487"/>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3</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Número de curso</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curso de las asignaturas a asociar las encuestas a los estudiantes</a:t>
                      </a:r>
                    </a:p>
                  </a:txBody>
                  <a:tcPr marL="0" marR="0" marT="0" marB="0" anchor="ctr"/>
                </a:tc>
                <a:extLst>
                  <a:ext uri="{0D108BD9-81ED-4DB2-BD59-A6C34878D82A}">
                    <a16:rowId xmlns:a16="http://schemas.microsoft.com/office/drawing/2014/main" val="3807490090"/>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4</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NRC</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NRC específico al cual se asignaría una encuesta a los estudiantes</a:t>
                      </a:r>
                    </a:p>
                  </a:txBody>
                  <a:tcPr marL="0" marR="0" marT="0" marB="0" anchor="ctr"/>
                </a:tc>
                <a:extLst>
                  <a:ext uri="{0D108BD9-81ED-4DB2-BD59-A6C34878D82A}">
                    <a16:rowId xmlns:a16="http://schemas.microsoft.com/office/drawing/2014/main" val="580853560"/>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5</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Crear retención [Y/N]*</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Usar ‘Y’ en el caso que se desee que el archivo .log contenga el detalle de la asignación por cada NRC identificado. Usar ‘N’ en caso de que no se requiera este detalle.</a:t>
                      </a:r>
                    </a:p>
                  </a:txBody>
                  <a:tcPr marL="0" marR="0" marT="0" marB="0" anchor="ctr"/>
                </a:tc>
                <a:extLst>
                  <a:ext uri="{0D108BD9-81ED-4DB2-BD59-A6C34878D82A}">
                    <a16:rowId xmlns:a16="http://schemas.microsoft.com/office/drawing/2014/main" val="3452798"/>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6</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Fecha de inicio de retención</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Fecha de inicio de la retención. Debe tener el formato DD-MMM-AAAA y no puede ser una fecha anterior a la actual.</a:t>
                      </a:r>
                    </a:p>
                  </a:txBody>
                  <a:tcPr marL="0" marR="0" marT="0" marB="0" anchor="ctr"/>
                </a:tc>
                <a:extLst>
                  <a:ext uri="{0D108BD9-81ED-4DB2-BD59-A6C34878D82A}">
                    <a16:rowId xmlns:a16="http://schemas.microsoft.com/office/drawing/2014/main" val="2785379510"/>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7</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Fecha de fin de retención</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Fecha de fin de la retención. Debe tener el formato DD-MMM-AAAA.</a:t>
                      </a:r>
                    </a:p>
                  </a:txBody>
                  <a:tcPr marL="0" marR="0" marT="0" marB="0" anchor="ctr"/>
                </a:tc>
                <a:extLst>
                  <a:ext uri="{0D108BD9-81ED-4DB2-BD59-A6C34878D82A}">
                    <a16:rowId xmlns:a16="http://schemas.microsoft.com/office/drawing/2014/main" val="41993088"/>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8</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Reporte Detallado [Y/N]*</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Usar ‘Y’ en el caso que se desee que el archivo .log contenga el detalle de la asignación por cada NRC identificado. Usar ‘N’ en caso de que no se requiera este detalle.</a:t>
                      </a:r>
                    </a:p>
                  </a:txBody>
                  <a:tcPr marL="0" marR="0" marT="0" marB="0" anchor="ctr"/>
                </a:tc>
                <a:extLst>
                  <a:ext uri="{0D108BD9-81ED-4DB2-BD59-A6C34878D82A}">
                    <a16:rowId xmlns:a16="http://schemas.microsoft.com/office/drawing/2014/main" val="2183416493"/>
                  </a:ext>
                </a:extLst>
              </a:tr>
            </a:tbl>
          </a:graphicData>
        </a:graphic>
      </p:graphicFrame>
    </p:spTree>
    <p:extLst>
      <p:ext uri="{BB962C8B-B14F-4D97-AF65-F5344CB8AC3E}">
        <p14:creationId xmlns:p14="http://schemas.microsoft.com/office/powerpoint/2010/main" val="28295979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DACBB02-2253-E720-84AC-CC18DAA3662C}"/>
              </a:ext>
            </a:extLst>
          </p:cNvPr>
          <p:cNvPicPr>
            <a:picLocks noChangeAspect="1"/>
          </p:cNvPicPr>
          <p:nvPr/>
        </p:nvPicPr>
        <p:blipFill>
          <a:blip r:embed="rId2"/>
          <a:stretch>
            <a:fillRect/>
          </a:stretch>
        </p:blipFill>
        <p:spPr>
          <a:xfrm>
            <a:off x="622570" y="1235241"/>
            <a:ext cx="11082050" cy="487587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 .LOG</a:t>
            </a:r>
            <a:endParaRPr lang="es-CL" dirty="0"/>
          </a:p>
        </p:txBody>
      </p:sp>
      <p:sp>
        <p:nvSpPr>
          <p:cNvPr id="7" name="Slide Number Placeholder 17">
            <a:extLst>
              <a:ext uri="{FF2B5EF4-FFF2-40B4-BE49-F238E27FC236}">
                <a16:creationId xmlns:a16="http://schemas.microsoft.com/office/drawing/2014/main" id="{5D4D6AC5-024D-D73A-B276-9CF7CE4374C4}"/>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40</a:t>
            </a:fld>
            <a:endParaRPr lang="en-US" dirty="0"/>
          </a:p>
        </p:txBody>
      </p:sp>
      <p:sp>
        <p:nvSpPr>
          <p:cNvPr id="18" name="Rectángulo 17">
            <a:extLst>
              <a:ext uri="{FF2B5EF4-FFF2-40B4-BE49-F238E27FC236}">
                <a16:creationId xmlns:a16="http://schemas.microsoft.com/office/drawing/2014/main" id="{54859F25-A7C7-DABB-C2EF-7DA104BC9EA9}"/>
              </a:ext>
            </a:extLst>
          </p:cNvPr>
          <p:cNvSpPr/>
          <p:nvPr/>
        </p:nvSpPr>
        <p:spPr>
          <a:xfrm>
            <a:off x="9624447" y="2104206"/>
            <a:ext cx="1916113" cy="34974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13EAA134-427F-7C6F-F932-A8E79FC60285}"/>
              </a:ext>
            </a:extLst>
          </p:cNvPr>
          <p:cNvSpPr/>
          <p:nvPr/>
        </p:nvSpPr>
        <p:spPr>
          <a:xfrm>
            <a:off x="4276168" y="1890239"/>
            <a:ext cx="3695660" cy="7776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consultar la salida del proceso, se presiona el botón RELACIONADO.</a:t>
            </a:r>
          </a:p>
        </p:txBody>
      </p:sp>
      <p:sp>
        <p:nvSpPr>
          <p:cNvPr id="10" name="Rectángulo 17">
            <a:extLst>
              <a:ext uri="{FF2B5EF4-FFF2-40B4-BE49-F238E27FC236}">
                <a16:creationId xmlns:a16="http://schemas.microsoft.com/office/drawing/2014/main" id="{7DA59B20-7427-A911-3853-5BAEA83DD06E}"/>
              </a:ext>
            </a:extLst>
          </p:cNvPr>
          <p:cNvSpPr/>
          <p:nvPr/>
        </p:nvSpPr>
        <p:spPr>
          <a:xfrm>
            <a:off x="10322351" y="1558391"/>
            <a:ext cx="490194"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D7F229E3-C3BD-BF9B-207C-769003474962}"/>
              </a:ext>
            </a:extLst>
          </p:cNvPr>
          <p:cNvSpPr/>
          <p:nvPr/>
        </p:nvSpPr>
        <p:spPr>
          <a:xfrm>
            <a:off x="5411780" y="3455599"/>
            <a:ext cx="3879737" cy="73448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Luego se selecciona la opción Revisar salida [GJIREVO]</a:t>
            </a:r>
          </a:p>
        </p:txBody>
      </p:sp>
      <p:sp>
        <p:nvSpPr>
          <p:cNvPr id="12" name="Rectángulo redondeado 9">
            <a:extLst>
              <a:ext uri="{FF2B5EF4-FFF2-40B4-BE49-F238E27FC236}">
                <a16:creationId xmlns:a16="http://schemas.microsoft.com/office/drawing/2014/main" id="{AC6C81F3-6D10-F8A5-8DEE-B6FE193AF789}"/>
              </a:ext>
            </a:extLst>
          </p:cNvPr>
          <p:cNvSpPr/>
          <p:nvPr/>
        </p:nvSpPr>
        <p:spPr>
          <a:xfrm>
            <a:off x="9837911" y="1558391"/>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3" name="Rectángulo redondeado 9">
            <a:extLst>
              <a:ext uri="{FF2B5EF4-FFF2-40B4-BE49-F238E27FC236}">
                <a16:creationId xmlns:a16="http://schemas.microsoft.com/office/drawing/2014/main" id="{9FF06E98-F47C-98DE-2BFD-39EAA8E4FDA4}"/>
              </a:ext>
            </a:extLst>
          </p:cNvPr>
          <p:cNvSpPr/>
          <p:nvPr/>
        </p:nvSpPr>
        <p:spPr>
          <a:xfrm>
            <a:off x="9099966" y="2183502"/>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Tree>
    <p:extLst>
      <p:ext uri="{BB962C8B-B14F-4D97-AF65-F5344CB8AC3E}">
        <p14:creationId xmlns:p14="http://schemas.microsoft.com/office/powerpoint/2010/main" val="294288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9B98-75EF-72F9-271D-70C5F8CC3955}"/>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8D924725-79BF-13BF-1BE2-66FFD1BEE351}"/>
              </a:ext>
            </a:extLst>
          </p:cNvPr>
          <p:cNvPicPr>
            <a:picLocks noChangeAspect="1"/>
          </p:cNvPicPr>
          <p:nvPr/>
        </p:nvPicPr>
        <p:blipFill>
          <a:blip r:embed="rId2"/>
          <a:stretch>
            <a:fillRect/>
          </a:stretch>
        </p:blipFill>
        <p:spPr>
          <a:xfrm>
            <a:off x="1247081" y="895546"/>
            <a:ext cx="10755338" cy="4868857"/>
          </a:xfrm>
          <a:prstGeom prst="rect">
            <a:avLst/>
          </a:prstGeom>
        </p:spPr>
      </p:pic>
      <p:sp>
        <p:nvSpPr>
          <p:cNvPr id="3" name="Marcador de texto vertical 2">
            <a:extLst>
              <a:ext uri="{FF2B5EF4-FFF2-40B4-BE49-F238E27FC236}">
                <a16:creationId xmlns:a16="http://schemas.microsoft.com/office/drawing/2014/main" id="{6F423AD7-4059-8ABE-8EB4-4687D8EFBBB7}"/>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CFEF9112-955B-6C63-0D0A-E758E1206E05}"/>
              </a:ext>
            </a:extLst>
          </p:cNvPr>
          <p:cNvSpPr>
            <a:spLocks noGrp="1"/>
          </p:cNvSpPr>
          <p:nvPr>
            <p:ph type="sldNum" sz="quarter" idx="4"/>
          </p:nvPr>
        </p:nvSpPr>
        <p:spPr/>
        <p:txBody>
          <a:bodyPr/>
          <a:lstStyle/>
          <a:p>
            <a:fld id="{4A16F8ED-7337-F64C-865A-41A1F48E54DF}" type="slidenum">
              <a:rPr lang="en-US" smtClean="0"/>
              <a:pPr/>
              <a:t>41</a:t>
            </a:fld>
            <a:endParaRPr lang="en-US" dirty="0"/>
          </a:p>
        </p:txBody>
      </p:sp>
      <p:sp>
        <p:nvSpPr>
          <p:cNvPr id="4" name="Título 3">
            <a:extLst>
              <a:ext uri="{FF2B5EF4-FFF2-40B4-BE49-F238E27FC236}">
                <a16:creationId xmlns:a16="http://schemas.microsoft.com/office/drawing/2014/main" id="{63893DF9-E6B3-B503-E5C9-6119006B314D}"/>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 .LOG</a:t>
            </a:r>
            <a:endParaRPr lang="es-CL" dirty="0"/>
          </a:p>
        </p:txBody>
      </p:sp>
      <p:sp>
        <p:nvSpPr>
          <p:cNvPr id="7" name="Slide Number Placeholder 17">
            <a:extLst>
              <a:ext uri="{FF2B5EF4-FFF2-40B4-BE49-F238E27FC236}">
                <a16:creationId xmlns:a16="http://schemas.microsoft.com/office/drawing/2014/main" id="{9DCBC97F-39FB-7D51-14D6-18BAD3758EE0}"/>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41</a:t>
            </a:fld>
            <a:endParaRPr lang="en-US" dirty="0"/>
          </a:p>
        </p:txBody>
      </p:sp>
      <p:sp>
        <p:nvSpPr>
          <p:cNvPr id="18" name="Rectángulo 17">
            <a:extLst>
              <a:ext uri="{FF2B5EF4-FFF2-40B4-BE49-F238E27FC236}">
                <a16:creationId xmlns:a16="http://schemas.microsoft.com/office/drawing/2014/main" id="{1459711D-5761-C63E-20BE-273B5CC65AB3}"/>
              </a:ext>
            </a:extLst>
          </p:cNvPr>
          <p:cNvSpPr/>
          <p:nvPr/>
        </p:nvSpPr>
        <p:spPr>
          <a:xfrm>
            <a:off x="1292471" y="1743331"/>
            <a:ext cx="2110296" cy="20485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70A88DD7-0414-EC4D-4D7C-2BC8DDCB30B9}"/>
              </a:ext>
            </a:extLst>
          </p:cNvPr>
          <p:cNvSpPr/>
          <p:nvPr/>
        </p:nvSpPr>
        <p:spPr>
          <a:xfrm>
            <a:off x="7502016" y="1894140"/>
            <a:ext cx="3879737" cy="9730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abrirse la página GJIREVO, esta relaciona la información del proceso ejecutado y el número del proceso generado.</a:t>
            </a:r>
          </a:p>
        </p:txBody>
      </p:sp>
      <p:sp>
        <p:nvSpPr>
          <p:cNvPr id="10" name="Rectángulo 17">
            <a:extLst>
              <a:ext uri="{FF2B5EF4-FFF2-40B4-BE49-F238E27FC236}">
                <a16:creationId xmlns:a16="http://schemas.microsoft.com/office/drawing/2014/main" id="{13629384-234B-2CFA-F1D6-B8FCE8633773}"/>
              </a:ext>
            </a:extLst>
          </p:cNvPr>
          <p:cNvSpPr/>
          <p:nvPr/>
        </p:nvSpPr>
        <p:spPr>
          <a:xfrm>
            <a:off x="1671385" y="1521499"/>
            <a:ext cx="6663473"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96821836-9D8E-88B4-7336-220E96C021A9}"/>
              </a:ext>
            </a:extLst>
          </p:cNvPr>
          <p:cNvSpPr/>
          <p:nvPr/>
        </p:nvSpPr>
        <p:spPr>
          <a:xfrm>
            <a:off x="1292471" y="2524991"/>
            <a:ext cx="3879737" cy="73448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Desplegar la lista del campo </a:t>
            </a:r>
            <a:r>
              <a:rPr lang="es-ES_tradnl" sz="1400" b="1" dirty="0"/>
              <a:t>Nombre de archivo</a:t>
            </a:r>
            <a:r>
              <a:rPr lang="es-ES_tradnl" sz="1400" dirty="0"/>
              <a:t>.</a:t>
            </a:r>
          </a:p>
        </p:txBody>
      </p:sp>
      <p:sp>
        <p:nvSpPr>
          <p:cNvPr id="12" name="Rectángulo redondeado 9">
            <a:extLst>
              <a:ext uri="{FF2B5EF4-FFF2-40B4-BE49-F238E27FC236}">
                <a16:creationId xmlns:a16="http://schemas.microsoft.com/office/drawing/2014/main" id="{11E7B922-7B54-26D2-CB77-E026739AC93C}"/>
              </a:ext>
            </a:extLst>
          </p:cNvPr>
          <p:cNvSpPr/>
          <p:nvPr/>
        </p:nvSpPr>
        <p:spPr>
          <a:xfrm>
            <a:off x="3479600" y="1793863"/>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10</a:t>
            </a:r>
          </a:p>
        </p:txBody>
      </p:sp>
      <p:sp>
        <p:nvSpPr>
          <p:cNvPr id="13" name="Rectángulo redondeado 9">
            <a:extLst>
              <a:ext uri="{FF2B5EF4-FFF2-40B4-BE49-F238E27FC236}">
                <a16:creationId xmlns:a16="http://schemas.microsoft.com/office/drawing/2014/main" id="{B6DF7160-72F5-7F08-8B29-47893C25D00E}"/>
              </a:ext>
            </a:extLst>
          </p:cNvPr>
          <p:cNvSpPr/>
          <p:nvPr/>
        </p:nvSpPr>
        <p:spPr>
          <a:xfrm>
            <a:off x="886660" y="148810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Tree>
    <p:extLst>
      <p:ext uri="{BB962C8B-B14F-4D97-AF65-F5344CB8AC3E}">
        <p14:creationId xmlns:p14="http://schemas.microsoft.com/office/powerpoint/2010/main" val="287335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BF7B-1295-C680-E7B1-A0304242CDB4}"/>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B00D0065-1B02-5166-C385-FA093E0413B4}"/>
              </a:ext>
            </a:extLst>
          </p:cNvPr>
          <p:cNvPicPr>
            <a:picLocks noChangeAspect="1"/>
          </p:cNvPicPr>
          <p:nvPr/>
        </p:nvPicPr>
        <p:blipFill>
          <a:blip r:embed="rId2"/>
          <a:stretch>
            <a:fillRect/>
          </a:stretch>
        </p:blipFill>
        <p:spPr>
          <a:xfrm>
            <a:off x="810246" y="1235241"/>
            <a:ext cx="10967057" cy="4939187"/>
          </a:xfrm>
          <a:prstGeom prst="rect">
            <a:avLst/>
          </a:prstGeom>
        </p:spPr>
      </p:pic>
      <p:sp>
        <p:nvSpPr>
          <p:cNvPr id="3" name="Marcador de texto vertical 2">
            <a:extLst>
              <a:ext uri="{FF2B5EF4-FFF2-40B4-BE49-F238E27FC236}">
                <a16:creationId xmlns:a16="http://schemas.microsoft.com/office/drawing/2014/main" id="{26A82801-985B-D22B-423E-5A3EBE594608}"/>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F1BE2FE7-3BF7-29AB-6899-7F8B6486FF09}"/>
              </a:ext>
            </a:extLst>
          </p:cNvPr>
          <p:cNvSpPr>
            <a:spLocks noGrp="1"/>
          </p:cNvSpPr>
          <p:nvPr>
            <p:ph type="sldNum" sz="quarter" idx="4"/>
          </p:nvPr>
        </p:nvSpPr>
        <p:spPr/>
        <p:txBody>
          <a:bodyPr/>
          <a:lstStyle/>
          <a:p>
            <a:fld id="{4A16F8ED-7337-F64C-865A-41A1F48E54DF}" type="slidenum">
              <a:rPr lang="en-US" smtClean="0"/>
              <a:pPr/>
              <a:t>42</a:t>
            </a:fld>
            <a:endParaRPr lang="en-US" dirty="0"/>
          </a:p>
        </p:txBody>
      </p:sp>
      <p:sp>
        <p:nvSpPr>
          <p:cNvPr id="4" name="Título 3">
            <a:extLst>
              <a:ext uri="{FF2B5EF4-FFF2-40B4-BE49-F238E27FC236}">
                <a16:creationId xmlns:a16="http://schemas.microsoft.com/office/drawing/2014/main" id="{C2732DEA-E282-B129-0570-07B8712F977D}"/>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 .LOG</a:t>
            </a:r>
            <a:endParaRPr lang="es-CL" dirty="0"/>
          </a:p>
        </p:txBody>
      </p:sp>
      <p:sp>
        <p:nvSpPr>
          <p:cNvPr id="7" name="Slide Number Placeholder 17">
            <a:extLst>
              <a:ext uri="{FF2B5EF4-FFF2-40B4-BE49-F238E27FC236}">
                <a16:creationId xmlns:a16="http://schemas.microsoft.com/office/drawing/2014/main" id="{E1261479-97FC-BCD9-232F-5E5DEADCF390}"/>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42</a:t>
            </a:fld>
            <a:endParaRPr lang="en-US" dirty="0"/>
          </a:p>
        </p:txBody>
      </p:sp>
      <p:sp>
        <p:nvSpPr>
          <p:cNvPr id="18" name="Rectángulo 17">
            <a:extLst>
              <a:ext uri="{FF2B5EF4-FFF2-40B4-BE49-F238E27FC236}">
                <a16:creationId xmlns:a16="http://schemas.microsoft.com/office/drawing/2014/main" id="{42318F4F-FFC8-4E8C-F1E2-8D386CC6E05E}"/>
              </a:ext>
            </a:extLst>
          </p:cNvPr>
          <p:cNvSpPr/>
          <p:nvPr/>
        </p:nvSpPr>
        <p:spPr>
          <a:xfrm>
            <a:off x="7660856" y="5100635"/>
            <a:ext cx="598321" cy="19395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EF29BE79-300E-3021-31FF-95E59460ED5B}"/>
              </a:ext>
            </a:extLst>
          </p:cNvPr>
          <p:cNvSpPr/>
          <p:nvPr/>
        </p:nvSpPr>
        <p:spPr>
          <a:xfrm>
            <a:off x="439538" y="4355941"/>
            <a:ext cx="3879737" cy="9730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relacionan los archivos .lis y .log generados en el proceso con la información de los registros procesados, la fecha y la hora de la ejecución del proceso.</a:t>
            </a:r>
          </a:p>
        </p:txBody>
      </p:sp>
      <p:sp>
        <p:nvSpPr>
          <p:cNvPr id="10" name="Rectángulo 17">
            <a:extLst>
              <a:ext uri="{FF2B5EF4-FFF2-40B4-BE49-F238E27FC236}">
                <a16:creationId xmlns:a16="http://schemas.microsoft.com/office/drawing/2014/main" id="{AD7869E4-528D-FA07-AFEC-39550EBEC42C}"/>
              </a:ext>
            </a:extLst>
          </p:cNvPr>
          <p:cNvSpPr/>
          <p:nvPr/>
        </p:nvSpPr>
        <p:spPr>
          <a:xfrm>
            <a:off x="4377357" y="3245793"/>
            <a:ext cx="3635267" cy="37593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0D0BDA89-B8BC-0D01-FD6E-48ACC3748D2B}"/>
              </a:ext>
            </a:extLst>
          </p:cNvPr>
          <p:cNvSpPr/>
          <p:nvPr/>
        </p:nvSpPr>
        <p:spPr>
          <a:xfrm>
            <a:off x="1292471" y="1880547"/>
            <a:ext cx="3062554" cy="98684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despliega la ventana emergente con los Archivos disponibles.</a:t>
            </a:r>
          </a:p>
        </p:txBody>
      </p:sp>
      <p:sp>
        <p:nvSpPr>
          <p:cNvPr id="13" name="Rectángulo redondeado 9">
            <a:extLst>
              <a:ext uri="{FF2B5EF4-FFF2-40B4-BE49-F238E27FC236}">
                <a16:creationId xmlns:a16="http://schemas.microsoft.com/office/drawing/2014/main" id="{728202D7-8576-5C7D-DB1D-D1D01B271779}"/>
              </a:ext>
            </a:extLst>
          </p:cNvPr>
          <p:cNvSpPr/>
          <p:nvPr/>
        </p:nvSpPr>
        <p:spPr>
          <a:xfrm>
            <a:off x="3688918" y="3271736"/>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12</a:t>
            </a:r>
          </a:p>
        </p:txBody>
      </p:sp>
      <p:sp>
        <p:nvSpPr>
          <p:cNvPr id="14" name="Rectángulo redondeado 9">
            <a:extLst>
              <a:ext uri="{FF2B5EF4-FFF2-40B4-BE49-F238E27FC236}">
                <a16:creationId xmlns:a16="http://schemas.microsoft.com/office/drawing/2014/main" id="{32E76D81-3AA5-5B86-9469-B06B0E5E6BAC}"/>
              </a:ext>
            </a:extLst>
          </p:cNvPr>
          <p:cNvSpPr/>
          <p:nvPr/>
        </p:nvSpPr>
        <p:spPr>
          <a:xfrm>
            <a:off x="8359500" y="4881938"/>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13</a:t>
            </a:r>
          </a:p>
        </p:txBody>
      </p:sp>
      <p:sp>
        <p:nvSpPr>
          <p:cNvPr id="15" name="Rectángulo redondeado 9">
            <a:extLst>
              <a:ext uri="{FF2B5EF4-FFF2-40B4-BE49-F238E27FC236}">
                <a16:creationId xmlns:a16="http://schemas.microsoft.com/office/drawing/2014/main" id="{2C548AC4-A5D5-03C0-185A-26390874DB6B}"/>
              </a:ext>
            </a:extLst>
          </p:cNvPr>
          <p:cNvSpPr/>
          <p:nvPr/>
        </p:nvSpPr>
        <p:spPr>
          <a:xfrm>
            <a:off x="4476828" y="203775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11</a:t>
            </a:r>
          </a:p>
        </p:txBody>
      </p:sp>
      <p:sp>
        <p:nvSpPr>
          <p:cNvPr id="16" name="Rectángulo redondeado 5">
            <a:extLst>
              <a:ext uri="{FF2B5EF4-FFF2-40B4-BE49-F238E27FC236}">
                <a16:creationId xmlns:a16="http://schemas.microsoft.com/office/drawing/2014/main" id="{E51E7610-C70B-6960-B79C-536B14784A6A}"/>
              </a:ext>
            </a:extLst>
          </p:cNvPr>
          <p:cNvSpPr/>
          <p:nvPr/>
        </p:nvSpPr>
        <p:spPr>
          <a:xfrm>
            <a:off x="8359500" y="3815989"/>
            <a:ext cx="2073245" cy="9182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Luego de seleccionar el archivo a abrir, se presiona el botón</a:t>
            </a:r>
            <a:r>
              <a:rPr lang="es-ES_tradnl" sz="1400" b="1" dirty="0"/>
              <a:t> OK</a:t>
            </a:r>
            <a:r>
              <a:rPr lang="es-ES_tradnl" sz="1400" dirty="0"/>
              <a:t>.</a:t>
            </a:r>
          </a:p>
        </p:txBody>
      </p:sp>
      <p:pic>
        <p:nvPicPr>
          <p:cNvPr id="8" name="Imagen 7">
            <a:extLst>
              <a:ext uri="{FF2B5EF4-FFF2-40B4-BE49-F238E27FC236}">
                <a16:creationId xmlns:a16="http://schemas.microsoft.com/office/drawing/2014/main" id="{1AFB7DF9-582A-D315-8D4C-3E78132B337F}"/>
              </a:ext>
            </a:extLst>
          </p:cNvPr>
          <p:cNvPicPr>
            <a:picLocks noChangeAspect="1"/>
          </p:cNvPicPr>
          <p:nvPr/>
        </p:nvPicPr>
        <p:blipFill>
          <a:blip r:embed="rId3"/>
          <a:stretch>
            <a:fillRect/>
          </a:stretch>
        </p:blipFill>
        <p:spPr>
          <a:xfrm>
            <a:off x="6091237" y="3424237"/>
            <a:ext cx="9526" cy="9526"/>
          </a:xfrm>
          <a:prstGeom prst="rect">
            <a:avLst/>
          </a:prstGeom>
        </p:spPr>
      </p:pic>
    </p:spTree>
    <p:extLst>
      <p:ext uri="{BB962C8B-B14F-4D97-AF65-F5344CB8AC3E}">
        <p14:creationId xmlns:p14="http://schemas.microsoft.com/office/powerpoint/2010/main" val="3690118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C7A84-C0DA-D738-64A4-93FBA5B70E6B}"/>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A8D90FB9-F57F-407F-4BFB-B7D9E160CBA1}"/>
              </a:ext>
            </a:extLst>
          </p:cNvPr>
          <p:cNvPicPr>
            <a:picLocks noChangeAspect="1"/>
          </p:cNvPicPr>
          <p:nvPr/>
        </p:nvPicPr>
        <p:blipFill>
          <a:blip r:embed="rId2"/>
          <a:stretch>
            <a:fillRect/>
          </a:stretch>
        </p:blipFill>
        <p:spPr>
          <a:xfrm>
            <a:off x="810247" y="1366887"/>
            <a:ext cx="10637868" cy="4829836"/>
          </a:xfrm>
          <a:prstGeom prst="rect">
            <a:avLst/>
          </a:prstGeom>
        </p:spPr>
      </p:pic>
      <p:sp>
        <p:nvSpPr>
          <p:cNvPr id="3" name="Marcador de texto vertical 2">
            <a:extLst>
              <a:ext uri="{FF2B5EF4-FFF2-40B4-BE49-F238E27FC236}">
                <a16:creationId xmlns:a16="http://schemas.microsoft.com/office/drawing/2014/main" id="{45839FF8-2F4C-BA87-BDCB-84433ACE3A56}"/>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2BF57158-3095-79CC-5D49-CDF5714575BD}"/>
              </a:ext>
            </a:extLst>
          </p:cNvPr>
          <p:cNvSpPr>
            <a:spLocks noGrp="1"/>
          </p:cNvSpPr>
          <p:nvPr>
            <p:ph type="sldNum" sz="quarter" idx="4"/>
          </p:nvPr>
        </p:nvSpPr>
        <p:spPr/>
        <p:txBody>
          <a:bodyPr/>
          <a:lstStyle/>
          <a:p>
            <a:fld id="{4A16F8ED-7337-F64C-865A-41A1F48E54DF}" type="slidenum">
              <a:rPr lang="en-US" smtClean="0"/>
              <a:pPr/>
              <a:t>43</a:t>
            </a:fld>
            <a:endParaRPr lang="en-US" dirty="0"/>
          </a:p>
        </p:txBody>
      </p:sp>
      <p:sp>
        <p:nvSpPr>
          <p:cNvPr id="4" name="Título 3">
            <a:extLst>
              <a:ext uri="{FF2B5EF4-FFF2-40B4-BE49-F238E27FC236}">
                <a16:creationId xmlns:a16="http://schemas.microsoft.com/office/drawing/2014/main" id="{FF14304E-6415-E6DE-105B-D535E3C15D74}"/>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 .LOG</a:t>
            </a:r>
            <a:endParaRPr lang="es-CL" dirty="0"/>
          </a:p>
        </p:txBody>
      </p:sp>
      <p:sp>
        <p:nvSpPr>
          <p:cNvPr id="7" name="Slide Number Placeholder 17">
            <a:extLst>
              <a:ext uri="{FF2B5EF4-FFF2-40B4-BE49-F238E27FC236}">
                <a16:creationId xmlns:a16="http://schemas.microsoft.com/office/drawing/2014/main" id="{53EB3EA4-EC8E-9D1C-BFDC-6777246FF10A}"/>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43</a:t>
            </a:fld>
            <a:endParaRPr lang="en-US" dirty="0"/>
          </a:p>
        </p:txBody>
      </p:sp>
      <p:sp>
        <p:nvSpPr>
          <p:cNvPr id="18" name="Rectángulo 17">
            <a:extLst>
              <a:ext uri="{FF2B5EF4-FFF2-40B4-BE49-F238E27FC236}">
                <a16:creationId xmlns:a16="http://schemas.microsoft.com/office/drawing/2014/main" id="{38A54ED6-BDFF-60BD-6905-F7F439A71A0B}"/>
              </a:ext>
            </a:extLst>
          </p:cNvPr>
          <p:cNvSpPr/>
          <p:nvPr/>
        </p:nvSpPr>
        <p:spPr>
          <a:xfrm>
            <a:off x="743885" y="3266621"/>
            <a:ext cx="3920744" cy="52225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AD9DA5AF-B665-975C-2595-1CC211294BB1}"/>
              </a:ext>
            </a:extLst>
          </p:cNvPr>
          <p:cNvSpPr/>
          <p:nvPr/>
        </p:nvSpPr>
        <p:spPr>
          <a:xfrm>
            <a:off x="5460617" y="2651321"/>
            <a:ext cx="5769980" cy="10331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archivo .log indica si el proceso se ejecutó o no exitosamente. En caso de que el proceso no se ejecute de forma exitosa, se deben validar los pasos anteriormente descritos y volverlo a ejecutar.</a:t>
            </a:r>
          </a:p>
        </p:txBody>
      </p:sp>
    </p:spTree>
    <p:extLst>
      <p:ext uri="{BB962C8B-B14F-4D97-AF65-F5344CB8AC3E}">
        <p14:creationId xmlns:p14="http://schemas.microsoft.com/office/powerpoint/2010/main" val="1690383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8DAC8E7-57AA-7467-44B3-0C4B98CBECA7}"/>
              </a:ext>
            </a:extLst>
          </p:cNvPr>
          <p:cNvPicPr>
            <a:picLocks noChangeAspect="1"/>
          </p:cNvPicPr>
          <p:nvPr/>
        </p:nvPicPr>
        <p:blipFill>
          <a:blip r:embed="rId2"/>
          <a:stretch>
            <a:fillRect/>
          </a:stretch>
        </p:blipFill>
        <p:spPr>
          <a:xfrm>
            <a:off x="890354" y="1392649"/>
            <a:ext cx="10656487" cy="48185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SVPSTSS </a:t>
            </a:r>
            <a:r>
              <a:rPr lang="es-419" sz="3000" b="1" dirty="0"/>
              <a:t>Asignación TESS de alumnos .LIS</a:t>
            </a:r>
            <a:endParaRPr lang="es-CL" dirty="0"/>
          </a:p>
        </p:txBody>
      </p:sp>
      <p:sp>
        <p:nvSpPr>
          <p:cNvPr id="7" name="Slide Number Placeholder 17">
            <a:extLst>
              <a:ext uri="{FF2B5EF4-FFF2-40B4-BE49-F238E27FC236}">
                <a16:creationId xmlns:a16="http://schemas.microsoft.com/office/drawing/2014/main" id="{5D4D6AC5-024D-D73A-B276-9CF7CE4374C4}"/>
              </a:ext>
            </a:extLst>
          </p:cNvPr>
          <p:cNvSpPr txBox="1">
            <a:spLocks/>
          </p:cNvSpPr>
          <p:nvPr/>
        </p:nvSpPr>
        <p:spPr>
          <a:xfrm>
            <a:off x="0" y="6356349"/>
            <a:ext cx="622570"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6F8ED-7337-F64C-865A-41A1F48E54DF}" type="slidenum">
              <a:rPr lang="en-US" smtClean="0"/>
              <a:pPr/>
              <a:t>44</a:t>
            </a:fld>
            <a:endParaRPr lang="en-US" dirty="0"/>
          </a:p>
        </p:txBody>
      </p:sp>
      <p:sp>
        <p:nvSpPr>
          <p:cNvPr id="18" name="Rectángulo 17">
            <a:extLst>
              <a:ext uri="{FF2B5EF4-FFF2-40B4-BE49-F238E27FC236}">
                <a16:creationId xmlns:a16="http://schemas.microsoft.com/office/drawing/2014/main" id="{1C98E89F-9D36-38CC-9512-6D1B96E71C20}"/>
              </a:ext>
            </a:extLst>
          </p:cNvPr>
          <p:cNvSpPr/>
          <p:nvPr/>
        </p:nvSpPr>
        <p:spPr>
          <a:xfrm>
            <a:off x="768144" y="3334393"/>
            <a:ext cx="5178044" cy="201060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57C7ACC9-2A39-AD9A-3A4A-E2B6E90C6D65}"/>
              </a:ext>
            </a:extLst>
          </p:cNvPr>
          <p:cNvSpPr/>
          <p:nvPr/>
        </p:nvSpPr>
        <p:spPr>
          <a:xfrm>
            <a:off x="6624695" y="3405271"/>
            <a:ext cx="4676951" cy="15307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archivo .lis relaciona el resultado del proceso ejecutado, listando los registros procesados. Para este caso, la salida relaciona el código de materia, código de curso, sección, </a:t>
            </a:r>
            <a:r>
              <a:rPr lang="es-ES_tradnl" sz="1400" dirty="0" err="1"/>
              <a:t>nrc</a:t>
            </a:r>
            <a:r>
              <a:rPr lang="es-ES_tradnl" sz="1400" dirty="0"/>
              <a:t>, título del curso, datos del estudiante y el código de la encuesta asignada.</a:t>
            </a:r>
          </a:p>
        </p:txBody>
      </p:sp>
    </p:spTree>
    <p:extLst>
      <p:ext uri="{BB962C8B-B14F-4D97-AF65-F5344CB8AC3E}">
        <p14:creationId xmlns:p14="http://schemas.microsoft.com/office/powerpoint/2010/main" val="1819134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39B5-B54F-CE98-700B-D148EC509A2A}"/>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6FDDB7E-C3DD-6544-83CD-0DBB824394F7}"/>
              </a:ext>
            </a:extLst>
          </p:cNvPr>
          <p:cNvSpPr>
            <a:spLocks noGrp="1"/>
          </p:cNvSpPr>
          <p:nvPr>
            <p:ph type="body" orient="vert" sz="quarter" idx="10"/>
          </p:nvPr>
        </p:nvSpPr>
        <p:spPr/>
        <p:txBody>
          <a:bodyPr/>
          <a:lstStyle/>
          <a:p>
            <a:r>
              <a:rPr lang="es-419" sz="1200" dirty="0"/>
              <a:t>Gestionar la evaluación docente</a:t>
            </a:r>
          </a:p>
        </p:txBody>
      </p:sp>
      <p:pic>
        <p:nvPicPr>
          <p:cNvPr id="3" name="Picture 2">
            <a:extLst>
              <a:ext uri="{FF2B5EF4-FFF2-40B4-BE49-F238E27FC236}">
                <a16:creationId xmlns:a16="http://schemas.microsoft.com/office/drawing/2014/main" id="{CC41C10A-1AD3-426E-A7C9-22CC0B8FB0F4}"/>
              </a:ext>
            </a:extLst>
          </p:cNvPr>
          <p:cNvPicPr>
            <a:picLocks noChangeAspect="1"/>
          </p:cNvPicPr>
          <p:nvPr/>
        </p:nvPicPr>
        <p:blipFill>
          <a:blip r:embed="rId2"/>
          <a:stretch>
            <a:fillRect/>
          </a:stretch>
        </p:blipFill>
        <p:spPr>
          <a:xfrm>
            <a:off x="913951" y="2456603"/>
            <a:ext cx="10364098" cy="1944793"/>
          </a:xfrm>
          <a:prstGeom prst="rect">
            <a:avLst/>
          </a:prstGeom>
        </p:spPr>
      </p:pic>
    </p:spTree>
    <p:extLst>
      <p:ext uri="{BB962C8B-B14F-4D97-AF65-F5344CB8AC3E}">
        <p14:creationId xmlns:p14="http://schemas.microsoft.com/office/powerpoint/2010/main" val="37157020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0C834E8B-1FFD-A5AA-6765-A8F5F4F8D703}"/>
              </a:ext>
            </a:extLst>
          </p:cNvPr>
          <p:cNvPicPr>
            <a:picLocks noChangeAspect="1"/>
          </p:cNvPicPr>
          <p:nvPr/>
        </p:nvPicPr>
        <p:blipFill>
          <a:blip r:embed="rId2"/>
          <a:stretch>
            <a:fillRect/>
          </a:stretch>
        </p:blipFill>
        <p:spPr>
          <a:xfrm>
            <a:off x="810247" y="1235242"/>
            <a:ext cx="10389662" cy="462486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7" name="Rectángulo 6">
            <a:extLst>
              <a:ext uri="{FF2B5EF4-FFF2-40B4-BE49-F238E27FC236}">
                <a16:creationId xmlns:a16="http://schemas.microsoft.com/office/drawing/2014/main" id="{56726C2A-ADB7-D447-55C3-187ACA17AFE6}"/>
              </a:ext>
            </a:extLst>
          </p:cNvPr>
          <p:cNvSpPr/>
          <p:nvPr/>
        </p:nvSpPr>
        <p:spPr>
          <a:xfrm>
            <a:off x="1536620" y="4410598"/>
            <a:ext cx="1800469"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CFAB8CDE-2467-FCDC-3BE4-18D31320AF28}"/>
              </a:ext>
            </a:extLst>
          </p:cNvPr>
          <p:cNvSpPr/>
          <p:nvPr/>
        </p:nvSpPr>
        <p:spPr>
          <a:xfrm>
            <a:off x="1087730" y="4410599"/>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9" name="Rectángulo redondeado 5">
            <a:extLst>
              <a:ext uri="{FF2B5EF4-FFF2-40B4-BE49-F238E27FC236}">
                <a16:creationId xmlns:a16="http://schemas.microsoft.com/office/drawing/2014/main" id="{00052509-7C43-C4C5-12FC-E7ED46FBA87F}"/>
              </a:ext>
            </a:extLst>
          </p:cNvPr>
          <p:cNvSpPr/>
          <p:nvPr/>
        </p:nvSpPr>
        <p:spPr>
          <a:xfrm>
            <a:off x="6467477" y="2981325"/>
            <a:ext cx="3962398" cy="24860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Desde </a:t>
            </a:r>
            <a:r>
              <a:rPr lang="es-ES_tradnl" sz="1400" dirty="0" err="1"/>
              <a:t>Experience</a:t>
            </a:r>
            <a:r>
              <a:rPr lang="es-ES_tradnl" sz="1400" dirty="0"/>
              <a:t> se </a:t>
            </a:r>
            <a:r>
              <a:rPr lang="es-CL" sz="1400" dirty="0"/>
              <a:t>a </a:t>
            </a:r>
            <a:r>
              <a:rPr lang="es-419" sz="1400" dirty="0"/>
              <a:t>responder</a:t>
            </a:r>
            <a:r>
              <a:rPr lang="es-ES_tradnl" sz="1400" dirty="0"/>
              <a:t> las Encuestas de Evaluación Docente</a:t>
            </a:r>
          </a:p>
          <a:p>
            <a:pPr algn="ctr"/>
            <a:endParaRPr lang="es-ES_tradnl" sz="1400" dirty="0"/>
          </a:p>
          <a:p>
            <a:pPr algn="ctr"/>
            <a:r>
              <a:rPr lang="es-ES_tradnl" sz="1400" dirty="0"/>
              <a:t>’</a:t>
            </a:r>
          </a:p>
        </p:txBody>
      </p:sp>
    </p:spTree>
    <p:extLst>
      <p:ext uri="{BB962C8B-B14F-4D97-AF65-F5344CB8AC3E}">
        <p14:creationId xmlns:p14="http://schemas.microsoft.com/office/powerpoint/2010/main" val="2788217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84D6EED-3697-CF3F-24E8-336A9156B6AA}"/>
              </a:ext>
            </a:extLst>
          </p:cNvPr>
          <p:cNvPicPr>
            <a:picLocks noChangeAspect="1"/>
          </p:cNvPicPr>
          <p:nvPr/>
        </p:nvPicPr>
        <p:blipFill>
          <a:blip r:embed="rId2"/>
          <a:stretch>
            <a:fillRect/>
          </a:stretch>
        </p:blipFill>
        <p:spPr>
          <a:xfrm>
            <a:off x="802780" y="1219292"/>
            <a:ext cx="9945488" cy="487748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10" name="Rectángulo 9">
            <a:extLst>
              <a:ext uri="{FF2B5EF4-FFF2-40B4-BE49-F238E27FC236}">
                <a16:creationId xmlns:a16="http://schemas.microsoft.com/office/drawing/2014/main" id="{0A6A8732-3AB6-A889-B9C4-67EC0FB79A24}"/>
              </a:ext>
            </a:extLst>
          </p:cNvPr>
          <p:cNvSpPr/>
          <p:nvPr/>
        </p:nvSpPr>
        <p:spPr>
          <a:xfrm>
            <a:off x="971408" y="2564103"/>
            <a:ext cx="3962398" cy="34233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D580C6D9-E604-62AD-9FF9-C2A4AA77E8F8}"/>
              </a:ext>
            </a:extLst>
          </p:cNvPr>
          <p:cNvSpPr/>
          <p:nvPr/>
        </p:nvSpPr>
        <p:spPr>
          <a:xfrm>
            <a:off x="551129" y="2628664"/>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ángulo redondeado 5">
            <a:extLst>
              <a:ext uri="{FF2B5EF4-FFF2-40B4-BE49-F238E27FC236}">
                <a16:creationId xmlns:a16="http://schemas.microsoft.com/office/drawing/2014/main" id="{5E6D7D23-A45E-2D34-8914-8ED53569C8B6}"/>
              </a:ext>
            </a:extLst>
          </p:cNvPr>
          <p:cNvSpPr/>
          <p:nvPr/>
        </p:nvSpPr>
        <p:spPr>
          <a:xfrm>
            <a:off x="6200777" y="2828925"/>
            <a:ext cx="3962398" cy="139954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El estudiante debe seleccionar el Periodo Académico en el cual se le está solicitando responder la encuesta, y presionar el botón ‘Enviar’</a:t>
            </a:r>
            <a:endParaRPr lang="es-ES_tradnl" sz="1400" dirty="0"/>
          </a:p>
        </p:txBody>
      </p:sp>
      <p:sp>
        <p:nvSpPr>
          <p:cNvPr id="13" name="Rectángulo 12">
            <a:extLst>
              <a:ext uri="{FF2B5EF4-FFF2-40B4-BE49-F238E27FC236}">
                <a16:creationId xmlns:a16="http://schemas.microsoft.com/office/drawing/2014/main" id="{E450273E-F1F5-0676-2434-16026335380E}"/>
              </a:ext>
            </a:extLst>
          </p:cNvPr>
          <p:cNvSpPr/>
          <p:nvPr/>
        </p:nvSpPr>
        <p:spPr>
          <a:xfrm>
            <a:off x="971408" y="3083442"/>
            <a:ext cx="816545" cy="41937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12240AAC-C71B-1744-84BA-8AED859BB198}"/>
              </a:ext>
            </a:extLst>
          </p:cNvPr>
          <p:cNvSpPr/>
          <p:nvPr/>
        </p:nvSpPr>
        <p:spPr>
          <a:xfrm>
            <a:off x="551129" y="315122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3096704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4863497-7C40-535A-3AB8-E94C5BE65DF7}"/>
              </a:ext>
            </a:extLst>
          </p:cNvPr>
          <p:cNvPicPr>
            <a:picLocks noChangeAspect="1"/>
          </p:cNvPicPr>
          <p:nvPr/>
        </p:nvPicPr>
        <p:blipFill>
          <a:blip r:embed="rId2"/>
          <a:stretch>
            <a:fillRect/>
          </a:stretch>
        </p:blipFill>
        <p:spPr>
          <a:xfrm>
            <a:off x="931120" y="980349"/>
            <a:ext cx="9974067" cy="519185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10" name="Rectángulo 9">
            <a:extLst>
              <a:ext uri="{FF2B5EF4-FFF2-40B4-BE49-F238E27FC236}">
                <a16:creationId xmlns:a16="http://schemas.microsoft.com/office/drawing/2014/main" id="{9D14FEC7-26E9-D472-E7DC-5AECE5CAE655}"/>
              </a:ext>
            </a:extLst>
          </p:cNvPr>
          <p:cNvSpPr/>
          <p:nvPr/>
        </p:nvSpPr>
        <p:spPr>
          <a:xfrm>
            <a:off x="1085685" y="4167943"/>
            <a:ext cx="8435387" cy="3181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3EFA37D7-A78F-B708-4E1F-84FA5EEE53E9}"/>
              </a:ext>
            </a:extLst>
          </p:cNvPr>
          <p:cNvSpPr/>
          <p:nvPr/>
        </p:nvSpPr>
        <p:spPr>
          <a:xfrm>
            <a:off x="570699" y="416794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2" name="Rectángulo redondeado 5">
            <a:extLst>
              <a:ext uri="{FF2B5EF4-FFF2-40B4-BE49-F238E27FC236}">
                <a16:creationId xmlns:a16="http://schemas.microsoft.com/office/drawing/2014/main" id="{07E27DCE-F906-6DF6-DCF8-03DA730BAB63}"/>
              </a:ext>
            </a:extLst>
          </p:cNvPr>
          <p:cNvSpPr/>
          <p:nvPr/>
        </p:nvSpPr>
        <p:spPr>
          <a:xfrm>
            <a:off x="2013703" y="4902521"/>
            <a:ext cx="7277100" cy="1327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En la ventana se le presentará la lista de todas las evaluaciones de docentes que tiene pendiente de responder a lo cual deberá seleccionar el nombre del docente y cuyo registro hacer referencia al NRC por el cual estaría siendo desarrollada la encuesta.</a:t>
            </a:r>
            <a:endParaRPr lang="es-ES_tradnl" sz="1400" dirty="0"/>
          </a:p>
        </p:txBody>
      </p:sp>
    </p:spTree>
    <p:extLst>
      <p:ext uri="{BB962C8B-B14F-4D97-AF65-F5344CB8AC3E}">
        <p14:creationId xmlns:p14="http://schemas.microsoft.com/office/powerpoint/2010/main" val="1109628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DED0C7-0AEC-1871-CD4C-33161640E5EA}"/>
              </a:ext>
            </a:extLst>
          </p:cNvPr>
          <p:cNvPicPr>
            <a:picLocks noChangeAspect="1"/>
          </p:cNvPicPr>
          <p:nvPr/>
        </p:nvPicPr>
        <p:blipFill>
          <a:blip r:embed="rId2"/>
          <a:stretch>
            <a:fillRect/>
          </a:stretch>
        </p:blipFill>
        <p:spPr>
          <a:xfrm>
            <a:off x="810246" y="1094372"/>
            <a:ext cx="10508175" cy="535959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14" name="Rectángulo 13">
            <a:extLst>
              <a:ext uri="{FF2B5EF4-FFF2-40B4-BE49-F238E27FC236}">
                <a16:creationId xmlns:a16="http://schemas.microsoft.com/office/drawing/2014/main" id="{C7571A3A-F74D-3CE8-A03C-F6CD8FD1149F}"/>
              </a:ext>
            </a:extLst>
          </p:cNvPr>
          <p:cNvSpPr/>
          <p:nvPr/>
        </p:nvSpPr>
        <p:spPr>
          <a:xfrm>
            <a:off x="941928" y="2606431"/>
            <a:ext cx="7893015" cy="3181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5">
            <a:extLst>
              <a:ext uri="{FF2B5EF4-FFF2-40B4-BE49-F238E27FC236}">
                <a16:creationId xmlns:a16="http://schemas.microsoft.com/office/drawing/2014/main" id="{9AE01D95-CB8B-CCAC-0946-70186A7B36C2}"/>
              </a:ext>
            </a:extLst>
          </p:cNvPr>
          <p:cNvSpPr/>
          <p:nvPr/>
        </p:nvSpPr>
        <p:spPr>
          <a:xfrm>
            <a:off x="6191693" y="3114250"/>
            <a:ext cx="4362450" cy="13198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En este apartado se presentaría la encuesta de evaluación docente configurada para este caso con las preguntas respectivas.</a:t>
            </a:r>
            <a:endParaRPr lang="es-ES_tradnl" sz="1400" dirty="0"/>
          </a:p>
        </p:txBody>
      </p:sp>
      <p:sp>
        <p:nvSpPr>
          <p:cNvPr id="17" name="Rectángulo 16">
            <a:extLst>
              <a:ext uri="{FF2B5EF4-FFF2-40B4-BE49-F238E27FC236}">
                <a16:creationId xmlns:a16="http://schemas.microsoft.com/office/drawing/2014/main" id="{E3B8E248-6C0A-ADFD-180A-10CBC04A88D4}"/>
              </a:ext>
            </a:extLst>
          </p:cNvPr>
          <p:cNvSpPr/>
          <p:nvPr/>
        </p:nvSpPr>
        <p:spPr>
          <a:xfrm>
            <a:off x="941928" y="4632995"/>
            <a:ext cx="10030872" cy="18209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5115856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510A0A-0BB1-14BD-D20E-68D29ED2701A}"/>
              </a:ext>
            </a:extLst>
          </p:cNvPr>
          <p:cNvPicPr>
            <a:picLocks noChangeAspect="1"/>
          </p:cNvPicPr>
          <p:nvPr/>
        </p:nvPicPr>
        <p:blipFill>
          <a:blip r:embed="rId2"/>
          <a:stretch>
            <a:fillRect/>
          </a:stretch>
        </p:blipFill>
        <p:spPr>
          <a:xfrm>
            <a:off x="1109870" y="1235242"/>
            <a:ext cx="10331846" cy="486615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8" name="Rectángulo 7">
            <a:extLst>
              <a:ext uri="{FF2B5EF4-FFF2-40B4-BE49-F238E27FC236}">
                <a16:creationId xmlns:a16="http://schemas.microsoft.com/office/drawing/2014/main" id="{9F6A98FD-57A5-D982-4946-E8C804655CD2}"/>
              </a:ext>
            </a:extLst>
          </p:cNvPr>
          <p:cNvSpPr/>
          <p:nvPr/>
        </p:nvSpPr>
        <p:spPr>
          <a:xfrm>
            <a:off x="1242535" y="1531089"/>
            <a:ext cx="9839595" cy="456491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82A368D0-CCA3-FB94-D0EF-094CEDD02B37}"/>
              </a:ext>
            </a:extLst>
          </p:cNvPr>
          <p:cNvSpPr/>
          <p:nvPr/>
        </p:nvSpPr>
        <p:spPr>
          <a:xfrm>
            <a:off x="766825" y="1808089"/>
            <a:ext cx="310880" cy="27103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0" name="Rectángulo redondeado 5">
            <a:extLst>
              <a:ext uri="{FF2B5EF4-FFF2-40B4-BE49-F238E27FC236}">
                <a16:creationId xmlns:a16="http://schemas.microsoft.com/office/drawing/2014/main" id="{32B4437C-9C89-CC3F-0765-FC868898EBE9}"/>
              </a:ext>
            </a:extLst>
          </p:cNvPr>
          <p:cNvSpPr/>
          <p:nvPr/>
        </p:nvSpPr>
        <p:spPr>
          <a:xfrm>
            <a:off x="5946188" y="3858667"/>
            <a:ext cx="3856092" cy="9072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El estudiante deberá desarrollar la encuesta designada, hasta completarla en su totalidad.</a:t>
            </a:r>
            <a:endParaRPr lang="es-ES_tradnl" sz="1400" dirty="0"/>
          </a:p>
        </p:txBody>
      </p:sp>
    </p:spTree>
    <p:extLst>
      <p:ext uri="{BB962C8B-B14F-4D97-AF65-F5344CB8AC3E}">
        <p14:creationId xmlns:p14="http://schemas.microsoft.com/office/powerpoint/2010/main" val="1867007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35FA5E-AF18-4AC0-757A-C1D6C5E4104F}"/>
              </a:ext>
            </a:extLst>
          </p:cNvPr>
          <p:cNvPicPr>
            <a:picLocks noChangeAspect="1"/>
          </p:cNvPicPr>
          <p:nvPr/>
        </p:nvPicPr>
        <p:blipFill>
          <a:blip r:embed="rId2"/>
          <a:stretch>
            <a:fillRect/>
          </a:stretch>
        </p:blipFill>
        <p:spPr>
          <a:xfrm>
            <a:off x="797278" y="941042"/>
            <a:ext cx="10481119" cy="548039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8" name="Rectángulo 7">
            <a:extLst>
              <a:ext uri="{FF2B5EF4-FFF2-40B4-BE49-F238E27FC236}">
                <a16:creationId xmlns:a16="http://schemas.microsoft.com/office/drawing/2014/main" id="{41B63656-B392-2A95-5164-2AF3B430FC51}"/>
              </a:ext>
            </a:extLst>
          </p:cNvPr>
          <p:cNvSpPr/>
          <p:nvPr/>
        </p:nvSpPr>
        <p:spPr>
          <a:xfrm>
            <a:off x="900633" y="5916958"/>
            <a:ext cx="1055757" cy="50447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5B1251B4-E363-CF0A-0C03-1EC67413F6E1}"/>
              </a:ext>
            </a:extLst>
          </p:cNvPr>
          <p:cNvSpPr/>
          <p:nvPr/>
        </p:nvSpPr>
        <p:spPr>
          <a:xfrm>
            <a:off x="467130" y="6085014"/>
            <a:ext cx="310880" cy="27103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0" name="Rectángulo redondeado 5">
            <a:extLst>
              <a:ext uri="{FF2B5EF4-FFF2-40B4-BE49-F238E27FC236}">
                <a16:creationId xmlns:a16="http://schemas.microsoft.com/office/drawing/2014/main" id="{228F9444-1FE1-2041-DD29-488B253AAABB}"/>
              </a:ext>
            </a:extLst>
          </p:cNvPr>
          <p:cNvSpPr/>
          <p:nvPr/>
        </p:nvSpPr>
        <p:spPr>
          <a:xfrm>
            <a:off x="3928084" y="5254986"/>
            <a:ext cx="3856092" cy="9072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Completada la encuesta, el estudiante debe seleccionar el botón ‘Completar’ para finalizar el desarrollo de esta.</a:t>
            </a:r>
            <a:endParaRPr lang="es-ES_tradnl" sz="1400" dirty="0"/>
          </a:p>
        </p:txBody>
      </p:sp>
    </p:spTree>
    <p:extLst>
      <p:ext uri="{BB962C8B-B14F-4D97-AF65-F5344CB8AC3E}">
        <p14:creationId xmlns:p14="http://schemas.microsoft.com/office/powerpoint/2010/main" val="5337948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9C4B71-A7F4-FF40-4B7A-8EFF77371334}"/>
              </a:ext>
            </a:extLst>
          </p:cNvPr>
          <p:cNvPicPr>
            <a:picLocks noChangeAspect="1"/>
          </p:cNvPicPr>
          <p:nvPr/>
        </p:nvPicPr>
        <p:blipFill>
          <a:blip r:embed="rId2"/>
          <a:stretch>
            <a:fillRect/>
          </a:stretch>
        </p:blipFill>
        <p:spPr>
          <a:xfrm>
            <a:off x="832707" y="1157531"/>
            <a:ext cx="10469436" cy="479174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Responder Encuestas Docentes</a:t>
            </a:r>
            <a:endParaRPr lang="es-CL" dirty="0"/>
          </a:p>
        </p:txBody>
      </p:sp>
      <p:sp>
        <p:nvSpPr>
          <p:cNvPr id="7" name="Rectángulo 6">
            <a:extLst>
              <a:ext uri="{FF2B5EF4-FFF2-40B4-BE49-F238E27FC236}">
                <a16:creationId xmlns:a16="http://schemas.microsoft.com/office/drawing/2014/main" id="{D93CB98D-7453-DE0E-71D4-68BD869065B6}"/>
              </a:ext>
            </a:extLst>
          </p:cNvPr>
          <p:cNvSpPr/>
          <p:nvPr/>
        </p:nvSpPr>
        <p:spPr>
          <a:xfrm>
            <a:off x="9051186" y="4087645"/>
            <a:ext cx="1114425" cy="3181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2726F38C-4EE3-ED70-D2E9-5B86BE07F68A}"/>
              </a:ext>
            </a:extLst>
          </p:cNvPr>
          <p:cNvSpPr/>
          <p:nvPr/>
        </p:nvSpPr>
        <p:spPr>
          <a:xfrm>
            <a:off x="727034" y="408764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9" name="Rectángulo redondeado 5">
            <a:extLst>
              <a:ext uri="{FF2B5EF4-FFF2-40B4-BE49-F238E27FC236}">
                <a16:creationId xmlns:a16="http://schemas.microsoft.com/office/drawing/2014/main" id="{1CE416CE-0099-C31B-996C-D952FF255E56}"/>
              </a:ext>
            </a:extLst>
          </p:cNvPr>
          <p:cNvSpPr/>
          <p:nvPr/>
        </p:nvSpPr>
        <p:spPr>
          <a:xfrm>
            <a:off x="2428875" y="4844806"/>
            <a:ext cx="7277100" cy="8556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Si la encuesta fue respondida en su totalidad de forma satisfactoria, se podrá visualizar el estado ‘Completa’ en la ventana principal de las encuestas a complementar.</a:t>
            </a:r>
            <a:endParaRPr lang="es-ES_tradnl" sz="1400" dirty="0"/>
          </a:p>
        </p:txBody>
      </p:sp>
    </p:spTree>
    <p:extLst>
      <p:ext uri="{BB962C8B-B14F-4D97-AF65-F5344CB8AC3E}">
        <p14:creationId xmlns:p14="http://schemas.microsoft.com/office/powerpoint/2010/main" val="3610286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16435-174E-2FF6-E241-97DEC7612866}"/>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886583CD-56E8-032E-BC48-B6746AF1CBF5}"/>
              </a:ext>
            </a:extLst>
          </p:cNvPr>
          <p:cNvSpPr>
            <a:spLocks noGrp="1"/>
          </p:cNvSpPr>
          <p:nvPr>
            <p:ph type="body" orient="vert" sz="quarter" idx="10"/>
          </p:nvPr>
        </p:nvSpPr>
        <p:spPr/>
        <p:txBody>
          <a:bodyPr/>
          <a:lstStyle/>
          <a:p>
            <a:r>
              <a:rPr lang="es-419" sz="1200" dirty="0"/>
              <a:t>Gestionar la evaluación docente</a:t>
            </a:r>
          </a:p>
        </p:txBody>
      </p:sp>
      <p:pic>
        <p:nvPicPr>
          <p:cNvPr id="4" name="Picture 3">
            <a:extLst>
              <a:ext uri="{FF2B5EF4-FFF2-40B4-BE49-F238E27FC236}">
                <a16:creationId xmlns:a16="http://schemas.microsoft.com/office/drawing/2014/main" id="{17C16C2F-C5B5-F3C2-A977-3FB85AF34E36}"/>
              </a:ext>
            </a:extLst>
          </p:cNvPr>
          <p:cNvPicPr>
            <a:picLocks noChangeAspect="1"/>
          </p:cNvPicPr>
          <p:nvPr/>
        </p:nvPicPr>
        <p:blipFill>
          <a:blip r:embed="rId2"/>
          <a:stretch>
            <a:fillRect/>
          </a:stretch>
        </p:blipFill>
        <p:spPr>
          <a:xfrm>
            <a:off x="862130" y="2456603"/>
            <a:ext cx="10467739" cy="1944793"/>
          </a:xfrm>
          <a:prstGeom prst="rect">
            <a:avLst/>
          </a:prstGeom>
        </p:spPr>
      </p:pic>
    </p:spTree>
    <p:extLst>
      <p:ext uri="{BB962C8B-B14F-4D97-AF65-F5344CB8AC3E}">
        <p14:creationId xmlns:p14="http://schemas.microsoft.com/office/powerpoint/2010/main" val="451228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E4CA04C2-74F8-C2EC-2AC2-8772B9F536E0}"/>
              </a:ext>
            </a:extLst>
          </p:cNvPr>
          <p:cNvPicPr>
            <a:picLocks noChangeAspect="1"/>
          </p:cNvPicPr>
          <p:nvPr/>
        </p:nvPicPr>
        <p:blipFill>
          <a:blip r:embed="rId2"/>
          <a:stretch>
            <a:fillRect/>
          </a:stretch>
        </p:blipFill>
        <p:spPr>
          <a:xfrm>
            <a:off x="810246" y="1235241"/>
            <a:ext cx="10997439" cy="492217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SVPTQPC </a:t>
            </a:r>
            <a:r>
              <a:rPr lang="es-419" sz="3000" b="1" dirty="0"/>
              <a:t>Cálculo puntos calidad de TESS</a:t>
            </a:r>
            <a:endParaRPr lang="es-CL" dirty="0"/>
          </a:p>
        </p:txBody>
      </p:sp>
      <p:sp>
        <p:nvSpPr>
          <p:cNvPr id="7" name="Rectángulo 6">
            <a:extLst>
              <a:ext uri="{FF2B5EF4-FFF2-40B4-BE49-F238E27FC236}">
                <a16:creationId xmlns:a16="http://schemas.microsoft.com/office/drawing/2014/main" id="{2BF9BEEB-C809-0052-4B42-616B8DD8E618}"/>
              </a:ext>
            </a:extLst>
          </p:cNvPr>
          <p:cNvSpPr/>
          <p:nvPr/>
        </p:nvSpPr>
        <p:spPr>
          <a:xfrm>
            <a:off x="1221219" y="1851001"/>
            <a:ext cx="3247086"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B06D683A-7FD0-71FA-167C-DBCEA0E4D68F}"/>
              </a:ext>
            </a:extLst>
          </p:cNvPr>
          <p:cNvSpPr/>
          <p:nvPr/>
        </p:nvSpPr>
        <p:spPr>
          <a:xfrm>
            <a:off x="11356478" y="1818507"/>
            <a:ext cx="613554" cy="31818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5">
            <a:extLst>
              <a:ext uri="{FF2B5EF4-FFF2-40B4-BE49-F238E27FC236}">
                <a16:creationId xmlns:a16="http://schemas.microsoft.com/office/drawing/2014/main" id="{CDAF1184-7C58-DB87-A7D0-7D2E3228F2C6}"/>
              </a:ext>
            </a:extLst>
          </p:cNvPr>
          <p:cNvSpPr/>
          <p:nvPr/>
        </p:nvSpPr>
        <p:spPr>
          <a:xfrm>
            <a:off x="9144394" y="1763781"/>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0" name="Rectángulo redondeado 8">
            <a:extLst>
              <a:ext uri="{FF2B5EF4-FFF2-40B4-BE49-F238E27FC236}">
                <a16:creationId xmlns:a16="http://schemas.microsoft.com/office/drawing/2014/main" id="{41B8A235-C19C-3044-A9F7-DE2BA0FF9788}"/>
              </a:ext>
            </a:extLst>
          </p:cNvPr>
          <p:cNvSpPr/>
          <p:nvPr/>
        </p:nvSpPr>
        <p:spPr>
          <a:xfrm>
            <a:off x="835522" y="178787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1" name="Rectángulo redondeado 8">
            <a:extLst>
              <a:ext uri="{FF2B5EF4-FFF2-40B4-BE49-F238E27FC236}">
                <a16:creationId xmlns:a16="http://schemas.microsoft.com/office/drawing/2014/main" id="{23B35A9F-68BE-4390-5A17-F13AB7EF6598}"/>
              </a:ext>
            </a:extLst>
          </p:cNvPr>
          <p:cNvSpPr/>
          <p:nvPr/>
        </p:nvSpPr>
        <p:spPr>
          <a:xfrm>
            <a:off x="10769334" y="1858916"/>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ángulo redondeado 5">
            <a:extLst>
              <a:ext uri="{FF2B5EF4-FFF2-40B4-BE49-F238E27FC236}">
                <a16:creationId xmlns:a16="http://schemas.microsoft.com/office/drawing/2014/main" id="{39F25C8F-A939-C5A3-31EE-8AEAFB736B85}"/>
              </a:ext>
            </a:extLst>
          </p:cNvPr>
          <p:cNvSpPr/>
          <p:nvPr/>
        </p:nvSpPr>
        <p:spPr>
          <a:xfrm>
            <a:off x="2287882" y="3022303"/>
            <a:ext cx="6452440" cy="134804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procesar los resultados de la encuesta se debe acceder al proceso SVPTQPC al cual se puede ingresar directamente utilizando el buscador principal o bien ingresando a GJAPCTL y luego seleccionando el proceso SVPTQPC.</a:t>
            </a:r>
          </a:p>
        </p:txBody>
      </p:sp>
    </p:spTree>
    <p:extLst>
      <p:ext uri="{BB962C8B-B14F-4D97-AF65-F5344CB8AC3E}">
        <p14:creationId xmlns:p14="http://schemas.microsoft.com/office/powerpoint/2010/main" val="642619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5433E05F-149C-2A14-2FE7-8CFB4D22ADB3}"/>
              </a:ext>
            </a:extLst>
          </p:cNvPr>
          <p:cNvPicPr>
            <a:picLocks noChangeAspect="1"/>
          </p:cNvPicPr>
          <p:nvPr/>
        </p:nvPicPr>
        <p:blipFill>
          <a:blip r:embed="rId2"/>
          <a:stretch>
            <a:fillRect/>
          </a:stretch>
        </p:blipFill>
        <p:spPr>
          <a:xfrm>
            <a:off x="810247" y="1278151"/>
            <a:ext cx="10271883" cy="462716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SVPTQPC </a:t>
            </a:r>
            <a:r>
              <a:rPr lang="es-419" sz="3000" b="1" dirty="0"/>
              <a:t>Cálculo puntos calidad de TESS</a:t>
            </a:r>
            <a:endParaRPr lang="es-CL" dirty="0"/>
          </a:p>
        </p:txBody>
      </p:sp>
      <p:sp>
        <p:nvSpPr>
          <p:cNvPr id="14" name="Rectángulo 13">
            <a:extLst>
              <a:ext uri="{FF2B5EF4-FFF2-40B4-BE49-F238E27FC236}">
                <a16:creationId xmlns:a16="http://schemas.microsoft.com/office/drawing/2014/main" id="{7457A8F6-DEBF-1E71-E9B6-0A61133A50EF}"/>
              </a:ext>
            </a:extLst>
          </p:cNvPr>
          <p:cNvSpPr/>
          <p:nvPr/>
        </p:nvSpPr>
        <p:spPr>
          <a:xfrm>
            <a:off x="826349" y="1851724"/>
            <a:ext cx="1982840" cy="25044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redondeado 9">
            <a:extLst>
              <a:ext uri="{FF2B5EF4-FFF2-40B4-BE49-F238E27FC236}">
                <a16:creationId xmlns:a16="http://schemas.microsoft.com/office/drawing/2014/main" id="{7CB74CE9-6E30-E751-BC41-92D0E18AB406}"/>
              </a:ext>
            </a:extLst>
          </p:cNvPr>
          <p:cNvSpPr/>
          <p:nvPr/>
        </p:nvSpPr>
        <p:spPr>
          <a:xfrm>
            <a:off x="465927" y="1856977"/>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6" name="Rectángulo redondeado 9">
            <a:extLst>
              <a:ext uri="{FF2B5EF4-FFF2-40B4-BE49-F238E27FC236}">
                <a16:creationId xmlns:a16="http://schemas.microsoft.com/office/drawing/2014/main" id="{7E4C9233-6A50-14AE-8137-C538CE4EC8ED}"/>
              </a:ext>
            </a:extLst>
          </p:cNvPr>
          <p:cNvSpPr/>
          <p:nvPr/>
        </p:nvSpPr>
        <p:spPr>
          <a:xfrm>
            <a:off x="1378514" y="2675745"/>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7" name="Rectángulo 16">
            <a:extLst>
              <a:ext uri="{FF2B5EF4-FFF2-40B4-BE49-F238E27FC236}">
                <a16:creationId xmlns:a16="http://schemas.microsoft.com/office/drawing/2014/main" id="{E1E90D53-B194-D575-B46E-89FB3DF17AA8}"/>
              </a:ext>
            </a:extLst>
          </p:cNvPr>
          <p:cNvSpPr/>
          <p:nvPr/>
        </p:nvSpPr>
        <p:spPr>
          <a:xfrm>
            <a:off x="1280112" y="4672547"/>
            <a:ext cx="2619518" cy="4255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8" name="Rectángulo redondeado 9">
            <a:extLst>
              <a:ext uri="{FF2B5EF4-FFF2-40B4-BE49-F238E27FC236}">
                <a16:creationId xmlns:a16="http://schemas.microsoft.com/office/drawing/2014/main" id="{C07A51FA-5E31-D55B-E74B-52AF565FAB40}"/>
              </a:ext>
            </a:extLst>
          </p:cNvPr>
          <p:cNvSpPr/>
          <p:nvPr/>
        </p:nvSpPr>
        <p:spPr>
          <a:xfrm>
            <a:off x="10010006" y="5622720"/>
            <a:ext cx="360421" cy="218697"/>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9" name="Rectángulo 18">
            <a:extLst>
              <a:ext uri="{FF2B5EF4-FFF2-40B4-BE49-F238E27FC236}">
                <a16:creationId xmlns:a16="http://schemas.microsoft.com/office/drawing/2014/main" id="{2D8964ED-5562-3CD6-D12F-ABD6073DE9E6}"/>
              </a:ext>
            </a:extLst>
          </p:cNvPr>
          <p:cNvSpPr/>
          <p:nvPr/>
        </p:nvSpPr>
        <p:spPr>
          <a:xfrm>
            <a:off x="703803" y="3022053"/>
            <a:ext cx="4074318" cy="123662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0" name="Rectángulo redondeado 5">
            <a:extLst>
              <a:ext uri="{FF2B5EF4-FFF2-40B4-BE49-F238E27FC236}">
                <a16:creationId xmlns:a16="http://schemas.microsoft.com/office/drawing/2014/main" id="{8619BFCE-6BA9-21D2-53ED-2EDAC2589355}"/>
              </a:ext>
            </a:extLst>
          </p:cNvPr>
          <p:cNvSpPr/>
          <p:nvPr/>
        </p:nvSpPr>
        <p:spPr>
          <a:xfrm>
            <a:off x="6900420" y="3117022"/>
            <a:ext cx="4205593" cy="94942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PE" sz="1400" dirty="0"/>
              <a:t>Para ejecutar el proceso al menos debe estar definido el parámetro 01, siendo opcionales de uso los parámetros 02,03 y 04. </a:t>
            </a:r>
            <a:endParaRPr lang="es-ES_tradnl" sz="1400" dirty="0"/>
          </a:p>
        </p:txBody>
      </p:sp>
      <p:sp>
        <p:nvSpPr>
          <p:cNvPr id="21" name="Rectángulo 20">
            <a:extLst>
              <a:ext uri="{FF2B5EF4-FFF2-40B4-BE49-F238E27FC236}">
                <a16:creationId xmlns:a16="http://schemas.microsoft.com/office/drawing/2014/main" id="{94DB9498-DF12-1865-A2C1-D3BD4BCF774C}"/>
              </a:ext>
            </a:extLst>
          </p:cNvPr>
          <p:cNvSpPr/>
          <p:nvPr/>
        </p:nvSpPr>
        <p:spPr>
          <a:xfrm>
            <a:off x="10478699" y="5579849"/>
            <a:ext cx="709875" cy="30444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3" name="Rectángulo redondeado 5">
            <a:extLst>
              <a:ext uri="{FF2B5EF4-FFF2-40B4-BE49-F238E27FC236}">
                <a16:creationId xmlns:a16="http://schemas.microsoft.com/office/drawing/2014/main" id="{7715294B-4A41-A207-A73F-B25BA71A7D6D}"/>
              </a:ext>
            </a:extLst>
          </p:cNvPr>
          <p:cNvSpPr/>
          <p:nvPr/>
        </p:nvSpPr>
        <p:spPr>
          <a:xfrm>
            <a:off x="7625941" y="5086696"/>
            <a:ext cx="1672362" cy="9358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Presionar, el botón ‘Guardar’ para la ejecución del proceso.</a:t>
            </a:r>
          </a:p>
        </p:txBody>
      </p:sp>
      <p:sp>
        <p:nvSpPr>
          <p:cNvPr id="2" name="Rectángulo redondeado 5">
            <a:extLst>
              <a:ext uri="{FF2B5EF4-FFF2-40B4-BE49-F238E27FC236}">
                <a16:creationId xmlns:a16="http://schemas.microsoft.com/office/drawing/2014/main" id="{25753516-03C4-11C8-F0D9-7D66FC189CFC}"/>
              </a:ext>
            </a:extLst>
          </p:cNvPr>
          <p:cNvSpPr/>
          <p:nvPr/>
        </p:nvSpPr>
        <p:spPr>
          <a:xfrm>
            <a:off x="3899630" y="1627461"/>
            <a:ext cx="3553741" cy="9494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Tras acceder al proceso SVPTQPC, en la sección “Control de Impresora” campo ‘Impresora’ se debe asignar la sentencia ‘DATABASE’.</a:t>
            </a:r>
          </a:p>
        </p:txBody>
      </p:sp>
      <p:sp>
        <p:nvSpPr>
          <p:cNvPr id="9" name="Rectángulo redondeado 5">
            <a:extLst>
              <a:ext uri="{FF2B5EF4-FFF2-40B4-BE49-F238E27FC236}">
                <a16:creationId xmlns:a16="http://schemas.microsoft.com/office/drawing/2014/main" id="{834DC758-635F-C796-7296-7CEFB05695DE}"/>
              </a:ext>
            </a:extLst>
          </p:cNvPr>
          <p:cNvSpPr/>
          <p:nvPr/>
        </p:nvSpPr>
        <p:spPr>
          <a:xfrm>
            <a:off x="1704550" y="5200324"/>
            <a:ext cx="2619518" cy="11151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 sz="1400" dirty="0"/>
              <a:t>Posteriormente se debe ejecutar el proceso desde la sección ‘Envío’, a lo cual se sugiere activar la casilla ‘Guardar parámetros como’.</a:t>
            </a:r>
          </a:p>
        </p:txBody>
      </p:sp>
    </p:spTree>
    <p:extLst>
      <p:ext uri="{BB962C8B-B14F-4D97-AF65-F5344CB8AC3E}">
        <p14:creationId xmlns:p14="http://schemas.microsoft.com/office/powerpoint/2010/main" val="1850245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SVPTQPC </a:t>
            </a:r>
            <a:r>
              <a:rPr lang="es-419" sz="3000" b="1" dirty="0"/>
              <a:t>Cálculo puntos calidad de TESS</a:t>
            </a:r>
            <a:endParaRPr lang="es-CL" dirty="0"/>
          </a:p>
        </p:txBody>
      </p:sp>
      <p:sp>
        <p:nvSpPr>
          <p:cNvPr id="2" name="Rectángulo redondeado 5">
            <a:extLst>
              <a:ext uri="{FF2B5EF4-FFF2-40B4-BE49-F238E27FC236}">
                <a16:creationId xmlns:a16="http://schemas.microsoft.com/office/drawing/2014/main" id="{B4829EEE-7EA3-A800-F0EF-7FA423294633}"/>
              </a:ext>
            </a:extLst>
          </p:cNvPr>
          <p:cNvSpPr/>
          <p:nvPr/>
        </p:nvSpPr>
        <p:spPr>
          <a:xfrm>
            <a:off x="1370600" y="1694666"/>
            <a:ext cx="6979316" cy="4148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Valores de Parámetros</a:t>
            </a:r>
          </a:p>
        </p:txBody>
      </p:sp>
      <p:graphicFrame>
        <p:nvGraphicFramePr>
          <p:cNvPr id="6" name="Tabla 5">
            <a:extLst>
              <a:ext uri="{FF2B5EF4-FFF2-40B4-BE49-F238E27FC236}">
                <a16:creationId xmlns:a16="http://schemas.microsoft.com/office/drawing/2014/main" id="{1FB6623D-1CD6-0AF6-1F3C-7FA620EEF246}"/>
              </a:ext>
            </a:extLst>
          </p:cNvPr>
          <p:cNvGraphicFramePr>
            <a:graphicFrameLocks noGrp="1"/>
          </p:cNvGraphicFramePr>
          <p:nvPr>
            <p:extLst>
              <p:ext uri="{D42A27DB-BD31-4B8C-83A1-F6EECF244321}">
                <p14:modId xmlns:p14="http://schemas.microsoft.com/office/powerpoint/2010/main" val="3421260602"/>
              </p:ext>
            </p:extLst>
          </p:nvPr>
        </p:nvGraphicFramePr>
        <p:xfrm>
          <a:off x="1370599" y="2288572"/>
          <a:ext cx="9174566" cy="1887989"/>
        </p:xfrm>
        <a:graphic>
          <a:graphicData uri="http://schemas.openxmlformats.org/drawingml/2006/table">
            <a:tbl>
              <a:tblPr firstRow="1" bandRow="1">
                <a:tableStyleId>{5C22544A-7EE6-4342-B048-85BDC9FD1C3A}</a:tableStyleId>
              </a:tblPr>
              <a:tblGrid>
                <a:gridCol w="776370">
                  <a:extLst>
                    <a:ext uri="{9D8B030D-6E8A-4147-A177-3AD203B41FA5}">
                      <a16:colId xmlns:a16="http://schemas.microsoft.com/office/drawing/2014/main" val="3671970364"/>
                    </a:ext>
                  </a:extLst>
                </a:gridCol>
                <a:gridCol w="1991672">
                  <a:extLst>
                    <a:ext uri="{9D8B030D-6E8A-4147-A177-3AD203B41FA5}">
                      <a16:colId xmlns:a16="http://schemas.microsoft.com/office/drawing/2014/main" val="1822289275"/>
                    </a:ext>
                  </a:extLst>
                </a:gridCol>
                <a:gridCol w="6406524">
                  <a:extLst>
                    <a:ext uri="{9D8B030D-6E8A-4147-A177-3AD203B41FA5}">
                      <a16:colId xmlns:a16="http://schemas.microsoft.com/office/drawing/2014/main" val="3567961620"/>
                    </a:ext>
                  </a:extLst>
                </a:gridCol>
              </a:tblGrid>
              <a:tr h="370840">
                <a:tc>
                  <a:txBody>
                    <a:bodyPr/>
                    <a:lstStyle/>
                    <a:p>
                      <a:pPr algn="ctr" fontAlgn="ctr"/>
                      <a:r>
                        <a:rPr lang="es-419" sz="1200" b="1" i="0" u="none" strike="noStrike" dirty="0">
                          <a:solidFill>
                            <a:srgbClr val="FFFFFF"/>
                          </a:solidFill>
                          <a:effectLst/>
                          <a:latin typeface="Calibri" panose="020F0502020204030204" pitchFamily="34" charset="0"/>
                        </a:rPr>
                        <a:t>Número</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Parámetros</a:t>
                      </a:r>
                    </a:p>
                  </a:txBody>
                  <a:tcPr marL="0" marR="0" marT="0" marB="0" anchor="ctr"/>
                </a:tc>
                <a:tc>
                  <a:txBody>
                    <a:bodyPr/>
                    <a:lstStyle/>
                    <a:p>
                      <a:pPr algn="l" fontAlgn="b"/>
                      <a:r>
                        <a:rPr lang="es-419" sz="1200" b="1" i="0" u="none" strike="noStrike" dirty="0">
                          <a:solidFill>
                            <a:srgbClr val="FFFFFF"/>
                          </a:solidFill>
                          <a:effectLst/>
                          <a:latin typeface="Calibri" panose="020F0502020204030204" pitchFamily="34" charset="0"/>
                        </a:rPr>
                        <a:t>Descripción</a:t>
                      </a:r>
                    </a:p>
                  </a:txBody>
                  <a:tcPr marL="0" marR="0" marT="0" marB="0" anchor="ctr"/>
                </a:tc>
                <a:extLst>
                  <a:ext uri="{0D108BD9-81ED-4DB2-BD59-A6C34878D82A}">
                    <a16:rowId xmlns:a16="http://schemas.microsoft.com/office/drawing/2014/main" val="1600408903"/>
                  </a:ext>
                </a:extLst>
              </a:tr>
              <a:tr h="404629">
                <a:tc>
                  <a:txBody>
                    <a:bodyPr/>
                    <a:lstStyle/>
                    <a:p>
                      <a:pPr algn="ctr" rtl="0" fontAlgn="b"/>
                      <a:r>
                        <a:rPr lang="es-419" sz="1200" b="0" i="0" u="none" strike="noStrike" dirty="0">
                          <a:solidFill>
                            <a:srgbClr val="000000"/>
                          </a:solidFill>
                          <a:effectLst/>
                          <a:latin typeface="Calibri" panose="020F0502020204030204" pitchFamily="34" charset="0"/>
                        </a:rPr>
                        <a:t>1</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periodo*</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Periodo académico donde fuera respondida la encuesta de evaluación docente</a:t>
                      </a:r>
                    </a:p>
                  </a:txBody>
                  <a:tcPr marL="0" marR="0" marT="0" marB="0" anchor="ctr"/>
                </a:tc>
                <a:extLst>
                  <a:ext uri="{0D108BD9-81ED-4DB2-BD59-A6C34878D82A}">
                    <a16:rowId xmlns:a16="http://schemas.microsoft.com/office/drawing/2014/main" val="1252697042"/>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2</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NRC</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NRC específico de la encuesta docente a calcular sus puntos de calidad.</a:t>
                      </a:r>
                    </a:p>
                  </a:txBody>
                  <a:tcPr marL="0" marR="0" marT="0" marB="0" anchor="ctr"/>
                </a:tc>
                <a:extLst>
                  <a:ext uri="{0D108BD9-81ED-4DB2-BD59-A6C34878D82A}">
                    <a16:rowId xmlns:a16="http://schemas.microsoft.com/office/drawing/2014/main" val="2717954487"/>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3</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ID de docente</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ID del docente cuyas encuestas de evaluación se encuentren respondidas y fueran a ser calculados los resultados</a:t>
                      </a:r>
                    </a:p>
                  </a:txBody>
                  <a:tcPr marL="0" marR="0" marT="0" marB="0" anchor="ctr"/>
                </a:tc>
                <a:extLst>
                  <a:ext uri="{0D108BD9-81ED-4DB2-BD59-A6C34878D82A}">
                    <a16:rowId xmlns:a16="http://schemas.microsoft.com/office/drawing/2014/main" val="3807490090"/>
                  </a:ext>
                </a:extLst>
              </a:tr>
              <a:tr h="370840">
                <a:tc>
                  <a:txBody>
                    <a:bodyPr/>
                    <a:lstStyle/>
                    <a:p>
                      <a:pPr algn="ctr" rtl="0" fontAlgn="b"/>
                      <a:r>
                        <a:rPr lang="es-419" sz="1200" b="0" i="0" u="none" strike="noStrike" dirty="0">
                          <a:solidFill>
                            <a:srgbClr val="000000"/>
                          </a:solidFill>
                          <a:effectLst/>
                          <a:latin typeface="Calibri" panose="020F0502020204030204" pitchFamily="34" charset="0"/>
                        </a:rPr>
                        <a:t>4</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TESS</a:t>
                      </a:r>
                    </a:p>
                  </a:txBody>
                  <a:tcPr marL="0" marR="0" marT="0" marB="0" anchor="ctr"/>
                </a:tc>
                <a:tc>
                  <a:txBody>
                    <a:bodyPr/>
                    <a:lstStyle/>
                    <a:p>
                      <a:pPr algn="l" rtl="0" fontAlgn="b"/>
                      <a:r>
                        <a:rPr lang="es-419" sz="1200" b="0" i="0" u="none" strike="noStrike" dirty="0">
                          <a:solidFill>
                            <a:srgbClr val="000000"/>
                          </a:solidFill>
                          <a:effectLst/>
                          <a:latin typeface="Calibri" panose="020F0502020204030204" pitchFamily="34" charset="0"/>
                        </a:rPr>
                        <a:t>Código de la encuesta a la cual se calcularían los resultados basados en los puntos de calidad.</a:t>
                      </a:r>
                    </a:p>
                  </a:txBody>
                  <a:tcPr marL="0" marR="0" marT="0" marB="0" anchor="ctr"/>
                </a:tc>
                <a:extLst>
                  <a:ext uri="{0D108BD9-81ED-4DB2-BD59-A6C34878D82A}">
                    <a16:rowId xmlns:a16="http://schemas.microsoft.com/office/drawing/2014/main" val="580853560"/>
                  </a:ext>
                </a:extLst>
              </a:tr>
            </a:tbl>
          </a:graphicData>
        </a:graphic>
      </p:graphicFrame>
    </p:spTree>
    <p:extLst>
      <p:ext uri="{BB962C8B-B14F-4D97-AF65-F5344CB8AC3E}">
        <p14:creationId xmlns:p14="http://schemas.microsoft.com/office/powerpoint/2010/main" val="31199778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57FDCFB-F517-4407-0423-55AEF86B0383}"/>
              </a:ext>
            </a:extLst>
          </p:cNvPr>
          <p:cNvPicPr>
            <a:picLocks noChangeAspect="1"/>
          </p:cNvPicPr>
          <p:nvPr/>
        </p:nvPicPr>
        <p:blipFill>
          <a:blip r:embed="rId2"/>
          <a:stretch>
            <a:fillRect/>
          </a:stretch>
        </p:blipFill>
        <p:spPr>
          <a:xfrm>
            <a:off x="810247" y="1512651"/>
            <a:ext cx="10351090" cy="466177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Proceso: </a:t>
            </a:r>
            <a:r>
              <a:rPr lang="es-ES_tradnl" sz="3200" dirty="0"/>
              <a:t>SVPTQPC </a:t>
            </a:r>
            <a:r>
              <a:rPr lang="es-419" sz="3000" b="1" dirty="0"/>
              <a:t>Cálculo puntos calidad de TESS</a:t>
            </a:r>
            <a:endParaRPr lang="es-CL" dirty="0"/>
          </a:p>
        </p:txBody>
      </p:sp>
      <p:sp>
        <p:nvSpPr>
          <p:cNvPr id="9" name="Rectángulo 8">
            <a:extLst>
              <a:ext uri="{FF2B5EF4-FFF2-40B4-BE49-F238E27FC236}">
                <a16:creationId xmlns:a16="http://schemas.microsoft.com/office/drawing/2014/main" id="{E86E314F-D3E6-3DF2-A9BD-B3C9B861F263}"/>
              </a:ext>
            </a:extLst>
          </p:cNvPr>
          <p:cNvSpPr/>
          <p:nvPr/>
        </p:nvSpPr>
        <p:spPr>
          <a:xfrm>
            <a:off x="622570" y="3426641"/>
            <a:ext cx="4132762" cy="48934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8233632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26E1BAB-16DF-1280-5A7D-DAA832DBE093}"/>
              </a:ext>
            </a:extLst>
          </p:cNvPr>
          <p:cNvPicPr>
            <a:picLocks noChangeAspect="1"/>
          </p:cNvPicPr>
          <p:nvPr/>
        </p:nvPicPr>
        <p:blipFill>
          <a:blip r:embed="rId2"/>
          <a:stretch>
            <a:fillRect/>
          </a:stretch>
        </p:blipFill>
        <p:spPr>
          <a:xfrm>
            <a:off x="702142" y="1371910"/>
            <a:ext cx="10787298" cy="485005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SVITESS Consulta de control de TESS</a:t>
            </a:r>
            <a:endParaRPr lang="es-CL" dirty="0"/>
          </a:p>
        </p:txBody>
      </p:sp>
      <p:sp>
        <p:nvSpPr>
          <p:cNvPr id="7" name="Rectángulo redondeado 5">
            <a:extLst>
              <a:ext uri="{FF2B5EF4-FFF2-40B4-BE49-F238E27FC236}">
                <a16:creationId xmlns:a16="http://schemas.microsoft.com/office/drawing/2014/main" id="{55EED880-F011-686C-AA4E-08A074F51A39}"/>
              </a:ext>
            </a:extLst>
          </p:cNvPr>
          <p:cNvSpPr/>
          <p:nvPr/>
        </p:nvSpPr>
        <p:spPr>
          <a:xfrm>
            <a:off x="3210801" y="2737468"/>
            <a:ext cx="5769980" cy="159640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En SVITESS se podrán visualizar administrativamente el desarrollo de las distintas encuestas en ejecución, para ellos se debe ingresar el Periodo Académico del cual se desea visualizar las encuestas de evaluación docente.</a:t>
            </a:r>
            <a:endParaRPr lang="es-ES_tradnl" sz="1400" dirty="0"/>
          </a:p>
        </p:txBody>
      </p:sp>
      <p:sp>
        <p:nvSpPr>
          <p:cNvPr id="10" name="Rectángulo 9">
            <a:extLst>
              <a:ext uri="{FF2B5EF4-FFF2-40B4-BE49-F238E27FC236}">
                <a16:creationId xmlns:a16="http://schemas.microsoft.com/office/drawing/2014/main" id="{16BFECD6-8E06-4E17-6D4D-D317BC815EA2}"/>
              </a:ext>
            </a:extLst>
          </p:cNvPr>
          <p:cNvSpPr/>
          <p:nvPr/>
        </p:nvSpPr>
        <p:spPr>
          <a:xfrm>
            <a:off x="1207695" y="1915803"/>
            <a:ext cx="2817549" cy="35387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10">
            <a:extLst>
              <a:ext uri="{FF2B5EF4-FFF2-40B4-BE49-F238E27FC236}">
                <a16:creationId xmlns:a16="http://schemas.microsoft.com/office/drawing/2014/main" id="{47A959F6-1C9B-C2E6-A5A9-A0714C0C57C5}"/>
              </a:ext>
            </a:extLst>
          </p:cNvPr>
          <p:cNvSpPr/>
          <p:nvPr/>
        </p:nvSpPr>
        <p:spPr>
          <a:xfrm>
            <a:off x="11082130" y="1961584"/>
            <a:ext cx="392859" cy="26231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5">
            <a:extLst>
              <a:ext uri="{FF2B5EF4-FFF2-40B4-BE49-F238E27FC236}">
                <a16:creationId xmlns:a16="http://schemas.microsoft.com/office/drawing/2014/main" id="{A6A88DD7-D286-8AE1-160A-28B18598BCC5}"/>
              </a:ext>
            </a:extLst>
          </p:cNvPr>
          <p:cNvSpPr/>
          <p:nvPr/>
        </p:nvSpPr>
        <p:spPr>
          <a:xfrm>
            <a:off x="9912470" y="2435602"/>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3" name="Rectángulo redondeado 8">
            <a:extLst>
              <a:ext uri="{FF2B5EF4-FFF2-40B4-BE49-F238E27FC236}">
                <a16:creationId xmlns:a16="http://schemas.microsoft.com/office/drawing/2014/main" id="{940B2379-F539-2FA8-161D-6F62A23C1482}"/>
              </a:ext>
            </a:extLst>
          </p:cNvPr>
          <p:cNvSpPr/>
          <p:nvPr/>
        </p:nvSpPr>
        <p:spPr>
          <a:xfrm>
            <a:off x="717011" y="191580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4" name="Rectángulo redondeado 8">
            <a:extLst>
              <a:ext uri="{FF2B5EF4-FFF2-40B4-BE49-F238E27FC236}">
                <a16:creationId xmlns:a16="http://schemas.microsoft.com/office/drawing/2014/main" id="{082C8C43-FC12-D461-BB00-1A97E22EE7F5}"/>
              </a:ext>
            </a:extLst>
          </p:cNvPr>
          <p:cNvSpPr/>
          <p:nvPr/>
        </p:nvSpPr>
        <p:spPr>
          <a:xfrm>
            <a:off x="10566186" y="191580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35504332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F2D1BB40-19B6-9838-83E9-16F4E2A06B14}"/>
              </a:ext>
            </a:extLst>
          </p:cNvPr>
          <p:cNvPicPr>
            <a:picLocks noChangeAspect="1"/>
          </p:cNvPicPr>
          <p:nvPr/>
        </p:nvPicPr>
        <p:blipFill>
          <a:blip r:embed="rId2"/>
          <a:stretch>
            <a:fillRect/>
          </a:stretch>
        </p:blipFill>
        <p:spPr>
          <a:xfrm>
            <a:off x="803600" y="1042177"/>
            <a:ext cx="10584799" cy="477364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SVITESS Consulta de control de TESS</a:t>
            </a:r>
            <a:endParaRPr lang="es-CL" dirty="0"/>
          </a:p>
        </p:txBody>
      </p:sp>
      <p:sp>
        <p:nvSpPr>
          <p:cNvPr id="7" name="Rectángulo redondeado 5">
            <a:extLst>
              <a:ext uri="{FF2B5EF4-FFF2-40B4-BE49-F238E27FC236}">
                <a16:creationId xmlns:a16="http://schemas.microsoft.com/office/drawing/2014/main" id="{55EED880-F011-686C-AA4E-08A074F51A39}"/>
              </a:ext>
            </a:extLst>
          </p:cNvPr>
          <p:cNvSpPr/>
          <p:nvPr/>
        </p:nvSpPr>
        <p:spPr>
          <a:xfrm>
            <a:off x="3210802" y="3689968"/>
            <a:ext cx="5769980" cy="148210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En SVITESS se podrán visualizar administrativamente el desarrollo de las distintas encuestas en ejecución destacando la diferenciación por NRC, Docente y el detalle de los estudiantes inscritos y estudiante con respuestas ingresadas.</a:t>
            </a:r>
            <a:endParaRPr lang="es-ES_tradnl" sz="1400" dirty="0"/>
          </a:p>
        </p:txBody>
      </p:sp>
    </p:spTree>
    <p:extLst>
      <p:ext uri="{BB962C8B-B14F-4D97-AF65-F5344CB8AC3E}">
        <p14:creationId xmlns:p14="http://schemas.microsoft.com/office/powerpoint/2010/main" val="9478399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2AC0-5221-0CFC-2B57-93BB27463E4A}"/>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C2F66D1-3A4D-504B-B263-AB2E42F503A2}"/>
              </a:ext>
            </a:extLst>
          </p:cNvPr>
          <p:cNvSpPr>
            <a:spLocks noGrp="1"/>
          </p:cNvSpPr>
          <p:nvPr>
            <p:ph type="body" orient="vert" sz="quarter" idx="10"/>
          </p:nvPr>
        </p:nvSpPr>
        <p:spPr/>
        <p:txBody>
          <a:bodyPr/>
          <a:lstStyle/>
          <a:p>
            <a:r>
              <a:rPr lang="es-419" sz="1200" dirty="0"/>
              <a:t>Gestionar la evaluación docente</a:t>
            </a:r>
          </a:p>
        </p:txBody>
      </p:sp>
      <p:pic>
        <p:nvPicPr>
          <p:cNvPr id="3" name="Picture 2">
            <a:extLst>
              <a:ext uri="{FF2B5EF4-FFF2-40B4-BE49-F238E27FC236}">
                <a16:creationId xmlns:a16="http://schemas.microsoft.com/office/drawing/2014/main" id="{A228E65A-C1DB-6C03-A523-62DB6FCCCCFB}"/>
              </a:ext>
            </a:extLst>
          </p:cNvPr>
          <p:cNvPicPr>
            <a:picLocks noChangeAspect="1"/>
          </p:cNvPicPr>
          <p:nvPr/>
        </p:nvPicPr>
        <p:blipFill>
          <a:blip r:embed="rId2"/>
          <a:stretch>
            <a:fillRect/>
          </a:stretch>
        </p:blipFill>
        <p:spPr>
          <a:xfrm>
            <a:off x="913951" y="2127391"/>
            <a:ext cx="10364098" cy="2603218"/>
          </a:xfrm>
          <a:prstGeom prst="rect">
            <a:avLst/>
          </a:prstGeom>
        </p:spPr>
      </p:pic>
    </p:spTree>
    <p:extLst>
      <p:ext uri="{BB962C8B-B14F-4D97-AF65-F5344CB8AC3E}">
        <p14:creationId xmlns:p14="http://schemas.microsoft.com/office/powerpoint/2010/main" val="4199671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6C526DF-AF1C-D39B-07D9-363EE68E58AF}"/>
              </a:ext>
            </a:extLst>
          </p:cNvPr>
          <p:cNvPicPr>
            <a:picLocks noChangeAspect="1"/>
          </p:cNvPicPr>
          <p:nvPr/>
        </p:nvPicPr>
        <p:blipFill>
          <a:blip r:embed="rId2"/>
          <a:stretch>
            <a:fillRect/>
          </a:stretch>
        </p:blipFill>
        <p:spPr>
          <a:xfrm>
            <a:off x="876693" y="1366887"/>
            <a:ext cx="10712238" cy="478524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SVATSGA Asignación de permisos de encuesta de docente</a:t>
            </a:r>
            <a:endParaRPr lang="es-CL" dirty="0"/>
          </a:p>
        </p:txBody>
      </p:sp>
      <p:sp>
        <p:nvSpPr>
          <p:cNvPr id="8" name="Rectángulo 7">
            <a:extLst>
              <a:ext uri="{FF2B5EF4-FFF2-40B4-BE49-F238E27FC236}">
                <a16:creationId xmlns:a16="http://schemas.microsoft.com/office/drawing/2014/main" id="{D19E58D6-1DB2-A0AE-1765-F399B3ECFA7B}"/>
              </a:ext>
            </a:extLst>
          </p:cNvPr>
          <p:cNvSpPr/>
          <p:nvPr/>
        </p:nvSpPr>
        <p:spPr>
          <a:xfrm>
            <a:off x="1349396" y="1881001"/>
            <a:ext cx="3117953" cy="31882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BC3B7D16-51B4-1827-CF18-C62F563A858C}"/>
              </a:ext>
            </a:extLst>
          </p:cNvPr>
          <p:cNvSpPr/>
          <p:nvPr/>
        </p:nvSpPr>
        <p:spPr>
          <a:xfrm>
            <a:off x="11082130" y="1922057"/>
            <a:ext cx="591885" cy="31882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1944EDED-8375-6D96-01CC-A2058E06D735}"/>
              </a:ext>
            </a:extLst>
          </p:cNvPr>
          <p:cNvSpPr/>
          <p:nvPr/>
        </p:nvSpPr>
        <p:spPr>
          <a:xfrm>
            <a:off x="10428414" y="2494188"/>
            <a:ext cx="1307432" cy="6037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Presionar el botón ‘Ir’</a:t>
            </a:r>
          </a:p>
        </p:txBody>
      </p:sp>
      <p:sp>
        <p:nvSpPr>
          <p:cNvPr id="11" name="Rectángulo redondeado 8">
            <a:extLst>
              <a:ext uri="{FF2B5EF4-FFF2-40B4-BE49-F238E27FC236}">
                <a16:creationId xmlns:a16="http://schemas.microsoft.com/office/drawing/2014/main" id="{178453C2-5619-59C1-4853-C972FA033D6D}"/>
              </a:ext>
            </a:extLst>
          </p:cNvPr>
          <p:cNvSpPr/>
          <p:nvPr/>
        </p:nvSpPr>
        <p:spPr>
          <a:xfrm>
            <a:off x="903891" y="192205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2" name="Rectángulo redondeado 8">
            <a:extLst>
              <a:ext uri="{FF2B5EF4-FFF2-40B4-BE49-F238E27FC236}">
                <a16:creationId xmlns:a16="http://schemas.microsoft.com/office/drawing/2014/main" id="{E2FF9257-7905-BC55-BB23-EC1B830647FB}"/>
              </a:ext>
            </a:extLst>
          </p:cNvPr>
          <p:cNvSpPr/>
          <p:nvPr/>
        </p:nvSpPr>
        <p:spPr>
          <a:xfrm>
            <a:off x="10482183" y="1942572"/>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3" name="Rectángulo redondeado 5">
            <a:extLst>
              <a:ext uri="{FF2B5EF4-FFF2-40B4-BE49-F238E27FC236}">
                <a16:creationId xmlns:a16="http://schemas.microsoft.com/office/drawing/2014/main" id="{50C114E7-DD51-8497-BB43-B6B06416FD86}"/>
              </a:ext>
            </a:extLst>
          </p:cNvPr>
          <p:cNvSpPr/>
          <p:nvPr/>
        </p:nvSpPr>
        <p:spPr>
          <a:xfrm>
            <a:off x="2155405" y="3128702"/>
            <a:ext cx="6452440" cy="134804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asignar los permisos de visualización de resultados de encuestas en la página SVATSGA se debe ingresar el ID de la persona a la cual se le otorgarán los permisos.</a:t>
            </a:r>
          </a:p>
        </p:txBody>
      </p:sp>
    </p:spTree>
    <p:extLst>
      <p:ext uri="{BB962C8B-B14F-4D97-AF65-F5344CB8AC3E}">
        <p14:creationId xmlns:p14="http://schemas.microsoft.com/office/powerpoint/2010/main" val="4202482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A137106-ED62-9D5B-9155-9A7288A3E782}"/>
              </a:ext>
            </a:extLst>
          </p:cNvPr>
          <p:cNvPicPr>
            <a:picLocks noChangeAspect="1"/>
          </p:cNvPicPr>
          <p:nvPr/>
        </p:nvPicPr>
        <p:blipFill>
          <a:blip r:embed="rId2"/>
          <a:stretch>
            <a:fillRect/>
          </a:stretch>
        </p:blipFill>
        <p:spPr>
          <a:xfrm>
            <a:off x="838198" y="1320653"/>
            <a:ext cx="10728491" cy="488276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b="1" dirty="0"/>
              <a:t>SVATSGA Asignación de permisos de encuesta de docente</a:t>
            </a:r>
            <a:endParaRPr lang="es-CL" dirty="0"/>
          </a:p>
        </p:txBody>
      </p:sp>
      <p:sp>
        <p:nvSpPr>
          <p:cNvPr id="8" name="Rectángulo 7">
            <a:extLst>
              <a:ext uri="{FF2B5EF4-FFF2-40B4-BE49-F238E27FC236}">
                <a16:creationId xmlns:a16="http://schemas.microsoft.com/office/drawing/2014/main" id="{CCD82ACB-EA51-82F5-18D0-81DF2E68E6A1}"/>
              </a:ext>
            </a:extLst>
          </p:cNvPr>
          <p:cNvSpPr/>
          <p:nvPr/>
        </p:nvSpPr>
        <p:spPr>
          <a:xfrm>
            <a:off x="749276" y="2342754"/>
            <a:ext cx="9203960" cy="108624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B4BED7B8-228C-DFCA-22A2-5CB6AF6F999B}"/>
              </a:ext>
            </a:extLst>
          </p:cNvPr>
          <p:cNvSpPr/>
          <p:nvPr/>
        </p:nvSpPr>
        <p:spPr>
          <a:xfrm>
            <a:off x="1634164" y="338130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0" name="Rectángulo redondeado 5">
            <a:extLst>
              <a:ext uri="{FF2B5EF4-FFF2-40B4-BE49-F238E27FC236}">
                <a16:creationId xmlns:a16="http://schemas.microsoft.com/office/drawing/2014/main" id="{9D551E06-7339-9792-8A18-2ACC7D6E5673}"/>
              </a:ext>
            </a:extLst>
          </p:cNvPr>
          <p:cNvSpPr/>
          <p:nvPr/>
        </p:nvSpPr>
        <p:spPr>
          <a:xfrm>
            <a:off x="1129602" y="3870562"/>
            <a:ext cx="5158567" cy="9470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Los permisos son asignados a nivel de las características de las propias asignaturas y/o del docente evaluado, pudiendo utilizar como identificador los campos de Escuela, División, Departamento, Materia, Escuela del Docente o Departamento del Docente</a:t>
            </a:r>
          </a:p>
        </p:txBody>
      </p:sp>
      <p:sp>
        <p:nvSpPr>
          <p:cNvPr id="14" name="Rectángulo redondeado 5">
            <a:extLst>
              <a:ext uri="{FF2B5EF4-FFF2-40B4-BE49-F238E27FC236}">
                <a16:creationId xmlns:a16="http://schemas.microsoft.com/office/drawing/2014/main" id="{5DF1D362-8792-7C9C-C5DD-938107734D05}"/>
              </a:ext>
            </a:extLst>
          </p:cNvPr>
          <p:cNvSpPr/>
          <p:nvPr/>
        </p:nvSpPr>
        <p:spPr>
          <a:xfrm>
            <a:off x="8552672" y="3990855"/>
            <a:ext cx="2801129" cy="11986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Los permisos pueden ser a nivel de ‘Control’ de las encuestas o a nivel de visualización de ‘Resultados’.</a:t>
            </a:r>
          </a:p>
        </p:txBody>
      </p:sp>
      <p:sp>
        <p:nvSpPr>
          <p:cNvPr id="2" name="Rectángulo 7">
            <a:extLst>
              <a:ext uri="{FF2B5EF4-FFF2-40B4-BE49-F238E27FC236}">
                <a16:creationId xmlns:a16="http://schemas.microsoft.com/office/drawing/2014/main" id="{4C53F43B-0757-514A-E899-C4C1307E86C5}"/>
              </a:ext>
            </a:extLst>
          </p:cNvPr>
          <p:cNvSpPr/>
          <p:nvPr/>
        </p:nvSpPr>
        <p:spPr>
          <a:xfrm>
            <a:off x="10764028" y="2351459"/>
            <a:ext cx="876833" cy="98635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8">
            <a:extLst>
              <a:ext uri="{FF2B5EF4-FFF2-40B4-BE49-F238E27FC236}">
                <a16:creationId xmlns:a16="http://schemas.microsoft.com/office/drawing/2014/main" id="{0494ED92-AE11-7351-979F-2628A10D8BEE}"/>
              </a:ext>
            </a:extLst>
          </p:cNvPr>
          <p:cNvSpPr/>
          <p:nvPr/>
        </p:nvSpPr>
        <p:spPr>
          <a:xfrm>
            <a:off x="11022233" y="338130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19684766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86C3BB3-9242-DF72-259F-D382332B15CE}"/>
              </a:ext>
            </a:extLst>
          </p:cNvPr>
          <p:cNvPicPr>
            <a:picLocks noChangeAspect="1"/>
          </p:cNvPicPr>
          <p:nvPr/>
        </p:nvPicPr>
        <p:blipFill>
          <a:blip r:embed="rId2"/>
          <a:stretch>
            <a:fillRect/>
          </a:stretch>
        </p:blipFill>
        <p:spPr>
          <a:xfrm>
            <a:off x="1142308" y="890233"/>
            <a:ext cx="10665592" cy="54661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Visualización Resultados Encuestas Docentes</a:t>
            </a:r>
            <a:endParaRPr lang="es-CL" dirty="0"/>
          </a:p>
        </p:txBody>
      </p:sp>
      <p:sp>
        <p:nvSpPr>
          <p:cNvPr id="13" name="Rectángulo 12">
            <a:extLst>
              <a:ext uri="{FF2B5EF4-FFF2-40B4-BE49-F238E27FC236}">
                <a16:creationId xmlns:a16="http://schemas.microsoft.com/office/drawing/2014/main" id="{75BDA5D0-D041-7139-1672-E7D6BE10912C}"/>
              </a:ext>
            </a:extLst>
          </p:cNvPr>
          <p:cNvSpPr/>
          <p:nvPr/>
        </p:nvSpPr>
        <p:spPr>
          <a:xfrm>
            <a:off x="1310413" y="2320555"/>
            <a:ext cx="4303578" cy="3905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05B9724E-1166-7CAA-8DE6-641B9C5A6349}"/>
              </a:ext>
            </a:extLst>
          </p:cNvPr>
          <p:cNvSpPr/>
          <p:nvPr/>
        </p:nvSpPr>
        <p:spPr>
          <a:xfrm>
            <a:off x="870334" y="2376931"/>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5" name="Rectángulo redondeado 5">
            <a:extLst>
              <a:ext uri="{FF2B5EF4-FFF2-40B4-BE49-F238E27FC236}">
                <a16:creationId xmlns:a16="http://schemas.microsoft.com/office/drawing/2014/main" id="{7B2BD236-5CDC-74A2-DDBA-39C4A23E86DB}"/>
              </a:ext>
            </a:extLst>
          </p:cNvPr>
          <p:cNvSpPr/>
          <p:nvPr/>
        </p:nvSpPr>
        <p:spPr>
          <a:xfrm>
            <a:off x="4524375" y="4257675"/>
            <a:ext cx="4695825" cy="11893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docente debe seleccionar el periodo académico en el cual desea ver los resultados de sus encuestas evaluadas.</a:t>
            </a:r>
          </a:p>
        </p:txBody>
      </p:sp>
      <p:sp>
        <p:nvSpPr>
          <p:cNvPr id="16" name="Rectángulo 15">
            <a:extLst>
              <a:ext uri="{FF2B5EF4-FFF2-40B4-BE49-F238E27FC236}">
                <a16:creationId xmlns:a16="http://schemas.microsoft.com/office/drawing/2014/main" id="{3228CFD5-C7BE-9C7A-F695-2166A2F83CD8}"/>
              </a:ext>
            </a:extLst>
          </p:cNvPr>
          <p:cNvSpPr/>
          <p:nvPr/>
        </p:nvSpPr>
        <p:spPr>
          <a:xfrm>
            <a:off x="1310413" y="2818097"/>
            <a:ext cx="1144502" cy="3905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7" name="Rectángulo redondeado 8">
            <a:extLst>
              <a:ext uri="{FF2B5EF4-FFF2-40B4-BE49-F238E27FC236}">
                <a16:creationId xmlns:a16="http://schemas.microsoft.com/office/drawing/2014/main" id="{701A5071-BD61-C72B-BD00-BC2A052243BB}"/>
              </a:ext>
            </a:extLst>
          </p:cNvPr>
          <p:cNvSpPr/>
          <p:nvPr/>
        </p:nvSpPr>
        <p:spPr>
          <a:xfrm>
            <a:off x="862633" y="2874473"/>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4660530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299B03F-1B66-D1F7-CC04-3D41F2327042}"/>
              </a:ext>
            </a:extLst>
          </p:cNvPr>
          <p:cNvPicPr>
            <a:picLocks noChangeAspect="1"/>
          </p:cNvPicPr>
          <p:nvPr/>
        </p:nvPicPr>
        <p:blipFill>
          <a:blip r:embed="rId2"/>
          <a:stretch>
            <a:fillRect/>
          </a:stretch>
        </p:blipFill>
        <p:spPr>
          <a:xfrm>
            <a:off x="1023229" y="961679"/>
            <a:ext cx="10145541" cy="493463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Visualización Resultados Encuestas Docentes</a:t>
            </a:r>
            <a:endParaRPr lang="es-CL" dirty="0"/>
          </a:p>
        </p:txBody>
      </p:sp>
      <p:sp>
        <p:nvSpPr>
          <p:cNvPr id="12" name="Rectángulo 11">
            <a:extLst>
              <a:ext uri="{FF2B5EF4-FFF2-40B4-BE49-F238E27FC236}">
                <a16:creationId xmlns:a16="http://schemas.microsoft.com/office/drawing/2014/main" id="{30703A70-6227-CC87-E9E4-11A0DAB8D3EB}"/>
              </a:ext>
            </a:extLst>
          </p:cNvPr>
          <p:cNvSpPr/>
          <p:nvPr/>
        </p:nvSpPr>
        <p:spPr>
          <a:xfrm>
            <a:off x="2802938" y="2335396"/>
            <a:ext cx="3293062" cy="182193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8">
            <a:extLst>
              <a:ext uri="{FF2B5EF4-FFF2-40B4-BE49-F238E27FC236}">
                <a16:creationId xmlns:a16="http://schemas.microsoft.com/office/drawing/2014/main" id="{8CEB6DC0-7E1B-61A0-2869-AD1B83DDD6D7}"/>
              </a:ext>
            </a:extLst>
          </p:cNvPr>
          <p:cNvSpPr/>
          <p:nvPr/>
        </p:nvSpPr>
        <p:spPr>
          <a:xfrm>
            <a:off x="2396423" y="2409825"/>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6643525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109AAE-3B57-9185-D088-82898AFE8E75}"/>
              </a:ext>
            </a:extLst>
          </p:cNvPr>
          <p:cNvPicPr>
            <a:picLocks noChangeAspect="1"/>
          </p:cNvPicPr>
          <p:nvPr/>
        </p:nvPicPr>
        <p:blipFill>
          <a:blip r:embed="rId2"/>
          <a:stretch>
            <a:fillRect/>
          </a:stretch>
        </p:blipFill>
        <p:spPr>
          <a:xfrm>
            <a:off x="1228045" y="1056944"/>
            <a:ext cx="10333923" cy="503551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Visualización Resultados Encuestas Docentes</a:t>
            </a:r>
            <a:endParaRPr lang="es-CL" dirty="0"/>
          </a:p>
        </p:txBody>
      </p:sp>
      <p:sp>
        <p:nvSpPr>
          <p:cNvPr id="7" name="Rectángulo 6">
            <a:extLst>
              <a:ext uri="{FF2B5EF4-FFF2-40B4-BE49-F238E27FC236}">
                <a16:creationId xmlns:a16="http://schemas.microsoft.com/office/drawing/2014/main" id="{15AB5F9C-E2C0-643E-DBB2-75CAE06A96E7}"/>
              </a:ext>
            </a:extLst>
          </p:cNvPr>
          <p:cNvSpPr/>
          <p:nvPr/>
        </p:nvSpPr>
        <p:spPr>
          <a:xfrm>
            <a:off x="1510049" y="3122597"/>
            <a:ext cx="1076325" cy="45720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811F725C-C5F6-615F-24C8-01E2AED40DB7}"/>
              </a:ext>
            </a:extLst>
          </p:cNvPr>
          <p:cNvSpPr/>
          <p:nvPr/>
        </p:nvSpPr>
        <p:spPr>
          <a:xfrm>
            <a:off x="1027399" y="3212311"/>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6466331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53491BD-FF0E-F03A-777A-76B5A0288CBD}"/>
              </a:ext>
            </a:extLst>
          </p:cNvPr>
          <p:cNvPicPr>
            <a:picLocks noChangeAspect="1"/>
          </p:cNvPicPr>
          <p:nvPr/>
        </p:nvPicPr>
        <p:blipFill>
          <a:blip r:embed="rId2"/>
          <a:stretch>
            <a:fillRect/>
          </a:stretch>
        </p:blipFill>
        <p:spPr>
          <a:xfrm>
            <a:off x="1109870" y="1055682"/>
            <a:ext cx="10758932" cy="528184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Visualización Resultados Encuestas Docentes</a:t>
            </a:r>
            <a:endParaRPr lang="es-CL" dirty="0"/>
          </a:p>
        </p:txBody>
      </p:sp>
      <p:sp>
        <p:nvSpPr>
          <p:cNvPr id="7" name="Rectángulo 6">
            <a:extLst>
              <a:ext uri="{FF2B5EF4-FFF2-40B4-BE49-F238E27FC236}">
                <a16:creationId xmlns:a16="http://schemas.microsoft.com/office/drawing/2014/main" id="{DA4F7C5B-1289-5E28-7444-BD9E20AFF8D3}"/>
              </a:ext>
            </a:extLst>
          </p:cNvPr>
          <p:cNvSpPr/>
          <p:nvPr/>
        </p:nvSpPr>
        <p:spPr>
          <a:xfrm>
            <a:off x="1273722" y="3535318"/>
            <a:ext cx="9390734" cy="33183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D3A3F13D-8AEB-EA4C-37D8-6C8E7AAACE4C}"/>
              </a:ext>
            </a:extLst>
          </p:cNvPr>
          <p:cNvSpPr/>
          <p:nvPr/>
        </p:nvSpPr>
        <p:spPr>
          <a:xfrm>
            <a:off x="820067" y="3535318"/>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Tree>
    <p:extLst>
      <p:ext uri="{BB962C8B-B14F-4D97-AF65-F5344CB8AC3E}">
        <p14:creationId xmlns:p14="http://schemas.microsoft.com/office/powerpoint/2010/main" val="1962936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F36848-8791-E4F7-947A-FE2E9685234B}"/>
              </a:ext>
            </a:extLst>
          </p:cNvPr>
          <p:cNvPicPr>
            <a:picLocks noChangeAspect="1"/>
          </p:cNvPicPr>
          <p:nvPr/>
        </p:nvPicPr>
        <p:blipFill>
          <a:blip r:embed="rId2"/>
          <a:stretch>
            <a:fillRect/>
          </a:stretch>
        </p:blipFill>
        <p:spPr>
          <a:xfrm>
            <a:off x="1151835" y="823548"/>
            <a:ext cx="10411120" cy="54863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evaluación docente</a:t>
            </a:r>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907250"/>
          </a:xfrm>
        </p:spPr>
        <p:txBody>
          <a:bodyPr/>
          <a:lstStyle/>
          <a:p>
            <a:r>
              <a:rPr lang="es-ES_tradnl" sz="3200" b="0" dirty="0"/>
              <a:t>SSB9: </a:t>
            </a:r>
            <a:r>
              <a:rPr lang="es-CL" sz="3200" dirty="0"/>
              <a:t>Visualización Resultados Encuestas Docentes</a:t>
            </a:r>
            <a:endParaRPr lang="es-CL" dirty="0"/>
          </a:p>
        </p:txBody>
      </p:sp>
      <p:sp>
        <p:nvSpPr>
          <p:cNvPr id="7" name="Rectángulo 6">
            <a:extLst>
              <a:ext uri="{FF2B5EF4-FFF2-40B4-BE49-F238E27FC236}">
                <a16:creationId xmlns:a16="http://schemas.microsoft.com/office/drawing/2014/main" id="{D804B942-B982-F33C-06EC-07F9E3E56D42}"/>
              </a:ext>
            </a:extLst>
          </p:cNvPr>
          <p:cNvSpPr/>
          <p:nvPr/>
        </p:nvSpPr>
        <p:spPr>
          <a:xfrm>
            <a:off x="1245600" y="4673924"/>
            <a:ext cx="10099102" cy="149827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DC781BE9-4F06-C126-13A0-62CD3F84180E}"/>
              </a:ext>
            </a:extLst>
          </p:cNvPr>
          <p:cNvSpPr/>
          <p:nvPr/>
        </p:nvSpPr>
        <p:spPr>
          <a:xfrm>
            <a:off x="847298" y="5188571"/>
            <a:ext cx="360421" cy="277771"/>
          </a:xfrm>
          <a:prstGeom prst="round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Tree>
    <p:extLst>
      <p:ext uri="{BB962C8B-B14F-4D97-AF65-F5344CB8AC3E}">
        <p14:creationId xmlns:p14="http://schemas.microsoft.com/office/powerpoint/2010/main" val="38777759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evaluación docente</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7" y="2008765"/>
            <a:ext cx="9720118" cy="4022580"/>
          </a:xfrm>
        </p:spPr>
        <p:txBody>
          <a:bodyPr/>
          <a:lstStyle/>
          <a:p>
            <a:pPr marL="0" indent="0">
              <a:buNone/>
            </a:pPr>
            <a:r>
              <a:rPr lang="es-419" sz="2000" dirty="0"/>
              <a:t>Gestionar la evaluación docente:</a:t>
            </a:r>
          </a:p>
          <a:p>
            <a:pPr marL="342900" indent="-342900" algn="just">
              <a:buClr>
                <a:srgbClr val="0CB4B4"/>
              </a:buClr>
              <a:buFont typeface="Wingdings" panose="05000000000000000000" pitchFamily="2" charset="2"/>
              <a:buChar char="q"/>
            </a:pPr>
            <a:r>
              <a:rPr lang="es-419" sz="2000" dirty="0"/>
              <a:t>Banner permite evaluar a los docentes a través de una encuesta a los alumnos a los que les imparte una asignatura. </a:t>
            </a:r>
          </a:p>
          <a:p>
            <a:pPr marL="342900" indent="-342900" algn="just">
              <a:buClr>
                <a:srgbClr val="0CB4B4"/>
              </a:buClr>
              <a:buFont typeface="Wingdings" panose="05000000000000000000" pitchFamily="2" charset="2"/>
              <a:buChar char="q"/>
            </a:pPr>
            <a:r>
              <a:rPr lang="es-419" sz="2000" dirty="0"/>
              <a:t>La configuración de Banner permite definir respuestas, preguntas, áreas y estructurar una encuesta en función estas, definir demás las fechas de inicio y termino para responder las encuestas respectivas. </a:t>
            </a:r>
          </a:p>
          <a:p>
            <a:pPr marL="342900" indent="-342900" algn="just">
              <a:buClr>
                <a:srgbClr val="0CB4B4"/>
              </a:buClr>
              <a:buFont typeface="Wingdings" panose="05000000000000000000" pitchFamily="2" charset="2"/>
              <a:buChar char="q"/>
            </a:pPr>
            <a:r>
              <a:rPr lang="es-419" sz="2000" dirty="0"/>
              <a:t>Para el uso de la herramienta se debe considerar la ejecución de al menos dos procesos </a:t>
            </a:r>
            <a:r>
              <a:rPr lang="es-ES_tradnl" sz="2000" dirty="0"/>
              <a:t>SVPTESS y SVPSTSS, respectivamente.</a:t>
            </a:r>
            <a:endParaRPr lang="es-419" sz="2000" dirty="0"/>
          </a:p>
          <a:p>
            <a:pPr marL="342900" indent="-342900" algn="just">
              <a:buClr>
                <a:srgbClr val="0CB4B4"/>
              </a:buClr>
              <a:buFont typeface="Wingdings" panose="05000000000000000000" pitchFamily="2" charset="2"/>
              <a:buChar char="q"/>
            </a:pPr>
            <a:r>
              <a:rPr lang="es-419" sz="2000" dirty="0"/>
              <a:t>Como paso final, se calculan los resultados y estos pueden ser vistos en Autoservicio, previamente dando permisos respectivos.</a:t>
            </a:r>
          </a:p>
          <a:p>
            <a:pPr marL="342900" indent="-342900" algn="just">
              <a:buClr>
                <a:srgbClr val="0CB4B4"/>
              </a:buClr>
              <a:buFont typeface="Wingdings" panose="05000000000000000000" pitchFamily="2" charset="2"/>
              <a:buChar char="q"/>
            </a:pPr>
            <a:endParaRPr lang="es-419" sz="2000" dirty="0"/>
          </a:p>
        </p:txBody>
      </p:sp>
    </p:spTree>
    <p:extLst>
      <p:ext uri="{BB962C8B-B14F-4D97-AF65-F5344CB8AC3E}">
        <p14:creationId xmlns:p14="http://schemas.microsoft.com/office/powerpoint/2010/main" val="3113485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387449702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8E342B2F-0662-4103-A2D9-0955199F3085}" vid="{C5F4BFEF-EBA5-4449-9DDB-9D044EAA59E9}"/>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8E342B2F-0662-4103-A2D9-0955199F3085}" vid="{D5A50C3E-685D-4ADD-B93A-1035FFFC57E2}"/>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NUEVO TEMPLATE</Template>
  <TotalTime>8841</TotalTime>
  <Words>3598</Words>
  <Application>Microsoft Office PowerPoint</Application>
  <PresentationFormat>Widescreen</PresentationFormat>
  <Paragraphs>465</Paragraphs>
  <Slides>69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69</vt:i4>
      </vt:variant>
    </vt:vector>
  </HeadingPairs>
  <TitlesOfParts>
    <vt:vector size="78" baseType="lpstr">
      <vt:lpstr>Aptos</vt:lpstr>
      <vt:lpstr>Aptos Display</vt:lpstr>
      <vt:lpstr>Arial</vt:lpstr>
      <vt:lpstr>Calibri</vt:lpstr>
      <vt:lpstr>Courier New</vt:lpstr>
      <vt:lpstr>Helvetica Neue</vt:lpstr>
      <vt:lpstr>Wingdings</vt:lpstr>
      <vt:lpstr>Ellucian Main Layouts</vt:lpstr>
      <vt:lpstr>Ellucian Blank Layouts</vt:lpstr>
      <vt:lpstr>PowerPoint Presentation</vt:lpstr>
      <vt:lpstr>PowerPoint Presentation</vt:lpstr>
      <vt:lpstr>Overview</vt:lpstr>
      <vt:lpstr>Overview: Mapa de capacidades</vt:lpstr>
      <vt:lpstr>Overview: Proceso gestionar la carga de trabajo docente</vt:lpstr>
      <vt:lpstr>PowerPoint Presentation</vt:lpstr>
      <vt:lpstr>PowerPoint Presentation</vt:lpstr>
      <vt:lpstr>CONFIGURACIONES</vt:lpstr>
      <vt:lpstr>Configuraciones: SVVACOD Validación de códigos de respuesta</vt:lpstr>
      <vt:lpstr>Configuraciones: SVVACOD Validación de códigos de respuesta</vt:lpstr>
      <vt:lpstr>Configuraciones: SVVACOD Validación de códigos de respuesta</vt:lpstr>
      <vt:lpstr>Configuraciones: SVAPVAC Definición de código de respuesta</vt:lpstr>
      <vt:lpstr>Configuraciones: SVAPVAC Definición de código de respuesta</vt:lpstr>
      <vt:lpstr>Configuraciones: SVAQCOD Catálogo de preguntas</vt:lpstr>
      <vt:lpstr>Configuraciones: SVVTEQA Catálogo de áreas de preguntas</vt:lpstr>
      <vt:lpstr>Configuraciones: SVVTSSC Validación de código de encuesta de evaluación de docente por alumnos</vt:lpstr>
      <vt:lpstr>EVALUACIÓN DOCENTE</vt:lpstr>
      <vt:lpstr>PowerPoint Presentation</vt:lpstr>
      <vt:lpstr>Configuraciones: SVASDEF Definición de encuesta de evaluación del docente por alumno</vt:lpstr>
      <vt:lpstr>Configuraciones: SVASDEF Definición de encuesta de evaluación del docente por alumno</vt:lpstr>
      <vt:lpstr>Configuraciones: SVASDEF Definición de encuesta de evaluación del docente por alumno</vt:lpstr>
      <vt:lpstr>Configuraciones: SVASDEF Definición de encuesta de evaluación del docente por alumno</vt:lpstr>
      <vt:lpstr>Configuraciones: SVASDEF Definición de encuesta de evaluación del docente por alumno</vt:lpstr>
      <vt:lpstr>Configuraciones: SVASDEF Definición de encuesta de evaluación del docente por alumno</vt:lpstr>
      <vt:lpstr>Configuraciones: SVADTES Rango de fecha predefinido de aplicación de encuesta de TES</vt:lpstr>
      <vt:lpstr>Configuraciones: SVADTES Rango de fecha predefinido de aplicación de encuesta de TES</vt:lpstr>
      <vt:lpstr>Configuraciones: SVACTES Tipo de asignación de TESS por horario de curso</vt:lpstr>
      <vt:lpstr>Configuraciones: SVACTES Tipo de asignación de TESS por horario de curso</vt:lpstr>
      <vt:lpstr>Proceso: SVPTESS Asignación secciones de TESS</vt:lpstr>
      <vt:lpstr>Proceso: SVPTESS Asignación secciones de TESS</vt:lpstr>
      <vt:lpstr>Proceso: SVPTESS Asignación secciones de TESS</vt:lpstr>
      <vt:lpstr>Proceso: SVPTESS Asignación secciones de TESS .LOG</vt:lpstr>
      <vt:lpstr>Proceso: SVPTESS Asignación secciones de TESS .LIS</vt:lpstr>
      <vt:lpstr>Premisa: STVHLDD Validación de código de tipo de retención</vt:lpstr>
      <vt:lpstr>Configuración: GTVSDAX Validación de transposición</vt:lpstr>
      <vt:lpstr>Proceso: SVPSTSS Asignación TESS de alumnos</vt:lpstr>
      <vt:lpstr>Proceso: SVPSTSS Asignación TESS de alumnos</vt:lpstr>
      <vt:lpstr>Proceso: SVPSTSS Asignación TESS de alumnos</vt:lpstr>
      <vt:lpstr>Proceso: SVPSTSS Asignación TESS de alumnos</vt:lpstr>
      <vt:lpstr>Proceso: SVPSTSS Asignación TESS de alumnos .LOG</vt:lpstr>
      <vt:lpstr>Proceso: SVPSTSS Asignación TESS de alumnos .LOG</vt:lpstr>
      <vt:lpstr>Proceso: SVPSTSS Asignación TESS de alumnos .LOG</vt:lpstr>
      <vt:lpstr>Proceso: SVPSTSS Asignación TESS de alumnos .LOG</vt:lpstr>
      <vt:lpstr>Proceso: SVPSTSS Asignación TESS de alumnos .LIS</vt:lpstr>
      <vt:lpstr>PowerPoint Presentation</vt:lpstr>
      <vt:lpstr>SSB9: Responder Encuestas Docentes</vt:lpstr>
      <vt:lpstr>SSB9: Responder Encuestas Docentes</vt:lpstr>
      <vt:lpstr>SSB9: Responder Encuestas Docentes</vt:lpstr>
      <vt:lpstr>SSB9: Responder Encuestas Docentes</vt:lpstr>
      <vt:lpstr>SSB9: Responder Encuestas Docentes</vt:lpstr>
      <vt:lpstr>SSB9: Responder Encuestas Docentes</vt:lpstr>
      <vt:lpstr>SSB9: Responder Encuestas Docentes</vt:lpstr>
      <vt:lpstr>PowerPoint Presentation</vt:lpstr>
      <vt:lpstr>Proceso: SVPTQPC Cálculo puntos calidad de TESS</vt:lpstr>
      <vt:lpstr>Proceso: SVPTQPC Cálculo puntos calidad de TESS</vt:lpstr>
      <vt:lpstr>Proceso: SVPTQPC Cálculo puntos calidad de TESS</vt:lpstr>
      <vt:lpstr>Proceso: SVPTQPC Cálculo puntos calidad de TESS</vt:lpstr>
      <vt:lpstr>Configuraciones: SVITESS Consulta de control de TESS</vt:lpstr>
      <vt:lpstr>Configuraciones: SVITESS Consulta de control de TESS</vt:lpstr>
      <vt:lpstr>PowerPoint Presentation</vt:lpstr>
      <vt:lpstr>Configuraciones: SVATSGA Asignación de permisos de encuesta de docente</vt:lpstr>
      <vt:lpstr>Configuraciones: SVATSGA Asignación de permisos de encuesta de docente</vt:lpstr>
      <vt:lpstr>SSB9: Visualización Resultados Encuestas Docentes</vt:lpstr>
      <vt:lpstr>SSB9: Visualización Resultados Encuestas Docentes</vt:lpstr>
      <vt:lpstr>SSB9: Visualización Resultados Encuestas Docentes</vt:lpstr>
      <vt:lpstr>SSB9: Visualización Resultados Encuestas Docentes</vt:lpstr>
      <vt:lpstr>SSB9: Visualización Resultados Encuestas Docentes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Trapp, Eduardo</cp:lastModifiedBy>
  <cp:revision>297</cp:revision>
  <dcterms:created xsi:type="dcterms:W3CDTF">2023-07-17T20:07:38Z</dcterms:created>
  <dcterms:modified xsi:type="dcterms:W3CDTF">2026-04-17T00:40:33Z</dcterms:modified>
</cp:coreProperties>
</file>
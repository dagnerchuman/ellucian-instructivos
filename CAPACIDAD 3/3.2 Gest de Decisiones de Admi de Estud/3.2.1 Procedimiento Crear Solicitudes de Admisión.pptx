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39"/>
  </p:notesMasterIdLst>
  <p:sldIdLst>
    <p:sldId id="563" r:id="rId3"/>
    <p:sldId id="423" r:id="rId4"/>
    <p:sldId id="476" r:id="rId5"/>
    <p:sldId id="348" r:id="rId6"/>
    <p:sldId id="349" r:id="rId7"/>
    <p:sldId id="350" r:id="rId8"/>
    <p:sldId id="421" r:id="rId9"/>
    <p:sldId id="352" r:id="rId10"/>
    <p:sldId id="469" r:id="rId11"/>
    <p:sldId id="564" r:id="rId12"/>
    <p:sldId id="610" r:id="rId13"/>
    <p:sldId id="611" r:id="rId14"/>
    <p:sldId id="539" r:id="rId15"/>
    <p:sldId id="540" r:id="rId16"/>
    <p:sldId id="541" r:id="rId17"/>
    <p:sldId id="543" r:id="rId18"/>
    <p:sldId id="544" r:id="rId19"/>
    <p:sldId id="612" r:id="rId20"/>
    <p:sldId id="613" r:id="rId21"/>
    <p:sldId id="546" r:id="rId22"/>
    <p:sldId id="547" r:id="rId23"/>
    <p:sldId id="548" r:id="rId24"/>
    <p:sldId id="550" r:id="rId25"/>
    <p:sldId id="551" r:id="rId26"/>
    <p:sldId id="552" r:id="rId27"/>
    <p:sldId id="554" r:id="rId28"/>
    <p:sldId id="555" r:id="rId29"/>
    <p:sldId id="614" r:id="rId30"/>
    <p:sldId id="557" r:id="rId31"/>
    <p:sldId id="558" r:id="rId32"/>
    <p:sldId id="559" r:id="rId33"/>
    <p:sldId id="560" r:id="rId34"/>
    <p:sldId id="561" r:id="rId35"/>
    <p:sldId id="562" r:id="rId36"/>
    <p:sldId id="345" r:id="rId37"/>
    <p:sldId id="62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4D6FC-F8D4-40CB-91BF-1718F95FF751}" v="1" dt="2026-03-20T14:59:43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24-06-2026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5911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7013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7876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3724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7844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38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415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1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72893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3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3651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60955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274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8441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31270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22809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6829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59658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1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22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13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35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186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83556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86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33989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398469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55821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84072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82976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46167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2587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64463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81058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8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8019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6644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85926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999184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687923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412677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005508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37968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54914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40061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291251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444532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0516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71402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960702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27818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01428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46107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0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4599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7" r:id="rId35"/>
    <p:sldLayoutId id="2147483748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026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222707"/>
          </a:xfrm>
        </p:spPr>
        <p:txBody>
          <a:bodyPr/>
          <a:lstStyle/>
          <a:p>
            <a:r>
              <a:rPr lang="es-419" sz="4400" dirty="0"/>
              <a:t>Crear solicitudes de admisión</a:t>
            </a:r>
            <a:endParaRPr lang="es-419" noProof="0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419" sz="1800" noProof="0" dirty="0"/>
              <a:t>Instructivo</a:t>
            </a:r>
            <a:endParaRPr lang="es-419" noProof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419" noProof="0" dirty="0"/>
              <a:t>Consultor</a:t>
            </a:r>
          </a:p>
          <a:p>
            <a:r>
              <a:rPr lang="es-419" dirty="0"/>
              <a:t>Cargo</a:t>
            </a:r>
            <a:endParaRPr lang="es-419" noProof="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AF7D103-2992-CE66-2094-F2DD7ED1D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noProof="0" dirty="0"/>
              <a:t>Mes, Año</a:t>
            </a:r>
          </a:p>
        </p:txBody>
      </p:sp>
      <p:pic>
        <p:nvPicPr>
          <p:cNvPr id="9" name="Marcador de posición de imagen 8" descr="Mujer sentada en un escritorio&#10;&#10;El contenido generado por IA puede ser incorrecto.">
            <a:extLst>
              <a:ext uri="{FF2B5EF4-FFF2-40B4-BE49-F238E27FC236}">
                <a16:creationId xmlns:a16="http://schemas.microsoft.com/office/drawing/2014/main" id="{C8F2F481-06F7-0405-5DC6-CD13384898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5776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527282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Crear solicitudes de admisión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>
                <a:solidFill>
                  <a:schemeClr val="tx2"/>
                </a:solidFill>
              </a:rPr>
              <a:t>Mapa de capacidades</a:t>
            </a:r>
            <a:endParaRPr lang="en-US" dirty="0"/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32" y="1070392"/>
            <a:ext cx="10431829" cy="49152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2653C0-9C4D-C472-2B38-7CAA18C9EF8A}"/>
              </a:ext>
            </a:extLst>
          </p:cNvPr>
          <p:cNvSpPr/>
          <p:nvPr/>
        </p:nvSpPr>
        <p:spPr>
          <a:xfrm>
            <a:off x="1354347" y="3209026"/>
            <a:ext cx="2536166" cy="7677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1322747"/>
          </a:xfrm>
        </p:spPr>
        <p:txBody>
          <a:bodyPr anchor="ctr"/>
          <a:lstStyle/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b="1" dirty="0">
                <a:solidFill>
                  <a:srgbClr val="7030A0"/>
                </a:solidFill>
              </a:rPr>
              <a:t>Gestión de Decisiones de Admisión de Estudiantes</a:t>
            </a: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Macroproceso Gestionar la admisión de los estudiantes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2400" dirty="0">
                <a:solidFill>
                  <a:srgbClr val="7030A0"/>
                </a:solidFill>
              </a:rPr>
              <a:t>Una vez los postulantes realizan sus solicitudes de admisión, los registros serán pasados a BANNER a través de la interfaz. 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En caso de ser necesario se pueden crear solicitudes de admisión manualmente.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crear solicitudes de admisión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crear solicitudes de admisión</a:t>
            </a:r>
            <a:endParaRPr lang="es-CL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5D9D833-6266-AF4E-CA9B-9BB63AADC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441" y="1631164"/>
            <a:ext cx="8433118" cy="42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crear solicitudes de admisión</a:t>
            </a:r>
            <a:endParaRPr lang="es-C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E3431-CE99-7D82-B6F2-33E577783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038" y="1138775"/>
            <a:ext cx="5400136" cy="54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</a:t>
            </a:r>
            <a:r>
              <a:rPr lang="en-US" dirty="0"/>
              <a:t>REAR SOLICITUDES DE ADMISIÓN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5A2A6-0608-9DB0-105B-E5B898FE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568154D3-1DBC-19DB-96F4-BD41FDBD777E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1EFF856B-BCBD-F482-9B76-7DE330D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Admisión tradicional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7394491-BDBB-41AB-A196-EF76B1BC1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27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D92E179F-F278-ED4F-8CA2-68113FA2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04" y="1700957"/>
            <a:ext cx="10685096" cy="141428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000" b="1" noProof="0" dirty="0"/>
              <a:t>Crear solicitud de admisión (SAAADMS)</a:t>
            </a:r>
            <a:endParaRPr lang="es-419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54039" y="3803132"/>
            <a:ext cx="9628091" cy="13092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noProof="0" dirty="0"/>
              <a:t>Premisa: La persona debe estar creada.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ID: Se ingresa el id de la persona creada, y para la cual se va a hacer la admisión.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Período: Se ingresa el periodo para el cual se va a hacer la admisión.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Luego se da clic en Ir.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BD90267A-1B4C-FDE2-4727-A71F76B15233}"/>
              </a:ext>
            </a:extLst>
          </p:cNvPr>
          <p:cNvSpPr/>
          <p:nvPr/>
        </p:nvSpPr>
        <p:spPr>
          <a:xfrm>
            <a:off x="5769597" y="2187827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9" name="Rectángulo redondeado 23">
            <a:extLst>
              <a:ext uri="{FF2B5EF4-FFF2-40B4-BE49-F238E27FC236}">
                <a16:creationId xmlns:a16="http://schemas.microsoft.com/office/drawing/2014/main" id="{F1F60214-CAC7-A4AD-755E-08EFE7797FC8}"/>
              </a:ext>
            </a:extLst>
          </p:cNvPr>
          <p:cNvSpPr/>
          <p:nvPr/>
        </p:nvSpPr>
        <p:spPr>
          <a:xfrm>
            <a:off x="3826967" y="223650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1" name="Rectángulo redondeado 29">
            <a:extLst>
              <a:ext uri="{FF2B5EF4-FFF2-40B4-BE49-F238E27FC236}">
                <a16:creationId xmlns:a16="http://schemas.microsoft.com/office/drawing/2014/main" id="{37ACD8E9-AA71-BB3A-2ADA-677A242E7E5B}"/>
              </a:ext>
            </a:extLst>
          </p:cNvPr>
          <p:cNvSpPr/>
          <p:nvPr/>
        </p:nvSpPr>
        <p:spPr>
          <a:xfrm>
            <a:off x="10794163" y="2153662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2D7B699-90EF-8401-43AE-9A72855AF2A0}"/>
              </a:ext>
            </a:extLst>
          </p:cNvPr>
          <p:cNvSpPr/>
          <p:nvPr/>
        </p:nvSpPr>
        <p:spPr>
          <a:xfrm>
            <a:off x="1397836" y="2002651"/>
            <a:ext cx="2429131" cy="18517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F1F027-2706-44AA-0D29-46F236EA9D09}"/>
              </a:ext>
            </a:extLst>
          </p:cNvPr>
          <p:cNvSpPr/>
          <p:nvPr/>
        </p:nvSpPr>
        <p:spPr>
          <a:xfrm>
            <a:off x="6077496" y="2002650"/>
            <a:ext cx="2466139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3D167F0-2798-257B-B200-823446A43F19}"/>
              </a:ext>
            </a:extLst>
          </p:cNvPr>
          <p:cNvSpPr/>
          <p:nvPr/>
        </p:nvSpPr>
        <p:spPr>
          <a:xfrm>
            <a:off x="11092840" y="1993414"/>
            <a:ext cx="387960" cy="18517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414971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9A8E2C6-486A-6556-9741-FBD0C6A77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10096"/>
            <a:ext cx="10744444" cy="48874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18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202422" y="4783333"/>
            <a:ext cx="9337801" cy="152228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400" noProof="0" dirty="0"/>
          </a:p>
          <a:p>
            <a:br>
              <a:rPr lang="es-419" sz="1400" noProof="0" dirty="0"/>
            </a:br>
            <a:r>
              <a:rPr lang="es-419" sz="1400" noProof="0" dirty="0"/>
              <a:t>Se deben ingresar los datos en la pestaña Aplicación: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Tipo de admisión.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Tipo de alumno.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Residencia.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Sitio</a:t>
            </a:r>
          </a:p>
          <a:p>
            <a:r>
              <a:rPr lang="es-419" sz="1400" noProof="0" dirty="0"/>
              <a:t>Una vez ingresados los registros se deben ingresar datos en la pestaña Currículos</a:t>
            </a:r>
          </a:p>
          <a:p>
            <a:endParaRPr lang="es-419" sz="1400" noProof="0" dirty="0"/>
          </a:p>
          <a:p>
            <a:br>
              <a:rPr lang="es-419" sz="1400" noProof="0" dirty="0"/>
            </a:br>
            <a:endParaRPr lang="es-419" sz="14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F81CC816-3975-1A9E-D30F-10F8B2ACA309}"/>
              </a:ext>
            </a:extLst>
          </p:cNvPr>
          <p:cNvSpPr/>
          <p:nvPr/>
        </p:nvSpPr>
        <p:spPr>
          <a:xfrm>
            <a:off x="2463587" y="263306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F79634F5-CFE6-757C-CFCF-F2945BFA0811}"/>
              </a:ext>
            </a:extLst>
          </p:cNvPr>
          <p:cNvSpPr/>
          <p:nvPr/>
        </p:nvSpPr>
        <p:spPr>
          <a:xfrm>
            <a:off x="640167" y="228607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C3DDF5AE-E83C-C1BF-181A-EB38E85841AD}"/>
              </a:ext>
            </a:extLst>
          </p:cNvPr>
          <p:cNvSpPr/>
          <p:nvPr/>
        </p:nvSpPr>
        <p:spPr>
          <a:xfrm>
            <a:off x="610814" y="2950296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ABC251-D371-F838-DAC9-76CE55423CC9}"/>
              </a:ext>
            </a:extLst>
          </p:cNvPr>
          <p:cNvSpPr/>
          <p:nvPr/>
        </p:nvSpPr>
        <p:spPr>
          <a:xfrm>
            <a:off x="873936" y="2420018"/>
            <a:ext cx="1582937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F90C35-E3C5-4104-5E0E-C7F291282036}"/>
              </a:ext>
            </a:extLst>
          </p:cNvPr>
          <p:cNvSpPr/>
          <p:nvPr/>
        </p:nvSpPr>
        <p:spPr>
          <a:xfrm>
            <a:off x="859530" y="2683304"/>
            <a:ext cx="1582937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13555AC-4BB7-0A2F-633E-D2467F64F914}"/>
              </a:ext>
            </a:extLst>
          </p:cNvPr>
          <p:cNvSpPr/>
          <p:nvPr/>
        </p:nvSpPr>
        <p:spPr>
          <a:xfrm>
            <a:off x="859530" y="2848989"/>
            <a:ext cx="1582937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6" name="Rectángulo redondeado 29">
            <a:extLst>
              <a:ext uri="{FF2B5EF4-FFF2-40B4-BE49-F238E27FC236}">
                <a16:creationId xmlns:a16="http://schemas.microsoft.com/office/drawing/2014/main" id="{DA39F1C8-A7CF-34E2-78E4-ABB8D12D5F2B}"/>
              </a:ext>
            </a:extLst>
          </p:cNvPr>
          <p:cNvSpPr/>
          <p:nvPr/>
        </p:nvSpPr>
        <p:spPr>
          <a:xfrm>
            <a:off x="2623763" y="3144440"/>
            <a:ext cx="233769" cy="144143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00073F9-3F1E-C211-608D-575A153BC424}"/>
              </a:ext>
            </a:extLst>
          </p:cNvPr>
          <p:cNvSpPr/>
          <p:nvPr/>
        </p:nvSpPr>
        <p:spPr>
          <a:xfrm>
            <a:off x="1279785" y="3122898"/>
            <a:ext cx="1306397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25391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93E38F2-3A53-B874-24E3-564EC232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40" y="1223098"/>
            <a:ext cx="10667999" cy="486376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06" y="372717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20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5C51000-A95F-C17A-B151-0BD361E1850A}"/>
              </a:ext>
            </a:extLst>
          </p:cNvPr>
          <p:cNvSpPr/>
          <p:nvPr/>
        </p:nvSpPr>
        <p:spPr>
          <a:xfrm>
            <a:off x="6633757" y="348005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6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4AE5DC57-9A24-8134-7D0C-2AF0F3610134}"/>
              </a:ext>
            </a:extLst>
          </p:cNvPr>
          <p:cNvSpPr/>
          <p:nvPr/>
        </p:nvSpPr>
        <p:spPr>
          <a:xfrm>
            <a:off x="2536300" y="288101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5B5AEE-AFCF-ABF8-6F10-DB103A7B4843}"/>
              </a:ext>
            </a:extLst>
          </p:cNvPr>
          <p:cNvSpPr/>
          <p:nvPr/>
        </p:nvSpPr>
        <p:spPr>
          <a:xfrm>
            <a:off x="2254881" y="2798169"/>
            <a:ext cx="233769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74E1C04-4F4D-1A15-CEF1-7395916E84FC}"/>
              </a:ext>
            </a:extLst>
          </p:cNvPr>
          <p:cNvGrpSpPr/>
          <p:nvPr/>
        </p:nvGrpSpPr>
        <p:grpSpPr>
          <a:xfrm>
            <a:off x="1218138" y="5063368"/>
            <a:ext cx="9947401" cy="1023491"/>
            <a:chOff x="1218138" y="5063368"/>
            <a:chExt cx="9947401" cy="1023491"/>
          </a:xfrm>
        </p:grpSpPr>
        <p:sp>
          <p:nvSpPr>
            <p:cNvPr id="10" name="Rectángulo redondeado 5">
              <a:extLst>
                <a:ext uri="{FF2B5EF4-FFF2-40B4-BE49-F238E27FC236}">
                  <a16:creationId xmlns:a16="http://schemas.microsoft.com/office/drawing/2014/main" id="{ACFB6BBF-F51C-3E17-0616-B3528CD6154A}"/>
                </a:ext>
              </a:extLst>
            </p:cNvPr>
            <p:cNvSpPr/>
            <p:nvPr/>
          </p:nvSpPr>
          <p:spPr>
            <a:xfrm>
              <a:off x="1218138" y="5063368"/>
              <a:ext cx="9947401" cy="1023491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br>
                <a:rPr lang="es-419" sz="1400" noProof="0" dirty="0"/>
              </a:br>
              <a:br>
                <a:rPr lang="es-419" sz="1400" noProof="0" dirty="0"/>
              </a:br>
              <a:r>
                <a:rPr lang="es-419" sz="1400" noProof="0" dirty="0"/>
                <a:t>En la pestaña de </a:t>
              </a:r>
              <a:r>
                <a:rPr lang="es-419" sz="1400" b="1" noProof="0" dirty="0"/>
                <a:t>C</a:t>
              </a:r>
              <a:r>
                <a:rPr lang="es-419" sz="1400" b="1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urrículos</a:t>
              </a:r>
              <a:r>
                <a:rPr lang="es-419" sz="1400" noProof="0" dirty="0"/>
                <a:t>, se selecciona: </a:t>
              </a:r>
            </a:p>
            <a:p>
              <a:pPr marL="342900" indent="-342900">
                <a:buFont typeface="+mj-lt"/>
                <a:buAutoNum type="arabicPeriod" startAt="5"/>
              </a:pPr>
              <a:r>
                <a:rPr lang="es-419" sz="1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Haga clic en el botón        del campo Programa y </a:t>
              </a:r>
              <a:r>
                <a:rPr lang="es-419" sz="1400" noProof="0" dirty="0"/>
                <a:t>se despliega una ventana con lista de opciones, en esta ventana se seleccionar la 2da opción:</a:t>
              </a:r>
            </a:p>
            <a:p>
              <a:pPr marL="342900" indent="-342900">
                <a:buFont typeface="+mj-lt"/>
                <a:buAutoNum type="arabicPeriod" startAt="5"/>
              </a:pPr>
              <a:r>
                <a:rPr lang="es-419" sz="1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Reglas de currículo base por programa</a:t>
              </a:r>
              <a:endParaRPr lang="es-419" sz="1400" noProof="0" dirty="0"/>
            </a:p>
            <a:p>
              <a:br>
                <a:rPr lang="es-419" sz="1400" noProof="0" dirty="0"/>
              </a:br>
              <a:endParaRPr lang="es-419" sz="1400" noProof="0" dirty="0"/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9E6A3B6-79EA-95F3-B163-133F20FE6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861" y="5356038"/>
              <a:ext cx="209550" cy="219075"/>
            </a:xfrm>
            <a:prstGeom prst="rect">
              <a:avLst/>
            </a:prstGeom>
          </p:spPr>
        </p:pic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28CDD28-A048-895F-BD48-4B2BF17B4B1A}"/>
              </a:ext>
            </a:extLst>
          </p:cNvPr>
          <p:cNvSpPr/>
          <p:nvPr/>
        </p:nvSpPr>
        <p:spPr>
          <a:xfrm>
            <a:off x="5150481" y="3410527"/>
            <a:ext cx="1435046" cy="17318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910337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015D3E0-61BA-9124-CE3B-68D5972E6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61" y="1063068"/>
            <a:ext cx="10755198" cy="489840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20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745346" y="5264727"/>
            <a:ext cx="8701306" cy="9074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400" noProof="0" dirty="0"/>
          </a:p>
          <a:p>
            <a:endParaRPr lang="es-419" sz="1400" noProof="0" dirty="0"/>
          </a:p>
          <a:p>
            <a:endParaRPr lang="es-419" sz="1400" noProof="0" dirty="0"/>
          </a:p>
          <a:p>
            <a:r>
              <a:rPr lang="es-419" sz="1400" noProof="0" dirty="0"/>
              <a:t>Se despliega la lista de programas académicos.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s-419" sz="1400" noProof="0" dirty="0"/>
              <a:t>Selecciona el programa para el cual se va a realizar la solicitud de admisión.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s-419" sz="1400" noProof="0" dirty="0"/>
              <a:t>Presione el botón OK</a:t>
            </a:r>
          </a:p>
          <a:p>
            <a:r>
              <a:rPr lang="es-419" sz="1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Puede utilizar el campo criterios para realizar la búsqueda de un código de programa específico.</a:t>
            </a:r>
          </a:p>
          <a:p>
            <a:endParaRPr lang="es-419" sz="1400" noProof="0" dirty="0"/>
          </a:p>
          <a:p>
            <a:br>
              <a:rPr lang="es-419" sz="1400" noProof="0" dirty="0"/>
            </a:br>
            <a:endParaRPr lang="es-419" sz="1400" noProof="0" dirty="0"/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CD216952-AAEA-F7AA-D2D8-CC843613BFEE}"/>
              </a:ext>
            </a:extLst>
          </p:cNvPr>
          <p:cNvSpPr/>
          <p:nvPr/>
        </p:nvSpPr>
        <p:spPr>
          <a:xfrm>
            <a:off x="4235900" y="317396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63A133-99CE-93DA-5B00-33AA7B1437C3}"/>
              </a:ext>
            </a:extLst>
          </p:cNvPr>
          <p:cNvSpPr/>
          <p:nvPr/>
        </p:nvSpPr>
        <p:spPr>
          <a:xfrm>
            <a:off x="4581236" y="2770909"/>
            <a:ext cx="3294772" cy="163483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0CF56BF6-1CFB-09FA-1E52-09AA0F415037}"/>
              </a:ext>
            </a:extLst>
          </p:cNvPr>
          <p:cNvSpPr/>
          <p:nvPr/>
        </p:nvSpPr>
        <p:spPr>
          <a:xfrm>
            <a:off x="7894480" y="459342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7F7B230-64F4-A45B-C28C-087ACDE90D01}"/>
              </a:ext>
            </a:extLst>
          </p:cNvPr>
          <p:cNvSpPr/>
          <p:nvPr/>
        </p:nvSpPr>
        <p:spPr>
          <a:xfrm>
            <a:off x="7370618" y="4533128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486086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CE1D601-9AA1-FA92-D8A0-7072C10C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21" y="1115521"/>
            <a:ext cx="10706739" cy="487887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20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314022" y="4959928"/>
            <a:ext cx="9768108" cy="12122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400" noProof="0" dirty="0"/>
          </a:p>
          <a:p>
            <a:pPr marL="342900" indent="-342900">
              <a:buFont typeface="+mj-lt"/>
              <a:buAutoNum type="arabicPeriod" startAt="9"/>
            </a:pPr>
            <a:r>
              <a:rPr lang="es-419" sz="1400" noProof="0" dirty="0"/>
              <a:t>En los bloques “Currículo” y “Campo de estudio” : Al seleccionar el programa en el paso 7, el sistema trae automáticamente todos los datos que componen la regla de currículo del programa seleccionado, incluyendo el campo de estudios (</a:t>
            </a:r>
            <a:r>
              <a:rPr lang="es-419" sz="1400" noProof="0" dirty="0" err="1"/>
              <a:t>major</a:t>
            </a:r>
            <a:r>
              <a:rPr lang="es-419" sz="1400" noProof="0" dirty="0"/>
              <a:t>) que corresponde al programa.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s-419" sz="1400" noProof="0" dirty="0"/>
              <a:t>Guarde la información para que el registro se cree.</a:t>
            </a:r>
            <a:br>
              <a:rPr lang="es-419" sz="1400" noProof="0" dirty="0"/>
            </a:br>
            <a:endParaRPr lang="es-419" sz="1400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ED03A0-2ECF-E2A8-B795-8747800A5E60}"/>
              </a:ext>
            </a:extLst>
          </p:cNvPr>
          <p:cNvSpPr/>
          <p:nvPr/>
        </p:nvSpPr>
        <p:spPr>
          <a:xfrm>
            <a:off x="893220" y="1699490"/>
            <a:ext cx="10790779" cy="312189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2" name="Rectángulo redondeado 23">
            <a:extLst>
              <a:ext uri="{FF2B5EF4-FFF2-40B4-BE49-F238E27FC236}">
                <a16:creationId xmlns:a16="http://schemas.microsoft.com/office/drawing/2014/main" id="{70F115EB-D8FD-9630-B4F3-017FA23789A1}"/>
              </a:ext>
            </a:extLst>
          </p:cNvPr>
          <p:cNvSpPr/>
          <p:nvPr/>
        </p:nvSpPr>
        <p:spPr>
          <a:xfrm>
            <a:off x="634526" y="169949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9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48D337F8-A0EE-ABDF-EF38-6C79AF2F7A90}"/>
              </a:ext>
            </a:extLst>
          </p:cNvPr>
          <p:cNvSpPr/>
          <p:nvPr/>
        </p:nvSpPr>
        <p:spPr>
          <a:xfrm>
            <a:off x="11239541" y="5444026"/>
            <a:ext cx="364470" cy="22597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799872E-0CBA-38E4-3CC8-EA5BE55E6D49}"/>
              </a:ext>
            </a:extLst>
          </p:cNvPr>
          <p:cNvSpPr/>
          <p:nvPr/>
        </p:nvSpPr>
        <p:spPr>
          <a:xfrm>
            <a:off x="11132429" y="5719129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164967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E9428E7-6F52-71E1-E42D-4FCFA9CA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68241"/>
            <a:ext cx="10775572" cy="49076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18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649175" y="3777673"/>
            <a:ext cx="9375371" cy="14756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400" noProof="0" dirty="0"/>
          </a:p>
          <a:p>
            <a:endParaRPr lang="es-419" sz="1400" noProof="0" dirty="0"/>
          </a:p>
          <a:p>
            <a:r>
              <a:rPr lang="es-419" sz="1400" noProof="0" dirty="0"/>
              <a:t>En la pestaña de “Lista de verificación” se despliega la lista de requisitos que fueron configurados en la página SAACHKB: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419" sz="1400" noProof="0" dirty="0"/>
              <a:t>Solicitud de admisión (requisito que se exige) y su descripción.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419" sz="1400" noProof="0" dirty="0"/>
              <a:t>Ingrese la fecha de recepción del requerimiento, lo que indica que el estudiante lo entregó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419" sz="1400" noProof="0" dirty="0"/>
              <a:t>Guarde la información ingresada.</a:t>
            </a:r>
          </a:p>
          <a:p>
            <a:endParaRPr lang="es-419" sz="1400" noProof="0" dirty="0"/>
          </a:p>
          <a:p>
            <a:br>
              <a:rPr lang="es-419" sz="1400" noProof="0" dirty="0"/>
            </a:br>
            <a:endParaRPr lang="es-419" sz="1400" noProof="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B1D6875-BEAD-DE71-935C-3747E4BEFC35}"/>
              </a:ext>
            </a:extLst>
          </p:cNvPr>
          <p:cNvSpPr/>
          <p:nvPr/>
        </p:nvSpPr>
        <p:spPr>
          <a:xfrm>
            <a:off x="3278011" y="2226128"/>
            <a:ext cx="358944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3FFA42D0-E0F1-57F6-AF23-12275302CC46}"/>
              </a:ext>
            </a:extLst>
          </p:cNvPr>
          <p:cNvSpPr/>
          <p:nvPr/>
        </p:nvSpPr>
        <p:spPr>
          <a:xfrm>
            <a:off x="1106407" y="2226128"/>
            <a:ext cx="358944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11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24CCBC36-E4AF-C28A-A98B-F3A167AA409A}"/>
              </a:ext>
            </a:extLst>
          </p:cNvPr>
          <p:cNvSpPr/>
          <p:nvPr/>
        </p:nvSpPr>
        <p:spPr>
          <a:xfrm>
            <a:off x="10767959" y="5553444"/>
            <a:ext cx="364470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EA649E-70FD-74F5-3208-EC2059998772}"/>
              </a:ext>
            </a:extLst>
          </p:cNvPr>
          <p:cNvSpPr/>
          <p:nvPr/>
        </p:nvSpPr>
        <p:spPr>
          <a:xfrm>
            <a:off x="11132429" y="5719129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1C7CD0B-DA22-CE01-F520-FD056F3D08E9}"/>
              </a:ext>
            </a:extLst>
          </p:cNvPr>
          <p:cNvSpPr/>
          <p:nvPr/>
        </p:nvSpPr>
        <p:spPr>
          <a:xfrm>
            <a:off x="810247" y="2029202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B2A2F8-39AC-D928-ABB1-76C8E270832E}"/>
              </a:ext>
            </a:extLst>
          </p:cNvPr>
          <p:cNvSpPr/>
          <p:nvPr/>
        </p:nvSpPr>
        <p:spPr>
          <a:xfrm>
            <a:off x="2676538" y="2029201"/>
            <a:ext cx="67626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062733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F052D9AE-EEDA-910F-1FC5-A658B8269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93391"/>
            <a:ext cx="10906834" cy="49529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18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272804" y="3716591"/>
            <a:ext cx="9346767" cy="239548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s-419" sz="1400" noProof="0" dirty="0"/>
          </a:p>
          <a:p>
            <a:endParaRPr lang="es-419" sz="1400" noProof="0" dirty="0"/>
          </a:p>
          <a:p>
            <a:pPr marL="342900" indent="-342900">
              <a:buFont typeface="+mj-lt"/>
              <a:buAutoNum type="arabicPeriod" startAt="14"/>
            </a:pPr>
            <a:r>
              <a:rPr lang="es-419" sz="1400" noProof="0" dirty="0"/>
              <a:t>En la institución se han definido los siguientes campos adicionales para ingresar en el bloque de COMENTARIOS: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noProof="0" dirty="0"/>
              <a:t>Sistema origen de la solicitud y número de identificación de la misma dentro de dicho sistema (No se ingresa la información si se crea la solicitud desde Banner, se llenará automáticamente por medio de la integración e admisión).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419" sz="1400" noProof="0" dirty="0"/>
              <a:t>Recuerde guardar la información registrada.</a:t>
            </a:r>
          </a:p>
          <a:p>
            <a:br>
              <a:rPr lang="es-419" sz="1400" noProof="0" dirty="0"/>
            </a:br>
            <a:endParaRPr lang="es-419" sz="1400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542A0E7-0F38-8734-876D-7DBFFB4BEDDF}"/>
              </a:ext>
            </a:extLst>
          </p:cNvPr>
          <p:cNvSpPr/>
          <p:nvPr/>
        </p:nvSpPr>
        <p:spPr>
          <a:xfrm>
            <a:off x="810247" y="2742718"/>
            <a:ext cx="10906834" cy="68628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13" name="Rectángulo redondeado 23">
            <a:extLst>
              <a:ext uri="{FF2B5EF4-FFF2-40B4-BE49-F238E27FC236}">
                <a16:creationId xmlns:a16="http://schemas.microsoft.com/office/drawing/2014/main" id="{760077B5-F2F4-3C46-0692-AC3733127AAD}"/>
              </a:ext>
            </a:extLst>
          </p:cNvPr>
          <p:cNvSpPr/>
          <p:nvPr/>
        </p:nvSpPr>
        <p:spPr>
          <a:xfrm>
            <a:off x="701964" y="2577033"/>
            <a:ext cx="358944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14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0BA93E1A-3B1C-0D40-CFA0-18DF378B0F96}"/>
              </a:ext>
            </a:extLst>
          </p:cNvPr>
          <p:cNvSpPr/>
          <p:nvPr/>
        </p:nvSpPr>
        <p:spPr>
          <a:xfrm>
            <a:off x="11239541" y="5444026"/>
            <a:ext cx="364470" cy="22597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F03E974-6418-1096-0160-66EDD918EB42}"/>
              </a:ext>
            </a:extLst>
          </p:cNvPr>
          <p:cNvSpPr/>
          <p:nvPr/>
        </p:nvSpPr>
        <p:spPr>
          <a:xfrm>
            <a:off x="11237204" y="5661979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4337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D957-0BB7-DFE3-A268-4C088824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DD8A1CE-891E-A30B-A2F6-F779A8DA0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16" y="993392"/>
            <a:ext cx="10893865" cy="49610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A704FA-8E13-9C90-E42D-1ADF6F92770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0C11248-1FF7-BA72-970E-4CE65FC8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sz="3200" b="1" noProof="0" dirty="0"/>
              <a:t>Crear solicitud de admisión (SAAADMS)</a:t>
            </a:r>
            <a:endParaRPr lang="es-419" sz="1800" noProof="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0EF29CC9-9895-4F3C-8F53-AC01C6582681}"/>
              </a:ext>
            </a:extLst>
          </p:cNvPr>
          <p:cNvSpPr/>
          <p:nvPr/>
        </p:nvSpPr>
        <p:spPr>
          <a:xfrm>
            <a:off x="1272804" y="3678492"/>
            <a:ext cx="9346767" cy="14846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ptos Display" panose="02110004020202020204"/>
              <a:buAutoNum type="arabicPeriod" startAt="16"/>
            </a:pPr>
            <a:r>
              <a:rPr lang="es-419" sz="1400" noProof="0"/>
              <a:t>En el campo Cohorte, se asigna al estudiante la cohorte que corresponda (</a:t>
            </a:r>
            <a:r>
              <a:rPr lang="es-419" sz="1400"/>
              <a:t>indica</a:t>
            </a:r>
            <a:r>
              <a:rPr lang="es-419" sz="1400" dirty="0">
                <a:solidFill>
                  <a:srgbClr val="FFFFFF"/>
                </a:solidFill>
                <a:ea typeface="+mn-lt"/>
                <a:cs typeface="+mn-lt"/>
              </a:rPr>
              <a:t> modalidad </a:t>
            </a:r>
            <a:r>
              <a:rPr lang="es-419" sz="1400" noProof="0" dirty="0">
                <a:solidFill>
                  <a:srgbClr val="FFFFFF"/>
                </a:solidFill>
                <a:ea typeface="+mn-lt"/>
                <a:cs typeface="+mn-lt"/>
              </a:rPr>
              <a:t>o </a:t>
            </a:r>
            <a:r>
              <a:rPr lang="es-419" sz="1400" dirty="0">
                <a:solidFill>
                  <a:srgbClr val="FFFFFF"/>
                </a:solidFill>
                <a:ea typeface="+mn-lt"/>
                <a:cs typeface="+mn-lt"/>
              </a:rPr>
              <a:t>información relevante </a:t>
            </a:r>
            <a:r>
              <a:rPr lang="es-419" sz="1400" noProof="0" dirty="0">
                <a:solidFill>
                  <a:srgbClr val="FFFFFF"/>
                </a:solidFill>
                <a:ea typeface="+mn-lt"/>
                <a:cs typeface="+mn-lt"/>
              </a:rPr>
              <a:t>del </a:t>
            </a:r>
            <a:r>
              <a:rPr lang="es-419" sz="1400" dirty="0">
                <a:solidFill>
                  <a:srgbClr val="FFFFFF"/>
                </a:solidFill>
                <a:ea typeface="+mn-lt"/>
                <a:cs typeface="+mn-lt"/>
              </a:rPr>
              <a:t>programa</a:t>
            </a:r>
            <a:r>
              <a:rPr lang="es-419" sz="1400" dirty="0">
                <a:ea typeface="+mn-lt"/>
                <a:cs typeface="+mn-lt"/>
              </a:rPr>
              <a:t>).</a:t>
            </a:r>
            <a:endParaRPr lang="es-ES" dirty="0"/>
          </a:p>
          <a:p>
            <a:pPr marL="342900" indent="-342900">
              <a:buFont typeface="+mj-lt"/>
              <a:buAutoNum type="arabicPeriod" startAt="16"/>
            </a:pPr>
            <a:r>
              <a:rPr lang="es-419" sz="1400" dirty="0"/>
              <a:t>Si se llegase a considerar que se envíen </a:t>
            </a:r>
            <a:r>
              <a:rPr lang="es-419" sz="1400" noProof="0" dirty="0"/>
              <a:t>Atributos </a:t>
            </a:r>
            <a:r>
              <a:rPr lang="es-419" sz="1400" dirty="0"/>
              <a:t>para clasificar al estudiante, se</a:t>
            </a:r>
            <a:r>
              <a:rPr lang="es-419" sz="1400" noProof="0" dirty="0"/>
              <a:t> </a:t>
            </a:r>
            <a:r>
              <a:rPr lang="es-419" sz="1400" dirty="0"/>
              <a:t>debe ingresar en el campo correspondiente</a:t>
            </a:r>
            <a:r>
              <a:rPr lang="es-419" sz="1400" noProof="0" dirty="0"/>
              <a:t>.</a:t>
            </a:r>
          </a:p>
          <a:p>
            <a:pPr marL="342900" indent="-342900">
              <a:buFont typeface="+mj-lt"/>
              <a:buAutoNum type="arabicPeriod" startAt="16"/>
            </a:pPr>
            <a:r>
              <a:rPr lang="es-419" sz="1400" noProof="0" dirty="0"/>
              <a:t>Guarde la información registrada.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CFC7EF2-3427-C8BA-5FA2-50CE7BC7CB20}"/>
              </a:ext>
            </a:extLst>
          </p:cNvPr>
          <p:cNvSpPr/>
          <p:nvPr/>
        </p:nvSpPr>
        <p:spPr>
          <a:xfrm>
            <a:off x="810247" y="2802834"/>
            <a:ext cx="10906834" cy="62616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F0810B-792B-B589-D286-4CD2FFDFD6EE}"/>
              </a:ext>
            </a:extLst>
          </p:cNvPr>
          <p:cNvSpPr/>
          <p:nvPr/>
        </p:nvSpPr>
        <p:spPr>
          <a:xfrm>
            <a:off x="813980" y="2176669"/>
            <a:ext cx="10906834" cy="62616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6759AFAB-47CE-8317-72F9-C1955A1424E4}"/>
              </a:ext>
            </a:extLst>
          </p:cNvPr>
          <p:cNvSpPr/>
          <p:nvPr/>
        </p:nvSpPr>
        <p:spPr>
          <a:xfrm>
            <a:off x="463220" y="2489751"/>
            <a:ext cx="348297" cy="14458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16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32B6DB0D-D6D3-D012-81DE-E6A03BB66AFD}"/>
              </a:ext>
            </a:extLst>
          </p:cNvPr>
          <p:cNvSpPr/>
          <p:nvPr/>
        </p:nvSpPr>
        <p:spPr>
          <a:xfrm>
            <a:off x="465394" y="3096013"/>
            <a:ext cx="357822" cy="13505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17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AEE099DD-CB41-B5E4-09FF-0000FF6ADFA2}"/>
              </a:ext>
            </a:extLst>
          </p:cNvPr>
          <p:cNvSpPr/>
          <p:nvPr/>
        </p:nvSpPr>
        <p:spPr>
          <a:xfrm>
            <a:off x="11348561" y="5418013"/>
            <a:ext cx="364470" cy="22597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noProof="0" dirty="0"/>
              <a:t>18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253EC2-57FC-174D-C97C-3983B7CAC573}"/>
              </a:ext>
            </a:extLst>
          </p:cNvPr>
          <p:cNvSpPr/>
          <p:nvPr/>
        </p:nvSpPr>
        <p:spPr>
          <a:xfrm>
            <a:off x="11241449" y="5693116"/>
            <a:ext cx="475632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871649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A949-992B-8523-0F3C-184CB0C2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AFD7438A-A624-45E5-2D34-8CFBE7B6F2F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66D836C-60B7-E17E-271B-36E1CB35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Admisión rápida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0C35FFF-BF26-6340-67CC-3DB02D41C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524001" y="4007223"/>
            <a:ext cx="9699812" cy="8964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endParaRPr lang="es-ES_tradnl" sz="1400" dirty="0"/>
          </a:p>
          <a:p>
            <a:r>
              <a:rPr lang="es-ES_tradnl" sz="1400" dirty="0"/>
              <a:t>El proceso de captura rápida permite crear el registro de admisión manualmente. Este proceso permite iniciar desde la creación de la persona en caso de que no exista o ingresar el ID de una persona existente.</a:t>
            </a:r>
          </a:p>
          <a:p>
            <a:br>
              <a:rPr lang="es-ES_tradnl" sz="1400" dirty="0"/>
            </a:br>
            <a:endParaRPr lang="es-ES_tradnl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7383BB-B98A-869A-D164-9094A516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58" y="1237350"/>
            <a:ext cx="11036061" cy="161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11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9BEF529-92B4-5289-A8B7-AC1622C54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095579"/>
            <a:ext cx="10874188" cy="466683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392950" y="5064053"/>
            <a:ext cx="9239191" cy="8695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endParaRPr lang="es-ES_tradnl" sz="1400" dirty="0"/>
          </a:p>
          <a:p>
            <a:r>
              <a:rPr lang="es-ES_tradnl" sz="1400" dirty="0"/>
              <a:t>1.- Si la persona no existe, se da click en el signo +.</a:t>
            </a:r>
          </a:p>
          <a:p>
            <a:r>
              <a:rPr lang="es-ES_tradnl" sz="1400" dirty="0"/>
              <a:t>2.- Sistema mostrará los campos para ingresar los datos. </a:t>
            </a:r>
          </a:p>
          <a:p>
            <a:r>
              <a:rPr lang="es-ES_tradnl" sz="1400" dirty="0"/>
              <a:t>3.- Al guardar el sistema genera el Id.</a:t>
            </a:r>
          </a:p>
          <a:p>
            <a:br>
              <a:rPr lang="es-ES_tradnl" sz="1400" dirty="0"/>
            </a:br>
            <a:endParaRPr lang="es-ES_tradnl" sz="14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712F485-978F-C8BE-9C94-DE624DBAE3A4}"/>
              </a:ext>
            </a:extLst>
          </p:cNvPr>
          <p:cNvSpPr/>
          <p:nvPr/>
        </p:nvSpPr>
        <p:spPr>
          <a:xfrm>
            <a:off x="3702435" y="346012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0DCE67D4-6156-D620-98B1-1362CD7A1863}"/>
              </a:ext>
            </a:extLst>
          </p:cNvPr>
          <p:cNvSpPr/>
          <p:nvPr/>
        </p:nvSpPr>
        <p:spPr>
          <a:xfrm>
            <a:off x="3585551" y="190708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29">
            <a:extLst>
              <a:ext uri="{FF2B5EF4-FFF2-40B4-BE49-F238E27FC236}">
                <a16:creationId xmlns:a16="http://schemas.microsoft.com/office/drawing/2014/main" id="{067FAEAB-901A-95EA-C15C-DA290FDFF2A4}"/>
              </a:ext>
            </a:extLst>
          </p:cNvPr>
          <p:cNvSpPr/>
          <p:nvPr/>
        </p:nvSpPr>
        <p:spPr>
          <a:xfrm>
            <a:off x="10683778" y="541599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206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8143987-9960-4770-CE3E-47D7408B2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79" y="1098611"/>
            <a:ext cx="10895808" cy="46899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831289" y="4904474"/>
            <a:ext cx="10763189" cy="126772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endParaRPr lang="es-ES_tradnl" sz="1400" dirty="0"/>
          </a:p>
          <a:p>
            <a:r>
              <a:rPr lang="es-ES_tradnl" sz="1400" dirty="0"/>
              <a:t>Se debe ingresar  </a:t>
            </a:r>
          </a:p>
          <a:p>
            <a:r>
              <a:rPr lang="es-ES_tradnl" sz="1400" dirty="0"/>
              <a:t>1.- ID</a:t>
            </a:r>
          </a:p>
          <a:p>
            <a:r>
              <a:rPr lang="es-ES_tradnl" sz="1400" dirty="0"/>
              <a:t>2.-Período. </a:t>
            </a:r>
          </a:p>
          <a:p>
            <a:r>
              <a:rPr lang="es-ES_tradnl" sz="1400" dirty="0"/>
              <a:t>3.-Nivel </a:t>
            </a:r>
          </a:p>
          <a:p>
            <a:r>
              <a:rPr lang="es-ES_tradnl" sz="1400" dirty="0"/>
              <a:t>Para el cual se va a realizar la admisión.</a:t>
            </a:r>
          </a:p>
          <a:p>
            <a:br>
              <a:rPr lang="es-ES_tradnl" sz="1400" dirty="0"/>
            </a:br>
            <a:endParaRPr lang="es-ES_tradnl" sz="14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1952D39-4CD8-EFC6-8FC2-E70B37A1148C}"/>
              </a:ext>
            </a:extLst>
          </p:cNvPr>
          <p:cNvSpPr/>
          <p:nvPr/>
        </p:nvSpPr>
        <p:spPr>
          <a:xfrm>
            <a:off x="5855181" y="188039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B0FAE4C7-241D-A15D-E9DA-1CF69ADA93F6}"/>
              </a:ext>
            </a:extLst>
          </p:cNvPr>
          <p:cNvSpPr/>
          <p:nvPr/>
        </p:nvSpPr>
        <p:spPr>
          <a:xfrm>
            <a:off x="1318915" y="1887935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53981FD5-A4FD-4CBA-CCAC-A054DE550E9E}"/>
              </a:ext>
            </a:extLst>
          </p:cNvPr>
          <p:cNvSpPr/>
          <p:nvPr/>
        </p:nvSpPr>
        <p:spPr>
          <a:xfrm>
            <a:off x="3393139" y="2088683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873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9E42F-7A90-38D3-85C0-7D1635F1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94062"/>
            <a:ext cx="10931623" cy="51781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76405" y="5362417"/>
            <a:ext cx="9239189" cy="9674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endParaRPr lang="es-ES_tradnl" sz="1400" dirty="0"/>
          </a:p>
          <a:p>
            <a:r>
              <a:rPr lang="es-ES_tradnl" sz="1400" dirty="0"/>
              <a:t>En el bloque de detalles se debe ingresar los registros de:</a:t>
            </a:r>
            <a:br>
              <a:rPr lang="es-ES_tradnl" sz="1400" dirty="0"/>
            </a:br>
            <a:r>
              <a:rPr lang="es-ES_tradnl" sz="1400" dirty="0"/>
              <a:t>1.- Tipo de alumno 2.- Estatus de alumno 3.- Residencia, como campos obligatorios. </a:t>
            </a:r>
          </a:p>
          <a:p>
            <a:r>
              <a:rPr lang="es-ES_tradnl" sz="1400" dirty="0"/>
              <a:t>Nota: </a:t>
            </a:r>
            <a:r>
              <a:rPr lang="es-ES_tradnl" sz="1400" b="1" dirty="0"/>
              <a:t>Al ingresar estos datos se crea el registro de estudiante en SGASTDN.</a:t>
            </a:r>
          </a:p>
          <a:p>
            <a:br>
              <a:rPr lang="es-ES_tradnl" sz="1400" dirty="0"/>
            </a:br>
            <a:endParaRPr lang="es-ES_tradnl" sz="14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3B76A53-DEBE-C98A-C5D3-3243A63E06AC}"/>
              </a:ext>
            </a:extLst>
          </p:cNvPr>
          <p:cNvSpPr/>
          <p:nvPr/>
        </p:nvSpPr>
        <p:spPr>
          <a:xfrm>
            <a:off x="745118" y="288908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2558DF28-9AB4-4619-AD44-D3F7FB3D7D9B}"/>
              </a:ext>
            </a:extLst>
          </p:cNvPr>
          <p:cNvSpPr/>
          <p:nvPr/>
        </p:nvSpPr>
        <p:spPr>
          <a:xfrm>
            <a:off x="862003" y="259769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5432A1A7-D813-07F3-0AC3-D987D5983481}"/>
              </a:ext>
            </a:extLst>
          </p:cNvPr>
          <p:cNvSpPr/>
          <p:nvPr/>
        </p:nvSpPr>
        <p:spPr>
          <a:xfrm>
            <a:off x="978887" y="309467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8759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64D4DC-27F8-50CC-ADBD-8228000B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954157"/>
            <a:ext cx="11082130" cy="525216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326593" y="5004498"/>
            <a:ext cx="9239189" cy="13932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200" dirty="0"/>
          </a:p>
          <a:p>
            <a:endParaRPr lang="es-ES_tradnl" sz="1200" dirty="0"/>
          </a:p>
          <a:p>
            <a:r>
              <a:rPr lang="es-ES_tradnl" sz="1200" dirty="0"/>
              <a:t>En el bloque de información de solicitud y reclutamiento, se deben ingresar los registros que crean la solicitud de admisión:</a:t>
            </a:r>
          </a:p>
          <a:p>
            <a:r>
              <a:rPr lang="es-ES_tradnl" sz="1200" dirty="0"/>
              <a:t>1.- Marcar el </a:t>
            </a:r>
            <a:r>
              <a:rPr lang="es-ES_tradnl" sz="1200" dirty="0" err="1"/>
              <a:t>check</a:t>
            </a:r>
            <a:r>
              <a:rPr lang="es-ES_tradnl" sz="1200" dirty="0"/>
              <a:t> de “Crear registro de solicitud”. </a:t>
            </a:r>
          </a:p>
          <a:p>
            <a:r>
              <a:rPr lang="es-ES_tradnl" sz="1200" dirty="0"/>
              <a:t>2.- Tipo de admisión </a:t>
            </a:r>
          </a:p>
          <a:p>
            <a:r>
              <a:rPr lang="es-ES_tradnl" sz="1200" dirty="0"/>
              <a:t>3.- Estatus de solicitud </a:t>
            </a:r>
          </a:p>
          <a:p>
            <a:r>
              <a:rPr lang="es-ES_tradnl" sz="1200" dirty="0"/>
              <a:t>4.- Decisión de admisión. </a:t>
            </a:r>
          </a:p>
          <a:p>
            <a:r>
              <a:rPr lang="es-ES_tradnl" sz="1200" b="1" dirty="0"/>
              <a:t>Al ingresar estos datos se crea el registro de admisiones en SAAADMS</a:t>
            </a:r>
            <a:endParaRPr lang="es-ES_tradnl" sz="1200" dirty="0"/>
          </a:p>
          <a:p>
            <a:br>
              <a:rPr lang="es-ES_tradnl" sz="1200" dirty="0"/>
            </a:br>
            <a:endParaRPr lang="es-ES_tradnl" sz="12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035D8D6-F521-C90B-1DDA-9487DB0A84F0}"/>
              </a:ext>
            </a:extLst>
          </p:cNvPr>
          <p:cNvSpPr/>
          <p:nvPr/>
        </p:nvSpPr>
        <p:spPr>
          <a:xfrm>
            <a:off x="593040" y="370926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2801199A-E0ED-B088-453A-45B96583D1BC}"/>
              </a:ext>
            </a:extLst>
          </p:cNvPr>
          <p:cNvSpPr/>
          <p:nvPr/>
        </p:nvSpPr>
        <p:spPr>
          <a:xfrm>
            <a:off x="1243975" y="337105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29">
            <a:extLst>
              <a:ext uri="{FF2B5EF4-FFF2-40B4-BE49-F238E27FC236}">
                <a16:creationId xmlns:a16="http://schemas.microsoft.com/office/drawing/2014/main" id="{384275C7-1CD5-E295-B579-FC638B025AE4}"/>
              </a:ext>
            </a:extLst>
          </p:cNvPr>
          <p:cNvSpPr/>
          <p:nvPr/>
        </p:nvSpPr>
        <p:spPr>
          <a:xfrm>
            <a:off x="4570267" y="323115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1" name="Rectángulo redondeado 23">
            <a:extLst>
              <a:ext uri="{FF2B5EF4-FFF2-40B4-BE49-F238E27FC236}">
                <a16:creationId xmlns:a16="http://schemas.microsoft.com/office/drawing/2014/main" id="{29D302CC-7ABC-CCB9-736D-10CB923300A4}"/>
              </a:ext>
            </a:extLst>
          </p:cNvPr>
          <p:cNvSpPr/>
          <p:nvPr/>
        </p:nvSpPr>
        <p:spPr>
          <a:xfrm>
            <a:off x="4051826" y="355160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0942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DA9CAE3-9BA2-D142-E7B7-D28AF087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923744"/>
            <a:ext cx="11381753" cy="54326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37777" y="5573174"/>
            <a:ext cx="7661400" cy="92785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endParaRPr lang="es-ES_tradnl" sz="1400" dirty="0"/>
          </a:p>
          <a:p>
            <a:r>
              <a:rPr lang="es-ES_tradnl" sz="1400" dirty="0"/>
              <a:t>En el bloque de currículo se ingresa:</a:t>
            </a:r>
          </a:p>
          <a:p>
            <a:r>
              <a:rPr lang="es-ES_tradnl" sz="1400" dirty="0"/>
              <a:t>1.- </a:t>
            </a:r>
            <a:r>
              <a:rPr lang="es-ES_tradnl" sz="1400" b="1" dirty="0"/>
              <a:t>Programa: </a:t>
            </a:r>
            <a:r>
              <a:rPr lang="es-ES_tradnl" sz="1400" dirty="0"/>
              <a:t>El sistema trae automáticamente los datos de la regla de currícula.</a:t>
            </a:r>
          </a:p>
          <a:p>
            <a:r>
              <a:rPr lang="es-ES_tradnl" sz="1400" dirty="0"/>
              <a:t>2.- Se guarda el registro.</a:t>
            </a:r>
          </a:p>
          <a:p>
            <a:br>
              <a:rPr lang="es-ES_tradnl" sz="1400" dirty="0"/>
            </a:br>
            <a:endParaRPr lang="es-ES_tradnl" sz="1400" dirty="0"/>
          </a:p>
        </p:txBody>
      </p:sp>
      <p:sp>
        <p:nvSpPr>
          <p:cNvPr id="11" name="Rectángulo redondeado 23">
            <a:extLst>
              <a:ext uri="{FF2B5EF4-FFF2-40B4-BE49-F238E27FC236}">
                <a16:creationId xmlns:a16="http://schemas.microsoft.com/office/drawing/2014/main" id="{3C3586FA-BE20-3C09-DF12-1B83C6C97D69}"/>
              </a:ext>
            </a:extLst>
          </p:cNvPr>
          <p:cNvSpPr/>
          <p:nvPr/>
        </p:nvSpPr>
        <p:spPr>
          <a:xfrm>
            <a:off x="4786821" y="416432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3">
            <a:extLst>
              <a:ext uri="{FF2B5EF4-FFF2-40B4-BE49-F238E27FC236}">
                <a16:creationId xmlns:a16="http://schemas.microsoft.com/office/drawing/2014/main" id="{8B64C538-704B-A5B4-9713-623F155520A2}"/>
              </a:ext>
            </a:extLst>
          </p:cNvPr>
          <p:cNvSpPr/>
          <p:nvPr/>
        </p:nvSpPr>
        <p:spPr>
          <a:xfrm>
            <a:off x="10698247" y="595425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40793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BB275F-9669-70C6-9EB5-55859B592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54" y="1261741"/>
            <a:ext cx="10729891" cy="50946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3000" dirty="0"/>
            </a:br>
            <a:r>
              <a:rPr lang="es-419" sz="2000" dirty="0"/>
              <a:t>Dirección</a:t>
            </a:r>
            <a:br>
              <a:rPr lang="es-419" sz="1800" b="1" dirty="0"/>
            </a:b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37776" y="5140191"/>
            <a:ext cx="9812931" cy="10413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400" dirty="0"/>
          </a:p>
          <a:p>
            <a:r>
              <a:rPr lang="es-ES_tradnl" sz="1400" dirty="0"/>
              <a:t>En la pestaña de dirección se pueden ingresar uno o varios registros de dirección del aspirante los cuales van a ser mostrados en la pestaña de direcciones de SPAIDEN.</a:t>
            </a:r>
          </a:p>
          <a:p>
            <a:r>
              <a:rPr lang="es-ES_tradnl" sz="1400" dirty="0"/>
              <a:t>1.- Tipo de dirección.</a:t>
            </a:r>
            <a:br>
              <a:rPr lang="es-ES_tradnl" sz="1400" dirty="0"/>
            </a:br>
            <a:endParaRPr lang="es-ES_tradnl" sz="1400" dirty="0"/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21CA4DE2-54B6-521B-3B54-FBC4B2C47D70}"/>
              </a:ext>
            </a:extLst>
          </p:cNvPr>
          <p:cNvSpPr/>
          <p:nvPr/>
        </p:nvSpPr>
        <p:spPr>
          <a:xfrm>
            <a:off x="1043329" y="2666799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0139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FF9E42-3B28-656B-7420-589C1C56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92" y="1229115"/>
            <a:ext cx="10924744" cy="519765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SAAQUIK</a:t>
            </a:r>
            <a:r>
              <a:rPr lang="es-419" sz="3000" b="1" dirty="0"/>
              <a:t> </a:t>
            </a:r>
            <a:r>
              <a:rPr lang="es-419" sz="3000" dirty="0"/>
              <a:t>Captura rápida</a:t>
            </a:r>
            <a:br>
              <a:rPr lang="es-419" sz="3000" dirty="0"/>
            </a:br>
            <a:r>
              <a:rPr lang="es-419" sz="2000" dirty="0"/>
              <a:t>Biográfica</a:t>
            </a:r>
            <a:br>
              <a:rPr lang="es-419" sz="1800" b="1" dirty="0"/>
            </a:br>
            <a:br>
              <a:rPr lang="es-419" sz="1800" b="1" dirty="0"/>
            </a:b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02793" y="5157588"/>
            <a:ext cx="9821895" cy="932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la pestaña de biográfica se pueden ingresar los registros de fecha de nacimiento, estado civil, ciudadanía entre otros, los cuales van a ser mostrados en la pestaña de biográfica de SPAIDEN.</a:t>
            </a:r>
          </a:p>
        </p:txBody>
      </p:sp>
    </p:spTree>
    <p:extLst>
      <p:ext uri="{BB962C8B-B14F-4D97-AF65-F5344CB8AC3E}">
        <p14:creationId xmlns:p14="http://schemas.microsoft.com/office/powerpoint/2010/main" val="3698656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A2FA-C3F3-07B1-4C19-7A3B92EE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113C1230-8ED4-F13E-0D89-F04AE9FF4E8E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75F6237-273B-EE7E-CE7A-B5FFCF13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Actualización masiva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DB5F1C4-D5AE-6077-F005-50C924147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38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7EF910-41AE-227F-1A55-6536D15E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41" y="1143978"/>
            <a:ext cx="10619117" cy="45700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</a:t>
            </a:r>
            <a:endParaRPr lang="es-CL" sz="18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10882" y="5505108"/>
            <a:ext cx="9777071" cy="66709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El proceso de captura masiva de admisiones permite la actualización a un grupo de aspirantes. El proceso se puede ejecutar con la búsqueda de criterios  utilizando una selección de población.</a:t>
            </a:r>
          </a:p>
        </p:txBody>
      </p:sp>
    </p:spTree>
    <p:extLst>
      <p:ext uri="{BB962C8B-B14F-4D97-AF65-F5344CB8AC3E}">
        <p14:creationId xmlns:p14="http://schemas.microsoft.com/office/powerpoint/2010/main" val="1729439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1377EB1-3665-8283-AF0A-4FD4D3E7E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40" y="1439259"/>
            <a:ext cx="10525157" cy="452329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  - </a:t>
            </a:r>
            <a:r>
              <a:rPr lang="es-419" sz="2000" dirty="0"/>
              <a:t>Pestaña de buscar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666843" y="4396892"/>
            <a:ext cx="8032970" cy="206666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la pestaña de buscar se pueden identificar los registros a los cuales se les requiere hacer el cambio, los parámetros que se pueden utilizar son: </a:t>
            </a:r>
          </a:p>
          <a:p>
            <a:r>
              <a:rPr lang="es-ES_tradnl" sz="1400" dirty="0"/>
              <a:t>1.-Período de admisión. </a:t>
            </a:r>
          </a:p>
          <a:p>
            <a:r>
              <a:rPr lang="es-ES_tradnl" sz="1400" dirty="0"/>
              <a:t>2.- Tipo de admisión </a:t>
            </a:r>
          </a:p>
          <a:p>
            <a:r>
              <a:rPr lang="es-ES_tradnl" sz="1400" dirty="0"/>
              <a:t>3.-Estatus de la solicitud</a:t>
            </a:r>
          </a:p>
          <a:p>
            <a:r>
              <a:rPr lang="es-ES_tradnl" sz="1400" dirty="0"/>
              <a:t>4.- Nivel </a:t>
            </a:r>
          </a:p>
          <a:p>
            <a:r>
              <a:rPr lang="es-ES_tradnl" sz="1400" dirty="0"/>
              <a:t>5.- Programa, entre otros.</a:t>
            </a:r>
            <a:br>
              <a:rPr lang="es-ES_tradnl" sz="1400" dirty="0"/>
            </a:br>
            <a:r>
              <a:rPr lang="es-ES_tradnl" sz="1400" dirty="0"/>
              <a:t>O utilizar una selección de población para identificar los aspirantes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4F1F52D-E237-2E3B-AF7F-0D7EA16AD5E5}"/>
              </a:ext>
            </a:extLst>
          </p:cNvPr>
          <p:cNvSpPr/>
          <p:nvPr/>
        </p:nvSpPr>
        <p:spPr>
          <a:xfrm>
            <a:off x="2941173" y="2604033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6B55A219-399F-3D07-2CB0-4068F510CDE0}"/>
              </a:ext>
            </a:extLst>
          </p:cNvPr>
          <p:cNvSpPr/>
          <p:nvPr/>
        </p:nvSpPr>
        <p:spPr>
          <a:xfrm>
            <a:off x="868855" y="243834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379F4265-E306-4AB0-EECB-0CEE91A859CF}"/>
              </a:ext>
            </a:extLst>
          </p:cNvPr>
          <p:cNvSpPr/>
          <p:nvPr/>
        </p:nvSpPr>
        <p:spPr>
          <a:xfrm>
            <a:off x="1102624" y="287714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3C8448CD-FEC3-1784-1F9B-1B717CC1AF54}"/>
              </a:ext>
            </a:extLst>
          </p:cNvPr>
          <p:cNvSpPr/>
          <p:nvPr/>
        </p:nvSpPr>
        <p:spPr>
          <a:xfrm>
            <a:off x="7186820" y="3618065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1" name="Rectángulo redondeado 23">
            <a:extLst>
              <a:ext uri="{FF2B5EF4-FFF2-40B4-BE49-F238E27FC236}">
                <a16:creationId xmlns:a16="http://schemas.microsoft.com/office/drawing/2014/main" id="{B46A79D5-8753-E8DF-45BC-97057D958FAF}"/>
              </a:ext>
            </a:extLst>
          </p:cNvPr>
          <p:cNvSpPr/>
          <p:nvPr/>
        </p:nvSpPr>
        <p:spPr>
          <a:xfrm>
            <a:off x="7329583" y="260403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5386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B7922D-0B58-EE55-8056-97C18236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311490"/>
            <a:ext cx="10989528" cy="473597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  - </a:t>
            </a:r>
            <a:r>
              <a:rPr lang="es-419" sz="2000" dirty="0"/>
              <a:t>Pestaña de actualizar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202472" y="4491507"/>
            <a:ext cx="9487431" cy="86385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la pestaña de actualizar, se indican los campos que deben ser actualizados:</a:t>
            </a:r>
          </a:p>
          <a:p>
            <a:r>
              <a:rPr lang="es-ES_tradnl" sz="1400" dirty="0"/>
              <a:t>1.- Estatus de admisión, decisión de solicitud, entre otros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18910514-FE5E-9961-62AA-6F206D94EB93}"/>
              </a:ext>
            </a:extLst>
          </p:cNvPr>
          <p:cNvSpPr/>
          <p:nvPr/>
        </p:nvSpPr>
        <p:spPr>
          <a:xfrm>
            <a:off x="5946187" y="2735813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56387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9E3AB9-A055-62EB-2083-2E9D2790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87" y="1373893"/>
            <a:ext cx="10700678" cy="461543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  - </a:t>
            </a:r>
            <a:r>
              <a:rPr lang="es-419" sz="2000" dirty="0"/>
              <a:t>Pestaña de resultados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2148758" y="4287182"/>
            <a:ext cx="8160654" cy="6813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la pestaña de resultados el sistema traerá:</a:t>
            </a:r>
          </a:p>
          <a:p>
            <a:r>
              <a:rPr lang="es-ES_tradnl" sz="1400" dirty="0"/>
              <a:t>1.- Listado de aspirantes que cumplan con los requisitos definidos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1423819F-668B-74C8-E4E7-C23DD3A86382}"/>
              </a:ext>
            </a:extLst>
          </p:cNvPr>
          <p:cNvSpPr/>
          <p:nvPr/>
        </p:nvSpPr>
        <p:spPr>
          <a:xfrm>
            <a:off x="760583" y="2825656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55835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7DD7A3-D149-432C-4239-4BF88158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79468"/>
            <a:ext cx="11016568" cy="473529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  - </a:t>
            </a:r>
            <a:r>
              <a:rPr lang="es-419" sz="2000" dirty="0"/>
              <a:t>Pestaña de resultados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516924" y="4392705"/>
            <a:ext cx="8858528" cy="6813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1.- Se pueden seleccionar todos los registros o solo aquellos que se deseen modificar.</a:t>
            </a:r>
          </a:p>
          <a:p>
            <a:r>
              <a:rPr lang="es-ES_tradnl" sz="1400" dirty="0"/>
              <a:t>2.- Luego se da enviar.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B3BD379-299B-749C-DADA-DE1CF16476E7}"/>
              </a:ext>
            </a:extLst>
          </p:cNvPr>
          <p:cNvSpPr/>
          <p:nvPr/>
        </p:nvSpPr>
        <p:spPr>
          <a:xfrm>
            <a:off x="1646282" y="3481429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29B9AC1D-5793-2898-F1F8-05A50D2B8533}"/>
              </a:ext>
            </a:extLst>
          </p:cNvPr>
          <p:cNvSpPr/>
          <p:nvPr/>
        </p:nvSpPr>
        <p:spPr>
          <a:xfrm>
            <a:off x="693362" y="276862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4260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834934-4A08-CABD-C349-82C14DEE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83962"/>
            <a:ext cx="11015932" cy="47448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SAAMAPP</a:t>
            </a:r>
            <a:r>
              <a:rPr lang="es-419" sz="3000" b="1" dirty="0"/>
              <a:t> Captura masiva de admis</a:t>
            </a:r>
            <a:r>
              <a:rPr lang="es-419" sz="3000" dirty="0"/>
              <a:t>iones  - </a:t>
            </a:r>
            <a:r>
              <a:rPr lang="es-419" sz="2000" dirty="0"/>
              <a:t>Pestaña de resultados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808099" y="4481653"/>
            <a:ext cx="8447525" cy="6813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1.- El sistema mostrará los resultados del proceso.</a:t>
            </a:r>
          </a:p>
        </p:txBody>
      </p:sp>
      <p:sp>
        <p:nvSpPr>
          <p:cNvPr id="2" name="Rectángulo redondeado 23">
            <a:extLst>
              <a:ext uri="{FF2B5EF4-FFF2-40B4-BE49-F238E27FC236}">
                <a16:creationId xmlns:a16="http://schemas.microsoft.com/office/drawing/2014/main" id="{0EF1B0CE-5448-427C-4530-63AD40A31D9E}"/>
              </a:ext>
            </a:extLst>
          </p:cNvPr>
          <p:cNvSpPr/>
          <p:nvPr/>
        </p:nvSpPr>
        <p:spPr>
          <a:xfrm>
            <a:off x="9448468" y="214236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A1BCF5A-1BF9-5C1E-916E-A5C45369AEEF}"/>
              </a:ext>
            </a:extLst>
          </p:cNvPr>
          <p:cNvCxnSpPr>
            <a:cxnSpLocks/>
          </p:cNvCxnSpPr>
          <p:nvPr/>
        </p:nvCxnSpPr>
        <p:spPr>
          <a:xfrm flipV="1">
            <a:off x="6390461" y="2788023"/>
            <a:ext cx="3174891" cy="2034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806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solicitudes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87221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Crear solicitudes de admisión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 crear solicitudes de admisión manualmente en SAAADMS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 crear admisiones rápidas en SAAQUIK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 revisar y mantener la solicitud de admisiones de un postulante en SAAADMS.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 actualizar masivamente los registros de varios postulantes utilizando la página SAAMAPP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Sergio Molina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 dirty="0"/>
              <a:t>Sergio.molina@ellucian.com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Ellucian-PPT-Template-2026</Template>
  <TotalTime>7408</TotalTime>
  <Words>1458</Words>
  <Application>Microsoft Office PowerPoint</Application>
  <PresentationFormat>Widescreen</PresentationFormat>
  <Paragraphs>265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Macroproceso Gestionar la admisión de los estudiantes</vt:lpstr>
      <vt:lpstr>Overview: Proceso crear solicitudes de admisión</vt:lpstr>
      <vt:lpstr>PowerPoint Presentation</vt:lpstr>
      <vt:lpstr>PowerPoint Presentation</vt:lpstr>
      <vt:lpstr>CREAR SOLICITUDES DE ADMISIÓN</vt:lpstr>
      <vt:lpstr>Admisión tradicional</vt:lpstr>
      <vt:lpstr>Crear solicitud de admisión (SAAADMS)</vt:lpstr>
      <vt:lpstr>Crear solicitud de admisión (SAAADMS)</vt:lpstr>
      <vt:lpstr>Crear solicitud de admisión (SAAADMS)</vt:lpstr>
      <vt:lpstr>Crear solicitud de admisión (SAAADMS)</vt:lpstr>
      <vt:lpstr>Crear solicitud de admisión (SAAADMS)</vt:lpstr>
      <vt:lpstr>Crear solicitud de admisión (SAAADMS)</vt:lpstr>
      <vt:lpstr>Crear solicitud de admisión (SAAADMS)</vt:lpstr>
      <vt:lpstr>Crear solicitud de admisión (SAAADMS)</vt:lpstr>
      <vt:lpstr>Admisión rápida</vt:lpstr>
      <vt:lpstr>Configuraciones: SAAQUIK Captura rápida </vt:lpstr>
      <vt:lpstr>Configuraciones: SAAQUIK Captura rápida </vt:lpstr>
      <vt:lpstr>Configuraciones: SAAQUIK Captura rápida </vt:lpstr>
      <vt:lpstr>Configuraciones: SAAQUIK Captura rápida </vt:lpstr>
      <vt:lpstr>Configuraciones: SAAQUIK Captura rápida </vt:lpstr>
      <vt:lpstr>Configuraciones: SAAQUIK Captura rápida </vt:lpstr>
      <vt:lpstr>Configuraciones: SAAQUIK Captura rápida Dirección  </vt:lpstr>
      <vt:lpstr>Configuraciones: SAAQUIK Captura rápida Biográfica  </vt:lpstr>
      <vt:lpstr>Actualización masiva</vt:lpstr>
      <vt:lpstr>Configuraciones: SAAMAPP Captura masiva de admisiones</vt:lpstr>
      <vt:lpstr>Configuraciones: SAAMAPP Captura masiva de admisiones  - Pestaña de buscar</vt:lpstr>
      <vt:lpstr>Configuraciones: SAAMAPP Captura masiva de admisiones  - Pestaña de actualizar</vt:lpstr>
      <vt:lpstr>Configuraciones: SAAMAPP Captura masiva de admisiones  - Pestaña de resultados</vt:lpstr>
      <vt:lpstr>Configuraciones: SAAMAPP Captura masiva de admisiones  - Pestaña de resultados</vt:lpstr>
      <vt:lpstr>Configuraciones: SAAMAPP Captura masiva de admisiones  - Pestaña de resultados</vt:lpstr>
      <vt:lpstr>RESUMEN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574</cp:revision>
  <dcterms:created xsi:type="dcterms:W3CDTF">2023-07-17T20:07:38Z</dcterms:created>
  <dcterms:modified xsi:type="dcterms:W3CDTF">2026-06-24T21:15:47Z</dcterms:modified>
</cp:coreProperties>
</file>
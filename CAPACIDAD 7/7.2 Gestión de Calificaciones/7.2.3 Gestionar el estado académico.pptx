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 id="2147483764" r:id="rId2"/>
  </p:sldMasterIdLst>
  <p:notesMasterIdLst>
    <p:notesMasterId r:id="rId61"/>
  </p:notesMasterIdLst>
  <p:handoutMasterIdLst>
    <p:handoutMasterId r:id="rId62"/>
  </p:handoutMasterIdLst>
  <p:sldIdLst>
    <p:sldId id="1559" r:id="rId3"/>
    <p:sldId id="423" r:id="rId4"/>
    <p:sldId id="1174" r:id="rId5"/>
    <p:sldId id="523" r:id="rId6"/>
    <p:sldId id="1292" r:id="rId7"/>
    <p:sldId id="1250" r:id="rId8"/>
    <p:sldId id="1259" r:id="rId9"/>
    <p:sldId id="1566" r:id="rId10"/>
    <p:sldId id="1119" r:id="rId11"/>
    <p:sldId id="1567" r:id="rId12"/>
    <p:sldId id="1459" r:id="rId13"/>
    <p:sldId id="1568" r:id="rId14"/>
    <p:sldId id="1569" r:id="rId15"/>
    <p:sldId id="1561" r:id="rId16"/>
    <p:sldId id="1570" r:id="rId17"/>
    <p:sldId id="1330" r:id="rId18"/>
    <p:sldId id="1571" r:id="rId19"/>
    <p:sldId id="1563" r:id="rId20"/>
    <p:sldId id="1572" r:id="rId21"/>
    <p:sldId id="1510" r:id="rId22"/>
    <p:sldId id="1573" r:id="rId23"/>
    <p:sldId id="1574" r:id="rId24"/>
    <p:sldId id="1575" r:id="rId25"/>
    <p:sldId id="1392" r:id="rId26"/>
    <p:sldId id="1576" r:id="rId27"/>
    <p:sldId id="1578" r:id="rId28"/>
    <p:sldId id="1577" r:id="rId29"/>
    <p:sldId id="1579" r:id="rId30"/>
    <p:sldId id="1564" r:id="rId31"/>
    <p:sldId id="1580" r:id="rId32"/>
    <p:sldId id="1582" r:id="rId33"/>
    <p:sldId id="1581" r:id="rId34"/>
    <p:sldId id="1583" r:id="rId35"/>
    <p:sldId id="1584" r:id="rId36"/>
    <p:sldId id="1585" r:id="rId37"/>
    <p:sldId id="1586" r:id="rId38"/>
    <p:sldId id="1587" r:id="rId39"/>
    <p:sldId id="1588" r:id="rId40"/>
    <p:sldId id="1589" r:id="rId41"/>
    <p:sldId id="1590" r:id="rId42"/>
    <p:sldId id="1591" r:id="rId43"/>
    <p:sldId id="1592" r:id="rId44"/>
    <p:sldId id="1593" r:id="rId45"/>
    <p:sldId id="1595" r:id="rId46"/>
    <p:sldId id="1596" r:id="rId47"/>
    <p:sldId id="1539" r:id="rId48"/>
    <p:sldId id="1597" r:id="rId49"/>
    <p:sldId id="1598" r:id="rId50"/>
    <p:sldId id="1599" r:id="rId51"/>
    <p:sldId id="1600" r:id="rId52"/>
    <p:sldId id="1601" r:id="rId53"/>
    <p:sldId id="1602" r:id="rId54"/>
    <p:sldId id="1603" r:id="rId55"/>
    <p:sldId id="1604" r:id="rId56"/>
    <p:sldId id="1605" r:id="rId57"/>
    <p:sldId id="1606" r:id="rId58"/>
    <p:sldId id="1552" r:id="rId59"/>
    <p:sldId id="32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561" autoAdjust="0"/>
  </p:normalViewPr>
  <p:slideViewPr>
    <p:cSldViewPr snapToGrid="0">
      <p:cViewPr>
        <p:scale>
          <a:sx n="100" d="100"/>
          <a:sy n="100" d="100"/>
        </p:scale>
        <p:origin x="912" y="72"/>
      </p:cViewPr>
      <p:guideLst/>
    </p:cSldViewPr>
  </p:slideViewPr>
  <p:notesTextViewPr>
    <p:cViewPr>
      <p:scale>
        <a:sx n="1" d="1"/>
        <a:sy n="1" d="1"/>
      </p:scale>
      <p:origin x="0" y="0"/>
    </p:cViewPr>
  </p:notesTextViewPr>
  <p:notesViewPr>
    <p:cSldViewPr snapToGrid="0">
      <p:cViewPr varScale="1">
        <p:scale>
          <a:sx n="81" d="100"/>
          <a:sy n="81" d="100"/>
        </p:scale>
        <p:origin x="2952"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10D9319-56BF-F054-419F-930BC793C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E9A66691-91D6-5985-C241-F94D68B034E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9B74B-F5E0-4BB6-A3E8-0AE5CB67048E}" type="datetimeFigureOut">
              <a:rPr lang="es-419" smtClean="0"/>
              <a:t>10/6/2026</a:t>
            </a:fld>
            <a:endParaRPr lang="es-419"/>
          </a:p>
        </p:txBody>
      </p:sp>
      <p:sp>
        <p:nvSpPr>
          <p:cNvPr id="4" name="Marcador de pie de página 3">
            <a:extLst>
              <a:ext uri="{FF2B5EF4-FFF2-40B4-BE49-F238E27FC236}">
                <a16:creationId xmlns:a16="http://schemas.microsoft.com/office/drawing/2014/main" id="{F170C731-CBBE-F354-CC2E-1499DE8E25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E5EA7D16-3D2D-BA6F-E636-85E7EC1E815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4C2B0-E540-48DC-AC90-5D6BD5F11BC0}" type="slidenum">
              <a:rPr lang="es-419" smtClean="0"/>
              <a:t>‹Nº›</a:t>
            </a:fld>
            <a:endParaRPr lang="es-419"/>
          </a:p>
        </p:txBody>
      </p:sp>
    </p:spTree>
    <p:extLst>
      <p:ext uri="{BB962C8B-B14F-4D97-AF65-F5344CB8AC3E}">
        <p14:creationId xmlns:p14="http://schemas.microsoft.com/office/powerpoint/2010/main" val="16502359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AC670-93FE-43F9-B7DF-71B7D615D657}" type="datetimeFigureOut">
              <a:rPr lang="es-419" smtClean="0"/>
              <a:t>10/6/2026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2002EC-2E0F-454D-A0F8-E0B7B24A6AD3}" type="slidenum">
              <a:rPr lang="es-419" smtClean="0"/>
              <a:t>‹Nº›</a:t>
            </a:fld>
            <a:endParaRPr lang="es-419"/>
          </a:p>
        </p:txBody>
      </p:sp>
    </p:spTree>
    <p:extLst>
      <p:ext uri="{BB962C8B-B14F-4D97-AF65-F5344CB8AC3E}">
        <p14:creationId xmlns:p14="http://schemas.microsoft.com/office/powerpoint/2010/main" val="3683696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981047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98FC-1B4F-360E-22CD-469989AEAA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4A33BF-790E-9800-7C56-795C38438C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8EE9E8-06EA-DAE5-493B-544AA9AAA95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E264942-F22D-BDE8-27AB-5D3364D1135D}"/>
              </a:ext>
            </a:extLst>
          </p:cNvPr>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445847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7B01-E3B0-48B6-DF02-F45846685A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B388F5-FD0F-C19D-6B6D-C98CBAAE92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86ED16-48DB-4681-D91A-2B2184F5094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25C5A12-7D22-E9B8-84A4-08DEACDB5E07}"/>
              </a:ext>
            </a:extLst>
          </p:cNvPr>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4207321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DCC1F-D2D9-EFED-A080-221AFD78C0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E19BB2-146F-1FE0-7AFC-E488D6A89F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995DB2-00CC-9503-C1AB-B9CF3C83BB9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2ACA2BF-8D75-37FE-2659-1BB0151DFE42}"/>
              </a:ext>
            </a:extLst>
          </p:cNvPr>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3545789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ECC2B-16C4-E93E-1A7D-4766BFB405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485974-B97E-2AE3-F79C-9E69D24FF9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663BFC-CB7C-ADF6-BEC2-BA1DCA9A54A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D736B8B-BE49-34B6-3FF5-555770EA9863}"/>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842672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1604640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0A9A5-C5F2-E236-F3C9-B11BFF99D4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7CBB09-7FE3-A8AC-0FCD-5407757B11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8C18D1-A055-EE34-AFC1-D122B509564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C9F352A-F223-3F9C-E39D-D1DF596E4FAC}"/>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291526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B7C0-47D5-F5BB-D480-873C90BD20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0202EC-8AC0-8DA1-C63C-668CD70969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672CA7-CE9C-3392-9987-76A098B4E37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EA77BEF-5695-A089-7967-C70FB80CCB3B}"/>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2458663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BC505-9B60-6858-811E-1DEB1B9F61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2C35F8-DCBE-CC26-15ED-CC9D24C70C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B909ED-1D26-C291-E400-67DDAF300A3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7576E59-BF29-42F6-92F7-8C1403C8621B}"/>
              </a:ext>
            </a:extLst>
          </p:cNvPr>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2224772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7AA50-2037-3347-CA95-A57982D04D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26AFC2-D10A-0BBB-DBCE-66494F1449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8394FF-9955-E64C-78F4-B967F0979C4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783FD87-471C-09A6-18E4-5E6B5D24A777}"/>
              </a:ext>
            </a:extLst>
          </p:cNvPr>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288895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3804B-D933-4D0D-1F0B-6682E10E8D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0C45EE-F462-0B25-566D-DBF11A430B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746F77-8548-4E1F-4183-3BC8F3574E3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3373962-F536-ADF4-5528-B382FE9FFE2B}"/>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3425004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22986-87F8-EA41-D5F9-50F376D69B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E2A318-2B15-BBCA-0F68-4ADBE16262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814347-C93D-50BC-2193-1880BE663CB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CC0D24F-4537-E640-112B-4D8B2CFF063A}"/>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337525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2336-9CF4-AF88-3EB8-DB86248415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7FE846-E8FE-B2D9-8F9B-61C8B65A57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160DE4-D7D1-82FD-47A7-B6319E2B2AD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E0D3D84-67FD-9E8B-AC45-D15CA69B8D9D}"/>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3251440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C7BEB-3997-09B5-5EEB-6D3A529AD0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21B78C-EA97-5666-313A-548A86A80FD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BDE6CB-099C-45B8-F026-B26C60A144C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8B1A4F5-4F36-4B4F-9883-EAD06F674421}"/>
              </a:ext>
            </a:extLst>
          </p:cNvPr>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3417319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400B2-6CFA-AD48-FC19-7A2CFC4FC4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BBB40A-1F17-84EA-9568-4E5EB5B650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E2BD10-313B-50FA-046B-4AF8F19A5FE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D778656-413B-7F6C-3C5D-59B3D74FAD08}"/>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14828969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B8A3D-749C-6319-79C5-37BB232DE4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B8596B-AA9E-3369-719E-47985BBAC3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4968A3-3B05-4329-7081-50CE10E144F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6B7DC47-5CA5-F1E2-21F1-838612553A04}"/>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3746308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2B216-4418-DC5D-E354-3088D1B54D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82C063-0E4F-4470-17BA-18E7E7DCCD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0A1FF-63DC-E37E-29DD-8E4D09FAA21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DFC10D0-3D31-3349-50EB-6671EC29939B}"/>
              </a:ext>
            </a:extLst>
          </p:cNvPr>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2385891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A135-D5F8-17AE-2EFF-D80F5B15E3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A34020-0472-032B-8B64-40D43197BA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3C9DA4-78AB-A62E-C44A-7013DAF9BBC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7C76678-D8DB-4EC9-02C9-FF6D0A3F5547}"/>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3588893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B001-D38F-6B5E-EB39-14F1238BBA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253817-C907-4030-5754-7A8705183E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7A5678-8C63-C560-02B4-81CF83E3324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F3E172F-28C5-E3C5-99CD-36032BEE7971}"/>
              </a:ext>
            </a:extLst>
          </p:cNvPr>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3645454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CD443-D4C0-5C54-EAA1-7C8521F07B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A7613C-D4F6-8B0F-CF07-3592EFD317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867194-9F1E-7823-2FF0-5E67C3BE931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59DB4F1-A5CC-D35C-7A9D-B57959FF9853}"/>
              </a:ext>
            </a:extLst>
          </p:cNvPr>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1748046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BD964-588B-3EB8-8EB1-74B1C2E1E6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B78FF4-88B5-8391-256C-2168C0582E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B34162-F8BD-05ED-65B2-67F1D120E10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1CEFF99-A90E-ADAA-33C3-3C48B93801DE}"/>
              </a:ext>
            </a:extLst>
          </p:cNvPr>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3866469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C97CC-D522-0A09-0B34-83E0BCDD50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9FA594-80DA-3D9E-2D07-EE0380C09C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1C9355-91A2-ADB1-1EA8-E728EC4036E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DC5EA6C-2447-98B0-0187-1671076A19A0}"/>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26569740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D9F41-7F36-E6A6-9BFC-A11CF50286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5744F-E31A-8598-31E9-8DC2C9A68B0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5AE375-3F64-C93D-BEC8-FE6D45213B8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B81558A-2B2A-9668-40C2-B0DDB44411B0}"/>
              </a:ext>
            </a:extLst>
          </p:cNvPr>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1086919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E67F5-DF2F-821B-6397-E7AB747C71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D568C8-69EB-C415-C269-D0F605FBFB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6D883B-BBBD-643A-398F-42ACF6ECCC6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19779FB-ED1A-2604-4A03-8622191B9591}"/>
              </a:ext>
            </a:extLst>
          </p:cNvPr>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1483510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A38BE-05D7-D98C-5ED9-0AF1E46D4E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BC12E9-03FB-63DF-452F-EDDE9DD29FE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E885FE-8386-5FE5-BDA3-A0F49199019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05ED644-3C2B-2434-39F2-685077A2C701}"/>
              </a:ext>
            </a:extLst>
          </p:cNvPr>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29223156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2B75-AAF2-99D9-1203-B91B426250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D6343DE-0C2C-DB98-F171-4ECA0D9A62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177D29-51A4-F188-3A88-22B57C037ED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EDD20DB-F3AC-4264-2B12-3B3655D1042B}"/>
              </a:ext>
            </a:extLst>
          </p:cNvPr>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4188059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FCB5B-2C52-1D3C-6496-3757BB4111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E5C7AF-83A7-4B68-9A9A-F91D733AC7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904EB2-1988-B57B-8AEA-3A7066AF7AE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EBCED13-2E4A-7661-6EDE-D387EE5BAE6B}"/>
              </a:ext>
            </a:extLst>
          </p:cNvPr>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28556841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EF8-1967-5910-0778-DC2D16D423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1BB1FC-1465-82AD-9E29-C9920F2BAB7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38F299-E6BD-05E8-585B-84A88466D80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78B2C83-ACCC-C112-7165-2C6BE5E3A6FD}"/>
              </a:ext>
            </a:extLst>
          </p:cNvPr>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3208357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4D9F6-FD7D-D7FE-4C83-83C323F169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761057-3961-81FD-A4E0-7B7AE3CAE9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6FBB5C-BE12-CC00-87CC-A83EE9F9639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C5D232F-1879-2A36-8AA0-8EF04E3EF891}"/>
              </a:ext>
            </a:extLst>
          </p:cNvPr>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434161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C5D6C-64FE-3836-A40C-6B61C11D87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01EDE2-D0B7-5672-78A3-76DBC75FA9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BA52F7-E8D8-DDEA-285C-70A5C320ED3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4111AC7-DEEF-F3BF-5E45-DB19A7F3CB20}"/>
              </a:ext>
            </a:extLst>
          </p:cNvPr>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799587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71ED-203A-4811-7A5C-3057A54634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AB678F-6693-668A-A6AA-606D25B082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77BBE41-2305-D32F-AE2B-32805938E28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120F7B3-3C05-8913-9E46-0F85057EF22C}"/>
              </a:ext>
            </a:extLst>
          </p:cNvPr>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8499578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60F8E-F43B-376E-AC15-A2783BD400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E3FEB2-390B-385E-F72F-BACCB3E708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2B7FB7-7276-9B94-629B-25705D013B1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E040157-9A0A-F3CE-24AA-1AA29C6FCA25}"/>
              </a:ext>
            </a:extLst>
          </p:cNvPr>
          <p:cNvSpPr>
            <a:spLocks noGrp="1"/>
          </p:cNvSpPr>
          <p:nvPr>
            <p:ph type="sldNum" sz="quarter" idx="5"/>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14327157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01B5F-E953-287D-52E6-48A28F9C7C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5AF40D-E644-1BF7-4878-1097EE38E39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46FD12-ADF7-8C97-8314-C16DCDFE612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5F8B32A-C478-36C9-F536-456E934D4D80}"/>
              </a:ext>
            </a:extLst>
          </p:cNvPr>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6049908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B5C2-76FE-6B4C-9FE1-47FEC54980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A3B9B3-60A3-8F99-101E-115F2BEC62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CBBCA0-D58C-C566-6FE8-6DB0E956B71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ABE251E-677B-CB43-BE72-860748FB2DAB}"/>
              </a:ext>
            </a:extLst>
          </p:cNvPr>
          <p:cNvSpPr>
            <a:spLocks noGrp="1"/>
          </p:cNvSpPr>
          <p:nvPr>
            <p:ph type="sldNum" sz="quarter" idx="5"/>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41536658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23F80-177E-52AD-0C89-2B9BF2B63F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56EF92-BD8D-1CA8-AC47-6D58896A75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076C7E-C632-933F-BF1B-E9675A0EF2B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B0185F9-B7F1-3C23-D451-9EA277AF055B}"/>
              </a:ext>
            </a:extLst>
          </p:cNvPr>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18466170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65505-DFD3-24FA-51D3-721F66E845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0ED85-4CC7-C46C-565C-B1075FEAD2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35518F-B0F8-9717-6B35-09D310047D2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FBE1F93-CBFE-21DB-49AD-C4F1486B5D04}"/>
              </a:ext>
            </a:extLst>
          </p:cNvPr>
          <p:cNvSpPr>
            <a:spLocks noGrp="1"/>
          </p:cNvSpPr>
          <p:nvPr>
            <p:ph type="sldNum" sz="quarter" idx="5"/>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40120454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E0542-5CC1-172B-DFD0-4308D716D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14B668-2B3F-56F5-3609-EF868C0702D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5744EB-8BB9-E803-2843-D0E9CAC2472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B9131E2-96D3-2082-2B31-4FE17BBAC160}"/>
              </a:ext>
            </a:extLst>
          </p:cNvPr>
          <p:cNvSpPr>
            <a:spLocks noGrp="1"/>
          </p:cNvSpPr>
          <p:nvPr>
            <p:ph type="sldNum" sz="quarter" idx="5"/>
          </p:nvPr>
        </p:nvSpPr>
        <p:spPr/>
        <p:txBody>
          <a:bodyPr/>
          <a:lstStyle/>
          <a:p>
            <a:fld id="{CF541D2A-E99A-2F4F-B8C9-28142709F87F}" type="slidenum">
              <a:rPr lang="en-US" smtClean="0"/>
              <a:pPr/>
              <a:t>56</a:t>
            </a:fld>
            <a:endParaRPr lang="en-US"/>
          </a:p>
        </p:txBody>
      </p:sp>
    </p:spTree>
    <p:extLst>
      <p:ext uri="{BB962C8B-B14F-4D97-AF65-F5344CB8AC3E}">
        <p14:creationId xmlns:p14="http://schemas.microsoft.com/office/powerpoint/2010/main" val="29451972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65041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8699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2897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36076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439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937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0974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1770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3233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1550349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506165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874667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788765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743750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665268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0295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28870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436558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40121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364667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95586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149263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16245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572895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0803706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583778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8412314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934781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089519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44269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558163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900929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018415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16566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6BD6E4B7-96A7-4E01-9DDD-23C60D704D5B}" type="slidenum">
              <a:rPr lang="es-419" smtClean="0"/>
              <a:t>‹Nº›</a:t>
            </a:fld>
            <a:endParaRPr lang="es-419"/>
          </a:p>
        </p:txBody>
      </p:sp>
      <p:sp>
        <p:nvSpPr>
          <p:cNvPr id="3" name="Rectángulo 2">
            <a:extLst>
              <a:ext uri="{FF2B5EF4-FFF2-40B4-BE49-F238E27FC236}">
                <a16:creationId xmlns:a16="http://schemas.microsoft.com/office/drawing/2014/main" id="{B87848C8-5306-CCBF-F8E9-C7873EA77EE5}"/>
              </a:ext>
            </a:extLst>
          </p:cNvPr>
          <p:cNvSpPr/>
          <p:nvPr userDrawn="1"/>
        </p:nvSpPr>
        <p:spPr>
          <a:xfrm>
            <a:off x="9201150" y="6477000"/>
            <a:ext cx="238125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ACF80B18-24B4-CBEE-9DE2-D92B53D5028B}"/>
              </a:ext>
            </a:extLst>
          </p:cNvPr>
          <p:cNvSpPr txBox="1"/>
          <p:nvPr userDrawn="1"/>
        </p:nvSpPr>
        <p:spPr>
          <a:xfrm>
            <a:off x="9710428" y="6564371"/>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rPr>
              <a:t>©2026 Ellucian. Confidential and Proprietary</a:t>
            </a:r>
          </a:p>
          <a:p>
            <a:pPr algn="l"/>
            <a:endParaRPr lang="es-419" dirty="0" err="1"/>
          </a:p>
        </p:txBody>
      </p:sp>
    </p:spTree>
    <p:extLst>
      <p:ext uri="{BB962C8B-B14F-4D97-AF65-F5344CB8AC3E}">
        <p14:creationId xmlns:p14="http://schemas.microsoft.com/office/powerpoint/2010/main" val="146526504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6BD6E4B7-96A7-4E01-9DDD-23C60D704D5B}" type="slidenum">
              <a:rPr lang="es-419" smtClean="0"/>
              <a:t>‹Nº›</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72F9C080-DD2D-FD34-D5B7-4EB1E6EC427D}"/>
              </a:ext>
            </a:extLst>
          </p:cNvPr>
          <p:cNvSpPr/>
          <p:nvPr userDrawn="1"/>
        </p:nvSpPr>
        <p:spPr>
          <a:xfrm>
            <a:off x="9144000" y="6356349"/>
            <a:ext cx="2438397" cy="501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5BC384C8-4C26-47A6-0271-A2125548E2A0}"/>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30073386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6BD6E4B7-96A7-4E01-9DDD-23C60D704D5B}" type="slidenum">
              <a:rPr lang="es-419" smtClean="0"/>
              <a:t>‹Nº›</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ángulo 2">
            <a:extLst>
              <a:ext uri="{FF2B5EF4-FFF2-40B4-BE49-F238E27FC236}">
                <a16:creationId xmlns:a16="http://schemas.microsoft.com/office/drawing/2014/main" id="{21AA0655-EF32-5703-2481-B0BE588C40AA}"/>
              </a:ext>
            </a:extLst>
          </p:cNvPr>
          <p:cNvSpPr/>
          <p:nvPr userDrawn="1"/>
        </p:nvSpPr>
        <p:spPr>
          <a:xfrm>
            <a:off x="9201150" y="6467475"/>
            <a:ext cx="2381247"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FF149BBC-CE1D-8521-C527-4F2A84EF7C23}"/>
              </a:ext>
            </a:extLst>
          </p:cNvPr>
          <p:cNvSpPr txBox="1"/>
          <p:nvPr userDrawn="1"/>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55456800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C81640C-8C6B-5E12-5738-1064EB25174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31D41CC-41AA-8FBF-DB1C-4B2455C6AE11}"/>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0E240B25-B0D6-C0C5-DE6F-14B69B1D50F6}"/>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65B22207-CC73-A4CB-B0FF-B3E875A87F6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94ADD352-82E6-5450-DC33-C7F3B9025D08}"/>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784953DA-07E9-EF76-1A13-4EE30DE04AC3}"/>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2652666655"/>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235966850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Tree>
    <p:extLst>
      <p:ext uri="{BB962C8B-B14F-4D97-AF65-F5344CB8AC3E}">
        <p14:creationId xmlns:p14="http://schemas.microsoft.com/office/powerpoint/2010/main" val="4057554940"/>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906654370"/>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280389113"/>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89100005"/>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1372148938"/>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656363508"/>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6896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91993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311563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370314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5543194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073068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07901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815912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536569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335602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494978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834150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869708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290449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112409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499680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6530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497344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9336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theme" Target="../theme/theme2.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6770876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1" r:id="rId34"/>
    <p:sldLayoutId id="2147483752" r:id="rId35"/>
    <p:sldLayoutId id="2147483753" r:id="rId36"/>
    <p:sldLayoutId id="2147483756" r:id="rId37"/>
    <p:sldLayoutId id="2147483757" r:id="rId38"/>
    <p:sldLayoutId id="2147483758" r:id="rId39"/>
    <p:sldLayoutId id="2147483759" r:id="rId40"/>
    <p:sldLayoutId id="2147483760" r:id="rId41"/>
    <p:sldLayoutId id="2147483761" r:id="rId42"/>
    <p:sldLayoutId id="2147483712" r:id="rId43"/>
    <p:sldLayoutId id="2147483713" r:id="rId44"/>
    <p:sldLayoutId id="2147483716" r:id="rId4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056053"/>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35.xml"/><Relationship Id="rId5" Type="http://schemas.openxmlformats.org/officeDocument/2006/relationships/image" Target="../media/image50.sv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444935" y="2251384"/>
            <a:ext cx="5651066" cy="1167179"/>
          </a:xfrm>
        </p:spPr>
        <p:txBody>
          <a:bodyPr/>
          <a:lstStyle/>
          <a:p>
            <a:pPr>
              <a:spcBef>
                <a:spcPts val="0"/>
              </a:spcBef>
              <a:spcAft>
                <a:spcPts val="600"/>
              </a:spcAft>
            </a:pPr>
            <a:r>
              <a:rPr lang="es-CL" sz="4200" dirty="0">
                <a:solidFill>
                  <a:schemeClr val="bg1"/>
                </a:solidFill>
                <a:latin typeface="+mn-lt"/>
                <a:ea typeface="+mn-ea"/>
                <a:cs typeface="+mn-cs"/>
              </a:rPr>
              <a:t>Gestionar el estado académico</a:t>
            </a: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2" name="Tabla 1">
            <a:extLst>
              <a:ext uri="{FF2B5EF4-FFF2-40B4-BE49-F238E27FC236}">
                <a16:creationId xmlns:a16="http://schemas.microsoft.com/office/drawing/2014/main" id="{50A96836-9A4D-6BF0-B9D3-6C4DC50DD1B4}"/>
              </a:ext>
            </a:extLst>
          </p:cNvPr>
          <p:cNvGraphicFramePr>
            <a:graphicFrameLocks noGrp="1"/>
          </p:cNvGraphicFramePr>
          <p:nvPr>
            <p:extLst>
              <p:ext uri="{D42A27DB-BD31-4B8C-83A1-F6EECF244321}">
                <p14:modId xmlns:p14="http://schemas.microsoft.com/office/powerpoint/2010/main" val="1402347505"/>
              </p:ext>
            </p:extLst>
          </p:nvPr>
        </p:nvGraphicFramePr>
        <p:xfrm>
          <a:off x="1143000" y="1414386"/>
          <a:ext cx="8916155" cy="3385402"/>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1358499478"/>
                    </a:ext>
                  </a:extLst>
                </a:gridCol>
                <a:gridCol w="8103140">
                  <a:extLst>
                    <a:ext uri="{9D8B030D-6E8A-4147-A177-3AD203B41FA5}">
                      <a16:colId xmlns:a16="http://schemas.microsoft.com/office/drawing/2014/main" val="2144207271"/>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1800" b="0" kern="1200" noProof="0" dirty="0">
                        <a:solidFill>
                          <a:srgbClr val="414042"/>
                        </a:solidFill>
                        <a:latin typeface="Arial"/>
                        <a:ea typeface="+mn-ea"/>
                        <a:cs typeface="Arial"/>
                      </a:endParaRPr>
                    </a:p>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388328"/>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Crear los estados académicos</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978433"/>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Definir las reglas de aplicación de estados académicos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172040"/>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Aplicar los estados académicos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5609312"/>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Resumen</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712512"/>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8CBBFD1E-D830-AF3B-171B-89783D0863BD}"/>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4" name="Marcador de texto 3">
            <a:extLst>
              <a:ext uri="{FF2B5EF4-FFF2-40B4-BE49-F238E27FC236}">
                <a16:creationId xmlns:a16="http://schemas.microsoft.com/office/drawing/2014/main" id="{25B12B73-0C24-6613-5422-1930755CCFC0}"/>
              </a:ext>
            </a:extLst>
          </p:cNvPr>
          <p:cNvSpPr>
            <a:spLocks noGrp="1"/>
          </p:cNvSpPr>
          <p:nvPr>
            <p:ph type="body" sz="quarter" idx="18"/>
          </p:nvPr>
        </p:nvSpPr>
        <p:spPr/>
        <p:txBody>
          <a:bodyPr/>
          <a:lstStyle/>
          <a:p>
            <a:r>
              <a:rPr lang="es-419" dirty="0"/>
              <a:t>Gestionar el estado académico</a:t>
            </a:r>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noProof="0" dirty="0"/>
              <a:t>Gestionar el estado académico</a:t>
            </a:r>
            <a:endParaRPr lang="es-419" noProof="0"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2619375"/>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p:cNvSpPr>
            <a:spLocks noGrp="1"/>
          </p:cNvSpPr>
          <p:nvPr>
            <p:ph type="title"/>
          </p:nvPr>
        </p:nvSpPr>
        <p:spPr>
          <a:xfrm>
            <a:off x="994923" y="685800"/>
            <a:ext cx="10477497" cy="898555"/>
          </a:xfrm>
        </p:spPr>
        <p:txBody>
          <a:bodyPr/>
          <a:lstStyle/>
          <a:p>
            <a:r>
              <a:rPr lang="es-ES_tradnl" dirty="0" err="1">
                <a:solidFill>
                  <a:schemeClr val="accent1"/>
                </a:solidFill>
              </a:rPr>
              <a:t>Overview</a:t>
            </a:r>
            <a:r>
              <a:rPr lang="es-ES_tradnl" dirty="0">
                <a:solidFill>
                  <a:schemeClr val="accent1"/>
                </a:solidFill>
              </a:rPr>
              <a:t>: </a:t>
            </a:r>
            <a:r>
              <a:rPr lang="es-419" b="0" dirty="0">
                <a:solidFill>
                  <a:schemeClr val="accent1"/>
                </a:solidFill>
              </a:rPr>
              <a:t>Gestionar el estado académico</a:t>
            </a:r>
            <a:r>
              <a:rPr lang="es-419" sz="3200" b="0" dirty="0">
                <a:solidFill>
                  <a:schemeClr val="accent1"/>
                </a:solidFill>
              </a:rPr>
              <a:t> </a:t>
            </a:r>
            <a:br>
              <a:rPr lang="es-419" b="0" dirty="0">
                <a:solidFill>
                  <a:schemeClr val="accent1"/>
                </a:solidFill>
              </a:rPr>
            </a:br>
            <a:endParaRPr lang="es-ES_tradnl" b="0" dirty="0">
              <a:solidFill>
                <a:schemeClr val="accent1"/>
              </a:solidFill>
            </a:endParaRPr>
          </a:p>
        </p:txBody>
      </p:sp>
      <p:sp>
        <p:nvSpPr>
          <p:cNvPr id="2" name="Content Placeholder 1">
            <a:extLst>
              <a:ext uri="{FF2B5EF4-FFF2-40B4-BE49-F238E27FC236}">
                <a16:creationId xmlns:a16="http://schemas.microsoft.com/office/drawing/2014/main" id="{E22B73C4-B85B-DAB1-E5CE-256E3A2D6820}"/>
              </a:ext>
            </a:extLst>
          </p:cNvPr>
          <p:cNvSpPr txBox="1">
            <a:spLocks/>
          </p:cNvSpPr>
          <p:nvPr/>
        </p:nvSpPr>
        <p:spPr>
          <a:xfrm>
            <a:off x="304800" y="2052386"/>
            <a:ext cx="10282988" cy="327559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indent="-342900" algn="just">
              <a:lnSpc>
                <a:spcPct val="100000"/>
              </a:lnSpc>
              <a:spcBef>
                <a:spcPts val="1000"/>
              </a:spcBef>
              <a:buClr>
                <a:srgbClr val="0CB4B4"/>
              </a:buClr>
              <a:buFont typeface="Wingdings" panose="05000000000000000000" pitchFamily="2" charset="2"/>
              <a:buChar char="q"/>
            </a:pPr>
            <a:r>
              <a:rPr lang="es-ES_tradnl" sz="1800" dirty="0"/>
              <a:t>Este procedimiento parte de la creación de los estados académicos que se aplicarán a los estudiantes según las horas y/o promedio obtenido en cada período.</a:t>
            </a:r>
          </a:p>
          <a:p>
            <a:pPr lvl="2" indent="-342900" algn="just">
              <a:lnSpc>
                <a:spcPct val="100000"/>
              </a:lnSpc>
              <a:spcBef>
                <a:spcPts val="1000"/>
              </a:spcBef>
              <a:buClr>
                <a:srgbClr val="0CB4B4"/>
              </a:buClr>
              <a:buFont typeface="Wingdings" panose="05000000000000000000" pitchFamily="2" charset="2"/>
              <a:buChar char="q"/>
            </a:pPr>
            <a:r>
              <a:rPr lang="es-ES_tradnl" sz="1800" dirty="0"/>
              <a:t>Los estados académicos pueden ser también definidos por programa, campus, entre otros, o de manera combinada.</a:t>
            </a:r>
          </a:p>
          <a:p>
            <a:pPr lvl="2" indent="-342900" algn="just">
              <a:lnSpc>
                <a:spcPct val="100000"/>
              </a:lnSpc>
              <a:spcBef>
                <a:spcPts val="1000"/>
              </a:spcBef>
              <a:buClr>
                <a:srgbClr val="0CB4B4"/>
              </a:buClr>
              <a:buFont typeface="Wingdings" panose="05000000000000000000" pitchFamily="2" charset="2"/>
              <a:buChar char="q"/>
            </a:pPr>
            <a:r>
              <a:rPr lang="es-ES_tradnl" sz="1800" dirty="0"/>
              <a:t>La aplicación de los estados académicos, y su definición, debe ser procesado por Registro Académico.</a:t>
            </a:r>
          </a:p>
        </p:txBody>
      </p:sp>
    </p:spTree>
    <p:extLst>
      <p:ext uri="{BB962C8B-B14F-4D97-AF65-F5344CB8AC3E}">
        <p14:creationId xmlns:p14="http://schemas.microsoft.com/office/powerpoint/2010/main" val="19003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E3F8E953-810A-4DAC-8590-152FC59A226C}"/>
              </a:ext>
            </a:extLst>
          </p:cNvPr>
          <p:cNvSpPr txBox="1">
            <a:spLocks/>
          </p:cNvSpPr>
          <p:nvPr/>
        </p:nvSpPr>
        <p:spPr>
          <a:xfrm>
            <a:off x="449120" y="1601163"/>
            <a:ext cx="11267392" cy="4343400"/>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dirty="0" smtClean="0">
                <a:solidFill>
                  <a:srgbClr val="45A1AA"/>
                </a:solidFill>
                <a:latin typeface="Arial"/>
                <a:ea typeface="+mn-ea"/>
                <a:cs typeface="Arial"/>
              </a:defRPr>
            </a:lvl1pPr>
            <a:lvl2pPr marL="285750" indent="-285750" algn="l" defTabSz="457200" rtl="0" eaLnBrk="1" latinLnBrk="0" hangingPunct="1">
              <a:lnSpc>
                <a:spcPct val="95000"/>
              </a:lnSpc>
              <a:spcBef>
                <a:spcPts val="900"/>
              </a:spcBef>
              <a:buClr>
                <a:schemeClr val="tx1"/>
              </a:buClr>
              <a:buFont typeface="Arial" pitchFamily="34" charset="0"/>
              <a:buChar char="•"/>
              <a:defRPr lang="en-US" sz="1600" b="0" kern="1200" dirty="0" smtClean="0">
                <a:solidFill>
                  <a:schemeClr val="tx1"/>
                </a:solidFill>
                <a:latin typeface="Arial"/>
                <a:ea typeface="+mn-ea"/>
                <a:cs typeface="Arial"/>
              </a:defRPr>
            </a:lvl2pPr>
            <a:lvl3pPr marL="512763" indent="-285750" algn="l" defTabSz="457200" rtl="0" eaLnBrk="1" latinLnBrk="0" hangingPunct="1">
              <a:spcBef>
                <a:spcPts val="900"/>
              </a:spcBef>
              <a:buClr>
                <a:srgbClr val="642673"/>
              </a:buClr>
              <a:buFont typeface="Arial"/>
              <a:buChar char="•"/>
              <a:defRPr lang="en-US" sz="1400" kern="1200" dirty="0" smtClean="0">
                <a:solidFill>
                  <a:srgbClr val="414042"/>
                </a:solidFill>
                <a:latin typeface="Arial"/>
                <a:ea typeface="+mn-ea"/>
                <a:cs typeface="Arial"/>
              </a:defRPr>
            </a:lvl3pPr>
            <a:lvl4pPr marL="687387" indent="-285750" algn="l" defTabSz="457200" rtl="0" eaLnBrk="1" latinLnBrk="0" hangingPunct="1">
              <a:spcBef>
                <a:spcPts val="900"/>
              </a:spcBef>
              <a:buClr>
                <a:srgbClr val="45A1AA"/>
              </a:buClr>
              <a:buFont typeface="Arial" panose="020B0604020202020204" pitchFamily="34" charset="0"/>
              <a:buChar char="•"/>
              <a:defRPr lang="en-US" sz="1200" kern="1200" dirty="0" smtClean="0">
                <a:solidFill>
                  <a:srgbClr val="414042"/>
                </a:solidFill>
                <a:latin typeface="Arial"/>
                <a:ea typeface="+mn-ea"/>
                <a:cs typeface="Arial"/>
              </a:defRPr>
            </a:lvl4pPr>
            <a:lvl5pPr marL="687387" indent="-285750" algn="l" defTabSz="457200" rtl="0" eaLnBrk="1" latinLnBrk="0" hangingPunct="1">
              <a:spcBef>
                <a:spcPts val="900"/>
              </a:spcBef>
              <a:buClr>
                <a:srgbClr val="414042"/>
              </a:buClr>
              <a:buFont typeface="Arial" panose="020B0604020202020204" pitchFamily="34" charset="0"/>
              <a:buChar char="̶"/>
              <a:defRPr lang="en-US" sz="1200" kern="1200" dirty="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endParaRPr lang="es-CO" sz="2133" dirty="0"/>
          </a:p>
          <a:p>
            <a:pPr lvl="1"/>
            <a:endParaRPr lang="es-ES_tradnl" sz="2133" b="1" dirty="0"/>
          </a:p>
        </p:txBody>
      </p:sp>
      <p:sp>
        <p:nvSpPr>
          <p:cNvPr id="6" name="Marcador de texto vertical 5">
            <a:extLst>
              <a:ext uri="{FF2B5EF4-FFF2-40B4-BE49-F238E27FC236}">
                <a16:creationId xmlns:a16="http://schemas.microsoft.com/office/drawing/2014/main" id="{55C96DB3-B124-C12D-CF49-C53BEFD57D6B}"/>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4" name="Título 3">
            <a:extLst>
              <a:ext uri="{FF2B5EF4-FFF2-40B4-BE49-F238E27FC236}">
                <a16:creationId xmlns:a16="http://schemas.microsoft.com/office/drawing/2014/main" id="{498CAE3B-F177-F046-B235-E32780FD0BDC}"/>
              </a:ext>
            </a:extLst>
          </p:cNvPr>
          <p:cNvSpPr>
            <a:spLocks noGrp="1"/>
          </p:cNvSpPr>
          <p:nvPr>
            <p:ph type="title"/>
          </p:nvPr>
        </p:nvSpPr>
        <p:spPr>
          <a:xfrm>
            <a:off x="1239015" y="685800"/>
            <a:ext cx="10477497" cy="898555"/>
          </a:xfrm>
        </p:spPr>
        <p:txBody>
          <a:bodyPr/>
          <a:lstStyle/>
          <a:p>
            <a:r>
              <a:rPr lang="es-ES_tradnl" sz="3600" dirty="0" err="1">
                <a:solidFill>
                  <a:schemeClr val="accent1"/>
                </a:solidFill>
              </a:rPr>
              <a:t>Overview</a:t>
            </a:r>
            <a:r>
              <a:rPr lang="es-ES_tradnl" sz="3600" dirty="0">
                <a:solidFill>
                  <a:schemeClr val="accent1"/>
                </a:solidFill>
              </a:rPr>
              <a:t>: </a:t>
            </a:r>
            <a:r>
              <a:rPr lang="es-CO" sz="3600" b="0" dirty="0">
                <a:solidFill>
                  <a:schemeClr val="accent1"/>
                </a:solidFill>
              </a:rPr>
              <a:t>Gestionar el estado académico</a:t>
            </a:r>
            <a:br>
              <a:rPr lang="es-CO" sz="3200" b="1" dirty="0"/>
            </a:br>
            <a:br>
              <a:rPr lang="es-ES_tradnl" sz="3467" b="1" dirty="0"/>
            </a:br>
            <a:endParaRPr lang="es-419" dirty="0"/>
          </a:p>
        </p:txBody>
      </p:sp>
      <p:pic>
        <p:nvPicPr>
          <p:cNvPr id="1026" name="Picture 2">
            <a:extLst>
              <a:ext uri="{FF2B5EF4-FFF2-40B4-BE49-F238E27FC236}">
                <a16:creationId xmlns:a16="http://schemas.microsoft.com/office/drawing/2014/main" id="{2F7C6D72-C049-0651-16ED-3A2861114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588" y="2566742"/>
            <a:ext cx="10420350" cy="1724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98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AEECC535-7CB9-2B3D-BCA5-9F1C82A15896}"/>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ES_tradnl" b="0" dirty="0">
                <a:solidFill>
                  <a:schemeClr val="accent1"/>
                </a:solidFill>
              </a:rPr>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3" name="Picture 9" descr="A purple map of south america&#10;&#10;AI-generated content may be incorrect.">
            <a:extLst>
              <a:ext uri="{FF2B5EF4-FFF2-40B4-BE49-F238E27FC236}">
                <a16:creationId xmlns:a16="http://schemas.microsoft.com/office/drawing/2014/main" id="{79EFC15E-0C1D-985A-46C0-39EB11161FDF}"/>
              </a:ext>
            </a:extLst>
          </p:cNvPr>
          <p:cNvPicPr>
            <a:picLocks noChangeAspect="1"/>
          </p:cNvPicPr>
          <p:nvPr/>
        </p:nvPicPr>
        <p:blipFill>
          <a:blip r:embed="rId2"/>
          <a:stretch>
            <a:fillRect/>
          </a:stretch>
        </p:blipFill>
        <p:spPr>
          <a:xfrm>
            <a:off x="2628959" y="1312731"/>
            <a:ext cx="5219641" cy="5219641"/>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F17F5-519F-A8D6-9170-2ACC5FC7DF6A}"/>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4D549F21-11BD-726F-CB43-AC2B72191053}"/>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a:extLst>
              <a:ext uri="{FF2B5EF4-FFF2-40B4-BE49-F238E27FC236}">
                <a16:creationId xmlns:a16="http://schemas.microsoft.com/office/drawing/2014/main" id="{E0E91CA3-EB1C-286F-7467-BF002260D027}"/>
              </a:ext>
            </a:extLst>
          </p:cNvPr>
          <p:cNvSpPr>
            <a:spLocks noGrp="1"/>
          </p:cNvSpPr>
          <p:nvPr>
            <p:ph type="title"/>
          </p:nvPr>
        </p:nvSpPr>
        <p:spPr>
          <a:xfrm>
            <a:off x="994923" y="685800"/>
            <a:ext cx="10477497" cy="898555"/>
          </a:xfrm>
        </p:spPr>
        <p:txBody>
          <a:bodyPr/>
          <a:lstStyle/>
          <a:p>
            <a:r>
              <a:rPr lang="es-ES_tradnl" dirty="0" err="1">
                <a:solidFill>
                  <a:schemeClr val="accent1"/>
                </a:solidFill>
              </a:rPr>
              <a:t>Overview</a:t>
            </a:r>
            <a:r>
              <a:rPr lang="es-ES_tradnl" dirty="0">
                <a:solidFill>
                  <a:schemeClr val="accent1"/>
                </a:solidFill>
              </a:rPr>
              <a:t>: </a:t>
            </a:r>
            <a:r>
              <a:rPr lang="es-419" b="0" dirty="0">
                <a:solidFill>
                  <a:schemeClr val="accent1"/>
                </a:solidFill>
              </a:rPr>
              <a:t>Gestionar el estado académico</a:t>
            </a:r>
            <a:r>
              <a:rPr lang="es-419" sz="3200" b="0" dirty="0">
                <a:solidFill>
                  <a:schemeClr val="accent1"/>
                </a:solidFill>
              </a:rPr>
              <a:t> </a:t>
            </a:r>
            <a:br>
              <a:rPr lang="es-419" b="0" dirty="0">
                <a:solidFill>
                  <a:schemeClr val="accent1"/>
                </a:solidFill>
              </a:rPr>
            </a:br>
            <a:endParaRPr lang="es-ES_tradnl" b="0" dirty="0">
              <a:solidFill>
                <a:schemeClr val="accent1"/>
              </a:solidFill>
            </a:endParaRPr>
          </a:p>
        </p:txBody>
      </p:sp>
      <p:sp>
        <p:nvSpPr>
          <p:cNvPr id="2" name="Content Placeholder 1">
            <a:extLst>
              <a:ext uri="{FF2B5EF4-FFF2-40B4-BE49-F238E27FC236}">
                <a16:creationId xmlns:a16="http://schemas.microsoft.com/office/drawing/2014/main" id="{0CE90E8A-C2C5-D768-FC16-E193080F1F69}"/>
              </a:ext>
            </a:extLst>
          </p:cNvPr>
          <p:cNvSpPr txBox="1">
            <a:spLocks/>
          </p:cNvSpPr>
          <p:nvPr/>
        </p:nvSpPr>
        <p:spPr>
          <a:xfrm>
            <a:off x="406400" y="2014286"/>
            <a:ext cx="10282988" cy="327559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1025" lvl="2" indent="0" algn="just">
              <a:spcBef>
                <a:spcPts val="1000"/>
              </a:spcBef>
              <a:buClr>
                <a:srgbClr val="0CB4B4"/>
              </a:buClr>
              <a:buNone/>
            </a:pPr>
            <a:r>
              <a:rPr lang="es-ES_tradnl" sz="1800" dirty="0"/>
              <a:t>Diccionario general:</a:t>
            </a:r>
            <a:endParaRPr lang="es-CO" sz="1800" dirty="0"/>
          </a:p>
          <a:p>
            <a:pPr lvl="2" indent="-342900" algn="just">
              <a:spcBef>
                <a:spcPts val="1000"/>
              </a:spcBef>
              <a:buClr>
                <a:srgbClr val="0CB4B4"/>
              </a:buClr>
              <a:buFont typeface="Wingdings" panose="05000000000000000000" pitchFamily="2" charset="2"/>
              <a:buChar char="q"/>
            </a:pPr>
            <a:r>
              <a:rPr lang="es-ES_tradnl" sz="1800" dirty="0"/>
              <a:t>Periodo: Los periodos son unidades de tiempo que permiten clasificar, activar o desactivar </a:t>
            </a:r>
            <a:r>
              <a:rPr lang="es-419" sz="1800" dirty="0"/>
              <a:t>diferentes elementos en el sistema.</a:t>
            </a:r>
          </a:p>
          <a:p>
            <a:pPr lvl="2" indent="-342900" algn="just">
              <a:spcBef>
                <a:spcPts val="1000"/>
              </a:spcBef>
              <a:buClr>
                <a:srgbClr val="0CB4B4"/>
              </a:buClr>
              <a:buFont typeface="Wingdings" panose="05000000000000000000" pitchFamily="2" charset="2"/>
              <a:buChar char="q"/>
            </a:pPr>
            <a:r>
              <a:rPr lang="es-MX" sz="1800" dirty="0"/>
              <a:t>Estado académico: </a:t>
            </a:r>
            <a:r>
              <a:rPr lang="es-CL" sz="1800" dirty="0"/>
              <a:t>estado de desempeño del alumno en el periodo</a:t>
            </a:r>
            <a:r>
              <a:rPr lang="es-CO" sz="1800" dirty="0"/>
              <a:t> , basado en las reglas definidas por la institución.</a:t>
            </a:r>
          </a:p>
        </p:txBody>
      </p:sp>
    </p:spTree>
    <p:extLst>
      <p:ext uri="{BB962C8B-B14F-4D97-AF65-F5344CB8AC3E}">
        <p14:creationId xmlns:p14="http://schemas.microsoft.com/office/powerpoint/2010/main" val="2738964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326E76B-B0B8-72DC-FC49-9C532A17BDBB}"/>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p:cNvSpPr>
            <a:spLocks noGrp="1"/>
          </p:cNvSpPr>
          <p:nvPr>
            <p:ph type="title"/>
          </p:nvPr>
        </p:nvSpPr>
        <p:spPr/>
        <p:txBody>
          <a:bodyPr/>
          <a:lstStyle/>
          <a:p>
            <a:r>
              <a:rPr lang="es-ES_tradnl" dirty="0"/>
              <a:t>Crear los estados académicos</a:t>
            </a:r>
          </a:p>
        </p:txBody>
      </p:sp>
      <p:sp>
        <p:nvSpPr>
          <p:cNvPr id="4" name="Marcador de texto 3">
            <a:extLst>
              <a:ext uri="{FF2B5EF4-FFF2-40B4-BE49-F238E27FC236}">
                <a16:creationId xmlns:a16="http://schemas.microsoft.com/office/drawing/2014/main" id="{603D220A-DAA7-08B7-927E-9D6F4E953624}"/>
              </a:ext>
            </a:extLst>
          </p:cNvPr>
          <p:cNvSpPr>
            <a:spLocks noGrp="1"/>
          </p:cNvSpPr>
          <p:nvPr>
            <p:ph type="body" sz="quarter" idx="18"/>
          </p:nvPr>
        </p:nvSpPr>
        <p:spPr/>
        <p:txBody>
          <a:bodyPr/>
          <a:lstStyle/>
          <a:p>
            <a:r>
              <a:rPr lang="es-CO" dirty="0"/>
              <a:t>Para calificar al estudiante según su </a:t>
            </a:r>
            <a:r>
              <a:rPr lang="es-MX" dirty="0"/>
              <a:t>desempeño académico</a:t>
            </a:r>
            <a:endParaRPr lang="es-CO" dirty="0"/>
          </a:p>
          <a:p>
            <a:endParaRPr lang="es-419" dirty="0"/>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C7E94-2BCF-00DD-F19E-C91F6F941BC3}"/>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A44B342D-5476-627C-3A7F-EB72A3F14AAB}"/>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a:extLst>
              <a:ext uri="{FF2B5EF4-FFF2-40B4-BE49-F238E27FC236}">
                <a16:creationId xmlns:a16="http://schemas.microsoft.com/office/drawing/2014/main" id="{C1CF9C8F-CCFD-457D-A75F-D4589F778CF4}"/>
              </a:ext>
            </a:extLst>
          </p:cNvPr>
          <p:cNvSpPr>
            <a:spLocks noGrp="1"/>
          </p:cNvSpPr>
          <p:nvPr>
            <p:ph type="title"/>
          </p:nvPr>
        </p:nvSpPr>
        <p:spPr/>
        <p:txBody>
          <a:bodyPr/>
          <a:lstStyle/>
          <a:p>
            <a:r>
              <a:rPr lang="es-ES_tradnl" dirty="0"/>
              <a:t>Estados académicos generales</a:t>
            </a:r>
          </a:p>
        </p:txBody>
      </p:sp>
      <p:sp>
        <p:nvSpPr>
          <p:cNvPr id="4" name="Marcador de texto 3">
            <a:extLst>
              <a:ext uri="{FF2B5EF4-FFF2-40B4-BE49-F238E27FC236}">
                <a16:creationId xmlns:a16="http://schemas.microsoft.com/office/drawing/2014/main" id="{7EAC5D1D-2647-790F-6646-B5DFF41D04C9}"/>
              </a:ext>
            </a:extLst>
          </p:cNvPr>
          <p:cNvSpPr>
            <a:spLocks noGrp="1"/>
          </p:cNvSpPr>
          <p:nvPr>
            <p:ph type="body" sz="quarter" idx="18"/>
          </p:nvPr>
        </p:nvSpPr>
        <p:spPr/>
        <p:txBody>
          <a:bodyPr/>
          <a:lstStyle/>
          <a:p>
            <a:r>
              <a:rPr lang="es-ES_tradnl" dirty="0"/>
              <a:t>Códigos genéricos para el estado académico de los estudiantes</a:t>
            </a:r>
          </a:p>
          <a:p>
            <a:endParaRPr lang="es-419" dirty="0"/>
          </a:p>
        </p:txBody>
      </p:sp>
    </p:spTree>
    <p:extLst>
      <p:ext uri="{BB962C8B-B14F-4D97-AF65-F5344CB8AC3E}">
        <p14:creationId xmlns:p14="http://schemas.microsoft.com/office/powerpoint/2010/main" val="815036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4916F59F-312B-36D0-D8B0-42B4B69D3A5C}"/>
              </a:ext>
            </a:extLst>
          </p:cNvPr>
          <p:cNvPicPr>
            <a:picLocks noChangeAspect="1"/>
          </p:cNvPicPr>
          <p:nvPr/>
        </p:nvPicPr>
        <p:blipFill>
          <a:blip r:embed="rId3"/>
          <a:stretch>
            <a:fillRect/>
          </a:stretch>
        </p:blipFill>
        <p:spPr>
          <a:xfrm>
            <a:off x="1049320" y="1269740"/>
            <a:ext cx="10180655" cy="5005223"/>
          </a:xfrm>
          <a:prstGeom prst="rect">
            <a:avLst/>
          </a:prstGeom>
        </p:spPr>
      </p:pic>
      <p:sp>
        <p:nvSpPr>
          <p:cNvPr id="3" name="Marcador de texto vertical 2">
            <a:extLst>
              <a:ext uri="{FF2B5EF4-FFF2-40B4-BE49-F238E27FC236}">
                <a16:creationId xmlns:a16="http://schemas.microsoft.com/office/drawing/2014/main" id="{52BB2D61-A75A-7C5A-A63D-D6CB636F0C0B}"/>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p:cNvSpPr>
            <a:spLocks noGrp="1"/>
          </p:cNvSpPr>
          <p:nvPr>
            <p:ph type="title"/>
          </p:nvPr>
        </p:nvSpPr>
        <p:spPr>
          <a:xfrm>
            <a:off x="1049320" y="213090"/>
            <a:ext cx="10477497" cy="898555"/>
          </a:xfrm>
        </p:spPr>
        <p:txBody>
          <a:bodyPr/>
          <a:lstStyle/>
          <a:p>
            <a:r>
              <a:rPr lang="es-CO" dirty="0">
                <a:solidFill>
                  <a:schemeClr val="accent1"/>
                </a:solidFill>
              </a:rPr>
              <a:t>Crear los estados académicos: </a:t>
            </a:r>
            <a:r>
              <a:rPr lang="es-CO" b="0" dirty="0">
                <a:solidFill>
                  <a:schemeClr val="accent1"/>
                </a:solidFill>
              </a:rPr>
              <a:t>Estados académicos generales</a:t>
            </a:r>
            <a:endParaRPr lang="es-ES_tradnl" b="0" dirty="0">
              <a:solidFill>
                <a:schemeClr val="accent1"/>
              </a:solidFill>
            </a:endParaRPr>
          </a:p>
        </p:txBody>
      </p:sp>
      <p:sp>
        <p:nvSpPr>
          <p:cNvPr id="6" name="Rectángulo redondeado 5">
            <a:extLst>
              <a:ext uri="{FF2B5EF4-FFF2-40B4-BE49-F238E27FC236}">
                <a16:creationId xmlns:a16="http://schemas.microsoft.com/office/drawing/2014/main" id="{B927F6F8-0869-0CBC-0ED8-EE8B179E4139}"/>
              </a:ext>
            </a:extLst>
          </p:cNvPr>
          <p:cNvSpPr/>
          <p:nvPr/>
        </p:nvSpPr>
        <p:spPr>
          <a:xfrm>
            <a:off x="3718817" y="3688567"/>
            <a:ext cx="4574284" cy="997734"/>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AutoNum type="arabicPeriod"/>
            </a:pPr>
            <a:r>
              <a:rPr lang="es-ES_tradnl" sz="1200" dirty="0"/>
              <a:t>Para ingresar un nuevo código debe hacer clic en esta opción</a:t>
            </a:r>
          </a:p>
          <a:p>
            <a:pPr marL="228600" indent="-228600">
              <a:buFontTx/>
              <a:buAutoNum type="arabicPeriod"/>
            </a:pPr>
            <a:r>
              <a:rPr lang="es-ES_tradnl" sz="1200" dirty="0"/>
              <a:t>La Universidad debe ingresar código de estado académico.</a:t>
            </a:r>
          </a:p>
          <a:p>
            <a:pPr algn="ctr"/>
            <a:endParaRPr lang="es-CO" sz="1100" dirty="0"/>
          </a:p>
        </p:txBody>
      </p:sp>
      <p:sp>
        <p:nvSpPr>
          <p:cNvPr id="8" name="CuadroTexto 7">
            <a:extLst>
              <a:ext uri="{FF2B5EF4-FFF2-40B4-BE49-F238E27FC236}">
                <a16:creationId xmlns:a16="http://schemas.microsoft.com/office/drawing/2014/main" id="{7D9CDA73-1C1D-BA4D-7055-A9D33B378225}"/>
              </a:ext>
            </a:extLst>
          </p:cNvPr>
          <p:cNvSpPr txBox="1"/>
          <p:nvPr/>
        </p:nvSpPr>
        <p:spPr>
          <a:xfrm>
            <a:off x="10135338" y="1747406"/>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2" name="CuadroTexto 11">
            <a:extLst>
              <a:ext uri="{FF2B5EF4-FFF2-40B4-BE49-F238E27FC236}">
                <a16:creationId xmlns:a16="http://schemas.microsoft.com/office/drawing/2014/main" id="{56EA32BA-F18E-4056-A028-E15ED94A4EEF}"/>
              </a:ext>
            </a:extLst>
          </p:cNvPr>
          <p:cNvSpPr txBox="1"/>
          <p:nvPr/>
        </p:nvSpPr>
        <p:spPr>
          <a:xfrm>
            <a:off x="1919141" y="2127544"/>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5" name="Rectángulo 4">
            <a:extLst>
              <a:ext uri="{FF2B5EF4-FFF2-40B4-BE49-F238E27FC236}">
                <a16:creationId xmlns:a16="http://schemas.microsoft.com/office/drawing/2014/main" id="{11157B97-5E6E-5CFE-949C-399920771A36}"/>
              </a:ext>
            </a:extLst>
          </p:cNvPr>
          <p:cNvSpPr/>
          <p:nvPr/>
        </p:nvSpPr>
        <p:spPr>
          <a:xfrm>
            <a:off x="10506074" y="1785965"/>
            <a:ext cx="180975" cy="13832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6DC79770-35CA-7AD8-F6CC-C15366E90A8E}"/>
              </a:ext>
            </a:extLst>
          </p:cNvPr>
          <p:cNvSpPr/>
          <p:nvPr/>
        </p:nvSpPr>
        <p:spPr>
          <a:xfrm>
            <a:off x="1049320" y="2127544"/>
            <a:ext cx="731855"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673797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40D9E-4B59-58F9-E264-6F0E228EA477}"/>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6BB58955-57D4-E57D-A143-7D8E36C7BA77}"/>
              </a:ext>
            </a:extLst>
          </p:cNvPr>
          <p:cNvPicPr>
            <a:picLocks noChangeAspect="1"/>
          </p:cNvPicPr>
          <p:nvPr/>
        </p:nvPicPr>
        <p:blipFill>
          <a:blip r:embed="rId3"/>
          <a:stretch>
            <a:fillRect/>
          </a:stretch>
        </p:blipFill>
        <p:spPr>
          <a:xfrm>
            <a:off x="1049320" y="1269740"/>
            <a:ext cx="10180655" cy="5005223"/>
          </a:xfrm>
          <a:prstGeom prst="rect">
            <a:avLst/>
          </a:prstGeom>
        </p:spPr>
      </p:pic>
      <p:sp>
        <p:nvSpPr>
          <p:cNvPr id="3" name="Marcador de texto vertical 2">
            <a:extLst>
              <a:ext uri="{FF2B5EF4-FFF2-40B4-BE49-F238E27FC236}">
                <a16:creationId xmlns:a16="http://schemas.microsoft.com/office/drawing/2014/main" id="{5E4A5DF2-2DE0-615F-AE9E-A248317A5BA1}"/>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a:extLst>
              <a:ext uri="{FF2B5EF4-FFF2-40B4-BE49-F238E27FC236}">
                <a16:creationId xmlns:a16="http://schemas.microsoft.com/office/drawing/2014/main" id="{0BDBC0FE-7D68-427C-0FEF-0A90719513FE}"/>
              </a:ext>
            </a:extLst>
          </p:cNvPr>
          <p:cNvSpPr>
            <a:spLocks noGrp="1"/>
          </p:cNvSpPr>
          <p:nvPr>
            <p:ph type="title"/>
          </p:nvPr>
        </p:nvSpPr>
        <p:spPr>
          <a:xfrm>
            <a:off x="1049320" y="213090"/>
            <a:ext cx="10477497" cy="898555"/>
          </a:xfrm>
        </p:spPr>
        <p:txBody>
          <a:bodyPr/>
          <a:lstStyle/>
          <a:p>
            <a:r>
              <a:rPr lang="es-CO" dirty="0">
                <a:solidFill>
                  <a:schemeClr val="accent1"/>
                </a:solidFill>
              </a:rPr>
              <a:t>Crear los estados académicos: </a:t>
            </a:r>
            <a:r>
              <a:rPr lang="es-CO" b="0" dirty="0">
                <a:solidFill>
                  <a:schemeClr val="accent1"/>
                </a:solidFill>
              </a:rPr>
              <a:t>Estados académicos generales</a:t>
            </a:r>
            <a:endParaRPr lang="es-ES_tradnl" b="0" dirty="0">
              <a:solidFill>
                <a:schemeClr val="accent1"/>
              </a:solidFill>
            </a:endParaRPr>
          </a:p>
        </p:txBody>
      </p:sp>
      <p:sp>
        <p:nvSpPr>
          <p:cNvPr id="6" name="Rectángulo redondeado 5">
            <a:extLst>
              <a:ext uri="{FF2B5EF4-FFF2-40B4-BE49-F238E27FC236}">
                <a16:creationId xmlns:a16="http://schemas.microsoft.com/office/drawing/2014/main" id="{DDFD2318-13C2-5BEF-64CD-52BC5028EAC0}"/>
              </a:ext>
            </a:extLst>
          </p:cNvPr>
          <p:cNvSpPr/>
          <p:nvPr/>
        </p:nvSpPr>
        <p:spPr>
          <a:xfrm>
            <a:off x="1049320" y="4830970"/>
            <a:ext cx="10180655" cy="116985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AutoNum type="arabicPeriod"/>
            </a:pPr>
            <a:endParaRPr lang="es-ES_tradnl" sz="1100" dirty="0"/>
          </a:p>
          <a:p>
            <a:r>
              <a:rPr lang="es-ES_tradnl" sz="1100" dirty="0"/>
              <a:t>3.    Ingrese la descripción que corresponda al código.</a:t>
            </a:r>
          </a:p>
          <a:p>
            <a:pPr marL="228600" indent="-228600">
              <a:buFontTx/>
              <a:buAutoNum type="arabicPeriod" startAt="4"/>
            </a:pPr>
            <a:r>
              <a:rPr lang="es-ES_tradnl" sz="1100" dirty="0"/>
              <a:t>Marque este cuadro para indicar que es un código de estado académico del cuadro de honor.</a:t>
            </a:r>
          </a:p>
          <a:p>
            <a:pPr marL="228600" indent="-228600">
              <a:buFontTx/>
              <a:buAutoNum type="arabicPeriod" startAt="4"/>
            </a:pPr>
            <a:r>
              <a:rPr lang="es-ES_tradnl" sz="1100" dirty="0"/>
              <a:t>Marque este cuadro para indicar que es un código de estado académico que condiciona la inscripción del estudiante.</a:t>
            </a:r>
          </a:p>
          <a:p>
            <a:pPr marL="228600" indent="-228600">
              <a:buFontTx/>
              <a:buAutoNum type="arabicPeriod" startAt="4"/>
            </a:pPr>
            <a:r>
              <a:rPr lang="es-ES_tradnl" sz="1100" dirty="0"/>
              <a:t>Marque este cuadro para indicar que este estado académico no permitirá que los alumnos se inscriban.</a:t>
            </a:r>
          </a:p>
          <a:p>
            <a:pPr marL="228600" indent="-228600">
              <a:buAutoNum type="arabicPeriod" startAt="4"/>
            </a:pPr>
            <a:endParaRPr lang="es-ES_tradnl" sz="1100" dirty="0"/>
          </a:p>
          <a:p>
            <a:pPr algn="ctr"/>
            <a:endParaRPr lang="es-CO" sz="1100" dirty="0"/>
          </a:p>
        </p:txBody>
      </p:sp>
      <p:sp>
        <p:nvSpPr>
          <p:cNvPr id="8" name="CuadroTexto 7">
            <a:extLst>
              <a:ext uri="{FF2B5EF4-FFF2-40B4-BE49-F238E27FC236}">
                <a16:creationId xmlns:a16="http://schemas.microsoft.com/office/drawing/2014/main" id="{522AC59F-F32E-26C6-73A8-CB7E775F6B6E}"/>
              </a:ext>
            </a:extLst>
          </p:cNvPr>
          <p:cNvSpPr txBox="1"/>
          <p:nvPr/>
        </p:nvSpPr>
        <p:spPr>
          <a:xfrm>
            <a:off x="4719491" y="2378367"/>
            <a:ext cx="301753" cy="215444"/>
          </a:xfrm>
          <a:prstGeom prst="rect">
            <a:avLst/>
          </a:prstGeom>
          <a:solidFill>
            <a:schemeClr val="accent1"/>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12" name="CuadroTexto 11">
            <a:extLst>
              <a:ext uri="{FF2B5EF4-FFF2-40B4-BE49-F238E27FC236}">
                <a16:creationId xmlns:a16="http://schemas.microsoft.com/office/drawing/2014/main" id="{71B104CE-9A64-7BCC-75E6-ED6C3E8EF262}"/>
              </a:ext>
            </a:extLst>
          </p:cNvPr>
          <p:cNvSpPr txBox="1"/>
          <p:nvPr/>
        </p:nvSpPr>
        <p:spPr>
          <a:xfrm>
            <a:off x="2950667" y="2358625"/>
            <a:ext cx="301753" cy="215444"/>
          </a:xfrm>
          <a:prstGeom prst="rect">
            <a:avLst/>
          </a:prstGeom>
          <a:solidFill>
            <a:schemeClr val="accent1"/>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5" name="Rectángulo 4">
            <a:extLst>
              <a:ext uri="{FF2B5EF4-FFF2-40B4-BE49-F238E27FC236}">
                <a16:creationId xmlns:a16="http://schemas.microsoft.com/office/drawing/2014/main" id="{088F1BAE-82D4-A893-F87C-73697C6F7D17}"/>
              </a:ext>
            </a:extLst>
          </p:cNvPr>
          <p:cNvSpPr/>
          <p:nvPr/>
        </p:nvSpPr>
        <p:spPr>
          <a:xfrm>
            <a:off x="4719491" y="2125263"/>
            <a:ext cx="301753" cy="17137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7F4728C0-5920-5EB9-25BD-2A56EF888959}"/>
              </a:ext>
            </a:extLst>
          </p:cNvPr>
          <p:cNvSpPr/>
          <p:nvPr/>
        </p:nvSpPr>
        <p:spPr>
          <a:xfrm>
            <a:off x="1765890" y="2125263"/>
            <a:ext cx="2815635" cy="17137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3">
            <a:extLst>
              <a:ext uri="{FF2B5EF4-FFF2-40B4-BE49-F238E27FC236}">
                <a16:creationId xmlns:a16="http://schemas.microsoft.com/office/drawing/2014/main" id="{F717DE69-EAEB-5D78-ACE5-E736CB8225AA}"/>
              </a:ext>
            </a:extLst>
          </p:cNvPr>
          <p:cNvSpPr/>
          <p:nvPr/>
        </p:nvSpPr>
        <p:spPr>
          <a:xfrm>
            <a:off x="5159210" y="2125209"/>
            <a:ext cx="345594" cy="171369"/>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8">
            <a:extLst>
              <a:ext uri="{FF2B5EF4-FFF2-40B4-BE49-F238E27FC236}">
                <a16:creationId xmlns:a16="http://schemas.microsoft.com/office/drawing/2014/main" id="{5625E9B1-5F04-E05F-7819-B39EEAE9B175}"/>
              </a:ext>
            </a:extLst>
          </p:cNvPr>
          <p:cNvSpPr/>
          <p:nvPr/>
        </p:nvSpPr>
        <p:spPr>
          <a:xfrm>
            <a:off x="5602018" y="2129680"/>
            <a:ext cx="417782" cy="16695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CuadroTexto 9">
            <a:extLst>
              <a:ext uri="{FF2B5EF4-FFF2-40B4-BE49-F238E27FC236}">
                <a16:creationId xmlns:a16="http://schemas.microsoft.com/office/drawing/2014/main" id="{821ACAE2-577B-A7B8-7FA9-1B15CAAB3AA5}"/>
              </a:ext>
            </a:extLst>
          </p:cNvPr>
          <p:cNvSpPr txBox="1"/>
          <p:nvPr/>
        </p:nvSpPr>
        <p:spPr>
          <a:xfrm>
            <a:off x="5206618" y="2375626"/>
            <a:ext cx="301753" cy="215444"/>
          </a:xfrm>
          <a:prstGeom prst="rect">
            <a:avLst/>
          </a:prstGeom>
          <a:solidFill>
            <a:schemeClr val="accent1"/>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1" name="CuadroTexto 10">
            <a:extLst>
              <a:ext uri="{FF2B5EF4-FFF2-40B4-BE49-F238E27FC236}">
                <a16:creationId xmlns:a16="http://schemas.microsoft.com/office/drawing/2014/main" id="{2BA3522D-5E7A-ABD6-92FB-D2F26F88FD3E}"/>
              </a:ext>
            </a:extLst>
          </p:cNvPr>
          <p:cNvSpPr txBox="1"/>
          <p:nvPr/>
        </p:nvSpPr>
        <p:spPr>
          <a:xfrm>
            <a:off x="5653715" y="2375626"/>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Tree>
    <p:extLst>
      <p:ext uri="{BB962C8B-B14F-4D97-AF65-F5344CB8AC3E}">
        <p14:creationId xmlns:p14="http://schemas.microsoft.com/office/powerpoint/2010/main" val="2959484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ED110-B13C-69CF-0C2B-08CAEB3409B8}"/>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D2125485-CCD8-252E-3933-3D168B3CC06A}"/>
              </a:ext>
            </a:extLst>
          </p:cNvPr>
          <p:cNvPicPr>
            <a:picLocks noChangeAspect="1"/>
          </p:cNvPicPr>
          <p:nvPr/>
        </p:nvPicPr>
        <p:blipFill>
          <a:blip r:embed="rId3"/>
          <a:stretch>
            <a:fillRect/>
          </a:stretch>
        </p:blipFill>
        <p:spPr>
          <a:xfrm>
            <a:off x="1049320" y="1269740"/>
            <a:ext cx="10180655" cy="5005223"/>
          </a:xfrm>
          <a:prstGeom prst="rect">
            <a:avLst/>
          </a:prstGeom>
        </p:spPr>
      </p:pic>
      <p:sp>
        <p:nvSpPr>
          <p:cNvPr id="3" name="Marcador de texto vertical 2">
            <a:extLst>
              <a:ext uri="{FF2B5EF4-FFF2-40B4-BE49-F238E27FC236}">
                <a16:creationId xmlns:a16="http://schemas.microsoft.com/office/drawing/2014/main" id="{CB79387C-D212-E58C-2794-40E2D16AC4C1}"/>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a:extLst>
              <a:ext uri="{FF2B5EF4-FFF2-40B4-BE49-F238E27FC236}">
                <a16:creationId xmlns:a16="http://schemas.microsoft.com/office/drawing/2014/main" id="{40DAC5EF-24DE-E4D7-531C-1CAB5291BEFC}"/>
              </a:ext>
            </a:extLst>
          </p:cNvPr>
          <p:cNvSpPr>
            <a:spLocks noGrp="1"/>
          </p:cNvSpPr>
          <p:nvPr>
            <p:ph type="title"/>
          </p:nvPr>
        </p:nvSpPr>
        <p:spPr>
          <a:xfrm>
            <a:off x="1049320" y="213090"/>
            <a:ext cx="10477497" cy="898555"/>
          </a:xfrm>
        </p:spPr>
        <p:txBody>
          <a:bodyPr/>
          <a:lstStyle/>
          <a:p>
            <a:r>
              <a:rPr lang="es-CO" dirty="0">
                <a:solidFill>
                  <a:schemeClr val="accent1"/>
                </a:solidFill>
              </a:rPr>
              <a:t>Crear los estados académicos: </a:t>
            </a:r>
            <a:r>
              <a:rPr lang="es-CO" b="0" dirty="0">
                <a:solidFill>
                  <a:schemeClr val="accent1"/>
                </a:solidFill>
              </a:rPr>
              <a:t>Estados académicos generales</a:t>
            </a:r>
            <a:endParaRPr lang="es-ES_tradnl" b="0" dirty="0">
              <a:solidFill>
                <a:schemeClr val="accent1"/>
              </a:solidFill>
            </a:endParaRPr>
          </a:p>
        </p:txBody>
      </p:sp>
      <p:sp>
        <p:nvSpPr>
          <p:cNvPr id="6" name="Rectángulo redondeado 5">
            <a:extLst>
              <a:ext uri="{FF2B5EF4-FFF2-40B4-BE49-F238E27FC236}">
                <a16:creationId xmlns:a16="http://schemas.microsoft.com/office/drawing/2014/main" id="{CCD3AADC-D9E4-991A-D6C1-97207544D6B6}"/>
              </a:ext>
            </a:extLst>
          </p:cNvPr>
          <p:cNvSpPr/>
          <p:nvPr/>
        </p:nvSpPr>
        <p:spPr>
          <a:xfrm>
            <a:off x="1049320" y="4723243"/>
            <a:ext cx="10207660" cy="89855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AutoNum type="arabicPeriod"/>
            </a:pPr>
            <a:endParaRPr lang="es-ES_tradnl" sz="1100" dirty="0"/>
          </a:p>
          <a:p>
            <a:r>
              <a:rPr lang="es-ES_tradnl" sz="1100" dirty="0"/>
              <a:t>7. Ingrese el número mínimo de horas que un estudiante debe inscribir si tiene ese estado académico designado.</a:t>
            </a:r>
          </a:p>
          <a:p>
            <a:r>
              <a:rPr lang="es-ES_tradnl" sz="1100" dirty="0"/>
              <a:t>8. Ingrese el número máximo de horas que un estudiante debe inscribir si tiene ese estado académico designado.</a:t>
            </a:r>
          </a:p>
          <a:p>
            <a:r>
              <a:rPr lang="es-ES_tradnl" sz="1100" dirty="0"/>
              <a:t>9. Guarde la información.</a:t>
            </a:r>
          </a:p>
          <a:p>
            <a:pPr marL="228600" indent="-228600">
              <a:buAutoNum type="arabicPeriod"/>
            </a:pPr>
            <a:endParaRPr lang="es-CO" sz="1100" dirty="0"/>
          </a:p>
        </p:txBody>
      </p:sp>
      <p:sp>
        <p:nvSpPr>
          <p:cNvPr id="8" name="CuadroTexto 7">
            <a:extLst>
              <a:ext uri="{FF2B5EF4-FFF2-40B4-BE49-F238E27FC236}">
                <a16:creationId xmlns:a16="http://schemas.microsoft.com/office/drawing/2014/main" id="{B1190B30-92EC-E3AA-98BD-177A7B3BA42C}"/>
              </a:ext>
            </a:extLst>
          </p:cNvPr>
          <p:cNvSpPr txBox="1"/>
          <p:nvPr/>
        </p:nvSpPr>
        <p:spPr>
          <a:xfrm>
            <a:off x="6514929" y="2347004"/>
            <a:ext cx="301753" cy="215444"/>
          </a:xfrm>
          <a:prstGeom prst="rect">
            <a:avLst/>
          </a:prstGeom>
          <a:solidFill>
            <a:schemeClr val="accent1"/>
          </a:solidFill>
        </p:spPr>
        <p:txBody>
          <a:bodyPr wrap="square" rtlCol="0">
            <a:spAutoFit/>
          </a:bodyPr>
          <a:lstStyle/>
          <a:p>
            <a:r>
              <a:rPr lang="es-CO" sz="800" b="1" dirty="0">
                <a:solidFill>
                  <a:schemeClr val="bg1"/>
                </a:solidFill>
              </a:rPr>
              <a:t>7</a:t>
            </a:r>
            <a:endParaRPr lang="en-US" sz="800" b="1" dirty="0">
              <a:solidFill>
                <a:schemeClr val="bg1"/>
              </a:solidFill>
            </a:endParaRPr>
          </a:p>
        </p:txBody>
      </p:sp>
      <p:sp>
        <p:nvSpPr>
          <p:cNvPr id="12" name="CuadroTexto 11">
            <a:extLst>
              <a:ext uri="{FF2B5EF4-FFF2-40B4-BE49-F238E27FC236}">
                <a16:creationId xmlns:a16="http://schemas.microsoft.com/office/drawing/2014/main" id="{C2137EB9-2284-9463-B2C0-182B3DC71FC5}"/>
              </a:ext>
            </a:extLst>
          </p:cNvPr>
          <p:cNvSpPr txBox="1"/>
          <p:nvPr/>
        </p:nvSpPr>
        <p:spPr>
          <a:xfrm>
            <a:off x="7994089" y="2347004"/>
            <a:ext cx="301753" cy="215444"/>
          </a:xfrm>
          <a:prstGeom prst="rect">
            <a:avLst/>
          </a:prstGeom>
          <a:solidFill>
            <a:schemeClr val="accent1"/>
          </a:solidFill>
        </p:spPr>
        <p:txBody>
          <a:bodyPr wrap="square" rtlCol="0">
            <a:spAutoFit/>
          </a:bodyPr>
          <a:lstStyle/>
          <a:p>
            <a:r>
              <a:rPr lang="es-CO" sz="800" b="1" dirty="0">
                <a:solidFill>
                  <a:schemeClr val="bg1"/>
                </a:solidFill>
              </a:rPr>
              <a:t>8</a:t>
            </a:r>
            <a:endParaRPr lang="en-US" sz="800" b="1" dirty="0">
              <a:solidFill>
                <a:schemeClr val="bg1"/>
              </a:solidFill>
            </a:endParaRPr>
          </a:p>
        </p:txBody>
      </p:sp>
      <p:sp>
        <p:nvSpPr>
          <p:cNvPr id="5" name="Rectángulo 4">
            <a:extLst>
              <a:ext uri="{FF2B5EF4-FFF2-40B4-BE49-F238E27FC236}">
                <a16:creationId xmlns:a16="http://schemas.microsoft.com/office/drawing/2014/main" id="{4745C3D4-FB4D-E071-A463-7B22E52F5304}"/>
              </a:ext>
            </a:extLst>
          </p:cNvPr>
          <p:cNvSpPr/>
          <p:nvPr/>
        </p:nvSpPr>
        <p:spPr>
          <a:xfrm>
            <a:off x="7447948" y="1905281"/>
            <a:ext cx="1394037" cy="39135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82984212-0000-FFEF-D685-9D60415E18DB}"/>
              </a:ext>
            </a:extLst>
          </p:cNvPr>
          <p:cNvSpPr/>
          <p:nvPr/>
        </p:nvSpPr>
        <p:spPr>
          <a:xfrm>
            <a:off x="5968788" y="1905281"/>
            <a:ext cx="1394037" cy="39135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3">
            <a:extLst>
              <a:ext uri="{FF2B5EF4-FFF2-40B4-BE49-F238E27FC236}">
                <a16:creationId xmlns:a16="http://schemas.microsoft.com/office/drawing/2014/main" id="{C7046DD8-85A9-1FF7-A1B1-996E7BE6E7D0}"/>
              </a:ext>
            </a:extLst>
          </p:cNvPr>
          <p:cNvSpPr/>
          <p:nvPr/>
        </p:nvSpPr>
        <p:spPr>
          <a:xfrm>
            <a:off x="10754452" y="6003002"/>
            <a:ext cx="502528" cy="21444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7930D33F-339F-261C-8E2E-54C1DB838FEC}"/>
              </a:ext>
            </a:extLst>
          </p:cNvPr>
          <p:cNvSpPr txBox="1"/>
          <p:nvPr/>
        </p:nvSpPr>
        <p:spPr>
          <a:xfrm>
            <a:off x="10854839" y="5760498"/>
            <a:ext cx="301753" cy="215444"/>
          </a:xfrm>
          <a:prstGeom prst="rect">
            <a:avLst/>
          </a:prstGeom>
          <a:solidFill>
            <a:schemeClr val="accent1"/>
          </a:solidFill>
        </p:spPr>
        <p:txBody>
          <a:bodyPr wrap="square" rtlCol="0">
            <a:spAutoFit/>
          </a:bodyPr>
          <a:lstStyle/>
          <a:p>
            <a:r>
              <a:rPr lang="es-CO" sz="800" b="1" dirty="0">
                <a:solidFill>
                  <a:schemeClr val="bg1"/>
                </a:solidFill>
              </a:rPr>
              <a:t>9</a:t>
            </a:r>
            <a:endParaRPr lang="en-US" sz="800" b="1" dirty="0">
              <a:solidFill>
                <a:schemeClr val="bg1"/>
              </a:solidFill>
            </a:endParaRPr>
          </a:p>
        </p:txBody>
      </p:sp>
    </p:spTree>
    <p:extLst>
      <p:ext uri="{BB962C8B-B14F-4D97-AF65-F5344CB8AC3E}">
        <p14:creationId xmlns:p14="http://schemas.microsoft.com/office/powerpoint/2010/main" val="1779116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326E76B-B0B8-72DC-FC49-9C532A17BDBB}"/>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p:cNvSpPr>
            <a:spLocks noGrp="1"/>
          </p:cNvSpPr>
          <p:nvPr>
            <p:ph type="title"/>
          </p:nvPr>
        </p:nvSpPr>
        <p:spPr/>
        <p:txBody>
          <a:bodyPr/>
          <a:lstStyle/>
          <a:p>
            <a:r>
              <a:rPr lang="es-CO" dirty="0"/>
              <a:t>Estados académicos secundarios</a:t>
            </a:r>
            <a:endParaRPr lang="es-ES_tradnl" dirty="0"/>
          </a:p>
        </p:txBody>
      </p:sp>
      <p:sp>
        <p:nvSpPr>
          <p:cNvPr id="4" name="Marcador de texto 3">
            <a:extLst>
              <a:ext uri="{FF2B5EF4-FFF2-40B4-BE49-F238E27FC236}">
                <a16:creationId xmlns:a16="http://schemas.microsoft.com/office/drawing/2014/main" id="{603D220A-DAA7-08B7-927E-9D6F4E953624}"/>
              </a:ext>
            </a:extLst>
          </p:cNvPr>
          <p:cNvSpPr>
            <a:spLocks noGrp="1"/>
          </p:cNvSpPr>
          <p:nvPr>
            <p:ph type="body" sz="quarter" idx="18"/>
          </p:nvPr>
        </p:nvSpPr>
        <p:spPr/>
        <p:txBody>
          <a:bodyPr/>
          <a:lstStyle/>
          <a:p>
            <a:r>
              <a:rPr lang="es-419" dirty="0"/>
              <a:t>Basados en el progreso del estudiante</a:t>
            </a:r>
          </a:p>
        </p:txBody>
      </p:sp>
    </p:spTree>
    <p:extLst>
      <p:ext uri="{BB962C8B-B14F-4D97-AF65-F5344CB8AC3E}">
        <p14:creationId xmlns:p14="http://schemas.microsoft.com/office/powerpoint/2010/main" val="3650659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87263-5DF8-20D1-D6AB-3243A2C93E4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034A28B-9225-5A24-051E-A994749E46A0}"/>
              </a:ext>
            </a:extLst>
          </p:cNvPr>
          <p:cNvPicPr>
            <a:picLocks noChangeAspect="1"/>
          </p:cNvPicPr>
          <p:nvPr/>
        </p:nvPicPr>
        <p:blipFill>
          <a:blip r:embed="rId3"/>
          <a:stretch>
            <a:fillRect/>
          </a:stretch>
        </p:blipFill>
        <p:spPr>
          <a:xfrm>
            <a:off x="1052822" y="1208690"/>
            <a:ext cx="10300978" cy="5072492"/>
          </a:xfrm>
          <a:prstGeom prst="rect">
            <a:avLst/>
          </a:prstGeom>
        </p:spPr>
      </p:pic>
      <p:sp>
        <p:nvSpPr>
          <p:cNvPr id="3" name="Marcador de texto vertical 2">
            <a:extLst>
              <a:ext uri="{FF2B5EF4-FFF2-40B4-BE49-F238E27FC236}">
                <a16:creationId xmlns:a16="http://schemas.microsoft.com/office/drawing/2014/main" id="{869BE028-CEFD-7342-4EEE-0EE33A0CD565}"/>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a:extLst>
              <a:ext uri="{FF2B5EF4-FFF2-40B4-BE49-F238E27FC236}">
                <a16:creationId xmlns:a16="http://schemas.microsoft.com/office/drawing/2014/main" id="{9EAA2D51-4DB0-3202-4ACF-BB8579C48BA2}"/>
              </a:ext>
            </a:extLst>
          </p:cNvPr>
          <p:cNvSpPr>
            <a:spLocks noGrp="1"/>
          </p:cNvSpPr>
          <p:nvPr>
            <p:ph type="title"/>
          </p:nvPr>
        </p:nvSpPr>
        <p:spPr>
          <a:xfrm>
            <a:off x="1049320" y="213090"/>
            <a:ext cx="10477497" cy="898555"/>
          </a:xfrm>
        </p:spPr>
        <p:txBody>
          <a:bodyPr/>
          <a:lstStyle/>
          <a:p>
            <a:r>
              <a:rPr lang="es-CO" dirty="0">
                <a:solidFill>
                  <a:schemeClr val="accent1"/>
                </a:solidFill>
              </a:rPr>
              <a:t>Crear los estados académicos: </a:t>
            </a:r>
            <a:r>
              <a:rPr lang="es-CO" b="0" dirty="0">
                <a:solidFill>
                  <a:schemeClr val="accent1"/>
                </a:solidFill>
              </a:rPr>
              <a:t>Estados académicos secundarios</a:t>
            </a:r>
            <a:endParaRPr lang="es-ES_tradnl" b="0" dirty="0">
              <a:solidFill>
                <a:schemeClr val="accent1"/>
              </a:solidFill>
            </a:endParaRPr>
          </a:p>
        </p:txBody>
      </p:sp>
      <p:sp>
        <p:nvSpPr>
          <p:cNvPr id="6" name="Rectángulo redondeado 5">
            <a:extLst>
              <a:ext uri="{FF2B5EF4-FFF2-40B4-BE49-F238E27FC236}">
                <a16:creationId xmlns:a16="http://schemas.microsoft.com/office/drawing/2014/main" id="{85C33C64-B1F6-1935-7498-2314A2090045}"/>
              </a:ext>
            </a:extLst>
          </p:cNvPr>
          <p:cNvSpPr/>
          <p:nvPr/>
        </p:nvSpPr>
        <p:spPr>
          <a:xfrm>
            <a:off x="1010321" y="4788855"/>
            <a:ext cx="10380456" cy="86045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AutoNum type="arabicPeriod"/>
            </a:pPr>
            <a:endParaRPr lang="es-ES_tradnl" sz="1100" dirty="0"/>
          </a:p>
          <a:p>
            <a:pPr marL="228600" indent="-228600">
              <a:buAutoNum type="arabicPeriod"/>
            </a:pPr>
            <a:r>
              <a:rPr lang="es-ES_tradnl" sz="1100" dirty="0"/>
              <a:t>Para ingresar un nuevo código debe hacer clic en esta opción</a:t>
            </a:r>
          </a:p>
          <a:p>
            <a:pPr marL="228600" indent="-228600">
              <a:buFontTx/>
              <a:buAutoNum type="arabicPeriod"/>
            </a:pPr>
            <a:r>
              <a:rPr lang="es-ES_tradnl" sz="1100" dirty="0"/>
              <a:t>La Universidad debe ingresar código.</a:t>
            </a:r>
          </a:p>
          <a:p>
            <a:pPr marL="228600" indent="-228600">
              <a:buFontTx/>
              <a:buAutoNum type="arabicPeriod"/>
            </a:pPr>
            <a:r>
              <a:rPr lang="es-ES_tradnl" sz="1100" dirty="0"/>
              <a:t>Ingrese la descripción que corresponda al código.</a:t>
            </a:r>
          </a:p>
          <a:p>
            <a:pPr marL="228600" indent="-228600">
              <a:buFontTx/>
              <a:buAutoNum type="arabicPeriod"/>
            </a:pPr>
            <a:r>
              <a:rPr lang="es-ES_tradnl" sz="1100" dirty="0"/>
              <a:t>Guarde la información</a:t>
            </a:r>
          </a:p>
          <a:p>
            <a:pPr marL="228600" indent="-228600">
              <a:buAutoNum type="arabicPeriod"/>
            </a:pPr>
            <a:endParaRPr lang="es-CO" sz="1100" dirty="0"/>
          </a:p>
        </p:txBody>
      </p:sp>
      <p:sp>
        <p:nvSpPr>
          <p:cNvPr id="8" name="CuadroTexto 7">
            <a:extLst>
              <a:ext uri="{FF2B5EF4-FFF2-40B4-BE49-F238E27FC236}">
                <a16:creationId xmlns:a16="http://schemas.microsoft.com/office/drawing/2014/main" id="{D13F59C1-2574-3BD4-1C2A-39D7C0D6C65C}"/>
              </a:ext>
            </a:extLst>
          </p:cNvPr>
          <p:cNvSpPr txBox="1"/>
          <p:nvPr/>
        </p:nvSpPr>
        <p:spPr>
          <a:xfrm>
            <a:off x="1644920" y="2218610"/>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2" name="CuadroTexto 11">
            <a:extLst>
              <a:ext uri="{FF2B5EF4-FFF2-40B4-BE49-F238E27FC236}">
                <a16:creationId xmlns:a16="http://schemas.microsoft.com/office/drawing/2014/main" id="{1D4AD985-EC90-6E2D-0498-D210281BA3DF}"/>
              </a:ext>
            </a:extLst>
          </p:cNvPr>
          <p:cNvSpPr txBox="1"/>
          <p:nvPr/>
        </p:nvSpPr>
        <p:spPr>
          <a:xfrm>
            <a:off x="10598332" y="2003166"/>
            <a:ext cx="265545"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5" name="Rectángulo 4">
            <a:extLst>
              <a:ext uri="{FF2B5EF4-FFF2-40B4-BE49-F238E27FC236}">
                <a16:creationId xmlns:a16="http://schemas.microsoft.com/office/drawing/2014/main" id="{3931A66D-851F-7223-B7FC-8922D581E151}"/>
              </a:ext>
            </a:extLst>
          </p:cNvPr>
          <p:cNvSpPr/>
          <p:nvPr/>
        </p:nvSpPr>
        <p:spPr>
          <a:xfrm>
            <a:off x="10610850" y="1697199"/>
            <a:ext cx="229336" cy="208922"/>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0EC12146-EAE4-760C-88FE-02AE9368BE00}"/>
              </a:ext>
            </a:extLst>
          </p:cNvPr>
          <p:cNvSpPr/>
          <p:nvPr/>
        </p:nvSpPr>
        <p:spPr>
          <a:xfrm>
            <a:off x="1058743" y="1844976"/>
            <a:ext cx="1474109" cy="31638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10">
            <a:extLst>
              <a:ext uri="{FF2B5EF4-FFF2-40B4-BE49-F238E27FC236}">
                <a16:creationId xmlns:a16="http://schemas.microsoft.com/office/drawing/2014/main" id="{F77CE0E6-5067-CC54-0A75-A9EE4854301D}"/>
              </a:ext>
            </a:extLst>
          </p:cNvPr>
          <p:cNvSpPr/>
          <p:nvPr/>
        </p:nvSpPr>
        <p:spPr>
          <a:xfrm>
            <a:off x="2604598" y="1844976"/>
            <a:ext cx="4428027" cy="32777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CuadroTexto 13">
            <a:extLst>
              <a:ext uri="{FF2B5EF4-FFF2-40B4-BE49-F238E27FC236}">
                <a16:creationId xmlns:a16="http://schemas.microsoft.com/office/drawing/2014/main" id="{B5E624A8-9673-4AC3-B9A8-5CBEACD79BAE}"/>
              </a:ext>
            </a:extLst>
          </p:cNvPr>
          <p:cNvSpPr txBox="1"/>
          <p:nvPr/>
        </p:nvSpPr>
        <p:spPr>
          <a:xfrm>
            <a:off x="4667734" y="2218610"/>
            <a:ext cx="301753" cy="215444"/>
          </a:xfrm>
          <a:prstGeom prst="rect">
            <a:avLst/>
          </a:prstGeom>
          <a:solidFill>
            <a:schemeClr val="accent1"/>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15" name="Rectángulo 14">
            <a:extLst>
              <a:ext uri="{FF2B5EF4-FFF2-40B4-BE49-F238E27FC236}">
                <a16:creationId xmlns:a16="http://schemas.microsoft.com/office/drawing/2014/main" id="{3DEFE308-DEE2-7F16-83C3-E69538C4FC58}"/>
              </a:ext>
            </a:extLst>
          </p:cNvPr>
          <p:cNvSpPr/>
          <p:nvPr/>
        </p:nvSpPr>
        <p:spPr>
          <a:xfrm>
            <a:off x="10887578" y="5973862"/>
            <a:ext cx="503199"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D563BEF0-405A-DDD1-F18D-965EABB2ABA7}"/>
              </a:ext>
            </a:extLst>
          </p:cNvPr>
          <p:cNvSpPr txBox="1"/>
          <p:nvPr/>
        </p:nvSpPr>
        <p:spPr>
          <a:xfrm>
            <a:off x="10988300" y="5686150"/>
            <a:ext cx="301753" cy="215444"/>
          </a:xfrm>
          <a:prstGeom prst="rect">
            <a:avLst/>
          </a:prstGeom>
          <a:solidFill>
            <a:schemeClr val="accent1"/>
          </a:solidFill>
        </p:spPr>
        <p:txBody>
          <a:bodyPr wrap="square" rtlCol="0">
            <a:spAutoFit/>
          </a:bodyPr>
          <a:lstStyle/>
          <a:p>
            <a:r>
              <a:rPr lang="es-CO" sz="800" b="1" dirty="0">
                <a:solidFill>
                  <a:schemeClr val="bg1"/>
                </a:solidFill>
              </a:rPr>
              <a:t>4</a:t>
            </a:r>
            <a:endParaRPr lang="en-US" sz="800" b="1" dirty="0">
              <a:solidFill>
                <a:schemeClr val="bg1"/>
              </a:solidFill>
            </a:endParaRPr>
          </a:p>
        </p:txBody>
      </p:sp>
    </p:spTree>
    <p:extLst>
      <p:ext uri="{BB962C8B-B14F-4D97-AF65-F5344CB8AC3E}">
        <p14:creationId xmlns:p14="http://schemas.microsoft.com/office/powerpoint/2010/main" val="2910791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p:cNvSpPr>
            <a:spLocks noGrp="1"/>
          </p:cNvSpPr>
          <p:nvPr>
            <p:ph type="title"/>
          </p:nvPr>
        </p:nvSpPr>
        <p:spPr/>
        <p:txBody>
          <a:bodyPr/>
          <a:lstStyle/>
          <a:p>
            <a:r>
              <a:rPr lang="es-CO" dirty="0"/>
              <a:t>Estados académicos combinados</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r>
              <a:rPr lang="es-CO" dirty="0"/>
              <a:t>Definido por una combinación de un código de estado académico general y un código de estado académico secundario.</a:t>
            </a:r>
            <a:endParaRPr lang="es-ES_tradnl" dirty="0"/>
          </a:p>
        </p:txBody>
      </p:sp>
    </p:spTree>
    <p:extLst>
      <p:ext uri="{BB962C8B-B14F-4D97-AF65-F5344CB8AC3E}">
        <p14:creationId xmlns:p14="http://schemas.microsoft.com/office/powerpoint/2010/main" val="3048963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BDEC6-CD3A-E472-F885-28E969881964}"/>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C8269C94-F475-53B0-FDED-5C3EAE89DFDA}"/>
              </a:ext>
            </a:extLst>
          </p:cNvPr>
          <p:cNvPicPr>
            <a:picLocks noChangeAspect="1"/>
          </p:cNvPicPr>
          <p:nvPr/>
        </p:nvPicPr>
        <p:blipFill>
          <a:blip r:embed="rId3"/>
          <a:stretch>
            <a:fillRect/>
          </a:stretch>
        </p:blipFill>
        <p:spPr>
          <a:xfrm>
            <a:off x="1049319" y="1111645"/>
            <a:ext cx="10615463" cy="5210724"/>
          </a:xfrm>
          <a:prstGeom prst="rect">
            <a:avLst/>
          </a:prstGeom>
        </p:spPr>
      </p:pic>
      <p:sp>
        <p:nvSpPr>
          <p:cNvPr id="3" name="Marcador de texto vertical 2">
            <a:extLst>
              <a:ext uri="{FF2B5EF4-FFF2-40B4-BE49-F238E27FC236}">
                <a16:creationId xmlns:a16="http://schemas.microsoft.com/office/drawing/2014/main" id="{A56A9F44-C281-8E0B-474B-B26DD9344A8E}"/>
              </a:ext>
            </a:extLst>
          </p:cNvPr>
          <p:cNvSpPr>
            <a:spLocks noGrp="1"/>
          </p:cNvSpPr>
          <p:nvPr>
            <p:ph type="body" orient="vert" sz="quarter" idx="17"/>
          </p:nvPr>
        </p:nvSpPr>
        <p:spPr/>
        <p:txBody>
          <a:bodyPr/>
          <a:lstStyle/>
          <a:p>
            <a:r>
              <a:rPr lang="es-CO" sz="1200" dirty="0"/>
              <a:t>Gestionar el estado académico</a:t>
            </a:r>
            <a:endParaRPr lang="es-ES_tradnl" dirty="0"/>
          </a:p>
        </p:txBody>
      </p:sp>
      <p:sp>
        <p:nvSpPr>
          <p:cNvPr id="13" name="Title 12">
            <a:extLst>
              <a:ext uri="{FF2B5EF4-FFF2-40B4-BE49-F238E27FC236}">
                <a16:creationId xmlns:a16="http://schemas.microsoft.com/office/drawing/2014/main" id="{1BE8AE6F-EE6F-3A99-40C9-3ED3C3C1C035}"/>
              </a:ext>
            </a:extLst>
          </p:cNvPr>
          <p:cNvSpPr>
            <a:spLocks noGrp="1"/>
          </p:cNvSpPr>
          <p:nvPr>
            <p:ph type="title"/>
          </p:nvPr>
        </p:nvSpPr>
        <p:spPr>
          <a:xfrm>
            <a:off x="1049320" y="213090"/>
            <a:ext cx="10477497" cy="898555"/>
          </a:xfrm>
        </p:spPr>
        <p:txBody>
          <a:bodyPr/>
          <a:lstStyle/>
          <a:p>
            <a:r>
              <a:rPr lang="es-CO" dirty="0">
                <a:solidFill>
                  <a:schemeClr val="accent1"/>
                </a:solidFill>
              </a:rPr>
              <a:t>Crear los estados académicos: </a:t>
            </a:r>
            <a:r>
              <a:rPr lang="es-CO" b="0" dirty="0">
                <a:solidFill>
                  <a:schemeClr val="accent1"/>
                </a:solidFill>
              </a:rPr>
              <a:t>Estados académicos secundarios</a:t>
            </a:r>
            <a:endParaRPr lang="es-ES_tradnl" b="0" dirty="0">
              <a:solidFill>
                <a:schemeClr val="accent1"/>
              </a:solidFill>
            </a:endParaRPr>
          </a:p>
        </p:txBody>
      </p:sp>
      <p:sp>
        <p:nvSpPr>
          <p:cNvPr id="6" name="Rectángulo redondeado 5">
            <a:extLst>
              <a:ext uri="{FF2B5EF4-FFF2-40B4-BE49-F238E27FC236}">
                <a16:creationId xmlns:a16="http://schemas.microsoft.com/office/drawing/2014/main" id="{59508A36-087F-46F2-892F-5258E0AD8BEB}"/>
              </a:ext>
            </a:extLst>
          </p:cNvPr>
          <p:cNvSpPr/>
          <p:nvPr/>
        </p:nvSpPr>
        <p:spPr>
          <a:xfrm>
            <a:off x="1049317" y="4463170"/>
            <a:ext cx="10615463" cy="155885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228600" indent="-228600">
              <a:buAutoNum type="arabicPeriod"/>
            </a:pPr>
            <a:endParaRPr lang="es-ES_tradnl" sz="1100" dirty="0"/>
          </a:p>
          <a:p>
            <a:pPr marL="228600" indent="-228600">
              <a:buAutoNum type="arabicPeriod"/>
            </a:pPr>
            <a:endParaRPr lang="es-ES_tradnl" sz="1100" dirty="0"/>
          </a:p>
          <a:p>
            <a:pPr marL="228600" indent="-228600">
              <a:buAutoNum type="arabicPeriod"/>
            </a:pPr>
            <a:r>
              <a:rPr lang="es-ES_tradnl" sz="1100" dirty="0"/>
              <a:t>Para ingresar un nuevo código debe hacer clic en esta opción.</a:t>
            </a:r>
          </a:p>
          <a:p>
            <a:pPr marL="228600" indent="-228600">
              <a:buFontTx/>
              <a:buAutoNum type="arabicPeriod"/>
            </a:pPr>
            <a:r>
              <a:rPr lang="es-ES_tradnl" sz="1100" dirty="0"/>
              <a:t>Ingrese el código de estado académico secundario para definir su regla combinada.</a:t>
            </a:r>
          </a:p>
          <a:p>
            <a:pPr marL="228600" indent="-228600">
              <a:buFontTx/>
              <a:buAutoNum type="arabicPeriod"/>
            </a:pPr>
            <a:r>
              <a:rPr lang="es-ES_tradnl" sz="1100" dirty="0"/>
              <a:t>Ingrese la descripción de estado académico creado.</a:t>
            </a:r>
          </a:p>
          <a:p>
            <a:pPr marL="228600" indent="-228600">
              <a:buFontTx/>
              <a:buAutoNum type="arabicPeriod"/>
            </a:pPr>
            <a:r>
              <a:rPr lang="es-ES_tradnl" sz="1100" dirty="0"/>
              <a:t>Marque este cuadro para indicar que este estado académico no permitirá que los alumnos se inscriban.</a:t>
            </a:r>
          </a:p>
          <a:p>
            <a:pPr marL="228600" indent="-228600">
              <a:buFontTx/>
              <a:buAutoNum type="arabicPeriod"/>
            </a:pPr>
            <a:r>
              <a:rPr lang="es-ES_tradnl" sz="1100" dirty="0"/>
              <a:t>Ingrese el número mínimo de horas que un estudiante debe inscribir si tiene ese estado académico designado.</a:t>
            </a:r>
          </a:p>
          <a:p>
            <a:pPr marL="228600" indent="-228600">
              <a:buFontTx/>
              <a:buAutoNum type="arabicPeriod"/>
            </a:pPr>
            <a:r>
              <a:rPr lang="es-ES_tradnl" sz="1100" dirty="0"/>
              <a:t>Ingrese el número máximo de horas que un estudiante debe inscribir si tiene ese estado académico designado.</a:t>
            </a:r>
          </a:p>
          <a:p>
            <a:pPr marL="228600" indent="-228600">
              <a:buFontTx/>
              <a:buAutoNum type="arabicPeriod"/>
            </a:pPr>
            <a:r>
              <a:rPr lang="es-ES_tradnl" sz="1100" dirty="0"/>
              <a:t>Guarde la información.</a:t>
            </a:r>
          </a:p>
          <a:p>
            <a:endParaRPr lang="es-ES_tradnl" sz="1100" dirty="0"/>
          </a:p>
          <a:p>
            <a:pPr marL="228600" indent="-228600">
              <a:buAutoNum type="arabicPeriod"/>
            </a:pPr>
            <a:endParaRPr lang="es-CO" sz="1100" dirty="0"/>
          </a:p>
        </p:txBody>
      </p:sp>
      <p:sp>
        <p:nvSpPr>
          <p:cNvPr id="8" name="CuadroTexto 7">
            <a:extLst>
              <a:ext uri="{FF2B5EF4-FFF2-40B4-BE49-F238E27FC236}">
                <a16:creationId xmlns:a16="http://schemas.microsoft.com/office/drawing/2014/main" id="{CF5983B5-4DF9-B8C7-194C-473132131BDC}"/>
              </a:ext>
            </a:extLst>
          </p:cNvPr>
          <p:cNvSpPr txBox="1"/>
          <p:nvPr/>
        </p:nvSpPr>
        <p:spPr>
          <a:xfrm>
            <a:off x="1154831" y="2170419"/>
            <a:ext cx="301753" cy="215444"/>
          </a:xfrm>
          <a:prstGeom prst="rect">
            <a:avLst/>
          </a:prstGeom>
          <a:solidFill>
            <a:schemeClr val="accent1"/>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2" name="CuadroTexto 11">
            <a:extLst>
              <a:ext uri="{FF2B5EF4-FFF2-40B4-BE49-F238E27FC236}">
                <a16:creationId xmlns:a16="http://schemas.microsoft.com/office/drawing/2014/main" id="{03E490A6-F1A8-2F6C-5D6C-EB1B91F7B24F}"/>
              </a:ext>
            </a:extLst>
          </p:cNvPr>
          <p:cNvSpPr txBox="1"/>
          <p:nvPr/>
        </p:nvSpPr>
        <p:spPr>
          <a:xfrm>
            <a:off x="10475932" y="1601458"/>
            <a:ext cx="301753" cy="215444"/>
          </a:xfrm>
          <a:prstGeom prst="rect">
            <a:avLst/>
          </a:prstGeom>
          <a:solidFill>
            <a:schemeClr val="accent1"/>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5" name="Rectángulo 4">
            <a:extLst>
              <a:ext uri="{FF2B5EF4-FFF2-40B4-BE49-F238E27FC236}">
                <a16:creationId xmlns:a16="http://schemas.microsoft.com/office/drawing/2014/main" id="{4351090A-8338-8D79-007E-8AB6CC7EADD8}"/>
              </a:ext>
            </a:extLst>
          </p:cNvPr>
          <p:cNvSpPr/>
          <p:nvPr/>
        </p:nvSpPr>
        <p:spPr>
          <a:xfrm>
            <a:off x="10915650" y="1601458"/>
            <a:ext cx="217628" cy="21013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06BE9B4F-FF02-3DE6-5C5B-83AFD6B2700C}"/>
              </a:ext>
            </a:extLst>
          </p:cNvPr>
          <p:cNvSpPr/>
          <p:nvPr/>
        </p:nvSpPr>
        <p:spPr>
          <a:xfrm>
            <a:off x="1049317" y="1811591"/>
            <a:ext cx="512783" cy="31638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3">
            <a:extLst>
              <a:ext uri="{FF2B5EF4-FFF2-40B4-BE49-F238E27FC236}">
                <a16:creationId xmlns:a16="http://schemas.microsoft.com/office/drawing/2014/main" id="{1612AB38-57F8-BECC-D418-23EDED4AF075}"/>
              </a:ext>
            </a:extLst>
          </p:cNvPr>
          <p:cNvSpPr/>
          <p:nvPr/>
        </p:nvSpPr>
        <p:spPr>
          <a:xfrm>
            <a:off x="11210924" y="6059014"/>
            <a:ext cx="453858" cy="226369"/>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7516FFA8-D2A3-5B14-F45A-FC7F4C5E0806}"/>
              </a:ext>
            </a:extLst>
          </p:cNvPr>
          <p:cNvSpPr txBox="1"/>
          <p:nvPr/>
        </p:nvSpPr>
        <p:spPr>
          <a:xfrm>
            <a:off x="8231363" y="2170419"/>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11" name="Rectángulo 10">
            <a:extLst>
              <a:ext uri="{FF2B5EF4-FFF2-40B4-BE49-F238E27FC236}">
                <a16:creationId xmlns:a16="http://schemas.microsoft.com/office/drawing/2014/main" id="{EFEB839C-F9BA-C9A5-BDFF-AAD8FCEA70CB}"/>
              </a:ext>
            </a:extLst>
          </p:cNvPr>
          <p:cNvSpPr/>
          <p:nvPr/>
        </p:nvSpPr>
        <p:spPr>
          <a:xfrm>
            <a:off x="4728305" y="1811591"/>
            <a:ext cx="1596295" cy="31153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BD9CB7F1-96F3-7581-8168-B744B7D62363}"/>
              </a:ext>
            </a:extLst>
          </p:cNvPr>
          <p:cNvSpPr/>
          <p:nvPr/>
        </p:nvSpPr>
        <p:spPr>
          <a:xfrm>
            <a:off x="6380259" y="1811591"/>
            <a:ext cx="1300687" cy="31638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CuadroTexto 14">
            <a:extLst>
              <a:ext uri="{FF2B5EF4-FFF2-40B4-BE49-F238E27FC236}">
                <a16:creationId xmlns:a16="http://schemas.microsoft.com/office/drawing/2014/main" id="{66563F03-93A5-C7DD-9E1D-EB931945BB81}"/>
              </a:ext>
            </a:extLst>
          </p:cNvPr>
          <p:cNvSpPr txBox="1"/>
          <p:nvPr/>
        </p:nvSpPr>
        <p:spPr>
          <a:xfrm>
            <a:off x="5377210" y="2184229"/>
            <a:ext cx="301753" cy="215444"/>
          </a:xfrm>
          <a:prstGeom prst="rect">
            <a:avLst/>
          </a:prstGeom>
          <a:solidFill>
            <a:schemeClr val="accent1"/>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16" name="CuadroTexto 15">
            <a:extLst>
              <a:ext uri="{FF2B5EF4-FFF2-40B4-BE49-F238E27FC236}">
                <a16:creationId xmlns:a16="http://schemas.microsoft.com/office/drawing/2014/main" id="{003CB0FF-C308-AF5E-9F9B-4A60219B07C3}"/>
              </a:ext>
            </a:extLst>
          </p:cNvPr>
          <p:cNvSpPr txBox="1"/>
          <p:nvPr/>
        </p:nvSpPr>
        <p:spPr>
          <a:xfrm>
            <a:off x="6879725" y="2179386"/>
            <a:ext cx="301753" cy="215444"/>
          </a:xfrm>
          <a:prstGeom prst="rect">
            <a:avLst/>
          </a:prstGeom>
          <a:solidFill>
            <a:schemeClr val="accent1"/>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7" name="Rectángulo 16">
            <a:extLst>
              <a:ext uri="{FF2B5EF4-FFF2-40B4-BE49-F238E27FC236}">
                <a16:creationId xmlns:a16="http://schemas.microsoft.com/office/drawing/2014/main" id="{541FE41D-A167-E809-7A03-23F457B9BF00}"/>
              </a:ext>
            </a:extLst>
          </p:cNvPr>
          <p:cNvSpPr/>
          <p:nvPr/>
        </p:nvSpPr>
        <p:spPr>
          <a:xfrm>
            <a:off x="7736605" y="1811591"/>
            <a:ext cx="1300687" cy="31638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9" name="CuadroTexto 18">
            <a:extLst>
              <a:ext uri="{FF2B5EF4-FFF2-40B4-BE49-F238E27FC236}">
                <a16:creationId xmlns:a16="http://schemas.microsoft.com/office/drawing/2014/main" id="{F18745BB-2B4C-9EB6-0B55-404DD2C08C3F}"/>
              </a:ext>
            </a:extLst>
          </p:cNvPr>
          <p:cNvSpPr txBox="1"/>
          <p:nvPr/>
        </p:nvSpPr>
        <p:spPr>
          <a:xfrm>
            <a:off x="10840189" y="6069939"/>
            <a:ext cx="301753" cy="215444"/>
          </a:xfrm>
          <a:prstGeom prst="rect">
            <a:avLst/>
          </a:prstGeom>
          <a:solidFill>
            <a:schemeClr val="accent1"/>
          </a:solidFill>
        </p:spPr>
        <p:txBody>
          <a:bodyPr wrap="square" rtlCol="0">
            <a:spAutoFit/>
          </a:bodyPr>
          <a:lstStyle/>
          <a:p>
            <a:r>
              <a:rPr lang="es-CO" sz="800" b="1" dirty="0">
                <a:solidFill>
                  <a:schemeClr val="bg1"/>
                </a:solidFill>
              </a:rPr>
              <a:t>7</a:t>
            </a:r>
            <a:endParaRPr lang="en-US" sz="800" b="1" dirty="0">
              <a:solidFill>
                <a:schemeClr val="bg1"/>
              </a:solidFill>
            </a:endParaRPr>
          </a:p>
        </p:txBody>
      </p:sp>
      <p:sp>
        <p:nvSpPr>
          <p:cNvPr id="20" name="Rectángulo 19">
            <a:extLst>
              <a:ext uri="{FF2B5EF4-FFF2-40B4-BE49-F238E27FC236}">
                <a16:creationId xmlns:a16="http://schemas.microsoft.com/office/drawing/2014/main" id="{B8EEF85D-44C3-7EB7-15E2-71EFCDE8E4B0}"/>
              </a:ext>
            </a:extLst>
          </p:cNvPr>
          <p:cNvSpPr/>
          <p:nvPr/>
        </p:nvSpPr>
        <p:spPr>
          <a:xfrm>
            <a:off x="1606615" y="1811591"/>
            <a:ext cx="2590186" cy="31638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CuadroTexto 20">
            <a:extLst>
              <a:ext uri="{FF2B5EF4-FFF2-40B4-BE49-F238E27FC236}">
                <a16:creationId xmlns:a16="http://schemas.microsoft.com/office/drawing/2014/main" id="{8D3B593B-382B-B1F7-E1D5-1599537B9E58}"/>
              </a:ext>
            </a:extLst>
          </p:cNvPr>
          <p:cNvSpPr txBox="1"/>
          <p:nvPr/>
        </p:nvSpPr>
        <p:spPr>
          <a:xfrm>
            <a:off x="2750831" y="2179386"/>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158877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p:cNvSpPr>
            <a:spLocks noGrp="1"/>
          </p:cNvSpPr>
          <p:nvPr>
            <p:ph type="title"/>
          </p:nvPr>
        </p:nvSpPr>
        <p:spPr/>
        <p:txBody>
          <a:bodyPr/>
          <a:lstStyle/>
          <a:p>
            <a:r>
              <a:rPr lang="es-CO" dirty="0"/>
              <a:t>Definir las reglas de aplicación de estados académicos</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r>
              <a:rPr lang="es-MX" dirty="0"/>
              <a:t>Configurando el rango de promedio que debe tener un alumno para poder ser clasificado en uno estado académico.</a:t>
            </a:r>
            <a:endParaRPr lang="es-ES_tradnl" dirty="0"/>
          </a:p>
        </p:txBody>
      </p:sp>
    </p:spTree>
    <p:extLst>
      <p:ext uri="{BB962C8B-B14F-4D97-AF65-F5344CB8AC3E}">
        <p14:creationId xmlns:p14="http://schemas.microsoft.com/office/powerpoint/2010/main" val="2826316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00C53-39BB-03C3-E908-8121564ADF20}"/>
            </a:ext>
          </a:extLst>
        </p:cNvPr>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8C2A1CD3-AE0C-F2D8-7FF0-6A6BE97823FD}"/>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a:extLst>
              <a:ext uri="{FF2B5EF4-FFF2-40B4-BE49-F238E27FC236}">
                <a16:creationId xmlns:a16="http://schemas.microsoft.com/office/drawing/2014/main" id="{35225EB2-DB81-3974-03AD-1083449C19F6}"/>
              </a:ext>
            </a:extLst>
          </p:cNvPr>
          <p:cNvSpPr>
            <a:spLocks noGrp="1"/>
          </p:cNvSpPr>
          <p:nvPr>
            <p:ph type="title"/>
          </p:nvPr>
        </p:nvSpPr>
        <p:spPr/>
        <p:txBody>
          <a:bodyPr/>
          <a:lstStyle/>
          <a:p>
            <a:r>
              <a:rPr lang="es-CO" dirty="0"/>
              <a:t>Regla de dificultad académica</a:t>
            </a:r>
            <a:endParaRPr lang="es-ES_tradnl" dirty="0"/>
          </a:p>
        </p:txBody>
      </p:sp>
      <p:sp>
        <p:nvSpPr>
          <p:cNvPr id="8" name="Marcador de texto 7">
            <a:extLst>
              <a:ext uri="{FF2B5EF4-FFF2-40B4-BE49-F238E27FC236}">
                <a16:creationId xmlns:a16="http://schemas.microsoft.com/office/drawing/2014/main" id="{30558529-3E93-6DBC-3450-7A0058AC47B8}"/>
              </a:ext>
            </a:extLst>
          </p:cNvPr>
          <p:cNvSpPr>
            <a:spLocks noGrp="1"/>
          </p:cNvSpPr>
          <p:nvPr>
            <p:ph type="body" sz="quarter" idx="18"/>
          </p:nvPr>
        </p:nvSpPr>
        <p:spPr/>
        <p:txBody>
          <a:bodyPr/>
          <a:lstStyle/>
          <a:p>
            <a:r>
              <a:rPr lang="es-CO" dirty="0"/>
              <a:t>Reglas basadas en las horas y/o promedio del estudiante.</a:t>
            </a:r>
            <a:endParaRPr lang="es-ES_tradnl" dirty="0"/>
          </a:p>
        </p:txBody>
      </p:sp>
    </p:spTree>
    <p:extLst>
      <p:ext uri="{BB962C8B-B14F-4D97-AF65-F5344CB8AC3E}">
        <p14:creationId xmlns:p14="http://schemas.microsoft.com/office/powerpoint/2010/main" val="4033314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FD77A59-F001-7F38-860E-AC7346360E6C}"/>
              </a:ext>
            </a:extLst>
          </p:cNvPr>
          <p:cNvPicPr>
            <a:picLocks noChangeAspect="1"/>
          </p:cNvPicPr>
          <p:nvPr/>
        </p:nvPicPr>
        <p:blipFill>
          <a:blip r:embed="rId3"/>
          <a:stretch>
            <a:fillRect/>
          </a:stretch>
        </p:blipFill>
        <p:spPr>
          <a:xfrm>
            <a:off x="994218" y="1107829"/>
            <a:ext cx="10645174" cy="3739444"/>
          </a:xfrm>
          <a:prstGeom prst="rect">
            <a:avLst/>
          </a:prstGeom>
        </p:spPr>
      </p:pic>
      <p:sp>
        <p:nvSpPr>
          <p:cNvPr id="3" name="Marcador de texto vertical 2">
            <a:extLst>
              <a:ext uri="{FF2B5EF4-FFF2-40B4-BE49-F238E27FC236}">
                <a16:creationId xmlns:a16="http://schemas.microsoft.com/office/drawing/2014/main" id="{2BC4B8CC-2D6B-9944-CB0A-4E96DD664C6A}"/>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2AFDC9F4-5E75-73C3-36D8-B3BBC2C88D8A}"/>
              </a:ext>
            </a:extLst>
          </p:cNvPr>
          <p:cNvSpPr/>
          <p:nvPr/>
        </p:nvSpPr>
        <p:spPr>
          <a:xfrm>
            <a:off x="994218" y="3587696"/>
            <a:ext cx="10645174" cy="143690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r>
              <a:rPr lang="es-ES_tradnl" sz="1100" dirty="0"/>
              <a:t>Dentro de SHAACST seleccione el código de nivel para el que va a establecer la regla.</a:t>
            </a:r>
          </a:p>
          <a:p>
            <a:pPr marL="228600" indent="-228600">
              <a:buFontTx/>
              <a:buAutoNum type="arabicPeriod"/>
            </a:pPr>
            <a:r>
              <a:rPr lang="es-ES_tradnl" sz="1100" dirty="0"/>
              <a:t>Ingrese el código 99.</a:t>
            </a:r>
          </a:p>
        </p:txBody>
      </p:sp>
      <p:sp>
        <p:nvSpPr>
          <p:cNvPr id="9" name="CuadroTexto 8">
            <a:extLst>
              <a:ext uri="{FF2B5EF4-FFF2-40B4-BE49-F238E27FC236}">
                <a16:creationId xmlns:a16="http://schemas.microsoft.com/office/drawing/2014/main" id="{B741F5DE-F946-48B6-641A-5DA02C133D67}"/>
              </a:ext>
            </a:extLst>
          </p:cNvPr>
          <p:cNvSpPr txBox="1"/>
          <p:nvPr/>
        </p:nvSpPr>
        <p:spPr>
          <a:xfrm>
            <a:off x="6963137" y="1898662"/>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16" name="Rectángulo 15">
            <a:extLst>
              <a:ext uri="{FF2B5EF4-FFF2-40B4-BE49-F238E27FC236}">
                <a16:creationId xmlns:a16="http://schemas.microsoft.com/office/drawing/2014/main" id="{16C9EE49-024D-D10E-8A7A-214A8D8CCA19}"/>
              </a:ext>
            </a:extLst>
          </p:cNvPr>
          <p:cNvSpPr/>
          <p:nvPr/>
        </p:nvSpPr>
        <p:spPr>
          <a:xfrm>
            <a:off x="1428750" y="1627680"/>
            <a:ext cx="1543050" cy="2057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B1E7E9A0-1EAE-F1A2-77FA-46C5B37C0734}"/>
              </a:ext>
            </a:extLst>
          </p:cNvPr>
          <p:cNvSpPr txBox="1"/>
          <p:nvPr/>
        </p:nvSpPr>
        <p:spPr>
          <a:xfrm>
            <a:off x="2049398" y="1898662"/>
            <a:ext cx="301753"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8" name="Rectángulo 7">
            <a:extLst>
              <a:ext uri="{FF2B5EF4-FFF2-40B4-BE49-F238E27FC236}">
                <a16:creationId xmlns:a16="http://schemas.microsoft.com/office/drawing/2014/main" id="{C36BB4C3-A6F1-587E-55E9-F565262433F4}"/>
              </a:ext>
            </a:extLst>
          </p:cNvPr>
          <p:cNvSpPr/>
          <p:nvPr/>
        </p:nvSpPr>
        <p:spPr>
          <a:xfrm>
            <a:off x="6220569" y="1627680"/>
            <a:ext cx="1786891" cy="2057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687716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EA45-89FA-F6DF-DC65-B857E9DA6305}"/>
            </a:ext>
          </a:extLst>
        </p:cNvPr>
        <p:cNvGrpSpPr/>
        <p:nvPr/>
      </p:nvGrpSpPr>
      <p:grpSpPr>
        <a:xfrm>
          <a:off x="0" y="0"/>
          <a:ext cx="0" cy="0"/>
          <a:chOff x="0" y="0"/>
          <a:chExt cx="0" cy="0"/>
        </a:xfrm>
      </p:grpSpPr>
      <p:pic>
        <p:nvPicPr>
          <p:cNvPr id="21" name="Imagen 20">
            <a:extLst>
              <a:ext uri="{FF2B5EF4-FFF2-40B4-BE49-F238E27FC236}">
                <a16:creationId xmlns:a16="http://schemas.microsoft.com/office/drawing/2014/main" id="{00FEFD12-7916-024B-63A4-77EFA77DC7FE}"/>
              </a:ext>
            </a:extLst>
          </p:cNvPr>
          <p:cNvPicPr>
            <a:picLocks noChangeAspect="1"/>
          </p:cNvPicPr>
          <p:nvPr/>
        </p:nvPicPr>
        <p:blipFill>
          <a:blip r:embed="rId3"/>
          <a:stretch>
            <a:fillRect/>
          </a:stretch>
        </p:blipFill>
        <p:spPr>
          <a:xfrm>
            <a:off x="994218" y="1141170"/>
            <a:ext cx="10645174" cy="5200356"/>
          </a:xfrm>
          <a:prstGeom prst="rect">
            <a:avLst/>
          </a:prstGeom>
        </p:spPr>
      </p:pic>
      <p:sp>
        <p:nvSpPr>
          <p:cNvPr id="3" name="Marcador de texto vertical 2">
            <a:extLst>
              <a:ext uri="{FF2B5EF4-FFF2-40B4-BE49-F238E27FC236}">
                <a16:creationId xmlns:a16="http://schemas.microsoft.com/office/drawing/2014/main" id="{C8A6E0F3-511B-201F-3E0A-5691C83256C0}"/>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4B37D68C-2A17-64A1-0800-2B773030C670}"/>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779F2233-7994-18A3-8F89-10250D349C95}"/>
              </a:ext>
            </a:extLst>
          </p:cNvPr>
          <p:cNvSpPr/>
          <p:nvPr/>
        </p:nvSpPr>
        <p:spPr>
          <a:xfrm>
            <a:off x="2253626" y="3658159"/>
            <a:ext cx="7788732" cy="205867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100" dirty="0"/>
          </a:p>
          <a:p>
            <a:endParaRPr lang="es-ES_tradnl" sz="1100" dirty="0"/>
          </a:p>
          <a:p>
            <a:pPr marL="228600" indent="-228600">
              <a:buFont typeface="+mj-lt"/>
              <a:buAutoNum type="arabicPeriod" startAt="3"/>
            </a:pPr>
            <a:r>
              <a:rPr lang="es-ES_tradnl" sz="1100" dirty="0"/>
              <a:t>Seleccione el periodo para el cual se está definiendo la regla.</a:t>
            </a:r>
          </a:p>
          <a:p>
            <a:pPr marL="228600" indent="-228600">
              <a:buFontTx/>
              <a:buAutoNum type="arabicPeriod" startAt="3"/>
            </a:pPr>
            <a:r>
              <a:rPr lang="es-CO" sz="1100" dirty="0"/>
              <a:t>Seleccione el código de estado académico </a:t>
            </a:r>
            <a:r>
              <a:rPr lang="es-CO" sz="1100" b="1" dirty="0"/>
              <a:t>inicial</a:t>
            </a:r>
            <a:r>
              <a:rPr lang="es-CO" sz="1100" dirty="0"/>
              <a:t> que tiene el alumno desde STVASTD.</a:t>
            </a:r>
          </a:p>
          <a:p>
            <a:pPr marL="228600" indent="-228600">
              <a:buFontTx/>
              <a:buAutoNum type="arabicPeriod" startAt="3"/>
            </a:pPr>
            <a:r>
              <a:rPr lang="es-CO" sz="1100" dirty="0"/>
              <a:t>Ingrese la secuencia en la que se evaluarán las reglas definidas.</a:t>
            </a:r>
          </a:p>
          <a:p>
            <a:pPr marL="228600" indent="-228600">
              <a:buFontTx/>
              <a:buAutoNum type="arabicPeriod" startAt="3"/>
            </a:pPr>
            <a:r>
              <a:rPr lang="es-CO" sz="1100" dirty="0"/>
              <a:t>Ingrese el mínimo de horas intentadas que debe tener el alumno en el período para que se le aplique la regla.</a:t>
            </a:r>
          </a:p>
          <a:p>
            <a:pPr marL="228600" indent="-228600">
              <a:buFontTx/>
              <a:buAutoNum type="arabicPeriod" startAt="3"/>
            </a:pPr>
            <a:r>
              <a:rPr lang="es-CO" sz="1100" dirty="0"/>
              <a:t>Ingrese el máximo de horas intentadas que debe tener el alumno en el período para que se le aplique la regla.</a:t>
            </a:r>
          </a:p>
          <a:p>
            <a:pPr marL="228600" indent="-228600">
              <a:buFontTx/>
              <a:buAutoNum type="arabicPeriod" startAt="3"/>
            </a:pPr>
            <a:r>
              <a:rPr lang="es-CO" sz="1100" dirty="0"/>
              <a:t>Ingrese el mínimo de horas acumuladas que debe tener el alumno para que se le aplique la regla.</a:t>
            </a:r>
          </a:p>
          <a:p>
            <a:pPr marL="228600" indent="-228600">
              <a:buFontTx/>
              <a:buAutoNum type="arabicPeriod" startAt="3"/>
            </a:pPr>
            <a:r>
              <a:rPr lang="es-CO" sz="1100" dirty="0"/>
              <a:t>Ingrese el máximo de horas acumuladas que debe tener el alumno para que se le aplique la regla.</a:t>
            </a:r>
          </a:p>
          <a:p>
            <a:pPr marL="228600" indent="-228600">
              <a:buFontTx/>
              <a:buAutoNum type="arabicPeriod" startAt="3"/>
            </a:pPr>
            <a:endParaRPr lang="es-CO" sz="1100" dirty="0"/>
          </a:p>
          <a:p>
            <a:pPr marL="228600" indent="-228600">
              <a:buFontTx/>
              <a:buAutoNum type="arabicPeriod" startAt="3"/>
            </a:pPr>
            <a:endParaRPr lang="es-ES_tradnl" sz="1100" dirty="0"/>
          </a:p>
        </p:txBody>
      </p:sp>
      <p:sp>
        <p:nvSpPr>
          <p:cNvPr id="9" name="CuadroTexto 8">
            <a:extLst>
              <a:ext uri="{FF2B5EF4-FFF2-40B4-BE49-F238E27FC236}">
                <a16:creationId xmlns:a16="http://schemas.microsoft.com/office/drawing/2014/main" id="{70B559E0-9C4C-C2B3-6ACF-DB2AA84116EE}"/>
              </a:ext>
            </a:extLst>
          </p:cNvPr>
          <p:cNvSpPr txBox="1"/>
          <p:nvPr/>
        </p:nvSpPr>
        <p:spPr>
          <a:xfrm>
            <a:off x="5908937" y="2415655"/>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
        <p:nvSpPr>
          <p:cNvPr id="16" name="Rectángulo 15">
            <a:extLst>
              <a:ext uri="{FF2B5EF4-FFF2-40B4-BE49-F238E27FC236}">
                <a16:creationId xmlns:a16="http://schemas.microsoft.com/office/drawing/2014/main" id="{8A6EE51C-7C1F-69C0-55CF-135A8F6185BC}"/>
              </a:ext>
            </a:extLst>
          </p:cNvPr>
          <p:cNvSpPr/>
          <p:nvPr/>
        </p:nvSpPr>
        <p:spPr>
          <a:xfrm>
            <a:off x="952888" y="2039364"/>
            <a:ext cx="423175" cy="3429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175F234E-6E13-CFEA-8C74-01F12FF5D197}"/>
              </a:ext>
            </a:extLst>
          </p:cNvPr>
          <p:cNvSpPr txBox="1"/>
          <p:nvPr/>
        </p:nvSpPr>
        <p:spPr>
          <a:xfrm>
            <a:off x="1014305" y="2407251"/>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8" name="Rectángulo 7">
            <a:extLst>
              <a:ext uri="{FF2B5EF4-FFF2-40B4-BE49-F238E27FC236}">
                <a16:creationId xmlns:a16="http://schemas.microsoft.com/office/drawing/2014/main" id="{0BF594BF-7BEE-767D-FE41-865539EF58D4}"/>
              </a:ext>
            </a:extLst>
          </p:cNvPr>
          <p:cNvSpPr/>
          <p:nvPr/>
        </p:nvSpPr>
        <p:spPr>
          <a:xfrm>
            <a:off x="1393709" y="2039365"/>
            <a:ext cx="328629" cy="3429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4">
            <a:extLst>
              <a:ext uri="{FF2B5EF4-FFF2-40B4-BE49-F238E27FC236}">
                <a16:creationId xmlns:a16="http://schemas.microsoft.com/office/drawing/2014/main" id="{858C55A9-E323-9F1C-56F9-132E18E6749A}"/>
              </a:ext>
            </a:extLst>
          </p:cNvPr>
          <p:cNvSpPr/>
          <p:nvPr/>
        </p:nvSpPr>
        <p:spPr>
          <a:xfrm>
            <a:off x="5563455" y="2042685"/>
            <a:ext cx="981776" cy="32459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5F826489-20D2-E233-E4C3-4955B4BC469D}"/>
              </a:ext>
            </a:extLst>
          </p:cNvPr>
          <p:cNvSpPr/>
          <p:nvPr/>
        </p:nvSpPr>
        <p:spPr>
          <a:xfrm>
            <a:off x="4603130" y="2039364"/>
            <a:ext cx="981776" cy="32459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10">
            <a:extLst>
              <a:ext uri="{FF2B5EF4-FFF2-40B4-BE49-F238E27FC236}">
                <a16:creationId xmlns:a16="http://schemas.microsoft.com/office/drawing/2014/main" id="{815BCADA-122D-35E3-DE1C-ABA3AC1C0A10}"/>
              </a:ext>
            </a:extLst>
          </p:cNvPr>
          <p:cNvSpPr/>
          <p:nvPr/>
        </p:nvSpPr>
        <p:spPr>
          <a:xfrm>
            <a:off x="3897981" y="2039364"/>
            <a:ext cx="680551" cy="3359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11">
            <a:extLst>
              <a:ext uri="{FF2B5EF4-FFF2-40B4-BE49-F238E27FC236}">
                <a16:creationId xmlns:a16="http://schemas.microsoft.com/office/drawing/2014/main" id="{A5A64B47-3965-C76E-DD5A-95A0F41E5E1B}"/>
              </a:ext>
            </a:extLst>
          </p:cNvPr>
          <p:cNvSpPr/>
          <p:nvPr/>
        </p:nvSpPr>
        <p:spPr>
          <a:xfrm>
            <a:off x="1743530" y="2042684"/>
            <a:ext cx="742830" cy="3322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FFEC07A2-040F-ABAB-A16A-79BE80ABBDCC}"/>
              </a:ext>
            </a:extLst>
          </p:cNvPr>
          <p:cNvSpPr/>
          <p:nvPr/>
        </p:nvSpPr>
        <p:spPr>
          <a:xfrm>
            <a:off x="3236610" y="2039364"/>
            <a:ext cx="650064" cy="3307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CuadroTexto 14">
            <a:extLst>
              <a:ext uri="{FF2B5EF4-FFF2-40B4-BE49-F238E27FC236}">
                <a16:creationId xmlns:a16="http://schemas.microsoft.com/office/drawing/2014/main" id="{07860360-C114-6052-9993-7D817C68B885}"/>
              </a:ext>
            </a:extLst>
          </p:cNvPr>
          <p:cNvSpPr txBox="1"/>
          <p:nvPr/>
        </p:nvSpPr>
        <p:spPr>
          <a:xfrm>
            <a:off x="1407146" y="2415655"/>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7" name="CuadroTexto 16">
            <a:extLst>
              <a:ext uri="{FF2B5EF4-FFF2-40B4-BE49-F238E27FC236}">
                <a16:creationId xmlns:a16="http://schemas.microsoft.com/office/drawing/2014/main" id="{211FD0C9-A4C7-8CCE-2058-FE1DCACE7971}"/>
              </a:ext>
            </a:extLst>
          </p:cNvPr>
          <p:cNvSpPr txBox="1"/>
          <p:nvPr/>
        </p:nvSpPr>
        <p:spPr>
          <a:xfrm>
            <a:off x="1964068" y="2415655"/>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18" name="CuadroTexto 17">
            <a:extLst>
              <a:ext uri="{FF2B5EF4-FFF2-40B4-BE49-F238E27FC236}">
                <a16:creationId xmlns:a16="http://schemas.microsoft.com/office/drawing/2014/main" id="{30CFD9BA-047D-75E2-C80E-B777155C3B49}"/>
              </a:ext>
            </a:extLst>
          </p:cNvPr>
          <p:cNvSpPr txBox="1"/>
          <p:nvPr/>
        </p:nvSpPr>
        <p:spPr>
          <a:xfrm>
            <a:off x="4087379" y="2407251"/>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
        <p:nvSpPr>
          <p:cNvPr id="19" name="CuadroTexto 18">
            <a:extLst>
              <a:ext uri="{FF2B5EF4-FFF2-40B4-BE49-F238E27FC236}">
                <a16:creationId xmlns:a16="http://schemas.microsoft.com/office/drawing/2014/main" id="{B96C4AA2-2DFE-45E7-EF74-51C878A8686D}"/>
              </a:ext>
            </a:extLst>
          </p:cNvPr>
          <p:cNvSpPr txBox="1"/>
          <p:nvPr/>
        </p:nvSpPr>
        <p:spPr>
          <a:xfrm>
            <a:off x="3410765" y="2415655"/>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
        <p:nvSpPr>
          <p:cNvPr id="20" name="CuadroTexto 19">
            <a:extLst>
              <a:ext uri="{FF2B5EF4-FFF2-40B4-BE49-F238E27FC236}">
                <a16:creationId xmlns:a16="http://schemas.microsoft.com/office/drawing/2014/main" id="{DB781BEA-647B-BD1F-C323-1D225D0F5460}"/>
              </a:ext>
            </a:extLst>
          </p:cNvPr>
          <p:cNvSpPr txBox="1"/>
          <p:nvPr/>
        </p:nvSpPr>
        <p:spPr>
          <a:xfrm>
            <a:off x="4940673" y="2415655"/>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Tree>
    <p:extLst>
      <p:ext uri="{BB962C8B-B14F-4D97-AF65-F5344CB8AC3E}">
        <p14:creationId xmlns:p14="http://schemas.microsoft.com/office/powerpoint/2010/main" val="768326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1E70E-4FB0-2557-55D1-54AD8CBAF236}"/>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7C32AACE-E335-83B6-EE6A-5E7238E23B91}"/>
              </a:ext>
            </a:extLst>
          </p:cNvPr>
          <p:cNvPicPr>
            <a:picLocks noChangeAspect="1"/>
          </p:cNvPicPr>
          <p:nvPr/>
        </p:nvPicPr>
        <p:blipFill>
          <a:blip r:embed="rId3"/>
          <a:stretch>
            <a:fillRect/>
          </a:stretch>
        </p:blipFill>
        <p:spPr>
          <a:xfrm>
            <a:off x="994218" y="1150695"/>
            <a:ext cx="10645174" cy="5200356"/>
          </a:xfrm>
          <a:prstGeom prst="rect">
            <a:avLst/>
          </a:prstGeom>
        </p:spPr>
      </p:pic>
      <p:sp>
        <p:nvSpPr>
          <p:cNvPr id="3" name="Marcador de texto vertical 2">
            <a:extLst>
              <a:ext uri="{FF2B5EF4-FFF2-40B4-BE49-F238E27FC236}">
                <a16:creationId xmlns:a16="http://schemas.microsoft.com/office/drawing/2014/main" id="{68F42EB9-0E38-F8B3-405E-552CAD2FF8A3}"/>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FF70DA40-E717-40F5-5E0B-396C76CB2F52}"/>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90AE4B1C-D2C9-B037-942A-2ADC184F54B7}"/>
              </a:ext>
            </a:extLst>
          </p:cNvPr>
          <p:cNvSpPr/>
          <p:nvPr/>
        </p:nvSpPr>
        <p:spPr>
          <a:xfrm>
            <a:off x="3801979" y="3428999"/>
            <a:ext cx="4588042" cy="205867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100" dirty="0"/>
          </a:p>
          <a:p>
            <a:r>
              <a:rPr lang="es-CO" sz="1100" dirty="0"/>
              <a:t>10. Ingrese el tipo de horas acumuladas a usar para la selección de horas acumulativas inferior y superior. Los valores válidos son:</a:t>
            </a:r>
          </a:p>
          <a:p>
            <a:pPr marL="171450" indent="-171450">
              <a:buFont typeface="Arial" panose="020B0604020202020204" pitchFamily="34" charset="0"/>
              <a:buChar char="•"/>
            </a:pPr>
            <a:r>
              <a:rPr lang="es-CO" sz="1100" dirty="0"/>
              <a:t> </a:t>
            </a:r>
            <a:r>
              <a:rPr lang="es-CO" sz="1100" b="1" dirty="0"/>
              <a:t>A</a:t>
            </a:r>
            <a:r>
              <a:rPr lang="es-CO" sz="1100" i="1" dirty="0"/>
              <a:t>:</a:t>
            </a:r>
            <a:r>
              <a:rPr lang="es-CO" sz="1100" dirty="0"/>
              <a:t> Intentadas</a:t>
            </a:r>
          </a:p>
          <a:p>
            <a:pPr marL="171450" indent="-171450">
              <a:buFont typeface="Arial" panose="020B0604020202020204" pitchFamily="34" charset="0"/>
              <a:buChar char="•"/>
            </a:pPr>
            <a:r>
              <a:rPr lang="es-CO" sz="1100" dirty="0"/>
              <a:t> </a:t>
            </a:r>
            <a:r>
              <a:rPr lang="es-CO" sz="1100" b="1" dirty="0"/>
              <a:t>E</a:t>
            </a:r>
            <a:r>
              <a:rPr lang="es-CO" sz="1100" i="1" dirty="0"/>
              <a:t>: </a:t>
            </a:r>
            <a:r>
              <a:rPr lang="es-CO" sz="1100" dirty="0"/>
              <a:t>Ganadas</a:t>
            </a:r>
          </a:p>
          <a:p>
            <a:pPr marL="171450" indent="-171450">
              <a:buFont typeface="Arial" panose="020B0604020202020204" pitchFamily="34" charset="0"/>
              <a:buChar char="•"/>
            </a:pPr>
            <a:r>
              <a:rPr lang="es-CO" sz="1100" dirty="0"/>
              <a:t> </a:t>
            </a:r>
            <a:r>
              <a:rPr lang="es-CO" sz="1100" b="1" dirty="0"/>
              <a:t>P</a:t>
            </a:r>
            <a:r>
              <a:rPr lang="es-CO" sz="1100" i="1" dirty="0"/>
              <a:t>: </a:t>
            </a:r>
            <a:r>
              <a:rPr lang="es-CO" sz="1100" dirty="0"/>
              <a:t>Aprobadas</a:t>
            </a:r>
          </a:p>
          <a:p>
            <a:pPr marL="171450" indent="-171450">
              <a:buFont typeface="Arial" panose="020B0604020202020204" pitchFamily="34" charset="0"/>
              <a:buChar char="•"/>
            </a:pPr>
            <a:r>
              <a:rPr lang="es-CO" sz="1100" dirty="0"/>
              <a:t> </a:t>
            </a:r>
            <a:r>
              <a:rPr lang="es-CO" sz="1100" b="1" dirty="0"/>
              <a:t>G</a:t>
            </a:r>
            <a:r>
              <a:rPr lang="es-CO" sz="1100" i="1" dirty="0"/>
              <a:t>: Promedio</a:t>
            </a:r>
            <a:endParaRPr lang="es-CO" sz="1100" dirty="0"/>
          </a:p>
          <a:p>
            <a:r>
              <a:rPr lang="es-CO" sz="1100" dirty="0"/>
              <a:t>11. </a:t>
            </a:r>
            <a:r>
              <a:rPr lang="es-ES_tradnl" sz="1100" dirty="0"/>
              <a:t>Desplace la página hacia la derecha.</a:t>
            </a:r>
            <a:endParaRPr lang="es-CO" sz="1100" dirty="0"/>
          </a:p>
          <a:p>
            <a:pPr marL="228600" indent="-228600">
              <a:buFontTx/>
              <a:buAutoNum type="arabicPeriod"/>
            </a:pPr>
            <a:endParaRPr lang="es-ES_tradnl" sz="1100" dirty="0"/>
          </a:p>
        </p:txBody>
      </p:sp>
      <p:sp>
        <p:nvSpPr>
          <p:cNvPr id="9" name="CuadroTexto 8">
            <a:extLst>
              <a:ext uri="{FF2B5EF4-FFF2-40B4-BE49-F238E27FC236}">
                <a16:creationId xmlns:a16="http://schemas.microsoft.com/office/drawing/2014/main" id="{E5DF76EE-5A2E-50CC-7FE0-0952BE4A71A2}"/>
              </a:ext>
            </a:extLst>
          </p:cNvPr>
          <p:cNvSpPr txBox="1"/>
          <p:nvPr/>
        </p:nvSpPr>
        <p:spPr>
          <a:xfrm>
            <a:off x="6493075" y="1757846"/>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5" name="Rectángulo 4">
            <a:extLst>
              <a:ext uri="{FF2B5EF4-FFF2-40B4-BE49-F238E27FC236}">
                <a16:creationId xmlns:a16="http://schemas.microsoft.com/office/drawing/2014/main" id="{BD5E460D-E30A-F4F6-1BA3-375C3A1015EE}"/>
              </a:ext>
            </a:extLst>
          </p:cNvPr>
          <p:cNvSpPr/>
          <p:nvPr/>
        </p:nvSpPr>
        <p:spPr>
          <a:xfrm>
            <a:off x="6493076" y="2047985"/>
            <a:ext cx="301753" cy="36184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9FC56C08-B0B8-1D5D-6529-06C318C3F829}"/>
              </a:ext>
            </a:extLst>
          </p:cNvPr>
          <p:cNvSpPr/>
          <p:nvPr/>
        </p:nvSpPr>
        <p:spPr>
          <a:xfrm>
            <a:off x="11456583" y="2330721"/>
            <a:ext cx="200248" cy="15820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0" name="CuadroTexto 19">
            <a:extLst>
              <a:ext uri="{FF2B5EF4-FFF2-40B4-BE49-F238E27FC236}">
                <a16:creationId xmlns:a16="http://schemas.microsoft.com/office/drawing/2014/main" id="{16A1E40B-A6F6-CE93-C3A4-1F561E239EB2}"/>
              </a:ext>
            </a:extLst>
          </p:cNvPr>
          <p:cNvSpPr txBox="1"/>
          <p:nvPr/>
        </p:nvSpPr>
        <p:spPr>
          <a:xfrm>
            <a:off x="11402322" y="2531795"/>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Tree>
    <p:extLst>
      <p:ext uri="{BB962C8B-B14F-4D97-AF65-F5344CB8AC3E}">
        <p14:creationId xmlns:p14="http://schemas.microsoft.com/office/powerpoint/2010/main" val="1462533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8D6AF-0072-809B-6080-1F504FFB200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7D93592-5AF5-DB64-B24B-15EF5EA33384}"/>
              </a:ext>
            </a:extLst>
          </p:cNvPr>
          <p:cNvPicPr>
            <a:picLocks noChangeAspect="1"/>
          </p:cNvPicPr>
          <p:nvPr/>
        </p:nvPicPr>
        <p:blipFill>
          <a:blip r:embed="rId3"/>
          <a:stretch>
            <a:fillRect/>
          </a:stretch>
        </p:blipFill>
        <p:spPr>
          <a:xfrm>
            <a:off x="994218" y="1102412"/>
            <a:ext cx="10710841" cy="5260288"/>
          </a:xfrm>
          <a:prstGeom prst="rect">
            <a:avLst/>
          </a:prstGeom>
        </p:spPr>
      </p:pic>
      <p:sp>
        <p:nvSpPr>
          <p:cNvPr id="3" name="Marcador de texto vertical 2">
            <a:extLst>
              <a:ext uri="{FF2B5EF4-FFF2-40B4-BE49-F238E27FC236}">
                <a16:creationId xmlns:a16="http://schemas.microsoft.com/office/drawing/2014/main" id="{FE20E92B-5DC7-B4CB-3B13-A35CF10BE852}"/>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87A5DBA0-4D46-8F3B-12B1-9C8BC07B806A}"/>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A71E207C-0A59-6422-8D3C-437D9AB362FD}"/>
              </a:ext>
            </a:extLst>
          </p:cNvPr>
          <p:cNvSpPr/>
          <p:nvPr/>
        </p:nvSpPr>
        <p:spPr>
          <a:xfrm>
            <a:off x="1947473" y="3326152"/>
            <a:ext cx="7856684" cy="225490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100" dirty="0"/>
          </a:p>
          <a:p>
            <a:endParaRPr lang="es-CO" sz="1100" dirty="0"/>
          </a:p>
          <a:p>
            <a:endParaRPr lang="es-CO" sz="1100" dirty="0"/>
          </a:p>
          <a:p>
            <a:r>
              <a:rPr lang="es-CO" sz="1100" dirty="0"/>
              <a:t>12. Ingrese, si aplica,  el promedio institucional mínimo que debe tener el alumno en el período para que se le aplique la regla.</a:t>
            </a:r>
            <a:endParaRPr lang="es-ES_tradnl" sz="1100" dirty="0"/>
          </a:p>
          <a:p>
            <a:r>
              <a:rPr lang="es-ES_tradnl" sz="1100" dirty="0"/>
              <a:t>13. </a:t>
            </a:r>
            <a:r>
              <a:rPr lang="es-CO" sz="1100" dirty="0"/>
              <a:t>Ingrese , si aplica, el promedio institucional máximo que debe tener el alumno en el período para que se le aplique la regla.</a:t>
            </a:r>
          </a:p>
          <a:p>
            <a:r>
              <a:rPr lang="es-CO" sz="1100" dirty="0"/>
              <a:t>14. Ingrese, si aplica,  el promedio institucional acumulado mínimo que debe tener el alumno para que se le aplique la regla.</a:t>
            </a:r>
          </a:p>
          <a:p>
            <a:r>
              <a:rPr lang="es-CO" sz="1100" dirty="0"/>
              <a:t>15. Ingrese , si aplica, el promedio institucional acumulado máximo que debe tener el alumno para que se le aplique la regla.</a:t>
            </a:r>
          </a:p>
          <a:p>
            <a:r>
              <a:rPr lang="es-CO" sz="1100" dirty="0"/>
              <a:t>16. Ingrese, si aplica, el rango de  promedio general (cursos institucionales y de transferencia) acumulado que debe tener el alumno para que se le aplique la regla.</a:t>
            </a:r>
          </a:p>
          <a:p>
            <a:r>
              <a:rPr lang="es-CO" sz="1100" dirty="0"/>
              <a:t>17. Seleccione el código de estado académico </a:t>
            </a:r>
            <a:r>
              <a:rPr lang="es-CO" sz="1100" b="1" dirty="0"/>
              <a:t>final</a:t>
            </a:r>
            <a:r>
              <a:rPr lang="es-CO" sz="1100" dirty="0"/>
              <a:t> que tiene se le asignará al estudiante cuando se aplique la regla.</a:t>
            </a:r>
          </a:p>
          <a:p>
            <a:r>
              <a:rPr lang="es-CO" sz="1100" dirty="0"/>
              <a:t>18. </a:t>
            </a:r>
            <a:r>
              <a:rPr lang="es-ES_tradnl" sz="1100" dirty="0"/>
              <a:t>Guarde la información</a:t>
            </a:r>
          </a:p>
          <a:p>
            <a:endParaRPr lang="es-CO" sz="1100" dirty="0"/>
          </a:p>
          <a:p>
            <a:endParaRPr lang="es-CO" sz="1100" dirty="0"/>
          </a:p>
          <a:p>
            <a:endParaRPr lang="es-CO" sz="1100" dirty="0"/>
          </a:p>
          <a:p>
            <a:endParaRPr lang="es-CO" sz="1100" dirty="0"/>
          </a:p>
        </p:txBody>
      </p:sp>
      <p:sp>
        <p:nvSpPr>
          <p:cNvPr id="9" name="CuadroTexto 8">
            <a:extLst>
              <a:ext uri="{FF2B5EF4-FFF2-40B4-BE49-F238E27FC236}">
                <a16:creationId xmlns:a16="http://schemas.microsoft.com/office/drawing/2014/main" id="{88D07F76-DE08-74EA-7C63-9DF3B2A876F8}"/>
              </a:ext>
            </a:extLst>
          </p:cNvPr>
          <p:cNvSpPr txBox="1"/>
          <p:nvPr/>
        </p:nvSpPr>
        <p:spPr>
          <a:xfrm>
            <a:off x="6345180" y="1724395"/>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
        <p:nvSpPr>
          <p:cNvPr id="5" name="Rectángulo 4">
            <a:extLst>
              <a:ext uri="{FF2B5EF4-FFF2-40B4-BE49-F238E27FC236}">
                <a16:creationId xmlns:a16="http://schemas.microsoft.com/office/drawing/2014/main" id="{EC7A13FF-2620-5758-C63D-C2EC00EC0322}"/>
              </a:ext>
            </a:extLst>
          </p:cNvPr>
          <p:cNvSpPr/>
          <p:nvPr/>
        </p:nvSpPr>
        <p:spPr>
          <a:xfrm>
            <a:off x="5996917" y="2000362"/>
            <a:ext cx="1019579" cy="33604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DB1E53F8-8F54-E20E-A87A-CBDE155670C6}"/>
              </a:ext>
            </a:extLst>
          </p:cNvPr>
          <p:cNvSpPr/>
          <p:nvPr/>
        </p:nvSpPr>
        <p:spPr>
          <a:xfrm>
            <a:off x="4910107" y="2000362"/>
            <a:ext cx="1071594" cy="33604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0" name="CuadroTexto 19">
            <a:extLst>
              <a:ext uri="{FF2B5EF4-FFF2-40B4-BE49-F238E27FC236}">
                <a16:creationId xmlns:a16="http://schemas.microsoft.com/office/drawing/2014/main" id="{83E83D4E-8764-D607-B620-6E943BA0073E}"/>
              </a:ext>
            </a:extLst>
          </p:cNvPr>
          <p:cNvSpPr txBox="1"/>
          <p:nvPr/>
        </p:nvSpPr>
        <p:spPr>
          <a:xfrm>
            <a:off x="5295027" y="2386420"/>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
        <p:nvSpPr>
          <p:cNvPr id="11" name="Rectángulo 10">
            <a:extLst>
              <a:ext uri="{FF2B5EF4-FFF2-40B4-BE49-F238E27FC236}">
                <a16:creationId xmlns:a16="http://schemas.microsoft.com/office/drawing/2014/main" id="{79FB6540-1458-5F2F-F057-039D2BE55182}"/>
              </a:ext>
            </a:extLst>
          </p:cNvPr>
          <p:cNvSpPr/>
          <p:nvPr/>
        </p:nvSpPr>
        <p:spPr>
          <a:xfrm>
            <a:off x="7038226" y="2004067"/>
            <a:ext cx="1231258" cy="3323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11">
            <a:extLst>
              <a:ext uri="{FF2B5EF4-FFF2-40B4-BE49-F238E27FC236}">
                <a16:creationId xmlns:a16="http://schemas.microsoft.com/office/drawing/2014/main" id="{AD043DD0-CDA9-D04E-47E0-6AEBDC03985C}"/>
              </a:ext>
            </a:extLst>
          </p:cNvPr>
          <p:cNvSpPr/>
          <p:nvPr/>
        </p:nvSpPr>
        <p:spPr>
          <a:xfrm>
            <a:off x="8291215" y="2003533"/>
            <a:ext cx="1231258" cy="3323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CuadroTexto 13">
            <a:extLst>
              <a:ext uri="{FF2B5EF4-FFF2-40B4-BE49-F238E27FC236}">
                <a16:creationId xmlns:a16="http://schemas.microsoft.com/office/drawing/2014/main" id="{6E430266-B5E0-6E4C-522C-0E728AC80CA0}"/>
              </a:ext>
            </a:extLst>
          </p:cNvPr>
          <p:cNvSpPr txBox="1"/>
          <p:nvPr/>
        </p:nvSpPr>
        <p:spPr>
          <a:xfrm>
            <a:off x="8755967" y="1738137"/>
            <a:ext cx="301753" cy="215444"/>
          </a:xfrm>
          <a:prstGeom prst="rect">
            <a:avLst/>
          </a:prstGeom>
          <a:solidFill>
            <a:schemeClr val="accent1"/>
          </a:solidFill>
        </p:spPr>
        <p:txBody>
          <a:bodyPr wrap="square" rtlCol="0">
            <a:spAutoFit/>
          </a:bodyPr>
          <a:lstStyle/>
          <a:p>
            <a:r>
              <a:rPr lang="en-US" sz="800" b="1" dirty="0">
                <a:solidFill>
                  <a:schemeClr val="bg1"/>
                </a:solidFill>
              </a:rPr>
              <a:t>15</a:t>
            </a:r>
          </a:p>
        </p:txBody>
      </p:sp>
      <p:sp>
        <p:nvSpPr>
          <p:cNvPr id="15" name="CuadroTexto 14">
            <a:extLst>
              <a:ext uri="{FF2B5EF4-FFF2-40B4-BE49-F238E27FC236}">
                <a16:creationId xmlns:a16="http://schemas.microsoft.com/office/drawing/2014/main" id="{400C31CF-7DA5-7D92-6B04-918D26C3BC20}"/>
              </a:ext>
            </a:extLst>
          </p:cNvPr>
          <p:cNvSpPr txBox="1"/>
          <p:nvPr/>
        </p:nvSpPr>
        <p:spPr>
          <a:xfrm>
            <a:off x="7502978" y="2397771"/>
            <a:ext cx="301753" cy="215444"/>
          </a:xfrm>
          <a:prstGeom prst="rect">
            <a:avLst/>
          </a:prstGeom>
          <a:solidFill>
            <a:schemeClr val="accent1"/>
          </a:solidFill>
        </p:spPr>
        <p:txBody>
          <a:bodyPr wrap="square" rtlCol="0">
            <a:spAutoFit/>
          </a:bodyPr>
          <a:lstStyle/>
          <a:p>
            <a:r>
              <a:rPr lang="en-US" sz="800" b="1" dirty="0">
                <a:solidFill>
                  <a:schemeClr val="bg1"/>
                </a:solidFill>
              </a:rPr>
              <a:t>14</a:t>
            </a:r>
          </a:p>
        </p:txBody>
      </p:sp>
      <p:sp>
        <p:nvSpPr>
          <p:cNvPr id="16" name="Rectángulo 15">
            <a:extLst>
              <a:ext uri="{FF2B5EF4-FFF2-40B4-BE49-F238E27FC236}">
                <a16:creationId xmlns:a16="http://schemas.microsoft.com/office/drawing/2014/main" id="{8B3BEF59-68CF-97B8-C163-4F6ED872F3F8}"/>
              </a:ext>
            </a:extLst>
          </p:cNvPr>
          <p:cNvSpPr/>
          <p:nvPr/>
        </p:nvSpPr>
        <p:spPr>
          <a:xfrm>
            <a:off x="9494833" y="1998685"/>
            <a:ext cx="1685440" cy="3371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CuadroTexto 17">
            <a:extLst>
              <a:ext uri="{FF2B5EF4-FFF2-40B4-BE49-F238E27FC236}">
                <a16:creationId xmlns:a16="http://schemas.microsoft.com/office/drawing/2014/main" id="{00E66E35-501E-6675-2B1C-183D308C19CC}"/>
              </a:ext>
            </a:extLst>
          </p:cNvPr>
          <p:cNvSpPr txBox="1"/>
          <p:nvPr/>
        </p:nvSpPr>
        <p:spPr>
          <a:xfrm>
            <a:off x="10186676" y="2386420"/>
            <a:ext cx="301753" cy="215444"/>
          </a:xfrm>
          <a:prstGeom prst="rect">
            <a:avLst/>
          </a:prstGeom>
          <a:solidFill>
            <a:schemeClr val="accent1"/>
          </a:solidFill>
        </p:spPr>
        <p:txBody>
          <a:bodyPr wrap="square" rtlCol="0">
            <a:spAutoFit/>
          </a:bodyPr>
          <a:lstStyle/>
          <a:p>
            <a:r>
              <a:rPr lang="en-US" sz="800" b="1" dirty="0">
                <a:solidFill>
                  <a:schemeClr val="bg1"/>
                </a:solidFill>
              </a:rPr>
              <a:t>16</a:t>
            </a:r>
          </a:p>
        </p:txBody>
      </p:sp>
      <p:sp>
        <p:nvSpPr>
          <p:cNvPr id="21" name="Rectángulo 20">
            <a:extLst>
              <a:ext uri="{FF2B5EF4-FFF2-40B4-BE49-F238E27FC236}">
                <a16:creationId xmlns:a16="http://schemas.microsoft.com/office/drawing/2014/main" id="{07A1F8FD-F7EF-7A6D-8C94-5EEEFB2B5C99}"/>
              </a:ext>
            </a:extLst>
          </p:cNvPr>
          <p:cNvSpPr/>
          <p:nvPr/>
        </p:nvSpPr>
        <p:spPr>
          <a:xfrm>
            <a:off x="11212686" y="1998664"/>
            <a:ext cx="492373" cy="3323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Rectángulo 21">
            <a:extLst>
              <a:ext uri="{FF2B5EF4-FFF2-40B4-BE49-F238E27FC236}">
                <a16:creationId xmlns:a16="http://schemas.microsoft.com/office/drawing/2014/main" id="{E0B8B968-B606-6BF2-B357-719CBE78033A}"/>
              </a:ext>
            </a:extLst>
          </p:cNvPr>
          <p:cNvSpPr/>
          <p:nvPr/>
        </p:nvSpPr>
        <p:spPr>
          <a:xfrm>
            <a:off x="11212686" y="6059212"/>
            <a:ext cx="524786" cy="2259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3" name="CuadroTexto 22">
            <a:extLst>
              <a:ext uri="{FF2B5EF4-FFF2-40B4-BE49-F238E27FC236}">
                <a16:creationId xmlns:a16="http://schemas.microsoft.com/office/drawing/2014/main" id="{2EEB1C62-04B0-0574-AD56-88592C83B291}"/>
              </a:ext>
            </a:extLst>
          </p:cNvPr>
          <p:cNvSpPr txBox="1"/>
          <p:nvPr/>
        </p:nvSpPr>
        <p:spPr>
          <a:xfrm>
            <a:off x="11307995" y="5777126"/>
            <a:ext cx="301753" cy="215444"/>
          </a:xfrm>
          <a:prstGeom prst="rect">
            <a:avLst/>
          </a:prstGeom>
          <a:solidFill>
            <a:schemeClr val="accent1"/>
          </a:solidFill>
        </p:spPr>
        <p:txBody>
          <a:bodyPr wrap="square" rtlCol="0">
            <a:spAutoFit/>
          </a:bodyPr>
          <a:lstStyle/>
          <a:p>
            <a:r>
              <a:rPr lang="en-US" sz="800" b="1" dirty="0">
                <a:solidFill>
                  <a:schemeClr val="bg1"/>
                </a:solidFill>
              </a:rPr>
              <a:t>18</a:t>
            </a:r>
          </a:p>
        </p:txBody>
      </p:sp>
      <p:sp>
        <p:nvSpPr>
          <p:cNvPr id="24" name="CuadroTexto 23">
            <a:extLst>
              <a:ext uri="{FF2B5EF4-FFF2-40B4-BE49-F238E27FC236}">
                <a16:creationId xmlns:a16="http://schemas.microsoft.com/office/drawing/2014/main" id="{3CE914B5-1508-C9AC-1279-36A902069A48}"/>
              </a:ext>
            </a:extLst>
          </p:cNvPr>
          <p:cNvSpPr txBox="1"/>
          <p:nvPr/>
        </p:nvSpPr>
        <p:spPr>
          <a:xfrm>
            <a:off x="11307995" y="1749899"/>
            <a:ext cx="301753" cy="215444"/>
          </a:xfrm>
          <a:prstGeom prst="rect">
            <a:avLst/>
          </a:prstGeom>
          <a:solidFill>
            <a:schemeClr val="accent1"/>
          </a:solidFill>
        </p:spPr>
        <p:txBody>
          <a:bodyPr wrap="square" rtlCol="0">
            <a:spAutoFit/>
          </a:bodyPr>
          <a:lstStyle/>
          <a:p>
            <a:r>
              <a:rPr lang="en-US" sz="800" b="1" dirty="0">
                <a:solidFill>
                  <a:schemeClr val="bg1"/>
                </a:solidFill>
              </a:rPr>
              <a:t>17</a:t>
            </a:r>
          </a:p>
        </p:txBody>
      </p:sp>
    </p:spTree>
    <p:extLst>
      <p:ext uri="{BB962C8B-B14F-4D97-AF65-F5344CB8AC3E}">
        <p14:creationId xmlns:p14="http://schemas.microsoft.com/office/powerpoint/2010/main" val="41993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D719CA05-9083-A3ED-06EA-7359CC176656}"/>
              </a:ext>
            </a:extLst>
          </p:cNvPr>
          <p:cNvSpPr>
            <a:spLocks noGrp="1"/>
          </p:cNvSpPr>
          <p:nvPr>
            <p:ph type="body" orient="vert" sz="quarter" idx="10"/>
          </p:nvPr>
        </p:nvSpPr>
        <p:spPr/>
        <p:txBody>
          <a:bodyPr/>
          <a:lstStyle/>
          <a:p>
            <a:r>
              <a:rPr lang="es-CO" dirty="0"/>
              <a:t>Gestionar el estado académico</a:t>
            </a:r>
            <a:endParaRPr lang="es-419" dirty="0"/>
          </a:p>
        </p:txBody>
      </p:sp>
      <p:sp>
        <p:nvSpPr>
          <p:cNvPr id="2" name="Title 1"/>
          <p:cNvSpPr>
            <a:spLocks noGrp="1"/>
          </p:cNvSpPr>
          <p:nvPr>
            <p:ph type="title"/>
          </p:nvPr>
        </p:nvSpPr>
        <p:spPr/>
        <p:txBody>
          <a:bodyPr/>
          <a:lstStyle/>
          <a:p>
            <a:r>
              <a:rPr lang="es-ES_tradnl" dirty="0"/>
              <a:t>Cuadro de honor</a:t>
            </a:r>
          </a:p>
        </p:txBody>
      </p:sp>
      <p:sp>
        <p:nvSpPr>
          <p:cNvPr id="5" name="Marcador de texto 4">
            <a:extLst>
              <a:ext uri="{FF2B5EF4-FFF2-40B4-BE49-F238E27FC236}">
                <a16:creationId xmlns:a16="http://schemas.microsoft.com/office/drawing/2014/main" id="{B4EBD68D-9719-0BB9-D755-67B8742A731C}"/>
              </a:ext>
            </a:extLst>
          </p:cNvPr>
          <p:cNvSpPr>
            <a:spLocks noGrp="1"/>
          </p:cNvSpPr>
          <p:nvPr>
            <p:ph type="body" sz="quarter" idx="18"/>
          </p:nvPr>
        </p:nvSpPr>
        <p:spPr/>
        <p:txBody>
          <a:bodyPr/>
          <a:lstStyle/>
          <a:p>
            <a:r>
              <a:rPr lang="es-CO" dirty="0"/>
              <a:t>Reglas basadas en las horas y/o promedio del estudiante.</a:t>
            </a:r>
            <a:endParaRPr lang="es-ES_tradnl" dirty="0"/>
          </a:p>
          <a:p>
            <a:endParaRPr lang="es-419" dirty="0"/>
          </a:p>
        </p:txBody>
      </p:sp>
    </p:spTree>
    <p:extLst>
      <p:ext uri="{BB962C8B-B14F-4D97-AF65-F5344CB8AC3E}">
        <p14:creationId xmlns:p14="http://schemas.microsoft.com/office/powerpoint/2010/main" val="2484261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3F4DF-70DF-B310-2977-EE90698795A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EE4D2EE-36DA-6868-57DC-35C2E38B01BC}"/>
              </a:ext>
            </a:extLst>
          </p:cNvPr>
          <p:cNvPicPr>
            <a:picLocks noChangeAspect="1"/>
          </p:cNvPicPr>
          <p:nvPr/>
        </p:nvPicPr>
        <p:blipFill>
          <a:blip r:embed="rId3"/>
          <a:stretch>
            <a:fillRect/>
          </a:stretch>
        </p:blipFill>
        <p:spPr>
          <a:xfrm>
            <a:off x="994218" y="1107829"/>
            <a:ext cx="10645174" cy="3739444"/>
          </a:xfrm>
          <a:prstGeom prst="rect">
            <a:avLst/>
          </a:prstGeom>
        </p:spPr>
      </p:pic>
      <p:sp>
        <p:nvSpPr>
          <p:cNvPr id="3" name="Marcador de texto vertical 2">
            <a:extLst>
              <a:ext uri="{FF2B5EF4-FFF2-40B4-BE49-F238E27FC236}">
                <a16:creationId xmlns:a16="http://schemas.microsoft.com/office/drawing/2014/main" id="{487214A4-DC85-14A9-0816-2E0CC0B8E2E5}"/>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5A8DB6EB-2CBD-2FB1-1BD6-8DEA1F8A0323}"/>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Cuadro de honor</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79FE8A1B-FE73-C9EB-CC8B-BD5CF65F3869}"/>
              </a:ext>
            </a:extLst>
          </p:cNvPr>
          <p:cNvSpPr/>
          <p:nvPr/>
        </p:nvSpPr>
        <p:spPr>
          <a:xfrm>
            <a:off x="994218" y="3449265"/>
            <a:ext cx="10645174" cy="143690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r>
              <a:rPr lang="es-ES_tradnl" sz="1100" dirty="0"/>
              <a:t>Dentro de SHAACST seleccione el código de nivel para el que va a establecer la regla.</a:t>
            </a:r>
          </a:p>
          <a:p>
            <a:pPr marL="228600" indent="-228600">
              <a:buFontTx/>
              <a:buAutoNum type="arabicPeriod"/>
            </a:pPr>
            <a:r>
              <a:rPr lang="es-ES_tradnl" sz="1100" dirty="0"/>
              <a:t>Ingrese el código 99.</a:t>
            </a:r>
          </a:p>
        </p:txBody>
      </p:sp>
      <p:sp>
        <p:nvSpPr>
          <p:cNvPr id="9" name="CuadroTexto 8">
            <a:extLst>
              <a:ext uri="{FF2B5EF4-FFF2-40B4-BE49-F238E27FC236}">
                <a16:creationId xmlns:a16="http://schemas.microsoft.com/office/drawing/2014/main" id="{B3267344-219F-24CD-D0AE-86BC249F782C}"/>
              </a:ext>
            </a:extLst>
          </p:cNvPr>
          <p:cNvSpPr txBox="1"/>
          <p:nvPr/>
        </p:nvSpPr>
        <p:spPr>
          <a:xfrm>
            <a:off x="6963137" y="1890511"/>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16" name="Rectángulo 15">
            <a:extLst>
              <a:ext uri="{FF2B5EF4-FFF2-40B4-BE49-F238E27FC236}">
                <a16:creationId xmlns:a16="http://schemas.microsoft.com/office/drawing/2014/main" id="{97DE64D1-AEDE-1BCE-6C28-50A42A3149A4}"/>
              </a:ext>
            </a:extLst>
          </p:cNvPr>
          <p:cNvSpPr/>
          <p:nvPr/>
        </p:nvSpPr>
        <p:spPr>
          <a:xfrm>
            <a:off x="1409913" y="1615206"/>
            <a:ext cx="1715529"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DEA35847-F7A1-BC02-E047-E40C19423BA9}"/>
              </a:ext>
            </a:extLst>
          </p:cNvPr>
          <p:cNvSpPr txBox="1"/>
          <p:nvPr/>
        </p:nvSpPr>
        <p:spPr>
          <a:xfrm>
            <a:off x="2116800" y="1908452"/>
            <a:ext cx="301753"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8" name="Rectángulo 7">
            <a:extLst>
              <a:ext uri="{FF2B5EF4-FFF2-40B4-BE49-F238E27FC236}">
                <a16:creationId xmlns:a16="http://schemas.microsoft.com/office/drawing/2014/main" id="{17B6C830-9202-BF55-D33D-326AD588506A}"/>
              </a:ext>
            </a:extLst>
          </p:cNvPr>
          <p:cNvSpPr/>
          <p:nvPr/>
        </p:nvSpPr>
        <p:spPr>
          <a:xfrm>
            <a:off x="6220569" y="1625112"/>
            <a:ext cx="1786891" cy="2057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529147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9F20-C8A1-FB0B-6F52-3441E0771A67}"/>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78AB18A9-7BDC-8FCA-DA7B-57832ACB0262}"/>
              </a:ext>
            </a:extLst>
          </p:cNvPr>
          <p:cNvPicPr>
            <a:picLocks noChangeAspect="1"/>
          </p:cNvPicPr>
          <p:nvPr/>
        </p:nvPicPr>
        <p:blipFill>
          <a:blip r:embed="rId3"/>
          <a:stretch>
            <a:fillRect/>
          </a:stretch>
        </p:blipFill>
        <p:spPr>
          <a:xfrm>
            <a:off x="994218" y="1102412"/>
            <a:ext cx="10710841" cy="5260288"/>
          </a:xfrm>
          <a:prstGeom prst="rect">
            <a:avLst/>
          </a:prstGeom>
        </p:spPr>
      </p:pic>
      <p:sp>
        <p:nvSpPr>
          <p:cNvPr id="3" name="Marcador de texto vertical 2">
            <a:extLst>
              <a:ext uri="{FF2B5EF4-FFF2-40B4-BE49-F238E27FC236}">
                <a16:creationId xmlns:a16="http://schemas.microsoft.com/office/drawing/2014/main" id="{3A808F4E-8566-A968-A20A-A60E240D3B5B}"/>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1144645C-1A4A-CE60-63B6-0CA6418E10BF}"/>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Cuadro de honor</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7086599E-A4C6-5CA0-AB0E-93D7755787EE}"/>
              </a:ext>
            </a:extLst>
          </p:cNvPr>
          <p:cNvSpPr/>
          <p:nvPr/>
        </p:nvSpPr>
        <p:spPr>
          <a:xfrm>
            <a:off x="994218" y="4720059"/>
            <a:ext cx="10645174" cy="58896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3. Pase al siguiente bloque</a:t>
            </a:r>
          </a:p>
          <a:p>
            <a:endParaRPr lang="es-ES_tradnl" sz="1100" dirty="0"/>
          </a:p>
        </p:txBody>
      </p:sp>
      <p:sp>
        <p:nvSpPr>
          <p:cNvPr id="16" name="Rectángulo 15">
            <a:extLst>
              <a:ext uri="{FF2B5EF4-FFF2-40B4-BE49-F238E27FC236}">
                <a16:creationId xmlns:a16="http://schemas.microsoft.com/office/drawing/2014/main" id="{B1D76DBD-4BC9-3A0E-8223-CC096C1C33F5}"/>
              </a:ext>
            </a:extLst>
          </p:cNvPr>
          <p:cNvSpPr/>
          <p:nvPr/>
        </p:nvSpPr>
        <p:spPr>
          <a:xfrm>
            <a:off x="1278690" y="6061686"/>
            <a:ext cx="254835" cy="2210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AE168133-8DC0-AE22-7F51-14C718A786BA}"/>
              </a:ext>
            </a:extLst>
          </p:cNvPr>
          <p:cNvSpPr txBox="1"/>
          <p:nvPr/>
        </p:nvSpPr>
        <p:spPr>
          <a:xfrm>
            <a:off x="1255230" y="5755588"/>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3839288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0057-9E29-CA80-6FD6-9735BBF7252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547DA7D-8283-60F7-F7A5-2B033E01D2EB}"/>
              </a:ext>
            </a:extLst>
          </p:cNvPr>
          <p:cNvPicPr>
            <a:picLocks noChangeAspect="1"/>
          </p:cNvPicPr>
          <p:nvPr/>
        </p:nvPicPr>
        <p:blipFill>
          <a:blip r:embed="rId3"/>
          <a:stretch>
            <a:fillRect/>
          </a:stretch>
        </p:blipFill>
        <p:spPr>
          <a:xfrm>
            <a:off x="994218" y="1141170"/>
            <a:ext cx="10738293" cy="5282140"/>
          </a:xfrm>
          <a:prstGeom prst="rect">
            <a:avLst/>
          </a:prstGeom>
        </p:spPr>
      </p:pic>
      <p:sp>
        <p:nvSpPr>
          <p:cNvPr id="3" name="Marcador de texto vertical 2">
            <a:extLst>
              <a:ext uri="{FF2B5EF4-FFF2-40B4-BE49-F238E27FC236}">
                <a16:creationId xmlns:a16="http://schemas.microsoft.com/office/drawing/2014/main" id="{B9730D63-D13E-B617-808A-D7739C690E8D}"/>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784C1CC6-113E-B555-5B85-7BA763EBE5EB}"/>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8C8DBD0F-AEC2-7A62-02B5-7C4F3CB531F0}"/>
              </a:ext>
            </a:extLst>
          </p:cNvPr>
          <p:cNvSpPr/>
          <p:nvPr/>
        </p:nvSpPr>
        <p:spPr>
          <a:xfrm>
            <a:off x="994218" y="3354903"/>
            <a:ext cx="10645174" cy="205867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4. Seleccione el periodo para el cual se está definiendo la regla de Cuadro de Honor.</a:t>
            </a:r>
          </a:p>
          <a:p>
            <a:r>
              <a:rPr lang="es-ES_tradnl" sz="1100" dirty="0"/>
              <a:t>5. Ingrese la sigla “I” en Tipo de promedio.</a:t>
            </a:r>
          </a:p>
          <a:p>
            <a:r>
              <a:rPr lang="es-ES_tradnl" sz="1100" dirty="0"/>
              <a:t>6. Ingrese la sigla “A” en Tipo de horas.</a:t>
            </a:r>
          </a:p>
          <a:p>
            <a:r>
              <a:rPr lang="es-ES_tradnl" sz="1100" dirty="0"/>
              <a:t>7. </a:t>
            </a:r>
            <a:r>
              <a:rPr lang="es-CO" sz="1100" dirty="0"/>
              <a:t>Ingrese, las horas mínimas que debe tener el alumno en el período para que se le aplique la regla.</a:t>
            </a:r>
            <a:endParaRPr lang="es-ES_tradnl" sz="1100" dirty="0"/>
          </a:p>
          <a:p>
            <a:r>
              <a:rPr lang="es-ES_tradnl" sz="1100" dirty="0"/>
              <a:t>8. </a:t>
            </a:r>
            <a:r>
              <a:rPr lang="es-CO" sz="1100" dirty="0"/>
              <a:t>Ingrese, el promedio institucional mínimo que debe tener el alumno en el período para que se le aplique la regla.</a:t>
            </a:r>
          </a:p>
          <a:p>
            <a:r>
              <a:rPr lang="es-CO" sz="1100" dirty="0"/>
              <a:t>9. Seleccione el código de estado académico que tiene se le asignará al estudiante cuando se aplique la regla de cuadro de honor.</a:t>
            </a:r>
          </a:p>
          <a:p>
            <a:r>
              <a:rPr lang="es-CO" sz="1100" dirty="0"/>
              <a:t>10. </a:t>
            </a:r>
            <a:r>
              <a:rPr lang="es-ES_tradnl" sz="1100" dirty="0"/>
              <a:t>Guarde la información.</a:t>
            </a:r>
          </a:p>
          <a:p>
            <a:r>
              <a:rPr lang="es-CO" sz="1100" dirty="0"/>
              <a:t>11. Pase al siguiente bloque.</a:t>
            </a:r>
          </a:p>
        </p:txBody>
      </p:sp>
      <p:sp>
        <p:nvSpPr>
          <p:cNvPr id="9" name="CuadroTexto 8">
            <a:extLst>
              <a:ext uri="{FF2B5EF4-FFF2-40B4-BE49-F238E27FC236}">
                <a16:creationId xmlns:a16="http://schemas.microsoft.com/office/drawing/2014/main" id="{1CF1E5D7-8EDA-F329-3ED9-BF1EBA6A7EDB}"/>
              </a:ext>
            </a:extLst>
          </p:cNvPr>
          <p:cNvSpPr txBox="1"/>
          <p:nvPr/>
        </p:nvSpPr>
        <p:spPr>
          <a:xfrm>
            <a:off x="10992962" y="2424641"/>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
        <p:nvSpPr>
          <p:cNvPr id="16" name="Rectángulo 15">
            <a:extLst>
              <a:ext uri="{FF2B5EF4-FFF2-40B4-BE49-F238E27FC236}">
                <a16:creationId xmlns:a16="http://schemas.microsoft.com/office/drawing/2014/main" id="{742805BF-FDFE-B21A-262D-68E7FDABA49D}"/>
              </a:ext>
            </a:extLst>
          </p:cNvPr>
          <p:cNvSpPr/>
          <p:nvPr/>
        </p:nvSpPr>
        <p:spPr>
          <a:xfrm>
            <a:off x="984015" y="2027024"/>
            <a:ext cx="764021" cy="3322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4">
            <a:extLst>
              <a:ext uri="{FF2B5EF4-FFF2-40B4-BE49-F238E27FC236}">
                <a16:creationId xmlns:a16="http://schemas.microsoft.com/office/drawing/2014/main" id="{2F0ADD6F-E4D1-6D89-0596-AE8D9E4541A4}"/>
              </a:ext>
            </a:extLst>
          </p:cNvPr>
          <p:cNvSpPr/>
          <p:nvPr/>
        </p:nvSpPr>
        <p:spPr>
          <a:xfrm>
            <a:off x="7013526" y="2031745"/>
            <a:ext cx="3536190" cy="3273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FB1330B3-AC1E-0E4B-736B-34C8A8536C16}"/>
              </a:ext>
            </a:extLst>
          </p:cNvPr>
          <p:cNvSpPr/>
          <p:nvPr/>
        </p:nvSpPr>
        <p:spPr>
          <a:xfrm>
            <a:off x="4682236" y="2028003"/>
            <a:ext cx="2242439" cy="3310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10">
            <a:extLst>
              <a:ext uri="{FF2B5EF4-FFF2-40B4-BE49-F238E27FC236}">
                <a16:creationId xmlns:a16="http://schemas.microsoft.com/office/drawing/2014/main" id="{8C339CBF-A93A-B75D-490C-173938C70E1E}"/>
              </a:ext>
            </a:extLst>
          </p:cNvPr>
          <p:cNvSpPr/>
          <p:nvPr/>
        </p:nvSpPr>
        <p:spPr>
          <a:xfrm>
            <a:off x="10642839" y="2027024"/>
            <a:ext cx="996553" cy="33202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11">
            <a:extLst>
              <a:ext uri="{FF2B5EF4-FFF2-40B4-BE49-F238E27FC236}">
                <a16:creationId xmlns:a16="http://schemas.microsoft.com/office/drawing/2014/main" id="{D7198097-F302-9A67-3446-0DCFAF60E527}"/>
              </a:ext>
            </a:extLst>
          </p:cNvPr>
          <p:cNvSpPr/>
          <p:nvPr/>
        </p:nvSpPr>
        <p:spPr>
          <a:xfrm>
            <a:off x="1797951" y="2027024"/>
            <a:ext cx="1231255" cy="3322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FE168622-416C-E555-3DD5-1E1DC91DDC98}"/>
              </a:ext>
            </a:extLst>
          </p:cNvPr>
          <p:cNvSpPr/>
          <p:nvPr/>
        </p:nvSpPr>
        <p:spPr>
          <a:xfrm>
            <a:off x="3079122" y="2028223"/>
            <a:ext cx="1500059" cy="3310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CuadroTexto 14">
            <a:extLst>
              <a:ext uri="{FF2B5EF4-FFF2-40B4-BE49-F238E27FC236}">
                <a16:creationId xmlns:a16="http://schemas.microsoft.com/office/drawing/2014/main" id="{FDC55D1A-B0CF-3A64-C7BE-6BCE249BC4EE}"/>
              </a:ext>
            </a:extLst>
          </p:cNvPr>
          <p:cNvSpPr txBox="1"/>
          <p:nvPr/>
        </p:nvSpPr>
        <p:spPr>
          <a:xfrm>
            <a:off x="1215148" y="2424641"/>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7" name="CuadroTexto 16">
            <a:extLst>
              <a:ext uri="{FF2B5EF4-FFF2-40B4-BE49-F238E27FC236}">
                <a16:creationId xmlns:a16="http://schemas.microsoft.com/office/drawing/2014/main" id="{72A4855B-A833-D804-E82D-5DAF54428387}"/>
              </a:ext>
            </a:extLst>
          </p:cNvPr>
          <p:cNvSpPr txBox="1"/>
          <p:nvPr/>
        </p:nvSpPr>
        <p:spPr>
          <a:xfrm>
            <a:off x="2232073" y="1771119"/>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18" name="CuadroTexto 17">
            <a:extLst>
              <a:ext uri="{FF2B5EF4-FFF2-40B4-BE49-F238E27FC236}">
                <a16:creationId xmlns:a16="http://schemas.microsoft.com/office/drawing/2014/main" id="{4535D62F-87F1-2A96-84AC-CD0349DF20D4}"/>
              </a:ext>
            </a:extLst>
          </p:cNvPr>
          <p:cNvSpPr txBox="1"/>
          <p:nvPr/>
        </p:nvSpPr>
        <p:spPr>
          <a:xfrm>
            <a:off x="5652578" y="1771119"/>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
        <p:nvSpPr>
          <p:cNvPr id="19" name="CuadroTexto 18">
            <a:extLst>
              <a:ext uri="{FF2B5EF4-FFF2-40B4-BE49-F238E27FC236}">
                <a16:creationId xmlns:a16="http://schemas.microsoft.com/office/drawing/2014/main" id="{F8F865D0-027E-8E82-34D2-6D82112AA640}"/>
              </a:ext>
            </a:extLst>
          </p:cNvPr>
          <p:cNvSpPr txBox="1"/>
          <p:nvPr/>
        </p:nvSpPr>
        <p:spPr>
          <a:xfrm>
            <a:off x="3678274" y="2424641"/>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
        <p:nvSpPr>
          <p:cNvPr id="20" name="CuadroTexto 19">
            <a:extLst>
              <a:ext uri="{FF2B5EF4-FFF2-40B4-BE49-F238E27FC236}">
                <a16:creationId xmlns:a16="http://schemas.microsoft.com/office/drawing/2014/main" id="{8020BD8F-C358-733E-49E3-D3D927EEDD26}"/>
              </a:ext>
            </a:extLst>
          </p:cNvPr>
          <p:cNvSpPr txBox="1"/>
          <p:nvPr/>
        </p:nvSpPr>
        <p:spPr>
          <a:xfrm>
            <a:off x="8632880" y="2424641"/>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22" name="Rectángulo 21">
            <a:extLst>
              <a:ext uri="{FF2B5EF4-FFF2-40B4-BE49-F238E27FC236}">
                <a16:creationId xmlns:a16="http://schemas.microsoft.com/office/drawing/2014/main" id="{68044139-6E3E-758E-8FF2-B7CBF31A001B}"/>
              </a:ext>
            </a:extLst>
          </p:cNvPr>
          <p:cNvSpPr/>
          <p:nvPr/>
        </p:nvSpPr>
        <p:spPr>
          <a:xfrm>
            <a:off x="11197782" y="6093456"/>
            <a:ext cx="579718" cy="2739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3" name="CuadroTexto 22">
            <a:extLst>
              <a:ext uri="{FF2B5EF4-FFF2-40B4-BE49-F238E27FC236}">
                <a16:creationId xmlns:a16="http://schemas.microsoft.com/office/drawing/2014/main" id="{BC554CD3-D13A-3CE4-F15A-074147929C07}"/>
              </a:ext>
            </a:extLst>
          </p:cNvPr>
          <p:cNvSpPr txBox="1"/>
          <p:nvPr/>
        </p:nvSpPr>
        <p:spPr>
          <a:xfrm>
            <a:off x="11357801" y="5844671"/>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24" name="Rectángulo 23">
            <a:extLst>
              <a:ext uri="{FF2B5EF4-FFF2-40B4-BE49-F238E27FC236}">
                <a16:creationId xmlns:a16="http://schemas.microsoft.com/office/drawing/2014/main" id="{8882F6D9-D98C-9939-7FC1-26D53E4B0AF8}"/>
              </a:ext>
            </a:extLst>
          </p:cNvPr>
          <p:cNvSpPr/>
          <p:nvPr/>
        </p:nvSpPr>
        <p:spPr>
          <a:xfrm>
            <a:off x="1215148" y="6067096"/>
            <a:ext cx="357684" cy="2739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5" name="CuadroTexto 24">
            <a:extLst>
              <a:ext uri="{FF2B5EF4-FFF2-40B4-BE49-F238E27FC236}">
                <a16:creationId xmlns:a16="http://schemas.microsoft.com/office/drawing/2014/main" id="{82A4BD0A-D261-46E7-AAC8-FA192788C9C3}"/>
              </a:ext>
            </a:extLst>
          </p:cNvPr>
          <p:cNvSpPr txBox="1"/>
          <p:nvPr/>
        </p:nvSpPr>
        <p:spPr>
          <a:xfrm>
            <a:off x="1243113" y="5799963"/>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Tree>
    <p:extLst>
      <p:ext uri="{BB962C8B-B14F-4D97-AF65-F5344CB8AC3E}">
        <p14:creationId xmlns:p14="http://schemas.microsoft.com/office/powerpoint/2010/main" val="391705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57DC8-D5E2-720E-F92F-DF2A36E1EC3C}"/>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318FB9F3-351B-E8EC-5485-6617895EB053}"/>
              </a:ext>
            </a:extLst>
          </p:cNvPr>
          <p:cNvPicPr>
            <a:picLocks noChangeAspect="1"/>
          </p:cNvPicPr>
          <p:nvPr/>
        </p:nvPicPr>
        <p:blipFill>
          <a:blip r:embed="rId3"/>
          <a:stretch>
            <a:fillRect/>
          </a:stretch>
        </p:blipFill>
        <p:spPr>
          <a:xfrm>
            <a:off x="994218" y="1141170"/>
            <a:ext cx="10738293" cy="5282140"/>
          </a:xfrm>
          <a:prstGeom prst="rect">
            <a:avLst/>
          </a:prstGeom>
        </p:spPr>
      </p:pic>
      <p:sp>
        <p:nvSpPr>
          <p:cNvPr id="3" name="Marcador de texto vertical 2">
            <a:extLst>
              <a:ext uri="{FF2B5EF4-FFF2-40B4-BE49-F238E27FC236}">
                <a16:creationId xmlns:a16="http://schemas.microsoft.com/office/drawing/2014/main" id="{B815CCE8-0017-4646-E9D5-2566364D6C60}"/>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7B8E1431-E614-522F-3BC9-440C1F96FF51}"/>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Cuadro de honor</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F8B91422-D04F-D366-0752-1F566EA888D0}"/>
              </a:ext>
            </a:extLst>
          </p:cNvPr>
          <p:cNvSpPr/>
          <p:nvPr/>
        </p:nvSpPr>
        <p:spPr>
          <a:xfrm>
            <a:off x="994218" y="3640475"/>
            <a:ext cx="10645172" cy="143690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12. </a:t>
            </a:r>
            <a:r>
              <a:rPr lang="es-CO" sz="1100" dirty="0"/>
              <a:t>Seleccione el código de calificación que ocasionará que un alumno sea inelegible para del cuadro de honor, aún si el alumno si califica bajo una regla definida en la sección anterior.</a:t>
            </a:r>
          </a:p>
          <a:p>
            <a:r>
              <a:rPr lang="es-ES_tradnl" sz="1100" dirty="0"/>
              <a:t>13. Guarde la información</a:t>
            </a:r>
          </a:p>
        </p:txBody>
      </p:sp>
      <p:sp>
        <p:nvSpPr>
          <p:cNvPr id="9" name="CuadroTexto 8">
            <a:extLst>
              <a:ext uri="{FF2B5EF4-FFF2-40B4-BE49-F238E27FC236}">
                <a16:creationId xmlns:a16="http://schemas.microsoft.com/office/drawing/2014/main" id="{2E4D03E1-7E28-7707-68BC-95A74D807326}"/>
              </a:ext>
            </a:extLst>
          </p:cNvPr>
          <p:cNvSpPr txBox="1"/>
          <p:nvPr/>
        </p:nvSpPr>
        <p:spPr>
          <a:xfrm>
            <a:off x="11367800" y="5773665"/>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
        <p:nvSpPr>
          <p:cNvPr id="16" name="Rectángulo 15">
            <a:extLst>
              <a:ext uri="{FF2B5EF4-FFF2-40B4-BE49-F238E27FC236}">
                <a16:creationId xmlns:a16="http://schemas.microsoft.com/office/drawing/2014/main" id="{AA0A04BF-8EA5-D9A7-CB6A-379828ACB86D}"/>
              </a:ext>
            </a:extLst>
          </p:cNvPr>
          <p:cNvSpPr/>
          <p:nvPr/>
        </p:nvSpPr>
        <p:spPr>
          <a:xfrm>
            <a:off x="978449" y="2647950"/>
            <a:ext cx="3587537" cy="28671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112865DB-4230-4C28-D3FC-89D232971899}"/>
              </a:ext>
            </a:extLst>
          </p:cNvPr>
          <p:cNvSpPr txBox="1"/>
          <p:nvPr/>
        </p:nvSpPr>
        <p:spPr>
          <a:xfrm>
            <a:off x="2621340" y="2399165"/>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
        <p:nvSpPr>
          <p:cNvPr id="8" name="Rectángulo 7">
            <a:extLst>
              <a:ext uri="{FF2B5EF4-FFF2-40B4-BE49-F238E27FC236}">
                <a16:creationId xmlns:a16="http://schemas.microsoft.com/office/drawing/2014/main" id="{BA72F78F-20E5-B95C-F8D6-C4E4A160A10B}"/>
              </a:ext>
            </a:extLst>
          </p:cNvPr>
          <p:cNvSpPr/>
          <p:nvPr/>
        </p:nvSpPr>
        <p:spPr>
          <a:xfrm>
            <a:off x="11197781" y="6062318"/>
            <a:ext cx="641793" cy="3609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59160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D719CA05-9083-A3ED-06EA-7359CC176656}"/>
              </a:ext>
            </a:extLst>
          </p:cNvPr>
          <p:cNvSpPr>
            <a:spLocks noGrp="1"/>
          </p:cNvSpPr>
          <p:nvPr>
            <p:ph type="body" orient="vert" sz="quarter" idx="10"/>
          </p:nvPr>
        </p:nvSpPr>
        <p:spPr/>
        <p:txBody>
          <a:bodyPr/>
          <a:lstStyle/>
          <a:p>
            <a:r>
              <a:rPr lang="es-CO" sz="1200" dirty="0"/>
              <a:t>Gestionar el estado académico</a:t>
            </a:r>
            <a:endParaRPr lang="es-419" dirty="0"/>
          </a:p>
        </p:txBody>
      </p:sp>
      <p:sp>
        <p:nvSpPr>
          <p:cNvPr id="2" name="Title 1"/>
          <p:cNvSpPr>
            <a:spLocks noGrp="1"/>
          </p:cNvSpPr>
          <p:nvPr>
            <p:ph type="title"/>
          </p:nvPr>
        </p:nvSpPr>
        <p:spPr/>
        <p:txBody>
          <a:bodyPr/>
          <a:lstStyle/>
          <a:p>
            <a:r>
              <a:rPr lang="es-CO" dirty="0"/>
              <a:t>Regla de desempeño académico</a:t>
            </a:r>
            <a:endParaRPr lang="es-ES_tradnl" dirty="0"/>
          </a:p>
        </p:txBody>
      </p:sp>
      <p:sp>
        <p:nvSpPr>
          <p:cNvPr id="5" name="Marcador de texto 4">
            <a:extLst>
              <a:ext uri="{FF2B5EF4-FFF2-40B4-BE49-F238E27FC236}">
                <a16:creationId xmlns:a16="http://schemas.microsoft.com/office/drawing/2014/main" id="{B4EBD68D-9719-0BB9-D755-67B8742A731C}"/>
              </a:ext>
            </a:extLst>
          </p:cNvPr>
          <p:cNvSpPr>
            <a:spLocks noGrp="1"/>
          </p:cNvSpPr>
          <p:nvPr>
            <p:ph type="body" sz="quarter" idx="18"/>
          </p:nvPr>
        </p:nvSpPr>
        <p:spPr/>
        <p:txBody>
          <a:bodyPr/>
          <a:lstStyle/>
          <a:p>
            <a:r>
              <a:rPr lang="es-CL" sz="1800" dirty="0"/>
              <a:t>Reglas basadas en los códigos de estado académico secundarios.</a:t>
            </a:r>
            <a:endParaRPr lang="es-419" dirty="0"/>
          </a:p>
          <a:p>
            <a:endParaRPr lang="es-419" dirty="0"/>
          </a:p>
        </p:txBody>
      </p:sp>
    </p:spTree>
    <p:extLst>
      <p:ext uri="{BB962C8B-B14F-4D97-AF65-F5344CB8AC3E}">
        <p14:creationId xmlns:p14="http://schemas.microsoft.com/office/powerpoint/2010/main" val="1112956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5CA47-CCD3-4D31-DD95-FA25381D574D}"/>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FA841448-E301-004E-36AA-6F44F6A98BFC}"/>
              </a:ext>
            </a:extLst>
          </p:cNvPr>
          <p:cNvPicPr>
            <a:picLocks noChangeAspect="1"/>
          </p:cNvPicPr>
          <p:nvPr/>
        </p:nvPicPr>
        <p:blipFill>
          <a:blip r:embed="rId3"/>
          <a:stretch>
            <a:fillRect/>
          </a:stretch>
        </p:blipFill>
        <p:spPr>
          <a:xfrm>
            <a:off x="994218" y="1107829"/>
            <a:ext cx="10645174" cy="3739444"/>
          </a:xfrm>
          <a:prstGeom prst="rect">
            <a:avLst/>
          </a:prstGeom>
        </p:spPr>
      </p:pic>
      <p:sp>
        <p:nvSpPr>
          <p:cNvPr id="3" name="Marcador de texto vertical 2">
            <a:extLst>
              <a:ext uri="{FF2B5EF4-FFF2-40B4-BE49-F238E27FC236}">
                <a16:creationId xmlns:a16="http://schemas.microsoft.com/office/drawing/2014/main" id="{7938E399-2691-3839-44E7-05023ABD43DE}"/>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C1E60C27-8610-4D68-78F3-B25B99A29354}"/>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desempeño académico</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0ADA9649-ABD8-7566-D34C-9C0048F3E8F4}"/>
              </a:ext>
            </a:extLst>
          </p:cNvPr>
          <p:cNvSpPr/>
          <p:nvPr/>
        </p:nvSpPr>
        <p:spPr>
          <a:xfrm>
            <a:off x="994218" y="3443213"/>
            <a:ext cx="10645174" cy="143690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r>
              <a:rPr lang="es-ES_tradnl" sz="1100" dirty="0"/>
              <a:t>Dentro de SHAACST seleccione el código de nivel para el que va a establecer la regla.</a:t>
            </a:r>
          </a:p>
          <a:p>
            <a:pPr marL="228600" indent="-228600">
              <a:buFontTx/>
              <a:buAutoNum type="arabicPeriod"/>
            </a:pPr>
            <a:r>
              <a:rPr lang="es-ES_tradnl" sz="1100" dirty="0"/>
              <a:t>Ingrese el código 99.</a:t>
            </a:r>
          </a:p>
        </p:txBody>
      </p:sp>
      <p:sp>
        <p:nvSpPr>
          <p:cNvPr id="9" name="CuadroTexto 8">
            <a:extLst>
              <a:ext uri="{FF2B5EF4-FFF2-40B4-BE49-F238E27FC236}">
                <a16:creationId xmlns:a16="http://schemas.microsoft.com/office/drawing/2014/main" id="{25E23556-537E-7EF9-5288-302505178193}"/>
              </a:ext>
            </a:extLst>
          </p:cNvPr>
          <p:cNvSpPr txBox="1"/>
          <p:nvPr/>
        </p:nvSpPr>
        <p:spPr>
          <a:xfrm>
            <a:off x="7008239" y="1914781"/>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16" name="Rectángulo 15">
            <a:extLst>
              <a:ext uri="{FF2B5EF4-FFF2-40B4-BE49-F238E27FC236}">
                <a16:creationId xmlns:a16="http://schemas.microsoft.com/office/drawing/2014/main" id="{60D3BAED-A2E6-39C9-B6D8-2F15DAF375DD}"/>
              </a:ext>
            </a:extLst>
          </p:cNvPr>
          <p:cNvSpPr/>
          <p:nvPr/>
        </p:nvSpPr>
        <p:spPr>
          <a:xfrm>
            <a:off x="1403950" y="1633638"/>
            <a:ext cx="1715529"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8F248D03-07DB-6F03-CC0E-3539E9F3DB5B}"/>
              </a:ext>
            </a:extLst>
          </p:cNvPr>
          <p:cNvSpPr txBox="1"/>
          <p:nvPr/>
        </p:nvSpPr>
        <p:spPr>
          <a:xfrm>
            <a:off x="2110837" y="1914781"/>
            <a:ext cx="301753"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8" name="Rectángulo 7">
            <a:extLst>
              <a:ext uri="{FF2B5EF4-FFF2-40B4-BE49-F238E27FC236}">
                <a16:creationId xmlns:a16="http://schemas.microsoft.com/office/drawing/2014/main" id="{8859BB10-1531-19A1-ED0C-E28A623F94D9}"/>
              </a:ext>
            </a:extLst>
          </p:cNvPr>
          <p:cNvSpPr/>
          <p:nvPr/>
        </p:nvSpPr>
        <p:spPr>
          <a:xfrm>
            <a:off x="6265671" y="1633638"/>
            <a:ext cx="1786891" cy="2057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216943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D6D8A-E6B9-A904-C2E5-81ECDE47A740}"/>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E6A97B66-2D84-980B-AFFD-0203EB96B46B}"/>
              </a:ext>
            </a:extLst>
          </p:cNvPr>
          <p:cNvPicPr>
            <a:picLocks noChangeAspect="1"/>
          </p:cNvPicPr>
          <p:nvPr/>
        </p:nvPicPr>
        <p:blipFill>
          <a:blip r:embed="rId3"/>
          <a:stretch>
            <a:fillRect/>
          </a:stretch>
        </p:blipFill>
        <p:spPr>
          <a:xfrm>
            <a:off x="994218" y="1102412"/>
            <a:ext cx="10710841" cy="5260288"/>
          </a:xfrm>
          <a:prstGeom prst="rect">
            <a:avLst/>
          </a:prstGeom>
        </p:spPr>
      </p:pic>
      <p:sp>
        <p:nvSpPr>
          <p:cNvPr id="3" name="Marcador de texto vertical 2">
            <a:extLst>
              <a:ext uri="{FF2B5EF4-FFF2-40B4-BE49-F238E27FC236}">
                <a16:creationId xmlns:a16="http://schemas.microsoft.com/office/drawing/2014/main" id="{C9393A1B-1079-8D42-CCF2-EA8E944EE519}"/>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9F6F5610-9CF4-0ADA-4E9A-334F55EA496C}"/>
              </a:ext>
            </a:extLst>
          </p:cNvPr>
          <p:cNvSpPr>
            <a:spLocks noGrp="1"/>
          </p:cNvSpPr>
          <p:nvPr>
            <p:ph type="title"/>
          </p:nvPr>
        </p:nvSpPr>
        <p:spPr>
          <a:xfrm>
            <a:off x="994031" y="286853"/>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desempeño académico</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2C5A518D-8AB1-2DEF-4CA9-AAF988B27D3A}"/>
              </a:ext>
            </a:extLst>
          </p:cNvPr>
          <p:cNvSpPr/>
          <p:nvPr/>
        </p:nvSpPr>
        <p:spPr>
          <a:xfrm>
            <a:off x="994031" y="4706055"/>
            <a:ext cx="10645174" cy="58896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3. Pase al siguiente bloque 3 veces</a:t>
            </a:r>
          </a:p>
        </p:txBody>
      </p:sp>
      <p:sp>
        <p:nvSpPr>
          <p:cNvPr id="16" name="Rectángulo 15">
            <a:extLst>
              <a:ext uri="{FF2B5EF4-FFF2-40B4-BE49-F238E27FC236}">
                <a16:creationId xmlns:a16="http://schemas.microsoft.com/office/drawing/2014/main" id="{43498FD0-991D-CB65-1993-F35821BC7C1C}"/>
              </a:ext>
            </a:extLst>
          </p:cNvPr>
          <p:cNvSpPr/>
          <p:nvPr/>
        </p:nvSpPr>
        <p:spPr>
          <a:xfrm>
            <a:off x="1259640" y="6018824"/>
            <a:ext cx="301753" cy="3067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16CA2B46-8C2B-48C7-627F-518F5AA24A9A}"/>
              </a:ext>
            </a:extLst>
          </p:cNvPr>
          <p:cNvSpPr txBox="1"/>
          <p:nvPr/>
        </p:nvSpPr>
        <p:spPr>
          <a:xfrm>
            <a:off x="1259639" y="5720899"/>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3553076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3749-A961-5863-1C7D-19C83A3375D5}"/>
            </a:ext>
          </a:extLst>
        </p:cNvPr>
        <p:cNvGrpSpPr/>
        <p:nvPr/>
      </p:nvGrpSpPr>
      <p:grpSpPr>
        <a:xfrm>
          <a:off x="0" y="0"/>
          <a:ext cx="0" cy="0"/>
          <a:chOff x="0" y="0"/>
          <a:chExt cx="0" cy="0"/>
        </a:xfrm>
      </p:grpSpPr>
      <p:pic>
        <p:nvPicPr>
          <p:cNvPr id="21" name="Imagen 20">
            <a:extLst>
              <a:ext uri="{FF2B5EF4-FFF2-40B4-BE49-F238E27FC236}">
                <a16:creationId xmlns:a16="http://schemas.microsoft.com/office/drawing/2014/main" id="{246CF619-26AF-3DCD-B49B-F216E2AC14A9}"/>
              </a:ext>
            </a:extLst>
          </p:cNvPr>
          <p:cNvPicPr>
            <a:picLocks noChangeAspect="1"/>
          </p:cNvPicPr>
          <p:nvPr/>
        </p:nvPicPr>
        <p:blipFill>
          <a:blip r:embed="rId3"/>
          <a:stretch>
            <a:fillRect/>
          </a:stretch>
        </p:blipFill>
        <p:spPr>
          <a:xfrm>
            <a:off x="994219" y="1107829"/>
            <a:ext cx="10681146" cy="5245803"/>
          </a:xfrm>
          <a:prstGeom prst="rect">
            <a:avLst/>
          </a:prstGeom>
        </p:spPr>
      </p:pic>
      <p:sp>
        <p:nvSpPr>
          <p:cNvPr id="3" name="Marcador de texto vertical 2">
            <a:extLst>
              <a:ext uri="{FF2B5EF4-FFF2-40B4-BE49-F238E27FC236}">
                <a16:creationId xmlns:a16="http://schemas.microsoft.com/office/drawing/2014/main" id="{88AC93DC-091C-00D9-B05C-5021E988C743}"/>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8B54BA0A-3E46-3A82-67C2-2905730358F5}"/>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689C2FB2-24AF-BC4C-C985-E451752158E9}"/>
              </a:ext>
            </a:extLst>
          </p:cNvPr>
          <p:cNvSpPr/>
          <p:nvPr/>
        </p:nvSpPr>
        <p:spPr>
          <a:xfrm>
            <a:off x="983197" y="3691500"/>
            <a:ext cx="10702093" cy="205867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r>
              <a:rPr lang="es-ES_tradnl" sz="1100" dirty="0"/>
              <a:t>4. Seleccione, si aplica,  el programa para el cual se está definiendo la regla.</a:t>
            </a:r>
          </a:p>
          <a:p>
            <a:r>
              <a:rPr lang="es-ES_tradnl" sz="1100" dirty="0"/>
              <a:t>5. Seleccione, si aplica,  el campus para el cual se está definiendo la regla.</a:t>
            </a:r>
          </a:p>
          <a:p>
            <a:r>
              <a:rPr lang="es-ES_tradnl" sz="1100" dirty="0"/>
              <a:t>6. Seleccione, si aplica,  el grado para el cual se está definiendo la regla.</a:t>
            </a:r>
          </a:p>
          <a:p>
            <a:r>
              <a:rPr lang="es-ES_tradnl" sz="1100" dirty="0"/>
              <a:t>7. Seleccione, si aplica,  la carrera para la cual se está definiendo la regla.</a:t>
            </a:r>
          </a:p>
          <a:p>
            <a:r>
              <a:rPr lang="es-ES_tradnl" sz="1100" dirty="0"/>
              <a:t>8. Seleccione, si aplica,  el tipo de alumno para el cual se está definiendo la regla.</a:t>
            </a:r>
          </a:p>
          <a:p>
            <a:r>
              <a:rPr lang="es-ES_tradnl" sz="1100" dirty="0"/>
              <a:t>9. Seleccione el Período para el cual se está definiendo la regla.</a:t>
            </a:r>
          </a:p>
          <a:p>
            <a:r>
              <a:rPr lang="es-ES_tradnl" sz="1100" dirty="0"/>
              <a:t>10. </a:t>
            </a:r>
            <a:r>
              <a:rPr lang="es-CO" sz="1100" dirty="0"/>
              <a:t>Ingrese la secuencia en la que se evaluarán las reglas definidas.</a:t>
            </a:r>
          </a:p>
          <a:p>
            <a:r>
              <a:rPr lang="es-CO" sz="1100" dirty="0"/>
              <a:t>11. Seleccione el código de estado académico </a:t>
            </a:r>
            <a:r>
              <a:rPr lang="es-CO" sz="1100" b="1" dirty="0"/>
              <a:t>inicial</a:t>
            </a:r>
            <a:r>
              <a:rPr lang="es-CO" sz="1100" dirty="0"/>
              <a:t> que tiene el alumno desde STVPREV.</a:t>
            </a:r>
            <a:endParaRPr lang="es-ES_tradnl" sz="1100" dirty="0"/>
          </a:p>
          <a:p>
            <a:r>
              <a:rPr lang="es-ES_tradnl" sz="1100" dirty="0"/>
              <a:t>12. Desplace la página hacia la derecha.</a:t>
            </a:r>
          </a:p>
          <a:p>
            <a:endParaRPr lang="es-ES_tradnl" sz="1100" dirty="0"/>
          </a:p>
          <a:p>
            <a:endParaRPr lang="es-ES_tradnl" sz="1100" dirty="0"/>
          </a:p>
          <a:p>
            <a:endParaRPr lang="es-ES_tradnl" sz="1100" dirty="0"/>
          </a:p>
        </p:txBody>
      </p:sp>
      <p:sp>
        <p:nvSpPr>
          <p:cNvPr id="9" name="CuadroTexto 8">
            <a:extLst>
              <a:ext uri="{FF2B5EF4-FFF2-40B4-BE49-F238E27FC236}">
                <a16:creationId xmlns:a16="http://schemas.microsoft.com/office/drawing/2014/main" id="{DDE0CA4F-EDBC-38BF-3CB7-B25B7B50E29E}"/>
              </a:ext>
            </a:extLst>
          </p:cNvPr>
          <p:cNvSpPr txBox="1"/>
          <p:nvPr/>
        </p:nvSpPr>
        <p:spPr>
          <a:xfrm>
            <a:off x="3342331" y="2448951"/>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
        <p:nvSpPr>
          <p:cNvPr id="16" name="Rectángulo 15">
            <a:extLst>
              <a:ext uri="{FF2B5EF4-FFF2-40B4-BE49-F238E27FC236}">
                <a16:creationId xmlns:a16="http://schemas.microsoft.com/office/drawing/2014/main" id="{9C8FEF86-4437-1E65-19B0-BF3D58B8AA51}"/>
              </a:ext>
            </a:extLst>
          </p:cNvPr>
          <p:cNvSpPr/>
          <p:nvPr/>
        </p:nvSpPr>
        <p:spPr>
          <a:xfrm>
            <a:off x="983198" y="2000518"/>
            <a:ext cx="480287" cy="3478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4">
            <a:extLst>
              <a:ext uri="{FF2B5EF4-FFF2-40B4-BE49-F238E27FC236}">
                <a16:creationId xmlns:a16="http://schemas.microsoft.com/office/drawing/2014/main" id="{E070A781-773D-D3E2-9177-0AEE63FCE743}"/>
              </a:ext>
            </a:extLst>
          </p:cNvPr>
          <p:cNvSpPr/>
          <p:nvPr/>
        </p:nvSpPr>
        <p:spPr>
          <a:xfrm>
            <a:off x="2627110" y="1999500"/>
            <a:ext cx="509760" cy="34302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48E91954-77CD-2319-ACE0-D08E32963E30}"/>
              </a:ext>
            </a:extLst>
          </p:cNvPr>
          <p:cNvSpPr/>
          <p:nvPr/>
        </p:nvSpPr>
        <p:spPr>
          <a:xfrm>
            <a:off x="2216809" y="1998046"/>
            <a:ext cx="410300" cy="3459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10">
            <a:extLst>
              <a:ext uri="{FF2B5EF4-FFF2-40B4-BE49-F238E27FC236}">
                <a16:creationId xmlns:a16="http://schemas.microsoft.com/office/drawing/2014/main" id="{AA01D4C5-48A1-75EE-30A8-3C3F0623B197}"/>
              </a:ext>
            </a:extLst>
          </p:cNvPr>
          <p:cNvSpPr/>
          <p:nvPr/>
        </p:nvSpPr>
        <p:spPr>
          <a:xfrm>
            <a:off x="3156722" y="2000518"/>
            <a:ext cx="719096" cy="34200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11">
            <a:extLst>
              <a:ext uri="{FF2B5EF4-FFF2-40B4-BE49-F238E27FC236}">
                <a16:creationId xmlns:a16="http://schemas.microsoft.com/office/drawing/2014/main" id="{E0CCB2A0-7D99-8E28-C043-EDBD3AD45A24}"/>
              </a:ext>
            </a:extLst>
          </p:cNvPr>
          <p:cNvSpPr/>
          <p:nvPr/>
        </p:nvSpPr>
        <p:spPr>
          <a:xfrm>
            <a:off x="1474506" y="1996139"/>
            <a:ext cx="357684" cy="3478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9155AC37-D975-3177-36B4-82C8B6540EAC}"/>
              </a:ext>
            </a:extLst>
          </p:cNvPr>
          <p:cNvSpPr/>
          <p:nvPr/>
        </p:nvSpPr>
        <p:spPr>
          <a:xfrm>
            <a:off x="1822303" y="2003879"/>
            <a:ext cx="394505" cy="3386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15" name="CuadroTexto 14">
            <a:extLst>
              <a:ext uri="{FF2B5EF4-FFF2-40B4-BE49-F238E27FC236}">
                <a16:creationId xmlns:a16="http://schemas.microsoft.com/office/drawing/2014/main" id="{39DBFF82-0790-DF79-9990-0AB474C10AF8}"/>
              </a:ext>
            </a:extLst>
          </p:cNvPr>
          <p:cNvSpPr txBox="1"/>
          <p:nvPr/>
        </p:nvSpPr>
        <p:spPr>
          <a:xfrm>
            <a:off x="1072464" y="2448951"/>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7" name="CuadroTexto 16">
            <a:extLst>
              <a:ext uri="{FF2B5EF4-FFF2-40B4-BE49-F238E27FC236}">
                <a16:creationId xmlns:a16="http://schemas.microsoft.com/office/drawing/2014/main" id="{0B1FA186-E5B9-7957-27A7-27B4B0B2AF9C}"/>
              </a:ext>
            </a:extLst>
          </p:cNvPr>
          <p:cNvSpPr txBox="1"/>
          <p:nvPr/>
        </p:nvSpPr>
        <p:spPr>
          <a:xfrm>
            <a:off x="1502471" y="2438906"/>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18" name="CuadroTexto 17">
            <a:extLst>
              <a:ext uri="{FF2B5EF4-FFF2-40B4-BE49-F238E27FC236}">
                <a16:creationId xmlns:a16="http://schemas.microsoft.com/office/drawing/2014/main" id="{F4B72746-C4D5-108D-CAAF-01461345E426}"/>
              </a:ext>
            </a:extLst>
          </p:cNvPr>
          <p:cNvSpPr txBox="1"/>
          <p:nvPr/>
        </p:nvSpPr>
        <p:spPr>
          <a:xfrm>
            <a:off x="2273017" y="2438906"/>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
        <p:nvSpPr>
          <p:cNvPr id="19" name="CuadroTexto 18">
            <a:extLst>
              <a:ext uri="{FF2B5EF4-FFF2-40B4-BE49-F238E27FC236}">
                <a16:creationId xmlns:a16="http://schemas.microsoft.com/office/drawing/2014/main" id="{F0EC212D-09D1-903F-838A-F5C1C255278D}"/>
              </a:ext>
            </a:extLst>
          </p:cNvPr>
          <p:cNvSpPr txBox="1"/>
          <p:nvPr/>
        </p:nvSpPr>
        <p:spPr>
          <a:xfrm>
            <a:off x="1868678" y="2438906"/>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
        <p:nvSpPr>
          <p:cNvPr id="20" name="CuadroTexto 19">
            <a:extLst>
              <a:ext uri="{FF2B5EF4-FFF2-40B4-BE49-F238E27FC236}">
                <a16:creationId xmlns:a16="http://schemas.microsoft.com/office/drawing/2014/main" id="{1487DB83-3800-20B4-18E5-8364DB503B86}"/>
              </a:ext>
            </a:extLst>
          </p:cNvPr>
          <p:cNvSpPr txBox="1"/>
          <p:nvPr/>
        </p:nvSpPr>
        <p:spPr>
          <a:xfrm>
            <a:off x="2731113" y="2438906"/>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22" name="Rectángulo 21">
            <a:extLst>
              <a:ext uri="{FF2B5EF4-FFF2-40B4-BE49-F238E27FC236}">
                <a16:creationId xmlns:a16="http://schemas.microsoft.com/office/drawing/2014/main" id="{3D362918-9BE9-9352-D008-CC32728B1CB1}"/>
              </a:ext>
            </a:extLst>
          </p:cNvPr>
          <p:cNvSpPr/>
          <p:nvPr/>
        </p:nvSpPr>
        <p:spPr>
          <a:xfrm>
            <a:off x="3865123" y="1996139"/>
            <a:ext cx="792602" cy="3459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3" name="CuadroTexto 22">
            <a:extLst>
              <a:ext uri="{FF2B5EF4-FFF2-40B4-BE49-F238E27FC236}">
                <a16:creationId xmlns:a16="http://schemas.microsoft.com/office/drawing/2014/main" id="{525B4952-4C65-1F4A-1970-469A5327263A}"/>
              </a:ext>
            </a:extLst>
          </p:cNvPr>
          <p:cNvSpPr txBox="1"/>
          <p:nvPr/>
        </p:nvSpPr>
        <p:spPr>
          <a:xfrm>
            <a:off x="4110547" y="2448951"/>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24" name="Rectángulo 23">
            <a:extLst>
              <a:ext uri="{FF2B5EF4-FFF2-40B4-BE49-F238E27FC236}">
                <a16:creationId xmlns:a16="http://schemas.microsoft.com/office/drawing/2014/main" id="{721C65DA-81FF-DBA1-A733-77690486E98D}"/>
              </a:ext>
            </a:extLst>
          </p:cNvPr>
          <p:cNvSpPr/>
          <p:nvPr/>
        </p:nvSpPr>
        <p:spPr>
          <a:xfrm>
            <a:off x="4652987" y="1996139"/>
            <a:ext cx="1147738" cy="3459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5" name="CuadroTexto 24">
            <a:extLst>
              <a:ext uri="{FF2B5EF4-FFF2-40B4-BE49-F238E27FC236}">
                <a16:creationId xmlns:a16="http://schemas.microsoft.com/office/drawing/2014/main" id="{4A688052-4FDB-C285-2954-1AD0805FFD71}"/>
              </a:ext>
            </a:extLst>
          </p:cNvPr>
          <p:cNvSpPr txBox="1"/>
          <p:nvPr/>
        </p:nvSpPr>
        <p:spPr>
          <a:xfrm>
            <a:off x="5075979" y="2438906"/>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
        <p:nvSpPr>
          <p:cNvPr id="4" name="Rectángulo 3">
            <a:extLst>
              <a:ext uri="{FF2B5EF4-FFF2-40B4-BE49-F238E27FC236}">
                <a16:creationId xmlns:a16="http://schemas.microsoft.com/office/drawing/2014/main" id="{FEA7DA7C-947F-921A-60D3-C921C9CBFEF6}"/>
              </a:ext>
            </a:extLst>
          </p:cNvPr>
          <p:cNvSpPr/>
          <p:nvPr/>
        </p:nvSpPr>
        <p:spPr>
          <a:xfrm>
            <a:off x="11499535" y="2258219"/>
            <a:ext cx="185756"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887DB8AC-CB7E-3FDA-6B37-B26DB838F3A8}"/>
              </a:ext>
            </a:extLst>
          </p:cNvPr>
          <p:cNvSpPr txBox="1"/>
          <p:nvPr/>
        </p:nvSpPr>
        <p:spPr>
          <a:xfrm>
            <a:off x="11437739" y="2546628"/>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Tree>
    <p:extLst>
      <p:ext uri="{BB962C8B-B14F-4D97-AF65-F5344CB8AC3E}">
        <p14:creationId xmlns:p14="http://schemas.microsoft.com/office/powerpoint/2010/main" val="986298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CA8F5-3D7D-5887-4BDF-B2CE38E7DB7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D8163C3-0D1E-F929-D715-AEBF00E9E50E}"/>
              </a:ext>
            </a:extLst>
          </p:cNvPr>
          <p:cNvPicPr>
            <a:picLocks noChangeAspect="1"/>
          </p:cNvPicPr>
          <p:nvPr/>
        </p:nvPicPr>
        <p:blipFill>
          <a:blip r:embed="rId3"/>
          <a:stretch>
            <a:fillRect/>
          </a:stretch>
        </p:blipFill>
        <p:spPr>
          <a:xfrm>
            <a:off x="994217" y="1107829"/>
            <a:ext cx="10769157" cy="5305807"/>
          </a:xfrm>
          <a:prstGeom prst="rect">
            <a:avLst/>
          </a:prstGeom>
        </p:spPr>
      </p:pic>
      <p:sp>
        <p:nvSpPr>
          <p:cNvPr id="3" name="Marcador de texto vertical 2">
            <a:extLst>
              <a:ext uri="{FF2B5EF4-FFF2-40B4-BE49-F238E27FC236}">
                <a16:creationId xmlns:a16="http://schemas.microsoft.com/office/drawing/2014/main" id="{4B601A7C-6267-7892-CA18-FBA441EB4C2E}"/>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A1070671-9256-2C49-4CFD-799122642558}"/>
              </a:ext>
            </a:extLst>
          </p:cNvPr>
          <p:cNvSpPr>
            <a:spLocks noGrp="1"/>
          </p:cNvSpPr>
          <p:nvPr>
            <p:ph type="title"/>
          </p:nvPr>
        </p:nvSpPr>
        <p:spPr>
          <a:xfrm>
            <a:off x="994218" y="209274"/>
            <a:ext cx="10645174" cy="898555"/>
          </a:xfrm>
        </p:spPr>
        <p:txBody>
          <a:bodyPr/>
          <a:lstStyle/>
          <a:p>
            <a:r>
              <a:rPr lang="es-ES_tradnl" dirty="0">
                <a:solidFill>
                  <a:schemeClr val="accent1"/>
                </a:solidFill>
              </a:rPr>
              <a:t>Definir las reglas de aplicación de estados académicos: </a:t>
            </a:r>
            <a:r>
              <a:rPr lang="es-ES" b="0" dirty="0">
                <a:solidFill>
                  <a:schemeClr val="accent1"/>
                </a:solidFill>
              </a:rPr>
              <a:t>Regla de dificultad académica</a:t>
            </a:r>
            <a:endParaRPr lang="es-ES_tradnl" b="0" dirty="0">
              <a:solidFill>
                <a:schemeClr val="accent1"/>
              </a:solidFill>
            </a:endParaRPr>
          </a:p>
        </p:txBody>
      </p:sp>
      <p:sp>
        <p:nvSpPr>
          <p:cNvPr id="6" name="Rectángulo: esquinas redondeadas 5">
            <a:extLst>
              <a:ext uri="{FF2B5EF4-FFF2-40B4-BE49-F238E27FC236}">
                <a16:creationId xmlns:a16="http://schemas.microsoft.com/office/drawing/2014/main" id="{65AFF47C-786D-5AB9-0D4F-0A4E5DBB1C5B}"/>
              </a:ext>
            </a:extLst>
          </p:cNvPr>
          <p:cNvSpPr/>
          <p:nvPr/>
        </p:nvSpPr>
        <p:spPr>
          <a:xfrm>
            <a:off x="1604881" y="3236674"/>
            <a:ext cx="8588353" cy="258787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endParaRPr lang="es-ES_tradnl" sz="1100" dirty="0"/>
          </a:p>
          <a:p>
            <a:endParaRPr lang="es-ES_tradnl" sz="1100" dirty="0"/>
          </a:p>
          <a:p>
            <a:r>
              <a:rPr lang="es-ES_tradnl" sz="1100" dirty="0"/>
              <a:t>13. </a:t>
            </a:r>
            <a:r>
              <a:rPr lang="es-CO" sz="1100" dirty="0"/>
              <a:t>Ingrese el mínimo de horas intentadas que debe tener el alumno en el período para que se le aplique la regla.</a:t>
            </a:r>
          </a:p>
          <a:p>
            <a:r>
              <a:rPr lang="es-ES_tradnl" sz="1100" dirty="0"/>
              <a:t>14. </a:t>
            </a:r>
            <a:r>
              <a:rPr lang="es-CO" sz="1100" dirty="0"/>
              <a:t>Ingrese el máximo de horas intentadas que debe tener el alumno en el período para que se le aplique la regla.</a:t>
            </a:r>
          </a:p>
          <a:p>
            <a:r>
              <a:rPr lang="es-CO" sz="1100" dirty="0"/>
              <a:t>15. Ingrese el mínimo de horas acumuladas que debe tener el alumno para que se le aplique la regla.</a:t>
            </a:r>
          </a:p>
          <a:p>
            <a:r>
              <a:rPr lang="es-CO" sz="1100" dirty="0"/>
              <a:t>16. Ingrese el máximo de horas acumuladas que debe tener el alumno para que se le aplique la regla.</a:t>
            </a:r>
          </a:p>
          <a:p>
            <a:r>
              <a:rPr lang="es-CO" sz="1100" dirty="0"/>
              <a:t>17. Ingrese el tipo de horas acumuladas a usar para la selección de horas acumulativas inferior y superior. Los valores válidos son:</a:t>
            </a:r>
          </a:p>
          <a:p>
            <a:pPr marL="171450" indent="-171450">
              <a:buFont typeface="Arial" panose="020B0604020202020204" pitchFamily="34" charset="0"/>
              <a:buChar char="•"/>
            </a:pPr>
            <a:r>
              <a:rPr lang="es-CO" sz="1100" dirty="0"/>
              <a:t> </a:t>
            </a:r>
            <a:r>
              <a:rPr lang="es-CO" sz="1100" b="1" dirty="0"/>
              <a:t>A</a:t>
            </a:r>
            <a:r>
              <a:rPr lang="es-CO" sz="1100" i="1" dirty="0"/>
              <a:t>:</a:t>
            </a:r>
            <a:r>
              <a:rPr lang="es-CO" sz="1100" dirty="0"/>
              <a:t> Intentadas</a:t>
            </a:r>
          </a:p>
          <a:p>
            <a:pPr marL="171450" indent="-171450">
              <a:buFont typeface="Arial" panose="020B0604020202020204" pitchFamily="34" charset="0"/>
              <a:buChar char="•"/>
            </a:pPr>
            <a:r>
              <a:rPr lang="es-CO" sz="1100" dirty="0"/>
              <a:t> </a:t>
            </a:r>
            <a:r>
              <a:rPr lang="es-CO" sz="1100" b="1" dirty="0"/>
              <a:t>E</a:t>
            </a:r>
            <a:r>
              <a:rPr lang="es-CO" sz="1100" i="1" dirty="0"/>
              <a:t>: </a:t>
            </a:r>
            <a:r>
              <a:rPr lang="es-CO" sz="1100" dirty="0"/>
              <a:t>Ganadas</a:t>
            </a:r>
          </a:p>
          <a:p>
            <a:pPr marL="171450" indent="-171450">
              <a:buFont typeface="Arial" panose="020B0604020202020204" pitchFamily="34" charset="0"/>
              <a:buChar char="•"/>
            </a:pPr>
            <a:r>
              <a:rPr lang="es-CO" sz="1100" dirty="0"/>
              <a:t> </a:t>
            </a:r>
            <a:r>
              <a:rPr lang="es-CO" sz="1100" b="1" dirty="0"/>
              <a:t>P</a:t>
            </a:r>
            <a:r>
              <a:rPr lang="es-CO" sz="1100" i="1" dirty="0"/>
              <a:t>: </a:t>
            </a:r>
            <a:r>
              <a:rPr lang="es-CO" sz="1100" dirty="0"/>
              <a:t>Aprobadas</a:t>
            </a:r>
          </a:p>
          <a:p>
            <a:pPr marL="171450" indent="-171450">
              <a:buFont typeface="Arial" panose="020B0604020202020204" pitchFamily="34" charset="0"/>
              <a:buChar char="•"/>
            </a:pPr>
            <a:r>
              <a:rPr lang="es-CO" sz="1100" dirty="0"/>
              <a:t> </a:t>
            </a:r>
            <a:r>
              <a:rPr lang="es-CO" sz="1100" b="1" dirty="0"/>
              <a:t>G</a:t>
            </a:r>
            <a:r>
              <a:rPr lang="es-CO" sz="1100" i="1" dirty="0"/>
              <a:t>: Promedio</a:t>
            </a:r>
            <a:endParaRPr lang="es-CO" sz="1100" dirty="0"/>
          </a:p>
          <a:p>
            <a:r>
              <a:rPr lang="es-CO" sz="1100" dirty="0"/>
              <a:t>18. Indique el porcentaje mínimo de materias aprobadas que tiene que tener el alumno, en el período, para que le aplique la regla.</a:t>
            </a:r>
          </a:p>
          <a:p>
            <a:r>
              <a:rPr lang="es-CO" sz="1100" dirty="0"/>
              <a:t>19. Seleccione el código de estado académico </a:t>
            </a:r>
            <a:r>
              <a:rPr lang="es-CO" sz="1100" b="1" dirty="0"/>
              <a:t>final</a:t>
            </a:r>
            <a:r>
              <a:rPr lang="es-CO" sz="1100" dirty="0"/>
              <a:t> que tiene se le asignará al estudiante cuando se aplique la regla.</a:t>
            </a:r>
          </a:p>
          <a:p>
            <a:r>
              <a:rPr lang="es-CO" sz="1100" dirty="0"/>
              <a:t>20. Guarde la información.</a:t>
            </a:r>
          </a:p>
          <a:p>
            <a:endParaRPr lang="es-CO" sz="1100" dirty="0"/>
          </a:p>
          <a:p>
            <a:endParaRPr lang="es-CO" sz="1100" dirty="0"/>
          </a:p>
          <a:p>
            <a:endParaRPr lang="es-ES_tradnl" sz="1100" dirty="0"/>
          </a:p>
          <a:p>
            <a:endParaRPr lang="es-ES_tradnl" sz="1100" dirty="0"/>
          </a:p>
          <a:p>
            <a:endParaRPr lang="es-ES_tradnl" sz="1100" dirty="0"/>
          </a:p>
        </p:txBody>
      </p:sp>
      <p:sp>
        <p:nvSpPr>
          <p:cNvPr id="16" name="Rectángulo 15">
            <a:extLst>
              <a:ext uri="{FF2B5EF4-FFF2-40B4-BE49-F238E27FC236}">
                <a16:creationId xmlns:a16="http://schemas.microsoft.com/office/drawing/2014/main" id="{8924A9C7-5F6D-952B-DBED-413F5B3EF4C8}"/>
              </a:ext>
            </a:extLst>
          </p:cNvPr>
          <p:cNvSpPr/>
          <p:nvPr/>
        </p:nvSpPr>
        <p:spPr>
          <a:xfrm>
            <a:off x="7430367" y="2006819"/>
            <a:ext cx="940949" cy="36396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10F97482-9983-3411-F3EF-8D932E357C68}"/>
              </a:ext>
            </a:extLst>
          </p:cNvPr>
          <p:cNvSpPr/>
          <p:nvPr/>
        </p:nvSpPr>
        <p:spPr>
          <a:xfrm>
            <a:off x="10701252" y="2036773"/>
            <a:ext cx="1024602" cy="36396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10">
            <a:extLst>
              <a:ext uri="{FF2B5EF4-FFF2-40B4-BE49-F238E27FC236}">
                <a16:creationId xmlns:a16="http://schemas.microsoft.com/office/drawing/2014/main" id="{3133B12E-8EAB-802B-6804-43A2068F2DEB}"/>
              </a:ext>
            </a:extLst>
          </p:cNvPr>
          <p:cNvSpPr/>
          <p:nvPr/>
        </p:nvSpPr>
        <p:spPr>
          <a:xfrm>
            <a:off x="8972705" y="2006383"/>
            <a:ext cx="864195" cy="36396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11">
            <a:extLst>
              <a:ext uri="{FF2B5EF4-FFF2-40B4-BE49-F238E27FC236}">
                <a16:creationId xmlns:a16="http://schemas.microsoft.com/office/drawing/2014/main" id="{060455DC-54C1-2C5D-F76D-5404C525251C}"/>
              </a:ext>
            </a:extLst>
          </p:cNvPr>
          <p:cNvSpPr/>
          <p:nvPr/>
        </p:nvSpPr>
        <p:spPr>
          <a:xfrm>
            <a:off x="8392134" y="2006383"/>
            <a:ext cx="580416" cy="36396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13">
            <a:extLst>
              <a:ext uri="{FF2B5EF4-FFF2-40B4-BE49-F238E27FC236}">
                <a16:creationId xmlns:a16="http://schemas.microsoft.com/office/drawing/2014/main" id="{FBB0CE35-B25B-B4C6-C32C-5FD0B20C037A}"/>
              </a:ext>
            </a:extLst>
          </p:cNvPr>
          <p:cNvSpPr/>
          <p:nvPr/>
        </p:nvSpPr>
        <p:spPr>
          <a:xfrm>
            <a:off x="6479026" y="2006383"/>
            <a:ext cx="940949" cy="36205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15" name="CuadroTexto 14">
            <a:extLst>
              <a:ext uri="{FF2B5EF4-FFF2-40B4-BE49-F238E27FC236}">
                <a16:creationId xmlns:a16="http://schemas.microsoft.com/office/drawing/2014/main" id="{93C5AC5D-9A1A-766C-CE08-84745D1CEB7D}"/>
              </a:ext>
            </a:extLst>
          </p:cNvPr>
          <p:cNvSpPr txBox="1"/>
          <p:nvPr/>
        </p:nvSpPr>
        <p:spPr>
          <a:xfrm>
            <a:off x="6795999" y="2426979"/>
            <a:ext cx="301753" cy="215444"/>
          </a:xfrm>
          <a:prstGeom prst="rect">
            <a:avLst/>
          </a:prstGeom>
          <a:solidFill>
            <a:schemeClr val="accent1"/>
          </a:solidFill>
        </p:spPr>
        <p:txBody>
          <a:bodyPr wrap="square" rtlCol="0">
            <a:spAutoFit/>
          </a:bodyPr>
          <a:lstStyle/>
          <a:p>
            <a:r>
              <a:rPr lang="en-US" sz="800" b="1" dirty="0">
                <a:solidFill>
                  <a:schemeClr val="bg1"/>
                </a:solidFill>
              </a:rPr>
              <a:t>15</a:t>
            </a:r>
          </a:p>
        </p:txBody>
      </p:sp>
      <p:sp>
        <p:nvSpPr>
          <p:cNvPr id="17" name="CuadroTexto 16">
            <a:extLst>
              <a:ext uri="{FF2B5EF4-FFF2-40B4-BE49-F238E27FC236}">
                <a16:creationId xmlns:a16="http://schemas.microsoft.com/office/drawing/2014/main" id="{B79A1578-5436-0DFF-8249-DECF5D3851AC}"/>
              </a:ext>
            </a:extLst>
          </p:cNvPr>
          <p:cNvSpPr txBox="1"/>
          <p:nvPr/>
        </p:nvSpPr>
        <p:spPr>
          <a:xfrm>
            <a:off x="8531465" y="2426979"/>
            <a:ext cx="301753" cy="215444"/>
          </a:xfrm>
          <a:prstGeom prst="rect">
            <a:avLst/>
          </a:prstGeom>
          <a:solidFill>
            <a:schemeClr val="accent1"/>
          </a:solidFill>
        </p:spPr>
        <p:txBody>
          <a:bodyPr wrap="square" rtlCol="0">
            <a:spAutoFit/>
          </a:bodyPr>
          <a:lstStyle/>
          <a:p>
            <a:r>
              <a:rPr lang="en-US" sz="800" b="1" dirty="0">
                <a:solidFill>
                  <a:schemeClr val="bg1"/>
                </a:solidFill>
              </a:rPr>
              <a:t>17</a:t>
            </a:r>
          </a:p>
        </p:txBody>
      </p:sp>
      <p:sp>
        <p:nvSpPr>
          <p:cNvPr id="18" name="CuadroTexto 17">
            <a:extLst>
              <a:ext uri="{FF2B5EF4-FFF2-40B4-BE49-F238E27FC236}">
                <a16:creationId xmlns:a16="http://schemas.microsoft.com/office/drawing/2014/main" id="{77DC9B71-30CF-F68B-B9CE-88764F85C3FE}"/>
              </a:ext>
            </a:extLst>
          </p:cNvPr>
          <p:cNvSpPr txBox="1"/>
          <p:nvPr/>
        </p:nvSpPr>
        <p:spPr>
          <a:xfrm>
            <a:off x="11189763" y="2461853"/>
            <a:ext cx="301753" cy="215444"/>
          </a:xfrm>
          <a:prstGeom prst="rect">
            <a:avLst/>
          </a:prstGeom>
          <a:solidFill>
            <a:schemeClr val="accent1"/>
          </a:solidFill>
        </p:spPr>
        <p:txBody>
          <a:bodyPr wrap="square" rtlCol="0">
            <a:spAutoFit/>
          </a:bodyPr>
          <a:lstStyle/>
          <a:p>
            <a:r>
              <a:rPr lang="en-US" sz="800" b="1" dirty="0">
                <a:solidFill>
                  <a:schemeClr val="bg1"/>
                </a:solidFill>
              </a:rPr>
              <a:t>19</a:t>
            </a:r>
          </a:p>
        </p:txBody>
      </p:sp>
      <p:sp>
        <p:nvSpPr>
          <p:cNvPr id="19" name="CuadroTexto 18">
            <a:extLst>
              <a:ext uri="{FF2B5EF4-FFF2-40B4-BE49-F238E27FC236}">
                <a16:creationId xmlns:a16="http://schemas.microsoft.com/office/drawing/2014/main" id="{E55F2E78-B939-2486-6238-6DDD5A14963D}"/>
              </a:ext>
            </a:extLst>
          </p:cNvPr>
          <p:cNvSpPr txBox="1"/>
          <p:nvPr/>
        </p:nvSpPr>
        <p:spPr>
          <a:xfrm>
            <a:off x="7747258" y="2426979"/>
            <a:ext cx="301753" cy="215444"/>
          </a:xfrm>
          <a:prstGeom prst="rect">
            <a:avLst/>
          </a:prstGeom>
          <a:solidFill>
            <a:schemeClr val="accent1"/>
          </a:solidFill>
        </p:spPr>
        <p:txBody>
          <a:bodyPr wrap="square" rtlCol="0">
            <a:spAutoFit/>
          </a:bodyPr>
          <a:lstStyle/>
          <a:p>
            <a:r>
              <a:rPr lang="en-US" sz="800" b="1" dirty="0">
                <a:solidFill>
                  <a:schemeClr val="bg1"/>
                </a:solidFill>
              </a:rPr>
              <a:t>16</a:t>
            </a:r>
          </a:p>
        </p:txBody>
      </p:sp>
      <p:sp>
        <p:nvSpPr>
          <p:cNvPr id="20" name="CuadroTexto 19">
            <a:extLst>
              <a:ext uri="{FF2B5EF4-FFF2-40B4-BE49-F238E27FC236}">
                <a16:creationId xmlns:a16="http://schemas.microsoft.com/office/drawing/2014/main" id="{1BB31DCA-17AC-E537-7A7D-3149395F3973}"/>
              </a:ext>
            </a:extLst>
          </p:cNvPr>
          <p:cNvSpPr txBox="1"/>
          <p:nvPr/>
        </p:nvSpPr>
        <p:spPr>
          <a:xfrm>
            <a:off x="9236751" y="2426979"/>
            <a:ext cx="301753" cy="215444"/>
          </a:xfrm>
          <a:prstGeom prst="rect">
            <a:avLst/>
          </a:prstGeom>
          <a:solidFill>
            <a:schemeClr val="accent1"/>
          </a:solidFill>
        </p:spPr>
        <p:txBody>
          <a:bodyPr wrap="square" rtlCol="0">
            <a:spAutoFit/>
          </a:bodyPr>
          <a:lstStyle/>
          <a:p>
            <a:r>
              <a:rPr lang="en-US" sz="800" b="1" dirty="0">
                <a:solidFill>
                  <a:schemeClr val="bg1"/>
                </a:solidFill>
              </a:rPr>
              <a:t>18</a:t>
            </a:r>
          </a:p>
        </p:txBody>
      </p:sp>
      <p:sp>
        <p:nvSpPr>
          <p:cNvPr id="22" name="Rectángulo 21">
            <a:extLst>
              <a:ext uri="{FF2B5EF4-FFF2-40B4-BE49-F238E27FC236}">
                <a16:creationId xmlns:a16="http://schemas.microsoft.com/office/drawing/2014/main" id="{BE9C6AE3-48B5-5D6A-3CD4-9C10C1CB7FD8}"/>
              </a:ext>
            </a:extLst>
          </p:cNvPr>
          <p:cNvSpPr/>
          <p:nvPr/>
        </p:nvSpPr>
        <p:spPr>
          <a:xfrm>
            <a:off x="4967681" y="2006384"/>
            <a:ext cx="755689" cy="3620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3" name="CuadroTexto 22">
            <a:extLst>
              <a:ext uri="{FF2B5EF4-FFF2-40B4-BE49-F238E27FC236}">
                <a16:creationId xmlns:a16="http://schemas.microsoft.com/office/drawing/2014/main" id="{F98F23AD-642D-73DE-64A7-5C83D3709FBB}"/>
              </a:ext>
            </a:extLst>
          </p:cNvPr>
          <p:cNvSpPr txBox="1"/>
          <p:nvPr/>
        </p:nvSpPr>
        <p:spPr>
          <a:xfrm>
            <a:off x="5194648" y="2426979"/>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
        <p:nvSpPr>
          <p:cNvPr id="24" name="Rectángulo 23">
            <a:extLst>
              <a:ext uri="{FF2B5EF4-FFF2-40B4-BE49-F238E27FC236}">
                <a16:creationId xmlns:a16="http://schemas.microsoft.com/office/drawing/2014/main" id="{9EADFC65-6B83-234E-0890-1C07307F4AC5}"/>
              </a:ext>
            </a:extLst>
          </p:cNvPr>
          <p:cNvSpPr/>
          <p:nvPr/>
        </p:nvSpPr>
        <p:spPr>
          <a:xfrm>
            <a:off x="5745559" y="2006383"/>
            <a:ext cx="723074" cy="36205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5" name="CuadroTexto 24">
            <a:extLst>
              <a:ext uri="{FF2B5EF4-FFF2-40B4-BE49-F238E27FC236}">
                <a16:creationId xmlns:a16="http://schemas.microsoft.com/office/drawing/2014/main" id="{9E6C3ADB-9AFE-6D2F-D4B4-189E43660F99}"/>
              </a:ext>
            </a:extLst>
          </p:cNvPr>
          <p:cNvSpPr txBox="1"/>
          <p:nvPr/>
        </p:nvSpPr>
        <p:spPr>
          <a:xfrm>
            <a:off x="5945123" y="2426979"/>
            <a:ext cx="301753" cy="215444"/>
          </a:xfrm>
          <a:prstGeom prst="rect">
            <a:avLst/>
          </a:prstGeom>
          <a:solidFill>
            <a:schemeClr val="accent1"/>
          </a:solidFill>
        </p:spPr>
        <p:txBody>
          <a:bodyPr wrap="square" rtlCol="0">
            <a:spAutoFit/>
          </a:bodyPr>
          <a:lstStyle/>
          <a:p>
            <a:r>
              <a:rPr lang="en-US" sz="800" b="1" dirty="0">
                <a:solidFill>
                  <a:schemeClr val="bg1"/>
                </a:solidFill>
              </a:rPr>
              <a:t>14</a:t>
            </a:r>
          </a:p>
        </p:txBody>
      </p:sp>
      <p:sp>
        <p:nvSpPr>
          <p:cNvPr id="4" name="Rectángulo 3">
            <a:extLst>
              <a:ext uri="{FF2B5EF4-FFF2-40B4-BE49-F238E27FC236}">
                <a16:creationId xmlns:a16="http://schemas.microsoft.com/office/drawing/2014/main" id="{5AF2F9AA-D394-EB24-02D2-C1B1AC0A7FCD}"/>
              </a:ext>
            </a:extLst>
          </p:cNvPr>
          <p:cNvSpPr/>
          <p:nvPr/>
        </p:nvSpPr>
        <p:spPr>
          <a:xfrm>
            <a:off x="11207889" y="6121029"/>
            <a:ext cx="583294"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6330B8EE-6C38-E1F4-DBDD-01D49B8F75B3}"/>
              </a:ext>
            </a:extLst>
          </p:cNvPr>
          <p:cNvSpPr txBox="1"/>
          <p:nvPr/>
        </p:nvSpPr>
        <p:spPr>
          <a:xfrm>
            <a:off x="11340639" y="5858770"/>
            <a:ext cx="301753" cy="215444"/>
          </a:xfrm>
          <a:prstGeom prst="rect">
            <a:avLst/>
          </a:prstGeom>
          <a:solidFill>
            <a:schemeClr val="accent1"/>
          </a:solidFill>
        </p:spPr>
        <p:txBody>
          <a:bodyPr wrap="square" rtlCol="0">
            <a:spAutoFit/>
          </a:bodyPr>
          <a:lstStyle/>
          <a:p>
            <a:r>
              <a:rPr lang="en-US" sz="800" b="1" dirty="0">
                <a:solidFill>
                  <a:schemeClr val="bg1"/>
                </a:solidFill>
              </a:rPr>
              <a:t>20</a:t>
            </a:r>
          </a:p>
        </p:txBody>
      </p:sp>
    </p:spTree>
    <p:extLst>
      <p:ext uri="{BB962C8B-B14F-4D97-AF65-F5344CB8AC3E}">
        <p14:creationId xmlns:p14="http://schemas.microsoft.com/office/powerpoint/2010/main" val="3208233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613D-83A9-75AC-0942-245FEA56ADF8}"/>
            </a:ext>
          </a:extLst>
        </p:cNvPr>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3938F28A-0A57-F94B-931C-0081847AF730}"/>
              </a:ext>
            </a:extLst>
          </p:cNvPr>
          <p:cNvSpPr>
            <a:spLocks noGrp="1"/>
          </p:cNvSpPr>
          <p:nvPr>
            <p:ph type="body" orient="vert" sz="quarter" idx="10"/>
          </p:nvPr>
        </p:nvSpPr>
        <p:spPr/>
        <p:txBody>
          <a:bodyPr/>
          <a:lstStyle/>
          <a:p>
            <a:r>
              <a:rPr lang="es-CO" sz="1200" dirty="0"/>
              <a:t>Gestionar el estado académico</a:t>
            </a:r>
            <a:endParaRPr lang="es-419" dirty="0"/>
          </a:p>
        </p:txBody>
      </p:sp>
      <p:sp>
        <p:nvSpPr>
          <p:cNvPr id="2" name="Title 1">
            <a:extLst>
              <a:ext uri="{FF2B5EF4-FFF2-40B4-BE49-F238E27FC236}">
                <a16:creationId xmlns:a16="http://schemas.microsoft.com/office/drawing/2014/main" id="{952CFEB5-85A8-F55B-4711-A71D71D48D28}"/>
              </a:ext>
            </a:extLst>
          </p:cNvPr>
          <p:cNvSpPr>
            <a:spLocks noGrp="1"/>
          </p:cNvSpPr>
          <p:nvPr>
            <p:ph type="title"/>
          </p:nvPr>
        </p:nvSpPr>
        <p:spPr/>
        <p:txBody>
          <a:bodyPr/>
          <a:lstStyle/>
          <a:p>
            <a:r>
              <a:rPr lang="es-CO" dirty="0"/>
              <a:t>Aplicar los estados académicos</a:t>
            </a:r>
            <a:endParaRPr lang="es-ES_tradnl" dirty="0"/>
          </a:p>
        </p:txBody>
      </p:sp>
      <p:sp>
        <p:nvSpPr>
          <p:cNvPr id="5" name="Marcador de texto 4">
            <a:extLst>
              <a:ext uri="{FF2B5EF4-FFF2-40B4-BE49-F238E27FC236}">
                <a16:creationId xmlns:a16="http://schemas.microsoft.com/office/drawing/2014/main" id="{69B24397-3094-BBF2-D772-86FCD6C24001}"/>
              </a:ext>
            </a:extLst>
          </p:cNvPr>
          <p:cNvSpPr>
            <a:spLocks noGrp="1"/>
          </p:cNvSpPr>
          <p:nvPr>
            <p:ph type="body" sz="quarter" idx="18"/>
          </p:nvPr>
        </p:nvSpPr>
        <p:spPr/>
        <p:txBody>
          <a:bodyPr/>
          <a:lstStyle/>
          <a:p>
            <a:r>
              <a:rPr lang="es-ES_tradnl" dirty="0"/>
              <a:t>Se corren los procesos para que se apliquen las reglas definidas.</a:t>
            </a:r>
          </a:p>
          <a:p>
            <a:endParaRPr lang="es-419" dirty="0"/>
          </a:p>
        </p:txBody>
      </p:sp>
    </p:spTree>
    <p:extLst>
      <p:ext uri="{BB962C8B-B14F-4D97-AF65-F5344CB8AC3E}">
        <p14:creationId xmlns:p14="http://schemas.microsoft.com/office/powerpoint/2010/main" val="2346872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B20B-8317-9577-4B48-038B6F227A88}"/>
            </a:ext>
          </a:extLst>
        </p:cNvPr>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AACD8FC3-C7F2-FE6D-BCC3-3E564C40A238}"/>
              </a:ext>
            </a:extLst>
          </p:cNvPr>
          <p:cNvSpPr>
            <a:spLocks noGrp="1"/>
          </p:cNvSpPr>
          <p:nvPr>
            <p:ph type="body" orient="vert" sz="quarter" idx="10"/>
          </p:nvPr>
        </p:nvSpPr>
        <p:spPr/>
        <p:txBody>
          <a:bodyPr/>
          <a:lstStyle/>
          <a:p>
            <a:r>
              <a:rPr lang="es-CO" sz="1200" dirty="0"/>
              <a:t>Gestionar el estado académico</a:t>
            </a:r>
            <a:endParaRPr lang="es-419" dirty="0"/>
          </a:p>
        </p:txBody>
      </p:sp>
      <p:sp>
        <p:nvSpPr>
          <p:cNvPr id="2" name="Title 1">
            <a:extLst>
              <a:ext uri="{FF2B5EF4-FFF2-40B4-BE49-F238E27FC236}">
                <a16:creationId xmlns:a16="http://schemas.microsoft.com/office/drawing/2014/main" id="{93B4142B-D61F-566D-7DD0-D666B258D50A}"/>
              </a:ext>
            </a:extLst>
          </p:cNvPr>
          <p:cNvSpPr>
            <a:spLocks noGrp="1"/>
          </p:cNvSpPr>
          <p:nvPr>
            <p:ph type="title"/>
          </p:nvPr>
        </p:nvSpPr>
        <p:spPr/>
        <p:txBody>
          <a:bodyPr/>
          <a:lstStyle/>
          <a:p>
            <a:r>
              <a:rPr lang="es-CO" dirty="0"/>
              <a:t>Estados académicos generales</a:t>
            </a:r>
            <a:endParaRPr lang="es-ES_tradnl" dirty="0"/>
          </a:p>
        </p:txBody>
      </p:sp>
      <p:sp>
        <p:nvSpPr>
          <p:cNvPr id="5" name="Marcador de texto 4">
            <a:extLst>
              <a:ext uri="{FF2B5EF4-FFF2-40B4-BE49-F238E27FC236}">
                <a16:creationId xmlns:a16="http://schemas.microsoft.com/office/drawing/2014/main" id="{FD1F0C48-1A14-3A81-3E53-EB76DDEB35EA}"/>
              </a:ext>
            </a:extLst>
          </p:cNvPr>
          <p:cNvSpPr>
            <a:spLocks noGrp="1"/>
          </p:cNvSpPr>
          <p:nvPr>
            <p:ph type="body" sz="quarter" idx="18"/>
          </p:nvPr>
        </p:nvSpPr>
        <p:spPr/>
        <p:txBody>
          <a:bodyPr/>
          <a:lstStyle/>
          <a:p>
            <a:r>
              <a:rPr lang="es-CO" dirty="0"/>
              <a:t>Procesamiento del estado académico, según las reglas definidas</a:t>
            </a:r>
            <a:endParaRPr lang="es-ES_tradnl" dirty="0"/>
          </a:p>
          <a:p>
            <a:endParaRPr lang="es-419" dirty="0"/>
          </a:p>
        </p:txBody>
      </p:sp>
    </p:spTree>
    <p:extLst>
      <p:ext uri="{BB962C8B-B14F-4D97-AF65-F5344CB8AC3E}">
        <p14:creationId xmlns:p14="http://schemas.microsoft.com/office/powerpoint/2010/main" val="3212055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2707-AFBE-5F8A-A88F-AAA62829CB7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4DDF0D0-D3D8-8E6E-7472-B407E2E7B6B0}"/>
              </a:ext>
            </a:extLst>
          </p:cNvPr>
          <p:cNvPicPr>
            <a:picLocks noChangeAspect="1"/>
          </p:cNvPicPr>
          <p:nvPr/>
        </p:nvPicPr>
        <p:blipFill>
          <a:blip r:embed="rId3"/>
          <a:stretch>
            <a:fillRect/>
          </a:stretch>
        </p:blipFill>
        <p:spPr>
          <a:xfrm>
            <a:off x="994218" y="1282687"/>
            <a:ext cx="10826307" cy="4065528"/>
          </a:xfrm>
          <a:prstGeom prst="rect">
            <a:avLst/>
          </a:prstGeom>
        </p:spPr>
      </p:pic>
      <p:sp>
        <p:nvSpPr>
          <p:cNvPr id="3" name="Marcador de texto vertical 2">
            <a:extLst>
              <a:ext uri="{FF2B5EF4-FFF2-40B4-BE49-F238E27FC236}">
                <a16:creationId xmlns:a16="http://schemas.microsoft.com/office/drawing/2014/main" id="{C2DBE61D-7359-1429-B6A4-6230626FAC30}"/>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27ECD844-6766-C737-BFF9-F7CDB8293ED3}"/>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77B10345-773E-56B8-05F2-A10DE53F8AEA}"/>
              </a:ext>
            </a:extLst>
          </p:cNvPr>
          <p:cNvSpPr/>
          <p:nvPr/>
        </p:nvSpPr>
        <p:spPr>
          <a:xfrm>
            <a:off x="994218" y="4821770"/>
            <a:ext cx="10826307" cy="75354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Tx/>
              <a:buAutoNum type="arabicPeriod"/>
            </a:pPr>
            <a:r>
              <a:rPr lang="es-ES_tradnl" sz="1100" dirty="0"/>
              <a:t>Ingrese al proceso SHRASTD desde la página GJAPCTL.</a:t>
            </a:r>
          </a:p>
          <a:p>
            <a:pPr marL="228600" indent="-228600">
              <a:buFontTx/>
              <a:buAutoNum type="arabicPeriod"/>
            </a:pPr>
            <a:r>
              <a:rPr lang="es-ES_tradnl" sz="1100" dirty="0"/>
              <a:t>Presione el botón Ir.</a:t>
            </a:r>
          </a:p>
        </p:txBody>
      </p:sp>
      <p:sp>
        <p:nvSpPr>
          <p:cNvPr id="9" name="CuadroTexto 8">
            <a:extLst>
              <a:ext uri="{FF2B5EF4-FFF2-40B4-BE49-F238E27FC236}">
                <a16:creationId xmlns:a16="http://schemas.microsoft.com/office/drawing/2014/main" id="{1811BD19-7855-81BF-7CA8-B86568943BE6}"/>
              </a:ext>
            </a:extLst>
          </p:cNvPr>
          <p:cNvSpPr txBox="1"/>
          <p:nvPr/>
        </p:nvSpPr>
        <p:spPr>
          <a:xfrm>
            <a:off x="11488515" y="2108351"/>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16" name="Rectángulo 15">
            <a:extLst>
              <a:ext uri="{FF2B5EF4-FFF2-40B4-BE49-F238E27FC236}">
                <a16:creationId xmlns:a16="http://schemas.microsoft.com/office/drawing/2014/main" id="{5E9B8F20-5988-7C1D-C9FD-65A726DBBBC3}"/>
              </a:ext>
            </a:extLst>
          </p:cNvPr>
          <p:cNvSpPr/>
          <p:nvPr/>
        </p:nvSpPr>
        <p:spPr>
          <a:xfrm>
            <a:off x="1361369" y="1825771"/>
            <a:ext cx="1715529"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1D833B3B-B0E9-E18C-37F5-CC0700238D97}"/>
              </a:ext>
            </a:extLst>
          </p:cNvPr>
          <p:cNvSpPr txBox="1"/>
          <p:nvPr/>
        </p:nvSpPr>
        <p:spPr>
          <a:xfrm>
            <a:off x="2068256" y="2108351"/>
            <a:ext cx="301753"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8" name="Rectángulo 7">
            <a:extLst>
              <a:ext uri="{FF2B5EF4-FFF2-40B4-BE49-F238E27FC236}">
                <a16:creationId xmlns:a16="http://schemas.microsoft.com/office/drawing/2014/main" id="{09778FD9-5CA0-5B76-7C22-8F192FB07335}"/>
              </a:ext>
            </a:extLst>
          </p:cNvPr>
          <p:cNvSpPr/>
          <p:nvPr/>
        </p:nvSpPr>
        <p:spPr>
          <a:xfrm>
            <a:off x="11458574" y="1825772"/>
            <a:ext cx="364145"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608444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BE091-4087-13E8-39AB-1EF68DD48BE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A85EB78-083D-61DD-E9DF-3FF3495B32EE}"/>
              </a:ext>
            </a:extLst>
          </p:cNvPr>
          <p:cNvPicPr>
            <a:picLocks noChangeAspect="1"/>
          </p:cNvPicPr>
          <p:nvPr/>
        </p:nvPicPr>
        <p:blipFill>
          <a:blip r:embed="rId3"/>
          <a:stretch>
            <a:fillRect/>
          </a:stretch>
        </p:blipFill>
        <p:spPr>
          <a:xfrm>
            <a:off x="994218" y="1260723"/>
            <a:ext cx="10645174" cy="5183543"/>
          </a:xfrm>
          <a:prstGeom prst="rect">
            <a:avLst/>
          </a:prstGeom>
        </p:spPr>
      </p:pic>
      <p:sp>
        <p:nvSpPr>
          <p:cNvPr id="3" name="Marcador de texto vertical 2">
            <a:extLst>
              <a:ext uri="{FF2B5EF4-FFF2-40B4-BE49-F238E27FC236}">
                <a16:creationId xmlns:a16="http://schemas.microsoft.com/office/drawing/2014/main" id="{E2A12C0A-6E53-3F89-335F-F081316CD3EA}"/>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71619198-7F3C-0C63-4334-29B3FFA38551}"/>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BAC82F9F-DD02-96A9-4CA7-E9D9EDFB8D06}"/>
              </a:ext>
            </a:extLst>
          </p:cNvPr>
          <p:cNvSpPr/>
          <p:nvPr/>
        </p:nvSpPr>
        <p:spPr>
          <a:xfrm>
            <a:off x="879621" y="5097283"/>
            <a:ext cx="10759771"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3. Defina la impresora como DATABASE.</a:t>
            </a:r>
          </a:p>
          <a:p>
            <a:r>
              <a:rPr lang="es-ES_tradnl" sz="1100" dirty="0"/>
              <a:t>4. Pase al siguiente bloque.</a:t>
            </a:r>
          </a:p>
          <a:p>
            <a:endParaRPr lang="es-ES_tradnl" sz="1100" dirty="0"/>
          </a:p>
        </p:txBody>
      </p:sp>
      <p:sp>
        <p:nvSpPr>
          <p:cNvPr id="9" name="CuadroTexto 8">
            <a:extLst>
              <a:ext uri="{FF2B5EF4-FFF2-40B4-BE49-F238E27FC236}">
                <a16:creationId xmlns:a16="http://schemas.microsoft.com/office/drawing/2014/main" id="{6F18DB4F-FD26-38FE-E692-FF0CE83EBF37}"/>
              </a:ext>
            </a:extLst>
          </p:cNvPr>
          <p:cNvSpPr txBox="1"/>
          <p:nvPr/>
        </p:nvSpPr>
        <p:spPr>
          <a:xfrm>
            <a:off x="1659345" y="6195278"/>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6" name="Rectángulo 15">
            <a:extLst>
              <a:ext uri="{FF2B5EF4-FFF2-40B4-BE49-F238E27FC236}">
                <a16:creationId xmlns:a16="http://schemas.microsoft.com/office/drawing/2014/main" id="{72F3293D-7772-4D62-5A5A-C2C249CE72AC}"/>
              </a:ext>
            </a:extLst>
          </p:cNvPr>
          <p:cNvSpPr/>
          <p:nvPr/>
        </p:nvSpPr>
        <p:spPr>
          <a:xfrm>
            <a:off x="1261166" y="2128945"/>
            <a:ext cx="2119431" cy="2001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505D1E4E-BCC9-C069-B749-C1AC4F0E2283}"/>
              </a:ext>
            </a:extLst>
          </p:cNvPr>
          <p:cNvSpPr txBox="1"/>
          <p:nvPr/>
        </p:nvSpPr>
        <p:spPr>
          <a:xfrm>
            <a:off x="3496668" y="2121315"/>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8" name="Rectángulo 7">
            <a:extLst>
              <a:ext uri="{FF2B5EF4-FFF2-40B4-BE49-F238E27FC236}">
                <a16:creationId xmlns:a16="http://schemas.microsoft.com/office/drawing/2014/main" id="{58710337-A4A2-F315-7B6C-4E7B4196FA21}"/>
              </a:ext>
            </a:extLst>
          </p:cNvPr>
          <p:cNvSpPr/>
          <p:nvPr/>
        </p:nvSpPr>
        <p:spPr>
          <a:xfrm>
            <a:off x="1231005" y="6156368"/>
            <a:ext cx="345476" cy="29326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513211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30A9-3ED0-67A6-CD23-602BEE220DC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1CB89F1-D441-01A7-E2C9-AE83B71A491C}"/>
              </a:ext>
            </a:extLst>
          </p:cNvPr>
          <p:cNvPicPr>
            <a:picLocks noChangeAspect="1"/>
          </p:cNvPicPr>
          <p:nvPr/>
        </p:nvPicPr>
        <p:blipFill>
          <a:blip r:embed="rId3"/>
          <a:stretch>
            <a:fillRect/>
          </a:stretch>
        </p:blipFill>
        <p:spPr>
          <a:xfrm>
            <a:off x="994218" y="1260723"/>
            <a:ext cx="10645174" cy="5183543"/>
          </a:xfrm>
          <a:prstGeom prst="rect">
            <a:avLst/>
          </a:prstGeom>
        </p:spPr>
      </p:pic>
      <p:sp>
        <p:nvSpPr>
          <p:cNvPr id="3" name="Marcador de texto vertical 2">
            <a:extLst>
              <a:ext uri="{FF2B5EF4-FFF2-40B4-BE49-F238E27FC236}">
                <a16:creationId xmlns:a16="http://schemas.microsoft.com/office/drawing/2014/main" id="{09E87CC1-34E9-B179-7FF9-2A487B6308E9}"/>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C42E8B5B-2B89-65BE-B9AD-C6E5876B6238}"/>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F208B71E-3DA5-0389-0DE6-593B49855DB0}"/>
              </a:ext>
            </a:extLst>
          </p:cNvPr>
          <p:cNvSpPr/>
          <p:nvPr/>
        </p:nvSpPr>
        <p:spPr>
          <a:xfrm>
            <a:off x="861188" y="5445458"/>
            <a:ext cx="10683112" cy="48861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5. Ingrese los parámetros según la tabla que se presenta en la siguiente diapositiva</a:t>
            </a:r>
          </a:p>
          <a:p>
            <a:endParaRPr lang="es-ES_tradnl" sz="1100" dirty="0"/>
          </a:p>
        </p:txBody>
      </p:sp>
      <p:sp>
        <p:nvSpPr>
          <p:cNvPr id="16" name="Rectángulo 15">
            <a:extLst>
              <a:ext uri="{FF2B5EF4-FFF2-40B4-BE49-F238E27FC236}">
                <a16:creationId xmlns:a16="http://schemas.microsoft.com/office/drawing/2014/main" id="{EBF7D9BA-D865-BFFE-487C-A8B8D663EB3F}"/>
              </a:ext>
            </a:extLst>
          </p:cNvPr>
          <p:cNvSpPr/>
          <p:nvPr/>
        </p:nvSpPr>
        <p:spPr>
          <a:xfrm>
            <a:off x="994218" y="3014363"/>
            <a:ext cx="10550082" cy="238592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7DEF92A6-9B8C-9F0C-1746-AE7E40D6866E}"/>
              </a:ext>
            </a:extLst>
          </p:cNvPr>
          <p:cNvSpPr txBox="1"/>
          <p:nvPr/>
        </p:nvSpPr>
        <p:spPr>
          <a:xfrm>
            <a:off x="5939251" y="2753747"/>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Tree>
    <p:extLst>
      <p:ext uri="{BB962C8B-B14F-4D97-AF65-F5344CB8AC3E}">
        <p14:creationId xmlns:p14="http://schemas.microsoft.com/office/powerpoint/2010/main" val="942885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4208-58C5-6265-0CAA-526DA0F9FE2C}"/>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FAE5A43-A41E-D48E-A2EB-6C81232FA2B9}"/>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FF298660-B4BE-2C91-5DE7-E32524136877}"/>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graphicFrame>
        <p:nvGraphicFramePr>
          <p:cNvPr id="4" name="Marcador de contenido 3">
            <a:extLst>
              <a:ext uri="{FF2B5EF4-FFF2-40B4-BE49-F238E27FC236}">
                <a16:creationId xmlns:a16="http://schemas.microsoft.com/office/drawing/2014/main" id="{CA086C40-F4D1-155F-B379-02F26897D1E0}"/>
              </a:ext>
            </a:extLst>
          </p:cNvPr>
          <p:cNvGraphicFramePr>
            <a:graphicFrameLocks/>
          </p:cNvGraphicFramePr>
          <p:nvPr>
            <p:extLst>
              <p:ext uri="{D42A27DB-BD31-4B8C-83A1-F6EECF244321}">
                <p14:modId xmlns:p14="http://schemas.microsoft.com/office/powerpoint/2010/main" val="1772196592"/>
              </p:ext>
            </p:extLst>
          </p:nvPr>
        </p:nvGraphicFramePr>
        <p:xfrm>
          <a:off x="994217" y="1874427"/>
          <a:ext cx="9898370" cy="4297772"/>
        </p:xfrm>
        <a:graphic>
          <a:graphicData uri="http://schemas.openxmlformats.org/drawingml/2006/table">
            <a:tbl>
              <a:tblPr firstRow="1" bandRow="1">
                <a:tableStyleId>{5C22544A-7EE6-4342-B048-85BDC9FD1C3A}</a:tableStyleId>
              </a:tblPr>
              <a:tblGrid>
                <a:gridCol w="827261">
                  <a:extLst>
                    <a:ext uri="{9D8B030D-6E8A-4147-A177-3AD203B41FA5}">
                      <a16:colId xmlns:a16="http://schemas.microsoft.com/office/drawing/2014/main" val="249767121"/>
                    </a:ext>
                  </a:extLst>
                </a:gridCol>
                <a:gridCol w="1291447">
                  <a:extLst>
                    <a:ext uri="{9D8B030D-6E8A-4147-A177-3AD203B41FA5}">
                      <a16:colId xmlns:a16="http://schemas.microsoft.com/office/drawing/2014/main" val="915586211"/>
                    </a:ext>
                  </a:extLst>
                </a:gridCol>
                <a:gridCol w="6581959">
                  <a:extLst>
                    <a:ext uri="{9D8B030D-6E8A-4147-A177-3AD203B41FA5}">
                      <a16:colId xmlns:a16="http://schemas.microsoft.com/office/drawing/2014/main" val="523512153"/>
                    </a:ext>
                  </a:extLst>
                </a:gridCol>
                <a:gridCol w="1197703">
                  <a:extLst>
                    <a:ext uri="{9D8B030D-6E8A-4147-A177-3AD203B41FA5}">
                      <a16:colId xmlns:a16="http://schemas.microsoft.com/office/drawing/2014/main" val="1126850053"/>
                    </a:ext>
                  </a:extLst>
                </a:gridCol>
              </a:tblGrid>
              <a:tr h="443181">
                <a:tc>
                  <a:txBody>
                    <a:bodyPr/>
                    <a:lstStyle/>
                    <a:p>
                      <a:pPr marL="0" marR="0">
                        <a:lnSpc>
                          <a:spcPct val="115000"/>
                        </a:lnSpc>
                        <a:spcBef>
                          <a:spcPts val="0"/>
                        </a:spcBef>
                        <a:spcAft>
                          <a:spcPts val="0"/>
                        </a:spcAft>
                      </a:pPr>
                      <a:r>
                        <a:rPr lang="es-419" sz="900" baseline="0" dirty="0">
                          <a:solidFill>
                            <a:schemeClr val="bg1"/>
                          </a:solidFill>
                          <a:effectLst/>
                        </a:rPr>
                        <a:t>Número</a:t>
                      </a:r>
                      <a:endParaRPr lang="es-CO" sz="900" baseline="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00" dirty="0">
                          <a:solidFill>
                            <a:schemeClr val="bg1"/>
                          </a:solidFill>
                          <a:effectLst/>
                        </a:rPr>
                        <a:t>Parámetro</a:t>
                      </a:r>
                      <a:endParaRPr lang="es-CO" sz="9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bg1"/>
                          </a:solidFill>
                          <a:effectLst/>
                        </a:rPr>
                        <a:t>Valores</a:t>
                      </a:r>
                      <a:endParaRPr lang="es-CO" sz="9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bg1"/>
                          </a:solidFill>
                          <a:effectLst/>
                        </a:rPr>
                        <a:t>Requerido / Opcional</a:t>
                      </a:r>
                      <a:endParaRPr lang="es-CO" sz="9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58628">
                <a:tc>
                  <a:txBody>
                    <a:bodyPr/>
                    <a:lstStyle/>
                    <a:p>
                      <a:pPr marL="0" marR="0">
                        <a:lnSpc>
                          <a:spcPct val="115000"/>
                        </a:lnSpc>
                        <a:spcBef>
                          <a:spcPts val="0"/>
                        </a:spcBef>
                        <a:spcAft>
                          <a:spcPts val="0"/>
                        </a:spcAft>
                      </a:pPr>
                      <a:r>
                        <a:rPr lang="es-419" sz="900" dirty="0">
                          <a:solidFill>
                            <a:schemeClr val="tx1"/>
                          </a:solidFill>
                          <a:effectLst/>
                        </a:rPr>
                        <a:t>01</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900" dirty="0">
                          <a:solidFill>
                            <a:schemeClr val="tx1"/>
                          </a:solidFill>
                          <a:effectLst/>
                        </a:rPr>
                        <a:t>Periodo</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90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Seleccione el  código del período para el cual desea correr el proceso.</a:t>
                      </a:r>
                      <a:endParaRPr lang="es-CO" sz="9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tx1"/>
                          </a:solidFill>
                          <a:effectLst/>
                        </a:rPr>
                        <a:t>R</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57562266"/>
                  </a:ext>
                </a:extLst>
              </a:tr>
              <a:tr h="405660">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02</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0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Actualizar estado académico</a:t>
                      </a:r>
                      <a:endParaRPr lang="es-CO" sz="9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900" dirty="0">
                          <a:solidFill>
                            <a:schemeClr val="tx1"/>
                          </a:solidFill>
                          <a:effectLst/>
                          <a:latin typeface="Arial" panose="020B0604020202020204" pitchFamily="34" charset="0"/>
                          <a:cs typeface="Times New Roman" panose="02020603050405020304" pitchFamily="18" charset="0"/>
                        </a:rPr>
                        <a:t>Ingrese Y para Si y N para No.</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rgbClr val="000000"/>
                          </a:solidFill>
                          <a:effectLst/>
                          <a:latin typeface="Arial" panose="020B0604020202020204" pitchFamily="34" charset="0"/>
                          <a:cs typeface="Arial" panose="020B0604020202020204" pitchFamily="34" charset="0"/>
                        </a:rPr>
                        <a:t>R</a:t>
                      </a:r>
                      <a:endParaRPr lang="es-CO" sz="900" dirty="0">
                        <a:solidFill>
                          <a:srgbClr val="7D7D7D"/>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509454192"/>
                  </a:ext>
                </a:extLst>
              </a:tr>
              <a:tr h="405660">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03</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Actualizar Edo cuadro de honor</a:t>
                      </a:r>
                    </a:p>
                  </a:txBody>
                  <a:tcPr marL="68580" marR="68580" marT="36195" marB="36195" anchor="ctr"/>
                </a:tc>
                <a:tc>
                  <a:txBody>
                    <a:bodyPr/>
                    <a:lstStyle/>
                    <a:p>
                      <a:pPr algn="just">
                        <a:lnSpc>
                          <a:spcPct val="115000"/>
                        </a:lnSpc>
                      </a:pPr>
                      <a:r>
                        <a:rPr lang="es-419" sz="900" dirty="0">
                          <a:solidFill>
                            <a:schemeClr val="tx1"/>
                          </a:solidFill>
                          <a:effectLst/>
                          <a:latin typeface="Arial" panose="020B0604020202020204" pitchFamily="34" charset="0"/>
                          <a:cs typeface="Times New Roman" panose="02020603050405020304" pitchFamily="18" charset="0"/>
                        </a:rPr>
                        <a:t>Ingrese Y para Si y N para No</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R</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956190754"/>
                  </a:ext>
                </a:extLst>
              </a:tr>
              <a:tr h="438054">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04</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0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Modo auditar/ actualizar</a:t>
                      </a:r>
                      <a:endParaRPr lang="es-CO" sz="9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900">
                          <a:solidFill>
                            <a:schemeClr val="tx1"/>
                          </a:solidFill>
                          <a:effectLst/>
                          <a:latin typeface="Arial" panose="020B0604020202020204" pitchFamily="34" charset="0"/>
                          <a:cs typeface="Times New Roman" panose="02020603050405020304" pitchFamily="18" charset="0"/>
                        </a:rPr>
                        <a:t>Ingrese el modo en que se ejecutará el proceso: A (auditoría, no se procesa ningún registro) o U (actualizar, con lo que se procesan los registros)</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R</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00244662"/>
                  </a:ext>
                </a:extLst>
              </a:tr>
              <a:tr h="438054">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05</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Calcular </a:t>
                      </a: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hrs</a:t>
                      </a: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t>
                      </a: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inscrip</a:t>
                      </a: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t>
                      </a: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mín</a:t>
                      </a: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t>
                      </a: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máx</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Si desea </a:t>
                      </a:r>
                      <a:r>
                        <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comparar las nuevas horas de código de Estado Académico con registros existentes futuros, ingrese Y; de lo contrario ingrese N.</a:t>
                      </a: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R</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990127115"/>
                  </a:ext>
                </a:extLst>
              </a:tr>
              <a:tr h="405660">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06</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Periodo futuro preinscripción</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Seleccione el código del periodo futuro de inscripción a comparar con nuevo registro de estado académico.</a:t>
                      </a: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O</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35225709"/>
                  </a:ext>
                </a:extLst>
              </a:tr>
              <a:tr h="438054">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07</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Audit/Actualizar horas </a:t>
                      </a: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mín</a:t>
                      </a: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t>
                      </a: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máx</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Indique si desea auditar o actualizar el periodo futuro a nuevas horas mínimas/máximas. U para actualizar A para auditar.</a:t>
                      </a: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O</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2890548184"/>
                  </a:ext>
                </a:extLst>
              </a:tr>
              <a:tr h="405660">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08</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Actlzr</a:t>
                      </a: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nuevo val origen ‘USER’</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Y si desea sobrepasar las horas mínimas o máximas, en caso contrario, ingrese N.</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R</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156799442"/>
                  </a:ext>
                </a:extLst>
              </a:tr>
              <a:tr h="405660">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09</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Procesar por periodo de alumno</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Y para que el cálculo del estado académico sea basado en alumno o N para no.</a:t>
                      </a: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R</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3265421"/>
                  </a:ext>
                </a:extLst>
              </a:tr>
              <a:tr h="253501">
                <a:tc>
                  <a:txBody>
                    <a:bodyPr/>
                    <a:lstStyle/>
                    <a:p>
                      <a:pPr marL="0" marR="0">
                        <a:lnSpc>
                          <a:spcPct val="115000"/>
                        </a:lnSpc>
                        <a:spcBef>
                          <a:spcPts val="0"/>
                        </a:spcBef>
                        <a:spcAft>
                          <a:spcPts val="0"/>
                        </a:spcAft>
                      </a:pPr>
                      <a:r>
                        <a:rPr lang="es-419"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10</a:t>
                      </a:r>
                      <a:endParaRPr lang="es-CO" sz="9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9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SCP’s</a:t>
                      </a:r>
                      <a:r>
                        <a:rPr lang="es-419"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 procesar</a:t>
                      </a:r>
                      <a:endPar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CO" sz="9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los periodos basados en alumno a procesar.</a:t>
                      </a:r>
                    </a:p>
                  </a:txBody>
                  <a:tcPr marL="68580" marR="68580" marT="36195" marB="36195" anchor="ctr"/>
                </a:tc>
                <a:tc>
                  <a:txBody>
                    <a:bodyPr/>
                    <a:lstStyle/>
                    <a:p>
                      <a:pPr algn="ctr">
                        <a:lnSpc>
                          <a:spcPct val="115000"/>
                        </a:lnSpc>
                      </a:pPr>
                      <a:r>
                        <a:rPr lang="es-419" sz="900" dirty="0">
                          <a:solidFill>
                            <a:schemeClr val="tx1"/>
                          </a:solidFill>
                          <a:effectLst/>
                          <a:latin typeface="Arial" panose="020B0604020202020204" pitchFamily="34" charset="0"/>
                          <a:cs typeface="Times New Roman" panose="02020603050405020304" pitchFamily="18" charset="0"/>
                        </a:rPr>
                        <a:t>O</a:t>
                      </a:r>
                      <a:endParaRPr lang="es-CO" sz="9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282273879"/>
                  </a:ext>
                </a:extLst>
              </a:tr>
            </a:tbl>
          </a:graphicData>
        </a:graphic>
      </p:graphicFrame>
    </p:spTree>
    <p:extLst>
      <p:ext uri="{BB962C8B-B14F-4D97-AF65-F5344CB8AC3E}">
        <p14:creationId xmlns:p14="http://schemas.microsoft.com/office/powerpoint/2010/main" val="90564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F880-7C2B-FE8D-B13B-3ADC03DE82C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E365211-ADB9-4050-B176-64CFBED6091F}"/>
              </a:ext>
            </a:extLst>
          </p:cNvPr>
          <p:cNvPicPr>
            <a:picLocks noChangeAspect="1"/>
          </p:cNvPicPr>
          <p:nvPr/>
        </p:nvPicPr>
        <p:blipFill>
          <a:blip r:embed="rId3"/>
          <a:stretch>
            <a:fillRect/>
          </a:stretch>
        </p:blipFill>
        <p:spPr>
          <a:xfrm>
            <a:off x="994218" y="1260723"/>
            <a:ext cx="10645174" cy="5183543"/>
          </a:xfrm>
          <a:prstGeom prst="rect">
            <a:avLst/>
          </a:prstGeom>
        </p:spPr>
      </p:pic>
      <p:sp>
        <p:nvSpPr>
          <p:cNvPr id="3" name="Marcador de texto vertical 2">
            <a:extLst>
              <a:ext uri="{FF2B5EF4-FFF2-40B4-BE49-F238E27FC236}">
                <a16:creationId xmlns:a16="http://schemas.microsoft.com/office/drawing/2014/main" id="{CE85A2F5-23D1-AC1D-EF1E-0F9BF07A2DB9}"/>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5D422F3F-6882-E165-1BF4-FCDA0340E402}"/>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CCD5C9BE-CB61-23D8-7BDA-CEA3AF0A4F04}"/>
              </a:ext>
            </a:extLst>
          </p:cNvPr>
          <p:cNvSpPr/>
          <p:nvPr/>
        </p:nvSpPr>
        <p:spPr>
          <a:xfrm>
            <a:off x="994217" y="4933177"/>
            <a:ext cx="10645174" cy="80087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6. Toda vez que se ingresaron los parámetros, pase al siguiente bloque</a:t>
            </a:r>
          </a:p>
          <a:p>
            <a:endParaRPr lang="es-ES_tradnl" sz="1100" dirty="0"/>
          </a:p>
        </p:txBody>
      </p:sp>
      <p:sp>
        <p:nvSpPr>
          <p:cNvPr id="16" name="Rectángulo 15">
            <a:extLst>
              <a:ext uri="{FF2B5EF4-FFF2-40B4-BE49-F238E27FC236}">
                <a16:creationId xmlns:a16="http://schemas.microsoft.com/office/drawing/2014/main" id="{D8147052-A9BC-B11D-E29D-668BF2FC3DB6}"/>
              </a:ext>
            </a:extLst>
          </p:cNvPr>
          <p:cNvSpPr/>
          <p:nvPr/>
        </p:nvSpPr>
        <p:spPr>
          <a:xfrm>
            <a:off x="1220764" y="6172198"/>
            <a:ext cx="344815" cy="2566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802FBD8C-8A9B-F00F-F94F-5DA763C27362}"/>
              </a:ext>
            </a:extLst>
          </p:cNvPr>
          <p:cNvSpPr txBox="1"/>
          <p:nvPr/>
        </p:nvSpPr>
        <p:spPr>
          <a:xfrm>
            <a:off x="1616683" y="6192813"/>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Tree>
    <p:extLst>
      <p:ext uri="{BB962C8B-B14F-4D97-AF65-F5344CB8AC3E}">
        <p14:creationId xmlns:p14="http://schemas.microsoft.com/office/powerpoint/2010/main" val="31585440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796B6-2545-0AB7-FC8D-0A9CED0B6A1D}"/>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68FEC4B0-7571-AF38-B8C4-5EDCFD237839}"/>
              </a:ext>
            </a:extLst>
          </p:cNvPr>
          <p:cNvPicPr>
            <a:picLocks noChangeAspect="1"/>
          </p:cNvPicPr>
          <p:nvPr/>
        </p:nvPicPr>
        <p:blipFill>
          <a:blip r:embed="rId3"/>
          <a:stretch>
            <a:fillRect/>
          </a:stretch>
        </p:blipFill>
        <p:spPr>
          <a:xfrm>
            <a:off x="994218" y="1233211"/>
            <a:ext cx="10740582" cy="5227269"/>
          </a:xfrm>
          <a:prstGeom prst="rect">
            <a:avLst/>
          </a:prstGeom>
        </p:spPr>
      </p:pic>
      <p:sp>
        <p:nvSpPr>
          <p:cNvPr id="3" name="Marcador de texto vertical 2">
            <a:extLst>
              <a:ext uri="{FF2B5EF4-FFF2-40B4-BE49-F238E27FC236}">
                <a16:creationId xmlns:a16="http://schemas.microsoft.com/office/drawing/2014/main" id="{DA09A5C4-74B6-46BE-5FBF-F7C0389B2EB5}"/>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A6186C77-A5A2-6B80-635E-E8E49B34F4A0}"/>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A6F54305-F632-4028-7702-248AD85853D1}"/>
              </a:ext>
            </a:extLst>
          </p:cNvPr>
          <p:cNvSpPr/>
          <p:nvPr/>
        </p:nvSpPr>
        <p:spPr>
          <a:xfrm>
            <a:off x="994219" y="4166299"/>
            <a:ext cx="10740581" cy="60201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7. Seleccione la opción enviar.</a:t>
            </a:r>
          </a:p>
          <a:p>
            <a:r>
              <a:rPr lang="es-ES_tradnl" sz="1100" dirty="0"/>
              <a:t>8. Guarde la información.</a:t>
            </a:r>
          </a:p>
        </p:txBody>
      </p:sp>
      <p:sp>
        <p:nvSpPr>
          <p:cNvPr id="16" name="Rectángulo 15">
            <a:extLst>
              <a:ext uri="{FF2B5EF4-FFF2-40B4-BE49-F238E27FC236}">
                <a16:creationId xmlns:a16="http://schemas.microsoft.com/office/drawing/2014/main" id="{1E0CFC79-B9AA-C27C-236B-B010E4015D31}"/>
              </a:ext>
            </a:extLst>
          </p:cNvPr>
          <p:cNvSpPr/>
          <p:nvPr/>
        </p:nvSpPr>
        <p:spPr>
          <a:xfrm>
            <a:off x="11197782" y="6185612"/>
            <a:ext cx="632268" cy="274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3C0F164B-FD41-296D-0AF9-F982B68D8965}"/>
              </a:ext>
            </a:extLst>
          </p:cNvPr>
          <p:cNvSpPr txBox="1"/>
          <p:nvPr/>
        </p:nvSpPr>
        <p:spPr>
          <a:xfrm>
            <a:off x="11046906" y="5524219"/>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5" name="Rectángulo 4">
            <a:extLst>
              <a:ext uri="{FF2B5EF4-FFF2-40B4-BE49-F238E27FC236}">
                <a16:creationId xmlns:a16="http://schemas.microsoft.com/office/drawing/2014/main" id="{F0D022F4-7018-4616-3A8B-35F7832C47DC}"/>
              </a:ext>
            </a:extLst>
          </p:cNvPr>
          <p:cNvSpPr/>
          <p:nvPr/>
        </p:nvSpPr>
        <p:spPr>
          <a:xfrm>
            <a:off x="6422074" y="5194695"/>
            <a:ext cx="1660659" cy="3437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2F8BE00D-9141-7F0C-A7CD-24B34EE24F70}"/>
              </a:ext>
            </a:extLst>
          </p:cNvPr>
          <p:cNvSpPr txBox="1"/>
          <p:nvPr/>
        </p:nvSpPr>
        <p:spPr>
          <a:xfrm>
            <a:off x="7101526" y="4853869"/>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Tree>
    <p:extLst>
      <p:ext uri="{BB962C8B-B14F-4D97-AF65-F5344CB8AC3E}">
        <p14:creationId xmlns:p14="http://schemas.microsoft.com/office/powerpoint/2010/main" val="2288872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A0B85-C0CE-0A02-9A19-CD1541777D68}"/>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5D3A48BF-62C7-0997-1A27-C8CBF5A5E1C8}"/>
              </a:ext>
            </a:extLst>
          </p:cNvPr>
          <p:cNvPicPr>
            <a:picLocks noChangeAspect="1"/>
          </p:cNvPicPr>
          <p:nvPr/>
        </p:nvPicPr>
        <p:blipFill>
          <a:blip r:embed="rId3"/>
          <a:stretch>
            <a:fillRect/>
          </a:stretch>
        </p:blipFill>
        <p:spPr>
          <a:xfrm>
            <a:off x="998709" y="1262307"/>
            <a:ext cx="10640683" cy="4953422"/>
          </a:xfrm>
          <a:prstGeom prst="rect">
            <a:avLst/>
          </a:prstGeom>
        </p:spPr>
      </p:pic>
      <p:sp>
        <p:nvSpPr>
          <p:cNvPr id="3" name="Marcador de texto vertical 2">
            <a:extLst>
              <a:ext uri="{FF2B5EF4-FFF2-40B4-BE49-F238E27FC236}">
                <a16:creationId xmlns:a16="http://schemas.microsoft.com/office/drawing/2014/main" id="{CCDE6E57-1B8D-8A08-263D-FD598E9529B7}"/>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57683F6F-5004-C0CA-1D61-51A3D05ADFEB}"/>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CF757767-B8AF-DCA6-550E-EB11DBB50E4A}"/>
              </a:ext>
            </a:extLst>
          </p:cNvPr>
          <p:cNvSpPr/>
          <p:nvPr/>
        </p:nvSpPr>
        <p:spPr>
          <a:xfrm>
            <a:off x="994218" y="4866230"/>
            <a:ext cx="10640683" cy="72946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r>
              <a:rPr lang="es-ES_tradnl" sz="1100" dirty="0"/>
              <a:t>9. Para revisar el resultado del proceso, selección la opción Revisar salida del Menú Relacionado.</a:t>
            </a:r>
          </a:p>
          <a:p>
            <a:endParaRPr lang="es-ES_tradnl" sz="1100" dirty="0"/>
          </a:p>
        </p:txBody>
      </p:sp>
      <p:sp>
        <p:nvSpPr>
          <p:cNvPr id="5" name="Rectángulo 4">
            <a:extLst>
              <a:ext uri="{FF2B5EF4-FFF2-40B4-BE49-F238E27FC236}">
                <a16:creationId xmlns:a16="http://schemas.microsoft.com/office/drawing/2014/main" id="{1B32DF04-F11A-1404-9454-F82573B043E1}"/>
              </a:ext>
            </a:extLst>
          </p:cNvPr>
          <p:cNvSpPr/>
          <p:nvPr/>
        </p:nvSpPr>
        <p:spPr>
          <a:xfrm>
            <a:off x="9961659" y="1988721"/>
            <a:ext cx="1375749" cy="3204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4E3ECCFA-814C-0F72-89FE-BC9BB84CE093}"/>
              </a:ext>
            </a:extLst>
          </p:cNvPr>
          <p:cNvSpPr txBox="1"/>
          <p:nvPr/>
        </p:nvSpPr>
        <p:spPr>
          <a:xfrm>
            <a:off x="9572551" y="2041237"/>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Tree>
    <p:extLst>
      <p:ext uri="{BB962C8B-B14F-4D97-AF65-F5344CB8AC3E}">
        <p14:creationId xmlns:p14="http://schemas.microsoft.com/office/powerpoint/2010/main" val="1013302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20A5D-A094-DDA2-E55F-30010CF41AD3}"/>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B573152B-2C35-543D-8ECC-39871B473C44}"/>
              </a:ext>
            </a:extLst>
          </p:cNvPr>
          <p:cNvPicPr>
            <a:picLocks noChangeAspect="1"/>
          </p:cNvPicPr>
          <p:nvPr/>
        </p:nvPicPr>
        <p:blipFill>
          <a:blip r:embed="rId3"/>
          <a:stretch>
            <a:fillRect/>
          </a:stretch>
        </p:blipFill>
        <p:spPr>
          <a:xfrm>
            <a:off x="994218" y="1262220"/>
            <a:ext cx="10875662" cy="4147980"/>
          </a:xfrm>
          <a:prstGeom prst="rect">
            <a:avLst/>
          </a:prstGeom>
        </p:spPr>
      </p:pic>
      <p:sp>
        <p:nvSpPr>
          <p:cNvPr id="3" name="Marcador de texto vertical 2">
            <a:extLst>
              <a:ext uri="{FF2B5EF4-FFF2-40B4-BE49-F238E27FC236}">
                <a16:creationId xmlns:a16="http://schemas.microsoft.com/office/drawing/2014/main" id="{350B02AE-B857-5820-D9B2-FED8AF756427}"/>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EAADC5DC-C360-3590-63ED-AEBF65247E69}"/>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1E084EFB-D6BA-5E09-2378-F41FF84722A8}"/>
              </a:ext>
            </a:extLst>
          </p:cNvPr>
          <p:cNvSpPr/>
          <p:nvPr/>
        </p:nvSpPr>
        <p:spPr>
          <a:xfrm>
            <a:off x="1026410" y="3886582"/>
            <a:ext cx="10843470" cy="133438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r>
              <a:rPr lang="es-ES_tradnl" sz="1100" dirty="0"/>
              <a:t>10. El sistema muestra el número asignado al proceso automáticamente.</a:t>
            </a:r>
          </a:p>
          <a:p>
            <a:r>
              <a:rPr lang="es-ES_tradnl" sz="1100" dirty="0"/>
              <a:t>11. Seleccione el archivo a revisar, según número de proceso. </a:t>
            </a:r>
          </a:p>
          <a:p>
            <a:endParaRPr lang="es-ES_tradnl" sz="1100" dirty="0"/>
          </a:p>
          <a:p>
            <a:endParaRPr lang="es-ES_tradnl" sz="1100" dirty="0"/>
          </a:p>
        </p:txBody>
      </p:sp>
      <p:sp>
        <p:nvSpPr>
          <p:cNvPr id="5" name="Rectángulo 4">
            <a:extLst>
              <a:ext uri="{FF2B5EF4-FFF2-40B4-BE49-F238E27FC236}">
                <a16:creationId xmlns:a16="http://schemas.microsoft.com/office/drawing/2014/main" id="{4BB7CA71-CAA1-C2A8-F855-19E460BA5FEE}"/>
              </a:ext>
            </a:extLst>
          </p:cNvPr>
          <p:cNvSpPr/>
          <p:nvPr/>
        </p:nvSpPr>
        <p:spPr>
          <a:xfrm>
            <a:off x="6316805" y="1811974"/>
            <a:ext cx="1759626" cy="2154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45E93BC4-CBA6-9628-CE07-ABA1CF1A9DFA}"/>
              </a:ext>
            </a:extLst>
          </p:cNvPr>
          <p:cNvSpPr txBox="1"/>
          <p:nvPr/>
        </p:nvSpPr>
        <p:spPr>
          <a:xfrm>
            <a:off x="7045741" y="2076605"/>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9" name="CuadroTexto 8">
            <a:extLst>
              <a:ext uri="{FF2B5EF4-FFF2-40B4-BE49-F238E27FC236}">
                <a16:creationId xmlns:a16="http://schemas.microsoft.com/office/drawing/2014/main" id="{73742D22-D3C2-05CB-1B1C-CEACB1383B76}"/>
              </a:ext>
            </a:extLst>
          </p:cNvPr>
          <p:cNvSpPr txBox="1"/>
          <p:nvPr/>
        </p:nvSpPr>
        <p:spPr>
          <a:xfrm>
            <a:off x="2007849" y="2230996"/>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
        <p:nvSpPr>
          <p:cNvPr id="10" name="Rectángulo 9">
            <a:extLst>
              <a:ext uri="{FF2B5EF4-FFF2-40B4-BE49-F238E27FC236}">
                <a16:creationId xmlns:a16="http://schemas.microsoft.com/office/drawing/2014/main" id="{085D254A-F068-55B8-5782-8C9F1A2B3631}"/>
              </a:ext>
            </a:extLst>
          </p:cNvPr>
          <p:cNvSpPr/>
          <p:nvPr/>
        </p:nvSpPr>
        <p:spPr>
          <a:xfrm>
            <a:off x="1026410" y="1968882"/>
            <a:ext cx="2264633" cy="2154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547209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9D9B7-FE98-5F81-C1D4-B8CB8761CDE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E5F17DC-FDD5-47C3-BC7E-528FFB0DB186}"/>
              </a:ext>
            </a:extLst>
          </p:cNvPr>
          <p:cNvPicPr>
            <a:picLocks noChangeAspect="1"/>
          </p:cNvPicPr>
          <p:nvPr/>
        </p:nvPicPr>
        <p:blipFill>
          <a:blip r:embed="rId3"/>
          <a:stretch>
            <a:fillRect/>
          </a:stretch>
        </p:blipFill>
        <p:spPr>
          <a:xfrm>
            <a:off x="994218" y="1212114"/>
            <a:ext cx="10836583" cy="4512412"/>
          </a:xfrm>
          <a:prstGeom prst="rect">
            <a:avLst/>
          </a:prstGeom>
        </p:spPr>
      </p:pic>
      <p:sp>
        <p:nvSpPr>
          <p:cNvPr id="3" name="Marcador de texto vertical 2">
            <a:extLst>
              <a:ext uri="{FF2B5EF4-FFF2-40B4-BE49-F238E27FC236}">
                <a16:creationId xmlns:a16="http://schemas.microsoft.com/office/drawing/2014/main" id="{E8B5F595-E3E5-15D4-C728-746EC6AAE515}"/>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D162A4C1-E863-BB5C-B5BC-071999A5C6E2}"/>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7C66D004-C9B2-C2D5-93E0-6A108C37F671}"/>
              </a:ext>
            </a:extLst>
          </p:cNvPr>
          <p:cNvSpPr/>
          <p:nvPr/>
        </p:nvSpPr>
        <p:spPr>
          <a:xfrm>
            <a:off x="975167" y="5154983"/>
            <a:ext cx="10855632" cy="68416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r>
              <a:rPr lang="es-ES_tradnl" sz="1100" dirty="0"/>
              <a:t>12. Puede visualizar los resultados del proceso en la página…</a:t>
            </a:r>
          </a:p>
          <a:p>
            <a:endParaRPr lang="es-ES_tradnl" sz="1100" dirty="0"/>
          </a:p>
          <a:p>
            <a:endParaRPr lang="es-ES_tradnl" sz="1100" dirty="0"/>
          </a:p>
        </p:txBody>
      </p:sp>
      <p:sp>
        <p:nvSpPr>
          <p:cNvPr id="9" name="CuadroTexto 8">
            <a:extLst>
              <a:ext uri="{FF2B5EF4-FFF2-40B4-BE49-F238E27FC236}">
                <a16:creationId xmlns:a16="http://schemas.microsoft.com/office/drawing/2014/main" id="{86E7E4F1-77C3-9F9B-04CC-2FD88F975737}"/>
              </a:ext>
            </a:extLst>
          </p:cNvPr>
          <p:cNvSpPr txBox="1"/>
          <p:nvPr/>
        </p:nvSpPr>
        <p:spPr>
          <a:xfrm>
            <a:off x="5945123" y="1648587"/>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
        <p:nvSpPr>
          <p:cNvPr id="10" name="Rectángulo 9">
            <a:extLst>
              <a:ext uri="{FF2B5EF4-FFF2-40B4-BE49-F238E27FC236}">
                <a16:creationId xmlns:a16="http://schemas.microsoft.com/office/drawing/2014/main" id="{15784E0C-F67D-F968-4E30-645E04988440}"/>
              </a:ext>
            </a:extLst>
          </p:cNvPr>
          <p:cNvSpPr/>
          <p:nvPr/>
        </p:nvSpPr>
        <p:spPr>
          <a:xfrm>
            <a:off x="975167" y="1968316"/>
            <a:ext cx="10855633" cy="25941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113015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99B33-186F-E44C-C3DB-052E43B1807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9D24526-C8B8-C8CC-57E0-36163A897091}"/>
              </a:ext>
            </a:extLst>
          </p:cNvPr>
          <p:cNvPicPr>
            <a:picLocks noChangeAspect="1"/>
          </p:cNvPicPr>
          <p:nvPr/>
        </p:nvPicPr>
        <p:blipFill>
          <a:blip r:embed="rId3"/>
          <a:stretch>
            <a:fillRect/>
          </a:stretch>
        </p:blipFill>
        <p:spPr>
          <a:xfrm>
            <a:off x="994218" y="1107829"/>
            <a:ext cx="10731057" cy="5272971"/>
          </a:xfrm>
          <a:prstGeom prst="rect">
            <a:avLst/>
          </a:prstGeom>
        </p:spPr>
      </p:pic>
      <p:sp>
        <p:nvSpPr>
          <p:cNvPr id="3" name="Marcador de texto vertical 2">
            <a:extLst>
              <a:ext uri="{FF2B5EF4-FFF2-40B4-BE49-F238E27FC236}">
                <a16:creationId xmlns:a16="http://schemas.microsoft.com/office/drawing/2014/main" id="{3F9FA313-965E-4B61-0759-64BF1772A7E2}"/>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25CD4D35-1AF8-7F6D-9B69-629C94D42AE0}"/>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42173FA3-747B-7879-369F-F24C0F53D18B}"/>
              </a:ext>
            </a:extLst>
          </p:cNvPr>
          <p:cNvSpPr/>
          <p:nvPr/>
        </p:nvSpPr>
        <p:spPr>
          <a:xfrm>
            <a:off x="994218" y="5558360"/>
            <a:ext cx="10731057" cy="68416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endParaRPr lang="es-ES_tradnl" sz="1100" dirty="0"/>
          </a:p>
          <a:p>
            <a:r>
              <a:rPr lang="es-ES_tradnl" sz="1100" dirty="0"/>
              <a:t>13. O bien guardar el archivo mediante el menú de Herramientas</a:t>
            </a:r>
          </a:p>
          <a:p>
            <a:endParaRPr lang="es-ES_tradnl" sz="1100" dirty="0"/>
          </a:p>
          <a:p>
            <a:endParaRPr lang="es-ES_tradnl" sz="1100" dirty="0"/>
          </a:p>
          <a:p>
            <a:endParaRPr lang="es-ES_tradnl" sz="1100" dirty="0"/>
          </a:p>
        </p:txBody>
      </p:sp>
      <p:sp>
        <p:nvSpPr>
          <p:cNvPr id="9" name="CuadroTexto 8">
            <a:extLst>
              <a:ext uri="{FF2B5EF4-FFF2-40B4-BE49-F238E27FC236}">
                <a16:creationId xmlns:a16="http://schemas.microsoft.com/office/drawing/2014/main" id="{F0D18522-597C-6C50-02D8-212C0194795F}"/>
              </a:ext>
            </a:extLst>
          </p:cNvPr>
          <p:cNvSpPr txBox="1"/>
          <p:nvPr/>
        </p:nvSpPr>
        <p:spPr>
          <a:xfrm>
            <a:off x="9638559" y="4916716"/>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
        <p:nvSpPr>
          <p:cNvPr id="10" name="Rectángulo 9">
            <a:extLst>
              <a:ext uri="{FF2B5EF4-FFF2-40B4-BE49-F238E27FC236}">
                <a16:creationId xmlns:a16="http://schemas.microsoft.com/office/drawing/2014/main" id="{7ED49062-1FC4-E71E-1E3D-AA89178EA663}"/>
              </a:ext>
            </a:extLst>
          </p:cNvPr>
          <p:cNvSpPr/>
          <p:nvPr/>
        </p:nvSpPr>
        <p:spPr>
          <a:xfrm>
            <a:off x="10026195" y="4867275"/>
            <a:ext cx="1613197" cy="31432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438065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Gestionar el estado académico</a:t>
            </a:r>
            <a:endParaRPr lang="es-ES_tradnl" dirty="0"/>
          </a:p>
        </p:txBody>
      </p:sp>
      <p:sp>
        <p:nvSpPr>
          <p:cNvPr id="2" name="Title 1"/>
          <p:cNvSpPr>
            <a:spLocks noGrp="1"/>
          </p:cNvSpPr>
          <p:nvPr>
            <p:ph type="title"/>
          </p:nvPr>
        </p:nvSpPr>
        <p:spPr/>
        <p:txBody>
          <a:bodyPr/>
          <a:lstStyle/>
          <a:p>
            <a:r>
              <a:rPr lang="es-CO" dirty="0"/>
              <a:t>Estados académicos secundarios</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r>
              <a:rPr lang="es-CO" dirty="0"/>
              <a:t>Procesamiento del estado académico, según las reglas definidas</a:t>
            </a:r>
            <a:endParaRPr lang="es-ES_tradnl" dirty="0"/>
          </a:p>
          <a:p>
            <a:endParaRPr lang="es-ES_tradnl" dirty="0"/>
          </a:p>
        </p:txBody>
      </p:sp>
    </p:spTree>
    <p:extLst>
      <p:ext uri="{BB962C8B-B14F-4D97-AF65-F5344CB8AC3E}">
        <p14:creationId xmlns:p14="http://schemas.microsoft.com/office/powerpoint/2010/main" val="436233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6EB6E-B9FF-CBB2-F48C-2E4D4A16BE38}"/>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537C95C1-498B-1E7B-4294-E079B2C9ABC2}"/>
              </a:ext>
            </a:extLst>
          </p:cNvPr>
          <p:cNvPicPr>
            <a:picLocks noChangeAspect="1"/>
          </p:cNvPicPr>
          <p:nvPr/>
        </p:nvPicPr>
        <p:blipFill>
          <a:blip r:embed="rId3"/>
          <a:stretch>
            <a:fillRect/>
          </a:stretch>
        </p:blipFill>
        <p:spPr>
          <a:xfrm>
            <a:off x="994218" y="1155454"/>
            <a:ext cx="10745718" cy="4464296"/>
          </a:xfrm>
          <a:prstGeom prst="rect">
            <a:avLst/>
          </a:prstGeom>
        </p:spPr>
      </p:pic>
      <p:sp>
        <p:nvSpPr>
          <p:cNvPr id="3" name="Marcador de texto vertical 2">
            <a:extLst>
              <a:ext uri="{FF2B5EF4-FFF2-40B4-BE49-F238E27FC236}">
                <a16:creationId xmlns:a16="http://schemas.microsoft.com/office/drawing/2014/main" id="{0FCDA3BA-7D41-3791-7758-37E357F853B4}"/>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4442FC23-CE71-DCC5-4AEC-191F38B08C7C}"/>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015FEE89-BA56-FFBB-B77E-A51EBE192852}"/>
              </a:ext>
            </a:extLst>
          </p:cNvPr>
          <p:cNvSpPr/>
          <p:nvPr/>
        </p:nvSpPr>
        <p:spPr>
          <a:xfrm>
            <a:off x="994217" y="3868779"/>
            <a:ext cx="10745717" cy="118318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1. Ingrese al proceso SHRPREV desde la página GJAPCTL.</a:t>
            </a:r>
          </a:p>
          <a:p>
            <a:r>
              <a:rPr lang="es-ES_tradnl" sz="1100" dirty="0"/>
              <a:t>2. Presione el botón Ir.</a:t>
            </a:r>
          </a:p>
        </p:txBody>
      </p:sp>
      <p:sp>
        <p:nvSpPr>
          <p:cNvPr id="7" name="CuadroTexto 6">
            <a:extLst>
              <a:ext uri="{FF2B5EF4-FFF2-40B4-BE49-F238E27FC236}">
                <a16:creationId xmlns:a16="http://schemas.microsoft.com/office/drawing/2014/main" id="{93AA707B-0894-D47D-B346-1759419D8097}"/>
              </a:ext>
            </a:extLst>
          </p:cNvPr>
          <p:cNvSpPr txBox="1"/>
          <p:nvPr/>
        </p:nvSpPr>
        <p:spPr>
          <a:xfrm>
            <a:off x="11365746" y="1956620"/>
            <a:ext cx="301753" cy="215444"/>
          </a:xfrm>
          <a:prstGeom prst="rect">
            <a:avLst/>
          </a:prstGeom>
          <a:solidFill>
            <a:schemeClr val="accent1"/>
          </a:solidFill>
        </p:spPr>
        <p:txBody>
          <a:bodyPr wrap="square" rtlCol="0">
            <a:spAutoFit/>
          </a:bodyPr>
          <a:lstStyle/>
          <a:p>
            <a:r>
              <a:rPr lang="en-US" sz="800" b="1" dirty="0">
                <a:solidFill>
                  <a:schemeClr val="bg1"/>
                </a:solidFill>
              </a:rPr>
              <a:t>2</a:t>
            </a:r>
          </a:p>
        </p:txBody>
      </p:sp>
      <p:sp>
        <p:nvSpPr>
          <p:cNvPr id="5" name="Rectángulo 4">
            <a:extLst>
              <a:ext uri="{FF2B5EF4-FFF2-40B4-BE49-F238E27FC236}">
                <a16:creationId xmlns:a16="http://schemas.microsoft.com/office/drawing/2014/main" id="{09103D69-75FC-873F-394D-13E9A8267D8C}"/>
              </a:ext>
            </a:extLst>
          </p:cNvPr>
          <p:cNvSpPr/>
          <p:nvPr/>
        </p:nvSpPr>
        <p:spPr>
          <a:xfrm>
            <a:off x="1345849" y="1693551"/>
            <a:ext cx="1841039"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B12554C0-4E81-0708-5E8F-F55917C8EB50}"/>
              </a:ext>
            </a:extLst>
          </p:cNvPr>
          <p:cNvSpPr txBox="1"/>
          <p:nvPr/>
        </p:nvSpPr>
        <p:spPr>
          <a:xfrm>
            <a:off x="2115491" y="1956620"/>
            <a:ext cx="301753" cy="215444"/>
          </a:xfrm>
          <a:prstGeom prst="rect">
            <a:avLst/>
          </a:prstGeom>
          <a:solidFill>
            <a:schemeClr val="accent1"/>
          </a:solidFill>
        </p:spPr>
        <p:txBody>
          <a:bodyPr wrap="square" rtlCol="0">
            <a:spAutoFit/>
          </a:bodyPr>
          <a:lstStyle/>
          <a:p>
            <a:r>
              <a:rPr lang="en-US" sz="800" b="1" dirty="0">
                <a:solidFill>
                  <a:schemeClr val="bg1"/>
                </a:solidFill>
              </a:rPr>
              <a:t>1</a:t>
            </a:r>
          </a:p>
        </p:txBody>
      </p:sp>
      <p:sp>
        <p:nvSpPr>
          <p:cNvPr id="9" name="Rectángulo 8">
            <a:extLst>
              <a:ext uri="{FF2B5EF4-FFF2-40B4-BE49-F238E27FC236}">
                <a16:creationId xmlns:a16="http://schemas.microsoft.com/office/drawing/2014/main" id="{CBEACE93-C9C0-8BEB-5650-450CE92A3AA8}"/>
              </a:ext>
            </a:extLst>
          </p:cNvPr>
          <p:cNvSpPr/>
          <p:nvPr/>
        </p:nvSpPr>
        <p:spPr>
          <a:xfrm>
            <a:off x="11296650" y="1697545"/>
            <a:ext cx="443286" cy="2114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921964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06B5-0661-E786-3405-60D07D0E0477}"/>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42907983-01D5-911C-4479-59197353201D}"/>
              </a:ext>
            </a:extLst>
          </p:cNvPr>
          <p:cNvPicPr>
            <a:picLocks noChangeAspect="1"/>
          </p:cNvPicPr>
          <p:nvPr/>
        </p:nvPicPr>
        <p:blipFill>
          <a:blip r:embed="rId3"/>
          <a:stretch>
            <a:fillRect/>
          </a:stretch>
        </p:blipFill>
        <p:spPr>
          <a:xfrm>
            <a:off x="994217" y="1214247"/>
            <a:ext cx="10502457" cy="5163526"/>
          </a:xfrm>
          <a:prstGeom prst="rect">
            <a:avLst/>
          </a:prstGeom>
        </p:spPr>
      </p:pic>
      <p:sp>
        <p:nvSpPr>
          <p:cNvPr id="3" name="Marcador de texto vertical 2">
            <a:extLst>
              <a:ext uri="{FF2B5EF4-FFF2-40B4-BE49-F238E27FC236}">
                <a16:creationId xmlns:a16="http://schemas.microsoft.com/office/drawing/2014/main" id="{7B6E2B49-8A38-1B6E-1378-085F7350B84A}"/>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F2A2EE79-0384-D384-C2B9-6B62A2729A4D}"/>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7FC178C4-44D0-A382-1366-C99CCDE45FB5}"/>
              </a:ext>
            </a:extLst>
          </p:cNvPr>
          <p:cNvSpPr/>
          <p:nvPr/>
        </p:nvSpPr>
        <p:spPr>
          <a:xfrm>
            <a:off x="994216" y="4634986"/>
            <a:ext cx="10502457" cy="89855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3. Defina la impresora como DATABASE.</a:t>
            </a:r>
          </a:p>
          <a:p>
            <a:r>
              <a:rPr lang="es-ES_tradnl" sz="1100" dirty="0"/>
              <a:t>4. Pase al siguiente bloque.</a:t>
            </a:r>
          </a:p>
        </p:txBody>
      </p:sp>
      <p:sp>
        <p:nvSpPr>
          <p:cNvPr id="7" name="CuadroTexto 6">
            <a:extLst>
              <a:ext uri="{FF2B5EF4-FFF2-40B4-BE49-F238E27FC236}">
                <a16:creationId xmlns:a16="http://schemas.microsoft.com/office/drawing/2014/main" id="{0444D554-7F58-C4CC-7643-A4A9F085F6BF}"/>
              </a:ext>
            </a:extLst>
          </p:cNvPr>
          <p:cNvSpPr txBox="1"/>
          <p:nvPr/>
        </p:nvSpPr>
        <p:spPr>
          <a:xfrm>
            <a:off x="1635438" y="6070248"/>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5" name="Rectángulo 4">
            <a:extLst>
              <a:ext uri="{FF2B5EF4-FFF2-40B4-BE49-F238E27FC236}">
                <a16:creationId xmlns:a16="http://schemas.microsoft.com/office/drawing/2014/main" id="{BD60536E-84B7-69C5-64FC-1123341428C0}"/>
              </a:ext>
            </a:extLst>
          </p:cNvPr>
          <p:cNvSpPr/>
          <p:nvPr/>
        </p:nvSpPr>
        <p:spPr>
          <a:xfrm>
            <a:off x="1317273" y="2024170"/>
            <a:ext cx="1989045" cy="2831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7AADF420-5372-CFD6-0D5E-AA0CB228A9DF}"/>
              </a:ext>
            </a:extLst>
          </p:cNvPr>
          <p:cNvSpPr txBox="1"/>
          <p:nvPr/>
        </p:nvSpPr>
        <p:spPr>
          <a:xfrm>
            <a:off x="3379436" y="2058031"/>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9" name="Rectángulo 8">
            <a:extLst>
              <a:ext uri="{FF2B5EF4-FFF2-40B4-BE49-F238E27FC236}">
                <a16:creationId xmlns:a16="http://schemas.microsoft.com/office/drawing/2014/main" id="{30BFD7C0-5CD9-9EDE-377E-38596507A26F}"/>
              </a:ext>
            </a:extLst>
          </p:cNvPr>
          <p:cNvSpPr/>
          <p:nvPr/>
        </p:nvSpPr>
        <p:spPr>
          <a:xfrm>
            <a:off x="1317273" y="6030616"/>
            <a:ext cx="235302" cy="2831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146107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7665-452A-8343-E247-AB2381F5BC4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3A6C820-14B3-E776-5050-123A668AECA3}"/>
              </a:ext>
            </a:extLst>
          </p:cNvPr>
          <p:cNvPicPr>
            <a:picLocks noChangeAspect="1"/>
          </p:cNvPicPr>
          <p:nvPr/>
        </p:nvPicPr>
        <p:blipFill>
          <a:blip r:embed="rId3"/>
          <a:stretch>
            <a:fillRect/>
          </a:stretch>
        </p:blipFill>
        <p:spPr>
          <a:xfrm>
            <a:off x="994217" y="1214247"/>
            <a:ext cx="10502457" cy="5163526"/>
          </a:xfrm>
          <a:prstGeom prst="rect">
            <a:avLst/>
          </a:prstGeom>
        </p:spPr>
      </p:pic>
      <p:sp>
        <p:nvSpPr>
          <p:cNvPr id="3" name="Marcador de texto vertical 2">
            <a:extLst>
              <a:ext uri="{FF2B5EF4-FFF2-40B4-BE49-F238E27FC236}">
                <a16:creationId xmlns:a16="http://schemas.microsoft.com/office/drawing/2014/main" id="{6A4FD376-B8AA-125B-D68C-5F55EFBA9ED6}"/>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E25BD4B9-345E-D069-1818-ABE6AB2FE385}"/>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69D7F2CE-B5CE-BE15-8C45-293F5AA0303D}"/>
              </a:ext>
            </a:extLst>
          </p:cNvPr>
          <p:cNvSpPr/>
          <p:nvPr/>
        </p:nvSpPr>
        <p:spPr>
          <a:xfrm>
            <a:off x="993132" y="5629410"/>
            <a:ext cx="10502457" cy="40549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r>
              <a:rPr lang="es-ES_tradnl" sz="1100" dirty="0"/>
              <a:t>5. Ingrese los parámetros según la tabla que se presenta en la siguiente diapositiva</a:t>
            </a:r>
          </a:p>
          <a:p>
            <a:endParaRPr lang="es-ES_tradnl" sz="1100" dirty="0"/>
          </a:p>
        </p:txBody>
      </p:sp>
      <p:sp>
        <p:nvSpPr>
          <p:cNvPr id="5" name="Rectángulo 4">
            <a:extLst>
              <a:ext uri="{FF2B5EF4-FFF2-40B4-BE49-F238E27FC236}">
                <a16:creationId xmlns:a16="http://schemas.microsoft.com/office/drawing/2014/main" id="{A6AFB7CC-8C1B-6BEF-2E88-139BC226F4ED}"/>
              </a:ext>
            </a:extLst>
          </p:cNvPr>
          <p:cNvSpPr/>
          <p:nvPr/>
        </p:nvSpPr>
        <p:spPr>
          <a:xfrm>
            <a:off x="993132" y="2879256"/>
            <a:ext cx="10503542" cy="264373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707597AE-EAD8-E33F-0752-8B585FA25DED}"/>
              </a:ext>
            </a:extLst>
          </p:cNvPr>
          <p:cNvSpPr txBox="1"/>
          <p:nvPr/>
        </p:nvSpPr>
        <p:spPr>
          <a:xfrm>
            <a:off x="5943150" y="2610603"/>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Tree>
    <p:extLst>
      <p:ext uri="{BB962C8B-B14F-4D97-AF65-F5344CB8AC3E}">
        <p14:creationId xmlns:p14="http://schemas.microsoft.com/office/powerpoint/2010/main" val="1493990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91781-DB67-2059-F2D5-9EF01DA7B7A0}"/>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AE464EF2-4FEB-F3C8-4025-D62416E3EEDE}"/>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7437518A-535B-78CB-83C5-CD7731CA2A3B}"/>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graphicFrame>
        <p:nvGraphicFramePr>
          <p:cNvPr id="4" name="Marcador de contenido 3">
            <a:extLst>
              <a:ext uri="{FF2B5EF4-FFF2-40B4-BE49-F238E27FC236}">
                <a16:creationId xmlns:a16="http://schemas.microsoft.com/office/drawing/2014/main" id="{BA28CDCA-E1F2-938F-AF2F-4F744DFF8B21}"/>
              </a:ext>
            </a:extLst>
          </p:cNvPr>
          <p:cNvGraphicFramePr>
            <a:graphicFrameLocks/>
          </p:cNvGraphicFramePr>
          <p:nvPr>
            <p:extLst>
              <p:ext uri="{D42A27DB-BD31-4B8C-83A1-F6EECF244321}">
                <p14:modId xmlns:p14="http://schemas.microsoft.com/office/powerpoint/2010/main" val="4117382259"/>
              </p:ext>
            </p:extLst>
          </p:nvPr>
        </p:nvGraphicFramePr>
        <p:xfrm>
          <a:off x="994217" y="1381059"/>
          <a:ext cx="10074835" cy="4791138"/>
        </p:xfrm>
        <a:graphic>
          <a:graphicData uri="http://schemas.openxmlformats.org/drawingml/2006/table">
            <a:tbl>
              <a:tblPr firstRow="1" bandRow="1">
                <a:tableStyleId>{5C22544A-7EE6-4342-B048-85BDC9FD1C3A}</a:tableStyleId>
              </a:tblPr>
              <a:tblGrid>
                <a:gridCol w="704647">
                  <a:extLst>
                    <a:ext uri="{9D8B030D-6E8A-4147-A177-3AD203B41FA5}">
                      <a16:colId xmlns:a16="http://schemas.microsoft.com/office/drawing/2014/main" val="249767121"/>
                    </a:ext>
                  </a:extLst>
                </a:gridCol>
                <a:gridCol w="1451833">
                  <a:extLst>
                    <a:ext uri="{9D8B030D-6E8A-4147-A177-3AD203B41FA5}">
                      <a16:colId xmlns:a16="http://schemas.microsoft.com/office/drawing/2014/main" val="915586211"/>
                    </a:ext>
                  </a:extLst>
                </a:gridCol>
                <a:gridCol w="7096364">
                  <a:extLst>
                    <a:ext uri="{9D8B030D-6E8A-4147-A177-3AD203B41FA5}">
                      <a16:colId xmlns:a16="http://schemas.microsoft.com/office/drawing/2014/main" val="523512153"/>
                    </a:ext>
                  </a:extLst>
                </a:gridCol>
                <a:gridCol w="821991">
                  <a:extLst>
                    <a:ext uri="{9D8B030D-6E8A-4147-A177-3AD203B41FA5}">
                      <a16:colId xmlns:a16="http://schemas.microsoft.com/office/drawing/2014/main" val="1126850053"/>
                    </a:ext>
                  </a:extLst>
                </a:gridCol>
              </a:tblGrid>
              <a:tr h="403261">
                <a:tc>
                  <a:txBody>
                    <a:bodyPr/>
                    <a:lstStyle/>
                    <a:p>
                      <a:pPr marL="0" marR="0">
                        <a:lnSpc>
                          <a:spcPct val="115000"/>
                        </a:lnSpc>
                        <a:spcBef>
                          <a:spcPts val="0"/>
                        </a:spcBef>
                        <a:spcAft>
                          <a:spcPts val="0"/>
                        </a:spcAft>
                      </a:pPr>
                      <a:r>
                        <a:rPr lang="es-419" sz="800" baseline="0" dirty="0">
                          <a:solidFill>
                            <a:schemeClr val="bg1"/>
                          </a:solidFill>
                          <a:effectLst/>
                        </a:rPr>
                        <a:t>Número</a:t>
                      </a:r>
                      <a:endParaRPr lang="es-CO" sz="800" baseline="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800" dirty="0">
                          <a:solidFill>
                            <a:schemeClr val="bg1"/>
                          </a:solidFill>
                          <a:effectLst/>
                        </a:rPr>
                        <a:t>Parámetro</a:t>
                      </a:r>
                      <a:endParaRPr lang="es-CO" sz="8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bg1"/>
                          </a:solidFill>
                          <a:effectLst/>
                        </a:rPr>
                        <a:t>Valores</a:t>
                      </a:r>
                      <a:endParaRPr lang="es-CO" sz="8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bg1"/>
                          </a:solidFill>
                          <a:effectLst/>
                        </a:rPr>
                        <a:t>Requerido / Opcional</a:t>
                      </a:r>
                      <a:endParaRPr lang="es-CO" sz="8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39253">
                <a:tc>
                  <a:txBody>
                    <a:bodyPr/>
                    <a:lstStyle/>
                    <a:p>
                      <a:pPr marL="0" marR="0">
                        <a:lnSpc>
                          <a:spcPct val="115000"/>
                        </a:lnSpc>
                        <a:spcBef>
                          <a:spcPts val="0"/>
                        </a:spcBef>
                        <a:spcAft>
                          <a:spcPts val="0"/>
                        </a:spcAft>
                      </a:pPr>
                      <a:r>
                        <a:rPr lang="es-419" sz="800" dirty="0">
                          <a:solidFill>
                            <a:schemeClr val="tx1"/>
                          </a:solidFill>
                          <a:effectLst/>
                        </a:rPr>
                        <a:t>01</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rPr>
                        <a:t>Código de periodo</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algn="just">
                        <a:lnSpc>
                          <a:spcPct val="115000"/>
                        </a:lnSpc>
                        <a:spcBef>
                          <a:spcPts val="0"/>
                        </a:spcBef>
                        <a:spcAft>
                          <a:spcPts val="0"/>
                        </a:spcAft>
                      </a:pPr>
                      <a:r>
                        <a:rPr lang="es-419" sz="80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Seleccione el  código del período para el cual desea correr el proceso.</a:t>
                      </a:r>
                      <a:endParaRPr lang="es-CO" sz="8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57562266"/>
                  </a:ext>
                </a:extLst>
              </a:tr>
              <a:tr h="36990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02</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80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Determinar evaluación progreso</a:t>
                      </a:r>
                      <a:endParaRPr lang="es-CO" sz="8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dirty="0">
                          <a:solidFill>
                            <a:schemeClr val="tx1"/>
                          </a:solidFill>
                          <a:effectLst/>
                          <a:latin typeface="Arial" panose="020B0604020202020204" pitchFamily="34" charset="0"/>
                          <a:cs typeface="Times New Roman" panose="02020603050405020304" pitchFamily="18" charset="0"/>
                        </a:rPr>
                        <a:t>Ingrese Y para indicar que si desea que se estimen los estados académicos secundarios o ingrese N para No.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rgbClr val="000000"/>
                          </a:solidFill>
                          <a:effectLst/>
                          <a:latin typeface="Arial" panose="020B0604020202020204" pitchFamily="34" charset="0"/>
                          <a:cs typeface="Arial" panose="020B0604020202020204" pitchFamily="34" charset="0"/>
                        </a:rPr>
                        <a:t>R</a:t>
                      </a:r>
                      <a:endParaRPr lang="es-CO" sz="800" dirty="0">
                        <a:solidFill>
                          <a:srgbClr val="7D7D7D"/>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509454192"/>
                  </a:ext>
                </a:extLst>
              </a:tr>
              <a:tr h="36990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03</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Determinar </a:t>
                      </a:r>
                      <a:r>
                        <a:rPr lang="es-CO" sz="8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edo</a:t>
                      </a:r>
                      <a:r>
                        <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t>
                      </a:r>
                      <a:r>
                        <a:rPr lang="es-CO" sz="8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acad</a:t>
                      </a:r>
                      <a:r>
                        <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combinado</a:t>
                      </a:r>
                    </a:p>
                  </a:txBody>
                  <a:tcPr marL="68580" marR="68580" marT="36195" marB="36195" anchor="ctr"/>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dirty="0">
                          <a:solidFill>
                            <a:schemeClr val="tx1"/>
                          </a:solidFill>
                          <a:effectLst/>
                          <a:latin typeface="Arial" panose="020B0604020202020204" pitchFamily="34" charset="0"/>
                          <a:cs typeface="Times New Roman" panose="02020603050405020304" pitchFamily="18" charset="0"/>
                        </a:rPr>
                        <a:t>Ingrese Y para indicar que si desea que se estimen los estados académicos combinados o ingrese N para No.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956190754"/>
                  </a:ext>
                </a:extLst>
              </a:tr>
              <a:tr h="39872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04</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800" dirty="0">
                          <a:solidFill>
                            <a:srgbClr val="414042"/>
                          </a:solidFill>
                          <a:effectLst/>
                          <a:latin typeface="Arial" panose="020B0604020202020204" pitchFamily="34" charset="0"/>
                          <a:ea typeface="MS PGothic" panose="020B0600070205080204" pitchFamily="34" charset="-128"/>
                          <a:cs typeface="Arial" panose="020B0604020202020204" pitchFamily="34" charset="0"/>
                        </a:rPr>
                        <a:t>Modo auditar/ actualizar</a:t>
                      </a:r>
                      <a:endParaRPr lang="es-CO" sz="8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Ingrese el modo en que se ejecutará el proceso: A (auditoría, no se procesa ningún registro) o U (actualizar, con lo que se procesan los registros)</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00244662"/>
                  </a:ext>
                </a:extLst>
              </a:tr>
              <a:tr h="39872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05</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Calcular </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hrs</a:t>
                      </a: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inscrip</a:t>
                      </a: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mín</a:t>
                      </a: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máx</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Si desea </a:t>
                      </a:r>
                      <a:r>
                        <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comparar las nuevas horas de código de Estado Académico con registros existentes futuros, ingrese Y; de lo contrario ingrese N.</a:t>
                      </a: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990127115"/>
                  </a:ext>
                </a:extLst>
              </a:tr>
              <a:tr h="36990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06</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Prdos</a:t>
                      </a: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futurso</a:t>
                      </a: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 preinscripción</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Seleccione el código del periodo futuro de inscripción a comparar con nuevo registro de estado académico.</a:t>
                      </a: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35225709"/>
                  </a:ext>
                </a:extLst>
              </a:tr>
              <a:tr h="36990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07</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Audit/Actualizar horas </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mín</a:t>
                      </a: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a:t>
                      </a:r>
                      <a:r>
                        <a:rPr lang="es-419"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máx</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Indique si desea auditar o actualizar el periodo futuro a nuevas horas mínimas/máximas. U para actualizar A para auditar.</a:t>
                      </a: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2890548184"/>
                  </a:ext>
                </a:extLst>
              </a:tr>
              <a:tr h="39872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08</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de alumno</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el ID del alumno al que desea procesar los estados académicos. Si desea correr el proceso para todos los alumnos, ingrese %. Si ingresa los parámetros del 9 al 12, este parámetro debe estar vacío.</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156799442"/>
                  </a:ext>
                </a:extLst>
              </a:tr>
              <a:tr h="36990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09</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Identificador de selección</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dirty="0">
                          <a:solidFill>
                            <a:schemeClr val="tx1"/>
                          </a:solidFill>
                          <a:effectLst/>
                          <a:latin typeface="Arial" panose="020B0604020202020204" pitchFamily="34" charset="0"/>
                          <a:cs typeface="Times New Roman" panose="02020603050405020304" pitchFamily="18" charset="0"/>
                        </a:rPr>
                        <a:t>Ingrese el código que identifica la selección de población a la que se aplicará el proceso.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3265421"/>
                  </a:ext>
                </a:extLst>
              </a:tr>
              <a:tr h="39872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10</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Código de aplicación</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dirty="0">
                          <a:solidFill>
                            <a:srgbClr val="000000"/>
                          </a:solidFill>
                          <a:effectLst/>
                          <a:latin typeface="Arial" panose="020B0604020202020204" pitchFamily="34" charset="0"/>
                          <a:ea typeface="MS PGothic" panose="020B0600070205080204" pitchFamily="34" charset="-128"/>
                          <a:cs typeface="Arial" panose="020B0604020202020204" pitchFamily="34" charset="0"/>
                        </a:rPr>
                        <a:t>Ingrese, si el proceso va a correr para una selección de población, el código de la aplicación con la que se realizó esa selección.</a:t>
                      </a:r>
                      <a:endParaRPr lang="es-CO" sz="8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282273879"/>
                  </a:ext>
                </a:extLst>
              </a:tr>
              <a:tr h="234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11</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creador</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el ID del usuario que creó la selección</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976326906"/>
                  </a:ext>
                </a:extLst>
              </a:tr>
              <a:tr h="234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12</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usuario</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el ID del usuario que ejecuta el proceso</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033920577"/>
                  </a:ext>
                </a:extLst>
              </a:tr>
              <a:tr h="234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13</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defTabSz="457200" rtl="0" eaLnBrk="1" latinLnBrk="0" hangingPunct="1">
                        <a:spcBef>
                          <a:spcPts val="0"/>
                        </a:spcBef>
                        <a:spcAft>
                          <a:spcPts val="0"/>
                        </a:spcAft>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Imprimir detalle</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s-419"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Ingrese </a:t>
                      </a:r>
                      <a:r>
                        <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Y si desea imprimir líneas de detalle o N si desea imprimir solo mensajes de error y total </a:t>
                      </a:r>
                      <a:r>
                        <a:rPr lang="es-CO" sz="800" kern="12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págnas</a:t>
                      </a:r>
                      <a:endParaRPr lang="es-CO" sz="800" kern="12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566046915"/>
                  </a:ext>
                </a:extLst>
              </a:tr>
            </a:tbl>
          </a:graphicData>
        </a:graphic>
      </p:graphicFrame>
    </p:spTree>
    <p:extLst>
      <p:ext uri="{BB962C8B-B14F-4D97-AF65-F5344CB8AC3E}">
        <p14:creationId xmlns:p14="http://schemas.microsoft.com/office/powerpoint/2010/main" val="606850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B9E8-6FB0-A977-D473-AA230DB1C65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F772F51F-AC4B-DEEB-95AC-5B19741B92D2}"/>
              </a:ext>
            </a:extLst>
          </p:cNvPr>
          <p:cNvPicPr>
            <a:picLocks noChangeAspect="1"/>
          </p:cNvPicPr>
          <p:nvPr/>
        </p:nvPicPr>
        <p:blipFill>
          <a:blip r:embed="rId3"/>
          <a:stretch>
            <a:fillRect/>
          </a:stretch>
        </p:blipFill>
        <p:spPr>
          <a:xfrm>
            <a:off x="994218" y="1107829"/>
            <a:ext cx="10467975" cy="5135542"/>
          </a:xfrm>
          <a:prstGeom prst="rect">
            <a:avLst/>
          </a:prstGeom>
        </p:spPr>
      </p:pic>
      <p:sp>
        <p:nvSpPr>
          <p:cNvPr id="3" name="Marcador de texto vertical 2">
            <a:extLst>
              <a:ext uri="{FF2B5EF4-FFF2-40B4-BE49-F238E27FC236}">
                <a16:creationId xmlns:a16="http://schemas.microsoft.com/office/drawing/2014/main" id="{57B77E8A-9FC9-D124-BE11-22023F76CC73}"/>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F4CD9545-9EC4-F7AA-D433-207B5A937D7E}"/>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CE99864A-0EDA-327E-E1B6-5E70DB2FE15A}"/>
              </a:ext>
            </a:extLst>
          </p:cNvPr>
          <p:cNvSpPr/>
          <p:nvPr/>
        </p:nvSpPr>
        <p:spPr>
          <a:xfrm>
            <a:off x="994218" y="4929232"/>
            <a:ext cx="10467975" cy="8209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r>
              <a:rPr lang="es-ES_tradnl" sz="1100" dirty="0"/>
              <a:t>6. Toda vez que se ingresaron los parámetros, pase al siguiente bloque</a:t>
            </a:r>
          </a:p>
          <a:p>
            <a:endParaRPr lang="es-ES_tradnl" sz="1100" dirty="0"/>
          </a:p>
          <a:p>
            <a:endParaRPr lang="es-ES_tradnl" sz="1100" dirty="0"/>
          </a:p>
        </p:txBody>
      </p:sp>
      <p:sp>
        <p:nvSpPr>
          <p:cNvPr id="5" name="Rectángulo 4">
            <a:extLst>
              <a:ext uri="{FF2B5EF4-FFF2-40B4-BE49-F238E27FC236}">
                <a16:creationId xmlns:a16="http://schemas.microsoft.com/office/drawing/2014/main" id="{9438844A-11F9-565C-8BDD-F90321760D89}"/>
              </a:ext>
            </a:extLst>
          </p:cNvPr>
          <p:cNvSpPr/>
          <p:nvPr/>
        </p:nvSpPr>
        <p:spPr>
          <a:xfrm>
            <a:off x="1248661" y="5928382"/>
            <a:ext cx="283535" cy="29771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A803AFC2-D695-B056-CBB0-2E8D9E2095CF}"/>
              </a:ext>
            </a:extLst>
          </p:cNvPr>
          <p:cNvSpPr txBox="1"/>
          <p:nvPr/>
        </p:nvSpPr>
        <p:spPr>
          <a:xfrm>
            <a:off x="1576968" y="5969516"/>
            <a:ext cx="301753" cy="215444"/>
          </a:xfrm>
          <a:prstGeom prst="rect">
            <a:avLst/>
          </a:prstGeom>
          <a:solidFill>
            <a:schemeClr val="accent1"/>
          </a:solidFill>
        </p:spPr>
        <p:txBody>
          <a:bodyPr wrap="square" rtlCol="0">
            <a:spAutoFit/>
          </a:bodyPr>
          <a:lstStyle/>
          <a:p>
            <a:r>
              <a:rPr lang="en-US" sz="800" b="1" dirty="0">
                <a:solidFill>
                  <a:schemeClr val="bg1"/>
                </a:solidFill>
              </a:rPr>
              <a:t>6</a:t>
            </a:r>
          </a:p>
        </p:txBody>
      </p:sp>
    </p:spTree>
    <p:extLst>
      <p:ext uri="{BB962C8B-B14F-4D97-AF65-F5344CB8AC3E}">
        <p14:creationId xmlns:p14="http://schemas.microsoft.com/office/powerpoint/2010/main" val="29545711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A0060-0B88-1B5F-8600-CF17E5997ACC}"/>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6AB398FE-0735-D11B-AE00-56A6EC9014FC}"/>
              </a:ext>
            </a:extLst>
          </p:cNvPr>
          <p:cNvPicPr>
            <a:picLocks noChangeAspect="1"/>
          </p:cNvPicPr>
          <p:nvPr/>
        </p:nvPicPr>
        <p:blipFill>
          <a:blip r:embed="rId3"/>
          <a:stretch>
            <a:fillRect/>
          </a:stretch>
        </p:blipFill>
        <p:spPr>
          <a:xfrm>
            <a:off x="994218" y="1107829"/>
            <a:ext cx="10467975" cy="5135542"/>
          </a:xfrm>
          <a:prstGeom prst="rect">
            <a:avLst/>
          </a:prstGeom>
        </p:spPr>
      </p:pic>
      <p:sp>
        <p:nvSpPr>
          <p:cNvPr id="3" name="Marcador de texto vertical 2">
            <a:extLst>
              <a:ext uri="{FF2B5EF4-FFF2-40B4-BE49-F238E27FC236}">
                <a16:creationId xmlns:a16="http://schemas.microsoft.com/office/drawing/2014/main" id="{B0746CD7-E0B7-1047-036E-946005CE5153}"/>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C1E6E624-54A8-C95F-F449-F93944556F0F}"/>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CB4D6496-684A-6E77-B2FA-87E2E358BADD}"/>
              </a:ext>
            </a:extLst>
          </p:cNvPr>
          <p:cNvSpPr/>
          <p:nvPr/>
        </p:nvSpPr>
        <p:spPr>
          <a:xfrm>
            <a:off x="994218" y="4290162"/>
            <a:ext cx="10467974" cy="82093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r>
              <a:rPr lang="es-ES_tradnl" sz="1100" dirty="0"/>
              <a:t>7. Seleccione la opción enviar.</a:t>
            </a:r>
          </a:p>
          <a:p>
            <a:r>
              <a:rPr lang="es-ES_tradnl" sz="1100" dirty="0"/>
              <a:t>8. Guarde la información.</a:t>
            </a:r>
          </a:p>
          <a:p>
            <a:endParaRPr lang="es-ES_tradnl" sz="1100" dirty="0"/>
          </a:p>
        </p:txBody>
      </p:sp>
      <p:sp>
        <p:nvSpPr>
          <p:cNvPr id="5" name="Rectángulo 4">
            <a:extLst>
              <a:ext uri="{FF2B5EF4-FFF2-40B4-BE49-F238E27FC236}">
                <a16:creationId xmlns:a16="http://schemas.microsoft.com/office/drawing/2014/main" id="{1624E7F3-CFB7-A844-138E-D72EAEDF9321}"/>
              </a:ext>
            </a:extLst>
          </p:cNvPr>
          <p:cNvSpPr/>
          <p:nvPr/>
        </p:nvSpPr>
        <p:spPr>
          <a:xfrm>
            <a:off x="6316805" y="5400675"/>
            <a:ext cx="1677177" cy="2461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5BA084D6-2CD2-D844-FCD1-92CB95B6CE8D}"/>
              </a:ext>
            </a:extLst>
          </p:cNvPr>
          <p:cNvSpPr txBox="1"/>
          <p:nvPr/>
        </p:nvSpPr>
        <p:spPr>
          <a:xfrm>
            <a:off x="7004516" y="5720976"/>
            <a:ext cx="301753" cy="215444"/>
          </a:xfrm>
          <a:prstGeom prst="rect">
            <a:avLst/>
          </a:prstGeom>
          <a:solidFill>
            <a:schemeClr val="accent1"/>
          </a:solidFill>
        </p:spPr>
        <p:txBody>
          <a:bodyPr wrap="square" rtlCol="0">
            <a:spAutoFit/>
          </a:bodyPr>
          <a:lstStyle/>
          <a:p>
            <a:r>
              <a:rPr lang="en-US" sz="800" b="1" dirty="0">
                <a:solidFill>
                  <a:schemeClr val="bg1"/>
                </a:solidFill>
              </a:rPr>
              <a:t>7</a:t>
            </a:r>
          </a:p>
        </p:txBody>
      </p:sp>
      <p:sp>
        <p:nvSpPr>
          <p:cNvPr id="7" name="CuadroTexto 6">
            <a:extLst>
              <a:ext uri="{FF2B5EF4-FFF2-40B4-BE49-F238E27FC236}">
                <a16:creationId xmlns:a16="http://schemas.microsoft.com/office/drawing/2014/main" id="{EAADC53F-C9C9-5F0D-456D-BE3D66EC512C}"/>
              </a:ext>
            </a:extLst>
          </p:cNvPr>
          <p:cNvSpPr txBox="1"/>
          <p:nvPr/>
        </p:nvSpPr>
        <p:spPr>
          <a:xfrm>
            <a:off x="11078211" y="5666605"/>
            <a:ext cx="301753" cy="215444"/>
          </a:xfrm>
          <a:prstGeom prst="rect">
            <a:avLst/>
          </a:prstGeom>
          <a:solidFill>
            <a:schemeClr val="accent1"/>
          </a:solidFill>
        </p:spPr>
        <p:txBody>
          <a:bodyPr wrap="square" rtlCol="0">
            <a:spAutoFit/>
          </a:bodyPr>
          <a:lstStyle/>
          <a:p>
            <a:r>
              <a:rPr lang="en-US" sz="800" b="1" dirty="0">
                <a:solidFill>
                  <a:schemeClr val="bg1"/>
                </a:solidFill>
              </a:rPr>
              <a:t>8</a:t>
            </a:r>
          </a:p>
        </p:txBody>
      </p:sp>
      <p:sp>
        <p:nvSpPr>
          <p:cNvPr id="9" name="Rectángulo 8">
            <a:extLst>
              <a:ext uri="{FF2B5EF4-FFF2-40B4-BE49-F238E27FC236}">
                <a16:creationId xmlns:a16="http://schemas.microsoft.com/office/drawing/2014/main" id="{C97EA24B-B1A7-A325-DAD2-CB3E3154B3B9}"/>
              </a:ext>
            </a:extLst>
          </p:cNvPr>
          <p:cNvSpPr/>
          <p:nvPr/>
        </p:nvSpPr>
        <p:spPr>
          <a:xfrm>
            <a:off x="10973286" y="5954988"/>
            <a:ext cx="511575"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454504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B7D3C-265F-7982-5511-673DC0F5D8C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31B8E14-3B5E-D2D1-9715-33005A99D308}"/>
              </a:ext>
            </a:extLst>
          </p:cNvPr>
          <p:cNvPicPr>
            <a:picLocks noChangeAspect="1"/>
          </p:cNvPicPr>
          <p:nvPr/>
        </p:nvPicPr>
        <p:blipFill>
          <a:blip r:embed="rId3"/>
          <a:stretch>
            <a:fillRect/>
          </a:stretch>
        </p:blipFill>
        <p:spPr>
          <a:xfrm>
            <a:off x="994218" y="1235978"/>
            <a:ext cx="10772003" cy="5002897"/>
          </a:xfrm>
          <a:prstGeom prst="rect">
            <a:avLst/>
          </a:prstGeom>
        </p:spPr>
      </p:pic>
      <p:sp>
        <p:nvSpPr>
          <p:cNvPr id="3" name="Marcador de texto vertical 2">
            <a:extLst>
              <a:ext uri="{FF2B5EF4-FFF2-40B4-BE49-F238E27FC236}">
                <a16:creationId xmlns:a16="http://schemas.microsoft.com/office/drawing/2014/main" id="{DCF71F0D-58E2-19C0-5778-4C0E1699E29B}"/>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25076003-3A28-8DF9-3D9A-B889A9E36324}"/>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ADB5A1C1-D20A-68CF-4E09-A3895367988B}"/>
              </a:ext>
            </a:extLst>
          </p:cNvPr>
          <p:cNvSpPr/>
          <p:nvPr/>
        </p:nvSpPr>
        <p:spPr>
          <a:xfrm>
            <a:off x="994218" y="5022865"/>
            <a:ext cx="10772002" cy="104455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r>
              <a:rPr lang="es-ES_tradnl" sz="1100" dirty="0"/>
              <a:t>9. Para revisar el resultado del proceso, selección la opción Revisar salida del Menú Relacionado.</a:t>
            </a:r>
          </a:p>
          <a:p>
            <a:endParaRPr lang="es-ES_tradnl" sz="1100" dirty="0"/>
          </a:p>
          <a:p>
            <a:endParaRPr lang="es-ES_tradnl" sz="1100" dirty="0"/>
          </a:p>
        </p:txBody>
      </p:sp>
      <p:sp>
        <p:nvSpPr>
          <p:cNvPr id="5" name="Rectángulo 4">
            <a:extLst>
              <a:ext uri="{FF2B5EF4-FFF2-40B4-BE49-F238E27FC236}">
                <a16:creationId xmlns:a16="http://schemas.microsoft.com/office/drawing/2014/main" id="{E45535E5-FD47-5250-8306-F8B4075D489B}"/>
              </a:ext>
            </a:extLst>
          </p:cNvPr>
          <p:cNvSpPr/>
          <p:nvPr/>
        </p:nvSpPr>
        <p:spPr>
          <a:xfrm>
            <a:off x="10115550" y="2043944"/>
            <a:ext cx="1276350" cy="1963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D725501B-5C4A-BB6F-DC98-545B1968D408}"/>
              </a:ext>
            </a:extLst>
          </p:cNvPr>
          <p:cNvSpPr txBox="1"/>
          <p:nvPr/>
        </p:nvSpPr>
        <p:spPr>
          <a:xfrm>
            <a:off x="9730933" y="2043944"/>
            <a:ext cx="301753" cy="215444"/>
          </a:xfrm>
          <a:prstGeom prst="rect">
            <a:avLst/>
          </a:prstGeom>
          <a:solidFill>
            <a:schemeClr val="accent1"/>
          </a:solidFill>
        </p:spPr>
        <p:txBody>
          <a:bodyPr wrap="square" rtlCol="0">
            <a:spAutoFit/>
          </a:bodyPr>
          <a:lstStyle/>
          <a:p>
            <a:r>
              <a:rPr lang="en-US" sz="800" b="1" dirty="0">
                <a:solidFill>
                  <a:schemeClr val="bg1"/>
                </a:solidFill>
              </a:rPr>
              <a:t>9</a:t>
            </a:r>
          </a:p>
        </p:txBody>
      </p:sp>
    </p:spTree>
    <p:extLst>
      <p:ext uri="{BB962C8B-B14F-4D97-AF65-F5344CB8AC3E}">
        <p14:creationId xmlns:p14="http://schemas.microsoft.com/office/powerpoint/2010/main" val="17121893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13625-56BE-E104-B915-77AB9E8D4E9C}"/>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CE3734C1-5AE1-DC04-DA1C-0DAE776DCEEC}"/>
              </a:ext>
            </a:extLst>
          </p:cNvPr>
          <p:cNvPicPr>
            <a:picLocks noChangeAspect="1"/>
          </p:cNvPicPr>
          <p:nvPr/>
        </p:nvPicPr>
        <p:blipFill>
          <a:blip r:embed="rId3"/>
          <a:stretch>
            <a:fillRect/>
          </a:stretch>
        </p:blipFill>
        <p:spPr>
          <a:xfrm>
            <a:off x="994218" y="1249059"/>
            <a:ext cx="10719766" cy="4637391"/>
          </a:xfrm>
          <a:prstGeom prst="rect">
            <a:avLst/>
          </a:prstGeom>
        </p:spPr>
      </p:pic>
      <p:sp>
        <p:nvSpPr>
          <p:cNvPr id="3" name="Marcador de texto vertical 2">
            <a:extLst>
              <a:ext uri="{FF2B5EF4-FFF2-40B4-BE49-F238E27FC236}">
                <a16:creationId xmlns:a16="http://schemas.microsoft.com/office/drawing/2014/main" id="{16D84B69-8865-215D-9AA5-928F06F9C5F3}"/>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BB1D9E20-73A0-4931-7FFB-EC2B368C0C3C}"/>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7FED0485-6F9C-3173-66DE-0BF12AF71FB5}"/>
              </a:ext>
            </a:extLst>
          </p:cNvPr>
          <p:cNvSpPr/>
          <p:nvPr/>
        </p:nvSpPr>
        <p:spPr>
          <a:xfrm>
            <a:off x="988946" y="4091439"/>
            <a:ext cx="10719765" cy="123034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endParaRPr lang="es-ES_tradnl" sz="1100" dirty="0"/>
          </a:p>
          <a:p>
            <a:r>
              <a:rPr lang="es-ES_tradnl" sz="1100" dirty="0"/>
              <a:t>10. El sistema muestra el número asignado al proceso automáticamente.</a:t>
            </a:r>
          </a:p>
          <a:p>
            <a:r>
              <a:rPr lang="es-ES_tradnl" sz="1100" dirty="0"/>
              <a:t>11. Seleccione el archivo .lis para ver los resultados y presione el botón “Ir”.</a:t>
            </a:r>
          </a:p>
          <a:p>
            <a:endParaRPr lang="es-ES_tradnl" sz="1100" dirty="0"/>
          </a:p>
          <a:p>
            <a:endParaRPr lang="es-ES_tradnl" sz="1100" dirty="0"/>
          </a:p>
          <a:p>
            <a:endParaRPr lang="es-ES_tradnl" sz="1100" dirty="0"/>
          </a:p>
        </p:txBody>
      </p:sp>
      <p:sp>
        <p:nvSpPr>
          <p:cNvPr id="5" name="Rectángulo 4">
            <a:extLst>
              <a:ext uri="{FF2B5EF4-FFF2-40B4-BE49-F238E27FC236}">
                <a16:creationId xmlns:a16="http://schemas.microsoft.com/office/drawing/2014/main" id="{193C3A2D-A49B-7130-BC28-7DA511D95107}"/>
              </a:ext>
            </a:extLst>
          </p:cNvPr>
          <p:cNvSpPr/>
          <p:nvPr/>
        </p:nvSpPr>
        <p:spPr>
          <a:xfrm>
            <a:off x="6096000" y="1763732"/>
            <a:ext cx="1778000"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187AD68B-DBB9-4712-EB74-6C5BE43BF944}"/>
              </a:ext>
            </a:extLst>
          </p:cNvPr>
          <p:cNvSpPr txBox="1"/>
          <p:nvPr/>
        </p:nvSpPr>
        <p:spPr>
          <a:xfrm>
            <a:off x="6834123" y="2043666"/>
            <a:ext cx="301753" cy="215444"/>
          </a:xfrm>
          <a:prstGeom prst="rect">
            <a:avLst/>
          </a:prstGeom>
          <a:solidFill>
            <a:schemeClr val="accent1"/>
          </a:solidFill>
        </p:spPr>
        <p:txBody>
          <a:bodyPr wrap="square" rtlCol="0">
            <a:spAutoFit/>
          </a:bodyPr>
          <a:lstStyle/>
          <a:p>
            <a:r>
              <a:rPr lang="en-US" sz="800" b="1" dirty="0">
                <a:solidFill>
                  <a:schemeClr val="bg1"/>
                </a:solidFill>
              </a:rPr>
              <a:t>10</a:t>
            </a:r>
          </a:p>
        </p:txBody>
      </p:sp>
      <p:sp>
        <p:nvSpPr>
          <p:cNvPr id="7" name="Rectángulo 6">
            <a:extLst>
              <a:ext uri="{FF2B5EF4-FFF2-40B4-BE49-F238E27FC236}">
                <a16:creationId xmlns:a16="http://schemas.microsoft.com/office/drawing/2014/main" id="{502294B4-8EA1-A9C5-9A05-991E4B994A16}"/>
              </a:ext>
            </a:extLst>
          </p:cNvPr>
          <p:cNvSpPr/>
          <p:nvPr/>
        </p:nvSpPr>
        <p:spPr>
          <a:xfrm>
            <a:off x="988947" y="1935944"/>
            <a:ext cx="2592453"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D41861DE-A377-7F5D-3C28-4B1235CB5B39}"/>
              </a:ext>
            </a:extLst>
          </p:cNvPr>
          <p:cNvSpPr txBox="1"/>
          <p:nvPr/>
        </p:nvSpPr>
        <p:spPr>
          <a:xfrm>
            <a:off x="2134296" y="2184896"/>
            <a:ext cx="301753" cy="215444"/>
          </a:xfrm>
          <a:prstGeom prst="rect">
            <a:avLst/>
          </a:prstGeom>
          <a:solidFill>
            <a:schemeClr val="accent1"/>
          </a:solidFill>
        </p:spPr>
        <p:txBody>
          <a:bodyPr wrap="square" rtlCol="0">
            <a:spAutoFit/>
          </a:bodyPr>
          <a:lstStyle/>
          <a:p>
            <a:r>
              <a:rPr lang="en-US" sz="800" b="1" dirty="0">
                <a:solidFill>
                  <a:schemeClr val="bg1"/>
                </a:solidFill>
              </a:rPr>
              <a:t>11</a:t>
            </a:r>
          </a:p>
        </p:txBody>
      </p:sp>
    </p:spTree>
    <p:extLst>
      <p:ext uri="{BB962C8B-B14F-4D97-AF65-F5344CB8AC3E}">
        <p14:creationId xmlns:p14="http://schemas.microsoft.com/office/powerpoint/2010/main" val="35228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15CA1-ED0F-8129-74FA-E18B484E0D0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EDE920E-CAA2-5188-292F-293E832C0BE6}"/>
              </a:ext>
            </a:extLst>
          </p:cNvPr>
          <p:cNvPicPr>
            <a:picLocks noChangeAspect="1"/>
          </p:cNvPicPr>
          <p:nvPr/>
        </p:nvPicPr>
        <p:blipFill>
          <a:blip r:embed="rId3"/>
          <a:stretch>
            <a:fillRect/>
          </a:stretch>
        </p:blipFill>
        <p:spPr>
          <a:xfrm>
            <a:off x="994219" y="1185206"/>
            <a:ext cx="10645174" cy="5144611"/>
          </a:xfrm>
          <a:prstGeom prst="rect">
            <a:avLst/>
          </a:prstGeom>
        </p:spPr>
      </p:pic>
      <p:sp>
        <p:nvSpPr>
          <p:cNvPr id="3" name="Marcador de texto vertical 2">
            <a:extLst>
              <a:ext uri="{FF2B5EF4-FFF2-40B4-BE49-F238E27FC236}">
                <a16:creationId xmlns:a16="http://schemas.microsoft.com/office/drawing/2014/main" id="{41D3D158-719F-A7C2-BFB8-56B185F40CFF}"/>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EC41A21C-79F7-79F5-70C1-98899F6D05B4}"/>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C0535AD4-8BF8-262D-579C-CC50AA163B52}"/>
              </a:ext>
            </a:extLst>
          </p:cNvPr>
          <p:cNvSpPr/>
          <p:nvPr/>
        </p:nvSpPr>
        <p:spPr>
          <a:xfrm>
            <a:off x="8233091" y="3988413"/>
            <a:ext cx="2270868" cy="107186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endParaRPr lang="es-ES_tradnl" sz="1100" dirty="0"/>
          </a:p>
          <a:p>
            <a:r>
              <a:rPr lang="es-ES_tradnl" sz="1100" dirty="0"/>
              <a:t>12. Puede visualizar los resultados del proceso en la página…</a:t>
            </a:r>
          </a:p>
          <a:p>
            <a:endParaRPr lang="es-ES_tradnl" sz="1100" dirty="0"/>
          </a:p>
          <a:p>
            <a:endParaRPr lang="es-ES_tradnl" sz="1100" dirty="0"/>
          </a:p>
          <a:p>
            <a:endParaRPr lang="es-ES_tradnl" sz="1100" dirty="0"/>
          </a:p>
          <a:p>
            <a:endParaRPr lang="es-ES_tradnl" sz="1100" dirty="0"/>
          </a:p>
        </p:txBody>
      </p:sp>
      <p:sp>
        <p:nvSpPr>
          <p:cNvPr id="7" name="Rectángulo 6">
            <a:extLst>
              <a:ext uri="{FF2B5EF4-FFF2-40B4-BE49-F238E27FC236}">
                <a16:creationId xmlns:a16="http://schemas.microsoft.com/office/drawing/2014/main" id="{0A239D90-79A5-D74F-AA4A-BF8E53226AA8}"/>
              </a:ext>
            </a:extLst>
          </p:cNvPr>
          <p:cNvSpPr/>
          <p:nvPr/>
        </p:nvSpPr>
        <p:spPr>
          <a:xfrm>
            <a:off x="994218" y="1904027"/>
            <a:ext cx="10645174" cy="385150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39CDBBF5-3E88-76F3-EC63-8E4AD79E0766}"/>
              </a:ext>
            </a:extLst>
          </p:cNvPr>
          <p:cNvSpPr txBox="1"/>
          <p:nvPr/>
        </p:nvSpPr>
        <p:spPr>
          <a:xfrm>
            <a:off x="5945123" y="1649895"/>
            <a:ext cx="301753" cy="215444"/>
          </a:xfrm>
          <a:prstGeom prst="rect">
            <a:avLst/>
          </a:prstGeom>
          <a:solidFill>
            <a:schemeClr val="accent1"/>
          </a:solidFill>
        </p:spPr>
        <p:txBody>
          <a:bodyPr wrap="square" rtlCol="0">
            <a:spAutoFit/>
          </a:bodyPr>
          <a:lstStyle/>
          <a:p>
            <a:r>
              <a:rPr lang="en-US" sz="800" b="1" dirty="0">
                <a:solidFill>
                  <a:schemeClr val="bg1"/>
                </a:solidFill>
              </a:rPr>
              <a:t>12</a:t>
            </a:r>
          </a:p>
        </p:txBody>
      </p:sp>
    </p:spTree>
    <p:extLst>
      <p:ext uri="{BB962C8B-B14F-4D97-AF65-F5344CB8AC3E}">
        <p14:creationId xmlns:p14="http://schemas.microsoft.com/office/powerpoint/2010/main" val="3950398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ED877-C11D-ACFB-9805-BFF016EC051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733CB07-5C64-FAAE-5DD1-880718C99836}"/>
              </a:ext>
            </a:extLst>
          </p:cNvPr>
          <p:cNvPicPr>
            <a:picLocks noChangeAspect="1"/>
          </p:cNvPicPr>
          <p:nvPr/>
        </p:nvPicPr>
        <p:blipFill>
          <a:blip r:embed="rId3"/>
          <a:stretch>
            <a:fillRect/>
          </a:stretch>
        </p:blipFill>
        <p:spPr>
          <a:xfrm>
            <a:off x="994218" y="1111361"/>
            <a:ext cx="10740582" cy="5311277"/>
          </a:xfrm>
          <a:prstGeom prst="rect">
            <a:avLst/>
          </a:prstGeom>
        </p:spPr>
      </p:pic>
      <p:sp>
        <p:nvSpPr>
          <p:cNvPr id="3" name="Marcador de texto vertical 2">
            <a:extLst>
              <a:ext uri="{FF2B5EF4-FFF2-40B4-BE49-F238E27FC236}">
                <a16:creationId xmlns:a16="http://schemas.microsoft.com/office/drawing/2014/main" id="{160544CA-9D41-CE53-143F-F55419EEDF2E}"/>
              </a:ext>
            </a:extLst>
          </p:cNvPr>
          <p:cNvSpPr>
            <a:spLocks noGrp="1"/>
          </p:cNvSpPr>
          <p:nvPr>
            <p:ph type="body" orient="vert" sz="quarter" idx="17"/>
          </p:nvPr>
        </p:nvSpPr>
        <p:spPr/>
        <p:txBody>
          <a:bodyPr/>
          <a:lstStyle/>
          <a:p>
            <a:r>
              <a:rPr lang="es-CO" sz="1200" dirty="0"/>
              <a:t>Gestionar el estado académico</a:t>
            </a:r>
            <a:endParaRPr lang="es-419" dirty="0"/>
          </a:p>
        </p:txBody>
      </p:sp>
      <p:sp>
        <p:nvSpPr>
          <p:cNvPr id="13" name="Title 12">
            <a:extLst>
              <a:ext uri="{FF2B5EF4-FFF2-40B4-BE49-F238E27FC236}">
                <a16:creationId xmlns:a16="http://schemas.microsoft.com/office/drawing/2014/main" id="{19B09461-274D-BAA4-FBBA-FD437607386A}"/>
              </a:ext>
            </a:extLst>
          </p:cNvPr>
          <p:cNvSpPr>
            <a:spLocks noGrp="1"/>
          </p:cNvSpPr>
          <p:nvPr>
            <p:ph type="title"/>
          </p:nvPr>
        </p:nvSpPr>
        <p:spPr>
          <a:xfrm>
            <a:off x="994218" y="209274"/>
            <a:ext cx="10645174" cy="898555"/>
          </a:xfrm>
        </p:spPr>
        <p:txBody>
          <a:bodyPr/>
          <a:lstStyle/>
          <a:p>
            <a:r>
              <a:rPr lang="es-ES_tradnl" dirty="0">
                <a:solidFill>
                  <a:schemeClr val="accent1"/>
                </a:solidFill>
              </a:rPr>
              <a:t>Aplicar los estados académicos: </a:t>
            </a:r>
            <a:r>
              <a:rPr lang="es-ES_tradnl" b="0" dirty="0">
                <a:solidFill>
                  <a:schemeClr val="accent1"/>
                </a:solidFill>
              </a:rPr>
              <a:t>Estados académicos generales</a:t>
            </a:r>
          </a:p>
        </p:txBody>
      </p:sp>
      <p:sp>
        <p:nvSpPr>
          <p:cNvPr id="6" name="Rectángulo: esquinas redondeadas 5">
            <a:extLst>
              <a:ext uri="{FF2B5EF4-FFF2-40B4-BE49-F238E27FC236}">
                <a16:creationId xmlns:a16="http://schemas.microsoft.com/office/drawing/2014/main" id="{BC761C4B-D124-6450-9161-9C41D5EF3C7D}"/>
              </a:ext>
            </a:extLst>
          </p:cNvPr>
          <p:cNvSpPr/>
          <p:nvPr/>
        </p:nvSpPr>
        <p:spPr>
          <a:xfrm>
            <a:off x="994218" y="5512431"/>
            <a:ext cx="10740582" cy="91020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endParaRPr lang="es-ES_tradnl" sz="1100" dirty="0"/>
          </a:p>
          <a:p>
            <a:endParaRPr lang="es-ES_tradnl" sz="1100" dirty="0"/>
          </a:p>
          <a:p>
            <a:endParaRPr lang="es-ES_tradnl" sz="1100" dirty="0"/>
          </a:p>
          <a:p>
            <a:endParaRPr lang="es-ES_tradnl" sz="1100" dirty="0"/>
          </a:p>
          <a:p>
            <a:r>
              <a:rPr lang="es-ES_tradnl" sz="1100" dirty="0"/>
              <a:t>13. O bien guardar el archivo mediante el menú de Herramientas</a:t>
            </a:r>
          </a:p>
          <a:p>
            <a:endParaRPr lang="es-ES_tradnl" sz="1100" dirty="0"/>
          </a:p>
          <a:p>
            <a:endParaRPr lang="es-ES_tradnl" sz="1100" dirty="0"/>
          </a:p>
          <a:p>
            <a:endParaRPr lang="es-ES_tradnl" sz="1100" dirty="0"/>
          </a:p>
          <a:p>
            <a:endParaRPr lang="es-ES_tradnl" sz="1100" dirty="0"/>
          </a:p>
          <a:p>
            <a:endParaRPr lang="es-ES_tradnl" sz="1100" dirty="0"/>
          </a:p>
        </p:txBody>
      </p:sp>
      <p:sp>
        <p:nvSpPr>
          <p:cNvPr id="7" name="Rectángulo 6">
            <a:extLst>
              <a:ext uri="{FF2B5EF4-FFF2-40B4-BE49-F238E27FC236}">
                <a16:creationId xmlns:a16="http://schemas.microsoft.com/office/drawing/2014/main" id="{33EACE3E-FA43-4867-7DEF-0B0BFD06D6B3}"/>
              </a:ext>
            </a:extLst>
          </p:cNvPr>
          <p:cNvSpPr/>
          <p:nvPr/>
        </p:nvSpPr>
        <p:spPr>
          <a:xfrm>
            <a:off x="9963151" y="4845988"/>
            <a:ext cx="1771650" cy="30242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190EB0BB-908B-C0D8-35C6-39DD3FAE94CB}"/>
              </a:ext>
            </a:extLst>
          </p:cNvPr>
          <p:cNvSpPr txBox="1"/>
          <p:nvPr/>
        </p:nvSpPr>
        <p:spPr>
          <a:xfrm>
            <a:off x="9578534" y="4889480"/>
            <a:ext cx="301753" cy="215444"/>
          </a:xfrm>
          <a:prstGeom prst="rect">
            <a:avLst/>
          </a:prstGeom>
          <a:solidFill>
            <a:schemeClr val="accent1"/>
          </a:solidFill>
        </p:spPr>
        <p:txBody>
          <a:bodyPr wrap="square" rtlCol="0">
            <a:spAutoFit/>
          </a:bodyPr>
          <a:lstStyle/>
          <a:p>
            <a:r>
              <a:rPr lang="en-US" sz="800" b="1" dirty="0">
                <a:solidFill>
                  <a:schemeClr val="bg1"/>
                </a:solidFill>
              </a:rPr>
              <a:t>13</a:t>
            </a:r>
          </a:p>
        </p:txBody>
      </p:sp>
    </p:spTree>
    <p:extLst>
      <p:ext uri="{BB962C8B-B14F-4D97-AF65-F5344CB8AC3E}">
        <p14:creationId xmlns:p14="http://schemas.microsoft.com/office/powerpoint/2010/main" val="2576063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CO" sz="1200" dirty="0"/>
              <a:t>Gestionar el estado académico</a:t>
            </a:r>
            <a:endParaRPr lang="es-419" dirty="0"/>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lvl="2" indent="-342900" algn="just">
              <a:spcBef>
                <a:spcPts val="1000"/>
              </a:spcBef>
              <a:buClr>
                <a:srgbClr val="0CB4B4"/>
              </a:buClr>
              <a:buFont typeface="Wingdings" panose="05000000000000000000" pitchFamily="2" charset="2"/>
              <a:buChar char="q"/>
            </a:pPr>
            <a:r>
              <a:rPr lang="es-ES_tradnl" sz="1800" dirty="0"/>
              <a:t>Registro académico debe definir estados académicos generales según la cantidad de horas y/o promedio que el estudiante tenga para ser clasificado en uno u otro estado.</a:t>
            </a:r>
          </a:p>
          <a:p>
            <a:pPr lvl="2" indent="-342900" algn="just">
              <a:spcBef>
                <a:spcPts val="1000"/>
              </a:spcBef>
              <a:buClr>
                <a:srgbClr val="0CB4B4"/>
              </a:buClr>
              <a:buFont typeface="Wingdings" panose="05000000000000000000" pitchFamily="2" charset="2"/>
              <a:buChar char="q"/>
            </a:pPr>
            <a:r>
              <a:rPr lang="es-ES_tradnl" sz="1800" dirty="0"/>
              <a:t>De ser necesario, se deben crear estados académicos secundarios para categorías específicas de alumnos (por ejemplo, por programa o campus) y establecer estados académicos combinados para las distintas combinaciones de estados generales y secundarios. </a:t>
            </a:r>
          </a:p>
          <a:p>
            <a:pPr lvl="2" indent="-342900" algn="just">
              <a:spcBef>
                <a:spcPts val="1000"/>
              </a:spcBef>
              <a:buClr>
                <a:srgbClr val="0CB4B4"/>
              </a:buClr>
              <a:buFont typeface="Wingdings" panose="05000000000000000000" pitchFamily="2" charset="2"/>
              <a:buChar char="q"/>
            </a:pPr>
            <a:r>
              <a:rPr lang="es-ES_tradnl" sz="1800" dirty="0"/>
              <a:t>El cuadro de honor de cada periodo se define también dentro de los estados académicos secundarios.</a:t>
            </a:r>
          </a:p>
          <a:p>
            <a:pPr lvl="2" indent="-342900" algn="just">
              <a:spcBef>
                <a:spcPts val="1000"/>
              </a:spcBef>
              <a:buClr>
                <a:srgbClr val="0CB4B4"/>
              </a:buClr>
              <a:buFont typeface="Wingdings" panose="05000000000000000000" pitchFamily="2" charset="2"/>
              <a:buChar char="q"/>
            </a:pPr>
            <a:r>
              <a:rPr lang="es-ES_tradnl" sz="1800" dirty="0"/>
              <a:t>Igualmente, Registro Académico debe establecer las reglas para aplicar los estados académicos a los estudiantes. </a:t>
            </a:r>
          </a:p>
        </p:txBody>
      </p:sp>
    </p:spTree>
    <p:extLst>
      <p:ext uri="{BB962C8B-B14F-4D97-AF65-F5344CB8AC3E}">
        <p14:creationId xmlns:p14="http://schemas.microsoft.com/office/powerpoint/2010/main" val="31985340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err="1"/>
              <a:t>Correo</a:t>
            </a:r>
            <a:endParaRPr lang="en-US"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3573</TotalTime>
  <Words>3210</Words>
  <Application>Microsoft Office PowerPoint</Application>
  <PresentationFormat>Panorámica</PresentationFormat>
  <Paragraphs>547</Paragraphs>
  <Slides>58</Slides>
  <Notes>38</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58</vt:i4>
      </vt:variant>
    </vt:vector>
  </HeadingPairs>
  <TitlesOfParts>
    <vt:vector size="66" baseType="lpstr">
      <vt:lpstr>Aptos</vt:lpstr>
      <vt:lpstr>Aptos Display</vt:lpstr>
      <vt:lpstr>Arial</vt:lpstr>
      <vt:lpstr>Courier New</vt:lpstr>
      <vt:lpstr>Helvetica Neue</vt:lpstr>
      <vt:lpstr>Wingdings</vt:lpstr>
      <vt:lpstr>Ellucian Main Layouts</vt:lpstr>
      <vt:lpstr>Ellucian Blank Layouts</vt:lpstr>
      <vt:lpstr>Gestionar el estado académico</vt:lpstr>
      <vt:lpstr>Presentación de PowerPoint</vt:lpstr>
      <vt:lpstr>Overview</vt:lpstr>
      <vt:lpstr>Overview: Mapa de capacidades</vt:lpstr>
      <vt:lpstr>Overview: Gestionar el estado académico  </vt:lpstr>
      <vt:lpstr>Overview: Gestionar el estado académico  </vt:lpstr>
      <vt:lpstr>Overview: Región donde aplica</vt:lpstr>
      <vt:lpstr>Overview: Gestionar el estado académico  </vt:lpstr>
      <vt:lpstr>Crear los estados académicos</vt:lpstr>
      <vt:lpstr>Estados académicos generales</vt:lpstr>
      <vt:lpstr>Crear los estados académicos: Estados académicos generales</vt:lpstr>
      <vt:lpstr>Crear los estados académicos: Estados académicos generales</vt:lpstr>
      <vt:lpstr>Crear los estados académicos: Estados académicos generales</vt:lpstr>
      <vt:lpstr>Estados académicos secundarios</vt:lpstr>
      <vt:lpstr>Crear los estados académicos: Estados académicos secundarios</vt:lpstr>
      <vt:lpstr>Estados académicos combinados</vt:lpstr>
      <vt:lpstr>Crear los estados académicos: Estados académicos secundarios</vt:lpstr>
      <vt:lpstr>Definir las reglas de aplicación de estados académicos</vt:lpstr>
      <vt:lpstr>Regla de dificultad académica</vt:lpstr>
      <vt:lpstr>Definir las reglas de aplicación de estados académicos: Regla de dificultad académica</vt:lpstr>
      <vt:lpstr>Definir las reglas de aplicación de estados académicos: Regla de dificultad académica</vt:lpstr>
      <vt:lpstr>Definir las reglas de aplicación de estados académicos: Regla de dificultad académica</vt:lpstr>
      <vt:lpstr>Definir las reglas de aplicación de estados académicos: Regla de dificultad académica</vt:lpstr>
      <vt:lpstr>Cuadro de honor</vt:lpstr>
      <vt:lpstr>Definir las reglas de aplicación de estados académicos: Cuadro de honor</vt:lpstr>
      <vt:lpstr>Definir las reglas de aplicación de estados académicos: Cuadro de honor</vt:lpstr>
      <vt:lpstr>Definir las reglas de aplicación de estados académicos: Regla de dificultad académica</vt:lpstr>
      <vt:lpstr>Definir las reglas de aplicación de estados académicos: Cuadro de honor</vt:lpstr>
      <vt:lpstr>Regla de desempeño académico</vt:lpstr>
      <vt:lpstr>Definir las reglas de aplicación de estados académicos: Regla de desempeño académico</vt:lpstr>
      <vt:lpstr>Definir las reglas de aplicación de estados académicos: Regla de desempeño académico</vt:lpstr>
      <vt:lpstr>Definir las reglas de aplicación de estados académicos: Regla de dificultad académica</vt:lpstr>
      <vt:lpstr>Definir las reglas de aplicación de estados académicos: Regla de dificultad académica</vt:lpstr>
      <vt:lpstr>Aplicar los estados académicos</vt:lpstr>
      <vt:lpstr>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Estados académicos secundarios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Aplicar los estados académicos: Estados académicos generales</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Trapp, Eduardo</cp:lastModifiedBy>
  <cp:revision>53</cp:revision>
  <dcterms:created xsi:type="dcterms:W3CDTF">2024-10-09T00:27:58Z</dcterms:created>
  <dcterms:modified xsi:type="dcterms:W3CDTF">2026-06-11T04:35:58Z</dcterms:modified>
</cp:coreProperties>
</file>
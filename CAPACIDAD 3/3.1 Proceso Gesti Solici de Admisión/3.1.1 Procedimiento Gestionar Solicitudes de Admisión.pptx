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30"/>
  </p:notesMasterIdLst>
  <p:sldIdLst>
    <p:sldId id="257" r:id="rId3"/>
    <p:sldId id="423" r:id="rId4"/>
    <p:sldId id="476" r:id="rId5"/>
    <p:sldId id="348" r:id="rId6"/>
    <p:sldId id="349" r:id="rId7"/>
    <p:sldId id="350" r:id="rId8"/>
    <p:sldId id="421" r:id="rId9"/>
    <p:sldId id="352" r:id="rId10"/>
    <p:sldId id="469" r:id="rId11"/>
    <p:sldId id="537" r:id="rId12"/>
    <p:sldId id="513" r:id="rId13"/>
    <p:sldId id="596" r:id="rId14"/>
    <p:sldId id="597" r:id="rId15"/>
    <p:sldId id="598" r:id="rId16"/>
    <p:sldId id="599" r:id="rId17"/>
    <p:sldId id="600" r:id="rId18"/>
    <p:sldId id="612" r:id="rId19"/>
    <p:sldId id="538" r:id="rId20"/>
    <p:sldId id="601" r:id="rId21"/>
    <p:sldId id="602" r:id="rId22"/>
    <p:sldId id="603" r:id="rId23"/>
    <p:sldId id="604" r:id="rId24"/>
    <p:sldId id="606" r:id="rId25"/>
    <p:sldId id="607" r:id="rId26"/>
    <p:sldId id="608" r:id="rId27"/>
    <p:sldId id="345" r:id="rId28"/>
    <p:sldId id="62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modSld">
      <pc:chgData name="Sergio Molina" userId="20636364146_tp_box_2" providerId="OAuth2" clId="{44CDD4FA-DF07-4B69-BC01-0B2B69272B43}" dt="2026-06-24T16:39:59.116" v="0" actId="14100"/>
      <pc:docMkLst>
        <pc:docMk/>
      </pc:docMkLst>
      <pc:sldChg chg="modSp mod">
        <pc:chgData name="Sergio Molina" userId="20636364146_tp_box_2" providerId="OAuth2" clId="{44CDD4FA-DF07-4B69-BC01-0B2B69272B43}" dt="2026-06-24T16:39:59.116" v="0" actId="14100"/>
        <pc:sldMkLst>
          <pc:docMk/>
          <pc:sldMk cId="1504878759" sldId="349"/>
        </pc:sldMkLst>
        <pc:spChg chg="mod">
          <ac:chgData name="Sergio Molina" userId="20636364146_tp_box_2" providerId="OAuth2" clId="{44CDD4FA-DF07-4B69-BC01-0B2B69272B43}" dt="2026-06-24T16:39:59.116" v="0" actId="14100"/>
          <ac:spMkLst>
            <pc:docMk/>
            <pc:sldMk cId="1504878759" sldId="349"/>
            <ac:spMk id="2" creationId="{9D552BA8-E40D-BE5E-B33E-255C974B1B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24-06-2026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434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811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5737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837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1789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210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8361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93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22703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69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5123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828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80641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56894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140537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65340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459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7295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7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41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72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81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03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93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098119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318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172133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86355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22148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71303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50860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839577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12674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36675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78675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38871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0091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137490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704592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8512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737467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106433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1076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083274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17218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09131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317097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324340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72802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75394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062565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442143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58325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08254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9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784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71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53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832105"/>
          </a:xfrm>
        </p:spPr>
        <p:txBody>
          <a:bodyPr/>
          <a:lstStyle/>
          <a:p>
            <a:r>
              <a:rPr lang="es-419" sz="4400" noProof="0" dirty="0"/>
              <a:t>Gestionar solicitudes de admisión</a:t>
            </a:r>
            <a:endParaRPr lang="es-419" noProof="0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419" sz="1800" noProof="0" dirty="0"/>
              <a:t>Instructivo</a:t>
            </a:r>
            <a:endParaRPr lang="es-419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419" dirty="0"/>
              <a:t>Sergio Molina</a:t>
            </a:r>
            <a:endParaRPr lang="es-419" noProof="0" dirty="0"/>
          </a:p>
          <a:p>
            <a:r>
              <a:rPr lang="es-419" noProof="0" dirty="0"/>
              <a:t>Consultor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AF7D103-2992-CE66-2094-F2DD7ED1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noProof="0" dirty="0"/>
              <a:t>Junio, </a:t>
            </a:r>
            <a:r>
              <a:rPr lang="es-419" dirty="0"/>
              <a:t>2026</a:t>
            </a:r>
            <a:endParaRPr lang="es-419" noProof="0" dirty="0"/>
          </a:p>
        </p:txBody>
      </p:sp>
      <p:pic>
        <p:nvPicPr>
          <p:cNvPr id="9" name="Marcador de posición de imagen 8" descr="Mujer sentada en un escritorio&#10;&#10;El contenido generado por IA puede ser incorrecto.">
            <a:extLst>
              <a:ext uri="{FF2B5EF4-FFF2-40B4-BE49-F238E27FC236}">
                <a16:creationId xmlns:a16="http://schemas.microsoft.com/office/drawing/2014/main" id="{C8F2F481-06F7-0405-5DC6-CD13384898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/>
        </p:nvGraphicFramePr>
        <p:xfrm>
          <a:off x="998524" y="1096833"/>
          <a:ext cx="9058128" cy="48851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 err="1">
                          <a:solidFill>
                            <a:schemeClr val="bg1"/>
                          </a:solidFill>
                        </a:rPr>
                        <a:t>Overview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Configuraciones para la Gestión de solicitudes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Crear solicitudes de admisión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Gestionar solicitudes de admisión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Datos adicionales de aspirantes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655753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6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DDFF42-6FA8-751E-A698-DCCBBFE8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20" y="998440"/>
            <a:ext cx="11868760" cy="492150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tx2"/>
                </a:solidFill>
              </a:rPr>
              <a:t>Overview: </a:t>
            </a:r>
            <a:r>
              <a:rPr lang="es-419" sz="3200" b="1" noProof="0" dirty="0"/>
              <a:t>Mapa de capacidades</a:t>
            </a:r>
            <a:endParaRPr lang="es-419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422694" y="2990521"/>
            <a:ext cx="2363637" cy="6728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1253736"/>
          </a:xfrm>
        </p:spPr>
        <p:txBody>
          <a:bodyPr anchor="ctr"/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b="1" noProof="0" dirty="0">
                <a:solidFill>
                  <a:srgbClr val="7030A0"/>
                </a:solidFill>
              </a:rPr>
              <a:t>Gestionar solicitudes de admisión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419" sz="2400" noProof="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noProof="0" dirty="0" err="1">
                <a:solidFill>
                  <a:schemeClr val="tx2"/>
                </a:solidFill>
              </a:rPr>
              <a:t>Overview</a:t>
            </a:r>
            <a:r>
              <a:rPr lang="es-419" sz="3200" noProof="0" dirty="0">
                <a:solidFill>
                  <a:schemeClr val="tx2"/>
                </a:solidFill>
              </a:rPr>
              <a:t>: </a:t>
            </a:r>
            <a:r>
              <a:rPr lang="es-419" noProof="0" dirty="0"/>
              <a:t>Macroproceso Gestionar la admisión de los estudiantes</a:t>
            </a:r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noProof="0" dirty="0">
                <a:solidFill>
                  <a:srgbClr val="7030A0"/>
                </a:solidFill>
              </a:rPr>
              <a:t>Configurar los valores requeridos para las solicitudes de admisión como: tipos de admisión, exámenes, requerimientos, estados y decisiones.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noProof="0" dirty="0">
                <a:solidFill>
                  <a:srgbClr val="7030A0"/>
                </a:solidFill>
              </a:rPr>
              <a:t>Con las configuraciones necesarias se podrán crear los registros de admisión en las páginas nativas de banner, aquellas que lleguen en la integración son el sistema de admisión o CRM y aquellos que se creen de forma directa, así como gestionar las decisiones sobre las solicitudes creadas.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noProof="0" dirty="0" err="1">
                <a:solidFill>
                  <a:schemeClr val="tx2"/>
                </a:solidFill>
              </a:rPr>
              <a:t>Overview</a:t>
            </a:r>
            <a:r>
              <a:rPr lang="es-419" sz="3200" noProof="0" dirty="0">
                <a:solidFill>
                  <a:schemeClr val="tx2"/>
                </a:solidFill>
              </a:rPr>
              <a:t>: </a:t>
            </a:r>
            <a:r>
              <a:rPr lang="es-419" noProof="0" dirty="0"/>
              <a:t>Proceso gestionar solicitudes de admisión</a:t>
            </a: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noProof="0" dirty="0" err="1">
                <a:solidFill>
                  <a:schemeClr val="tx2"/>
                </a:solidFill>
              </a:rPr>
              <a:t>Overview</a:t>
            </a:r>
            <a:r>
              <a:rPr lang="es-419" noProof="0" dirty="0">
                <a:solidFill>
                  <a:schemeClr val="tx2"/>
                </a:solidFill>
              </a:rPr>
              <a:t>: </a:t>
            </a:r>
            <a:r>
              <a:rPr lang="es-419" noProof="0" dirty="0"/>
              <a:t>Proceso Gestionar solicitudes de admisión</a:t>
            </a:r>
          </a:p>
        </p:txBody>
      </p:sp>
      <p:pic>
        <p:nvPicPr>
          <p:cNvPr id="4" name="Picture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F806F51-9555-7250-6317-F88D79640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9" y="2248683"/>
            <a:ext cx="9686365" cy="291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noProof="0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noProof="0" dirty="0" err="1">
                <a:solidFill>
                  <a:schemeClr val="tx2"/>
                </a:solidFill>
              </a:rPr>
              <a:t>Overview</a:t>
            </a:r>
            <a:r>
              <a:rPr lang="es-419" noProof="0" dirty="0">
                <a:solidFill>
                  <a:schemeClr val="tx2"/>
                </a:solidFill>
              </a:rPr>
              <a:t>: </a:t>
            </a:r>
            <a:r>
              <a:rPr lang="es-419" noProof="0" dirty="0"/>
              <a:t>Proceso gestionar solicitudes de admisión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06E67-6F3E-A1D6-6CD4-3B8002331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04" y="1175284"/>
            <a:ext cx="5209671" cy="52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CONFIGURACIONES</a:t>
            </a:r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419" noProof="0" dirty="0"/>
              <a:t>Configuración requerida para crear una solicitud de admisión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0EA8B-B7EE-8D22-9310-2D484E857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Gestionar Solicitudes de admisión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191179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275B8720-4698-E612-09BC-7ECD8CEA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261027"/>
            <a:ext cx="10879730" cy="493501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B470500-9F02-E3F1-8EAA-8ACA2CE0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670" y="3255197"/>
            <a:ext cx="4759538" cy="27393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STVADMT</a:t>
            </a:r>
            <a:r>
              <a:rPr lang="es-419" sz="3000" b="1" noProof="0" dirty="0"/>
              <a:t> Validación </a:t>
            </a:r>
            <a:r>
              <a:rPr lang="es-419" sz="3000" noProof="0" dirty="0"/>
              <a:t>de código de tipo de admisión</a:t>
            </a:r>
            <a:endParaRPr lang="es-419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56203ECB-1C41-D9A4-9735-8FCB665D568C}"/>
              </a:ext>
            </a:extLst>
          </p:cNvPr>
          <p:cNvSpPr/>
          <p:nvPr/>
        </p:nvSpPr>
        <p:spPr>
          <a:xfrm>
            <a:off x="1177090" y="1850035"/>
            <a:ext cx="270254" cy="15755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91E78EBA-5923-BB68-6AD1-C29C1040BAF2}"/>
              </a:ext>
            </a:extLst>
          </p:cNvPr>
          <p:cNvSpPr/>
          <p:nvPr/>
        </p:nvSpPr>
        <p:spPr>
          <a:xfrm>
            <a:off x="4493100" y="1830968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A921560-3135-EEB2-BA2A-84E490A5D91D}"/>
              </a:ext>
            </a:extLst>
          </p:cNvPr>
          <p:cNvCxnSpPr>
            <a:cxnSpLocks/>
            <a:stCxn id="17" idx="2"/>
          </p:cNvCxnSpPr>
          <p:nvPr/>
        </p:nvCxnSpPr>
        <p:spPr>
          <a:xfrm rot="16200000" flipH="1">
            <a:off x="1273230" y="1733233"/>
            <a:ext cx="2704336" cy="35300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810245" y="5047861"/>
            <a:ext cx="8934389" cy="130848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noProof="0" dirty="0"/>
              <a:t>Se definen los tipos de admisión indicando: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Código para el Tipo de admisión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Descripción de del tipo de admisión</a:t>
            </a:r>
          </a:p>
          <a:p>
            <a:r>
              <a:rPr lang="es-419" sz="1400" noProof="0" dirty="0"/>
              <a:t> </a:t>
            </a:r>
            <a:r>
              <a:rPr lang="es-419" sz="1200" noProof="0" dirty="0"/>
              <a:t>Estos códigos se van a desplegar en el campo de tipo de admisión de la página SAAADMS (Solicitud de admisión)</a:t>
            </a:r>
          </a:p>
          <a:p>
            <a:r>
              <a:rPr lang="es-419" sz="1400" noProof="0" dirty="0"/>
              <a:t>Recuerde guardar si registró información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C3EA07D-015D-1274-CC77-23FD98A59A3C}"/>
              </a:ext>
            </a:extLst>
          </p:cNvPr>
          <p:cNvSpPr/>
          <p:nvPr/>
        </p:nvSpPr>
        <p:spPr>
          <a:xfrm>
            <a:off x="622570" y="1980392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E350EEE-BF9E-568B-6AD6-B76DF136B0F3}"/>
              </a:ext>
            </a:extLst>
          </p:cNvPr>
          <p:cNvSpPr/>
          <p:nvPr/>
        </p:nvSpPr>
        <p:spPr>
          <a:xfrm>
            <a:off x="2799713" y="1980390"/>
            <a:ext cx="1680418" cy="15755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FBCE281-436F-7516-5258-932072D952B4}"/>
              </a:ext>
            </a:extLst>
          </p:cNvPr>
          <p:cNvSpPr/>
          <p:nvPr/>
        </p:nvSpPr>
        <p:spPr>
          <a:xfrm>
            <a:off x="4390410" y="4700748"/>
            <a:ext cx="1973067" cy="24447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5986E90-DE99-A36C-EFE9-23062A16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72" y="1025642"/>
            <a:ext cx="10837757" cy="49216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E625FA6-6B73-42A9-E732-0C0DB063C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762" y="2733720"/>
            <a:ext cx="4759538" cy="27393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b="1" noProof="0" dirty="0"/>
              <a:t>Validación </a:t>
            </a:r>
            <a:r>
              <a:rPr lang="es-419" sz="3000" noProof="0" dirty="0"/>
              <a:t>de código de tipo de alumno</a:t>
            </a:r>
            <a:endParaRPr lang="es-419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ACD1078-1401-FDE4-8631-F2D8DFDA0E14}"/>
              </a:ext>
            </a:extLst>
          </p:cNvPr>
          <p:cNvSpPr/>
          <p:nvPr/>
        </p:nvSpPr>
        <p:spPr>
          <a:xfrm>
            <a:off x="1611771" y="2434303"/>
            <a:ext cx="191938" cy="1449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AD2D2CBB-FF7F-DE36-A845-ACB6E74A41BD}"/>
              </a:ext>
            </a:extLst>
          </p:cNvPr>
          <p:cNvSpPr/>
          <p:nvPr/>
        </p:nvSpPr>
        <p:spPr>
          <a:xfrm>
            <a:off x="3042458" y="2422797"/>
            <a:ext cx="19617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810247" y="4844856"/>
            <a:ext cx="7306235" cy="149189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noProof="0" dirty="0"/>
              <a:t>En validación código de tipo de alumno se ingresa 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Código de tipo de Alumno.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Descripción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Finalmente se guardan los registros creados.</a:t>
            </a:r>
          </a:p>
          <a:p>
            <a:r>
              <a:rPr lang="es-419" sz="1200" noProof="0" dirty="0"/>
              <a:t>Estos se van a desplegar en el campo tipo de alumno de la página SAAADMS (Solicitud de admisión)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91398180-7A63-9912-E7A4-F41941B02912}"/>
              </a:ext>
            </a:extLst>
          </p:cNvPr>
          <p:cNvCxnSpPr>
            <a:cxnSpLocks/>
            <a:stCxn id="16" idx="2"/>
            <a:endCxn id="22" idx="1"/>
          </p:cNvCxnSpPr>
          <p:nvPr/>
        </p:nvCxnSpPr>
        <p:spPr>
          <a:xfrm rot="16200000" flipH="1">
            <a:off x="3082348" y="799163"/>
            <a:ext cx="1916713" cy="57640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redondeado 15">
            <a:extLst>
              <a:ext uri="{FF2B5EF4-FFF2-40B4-BE49-F238E27FC236}">
                <a16:creationId xmlns:a16="http://schemas.microsoft.com/office/drawing/2014/main" id="{AADF5D86-8452-AD3F-6962-DAB67E05CCD4}"/>
              </a:ext>
            </a:extLst>
          </p:cNvPr>
          <p:cNvSpPr/>
          <p:nvPr/>
        </p:nvSpPr>
        <p:spPr>
          <a:xfrm>
            <a:off x="10776794" y="5602849"/>
            <a:ext cx="19617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5B00CB-21F9-D45E-AFBB-E58F0D0928DC}"/>
              </a:ext>
            </a:extLst>
          </p:cNvPr>
          <p:cNvSpPr/>
          <p:nvPr/>
        </p:nvSpPr>
        <p:spPr>
          <a:xfrm>
            <a:off x="762572" y="2529712"/>
            <a:ext cx="792197" cy="193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79E8C07-5B1D-3F87-4489-662945C074DC}"/>
              </a:ext>
            </a:extLst>
          </p:cNvPr>
          <p:cNvSpPr/>
          <p:nvPr/>
        </p:nvSpPr>
        <p:spPr>
          <a:xfrm>
            <a:off x="2170346" y="2522777"/>
            <a:ext cx="792197" cy="193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62881D3-324E-AD0E-F05D-3A8B4721CAE6}"/>
              </a:ext>
            </a:extLst>
          </p:cNvPr>
          <p:cNvSpPr/>
          <p:nvPr/>
        </p:nvSpPr>
        <p:spPr>
          <a:xfrm>
            <a:off x="11077539" y="5663682"/>
            <a:ext cx="535760" cy="16867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3F2F3AB-2E8D-86A5-0C13-4516B6B85A3D}"/>
              </a:ext>
            </a:extLst>
          </p:cNvPr>
          <p:cNvSpPr/>
          <p:nvPr/>
        </p:nvSpPr>
        <p:spPr>
          <a:xfrm>
            <a:off x="6922738" y="4516015"/>
            <a:ext cx="1754731" cy="2470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689154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ACF63246-5502-6B3C-29BA-481958BC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15" y="1263796"/>
            <a:ext cx="10947444" cy="49688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0" noProof="0" dirty="0"/>
              <a:t> </a:t>
            </a:r>
            <a:r>
              <a:rPr lang="es-419" sz="3000" noProof="0" dirty="0"/>
              <a:t>STVRESD</a:t>
            </a:r>
            <a:r>
              <a:rPr lang="es-419" sz="3000" b="1" noProof="0" dirty="0"/>
              <a:t> Validación </a:t>
            </a:r>
            <a:r>
              <a:rPr lang="es-419" sz="3000" noProof="0" dirty="0"/>
              <a:t>de código de residencia</a:t>
            </a:r>
            <a:endParaRPr lang="es-419" noProof="0" dirty="0"/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4816F58D-BCCE-410F-76AE-A6811F8362B6}"/>
              </a:ext>
            </a:extLst>
          </p:cNvPr>
          <p:cNvSpPr/>
          <p:nvPr/>
        </p:nvSpPr>
        <p:spPr>
          <a:xfrm>
            <a:off x="10947003" y="6012146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C5D9F5A-9F7E-5954-3E3F-C34BC3C3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921" y="2478045"/>
            <a:ext cx="4759538" cy="273930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51C3521A-87C4-C77A-909D-116472B50833}"/>
              </a:ext>
            </a:extLst>
          </p:cNvPr>
          <p:cNvSpPr/>
          <p:nvPr/>
        </p:nvSpPr>
        <p:spPr>
          <a:xfrm>
            <a:off x="7294485" y="4468683"/>
            <a:ext cx="1754731" cy="2470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3932D256-EBB5-F58C-BAEF-540827412808}"/>
              </a:ext>
            </a:extLst>
          </p:cNvPr>
          <p:cNvCxnSpPr>
            <a:cxnSpLocks/>
            <a:stCxn id="21" idx="2"/>
            <a:endCxn id="14" idx="1"/>
          </p:cNvCxnSpPr>
          <p:nvPr/>
        </p:nvCxnSpPr>
        <p:spPr>
          <a:xfrm rot="16200000" flipH="1">
            <a:off x="3359837" y="657573"/>
            <a:ext cx="2460655" cy="54086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68D839D2-9D86-7758-4DC0-16371D0025E7}"/>
              </a:ext>
            </a:extLst>
          </p:cNvPr>
          <p:cNvSpPr/>
          <p:nvPr/>
        </p:nvSpPr>
        <p:spPr>
          <a:xfrm>
            <a:off x="2984073" y="1909711"/>
            <a:ext cx="191938" cy="1449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20" name="Rectángulo redondeado 15">
            <a:extLst>
              <a:ext uri="{FF2B5EF4-FFF2-40B4-BE49-F238E27FC236}">
                <a16:creationId xmlns:a16="http://schemas.microsoft.com/office/drawing/2014/main" id="{771508EB-25AE-85A1-BBAE-F0EBA1EA4853}"/>
              </a:ext>
            </a:extLst>
          </p:cNvPr>
          <p:cNvSpPr/>
          <p:nvPr/>
        </p:nvSpPr>
        <p:spPr>
          <a:xfrm>
            <a:off x="6555320" y="2478045"/>
            <a:ext cx="19617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70AC126-BB44-522E-297A-9D995976AE66}"/>
              </a:ext>
            </a:extLst>
          </p:cNvPr>
          <p:cNvSpPr/>
          <p:nvPr/>
        </p:nvSpPr>
        <p:spPr>
          <a:xfrm>
            <a:off x="823215" y="1986627"/>
            <a:ext cx="2125257" cy="14494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8BF5231-A514-0214-999E-0FC36258C1B9}"/>
              </a:ext>
            </a:extLst>
          </p:cNvPr>
          <p:cNvSpPr/>
          <p:nvPr/>
        </p:nvSpPr>
        <p:spPr>
          <a:xfrm>
            <a:off x="6751494" y="2676295"/>
            <a:ext cx="295225" cy="1494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A4A8D65-CBCF-ACC9-590B-4C812C1D8919}"/>
              </a:ext>
            </a:extLst>
          </p:cNvPr>
          <p:cNvSpPr/>
          <p:nvPr/>
        </p:nvSpPr>
        <p:spPr>
          <a:xfrm>
            <a:off x="11271745" y="5942898"/>
            <a:ext cx="534514" cy="21997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787614" y="4833256"/>
            <a:ext cx="7619267" cy="157538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En Validación de códigos de Residencia se definen: 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Se ingresan el código y su descripción.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El campo en estado/provincia se marca para identificar que ese código de residencia está en el mismo estado/provincia que la institución.</a:t>
            </a:r>
          </a:p>
          <a:p>
            <a:r>
              <a:rPr lang="es-419" sz="1100" noProof="0" dirty="0"/>
              <a:t>Los que se van a desplegar en el campo residencia de la página SAAADMS (Solicitud de admisión).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419" sz="1200" noProof="0" dirty="0"/>
              <a:t>Finalmente Guarde los registros creados.</a:t>
            </a:r>
          </a:p>
          <a:p>
            <a:endParaRPr lang="es-419" sz="1200" noProof="0" dirty="0"/>
          </a:p>
        </p:txBody>
      </p:sp>
    </p:spTree>
    <p:extLst>
      <p:ext uri="{BB962C8B-B14F-4D97-AF65-F5344CB8AC3E}">
        <p14:creationId xmlns:p14="http://schemas.microsoft.com/office/powerpoint/2010/main" val="1106940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419" noProof="0" dirty="0"/>
              <a:t>Configuración datos adicionales utilizados en la solicitud de admisión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72D662-22C4-0B53-F8DA-880B6C04C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Gestionar Solicitudes de admisión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16477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87BC470-2EA0-1DFA-F323-01CB08CE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68682"/>
            <a:ext cx="10838828" cy="49364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0" noProof="0" dirty="0"/>
              <a:t> </a:t>
            </a:r>
            <a:r>
              <a:rPr lang="es-419" sz="3000" noProof="0" dirty="0"/>
              <a:t>STVSBGI</a:t>
            </a:r>
            <a:r>
              <a:rPr lang="es-419" sz="3000" b="1" noProof="0" dirty="0"/>
              <a:t> Validación </a:t>
            </a:r>
            <a:r>
              <a:rPr lang="es-419" sz="3000" noProof="0" dirty="0"/>
              <a:t>del código de institución fuente/origen</a:t>
            </a:r>
            <a:endParaRPr lang="es-419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58476" y="4686652"/>
            <a:ext cx="9439835" cy="141852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200" noProof="0" dirty="0"/>
          </a:p>
          <a:p>
            <a:endParaRPr lang="es-419" sz="1200" noProof="0" dirty="0"/>
          </a:p>
          <a:p>
            <a:r>
              <a:rPr lang="es-419" sz="1200" noProof="0" dirty="0"/>
              <a:t>Se crea el registro de instituciones: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Se crea el código y descripción de la institución de origen de los estudiantes.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Se identifica el tipo de institución: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Bachillerato: para las instituciones de educación secundaria o colegios.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Escuela: para las instituciones de educación superior o universidades.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Finalmente, guarde la información.</a:t>
            </a:r>
            <a:br>
              <a:rPr lang="es-419" sz="1200" noProof="0" dirty="0"/>
            </a:br>
            <a:endParaRPr lang="es-419" sz="1200" noProof="0" dirty="0"/>
          </a:p>
          <a:p>
            <a:endParaRPr lang="es-419" sz="14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B63ADBD2-01DC-A4A9-A09B-9F7E54011DEB}"/>
              </a:ext>
            </a:extLst>
          </p:cNvPr>
          <p:cNvSpPr/>
          <p:nvPr/>
        </p:nvSpPr>
        <p:spPr>
          <a:xfrm>
            <a:off x="630110" y="2401903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33E08AE6-F367-91A8-7B00-28951A7BC303}"/>
              </a:ext>
            </a:extLst>
          </p:cNvPr>
          <p:cNvSpPr/>
          <p:nvPr/>
        </p:nvSpPr>
        <p:spPr>
          <a:xfrm>
            <a:off x="10834829" y="5878124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863A94-85BB-458A-FE06-BD54BC346941}"/>
              </a:ext>
            </a:extLst>
          </p:cNvPr>
          <p:cNvSpPr/>
          <p:nvPr/>
        </p:nvSpPr>
        <p:spPr>
          <a:xfrm>
            <a:off x="11159571" y="5808876"/>
            <a:ext cx="534514" cy="21997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8C0F7FA-0D8B-7CBE-BD64-7CB7A553C3FA}"/>
              </a:ext>
            </a:extLst>
          </p:cNvPr>
          <p:cNvSpPr/>
          <p:nvPr/>
        </p:nvSpPr>
        <p:spPr>
          <a:xfrm>
            <a:off x="810247" y="2101594"/>
            <a:ext cx="3299935" cy="23520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72C8615E-4039-C283-9AEB-1312D68D994A}"/>
              </a:ext>
            </a:extLst>
          </p:cNvPr>
          <p:cNvSpPr/>
          <p:nvPr/>
        </p:nvSpPr>
        <p:spPr>
          <a:xfrm>
            <a:off x="4830618" y="2171348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2B0AE0C-6AFF-703D-AE3F-4FBAD53A15D5}"/>
              </a:ext>
            </a:extLst>
          </p:cNvPr>
          <p:cNvSpPr/>
          <p:nvPr/>
        </p:nvSpPr>
        <p:spPr>
          <a:xfrm>
            <a:off x="4110182" y="1881624"/>
            <a:ext cx="720436" cy="28972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466515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B78B49D-0CF7-9D3F-88A1-9DF5B331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82" y="1082068"/>
            <a:ext cx="10607402" cy="48476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0" noProof="0" dirty="0"/>
              <a:t> </a:t>
            </a:r>
            <a:r>
              <a:rPr lang="es-419" sz="3000" noProof="0" dirty="0"/>
              <a:t>STVORIG Validación de código originador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1080501" y="3386808"/>
            <a:ext cx="6135439" cy="132987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En validación de código originador se definen: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El código. 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Descripción correspondiente.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419" sz="1200" noProof="0" dirty="0"/>
              <a:t>Guarde la información </a:t>
            </a:r>
          </a:p>
          <a:p>
            <a:r>
              <a:rPr lang="es-419" sz="1100" noProof="0" dirty="0"/>
              <a:t>Estos códigos se van a desplegar en el campo originador del bloque COMENTARIOS de la página SAAADMS (Solicitud de admisión).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EAB8C883-8378-4118-37C2-63293E9DCBD4}"/>
              </a:ext>
            </a:extLst>
          </p:cNvPr>
          <p:cNvSpPr/>
          <p:nvPr/>
        </p:nvSpPr>
        <p:spPr>
          <a:xfrm>
            <a:off x="810247" y="1993902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1D84095-B45C-D5EB-FC52-EB041497698D}"/>
              </a:ext>
            </a:extLst>
          </p:cNvPr>
          <p:cNvSpPr/>
          <p:nvPr/>
        </p:nvSpPr>
        <p:spPr>
          <a:xfrm>
            <a:off x="3876871" y="1940702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DE471D9-866B-CE6E-0903-EABCEACFDCA0}"/>
              </a:ext>
            </a:extLst>
          </p:cNvPr>
          <p:cNvSpPr/>
          <p:nvPr/>
        </p:nvSpPr>
        <p:spPr>
          <a:xfrm>
            <a:off x="960583" y="1791280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265F27-2B3E-DA81-F6A1-001B3EC15AA5}"/>
              </a:ext>
            </a:extLst>
          </p:cNvPr>
          <p:cNvSpPr/>
          <p:nvPr/>
        </p:nvSpPr>
        <p:spPr>
          <a:xfrm>
            <a:off x="2844800" y="1791280"/>
            <a:ext cx="960581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EBEEB48-8B13-D876-07D3-74DD84624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55" y="2591224"/>
            <a:ext cx="4444568" cy="3038209"/>
          </a:xfrm>
          <a:prstGeom prst="rect">
            <a:avLst/>
          </a:prstGeom>
        </p:spPr>
      </p:pic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9418B4C6-2DA3-27D2-C354-C93D5DA71418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 rot="16200000" flipH="1">
            <a:off x="2708114" y="497970"/>
            <a:ext cx="3012009" cy="58974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EB2C9CF-9B76-85EF-F1F7-E045F629A82F}"/>
              </a:ext>
            </a:extLst>
          </p:cNvPr>
          <p:cNvSpPr/>
          <p:nvPr/>
        </p:nvSpPr>
        <p:spPr>
          <a:xfrm>
            <a:off x="7162854" y="4780639"/>
            <a:ext cx="1230315" cy="3441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446867C7-AD0F-E288-AEBC-B9A532EBCF68}"/>
              </a:ext>
            </a:extLst>
          </p:cNvPr>
          <p:cNvSpPr/>
          <p:nvPr/>
        </p:nvSpPr>
        <p:spPr>
          <a:xfrm>
            <a:off x="10718891" y="5693389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8E90A94-31B7-FE94-1076-94816CD936C3}"/>
              </a:ext>
            </a:extLst>
          </p:cNvPr>
          <p:cNvSpPr/>
          <p:nvPr/>
        </p:nvSpPr>
        <p:spPr>
          <a:xfrm>
            <a:off x="11043633" y="5624141"/>
            <a:ext cx="534514" cy="21997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924480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7CE0-4A0F-2493-5A58-0C4BE9C4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BB20371-E0B4-3E7F-B822-EC3CF38B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81248"/>
            <a:ext cx="10873074" cy="49484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BEC61E8-861B-8AA1-C411-3E6454473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428" y="2359751"/>
            <a:ext cx="5709893" cy="273181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24B4C0-A45D-2F9C-575D-E5A58BD36F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C2009A4-165F-44E0-2CBA-851B7682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0" noProof="0" dirty="0"/>
              <a:t> </a:t>
            </a:r>
            <a:r>
              <a:rPr lang="es-419" sz="3000" noProof="0" dirty="0"/>
              <a:t>STVATTS Validación de código atributos de estudiante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9FCD218E-0A7E-0414-CCB6-1435555E1D44}"/>
              </a:ext>
            </a:extLst>
          </p:cNvPr>
          <p:cNvSpPr/>
          <p:nvPr/>
        </p:nvSpPr>
        <p:spPr>
          <a:xfrm>
            <a:off x="1079404" y="4740040"/>
            <a:ext cx="8748087" cy="113671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En validación de código de atributo de alumnos se definen: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El código. 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Descripción correspondiente.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419" sz="1200" noProof="0" dirty="0"/>
              <a:t>Guarde la información </a:t>
            </a:r>
          </a:p>
          <a:p>
            <a:r>
              <a:rPr lang="es-419" sz="1100" noProof="0" dirty="0"/>
              <a:t>Estos códigos se van a desplegar en el campo atributos de la página SAAADMS (Solicitud de admisión).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605A1AB-2E94-36DD-23CD-DDBB7BD0E86E}"/>
              </a:ext>
            </a:extLst>
          </p:cNvPr>
          <p:cNvSpPr/>
          <p:nvPr/>
        </p:nvSpPr>
        <p:spPr>
          <a:xfrm>
            <a:off x="681091" y="2021739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FFC3D21-612F-30E2-95B5-B4A8090A4954}"/>
              </a:ext>
            </a:extLst>
          </p:cNvPr>
          <p:cNvSpPr/>
          <p:nvPr/>
        </p:nvSpPr>
        <p:spPr>
          <a:xfrm>
            <a:off x="3876870" y="1968539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204C8E-40AE-243E-4BC8-C977654BF996}"/>
              </a:ext>
            </a:extLst>
          </p:cNvPr>
          <p:cNvSpPr/>
          <p:nvPr/>
        </p:nvSpPr>
        <p:spPr>
          <a:xfrm>
            <a:off x="831427" y="1819117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32E1F32-5196-F0CA-3BBF-4668126B683F}"/>
              </a:ext>
            </a:extLst>
          </p:cNvPr>
          <p:cNvSpPr/>
          <p:nvPr/>
        </p:nvSpPr>
        <p:spPr>
          <a:xfrm>
            <a:off x="2844799" y="1819117"/>
            <a:ext cx="1032071" cy="17337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683047E7-0928-BB02-5A05-0C34982CD505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 rot="16200000" flipH="1">
            <a:off x="2279956" y="824810"/>
            <a:ext cx="2549745" cy="4837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3D80815-FD38-24A0-7232-577BA2332A24}"/>
              </a:ext>
            </a:extLst>
          </p:cNvPr>
          <p:cNvSpPr/>
          <p:nvPr/>
        </p:nvSpPr>
        <p:spPr>
          <a:xfrm>
            <a:off x="5973429" y="4365782"/>
            <a:ext cx="798852" cy="30500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4FE7E4CB-1452-FC9E-05F9-D0C4C5B4C63E}"/>
              </a:ext>
            </a:extLst>
          </p:cNvPr>
          <p:cNvSpPr/>
          <p:nvPr/>
        </p:nvSpPr>
        <p:spPr>
          <a:xfrm>
            <a:off x="10860814" y="5698205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E21012-0A7B-7217-8819-194501BF6CBC}"/>
              </a:ext>
            </a:extLst>
          </p:cNvPr>
          <p:cNvSpPr/>
          <p:nvPr/>
        </p:nvSpPr>
        <p:spPr>
          <a:xfrm>
            <a:off x="11185556" y="5628957"/>
            <a:ext cx="534514" cy="21997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918015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Configuración de requisitos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547A15-160E-F378-6B93-7C168B28B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Gestionar Solicitudes de admisión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677234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A2C156FA-F435-27FD-B013-BB7E5C29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40" y="976867"/>
            <a:ext cx="10812342" cy="493263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STVTESC Validación de código de examen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1404484" y="4132729"/>
            <a:ext cx="9748466" cy="179742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200" noProof="0" dirty="0"/>
          </a:p>
          <a:p>
            <a:endParaRPr lang="es-419" sz="1200" noProof="0" dirty="0"/>
          </a:p>
          <a:p>
            <a:r>
              <a:rPr lang="es-419" sz="1200" noProof="0" dirty="0"/>
              <a:t>Se definen los tipos y puntajes de exámenes: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Código de examen.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Descripción para el examen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Número máximo de posiciones: Se debe registrar de cuantas posiciones está compuesto el puntaje.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 de datos: Si se marca el campo tipo de dato los puntajes mínimos y máximos solo pueden ser numéricos; en caso contrario, los puntajes mínimos y máximos pueden ser alfanuméricos.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Puntaje mínimo y Puntaje máximo : Se registran los puntajes límite que se pueden registrar al estudiante en el examen correspondiente.</a:t>
            </a:r>
            <a:br>
              <a:rPr lang="es-419" sz="1200" noProof="0" dirty="0"/>
            </a:br>
            <a:endParaRPr lang="es-419" sz="1200" noProof="0" dirty="0"/>
          </a:p>
          <a:p>
            <a:endParaRPr lang="es-419" sz="14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69BE585-A97B-379E-1BE5-941814143247}"/>
              </a:ext>
            </a:extLst>
          </p:cNvPr>
          <p:cNvSpPr/>
          <p:nvPr/>
        </p:nvSpPr>
        <p:spPr>
          <a:xfrm>
            <a:off x="563418" y="2687913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98F9B92-C97B-8EF9-0929-888F4CCCA4FC}"/>
              </a:ext>
            </a:extLst>
          </p:cNvPr>
          <p:cNvSpPr/>
          <p:nvPr/>
        </p:nvSpPr>
        <p:spPr>
          <a:xfrm>
            <a:off x="1933546" y="2714057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3D7D0DD0-719E-6E56-1BA3-B74C57FFBC11}"/>
              </a:ext>
            </a:extLst>
          </p:cNvPr>
          <p:cNvSpPr/>
          <p:nvPr/>
        </p:nvSpPr>
        <p:spPr>
          <a:xfrm>
            <a:off x="3198928" y="3044195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D6CC494C-FCE4-DD9E-A80F-10EFDE5C6288}"/>
              </a:ext>
            </a:extLst>
          </p:cNvPr>
          <p:cNvSpPr/>
          <p:nvPr/>
        </p:nvSpPr>
        <p:spPr>
          <a:xfrm>
            <a:off x="4007547" y="3044195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71F0781D-FF03-8428-A00C-642E22D01663}"/>
              </a:ext>
            </a:extLst>
          </p:cNvPr>
          <p:cNvSpPr/>
          <p:nvPr/>
        </p:nvSpPr>
        <p:spPr>
          <a:xfrm>
            <a:off x="5871929" y="2740346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11D9D25-A5E4-B81E-005D-5351E5DEABED}"/>
              </a:ext>
            </a:extLst>
          </p:cNvPr>
          <p:cNvSpPr/>
          <p:nvPr/>
        </p:nvSpPr>
        <p:spPr>
          <a:xfrm>
            <a:off x="810247" y="2872063"/>
            <a:ext cx="43101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9868A97-E806-BE17-DBDC-D55C48228D2A}"/>
              </a:ext>
            </a:extLst>
          </p:cNvPr>
          <p:cNvSpPr/>
          <p:nvPr/>
        </p:nvSpPr>
        <p:spPr>
          <a:xfrm>
            <a:off x="1332101" y="2872063"/>
            <a:ext cx="561354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C8B6AF-9DB3-8BF4-24FA-83214C01E3EE}"/>
              </a:ext>
            </a:extLst>
          </p:cNvPr>
          <p:cNvSpPr/>
          <p:nvPr/>
        </p:nvSpPr>
        <p:spPr>
          <a:xfrm>
            <a:off x="3533837" y="2872063"/>
            <a:ext cx="308490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3B01D6-D1FA-40CE-9B3B-067E705AC316}"/>
              </a:ext>
            </a:extLst>
          </p:cNvPr>
          <p:cNvSpPr/>
          <p:nvPr/>
        </p:nvSpPr>
        <p:spPr>
          <a:xfrm>
            <a:off x="3969311" y="2863479"/>
            <a:ext cx="308490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516A0-7C6A-9F10-25A3-D5F3B414E479}"/>
              </a:ext>
            </a:extLst>
          </p:cNvPr>
          <p:cNvSpPr/>
          <p:nvPr/>
        </p:nvSpPr>
        <p:spPr>
          <a:xfrm>
            <a:off x="4394336" y="2837335"/>
            <a:ext cx="1457533" cy="20686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173530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B6B03AA-3D7F-17A5-B9E2-8C32947BC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6" y="1295956"/>
            <a:ext cx="10976308" cy="500744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STVADMR Validación del código de revisión de la solicitud de admisión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912648" y="4650036"/>
            <a:ext cx="10271883" cy="8866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Se define la lista de requisitos que se podrán solicitarán a los postulantes. Estos códigos se van a desplegar en el campo lista de verificación de la página SAAADMS (Solicitud de admisión).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846AB0B-E97A-12F0-66F2-40715689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17" y="2591767"/>
            <a:ext cx="6091237" cy="1674464"/>
          </a:xfrm>
          <a:prstGeom prst="rect">
            <a:avLst/>
          </a:prstGeom>
        </p:spPr>
      </p:pic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51D86178-BFB1-32E2-ED9C-B5942EB4B9F4}"/>
              </a:ext>
            </a:extLst>
          </p:cNvPr>
          <p:cNvSpPr/>
          <p:nvPr/>
        </p:nvSpPr>
        <p:spPr>
          <a:xfrm>
            <a:off x="457513" y="2095630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18A5425F-6701-988D-9617-081FBD79B92F}"/>
              </a:ext>
            </a:extLst>
          </p:cNvPr>
          <p:cNvSpPr/>
          <p:nvPr/>
        </p:nvSpPr>
        <p:spPr>
          <a:xfrm>
            <a:off x="2832487" y="2042430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5D43F53-E046-5E4F-FD73-043C2CDFD2A4}"/>
              </a:ext>
            </a:extLst>
          </p:cNvPr>
          <p:cNvSpPr/>
          <p:nvPr/>
        </p:nvSpPr>
        <p:spPr>
          <a:xfrm>
            <a:off x="607849" y="1893008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106F8D-B540-D2A3-566A-31A73578BCE6}"/>
              </a:ext>
            </a:extLst>
          </p:cNvPr>
          <p:cNvSpPr/>
          <p:nvPr/>
        </p:nvSpPr>
        <p:spPr>
          <a:xfrm>
            <a:off x="1800416" y="1893008"/>
            <a:ext cx="1032071" cy="17337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75F0D934-E795-EDB1-D0A8-E12A217CEF32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 rot="16200000" flipH="1">
            <a:off x="2483457" y="471622"/>
            <a:ext cx="1394159" cy="45357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15A5964-89B7-F8D7-FBFF-70DCA8507174}"/>
              </a:ext>
            </a:extLst>
          </p:cNvPr>
          <p:cNvSpPr/>
          <p:nvPr/>
        </p:nvSpPr>
        <p:spPr>
          <a:xfrm>
            <a:off x="5448423" y="3260437"/>
            <a:ext cx="795359" cy="35230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DD30960C-0233-56EA-BE39-EB387DB6EC9D}"/>
              </a:ext>
            </a:extLst>
          </p:cNvPr>
          <p:cNvSpPr/>
          <p:nvPr/>
        </p:nvSpPr>
        <p:spPr>
          <a:xfrm>
            <a:off x="10757388" y="6058957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511559-E1CB-8F55-8189-2158469518EF}"/>
              </a:ext>
            </a:extLst>
          </p:cNvPr>
          <p:cNvSpPr/>
          <p:nvPr/>
        </p:nvSpPr>
        <p:spPr>
          <a:xfrm>
            <a:off x="11082130" y="5989709"/>
            <a:ext cx="534514" cy="21997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044438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4EDFD83-2833-38D6-9DAD-351DA3B6B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40255"/>
            <a:ext cx="10772153" cy="490051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0" noProof="0" dirty="0"/>
              <a:t> </a:t>
            </a:r>
            <a:r>
              <a:rPr lang="es-419" sz="3000" noProof="0" dirty="0"/>
              <a:t>SAACHKB Reglas de la lista de verificación de admisiones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810247" y="3330825"/>
            <a:ext cx="9894303" cy="284137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Se define la lista de los requisitos, o lista de verificación y sus condiciones.</a:t>
            </a:r>
          </a:p>
          <a:p>
            <a:r>
              <a:rPr lang="es-419" sz="1200" noProof="0" dirty="0"/>
              <a:t>De la tabla de validación STVADMR se despliegan los requisitos que se van a solicitar, y se marca el período desde el cual entran en vigencia.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Se ingresa el </a:t>
            </a:r>
            <a:r>
              <a:rPr lang="es-419" sz="1200" b="1" noProof="0" dirty="0"/>
              <a:t>Elemento</a:t>
            </a:r>
            <a:r>
              <a:rPr lang="es-419" sz="1200" noProof="0" dirty="0"/>
              <a:t> (código de requisito definido en STVADMR). Se despliega la descripción correspondiente.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Ingrese el </a:t>
            </a:r>
            <a:r>
              <a:rPr lang="es-419" sz="1200" b="1" noProof="0" dirty="0"/>
              <a:t>Período</a:t>
            </a:r>
            <a:r>
              <a:rPr lang="es-419" sz="1200" noProof="0" dirty="0"/>
              <a:t> a partir del cual se define este requisito.</a:t>
            </a:r>
            <a:endParaRPr lang="es-419" sz="1200" b="1" noProof="0" dirty="0"/>
          </a:p>
          <a:p>
            <a:pPr marL="228600" indent="-228600">
              <a:buFont typeface="+mj-lt"/>
              <a:buAutoNum type="arabicPeriod"/>
            </a:pPr>
            <a:r>
              <a:rPr lang="es-419" sz="1200" b="1" noProof="0" dirty="0"/>
              <a:t>Indicador de “Inactivo”: </a:t>
            </a:r>
            <a:r>
              <a:rPr lang="es-419" sz="1200" noProof="0" dirty="0"/>
              <a:t>Cuando un requisito ya no se debe desplegar en la página se puede marcar como inactivo.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En el bloque </a:t>
            </a:r>
            <a:r>
              <a:rPr lang="es-419" sz="1200" b="1" noProof="0" dirty="0"/>
              <a:t>Criterio de currículos</a:t>
            </a:r>
            <a:r>
              <a:rPr lang="es-419" sz="1200" noProof="0" dirty="0"/>
              <a:t> defina las características que debe tener el estudiante para que cada requisito se cargue en la página de admisión. Estos criterios pueden ser: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Nivel (actualmente solo están definidos por nivel)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Campus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Grado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Programa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Tipo y código de campo de estudio</a:t>
            </a:r>
          </a:p>
          <a:p>
            <a:pPr lvl="1"/>
            <a:r>
              <a:rPr lang="es-419" sz="1200" noProof="0" dirty="0"/>
              <a:t>Este criterio se debe definir para cada registro de requisito ingresado.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Guarde la información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DACB57D-C081-1CF7-ADD1-EA82FB8C67EF}"/>
              </a:ext>
            </a:extLst>
          </p:cNvPr>
          <p:cNvSpPr/>
          <p:nvPr/>
        </p:nvSpPr>
        <p:spPr>
          <a:xfrm>
            <a:off x="1419846" y="2086118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93BB6D43-5ACD-135D-8D2C-F035BC5FED54}"/>
              </a:ext>
            </a:extLst>
          </p:cNvPr>
          <p:cNvSpPr/>
          <p:nvPr/>
        </p:nvSpPr>
        <p:spPr>
          <a:xfrm>
            <a:off x="10362311" y="2034164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E16636DA-BD8C-3320-21D8-60F58C504B9C}"/>
              </a:ext>
            </a:extLst>
          </p:cNvPr>
          <p:cNvSpPr/>
          <p:nvPr/>
        </p:nvSpPr>
        <p:spPr>
          <a:xfrm>
            <a:off x="8875369" y="2058700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F55C443-83FF-6AFA-927B-F6133740F186}"/>
              </a:ext>
            </a:extLst>
          </p:cNvPr>
          <p:cNvSpPr/>
          <p:nvPr/>
        </p:nvSpPr>
        <p:spPr>
          <a:xfrm>
            <a:off x="810247" y="1900020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A01AD24-5CBF-19AA-A854-EEEB594112DB}"/>
              </a:ext>
            </a:extLst>
          </p:cNvPr>
          <p:cNvSpPr/>
          <p:nvPr/>
        </p:nvSpPr>
        <p:spPr>
          <a:xfrm>
            <a:off x="8236377" y="1900020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DAD657F-8AC8-48E7-7A3F-DB7AC3A288BB}"/>
              </a:ext>
            </a:extLst>
          </p:cNvPr>
          <p:cNvSpPr/>
          <p:nvPr/>
        </p:nvSpPr>
        <p:spPr>
          <a:xfrm>
            <a:off x="9687194" y="1900020"/>
            <a:ext cx="609599" cy="1494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3E76313-FCAD-CCDB-8A2E-79EC334622DF}"/>
              </a:ext>
            </a:extLst>
          </p:cNvPr>
          <p:cNvSpPr/>
          <p:nvPr/>
        </p:nvSpPr>
        <p:spPr>
          <a:xfrm>
            <a:off x="810246" y="2697018"/>
            <a:ext cx="9552065" cy="29828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958F8B97-E1AC-8AD6-3FEB-CD2D02F09B59}"/>
              </a:ext>
            </a:extLst>
          </p:cNvPr>
          <p:cNvSpPr/>
          <p:nvPr/>
        </p:nvSpPr>
        <p:spPr>
          <a:xfrm>
            <a:off x="675118" y="2538338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229C8CED-2703-E5FC-069B-8F53A9223BFD}"/>
              </a:ext>
            </a:extLst>
          </p:cNvPr>
          <p:cNvSpPr/>
          <p:nvPr/>
        </p:nvSpPr>
        <p:spPr>
          <a:xfrm>
            <a:off x="10811876" y="5663262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C247190-86DB-6231-C85D-717B1A1F2364}"/>
              </a:ext>
            </a:extLst>
          </p:cNvPr>
          <p:cNvSpPr/>
          <p:nvPr/>
        </p:nvSpPr>
        <p:spPr>
          <a:xfrm>
            <a:off x="11107929" y="5745452"/>
            <a:ext cx="474472" cy="2241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742640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6C8845E-7AA3-E8C2-F603-FF14DA97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8" y="1065231"/>
            <a:ext cx="10689026" cy="487638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SAACHKB Reglas de la lista de verificación de admisiones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1603371" y="4095936"/>
            <a:ext cx="9306424" cy="127984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200" noProof="0" dirty="0"/>
          </a:p>
          <a:p>
            <a:pPr marL="228600" indent="-228600">
              <a:buFont typeface="+mj-lt"/>
              <a:buAutoNum type="arabicPeriod"/>
            </a:pPr>
            <a:r>
              <a:rPr lang="es-419" sz="1200" noProof="0" dirty="0"/>
              <a:t>En el bloque </a:t>
            </a:r>
            <a:r>
              <a:rPr lang="es-419" sz="1200" b="1" noProof="0" dirty="0"/>
              <a:t>Criterio de selección opcionales</a:t>
            </a:r>
            <a:r>
              <a:rPr lang="es-419" sz="1200" noProof="0" dirty="0"/>
              <a:t> defina las características (adicionales a las definidas en el currículo) que debe tener el estudiante para que cada requisito se cargue en la página de admisión y si el requisito es o no obligatorio en esos criterios. Estos criterios pueden ser: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Tipo de admisión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Tipo de alumno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419" sz="1200" noProof="0" dirty="0"/>
              <a:t>Residencia</a:t>
            </a:r>
          </a:p>
          <a:p>
            <a:endParaRPr lang="es-419" sz="14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0963258-E937-776D-4D3B-0BDE26041D4E}"/>
              </a:ext>
            </a:extLst>
          </p:cNvPr>
          <p:cNvSpPr/>
          <p:nvPr/>
        </p:nvSpPr>
        <p:spPr>
          <a:xfrm>
            <a:off x="744392" y="2317605"/>
            <a:ext cx="19722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9444098-7E21-DAE7-8CC8-B5C2E9BC3235}"/>
              </a:ext>
            </a:extLst>
          </p:cNvPr>
          <p:cNvSpPr/>
          <p:nvPr/>
        </p:nvSpPr>
        <p:spPr>
          <a:xfrm>
            <a:off x="827854" y="2467027"/>
            <a:ext cx="10671420" cy="84882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804D8935-1C90-04D4-A954-044055DA1455}"/>
              </a:ext>
            </a:extLst>
          </p:cNvPr>
          <p:cNvSpPr/>
          <p:nvPr/>
        </p:nvSpPr>
        <p:spPr>
          <a:xfrm>
            <a:off x="10739635" y="5552482"/>
            <a:ext cx="270254" cy="1494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C2EEC2C-8292-C083-2E7E-521D24C145C0}"/>
              </a:ext>
            </a:extLst>
          </p:cNvPr>
          <p:cNvSpPr/>
          <p:nvPr/>
        </p:nvSpPr>
        <p:spPr>
          <a:xfrm>
            <a:off x="11035688" y="5634672"/>
            <a:ext cx="474472" cy="2241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66781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Estados y decisiones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D9DDBA-DD56-02DB-E76A-29DFCD8CB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Gestionar Solicitudes de admisión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618832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8962698-CB63-16E4-6239-F77B2BE9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26" y="1205444"/>
            <a:ext cx="10599978" cy="48166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STVAPST Validación del código del estatus de la solicitud de admisión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1144158" y="2918691"/>
            <a:ext cx="10220873" cy="180945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Corresponde a los estatus de la solicitud de admisión. Los registros de </a:t>
            </a:r>
            <a:r>
              <a:rPr lang="es-419" sz="1200" b="1" noProof="0" dirty="0"/>
              <a:t>C – Completa</a:t>
            </a:r>
            <a:r>
              <a:rPr lang="es-419" sz="1200" noProof="0" dirty="0"/>
              <a:t>, </a:t>
            </a:r>
            <a:r>
              <a:rPr lang="es-419" sz="1200" b="1" noProof="0" dirty="0"/>
              <a:t>D –Decisión tomada </a:t>
            </a:r>
            <a:r>
              <a:rPr lang="es-419" sz="1200" noProof="0" dirty="0"/>
              <a:t>y </a:t>
            </a:r>
            <a:r>
              <a:rPr lang="es-419" sz="1200" b="1" noProof="0" dirty="0"/>
              <a:t>I-incompleta</a:t>
            </a:r>
            <a:r>
              <a:rPr lang="es-419" sz="1200" noProof="0" dirty="0"/>
              <a:t> son requeridos en BANNER y con ellos se actualiza automáticamente el estatus de la solicitud cuando se marcan los requisitos o se toma la decisión de admisión.</a:t>
            </a:r>
            <a:br>
              <a:rPr lang="es-419" sz="1200" noProof="0" dirty="0"/>
            </a:br>
            <a:r>
              <a:rPr lang="es-419" sz="1200" noProof="0" dirty="0"/>
              <a:t>Este estatus de solicitud se muestra en la primera pestaña de SAAADMS.</a:t>
            </a:r>
            <a:br>
              <a:rPr lang="es-419" sz="1200" noProof="0" dirty="0"/>
            </a:br>
            <a:r>
              <a:rPr lang="es-419" sz="1200" noProof="0" dirty="0"/>
              <a:t>La solicitud inicialmente puede llegar con:</a:t>
            </a:r>
          </a:p>
          <a:p>
            <a:pPr marL="228600" indent="-228600">
              <a:buAutoNum type="arabicPeriod"/>
            </a:pPr>
            <a:r>
              <a:rPr lang="es-419" sz="1200" noProof="0" dirty="0"/>
              <a:t>Estado C –completa: si  se han entregado todos los requisitos (obligatorios) definidos pero no se ha tomado decisión respecto a la admisión.</a:t>
            </a:r>
          </a:p>
          <a:p>
            <a:pPr marL="228600" indent="-228600">
              <a:buAutoNum type="arabicPeriod"/>
            </a:pPr>
            <a:r>
              <a:rPr lang="es-419" sz="1200" noProof="0" dirty="0"/>
              <a:t>Estado I – incompleta:  si no ha entregado todos los requisitos (obligatorios) definidos y no se ha tomado decisión respecto a la admisión.</a:t>
            </a:r>
          </a:p>
          <a:p>
            <a:pPr marL="228600" indent="-228600">
              <a:buAutoNum type="arabicPeriod"/>
            </a:pPr>
            <a:r>
              <a:rPr lang="es-419" sz="1200" noProof="0" dirty="0"/>
              <a:t>Estado D –decisión tomada: cuando se acepta como estudiante (no depende de los requisitos).</a:t>
            </a:r>
          </a:p>
        </p:txBody>
      </p:sp>
    </p:spTree>
    <p:extLst>
      <p:ext uri="{BB962C8B-B14F-4D97-AF65-F5344CB8AC3E}">
        <p14:creationId xmlns:p14="http://schemas.microsoft.com/office/powerpoint/2010/main" val="1468955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5F17817-431C-60A6-0B22-4FA4A6B8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5" y="1278334"/>
            <a:ext cx="10972800" cy="499179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noProof="0" dirty="0"/>
              <a:t>STVAPDC Validación de código de decisión de solicitud de admisión</a:t>
            </a:r>
            <a:endParaRPr lang="es-419" noProof="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234F7DE4-4DC3-AD2C-3331-DC69F8F27EA9}"/>
              </a:ext>
            </a:extLst>
          </p:cNvPr>
          <p:cNvSpPr/>
          <p:nvPr/>
        </p:nvSpPr>
        <p:spPr>
          <a:xfrm>
            <a:off x="1118653" y="3562247"/>
            <a:ext cx="10271883" cy="215506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noProof="0" dirty="0"/>
              <a:t>La institución ha definido los códigos que se ingresarán como decisión de la solicitud de admisión. Las características de los códigos con las siguientes (según las casillas que se activan):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noProof="0" dirty="0"/>
              <a:t>Decisión significativa: Se actualizará de I-incompleta o C-completa el campo de estatus de la solicitud en SAAADMS a D. Representando una decisión significativa (aun no se crea registro como estudiante).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noProof="0" dirty="0"/>
              <a:t>Aceptación de institución: Se utiliza para indicar que el solicitante ha sido aceptado por la institución (se crea registro como estudiante).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noProof="0" dirty="0"/>
              <a:t>Aceptación de solicitante: se utiliza para indicar que el solicitante ha aceptado la oferta de admisión (se crea registro de alumno).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noProof="0" dirty="0"/>
              <a:t>Solicitud inactiva: Se utiliza para indicar que esta solicitud de admisión se encuentra inactiva. Inactiva el registro de estudiante siempre que este sea el único generado desde la solicitud de admisión y no tenga ningún cambio.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noProof="0" dirty="0"/>
              <a:t>Rechazado por la institución: Se utiliza para indicar que esta solicitud de admisión es rechazada.</a:t>
            </a:r>
            <a:endParaRPr lang="es-419" sz="1400" noProof="0" dirty="0"/>
          </a:p>
        </p:txBody>
      </p:sp>
    </p:spTree>
    <p:extLst>
      <p:ext uri="{BB962C8B-B14F-4D97-AF65-F5344CB8AC3E}">
        <p14:creationId xmlns:p14="http://schemas.microsoft.com/office/powerpoint/2010/main" val="3228237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445173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Gestionar solicitudes de admisión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definen los datos requeridos para crear las solicitudes de admi</a:t>
            </a:r>
            <a:r>
              <a:rPr lang="es-ES_tradnl" dirty="0"/>
              <a:t>sión.</a:t>
            </a:r>
            <a:r>
              <a:rPr lang="es-419" sz="2000" dirty="0"/>
              <a:t>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Los datos obligatorios son el tipo de admisión (STVADMT), el tipo de estudiante (STVSTYP) y la residencia (STVRESD). Adicionalmente, se puede definir las instituciones de origen (STVSBGI), materiales (STVMATL) y intereses (STVINTS).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600" dirty="0"/>
              <a:t>Se debe definir los exámenes (STVTESC) y los distintos requisitos que se podría pedir a los postulantes (STVADMR). Adicionalmente, se definen las listas de requisitos específicas para diferentes programas y tipos de admisión, entre otros criterios (SAACHKB).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 </a:t>
            </a:r>
            <a:r>
              <a:rPr lang="es-ES_tradnl" sz="1600" dirty="0"/>
              <a:t>Finalmente se debe definir los estados (STVAPST) y las decisiones (STVAPDC) que pueden adquirir las solicitudes.</a:t>
            </a:r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Consultor.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Correo</a:t>
            </a:r>
            <a:r>
              <a:rPr lang="es-419" noProof="0" dirty="0"/>
              <a:t>@ellucian.com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Ellucian-PPT-Template-2026</Template>
  <TotalTime>8315</TotalTime>
  <Words>1504</Words>
  <Application>Microsoft Office PowerPoint</Application>
  <PresentationFormat>Widescreen</PresentationFormat>
  <Paragraphs>180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Macroproceso Gestionar la admisión de los estudiantes</vt:lpstr>
      <vt:lpstr>Overview: Proceso gestionar solicitudes de admisión</vt:lpstr>
      <vt:lpstr>PowerPoint Presentation</vt:lpstr>
      <vt:lpstr>PowerPoint Presentation</vt:lpstr>
      <vt:lpstr>CONFIGURACIONES</vt:lpstr>
      <vt:lpstr>PowerPoint Presentation</vt:lpstr>
      <vt:lpstr>STVADMT Validación de código de tipo de admisión</vt:lpstr>
      <vt:lpstr>Validación de código de tipo de alumno</vt:lpstr>
      <vt:lpstr> STVRESD Validación de código de residencia</vt:lpstr>
      <vt:lpstr>PowerPoint Presentation</vt:lpstr>
      <vt:lpstr> STVSBGI Validación del código de institución fuente/origen</vt:lpstr>
      <vt:lpstr> STVORIG Validación de código originador</vt:lpstr>
      <vt:lpstr> STVATTS Validación de código atributos de estudiante</vt:lpstr>
      <vt:lpstr>PowerPoint Presentation</vt:lpstr>
      <vt:lpstr>STVTESC Validación de código de examen</vt:lpstr>
      <vt:lpstr>STVADMR Validación del código de revisión de la solicitud de admisión</vt:lpstr>
      <vt:lpstr> SAACHKB Reglas de la lista de verificación de admisiones</vt:lpstr>
      <vt:lpstr>SAACHKB Reglas de la lista de verificación de admisiones</vt:lpstr>
      <vt:lpstr>PowerPoint Presentation</vt:lpstr>
      <vt:lpstr>STVAPST Validación del código del estatus de la solicitud de admisión</vt:lpstr>
      <vt:lpstr>STVAPDC Validación de código de decisión de solicitud de admisión</vt:lpstr>
      <vt:lpstr>RESUMEN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488</cp:revision>
  <dcterms:created xsi:type="dcterms:W3CDTF">2023-07-17T20:07:38Z</dcterms:created>
  <dcterms:modified xsi:type="dcterms:W3CDTF">2026-06-24T21:25:43Z</dcterms:modified>
</cp:coreProperties>
</file>
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 id="2147483751" r:id="rId2"/>
  </p:sldMasterIdLst>
  <p:notesMasterIdLst>
    <p:notesMasterId r:id="rId32"/>
  </p:notesMasterIdLst>
  <p:sldIdLst>
    <p:sldId id="563" r:id="rId3"/>
    <p:sldId id="423" r:id="rId4"/>
    <p:sldId id="476" r:id="rId5"/>
    <p:sldId id="348" r:id="rId6"/>
    <p:sldId id="349" r:id="rId7"/>
    <p:sldId id="350" r:id="rId8"/>
    <p:sldId id="421" r:id="rId9"/>
    <p:sldId id="623" r:id="rId10"/>
    <p:sldId id="469" r:id="rId11"/>
    <p:sldId id="614" r:id="rId12"/>
    <p:sldId id="513" r:id="rId13"/>
    <p:sldId id="553" r:id="rId14"/>
    <p:sldId id="554" r:id="rId15"/>
    <p:sldId id="539" r:id="rId16"/>
    <p:sldId id="543" r:id="rId17"/>
    <p:sldId id="544" r:id="rId18"/>
    <p:sldId id="552" r:id="rId19"/>
    <p:sldId id="545" r:id="rId20"/>
    <p:sldId id="621" r:id="rId21"/>
    <p:sldId id="541" r:id="rId22"/>
    <p:sldId id="542" r:id="rId23"/>
    <p:sldId id="546" r:id="rId24"/>
    <p:sldId id="547" r:id="rId25"/>
    <p:sldId id="548" r:id="rId26"/>
    <p:sldId id="549" r:id="rId27"/>
    <p:sldId id="622" r:id="rId28"/>
    <p:sldId id="551" r:id="rId29"/>
    <p:sldId id="345" r:id="rId30"/>
    <p:sldId id="620"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4B06FD8-FBF7-48A6-EC94-7EAC12BBF7D7}" name="Mardones, Francisco" initials="MF" userId="S::Francisco.Mardones@ellucian.com::216dec8c-35d0-45c5-a341-2c26a655750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00B0"/>
    <a:srgbClr val="0CA8B4"/>
    <a:srgbClr val="33CCCC"/>
    <a:srgbClr val="0CB4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01CF7D9-4B38-4109-9110-96064AB21C89}" v="3" dt="2026-04-14T16:27:48.468"/>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Estilo medio 1 - Énfasis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734" autoAdjust="0"/>
    <p:restoredTop sz="94660"/>
  </p:normalViewPr>
  <p:slideViewPr>
    <p:cSldViewPr snapToGrid="0">
      <p:cViewPr varScale="1">
        <p:scale>
          <a:sx n="111" d="100"/>
          <a:sy n="111" d="100"/>
        </p:scale>
        <p:origin x="606" y="96"/>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48" d="100"/>
          <a:sy n="48" d="100"/>
        </p:scale>
        <p:origin x="2684" y="4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38" Type="http://schemas.microsoft.com/office/2018/10/relationships/authors" Target="author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37"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422212-D69D-41E4-A547-75F507D8A64A}" type="datetimeFigureOut">
              <a:rPr lang="es-CL" smtClean="0"/>
              <a:t>24-06-2026</a:t>
            </a:fld>
            <a:endParaRPr lang="es-CL"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582945-6648-41CA-B880-4B10E0E03327}" type="slidenum">
              <a:rPr lang="es-CL" smtClean="0"/>
              <a:t>‹#›</a:t>
            </a:fld>
            <a:endParaRPr lang="es-CL" dirty="0"/>
          </a:p>
        </p:txBody>
      </p:sp>
    </p:spTree>
    <p:extLst>
      <p:ext uri="{BB962C8B-B14F-4D97-AF65-F5344CB8AC3E}">
        <p14:creationId xmlns:p14="http://schemas.microsoft.com/office/powerpoint/2010/main" val="1259085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4402518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748463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41959913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2202315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8189668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6866954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41398964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00472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21276650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Headline-Copy">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6" name="Text Placeholder 5">
            <a:extLst>
              <a:ext uri="{FF2B5EF4-FFF2-40B4-BE49-F238E27FC236}">
                <a16:creationId xmlns:a16="http://schemas.microsoft.com/office/drawing/2014/main" id="{9D09DD77-3C7C-EEB6-765D-0ED3FE5F28B3}"/>
              </a:ext>
            </a:extLst>
          </p:cNvPr>
          <p:cNvSpPr>
            <a:spLocks noGrp="1"/>
          </p:cNvSpPr>
          <p:nvPr>
            <p:ph type="body" sz="quarter" idx="11"/>
          </p:nvPr>
        </p:nvSpPr>
        <p:spPr>
          <a:xfrm>
            <a:off x="522287" y="1056958"/>
            <a:ext cx="11122188" cy="5100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665221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7183768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2041840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8866362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0169626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22340799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8394536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5667934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909608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35489392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86865991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057511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07582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522876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06093029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163752960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1718050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120841575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8649198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52129709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67413384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7310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81476060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68278839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811078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09787728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Section Divider">
    <p:bg>
      <p:bgPr>
        <a:solidFill>
          <a:schemeClr val="accent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a:t>
            </a:fld>
            <a:endParaRPr lang="es-CL" dirty="0"/>
          </a:p>
        </p:txBody>
      </p:sp>
    </p:spTree>
    <p:extLst>
      <p:ext uri="{BB962C8B-B14F-4D97-AF65-F5344CB8AC3E}">
        <p14:creationId xmlns:p14="http://schemas.microsoft.com/office/powerpoint/2010/main" val="3624596299"/>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1-Up ">
    <p:bg>
      <p:bgPr>
        <a:solidFill>
          <a:schemeClr val="bg1">
            <a:alpha val="20231"/>
          </a:schemeClr>
        </a:solidFill>
        <a:effectLst/>
      </p:bgPr>
    </p:bg>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2D92EE01-92FE-27B7-8491-8AE3AAC0FEF1}"/>
              </a:ext>
            </a:extLst>
          </p:cNvPr>
          <p:cNvSpPr>
            <a:spLocks noGrp="1"/>
          </p:cNvSpPr>
          <p:nvPr>
            <p:ph type="body" sz="quarter" idx="18"/>
          </p:nvPr>
        </p:nvSpPr>
        <p:spPr>
          <a:xfrm>
            <a:off x="1104900" y="1905002"/>
            <a:ext cx="10477499" cy="4267198"/>
          </a:xfrm>
        </p:spPr>
        <p:txBody>
          <a:bodyPr>
            <a:noAutofit/>
          </a:bodyPr>
          <a:lstStyle>
            <a:lvl1pPr marL="174625" indent="-174625">
              <a:lnSpc>
                <a:spcPct val="100000"/>
              </a:lnSpc>
              <a:buClr>
                <a:schemeClr val="accent2"/>
              </a:buClr>
              <a:buFont typeface="Arial" panose="020B0604020202020204" pitchFamily="34" charset="0"/>
              <a:buChar char="•"/>
              <a:tabLst/>
              <a:defRPr sz="1600">
                <a:solidFill>
                  <a:schemeClr val="tx1"/>
                </a:solidFill>
              </a:defRPr>
            </a:lvl1pPr>
            <a:lvl2pPr marL="342900" indent="-168275">
              <a:lnSpc>
                <a:spcPct val="100000"/>
              </a:lnSpc>
              <a:buClr>
                <a:schemeClr val="accent2"/>
              </a:buClr>
              <a:buFont typeface="Arial" panose="020B0604020202020204" pitchFamily="34" charset="0"/>
              <a:buChar char="•"/>
              <a:tabLst/>
              <a:defRPr sz="1600">
                <a:solidFill>
                  <a:schemeClr val="tx1"/>
                </a:solidFill>
              </a:defRPr>
            </a:lvl2pPr>
            <a:lvl3pPr marL="519113" indent="-176213">
              <a:lnSpc>
                <a:spcPct val="100000"/>
              </a:lnSpc>
              <a:buClr>
                <a:schemeClr val="accent2"/>
              </a:buClr>
              <a:buFont typeface="Arial" panose="020B0604020202020204" pitchFamily="34" charset="0"/>
              <a:buChar char="•"/>
              <a:tabLst/>
              <a:defRPr sz="1600">
                <a:solidFill>
                  <a:schemeClr val="tx1"/>
                </a:solidFill>
              </a:defRPr>
            </a:lvl3pPr>
            <a:lvl4pPr marL="685800" indent="-166688">
              <a:lnSpc>
                <a:spcPct val="100000"/>
              </a:lnSpc>
              <a:buClr>
                <a:schemeClr val="accent2"/>
              </a:buClr>
              <a:buFont typeface="Arial" panose="020B0604020202020204" pitchFamily="34" charset="0"/>
              <a:buChar char="•"/>
              <a:tabLst/>
              <a:defRPr sz="1600">
                <a:solidFill>
                  <a:schemeClr val="tx1"/>
                </a:solidFill>
              </a:defRPr>
            </a:lvl4pPr>
            <a:lvl5pPr marL="862013" indent="-176213">
              <a:lnSpc>
                <a:spcPct val="100000"/>
              </a:lnSpc>
              <a:buClr>
                <a:schemeClr val="accent2"/>
              </a:buClr>
              <a:buFont typeface="Arial" panose="020B0604020202020204" pitchFamily="34" charset="0"/>
              <a:buChar char="•"/>
              <a:tabLst/>
              <a:defRPr sz="1600">
                <a:solidFill>
                  <a:schemeClr val="tx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Vertical Text Placeholder 13">
            <a:extLst>
              <a:ext uri="{FF2B5EF4-FFF2-40B4-BE49-F238E27FC236}">
                <a16:creationId xmlns:a16="http://schemas.microsoft.com/office/drawing/2014/main" id="{E932BD03-3866-775C-FCE1-9468113E4954}"/>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8" name="Slide Number Placeholder 5">
            <a:extLst>
              <a:ext uri="{FF2B5EF4-FFF2-40B4-BE49-F238E27FC236}">
                <a16:creationId xmlns:a16="http://schemas.microsoft.com/office/drawing/2014/main" id="{D3877212-0337-0A89-2140-1837D97F8061}"/>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BAD56BAB-9B7B-4C09-8A45-659D39241E09}" type="slidenum">
              <a:rPr lang="es-CL" smtClean="0"/>
              <a:t>‹#›</a:t>
            </a:fld>
            <a:endParaRPr lang="es-CL" dirty="0"/>
          </a:p>
        </p:txBody>
      </p:sp>
      <p:sp>
        <p:nvSpPr>
          <p:cNvPr id="9" name="Title 2">
            <a:extLst>
              <a:ext uri="{FF2B5EF4-FFF2-40B4-BE49-F238E27FC236}">
                <a16:creationId xmlns:a16="http://schemas.microsoft.com/office/drawing/2014/main" id="{50D7E829-0820-3DB9-FA55-7C961469D717}"/>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Tree>
    <p:extLst>
      <p:ext uri="{BB962C8B-B14F-4D97-AF65-F5344CB8AC3E}">
        <p14:creationId xmlns:p14="http://schemas.microsoft.com/office/powerpoint/2010/main" val="2839382061"/>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020769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714587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B Purple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EE1FD067-74D8-0E64-F510-C09BEC15D05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10" name="TextBox 9">
            <a:extLst>
              <a:ext uri="{FF2B5EF4-FFF2-40B4-BE49-F238E27FC236}">
                <a16:creationId xmlns:a16="http://schemas.microsoft.com/office/drawing/2014/main" id="{116E64D5-8E4A-3059-BC15-EB884BE08EC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0DFD1F0B-69D7-F3A9-055F-2A986648AD27}"/>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49351346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 Purple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DB79317-11D6-0AF3-4B54-BDA534C904B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C7209B0-4D3E-B28A-692D-AB3B431BDB0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Box 1">
            <a:extLst>
              <a:ext uri="{FF2B5EF4-FFF2-40B4-BE49-F238E27FC236}">
                <a16:creationId xmlns:a16="http://schemas.microsoft.com/office/drawing/2014/main" id="{65158A56-C172-10B2-D489-16D7DACEC5F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43970436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B Gray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0ABA3577-65BA-7CC4-5395-E38F2A7AC77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E135DE03-26E8-0184-A39C-5A462BDC2DC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5" name="TextBox 4">
            <a:extLst>
              <a:ext uri="{FF2B5EF4-FFF2-40B4-BE49-F238E27FC236}">
                <a16:creationId xmlns:a16="http://schemas.microsoft.com/office/drawing/2014/main" id="{19F91899-8397-C452-E914-5DA32F2E64BE}"/>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4906036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B Gray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695EB3C-8530-E0C8-4217-5508CF63DB5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59450D81-7260-A5B0-C045-065E98F3D872}"/>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C8E4D3A3-6199-EF4C-2D38-F8DA60A48FE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27693336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B Green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40CB40AC-8E27-B4CE-FE98-617281F6189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08A44510-D9B6-3D27-0025-27FFAAD9F8AE}"/>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B9DBE2C0-3213-6D2D-4479-AD9B8089A641}"/>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48903591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B Green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1839101-BBAA-D670-10CD-40BF5E0392E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CCF7E87-236E-67B1-F9B1-5ACC27A1C0B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8B6E2BFF-AA3C-F635-EDE7-1D4D95732292}"/>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61281643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B Purple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88CB9F-7B69-6D25-41A0-F5D4BFE324C9}"/>
              </a:ext>
            </a:extLst>
          </p:cNvPr>
          <p:cNvSpPr/>
          <p:nvPr userDrawn="1"/>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2E0AAAEA-1F16-516A-417D-DC9DF964E80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66FD55EF-B73C-D814-E528-7EF5EBB86F1C}"/>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4077C5A4-055F-072E-16C5-84527D1FFDB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414770064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 Purple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A5C8E9-F647-20C1-E64B-5FADBF7E8499}"/>
              </a:ext>
            </a:extLst>
          </p:cNvPr>
          <p:cNvSpPr/>
          <p:nvPr userDrawn="1"/>
        </p:nvSpPr>
        <p:spPr>
          <a:xfrm>
            <a:off x="8128016"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66E5DE2-889D-3DE4-3572-3DCEEA210F8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7C932288-F84C-D66E-3E63-ED023CEAD97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12AA4C6E-89CC-BA61-A575-3A36232457CA}"/>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14873101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 Gray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9D04E6AC-3638-47BF-6BFD-E68AF8093AD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AC033454-6E80-8B9B-BBCB-6434F5D21BA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6F42D7DB-F5BA-604F-2A99-DBAB5A8DE7ED}"/>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05201090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 Gray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145C3B88-0182-B843-BB3B-F145067D5C9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CC84ADAE-B350-C159-D672-6F29FE4CC4F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83FB9DF3-A55E-DBF2-C049-8624E2CA323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30610595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B Green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3668F462-6E9A-C654-C321-DFBF69C7A66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2F75F911-FCDF-6D37-1A4E-6CFB26AAEB35}"/>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6F4A93C5-2125-4620-62DB-C8E3A6CA982A}"/>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26080483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B Green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E396D46-CDE6-66B6-0A7B-6DEC14B972B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462404-BF65-8481-4332-5DF7AD5ED1C9}"/>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CC6232A2-9E4F-3C88-D771-7120FAD75090}"/>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58895518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15013827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lank Dar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A593DCF4-AC60-B9D8-A985-C1CFC1A5AD75}"/>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67523774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lank Dark Gree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EFFC058F-486D-43DF-4B5C-09387CA4F8E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79450206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lank Warm Gra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9FF5FB22-C2EA-99F6-EF38-AD4BBB0C345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603AEA50-DA2C-915C-545F-713FCDF35A3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9D0EA6DE-76EE-C5B8-0477-8D50A19F075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42490735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6843315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2.svg"/><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slideLayout" Target="../slideLayouts/slideLayout49.xml"/><Relationship Id="rId18" Type="http://schemas.openxmlformats.org/officeDocument/2006/relationships/slideLayout" Target="../slideLayouts/slideLayout5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17" Type="http://schemas.openxmlformats.org/officeDocument/2006/relationships/slideLayout" Target="../slideLayouts/slideLayout53.xml"/><Relationship Id="rId2" Type="http://schemas.openxmlformats.org/officeDocument/2006/relationships/slideLayout" Target="../slideLayouts/slideLayout38.xml"/><Relationship Id="rId16" Type="http://schemas.openxmlformats.org/officeDocument/2006/relationships/slideLayout" Target="../slideLayouts/slideLayout52.xml"/><Relationship Id="rId20" Type="http://schemas.openxmlformats.org/officeDocument/2006/relationships/theme" Target="../theme/theme2.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5" Type="http://schemas.openxmlformats.org/officeDocument/2006/relationships/slideLayout" Target="../slideLayouts/slideLayout51.xml"/><Relationship Id="rId10" Type="http://schemas.openxmlformats.org/officeDocument/2006/relationships/slideLayout" Target="../slideLayouts/slideLayout46.xml"/><Relationship Id="rId19" Type="http://schemas.openxmlformats.org/officeDocument/2006/relationships/slideLayout" Target="../slideLayouts/slideLayout55.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slideLayout" Target="../slideLayouts/slideLayout5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r:embed="rId38">
            <a:extLst>
              <a:ext uri="{96DAC541-7B7A-43D3-8B79-37D633B846F1}">
                <asvg:svgBlip xmlns:asvg="http://schemas.microsoft.com/office/drawing/2016/SVG/main" r:embed="rId39"/>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127361715"/>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 id="2147483728" r:id="rId17"/>
    <p:sldLayoutId id="2147483729" r:id="rId18"/>
    <p:sldLayoutId id="2147483730" r:id="rId19"/>
    <p:sldLayoutId id="2147483731" r:id="rId20"/>
    <p:sldLayoutId id="2147483732" r:id="rId21"/>
    <p:sldLayoutId id="2147483733" r:id="rId22"/>
    <p:sldLayoutId id="2147483734" r:id="rId23"/>
    <p:sldLayoutId id="2147483735" r:id="rId24"/>
    <p:sldLayoutId id="2147483736" r:id="rId25"/>
    <p:sldLayoutId id="2147483737" r:id="rId26"/>
    <p:sldLayoutId id="2147483738" r:id="rId27"/>
    <p:sldLayoutId id="2147483739" r:id="rId28"/>
    <p:sldLayoutId id="2147483740" r:id="rId29"/>
    <p:sldLayoutId id="2147483741" r:id="rId30"/>
    <p:sldLayoutId id="2147483742" r:id="rId31"/>
    <p:sldLayoutId id="2147483743" r:id="rId32"/>
    <p:sldLayoutId id="2147483744" r:id="rId33"/>
    <p:sldLayoutId id="2147483745" r:id="rId34"/>
    <p:sldLayoutId id="2147483747" r:id="rId35"/>
    <p:sldLayoutId id="2147483748" r:id="rId36"/>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255528"/>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763" r:id="rId12"/>
    <p:sldLayoutId id="2147483764" r:id="rId13"/>
    <p:sldLayoutId id="2147483765" r:id="rId14"/>
    <p:sldLayoutId id="2147483766" r:id="rId15"/>
    <p:sldLayoutId id="2147483767" r:id="rId16"/>
    <p:sldLayoutId id="2147483768" r:id="rId17"/>
    <p:sldLayoutId id="2147483769" r:id="rId18"/>
    <p:sldLayoutId id="2147483770" r:id="rId1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6.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6.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6.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6.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6.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6.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6.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6.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6.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6.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9.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Layout" Target="../slideLayouts/slideLayout16.xml"/><Relationship Id="rId5" Type="http://schemas.openxmlformats.org/officeDocument/2006/relationships/image" Target="../media/image33.svg"/><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DD381F98-39A1-4ACC-B642-A72023AF9BC1}"/>
              </a:ext>
            </a:extLst>
          </p:cNvPr>
          <p:cNvSpPr>
            <a:spLocks noGrp="1"/>
          </p:cNvSpPr>
          <p:nvPr>
            <p:ph type="body" sz="quarter" idx="10"/>
          </p:nvPr>
        </p:nvSpPr>
        <p:spPr>
          <a:xfrm>
            <a:off x="556902" y="2249757"/>
            <a:ext cx="5427132" cy="1222707"/>
          </a:xfrm>
        </p:spPr>
        <p:txBody>
          <a:bodyPr/>
          <a:lstStyle/>
          <a:p>
            <a:r>
              <a:rPr lang="es-419" sz="4400" dirty="0"/>
              <a:t>Validar los datos suplementarios</a:t>
            </a:r>
            <a:endParaRPr lang="es-419" noProof="0" dirty="0">
              <a:latin typeface="+mj-lt"/>
            </a:endParaRPr>
          </a:p>
        </p:txBody>
      </p:sp>
      <p:sp>
        <p:nvSpPr>
          <p:cNvPr id="4" name="Marcador de texto 3">
            <a:extLst>
              <a:ext uri="{FF2B5EF4-FFF2-40B4-BE49-F238E27FC236}">
                <a16:creationId xmlns:a16="http://schemas.microsoft.com/office/drawing/2014/main" id="{A1EF17AF-28D3-D529-32AF-17D3B44889E9}"/>
              </a:ext>
            </a:extLst>
          </p:cNvPr>
          <p:cNvSpPr>
            <a:spLocks noGrp="1"/>
          </p:cNvSpPr>
          <p:nvPr>
            <p:ph type="body" sz="quarter" idx="11"/>
          </p:nvPr>
        </p:nvSpPr>
        <p:spPr>
          <a:xfrm>
            <a:off x="556902" y="4116116"/>
            <a:ext cx="5427132" cy="292452"/>
          </a:xfrm>
        </p:spPr>
        <p:txBody>
          <a:bodyPr/>
          <a:lstStyle/>
          <a:p>
            <a:r>
              <a:rPr lang="es-419" sz="1800" noProof="0" dirty="0"/>
              <a:t>Instructivo</a:t>
            </a:r>
            <a:endParaRPr lang="es-419" noProof="0" dirty="0"/>
          </a:p>
        </p:txBody>
      </p:sp>
      <p:sp>
        <p:nvSpPr>
          <p:cNvPr id="5" name="Marcador de texto 4">
            <a:extLst>
              <a:ext uri="{FF2B5EF4-FFF2-40B4-BE49-F238E27FC236}">
                <a16:creationId xmlns:a16="http://schemas.microsoft.com/office/drawing/2014/main" id="{2FA6B18F-EA2A-7CBC-3E93-C1F7F4E03498}"/>
              </a:ext>
            </a:extLst>
          </p:cNvPr>
          <p:cNvSpPr>
            <a:spLocks noGrp="1"/>
          </p:cNvSpPr>
          <p:nvPr>
            <p:ph type="body" sz="quarter" idx="12"/>
          </p:nvPr>
        </p:nvSpPr>
        <p:spPr>
          <a:xfrm>
            <a:off x="556902" y="5609784"/>
            <a:ext cx="3032274" cy="398058"/>
          </a:xfrm>
        </p:spPr>
        <p:txBody>
          <a:bodyPr/>
          <a:lstStyle/>
          <a:p>
            <a:r>
              <a:rPr lang="es-419" noProof="0" dirty="0"/>
              <a:t>Consultor</a:t>
            </a:r>
          </a:p>
          <a:p>
            <a:r>
              <a:rPr lang="es-419" dirty="0"/>
              <a:t>Cargo</a:t>
            </a:r>
            <a:endParaRPr lang="es-419" noProof="0" dirty="0"/>
          </a:p>
        </p:txBody>
      </p:sp>
      <p:sp>
        <p:nvSpPr>
          <p:cNvPr id="6" name="Marcador de texto 5">
            <a:extLst>
              <a:ext uri="{FF2B5EF4-FFF2-40B4-BE49-F238E27FC236}">
                <a16:creationId xmlns:a16="http://schemas.microsoft.com/office/drawing/2014/main" id="{BAF7D103-2992-CE66-2094-F2DD7ED1DB32}"/>
              </a:ext>
            </a:extLst>
          </p:cNvPr>
          <p:cNvSpPr>
            <a:spLocks noGrp="1"/>
          </p:cNvSpPr>
          <p:nvPr>
            <p:ph type="body" sz="quarter" idx="13"/>
          </p:nvPr>
        </p:nvSpPr>
        <p:spPr/>
        <p:txBody>
          <a:bodyPr/>
          <a:lstStyle/>
          <a:p>
            <a:r>
              <a:rPr lang="es-419" noProof="0" dirty="0"/>
              <a:t>Mes, Año</a:t>
            </a:r>
          </a:p>
        </p:txBody>
      </p:sp>
      <p:pic>
        <p:nvPicPr>
          <p:cNvPr id="9" name="Marcador de posición de imagen 8" descr="Mujer sentada en un escritorio&#10;&#10;El contenido generado por IA puede ser incorrecto.">
            <a:extLst>
              <a:ext uri="{FF2B5EF4-FFF2-40B4-BE49-F238E27FC236}">
                <a16:creationId xmlns:a16="http://schemas.microsoft.com/office/drawing/2014/main" id="{C8F2F481-06F7-0405-5DC6-CD1338489804}"/>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17881" r="17881"/>
          <a:stretch>
            <a:fillRect/>
          </a:stretch>
        </p:blipFill>
        <p:spPr/>
      </p:pic>
    </p:spTree>
    <p:extLst>
      <p:ext uri="{BB962C8B-B14F-4D97-AF65-F5344CB8AC3E}">
        <p14:creationId xmlns:p14="http://schemas.microsoft.com/office/powerpoint/2010/main" val="32577643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Val</a:t>
            </a:r>
            <a:r>
              <a:rPr lang="es-419" dirty="0"/>
              <a:t>idar los datos suplementarios</a:t>
            </a:r>
            <a:endParaRPr lang="en-US" dirty="0"/>
          </a:p>
        </p:txBody>
      </p:sp>
      <p:sp>
        <p:nvSpPr>
          <p:cNvPr id="18" name="Slide Number Placeholder 17">
            <a:extLst>
              <a:ext uri="{FF2B5EF4-FFF2-40B4-BE49-F238E27FC236}">
                <a16:creationId xmlns:a16="http://schemas.microsoft.com/office/drawing/2014/main" id="{585CE95F-9E93-A1EC-A586-CDA89C427210}"/>
              </a:ext>
            </a:extLst>
          </p:cNvPr>
          <p:cNvSpPr>
            <a:spLocks noGrp="1"/>
          </p:cNvSpPr>
          <p:nvPr>
            <p:ph type="sldNum" sz="quarter" idx="4"/>
          </p:nvPr>
        </p:nvSpPr>
        <p:spPr/>
        <p:txBody>
          <a:bodyPr/>
          <a:lstStyle/>
          <a:p>
            <a:fld id="{4A16F8ED-7337-F64C-865A-41A1F48E54DF}" type="slidenum">
              <a:rPr lang="en-US" smtClean="0"/>
              <a:pPr/>
              <a:t>2</a:t>
            </a:fld>
            <a:endParaRPr lang="en-US" dirty="0"/>
          </a:p>
        </p:txBody>
      </p:sp>
      <p:graphicFrame>
        <p:nvGraphicFramePr>
          <p:cNvPr id="4" name="Table 2">
            <a:extLst>
              <a:ext uri="{FF2B5EF4-FFF2-40B4-BE49-F238E27FC236}">
                <a16:creationId xmlns:a16="http://schemas.microsoft.com/office/drawing/2014/main" id="{86028BF8-A141-2E97-2FAA-0A37BCE60D2D}"/>
              </a:ext>
            </a:extLst>
          </p:cNvPr>
          <p:cNvGraphicFramePr>
            <a:graphicFrameLocks noGrp="1"/>
          </p:cNvGraphicFramePr>
          <p:nvPr>
            <p:extLst>
              <p:ext uri="{D42A27DB-BD31-4B8C-83A1-F6EECF244321}">
                <p14:modId xmlns:p14="http://schemas.microsoft.com/office/powerpoint/2010/main" val="1301900511"/>
              </p:ext>
            </p:extLst>
          </p:nvPr>
        </p:nvGraphicFramePr>
        <p:xfrm>
          <a:off x="786088" y="1651015"/>
          <a:ext cx="9058128" cy="3256796"/>
        </p:xfrm>
        <a:graphic>
          <a:graphicData uri="http://schemas.openxmlformats.org/drawingml/2006/table">
            <a:tbl>
              <a:tblPr>
                <a:tableStyleId>{5C22544A-7EE6-4342-B048-85BDC9FD1C3A}</a:tableStyleId>
              </a:tblPr>
              <a:tblGrid>
                <a:gridCol w="930128">
                  <a:extLst>
                    <a:ext uri="{9D8B030D-6E8A-4147-A177-3AD203B41FA5}">
                      <a16:colId xmlns:a16="http://schemas.microsoft.com/office/drawing/2014/main" val="1835725686"/>
                    </a:ext>
                  </a:extLst>
                </a:gridCol>
                <a:gridCol w="8128000">
                  <a:extLst>
                    <a:ext uri="{9D8B030D-6E8A-4147-A177-3AD203B41FA5}">
                      <a16:colId xmlns:a16="http://schemas.microsoft.com/office/drawing/2014/main" val="52046442"/>
                    </a:ext>
                  </a:extLst>
                </a:gridCol>
              </a:tblGrid>
              <a:tr h="814199">
                <a:tc>
                  <a:txBody>
                    <a:bodyPr/>
                    <a:lstStyle/>
                    <a:p>
                      <a:r>
                        <a:rPr lang="en-US" sz="2800" b="1" dirty="0">
                          <a:solidFill>
                            <a:schemeClr val="bg1"/>
                          </a:solidFill>
                        </a:rPr>
                        <a:t>01</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Overview</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1948859"/>
                  </a:ext>
                </a:extLst>
              </a:tr>
              <a:tr h="814199">
                <a:tc>
                  <a:txBody>
                    <a:bodyPr/>
                    <a:lstStyle/>
                    <a:p>
                      <a:r>
                        <a:rPr lang="en-US" sz="2800" b="1" dirty="0">
                          <a:solidFill>
                            <a:schemeClr val="bg1"/>
                          </a:solidFill>
                        </a:rPr>
                        <a:t>02</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Configuraciones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4980871"/>
                  </a:ext>
                </a:extLst>
              </a:tr>
              <a:tr h="814199">
                <a:tc>
                  <a:txBody>
                    <a:bodyPr/>
                    <a:lstStyle/>
                    <a:p>
                      <a:r>
                        <a:rPr lang="es-419" sz="2800" b="1" noProof="0" dirty="0">
                          <a:solidFill>
                            <a:schemeClr val="bg1"/>
                          </a:solidFill>
                        </a:rPr>
                        <a:t>03</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s-419" sz="2800" b="1" noProof="0" dirty="0">
                          <a:solidFill>
                            <a:schemeClr val="bg1"/>
                          </a:solidFill>
                        </a:rPr>
                        <a:t>Validar los datos suplementarios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9936347"/>
                  </a:ext>
                </a:extLst>
              </a:tr>
              <a:tr h="814199">
                <a:tc>
                  <a:txBody>
                    <a:bodyPr/>
                    <a:lstStyle/>
                    <a:p>
                      <a:r>
                        <a:rPr lang="en-US" sz="2800" b="1" dirty="0">
                          <a:solidFill>
                            <a:schemeClr val="bg1"/>
                          </a:solidFill>
                        </a:rPr>
                        <a:t>04</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Resumen</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3436290"/>
                  </a:ext>
                </a:extLst>
              </a:tr>
            </a:tbl>
          </a:graphicData>
        </a:graphic>
      </p:graphicFrame>
    </p:spTree>
    <p:extLst>
      <p:ext uri="{BB962C8B-B14F-4D97-AF65-F5344CB8AC3E}">
        <p14:creationId xmlns:p14="http://schemas.microsoft.com/office/powerpoint/2010/main" val="4251571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Val</a:t>
            </a:r>
            <a:r>
              <a:rPr lang="es-419" dirty="0"/>
              <a:t>idar los datos suplementarios</a:t>
            </a:r>
            <a:endParaRPr lang="en-US"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p:txBody>
          <a:bodyPr/>
          <a:lstStyle/>
          <a:p>
            <a:r>
              <a:rPr lang="en-US" sz="3200" b="1" dirty="0">
                <a:solidFill>
                  <a:schemeClr val="bg1"/>
                </a:solidFill>
              </a:rPr>
              <a:t>Overview</a:t>
            </a:r>
          </a:p>
        </p:txBody>
      </p:sp>
      <p:sp>
        <p:nvSpPr>
          <p:cNvPr id="18" name="Slide Number Placeholder 17">
            <a:extLst>
              <a:ext uri="{FF2B5EF4-FFF2-40B4-BE49-F238E27FC236}">
                <a16:creationId xmlns:a16="http://schemas.microsoft.com/office/drawing/2014/main" id="{585CE95F-9E93-A1EC-A586-CDA89C427210}"/>
              </a:ext>
            </a:extLst>
          </p:cNvPr>
          <p:cNvSpPr>
            <a:spLocks noGrp="1"/>
          </p:cNvSpPr>
          <p:nvPr>
            <p:ph type="sldNum" sz="quarter" idx="4"/>
          </p:nvPr>
        </p:nvSpPr>
        <p:spPr/>
        <p:txBody>
          <a:bodyPr/>
          <a:lstStyle/>
          <a:p>
            <a:fld id="{4A16F8ED-7337-F64C-865A-41A1F48E54DF}" type="slidenum">
              <a:rPr lang="en-US" smtClean="0"/>
              <a:pPr/>
              <a:t>3</a:t>
            </a:fld>
            <a:endParaRPr lang="en-US" dirty="0"/>
          </a:p>
        </p:txBody>
      </p:sp>
    </p:spTree>
    <p:extLst>
      <p:ext uri="{BB962C8B-B14F-4D97-AF65-F5344CB8AC3E}">
        <p14:creationId xmlns:p14="http://schemas.microsoft.com/office/powerpoint/2010/main" val="2650576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Vertical Text Placeholder 3">
            <a:extLst>
              <a:ext uri="{FF2B5EF4-FFF2-40B4-BE49-F238E27FC236}">
                <a16:creationId xmlns:a16="http://schemas.microsoft.com/office/drawing/2014/main" id="{E84A95C1-A1C4-874B-A0F8-44AB6CD99FF1}"/>
              </a:ext>
            </a:extLst>
          </p:cNvPr>
          <p:cNvSpPr>
            <a:spLocks noGrp="1"/>
          </p:cNvSpPr>
          <p:nvPr>
            <p:ph type="body" orient="vert" sz="quarter" idx="17"/>
          </p:nvPr>
        </p:nvSpPr>
        <p:spPr/>
        <p:txBody>
          <a:bodyPr/>
          <a:lstStyle/>
          <a:p>
            <a:r>
              <a:rPr lang="es-419" sz="1200" dirty="0"/>
              <a:t>Val</a:t>
            </a:r>
            <a:r>
              <a:rPr lang="es-419" dirty="0"/>
              <a:t>idar los datos suplementarios</a:t>
            </a:r>
            <a:endParaRPr lang="en-US" dirty="0"/>
          </a:p>
        </p:txBody>
      </p:sp>
      <p:sp>
        <p:nvSpPr>
          <p:cNvPr id="17" name="Slide Number Placeholder 16">
            <a:extLst>
              <a:ext uri="{FF2B5EF4-FFF2-40B4-BE49-F238E27FC236}">
                <a16:creationId xmlns:a16="http://schemas.microsoft.com/office/drawing/2014/main" id="{8AC1633D-9215-2128-452C-BEE52AEB6D5E}"/>
              </a:ext>
            </a:extLst>
          </p:cNvPr>
          <p:cNvSpPr>
            <a:spLocks noGrp="1"/>
          </p:cNvSpPr>
          <p:nvPr>
            <p:ph type="sldNum" sz="quarter" idx="4"/>
          </p:nvPr>
        </p:nvSpPr>
        <p:spPr/>
        <p:txBody>
          <a:bodyPr/>
          <a:lstStyle/>
          <a:p>
            <a:fld id="{4A16F8ED-7337-F64C-865A-41A1F48E54DF}" type="slidenum">
              <a:rPr lang="en-US" smtClean="0"/>
              <a:pPr/>
              <a:t>4</a:t>
            </a:fld>
            <a:endParaRPr lang="en-US" dirty="0"/>
          </a:p>
        </p:txBody>
      </p:sp>
      <p:sp>
        <p:nvSpPr>
          <p:cNvPr id="3" name="Title 2">
            <a:extLst>
              <a:ext uri="{FF2B5EF4-FFF2-40B4-BE49-F238E27FC236}">
                <a16:creationId xmlns:a16="http://schemas.microsoft.com/office/drawing/2014/main" id="{CE1505E3-5A51-3A2E-57EA-74DF6A59B9BE}"/>
              </a:ext>
            </a:extLst>
          </p:cNvPr>
          <p:cNvSpPr>
            <a:spLocks noGrp="1"/>
          </p:cNvSpPr>
          <p:nvPr>
            <p:ph type="title"/>
          </p:nvPr>
        </p:nvSpPr>
        <p:spPr>
          <a:xfrm>
            <a:off x="1463337" y="508268"/>
            <a:ext cx="9418021" cy="898555"/>
          </a:xfrm>
        </p:spPr>
        <p:txBody>
          <a:bodyPr/>
          <a:lstStyle/>
          <a:p>
            <a:r>
              <a:rPr lang="es-ES_tradnl" dirty="0">
                <a:solidFill>
                  <a:schemeClr val="tx2"/>
                </a:solidFill>
              </a:rPr>
              <a:t>Overview: Mapa de capacidades</a:t>
            </a:r>
            <a:endParaRPr lang="en-US" dirty="0"/>
          </a:p>
        </p:txBody>
      </p:sp>
      <p:pic>
        <p:nvPicPr>
          <p:cNvPr id="5" name="Imagen 2">
            <a:extLst>
              <a:ext uri="{FF2B5EF4-FFF2-40B4-BE49-F238E27FC236}">
                <a16:creationId xmlns:a16="http://schemas.microsoft.com/office/drawing/2014/main" id="{BDA23119-AD35-0B47-BB0D-AF56FA3A40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6432" y="1256972"/>
            <a:ext cx="10431829" cy="4915227"/>
          </a:xfrm>
          <a:prstGeom prst="rect">
            <a:avLst/>
          </a:prstGeom>
        </p:spPr>
      </p:pic>
      <p:sp>
        <p:nvSpPr>
          <p:cNvPr id="6" name="Rectangle 5">
            <a:extLst>
              <a:ext uri="{FF2B5EF4-FFF2-40B4-BE49-F238E27FC236}">
                <a16:creationId xmlns:a16="http://schemas.microsoft.com/office/drawing/2014/main" id="{4FD2C246-DA43-478F-E279-2CD04DE28635}"/>
              </a:ext>
            </a:extLst>
          </p:cNvPr>
          <p:cNvSpPr/>
          <p:nvPr/>
        </p:nvSpPr>
        <p:spPr>
          <a:xfrm>
            <a:off x="1345721" y="3405635"/>
            <a:ext cx="2536166" cy="767751"/>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7331284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9D552BA8-E40D-BE5E-B33E-255C974B1B45}"/>
              </a:ext>
            </a:extLst>
          </p:cNvPr>
          <p:cNvSpPr>
            <a:spLocks noGrp="1"/>
          </p:cNvSpPr>
          <p:nvPr>
            <p:ph type="body" sz="quarter" idx="18"/>
          </p:nvPr>
        </p:nvSpPr>
        <p:spPr>
          <a:xfrm>
            <a:off x="1104900" y="1584355"/>
            <a:ext cx="9698935" cy="4267198"/>
          </a:xfrm>
        </p:spPr>
        <p:txBody>
          <a:bodyPr anchor="ctr"/>
          <a:lstStyle/>
          <a:p>
            <a:pPr marL="285750" indent="-285750">
              <a:buClr>
                <a:srgbClr val="0CB4B4"/>
              </a:buClr>
              <a:buFont typeface="Wingdings" panose="05000000000000000000" pitchFamily="2" charset="2"/>
              <a:buChar char="q"/>
            </a:pPr>
            <a:r>
              <a:rPr lang="es-419" sz="2400">
                <a:solidFill>
                  <a:srgbClr val="7030A0"/>
                </a:solidFill>
              </a:rPr>
              <a:t>Gestionar </a:t>
            </a:r>
            <a:r>
              <a:rPr lang="es-419" sz="2400" dirty="0">
                <a:solidFill>
                  <a:srgbClr val="7030A0"/>
                </a:solidFill>
              </a:rPr>
              <a:t>solicitudes de admisión</a:t>
            </a:r>
          </a:p>
          <a:p>
            <a:pPr marL="285750" lvl="0" indent="-285750">
              <a:buClr>
                <a:srgbClr val="0CB4B4"/>
              </a:buClr>
              <a:buFont typeface="Wingdings" panose="05000000000000000000" pitchFamily="2" charset="2"/>
              <a:buChar char="q"/>
            </a:pPr>
            <a:r>
              <a:rPr lang="es-419" sz="2400" b="1" dirty="0">
                <a:solidFill>
                  <a:srgbClr val="7030A0"/>
                </a:solidFill>
              </a:rPr>
              <a:t> </a:t>
            </a:r>
            <a:r>
              <a:rPr lang="es-419" sz="2400" dirty="0">
                <a:solidFill>
                  <a:srgbClr val="7030A0"/>
                </a:solidFill>
              </a:rPr>
              <a:t>Gestionar selección</a:t>
            </a:r>
          </a:p>
          <a:p>
            <a:pPr marL="0" lvl="0" indent="0">
              <a:buClr>
                <a:srgbClr val="0CB4B4"/>
              </a:buClr>
              <a:buNone/>
            </a:pPr>
            <a:endParaRPr lang="es-CO" sz="2400" dirty="0"/>
          </a:p>
        </p:txBody>
      </p:sp>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Val</a:t>
            </a:r>
            <a:r>
              <a:rPr lang="es-419" dirty="0"/>
              <a:t>idar los datos suplementarios</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5</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p:txBody>
          <a:bodyPr/>
          <a:lstStyle/>
          <a:p>
            <a:r>
              <a:rPr lang="es-ES_tradnl" sz="3200" dirty="0">
                <a:solidFill>
                  <a:schemeClr val="tx2"/>
                </a:solidFill>
              </a:rPr>
              <a:t>Overview: </a:t>
            </a:r>
            <a:r>
              <a:rPr lang="es-ES_tradnl" dirty="0"/>
              <a:t>Macroproceso Gestionar la admisión de los estudiantes</a:t>
            </a:r>
            <a:endParaRPr lang="es-CL" dirty="0"/>
          </a:p>
        </p:txBody>
      </p:sp>
    </p:spTree>
    <p:extLst>
      <p:ext uri="{BB962C8B-B14F-4D97-AF65-F5344CB8AC3E}">
        <p14:creationId xmlns:p14="http://schemas.microsoft.com/office/powerpoint/2010/main" val="15048787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21D2E5BD-8D92-BBEB-6DE7-7F46E2C205E5}"/>
              </a:ext>
            </a:extLst>
          </p:cNvPr>
          <p:cNvSpPr>
            <a:spLocks noGrp="1"/>
          </p:cNvSpPr>
          <p:nvPr>
            <p:ph type="body" sz="quarter" idx="18"/>
          </p:nvPr>
        </p:nvSpPr>
        <p:spPr>
          <a:xfrm>
            <a:off x="1104900" y="2013162"/>
            <a:ext cx="10136257" cy="3007074"/>
          </a:xfrm>
        </p:spPr>
        <p:txBody>
          <a:bodyPr vert="horz" lIns="91440" tIns="45720" rIns="91440" bIns="45720" rtlCol="0" anchor="t">
            <a:noAutofit/>
          </a:bodyPr>
          <a:lstStyle/>
          <a:p>
            <a:pPr marL="285750" indent="-285750" algn="just">
              <a:buClr>
                <a:srgbClr val="0CB4B4"/>
              </a:buClr>
              <a:buFont typeface="Wingdings" panose="05000000000000000000" pitchFamily="2" charset="2"/>
              <a:buChar char="q"/>
            </a:pPr>
            <a:r>
              <a:rPr lang="es-ES_tradnl" sz="2400" dirty="0">
                <a:solidFill>
                  <a:srgbClr val="7030A0"/>
                </a:solidFill>
              </a:rPr>
              <a:t> Validación de la recepción del historial académico de la institución de origen del postulante y de la visa en el caso de estudiantes internacionales. </a:t>
            </a:r>
          </a:p>
          <a:p>
            <a:pPr marL="285750" indent="-285750" algn="just">
              <a:buClr>
                <a:srgbClr val="0CB4B4"/>
              </a:buClr>
              <a:buFont typeface="Wingdings" panose="05000000000000000000" pitchFamily="2" charset="2"/>
              <a:buChar char="q"/>
            </a:pPr>
            <a:r>
              <a:rPr lang="es-ES_tradnl" sz="2400" dirty="0">
                <a:solidFill>
                  <a:srgbClr val="7030A0"/>
                </a:solidFill>
              </a:rPr>
              <a:t>Si la institución requiere otros documentos suplementarios, la fecha de recepción del requisito sólo debe ser registrado una vez que el documento ha sido recibido y validado.</a:t>
            </a:r>
          </a:p>
        </p:txBody>
      </p:sp>
      <p:sp>
        <p:nvSpPr>
          <p:cNvPr id="3" name="Marcador de texto vertical 2">
            <a:extLst>
              <a:ext uri="{FF2B5EF4-FFF2-40B4-BE49-F238E27FC236}">
                <a16:creationId xmlns:a16="http://schemas.microsoft.com/office/drawing/2014/main" id="{22BE24A3-7467-74A8-A973-F32D51EBA4D3}"/>
              </a:ext>
            </a:extLst>
          </p:cNvPr>
          <p:cNvSpPr>
            <a:spLocks noGrp="1"/>
          </p:cNvSpPr>
          <p:nvPr>
            <p:ph type="body" orient="vert" sz="quarter" idx="17"/>
          </p:nvPr>
        </p:nvSpPr>
        <p:spPr/>
        <p:txBody>
          <a:bodyPr/>
          <a:lstStyle/>
          <a:p>
            <a:r>
              <a:rPr lang="es-419" sz="1200" dirty="0"/>
              <a:t>Val</a:t>
            </a:r>
            <a:r>
              <a:rPr lang="es-419" dirty="0"/>
              <a:t>idar los datos suplementarios</a:t>
            </a:r>
            <a:endParaRPr lang="en-US" dirty="0"/>
          </a:p>
        </p:txBody>
      </p:sp>
      <p:sp>
        <p:nvSpPr>
          <p:cNvPr id="4" name="Título 3">
            <a:extLst>
              <a:ext uri="{FF2B5EF4-FFF2-40B4-BE49-F238E27FC236}">
                <a16:creationId xmlns:a16="http://schemas.microsoft.com/office/drawing/2014/main" id="{296A5721-C06B-CE2D-66A9-59404F187719}"/>
              </a:ext>
            </a:extLst>
          </p:cNvPr>
          <p:cNvSpPr>
            <a:spLocks noGrp="1"/>
          </p:cNvSpPr>
          <p:nvPr>
            <p:ph type="title"/>
          </p:nvPr>
        </p:nvSpPr>
        <p:spPr/>
        <p:txBody>
          <a:bodyPr/>
          <a:lstStyle/>
          <a:p>
            <a:r>
              <a:rPr lang="es-ES_tradnl" sz="3200" dirty="0">
                <a:solidFill>
                  <a:schemeClr val="tx2"/>
                </a:solidFill>
              </a:rPr>
              <a:t>Overview: </a:t>
            </a:r>
            <a:r>
              <a:rPr lang="es-ES_tradnl" dirty="0"/>
              <a:t>Proceso </a:t>
            </a:r>
            <a:r>
              <a:rPr lang="es-419" dirty="0"/>
              <a:t>validar los datos suplementarios</a:t>
            </a:r>
            <a:endParaRPr lang="es-CL" dirty="0"/>
          </a:p>
        </p:txBody>
      </p:sp>
    </p:spTree>
    <p:extLst>
      <p:ext uri="{BB962C8B-B14F-4D97-AF65-F5344CB8AC3E}">
        <p14:creationId xmlns:p14="http://schemas.microsoft.com/office/powerpoint/2010/main" val="1678756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22BE24A3-7467-74A8-A973-F32D51EBA4D3}"/>
              </a:ext>
            </a:extLst>
          </p:cNvPr>
          <p:cNvSpPr>
            <a:spLocks noGrp="1"/>
          </p:cNvSpPr>
          <p:nvPr>
            <p:ph type="body" orient="vert" sz="quarter" idx="17"/>
          </p:nvPr>
        </p:nvSpPr>
        <p:spPr/>
        <p:txBody>
          <a:bodyPr/>
          <a:lstStyle/>
          <a:p>
            <a:r>
              <a:rPr lang="es-419" sz="1200" dirty="0"/>
              <a:t>Val</a:t>
            </a:r>
            <a:r>
              <a:rPr lang="es-419" dirty="0"/>
              <a:t>idar los datos suplementarios</a:t>
            </a:r>
            <a:endParaRPr lang="en-US" dirty="0"/>
          </a:p>
        </p:txBody>
      </p:sp>
      <p:sp>
        <p:nvSpPr>
          <p:cNvPr id="6" name="Título 3">
            <a:extLst>
              <a:ext uri="{FF2B5EF4-FFF2-40B4-BE49-F238E27FC236}">
                <a16:creationId xmlns:a16="http://schemas.microsoft.com/office/drawing/2014/main" id="{CCA54959-6279-D1AE-349E-8840E0B3CBEC}"/>
              </a:ext>
            </a:extLst>
          </p:cNvPr>
          <p:cNvSpPr txBox="1">
            <a:spLocks/>
          </p:cNvSpPr>
          <p:nvPr/>
        </p:nvSpPr>
        <p:spPr>
          <a:xfrm>
            <a:off x="1108859" y="663039"/>
            <a:ext cx="10477497" cy="898555"/>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ES_tradnl" dirty="0">
                <a:solidFill>
                  <a:schemeClr val="tx2"/>
                </a:solidFill>
              </a:rPr>
              <a:t>Overview: </a:t>
            </a:r>
            <a:r>
              <a:rPr lang="es-ES_tradnl" dirty="0"/>
              <a:t>Proceso </a:t>
            </a:r>
            <a:r>
              <a:rPr lang="es-419" dirty="0"/>
              <a:t>validar los datos suplementarios</a:t>
            </a:r>
            <a:endParaRPr lang="es-CL" dirty="0"/>
          </a:p>
        </p:txBody>
      </p:sp>
      <p:pic>
        <p:nvPicPr>
          <p:cNvPr id="2" name="Picture 6" descr="A screenshot of a computer&#10;&#10;Description automatically generated">
            <a:extLst>
              <a:ext uri="{FF2B5EF4-FFF2-40B4-BE49-F238E27FC236}">
                <a16:creationId xmlns:a16="http://schemas.microsoft.com/office/drawing/2014/main" id="{90363076-7BE9-3135-3366-D41077E0B2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4961" y="2230126"/>
            <a:ext cx="9382077" cy="2384611"/>
          </a:xfrm>
          <a:prstGeom prst="rect">
            <a:avLst/>
          </a:prstGeom>
        </p:spPr>
      </p:pic>
    </p:spTree>
    <p:extLst>
      <p:ext uri="{BB962C8B-B14F-4D97-AF65-F5344CB8AC3E}">
        <p14:creationId xmlns:p14="http://schemas.microsoft.com/office/powerpoint/2010/main" val="6755469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noProof="0" dirty="0"/>
              <a:t>Gestionar Solicitudes de admisión</a:t>
            </a:r>
            <a:endParaRPr lang="es-419" noProof="0" dirty="0"/>
          </a:p>
        </p:txBody>
      </p:sp>
      <p:sp>
        <p:nvSpPr>
          <p:cNvPr id="9" name="CuadroTexto 8">
            <a:extLst>
              <a:ext uri="{FF2B5EF4-FFF2-40B4-BE49-F238E27FC236}">
                <a16:creationId xmlns:a16="http://schemas.microsoft.com/office/drawing/2014/main" id="{CDA0D89D-33DC-4151-D805-A43C6E21B822}"/>
              </a:ext>
            </a:extLst>
          </p:cNvPr>
          <p:cNvSpPr txBox="1"/>
          <p:nvPr/>
        </p:nvSpPr>
        <p:spPr>
          <a:xfrm>
            <a:off x="6939975" y="2743200"/>
            <a:ext cx="2111475" cy="584775"/>
          </a:xfrm>
          <a:prstGeom prst="rect">
            <a:avLst/>
          </a:prstGeom>
          <a:noFill/>
        </p:spPr>
        <p:txBody>
          <a:bodyPr wrap="none" rtlCol="0">
            <a:spAutoFit/>
          </a:bodyPr>
          <a:lstStyle/>
          <a:p>
            <a:r>
              <a:rPr lang="es-419" sz="3200" b="1" noProof="0" dirty="0"/>
              <a:t>Todo LAC</a:t>
            </a:r>
          </a:p>
        </p:txBody>
      </p:sp>
      <p:sp>
        <p:nvSpPr>
          <p:cNvPr id="7" name="Título 3">
            <a:extLst>
              <a:ext uri="{FF2B5EF4-FFF2-40B4-BE49-F238E27FC236}">
                <a16:creationId xmlns:a16="http://schemas.microsoft.com/office/drawing/2014/main" id="{41A78240-C607-71D5-FFEE-AC493BD21BE1}"/>
              </a:ext>
            </a:extLst>
          </p:cNvPr>
          <p:cNvSpPr txBox="1">
            <a:spLocks/>
          </p:cNvSpPr>
          <p:nvPr/>
        </p:nvSpPr>
        <p:spPr>
          <a:xfrm>
            <a:off x="1104900" y="276729"/>
            <a:ext cx="10477497" cy="898555"/>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419" noProof="0" dirty="0" err="1">
                <a:solidFill>
                  <a:schemeClr val="tx2"/>
                </a:solidFill>
              </a:rPr>
              <a:t>Overview</a:t>
            </a:r>
            <a:r>
              <a:rPr lang="es-419" noProof="0" dirty="0">
                <a:solidFill>
                  <a:schemeClr val="tx2"/>
                </a:solidFill>
              </a:rPr>
              <a:t>: </a:t>
            </a:r>
            <a:r>
              <a:rPr lang="es-419" noProof="0" dirty="0"/>
              <a:t>Proceso gestionar solicitudes de admisión</a:t>
            </a:r>
          </a:p>
        </p:txBody>
      </p:sp>
      <p:pic>
        <p:nvPicPr>
          <p:cNvPr id="4" name="Picture 3">
            <a:extLst>
              <a:ext uri="{FF2B5EF4-FFF2-40B4-BE49-F238E27FC236}">
                <a16:creationId xmlns:a16="http://schemas.microsoft.com/office/drawing/2014/main" id="{57D06E67-6F3E-A1D6-6CD4-3B8002331240}"/>
              </a:ext>
            </a:extLst>
          </p:cNvPr>
          <p:cNvPicPr>
            <a:picLocks noChangeAspect="1"/>
          </p:cNvPicPr>
          <p:nvPr/>
        </p:nvPicPr>
        <p:blipFill>
          <a:blip r:embed="rId2"/>
          <a:stretch>
            <a:fillRect/>
          </a:stretch>
        </p:blipFill>
        <p:spPr>
          <a:xfrm>
            <a:off x="1730304" y="1175284"/>
            <a:ext cx="5209671" cy="5209671"/>
          </a:xfrm>
          <a:prstGeom prst="rect">
            <a:avLst/>
          </a:prstGeom>
        </p:spPr>
      </p:pic>
    </p:spTree>
    <p:extLst>
      <p:ext uri="{BB962C8B-B14F-4D97-AF65-F5344CB8AC3E}">
        <p14:creationId xmlns:p14="http://schemas.microsoft.com/office/powerpoint/2010/main" val="15701479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Val</a:t>
            </a:r>
            <a:r>
              <a:rPr lang="es-419" dirty="0"/>
              <a:t>idar los datos suplementarios</a:t>
            </a:r>
            <a:endParaRPr lang="en-US"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p:txBody>
          <a:bodyPr/>
          <a:lstStyle/>
          <a:p>
            <a:r>
              <a:rPr lang="es-419" dirty="0"/>
              <a:t>VALIDAR DOCUMENTOS</a:t>
            </a:r>
            <a:endParaRPr lang="en-US" dirty="0"/>
          </a:p>
        </p:txBody>
      </p:sp>
      <p:sp>
        <p:nvSpPr>
          <p:cNvPr id="18" name="Slide Number Placeholder 17">
            <a:extLst>
              <a:ext uri="{FF2B5EF4-FFF2-40B4-BE49-F238E27FC236}">
                <a16:creationId xmlns:a16="http://schemas.microsoft.com/office/drawing/2014/main" id="{585CE95F-9E93-A1EC-A586-CDA89C427210}"/>
              </a:ext>
            </a:extLst>
          </p:cNvPr>
          <p:cNvSpPr>
            <a:spLocks noGrp="1"/>
          </p:cNvSpPr>
          <p:nvPr>
            <p:ph type="sldNum" sz="quarter" idx="4"/>
          </p:nvPr>
        </p:nvSpPr>
        <p:spPr/>
        <p:txBody>
          <a:bodyPr/>
          <a:lstStyle/>
          <a:p>
            <a:fld id="{4A16F8ED-7337-F64C-865A-41A1F48E54DF}" type="slidenum">
              <a:rPr lang="en-US" smtClean="0"/>
              <a:pPr/>
              <a:t>9</a:t>
            </a:fld>
            <a:endParaRPr lang="en-US" dirty="0"/>
          </a:p>
        </p:txBody>
      </p:sp>
    </p:spTree>
    <p:extLst>
      <p:ext uri="{BB962C8B-B14F-4D97-AF65-F5344CB8AC3E}">
        <p14:creationId xmlns:p14="http://schemas.microsoft.com/office/powerpoint/2010/main" val="690636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4A2FA-C3F3-07B1-4C19-7A3B92EE9226}"/>
            </a:ext>
          </a:extLst>
        </p:cNvPr>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113C1230-8ED4-F13E-0D89-F04AE9FF4E8E}"/>
              </a:ext>
            </a:extLst>
          </p:cNvPr>
          <p:cNvSpPr>
            <a:spLocks noGrp="1"/>
          </p:cNvSpPr>
          <p:nvPr>
            <p:ph type="body" orient="vert" sz="quarter" idx="10"/>
          </p:nvPr>
        </p:nvSpPr>
        <p:spPr/>
        <p:txBody>
          <a:bodyPr/>
          <a:lstStyle/>
          <a:p>
            <a:r>
              <a:rPr lang="es-419" dirty="0"/>
              <a:t>Validar los datos suplementarios</a:t>
            </a:r>
            <a:endParaRPr lang="en-US" dirty="0"/>
          </a:p>
          <a:p>
            <a:endParaRPr lang="en-US" dirty="0"/>
          </a:p>
        </p:txBody>
      </p:sp>
      <p:sp>
        <p:nvSpPr>
          <p:cNvPr id="16" name="Title 15">
            <a:extLst>
              <a:ext uri="{FF2B5EF4-FFF2-40B4-BE49-F238E27FC236}">
                <a16:creationId xmlns:a16="http://schemas.microsoft.com/office/drawing/2014/main" id="{575F6237-273B-EE7E-CE7A-B5FFCF1344ED}"/>
              </a:ext>
            </a:extLst>
          </p:cNvPr>
          <p:cNvSpPr>
            <a:spLocks noGrp="1"/>
          </p:cNvSpPr>
          <p:nvPr>
            <p:ph type="title"/>
          </p:nvPr>
        </p:nvSpPr>
        <p:spPr/>
        <p:txBody>
          <a:bodyPr/>
          <a:lstStyle/>
          <a:p>
            <a:r>
              <a:rPr lang="es-CL" dirty="0"/>
              <a:t>Historia Académico</a:t>
            </a:r>
            <a:endParaRPr lang="en-US" dirty="0"/>
          </a:p>
        </p:txBody>
      </p:sp>
      <p:sp>
        <p:nvSpPr>
          <p:cNvPr id="18" name="Slide Number Placeholder 17">
            <a:extLst>
              <a:ext uri="{FF2B5EF4-FFF2-40B4-BE49-F238E27FC236}">
                <a16:creationId xmlns:a16="http://schemas.microsoft.com/office/drawing/2014/main" id="{FDB5F1C4-D5AE-6077-F005-50C9241477B9}"/>
              </a:ext>
            </a:extLst>
          </p:cNvPr>
          <p:cNvSpPr>
            <a:spLocks noGrp="1"/>
          </p:cNvSpPr>
          <p:nvPr>
            <p:ph type="sldNum" sz="quarter" idx="4"/>
          </p:nvPr>
        </p:nvSpPr>
        <p:spPr/>
        <p:txBody>
          <a:bodyPr/>
          <a:lstStyle/>
          <a:p>
            <a:fld id="{4A16F8ED-7337-F64C-865A-41A1F48E54DF}" type="slidenum">
              <a:rPr lang="en-US" smtClean="0"/>
              <a:pPr/>
              <a:t>10</a:t>
            </a:fld>
            <a:endParaRPr lang="en-US" dirty="0"/>
          </a:p>
        </p:txBody>
      </p:sp>
    </p:spTree>
    <p:extLst>
      <p:ext uri="{BB962C8B-B14F-4D97-AF65-F5344CB8AC3E}">
        <p14:creationId xmlns:p14="http://schemas.microsoft.com/office/powerpoint/2010/main" val="10991384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32112D92-F7FF-6422-D2D1-D6D3F22479F1}"/>
              </a:ext>
            </a:extLst>
          </p:cNvPr>
          <p:cNvPicPr>
            <a:picLocks noChangeAspect="1"/>
          </p:cNvPicPr>
          <p:nvPr/>
        </p:nvPicPr>
        <p:blipFill>
          <a:blip r:embed="rId2"/>
          <a:stretch>
            <a:fillRect/>
          </a:stretch>
        </p:blipFill>
        <p:spPr>
          <a:xfrm>
            <a:off x="871267" y="1433385"/>
            <a:ext cx="10895162" cy="4691289"/>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Val</a:t>
            </a:r>
            <a:r>
              <a:rPr lang="es-419" dirty="0"/>
              <a:t>idar los datos suplementarios</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11</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dirty="0"/>
              <a:t>STVADMR</a:t>
            </a:r>
            <a:r>
              <a:rPr lang="es-419" sz="3000" b="1" dirty="0"/>
              <a:t> </a:t>
            </a:r>
            <a:r>
              <a:rPr lang="es-419" sz="3000" dirty="0"/>
              <a:t>Validación del código de revisión de la solicitud de admisión</a:t>
            </a:r>
            <a:endParaRPr lang="es-CL" sz="2000" dirty="0"/>
          </a:p>
        </p:txBody>
      </p:sp>
      <p:sp>
        <p:nvSpPr>
          <p:cNvPr id="10" name="Rectángulo redondeado 5">
            <a:extLst>
              <a:ext uri="{FF2B5EF4-FFF2-40B4-BE49-F238E27FC236}">
                <a16:creationId xmlns:a16="http://schemas.microsoft.com/office/drawing/2014/main" id="{ACFB6BBF-F51C-3E17-0616-B3528CD6154A}"/>
              </a:ext>
            </a:extLst>
          </p:cNvPr>
          <p:cNvSpPr/>
          <p:nvPr/>
        </p:nvSpPr>
        <p:spPr>
          <a:xfrm>
            <a:off x="810247" y="4415325"/>
            <a:ext cx="10763189" cy="2018580"/>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MX" sz="1200" dirty="0"/>
              <a:t>Use la página de Validación de Código Verificación de Solicitud de Admisión (STVADMR) para crear, actualizar, insertar, y eliminar los códigos de solicitud de admisión, como es Histórico Académico de Bachillerato, Histórico Académico de Escuela, o Puntajes. Puede crear o actualizar los códigos de lista de elementos de solicitud de admisión solo desde esta página.</a:t>
            </a:r>
            <a:endParaRPr lang="es-ES_tradnl" sz="1200" dirty="0"/>
          </a:p>
          <a:p>
            <a:r>
              <a:rPr lang="es-ES_tradnl" sz="1200" dirty="0"/>
              <a:t>Se vincula el requisito, con una institución de origen, ingresando en:</a:t>
            </a:r>
          </a:p>
          <a:p>
            <a:pPr marL="228600" indent="-228600">
              <a:buAutoNum type="arabicPeriod"/>
            </a:pPr>
            <a:r>
              <a:rPr lang="es-ES_tradnl" sz="1200" dirty="0"/>
              <a:t>Para crear un nuevo registro, dar en “insertar”.</a:t>
            </a:r>
          </a:p>
          <a:p>
            <a:pPr marL="228600" indent="-228600">
              <a:buAutoNum type="arabicPeriod"/>
            </a:pPr>
            <a:r>
              <a:rPr lang="es-ES_tradnl" sz="1200" dirty="0"/>
              <a:t>Ingresar Código </a:t>
            </a:r>
            <a:r>
              <a:rPr lang="es-MX" sz="1200" dirty="0"/>
              <a:t>Descripción</a:t>
            </a:r>
          </a:p>
          <a:p>
            <a:pPr marL="228600" indent="-228600">
              <a:buAutoNum type="arabicPeriod"/>
            </a:pPr>
            <a:r>
              <a:rPr lang="es-ES_tradnl" sz="1200" dirty="0"/>
              <a:t>Nombre de la tabla de referencia cruzada Ej. el código de tabla STVSBGI.</a:t>
            </a:r>
          </a:p>
          <a:p>
            <a:pPr marL="228600" indent="-228600">
              <a:buAutoNum type="arabicPeriod"/>
            </a:pPr>
            <a:r>
              <a:rPr lang="es-ES_tradnl" sz="1200" dirty="0"/>
              <a:t>Indicadores</a:t>
            </a:r>
          </a:p>
          <a:p>
            <a:pPr marL="228600" indent="-228600">
              <a:buAutoNum type="arabicPeriod"/>
            </a:pPr>
            <a:r>
              <a:rPr lang="es-ES_tradnl" sz="1200" dirty="0"/>
              <a:t>Guardar los registros ingresados o actualizados.</a:t>
            </a:r>
          </a:p>
        </p:txBody>
      </p:sp>
      <p:sp>
        <p:nvSpPr>
          <p:cNvPr id="6" name="Rectángulo redondeado 23">
            <a:extLst>
              <a:ext uri="{FF2B5EF4-FFF2-40B4-BE49-F238E27FC236}">
                <a16:creationId xmlns:a16="http://schemas.microsoft.com/office/drawing/2014/main" id="{BD99EBB7-D3FF-8FBB-2274-B5F545C833BC}"/>
              </a:ext>
            </a:extLst>
          </p:cNvPr>
          <p:cNvSpPr/>
          <p:nvPr/>
        </p:nvSpPr>
        <p:spPr>
          <a:xfrm>
            <a:off x="10527838" y="2088893"/>
            <a:ext cx="17601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8" name="Rectángulo redondeado 23">
            <a:extLst>
              <a:ext uri="{FF2B5EF4-FFF2-40B4-BE49-F238E27FC236}">
                <a16:creationId xmlns:a16="http://schemas.microsoft.com/office/drawing/2014/main" id="{B276A7DF-0C45-2FF5-BB02-85E980FBD2EB}"/>
              </a:ext>
            </a:extLst>
          </p:cNvPr>
          <p:cNvSpPr/>
          <p:nvPr/>
        </p:nvSpPr>
        <p:spPr>
          <a:xfrm>
            <a:off x="1316011" y="3658269"/>
            <a:ext cx="17601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9" name="Rectángulo redondeado 23">
            <a:extLst>
              <a:ext uri="{FF2B5EF4-FFF2-40B4-BE49-F238E27FC236}">
                <a16:creationId xmlns:a16="http://schemas.microsoft.com/office/drawing/2014/main" id="{0FD5F735-69DB-4232-9FE3-9955B2F90E14}"/>
              </a:ext>
            </a:extLst>
          </p:cNvPr>
          <p:cNvSpPr/>
          <p:nvPr/>
        </p:nvSpPr>
        <p:spPr>
          <a:xfrm>
            <a:off x="3497480" y="3658268"/>
            <a:ext cx="17601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11" name="Rectángulo redondeado 23">
            <a:extLst>
              <a:ext uri="{FF2B5EF4-FFF2-40B4-BE49-F238E27FC236}">
                <a16:creationId xmlns:a16="http://schemas.microsoft.com/office/drawing/2014/main" id="{5DAA033A-D263-F94E-8AB5-99F762BAAF17}"/>
              </a:ext>
            </a:extLst>
          </p:cNvPr>
          <p:cNvSpPr/>
          <p:nvPr/>
        </p:nvSpPr>
        <p:spPr>
          <a:xfrm>
            <a:off x="7155080" y="3823953"/>
            <a:ext cx="17601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13" name="Rectángulo redondeado 23">
            <a:extLst>
              <a:ext uri="{FF2B5EF4-FFF2-40B4-BE49-F238E27FC236}">
                <a16:creationId xmlns:a16="http://schemas.microsoft.com/office/drawing/2014/main" id="{0069E7E7-9FD3-1687-606C-40328719A557}"/>
              </a:ext>
            </a:extLst>
          </p:cNvPr>
          <p:cNvSpPr/>
          <p:nvPr/>
        </p:nvSpPr>
        <p:spPr>
          <a:xfrm>
            <a:off x="10090153" y="2171735"/>
            <a:ext cx="17601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
        <p:nvSpPr>
          <p:cNvPr id="14" name="Rectángulo redondeado 23">
            <a:extLst>
              <a:ext uri="{FF2B5EF4-FFF2-40B4-BE49-F238E27FC236}">
                <a16:creationId xmlns:a16="http://schemas.microsoft.com/office/drawing/2014/main" id="{3ECC5CC9-314E-5E98-865E-E8F835270202}"/>
              </a:ext>
            </a:extLst>
          </p:cNvPr>
          <p:cNvSpPr/>
          <p:nvPr/>
        </p:nvSpPr>
        <p:spPr>
          <a:xfrm>
            <a:off x="11797326" y="5829593"/>
            <a:ext cx="17601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5</a:t>
            </a:r>
          </a:p>
        </p:txBody>
      </p:sp>
    </p:spTree>
    <p:extLst>
      <p:ext uri="{BB962C8B-B14F-4D97-AF65-F5344CB8AC3E}">
        <p14:creationId xmlns:p14="http://schemas.microsoft.com/office/powerpoint/2010/main" val="28229843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Val</a:t>
            </a:r>
            <a:r>
              <a:rPr lang="es-419" dirty="0"/>
              <a:t>idar los datos suplementarios</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12</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157662"/>
            <a:ext cx="10271883" cy="626165"/>
          </a:xfrm>
        </p:spPr>
        <p:txBody>
          <a:bodyPr/>
          <a:lstStyle/>
          <a:p>
            <a:r>
              <a:rPr lang="es-ES_tradnl" sz="3200" b="0" dirty="0"/>
              <a:t>Configuraciones: </a:t>
            </a:r>
            <a:r>
              <a:rPr lang="es-419" sz="3000" dirty="0"/>
              <a:t>STVADMR</a:t>
            </a:r>
            <a:r>
              <a:rPr lang="es-419" sz="3000" b="1" dirty="0"/>
              <a:t> </a:t>
            </a:r>
            <a:r>
              <a:rPr lang="es-419" sz="3000" dirty="0"/>
              <a:t>Validación del código de revisión de la solicitud de admisión</a:t>
            </a:r>
            <a:endParaRPr lang="es-CL" sz="2000" dirty="0"/>
          </a:p>
        </p:txBody>
      </p:sp>
      <p:graphicFrame>
        <p:nvGraphicFramePr>
          <p:cNvPr id="12" name="Tabla 11">
            <a:extLst>
              <a:ext uri="{FF2B5EF4-FFF2-40B4-BE49-F238E27FC236}">
                <a16:creationId xmlns:a16="http://schemas.microsoft.com/office/drawing/2014/main" id="{88E48F1C-1094-48C6-CA4B-981904E56DC5}"/>
              </a:ext>
            </a:extLst>
          </p:cNvPr>
          <p:cNvGraphicFramePr>
            <a:graphicFrameLocks noGrp="1"/>
          </p:cNvGraphicFramePr>
          <p:nvPr>
            <p:extLst>
              <p:ext uri="{D42A27DB-BD31-4B8C-83A1-F6EECF244321}">
                <p14:modId xmlns:p14="http://schemas.microsoft.com/office/powerpoint/2010/main" val="2625126613"/>
              </p:ext>
            </p:extLst>
          </p:nvPr>
        </p:nvGraphicFramePr>
        <p:xfrm>
          <a:off x="914398" y="1313489"/>
          <a:ext cx="10596283" cy="4499259"/>
        </p:xfrm>
        <a:graphic>
          <a:graphicData uri="http://schemas.openxmlformats.org/drawingml/2006/table">
            <a:tbl>
              <a:tblPr firstRow="1" bandRow="1">
                <a:tableStyleId>{5C22544A-7EE6-4342-B048-85BDC9FD1C3A}</a:tableStyleId>
              </a:tblPr>
              <a:tblGrid>
                <a:gridCol w="1814981">
                  <a:extLst>
                    <a:ext uri="{9D8B030D-6E8A-4147-A177-3AD203B41FA5}">
                      <a16:colId xmlns:a16="http://schemas.microsoft.com/office/drawing/2014/main" val="308124352"/>
                    </a:ext>
                  </a:extLst>
                </a:gridCol>
                <a:gridCol w="8781302">
                  <a:extLst>
                    <a:ext uri="{9D8B030D-6E8A-4147-A177-3AD203B41FA5}">
                      <a16:colId xmlns:a16="http://schemas.microsoft.com/office/drawing/2014/main" val="973927456"/>
                    </a:ext>
                  </a:extLst>
                </a:gridCol>
              </a:tblGrid>
              <a:tr h="310903">
                <a:tc>
                  <a:txBody>
                    <a:bodyPr/>
                    <a:lstStyle/>
                    <a:p>
                      <a:pPr algn="l" fontAlgn="ctr"/>
                      <a:r>
                        <a:rPr lang="es-MX" sz="1400">
                          <a:effectLst/>
                        </a:rPr>
                        <a:t>Campos</a:t>
                      </a:r>
                    </a:p>
                  </a:txBody>
                  <a:tcPr anchor="ctr"/>
                </a:tc>
                <a:tc>
                  <a:txBody>
                    <a:bodyPr/>
                    <a:lstStyle/>
                    <a:p>
                      <a:pPr algn="l" fontAlgn="ctr"/>
                      <a:r>
                        <a:rPr lang="es-MX" sz="1400">
                          <a:effectLst/>
                        </a:rPr>
                        <a:t>Descripciones</a:t>
                      </a:r>
                    </a:p>
                  </a:txBody>
                  <a:tcPr anchor="ctr"/>
                </a:tc>
                <a:extLst>
                  <a:ext uri="{0D108BD9-81ED-4DB2-BD59-A6C34878D82A}">
                    <a16:rowId xmlns:a16="http://schemas.microsoft.com/office/drawing/2014/main" val="3613365433"/>
                  </a:ext>
                </a:extLst>
              </a:tr>
              <a:tr h="1106264">
                <a:tc>
                  <a:txBody>
                    <a:bodyPr/>
                    <a:lstStyle/>
                    <a:p>
                      <a:pPr algn="l" fontAlgn="ctr"/>
                      <a:r>
                        <a:rPr lang="es-MX" sz="1400" dirty="0">
                          <a:effectLst/>
                        </a:rPr>
                        <a:t>Código de Solicitud</a:t>
                      </a:r>
                    </a:p>
                  </a:txBody>
                  <a:tcPr anchor="ctr"/>
                </a:tc>
                <a:tc>
                  <a:txBody>
                    <a:bodyPr/>
                    <a:lstStyle/>
                    <a:p>
                      <a:pPr algn="l" fontAlgn="ctr"/>
                      <a:r>
                        <a:rPr lang="es-MX" sz="1200" dirty="0">
                          <a:effectLst/>
                        </a:rPr>
                        <a:t>Código de la lista de verificación de solicitud de admisión. Cuando un registro de código de la lista de verificación de solicitud de admisión se ha guardado, el código ingresado en este campo no se puede cambiar. Cuando este código se usó en cualquier otro registro, el registro de código de la lista de verificación de solicitud de admisión no se puede eliminar.</a:t>
                      </a:r>
                    </a:p>
                  </a:txBody>
                  <a:tcPr anchor="ctr"/>
                </a:tc>
                <a:extLst>
                  <a:ext uri="{0D108BD9-81ED-4DB2-BD59-A6C34878D82A}">
                    <a16:rowId xmlns:a16="http://schemas.microsoft.com/office/drawing/2014/main" val="3797119033"/>
                  </a:ext>
                </a:extLst>
              </a:tr>
              <a:tr h="363063">
                <a:tc>
                  <a:txBody>
                    <a:bodyPr/>
                    <a:lstStyle/>
                    <a:p>
                      <a:pPr algn="l" fontAlgn="ctr"/>
                      <a:r>
                        <a:rPr lang="es-MX" sz="1400" dirty="0">
                          <a:effectLst/>
                        </a:rPr>
                        <a:t>Descripción</a:t>
                      </a:r>
                    </a:p>
                  </a:txBody>
                  <a:tcPr anchor="ctr"/>
                </a:tc>
                <a:tc>
                  <a:txBody>
                    <a:bodyPr/>
                    <a:lstStyle/>
                    <a:p>
                      <a:pPr algn="l" fontAlgn="ctr"/>
                      <a:r>
                        <a:rPr lang="es-MX" sz="1200" dirty="0">
                          <a:effectLst/>
                        </a:rPr>
                        <a:t>Descripción de la lista de verificación de solicitud de admisión.</a:t>
                      </a:r>
                    </a:p>
                  </a:txBody>
                  <a:tcPr anchor="ctr"/>
                </a:tc>
                <a:extLst>
                  <a:ext uri="{0D108BD9-81ED-4DB2-BD59-A6C34878D82A}">
                    <a16:rowId xmlns:a16="http://schemas.microsoft.com/office/drawing/2014/main" val="1004632420"/>
                  </a:ext>
                </a:extLst>
              </a:tr>
              <a:tr h="2719029">
                <a:tc>
                  <a:txBody>
                    <a:bodyPr/>
                    <a:lstStyle/>
                    <a:p>
                      <a:pPr algn="l" fontAlgn="ctr"/>
                      <a:r>
                        <a:rPr lang="es-MX" sz="1400" dirty="0">
                          <a:effectLst/>
                        </a:rPr>
                        <a:t>Nombre de Tabla de Referencia Cruzada</a:t>
                      </a:r>
                    </a:p>
                  </a:txBody>
                  <a:tcPr anchor="ctr"/>
                </a:tc>
                <a:tc>
                  <a:txBody>
                    <a:bodyPr/>
                    <a:lstStyle/>
                    <a:p>
                      <a:pPr algn="l" fontAlgn="ctr">
                        <a:buFont typeface="Arial" panose="020B0604020202020204" pitchFamily="34" charset="0"/>
                        <a:buChar char="•"/>
                      </a:pPr>
                      <a:r>
                        <a:rPr lang="es-MX" sz="1200" dirty="0">
                          <a:effectLst/>
                        </a:rPr>
                        <a:t>Nombre de siete caracteres de la tabla de validación con la que se va a validar la lista de verificación de solicitud de admisión. Cuando un elemento de lista de verificación se coloca en una página de validación de referencia cruzada, se especifica cual elemento de la lista de verificación se espera o es requerido para asociarlo a código de referencia cruzada. Las páginas que se pueden ingresar son: Página «Validación de institución fuente/origen» (STVSBGI)</a:t>
                      </a:r>
                    </a:p>
                    <a:p>
                      <a:pPr algn="l" fontAlgn="ctr">
                        <a:buFont typeface="Arial" panose="020B0604020202020204" pitchFamily="34" charset="0"/>
                        <a:buChar char="•"/>
                      </a:pPr>
                      <a:r>
                        <a:rPr lang="es-MX" sz="1200" dirty="0">
                          <a:effectLst/>
                        </a:rPr>
                        <a:t>Página «Validación de código de puntaje de examen» (STVTESC)</a:t>
                      </a:r>
                    </a:p>
                    <a:p>
                      <a:pPr algn="l" fontAlgn="ctr">
                        <a:buFont typeface="Arial" panose="020B0604020202020204" pitchFamily="34" charset="0"/>
                        <a:buChar char="•"/>
                      </a:pPr>
                      <a:r>
                        <a:rPr lang="es-MX" sz="1200" dirty="0">
                          <a:effectLst/>
                        </a:rPr>
                        <a:t>Página «Validación de tipo de visa» (STVVTYP)</a:t>
                      </a:r>
                    </a:p>
                    <a:p>
                      <a:pPr algn="l" fontAlgn="ctr"/>
                      <a:r>
                        <a:rPr lang="es-MX" sz="1200" dirty="0">
                          <a:effectLst/>
                        </a:rPr>
                        <a:t>Por ejemplo, un elemento de la lista de verificación de solicitud de admisión que representan a un histórico académico de escuela se espera o requiere generalmente desde cada escuela a la que asistió el solicitante. Los códigos de escuela se definen en STVSBGI, así los históricos académicos de escuela deben tener su referencia cruzada para STVSBGI. Los elementos de la lista de verificación del histórico académico de escuela también deben tener su referencia cruzada en STVSBGI. Los elementos de la lista de verificación de puntaje de examen deben tener su referencia cruzada en STVTESC. Los elementos de la lista de verificación requeridos para alumnos internacionales pueden tener su referencia cruzada en STVVTYP.</a:t>
                      </a:r>
                    </a:p>
                  </a:txBody>
                  <a:tcPr anchor="ctr"/>
                </a:tc>
                <a:extLst>
                  <a:ext uri="{0D108BD9-81ED-4DB2-BD59-A6C34878D82A}">
                    <a16:rowId xmlns:a16="http://schemas.microsoft.com/office/drawing/2014/main" val="1359257184"/>
                  </a:ext>
                </a:extLst>
              </a:tr>
            </a:tbl>
          </a:graphicData>
        </a:graphic>
      </p:graphicFrame>
    </p:spTree>
    <p:extLst>
      <p:ext uri="{BB962C8B-B14F-4D97-AF65-F5344CB8AC3E}">
        <p14:creationId xmlns:p14="http://schemas.microsoft.com/office/powerpoint/2010/main" val="35068439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Val</a:t>
            </a:r>
            <a:r>
              <a:rPr lang="es-419" dirty="0"/>
              <a:t>idar los datos suplementarios</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13</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dirty="0"/>
              <a:t>STVADMR</a:t>
            </a:r>
            <a:r>
              <a:rPr lang="es-419" sz="3000" b="1" dirty="0"/>
              <a:t> </a:t>
            </a:r>
            <a:r>
              <a:rPr lang="es-419" sz="3000" dirty="0"/>
              <a:t>Validación del código de revisión de la solicitud de admisión</a:t>
            </a:r>
            <a:endParaRPr lang="es-CL" sz="2000" dirty="0"/>
          </a:p>
        </p:txBody>
      </p:sp>
      <p:graphicFrame>
        <p:nvGraphicFramePr>
          <p:cNvPr id="12" name="Tabla 11">
            <a:extLst>
              <a:ext uri="{FF2B5EF4-FFF2-40B4-BE49-F238E27FC236}">
                <a16:creationId xmlns:a16="http://schemas.microsoft.com/office/drawing/2014/main" id="{88E48F1C-1094-48C6-CA4B-981904E56DC5}"/>
              </a:ext>
            </a:extLst>
          </p:cNvPr>
          <p:cNvGraphicFramePr>
            <a:graphicFrameLocks noGrp="1"/>
          </p:cNvGraphicFramePr>
          <p:nvPr>
            <p:extLst>
              <p:ext uri="{D42A27DB-BD31-4B8C-83A1-F6EECF244321}">
                <p14:modId xmlns:p14="http://schemas.microsoft.com/office/powerpoint/2010/main" val="3884766407"/>
              </p:ext>
            </p:extLst>
          </p:nvPr>
        </p:nvGraphicFramePr>
        <p:xfrm>
          <a:off x="932329" y="1426412"/>
          <a:ext cx="10425954" cy="3979306"/>
        </p:xfrm>
        <a:graphic>
          <a:graphicData uri="http://schemas.openxmlformats.org/drawingml/2006/table">
            <a:tbl>
              <a:tblPr firstRow="1" bandRow="1">
                <a:tableStyleId>{5C22544A-7EE6-4342-B048-85BDC9FD1C3A}</a:tableStyleId>
              </a:tblPr>
              <a:tblGrid>
                <a:gridCol w="1785807">
                  <a:extLst>
                    <a:ext uri="{9D8B030D-6E8A-4147-A177-3AD203B41FA5}">
                      <a16:colId xmlns:a16="http://schemas.microsoft.com/office/drawing/2014/main" val="308124352"/>
                    </a:ext>
                  </a:extLst>
                </a:gridCol>
                <a:gridCol w="8640147">
                  <a:extLst>
                    <a:ext uri="{9D8B030D-6E8A-4147-A177-3AD203B41FA5}">
                      <a16:colId xmlns:a16="http://schemas.microsoft.com/office/drawing/2014/main" val="973927456"/>
                    </a:ext>
                  </a:extLst>
                </a:gridCol>
              </a:tblGrid>
              <a:tr h="483248">
                <a:tc>
                  <a:txBody>
                    <a:bodyPr/>
                    <a:lstStyle/>
                    <a:p>
                      <a:pPr algn="l" fontAlgn="ctr"/>
                      <a:r>
                        <a:rPr lang="es-MX" sz="1400" dirty="0">
                          <a:effectLst/>
                        </a:rPr>
                        <a:t>Campos</a:t>
                      </a:r>
                    </a:p>
                  </a:txBody>
                  <a:tcPr anchor="ctr"/>
                </a:tc>
                <a:tc>
                  <a:txBody>
                    <a:bodyPr/>
                    <a:lstStyle/>
                    <a:p>
                      <a:pPr algn="l" fontAlgn="ctr"/>
                      <a:r>
                        <a:rPr lang="es-MX" sz="1400">
                          <a:effectLst/>
                        </a:rPr>
                        <a:t>Descripciones</a:t>
                      </a:r>
                    </a:p>
                  </a:txBody>
                  <a:tcPr anchor="ctr"/>
                </a:tc>
                <a:extLst>
                  <a:ext uri="{0D108BD9-81ED-4DB2-BD59-A6C34878D82A}">
                    <a16:rowId xmlns:a16="http://schemas.microsoft.com/office/drawing/2014/main" val="3613365433"/>
                  </a:ext>
                </a:extLst>
              </a:tr>
              <a:tr h="1410202">
                <a:tc>
                  <a:txBody>
                    <a:bodyPr/>
                    <a:lstStyle/>
                    <a:p>
                      <a:pPr algn="l" fontAlgn="ctr"/>
                      <a:r>
                        <a:rPr lang="es-MX" sz="1400" dirty="0">
                          <a:effectLst/>
                        </a:rPr>
                        <a:t>Indicador de web</a:t>
                      </a:r>
                    </a:p>
                  </a:txBody>
                  <a:tcPr anchor="ctr"/>
                </a:tc>
                <a:tc>
                  <a:txBody>
                    <a:bodyPr/>
                    <a:lstStyle/>
                    <a:p>
                      <a:pPr algn="l" fontAlgn="ctr"/>
                      <a:r>
                        <a:rPr lang="es-MX" sz="1400" dirty="0">
                          <a:effectLst/>
                        </a:rPr>
                        <a:t>Cuadro de selección usado para indicar si el código de estatus del elemento de la lista de verificación de admisiones se puede desplegar en el módulo de Admisiones de Self-Service de Alumnos. Este cuadro de selección le permite limitar los elementos de lista de verificación que se van a desplegar en un subconjunto de todos los elementos válidos. Este cuadro se predefine a no marcado o N cuando se agrega un nuevo registro, pero puede cambiarlo en cualquier momento.</a:t>
                      </a:r>
                    </a:p>
                  </a:txBody>
                  <a:tcPr anchor="ctr"/>
                </a:tc>
                <a:extLst>
                  <a:ext uri="{0D108BD9-81ED-4DB2-BD59-A6C34878D82A}">
                    <a16:rowId xmlns:a16="http://schemas.microsoft.com/office/drawing/2014/main" val="1362089144"/>
                  </a:ext>
                </a:extLst>
              </a:tr>
              <a:tr h="890654">
                <a:tc>
                  <a:txBody>
                    <a:bodyPr/>
                    <a:lstStyle/>
                    <a:p>
                      <a:pPr algn="l" fontAlgn="ctr"/>
                      <a:r>
                        <a:rPr lang="es-MX" sz="1400">
                          <a:effectLst/>
                        </a:rPr>
                        <a:t>Indicador de Elegibilidad de Respuesta a Voz</a:t>
                      </a:r>
                    </a:p>
                  </a:txBody>
                  <a:tcPr anchor="ctr"/>
                </a:tc>
                <a:tc>
                  <a:txBody>
                    <a:bodyPr/>
                    <a:lstStyle/>
                    <a:p>
                      <a:pPr algn="l" fontAlgn="ctr"/>
                      <a:r>
                        <a:rPr lang="es-MX" sz="1400">
                          <a:effectLst/>
                        </a:rPr>
                        <a:t>Cuadro usado para indicar si el elemento de lista de verificación de admisión está disponible para Respuesta a Voz.</a:t>
                      </a:r>
                    </a:p>
                  </a:txBody>
                  <a:tcPr anchor="ctr"/>
                </a:tc>
                <a:extLst>
                  <a:ext uri="{0D108BD9-81ED-4DB2-BD59-A6C34878D82A}">
                    <a16:rowId xmlns:a16="http://schemas.microsoft.com/office/drawing/2014/main" val="3187791378"/>
                  </a:ext>
                </a:extLst>
              </a:tr>
              <a:tr h="630880">
                <a:tc>
                  <a:txBody>
                    <a:bodyPr/>
                    <a:lstStyle/>
                    <a:p>
                      <a:pPr algn="l" fontAlgn="ctr"/>
                      <a:r>
                        <a:rPr lang="es-MX" sz="1400">
                          <a:effectLst/>
                        </a:rPr>
                        <a:t>Número de Mensaje de Respuesta a Voz</a:t>
                      </a:r>
                    </a:p>
                  </a:txBody>
                  <a:tcPr anchor="ctr"/>
                </a:tc>
                <a:tc>
                  <a:txBody>
                    <a:bodyPr/>
                    <a:lstStyle/>
                    <a:p>
                      <a:pPr algn="l" fontAlgn="ctr"/>
                      <a:r>
                        <a:rPr lang="es-MX" sz="1400" dirty="0">
                          <a:effectLst/>
                        </a:rPr>
                        <a:t>Número asignado al mensaje de Respuesta a Voz asignado a este elemento de la lista de verificación.</a:t>
                      </a:r>
                    </a:p>
                  </a:txBody>
                  <a:tcPr anchor="ctr"/>
                </a:tc>
                <a:extLst>
                  <a:ext uri="{0D108BD9-81ED-4DB2-BD59-A6C34878D82A}">
                    <a16:rowId xmlns:a16="http://schemas.microsoft.com/office/drawing/2014/main" val="489870978"/>
                  </a:ext>
                </a:extLst>
              </a:tr>
              <a:tr h="564322">
                <a:tc>
                  <a:txBody>
                    <a:bodyPr/>
                    <a:lstStyle/>
                    <a:p>
                      <a:pPr algn="l" fontAlgn="ctr"/>
                      <a:r>
                        <a:rPr lang="es-MX" sz="1400">
                          <a:effectLst/>
                        </a:rPr>
                        <a:t>Fecha de actividad</a:t>
                      </a:r>
                    </a:p>
                  </a:txBody>
                  <a:tcPr anchor="ctr"/>
                </a:tc>
                <a:tc>
                  <a:txBody>
                    <a:bodyPr/>
                    <a:lstStyle/>
                    <a:p>
                      <a:pPr algn="l" fontAlgn="ctr"/>
                      <a:r>
                        <a:rPr lang="es-MX" sz="1400" dirty="0">
                          <a:effectLst/>
                        </a:rPr>
                        <a:t>Fecha en que el registro se actualizó por última vez. Solo se despliega.</a:t>
                      </a:r>
                    </a:p>
                  </a:txBody>
                  <a:tcPr anchor="ctr"/>
                </a:tc>
                <a:extLst>
                  <a:ext uri="{0D108BD9-81ED-4DB2-BD59-A6C34878D82A}">
                    <a16:rowId xmlns:a16="http://schemas.microsoft.com/office/drawing/2014/main" val="4208218931"/>
                  </a:ext>
                </a:extLst>
              </a:tr>
            </a:tbl>
          </a:graphicData>
        </a:graphic>
      </p:graphicFrame>
    </p:spTree>
    <p:extLst>
      <p:ext uri="{BB962C8B-B14F-4D97-AF65-F5344CB8AC3E}">
        <p14:creationId xmlns:p14="http://schemas.microsoft.com/office/powerpoint/2010/main" val="40411738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1B559ECC-51CB-0A9A-F3AD-1B3594B05C2D}"/>
              </a:ext>
            </a:extLst>
          </p:cNvPr>
          <p:cNvPicPr>
            <a:picLocks noChangeAspect="1"/>
          </p:cNvPicPr>
          <p:nvPr/>
        </p:nvPicPr>
        <p:blipFill>
          <a:blip r:embed="rId2"/>
          <a:stretch>
            <a:fillRect/>
          </a:stretch>
        </p:blipFill>
        <p:spPr>
          <a:xfrm>
            <a:off x="980197" y="1402853"/>
            <a:ext cx="10593238" cy="4540747"/>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Val</a:t>
            </a:r>
            <a:r>
              <a:rPr lang="es-419" dirty="0"/>
              <a:t>idar los datos suplementarios</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14</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dirty="0"/>
              <a:t>STVSBGI Validación de código de institución fuente/origen</a:t>
            </a:r>
            <a:endParaRPr lang="es-CL" sz="2000" dirty="0"/>
          </a:p>
        </p:txBody>
      </p:sp>
      <p:sp>
        <p:nvSpPr>
          <p:cNvPr id="10" name="Rectángulo redondeado 5">
            <a:extLst>
              <a:ext uri="{FF2B5EF4-FFF2-40B4-BE49-F238E27FC236}">
                <a16:creationId xmlns:a16="http://schemas.microsoft.com/office/drawing/2014/main" id="{ACFB6BBF-F51C-3E17-0616-B3528CD6154A}"/>
              </a:ext>
            </a:extLst>
          </p:cNvPr>
          <p:cNvSpPr/>
          <p:nvPr/>
        </p:nvSpPr>
        <p:spPr>
          <a:xfrm>
            <a:off x="810246" y="5226423"/>
            <a:ext cx="10763189" cy="71717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1.- En los códigos de institución fuente/origen.</a:t>
            </a:r>
          </a:p>
          <a:p>
            <a:r>
              <a:rPr lang="es-ES_tradnl" sz="1400" dirty="0"/>
              <a:t>2.- </a:t>
            </a:r>
            <a:r>
              <a:rPr lang="es-ES_tradnl" sz="1400" b="1" dirty="0"/>
              <a:t>Solicitud de admisión</a:t>
            </a:r>
            <a:r>
              <a:rPr lang="es-ES_tradnl" sz="1400" dirty="0"/>
              <a:t>, se ingresa en el campo el código del requisito que va a cumplir cuando se ingrese la institución al aspirante.</a:t>
            </a:r>
          </a:p>
        </p:txBody>
      </p:sp>
      <p:sp>
        <p:nvSpPr>
          <p:cNvPr id="2" name="Rectángulo redondeado 23">
            <a:extLst>
              <a:ext uri="{FF2B5EF4-FFF2-40B4-BE49-F238E27FC236}">
                <a16:creationId xmlns:a16="http://schemas.microsoft.com/office/drawing/2014/main" id="{7CD7570E-F685-3EFD-A227-A85550FB1628}"/>
              </a:ext>
            </a:extLst>
          </p:cNvPr>
          <p:cNvSpPr/>
          <p:nvPr/>
        </p:nvSpPr>
        <p:spPr>
          <a:xfrm>
            <a:off x="5525328" y="2576839"/>
            <a:ext cx="23376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6" name="Rectángulo redondeado 23">
            <a:extLst>
              <a:ext uri="{FF2B5EF4-FFF2-40B4-BE49-F238E27FC236}">
                <a16:creationId xmlns:a16="http://schemas.microsoft.com/office/drawing/2014/main" id="{53B7735D-33D8-3397-C4BC-1AE936093BC6}"/>
              </a:ext>
            </a:extLst>
          </p:cNvPr>
          <p:cNvSpPr/>
          <p:nvPr/>
        </p:nvSpPr>
        <p:spPr>
          <a:xfrm>
            <a:off x="729176" y="2576840"/>
            <a:ext cx="23376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Tree>
    <p:extLst>
      <p:ext uri="{BB962C8B-B14F-4D97-AF65-F5344CB8AC3E}">
        <p14:creationId xmlns:p14="http://schemas.microsoft.com/office/powerpoint/2010/main" val="14742642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4473655-3110-C094-71F4-225E9E47B2B0}"/>
              </a:ext>
            </a:extLst>
          </p:cNvPr>
          <p:cNvPicPr>
            <a:picLocks noChangeAspect="1"/>
          </p:cNvPicPr>
          <p:nvPr/>
        </p:nvPicPr>
        <p:blipFill>
          <a:blip r:embed="rId2"/>
          <a:stretch>
            <a:fillRect/>
          </a:stretch>
        </p:blipFill>
        <p:spPr>
          <a:xfrm>
            <a:off x="905774" y="1367945"/>
            <a:ext cx="10583712" cy="4555574"/>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Val</a:t>
            </a:r>
            <a:r>
              <a:rPr lang="es-419" dirty="0"/>
              <a:t>idar los datos suplementarios</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15</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dirty="0"/>
              <a:t>SAAADMS Solicitud de admisión</a:t>
            </a:r>
            <a:br>
              <a:rPr lang="es-419" sz="3000" dirty="0"/>
            </a:br>
            <a:r>
              <a:rPr lang="es-419" sz="2000" dirty="0"/>
              <a:t>Lista de verificación</a:t>
            </a:r>
            <a:endParaRPr lang="es-CL" sz="2000" dirty="0"/>
          </a:p>
        </p:txBody>
      </p:sp>
      <p:sp>
        <p:nvSpPr>
          <p:cNvPr id="10" name="Rectángulo redondeado 5">
            <a:extLst>
              <a:ext uri="{FF2B5EF4-FFF2-40B4-BE49-F238E27FC236}">
                <a16:creationId xmlns:a16="http://schemas.microsoft.com/office/drawing/2014/main" id="{ACFB6BBF-F51C-3E17-0616-B3528CD6154A}"/>
              </a:ext>
            </a:extLst>
          </p:cNvPr>
          <p:cNvSpPr/>
          <p:nvPr/>
        </p:nvSpPr>
        <p:spPr>
          <a:xfrm>
            <a:off x="1308664" y="4681957"/>
            <a:ext cx="9275048" cy="95684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En la pestaña “Lista de verificación”:</a:t>
            </a:r>
          </a:p>
          <a:p>
            <a:r>
              <a:rPr lang="es-ES_tradnl" sz="1400" dirty="0"/>
              <a:t>1.- </a:t>
            </a:r>
            <a:r>
              <a:rPr lang="es-ES_tradnl" sz="1400" b="1" dirty="0"/>
              <a:t>Solicitud de admisión: </a:t>
            </a:r>
            <a:r>
              <a:rPr lang="es-ES_tradnl" sz="1400" dirty="0"/>
              <a:t>El aspirante tiene como requisitos en su lista de verificación. </a:t>
            </a:r>
          </a:p>
          <a:p>
            <a:r>
              <a:rPr lang="es-ES_tradnl" sz="1400" dirty="0"/>
              <a:t>Registro que depende de la institución de origen.</a:t>
            </a:r>
          </a:p>
        </p:txBody>
      </p:sp>
      <p:sp>
        <p:nvSpPr>
          <p:cNvPr id="8" name="Rectángulo redondeado 23">
            <a:extLst>
              <a:ext uri="{FF2B5EF4-FFF2-40B4-BE49-F238E27FC236}">
                <a16:creationId xmlns:a16="http://schemas.microsoft.com/office/drawing/2014/main" id="{121404E8-E221-1876-AFA0-A9A2ABF1D606}"/>
              </a:ext>
            </a:extLst>
          </p:cNvPr>
          <p:cNvSpPr/>
          <p:nvPr/>
        </p:nvSpPr>
        <p:spPr>
          <a:xfrm>
            <a:off x="1554169" y="3218280"/>
            <a:ext cx="23376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Tree>
    <p:extLst>
      <p:ext uri="{BB962C8B-B14F-4D97-AF65-F5344CB8AC3E}">
        <p14:creationId xmlns:p14="http://schemas.microsoft.com/office/powerpoint/2010/main" val="6385332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368E01E-6077-3570-FE88-9BBDEDB844E0}"/>
              </a:ext>
            </a:extLst>
          </p:cNvPr>
          <p:cNvPicPr>
            <a:picLocks noChangeAspect="1"/>
          </p:cNvPicPr>
          <p:nvPr/>
        </p:nvPicPr>
        <p:blipFill>
          <a:blip r:embed="rId2"/>
          <a:stretch>
            <a:fillRect/>
          </a:stretch>
        </p:blipFill>
        <p:spPr>
          <a:xfrm>
            <a:off x="859006" y="1153884"/>
            <a:ext cx="10593238" cy="4550227"/>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Val</a:t>
            </a:r>
            <a:r>
              <a:rPr lang="es-419" dirty="0"/>
              <a:t>idar los datos suplementarios</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16</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dirty="0"/>
              <a:t>SOAHSCH Información de bachillerato</a:t>
            </a:r>
            <a:endParaRPr lang="es-CL" sz="2000" dirty="0"/>
          </a:p>
        </p:txBody>
      </p:sp>
      <p:sp>
        <p:nvSpPr>
          <p:cNvPr id="10" name="Rectángulo redondeado 5">
            <a:extLst>
              <a:ext uri="{FF2B5EF4-FFF2-40B4-BE49-F238E27FC236}">
                <a16:creationId xmlns:a16="http://schemas.microsoft.com/office/drawing/2014/main" id="{ACFB6BBF-F51C-3E17-0616-B3528CD6154A}"/>
              </a:ext>
            </a:extLst>
          </p:cNvPr>
          <p:cNvSpPr/>
          <p:nvPr/>
        </p:nvSpPr>
        <p:spPr>
          <a:xfrm>
            <a:off x="1061110" y="4914503"/>
            <a:ext cx="10271884" cy="119518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Para que el registro se marque como cumplido en SAAADMS en la lista de verificación se deben ingresar los campos de:</a:t>
            </a:r>
          </a:p>
          <a:p>
            <a:r>
              <a:rPr lang="es-ES_tradnl" sz="1400" dirty="0"/>
              <a:t>1.- Bachillerato.</a:t>
            </a:r>
          </a:p>
          <a:p>
            <a:r>
              <a:rPr lang="es-ES_tradnl" sz="1400" i="1" dirty="0">
                <a:effectLst>
                  <a:outerShdw blurRad="38100" dist="38100" dir="2700000" algn="tl">
                    <a:srgbClr val="000000">
                      <a:alpha val="43137"/>
                    </a:srgbClr>
                  </a:outerShdw>
                </a:effectLst>
              </a:rPr>
              <a:t>2</a:t>
            </a:r>
            <a:r>
              <a:rPr lang="es-ES_tradnl" sz="1400" dirty="0"/>
              <a:t>.- Fecha de recepción de histórico. </a:t>
            </a:r>
          </a:p>
          <a:p>
            <a:r>
              <a:rPr lang="es-ES_tradnl" sz="1400" dirty="0"/>
              <a:t>Si solo se ingresa el campo de bachillerato todavía no se mostrará el registro como cumplido</a:t>
            </a:r>
          </a:p>
        </p:txBody>
      </p:sp>
      <p:sp>
        <p:nvSpPr>
          <p:cNvPr id="2" name="Rectángulo redondeado 23">
            <a:extLst>
              <a:ext uri="{FF2B5EF4-FFF2-40B4-BE49-F238E27FC236}">
                <a16:creationId xmlns:a16="http://schemas.microsoft.com/office/drawing/2014/main" id="{DF74F842-6386-B9BC-735E-C194F57E3DAD}"/>
              </a:ext>
            </a:extLst>
          </p:cNvPr>
          <p:cNvSpPr/>
          <p:nvPr/>
        </p:nvSpPr>
        <p:spPr>
          <a:xfrm>
            <a:off x="742121" y="3719830"/>
            <a:ext cx="23376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6" name="Rectángulo redondeado 23">
            <a:extLst>
              <a:ext uri="{FF2B5EF4-FFF2-40B4-BE49-F238E27FC236}">
                <a16:creationId xmlns:a16="http://schemas.microsoft.com/office/drawing/2014/main" id="{9850F286-37AB-FABD-FC32-334F8840242E}"/>
              </a:ext>
            </a:extLst>
          </p:cNvPr>
          <p:cNvSpPr/>
          <p:nvPr/>
        </p:nvSpPr>
        <p:spPr>
          <a:xfrm>
            <a:off x="944225" y="2690844"/>
            <a:ext cx="23376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Tree>
    <p:extLst>
      <p:ext uri="{BB962C8B-B14F-4D97-AF65-F5344CB8AC3E}">
        <p14:creationId xmlns:p14="http://schemas.microsoft.com/office/powerpoint/2010/main" val="24503592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259B948-8F1D-C209-0D37-41FEAA70562D}"/>
              </a:ext>
            </a:extLst>
          </p:cNvPr>
          <p:cNvPicPr>
            <a:picLocks noChangeAspect="1"/>
          </p:cNvPicPr>
          <p:nvPr/>
        </p:nvPicPr>
        <p:blipFill>
          <a:blip r:embed="rId2"/>
          <a:stretch>
            <a:fillRect/>
          </a:stretch>
        </p:blipFill>
        <p:spPr>
          <a:xfrm>
            <a:off x="1025594" y="1182902"/>
            <a:ext cx="10481901" cy="4989297"/>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Val</a:t>
            </a:r>
            <a:r>
              <a:rPr lang="es-419" dirty="0"/>
              <a:t>idar los datos suplementarios</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17</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dirty="0"/>
              <a:t>SOAPCOL Escuela anterior</a:t>
            </a:r>
            <a:endParaRPr lang="es-CL" sz="2000" dirty="0"/>
          </a:p>
        </p:txBody>
      </p:sp>
      <p:sp>
        <p:nvSpPr>
          <p:cNvPr id="10" name="Rectángulo redondeado 5">
            <a:extLst>
              <a:ext uri="{FF2B5EF4-FFF2-40B4-BE49-F238E27FC236}">
                <a16:creationId xmlns:a16="http://schemas.microsoft.com/office/drawing/2014/main" id="{ACFB6BBF-F51C-3E17-0616-B3528CD6154A}"/>
              </a:ext>
            </a:extLst>
          </p:cNvPr>
          <p:cNvSpPr/>
          <p:nvPr/>
        </p:nvSpPr>
        <p:spPr>
          <a:xfrm>
            <a:off x="1353671" y="4886497"/>
            <a:ext cx="10013576" cy="110192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En caso de que el cumplimiento sea de una universidad, el procedimiento es el mismo, se ingresan los campos:</a:t>
            </a:r>
          </a:p>
          <a:p>
            <a:r>
              <a:rPr lang="es-ES_tradnl" sz="1400" dirty="0"/>
              <a:t>1.- </a:t>
            </a:r>
            <a:r>
              <a:rPr lang="es-ES_tradnl" sz="1400" dirty="0">
                <a:effectLst>
                  <a:outerShdw blurRad="38100" dist="38100" dir="2700000" algn="tl">
                    <a:srgbClr val="000000">
                      <a:alpha val="43137"/>
                    </a:srgbClr>
                  </a:outerShdw>
                </a:effectLst>
              </a:rPr>
              <a:t>Escuela anterior</a:t>
            </a:r>
            <a:r>
              <a:rPr lang="es-ES_tradnl" sz="1400" dirty="0"/>
              <a:t> </a:t>
            </a:r>
          </a:p>
          <a:p>
            <a:r>
              <a:rPr lang="es-ES_tradnl" sz="1400" dirty="0"/>
              <a:t>2.- </a:t>
            </a:r>
            <a:r>
              <a:rPr lang="es-ES_tradnl" sz="1400" dirty="0">
                <a:effectLst>
                  <a:outerShdw blurRad="38100" dist="38100" dir="2700000" algn="tl">
                    <a:srgbClr val="000000">
                      <a:alpha val="43137"/>
                    </a:srgbClr>
                  </a:outerShdw>
                </a:effectLst>
              </a:rPr>
              <a:t>Fecha de recepción de histórico académico</a:t>
            </a:r>
            <a:r>
              <a:rPr lang="es-ES_tradnl" sz="1400" dirty="0"/>
              <a:t>.</a:t>
            </a:r>
          </a:p>
        </p:txBody>
      </p:sp>
      <p:sp>
        <p:nvSpPr>
          <p:cNvPr id="2" name="Rectángulo redondeado 23">
            <a:extLst>
              <a:ext uri="{FF2B5EF4-FFF2-40B4-BE49-F238E27FC236}">
                <a16:creationId xmlns:a16="http://schemas.microsoft.com/office/drawing/2014/main" id="{2C678D17-FEDA-9188-69E9-19BD18CDEDCA}"/>
              </a:ext>
            </a:extLst>
          </p:cNvPr>
          <p:cNvSpPr/>
          <p:nvPr/>
        </p:nvSpPr>
        <p:spPr>
          <a:xfrm>
            <a:off x="850268" y="2769302"/>
            <a:ext cx="23376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7" name="Rectángulo redondeado 23">
            <a:extLst>
              <a:ext uri="{FF2B5EF4-FFF2-40B4-BE49-F238E27FC236}">
                <a16:creationId xmlns:a16="http://schemas.microsoft.com/office/drawing/2014/main" id="{F12D3573-EF6C-0CB4-44E4-54B4150F9697}"/>
              </a:ext>
            </a:extLst>
          </p:cNvPr>
          <p:cNvSpPr/>
          <p:nvPr/>
        </p:nvSpPr>
        <p:spPr>
          <a:xfrm>
            <a:off x="908710" y="2423933"/>
            <a:ext cx="23376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Tree>
    <p:extLst>
      <p:ext uri="{BB962C8B-B14F-4D97-AF65-F5344CB8AC3E}">
        <p14:creationId xmlns:p14="http://schemas.microsoft.com/office/powerpoint/2010/main" val="12532794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4192E04-EA5D-1EAB-BC8A-FDB94C8A65D7}"/>
              </a:ext>
            </a:extLst>
          </p:cNvPr>
          <p:cNvPicPr>
            <a:picLocks noChangeAspect="1"/>
          </p:cNvPicPr>
          <p:nvPr/>
        </p:nvPicPr>
        <p:blipFill>
          <a:blip r:embed="rId2"/>
          <a:stretch>
            <a:fillRect/>
          </a:stretch>
        </p:blipFill>
        <p:spPr>
          <a:xfrm>
            <a:off x="805291" y="1319841"/>
            <a:ext cx="10581417" cy="4548298"/>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Val</a:t>
            </a:r>
            <a:r>
              <a:rPr lang="es-419" dirty="0"/>
              <a:t>idar los datos suplementarios</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18</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dirty="0"/>
              <a:t>SAAADMS Solicitud de admisión</a:t>
            </a:r>
            <a:br>
              <a:rPr lang="es-419" sz="3000" dirty="0"/>
            </a:br>
            <a:r>
              <a:rPr lang="es-419" sz="2000" dirty="0"/>
              <a:t>Lista de verificación</a:t>
            </a:r>
            <a:endParaRPr lang="es-CL" sz="2000" dirty="0"/>
          </a:p>
        </p:txBody>
      </p:sp>
      <p:sp>
        <p:nvSpPr>
          <p:cNvPr id="10" name="Rectángulo redondeado 5">
            <a:extLst>
              <a:ext uri="{FF2B5EF4-FFF2-40B4-BE49-F238E27FC236}">
                <a16:creationId xmlns:a16="http://schemas.microsoft.com/office/drawing/2014/main" id="{ACFB6BBF-F51C-3E17-0616-B3528CD6154A}"/>
              </a:ext>
            </a:extLst>
          </p:cNvPr>
          <p:cNvSpPr/>
          <p:nvPr/>
        </p:nvSpPr>
        <p:spPr>
          <a:xfrm>
            <a:off x="1192631" y="4474956"/>
            <a:ext cx="9881877" cy="71717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Al consultar la lista de verificación de la página SAAADMS ya se muestra el requisito como cumplido.</a:t>
            </a:r>
          </a:p>
          <a:p>
            <a:r>
              <a:rPr lang="es-ES_tradnl" sz="1400" dirty="0"/>
              <a:t>1.- Fecha de recepción.</a:t>
            </a:r>
          </a:p>
        </p:txBody>
      </p:sp>
      <p:sp>
        <p:nvSpPr>
          <p:cNvPr id="2" name="Rectángulo redondeado 23">
            <a:extLst>
              <a:ext uri="{FF2B5EF4-FFF2-40B4-BE49-F238E27FC236}">
                <a16:creationId xmlns:a16="http://schemas.microsoft.com/office/drawing/2014/main" id="{9E63E890-45EF-6F87-8874-801E5A402FEB}"/>
              </a:ext>
            </a:extLst>
          </p:cNvPr>
          <p:cNvSpPr/>
          <p:nvPr/>
        </p:nvSpPr>
        <p:spPr>
          <a:xfrm>
            <a:off x="3293322" y="2835125"/>
            <a:ext cx="23376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Tree>
    <p:extLst>
      <p:ext uri="{BB962C8B-B14F-4D97-AF65-F5344CB8AC3E}">
        <p14:creationId xmlns:p14="http://schemas.microsoft.com/office/powerpoint/2010/main" val="25797738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9C1B8-7B27-EA1B-7D3E-2A4F23ADAD8A}"/>
            </a:ext>
          </a:extLst>
        </p:cNvPr>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80FDD501-B07F-4F40-0028-3D66F94F17AA}"/>
              </a:ext>
            </a:extLst>
          </p:cNvPr>
          <p:cNvSpPr>
            <a:spLocks noGrp="1"/>
          </p:cNvSpPr>
          <p:nvPr>
            <p:ph type="body" orient="vert" sz="quarter" idx="10"/>
          </p:nvPr>
        </p:nvSpPr>
        <p:spPr/>
        <p:txBody>
          <a:bodyPr/>
          <a:lstStyle/>
          <a:p>
            <a:r>
              <a:rPr lang="es-419" dirty="0"/>
              <a:t>Validar los datos suplementarios</a:t>
            </a:r>
            <a:endParaRPr lang="en-US" dirty="0"/>
          </a:p>
          <a:p>
            <a:endParaRPr lang="en-US" dirty="0"/>
          </a:p>
        </p:txBody>
      </p:sp>
      <p:sp>
        <p:nvSpPr>
          <p:cNvPr id="16" name="Title 15">
            <a:extLst>
              <a:ext uri="{FF2B5EF4-FFF2-40B4-BE49-F238E27FC236}">
                <a16:creationId xmlns:a16="http://schemas.microsoft.com/office/drawing/2014/main" id="{09032DCB-CD1C-BEAB-2E54-557717B289CB}"/>
              </a:ext>
            </a:extLst>
          </p:cNvPr>
          <p:cNvSpPr>
            <a:spLocks noGrp="1"/>
          </p:cNvSpPr>
          <p:nvPr>
            <p:ph type="title"/>
          </p:nvPr>
        </p:nvSpPr>
        <p:spPr/>
        <p:txBody>
          <a:bodyPr/>
          <a:lstStyle/>
          <a:p>
            <a:r>
              <a:rPr lang="es-CL" dirty="0"/>
              <a:t>Visas</a:t>
            </a:r>
            <a:endParaRPr lang="en-US" dirty="0"/>
          </a:p>
        </p:txBody>
      </p:sp>
      <p:sp>
        <p:nvSpPr>
          <p:cNvPr id="18" name="Slide Number Placeholder 17">
            <a:extLst>
              <a:ext uri="{FF2B5EF4-FFF2-40B4-BE49-F238E27FC236}">
                <a16:creationId xmlns:a16="http://schemas.microsoft.com/office/drawing/2014/main" id="{B4770E3A-DD2A-4E83-9308-F64650FCC3B0}"/>
              </a:ext>
            </a:extLst>
          </p:cNvPr>
          <p:cNvSpPr>
            <a:spLocks noGrp="1"/>
          </p:cNvSpPr>
          <p:nvPr>
            <p:ph type="sldNum" sz="quarter" idx="4"/>
          </p:nvPr>
        </p:nvSpPr>
        <p:spPr/>
        <p:txBody>
          <a:bodyPr/>
          <a:lstStyle/>
          <a:p>
            <a:fld id="{4A16F8ED-7337-F64C-865A-41A1F48E54DF}" type="slidenum">
              <a:rPr lang="en-US" smtClean="0"/>
              <a:pPr/>
              <a:t>19</a:t>
            </a:fld>
            <a:endParaRPr lang="en-US" dirty="0"/>
          </a:p>
        </p:txBody>
      </p:sp>
    </p:spTree>
    <p:extLst>
      <p:ext uri="{BB962C8B-B14F-4D97-AF65-F5344CB8AC3E}">
        <p14:creationId xmlns:p14="http://schemas.microsoft.com/office/powerpoint/2010/main" val="40639542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E9745A3-89AA-AC4F-931D-8DA44ABB270F}"/>
              </a:ext>
            </a:extLst>
          </p:cNvPr>
          <p:cNvPicPr>
            <a:picLocks noChangeAspect="1"/>
          </p:cNvPicPr>
          <p:nvPr/>
        </p:nvPicPr>
        <p:blipFill>
          <a:blip r:embed="rId2"/>
          <a:stretch>
            <a:fillRect/>
          </a:stretch>
        </p:blipFill>
        <p:spPr>
          <a:xfrm>
            <a:off x="991402" y="1440611"/>
            <a:ext cx="10546629" cy="4548337"/>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Val</a:t>
            </a:r>
            <a:r>
              <a:rPr lang="es-419" dirty="0"/>
              <a:t>idar los datos suplementarios</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20</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dirty="0"/>
              <a:t>STVADMR</a:t>
            </a:r>
            <a:r>
              <a:rPr lang="es-419" sz="3000" b="1" dirty="0"/>
              <a:t> </a:t>
            </a:r>
            <a:r>
              <a:rPr lang="es-419" sz="3000" dirty="0"/>
              <a:t>Validación del código de revisión de la solicitud de admisión</a:t>
            </a:r>
            <a:endParaRPr lang="es-CL" sz="2000" dirty="0"/>
          </a:p>
        </p:txBody>
      </p:sp>
      <p:sp>
        <p:nvSpPr>
          <p:cNvPr id="10" name="Rectángulo redondeado 5">
            <a:extLst>
              <a:ext uri="{FF2B5EF4-FFF2-40B4-BE49-F238E27FC236}">
                <a16:creationId xmlns:a16="http://schemas.microsoft.com/office/drawing/2014/main" id="{ACFB6BBF-F51C-3E17-0616-B3528CD6154A}"/>
              </a:ext>
            </a:extLst>
          </p:cNvPr>
          <p:cNvSpPr/>
          <p:nvPr/>
        </p:nvSpPr>
        <p:spPr>
          <a:xfrm>
            <a:off x="1244708" y="3784493"/>
            <a:ext cx="9702584" cy="71717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1.- Se vincula el requisito con un tipo de visa.</a:t>
            </a:r>
          </a:p>
          <a:p>
            <a:r>
              <a:rPr lang="es-ES_tradnl" sz="1400" dirty="0"/>
              <a:t>2.- Ingresando en el campo “</a:t>
            </a:r>
            <a:r>
              <a:rPr lang="es-ES_tradnl" sz="1400" b="1" i="1" dirty="0">
                <a:effectLst>
                  <a:outerShdw blurRad="38100" dist="38100" dir="2700000" algn="tl">
                    <a:srgbClr val="000000">
                      <a:alpha val="43137"/>
                    </a:srgbClr>
                  </a:outerShdw>
                </a:effectLst>
              </a:rPr>
              <a:t>Nombre de la tabla de referencia cruzada” </a:t>
            </a:r>
            <a:r>
              <a:rPr lang="es-ES_tradnl" sz="1400" dirty="0"/>
              <a:t>el código de tabla STVVTYP</a:t>
            </a:r>
          </a:p>
        </p:txBody>
      </p:sp>
      <p:sp>
        <p:nvSpPr>
          <p:cNvPr id="2" name="Rectángulo redondeado 23">
            <a:extLst>
              <a:ext uri="{FF2B5EF4-FFF2-40B4-BE49-F238E27FC236}">
                <a16:creationId xmlns:a16="http://schemas.microsoft.com/office/drawing/2014/main" id="{7ED2CACB-FD0D-B0B4-D326-8D3539822094}"/>
              </a:ext>
            </a:extLst>
          </p:cNvPr>
          <p:cNvSpPr/>
          <p:nvPr/>
        </p:nvSpPr>
        <p:spPr>
          <a:xfrm>
            <a:off x="7717097" y="4945464"/>
            <a:ext cx="23376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6" name="Rectángulo redondeado 23">
            <a:extLst>
              <a:ext uri="{FF2B5EF4-FFF2-40B4-BE49-F238E27FC236}">
                <a16:creationId xmlns:a16="http://schemas.microsoft.com/office/drawing/2014/main" id="{03FE0FC4-1B39-4114-286E-5F4EABB69D32}"/>
              </a:ext>
            </a:extLst>
          </p:cNvPr>
          <p:cNvSpPr/>
          <p:nvPr/>
        </p:nvSpPr>
        <p:spPr>
          <a:xfrm>
            <a:off x="757633" y="4945465"/>
            <a:ext cx="23376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Tree>
    <p:extLst>
      <p:ext uri="{BB962C8B-B14F-4D97-AF65-F5344CB8AC3E}">
        <p14:creationId xmlns:p14="http://schemas.microsoft.com/office/powerpoint/2010/main" val="14635304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EEF2486-B792-8FEA-E694-6AD484D70173}"/>
              </a:ext>
            </a:extLst>
          </p:cNvPr>
          <p:cNvPicPr>
            <a:picLocks noChangeAspect="1"/>
          </p:cNvPicPr>
          <p:nvPr/>
        </p:nvPicPr>
        <p:blipFill>
          <a:blip r:embed="rId2"/>
          <a:stretch>
            <a:fillRect/>
          </a:stretch>
        </p:blipFill>
        <p:spPr>
          <a:xfrm>
            <a:off x="810247" y="1073309"/>
            <a:ext cx="10921678" cy="4687220"/>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Val</a:t>
            </a:r>
            <a:r>
              <a:rPr lang="es-419" dirty="0"/>
              <a:t>idar los datos suplementarios</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21</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dirty="0"/>
              <a:t>STVVTYP Validación de código de tipo de visa</a:t>
            </a:r>
            <a:endParaRPr lang="es-CL" sz="2000" dirty="0"/>
          </a:p>
        </p:txBody>
      </p:sp>
      <p:sp>
        <p:nvSpPr>
          <p:cNvPr id="10" name="Rectángulo redondeado 5">
            <a:extLst>
              <a:ext uri="{FF2B5EF4-FFF2-40B4-BE49-F238E27FC236}">
                <a16:creationId xmlns:a16="http://schemas.microsoft.com/office/drawing/2014/main" id="{ACFB6BBF-F51C-3E17-0616-B3528CD6154A}"/>
              </a:ext>
            </a:extLst>
          </p:cNvPr>
          <p:cNvSpPr/>
          <p:nvPr/>
        </p:nvSpPr>
        <p:spPr>
          <a:xfrm>
            <a:off x="1461602" y="4394865"/>
            <a:ext cx="9472272" cy="123027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En los códigos de:</a:t>
            </a:r>
          </a:p>
          <a:p>
            <a:r>
              <a:rPr lang="es-ES_tradnl" sz="1400" dirty="0"/>
              <a:t>1.- Se ingresa “</a:t>
            </a:r>
            <a:r>
              <a:rPr lang="es-ES_tradnl" sz="1400" b="1" dirty="0"/>
              <a:t>Tipo de visa</a:t>
            </a:r>
            <a:r>
              <a:rPr lang="es-ES_tradnl" sz="1400" dirty="0"/>
              <a:t>” </a:t>
            </a:r>
          </a:p>
          <a:p>
            <a:r>
              <a:rPr lang="es-ES_tradnl" sz="1400" dirty="0"/>
              <a:t>2.- </a:t>
            </a:r>
            <a:r>
              <a:rPr lang="es-ES_tradnl" sz="1400" b="1" dirty="0"/>
              <a:t>Elemento de la solicitud de la lista de verificación de admisiones</a:t>
            </a:r>
            <a:r>
              <a:rPr lang="es-ES_tradnl" sz="1400" dirty="0"/>
              <a:t>, el código del requisito que va a cumplir cuando se ingrese la institución al aspirante.</a:t>
            </a:r>
          </a:p>
        </p:txBody>
      </p:sp>
      <p:sp>
        <p:nvSpPr>
          <p:cNvPr id="2" name="Rectángulo redondeado 23">
            <a:extLst>
              <a:ext uri="{FF2B5EF4-FFF2-40B4-BE49-F238E27FC236}">
                <a16:creationId xmlns:a16="http://schemas.microsoft.com/office/drawing/2014/main" id="{99EE8CBF-9FEA-8A7A-4265-D352213218E3}"/>
              </a:ext>
            </a:extLst>
          </p:cNvPr>
          <p:cNvSpPr/>
          <p:nvPr/>
        </p:nvSpPr>
        <p:spPr>
          <a:xfrm>
            <a:off x="576478" y="2527035"/>
            <a:ext cx="23376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7" name="Rectángulo redondeado 23">
            <a:extLst>
              <a:ext uri="{FF2B5EF4-FFF2-40B4-BE49-F238E27FC236}">
                <a16:creationId xmlns:a16="http://schemas.microsoft.com/office/drawing/2014/main" id="{6ACC020B-824E-D765-9E78-78C42EA641E0}"/>
              </a:ext>
            </a:extLst>
          </p:cNvPr>
          <p:cNvSpPr/>
          <p:nvPr/>
        </p:nvSpPr>
        <p:spPr>
          <a:xfrm>
            <a:off x="2468663" y="2527035"/>
            <a:ext cx="23376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Tree>
    <p:extLst>
      <p:ext uri="{BB962C8B-B14F-4D97-AF65-F5344CB8AC3E}">
        <p14:creationId xmlns:p14="http://schemas.microsoft.com/office/powerpoint/2010/main" val="37924885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6499878-E8AA-35F4-DA8D-F1F54D92EE72}"/>
              </a:ext>
            </a:extLst>
          </p:cNvPr>
          <p:cNvPicPr>
            <a:picLocks noChangeAspect="1"/>
          </p:cNvPicPr>
          <p:nvPr/>
        </p:nvPicPr>
        <p:blipFill>
          <a:blip r:embed="rId2"/>
          <a:stretch>
            <a:fillRect/>
          </a:stretch>
        </p:blipFill>
        <p:spPr>
          <a:xfrm>
            <a:off x="810247" y="1373806"/>
            <a:ext cx="10772301" cy="4615099"/>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Val</a:t>
            </a:r>
            <a:r>
              <a:rPr lang="es-419" dirty="0"/>
              <a:t>idar los datos suplementarios</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22</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dirty="0"/>
              <a:t>SAAADMS Solicitud de admisión</a:t>
            </a:r>
            <a:br>
              <a:rPr lang="es-419" sz="3000" dirty="0"/>
            </a:br>
            <a:r>
              <a:rPr lang="es-419" sz="2000" dirty="0"/>
              <a:t>Lista de verificación</a:t>
            </a:r>
            <a:endParaRPr lang="es-CL" sz="2000" dirty="0"/>
          </a:p>
        </p:txBody>
      </p:sp>
      <p:sp>
        <p:nvSpPr>
          <p:cNvPr id="10" name="Rectángulo redondeado 5">
            <a:extLst>
              <a:ext uri="{FF2B5EF4-FFF2-40B4-BE49-F238E27FC236}">
                <a16:creationId xmlns:a16="http://schemas.microsoft.com/office/drawing/2014/main" id="{ACFB6BBF-F51C-3E17-0616-B3528CD6154A}"/>
              </a:ext>
            </a:extLst>
          </p:cNvPr>
          <p:cNvSpPr/>
          <p:nvPr/>
        </p:nvSpPr>
        <p:spPr>
          <a:xfrm>
            <a:off x="1419699" y="4539840"/>
            <a:ext cx="9803966" cy="71717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1.- El aspirante tiene como requisitos en su lista de verificación un registro que depende del registro de la VISA.</a:t>
            </a:r>
          </a:p>
        </p:txBody>
      </p:sp>
      <p:sp>
        <p:nvSpPr>
          <p:cNvPr id="6" name="Rectángulo redondeado 23">
            <a:extLst>
              <a:ext uri="{FF2B5EF4-FFF2-40B4-BE49-F238E27FC236}">
                <a16:creationId xmlns:a16="http://schemas.microsoft.com/office/drawing/2014/main" id="{1DA7071B-775A-0C76-F52E-FD0EFC74AF66}"/>
              </a:ext>
            </a:extLst>
          </p:cNvPr>
          <p:cNvSpPr/>
          <p:nvPr/>
        </p:nvSpPr>
        <p:spPr>
          <a:xfrm>
            <a:off x="1419699" y="3343250"/>
            <a:ext cx="23376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Tree>
    <p:extLst>
      <p:ext uri="{BB962C8B-B14F-4D97-AF65-F5344CB8AC3E}">
        <p14:creationId xmlns:p14="http://schemas.microsoft.com/office/powerpoint/2010/main" val="16340440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E1A836E-39A4-A38F-4081-A1AAA86D9DD1}"/>
              </a:ext>
            </a:extLst>
          </p:cNvPr>
          <p:cNvPicPr>
            <a:picLocks noChangeAspect="1"/>
          </p:cNvPicPr>
          <p:nvPr/>
        </p:nvPicPr>
        <p:blipFill>
          <a:blip r:embed="rId2"/>
          <a:stretch>
            <a:fillRect/>
          </a:stretch>
        </p:blipFill>
        <p:spPr>
          <a:xfrm>
            <a:off x="722693" y="1313146"/>
            <a:ext cx="10938294" cy="4662598"/>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Val</a:t>
            </a:r>
            <a:r>
              <a:rPr lang="es-419" dirty="0"/>
              <a:t>idar los datos suplementarios</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23</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dirty="0"/>
              <a:t>GOAINTL Información internacional</a:t>
            </a:r>
            <a:br>
              <a:rPr lang="es-419" sz="3000" dirty="0"/>
            </a:br>
            <a:r>
              <a:rPr lang="es-419" sz="2000" dirty="0"/>
              <a:t>Visa</a:t>
            </a:r>
            <a:endParaRPr lang="es-CL" sz="2000" dirty="0"/>
          </a:p>
        </p:txBody>
      </p:sp>
      <p:sp>
        <p:nvSpPr>
          <p:cNvPr id="10" name="Rectángulo redondeado 5">
            <a:extLst>
              <a:ext uri="{FF2B5EF4-FFF2-40B4-BE49-F238E27FC236}">
                <a16:creationId xmlns:a16="http://schemas.microsoft.com/office/drawing/2014/main" id="{ACFB6BBF-F51C-3E17-0616-B3528CD6154A}"/>
              </a:ext>
            </a:extLst>
          </p:cNvPr>
          <p:cNvSpPr/>
          <p:nvPr/>
        </p:nvSpPr>
        <p:spPr>
          <a:xfrm>
            <a:off x="810246" y="5531223"/>
            <a:ext cx="10763189" cy="71717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Para que el registro se marque como cumplido en SAAADMS en la lista de verificación se deben ingresar el campo: </a:t>
            </a:r>
          </a:p>
          <a:p>
            <a:r>
              <a:rPr lang="es-ES_tradnl" sz="1400" dirty="0">
                <a:effectLst>
                  <a:outerShdw blurRad="38100" dist="38100" dir="2700000" algn="tl">
                    <a:srgbClr val="000000">
                      <a:alpha val="43137"/>
                    </a:srgbClr>
                  </a:outerShdw>
                </a:effectLst>
              </a:rPr>
              <a:t>1.- </a:t>
            </a:r>
            <a:r>
              <a:rPr lang="es-ES_tradnl" sz="1400" b="1" dirty="0">
                <a:effectLst>
                  <a:outerShdw blurRad="38100" dist="38100" dir="2700000" algn="tl">
                    <a:srgbClr val="000000">
                      <a:alpha val="43137"/>
                    </a:srgbClr>
                  </a:outerShdw>
                </a:effectLst>
              </a:rPr>
              <a:t>Tipo de visa.</a:t>
            </a:r>
            <a:r>
              <a:rPr lang="es-ES_tradnl" sz="1400" b="1" dirty="0"/>
              <a:t> </a:t>
            </a:r>
          </a:p>
        </p:txBody>
      </p:sp>
      <p:sp>
        <p:nvSpPr>
          <p:cNvPr id="7" name="Rectángulo redondeado 23">
            <a:extLst>
              <a:ext uri="{FF2B5EF4-FFF2-40B4-BE49-F238E27FC236}">
                <a16:creationId xmlns:a16="http://schemas.microsoft.com/office/drawing/2014/main" id="{AC83D200-2113-F3A8-80DE-E989D22ABCFE}"/>
              </a:ext>
            </a:extLst>
          </p:cNvPr>
          <p:cNvSpPr/>
          <p:nvPr/>
        </p:nvSpPr>
        <p:spPr>
          <a:xfrm>
            <a:off x="896870" y="2770174"/>
            <a:ext cx="23376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Tree>
    <p:extLst>
      <p:ext uri="{BB962C8B-B14F-4D97-AF65-F5344CB8AC3E}">
        <p14:creationId xmlns:p14="http://schemas.microsoft.com/office/powerpoint/2010/main" val="7276029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04C194E-E4BA-48F9-011B-E19DA3BD1495}"/>
              </a:ext>
            </a:extLst>
          </p:cNvPr>
          <p:cNvPicPr>
            <a:picLocks noChangeAspect="1"/>
          </p:cNvPicPr>
          <p:nvPr/>
        </p:nvPicPr>
        <p:blipFill>
          <a:blip r:embed="rId2"/>
          <a:stretch>
            <a:fillRect/>
          </a:stretch>
        </p:blipFill>
        <p:spPr>
          <a:xfrm>
            <a:off x="698740" y="1344888"/>
            <a:ext cx="11041811" cy="4756030"/>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Val</a:t>
            </a:r>
            <a:r>
              <a:rPr lang="es-419" dirty="0"/>
              <a:t>idar los datos suplementarios</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24</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dirty="0"/>
              <a:t>GOAINTL Información internacional</a:t>
            </a:r>
            <a:br>
              <a:rPr lang="es-419" sz="3000" dirty="0"/>
            </a:br>
            <a:r>
              <a:rPr lang="es-419" sz="2000" dirty="0"/>
              <a:t>Certificado de elegibilidad</a:t>
            </a:r>
            <a:endParaRPr lang="es-CL" sz="2000" dirty="0"/>
          </a:p>
        </p:txBody>
      </p:sp>
      <p:sp>
        <p:nvSpPr>
          <p:cNvPr id="10" name="Rectángulo redondeado 5">
            <a:extLst>
              <a:ext uri="{FF2B5EF4-FFF2-40B4-BE49-F238E27FC236}">
                <a16:creationId xmlns:a16="http://schemas.microsoft.com/office/drawing/2014/main" id="{ACFB6BBF-F51C-3E17-0616-B3528CD6154A}"/>
              </a:ext>
            </a:extLst>
          </p:cNvPr>
          <p:cNvSpPr/>
          <p:nvPr/>
        </p:nvSpPr>
        <p:spPr>
          <a:xfrm>
            <a:off x="1410882" y="4427596"/>
            <a:ext cx="8773026" cy="990430"/>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En la pestaña de “Certificación de elegibilidad” se deben ingresar los campos:</a:t>
            </a:r>
          </a:p>
          <a:p>
            <a:r>
              <a:rPr lang="es-ES_tradnl" sz="1400" dirty="0">
                <a:effectLst>
                  <a:outerShdw blurRad="38100" dist="38100" dir="2700000" algn="tl">
                    <a:srgbClr val="000000">
                      <a:alpha val="43137"/>
                    </a:srgbClr>
                  </a:outerShdw>
                </a:effectLst>
              </a:rPr>
              <a:t>1.- Fecha de recepción </a:t>
            </a:r>
          </a:p>
          <a:p>
            <a:r>
              <a:rPr lang="es-ES_tradnl" sz="1400" dirty="0">
                <a:effectLst>
                  <a:outerShdw blurRad="38100" dist="38100" dir="2700000" algn="tl">
                    <a:srgbClr val="000000">
                      <a:alpha val="43137"/>
                    </a:srgbClr>
                  </a:outerShdw>
                </a:effectLst>
              </a:rPr>
              <a:t>2.- Solicitud de admisión</a:t>
            </a:r>
            <a:endParaRPr lang="es-ES_tradnl" sz="1400" i="1" u="sng" dirty="0">
              <a:effectLst>
                <a:outerShdw blurRad="38100" dist="38100" dir="2700000" algn="tl">
                  <a:srgbClr val="000000">
                    <a:alpha val="43137"/>
                  </a:srgbClr>
                </a:outerShdw>
              </a:effectLst>
            </a:endParaRPr>
          </a:p>
          <a:p>
            <a:r>
              <a:rPr lang="es-ES_tradnl" sz="1400" dirty="0"/>
              <a:t>Del requisito que está cumpliendo. </a:t>
            </a:r>
          </a:p>
        </p:txBody>
      </p:sp>
      <p:sp>
        <p:nvSpPr>
          <p:cNvPr id="2" name="Rectángulo redondeado 23">
            <a:extLst>
              <a:ext uri="{FF2B5EF4-FFF2-40B4-BE49-F238E27FC236}">
                <a16:creationId xmlns:a16="http://schemas.microsoft.com/office/drawing/2014/main" id="{204BCE7B-7DE5-9FC3-DEDE-CA81E192DB57}"/>
              </a:ext>
            </a:extLst>
          </p:cNvPr>
          <p:cNvSpPr/>
          <p:nvPr/>
        </p:nvSpPr>
        <p:spPr>
          <a:xfrm>
            <a:off x="3140364" y="3689828"/>
            <a:ext cx="23376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6" name="Rectángulo redondeado 23">
            <a:extLst>
              <a:ext uri="{FF2B5EF4-FFF2-40B4-BE49-F238E27FC236}">
                <a16:creationId xmlns:a16="http://schemas.microsoft.com/office/drawing/2014/main" id="{6A6541DD-FFE8-ECF0-E63C-BAC915A37AC0}"/>
              </a:ext>
            </a:extLst>
          </p:cNvPr>
          <p:cNvSpPr/>
          <p:nvPr/>
        </p:nvSpPr>
        <p:spPr>
          <a:xfrm>
            <a:off x="3140364" y="3488121"/>
            <a:ext cx="23376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Tree>
    <p:extLst>
      <p:ext uri="{BB962C8B-B14F-4D97-AF65-F5344CB8AC3E}">
        <p14:creationId xmlns:p14="http://schemas.microsoft.com/office/powerpoint/2010/main" val="33789377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104DA6E-1FB8-069F-E663-ADDB0B6F1A14}"/>
              </a:ext>
            </a:extLst>
          </p:cNvPr>
          <p:cNvPicPr>
            <a:picLocks noChangeAspect="1"/>
          </p:cNvPicPr>
          <p:nvPr/>
        </p:nvPicPr>
        <p:blipFill>
          <a:blip r:embed="rId2"/>
          <a:stretch>
            <a:fillRect/>
          </a:stretch>
        </p:blipFill>
        <p:spPr>
          <a:xfrm>
            <a:off x="724619" y="1351616"/>
            <a:ext cx="11240219" cy="4820583"/>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Val</a:t>
            </a:r>
            <a:r>
              <a:rPr lang="es-419" dirty="0"/>
              <a:t>idar los datos suplementarios</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25</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dirty="0"/>
              <a:t>SAAADMS Solicitud de admisión</a:t>
            </a:r>
            <a:br>
              <a:rPr lang="es-419" sz="3000" dirty="0"/>
            </a:br>
            <a:r>
              <a:rPr lang="es-419" sz="2000" dirty="0"/>
              <a:t>Lista de verificación</a:t>
            </a:r>
            <a:endParaRPr lang="es-CL" sz="2000" dirty="0"/>
          </a:p>
        </p:txBody>
      </p:sp>
      <p:sp>
        <p:nvSpPr>
          <p:cNvPr id="10" name="Rectángulo redondeado 5">
            <a:extLst>
              <a:ext uri="{FF2B5EF4-FFF2-40B4-BE49-F238E27FC236}">
                <a16:creationId xmlns:a16="http://schemas.microsoft.com/office/drawing/2014/main" id="{ACFB6BBF-F51C-3E17-0616-B3528CD6154A}"/>
              </a:ext>
            </a:extLst>
          </p:cNvPr>
          <p:cNvSpPr/>
          <p:nvPr/>
        </p:nvSpPr>
        <p:spPr>
          <a:xfrm>
            <a:off x="810247" y="4675683"/>
            <a:ext cx="9050930" cy="71717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Al consultar la lista de verificación de la página SAAADMS ya se muestra el requisito como cumplido.</a:t>
            </a:r>
          </a:p>
        </p:txBody>
      </p:sp>
      <p:cxnSp>
        <p:nvCxnSpPr>
          <p:cNvPr id="7" name="Conector recto de flecha 6">
            <a:extLst>
              <a:ext uri="{FF2B5EF4-FFF2-40B4-BE49-F238E27FC236}">
                <a16:creationId xmlns:a16="http://schemas.microsoft.com/office/drawing/2014/main" id="{722F55D9-402C-AE85-822B-EE34DDB21DA4}"/>
              </a:ext>
            </a:extLst>
          </p:cNvPr>
          <p:cNvCxnSpPr>
            <a:stCxn id="10" idx="0"/>
          </p:cNvCxnSpPr>
          <p:nvPr/>
        </p:nvCxnSpPr>
        <p:spPr>
          <a:xfrm flipH="1" flipV="1">
            <a:off x="3989294" y="3621741"/>
            <a:ext cx="1346418" cy="10539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09096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DBE00-AD07-92F6-9A4C-EC0E328044D9}"/>
            </a:ext>
          </a:extLst>
        </p:cNvPr>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D93A35DF-0485-41C8-BAE2-7F951F4E32C0}"/>
              </a:ext>
            </a:extLst>
          </p:cNvPr>
          <p:cNvSpPr>
            <a:spLocks noGrp="1"/>
          </p:cNvSpPr>
          <p:nvPr>
            <p:ph type="body" orient="vert" sz="quarter" idx="10"/>
          </p:nvPr>
        </p:nvSpPr>
        <p:spPr/>
        <p:txBody>
          <a:bodyPr/>
          <a:lstStyle/>
          <a:p>
            <a:r>
              <a:rPr lang="es-419" dirty="0"/>
              <a:t>Validar los datos suplementarios</a:t>
            </a:r>
            <a:endParaRPr lang="en-US" dirty="0"/>
          </a:p>
          <a:p>
            <a:endParaRPr lang="en-US" dirty="0"/>
          </a:p>
        </p:txBody>
      </p:sp>
      <p:sp>
        <p:nvSpPr>
          <p:cNvPr id="16" name="Title 15">
            <a:extLst>
              <a:ext uri="{FF2B5EF4-FFF2-40B4-BE49-F238E27FC236}">
                <a16:creationId xmlns:a16="http://schemas.microsoft.com/office/drawing/2014/main" id="{EA0670FE-9037-8823-4E4F-801D7AFBB047}"/>
              </a:ext>
            </a:extLst>
          </p:cNvPr>
          <p:cNvSpPr>
            <a:spLocks noGrp="1"/>
          </p:cNvSpPr>
          <p:nvPr>
            <p:ph type="title"/>
          </p:nvPr>
        </p:nvSpPr>
        <p:spPr/>
        <p:txBody>
          <a:bodyPr/>
          <a:lstStyle/>
          <a:p>
            <a:r>
              <a:rPr lang="es-CL" dirty="0"/>
              <a:t>Otros documentos</a:t>
            </a:r>
            <a:endParaRPr lang="en-US" dirty="0"/>
          </a:p>
        </p:txBody>
      </p:sp>
      <p:sp>
        <p:nvSpPr>
          <p:cNvPr id="18" name="Slide Number Placeholder 17">
            <a:extLst>
              <a:ext uri="{FF2B5EF4-FFF2-40B4-BE49-F238E27FC236}">
                <a16:creationId xmlns:a16="http://schemas.microsoft.com/office/drawing/2014/main" id="{13C69654-FE7C-686B-ED9A-2261D172D7B9}"/>
              </a:ext>
            </a:extLst>
          </p:cNvPr>
          <p:cNvSpPr>
            <a:spLocks noGrp="1"/>
          </p:cNvSpPr>
          <p:nvPr>
            <p:ph type="sldNum" sz="quarter" idx="4"/>
          </p:nvPr>
        </p:nvSpPr>
        <p:spPr/>
        <p:txBody>
          <a:bodyPr/>
          <a:lstStyle/>
          <a:p>
            <a:fld id="{4A16F8ED-7337-F64C-865A-41A1F48E54DF}" type="slidenum">
              <a:rPr lang="en-US" smtClean="0"/>
              <a:pPr/>
              <a:t>26</a:t>
            </a:fld>
            <a:endParaRPr lang="en-US" dirty="0"/>
          </a:p>
        </p:txBody>
      </p:sp>
    </p:spTree>
    <p:extLst>
      <p:ext uri="{BB962C8B-B14F-4D97-AF65-F5344CB8AC3E}">
        <p14:creationId xmlns:p14="http://schemas.microsoft.com/office/powerpoint/2010/main" val="30543739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7D7678E-5CB4-64E8-75D6-370652828EA0}"/>
              </a:ext>
            </a:extLst>
          </p:cNvPr>
          <p:cNvPicPr>
            <a:picLocks noChangeAspect="1"/>
          </p:cNvPicPr>
          <p:nvPr/>
        </p:nvPicPr>
        <p:blipFill>
          <a:blip r:embed="rId2"/>
          <a:stretch>
            <a:fillRect/>
          </a:stretch>
        </p:blipFill>
        <p:spPr>
          <a:xfrm>
            <a:off x="810247" y="1255059"/>
            <a:ext cx="11082130" cy="4774286"/>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Val</a:t>
            </a:r>
            <a:r>
              <a:rPr lang="es-419" dirty="0"/>
              <a:t>idar los datos suplementarios</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27</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dirty="0"/>
              <a:t>SAAADMS Solicitud de admisión</a:t>
            </a:r>
            <a:br>
              <a:rPr lang="es-419" sz="3000" dirty="0"/>
            </a:br>
            <a:r>
              <a:rPr lang="es-419" sz="2000" dirty="0"/>
              <a:t>Lista de verificación</a:t>
            </a:r>
            <a:endParaRPr lang="es-CL" sz="2000" dirty="0"/>
          </a:p>
        </p:txBody>
      </p:sp>
      <p:sp>
        <p:nvSpPr>
          <p:cNvPr id="10" name="Rectángulo redondeado 5">
            <a:extLst>
              <a:ext uri="{FF2B5EF4-FFF2-40B4-BE49-F238E27FC236}">
                <a16:creationId xmlns:a16="http://schemas.microsoft.com/office/drawing/2014/main" id="{ACFB6BBF-F51C-3E17-0616-B3528CD6154A}"/>
              </a:ext>
            </a:extLst>
          </p:cNvPr>
          <p:cNvSpPr/>
          <p:nvPr/>
        </p:nvSpPr>
        <p:spPr>
          <a:xfrm>
            <a:off x="1016435" y="4678374"/>
            <a:ext cx="9732248" cy="92456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1.- Si hay otros requisitos que no depende de tablas de validación para marcar su cumplimiento se debe ingresar la fecha de recepción y esto da como cumplido el requisito.</a:t>
            </a:r>
          </a:p>
        </p:txBody>
      </p:sp>
      <p:sp>
        <p:nvSpPr>
          <p:cNvPr id="2" name="Rectángulo redondeado 23">
            <a:extLst>
              <a:ext uri="{FF2B5EF4-FFF2-40B4-BE49-F238E27FC236}">
                <a16:creationId xmlns:a16="http://schemas.microsoft.com/office/drawing/2014/main" id="{2E7A0F41-FDE2-5A74-46CD-022B1322924B}"/>
              </a:ext>
            </a:extLst>
          </p:cNvPr>
          <p:cNvSpPr/>
          <p:nvPr/>
        </p:nvSpPr>
        <p:spPr>
          <a:xfrm>
            <a:off x="4167412" y="3153301"/>
            <a:ext cx="23376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Tree>
    <p:extLst>
      <p:ext uri="{BB962C8B-B14F-4D97-AF65-F5344CB8AC3E}">
        <p14:creationId xmlns:p14="http://schemas.microsoft.com/office/powerpoint/2010/main" val="3837169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Val</a:t>
            </a:r>
            <a:r>
              <a:rPr lang="es-419" dirty="0"/>
              <a:t>idar los datos suplementarios</a:t>
            </a:r>
            <a:endParaRPr lang="en-US"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a:xfrm>
            <a:off x="984827" y="258335"/>
            <a:ext cx="7092820" cy="1628192"/>
          </a:xfrm>
        </p:spPr>
        <p:txBody>
          <a:bodyPr/>
          <a:lstStyle/>
          <a:p>
            <a:r>
              <a:rPr lang="en-US" sz="3600" dirty="0"/>
              <a:t>RESUMEN</a:t>
            </a:r>
          </a:p>
        </p:txBody>
      </p:sp>
      <p:sp>
        <p:nvSpPr>
          <p:cNvPr id="2" name="Text Placeholder 4">
            <a:extLst>
              <a:ext uri="{FF2B5EF4-FFF2-40B4-BE49-F238E27FC236}">
                <a16:creationId xmlns:a16="http://schemas.microsoft.com/office/drawing/2014/main" id="{5E636CD3-9D55-E7D6-7F08-EB5DED1D28F1}"/>
              </a:ext>
            </a:extLst>
          </p:cNvPr>
          <p:cNvSpPr>
            <a:spLocks noGrp="1"/>
          </p:cNvSpPr>
          <p:nvPr>
            <p:ph type="body" sz="quarter" idx="18"/>
          </p:nvPr>
        </p:nvSpPr>
        <p:spPr>
          <a:xfrm>
            <a:off x="984826" y="2008765"/>
            <a:ext cx="10687221" cy="4022580"/>
          </a:xfrm>
        </p:spPr>
        <p:txBody>
          <a:bodyPr/>
          <a:lstStyle/>
          <a:p>
            <a:pPr marL="0" indent="0">
              <a:buNone/>
            </a:pPr>
            <a:r>
              <a:rPr lang="es-419" sz="2000" dirty="0"/>
              <a:t>Validar los datos suplementarios</a:t>
            </a:r>
          </a:p>
          <a:p>
            <a:pPr marL="342900" indent="-342900" algn="just">
              <a:buClr>
                <a:srgbClr val="0CB4B4"/>
              </a:buClr>
              <a:buFont typeface="Wingdings" panose="05000000000000000000" pitchFamily="2" charset="2"/>
              <a:buChar char="q"/>
            </a:pPr>
            <a:r>
              <a:rPr lang="es-ES_tradnl" dirty="0"/>
              <a:t>Cuando un requisito está vinculado con una institución, se puede registrar la recepción del historial académico del postulante en SOAHSCH (colegio) o SOAPCOL (universidad).</a:t>
            </a:r>
          </a:p>
          <a:p>
            <a:pPr marL="342900" indent="-342900" algn="just">
              <a:buClr>
                <a:srgbClr val="0CB4B4"/>
              </a:buClr>
              <a:buFont typeface="Wingdings" panose="05000000000000000000" pitchFamily="2" charset="2"/>
              <a:buChar char="q"/>
            </a:pPr>
            <a:r>
              <a:rPr lang="es-ES_tradnl" dirty="0"/>
              <a:t>Cuando un requisito está vinculado con un tipo de visa, se puede registrar la recepción de la visa en GOAINTL.</a:t>
            </a:r>
          </a:p>
          <a:p>
            <a:pPr marL="342900" indent="-342900" algn="just">
              <a:buClr>
                <a:srgbClr val="0CB4B4"/>
              </a:buClr>
              <a:buFont typeface="Wingdings" panose="05000000000000000000" pitchFamily="2" charset="2"/>
              <a:buChar char="q"/>
            </a:pPr>
            <a:r>
              <a:rPr lang="es-ES_tradnl" dirty="0"/>
              <a:t>La fecha de recepción de cualquier otro documento está registrada directamente en SAAADMS, una vez que ha sido recibido y validado.</a:t>
            </a:r>
          </a:p>
        </p:txBody>
      </p:sp>
      <p:sp>
        <p:nvSpPr>
          <p:cNvPr id="18" name="Slide Number Placeholder 17">
            <a:extLst>
              <a:ext uri="{FF2B5EF4-FFF2-40B4-BE49-F238E27FC236}">
                <a16:creationId xmlns:a16="http://schemas.microsoft.com/office/drawing/2014/main" id="{585CE95F-9E93-A1EC-A586-CDA89C427210}"/>
              </a:ext>
            </a:extLst>
          </p:cNvPr>
          <p:cNvSpPr>
            <a:spLocks noGrp="1"/>
          </p:cNvSpPr>
          <p:nvPr>
            <p:ph type="sldNum" sz="quarter" idx="4"/>
          </p:nvPr>
        </p:nvSpPr>
        <p:spPr/>
        <p:txBody>
          <a:bodyPr/>
          <a:lstStyle/>
          <a:p>
            <a:fld id="{4A16F8ED-7337-F64C-865A-41A1F48E54DF}" type="slidenum">
              <a:rPr lang="en-US" smtClean="0"/>
              <a:pPr/>
              <a:t>28</a:t>
            </a:fld>
            <a:endParaRPr lang="en-US" dirty="0"/>
          </a:p>
        </p:txBody>
      </p:sp>
    </p:spTree>
    <p:extLst>
      <p:ext uri="{BB962C8B-B14F-4D97-AF65-F5344CB8AC3E}">
        <p14:creationId xmlns:p14="http://schemas.microsoft.com/office/powerpoint/2010/main" val="31134856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Marcador de texto 12">
            <a:extLst>
              <a:ext uri="{FF2B5EF4-FFF2-40B4-BE49-F238E27FC236}">
                <a16:creationId xmlns:a16="http://schemas.microsoft.com/office/drawing/2014/main" id="{A4B0D3FF-2F8B-8FC5-7AC2-84CC61ED8977}"/>
              </a:ext>
            </a:extLst>
          </p:cNvPr>
          <p:cNvSpPr>
            <a:spLocks noGrp="1"/>
          </p:cNvSpPr>
          <p:nvPr>
            <p:ph type="body" sz="quarter" idx="10"/>
          </p:nvPr>
        </p:nvSpPr>
        <p:spPr>
          <a:xfrm>
            <a:off x="914399" y="2238843"/>
            <a:ext cx="10363202" cy="669094"/>
          </a:xfrm>
        </p:spPr>
        <p:txBody>
          <a:bodyPr/>
          <a:lstStyle/>
          <a:p>
            <a:r>
              <a:rPr lang="es-419" noProof="0" dirty="0"/>
              <a:t>MUCHAS GRACIAS</a:t>
            </a:r>
          </a:p>
        </p:txBody>
      </p:sp>
      <p:sp>
        <p:nvSpPr>
          <p:cNvPr id="5" name="Marcador de texto 4">
            <a:extLst>
              <a:ext uri="{FF2B5EF4-FFF2-40B4-BE49-F238E27FC236}">
                <a16:creationId xmlns:a16="http://schemas.microsoft.com/office/drawing/2014/main" id="{826401A9-DE11-DDDF-9F42-FAAE12FE6B9F}"/>
              </a:ext>
            </a:extLst>
          </p:cNvPr>
          <p:cNvSpPr>
            <a:spLocks noGrp="1"/>
          </p:cNvSpPr>
          <p:nvPr>
            <p:ph type="body" sz="quarter" idx="11"/>
          </p:nvPr>
        </p:nvSpPr>
        <p:spPr>
          <a:xfrm>
            <a:off x="1229043" y="4584074"/>
            <a:ext cx="10363202" cy="324961"/>
          </a:xfrm>
        </p:spPr>
        <p:txBody>
          <a:bodyPr/>
          <a:lstStyle/>
          <a:p>
            <a:pPr algn="l"/>
            <a:r>
              <a:rPr lang="es-419" sz="2000" noProof="0" dirty="0"/>
              <a:t>Sergio Molina</a:t>
            </a:r>
          </a:p>
        </p:txBody>
      </p:sp>
      <p:pic>
        <p:nvPicPr>
          <p:cNvPr id="8" name="Graphic 7" descr="User with solid fill">
            <a:extLst>
              <a:ext uri="{FF2B5EF4-FFF2-40B4-BE49-F238E27FC236}">
                <a16:creationId xmlns:a16="http://schemas.microsoft.com/office/drawing/2014/main" id="{C726B198-B5C8-1C5D-4D10-BFFD13AADE3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4490" y="4609395"/>
            <a:ext cx="274320" cy="274320"/>
          </a:xfrm>
          <a:prstGeom prst="rect">
            <a:avLst/>
          </a:prstGeom>
        </p:spPr>
      </p:pic>
      <p:pic>
        <p:nvPicPr>
          <p:cNvPr id="9" name="Graphic 8" descr="Email with solid fill">
            <a:extLst>
              <a:ext uri="{FF2B5EF4-FFF2-40B4-BE49-F238E27FC236}">
                <a16:creationId xmlns:a16="http://schemas.microsoft.com/office/drawing/2014/main" id="{DD7F5D3F-15A6-F216-AF41-EA0DCDE6B37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3543" y="4985033"/>
            <a:ext cx="274320" cy="274320"/>
          </a:xfrm>
          <a:prstGeom prst="rect">
            <a:avLst/>
          </a:prstGeom>
        </p:spPr>
      </p:pic>
      <p:sp>
        <p:nvSpPr>
          <p:cNvPr id="11" name="Marcador de texto 4">
            <a:extLst>
              <a:ext uri="{FF2B5EF4-FFF2-40B4-BE49-F238E27FC236}">
                <a16:creationId xmlns:a16="http://schemas.microsoft.com/office/drawing/2014/main" id="{88780A86-7F59-00BD-9B1E-C1DFAC865719}"/>
              </a:ext>
            </a:extLst>
          </p:cNvPr>
          <p:cNvSpPr txBox="1">
            <a:spLocks/>
          </p:cNvSpPr>
          <p:nvPr/>
        </p:nvSpPr>
        <p:spPr>
          <a:xfrm>
            <a:off x="1229043" y="4959712"/>
            <a:ext cx="5334046" cy="324961"/>
          </a:xfrm>
          <a:prstGeom prst="rect">
            <a:avLst/>
          </a:prstGeom>
        </p:spPr>
        <p:txBody>
          <a:bodyPr vert="horz" wrap="square" lIns="0" tIns="0" rIns="0" bIns="0" rtlCol="0">
            <a:spAutoFit/>
          </a:bodyPr>
          <a:lstStyle>
            <a:lvl1pPr marL="0" indent="0" algn="l" defTabSz="914400" rtl="0" eaLnBrk="1" latinLnBrk="0" hangingPunct="1">
              <a:lnSpc>
                <a:spcPct val="110000"/>
              </a:lnSpc>
              <a:spcBef>
                <a:spcPts val="0"/>
              </a:spcBef>
              <a:spcAft>
                <a:spcPts val="600"/>
              </a:spcAft>
              <a:buFont typeface="Arial" panose="020B0604020202020204" pitchFamily="34" charset="0"/>
              <a:buNone/>
              <a:defRPr sz="2000" b="0" kern="1200">
                <a:solidFill>
                  <a:schemeClr val="bg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419" noProof="0" dirty="0"/>
              <a:t>Consultor</a:t>
            </a:r>
          </a:p>
        </p:txBody>
      </p:sp>
    </p:spTree>
    <p:extLst>
      <p:ext uri="{BB962C8B-B14F-4D97-AF65-F5344CB8AC3E}">
        <p14:creationId xmlns:p14="http://schemas.microsoft.com/office/powerpoint/2010/main" val="149292278"/>
      </p:ext>
    </p:extLst>
  </p:cSld>
  <p:clrMapOvr>
    <a:masterClrMapping/>
  </p:clrMapOvr>
</p:sld>
</file>

<file path=ppt/theme/theme1.xml><?xml version="1.0" encoding="utf-8"?>
<a:theme xmlns:a="http://schemas.openxmlformats.org/drawingml/2006/main" name="Ellucian Main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Ellucian Blank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Ellucian-PPT-Template-2026</Template>
  <TotalTime>7596</TotalTime>
  <Words>1497</Words>
  <Application>Microsoft Office PowerPoint</Application>
  <PresentationFormat>Widescreen</PresentationFormat>
  <Paragraphs>181</Paragraphs>
  <Slides>29</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29</vt:i4>
      </vt:variant>
    </vt:vector>
  </HeadingPairs>
  <TitlesOfParts>
    <vt:vector size="38" baseType="lpstr">
      <vt:lpstr>Aptos</vt:lpstr>
      <vt:lpstr>Aptos Display</vt:lpstr>
      <vt:lpstr>Arial</vt:lpstr>
      <vt:lpstr>Calibri</vt:lpstr>
      <vt:lpstr>Courier New</vt:lpstr>
      <vt:lpstr>Helvetica Neue</vt:lpstr>
      <vt:lpstr>Wingdings</vt:lpstr>
      <vt:lpstr>Ellucian Main Layouts</vt:lpstr>
      <vt:lpstr>Ellucian Blank Layouts</vt:lpstr>
      <vt:lpstr>PowerPoint Presentation</vt:lpstr>
      <vt:lpstr>PowerPoint Presentation</vt:lpstr>
      <vt:lpstr>Overview</vt:lpstr>
      <vt:lpstr>Overview: Mapa de capacidades</vt:lpstr>
      <vt:lpstr>Overview: Macroproceso Gestionar la admisión de los estudiantes</vt:lpstr>
      <vt:lpstr>Overview: Proceso validar los datos suplementarios</vt:lpstr>
      <vt:lpstr>PowerPoint Presentation</vt:lpstr>
      <vt:lpstr>PowerPoint Presentation</vt:lpstr>
      <vt:lpstr>VALIDAR DOCUMENTOS</vt:lpstr>
      <vt:lpstr>Historia Académico</vt:lpstr>
      <vt:lpstr>Configuraciones: STVADMR Validación del código de revisión de la solicitud de admisión</vt:lpstr>
      <vt:lpstr>Configuraciones: STVADMR Validación del código de revisión de la solicitud de admisión</vt:lpstr>
      <vt:lpstr>Configuraciones: STVADMR Validación del código de revisión de la solicitud de admisión</vt:lpstr>
      <vt:lpstr>Configuraciones: STVSBGI Validación de código de institución fuente/origen</vt:lpstr>
      <vt:lpstr>Configuraciones: SAAADMS Solicitud de admisión Lista de verificación</vt:lpstr>
      <vt:lpstr>Configuraciones: SOAHSCH Información de bachillerato</vt:lpstr>
      <vt:lpstr>Configuraciones: SOAPCOL Escuela anterior</vt:lpstr>
      <vt:lpstr>Configuraciones: SAAADMS Solicitud de admisión Lista de verificación</vt:lpstr>
      <vt:lpstr>Visas</vt:lpstr>
      <vt:lpstr>Configuraciones: STVADMR Validación del código de revisión de la solicitud de admisión</vt:lpstr>
      <vt:lpstr>Configuraciones: STVVTYP Validación de código de tipo de visa</vt:lpstr>
      <vt:lpstr>Configuraciones: SAAADMS Solicitud de admisión Lista de verificación</vt:lpstr>
      <vt:lpstr>Configuraciones: GOAINTL Información internacional Visa</vt:lpstr>
      <vt:lpstr>Configuraciones: GOAINTL Información internacional Certificado de elegibilidad</vt:lpstr>
      <vt:lpstr>Configuraciones: SAAADMS Solicitud de admisión Lista de verificación</vt:lpstr>
      <vt:lpstr>Otros documentos</vt:lpstr>
      <vt:lpstr>Configuraciones: SAAADMS Solicitud de admisión Lista de verificación</vt:lpstr>
      <vt:lpstr>RESUMEN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Gestionar conceptos de cobro y pago</dc:title>
  <dc:creator>Mardones, Francisco</dc:creator>
  <cp:lastModifiedBy>Molina, Sergio</cp:lastModifiedBy>
  <cp:revision>656</cp:revision>
  <dcterms:created xsi:type="dcterms:W3CDTF">2023-07-17T20:07:38Z</dcterms:created>
  <dcterms:modified xsi:type="dcterms:W3CDTF">2026-06-24T21:22:17Z</dcterms:modified>
</cp:coreProperties>
</file>
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8" r:id="rId2"/>
  </p:sldMasterIdLst>
  <p:notesMasterIdLst>
    <p:notesMasterId r:id="rId93"/>
  </p:notesMasterIdLst>
  <p:sldIdLst>
    <p:sldId id="738" r:id="rId3"/>
    <p:sldId id="423" r:id="rId4"/>
    <p:sldId id="476" r:id="rId5"/>
    <p:sldId id="523" r:id="rId6"/>
    <p:sldId id="350" r:id="rId7"/>
    <p:sldId id="421" r:id="rId8"/>
    <p:sldId id="352" r:id="rId9"/>
    <p:sldId id="1697" r:id="rId10"/>
    <p:sldId id="1654" r:id="rId11"/>
    <p:sldId id="1655" r:id="rId12"/>
    <p:sldId id="1656" r:id="rId13"/>
    <p:sldId id="1658" r:id="rId14"/>
    <p:sldId id="1659" r:id="rId15"/>
    <p:sldId id="1708" r:id="rId16"/>
    <p:sldId id="1709" r:id="rId17"/>
    <p:sldId id="1660" r:id="rId18"/>
    <p:sldId id="1711" r:id="rId19"/>
    <p:sldId id="1710" r:id="rId20"/>
    <p:sldId id="1700" r:id="rId21"/>
    <p:sldId id="1661" r:id="rId22"/>
    <p:sldId id="1712" r:id="rId23"/>
    <p:sldId id="586" r:id="rId24"/>
    <p:sldId id="1672" r:id="rId25"/>
    <p:sldId id="1673" r:id="rId26"/>
    <p:sldId id="1674" r:id="rId27"/>
    <p:sldId id="1713" r:id="rId28"/>
    <p:sldId id="1675" r:id="rId29"/>
    <p:sldId id="1676" r:id="rId30"/>
    <p:sldId id="1677" r:id="rId31"/>
    <p:sldId id="1725" r:id="rId32"/>
    <p:sldId id="1662" r:id="rId33"/>
    <p:sldId id="1693" r:id="rId34"/>
    <p:sldId id="1694" r:id="rId35"/>
    <p:sldId id="1692" r:id="rId36"/>
    <p:sldId id="1701" r:id="rId37"/>
    <p:sldId id="1670" r:id="rId38"/>
    <p:sldId id="1684" r:id="rId39"/>
    <p:sldId id="1685" r:id="rId40"/>
    <p:sldId id="1683" r:id="rId41"/>
    <p:sldId id="1716" r:id="rId42"/>
    <p:sldId id="1702" r:id="rId43"/>
    <p:sldId id="588" r:id="rId44"/>
    <p:sldId id="1686" r:id="rId45"/>
    <p:sldId id="1703" r:id="rId46"/>
    <p:sldId id="1680" r:id="rId47"/>
    <p:sldId id="1696" r:id="rId48"/>
    <p:sldId id="590" r:id="rId49"/>
    <p:sldId id="1704" r:id="rId50"/>
    <p:sldId id="514" r:id="rId51"/>
    <p:sldId id="1688" r:id="rId52"/>
    <p:sldId id="1687" r:id="rId53"/>
    <p:sldId id="592" r:id="rId54"/>
    <p:sldId id="593" r:id="rId55"/>
    <p:sldId id="594" r:id="rId56"/>
    <p:sldId id="595" r:id="rId57"/>
    <p:sldId id="598" r:id="rId58"/>
    <p:sldId id="599" r:id="rId59"/>
    <p:sldId id="600" r:id="rId60"/>
    <p:sldId id="601" r:id="rId61"/>
    <p:sldId id="604" r:id="rId62"/>
    <p:sldId id="1642" r:id="rId63"/>
    <p:sldId id="1641" r:id="rId64"/>
    <p:sldId id="1644" r:id="rId65"/>
    <p:sldId id="1646" r:id="rId66"/>
    <p:sldId id="1647" r:id="rId67"/>
    <p:sldId id="1648" r:id="rId68"/>
    <p:sldId id="602" r:id="rId69"/>
    <p:sldId id="603" r:id="rId70"/>
    <p:sldId id="1705" r:id="rId71"/>
    <p:sldId id="1651" r:id="rId72"/>
    <p:sldId id="1652" r:id="rId73"/>
    <p:sldId id="1706" r:id="rId74"/>
    <p:sldId id="1631" r:id="rId75"/>
    <p:sldId id="1633" r:id="rId76"/>
    <p:sldId id="1634" r:id="rId77"/>
    <p:sldId id="1635" r:id="rId78"/>
    <p:sldId id="1636" r:id="rId79"/>
    <p:sldId id="1638" r:id="rId80"/>
    <p:sldId id="1637" r:id="rId81"/>
    <p:sldId id="1639" r:id="rId82"/>
    <p:sldId id="345" r:id="rId83"/>
    <p:sldId id="1717" r:id="rId84"/>
    <p:sldId id="1720" r:id="rId85"/>
    <p:sldId id="1721" r:id="rId86"/>
    <p:sldId id="1722" r:id="rId87"/>
    <p:sldId id="1723" r:id="rId88"/>
    <p:sldId id="1724" r:id="rId89"/>
    <p:sldId id="1718" r:id="rId90"/>
    <p:sldId id="1719" r:id="rId91"/>
    <p:sldId id="1303" r:id="rId9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1B79"/>
    <a:srgbClr val="8A00B0"/>
    <a:srgbClr val="365A7B"/>
    <a:srgbClr val="33CCCC"/>
    <a:srgbClr val="0CA8B4"/>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866CC3-1104-4413-ABBD-99F96AC965F9}" v="70" dt="2024-10-22T14:25:06.03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25E5076-3810-47DD-B79F-674D7AD40C01}" styleName="Estilo oscuro 1 - Énfasis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4660"/>
  </p:normalViewPr>
  <p:slideViewPr>
    <p:cSldViewPr snapToGrid="0">
      <p:cViewPr varScale="1">
        <p:scale>
          <a:sx n="111" d="100"/>
          <a:sy n="111" d="100"/>
        </p:scale>
        <p:origin x="402" y="78"/>
      </p:cViewPr>
      <p:guideLst/>
    </p:cSldViewPr>
  </p:slideViewPr>
  <p:notesTextViewPr>
    <p:cViewPr>
      <p:scale>
        <a:sx n="1" d="1"/>
        <a:sy n="1" d="1"/>
      </p:scale>
      <p:origin x="0" y="0"/>
    </p:cViewPr>
  </p:notesTextViewPr>
  <p:sorterViewPr>
    <p:cViewPr>
      <p:scale>
        <a:sx n="100" d="100"/>
        <a:sy n="100" d="100"/>
      </p:scale>
      <p:origin x="0" y="-1445"/>
    </p:cViewPr>
  </p:sorter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viewProps" Target="view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presProps" Target="presProps.xml"/><Relationship Id="rId99" Type="http://schemas.microsoft.com/office/2018/10/relationships/authors" Targe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notesMaster" Target="notesMasters/notesMaster1.xml"/><Relationship Id="rId9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23-07-2026</a:t>
            </a:fld>
            <a:endParaRPr lang="es-CL"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‹Nº›</a:t>
            </a:fld>
            <a:endParaRPr lang="es-CL" dirty="0"/>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a:lstStyle/>
          <a:p>
            <a:endParaRPr lang="es-ES_tradnl" dirty="0"/>
          </a:p>
        </p:txBody>
      </p:sp>
      <p:sp>
        <p:nvSpPr>
          <p:cNvPr id="4" name="Marcador de posición de número de diapositiva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41D2A-E99A-2F4F-B8C9-28142709F87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85433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7CBAD-E175-0CD4-3A46-1EDD7F916A5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C95EEC0-0910-1BC0-E0BF-0F43F2F79CC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2B46FFF-D627-B017-F9E1-564F1E45036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00FB765-6CE3-EC37-78C8-67C3E50EC6F3}"/>
              </a:ext>
            </a:extLst>
          </p:cNvPr>
          <p:cNvSpPr>
            <a:spLocks noGrp="1"/>
          </p:cNvSpPr>
          <p:nvPr>
            <p:ph type="sldNum" sz="quarter" idx="5"/>
          </p:nvPr>
        </p:nvSpPr>
        <p:spPr/>
        <p:txBody>
          <a:bodyPr/>
          <a:lstStyle/>
          <a:p>
            <a:fld id="{CF541D2A-E99A-2F4F-B8C9-28142709F87F}" type="slidenum">
              <a:rPr lang="en-US" smtClean="0"/>
              <a:pPr/>
              <a:t>73</a:t>
            </a:fld>
            <a:endParaRPr lang="en-US"/>
          </a:p>
        </p:txBody>
      </p:sp>
    </p:spTree>
    <p:extLst>
      <p:ext uri="{BB962C8B-B14F-4D97-AF65-F5344CB8AC3E}">
        <p14:creationId xmlns:p14="http://schemas.microsoft.com/office/powerpoint/2010/main" val="3983547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3118F-4FFB-2307-3F3F-E2F93EFD132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DA2EA2-91CF-DCBF-8EB5-1360201D39C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064C706-BD2E-FAAE-042D-3685DABAABFB}"/>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21A839F-0496-C56F-B2F4-E51822639292}"/>
              </a:ext>
            </a:extLst>
          </p:cNvPr>
          <p:cNvSpPr>
            <a:spLocks noGrp="1"/>
          </p:cNvSpPr>
          <p:nvPr>
            <p:ph type="sldNum" sz="quarter" idx="5"/>
          </p:nvPr>
        </p:nvSpPr>
        <p:spPr/>
        <p:txBody>
          <a:bodyPr/>
          <a:lstStyle/>
          <a:p>
            <a:fld id="{CF541D2A-E99A-2F4F-B8C9-28142709F87F}" type="slidenum">
              <a:rPr lang="en-US" smtClean="0"/>
              <a:pPr/>
              <a:t>74</a:t>
            </a:fld>
            <a:endParaRPr lang="en-US"/>
          </a:p>
        </p:txBody>
      </p:sp>
    </p:spTree>
    <p:extLst>
      <p:ext uri="{BB962C8B-B14F-4D97-AF65-F5344CB8AC3E}">
        <p14:creationId xmlns:p14="http://schemas.microsoft.com/office/powerpoint/2010/main" val="39871442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1044B-ABED-CED3-6E0F-BD96847E358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7792606-EA0E-D96F-EC48-C02BA21526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A6BA21D-2ABA-DA8E-DD37-96CA1B5BF6D9}"/>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21FD5AF-3640-3C73-A88A-8F6B9E394835}"/>
              </a:ext>
            </a:extLst>
          </p:cNvPr>
          <p:cNvSpPr>
            <a:spLocks noGrp="1"/>
          </p:cNvSpPr>
          <p:nvPr>
            <p:ph type="sldNum" sz="quarter" idx="5"/>
          </p:nvPr>
        </p:nvSpPr>
        <p:spPr/>
        <p:txBody>
          <a:bodyPr/>
          <a:lstStyle/>
          <a:p>
            <a:fld id="{CF541D2A-E99A-2F4F-B8C9-28142709F87F}" type="slidenum">
              <a:rPr lang="en-US" smtClean="0"/>
              <a:pPr/>
              <a:t>75</a:t>
            </a:fld>
            <a:endParaRPr lang="en-US"/>
          </a:p>
        </p:txBody>
      </p:sp>
    </p:spTree>
    <p:extLst>
      <p:ext uri="{BB962C8B-B14F-4D97-AF65-F5344CB8AC3E}">
        <p14:creationId xmlns:p14="http://schemas.microsoft.com/office/powerpoint/2010/main" val="472017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062E5-C5D2-E07E-AE01-F9769E4FBD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44F442C-F2F8-9AFC-B31E-5142C98CAAB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B9B2121-AC84-4594-FB4F-98F9CD87982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BDEA3B9D-A52A-69B2-9FF4-EE2227EB3BFC}"/>
              </a:ext>
            </a:extLst>
          </p:cNvPr>
          <p:cNvSpPr>
            <a:spLocks noGrp="1"/>
          </p:cNvSpPr>
          <p:nvPr>
            <p:ph type="sldNum" sz="quarter" idx="5"/>
          </p:nvPr>
        </p:nvSpPr>
        <p:spPr/>
        <p:txBody>
          <a:bodyPr/>
          <a:lstStyle/>
          <a:p>
            <a:fld id="{CF541D2A-E99A-2F4F-B8C9-28142709F87F}" type="slidenum">
              <a:rPr lang="en-US" smtClean="0"/>
              <a:pPr/>
              <a:t>76</a:t>
            </a:fld>
            <a:endParaRPr lang="en-US"/>
          </a:p>
        </p:txBody>
      </p:sp>
    </p:spTree>
    <p:extLst>
      <p:ext uri="{BB962C8B-B14F-4D97-AF65-F5344CB8AC3E}">
        <p14:creationId xmlns:p14="http://schemas.microsoft.com/office/powerpoint/2010/main" val="2055281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30816-09BD-9668-C087-50669C2FB8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B78AA02-2B85-B6F8-ECB3-6AFD734260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A11842A-34A1-9A1E-CA73-60836C3BAE0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39DD0B4-D400-37B5-2444-13A7A731553B}"/>
              </a:ext>
            </a:extLst>
          </p:cNvPr>
          <p:cNvSpPr>
            <a:spLocks noGrp="1"/>
          </p:cNvSpPr>
          <p:nvPr>
            <p:ph type="sldNum" sz="quarter" idx="5"/>
          </p:nvPr>
        </p:nvSpPr>
        <p:spPr/>
        <p:txBody>
          <a:bodyPr/>
          <a:lstStyle/>
          <a:p>
            <a:fld id="{CF541D2A-E99A-2F4F-B8C9-28142709F87F}" type="slidenum">
              <a:rPr lang="en-US" smtClean="0"/>
              <a:pPr/>
              <a:t>77</a:t>
            </a:fld>
            <a:endParaRPr lang="en-US"/>
          </a:p>
        </p:txBody>
      </p:sp>
    </p:spTree>
    <p:extLst>
      <p:ext uri="{BB962C8B-B14F-4D97-AF65-F5344CB8AC3E}">
        <p14:creationId xmlns:p14="http://schemas.microsoft.com/office/powerpoint/2010/main" val="6755739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B5767-AD87-5DCA-4E6A-7F3455DD76B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A7BCEDE-AAC8-B1D4-6A4C-CA02C4C99B3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423E3A4-6504-2E2D-5974-5542512F315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C08F692-273D-BDDF-7271-8FBF8E691479}"/>
              </a:ext>
            </a:extLst>
          </p:cNvPr>
          <p:cNvSpPr>
            <a:spLocks noGrp="1"/>
          </p:cNvSpPr>
          <p:nvPr>
            <p:ph type="sldNum" sz="quarter" idx="5"/>
          </p:nvPr>
        </p:nvSpPr>
        <p:spPr/>
        <p:txBody>
          <a:bodyPr/>
          <a:lstStyle/>
          <a:p>
            <a:fld id="{CF541D2A-E99A-2F4F-B8C9-28142709F87F}" type="slidenum">
              <a:rPr lang="en-US" smtClean="0"/>
              <a:pPr/>
              <a:t>78</a:t>
            </a:fld>
            <a:endParaRPr lang="en-US"/>
          </a:p>
        </p:txBody>
      </p:sp>
    </p:spTree>
    <p:extLst>
      <p:ext uri="{BB962C8B-B14F-4D97-AF65-F5344CB8AC3E}">
        <p14:creationId xmlns:p14="http://schemas.microsoft.com/office/powerpoint/2010/main" val="2928198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6E769-5D41-3BE4-31CB-25D176B5BC4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27EF9F7-B598-0B3E-5D12-D04F2552677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844AD77-1FCE-2150-B3BC-04B09E3B661C}"/>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E5D391E3-6309-A187-22A9-BEA8D8823B96}"/>
              </a:ext>
            </a:extLst>
          </p:cNvPr>
          <p:cNvSpPr>
            <a:spLocks noGrp="1"/>
          </p:cNvSpPr>
          <p:nvPr>
            <p:ph type="sldNum" sz="quarter" idx="5"/>
          </p:nvPr>
        </p:nvSpPr>
        <p:spPr/>
        <p:txBody>
          <a:bodyPr/>
          <a:lstStyle/>
          <a:p>
            <a:fld id="{CF541D2A-E99A-2F4F-B8C9-28142709F87F}" type="slidenum">
              <a:rPr lang="en-US" smtClean="0"/>
              <a:pPr/>
              <a:t>79</a:t>
            </a:fld>
            <a:endParaRPr lang="en-US"/>
          </a:p>
        </p:txBody>
      </p:sp>
    </p:spTree>
    <p:extLst>
      <p:ext uri="{BB962C8B-B14F-4D97-AF65-F5344CB8AC3E}">
        <p14:creationId xmlns:p14="http://schemas.microsoft.com/office/powerpoint/2010/main" val="2043507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4B972-63E0-D62F-8FDD-610C0B095EC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70E3E14-ED55-FFBD-E248-F495CAD51B3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301BC10-6C9C-3B97-1BF7-FD2498EEB57C}"/>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2F6AF08-D930-EE87-B34F-3A383B153392}"/>
              </a:ext>
            </a:extLst>
          </p:cNvPr>
          <p:cNvSpPr>
            <a:spLocks noGrp="1"/>
          </p:cNvSpPr>
          <p:nvPr>
            <p:ph type="sldNum" sz="quarter" idx="5"/>
          </p:nvPr>
        </p:nvSpPr>
        <p:spPr/>
        <p:txBody>
          <a:bodyPr/>
          <a:lstStyle/>
          <a:p>
            <a:fld id="{CF541D2A-E99A-2F4F-B8C9-28142709F87F}" type="slidenum">
              <a:rPr lang="en-US" smtClean="0"/>
              <a:pPr/>
              <a:t>80</a:t>
            </a:fld>
            <a:endParaRPr lang="en-US"/>
          </a:p>
        </p:txBody>
      </p:sp>
    </p:spTree>
    <p:extLst>
      <p:ext uri="{BB962C8B-B14F-4D97-AF65-F5344CB8AC3E}">
        <p14:creationId xmlns:p14="http://schemas.microsoft.com/office/powerpoint/2010/main" val="4857655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D8333-55B5-AE73-1A1A-5126B49BF9B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153E48E-822D-41F4-7BCE-3A8E28BD451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666B259-59A1-FD12-1A7D-9253FBE43CD3}"/>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FB3CA1D-8A5A-6024-80A2-94CB0839BDA1}"/>
              </a:ext>
            </a:extLst>
          </p:cNvPr>
          <p:cNvSpPr>
            <a:spLocks noGrp="1"/>
          </p:cNvSpPr>
          <p:nvPr>
            <p:ph type="sldNum" sz="quarter" idx="5"/>
          </p:nvPr>
        </p:nvSpPr>
        <p:spPr/>
        <p:txBody>
          <a:bodyPr/>
          <a:lstStyle/>
          <a:p>
            <a:fld id="{CF541D2A-E99A-2F4F-B8C9-28142709F87F}" type="slidenum">
              <a:rPr lang="en-US" smtClean="0"/>
              <a:pPr/>
              <a:t>82</a:t>
            </a:fld>
            <a:endParaRPr lang="en-US"/>
          </a:p>
        </p:txBody>
      </p:sp>
    </p:spTree>
    <p:extLst>
      <p:ext uri="{BB962C8B-B14F-4D97-AF65-F5344CB8AC3E}">
        <p14:creationId xmlns:p14="http://schemas.microsoft.com/office/powerpoint/2010/main" val="31950515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F2340-A596-073B-DB5D-6FB2C87B508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9A0D963-81CC-ACD5-32BF-E5F57F6816A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63B3ED1-D325-BAE5-4A4A-B4D7D4971CC9}"/>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C2CE4838-3795-2C65-0C30-03E14D4BF6CF}"/>
              </a:ext>
            </a:extLst>
          </p:cNvPr>
          <p:cNvSpPr>
            <a:spLocks noGrp="1"/>
          </p:cNvSpPr>
          <p:nvPr>
            <p:ph type="sldNum" sz="quarter" idx="5"/>
          </p:nvPr>
        </p:nvSpPr>
        <p:spPr/>
        <p:txBody>
          <a:bodyPr/>
          <a:lstStyle/>
          <a:p>
            <a:fld id="{CF541D2A-E99A-2F4F-B8C9-28142709F87F}" type="slidenum">
              <a:rPr lang="en-US" smtClean="0"/>
              <a:pPr/>
              <a:t>83</a:t>
            </a:fld>
            <a:endParaRPr lang="en-US"/>
          </a:p>
        </p:txBody>
      </p:sp>
    </p:spTree>
    <p:extLst>
      <p:ext uri="{BB962C8B-B14F-4D97-AF65-F5344CB8AC3E}">
        <p14:creationId xmlns:p14="http://schemas.microsoft.com/office/powerpoint/2010/main" val="41449839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24FBB-6A15-FC98-A4D4-A04146D44B6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044B963-150F-07BE-9C08-E16D37E05D1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772FB65-9D02-FAA5-3AB1-4B4EED3080FF}"/>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D37CA288-DB61-E606-B8C4-BAD6CE7E0614}"/>
              </a:ext>
            </a:extLst>
          </p:cNvPr>
          <p:cNvSpPr>
            <a:spLocks noGrp="1"/>
          </p:cNvSpPr>
          <p:nvPr>
            <p:ph type="sldNum" sz="quarter" idx="5"/>
          </p:nvPr>
        </p:nvSpPr>
        <p:spPr/>
        <p:txBody>
          <a:bodyPr/>
          <a:lstStyle/>
          <a:p>
            <a:fld id="{CF541D2A-E99A-2F4F-B8C9-28142709F87F}" type="slidenum">
              <a:rPr lang="en-US" smtClean="0"/>
              <a:pPr/>
              <a:t>84</a:t>
            </a:fld>
            <a:endParaRPr lang="en-US"/>
          </a:p>
        </p:txBody>
      </p:sp>
    </p:spTree>
    <p:extLst>
      <p:ext uri="{BB962C8B-B14F-4D97-AF65-F5344CB8AC3E}">
        <p14:creationId xmlns:p14="http://schemas.microsoft.com/office/powerpoint/2010/main" val="14753035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57EBA-6FF1-C3B0-CAF5-82E7DBC691F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7826342-D3FB-3C7B-249C-850A320FD06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F6E768F-04E9-C1EB-C222-10075C06418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7130F3DB-9AE8-233F-35ED-525E6540D0D7}"/>
              </a:ext>
            </a:extLst>
          </p:cNvPr>
          <p:cNvSpPr>
            <a:spLocks noGrp="1"/>
          </p:cNvSpPr>
          <p:nvPr>
            <p:ph type="sldNum" sz="quarter" idx="5"/>
          </p:nvPr>
        </p:nvSpPr>
        <p:spPr/>
        <p:txBody>
          <a:bodyPr/>
          <a:lstStyle/>
          <a:p>
            <a:fld id="{CF541D2A-E99A-2F4F-B8C9-28142709F87F}" type="slidenum">
              <a:rPr lang="en-US" smtClean="0"/>
              <a:pPr/>
              <a:t>85</a:t>
            </a:fld>
            <a:endParaRPr lang="en-US"/>
          </a:p>
        </p:txBody>
      </p:sp>
    </p:spTree>
    <p:extLst>
      <p:ext uri="{BB962C8B-B14F-4D97-AF65-F5344CB8AC3E}">
        <p14:creationId xmlns:p14="http://schemas.microsoft.com/office/powerpoint/2010/main" val="29010478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B4A00-3FA3-60AD-2966-705EA59F5C5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C47909-5041-9851-A36B-4E93EBFC11A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16C2D36-8FE6-8E3B-9697-5762191D594E}"/>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E17A56C9-1801-3707-EE23-668B0DFB906A}"/>
              </a:ext>
            </a:extLst>
          </p:cNvPr>
          <p:cNvSpPr>
            <a:spLocks noGrp="1"/>
          </p:cNvSpPr>
          <p:nvPr>
            <p:ph type="sldNum" sz="quarter" idx="5"/>
          </p:nvPr>
        </p:nvSpPr>
        <p:spPr/>
        <p:txBody>
          <a:bodyPr/>
          <a:lstStyle/>
          <a:p>
            <a:fld id="{CF541D2A-E99A-2F4F-B8C9-28142709F87F}" type="slidenum">
              <a:rPr lang="en-US" smtClean="0"/>
              <a:pPr/>
              <a:t>86</a:t>
            </a:fld>
            <a:endParaRPr lang="en-US"/>
          </a:p>
        </p:txBody>
      </p:sp>
    </p:spTree>
    <p:extLst>
      <p:ext uri="{BB962C8B-B14F-4D97-AF65-F5344CB8AC3E}">
        <p14:creationId xmlns:p14="http://schemas.microsoft.com/office/powerpoint/2010/main" val="21711320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5EF73-9E5B-5AA0-2533-78F74162D66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282D41-F487-1D9C-FB75-BB2E93E94AF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7A55FF-9159-5EC3-9A21-6D00807661BF}"/>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0CAA31A-B902-60EB-1B16-BD956751B58E}"/>
              </a:ext>
            </a:extLst>
          </p:cNvPr>
          <p:cNvSpPr>
            <a:spLocks noGrp="1"/>
          </p:cNvSpPr>
          <p:nvPr>
            <p:ph type="sldNum" sz="quarter" idx="5"/>
          </p:nvPr>
        </p:nvSpPr>
        <p:spPr/>
        <p:txBody>
          <a:bodyPr/>
          <a:lstStyle/>
          <a:p>
            <a:fld id="{CF541D2A-E99A-2F4F-B8C9-28142709F87F}" type="slidenum">
              <a:rPr lang="en-US" smtClean="0"/>
              <a:pPr/>
              <a:t>87</a:t>
            </a:fld>
            <a:endParaRPr lang="en-US"/>
          </a:p>
        </p:txBody>
      </p:sp>
    </p:spTree>
    <p:extLst>
      <p:ext uri="{BB962C8B-B14F-4D97-AF65-F5344CB8AC3E}">
        <p14:creationId xmlns:p14="http://schemas.microsoft.com/office/powerpoint/2010/main" val="37109529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A587E-86A7-4C44-20BC-008C2EED63D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7FB64B2-807C-50A0-B803-4FD06113A35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86E723D-99C2-7AC6-B0E7-5033BB14386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81A40A0-8221-881C-384E-19AB75FAE392}"/>
              </a:ext>
            </a:extLst>
          </p:cNvPr>
          <p:cNvSpPr>
            <a:spLocks noGrp="1"/>
          </p:cNvSpPr>
          <p:nvPr>
            <p:ph type="sldNum" sz="quarter" idx="5"/>
          </p:nvPr>
        </p:nvSpPr>
        <p:spPr/>
        <p:txBody>
          <a:bodyPr/>
          <a:lstStyle/>
          <a:p>
            <a:fld id="{CF541D2A-E99A-2F4F-B8C9-28142709F87F}" type="slidenum">
              <a:rPr lang="en-US" smtClean="0"/>
              <a:pPr/>
              <a:t>89</a:t>
            </a:fld>
            <a:endParaRPr lang="en-US"/>
          </a:p>
        </p:txBody>
      </p:sp>
    </p:spTree>
    <p:extLst>
      <p:ext uri="{BB962C8B-B14F-4D97-AF65-F5344CB8AC3E}">
        <p14:creationId xmlns:p14="http://schemas.microsoft.com/office/powerpoint/2010/main" val="16456409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71112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161004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78000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10433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848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41693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817844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2687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429781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Tree>
    <p:extLst>
      <p:ext uri="{BB962C8B-B14F-4D97-AF65-F5344CB8AC3E}">
        <p14:creationId xmlns:p14="http://schemas.microsoft.com/office/powerpoint/2010/main" val="40463483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935762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21445297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3130963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MX"/>
              <a:t>Haga clic para modificar los estilos de texto del patrón</a:t>
            </a:r>
          </a:p>
          <a:p>
            <a:pPr lvl="1"/>
            <a:r>
              <a:rPr lang="es-MX"/>
              <a:t>Segundo nivel</a:t>
            </a:r>
          </a:p>
          <a:p>
            <a:pPr lvl="2"/>
            <a:r>
              <a:rPr lang="es-MX"/>
              <a:t>Tercer nivel</a:t>
            </a:r>
          </a:p>
        </p:txBody>
      </p:sp>
    </p:spTree>
    <p:extLst>
      <p:ext uri="{BB962C8B-B14F-4D97-AF65-F5344CB8AC3E}">
        <p14:creationId xmlns:p14="http://schemas.microsoft.com/office/powerpoint/2010/main" val="8007938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734930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639422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745354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176679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0487673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7606128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0798183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9202195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8468434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434687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169316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Tree>
    <p:extLst>
      <p:ext uri="{BB962C8B-B14F-4D97-AF65-F5344CB8AC3E}">
        <p14:creationId xmlns:p14="http://schemas.microsoft.com/office/powerpoint/2010/main" val="34867273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1238594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086490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091630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085015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279766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936252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189788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8456278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dirty="0"/>
          </a:p>
        </p:txBody>
      </p:sp>
      <p:sp>
        <p:nvSpPr>
          <p:cNvPr id="3" name="Rectángulo 2">
            <a:extLst>
              <a:ext uri="{FF2B5EF4-FFF2-40B4-BE49-F238E27FC236}">
                <a16:creationId xmlns:a16="http://schemas.microsoft.com/office/drawing/2014/main" id="{92C1E1F9-E43E-5931-1753-DB7A9C7747F4}"/>
              </a:ext>
            </a:extLst>
          </p:cNvPr>
          <p:cNvSpPr/>
          <p:nvPr userDrawn="1"/>
        </p:nvSpPr>
        <p:spPr>
          <a:xfrm>
            <a:off x="9163878" y="6470374"/>
            <a:ext cx="2454965" cy="365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CuadroTexto 3">
            <a:extLst>
              <a:ext uri="{FF2B5EF4-FFF2-40B4-BE49-F238E27FC236}">
                <a16:creationId xmlns:a16="http://schemas.microsoft.com/office/drawing/2014/main" id="{17711D36-F88C-AAF0-ED36-206AB1656104}"/>
              </a:ext>
            </a:extLst>
          </p:cNvPr>
          <p:cNvSpPr txBox="1"/>
          <p:nvPr userDrawn="1"/>
        </p:nvSpPr>
        <p:spPr>
          <a:xfrm>
            <a:off x="9710428" y="6578538"/>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359774162"/>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dirty="0"/>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2" name="Rectángulo 1">
            <a:extLst>
              <a:ext uri="{FF2B5EF4-FFF2-40B4-BE49-F238E27FC236}">
                <a16:creationId xmlns:a16="http://schemas.microsoft.com/office/drawing/2014/main" id="{B263950E-16A6-FEEA-E959-6D06EC0F4DE4}"/>
              </a:ext>
            </a:extLst>
          </p:cNvPr>
          <p:cNvSpPr/>
          <p:nvPr userDrawn="1"/>
        </p:nvSpPr>
        <p:spPr>
          <a:xfrm>
            <a:off x="9233452" y="6510130"/>
            <a:ext cx="2435087" cy="3478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CuadroTexto 4">
            <a:extLst>
              <a:ext uri="{FF2B5EF4-FFF2-40B4-BE49-F238E27FC236}">
                <a16:creationId xmlns:a16="http://schemas.microsoft.com/office/drawing/2014/main" id="{4E29C7A9-8EB5-B066-9A55-A8FE766C1CDB}"/>
              </a:ext>
            </a:extLst>
          </p:cNvPr>
          <p:cNvSpPr txBox="1"/>
          <p:nvPr userDrawn="1"/>
        </p:nvSpPr>
        <p:spPr>
          <a:xfrm>
            <a:off x="9710428" y="6578538"/>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2241940914"/>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Blank Slide Dark">
    <p:bg>
      <p:bgPr>
        <a:solidFill>
          <a:schemeClr val="tx2"/>
        </a:solidFill>
        <a:effectLst/>
      </p:bgPr>
    </p:bg>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4BF00F1-D933-8AA0-E7A4-0F5CD1B344D1}"/>
              </a:ext>
            </a:extLst>
          </p:cNvPr>
          <p:cNvSpPr>
            <a:spLocks noGrp="1"/>
          </p:cNvSpPr>
          <p:nvPr>
            <p:ph type="body" orient="vert" sz="quarter" idx="10" hasCustomPrompt="1"/>
          </p:nvPr>
        </p:nvSpPr>
        <p:spPr>
          <a:xfrm>
            <a:off x="0" y="685800"/>
            <a:ext cx="609600" cy="5486400"/>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SECTION TITLE</a:t>
            </a:r>
          </a:p>
        </p:txBody>
      </p:sp>
      <p:sp>
        <p:nvSpPr>
          <p:cNvPr id="5" name="Slide Number Placeholder 5">
            <a:extLst>
              <a:ext uri="{FF2B5EF4-FFF2-40B4-BE49-F238E27FC236}">
                <a16:creationId xmlns:a16="http://schemas.microsoft.com/office/drawing/2014/main" id="{74B49D1D-E006-95E3-C9AD-E07A51FD99C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dirty="0"/>
          </a:p>
        </p:txBody>
      </p:sp>
    </p:spTree>
    <p:extLst>
      <p:ext uri="{BB962C8B-B14F-4D97-AF65-F5344CB8AC3E}">
        <p14:creationId xmlns:p14="http://schemas.microsoft.com/office/powerpoint/2010/main" val="3427760579"/>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dirty="0"/>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3" name="Rectángulo 2">
            <a:extLst>
              <a:ext uri="{FF2B5EF4-FFF2-40B4-BE49-F238E27FC236}">
                <a16:creationId xmlns:a16="http://schemas.microsoft.com/office/drawing/2014/main" id="{11E8C980-9819-46C2-48C2-916E03955973}"/>
              </a:ext>
            </a:extLst>
          </p:cNvPr>
          <p:cNvSpPr/>
          <p:nvPr userDrawn="1"/>
        </p:nvSpPr>
        <p:spPr>
          <a:xfrm>
            <a:off x="9232777" y="6489577"/>
            <a:ext cx="2349620" cy="23189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CuadroTexto 3">
            <a:extLst>
              <a:ext uri="{FF2B5EF4-FFF2-40B4-BE49-F238E27FC236}">
                <a16:creationId xmlns:a16="http://schemas.microsoft.com/office/drawing/2014/main" id="{32517190-6EFA-F346-F214-47690CC4256E}"/>
              </a:ext>
            </a:extLst>
          </p:cNvPr>
          <p:cNvSpPr txBox="1"/>
          <p:nvPr userDrawn="1"/>
        </p:nvSpPr>
        <p:spPr>
          <a:xfrm>
            <a:off x="9710428" y="6578538"/>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901052026"/>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cSld name="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MX"/>
              <a:t>Haz clic para modificar el estilo de título del patrón</a:t>
            </a:r>
            <a:endParaRPr lang="en-US" dirty="0"/>
          </a:p>
        </p:txBody>
      </p:sp>
      <p:pic>
        <p:nvPicPr>
          <p:cNvPr id="5" name="Picture 4" descr="ellucian_purpl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2269234075"/>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555262785"/>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cSld name="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s-MX"/>
              <a:t>Haz clic para modificar el estilo de título del patrón</a:t>
            </a:r>
            <a:endParaRPr lang="en-US" dirty="0"/>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s-MX"/>
              <a:t>Haz clic para editar el estilo de subtítulo del patrón</a:t>
            </a:r>
            <a:endParaRPr lang="en-US" dirty="0"/>
          </a:p>
        </p:txBody>
      </p:sp>
      <p:sp>
        <p:nvSpPr>
          <p:cNvPr id="20" name="Footer Placeholder 4"/>
          <p:cNvSpPr txBox="1">
            <a:spLocks/>
          </p:cNvSpPr>
          <p:nvPr/>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‹Nº›</a:t>
            </a:fld>
            <a:endParaRPr lang="en-US" sz="1467"/>
          </a:p>
        </p:txBody>
      </p:sp>
    </p:spTree>
    <p:extLst>
      <p:ext uri="{BB962C8B-B14F-4D97-AF65-F5344CB8AC3E}">
        <p14:creationId xmlns:p14="http://schemas.microsoft.com/office/powerpoint/2010/main" val="2141441171"/>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Single column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488" y="1600200"/>
            <a:ext cx="11267392" cy="4343400"/>
          </a:xfrm>
        </p:spPr>
        <p:txBody>
          <a:bodyPr>
            <a:noAutofit/>
          </a:bodyPr>
          <a:lstStyle>
            <a:lvl1pPr marL="0" indent="0" algn="l" defTabSz="609585" rtl="0" eaLnBrk="1" latinLnBrk="0" hangingPunct="1">
              <a:spcBef>
                <a:spcPts val="1200"/>
              </a:spcBef>
              <a:buFontTx/>
              <a:buNone/>
              <a:defRPr lang="en-US" sz="2133" b="1" kern="1200" dirty="0" smtClean="0">
                <a:solidFill>
                  <a:srgbClr val="45A1AA"/>
                </a:solidFill>
                <a:latin typeface="Arial"/>
                <a:ea typeface="+mn-ea"/>
                <a:cs typeface="Arial"/>
              </a:defRPr>
            </a:lvl1pPr>
            <a:lvl2pPr marL="380990" indent="-380990" algn="l" defTabSz="609585" rtl="0" eaLnBrk="1" latinLnBrk="0" hangingPunct="1">
              <a:lnSpc>
                <a:spcPct val="95000"/>
              </a:lnSpc>
              <a:spcBef>
                <a:spcPts val="1200"/>
              </a:spcBef>
              <a:buClr>
                <a:schemeClr val="tx1"/>
              </a:buClr>
              <a:buFont typeface="Arial" pitchFamily="34" charset="0"/>
              <a:buChar char="•"/>
              <a:defRPr lang="en-US" sz="2133" b="0" kern="1200" dirty="0" smtClean="0">
                <a:solidFill>
                  <a:schemeClr val="tx1"/>
                </a:solidFill>
                <a:latin typeface="Arial"/>
                <a:ea typeface="+mn-ea"/>
                <a:cs typeface="Arial"/>
              </a:defRPr>
            </a:lvl2pPr>
            <a:lvl3pPr marL="683667" indent="-380990" algn="l" defTabSz="609585" rtl="0" eaLnBrk="1" latinLnBrk="0" hangingPunct="1">
              <a:spcBef>
                <a:spcPts val="1200"/>
              </a:spcBef>
              <a:buClr>
                <a:srgbClr val="642673"/>
              </a:buClr>
              <a:buFont typeface="Arial"/>
              <a:buChar char="•"/>
              <a:defRPr lang="en-US" sz="1867" kern="1200" dirty="0" smtClean="0">
                <a:solidFill>
                  <a:srgbClr val="414042"/>
                </a:solidFill>
                <a:latin typeface="Arial"/>
                <a:ea typeface="+mn-ea"/>
                <a:cs typeface="Arial"/>
              </a:defRPr>
            </a:lvl3pPr>
            <a:lvl4pPr marL="916493" indent="-380990" algn="l" defTabSz="609585" rtl="0" eaLnBrk="1" latinLnBrk="0" hangingPunct="1">
              <a:spcBef>
                <a:spcPts val="1200"/>
              </a:spcBef>
              <a:buClr>
                <a:srgbClr val="45A1AA"/>
              </a:buClr>
              <a:buFont typeface="Arial" panose="020B0604020202020204" pitchFamily="34" charset="0"/>
              <a:buChar char="•"/>
              <a:defRPr lang="en-US" sz="1600" kern="1200" dirty="0" smtClean="0">
                <a:solidFill>
                  <a:srgbClr val="414042"/>
                </a:solidFill>
                <a:latin typeface="Arial"/>
                <a:ea typeface="+mn-ea"/>
                <a:cs typeface="Arial"/>
              </a:defRPr>
            </a:lvl4pPr>
            <a:lvl5pPr marL="916493" indent="-380990" algn="l" defTabSz="609585" rtl="0" eaLnBrk="1" latinLnBrk="0" hangingPunct="1">
              <a:spcBef>
                <a:spcPts val="1200"/>
              </a:spcBef>
              <a:buClr>
                <a:srgbClr val="414042"/>
              </a:buClr>
              <a:buFont typeface="Arial" panose="020B0604020202020204" pitchFamily="34" charset="0"/>
              <a:buChar char="̶"/>
              <a:defRPr lang="en-US" sz="1600" kern="1200" dirty="0">
                <a:solidFill>
                  <a:srgbClr val="414042"/>
                </a:solidFill>
                <a:latin typeface="Arial"/>
                <a:ea typeface="+mn-ea"/>
                <a:cs typeface="Arial"/>
              </a:defRPr>
            </a:lvl5pPr>
          </a:lstStyle>
          <a:p>
            <a:pPr marL="457189" lvl="0" indent="-457189" algn="l" defTabSz="609585" rtl="0" eaLnBrk="1" latinLnBrk="0" hangingPunct="1">
              <a:spcBef>
                <a:spcPts val="1600"/>
              </a:spcBef>
              <a:buFontTx/>
              <a:buNone/>
            </a:pPr>
            <a:r>
              <a:rPr lang="es-MX"/>
              <a:t>Haga clic para modificar los estilos de texto del patrón</a:t>
            </a:r>
          </a:p>
          <a:p>
            <a:pPr marL="457189" lvl="1" indent="-457189" algn="l" defTabSz="609585" rtl="0" eaLnBrk="1" latinLnBrk="0" hangingPunct="1">
              <a:spcBef>
                <a:spcPts val="1600"/>
              </a:spcBef>
              <a:buFontTx/>
              <a:buNone/>
            </a:pPr>
            <a:r>
              <a:rPr lang="es-MX"/>
              <a:t>Segundo nivel</a:t>
            </a:r>
          </a:p>
          <a:p>
            <a:pPr marL="457189" lvl="2" indent="-457189" algn="l" defTabSz="609585" rtl="0" eaLnBrk="1" latinLnBrk="0" hangingPunct="1">
              <a:spcBef>
                <a:spcPts val="1600"/>
              </a:spcBef>
              <a:buFontTx/>
              <a:buNone/>
            </a:pPr>
            <a:r>
              <a:rPr lang="es-MX"/>
              <a:t>Tercer nivel</a:t>
            </a:r>
          </a:p>
          <a:p>
            <a:pPr marL="457189" lvl="3" indent="-457189" algn="l" defTabSz="609585" rtl="0" eaLnBrk="1" latinLnBrk="0" hangingPunct="1">
              <a:spcBef>
                <a:spcPts val="1600"/>
              </a:spcBef>
              <a:buFontTx/>
              <a:buNone/>
            </a:pPr>
            <a:r>
              <a:rPr lang="es-MX"/>
              <a:t>Cuarto nivel</a:t>
            </a:r>
          </a:p>
          <a:p>
            <a:pPr marL="457189" lvl="4" indent="-457189" algn="l" defTabSz="609585" rtl="0" eaLnBrk="1" latinLnBrk="0" hangingPunct="1">
              <a:spcBef>
                <a:spcPts val="1600"/>
              </a:spcBef>
              <a:buFontTx/>
              <a:buNone/>
            </a:pPr>
            <a:r>
              <a:rPr lang="es-MX"/>
              <a:t>Quinto nivel</a:t>
            </a:r>
            <a:endParaRPr lang="en-US" dirty="0"/>
          </a:p>
        </p:txBody>
      </p:sp>
      <p:sp>
        <p:nvSpPr>
          <p:cNvPr id="5" name="Title Placeholder 1"/>
          <p:cNvSpPr>
            <a:spLocks noGrp="1"/>
          </p:cNvSpPr>
          <p:nvPr>
            <p:ph type="title"/>
          </p:nvPr>
        </p:nvSpPr>
        <p:spPr>
          <a:xfrm>
            <a:off x="475488" y="487681"/>
            <a:ext cx="11267392" cy="582679"/>
          </a:xfrm>
          <a:prstGeom prst="rect">
            <a:avLst/>
          </a:prstGeom>
        </p:spPr>
        <p:txBody>
          <a:bodyPr vert="horz" lIns="0" tIns="0" rIns="0" bIns="0" rtlCol="0" anchor="t">
            <a:noAutofit/>
          </a:bodyPr>
          <a:lstStyle/>
          <a:p>
            <a:r>
              <a:rPr lang="es-MX"/>
              <a:t>Haz clic para modificar el estilo de título del patrón</a:t>
            </a:r>
            <a:endParaRPr lang="en-US" dirty="0"/>
          </a:p>
        </p:txBody>
      </p:sp>
    </p:spTree>
    <p:extLst>
      <p:ext uri="{BB962C8B-B14F-4D97-AF65-F5344CB8AC3E}">
        <p14:creationId xmlns:p14="http://schemas.microsoft.com/office/powerpoint/2010/main" val="3724474056"/>
      </p:ext>
    </p:extLst>
  </p:cSld>
  <p:clrMapOvr>
    <a:masterClrMapping/>
  </p:clrMapOvr>
  <p:transition spd="slow">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cSld name="Thank you slide">
    <p:spTree>
      <p:nvGrpSpPr>
        <p:cNvPr id="1" name=""/>
        <p:cNvGrpSpPr/>
        <p:nvPr/>
      </p:nvGrpSpPr>
      <p:grpSpPr>
        <a:xfrm>
          <a:off x="0" y="0"/>
          <a:ext cx="0" cy="0"/>
          <a:chOff x="0" y="0"/>
          <a:chExt cx="0" cy="0"/>
        </a:xfrm>
      </p:grpSpPr>
      <p:pic>
        <p:nvPicPr>
          <p:cNvPr id="6" name="Picture 5" descr="iStock-646457628.jpg"/>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contrast="-46000"/>
                    </a14:imgEffect>
                  </a14:imgLayer>
                </a14:imgProps>
              </a:ext>
              <a:ext uri="{28A0092B-C50C-407E-A947-70E740481C1C}">
                <a14:useLocalDpi xmlns:a14="http://schemas.microsoft.com/office/drawing/2010/main"/>
              </a:ext>
            </a:extLst>
          </a:blip>
          <a:srcRect/>
          <a:stretch/>
        </p:blipFill>
        <p:spPr>
          <a:xfrm>
            <a:off x="0" y="0"/>
            <a:ext cx="12192000" cy="6861779"/>
          </a:xfrm>
          <a:prstGeom prst="rect">
            <a:avLst/>
          </a:prstGeom>
        </p:spPr>
      </p:pic>
      <p:sp>
        <p:nvSpPr>
          <p:cNvPr id="9" name="Rectangle 8"/>
          <p:cNvSpPr/>
          <p:nvPr/>
        </p:nvSpPr>
        <p:spPr>
          <a:xfrm>
            <a:off x="0" y="3779"/>
            <a:ext cx="12192000" cy="6858000"/>
          </a:xfrm>
          <a:prstGeom prst="rect">
            <a:avLst/>
          </a:prstGeom>
          <a:solidFill>
            <a:schemeClr val="accent4">
              <a:alpha val="6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Right Triangle 21"/>
          <p:cNvSpPr/>
          <p:nvPr/>
        </p:nvSpPr>
        <p:spPr>
          <a:xfrm flipH="1">
            <a:off x="7632095" y="-7814"/>
            <a:ext cx="4559904" cy="6865815"/>
          </a:xfrm>
          <a:custGeom>
            <a:avLst/>
            <a:gdLst>
              <a:gd name="connsiteX0" fmla="*/ 0 w 3419928"/>
              <a:gd name="connsiteY0" fmla="*/ 5143500 h 5143500"/>
              <a:gd name="connsiteX1" fmla="*/ 0 w 3419928"/>
              <a:gd name="connsiteY1" fmla="*/ 0 h 5143500"/>
              <a:gd name="connsiteX2" fmla="*/ 3419928 w 3419928"/>
              <a:gd name="connsiteY2" fmla="*/ 5143500 h 5143500"/>
              <a:gd name="connsiteX3" fmla="*/ 0 w 3419928"/>
              <a:gd name="connsiteY3" fmla="*/ 5143500 h 5143500"/>
              <a:gd name="connsiteX0" fmla="*/ 0 w 3419928"/>
              <a:gd name="connsiteY0" fmla="*/ 5143500 h 5143500"/>
              <a:gd name="connsiteX1" fmla="*/ 0 w 3419928"/>
              <a:gd name="connsiteY1" fmla="*/ 0 h 5143500"/>
              <a:gd name="connsiteX2" fmla="*/ 992980 w 3419928"/>
              <a:gd name="connsiteY2" fmla="*/ 1485900 h 5143500"/>
              <a:gd name="connsiteX3" fmla="*/ 3419928 w 3419928"/>
              <a:gd name="connsiteY3" fmla="*/ 5143500 h 5143500"/>
              <a:gd name="connsiteX4" fmla="*/ 0 w 3419928"/>
              <a:gd name="connsiteY4" fmla="*/ 5143500 h 5143500"/>
              <a:gd name="connsiteX0" fmla="*/ 0 w 3419928"/>
              <a:gd name="connsiteY0" fmla="*/ 5157788 h 5157788"/>
              <a:gd name="connsiteX1" fmla="*/ 0 w 3419928"/>
              <a:gd name="connsiteY1" fmla="*/ 14288 h 5157788"/>
              <a:gd name="connsiteX2" fmla="*/ 1257299 w 3419928"/>
              <a:gd name="connsiteY2" fmla="*/ 0 h 5157788"/>
              <a:gd name="connsiteX3" fmla="*/ 3419928 w 3419928"/>
              <a:gd name="connsiteY3" fmla="*/ 5157788 h 5157788"/>
              <a:gd name="connsiteX4" fmla="*/ 0 w 3419928"/>
              <a:gd name="connsiteY4" fmla="*/ 5157788 h 5157788"/>
              <a:gd name="connsiteX0" fmla="*/ 0 w 3419928"/>
              <a:gd name="connsiteY0" fmla="*/ 5145147 h 5145147"/>
              <a:gd name="connsiteX1" fmla="*/ 0 w 3419928"/>
              <a:gd name="connsiteY1" fmla="*/ 1647 h 5145147"/>
              <a:gd name="connsiteX2" fmla="*/ 1263619 w 3419928"/>
              <a:gd name="connsiteY2" fmla="*/ 0 h 5145147"/>
              <a:gd name="connsiteX3" fmla="*/ 3419928 w 3419928"/>
              <a:gd name="connsiteY3" fmla="*/ 5145147 h 5145147"/>
              <a:gd name="connsiteX4" fmla="*/ 0 w 3419928"/>
              <a:gd name="connsiteY4" fmla="*/ 5145147 h 5145147"/>
              <a:gd name="connsiteX0" fmla="*/ 0 w 3419928"/>
              <a:gd name="connsiteY0" fmla="*/ 5143500 h 5143500"/>
              <a:gd name="connsiteX1" fmla="*/ 0 w 3419928"/>
              <a:gd name="connsiteY1" fmla="*/ 0 h 5143500"/>
              <a:gd name="connsiteX2" fmla="*/ 1200412 w 3419928"/>
              <a:gd name="connsiteY2" fmla="*/ 103699 h 5143500"/>
              <a:gd name="connsiteX3" fmla="*/ 3419928 w 3419928"/>
              <a:gd name="connsiteY3" fmla="*/ 5143500 h 5143500"/>
              <a:gd name="connsiteX4" fmla="*/ 0 w 3419928"/>
              <a:gd name="connsiteY4" fmla="*/ 5143500 h 5143500"/>
              <a:gd name="connsiteX0" fmla="*/ 0 w 3419928"/>
              <a:gd name="connsiteY0" fmla="*/ 5151467 h 5151467"/>
              <a:gd name="connsiteX1" fmla="*/ 0 w 3419928"/>
              <a:gd name="connsiteY1" fmla="*/ 7967 h 5151467"/>
              <a:gd name="connsiteX2" fmla="*/ 1261512 w 3419928"/>
              <a:gd name="connsiteY2" fmla="*/ 0 h 5151467"/>
              <a:gd name="connsiteX3" fmla="*/ 3419928 w 3419928"/>
              <a:gd name="connsiteY3" fmla="*/ 5151467 h 5151467"/>
              <a:gd name="connsiteX4" fmla="*/ 0 w 3419928"/>
              <a:gd name="connsiteY4" fmla="*/ 5151467 h 5151467"/>
              <a:gd name="connsiteX0" fmla="*/ 0 w 3419928"/>
              <a:gd name="connsiteY0" fmla="*/ 5149361 h 5149361"/>
              <a:gd name="connsiteX1" fmla="*/ 0 w 3419928"/>
              <a:gd name="connsiteY1" fmla="*/ 5861 h 5149361"/>
              <a:gd name="connsiteX2" fmla="*/ 1261512 w 3419928"/>
              <a:gd name="connsiteY2" fmla="*/ 0 h 5149361"/>
              <a:gd name="connsiteX3" fmla="*/ 3419928 w 3419928"/>
              <a:gd name="connsiteY3" fmla="*/ 5149361 h 5149361"/>
              <a:gd name="connsiteX4" fmla="*/ 0 w 3419928"/>
              <a:gd name="connsiteY4" fmla="*/ 5149361 h 5149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9928" h="5149361">
                <a:moveTo>
                  <a:pt x="0" y="5149361"/>
                </a:moveTo>
                <a:lnTo>
                  <a:pt x="0" y="5861"/>
                </a:lnTo>
                <a:lnTo>
                  <a:pt x="1261512" y="0"/>
                </a:lnTo>
                <a:lnTo>
                  <a:pt x="3419928" y="5149361"/>
                </a:lnTo>
                <a:lnTo>
                  <a:pt x="0" y="5149361"/>
                </a:lnTo>
                <a:close/>
              </a:path>
            </a:pathLst>
          </a:custGeom>
          <a:solidFill>
            <a:schemeClr val="accent2">
              <a:alpha val="6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5" name="Right Triangle 14"/>
          <p:cNvSpPr/>
          <p:nvPr/>
        </p:nvSpPr>
        <p:spPr>
          <a:xfrm flipH="1" flipV="1">
            <a:off x="8273143" y="-8162"/>
            <a:ext cx="3918856" cy="3905907"/>
          </a:xfrm>
          <a:prstGeom prst="rtTriangle">
            <a:avLst/>
          </a:prstGeom>
          <a:solidFill>
            <a:schemeClr val="accent4">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2" name="Title 1"/>
          <p:cNvSpPr>
            <a:spLocks noGrp="1"/>
          </p:cNvSpPr>
          <p:nvPr>
            <p:ph type="title"/>
          </p:nvPr>
        </p:nvSpPr>
        <p:spPr>
          <a:xfrm>
            <a:off x="461310" y="3625511"/>
            <a:ext cx="5695167" cy="1161143"/>
          </a:xfrm>
        </p:spPr>
        <p:txBody>
          <a:bodyPr>
            <a:normAutofit/>
          </a:bodyPr>
          <a:lstStyle>
            <a:lvl1pPr>
              <a:defRPr sz="5333">
                <a:solidFill>
                  <a:schemeClr val="bg1"/>
                </a:solidFill>
              </a:defRPr>
            </a:lvl1pPr>
          </a:lstStyle>
          <a:p>
            <a:r>
              <a:rPr lang="es-MX"/>
              <a:t>Haz clic para modificar el estilo de título del patrón</a:t>
            </a:r>
            <a:endParaRPr lang="en-US" dirty="0"/>
          </a:p>
        </p:txBody>
      </p:sp>
      <p:pic>
        <p:nvPicPr>
          <p:cNvPr id="13" name="Picture 12" descr="ellucian_white.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1310" y="866875"/>
            <a:ext cx="2164695" cy="443247"/>
          </a:xfrm>
          <a:prstGeom prst="rect">
            <a:avLst/>
          </a:prstGeom>
        </p:spPr>
      </p:pic>
      <p:sp>
        <p:nvSpPr>
          <p:cNvPr id="12" name="Text Placeholder 12"/>
          <p:cNvSpPr>
            <a:spLocks noGrp="1"/>
          </p:cNvSpPr>
          <p:nvPr>
            <p:ph type="body" sz="quarter" idx="11" hasCustomPrompt="1"/>
          </p:nvPr>
        </p:nvSpPr>
        <p:spPr>
          <a:xfrm>
            <a:off x="463297" y="4911366"/>
            <a:ext cx="7640512" cy="1589695"/>
          </a:xfrm>
        </p:spPr>
        <p:txBody>
          <a:bodyPr anchor="t" anchorCtr="0">
            <a:normAutofit/>
          </a:bodyPr>
          <a:lstStyle>
            <a:lvl1pPr>
              <a:spcBef>
                <a:spcPts val="0"/>
              </a:spcBef>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Title title title, </a:t>
            </a:r>
            <a:r>
              <a:rPr lang="en-US" dirty="0" err="1"/>
              <a:t>Ellucian</a:t>
            </a:r>
            <a:br>
              <a:rPr lang="en-US" dirty="0"/>
            </a:br>
            <a:r>
              <a:rPr lang="en-US" dirty="0" err="1"/>
              <a:t>firstname.lastname@ellucian.com</a:t>
            </a:r>
            <a:endParaRPr lang="en-US" dirty="0"/>
          </a:p>
        </p:txBody>
      </p:sp>
      <p:sp>
        <p:nvSpPr>
          <p:cNvPr id="10" name="Text Placeholder 12"/>
          <p:cNvSpPr>
            <a:spLocks noGrp="1"/>
          </p:cNvSpPr>
          <p:nvPr>
            <p:ph type="body" sz="quarter" idx="12" hasCustomPrompt="1"/>
          </p:nvPr>
        </p:nvSpPr>
        <p:spPr>
          <a:xfrm>
            <a:off x="457200" y="4053544"/>
            <a:ext cx="6656832" cy="835251"/>
          </a:xfrm>
        </p:spPr>
        <p:txBody>
          <a:bodyPr anchor="b">
            <a:noAutofit/>
          </a:bodyPr>
          <a:lstStyle>
            <a:lvl1pPr>
              <a:buNone/>
              <a:defRPr sz="2267" b="1" cap="all"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872018432"/>
      </p:ext>
    </p:extLst>
  </p:cSld>
  <p:clrMapOvr>
    <a:masterClrMapping/>
  </p:clrMapOvr>
  <p:transition spd="slow">
    <p:wipe dir="r"/>
  </p:transition>
  <p:extLst>
    <p:ext uri="{DCECCB84-F9BA-43D5-87BE-67443E8EF086}">
      <p15:sldGuideLst xmlns:p15="http://schemas.microsoft.com/office/powerpoint/2012/main">
        <p15:guide id="1" orient="horz" pos="1620">
          <p15:clr>
            <a:srgbClr val="FBAE40"/>
          </p15:clr>
        </p15:guide>
        <p15:guide id="2" orient="horz" pos="2453">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99673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2672825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907070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974673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6789526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816302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6141146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5232207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4331408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2791018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58107894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258048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8570462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8610154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1340604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5717012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7929379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04723576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911855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18" Type="http://schemas.openxmlformats.org/officeDocument/2006/relationships/slideLayout" Target="../slideLayouts/slideLayout61.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theme" Target="../theme/theme2.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2065690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9" r:id="rId37"/>
    <p:sldLayoutId id="2147483750" r:id="rId38"/>
    <p:sldLayoutId id="2147483751" r:id="rId39"/>
    <p:sldLayoutId id="2147483752" r:id="rId40"/>
    <p:sldLayoutId id="2147483753" r:id="rId41"/>
    <p:sldLayoutId id="2147483754" r:id="rId42"/>
    <p:sldLayoutId id="2147483755" r:id="rId43"/>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454708"/>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 id="2147483776" r:id="rId18"/>
    <p:sldLayoutId id="2147483777"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6.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6.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6.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6.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6.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6.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6.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6.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6.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6.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6.xml"/></Relationships>
</file>

<file path=ppt/slides/_rels/slide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6.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6.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6.xml"/></Relationships>
</file>

<file path=ppt/slides/_rels/slide5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6.xml"/></Relationships>
</file>

<file path=ppt/slides/_rels/slide5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6.xml"/></Relationships>
</file>

<file path=ppt/slides/_rels/slide5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6.xml"/></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6.xml"/></Relationships>
</file>

<file path=ppt/slides/_rels/slide6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6.xml"/></Relationships>
</file>

<file path=ppt/slides/_rels/slide6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6.xml"/></Relationships>
</file>

<file path=ppt/slides/_rels/slide6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6.xml"/></Relationships>
</file>

<file path=ppt/slides/_rels/slide6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6.xml"/></Relationships>
</file>

<file path=ppt/slides/_rels/slide6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6.xml"/></Relationships>
</file>

<file path=ppt/slides/_rels/slide6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6.xml"/></Relationships>
</file>

<file path=ppt/slides/_rels/slide6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3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6.xml"/></Relationships>
</file>

<file path=ppt/slides/_rels/slide7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3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7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xml"/><Relationship Id="rId1" Type="http://schemas.openxmlformats.org/officeDocument/2006/relationships/slideLayout" Target="../slideLayouts/slideLayout38.xml"/><Relationship Id="rId4" Type="http://schemas.openxmlformats.org/officeDocument/2006/relationships/image" Target="../media/image63.png"/></Relationships>
</file>

<file path=ppt/slides/_rels/slide7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7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7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7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7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8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8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8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8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8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4.xml"/><Relationship Id="rId1" Type="http://schemas.openxmlformats.org/officeDocument/2006/relationships/slideLayout" Target="../slideLayouts/slideLayout38.xml"/></Relationships>
</file>

<file path=ppt/slides/_rels/slide8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5.xml"/><Relationship Id="rId1" Type="http://schemas.openxmlformats.org/officeDocument/2006/relationships/slideLayout" Target="../slideLayouts/slideLayout3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8.xml"/></Relationships>
</file>

<file path=ppt/slides/_rels/slide90.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72.svg"/><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54DC2834-C0BC-1E9E-35AB-295707DC0D27}"/>
              </a:ext>
            </a:extLst>
          </p:cNvPr>
          <p:cNvSpPr>
            <a:spLocks noGrp="1"/>
          </p:cNvSpPr>
          <p:nvPr>
            <p:ph type="body" sz="quarter" idx="11"/>
          </p:nvPr>
        </p:nvSpPr>
        <p:spPr>
          <a:xfrm>
            <a:off x="556902" y="4143944"/>
            <a:ext cx="5427132" cy="740459"/>
          </a:xfrm>
        </p:spPr>
        <p:txBody>
          <a:bodyPr/>
          <a:lstStyle/>
          <a:p>
            <a:r>
              <a:rPr lang="es-ES" dirty="0"/>
              <a:t>Instructivo</a:t>
            </a:r>
            <a:endParaRPr lang="es-419" dirty="0"/>
          </a:p>
          <a:p>
            <a:endParaRPr lang="es-419" dirty="0"/>
          </a:p>
        </p:txBody>
      </p:sp>
      <p:sp>
        <p:nvSpPr>
          <p:cNvPr id="6" name="Marcador de texto 5">
            <a:extLst>
              <a:ext uri="{FF2B5EF4-FFF2-40B4-BE49-F238E27FC236}">
                <a16:creationId xmlns:a16="http://schemas.microsoft.com/office/drawing/2014/main" id="{26DA71FA-37DD-30F0-5182-663EBEE7A9EF}"/>
              </a:ext>
            </a:extLst>
          </p:cNvPr>
          <p:cNvSpPr>
            <a:spLocks noGrp="1"/>
          </p:cNvSpPr>
          <p:nvPr>
            <p:ph type="body" sz="quarter" idx="13"/>
          </p:nvPr>
        </p:nvSpPr>
        <p:spPr/>
        <p:txBody>
          <a:bodyPr/>
          <a:lstStyle/>
          <a:p>
            <a:r>
              <a:rPr lang="es-CL" dirty="0"/>
              <a:t>Julio, 2026</a:t>
            </a:r>
          </a:p>
        </p:txBody>
      </p:sp>
      <p:sp>
        <p:nvSpPr>
          <p:cNvPr id="2" name="Title 1"/>
          <p:cNvSpPr>
            <a:spLocks noGrp="1"/>
          </p:cNvSpPr>
          <p:nvPr>
            <p:ph type="title" idx="4294967295"/>
          </p:nvPr>
        </p:nvSpPr>
        <p:spPr>
          <a:xfrm>
            <a:off x="556903" y="2635045"/>
            <a:ext cx="5651066" cy="1804276"/>
          </a:xfrm>
        </p:spPr>
        <p:txBody>
          <a:bodyPr/>
          <a:lstStyle/>
          <a:p>
            <a:pPr>
              <a:spcBef>
                <a:spcPts val="0"/>
              </a:spcBef>
              <a:spcAft>
                <a:spcPts val="600"/>
              </a:spcAft>
            </a:pPr>
            <a:r>
              <a:rPr lang="es-MX" dirty="0">
                <a:solidFill>
                  <a:schemeClr val="bg1"/>
                </a:solidFill>
              </a:rPr>
              <a:t>Configuración de Autoservicio</a:t>
            </a:r>
            <a:br>
              <a:rPr lang="es-419" sz="4000" dirty="0"/>
            </a:br>
            <a:endParaRPr lang="es-ES_tradnl" sz="4200" dirty="0">
              <a:solidFill>
                <a:schemeClr val="bg1"/>
              </a:solidFill>
              <a:latin typeface="+mn-lt"/>
              <a:ea typeface="+mn-ea"/>
              <a:cs typeface="+mn-cs"/>
            </a:endParaRPr>
          </a:p>
        </p:txBody>
      </p:sp>
      <p:pic>
        <p:nvPicPr>
          <p:cNvPr id="8" name="Marcador de posición de imagen 8" descr="Un par de personas sentadas en una mesa&#10;&#10;El contenido generado por IA puede ser incorrecto.">
            <a:extLst>
              <a:ext uri="{FF2B5EF4-FFF2-40B4-BE49-F238E27FC236}">
                <a16:creationId xmlns:a16="http://schemas.microsoft.com/office/drawing/2014/main" id="{4F7B45E6-A22E-4AC7-1472-85D0784AA905}"/>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7869" r="17869"/>
          <a:stretch>
            <a:fillRect/>
          </a:stretch>
        </p:blipFill>
        <p:spPr>
          <a:xfrm>
            <a:off x="6689725" y="574675"/>
            <a:ext cx="5502275" cy="5710238"/>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
        <p:nvSpPr>
          <p:cNvPr id="10" name="Marcador de texto 9">
            <a:extLst>
              <a:ext uri="{FF2B5EF4-FFF2-40B4-BE49-F238E27FC236}">
                <a16:creationId xmlns:a16="http://schemas.microsoft.com/office/drawing/2014/main" id="{64F96709-410B-0915-4195-6E4BDF25CC08}"/>
              </a:ext>
            </a:extLst>
          </p:cNvPr>
          <p:cNvSpPr>
            <a:spLocks noGrp="1"/>
          </p:cNvSpPr>
          <p:nvPr>
            <p:ph type="body" sz="quarter" idx="12"/>
          </p:nvPr>
        </p:nvSpPr>
        <p:spPr>
          <a:xfrm>
            <a:off x="556902" y="5126705"/>
            <a:ext cx="3032274" cy="194925"/>
          </a:xfrm>
        </p:spPr>
        <p:txBody>
          <a:bodyPr/>
          <a:lstStyle/>
          <a:p>
            <a:r>
              <a:rPr lang="es-CL" dirty="0"/>
              <a:t>Universidad Señor de SIPAN</a:t>
            </a:r>
          </a:p>
        </p:txBody>
      </p:sp>
    </p:spTree>
    <p:extLst>
      <p:ext uri="{BB962C8B-B14F-4D97-AF65-F5344CB8AC3E}">
        <p14:creationId xmlns:p14="http://schemas.microsoft.com/office/powerpoint/2010/main" val="4223258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MX" sz="1200" dirty="0"/>
              <a:t>Configuración de Autoservicio</a:t>
            </a:r>
            <a:endParaRPr lang="en-US"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2</a:t>
            </a:fld>
            <a:endParaRPr lang="en-US"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3682531934"/>
              </p:ext>
            </p:extLst>
          </p:nvPr>
        </p:nvGraphicFramePr>
        <p:xfrm>
          <a:off x="786088" y="1651015"/>
          <a:ext cx="9058128" cy="2442597"/>
        </p:xfrm>
        <a:graphic>
          <a:graphicData uri="http://schemas.openxmlformats.org/drawingml/2006/table">
            <a:tbl>
              <a:tblPr>
                <a:tableStyleId>{5C22544A-7EE6-4342-B048-85BDC9FD1C3A}</a:tableStyleId>
              </a:tblPr>
              <a:tblGrid>
                <a:gridCol w="1069606">
                  <a:extLst>
                    <a:ext uri="{9D8B030D-6E8A-4147-A177-3AD203B41FA5}">
                      <a16:colId xmlns:a16="http://schemas.microsoft.com/office/drawing/2014/main" val="1835725686"/>
                    </a:ext>
                  </a:extLst>
                </a:gridCol>
                <a:gridCol w="7988522">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s-ES" sz="2800" b="1" kern="1200" dirty="0">
                          <a:solidFill>
                            <a:schemeClr val="bg1"/>
                          </a:solidFill>
                          <a:latin typeface="+mn-lt"/>
                          <a:ea typeface="+mn-ea"/>
                          <a:cs typeface="+mn-cs"/>
                        </a:rPr>
                        <a:t>Configurar Autoservicios</a:t>
                      </a:r>
                      <a:endParaRPr lang="en-US" sz="2800" b="1" kern="1200" dirty="0">
                        <a:solidFill>
                          <a:schemeClr val="bg1"/>
                        </a:solidFill>
                        <a:latin typeface="+mn-lt"/>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2800" b="1"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MX" sz="1200" dirty="0"/>
              <a:t>Configuración de Autoservicio</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3</a:t>
            </a:fld>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CO" sz="1200" dirty="0"/>
              <a:t>Ejecutar procesos de cierre de periodo académico</a:t>
            </a:r>
            <a:endParaRPr lang="es-ES_tradnl"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419" sz="3200" noProof="0" dirty="0">
                <a:solidFill>
                  <a:schemeClr val="accent1"/>
                </a:solidFill>
              </a:rPr>
              <a:t>Overview: </a:t>
            </a:r>
            <a:r>
              <a:rPr lang="es-419" sz="3200" b="0" noProof="0" dirty="0">
                <a:solidFill>
                  <a:schemeClr val="accent1"/>
                </a:solidFill>
              </a:rPr>
              <a:t>Mapa de capacidades</a:t>
            </a:r>
            <a:endParaRPr lang="es-419" b="0" noProof="0" dirty="0">
              <a:solidFill>
                <a:schemeClr val="accent1"/>
              </a:solidFill>
            </a:endParaRPr>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030689"/>
            <a:ext cx="10180101" cy="4796619"/>
          </a:xfrm>
          <a:prstGeom prst="rect">
            <a:avLst/>
          </a:prstGeom>
        </p:spPr>
      </p:pic>
      <p:sp>
        <p:nvSpPr>
          <p:cNvPr id="7" name="Rectangle 6">
            <a:extLst>
              <a:ext uri="{FF2B5EF4-FFF2-40B4-BE49-F238E27FC236}">
                <a16:creationId xmlns:a16="http://schemas.microsoft.com/office/drawing/2014/main" id="{4C70E560-FD05-5A48-6D34-D3EBD8654FB8}"/>
              </a:ext>
            </a:extLst>
          </p:cNvPr>
          <p:cNvSpPr/>
          <p:nvPr/>
        </p:nvSpPr>
        <p:spPr>
          <a:xfrm>
            <a:off x="5441828" y="4646958"/>
            <a:ext cx="1713931" cy="64683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891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2166520"/>
            <a:ext cx="10136257" cy="3363012"/>
          </a:xfrm>
        </p:spPr>
        <p:txBody>
          <a:bodyPr vert="horz" lIns="91440" tIns="45720" rIns="91440" bIns="45720" rtlCol="0" anchor="t">
            <a:noAutofit/>
          </a:bodyPr>
          <a:lstStyle/>
          <a:p>
            <a:pPr>
              <a:buClr>
                <a:schemeClr val="tx1"/>
              </a:buClr>
              <a:buFont typeface="Wingdings" panose="05000000000000000000" pitchFamily="2" charset="2"/>
              <a:buChar char="v"/>
            </a:pPr>
            <a:r>
              <a:rPr lang="es-MX" sz="2400" dirty="0"/>
              <a:t>La configuración del autoservicio tiene como propósito ajustar la interfaz de algunos módulos de Ellucian Student en las que estudiantes, docentes y/o asesores interactúan con la información de los procesos académicos.</a:t>
            </a:r>
          </a:p>
          <a:p>
            <a:pPr marL="0" indent="0">
              <a:buClr>
                <a:schemeClr val="tx1"/>
              </a:buClr>
              <a:buNone/>
            </a:pPr>
            <a:endParaRPr lang="es-MX" sz="2400" dirty="0"/>
          </a:p>
          <a:p>
            <a:pPr>
              <a:buClr>
                <a:schemeClr val="tx1"/>
              </a:buClr>
              <a:buFont typeface="Wingdings" panose="05000000000000000000" pitchFamily="2" charset="2"/>
              <a:buChar char="v"/>
            </a:pPr>
            <a:r>
              <a:rPr lang="es-MX" sz="2400" dirty="0"/>
              <a:t>Esta configuración abarca algunos aspectos y módulos de Ellucian Student como lo son los accesos a Registration, Student </a:t>
            </a:r>
            <a:r>
              <a:rPr lang="es-MX" sz="2400" dirty="0" err="1"/>
              <a:t>Profile</a:t>
            </a:r>
            <a:r>
              <a:rPr lang="es-MX" sz="2400" dirty="0"/>
              <a:t>, Lista de Asesorados, entre otros; pudiendo </a:t>
            </a:r>
            <a:r>
              <a:rPr lang="es-ES_tradnl" sz="2400" dirty="0"/>
              <a:t>personalizar los menús, textos e información visualizada.</a:t>
            </a:r>
          </a:p>
          <a:p>
            <a:pPr marL="285750" indent="-285750">
              <a:buClr>
                <a:srgbClr val="0CB4B4"/>
              </a:buClr>
              <a:buFont typeface="Wingdings" panose="05000000000000000000" pitchFamily="2" charset="2"/>
              <a:buChar char="q"/>
            </a:pPr>
            <a:endParaRPr lang="es-ES_tradnl" sz="2400" dirty="0">
              <a:solidFill>
                <a:srgbClr val="7030A0"/>
              </a:solidFill>
            </a:endParaRPr>
          </a:p>
          <a:p>
            <a:pPr marL="285750" indent="-285750">
              <a:buClr>
                <a:srgbClr val="0CB4B4"/>
              </a:buClr>
              <a:buFont typeface="Wingdings" panose="05000000000000000000" pitchFamily="2" charset="2"/>
              <a:buChar char="q"/>
            </a:pPr>
            <a:endParaRPr lang="es-ES_tradnl" sz="3600" dirty="0"/>
          </a:p>
          <a:p>
            <a:pPr marL="285750" indent="-285750">
              <a:buClr>
                <a:srgbClr val="0CB4B4"/>
              </a:buClr>
              <a:buFont typeface="Wingdings" panose="05000000000000000000" pitchFamily="2" charset="2"/>
              <a:buChar char="q"/>
            </a:pPr>
            <a:endParaRPr lang="es-MX" sz="2400" dirty="0">
              <a:solidFill>
                <a:srgbClr val="7030A0"/>
              </a:solidFill>
            </a:endParaRP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a:xfrm>
            <a:off x="1104900" y="492553"/>
            <a:ext cx="10477497" cy="898555"/>
          </a:xfrm>
        </p:spPr>
        <p:txBody>
          <a:bodyPr anchor="ctr"/>
          <a:lstStyle/>
          <a:p>
            <a:r>
              <a:rPr lang="es-ES_tradnl" sz="3200" dirty="0">
                <a:solidFill>
                  <a:schemeClr val="accent1"/>
                </a:solidFill>
              </a:rPr>
              <a:t>Overview: </a:t>
            </a:r>
            <a:r>
              <a:rPr lang="es-ES_tradnl" b="0" dirty="0">
                <a:solidFill>
                  <a:schemeClr val="accent1"/>
                </a:solidFill>
              </a:rPr>
              <a:t>Configuración de Autoservicios</a:t>
            </a:r>
            <a:endParaRPr lang="es-CL" b="0" dirty="0">
              <a:solidFill>
                <a:schemeClr val="accent1"/>
              </a:solidFill>
            </a:endParaRPr>
          </a:p>
        </p:txBody>
      </p:sp>
    </p:spTree>
    <p:extLst>
      <p:ext uri="{BB962C8B-B14F-4D97-AF65-F5344CB8AC3E}">
        <p14:creationId xmlns:p14="http://schemas.microsoft.com/office/powerpoint/2010/main" val="167875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8859" y="663039"/>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Overview: </a:t>
            </a:r>
            <a:r>
              <a:rPr lang="es-ES_tradnl" b="0" dirty="0">
                <a:solidFill>
                  <a:schemeClr val="accent1"/>
                </a:solidFill>
              </a:rPr>
              <a:t>Gestionar Autoservicios</a:t>
            </a:r>
            <a:endParaRPr lang="es-CL" b="0" dirty="0">
              <a:solidFill>
                <a:schemeClr val="accent1"/>
              </a:solidFill>
            </a:endParaRPr>
          </a:p>
        </p:txBody>
      </p:sp>
      <p:pic>
        <p:nvPicPr>
          <p:cNvPr id="1026" name="Picture 2">
            <a:extLst>
              <a:ext uri="{FF2B5EF4-FFF2-40B4-BE49-F238E27FC236}">
                <a16:creationId xmlns:a16="http://schemas.microsoft.com/office/drawing/2014/main" id="{5670F765-9146-2618-44B6-C3297E633D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1" y="1815790"/>
            <a:ext cx="11397839" cy="3226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546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7</a:t>
            </a:fld>
            <a:endParaRPr lang="en-US" dirty="0"/>
          </a:p>
        </p:txBody>
      </p:sp>
      <p:sp>
        <p:nvSpPr>
          <p:cNvPr id="9" name="CuadroTexto 8">
            <a:extLst>
              <a:ext uri="{FF2B5EF4-FFF2-40B4-BE49-F238E27FC236}">
                <a16:creationId xmlns:a16="http://schemas.microsoft.com/office/drawing/2014/main" id="{CDA0D89D-33DC-4151-D805-A43C6E21B822}"/>
              </a:ext>
            </a:extLst>
          </p:cNvPr>
          <p:cNvSpPr txBox="1"/>
          <p:nvPr/>
        </p:nvSpPr>
        <p:spPr>
          <a:xfrm>
            <a:off x="6939975" y="2743200"/>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452933"/>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Overview: </a:t>
            </a:r>
            <a:r>
              <a:rPr lang="es-ES_tradnl" b="0" dirty="0">
                <a:solidFill>
                  <a:schemeClr val="accent1"/>
                </a:solidFill>
              </a:rPr>
              <a:t>Gestionar Autoservicios</a:t>
            </a:r>
            <a:endParaRPr lang="es-CL" b="0" dirty="0">
              <a:solidFill>
                <a:schemeClr val="accent1"/>
              </a:solidFill>
            </a:endParaRPr>
          </a:p>
        </p:txBody>
      </p:sp>
      <p:pic>
        <p:nvPicPr>
          <p:cNvPr id="2" name="Picture 9" descr="A purple map of south america&#10;&#10;AI-generated content may be incorrect.">
            <a:extLst>
              <a:ext uri="{FF2B5EF4-FFF2-40B4-BE49-F238E27FC236}">
                <a16:creationId xmlns:a16="http://schemas.microsoft.com/office/drawing/2014/main" id="{9133A26C-0277-43C5-2177-7949A39FB232}"/>
              </a:ext>
            </a:extLst>
          </p:cNvPr>
          <p:cNvPicPr>
            <a:picLocks noChangeAspect="1"/>
          </p:cNvPicPr>
          <p:nvPr/>
        </p:nvPicPr>
        <p:blipFill>
          <a:blip r:embed="rId2"/>
          <a:stretch>
            <a:fillRect/>
          </a:stretch>
        </p:blipFill>
        <p:spPr>
          <a:xfrm>
            <a:off x="1720334" y="1319270"/>
            <a:ext cx="5219641" cy="5219641"/>
          </a:xfrm>
          <a:prstGeom prst="rect">
            <a:avLst/>
          </a:prstGeom>
        </p:spPr>
      </p:pic>
    </p:spTree>
    <p:extLst>
      <p:ext uri="{BB962C8B-B14F-4D97-AF65-F5344CB8AC3E}">
        <p14:creationId xmlns:p14="http://schemas.microsoft.com/office/powerpoint/2010/main" val="1448098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D489-D411-281E-85CA-24ADE43264F0}"/>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45CB3D5C-1F4E-43FA-00B3-7705C83F3C10}"/>
              </a:ext>
            </a:extLst>
          </p:cNvPr>
          <p:cNvSpPr>
            <a:spLocks noGrp="1"/>
          </p:cNvSpPr>
          <p:nvPr>
            <p:ph type="body" orient="vert" sz="quarter" idx="10"/>
          </p:nvPr>
        </p:nvSpPr>
        <p:spPr/>
        <p:txBody>
          <a:bodyPr/>
          <a:lstStyle/>
          <a:p>
            <a:r>
              <a:rPr lang="es-MX" sz="1200" dirty="0"/>
              <a:t>Configuración de Autoservicio</a:t>
            </a:r>
            <a:endParaRPr lang="en-US" dirty="0"/>
          </a:p>
        </p:txBody>
      </p:sp>
      <p:sp>
        <p:nvSpPr>
          <p:cNvPr id="16" name="Title 15">
            <a:extLst>
              <a:ext uri="{FF2B5EF4-FFF2-40B4-BE49-F238E27FC236}">
                <a16:creationId xmlns:a16="http://schemas.microsoft.com/office/drawing/2014/main" id="{EA22966F-8472-B7A7-2DDE-81E2B4134717}"/>
              </a:ext>
            </a:extLst>
          </p:cNvPr>
          <p:cNvSpPr>
            <a:spLocks noGrp="1"/>
          </p:cNvSpPr>
          <p:nvPr>
            <p:ph type="title"/>
          </p:nvPr>
        </p:nvSpPr>
        <p:spPr/>
        <p:txBody>
          <a:bodyPr/>
          <a:lstStyle/>
          <a:p>
            <a:r>
              <a:rPr lang="es-MX" dirty="0"/>
              <a:t>GUAINFO </a:t>
            </a:r>
            <a:r>
              <a:rPr lang="es-MX" b="0" dirty="0"/>
              <a:t>Editor de texto de información</a:t>
            </a:r>
            <a:endParaRPr lang="en-US" sz="3200" b="1" dirty="0">
              <a:solidFill>
                <a:schemeClr val="bg1"/>
              </a:solidFill>
            </a:endParaRPr>
          </a:p>
        </p:txBody>
      </p:sp>
      <p:sp>
        <p:nvSpPr>
          <p:cNvPr id="17" name="Text Placeholder 16">
            <a:extLst>
              <a:ext uri="{FF2B5EF4-FFF2-40B4-BE49-F238E27FC236}">
                <a16:creationId xmlns:a16="http://schemas.microsoft.com/office/drawing/2014/main" id="{3EC704EA-1DAB-433B-D50E-2B8AAE07D399}"/>
              </a:ext>
            </a:extLst>
          </p:cNvPr>
          <p:cNvSpPr>
            <a:spLocks noGrp="1"/>
          </p:cNvSpPr>
          <p:nvPr>
            <p:ph type="body" sz="quarter" idx="18"/>
          </p:nvPr>
        </p:nvSpPr>
        <p:spPr/>
        <p:txBody>
          <a:bodyPr/>
          <a:lstStyle/>
          <a:p>
            <a:endParaRPr lang="en-US" dirty="0"/>
          </a:p>
        </p:txBody>
      </p:sp>
      <p:sp>
        <p:nvSpPr>
          <p:cNvPr id="18" name="Slide Number Placeholder 17">
            <a:extLst>
              <a:ext uri="{FF2B5EF4-FFF2-40B4-BE49-F238E27FC236}">
                <a16:creationId xmlns:a16="http://schemas.microsoft.com/office/drawing/2014/main" id="{64ECC06D-FBD9-DFEB-6B8C-A4335D33C289}"/>
              </a:ext>
            </a:extLst>
          </p:cNvPr>
          <p:cNvSpPr>
            <a:spLocks noGrp="1"/>
          </p:cNvSpPr>
          <p:nvPr>
            <p:ph type="sldNum" sz="quarter" idx="4"/>
          </p:nvPr>
        </p:nvSpPr>
        <p:spPr/>
        <p:txBody>
          <a:bodyPr/>
          <a:lstStyle/>
          <a:p>
            <a:fld id="{4A16F8ED-7337-F64C-865A-41A1F48E54DF}" type="slidenum">
              <a:rPr lang="en-US" smtClean="0"/>
              <a:pPr/>
              <a:t>8</a:t>
            </a:fld>
            <a:endParaRPr lang="en-US" dirty="0"/>
          </a:p>
        </p:txBody>
      </p:sp>
    </p:spTree>
    <p:extLst>
      <p:ext uri="{BB962C8B-B14F-4D97-AF65-F5344CB8AC3E}">
        <p14:creationId xmlns:p14="http://schemas.microsoft.com/office/powerpoint/2010/main" val="4013472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7C04FB16-92AD-13AE-CBFE-CB032CFD2456}"/>
              </a:ext>
            </a:extLst>
          </p:cNvPr>
          <p:cNvSpPr>
            <a:spLocks noGrp="1"/>
          </p:cNvSpPr>
          <p:nvPr>
            <p:ph type="body" sz="quarter" idx="18"/>
          </p:nvPr>
        </p:nvSpPr>
        <p:spPr>
          <a:xfrm>
            <a:off x="1235941" y="1350855"/>
            <a:ext cx="9720118" cy="2442211"/>
          </a:xfrm>
        </p:spPr>
        <p:txBody>
          <a:bodyPr/>
          <a:lstStyle/>
          <a:p>
            <a:pPr algn="just">
              <a:buClr>
                <a:schemeClr val="tx1"/>
              </a:buClr>
              <a:buFont typeface="Wingdings" panose="05000000000000000000" pitchFamily="2" charset="2"/>
              <a:buChar char="v"/>
            </a:pPr>
            <a:r>
              <a:rPr lang="es-MX" sz="2400" dirty="0"/>
              <a:t>Es la pantalla que permite editar los textos que permitirán acceder a los distintos módulos en el autoservicio, siendo diferenciados por estudiantes o Docente/Asesores</a:t>
            </a:r>
          </a:p>
          <a:p>
            <a:pPr algn="just">
              <a:buClr>
                <a:schemeClr val="tx1"/>
              </a:buClr>
              <a:buFont typeface="Wingdings" panose="05000000000000000000" pitchFamily="2" charset="2"/>
              <a:buChar char="v"/>
            </a:pPr>
            <a:r>
              <a:rPr lang="es-MX" sz="2400" dirty="0"/>
              <a:t>Contiene texto por defecto para varios mensajes de Autoservicio</a:t>
            </a:r>
          </a:p>
          <a:p>
            <a:pPr algn="just">
              <a:buClr>
                <a:schemeClr val="tx1"/>
              </a:buClr>
              <a:buFont typeface="Wingdings" panose="05000000000000000000" pitchFamily="2" charset="2"/>
              <a:buChar char="v"/>
            </a:pPr>
            <a:r>
              <a:rPr lang="es-MX" sz="2400" dirty="0"/>
              <a:t>Se puede crear un texto personalizado utilizando el campo “</a:t>
            </a:r>
            <a:r>
              <a:rPr lang="es-MX" sz="2400" dirty="0" err="1"/>
              <a:t>Source</a:t>
            </a:r>
            <a:r>
              <a:rPr lang="es-MX" sz="2400" dirty="0"/>
              <a:t>” = L (local) y utilizando HTML para poder configurar los textos.</a:t>
            </a:r>
          </a:p>
          <a:p>
            <a:pPr marL="0" indent="0" algn="just">
              <a:buClr>
                <a:srgbClr val="0CB4B4"/>
              </a:buClr>
              <a:buNone/>
            </a:pPr>
            <a:endParaRPr lang="es-419" sz="2400" dirty="0"/>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9</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GUAINFO</a:t>
            </a:r>
            <a:br>
              <a:rPr lang="es-MX" dirty="0">
                <a:solidFill>
                  <a:schemeClr val="accent1"/>
                </a:solidFill>
              </a:rPr>
            </a:br>
            <a:endParaRPr lang="es-CL" dirty="0">
              <a:solidFill>
                <a:schemeClr val="accent1"/>
              </a:solidFill>
            </a:endParaRPr>
          </a:p>
        </p:txBody>
      </p:sp>
    </p:spTree>
    <p:extLst>
      <p:ext uri="{BB962C8B-B14F-4D97-AF65-F5344CB8AC3E}">
        <p14:creationId xmlns:p14="http://schemas.microsoft.com/office/powerpoint/2010/main" val="1881654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8D35DD1E-677B-28AE-D387-2729BBF704A6}"/>
              </a:ext>
            </a:extLst>
          </p:cNvPr>
          <p:cNvPicPr>
            <a:picLocks noChangeAspect="1"/>
          </p:cNvPicPr>
          <p:nvPr/>
        </p:nvPicPr>
        <p:blipFill>
          <a:blip r:embed="rId2"/>
          <a:stretch>
            <a:fillRect/>
          </a:stretch>
        </p:blipFill>
        <p:spPr>
          <a:xfrm>
            <a:off x="894522" y="1453243"/>
            <a:ext cx="10271883" cy="485998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10</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a:t>
            </a:r>
            <a:r>
              <a:rPr lang="es-MX" b="0" dirty="0">
                <a:solidFill>
                  <a:schemeClr val="accent1"/>
                </a:solidFill>
              </a:rPr>
              <a:t> GUAINFO Editor de texto de información</a:t>
            </a:r>
            <a:br>
              <a:rPr lang="es-MX" dirty="0">
                <a:solidFill>
                  <a:schemeClr val="accent1"/>
                </a:solidFill>
              </a:rPr>
            </a:br>
            <a:endParaRPr lang="es-CL" dirty="0">
              <a:solidFill>
                <a:schemeClr val="accent1"/>
              </a:solidFill>
            </a:endParaRPr>
          </a:p>
        </p:txBody>
      </p:sp>
      <p:sp>
        <p:nvSpPr>
          <p:cNvPr id="10" name="Rectángulo 9">
            <a:extLst>
              <a:ext uri="{FF2B5EF4-FFF2-40B4-BE49-F238E27FC236}">
                <a16:creationId xmlns:a16="http://schemas.microsoft.com/office/drawing/2014/main" id="{7C9ED2D7-A1F5-C0F3-3028-DE368CB63322}"/>
              </a:ext>
            </a:extLst>
          </p:cNvPr>
          <p:cNvSpPr/>
          <p:nvPr/>
        </p:nvSpPr>
        <p:spPr>
          <a:xfrm>
            <a:off x="855620" y="2475580"/>
            <a:ext cx="4241800" cy="38100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redondeado 8">
            <a:extLst>
              <a:ext uri="{FF2B5EF4-FFF2-40B4-BE49-F238E27FC236}">
                <a16:creationId xmlns:a16="http://schemas.microsoft.com/office/drawing/2014/main" id="{029C17A4-6835-899C-46D6-61E16A8C9E50}"/>
              </a:ext>
            </a:extLst>
          </p:cNvPr>
          <p:cNvSpPr/>
          <p:nvPr/>
        </p:nvSpPr>
        <p:spPr>
          <a:xfrm>
            <a:off x="5343439" y="2475580"/>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2" name="Rectangle: Rounded Corners 5">
            <a:extLst>
              <a:ext uri="{FF2B5EF4-FFF2-40B4-BE49-F238E27FC236}">
                <a16:creationId xmlns:a16="http://schemas.microsoft.com/office/drawing/2014/main" id="{EA05AB95-62BD-CEF2-B941-C90E26CF5593}"/>
              </a:ext>
            </a:extLst>
          </p:cNvPr>
          <p:cNvSpPr/>
          <p:nvPr/>
        </p:nvSpPr>
        <p:spPr>
          <a:xfrm>
            <a:off x="6096000" y="2358111"/>
            <a:ext cx="2695291" cy="762001"/>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Se realiza un filtro por “Nombre de página” y “Configuración regional”.</a:t>
            </a:r>
          </a:p>
        </p:txBody>
      </p:sp>
    </p:spTree>
    <p:extLst>
      <p:ext uri="{BB962C8B-B14F-4D97-AF65-F5344CB8AC3E}">
        <p14:creationId xmlns:p14="http://schemas.microsoft.com/office/powerpoint/2010/main" val="1733200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6E84774B-BD81-7083-61E0-5CD7C2E1711C}"/>
              </a:ext>
            </a:extLst>
          </p:cNvPr>
          <p:cNvPicPr>
            <a:picLocks noChangeAspect="1"/>
          </p:cNvPicPr>
          <p:nvPr/>
        </p:nvPicPr>
        <p:blipFill>
          <a:blip r:embed="rId2"/>
          <a:stretch>
            <a:fillRect/>
          </a:stretch>
        </p:blipFill>
        <p:spPr>
          <a:xfrm>
            <a:off x="715992" y="1180877"/>
            <a:ext cx="10895163" cy="5103734"/>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11</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GUAINFO </a:t>
            </a:r>
            <a:br>
              <a:rPr lang="es-MX" b="0" dirty="0">
                <a:solidFill>
                  <a:schemeClr val="accent1"/>
                </a:solidFill>
              </a:rPr>
            </a:br>
            <a:r>
              <a:rPr lang="es-MX" b="0" dirty="0">
                <a:solidFill>
                  <a:schemeClr val="accent1"/>
                </a:solidFill>
              </a:rPr>
              <a:t>Editor de texto de información</a:t>
            </a:r>
            <a:br>
              <a:rPr lang="es-MX" dirty="0">
                <a:solidFill>
                  <a:schemeClr val="accent1"/>
                </a:solidFill>
              </a:rPr>
            </a:br>
            <a:endParaRPr lang="es-CL" dirty="0">
              <a:solidFill>
                <a:schemeClr val="accent1"/>
              </a:solidFill>
            </a:endParaRPr>
          </a:p>
        </p:txBody>
      </p:sp>
      <p:sp>
        <p:nvSpPr>
          <p:cNvPr id="10" name="Rectángulo 9">
            <a:extLst>
              <a:ext uri="{FF2B5EF4-FFF2-40B4-BE49-F238E27FC236}">
                <a16:creationId xmlns:a16="http://schemas.microsoft.com/office/drawing/2014/main" id="{7C9ED2D7-A1F5-C0F3-3028-DE368CB63322}"/>
              </a:ext>
            </a:extLst>
          </p:cNvPr>
          <p:cNvSpPr/>
          <p:nvPr/>
        </p:nvSpPr>
        <p:spPr>
          <a:xfrm>
            <a:off x="1431505" y="1926628"/>
            <a:ext cx="4241800" cy="38100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redondeado 8">
            <a:extLst>
              <a:ext uri="{FF2B5EF4-FFF2-40B4-BE49-F238E27FC236}">
                <a16:creationId xmlns:a16="http://schemas.microsoft.com/office/drawing/2014/main" id="{029C17A4-6835-899C-46D6-61E16A8C9E50}"/>
              </a:ext>
            </a:extLst>
          </p:cNvPr>
          <p:cNvSpPr/>
          <p:nvPr/>
        </p:nvSpPr>
        <p:spPr>
          <a:xfrm>
            <a:off x="5805042" y="1886469"/>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2" name="Rectangle: Rounded Corners 5">
            <a:extLst>
              <a:ext uri="{FF2B5EF4-FFF2-40B4-BE49-F238E27FC236}">
                <a16:creationId xmlns:a16="http://schemas.microsoft.com/office/drawing/2014/main" id="{EA05AB95-62BD-CEF2-B941-C90E26CF5593}"/>
              </a:ext>
            </a:extLst>
          </p:cNvPr>
          <p:cNvSpPr/>
          <p:nvPr/>
        </p:nvSpPr>
        <p:spPr>
          <a:xfrm>
            <a:off x="6784267" y="1637235"/>
            <a:ext cx="2695291" cy="762001"/>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Se realiza un filtro por “Nombre de página” y “Configuración regional”.</a:t>
            </a:r>
          </a:p>
        </p:txBody>
      </p:sp>
      <p:sp>
        <p:nvSpPr>
          <p:cNvPr id="2" name="Rectángulo 1">
            <a:extLst>
              <a:ext uri="{FF2B5EF4-FFF2-40B4-BE49-F238E27FC236}">
                <a16:creationId xmlns:a16="http://schemas.microsoft.com/office/drawing/2014/main" id="{08C92955-EF4F-27CA-3421-3410E07B209D}"/>
              </a:ext>
            </a:extLst>
          </p:cNvPr>
          <p:cNvSpPr/>
          <p:nvPr/>
        </p:nvSpPr>
        <p:spPr>
          <a:xfrm>
            <a:off x="622570" y="2743323"/>
            <a:ext cx="10776832" cy="33889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Rectángulo redondeado 8">
            <a:extLst>
              <a:ext uri="{FF2B5EF4-FFF2-40B4-BE49-F238E27FC236}">
                <a16:creationId xmlns:a16="http://schemas.microsoft.com/office/drawing/2014/main" id="{9920576C-F9D8-03C1-5D35-18881A8E831A}"/>
              </a:ext>
            </a:extLst>
          </p:cNvPr>
          <p:cNvSpPr/>
          <p:nvPr/>
        </p:nvSpPr>
        <p:spPr>
          <a:xfrm>
            <a:off x="5869827" y="3262234"/>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7" name="Rectangle: Rounded Corners 5">
            <a:extLst>
              <a:ext uri="{FF2B5EF4-FFF2-40B4-BE49-F238E27FC236}">
                <a16:creationId xmlns:a16="http://schemas.microsoft.com/office/drawing/2014/main" id="{DC75DF8B-AE55-72DD-FF4C-731D3301026D}"/>
              </a:ext>
            </a:extLst>
          </p:cNvPr>
          <p:cNvSpPr/>
          <p:nvPr/>
        </p:nvSpPr>
        <p:spPr>
          <a:xfrm>
            <a:off x="6330807" y="2903006"/>
            <a:ext cx="4185642" cy="926525"/>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dirty="0"/>
              <a:t>Se configuran las páginas:</a:t>
            </a:r>
          </a:p>
          <a:p>
            <a:pPr marL="171450" indent="-171450">
              <a:buFont typeface="Arial" panose="020B0604020202020204" pitchFamily="34" charset="0"/>
              <a:buChar char="•"/>
            </a:pPr>
            <a:r>
              <a:rPr lang="es-CL" sz="1200" dirty="0">
                <a:solidFill>
                  <a:schemeClr val="bg1"/>
                </a:solidFill>
              </a:rPr>
              <a:t>STUDENTLANDINGPAGE</a:t>
            </a:r>
          </a:p>
          <a:p>
            <a:pPr marL="171450" indent="-171450">
              <a:buFont typeface="Arial" panose="020B0604020202020204" pitchFamily="34" charset="0"/>
              <a:buChar char="•"/>
            </a:pPr>
            <a:r>
              <a:rPr lang="es-CL" sz="1200" dirty="0">
                <a:solidFill>
                  <a:schemeClr val="bg1"/>
                </a:solidFill>
              </a:rPr>
              <a:t>FACULTYLANDINGPAGE</a:t>
            </a:r>
          </a:p>
          <a:p>
            <a:r>
              <a:rPr lang="es-CL" sz="1200" dirty="0"/>
              <a:t>Cuyo valor en el campo “Indicador de origen”, sea Local.</a:t>
            </a:r>
          </a:p>
        </p:txBody>
      </p:sp>
      <p:sp>
        <p:nvSpPr>
          <p:cNvPr id="8" name="Rectángulo 7">
            <a:extLst>
              <a:ext uri="{FF2B5EF4-FFF2-40B4-BE49-F238E27FC236}">
                <a16:creationId xmlns:a16="http://schemas.microsoft.com/office/drawing/2014/main" id="{FD45A14A-57EF-9ECA-CC2D-06369CC918E7}"/>
              </a:ext>
            </a:extLst>
          </p:cNvPr>
          <p:cNvSpPr/>
          <p:nvPr/>
        </p:nvSpPr>
        <p:spPr>
          <a:xfrm>
            <a:off x="963558" y="3833906"/>
            <a:ext cx="10776832" cy="19652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angle: Rounded Corners 5">
            <a:extLst>
              <a:ext uri="{FF2B5EF4-FFF2-40B4-BE49-F238E27FC236}">
                <a16:creationId xmlns:a16="http://schemas.microsoft.com/office/drawing/2014/main" id="{83340DC0-B00F-437F-CEBC-E6EE05273AED}"/>
              </a:ext>
            </a:extLst>
          </p:cNvPr>
          <p:cNvSpPr/>
          <p:nvPr/>
        </p:nvSpPr>
        <p:spPr>
          <a:xfrm>
            <a:off x="2302503" y="4874205"/>
            <a:ext cx="7851710" cy="693119"/>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400" b="1" dirty="0"/>
              <a:t>OBSERVACIÓN</a:t>
            </a:r>
            <a:r>
              <a:rPr lang="es-CL" sz="1400" dirty="0"/>
              <a:t> Los mensajes predefinidos, son lo que tienen en valor “</a:t>
            </a:r>
            <a:r>
              <a:rPr lang="es-CL" sz="1400" dirty="0" err="1"/>
              <a:t>Baseline</a:t>
            </a:r>
            <a:r>
              <a:rPr lang="es-CL" sz="1400" dirty="0"/>
              <a:t>” en el campo “Indicador de origen”</a:t>
            </a:r>
          </a:p>
          <a:p>
            <a:pPr algn="ctr"/>
            <a:endParaRPr lang="es-CL" sz="1400" dirty="0"/>
          </a:p>
        </p:txBody>
      </p:sp>
    </p:spTree>
    <p:extLst>
      <p:ext uri="{BB962C8B-B14F-4D97-AF65-F5344CB8AC3E}">
        <p14:creationId xmlns:p14="http://schemas.microsoft.com/office/powerpoint/2010/main" val="3493316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4">
            <a:extLst>
              <a:ext uri="{FF2B5EF4-FFF2-40B4-BE49-F238E27FC236}">
                <a16:creationId xmlns:a16="http://schemas.microsoft.com/office/drawing/2014/main" id="{A95996CC-D7E8-451B-3BC9-54A5921C7E05}"/>
              </a:ext>
            </a:extLst>
          </p:cNvPr>
          <p:cNvSpPr>
            <a:spLocks noGrp="1"/>
          </p:cNvSpPr>
          <p:nvPr>
            <p:ph type="body" sz="quarter" idx="18"/>
          </p:nvPr>
        </p:nvSpPr>
        <p:spPr>
          <a:xfrm>
            <a:off x="1076165" y="1561883"/>
            <a:ext cx="9720118" cy="4022580"/>
          </a:xfrm>
        </p:spPr>
        <p:txBody>
          <a:bodyPr/>
          <a:lstStyle/>
          <a:p>
            <a:pPr algn="just">
              <a:buClr>
                <a:schemeClr val="tx1"/>
              </a:buClr>
              <a:buFont typeface="Wingdings" panose="05000000000000000000" pitchFamily="2" charset="2"/>
              <a:buChar char="v"/>
            </a:pPr>
            <a:r>
              <a:rPr lang="es-MX" dirty="0"/>
              <a:t>El objetivo es colocar el texto deseado en el campo “Mensaje” de la página, tanto de docentes como a estudiantes.</a:t>
            </a:r>
          </a:p>
          <a:p>
            <a:pPr algn="just">
              <a:buClr>
                <a:schemeClr val="tx1"/>
              </a:buClr>
              <a:buFont typeface="Wingdings" panose="05000000000000000000" pitchFamily="2" charset="2"/>
              <a:buChar char="v"/>
            </a:pPr>
            <a:r>
              <a:rPr lang="es-MX" dirty="0"/>
              <a:t>El texto por defecto es similar a este:</a:t>
            </a:r>
          </a:p>
          <a:p>
            <a:pPr marL="168275" lvl="1" indent="0" algn="just">
              <a:buClr>
                <a:srgbClr val="0CB4B4"/>
              </a:buClr>
              <a:buNone/>
            </a:pPr>
            <a:r>
              <a:rPr lang="es-MX" dirty="0"/>
              <a:t>Esta es la página de entrada para </a:t>
            </a:r>
            <a:r>
              <a:rPr lang="es-MX" dirty="0" err="1"/>
              <a:t>Faculty</a:t>
            </a:r>
            <a:r>
              <a:rPr lang="es-MX" dirty="0"/>
              <a:t>. Desde aquí, puede ir a las siguientes páginas usando el menú en el encabezado (</a:t>
            </a:r>
            <a:r>
              <a:rPr lang="es-MX" dirty="0" err="1"/>
              <a:t>Alt+M</a:t>
            </a:r>
            <a:r>
              <a:rPr lang="es-MX" dirty="0"/>
              <a:t>) dependiendo de su rol en la institución:&lt;</a:t>
            </a:r>
            <a:r>
              <a:rPr lang="es-MX" dirty="0" err="1"/>
              <a:t>ul</a:t>
            </a:r>
            <a:r>
              <a:rPr lang="es-MX" dirty="0"/>
              <a:t>&gt;&lt;</a:t>
            </a:r>
            <a:r>
              <a:rPr lang="es-MX" dirty="0" err="1"/>
              <a:t>li</a:t>
            </a:r>
            <a:r>
              <a:rPr lang="es-MX" dirty="0"/>
              <a:t>&gt;Captura de calificaciones del docente&lt;/</a:t>
            </a:r>
            <a:r>
              <a:rPr lang="es-MX" dirty="0" err="1"/>
              <a:t>li</a:t>
            </a:r>
            <a:r>
              <a:rPr lang="es-MX" dirty="0"/>
              <a:t>&gt;&lt;</a:t>
            </a:r>
            <a:r>
              <a:rPr lang="es-MX" dirty="0" err="1"/>
              <a:t>li</a:t>
            </a:r>
            <a:r>
              <a:rPr lang="es-MX" dirty="0"/>
              <a:t>&gt;Control de asistencia del docente&lt;/</a:t>
            </a:r>
            <a:r>
              <a:rPr lang="es-MX" dirty="0" err="1"/>
              <a:t>li</a:t>
            </a:r>
            <a:r>
              <a:rPr lang="es-MX" dirty="0"/>
              <a:t>&gt;&lt;</a:t>
            </a:r>
            <a:r>
              <a:rPr lang="es-MX" dirty="0" err="1"/>
              <a:t>li</a:t>
            </a:r>
            <a:r>
              <a:rPr lang="es-MX" dirty="0"/>
              <a:t>&gt;Revisión académica de alumno&lt;/</a:t>
            </a:r>
            <a:r>
              <a:rPr lang="es-MX" dirty="0" err="1"/>
              <a:t>li</a:t>
            </a:r>
            <a:r>
              <a:rPr lang="es-MX" dirty="0"/>
              <a:t>&gt;&lt;/</a:t>
            </a:r>
            <a:r>
              <a:rPr lang="es-MX" dirty="0" err="1"/>
              <a:t>ul</a:t>
            </a:r>
            <a:r>
              <a:rPr lang="es-MX" dirty="0"/>
              <a:t>&gt;Si tiene alguna pregunta, enviar un correo electrónico a la oficina de inscripciones.</a:t>
            </a:r>
          </a:p>
          <a:p>
            <a:pPr marL="168275" lvl="1" indent="0" algn="just">
              <a:buClr>
                <a:srgbClr val="0CB4B4"/>
              </a:buClr>
              <a:buNone/>
            </a:pPr>
            <a:endParaRPr lang="es-MX" dirty="0"/>
          </a:p>
          <a:p>
            <a:pPr algn="just">
              <a:buClr>
                <a:schemeClr val="tx1"/>
              </a:buClr>
              <a:buFont typeface="Wingdings" panose="05000000000000000000" pitchFamily="2" charset="2"/>
              <a:buChar char="v"/>
            </a:pPr>
            <a:r>
              <a:rPr lang="es-MX" dirty="0"/>
              <a:t>El texto puede contener enlaces directos los módulos de Ellucian Student o incluso a sistemas externos. </a:t>
            </a:r>
          </a:p>
          <a:p>
            <a:pPr marL="0" indent="0" algn="just">
              <a:buClr>
                <a:srgbClr val="0CB4B4"/>
              </a:buClr>
              <a:buNone/>
            </a:pPr>
            <a:endParaRPr lang="es-419" dirty="0"/>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12</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GUAINFO</a:t>
            </a:r>
            <a:br>
              <a:rPr lang="es-MX" b="0" dirty="0">
                <a:solidFill>
                  <a:schemeClr val="accent1"/>
                </a:solidFill>
              </a:rPr>
            </a:br>
            <a:r>
              <a:rPr lang="es-MX" b="0" dirty="0">
                <a:solidFill>
                  <a:schemeClr val="accent1"/>
                </a:solidFill>
              </a:rPr>
              <a:t>Editor de texto de información</a:t>
            </a:r>
            <a:br>
              <a:rPr lang="es-MX" dirty="0">
                <a:solidFill>
                  <a:schemeClr val="accent1"/>
                </a:solidFill>
              </a:rPr>
            </a:br>
            <a:endParaRPr lang="es-CL" dirty="0">
              <a:solidFill>
                <a:schemeClr val="accent1"/>
              </a:solidFill>
            </a:endParaRPr>
          </a:p>
        </p:txBody>
      </p:sp>
    </p:spTree>
    <p:extLst>
      <p:ext uri="{BB962C8B-B14F-4D97-AF65-F5344CB8AC3E}">
        <p14:creationId xmlns:p14="http://schemas.microsoft.com/office/powerpoint/2010/main" val="2204307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4">
            <a:extLst>
              <a:ext uri="{FF2B5EF4-FFF2-40B4-BE49-F238E27FC236}">
                <a16:creationId xmlns:a16="http://schemas.microsoft.com/office/drawing/2014/main" id="{A95996CC-D7E8-451B-3BC9-54A5921C7E05}"/>
              </a:ext>
            </a:extLst>
          </p:cNvPr>
          <p:cNvSpPr>
            <a:spLocks noGrp="1"/>
          </p:cNvSpPr>
          <p:nvPr>
            <p:ph type="body" sz="quarter" idx="18"/>
          </p:nvPr>
        </p:nvSpPr>
        <p:spPr>
          <a:xfrm>
            <a:off x="946128" y="1280335"/>
            <a:ext cx="10514581" cy="4022580"/>
          </a:xfrm>
        </p:spPr>
        <p:txBody>
          <a:bodyPr/>
          <a:lstStyle/>
          <a:p>
            <a:pPr marL="0" indent="0">
              <a:buClr>
                <a:srgbClr val="0CB4B4"/>
              </a:buClr>
              <a:buNone/>
            </a:pPr>
            <a:r>
              <a:rPr lang="es-CO" sz="1000" dirty="0">
                <a:latin typeface="Courier New" panose="02070309020205020404" pitchFamily="49" charset="0"/>
                <a:cs typeface="Courier New" panose="02070309020205020404" pitchFamily="49" charset="0"/>
              </a:rPr>
              <a:t>&lt;p&gt;&lt;b&gt;Esta es la página principal de los autoservicios de estudiantes. Desde aquí, puede acceder a los siguientes servicios:&lt;/b&gt;&lt;/p&gt;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&gt;&lt;b&gt;Servicios académicos&lt;/b&gt;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&gt;&lt;u&gt;&lt;a </a:t>
            </a:r>
            <a:r>
              <a:rPr lang="es-CO" sz="1000" dirty="0" err="1">
                <a:latin typeface="Courier New" panose="02070309020205020404" pitchFamily="49" charset="0"/>
                <a:cs typeface="Courier New" panose="02070309020205020404" pitchFamily="49" charset="0"/>
              </a:rPr>
              <a:t>href</a:t>
            </a:r>
            <a:r>
              <a:rPr lang="es-CO" sz="1000" dirty="0">
                <a:latin typeface="Courier New" panose="02070309020205020404" pitchFamily="49" charset="0"/>
                <a:cs typeface="Courier New" panose="02070309020205020404" pitchFamily="49" charset="0"/>
              </a:rPr>
              <a:t>="https://studentssb-test.usspesaas.elluciancloud.com:8100/</a:t>
            </a:r>
            <a:r>
              <a:rPr lang="es-CO" sz="1000" dirty="0" err="1">
                <a:latin typeface="Courier New" panose="02070309020205020404" pitchFamily="49" charset="0"/>
                <a:cs typeface="Courier New" panose="02070309020205020404" pitchFamily="49" charset="0"/>
              </a:rPr>
              <a:t>StudentSelfService</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ssb</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studentProfile</a:t>
            </a:r>
            <a:r>
              <a:rPr lang="es-CO" sz="1000" dirty="0">
                <a:latin typeface="Courier New" panose="02070309020205020404" pitchFamily="49" charset="0"/>
                <a:cs typeface="Courier New" panose="02070309020205020404" pitchFamily="49" charset="0"/>
              </a:rPr>
              <a:t>" target="_</a:t>
            </a:r>
            <a:r>
              <a:rPr lang="es-CO" sz="1000" dirty="0" err="1">
                <a:latin typeface="Courier New" panose="02070309020205020404" pitchFamily="49" charset="0"/>
                <a:cs typeface="Courier New" panose="02070309020205020404" pitchFamily="49" charset="0"/>
              </a:rPr>
              <a:t>blank</a:t>
            </a:r>
            <a:r>
              <a:rPr lang="es-CO" sz="1000" dirty="0">
                <a:latin typeface="Courier New" panose="02070309020205020404" pitchFamily="49" charset="0"/>
                <a:cs typeface="Courier New" panose="02070309020205020404" pitchFamily="49" charset="0"/>
              </a:rPr>
              <a:t>"&gt;Perfil de estudiante&lt;/a&gt;&lt;/u&gt;&lt;/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&gt;&lt;u&gt;&lt;a </a:t>
            </a:r>
            <a:r>
              <a:rPr lang="es-CO" sz="1000" dirty="0" err="1">
                <a:latin typeface="Courier New" panose="02070309020205020404" pitchFamily="49" charset="0"/>
                <a:cs typeface="Courier New" panose="02070309020205020404" pitchFamily="49" charset="0"/>
              </a:rPr>
              <a:t>href</a:t>
            </a:r>
            <a:r>
              <a:rPr lang="es-CO" sz="1000" dirty="0">
                <a:latin typeface="Courier New" panose="02070309020205020404" pitchFamily="49" charset="0"/>
                <a:cs typeface="Courier New" panose="02070309020205020404" pitchFamily="49" charset="0"/>
              </a:rPr>
              <a:t>="https://reg-test.usspesaas.elluciancloud.com:8103/</a:t>
            </a:r>
            <a:r>
              <a:rPr lang="es-CO" sz="1000" dirty="0" err="1">
                <a:latin typeface="Courier New" panose="02070309020205020404" pitchFamily="49" charset="0"/>
                <a:cs typeface="Courier New" panose="02070309020205020404" pitchFamily="49" charset="0"/>
              </a:rPr>
              <a:t>StudentRegistrationSsb</a:t>
            </a:r>
            <a:r>
              <a:rPr lang="es-CO" sz="1000" dirty="0">
                <a:latin typeface="Courier New" panose="02070309020205020404" pitchFamily="49" charset="0"/>
                <a:cs typeface="Courier New" panose="02070309020205020404" pitchFamily="49" charset="0"/>
              </a:rPr>
              <a:t>" target="_</a:t>
            </a:r>
            <a:r>
              <a:rPr lang="es-CO" sz="1000" dirty="0" err="1">
                <a:latin typeface="Courier New" panose="02070309020205020404" pitchFamily="49" charset="0"/>
                <a:cs typeface="Courier New" panose="02070309020205020404" pitchFamily="49" charset="0"/>
              </a:rPr>
              <a:t>blank</a:t>
            </a:r>
            <a:r>
              <a:rPr lang="es-CO" sz="1000" dirty="0">
                <a:latin typeface="Courier New" panose="02070309020205020404" pitchFamily="49" charset="0"/>
                <a:cs typeface="Courier New" panose="02070309020205020404" pitchFamily="49" charset="0"/>
              </a:rPr>
              <a:t>"&gt;Inscripción, horario y planificación&lt;/a&gt;&lt;/u&gt;&lt;/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&gt;&lt;u&gt;&lt;a </a:t>
            </a:r>
            <a:r>
              <a:rPr lang="es-CO" sz="1000" dirty="0" err="1">
                <a:latin typeface="Courier New" panose="02070309020205020404" pitchFamily="49" charset="0"/>
                <a:cs typeface="Courier New" panose="02070309020205020404" pitchFamily="49" charset="0"/>
              </a:rPr>
              <a:t>href</a:t>
            </a:r>
            <a:r>
              <a:rPr lang="es-CO" sz="1000" dirty="0">
                <a:latin typeface="Courier New" panose="02070309020205020404" pitchFamily="49" charset="0"/>
                <a:cs typeface="Courier New" panose="02070309020205020404" pitchFamily="49" charset="0"/>
              </a:rPr>
              <a:t>="https://studentssb-test.usspesaas.elluciancloud.com:8100/</a:t>
            </a:r>
            <a:r>
              <a:rPr lang="es-CO" sz="1000" dirty="0" err="1">
                <a:latin typeface="Courier New" panose="02070309020205020404" pitchFamily="49" charset="0"/>
                <a:cs typeface="Courier New" panose="02070309020205020404" pitchFamily="49" charset="0"/>
              </a:rPr>
              <a:t>StudentSelfService</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ssb</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studentAttendanceTracking</a:t>
            </a:r>
            <a:r>
              <a:rPr lang="es-CO" sz="1000" dirty="0">
                <a:latin typeface="Courier New" panose="02070309020205020404" pitchFamily="49" charset="0"/>
                <a:cs typeface="Courier New" panose="02070309020205020404" pitchFamily="49" charset="0"/>
              </a:rPr>
              <a:t>" target="_</a:t>
            </a:r>
            <a:r>
              <a:rPr lang="es-CO" sz="1000" dirty="0" err="1">
                <a:latin typeface="Courier New" panose="02070309020205020404" pitchFamily="49" charset="0"/>
                <a:cs typeface="Courier New" panose="02070309020205020404" pitchFamily="49" charset="0"/>
              </a:rPr>
              <a:t>blank</a:t>
            </a:r>
            <a:r>
              <a:rPr lang="es-CO" sz="1000" dirty="0">
                <a:latin typeface="Courier New" panose="02070309020205020404" pitchFamily="49" charset="0"/>
                <a:cs typeface="Courier New" panose="02070309020205020404" pitchFamily="49" charset="0"/>
              </a:rPr>
              <a:t>"&gt;Ver asistencia&lt;/a&gt;&lt;/u&gt;&lt;/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&gt;&lt;u&gt;&lt;a </a:t>
            </a:r>
            <a:r>
              <a:rPr lang="es-CO" sz="1000" dirty="0" err="1">
                <a:latin typeface="Courier New" panose="02070309020205020404" pitchFamily="49" charset="0"/>
                <a:cs typeface="Courier New" panose="02070309020205020404" pitchFamily="49" charset="0"/>
              </a:rPr>
              <a:t>href</a:t>
            </a:r>
            <a:r>
              <a:rPr lang="es-CO" sz="1000" dirty="0">
                <a:latin typeface="Courier New" panose="02070309020205020404" pitchFamily="49" charset="0"/>
                <a:cs typeface="Courier New" panose="02070309020205020404" pitchFamily="49" charset="0"/>
              </a:rPr>
              <a:t>="https://studentssb-test.usspesaas.elluciancloud.com:8100/</a:t>
            </a:r>
            <a:r>
              <a:rPr lang="es-CO" sz="1000" dirty="0" err="1">
                <a:latin typeface="Courier New" panose="02070309020205020404" pitchFamily="49" charset="0"/>
                <a:cs typeface="Courier New" panose="02070309020205020404" pitchFamily="49" charset="0"/>
              </a:rPr>
              <a:t>StudentSelfService</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ssb</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studentGrades</a:t>
            </a:r>
            <a:r>
              <a:rPr lang="es-CO" sz="1000" dirty="0">
                <a:latin typeface="Courier New" panose="02070309020205020404" pitchFamily="49" charset="0"/>
                <a:cs typeface="Courier New" panose="02070309020205020404" pitchFamily="49" charset="0"/>
              </a:rPr>
              <a:t>" target="_</a:t>
            </a:r>
            <a:r>
              <a:rPr lang="es-CO" sz="1000" dirty="0" err="1">
                <a:latin typeface="Courier New" panose="02070309020205020404" pitchFamily="49" charset="0"/>
                <a:cs typeface="Courier New" panose="02070309020205020404" pitchFamily="49" charset="0"/>
              </a:rPr>
              <a:t>blank</a:t>
            </a:r>
            <a:r>
              <a:rPr lang="es-CO" sz="1000" dirty="0">
                <a:latin typeface="Courier New" panose="02070309020205020404" pitchFamily="49" charset="0"/>
                <a:cs typeface="Courier New" panose="02070309020205020404" pitchFamily="49" charset="0"/>
              </a:rPr>
              <a:t>"&gt;Ver calificaciones&lt;/a&gt;&lt;/u&gt;&lt;/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&gt;&lt;u&gt;&lt;a </a:t>
            </a:r>
            <a:r>
              <a:rPr lang="es-CO" sz="1000" dirty="0" err="1">
                <a:latin typeface="Courier New" panose="02070309020205020404" pitchFamily="49" charset="0"/>
                <a:cs typeface="Courier New" panose="02070309020205020404" pitchFamily="49" charset="0"/>
              </a:rPr>
              <a:t>href</a:t>
            </a:r>
            <a:r>
              <a:rPr lang="es-CO" sz="1000" dirty="0">
                <a:latin typeface="Courier New" panose="02070309020205020404" pitchFamily="49" charset="0"/>
                <a:cs typeface="Courier New" panose="02070309020205020404" pitchFamily="49" charset="0"/>
              </a:rPr>
              <a:t>="https://studentssb-test.usspesaas.elluciancloud.com:8100/</a:t>
            </a:r>
            <a:r>
              <a:rPr lang="es-CO" sz="1000" dirty="0" err="1">
                <a:latin typeface="Courier New" panose="02070309020205020404" pitchFamily="49" charset="0"/>
                <a:cs typeface="Courier New" panose="02070309020205020404" pitchFamily="49" charset="0"/>
              </a:rPr>
              <a:t>StudentSelfService</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ssb</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bwstes</a:t>
            </a:r>
            <a:r>
              <a:rPr lang="es-CO" sz="1000" dirty="0">
                <a:latin typeface="Courier New" panose="02070309020205020404" pitchFamily="49" charset="0"/>
                <a:cs typeface="Courier New" panose="02070309020205020404" pitchFamily="49" charset="0"/>
              </a:rPr>
              <a:t>#/pDispterms" target="_</a:t>
            </a:r>
            <a:r>
              <a:rPr lang="es-CO" sz="1000" dirty="0" err="1">
                <a:latin typeface="Courier New" panose="02070309020205020404" pitchFamily="49" charset="0"/>
                <a:cs typeface="Courier New" panose="02070309020205020404" pitchFamily="49" charset="0"/>
              </a:rPr>
              <a:t>blank</a:t>
            </a:r>
            <a:r>
              <a:rPr lang="es-CO" sz="1000" dirty="0">
                <a:latin typeface="Courier New" panose="02070309020205020404" pitchFamily="49" charset="0"/>
                <a:cs typeface="Courier New" panose="02070309020205020404" pitchFamily="49" charset="0"/>
              </a:rPr>
              <a:t>"&gt;Realizar encuestas de evaluación de docentes&lt;/a&gt;&lt;/u&gt;&lt;/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&gt;&lt;u&gt;&lt;a </a:t>
            </a:r>
            <a:r>
              <a:rPr lang="es-CO" sz="1000" dirty="0" err="1">
                <a:latin typeface="Courier New" panose="02070309020205020404" pitchFamily="49" charset="0"/>
                <a:cs typeface="Courier New" panose="02070309020205020404" pitchFamily="49" charset="0"/>
              </a:rPr>
              <a:t>href</a:t>
            </a:r>
            <a:r>
              <a:rPr lang="es-CO" sz="1000" dirty="0">
                <a:latin typeface="Courier New" panose="02070309020205020404" pitchFamily="49" charset="0"/>
                <a:cs typeface="Courier New" panose="02070309020205020404" pitchFamily="49" charset="0"/>
              </a:rPr>
              <a:t>="https://studentssb-test.usspesaas.elluciancloud.com:8100/</a:t>
            </a:r>
            <a:r>
              <a:rPr lang="es-CO" sz="1000" dirty="0" err="1">
                <a:latin typeface="Courier New" panose="02070309020205020404" pitchFamily="49" charset="0"/>
                <a:cs typeface="Courier New" panose="02070309020205020404" pitchFamily="49" charset="0"/>
              </a:rPr>
              <a:t>StudentSelfService</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ssb</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degreeEvaluation</a:t>
            </a:r>
            <a:r>
              <a:rPr lang="es-CO" sz="1000" dirty="0">
                <a:latin typeface="Courier New" panose="02070309020205020404" pitchFamily="49" charset="0"/>
                <a:cs typeface="Courier New" panose="02070309020205020404" pitchFamily="49" charset="0"/>
              </a:rPr>
              <a:t> " target="_</a:t>
            </a:r>
            <a:r>
              <a:rPr lang="es-CO" sz="1000" dirty="0" err="1">
                <a:latin typeface="Courier New" panose="02070309020205020404" pitchFamily="49" charset="0"/>
                <a:cs typeface="Courier New" panose="02070309020205020404" pitchFamily="49" charset="0"/>
              </a:rPr>
              <a:t>blank</a:t>
            </a:r>
            <a:r>
              <a:rPr lang="es-CO" sz="1000" dirty="0">
                <a:latin typeface="Courier New" panose="02070309020205020404" pitchFamily="49" charset="0"/>
                <a:cs typeface="Courier New" panose="02070309020205020404" pitchFamily="49" charset="0"/>
              </a:rPr>
              <a:t>"&gt;Avance curricular&lt;/a&gt;&lt;/u&gt;&lt;/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&gt;&lt;u&gt;&lt;a </a:t>
            </a:r>
            <a:r>
              <a:rPr lang="es-CO" sz="1000" dirty="0" err="1">
                <a:latin typeface="Courier New" panose="02070309020205020404" pitchFamily="49" charset="0"/>
                <a:cs typeface="Courier New" panose="02070309020205020404" pitchFamily="49" charset="0"/>
              </a:rPr>
              <a:t>href</a:t>
            </a:r>
            <a:r>
              <a:rPr lang="es-CO" sz="1000" dirty="0">
                <a:latin typeface="Courier New" panose="02070309020205020404" pitchFamily="49" charset="0"/>
                <a:cs typeface="Courier New" panose="02070309020205020404" pitchFamily="49" charset="0"/>
              </a:rPr>
              <a:t>="https://studentssb-test.usspesaas.elluciancloud.com:8100/</a:t>
            </a:r>
            <a:r>
              <a:rPr lang="es-CO" sz="1000" dirty="0" err="1">
                <a:latin typeface="Courier New" panose="02070309020205020404" pitchFamily="49" charset="0"/>
                <a:cs typeface="Courier New" panose="02070309020205020404" pitchFamily="49" charset="0"/>
              </a:rPr>
              <a:t>StudentSelfService</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ssb</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academicTranscript</a:t>
            </a:r>
            <a:r>
              <a:rPr lang="es-CO" sz="1000" dirty="0">
                <a:latin typeface="Courier New" panose="02070309020205020404" pitchFamily="49" charset="0"/>
                <a:cs typeface="Courier New" panose="02070309020205020404" pitchFamily="49" charset="0"/>
              </a:rPr>
              <a:t> " target="_</a:t>
            </a:r>
            <a:r>
              <a:rPr lang="es-CO" sz="1000" dirty="0" err="1">
                <a:latin typeface="Courier New" panose="02070309020205020404" pitchFamily="49" charset="0"/>
                <a:cs typeface="Courier New" panose="02070309020205020404" pitchFamily="49" charset="0"/>
              </a:rPr>
              <a:t>blank</a:t>
            </a:r>
            <a:r>
              <a:rPr lang="es-CO" sz="1000" dirty="0">
                <a:latin typeface="Courier New" panose="02070309020205020404" pitchFamily="49" charset="0"/>
                <a:cs typeface="Courier New" panose="02070309020205020404" pitchFamily="49" charset="0"/>
              </a:rPr>
              <a:t>"&gt;Historia académica&lt;/a&gt;&lt;/u&gt;&lt;/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&gt;&lt;u&gt;&lt;a </a:t>
            </a:r>
            <a:r>
              <a:rPr lang="es-CO" sz="1000" dirty="0" err="1">
                <a:latin typeface="Courier New" panose="02070309020205020404" pitchFamily="49" charset="0"/>
                <a:cs typeface="Courier New" panose="02070309020205020404" pitchFamily="49" charset="0"/>
              </a:rPr>
              <a:t>href</a:t>
            </a:r>
            <a:r>
              <a:rPr lang="es-CO" sz="1000" dirty="0">
                <a:latin typeface="Courier New" panose="02070309020205020404" pitchFamily="49" charset="0"/>
                <a:cs typeface="Courier New" panose="02070309020205020404" pitchFamily="49" charset="0"/>
              </a:rPr>
              <a:t>="https://studentssb-test.usspesaas.elluciancloud.com:8100/</a:t>
            </a:r>
            <a:r>
              <a:rPr lang="es-CO" sz="1000" dirty="0" err="1">
                <a:latin typeface="Courier New" panose="02070309020205020404" pitchFamily="49" charset="0"/>
                <a:cs typeface="Courier New" panose="02070309020205020404" pitchFamily="49" charset="0"/>
              </a:rPr>
              <a:t>StudentSelfService</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ssb</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graduationApplication</a:t>
            </a:r>
            <a:r>
              <a:rPr lang="es-CO" sz="1000" dirty="0">
                <a:latin typeface="Courier New" panose="02070309020205020404" pitchFamily="49" charset="0"/>
                <a:cs typeface="Courier New" panose="02070309020205020404" pitchFamily="49" charset="0"/>
              </a:rPr>
              <a:t>" target="_</a:t>
            </a:r>
            <a:r>
              <a:rPr lang="es-CO" sz="1000" dirty="0" err="1">
                <a:latin typeface="Courier New" panose="02070309020205020404" pitchFamily="49" charset="0"/>
                <a:cs typeface="Courier New" panose="02070309020205020404" pitchFamily="49" charset="0"/>
              </a:rPr>
              <a:t>blank</a:t>
            </a:r>
            <a:r>
              <a:rPr lang="es-CO" sz="1000" dirty="0">
                <a:latin typeface="Courier New" panose="02070309020205020404" pitchFamily="49" charset="0"/>
                <a:cs typeface="Courier New" panose="02070309020205020404" pitchFamily="49" charset="0"/>
              </a:rPr>
              <a:t>"&gt;Solicitar graduación&lt;/a&gt;&lt;/u&gt;&lt;/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&gt;&lt;u&gt;&lt;a </a:t>
            </a:r>
            <a:r>
              <a:rPr lang="es-CO" sz="1000" dirty="0" err="1">
                <a:latin typeface="Courier New" panose="02070309020205020404" pitchFamily="49" charset="0"/>
                <a:cs typeface="Courier New" panose="02070309020205020404" pitchFamily="49" charset="0"/>
              </a:rPr>
              <a:t>href</a:t>
            </a:r>
            <a:r>
              <a:rPr lang="es-CO" sz="1000" dirty="0">
                <a:latin typeface="Courier New" panose="02070309020205020404" pitchFamily="49" charset="0"/>
                <a:cs typeface="Courier New" panose="02070309020205020404" pitchFamily="49" charset="0"/>
              </a:rPr>
              <a:t>="https://studentssb-test.usspesaas.elluciancloud.com:8100/</a:t>
            </a:r>
            <a:r>
              <a:rPr lang="es-CO" sz="1000" dirty="0" err="1">
                <a:latin typeface="Courier New" panose="02070309020205020404" pitchFamily="49" charset="0"/>
                <a:cs typeface="Courier New" panose="02070309020205020404" pitchFamily="49" charset="0"/>
              </a:rPr>
              <a:t>StudentSelfService</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ssb</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viewGraduationApplication</a:t>
            </a:r>
            <a:r>
              <a:rPr lang="es-CO" sz="1000" dirty="0">
                <a:latin typeface="Courier New" panose="02070309020205020404" pitchFamily="49" charset="0"/>
                <a:cs typeface="Courier New" panose="02070309020205020404" pitchFamily="49" charset="0"/>
              </a:rPr>
              <a:t>" target="_</a:t>
            </a:r>
            <a:r>
              <a:rPr lang="es-CO" sz="1000" dirty="0" err="1">
                <a:latin typeface="Courier New" panose="02070309020205020404" pitchFamily="49" charset="0"/>
                <a:cs typeface="Courier New" panose="02070309020205020404" pitchFamily="49" charset="0"/>
              </a:rPr>
              <a:t>blank</a:t>
            </a:r>
            <a:r>
              <a:rPr lang="es-CO" sz="1000" dirty="0">
                <a:latin typeface="Courier New" panose="02070309020205020404" pitchFamily="49" charset="0"/>
                <a:cs typeface="Courier New" panose="02070309020205020404" pitchFamily="49" charset="0"/>
              </a:rPr>
              <a:t>"&gt;Ver solicitudes de graduación&lt;/a&gt;&lt;/u&gt;&lt;/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&gt;&lt;b&gt;Cuenta de estudiante&lt;/b&gt;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&gt;&lt;u&gt;&lt;a </a:t>
            </a:r>
            <a:r>
              <a:rPr lang="es-CO" sz="1000" dirty="0" err="1">
                <a:latin typeface="Courier New" panose="02070309020205020404" pitchFamily="49" charset="0"/>
                <a:cs typeface="Courier New" panose="02070309020205020404" pitchFamily="49" charset="0"/>
              </a:rPr>
              <a:t>href</a:t>
            </a:r>
            <a:r>
              <a:rPr lang="es-CO" sz="1000" dirty="0">
                <a:latin typeface="Courier New" panose="02070309020205020404" pitchFamily="49" charset="0"/>
                <a:cs typeface="Courier New" panose="02070309020205020404" pitchFamily="49" charset="0"/>
              </a:rPr>
              <a:t>="https://studentssb-test.usspesaas.elluciancloud.com:8100/</a:t>
            </a:r>
            <a:r>
              <a:rPr lang="es-CO" sz="1000" dirty="0" err="1">
                <a:latin typeface="Courier New" panose="02070309020205020404" pitchFamily="49" charset="0"/>
                <a:cs typeface="Courier New" panose="02070309020205020404" pitchFamily="49" charset="0"/>
              </a:rPr>
              <a:t>StudentSelfService</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ssb</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accountSummary</a:t>
            </a:r>
            <a:r>
              <a:rPr lang="es-CO" sz="1000" dirty="0">
                <a:latin typeface="Courier New" panose="02070309020205020404" pitchFamily="49" charset="0"/>
                <a:cs typeface="Courier New" panose="02070309020205020404" pitchFamily="49" charset="0"/>
              </a:rPr>
              <a:t>" target="_</a:t>
            </a:r>
            <a:r>
              <a:rPr lang="es-CO" sz="1000" dirty="0" err="1">
                <a:latin typeface="Courier New" panose="02070309020205020404" pitchFamily="49" charset="0"/>
                <a:cs typeface="Courier New" panose="02070309020205020404" pitchFamily="49" charset="0"/>
              </a:rPr>
              <a:t>blank</a:t>
            </a:r>
            <a:r>
              <a:rPr lang="es-CO" sz="1000" dirty="0">
                <a:latin typeface="Courier New" panose="02070309020205020404" pitchFamily="49" charset="0"/>
                <a:cs typeface="Courier New" panose="02070309020205020404" pitchFamily="49" charset="0"/>
              </a:rPr>
              <a:t>"&gt;Resumen de cuenta&lt;/a&gt;&lt;/u&gt;&lt;/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&gt;&lt;u&gt;&lt;a </a:t>
            </a:r>
            <a:r>
              <a:rPr lang="es-CO" sz="1000" dirty="0" err="1">
                <a:latin typeface="Courier New" panose="02070309020205020404" pitchFamily="49" charset="0"/>
                <a:cs typeface="Courier New" panose="02070309020205020404" pitchFamily="49" charset="0"/>
              </a:rPr>
              <a:t>href</a:t>
            </a:r>
            <a:r>
              <a:rPr lang="es-CO" sz="1000" dirty="0">
                <a:latin typeface="Courier New" panose="02070309020205020404" pitchFamily="49" charset="0"/>
                <a:cs typeface="Courier New" panose="02070309020205020404" pitchFamily="49" charset="0"/>
              </a:rPr>
              <a:t>="https://studentssb-test.usspesaas.elluciancloud.com:8100/</a:t>
            </a:r>
            <a:r>
              <a:rPr lang="es-CO" sz="1000" dirty="0" err="1">
                <a:latin typeface="Courier New" panose="02070309020205020404" pitchFamily="49" charset="0"/>
                <a:cs typeface="Courier New" panose="02070309020205020404" pitchFamily="49" charset="0"/>
              </a:rPr>
              <a:t>StudentSelfService</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ssb</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accountDetailByTerm</a:t>
            </a:r>
            <a:r>
              <a:rPr lang="es-CO" sz="1000" dirty="0">
                <a:latin typeface="Courier New" panose="02070309020205020404" pitchFamily="49" charset="0"/>
                <a:cs typeface="Courier New" panose="02070309020205020404" pitchFamily="49" charset="0"/>
              </a:rPr>
              <a:t>" target="_</a:t>
            </a:r>
            <a:r>
              <a:rPr lang="es-CO" sz="1000" dirty="0" err="1">
                <a:latin typeface="Courier New" panose="02070309020205020404" pitchFamily="49" charset="0"/>
                <a:cs typeface="Courier New" panose="02070309020205020404" pitchFamily="49" charset="0"/>
              </a:rPr>
              <a:t>blank</a:t>
            </a:r>
            <a:r>
              <a:rPr lang="es-CO" sz="1000" dirty="0">
                <a:latin typeface="Courier New" panose="02070309020205020404" pitchFamily="49" charset="0"/>
                <a:cs typeface="Courier New" panose="02070309020205020404" pitchFamily="49" charset="0"/>
              </a:rPr>
              <a:t>"&gt;Detalle de cuenta por periodo&lt;/a&gt;&lt;/u&gt;&lt;/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&gt;&lt;u&gt;&lt;a </a:t>
            </a:r>
            <a:r>
              <a:rPr lang="es-CO" sz="1000" dirty="0" err="1">
                <a:latin typeface="Courier New" panose="02070309020205020404" pitchFamily="49" charset="0"/>
                <a:cs typeface="Courier New" panose="02070309020205020404" pitchFamily="49" charset="0"/>
              </a:rPr>
              <a:t>href</a:t>
            </a:r>
            <a:r>
              <a:rPr lang="es-CO" sz="1000" dirty="0">
                <a:latin typeface="Courier New" panose="02070309020205020404" pitchFamily="49" charset="0"/>
                <a:cs typeface="Courier New" panose="02070309020205020404" pitchFamily="49" charset="0"/>
              </a:rPr>
              <a:t>="https://studentssb-test.usspesaas.elluciancloud.com:8100/</a:t>
            </a:r>
            <a:r>
              <a:rPr lang="es-CO" sz="1000" dirty="0" err="1">
                <a:latin typeface="Courier New" panose="02070309020205020404" pitchFamily="49" charset="0"/>
                <a:cs typeface="Courier New" panose="02070309020205020404" pitchFamily="49" charset="0"/>
              </a:rPr>
              <a:t>StudentSelfService</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ssb</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statementAndPaymentHistory</a:t>
            </a:r>
            <a:r>
              <a:rPr lang="es-CO" sz="1000" dirty="0">
                <a:latin typeface="Courier New" panose="02070309020205020404" pitchFamily="49" charset="0"/>
                <a:cs typeface="Courier New" panose="02070309020205020404" pitchFamily="49" charset="0"/>
              </a:rPr>
              <a:t>" target="_</a:t>
            </a:r>
            <a:r>
              <a:rPr lang="es-CO" sz="1000" dirty="0" err="1">
                <a:latin typeface="Courier New" panose="02070309020205020404" pitchFamily="49" charset="0"/>
                <a:cs typeface="Courier New" panose="02070309020205020404" pitchFamily="49" charset="0"/>
              </a:rPr>
              <a:t>blank</a:t>
            </a:r>
            <a:r>
              <a:rPr lang="es-CO" sz="1000" dirty="0">
                <a:latin typeface="Courier New" panose="02070309020205020404" pitchFamily="49" charset="0"/>
                <a:cs typeface="Courier New" panose="02070309020205020404" pitchFamily="49" charset="0"/>
              </a:rPr>
              <a:t>"&gt;Estados de cuenta e historial de pagos&lt;/a&gt;&lt;/u&gt;&lt;/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&gt;&lt;u&gt;&lt;a </a:t>
            </a:r>
            <a:r>
              <a:rPr lang="es-CO" sz="1000" dirty="0" err="1">
                <a:latin typeface="Courier New" panose="02070309020205020404" pitchFamily="49" charset="0"/>
                <a:cs typeface="Courier New" panose="02070309020205020404" pitchFamily="49" charset="0"/>
              </a:rPr>
              <a:t>href</a:t>
            </a:r>
            <a:r>
              <a:rPr lang="es-CO" sz="1000" dirty="0">
                <a:latin typeface="Courier New" panose="02070309020205020404" pitchFamily="49" charset="0"/>
                <a:cs typeface="Courier New" panose="02070309020205020404" pitchFamily="49" charset="0"/>
              </a:rPr>
              <a:t>="https://studentssb-test.usspesaas.elluciancloud.com:8100/</a:t>
            </a:r>
            <a:r>
              <a:rPr lang="es-CO" sz="1000" dirty="0" err="1">
                <a:latin typeface="Courier New" panose="02070309020205020404" pitchFamily="49" charset="0"/>
                <a:cs typeface="Courier New" panose="02070309020205020404" pitchFamily="49" charset="0"/>
              </a:rPr>
              <a:t>StudentSelfService</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ssb</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accountInformation</a:t>
            </a:r>
            <a:r>
              <a:rPr lang="es-CO" sz="1000" dirty="0">
                <a:latin typeface="Courier New" panose="02070309020205020404" pitchFamily="49" charset="0"/>
                <a:cs typeface="Courier New" panose="02070309020205020404" pitchFamily="49" charset="0"/>
              </a:rPr>
              <a:t>" target="_</a:t>
            </a:r>
            <a:r>
              <a:rPr lang="es-CO" sz="1000" dirty="0" err="1">
                <a:latin typeface="Courier New" panose="02070309020205020404" pitchFamily="49" charset="0"/>
                <a:cs typeface="Courier New" panose="02070309020205020404" pitchFamily="49" charset="0"/>
              </a:rPr>
              <a:t>blank</a:t>
            </a:r>
            <a:r>
              <a:rPr lang="es-CO" sz="1000" dirty="0">
                <a:latin typeface="Courier New" panose="02070309020205020404" pitchFamily="49" charset="0"/>
                <a:cs typeface="Courier New" panose="02070309020205020404" pitchFamily="49" charset="0"/>
              </a:rPr>
              <a:t>"&gt;Información de cuenta&lt;/a&gt;&lt;/u&gt;&lt;/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&gt;&lt;b&gt;Solicitudes de servicio&lt;/b&gt;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&gt;&lt;a </a:t>
            </a:r>
            <a:r>
              <a:rPr lang="es-CO" sz="1000" dirty="0" err="1">
                <a:latin typeface="Courier New" panose="02070309020205020404" pitchFamily="49" charset="0"/>
                <a:cs typeface="Courier New" panose="02070309020205020404" pitchFamily="49" charset="0"/>
              </a:rPr>
              <a:t>href</a:t>
            </a:r>
            <a:r>
              <a:rPr lang="es-CO" sz="1000" dirty="0">
                <a:latin typeface="Courier New" panose="02070309020205020404" pitchFamily="49" charset="0"/>
                <a:cs typeface="Courier New" panose="02070309020205020404" pitchFamily="49" charset="0"/>
              </a:rPr>
              <a:t>="https://studentssb-test.usspesaas.elluciancloud.com:8100/</a:t>
            </a:r>
            <a:r>
              <a:rPr lang="es-CO" sz="1000" dirty="0" err="1">
                <a:latin typeface="Courier New" panose="02070309020205020404" pitchFamily="49" charset="0"/>
                <a:cs typeface="Courier New" panose="02070309020205020404" pitchFamily="49" charset="0"/>
              </a:rPr>
              <a:t>StudentSelfService</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ssb</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stuossr</a:t>
            </a:r>
            <a:r>
              <a:rPr lang="es-CO" sz="1000" dirty="0">
                <a:latin typeface="Courier New" panose="02070309020205020404" pitchFamily="49" charset="0"/>
                <a:cs typeface="Courier New" panose="02070309020205020404" pitchFamily="49" charset="0"/>
              </a:rPr>
              <a:t>#/pDispApplyProtocol" target="_</a:t>
            </a:r>
            <a:r>
              <a:rPr lang="es-CO" sz="1000" dirty="0" err="1">
                <a:latin typeface="Courier New" panose="02070309020205020404" pitchFamily="49" charset="0"/>
                <a:cs typeface="Courier New" panose="02070309020205020404" pitchFamily="49" charset="0"/>
              </a:rPr>
              <a:t>blank</a:t>
            </a:r>
            <a:r>
              <a:rPr lang="es-CO" sz="1000" dirty="0">
                <a:latin typeface="Courier New" panose="02070309020205020404" pitchFamily="49" charset="0"/>
                <a:cs typeface="Courier New" panose="02070309020205020404" pitchFamily="49" charset="0"/>
              </a:rPr>
              <a:t>" &gt;Solicitud de servicio&lt;/a&gt;&lt;</a:t>
            </a:r>
            <a:r>
              <a:rPr lang="es-CO" sz="1000" dirty="0" err="1">
                <a:latin typeface="Courier New" panose="02070309020205020404" pitchFamily="49" charset="0"/>
                <a:cs typeface="Courier New" panose="02070309020205020404" pitchFamily="49" charset="0"/>
              </a:rPr>
              <a:t>br</a:t>
            </a:r>
            <a:r>
              <a:rPr lang="es-CO" sz="1000" dirty="0">
                <a:latin typeface="Courier New" panose="02070309020205020404" pitchFamily="49" charset="0"/>
                <a:cs typeface="Courier New" panose="02070309020205020404" pitchFamily="49" charset="0"/>
              </a:rPr>
              <a:t>&gt;&lt;/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&gt;&lt;a </a:t>
            </a:r>
            <a:r>
              <a:rPr lang="es-CO" sz="1000" dirty="0" err="1">
                <a:latin typeface="Courier New" panose="02070309020205020404" pitchFamily="49" charset="0"/>
                <a:cs typeface="Courier New" panose="02070309020205020404" pitchFamily="49" charset="0"/>
              </a:rPr>
              <a:t>href</a:t>
            </a:r>
            <a:r>
              <a:rPr lang="es-CO" sz="1000" dirty="0">
                <a:latin typeface="Courier New" panose="02070309020205020404" pitchFamily="49" charset="0"/>
                <a:cs typeface="Courier New" panose="02070309020205020404" pitchFamily="49" charset="0"/>
              </a:rPr>
              <a:t>="https://studentssb-test.usspesaas.elluciancloud.com:8100/</a:t>
            </a:r>
            <a:r>
              <a:rPr lang="es-CO" sz="1000" dirty="0" err="1">
                <a:latin typeface="Courier New" panose="02070309020205020404" pitchFamily="49" charset="0"/>
                <a:cs typeface="Courier New" panose="02070309020205020404" pitchFamily="49" charset="0"/>
              </a:rPr>
              <a:t>StudentSelfService</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ssb</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stuossr</a:t>
            </a:r>
            <a:r>
              <a:rPr lang="es-CO" sz="1000" dirty="0">
                <a:latin typeface="Courier New" panose="02070309020205020404" pitchFamily="49" charset="0"/>
                <a:cs typeface="Courier New" panose="02070309020205020404" pitchFamily="49" charset="0"/>
              </a:rPr>
              <a:t>#/pDispviewProtocols" target="_</a:t>
            </a:r>
            <a:r>
              <a:rPr lang="es-CO" sz="1000" dirty="0" err="1">
                <a:latin typeface="Courier New" panose="02070309020205020404" pitchFamily="49" charset="0"/>
                <a:cs typeface="Courier New" panose="02070309020205020404" pitchFamily="49" charset="0"/>
              </a:rPr>
              <a:t>blank</a:t>
            </a:r>
            <a:r>
              <a:rPr lang="es-CO" sz="1000" dirty="0">
                <a:latin typeface="Courier New" panose="02070309020205020404" pitchFamily="49" charset="0"/>
                <a:cs typeface="Courier New" panose="02070309020205020404" pitchFamily="49" charset="0"/>
              </a:rPr>
              <a:t>" &gt;Ver el estatus de la solicitud de servicio&lt;/a&gt;&lt;</a:t>
            </a:r>
            <a:r>
              <a:rPr lang="es-CO" sz="1000" dirty="0" err="1">
                <a:latin typeface="Courier New" panose="02070309020205020404" pitchFamily="49" charset="0"/>
                <a:cs typeface="Courier New" panose="02070309020205020404" pitchFamily="49" charset="0"/>
              </a:rPr>
              <a:t>br</a:t>
            </a:r>
            <a:r>
              <a:rPr lang="es-CO" sz="1000" dirty="0">
                <a:latin typeface="Courier New" panose="02070309020205020404" pitchFamily="49" charset="0"/>
                <a:cs typeface="Courier New" panose="02070309020205020404" pitchFamily="49" charset="0"/>
              </a:rPr>
              <a:t>&gt;&lt;/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&gt;&lt;b&gt;Información general&lt;/b&gt;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&gt;&lt;u&gt;&lt;a </a:t>
            </a:r>
            <a:r>
              <a:rPr lang="es-CO" sz="1000" dirty="0" err="1">
                <a:latin typeface="Courier New" panose="02070309020205020404" pitchFamily="49" charset="0"/>
                <a:cs typeface="Courier New" panose="02070309020205020404" pitchFamily="49" charset="0"/>
              </a:rPr>
              <a:t>href</a:t>
            </a:r>
            <a:r>
              <a:rPr lang="es-CO" sz="1000" dirty="0">
                <a:latin typeface="Courier New" panose="02070309020205020404" pitchFamily="49" charset="0"/>
                <a:cs typeface="Courier New" panose="02070309020205020404" pitchFamily="49" charset="0"/>
              </a:rPr>
              <a:t>="https://generalssb-test.usspesaas.elluciancloud.com:8101/</a:t>
            </a:r>
            <a:r>
              <a:rPr lang="es-CO" sz="1000" dirty="0" err="1">
                <a:latin typeface="Courier New" panose="02070309020205020404" pitchFamily="49" charset="0"/>
                <a:cs typeface="Courier New" panose="02070309020205020404" pitchFamily="49" charset="0"/>
              </a:rPr>
              <a:t>BannerGeneralSsb</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ssb</a:t>
            </a:r>
            <a:r>
              <a:rPr lang="es-CO" sz="1000" dirty="0">
                <a:latin typeface="Courier New" panose="02070309020205020404" pitchFamily="49" charset="0"/>
                <a:cs typeface="Courier New" panose="02070309020205020404" pitchFamily="49" charset="0"/>
              </a:rPr>
              <a:t>/</a:t>
            </a:r>
            <a:r>
              <a:rPr lang="es-CO" sz="1000" dirty="0" err="1">
                <a:latin typeface="Courier New" panose="02070309020205020404" pitchFamily="49" charset="0"/>
                <a:cs typeface="Courier New" panose="02070309020205020404" pitchFamily="49" charset="0"/>
              </a:rPr>
              <a:t>surveyLocations</a:t>
            </a:r>
            <a:r>
              <a:rPr lang="es-CO" sz="1000" dirty="0">
                <a:latin typeface="Courier New" panose="02070309020205020404" pitchFamily="49" charset="0"/>
                <a:cs typeface="Courier New" panose="02070309020205020404" pitchFamily="49" charset="0"/>
              </a:rPr>
              <a:t>#/pShowsurveys" target="_</a:t>
            </a:r>
            <a:r>
              <a:rPr lang="es-CO" sz="1000" dirty="0" err="1">
                <a:latin typeface="Courier New" panose="02070309020205020404" pitchFamily="49" charset="0"/>
                <a:cs typeface="Courier New" panose="02070309020205020404" pitchFamily="49" charset="0"/>
              </a:rPr>
              <a:t>blank</a:t>
            </a:r>
            <a:r>
              <a:rPr lang="es-CO" sz="1000" dirty="0">
                <a:latin typeface="Courier New" panose="02070309020205020404" pitchFamily="49" charset="0"/>
                <a:cs typeface="Courier New" panose="02070309020205020404" pitchFamily="49" charset="0"/>
              </a:rPr>
              <a:t>"&gt;Encuestas generales&lt;/a&gt;&lt;/u&gt;&lt;/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&gt;&lt;u&gt;&lt;a </a:t>
            </a:r>
            <a:r>
              <a:rPr lang="es-CO" sz="1000" dirty="0" err="1">
                <a:latin typeface="Courier New" panose="02070309020205020404" pitchFamily="49" charset="0"/>
                <a:cs typeface="Courier New" panose="02070309020205020404" pitchFamily="49" charset="0"/>
              </a:rPr>
              <a:t>href</a:t>
            </a:r>
            <a:r>
              <a:rPr lang="es-CO" sz="1000" dirty="0">
                <a:latin typeface="Courier New" panose="02070309020205020404" pitchFamily="49" charset="0"/>
                <a:cs typeface="Courier New" panose="02070309020205020404" pitchFamily="49" charset="0"/>
              </a:rPr>
              <a:t>="https://events-test.usspesaas.elluciancloud.com:8101/</a:t>
            </a:r>
            <a:r>
              <a:rPr lang="es-CO" sz="1000" dirty="0" err="1">
                <a:latin typeface="Courier New" panose="02070309020205020404" pitchFamily="49" charset="0"/>
                <a:cs typeface="Courier New" panose="02070309020205020404" pitchFamily="49" charset="0"/>
              </a:rPr>
              <a:t>SelfServiceBannerGeneralEventManagement</a:t>
            </a:r>
            <a:r>
              <a:rPr lang="es-CO" sz="1000" dirty="0">
                <a:latin typeface="Courier New" panose="02070309020205020404" pitchFamily="49" charset="0"/>
                <a:cs typeface="Courier New" panose="02070309020205020404" pitchFamily="49" charset="0"/>
              </a:rPr>
              <a:t>" target="_</a:t>
            </a:r>
            <a:r>
              <a:rPr lang="es-CO" sz="1000" dirty="0" err="1">
                <a:latin typeface="Courier New" panose="02070309020205020404" pitchFamily="49" charset="0"/>
                <a:cs typeface="Courier New" panose="02070309020205020404" pitchFamily="49" charset="0"/>
              </a:rPr>
              <a:t>blank</a:t>
            </a:r>
            <a:r>
              <a:rPr lang="es-CO" sz="1000" dirty="0">
                <a:latin typeface="Courier New" panose="02070309020205020404" pitchFamily="49" charset="0"/>
                <a:cs typeface="Courier New" panose="02070309020205020404" pitchFamily="49" charset="0"/>
              </a:rPr>
              <a:t>"&gt;Inscripción de eventos&lt;/a&gt;&lt;/u&gt;&lt;/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&lt;p&gt;&lt;b&gt;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&gt;&lt;b&gt;  &lt;/b&gt;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&lt;la&gt;&lt;/u&gt;&lt;/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li</a:t>
            </a:r>
            <a:r>
              <a:rPr lang="es-CO" sz="1000" dirty="0">
                <a:latin typeface="Courier New" panose="02070309020205020404" pitchFamily="49" charset="0"/>
                <a:cs typeface="Courier New" panose="02070309020205020404" pitchFamily="49" charset="0"/>
              </a:rPr>
              <a:t>&gt; &lt;/</a:t>
            </a:r>
            <a:r>
              <a:rPr lang="es-CO" sz="1000" dirty="0" err="1">
                <a:latin typeface="Courier New" panose="02070309020205020404" pitchFamily="49" charset="0"/>
                <a:cs typeface="Courier New" panose="02070309020205020404" pitchFamily="49" charset="0"/>
              </a:rPr>
              <a:t>ul</a:t>
            </a:r>
            <a:r>
              <a:rPr lang="es-CO" sz="1000" dirty="0">
                <a:latin typeface="Courier New" panose="02070309020205020404" pitchFamily="49" charset="0"/>
                <a:cs typeface="Courier New" panose="02070309020205020404" pitchFamily="49" charset="0"/>
              </a:rPr>
              <a:t>&gt; &lt;p&gt;&lt;b&gt;Si tiene alguna pregunta, por favor contactarse con la mesa de ayuda.</a:t>
            </a:r>
            <a:endParaRPr lang="es-419" sz="1000" dirty="0">
              <a:latin typeface="Courier New" panose="02070309020205020404" pitchFamily="49" charset="0"/>
              <a:cs typeface="Courier New" panose="02070309020205020404" pitchFamily="49" charset="0"/>
            </a:endParaRPr>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13</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GUAINFO</a:t>
            </a:r>
            <a:br>
              <a:rPr lang="es-MX" dirty="0">
                <a:solidFill>
                  <a:schemeClr val="accent1"/>
                </a:solidFill>
              </a:rPr>
            </a:br>
            <a:r>
              <a:rPr lang="es-MX" b="0" dirty="0">
                <a:solidFill>
                  <a:schemeClr val="accent1"/>
                </a:solidFill>
              </a:rPr>
              <a:t>Editor de texto de información – </a:t>
            </a:r>
            <a:r>
              <a:rPr lang="es-MX" b="0" dirty="0" err="1">
                <a:solidFill>
                  <a:schemeClr val="accent1"/>
                </a:solidFill>
              </a:rPr>
              <a:t>Student</a:t>
            </a:r>
            <a:r>
              <a:rPr lang="es-MX" b="0" dirty="0">
                <a:solidFill>
                  <a:schemeClr val="accent1"/>
                </a:solidFill>
              </a:rPr>
              <a:t> </a:t>
            </a:r>
            <a:r>
              <a:rPr lang="es-MX" b="0" dirty="0" err="1">
                <a:solidFill>
                  <a:schemeClr val="accent1"/>
                </a:solidFill>
              </a:rPr>
              <a:t>Landingpage</a:t>
            </a:r>
            <a:endParaRPr lang="es-CL" dirty="0">
              <a:solidFill>
                <a:schemeClr val="accent1"/>
              </a:solidFill>
            </a:endParaRPr>
          </a:p>
        </p:txBody>
      </p:sp>
    </p:spTree>
    <p:extLst>
      <p:ext uri="{BB962C8B-B14F-4D97-AF65-F5344CB8AC3E}">
        <p14:creationId xmlns:p14="http://schemas.microsoft.com/office/powerpoint/2010/main" val="2463706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85917-CE6D-94E3-D38F-81D391CF4185}"/>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FE98DD6A-5203-8AFE-3E25-419706381585}"/>
              </a:ext>
            </a:extLst>
          </p:cNvPr>
          <p:cNvPicPr>
            <a:picLocks noChangeAspect="1"/>
          </p:cNvPicPr>
          <p:nvPr/>
        </p:nvPicPr>
        <p:blipFill>
          <a:blip r:embed="rId2"/>
          <a:stretch>
            <a:fillRect/>
          </a:stretch>
        </p:blipFill>
        <p:spPr>
          <a:xfrm>
            <a:off x="1268083" y="805852"/>
            <a:ext cx="10104406" cy="5246293"/>
          </a:xfrm>
          <a:prstGeom prst="rect">
            <a:avLst/>
          </a:prstGeom>
        </p:spPr>
      </p:pic>
      <p:sp>
        <p:nvSpPr>
          <p:cNvPr id="3" name="Marcador de texto vertical 2">
            <a:extLst>
              <a:ext uri="{FF2B5EF4-FFF2-40B4-BE49-F238E27FC236}">
                <a16:creationId xmlns:a16="http://schemas.microsoft.com/office/drawing/2014/main" id="{FA4C2DA2-E44A-02D1-2F9E-4FAFEE722370}"/>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0C950DDD-A142-F278-998E-7FB08677C096}"/>
              </a:ext>
            </a:extLst>
          </p:cNvPr>
          <p:cNvSpPr>
            <a:spLocks noGrp="1"/>
          </p:cNvSpPr>
          <p:nvPr>
            <p:ph type="sldNum" sz="quarter" idx="4"/>
          </p:nvPr>
        </p:nvSpPr>
        <p:spPr/>
        <p:txBody>
          <a:bodyPr/>
          <a:lstStyle/>
          <a:p>
            <a:fld id="{4A16F8ED-7337-F64C-865A-41A1F48E54DF}" type="slidenum">
              <a:rPr lang="en-US" smtClean="0"/>
              <a:pPr/>
              <a:t>14</a:t>
            </a:fld>
            <a:endParaRPr lang="en-US" dirty="0"/>
          </a:p>
        </p:txBody>
      </p:sp>
      <p:sp>
        <p:nvSpPr>
          <p:cNvPr id="4" name="Título 3">
            <a:extLst>
              <a:ext uri="{FF2B5EF4-FFF2-40B4-BE49-F238E27FC236}">
                <a16:creationId xmlns:a16="http://schemas.microsoft.com/office/drawing/2014/main" id="{436622AB-BB75-1917-11EA-111BEE77C6C5}"/>
              </a:ext>
            </a:extLst>
          </p:cNvPr>
          <p:cNvSpPr>
            <a:spLocks noGrp="1"/>
          </p:cNvSpPr>
          <p:nvPr>
            <p:ph type="title"/>
          </p:nvPr>
        </p:nvSpPr>
        <p:spPr>
          <a:xfrm>
            <a:off x="810247" y="113040"/>
            <a:ext cx="10271883" cy="626165"/>
          </a:xfrm>
        </p:spPr>
        <p:txBody>
          <a:bodyPr/>
          <a:lstStyle/>
          <a:p>
            <a:r>
              <a:rPr lang="es-CO" b="0" dirty="0">
                <a:solidFill>
                  <a:schemeClr val="accent1"/>
                </a:solidFill>
              </a:rPr>
              <a:t>Tablero de alumnos</a:t>
            </a:r>
            <a:br>
              <a:rPr lang="es-MX" b="0" dirty="0">
                <a:solidFill>
                  <a:schemeClr val="accent1"/>
                </a:solidFill>
              </a:rPr>
            </a:br>
            <a:endParaRPr lang="es-CL" b="0" dirty="0">
              <a:solidFill>
                <a:schemeClr val="accent1"/>
              </a:solidFill>
            </a:endParaRPr>
          </a:p>
        </p:txBody>
      </p:sp>
      <p:sp>
        <p:nvSpPr>
          <p:cNvPr id="10" name="Rectangle: Rounded Corners 5">
            <a:extLst>
              <a:ext uri="{FF2B5EF4-FFF2-40B4-BE49-F238E27FC236}">
                <a16:creationId xmlns:a16="http://schemas.microsoft.com/office/drawing/2014/main" id="{6DC65D13-65B1-78A1-9329-5C7F1420CE5B}"/>
              </a:ext>
            </a:extLst>
          </p:cNvPr>
          <p:cNvSpPr/>
          <p:nvPr/>
        </p:nvSpPr>
        <p:spPr>
          <a:xfrm>
            <a:off x="1268083" y="5296899"/>
            <a:ext cx="7851710" cy="693119"/>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400" b="1" dirty="0"/>
              <a:t>Las opciones configuradas en GUACONF se visualizan en ABRIR EL TABLERO DE ALUMNOS</a:t>
            </a:r>
            <a:endParaRPr lang="es-CL" sz="1400" dirty="0"/>
          </a:p>
          <a:p>
            <a:pPr algn="ctr"/>
            <a:endParaRPr lang="es-CL" sz="1400" dirty="0"/>
          </a:p>
        </p:txBody>
      </p:sp>
    </p:spTree>
    <p:extLst>
      <p:ext uri="{BB962C8B-B14F-4D97-AF65-F5344CB8AC3E}">
        <p14:creationId xmlns:p14="http://schemas.microsoft.com/office/powerpoint/2010/main" val="2694387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5A365-CBF9-191C-E679-2AACE0A12442}"/>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9BD20852-4478-75CF-28A4-B0C97C1B8261}"/>
              </a:ext>
            </a:extLst>
          </p:cNvPr>
          <p:cNvPicPr>
            <a:picLocks noChangeAspect="1"/>
          </p:cNvPicPr>
          <p:nvPr/>
        </p:nvPicPr>
        <p:blipFill>
          <a:blip r:embed="rId2"/>
          <a:stretch>
            <a:fillRect/>
          </a:stretch>
        </p:blipFill>
        <p:spPr>
          <a:xfrm>
            <a:off x="1210440" y="1256809"/>
            <a:ext cx="10981560" cy="4915390"/>
          </a:xfrm>
          <a:prstGeom prst="rect">
            <a:avLst/>
          </a:prstGeom>
        </p:spPr>
      </p:pic>
      <p:sp>
        <p:nvSpPr>
          <p:cNvPr id="3" name="Marcador de texto vertical 2">
            <a:extLst>
              <a:ext uri="{FF2B5EF4-FFF2-40B4-BE49-F238E27FC236}">
                <a16:creationId xmlns:a16="http://schemas.microsoft.com/office/drawing/2014/main" id="{A5ADEF39-6FE6-7E81-CCF9-36EF900095DB}"/>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7B0718F8-52F8-2FEB-E488-BBD89F31E6F6}"/>
              </a:ext>
            </a:extLst>
          </p:cNvPr>
          <p:cNvSpPr>
            <a:spLocks noGrp="1"/>
          </p:cNvSpPr>
          <p:nvPr>
            <p:ph type="sldNum" sz="quarter" idx="4"/>
          </p:nvPr>
        </p:nvSpPr>
        <p:spPr/>
        <p:txBody>
          <a:bodyPr/>
          <a:lstStyle/>
          <a:p>
            <a:fld id="{4A16F8ED-7337-F64C-865A-41A1F48E54DF}" type="slidenum">
              <a:rPr lang="en-US" smtClean="0"/>
              <a:pPr/>
              <a:t>15</a:t>
            </a:fld>
            <a:endParaRPr lang="en-US" dirty="0"/>
          </a:p>
        </p:txBody>
      </p:sp>
      <p:sp>
        <p:nvSpPr>
          <p:cNvPr id="4" name="Título 3">
            <a:extLst>
              <a:ext uri="{FF2B5EF4-FFF2-40B4-BE49-F238E27FC236}">
                <a16:creationId xmlns:a16="http://schemas.microsoft.com/office/drawing/2014/main" id="{B81EA78F-ECC0-FC21-C35A-C0CFA3C173CC}"/>
              </a:ext>
            </a:extLst>
          </p:cNvPr>
          <p:cNvSpPr>
            <a:spLocks noGrp="1"/>
          </p:cNvSpPr>
          <p:nvPr>
            <p:ph type="title"/>
          </p:nvPr>
        </p:nvSpPr>
        <p:spPr>
          <a:xfrm>
            <a:off x="810247" y="113040"/>
            <a:ext cx="10271883" cy="626165"/>
          </a:xfrm>
        </p:spPr>
        <p:txBody>
          <a:bodyPr/>
          <a:lstStyle/>
          <a:p>
            <a:r>
              <a:rPr lang="es-CO" b="0" dirty="0">
                <a:solidFill>
                  <a:schemeClr val="accent1"/>
                </a:solidFill>
              </a:rPr>
              <a:t>Tablero de alumnos</a:t>
            </a:r>
            <a:br>
              <a:rPr lang="es-MX" b="0" dirty="0">
                <a:solidFill>
                  <a:schemeClr val="accent1"/>
                </a:solidFill>
              </a:rPr>
            </a:br>
            <a:endParaRPr lang="es-CL" b="0" dirty="0">
              <a:solidFill>
                <a:schemeClr val="accent1"/>
              </a:solidFill>
            </a:endParaRPr>
          </a:p>
        </p:txBody>
      </p:sp>
    </p:spTree>
    <p:extLst>
      <p:ext uri="{BB962C8B-B14F-4D97-AF65-F5344CB8AC3E}">
        <p14:creationId xmlns:p14="http://schemas.microsoft.com/office/powerpoint/2010/main" val="3617267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4">
            <a:extLst>
              <a:ext uri="{FF2B5EF4-FFF2-40B4-BE49-F238E27FC236}">
                <a16:creationId xmlns:a16="http://schemas.microsoft.com/office/drawing/2014/main" id="{A95996CC-D7E8-451B-3BC9-54A5921C7E05}"/>
              </a:ext>
            </a:extLst>
          </p:cNvPr>
          <p:cNvSpPr>
            <a:spLocks noGrp="1"/>
          </p:cNvSpPr>
          <p:nvPr>
            <p:ph type="body" sz="quarter" idx="18"/>
          </p:nvPr>
        </p:nvSpPr>
        <p:spPr>
          <a:xfrm>
            <a:off x="1235941" y="1668306"/>
            <a:ext cx="9720118" cy="4022580"/>
          </a:xfrm>
        </p:spPr>
        <p:txBody>
          <a:bodyPr vert="horz" lIns="91440" tIns="45720" rIns="91440" bIns="45720" rtlCol="0">
            <a:noAutofit/>
          </a:bodyPr>
          <a:lstStyle/>
          <a:p>
            <a:pPr marL="0" indent="0">
              <a:buClr>
                <a:srgbClr val="0CB4B4"/>
              </a:buClr>
              <a:buNone/>
            </a:pPr>
            <a:r>
              <a:rPr lang="es-419" sz="900" dirty="0">
                <a:latin typeface="Courier New" panose="02070309020205020404" pitchFamily="49" charset="0"/>
                <a:cs typeface="Courier New" panose="02070309020205020404" pitchFamily="49" charset="0"/>
              </a:rPr>
              <a:t>&lt;p&gt;&lt;b&gt;Esta es la página principal de los autoservicios de docentes. Desde aquí, puede acceder a los siguientes servicios:&lt;/b&gt;&lt;/p&gt;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&gt;&lt;b&gt;Servicios de docentes&lt;/b&gt;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&gt;&lt;u&gt;&lt;a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&gt;&lt;u&gt;&lt;a </a:t>
            </a:r>
            <a:r>
              <a:rPr lang="es-419" sz="900" dirty="0" err="1">
                <a:latin typeface="Courier New" panose="02070309020205020404" pitchFamily="49" charset="0"/>
                <a:cs typeface="Courier New" panose="02070309020205020404" pitchFamily="49" charset="0"/>
              </a:rPr>
              <a:t>href</a:t>
            </a:r>
            <a:r>
              <a:rPr lang="es-419" sz="900" dirty="0">
                <a:latin typeface="Courier New" panose="02070309020205020404" pitchFamily="49" charset="0"/>
                <a:cs typeface="Courier New" panose="02070309020205020404" pitchFamily="49" charset="0"/>
              </a:rPr>
              <a:t>="https://facultyssb-test.usspesaas.elluciancloud.com:8100/</a:t>
            </a:r>
            <a:r>
              <a:rPr lang="es-419" sz="900" dirty="0" err="1">
                <a:latin typeface="Courier New" panose="02070309020205020404" pitchFamily="49" charset="0"/>
                <a:cs typeface="Courier New" panose="02070309020205020404" pitchFamily="49" charset="0"/>
              </a:rPr>
              <a:t>FacultySelfService</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ssb</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gradeEntry</a:t>
            </a:r>
            <a:r>
              <a:rPr lang="es-419" sz="900" dirty="0">
                <a:latin typeface="Courier New" panose="02070309020205020404" pitchFamily="49" charset="0"/>
                <a:cs typeface="Courier New" panose="02070309020205020404" pitchFamily="49" charset="0"/>
              </a:rPr>
              <a:t>#/gradebook"  target="_</a:t>
            </a:r>
            <a:r>
              <a:rPr lang="es-419" sz="900" dirty="0" err="1">
                <a:latin typeface="Courier New" panose="02070309020205020404" pitchFamily="49" charset="0"/>
                <a:cs typeface="Courier New" panose="02070309020205020404" pitchFamily="49" charset="0"/>
              </a:rPr>
              <a:t>blank</a:t>
            </a:r>
            <a:r>
              <a:rPr lang="es-419" sz="900" dirty="0">
                <a:latin typeface="Courier New" panose="02070309020205020404" pitchFamily="49" charset="0"/>
                <a:cs typeface="Courier New" panose="02070309020205020404" pitchFamily="49" charset="0"/>
              </a:rPr>
              <a:t>"&gt;Ingresar calificaciones&lt;/a&gt;&lt;/u&gt;&lt;/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&gt;&lt;u&gt;&lt;a  </a:t>
            </a:r>
            <a:r>
              <a:rPr lang="es-419" sz="900" dirty="0" err="1">
                <a:latin typeface="Courier New" panose="02070309020205020404" pitchFamily="49" charset="0"/>
                <a:cs typeface="Courier New" panose="02070309020205020404" pitchFamily="49" charset="0"/>
              </a:rPr>
              <a:t>href</a:t>
            </a:r>
            <a:r>
              <a:rPr lang="es-419" sz="900" dirty="0">
                <a:latin typeface="Courier New" panose="02070309020205020404" pitchFamily="49" charset="0"/>
                <a:cs typeface="Courier New" panose="02070309020205020404" pitchFamily="49" charset="0"/>
              </a:rPr>
              <a:t>="https://facultyssb-test.usspesaas.elluciancloud.com:8100/</a:t>
            </a:r>
            <a:r>
              <a:rPr lang="es-419" sz="900" dirty="0" err="1">
                <a:latin typeface="Courier New" panose="02070309020205020404" pitchFamily="49" charset="0"/>
                <a:cs typeface="Courier New" panose="02070309020205020404" pitchFamily="49" charset="0"/>
              </a:rPr>
              <a:t>FacultySelfService</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ssb</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classListApp</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classListPage</a:t>
            </a:r>
            <a:r>
              <a:rPr lang="es-419" sz="900" dirty="0">
                <a:latin typeface="Courier New" panose="02070309020205020404" pitchFamily="49" charset="0"/>
                <a:cs typeface="Courier New" panose="02070309020205020404" pitchFamily="49" charset="0"/>
              </a:rPr>
              <a:t>" target="_</a:t>
            </a:r>
            <a:r>
              <a:rPr lang="es-419" sz="900" dirty="0" err="1">
                <a:latin typeface="Courier New" panose="02070309020205020404" pitchFamily="49" charset="0"/>
                <a:cs typeface="Courier New" panose="02070309020205020404" pitchFamily="49" charset="0"/>
              </a:rPr>
              <a:t>blank</a:t>
            </a:r>
            <a:r>
              <a:rPr lang="es-419" sz="900" dirty="0">
                <a:latin typeface="Courier New" panose="02070309020205020404" pitchFamily="49" charset="0"/>
                <a:cs typeface="Courier New" panose="02070309020205020404" pitchFamily="49" charset="0"/>
              </a:rPr>
              <a:t>"&gt;Lista de clases&lt;/a&gt;&lt;/u&gt;&lt;/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&gt;&lt;u&gt;&lt;a  </a:t>
            </a:r>
            <a:r>
              <a:rPr lang="es-419" sz="900" dirty="0" err="1">
                <a:latin typeface="Courier New" panose="02070309020205020404" pitchFamily="49" charset="0"/>
                <a:cs typeface="Courier New" panose="02070309020205020404" pitchFamily="49" charset="0"/>
              </a:rPr>
              <a:t>href</a:t>
            </a:r>
            <a:r>
              <a:rPr lang="es-419" sz="900" dirty="0">
                <a:latin typeface="Courier New" panose="02070309020205020404" pitchFamily="49" charset="0"/>
                <a:cs typeface="Courier New" panose="02070309020205020404" pitchFamily="49" charset="0"/>
              </a:rPr>
              <a:t>="https://facultyssb-test.usspesaas.elluciancloud.com:8100/</a:t>
            </a:r>
            <a:r>
              <a:rPr lang="es-419" sz="900" dirty="0" err="1">
                <a:latin typeface="Courier New" panose="02070309020205020404" pitchFamily="49" charset="0"/>
                <a:cs typeface="Courier New" panose="02070309020205020404" pitchFamily="49" charset="0"/>
              </a:rPr>
              <a:t>FacultySelfService</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ssb</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facultyAttendanceTracking</a:t>
            </a:r>
            <a:r>
              <a:rPr lang="es-419" sz="900" dirty="0">
                <a:latin typeface="Courier New" panose="02070309020205020404" pitchFamily="49" charset="0"/>
                <a:cs typeface="Courier New" panose="02070309020205020404" pitchFamily="49" charset="0"/>
              </a:rPr>
              <a:t>#!/" target="_</a:t>
            </a:r>
            <a:r>
              <a:rPr lang="es-419" sz="900" dirty="0" err="1">
                <a:latin typeface="Courier New" panose="02070309020205020404" pitchFamily="49" charset="0"/>
                <a:cs typeface="Courier New" panose="02070309020205020404" pitchFamily="49" charset="0"/>
              </a:rPr>
              <a:t>blank</a:t>
            </a:r>
            <a:r>
              <a:rPr lang="es-419" sz="900" dirty="0">
                <a:latin typeface="Courier New" panose="02070309020205020404" pitchFamily="49" charset="0"/>
                <a:cs typeface="Courier New" panose="02070309020205020404" pitchFamily="49" charset="0"/>
              </a:rPr>
              <a:t>"&gt;Ingreso de asistencia&lt;/a&gt;&lt;/u&gt;&lt;/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&gt;&lt;u&gt;&lt;a  </a:t>
            </a:r>
            <a:r>
              <a:rPr lang="es-419" sz="900" dirty="0" err="1">
                <a:latin typeface="Courier New" panose="02070309020205020404" pitchFamily="49" charset="0"/>
                <a:cs typeface="Courier New" panose="02070309020205020404" pitchFamily="49" charset="0"/>
              </a:rPr>
              <a:t>href</a:t>
            </a:r>
            <a:r>
              <a:rPr lang="es-419" sz="900" dirty="0">
                <a:latin typeface="Courier New" panose="02070309020205020404" pitchFamily="49" charset="0"/>
                <a:cs typeface="Courier New" panose="02070309020205020404" pitchFamily="49" charset="0"/>
              </a:rPr>
              <a:t>="https://facultyssb-test.usspesaas.elluciancloud.com:8100/</a:t>
            </a:r>
            <a:r>
              <a:rPr lang="es-419" sz="900" dirty="0" err="1">
                <a:latin typeface="Courier New" panose="02070309020205020404" pitchFamily="49" charset="0"/>
                <a:cs typeface="Courier New" panose="02070309020205020404" pitchFamily="49" charset="0"/>
              </a:rPr>
              <a:t>FacultySelfService</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ssb</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facultyDetailSchedule</a:t>
            </a:r>
            <a:r>
              <a:rPr lang="es-419" sz="900" dirty="0">
                <a:latin typeface="Courier New" panose="02070309020205020404" pitchFamily="49" charset="0"/>
                <a:cs typeface="Courier New" panose="02070309020205020404" pitchFamily="49" charset="0"/>
              </a:rPr>
              <a:t>" target="_</a:t>
            </a:r>
            <a:r>
              <a:rPr lang="es-419" sz="900" dirty="0" err="1">
                <a:latin typeface="Courier New" panose="02070309020205020404" pitchFamily="49" charset="0"/>
                <a:cs typeface="Courier New" panose="02070309020205020404" pitchFamily="49" charset="0"/>
              </a:rPr>
              <a:t>blank</a:t>
            </a:r>
            <a:r>
              <a:rPr lang="es-419" sz="900" dirty="0">
                <a:latin typeface="Courier New" panose="02070309020205020404" pitchFamily="49" charset="0"/>
                <a:cs typeface="Courier New" panose="02070309020205020404" pitchFamily="49" charset="0"/>
              </a:rPr>
              <a:t>"&gt;Detalles del horario del docente&lt;/a&gt;&lt;/u&gt;&lt;/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&gt;&lt;u&gt;&lt;a  </a:t>
            </a:r>
            <a:r>
              <a:rPr lang="es-419" sz="900" dirty="0" err="1">
                <a:latin typeface="Courier New" panose="02070309020205020404" pitchFamily="49" charset="0"/>
                <a:cs typeface="Courier New" panose="02070309020205020404" pitchFamily="49" charset="0"/>
              </a:rPr>
              <a:t>href</a:t>
            </a:r>
            <a:r>
              <a:rPr lang="es-419" sz="900" dirty="0">
                <a:latin typeface="Courier New" panose="02070309020205020404" pitchFamily="49" charset="0"/>
                <a:cs typeface="Courier New" panose="02070309020205020404" pitchFamily="49" charset="0"/>
              </a:rPr>
              <a:t>="https://facultyssb-test.usspesaas.elluciancloud.com:8100/</a:t>
            </a:r>
            <a:r>
              <a:rPr lang="es-419" sz="900" dirty="0" err="1">
                <a:latin typeface="Courier New" panose="02070309020205020404" pitchFamily="49" charset="0"/>
                <a:cs typeface="Courier New" panose="02070309020205020404" pitchFamily="49" charset="0"/>
              </a:rPr>
              <a:t>FacultySelfService</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ssb</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facultyWeekAtAGlance</a:t>
            </a:r>
            <a:r>
              <a:rPr lang="es-419" sz="900" dirty="0">
                <a:latin typeface="Courier New" panose="02070309020205020404" pitchFamily="49" charset="0"/>
                <a:cs typeface="Courier New" panose="02070309020205020404" pitchFamily="49" charset="0"/>
              </a:rPr>
              <a:t>" target="_</a:t>
            </a:r>
            <a:r>
              <a:rPr lang="es-419" sz="900" dirty="0" err="1">
                <a:latin typeface="Courier New" panose="02070309020205020404" pitchFamily="49" charset="0"/>
                <a:cs typeface="Courier New" panose="02070309020205020404" pitchFamily="49" charset="0"/>
              </a:rPr>
              <a:t>blank</a:t>
            </a:r>
            <a:r>
              <a:rPr lang="es-419" sz="900" dirty="0">
                <a:latin typeface="Courier New" panose="02070309020205020404" pitchFamily="49" charset="0"/>
                <a:cs typeface="Courier New" panose="02070309020205020404" pitchFamily="49" charset="0"/>
              </a:rPr>
              <a:t>"&gt;Semana a un vistazo del docente&lt;/a&gt;&lt;/u&gt;&lt;/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&gt;&lt;u&gt;&lt;a  </a:t>
            </a:r>
            <a:r>
              <a:rPr lang="es-419" sz="900" dirty="0" err="1">
                <a:latin typeface="Courier New" panose="02070309020205020404" pitchFamily="49" charset="0"/>
                <a:cs typeface="Courier New" panose="02070309020205020404" pitchFamily="49" charset="0"/>
              </a:rPr>
              <a:t>href</a:t>
            </a:r>
            <a:r>
              <a:rPr lang="es-419" sz="900" dirty="0">
                <a:latin typeface="Courier New" panose="02070309020205020404" pitchFamily="49" charset="0"/>
                <a:cs typeface="Courier New" panose="02070309020205020404" pitchFamily="49" charset="0"/>
              </a:rPr>
              <a:t>="https://facultyssb-test.usspesaas.elluciancloud.com:8100/</a:t>
            </a:r>
            <a:r>
              <a:rPr lang="es-419" sz="900" dirty="0" err="1">
                <a:latin typeface="Courier New" panose="02070309020205020404" pitchFamily="49" charset="0"/>
                <a:cs typeface="Courier New" panose="02070309020205020404" pitchFamily="49" charset="0"/>
              </a:rPr>
              <a:t>FacultySelfService</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ssb</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assignments</a:t>
            </a:r>
            <a:r>
              <a:rPr lang="es-419" sz="900" dirty="0">
                <a:latin typeface="Courier New" panose="02070309020205020404" pitchFamily="49" charset="0"/>
                <a:cs typeface="Courier New" panose="02070309020205020404" pitchFamily="49" charset="0"/>
              </a:rPr>
              <a:t>" target="_</a:t>
            </a:r>
            <a:r>
              <a:rPr lang="es-419" sz="900" dirty="0" err="1">
                <a:latin typeface="Courier New" panose="02070309020205020404" pitchFamily="49" charset="0"/>
                <a:cs typeface="Courier New" panose="02070309020205020404" pitchFamily="49" charset="0"/>
              </a:rPr>
              <a:t>blank</a:t>
            </a:r>
            <a:r>
              <a:rPr lang="es-419" sz="900" dirty="0">
                <a:latin typeface="Courier New" panose="02070309020205020404" pitchFamily="49" charset="0"/>
                <a:cs typeface="Courier New" panose="02070309020205020404" pitchFamily="49" charset="0"/>
              </a:rPr>
              <a:t>"&gt;Asignaciones de docente&lt;/a&gt;&lt;/u&gt;&lt;/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&gt;&lt;u&gt;&lt;a  </a:t>
            </a:r>
            <a:r>
              <a:rPr lang="es-419" sz="900" dirty="0" err="1">
                <a:latin typeface="Courier New" panose="02070309020205020404" pitchFamily="49" charset="0"/>
                <a:cs typeface="Courier New" panose="02070309020205020404" pitchFamily="49" charset="0"/>
              </a:rPr>
              <a:t>href</a:t>
            </a:r>
            <a:r>
              <a:rPr lang="es-419" sz="900" dirty="0">
                <a:latin typeface="Courier New" panose="02070309020205020404" pitchFamily="49" charset="0"/>
                <a:cs typeface="Courier New" panose="02070309020205020404" pitchFamily="49" charset="0"/>
              </a:rPr>
              <a:t>="https://facultyssb-test.usspesaas.elluciancloud.com:8100/</a:t>
            </a:r>
            <a:r>
              <a:rPr lang="es-419" sz="900" dirty="0" err="1">
                <a:latin typeface="Courier New" panose="02070309020205020404" pitchFamily="49" charset="0"/>
                <a:cs typeface="Courier New" panose="02070309020205020404" pitchFamily="49" charset="0"/>
              </a:rPr>
              <a:t>FacultySelfService</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ssb</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registrationHistory</a:t>
            </a:r>
            <a:r>
              <a:rPr lang="es-419" sz="900" dirty="0">
                <a:latin typeface="Courier New" panose="02070309020205020404" pitchFamily="49" charset="0"/>
                <a:cs typeface="Courier New" panose="02070309020205020404" pitchFamily="49" charset="0"/>
              </a:rPr>
              <a:t>" target="_</a:t>
            </a:r>
            <a:r>
              <a:rPr lang="es-419" sz="900" dirty="0" err="1">
                <a:latin typeface="Courier New" panose="02070309020205020404" pitchFamily="49" charset="0"/>
                <a:cs typeface="Courier New" panose="02070309020205020404" pitchFamily="49" charset="0"/>
              </a:rPr>
              <a:t>blank</a:t>
            </a:r>
            <a:r>
              <a:rPr lang="es-419" sz="900" dirty="0">
                <a:latin typeface="Courier New" panose="02070309020205020404" pitchFamily="49" charset="0"/>
                <a:cs typeface="Courier New" panose="02070309020205020404" pitchFamily="49" charset="0"/>
              </a:rPr>
              <a:t>"&gt;Historial de inscripción del alumno &lt;/a&gt;&lt;/u&gt;&lt;/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&gt;&lt;u&gt;&lt;a  </a:t>
            </a:r>
            <a:r>
              <a:rPr lang="es-419" sz="900" dirty="0" err="1">
                <a:latin typeface="Courier New" panose="02070309020205020404" pitchFamily="49" charset="0"/>
                <a:cs typeface="Courier New" panose="02070309020205020404" pitchFamily="49" charset="0"/>
              </a:rPr>
              <a:t>href</a:t>
            </a:r>
            <a:r>
              <a:rPr lang="es-419" sz="900" dirty="0">
                <a:latin typeface="Courier New" panose="02070309020205020404" pitchFamily="49" charset="0"/>
                <a:cs typeface="Courier New" panose="02070309020205020404" pitchFamily="49" charset="0"/>
              </a:rPr>
              <a:t>="https://facultyssb-test.usspesaas.elluciancloud.com:8100/</a:t>
            </a:r>
            <a:r>
              <a:rPr lang="es-419" sz="900" dirty="0" err="1">
                <a:latin typeface="Courier New" panose="02070309020205020404" pitchFamily="49" charset="0"/>
                <a:cs typeface="Courier New" panose="02070309020205020404" pitchFamily="49" charset="0"/>
              </a:rPr>
              <a:t>FacultySelfService</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ssb</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studentWeekAtAGlance</a:t>
            </a:r>
            <a:r>
              <a:rPr lang="es-419" sz="900" dirty="0">
                <a:latin typeface="Courier New" panose="02070309020205020404" pitchFamily="49" charset="0"/>
                <a:cs typeface="Courier New" panose="02070309020205020404" pitchFamily="49" charset="0"/>
              </a:rPr>
              <a:t>" target="_</a:t>
            </a:r>
            <a:r>
              <a:rPr lang="es-419" sz="900" dirty="0" err="1">
                <a:latin typeface="Courier New" panose="02070309020205020404" pitchFamily="49" charset="0"/>
                <a:cs typeface="Courier New" panose="02070309020205020404" pitchFamily="49" charset="0"/>
              </a:rPr>
              <a:t>blank</a:t>
            </a:r>
            <a:r>
              <a:rPr lang="es-419" sz="900" dirty="0">
                <a:latin typeface="Courier New" panose="02070309020205020404" pitchFamily="49" charset="0"/>
                <a:cs typeface="Courier New" panose="02070309020205020404" pitchFamily="49" charset="0"/>
              </a:rPr>
              <a:t>"&gt;Semana de un vistazo del alumno &lt;/a&gt;&lt;/u&gt;&lt;/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&gt;&lt;u&gt;&lt;a  </a:t>
            </a:r>
            <a:r>
              <a:rPr lang="es-419" sz="900" dirty="0" err="1">
                <a:latin typeface="Courier New" panose="02070309020205020404" pitchFamily="49" charset="0"/>
                <a:cs typeface="Courier New" panose="02070309020205020404" pitchFamily="49" charset="0"/>
              </a:rPr>
              <a:t>href</a:t>
            </a:r>
            <a:r>
              <a:rPr lang="es-419" sz="900" dirty="0">
                <a:latin typeface="Courier New" panose="02070309020205020404" pitchFamily="49" charset="0"/>
                <a:cs typeface="Courier New" panose="02070309020205020404" pitchFamily="49" charset="0"/>
              </a:rPr>
              <a:t>="https://facultyssb-test.usspesaas.elluciancloud.com:8100/</a:t>
            </a:r>
            <a:r>
              <a:rPr lang="es-419" sz="900" dirty="0" err="1">
                <a:latin typeface="Courier New" panose="02070309020205020404" pitchFamily="49" charset="0"/>
                <a:cs typeface="Courier New" panose="02070309020205020404" pitchFamily="49" charset="0"/>
              </a:rPr>
              <a:t>FacultySelfService</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ssb</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syllabus"target</a:t>
            </a:r>
            <a:r>
              <a:rPr lang="es-419" sz="900" dirty="0">
                <a:latin typeface="Courier New" panose="02070309020205020404" pitchFamily="49" charset="0"/>
                <a:cs typeface="Courier New" panose="02070309020205020404" pitchFamily="49" charset="0"/>
              </a:rPr>
              <a:t>="_</a:t>
            </a:r>
            <a:r>
              <a:rPr lang="es-419" sz="900" dirty="0" err="1">
                <a:latin typeface="Courier New" panose="02070309020205020404" pitchFamily="49" charset="0"/>
                <a:cs typeface="Courier New" panose="02070309020205020404" pitchFamily="49" charset="0"/>
              </a:rPr>
              <a:t>blank</a:t>
            </a:r>
            <a:r>
              <a:rPr lang="es-419" sz="900" dirty="0">
                <a:latin typeface="Courier New" panose="02070309020205020404" pitchFamily="49" charset="0"/>
                <a:cs typeface="Courier New" panose="02070309020205020404" pitchFamily="49" charset="0"/>
              </a:rPr>
              <a:t>"&gt;Syllabus &lt;/a&gt;&lt;/u&gt;&lt;/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&gt;&lt;u&gt;&lt;a  </a:t>
            </a:r>
            <a:r>
              <a:rPr lang="es-419" sz="900" dirty="0" err="1">
                <a:latin typeface="Courier New" panose="02070309020205020404" pitchFamily="49" charset="0"/>
                <a:cs typeface="Courier New" panose="02070309020205020404" pitchFamily="49" charset="0"/>
              </a:rPr>
              <a:t>href</a:t>
            </a:r>
            <a:r>
              <a:rPr lang="es-419" sz="900" dirty="0">
                <a:latin typeface="Courier New" panose="02070309020205020404" pitchFamily="49" charset="0"/>
                <a:cs typeface="Courier New" panose="02070309020205020404" pitchFamily="49" charset="0"/>
              </a:rPr>
              <a:t>="https://facultyssb-test.test.usspesaas.elluciancloud.com:8100/</a:t>
            </a:r>
            <a:r>
              <a:rPr lang="es-419" sz="900" dirty="0" err="1">
                <a:latin typeface="Courier New" panose="02070309020205020404" pitchFamily="49" charset="0"/>
                <a:cs typeface="Courier New" panose="02070309020205020404" pitchFamily="49" charset="0"/>
              </a:rPr>
              <a:t>FacultySelfService</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ssb</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bwlcmx</a:t>
            </a:r>
            <a:r>
              <a:rPr lang="es-419" sz="900" dirty="0">
                <a:latin typeface="Courier New" panose="02070309020205020404" pitchFamily="49" charset="0"/>
                <a:cs typeface="Courier New" panose="02070309020205020404" pitchFamily="49" charset="0"/>
              </a:rPr>
              <a:t>#/selectTerm" target="_</a:t>
            </a:r>
            <a:r>
              <a:rPr lang="es-419" sz="900" dirty="0" err="1">
                <a:latin typeface="Courier New" panose="02070309020205020404" pitchFamily="49" charset="0"/>
                <a:cs typeface="Courier New" panose="02070309020205020404" pitchFamily="49" charset="0"/>
              </a:rPr>
              <a:t>blank</a:t>
            </a:r>
            <a:r>
              <a:rPr lang="es-419" sz="900" dirty="0">
                <a:latin typeface="Courier New" panose="02070309020205020404" pitchFamily="49" charset="0"/>
                <a:cs typeface="Courier New" panose="02070309020205020404" pitchFamily="49" charset="0"/>
              </a:rPr>
              <a:t>"&gt;Matriz de conflicto de horario&lt;/a&gt;&lt;/u&gt;&lt;/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&lt;u&gt;&lt;a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&gt;&lt;u&gt;&lt;a &lt;/a&gt;&lt;/u&gt;&lt;/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&gt;&lt;b&gt;   Información de estudiantes&lt;/b&gt;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&gt;&lt;a  </a:t>
            </a:r>
            <a:r>
              <a:rPr lang="es-419" sz="900" dirty="0" err="1">
                <a:latin typeface="Courier New" panose="02070309020205020404" pitchFamily="49" charset="0"/>
                <a:cs typeface="Courier New" panose="02070309020205020404" pitchFamily="49" charset="0"/>
              </a:rPr>
              <a:t>href</a:t>
            </a:r>
            <a:r>
              <a:rPr lang="es-419" sz="900" dirty="0">
                <a:latin typeface="Courier New" panose="02070309020205020404" pitchFamily="49" charset="0"/>
                <a:cs typeface="Courier New" panose="02070309020205020404" pitchFamily="49" charset="0"/>
              </a:rPr>
              <a:t>="https://studentssb-test.usspesaas.elluciancloud.com:8100/</a:t>
            </a:r>
            <a:r>
              <a:rPr lang="es-419" sz="900" dirty="0" err="1">
                <a:latin typeface="Courier New" panose="02070309020205020404" pitchFamily="49" charset="0"/>
                <a:cs typeface="Courier New" panose="02070309020205020404" pitchFamily="49" charset="0"/>
              </a:rPr>
              <a:t>StudentSelfService</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ssb</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termSelection</a:t>
            </a:r>
            <a:r>
              <a:rPr lang="es-419" sz="900" dirty="0">
                <a:latin typeface="Courier New" panose="02070309020205020404" pitchFamily="49" charset="0"/>
                <a:cs typeface="Courier New" panose="02070309020205020404" pitchFamily="49" charset="0"/>
              </a:rPr>
              <a:t>" target="_</a:t>
            </a:r>
            <a:r>
              <a:rPr lang="es-419" sz="900" dirty="0" err="1">
                <a:latin typeface="Courier New" panose="02070309020205020404" pitchFamily="49" charset="0"/>
                <a:cs typeface="Courier New" panose="02070309020205020404" pitchFamily="49" charset="0"/>
              </a:rPr>
              <a:t>blank</a:t>
            </a:r>
            <a:r>
              <a:rPr lang="es-419" sz="900" dirty="0">
                <a:latin typeface="Courier New" panose="02070309020205020404" pitchFamily="49" charset="0"/>
                <a:cs typeface="Courier New" panose="02070309020205020404" pitchFamily="49" charset="0"/>
              </a:rPr>
              <a:t>"&gt;Perfil del estudiante para Asesores&lt;/a&gt;&lt;/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&gt;&lt;b&gt;  Evaluación docente&lt;/b&gt;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&gt;&lt;a  </a:t>
            </a:r>
            <a:r>
              <a:rPr lang="es-419" sz="900" dirty="0" err="1">
                <a:latin typeface="Courier New" panose="02070309020205020404" pitchFamily="49" charset="0"/>
                <a:cs typeface="Courier New" panose="02070309020205020404" pitchFamily="49" charset="0"/>
              </a:rPr>
              <a:t>href</a:t>
            </a:r>
            <a:r>
              <a:rPr lang="es-419" sz="900" dirty="0">
                <a:latin typeface="Courier New" panose="02070309020205020404" pitchFamily="49" charset="0"/>
                <a:cs typeface="Courier New" panose="02070309020205020404" pitchFamily="49" charset="0"/>
              </a:rPr>
              <a:t>="https://facultyssb-test.usspesaas.elluciancloud.com:8100/</a:t>
            </a:r>
            <a:r>
              <a:rPr lang="es-419" sz="900" dirty="0" err="1">
                <a:latin typeface="Courier New" panose="02070309020205020404" pitchFamily="49" charset="0"/>
                <a:cs typeface="Courier New" panose="02070309020205020404" pitchFamily="49" charset="0"/>
              </a:rPr>
              <a:t>FacultySelfService</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ssb</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bwstes</a:t>
            </a:r>
            <a:r>
              <a:rPr lang="es-419" sz="900" dirty="0">
                <a:latin typeface="Courier New" panose="02070309020205020404" pitchFamily="49" charset="0"/>
                <a:cs typeface="Courier New" panose="02070309020205020404" pitchFamily="49" charset="0"/>
              </a:rPr>
              <a:t>#/pShowbycrn" target="_</a:t>
            </a:r>
            <a:r>
              <a:rPr lang="es-419" sz="900" dirty="0" err="1">
                <a:latin typeface="Courier New" panose="02070309020205020404" pitchFamily="49" charset="0"/>
                <a:cs typeface="Courier New" panose="02070309020205020404" pitchFamily="49" charset="0"/>
              </a:rPr>
              <a:t>blank</a:t>
            </a:r>
            <a:r>
              <a:rPr lang="es-419" sz="900" dirty="0">
                <a:latin typeface="Courier New" panose="02070309020205020404" pitchFamily="49" charset="0"/>
                <a:cs typeface="Courier New" panose="02070309020205020404" pitchFamily="49" charset="0"/>
              </a:rPr>
              <a:t>"&gt;Resultados de evaluación docente&lt;/a&gt;&lt;/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&gt;&lt;b&gt;    Encuestas generales&lt;/b&gt;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&gt;&lt;a  </a:t>
            </a:r>
            <a:r>
              <a:rPr lang="es-419" sz="900" dirty="0" err="1">
                <a:latin typeface="Courier New" panose="02070309020205020404" pitchFamily="49" charset="0"/>
                <a:cs typeface="Courier New" panose="02070309020205020404" pitchFamily="49" charset="0"/>
              </a:rPr>
              <a:t>href</a:t>
            </a:r>
            <a:r>
              <a:rPr lang="es-419" sz="900" dirty="0">
                <a:latin typeface="Courier New" panose="02070309020205020404" pitchFamily="49" charset="0"/>
                <a:cs typeface="Courier New" panose="02070309020205020404" pitchFamily="49" charset="0"/>
              </a:rPr>
              <a:t>="https://generalssb-test.usspesaas.elluciancloud.com:8101/</a:t>
            </a:r>
            <a:r>
              <a:rPr lang="es-419" sz="900" dirty="0" err="1">
                <a:latin typeface="Courier New" panose="02070309020205020404" pitchFamily="49" charset="0"/>
                <a:cs typeface="Courier New" panose="02070309020205020404" pitchFamily="49" charset="0"/>
              </a:rPr>
              <a:t>BannerGeneralSsb</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ssb</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surveyLocations</a:t>
            </a:r>
            <a:r>
              <a:rPr lang="es-419" sz="900" dirty="0">
                <a:latin typeface="Courier New" panose="02070309020205020404" pitchFamily="49" charset="0"/>
                <a:cs typeface="Courier New" panose="02070309020205020404" pitchFamily="49" charset="0"/>
              </a:rPr>
              <a:t>#/pShowsurveys" target="_</a:t>
            </a:r>
            <a:r>
              <a:rPr lang="es-419" sz="900" dirty="0" err="1">
                <a:latin typeface="Courier New" panose="02070309020205020404" pitchFamily="49" charset="0"/>
                <a:cs typeface="Courier New" panose="02070309020205020404" pitchFamily="49" charset="0"/>
              </a:rPr>
              <a:t>blank</a:t>
            </a:r>
            <a:r>
              <a:rPr lang="es-419" sz="900" dirty="0">
                <a:latin typeface="Courier New" panose="02070309020205020404" pitchFamily="49" charset="0"/>
                <a:cs typeface="Courier New" panose="02070309020205020404" pitchFamily="49" charset="0"/>
              </a:rPr>
              <a:t>"&gt;Encuestas generales&lt;/a&gt;&lt;/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&gt;&lt;u&gt;&lt;a  </a:t>
            </a:r>
            <a:r>
              <a:rPr lang="es-419" sz="900" dirty="0" err="1">
                <a:latin typeface="Courier New" panose="02070309020205020404" pitchFamily="49" charset="0"/>
                <a:cs typeface="Courier New" panose="02070309020205020404" pitchFamily="49" charset="0"/>
              </a:rPr>
              <a:t>href</a:t>
            </a:r>
            <a:r>
              <a:rPr lang="es-419" sz="900" dirty="0">
                <a:latin typeface="Courier New" panose="02070309020205020404" pitchFamily="49" charset="0"/>
                <a:cs typeface="Courier New" panose="02070309020205020404" pitchFamily="49" charset="0"/>
              </a:rPr>
              <a:t>= https://generalssb-test.usspesaas.elluciancloud.com:8101/BannerGeneralSsb/ssb/surveyLocations#/pShowsurveysResults" target="_</a:t>
            </a:r>
            <a:r>
              <a:rPr lang="es-419" sz="900" dirty="0" err="1">
                <a:latin typeface="Courier New" panose="02070309020205020404" pitchFamily="49" charset="0"/>
                <a:cs typeface="Courier New" panose="02070309020205020404" pitchFamily="49" charset="0"/>
              </a:rPr>
              <a:t>blank</a:t>
            </a:r>
            <a:r>
              <a:rPr lang="es-419" sz="900" dirty="0">
                <a:latin typeface="Courier New" panose="02070309020205020404" pitchFamily="49" charset="0"/>
                <a:cs typeface="Courier New" panose="02070309020205020404" pitchFamily="49" charset="0"/>
              </a:rPr>
              <a:t>"&gt;Ver status de encuestas generales&lt;/a&gt;&lt;/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&gt;&lt;b&gt;   Solicitudes de servicio&lt;/b&gt; &lt;</a:t>
            </a:r>
            <a:r>
              <a:rPr lang="es-419" sz="900" dirty="0" err="1">
                <a:latin typeface="Courier New" panose="02070309020205020404" pitchFamily="49" charset="0"/>
                <a:cs typeface="Courier New" panose="02070309020205020404" pitchFamily="49" charset="0"/>
              </a:rPr>
              <a:t>ul</a:t>
            </a:r>
            <a:r>
              <a:rPr lang="es-419" sz="900" dirty="0">
                <a:latin typeface="Courier New" panose="02070309020205020404" pitchFamily="49" charset="0"/>
                <a:cs typeface="Courier New" panose="02070309020205020404" pitchFamily="49" charset="0"/>
              </a:rPr>
              <a:t>&gt; &lt;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&gt;&lt;a  </a:t>
            </a:r>
            <a:r>
              <a:rPr lang="es-419" sz="900" dirty="0" err="1">
                <a:latin typeface="Courier New" panose="02070309020205020404" pitchFamily="49" charset="0"/>
                <a:cs typeface="Courier New" panose="02070309020205020404" pitchFamily="49" charset="0"/>
              </a:rPr>
              <a:t>href</a:t>
            </a:r>
            <a:r>
              <a:rPr lang="es-419" sz="900" dirty="0">
                <a:latin typeface="Courier New" panose="02070309020205020404" pitchFamily="49" charset="0"/>
                <a:cs typeface="Courier New" panose="02070309020205020404" pitchFamily="49" charset="0"/>
              </a:rPr>
              <a:t>="https://facultyssb-test.usspesaas.elluciancloud.com:8100/</a:t>
            </a:r>
            <a:r>
              <a:rPr lang="es-419" sz="900" dirty="0" err="1">
                <a:latin typeface="Courier New" panose="02070309020205020404" pitchFamily="49" charset="0"/>
                <a:cs typeface="Courier New" panose="02070309020205020404" pitchFamily="49" charset="0"/>
              </a:rPr>
              <a:t>FacultySelfService</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ssb</a:t>
            </a:r>
            <a:r>
              <a:rPr lang="es-419" sz="900" dirty="0">
                <a:latin typeface="Courier New" panose="02070309020205020404" pitchFamily="49" charset="0"/>
                <a:cs typeface="Courier New" panose="02070309020205020404" pitchFamily="49" charset="0"/>
              </a:rPr>
              <a:t>/</a:t>
            </a:r>
            <a:r>
              <a:rPr lang="es-419" sz="900" dirty="0" err="1">
                <a:latin typeface="Courier New" panose="02070309020205020404" pitchFamily="49" charset="0"/>
                <a:cs typeface="Courier New" panose="02070309020205020404" pitchFamily="49" charset="0"/>
              </a:rPr>
              <a:t>stuossr</a:t>
            </a:r>
            <a:r>
              <a:rPr lang="es-419" sz="900" dirty="0">
                <a:latin typeface="Courier New" panose="02070309020205020404" pitchFamily="49" charset="0"/>
                <a:cs typeface="Courier New" panose="02070309020205020404" pitchFamily="49" charset="0"/>
              </a:rPr>
              <a:t>#/pDispApplyProtocol" target="_</a:t>
            </a:r>
            <a:r>
              <a:rPr lang="es-419" sz="900" dirty="0" err="1">
                <a:latin typeface="Courier New" panose="02070309020205020404" pitchFamily="49" charset="0"/>
                <a:cs typeface="Courier New" panose="02070309020205020404" pitchFamily="49" charset="0"/>
              </a:rPr>
              <a:t>blank</a:t>
            </a:r>
            <a:r>
              <a:rPr lang="es-419" sz="900" dirty="0">
                <a:latin typeface="Courier New" panose="02070309020205020404" pitchFamily="49" charset="0"/>
                <a:cs typeface="Courier New" panose="02070309020205020404" pitchFamily="49" charset="0"/>
              </a:rPr>
              <a:t>"&gt;Solicitudes de servicios&lt;/a&gt;&lt;/</a:t>
            </a:r>
            <a:r>
              <a:rPr lang="es-419" sz="900" dirty="0" err="1">
                <a:latin typeface="Courier New" panose="02070309020205020404" pitchFamily="49" charset="0"/>
                <a:cs typeface="Courier New" panose="02070309020205020404" pitchFamily="49" charset="0"/>
              </a:rPr>
              <a:t>li</a:t>
            </a:r>
            <a:r>
              <a:rPr lang="es-419" sz="900" dirty="0">
                <a:latin typeface="Courier New" panose="02070309020205020404" pitchFamily="49" charset="0"/>
                <a:cs typeface="Courier New" panose="02070309020205020404" pitchFamily="49" charset="0"/>
              </a:rPr>
              <a:t>&gt;</a:t>
            </a:r>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16</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GUAINFO</a:t>
            </a:r>
            <a:br>
              <a:rPr lang="es-MX" b="0" dirty="0">
                <a:solidFill>
                  <a:schemeClr val="accent1"/>
                </a:solidFill>
              </a:rPr>
            </a:br>
            <a:r>
              <a:rPr lang="es-MX" b="0" dirty="0">
                <a:solidFill>
                  <a:schemeClr val="accent1"/>
                </a:solidFill>
              </a:rPr>
              <a:t>Editor de texto de información – Faculty </a:t>
            </a:r>
            <a:r>
              <a:rPr lang="es-MX" b="0" dirty="0" err="1">
                <a:solidFill>
                  <a:schemeClr val="accent1"/>
                </a:solidFill>
              </a:rPr>
              <a:t>Landingpage</a:t>
            </a:r>
            <a:br>
              <a:rPr lang="es-MX" b="0" dirty="0">
                <a:solidFill>
                  <a:schemeClr val="accent1"/>
                </a:solidFill>
              </a:rPr>
            </a:br>
            <a:endParaRPr lang="es-CL" b="0" dirty="0">
              <a:solidFill>
                <a:schemeClr val="accent1"/>
              </a:solidFill>
            </a:endParaRPr>
          </a:p>
        </p:txBody>
      </p:sp>
    </p:spTree>
    <p:extLst>
      <p:ext uri="{BB962C8B-B14F-4D97-AF65-F5344CB8AC3E}">
        <p14:creationId xmlns:p14="http://schemas.microsoft.com/office/powerpoint/2010/main" val="2158784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5FF35-E78F-BD72-6D4C-A8AA3D52A40F}"/>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D329265A-A2C8-4433-D671-FCE6B4CD9ED2}"/>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3421A15E-7B53-B343-AC13-E7E307B62CB6}"/>
              </a:ext>
            </a:extLst>
          </p:cNvPr>
          <p:cNvSpPr>
            <a:spLocks noGrp="1"/>
          </p:cNvSpPr>
          <p:nvPr>
            <p:ph type="sldNum" sz="quarter" idx="4"/>
          </p:nvPr>
        </p:nvSpPr>
        <p:spPr/>
        <p:txBody>
          <a:bodyPr/>
          <a:lstStyle/>
          <a:p>
            <a:fld id="{4A16F8ED-7337-F64C-865A-41A1F48E54DF}" type="slidenum">
              <a:rPr lang="en-US" smtClean="0"/>
              <a:pPr/>
              <a:t>17</a:t>
            </a:fld>
            <a:endParaRPr lang="en-US" dirty="0"/>
          </a:p>
        </p:txBody>
      </p:sp>
      <p:sp>
        <p:nvSpPr>
          <p:cNvPr id="4" name="Título 3">
            <a:extLst>
              <a:ext uri="{FF2B5EF4-FFF2-40B4-BE49-F238E27FC236}">
                <a16:creationId xmlns:a16="http://schemas.microsoft.com/office/drawing/2014/main" id="{61978C7A-741F-3A0C-3FF0-93A100443B04}"/>
              </a:ext>
            </a:extLst>
          </p:cNvPr>
          <p:cNvSpPr>
            <a:spLocks noGrp="1"/>
          </p:cNvSpPr>
          <p:nvPr>
            <p:ph type="title"/>
          </p:nvPr>
        </p:nvSpPr>
        <p:spPr>
          <a:xfrm>
            <a:off x="810247" y="113040"/>
            <a:ext cx="10271883" cy="626165"/>
          </a:xfrm>
        </p:spPr>
        <p:txBody>
          <a:bodyPr/>
          <a:lstStyle/>
          <a:p>
            <a:r>
              <a:rPr lang="es-CO" b="0" dirty="0">
                <a:solidFill>
                  <a:schemeClr val="accent1"/>
                </a:solidFill>
              </a:rPr>
              <a:t>Tablero de Docentes</a:t>
            </a:r>
            <a:endParaRPr lang="es-CL" b="0" dirty="0">
              <a:solidFill>
                <a:schemeClr val="accent1"/>
              </a:solidFill>
            </a:endParaRPr>
          </a:p>
        </p:txBody>
      </p:sp>
      <p:sp>
        <p:nvSpPr>
          <p:cNvPr id="10" name="Rectangle: Rounded Corners 5">
            <a:extLst>
              <a:ext uri="{FF2B5EF4-FFF2-40B4-BE49-F238E27FC236}">
                <a16:creationId xmlns:a16="http://schemas.microsoft.com/office/drawing/2014/main" id="{1E05F462-3629-C332-17DF-E61D4CB7113A}"/>
              </a:ext>
            </a:extLst>
          </p:cNvPr>
          <p:cNvSpPr/>
          <p:nvPr/>
        </p:nvSpPr>
        <p:spPr>
          <a:xfrm>
            <a:off x="1268083" y="5296899"/>
            <a:ext cx="7851710" cy="693119"/>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400" b="1" dirty="0"/>
              <a:t>Las opciones configuradas en GUACONF se visualizan en ABRIR EL TABLERO DE ALUMNOS</a:t>
            </a:r>
            <a:endParaRPr lang="es-CL" sz="1400" dirty="0"/>
          </a:p>
          <a:p>
            <a:pPr algn="ctr"/>
            <a:endParaRPr lang="es-CL" sz="1400" dirty="0"/>
          </a:p>
        </p:txBody>
      </p:sp>
      <p:pic>
        <p:nvPicPr>
          <p:cNvPr id="6" name="Imagen 5">
            <a:extLst>
              <a:ext uri="{FF2B5EF4-FFF2-40B4-BE49-F238E27FC236}">
                <a16:creationId xmlns:a16="http://schemas.microsoft.com/office/drawing/2014/main" id="{664DFA50-26C1-CD13-D108-C5E3B2ABCC03}"/>
              </a:ext>
            </a:extLst>
          </p:cNvPr>
          <p:cNvPicPr>
            <a:picLocks noChangeAspect="1"/>
          </p:cNvPicPr>
          <p:nvPr/>
        </p:nvPicPr>
        <p:blipFill>
          <a:blip r:embed="rId2"/>
          <a:stretch>
            <a:fillRect/>
          </a:stretch>
        </p:blipFill>
        <p:spPr>
          <a:xfrm>
            <a:off x="1099150" y="1892802"/>
            <a:ext cx="10928948" cy="3072395"/>
          </a:xfrm>
          <a:prstGeom prst="rect">
            <a:avLst/>
          </a:prstGeom>
        </p:spPr>
      </p:pic>
    </p:spTree>
    <p:extLst>
      <p:ext uri="{BB962C8B-B14F-4D97-AF65-F5344CB8AC3E}">
        <p14:creationId xmlns:p14="http://schemas.microsoft.com/office/powerpoint/2010/main" val="32420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DBF0A-81BD-9D13-07E8-79795A186AF2}"/>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EEF7FB39-F3FA-8CDA-6FA9-FA668AD046E3}"/>
              </a:ext>
            </a:extLst>
          </p:cNvPr>
          <p:cNvPicPr>
            <a:picLocks noChangeAspect="1"/>
          </p:cNvPicPr>
          <p:nvPr/>
        </p:nvPicPr>
        <p:blipFill>
          <a:blip r:embed="rId2"/>
          <a:stretch>
            <a:fillRect/>
          </a:stretch>
        </p:blipFill>
        <p:spPr>
          <a:xfrm>
            <a:off x="1051262" y="1121433"/>
            <a:ext cx="11442662" cy="4938539"/>
          </a:xfrm>
          <a:prstGeom prst="rect">
            <a:avLst/>
          </a:prstGeom>
        </p:spPr>
      </p:pic>
      <p:sp>
        <p:nvSpPr>
          <p:cNvPr id="3" name="Marcador de texto vertical 2">
            <a:extLst>
              <a:ext uri="{FF2B5EF4-FFF2-40B4-BE49-F238E27FC236}">
                <a16:creationId xmlns:a16="http://schemas.microsoft.com/office/drawing/2014/main" id="{E1D2AF9F-642E-33A0-F084-394444E66DC7}"/>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F5623356-2DD8-18B9-4B01-0AE36540A7C7}"/>
              </a:ext>
            </a:extLst>
          </p:cNvPr>
          <p:cNvSpPr>
            <a:spLocks noGrp="1"/>
          </p:cNvSpPr>
          <p:nvPr>
            <p:ph type="sldNum" sz="quarter" idx="4"/>
          </p:nvPr>
        </p:nvSpPr>
        <p:spPr/>
        <p:txBody>
          <a:bodyPr/>
          <a:lstStyle/>
          <a:p>
            <a:fld id="{4A16F8ED-7337-F64C-865A-41A1F48E54DF}" type="slidenum">
              <a:rPr lang="en-US" smtClean="0"/>
              <a:pPr/>
              <a:t>18</a:t>
            </a:fld>
            <a:endParaRPr lang="en-US" dirty="0"/>
          </a:p>
        </p:txBody>
      </p:sp>
      <p:sp>
        <p:nvSpPr>
          <p:cNvPr id="4" name="Título 3">
            <a:extLst>
              <a:ext uri="{FF2B5EF4-FFF2-40B4-BE49-F238E27FC236}">
                <a16:creationId xmlns:a16="http://schemas.microsoft.com/office/drawing/2014/main" id="{359AFB7A-0B7F-308D-6D94-5B9EBC728515}"/>
              </a:ext>
            </a:extLst>
          </p:cNvPr>
          <p:cNvSpPr>
            <a:spLocks noGrp="1"/>
          </p:cNvSpPr>
          <p:nvPr>
            <p:ph type="title"/>
          </p:nvPr>
        </p:nvSpPr>
        <p:spPr>
          <a:xfrm>
            <a:off x="810247" y="113040"/>
            <a:ext cx="10271883" cy="626165"/>
          </a:xfrm>
        </p:spPr>
        <p:txBody>
          <a:bodyPr/>
          <a:lstStyle/>
          <a:p>
            <a:r>
              <a:rPr lang="es-CO" b="0" dirty="0">
                <a:solidFill>
                  <a:schemeClr val="accent1"/>
                </a:solidFill>
              </a:rPr>
              <a:t>Tablero de Docentes</a:t>
            </a:r>
            <a:br>
              <a:rPr lang="es-MX" b="0" dirty="0">
                <a:solidFill>
                  <a:schemeClr val="accent1"/>
                </a:solidFill>
              </a:rPr>
            </a:br>
            <a:endParaRPr lang="es-CL" b="0" dirty="0">
              <a:solidFill>
                <a:schemeClr val="accent1"/>
              </a:solidFill>
            </a:endParaRPr>
          </a:p>
        </p:txBody>
      </p:sp>
    </p:spTree>
    <p:extLst>
      <p:ext uri="{BB962C8B-B14F-4D97-AF65-F5344CB8AC3E}">
        <p14:creationId xmlns:p14="http://schemas.microsoft.com/office/powerpoint/2010/main" val="1385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D489-D411-281E-85CA-24ADE43264F0}"/>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45CB3D5C-1F4E-43FA-00B3-7705C83F3C10}"/>
              </a:ext>
            </a:extLst>
          </p:cNvPr>
          <p:cNvSpPr>
            <a:spLocks noGrp="1"/>
          </p:cNvSpPr>
          <p:nvPr>
            <p:ph type="body" orient="vert" sz="quarter" idx="10"/>
          </p:nvPr>
        </p:nvSpPr>
        <p:spPr/>
        <p:txBody>
          <a:bodyPr/>
          <a:lstStyle/>
          <a:p>
            <a:r>
              <a:rPr lang="es-MX" sz="1200" dirty="0"/>
              <a:t>Configuración de Autoservicio</a:t>
            </a:r>
            <a:endParaRPr lang="en-US" dirty="0"/>
          </a:p>
        </p:txBody>
      </p:sp>
      <p:sp>
        <p:nvSpPr>
          <p:cNvPr id="16" name="Title 15">
            <a:extLst>
              <a:ext uri="{FF2B5EF4-FFF2-40B4-BE49-F238E27FC236}">
                <a16:creationId xmlns:a16="http://schemas.microsoft.com/office/drawing/2014/main" id="{EA22966F-8472-B7A7-2DDE-81E2B4134717}"/>
              </a:ext>
            </a:extLst>
          </p:cNvPr>
          <p:cNvSpPr>
            <a:spLocks noGrp="1"/>
          </p:cNvSpPr>
          <p:nvPr>
            <p:ph type="title"/>
          </p:nvPr>
        </p:nvSpPr>
        <p:spPr/>
        <p:txBody>
          <a:bodyPr/>
          <a:lstStyle/>
          <a:p>
            <a:r>
              <a:rPr lang="es-MX" b="0" dirty="0">
                <a:cs typeface="Arial"/>
              </a:rPr>
              <a:t>Perfil del Estudiante</a:t>
            </a:r>
            <a:br>
              <a:rPr lang="es-MX" b="0" dirty="0">
                <a:cs typeface="Arial"/>
              </a:rPr>
            </a:br>
            <a:endParaRPr lang="en-US" sz="3200" b="1" dirty="0">
              <a:solidFill>
                <a:schemeClr val="bg1"/>
              </a:solidFill>
            </a:endParaRPr>
          </a:p>
        </p:txBody>
      </p:sp>
      <p:sp>
        <p:nvSpPr>
          <p:cNvPr id="18" name="Slide Number Placeholder 17">
            <a:extLst>
              <a:ext uri="{FF2B5EF4-FFF2-40B4-BE49-F238E27FC236}">
                <a16:creationId xmlns:a16="http://schemas.microsoft.com/office/drawing/2014/main" id="{64ECC06D-FBD9-DFEB-6B8C-A4335D33C289}"/>
              </a:ext>
            </a:extLst>
          </p:cNvPr>
          <p:cNvSpPr>
            <a:spLocks noGrp="1"/>
          </p:cNvSpPr>
          <p:nvPr>
            <p:ph type="sldNum" sz="quarter" idx="4"/>
          </p:nvPr>
        </p:nvSpPr>
        <p:spPr/>
        <p:txBody>
          <a:bodyPr/>
          <a:lstStyle/>
          <a:p>
            <a:fld id="{4A16F8ED-7337-F64C-865A-41A1F48E54DF}" type="slidenum">
              <a:rPr lang="en-US" smtClean="0"/>
              <a:pPr/>
              <a:t>19</a:t>
            </a:fld>
            <a:endParaRPr lang="en-US" dirty="0"/>
          </a:p>
        </p:txBody>
      </p:sp>
    </p:spTree>
    <p:extLst>
      <p:ext uri="{BB962C8B-B14F-4D97-AF65-F5344CB8AC3E}">
        <p14:creationId xmlns:p14="http://schemas.microsoft.com/office/powerpoint/2010/main" val="3743696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B8F3FDD5-C6AE-5114-098D-5BACD50BCB01}"/>
              </a:ext>
            </a:extLst>
          </p:cNvPr>
          <p:cNvPicPr>
            <a:picLocks noChangeAspect="1"/>
          </p:cNvPicPr>
          <p:nvPr/>
        </p:nvPicPr>
        <p:blipFill>
          <a:blip r:embed="rId2"/>
          <a:stretch>
            <a:fillRect/>
          </a:stretch>
        </p:blipFill>
        <p:spPr>
          <a:xfrm>
            <a:off x="927558" y="1086929"/>
            <a:ext cx="10654839" cy="4485933"/>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20</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Proceso: </a:t>
            </a:r>
            <a:r>
              <a:rPr lang="es-ES_tradnl" b="0" dirty="0">
                <a:solidFill>
                  <a:schemeClr val="accent1"/>
                </a:solidFill>
              </a:rPr>
              <a:t>Ingreso al Perfil Estudiante por </a:t>
            </a:r>
            <a:r>
              <a:rPr lang="es-ES_tradnl" b="0" dirty="0" err="1">
                <a:solidFill>
                  <a:schemeClr val="accent1"/>
                </a:solidFill>
              </a:rPr>
              <a:t>Experience</a:t>
            </a:r>
            <a:endParaRPr lang="es-CL" b="0" dirty="0">
              <a:solidFill>
                <a:schemeClr val="accent1"/>
              </a:solidFill>
            </a:endParaRPr>
          </a:p>
        </p:txBody>
      </p:sp>
      <p:sp>
        <p:nvSpPr>
          <p:cNvPr id="2" name="Rectángulo 1">
            <a:extLst>
              <a:ext uri="{FF2B5EF4-FFF2-40B4-BE49-F238E27FC236}">
                <a16:creationId xmlns:a16="http://schemas.microsoft.com/office/drawing/2014/main" id="{19D14DDC-CFE3-FA2B-87BE-EF2A3975DA0D}"/>
              </a:ext>
            </a:extLst>
          </p:cNvPr>
          <p:cNvSpPr/>
          <p:nvPr/>
        </p:nvSpPr>
        <p:spPr>
          <a:xfrm>
            <a:off x="1203300" y="1703716"/>
            <a:ext cx="1798692" cy="29761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redondeado 5">
            <a:extLst>
              <a:ext uri="{FF2B5EF4-FFF2-40B4-BE49-F238E27FC236}">
                <a16:creationId xmlns:a16="http://schemas.microsoft.com/office/drawing/2014/main" id="{BF324DEF-2928-69B7-CB8A-5D730E140323}"/>
              </a:ext>
            </a:extLst>
          </p:cNvPr>
          <p:cNvSpPr/>
          <p:nvPr/>
        </p:nvSpPr>
        <p:spPr>
          <a:xfrm>
            <a:off x="5519908" y="2776450"/>
            <a:ext cx="5780791" cy="162480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Se pude crear una tarjeta con la URL  correspondiente: </a:t>
            </a:r>
          </a:p>
          <a:p>
            <a:pPr algn="ctr"/>
            <a:r>
              <a:rPr lang="es-ES_tradnl" sz="1000" dirty="0"/>
              <a:t>https://studentssb-test.usspesaas.elluciancloud.com:8100/StudentSelfService/ssb/studentProfile</a:t>
            </a:r>
          </a:p>
        </p:txBody>
      </p:sp>
    </p:spTree>
    <p:extLst>
      <p:ext uri="{BB962C8B-B14F-4D97-AF65-F5344CB8AC3E}">
        <p14:creationId xmlns:p14="http://schemas.microsoft.com/office/powerpoint/2010/main" val="2652789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B3942-D5D7-C4E5-9653-F9FD6E33A35C}"/>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BA63A47A-0A76-ADEC-CF00-690DBE712423}"/>
              </a:ext>
            </a:extLst>
          </p:cNvPr>
          <p:cNvPicPr>
            <a:picLocks noChangeAspect="1"/>
          </p:cNvPicPr>
          <p:nvPr/>
        </p:nvPicPr>
        <p:blipFill>
          <a:blip r:embed="rId2"/>
          <a:stretch>
            <a:fillRect/>
          </a:stretch>
        </p:blipFill>
        <p:spPr>
          <a:xfrm>
            <a:off x="622570" y="1175419"/>
            <a:ext cx="10820495" cy="5150737"/>
          </a:xfrm>
          <a:prstGeom prst="rect">
            <a:avLst/>
          </a:prstGeom>
        </p:spPr>
      </p:pic>
      <p:sp>
        <p:nvSpPr>
          <p:cNvPr id="3" name="Marcador de texto vertical 2">
            <a:extLst>
              <a:ext uri="{FF2B5EF4-FFF2-40B4-BE49-F238E27FC236}">
                <a16:creationId xmlns:a16="http://schemas.microsoft.com/office/drawing/2014/main" id="{FCCD096B-530A-6593-2ACB-78FEE49CAE95}"/>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38AA5FD2-BB80-CF4E-E94F-148D832FDF47}"/>
              </a:ext>
            </a:extLst>
          </p:cNvPr>
          <p:cNvSpPr>
            <a:spLocks noGrp="1"/>
          </p:cNvSpPr>
          <p:nvPr>
            <p:ph type="sldNum" sz="quarter" idx="4"/>
          </p:nvPr>
        </p:nvSpPr>
        <p:spPr/>
        <p:txBody>
          <a:bodyPr/>
          <a:lstStyle/>
          <a:p>
            <a:fld id="{4A16F8ED-7337-F64C-865A-41A1F48E54DF}" type="slidenum">
              <a:rPr lang="en-US" smtClean="0"/>
              <a:pPr/>
              <a:t>21</a:t>
            </a:fld>
            <a:endParaRPr lang="en-US" dirty="0"/>
          </a:p>
        </p:txBody>
      </p:sp>
      <p:sp>
        <p:nvSpPr>
          <p:cNvPr id="4" name="Título 3">
            <a:extLst>
              <a:ext uri="{FF2B5EF4-FFF2-40B4-BE49-F238E27FC236}">
                <a16:creationId xmlns:a16="http://schemas.microsoft.com/office/drawing/2014/main" id="{D0C06FEF-DBAF-D990-A91D-E2CC8EDA3991}"/>
              </a:ext>
            </a:extLst>
          </p:cNvPr>
          <p:cNvSpPr>
            <a:spLocks noGrp="1"/>
          </p:cNvSpPr>
          <p:nvPr>
            <p:ph type="title"/>
          </p:nvPr>
        </p:nvSpPr>
        <p:spPr>
          <a:xfrm>
            <a:off x="810247" y="113040"/>
            <a:ext cx="10271883" cy="626165"/>
          </a:xfrm>
        </p:spPr>
        <p:txBody>
          <a:bodyPr/>
          <a:lstStyle/>
          <a:p>
            <a:r>
              <a:rPr lang="es-ES_tradnl" dirty="0">
                <a:solidFill>
                  <a:schemeClr val="accent1"/>
                </a:solidFill>
              </a:rPr>
              <a:t>Proceso: </a:t>
            </a:r>
            <a:r>
              <a:rPr lang="es-ES_tradnl" b="0" dirty="0">
                <a:solidFill>
                  <a:schemeClr val="accent1"/>
                </a:solidFill>
              </a:rPr>
              <a:t>Ingreso al Perfil Estudiante desde el tablero</a:t>
            </a:r>
            <a:endParaRPr lang="es-CL" b="0" dirty="0">
              <a:solidFill>
                <a:schemeClr val="accent1"/>
              </a:solidFill>
            </a:endParaRPr>
          </a:p>
        </p:txBody>
      </p:sp>
      <p:sp>
        <p:nvSpPr>
          <p:cNvPr id="2" name="Rectángulo 1">
            <a:extLst>
              <a:ext uri="{FF2B5EF4-FFF2-40B4-BE49-F238E27FC236}">
                <a16:creationId xmlns:a16="http://schemas.microsoft.com/office/drawing/2014/main" id="{CADA3761-7CE7-A41B-6A68-ADAC7B23E92D}"/>
              </a:ext>
            </a:extLst>
          </p:cNvPr>
          <p:cNvSpPr/>
          <p:nvPr/>
        </p:nvSpPr>
        <p:spPr>
          <a:xfrm>
            <a:off x="3299519" y="2359324"/>
            <a:ext cx="1297362" cy="199725"/>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redondeado 5">
            <a:extLst>
              <a:ext uri="{FF2B5EF4-FFF2-40B4-BE49-F238E27FC236}">
                <a16:creationId xmlns:a16="http://schemas.microsoft.com/office/drawing/2014/main" id="{5BCAF429-09B1-A401-A074-F3581675D0EE}"/>
              </a:ext>
            </a:extLst>
          </p:cNvPr>
          <p:cNvSpPr/>
          <p:nvPr/>
        </p:nvSpPr>
        <p:spPr>
          <a:xfrm>
            <a:off x="5442271" y="2938386"/>
            <a:ext cx="5780791" cy="162480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El estudiante puede acceder a su perfil seleccionando la opción de ‘Perfil del estudiante’  </a:t>
            </a:r>
          </a:p>
          <a:p>
            <a:pPr algn="ctr"/>
            <a:r>
              <a:rPr lang="es-ES_tradnl" sz="1000" dirty="0"/>
              <a:t>https://studentssb-test.usspesaas.elluciancloud.com:8100/StudentSelfService/ssb/studentProfile</a:t>
            </a:r>
          </a:p>
        </p:txBody>
      </p:sp>
    </p:spTree>
    <p:extLst>
      <p:ext uri="{BB962C8B-B14F-4D97-AF65-F5344CB8AC3E}">
        <p14:creationId xmlns:p14="http://schemas.microsoft.com/office/powerpoint/2010/main" val="18385391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E19CF288-3606-96CD-2C5A-DA571DAC48E0}"/>
              </a:ext>
            </a:extLst>
          </p:cNvPr>
          <p:cNvPicPr>
            <a:picLocks noChangeAspect="1"/>
          </p:cNvPicPr>
          <p:nvPr/>
        </p:nvPicPr>
        <p:blipFill>
          <a:blip r:embed="rId2"/>
          <a:stretch>
            <a:fillRect/>
          </a:stretch>
        </p:blipFill>
        <p:spPr>
          <a:xfrm>
            <a:off x="884055" y="878000"/>
            <a:ext cx="11083658" cy="4974555"/>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22</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MX" dirty="0">
                <a:solidFill>
                  <a:schemeClr val="accent1"/>
                </a:solidFill>
                <a:cs typeface="Arial"/>
              </a:rPr>
              <a:t>Perfil del Estudiante</a:t>
            </a:r>
          </a:p>
        </p:txBody>
      </p:sp>
      <p:sp>
        <p:nvSpPr>
          <p:cNvPr id="7" name="Rectángulo redondeado 5">
            <a:extLst>
              <a:ext uri="{FF2B5EF4-FFF2-40B4-BE49-F238E27FC236}">
                <a16:creationId xmlns:a16="http://schemas.microsoft.com/office/drawing/2014/main" id="{5BA85B32-F5E0-8510-A25A-3558A8A6E340}"/>
              </a:ext>
            </a:extLst>
          </p:cNvPr>
          <p:cNvSpPr/>
          <p:nvPr/>
        </p:nvSpPr>
        <p:spPr>
          <a:xfrm>
            <a:off x="3692360" y="4157932"/>
            <a:ext cx="6265513" cy="219841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CL" sz="1400" dirty="0"/>
              <a:t>El perfil del estudiante corresponde a una página informativa donde se agrupa una serie de información respecto al estudiante, ya sea del ámbito personal y/o académico, adicionalmente permite desarrollar algunas funcionalidades como el ingreso de “notas” (comentarios), visualización y desbloqueo de retenciones, así como el acceso a módulos nativos de Ellucian Student o externos a estos por medio de enlaces adicionales.</a:t>
            </a:r>
          </a:p>
          <a:p>
            <a:pPr algn="ctr"/>
            <a:endParaRPr lang="es-CL" sz="1400" dirty="0"/>
          </a:p>
          <a:p>
            <a:pPr algn="ctr"/>
            <a:r>
              <a:rPr lang="es-CL" sz="1400" dirty="0"/>
              <a:t>Depende de la configuración realizada en GUACONF</a:t>
            </a:r>
            <a:endParaRPr lang="en-US" sz="2400" dirty="0"/>
          </a:p>
          <a:p>
            <a:pPr marL="0"/>
            <a:endParaRPr lang="es-CL" dirty="0">
              <a:cs typeface="Arial"/>
            </a:endParaRPr>
          </a:p>
        </p:txBody>
      </p:sp>
    </p:spTree>
    <p:extLst>
      <p:ext uri="{BB962C8B-B14F-4D97-AF65-F5344CB8AC3E}">
        <p14:creationId xmlns:p14="http://schemas.microsoft.com/office/powerpoint/2010/main" val="28100714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4FA3E1B1-CCC4-2A60-4FC5-6D81DC67C50A}"/>
              </a:ext>
            </a:extLst>
          </p:cNvPr>
          <p:cNvPicPr>
            <a:picLocks noChangeAspect="1"/>
          </p:cNvPicPr>
          <p:nvPr/>
        </p:nvPicPr>
        <p:blipFill>
          <a:blip r:embed="rId2"/>
          <a:stretch>
            <a:fillRect/>
          </a:stretch>
        </p:blipFill>
        <p:spPr>
          <a:xfrm>
            <a:off x="810247" y="1050529"/>
            <a:ext cx="11083658" cy="4974555"/>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23</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Perfil del Estudiante</a:t>
            </a:r>
          </a:p>
        </p:txBody>
      </p:sp>
      <p:sp>
        <p:nvSpPr>
          <p:cNvPr id="7" name="Rectángulo redondeado 5">
            <a:extLst>
              <a:ext uri="{FF2B5EF4-FFF2-40B4-BE49-F238E27FC236}">
                <a16:creationId xmlns:a16="http://schemas.microsoft.com/office/drawing/2014/main" id="{5BA85B32-F5E0-8510-A25A-3558A8A6E340}"/>
              </a:ext>
            </a:extLst>
          </p:cNvPr>
          <p:cNvSpPr/>
          <p:nvPr/>
        </p:nvSpPr>
        <p:spPr>
          <a:xfrm>
            <a:off x="6833346" y="3537806"/>
            <a:ext cx="3368825" cy="135368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400" dirty="0"/>
              <a:t>Información relacionada a su biografía (SPAIDEN), información general (SGASTDN) e información relacionada a su proceso de graduación (SHADEGR)</a:t>
            </a:r>
          </a:p>
        </p:txBody>
      </p:sp>
      <p:sp>
        <p:nvSpPr>
          <p:cNvPr id="12" name="Rectángulo 11">
            <a:extLst>
              <a:ext uri="{FF2B5EF4-FFF2-40B4-BE49-F238E27FC236}">
                <a16:creationId xmlns:a16="http://schemas.microsoft.com/office/drawing/2014/main" id="{B03F3BF2-3D95-2108-7C6C-A576F0625B65}"/>
              </a:ext>
            </a:extLst>
          </p:cNvPr>
          <p:cNvSpPr/>
          <p:nvPr/>
        </p:nvSpPr>
        <p:spPr>
          <a:xfrm>
            <a:off x="1989829" y="2371818"/>
            <a:ext cx="3807122" cy="3653265"/>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redondeado 8">
            <a:extLst>
              <a:ext uri="{FF2B5EF4-FFF2-40B4-BE49-F238E27FC236}">
                <a16:creationId xmlns:a16="http://schemas.microsoft.com/office/drawing/2014/main" id="{E3EFA477-47F6-E59C-7F15-AF0AC38276D1}"/>
              </a:ext>
            </a:extLst>
          </p:cNvPr>
          <p:cNvSpPr/>
          <p:nvPr/>
        </p:nvSpPr>
        <p:spPr>
          <a:xfrm>
            <a:off x="5709282" y="3507658"/>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0" name="Rectángulo 9">
            <a:extLst>
              <a:ext uri="{FF2B5EF4-FFF2-40B4-BE49-F238E27FC236}">
                <a16:creationId xmlns:a16="http://schemas.microsoft.com/office/drawing/2014/main" id="{B39EF3C9-AEF4-4CCD-9E4A-69886D312E16}"/>
              </a:ext>
            </a:extLst>
          </p:cNvPr>
          <p:cNvSpPr/>
          <p:nvPr/>
        </p:nvSpPr>
        <p:spPr>
          <a:xfrm>
            <a:off x="895370" y="2691442"/>
            <a:ext cx="1059582" cy="1898804"/>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Rectángulo redondeado 5">
            <a:extLst>
              <a:ext uri="{FF2B5EF4-FFF2-40B4-BE49-F238E27FC236}">
                <a16:creationId xmlns:a16="http://schemas.microsoft.com/office/drawing/2014/main" id="{A99435C4-AD12-D662-A285-8BF373639185}"/>
              </a:ext>
            </a:extLst>
          </p:cNvPr>
          <p:cNvSpPr/>
          <p:nvPr/>
        </p:nvSpPr>
        <p:spPr>
          <a:xfrm>
            <a:off x="135876" y="4630274"/>
            <a:ext cx="2455719" cy="99125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400" dirty="0"/>
              <a:t>Enlaces Adicionales que pueden ser vinculados a módulos nativos de Ellucian Student o externos.</a:t>
            </a:r>
          </a:p>
        </p:txBody>
      </p:sp>
      <p:sp>
        <p:nvSpPr>
          <p:cNvPr id="15" name="Rectángulo redondeado 8">
            <a:extLst>
              <a:ext uri="{FF2B5EF4-FFF2-40B4-BE49-F238E27FC236}">
                <a16:creationId xmlns:a16="http://schemas.microsoft.com/office/drawing/2014/main" id="{3859D1EE-A40A-72DC-151A-285957076673}"/>
              </a:ext>
            </a:extLst>
          </p:cNvPr>
          <p:cNvSpPr/>
          <p:nvPr/>
        </p:nvSpPr>
        <p:spPr>
          <a:xfrm>
            <a:off x="914836" y="4059564"/>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Tree>
    <p:extLst>
      <p:ext uri="{BB962C8B-B14F-4D97-AF65-F5344CB8AC3E}">
        <p14:creationId xmlns:p14="http://schemas.microsoft.com/office/powerpoint/2010/main" val="2647333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4F397D10-B712-C942-1FB5-D7BF28F54829}"/>
              </a:ext>
            </a:extLst>
          </p:cNvPr>
          <p:cNvPicPr>
            <a:picLocks noChangeAspect="1"/>
          </p:cNvPicPr>
          <p:nvPr/>
        </p:nvPicPr>
        <p:blipFill>
          <a:blip r:embed="rId2"/>
          <a:stretch>
            <a:fillRect/>
          </a:stretch>
        </p:blipFill>
        <p:spPr>
          <a:xfrm>
            <a:off x="902415" y="1130059"/>
            <a:ext cx="11142935" cy="475196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24</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Perfil del Estudiante</a:t>
            </a:r>
          </a:p>
        </p:txBody>
      </p:sp>
      <p:sp>
        <p:nvSpPr>
          <p:cNvPr id="7" name="Rectángulo redondeado 5">
            <a:extLst>
              <a:ext uri="{FF2B5EF4-FFF2-40B4-BE49-F238E27FC236}">
                <a16:creationId xmlns:a16="http://schemas.microsoft.com/office/drawing/2014/main" id="{5BA85B32-F5E0-8510-A25A-3558A8A6E340}"/>
              </a:ext>
            </a:extLst>
          </p:cNvPr>
          <p:cNvSpPr/>
          <p:nvPr/>
        </p:nvSpPr>
        <p:spPr>
          <a:xfrm>
            <a:off x="5548013" y="4974673"/>
            <a:ext cx="3368825" cy="92354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400" dirty="0"/>
              <a:t>Información de el o los asesores que tenga asignados el estudiante (SGAADVR).</a:t>
            </a:r>
          </a:p>
        </p:txBody>
      </p:sp>
      <p:sp>
        <p:nvSpPr>
          <p:cNvPr id="12" name="Rectángulo 11">
            <a:extLst>
              <a:ext uri="{FF2B5EF4-FFF2-40B4-BE49-F238E27FC236}">
                <a16:creationId xmlns:a16="http://schemas.microsoft.com/office/drawing/2014/main" id="{B03F3BF2-3D95-2108-7C6C-A576F0625B65}"/>
              </a:ext>
            </a:extLst>
          </p:cNvPr>
          <p:cNvSpPr/>
          <p:nvPr/>
        </p:nvSpPr>
        <p:spPr>
          <a:xfrm>
            <a:off x="2156604" y="5232024"/>
            <a:ext cx="2587925" cy="43873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redondeado 8">
            <a:extLst>
              <a:ext uri="{FF2B5EF4-FFF2-40B4-BE49-F238E27FC236}">
                <a16:creationId xmlns:a16="http://schemas.microsoft.com/office/drawing/2014/main" id="{E3EFA477-47F6-E59C-7F15-AF0AC38276D1}"/>
              </a:ext>
            </a:extLst>
          </p:cNvPr>
          <p:cNvSpPr/>
          <p:nvPr/>
        </p:nvSpPr>
        <p:spPr>
          <a:xfrm>
            <a:off x="4857132" y="5297559"/>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Tree>
    <p:extLst>
      <p:ext uri="{BB962C8B-B14F-4D97-AF65-F5344CB8AC3E}">
        <p14:creationId xmlns:p14="http://schemas.microsoft.com/office/powerpoint/2010/main" val="128181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0C0FAEFA-32C3-47F0-D47A-75716B4C18EA}"/>
              </a:ext>
            </a:extLst>
          </p:cNvPr>
          <p:cNvPicPr>
            <a:picLocks noChangeAspect="1"/>
          </p:cNvPicPr>
          <p:nvPr/>
        </p:nvPicPr>
        <p:blipFill>
          <a:blip r:embed="rId2"/>
          <a:stretch>
            <a:fillRect/>
          </a:stretch>
        </p:blipFill>
        <p:spPr>
          <a:xfrm>
            <a:off x="931235" y="954157"/>
            <a:ext cx="10765922" cy="470477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Perfil del Estudiante</a:t>
            </a:r>
          </a:p>
        </p:txBody>
      </p:sp>
      <p:sp>
        <p:nvSpPr>
          <p:cNvPr id="7" name="Rectángulo redondeado 5">
            <a:extLst>
              <a:ext uri="{FF2B5EF4-FFF2-40B4-BE49-F238E27FC236}">
                <a16:creationId xmlns:a16="http://schemas.microsoft.com/office/drawing/2014/main" id="{5BA85B32-F5E0-8510-A25A-3558A8A6E340}"/>
              </a:ext>
            </a:extLst>
          </p:cNvPr>
          <p:cNvSpPr/>
          <p:nvPr/>
        </p:nvSpPr>
        <p:spPr>
          <a:xfrm>
            <a:off x="1327739" y="3135935"/>
            <a:ext cx="4623050" cy="14426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400" dirty="0"/>
              <a:t>Se visualiza el detalle de la currículo principal y secundario que tenga el estudiante en SGASTDN</a:t>
            </a:r>
          </a:p>
        </p:txBody>
      </p:sp>
      <p:sp>
        <p:nvSpPr>
          <p:cNvPr id="12" name="Rectángulo 11">
            <a:extLst>
              <a:ext uri="{FF2B5EF4-FFF2-40B4-BE49-F238E27FC236}">
                <a16:creationId xmlns:a16="http://schemas.microsoft.com/office/drawing/2014/main" id="{B03F3BF2-3D95-2108-7C6C-A576F0625B65}"/>
              </a:ext>
            </a:extLst>
          </p:cNvPr>
          <p:cNvSpPr/>
          <p:nvPr/>
        </p:nvSpPr>
        <p:spPr>
          <a:xfrm>
            <a:off x="6874913" y="1404810"/>
            <a:ext cx="3462899" cy="4116096"/>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redondeado 8">
            <a:extLst>
              <a:ext uri="{FF2B5EF4-FFF2-40B4-BE49-F238E27FC236}">
                <a16:creationId xmlns:a16="http://schemas.microsoft.com/office/drawing/2014/main" id="{E3EFA477-47F6-E59C-7F15-AF0AC38276D1}"/>
              </a:ext>
            </a:extLst>
          </p:cNvPr>
          <p:cNvSpPr/>
          <p:nvPr/>
        </p:nvSpPr>
        <p:spPr>
          <a:xfrm>
            <a:off x="6071777" y="3718385"/>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Tree>
    <p:extLst>
      <p:ext uri="{BB962C8B-B14F-4D97-AF65-F5344CB8AC3E}">
        <p14:creationId xmlns:p14="http://schemas.microsoft.com/office/powerpoint/2010/main" val="21872374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87A3A-5293-0371-ACB5-FB2364EAD60A}"/>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BF769FF9-CA7A-D732-3DB0-F7DB2AF0ABDF}"/>
              </a:ext>
            </a:extLst>
          </p:cNvPr>
          <p:cNvPicPr>
            <a:picLocks noChangeAspect="1"/>
          </p:cNvPicPr>
          <p:nvPr/>
        </p:nvPicPr>
        <p:blipFill>
          <a:blip r:embed="rId2"/>
          <a:stretch>
            <a:fillRect/>
          </a:stretch>
        </p:blipFill>
        <p:spPr>
          <a:xfrm>
            <a:off x="1172960" y="1121435"/>
            <a:ext cx="10518475" cy="4682845"/>
          </a:xfrm>
          <a:prstGeom prst="rect">
            <a:avLst/>
          </a:prstGeom>
        </p:spPr>
      </p:pic>
      <p:sp>
        <p:nvSpPr>
          <p:cNvPr id="3" name="Marcador de texto vertical 2">
            <a:extLst>
              <a:ext uri="{FF2B5EF4-FFF2-40B4-BE49-F238E27FC236}">
                <a16:creationId xmlns:a16="http://schemas.microsoft.com/office/drawing/2014/main" id="{A1BF7EB2-C3D2-975A-991D-CFFF7D933ED7}"/>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78FCDDBA-A1CE-5FB3-09E2-84E918E3A64E}"/>
              </a:ext>
            </a:extLst>
          </p:cNvPr>
          <p:cNvSpPr>
            <a:spLocks noGrp="1"/>
          </p:cNvSpPr>
          <p:nvPr>
            <p:ph type="sldNum" sz="quarter" idx="4"/>
          </p:nvPr>
        </p:nvSpPr>
        <p:spPr/>
        <p:txBody>
          <a:bodyPr/>
          <a:lstStyle/>
          <a:p>
            <a:fld id="{4A16F8ED-7337-F64C-865A-41A1F48E54DF}" type="slidenum">
              <a:rPr lang="en-US" smtClean="0"/>
              <a:pPr/>
              <a:t>26</a:t>
            </a:fld>
            <a:endParaRPr lang="en-US" dirty="0"/>
          </a:p>
        </p:txBody>
      </p:sp>
      <p:sp>
        <p:nvSpPr>
          <p:cNvPr id="4" name="Título 3">
            <a:extLst>
              <a:ext uri="{FF2B5EF4-FFF2-40B4-BE49-F238E27FC236}">
                <a16:creationId xmlns:a16="http://schemas.microsoft.com/office/drawing/2014/main" id="{C09A35EB-1FF0-E4D5-82DB-214D8645C2DB}"/>
              </a:ext>
            </a:extLst>
          </p:cNvPr>
          <p:cNvSpPr>
            <a:spLocks noGrp="1"/>
          </p:cNvSpPr>
          <p:nvPr>
            <p:ph type="title"/>
          </p:nvPr>
        </p:nvSpPr>
        <p:spPr>
          <a:xfrm>
            <a:off x="810247" y="327992"/>
            <a:ext cx="10271883" cy="626165"/>
          </a:xfrm>
        </p:spPr>
        <p:txBody>
          <a:bodyPr/>
          <a:lstStyle/>
          <a:p>
            <a:r>
              <a:rPr lang="es-ES_tradnl" dirty="0">
                <a:solidFill>
                  <a:schemeClr val="accent1"/>
                </a:solidFill>
              </a:rPr>
              <a:t>Perfil del Estudiante</a:t>
            </a:r>
          </a:p>
        </p:txBody>
      </p:sp>
      <p:sp>
        <p:nvSpPr>
          <p:cNvPr id="7" name="Rectángulo redondeado 5">
            <a:extLst>
              <a:ext uri="{FF2B5EF4-FFF2-40B4-BE49-F238E27FC236}">
                <a16:creationId xmlns:a16="http://schemas.microsoft.com/office/drawing/2014/main" id="{BBC6DAAF-2061-4C13-53B9-282A07224DDC}"/>
              </a:ext>
            </a:extLst>
          </p:cNvPr>
          <p:cNvSpPr/>
          <p:nvPr/>
        </p:nvSpPr>
        <p:spPr>
          <a:xfrm>
            <a:off x="1697626" y="2997049"/>
            <a:ext cx="4623050" cy="14426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400" dirty="0"/>
              <a:t>Dependiendo del periodo consultado, se puede ver el detalle de los NRC inscritos </a:t>
            </a:r>
          </a:p>
        </p:txBody>
      </p:sp>
      <p:sp>
        <p:nvSpPr>
          <p:cNvPr id="12" name="Rectángulo 11">
            <a:extLst>
              <a:ext uri="{FF2B5EF4-FFF2-40B4-BE49-F238E27FC236}">
                <a16:creationId xmlns:a16="http://schemas.microsoft.com/office/drawing/2014/main" id="{172C75A9-99C2-06B2-90CC-48BFB4379F8E}"/>
              </a:ext>
            </a:extLst>
          </p:cNvPr>
          <p:cNvSpPr/>
          <p:nvPr/>
        </p:nvSpPr>
        <p:spPr>
          <a:xfrm>
            <a:off x="6995557" y="2734574"/>
            <a:ext cx="4502406" cy="144267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redondeado 8">
            <a:extLst>
              <a:ext uri="{FF2B5EF4-FFF2-40B4-BE49-F238E27FC236}">
                <a16:creationId xmlns:a16="http://schemas.microsoft.com/office/drawing/2014/main" id="{7A00169F-4755-DBA7-93CD-899EA1A27092}"/>
              </a:ext>
            </a:extLst>
          </p:cNvPr>
          <p:cNvSpPr/>
          <p:nvPr/>
        </p:nvSpPr>
        <p:spPr>
          <a:xfrm>
            <a:off x="6514148" y="3579500"/>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10" name="Rectángulo 9">
            <a:extLst>
              <a:ext uri="{FF2B5EF4-FFF2-40B4-BE49-F238E27FC236}">
                <a16:creationId xmlns:a16="http://schemas.microsoft.com/office/drawing/2014/main" id="{4E6DBB82-C2FD-B938-D314-512A06209066}"/>
              </a:ext>
            </a:extLst>
          </p:cNvPr>
          <p:cNvSpPr/>
          <p:nvPr/>
        </p:nvSpPr>
        <p:spPr>
          <a:xfrm>
            <a:off x="2493151" y="1554377"/>
            <a:ext cx="1811430" cy="438325"/>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9732499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760DAE8E-DB52-2D87-0F26-9641D30C0B65}"/>
              </a:ext>
            </a:extLst>
          </p:cNvPr>
          <p:cNvPicPr>
            <a:picLocks noChangeAspect="1"/>
          </p:cNvPicPr>
          <p:nvPr/>
        </p:nvPicPr>
        <p:blipFill>
          <a:blip r:embed="rId2"/>
          <a:stretch>
            <a:fillRect/>
          </a:stretch>
        </p:blipFill>
        <p:spPr>
          <a:xfrm>
            <a:off x="832776" y="1136192"/>
            <a:ext cx="11359223" cy="4948395"/>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27</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Perfil del Estudiante</a:t>
            </a:r>
          </a:p>
        </p:txBody>
      </p:sp>
      <p:sp>
        <p:nvSpPr>
          <p:cNvPr id="7" name="Rectángulo redondeado 5">
            <a:extLst>
              <a:ext uri="{FF2B5EF4-FFF2-40B4-BE49-F238E27FC236}">
                <a16:creationId xmlns:a16="http://schemas.microsoft.com/office/drawing/2014/main" id="{5BA85B32-F5E0-8510-A25A-3558A8A6E340}"/>
              </a:ext>
            </a:extLst>
          </p:cNvPr>
          <p:cNvSpPr/>
          <p:nvPr/>
        </p:nvSpPr>
        <p:spPr>
          <a:xfrm>
            <a:off x="2915795" y="4665520"/>
            <a:ext cx="4623050" cy="14426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400" dirty="0"/>
              <a:t>Considerando el despliegue de información de “Educación previa y exámenes” se visualiza el detalle los registros de educación anterior (SOAHSCH), información de programas postsecundarias (SOAPCOL) y exámenes realizados (SOATEST).</a:t>
            </a:r>
          </a:p>
        </p:txBody>
      </p:sp>
      <p:sp>
        <p:nvSpPr>
          <p:cNvPr id="12" name="Rectángulo 11">
            <a:extLst>
              <a:ext uri="{FF2B5EF4-FFF2-40B4-BE49-F238E27FC236}">
                <a16:creationId xmlns:a16="http://schemas.microsoft.com/office/drawing/2014/main" id="{B03F3BF2-3D95-2108-7C6C-A576F0625B65}"/>
              </a:ext>
            </a:extLst>
          </p:cNvPr>
          <p:cNvSpPr/>
          <p:nvPr/>
        </p:nvSpPr>
        <p:spPr>
          <a:xfrm>
            <a:off x="7021902" y="2374515"/>
            <a:ext cx="4359852" cy="2108969"/>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redondeado 8">
            <a:extLst>
              <a:ext uri="{FF2B5EF4-FFF2-40B4-BE49-F238E27FC236}">
                <a16:creationId xmlns:a16="http://schemas.microsoft.com/office/drawing/2014/main" id="{E3EFA477-47F6-E59C-7F15-AF0AC38276D1}"/>
              </a:ext>
            </a:extLst>
          </p:cNvPr>
          <p:cNvSpPr/>
          <p:nvPr/>
        </p:nvSpPr>
        <p:spPr>
          <a:xfrm>
            <a:off x="7581024" y="4665520"/>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Tree>
    <p:extLst>
      <p:ext uri="{BB962C8B-B14F-4D97-AF65-F5344CB8AC3E}">
        <p14:creationId xmlns:p14="http://schemas.microsoft.com/office/powerpoint/2010/main" val="3946528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FA876DE9-E3B3-04C7-0E32-68B2A067C245}"/>
              </a:ext>
            </a:extLst>
          </p:cNvPr>
          <p:cNvPicPr>
            <a:picLocks noChangeAspect="1"/>
          </p:cNvPicPr>
          <p:nvPr/>
        </p:nvPicPr>
        <p:blipFill>
          <a:blip r:embed="rId2"/>
          <a:stretch>
            <a:fillRect/>
          </a:stretch>
        </p:blipFill>
        <p:spPr>
          <a:xfrm>
            <a:off x="887771" y="1095555"/>
            <a:ext cx="11071316" cy="480857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28</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Perfil del Estudiante</a:t>
            </a:r>
          </a:p>
        </p:txBody>
      </p:sp>
      <p:sp>
        <p:nvSpPr>
          <p:cNvPr id="7" name="Rectángulo redondeado 5">
            <a:extLst>
              <a:ext uri="{FF2B5EF4-FFF2-40B4-BE49-F238E27FC236}">
                <a16:creationId xmlns:a16="http://schemas.microsoft.com/office/drawing/2014/main" id="{5BA85B32-F5E0-8510-A25A-3558A8A6E340}"/>
              </a:ext>
            </a:extLst>
          </p:cNvPr>
          <p:cNvSpPr/>
          <p:nvPr/>
        </p:nvSpPr>
        <p:spPr>
          <a:xfrm>
            <a:off x="3922392" y="2618635"/>
            <a:ext cx="4623050" cy="14426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400" dirty="0"/>
              <a:t>Desplegando la sección “Avisos de inscripción” se desplegará una serie de notificaciones que indican las condiciones que posee el estudiante para el proceso de inscripción</a:t>
            </a:r>
          </a:p>
        </p:txBody>
      </p:sp>
      <p:sp>
        <p:nvSpPr>
          <p:cNvPr id="12" name="Rectángulo 11">
            <a:extLst>
              <a:ext uri="{FF2B5EF4-FFF2-40B4-BE49-F238E27FC236}">
                <a16:creationId xmlns:a16="http://schemas.microsoft.com/office/drawing/2014/main" id="{B03F3BF2-3D95-2108-7C6C-A576F0625B65}"/>
              </a:ext>
            </a:extLst>
          </p:cNvPr>
          <p:cNvSpPr/>
          <p:nvPr/>
        </p:nvSpPr>
        <p:spPr>
          <a:xfrm>
            <a:off x="9156368" y="2340863"/>
            <a:ext cx="2571015" cy="2403665"/>
          </a:xfrm>
          <a:prstGeom prst="rect">
            <a:avLst/>
          </a:prstGeom>
          <a:noFill/>
          <a:ln w="28575">
            <a:solidFill>
              <a:srgbClr val="8A00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redondeado 8">
            <a:extLst>
              <a:ext uri="{FF2B5EF4-FFF2-40B4-BE49-F238E27FC236}">
                <a16:creationId xmlns:a16="http://schemas.microsoft.com/office/drawing/2014/main" id="{E3EFA477-47F6-E59C-7F15-AF0AC38276D1}"/>
              </a:ext>
            </a:extLst>
          </p:cNvPr>
          <p:cNvSpPr/>
          <p:nvPr/>
        </p:nvSpPr>
        <p:spPr>
          <a:xfrm>
            <a:off x="8754633" y="2340864"/>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
        <p:nvSpPr>
          <p:cNvPr id="9" name="Rectángulo 8">
            <a:extLst>
              <a:ext uri="{FF2B5EF4-FFF2-40B4-BE49-F238E27FC236}">
                <a16:creationId xmlns:a16="http://schemas.microsoft.com/office/drawing/2014/main" id="{B72B02B4-C38E-2782-E2BF-3F769A695160}"/>
              </a:ext>
            </a:extLst>
          </p:cNvPr>
          <p:cNvSpPr/>
          <p:nvPr/>
        </p:nvSpPr>
        <p:spPr>
          <a:xfrm>
            <a:off x="9911751" y="1974232"/>
            <a:ext cx="1815633" cy="260009"/>
          </a:xfrm>
          <a:prstGeom prst="rect">
            <a:avLst/>
          </a:prstGeom>
          <a:noFill/>
          <a:ln w="28575">
            <a:solidFill>
              <a:srgbClr val="8A00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1762448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E3B902AE-0CDD-A68E-7D79-5420E69F660F}"/>
              </a:ext>
            </a:extLst>
          </p:cNvPr>
          <p:cNvPicPr>
            <a:picLocks noChangeAspect="1"/>
          </p:cNvPicPr>
          <p:nvPr/>
        </p:nvPicPr>
        <p:blipFill>
          <a:blip r:embed="rId2"/>
          <a:stretch>
            <a:fillRect/>
          </a:stretch>
        </p:blipFill>
        <p:spPr>
          <a:xfrm>
            <a:off x="1204452" y="1199071"/>
            <a:ext cx="10559848" cy="463238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29</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Perfil del Estudiante</a:t>
            </a:r>
          </a:p>
        </p:txBody>
      </p:sp>
      <p:sp>
        <p:nvSpPr>
          <p:cNvPr id="7" name="Rectángulo redondeado 5">
            <a:extLst>
              <a:ext uri="{FF2B5EF4-FFF2-40B4-BE49-F238E27FC236}">
                <a16:creationId xmlns:a16="http://schemas.microsoft.com/office/drawing/2014/main" id="{5BA85B32-F5E0-8510-A25A-3558A8A6E340}"/>
              </a:ext>
            </a:extLst>
          </p:cNvPr>
          <p:cNvSpPr/>
          <p:nvPr/>
        </p:nvSpPr>
        <p:spPr>
          <a:xfrm>
            <a:off x="6895699" y="4729527"/>
            <a:ext cx="4623050" cy="14426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400" dirty="0"/>
              <a:t>En la misma sección de avisos y retenciones: se desplegarán las retenciones vigentes que ha de tener asociado el estudiante, junto a un detalle de la razón, procesos afectados, monto, entre otros campos.</a:t>
            </a:r>
          </a:p>
        </p:txBody>
      </p:sp>
      <p:sp>
        <p:nvSpPr>
          <p:cNvPr id="17" name="Rectángulo redondeado 8">
            <a:extLst>
              <a:ext uri="{FF2B5EF4-FFF2-40B4-BE49-F238E27FC236}">
                <a16:creationId xmlns:a16="http://schemas.microsoft.com/office/drawing/2014/main" id="{E3EFA477-47F6-E59C-7F15-AF0AC38276D1}"/>
              </a:ext>
            </a:extLst>
          </p:cNvPr>
          <p:cNvSpPr/>
          <p:nvPr/>
        </p:nvSpPr>
        <p:spPr>
          <a:xfrm>
            <a:off x="8846803" y="3954004"/>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6</a:t>
            </a:r>
          </a:p>
        </p:txBody>
      </p:sp>
      <p:sp>
        <p:nvSpPr>
          <p:cNvPr id="9" name="Rectángulo 8">
            <a:extLst>
              <a:ext uri="{FF2B5EF4-FFF2-40B4-BE49-F238E27FC236}">
                <a16:creationId xmlns:a16="http://schemas.microsoft.com/office/drawing/2014/main" id="{B72B02B4-C38E-2782-E2BF-3F769A695160}"/>
              </a:ext>
            </a:extLst>
          </p:cNvPr>
          <p:cNvSpPr/>
          <p:nvPr/>
        </p:nvSpPr>
        <p:spPr>
          <a:xfrm>
            <a:off x="9207225" y="2754503"/>
            <a:ext cx="2196896" cy="1550077"/>
          </a:xfrm>
          <a:prstGeom prst="rect">
            <a:avLst/>
          </a:prstGeom>
          <a:noFill/>
          <a:ln w="28575">
            <a:solidFill>
              <a:srgbClr val="8A00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6395033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2B057-E337-2623-4DC0-1460BC6866F3}"/>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97F06100-36B5-40A5-1156-66F727E5DD31}"/>
              </a:ext>
            </a:extLst>
          </p:cNvPr>
          <p:cNvSpPr>
            <a:spLocks noGrp="1"/>
          </p:cNvSpPr>
          <p:nvPr>
            <p:ph type="body" orient="vert" sz="quarter" idx="10"/>
          </p:nvPr>
        </p:nvSpPr>
        <p:spPr/>
        <p:txBody>
          <a:bodyPr/>
          <a:lstStyle/>
          <a:p>
            <a:r>
              <a:rPr lang="es-MX" sz="1200" dirty="0"/>
              <a:t>Configuración de Autoservicio</a:t>
            </a:r>
            <a:endParaRPr lang="en-US" dirty="0"/>
          </a:p>
        </p:txBody>
      </p:sp>
      <p:sp>
        <p:nvSpPr>
          <p:cNvPr id="16" name="Title 15">
            <a:extLst>
              <a:ext uri="{FF2B5EF4-FFF2-40B4-BE49-F238E27FC236}">
                <a16:creationId xmlns:a16="http://schemas.microsoft.com/office/drawing/2014/main" id="{AE2DC60C-CAD0-508D-6ACE-3D29968D26F8}"/>
              </a:ext>
            </a:extLst>
          </p:cNvPr>
          <p:cNvSpPr>
            <a:spLocks noGrp="1"/>
          </p:cNvSpPr>
          <p:nvPr>
            <p:ph type="title"/>
          </p:nvPr>
        </p:nvSpPr>
        <p:spPr/>
        <p:txBody>
          <a:bodyPr/>
          <a:lstStyle/>
          <a:p>
            <a:r>
              <a:rPr lang="es-MX" dirty="0"/>
              <a:t>Docente consulta Perfil del Estudiante</a:t>
            </a:r>
            <a:endParaRPr lang="en-US" sz="3200" b="1" dirty="0">
              <a:solidFill>
                <a:schemeClr val="bg1"/>
              </a:solidFill>
            </a:endParaRPr>
          </a:p>
        </p:txBody>
      </p:sp>
      <p:sp>
        <p:nvSpPr>
          <p:cNvPr id="18" name="Slide Number Placeholder 17">
            <a:extLst>
              <a:ext uri="{FF2B5EF4-FFF2-40B4-BE49-F238E27FC236}">
                <a16:creationId xmlns:a16="http://schemas.microsoft.com/office/drawing/2014/main" id="{76A4F65B-FFA0-154F-8115-CCE695DB697E}"/>
              </a:ext>
            </a:extLst>
          </p:cNvPr>
          <p:cNvSpPr>
            <a:spLocks noGrp="1"/>
          </p:cNvSpPr>
          <p:nvPr>
            <p:ph type="sldNum" sz="quarter" idx="4"/>
          </p:nvPr>
        </p:nvSpPr>
        <p:spPr/>
        <p:txBody>
          <a:bodyPr/>
          <a:lstStyle/>
          <a:p>
            <a:fld id="{4A16F8ED-7337-F64C-865A-41A1F48E54DF}" type="slidenum">
              <a:rPr lang="en-US" smtClean="0"/>
              <a:pPr/>
              <a:t>30</a:t>
            </a:fld>
            <a:endParaRPr lang="en-US" dirty="0"/>
          </a:p>
        </p:txBody>
      </p:sp>
    </p:spTree>
    <p:extLst>
      <p:ext uri="{BB962C8B-B14F-4D97-AF65-F5344CB8AC3E}">
        <p14:creationId xmlns:p14="http://schemas.microsoft.com/office/powerpoint/2010/main" val="36798648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8EA430BF-5E70-2B8D-7F81-FB1F52C489E6}"/>
              </a:ext>
            </a:extLst>
          </p:cNvPr>
          <p:cNvPicPr>
            <a:picLocks noChangeAspect="1"/>
          </p:cNvPicPr>
          <p:nvPr/>
        </p:nvPicPr>
        <p:blipFill>
          <a:blip r:embed="rId2"/>
          <a:stretch>
            <a:fillRect/>
          </a:stretch>
        </p:blipFill>
        <p:spPr>
          <a:xfrm>
            <a:off x="810247" y="1190445"/>
            <a:ext cx="10791086" cy="514504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31</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Proceso: </a:t>
            </a:r>
            <a:r>
              <a:rPr lang="es-ES_tradnl" b="0" dirty="0">
                <a:solidFill>
                  <a:schemeClr val="accent1"/>
                </a:solidFill>
              </a:rPr>
              <a:t>Ingreso al Perfil Estudiante SSB9 </a:t>
            </a:r>
            <a:r>
              <a:rPr lang="es-ES_tradnl" b="0" dirty="0" err="1">
                <a:solidFill>
                  <a:schemeClr val="accent1"/>
                </a:solidFill>
              </a:rPr>
              <a:t>Faculty</a:t>
            </a:r>
            <a:br>
              <a:rPr lang="es-MX" dirty="0">
                <a:solidFill>
                  <a:schemeClr val="accent1"/>
                </a:solidFill>
              </a:rPr>
            </a:br>
            <a:endParaRPr lang="es-CL" dirty="0">
              <a:solidFill>
                <a:schemeClr val="accent1"/>
              </a:solidFill>
            </a:endParaRPr>
          </a:p>
        </p:txBody>
      </p:sp>
      <p:sp>
        <p:nvSpPr>
          <p:cNvPr id="2" name="Rectángulo 1">
            <a:extLst>
              <a:ext uri="{FF2B5EF4-FFF2-40B4-BE49-F238E27FC236}">
                <a16:creationId xmlns:a16="http://schemas.microsoft.com/office/drawing/2014/main" id="{6CD4F46D-3B6B-5646-1AF8-0455DFA9C876}"/>
              </a:ext>
            </a:extLst>
          </p:cNvPr>
          <p:cNvSpPr/>
          <p:nvPr/>
        </p:nvSpPr>
        <p:spPr>
          <a:xfrm>
            <a:off x="2013911" y="2337914"/>
            <a:ext cx="1393613" cy="30177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ángulo redondeado 5">
            <a:extLst>
              <a:ext uri="{FF2B5EF4-FFF2-40B4-BE49-F238E27FC236}">
                <a16:creationId xmlns:a16="http://schemas.microsoft.com/office/drawing/2014/main" id="{EE48CB41-329D-8FDB-45CC-EC8446D4946E}"/>
              </a:ext>
            </a:extLst>
          </p:cNvPr>
          <p:cNvSpPr/>
          <p:nvPr/>
        </p:nvSpPr>
        <p:spPr>
          <a:xfrm>
            <a:off x="5795366" y="3572777"/>
            <a:ext cx="4585575" cy="162480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El docente puede acceder al módulo del link “Ingresar Asistencia” o “Ingresar Calificaciones”, cualquiera de ellos lo llevará a la lista de NRC que tenga asociados a su persona en función a la configuración y asignación vigente en Ellucian Student.</a:t>
            </a:r>
          </a:p>
        </p:txBody>
      </p:sp>
    </p:spTree>
    <p:extLst>
      <p:ext uri="{BB962C8B-B14F-4D97-AF65-F5344CB8AC3E}">
        <p14:creationId xmlns:p14="http://schemas.microsoft.com/office/powerpoint/2010/main" val="41978088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CF0F8D60-D5C1-E827-DFD4-BC5F0F1E526B}"/>
              </a:ext>
            </a:extLst>
          </p:cNvPr>
          <p:cNvPicPr>
            <a:picLocks noChangeAspect="1"/>
          </p:cNvPicPr>
          <p:nvPr/>
        </p:nvPicPr>
        <p:blipFill>
          <a:blip r:embed="rId2"/>
          <a:stretch>
            <a:fillRect/>
          </a:stretch>
        </p:blipFill>
        <p:spPr>
          <a:xfrm>
            <a:off x="810247" y="1190445"/>
            <a:ext cx="10791086" cy="514504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32</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Proceso: </a:t>
            </a:r>
            <a:r>
              <a:rPr lang="es-ES_tradnl" b="0" dirty="0">
                <a:solidFill>
                  <a:schemeClr val="accent1"/>
                </a:solidFill>
              </a:rPr>
              <a:t>Ingreso al Perfil Estudiante SSB9 </a:t>
            </a:r>
            <a:r>
              <a:rPr lang="es-ES_tradnl" b="0" dirty="0" err="1">
                <a:solidFill>
                  <a:schemeClr val="accent1"/>
                </a:solidFill>
              </a:rPr>
              <a:t>Faculty</a:t>
            </a:r>
            <a:br>
              <a:rPr lang="es-MX" dirty="0">
                <a:solidFill>
                  <a:schemeClr val="accent1"/>
                </a:solidFill>
              </a:rPr>
            </a:br>
            <a:endParaRPr lang="es-CL" dirty="0">
              <a:solidFill>
                <a:schemeClr val="accent1"/>
              </a:solidFill>
            </a:endParaRPr>
          </a:p>
        </p:txBody>
      </p:sp>
      <p:sp>
        <p:nvSpPr>
          <p:cNvPr id="2" name="Rectángulo 1">
            <a:extLst>
              <a:ext uri="{FF2B5EF4-FFF2-40B4-BE49-F238E27FC236}">
                <a16:creationId xmlns:a16="http://schemas.microsoft.com/office/drawing/2014/main" id="{6CD4F46D-3B6B-5646-1AF8-0455DFA9C876}"/>
              </a:ext>
            </a:extLst>
          </p:cNvPr>
          <p:cNvSpPr/>
          <p:nvPr/>
        </p:nvSpPr>
        <p:spPr>
          <a:xfrm>
            <a:off x="1955524" y="4145953"/>
            <a:ext cx="2202135" cy="231636"/>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ángulo redondeado 5">
            <a:extLst>
              <a:ext uri="{FF2B5EF4-FFF2-40B4-BE49-F238E27FC236}">
                <a16:creationId xmlns:a16="http://schemas.microsoft.com/office/drawing/2014/main" id="{EE48CB41-329D-8FDB-45CC-EC8446D4946E}"/>
              </a:ext>
            </a:extLst>
          </p:cNvPr>
          <p:cNvSpPr/>
          <p:nvPr/>
        </p:nvSpPr>
        <p:spPr>
          <a:xfrm>
            <a:off x="5795366" y="3878981"/>
            <a:ext cx="3704769" cy="131859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El docente puede acceder al módulo del link “Perfil de mis asesorados”, y después ver la lista completa de sus asesorados o elegir entre los 3 filtros personales.</a:t>
            </a:r>
          </a:p>
        </p:txBody>
      </p:sp>
    </p:spTree>
    <p:extLst>
      <p:ext uri="{BB962C8B-B14F-4D97-AF65-F5344CB8AC3E}">
        <p14:creationId xmlns:p14="http://schemas.microsoft.com/office/powerpoint/2010/main" val="25749219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B156FDC3-C9EE-7F77-EA75-5E8FBF1F7858}"/>
              </a:ext>
            </a:extLst>
          </p:cNvPr>
          <p:cNvPicPr>
            <a:picLocks noChangeAspect="1"/>
          </p:cNvPicPr>
          <p:nvPr/>
        </p:nvPicPr>
        <p:blipFill>
          <a:blip r:embed="rId2"/>
          <a:stretch>
            <a:fillRect/>
          </a:stretch>
        </p:blipFill>
        <p:spPr>
          <a:xfrm>
            <a:off x="500332" y="923355"/>
            <a:ext cx="10455215" cy="488964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33</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Proceso: </a:t>
            </a:r>
            <a:r>
              <a:rPr lang="es-ES_tradnl" b="0" dirty="0">
                <a:solidFill>
                  <a:schemeClr val="accent1"/>
                </a:solidFill>
              </a:rPr>
              <a:t>Ingreso al Perfil Estudiante SSB9 </a:t>
            </a:r>
            <a:r>
              <a:rPr lang="es-ES_tradnl" b="0" dirty="0" err="1">
                <a:solidFill>
                  <a:schemeClr val="accent1"/>
                </a:solidFill>
              </a:rPr>
              <a:t>Faculty</a:t>
            </a:r>
            <a:br>
              <a:rPr lang="es-MX" dirty="0">
                <a:solidFill>
                  <a:schemeClr val="accent1"/>
                </a:solidFill>
              </a:rPr>
            </a:br>
            <a:endParaRPr lang="es-CL" dirty="0">
              <a:solidFill>
                <a:schemeClr val="accent1"/>
              </a:solidFill>
            </a:endParaRPr>
          </a:p>
        </p:txBody>
      </p:sp>
      <p:sp>
        <p:nvSpPr>
          <p:cNvPr id="2" name="Rectángulo 1">
            <a:extLst>
              <a:ext uri="{FF2B5EF4-FFF2-40B4-BE49-F238E27FC236}">
                <a16:creationId xmlns:a16="http://schemas.microsoft.com/office/drawing/2014/main" id="{6CD4F46D-3B6B-5646-1AF8-0455DFA9C876}"/>
              </a:ext>
            </a:extLst>
          </p:cNvPr>
          <p:cNvSpPr/>
          <p:nvPr/>
        </p:nvSpPr>
        <p:spPr>
          <a:xfrm>
            <a:off x="751433" y="2695781"/>
            <a:ext cx="1306986" cy="22174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ángulo redondeado 5">
            <a:extLst>
              <a:ext uri="{FF2B5EF4-FFF2-40B4-BE49-F238E27FC236}">
                <a16:creationId xmlns:a16="http://schemas.microsoft.com/office/drawing/2014/main" id="{EE48CB41-329D-8FDB-45CC-EC8446D4946E}"/>
              </a:ext>
            </a:extLst>
          </p:cNvPr>
          <p:cNvSpPr/>
          <p:nvPr/>
        </p:nvSpPr>
        <p:spPr>
          <a:xfrm>
            <a:off x="3212889" y="2957570"/>
            <a:ext cx="3704769" cy="131859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Puede elegir entre filtrar por uno de los tres ítems o ver completa su lista de asesorados.</a:t>
            </a:r>
          </a:p>
        </p:txBody>
      </p:sp>
      <p:sp>
        <p:nvSpPr>
          <p:cNvPr id="10" name="Rectángulo 9">
            <a:extLst>
              <a:ext uri="{FF2B5EF4-FFF2-40B4-BE49-F238E27FC236}">
                <a16:creationId xmlns:a16="http://schemas.microsoft.com/office/drawing/2014/main" id="{9CA454F8-7021-E676-22AC-5146D933C747}"/>
              </a:ext>
            </a:extLst>
          </p:cNvPr>
          <p:cNvSpPr/>
          <p:nvPr/>
        </p:nvSpPr>
        <p:spPr>
          <a:xfrm>
            <a:off x="500332" y="1358372"/>
            <a:ext cx="2355113" cy="1318597"/>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3544659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5F4DA627-EC03-FC77-4E8F-94E33009AE77}"/>
              </a:ext>
            </a:extLst>
          </p:cNvPr>
          <p:cNvPicPr>
            <a:picLocks noChangeAspect="1"/>
          </p:cNvPicPr>
          <p:nvPr/>
        </p:nvPicPr>
        <p:blipFill>
          <a:blip r:embed="rId2"/>
          <a:stretch>
            <a:fillRect/>
          </a:stretch>
        </p:blipFill>
        <p:spPr>
          <a:xfrm>
            <a:off x="810247" y="1173270"/>
            <a:ext cx="10845948" cy="515069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34</a:t>
            </a:fld>
            <a:endParaRPr lang="en-US" dirty="0"/>
          </a:p>
        </p:txBody>
      </p:sp>
      <p:sp>
        <p:nvSpPr>
          <p:cNvPr id="8" name="Rectángulo redondeado 5">
            <a:extLst>
              <a:ext uri="{FF2B5EF4-FFF2-40B4-BE49-F238E27FC236}">
                <a16:creationId xmlns:a16="http://schemas.microsoft.com/office/drawing/2014/main" id="{07A3E628-6AF7-F002-EA2D-DCFBB99E216B}"/>
              </a:ext>
            </a:extLst>
          </p:cNvPr>
          <p:cNvSpPr/>
          <p:nvPr/>
        </p:nvSpPr>
        <p:spPr>
          <a:xfrm>
            <a:off x="8624235" y="1934678"/>
            <a:ext cx="3031959" cy="255130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600" dirty="0"/>
              <a:t>Dependiendo de las configuraciones que se hayan realizado en GUACONF, el docente podrá visualizar la totalidad o parcialmente los campos de información que le hayan sido asignados según su rol.</a:t>
            </a:r>
          </a:p>
        </p:txBody>
      </p:sp>
      <p:sp>
        <p:nvSpPr>
          <p:cNvPr id="9" name="Título 3">
            <a:extLst>
              <a:ext uri="{FF2B5EF4-FFF2-40B4-BE49-F238E27FC236}">
                <a16:creationId xmlns:a16="http://schemas.microsoft.com/office/drawing/2014/main" id="{ADF243D1-CFB4-84D3-E8BB-29AB6068B86C}"/>
              </a:ext>
            </a:extLst>
          </p:cNvPr>
          <p:cNvSpPr txBox="1">
            <a:spLocks/>
          </p:cNvSpPr>
          <p:nvPr/>
        </p:nvSpPr>
        <p:spPr>
          <a:xfrm>
            <a:off x="810247" y="113040"/>
            <a:ext cx="10271883" cy="62616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Proceso: </a:t>
            </a:r>
            <a:r>
              <a:rPr lang="es-ES_tradnl" b="0" dirty="0">
                <a:solidFill>
                  <a:schemeClr val="accent1"/>
                </a:solidFill>
              </a:rPr>
              <a:t>Ingreso al Perfil Estudiante SSB9 </a:t>
            </a:r>
            <a:r>
              <a:rPr lang="es-ES_tradnl" b="0" dirty="0" err="1">
                <a:solidFill>
                  <a:schemeClr val="accent1"/>
                </a:solidFill>
              </a:rPr>
              <a:t>Faculty</a:t>
            </a:r>
            <a:br>
              <a:rPr lang="es-MX" dirty="0">
                <a:solidFill>
                  <a:schemeClr val="accent1"/>
                </a:solidFill>
              </a:rPr>
            </a:br>
            <a:endParaRPr lang="es-CL" dirty="0">
              <a:solidFill>
                <a:schemeClr val="accent1"/>
              </a:solidFill>
            </a:endParaRPr>
          </a:p>
        </p:txBody>
      </p:sp>
    </p:spTree>
    <p:extLst>
      <p:ext uri="{BB962C8B-B14F-4D97-AF65-F5344CB8AC3E}">
        <p14:creationId xmlns:p14="http://schemas.microsoft.com/office/powerpoint/2010/main" val="14983154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D489-D411-281E-85CA-24ADE43264F0}"/>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45CB3D5C-1F4E-43FA-00B3-7705C83F3C10}"/>
              </a:ext>
            </a:extLst>
          </p:cNvPr>
          <p:cNvSpPr>
            <a:spLocks noGrp="1"/>
          </p:cNvSpPr>
          <p:nvPr>
            <p:ph type="body" orient="vert" sz="quarter" idx="10"/>
          </p:nvPr>
        </p:nvSpPr>
        <p:spPr/>
        <p:txBody>
          <a:bodyPr/>
          <a:lstStyle/>
          <a:p>
            <a:r>
              <a:rPr lang="es-MX" sz="1200" dirty="0"/>
              <a:t>Configuración de Autoservicio</a:t>
            </a:r>
            <a:endParaRPr lang="en-US" dirty="0"/>
          </a:p>
        </p:txBody>
      </p:sp>
      <p:sp>
        <p:nvSpPr>
          <p:cNvPr id="16" name="Title 15">
            <a:extLst>
              <a:ext uri="{FF2B5EF4-FFF2-40B4-BE49-F238E27FC236}">
                <a16:creationId xmlns:a16="http://schemas.microsoft.com/office/drawing/2014/main" id="{EA22966F-8472-B7A7-2DDE-81E2B4134717}"/>
              </a:ext>
            </a:extLst>
          </p:cNvPr>
          <p:cNvSpPr>
            <a:spLocks noGrp="1"/>
          </p:cNvSpPr>
          <p:nvPr>
            <p:ph type="title"/>
          </p:nvPr>
        </p:nvSpPr>
        <p:spPr/>
        <p:txBody>
          <a:bodyPr/>
          <a:lstStyle/>
          <a:p>
            <a:r>
              <a:rPr lang="es-MX" dirty="0"/>
              <a:t>SOAFACS </a:t>
            </a:r>
            <a:br>
              <a:rPr lang="es-MX" dirty="0"/>
            </a:br>
            <a:r>
              <a:rPr lang="es-MX" b="0" dirty="0"/>
              <a:t>Reglas de proceso de docente/asesor</a:t>
            </a:r>
            <a:endParaRPr lang="en-US" sz="3200" b="1" dirty="0">
              <a:solidFill>
                <a:schemeClr val="bg1"/>
              </a:solidFill>
            </a:endParaRPr>
          </a:p>
        </p:txBody>
      </p:sp>
      <p:sp>
        <p:nvSpPr>
          <p:cNvPr id="17" name="Text Placeholder 16">
            <a:extLst>
              <a:ext uri="{FF2B5EF4-FFF2-40B4-BE49-F238E27FC236}">
                <a16:creationId xmlns:a16="http://schemas.microsoft.com/office/drawing/2014/main" id="{3EC704EA-1DAB-433B-D50E-2B8AAE07D399}"/>
              </a:ext>
            </a:extLst>
          </p:cNvPr>
          <p:cNvSpPr>
            <a:spLocks noGrp="1"/>
          </p:cNvSpPr>
          <p:nvPr>
            <p:ph type="body" sz="quarter" idx="18"/>
          </p:nvPr>
        </p:nvSpPr>
        <p:spPr/>
        <p:txBody>
          <a:bodyPr/>
          <a:lstStyle/>
          <a:p>
            <a:endParaRPr lang="en-US" dirty="0"/>
          </a:p>
        </p:txBody>
      </p:sp>
      <p:sp>
        <p:nvSpPr>
          <p:cNvPr id="18" name="Slide Number Placeholder 17">
            <a:extLst>
              <a:ext uri="{FF2B5EF4-FFF2-40B4-BE49-F238E27FC236}">
                <a16:creationId xmlns:a16="http://schemas.microsoft.com/office/drawing/2014/main" id="{64ECC06D-FBD9-DFEB-6B8C-A4335D33C289}"/>
              </a:ext>
            </a:extLst>
          </p:cNvPr>
          <p:cNvSpPr>
            <a:spLocks noGrp="1"/>
          </p:cNvSpPr>
          <p:nvPr>
            <p:ph type="sldNum" sz="quarter" idx="4"/>
          </p:nvPr>
        </p:nvSpPr>
        <p:spPr/>
        <p:txBody>
          <a:bodyPr/>
          <a:lstStyle/>
          <a:p>
            <a:fld id="{4A16F8ED-7337-F64C-865A-41A1F48E54DF}" type="slidenum">
              <a:rPr lang="en-US" smtClean="0"/>
              <a:pPr/>
              <a:t>35</a:t>
            </a:fld>
            <a:endParaRPr lang="en-US" dirty="0"/>
          </a:p>
        </p:txBody>
      </p:sp>
    </p:spTree>
    <p:extLst>
      <p:ext uri="{BB962C8B-B14F-4D97-AF65-F5344CB8AC3E}">
        <p14:creationId xmlns:p14="http://schemas.microsoft.com/office/powerpoint/2010/main" val="42834452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154E96FF-9719-4961-F295-E5D6126068BA}"/>
              </a:ext>
            </a:extLst>
          </p:cNvPr>
          <p:cNvPicPr>
            <a:picLocks noChangeAspect="1"/>
          </p:cNvPicPr>
          <p:nvPr/>
        </p:nvPicPr>
        <p:blipFill>
          <a:blip r:embed="rId2"/>
          <a:stretch>
            <a:fillRect/>
          </a:stretch>
        </p:blipFill>
        <p:spPr>
          <a:xfrm>
            <a:off x="810247" y="1161489"/>
            <a:ext cx="10904426" cy="514220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36</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SOAFACS Reglas de proceso de docente/asesor</a:t>
            </a:r>
            <a:endParaRPr lang="es-CL" b="0" dirty="0">
              <a:solidFill>
                <a:schemeClr val="accent1"/>
              </a:solidFill>
            </a:endParaRPr>
          </a:p>
        </p:txBody>
      </p:sp>
      <p:sp>
        <p:nvSpPr>
          <p:cNvPr id="7" name="Rectángulo redondeado 5">
            <a:extLst>
              <a:ext uri="{FF2B5EF4-FFF2-40B4-BE49-F238E27FC236}">
                <a16:creationId xmlns:a16="http://schemas.microsoft.com/office/drawing/2014/main" id="{5BA85B32-F5E0-8510-A25A-3558A8A6E340}"/>
              </a:ext>
            </a:extLst>
          </p:cNvPr>
          <p:cNvSpPr/>
          <p:nvPr/>
        </p:nvSpPr>
        <p:spPr>
          <a:xfrm>
            <a:off x="2174523" y="4152900"/>
            <a:ext cx="8351488" cy="102404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En SOAFACS se configuran permisos de visualización y edición a los roles de docentes y asesores, en los distintos módulos del SSB9, en donde particularmente para el caso del Perfil del Estudiante, los procesos a configurar son: DISPLAYHOLDS, RELEASEHOLDS y DISPLAYPROFILE.</a:t>
            </a:r>
          </a:p>
        </p:txBody>
      </p:sp>
    </p:spTree>
    <p:extLst>
      <p:ext uri="{BB962C8B-B14F-4D97-AF65-F5344CB8AC3E}">
        <p14:creationId xmlns:p14="http://schemas.microsoft.com/office/powerpoint/2010/main" val="15331669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34B1192E-313E-3B20-7323-84B2B686F918}"/>
              </a:ext>
            </a:extLst>
          </p:cNvPr>
          <p:cNvPicPr>
            <a:picLocks noChangeAspect="1"/>
          </p:cNvPicPr>
          <p:nvPr/>
        </p:nvPicPr>
        <p:blipFill>
          <a:blip r:embed="rId2"/>
          <a:stretch>
            <a:fillRect/>
          </a:stretch>
        </p:blipFill>
        <p:spPr>
          <a:xfrm>
            <a:off x="810247" y="1161489"/>
            <a:ext cx="10904426" cy="514220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37</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SOAFACS </a:t>
            </a:r>
            <a:br>
              <a:rPr lang="es-MX" b="0" dirty="0">
                <a:solidFill>
                  <a:schemeClr val="accent1"/>
                </a:solidFill>
              </a:rPr>
            </a:br>
            <a:r>
              <a:rPr lang="es-MX" b="0" dirty="0">
                <a:solidFill>
                  <a:schemeClr val="accent1"/>
                </a:solidFill>
              </a:rPr>
              <a:t>Reglas de proceso de docente/asesor</a:t>
            </a:r>
            <a:endParaRPr lang="es-CL" b="0" dirty="0">
              <a:solidFill>
                <a:schemeClr val="accent1"/>
              </a:solidFill>
            </a:endParaRPr>
          </a:p>
        </p:txBody>
      </p:sp>
      <p:sp>
        <p:nvSpPr>
          <p:cNvPr id="10" name="Rectángulo 9">
            <a:extLst>
              <a:ext uri="{FF2B5EF4-FFF2-40B4-BE49-F238E27FC236}">
                <a16:creationId xmlns:a16="http://schemas.microsoft.com/office/drawing/2014/main" id="{E075695D-0EC1-D605-97F6-B1107A9A29BE}"/>
              </a:ext>
            </a:extLst>
          </p:cNvPr>
          <p:cNvSpPr/>
          <p:nvPr/>
        </p:nvSpPr>
        <p:spPr>
          <a:xfrm>
            <a:off x="2725947" y="1974788"/>
            <a:ext cx="1052423" cy="3721723"/>
          </a:xfrm>
          <a:prstGeom prst="rect">
            <a:avLst/>
          </a:prstGeom>
          <a:noFill/>
          <a:ln w="28575">
            <a:solidFill>
              <a:srgbClr val="8A00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ángulo 7">
            <a:extLst>
              <a:ext uri="{FF2B5EF4-FFF2-40B4-BE49-F238E27FC236}">
                <a16:creationId xmlns:a16="http://schemas.microsoft.com/office/drawing/2014/main" id="{2B9571FA-502C-1E6E-8676-4DCA86EB96D8}"/>
              </a:ext>
            </a:extLst>
          </p:cNvPr>
          <p:cNvSpPr/>
          <p:nvPr/>
        </p:nvSpPr>
        <p:spPr>
          <a:xfrm>
            <a:off x="810247" y="1974789"/>
            <a:ext cx="1915700" cy="3721722"/>
          </a:xfrm>
          <a:prstGeom prst="rect">
            <a:avLst/>
          </a:prstGeom>
          <a:noFill/>
          <a:ln w="28575">
            <a:solidFill>
              <a:srgbClr val="8A00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Rectángulo redondeado 5">
            <a:extLst>
              <a:ext uri="{FF2B5EF4-FFF2-40B4-BE49-F238E27FC236}">
                <a16:creationId xmlns:a16="http://schemas.microsoft.com/office/drawing/2014/main" id="{BD40DD52-87B7-3A7F-7835-6A1B4C33C308}"/>
              </a:ext>
            </a:extLst>
          </p:cNvPr>
          <p:cNvSpPr/>
          <p:nvPr/>
        </p:nvSpPr>
        <p:spPr>
          <a:xfrm>
            <a:off x="947396" y="3575647"/>
            <a:ext cx="1683573" cy="127635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La primera y segunda columna representa el proceso en el cual esta forma ejerce su configuración.</a:t>
            </a:r>
          </a:p>
        </p:txBody>
      </p:sp>
      <p:sp>
        <p:nvSpPr>
          <p:cNvPr id="2" name="Rectángulo redondeado 5">
            <a:extLst>
              <a:ext uri="{FF2B5EF4-FFF2-40B4-BE49-F238E27FC236}">
                <a16:creationId xmlns:a16="http://schemas.microsoft.com/office/drawing/2014/main" id="{B04AAB10-930C-5933-49B3-5F2078D2654B}"/>
              </a:ext>
            </a:extLst>
          </p:cNvPr>
          <p:cNvSpPr/>
          <p:nvPr/>
        </p:nvSpPr>
        <p:spPr>
          <a:xfrm>
            <a:off x="3529077" y="4381500"/>
            <a:ext cx="1849481" cy="80590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La columna “docente o asesor” corresponde al rol al cual está afectando cada configuración.</a:t>
            </a:r>
          </a:p>
        </p:txBody>
      </p:sp>
    </p:spTree>
    <p:extLst>
      <p:ext uri="{BB962C8B-B14F-4D97-AF65-F5344CB8AC3E}">
        <p14:creationId xmlns:p14="http://schemas.microsoft.com/office/powerpoint/2010/main" val="23124310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E7E5FBE9-5EC9-AE09-DD7A-BCAB4EE3E033}"/>
              </a:ext>
            </a:extLst>
          </p:cNvPr>
          <p:cNvPicPr>
            <a:picLocks noChangeAspect="1"/>
          </p:cNvPicPr>
          <p:nvPr/>
        </p:nvPicPr>
        <p:blipFill>
          <a:blip r:embed="rId2"/>
          <a:stretch>
            <a:fillRect/>
          </a:stretch>
        </p:blipFill>
        <p:spPr>
          <a:xfrm>
            <a:off x="810247" y="1161489"/>
            <a:ext cx="10904426" cy="514220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38</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SOAFACS </a:t>
            </a:r>
            <a:br>
              <a:rPr lang="es-MX" b="0" dirty="0">
                <a:solidFill>
                  <a:schemeClr val="accent1"/>
                </a:solidFill>
              </a:rPr>
            </a:br>
            <a:r>
              <a:rPr lang="es-MX" b="0" dirty="0">
                <a:solidFill>
                  <a:schemeClr val="accent1"/>
                </a:solidFill>
              </a:rPr>
              <a:t>Reglas de proceso de docente/asesor</a:t>
            </a:r>
            <a:endParaRPr lang="es-CL" b="0" dirty="0">
              <a:solidFill>
                <a:schemeClr val="accent1"/>
              </a:solidFill>
            </a:endParaRPr>
          </a:p>
        </p:txBody>
      </p:sp>
      <p:sp>
        <p:nvSpPr>
          <p:cNvPr id="10" name="Rectángulo 9">
            <a:extLst>
              <a:ext uri="{FF2B5EF4-FFF2-40B4-BE49-F238E27FC236}">
                <a16:creationId xmlns:a16="http://schemas.microsoft.com/office/drawing/2014/main" id="{E075695D-0EC1-D605-97F6-B1107A9A29BE}"/>
              </a:ext>
            </a:extLst>
          </p:cNvPr>
          <p:cNvSpPr/>
          <p:nvPr/>
        </p:nvSpPr>
        <p:spPr>
          <a:xfrm>
            <a:off x="3840910" y="1972101"/>
            <a:ext cx="1576589" cy="3724410"/>
          </a:xfrm>
          <a:prstGeom prst="rect">
            <a:avLst/>
          </a:prstGeom>
          <a:noFill/>
          <a:ln w="28575">
            <a:solidFill>
              <a:srgbClr val="8A00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ángulo 7">
            <a:extLst>
              <a:ext uri="{FF2B5EF4-FFF2-40B4-BE49-F238E27FC236}">
                <a16:creationId xmlns:a16="http://schemas.microsoft.com/office/drawing/2014/main" id="{2B9571FA-502C-1E6E-8676-4DCA86EB96D8}"/>
              </a:ext>
            </a:extLst>
          </p:cNvPr>
          <p:cNvSpPr/>
          <p:nvPr/>
        </p:nvSpPr>
        <p:spPr>
          <a:xfrm>
            <a:off x="6029864" y="1928787"/>
            <a:ext cx="744639" cy="3767723"/>
          </a:xfrm>
          <a:prstGeom prst="rect">
            <a:avLst/>
          </a:prstGeom>
          <a:noFill/>
          <a:ln w="28575">
            <a:solidFill>
              <a:srgbClr val="8A00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Rectángulo redondeado 5">
            <a:extLst>
              <a:ext uri="{FF2B5EF4-FFF2-40B4-BE49-F238E27FC236}">
                <a16:creationId xmlns:a16="http://schemas.microsoft.com/office/drawing/2014/main" id="{BD40DD52-87B7-3A7F-7835-6A1B4C33C308}"/>
              </a:ext>
            </a:extLst>
          </p:cNvPr>
          <p:cNvSpPr/>
          <p:nvPr/>
        </p:nvSpPr>
        <p:spPr>
          <a:xfrm>
            <a:off x="1606922" y="2917884"/>
            <a:ext cx="2055048" cy="114299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La columna “Proceso disponible en autoservicio” habilita el acceso a los distintos procesos que se encuentran configurados.</a:t>
            </a:r>
          </a:p>
        </p:txBody>
      </p:sp>
      <p:sp>
        <p:nvSpPr>
          <p:cNvPr id="2" name="Rectángulo redondeado 5">
            <a:extLst>
              <a:ext uri="{FF2B5EF4-FFF2-40B4-BE49-F238E27FC236}">
                <a16:creationId xmlns:a16="http://schemas.microsoft.com/office/drawing/2014/main" id="{B04AAB10-930C-5933-49B3-5F2078D2654B}"/>
              </a:ext>
            </a:extLst>
          </p:cNvPr>
          <p:cNvSpPr/>
          <p:nvPr/>
        </p:nvSpPr>
        <p:spPr>
          <a:xfrm>
            <a:off x="5225183" y="4884389"/>
            <a:ext cx="3098640" cy="154799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Las columnas “Todo el acceso” y “Principal” son mutuamente excluyentes, ambas otorga el acceso al rol configurado. En el caso que el </a:t>
            </a:r>
            <a:r>
              <a:rPr lang="es-ES_tradnl" sz="1100" dirty="0" err="1"/>
              <a:t>check</a:t>
            </a:r>
            <a:r>
              <a:rPr lang="es-ES_tradnl" sz="1100" dirty="0"/>
              <a:t> del campo “Principal” se encuentre marcado, solo el docente o asesor principal podrá acceder a la información de cada proceso.</a:t>
            </a:r>
          </a:p>
        </p:txBody>
      </p:sp>
      <p:sp>
        <p:nvSpPr>
          <p:cNvPr id="7" name="Rectángulo 6">
            <a:extLst>
              <a:ext uri="{FF2B5EF4-FFF2-40B4-BE49-F238E27FC236}">
                <a16:creationId xmlns:a16="http://schemas.microsoft.com/office/drawing/2014/main" id="{0EA6B9CF-4B4C-1C2E-3D56-970E4CEE91B5}"/>
              </a:ext>
            </a:extLst>
          </p:cNvPr>
          <p:cNvSpPr/>
          <p:nvPr/>
        </p:nvSpPr>
        <p:spPr>
          <a:xfrm>
            <a:off x="8323823" y="1972101"/>
            <a:ext cx="631293" cy="3660948"/>
          </a:xfrm>
          <a:prstGeom prst="rect">
            <a:avLst/>
          </a:prstGeom>
          <a:noFill/>
          <a:ln w="28575">
            <a:solidFill>
              <a:srgbClr val="8A00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9877245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36F4A37D-3FAA-5D2D-251C-A9B03F3BAE68}"/>
              </a:ext>
            </a:extLst>
          </p:cNvPr>
          <p:cNvPicPr>
            <a:picLocks noChangeAspect="1"/>
          </p:cNvPicPr>
          <p:nvPr/>
        </p:nvPicPr>
        <p:blipFill>
          <a:blip r:embed="rId2"/>
          <a:stretch>
            <a:fillRect/>
          </a:stretch>
        </p:blipFill>
        <p:spPr>
          <a:xfrm>
            <a:off x="810247" y="4211105"/>
            <a:ext cx="10352334" cy="1515240"/>
          </a:xfrm>
          <a:prstGeom prst="rect">
            <a:avLst/>
          </a:prstGeom>
        </p:spPr>
      </p:pic>
      <p:pic>
        <p:nvPicPr>
          <p:cNvPr id="8" name="Imagen 7">
            <a:extLst>
              <a:ext uri="{FF2B5EF4-FFF2-40B4-BE49-F238E27FC236}">
                <a16:creationId xmlns:a16="http://schemas.microsoft.com/office/drawing/2014/main" id="{A465C2B0-E5DF-2288-85D9-DD074C43A224}"/>
              </a:ext>
            </a:extLst>
          </p:cNvPr>
          <p:cNvPicPr>
            <a:picLocks noChangeAspect="1"/>
          </p:cNvPicPr>
          <p:nvPr/>
        </p:nvPicPr>
        <p:blipFill>
          <a:blip r:embed="rId3"/>
          <a:stretch>
            <a:fillRect/>
          </a:stretch>
        </p:blipFill>
        <p:spPr>
          <a:xfrm>
            <a:off x="810247" y="1360789"/>
            <a:ext cx="10271883" cy="1891484"/>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39</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SOAFACS </a:t>
            </a:r>
            <a:br>
              <a:rPr lang="es-MX" b="0" dirty="0">
                <a:solidFill>
                  <a:schemeClr val="accent1"/>
                </a:solidFill>
              </a:rPr>
            </a:br>
            <a:r>
              <a:rPr lang="es-MX" b="0" dirty="0">
                <a:solidFill>
                  <a:schemeClr val="accent1"/>
                </a:solidFill>
              </a:rPr>
              <a:t>Reglas de proceso de docente/asesor</a:t>
            </a:r>
            <a:endParaRPr lang="es-CL" b="0" dirty="0">
              <a:solidFill>
                <a:schemeClr val="accent1"/>
              </a:solidFill>
            </a:endParaRPr>
          </a:p>
        </p:txBody>
      </p:sp>
      <p:sp>
        <p:nvSpPr>
          <p:cNvPr id="7" name="Rectángulo redondeado 5">
            <a:extLst>
              <a:ext uri="{FF2B5EF4-FFF2-40B4-BE49-F238E27FC236}">
                <a16:creationId xmlns:a16="http://schemas.microsoft.com/office/drawing/2014/main" id="{5BA85B32-F5E0-8510-A25A-3558A8A6E340}"/>
              </a:ext>
            </a:extLst>
          </p:cNvPr>
          <p:cNvSpPr/>
          <p:nvPr/>
        </p:nvSpPr>
        <p:spPr>
          <a:xfrm>
            <a:off x="6980260" y="2375426"/>
            <a:ext cx="4126426" cy="312178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la imagen se muestra la configuración del control de accesos del docente para la visualización al perfil del estudiante, en este caso todos los docentes podrían acceder a los perfiles de los estudiantes a los cuales deba ingresar asistencia o calificaciones, pero ninguno podrá visualizar o liberar las retenciones de los estudiantes. </a:t>
            </a:r>
            <a:br>
              <a:rPr lang="es-ES_tradnl" sz="1400" dirty="0"/>
            </a:br>
            <a:endParaRPr lang="es-CL" sz="1400" dirty="0"/>
          </a:p>
          <a:p>
            <a:r>
              <a:rPr lang="es-CL" sz="1400" dirty="0"/>
              <a:t>El acceso de docentes al perfil de estudiantes depende de la configuración de “DISPLAYPROFILE”.</a:t>
            </a:r>
          </a:p>
        </p:txBody>
      </p:sp>
      <p:sp>
        <p:nvSpPr>
          <p:cNvPr id="11" name="Rectángulo 10">
            <a:extLst>
              <a:ext uri="{FF2B5EF4-FFF2-40B4-BE49-F238E27FC236}">
                <a16:creationId xmlns:a16="http://schemas.microsoft.com/office/drawing/2014/main" id="{986C5ED4-2419-603A-3F0A-A9088CE90D58}"/>
              </a:ext>
            </a:extLst>
          </p:cNvPr>
          <p:cNvSpPr/>
          <p:nvPr/>
        </p:nvSpPr>
        <p:spPr>
          <a:xfrm>
            <a:off x="3782731" y="2273969"/>
            <a:ext cx="2063014" cy="874674"/>
          </a:xfrm>
          <a:prstGeom prst="rect">
            <a:avLst/>
          </a:prstGeom>
          <a:noFill/>
          <a:ln w="28575">
            <a:solidFill>
              <a:srgbClr val="8A00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Rectángulo 11">
            <a:extLst>
              <a:ext uri="{FF2B5EF4-FFF2-40B4-BE49-F238E27FC236}">
                <a16:creationId xmlns:a16="http://schemas.microsoft.com/office/drawing/2014/main" id="{CAFA917C-D2BD-992B-3637-D78267DFE5AB}"/>
              </a:ext>
            </a:extLst>
          </p:cNvPr>
          <p:cNvSpPr/>
          <p:nvPr/>
        </p:nvSpPr>
        <p:spPr>
          <a:xfrm>
            <a:off x="3782730" y="5201728"/>
            <a:ext cx="2583563" cy="405442"/>
          </a:xfrm>
          <a:prstGeom prst="rect">
            <a:avLst/>
          </a:prstGeom>
          <a:noFill/>
          <a:ln w="28575">
            <a:solidFill>
              <a:srgbClr val="8A00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Rectángulo 12">
            <a:extLst>
              <a:ext uri="{FF2B5EF4-FFF2-40B4-BE49-F238E27FC236}">
                <a16:creationId xmlns:a16="http://schemas.microsoft.com/office/drawing/2014/main" id="{9CD1E134-60BA-A2C4-F679-D921A8CFCADD}"/>
              </a:ext>
            </a:extLst>
          </p:cNvPr>
          <p:cNvSpPr/>
          <p:nvPr/>
        </p:nvSpPr>
        <p:spPr>
          <a:xfrm>
            <a:off x="810248" y="5262113"/>
            <a:ext cx="1838062" cy="345057"/>
          </a:xfrm>
          <a:prstGeom prst="rect">
            <a:avLst/>
          </a:prstGeom>
          <a:noFill/>
          <a:ln w="28575">
            <a:solidFill>
              <a:srgbClr val="8A00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13">
            <a:extLst>
              <a:ext uri="{FF2B5EF4-FFF2-40B4-BE49-F238E27FC236}">
                <a16:creationId xmlns:a16="http://schemas.microsoft.com/office/drawing/2014/main" id="{BFBE4822-44D0-442E-E0AD-39827F557296}"/>
              </a:ext>
            </a:extLst>
          </p:cNvPr>
          <p:cNvSpPr/>
          <p:nvPr/>
        </p:nvSpPr>
        <p:spPr>
          <a:xfrm>
            <a:off x="834803" y="2306531"/>
            <a:ext cx="1735869" cy="842111"/>
          </a:xfrm>
          <a:prstGeom prst="rect">
            <a:avLst/>
          </a:prstGeom>
          <a:noFill/>
          <a:ln w="28575">
            <a:solidFill>
              <a:srgbClr val="8A00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943485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8F005-8343-4F53-8C1C-D1F49E9D2AE6}"/>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6756C6C3-35EA-DA96-1666-69587058B35C}"/>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FD848323-1FC2-E913-1E87-3F95ABF572C4}"/>
              </a:ext>
            </a:extLst>
          </p:cNvPr>
          <p:cNvSpPr>
            <a:spLocks noGrp="1"/>
          </p:cNvSpPr>
          <p:nvPr>
            <p:ph type="sldNum" sz="quarter" idx="4"/>
          </p:nvPr>
        </p:nvSpPr>
        <p:spPr/>
        <p:txBody>
          <a:bodyPr/>
          <a:lstStyle/>
          <a:p>
            <a:fld id="{4A16F8ED-7337-F64C-865A-41A1F48E54DF}" type="slidenum">
              <a:rPr lang="en-US" smtClean="0"/>
              <a:pPr/>
              <a:t>40</a:t>
            </a:fld>
            <a:endParaRPr lang="en-US" dirty="0"/>
          </a:p>
        </p:txBody>
      </p:sp>
      <p:sp>
        <p:nvSpPr>
          <p:cNvPr id="4" name="Título 3">
            <a:extLst>
              <a:ext uri="{FF2B5EF4-FFF2-40B4-BE49-F238E27FC236}">
                <a16:creationId xmlns:a16="http://schemas.microsoft.com/office/drawing/2014/main" id="{24EBA8E1-5DA5-AD63-CCC2-D13316B29D66}"/>
              </a:ext>
            </a:extLst>
          </p:cNvPr>
          <p:cNvSpPr>
            <a:spLocks noGrp="1"/>
          </p:cNvSpPr>
          <p:nvPr>
            <p:ph type="title"/>
          </p:nvPr>
        </p:nvSpPr>
        <p:spPr>
          <a:xfrm>
            <a:off x="810247" y="327992"/>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SOAFACS </a:t>
            </a:r>
            <a:br>
              <a:rPr lang="es-MX" b="0" dirty="0">
                <a:solidFill>
                  <a:schemeClr val="accent1"/>
                </a:solidFill>
              </a:rPr>
            </a:br>
            <a:r>
              <a:rPr lang="es-MX" b="0" dirty="0">
                <a:solidFill>
                  <a:schemeClr val="accent1"/>
                </a:solidFill>
              </a:rPr>
              <a:t>Reglas de proceso de docente/asesor</a:t>
            </a:r>
            <a:endParaRPr lang="es-CL" b="0" dirty="0">
              <a:solidFill>
                <a:schemeClr val="accent1"/>
              </a:solidFill>
            </a:endParaRPr>
          </a:p>
        </p:txBody>
      </p:sp>
      <p:pic>
        <p:nvPicPr>
          <p:cNvPr id="6" name="Imagen 5">
            <a:extLst>
              <a:ext uri="{FF2B5EF4-FFF2-40B4-BE49-F238E27FC236}">
                <a16:creationId xmlns:a16="http://schemas.microsoft.com/office/drawing/2014/main" id="{82D88CA5-EF1A-AF27-704D-7B19BBBD668A}"/>
              </a:ext>
            </a:extLst>
          </p:cNvPr>
          <p:cNvPicPr>
            <a:picLocks noChangeAspect="1"/>
          </p:cNvPicPr>
          <p:nvPr/>
        </p:nvPicPr>
        <p:blipFill>
          <a:blip r:embed="rId2"/>
          <a:stretch>
            <a:fillRect/>
          </a:stretch>
        </p:blipFill>
        <p:spPr>
          <a:xfrm>
            <a:off x="1095553" y="1954459"/>
            <a:ext cx="10345947" cy="1586107"/>
          </a:xfrm>
          <a:prstGeom prst="rect">
            <a:avLst/>
          </a:prstGeom>
        </p:spPr>
      </p:pic>
      <p:sp>
        <p:nvSpPr>
          <p:cNvPr id="10" name="Rectangle: Rounded Corners 8">
            <a:extLst>
              <a:ext uri="{FF2B5EF4-FFF2-40B4-BE49-F238E27FC236}">
                <a16:creationId xmlns:a16="http://schemas.microsoft.com/office/drawing/2014/main" id="{AD140A49-82D8-A732-EAE0-F22332F7CFAD}"/>
              </a:ext>
            </a:extLst>
          </p:cNvPr>
          <p:cNvSpPr/>
          <p:nvPr/>
        </p:nvSpPr>
        <p:spPr>
          <a:xfrm>
            <a:off x="3850782" y="3530006"/>
            <a:ext cx="5151550" cy="137684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El acceso de docentes al perfil de estudiantes depende de la configuración de “DISPLAYPROFILE” en SOAFACS.</a:t>
            </a:r>
          </a:p>
          <a:p>
            <a:pPr algn="ctr"/>
            <a:endParaRPr lang="es-CL" sz="1200" dirty="0"/>
          </a:p>
          <a:p>
            <a:pPr algn="ctr"/>
            <a:r>
              <a:rPr lang="es-CL" sz="1200" dirty="0"/>
              <a:t>Los docentes podrían llegar al perfil de estudiantes desde otras partes de los autoservicios, por ejemplo, desde la lista de clases, ingreso de calificaciones o ingreso de asistencia.</a:t>
            </a:r>
          </a:p>
        </p:txBody>
      </p:sp>
    </p:spTree>
    <p:extLst>
      <p:ext uri="{BB962C8B-B14F-4D97-AF65-F5344CB8AC3E}">
        <p14:creationId xmlns:p14="http://schemas.microsoft.com/office/powerpoint/2010/main" val="1169451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D489-D411-281E-85CA-24ADE43264F0}"/>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45CB3D5C-1F4E-43FA-00B3-7705C83F3C10}"/>
              </a:ext>
            </a:extLst>
          </p:cNvPr>
          <p:cNvSpPr>
            <a:spLocks noGrp="1"/>
          </p:cNvSpPr>
          <p:nvPr>
            <p:ph type="body" orient="vert" sz="quarter" idx="10"/>
          </p:nvPr>
        </p:nvSpPr>
        <p:spPr/>
        <p:txBody>
          <a:bodyPr/>
          <a:lstStyle/>
          <a:p>
            <a:r>
              <a:rPr lang="es-MX" sz="1200" dirty="0"/>
              <a:t>Configuración de Autoservicio</a:t>
            </a:r>
            <a:endParaRPr lang="en-US" dirty="0"/>
          </a:p>
        </p:txBody>
      </p:sp>
      <p:sp>
        <p:nvSpPr>
          <p:cNvPr id="16" name="Title 15">
            <a:extLst>
              <a:ext uri="{FF2B5EF4-FFF2-40B4-BE49-F238E27FC236}">
                <a16:creationId xmlns:a16="http://schemas.microsoft.com/office/drawing/2014/main" id="{EA22966F-8472-B7A7-2DDE-81E2B4134717}"/>
              </a:ext>
            </a:extLst>
          </p:cNvPr>
          <p:cNvSpPr>
            <a:spLocks noGrp="1"/>
          </p:cNvSpPr>
          <p:nvPr>
            <p:ph type="title"/>
          </p:nvPr>
        </p:nvSpPr>
        <p:spPr/>
        <p:txBody>
          <a:bodyPr/>
          <a:lstStyle/>
          <a:p>
            <a:r>
              <a:rPr lang="es-ES_tradnl" b="1" dirty="0"/>
              <a:t>GTVSYST y </a:t>
            </a:r>
            <a:r>
              <a:rPr lang="es-MX" dirty="0"/>
              <a:t>GTVOTYP</a:t>
            </a:r>
            <a:br>
              <a:rPr lang="es-MX" b="0" dirty="0"/>
            </a:br>
            <a:r>
              <a:rPr lang="es-MX" b="0" dirty="0"/>
              <a:t>Visualización General de Perfiles</a:t>
            </a:r>
            <a:endParaRPr lang="en-US" sz="3200" b="1" dirty="0">
              <a:solidFill>
                <a:schemeClr val="bg1"/>
              </a:solidFill>
            </a:endParaRPr>
          </a:p>
        </p:txBody>
      </p:sp>
      <p:sp>
        <p:nvSpPr>
          <p:cNvPr id="18" name="Slide Number Placeholder 17">
            <a:extLst>
              <a:ext uri="{FF2B5EF4-FFF2-40B4-BE49-F238E27FC236}">
                <a16:creationId xmlns:a16="http://schemas.microsoft.com/office/drawing/2014/main" id="{64ECC06D-FBD9-DFEB-6B8C-A4335D33C289}"/>
              </a:ext>
            </a:extLst>
          </p:cNvPr>
          <p:cNvSpPr>
            <a:spLocks noGrp="1"/>
          </p:cNvSpPr>
          <p:nvPr>
            <p:ph type="sldNum" sz="quarter" idx="4"/>
          </p:nvPr>
        </p:nvSpPr>
        <p:spPr/>
        <p:txBody>
          <a:bodyPr/>
          <a:lstStyle/>
          <a:p>
            <a:fld id="{4A16F8ED-7337-F64C-865A-41A1F48E54DF}" type="slidenum">
              <a:rPr lang="en-US" smtClean="0"/>
              <a:pPr/>
              <a:t>41</a:t>
            </a:fld>
            <a:endParaRPr lang="en-US" dirty="0"/>
          </a:p>
        </p:txBody>
      </p:sp>
    </p:spTree>
    <p:extLst>
      <p:ext uri="{BB962C8B-B14F-4D97-AF65-F5344CB8AC3E}">
        <p14:creationId xmlns:p14="http://schemas.microsoft.com/office/powerpoint/2010/main" val="15514924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2A4DDB5D-893A-0F69-53AD-EF50628B0CD4}"/>
              </a:ext>
            </a:extLst>
          </p:cNvPr>
          <p:cNvPicPr>
            <a:picLocks noChangeAspect="1"/>
          </p:cNvPicPr>
          <p:nvPr/>
        </p:nvPicPr>
        <p:blipFill>
          <a:blip r:embed="rId2"/>
          <a:stretch>
            <a:fillRect/>
          </a:stretch>
        </p:blipFill>
        <p:spPr>
          <a:xfrm>
            <a:off x="836426" y="1288071"/>
            <a:ext cx="10603711" cy="503621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42</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603711"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GTVSYST Página de validación de tipo de sistema de acceso a representante</a:t>
            </a:r>
            <a:endParaRPr lang="es-CL" b="0" dirty="0">
              <a:solidFill>
                <a:schemeClr val="accent1"/>
              </a:solidFill>
            </a:endParaRPr>
          </a:p>
        </p:txBody>
      </p:sp>
      <p:sp>
        <p:nvSpPr>
          <p:cNvPr id="9" name="Rectángulo 8">
            <a:extLst>
              <a:ext uri="{FF2B5EF4-FFF2-40B4-BE49-F238E27FC236}">
                <a16:creationId xmlns:a16="http://schemas.microsoft.com/office/drawing/2014/main" id="{281C0189-1F70-C45F-3C23-ADCC30AB64F7}"/>
              </a:ext>
            </a:extLst>
          </p:cNvPr>
          <p:cNvSpPr/>
          <p:nvPr/>
        </p:nvSpPr>
        <p:spPr>
          <a:xfrm>
            <a:off x="810247" y="2180910"/>
            <a:ext cx="10441173" cy="277771"/>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Rectangle: Rounded Corners 7">
            <a:extLst>
              <a:ext uri="{FF2B5EF4-FFF2-40B4-BE49-F238E27FC236}">
                <a16:creationId xmlns:a16="http://schemas.microsoft.com/office/drawing/2014/main" id="{DCCC1B9D-7EB3-E74B-4B1F-DC9C4C45E48C}"/>
              </a:ext>
            </a:extLst>
          </p:cNvPr>
          <p:cNvSpPr/>
          <p:nvPr/>
        </p:nvSpPr>
        <p:spPr>
          <a:xfrm>
            <a:off x="2597600" y="3346854"/>
            <a:ext cx="6679725" cy="696418"/>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 sz="1200" dirty="0"/>
              <a:t>Si se desea que un asesor pueda ver el perfil de cualquier estudiante, lo primero es crear el código “ADVISING” en la tabla GTVSYS, mismo que será utilizado en GTVOTYP.</a:t>
            </a:r>
            <a:endParaRPr lang="es-ES_tradnl" sz="1200" dirty="0"/>
          </a:p>
        </p:txBody>
      </p:sp>
      <p:sp>
        <p:nvSpPr>
          <p:cNvPr id="11" name="Rectángulo redondeado 8">
            <a:extLst>
              <a:ext uri="{FF2B5EF4-FFF2-40B4-BE49-F238E27FC236}">
                <a16:creationId xmlns:a16="http://schemas.microsoft.com/office/drawing/2014/main" id="{F5AFB104-8FBB-5730-AB31-E709EDA70EFD}"/>
              </a:ext>
            </a:extLst>
          </p:cNvPr>
          <p:cNvSpPr/>
          <p:nvPr/>
        </p:nvSpPr>
        <p:spPr>
          <a:xfrm>
            <a:off x="1943556" y="3605135"/>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Tree>
    <p:extLst>
      <p:ext uri="{BB962C8B-B14F-4D97-AF65-F5344CB8AC3E}">
        <p14:creationId xmlns:p14="http://schemas.microsoft.com/office/powerpoint/2010/main" val="42377025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9B187793-AEE8-DB99-3D49-070A1FB7BFE5}"/>
              </a:ext>
            </a:extLst>
          </p:cNvPr>
          <p:cNvPicPr>
            <a:picLocks noChangeAspect="1"/>
          </p:cNvPicPr>
          <p:nvPr/>
        </p:nvPicPr>
        <p:blipFill>
          <a:blip r:embed="rId2"/>
          <a:stretch>
            <a:fillRect/>
          </a:stretch>
        </p:blipFill>
        <p:spPr>
          <a:xfrm>
            <a:off x="810247" y="1222451"/>
            <a:ext cx="10749150" cy="5097304"/>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43</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542115"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GTVOTYP             </a:t>
            </a:r>
            <a:br>
              <a:rPr lang="es-MX" b="0" dirty="0">
                <a:solidFill>
                  <a:schemeClr val="accent1"/>
                </a:solidFill>
              </a:rPr>
            </a:br>
            <a:r>
              <a:rPr lang="es-MX" b="0" dirty="0">
                <a:solidFill>
                  <a:schemeClr val="accent1"/>
                </a:solidFill>
              </a:rPr>
              <a:t>Autoservicio Búsqueda de asesorados</a:t>
            </a:r>
            <a:endParaRPr lang="es-CL" b="0" dirty="0">
              <a:solidFill>
                <a:schemeClr val="accent1"/>
              </a:solidFill>
            </a:endParaRPr>
          </a:p>
        </p:txBody>
      </p:sp>
      <p:sp>
        <p:nvSpPr>
          <p:cNvPr id="7" name="Rectángulo redondeado 5">
            <a:extLst>
              <a:ext uri="{FF2B5EF4-FFF2-40B4-BE49-F238E27FC236}">
                <a16:creationId xmlns:a16="http://schemas.microsoft.com/office/drawing/2014/main" id="{5BA85B32-F5E0-8510-A25A-3558A8A6E340}"/>
              </a:ext>
            </a:extLst>
          </p:cNvPr>
          <p:cNvSpPr/>
          <p:nvPr/>
        </p:nvSpPr>
        <p:spPr>
          <a:xfrm>
            <a:off x="899709" y="2796031"/>
            <a:ext cx="7543677" cy="149679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 sz="1400"/>
              <a:t>Si se desea que un asesor pueda ver el perfil de cualquier estudiante, Además del código “ADVISING” en la tabla GTVSYS se ha de configurar la forma GTVOTYP, agregando a sus registros el código de sistema “ADVISING” y código de tipo de opción “ADVISEE_SEARCH_ADVR_REQ”, adicionalmente el campo “valor predefinido” a de estar con valor “Y” para que exista una relación y con el valor “N” para que no exista.</a:t>
            </a:r>
            <a:endParaRPr lang="es-ES_tradnl" sz="1400" dirty="0"/>
          </a:p>
        </p:txBody>
      </p:sp>
      <p:sp>
        <p:nvSpPr>
          <p:cNvPr id="9" name="Rectángulo 8">
            <a:extLst>
              <a:ext uri="{FF2B5EF4-FFF2-40B4-BE49-F238E27FC236}">
                <a16:creationId xmlns:a16="http://schemas.microsoft.com/office/drawing/2014/main" id="{281C0189-1F70-C45F-3C23-ADCC30AB64F7}"/>
              </a:ext>
            </a:extLst>
          </p:cNvPr>
          <p:cNvSpPr/>
          <p:nvPr/>
        </p:nvSpPr>
        <p:spPr>
          <a:xfrm>
            <a:off x="810247" y="2035014"/>
            <a:ext cx="10749150" cy="277771"/>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redondeado 8">
            <a:extLst>
              <a:ext uri="{FF2B5EF4-FFF2-40B4-BE49-F238E27FC236}">
                <a16:creationId xmlns:a16="http://schemas.microsoft.com/office/drawing/2014/main" id="{F5AFB104-8FBB-5730-AB31-E709EDA70EFD}"/>
              </a:ext>
            </a:extLst>
          </p:cNvPr>
          <p:cNvSpPr/>
          <p:nvPr/>
        </p:nvSpPr>
        <p:spPr>
          <a:xfrm>
            <a:off x="3829148" y="2422408"/>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Tree>
    <p:extLst>
      <p:ext uri="{BB962C8B-B14F-4D97-AF65-F5344CB8AC3E}">
        <p14:creationId xmlns:p14="http://schemas.microsoft.com/office/powerpoint/2010/main" val="21077626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D489-D411-281E-85CA-24ADE43264F0}"/>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45CB3D5C-1F4E-43FA-00B3-7705C83F3C10}"/>
              </a:ext>
            </a:extLst>
          </p:cNvPr>
          <p:cNvSpPr>
            <a:spLocks noGrp="1"/>
          </p:cNvSpPr>
          <p:nvPr>
            <p:ph type="body" orient="vert" sz="quarter" idx="10"/>
          </p:nvPr>
        </p:nvSpPr>
        <p:spPr/>
        <p:txBody>
          <a:bodyPr/>
          <a:lstStyle/>
          <a:p>
            <a:r>
              <a:rPr lang="es-MX" sz="1200" dirty="0"/>
              <a:t>Configuración de Autoservicio</a:t>
            </a:r>
            <a:endParaRPr lang="en-US" dirty="0"/>
          </a:p>
        </p:txBody>
      </p:sp>
      <p:sp>
        <p:nvSpPr>
          <p:cNvPr id="16" name="Title 15">
            <a:extLst>
              <a:ext uri="{FF2B5EF4-FFF2-40B4-BE49-F238E27FC236}">
                <a16:creationId xmlns:a16="http://schemas.microsoft.com/office/drawing/2014/main" id="{EA22966F-8472-B7A7-2DDE-81E2B4134717}"/>
              </a:ext>
            </a:extLst>
          </p:cNvPr>
          <p:cNvSpPr>
            <a:spLocks noGrp="1"/>
          </p:cNvSpPr>
          <p:nvPr>
            <p:ph type="title"/>
          </p:nvPr>
        </p:nvSpPr>
        <p:spPr/>
        <p:txBody>
          <a:bodyPr/>
          <a:lstStyle/>
          <a:p>
            <a:r>
              <a:rPr lang="es-MX" dirty="0"/>
              <a:t>GTVSDAX </a:t>
            </a:r>
            <a:br>
              <a:rPr lang="es-MX" b="0" dirty="0"/>
            </a:br>
            <a:r>
              <a:rPr lang="es-MX" b="0" dirty="0"/>
              <a:t>Validación de transposición</a:t>
            </a:r>
            <a:endParaRPr lang="en-US" sz="3200" b="1" dirty="0">
              <a:solidFill>
                <a:schemeClr val="bg1"/>
              </a:solidFill>
            </a:endParaRPr>
          </a:p>
        </p:txBody>
      </p:sp>
      <p:sp>
        <p:nvSpPr>
          <p:cNvPr id="17" name="Text Placeholder 16">
            <a:extLst>
              <a:ext uri="{FF2B5EF4-FFF2-40B4-BE49-F238E27FC236}">
                <a16:creationId xmlns:a16="http://schemas.microsoft.com/office/drawing/2014/main" id="{3EC704EA-1DAB-433B-D50E-2B8AAE07D399}"/>
              </a:ext>
            </a:extLst>
          </p:cNvPr>
          <p:cNvSpPr>
            <a:spLocks noGrp="1"/>
          </p:cNvSpPr>
          <p:nvPr>
            <p:ph type="body" sz="quarter" idx="18"/>
          </p:nvPr>
        </p:nvSpPr>
        <p:spPr/>
        <p:txBody>
          <a:bodyPr/>
          <a:lstStyle/>
          <a:p>
            <a:endParaRPr lang="en-US" dirty="0"/>
          </a:p>
        </p:txBody>
      </p:sp>
      <p:sp>
        <p:nvSpPr>
          <p:cNvPr id="18" name="Slide Number Placeholder 17">
            <a:extLst>
              <a:ext uri="{FF2B5EF4-FFF2-40B4-BE49-F238E27FC236}">
                <a16:creationId xmlns:a16="http://schemas.microsoft.com/office/drawing/2014/main" id="{64ECC06D-FBD9-DFEB-6B8C-A4335D33C289}"/>
              </a:ext>
            </a:extLst>
          </p:cNvPr>
          <p:cNvSpPr>
            <a:spLocks noGrp="1"/>
          </p:cNvSpPr>
          <p:nvPr>
            <p:ph type="sldNum" sz="quarter" idx="4"/>
          </p:nvPr>
        </p:nvSpPr>
        <p:spPr/>
        <p:txBody>
          <a:bodyPr/>
          <a:lstStyle/>
          <a:p>
            <a:fld id="{4A16F8ED-7337-F64C-865A-41A1F48E54DF}" type="slidenum">
              <a:rPr lang="en-US" smtClean="0"/>
              <a:pPr/>
              <a:t>44</a:t>
            </a:fld>
            <a:endParaRPr lang="en-US" dirty="0"/>
          </a:p>
        </p:txBody>
      </p:sp>
    </p:spTree>
    <p:extLst>
      <p:ext uri="{BB962C8B-B14F-4D97-AF65-F5344CB8AC3E}">
        <p14:creationId xmlns:p14="http://schemas.microsoft.com/office/powerpoint/2010/main" val="112203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C0833947-D19E-B37C-084A-D19F97A939D0}"/>
              </a:ext>
            </a:extLst>
          </p:cNvPr>
          <p:cNvPicPr>
            <a:picLocks noChangeAspect="1"/>
          </p:cNvPicPr>
          <p:nvPr/>
        </p:nvPicPr>
        <p:blipFill>
          <a:blip r:embed="rId2"/>
          <a:stretch>
            <a:fillRect/>
          </a:stretch>
        </p:blipFill>
        <p:spPr>
          <a:xfrm>
            <a:off x="882650" y="1337093"/>
            <a:ext cx="10526870" cy="4969955"/>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45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GTVSDAX </a:t>
            </a:r>
            <a:br>
              <a:rPr lang="es-MX" b="0" dirty="0">
                <a:solidFill>
                  <a:schemeClr val="accent1"/>
                </a:solidFill>
              </a:rPr>
            </a:br>
            <a:r>
              <a:rPr lang="es-MX" b="0" dirty="0">
                <a:solidFill>
                  <a:schemeClr val="accent1"/>
                </a:solidFill>
              </a:rPr>
              <a:t>Validación de transposición</a:t>
            </a:r>
            <a:endParaRPr lang="es-CL" b="0" dirty="0">
              <a:solidFill>
                <a:schemeClr val="accent1"/>
              </a:solidFill>
            </a:endParaRPr>
          </a:p>
        </p:txBody>
      </p:sp>
      <p:sp>
        <p:nvSpPr>
          <p:cNvPr id="7" name="Rectángulo redondeado 5">
            <a:extLst>
              <a:ext uri="{FF2B5EF4-FFF2-40B4-BE49-F238E27FC236}">
                <a16:creationId xmlns:a16="http://schemas.microsoft.com/office/drawing/2014/main" id="{5BA85B32-F5E0-8510-A25A-3558A8A6E340}"/>
              </a:ext>
            </a:extLst>
          </p:cNvPr>
          <p:cNvSpPr/>
          <p:nvPr/>
        </p:nvSpPr>
        <p:spPr>
          <a:xfrm>
            <a:off x="4339831" y="2828261"/>
            <a:ext cx="6969519" cy="229891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L" sz="1400" dirty="0"/>
              <a:t>El código REGADVISEE de GTVSDAX determina si los estudiantes deben tener un registro de inscripción para aparecer en la lista de asesorados.</a:t>
            </a:r>
          </a:p>
          <a:p>
            <a:pPr algn="ctr"/>
            <a:endParaRPr lang="es-CL" sz="1400" dirty="0"/>
          </a:p>
          <a:p>
            <a:pPr marL="171450" indent="-171450">
              <a:buFont typeface="Arial" panose="020B0604020202020204" pitchFamily="34" charset="0"/>
              <a:buChar char="•"/>
            </a:pPr>
            <a:r>
              <a:rPr lang="es-CL" sz="1400" dirty="0"/>
              <a:t>N = Aparecen todos los asesorados asignados al asesor en SGAADVR.</a:t>
            </a:r>
          </a:p>
          <a:p>
            <a:pPr marL="171450" indent="-171450">
              <a:buFont typeface="Arial" panose="020B0604020202020204" pitchFamily="34" charset="0"/>
              <a:buChar char="•"/>
            </a:pPr>
            <a:r>
              <a:rPr lang="es-CL" sz="1400" dirty="0"/>
              <a:t>Y = Sólo aparecen los asesorados asignados que tienen inscripción.</a:t>
            </a:r>
          </a:p>
          <a:p>
            <a:pPr marL="171450" indent="-171450">
              <a:buFont typeface="Arial" panose="020B0604020202020204" pitchFamily="34" charset="0"/>
              <a:buChar char="•"/>
            </a:pPr>
            <a:endParaRPr lang="es-CL" sz="1400" dirty="0"/>
          </a:p>
          <a:p>
            <a:r>
              <a:rPr lang="es-CL" sz="1400" dirty="0"/>
              <a:t>Los demás códigos a configurar se detallan a continuación.</a:t>
            </a:r>
          </a:p>
        </p:txBody>
      </p:sp>
      <p:sp>
        <p:nvSpPr>
          <p:cNvPr id="9" name="Rectángulo 8">
            <a:extLst>
              <a:ext uri="{FF2B5EF4-FFF2-40B4-BE49-F238E27FC236}">
                <a16:creationId xmlns:a16="http://schemas.microsoft.com/office/drawing/2014/main" id="{281C0189-1F70-C45F-3C23-ADCC30AB64F7}"/>
              </a:ext>
            </a:extLst>
          </p:cNvPr>
          <p:cNvSpPr/>
          <p:nvPr/>
        </p:nvSpPr>
        <p:spPr>
          <a:xfrm>
            <a:off x="1243073" y="2472327"/>
            <a:ext cx="1508753" cy="20186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0356008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BC64C-7519-C038-6596-5D09C83BD86C}"/>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BFCF2875-2614-785C-D947-7FC4E615D13C}"/>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5386A549-CCE2-17A3-8FF8-AE851A4095FC}"/>
              </a:ext>
            </a:extLst>
          </p:cNvPr>
          <p:cNvSpPr>
            <a:spLocks noGrp="1"/>
          </p:cNvSpPr>
          <p:nvPr>
            <p:ph type="sldNum" sz="quarter" idx="4"/>
          </p:nvPr>
        </p:nvSpPr>
        <p:spPr/>
        <p:txBody>
          <a:bodyPr/>
          <a:lstStyle/>
          <a:p>
            <a:fld id="{4A16F8ED-7337-F64C-865A-41A1F48E54DF}" type="slidenum">
              <a:rPr lang="en-US" smtClean="0"/>
              <a:pPr/>
              <a:t>46</a:t>
            </a:fld>
            <a:endParaRPr lang="en-US" dirty="0"/>
          </a:p>
        </p:txBody>
      </p:sp>
      <p:sp>
        <p:nvSpPr>
          <p:cNvPr id="4" name="Título 3">
            <a:extLst>
              <a:ext uri="{FF2B5EF4-FFF2-40B4-BE49-F238E27FC236}">
                <a16:creationId xmlns:a16="http://schemas.microsoft.com/office/drawing/2014/main" id="{E82A637A-9B22-62A8-2770-BECD815B44AD}"/>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GTVSDAX </a:t>
            </a:r>
            <a:br>
              <a:rPr lang="es-MX" b="0" dirty="0">
                <a:solidFill>
                  <a:schemeClr val="accent1"/>
                </a:solidFill>
              </a:rPr>
            </a:br>
            <a:r>
              <a:rPr lang="es-MX" b="0" dirty="0">
                <a:solidFill>
                  <a:schemeClr val="accent1"/>
                </a:solidFill>
              </a:rPr>
              <a:t>Validación de transposición</a:t>
            </a:r>
            <a:endParaRPr lang="es-CL" b="0" dirty="0">
              <a:solidFill>
                <a:schemeClr val="accent1"/>
              </a:solidFill>
            </a:endParaRPr>
          </a:p>
        </p:txBody>
      </p:sp>
      <p:sp>
        <p:nvSpPr>
          <p:cNvPr id="7" name="Rectángulo redondeado 5">
            <a:extLst>
              <a:ext uri="{FF2B5EF4-FFF2-40B4-BE49-F238E27FC236}">
                <a16:creationId xmlns:a16="http://schemas.microsoft.com/office/drawing/2014/main" id="{47F7594A-E977-C228-D3BA-1042A0AA5E6F}"/>
              </a:ext>
            </a:extLst>
          </p:cNvPr>
          <p:cNvSpPr/>
          <p:nvPr/>
        </p:nvSpPr>
        <p:spPr>
          <a:xfrm>
            <a:off x="2501116" y="4352856"/>
            <a:ext cx="6890144" cy="125600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Configuración general requerida para el uso de SSB9. Comúnmente cargada por LD, sus distintos módulos corresponden a funcionalidades del Perfil del Estudiante (</a:t>
            </a:r>
            <a:r>
              <a:rPr lang="es-ES_tradnl" sz="1400" dirty="0" err="1"/>
              <a:t>Student</a:t>
            </a:r>
            <a:r>
              <a:rPr lang="es-ES_tradnl" sz="1400" dirty="0"/>
              <a:t> </a:t>
            </a:r>
            <a:r>
              <a:rPr lang="es-ES_tradnl" sz="1400" dirty="0" err="1"/>
              <a:t>Profile</a:t>
            </a:r>
            <a:r>
              <a:rPr lang="es-ES_tradnl" sz="1400" dirty="0"/>
              <a:t>)</a:t>
            </a:r>
          </a:p>
        </p:txBody>
      </p:sp>
      <p:graphicFrame>
        <p:nvGraphicFramePr>
          <p:cNvPr id="2" name="Tabla 1">
            <a:extLst>
              <a:ext uri="{FF2B5EF4-FFF2-40B4-BE49-F238E27FC236}">
                <a16:creationId xmlns:a16="http://schemas.microsoft.com/office/drawing/2014/main" id="{1BB1BDE6-36EA-76AD-1474-726F356C0CDE}"/>
              </a:ext>
            </a:extLst>
          </p:cNvPr>
          <p:cNvGraphicFramePr>
            <a:graphicFrameLocks noGrp="1"/>
          </p:cNvGraphicFramePr>
          <p:nvPr>
            <p:extLst>
              <p:ext uri="{D42A27DB-BD31-4B8C-83A1-F6EECF244321}">
                <p14:modId xmlns:p14="http://schemas.microsoft.com/office/powerpoint/2010/main" val="1011519029"/>
              </p:ext>
            </p:extLst>
          </p:nvPr>
        </p:nvGraphicFramePr>
        <p:xfrm>
          <a:off x="1143000" y="1809749"/>
          <a:ext cx="10096499" cy="2441779"/>
        </p:xfrm>
        <a:graphic>
          <a:graphicData uri="http://schemas.openxmlformats.org/drawingml/2006/table">
            <a:tbl>
              <a:tblPr>
                <a:tableStyleId>{125E5076-3810-47DD-B79F-674D7AD40C01}</a:tableStyleId>
              </a:tblPr>
              <a:tblGrid>
                <a:gridCol w="1579119">
                  <a:extLst>
                    <a:ext uri="{9D8B030D-6E8A-4147-A177-3AD203B41FA5}">
                      <a16:colId xmlns:a16="http://schemas.microsoft.com/office/drawing/2014/main" val="3169330322"/>
                    </a:ext>
                  </a:extLst>
                </a:gridCol>
                <a:gridCol w="1381730">
                  <a:extLst>
                    <a:ext uri="{9D8B030D-6E8A-4147-A177-3AD203B41FA5}">
                      <a16:colId xmlns:a16="http://schemas.microsoft.com/office/drawing/2014/main" val="3744091122"/>
                    </a:ext>
                  </a:extLst>
                </a:gridCol>
                <a:gridCol w="1620676">
                  <a:extLst>
                    <a:ext uri="{9D8B030D-6E8A-4147-A177-3AD203B41FA5}">
                      <a16:colId xmlns:a16="http://schemas.microsoft.com/office/drawing/2014/main" val="3154871645"/>
                    </a:ext>
                  </a:extLst>
                </a:gridCol>
                <a:gridCol w="5514974">
                  <a:extLst>
                    <a:ext uri="{9D8B030D-6E8A-4147-A177-3AD203B41FA5}">
                      <a16:colId xmlns:a16="http://schemas.microsoft.com/office/drawing/2014/main" val="3578884130"/>
                    </a:ext>
                  </a:extLst>
                </a:gridCol>
              </a:tblGrid>
              <a:tr h="511062">
                <a:tc>
                  <a:txBody>
                    <a:bodyPr/>
                    <a:lstStyle/>
                    <a:p>
                      <a:pPr algn="ctr" fontAlgn="ctr"/>
                      <a:r>
                        <a:rPr lang="es-CL" sz="1400" u="none" strike="noStrike" dirty="0">
                          <a:effectLst/>
                        </a:rPr>
                        <a:t>Grupo</a:t>
                      </a:r>
                      <a:endParaRPr lang="es-CL" sz="1400" b="0" i="0" u="none" strike="noStrike" dirty="0">
                        <a:solidFill>
                          <a:srgbClr val="FFFFFF"/>
                        </a:solidFill>
                        <a:effectLst/>
                        <a:latin typeface="Inter"/>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es-CL" sz="1400" u="none" strike="noStrike" dirty="0">
                          <a:effectLst/>
                        </a:rPr>
                        <a:t>Código</a:t>
                      </a:r>
                      <a:endParaRPr lang="es-CL" sz="1400" b="0" i="0" u="none" strike="noStrike" dirty="0">
                        <a:solidFill>
                          <a:srgbClr val="FFFFFF"/>
                        </a:solidFill>
                        <a:effectLst/>
                        <a:latin typeface="Inter"/>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es-CL" sz="1400" u="none" strike="noStrike" dirty="0">
                          <a:effectLst/>
                        </a:rPr>
                        <a:t>Código Externo</a:t>
                      </a:r>
                      <a:endParaRPr lang="es-CL" sz="1400" b="0" i="0" u="none" strike="noStrike" dirty="0">
                        <a:solidFill>
                          <a:srgbClr val="FFFFFF"/>
                        </a:solidFill>
                        <a:effectLst/>
                        <a:latin typeface="Inter"/>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r>
                        <a:rPr lang="es-CL" sz="1400" u="none" strike="noStrike" dirty="0">
                          <a:effectLst/>
                        </a:rPr>
                        <a:t>Comentario</a:t>
                      </a:r>
                      <a:endParaRPr lang="es-CL" sz="1400" b="0" i="0" u="none" strike="noStrike" dirty="0">
                        <a:solidFill>
                          <a:srgbClr val="FFFFFF"/>
                        </a:solidFill>
                        <a:effectLst/>
                        <a:latin typeface="Inter"/>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060863923"/>
                  </a:ext>
                </a:extLst>
              </a:tr>
              <a:tr h="268513">
                <a:tc>
                  <a:txBody>
                    <a:bodyPr/>
                    <a:lstStyle/>
                    <a:p>
                      <a:pPr marL="0" algn="ctr" defTabSz="457200" rtl="0" eaLnBrk="1" fontAlgn="ctr" latinLnBrk="0" hangingPunct="1"/>
                      <a:r>
                        <a:rPr lang="es-CL" sz="1400" b="0" i="0" u="none" strike="noStrike" kern="1200" dirty="0">
                          <a:solidFill>
                            <a:srgbClr val="340040"/>
                          </a:solidFill>
                          <a:effectLst/>
                          <a:latin typeface="Libre Franklin" pitchFamily="2" charset="0"/>
                          <a:ea typeface="+mn-ea"/>
                          <a:cs typeface="+mn-cs"/>
                        </a:rPr>
                        <a:t>FACWEB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s-CL" sz="1400" b="0" i="0" u="none" strike="noStrike" kern="1200" dirty="0">
                          <a:solidFill>
                            <a:srgbClr val="340040"/>
                          </a:solidFill>
                          <a:effectLst/>
                          <a:latin typeface="Libre Franklin" pitchFamily="2" charset="0"/>
                          <a:ea typeface="+mn-ea"/>
                          <a:cs typeface="+mn-cs"/>
                        </a:rPr>
                        <a:t>DISPALTPIN</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s-CL" sz="1400" b="0" i="0" u="none" strike="noStrike" kern="1200" dirty="0">
                          <a:solidFill>
                            <a:srgbClr val="340040"/>
                          </a:solidFill>
                          <a:effectLst/>
                          <a:latin typeface="Libre Franklin" pitchFamily="2" charset="0"/>
                          <a:ea typeface="+mn-ea"/>
                          <a:cs typeface="+mn-cs"/>
                        </a:rPr>
                        <a:t>N</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l" fontAlgn="b"/>
                      <a:r>
                        <a:rPr lang="es-ES" sz="1400" b="0" i="0" u="none" strike="noStrike" kern="1200" dirty="0">
                          <a:solidFill>
                            <a:srgbClr val="340040"/>
                          </a:solidFill>
                          <a:effectLst/>
                          <a:latin typeface="Libre Franklin" pitchFamily="2" charset="0"/>
                          <a:ea typeface="+mn-ea"/>
                          <a:cs typeface="+mn-cs"/>
                        </a:rPr>
                        <a:t> (Y/N) Desplegar el NIP Alterno para el Asesorado</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337631777"/>
                  </a:ext>
                </a:extLst>
              </a:tr>
              <a:tr h="268513">
                <a:tc>
                  <a:txBody>
                    <a:bodyPr/>
                    <a:lstStyle/>
                    <a:p>
                      <a:pPr marL="0" algn="ctr" defTabSz="457200" rtl="0" eaLnBrk="1" fontAlgn="ctr" latinLnBrk="0" hangingPunct="1"/>
                      <a:r>
                        <a:rPr lang="es-CL" sz="1400" b="0" i="0" u="none" strike="noStrike" kern="1200" dirty="0">
                          <a:solidFill>
                            <a:srgbClr val="340040"/>
                          </a:solidFill>
                          <a:effectLst/>
                          <a:latin typeface="Libre Franklin" pitchFamily="2" charset="0"/>
                          <a:ea typeface="+mn-ea"/>
                          <a:cs typeface="+mn-cs"/>
                        </a:rPr>
                        <a:t>FACWEB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s-CL" sz="1400" b="0" i="0" u="none" strike="noStrike" kern="1200" dirty="0">
                          <a:solidFill>
                            <a:srgbClr val="340040"/>
                          </a:solidFill>
                          <a:effectLst/>
                          <a:latin typeface="Libre Franklin" pitchFamily="2" charset="0"/>
                          <a:ea typeface="+mn-ea"/>
                          <a:cs typeface="+mn-cs"/>
                        </a:rPr>
                        <a:t>REGADVISEE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s-CL" sz="1400" b="0" i="0" u="none" strike="noStrike" kern="1200" dirty="0">
                          <a:solidFill>
                            <a:srgbClr val="340040"/>
                          </a:solidFill>
                          <a:effectLst/>
                          <a:latin typeface="Libre Franklin" pitchFamily="2" charset="0"/>
                          <a:ea typeface="+mn-ea"/>
                          <a:cs typeface="+mn-cs"/>
                        </a:rPr>
                        <a:t>N</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l" fontAlgn="b"/>
                      <a:r>
                        <a:rPr lang="es-ES" sz="1400" b="0" i="0" u="none" strike="noStrike" kern="1200" dirty="0">
                          <a:solidFill>
                            <a:srgbClr val="340040"/>
                          </a:solidFill>
                          <a:effectLst/>
                          <a:latin typeface="Libre Franklin" pitchFamily="2" charset="0"/>
                          <a:ea typeface="+mn-ea"/>
                          <a:cs typeface="+mn-cs"/>
                        </a:rPr>
                        <a:t> </a:t>
                      </a:r>
                      <a:r>
                        <a:rPr lang="es-CO" sz="1400" b="0" i="0" u="none" strike="noStrike" kern="1200" dirty="0">
                          <a:solidFill>
                            <a:srgbClr val="340040"/>
                          </a:solidFill>
                          <a:effectLst/>
                          <a:latin typeface="Libre Franklin" pitchFamily="2" charset="0"/>
                          <a:ea typeface="+mn-ea"/>
                          <a:cs typeface="+mn-cs"/>
                        </a:rPr>
                        <a:t>Introduzca «Y» en el campo Código externo si solo se deben mostrar los alumnos asignados al asesor que estén inscritos en clases para el periodo seleccionado, de lo contrario ingrese ‘N’</a:t>
                      </a:r>
                      <a:endParaRPr lang="es-ES" sz="1400" b="0" i="0" u="none" strike="noStrike" kern="1200" dirty="0">
                        <a:solidFill>
                          <a:srgbClr val="340040"/>
                        </a:solidFill>
                        <a:effectLst/>
                        <a:latin typeface="Libre Franklin" pitchFamily="2" charset="0"/>
                        <a:ea typeface="+mn-ea"/>
                        <a:cs typeface="+mn-cs"/>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81444745"/>
                  </a:ext>
                </a:extLst>
              </a:tr>
              <a:tr h="511062">
                <a:tc>
                  <a:txBody>
                    <a:bodyPr/>
                    <a:lstStyle/>
                    <a:p>
                      <a:pPr marL="0" algn="ctr" defTabSz="457200" rtl="0" eaLnBrk="1" fontAlgn="ctr" latinLnBrk="0" hangingPunct="1"/>
                      <a:r>
                        <a:rPr lang="es-CL" sz="1400" b="0" i="0" u="none" strike="noStrike" kern="1200" dirty="0">
                          <a:solidFill>
                            <a:srgbClr val="340040"/>
                          </a:solidFill>
                          <a:effectLst/>
                          <a:latin typeface="Libre Franklin" pitchFamily="2" charset="0"/>
                          <a:ea typeface="+mn-ea"/>
                          <a:cs typeface="+mn-cs"/>
                        </a:rPr>
                        <a:t>FACWEB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s-CL" sz="1400" b="0" i="0" u="none" strike="noStrike" kern="1200" dirty="0">
                          <a:solidFill>
                            <a:srgbClr val="340040"/>
                          </a:solidFill>
                          <a:effectLst/>
                          <a:latin typeface="Libre Franklin" pitchFamily="2" charset="0"/>
                          <a:ea typeface="+mn-ea"/>
                          <a:cs typeface="+mn-cs"/>
                        </a:rPr>
                        <a:t>WEBTRMDTE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s-CL" sz="1400" b="0" i="0" u="none" strike="noStrike" kern="1200" dirty="0">
                          <a:solidFill>
                            <a:srgbClr val="340040"/>
                          </a:solidFill>
                          <a:effectLst/>
                          <a:latin typeface="Libre Franklin" pitchFamily="2" charset="0"/>
                          <a:ea typeface="+mn-ea"/>
                          <a:cs typeface="+mn-cs"/>
                        </a:rPr>
                        <a:t>N</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l" fontAlgn="ctr"/>
                      <a:r>
                        <a:rPr lang="es-ES" sz="1400" b="0" i="0" u="none" strike="noStrike" dirty="0">
                          <a:solidFill>
                            <a:srgbClr val="000000"/>
                          </a:solidFill>
                          <a:effectLst/>
                          <a:latin typeface="Calibri" panose="020F0502020204030204" pitchFamily="34" charset="0"/>
                        </a:rPr>
                        <a:t> (Y/N) </a:t>
                      </a:r>
                      <a:r>
                        <a:rPr lang="es-ES" sz="1400" b="0" i="0" u="none" strike="noStrike" dirty="0">
                          <a:solidFill>
                            <a:srgbClr val="340040"/>
                          </a:solidFill>
                          <a:effectLst/>
                          <a:latin typeface="Libre Franklin" pitchFamily="2" charset="0"/>
                        </a:rPr>
                        <a:t>Despliega las fechas de inicio y término asociadas al periodo académico en el autoservicio del docente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01780694"/>
                  </a:ext>
                </a:extLst>
              </a:tr>
              <a:tr h="511062">
                <a:tc>
                  <a:txBody>
                    <a:bodyPr/>
                    <a:lstStyle/>
                    <a:p>
                      <a:pPr marL="0" algn="ctr" defTabSz="457200" rtl="0" eaLnBrk="1" fontAlgn="ctr" latinLnBrk="0" hangingPunct="1"/>
                      <a:r>
                        <a:rPr lang="es-CL" sz="1400" b="0" i="0" u="none" strike="noStrike" kern="1200" dirty="0">
                          <a:solidFill>
                            <a:srgbClr val="340040"/>
                          </a:solidFill>
                          <a:effectLst/>
                          <a:latin typeface="Libre Franklin" pitchFamily="2" charset="0"/>
                          <a:ea typeface="+mn-ea"/>
                          <a:cs typeface="+mn-cs"/>
                        </a:rPr>
                        <a:t>STUWEB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s-CL" sz="1400" b="0" i="0" u="none" strike="noStrike" kern="1200" dirty="0">
                          <a:solidFill>
                            <a:srgbClr val="340040"/>
                          </a:solidFill>
                          <a:effectLst/>
                          <a:latin typeface="Libre Franklin" pitchFamily="2" charset="0"/>
                          <a:ea typeface="+mn-ea"/>
                          <a:cs typeface="+mn-cs"/>
                        </a:rPr>
                        <a:t>WEBTRMDTE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s-CL" sz="1400" b="0" i="0" u="none" strike="noStrike" kern="1200" dirty="0">
                          <a:solidFill>
                            <a:srgbClr val="340040"/>
                          </a:solidFill>
                          <a:effectLst/>
                          <a:latin typeface="Libre Franklin" pitchFamily="2" charset="0"/>
                          <a:ea typeface="+mn-ea"/>
                          <a:cs typeface="+mn-cs"/>
                        </a:rPr>
                        <a:t>N</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s-ES" sz="1400" b="0" i="0" u="none" strike="noStrike" dirty="0">
                          <a:solidFill>
                            <a:srgbClr val="000000"/>
                          </a:solidFill>
                          <a:effectLst/>
                          <a:latin typeface="Calibri" panose="020F0502020204030204" pitchFamily="34" charset="0"/>
                        </a:rPr>
                        <a:t> (Y/N) </a:t>
                      </a:r>
                      <a:r>
                        <a:rPr lang="es-ES" sz="1400" b="0" i="0" u="none" strike="noStrike" dirty="0">
                          <a:solidFill>
                            <a:srgbClr val="340040"/>
                          </a:solidFill>
                          <a:effectLst/>
                          <a:latin typeface="Libre Franklin" pitchFamily="2" charset="0"/>
                        </a:rPr>
                        <a:t>Despliega las fechas de inicio y término asociadas al periodo académico en el autoservicio del estudiante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84716943"/>
                  </a:ext>
                </a:extLst>
              </a:tr>
            </a:tbl>
          </a:graphicData>
        </a:graphic>
      </p:graphicFrame>
    </p:spTree>
    <p:extLst>
      <p:ext uri="{BB962C8B-B14F-4D97-AF65-F5344CB8AC3E}">
        <p14:creationId xmlns:p14="http://schemas.microsoft.com/office/powerpoint/2010/main" val="25539915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607CAB0B-FBED-F3BC-8A8F-35FCFF05802D}"/>
              </a:ext>
            </a:extLst>
          </p:cNvPr>
          <p:cNvPicPr>
            <a:picLocks noChangeAspect="1"/>
          </p:cNvPicPr>
          <p:nvPr/>
        </p:nvPicPr>
        <p:blipFill>
          <a:blip r:embed="rId2"/>
          <a:stretch>
            <a:fillRect/>
          </a:stretch>
        </p:blipFill>
        <p:spPr>
          <a:xfrm>
            <a:off x="1204452" y="1199071"/>
            <a:ext cx="10559848" cy="463238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47</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GTVSDAX </a:t>
            </a:r>
            <a:br>
              <a:rPr lang="es-MX" b="0" dirty="0">
                <a:solidFill>
                  <a:schemeClr val="accent1"/>
                </a:solidFill>
              </a:rPr>
            </a:br>
            <a:r>
              <a:rPr lang="es-MX" b="0" dirty="0">
                <a:solidFill>
                  <a:schemeClr val="accent1"/>
                </a:solidFill>
              </a:rPr>
              <a:t>Validación de transposición - STUDENT PROFILE</a:t>
            </a:r>
            <a:endParaRPr lang="es-CL" b="0" dirty="0">
              <a:solidFill>
                <a:schemeClr val="accent1"/>
              </a:solidFill>
            </a:endParaRPr>
          </a:p>
        </p:txBody>
      </p:sp>
      <p:sp>
        <p:nvSpPr>
          <p:cNvPr id="7" name="Rectángulo redondeado 5">
            <a:extLst>
              <a:ext uri="{FF2B5EF4-FFF2-40B4-BE49-F238E27FC236}">
                <a16:creationId xmlns:a16="http://schemas.microsoft.com/office/drawing/2014/main" id="{5BA85B32-F5E0-8510-A25A-3558A8A6E340}"/>
              </a:ext>
            </a:extLst>
          </p:cNvPr>
          <p:cNvSpPr/>
          <p:nvPr/>
        </p:nvSpPr>
        <p:spPr>
          <a:xfrm>
            <a:off x="3552580" y="2616610"/>
            <a:ext cx="6969519" cy="201508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L" sz="1400" dirty="0"/>
              <a:t>Los periodos que se muestran en la lista son los que tienen el indicador “Control de periodo en web maestro” en SOATERM. </a:t>
            </a:r>
          </a:p>
          <a:p>
            <a:endParaRPr lang="es-CL" sz="1400" dirty="0"/>
          </a:p>
          <a:p>
            <a:r>
              <a:rPr lang="es-CL" sz="1400" dirty="0"/>
              <a:t>Por defecto, se muestra el mayor periodo. Se puede cambiar la lógica de cuál periodo se muestra por defecto en GORRSQL (Proceso STUDENT_PROFILE, Regla STUDENT_PROFILE_DEFAULT_TERM) pero requiere el apoyo de un usuario técnico para escribir la nueva regla en SQL.</a:t>
            </a:r>
          </a:p>
        </p:txBody>
      </p:sp>
      <p:sp>
        <p:nvSpPr>
          <p:cNvPr id="9" name="Rectángulo 8">
            <a:extLst>
              <a:ext uri="{FF2B5EF4-FFF2-40B4-BE49-F238E27FC236}">
                <a16:creationId xmlns:a16="http://schemas.microsoft.com/office/drawing/2014/main" id="{281C0189-1F70-C45F-3C23-ADCC30AB64F7}"/>
              </a:ext>
            </a:extLst>
          </p:cNvPr>
          <p:cNvSpPr/>
          <p:nvPr/>
        </p:nvSpPr>
        <p:spPr>
          <a:xfrm>
            <a:off x="2570036" y="1672679"/>
            <a:ext cx="1777677" cy="363155"/>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2229983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D489-D411-281E-85CA-24ADE43264F0}"/>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45CB3D5C-1F4E-43FA-00B3-7705C83F3C10}"/>
              </a:ext>
            </a:extLst>
          </p:cNvPr>
          <p:cNvSpPr>
            <a:spLocks noGrp="1"/>
          </p:cNvSpPr>
          <p:nvPr>
            <p:ph type="body" orient="vert" sz="quarter" idx="10"/>
          </p:nvPr>
        </p:nvSpPr>
        <p:spPr/>
        <p:txBody>
          <a:bodyPr/>
          <a:lstStyle/>
          <a:p>
            <a:r>
              <a:rPr lang="es-MX" sz="1200" dirty="0"/>
              <a:t>Configuración de Autoservicio</a:t>
            </a:r>
            <a:endParaRPr lang="en-US" dirty="0"/>
          </a:p>
        </p:txBody>
      </p:sp>
      <p:sp>
        <p:nvSpPr>
          <p:cNvPr id="16" name="Title 15">
            <a:extLst>
              <a:ext uri="{FF2B5EF4-FFF2-40B4-BE49-F238E27FC236}">
                <a16:creationId xmlns:a16="http://schemas.microsoft.com/office/drawing/2014/main" id="{EA22966F-8472-B7A7-2DDE-81E2B4134717}"/>
              </a:ext>
            </a:extLst>
          </p:cNvPr>
          <p:cNvSpPr>
            <a:spLocks noGrp="1"/>
          </p:cNvSpPr>
          <p:nvPr>
            <p:ph type="title"/>
          </p:nvPr>
        </p:nvSpPr>
        <p:spPr/>
        <p:txBody>
          <a:bodyPr/>
          <a:lstStyle/>
          <a:p>
            <a:r>
              <a:rPr lang="es-MX" dirty="0"/>
              <a:t>GUACONF </a:t>
            </a:r>
            <a:r>
              <a:rPr lang="es-MX" b="0" dirty="0"/>
              <a:t>Configuración de las aplicaciones de Ellucian Student</a:t>
            </a:r>
            <a:endParaRPr lang="en-US" sz="3200" b="1" dirty="0">
              <a:solidFill>
                <a:schemeClr val="bg1"/>
              </a:solidFill>
            </a:endParaRPr>
          </a:p>
        </p:txBody>
      </p:sp>
      <p:sp>
        <p:nvSpPr>
          <p:cNvPr id="18" name="Slide Number Placeholder 17">
            <a:extLst>
              <a:ext uri="{FF2B5EF4-FFF2-40B4-BE49-F238E27FC236}">
                <a16:creationId xmlns:a16="http://schemas.microsoft.com/office/drawing/2014/main" id="{64ECC06D-FBD9-DFEB-6B8C-A4335D33C289}"/>
              </a:ext>
            </a:extLst>
          </p:cNvPr>
          <p:cNvSpPr>
            <a:spLocks noGrp="1"/>
          </p:cNvSpPr>
          <p:nvPr>
            <p:ph type="sldNum" sz="quarter" idx="4"/>
          </p:nvPr>
        </p:nvSpPr>
        <p:spPr/>
        <p:txBody>
          <a:bodyPr/>
          <a:lstStyle/>
          <a:p>
            <a:fld id="{4A16F8ED-7337-F64C-865A-41A1F48E54DF}" type="slidenum">
              <a:rPr lang="en-US" smtClean="0"/>
              <a:pPr/>
              <a:t>48</a:t>
            </a:fld>
            <a:endParaRPr lang="en-US" dirty="0"/>
          </a:p>
        </p:txBody>
      </p:sp>
    </p:spTree>
    <p:extLst>
      <p:ext uri="{BB962C8B-B14F-4D97-AF65-F5344CB8AC3E}">
        <p14:creationId xmlns:p14="http://schemas.microsoft.com/office/powerpoint/2010/main" val="28620981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9FA1D042-73CC-C7AB-21B4-C87112378DEF}"/>
              </a:ext>
            </a:extLst>
          </p:cNvPr>
          <p:cNvPicPr>
            <a:picLocks noChangeAspect="1"/>
          </p:cNvPicPr>
          <p:nvPr/>
        </p:nvPicPr>
        <p:blipFill>
          <a:blip r:embed="rId2"/>
          <a:srcRect t="5981"/>
          <a:stretch>
            <a:fillRect/>
          </a:stretch>
        </p:blipFill>
        <p:spPr>
          <a:xfrm>
            <a:off x="947470" y="1634334"/>
            <a:ext cx="10134660" cy="4537865"/>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49</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GUACONF Configuración y Personalización de Información</a:t>
            </a:r>
            <a:endParaRPr lang="es-CL" b="0" dirty="0">
              <a:solidFill>
                <a:schemeClr val="accent1"/>
              </a:solidFill>
            </a:endParaRPr>
          </a:p>
        </p:txBody>
      </p:sp>
      <p:sp>
        <p:nvSpPr>
          <p:cNvPr id="7" name="Rectángulo redondeado 5">
            <a:extLst>
              <a:ext uri="{FF2B5EF4-FFF2-40B4-BE49-F238E27FC236}">
                <a16:creationId xmlns:a16="http://schemas.microsoft.com/office/drawing/2014/main" id="{5BA85B32-F5E0-8510-A25A-3558A8A6E340}"/>
              </a:ext>
            </a:extLst>
          </p:cNvPr>
          <p:cNvSpPr/>
          <p:nvPr/>
        </p:nvSpPr>
        <p:spPr>
          <a:xfrm>
            <a:off x="947470" y="2926080"/>
            <a:ext cx="2729381" cy="241397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lvl="1" algn="ctr"/>
            <a:r>
              <a:rPr lang="es-ES" sz="1400" dirty="0"/>
              <a:t>En GUACONF es posible definir aquellos roles que han de tener acceso a cierto campo de información del perfil del estudiante, así como la redirección de algunos link de accesos asociados a las funcionalidades de Ellucian Student.</a:t>
            </a:r>
            <a:endParaRPr lang="es-ES_tradnl" sz="1400" dirty="0"/>
          </a:p>
        </p:txBody>
      </p:sp>
      <p:sp>
        <p:nvSpPr>
          <p:cNvPr id="9" name="Rectángulo redondeado 5">
            <a:extLst>
              <a:ext uri="{FF2B5EF4-FFF2-40B4-BE49-F238E27FC236}">
                <a16:creationId xmlns:a16="http://schemas.microsoft.com/office/drawing/2014/main" id="{39D8BE72-2A02-9DCC-89DE-891458E416D8}"/>
              </a:ext>
            </a:extLst>
          </p:cNvPr>
          <p:cNvSpPr/>
          <p:nvPr/>
        </p:nvSpPr>
        <p:spPr>
          <a:xfrm>
            <a:off x="8742329" y="2926079"/>
            <a:ext cx="2502201" cy="241397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 sz="1400" dirty="0"/>
              <a:t>Particularmente para el caso de </a:t>
            </a:r>
            <a:r>
              <a:rPr lang="es-ES" sz="1400" dirty="0" err="1"/>
              <a:t>Student</a:t>
            </a:r>
            <a:r>
              <a:rPr lang="es-ES" sz="1400" dirty="0"/>
              <a:t> </a:t>
            </a:r>
            <a:r>
              <a:rPr lang="es-ES" sz="1400" dirty="0" err="1"/>
              <a:t>Profile</a:t>
            </a:r>
            <a:r>
              <a:rPr lang="es-ES" sz="1400" dirty="0"/>
              <a:t>, los ID de Aplicación relevantes son: SSS (</a:t>
            </a:r>
            <a:r>
              <a:rPr lang="es-ES" sz="1400" dirty="0" err="1"/>
              <a:t>StudentSelfService</a:t>
            </a:r>
            <a:r>
              <a:rPr lang="es-ES" sz="1400" dirty="0"/>
              <a:t>) y FACSS (</a:t>
            </a:r>
            <a:r>
              <a:rPr lang="es-ES" sz="1400" dirty="0" err="1"/>
              <a:t>FacultySelfService</a:t>
            </a:r>
            <a:r>
              <a:rPr lang="es-ES" sz="1400" dirty="0"/>
              <a:t>).</a:t>
            </a:r>
            <a:endParaRPr lang="es-ES_tradnl" sz="1400" dirty="0"/>
          </a:p>
        </p:txBody>
      </p:sp>
      <p:sp>
        <p:nvSpPr>
          <p:cNvPr id="10" name="Rectángulo 9">
            <a:extLst>
              <a:ext uri="{FF2B5EF4-FFF2-40B4-BE49-F238E27FC236}">
                <a16:creationId xmlns:a16="http://schemas.microsoft.com/office/drawing/2014/main" id="{3F0DF7CC-E41E-764B-B511-AE43916A5CA7}"/>
              </a:ext>
            </a:extLst>
          </p:cNvPr>
          <p:cNvSpPr/>
          <p:nvPr/>
        </p:nvSpPr>
        <p:spPr>
          <a:xfrm>
            <a:off x="4239646" y="2972439"/>
            <a:ext cx="2729381" cy="224734"/>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10">
            <a:extLst>
              <a:ext uri="{FF2B5EF4-FFF2-40B4-BE49-F238E27FC236}">
                <a16:creationId xmlns:a16="http://schemas.microsoft.com/office/drawing/2014/main" id="{FEEFD09D-38C0-674C-38F0-226C24667B6F}"/>
              </a:ext>
            </a:extLst>
          </p:cNvPr>
          <p:cNvSpPr/>
          <p:nvPr/>
        </p:nvSpPr>
        <p:spPr>
          <a:xfrm>
            <a:off x="4239645" y="4824827"/>
            <a:ext cx="2729381" cy="224734"/>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1662286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C4B7281-A203-5F5E-5CC0-C52DBB74A020}"/>
              </a:ext>
            </a:extLst>
          </p:cNvPr>
          <p:cNvPicPr>
            <a:picLocks noChangeAspect="1"/>
          </p:cNvPicPr>
          <p:nvPr/>
        </p:nvPicPr>
        <p:blipFill>
          <a:blip r:embed="rId2"/>
          <a:srcRect t="5138"/>
          <a:stretch>
            <a:fillRect/>
          </a:stretch>
        </p:blipFill>
        <p:spPr>
          <a:xfrm>
            <a:off x="707366" y="1492370"/>
            <a:ext cx="10739887" cy="4821685"/>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50</a:t>
            </a:fld>
            <a:endParaRPr lang="en-US" dirty="0"/>
          </a:p>
        </p:txBody>
      </p:sp>
      <p:sp>
        <p:nvSpPr>
          <p:cNvPr id="14" name="Título 3">
            <a:extLst>
              <a:ext uri="{FF2B5EF4-FFF2-40B4-BE49-F238E27FC236}">
                <a16:creationId xmlns:a16="http://schemas.microsoft.com/office/drawing/2014/main" id="{3BB3DB93-6862-179F-88AF-32814A5EA08C}"/>
              </a:ext>
            </a:extLst>
          </p:cNvPr>
          <p:cNvSpPr>
            <a:spLocks noGrp="1"/>
          </p:cNvSpPr>
          <p:nvPr>
            <p:ph type="title"/>
          </p:nvPr>
        </p:nvSpPr>
        <p:spPr>
          <a:xfrm>
            <a:off x="810247" y="327992"/>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GUACONF Configuración y Personalización de Información</a:t>
            </a:r>
            <a:endParaRPr lang="es-CL" b="0" dirty="0">
              <a:solidFill>
                <a:schemeClr val="accent1"/>
              </a:solidFill>
            </a:endParaRPr>
          </a:p>
        </p:txBody>
      </p:sp>
      <p:sp>
        <p:nvSpPr>
          <p:cNvPr id="7" name="Rectángulo redondeado 5">
            <a:extLst>
              <a:ext uri="{FF2B5EF4-FFF2-40B4-BE49-F238E27FC236}">
                <a16:creationId xmlns:a16="http://schemas.microsoft.com/office/drawing/2014/main" id="{5BA85B32-F5E0-8510-A25A-3558A8A6E340}"/>
              </a:ext>
            </a:extLst>
          </p:cNvPr>
          <p:cNvSpPr/>
          <p:nvPr/>
        </p:nvSpPr>
        <p:spPr>
          <a:xfrm>
            <a:off x="1982804" y="4114359"/>
            <a:ext cx="8935696" cy="205784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 sz="1400" dirty="0"/>
              <a:t>Para habilitar el redireccionamiento del botón “Ver Perfil” al </a:t>
            </a:r>
            <a:r>
              <a:rPr lang="es-ES" sz="1400" dirty="0" err="1"/>
              <a:t>Student</a:t>
            </a:r>
            <a:r>
              <a:rPr lang="es-ES" sz="1400" dirty="0"/>
              <a:t> </a:t>
            </a:r>
            <a:r>
              <a:rPr lang="es-ES" sz="1400" dirty="0" err="1"/>
              <a:t>Profile</a:t>
            </a:r>
            <a:r>
              <a:rPr lang="es-ES" sz="1400" dirty="0"/>
              <a:t> del estudiante, es necesario especificar las URL asociadas a los campos:</a:t>
            </a:r>
          </a:p>
          <a:p>
            <a:pPr algn="ctr"/>
            <a:r>
              <a:rPr lang="es-ES" sz="1400" dirty="0" err="1"/>
              <a:t>banner.url.mapper.studentSelfService</a:t>
            </a:r>
            <a:r>
              <a:rPr lang="es-ES" sz="1400" dirty="0"/>
              <a:t> </a:t>
            </a:r>
            <a:r>
              <a:rPr lang="es-ES_tradnl" sz="1400" dirty="0"/>
              <a:t>&gt;&gt;</a:t>
            </a:r>
            <a:r>
              <a:rPr lang="es-ES" sz="1400" dirty="0"/>
              <a:t>&gt; https://studentssb-test.</a:t>
            </a:r>
            <a:r>
              <a:rPr lang="es-ES_tradnl" sz="1400" dirty="0"/>
              <a:t> </a:t>
            </a:r>
            <a:r>
              <a:rPr lang="es-ES_tradnl" sz="1400" dirty="0" err="1"/>
              <a:t>usspesaas</a:t>
            </a:r>
            <a:r>
              <a:rPr lang="es-ES" sz="1400" dirty="0"/>
              <a:t>.elluciancloud.com:8100/StudentSelfService</a:t>
            </a:r>
          </a:p>
          <a:p>
            <a:pPr algn="ctr"/>
            <a:r>
              <a:rPr lang="es-ES_tradnl" sz="1400" dirty="0" err="1"/>
              <a:t>bannerXE.url.mapper.studentProfile</a:t>
            </a:r>
            <a:r>
              <a:rPr lang="es-ES_tradnl" sz="1400" dirty="0"/>
              <a:t> &gt;&gt;&gt; https://studentssb-test.usspesaas.elluciancloud.com:8100/StudentSelfService/ssb/studentProfile</a:t>
            </a:r>
            <a:br>
              <a:rPr lang="es-ES_tradnl" sz="1400" dirty="0"/>
            </a:br>
            <a:endParaRPr lang="es-ES_tradnl" sz="1400" dirty="0"/>
          </a:p>
          <a:p>
            <a:pPr algn="ctr"/>
            <a:r>
              <a:rPr lang="es-ES_tradnl" sz="1400" dirty="0"/>
              <a:t>Esto debe ser ajustado en cada ambiente que donde se encuentre instalado Ellucian Student.</a:t>
            </a:r>
          </a:p>
        </p:txBody>
      </p:sp>
    </p:spTree>
    <p:extLst>
      <p:ext uri="{BB962C8B-B14F-4D97-AF65-F5344CB8AC3E}">
        <p14:creationId xmlns:p14="http://schemas.microsoft.com/office/powerpoint/2010/main" val="4313554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1498BCD-145D-10F1-EC06-5345E5C947C2}"/>
              </a:ext>
            </a:extLst>
          </p:cNvPr>
          <p:cNvPicPr>
            <a:picLocks noChangeAspect="1"/>
          </p:cNvPicPr>
          <p:nvPr/>
        </p:nvPicPr>
        <p:blipFill>
          <a:blip r:embed="rId2"/>
          <a:srcRect t="5760"/>
          <a:stretch>
            <a:fillRect/>
          </a:stretch>
        </p:blipFill>
        <p:spPr>
          <a:xfrm>
            <a:off x="810246" y="1682151"/>
            <a:ext cx="10438599" cy="459313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51</a:t>
            </a:fld>
            <a:endParaRPr lang="en-US" dirty="0"/>
          </a:p>
        </p:txBody>
      </p:sp>
      <p:sp>
        <p:nvSpPr>
          <p:cNvPr id="9" name="Título 3">
            <a:extLst>
              <a:ext uri="{FF2B5EF4-FFF2-40B4-BE49-F238E27FC236}">
                <a16:creationId xmlns:a16="http://schemas.microsoft.com/office/drawing/2014/main" id="{4D4DF48A-03C4-4A09-95D0-EC181592FAE6}"/>
              </a:ext>
            </a:extLst>
          </p:cNvPr>
          <p:cNvSpPr>
            <a:spLocks noGrp="1"/>
          </p:cNvSpPr>
          <p:nvPr>
            <p:ph type="title"/>
          </p:nvPr>
        </p:nvSpPr>
        <p:spPr>
          <a:xfrm>
            <a:off x="810247" y="327992"/>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GUACONF Configuración y Personalización de Información</a:t>
            </a:r>
            <a:endParaRPr lang="es-CL" dirty="0">
              <a:solidFill>
                <a:schemeClr val="accent1"/>
              </a:solidFill>
            </a:endParaRPr>
          </a:p>
        </p:txBody>
      </p:sp>
      <p:sp>
        <p:nvSpPr>
          <p:cNvPr id="7" name="Rectángulo redondeado 5">
            <a:extLst>
              <a:ext uri="{FF2B5EF4-FFF2-40B4-BE49-F238E27FC236}">
                <a16:creationId xmlns:a16="http://schemas.microsoft.com/office/drawing/2014/main" id="{5BA85B32-F5E0-8510-A25A-3558A8A6E340}"/>
              </a:ext>
            </a:extLst>
          </p:cNvPr>
          <p:cNvSpPr/>
          <p:nvPr/>
        </p:nvSpPr>
        <p:spPr>
          <a:xfrm>
            <a:off x="3036152" y="3964393"/>
            <a:ext cx="6587867" cy="141416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lvl="1" indent="-285750">
              <a:buFont typeface="Arial" panose="020B0604020202020204" pitchFamily="34" charset="0"/>
              <a:buChar char="•"/>
            </a:pPr>
            <a:r>
              <a:rPr lang="es-ES_tradnl" sz="1400" dirty="0"/>
              <a:t>Permite a la institución configurar los campos que desea desplegar en autoservicio.</a:t>
            </a:r>
          </a:p>
          <a:p>
            <a:pPr marL="285750" lvl="1" indent="-285750">
              <a:buFont typeface="Arial" panose="020B0604020202020204" pitchFamily="34" charset="0"/>
              <a:buChar char="•"/>
            </a:pPr>
            <a:r>
              <a:rPr lang="es-ES_tradnl" sz="1400" dirty="0"/>
              <a:t>Campos asociados a </a:t>
            </a:r>
            <a:r>
              <a:rPr lang="es-ES_tradnl" sz="1400" dirty="0" err="1"/>
              <a:t>Student</a:t>
            </a:r>
            <a:r>
              <a:rPr lang="es-ES_tradnl" sz="1400" dirty="0"/>
              <a:t> </a:t>
            </a:r>
            <a:r>
              <a:rPr lang="es-ES_tradnl" sz="1400" dirty="0" err="1"/>
              <a:t>Profile</a:t>
            </a:r>
            <a:r>
              <a:rPr lang="es-ES_tradnl" sz="1400" dirty="0"/>
              <a:t>.</a:t>
            </a:r>
          </a:p>
        </p:txBody>
      </p:sp>
    </p:spTree>
    <p:extLst>
      <p:ext uri="{BB962C8B-B14F-4D97-AF65-F5344CB8AC3E}">
        <p14:creationId xmlns:p14="http://schemas.microsoft.com/office/powerpoint/2010/main" val="29586615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8756BC7-6330-B5F5-E761-03BAD9BC96AE}"/>
              </a:ext>
            </a:extLst>
          </p:cNvPr>
          <p:cNvPicPr>
            <a:picLocks noChangeAspect="1"/>
          </p:cNvPicPr>
          <p:nvPr/>
        </p:nvPicPr>
        <p:blipFill>
          <a:blip r:embed="rId2"/>
          <a:srcRect t="6045"/>
          <a:stretch>
            <a:fillRect/>
          </a:stretch>
        </p:blipFill>
        <p:spPr>
          <a:xfrm>
            <a:off x="698740" y="1397479"/>
            <a:ext cx="11033185" cy="493165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52</a:t>
            </a:fld>
            <a:endParaRPr lang="en-US" dirty="0"/>
          </a:p>
        </p:txBody>
      </p:sp>
      <p:sp>
        <p:nvSpPr>
          <p:cNvPr id="12" name="Título 3">
            <a:extLst>
              <a:ext uri="{FF2B5EF4-FFF2-40B4-BE49-F238E27FC236}">
                <a16:creationId xmlns:a16="http://schemas.microsoft.com/office/drawing/2014/main" id="{4F023ABD-4B67-5C76-46BB-9B19485FDF05}"/>
              </a:ext>
            </a:extLst>
          </p:cNvPr>
          <p:cNvSpPr>
            <a:spLocks noGrp="1"/>
          </p:cNvSpPr>
          <p:nvPr>
            <p:ph type="title"/>
          </p:nvPr>
        </p:nvSpPr>
        <p:spPr>
          <a:xfrm>
            <a:off x="762121" y="223892"/>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GUACONF Configuración y Personalización de Información</a:t>
            </a:r>
            <a:endParaRPr lang="es-CL" b="0" dirty="0">
              <a:solidFill>
                <a:schemeClr val="accent1"/>
              </a:solidFill>
            </a:endParaRPr>
          </a:p>
        </p:txBody>
      </p:sp>
      <p:sp>
        <p:nvSpPr>
          <p:cNvPr id="7" name="Rectángulo redondeado 5">
            <a:extLst>
              <a:ext uri="{FF2B5EF4-FFF2-40B4-BE49-F238E27FC236}">
                <a16:creationId xmlns:a16="http://schemas.microsoft.com/office/drawing/2014/main" id="{5BA85B32-F5E0-8510-A25A-3558A8A6E340}"/>
              </a:ext>
            </a:extLst>
          </p:cNvPr>
          <p:cNvSpPr/>
          <p:nvPr/>
        </p:nvSpPr>
        <p:spPr>
          <a:xfrm>
            <a:off x="3624318" y="3066480"/>
            <a:ext cx="3447287" cy="167581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L" sz="1400" dirty="0"/>
              <a:t>Las configuraciones para los campos del perfil de estudiantes empiezan con “</a:t>
            </a:r>
            <a:r>
              <a:rPr lang="es-CL" sz="1400" dirty="0" err="1"/>
              <a:t>all</a:t>
            </a:r>
            <a:r>
              <a:rPr lang="es-CL" sz="1400" dirty="0"/>
              <a:t>” y después la sección donde se encuentra el campo, por ejemplo “</a:t>
            </a:r>
            <a:r>
              <a:rPr lang="es-CL" sz="1400" dirty="0" err="1"/>
              <a:t>bioinformation</a:t>
            </a:r>
            <a:r>
              <a:rPr lang="es-CL" sz="1400" dirty="0"/>
              <a:t>” para información biográfica.</a:t>
            </a:r>
          </a:p>
        </p:txBody>
      </p:sp>
      <p:sp>
        <p:nvSpPr>
          <p:cNvPr id="9" name="Rectángulo 8">
            <a:extLst>
              <a:ext uri="{FF2B5EF4-FFF2-40B4-BE49-F238E27FC236}">
                <a16:creationId xmlns:a16="http://schemas.microsoft.com/office/drawing/2014/main" id="{281C0189-1F70-C45F-3C23-ADCC30AB64F7}"/>
              </a:ext>
            </a:extLst>
          </p:cNvPr>
          <p:cNvSpPr/>
          <p:nvPr/>
        </p:nvSpPr>
        <p:spPr>
          <a:xfrm>
            <a:off x="698740" y="1654504"/>
            <a:ext cx="2476018" cy="264959"/>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redondeado 8">
            <a:extLst>
              <a:ext uri="{FF2B5EF4-FFF2-40B4-BE49-F238E27FC236}">
                <a16:creationId xmlns:a16="http://schemas.microsoft.com/office/drawing/2014/main" id="{207A976D-A10F-1922-E907-9CBB84FB9E78}"/>
              </a:ext>
            </a:extLst>
          </p:cNvPr>
          <p:cNvSpPr/>
          <p:nvPr/>
        </p:nvSpPr>
        <p:spPr>
          <a:xfrm>
            <a:off x="2905409" y="2217422"/>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3" name="Rectángulo 12">
            <a:extLst>
              <a:ext uri="{FF2B5EF4-FFF2-40B4-BE49-F238E27FC236}">
                <a16:creationId xmlns:a16="http://schemas.microsoft.com/office/drawing/2014/main" id="{A6E8C09A-FCEE-1E3A-9E68-8DD76D136EF7}"/>
              </a:ext>
            </a:extLst>
          </p:cNvPr>
          <p:cNvSpPr/>
          <p:nvPr/>
        </p:nvSpPr>
        <p:spPr>
          <a:xfrm>
            <a:off x="512361" y="2226138"/>
            <a:ext cx="2348749" cy="1992179"/>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Rectángulo 9">
            <a:extLst>
              <a:ext uri="{FF2B5EF4-FFF2-40B4-BE49-F238E27FC236}">
                <a16:creationId xmlns:a16="http://schemas.microsoft.com/office/drawing/2014/main" id="{28BD3070-D90A-BD16-6950-8BE1CF506554}"/>
              </a:ext>
            </a:extLst>
          </p:cNvPr>
          <p:cNvSpPr/>
          <p:nvPr/>
        </p:nvSpPr>
        <p:spPr>
          <a:xfrm>
            <a:off x="1729760" y="1940321"/>
            <a:ext cx="1175649" cy="264959"/>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redondeado 8">
            <a:extLst>
              <a:ext uri="{FF2B5EF4-FFF2-40B4-BE49-F238E27FC236}">
                <a16:creationId xmlns:a16="http://schemas.microsoft.com/office/drawing/2014/main" id="{2ECB4BFF-9189-AAD5-3241-354AE13291EE}"/>
              </a:ext>
            </a:extLst>
          </p:cNvPr>
          <p:cNvSpPr/>
          <p:nvPr/>
        </p:nvSpPr>
        <p:spPr>
          <a:xfrm>
            <a:off x="3263897" y="1641692"/>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5" name="Rectangle: Rounded Corners 5">
            <a:extLst>
              <a:ext uri="{FF2B5EF4-FFF2-40B4-BE49-F238E27FC236}">
                <a16:creationId xmlns:a16="http://schemas.microsoft.com/office/drawing/2014/main" id="{1838B125-3ABD-2CB1-00A2-8EB8C312B479}"/>
              </a:ext>
            </a:extLst>
          </p:cNvPr>
          <p:cNvSpPr/>
          <p:nvPr/>
        </p:nvSpPr>
        <p:spPr>
          <a:xfrm>
            <a:off x="3771885" y="1602493"/>
            <a:ext cx="2124885" cy="368980"/>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En ID de aplicación “SSS”.</a:t>
            </a:r>
          </a:p>
        </p:txBody>
      </p:sp>
      <p:sp>
        <p:nvSpPr>
          <p:cNvPr id="16" name="Rectangle: Rounded Corners 5">
            <a:extLst>
              <a:ext uri="{FF2B5EF4-FFF2-40B4-BE49-F238E27FC236}">
                <a16:creationId xmlns:a16="http://schemas.microsoft.com/office/drawing/2014/main" id="{D111B0E7-15A8-2D51-EFC0-AA23A2D96419}"/>
              </a:ext>
            </a:extLst>
          </p:cNvPr>
          <p:cNvSpPr/>
          <p:nvPr/>
        </p:nvSpPr>
        <p:spPr>
          <a:xfrm>
            <a:off x="3310129" y="2227184"/>
            <a:ext cx="6311893" cy="408031"/>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Pestaña “Configuración” se puede configurar la información que aparece en el perfil.</a:t>
            </a:r>
          </a:p>
        </p:txBody>
      </p:sp>
      <p:sp>
        <p:nvSpPr>
          <p:cNvPr id="17" name="Rectángulo redondeado 8">
            <a:extLst>
              <a:ext uri="{FF2B5EF4-FFF2-40B4-BE49-F238E27FC236}">
                <a16:creationId xmlns:a16="http://schemas.microsoft.com/office/drawing/2014/main" id="{FB9A1654-EF3B-87A5-2282-332B9E8EC573}"/>
              </a:ext>
            </a:extLst>
          </p:cNvPr>
          <p:cNvSpPr/>
          <p:nvPr/>
        </p:nvSpPr>
        <p:spPr>
          <a:xfrm>
            <a:off x="2971737" y="3488649"/>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Tree>
    <p:extLst>
      <p:ext uri="{BB962C8B-B14F-4D97-AF65-F5344CB8AC3E}">
        <p14:creationId xmlns:p14="http://schemas.microsoft.com/office/powerpoint/2010/main" val="17832873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ED7058D5-1D60-A8A3-177D-EF427AF76F0B}"/>
              </a:ext>
            </a:extLst>
          </p:cNvPr>
          <p:cNvPicPr>
            <a:picLocks noChangeAspect="1"/>
          </p:cNvPicPr>
          <p:nvPr/>
        </p:nvPicPr>
        <p:blipFill>
          <a:blip r:embed="rId2"/>
          <a:stretch>
            <a:fillRect/>
          </a:stretch>
        </p:blipFill>
        <p:spPr>
          <a:xfrm>
            <a:off x="1033188" y="1086996"/>
            <a:ext cx="10750163" cy="5110825"/>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53</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Perfil del Alumno</a:t>
            </a:r>
            <a:br>
              <a:rPr lang="es-MX" b="0" dirty="0">
                <a:solidFill>
                  <a:schemeClr val="accent1"/>
                </a:solidFill>
              </a:rPr>
            </a:br>
            <a:r>
              <a:rPr lang="es-MX" b="0" dirty="0">
                <a:solidFill>
                  <a:schemeClr val="accent1"/>
                </a:solidFill>
              </a:rPr>
              <a:t>Autoservicio</a:t>
            </a:r>
            <a:endParaRPr lang="es-CL" b="0" dirty="0">
              <a:solidFill>
                <a:schemeClr val="accent1"/>
              </a:solidFill>
            </a:endParaRPr>
          </a:p>
        </p:txBody>
      </p:sp>
      <p:sp>
        <p:nvSpPr>
          <p:cNvPr id="9" name="Rectángulo 8">
            <a:extLst>
              <a:ext uri="{FF2B5EF4-FFF2-40B4-BE49-F238E27FC236}">
                <a16:creationId xmlns:a16="http://schemas.microsoft.com/office/drawing/2014/main" id="{281C0189-1F70-C45F-3C23-ADCC30AB64F7}"/>
              </a:ext>
            </a:extLst>
          </p:cNvPr>
          <p:cNvSpPr/>
          <p:nvPr/>
        </p:nvSpPr>
        <p:spPr>
          <a:xfrm>
            <a:off x="10205049" y="1843282"/>
            <a:ext cx="977978" cy="187679"/>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redondeado 8">
            <a:extLst>
              <a:ext uri="{FF2B5EF4-FFF2-40B4-BE49-F238E27FC236}">
                <a16:creationId xmlns:a16="http://schemas.microsoft.com/office/drawing/2014/main" id="{207A976D-A10F-1922-E907-9CBB84FB9E78}"/>
              </a:ext>
            </a:extLst>
          </p:cNvPr>
          <p:cNvSpPr/>
          <p:nvPr/>
        </p:nvSpPr>
        <p:spPr>
          <a:xfrm>
            <a:off x="5858579" y="2247291"/>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3" name="Rectángulo 12">
            <a:extLst>
              <a:ext uri="{FF2B5EF4-FFF2-40B4-BE49-F238E27FC236}">
                <a16:creationId xmlns:a16="http://schemas.microsoft.com/office/drawing/2014/main" id="{A6E8C09A-FCEE-1E3A-9E68-8DD76D136EF7}"/>
              </a:ext>
            </a:extLst>
          </p:cNvPr>
          <p:cNvSpPr/>
          <p:nvPr/>
        </p:nvSpPr>
        <p:spPr>
          <a:xfrm>
            <a:off x="2788960" y="2030961"/>
            <a:ext cx="3006453" cy="977806"/>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Rectángulo 9">
            <a:extLst>
              <a:ext uri="{FF2B5EF4-FFF2-40B4-BE49-F238E27FC236}">
                <a16:creationId xmlns:a16="http://schemas.microsoft.com/office/drawing/2014/main" id="{28BD3070-D90A-BD16-6950-8BE1CF506554}"/>
              </a:ext>
            </a:extLst>
          </p:cNvPr>
          <p:cNvSpPr/>
          <p:nvPr/>
        </p:nvSpPr>
        <p:spPr>
          <a:xfrm>
            <a:off x="2771713" y="2985296"/>
            <a:ext cx="3447287" cy="977806"/>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redondeado 8">
            <a:extLst>
              <a:ext uri="{FF2B5EF4-FFF2-40B4-BE49-F238E27FC236}">
                <a16:creationId xmlns:a16="http://schemas.microsoft.com/office/drawing/2014/main" id="{2ECB4BFF-9189-AAD5-3241-354AE13291EE}"/>
              </a:ext>
            </a:extLst>
          </p:cNvPr>
          <p:cNvSpPr/>
          <p:nvPr/>
        </p:nvSpPr>
        <p:spPr>
          <a:xfrm>
            <a:off x="10392913" y="1530501"/>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5" name="Rectangle: Rounded Corners 5">
            <a:extLst>
              <a:ext uri="{FF2B5EF4-FFF2-40B4-BE49-F238E27FC236}">
                <a16:creationId xmlns:a16="http://schemas.microsoft.com/office/drawing/2014/main" id="{1838B125-3ABD-2CB1-00A2-8EB8C312B479}"/>
              </a:ext>
            </a:extLst>
          </p:cNvPr>
          <p:cNvSpPr/>
          <p:nvPr/>
        </p:nvSpPr>
        <p:spPr>
          <a:xfrm>
            <a:off x="9872387" y="2065971"/>
            <a:ext cx="1643301" cy="368980"/>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err="1"/>
              <a:t>Registrationnotices</a:t>
            </a:r>
            <a:endParaRPr lang="es-CL" sz="1200" dirty="0"/>
          </a:p>
        </p:txBody>
      </p:sp>
      <p:sp>
        <p:nvSpPr>
          <p:cNvPr id="17" name="Rectángulo redondeado 8">
            <a:extLst>
              <a:ext uri="{FF2B5EF4-FFF2-40B4-BE49-F238E27FC236}">
                <a16:creationId xmlns:a16="http://schemas.microsoft.com/office/drawing/2014/main" id="{FB9A1654-EF3B-87A5-2282-332B9E8EC573}"/>
              </a:ext>
            </a:extLst>
          </p:cNvPr>
          <p:cNvSpPr/>
          <p:nvPr/>
        </p:nvSpPr>
        <p:spPr>
          <a:xfrm>
            <a:off x="6335259" y="3478780"/>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6" name="Rectangle: Rounded Corners 5">
            <a:extLst>
              <a:ext uri="{FF2B5EF4-FFF2-40B4-BE49-F238E27FC236}">
                <a16:creationId xmlns:a16="http://schemas.microsoft.com/office/drawing/2014/main" id="{5345BF6C-B103-94C7-516F-970EC1E91268}"/>
              </a:ext>
            </a:extLst>
          </p:cNvPr>
          <p:cNvSpPr/>
          <p:nvPr/>
        </p:nvSpPr>
        <p:spPr>
          <a:xfrm>
            <a:off x="5847223" y="2578810"/>
            <a:ext cx="1213564" cy="368980"/>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err="1"/>
              <a:t>bioinformation</a:t>
            </a:r>
            <a:endParaRPr lang="es-CL" sz="1200" dirty="0"/>
          </a:p>
        </p:txBody>
      </p:sp>
      <p:sp>
        <p:nvSpPr>
          <p:cNvPr id="12" name="Rectangle: Rounded Corners 5">
            <a:extLst>
              <a:ext uri="{FF2B5EF4-FFF2-40B4-BE49-F238E27FC236}">
                <a16:creationId xmlns:a16="http://schemas.microsoft.com/office/drawing/2014/main" id="{11317BA1-E9C5-D29B-C9C9-2C6104D69A5E}"/>
              </a:ext>
            </a:extLst>
          </p:cNvPr>
          <p:cNvSpPr/>
          <p:nvPr/>
        </p:nvSpPr>
        <p:spPr>
          <a:xfrm>
            <a:off x="6919967" y="3504040"/>
            <a:ext cx="1607737" cy="276735"/>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err="1"/>
              <a:t>generalinformation</a:t>
            </a:r>
            <a:endParaRPr lang="es-CL" sz="1200" dirty="0"/>
          </a:p>
        </p:txBody>
      </p:sp>
      <p:sp>
        <p:nvSpPr>
          <p:cNvPr id="20" name="Rectángulo 19">
            <a:extLst>
              <a:ext uri="{FF2B5EF4-FFF2-40B4-BE49-F238E27FC236}">
                <a16:creationId xmlns:a16="http://schemas.microsoft.com/office/drawing/2014/main" id="{D148823C-B389-7FEF-36AC-4FDB47315269}"/>
              </a:ext>
            </a:extLst>
          </p:cNvPr>
          <p:cNvSpPr/>
          <p:nvPr/>
        </p:nvSpPr>
        <p:spPr>
          <a:xfrm>
            <a:off x="2771711" y="4252825"/>
            <a:ext cx="3447287" cy="277771"/>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1" name="Rectángulo 20">
            <a:extLst>
              <a:ext uri="{FF2B5EF4-FFF2-40B4-BE49-F238E27FC236}">
                <a16:creationId xmlns:a16="http://schemas.microsoft.com/office/drawing/2014/main" id="{BEEDC41A-CDC5-EF75-7EE9-AAD9F9C9D1A8}"/>
              </a:ext>
            </a:extLst>
          </p:cNvPr>
          <p:cNvSpPr/>
          <p:nvPr/>
        </p:nvSpPr>
        <p:spPr>
          <a:xfrm>
            <a:off x="2771712" y="3969641"/>
            <a:ext cx="3447287" cy="276736"/>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redondeado 8">
            <a:extLst>
              <a:ext uri="{FF2B5EF4-FFF2-40B4-BE49-F238E27FC236}">
                <a16:creationId xmlns:a16="http://schemas.microsoft.com/office/drawing/2014/main" id="{6F47305B-0344-51E2-1C52-A2FE635E6058}"/>
              </a:ext>
            </a:extLst>
          </p:cNvPr>
          <p:cNvSpPr/>
          <p:nvPr/>
        </p:nvSpPr>
        <p:spPr>
          <a:xfrm>
            <a:off x="6300812" y="4001380"/>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
        <p:nvSpPr>
          <p:cNvPr id="23" name="Rectangle: Rounded Corners 5">
            <a:extLst>
              <a:ext uri="{FF2B5EF4-FFF2-40B4-BE49-F238E27FC236}">
                <a16:creationId xmlns:a16="http://schemas.microsoft.com/office/drawing/2014/main" id="{42F6F2BE-CD31-C9F0-AD91-8DA47FFA10E3}"/>
              </a:ext>
            </a:extLst>
          </p:cNvPr>
          <p:cNvSpPr/>
          <p:nvPr/>
        </p:nvSpPr>
        <p:spPr>
          <a:xfrm>
            <a:off x="6919967" y="3987065"/>
            <a:ext cx="1718218" cy="276735"/>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err="1"/>
              <a:t>graduationinformation</a:t>
            </a:r>
            <a:endParaRPr lang="es-CL" sz="1200" dirty="0"/>
          </a:p>
        </p:txBody>
      </p:sp>
      <p:sp>
        <p:nvSpPr>
          <p:cNvPr id="24" name="Rectángulo redondeado 8">
            <a:extLst>
              <a:ext uri="{FF2B5EF4-FFF2-40B4-BE49-F238E27FC236}">
                <a16:creationId xmlns:a16="http://schemas.microsoft.com/office/drawing/2014/main" id="{93A9E112-946B-E0C9-7676-0E9184DEBDED}"/>
              </a:ext>
            </a:extLst>
          </p:cNvPr>
          <p:cNvSpPr/>
          <p:nvPr/>
        </p:nvSpPr>
        <p:spPr>
          <a:xfrm>
            <a:off x="4315143" y="4594168"/>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5</a:t>
            </a:r>
          </a:p>
        </p:txBody>
      </p:sp>
      <p:sp>
        <p:nvSpPr>
          <p:cNvPr id="25" name="Rectangle: Rounded Corners 5">
            <a:extLst>
              <a:ext uri="{FF2B5EF4-FFF2-40B4-BE49-F238E27FC236}">
                <a16:creationId xmlns:a16="http://schemas.microsoft.com/office/drawing/2014/main" id="{C8E6EF35-73D5-5508-42B5-E519ED953CCC}"/>
              </a:ext>
            </a:extLst>
          </p:cNvPr>
          <p:cNvSpPr/>
          <p:nvPr/>
        </p:nvSpPr>
        <p:spPr>
          <a:xfrm>
            <a:off x="3935228" y="4945363"/>
            <a:ext cx="1607737" cy="276735"/>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err="1"/>
              <a:t>advisor</a:t>
            </a:r>
            <a:endParaRPr lang="es-CL" sz="1200" dirty="0"/>
          </a:p>
        </p:txBody>
      </p:sp>
    </p:spTree>
    <p:extLst>
      <p:ext uri="{BB962C8B-B14F-4D97-AF65-F5344CB8AC3E}">
        <p14:creationId xmlns:p14="http://schemas.microsoft.com/office/powerpoint/2010/main" val="9305207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68416CA0-94EE-F929-3934-39374CEE80BD}"/>
              </a:ext>
            </a:extLst>
          </p:cNvPr>
          <p:cNvPicPr>
            <a:picLocks noChangeAspect="1"/>
          </p:cNvPicPr>
          <p:nvPr/>
        </p:nvPicPr>
        <p:blipFill>
          <a:blip r:embed="rId2"/>
          <a:stretch>
            <a:fillRect/>
          </a:stretch>
        </p:blipFill>
        <p:spPr>
          <a:xfrm>
            <a:off x="1033188" y="1086996"/>
            <a:ext cx="10750163" cy="5110825"/>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54</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Perfil del Alumno</a:t>
            </a:r>
            <a:br>
              <a:rPr lang="es-MX" b="0" dirty="0">
                <a:solidFill>
                  <a:schemeClr val="accent1"/>
                </a:solidFill>
              </a:rPr>
            </a:br>
            <a:r>
              <a:rPr lang="es-MX" b="0" dirty="0">
                <a:solidFill>
                  <a:schemeClr val="accent1"/>
                </a:solidFill>
              </a:rPr>
              <a:t>Autoservicio</a:t>
            </a:r>
            <a:endParaRPr lang="es-CL" b="0" dirty="0">
              <a:solidFill>
                <a:schemeClr val="accent1"/>
              </a:solidFill>
            </a:endParaRPr>
          </a:p>
        </p:txBody>
      </p:sp>
      <p:sp>
        <p:nvSpPr>
          <p:cNvPr id="9" name="Rectángulo 8">
            <a:extLst>
              <a:ext uri="{FF2B5EF4-FFF2-40B4-BE49-F238E27FC236}">
                <a16:creationId xmlns:a16="http://schemas.microsoft.com/office/drawing/2014/main" id="{281C0189-1F70-C45F-3C23-ADCC30AB64F7}"/>
              </a:ext>
            </a:extLst>
          </p:cNvPr>
          <p:cNvSpPr/>
          <p:nvPr/>
        </p:nvSpPr>
        <p:spPr>
          <a:xfrm>
            <a:off x="4209691" y="1811690"/>
            <a:ext cx="2748754" cy="189204"/>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redondeado 8">
            <a:extLst>
              <a:ext uri="{FF2B5EF4-FFF2-40B4-BE49-F238E27FC236}">
                <a16:creationId xmlns:a16="http://schemas.microsoft.com/office/drawing/2014/main" id="{207A976D-A10F-1922-E907-9CBB84FB9E78}"/>
              </a:ext>
            </a:extLst>
          </p:cNvPr>
          <p:cNvSpPr/>
          <p:nvPr/>
        </p:nvSpPr>
        <p:spPr>
          <a:xfrm>
            <a:off x="8046097" y="1400543"/>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7</a:t>
            </a:r>
          </a:p>
        </p:txBody>
      </p:sp>
      <p:sp>
        <p:nvSpPr>
          <p:cNvPr id="13" name="Rectángulo 12">
            <a:extLst>
              <a:ext uri="{FF2B5EF4-FFF2-40B4-BE49-F238E27FC236}">
                <a16:creationId xmlns:a16="http://schemas.microsoft.com/office/drawing/2014/main" id="{A6E8C09A-FCEE-1E3A-9E68-8DD76D136EF7}"/>
              </a:ext>
            </a:extLst>
          </p:cNvPr>
          <p:cNvSpPr/>
          <p:nvPr/>
        </p:nvSpPr>
        <p:spPr>
          <a:xfrm>
            <a:off x="7333171" y="1767026"/>
            <a:ext cx="1371016" cy="277771"/>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redondeado 8">
            <a:extLst>
              <a:ext uri="{FF2B5EF4-FFF2-40B4-BE49-F238E27FC236}">
                <a16:creationId xmlns:a16="http://schemas.microsoft.com/office/drawing/2014/main" id="{2ECB4BFF-9189-AAD5-3241-354AE13291EE}"/>
              </a:ext>
            </a:extLst>
          </p:cNvPr>
          <p:cNvSpPr/>
          <p:nvPr/>
        </p:nvSpPr>
        <p:spPr>
          <a:xfrm>
            <a:off x="4362128" y="1539429"/>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6</a:t>
            </a:r>
          </a:p>
        </p:txBody>
      </p:sp>
      <p:sp>
        <p:nvSpPr>
          <p:cNvPr id="15" name="Rectangle: Rounded Corners 5">
            <a:extLst>
              <a:ext uri="{FF2B5EF4-FFF2-40B4-BE49-F238E27FC236}">
                <a16:creationId xmlns:a16="http://schemas.microsoft.com/office/drawing/2014/main" id="{1838B125-3ABD-2CB1-00A2-8EB8C312B479}"/>
              </a:ext>
            </a:extLst>
          </p:cNvPr>
          <p:cNvSpPr/>
          <p:nvPr/>
        </p:nvSpPr>
        <p:spPr>
          <a:xfrm>
            <a:off x="4867207" y="1526490"/>
            <a:ext cx="1228793" cy="277772"/>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err="1"/>
              <a:t>informationbar</a:t>
            </a:r>
            <a:endParaRPr lang="es-CL" sz="1200" dirty="0"/>
          </a:p>
        </p:txBody>
      </p:sp>
      <p:sp>
        <p:nvSpPr>
          <p:cNvPr id="17" name="Rectángulo redondeado 8">
            <a:extLst>
              <a:ext uri="{FF2B5EF4-FFF2-40B4-BE49-F238E27FC236}">
                <a16:creationId xmlns:a16="http://schemas.microsoft.com/office/drawing/2014/main" id="{FB9A1654-EF3B-87A5-2282-332B9E8EC573}"/>
              </a:ext>
            </a:extLst>
          </p:cNvPr>
          <p:cNvSpPr/>
          <p:nvPr/>
        </p:nvSpPr>
        <p:spPr>
          <a:xfrm>
            <a:off x="9853036" y="4205553"/>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8</a:t>
            </a:r>
          </a:p>
        </p:txBody>
      </p:sp>
      <p:sp>
        <p:nvSpPr>
          <p:cNvPr id="6" name="Rectangle: Rounded Corners 5">
            <a:extLst>
              <a:ext uri="{FF2B5EF4-FFF2-40B4-BE49-F238E27FC236}">
                <a16:creationId xmlns:a16="http://schemas.microsoft.com/office/drawing/2014/main" id="{5345BF6C-B103-94C7-516F-970EC1E91268}"/>
              </a:ext>
            </a:extLst>
          </p:cNvPr>
          <p:cNvSpPr/>
          <p:nvPr/>
        </p:nvSpPr>
        <p:spPr>
          <a:xfrm>
            <a:off x="8704187" y="1457128"/>
            <a:ext cx="997426" cy="277773"/>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err="1"/>
              <a:t>curriculum</a:t>
            </a:r>
            <a:endParaRPr lang="es-CL" sz="1200" dirty="0"/>
          </a:p>
        </p:txBody>
      </p:sp>
      <p:sp>
        <p:nvSpPr>
          <p:cNvPr id="12" name="Rectangle: Rounded Corners 5">
            <a:extLst>
              <a:ext uri="{FF2B5EF4-FFF2-40B4-BE49-F238E27FC236}">
                <a16:creationId xmlns:a16="http://schemas.microsoft.com/office/drawing/2014/main" id="{11317BA1-E9C5-D29B-C9C9-2C6104D69A5E}"/>
              </a:ext>
            </a:extLst>
          </p:cNvPr>
          <p:cNvSpPr/>
          <p:nvPr/>
        </p:nvSpPr>
        <p:spPr>
          <a:xfrm>
            <a:off x="9246166" y="4612625"/>
            <a:ext cx="1607737" cy="276735"/>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err="1"/>
              <a:t>registeredcourses</a:t>
            </a:r>
            <a:endParaRPr lang="es-CL" sz="1200" dirty="0"/>
          </a:p>
        </p:txBody>
      </p:sp>
      <p:sp>
        <p:nvSpPr>
          <p:cNvPr id="21" name="Rectángulo 20">
            <a:extLst>
              <a:ext uri="{FF2B5EF4-FFF2-40B4-BE49-F238E27FC236}">
                <a16:creationId xmlns:a16="http://schemas.microsoft.com/office/drawing/2014/main" id="{BEEDC41A-CDC5-EF75-7EE9-AAD9F9C9D1A8}"/>
              </a:ext>
            </a:extLst>
          </p:cNvPr>
          <p:cNvSpPr/>
          <p:nvPr/>
        </p:nvSpPr>
        <p:spPr>
          <a:xfrm>
            <a:off x="8907682" y="3967941"/>
            <a:ext cx="2251130" cy="215296"/>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Rectángulo 1">
            <a:extLst>
              <a:ext uri="{FF2B5EF4-FFF2-40B4-BE49-F238E27FC236}">
                <a16:creationId xmlns:a16="http://schemas.microsoft.com/office/drawing/2014/main" id="{3CE38B4A-1D73-1697-B0CF-4DCE5590C019}"/>
              </a:ext>
            </a:extLst>
          </p:cNvPr>
          <p:cNvSpPr/>
          <p:nvPr/>
        </p:nvSpPr>
        <p:spPr>
          <a:xfrm>
            <a:off x="6409426" y="2265473"/>
            <a:ext cx="5373925" cy="1279983"/>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ángulo 6">
            <a:extLst>
              <a:ext uri="{FF2B5EF4-FFF2-40B4-BE49-F238E27FC236}">
                <a16:creationId xmlns:a16="http://schemas.microsoft.com/office/drawing/2014/main" id="{698FD1F3-B3B1-7D99-6C2B-27399892803E}"/>
              </a:ext>
            </a:extLst>
          </p:cNvPr>
          <p:cNvSpPr/>
          <p:nvPr/>
        </p:nvSpPr>
        <p:spPr>
          <a:xfrm>
            <a:off x="11158812" y="1765916"/>
            <a:ext cx="624539" cy="303533"/>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6" name="Conector recto de flecha 15">
            <a:extLst>
              <a:ext uri="{FF2B5EF4-FFF2-40B4-BE49-F238E27FC236}">
                <a16:creationId xmlns:a16="http://schemas.microsoft.com/office/drawing/2014/main" id="{63DDD291-1D68-7669-F710-74F95B2CD175}"/>
              </a:ext>
            </a:extLst>
          </p:cNvPr>
          <p:cNvCxnSpPr>
            <a:cxnSpLocks/>
            <a:stCxn id="6" idx="1"/>
            <a:endCxn id="13" idx="0"/>
          </p:cNvCxnSpPr>
          <p:nvPr/>
        </p:nvCxnSpPr>
        <p:spPr>
          <a:xfrm flipH="1">
            <a:off x="8018679" y="1596015"/>
            <a:ext cx="685508" cy="1710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96E04E80-6B85-8E2A-2237-7CC30CAD2B64}"/>
              </a:ext>
            </a:extLst>
          </p:cNvPr>
          <p:cNvCxnSpPr>
            <a:cxnSpLocks/>
            <a:stCxn id="6" idx="2"/>
            <a:endCxn id="2" idx="0"/>
          </p:cNvCxnSpPr>
          <p:nvPr/>
        </p:nvCxnSpPr>
        <p:spPr>
          <a:xfrm flipH="1">
            <a:off x="9096389" y="1734901"/>
            <a:ext cx="106511" cy="530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23CB348D-B679-9044-B78A-0FFFA05BABBF}"/>
              </a:ext>
            </a:extLst>
          </p:cNvPr>
          <p:cNvCxnSpPr>
            <a:cxnSpLocks/>
            <a:stCxn id="6" idx="3"/>
            <a:endCxn id="7" idx="1"/>
          </p:cNvCxnSpPr>
          <p:nvPr/>
        </p:nvCxnSpPr>
        <p:spPr>
          <a:xfrm>
            <a:off x="9701613" y="1596015"/>
            <a:ext cx="1457199" cy="321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41200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F388C64F-77C8-0A74-EE88-B0C4BB5DF883}"/>
              </a:ext>
            </a:extLst>
          </p:cNvPr>
          <p:cNvPicPr>
            <a:picLocks noChangeAspect="1"/>
          </p:cNvPicPr>
          <p:nvPr/>
        </p:nvPicPr>
        <p:blipFill>
          <a:blip r:embed="rId2"/>
          <a:stretch>
            <a:fillRect/>
          </a:stretch>
        </p:blipFill>
        <p:spPr>
          <a:xfrm>
            <a:off x="678057" y="1276709"/>
            <a:ext cx="10432331" cy="517797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Perfil del Alumno</a:t>
            </a:r>
            <a:br>
              <a:rPr lang="es-MX" b="0" dirty="0">
                <a:solidFill>
                  <a:schemeClr val="accent1"/>
                </a:solidFill>
              </a:rPr>
            </a:br>
            <a:r>
              <a:rPr lang="es-MX" b="0" dirty="0">
                <a:solidFill>
                  <a:schemeClr val="accent1"/>
                </a:solidFill>
              </a:rPr>
              <a:t>Autoservicio</a:t>
            </a:r>
            <a:endParaRPr lang="es-CL" b="0" dirty="0">
              <a:solidFill>
                <a:schemeClr val="accent1"/>
              </a:solidFill>
            </a:endParaRPr>
          </a:p>
        </p:txBody>
      </p:sp>
      <p:sp>
        <p:nvSpPr>
          <p:cNvPr id="11" name="Rectángulo redondeado 8">
            <a:extLst>
              <a:ext uri="{FF2B5EF4-FFF2-40B4-BE49-F238E27FC236}">
                <a16:creationId xmlns:a16="http://schemas.microsoft.com/office/drawing/2014/main" id="{207A976D-A10F-1922-E907-9CBB84FB9E78}"/>
              </a:ext>
            </a:extLst>
          </p:cNvPr>
          <p:cNvSpPr/>
          <p:nvPr/>
        </p:nvSpPr>
        <p:spPr>
          <a:xfrm>
            <a:off x="5533801" y="2438252"/>
            <a:ext cx="360421"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9</a:t>
            </a:r>
          </a:p>
        </p:txBody>
      </p:sp>
      <p:sp>
        <p:nvSpPr>
          <p:cNvPr id="13" name="Rectángulo 12">
            <a:extLst>
              <a:ext uri="{FF2B5EF4-FFF2-40B4-BE49-F238E27FC236}">
                <a16:creationId xmlns:a16="http://schemas.microsoft.com/office/drawing/2014/main" id="{A6E8C09A-FCEE-1E3A-9E68-8DD76D136EF7}"/>
              </a:ext>
            </a:extLst>
          </p:cNvPr>
          <p:cNvSpPr/>
          <p:nvPr/>
        </p:nvSpPr>
        <p:spPr>
          <a:xfrm>
            <a:off x="5864506" y="2407761"/>
            <a:ext cx="5245882" cy="338754"/>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redondeado 8">
            <a:extLst>
              <a:ext uri="{FF2B5EF4-FFF2-40B4-BE49-F238E27FC236}">
                <a16:creationId xmlns:a16="http://schemas.microsoft.com/office/drawing/2014/main" id="{2ECB4BFF-9189-AAD5-3241-354AE13291EE}"/>
              </a:ext>
            </a:extLst>
          </p:cNvPr>
          <p:cNvSpPr/>
          <p:nvPr/>
        </p:nvSpPr>
        <p:spPr>
          <a:xfrm>
            <a:off x="5439647" y="2877209"/>
            <a:ext cx="397116"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10</a:t>
            </a:r>
          </a:p>
        </p:txBody>
      </p:sp>
      <p:sp>
        <p:nvSpPr>
          <p:cNvPr id="15" name="Rectangle: Rounded Corners 5">
            <a:extLst>
              <a:ext uri="{FF2B5EF4-FFF2-40B4-BE49-F238E27FC236}">
                <a16:creationId xmlns:a16="http://schemas.microsoft.com/office/drawing/2014/main" id="{1838B125-3ABD-2CB1-00A2-8EB8C312B479}"/>
              </a:ext>
            </a:extLst>
          </p:cNvPr>
          <p:cNvSpPr/>
          <p:nvPr/>
        </p:nvSpPr>
        <p:spPr>
          <a:xfrm>
            <a:off x="2093302" y="2459424"/>
            <a:ext cx="3441630" cy="320260"/>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err="1"/>
              <a:t>priorEducationAndTesting.secondaryEducation</a:t>
            </a:r>
            <a:endParaRPr lang="es-CL" sz="1200" dirty="0"/>
          </a:p>
        </p:txBody>
      </p:sp>
      <p:sp>
        <p:nvSpPr>
          <p:cNvPr id="12" name="Rectangle: Rounded Corners 5">
            <a:extLst>
              <a:ext uri="{FF2B5EF4-FFF2-40B4-BE49-F238E27FC236}">
                <a16:creationId xmlns:a16="http://schemas.microsoft.com/office/drawing/2014/main" id="{11317BA1-E9C5-D29B-C9C9-2C6104D69A5E}"/>
              </a:ext>
            </a:extLst>
          </p:cNvPr>
          <p:cNvSpPr/>
          <p:nvPr/>
        </p:nvSpPr>
        <p:spPr>
          <a:xfrm>
            <a:off x="7071312" y="3826250"/>
            <a:ext cx="3155303" cy="348465"/>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err="1"/>
              <a:t>priorEducationAndTesting.testScores</a:t>
            </a:r>
            <a:endParaRPr lang="es-CL" sz="1200" dirty="0"/>
          </a:p>
        </p:txBody>
      </p:sp>
      <p:sp>
        <p:nvSpPr>
          <p:cNvPr id="21" name="Rectángulo 20">
            <a:extLst>
              <a:ext uri="{FF2B5EF4-FFF2-40B4-BE49-F238E27FC236}">
                <a16:creationId xmlns:a16="http://schemas.microsoft.com/office/drawing/2014/main" id="{BEEDC41A-CDC5-EF75-7EE9-AAD9F9C9D1A8}"/>
              </a:ext>
            </a:extLst>
          </p:cNvPr>
          <p:cNvSpPr/>
          <p:nvPr/>
        </p:nvSpPr>
        <p:spPr>
          <a:xfrm>
            <a:off x="643231" y="3611197"/>
            <a:ext cx="1686876" cy="212316"/>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Rectángulo 1">
            <a:extLst>
              <a:ext uri="{FF2B5EF4-FFF2-40B4-BE49-F238E27FC236}">
                <a16:creationId xmlns:a16="http://schemas.microsoft.com/office/drawing/2014/main" id="{3CE38B4A-1D73-1697-B0CF-4DCE5590C019}"/>
              </a:ext>
            </a:extLst>
          </p:cNvPr>
          <p:cNvSpPr/>
          <p:nvPr/>
        </p:nvSpPr>
        <p:spPr>
          <a:xfrm>
            <a:off x="5864506" y="3154980"/>
            <a:ext cx="5245882" cy="577623"/>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Rectángulo 17">
            <a:extLst>
              <a:ext uri="{FF2B5EF4-FFF2-40B4-BE49-F238E27FC236}">
                <a16:creationId xmlns:a16="http://schemas.microsoft.com/office/drawing/2014/main" id="{556D1C00-680A-A485-96B0-DAF041A5225D}"/>
              </a:ext>
            </a:extLst>
          </p:cNvPr>
          <p:cNvSpPr/>
          <p:nvPr/>
        </p:nvSpPr>
        <p:spPr>
          <a:xfrm>
            <a:off x="5864506" y="2796802"/>
            <a:ext cx="5245882" cy="358178"/>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redondeado 8">
            <a:extLst>
              <a:ext uri="{FF2B5EF4-FFF2-40B4-BE49-F238E27FC236}">
                <a16:creationId xmlns:a16="http://schemas.microsoft.com/office/drawing/2014/main" id="{6D7898CA-ECD2-68F2-DFF1-F46089FCB0DB}"/>
              </a:ext>
            </a:extLst>
          </p:cNvPr>
          <p:cNvSpPr/>
          <p:nvPr/>
        </p:nvSpPr>
        <p:spPr>
          <a:xfrm>
            <a:off x="6208878" y="3823513"/>
            <a:ext cx="439228" cy="277771"/>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11</a:t>
            </a:r>
          </a:p>
        </p:txBody>
      </p:sp>
      <p:sp>
        <p:nvSpPr>
          <p:cNvPr id="23" name="Rectangle: Rounded Corners 5">
            <a:extLst>
              <a:ext uri="{FF2B5EF4-FFF2-40B4-BE49-F238E27FC236}">
                <a16:creationId xmlns:a16="http://schemas.microsoft.com/office/drawing/2014/main" id="{2469D115-0A84-39A9-9076-E90B7BEDF521}"/>
              </a:ext>
            </a:extLst>
          </p:cNvPr>
          <p:cNvSpPr/>
          <p:nvPr/>
        </p:nvSpPr>
        <p:spPr>
          <a:xfrm>
            <a:off x="1486669" y="2895060"/>
            <a:ext cx="3804121" cy="300629"/>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err="1"/>
              <a:t>priorEducationAndTesting.postSecondaryEducation</a:t>
            </a:r>
            <a:endParaRPr lang="es-CL" sz="1200" dirty="0"/>
          </a:p>
        </p:txBody>
      </p:sp>
      <p:sp>
        <p:nvSpPr>
          <p:cNvPr id="7" name="Rectángulo 6">
            <a:extLst>
              <a:ext uri="{FF2B5EF4-FFF2-40B4-BE49-F238E27FC236}">
                <a16:creationId xmlns:a16="http://schemas.microsoft.com/office/drawing/2014/main" id="{1CE9C30F-8EFA-1A7C-30BE-8C217C010627}"/>
              </a:ext>
            </a:extLst>
          </p:cNvPr>
          <p:cNvSpPr/>
          <p:nvPr/>
        </p:nvSpPr>
        <p:spPr>
          <a:xfrm>
            <a:off x="2415396" y="4334374"/>
            <a:ext cx="3119647" cy="352401"/>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801293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1434D23-B53B-E7F5-CA1F-4E3BDF23C180}"/>
              </a:ext>
            </a:extLst>
          </p:cNvPr>
          <p:cNvPicPr>
            <a:picLocks noChangeAspect="1"/>
          </p:cNvPicPr>
          <p:nvPr/>
        </p:nvPicPr>
        <p:blipFill>
          <a:blip r:embed="rId2"/>
          <a:stretch>
            <a:fillRect/>
          </a:stretch>
        </p:blipFill>
        <p:spPr>
          <a:xfrm>
            <a:off x="765074" y="1144997"/>
            <a:ext cx="10661851" cy="524745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56</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GUACONF</a:t>
            </a:r>
            <a:br>
              <a:rPr lang="es-MX" b="0" dirty="0">
                <a:solidFill>
                  <a:schemeClr val="accent1"/>
                </a:solidFill>
              </a:rPr>
            </a:br>
            <a:endParaRPr lang="es-CL" b="0" dirty="0">
              <a:solidFill>
                <a:schemeClr val="accent1"/>
              </a:solidFill>
            </a:endParaRPr>
          </a:p>
        </p:txBody>
      </p:sp>
      <p:sp>
        <p:nvSpPr>
          <p:cNvPr id="12" name="Rectangle: Rounded Corners 5">
            <a:extLst>
              <a:ext uri="{FF2B5EF4-FFF2-40B4-BE49-F238E27FC236}">
                <a16:creationId xmlns:a16="http://schemas.microsoft.com/office/drawing/2014/main" id="{11317BA1-E9C5-D29B-C9C9-2C6104D69A5E}"/>
              </a:ext>
            </a:extLst>
          </p:cNvPr>
          <p:cNvSpPr/>
          <p:nvPr/>
        </p:nvSpPr>
        <p:spPr>
          <a:xfrm>
            <a:off x="2823352" y="3442920"/>
            <a:ext cx="5404586" cy="706860"/>
          </a:xfrm>
          <a:prstGeom prst="roundRect">
            <a:avLst>
              <a:gd name="adj" fmla="val 19418"/>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La configuración de la tarjeta de docente/asesor es similar a lo mostrado antes, pero las líneas “</a:t>
            </a:r>
            <a:r>
              <a:rPr lang="es-CL" sz="1200" dirty="0" err="1"/>
              <a:t>cardEnabled</a:t>
            </a:r>
            <a:r>
              <a:rPr lang="es-CL" sz="1200" dirty="0"/>
              <a:t>” permiten habilitar o deshabilitar la tarjeta de estudiante por completo, o bien para ciertos roles.</a:t>
            </a:r>
          </a:p>
        </p:txBody>
      </p:sp>
      <p:sp>
        <p:nvSpPr>
          <p:cNvPr id="21" name="Rectángulo 20">
            <a:extLst>
              <a:ext uri="{FF2B5EF4-FFF2-40B4-BE49-F238E27FC236}">
                <a16:creationId xmlns:a16="http://schemas.microsoft.com/office/drawing/2014/main" id="{BEEDC41A-CDC5-EF75-7EE9-AAD9F9C9D1A8}"/>
              </a:ext>
            </a:extLst>
          </p:cNvPr>
          <p:cNvSpPr/>
          <p:nvPr/>
        </p:nvSpPr>
        <p:spPr>
          <a:xfrm>
            <a:off x="1730501" y="1848652"/>
            <a:ext cx="854210" cy="26353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Rectángulo 1">
            <a:extLst>
              <a:ext uri="{FF2B5EF4-FFF2-40B4-BE49-F238E27FC236}">
                <a16:creationId xmlns:a16="http://schemas.microsoft.com/office/drawing/2014/main" id="{3CE38B4A-1D73-1697-B0CF-4DCE5590C019}"/>
              </a:ext>
            </a:extLst>
          </p:cNvPr>
          <p:cNvSpPr/>
          <p:nvPr/>
        </p:nvSpPr>
        <p:spPr>
          <a:xfrm>
            <a:off x="625650" y="2791425"/>
            <a:ext cx="9552408" cy="209454"/>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redondeado 8">
            <a:extLst>
              <a:ext uri="{FF2B5EF4-FFF2-40B4-BE49-F238E27FC236}">
                <a16:creationId xmlns:a16="http://schemas.microsoft.com/office/drawing/2014/main" id="{6D7898CA-ECD2-68F2-DFF1-F46089FCB0DB}"/>
              </a:ext>
            </a:extLst>
          </p:cNvPr>
          <p:cNvSpPr/>
          <p:nvPr/>
        </p:nvSpPr>
        <p:spPr>
          <a:xfrm>
            <a:off x="2644087" y="1836445"/>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9" name="Rectangle: Rounded Corners 5">
            <a:extLst>
              <a:ext uri="{FF2B5EF4-FFF2-40B4-BE49-F238E27FC236}">
                <a16:creationId xmlns:a16="http://schemas.microsoft.com/office/drawing/2014/main" id="{DCE344FD-9F78-7641-DA8D-2E07A78FFA35}"/>
              </a:ext>
            </a:extLst>
          </p:cNvPr>
          <p:cNvSpPr/>
          <p:nvPr/>
        </p:nvSpPr>
        <p:spPr>
          <a:xfrm>
            <a:off x="3198367" y="1760005"/>
            <a:ext cx="2398998" cy="348465"/>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Pestaña “Configuraciones”</a:t>
            </a:r>
          </a:p>
        </p:txBody>
      </p:sp>
      <p:sp>
        <p:nvSpPr>
          <p:cNvPr id="10" name="Rectángulo 9">
            <a:extLst>
              <a:ext uri="{FF2B5EF4-FFF2-40B4-BE49-F238E27FC236}">
                <a16:creationId xmlns:a16="http://schemas.microsoft.com/office/drawing/2014/main" id="{F6524E78-C7FE-A078-FC69-B5C522DB0D77}"/>
              </a:ext>
            </a:extLst>
          </p:cNvPr>
          <p:cNvSpPr/>
          <p:nvPr/>
        </p:nvSpPr>
        <p:spPr>
          <a:xfrm>
            <a:off x="1403014" y="2163553"/>
            <a:ext cx="1599604" cy="26353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redondeado 8">
            <a:extLst>
              <a:ext uri="{FF2B5EF4-FFF2-40B4-BE49-F238E27FC236}">
                <a16:creationId xmlns:a16="http://schemas.microsoft.com/office/drawing/2014/main" id="{17326106-391F-99FE-1113-8EF7DD9CDC01}"/>
              </a:ext>
            </a:extLst>
          </p:cNvPr>
          <p:cNvSpPr/>
          <p:nvPr/>
        </p:nvSpPr>
        <p:spPr>
          <a:xfrm>
            <a:off x="3110901" y="2172741"/>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3" name="Rectangle: Rounded Corners 5">
            <a:extLst>
              <a:ext uri="{FF2B5EF4-FFF2-40B4-BE49-F238E27FC236}">
                <a16:creationId xmlns:a16="http://schemas.microsoft.com/office/drawing/2014/main" id="{EB99E3DE-003F-0761-FF5F-07CC0C8E8659}"/>
              </a:ext>
            </a:extLst>
          </p:cNvPr>
          <p:cNvSpPr/>
          <p:nvPr/>
        </p:nvSpPr>
        <p:spPr>
          <a:xfrm>
            <a:off x="3560196" y="2163553"/>
            <a:ext cx="2255063" cy="348465"/>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Filtrar por %</a:t>
            </a:r>
            <a:r>
              <a:rPr lang="es-CL" sz="1200" dirty="0" err="1"/>
              <a:t>facultycard</a:t>
            </a:r>
            <a:r>
              <a:rPr lang="es-CL" sz="1200" dirty="0"/>
              <a:t>% </a:t>
            </a:r>
          </a:p>
        </p:txBody>
      </p:sp>
      <p:sp>
        <p:nvSpPr>
          <p:cNvPr id="14" name="Rectángulo redondeado 8">
            <a:extLst>
              <a:ext uri="{FF2B5EF4-FFF2-40B4-BE49-F238E27FC236}">
                <a16:creationId xmlns:a16="http://schemas.microsoft.com/office/drawing/2014/main" id="{0663F097-4438-20B7-7218-420616E892C0}"/>
              </a:ext>
            </a:extLst>
          </p:cNvPr>
          <p:cNvSpPr/>
          <p:nvPr/>
        </p:nvSpPr>
        <p:spPr>
          <a:xfrm>
            <a:off x="5043323" y="3127026"/>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Tree>
    <p:extLst>
      <p:ext uri="{BB962C8B-B14F-4D97-AF65-F5344CB8AC3E}">
        <p14:creationId xmlns:p14="http://schemas.microsoft.com/office/powerpoint/2010/main" val="26306848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C1A14468-E295-96DA-2FE9-553602D882EA}"/>
              </a:ext>
            </a:extLst>
          </p:cNvPr>
          <p:cNvPicPr>
            <a:picLocks noChangeAspect="1"/>
          </p:cNvPicPr>
          <p:nvPr/>
        </p:nvPicPr>
        <p:blipFill>
          <a:blip r:embed="rId2"/>
          <a:stretch>
            <a:fillRect/>
          </a:stretch>
        </p:blipFill>
        <p:spPr>
          <a:xfrm>
            <a:off x="886147" y="1121433"/>
            <a:ext cx="10745138" cy="533327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57</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Perfil del Alumno</a:t>
            </a:r>
            <a:br>
              <a:rPr lang="es-MX" b="0" dirty="0">
                <a:solidFill>
                  <a:schemeClr val="accent1"/>
                </a:solidFill>
              </a:rPr>
            </a:br>
            <a:r>
              <a:rPr lang="es-MX" b="0" dirty="0">
                <a:solidFill>
                  <a:schemeClr val="accent1"/>
                </a:solidFill>
              </a:rPr>
              <a:t>Tarjeta del estudiante</a:t>
            </a:r>
            <a:endParaRPr lang="es-CL" dirty="0">
              <a:solidFill>
                <a:schemeClr val="accent1"/>
              </a:solidFill>
            </a:endParaRPr>
          </a:p>
        </p:txBody>
      </p:sp>
      <p:sp>
        <p:nvSpPr>
          <p:cNvPr id="12" name="Rectangle: Rounded Corners 5">
            <a:extLst>
              <a:ext uri="{FF2B5EF4-FFF2-40B4-BE49-F238E27FC236}">
                <a16:creationId xmlns:a16="http://schemas.microsoft.com/office/drawing/2014/main" id="{11317BA1-E9C5-D29B-C9C9-2C6104D69A5E}"/>
              </a:ext>
            </a:extLst>
          </p:cNvPr>
          <p:cNvSpPr/>
          <p:nvPr/>
        </p:nvSpPr>
        <p:spPr>
          <a:xfrm>
            <a:off x="4847379" y="3788068"/>
            <a:ext cx="5404586" cy="706860"/>
          </a:xfrm>
          <a:prstGeom prst="roundRect">
            <a:avLst>
              <a:gd name="adj" fmla="val 19418"/>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200" dirty="0"/>
              <a:t>La tarjeta de estudiante es un resumen que aparece al seleccionar el nombre del estudiante en su perfil o al mover el mouse sobre su nombre en la lista de clases o la lista de asesorados</a:t>
            </a:r>
          </a:p>
        </p:txBody>
      </p:sp>
      <p:sp>
        <p:nvSpPr>
          <p:cNvPr id="21" name="Rectángulo 20">
            <a:extLst>
              <a:ext uri="{FF2B5EF4-FFF2-40B4-BE49-F238E27FC236}">
                <a16:creationId xmlns:a16="http://schemas.microsoft.com/office/drawing/2014/main" id="{BEEDC41A-CDC5-EF75-7EE9-AAD9F9C9D1A8}"/>
              </a:ext>
            </a:extLst>
          </p:cNvPr>
          <p:cNvSpPr/>
          <p:nvPr/>
        </p:nvSpPr>
        <p:spPr>
          <a:xfrm>
            <a:off x="999009" y="3109140"/>
            <a:ext cx="1548179" cy="220656"/>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redondeado 8">
            <a:extLst>
              <a:ext uri="{FF2B5EF4-FFF2-40B4-BE49-F238E27FC236}">
                <a16:creationId xmlns:a16="http://schemas.microsoft.com/office/drawing/2014/main" id="{6D7898CA-ECD2-68F2-DFF1-F46089FCB0DB}"/>
              </a:ext>
            </a:extLst>
          </p:cNvPr>
          <p:cNvSpPr/>
          <p:nvPr/>
        </p:nvSpPr>
        <p:spPr>
          <a:xfrm>
            <a:off x="4177574" y="3948102"/>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0" name="Rectángulo 9">
            <a:extLst>
              <a:ext uri="{FF2B5EF4-FFF2-40B4-BE49-F238E27FC236}">
                <a16:creationId xmlns:a16="http://schemas.microsoft.com/office/drawing/2014/main" id="{F6524E78-C7FE-A078-FC69-B5C522DB0D77}"/>
              </a:ext>
            </a:extLst>
          </p:cNvPr>
          <p:cNvSpPr/>
          <p:nvPr/>
        </p:nvSpPr>
        <p:spPr>
          <a:xfrm>
            <a:off x="1558469" y="3343219"/>
            <a:ext cx="2521825" cy="108213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6390111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4BF4069-5E81-D61D-AF10-F4735D71615F}"/>
              </a:ext>
            </a:extLst>
          </p:cNvPr>
          <p:cNvPicPr>
            <a:picLocks noChangeAspect="1"/>
          </p:cNvPicPr>
          <p:nvPr/>
        </p:nvPicPr>
        <p:blipFill>
          <a:blip r:embed="rId2"/>
          <a:stretch>
            <a:fillRect/>
          </a:stretch>
        </p:blipFill>
        <p:spPr>
          <a:xfrm>
            <a:off x="622570" y="1132672"/>
            <a:ext cx="10729792" cy="531727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58</a:t>
            </a:fld>
            <a:endParaRPr lang="en-US" dirty="0"/>
          </a:p>
        </p:txBody>
      </p:sp>
      <p:sp>
        <p:nvSpPr>
          <p:cNvPr id="10" name="Título 3">
            <a:extLst>
              <a:ext uri="{FF2B5EF4-FFF2-40B4-BE49-F238E27FC236}">
                <a16:creationId xmlns:a16="http://schemas.microsoft.com/office/drawing/2014/main" id="{8D3A7CAF-BA33-3E44-9705-A2CD33545373}"/>
              </a:ext>
            </a:extLst>
          </p:cNvPr>
          <p:cNvSpPr>
            <a:spLocks noGrp="1"/>
          </p:cNvSpPr>
          <p:nvPr>
            <p:ph type="title"/>
          </p:nvPr>
        </p:nvSpPr>
        <p:spPr>
          <a:xfrm>
            <a:off x="790997" y="200556"/>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GUACONF Configuración y Personalización de Información</a:t>
            </a:r>
            <a:endParaRPr lang="es-CL" b="0" dirty="0">
              <a:solidFill>
                <a:schemeClr val="accent1"/>
              </a:solidFill>
            </a:endParaRPr>
          </a:p>
        </p:txBody>
      </p:sp>
      <p:sp>
        <p:nvSpPr>
          <p:cNvPr id="12" name="Rectangle: Rounded Corners 5">
            <a:extLst>
              <a:ext uri="{FF2B5EF4-FFF2-40B4-BE49-F238E27FC236}">
                <a16:creationId xmlns:a16="http://schemas.microsoft.com/office/drawing/2014/main" id="{11317BA1-E9C5-D29B-C9C9-2C6104D69A5E}"/>
              </a:ext>
            </a:extLst>
          </p:cNvPr>
          <p:cNvSpPr/>
          <p:nvPr/>
        </p:nvSpPr>
        <p:spPr>
          <a:xfrm>
            <a:off x="1571534" y="3320620"/>
            <a:ext cx="6344386" cy="1398030"/>
          </a:xfrm>
          <a:prstGeom prst="roundRect">
            <a:avLst>
              <a:gd name="adj" fmla="val 19418"/>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endParaRPr lang="es-MX" sz="1200" dirty="0"/>
          </a:p>
          <a:p>
            <a:pPr algn="ctr"/>
            <a:r>
              <a:rPr lang="es-MX" sz="1200" dirty="0"/>
              <a:t>La configuración de la tarjeta de estudiante es similar a lo mostrado antes, pero en la línea “</a:t>
            </a:r>
            <a:r>
              <a:rPr lang="es-MX" sz="1200" dirty="0" err="1"/>
              <a:t>view</a:t>
            </a:r>
            <a:r>
              <a:rPr lang="es-MX" sz="1200" dirty="0"/>
              <a:t>” tiene más opciones porque la tarjeta aparece en varias partes:</a:t>
            </a:r>
          </a:p>
          <a:p>
            <a:pPr marL="171450" indent="-171450">
              <a:buFont typeface="Arial" panose="020B0604020202020204" pitchFamily="34" charset="0"/>
              <a:buChar char="•"/>
            </a:pPr>
            <a:r>
              <a:rPr lang="es-MX" sz="1200" dirty="0" err="1"/>
              <a:t>Profile</a:t>
            </a:r>
            <a:r>
              <a:rPr lang="es-MX" sz="1200" dirty="0"/>
              <a:t>: Perfil del estudiante</a:t>
            </a:r>
          </a:p>
          <a:p>
            <a:pPr marL="171450" indent="-171450">
              <a:buFont typeface="Arial" panose="020B0604020202020204" pitchFamily="34" charset="0"/>
              <a:buChar char="•"/>
            </a:pPr>
            <a:r>
              <a:rPr lang="es-MX" sz="1200" dirty="0" err="1"/>
              <a:t>AdviseeList</a:t>
            </a:r>
            <a:r>
              <a:rPr lang="es-MX" sz="1200" dirty="0"/>
              <a:t>: Lista de asesorados del asesor</a:t>
            </a:r>
          </a:p>
          <a:p>
            <a:pPr marL="171450" indent="-171450">
              <a:buFont typeface="Arial" panose="020B0604020202020204" pitchFamily="34" charset="0"/>
              <a:buChar char="•"/>
            </a:pPr>
            <a:r>
              <a:rPr lang="es-MX" sz="1200" dirty="0" err="1"/>
              <a:t>ClassList</a:t>
            </a:r>
            <a:r>
              <a:rPr lang="es-MX" sz="1200" dirty="0"/>
              <a:t>: Lista de clases del docente</a:t>
            </a:r>
          </a:p>
          <a:p>
            <a:pPr marL="171450" indent="-171450">
              <a:buFont typeface="Arial" panose="020B0604020202020204" pitchFamily="34" charset="0"/>
              <a:buChar char="•"/>
            </a:pPr>
            <a:r>
              <a:rPr lang="es-MX" sz="1200" dirty="0" err="1"/>
              <a:t>DropRoster</a:t>
            </a:r>
            <a:r>
              <a:rPr lang="es-MX" sz="1200" dirty="0"/>
              <a:t>: Borrar lista de clases</a:t>
            </a:r>
          </a:p>
        </p:txBody>
      </p:sp>
      <p:sp>
        <p:nvSpPr>
          <p:cNvPr id="21" name="Rectángulo 20">
            <a:extLst>
              <a:ext uri="{FF2B5EF4-FFF2-40B4-BE49-F238E27FC236}">
                <a16:creationId xmlns:a16="http://schemas.microsoft.com/office/drawing/2014/main" id="{BEEDC41A-CDC5-EF75-7EE9-AAD9F9C9D1A8}"/>
              </a:ext>
            </a:extLst>
          </p:cNvPr>
          <p:cNvSpPr/>
          <p:nvPr/>
        </p:nvSpPr>
        <p:spPr>
          <a:xfrm>
            <a:off x="540238" y="2693233"/>
            <a:ext cx="9418000" cy="190310"/>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redondeado 8">
            <a:extLst>
              <a:ext uri="{FF2B5EF4-FFF2-40B4-BE49-F238E27FC236}">
                <a16:creationId xmlns:a16="http://schemas.microsoft.com/office/drawing/2014/main" id="{6D7898CA-ECD2-68F2-DFF1-F46089FCB0DB}"/>
              </a:ext>
            </a:extLst>
          </p:cNvPr>
          <p:cNvSpPr/>
          <p:nvPr/>
        </p:nvSpPr>
        <p:spPr>
          <a:xfrm>
            <a:off x="4343836" y="2949999"/>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8" name="Rectángulo 7">
            <a:extLst>
              <a:ext uri="{FF2B5EF4-FFF2-40B4-BE49-F238E27FC236}">
                <a16:creationId xmlns:a16="http://schemas.microsoft.com/office/drawing/2014/main" id="{0E9A7605-8863-5E89-9857-8DD0BE8DC240}"/>
              </a:ext>
            </a:extLst>
          </p:cNvPr>
          <p:cNvSpPr/>
          <p:nvPr/>
        </p:nvSpPr>
        <p:spPr>
          <a:xfrm>
            <a:off x="1571534" y="1804581"/>
            <a:ext cx="783477" cy="249726"/>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8">
            <a:extLst>
              <a:ext uri="{FF2B5EF4-FFF2-40B4-BE49-F238E27FC236}">
                <a16:creationId xmlns:a16="http://schemas.microsoft.com/office/drawing/2014/main" id="{CCA13237-A015-0BFC-15D1-B9F2C7073946}"/>
              </a:ext>
            </a:extLst>
          </p:cNvPr>
          <p:cNvSpPr/>
          <p:nvPr/>
        </p:nvSpPr>
        <p:spPr>
          <a:xfrm>
            <a:off x="1232171" y="2169948"/>
            <a:ext cx="1590531" cy="190310"/>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redondeado 8">
            <a:extLst>
              <a:ext uri="{FF2B5EF4-FFF2-40B4-BE49-F238E27FC236}">
                <a16:creationId xmlns:a16="http://schemas.microsoft.com/office/drawing/2014/main" id="{9AD576E6-BF07-F58D-906F-1B983E48A771}"/>
              </a:ext>
            </a:extLst>
          </p:cNvPr>
          <p:cNvSpPr/>
          <p:nvPr/>
        </p:nvSpPr>
        <p:spPr>
          <a:xfrm>
            <a:off x="2464170" y="1797678"/>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3" name="Rectangle: Rounded Corners 5">
            <a:extLst>
              <a:ext uri="{FF2B5EF4-FFF2-40B4-BE49-F238E27FC236}">
                <a16:creationId xmlns:a16="http://schemas.microsoft.com/office/drawing/2014/main" id="{02C577C6-491B-B8F9-747B-C446FDA8AF28}"/>
              </a:ext>
            </a:extLst>
          </p:cNvPr>
          <p:cNvSpPr/>
          <p:nvPr/>
        </p:nvSpPr>
        <p:spPr>
          <a:xfrm>
            <a:off x="2931860" y="1775581"/>
            <a:ext cx="2398998" cy="348465"/>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Pestaña “Configuraciones”</a:t>
            </a:r>
          </a:p>
        </p:txBody>
      </p:sp>
      <p:sp>
        <p:nvSpPr>
          <p:cNvPr id="14" name="Rectángulo redondeado 8">
            <a:extLst>
              <a:ext uri="{FF2B5EF4-FFF2-40B4-BE49-F238E27FC236}">
                <a16:creationId xmlns:a16="http://schemas.microsoft.com/office/drawing/2014/main" id="{875533B2-F971-3426-4814-D7CD9C38350C}"/>
              </a:ext>
            </a:extLst>
          </p:cNvPr>
          <p:cNvSpPr/>
          <p:nvPr/>
        </p:nvSpPr>
        <p:spPr>
          <a:xfrm>
            <a:off x="2979218" y="2133337"/>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5" name="Rectangle: Rounded Corners 5">
            <a:extLst>
              <a:ext uri="{FF2B5EF4-FFF2-40B4-BE49-F238E27FC236}">
                <a16:creationId xmlns:a16="http://schemas.microsoft.com/office/drawing/2014/main" id="{0793E049-BF44-3F88-018E-B7DB4FF82C41}"/>
              </a:ext>
            </a:extLst>
          </p:cNvPr>
          <p:cNvSpPr/>
          <p:nvPr/>
        </p:nvSpPr>
        <p:spPr>
          <a:xfrm>
            <a:off x="3517014" y="2146546"/>
            <a:ext cx="2255063" cy="348465"/>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Filtrar por %</a:t>
            </a:r>
            <a:r>
              <a:rPr lang="es-CL" sz="1200" dirty="0" err="1"/>
              <a:t>fstudentcard</a:t>
            </a:r>
            <a:r>
              <a:rPr lang="es-CL" sz="1200" dirty="0"/>
              <a:t>% </a:t>
            </a:r>
          </a:p>
        </p:txBody>
      </p:sp>
    </p:spTree>
    <p:extLst>
      <p:ext uri="{BB962C8B-B14F-4D97-AF65-F5344CB8AC3E}">
        <p14:creationId xmlns:p14="http://schemas.microsoft.com/office/powerpoint/2010/main" val="19181309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85F5D319-63BF-A11D-53D6-9852D6F4A0EF}"/>
              </a:ext>
            </a:extLst>
          </p:cNvPr>
          <p:cNvPicPr>
            <a:picLocks noChangeAspect="1"/>
          </p:cNvPicPr>
          <p:nvPr/>
        </p:nvPicPr>
        <p:blipFill>
          <a:blip r:embed="rId2"/>
          <a:stretch>
            <a:fillRect/>
          </a:stretch>
        </p:blipFill>
        <p:spPr>
          <a:xfrm>
            <a:off x="622570" y="1132672"/>
            <a:ext cx="10729792" cy="531727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59</a:t>
            </a:fld>
            <a:endParaRPr lang="en-US" dirty="0"/>
          </a:p>
        </p:txBody>
      </p:sp>
      <p:sp>
        <p:nvSpPr>
          <p:cNvPr id="8" name="Título 3">
            <a:extLst>
              <a:ext uri="{FF2B5EF4-FFF2-40B4-BE49-F238E27FC236}">
                <a16:creationId xmlns:a16="http://schemas.microsoft.com/office/drawing/2014/main" id="{5CBE0A84-31A3-2E0E-2B5A-A6365E30301E}"/>
              </a:ext>
            </a:extLst>
          </p:cNvPr>
          <p:cNvSpPr>
            <a:spLocks noGrp="1"/>
          </p:cNvSpPr>
          <p:nvPr>
            <p:ph type="title"/>
          </p:nvPr>
        </p:nvSpPr>
        <p:spPr>
          <a:xfrm>
            <a:off x="800622" y="143672"/>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GUACONF Configuración y Personalización de Información</a:t>
            </a:r>
            <a:endParaRPr lang="es-CL" b="0" dirty="0">
              <a:solidFill>
                <a:schemeClr val="accent1"/>
              </a:solidFill>
            </a:endParaRPr>
          </a:p>
        </p:txBody>
      </p:sp>
      <p:sp>
        <p:nvSpPr>
          <p:cNvPr id="12" name="Rectangle: Rounded Corners 5">
            <a:extLst>
              <a:ext uri="{FF2B5EF4-FFF2-40B4-BE49-F238E27FC236}">
                <a16:creationId xmlns:a16="http://schemas.microsoft.com/office/drawing/2014/main" id="{11317BA1-E9C5-D29B-C9C9-2C6104D69A5E}"/>
              </a:ext>
            </a:extLst>
          </p:cNvPr>
          <p:cNvSpPr/>
          <p:nvPr/>
        </p:nvSpPr>
        <p:spPr>
          <a:xfrm>
            <a:off x="2269512" y="3600634"/>
            <a:ext cx="6344386" cy="823019"/>
          </a:xfrm>
          <a:prstGeom prst="roundRect">
            <a:avLst>
              <a:gd name="adj" fmla="val 19418"/>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Además, las líneas “</a:t>
            </a:r>
            <a:r>
              <a:rPr lang="es-CL" sz="1200" dirty="0" err="1"/>
              <a:t>cardEnabled</a:t>
            </a:r>
            <a:r>
              <a:rPr lang="es-CL" sz="1200" dirty="0"/>
              <a:t>” permiten habilitar o deshabilitar la tarjeta de estudiante por completo, o bien para ciertos roles o en ciertas páginas.</a:t>
            </a:r>
          </a:p>
        </p:txBody>
      </p:sp>
      <p:sp>
        <p:nvSpPr>
          <p:cNvPr id="21" name="Rectángulo 20">
            <a:extLst>
              <a:ext uri="{FF2B5EF4-FFF2-40B4-BE49-F238E27FC236}">
                <a16:creationId xmlns:a16="http://schemas.microsoft.com/office/drawing/2014/main" id="{BEEDC41A-CDC5-EF75-7EE9-AAD9F9C9D1A8}"/>
              </a:ext>
            </a:extLst>
          </p:cNvPr>
          <p:cNvSpPr/>
          <p:nvPr/>
        </p:nvSpPr>
        <p:spPr>
          <a:xfrm>
            <a:off x="609601" y="2847118"/>
            <a:ext cx="9433196" cy="26353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Rectángulo redondeado 8">
            <a:extLst>
              <a:ext uri="{FF2B5EF4-FFF2-40B4-BE49-F238E27FC236}">
                <a16:creationId xmlns:a16="http://schemas.microsoft.com/office/drawing/2014/main" id="{6D7898CA-ECD2-68F2-DFF1-F46089FCB0DB}"/>
              </a:ext>
            </a:extLst>
          </p:cNvPr>
          <p:cNvSpPr/>
          <p:nvPr/>
        </p:nvSpPr>
        <p:spPr>
          <a:xfrm>
            <a:off x="4599279" y="3209953"/>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4</a:t>
            </a:r>
          </a:p>
        </p:txBody>
      </p:sp>
    </p:spTree>
    <p:extLst>
      <p:ext uri="{BB962C8B-B14F-4D97-AF65-F5344CB8AC3E}">
        <p14:creationId xmlns:p14="http://schemas.microsoft.com/office/powerpoint/2010/main" val="25087992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DED41AD9-95FD-EC11-7B4D-8874D6196E2D}"/>
              </a:ext>
            </a:extLst>
          </p:cNvPr>
          <p:cNvPicPr>
            <a:picLocks noChangeAspect="1"/>
          </p:cNvPicPr>
          <p:nvPr/>
        </p:nvPicPr>
        <p:blipFill>
          <a:blip r:embed="rId2"/>
          <a:stretch>
            <a:fillRect/>
          </a:stretch>
        </p:blipFill>
        <p:spPr>
          <a:xfrm>
            <a:off x="698740" y="967295"/>
            <a:ext cx="11024558" cy="550651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60</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GUACONF</a:t>
            </a:r>
            <a:br>
              <a:rPr lang="es-MX" b="0" dirty="0">
                <a:solidFill>
                  <a:schemeClr val="accent1"/>
                </a:solidFill>
              </a:rPr>
            </a:br>
            <a:r>
              <a:rPr lang="es-MX" b="0" dirty="0">
                <a:solidFill>
                  <a:schemeClr val="accent1"/>
                </a:solidFill>
              </a:rPr>
              <a:t>Configuración de las aplicaciones de Ellucian Student</a:t>
            </a:r>
            <a:endParaRPr lang="es-CL" dirty="0">
              <a:solidFill>
                <a:schemeClr val="accent1"/>
              </a:solidFill>
            </a:endParaRPr>
          </a:p>
        </p:txBody>
      </p:sp>
      <p:sp>
        <p:nvSpPr>
          <p:cNvPr id="10" name="Rectangle: Rounded Corners 5">
            <a:extLst>
              <a:ext uri="{FF2B5EF4-FFF2-40B4-BE49-F238E27FC236}">
                <a16:creationId xmlns:a16="http://schemas.microsoft.com/office/drawing/2014/main" id="{DD72F631-C9B5-74AD-7CDA-3C69D787D9C7}"/>
              </a:ext>
            </a:extLst>
          </p:cNvPr>
          <p:cNvSpPr/>
          <p:nvPr/>
        </p:nvSpPr>
        <p:spPr>
          <a:xfrm>
            <a:off x="3528411" y="3087527"/>
            <a:ext cx="4905130" cy="1068552"/>
          </a:xfrm>
          <a:prstGeom prst="roundRect">
            <a:avLst>
              <a:gd name="adj" fmla="val 19418"/>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El número en el nombre de la configuración determina el orden de los enlaces. Se puede eliminar, agregar o cambiar el orden de los enlaces, pero es importante asegurar que al final, cada enlace tiene un número de 0 a n. </a:t>
            </a:r>
          </a:p>
        </p:txBody>
      </p:sp>
      <p:sp>
        <p:nvSpPr>
          <p:cNvPr id="13" name="Rectángulo 12">
            <a:extLst>
              <a:ext uri="{FF2B5EF4-FFF2-40B4-BE49-F238E27FC236}">
                <a16:creationId xmlns:a16="http://schemas.microsoft.com/office/drawing/2014/main" id="{DA0A86B2-9EA5-82A6-AF49-DD4A803FA262}"/>
              </a:ext>
            </a:extLst>
          </p:cNvPr>
          <p:cNvSpPr/>
          <p:nvPr/>
        </p:nvSpPr>
        <p:spPr>
          <a:xfrm>
            <a:off x="1617830" y="2384864"/>
            <a:ext cx="609600" cy="2693024"/>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Rectángulo redondeado 8">
            <a:extLst>
              <a:ext uri="{FF2B5EF4-FFF2-40B4-BE49-F238E27FC236}">
                <a16:creationId xmlns:a16="http://schemas.microsoft.com/office/drawing/2014/main" id="{43F106FF-3C99-039F-18F9-BD426CD16BF6}"/>
              </a:ext>
            </a:extLst>
          </p:cNvPr>
          <p:cNvSpPr/>
          <p:nvPr/>
        </p:nvSpPr>
        <p:spPr>
          <a:xfrm>
            <a:off x="2595862" y="3020942"/>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6" name="Rectangle: Rounded Corners 5">
            <a:extLst>
              <a:ext uri="{FF2B5EF4-FFF2-40B4-BE49-F238E27FC236}">
                <a16:creationId xmlns:a16="http://schemas.microsoft.com/office/drawing/2014/main" id="{E9CCF462-A439-F0FC-ABFB-A228EE5EE353}"/>
              </a:ext>
            </a:extLst>
          </p:cNvPr>
          <p:cNvSpPr/>
          <p:nvPr/>
        </p:nvSpPr>
        <p:spPr>
          <a:xfrm>
            <a:off x="3458834" y="2337371"/>
            <a:ext cx="4974707" cy="569526"/>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Adicionalmente, se puede configurar los enlaces adicionales que aparecen en el panel al izquierdo del perfil.</a:t>
            </a:r>
          </a:p>
        </p:txBody>
      </p:sp>
    </p:spTree>
    <p:extLst>
      <p:ext uri="{BB962C8B-B14F-4D97-AF65-F5344CB8AC3E}">
        <p14:creationId xmlns:p14="http://schemas.microsoft.com/office/powerpoint/2010/main" val="2820194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8FAF806C-D93E-D624-7329-ABEC5AD4D026}"/>
              </a:ext>
            </a:extLst>
          </p:cNvPr>
          <p:cNvPicPr>
            <a:picLocks noChangeAspect="1"/>
          </p:cNvPicPr>
          <p:nvPr/>
        </p:nvPicPr>
        <p:blipFill>
          <a:blip r:embed="rId2"/>
          <a:stretch>
            <a:fillRect/>
          </a:stretch>
        </p:blipFill>
        <p:spPr>
          <a:xfrm>
            <a:off x="622570" y="1017535"/>
            <a:ext cx="11024558" cy="550651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61</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GUACONF</a:t>
            </a:r>
            <a:br>
              <a:rPr lang="es-MX" b="0" dirty="0">
                <a:solidFill>
                  <a:schemeClr val="accent1"/>
                </a:solidFill>
              </a:rPr>
            </a:br>
            <a:r>
              <a:rPr lang="es-MX" b="0" dirty="0">
                <a:solidFill>
                  <a:schemeClr val="accent1"/>
                </a:solidFill>
              </a:rPr>
              <a:t>Configuración de las aplicaciones de Ellucian Student</a:t>
            </a:r>
            <a:endParaRPr lang="es-CL" b="0" dirty="0">
              <a:solidFill>
                <a:schemeClr val="accent1"/>
              </a:solidFill>
            </a:endParaRPr>
          </a:p>
        </p:txBody>
      </p:sp>
      <p:sp>
        <p:nvSpPr>
          <p:cNvPr id="11" name="Rectángulo 10">
            <a:extLst>
              <a:ext uri="{FF2B5EF4-FFF2-40B4-BE49-F238E27FC236}">
                <a16:creationId xmlns:a16="http://schemas.microsoft.com/office/drawing/2014/main" id="{11C78435-A87E-21F8-2A7B-B0F1659CBADC}"/>
              </a:ext>
            </a:extLst>
          </p:cNvPr>
          <p:cNvSpPr/>
          <p:nvPr/>
        </p:nvSpPr>
        <p:spPr>
          <a:xfrm>
            <a:off x="622570" y="3573627"/>
            <a:ext cx="9340391" cy="53014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redondeado 8">
            <a:extLst>
              <a:ext uri="{FF2B5EF4-FFF2-40B4-BE49-F238E27FC236}">
                <a16:creationId xmlns:a16="http://schemas.microsoft.com/office/drawing/2014/main" id="{37075CB1-4FDE-BF89-FCBC-91A06CDF47E8}"/>
              </a:ext>
            </a:extLst>
          </p:cNvPr>
          <p:cNvSpPr/>
          <p:nvPr/>
        </p:nvSpPr>
        <p:spPr>
          <a:xfrm>
            <a:off x="4934234" y="3702182"/>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8" name="Rectangle: Rounded Corners 5">
            <a:extLst>
              <a:ext uri="{FF2B5EF4-FFF2-40B4-BE49-F238E27FC236}">
                <a16:creationId xmlns:a16="http://schemas.microsoft.com/office/drawing/2014/main" id="{BF7F9E1A-D41F-E0CC-61C8-CF13B8058581}"/>
              </a:ext>
            </a:extLst>
          </p:cNvPr>
          <p:cNvSpPr/>
          <p:nvPr/>
        </p:nvSpPr>
        <p:spPr>
          <a:xfrm>
            <a:off x="1708030" y="4146606"/>
            <a:ext cx="8327845" cy="2280073"/>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MX" sz="1200" dirty="0"/>
              <a:t>Los enlaces al autoservicio de Ellucian Student o a páginas externas tienen 3 líneas.</a:t>
            </a:r>
          </a:p>
          <a:p>
            <a:endParaRPr lang="es-MX" sz="1200" dirty="0"/>
          </a:p>
          <a:p>
            <a:pPr marL="171450" indent="-171450">
              <a:buFont typeface="Arial" panose="020B0604020202020204" pitchFamily="34" charset="0"/>
              <a:buChar char="•"/>
            </a:pPr>
            <a:r>
              <a:rPr lang="es-MX" sz="1200" dirty="0"/>
              <a:t>.url: El URL del enlace.</a:t>
            </a:r>
          </a:p>
          <a:p>
            <a:pPr marL="171450" indent="-171450">
              <a:buFont typeface="Arial" panose="020B0604020202020204" pitchFamily="34" charset="0"/>
              <a:buChar char="•"/>
            </a:pPr>
            <a:r>
              <a:rPr lang="es-MX" sz="1200" dirty="0"/>
              <a:t>.roles: Cuales roles podrán ver el enlace.</a:t>
            </a:r>
          </a:p>
          <a:p>
            <a:pPr marL="171450" indent="-171450">
              <a:buFont typeface="Arial" panose="020B0604020202020204" pitchFamily="34" charset="0"/>
              <a:buChar char="•"/>
            </a:pPr>
            <a:r>
              <a:rPr lang="es-MX" sz="1200" dirty="0"/>
              <a:t>.</a:t>
            </a:r>
            <a:r>
              <a:rPr lang="es-MX" sz="1200" dirty="0" err="1"/>
              <a:t>descriptioncode</a:t>
            </a:r>
            <a:r>
              <a:rPr lang="es-MX" sz="1200" dirty="0"/>
              <a:t> o .</a:t>
            </a:r>
            <a:r>
              <a:rPr lang="es-MX" sz="1200" dirty="0" err="1"/>
              <a:t>description</a:t>
            </a:r>
            <a:r>
              <a:rPr lang="es-MX" sz="1200" dirty="0"/>
              <a:t>: La etiqueta del enlace. </a:t>
            </a:r>
          </a:p>
          <a:p>
            <a:r>
              <a:rPr lang="es-MX" sz="1200" dirty="0"/>
              <a:t>	Se utiliza “</a:t>
            </a:r>
            <a:r>
              <a:rPr lang="es-MX" sz="1200" dirty="0" err="1"/>
              <a:t>descriptioncode</a:t>
            </a:r>
            <a:r>
              <a:rPr lang="es-MX" sz="1200" dirty="0"/>
              <a:t>” cuando existe una descripción preconfigurada con código de descripción.</a:t>
            </a:r>
          </a:p>
          <a:p>
            <a:r>
              <a:rPr lang="es-MX" sz="1200" dirty="0"/>
              <a:t>	Sin embargo, si desea cambiar la etiqueta predefinida, se puede cambiar el nombre de la configuración a “</a:t>
            </a:r>
            <a:r>
              <a:rPr lang="es-MX" sz="1200" dirty="0" err="1"/>
              <a:t>description</a:t>
            </a:r>
            <a:r>
              <a:rPr lang="es-MX" sz="1200" dirty="0"/>
              <a:t>” y escribir el texto personalizado en “Valor de la configuración”. </a:t>
            </a:r>
          </a:p>
          <a:p>
            <a:r>
              <a:rPr lang="es-MX" sz="1200" dirty="0"/>
              <a:t>	Similarmente, si desea agregar un enlace nuevo que no tiene código de descripción predefinido, se crea el registro “</a:t>
            </a:r>
            <a:r>
              <a:rPr lang="es-MX" sz="1200" dirty="0" err="1"/>
              <a:t>description</a:t>
            </a:r>
            <a:r>
              <a:rPr lang="es-MX" sz="1200" dirty="0"/>
              <a:t>” con el texto de la etiqueta en “Valor de la configuración”.</a:t>
            </a:r>
          </a:p>
        </p:txBody>
      </p:sp>
    </p:spTree>
    <p:extLst>
      <p:ext uri="{BB962C8B-B14F-4D97-AF65-F5344CB8AC3E}">
        <p14:creationId xmlns:p14="http://schemas.microsoft.com/office/powerpoint/2010/main" val="14935598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E30BF2FD-1385-8D42-C962-B17E07F0EF7C}"/>
              </a:ext>
            </a:extLst>
          </p:cNvPr>
          <p:cNvPicPr>
            <a:picLocks noChangeAspect="1"/>
          </p:cNvPicPr>
          <p:nvPr/>
        </p:nvPicPr>
        <p:blipFill>
          <a:blip r:embed="rId2"/>
          <a:srcRect t="5143"/>
          <a:stretch>
            <a:fillRect/>
          </a:stretch>
        </p:blipFill>
        <p:spPr>
          <a:xfrm>
            <a:off x="609600" y="1414731"/>
            <a:ext cx="10682377" cy="505589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62</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GUACONF</a:t>
            </a:r>
            <a:br>
              <a:rPr lang="es-MX" b="0" dirty="0">
                <a:solidFill>
                  <a:schemeClr val="accent1"/>
                </a:solidFill>
              </a:rPr>
            </a:br>
            <a:r>
              <a:rPr lang="es-MX" b="0" dirty="0">
                <a:solidFill>
                  <a:schemeClr val="accent1"/>
                </a:solidFill>
              </a:rPr>
              <a:t>Configuración de las aplicaciones de </a:t>
            </a:r>
            <a:r>
              <a:rPr lang="es-MX" b="0" dirty="0" err="1">
                <a:solidFill>
                  <a:schemeClr val="accent1"/>
                </a:solidFill>
              </a:rPr>
              <a:t>Ellucia</a:t>
            </a:r>
            <a:r>
              <a:rPr lang="es-MX" b="0" dirty="0">
                <a:solidFill>
                  <a:schemeClr val="accent1"/>
                </a:solidFill>
              </a:rPr>
              <a:t> Student</a:t>
            </a:r>
            <a:endParaRPr lang="es-CL" b="0" dirty="0">
              <a:solidFill>
                <a:schemeClr val="accent1"/>
              </a:solidFill>
            </a:endParaRPr>
          </a:p>
        </p:txBody>
      </p:sp>
      <p:sp>
        <p:nvSpPr>
          <p:cNvPr id="18" name="Rectangle: Rounded Corners 5">
            <a:extLst>
              <a:ext uri="{FF2B5EF4-FFF2-40B4-BE49-F238E27FC236}">
                <a16:creationId xmlns:a16="http://schemas.microsoft.com/office/drawing/2014/main" id="{BF7F9E1A-D41F-E0CC-61C8-CF13B8058581}"/>
              </a:ext>
            </a:extLst>
          </p:cNvPr>
          <p:cNvSpPr/>
          <p:nvPr/>
        </p:nvSpPr>
        <p:spPr>
          <a:xfrm>
            <a:off x="1108395" y="3191958"/>
            <a:ext cx="10183582" cy="693456"/>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b="1" dirty="0"/>
              <a:t>Observación</a:t>
            </a:r>
            <a:r>
              <a:rPr lang="es-CL" sz="1200" dirty="0"/>
              <a:t>: Esta configuración excluye el enlace a la Evaluación de Grado. El enlace a la Evaluación de Grado se configura con parámetros diferentes y siempre aparecerá como el primer enlace en “Enlaces adicionales”.  </a:t>
            </a:r>
          </a:p>
        </p:txBody>
      </p:sp>
    </p:spTree>
    <p:extLst>
      <p:ext uri="{BB962C8B-B14F-4D97-AF65-F5344CB8AC3E}">
        <p14:creationId xmlns:p14="http://schemas.microsoft.com/office/powerpoint/2010/main" val="22742918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672DD0E1-76AA-1493-343F-98F88563B309}"/>
              </a:ext>
            </a:extLst>
          </p:cNvPr>
          <p:cNvPicPr>
            <a:picLocks noChangeAspect="1"/>
          </p:cNvPicPr>
          <p:nvPr/>
        </p:nvPicPr>
        <p:blipFill>
          <a:blip r:embed="rId2"/>
          <a:srcRect t="5400"/>
          <a:stretch>
            <a:fillRect/>
          </a:stretch>
        </p:blipFill>
        <p:spPr>
          <a:xfrm>
            <a:off x="724619" y="1466491"/>
            <a:ext cx="10625920" cy="4986584"/>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63</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GUACONF</a:t>
            </a:r>
            <a:br>
              <a:rPr lang="es-MX" b="0" dirty="0">
                <a:solidFill>
                  <a:schemeClr val="accent1"/>
                </a:solidFill>
              </a:rPr>
            </a:br>
            <a:r>
              <a:rPr lang="es-MX" b="0" dirty="0">
                <a:solidFill>
                  <a:schemeClr val="accent1"/>
                </a:solidFill>
              </a:rPr>
              <a:t>Configuración de las aplicaciones de Ellucian Student</a:t>
            </a:r>
            <a:endParaRPr lang="es-CL" b="0" dirty="0">
              <a:solidFill>
                <a:schemeClr val="accent1"/>
              </a:solidFill>
            </a:endParaRPr>
          </a:p>
        </p:txBody>
      </p:sp>
      <p:sp>
        <p:nvSpPr>
          <p:cNvPr id="11" name="Rectángulo 10">
            <a:extLst>
              <a:ext uri="{FF2B5EF4-FFF2-40B4-BE49-F238E27FC236}">
                <a16:creationId xmlns:a16="http://schemas.microsoft.com/office/drawing/2014/main" id="{11C78435-A87E-21F8-2A7B-B0F1659CBADC}"/>
              </a:ext>
            </a:extLst>
          </p:cNvPr>
          <p:cNvSpPr/>
          <p:nvPr/>
        </p:nvSpPr>
        <p:spPr>
          <a:xfrm>
            <a:off x="622570" y="2160301"/>
            <a:ext cx="3603774" cy="1781663"/>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redondeado 8">
            <a:extLst>
              <a:ext uri="{FF2B5EF4-FFF2-40B4-BE49-F238E27FC236}">
                <a16:creationId xmlns:a16="http://schemas.microsoft.com/office/drawing/2014/main" id="{37075CB1-4FDE-BF89-FCBC-91A06CDF47E8}"/>
              </a:ext>
            </a:extLst>
          </p:cNvPr>
          <p:cNvSpPr/>
          <p:nvPr/>
        </p:nvSpPr>
        <p:spPr>
          <a:xfrm>
            <a:off x="4823473" y="2787601"/>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8" name="Rectangle: Rounded Corners 5">
            <a:extLst>
              <a:ext uri="{FF2B5EF4-FFF2-40B4-BE49-F238E27FC236}">
                <a16:creationId xmlns:a16="http://schemas.microsoft.com/office/drawing/2014/main" id="{BF7F9E1A-D41F-E0CC-61C8-CF13B8058581}"/>
              </a:ext>
            </a:extLst>
          </p:cNvPr>
          <p:cNvSpPr/>
          <p:nvPr/>
        </p:nvSpPr>
        <p:spPr>
          <a:xfrm>
            <a:off x="4891491" y="3051133"/>
            <a:ext cx="6690907" cy="2198199"/>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MX" sz="1200" dirty="0"/>
              <a:t>Existen configuraciones para las “Notas” o comentarios en el perfil del estudiante:</a:t>
            </a:r>
          </a:p>
          <a:p>
            <a:endParaRPr lang="es-MX" sz="1200" dirty="0"/>
          </a:p>
          <a:p>
            <a:pPr marL="171450" indent="-171450">
              <a:buFont typeface="Arial" panose="020B0604020202020204" pitchFamily="34" charset="0"/>
              <a:buChar char="•"/>
            </a:pPr>
            <a:r>
              <a:rPr lang="es-MX" sz="1200" dirty="0" err="1"/>
              <a:t>enabled</a:t>
            </a:r>
            <a:r>
              <a:rPr lang="es-MX" sz="1200" dirty="0"/>
              <a:t>: Si las notas están habilitadas y para cuales roles</a:t>
            </a:r>
          </a:p>
          <a:p>
            <a:pPr marL="171450" indent="-171450">
              <a:buFont typeface="Arial" panose="020B0604020202020204" pitchFamily="34" charset="0"/>
              <a:buChar char="•"/>
            </a:pPr>
            <a:r>
              <a:rPr lang="es-MX" sz="1200" dirty="0" err="1"/>
              <a:t>enternotes</a:t>
            </a:r>
            <a:r>
              <a:rPr lang="es-MX" sz="1200" dirty="0"/>
              <a:t>: Cuales roles pueden escribir notas</a:t>
            </a:r>
          </a:p>
          <a:p>
            <a:pPr marL="171450" indent="-171450">
              <a:buFont typeface="Arial" panose="020B0604020202020204" pitchFamily="34" charset="0"/>
              <a:buChar char="•"/>
            </a:pPr>
            <a:r>
              <a:rPr lang="es-MX" sz="1200" dirty="0" err="1"/>
              <a:t>releaseholdnote</a:t>
            </a:r>
            <a:r>
              <a:rPr lang="es-MX" sz="1200" dirty="0"/>
              <a:t>: Cuales roles pueden liberar una nota de retención.</a:t>
            </a:r>
          </a:p>
          <a:p>
            <a:pPr marL="171450" indent="-171450">
              <a:buFont typeface="Arial" panose="020B0604020202020204" pitchFamily="34" charset="0"/>
              <a:buChar char="•"/>
            </a:pPr>
            <a:r>
              <a:rPr lang="es-MX" sz="1200" dirty="0" err="1"/>
              <a:t>viewableby</a:t>
            </a:r>
            <a:r>
              <a:rPr lang="es-MX" sz="1200" dirty="0"/>
              <a:t>: Cuales roles pueden ver notas. Aquí las opciones son sólo </a:t>
            </a:r>
            <a:r>
              <a:rPr lang="es-MX" sz="1200" dirty="0" err="1"/>
              <a:t>Advisor</a:t>
            </a:r>
            <a:r>
              <a:rPr lang="es-MX" sz="1200" dirty="0"/>
              <a:t>, </a:t>
            </a:r>
            <a:r>
              <a:rPr lang="es-MX" sz="1200" dirty="0" err="1"/>
              <a:t>Student</a:t>
            </a:r>
            <a:r>
              <a:rPr lang="es-MX" sz="1200" dirty="0"/>
              <a:t> 	y/o </a:t>
            </a:r>
            <a:r>
              <a:rPr lang="es-MX" sz="1200" dirty="0" err="1"/>
              <a:t>Faculty</a:t>
            </a:r>
            <a:r>
              <a:rPr lang="es-MX" sz="1200" dirty="0"/>
              <a:t>. Como mínimo debe estar “</a:t>
            </a:r>
            <a:r>
              <a:rPr lang="es-MX" sz="1200" dirty="0" err="1"/>
              <a:t>Advisor</a:t>
            </a:r>
            <a:r>
              <a:rPr lang="es-MX" sz="1200" dirty="0"/>
              <a:t>” porque los asesores siempre 	pueden ver las notas. Esto determina las opciones que se ven al momento de 	crear una nota.</a:t>
            </a:r>
          </a:p>
        </p:txBody>
      </p:sp>
    </p:spTree>
    <p:extLst>
      <p:ext uri="{BB962C8B-B14F-4D97-AF65-F5344CB8AC3E}">
        <p14:creationId xmlns:p14="http://schemas.microsoft.com/office/powerpoint/2010/main" val="21464399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263F47D9-961D-A414-2456-A1BFFD159C29}"/>
              </a:ext>
            </a:extLst>
          </p:cNvPr>
          <p:cNvPicPr>
            <a:picLocks noChangeAspect="1"/>
          </p:cNvPicPr>
          <p:nvPr/>
        </p:nvPicPr>
        <p:blipFill>
          <a:blip r:embed="rId2"/>
          <a:srcRect t="5127"/>
          <a:stretch>
            <a:fillRect/>
          </a:stretch>
        </p:blipFill>
        <p:spPr>
          <a:xfrm>
            <a:off x="622570" y="1276709"/>
            <a:ext cx="10962705" cy="520029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64</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GUACONF</a:t>
            </a:r>
            <a:br>
              <a:rPr lang="es-MX" b="0" dirty="0">
                <a:solidFill>
                  <a:schemeClr val="accent1"/>
                </a:solidFill>
              </a:rPr>
            </a:br>
            <a:r>
              <a:rPr lang="es-MX" b="0" dirty="0">
                <a:solidFill>
                  <a:schemeClr val="accent1"/>
                </a:solidFill>
              </a:rPr>
              <a:t>Configuración de las aplicaciones de Ellucian Student</a:t>
            </a:r>
            <a:endParaRPr lang="es-CL" b="0" dirty="0">
              <a:solidFill>
                <a:schemeClr val="accent1"/>
              </a:solidFill>
            </a:endParaRPr>
          </a:p>
        </p:txBody>
      </p:sp>
      <p:sp>
        <p:nvSpPr>
          <p:cNvPr id="11" name="Rectángulo 10">
            <a:extLst>
              <a:ext uri="{FF2B5EF4-FFF2-40B4-BE49-F238E27FC236}">
                <a16:creationId xmlns:a16="http://schemas.microsoft.com/office/drawing/2014/main" id="{11C78435-A87E-21F8-2A7B-B0F1659CBADC}"/>
              </a:ext>
            </a:extLst>
          </p:cNvPr>
          <p:cNvSpPr/>
          <p:nvPr/>
        </p:nvSpPr>
        <p:spPr>
          <a:xfrm>
            <a:off x="606725" y="2337438"/>
            <a:ext cx="9770852" cy="1293691"/>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redondeado 8">
            <a:extLst>
              <a:ext uri="{FF2B5EF4-FFF2-40B4-BE49-F238E27FC236}">
                <a16:creationId xmlns:a16="http://schemas.microsoft.com/office/drawing/2014/main" id="{37075CB1-4FDE-BF89-FCBC-91A06CDF47E8}"/>
              </a:ext>
            </a:extLst>
          </p:cNvPr>
          <p:cNvSpPr/>
          <p:nvPr/>
        </p:nvSpPr>
        <p:spPr>
          <a:xfrm>
            <a:off x="4561184" y="3631130"/>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8" name="Rectangle: Rounded Corners 5">
            <a:extLst>
              <a:ext uri="{FF2B5EF4-FFF2-40B4-BE49-F238E27FC236}">
                <a16:creationId xmlns:a16="http://schemas.microsoft.com/office/drawing/2014/main" id="{BF7F9E1A-D41F-E0CC-61C8-CF13B8058581}"/>
              </a:ext>
            </a:extLst>
          </p:cNvPr>
          <p:cNvSpPr/>
          <p:nvPr/>
        </p:nvSpPr>
        <p:spPr>
          <a:xfrm>
            <a:off x="5014409" y="3631130"/>
            <a:ext cx="6690907" cy="877875"/>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Estas configuraciones permiten determinar las columnas que aparecen en la página de la lista de asesorados, según el rol del asesor.</a:t>
            </a:r>
          </a:p>
        </p:txBody>
      </p:sp>
    </p:spTree>
    <p:extLst>
      <p:ext uri="{BB962C8B-B14F-4D97-AF65-F5344CB8AC3E}">
        <p14:creationId xmlns:p14="http://schemas.microsoft.com/office/powerpoint/2010/main" val="26324074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6C735C8F-ED2C-80E2-72AD-810EB283A7BA}"/>
              </a:ext>
            </a:extLst>
          </p:cNvPr>
          <p:cNvPicPr>
            <a:picLocks noChangeAspect="1"/>
          </p:cNvPicPr>
          <p:nvPr/>
        </p:nvPicPr>
        <p:blipFill>
          <a:blip r:embed="rId2"/>
          <a:stretch>
            <a:fillRect/>
          </a:stretch>
        </p:blipFill>
        <p:spPr>
          <a:xfrm>
            <a:off x="810247" y="1108326"/>
            <a:ext cx="10706018" cy="538938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65</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GUACONF</a:t>
            </a:r>
            <a:br>
              <a:rPr lang="es-MX" b="0" dirty="0">
                <a:solidFill>
                  <a:schemeClr val="accent1"/>
                </a:solidFill>
              </a:rPr>
            </a:br>
            <a:r>
              <a:rPr lang="es-MX" b="0" dirty="0">
                <a:solidFill>
                  <a:schemeClr val="accent1"/>
                </a:solidFill>
              </a:rPr>
              <a:t>Configuración de las aplicaciones de Ellucian Student</a:t>
            </a:r>
            <a:endParaRPr lang="es-CL" b="0" dirty="0">
              <a:solidFill>
                <a:schemeClr val="accent1"/>
              </a:solidFill>
            </a:endParaRPr>
          </a:p>
        </p:txBody>
      </p:sp>
      <p:sp>
        <p:nvSpPr>
          <p:cNvPr id="11" name="Rectángulo 10">
            <a:extLst>
              <a:ext uri="{FF2B5EF4-FFF2-40B4-BE49-F238E27FC236}">
                <a16:creationId xmlns:a16="http://schemas.microsoft.com/office/drawing/2014/main" id="{11C78435-A87E-21F8-2A7B-B0F1659CBADC}"/>
              </a:ext>
            </a:extLst>
          </p:cNvPr>
          <p:cNvSpPr/>
          <p:nvPr/>
        </p:nvSpPr>
        <p:spPr>
          <a:xfrm>
            <a:off x="954510" y="2064471"/>
            <a:ext cx="8594931" cy="26353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angle: Rounded Corners 5">
            <a:extLst>
              <a:ext uri="{FF2B5EF4-FFF2-40B4-BE49-F238E27FC236}">
                <a16:creationId xmlns:a16="http://schemas.microsoft.com/office/drawing/2014/main" id="{BF7F9E1A-D41F-E0CC-61C8-CF13B8058581}"/>
              </a:ext>
            </a:extLst>
          </p:cNvPr>
          <p:cNvSpPr/>
          <p:nvPr/>
        </p:nvSpPr>
        <p:spPr>
          <a:xfrm>
            <a:off x="5872876" y="2565358"/>
            <a:ext cx="3511524" cy="529671"/>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Columnas configuradas en GUACONF</a:t>
            </a:r>
          </a:p>
        </p:txBody>
      </p:sp>
    </p:spTree>
    <p:extLst>
      <p:ext uri="{BB962C8B-B14F-4D97-AF65-F5344CB8AC3E}">
        <p14:creationId xmlns:p14="http://schemas.microsoft.com/office/powerpoint/2010/main" val="6404715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7C6ECC9B-D614-C4B4-2B78-664B086D8897}"/>
              </a:ext>
            </a:extLst>
          </p:cNvPr>
          <p:cNvPicPr>
            <a:picLocks noChangeAspect="1"/>
          </p:cNvPicPr>
          <p:nvPr/>
        </p:nvPicPr>
        <p:blipFill>
          <a:blip r:embed="rId2"/>
          <a:stretch>
            <a:fillRect/>
          </a:stretch>
        </p:blipFill>
        <p:spPr>
          <a:xfrm>
            <a:off x="883559" y="3569563"/>
            <a:ext cx="10343709" cy="2343766"/>
          </a:xfrm>
          <a:prstGeom prst="rect">
            <a:avLst/>
          </a:prstGeom>
        </p:spPr>
      </p:pic>
      <p:pic>
        <p:nvPicPr>
          <p:cNvPr id="6" name="Imagen 5">
            <a:extLst>
              <a:ext uri="{FF2B5EF4-FFF2-40B4-BE49-F238E27FC236}">
                <a16:creationId xmlns:a16="http://schemas.microsoft.com/office/drawing/2014/main" id="{5FB64F8D-1137-CDB7-FF36-868225892FA9}"/>
              </a:ext>
            </a:extLst>
          </p:cNvPr>
          <p:cNvPicPr>
            <a:picLocks noChangeAspect="1"/>
          </p:cNvPicPr>
          <p:nvPr/>
        </p:nvPicPr>
        <p:blipFill>
          <a:blip r:embed="rId3"/>
          <a:stretch>
            <a:fillRect/>
          </a:stretch>
        </p:blipFill>
        <p:spPr>
          <a:xfrm>
            <a:off x="883560" y="1170805"/>
            <a:ext cx="10343709" cy="2562995"/>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66</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GUACONF</a:t>
            </a:r>
            <a:br>
              <a:rPr lang="es-MX" b="0" dirty="0">
                <a:solidFill>
                  <a:schemeClr val="accent1"/>
                </a:solidFill>
              </a:rPr>
            </a:br>
            <a:r>
              <a:rPr lang="es-MX" b="0" dirty="0">
                <a:solidFill>
                  <a:schemeClr val="accent1"/>
                </a:solidFill>
              </a:rPr>
              <a:t>Configuración de las aplicaciones de Ellucian Student</a:t>
            </a:r>
            <a:endParaRPr lang="es-CL" b="0" dirty="0">
              <a:solidFill>
                <a:schemeClr val="accent1"/>
              </a:solidFill>
            </a:endParaRPr>
          </a:p>
        </p:txBody>
      </p:sp>
      <p:sp>
        <p:nvSpPr>
          <p:cNvPr id="11" name="Rectángulo 10">
            <a:extLst>
              <a:ext uri="{FF2B5EF4-FFF2-40B4-BE49-F238E27FC236}">
                <a16:creationId xmlns:a16="http://schemas.microsoft.com/office/drawing/2014/main" id="{11C78435-A87E-21F8-2A7B-B0F1659CBADC}"/>
              </a:ext>
            </a:extLst>
          </p:cNvPr>
          <p:cNvSpPr/>
          <p:nvPr/>
        </p:nvSpPr>
        <p:spPr>
          <a:xfrm>
            <a:off x="883560" y="2497137"/>
            <a:ext cx="9640507" cy="38947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redondeado 8">
            <a:extLst>
              <a:ext uri="{FF2B5EF4-FFF2-40B4-BE49-F238E27FC236}">
                <a16:creationId xmlns:a16="http://schemas.microsoft.com/office/drawing/2014/main" id="{37075CB1-4FDE-BF89-FCBC-91A06CDF47E8}"/>
              </a:ext>
            </a:extLst>
          </p:cNvPr>
          <p:cNvSpPr/>
          <p:nvPr/>
        </p:nvSpPr>
        <p:spPr>
          <a:xfrm>
            <a:off x="4357096" y="1741830"/>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8" name="Rectangle: Rounded Corners 5">
            <a:extLst>
              <a:ext uri="{FF2B5EF4-FFF2-40B4-BE49-F238E27FC236}">
                <a16:creationId xmlns:a16="http://schemas.microsoft.com/office/drawing/2014/main" id="{BF7F9E1A-D41F-E0CC-61C8-CF13B8058581}"/>
              </a:ext>
            </a:extLst>
          </p:cNvPr>
          <p:cNvSpPr/>
          <p:nvPr/>
        </p:nvSpPr>
        <p:spPr>
          <a:xfrm>
            <a:off x="4810321" y="1514600"/>
            <a:ext cx="6690907" cy="695337"/>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Las líneas de “</a:t>
            </a:r>
            <a:r>
              <a:rPr lang="es-CL" sz="1200" dirty="0" err="1"/>
              <a:t>emailAll</a:t>
            </a:r>
            <a:r>
              <a:rPr lang="es-CL" sz="1200" dirty="0"/>
              <a:t>” controlan el botón “Enviar correo-e a todos” y funcionan de manera similar a otras configuraciones que se ha mostrado antes.</a:t>
            </a:r>
          </a:p>
        </p:txBody>
      </p:sp>
      <p:sp>
        <p:nvSpPr>
          <p:cNvPr id="9" name="Rectángulo 8">
            <a:extLst>
              <a:ext uri="{FF2B5EF4-FFF2-40B4-BE49-F238E27FC236}">
                <a16:creationId xmlns:a16="http://schemas.microsoft.com/office/drawing/2014/main" id="{DFD9784E-3300-4626-9F97-CF00B0C455CA}"/>
              </a:ext>
            </a:extLst>
          </p:cNvPr>
          <p:cNvSpPr/>
          <p:nvPr/>
        </p:nvSpPr>
        <p:spPr>
          <a:xfrm>
            <a:off x="7858664" y="4416754"/>
            <a:ext cx="905774" cy="191941"/>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9249332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1">
            <a:extLst>
              <a:ext uri="{FF2B5EF4-FFF2-40B4-BE49-F238E27FC236}">
                <a16:creationId xmlns:a16="http://schemas.microsoft.com/office/drawing/2014/main" id="{216B2564-7183-4DB7-4E95-CA8E45333CB8}"/>
              </a:ext>
            </a:extLst>
          </p:cNvPr>
          <p:cNvSpPr>
            <a:spLocks noGrp="1"/>
          </p:cNvSpPr>
          <p:nvPr>
            <p:ph type="body" sz="quarter" idx="18"/>
          </p:nvPr>
        </p:nvSpPr>
        <p:spPr>
          <a:xfrm>
            <a:off x="1027871" y="1656272"/>
            <a:ext cx="10136257" cy="3105319"/>
          </a:xfrm>
        </p:spPr>
        <p:txBody>
          <a:bodyPr vert="horz" lIns="91440" tIns="45720" rIns="91440" bIns="45720" rtlCol="0" anchor="t">
            <a:noAutofit/>
          </a:bodyPr>
          <a:lstStyle/>
          <a:p>
            <a:pPr marL="0" indent="0" algn="just">
              <a:buClr>
                <a:srgbClr val="0CB4B4"/>
              </a:buClr>
              <a:buNone/>
            </a:pPr>
            <a:r>
              <a:rPr lang="es-MX" sz="2400" dirty="0">
                <a:solidFill>
                  <a:srgbClr val="7030A0"/>
                </a:solidFill>
              </a:rPr>
              <a:t>Tenga en cuenta que los siguientes campos si están habilitados en el perfil del estudiante, la tarjeta de estudiante y/o la tarjeta de docente/asesor, se visualizarán cuándo:</a:t>
            </a:r>
          </a:p>
          <a:p>
            <a:pPr algn="just">
              <a:buClr>
                <a:schemeClr val="tx1"/>
              </a:buClr>
              <a:buFont typeface="Wingdings" panose="05000000000000000000" pitchFamily="2" charset="2"/>
              <a:buChar char="v"/>
            </a:pPr>
            <a:r>
              <a:rPr lang="es-ES_tradnl" sz="2400" dirty="0">
                <a:solidFill>
                  <a:srgbClr val="7030A0"/>
                </a:solidFill>
              </a:rPr>
              <a:t>Correo-e:</a:t>
            </a:r>
          </a:p>
          <a:p>
            <a:pPr marL="511175" lvl="1" indent="-342900" algn="just">
              <a:buClr>
                <a:schemeClr val="tx1"/>
              </a:buClr>
              <a:buFont typeface="Wingdings" panose="05000000000000000000" pitchFamily="2" charset="2"/>
              <a:buChar char="ü"/>
            </a:pPr>
            <a:r>
              <a:rPr lang="es-CL" sz="2000" dirty="0">
                <a:solidFill>
                  <a:srgbClr val="7030A0"/>
                </a:solidFill>
              </a:rPr>
              <a:t>Se muestra el que tiene los indicadores de “preferido” y “desplegar en web” en SPAIDEN.</a:t>
            </a:r>
          </a:p>
          <a:p>
            <a:pPr marL="511175" lvl="1" indent="-342900" algn="just">
              <a:buClr>
                <a:schemeClr val="tx1"/>
              </a:buClr>
              <a:buFont typeface="Wingdings" panose="05000000000000000000" pitchFamily="2" charset="2"/>
              <a:buChar char="ü"/>
            </a:pPr>
            <a:r>
              <a:rPr lang="es-CL" sz="2000" dirty="0">
                <a:solidFill>
                  <a:srgbClr val="7030A0"/>
                </a:solidFill>
              </a:rPr>
              <a:t>Si no tiene ningún “preferido”, se mostrará el primer correo activo que tiene el indicador de “desplegar en web”.</a:t>
            </a:r>
            <a:endParaRPr lang="es-ES_tradnl" sz="2400" dirty="0">
              <a:solidFill>
                <a:srgbClr val="7030A0"/>
              </a:solidFill>
            </a:endParaRPr>
          </a:p>
          <a:p>
            <a:pPr algn="just">
              <a:buClr>
                <a:schemeClr val="tx1"/>
              </a:buClr>
              <a:buFont typeface="Wingdings" panose="05000000000000000000" pitchFamily="2" charset="2"/>
              <a:buChar char="v"/>
            </a:pPr>
            <a:r>
              <a:rPr lang="es-ES_tradnl" sz="2400" dirty="0">
                <a:solidFill>
                  <a:srgbClr val="7030A0"/>
                </a:solidFill>
              </a:rPr>
              <a:t>Teléfono y Dirección:</a:t>
            </a:r>
          </a:p>
          <a:p>
            <a:pPr marL="511175" lvl="1" indent="-342900" algn="just">
              <a:buClr>
                <a:schemeClr val="tx1"/>
              </a:buClr>
              <a:buFont typeface="Wingdings" panose="05000000000000000000" pitchFamily="2" charset="2"/>
              <a:buChar char="ü"/>
            </a:pPr>
            <a:r>
              <a:rPr lang="es-CL" sz="2000" dirty="0">
                <a:solidFill>
                  <a:srgbClr val="7030A0"/>
                </a:solidFill>
              </a:rPr>
              <a:t>Se puede configurar una jerarquía de los tipos que desea mostrar en GOADIRO.</a:t>
            </a:r>
            <a:endParaRPr lang="es-ES_tradnl" sz="3600" dirty="0"/>
          </a:p>
          <a:p>
            <a:pPr marL="285750" indent="-285750" algn="just">
              <a:buClr>
                <a:srgbClr val="0CB4B4"/>
              </a:buClr>
              <a:buFont typeface="Wingdings" panose="05000000000000000000" pitchFamily="2" charset="2"/>
              <a:buChar char="q"/>
            </a:pPr>
            <a:endParaRPr lang="es-MX" sz="2400" dirty="0">
              <a:solidFill>
                <a:srgbClr val="7030A0"/>
              </a:solidFill>
            </a:endParaRPr>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67</a:t>
            </a:fld>
            <a:endParaRPr lang="en-US" dirty="0"/>
          </a:p>
        </p:txBody>
      </p:sp>
      <p:sp>
        <p:nvSpPr>
          <p:cNvPr id="8" name="Título 3">
            <a:extLst>
              <a:ext uri="{FF2B5EF4-FFF2-40B4-BE49-F238E27FC236}">
                <a16:creationId xmlns:a16="http://schemas.microsoft.com/office/drawing/2014/main" id="{800C5212-43CF-D4E1-6D4D-5B7FD36704D3}"/>
              </a:ext>
            </a:extLst>
          </p:cNvPr>
          <p:cNvSpPr>
            <a:spLocks noGrp="1"/>
          </p:cNvSpPr>
          <p:nvPr>
            <p:ph type="title"/>
          </p:nvPr>
        </p:nvSpPr>
        <p:spPr>
          <a:xfrm>
            <a:off x="810247" y="327992"/>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GUACONF Configuración y Personalización de Información</a:t>
            </a:r>
            <a:endParaRPr lang="es-CL" b="0" dirty="0">
              <a:solidFill>
                <a:schemeClr val="accent1"/>
              </a:solidFill>
            </a:endParaRPr>
          </a:p>
        </p:txBody>
      </p:sp>
    </p:spTree>
    <p:extLst>
      <p:ext uri="{BB962C8B-B14F-4D97-AF65-F5344CB8AC3E}">
        <p14:creationId xmlns:p14="http://schemas.microsoft.com/office/powerpoint/2010/main" val="42449467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34B68565-591D-9459-47B4-CA0199951679}"/>
              </a:ext>
            </a:extLst>
          </p:cNvPr>
          <p:cNvPicPr>
            <a:picLocks noChangeAspect="1"/>
          </p:cNvPicPr>
          <p:nvPr/>
        </p:nvPicPr>
        <p:blipFill>
          <a:blip r:embed="rId2"/>
          <a:stretch>
            <a:fillRect/>
          </a:stretch>
        </p:blipFill>
        <p:spPr>
          <a:xfrm>
            <a:off x="749363" y="1095337"/>
            <a:ext cx="10775528" cy="537371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68</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GOADIRO</a:t>
            </a:r>
            <a:br>
              <a:rPr lang="es-MX" b="0" dirty="0">
                <a:solidFill>
                  <a:schemeClr val="accent1"/>
                </a:solidFill>
              </a:rPr>
            </a:br>
            <a:r>
              <a:rPr lang="es-MX" b="0" dirty="0">
                <a:solidFill>
                  <a:schemeClr val="accent1"/>
                </a:solidFill>
              </a:rPr>
              <a:t>Reglas de opciones de directorio</a:t>
            </a:r>
            <a:endParaRPr lang="es-CL" b="0" dirty="0">
              <a:solidFill>
                <a:schemeClr val="accent1"/>
              </a:solidFill>
            </a:endParaRPr>
          </a:p>
        </p:txBody>
      </p:sp>
      <p:sp>
        <p:nvSpPr>
          <p:cNvPr id="10" name="Rectangle: Rounded Corners 5">
            <a:extLst>
              <a:ext uri="{FF2B5EF4-FFF2-40B4-BE49-F238E27FC236}">
                <a16:creationId xmlns:a16="http://schemas.microsoft.com/office/drawing/2014/main" id="{DD72F631-C9B5-74AD-7CDA-3C69D787D9C7}"/>
              </a:ext>
            </a:extLst>
          </p:cNvPr>
          <p:cNvSpPr/>
          <p:nvPr/>
        </p:nvSpPr>
        <p:spPr>
          <a:xfrm>
            <a:off x="6902177" y="4005556"/>
            <a:ext cx="4905130" cy="1068552"/>
          </a:xfrm>
          <a:prstGeom prst="roundRect">
            <a:avLst>
              <a:gd name="adj" fmla="val 19418"/>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Se debe asignar una prioridad a cada tipo. Por ejemplo, en este caso, se mostrará el celular en primera instancia, pero si el estudiante no tiene un celular registrado, se mostrará el teléfono de habitación.</a:t>
            </a:r>
          </a:p>
        </p:txBody>
      </p:sp>
      <p:sp>
        <p:nvSpPr>
          <p:cNvPr id="11" name="Rectángulo 10">
            <a:extLst>
              <a:ext uri="{FF2B5EF4-FFF2-40B4-BE49-F238E27FC236}">
                <a16:creationId xmlns:a16="http://schemas.microsoft.com/office/drawing/2014/main" id="{11C78435-A87E-21F8-2A7B-B0F1659CBADC}"/>
              </a:ext>
            </a:extLst>
          </p:cNvPr>
          <p:cNvSpPr/>
          <p:nvPr/>
        </p:nvSpPr>
        <p:spPr>
          <a:xfrm>
            <a:off x="749363" y="5295552"/>
            <a:ext cx="1340800" cy="445443"/>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Rectángulo redondeado 8">
            <a:extLst>
              <a:ext uri="{FF2B5EF4-FFF2-40B4-BE49-F238E27FC236}">
                <a16:creationId xmlns:a16="http://schemas.microsoft.com/office/drawing/2014/main" id="{F59C5C8A-0C43-B59F-CDF2-6EA7306757B3}"/>
              </a:ext>
            </a:extLst>
          </p:cNvPr>
          <p:cNvSpPr/>
          <p:nvPr/>
        </p:nvSpPr>
        <p:spPr>
          <a:xfrm>
            <a:off x="10773122" y="5102902"/>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3</a:t>
            </a:r>
          </a:p>
        </p:txBody>
      </p:sp>
      <p:sp>
        <p:nvSpPr>
          <p:cNvPr id="13" name="Rectángulo 12">
            <a:extLst>
              <a:ext uri="{FF2B5EF4-FFF2-40B4-BE49-F238E27FC236}">
                <a16:creationId xmlns:a16="http://schemas.microsoft.com/office/drawing/2014/main" id="{DA0A86B2-9EA5-82A6-AF49-DD4A803FA262}"/>
              </a:ext>
            </a:extLst>
          </p:cNvPr>
          <p:cNvSpPr/>
          <p:nvPr/>
        </p:nvSpPr>
        <p:spPr>
          <a:xfrm>
            <a:off x="756586" y="2029899"/>
            <a:ext cx="1146067" cy="829575"/>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13">
            <a:extLst>
              <a:ext uri="{FF2B5EF4-FFF2-40B4-BE49-F238E27FC236}">
                <a16:creationId xmlns:a16="http://schemas.microsoft.com/office/drawing/2014/main" id="{F5DD9D7B-9799-76AE-3198-32E6A65EB105}"/>
              </a:ext>
            </a:extLst>
          </p:cNvPr>
          <p:cNvSpPr/>
          <p:nvPr/>
        </p:nvSpPr>
        <p:spPr>
          <a:xfrm>
            <a:off x="10540360" y="5447493"/>
            <a:ext cx="984531" cy="381253"/>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Rectángulo redondeado 8">
            <a:extLst>
              <a:ext uri="{FF2B5EF4-FFF2-40B4-BE49-F238E27FC236}">
                <a16:creationId xmlns:a16="http://schemas.microsoft.com/office/drawing/2014/main" id="{43F106FF-3C99-039F-18F9-BD426CD16BF6}"/>
              </a:ext>
            </a:extLst>
          </p:cNvPr>
          <p:cNvSpPr/>
          <p:nvPr/>
        </p:nvSpPr>
        <p:spPr>
          <a:xfrm>
            <a:off x="2215200" y="2181154"/>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16" name="Rectangle: Rounded Corners 5">
            <a:extLst>
              <a:ext uri="{FF2B5EF4-FFF2-40B4-BE49-F238E27FC236}">
                <a16:creationId xmlns:a16="http://schemas.microsoft.com/office/drawing/2014/main" id="{E9CCF462-A439-F0FC-ABFB-A228EE5EE353}"/>
              </a:ext>
            </a:extLst>
          </p:cNvPr>
          <p:cNvSpPr/>
          <p:nvPr/>
        </p:nvSpPr>
        <p:spPr>
          <a:xfrm>
            <a:off x="2748598" y="2104600"/>
            <a:ext cx="8203790" cy="569526"/>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ADDR_CP y TELE_CP son los códigos a los cuales se refiere para estudiantes y ADDR_OF y TELE_OF para docentes/asesores</a:t>
            </a:r>
          </a:p>
        </p:txBody>
      </p:sp>
      <p:sp>
        <p:nvSpPr>
          <p:cNvPr id="17" name="Rectángulo redondeado 8">
            <a:extLst>
              <a:ext uri="{FF2B5EF4-FFF2-40B4-BE49-F238E27FC236}">
                <a16:creationId xmlns:a16="http://schemas.microsoft.com/office/drawing/2014/main" id="{37075CB1-4FDE-BF89-FCBC-91A06CDF47E8}"/>
              </a:ext>
            </a:extLst>
          </p:cNvPr>
          <p:cNvSpPr/>
          <p:nvPr/>
        </p:nvSpPr>
        <p:spPr>
          <a:xfrm>
            <a:off x="3467239" y="4704397"/>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8" name="Rectangle: Rounded Corners 5">
            <a:extLst>
              <a:ext uri="{FF2B5EF4-FFF2-40B4-BE49-F238E27FC236}">
                <a16:creationId xmlns:a16="http://schemas.microsoft.com/office/drawing/2014/main" id="{BF7F9E1A-D41F-E0CC-61C8-CF13B8058581}"/>
              </a:ext>
            </a:extLst>
          </p:cNvPr>
          <p:cNvSpPr/>
          <p:nvPr/>
        </p:nvSpPr>
        <p:spPr>
          <a:xfrm>
            <a:off x="2157147" y="5171545"/>
            <a:ext cx="3371334" cy="693456"/>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En el siguiente bloque, se configura los tipos de dirección (STVATYP) o tipos de teléfono (STVTELE) según el caso. </a:t>
            </a:r>
          </a:p>
        </p:txBody>
      </p:sp>
      <p:sp>
        <p:nvSpPr>
          <p:cNvPr id="21" name="Rectángulo 20">
            <a:extLst>
              <a:ext uri="{FF2B5EF4-FFF2-40B4-BE49-F238E27FC236}">
                <a16:creationId xmlns:a16="http://schemas.microsoft.com/office/drawing/2014/main" id="{4C0F0E26-454F-3A75-3654-46CB40FE0EA6}"/>
              </a:ext>
            </a:extLst>
          </p:cNvPr>
          <p:cNvSpPr/>
          <p:nvPr/>
        </p:nvSpPr>
        <p:spPr>
          <a:xfrm>
            <a:off x="5561377" y="5295551"/>
            <a:ext cx="1340800" cy="445443"/>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3109703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D489-D411-281E-85CA-24ADE43264F0}"/>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45CB3D5C-1F4E-43FA-00B3-7705C83F3C10}"/>
              </a:ext>
            </a:extLst>
          </p:cNvPr>
          <p:cNvSpPr>
            <a:spLocks noGrp="1"/>
          </p:cNvSpPr>
          <p:nvPr>
            <p:ph type="body" orient="vert" sz="quarter" idx="10"/>
          </p:nvPr>
        </p:nvSpPr>
        <p:spPr/>
        <p:txBody>
          <a:bodyPr/>
          <a:lstStyle/>
          <a:p>
            <a:r>
              <a:rPr lang="es-MX" sz="1200" dirty="0"/>
              <a:t>Configuración de Autoservicio</a:t>
            </a:r>
            <a:endParaRPr lang="en-US" dirty="0"/>
          </a:p>
        </p:txBody>
      </p:sp>
      <p:sp>
        <p:nvSpPr>
          <p:cNvPr id="16" name="Title 15">
            <a:extLst>
              <a:ext uri="{FF2B5EF4-FFF2-40B4-BE49-F238E27FC236}">
                <a16:creationId xmlns:a16="http://schemas.microsoft.com/office/drawing/2014/main" id="{EA22966F-8472-B7A7-2DDE-81E2B4134717}"/>
              </a:ext>
            </a:extLst>
          </p:cNvPr>
          <p:cNvSpPr>
            <a:spLocks noGrp="1"/>
          </p:cNvSpPr>
          <p:nvPr>
            <p:ph type="title"/>
          </p:nvPr>
        </p:nvSpPr>
        <p:spPr/>
        <p:txBody>
          <a:bodyPr/>
          <a:lstStyle/>
          <a:p>
            <a:r>
              <a:rPr lang="es-MX" dirty="0"/>
              <a:t>SOAWDSP</a:t>
            </a:r>
            <a:r>
              <a:rPr lang="es-MX" b="0" dirty="0"/>
              <a:t> Personalización de lista de despliegue en web</a:t>
            </a:r>
            <a:endParaRPr lang="en-US" sz="3200" b="1" dirty="0">
              <a:solidFill>
                <a:schemeClr val="bg1"/>
              </a:solidFill>
            </a:endParaRPr>
          </a:p>
        </p:txBody>
      </p:sp>
      <p:sp>
        <p:nvSpPr>
          <p:cNvPr id="17" name="Text Placeholder 16">
            <a:extLst>
              <a:ext uri="{FF2B5EF4-FFF2-40B4-BE49-F238E27FC236}">
                <a16:creationId xmlns:a16="http://schemas.microsoft.com/office/drawing/2014/main" id="{3EC704EA-1DAB-433B-D50E-2B8AAE07D399}"/>
              </a:ext>
            </a:extLst>
          </p:cNvPr>
          <p:cNvSpPr>
            <a:spLocks noGrp="1"/>
          </p:cNvSpPr>
          <p:nvPr>
            <p:ph type="body" sz="quarter" idx="18"/>
          </p:nvPr>
        </p:nvSpPr>
        <p:spPr/>
        <p:txBody>
          <a:bodyPr/>
          <a:lstStyle/>
          <a:p>
            <a:endParaRPr lang="en-US" dirty="0"/>
          </a:p>
        </p:txBody>
      </p:sp>
      <p:sp>
        <p:nvSpPr>
          <p:cNvPr id="18" name="Slide Number Placeholder 17">
            <a:extLst>
              <a:ext uri="{FF2B5EF4-FFF2-40B4-BE49-F238E27FC236}">
                <a16:creationId xmlns:a16="http://schemas.microsoft.com/office/drawing/2014/main" id="{64ECC06D-FBD9-DFEB-6B8C-A4335D33C289}"/>
              </a:ext>
            </a:extLst>
          </p:cNvPr>
          <p:cNvSpPr>
            <a:spLocks noGrp="1"/>
          </p:cNvSpPr>
          <p:nvPr>
            <p:ph type="sldNum" sz="quarter" idx="4"/>
          </p:nvPr>
        </p:nvSpPr>
        <p:spPr/>
        <p:txBody>
          <a:bodyPr/>
          <a:lstStyle/>
          <a:p>
            <a:fld id="{4A16F8ED-7337-F64C-865A-41A1F48E54DF}" type="slidenum">
              <a:rPr lang="en-US" smtClean="0"/>
              <a:pPr/>
              <a:t>69</a:t>
            </a:fld>
            <a:endParaRPr lang="en-US" dirty="0"/>
          </a:p>
        </p:txBody>
      </p:sp>
    </p:spTree>
    <p:extLst>
      <p:ext uri="{BB962C8B-B14F-4D97-AF65-F5344CB8AC3E}">
        <p14:creationId xmlns:p14="http://schemas.microsoft.com/office/powerpoint/2010/main" val="23704851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n 13">
            <a:extLst>
              <a:ext uri="{FF2B5EF4-FFF2-40B4-BE49-F238E27FC236}">
                <a16:creationId xmlns:a16="http://schemas.microsoft.com/office/drawing/2014/main" id="{475B4921-F4E5-5750-47E4-EA878D243F21}"/>
              </a:ext>
            </a:extLst>
          </p:cNvPr>
          <p:cNvPicPr>
            <a:picLocks noChangeAspect="1"/>
          </p:cNvPicPr>
          <p:nvPr/>
        </p:nvPicPr>
        <p:blipFill>
          <a:blip r:embed="rId2"/>
          <a:stretch>
            <a:fillRect/>
          </a:stretch>
        </p:blipFill>
        <p:spPr>
          <a:xfrm>
            <a:off x="1005642" y="1328468"/>
            <a:ext cx="10312476" cy="513739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70</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SOAWDSP</a:t>
            </a:r>
            <a:br>
              <a:rPr lang="es-MX" b="0" dirty="0">
                <a:solidFill>
                  <a:schemeClr val="accent1"/>
                </a:solidFill>
              </a:rPr>
            </a:br>
            <a:r>
              <a:rPr lang="es-MX" b="0" dirty="0">
                <a:solidFill>
                  <a:schemeClr val="accent1"/>
                </a:solidFill>
              </a:rPr>
              <a:t>Personalización de lista de despliegue en web</a:t>
            </a:r>
            <a:endParaRPr lang="es-CL" b="0" dirty="0">
              <a:solidFill>
                <a:schemeClr val="accent1"/>
              </a:solidFill>
            </a:endParaRPr>
          </a:p>
        </p:txBody>
      </p:sp>
      <p:sp>
        <p:nvSpPr>
          <p:cNvPr id="17" name="Rectángulo redondeado 8">
            <a:extLst>
              <a:ext uri="{FF2B5EF4-FFF2-40B4-BE49-F238E27FC236}">
                <a16:creationId xmlns:a16="http://schemas.microsoft.com/office/drawing/2014/main" id="{37075CB1-4FDE-BF89-FCBC-91A06CDF47E8}"/>
              </a:ext>
            </a:extLst>
          </p:cNvPr>
          <p:cNvSpPr/>
          <p:nvPr/>
        </p:nvSpPr>
        <p:spPr>
          <a:xfrm>
            <a:off x="4932707" y="1775068"/>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1</a:t>
            </a:r>
          </a:p>
        </p:txBody>
      </p:sp>
      <p:sp>
        <p:nvSpPr>
          <p:cNvPr id="8" name="Rectangle: Rounded Corners 5">
            <a:extLst>
              <a:ext uri="{FF2B5EF4-FFF2-40B4-BE49-F238E27FC236}">
                <a16:creationId xmlns:a16="http://schemas.microsoft.com/office/drawing/2014/main" id="{BF7F9E1A-D41F-E0CC-61C8-CF13B8058581}"/>
              </a:ext>
            </a:extLst>
          </p:cNvPr>
          <p:cNvSpPr/>
          <p:nvPr/>
        </p:nvSpPr>
        <p:spPr>
          <a:xfrm>
            <a:off x="5378800" y="1463474"/>
            <a:ext cx="3069863" cy="1093459"/>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Para la tabla STVTESC, seleccionar los exámenes en la columna izquierda. hacer clic en “Insertar selección” para moverlos a la columna derecha. </a:t>
            </a:r>
          </a:p>
        </p:txBody>
      </p:sp>
      <p:sp>
        <p:nvSpPr>
          <p:cNvPr id="9" name="Rectángulo 8">
            <a:extLst>
              <a:ext uri="{FF2B5EF4-FFF2-40B4-BE49-F238E27FC236}">
                <a16:creationId xmlns:a16="http://schemas.microsoft.com/office/drawing/2014/main" id="{DFD9784E-3300-4626-9F97-CF00B0C455CA}"/>
              </a:ext>
            </a:extLst>
          </p:cNvPr>
          <p:cNvSpPr/>
          <p:nvPr/>
        </p:nvSpPr>
        <p:spPr>
          <a:xfrm>
            <a:off x="992672" y="1775068"/>
            <a:ext cx="3723260" cy="280659"/>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ángulo 6">
            <a:extLst>
              <a:ext uri="{FF2B5EF4-FFF2-40B4-BE49-F238E27FC236}">
                <a16:creationId xmlns:a16="http://schemas.microsoft.com/office/drawing/2014/main" id="{1DE053A7-97BB-618F-8D03-015103273C6E}"/>
              </a:ext>
            </a:extLst>
          </p:cNvPr>
          <p:cNvSpPr/>
          <p:nvPr/>
        </p:nvSpPr>
        <p:spPr>
          <a:xfrm>
            <a:off x="5688783" y="3808972"/>
            <a:ext cx="946194" cy="16270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Rectangle: Rounded Corners 5">
            <a:extLst>
              <a:ext uri="{FF2B5EF4-FFF2-40B4-BE49-F238E27FC236}">
                <a16:creationId xmlns:a16="http://schemas.microsoft.com/office/drawing/2014/main" id="{46ABE52F-B09B-DE6D-6F6C-2EEF49CCBB0B}"/>
              </a:ext>
            </a:extLst>
          </p:cNvPr>
          <p:cNvSpPr/>
          <p:nvPr/>
        </p:nvSpPr>
        <p:spPr>
          <a:xfrm>
            <a:off x="5278270" y="4626501"/>
            <a:ext cx="2257063" cy="724431"/>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Hacer clic en “Insertar selección” para moverlos a la columna derecha. </a:t>
            </a:r>
          </a:p>
        </p:txBody>
      </p:sp>
      <p:sp>
        <p:nvSpPr>
          <p:cNvPr id="11" name="Rectángulo redondeado 8">
            <a:extLst>
              <a:ext uri="{FF2B5EF4-FFF2-40B4-BE49-F238E27FC236}">
                <a16:creationId xmlns:a16="http://schemas.microsoft.com/office/drawing/2014/main" id="{00D7E002-A258-3E7E-CBBE-77594F49902E}"/>
              </a:ext>
            </a:extLst>
          </p:cNvPr>
          <p:cNvSpPr/>
          <p:nvPr/>
        </p:nvSpPr>
        <p:spPr>
          <a:xfrm>
            <a:off x="5995166" y="4339982"/>
            <a:ext cx="358531" cy="263532"/>
          </a:xfrm>
          <a:prstGeom prst="roundRect">
            <a:avLst/>
          </a:prstGeom>
          <a:solidFill>
            <a:schemeClr val="accent1"/>
          </a:solidFill>
          <a:ln/>
        </p:spPr>
        <p:style>
          <a:lnRef idx="3">
            <a:schemeClr val="lt1"/>
          </a:lnRef>
          <a:fillRef idx="1">
            <a:schemeClr val="accent3"/>
          </a:fillRef>
          <a:effectRef idx="1">
            <a:schemeClr val="accent3"/>
          </a:effectRef>
          <a:fontRef idx="minor">
            <a:schemeClr val="lt1"/>
          </a:fontRef>
        </p:style>
        <p:txBody>
          <a:bodyPr rtlCol="0" anchor="ctr"/>
          <a:lstStyle/>
          <a:p>
            <a:pPr algn="ctr"/>
            <a:r>
              <a:rPr lang="es-ES_tradnl" sz="1100" b="1" dirty="0"/>
              <a:t>2</a:t>
            </a:r>
          </a:p>
        </p:txBody>
      </p:sp>
      <p:sp>
        <p:nvSpPr>
          <p:cNvPr id="12" name="Rectangle: Rounded Corners 5">
            <a:extLst>
              <a:ext uri="{FF2B5EF4-FFF2-40B4-BE49-F238E27FC236}">
                <a16:creationId xmlns:a16="http://schemas.microsoft.com/office/drawing/2014/main" id="{ED3DC4B6-AF39-1C34-98D3-1990BB46C368}"/>
              </a:ext>
            </a:extLst>
          </p:cNvPr>
          <p:cNvSpPr/>
          <p:nvPr/>
        </p:nvSpPr>
        <p:spPr>
          <a:xfrm>
            <a:off x="1238192" y="2743209"/>
            <a:ext cx="4908525" cy="476500"/>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Se puede definir cuáles exámenes aparecen en el perfil del estudiante en SOAWDSP.</a:t>
            </a:r>
          </a:p>
        </p:txBody>
      </p:sp>
    </p:spTree>
    <p:extLst>
      <p:ext uri="{BB962C8B-B14F-4D97-AF65-F5344CB8AC3E}">
        <p14:creationId xmlns:p14="http://schemas.microsoft.com/office/powerpoint/2010/main" val="11345237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56611A6A-F16B-704F-200D-A0DC639EE607}"/>
              </a:ext>
            </a:extLst>
          </p:cNvPr>
          <p:cNvPicPr>
            <a:picLocks noChangeAspect="1"/>
          </p:cNvPicPr>
          <p:nvPr/>
        </p:nvPicPr>
        <p:blipFill>
          <a:blip r:embed="rId2"/>
          <a:stretch>
            <a:fillRect/>
          </a:stretch>
        </p:blipFill>
        <p:spPr>
          <a:xfrm>
            <a:off x="810247" y="1072231"/>
            <a:ext cx="10809534" cy="540476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5" name="Slide Number Placeholder 17">
            <a:extLst>
              <a:ext uri="{FF2B5EF4-FFF2-40B4-BE49-F238E27FC236}">
                <a16:creationId xmlns:a16="http://schemas.microsoft.com/office/drawing/2014/main" id="{95C607FE-72CE-5EC2-5CA9-A583BCB8A36E}"/>
              </a:ext>
            </a:extLst>
          </p:cNvPr>
          <p:cNvSpPr>
            <a:spLocks noGrp="1"/>
          </p:cNvSpPr>
          <p:nvPr>
            <p:ph type="sldNum" sz="quarter" idx="4"/>
          </p:nvPr>
        </p:nvSpPr>
        <p:spPr/>
        <p:txBody>
          <a:bodyPr/>
          <a:lstStyle/>
          <a:p>
            <a:fld id="{4A16F8ED-7337-F64C-865A-41A1F48E54DF}" type="slidenum">
              <a:rPr lang="en-US" smtClean="0"/>
              <a:pPr/>
              <a:t>71</a:t>
            </a:fld>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113040"/>
            <a:ext cx="10271883" cy="626165"/>
          </a:xfrm>
        </p:spPr>
        <p:txBody>
          <a:bodyPr/>
          <a:lstStyle/>
          <a:p>
            <a:r>
              <a:rPr lang="es-ES_tradnl" dirty="0">
                <a:solidFill>
                  <a:schemeClr val="accent1"/>
                </a:solidFill>
              </a:rPr>
              <a:t>Configuración de Autoservicios</a:t>
            </a:r>
            <a:r>
              <a:rPr lang="es-MX" dirty="0">
                <a:solidFill>
                  <a:schemeClr val="accent1"/>
                </a:solidFill>
              </a:rPr>
              <a:t>: </a:t>
            </a:r>
            <a:r>
              <a:rPr lang="es-MX" b="0" dirty="0">
                <a:solidFill>
                  <a:schemeClr val="accent1"/>
                </a:solidFill>
              </a:rPr>
              <a:t>SOAFACS</a:t>
            </a:r>
            <a:br>
              <a:rPr lang="es-MX" b="0" dirty="0">
                <a:solidFill>
                  <a:schemeClr val="accent1"/>
                </a:solidFill>
              </a:rPr>
            </a:br>
            <a:r>
              <a:rPr lang="es-MX" b="0" dirty="0">
                <a:solidFill>
                  <a:schemeClr val="accent1"/>
                </a:solidFill>
              </a:rPr>
              <a:t>Reglas de proceso de docente/asesor</a:t>
            </a:r>
            <a:endParaRPr lang="es-CL" b="0" dirty="0">
              <a:solidFill>
                <a:schemeClr val="accent1"/>
              </a:solidFill>
            </a:endParaRPr>
          </a:p>
        </p:txBody>
      </p:sp>
      <p:sp>
        <p:nvSpPr>
          <p:cNvPr id="8" name="Rectangle: Rounded Corners 5">
            <a:extLst>
              <a:ext uri="{FF2B5EF4-FFF2-40B4-BE49-F238E27FC236}">
                <a16:creationId xmlns:a16="http://schemas.microsoft.com/office/drawing/2014/main" id="{BF7F9E1A-D41F-E0CC-61C8-CF13B8058581}"/>
              </a:ext>
            </a:extLst>
          </p:cNvPr>
          <p:cNvSpPr/>
          <p:nvPr/>
        </p:nvSpPr>
        <p:spPr>
          <a:xfrm>
            <a:off x="3179384" y="3050788"/>
            <a:ext cx="4908200" cy="756424"/>
          </a:xfrm>
          <a:prstGeom prst="roundRect">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L" sz="1200" dirty="0"/>
              <a:t>Si los docentes y asesores pueden ver los exámenes también depende de la configuración para DISPLAYTESTS  en SOAFACS.</a:t>
            </a:r>
          </a:p>
        </p:txBody>
      </p:sp>
    </p:spTree>
    <p:extLst>
      <p:ext uri="{BB962C8B-B14F-4D97-AF65-F5344CB8AC3E}">
        <p14:creationId xmlns:p14="http://schemas.microsoft.com/office/powerpoint/2010/main" val="37327786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D489-D411-281E-85CA-24ADE43264F0}"/>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45CB3D5C-1F4E-43FA-00B3-7705C83F3C10}"/>
              </a:ext>
            </a:extLst>
          </p:cNvPr>
          <p:cNvSpPr>
            <a:spLocks noGrp="1"/>
          </p:cNvSpPr>
          <p:nvPr>
            <p:ph type="body" orient="vert" sz="quarter" idx="10"/>
          </p:nvPr>
        </p:nvSpPr>
        <p:spPr/>
        <p:txBody>
          <a:bodyPr/>
          <a:lstStyle/>
          <a:p>
            <a:r>
              <a:rPr lang="es-MX" sz="1200" dirty="0"/>
              <a:t>Configuración de Autoservicio</a:t>
            </a:r>
            <a:endParaRPr lang="en-US" dirty="0"/>
          </a:p>
        </p:txBody>
      </p:sp>
      <p:sp>
        <p:nvSpPr>
          <p:cNvPr id="16" name="Title 15">
            <a:extLst>
              <a:ext uri="{FF2B5EF4-FFF2-40B4-BE49-F238E27FC236}">
                <a16:creationId xmlns:a16="http://schemas.microsoft.com/office/drawing/2014/main" id="{EA22966F-8472-B7A7-2DDE-81E2B4134717}"/>
              </a:ext>
            </a:extLst>
          </p:cNvPr>
          <p:cNvSpPr>
            <a:spLocks noGrp="1"/>
          </p:cNvSpPr>
          <p:nvPr>
            <p:ph type="title"/>
          </p:nvPr>
        </p:nvSpPr>
        <p:spPr/>
        <p:txBody>
          <a:bodyPr/>
          <a:lstStyle/>
          <a:p>
            <a:r>
              <a:rPr lang="es-ES_tradnl" dirty="0"/>
              <a:t>SOAWSCR</a:t>
            </a:r>
            <a:r>
              <a:rPr lang="es-419" b="1" dirty="0">
                <a:effectLst/>
              </a:rPr>
              <a:t> Configuración de campo y página global</a:t>
            </a:r>
            <a:endParaRPr lang="en-US" sz="3200" b="1" dirty="0">
              <a:solidFill>
                <a:schemeClr val="bg1"/>
              </a:solidFill>
            </a:endParaRPr>
          </a:p>
        </p:txBody>
      </p:sp>
      <p:sp>
        <p:nvSpPr>
          <p:cNvPr id="18" name="Slide Number Placeholder 17">
            <a:extLst>
              <a:ext uri="{FF2B5EF4-FFF2-40B4-BE49-F238E27FC236}">
                <a16:creationId xmlns:a16="http://schemas.microsoft.com/office/drawing/2014/main" id="{64ECC06D-FBD9-DFEB-6B8C-A4335D33C289}"/>
              </a:ext>
            </a:extLst>
          </p:cNvPr>
          <p:cNvSpPr>
            <a:spLocks noGrp="1"/>
          </p:cNvSpPr>
          <p:nvPr>
            <p:ph type="sldNum" sz="quarter" idx="4"/>
          </p:nvPr>
        </p:nvSpPr>
        <p:spPr/>
        <p:txBody>
          <a:bodyPr/>
          <a:lstStyle/>
          <a:p>
            <a:fld id="{4A16F8ED-7337-F64C-865A-41A1F48E54DF}" type="slidenum">
              <a:rPr lang="en-US" smtClean="0"/>
              <a:pPr/>
              <a:t>72</a:t>
            </a:fld>
            <a:endParaRPr lang="en-US" dirty="0"/>
          </a:p>
        </p:txBody>
      </p:sp>
    </p:spTree>
    <p:extLst>
      <p:ext uri="{BB962C8B-B14F-4D97-AF65-F5344CB8AC3E}">
        <p14:creationId xmlns:p14="http://schemas.microsoft.com/office/powerpoint/2010/main" val="10133206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8CD03-490F-ED57-702F-3E6BE742A1F3}"/>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9E6D9CA9-43BE-2E81-D642-0EC7957B6E31}"/>
              </a:ext>
            </a:extLst>
          </p:cNvPr>
          <p:cNvPicPr>
            <a:picLocks noChangeAspect="1"/>
          </p:cNvPicPr>
          <p:nvPr/>
        </p:nvPicPr>
        <p:blipFill>
          <a:blip r:embed="rId3"/>
          <a:stretch>
            <a:fillRect/>
          </a:stretch>
        </p:blipFill>
        <p:spPr>
          <a:xfrm>
            <a:off x="938996" y="1203169"/>
            <a:ext cx="10519895" cy="5292959"/>
          </a:xfrm>
          <a:prstGeom prst="rect">
            <a:avLst/>
          </a:prstGeom>
        </p:spPr>
      </p:pic>
      <p:sp>
        <p:nvSpPr>
          <p:cNvPr id="2" name="Marcador de texto vertical 1">
            <a:extLst>
              <a:ext uri="{FF2B5EF4-FFF2-40B4-BE49-F238E27FC236}">
                <a16:creationId xmlns:a16="http://schemas.microsoft.com/office/drawing/2014/main" id="{C5E29E1D-7732-D9CC-4CA6-9B561437C4CC}"/>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13" name="Title 12">
            <a:extLst>
              <a:ext uri="{FF2B5EF4-FFF2-40B4-BE49-F238E27FC236}">
                <a16:creationId xmlns:a16="http://schemas.microsoft.com/office/drawing/2014/main" id="{BA0D1C0C-CE70-7B0F-E948-0AB776BC3E05}"/>
              </a:ext>
            </a:extLst>
          </p:cNvPr>
          <p:cNvSpPr>
            <a:spLocks noGrp="1"/>
          </p:cNvSpPr>
          <p:nvPr>
            <p:ph type="title"/>
          </p:nvPr>
        </p:nvSpPr>
        <p:spPr>
          <a:xfrm>
            <a:off x="938996" y="304614"/>
            <a:ext cx="10477497" cy="898555"/>
          </a:xfrm>
        </p:spPr>
        <p:txBody>
          <a:bodyPr/>
          <a:lstStyle/>
          <a:p>
            <a:r>
              <a:rPr lang="es-ES_tradnl" dirty="0">
                <a:solidFill>
                  <a:schemeClr val="accent1"/>
                </a:solidFill>
              </a:rPr>
              <a:t>Configuración: </a:t>
            </a:r>
            <a:r>
              <a:rPr lang="es-419" b="0" dirty="0">
                <a:solidFill>
                  <a:schemeClr val="accent1"/>
                </a:solidFill>
              </a:rPr>
              <a:t>SOAWSCR Configuración de campo y página global</a:t>
            </a:r>
            <a:br>
              <a:rPr lang="es-419" b="0" dirty="0">
                <a:solidFill>
                  <a:schemeClr val="accent1"/>
                </a:solidFill>
                <a:effectLst/>
              </a:rPr>
            </a:br>
            <a:endParaRPr lang="es-ES_tradnl" b="1" dirty="0">
              <a:solidFill>
                <a:schemeClr val="accent1"/>
              </a:solidFill>
            </a:endParaRPr>
          </a:p>
        </p:txBody>
      </p:sp>
      <p:sp>
        <p:nvSpPr>
          <p:cNvPr id="16" name="Rectángulo: esquinas redondeadas 15">
            <a:extLst>
              <a:ext uri="{FF2B5EF4-FFF2-40B4-BE49-F238E27FC236}">
                <a16:creationId xmlns:a16="http://schemas.microsoft.com/office/drawing/2014/main" id="{A4126D49-51A2-C6C9-253A-FE5689C86721}"/>
              </a:ext>
            </a:extLst>
          </p:cNvPr>
          <p:cNvSpPr/>
          <p:nvPr/>
        </p:nvSpPr>
        <p:spPr>
          <a:xfrm>
            <a:off x="2355373" y="3687158"/>
            <a:ext cx="8268101" cy="160903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dirty="0"/>
              <a:t>Esta página permite personalizar algunos campos del proceso de inscripción de Registration. Particularmente tiene la capacidad de activar u ocultar campos de información, cambiar el orden y las etiquetas de estos.</a:t>
            </a:r>
          </a:p>
        </p:txBody>
      </p:sp>
    </p:spTree>
    <p:extLst>
      <p:ext uri="{BB962C8B-B14F-4D97-AF65-F5344CB8AC3E}">
        <p14:creationId xmlns:p14="http://schemas.microsoft.com/office/powerpoint/2010/main" val="14731574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7AA58-526A-92DA-BBC4-18D290FFA9BD}"/>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53A5D06E-D6A6-D23A-8729-33AF51E67CC8}"/>
              </a:ext>
            </a:extLst>
          </p:cNvPr>
          <p:cNvPicPr>
            <a:picLocks noChangeAspect="1"/>
          </p:cNvPicPr>
          <p:nvPr/>
        </p:nvPicPr>
        <p:blipFill>
          <a:blip r:embed="rId3"/>
          <a:stretch>
            <a:fillRect/>
          </a:stretch>
        </p:blipFill>
        <p:spPr>
          <a:xfrm>
            <a:off x="938996" y="1463841"/>
            <a:ext cx="10051057" cy="4994087"/>
          </a:xfrm>
          <a:prstGeom prst="rect">
            <a:avLst/>
          </a:prstGeom>
        </p:spPr>
      </p:pic>
      <p:sp>
        <p:nvSpPr>
          <p:cNvPr id="2" name="Marcador de texto vertical 1">
            <a:extLst>
              <a:ext uri="{FF2B5EF4-FFF2-40B4-BE49-F238E27FC236}">
                <a16:creationId xmlns:a16="http://schemas.microsoft.com/office/drawing/2014/main" id="{05D84851-F165-8B1A-D7E9-8AE7E869A1A4}"/>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13" name="Title 12">
            <a:extLst>
              <a:ext uri="{FF2B5EF4-FFF2-40B4-BE49-F238E27FC236}">
                <a16:creationId xmlns:a16="http://schemas.microsoft.com/office/drawing/2014/main" id="{AD7797BE-F0A5-B1EB-5ED0-CC0497FDF8F8}"/>
              </a:ext>
            </a:extLst>
          </p:cNvPr>
          <p:cNvSpPr>
            <a:spLocks noGrp="1"/>
          </p:cNvSpPr>
          <p:nvPr>
            <p:ph type="title"/>
          </p:nvPr>
        </p:nvSpPr>
        <p:spPr>
          <a:xfrm>
            <a:off x="938996" y="304614"/>
            <a:ext cx="10477497" cy="898555"/>
          </a:xfrm>
        </p:spPr>
        <p:txBody>
          <a:bodyPr/>
          <a:lstStyle/>
          <a:p>
            <a:r>
              <a:rPr lang="es-ES_tradnl" dirty="0">
                <a:solidFill>
                  <a:schemeClr val="accent1"/>
                </a:solidFill>
              </a:rPr>
              <a:t>Configuración: </a:t>
            </a:r>
            <a:r>
              <a:rPr lang="es-419" b="0" dirty="0">
                <a:solidFill>
                  <a:schemeClr val="accent1"/>
                </a:solidFill>
              </a:rPr>
              <a:t>SOAWSCR Configuración de campo y página global</a:t>
            </a:r>
            <a:br>
              <a:rPr lang="es-419" b="0" dirty="0">
                <a:solidFill>
                  <a:schemeClr val="accent1"/>
                </a:solidFill>
                <a:effectLst/>
              </a:rPr>
            </a:br>
            <a:endParaRPr lang="es-ES_tradnl" b="1" dirty="0">
              <a:solidFill>
                <a:schemeClr val="accent1"/>
              </a:solidFill>
            </a:endParaRPr>
          </a:p>
        </p:txBody>
      </p:sp>
      <p:grpSp>
        <p:nvGrpSpPr>
          <p:cNvPr id="7" name="Grupo 6">
            <a:extLst>
              <a:ext uri="{FF2B5EF4-FFF2-40B4-BE49-F238E27FC236}">
                <a16:creationId xmlns:a16="http://schemas.microsoft.com/office/drawing/2014/main" id="{D8072E8F-1094-7D39-3F6C-988CB243B874}"/>
              </a:ext>
            </a:extLst>
          </p:cNvPr>
          <p:cNvGrpSpPr/>
          <p:nvPr/>
        </p:nvGrpSpPr>
        <p:grpSpPr>
          <a:xfrm>
            <a:off x="1815447" y="3960884"/>
            <a:ext cx="4950201" cy="2374768"/>
            <a:chOff x="2355373" y="3687158"/>
            <a:chExt cx="8268101" cy="1609033"/>
          </a:xfrm>
        </p:grpSpPr>
        <p:sp>
          <p:nvSpPr>
            <p:cNvPr id="16" name="Rectángulo: esquinas redondeadas 15">
              <a:extLst>
                <a:ext uri="{FF2B5EF4-FFF2-40B4-BE49-F238E27FC236}">
                  <a16:creationId xmlns:a16="http://schemas.microsoft.com/office/drawing/2014/main" id="{0655831B-F9FB-CCF1-7E20-4D56A2613C18}"/>
                </a:ext>
              </a:extLst>
            </p:cNvPr>
            <p:cNvSpPr/>
            <p:nvPr/>
          </p:nvSpPr>
          <p:spPr>
            <a:xfrm>
              <a:off x="2355373" y="3687158"/>
              <a:ext cx="8268101" cy="160903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dirty="0"/>
                <a:t>1, 2 y 3 Los primero es determinar para que rol se estaría realizando la personalización de la visualización de los campos de Registration. Para ello presionamos el botón        del campo ‘Persona’ y seleccionamos el registro de rol de nuestro interés (</a:t>
              </a:r>
              <a:r>
                <a:rPr lang="es-ES_tradnl" sz="1600" dirty="0" err="1"/>
                <a:t>ej</a:t>
              </a:r>
              <a:r>
                <a:rPr lang="es-ES_tradnl" sz="1600" dirty="0"/>
                <a:t>: STUDENT).</a:t>
              </a:r>
            </a:p>
          </p:txBody>
        </p:sp>
        <p:pic>
          <p:nvPicPr>
            <p:cNvPr id="6" name="Imagen 5">
              <a:extLst>
                <a:ext uri="{FF2B5EF4-FFF2-40B4-BE49-F238E27FC236}">
                  <a16:creationId xmlns:a16="http://schemas.microsoft.com/office/drawing/2014/main" id="{3774AC60-9737-CA19-AE1C-1334DD27A57C}"/>
                </a:ext>
              </a:extLst>
            </p:cNvPr>
            <p:cNvPicPr>
              <a:picLocks noChangeAspect="1"/>
            </p:cNvPicPr>
            <p:nvPr/>
          </p:nvPicPr>
          <p:blipFill>
            <a:blip r:embed="rId4"/>
            <a:srcRect l="31732" t="5545" r="65209" b="88984"/>
            <a:stretch/>
          </p:blipFill>
          <p:spPr>
            <a:xfrm>
              <a:off x="7450479" y="4472836"/>
              <a:ext cx="432265" cy="208083"/>
            </a:xfrm>
            <a:prstGeom prst="rect">
              <a:avLst/>
            </a:prstGeom>
          </p:spPr>
        </p:pic>
      </p:grpSp>
      <p:sp>
        <p:nvSpPr>
          <p:cNvPr id="8" name="Rectángulo 7">
            <a:extLst>
              <a:ext uri="{FF2B5EF4-FFF2-40B4-BE49-F238E27FC236}">
                <a16:creationId xmlns:a16="http://schemas.microsoft.com/office/drawing/2014/main" id="{A96D32B6-659F-6562-31CE-70050D3D4AE9}"/>
              </a:ext>
            </a:extLst>
          </p:cNvPr>
          <p:cNvSpPr/>
          <p:nvPr/>
        </p:nvSpPr>
        <p:spPr>
          <a:xfrm>
            <a:off x="1362974" y="1971817"/>
            <a:ext cx="1984075" cy="193413"/>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redondeado 8">
            <a:extLst>
              <a:ext uri="{FF2B5EF4-FFF2-40B4-BE49-F238E27FC236}">
                <a16:creationId xmlns:a16="http://schemas.microsoft.com/office/drawing/2014/main" id="{996B175A-ADD5-A4B6-7FFD-4FC88AE28590}"/>
              </a:ext>
            </a:extLst>
          </p:cNvPr>
          <p:cNvSpPr/>
          <p:nvPr/>
        </p:nvSpPr>
        <p:spPr>
          <a:xfrm>
            <a:off x="3555149" y="1929637"/>
            <a:ext cx="431756" cy="277771"/>
          </a:xfrm>
          <a:prstGeom prst="roundRect">
            <a:avLst/>
          </a:prstGeom>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1</a:t>
            </a:r>
          </a:p>
        </p:txBody>
      </p:sp>
      <p:sp>
        <p:nvSpPr>
          <p:cNvPr id="10" name="Rectángulo 9">
            <a:extLst>
              <a:ext uri="{FF2B5EF4-FFF2-40B4-BE49-F238E27FC236}">
                <a16:creationId xmlns:a16="http://schemas.microsoft.com/office/drawing/2014/main" id="{A1CCA89D-13F7-66D9-72D7-6612590EEDE3}"/>
              </a:ext>
            </a:extLst>
          </p:cNvPr>
          <p:cNvSpPr/>
          <p:nvPr/>
        </p:nvSpPr>
        <p:spPr>
          <a:xfrm>
            <a:off x="4408098" y="3422441"/>
            <a:ext cx="2587344" cy="2777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redondeado 8">
            <a:extLst>
              <a:ext uri="{FF2B5EF4-FFF2-40B4-BE49-F238E27FC236}">
                <a16:creationId xmlns:a16="http://schemas.microsoft.com/office/drawing/2014/main" id="{E182F084-9552-8D61-8CA2-837A0B9824DF}"/>
              </a:ext>
            </a:extLst>
          </p:cNvPr>
          <p:cNvSpPr/>
          <p:nvPr/>
        </p:nvSpPr>
        <p:spPr>
          <a:xfrm>
            <a:off x="7108959" y="3422440"/>
            <a:ext cx="431756" cy="277771"/>
          </a:xfrm>
          <a:prstGeom prst="roundRect">
            <a:avLst/>
          </a:prstGeom>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2</a:t>
            </a:r>
          </a:p>
        </p:txBody>
      </p:sp>
      <p:sp>
        <p:nvSpPr>
          <p:cNvPr id="12" name="Rectángulo 11">
            <a:extLst>
              <a:ext uri="{FF2B5EF4-FFF2-40B4-BE49-F238E27FC236}">
                <a16:creationId xmlns:a16="http://schemas.microsoft.com/office/drawing/2014/main" id="{1D24E552-E7EC-0D4C-EA92-080298B1029A}"/>
              </a:ext>
            </a:extLst>
          </p:cNvPr>
          <p:cNvSpPr/>
          <p:nvPr/>
        </p:nvSpPr>
        <p:spPr>
          <a:xfrm>
            <a:off x="6995442" y="4999758"/>
            <a:ext cx="542216" cy="27398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4" name="Rectángulo redondeado 8">
            <a:extLst>
              <a:ext uri="{FF2B5EF4-FFF2-40B4-BE49-F238E27FC236}">
                <a16:creationId xmlns:a16="http://schemas.microsoft.com/office/drawing/2014/main" id="{8B65B583-C3DF-7262-D292-2C4BB54E49D0}"/>
              </a:ext>
            </a:extLst>
          </p:cNvPr>
          <p:cNvSpPr/>
          <p:nvPr/>
        </p:nvSpPr>
        <p:spPr>
          <a:xfrm>
            <a:off x="7683154" y="4999758"/>
            <a:ext cx="431756" cy="277771"/>
          </a:xfrm>
          <a:prstGeom prst="roundRect">
            <a:avLst/>
          </a:prstGeom>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3</a:t>
            </a:r>
          </a:p>
        </p:txBody>
      </p:sp>
    </p:spTree>
    <p:extLst>
      <p:ext uri="{BB962C8B-B14F-4D97-AF65-F5344CB8AC3E}">
        <p14:creationId xmlns:p14="http://schemas.microsoft.com/office/powerpoint/2010/main" val="21296635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59D49-A8F1-5C9C-4342-940D8D6F45E9}"/>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8D8509A9-72E0-6557-EC2A-0087A4C88F2C}"/>
              </a:ext>
            </a:extLst>
          </p:cNvPr>
          <p:cNvPicPr>
            <a:picLocks noChangeAspect="1"/>
          </p:cNvPicPr>
          <p:nvPr/>
        </p:nvPicPr>
        <p:blipFill>
          <a:blip r:embed="rId3"/>
          <a:stretch>
            <a:fillRect/>
          </a:stretch>
        </p:blipFill>
        <p:spPr>
          <a:xfrm>
            <a:off x="836762" y="1190642"/>
            <a:ext cx="10579731" cy="5281587"/>
          </a:xfrm>
          <a:prstGeom prst="rect">
            <a:avLst/>
          </a:prstGeom>
        </p:spPr>
      </p:pic>
      <p:sp>
        <p:nvSpPr>
          <p:cNvPr id="2" name="Marcador de texto vertical 1">
            <a:extLst>
              <a:ext uri="{FF2B5EF4-FFF2-40B4-BE49-F238E27FC236}">
                <a16:creationId xmlns:a16="http://schemas.microsoft.com/office/drawing/2014/main" id="{3EC9C8E4-FB50-800B-98DA-61F6AC9CBE17}"/>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13" name="Title 12">
            <a:extLst>
              <a:ext uri="{FF2B5EF4-FFF2-40B4-BE49-F238E27FC236}">
                <a16:creationId xmlns:a16="http://schemas.microsoft.com/office/drawing/2014/main" id="{E7F7A977-F287-149C-8003-ACF14E86BBA6}"/>
              </a:ext>
            </a:extLst>
          </p:cNvPr>
          <p:cNvSpPr>
            <a:spLocks noGrp="1"/>
          </p:cNvSpPr>
          <p:nvPr>
            <p:ph type="title"/>
          </p:nvPr>
        </p:nvSpPr>
        <p:spPr>
          <a:xfrm>
            <a:off x="938996" y="304614"/>
            <a:ext cx="10477497" cy="898555"/>
          </a:xfrm>
        </p:spPr>
        <p:txBody>
          <a:bodyPr/>
          <a:lstStyle/>
          <a:p>
            <a:r>
              <a:rPr lang="es-ES_tradnl" dirty="0">
                <a:solidFill>
                  <a:schemeClr val="accent1"/>
                </a:solidFill>
              </a:rPr>
              <a:t>Configuración: </a:t>
            </a:r>
            <a:r>
              <a:rPr lang="es-419" b="0" dirty="0">
                <a:solidFill>
                  <a:schemeClr val="accent1"/>
                </a:solidFill>
              </a:rPr>
              <a:t>SOAWSCR Configuración de campo y página global</a:t>
            </a:r>
            <a:br>
              <a:rPr lang="es-419" b="0" dirty="0">
                <a:solidFill>
                  <a:schemeClr val="accent1"/>
                </a:solidFill>
                <a:effectLst/>
              </a:rPr>
            </a:br>
            <a:endParaRPr lang="es-ES_tradnl" b="0" dirty="0">
              <a:solidFill>
                <a:schemeClr val="accent1"/>
              </a:solidFill>
            </a:endParaRPr>
          </a:p>
        </p:txBody>
      </p:sp>
      <p:sp>
        <p:nvSpPr>
          <p:cNvPr id="16" name="Rectángulo: esquinas redondeadas 15">
            <a:extLst>
              <a:ext uri="{FF2B5EF4-FFF2-40B4-BE49-F238E27FC236}">
                <a16:creationId xmlns:a16="http://schemas.microsoft.com/office/drawing/2014/main" id="{98B317DA-C08C-FE71-C90A-62BFEFFA3EF7}"/>
              </a:ext>
            </a:extLst>
          </p:cNvPr>
          <p:cNvSpPr/>
          <p:nvPr/>
        </p:nvSpPr>
        <p:spPr>
          <a:xfrm>
            <a:off x="1075029" y="2171451"/>
            <a:ext cx="2988420" cy="400074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dirty="0"/>
              <a:t>4, 5 y 6 como siguiente paso se requiere definir que páginas de Registration se desea personalizar, para ello en el campo ‘Página’ se debe seleccionar el registro que se desee ajustar en función a la descripción de cada una de ellas.</a:t>
            </a:r>
          </a:p>
        </p:txBody>
      </p:sp>
      <p:sp>
        <p:nvSpPr>
          <p:cNvPr id="8" name="Rectángulo 7">
            <a:extLst>
              <a:ext uri="{FF2B5EF4-FFF2-40B4-BE49-F238E27FC236}">
                <a16:creationId xmlns:a16="http://schemas.microsoft.com/office/drawing/2014/main" id="{4AEFF5C4-6D4C-1018-F8F3-31A30D0C9A52}"/>
              </a:ext>
            </a:extLst>
          </p:cNvPr>
          <p:cNvSpPr/>
          <p:nvPr/>
        </p:nvSpPr>
        <p:spPr>
          <a:xfrm>
            <a:off x="5951860" y="1629540"/>
            <a:ext cx="2739751" cy="2777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redondeado 8">
            <a:extLst>
              <a:ext uri="{FF2B5EF4-FFF2-40B4-BE49-F238E27FC236}">
                <a16:creationId xmlns:a16="http://schemas.microsoft.com/office/drawing/2014/main" id="{D5C062F3-C896-878E-D146-C3C82246E087}"/>
              </a:ext>
            </a:extLst>
          </p:cNvPr>
          <p:cNvSpPr/>
          <p:nvPr/>
        </p:nvSpPr>
        <p:spPr>
          <a:xfrm>
            <a:off x="8702894" y="1648529"/>
            <a:ext cx="431756" cy="277771"/>
          </a:xfrm>
          <a:prstGeom prst="roundRect">
            <a:avLst/>
          </a:prstGeom>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4</a:t>
            </a:r>
          </a:p>
        </p:txBody>
      </p:sp>
      <p:sp>
        <p:nvSpPr>
          <p:cNvPr id="10" name="Rectángulo 9">
            <a:extLst>
              <a:ext uri="{FF2B5EF4-FFF2-40B4-BE49-F238E27FC236}">
                <a16:creationId xmlns:a16="http://schemas.microsoft.com/office/drawing/2014/main" id="{E486F5ED-D2FE-4AC5-7DAB-A61912C5B8C5}"/>
              </a:ext>
            </a:extLst>
          </p:cNvPr>
          <p:cNvSpPr/>
          <p:nvPr/>
        </p:nvSpPr>
        <p:spPr>
          <a:xfrm>
            <a:off x="4537493" y="4304580"/>
            <a:ext cx="2648311" cy="17252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redondeado 8">
            <a:extLst>
              <a:ext uri="{FF2B5EF4-FFF2-40B4-BE49-F238E27FC236}">
                <a16:creationId xmlns:a16="http://schemas.microsoft.com/office/drawing/2014/main" id="{070B7F46-DC8D-3E53-1A48-215431D0518B}"/>
              </a:ext>
            </a:extLst>
          </p:cNvPr>
          <p:cNvSpPr/>
          <p:nvPr/>
        </p:nvSpPr>
        <p:spPr>
          <a:xfrm>
            <a:off x="7290135" y="4251958"/>
            <a:ext cx="431756" cy="277771"/>
          </a:xfrm>
          <a:prstGeom prst="roundRect">
            <a:avLst/>
          </a:prstGeom>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5</a:t>
            </a:r>
          </a:p>
        </p:txBody>
      </p:sp>
      <p:sp>
        <p:nvSpPr>
          <p:cNvPr id="12" name="Rectángulo 11">
            <a:extLst>
              <a:ext uri="{FF2B5EF4-FFF2-40B4-BE49-F238E27FC236}">
                <a16:creationId xmlns:a16="http://schemas.microsoft.com/office/drawing/2014/main" id="{5C4A945C-3E2B-07A0-1D9A-89B7D6DFF3F7}"/>
              </a:ext>
            </a:extLst>
          </p:cNvPr>
          <p:cNvSpPr/>
          <p:nvPr/>
        </p:nvSpPr>
        <p:spPr>
          <a:xfrm>
            <a:off x="7185804" y="4950688"/>
            <a:ext cx="690113" cy="2777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4" name="Rectángulo redondeado 8">
            <a:extLst>
              <a:ext uri="{FF2B5EF4-FFF2-40B4-BE49-F238E27FC236}">
                <a16:creationId xmlns:a16="http://schemas.microsoft.com/office/drawing/2014/main" id="{D0FF7FA4-46A2-4B2F-DE07-FCD81CC8F1C0}"/>
              </a:ext>
            </a:extLst>
          </p:cNvPr>
          <p:cNvSpPr/>
          <p:nvPr/>
        </p:nvSpPr>
        <p:spPr>
          <a:xfrm>
            <a:off x="8033873" y="4950688"/>
            <a:ext cx="431756" cy="277771"/>
          </a:xfrm>
          <a:prstGeom prst="roundRect">
            <a:avLst/>
          </a:prstGeom>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6</a:t>
            </a:r>
          </a:p>
        </p:txBody>
      </p:sp>
    </p:spTree>
    <p:extLst>
      <p:ext uri="{BB962C8B-B14F-4D97-AF65-F5344CB8AC3E}">
        <p14:creationId xmlns:p14="http://schemas.microsoft.com/office/powerpoint/2010/main" val="19452990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9385A-706A-6D63-9C93-D336CF7A160A}"/>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3DB5CF4F-06D5-2D17-0CD6-0C4956B0EA85}"/>
              </a:ext>
            </a:extLst>
          </p:cNvPr>
          <p:cNvPicPr>
            <a:picLocks noChangeAspect="1"/>
          </p:cNvPicPr>
          <p:nvPr/>
        </p:nvPicPr>
        <p:blipFill>
          <a:blip r:embed="rId3"/>
          <a:stretch>
            <a:fillRect/>
          </a:stretch>
        </p:blipFill>
        <p:spPr>
          <a:xfrm>
            <a:off x="938996" y="1203169"/>
            <a:ext cx="10519895" cy="5292959"/>
          </a:xfrm>
          <a:prstGeom prst="rect">
            <a:avLst/>
          </a:prstGeom>
        </p:spPr>
      </p:pic>
      <p:sp>
        <p:nvSpPr>
          <p:cNvPr id="2" name="Marcador de texto vertical 1">
            <a:extLst>
              <a:ext uri="{FF2B5EF4-FFF2-40B4-BE49-F238E27FC236}">
                <a16:creationId xmlns:a16="http://schemas.microsoft.com/office/drawing/2014/main" id="{9D887501-B3E0-FF21-93B8-5EF64D017C2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13" name="Title 12">
            <a:extLst>
              <a:ext uri="{FF2B5EF4-FFF2-40B4-BE49-F238E27FC236}">
                <a16:creationId xmlns:a16="http://schemas.microsoft.com/office/drawing/2014/main" id="{EF935762-14ED-8F36-0786-45C517B1BFA5}"/>
              </a:ext>
            </a:extLst>
          </p:cNvPr>
          <p:cNvSpPr>
            <a:spLocks noGrp="1"/>
          </p:cNvSpPr>
          <p:nvPr>
            <p:ph type="title"/>
          </p:nvPr>
        </p:nvSpPr>
        <p:spPr>
          <a:xfrm>
            <a:off x="938996" y="304614"/>
            <a:ext cx="10477497" cy="898555"/>
          </a:xfrm>
        </p:spPr>
        <p:txBody>
          <a:bodyPr/>
          <a:lstStyle/>
          <a:p>
            <a:r>
              <a:rPr lang="es-ES_tradnl" dirty="0">
                <a:solidFill>
                  <a:schemeClr val="accent1"/>
                </a:solidFill>
              </a:rPr>
              <a:t>Configuración: </a:t>
            </a:r>
            <a:r>
              <a:rPr lang="es-419" b="0" dirty="0">
                <a:solidFill>
                  <a:schemeClr val="accent1"/>
                </a:solidFill>
              </a:rPr>
              <a:t>SOAWSCR Configuración de campo y página global</a:t>
            </a:r>
            <a:br>
              <a:rPr lang="es-419" b="0" dirty="0">
                <a:solidFill>
                  <a:schemeClr val="accent1"/>
                </a:solidFill>
                <a:effectLst/>
              </a:rPr>
            </a:br>
            <a:endParaRPr lang="es-ES_tradnl" b="0" dirty="0">
              <a:solidFill>
                <a:schemeClr val="accent1"/>
              </a:solidFill>
            </a:endParaRPr>
          </a:p>
        </p:txBody>
      </p:sp>
      <p:sp>
        <p:nvSpPr>
          <p:cNvPr id="16" name="Rectángulo: esquinas redondeadas 15">
            <a:extLst>
              <a:ext uri="{FF2B5EF4-FFF2-40B4-BE49-F238E27FC236}">
                <a16:creationId xmlns:a16="http://schemas.microsoft.com/office/drawing/2014/main" id="{70511FBE-483A-ECC8-F1AE-A2A5BB9F5DD9}"/>
              </a:ext>
            </a:extLst>
          </p:cNvPr>
          <p:cNvSpPr/>
          <p:nvPr/>
        </p:nvSpPr>
        <p:spPr>
          <a:xfrm>
            <a:off x="2171363" y="3143549"/>
            <a:ext cx="8268101" cy="160903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dirty="0"/>
              <a:t>7 y 8. Realizado lo anterior, se debe determinar el periodo de vigencia de la configuración a modificar a lo cual el periodo 000000 corresponde al periodo inicial de configuración, mismo el cual se sugiere realizar los ajustes. Realizado lo anterior, se presionaría el botón ‘ir’</a:t>
            </a:r>
          </a:p>
        </p:txBody>
      </p:sp>
      <p:sp>
        <p:nvSpPr>
          <p:cNvPr id="3" name="Rectángulo 2">
            <a:extLst>
              <a:ext uri="{FF2B5EF4-FFF2-40B4-BE49-F238E27FC236}">
                <a16:creationId xmlns:a16="http://schemas.microsoft.com/office/drawing/2014/main" id="{95638CFE-2A05-83B1-C9A1-337694CA9D65}"/>
              </a:ext>
            </a:extLst>
          </p:cNvPr>
          <p:cNvSpPr/>
          <p:nvPr/>
        </p:nvSpPr>
        <p:spPr>
          <a:xfrm>
            <a:off x="988585" y="1915064"/>
            <a:ext cx="2781158" cy="190355"/>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4" name="Rectángulo redondeado 8">
            <a:extLst>
              <a:ext uri="{FF2B5EF4-FFF2-40B4-BE49-F238E27FC236}">
                <a16:creationId xmlns:a16="http://schemas.microsoft.com/office/drawing/2014/main" id="{9564DF12-23B1-836C-899E-10967A756B6E}"/>
              </a:ext>
            </a:extLst>
          </p:cNvPr>
          <p:cNvSpPr/>
          <p:nvPr/>
        </p:nvSpPr>
        <p:spPr>
          <a:xfrm>
            <a:off x="3886390" y="1871355"/>
            <a:ext cx="431756" cy="277771"/>
          </a:xfrm>
          <a:prstGeom prst="roundRect">
            <a:avLst/>
          </a:prstGeom>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7</a:t>
            </a:r>
          </a:p>
        </p:txBody>
      </p:sp>
      <p:sp>
        <p:nvSpPr>
          <p:cNvPr id="5" name="Rectángulo 4">
            <a:extLst>
              <a:ext uri="{FF2B5EF4-FFF2-40B4-BE49-F238E27FC236}">
                <a16:creationId xmlns:a16="http://schemas.microsoft.com/office/drawing/2014/main" id="{887EB747-4AEF-30F0-3435-3E27D8E989B3}"/>
              </a:ext>
            </a:extLst>
          </p:cNvPr>
          <p:cNvSpPr/>
          <p:nvPr/>
        </p:nvSpPr>
        <p:spPr>
          <a:xfrm>
            <a:off x="10984737" y="1738482"/>
            <a:ext cx="431756" cy="277771"/>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6" name="Rectángulo redondeado 8">
            <a:extLst>
              <a:ext uri="{FF2B5EF4-FFF2-40B4-BE49-F238E27FC236}">
                <a16:creationId xmlns:a16="http://schemas.microsoft.com/office/drawing/2014/main" id="{ED2C47D9-7968-AC79-C30E-0B67518BC460}"/>
              </a:ext>
            </a:extLst>
          </p:cNvPr>
          <p:cNvSpPr/>
          <p:nvPr/>
        </p:nvSpPr>
        <p:spPr>
          <a:xfrm>
            <a:off x="10439464" y="1738482"/>
            <a:ext cx="431756" cy="277771"/>
          </a:xfrm>
          <a:prstGeom prst="roundRect">
            <a:avLst/>
          </a:prstGeom>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8</a:t>
            </a:r>
          </a:p>
        </p:txBody>
      </p:sp>
    </p:spTree>
    <p:extLst>
      <p:ext uri="{BB962C8B-B14F-4D97-AF65-F5344CB8AC3E}">
        <p14:creationId xmlns:p14="http://schemas.microsoft.com/office/powerpoint/2010/main" val="29787503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E3DF5-4F8C-1834-6395-AFB00244931D}"/>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CC82D976-79F8-47A4-33C1-DCDD21B55355}"/>
              </a:ext>
            </a:extLst>
          </p:cNvPr>
          <p:cNvPicPr>
            <a:picLocks noChangeAspect="1"/>
          </p:cNvPicPr>
          <p:nvPr/>
        </p:nvPicPr>
        <p:blipFill>
          <a:blip r:embed="rId3"/>
          <a:stretch>
            <a:fillRect/>
          </a:stretch>
        </p:blipFill>
        <p:spPr>
          <a:xfrm>
            <a:off x="854014" y="1250835"/>
            <a:ext cx="10477497" cy="5208656"/>
          </a:xfrm>
          <a:prstGeom prst="rect">
            <a:avLst/>
          </a:prstGeom>
        </p:spPr>
      </p:pic>
      <p:sp>
        <p:nvSpPr>
          <p:cNvPr id="2" name="Marcador de texto vertical 1">
            <a:extLst>
              <a:ext uri="{FF2B5EF4-FFF2-40B4-BE49-F238E27FC236}">
                <a16:creationId xmlns:a16="http://schemas.microsoft.com/office/drawing/2014/main" id="{1E6FBC8F-7F65-CA7D-7181-6AA7407A62A5}"/>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13" name="Title 12">
            <a:extLst>
              <a:ext uri="{FF2B5EF4-FFF2-40B4-BE49-F238E27FC236}">
                <a16:creationId xmlns:a16="http://schemas.microsoft.com/office/drawing/2014/main" id="{73F43D4C-2796-9F0D-532D-FF30B5DC0436}"/>
              </a:ext>
            </a:extLst>
          </p:cNvPr>
          <p:cNvSpPr>
            <a:spLocks noGrp="1"/>
          </p:cNvSpPr>
          <p:nvPr>
            <p:ph type="title"/>
          </p:nvPr>
        </p:nvSpPr>
        <p:spPr>
          <a:xfrm>
            <a:off x="938996" y="304614"/>
            <a:ext cx="10477497" cy="898555"/>
          </a:xfrm>
        </p:spPr>
        <p:txBody>
          <a:bodyPr/>
          <a:lstStyle/>
          <a:p>
            <a:r>
              <a:rPr lang="es-ES_tradnl" dirty="0">
                <a:solidFill>
                  <a:schemeClr val="accent1"/>
                </a:solidFill>
              </a:rPr>
              <a:t>Configuración: </a:t>
            </a:r>
            <a:r>
              <a:rPr lang="es-419" b="0" dirty="0">
                <a:solidFill>
                  <a:schemeClr val="accent1"/>
                </a:solidFill>
              </a:rPr>
              <a:t>SOAWSCR</a:t>
            </a:r>
            <a:r>
              <a:rPr lang="es-419" dirty="0">
                <a:solidFill>
                  <a:schemeClr val="accent1"/>
                </a:solidFill>
              </a:rPr>
              <a:t> </a:t>
            </a:r>
            <a:r>
              <a:rPr lang="es-419" b="0" dirty="0">
                <a:solidFill>
                  <a:schemeClr val="accent1"/>
                </a:solidFill>
              </a:rPr>
              <a:t>Configuración de campo y página global</a:t>
            </a:r>
            <a:br>
              <a:rPr lang="es-419" b="0" dirty="0">
                <a:solidFill>
                  <a:schemeClr val="accent1"/>
                </a:solidFill>
                <a:effectLst/>
              </a:rPr>
            </a:br>
            <a:endParaRPr lang="es-ES_tradnl" b="1" dirty="0">
              <a:solidFill>
                <a:schemeClr val="accent1"/>
              </a:solidFill>
            </a:endParaRPr>
          </a:p>
        </p:txBody>
      </p:sp>
      <p:sp>
        <p:nvSpPr>
          <p:cNvPr id="19" name="Rectángulo: esquinas redondeadas 18">
            <a:extLst>
              <a:ext uri="{FF2B5EF4-FFF2-40B4-BE49-F238E27FC236}">
                <a16:creationId xmlns:a16="http://schemas.microsoft.com/office/drawing/2014/main" id="{C62F1E38-80FA-0DCA-F47B-1F682F29C7CD}"/>
              </a:ext>
            </a:extLst>
          </p:cNvPr>
          <p:cNvSpPr/>
          <p:nvPr/>
        </p:nvSpPr>
        <p:spPr>
          <a:xfrm>
            <a:off x="2031383" y="4357247"/>
            <a:ext cx="8268101" cy="117657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dirty="0"/>
              <a:t>Al ingresar a la página administrativa con los parámetros anteriores, podremos visualizar la lista de campos que podrían personalizarse en función al Orden, Despliegue y Texto, según corresponda.</a:t>
            </a:r>
          </a:p>
        </p:txBody>
      </p:sp>
    </p:spTree>
    <p:extLst>
      <p:ext uri="{BB962C8B-B14F-4D97-AF65-F5344CB8AC3E}">
        <p14:creationId xmlns:p14="http://schemas.microsoft.com/office/powerpoint/2010/main" val="34837192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A1441-90B4-4CC9-6C32-A3E062B4E270}"/>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7B9C325E-2437-2C5E-D4C4-130A456B2F68}"/>
              </a:ext>
            </a:extLst>
          </p:cNvPr>
          <p:cNvPicPr>
            <a:picLocks noChangeAspect="1"/>
          </p:cNvPicPr>
          <p:nvPr/>
        </p:nvPicPr>
        <p:blipFill>
          <a:blip r:embed="rId3"/>
          <a:stretch>
            <a:fillRect/>
          </a:stretch>
        </p:blipFill>
        <p:spPr>
          <a:xfrm>
            <a:off x="854014" y="1250835"/>
            <a:ext cx="10477497" cy="5208656"/>
          </a:xfrm>
          <a:prstGeom prst="rect">
            <a:avLst/>
          </a:prstGeom>
        </p:spPr>
      </p:pic>
      <p:sp>
        <p:nvSpPr>
          <p:cNvPr id="2" name="Marcador de texto vertical 1">
            <a:extLst>
              <a:ext uri="{FF2B5EF4-FFF2-40B4-BE49-F238E27FC236}">
                <a16:creationId xmlns:a16="http://schemas.microsoft.com/office/drawing/2014/main" id="{76BACC87-863A-2063-1B61-DE33B13CAEBB}"/>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13" name="Title 12">
            <a:extLst>
              <a:ext uri="{FF2B5EF4-FFF2-40B4-BE49-F238E27FC236}">
                <a16:creationId xmlns:a16="http://schemas.microsoft.com/office/drawing/2014/main" id="{51EB016F-2499-6A33-035C-6C91211CFC8D}"/>
              </a:ext>
            </a:extLst>
          </p:cNvPr>
          <p:cNvSpPr>
            <a:spLocks noGrp="1"/>
          </p:cNvSpPr>
          <p:nvPr>
            <p:ph type="title"/>
          </p:nvPr>
        </p:nvSpPr>
        <p:spPr>
          <a:xfrm>
            <a:off x="938996" y="304614"/>
            <a:ext cx="10477497" cy="898555"/>
          </a:xfrm>
        </p:spPr>
        <p:txBody>
          <a:bodyPr/>
          <a:lstStyle/>
          <a:p>
            <a:r>
              <a:rPr lang="es-ES_tradnl" dirty="0">
                <a:solidFill>
                  <a:schemeClr val="accent1"/>
                </a:solidFill>
              </a:rPr>
              <a:t>Configuración: </a:t>
            </a:r>
            <a:r>
              <a:rPr lang="es-419" b="0" dirty="0">
                <a:solidFill>
                  <a:schemeClr val="accent1"/>
                </a:solidFill>
              </a:rPr>
              <a:t>SOAWSCR</a:t>
            </a:r>
            <a:r>
              <a:rPr lang="es-419" dirty="0">
                <a:solidFill>
                  <a:schemeClr val="accent1"/>
                </a:solidFill>
              </a:rPr>
              <a:t> </a:t>
            </a:r>
            <a:r>
              <a:rPr lang="es-419" b="0" dirty="0">
                <a:solidFill>
                  <a:schemeClr val="accent1"/>
                </a:solidFill>
              </a:rPr>
              <a:t>Configuración de campo y página global</a:t>
            </a:r>
            <a:br>
              <a:rPr lang="es-419" b="0" dirty="0">
                <a:solidFill>
                  <a:schemeClr val="accent1"/>
                </a:solidFill>
                <a:effectLst/>
              </a:rPr>
            </a:br>
            <a:endParaRPr lang="es-ES_tradnl" b="1" dirty="0">
              <a:solidFill>
                <a:schemeClr val="accent1"/>
              </a:solidFill>
            </a:endParaRPr>
          </a:p>
        </p:txBody>
      </p:sp>
      <p:sp>
        <p:nvSpPr>
          <p:cNvPr id="5" name="Rectángulo 4">
            <a:extLst>
              <a:ext uri="{FF2B5EF4-FFF2-40B4-BE49-F238E27FC236}">
                <a16:creationId xmlns:a16="http://schemas.microsoft.com/office/drawing/2014/main" id="{39B043DC-4B08-0D22-9D05-1A743DAAB299}"/>
              </a:ext>
            </a:extLst>
          </p:cNvPr>
          <p:cNvSpPr/>
          <p:nvPr/>
        </p:nvSpPr>
        <p:spPr>
          <a:xfrm>
            <a:off x="860488" y="2109374"/>
            <a:ext cx="1416885" cy="1609033"/>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6" name="Rectángulo redondeado 8">
            <a:extLst>
              <a:ext uri="{FF2B5EF4-FFF2-40B4-BE49-F238E27FC236}">
                <a16:creationId xmlns:a16="http://schemas.microsoft.com/office/drawing/2014/main" id="{6EDF5EED-6379-54B8-F037-7466141D76AB}"/>
              </a:ext>
            </a:extLst>
          </p:cNvPr>
          <p:cNvSpPr/>
          <p:nvPr/>
        </p:nvSpPr>
        <p:spPr>
          <a:xfrm>
            <a:off x="2442860" y="2732127"/>
            <a:ext cx="431756" cy="277771"/>
          </a:xfrm>
          <a:prstGeom prst="roundRect">
            <a:avLst/>
          </a:prstGeom>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9</a:t>
            </a:r>
          </a:p>
        </p:txBody>
      </p:sp>
      <p:sp>
        <p:nvSpPr>
          <p:cNvPr id="7" name="Rectángulo redondeado 7">
            <a:extLst>
              <a:ext uri="{FF2B5EF4-FFF2-40B4-BE49-F238E27FC236}">
                <a16:creationId xmlns:a16="http://schemas.microsoft.com/office/drawing/2014/main" id="{4DA2F50F-ABDD-9E8D-0190-44370F1D7013}"/>
              </a:ext>
            </a:extLst>
          </p:cNvPr>
          <p:cNvSpPr/>
          <p:nvPr/>
        </p:nvSpPr>
        <p:spPr>
          <a:xfrm>
            <a:off x="3159775" y="2541493"/>
            <a:ext cx="1317930" cy="76776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200" dirty="0"/>
              <a:t>Orden de Visualización de campos</a:t>
            </a:r>
          </a:p>
        </p:txBody>
      </p:sp>
      <p:sp>
        <p:nvSpPr>
          <p:cNvPr id="4" name="Rectángulo: esquinas redondeadas 3">
            <a:extLst>
              <a:ext uri="{FF2B5EF4-FFF2-40B4-BE49-F238E27FC236}">
                <a16:creationId xmlns:a16="http://schemas.microsoft.com/office/drawing/2014/main" id="{AD81D0FD-7FE1-0C8C-E0CE-973069AF47F3}"/>
              </a:ext>
            </a:extLst>
          </p:cNvPr>
          <p:cNvSpPr/>
          <p:nvPr/>
        </p:nvSpPr>
        <p:spPr>
          <a:xfrm>
            <a:off x="2043693" y="4284432"/>
            <a:ext cx="8268101" cy="160903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dirty="0"/>
              <a:t>9. El campo ‘Número de despliegue’ determina el orden con que los campos de información son presentados en las distintas secciones de Registration a configurar, este campo debe ser numérico y no puede existir dos campos con un mismo valor numérico definido.</a:t>
            </a:r>
          </a:p>
        </p:txBody>
      </p:sp>
    </p:spTree>
    <p:extLst>
      <p:ext uri="{BB962C8B-B14F-4D97-AF65-F5344CB8AC3E}">
        <p14:creationId xmlns:p14="http://schemas.microsoft.com/office/powerpoint/2010/main" val="102406489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CC715-D329-E88D-D97F-DDCA41AD25FC}"/>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31561788-C813-0619-FA75-F41E15D7CCD9}"/>
              </a:ext>
            </a:extLst>
          </p:cNvPr>
          <p:cNvPicPr>
            <a:picLocks noChangeAspect="1"/>
          </p:cNvPicPr>
          <p:nvPr/>
        </p:nvPicPr>
        <p:blipFill>
          <a:blip r:embed="rId3"/>
          <a:stretch>
            <a:fillRect/>
          </a:stretch>
        </p:blipFill>
        <p:spPr>
          <a:xfrm>
            <a:off x="854014" y="1250835"/>
            <a:ext cx="10477497" cy="5208656"/>
          </a:xfrm>
          <a:prstGeom prst="rect">
            <a:avLst/>
          </a:prstGeom>
        </p:spPr>
      </p:pic>
      <p:sp>
        <p:nvSpPr>
          <p:cNvPr id="2" name="Marcador de texto vertical 1">
            <a:extLst>
              <a:ext uri="{FF2B5EF4-FFF2-40B4-BE49-F238E27FC236}">
                <a16:creationId xmlns:a16="http://schemas.microsoft.com/office/drawing/2014/main" id="{FCC4930D-8037-5255-CAFB-507C96D3217B}"/>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13" name="Title 12">
            <a:extLst>
              <a:ext uri="{FF2B5EF4-FFF2-40B4-BE49-F238E27FC236}">
                <a16:creationId xmlns:a16="http://schemas.microsoft.com/office/drawing/2014/main" id="{00E9411F-E3FB-C100-400D-30B3C6828BF5}"/>
              </a:ext>
            </a:extLst>
          </p:cNvPr>
          <p:cNvSpPr>
            <a:spLocks noGrp="1"/>
          </p:cNvSpPr>
          <p:nvPr>
            <p:ph type="title"/>
          </p:nvPr>
        </p:nvSpPr>
        <p:spPr>
          <a:xfrm>
            <a:off x="938996" y="304614"/>
            <a:ext cx="10477497" cy="898555"/>
          </a:xfrm>
        </p:spPr>
        <p:txBody>
          <a:bodyPr/>
          <a:lstStyle/>
          <a:p>
            <a:r>
              <a:rPr lang="es-ES_tradnl" dirty="0">
                <a:solidFill>
                  <a:schemeClr val="accent1"/>
                </a:solidFill>
              </a:rPr>
              <a:t>Configuración: </a:t>
            </a:r>
            <a:r>
              <a:rPr lang="es-419" b="0" dirty="0">
                <a:solidFill>
                  <a:schemeClr val="accent1"/>
                </a:solidFill>
              </a:rPr>
              <a:t>SOAWSCR Configuración de campo y página global</a:t>
            </a:r>
            <a:br>
              <a:rPr lang="es-419" b="0" dirty="0">
                <a:solidFill>
                  <a:schemeClr val="accent1"/>
                </a:solidFill>
                <a:effectLst/>
              </a:rPr>
            </a:br>
            <a:endParaRPr lang="es-ES_tradnl" b="1" dirty="0">
              <a:solidFill>
                <a:schemeClr val="accent1"/>
              </a:solidFill>
            </a:endParaRPr>
          </a:p>
        </p:txBody>
      </p:sp>
      <p:sp>
        <p:nvSpPr>
          <p:cNvPr id="3" name="Rectángulo 2">
            <a:extLst>
              <a:ext uri="{FF2B5EF4-FFF2-40B4-BE49-F238E27FC236}">
                <a16:creationId xmlns:a16="http://schemas.microsoft.com/office/drawing/2014/main" id="{4D42E30F-7879-7649-BA32-20796691C33D}"/>
              </a:ext>
            </a:extLst>
          </p:cNvPr>
          <p:cNvSpPr/>
          <p:nvPr/>
        </p:nvSpPr>
        <p:spPr>
          <a:xfrm>
            <a:off x="4411443" y="2109375"/>
            <a:ext cx="962529" cy="171212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redondeado 8">
            <a:extLst>
              <a:ext uri="{FF2B5EF4-FFF2-40B4-BE49-F238E27FC236}">
                <a16:creationId xmlns:a16="http://schemas.microsoft.com/office/drawing/2014/main" id="{47F7DA0B-2D1F-C5FB-C35D-8F7AA2234233}"/>
              </a:ext>
            </a:extLst>
          </p:cNvPr>
          <p:cNvSpPr/>
          <p:nvPr/>
        </p:nvSpPr>
        <p:spPr>
          <a:xfrm>
            <a:off x="6229825" y="2399645"/>
            <a:ext cx="431756" cy="277771"/>
          </a:xfrm>
          <a:prstGeom prst="roundRect">
            <a:avLst/>
          </a:prstGeom>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10</a:t>
            </a:r>
          </a:p>
        </p:txBody>
      </p:sp>
      <p:sp>
        <p:nvSpPr>
          <p:cNvPr id="15" name="Rectángulo redondeado 7">
            <a:extLst>
              <a:ext uri="{FF2B5EF4-FFF2-40B4-BE49-F238E27FC236}">
                <a16:creationId xmlns:a16="http://schemas.microsoft.com/office/drawing/2014/main" id="{FC9517D5-3B36-7B1C-7717-BEBDCC8ED5CE}"/>
              </a:ext>
            </a:extLst>
          </p:cNvPr>
          <p:cNvSpPr/>
          <p:nvPr/>
        </p:nvSpPr>
        <p:spPr>
          <a:xfrm>
            <a:off x="6013948" y="2840134"/>
            <a:ext cx="1317930" cy="76776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200" dirty="0"/>
              <a:t>Casilla de  despliegue de campos</a:t>
            </a:r>
          </a:p>
        </p:txBody>
      </p:sp>
      <p:sp>
        <p:nvSpPr>
          <p:cNvPr id="4" name="Rectángulo: esquinas redondeadas 3">
            <a:extLst>
              <a:ext uri="{FF2B5EF4-FFF2-40B4-BE49-F238E27FC236}">
                <a16:creationId xmlns:a16="http://schemas.microsoft.com/office/drawing/2014/main" id="{4A889286-95EE-DBDE-B226-018376507C7B}"/>
              </a:ext>
            </a:extLst>
          </p:cNvPr>
          <p:cNvSpPr/>
          <p:nvPr/>
        </p:nvSpPr>
        <p:spPr>
          <a:xfrm>
            <a:off x="2199292" y="4127301"/>
            <a:ext cx="8268101" cy="1609033"/>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dirty="0"/>
              <a:t>10. El campo ‘Desplegado’ determina si el campo de información es visible o no en la sección de Registration a configurar, esta casilla debe estar activada para todos los campos que se determine sean visualizados por el usuario.</a:t>
            </a:r>
          </a:p>
        </p:txBody>
      </p:sp>
    </p:spTree>
    <p:extLst>
      <p:ext uri="{BB962C8B-B14F-4D97-AF65-F5344CB8AC3E}">
        <p14:creationId xmlns:p14="http://schemas.microsoft.com/office/powerpoint/2010/main" val="407355160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AA456-8F13-FF58-440B-57D35C965C26}"/>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25E74FB5-2CDC-691D-FE02-A71B727F24C7}"/>
              </a:ext>
            </a:extLst>
          </p:cNvPr>
          <p:cNvPicPr>
            <a:picLocks noChangeAspect="1"/>
          </p:cNvPicPr>
          <p:nvPr/>
        </p:nvPicPr>
        <p:blipFill>
          <a:blip r:embed="rId3"/>
          <a:stretch>
            <a:fillRect/>
          </a:stretch>
        </p:blipFill>
        <p:spPr>
          <a:xfrm>
            <a:off x="857250" y="1259008"/>
            <a:ext cx="10477497" cy="5208656"/>
          </a:xfrm>
          <a:prstGeom prst="rect">
            <a:avLst/>
          </a:prstGeom>
        </p:spPr>
      </p:pic>
      <p:sp>
        <p:nvSpPr>
          <p:cNvPr id="2" name="Marcador de texto vertical 1">
            <a:extLst>
              <a:ext uri="{FF2B5EF4-FFF2-40B4-BE49-F238E27FC236}">
                <a16:creationId xmlns:a16="http://schemas.microsoft.com/office/drawing/2014/main" id="{EC5063A6-2700-AFE0-0DEB-983C20F65E3E}"/>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13" name="Title 12">
            <a:extLst>
              <a:ext uri="{FF2B5EF4-FFF2-40B4-BE49-F238E27FC236}">
                <a16:creationId xmlns:a16="http://schemas.microsoft.com/office/drawing/2014/main" id="{38892801-B190-BB42-5A0C-AAA2550249B4}"/>
              </a:ext>
            </a:extLst>
          </p:cNvPr>
          <p:cNvSpPr>
            <a:spLocks noGrp="1"/>
          </p:cNvSpPr>
          <p:nvPr>
            <p:ph type="title"/>
          </p:nvPr>
        </p:nvSpPr>
        <p:spPr>
          <a:xfrm>
            <a:off x="938996" y="304614"/>
            <a:ext cx="10477497" cy="898555"/>
          </a:xfrm>
        </p:spPr>
        <p:txBody>
          <a:bodyPr/>
          <a:lstStyle/>
          <a:p>
            <a:r>
              <a:rPr lang="es-ES_tradnl" dirty="0">
                <a:solidFill>
                  <a:schemeClr val="accent1"/>
                </a:solidFill>
              </a:rPr>
              <a:t>Configuración: </a:t>
            </a:r>
            <a:r>
              <a:rPr lang="es-419" b="0" dirty="0">
                <a:solidFill>
                  <a:schemeClr val="accent1"/>
                </a:solidFill>
              </a:rPr>
              <a:t>SOAWSCR</a:t>
            </a:r>
            <a:r>
              <a:rPr lang="es-419" dirty="0">
                <a:solidFill>
                  <a:schemeClr val="accent1"/>
                </a:solidFill>
              </a:rPr>
              <a:t> </a:t>
            </a:r>
            <a:r>
              <a:rPr lang="es-419" b="0" dirty="0">
                <a:solidFill>
                  <a:schemeClr val="accent1"/>
                </a:solidFill>
              </a:rPr>
              <a:t>Configuración de campo y página global</a:t>
            </a:r>
            <a:br>
              <a:rPr lang="es-419" b="0" dirty="0">
                <a:solidFill>
                  <a:schemeClr val="accent1"/>
                </a:solidFill>
                <a:effectLst/>
              </a:rPr>
            </a:br>
            <a:endParaRPr lang="es-ES_tradnl" b="1" dirty="0">
              <a:solidFill>
                <a:schemeClr val="accent1"/>
              </a:solidFill>
            </a:endParaRPr>
          </a:p>
        </p:txBody>
      </p:sp>
      <p:sp>
        <p:nvSpPr>
          <p:cNvPr id="10" name="Rectángulo 9">
            <a:extLst>
              <a:ext uri="{FF2B5EF4-FFF2-40B4-BE49-F238E27FC236}">
                <a16:creationId xmlns:a16="http://schemas.microsoft.com/office/drawing/2014/main" id="{1C868CF2-8FFD-3083-2E81-2197729EA60C}"/>
              </a:ext>
            </a:extLst>
          </p:cNvPr>
          <p:cNvSpPr/>
          <p:nvPr/>
        </p:nvSpPr>
        <p:spPr>
          <a:xfrm>
            <a:off x="7185613" y="1989489"/>
            <a:ext cx="1560678" cy="1788882"/>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1" name="Rectángulo redondeado 8">
            <a:extLst>
              <a:ext uri="{FF2B5EF4-FFF2-40B4-BE49-F238E27FC236}">
                <a16:creationId xmlns:a16="http://schemas.microsoft.com/office/drawing/2014/main" id="{27CDDC8E-50D5-AA36-7DA0-9C863BAF459D}"/>
              </a:ext>
            </a:extLst>
          </p:cNvPr>
          <p:cNvSpPr/>
          <p:nvPr/>
        </p:nvSpPr>
        <p:spPr>
          <a:xfrm>
            <a:off x="9392885" y="2385932"/>
            <a:ext cx="431756" cy="277771"/>
          </a:xfrm>
          <a:prstGeom prst="roundRect">
            <a:avLst/>
          </a:prstGeom>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11</a:t>
            </a:r>
          </a:p>
        </p:txBody>
      </p:sp>
      <p:sp>
        <p:nvSpPr>
          <p:cNvPr id="18" name="Rectángulo redondeado 7">
            <a:extLst>
              <a:ext uri="{FF2B5EF4-FFF2-40B4-BE49-F238E27FC236}">
                <a16:creationId xmlns:a16="http://schemas.microsoft.com/office/drawing/2014/main" id="{FDC05FEE-CFB2-ABEF-0F6C-E88FC8C3639A}"/>
              </a:ext>
            </a:extLst>
          </p:cNvPr>
          <p:cNvSpPr/>
          <p:nvPr/>
        </p:nvSpPr>
        <p:spPr>
          <a:xfrm>
            <a:off x="9044302" y="2830508"/>
            <a:ext cx="1317930" cy="76776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200" dirty="0"/>
              <a:t>Texto alternativo a la etiqueta</a:t>
            </a:r>
          </a:p>
        </p:txBody>
      </p:sp>
      <p:sp>
        <p:nvSpPr>
          <p:cNvPr id="4" name="Rectángulo: esquinas redondeadas 3">
            <a:extLst>
              <a:ext uri="{FF2B5EF4-FFF2-40B4-BE49-F238E27FC236}">
                <a16:creationId xmlns:a16="http://schemas.microsoft.com/office/drawing/2014/main" id="{D9182D07-A9B1-73E8-44EF-8A77F6FA85AA}"/>
              </a:ext>
            </a:extLst>
          </p:cNvPr>
          <p:cNvSpPr/>
          <p:nvPr/>
        </p:nvSpPr>
        <p:spPr>
          <a:xfrm>
            <a:off x="1961947" y="4138689"/>
            <a:ext cx="8268101" cy="121118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dirty="0"/>
              <a:t>11. El campo ‘Personalizar texto a desplegar’ permite cambiar el texto presente en el campo a configurar dentro de la sección de Registration seleccionada.</a:t>
            </a:r>
          </a:p>
        </p:txBody>
      </p:sp>
    </p:spTree>
    <p:extLst>
      <p:ext uri="{BB962C8B-B14F-4D97-AF65-F5344CB8AC3E}">
        <p14:creationId xmlns:p14="http://schemas.microsoft.com/office/powerpoint/2010/main" val="35520172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MX" sz="1200" dirty="0"/>
              <a:t>Configuración de Autoservicio</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a:xfrm>
            <a:off x="1373016" y="2654838"/>
            <a:ext cx="7092820" cy="846621"/>
          </a:xfrm>
        </p:spPr>
        <p:txBody>
          <a:bodyPr/>
          <a:lstStyle/>
          <a:p>
            <a:r>
              <a:rPr lang="en-US" sz="3600" dirty="0" err="1"/>
              <a:t>Tarjetas</a:t>
            </a:r>
            <a:r>
              <a:rPr lang="en-US" sz="3600" dirty="0"/>
              <a:t> de Experience</a:t>
            </a:r>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81</a:t>
            </a:fld>
            <a:endParaRPr lang="en-US" dirty="0"/>
          </a:p>
        </p:txBody>
      </p:sp>
    </p:spTree>
    <p:extLst>
      <p:ext uri="{BB962C8B-B14F-4D97-AF65-F5344CB8AC3E}">
        <p14:creationId xmlns:p14="http://schemas.microsoft.com/office/powerpoint/2010/main" val="31134856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07EB3-4281-CB78-041B-CCD18F1974D8}"/>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7AE55E12-DDD4-F50F-A577-29F3E484D98A}"/>
              </a:ext>
            </a:extLst>
          </p:cNvPr>
          <p:cNvPicPr>
            <a:picLocks noChangeAspect="1"/>
          </p:cNvPicPr>
          <p:nvPr/>
        </p:nvPicPr>
        <p:blipFill>
          <a:blip r:embed="rId3"/>
          <a:stretch>
            <a:fillRect/>
          </a:stretch>
        </p:blipFill>
        <p:spPr>
          <a:xfrm>
            <a:off x="767601" y="1025049"/>
            <a:ext cx="10656798" cy="4488323"/>
          </a:xfrm>
          <a:prstGeom prst="rect">
            <a:avLst/>
          </a:prstGeom>
        </p:spPr>
      </p:pic>
      <p:sp>
        <p:nvSpPr>
          <p:cNvPr id="2" name="Marcador de texto vertical 1">
            <a:extLst>
              <a:ext uri="{FF2B5EF4-FFF2-40B4-BE49-F238E27FC236}">
                <a16:creationId xmlns:a16="http://schemas.microsoft.com/office/drawing/2014/main" id="{BE53127A-8FFC-6581-21B5-127AAA29EF82}"/>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13" name="Title 12">
            <a:extLst>
              <a:ext uri="{FF2B5EF4-FFF2-40B4-BE49-F238E27FC236}">
                <a16:creationId xmlns:a16="http://schemas.microsoft.com/office/drawing/2014/main" id="{9B8C7B66-0657-C5BC-161C-61CB8E644548}"/>
              </a:ext>
            </a:extLst>
          </p:cNvPr>
          <p:cNvSpPr>
            <a:spLocks noGrp="1"/>
          </p:cNvSpPr>
          <p:nvPr>
            <p:ph type="title"/>
          </p:nvPr>
        </p:nvSpPr>
        <p:spPr>
          <a:xfrm>
            <a:off x="938996" y="304614"/>
            <a:ext cx="10477497" cy="898555"/>
          </a:xfrm>
        </p:spPr>
        <p:txBody>
          <a:bodyPr/>
          <a:lstStyle/>
          <a:p>
            <a:r>
              <a:rPr lang="es-ES_tradnl" dirty="0">
                <a:solidFill>
                  <a:schemeClr val="accent1"/>
                </a:solidFill>
              </a:rPr>
              <a:t>Configuración: </a:t>
            </a:r>
            <a:r>
              <a:rPr lang="es-419" b="0" dirty="0">
                <a:solidFill>
                  <a:schemeClr val="accent1"/>
                </a:solidFill>
              </a:rPr>
              <a:t>TARJETAS DE EXPERIENCE</a:t>
            </a:r>
            <a:br>
              <a:rPr lang="es-419" b="0" dirty="0">
                <a:solidFill>
                  <a:schemeClr val="accent1"/>
                </a:solidFill>
                <a:effectLst/>
              </a:rPr>
            </a:br>
            <a:endParaRPr lang="es-ES_tradnl" b="1" dirty="0">
              <a:solidFill>
                <a:schemeClr val="accent1"/>
              </a:solidFill>
            </a:endParaRPr>
          </a:p>
        </p:txBody>
      </p:sp>
      <p:sp>
        <p:nvSpPr>
          <p:cNvPr id="4" name="Rectángulo: esquinas redondeadas 3">
            <a:extLst>
              <a:ext uri="{FF2B5EF4-FFF2-40B4-BE49-F238E27FC236}">
                <a16:creationId xmlns:a16="http://schemas.microsoft.com/office/drawing/2014/main" id="{FC0C4423-7C8F-ED6C-5AAC-7AFF31258EE2}"/>
              </a:ext>
            </a:extLst>
          </p:cNvPr>
          <p:cNvSpPr/>
          <p:nvPr/>
        </p:nvSpPr>
        <p:spPr>
          <a:xfrm>
            <a:off x="1961947" y="4138689"/>
            <a:ext cx="8268101" cy="121118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dirty="0"/>
              <a:t>Un usuario administrador va a poder crear tarjetas en </a:t>
            </a:r>
            <a:r>
              <a:rPr lang="es-ES_tradnl" sz="1600" dirty="0" err="1"/>
              <a:t>experience</a:t>
            </a:r>
            <a:endParaRPr lang="es-ES_tradnl" sz="1600" dirty="0"/>
          </a:p>
        </p:txBody>
      </p:sp>
    </p:spTree>
    <p:extLst>
      <p:ext uri="{BB962C8B-B14F-4D97-AF65-F5344CB8AC3E}">
        <p14:creationId xmlns:p14="http://schemas.microsoft.com/office/powerpoint/2010/main" val="95649249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AE4B6-7844-171D-826F-F43AD8CECA04}"/>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B2E5E5D3-1E8D-562A-97D4-9EB07EB44425}"/>
              </a:ext>
            </a:extLst>
          </p:cNvPr>
          <p:cNvPicPr>
            <a:picLocks noChangeAspect="1"/>
          </p:cNvPicPr>
          <p:nvPr/>
        </p:nvPicPr>
        <p:blipFill>
          <a:blip r:embed="rId3"/>
          <a:stretch>
            <a:fillRect/>
          </a:stretch>
        </p:blipFill>
        <p:spPr>
          <a:xfrm>
            <a:off x="1026786" y="1146033"/>
            <a:ext cx="10138421" cy="4532556"/>
          </a:xfrm>
          <a:prstGeom prst="rect">
            <a:avLst/>
          </a:prstGeom>
        </p:spPr>
      </p:pic>
      <p:sp>
        <p:nvSpPr>
          <p:cNvPr id="2" name="Marcador de texto vertical 1">
            <a:extLst>
              <a:ext uri="{FF2B5EF4-FFF2-40B4-BE49-F238E27FC236}">
                <a16:creationId xmlns:a16="http://schemas.microsoft.com/office/drawing/2014/main" id="{54FA6AAC-2993-F4D7-1C84-DFB4F6C37C32}"/>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13" name="Title 12">
            <a:extLst>
              <a:ext uri="{FF2B5EF4-FFF2-40B4-BE49-F238E27FC236}">
                <a16:creationId xmlns:a16="http://schemas.microsoft.com/office/drawing/2014/main" id="{A46106E4-3F20-370E-F075-34851CE6F47D}"/>
              </a:ext>
            </a:extLst>
          </p:cNvPr>
          <p:cNvSpPr>
            <a:spLocks noGrp="1"/>
          </p:cNvSpPr>
          <p:nvPr>
            <p:ph type="title"/>
          </p:nvPr>
        </p:nvSpPr>
        <p:spPr>
          <a:xfrm>
            <a:off x="938996" y="304614"/>
            <a:ext cx="10477497" cy="898555"/>
          </a:xfrm>
        </p:spPr>
        <p:txBody>
          <a:bodyPr/>
          <a:lstStyle/>
          <a:p>
            <a:r>
              <a:rPr lang="es-ES_tradnl" dirty="0">
                <a:solidFill>
                  <a:schemeClr val="accent1"/>
                </a:solidFill>
              </a:rPr>
              <a:t>Configuración: </a:t>
            </a:r>
            <a:r>
              <a:rPr lang="es-419" b="0" dirty="0">
                <a:solidFill>
                  <a:schemeClr val="accent1"/>
                </a:solidFill>
              </a:rPr>
              <a:t>TARJETAS DE EXPERIENCE</a:t>
            </a:r>
            <a:br>
              <a:rPr lang="es-419" b="0" dirty="0">
                <a:solidFill>
                  <a:schemeClr val="accent1"/>
                </a:solidFill>
                <a:effectLst/>
              </a:rPr>
            </a:br>
            <a:endParaRPr lang="es-ES_tradnl" b="1" dirty="0">
              <a:solidFill>
                <a:schemeClr val="accent1"/>
              </a:solidFill>
            </a:endParaRPr>
          </a:p>
        </p:txBody>
      </p:sp>
      <p:sp>
        <p:nvSpPr>
          <p:cNvPr id="4" name="Rectángulo: esquinas redondeadas 3">
            <a:extLst>
              <a:ext uri="{FF2B5EF4-FFF2-40B4-BE49-F238E27FC236}">
                <a16:creationId xmlns:a16="http://schemas.microsoft.com/office/drawing/2014/main" id="{FD65FC48-4067-43C3-CB56-F00C111DD191}"/>
              </a:ext>
            </a:extLst>
          </p:cNvPr>
          <p:cNvSpPr/>
          <p:nvPr/>
        </p:nvSpPr>
        <p:spPr>
          <a:xfrm>
            <a:off x="2315630" y="4259459"/>
            <a:ext cx="8268101" cy="121118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dirty="0"/>
              <a:t>El administrador debe seleccionar el tipo de tarjeta a crear. Las más usadas son HTML e IMAGEN </a:t>
            </a:r>
          </a:p>
        </p:txBody>
      </p:sp>
    </p:spTree>
    <p:extLst>
      <p:ext uri="{BB962C8B-B14F-4D97-AF65-F5344CB8AC3E}">
        <p14:creationId xmlns:p14="http://schemas.microsoft.com/office/powerpoint/2010/main" val="9667040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5C4B7-6C43-BC79-D8D0-6A72A80899E1}"/>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E80C12CB-8E9F-32A7-2D71-CA51167EBACD}"/>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13" name="Title 12">
            <a:extLst>
              <a:ext uri="{FF2B5EF4-FFF2-40B4-BE49-F238E27FC236}">
                <a16:creationId xmlns:a16="http://schemas.microsoft.com/office/drawing/2014/main" id="{2B0597B0-BD55-B49F-0DE0-1C556692E3BE}"/>
              </a:ext>
            </a:extLst>
          </p:cNvPr>
          <p:cNvSpPr>
            <a:spLocks noGrp="1"/>
          </p:cNvSpPr>
          <p:nvPr>
            <p:ph type="title"/>
          </p:nvPr>
        </p:nvSpPr>
        <p:spPr>
          <a:xfrm>
            <a:off x="509754" y="160697"/>
            <a:ext cx="11032389" cy="898555"/>
          </a:xfrm>
        </p:spPr>
        <p:txBody>
          <a:bodyPr/>
          <a:lstStyle/>
          <a:p>
            <a:r>
              <a:rPr lang="es-ES_tradnl" dirty="0">
                <a:solidFill>
                  <a:schemeClr val="accent1"/>
                </a:solidFill>
              </a:rPr>
              <a:t>Configuración: </a:t>
            </a:r>
            <a:r>
              <a:rPr lang="es-419" b="0" dirty="0">
                <a:solidFill>
                  <a:schemeClr val="accent1"/>
                </a:solidFill>
              </a:rPr>
              <a:t>TARJETAS DE EXPERIENCE PRECONFIGURADAS</a:t>
            </a:r>
            <a:br>
              <a:rPr lang="es-419" b="0" dirty="0">
                <a:solidFill>
                  <a:schemeClr val="accent1"/>
                </a:solidFill>
                <a:effectLst/>
              </a:rPr>
            </a:br>
            <a:endParaRPr lang="es-ES_tradnl" b="1" dirty="0">
              <a:solidFill>
                <a:schemeClr val="accent1"/>
              </a:solidFill>
            </a:endParaRPr>
          </a:p>
        </p:txBody>
      </p:sp>
      <p:pic>
        <p:nvPicPr>
          <p:cNvPr id="6" name="Imagen 5">
            <a:extLst>
              <a:ext uri="{FF2B5EF4-FFF2-40B4-BE49-F238E27FC236}">
                <a16:creationId xmlns:a16="http://schemas.microsoft.com/office/drawing/2014/main" id="{766C7825-3298-2682-627A-E5AB3FF60102}"/>
              </a:ext>
            </a:extLst>
          </p:cNvPr>
          <p:cNvPicPr>
            <a:picLocks noChangeAspect="1"/>
          </p:cNvPicPr>
          <p:nvPr/>
        </p:nvPicPr>
        <p:blipFill>
          <a:blip r:embed="rId3"/>
          <a:stretch>
            <a:fillRect/>
          </a:stretch>
        </p:blipFill>
        <p:spPr>
          <a:xfrm>
            <a:off x="1861419" y="1645848"/>
            <a:ext cx="7934325" cy="4152900"/>
          </a:xfrm>
          <a:prstGeom prst="rect">
            <a:avLst/>
          </a:prstGeom>
        </p:spPr>
      </p:pic>
      <p:sp>
        <p:nvSpPr>
          <p:cNvPr id="8" name="Rectángulo: esquinas redondeadas 7">
            <a:extLst>
              <a:ext uri="{FF2B5EF4-FFF2-40B4-BE49-F238E27FC236}">
                <a16:creationId xmlns:a16="http://schemas.microsoft.com/office/drawing/2014/main" id="{0B849A43-E9C4-1ED8-7B42-22CBCBF68B6B}"/>
              </a:ext>
            </a:extLst>
          </p:cNvPr>
          <p:cNvSpPr/>
          <p:nvPr/>
        </p:nvSpPr>
        <p:spPr>
          <a:xfrm>
            <a:off x="1961949" y="4733912"/>
            <a:ext cx="8268101" cy="121118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dirty="0"/>
              <a:t>Muestra los periodos vigentes (La fecha actual este en el rango ingresado en SOATERM – pestaña de Controles de inscripción)</a:t>
            </a:r>
          </a:p>
          <a:p>
            <a:pPr algn="ctr"/>
            <a:r>
              <a:rPr lang="es-ES_tradnl" sz="1600" dirty="0"/>
              <a:t>Muestra los cursos inscritos por el estudiante y el horario de día en que se está consultado.</a:t>
            </a:r>
          </a:p>
        </p:txBody>
      </p:sp>
    </p:spTree>
    <p:extLst>
      <p:ext uri="{BB962C8B-B14F-4D97-AF65-F5344CB8AC3E}">
        <p14:creationId xmlns:p14="http://schemas.microsoft.com/office/powerpoint/2010/main" val="21520193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F3FCF-2697-7450-7C1F-0A7C634AF3A4}"/>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D19A3BCD-D225-76C6-6326-E10DE42A9819}"/>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13" name="Title 12">
            <a:extLst>
              <a:ext uri="{FF2B5EF4-FFF2-40B4-BE49-F238E27FC236}">
                <a16:creationId xmlns:a16="http://schemas.microsoft.com/office/drawing/2014/main" id="{B96DA70F-1053-A7B5-312A-E147C663F2D7}"/>
              </a:ext>
            </a:extLst>
          </p:cNvPr>
          <p:cNvSpPr>
            <a:spLocks noGrp="1"/>
          </p:cNvSpPr>
          <p:nvPr>
            <p:ph type="title"/>
          </p:nvPr>
        </p:nvSpPr>
        <p:spPr>
          <a:xfrm>
            <a:off x="677969" y="232101"/>
            <a:ext cx="10836061" cy="898555"/>
          </a:xfrm>
        </p:spPr>
        <p:txBody>
          <a:bodyPr/>
          <a:lstStyle/>
          <a:p>
            <a:r>
              <a:rPr lang="es-ES_tradnl" dirty="0">
                <a:solidFill>
                  <a:schemeClr val="accent1"/>
                </a:solidFill>
              </a:rPr>
              <a:t>Configuración: </a:t>
            </a:r>
            <a:r>
              <a:rPr lang="es-419" b="0" dirty="0">
                <a:solidFill>
                  <a:schemeClr val="accent1"/>
                </a:solidFill>
              </a:rPr>
              <a:t>TARJETAS DE EXPERIENCE PRECONFIGURADAS</a:t>
            </a:r>
            <a:br>
              <a:rPr lang="es-419" b="0" dirty="0">
                <a:solidFill>
                  <a:schemeClr val="accent1"/>
                </a:solidFill>
                <a:effectLst/>
              </a:rPr>
            </a:br>
            <a:endParaRPr lang="es-ES_tradnl" b="1" dirty="0">
              <a:solidFill>
                <a:schemeClr val="accent1"/>
              </a:solidFill>
            </a:endParaRPr>
          </a:p>
        </p:txBody>
      </p:sp>
      <p:sp>
        <p:nvSpPr>
          <p:cNvPr id="8" name="Rectángulo: esquinas redondeadas 7">
            <a:extLst>
              <a:ext uri="{FF2B5EF4-FFF2-40B4-BE49-F238E27FC236}">
                <a16:creationId xmlns:a16="http://schemas.microsoft.com/office/drawing/2014/main" id="{C9534CA0-6FD4-5DB0-944D-D05F67A0445C}"/>
              </a:ext>
            </a:extLst>
          </p:cNvPr>
          <p:cNvSpPr/>
          <p:nvPr/>
        </p:nvSpPr>
        <p:spPr>
          <a:xfrm>
            <a:off x="5736566" y="2631885"/>
            <a:ext cx="5382005" cy="121118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dirty="0"/>
              <a:t>Tarjeta para que el estudiante realice la inscripción de cursos </a:t>
            </a:r>
          </a:p>
        </p:txBody>
      </p:sp>
      <p:pic>
        <p:nvPicPr>
          <p:cNvPr id="4" name="Imagen 3">
            <a:extLst>
              <a:ext uri="{FF2B5EF4-FFF2-40B4-BE49-F238E27FC236}">
                <a16:creationId xmlns:a16="http://schemas.microsoft.com/office/drawing/2014/main" id="{A48FB735-2059-7B39-D928-1C4FB50864A4}"/>
              </a:ext>
            </a:extLst>
          </p:cNvPr>
          <p:cNvPicPr>
            <a:picLocks noChangeAspect="1"/>
          </p:cNvPicPr>
          <p:nvPr/>
        </p:nvPicPr>
        <p:blipFill>
          <a:blip r:embed="rId3"/>
          <a:stretch>
            <a:fillRect/>
          </a:stretch>
        </p:blipFill>
        <p:spPr>
          <a:xfrm>
            <a:off x="1314809" y="1352549"/>
            <a:ext cx="3886200" cy="4152900"/>
          </a:xfrm>
          <a:prstGeom prst="rect">
            <a:avLst/>
          </a:prstGeom>
        </p:spPr>
      </p:pic>
      <p:sp>
        <p:nvSpPr>
          <p:cNvPr id="5" name="Rectángulo: esquinas redondeadas 4">
            <a:extLst>
              <a:ext uri="{FF2B5EF4-FFF2-40B4-BE49-F238E27FC236}">
                <a16:creationId xmlns:a16="http://schemas.microsoft.com/office/drawing/2014/main" id="{7BFE875F-29BC-BA23-8C40-8718AD2EC1A8}"/>
              </a:ext>
            </a:extLst>
          </p:cNvPr>
          <p:cNvSpPr/>
          <p:nvPr/>
        </p:nvSpPr>
        <p:spPr>
          <a:xfrm>
            <a:off x="4986818" y="1395737"/>
            <a:ext cx="3522453" cy="521790"/>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sz="1600" dirty="0"/>
              <a:t>El nombre de la tarjeta se puede modificar. </a:t>
            </a:r>
            <a:endParaRPr lang="es-ES_tradnl" sz="1600" dirty="0"/>
          </a:p>
        </p:txBody>
      </p:sp>
      <p:cxnSp>
        <p:nvCxnSpPr>
          <p:cNvPr id="7" name="Conector recto de flecha 6">
            <a:extLst>
              <a:ext uri="{FF2B5EF4-FFF2-40B4-BE49-F238E27FC236}">
                <a16:creationId xmlns:a16="http://schemas.microsoft.com/office/drawing/2014/main" id="{5031D921-E43B-7388-EF00-EE84B8C80586}"/>
              </a:ext>
            </a:extLst>
          </p:cNvPr>
          <p:cNvCxnSpPr/>
          <p:nvPr/>
        </p:nvCxnSpPr>
        <p:spPr>
          <a:xfrm>
            <a:off x="4184562" y="1656632"/>
            <a:ext cx="802256" cy="0"/>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1327592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4FAAF-B762-D893-1016-1142284196B3}"/>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08966530-078E-7D89-B120-E3013AC34A53}"/>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13" name="Title 12">
            <a:extLst>
              <a:ext uri="{FF2B5EF4-FFF2-40B4-BE49-F238E27FC236}">
                <a16:creationId xmlns:a16="http://schemas.microsoft.com/office/drawing/2014/main" id="{D5814B64-53D0-585E-76FF-A387A363372D}"/>
              </a:ext>
            </a:extLst>
          </p:cNvPr>
          <p:cNvSpPr>
            <a:spLocks noGrp="1"/>
          </p:cNvSpPr>
          <p:nvPr>
            <p:ph type="title"/>
          </p:nvPr>
        </p:nvSpPr>
        <p:spPr>
          <a:xfrm>
            <a:off x="938996" y="304614"/>
            <a:ext cx="11025842" cy="898555"/>
          </a:xfrm>
        </p:spPr>
        <p:txBody>
          <a:bodyPr/>
          <a:lstStyle/>
          <a:p>
            <a:r>
              <a:rPr lang="es-ES_tradnl" dirty="0">
                <a:solidFill>
                  <a:schemeClr val="accent1"/>
                </a:solidFill>
              </a:rPr>
              <a:t>Configuración: </a:t>
            </a:r>
            <a:r>
              <a:rPr lang="es-419" b="0" dirty="0">
                <a:solidFill>
                  <a:schemeClr val="accent1"/>
                </a:solidFill>
              </a:rPr>
              <a:t>TARJETAS DE EXPERIENCE PRECONFIGURADAS</a:t>
            </a:r>
            <a:br>
              <a:rPr lang="es-419" b="0" dirty="0">
                <a:solidFill>
                  <a:schemeClr val="accent1"/>
                </a:solidFill>
                <a:effectLst/>
              </a:rPr>
            </a:br>
            <a:endParaRPr lang="es-ES_tradnl" b="1" dirty="0">
              <a:solidFill>
                <a:schemeClr val="accent1"/>
              </a:solidFill>
            </a:endParaRPr>
          </a:p>
        </p:txBody>
      </p:sp>
      <p:sp>
        <p:nvSpPr>
          <p:cNvPr id="8" name="Rectángulo: esquinas redondeadas 7">
            <a:extLst>
              <a:ext uri="{FF2B5EF4-FFF2-40B4-BE49-F238E27FC236}">
                <a16:creationId xmlns:a16="http://schemas.microsoft.com/office/drawing/2014/main" id="{6B46AFC8-02F5-D266-56AF-5711005A0822}"/>
              </a:ext>
            </a:extLst>
          </p:cNvPr>
          <p:cNvSpPr/>
          <p:nvPr/>
        </p:nvSpPr>
        <p:spPr>
          <a:xfrm>
            <a:off x="5503653" y="3054579"/>
            <a:ext cx="5382005" cy="121118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dirty="0"/>
              <a:t>Se visualizan los tutores asignados al estudiante en </a:t>
            </a:r>
            <a:r>
              <a:rPr lang="es-CO" b="1" dirty="0"/>
              <a:t>SGAADVR</a:t>
            </a:r>
          </a:p>
          <a:p>
            <a:pPr algn="ctr"/>
            <a:endParaRPr lang="es-ES_tradnl" sz="1600" dirty="0"/>
          </a:p>
        </p:txBody>
      </p:sp>
      <p:pic>
        <p:nvPicPr>
          <p:cNvPr id="5" name="Imagen 4">
            <a:extLst>
              <a:ext uri="{FF2B5EF4-FFF2-40B4-BE49-F238E27FC236}">
                <a16:creationId xmlns:a16="http://schemas.microsoft.com/office/drawing/2014/main" id="{A3E1AC6B-5996-922E-4C46-F880DCE5A746}"/>
              </a:ext>
            </a:extLst>
          </p:cNvPr>
          <p:cNvPicPr>
            <a:picLocks noChangeAspect="1"/>
          </p:cNvPicPr>
          <p:nvPr/>
        </p:nvPicPr>
        <p:blipFill>
          <a:blip r:embed="rId3"/>
          <a:stretch>
            <a:fillRect/>
          </a:stretch>
        </p:blipFill>
        <p:spPr>
          <a:xfrm>
            <a:off x="1073429" y="1700005"/>
            <a:ext cx="3810000" cy="3676650"/>
          </a:xfrm>
          <a:prstGeom prst="rect">
            <a:avLst/>
          </a:prstGeom>
        </p:spPr>
      </p:pic>
      <p:sp>
        <p:nvSpPr>
          <p:cNvPr id="6" name="Rectángulo: esquinas redondeadas 5">
            <a:extLst>
              <a:ext uri="{FF2B5EF4-FFF2-40B4-BE49-F238E27FC236}">
                <a16:creationId xmlns:a16="http://schemas.microsoft.com/office/drawing/2014/main" id="{0FE1AA78-4210-FF77-C64D-F0F1EC90FB52}"/>
              </a:ext>
            </a:extLst>
          </p:cNvPr>
          <p:cNvSpPr/>
          <p:nvPr/>
        </p:nvSpPr>
        <p:spPr>
          <a:xfrm>
            <a:off x="4745278" y="1700005"/>
            <a:ext cx="3522453" cy="521790"/>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sz="1600" dirty="0"/>
              <a:t>El nombre de la tarjeta se puede modificar. </a:t>
            </a:r>
            <a:endParaRPr lang="es-ES_tradnl" sz="1600" dirty="0"/>
          </a:p>
        </p:txBody>
      </p:sp>
      <p:cxnSp>
        <p:nvCxnSpPr>
          <p:cNvPr id="7" name="Conector recto de flecha 6">
            <a:extLst>
              <a:ext uri="{FF2B5EF4-FFF2-40B4-BE49-F238E27FC236}">
                <a16:creationId xmlns:a16="http://schemas.microsoft.com/office/drawing/2014/main" id="{0D356F5B-D4A0-BBF6-9E31-95E3AE0DDC79}"/>
              </a:ext>
            </a:extLst>
          </p:cNvPr>
          <p:cNvCxnSpPr/>
          <p:nvPr/>
        </p:nvCxnSpPr>
        <p:spPr>
          <a:xfrm>
            <a:off x="3943022" y="1960900"/>
            <a:ext cx="802256" cy="0"/>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96413000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2DAE5-3C9B-8051-D36C-C535E2451205}"/>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1F8800D0-0AA6-34B7-086C-6A100657D419}"/>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13" name="Title 12">
            <a:extLst>
              <a:ext uri="{FF2B5EF4-FFF2-40B4-BE49-F238E27FC236}">
                <a16:creationId xmlns:a16="http://schemas.microsoft.com/office/drawing/2014/main" id="{EAB26732-2393-EB27-DF12-FCD555F90578}"/>
              </a:ext>
            </a:extLst>
          </p:cNvPr>
          <p:cNvSpPr>
            <a:spLocks noGrp="1"/>
          </p:cNvSpPr>
          <p:nvPr>
            <p:ph type="title"/>
          </p:nvPr>
        </p:nvSpPr>
        <p:spPr>
          <a:xfrm>
            <a:off x="857251" y="178352"/>
            <a:ext cx="10883300" cy="898555"/>
          </a:xfrm>
        </p:spPr>
        <p:txBody>
          <a:bodyPr/>
          <a:lstStyle/>
          <a:p>
            <a:r>
              <a:rPr lang="es-ES_tradnl" dirty="0">
                <a:solidFill>
                  <a:schemeClr val="accent1"/>
                </a:solidFill>
              </a:rPr>
              <a:t>Configuración: </a:t>
            </a:r>
            <a:r>
              <a:rPr lang="es-419" b="0" dirty="0">
                <a:solidFill>
                  <a:schemeClr val="accent1"/>
                </a:solidFill>
              </a:rPr>
              <a:t>TARJETAS DE EXPERIENCE PRECONFIGURADAS</a:t>
            </a:r>
            <a:br>
              <a:rPr lang="es-419" b="0" dirty="0">
                <a:solidFill>
                  <a:schemeClr val="accent1"/>
                </a:solidFill>
                <a:effectLst/>
              </a:rPr>
            </a:br>
            <a:endParaRPr lang="es-ES_tradnl" b="1" dirty="0">
              <a:solidFill>
                <a:schemeClr val="accent1"/>
              </a:solidFill>
            </a:endParaRPr>
          </a:p>
        </p:txBody>
      </p:sp>
      <p:sp>
        <p:nvSpPr>
          <p:cNvPr id="8" name="Rectángulo: esquinas redondeadas 7">
            <a:extLst>
              <a:ext uri="{FF2B5EF4-FFF2-40B4-BE49-F238E27FC236}">
                <a16:creationId xmlns:a16="http://schemas.microsoft.com/office/drawing/2014/main" id="{416AC540-43F3-9ADC-579A-9DE08E2D5E2D}"/>
              </a:ext>
            </a:extLst>
          </p:cNvPr>
          <p:cNvSpPr/>
          <p:nvPr/>
        </p:nvSpPr>
        <p:spPr>
          <a:xfrm>
            <a:off x="5736566" y="2631885"/>
            <a:ext cx="5382005" cy="121118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dirty="0"/>
              <a:t>Se visualizan </a:t>
            </a:r>
            <a:r>
              <a:rPr lang="es-CO" sz="1600" dirty="0"/>
              <a:t>las opciones configuradas en GUACONF. </a:t>
            </a:r>
            <a:endParaRPr lang="es-ES_tradnl" sz="1600" dirty="0"/>
          </a:p>
        </p:txBody>
      </p:sp>
      <p:pic>
        <p:nvPicPr>
          <p:cNvPr id="4" name="Imagen 3">
            <a:extLst>
              <a:ext uri="{FF2B5EF4-FFF2-40B4-BE49-F238E27FC236}">
                <a16:creationId xmlns:a16="http://schemas.microsoft.com/office/drawing/2014/main" id="{42C4479D-B0D3-C045-94C5-8119BA356602}"/>
              </a:ext>
            </a:extLst>
          </p:cNvPr>
          <p:cNvPicPr>
            <a:picLocks noChangeAspect="1"/>
          </p:cNvPicPr>
          <p:nvPr/>
        </p:nvPicPr>
        <p:blipFill>
          <a:blip r:embed="rId3"/>
          <a:stretch>
            <a:fillRect/>
          </a:stretch>
        </p:blipFill>
        <p:spPr>
          <a:xfrm>
            <a:off x="1176818" y="1352549"/>
            <a:ext cx="3810000" cy="4152900"/>
          </a:xfrm>
          <a:prstGeom prst="rect">
            <a:avLst/>
          </a:prstGeom>
        </p:spPr>
      </p:pic>
      <p:sp>
        <p:nvSpPr>
          <p:cNvPr id="7" name="Rectángulo: esquinas redondeadas 6">
            <a:extLst>
              <a:ext uri="{FF2B5EF4-FFF2-40B4-BE49-F238E27FC236}">
                <a16:creationId xmlns:a16="http://schemas.microsoft.com/office/drawing/2014/main" id="{7580F85D-49E8-5EDB-9F6F-E857CE983A5B}"/>
              </a:ext>
            </a:extLst>
          </p:cNvPr>
          <p:cNvSpPr/>
          <p:nvPr/>
        </p:nvSpPr>
        <p:spPr>
          <a:xfrm>
            <a:off x="4986818" y="1395737"/>
            <a:ext cx="3522453" cy="521790"/>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CO" sz="1600" dirty="0"/>
              <a:t>El nombre de la tarjeta se puede modificar. </a:t>
            </a:r>
            <a:endParaRPr lang="es-ES_tradnl" sz="1600" dirty="0"/>
          </a:p>
        </p:txBody>
      </p:sp>
      <p:cxnSp>
        <p:nvCxnSpPr>
          <p:cNvPr id="10" name="Conector recto de flecha 9">
            <a:extLst>
              <a:ext uri="{FF2B5EF4-FFF2-40B4-BE49-F238E27FC236}">
                <a16:creationId xmlns:a16="http://schemas.microsoft.com/office/drawing/2014/main" id="{415F3D47-02B9-788D-EA70-CBF2A12C027B}"/>
              </a:ext>
            </a:extLst>
          </p:cNvPr>
          <p:cNvCxnSpPr/>
          <p:nvPr/>
        </p:nvCxnSpPr>
        <p:spPr>
          <a:xfrm>
            <a:off x="4184562" y="1656632"/>
            <a:ext cx="802256" cy="0"/>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01891711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5DF4E-6E86-3CAF-361F-565282506047}"/>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0DD0A568-AC8D-E45E-AED9-EB6B8B4026FB}"/>
              </a:ext>
            </a:extLst>
          </p:cNvPr>
          <p:cNvSpPr>
            <a:spLocks noGrp="1"/>
          </p:cNvSpPr>
          <p:nvPr>
            <p:ph type="body" orient="vert" sz="quarter" idx="10"/>
          </p:nvPr>
        </p:nvSpPr>
        <p:spPr/>
        <p:txBody>
          <a:bodyPr/>
          <a:lstStyle/>
          <a:p>
            <a:r>
              <a:rPr lang="es-MX" sz="1200" dirty="0"/>
              <a:t>Configuración de Autoservicio</a:t>
            </a:r>
            <a:endParaRPr lang="en-US" dirty="0"/>
          </a:p>
        </p:txBody>
      </p:sp>
      <p:sp>
        <p:nvSpPr>
          <p:cNvPr id="16" name="Title 15">
            <a:extLst>
              <a:ext uri="{FF2B5EF4-FFF2-40B4-BE49-F238E27FC236}">
                <a16:creationId xmlns:a16="http://schemas.microsoft.com/office/drawing/2014/main" id="{E584EF7D-F8C3-A623-2F3F-A91BAC01C645}"/>
              </a:ext>
            </a:extLst>
          </p:cNvPr>
          <p:cNvSpPr>
            <a:spLocks noGrp="1"/>
          </p:cNvSpPr>
          <p:nvPr>
            <p:ph type="title"/>
          </p:nvPr>
        </p:nvSpPr>
        <p:spPr>
          <a:xfrm>
            <a:off x="1407522" y="2775609"/>
            <a:ext cx="7092820" cy="846621"/>
          </a:xfrm>
        </p:spPr>
        <p:txBody>
          <a:bodyPr/>
          <a:lstStyle/>
          <a:p>
            <a:r>
              <a:rPr lang="en-US" sz="3600" dirty="0"/>
              <a:t>RESUMEN</a:t>
            </a:r>
          </a:p>
        </p:txBody>
      </p:sp>
      <p:sp>
        <p:nvSpPr>
          <p:cNvPr id="18" name="Slide Number Placeholder 17">
            <a:extLst>
              <a:ext uri="{FF2B5EF4-FFF2-40B4-BE49-F238E27FC236}">
                <a16:creationId xmlns:a16="http://schemas.microsoft.com/office/drawing/2014/main" id="{1443B944-7611-E0C6-D807-D0AE6E038E5F}"/>
              </a:ext>
            </a:extLst>
          </p:cNvPr>
          <p:cNvSpPr>
            <a:spLocks noGrp="1"/>
          </p:cNvSpPr>
          <p:nvPr>
            <p:ph type="sldNum" sz="quarter" idx="4"/>
          </p:nvPr>
        </p:nvSpPr>
        <p:spPr/>
        <p:txBody>
          <a:bodyPr/>
          <a:lstStyle/>
          <a:p>
            <a:fld id="{4A16F8ED-7337-F64C-865A-41A1F48E54DF}" type="slidenum">
              <a:rPr lang="en-US" smtClean="0"/>
              <a:pPr/>
              <a:t>88</a:t>
            </a:fld>
            <a:endParaRPr lang="en-US" dirty="0"/>
          </a:p>
        </p:txBody>
      </p:sp>
    </p:spTree>
    <p:extLst>
      <p:ext uri="{BB962C8B-B14F-4D97-AF65-F5344CB8AC3E}">
        <p14:creationId xmlns:p14="http://schemas.microsoft.com/office/powerpoint/2010/main" val="37730702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ABB63-ABCA-0B61-9828-58977CCF682C}"/>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5EED4A2E-3716-11FA-A6E1-27EB9E5CFDEF}"/>
              </a:ext>
            </a:extLst>
          </p:cNvPr>
          <p:cNvSpPr>
            <a:spLocks noGrp="1"/>
          </p:cNvSpPr>
          <p:nvPr>
            <p:ph type="body" orient="vert" sz="quarter" idx="17"/>
          </p:nvPr>
        </p:nvSpPr>
        <p:spPr/>
        <p:txBody>
          <a:bodyPr/>
          <a:lstStyle/>
          <a:p>
            <a:r>
              <a:rPr lang="es-MX" sz="1200" dirty="0"/>
              <a:t>Configuración de Autoservicio</a:t>
            </a:r>
            <a:endParaRPr lang="en-US" dirty="0"/>
          </a:p>
        </p:txBody>
      </p:sp>
      <p:sp>
        <p:nvSpPr>
          <p:cNvPr id="13" name="Title 12">
            <a:extLst>
              <a:ext uri="{FF2B5EF4-FFF2-40B4-BE49-F238E27FC236}">
                <a16:creationId xmlns:a16="http://schemas.microsoft.com/office/drawing/2014/main" id="{C5FBE276-C035-4ABC-23FB-ABCBEC7BBE41}"/>
              </a:ext>
            </a:extLst>
          </p:cNvPr>
          <p:cNvSpPr>
            <a:spLocks noGrp="1"/>
          </p:cNvSpPr>
          <p:nvPr>
            <p:ph type="title"/>
          </p:nvPr>
        </p:nvSpPr>
        <p:spPr>
          <a:xfrm>
            <a:off x="938996" y="304614"/>
            <a:ext cx="10477497" cy="898555"/>
          </a:xfrm>
        </p:spPr>
        <p:txBody>
          <a:bodyPr/>
          <a:lstStyle/>
          <a:p>
            <a:r>
              <a:rPr lang="es-CO" dirty="0">
                <a:solidFill>
                  <a:schemeClr val="accent1"/>
                </a:solidFill>
              </a:rPr>
              <a:t>RESUMEN</a:t>
            </a:r>
            <a:br>
              <a:rPr lang="es-419" b="0" dirty="0">
                <a:solidFill>
                  <a:schemeClr val="accent1"/>
                </a:solidFill>
                <a:effectLst/>
              </a:rPr>
            </a:br>
            <a:endParaRPr lang="es-ES_tradnl" b="1" dirty="0">
              <a:solidFill>
                <a:schemeClr val="accent1"/>
              </a:solidFill>
            </a:endParaRPr>
          </a:p>
        </p:txBody>
      </p:sp>
      <p:sp>
        <p:nvSpPr>
          <p:cNvPr id="5" name="Text Placeholder 4">
            <a:extLst>
              <a:ext uri="{FF2B5EF4-FFF2-40B4-BE49-F238E27FC236}">
                <a16:creationId xmlns:a16="http://schemas.microsoft.com/office/drawing/2014/main" id="{F3D16A08-27BB-DC66-2866-02566CFCEEF1}"/>
              </a:ext>
            </a:extLst>
          </p:cNvPr>
          <p:cNvSpPr txBox="1">
            <a:spLocks/>
          </p:cNvSpPr>
          <p:nvPr/>
        </p:nvSpPr>
        <p:spPr>
          <a:xfrm>
            <a:off x="1093418" y="1087431"/>
            <a:ext cx="9720118" cy="4022580"/>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chemeClr val="tx1"/>
              </a:buClr>
              <a:buFont typeface="Wingdings" panose="05000000000000000000" pitchFamily="2" charset="2"/>
              <a:buChar char="v"/>
            </a:pPr>
            <a:r>
              <a:rPr lang="es-MX" dirty="0"/>
              <a:t>El perfil del estudiante es una página informativa que resume diferentes aspectos el ámbito académico del estudiante.</a:t>
            </a:r>
          </a:p>
          <a:p>
            <a:pPr algn="just">
              <a:buClr>
                <a:schemeClr val="tx1"/>
              </a:buClr>
              <a:buFont typeface="Wingdings" panose="05000000000000000000" pitchFamily="2" charset="2"/>
              <a:buChar char="v"/>
            </a:pPr>
            <a:r>
              <a:rPr lang="es-MX" dirty="0"/>
              <a:t>Pueden tener acceso al perfil del estudiante, el propio estudiante, los asesores que tenga relacionado y los docentes de sus NRC inscritos, estos últimos solo por medio de las funcionalidades de ingreso de calificaciones y asistencia.</a:t>
            </a:r>
          </a:p>
          <a:p>
            <a:pPr algn="just">
              <a:buClr>
                <a:schemeClr val="tx1"/>
              </a:buClr>
              <a:buFont typeface="Wingdings" panose="05000000000000000000" pitchFamily="2" charset="2"/>
              <a:buChar char="v"/>
            </a:pPr>
            <a:r>
              <a:rPr lang="es-MX" dirty="0"/>
              <a:t>Los campos del perfil del estudiante pueden ser configurados diferenciándolos por rol.</a:t>
            </a:r>
          </a:p>
          <a:p>
            <a:pPr algn="just">
              <a:buClr>
                <a:schemeClr val="tx1"/>
              </a:buClr>
              <a:buFont typeface="Wingdings" panose="05000000000000000000" pitchFamily="2" charset="2"/>
              <a:buChar char="v"/>
            </a:pPr>
            <a:r>
              <a:rPr lang="es-CO" dirty="0"/>
              <a:t>Es posible ingresar enlaces adicionales según se requiera para la experiencia del estudiante desde su propio perfil.</a:t>
            </a:r>
          </a:p>
          <a:p>
            <a:pPr algn="just">
              <a:buClr>
                <a:schemeClr val="tx1"/>
              </a:buClr>
              <a:buFont typeface="Wingdings" panose="05000000000000000000" pitchFamily="2" charset="2"/>
              <a:buChar char="v"/>
            </a:pPr>
            <a:r>
              <a:rPr lang="es-CO" dirty="0"/>
              <a:t>Es posible definir retenciones que pudieran ser liberadas en función a los roles que sean configurados y habilitado para ello.</a:t>
            </a:r>
          </a:p>
          <a:p>
            <a:pPr algn="just">
              <a:buClr>
                <a:schemeClr val="tx1"/>
              </a:buClr>
              <a:buFont typeface="Wingdings" panose="05000000000000000000" pitchFamily="2" charset="2"/>
              <a:buChar char="v"/>
            </a:pPr>
            <a:r>
              <a:rPr lang="es-CO" dirty="0"/>
              <a:t>Las opciones de GUACONF se pueden reemplazar en </a:t>
            </a:r>
            <a:r>
              <a:rPr lang="es-CO" dirty="0" err="1"/>
              <a:t>Experience</a:t>
            </a:r>
            <a:r>
              <a:rPr lang="es-CO" dirty="0"/>
              <a:t>, al crear una tarjeta con formato HTML</a:t>
            </a:r>
          </a:p>
          <a:p>
            <a:pPr algn="just">
              <a:buClr>
                <a:schemeClr val="tx1"/>
              </a:buClr>
              <a:buFont typeface="Wingdings" panose="05000000000000000000" pitchFamily="2" charset="2"/>
              <a:buChar char="v"/>
            </a:pPr>
            <a:r>
              <a:rPr lang="es-CO" dirty="0"/>
              <a:t>La institución puede crear </a:t>
            </a:r>
            <a:r>
              <a:rPr lang="es-CO" dirty="0" err="1"/>
              <a:t>Categorias</a:t>
            </a:r>
            <a:r>
              <a:rPr lang="es-CO" dirty="0"/>
              <a:t> para agrupar las tarjetas de </a:t>
            </a:r>
            <a:r>
              <a:rPr lang="es-CO" dirty="0" err="1"/>
              <a:t>Experience</a:t>
            </a:r>
            <a:endParaRPr lang="es-CO" dirty="0"/>
          </a:p>
          <a:p>
            <a:pPr algn="just">
              <a:buClr>
                <a:schemeClr val="tx1"/>
              </a:buClr>
              <a:buFont typeface="Wingdings" panose="05000000000000000000" pitchFamily="2" charset="2"/>
              <a:buChar char="v"/>
            </a:pPr>
            <a:r>
              <a:rPr lang="es-CO" dirty="0"/>
              <a:t>La institución puede crear sus propias tarjetas con link propios</a:t>
            </a:r>
            <a:endParaRPr lang="es-ES_tradnl" dirty="0"/>
          </a:p>
          <a:p>
            <a:pPr algn="just">
              <a:buClr>
                <a:srgbClr val="0CB4B4"/>
              </a:buClr>
            </a:pPr>
            <a:endParaRPr lang="es-MX" dirty="0"/>
          </a:p>
          <a:p>
            <a:pPr algn="just">
              <a:buClr>
                <a:srgbClr val="0CB4B4"/>
              </a:buClr>
            </a:pPr>
            <a:endParaRPr lang="es-419" dirty="0"/>
          </a:p>
        </p:txBody>
      </p:sp>
    </p:spTree>
    <p:extLst>
      <p:ext uri="{BB962C8B-B14F-4D97-AF65-F5344CB8AC3E}">
        <p14:creationId xmlns:p14="http://schemas.microsoft.com/office/powerpoint/2010/main" val="122630260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084689-227B-A2E5-EA69-DF2CD64C73B3}"/>
              </a:ext>
            </a:extLst>
          </p:cNvPr>
          <p:cNvSpPr>
            <a:spLocks noGrp="1"/>
          </p:cNvSpPr>
          <p:nvPr>
            <p:ph type="title"/>
          </p:nvPr>
        </p:nvSpPr>
        <p:spPr/>
        <p:txBody>
          <a:bodyPr/>
          <a:lstStyle/>
          <a:p>
            <a:r>
              <a:rPr lang="en-US" sz="4800" dirty="0"/>
              <a:t>MUCHAS GRACIAS</a:t>
            </a:r>
          </a:p>
        </p:txBody>
      </p:sp>
      <p:sp>
        <p:nvSpPr>
          <p:cNvPr id="4" name="Text Placeholder 3">
            <a:extLst>
              <a:ext uri="{FF2B5EF4-FFF2-40B4-BE49-F238E27FC236}">
                <a16:creationId xmlns:a16="http://schemas.microsoft.com/office/drawing/2014/main" id="{680EF50E-22E9-2C0A-4970-41D2FFEB26BC}"/>
              </a:ext>
            </a:extLst>
          </p:cNvPr>
          <p:cNvSpPr>
            <a:spLocks noGrp="1"/>
          </p:cNvSpPr>
          <p:nvPr>
            <p:ph type="body" sz="quarter" idx="18"/>
          </p:nvPr>
        </p:nvSpPr>
        <p:spPr/>
        <p:txBody>
          <a:bodyPr/>
          <a:lstStyle/>
          <a:p>
            <a:r>
              <a:rPr lang="en-US" dirty="0"/>
              <a:t>Nidia Beltran</a:t>
            </a:r>
          </a:p>
          <a:p>
            <a:r>
              <a:rPr lang="en-US"/>
              <a:t>nidia.beltran@</a:t>
            </a:r>
            <a:r>
              <a:rPr lang="en-US" dirty="0"/>
              <a:t>ellucian.com</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490" y="3652538"/>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543" y="4028176"/>
            <a:ext cx="274320" cy="274320"/>
          </a:xfrm>
          <a:prstGeom prst="rect">
            <a:avLst/>
          </a:prstGeom>
        </p:spPr>
      </p:pic>
    </p:spTree>
    <p:extLst>
      <p:ext uri="{BB962C8B-B14F-4D97-AF65-F5344CB8AC3E}">
        <p14:creationId xmlns:p14="http://schemas.microsoft.com/office/powerpoint/2010/main" val="53108677"/>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CEA309A8-FD57-42A7-831A-1C6DF3BE5D5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B53508D9-7D69-489E-B75B-7682E6255525}"/>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EBP 05 4.1.6.1. Instructivo - Actualizar estado del estudiante</Template>
  <TotalTime>12757</TotalTime>
  <Words>6029</Words>
  <Application>Microsoft Office PowerPoint</Application>
  <PresentationFormat>Panorámica</PresentationFormat>
  <Paragraphs>512</Paragraphs>
  <Slides>90</Slides>
  <Notes>16</Notes>
  <HiddenSlides>0</HiddenSlides>
  <MMClips>0</MMClips>
  <ScaleCrop>false</ScaleCrop>
  <HeadingPairs>
    <vt:vector size="6" baseType="variant">
      <vt:variant>
        <vt:lpstr>Fuentes usadas</vt:lpstr>
      </vt:variant>
      <vt:variant>
        <vt:i4>9</vt:i4>
      </vt:variant>
      <vt:variant>
        <vt:lpstr>Tema</vt:lpstr>
      </vt:variant>
      <vt:variant>
        <vt:i4>2</vt:i4>
      </vt:variant>
      <vt:variant>
        <vt:lpstr>Títulos de diapositiva</vt:lpstr>
      </vt:variant>
      <vt:variant>
        <vt:i4>90</vt:i4>
      </vt:variant>
    </vt:vector>
  </HeadingPairs>
  <TitlesOfParts>
    <vt:vector size="101" baseType="lpstr">
      <vt:lpstr>Aptos</vt:lpstr>
      <vt:lpstr>Aptos Display</vt:lpstr>
      <vt:lpstr>Arial</vt:lpstr>
      <vt:lpstr>Calibri</vt:lpstr>
      <vt:lpstr>Courier New</vt:lpstr>
      <vt:lpstr>Helvetica Neue</vt:lpstr>
      <vt:lpstr>Inter</vt:lpstr>
      <vt:lpstr>Libre Franklin</vt:lpstr>
      <vt:lpstr>Wingdings</vt:lpstr>
      <vt:lpstr>Ellucian Main Layouts</vt:lpstr>
      <vt:lpstr>Ellucian Blank Layouts</vt:lpstr>
      <vt:lpstr>Configuración de Autoservicio </vt:lpstr>
      <vt:lpstr>Presentación de PowerPoint</vt:lpstr>
      <vt:lpstr>Overview</vt:lpstr>
      <vt:lpstr>Overview: Mapa de capacidades</vt:lpstr>
      <vt:lpstr>Overview: Configuración de Autoservicios</vt:lpstr>
      <vt:lpstr>Presentación de PowerPoint</vt:lpstr>
      <vt:lpstr>Presentación de PowerPoint</vt:lpstr>
      <vt:lpstr>GUAINFO Editor de texto de información</vt:lpstr>
      <vt:lpstr>Configuración de Autoservicios: GUAINFO </vt:lpstr>
      <vt:lpstr>Configuración de Autoservicios: GUAINFO Editor de texto de información </vt:lpstr>
      <vt:lpstr>Configuración de Autoservicios: GUAINFO  Editor de texto de información </vt:lpstr>
      <vt:lpstr>Configuración de Autoservicios: GUAINFO Editor de texto de información </vt:lpstr>
      <vt:lpstr>Configuración de Autoservicios: GUAINFO Editor de texto de información – Student Landingpage</vt:lpstr>
      <vt:lpstr>Tablero de alumnos </vt:lpstr>
      <vt:lpstr>Tablero de alumnos </vt:lpstr>
      <vt:lpstr>Configuración de Autoservicios: GUAINFO Editor de texto de información – Faculty Landingpage </vt:lpstr>
      <vt:lpstr>Tablero de Docentes</vt:lpstr>
      <vt:lpstr>Tablero de Docentes </vt:lpstr>
      <vt:lpstr>Perfil del Estudiante </vt:lpstr>
      <vt:lpstr>Proceso: Ingreso al Perfil Estudiante por Experience</vt:lpstr>
      <vt:lpstr>Proceso: Ingreso al Perfil Estudiante desde el tablero</vt:lpstr>
      <vt:lpstr>Perfil del Estudiante</vt:lpstr>
      <vt:lpstr>Perfil del Estudiante</vt:lpstr>
      <vt:lpstr>Perfil del Estudiante</vt:lpstr>
      <vt:lpstr>Perfil del Estudiante</vt:lpstr>
      <vt:lpstr>Perfil del Estudiante</vt:lpstr>
      <vt:lpstr>Perfil del Estudiante</vt:lpstr>
      <vt:lpstr>Perfil del Estudiante</vt:lpstr>
      <vt:lpstr>Perfil del Estudiante</vt:lpstr>
      <vt:lpstr>Docente consulta Perfil del Estudiante</vt:lpstr>
      <vt:lpstr>Proceso: Ingreso al Perfil Estudiante SSB9 Faculty </vt:lpstr>
      <vt:lpstr>Proceso: Ingreso al Perfil Estudiante SSB9 Faculty </vt:lpstr>
      <vt:lpstr>Proceso: Ingreso al Perfil Estudiante SSB9 Faculty </vt:lpstr>
      <vt:lpstr>Presentación de PowerPoint</vt:lpstr>
      <vt:lpstr>SOAFACS  Reglas de proceso de docente/asesor</vt:lpstr>
      <vt:lpstr>Configuración de Autoservicios: SOAFACS Reglas de proceso de docente/asesor</vt:lpstr>
      <vt:lpstr>Configuración de Autoservicios: SOAFACS  Reglas de proceso de docente/asesor</vt:lpstr>
      <vt:lpstr>Configuración de Autoservicios: SOAFACS  Reglas de proceso de docente/asesor</vt:lpstr>
      <vt:lpstr>Configuración de Autoservicios: SOAFACS  Reglas de proceso de docente/asesor</vt:lpstr>
      <vt:lpstr>Configuración de Autoservicios: SOAFACS  Reglas de proceso de docente/asesor</vt:lpstr>
      <vt:lpstr>GTVSYST y GTVOTYP Visualización General de Perfiles</vt:lpstr>
      <vt:lpstr>Configuración de Autoservicios: GTVSYST Página de validación de tipo de sistema de acceso a representante</vt:lpstr>
      <vt:lpstr>Configuración de Autoservicios: GTVOTYP              Autoservicio Búsqueda de asesorados</vt:lpstr>
      <vt:lpstr>GTVSDAX  Validación de transposición</vt:lpstr>
      <vt:lpstr>Configuración de Autoservicios: GTVSDAX  Validación de transposición</vt:lpstr>
      <vt:lpstr>Configuración de Autoservicios: GTVSDAX  Validación de transposición</vt:lpstr>
      <vt:lpstr>Configuración de Autoservicios: GTVSDAX  Validación de transposición - STUDENT PROFILE</vt:lpstr>
      <vt:lpstr>GUACONF Configuración de las aplicaciones de Ellucian Student</vt:lpstr>
      <vt:lpstr>Configuración de Autoservicios: GUACONF Configuración y Personalización de Información</vt:lpstr>
      <vt:lpstr>Configuración de Autoservicios: GUACONF Configuración y Personalización de Información</vt:lpstr>
      <vt:lpstr>Configuración de Autoservicios: GUACONF Configuración y Personalización de Información</vt:lpstr>
      <vt:lpstr>Configuración de Autoservicios: GUACONF Configuración y Personalización de Información</vt:lpstr>
      <vt:lpstr>Configuración de Autoservicios: Perfil del Alumno Autoservicio</vt:lpstr>
      <vt:lpstr>Configuración de Autoservicios: Perfil del Alumno Autoservicio</vt:lpstr>
      <vt:lpstr>Configuración de Autoservicios: Perfil del Alumno Autoservicio</vt:lpstr>
      <vt:lpstr>Configuración de Autoservicios: GUACONF </vt:lpstr>
      <vt:lpstr>Configuración de Autoservicios: Perfil del Alumno Tarjeta del estudiante</vt:lpstr>
      <vt:lpstr>Configuración de Autoservicios: GUACONF Configuración y Personalización de Información</vt:lpstr>
      <vt:lpstr>Configuración de Autoservicios: GUACONF Configuración y Personalización de Información</vt:lpstr>
      <vt:lpstr>Configuración de Autoservicios: GUACONF Configuración de las aplicaciones de Ellucian Student</vt:lpstr>
      <vt:lpstr>Configuración de Autoservicios: GUACONF Configuración de las aplicaciones de Ellucian Student</vt:lpstr>
      <vt:lpstr>Configuración de Autoservicios: GUACONF Configuración de las aplicaciones de Ellucia Student</vt:lpstr>
      <vt:lpstr>Configuración de Autoservicios: GUACONF Configuración de las aplicaciones de Ellucian Student</vt:lpstr>
      <vt:lpstr>Configuración de Autoservicios: GUACONF Configuración de las aplicaciones de Ellucian Student</vt:lpstr>
      <vt:lpstr>Configuración de Autoservicios: GUACONF Configuración de las aplicaciones de Ellucian Student</vt:lpstr>
      <vt:lpstr>Configuración de Autoservicios: GUACONF Configuración de las aplicaciones de Ellucian Student</vt:lpstr>
      <vt:lpstr>Configuración de Autoservicios: GUACONF Configuración y Personalización de Información</vt:lpstr>
      <vt:lpstr>Configuración de Autoservicios: GOADIRO Reglas de opciones de directorio</vt:lpstr>
      <vt:lpstr>SOAWDSP Personalización de lista de despliegue en web</vt:lpstr>
      <vt:lpstr>Configuración de Autoservicios: SOAWDSP Personalización de lista de despliegue en web</vt:lpstr>
      <vt:lpstr>Configuración de Autoservicios: SOAFACS Reglas de proceso de docente/asesor</vt:lpstr>
      <vt:lpstr>SOAWSCR Configuración de campo y página global</vt:lpstr>
      <vt:lpstr>Configuración: SOAWSCR Configuración de campo y página global </vt:lpstr>
      <vt:lpstr>Configuración: SOAWSCR Configuración de campo y página global </vt:lpstr>
      <vt:lpstr>Configuración: SOAWSCR Configuración de campo y página global </vt:lpstr>
      <vt:lpstr>Configuración: SOAWSCR Configuración de campo y página global </vt:lpstr>
      <vt:lpstr>Configuración: SOAWSCR Configuración de campo y página global </vt:lpstr>
      <vt:lpstr>Configuración: SOAWSCR Configuración de campo y página global </vt:lpstr>
      <vt:lpstr>Configuración: SOAWSCR Configuración de campo y página global </vt:lpstr>
      <vt:lpstr>Configuración: SOAWSCR Configuración de campo y página global </vt:lpstr>
      <vt:lpstr>Tarjetas de Experience</vt:lpstr>
      <vt:lpstr>Configuración: TARJETAS DE EXPERIENCE </vt:lpstr>
      <vt:lpstr>Configuración: TARJETAS DE EXPERIENCE </vt:lpstr>
      <vt:lpstr>Configuración: TARJETAS DE EXPERIENCE PRECONFIGURADAS </vt:lpstr>
      <vt:lpstr>Configuración: TARJETAS DE EXPERIENCE PRECONFIGURADAS </vt:lpstr>
      <vt:lpstr>Configuración: TARJETAS DE EXPERIENCE PRECONFIGURADAS </vt:lpstr>
      <vt:lpstr>Configuración: TARJETAS DE EXPERIENCE PRECONFIGURADAS </vt:lpstr>
      <vt:lpstr>RESUMEN</vt:lpstr>
      <vt:lpstr>RESUMEN </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Beltran, Nidia</cp:lastModifiedBy>
  <cp:revision>313</cp:revision>
  <dcterms:created xsi:type="dcterms:W3CDTF">2023-07-17T20:07:38Z</dcterms:created>
  <dcterms:modified xsi:type="dcterms:W3CDTF">2026-07-23T21:35:39Z</dcterms:modified>
</cp:coreProperties>
</file>
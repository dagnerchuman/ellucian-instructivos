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3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95" r:id="rId3"/>
    <p:sldMasterId id="2147483735" r:id="rId4"/>
  </p:sldMasterIdLst>
  <p:notesMasterIdLst>
    <p:notesMasterId r:id="rId55"/>
  </p:notesMasterIdLst>
  <p:sldIdLst>
    <p:sldId id="613" r:id="rId60"/>
    <p:sldId id="614" r:id="rId61"/>
    <p:sldId id="615" r:id="rId62"/>
    <p:sldId id="616" r:id="rId63"/>
    <p:sldId id="617" r:id="rId64"/>
    <p:sldId id="618" r:id="rId65"/>
    <p:sldId id="619" r:id="rId66"/>
    <p:sldId id="620" r:id="rId67"/>
    <p:sldId id="621" r:id="rId68"/>
    <p:sldId id="622" r:id="rId69"/>
    <p:sldId id="623" r:id="rId70"/>
    <p:sldId id="624" r:id="rId71"/>
    <p:sldId id="625" r:id="rId72"/>
    <p:sldId id="626" r:id="rId73"/>
    <p:sldId id="627" r:id="rId74"/>
    <p:sldId id="628" r:id="rId7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2193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6247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5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58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5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5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57" Type="http://schemas.openxmlformats.org/officeDocument/2006/relationships/viewProps" Target="viewProps.xml"/>  <Relationship Id="rId60" Type="http://schemas.openxmlformats.org/officeDocument/2006/relationships/slide" Target="slides/slide51.xml"/>
  <Relationship Id="rId61" Type="http://schemas.openxmlformats.org/officeDocument/2006/relationships/slide" Target="slides/slide52.xml"/>
  <Relationship Id="rId62" Type="http://schemas.openxmlformats.org/officeDocument/2006/relationships/slide" Target="slides/slide53.xml"/>
  <Relationship Id="rId63" Type="http://schemas.openxmlformats.org/officeDocument/2006/relationships/slide" Target="slides/slide54.xml"/>
  <Relationship Id="rId64" Type="http://schemas.openxmlformats.org/officeDocument/2006/relationships/slide" Target="slides/slide55.xml"/>
  <Relationship Id="rId65" Type="http://schemas.openxmlformats.org/officeDocument/2006/relationships/slide" Target="slides/slide56.xml"/>
  <Relationship Id="rId66" Type="http://schemas.openxmlformats.org/officeDocument/2006/relationships/slide" Target="slides/slide57.xml"/>
  <Relationship Id="rId67" Type="http://schemas.openxmlformats.org/officeDocument/2006/relationships/slide" Target="slides/slide58.xml"/>
  <Relationship Id="rId68" Type="http://schemas.openxmlformats.org/officeDocument/2006/relationships/slide" Target="slides/slide59.xml"/>
  <Relationship Id="rId69" Type="http://schemas.openxmlformats.org/officeDocument/2006/relationships/slide" Target="slides/slide60.xml"/>
  <Relationship Id="rId70" Type="http://schemas.openxmlformats.org/officeDocument/2006/relationships/slide" Target="slides/slide61.xml"/>
  <Relationship Id="rId71" Type="http://schemas.openxmlformats.org/officeDocument/2006/relationships/slide" Target="slides/slide62.xml"/>
  <Relationship Id="rId72" Type="http://schemas.openxmlformats.org/officeDocument/2006/relationships/slide" Target="slides/slide63.xml"/>
  <Relationship Id="rId73" Type="http://schemas.openxmlformats.org/officeDocument/2006/relationships/slide" Target="slides/slide64.xml"/>
  <Relationship Id="rId74" Type="http://schemas.openxmlformats.org/officeDocument/2006/relationships/slide" Target="slides/slide65.xml"/>
  <Relationship Id="rId75" Type="http://schemas.openxmlformats.org/officeDocument/2006/relationships/slide" Target="slides/slide66.xml"/>
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C4D4F-02F1-4128-82AF-F7679EB9D8E5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98818-1391-4805-9C29-F0662F4A7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21017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41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Layouts/_rels/slideLayout60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7.svg"/><Relationship Id="rId4" Type="http://schemas.openxmlformats.org/officeDocument/2006/relationships/image" Target="../media/image11.png"/></Relationships>
</file>

<file path=ppt/slideLayouts/_rels/slideLayout74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8.svg"/><Relationship Id="rId4" Type="http://schemas.openxmlformats.org/officeDocument/2006/relationships/image" Target="../media/image13.png"/></Relationships>
</file>

<file path=ppt/slideLayouts/_rels/slideLayout7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Layouts/_rels/slideLayout9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7.svg"/><Relationship Id="rId4" Type="http://schemas.openxmlformats.org/officeDocument/2006/relationships/image" Target="../media/image11.png"/></Relationships>
</file>

<file path=ppt/slideLayouts/_rels/slideLayout1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8.svg"/><Relationship Id="rId4" Type="http://schemas.openxmlformats.org/officeDocument/2006/relationships/image" Target="../media/image13.png"/></Relationships>
</file>

<file path=ppt/slideLayouts/_rels/slideLayout113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A9044-76B1-D660-8DBF-F2F16B011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94A282-AB81-AF53-998D-8FAB02409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54205B-C876-F8C4-D883-9E68781ED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E94D33-FDE8-6449-705F-E556EF1E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630CF9-CD55-3BD0-79C3-E70AAAEA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477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59199-D081-4689-6C0F-26C081480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B26484-A586-DE59-81DA-9AE097189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DB8B84-50E3-3680-51B0-E997DAC4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5AA40F-A1AE-4DAB-8F62-65858B29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D72374-BF0D-9199-0AE2-B02EF381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7523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49AF9-55EC-C5C1-42C9-7D227AAF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A2B32A-2C66-856E-7956-ED257F397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82117E-953F-4F70-D94A-C0F2B9F3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15B6E9-B354-9D39-F8CC-2B3721A2A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A96CAC-C276-2C6D-50E0-118D678F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5789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B5609-CFF7-FE91-93A8-017ADAC9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E964A9-F609-80F6-2CBA-3D02F425D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2AF759-B10E-0B24-F52D-720377E5A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A4FDCD-1E3B-1A51-8F25-3FF6CE7F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6B8827-6190-F9CB-340C-17290B494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B46404-8C78-05E7-B250-ECAE3709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70132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49292-F847-1D24-4FD9-AD41568A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F671E2-D3A4-0F45-2A09-B8DADE12C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FFBD18-2BF9-678E-0AC8-52B223120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3527B7E-E0F5-0A56-6D7C-76242207D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C8E62F8-AF94-079C-EF69-A765CB014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A648DA9-9673-35CC-FD69-59F6BD79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DE94D9-8533-ED00-B05C-81DE14EF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212A43-66F9-51AD-4D2C-731C9E48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640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CED7A-3158-77DF-D71C-35AEE7E2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478F852-120E-6806-DC0E-4922223E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D40898-4A83-C494-208C-3BB983CA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B7A564-709D-A9B1-4784-A78D03A30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4704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1ACFAF-7441-8EC2-04CF-09CD9E833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FA7E49-6B88-6BC2-8C6D-9A071DBA3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044BFD-EAF6-FB9F-F2A0-61F098F34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613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A3095-751F-EE63-B505-F34F4EEB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059669-42C4-B318-496D-C5C68D2B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890E18-79BE-170F-7FA5-0734B2427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67D11A-ADB7-ACDC-6832-61703869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77EE52-07B8-7502-695C-6DF8A78DF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3460CC-A376-5637-5998-D11D83D1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123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F389F-3435-A3CA-D8B5-31A600F7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33BEFD-867B-5487-68C5-3F9B60292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4278E2-9BED-AFAC-E024-EA1282F7B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DF14C5-21E9-B1BB-FAEB-95E5A017C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448983-4ED4-A1F6-ABA9-CD9634DF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065E54-4AF9-87DF-9439-3998BE78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2214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92D63-E499-03F7-FB4D-93474D0C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4D4A8B-B230-AB87-D28F-47E1EF756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04D0E4-B7E8-F53F-6E2B-AC40634D2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0558D2-1230-7AE6-C0AB-8C24ADE1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E8A289-C61E-F62D-8E83-FAFD4422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97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D465E1-F8B5-FF8A-28AB-8CEAEC420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BD6A3E-9027-3D05-9863-50913A2D8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397731-A82C-21F2-2C4D-A190BB9F2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838474-DFAA-E728-D9B9-DEFD39979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089AF1-2426-4CC7-C36C-58F4C5A1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843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80142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44508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18918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63422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772683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55331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427391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201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33387971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43002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03151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99025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288277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80667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4492267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907843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921880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632089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374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215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29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281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476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225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326432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8718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342968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783121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263810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64826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060798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786742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017176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425993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239935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632979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543314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741595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515681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4741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42842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168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8809703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0794212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36052185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17218235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1211374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95199235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5306485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644004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084409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769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9131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4942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577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048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8523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55933982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9884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24694611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30636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6421736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7097550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6915478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673974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4967650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5720940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892588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11529411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3094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Sub-subhead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5288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4505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5010031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864363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297912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8000957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1478736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0110297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007523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58591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213034148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2543165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7497897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631561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91782741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70003420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4706941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8331499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884337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8726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2753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19859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7690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60693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57008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15757675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46216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25402841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0596028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6900505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0137237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0861969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8818211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9181314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2693629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193289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2061947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0162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6724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Sub-subhead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557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image" Target="../media/image2.svg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/Relationships>
</file>

<file path=ppt/slideMasters/_rels/slideMaster3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9" Type="http://schemas.openxmlformats.org/officeDocument/2006/relationships/theme" Target="../theme/theme3.xml"/><Relationship Id="rId21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79.xml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4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82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76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80.xml"/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83.xml"/></Relationships>
</file>

<file path=ppt/slideMasters/_rels/slideMaster4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96.xml"/><Relationship Id="rId18" Type="http://schemas.openxmlformats.org/officeDocument/2006/relationships/slideLayout" Target="../slideLayouts/slideLayout101.xml"/><Relationship Id="rId26" Type="http://schemas.openxmlformats.org/officeDocument/2006/relationships/slideLayout" Target="../slideLayouts/slideLayout109.xml"/><Relationship Id="rId39" Type="http://schemas.openxmlformats.org/officeDocument/2006/relationships/theme" Target="../theme/theme4.xml"/><Relationship Id="rId21" Type="http://schemas.openxmlformats.org/officeDocument/2006/relationships/slideLayout" Target="../slideLayouts/slideLayout104.xml"/><Relationship Id="rId34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99.xml"/><Relationship Id="rId20" Type="http://schemas.openxmlformats.org/officeDocument/2006/relationships/slideLayout" Target="../slideLayouts/slideLayout103.xml"/><Relationship Id="rId29" Type="http://schemas.openxmlformats.org/officeDocument/2006/relationships/slideLayout" Target="../slideLayouts/slideLayout112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24" Type="http://schemas.openxmlformats.org/officeDocument/2006/relationships/slideLayout" Target="../slideLayouts/slideLayout107.xml"/><Relationship Id="rId32" Type="http://schemas.openxmlformats.org/officeDocument/2006/relationships/slideLayout" Target="../slideLayouts/slideLayout115.xml"/><Relationship Id="rId37" Type="http://schemas.openxmlformats.org/officeDocument/2006/relationships/slideLayout" Target="../slideLayouts/slideLayout120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98.xml"/><Relationship Id="rId23" Type="http://schemas.openxmlformats.org/officeDocument/2006/relationships/slideLayout" Target="../slideLayouts/slideLayout106.xml"/><Relationship Id="rId28" Type="http://schemas.openxmlformats.org/officeDocument/2006/relationships/slideLayout" Target="../slideLayouts/slideLayout111.xml"/><Relationship Id="rId36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102.xml"/><Relationship Id="rId31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7.xml"/><Relationship Id="rId22" Type="http://schemas.openxmlformats.org/officeDocument/2006/relationships/slideLayout" Target="../slideLayouts/slideLayout105.xml"/><Relationship Id="rId27" Type="http://schemas.openxmlformats.org/officeDocument/2006/relationships/slideLayout" Target="../slideLayouts/slideLayout110.xml"/><Relationship Id="rId30" Type="http://schemas.openxmlformats.org/officeDocument/2006/relationships/slideLayout" Target="../slideLayouts/slideLayout113.xml"/><Relationship Id="rId35" Type="http://schemas.openxmlformats.org/officeDocument/2006/relationships/slideLayout" Target="../slideLayouts/slideLayout118.xml"/><Relationship Id="rId8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100.xml"/><Relationship Id="rId25" Type="http://schemas.openxmlformats.org/officeDocument/2006/relationships/slideLayout" Target="../slideLayouts/slideLayout108.xml"/><Relationship Id="rId33" Type="http://schemas.openxmlformats.org/officeDocument/2006/relationships/slideLayout" Target="../slideLayouts/slideLayout116.xml"/><Relationship Id="rId38" Type="http://schemas.openxmlformats.org/officeDocument/2006/relationships/slideLayout" Target="../slideLayouts/slideLayout1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E123625-4177-94C5-071F-B877E48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CC5A60-722C-D5E0-88E8-5BB4ECA79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07A37D-85C7-5674-D2C3-ADB9632C5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0165AA-F759-5A1E-FB29-109C5E328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FB6A20-3F4D-79CB-E2F3-BEEDBBCD8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9067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10626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6314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3" r:id="rId37"/>
    <p:sldLayoutId id="2147483734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900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58" r:id="rId23"/>
    <p:sldLayoutId id="2147483759" r:id="rId24"/>
    <p:sldLayoutId id="2147483760" r:id="rId25"/>
    <p:sldLayoutId id="2147483761" r:id="rId26"/>
    <p:sldLayoutId id="2147483762" r:id="rId27"/>
    <p:sldLayoutId id="2147483763" r:id="rId28"/>
    <p:sldLayoutId id="2147483764" r:id="rId29"/>
    <p:sldLayoutId id="2147483765" r:id="rId30"/>
    <p:sldLayoutId id="2147483766" r:id="rId31"/>
    <p:sldLayoutId id="2147483767" r:id="rId32"/>
    <p:sldLayoutId id="2147483768" r:id="rId33"/>
    <p:sldLayoutId id="2147483769" r:id="rId34"/>
    <p:sldLayoutId id="2147483770" r:id="rId35"/>
    <p:sldLayoutId id="2147483771" r:id="rId36"/>
    <p:sldLayoutId id="2147483772" r:id="rId37"/>
    <p:sldLayoutId id="2147483774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1.xml.rels><?xml version="1.0" encoding="UTF-8" standalone="yes"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52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55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59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63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909" y="0"/>
            <a:ext cx="3744190" cy="196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4053898" cy="95425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AA2A2A2-E239-B191-EB4C-97728C5FB3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2" r="6842"/>
          <a:stretch/>
        </p:blipFill>
        <p:spPr>
          <a:xfrm>
            <a:off x="6096000" y="1870726"/>
            <a:ext cx="6096000" cy="4719037"/>
          </a:xfrm>
          <a:custGeom>
            <a:avLst/>
            <a:gdLst>
              <a:gd name="connsiteX0" fmla="*/ 1 w 6096000"/>
              <a:gd name="connsiteY0" fmla="*/ 0 h 4719037"/>
              <a:gd name="connsiteX1" fmla="*/ 6096000 w 6096000"/>
              <a:gd name="connsiteY1" fmla="*/ 0 h 4719037"/>
              <a:gd name="connsiteX2" fmla="*/ 6096000 w 6096000"/>
              <a:gd name="connsiteY2" fmla="*/ 1326306 h 4719037"/>
              <a:gd name="connsiteX3" fmla="*/ 1340479 w 6096000"/>
              <a:gd name="connsiteY3" fmla="*/ 1326306 h 4719037"/>
              <a:gd name="connsiteX4" fmla="*/ 1340479 w 6096000"/>
              <a:gd name="connsiteY4" fmla="*/ 1682193 h 4719037"/>
              <a:gd name="connsiteX5" fmla="*/ 5574890 w 6096000"/>
              <a:gd name="connsiteY5" fmla="*/ 1682193 h 4719037"/>
              <a:gd name="connsiteX6" fmla="*/ 5574890 w 6096000"/>
              <a:gd name="connsiteY6" fmla="*/ 3022672 h 4719037"/>
              <a:gd name="connsiteX7" fmla="*/ 1340479 w 6096000"/>
              <a:gd name="connsiteY7" fmla="*/ 3022671 h 4719037"/>
              <a:gd name="connsiteX8" fmla="*/ 1340479 w 6096000"/>
              <a:gd name="connsiteY8" fmla="*/ 3378558 h 4719037"/>
              <a:gd name="connsiteX9" fmla="*/ 6095999 w 6096000"/>
              <a:gd name="connsiteY9" fmla="*/ 3378559 h 4719037"/>
              <a:gd name="connsiteX10" fmla="*/ 6095999 w 6096000"/>
              <a:gd name="connsiteY10" fmla="*/ 4719037 h 4719037"/>
              <a:gd name="connsiteX11" fmla="*/ 1340479 w 6096000"/>
              <a:gd name="connsiteY11" fmla="*/ 4719037 h 4719037"/>
              <a:gd name="connsiteX12" fmla="*/ 0 w 6096000"/>
              <a:gd name="connsiteY12" fmla="*/ 4719037 h 4719037"/>
              <a:gd name="connsiteX13" fmla="*/ 0 w 6096000"/>
              <a:gd name="connsiteY13" fmla="*/ 1 h 4719037"/>
              <a:gd name="connsiteX14" fmla="*/ 1 w 6096000"/>
              <a:gd name="connsiteY14" fmla="*/ 1 h 4719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4719037">
                <a:moveTo>
                  <a:pt x="1" y="0"/>
                </a:moveTo>
                <a:lnTo>
                  <a:pt x="6096000" y="0"/>
                </a:lnTo>
                <a:lnTo>
                  <a:pt x="6096000" y="1326306"/>
                </a:lnTo>
                <a:lnTo>
                  <a:pt x="1340479" y="1326306"/>
                </a:lnTo>
                <a:lnTo>
                  <a:pt x="1340479" y="1682193"/>
                </a:lnTo>
                <a:lnTo>
                  <a:pt x="5574890" y="1682193"/>
                </a:lnTo>
                <a:lnTo>
                  <a:pt x="5574890" y="3022672"/>
                </a:lnTo>
                <a:lnTo>
                  <a:pt x="1340479" y="3022671"/>
                </a:lnTo>
                <a:lnTo>
                  <a:pt x="1340479" y="3378558"/>
                </a:lnTo>
                <a:lnTo>
                  <a:pt x="6095999" y="3378559"/>
                </a:lnTo>
                <a:lnTo>
                  <a:pt x="6095999" y="4719037"/>
                </a:lnTo>
                <a:lnTo>
                  <a:pt x="1340479" y="4719037"/>
                </a:lnTo>
                <a:lnTo>
                  <a:pt x="0" y="4719037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481781" y="2847728"/>
            <a:ext cx="552572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2" charset="0"/>
              </a:rPr>
              <a:t>RUTA DE APRENDIZAJE</a:t>
            </a:r>
            <a:endParaRPr lang="es-PE" sz="4600" b="1" dirty="0">
              <a:solidFill>
                <a:schemeClr val="accent3">
                  <a:lumMod val="60000"/>
                  <a:lumOff val="40000"/>
                </a:schemeClr>
              </a:solidFill>
              <a:latin typeface="Montserrat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DF3A99F-357C-A6F7-37E7-45E55D8F10F5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i="1" dirty="0">
                <a:solidFill>
                  <a:schemeClr val="bg1"/>
                </a:solidFill>
              </a:rPr>
              <a:t>Elaborado por: Dagner Anibal Chuman Lluen</a:t>
            </a:r>
            <a:endParaRPr lang="es-PE" sz="1200" i="1" dirty="0">
              <a:solidFill>
                <a:schemeClr val="bg1"/>
              </a:solidFill>
            </a:endParaRPr>
          </a:p>
        </p:txBody>
      </p:sp>
      <p:sp>
        <p:nvSpPr>
          <p:cNvPr id="1029" name="Texto 1029"/>
          <p:cNvSpPr txBox="1"/>
          <p:nvPr/>
        </p:nvSpPr>
        <p:spPr>
          <a:xfrm>
            <a:off x="481781" y="5130000"/>
            <a:ext cx="5525729" cy="76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s-ES" sz="2000" b="1" dirty="0">
                <a:solidFill>
                  <a:srgbClr val="FFFFFF"/>
                </a:solidFill>
                <a:latin typeface="Montserrat" pitchFamily="2" charset="0"/>
              </a:rPr>
              <a:t>INSCRIPCIÓN Y CURSOS NUEVOS · CENTRO DE INFORMÁTICA</a:t>
            </a:r>
          </a:p>
          <a:p>
            <a:r>
              <a:rPr lang="es-ES" sz="1600" dirty="0">
                <a:solidFill>
                  <a:srgbClr val="FFFFFF"/>
                </a:solidFill>
                <a:latin typeface="Montserrat" pitchFamily="2" charset="0"/>
              </a:rPr>
              <a:t>Repaso para la reunión con el Ing. Daniel Salazar · 27/10/2026</a:t>
            </a:r>
          </a:p>
        </p:txBody>
      </p:sp>
    </p:spTree>
    <p:extLst>
      <p:ext uri="{BB962C8B-B14F-4D97-AF65-F5344CB8AC3E}">
        <p14:creationId xmlns:p14="http://schemas.microsoft.com/office/powerpoint/2010/main" val="3735661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4368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LO QUE VAMOS A VER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4799386" y="241540"/>
            <a:ext cx="7392614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Nota 9"/>
          <p:cNvSpPr/>
          <p:nvPr/>
        </p:nvSpPr>
        <p:spPr>
          <a:xfrm>
            <a:off x="431320" y="900000"/>
            <a:ext cx="11329360" cy="863816"/>
          </a:xfrm>
          <a:prstGeom prst="roundRect">
            <a:avLst>
              <a:gd name="adj" fmla="val 9000"/>
            </a:avLst>
          </a:prstGeom>
          <a:solidFill>
            <a:srgbClr val="F1E7FA"/>
          </a:solidFill>
          <a:ln w="12700">
            <a:solidFill>
              <a:srgbClr val="DCC8EE"/>
            </a:solidFill>
          </a:ln>
        </p:spPr>
        <p:txBody>
          <a:bodyPr wrap="square" lIns="137160" tIns="64008" rIns="137160" bIns="64008" rtlCol="0" anchor="ctr">
            <a:noAutofit/>
          </a:bodyPr>
          <a:lstStyle/>
          <a:p>
            <a:pPr algn="l">
              <a:buNone/>
            </a:pPr>
            <a:r>
              <a:rPr lang="es-PE" sz="1500" dirty="0">
                <a:solidFill>
                  <a:srgbClr val="1E1E24"/>
                </a:solidFill>
              </a:rPr>
              <a:t>Mañana con el jefe del Centro de Informática: </a:t>
            </a:r>
            <a:r>
              <a:rPr lang="es-PE" sz="1500" b="1" dirty="0">
                <a:solidFill>
                  <a:srgbClr val="1E1E24"/>
                </a:solidFill>
              </a:rPr>
              <a:t>cómo se inscribe un alumno en su ruta de aprendizaje</a:t>
            </a:r>
            <a:r>
              <a:rPr lang="es-PE" sz="1500" dirty="0">
                <a:solidFill>
                  <a:srgbClr val="1E1E24"/>
                </a:solidFill>
              </a:rPr>
              <a:t> y </a:t>
            </a:r>
            <a:r>
              <a:rPr lang="es-PE" sz="1500" b="1" dirty="0">
                <a:solidFill>
                  <a:srgbClr val="1E1E24"/>
                </a:solidFill>
              </a:rPr>
              <a:t>cómo se crea un curso nuevo y se asigna a las escuelas</a:t>
            </a:r>
            <a:r>
              <a:rPr lang="es-PE" sz="1500" dirty="0">
                <a:solidFill>
                  <a:srgbClr val="1E1E24"/>
                </a:solidFill>
              </a:rPr>
              <a:t>. Todo lo de aquí está probado en TEST o citado del instructivo.</a:t>
            </a:r>
            <a:endParaRPr lang="es-PE" sz="1500" dirty="0"/>
          </a:p>
        </p:txBody>
      </p:sp>
      <p:sp>
        <p:nvSpPr>
          <p:cNvPr id="10" name="Paso 10"/>
          <p:cNvSpPr/>
          <p:nvPr/>
        </p:nvSpPr>
        <p:spPr>
          <a:xfrm>
            <a:off x="431320" y="1853816"/>
            <a:ext cx="2233872" cy="760000"/>
          </a:xfrm>
          <a:prstGeom prst="homePlate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11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400" b="1" dirty="0">
                <a:solidFill>
                  <a:srgbClr val="FFFFFF"/>
                </a:solidFill>
              </a:rPr>
              <a:t>1  </a:t>
            </a:r>
            <a:r>
              <a:rPr lang="es-PE" sz="1400" b="1" dirty="0">
                <a:solidFill>
                  <a:srgbClr val="FFFFFF"/>
                </a:solidFill>
              </a:rPr>
              <a:t>Rutas</a:t>
            </a:r>
            <a:endParaRPr lang="es-PE" sz="1400" dirty="0"/>
          </a:p>
          <a:p>
            <a:pPr algn="l">
              <a:buNone/>
            </a:pPr>
            <a:r>
              <a:rPr lang="es-PE" sz="1250" dirty="0">
                <a:solidFill>
                  <a:srgbClr val="EDE0F8"/>
                </a:solidFill>
              </a:rPr>
              <a:t>Qué son y cuántas</a:t>
            </a:r>
            <a:endParaRPr lang="es-PE" sz="1250" dirty="0"/>
          </a:p>
        </p:txBody>
      </p:sp>
      <p:sp>
        <p:nvSpPr>
          <p:cNvPr id="11" name="Paso 11"/>
          <p:cNvSpPr/>
          <p:nvPr/>
        </p:nvSpPr>
        <p:spPr>
          <a:xfrm>
            <a:off x="2705192" y="1853816"/>
            <a:ext cx="2233872" cy="76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400" b="1" dirty="0">
                <a:solidFill>
                  <a:srgbClr val="FFFFFF"/>
                </a:solidFill>
              </a:rPr>
              <a:t>2  </a:t>
            </a:r>
            <a:r>
              <a:rPr lang="es-PE" sz="1400" b="1" dirty="0">
                <a:solidFill>
                  <a:srgbClr val="FFFFFF"/>
                </a:solidFill>
              </a:rPr>
              <a:t>Inscribir</a:t>
            </a:r>
            <a:endParaRPr lang="es-PE" sz="1400" dirty="0"/>
          </a:p>
          <a:p>
            <a:pPr algn="l">
              <a:buNone/>
            </a:pPr>
            <a:r>
              <a:rPr lang="es-PE" sz="1250" dirty="0">
                <a:solidFill>
                  <a:srgbClr val="EDE0F8"/>
                </a:solidFill>
              </a:rPr>
              <a:t>Alumno en su ruta</a:t>
            </a:r>
            <a:endParaRPr lang="es-PE" sz="1250" dirty="0"/>
          </a:p>
        </p:txBody>
      </p:sp>
      <p:sp>
        <p:nvSpPr>
          <p:cNvPr id="12" name="Paso 12"/>
          <p:cNvSpPr/>
          <p:nvPr/>
        </p:nvSpPr>
        <p:spPr>
          <a:xfrm>
            <a:off x="4979064" y="1853816"/>
            <a:ext cx="2233872" cy="76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400" b="1" dirty="0">
                <a:solidFill>
                  <a:srgbClr val="FFFFFF"/>
                </a:solidFill>
              </a:rPr>
              <a:t>3  </a:t>
            </a:r>
            <a:r>
              <a:rPr lang="es-PE" sz="1400" b="1" dirty="0">
                <a:solidFill>
                  <a:srgbClr val="FFFFFF"/>
                </a:solidFill>
              </a:rPr>
              <a:t>Curso nuevo</a:t>
            </a:r>
            <a:endParaRPr lang="es-PE" sz="1400" dirty="0"/>
          </a:p>
          <a:p>
            <a:pPr algn="l">
              <a:buNone/>
            </a:pPr>
            <a:r>
              <a:rPr lang="es-PE" sz="1250" dirty="0">
                <a:solidFill>
                  <a:srgbClr val="EDE0F8"/>
                </a:solidFill>
              </a:rPr>
              <a:t>Catálogo</a:t>
            </a:r>
            <a:endParaRPr lang="es-PE" sz="1250" dirty="0"/>
          </a:p>
        </p:txBody>
      </p:sp>
      <p:sp>
        <p:nvSpPr>
          <p:cNvPr id="13" name="Paso 13"/>
          <p:cNvSpPr/>
          <p:nvPr/>
        </p:nvSpPr>
        <p:spPr>
          <a:xfrm>
            <a:off x="7252936" y="1853816"/>
            <a:ext cx="2233872" cy="76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400" b="1" dirty="0">
                <a:solidFill>
                  <a:srgbClr val="FFFFFF"/>
                </a:solidFill>
              </a:rPr>
              <a:t>4  </a:t>
            </a:r>
            <a:r>
              <a:rPr lang="es-PE" sz="1400" b="1" dirty="0">
                <a:solidFill>
                  <a:srgbClr val="FFFFFF"/>
                </a:solidFill>
              </a:rPr>
              <a:t>Escuelas</a:t>
            </a:r>
            <a:endParaRPr lang="es-PE" sz="1400" dirty="0"/>
          </a:p>
          <a:p>
            <a:pPr algn="l">
              <a:buNone/>
            </a:pPr>
            <a:r>
              <a:rPr lang="es-PE" sz="1250" dirty="0">
                <a:solidFill>
                  <a:srgbClr val="EDE0F8"/>
                </a:solidFill>
              </a:rPr>
              <a:t>Asignar a las rutas</a:t>
            </a:r>
            <a:endParaRPr lang="es-PE" sz="1250" dirty="0"/>
          </a:p>
        </p:txBody>
      </p:sp>
      <p:sp>
        <p:nvSpPr>
          <p:cNvPr id="14" name="Paso 14"/>
          <p:cNvSpPr/>
          <p:nvPr/>
        </p:nvSpPr>
        <p:spPr>
          <a:xfrm>
            <a:off x="9526808" y="1853816"/>
            <a:ext cx="2233872" cy="76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400" b="1" dirty="0">
                <a:solidFill>
                  <a:srgbClr val="FFFFFF"/>
                </a:solidFill>
              </a:rPr>
              <a:t>5  </a:t>
            </a:r>
            <a:r>
              <a:rPr lang="es-PE" sz="1400" b="1" dirty="0">
                <a:solidFill>
                  <a:srgbClr val="FFFFFF"/>
                </a:solidFill>
              </a:rPr>
              <a:t>Repaso</a:t>
            </a:r>
            <a:endParaRPr lang="es-PE" sz="1400" dirty="0"/>
          </a:p>
          <a:p>
            <a:pPr algn="l">
              <a:buNone/>
            </a:pPr>
            <a:r>
              <a:rPr lang="es-PE" sz="1250" dirty="0">
                <a:solidFill>
                  <a:srgbClr val="EDE0F8"/>
                </a:solidFill>
              </a:rPr>
              <a:t>Sitio y asistente IA</a:t>
            </a:r>
            <a:endParaRPr lang="es-PE" sz="1250" dirty="0"/>
          </a:p>
        </p:txBody>
      </p:sp>
      <p:sp>
        <p:nvSpPr>
          <p:cNvPr id="15" name="Bloque 15"/>
          <p:cNvSpPr/>
          <p:nvPr/>
        </p:nvSpPr>
        <p:spPr>
          <a:xfrm>
            <a:off x="431320" y="2723816"/>
            <a:ext cx="5574680" cy="3126184"/>
          </a:xfrm>
          <a:prstGeom prst="roundRect">
            <a:avLst>
              <a:gd name="adj" fmla="val 6000"/>
            </a:avLst>
          </a:prstGeom>
          <a:solidFill>
            <a:srgbClr val="F2F2F5"/>
          </a:solidFill>
          <a:ln w="12700">
            <a:solidFill>
              <a:srgbClr val="F2F2F5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600" b="1" dirty="0">
                <a:solidFill>
                  <a:srgbClr val="5F5F6B"/>
                </a:solidFill>
              </a:rPr>
              <a:t>Hoy en SEUSS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500" dirty="0">
                <a:solidFill>
                  <a:srgbClr val="1E1E24"/>
                </a:solidFill>
              </a:rPr>
              <a:t>Campus Virtual › Procesos en línea › Matrícula en línea › logo del Centro de Informática › modalidad › curso y sección › modalidad de pago.</a:t>
            </a:r>
            <a:endParaRPr lang="es-PE" dirty="0"/>
          </a:p>
        </p:txBody>
      </p:sp>
      <p:sp>
        <p:nvSpPr>
          <p:cNvPr id="16" name="Bloque 16"/>
          <p:cNvSpPr/>
          <p:nvPr/>
        </p:nvSpPr>
        <p:spPr>
          <a:xfrm>
            <a:off x="6186000" y="2723816"/>
            <a:ext cx="5574680" cy="3126184"/>
          </a:xfrm>
          <a:prstGeom prst="roundRect">
            <a:avLst>
              <a:gd name="adj" fmla="val 6000"/>
            </a:avLst>
          </a:prstGeom>
          <a:solidFill>
            <a:srgbClr val="F1E7FA"/>
          </a:solidFill>
          <a:ln w="12700">
            <a:solidFill>
              <a:srgbClr val="F1E7FA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600" b="1" dirty="0">
                <a:solidFill>
                  <a:srgbClr val="5C2193"/>
                </a:solidFill>
              </a:rPr>
              <a:t>En Banner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500" dirty="0">
                <a:solidFill>
                  <a:srgbClr val="1E1E24"/>
                </a:solidFill>
              </a:rPr>
              <a:t>El alumno se </a:t>
            </a:r>
            <a:r>
              <a:rPr lang="es-PE" sz="1500" b="1" dirty="0">
                <a:solidFill>
                  <a:srgbClr val="1E1E24"/>
                </a:solidFill>
              </a:rPr>
              <a:t>admite en el programa XP de su ruta</a:t>
            </a:r>
            <a:r>
              <a:rPr lang="es-PE" sz="1500" dirty="0">
                <a:solidFill>
                  <a:srgbClr val="1E1E24"/>
                </a:solidFill>
              </a:rPr>
              <a:t> (</a:t>
            </a:r>
            <a:r>
              <a:rPr lang="es-PE" sz="1500" b="1" dirty="0">
                <a:solidFill>
                  <a:srgbClr val="5C2193"/>
                </a:solidFill>
              </a:rPr>
              <a:t>SAAQUIK</a:t>
            </a:r>
            <a:r>
              <a:rPr lang="es-PE" sz="1500" dirty="0">
                <a:solidFill>
                  <a:srgbClr val="1E1E24"/>
                </a:solidFill>
              </a:rPr>
              <a:t>: admisión rápida) y se matricula en el NRC (</a:t>
            </a:r>
            <a:r>
              <a:rPr lang="es-PE" sz="1500" b="1" dirty="0">
                <a:solidFill>
                  <a:srgbClr val="5C2193"/>
                </a:solidFill>
              </a:rPr>
              <a:t>SFAREGS</a:t>
            </a:r>
            <a:r>
              <a:rPr lang="es-PE" sz="1500" dirty="0">
                <a:solidFill>
                  <a:srgbClr val="1E1E24"/>
                </a:solidFill>
              </a:rPr>
              <a:t>: Inscripción de curso del alumno o Autoservicio: portal web de Banner para docentes y estudiantes).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500" dirty="0">
                <a:solidFill>
                  <a:srgbClr val="1E1E24"/>
                </a:solidFill>
              </a:rPr>
              <a:t>Un curso nuevo se crea en </a:t>
            </a:r>
            <a:r>
              <a:rPr lang="es-PE" sz="1500" b="1" dirty="0">
                <a:solidFill>
                  <a:srgbClr val="5C2193"/>
                </a:solidFill>
              </a:rPr>
              <a:t>SCACRSE</a:t>
            </a:r>
            <a:r>
              <a:rPr lang="es-PE" sz="1500" dirty="0">
                <a:solidFill>
                  <a:srgbClr val="1E1E24"/>
                </a:solidFill>
              </a:rPr>
              <a:t> (catálogo de cursos) y se </a:t>
            </a:r>
            <a:r>
              <a:rPr lang="es-PE" sz="1500" b="1" dirty="0">
                <a:solidFill>
                  <a:srgbClr val="1E1E24"/>
                </a:solidFill>
              </a:rPr>
              <a:t>agrega a la malla de cada ruta</a:t>
            </a:r>
            <a:r>
              <a:rPr lang="es-PE" sz="1500" dirty="0">
                <a:solidFill>
                  <a:srgbClr val="1E1E24"/>
                </a:solidFill>
              </a:rPr>
              <a:t> que lo lleva (</a:t>
            </a:r>
            <a:r>
              <a:rPr lang="es-PE" sz="1500" b="1" dirty="0">
                <a:solidFill>
                  <a:srgbClr val="5C2193"/>
                </a:solidFill>
              </a:rPr>
              <a:t>SMAAREA</a:t>
            </a:r>
            <a:r>
              <a:rPr lang="es-PE" sz="1500" dirty="0">
                <a:solidFill>
                  <a:srgbClr val="1E1E24"/>
                </a:solidFill>
              </a:rPr>
              <a:t>: requerimientos de área de la malla).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6169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063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QUÉ ES UNA RUTA DE APRENDIZAJE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494478" y="241540"/>
            <a:ext cx="4697521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Nota 9"/>
          <p:cNvSpPr/>
          <p:nvPr/>
        </p:nvSpPr>
        <p:spPr>
          <a:xfrm>
            <a:off x="431320" y="900000"/>
            <a:ext cx="11329360" cy="604736"/>
          </a:xfrm>
          <a:prstGeom prst="roundRect">
            <a:avLst>
              <a:gd name="adj" fmla="val 9000"/>
            </a:avLst>
          </a:prstGeom>
          <a:solidFill>
            <a:srgbClr val="EDF7E8"/>
          </a:solidFill>
          <a:ln w="12700">
            <a:solidFill>
              <a:srgbClr val="BFE0B0"/>
            </a:solidFill>
          </a:ln>
        </p:spPr>
        <p:txBody>
          <a:bodyPr wrap="square" lIns="137160" tIns="64008" rIns="137160" bIns="64008" rtlCol="0" anchor="ctr">
            <a:noAutofit/>
          </a:bodyPr>
          <a:lstStyle/>
          <a:p>
            <a:pPr algn="l">
              <a:buNone/>
            </a:pPr>
            <a:r>
              <a:rPr lang="es-PE" sz="1400" dirty="0">
                <a:solidFill>
                  <a:srgbClr val="1E1E24"/>
                </a:solidFill>
              </a:rPr>
              <a:t>Se acredita en </a:t>
            </a:r>
            <a:r>
              <a:rPr lang="es-PE" sz="1400" b="1" dirty="0">
                <a:solidFill>
                  <a:srgbClr val="1E1E24"/>
                </a:solidFill>
              </a:rPr>
              <a:t>5.º y 6.º ciclo</a:t>
            </a:r>
            <a:r>
              <a:rPr lang="es-PE" sz="1400" dirty="0">
                <a:solidFill>
                  <a:srgbClr val="1E1E24"/>
                </a:solidFill>
              </a:rPr>
              <a:t> con </a:t>
            </a:r>
            <a:r>
              <a:rPr lang="es-PE" sz="1400" b="1" dirty="0">
                <a:solidFill>
                  <a:srgbClr val="1E1E24"/>
                </a:solidFill>
              </a:rPr>
              <a:t>3 cursos de su ruta</a:t>
            </a:r>
            <a:r>
              <a:rPr lang="es-PE" sz="1400" dirty="0">
                <a:solidFill>
                  <a:srgbClr val="1E1E24"/>
                </a:solidFill>
              </a:rPr>
              <a:t>, en el orden que quiera y en paralelo, </a:t>
            </a:r>
            <a:r>
              <a:rPr lang="es-PE" sz="1400" b="1" dirty="0">
                <a:solidFill>
                  <a:srgbClr val="1E1E24"/>
                </a:solidFill>
              </a:rPr>
              <a:t>+ 1 Taller de Certificación Internacional</a:t>
            </a:r>
            <a:r>
              <a:rPr lang="es-PE" sz="1400" dirty="0">
                <a:solidFill>
                  <a:srgbClr val="1E1E24"/>
                </a:solidFill>
              </a:rPr>
              <a:t>. Cada ruta es un </a:t>
            </a:r>
            <a:r>
              <a:rPr lang="es-PE" sz="1400" b="1" dirty="0">
                <a:solidFill>
                  <a:srgbClr val="1E1E24"/>
                </a:solidFill>
              </a:rPr>
              <a:t>programa XP</a:t>
            </a:r>
            <a:r>
              <a:rPr lang="es-PE" sz="1400" dirty="0">
                <a:solidFill>
                  <a:srgbClr val="1E1E24"/>
                </a:solidFill>
              </a:rPr>
              <a:t> en Banner.</a:t>
            </a:r>
            <a:endParaRPr lang="es-PE" sz="1400" dirty="0"/>
          </a:p>
        </p:txBody>
      </p:sp>
      <p:graphicFrame>
        <p:nvGraphicFramePr>
          <p:cNvPr id="10" name="Tabla 10"/>
          <p:cNvGraphicFramePr>
            <a:graphicFrameLocks noGrp="1"/>
          </p:cNvGraphicFramePr>
          <p:nvPr/>
        </p:nvGraphicFramePr>
        <p:xfrm>
          <a:off x="431320" y="1594736"/>
          <a:ext cx="11329360" cy="3751289"/>
        </p:xfrm>
        <a:graphic>
          <a:graphicData uri="http://schemas.openxmlformats.org/drawingml/2006/table">
            <a:tbl>
              <a:tblPr firstRow="1" bandRow="1"/>
              <a:tblGrid>
                <a:gridCol w="1925991"/>
                <a:gridCol w="4645037"/>
                <a:gridCol w="4758332"/>
              </a:tblGrid>
              <a:tr h="2860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FFFFFF"/>
                          </a:solidFill>
                        </a:rPr>
                        <a:t>Ruta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FFFFFF"/>
                          </a:solidFill>
                        </a:rPr>
                        <a:t>Escuelas profesionales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FFFFFF"/>
                          </a:solidFill>
                        </a:rPr>
                        <a:t>Cursos (y el taller)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4689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5C2193"/>
                          </a:solidFill>
                        </a:rPr>
                        <a:t>1 · XP 01 (CMEMC38)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Salud: Enfermería, Estomatología, Medicina Humana, Tecnología Médica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Word 365 · Excel 365 · Canva · Excel Asociado · SPSS · Base de datos científicos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9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5C2193"/>
                          </a:solidFill>
                        </a:rPr>
                        <a:t>2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Derecho, Psicología, Trabajo Social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Word 365 · Excel 365 · Canva · Word Asociado · Excel Asociado · SPSS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651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5C2193"/>
                          </a:solidFill>
                        </a:rPr>
                        <a:t>3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Administración (y Emprendimiento, Marketing), Contabilidad (y Finanzas), Negocios Internacionales, Turismo, Agroindustrial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Word 365 · Excel 365 · Canva · Excel Asociado · Project · Power BI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9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5C2193"/>
                          </a:solidFill>
                        </a:rPr>
                        <a:t>4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Arquitectura, Ingeniería Civil, Diseño de Interiores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Excel Asociado · AutoCAD 2D · AutoCAD 3D · Sketchup · Project · Revit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4689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5C2193"/>
                          </a:solidFill>
                        </a:rPr>
                        <a:t>5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Ingeniería de Sistemas, de Software, Industrial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Excel Asociado · AutoCAD 2D · AutoCAD 3D · Bizagi · Diseño Web · Power BI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9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5C2193"/>
                          </a:solidFill>
                        </a:rPr>
                        <a:t>6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Ingeniería Mecánica Eléctrica, Civil, Arquitectura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Excel Asociado · AutoCAD 2D · AutoCAD 3D · SolidWorks · MatLab · Diseño Mecánico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4689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5C2193"/>
                          </a:solidFill>
                        </a:rPr>
                        <a:t>7 · XP 07 (CMEMC44)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Artes y Diseño Gráfico, Ciencias de la Comunicación, Ingeniería de Sistemas, de Software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Word 365 · Excel 365 · Canva · Word Asociado · Excel Asociado · Diseño Web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Forma 11"/>
          <p:cNvSpPr/>
          <p:nvPr/>
        </p:nvSpPr>
        <p:spPr>
          <a:xfrm>
            <a:off x="431320" y="5550000"/>
            <a:ext cx="11329360" cy="187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s-PE" sz="1100" dirty="0">
                <a:solidFill>
                  <a:srgbClr val="5F5F6B"/>
                </a:solidFill>
              </a:rPr>
              <a:t>Fuente: carpeta acreditaciones-uss (láminas 5 a 8, 2026). Códigos de las rutas 2 a 6: por confirmar (U37).</a:t>
            </a:r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387507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1. INSCRIBIR AL ALUMNO EN SU RUTA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Admitirlo en el programa XP de su ruta y matricularlo en un curso de esa ruta.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17531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922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BPM: INSCRIBIR AL ALUMNO EN SU RUTA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8353608" y="241540"/>
            <a:ext cx="3838392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Forma 9"/>
          <p:cNvSpPr/>
          <p:nvPr/>
        </p:nvSpPr>
        <p:spPr>
          <a:xfrm>
            <a:off x="431320" y="900000"/>
            <a:ext cx="11329360" cy="24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s-PE" sz="1500" b="1" dirty="0">
                <a:solidFill>
                  <a:srgbClr val="1E1E24"/>
                </a:solidFill>
              </a:rPr>
              <a:t>Dagner, ve en este orden:</a:t>
            </a:r>
            <a:endParaRPr lang="es-PE" sz="1500" dirty="0"/>
          </a:p>
        </p:txBody>
      </p:sp>
      <p:sp>
        <p:nvSpPr>
          <p:cNvPr id="10" name="Paso 10"/>
          <p:cNvSpPr/>
          <p:nvPr/>
        </p:nvSpPr>
        <p:spPr>
          <a:xfrm>
            <a:off x="431320" y="1238600"/>
            <a:ext cx="1854893" cy="820000"/>
          </a:xfrm>
          <a:prstGeom prst="homePlate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11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1  </a:t>
            </a:r>
            <a:r>
              <a:rPr lang="es-PE" sz="1250" b="1" dirty="0">
                <a:solidFill>
                  <a:srgbClr val="FFFFFF"/>
                </a:solidFill>
              </a:rPr>
              <a:t>Ruta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según su escuela</a:t>
            </a:r>
            <a:endParaRPr lang="es-PE" sz="1100" dirty="0"/>
          </a:p>
        </p:txBody>
      </p:sp>
      <p:sp>
        <p:nvSpPr>
          <p:cNvPr id="11" name="Paso 11"/>
          <p:cNvSpPr/>
          <p:nvPr/>
        </p:nvSpPr>
        <p:spPr>
          <a:xfrm>
            <a:off x="2326213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2  </a:t>
            </a:r>
            <a:r>
              <a:rPr lang="es-PE" sz="1250" b="1" dirty="0">
                <a:solidFill>
                  <a:srgbClr val="FFFFFF"/>
                </a:solidFill>
              </a:rPr>
              <a:t>GOAMTCH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persona, si no existe</a:t>
            </a:r>
            <a:endParaRPr lang="es-PE" sz="1100" dirty="0"/>
          </a:p>
        </p:txBody>
      </p:sp>
      <p:sp>
        <p:nvSpPr>
          <p:cNvPr id="12" name="Paso 12"/>
          <p:cNvSpPr/>
          <p:nvPr/>
        </p:nvSpPr>
        <p:spPr>
          <a:xfrm>
            <a:off x="4221106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3  </a:t>
            </a:r>
            <a:r>
              <a:rPr lang="es-PE" sz="1250" b="1" dirty="0">
                <a:solidFill>
                  <a:srgbClr val="FFFFFF"/>
                </a:solidFill>
              </a:rPr>
              <a:t>SAAQUIK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admitir en el XP</a:t>
            </a:r>
            <a:endParaRPr lang="es-PE" sz="1100" dirty="0"/>
          </a:p>
        </p:txBody>
      </p:sp>
      <p:sp>
        <p:nvSpPr>
          <p:cNvPr id="13" name="Paso 13"/>
          <p:cNvSpPr/>
          <p:nvPr/>
        </p:nvSpPr>
        <p:spPr>
          <a:xfrm>
            <a:off x="6116000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4  </a:t>
            </a:r>
            <a:r>
              <a:rPr lang="es-PE" sz="1250" b="1" dirty="0">
                <a:solidFill>
                  <a:srgbClr val="FFFFFF"/>
                </a:solidFill>
              </a:rPr>
              <a:t>SGASTDN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ver el plan</a:t>
            </a:r>
            <a:endParaRPr lang="es-PE" sz="1100" dirty="0"/>
          </a:p>
        </p:txBody>
      </p:sp>
      <p:sp>
        <p:nvSpPr>
          <p:cNvPr id="14" name="Paso 14"/>
          <p:cNvSpPr/>
          <p:nvPr/>
        </p:nvSpPr>
        <p:spPr>
          <a:xfrm>
            <a:off x="8010893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5  </a:t>
            </a:r>
            <a:r>
              <a:rPr lang="es-PE" sz="1250" b="1" dirty="0">
                <a:solidFill>
                  <a:srgbClr val="FFFFFF"/>
                </a:solidFill>
              </a:rPr>
              <a:t>SFAREGS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matricular el NRC</a:t>
            </a:r>
            <a:endParaRPr lang="es-PE" sz="1100" dirty="0"/>
          </a:p>
        </p:txBody>
      </p:sp>
      <p:sp>
        <p:nvSpPr>
          <p:cNvPr id="15" name="Paso 15"/>
          <p:cNvSpPr/>
          <p:nvPr/>
        </p:nvSpPr>
        <p:spPr>
          <a:xfrm>
            <a:off x="9905786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6  </a:t>
            </a:r>
            <a:r>
              <a:rPr lang="es-PE" sz="1250" b="1" dirty="0">
                <a:solidFill>
                  <a:srgbClr val="FFFFFF"/>
                </a:solidFill>
              </a:rPr>
              <a:t>TSAAREV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cargo y pago</a:t>
            </a:r>
            <a:endParaRPr lang="es-PE" sz="1100" dirty="0"/>
          </a:p>
        </p:txBody>
      </p:sp>
      <p:sp>
        <p:nvSpPr>
          <p:cNvPr id="16" name="Bloque 16"/>
          <p:cNvSpPr/>
          <p:nvPr/>
        </p:nvSpPr>
        <p:spPr>
          <a:xfrm>
            <a:off x="431320" y="2168600"/>
            <a:ext cx="3656453" cy="3681400"/>
          </a:xfrm>
          <a:prstGeom prst="roundRect">
            <a:avLst>
              <a:gd name="adj" fmla="val 6000"/>
            </a:avLst>
          </a:prstGeom>
          <a:solidFill>
            <a:srgbClr val="F1E7FA"/>
          </a:solidFill>
          <a:ln w="12700">
            <a:solidFill>
              <a:srgbClr val="F1E7FA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Si ya es alumno de pregrado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dirty="0">
                <a:solidFill>
                  <a:srgbClr val="1E1E24"/>
                </a:solidFill>
              </a:rPr>
              <a:t>No va a </a:t>
            </a:r>
            <a:r>
              <a:rPr lang="es-PE" sz="1450" b="1" dirty="0">
                <a:solidFill>
                  <a:srgbClr val="5C2193"/>
                </a:solidFill>
              </a:rPr>
              <a:t>GOAMTCH</a:t>
            </a:r>
            <a:r>
              <a:rPr lang="es-PE" sz="1450" dirty="0">
                <a:solidFill>
                  <a:srgbClr val="1E1E24"/>
                </a:solidFill>
              </a:rPr>
              <a:t> (búsqueda de personas para evitar duplicados): ya existe. Se le agrega el currículo del centro en </a:t>
            </a:r>
            <a:r>
              <a:rPr lang="es-PE" sz="1450" b="1" dirty="0">
                <a:solidFill>
                  <a:srgbClr val="5C2193"/>
                </a:solidFill>
              </a:rPr>
              <a:t>SAAQUIK</a:t>
            </a:r>
            <a:r>
              <a:rPr lang="es-PE" sz="1450" dirty="0">
                <a:solidFill>
                  <a:srgbClr val="1E1E24"/>
                </a:solidFill>
              </a:rPr>
              <a:t> (admisión rápida) o en </a:t>
            </a:r>
            <a:r>
              <a:rPr lang="es-PE" sz="1450" b="1" dirty="0">
                <a:solidFill>
                  <a:srgbClr val="5C2193"/>
                </a:solidFill>
              </a:rPr>
              <a:t>SFAREGS</a:t>
            </a:r>
            <a:r>
              <a:rPr lang="es-PE" sz="1450" dirty="0">
                <a:solidFill>
                  <a:srgbClr val="1E1E24"/>
                </a:solidFill>
              </a:rPr>
              <a:t> (Inscripción de curso del alumno) › Currículos con «+» (C100).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dirty="0">
                <a:solidFill>
                  <a:srgbClr val="1E1E24"/>
                </a:solidFill>
              </a:rPr>
              <a:t>En </a:t>
            </a:r>
            <a:r>
              <a:rPr lang="es-PE" sz="1450" b="1" dirty="0">
                <a:solidFill>
                  <a:srgbClr val="5C2193"/>
                </a:solidFill>
              </a:rPr>
              <a:t>SFAREGS</a:t>
            </a:r>
            <a:r>
              <a:rPr lang="es-PE" sz="1450" dirty="0">
                <a:solidFill>
                  <a:srgbClr val="1E1E24"/>
                </a:solidFill>
              </a:rPr>
              <a:t> se elige el </a:t>
            </a:r>
            <a:r>
              <a:rPr lang="es-PE" sz="1450" b="1" dirty="0">
                <a:solidFill>
                  <a:srgbClr val="1E1E24"/>
                </a:solidFill>
              </a:rPr>
              <a:t>plan de estudios del centro</a:t>
            </a:r>
            <a:r>
              <a:rPr lang="es-PE" sz="1450" dirty="0">
                <a:solidFill>
                  <a:srgbClr val="1E1E24"/>
                </a:solidFill>
              </a:rPr>
              <a:t>, no el 1 (C86).</a:t>
            </a:r>
            <a:endParaRPr lang="es-PE" dirty="0"/>
          </a:p>
        </p:txBody>
      </p:sp>
      <p:sp>
        <p:nvSpPr>
          <p:cNvPr id="17" name="Bloque 17"/>
          <p:cNvSpPr/>
          <p:nvPr/>
        </p:nvSpPr>
        <p:spPr>
          <a:xfrm>
            <a:off x="4267773" y="2168600"/>
            <a:ext cx="3656453" cy="3681400"/>
          </a:xfrm>
          <a:prstGeom prst="roundRect">
            <a:avLst>
              <a:gd name="adj" fmla="val 6000"/>
            </a:avLst>
          </a:prstGeom>
          <a:solidFill>
            <a:srgbClr val="EDF7E8"/>
          </a:solidFill>
          <a:ln w="12700">
            <a:solidFill>
              <a:srgbClr val="EDF7E8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550" b="1" dirty="0">
                <a:solidFill>
                  <a:srgbClr val="2F6B1B"/>
                </a:solidFill>
              </a:rPr>
              <a:t>Por Autoservicio (el alumno)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dirty="0">
                <a:solidFill>
                  <a:srgbClr val="1E1E24"/>
                </a:solidFill>
              </a:rPr>
              <a:t>Elige su plan del centro › pestaña </a:t>
            </a:r>
            <a:r>
              <a:rPr lang="es-PE" sz="1450" b="1" dirty="0">
                <a:solidFill>
                  <a:srgbClr val="1E1E24"/>
                </a:solidFill>
              </a:rPr>
              <a:t>Proyecciones</a:t>
            </a:r>
            <a:r>
              <a:rPr lang="es-PE" sz="1450" dirty="0">
                <a:solidFill>
                  <a:srgbClr val="1E1E24"/>
                </a:solidFill>
              </a:rPr>
              <a:t> › agrega el NRC › </a:t>
            </a:r>
            <a:r>
              <a:rPr lang="es-PE" sz="1450" b="1" dirty="0">
                <a:solidFill>
                  <a:srgbClr val="1E1E24"/>
                </a:solidFill>
              </a:rPr>
              <a:t>Enviar</a:t>
            </a:r>
            <a:r>
              <a:rPr lang="es-PE" sz="1450" dirty="0">
                <a:solidFill>
                  <a:srgbClr val="1E1E24"/>
                </a:solidFill>
              </a:rPr>
              <a:t>.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dirty="0">
                <a:solidFill>
                  <a:srgbClr val="1E1E24"/>
                </a:solidFill>
              </a:rPr>
              <a:t>Queda </a:t>
            </a:r>
            <a:r>
              <a:rPr lang="es-PE" sz="1450" b="1" dirty="0">
                <a:solidFill>
                  <a:srgbClr val="1E1E24"/>
                </a:solidFill>
              </a:rPr>
              <a:t>RW</a:t>
            </a:r>
            <a:r>
              <a:rPr lang="es-PE" sz="1450" dirty="0">
                <a:solidFill>
                  <a:srgbClr val="1E1E24"/>
                </a:solidFill>
              </a:rPr>
              <a:t>, inscrito por autoservicio (C71).</a:t>
            </a:r>
            <a:endParaRPr lang="es-PE" dirty="0"/>
          </a:p>
        </p:txBody>
      </p:sp>
      <p:sp>
        <p:nvSpPr>
          <p:cNvPr id="18" name="Bloque 18"/>
          <p:cNvSpPr/>
          <p:nvPr/>
        </p:nvSpPr>
        <p:spPr>
          <a:xfrm>
            <a:off x="8104226" y="2168600"/>
            <a:ext cx="3656453" cy="3681400"/>
          </a:xfrm>
          <a:prstGeom prst="roundRect">
            <a:avLst>
              <a:gd name="adj" fmla="val 6000"/>
            </a:avLst>
          </a:prstGeom>
          <a:solidFill>
            <a:srgbClr val="F2F2F5"/>
          </a:solidFill>
          <a:ln w="12700">
            <a:solidFill>
              <a:srgbClr val="F2F2F5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550" b="1" dirty="0">
                <a:solidFill>
                  <a:srgbClr val="5F5F6B"/>
                </a:solidFill>
              </a:rPr>
              <a:t>Al terminar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b="1" dirty="0">
                <a:solidFill>
                  <a:srgbClr val="5C2193"/>
                </a:solidFill>
              </a:rPr>
              <a:t>SMARQCM</a:t>
            </a:r>
            <a:r>
              <a:rPr lang="es-PE" sz="1450" dirty="0">
                <a:solidFill>
                  <a:srgbClr val="1E1E24"/>
                </a:solidFill>
              </a:rPr>
              <a:t> (CAPP de un estudiante): el CAPP muestra el curso dentro del área de su programa XP.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dirty="0">
                <a:solidFill>
                  <a:srgbClr val="1E1E24"/>
                </a:solidFill>
              </a:rPr>
              <a:t>El cargo sale en la cuenta corriente; el pago sigue la modalidad elegida.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7236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9011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PASO A PASO: ADMITIR EN LA RUTA (SAAQUIK)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9443166" y="241540"/>
            <a:ext cx="2748833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graphicFrame>
        <p:nvGraphicFramePr>
          <p:cNvPr id="9" name="Tabla 9"/>
          <p:cNvGraphicFramePr>
            <a:graphicFrameLocks noGrp="1"/>
          </p:cNvGraphicFramePr>
          <p:nvPr/>
        </p:nvGraphicFramePr>
        <p:xfrm>
          <a:off x="431320" y="900000"/>
          <a:ext cx="11329360" cy="2779464"/>
        </p:xfrm>
        <a:graphic>
          <a:graphicData uri="http://schemas.openxmlformats.org/drawingml/2006/table">
            <a:tbl>
              <a:tblPr firstRow="1" bandRow="1"/>
              <a:tblGrid>
                <a:gridCol w="793055"/>
                <a:gridCol w="2492459"/>
                <a:gridCol w="8043846"/>
              </a:tblGrid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N.º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Bloque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Qué pones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1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Encabezado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ID del alumno, periodo 202656, nivel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C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›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Ir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2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Detalles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Tipo de alumno R o I · estatus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AS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· residencia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5603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3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Currículo, prioridad 1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Programa › ••• › «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Reglas de currículo base por programa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» › el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programa XP de su ruta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› OK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4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Lo pone Banner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Mayor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ACXP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· departamento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EMCI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· campus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S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· estatus INPROGRESS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5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Guardar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«Saved successfully (3 rows saved)»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3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6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Verificar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5C2193"/>
                          </a:solidFill>
                        </a:rPr>
                        <a:t>SGASTDN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(registro del estudiante): el plan del centro está activo junto al de pregrado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</a:tbl>
          </a:graphicData>
        </a:graphic>
      </p:graphicFrame>
      <p:sp>
        <p:nvSpPr>
          <p:cNvPr id="10" name="Nota 10"/>
          <p:cNvSpPr/>
          <p:nvPr/>
        </p:nvSpPr>
        <p:spPr>
          <a:xfrm>
            <a:off x="431320" y="3779464"/>
            <a:ext cx="11329360" cy="574256"/>
          </a:xfrm>
          <a:prstGeom prst="roundRect">
            <a:avLst>
              <a:gd name="adj" fmla="val 9000"/>
            </a:avLst>
          </a:prstGeom>
          <a:solidFill>
            <a:srgbClr val="EDF7E8"/>
          </a:solidFill>
          <a:ln w="12700">
            <a:solidFill>
              <a:srgbClr val="BFE0B0"/>
            </a:solidFill>
          </a:ln>
        </p:spPr>
        <p:txBody>
          <a:bodyPr wrap="square" lIns="137160" tIns="64008" rIns="137160" bIns="64008" rtlCol="0" anchor="ctr">
            <a:noAutofit/>
          </a:bodyPr>
          <a:lstStyle/>
          <a:p>
            <a:pPr algn="l">
              <a:buNone/>
            </a:pPr>
            <a:r>
              <a:rPr lang="es-PE" sz="1300" dirty="0">
                <a:solidFill>
                  <a:srgbClr val="1E1E24"/>
                </a:solidFill>
              </a:rPr>
              <a:t>Ejemplo: alumno de </a:t>
            </a:r>
            <a:r>
              <a:rPr lang="es-PE" sz="1300" b="1" dirty="0">
                <a:solidFill>
                  <a:srgbClr val="1E1E24"/>
                </a:solidFill>
              </a:rPr>
              <a:t>Ingeniería de Software</a:t>
            </a:r>
            <a:r>
              <a:rPr lang="es-PE" sz="1300" dirty="0">
                <a:solidFill>
                  <a:srgbClr val="1E1E24"/>
                </a:solidFill>
              </a:rPr>
              <a:t> que quiere </a:t>
            </a:r>
            <a:r>
              <a:rPr lang="es-PE" sz="1300" b="1" dirty="0">
                <a:solidFill>
                  <a:srgbClr val="1E1E24"/>
                </a:solidFill>
              </a:rPr>
              <a:t>Diseño Web</a:t>
            </a:r>
            <a:r>
              <a:rPr lang="es-PE" sz="1300" dirty="0">
                <a:solidFill>
                  <a:srgbClr val="1E1E24"/>
                </a:solidFill>
              </a:rPr>
              <a:t> → ruta </a:t>
            </a:r>
            <a:r>
              <a:rPr lang="es-PE" sz="1300" b="1" dirty="0">
                <a:solidFill>
                  <a:srgbClr val="1E1E24"/>
                </a:solidFill>
              </a:rPr>
              <a:t>7</a:t>
            </a:r>
            <a:r>
              <a:rPr lang="es-PE" sz="1300" dirty="0">
                <a:solidFill>
                  <a:srgbClr val="1E1E24"/>
                </a:solidFill>
              </a:rPr>
              <a:t> → programa </a:t>
            </a:r>
            <a:r>
              <a:rPr lang="es-PE" sz="1300" b="1" dirty="0">
                <a:solidFill>
                  <a:srgbClr val="1E1E24"/>
                </a:solidFill>
              </a:rPr>
              <a:t>CMEMC44</a:t>
            </a:r>
            <a:r>
              <a:rPr lang="es-PE" sz="1300" dirty="0">
                <a:solidFill>
                  <a:srgbClr val="1E1E24"/>
                </a:solidFill>
              </a:rPr>
              <a:t> (XP 07), como el alumno del NRC 10044 (C125).</a:t>
            </a:r>
            <a:endParaRPr lang="es-PE" sz="1300" dirty="0"/>
          </a:p>
        </p:txBody>
      </p:sp>
    </p:spTree>
    <p:extLst>
      <p:ext uri="{BB962C8B-B14F-4D97-AF65-F5344CB8AC3E}">
        <p14:creationId xmlns:p14="http://schemas.microsoft.com/office/powerpoint/2010/main" val="268057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10528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PASO A PASO: MATRICULAR EN UN CURSO DE SU RUTA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10960156" y="241540"/>
            <a:ext cx="1231843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graphicFrame>
        <p:nvGraphicFramePr>
          <p:cNvPr id="9" name="Tabla 9"/>
          <p:cNvGraphicFramePr>
            <a:graphicFrameLocks noGrp="1"/>
          </p:cNvGraphicFramePr>
          <p:nvPr/>
        </p:nvGraphicFramePr>
        <p:xfrm>
          <a:off x="431320" y="900000"/>
          <a:ext cx="11329360" cy="2676312"/>
        </p:xfrm>
        <a:graphic>
          <a:graphicData uri="http://schemas.openxmlformats.org/drawingml/2006/table">
            <a:tbl>
              <a:tblPr firstRow="1" bandRow="1"/>
              <a:tblGrid>
                <a:gridCol w="793055"/>
                <a:gridCol w="2832340"/>
                <a:gridCol w="7703965"/>
              </a:tblGrid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N.º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Dónde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Qué haces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7889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1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5C2193"/>
                          </a:solidFill>
                        </a:rPr>
                        <a:t>SFAREGS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(Inscripción de curso del alumno) · encabezado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Periodo → ID →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plan de estudios al final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(no asumas 1) ›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Ir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2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Información de ingreso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Estatus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EL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· en el plan de estudios de ingreso, el plan y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EL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›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Guardar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3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Cursos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Botón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⤓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(sección siguiente) › NRC ›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Tab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›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Guardar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4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Resultado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El curso queda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RE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; el cupo del NRC baja en </a:t>
                      </a:r>
                      <a:r>
                        <a:rPr lang="es-PE" sz="1500" b="1" dirty="0">
                          <a:solidFill>
                            <a:srgbClr val="5C2193"/>
                          </a:solidFill>
                        </a:rPr>
                        <a:t>SSASECQ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5603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5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5C2193"/>
                          </a:solidFill>
                        </a:rPr>
                        <a:t>TSAAREV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(cuenta corriente del estudiante)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Aparece el cargo (S/ 420 en Chiclayo; S/ 240 en filiales)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Bloque 10"/>
          <p:cNvSpPr/>
          <p:nvPr/>
        </p:nvSpPr>
        <p:spPr>
          <a:xfrm>
            <a:off x="431320" y="3676312"/>
            <a:ext cx="5574680" cy="2173688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FFF8E8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500" b="1" dirty="0">
                <a:solidFill>
                  <a:srgbClr val="8A5A00"/>
                </a:solidFill>
              </a:rPr>
              <a:t>Si sale un error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dirty="0">
                <a:solidFill>
                  <a:srgbClr val="1E1E24"/>
                </a:solidFill>
              </a:rPr>
              <a:t>«Closed»: sin cupo (Script 15) · «Duplicate Course»: ya lleva ese curso · «tiene retenciones»: </a:t>
            </a:r>
            <a:r>
              <a:rPr lang="es-PE" sz="1450" b="1" dirty="0">
                <a:solidFill>
                  <a:srgbClr val="5C2193"/>
                </a:solidFill>
              </a:rPr>
              <a:t>SOAHOLD</a:t>
            </a:r>
            <a:r>
              <a:rPr lang="es-PE" sz="1450" dirty="0">
                <a:solidFill>
                  <a:srgbClr val="1E1E24"/>
                </a:solidFill>
              </a:rPr>
              <a:t> (Script 18-B).</a:t>
            </a:r>
            <a:endParaRPr lang="es-PE" dirty="0"/>
          </a:p>
        </p:txBody>
      </p:sp>
      <p:sp>
        <p:nvSpPr>
          <p:cNvPr id="11" name="Bloque 11"/>
          <p:cNvSpPr/>
          <p:nvPr/>
        </p:nvSpPr>
        <p:spPr>
          <a:xfrm>
            <a:off x="6186000" y="3676312"/>
            <a:ext cx="5574680" cy="2173688"/>
          </a:xfrm>
          <a:prstGeom prst="roundRect">
            <a:avLst>
              <a:gd name="adj" fmla="val 6000"/>
            </a:avLst>
          </a:prstGeom>
          <a:solidFill>
            <a:srgbClr val="F2F2F5"/>
          </a:solidFill>
          <a:ln w="12700">
            <a:solidFill>
              <a:srgbClr val="F2F2F5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500" b="1" dirty="0">
                <a:solidFill>
                  <a:srgbClr val="5F5F6B"/>
                </a:solidFill>
              </a:rPr>
              <a:t>Pago (hoy)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dirty="0">
                <a:solidFill>
                  <a:srgbClr val="1E1E24"/>
                </a:solidFill>
              </a:rPr>
              <a:t>Contado −5 % (paga antes) · 3 cuotas (paga la 1.ª) · 2 cuotas · diferido +5 %. No se anula una vez programado.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2719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2. CURSO NUEVO Y ESCUELAS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Crear el curso en el catálogo y agregarlo a la malla de las rutas que lo llevan.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8454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120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BPM: CREAR UN CURSO NUEVO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551427" y="241540"/>
            <a:ext cx="5640572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Forma 9"/>
          <p:cNvSpPr/>
          <p:nvPr/>
        </p:nvSpPr>
        <p:spPr>
          <a:xfrm>
            <a:off x="431320" y="900000"/>
            <a:ext cx="11329360" cy="24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s-PE" sz="1500" b="1" dirty="0">
                <a:solidFill>
                  <a:srgbClr val="1E1E24"/>
                </a:solidFill>
              </a:rPr>
              <a:t>Dagner, ve en este orden (el curso se crea </a:t>
            </a:r>
            <a:r>
              <a:rPr lang="es-PE" sz="1500" b="1" dirty="0">
                <a:solidFill>
                  <a:srgbClr val="1E1E24"/>
                </a:solidFill>
              </a:rPr>
              <a:t>antes</a:t>
            </a:r>
            <a:r>
              <a:rPr lang="es-PE" sz="1500" b="1" dirty="0">
                <a:solidFill>
                  <a:srgbClr val="1E1E24"/>
                </a:solidFill>
              </a:rPr>
              <a:t> de tocar las mallas, R12):</a:t>
            </a:r>
            <a:endParaRPr lang="es-PE" sz="1500" dirty="0"/>
          </a:p>
        </p:txBody>
      </p:sp>
      <p:sp>
        <p:nvSpPr>
          <p:cNvPr id="10" name="Paso 10"/>
          <p:cNvSpPr/>
          <p:nvPr/>
        </p:nvSpPr>
        <p:spPr>
          <a:xfrm>
            <a:off x="431320" y="1238600"/>
            <a:ext cx="1854893" cy="820000"/>
          </a:xfrm>
          <a:prstGeom prst="homePlate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11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1  </a:t>
            </a:r>
            <a:r>
              <a:rPr lang="es-PE" sz="1250" b="1" dirty="0">
                <a:solidFill>
                  <a:srgbClr val="FFFFFF"/>
                </a:solidFill>
              </a:rPr>
              <a:t>SCACRSE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crear el curso</a:t>
            </a:r>
            <a:endParaRPr lang="es-PE" sz="1100" dirty="0"/>
          </a:p>
        </p:txBody>
      </p:sp>
      <p:sp>
        <p:nvSpPr>
          <p:cNvPr id="11" name="Paso 11"/>
          <p:cNvSpPr/>
          <p:nvPr/>
        </p:nvSpPr>
        <p:spPr>
          <a:xfrm>
            <a:off x="2326213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2  </a:t>
            </a:r>
            <a:r>
              <a:rPr lang="es-PE" sz="1250" b="1" dirty="0">
                <a:solidFill>
                  <a:srgbClr val="FFFFFF"/>
                </a:solidFill>
              </a:rPr>
              <a:t>SCADETL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cuota y equivalentes</a:t>
            </a:r>
            <a:endParaRPr lang="es-PE" sz="1100" dirty="0"/>
          </a:p>
        </p:txBody>
      </p:sp>
      <p:sp>
        <p:nvSpPr>
          <p:cNvPr id="12" name="Paso 12"/>
          <p:cNvSpPr/>
          <p:nvPr/>
        </p:nvSpPr>
        <p:spPr>
          <a:xfrm>
            <a:off x="4221106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3  </a:t>
            </a:r>
            <a:r>
              <a:rPr lang="es-PE" sz="1250" b="1" dirty="0">
                <a:solidFill>
                  <a:srgbClr val="FFFFFF"/>
                </a:solidFill>
              </a:rPr>
              <a:t>SMAAREA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agregar a la ruta</a:t>
            </a:r>
            <a:endParaRPr lang="es-PE" sz="1100" dirty="0"/>
          </a:p>
        </p:txBody>
      </p:sp>
      <p:sp>
        <p:nvSpPr>
          <p:cNvPr id="13" name="Paso 13"/>
          <p:cNvSpPr/>
          <p:nvPr/>
        </p:nvSpPr>
        <p:spPr>
          <a:xfrm>
            <a:off x="6116000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4  </a:t>
            </a:r>
            <a:r>
              <a:rPr lang="es-PE" sz="1250" b="1" dirty="0">
                <a:solidFill>
                  <a:srgbClr val="FFFFFF"/>
                </a:solidFill>
              </a:rPr>
              <a:t>SCARRES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restringir (opcional)</a:t>
            </a:r>
            <a:endParaRPr lang="es-PE" sz="1100" dirty="0"/>
          </a:p>
        </p:txBody>
      </p:sp>
      <p:sp>
        <p:nvSpPr>
          <p:cNvPr id="14" name="Paso 14"/>
          <p:cNvSpPr/>
          <p:nvPr/>
        </p:nvSpPr>
        <p:spPr>
          <a:xfrm>
            <a:off x="8010893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5  </a:t>
            </a:r>
            <a:r>
              <a:rPr lang="es-PE" sz="1250" b="1" dirty="0">
                <a:solidFill>
                  <a:srgbClr val="FFFFFF"/>
                </a:solidFill>
              </a:rPr>
              <a:t>SSASECT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programar el NRC</a:t>
            </a:r>
            <a:endParaRPr lang="es-PE" sz="1100" dirty="0"/>
          </a:p>
        </p:txBody>
      </p:sp>
      <p:sp>
        <p:nvSpPr>
          <p:cNvPr id="15" name="Paso 15"/>
          <p:cNvSpPr/>
          <p:nvPr/>
        </p:nvSpPr>
        <p:spPr>
          <a:xfrm>
            <a:off x="9905786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6  </a:t>
            </a:r>
            <a:r>
              <a:rPr lang="es-PE" sz="1250" b="1" dirty="0">
                <a:solidFill>
                  <a:srgbClr val="FFFFFF"/>
                </a:solidFill>
              </a:rPr>
              <a:t>SMARQCM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probar el CAPP</a:t>
            </a:r>
            <a:endParaRPr lang="es-PE" sz="1100" dirty="0"/>
          </a:p>
        </p:txBody>
      </p:sp>
      <p:sp>
        <p:nvSpPr>
          <p:cNvPr id="16" name="Bloque 16"/>
          <p:cNvSpPr/>
          <p:nvPr/>
        </p:nvSpPr>
        <p:spPr>
          <a:xfrm>
            <a:off x="431320" y="2168600"/>
            <a:ext cx="5574680" cy="3681400"/>
          </a:xfrm>
          <a:prstGeom prst="roundRect">
            <a:avLst>
              <a:gd name="adj" fmla="val 6000"/>
            </a:avLst>
          </a:prstGeom>
          <a:solidFill>
            <a:srgbClr val="F1E7FA"/>
          </a:solidFill>
          <a:ln w="12700">
            <a:solidFill>
              <a:srgbClr val="F1E7FA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600" b="1" dirty="0">
                <a:solidFill>
                  <a:srgbClr val="5C2193"/>
                </a:solidFill>
              </a:rPr>
              <a:t>Ejemplo (de ejemplo)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500" dirty="0">
                <a:solidFill>
                  <a:srgbClr val="1E1E24"/>
                </a:solidFill>
              </a:rPr>
              <a:t>Curso nuevo «Power BI Avanzado» para las rutas 3 y 5: </a:t>
            </a:r>
            <a:r>
              <a:rPr lang="es-PE" sz="1500" b="1" dirty="0">
                <a:solidFill>
                  <a:srgbClr val="5C2193"/>
                </a:solidFill>
              </a:rPr>
              <a:t>SCACRSE</a:t>
            </a:r>
            <a:r>
              <a:rPr lang="es-PE" sz="1500" dirty="0">
                <a:solidFill>
                  <a:srgbClr val="1E1E24"/>
                </a:solidFill>
              </a:rPr>
              <a:t> (catálogo de cursos) ESEC </a:t>
            </a:r>
            <a:r>
              <a:rPr lang="es-PE" sz="1500" b="1" dirty="0">
                <a:solidFill>
                  <a:srgbClr val="1E1E24"/>
                </a:solidFill>
              </a:rPr>
              <a:t>(número nuevo)</a:t>
            </a:r>
            <a:r>
              <a:rPr lang="es-PE" sz="1500" dirty="0">
                <a:solidFill>
                  <a:srgbClr val="1E1E24"/>
                </a:solidFill>
              </a:rPr>
              <a:t> copiando un curso parecido → </a:t>
            </a:r>
            <a:r>
              <a:rPr lang="es-PE" sz="1500" b="1" dirty="0">
                <a:solidFill>
                  <a:srgbClr val="5C2193"/>
                </a:solidFill>
              </a:rPr>
              <a:t>SMAAREA</a:t>
            </a:r>
            <a:r>
              <a:rPr lang="es-PE" sz="1500" dirty="0">
                <a:solidFill>
                  <a:srgbClr val="1E1E24"/>
                </a:solidFill>
              </a:rPr>
              <a:t> (requerimientos de área de la malla) de los programas de las rutas 3 y 5 → </a:t>
            </a:r>
            <a:r>
              <a:rPr lang="es-PE" sz="1500" b="1" dirty="0">
                <a:solidFill>
                  <a:srgbClr val="5C2193"/>
                </a:solidFill>
              </a:rPr>
              <a:t>SCARRES</a:t>
            </a:r>
            <a:r>
              <a:rPr lang="es-PE" sz="1500" dirty="0">
                <a:solidFill>
                  <a:srgbClr val="1E1E24"/>
                </a:solidFill>
              </a:rPr>
              <a:t> (restricciones de inscripción del curso) incluir esos programas.</a:t>
            </a:r>
            <a:endParaRPr lang="es-PE" dirty="0"/>
          </a:p>
        </p:txBody>
      </p:sp>
      <p:sp>
        <p:nvSpPr>
          <p:cNvPr id="17" name="Bloque 17"/>
          <p:cNvSpPr/>
          <p:nvPr/>
        </p:nvSpPr>
        <p:spPr>
          <a:xfrm>
            <a:off x="6186000" y="2168600"/>
            <a:ext cx="5574680" cy="3681400"/>
          </a:xfrm>
          <a:prstGeom prst="roundRect">
            <a:avLst>
              <a:gd name="adj" fmla="val 6000"/>
            </a:avLst>
          </a:prstGeom>
          <a:solidFill>
            <a:srgbClr val="F2F2F5"/>
          </a:solidFill>
          <a:ln w="12700">
            <a:solidFill>
              <a:srgbClr val="F2F2F5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600" b="1" dirty="0">
                <a:solidFill>
                  <a:srgbClr val="5F5F6B"/>
                </a:solidFill>
              </a:rPr>
              <a:t>Lo que ya existe en TEST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500" dirty="0">
                <a:solidFill>
                  <a:srgbClr val="1E1E24"/>
                </a:solidFill>
              </a:rPr>
              <a:t>Cursos ESEC 00678 a 00700 de la hoja de NRC 202656 (ruta 1, Diseño Web y talleres).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500" dirty="0">
                <a:solidFill>
                  <a:srgbClr val="1E1E24"/>
                </a:solidFill>
              </a:rPr>
              <a:t>Diseño Web ESEC 00684 está en las rutas 5 y 7.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8241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10292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PASO A PASO: EL CURSO EN EL CATÁLOGO (SCACRSE)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10723326" y="241540"/>
            <a:ext cx="1468673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graphicFrame>
        <p:nvGraphicFramePr>
          <p:cNvPr id="9" name="Tabla 9"/>
          <p:cNvGraphicFramePr>
            <a:graphicFrameLocks noGrp="1"/>
          </p:cNvGraphicFramePr>
          <p:nvPr/>
        </p:nvGraphicFramePr>
        <p:xfrm>
          <a:off x="431320" y="900000"/>
          <a:ext cx="11329360" cy="3008064"/>
        </p:xfrm>
        <a:graphic>
          <a:graphicData uri="http://schemas.openxmlformats.org/drawingml/2006/table">
            <a:tbl>
              <a:tblPr firstRow="1" bandRow="1"/>
              <a:tblGrid>
                <a:gridCol w="2265872"/>
                <a:gridCol w="7703964"/>
                <a:gridCol w="1359524"/>
              </a:tblGrid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Bloque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Qué pones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Diap.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5603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Bloque clave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Materia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ESEC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· número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nuevo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(revisa el último) · periodo desde el que rige ·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Copiar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de un curso parecido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20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Detalles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Título · escuela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EM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· departamento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EMCI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· estatus activo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21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5603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Horas y créditos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Créditos (UEC) y de cobro · teoría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1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y práctica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1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(como los de Computación, C60)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22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Nivel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C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(Computación)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23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Modo de calificar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V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(vigesimal), marcado como predefinido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24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3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Tipo de horario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El del curso modelo, con su método educativo y carga de trabajo para el docente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25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</a:tbl>
          </a:graphicData>
        </a:graphic>
      </p:graphicFrame>
      <p:sp>
        <p:nvSpPr>
          <p:cNvPr id="10" name="Nota 10"/>
          <p:cNvSpPr/>
          <p:nvPr/>
        </p:nvSpPr>
        <p:spPr>
          <a:xfrm>
            <a:off x="431320" y="4008064"/>
            <a:ext cx="11329360" cy="559016"/>
          </a:xfrm>
          <a:prstGeom prst="roundRect">
            <a:avLst>
              <a:gd name="adj" fmla="val 9000"/>
            </a:avLst>
          </a:prstGeom>
          <a:solidFill>
            <a:srgbClr val="EDF7E8"/>
          </a:solidFill>
          <a:ln w="12700">
            <a:solidFill>
              <a:srgbClr val="BFE0B0"/>
            </a:solidFill>
          </a:ln>
        </p:spPr>
        <p:txBody>
          <a:bodyPr wrap="square" lIns="137160" tIns="64008" rIns="137160" bIns="64008" rtlCol="0" anchor="ctr">
            <a:noAutofit/>
          </a:bodyPr>
          <a:lstStyle/>
          <a:p>
            <a:pPr algn="l">
              <a:buNone/>
            </a:pPr>
            <a:r>
              <a:rPr lang="es-PE" sz="1250" dirty="0">
                <a:solidFill>
                  <a:srgbClr val="1E1E24"/>
                </a:solidFill>
              </a:rPr>
              <a:t>Instructivo </a:t>
            </a:r>
            <a:r>
              <a:rPr lang="es-PE" sz="1250" b="1" dirty="0">
                <a:solidFill>
                  <a:srgbClr val="1E1E24"/>
                </a:solidFill>
              </a:rPr>
              <a:t>1.1.4 Diseñar y crear los cursos</a:t>
            </a:r>
            <a:r>
              <a:rPr lang="es-PE" sz="1250" dirty="0">
                <a:solidFill>
                  <a:srgbClr val="1E1E24"/>
                </a:solidFill>
              </a:rPr>
              <a:t>, diapositivas 20 a 25. Después: </a:t>
            </a:r>
            <a:r>
              <a:rPr lang="es-PE" sz="1250" b="1" dirty="0">
                <a:solidFill>
                  <a:srgbClr val="5C2193"/>
                </a:solidFill>
              </a:rPr>
              <a:t>SCADETL</a:t>
            </a:r>
            <a:r>
              <a:rPr lang="es-PE" sz="1250" dirty="0">
                <a:solidFill>
                  <a:srgbClr val="1E1E24"/>
                </a:solidFill>
              </a:rPr>
              <a:t> para la cuota del curso (como X032 en Idiomas, C68) y </a:t>
            </a:r>
            <a:r>
              <a:rPr lang="es-PE" sz="1250" b="1" dirty="0">
                <a:solidFill>
                  <a:srgbClr val="5C2193"/>
                </a:solidFill>
              </a:rPr>
              <a:t>SSASECT</a:t>
            </a:r>
            <a:r>
              <a:rPr lang="es-PE" sz="1250" dirty="0">
                <a:solidFill>
                  <a:srgbClr val="1E1E24"/>
                </a:solidFill>
              </a:rPr>
              <a:t> para el NRC.</a:t>
            </a:r>
            <a:endParaRPr lang="es-PE" sz="1250" dirty="0"/>
          </a:p>
        </p:txBody>
      </p:sp>
    </p:spTree>
    <p:extLst>
      <p:ext uri="{BB962C8B-B14F-4D97-AF65-F5344CB8AC3E}">
        <p14:creationId xmlns:p14="http://schemas.microsoft.com/office/powerpoint/2010/main" val="220662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148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ASIGNAR EL CURSO A LAS ESCUELAS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580178" y="241540"/>
            <a:ext cx="4611822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Paso 9"/>
          <p:cNvSpPr/>
          <p:nvPr/>
        </p:nvSpPr>
        <p:spPr>
          <a:xfrm>
            <a:off x="431320" y="900000"/>
            <a:ext cx="2233872" cy="700000"/>
          </a:xfrm>
          <a:prstGeom prst="homePlate">
            <a:avLst>
              <a:gd name="adj" fmla="val 28000"/>
            </a:avLst>
          </a:prstGeom>
          <a:solidFill>
            <a:srgbClr val="2F6B1B"/>
          </a:solidFill>
          <a:ln>
            <a:noFill/>
          </a:ln>
        </p:spPr>
        <p:txBody>
          <a:bodyPr wrap="square" lIns="11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300" b="1" dirty="0">
                <a:solidFill>
                  <a:srgbClr val="FFFFFF"/>
                </a:solidFill>
              </a:rPr>
              <a:t>1  </a:t>
            </a:r>
            <a:r>
              <a:rPr lang="es-PE" sz="1300" b="1" dirty="0">
                <a:solidFill>
                  <a:srgbClr val="FFFFFF"/>
                </a:solidFill>
              </a:rPr>
              <a:t>Escuela</a:t>
            </a:r>
            <a:endParaRPr lang="es-PE" sz="1300" dirty="0"/>
          </a:p>
          <a:p>
            <a:pPr algn="l">
              <a:buNone/>
            </a:pPr>
            <a:r>
              <a:rPr lang="es-PE" sz="1150" dirty="0">
                <a:solidFill>
                  <a:srgbClr val="EDE0F8"/>
                </a:solidFill>
              </a:rPr>
              <a:t>del alumno</a:t>
            </a:r>
            <a:endParaRPr lang="es-PE" sz="1150" dirty="0"/>
          </a:p>
        </p:txBody>
      </p:sp>
      <p:sp>
        <p:nvSpPr>
          <p:cNvPr id="10" name="Paso 10"/>
          <p:cNvSpPr/>
          <p:nvPr/>
        </p:nvSpPr>
        <p:spPr>
          <a:xfrm>
            <a:off x="2705192" y="900000"/>
            <a:ext cx="2233872" cy="700000"/>
          </a:xfrm>
          <a:prstGeom prst="chevron">
            <a:avLst>
              <a:gd name="adj" fmla="val 28000"/>
            </a:avLst>
          </a:prstGeom>
          <a:solidFill>
            <a:srgbClr val="2F6B1B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300" b="1" dirty="0">
                <a:solidFill>
                  <a:srgbClr val="FFFFFF"/>
                </a:solidFill>
              </a:rPr>
              <a:t>2  </a:t>
            </a:r>
            <a:r>
              <a:rPr lang="es-PE" sz="1300" b="1" dirty="0">
                <a:solidFill>
                  <a:srgbClr val="FFFFFF"/>
                </a:solidFill>
              </a:rPr>
              <a:t>Ruta</a:t>
            </a:r>
            <a:endParaRPr lang="es-PE" sz="1300" dirty="0"/>
          </a:p>
          <a:p>
            <a:pPr algn="l">
              <a:buNone/>
            </a:pPr>
            <a:r>
              <a:rPr lang="es-PE" sz="1150" dirty="0">
                <a:solidFill>
                  <a:srgbClr val="EDE0F8"/>
                </a:solidFill>
              </a:rPr>
              <a:t>agrupación 1 a 7</a:t>
            </a:r>
            <a:endParaRPr lang="es-PE" sz="1150" dirty="0"/>
          </a:p>
        </p:txBody>
      </p:sp>
      <p:sp>
        <p:nvSpPr>
          <p:cNvPr id="11" name="Paso 11"/>
          <p:cNvSpPr/>
          <p:nvPr/>
        </p:nvSpPr>
        <p:spPr>
          <a:xfrm>
            <a:off x="4979064" y="900000"/>
            <a:ext cx="2233872" cy="700000"/>
          </a:xfrm>
          <a:prstGeom prst="chevron">
            <a:avLst>
              <a:gd name="adj" fmla="val 28000"/>
            </a:avLst>
          </a:prstGeom>
          <a:solidFill>
            <a:srgbClr val="2F6B1B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300" b="1" dirty="0">
                <a:solidFill>
                  <a:srgbClr val="FFFFFF"/>
                </a:solidFill>
              </a:rPr>
              <a:t>3  </a:t>
            </a:r>
            <a:r>
              <a:rPr lang="es-PE" sz="1300" b="1" dirty="0">
                <a:solidFill>
                  <a:srgbClr val="FFFFFF"/>
                </a:solidFill>
              </a:rPr>
              <a:t>Programa XP</a:t>
            </a:r>
            <a:endParaRPr lang="es-PE" sz="1300" dirty="0"/>
          </a:p>
          <a:p>
            <a:pPr algn="l">
              <a:buNone/>
            </a:pPr>
            <a:r>
              <a:rPr lang="es-PE" sz="1150" dirty="0">
                <a:solidFill>
                  <a:srgbClr val="EDE0F8"/>
                </a:solidFill>
              </a:rPr>
              <a:t>CMEMC38 … 44</a:t>
            </a:r>
            <a:endParaRPr lang="es-PE" sz="1150" dirty="0"/>
          </a:p>
        </p:txBody>
      </p:sp>
      <p:sp>
        <p:nvSpPr>
          <p:cNvPr id="12" name="Paso 12"/>
          <p:cNvSpPr/>
          <p:nvPr/>
        </p:nvSpPr>
        <p:spPr>
          <a:xfrm>
            <a:off x="7252936" y="900000"/>
            <a:ext cx="2233872" cy="700000"/>
          </a:xfrm>
          <a:prstGeom prst="chevron">
            <a:avLst>
              <a:gd name="adj" fmla="val 28000"/>
            </a:avLst>
          </a:prstGeom>
          <a:solidFill>
            <a:srgbClr val="2F6B1B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300" b="1" dirty="0">
                <a:solidFill>
                  <a:srgbClr val="FFFFFF"/>
                </a:solidFill>
              </a:rPr>
              <a:t>4  </a:t>
            </a:r>
            <a:r>
              <a:rPr lang="es-PE" sz="1300" b="1" dirty="0">
                <a:solidFill>
                  <a:srgbClr val="FFFFFF"/>
                </a:solidFill>
              </a:rPr>
              <a:t>Área</a:t>
            </a:r>
            <a:endParaRPr lang="es-PE" sz="1300" dirty="0"/>
          </a:p>
          <a:p>
            <a:pPr algn="l">
              <a:buNone/>
            </a:pPr>
            <a:r>
              <a:rPr lang="es-PE" sz="1150" b="1" dirty="0">
                <a:solidFill>
                  <a:srgbClr val="FFFFFF"/>
                </a:solidFill>
              </a:rPr>
              <a:t>SMAAREA</a:t>
            </a:r>
            <a:endParaRPr lang="es-PE" sz="1150" dirty="0"/>
          </a:p>
        </p:txBody>
      </p:sp>
      <p:sp>
        <p:nvSpPr>
          <p:cNvPr id="13" name="Paso 13"/>
          <p:cNvSpPr/>
          <p:nvPr/>
        </p:nvSpPr>
        <p:spPr>
          <a:xfrm>
            <a:off x="9526808" y="900000"/>
            <a:ext cx="2233872" cy="700000"/>
          </a:xfrm>
          <a:prstGeom prst="chevron">
            <a:avLst>
              <a:gd name="adj" fmla="val 28000"/>
            </a:avLst>
          </a:prstGeom>
          <a:solidFill>
            <a:srgbClr val="2F6B1B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300" b="1" dirty="0">
                <a:solidFill>
                  <a:srgbClr val="FFFFFF"/>
                </a:solidFill>
              </a:rPr>
              <a:t>5  </a:t>
            </a:r>
            <a:r>
              <a:rPr lang="es-PE" sz="1300" b="1" dirty="0">
                <a:solidFill>
                  <a:srgbClr val="FFFFFF"/>
                </a:solidFill>
              </a:rPr>
              <a:t>Curso</a:t>
            </a:r>
            <a:endParaRPr lang="es-PE" sz="1300" dirty="0"/>
          </a:p>
          <a:p>
            <a:pPr algn="l">
              <a:buNone/>
            </a:pPr>
            <a:r>
              <a:rPr lang="es-PE" sz="1150" dirty="0">
                <a:solidFill>
                  <a:srgbClr val="EDE0F8"/>
                </a:solidFill>
              </a:rPr>
              <a:t>ESEC ·····</a:t>
            </a:r>
            <a:endParaRPr lang="es-PE" sz="1150" dirty="0"/>
          </a:p>
        </p:txBody>
      </p:sp>
      <p:graphicFrame>
        <p:nvGraphicFramePr>
          <p:cNvPr id="14" name="Tabla 14"/>
          <p:cNvGraphicFramePr>
            <a:graphicFrameLocks noGrp="1"/>
          </p:cNvGraphicFramePr>
          <p:nvPr/>
        </p:nvGraphicFramePr>
        <p:xfrm>
          <a:off x="431320" y="1710000"/>
          <a:ext cx="11329360" cy="3289440"/>
        </p:xfrm>
        <a:graphic>
          <a:graphicData uri="http://schemas.openxmlformats.org/drawingml/2006/table">
            <a:tbl>
              <a:tblPr firstRow="1" bandRow="1"/>
              <a:tblGrid>
                <a:gridCol w="679761"/>
                <a:gridCol w="2039284"/>
                <a:gridCol w="5891267"/>
                <a:gridCol w="2719048"/>
              </a:tblGrid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N.º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Página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Qué haces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Instructivo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7432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1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SMAAREA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(requerimientos de área de la malla)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En el </a:t>
                      </a: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área de cada programa XP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que lleva el curso: periodo › </a:t>
                      </a: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Copiar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si cambia la malla › «Anexos de curso/atributo de área» › en la regla, </a:t>
                      </a: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Insertar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ESEC y el número › Guardar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1.2.1 diap. 23–25; 1.3.1 diap. 10–13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32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2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SMAPROG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(requerimientos del programa: la malla)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El área sigue en la malla del programa, con su calificación mínima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1.2.1 diap. 31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9565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3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SCARRES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(restricciones de inscripción del curso)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Opcional: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restricción de </a:t>
                      </a: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programa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› Incluir los programas XP de esas rutas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1.1.5 diap. 25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4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SMARQCM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(CAPP de un estudiante)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CAPP de un alumno de esa ruta: el curso cuenta en su área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Script 10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97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3. REPASO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Dónde verlo en el sitio, qué preguntarle al asistente y qué dudas llevar.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71151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327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DÓNDE LO VES EN MI SITIO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5759150" y="241540"/>
            <a:ext cx="6432849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Nota 9"/>
          <p:cNvSpPr/>
          <p:nvPr/>
        </p:nvSpPr>
        <p:spPr>
          <a:xfrm>
            <a:off x="431320" y="900000"/>
            <a:ext cx="11329360" cy="589496"/>
          </a:xfrm>
          <a:prstGeom prst="roundRect">
            <a:avLst>
              <a:gd name="adj" fmla="val 9000"/>
            </a:avLst>
          </a:prstGeom>
          <a:solidFill>
            <a:srgbClr val="F1E7FA"/>
          </a:solidFill>
          <a:ln w="12700">
            <a:solidFill>
              <a:srgbClr val="DCC8EE"/>
            </a:solidFill>
          </a:ln>
        </p:spPr>
        <p:txBody>
          <a:bodyPr wrap="square" lIns="137160" tIns="64008" rIns="137160" bIns="64008" rtlCol="0" anchor="ctr">
            <a:noAutofit/>
          </a:bodyPr>
          <a:lstStyle/>
          <a:p>
            <a:pPr algn="l">
              <a:buNone/>
            </a:pPr>
            <a:r>
              <a:rPr lang="es-PE" sz="1350" dirty="0">
                <a:solidFill>
                  <a:srgbClr val="1E1E24"/>
                </a:solidFill>
              </a:rPr>
              <a:t>Sitio: </a:t>
            </a:r>
            <a:r>
              <a:rPr lang="es-PE" sz="1350" b="1" dirty="0">
                <a:solidFill>
                  <a:srgbClr val="1E1E24"/>
                </a:solidFill>
              </a:rPr>
              <a:t>centros-empresariales-ellucian.vercel.app</a:t>
            </a:r>
            <a:r>
              <a:rPr lang="es-PE" sz="1350" dirty="0">
                <a:solidFill>
                  <a:srgbClr val="1E1E24"/>
                </a:solidFill>
              </a:rPr>
              <a:t> (se publica desde la rama main). Cada diagrama tiene la guía paso a paso y la diapositiva del instructivo en cada paso.</a:t>
            </a:r>
            <a:endParaRPr lang="es-PE" sz="1350" dirty="0"/>
          </a:p>
        </p:txBody>
      </p:sp>
      <p:graphicFrame>
        <p:nvGraphicFramePr>
          <p:cNvPr id="10" name="Tabla 10"/>
          <p:cNvGraphicFramePr>
            <a:graphicFrameLocks noGrp="1"/>
          </p:cNvGraphicFramePr>
          <p:nvPr/>
        </p:nvGraphicFramePr>
        <p:xfrm>
          <a:off x="431320" y="1579496"/>
          <a:ext cx="11329360" cy="2642304"/>
        </p:xfrm>
        <a:graphic>
          <a:graphicData uri="http://schemas.openxmlformats.org/drawingml/2006/table">
            <a:tbl>
              <a:tblPr firstRow="1" bandRow="1"/>
              <a:tblGrid>
                <a:gridCol w="4305156"/>
                <a:gridCol w="7024204"/>
              </a:tblGrid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Qué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Ruta en el sitio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Galería de diagramas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5C2193"/>
                          </a:solidFill>
                        </a:rPr>
                        <a:t>/centros/index.html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Persona y admisión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5C2193"/>
                          </a:solidFill>
                        </a:rPr>
                        <a:t>/centros/computacion/diagramas/04-persona-y-admision/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Matrícula en el NRC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5C2193"/>
                          </a:solidFill>
                        </a:rPr>
                        <a:t>/centros/computacion/diagramas/05-matricula-en-el-nrc/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Diseño de mallas y programas (Script 11-B)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5C2193"/>
                          </a:solidFill>
                        </a:rPr>
                        <a:t>/centros/computacion/diagramas/08-script-11-b-diseno-de-mallas-y-programas/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Matrícula regular (Script 01)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5C2193"/>
                          </a:solidFill>
                        </a:rPr>
                        <a:t>/centros/computacion/diagramas/11-script-01-matricula-regular/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Visor de instructivos (1.1.4, 1.1.5, 1.2.1, 1.3.1)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5C2193"/>
                          </a:solidFill>
                        </a:rPr>
                        <a:t>/visor_instructivos/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51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400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PROMPTS PARA EL ASISTENTE IA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831995" y="241540"/>
            <a:ext cx="5360004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Forma 9"/>
          <p:cNvSpPr/>
          <p:nvPr/>
        </p:nvSpPr>
        <p:spPr>
          <a:xfrm>
            <a:off x="431320" y="900000"/>
            <a:ext cx="11329360" cy="416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s-PE" sz="1300" dirty="0">
                <a:solidFill>
                  <a:srgbClr val="5F5F6B"/>
                </a:solidFill>
              </a:rPr>
              <a:t>Abre el asistente en cualquier diagrama del sitio y copia la pregunta. Si responde algo incompleto, sigue con «¿y cuáles son?»: recuerda la conversación.</a:t>
            </a:r>
            <a:endParaRPr lang="es-PE" sz="1300" dirty="0"/>
          </a:p>
        </p:txBody>
      </p:sp>
      <p:sp>
        <p:nvSpPr>
          <p:cNvPr id="10" name="Bloque 10"/>
          <p:cNvSpPr/>
          <p:nvPr/>
        </p:nvSpPr>
        <p:spPr>
          <a:xfrm>
            <a:off x="431320" y="1406240"/>
            <a:ext cx="5554680" cy="4443760"/>
          </a:xfrm>
          <a:prstGeom prst="roundRect">
            <a:avLst>
              <a:gd name="adj" fmla="val 6000"/>
            </a:avLst>
          </a:prstGeom>
          <a:solidFill>
            <a:srgbClr val="F1E7FA"/>
          </a:solidFill>
          <a:ln w="12700">
            <a:solidFill>
              <a:srgbClr val="F1E7FA"/>
            </a:solidFill>
          </a:ln>
        </p:spPr>
        <p:txBody>
          <a:bodyPr wrap="square" lIns="200000" tIns="180000" rIns="200000" bIns="120000" rtlCol="0" anchor="t">
            <a:noAutofit/>
          </a:bodyPr>
          <a:lstStyle/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1.  </a:t>
            </a:r>
            <a:r>
              <a:rPr lang="es-PE" sz="1550" dirty="0">
                <a:solidFill>
                  <a:srgbClr val="1E1E24"/>
                </a:solidFill>
              </a:rPr>
              <a:t>¿Qué cursos tiene la ruta de aprendizaje de Ingeniería de Software?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2.  </a:t>
            </a:r>
            <a:r>
              <a:rPr lang="es-PE" sz="1550" dirty="0">
                <a:solidFill>
                  <a:srgbClr val="1E1E24"/>
                </a:solidFill>
              </a:rPr>
              <a:t>¿Cómo admito a un alumno de pregrado en su ruta de Computación con </a:t>
            </a:r>
            <a:r>
              <a:rPr lang="es-PE" sz="1550" b="1" dirty="0">
                <a:solidFill>
                  <a:srgbClr val="5C2193"/>
                </a:solidFill>
              </a:rPr>
              <a:t>SAAQUIK</a:t>
            </a:r>
            <a:r>
              <a:rPr lang="es-PE" sz="1550" dirty="0">
                <a:solidFill>
                  <a:srgbClr val="1E1E24"/>
                </a:solidFill>
              </a:rPr>
              <a:t>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3.  </a:t>
            </a:r>
            <a:r>
              <a:rPr lang="es-PE" sz="1550" dirty="0">
                <a:solidFill>
                  <a:srgbClr val="1E1E24"/>
                </a:solidFill>
              </a:rPr>
              <a:t>¿Cuál es el orden del encabezado de </a:t>
            </a:r>
            <a:r>
              <a:rPr lang="es-PE" sz="1550" b="1" dirty="0">
                <a:solidFill>
                  <a:srgbClr val="5C2193"/>
                </a:solidFill>
              </a:rPr>
              <a:t>SFAREGS</a:t>
            </a:r>
            <a:r>
              <a:rPr lang="es-PE" sz="1550" dirty="0">
                <a:solidFill>
                  <a:srgbClr val="1E1E24"/>
                </a:solidFill>
              </a:rPr>
              <a:t> y qué estatus pongo?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4.  </a:t>
            </a:r>
            <a:r>
              <a:rPr lang="es-PE" sz="1550" dirty="0">
                <a:solidFill>
                  <a:srgbClr val="1E1E24"/>
                </a:solidFill>
              </a:rPr>
              <a:t>¿Cómo se matricula el alumno por Autoservicio en un curso de su ruta?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5.  </a:t>
            </a:r>
            <a:r>
              <a:rPr lang="es-PE" sz="1550" dirty="0">
                <a:solidFill>
                  <a:srgbClr val="1E1E24"/>
                </a:solidFill>
              </a:rPr>
              <a:t>¿Cómo creo un curso nuevo de Computación en </a:t>
            </a:r>
            <a:r>
              <a:rPr lang="es-PE" sz="1550" b="1" dirty="0">
                <a:solidFill>
                  <a:srgbClr val="5C2193"/>
                </a:solidFill>
              </a:rPr>
              <a:t>SCACRSE</a:t>
            </a:r>
            <a:r>
              <a:rPr lang="es-PE" sz="1550" dirty="0">
                <a:solidFill>
                  <a:srgbClr val="1E1E24"/>
                </a:solidFill>
              </a:rPr>
              <a:t>?</a:t>
            </a:r>
            <a:endParaRPr lang="es-PE" dirty="0"/>
          </a:p>
        </p:txBody>
      </p:sp>
      <p:sp>
        <p:nvSpPr>
          <p:cNvPr id="11" name="Bloque 11"/>
          <p:cNvSpPr/>
          <p:nvPr/>
        </p:nvSpPr>
        <p:spPr>
          <a:xfrm>
            <a:off x="6206000" y="1406240"/>
            <a:ext cx="5554680" cy="4443760"/>
          </a:xfrm>
          <a:prstGeom prst="roundRect">
            <a:avLst>
              <a:gd name="adj" fmla="val 6000"/>
            </a:avLst>
          </a:prstGeom>
          <a:solidFill>
            <a:srgbClr val="EDF7E8"/>
          </a:solidFill>
          <a:ln w="12700">
            <a:solidFill>
              <a:srgbClr val="EDF7E8"/>
            </a:solidFill>
          </a:ln>
        </p:spPr>
        <p:txBody>
          <a:bodyPr wrap="square" lIns="200000" tIns="180000" rIns="200000" bIns="120000" rtlCol="0" anchor="t">
            <a:noAutofit/>
          </a:bodyPr>
          <a:lstStyle/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6.  </a:t>
            </a:r>
            <a:r>
              <a:rPr lang="es-PE" sz="1550" dirty="0">
                <a:solidFill>
                  <a:srgbClr val="1E1E24"/>
                </a:solidFill>
              </a:rPr>
              <a:t>¿Cómo agrego un curso nuevo a la malla de una ruta en </a:t>
            </a:r>
            <a:r>
              <a:rPr lang="es-PE" sz="1550" b="1" dirty="0">
                <a:solidFill>
                  <a:srgbClr val="5C2193"/>
                </a:solidFill>
              </a:rPr>
              <a:t>SMAAREA</a:t>
            </a:r>
            <a:r>
              <a:rPr lang="es-PE" sz="1550" dirty="0">
                <a:solidFill>
                  <a:srgbClr val="1E1E24"/>
                </a:solidFill>
              </a:rPr>
              <a:t>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7.  </a:t>
            </a:r>
            <a:r>
              <a:rPr lang="es-PE" sz="1550" dirty="0">
                <a:solidFill>
                  <a:srgbClr val="1E1E24"/>
                </a:solidFill>
              </a:rPr>
              <a:t>¿Cómo restrinjo un curso para que solo lo lleven los alumnos de una ruta?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8.  </a:t>
            </a:r>
            <a:r>
              <a:rPr lang="es-PE" sz="1550" dirty="0">
                <a:solidFill>
                  <a:srgbClr val="1E1E24"/>
                </a:solidFill>
              </a:rPr>
              <a:t>¿Cuánto cuesta un curso y un taller en Chiclayo y en filiales?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9.  </a:t>
            </a:r>
            <a:r>
              <a:rPr lang="es-PE" sz="1550" dirty="0">
                <a:solidFill>
                  <a:srgbClr val="1E1E24"/>
                </a:solidFill>
              </a:rPr>
              <a:t>¿Qué hago si sale «El modo de calificar no es válido para la calificación ingresada»?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10.  </a:t>
            </a:r>
            <a:r>
              <a:rPr lang="es-PE" sz="1550" dirty="0">
                <a:solidFill>
                  <a:srgbClr val="1E1E24"/>
                </a:solidFill>
              </a:rPr>
              <a:t>¿Qué dudas siguen abiertas sobre las rutas de aprendizaje?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4527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3694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SI ALGO SALE MAL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4126235" y="241540"/>
            <a:ext cx="8065764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graphicFrame>
        <p:nvGraphicFramePr>
          <p:cNvPr id="9" name="Tabla 9"/>
          <p:cNvGraphicFramePr>
            <a:graphicFrameLocks noGrp="1"/>
          </p:cNvGraphicFramePr>
          <p:nvPr/>
        </p:nvGraphicFramePr>
        <p:xfrm>
          <a:off x="431320" y="900000"/>
          <a:ext cx="11329360" cy="3282384"/>
        </p:xfrm>
        <a:graphic>
          <a:graphicData uri="http://schemas.openxmlformats.org/drawingml/2006/table">
            <a:tbl>
              <a:tblPr firstRow="1" bandRow="1"/>
              <a:tblGrid>
                <a:gridCol w="3851982"/>
                <a:gridCol w="3398808"/>
                <a:gridCol w="4078570"/>
              </a:tblGrid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Mensaje o síntoma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Causa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Qué hacer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«no existe la tabla o vista» en </a:t>
                      </a: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SFAREGS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Pusiste el plan antes del periodo y el ID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Periodo → ID → plan (C86)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«Closed» al matricular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El NRC no tiene cupo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Subir el cupo en </a:t>
                      </a: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SSASECT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o sobrepaso (Scripts 15 y 02)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«La persona tiene retenciones»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Retención activa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SOAHOLD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: fecha de fin = hoy (Script 18-B)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El curso no cuenta en el CAPP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No está en el área del programa XP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Agregarlo en </a:t>
                      </a: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SMAAREA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(1.2.1)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«El modo de calificar no es válido…»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La nota no tiene modo V en </a:t>
                      </a: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SHAGRDE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Agregar V a esa nota (C124)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La nota final sale APRO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Arriba de </a:t>
                      </a: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SHAGCOM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está AST_70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Poner VIG_11 arriba (C123)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13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535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PARA PREGUNTAR MAÑANA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5966820" y="241540"/>
            <a:ext cx="6225179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Bloque 9"/>
          <p:cNvSpPr/>
          <p:nvPr/>
        </p:nvSpPr>
        <p:spPr>
          <a:xfrm>
            <a:off x="431320" y="900000"/>
            <a:ext cx="11329360" cy="4950000"/>
          </a:xfrm>
          <a:prstGeom prst="roundRect">
            <a:avLst>
              <a:gd name="adj" fmla="val 6000"/>
            </a:avLst>
          </a:prstGeom>
          <a:solidFill>
            <a:srgbClr val="F1E7FA"/>
          </a:solidFill>
          <a:ln w="12700">
            <a:solidFill>
              <a:srgbClr val="F1E7FA"/>
            </a:solidFill>
          </a:ln>
        </p:spPr>
        <p:txBody>
          <a:bodyPr wrap="square" lIns="250000" tIns="220000" rIns="250000" bIns="120000" rtlCol="0" anchor="t">
            <a:noAutofit/>
          </a:bodyPr>
          <a:lstStyle/>
          <a:p>
            <a:pPr algn="l">
              <a:spcAft>
                <a:spcPts val="1300"/>
              </a:spcAft>
              <a:buNone/>
            </a:pPr>
            <a:r>
              <a:rPr lang="es-PE" sz="1700" b="1" dirty="0">
                <a:solidFill>
                  <a:srgbClr val="5C2193"/>
                </a:solidFill>
              </a:rPr>
              <a:t>1.  </a:t>
            </a:r>
            <a:r>
              <a:rPr lang="es-PE" sz="1700" b="1" dirty="0">
                <a:solidFill>
                  <a:srgbClr val="1E1E24"/>
                </a:solidFill>
              </a:rPr>
              <a:t>U37</a:t>
            </a:r>
            <a:r>
              <a:rPr lang="es-PE" sz="1700" dirty="0">
                <a:solidFill>
                  <a:srgbClr val="1E1E24"/>
                </a:solidFill>
              </a:rPr>
              <a:t> ¿Qué código tiene cada ruta (CMEMC39 a CMEMC43)? Ingeniería Civil, Arquitectura, Sistemas y Software están en dos rutas: ¿quién elige la ruta del alumno?</a:t>
            </a:r>
            <a:endParaRPr lang="es-PE" dirty="0"/>
          </a:p>
          <a:p>
            <a:pPr algn="l">
              <a:spcAft>
                <a:spcPts val="1300"/>
              </a:spcAft>
              <a:buNone/>
            </a:pPr>
            <a:r>
              <a:rPr lang="es-PE" sz="1700" b="1" dirty="0">
                <a:solidFill>
                  <a:srgbClr val="5C2193"/>
                </a:solidFill>
              </a:rPr>
              <a:t>2.  </a:t>
            </a:r>
            <a:r>
              <a:rPr lang="es-PE" sz="1700" b="1" dirty="0">
                <a:solidFill>
                  <a:srgbClr val="1E1E24"/>
                </a:solidFill>
              </a:rPr>
              <a:t>U40</a:t>
            </a:r>
            <a:r>
              <a:rPr lang="es-PE" sz="1700" dirty="0">
                <a:solidFill>
                  <a:srgbClr val="1E1E24"/>
                </a:solidFill>
              </a:rPr>
              <a:t> ¿Quién crea los cursos nuevos en </a:t>
            </a:r>
            <a:r>
              <a:rPr lang="es-PE" sz="1700" b="1" dirty="0">
                <a:solidFill>
                  <a:srgbClr val="5C2193"/>
                </a:solidFill>
              </a:rPr>
              <a:t>SCACRSE</a:t>
            </a:r>
            <a:r>
              <a:rPr lang="es-PE" sz="1700" dirty="0">
                <a:solidFill>
                  <a:srgbClr val="1E1E24"/>
                </a:solidFill>
              </a:rPr>
              <a:t> (catálogo de cursos) y los agrega a las mallas en </a:t>
            </a:r>
            <a:r>
              <a:rPr lang="es-PE" sz="1700" b="1" dirty="0">
                <a:solidFill>
                  <a:srgbClr val="5C2193"/>
                </a:solidFill>
              </a:rPr>
              <a:t>SMAAREA</a:t>
            </a:r>
            <a:r>
              <a:rPr lang="es-PE" sz="1700" dirty="0">
                <a:solidFill>
                  <a:srgbClr val="1E1E24"/>
                </a:solidFill>
              </a:rPr>
              <a:t> (requerimientos de área de la malla): el centro o Registros Académicos?</a:t>
            </a:r>
            <a:endParaRPr lang="es-PE" dirty="0"/>
          </a:p>
          <a:p>
            <a:pPr algn="l">
              <a:spcAft>
                <a:spcPts val="1300"/>
              </a:spcAft>
              <a:buNone/>
            </a:pPr>
            <a:r>
              <a:rPr lang="es-PE" sz="1700" b="1" dirty="0">
                <a:solidFill>
                  <a:srgbClr val="5C2193"/>
                </a:solidFill>
              </a:rPr>
              <a:t>3.  </a:t>
            </a:r>
            <a:r>
              <a:rPr lang="es-PE" sz="1700" b="1" dirty="0">
                <a:solidFill>
                  <a:srgbClr val="1E1E24"/>
                </a:solidFill>
              </a:rPr>
              <a:t>U41</a:t>
            </a:r>
            <a:r>
              <a:rPr lang="es-PE" sz="1700" dirty="0">
                <a:solidFill>
                  <a:srgbClr val="1E1E24"/>
                </a:solidFill>
              </a:rPr>
              <a:t> ¿Se restringirán los cursos a su ruta con </a:t>
            </a:r>
            <a:r>
              <a:rPr lang="es-PE" sz="1700" b="1" dirty="0">
                <a:solidFill>
                  <a:srgbClr val="5C2193"/>
                </a:solidFill>
              </a:rPr>
              <a:t>SCARRES</a:t>
            </a:r>
            <a:r>
              <a:rPr lang="es-PE" sz="1700" dirty="0">
                <a:solidFill>
                  <a:srgbClr val="1E1E24"/>
                </a:solidFill>
              </a:rPr>
              <a:t> (restricciones de inscripción del curso), o cualquier alumno del centro puede llevar cualquier curso?</a:t>
            </a:r>
            <a:endParaRPr lang="es-PE" dirty="0"/>
          </a:p>
          <a:p>
            <a:pPr algn="l">
              <a:spcAft>
                <a:spcPts val="1300"/>
              </a:spcAft>
              <a:buNone/>
            </a:pPr>
            <a:r>
              <a:rPr lang="es-PE" sz="1700" b="1" dirty="0">
                <a:solidFill>
                  <a:srgbClr val="5C2193"/>
                </a:solidFill>
              </a:rPr>
              <a:t>4.  </a:t>
            </a:r>
            <a:r>
              <a:rPr lang="es-PE" sz="1700" b="1" dirty="0">
                <a:solidFill>
                  <a:srgbClr val="1E1E24"/>
                </a:solidFill>
              </a:rPr>
              <a:t>U35</a:t>
            </a:r>
            <a:r>
              <a:rPr lang="es-PE" sz="1700" dirty="0">
                <a:solidFill>
                  <a:srgbClr val="1E1E24"/>
                </a:solidFill>
              </a:rPr>
              <a:t> ¿Se acredita con 4 talleres (lámina 2026) o con un 4.º curso (PDF 2025)?</a:t>
            </a:r>
            <a:endParaRPr lang="es-PE" dirty="0"/>
          </a:p>
          <a:p>
            <a:pPr algn="l">
              <a:spcAft>
                <a:spcPts val="1300"/>
              </a:spcAft>
              <a:buNone/>
            </a:pPr>
            <a:r>
              <a:rPr lang="es-PE" sz="1700" b="1" dirty="0">
                <a:solidFill>
                  <a:srgbClr val="5C2193"/>
                </a:solidFill>
              </a:rPr>
              <a:t>5.  </a:t>
            </a:r>
            <a:r>
              <a:rPr lang="es-PE" sz="1700" b="1" dirty="0">
                <a:solidFill>
                  <a:srgbClr val="1E1E24"/>
                </a:solidFill>
              </a:rPr>
              <a:t>U38</a:t>
            </a:r>
            <a:r>
              <a:rPr lang="es-PE" sz="1700" dirty="0">
                <a:solidFill>
                  <a:srgbClr val="1E1E24"/>
                </a:solidFill>
              </a:rPr>
              <a:t> Si el retiro está prohibido (Acuerdo 0453-2013), ¿se bloquea en Banner?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1535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4.xml><?xml version="1.0" encoding="utf-8"?>
<a:theme xmlns:a="http://schemas.openxmlformats.org/drawingml/2006/main" name="1_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16</Slides>
  <Notes>31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Ruta de aprendizaje: inscripción y cursos nuevos - Centro de Informática</dc:title>
  <dc:creator>Dagner Anibal Chuman Lluen</dc:creator>
  <cp:lastModifiedBy>Dagner Anibal Chuman Lluen</cp:lastModifiedBy>
  <cp:revision>50</cp:revision>
  <dcterms:created xsi:type="dcterms:W3CDTF">2026-08-24T19:57:14Z</dcterms:created>
  <dcterms:modified xsi:type="dcterms:W3CDTF">2026-10-13T15:11:56Z</dcterms:modified>
</cp:coreProperties>
</file>
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3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6" r:id="rId2"/>
    <p:sldMasterId id="2147483717" r:id="rId3"/>
    <p:sldMasterId id="2147483752" r:id="rId4"/>
  </p:sldMasterIdLst>
  <p:notesMasterIdLst>
    <p:notesMasterId r:id="rId39"/>
  </p:notesMasterIdLst>
  <p:sldIdLst>
    <p:sldId id="256" r:id="rId5"/>
    <p:sldId id="257" r:id="rId6"/>
    <p:sldId id="258" r:id="rId7"/>
    <p:sldId id="260" r:id="rId8"/>
    <p:sldId id="266" r:id="rId9"/>
    <p:sldId id="370" r:id="rId10"/>
    <p:sldId id="285" r:id="rId11"/>
    <p:sldId id="276" r:id="rId12"/>
    <p:sldId id="355" r:id="rId13"/>
    <p:sldId id="286" r:id="rId14"/>
    <p:sldId id="354" r:id="rId15"/>
    <p:sldId id="268" r:id="rId16"/>
    <p:sldId id="269" r:id="rId17"/>
    <p:sldId id="310" r:id="rId18"/>
    <p:sldId id="311" r:id="rId19"/>
    <p:sldId id="312" r:id="rId20"/>
    <p:sldId id="356" r:id="rId21"/>
    <p:sldId id="281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288" r:id="rId30"/>
    <p:sldId id="364" r:id="rId31"/>
    <p:sldId id="365" r:id="rId32"/>
    <p:sldId id="366" r:id="rId33"/>
    <p:sldId id="368" r:id="rId34"/>
    <p:sldId id="367" r:id="rId35"/>
    <p:sldId id="369" r:id="rId36"/>
    <p:sldId id="271" r:id="rId37"/>
    <p:sldId id="27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DEAC2-C6D6-4097-B6D8-D87F6F885DE2}" v="1" dt="2026-06-10T23:48:42.578"/>
    <p1510:client id="{5327FAF1-D7BA-475C-A378-DC8DBD8E3231}" v="11" dt="2026-06-10T16:17:25.634"/>
    <p1510:client id="{B2AEA0FB-48A4-4453-BB0D-75FE3124D7EE}" v="1" dt="2026-06-10T23:26:04.409"/>
    <p1510:client id="{D3A806E7-21A2-478D-BCA9-C4675D998323}" v="1" dt="2026-06-10T16:43:45.5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olina" userId="20636364146_tp_box_2" providerId="OAuth2" clId="{44CDD4FA-DF07-4B69-BC01-0B2B69272B43}"/>
    <pc:docChg chg="undo custSel addSld delSld modSld">
      <pc:chgData name="Sergio Molina" userId="20636364146_tp_box_2" providerId="OAuth2" clId="{44CDD4FA-DF07-4B69-BC01-0B2B69272B43}" dt="2026-06-10T23:48:45.578" v="276" actId="20577"/>
      <pc:docMkLst>
        <pc:docMk/>
      </pc:docMkLst>
      <pc:sldChg chg="modSp mod">
        <pc:chgData name="Sergio Molina" userId="20636364146_tp_box_2" providerId="OAuth2" clId="{44CDD4FA-DF07-4B69-BC01-0B2B69272B43}" dt="2026-06-10T23:48:45.578" v="276" actId="20577"/>
        <pc:sldMkLst>
          <pc:docMk/>
          <pc:sldMk cId="2074149480" sldId="256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2074149480" sldId="256"/>
            <ac:spMk id="4" creationId="{A87AA55F-A663-7470-1FA4-9966124AECF7}"/>
          </ac:spMkLst>
        </pc:spChg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2074149480" sldId="256"/>
            <ac:spMk id="5" creationId="{9EC7EF07-2EFA-BC39-92B6-AD0E2F0AAA3C}"/>
          </ac:spMkLst>
        </pc:spChg>
        <pc:spChg chg="mod">
          <ac:chgData name="Sergio Molina" userId="20636364146_tp_box_2" providerId="OAuth2" clId="{44CDD4FA-DF07-4B69-BC01-0B2B69272B43}" dt="2026-06-10T23:26:04.407" v="254"/>
          <ac:spMkLst>
            <pc:docMk/>
            <pc:sldMk cId="2074149480" sldId="256"/>
            <ac:spMk id="22" creationId="{99A313EF-DDC9-1005-CB3C-36E301503B9D}"/>
          </ac:spMkLst>
        </pc:spChg>
        <pc:spChg chg="mod">
          <ac:chgData name="Sergio Molina" userId="20636364146_tp_box_2" providerId="OAuth2" clId="{44CDD4FA-DF07-4B69-BC01-0B2B69272B43}" dt="2026-06-10T23:48:45.578" v="276" actId="20577"/>
          <ac:spMkLst>
            <pc:docMk/>
            <pc:sldMk cId="2074149480" sldId="256"/>
            <ac:spMk id="23" creationId="{AFD81755-6309-937C-4F9B-D466A3067B45}"/>
          </ac:spMkLst>
        </pc:spChg>
        <pc:picChg chg="mod">
          <ac:chgData name="Sergio Molina" userId="20636364146_tp_box_2" providerId="OAuth2" clId="{44CDD4FA-DF07-4B69-BC01-0B2B69272B43}" dt="2026-06-10T23:48:42.578" v="269"/>
          <ac:picMkLst>
            <pc:docMk/>
            <pc:sldMk cId="2074149480" sldId="256"/>
            <ac:picMk id="3" creationId="{531F03B0-663B-6947-6992-9DD0058FD205}"/>
          </ac:picMkLst>
        </pc:picChg>
      </pc:sldChg>
      <pc:sldChg chg="modSp mod">
        <pc:chgData name="Sergio Molina" userId="20636364146_tp_box_2" providerId="OAuth2" clId="{44CDD4FA-DF07-4B69-BC01-0B2B69272B43}" dt="2026-06-10T23:48:42.578" v="269"/>
        <pc:sldMkLst>
          <pc:docMk/>
          <pc:sldMk cId="3958544234" sldId="257"/>
        </pc:sldMkLst>
        <pc:spChg chg="mod">
          <ac:chgData name="Sergio Molina" userId="20636364146_tp_box_2" providerId="OAuth2" clId="{44CDD4FA-DF07-4B69-BC01-0B2B69272B43}" dt="2026-06-10T23:26:23.389" v="259" actId="207"/>
          <ac:spMkLst>
            <pc:docMk/>
            <pc:sldMk cId="3958544234" sldId="257"/>
            <ac:spMk id="2" creationId="{39658CF9-4262-EF31-21F8-59A4FFE638F1}"/>
          </ac:spMkLst>
        </pc:spChg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3958544234" sldId="257"/>
            <ac:spMk id="7" creationId="{6412E2B5-4BE1-B49E-58AB-9C60B6BBF141}"/>
          </ac:spMkLst>
        </pc:spChg>
        <pc:spChg chg="mod">
          <ac:chgData name="Sergio Molina" userId="20636364146_tp_box_2" providerId="OAuth2" clId="{44CDD4FA-DF07-4B69-BC01-0B2B69272B43}" dt="2026-06-10T23:26:38.115" v="263" actId="2711"/>
          <ac:spMkLst>
            <pc:docMk/>
            <pc:sldMk cId="3958544234" sldId="257"/>
            <ac:spMk id="8" creationId="{B897CB17-50A9-E1EA-BB72-02ED775A4D77}"/>
          </ac:spMkLst>
        </pc:spChg>
        <pc:spChg chg="mod">
          <ac:chgData name="Sergio Molina" userId="20636364146_tp_box_2" providerId="OAuth2" clId="{44CDD4FA-DF07-4B69-BC01-0B2B69272B43}" dt="2026-06-10T23:26:16.221" v="256" actId="207"/>
          <ac:spMkLst>
            <pc:docMk/>
            <pc:sldMk cId="3958544234" sldId="257"/>
            <ac:spMk id="9" creationId="{364149FD-8541-BB66-31C7-5C8D540962A6}"/>
          </ac:spMkLst>
        </pc:spChg>
        <pc:spChg chg="mod">
          <ac:chgData name="Sergio Molina" userId="20636364146_tp_box_2" providerId="OAuth2" clId="{44CDD4FA-DF07-4B69-BC01-0B2B69272B43}" dt="2026-06-10T23:26:28.200" v="260" actId="2711"/>
          <ac:spMkLst>
            <pc:docMk/>
            <pc:sldMk cId="3958544234" sldId="257"/>
            <ac:spMk id="10" creationId="{367C3D73-E477-8A70-ACF6-A8466042E71F}"/>
          </ac:spMkLst>
        </pc:spChg>
        <pc:spChg chg="mod">
          <ac:chgData name="Sergio Molina" userId="20636364146_tp_box_2" providerId="OAuth2" clId="{44CDD4FA-DF07-4B69-BC01-0B2B69272B43}" dt="2026-06-10T23:26:34.585" v="262" actId="2711"/>
          <ac:spMkLst>
            <pc:docMk/>
            <pc:sldMk cId="3958544234" sldId="257"/>
            <ac:spMk id="11" creationId="{E1BB0A2D-C7A3-85A8-EE94-C0019E5EF849}"/>
          </ac:spMkLst>
        </pc:spChg>
        <pc:spChg chg="mod">
          <ac:chgData name="Sergio Molina" userId="20636364146_tp_box_2" providerId="OAuth2" clId="{44CDD4FA-DF07-4B69-BC01-0B2B69272B43}" dt="2026-06-10T23:26:42.247" v="265" actId="255"/>
          <ac:spMkLst>
            <pc:docMk/>
            <pc:sldMk cId="3958544234" sldId="257"/>
            <ac:spMk id="12" creationId="{D286A64F-1AC2-0842-49F6-CEE06ABF1090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2599343073" sldId="258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2599343073" sldId="258"/>
            <ac:spMk id="10" creationId="{EC23B209-15D9-D0E9-52DA-CB94020FD7E0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4151330217" sldId="260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4151330217" sldId="260"/>
            <ac:spMk id="2" creationId="{898E1C91-D53E-9F97-C485-84628578389D}"/>
          </ac:spMkLst>
        </pc:spChg>
      </pc:sldChg>
      <pc:sldChg chg="del">
        <pc:chgData name="Sergio Molina" userId="20636364146_tp_box_2" providerId="OAuth2" clId="{44CDD4FA-DF07-4B69-BC01-0B2B69272B43}" dt="2026-06-10T16:43:49.328" v="253" actId="47"/>
        <pc:sldMkLst>
          <pc:docMk/>
          <pc:sldMk cId="2966767743" sldId="261"/>
        </pc:sldMkLst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2835937134" sldId="268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2835937134" sldId="268"/>
            <ac:spMk id="5" creationId="{CEB00B78-B65F-A441-9E02-409B52EA528D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1133107206" sldId="269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1133107206" sldId="269"/>
            <ac:spMk id="5" creationId="{3A206324-E307-9002-B542-F91432DD5834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1295437110" sldId="271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1295437110" sldId="271"/>
            <ac:spMk id="5" creationId="{F3253A40-4C1B-950E-34C1-36BCD0A67883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518301041" sldId="272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518301041" sldId="272"/>
            <ac:spMk id="4" creationId="{E19F6902-A436-6590-65FB-46E769F24EA7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3267778175" sldId="281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3267778175" sldId="281"/>
            <ac:spMk id="4" creationId="{860C9D17-C5FA-253B-70F1-D9772D0E804A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1228125898" sldId="285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1228125898" sldId="285"/>
            <ac:spMk id="10" creationId="{5FC46760-4954-A13C-EAEB-B18B0AA68A79}"/>
          </ac:spMkLst>
        </pc:spChg>
      </pc:sldChg>
      <pc:sldChg chg="addSp delSp modSp mod">
        <pc:chgData name="Sergio Molina" userId="20636364146_tp_box_2" providerId="OAuth2" clId="{44CDD4FA-DF07-4B69-BC01-0B2B69272B43}" dt="2026-06-10T16:15:49.351" v="204" actId="1076"/>
        <pc:sldMkLst>
          <pc:docMk/>
          <pc:sldMk cId="1435574210" sldId="288"/>
        </pc:sldMkLst>
        <pc:spChg chg="mod">
          <ac:chgData name="Sergio Molina" userId="20636364146_tp_box_2" providerId="OAuth2" clId="{44CDD4FA-DF07-4B69-BC01-0B2B69272B43}" dt="2026-06-10T16:15:49.351" v="204" actId="1076"/>
          <ac:spMkLst>
            <pc:docMk/>
            <pc:sldMk cId="1435574210" sldId="288"/>
            <ac:spMk id="6" creationId="{CC2B1D7B-13B5-76CC-A6E0-FBEA95B3DD54}"/>
          </ac:spMkLst>
        </pc:spChg>
        <pc:spChg chg="mod">
          <ac:chgData name="Sergio Molina" userId="20636364146_tp_box_2" providerId="OAuth2" clId="{44CDD4FA-DF07-4B69-BC01-0B2B69272B43}" dt="2026-06-10T16:07:05.454" v="13" actId="1076"/>
          <ac:spMkLst>
            <pc:docMk/>
            <pc:sldMk cId="1435574210" sldId="288"/>
            <ac:spMk id="7" creationId="{ACAE2458-1036-6362-8220-ABE0432B2D8B}"/>
          </ac:spMkLst>
        </pc:spChg>
        <pc:spChg chg="mod">
          <ac:chgData name="Sergio Molina" userId="20636364146_tp_box_2" providerId="OAuth2" clId="{44CDD4FA-DF07-4B69-BC01-0B2B69272B43}" dt="2026-06-10T16:07:09.567" v="18" actId="1037"/>
          <ac:spMkLst>
            <pc:docMk/>
            <pc:sldMk cId="1435574210" sldId="288"/>
            <ac:spMk id="8" creationId="{628A2733-A4FE-DBE8-F633-A9133DA96EFE}"/>
          </ac:spMkLst>
        </pc:spChg>
        <pc:spChg chg="mod">
          <ac:chgData name="Sergio Molina" userId="20636364146_tp_box_2" providerId="OAuth2" clId="{44CDD4FA-DF07-4B69-BC01-0B2B69272B43}" dt="2026-06-10T16:07:14.455" v="23" actId="1038"/>
          <ac:spMkLst>
            <pc:docMk/>
            <pc:sldMk cId="1435574210" sldId="288"/>
            <ac:spMk id="9" creationId="{D7144929-9BC1-28F9-6E54-E8C5B36C3B16}"/>
          </ac:spMkLst>
        </pc:spChg>
        <pc:spChg chg="mod">
          <ac:chgData name="Sergio Molina" userId="20636364146_tp_box_2" providerId="OAuth2" clId="{44CDD4FA-DF07-4B69-BC01-0B2B69272B43}" dt="2026-06-10T16:07:21.040" v="43" actId="1037"/>
          <ac:spMkLst>
            <pc:docMk/>
            <pc:sldMk cId="1435574210" sldId="288"/>
            <ac:spMk id="10" creationId="{AE0DDAAA-813C-1A54-3DB5-64E469F27F47}"/>
          </ac:spMkLst>
        </pc:spChg>
        <pc:spChg chg="add del mod">
          <ac:chgData name="Sergio Molina" userId="20636364146_tp_box_2" providerId="OAuth2" clId="{44CDD4FA-DF07-4B69-BC01-0B2B69272B43}" dt="2026-06-10T16:15:40.908" v="201" actId="478"/>
          <ac:spMkLst>
            <pc:docMk/>
            <pc:sldMk cId="1435574210" sldId="288"/>
            <ac:spMk id="11" creationId="{F2454353-B36A-23D4-AE01-2A4B06BB42C0}"/>
          </ac:spMkLst>
        </pc:spChg>
        <pc:spChg chg="add del mod">
          <ac:chgData name="Sergio Molina" userId="20636364146_tp_box_2" providerId="OAuth2" clId="{44CDD4FA-DF07-4B69-BC01-0B2B69272B43}" dt="2026-06-10T16:15:44.451" v="202" actId="478"/>
          <ac:spMkLst>
            <pc:docMk/>
            <pc:sldMk cId="1435574210" sldId="288"/>
            <ac:spMk id="12" creationId="{25ABF0D8-EA96-8E15-A4F3-75DC7712BDDA}"/>
          </ac:spMkLst>
        </pc:spChg>
        <pc:picChg chg="add mod ord">
          <ac:chgData name="Sergio Molina" userId="20636364146_tp_box_2" providerId="OAuth2" clId="{44CDD4FA-DF07-4B69-BC01-0B2B69272B43}" dt="2026-06-10T16:06:24.499" v="4" actId="1076"/>
          <ac:picMkLst>
            <pc:docMk/>
            <pc:sldMk cId="1435574210" sldId="288"/>
            <ac:picMk id="3" creationId="{41562743-AFDD-C719-5548-383CD2F61D4D}"/>
          </ac:picMkLst>
        </pc:picChg>
        <pc:picChg chg="del">
          <ac:chgData name="Sergio Molina" userId="20636364146_tp_box_2" providerId="OAuth2" clId="{44CDD4FA-DF07-4B69-BC01-0B2B69272B43}" dt="2026-06-10T16:06:18.094" v="0" actId="478"/>
          <ac:picMkLst>
            <pc:docMk/>
            <pc:sldMk cId="1435574210" sldId="288"/>
            <ac:picMk id="4" creationId="{3CECD58E-907B-16D2-88F4-1ADC0EA11478}"/>
          </ac:picMkLst>
        </pc:pic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1835082663" sldId="310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1835082663" sldId="310"/>
            <ac:spMk id="5" creationId="{C0DAF893-D3A2-B24A-45A2-CF4F05BB9905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880632946" sldId="311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880632946" sldId="311"/>
            <ac:spMk id="5" creationId="{108EE671-5CE6-D1B6-50EE-144488B90183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2319094426" sldId="359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2319094426" sldId="359"/>
            <ac:spMk id="4" creationId="{3617E976-0806-9B4C-AFFE-9FF9FD7A7A59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295573826" sldId="360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295573826" sldId="360"/>
            <ac:spMk id="5" creationId="{D5783999-04B5-6F9F-AA0D-F4C013977D53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578744575" sldId="361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578744575" sldId="361"/>
            <ac:spMk id="5" creationId="{5D48D865-18A3-79B9-0AC1-482D60B9B102}"/>
          </ac:spMkLst>
        </pc:spChg>
      </pc:sldChg>
      <pc:sldChg chg="modSp mod">
        <pc:chgData name="Sergio Molina" userId="20636364146_tp_box_2" providerId="OAuth2" clId="{44CDD4FA-DF07-4B69-BC01-0B2B69272B43}" dt="2026-06-10T23:48:42.578" v="269"/>
        <pc:sldMkLst>
          <pc:docMk/>
          <pc:sldMk cId="1587112996" sldId="362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1587112996" sldId="362"/>
            <ac:spMk id="5" creationId="{6ADB8EA9-3594-DBFD-E962-59D8E2DEDC9B}"/>
          </ac:spMkLst>
        </pc:spChg>
        <pc:spChg chg="mod">
          <ac:chgData name="Sergio Molina" userId="20636364146_tp_box_2" providerId="OAuth2" clId="{44CDD4FA-DF07-4B69-BC01-0B2B69272B43}" dt="2026-06-10T23:28:37.061" v="268" actId="1076"/>
          <ac:spMkLst>
            <pc:docMk/>
            <pc:sldMk cId="1587112996" sldId="362"/>
            <ac:spMk id="9" creationId="{EBE4C762-DD09-2E48-695A-BC49BB5AB3E8}"/>
          </ac:spMkLst>
        </pc:spChg>
        <pc:picChg chg="mod">
          <ac:chgData name="Sergio Molina" userId="20636364146_tp_box_2" providerId="OAuth2" clId="{44CDD4FA-DF07-4B69-BC01-0B2B69272B43}" dt="2026-06-10T23:28:31.460" v="267" actId="1076"/>
          <ac:picMkLst>
            <pc:docMk/>
            <pc:sldMk cId="1587112996" sldId="362"/>
            <ac:picMk id="10" creationId="{63CE301F-F4A3-B6A7-85DC-F7FDA8AF1D93}"/>
          </ac:picMkLst>
        </pc:pic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614878570" sldId="363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614878570" sldId="363"/>
            <ac:spMk id="4" creationId="{44BB9F25-10B3-B02F-5B72-7D5318AE96DB}"/>
          </ac:spMkLst>
        </pc:spChg>
      </pc:sldChg>
      <pc:sldChg chg="addSp delSp modSp mod">
        <pc:chgData name="Sergio Molina" userId="20636364146_tp_box_2" providerId="OAuth2" clId="{44CDD4FA-DF07-4B69-BC01-0B2B69272B43}" dt="2026-06-10T16:18:03.603" v="251" actId="14100"/>
        <pc:sldMkLst>
          <pc:docMk/>
          <pc:sldMk cId="4206457463" sldId="364"/>
        </pc:sldMkLst>
        <pc:spChg chg="mod">
          <ac:chgData name="Sergio Molina" userId="20636364146_tp_box_2" providerId="OAuth2" clId="{44CDD4FA-DF07-4B69-BC01-0B2B69272B43}" dt="2026-06-10T16:17:40.788" v="245" actId="1076"/>
          <ac:spMkLst>
            <pc:docMk/>
            <pc:sldMk cId="4206457463" sldId="364"/>
            <ac:spMk id="2" creationId="{648D16B0-7008-8130-D2F4-701E56EC49AD}"/>
          </ac:spMkLst>
        </pc:spChg>
        <pc:spChg chg="add del mod">
          <ac:chgData name="Sergio Molina" userId="20636364146_tp_box_2" providerId="OAuth2" clId="{44CDD4FA-DF07-4B69-BC01-0B2B69272B43}" dt="2026-06-10T16:17:53.963" v="249" actId="1076"/>
          <ac:spMkLst>
            <pc:docMk/>
            <pc:sldMk cId="4206457463" sldId="364"/>
            <ac:spMk id="3" creationId="{E88C8C6E-5CFC-3DD0-CD98-C594D9767DF8}"/>
          </ac:spMkLst>
        </pc:spChg>
        <pc:spChg chg="add del mod">
          <ac:chgData name="Sergio Molina" userId="20636364146_tp_box_2" providerId="OAuth2" clId="{44CDD4FA-DF07-4B69-BC01-0B2B69272B43}" dt="2026-06-10T16:17:28.484" v="238" actId="478"/>
          <ac:spMkLst>
            <pc:docMk/>
            <pc:sldMk cId="4206457463" sldId="364"/>
            <ac:spMk id="7" creationId="{FA8B0E4A-5CDC-74A8-9087-C040544CBFD3}"/>
          </ac:spMkLst>
        </pc:spChg>
        <pc:spChg chg="add mod">
          <ac:chgData name="Sergio Molina" userId="20636364146_tp_box_2" providerId="OAuth2" clId="{44CDD4FA-DF07-4B69-BC01-0B2B69272B43}" dt="2026-06-10T16:18:03.603" v="251" actId="14100"/>
          <ac:spMkLst>
            <pc:docMk/>
            <pc:sldMk cId="4206457463" sldId="364"/>
            <ac:spMk id="10" creationId="{1C6991C5-DC38-970D-A73B-1C9C8C8D863A}"/>
          </ac:spMkLst>
        </pc:spChg>
        <pc:spChg chg="mod">
          <ac:chgData name="Sergio Molina" userId="20636364146_tp_box_2" providerId="OAuth2" clId="{44CDD4FA-DF07-4B69-BC01-0B2B69272B43}" dt="2026-06-10T16:17:47.373" v="247" actId="1076"/>
          <ac:spMkLst>
            <pc:docMk/>
            <pc:sldMk cId="4206457463" sldId="364"/>
            <ac:spMk id="11" creationId="{443964E5-4E0A-6D94-56FC-48F5FB510838}"/>
          </ac:spMkLst>
        </pc:spChg>
        <pc:spChg chg="mod">
          <ac:chgData name="Sergio Molina" userId="20636364146_tp_box_2" providerId="OAuth2" clId="{44CDD4FA-DF07-4B69-BC01-0B2B69272B43}" dt="2026-06-10T16:17:44.288" v="246" actId="1076"/>
          <ac:spMkLst>
            <pc:docMk/>
            <pc:sldMk cId="4206457463" sldId="364"/>
            <ac:spMk id="12" creationId="{11B2E5E6-CB9A-D165-5FB2-18559B53CF19}"/>
          </ac:spMkLst>
        </pc:spChg>
        <pc:spChg chg="mod">
          <ac:chgData name="Sergio Molina" userId="20636364146_tp_box_2" providerId="OAuth2" clId="{44CDD4FA-DF07-4B69-BC01-0B2B69272B43}" dt="2026-06-10T16:17:50.610" v="248" actId="1076"/>
          <ac:spMkLst>
            <pc:docMk/>
            <pc:sldMk cId="4206457463" sldId="364"/>
            <ac:spMk id="13" creationId="{5946BA34-4D68-3670-F33B-336C49852D70}"/>
          </ac:spMkLst>
        </pc:spChg>
        <pc:spChg chg="add mod">
          <ac:chgData name="Sergio Molina" userId="20636364146_tp_box_2" providerId="OAuth2" clId="{44CDD4FA-DF07-4B69-BC01-0B2B69272B43}" dt="2026-06-10T16:17:58.748" v="250" actId="1076"/>
          <ac:spMkLst>
            <pc:docMk/>
            <pc:sldMk cId="4206457463" sldId="364"/>
            <ac:spMk id="14" creationId="{B70BFE90-1EBA-6671-B5D2-795F84C93F92}"/>
          </ac:spMkLst>
        </pc:spChg>
        <pc:picChg chg="del mod">
          <ac:chgData name="Sergio Molina" userId="20636364146_tp_box_2" providerId="OAuth2" clId="{44CDD4FA-DF07-4B69-BC01-0B2B69272B43}" dt="2026-06-10T16:15:54.995" v="205" actId="478"/>
          <ac:picMkLst>
            <pc:docMk/>
            <pc:sldMk cId="4206457463" sldId="364"/>
            <ac:picMk id="4" creationId="{FE4EB01F-E1D0-B46F-5D1A-A3D498FCC8B7}"/>
          </ac:picMkLst>
        </pc:picChg>
        <pc:picChg chg="add mod ord">
          <ac:chgData name="Sergio Molina" userId="20636364146_tp_box_2" providerId="OAuth2" clId="{44CDD4FA-DF07-4B69-BC01-0B2B69272B43}" dt="2026-06-10T16:15:57.859" v="207" actId="167"/>
          <ac:picMkLst>
            <pc:docMk/>
            <pc:sldMk cId="4206457463" sldId="364"/>
            <ac:picMk id="8" creationId="{25F31CAF-E7F6-014D-E332-8C9D0C45E439}"/>
          </ac:picMkLst>
        </pc:picChg>
        <pc:picChg chg="add mod">
          <ac:chgData name="Sergio Molina" userId="20636364146_tp_box_2" providerId="OAuth2" clId="{44CDD4FA-DF07-4B69-BC01-0B2B69272B43}" dt="2026-06-10T16:16:04.327" v="208"/>
          <ac:picMkLst>
            <pc:docMk/>
            <pc:sldMk cId="4206457463" sldId="364"/>
            <ac:picMk id="9" creationId="{B1D51E35-37C5-F287-A8FD-1CBEA8F803BE}"/>
          </ac:picMkLst>
        </pc:pic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2023393505" sldId="365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2023393505" sldId="365"/>
            <ac:spMk id="4" creationId="{0AA7877C-2969-9D79-3A7C-34D040247356}"/>
          </ac:spMkLst>
        </pc:spChg>
      </pc:sldChg>
      <pc:sldChg chg="modSp">
        <pc:chgData name="Sergio Molina" userId="20636364146_tp_box_2" providerId="OAuth2" clId="{44CDD4FA-DF07-4B69-BC01-0B2B69272B43}" dt="2026-06-10T23:48:42.578" v="269"/>
        <pc:sldMkLst>
          <pc:docMk/>
          <pc:sldMk cId="2738530678" sldId="368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2738530678" sldId="368"/>
            <ac:spMk id="4" creationId="{8D7D74A6-94BF-C96F-9269-087B6CD89F54}"/>
          </ac:spMkLst>
        </pc:spChg>
      </pc:sldChg>
      <pc:sldChg chg="modSp add">
        <pc:chgData name="Sergio Molina" userId="20636364146_tp_box_2" providerId="OAuth2" clId="{44CDD4FA-DF07-4B69-BC01-0B2B69272B43}" dt="2026-06-10T23:48:42.578" v="269"/>
        <pc:sldMkLst>
          <pc:docMk/>
          <pc:sldMk cId="126763021" sldId="370"/>
        </pc:sldMkLst>
        <pc:spChg chg="mod">
          <ac:chgData name="Sergio Molina" userId="20636364146_tp_box_2" providerId="OAuth2" clId="{44CDD4FA-DF07-4B69-BC01-0B2B69272B43}" dt="2026-06-10T23:48:42.578" v="269"/>
          <ac:spMkLst>
            <pc:docMk/>
            <pc:sldMk cId="126763021" sldId="370"/>
            <ac:spMk id="2" creationId="{9F9B5C96-8DBC-65FF-FAE3-4F645679D6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3AEF5-72D5-4F8C-B7F5-775AD17E9653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04A8F-52CC-4C11-828E-3979DAE121D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227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9803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4932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26393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5939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0310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307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59556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41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85585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989398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7282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859351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255465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859429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2903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41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57195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475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786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098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93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65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1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993099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7230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5692633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624311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15229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359244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6433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575011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2372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885516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767DC-3D3E-C508-5A6B-E93829CC8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FC2399-9930-6015-C9A8-322E27ADF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6303E-6E28-71E5-36F4-FD554CE3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7FA2-D1AC-4B8C-81BD-BEF1680E26DC}" type="datetimeFigureOut">
              <a:rPr lang="es-419" smtClean="0"/>
              <a:t>10/6/2026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9F5E8A-40E2-1A64-50DC-4EE29574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839D78-BD28-8CAB-1FB7-499D47E3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6200-1E0C-4E7B-BC1E-B2DA62431D7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623315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060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942750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035406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654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356556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087639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772250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99381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69993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21442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039991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1922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528073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043836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480814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89586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69920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60532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0302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767DC-3D3E-C508-5A6B-E93829CC8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FC2399-9930-6015-C9A8-322E27ADF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6303E-6E28-71E5-36F4-FD554CE3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7FA2-D1AC-4B8C-81BD-BEF1680E26DC}" type="datetimeFigureOut">
              <a:rPr lang="es-419" smtClean="0"/>
              <a:t>10/6/2026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9F5E8A-40E2-1A64-50DC-4EE29574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839D78-BD28-8CAB-1FB7-499D47E3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6200-1E0C-4E7B-BC1E-B2DA62431D7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73595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221970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91477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562441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360604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377712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2869596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513890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195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7566962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435803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779968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326370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411145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27141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0306976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832996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855947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906442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4450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0569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9189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948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545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510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63910781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8118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59609409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697523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253915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8089802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0495444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2126697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1115001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552863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24372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5263041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0097963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7913570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6138462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6238953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8167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9300768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7489768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140250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74658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264585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6709926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0887732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2165551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0435694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042404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1393311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3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8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84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549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73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528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48" r:id="rId31"/>
    <p:sldLayoutId id="2147483749" r:id="rId32"/>
    <p:sldLayoutId id="2147483750" r:id="rId33"/>
    <p:sldLayoutId id="2147483751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987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es-es/foto/foto-de-personas-conversando-3184285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7AA55F-A663-7470-1FA4-9966124AEC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419" dirty="0"/>
              <a:t>Diseñar y crear los programas académicos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EC7EF07-2EFA-BC39-92B6-AD0E2F0AAA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s-419" dirty="0"/>
              <a:t>Instructivo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9A313EF-DDC9-1005-CB3C-36E301503B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194925"/>
          </a:xfrm>
        </p:spPr>
        <p:txBody>
          <a:bodyPr/>
          <a:lstStyle/>
          <a:p>
            <a:r>
              <a:rPr lang="en-US" dirty="0"/>
              <a:t>USSIPAN-Perú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AFD81755-6309-937C-4F9B-D466A3067B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Junio, 2026</a:t>
            </a:r>
          </a:p>
        </p:txBody>
      </p:sp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531F03B0-663B-6947-6992-9DD0058FD2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878" r="17878"/>
          <a:stretch>
            <a:fillRect/>
          </a:stretch>
        </p:blipFill>
        <p:spPr>
          <a:noFill/>
        </p:spPr>
      </p:pic>
    </p:spTree>
    <p:extLst>
      <p:ext uri="{BB962C8B-B14F-4D97-AF65-F5344CB8AC3E}">
        <p14:creationId xmlns:p14="http://schemas.microsoft.com/office/powerpoint/2010/main" val="2074149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897CB17-50A9-E1EA-BB72-02ED775A4D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1314" y="923845"/>
            <a:ext cx="7234915" cy="312330"/>
          </a:xfrm>
        </p:spPr>
        <p:txBody>
          <a:bodyPr/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: Proceso Gestionar los periodos académicos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64149FD-8541-BB66-31C7-5C8D540962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315" y="3207433"/>
            <a:ext cx="7234915" cy="312330"/>
          </a:xfrm>
        </p:spPr>
        <p:txBody>
          <a:bodyPr/>
          <a:lstStyle/>
          <a:p>
            <a:r>
              <a:rPr lang="es-ES_tradnl" dirty="0">
                <a:latin typeface="Arial"/>
                <a:cs typeface="Arial"/>
              </a:rPr>
              <a:t>Configuraciones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367C3D73-E477-8A70-ACF6-A8466042E71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1314" y="2563299"/>
            <a:ext cx="7234915" cy="312330"/>
          </a:xfrm>
        </p:spPr>
        <p:txBody>
          <a:bodyPr/>
          <a:lstStyle/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Definiciones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E1BB0A2D-C7A3-85A8-EE94-C0019E5EF84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1314" y="1574295"/>
            <a:ext cx="7234915" cy="663515"/>
          </a:xfrm>
        </p:spPr>
        <p:txBody>
          <a:bodyPr/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: Procedimiento Diseñar y Crear los programas académicos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D286A64F-1AC2-0842-49F6-CEE06ABF109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1317" y="4483071"/>
            <a:ext cx="7234915" cy="312330"/>
          </a:xfrm>
        </p:spPr>
        <p:txBody>
          <a:bodyPr/>
          <a:lstStyle/>
          <a:p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Resumen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6412E2B5-4BE1-B49E-58AB-9C60B6BBF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Tabla de contenidos</a:t>
            </a:r>
          </a:p>
        </p:txBody>
      </p:sp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39658CF9-4262-EF31-21F8-59A4FFE638F1}"/>
              </a:ext>
            </a:extLst>
          </p:cNvPr>
          <p:cNvSpPr txBox="1">
            <a:spLocks/>
          </p:cNvSpPr>
          <p:nvPr/>
        </p:nvSpPr>
        <p:spPr>
          <a:xfrm>
            <a:off x="4571316" y="3845252"/>
            <a:ext cx="7234915" cy="31233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231775" indent="-2317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>
                <a:latin typeface="Arial"/>
                <a:cs typeface="Arial"/>
              </a:rPr>
              <a:t>Diseñar y crear los programas académicos</a:t>
            </a:r>
          </a:p>
        </p:txBody>
      </p:sp>
    </p:spTree>
    <p:extLst>
      <p:ext uri="{BB962C8B-B14F-4D97-AF65-F5344CB8AC3E}">
        <p14:creationId xmlns:p14="http://schemas.microsoft.com/office/powerpoint/2010/main" val="395854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EC23B209-15D9-D0E9-52DA-CB94020FD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Diseñar y crear los programas académicos</a:t>
            </a:r>
          </a:p>
        </p:txBody>
      </p:sp>
    </p:spTree>
    <p:extLst>
      <p:ext uri="{BB962C8B-B14F-4D97-AF65-F5344CB8AC3E}">
        <p14:creationId xmlns:p14="http://schemas.microsoft.com/office/powerpoint/2010/main" val="2599343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8E1C91-D53E-9F97-C485-846285783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Overview: </a:t>
            </a:r>
            <a:r>
              <a:rPr lang="en-US" b="0" dirty="0"/>
              <a:t>Mapa de </a:t>
            </a:r>
            <a:r>
              <a:rPr lang="en-US" b="0" dirty="0" err="1"/>
              <a:t>capacidades</a:t>
            </a:r>
            <a:endParaRPr lang="es-41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5E5532-A998-508F-D976-B5AB9A86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525"/>
            <a:ext cx="12192000" cy="48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33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31C0327-E277-8995-30AD-95DC98DE7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577" y="167676"/>
            <a:ext cx="11122188" cy="446084"/>
          </a:xfrm>
        </p:spPr>
        <p:txBody>
          <a:bodyPr/>
          <a:lstStyle/>
          <a:p>
            <a:r>
              <a:rPr lang="es-419" dirty="0" err="1"/>
              <a:t>Overview</a:t>
            </a:r>
            <a:r>
              <a:rPr lang="es-419" dirty="0"/>
              <a:t>: Capacidad Operativa Diseño curricular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8A9006-C922-5FC9-18EF-DBB6C047A4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97151"/>
          </a:xfrm>
        </p:spPr>
        <p:txBody>
          <a:bodyPr/>
          <a:lstStyle/>
          <a:p>
            <a:pPr marL="0" indent="0">
              <a:buNone/>
            </a:pPr>
            <a:r>
              <a:rPr lang="es-419" dirty="0"/>
              <a:t>A continuación, se presenta el diagrama de la capacidad </a:t>
            </a:r>
            <a:r>
              <a:rPr lang="es-419" dirty="0" err="1"/>
              <a:t>operativa“Diseñor</a:t>
            </a:r>
            <a:r>
              <a:rPr lang="es-419" dirty="0"/>
              <a:t> curricular”, con sus responsables, las entradas y salidas correspondientes.</a:t>
            </a:r>
            <a:endParaRPr lang="es-CO" dirty="0"/>
          </a:p>
        </p:txBody>
      </p:sp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5F8E54B4-C7DD-F9ED-423F-7BCC8AEE60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" t="3958" r="4142" b="3659"/>
          <a:stretch/>
        </p:blipFill>
        <p:spPr bwMode="auto">
          <a:xfrm>
            <a:off x="1668048" y="2097306"/>
            <a:ext cx="9836072" cy="295816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90565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3" name="Picture 2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51507BD-F0E2-716E-DB07-E8A068E02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63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DCE3D-50D9-FC71-7E43-175E6E1C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5FC46760-4954-A13C-EAEB-B18B0AA68A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Procedimiento: Diseñar y crear los programas académicos</a:t>
            </a:r>
          </a:p>
        </p:txBody>
      </p:sp>
    </p:spTree>
    <p:extLst>
      <p:ext uri="{BB962C8B-B14F-4D97-AF65-F5344CB8AC3E}">
        <p14:creationId xmlns:p14="http://schemas.microsoft.com/office/powerpoint/2010/main" val="1228125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6A2B-AAE3-6A44-0155-2E011311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5C1DE41-45EA-5BD8-5E55-8070A62916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889282"/>
          </a:xfrm>
        </p:spPr>
        <p:txBody>
          <a:bodyPr/>
          <a:lstStyle/>
          <a:p>
            <a:r>
              <a:rPr lang="es-419" dirty="0" err="1"/>
              <a:t>Overview</a:t>
            </a:r>
            <a:r>
              <a:rPr lang="es-419" dirty="0"/>
              <a:t>: Procedimiento Diseñar y crear los programas académicos</a:t>
            </a:r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56D1EE73-ACA4-0102-8413-92F21A24A6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515" y="1583558"/>
            <a:ext cx="11007333" cy="3679725"/>
          </a:xfrm>
        </p:spPr>
        <p:txBody>
          <a:bodyPr/>
          <a:lstStyle/>
          <a:p>
            <a:pPr marL="0" indent="0">
              <a:buNone/>
            </a:pPr>
            <a:r>
              <a:rPr lang="es-CO" sz="2000" dirty="0"/>
              <a:t>Mediante este procedimiento las Instituciones crean los Programas académicos o rutas de formación que permitirá a los estudiantes convertirse en profesionales competente y relevantes para su entorno.</a:t>
            </a:r>
          </a:p>
          <a:p>
            <a:pPr marL="0" indent="0">
              <a:buNone/>
            </a:pPr>
            <a:endParaRPr lang="es-CO" sz="2000" dirty="0"/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419" sz="2000" dirty="0"/>
              <a:t>Los programas académicos deben configurarse de acuerdo con las reglas de negocios que tenga la institución, estas incluyen aspectos como lugar donde se ofrece, carrera una o varias por cada programa, concentración una o varias por cada programa.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419" sz="2000" dirty="0"/>
              <a:t>Se debe activar por cada programa los siguientes procesos que apliquen: admisiones, gestión de alumno, historia académica y evaluación de graduación</a:t>
            </a:r>
          </a:p>
          <a:p>
            <a:pPr marL="0" indent="0">
              <a:buNone/>
            </a:pPr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316496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B7B7-C13A-B816-A616-1C66ADD3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75F8178-85A0-AB2E-CFC8-931878B60F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889282"/>
          </a:xfrm>
        </p:spPr>
        <p:txBody>
          <a:bodyPr/>
          <a:lstStyle/>
          <a:p>
            <a:r>
              <a:rPr lang="es-419" dirty="0" err="1"/>
              <a:t>Overview</a:t>
            </a:r>
            <a:r>
              <a:rPr lang="es-419" dirty="0"/>
              <a:t>: Procedimiento Diseñar y crear los programas académicos</a:t>
            </a: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F6FBF528-72F4-86F3-8E09-D66B194EAB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" r="4240"/>
          <a:stretch/>
        </p:blipFill>
        <p:spPr bwMode="auto">
          <a:xfrm>
            <a:off x="342346" y="2176877"/>
            <a:ext cx="11507308" cy="25042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2432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2711B-114F-B372-FDC1-81ADDC1C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3F6951F5-7A88-16DF-6DD3-2EA4848B6E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pPr algn="l"/>
            <a:r>
              <a:rPr lang="es-419" dirty="0"/>
              <a:t>Definiciones</a:t>
            </a:r>
          </a:p>
        </p:txBody>
      </p:sp>
    </p:spTree>
    <p:extLst>
      <p:ext uri="{BB962C8B-B14F-4D97-AF65-F5344CB8AC3E}">
        <p14:creationId xmlns:p14="http://schemas.microsoft.com/office/powerpoint/2010/main" val="3857248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DCF70E6-8CB7-A513-3ABC-5F2AFFAF2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787" y="74559"/>
            <a:ext cx="11122188" cy="1409425"/>
          </a:xfrm>
        </p:spPr>
        <p:txBody>
          <a:bodyPr/>
          <a:lstStyle/>
          <a:p>
            <a:r>
              <a:rPr lang="es-419" dirty="0"/>
              <a:t>Definiciones: Procedimiento Diseñar y crear los programas académicos</a:t>
            </a:r>
          </a:p>
          <a:p>
            <a:endParaRPr lang="es-CO" dirty="0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E5E4D0-6C0B-7B86-A04E-A985621B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375599"/>
              </p:ext>
            </p:extLst>
          </p:nvPr>
        </p:nvGraphicFramePr>
        <p:xfrm>
          <a:off x="478536" y="989694"/>
          <a:ext cx="11454384" cy="5196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916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9288468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Concepto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Descripción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r>
                        <a:rPr lang="es-CO" sz="1600" b="1" dirty="0"/>
                        <a:t>Reglas de currículo</a:t>
                      </a:r>
                      <a:endParaRPr lang="es-CO" sz="1600" b="1" noProof="0" dirty="0"/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  <a:t>Son reglas a  nivel de sistema que permiten definir la unión lógica de los siguientes aspectos.</a:t>
                      </a:r>
                      <a:b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</a:br>
                      <a: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  <a:t>Programa + Campus + Facultad + Departamento + Nivel de formación + Carrera + Concentración.</a:t>
                      </a:r>
                      <a:b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</a:br>
                      <a: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  <a:t>Evitando con esto que un programa académico quede asociado a un estudiante de forma equivocada.</a:t>
                      </a:r>
                      <a:endParaRPr lang="es-E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674607535"/>
                  </a:ext>
                </a:extLst>
              </a:tr>
              <a:tr h="4672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noProof="0" dirty="0"/>
                        <a:t>Escuela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>
                          <a:solidFill>
                            <a:schemeClr val="dk1"/>
                          </a:solidFill>
                        </a:rPr>
                        <a:t>Unidad de enseñanza que concentra los recursos humanos y financieros para la oferta de los programas académicos</a:t>
                      </a:r>
                      <a:endParaRPr lang="es-ES" sz="1600" dirty="0">
                        <a:solidFill>
                          <a:schemeClr val="dk1"/>
                        </a:solidFill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579196519"/>
                  </a:ext>
                </a:extLst>
              </a:tr>
              <a:tr h="770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dirty="0">
                          <a:solidFill>
                            <a:schemeClr val="dk1"/>
                          </a:solidFill>
                        </a:rPr>
                        <a:t>Departamento</a:t>
                      </a:r>
                      <a:endParaRPr lang="es-ES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lvl="0" algn="just">
                        <a:defRPr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Unidades de docencia e investigación encargadas de coordinar y administrar las enseñanzas de uno o varios ámbitos del conocimiento en una Universidad</a:t>
                      </a:r>
                      <a:r>
                        <a:rPr lang="es-ES" sz="1600" dirty="0"/>
                        <a:t>.</a:t>
                      </a:r>
                      <a:endParaRPr lang="es-CO" sz="2000" dirty="0">
                        <a:solidFill>
                          <a:srgbClr val="414042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59410008"/>
                  </a:ext>
                </a:extLst>
              </a:tr>
              <a:tr h="329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dirty="0">
                          <a:solidFill>
                            <a:schemeClr val="dk1"/>
                          </a:solidFill>
                        </a:rPr>
                        <a:t>Campus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Corresponde a la ciudad o sede donde se ofrece el programa académico</a:t>
                      </a:r>
                      <a:endParaRPr lang="es-CO" sz="2000" dirty="0">
                        <a:solidFill>
                          <a:srgbClr val="414042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05674216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b="1" dirty="0">
                          <a:solidFill>
                            <a:schemeClr val="dk1"/>
                          </a:solidFill>
                        </a:rPr>
                        <a:t>Concentración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Segoe UI" panose="020B0502040204020203" pitchFamily="34" charset="0"/>
                        </a:rPr>
                        <a:t>Se refiere al área específica de estudio o especialización académica que un estudiante selecciona dentro de su programa universitario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893119640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dirty="0"/>
                        <a:t>Carrera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Helvetica Neue" panose="02000503000000020004" pitchFamily="2" charset="0"/>
                        </a:rPr>
                        <a:t>E</a:t>
                      </a:r>
                      <a: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  <a:t>s el programa académico principal en el que un estudiante está inscrito, como Derecho, Medicina, Ingeniería o Administración</a:t>
                      </a:r>
                      <a:endParaRPr lang="es-CO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3689148477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dirty="0"/>
                        <a:t>Nivel académico</a:t>
                      </a:r>
                      <a:endParaRPr lang="es-CO" sz="1600" b="1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latin typeface="Helvetica Neue" panose="02000503000000020004" pitchFamily="2" charset="0"/>
                        </a:rPr>
                        <a:t>Forma de clasificar el grado de conocimientos adquiridos por el estudiante. Ejemplo: Grado, posgrado, Idiomas, Educación continua</a:t>
                      </a:r>
                      <a:endParaRPr lang="es-CO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4069081999"/>
                  </a:ext>
                </a:extLst>
              </a:tr>
              <a:tr h="5372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noProof="0" dirty="0"/>
                        <a:t>Plan de Estudios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  <a:t>También conocida como “</a:t>
                      </a:r>
                      <a:r>
                        <a:rPr lang="es-CO" sz="1600" noProof="0" dirty="0" err="1">
                          <a:effectLst/>
                          <a:latin typeface="Helvetica Neue" panose="02000503000000020004" pitchFamily="2" charset="0"/>
                        </a:rPr>
                        <a:t>Study</a:t>
                      </a:r>
                      <a: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  <a:t> </a:t>
                      </a:r>
                      <a:r>
                        <a:rPr lang="es-CO" sz="1600" noProof="0" dirty="0" err="1">
                          <a:effectLst/>
                          <a:latin typeface="Helvetica Neue" panose="02000503000000020004" pitchFamily="2" charset="0"/>
                        </a:rPr>
                        <a:t>Path</a:t>
                      </a:r>
                      <a:r>
                        <a:rPr lang="es-CO" sz="1600" noProof="0" dirty="0">
                          <a:effectLst/>
                          <a:latin typeface="Helvetica Neue" panose="02000503000000020004" pitchFamily="2" charset="0"/>
                        </a:rPr>
                        <a:t>”, es una funcionalidad que permite el manejo de programas simultáneos que un estudiante puede estar cursando</a:t>
                      </a:r>
                      <a:endParaRPr lang="es-CO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595232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243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F0CF3E-E12E-1606-BD0D-9F22060370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pPr algn="l"/>
            <a:r>
              <a:rPr lang="es-419" dirty="0"/>
              <a:t>Configuraciones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B00B78-B65F-A441-9E02-409B52EA52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es-419" dirty="0"/>
              <a:t>Tablas de validación</a:t>
            </a:r>
          </a:p>
        </p:txBody>
      </p:sp>
    </p:spTree>
    <p:extLst>
      <p:ext uri="{BB962C8B-B14F-4D97-AF65-F5344CB8AC3E}">
        <p14:creationId xmlns:p14="http://schemas.microsoft.com/office/powerpoint/2010/main" val="2835937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A206324-E307-9002-B542-F91432DD5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Configurar: Validación del código del campus – STVCAMP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F49C20-E0F5-9BDF-282E-C70CEC53D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40" y="1240733"/>
            <a:ext cx="10593143" cy="2581761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AD0A7B9-03AB-22DA-6969-946C34A799AE}"/>
              </a:ext>
            </a:extLst>
          </p:cNvPr>
          <p:cNvSpPr/>
          <p:nvPr/>
        </p:nvSpPr>
        <p:spPr>
          <a:xfrm>
            <a:off x="1333180" y="4130953"/>
            <a:ext cx="10465628" cy="137060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las ciudades o sedes donde se ofrecen los programas, para la creación de campus debe realizar el siguiente proceso:</a:t>
            </a:r>
          </a:p>
          <a:p>
            <a:br>
              <a:rPr lang="es-ES" sz="1100" dirty="0"/>
            </a:br>
            <a:r>
              <a:rPr lang="es-ES" sz="1100" dirty="0"/>
              <a:t>1. </a:t>
            </a:r>
            <a:r>
              <a:rPr lang="es-ES_tradnl" sz="1100" dirty="0"/>
              <a:t>Debe presionar ‘+’ para la creación del nuevo registro.</a:t>
            </a:r>
            <a:br>
              <a:rPr lang="es-ES" sz="1100" b="1" dirty="0"/>
            </a:br>
            <a:r>
              <a:rPr lang="es-ES" sz="1100" dirty="0"/>
              <a:t>2. Código: Código alfanumérico de 03 caracteres que representa el código definido para el campus</a:t>
            </a:r>
          </a:p>
          <a:p>
            <a:pPr algn="just"/>
            <a:r>
              <a:rPr lang="es-CL" sz="1100" dirty="0"/>
              <a:t>3. Descripción: Campo alfanumérico de hasta 30 caracteres que representa el nombre del campus señalado anteriormente.</a:t>
            </a:r>
          </a:p>
          <a:p>
            <a:pPr algn="just"/>
            <a:r>
              <a:rPr lang="es-CL" sz="1100" dirty="0"/>
              <a:t>4. ID de distrito/escuela: Depende de la tabla GTVDICD y corresponde al distrito/división.</a:t>
            </a:r>
          </a:p>
          <a:p>
            <a:pPr algn="just"/>
            <a:r>
              <a:rPr lang="es-CL" sz="1100" dirty="0"/>
              <a:t>5. </a:t>
            </a:r>
            <a:r>
              <a:rPr lang="es-ES_tradnl" sz="1100" dirty="0"/>
              <a:t>Finalmente se deben guardar todos los registros creados.</a:t>
            </a:r>
            <a:endParaRPr lang="es-C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9DC4FBA3-9780-3308-233C-2BEA6BB780F8}"/>
              </a:ext>
            </a:extLst>
          </p:cNvPr>
          <p:cNvSpPr/>
          <p:nvPr/>
        </p:nvSpPr>
        <p:spPr>
          <a:xfrm>
            <a:off x="10200322" y="1739115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06E18C05-DCDF-2E06-5E18-0826BD8FDE69}"/>
              </a:ext>
            </a:extLst>
          </p:cNvPr>
          <p:cNvSpPr/>
          <p:nvPr/>
        </p:nvSpPr>
        <p:spPr>
          <a:xfrm>
            <a:off x="1340479" y="2522184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4984BEE5-5D02-ED41-6418-A1B3F1C8B320}"/>
              </a:ext>
            </a:extLst>
          </p:cNvPr>
          <p:cNvSpPr/>
          <p:nvPr/>
        </p:nvSpPr>
        <p:spPr>
          <a:xfrm>
            <a:off x="2646300" y="2522184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03AF680F-509A-426A-6A69-F82B62E08B09}"/>
              </a:ext>
            </a:extLst>
          </p:cNvPr>
          <p:cNvSpPr/>
          <p:nvPr/>
        </p:nvSpPr>
        <p:spPr>
          <a:xfrm>
            <a:off x="8743134" y="2522184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E4B6EC0-5CDC-4F71-B914-D3855816B523}"/>
              </a:ext>
            </a:extLst>
          </p:cNvPr>
          <p:cNvSpPr/>
          <p:nvPr/>
        </p:nvSpPr>
        <p:spPr>
          <a:xfrm>
            <a:off x="10515600" y="1700917"/>
            <a:ext cx="228335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33107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5A965-2EE7-23F1-937C-4627269F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0DAF893-D3A2-B24A-45A2-CF4F05BB99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Configurar: Validación del código de escuela – STVCOLL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8612EBC-EBBC-BE82-A616-300266DE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40" y="945429"/>
            <a:ext cx="11217071" cy="4967142"/>
          </a:xfrm>
          <a:prstGeom prst="rect">
            <a:avLst/>
          </a:prstGeo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D91F4C-9F97-FDFF-8567-CB2D65E90163}"/>
              </a:ext>
            </a:extLst>
          </p:cNvPr>
          <p:cNvSpPr/>
          <p:nvPr/>
        </p:nvSpPr>
        <p:spPr>
          <a:xfrm>
            <a:off x="985406" y="4190063"/>
            <a:ext cx="10061941" cy="146684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las escuelas, para la creación de nuevas escuelas debe realizar el siguiente proceso:</a:t>
            </a:r>
          </a:p>
          <a:p>
            <a:br>
              <a:rPr lang="es-ES" sz="1100" dirty="0"/>
            </a:br>
            <a:r>
              <a:rPr lang="es-ES" sz="1100" dirty="0"/>
              <a:t>1. </a:t>
            </a:r>
            <a:r>
              <a:rPr lang="es-ES_tradnl" sz="1100" dirty="0"/>
              <a:t>Debe presionar ‘+’ para la creación del nuevo registro.</a:t>
            </a:r>
            <a:br>
              <a:rPr lang="es-ES" sz="1100" dirty="0"/>
            </a:br>
            <a:r>
              <a:rPr lang="es-ES" sz="1100" dirty="0"/>
              <a:t>2. Código: Código alfanumérico de 02 caracteres que representa el código definido para  las escuelas</a:t>
            </a:r>
          </a:p>
          <a:p>
            <a:pPr algn="just"/>
            <a:r>
              <a:rPr lang="es-CL" sz="1100" dirty="0"/>
              <a:t>3. Descripción: Campo alfanumérico de hasta 30 caracteres que representa el nombre de la escuela señalada anteriormente.</a:t>
            </a:r>
          </a:p>
          <a:p>
            <a:pPr algn="just"/>
            <a:r>
              <a:rPr lang="es-CL" sz="1100" dirty="0"/>
              <a:t>4. Requerido por el sistema: Solo se marca para aquellos códigos que son requeridos para el funcionamiento del sistema. En este caso 00 y 99.</a:t>
            </a:r>
          </a:p>
          <a:p>
            <a:pPr algn="just"/>
            <a:r>
              <a:rPr lang="es-CL" sz="1100" dirty="0"/>
              <a:t>5. Distrito MIS: Depende de la tabla GTVDICD y corresponde al distrito/división. Este campo es opcional.</a:t>
            </a:r>
          </a:p>
          <a:p>
            <a:pPr algn="just"/>
            <a:r>
              <a:rPr lang="es-CL" sz="1100" dirty="0"/>
              <a:t>6. </a:t>
            </a:r>
            <a:r>
              <a:rPr lang="es-ES_tradnl" sz="1100" dirty="0"/>
              <a:t>Finalmente se deben guardar todos los registros creados.</a:t>
            </a:r>
            <a:endParaRPr lang="es-CL" sz="1100" dirty="0"/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2846C0D7-B358-D06F-60CA-CCE93AA4DC8C}"/>
              </a:ext>
            </a:extLst>
          </p:cNvPr>
          <p:cNvSpPr/>
          <p:nvPr/>
        </p:nvSpPr>
        <p:spPr>
          <a:xfrm>
            <a:off x="1368111" y="165306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285262C4-5A88-92B9-9207-E6ED20368536}"/>
              </a:ext>
            </a:extLst>
          </p:cNvPr>
          <p:cNvSpPr/>
          <p:nvPr/>
        </p:nvSpPr>
        <p:spPr>
          <a:xfrm>
            <a:off x="3541913" y="165306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E6FAB3FF-6677-7037-64EF-3FC680E8946D}"/>
              </a:ext>
            </a:extLst>
          </p:cNvPr>
          <p:cNvSpPr/>
          <p:nvPr/>
        </p:nvSpPr>
        <p:spPr>
          <a:xfrm>
            <a:off x="10929017" y="5682019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82206862-8526-7E52-668D-298B105E3430}"/>
              </a:ext>
            </a:extLst>
          </p:cNvPr>
          <p:cNvSpPr/>
          <p:nvPr/>
        </p:nvSpPr>
        <p:spPr>
          <a:xfrm>
            <a:off x="7508528" y="165306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9" name="Rectángulo redondeado 15">
            <a:extLst>
              <a:ext uri="{FF2B5EF4-FFF2-40B4-BE49-F238E27FC236}">
                <a16:creationId xmlns:a16="http://schemas.microsoft.com/office/drawing/2014/main" id="{291E02A7-1729-0025-BDA2-CA4C01FF20A2}"/>
              </a:ext>
            </a:extLst>
          </p:cNvPr>
          <p:cNvSpPr/>
          <p:nvPr/>
        </p:nvSpPr>
        <p:spPr>
          <a:xfrm>
            <a:off x="10465360" y="1244262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20" name="Rectángulo redondeado 15">
            <a:extLst>
              <a:ext uri="{FF2B5EF4-FFF2-40B4-BE49-F238E27FC236}">
                <a16:creationId xmlns:a16="http://schemas.microsoft.com/office/drawing/2014/main" id="{3D32B5FE-EF13-06EC-36C3-23A1B46EEF8C}"/>
              </a:ext>
            </a:extLst>
          </p:cNvPr>
          <p:cNvSpPr/>
          <p:nvPr/>
        </p:nvSpPr>
        <p:spPr>
          <a:xfrm>
            <a:off x="10248009" y="165306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D02545F-03FA-3537-644B-55892FC76546}"/>
              </a:ext>
            </a:extLst>
          </p:cNvPr>
          <p:cNvSpPr/>
          <p:nvPr/>
        </p:nvSpPr>
        <p:spPr>
          <a:xfrm>
            <a:off x="10794688" y="1225163"/>
            <a:ext cx="315784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CEB184A-3138-6D08-805C-5F6335C65DBE}"/>
              </a:ext>
            </a:extLst>
          </p:cNvPr>
          <p:cNvSpPr/>
          <p:nvPr/>
        </p:nvSpPr>
        <p:spPr>
          <a:xfrm>
            <a:off x="11146368" y="5673436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35082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9BF27-FDEB-5ADF-A4DA-010EEB0A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8EE671-5CE6-D1B6-50EE-144488B90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Configurar: Validación del código de grado – STVDEGC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117472-FEAE-6D88-B4A8-7187754E4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30" y="944724"/>
            <a:ext cx="11214397" cy="4968552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7F1D56C-F554-2D23-2954-EDD58A2BD471}"/>
              </a:ext>
            </a:extLst>
          </p:cNvPr>
          <p:cNvSpPr/>
          <p:nvPr/>
        </p:nvSpPr>
        <p:spPr>
          <a:xfrm>
            <a:off x="799897" y="4105353"/>
            <a:ext cx="10567424" cy="15850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sz="1100" dirty="0"/>
              <a:t>Página destinada a la creación de los grados que se otorgan en la institución, para la creación de nuevos códigos debe realizar el siguiente proceso:</a:t>
            </a:r>
            <a:br>
              <a:rPr lang="es-ES" sz="1100" dirty="0"/>
            </a:br>
            <a:r>
              <a:rPr lang="es-ES" sz="1100" dirty="0"/>
              <a:t>1. </a:t>
            </a:r>
            <a:r>
              <a:rPr lang="es-ES_tradnl" sz="1100" dirty="0"/>
              <a:t>Debe presionar ‘+’ para la creación del nuevo registro.</a:t>
            </a:r>
            <a:br>
              <a:rPr lang="es-ES" sz="1100" dirty="0"/>
            </a:br>
            <a:r>
              <a:rPr lang="es-ES" sz="1100" dirty="0"/>
              <a:t>2. Código: Código alfanumérico de 06 caracteres que representa el código definido para el grado.</a:t>
            </a:r>
          </a:p>
          <a:p>
            <a:r>
              <a:rPr lang="es-CL" sz="1100" dirty="0"/>
              <a:t>3. Descripción: Campo alfanumérico de hasta 30 caracteres que representa el nombre del grado definido anteriormente.</a:t>
            </a:r>
          </a:p>
          <a:p>
            <a:r>
              <a:rPr lang="es-CL" sz="1100" dirty="0"/>
              <a:t>4. Contar en ayuda financiera: Utilizado para el módulo de BANNER AID. No se marca</a:t>
            </a:r>
          </a:p>
          <a:p>
            <a:r>
              <a:rPr lang="es-CL" sz="1100" dirty="0"/>
              <a:t>5. Indicador de web: Marcado para indicar si se muestra este campo en las solicitudes de servicio.</a:t>
            </a:r>
          </a:p>
          <a:p>
            <a:r>
              <a:rPr lang="es-CL" sz="1100" dirty="0"/>
              <a:t>6. </a:t>
            </a:r>
            <a:r>
              <a:rPr lang="es-ES_tradnl" sz="1100" dirty="0"/>
              <a:t>Finalmente se deben guardar todos los registros creados.</a:t>
            </a:r>
            <a:br>
              <a:rPr lang="es-CL" sz="1100" dirty="0"/>
            </a:br>
            <a:endParaRPr lang="es-C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D8A8F22-0D1C-4EDB-F668-3C236CF78BB3}"/>
              </a:ext>
            </a:extLst>
          </p:cNvPr>
          <p:cNvSpPr/>
          <p:nvPr/>
        </p:nvSpPr>
        <p:spPr>
          <a:xfrm>
            <a:off x="9746349" y="158811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4C576281-F32B-7F81-EC27-C3B8EC92F4DC}"/>
              </a:ext>
            </a:extLst>
          </p:cNvPr>
          <p:cNvSpPr/>
          <p:nvPr/>
        </p:nvSpPr>
        <p:spPr>
          <a:xfrm>
            <a:off x="1186535" y="1608599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5246C374-0924-5ABB-B802-EBFA90DC3845}"/>
              </a:ext>
            </a:extLst>
          </p:cNvPr>
          <p:cNvSpPr/>
          <p:nvPr/>
        </p:nvSpPr>
        <p:spPr>
          <a:xfrm>
            <a:off x="2476297" y="1608599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AD8164B1-F0EA-53FF-6CA7-AFA3C0E0CFF5}"/>
              </a:ext>
            </a:extLst>
          </p:cNvPr>
          <p:cNvSpPr/>
          <p:nvPr/>
        </p:nvSpPr>
        <p:spPr>
          <a:xfrm>
            <a:off x="3983412" y="1608599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04ECE228-F23E-6B2D-199F-6B86B5EAD815}"/>
              </a:ext>
            </a:extLst>
          </p:cNvPr>
          <p:cNvSpPr/>
          <p:nvPr/>
        </p:nvSpPr>
        <p:spPr>
          <a:xfrm>
            <a:off x="11105979" y="569912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D51599E-F954-FAED-B7FB-2C4AA53290D2}"/>
              </a:ext>
            </a:extLst>
          </p:cNvPr>
          <p:cNvSpPr/>
          <p:nvPr/>
        </p:nvSpPr>
        <p:spPr>
          <a:xfrm>
            <a:off x="10837715" y="1219548"/>
            <a:ext cx="334764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9662869-AD7A-F504-89BC-8E5F092690D1}"/>
              </a:ext>
            </a:extLst>
          </p:cNvPr>
          <p:cNvSpPr/>
          <p:nvPr/>
        </p:nvSpPr>
        <p:spPr>
          <a:xfrm>
            <a:off x="11348109" y="5680029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12448B3F-B3BA-A7D1-3355-BCC1F5ACE1CB}"/>
              </a:ext>
            </a:extLst>
          </p:cNvPr>
          <p:cNvSpPr/>
          <p:nvPr/>
        </p:nvSpPr>
        <p:spPr>
          <a:xfrm>
            <a:off x="10575737" y="121954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0632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0D39-3C57-6C22-0BC7-A198EA37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7CB0C7-2F76-113F-5E80-D52D2006B9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889282"/>
          </a:xfrm>
        </p:spPr>
        <p:txBody>
          <a:bodyPr/>
          <a:lstStyle/>
          <a:p>
            <a:r>
              <a:rPr lang="es-419" dirty="0"/>
              <a:t>Configurar: Validación del código de departamento – STVDEPT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1D8E60-4628-A33A-4BE9-CD50696CC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32" y="1313749"/>
            <a:ext cx="10811256" cy="476371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4B210BC-8B8E-8814-2B8C-D430E6876EAB}"/>
              </a:ext>
            </a:extLst>
          </p:cNvPr>
          <p:cNvSpPr/>
          <p:nvPr/>
        </p:nvSpPr>
        <p:spPr>
          <a:xfrm>
            <a:off x="800832" y="3819724"/>
            <a:ext cx="10843871" cy="192064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o </a:t>
            </a:r>
            <a:r>
              <a:rPr lang="es-MX" sz="1100" dirty="0"/>
              <a:t>actualizar los códigos de departamento tales como departamento de Historia o departamento no declarado, etc. </a:t>
            </a:r>
            <a:r>
              <a:rPr lang="es-ES" sz="1100" dirty="0"/>
              <a:t>El proceso es el siguiente:</a:t>
            </a:r>
          </a:p>
          <a:p>
            <a:br>
              <a:rPr lang="es-ES" sz="1100" dirty="0"/>
            </a:br>
            <a:r>
              <a:rPr lang="es-ES" sz="1100" dirty="0"/>
              <a:t>1. </a:t>
            </a:r>
            <a:r>
              <a:rPr lang="es-ES_tradnl" sz="1100" dirty="0"/>
              <a:t>Debe presionar ‘+’ para la creación del nuevo registro</a:t>
            </a:r>
            <a:br>
              <a:rPr lang="es-ES" sz="1100" dirty="0"/>
            </a:br>
            <a:r>
              <a:rPr lang="es-ES" sz="1100" dirty="0"/>
              <a:t>2. Código: Código alfanumérico de 06 caracteres que representa el código definido al departamento</a:t>
            </a:r>
          </a:p>
          <a:p>
            <a:pPr algn="just"/>
            <a:r>
              <a:rPr lang="es-CL" sz="1100" dirty="0"/>
              <a:t>3. Descripción: Campo alfanumérico de hasta 30 caracteres que representa el nombre del departamento definido anteriormente.</a:t>
            </a:r>
          </a:p>
          <a:p>
            <a:pPr algn="just"/>
            <a:r>
              <a:rPr lang="es-CL" sz="1100" dirty="0"/>
              <a:t>4. Requerido por el sistema: Debe estar marcado para el código 0000.</a:t>
            </a:r>
          </a:p>
          <a:p>
            <a:r>
              <a:rPr lang="es-CL" sz="1100" dirty="0"/>
              <a:t>5. Número de mensaje de RV</a:t>
            </a:r>
            <a:r>
              <a:rPr lang="es-419" sz="1100" dirty="0"/>
              <a:t>: Funcionalidad asociada a usar Banner integrado con un sistema de telefonía IP. No aplica</a:t>
            </a:r>
          </a:p>
          <a:p>
            <a:r>
              <a:rPr lang="es-419" sz="1100" dirty="0"/>
              <a:t>6. </a:t>
            </a:r>
            <a:r>
              <a:rPr lang="es-ES_tradnl" sz="1100" dirty="0"/>
              <a:t>Finalmente se deben guardar todos los registros creados.</a:t>
            </a:r>
            <a:endParaRPr lang="es-C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57181832-DF84-F2FB-AACF-C7D6C187CBA1}"/>
              </a:ext>
            </a:extLst>
          </p:cNvPr>
          <p:cNvSpPr/>
          <p:nvPr/>
        </p:nvSpPr>
        <p:spPr>
          <a:xfrm>
            <a:off x="10947119" y="5949966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B68A16D6-ED44-115B-73AE-5322E410A5A3}"/>
              </a:ext>
            </a:extLst>
          </p:cNvPr>
          <p:cNvSpPr/>
          <p:nvPr/>
        </p:nvSpPr>
        <p:spPr>
          <a:xfrm>
            <a:off x="1228023" y="1902430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50B9F884-BCF8-7BB5-EB26-E1EC2BE24841}"/>
              </a:ext>
            </a:extLst>
          </p:cNvPr>
          <p:cNvSpPr/>
          <p:nvPr/>
        </p:nvSpPr>
        <p:spPr>
          <a:xfrm>
            <a:off x="3318148" y="1900392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292271C1-7947-EA3C-8368-7E5A91E7436B}"/>
              </a:ext>
            </a:extLst>
          </p:cNvPr>
          <p:cNvSpPr/>
          <p:nvPr/>
        </p:nvSpPr>
        <p:spPr>
          <a:xfrm>
            <a:off x="9135918" y="1900392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DAB673F4-5E38-860E-181E-24DDCD4DC310}"/>
              </a:ext>
            </a:extLst>
          </p:cNvPr>
          <p:cNvSpPr/>
          <p:nvPr/>
        </p:nvSpPr>
        <p:spPr>
          <a:xfrm>
            <a:off x="10471374" y="1900392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750BDA7-CC76-6CF6-14E4-0248ED6D3B4E}"/>
              </a:ext>
            </a:extLst>
          </p:cNvPr>
          <p:cNvSpPr/>
          <p:nvPr/>
        </p:nvSpPr>
        <p:spPr>
          <a:xfrm>
            <a:off x="11144554" y="5904047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02A79EB-B88C-72DD-E961-24B255C829F6}"/>
              </a:ext>
            </a:extLst>
          </p:cNvPr>
          <p:cNvSpPr/>
          <p:nvPr/>
        </p:nvSpPr>
        <p:spPr>
          <a:xfrm>
            <a:off x="10809790" y="1561053"/>
            <a:ext cx="334764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385656F6-314A-B756-5713-6D5A2952B3E4}"/>
              </a:ext>
            </a:extLst>
          </p:cNvPr>
          <p:cNvSpPr/>
          <p:nvPr/>
        </p:nvSpPr>
        <p:spPr>
          <a:xfrm>
            <a:off x="10547812" y="1561053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31644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3DF0-915B-6C5B-6107-D8A87AB1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F535E59-BF60-EE70-BCB1-DCF909FE6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62" y="1270351"/>
            <a:ext cx="11027275" cy="4877338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4890E-0B97-DC60-F975-0E372D9B0A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966227"/>
          </a:xfrm>
        </p:spPr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Validación de código de nivel - STVLEVL</a:t>
            </a:r>
          </a:p>
          <a:p>
            <a:endParaRPr lang="es-419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1CE397B-E033-83F7-F5E4-904B6E54FBD6}"/>
              </a:ext>
            </a:extLst>
          </p:cNvPr>
          <p:cNvSpPr/>
          <p:nvPr/>
        </p:nvSpPr>
        <p:spPr>
          <a:xfrm>
            <a:off x="10947119" y="5949966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B3E63662-F156-4FEE-8BBF-F55B6380958D}"/>
              </a:ext>
            </a:extLst>
          </p:cNvPr>
          <p:cNvSpPr/>
          <p:nvPr/>
        </p:nvSpPr>
        <p:spPr>
          <a:xfrm>
            <a:off x="1228023" y="1902430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360353DE-7846-EC19-0728-35093D44046C}"/>
              </a:ext>
            </a:extLst>
          </p:cNvPr>
          <p:cNvSpPr/>
          <p:nvPr/>
        </p:nvSpPr>
        <p:spPr>
          <a:xfrm>
            <a:off x="3318148" y="1900392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2E170386-8AE4-CF1F-0709-2815AD4B05B6}"/>
              </a:ext>
            </a:extLst>
          </p:cNvPr>
          <p:cNvSpPr/>
          <p:nvPr/>
        </p:nvSpPr>
        <p:spPr>
          <a:xfrm>
            <a:off x="10595955" y="1900392"/>
            <a:ext cx="169208" cy="1755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5ACC6-E6A2-E2ED-A692-32CB42814DBB}"/>
              </a:ext>
            </a:extLst>
          </p:cNvPr>
          <p:cNvSpPr/>
          <p:nvPr/>
        </p:nvSpPr>
        <p:spPr>
          <a:xfrm>
            <a:off x="11144554" y="5904047"/>
            <a:ext cx="515631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CDAE212-9B6C-AE12-E62E-D91657CF4C70}"/>
              </a:ext>
            </a:extLst>
          </p:cNvPr>
          <p:cNvSpPr/>
          <p:nvPr/>
        </p:nvSpPr>
        <p:spPr>
          <a:xfrm>
            <a:off x="10809790" y="1561053"/>
            <a:ext cx="334764" cy="2436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14FEDFC7-F142-F965-FA11-EF6A039A0C78}"/>
              </a:ext>
            </a:extLst>
          </p:cNvPr>
          <p:cNvSpPr/>
          <p:nvPr/>
        </p:nvSpPr>
        <p:spPr>
          <a:xfrm>
            <a:off x="10547812" y="1561053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935BF1F-7DD3-E703-E00C-7BA85273A037}"/>
              </a:ext>
            </a:extLst>
          </p:cNvPr>
          <p:cNvSpPr/>
          <p:nvPr/>
        </p:nvSpPr>
        <p:spPr>
          <a:xfrm>
            <a:off x="886833" y="3590816"/>
            <a:ext cx="10843871" cy="14624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sz="1100" dirty="0"/>
              <a:t>Página destinada a la creación de los niveles que se asociarán a los programas y asignaturas, los niveles son Pregrado, Posgrado, Doctorado, Licenciatura por nombrar algunos ejemplos</a:t>
            </a:r>
            <a:br>
              <a:rPr lang="es-ES" sz="1100" dirty="0"/>
            </a:br>
            <a:r>
              <a:rPr lang="es-ES" sz="1100" dirty="0"/>
              <a:t>1. </a:t>
            </a:r>
            <a:r>
              <a:rPr lang="es-ES_tradnl" sz="1100" dirty="0"/>
              <a:t>Debe presionar ‘+’  la creación del nuevo registro.</a:t>
            </a:r>
            <a:br>
              <a:rPr lang="es-ES" sz="1100" dirty="0"/>
            </a:br>
            <a:r>
              <a:rPr lang="es-ES" sz="1100" dirty="0"/>
              <a:t>2. Código de nivel: Código alfanumérico de 2 caracteres que representa el código definido para el nivel académico.</a:t>
            </a:r>
          </a:p>
          <a:p>
            <a:pPr algn="just"/>
            <a:r>
              <a:rPr lang="es-CL" sz="1100" dirty="0"/>
              <a:t>3. Descripción: Campo alfanumérico de hasta 30 caracteres que representa el nombre del nivel definido anteriormente.</a:t>
            </a:r>
          </a:p>
          <a:p>
            <a:pPr algn="just"/>
            <a:r>
              <a:rPr lang="es-CL" sz="1100" dirty="0"/>
              <a:t>4. Requerido por el sistema: Aplica para aquellos registros requeridos por el sistema.  En este caso aplica para el 00.</a:t>
            </a:r>
          </a:p>
          <a:p>
            <a:r>
              <a:rPr lang="es-CL" sz="1100" dirty="0"/>
              <a:t>5. </a:t>
            </a:r>
            <a:r>
              <a:rPr lang="es-ES_tradnl" sz="1100" dirty="0"/>
              <a:t>Finalmente se deben guardar todos los registros creados.</a:t>
            </a:r>
            <a:br>
              <a:rPr lang="es-CL" sz="1100" dirty="0"/>
            </a:br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969748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26FB-6E37-8C16-A244-3043D266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0C9D17-C5FA-253B-70F1-D9772D0E8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Diseñar y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académicos</a:t>
            </a:r>
            <a:endParaRPr lang="es-419" dirty="0"/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FE40CEEF-1E68-0FA4-B19E-85F73271CB81}"/>
              </a:ext>
            </a:extLst>
          </p:cNvPr>
          <p:cNvSpPr txBox="1">
            <a:spLocks/>
          </p:cNvSpPr>
          <p:nvPr/>
        </p:nvSpPr>
        <p:spPr>
          <a:xfrm>
            <a:off x="1068324" y="3670826"/>
            <a:ext cx="7092820" cy="7744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>
                <a:solidFill>
                  <a:schemeClr val="bg1"/>
                </a:solidFill>
              </a:rPr>
              <a:t>Configuración de </a:t>
            </a:r>
            <a:r>
              <a:rPr lang="es-ES" dirty="0">
                <a:solidFill>
                  <a:schemeClr val="bg1"/>
                </a:solidFill>
              </a:rPr>
              <a:t>carrera, concentración y especialidad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778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2CF5-7A90-8BE6-D706-F0B6ABAC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98CA01-F934-E855-64C6-749E34EE3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1409425"/>
          </a:xfrm>
        </p:spPr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Validación del código de carrera, especialidad, concentración - STVMAJR</a:t>
            </a:r>
          </a:p>
          <a:p>
            <a:endParaRPr lang="es-419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0AE056-62A3-7FA1-8539-BB1CFDDE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18926"/>
            <a:ext cx="10930128" cy="4874323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AF2E541-0A07-F64D-C9C9-3847E44A7DAA}"/>
              </a:ext>
            </a:extLst>
          </p:cNvPr>
          <p:cNvSpPr/>
          <p:nvPr/>
        </p:nvSpPr>
        <p:spPr>
          <a:xfrm>
            <a:off x="841248" y="4494657"/>
            <a:ext cx="10951447" cy="188912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carreras, concentraciones y especialidades vinculadas a los programas, es decir un </a:t>
            </a:r>
            <a:r>
              <a:rPr lang="es-ES" sz="1100" dirty="0" err="1"/>
              <a:t>Major</a:t>
            </a:r>
            <a:r>
              <a:rPr lang="es-ES" sz="1100" dirty="0"/>
              <a:t>, que se entiende como una </a:t>
            </a:r>
            <a:r>
              <a:rPr lang="es-MX" sz="1100" dirty="0"/>
              <a:t>estructura coherente de cursos que se inician con la introducción a los aspectos generales de un campo específico del saber y luego progresan hacia temas más avanzados. El proceso de creación o modificación es el siguiente:</a:t>
            </a:r>
            <a:r>
              <a:rPr lang="es-ES" sz="1100" dirty="0"/>
              <a:t> </a:t>
            </a:r>
            <a:br>
              <a:rPr lang="es-ES" sz="1100" dirty="0"/>
            </a:br>
            <a:r>
              <a:rPr lang="es-ES" sz="1100" dirty="0"/>
              <a:t>1.</a:t>
            </a:r>
            <a:r>
              <a:rPr lang="es-ES_tradnl" sz="1100" dirty="0"/>
              <a:t> Debe presionar ´+’ para la creación del nuevo registro.</a:t>
            </a:r>
            <a:br>
              <a:rPr lang="es-ES" sz="1100" dirty="0"/>
            </a:br>
            <a:r>
              <a:rPr lang="es-ES" sz="1100" dirty="0"/>
              <a:t>2. Código de carrera: Código alfanumérico de 04 caracteres, se crea el código de la carrera asociada al programa.</a:t>
            </a:r>
          </a:p>
          <a:p>
            <a:pPr algn="just"/>
            <a:r>
              <a:rPr lang="es-CL" sz="1100" dirty="0"/>
              <a:t>3. Descripción: Campo alfanumérico de hasta 30 caracteres que representa el nombre de la carrera creada.</a:t>
            </a:r>
            <a:endParaRPr lang="es-ES" sz="1100" dirty="0"/>
          </a:p>
          <a:p>
            <a:pPr algn="just"/>
            <a:r>
              <a:rPr lang="es-CL" sz="1100" dirty="0"/>
              <a:t>4. CIPC: No se utilizará.</a:t>
            </a:r>
            <a:endParaRPr lang="es-ES" sz="1100" dirty="0"/>
          </a:p>
          <a:p>
            <a:r>
              <a:rPr lang="es-CL" sz="1100" dirty="0"/>
              <a:t>5. Carrera: </a:t>
            </a:r>
            <a:r>
              <a:rPr lang="es-419" sz="1100" dirty="0"/>
              <a:t>Se marcará este cuadro para indicar las carreras que serán asociadas a un programa académico.</a:t>
            </a:r>
            <a:endParaRPr lang="es-CL" sz="1100" dirty="0"/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BE375179-88AD-401D-5520-F69F285ABE51}"/>
              </a:ext>
            </a:extLst>
          </p:cNvPr>
          <p:cNvSpPr/>
          <p:nvPr/>
        </p:nvSpPr>
        <p:spPr>
          <a:xfrm>
            <a:off x="10701990" y="1595403"/>
            <a:ext cx="168952" cy="18074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75D3B44E-C876-C531-FA6E-3B20237B94D3}"/>
              </a:ext>
            </a:extLst>
          </p:cNvPr>
          <p:cNvSpPr/>
          <p:nvPr/>
        </p:nvSpPr>
        <p:spPr>
          <a:xfrm>
            <a:off x="1365881" y="1946439"/>
            <a:ext cx="168952" cy="18074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7D088951-FDB8-C13D-BE4B-D596F91BEC2A}"/>
              </a:ext>
            </a:extLst>
          </p:cNvPr>
          <p:cNvSpPr/>
          <p:nvPr/>
        </p:nvSpPr>
        <p:spPr>
          <a:xfrm>
            <a:off x="2957055" y="1972773"/>
            <a:ext cx="168952" cy="18074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8" name="Rectángulo redondeado 15">
            <a:extLst>
              <a:ext uri="{FF2B5EF4-FFF2-40B4-BE49-F238E27FC236}">
                <a16:creationId xmlns:a16="http://schemas.microsoft.com/office/drawing/2014/main" id="{8E58AE1B-C789-2E53-6EBB-0CFD596B5E26}"/>
              </a:ext>
            </a:extLst>
          </p:cNvPr>
          <p:cNvSpPr/>
          <p:nvPr/>
        </p:nvSpPr>
        <p:spPr>
          <a:xfrm>
            <a:off x="3409802" y="1972375"/>
            <a:ext cx="168952" cy="18074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9" name="Rectángulo redondeado 15">
            <a:extLst>
              <a:ext uri="{FF2B5EF4-FFF2-40B4-BE49-F238E27FC236}">
                <a16:creationId xmlns:a16="http://schemas.microsoft.com/office/drawing/2014/main" id="{4FD460A4-B113-9E84-9A04-D2A52D861E08}"/>
              </a:ext>
            </a:extLst>
          </p:cNvPr>
          <p:cNvSpPr/>
          <p:nvPr/>
        </p:nvSpPr>
        <p:spPr>
          <a:xfrm>
            <a:off x="3862549" y="2036809"/>
            <a:ext cx="168952" cy="180740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74852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1D0E-FDC0-A09C-6BEA-D02F7C06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46FADA-8CCE-E5CE-E399-5BA8DE112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1409425"/>
          </a:xfrm>
        </p:spPr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Validación del código de carrera, especialidad, concentración - STVMAJR</a:t>
            </a:r>
          </a:p>
          <a:p>
            <a:endParaRPr lang="es-419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6078B6-0A83-44F7-4CC2-D6750674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18926"/>
            <a:ext cx="10930128" cy="4874323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DD0285F-8C63-98F8-D033-2497506F1B77}"/>
              </a:ext>
            </a:extLst>
          </p:cNvPr>
          <p:cNvSpPr/>
          <p:nvPr/>
        </p:nvSpPr>
        <p:spPr>
          <a:xfrm>
            <a:off x="699159" y="4468003"/>
            <a:ext cx="10793681" cy="123750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sz="1100" dirty="0"/>
              <a:t>6.   Especialidad: </a:t>
            </a:r>
            <a:r>
              <a:rPr lang="es-419" sz="1100" dirty="0"/>
              <a:t>Se marcará este cuadro para indicar que ese código de carrera se va a utilizar como especialidad para asociarlo a un programa académico.</a:t>
            </a:r>
            <a:endParaRPr lang="es-ES" sz="1100" dirty="0"/>
          </a:p>
          <a:p>
            <a:pPr algn="just"/>
            <a:r>
              <a:rPr lang="es-CL" sz="1100" dirty="0"/>
              <a:t>7.   Concentración: </a:t>
            </a:r>
            <a:r>
              <a:rPr lang="es-419" sz="1100" dirty="0"/>
              <a:t>Se puede utilizar como otra subdivisión para asociarlos un programa académico. (si el programa tiene cursos de énfasis se deben crear y poner el </a:t>
            </a:r>
            <a:r>
              <a:rPr lang="es-419" sz="1100" dirty="0" err="1"/>
              <a:t>check</a:t>
            </a:r>
            <a:r>
              <a:rPr lang="es-419" sz="1100" dirty="0"/>
              <a:t>) La concentración se utilizará para las líneas de énfasis</a:t>
            </a:r>
            <a:endParaRPr lang="es-419" sz="1100" dirty="0">
              <a:cs typeface="Arial"/>
            </a:endParaRPr>
          </a:p>
          <a:p>
            <a:pPr algn="just"/>
            <a:r>
              <a:rPr lang="es-CL" sz="1100" dirty="0"/>
              <a:t>8.   Ocupación: </a:t>
            </a:r>
            <a:r>
              <a:rPr lang="es-419" sz="1100" dirty="0"/>
              <a:t>Se puede utilizar para marcar la carrera como especifica de ocupación. No aplica</a:t>
            </a:r>
            <a:endParaRPr lang="es-ES" sz="1100" dirty="0"/>
          </a:p>
          <a:p>
            <a:r>
              <a:rPr lang="es-419" sz="1100" dirty="0"/>
              <a:t>9.   </a:t>
            </a:r>
            <a:r>
              <a:rPr lang="es-419" sz="1100" dirty="0" err="1"/>
              <a:t>Elegilidad</a:t>
            </a:r>
            <a:r>
              <a:rPr lang="es-419" sz="1100" dirty="0"/>
              <a:t> de ayuda financiera: número de mensaje de respuesta de voz y equivalente SEVIS  no se utilizarán en la configuración</a:t>
            </a:r>
            <a:endParaRPr lang="es-ES" sz="1100" dirty="0"/>
          </a:p>
          <a:p>
            <a:r>
              <a:rPr lang="es-ES" sz="1100" dirty="0"/>
              <a:t>10. Requerido por el sistema: </a:t>
            </a:r>
            <a:r>
              <a:rPr lang="es-CL" sz="1100" dirty="0"/>
              <a:t>Aplica para aquellos registros requeridos por el sistema.  En este caso aplica para el 0000.</a:t>
            </a:r>
          </a:p>
          <a:p>
            <a:r>
              <a:rPr lang="es-ES_tradnl" sz="1100" dirty="0"/>
              <a:t>11. Finalmente se deben guardar todos los registros creados.</a:t>
            </a:r>
            <a:endParaRPr lang="es-C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F2DAFFE3-D04E-3EDB-079C-7755CF65E2A0}"/>
              </a:ext>
            </a:extLst>
          </p:cNvPr>
          <p:cNvSpPr/>
          <p:nvPr/>
        </p:nvSpPr>
        <p:spPr>
          <a:xfrm>
            <a:off x="10928874" y="5977708"/>
            <a:ext cx="402368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11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3B110B1E-B6BB-6CDF-5461-46F5AF512FC1}"/>
              </a:ext>
            </a:extLst>
          </p:cNvPr>
          <p:cNvSpPr/>
          <p:nvPr/>
        </p:nvSpPr>
        <p:spPr>
          <a:xfrm>
            <a:off x="4297527" y="1949681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51CC5861-0736-6356-25A1-658B79CEA84F}"/>
              </a:ext>
            </a:extLst>
          </p:cNvPr>
          <p:cNvSpPr/>
          <p:nvPr/>
        </p:nvSpPr>
        <p:spPr>
          <a:xfrm>
            <a:off x="4952059" y="1949681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BDE1E204-66E9-999E-049F-C7391F17E0C3}"/>
              </a:ext>
            </a:extLst>
          </p:cNvPr>
          <p:cNvSpPr/>
          <p:nvPr/>
        </p:nvSpPr>
        <p:spPr>
          <a:xfrm>
            <a:off x="5859079" y="192421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063D6C87-AE61-71CF-11EC-1FF8C3986B51}"/>
              </a:ext>
            </a:extLst>
          </p:cNvPr>
          <p:cNvSpPr/>
          <p:nvPr/>
        </p:nvSpPr>
        <p:spPr>
          <a:xfrm>
            <a:off x="6913916" y="1912397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B2026D47-6CFE-353F-D8BB-276CCE7D6A4A}"/>
              </a:ext>
            </a:extLst>
          </p:cNvPr>
          <p:cNvSpPr/>
          <p:nvPr/>
        </p:nvSpPr>
        <p:spPr>
          <a:xfrm>
            <a:off x="11311613" y="1924218"/>
            <a:ext cx="360342" cy="19623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7200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63BE-468D-2DBC-67D7-DB06F3031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17E976-0806-9B4C-AFFE-9FF9FD7A7A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Diseñar y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académicos</a:t>
            </a:r>
            <a:endParaRPr lang="es-419" dirty="0"/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53112FAB-816F-99B2-B555-7F804900AE89}"/>
              </a:ext>
            </a:extLst>
          </p:cNvPr>
          <p:cNvSpPr txBox="1">
            <a:spLocks/>
          </p:cNvSpPr>
          <p:nvPr/>
        </p:nvSpPr>
        <p:spPr>
          <a:xfrm>
            <a:off x="1068324" y="3670826"/>
            <a:ext cx="7092820" cy="7744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>
                <a:solidFill>
                  <a:schemeClr val="bg1"/>
                </a:solidFill>
              </a:rPr>
              <a:t>Configuración de </a:t>
            </a:r>
            <a:r>
              <a:rPr lang="es-ES" dirty="0">
                <a:solidFill>
                  <a:schemeClr val="bg1"/>
                </a:solidFill>
              </a:rPr>
              <a:t>programas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094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A923-12AD-9CA7-92F5-CFECAC51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5783999-04B5-6F9F-AA0D-F4C013977D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Reglas de definición de programa SMAPRLE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95D54B5-24EC-0D84-02C3-7DF2FFD1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1474454"/>
            <a:ext cx="10335768" cy="4564197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E3F9574-ECE3-3B24-A574-10C67AFA7B55}"/>
              </a:ext>
            </a:extLst>
          </p:cNvPr>
          <p:cNvSpPr/>
          <p:nvPr/>
        </p:nvSpPr>
        <p:spPr>
          <a:xfrm>
            <a:off x="658368" y="3939856"/>
            <a:ext cx="10942482" cy="14436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sz="1100" dirty="0"/>
              <a:t>Página destinada a la creación de los programas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    Programa: </a:t>
            </a:r>
            <a:r>
              <a:rPr lang="es-ES" sz="1100" dirty="0"/>
              <a:t>Se crea el código del programa según la nomenclatura establecida (12 caracteres), dando clic en ‘+’. </a:t>
            </a:r>
          </a:p>
          <a:p>
            <a:pPr algn="just"/>
            <a:r>
              <a:rPr lang="es-CL" sz="1100" b="1" dirty="0"/>
              <a:t>2.     Descripción: </a:t>
            </a:r>
            <a:r>
              <a:rPr lang="es-CL" sz="1100" dirty="0"/>
              <a:t>Campo alfanumérico de hasta 30 caracteres que representa el nombre del programa creado.</a:t>
            </a:r>
            <a:endParaRPr lang="es-ES" sz="1100" dirty="0"/>
          </a:p>
          <a:p>
            <a:pPr algn="just"/>
            <a:r>
              <a:rPr lang="es-CL" sz="1100" b="1" dirty="0"/>
              <a:t>3.     Web</a:t>
            </a:r>
            <a:r>
              <a:rPr lang="es-CL" sz="1100" dirty="0"/>
              <a:t>: </a:t>
            </a:r>
            <a:r>
              <a:rPr lang="es-419" sz="1100" dirty="0"/>
              <a:t>Se marca para que el programa sea visible en el autoservicio del alumno</a:t>
            </a:r>
            <a:endParaRPr lang="es-ES" sz="1100" dirty="0"/>
          </a:p>
          <a:p>
            <a:r>
              <a:rPr lang="es-CL" sz="1100" b="1" dirty="0"/>
              <a:t>4.     Bloqueado: </a:t>
            </a:r>
            <a:r>
              <a:rPr lang="es-419" sz="1100" dirty="0"/>
              <a:t> Se actualiza automáticamente cuando se bloquea en SOACURR.</a:t>
            </a:r>
            <a:endParaRPr lang="es-CL" sz="1100" dirty="0"/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49A5EF19-646F-62CA-8208-D4E476FFE38A}"/>
              </a:ext>
            </a:extLst>
          </p:cNvPr>
          <p:cNvSpPr/>
          <p:nvPr/>
        </p:nvSpPr>
        <p:spPr>
          <a:xfrm>
            <a:off x="2267872" y="1833573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889152C3-75A8-1820-AB66-207AE791D979}"/>
              </a:ext>
            </a:extLst>
          </p:cNvPr>
          <p:cNvSpPr/>
          <p:nvPr/>
        </p:nvSpPr>
        <p:spPr>
          <a:xfrm>
            <a:off x="3507453" y="2039291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EE5D0919-AF13-7B88-90DF-834D3546219B}"/>
              </a:ext>
            </a:extLst>
          </p:cNvPr>
          <p:cNvSpPr/>
          <p:nvPr/>
        </p:nvSpPr>
        <p:spPr>
          <a:xfrm>
            <a:off x="1662263" y="2166979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7" name="Rectángulo redondeado 15">
            <a:extLst>
              <a:ext uri="{FF2B5EF4-FFF2-40B4-BE49-F238E27FC236}">
                <a16:creationId xmlns:a16="http://schemas.microsoft.com/office/drawing/2014/main" id="{430783DE-4564-2E75-84F6-BF62AA124096}"/>
              </a:ext>
            </a:extLst>
          </p:cNvPr>
          <p:cNvSpPr/>
          <p:nvPr/>
        </p:nvSpPr>
        <p:spPr>
          <a:xfrm>
            <a:off x="3095421" y="2182388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5573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A7F6-1640-446E-0E32-716137DF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48D865-18A3-79B9-0AC1-482D60B9B1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Reglas de definición de programa SMAPRLE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12A1473-9C9C-9EB8-3AED-23213205B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461362"/>
            <a:ext cx="10335768" cy="4564197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444E876-6151-8973-E222-272B4CD97407}"/>
              </a:ext>
            </a:extLst>
          </p:cNvPr>
          <p:cNvSpPr/>
          <p:nvPr/>
        </p:nvSpPr>
        <p:spPr>
          <a:xfrm>
            <a:off x="801103" y="3939856"/>
            <a:ext cx="10951447" cy="14436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los programas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5.     Reglas de currículum: </a:t>
            </a:r>
            <a:r>
              <a:rPr lang="es-ES" sz="1100" dirty="0"/>
              <a:t>Se actualiza automáticamente cuando se crea la regla de currícula en SOACURR</a:t>
            </a:r>
          </a:p>
          <a:p>
            <a:pPr algn="just"/>
            <a:r>
              <a:rPr lang="es-CL" sz="1100" b="1" dirty="0"/>
              <a:t>6.     Dependiente de currículum: </a:t>
            </a:r>
            <a:r>
              <a:rPr lang="es-ES" sz="1100" dirty="0"/>
              <a:t>Se activa de manera predefinida, se debe desmarcar cuando el programa a crear no tendrá regla curricular en SOACURR y se le asignará particularmente a un alumno en el campo ID</a:t>
            </a:r>
            <a:r>
              <a:rPr lang="es-CL" sz="1100" dirty="0"/>
              <a:t>.</a:t>
            </a:r>
            <a:endParaRPr lang="es-ES" sz="1100" dirty="0"/>
          </a:p>
          <a:p>
            <a:pPr algn="just"/>
            <a:r>
              <a:rPr lang="es-CL" sz="1100" b="1" dirty="0"/>
              <a:t>7.     Nivel de alumno</a:t>
            </a:r>
            <a:r>
              <a:rPr lang="es-CL" sz="1100" dirty="0"/>
              <a:t>: </a:t>
            </a:r>
            <a:r>
              <a:rPr lang="es-419" sz="1100" dirty="0"/>
              <a:t>Nivel académico del alumno que se inscriba al programa.</a:t>
            </a:r>
            <a:endParaRPr lang="es-ES" sz="1100" dirty="0"/>
          </a:p>
          <a:p>
            <a:r>
              <a:rPr lang="es-CL" sz="1100" b="1" dirty="0"/>
              <a:t>8.     Nivel de curso: </a:t>
            </a:r>
            <a:r>
              <a:rPr lang="es-419" sz="1100" dirty="0"/>
              <a:t> Nivel académico que tendrán los cursos.</a:t>
            </a:r>
            <a:endParaRPr lang="es-CL" sz="1100" dirty="0"/>
          </a:p>
        </p:txBody>
      </p:sp>
      <p:sp>
        <p:nvSpPr>
          <p:cNvPr id="3" name="Rectángulo redondeado 15">
            <a:extLst>
              <a:ext uri="{FF2B5EF4-FFF2-40B4-BE49-F238E27FC236}">
                <a16:creationId xmlns:a16="http://schemas.microsoft.com/office/drawing/2014/main" id="{C5AAE47B-2D7A-D5B0-56B9-96330BCEBA2F}"/>
              </a:ext>
            </a:extLst>
          </p:cNvPr>
          <p:cNvSpPr/>
          <p:nvPr/>
        </p:nvSpPr>
        <p:spPr>
          <a:xfrm>
            <a:off x="2775219" y="2329084"/>
            <a:ext cx="186548" cy="1507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4" name="Rectángulo redondeado 15">
            <a:extLst>
              <a:ext uri="{FF2B5EF4-FFF2-40B4-BE49-F238E27FC236}">
                <a16:creationId xmlns:a16="http://schemas.microsoft.com/office/drawing/2014/main" id="{FAF0E59D-BF89-0FB7-CFE9-0D2F5900DBE2}"/>
              </a:ext>
            </a:extLst>
          </p:cNvPr>
          <p:cNvSpPr/>
          <p:nvPr/>
        </p:nvSpPr>
        <p:spPr>
          <a:xfrm>
            <a:off x="4006398" y="2367438"/>
            <a:ext cx="186548" cy="1507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F9DE0545-291B-86F7-13BB-E8E8FACA03B3}"/>
              </a:ext>
            </a:extLst>
          </p:cNvPr>
          <p:cNvSpPr/>
          <p:nvPr/>
        </p:nvSpPr>
        <p:spPr>
          <a:xfrm>
            <a:off x="2229937" y="2518157"/>
            <a:ext cx="186548" cy="1507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E16E522D-34E3-9D73-4C48-C44ECE1D6365}"/>
              </a:ext>
            </a:extLst>
          </p:cNvPr>
          <p:cNvSpPr/>
          <p:nvPr/>
        </p:nvSpPr>
        <p:spPr>
          <a:xfrm>
            <a:off x="9111467" y="1928167"/>
            <a:ext cx="186548" cy="150719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8744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9371-483C-99B3-A1C7-3035901B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DB8EA9-3594-DBFD-E962-59D8E2DED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Reglas de definición de programa SMAPRLE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3CE301F-F4A3-B6A7-85DC-F7FDA8AF1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08" y="1461362"/>
            <a:ext cx="10335768" cy="4564197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1580E4B-1FAB-E112-CC21-C56A59D2EE4B}"/>
              </a:ext>
            </a:extLst>
          </p:cNvPr>
          <p:cNvSpPr/>
          <p:nvPr/>
        </p:nvSpPr>
        <p:spPr>
          <a:xfrm>
            <a:off x="720150" y="4581869"/>
            <a:ext cx="10924553" cy="14436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Página destinada a la creación de los programas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9.     Campus: </a:t>
            </a:r>
            <a:r>
              <a:rPr lang="es-ES" sz="1100" dirty="0"/>
              <a:t>Corresponde al campus del programa, se deja vacío y se define en SOACURR.</a:t>
            </a:r>
          </a:p>
          <a:p>
            <a:pPr algn="just"/>
            <a:r>
              <a:rPr lang="es-CL" sz="1100" b="1" dirty="0"/>
              <a:t>10.   Escuela: </a:t>
            </a:r>
            <a:r>
              <a:rPr lang="es-ES" sz="1100" dirty="0"/>
              <a:t>Se ingresa la facultad a la que está asociado el programa académico.</a:t>
            </a:r>
          </a:p>
          <a:p>
            <a:pPr algn="just"/>
            <a:r>
              <a:rPr lang="es-CL" sz="1100" b="1" dirty="0"/>
              <a:t>11    Grado</a:t>
            </a:r>
            <a:r>
              <a:rPr lang="es-CL" sz="1100" dirty="0"/>
              <a:t>: </a:t>
            </a:r>
            <a:r>
              <a:rPr lang="es-419" sz="1100" dirty="0"/>
              <a:t>Se ingresa el tipo de grado que va a otorgar el programa académico.</a:t>
            </a:r>
            <a:endParaRPr lang="es-ES" sz="1100" dirty="0"/>
          </a:p>
          <a:p>
            <a:r>
              <a:rPr lang="es-CL" sz="1100" b="1" dirty="0"/>
              <a:t>12.   Id: </a:t>
            </a:r>
            <a:r>
              <a:rPr lang="es-419" sz="1100" dirty="0"/>
              <a:t> </a:t>
            </a:r>
            <a:r>
              <a:rPr lang="es-ES" sz="1100" dirty="0"/>
              <a:t>Este campo solo se llena, en caso de que el programa académico se configure para un solo estudiante, ejemplo un plan curricular de doctorado diseñado para un alumno señalado</a:t>
            </a:r>
            <a:r>
              <a:rPr lang="es-419" sz="1100" dirty="0"/>
              <a:t>. </a:t>
            </a:r>
            <a:r>
              <a:rPr lang="es-ES" sz="1100" dirty="0"/>
              <a:t>Este campo se activa desmarcando la casilla dependiente de currículo.</a:t>
            </a:r>
            <a:endParaRPr lang="es-CL" sz="1100" dirty="0"/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EBE4C762-DD09-2E48-695A-BC49BB5AB3E8}"/>
              </a:ext>
            </a:extLst>
          </p:cNvPr>
          <p:cNvSpPr/>
          <p:nvPr/>
        </p:nvSpPr>
        <p:spPr>
          <a:xfrm>
            <a:off x="8127464" y="2027796"/>
            <a:ext cx="210113" cy="18636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37C97D9A-E7E5-F097-AFF4-179D18939238}"/>
              </a:ext>
            </a:extLst>
          </p:cNvPr>
          <p:cNvSpPr/>
          <p:nvPr/>
        </p:nvSpPr>
        <p:spPr>
          <a:xfrm>
            <a:off x="8893086" y="2315494"/>
            <a:ext cx="367576" cy="18636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11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6C76B112-6B88-EEB3-B529-D26E1D326CC4}"/>
              </a:ext>
            </a:extLst>
          </p:cNvPr>
          <p:cNvSpPr/>
          <p:nvPr/>
        </p:nvSpPr>
        <p:spPr>
          <a:xfrm>
            <a:off x="6256892" y="2214160"/>
            <a:ext cx="367576" cy="18636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14D92516-8AA6-0C39-2C19-52BBB2ED5606}"/>
              </a:ext>
            </a:extLst>
          </p:cNvPr>
          <p:cNvSpPr/>
          <p:nvPr/>
        </p:nvSpPr>
        <p:spPr>
          <a:xfrm>
            <a:off x="6390104" y="2493706"/>
            <a:ext cx="367576" cy="18636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87112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D4B47-40B3-87E1-203D-9D255511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BB9F25-10B3-B02F-5B72-7D5318AE96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Diseñar y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académicos</a:t>
            </a:r>
            <a:endParaRPr lang="es-419" dirty="0"/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99785322-8AA1-E128-1631-C0D24EABAAC6}"/>
              </a:ext>
            </a:extLst>
          </p:cNvPr>
          <p:cNvSpPr txBox="1">
            <a:spLocks/>
          </p:cNvSpPr>
          <p:nvPr/>
        </p:nvSpPr>
        <p:spPr>
          <a:xfrm>
            <a:off x="1068324" y="3670826"/>
            <a:ext cx="7092820" cy="7744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>
                <a:solidFill>
                  <a:schemeClr val="bg1"/>
                </a:solidFill>
              </a:rPr>
              <a:t>Crear regla curricular – Reglas de currículo base</a:t>
            </a:r>
          </a:p>
        </p:txBody>
      </p:sp>
    </p:spTree>
    <p:extLst>
      <p:ext uri="{BB962C8B-B14F-4D97-AF65-F5344CB8AC3E}">
        <p14:creationId xmlns:p14="http://schemas.microsoft.com/office/powerpoint/2010/main" val="614878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D187-F54B-AF0D-F147-B8003B64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62743-AFDD-C719-5548-383CD2F61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30" y="1060574"/>
            <a:ext cx="11659940" cy="4736851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385B1A7-09E4-C0E6-0A2A-8223BB8DBD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132" y="95338"/>
            <a:ext cx="11122188" cy="966227"/>
          </a:xfrm>
        </p:spPr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Reglas de currículo - SOACURR</a:t>
            </a:r>
          </a:p>
          <a:p>
            <a:endParaRPr lang="es-419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C2B1D7B-13B5-76CC-A6E0-FBEA95B3DD54}"/>
              </a:ext>
            </a:extLst>
          </p:cNvPr>
          <p:cNvSpPr/>
          <p:nvPr/>
        </p:nvSpPr>
        <p:spPr>
          <a:xfrm>
            <a:off x="719378" y="4038317"/>
            <a:ext cx="10951447" cy="157871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REGLAS DE CURRICULA BASE, Se define la relación entre el programa académico y la carrera, indicando el campus, período de inicio, paso a historia académica y plan de estudios.  Se inserta un registro por cada regla de currícula.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  Programa: </a:t>
            </a:r>
            <a:r>
              <a:rPr lang="es-ES" sz="1100" dirty="0"/>
              <a:t>Se ingresa el programa creado en SMAPRLE o se despliega de la lista de validación para seleccionarlo..</a:t>
            </a:r>
          </a:p>
          <a:p>
            <a:pPr algn="just"/>
            <a:r>
              <a:rPr lang="es-CL" sz="1100" b="1" dirty="0"/>
              <a:t>2.   Nivel, Escuela y Grado: </a:t>
            </a:r>
            <a:r>
              <a:rPr lang="es-ES" sz="1100" dirty="0"/>
              <a:t>Se completan automáticamente con los datos definidos en SMAPRLE-</a:t>
            </a:r>
          </a:p>
          <a:p>
            <a:pPr algn="just"/>
            <a:r>
              <a:rPr lang="es-CL" sz="1100" b="1" dirty="0"/>
              <a:t>3.   Campus</a:t>
            </a:r>
            <a:r>
              <a:rPr lang="es-CL" sz="1100" dirty="0"/>
              <a:t>: </a:t>
            </a:r>
            <a:r>
              <a:rPr lang="es-419" sz="1100" dirty="0"/>
              <a:t>Se ingresa el campus o sede donde se va a dictar el programa.</a:t>
            </a:r>
            <a:endParaRPr lang="es-ES" sz="1100" dirty="0"/>
          </a:p>
          <a:p>
            <a:pPr marL="228600" indent="-228600">
              <a:buAutoNum type="arabicPeriod" startAt="4"/>
            </a:pPr>
            <a:r>
              <a:rPr lang="es-CL" sz="1100" b="1" dirty="0"/>
              <a:t>Período de vigencia: </a:t>
            </a:r>
            <a:r>
              <a:rPr lang="es-419" sz="1100" dirty="0"/>
              <a:t> Se ingresa el período desde el cual el programa es vigente. (se ingresa 000000)</a:t>
            </a:r>
            <a:r>
              <a:rPr lang="es-ES" sz="1100" dirty="0"/>
              <a:t>.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ACAE2458-1036-6362-8220-ABE0432B2D8B}"/>
              </a:ext>
            </a:extLst>
          </p:cNvPr>
          <p:cNvSpPr/>
          <p:nvPr/>
        </p:nvSpPr>
        <p:spPr>
          <a:xfrm>
            <a:off x="1970966" y="2183930"/>
            <a:ext cx="184240" cy="1515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628A2733-A4FE-DBE8-F633-A9133DA96EFE}"/>
              </a:ext>
            </a:extLst>
          </p:cNvPr>
          <p:cNvSpPr/>
          <p:nvPr/>
        </p:nvSpPr>
        <p:spPr>
          <a:xfrm>
            <a:off x="2680451" y="2169960"/>
            <a:ext cx="184240" cy="1515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D7144929-9BC1-28F9-6E54-E8C5B36C3B16}"/>
              </a:ext>
            </a:extLst>
          </p:cNvPr>
          <p:cNvSpPr/>
          <p:nvPr/>
        </p:nvSpPr>
        <p:spPr>
          <a:xfrm>
            <a:off x="3271793" y="2173044"/>
            <a:ext cx="184240" cy="1515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AE0DDAAA-813C-1A54-3DB5-64E469F27F47}"/>
              </a:ext>
            </a:extLst>
          </p:cNvPr>
          <p:cNvSpPr/>
          <p:nvPr/>
        </p:nvSpPr>
        <p:spPr>
          <a:xfrm>
            <a:off x="5487696" y="2152689"/>
            <a:ext cx="184240" cy="1515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5574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502E-4C35-1358-D158-42B43FBDF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5F31CAF-E7F6-014D-E332-8C9D0C45E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30" y="1060574"/>
            <a:ext cx="11659940" cy="4736851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FC14503-AF58-D6EB-94A1-7A9DA3D334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132" y="95338"/>
            <a:ext cx="11122188" cy="966227"/>
          </a:xfrm>
        </p:spPr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Reglas de currículo - SOACURR</a:t>
            </a:r>
          </a:p>
          <a:p>
            <a:endParaRPr lang="es-419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48D16B0-7008-8130-D2F4-701E56EC49AD}"/>
              </a:ext>
            </a:extLst>
          </p:cNvPr>
          <p:cNvSpPr/>
          <p:nvPr/>
        </p:nvSpPr>
        <p:spPr>
          <a:xfrm>
            <a:off x="703181" y="4100423"/>
            <a:ext cx="10951447" cy="236569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REGLAS DE CURRICULA BASE, Se define la relación entre el programa académico y la carrera, indicando el campus, período de inicio, paso a historia académica y plan de estudios.  Se inserta un registro por cada regla de currícula.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5.   Principal: </a:t>
            </a:r>
            <a:r>
              <a:rPr lang="es-ES" sz="1100" dirty="0"/>
              <a:t>Se marca para que el registro de grado principal se creado en la página de otorgamientos institucionales.</a:t>
            </a:r>
          </a:p>
          <a:p>
            <a:pPr marL="228600" indent="-228600" algn="just">
              <a:buAutoNum type="arabicPeriod" startAt="6"/>
            </a:pPr>
            <a:r>
              <a:rPr lang="es-CL" sz="1100" b="1" dirty="0"/>
              <a:t>Secundario: </a:t>
            </a:r>
            <a:r>
              <a:rPr lang="es-ES" sz="1100" dirty="0"/>
              <a:t>Se marca para que el registro de grado secundario se creado en la página de otorgamientos institucionales .</a:t>
            </a:r>
          </a:p>
          <a:p>
            <a:pPr marL="228600" indent="-228600" algn="just">
              <a:buAutoNum type="arabicPeriod" startAt="6"/>
            </a:pPr>
            <a:r>
              <a:rPr lang="es-CL" sz="1100" b="1" dirty="0"/>
              <a:t>Bloqueado</a:t>
            </a:r>
            <a:r>
              <a:rPr lang="es-CL" sz="1100" dirty="0"/>
              <a:t>: </a:t>
            </a:r>
            <a:r>
              <a:rPr lang="es-419" sz="1100" dirty="0"/>
              <a:t>Se marca cuando el programa está definido  y se puede asignar a los estudiantes.</a:t>
            </a:r>
            <a:endParaRPr lang="es-ES" sz="1100" dirty="0"/>
          </a:p>
          <a:p>
            <a:pPr marL="228600" indent="-228600">
              <a:buAutoNum type="arabicPeriod" startAt="8"/>
            </a:pPr>
            <a:r>
              <a:rPr lang="es-CL" sz="1100" b="1" dirty="0"/>
              <a:t>Plan de estudios: </a:t>
            </a:r>
            <a:r>
              <a:rPr lang="es-419" sz="1100" dirty="0"/>
              <a:t> Se marca para indicar que el programa utilizará la funcionalidad de plan de estudios.</a:t>
            </a:r>
          </a:p>
          <a:p>
            <a:pPr marL="228600" indent="-228600">
              <a:buFontTx/>
              <a:buAutoNum type="arabicPeriod" startAt="8"/>
            </a:pPr>
            <a:r>
              <a:rPr lang="es-ES" sz="1100" b="1" dirty="0"/>
              <a:t>Permitir que se realicen cambios en el periodo inscrito: </a:t>
            </a:r>
            <a:r>
              <a:rPr lang="es-ES" sz="1100" dirty="0"/>
              <a:t>Autoriza modificaciones curriculares sobre estudiantes con inscripción activa en el período. Configuración requerida para determinados procesos e integraciones mediante APIs nativas de Banner.</a:t>
            </a:r>
          </a:p>
          <a:p>
            <a:pPr marL="228600" indent="-228600">
              <a:buFontTx/>
              <a:buAutoNum type="arabicPeriod" startAt="8"/>
            </a:pPr>
            <a:r>
              <a:rPr lang="es-ES" sz="1100" b="1" dirty="0"/>
              <a:t>Permitir transferir en: </a:t>
            </a:r>
            <a:r>
              <a:rPr lang="es-ES" sz="1100" dirty="0"/>
              <a:t>Autoriza que esta regla curricular pueda utilizarse como destino en procesos de transferencia o cambio curricular. Configuración requerida para determinados procesos e integraciones mediante APIs nativas de Banner.</a:t>
            </a:r>
            <a:endParaRPr lang="es-CL" sz="1100" dirty="0"/>
          </a:p>
        </p:txBody>
      </p:sp>
      <p:sp>
        <p:nvSpPr>
          <p:cNvPr id="3" name="Rectángulo redondeado 15">
            <a:extLst>
              <a:ext uri="{FF2B5EF4-FFF2-40B4-BE49-F238E27FC236}">
                <a16:creationId xmlns:a16="http://schemas.microsoft.com/office/drawing/2014/main" id="{E88C8C6E-5CFC-3DD0-CD98-C594D9767DF8}"/>
              </a:ext>
            </a:extLst>
          </p:cNvPr>
          <p:cNvSpPr/>
          <p:nvPr/>
        </p:nvSpPr>
        <p:spPr>
          <a:xfrm>
            <a:off x="9301168" y="2197116"/>
            <a:ext cx="181011" cy="17057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443964E5-4E0A-6D94-56FC-48F5FB510838}"/>
              </a:ext>
            </a:extLst>
          </p:cNvPr>
          <p:cNvSpPr/>
          <p:nvPr/>
        </p:nvSpPr>
        <p:spPr>
          <a:xfrm>
            <a:off x="7574835" y="2197117"/>
            <a:ext cx="181011" cy="17057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11B2E5E6-CB9A-D165-5FB2-18559B53CF19}"/>
              </a:ext>
            </a:extLst>
          </p:cNvPr>
          <p:cNvSpPr/>
          <p:nvPr/>
        </p:nvSpPr>
        <p:spPr>
          <a:xfrm>
            <a:off x="6704924" y="2227978"/>
            <a:ext cx="181011" cy="17057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3" name="Rectángulo redondeado 15">
            <a:extLst>
              <a:ext uri="{FF2B5EF4-FFF2-40B4-BE49-F238E27FC236}">
                <a16:creationId xmlns:a16="http://schemas.microsoft.com/office/drawing/2014/main" id="{5946BA34-4D68-3670-F33B-336C49852D70}"/>
              </a:ext>
            </a:extLst>
          </p:cNvPr>
          <p:cNvSpPr/>
          <p:nvPr/>
        </p:nvSpPr>
        <p:spPr>
          <a:xfrm>
            <a:off x="8473303" y="2175345"/>
            <a:ext cx="181011" cy="17057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1C6991C5-DC38-970D-A73B-1C9C8C8D863A}"/>
              </a:ext>
            </a:extLst>
          </p:cNvPr>
          <p:cNvSpPr/>
          <p:nvPr/>
        </p:nvSpPr>
        <p:spPr>
          <a:xfrm>
            <a:off x="10603704" y="2345922"/>
            <a:ext cx="181011" cy="17057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B70BFE90-1EBA-6671-B5D2-795F84C93F92}"/>
              </a:ext>
            </a:extLst>
          </p:cNvPr>
          <p:cNvSpPr/>
          <p:nvPr/>
        </p:nvSpPr>
        <p:spPr>
          <a:xfrm>
            <a:off x="11137084" y="2175345"/>
            <a:ext cx="373236" cy="17057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06457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E9B6-BCE2-5BDB-CD25-E6A88CB1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A7877C-2969-9D79-3A7C-34D0402473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Diseñar y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académicos</a:t>
            </a:r>
            <a:endParaRPr lang="es-419" dirty="0"/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C80EB990-2683-D596-8F79-DB2A218BF9FE}"/>
              </a:ext>
            </a:extLst>
          </p:cNvPr>
          <p:cNvSpPr txBox="1">
            <a:spLocks/>
          </p:cNvSpPr>
          <p:nvPr/>
        </p:nvSpPr>
        <p:spPr>
          <a:xfrm>
            <a:off x="1068324" y="3670826"/>
            <a:ext cx="7092820" cy="7744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>
                <a:solidFill>
                  <a:schemeClr val="bg1"/>
                </a:solidFill>
              </a:rPr>
              <a:t>Crear regla curricular – Carreras y Departamentos</a:t>
            </a:r>
          </a:p>
        </p:txBody>
      </p:sp>
    </p:spTree>
    <p:extLst>
      <p:ext uri="{BB962C8B-B14F-4D97-AF65-F5344CB8AC3E}">
        <p14:creationId xmlns:p14="http://schemas.microsoft.com/office/powerpoint/2010/main" val="2023393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F2A5-CB4D-724F-621D-33E38BE1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0316D0-051F-BE68-560D-ADB076F72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132" y="95338"/>
            <a:ext cx="11122188" cy="966227"/>
          </a:xfrm>
        </p:spPr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Reglas de currículo - SOACURR</a:t>
            </a:r>
          </a:p>
          <a:p>
            <a:endParaRPr lang="es-419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E001B6-B920-7421-0EDF-3CCA37BA2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3" y="905256"/>
            <a:ext cx="10998935" cy="4861598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7D57418-3571-3407-0BE6-157656329DDF}"/>
              </a:ext>
            </a:extLst>
          </p:cNvPr>
          <p:cNvSpPr/>
          <p:nvPr/>
        </p:nvSpPr>
        <p:spPr>
          <a:xfrm>
            <a:off x="552161" y="4236003"/>
            <a:ext cx="10834906" cy="14436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CARRERAS Y DEPARTAMENTOS, Se define la relación entre el programa académico y la carrera.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1.   Carrera: </a:t>
            </a:r>
            <a:r>
              <a:rPr lang="es-ES" sz="1100" dirty="0"/>
              <a:t>S</a:t>
            </a:r>
            <a:r>
              <a:rPr lang="es-419" sz="1100" dirty="0"/>
              <a:t>e ingresa el código de Carrera desde STVMAJR que le corresponda.</a:t>
            </a:r>
            <a:endParaRPr lang="es-ES" sz="1100" dirty="0"/>
          </a:p>
          <a:p>
            <a:pPr algn="just"/>
            <a:r>
              <a:rPr lang="es-CL" sz="1100" b="1" dirty="0"/>
              <a:t>2.   Departamento: </a:t>
            </a:r>
            <a:r>
              <a:rPr lang="es-ES" sz="1100" dirty="0"/>
              <a:t>Se ingresa el código del departamento al que está asociado el programa y la carrera si aplica. </a:t>
            </a:r>
          </a:p>
          <a:p>
            <a:pPr algn="just"/>
            <a:r>
              <a:rPr lang="es-CL" sz="1100" b="1" dirty="0"/>
              <a:t>3.   </a:t>
            </a:r>
            <a:r>
              <a:rPr lang="es-419" sz="1100" dirty="0"/>
              <a:t>Se marcan los procesos para los cuales va a estar activa la carrera; </a:t>
            </a:r>
            <a:r>
              <a:rPr lang="es-419" sz="1100" b="1" dirty="0"/>
              <a:t>marcar reclutamiento, admisiones, general de alumnos, historia académica, CAPP</a:t>
            </a:r>
            <a:r>
              <a:rPr lang="es-419" sz="1100" dirty="0"/>
              <a:t>.</a:t>
            </a:r>
            <a:endParaRPr lang="es-ES" sz="1100" dirty="0"/>
          </a:p>
          <a:p>
            <a:r>
              <a:rPr lang="es-CL" sz="1100" b="1" dirty="0"/>
              <a:t>4.   </a:t>
            </a:r>
            <a:r>
              <a:rPr lang="es-419" sz="1100" b="1" dirty="0"/>
              <a:t>Desplegar en autoservicio</a:t>
            </a:r>
            <a:r>
              <a:rPr lang="es-419" sz="1100" dirty="0"/>
              <a:t>: Se marca</a:t>
            </a:r>
            <a:r>
              <a:rPr lang="es-419" sz="1100" b="1" dirty="0"/>
              <a:t> </a:t>
            </a:r>
            <a:r>
              <a:rPr lang="es-419" sz="1100" dirty="0"/>
              <a:t>y se puede ingresar una descripción de 60 caracteres con el nombre del programa que se vera en autoservicio.</a:t>
            </a:r>
            <a:endParaRPr lang="es-CL" sz="1100" dirty="0"/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6797FBD4-786D-E801-2E9F-C74F957C6BFC}"/>
              </a:ext>
            </a:extLst>
          </p:cNvPr>
          <p:cNvSpPr/>
          <p:nvPr/>
        </p:nvSpPr>
        <p:spPr>
          <a:xfrm>
            <a:off x="1148942" y="2851143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E6C575D2-9A49-2556-E3B8-399A89A25357}"/>
              </a:ext>
            </a:extLst>
          </p:cNvPr>
          <p:cNvSpPr/>
          <p:nvPr/>
        </p:nvSpPr>
        <p:spPr>
          <a:xfrm>
            <a:off x="3450602" y="2851143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CDFAF6BD-BDF3-6639-35E2-01CCEC57B2F4}"/>
              </a:ext>
            </a:extLst>
          </p:cNvPr>
          <p:cNvSpPr/>
          <p:nvPr/>
        </p:nvSpPr>
        <p:spPr>
          <a:xfrm>
            <a:off x="6304400" y="2851143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5" name="Rectángulo redondeado 15">
            <a:extLst>
              <a:ext uri="{FF2B5EF4-FFF2-40B4-BE49-F238E27FC236}">
                <a16:creationId xmlns:a16="http://schemas.microsoft.com/office/drawing/2014/main" id="{87F6EF0D-D7FB-6786-FDD8-6F3C5BE855B3}"/>
              </a:ext>
            </a:extLst>
          </p:cNvPr>
          <p:cNvSpPr/>
          <p:nvPr/>
        </p:nvSpPr>
        <p:spPr>
          <a:xfrm>
            <a:off x="1257617" y="3345112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11302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8C57-870E-2F95-FB48-7B22732D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7D74A6-94BF-C96F-9269-087B6CD89F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Diseñar y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académicos</a:t>
            </a:r>
            <a:endParaRPr lang="es-419" dirty="0"/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0B1C364C-F42D-0084-452B-8CF1D7E32C2F}"/>
              </a:ext>
            </a:extLst>
          </p:cNvPr>
          <p:cNvSpPr txBox="1">
            <a:spLocks/>
          </p:cNvSpPr>
          <p:nvPr/>
        </p:nvSpPr>
        <p:spPr>
          <a:xfrm>
            <a:off x="1068324" y="3670826"/>
            <a:ext cx="7092820" cy="7744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>
                <a:solidFill>
                  <a:schemeClr val="bg1"/>
                </a:solidFill>
              </a:rPr>
              <a:t>Crear regla curricular – Concentraciones dependientes de carrera y control de módulo</a:t>
            </a:r>
          </a:p>
        </p:txBody>
      </p:sp>
    </p:spTree>
    <p:extLst>
      <p:ext uri="{BB962C8B-B14F-4D97-AF65-F5344CB8AC3E}">
        <p14:creationId xmlns:p14="http://schemas.microsoft.com/office/powerpoint/2010/main" val="2738530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E26B0-09E6-58C1-37C9-FCE3F5E7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8B746-F5C6-9F53-32F0-577319DC7E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132" y="95338"/>
            <a:ext cx="11122188" cy="966227"/>
          </a:xfrm>
        </p:spPr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Reglas de currículo - SOACURR</a:t>
            </a:r>
          </a:p>
          <a:p>
            <a:endParaRPr lang="es-419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377A61-4654-082B-E341-86CD3DB7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6998"/>
            <a:ext cx="11402408" cy="5191396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7342CA0-9663-430F-8AFA-2AA6CB8F81D7}"/>
              </a:ext>
            </a:extLst>
          </p:cNvPr>
          <p:cNvSpPr/>
          <p:nvPr/>
        </p:nvSpPr>
        <p:spPr>
          <a:xfrm>
            <a:off x="548640" y="4281723"/>
            <a:ext cx="10888695" cy="14436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sz="1100" dirty="0"/>
              <a:t>Bloque 1.- Detalles de Concentración, se definen las áreas de concentración para el programa.</a:t>
            </a:r>
            <a:br>
              <a:rPr lang="es-ES" sz="1100" b="1" dirty="0"/>
            </a:br>
            <a:br>
              <a:rPr lang="es-ES" sz="1100" b="1" dirty="0"/>
            </a:br>
            <a:r>
              <a:rPr lang="es-ES" sz="1100" b="1" dirty="0"/>
              <a:t>2.</a:t>
            </a:r>
            <a:r>
              <a:rPr lang="es-ES" sz="1100" dirty="0"/>
              <a:t>-</a:t>
            </a:r>
            <a:r>
              <a:rPr lang="es-ES" sz="1100" b="1" dirty="0"/>
              <a:t> Concentraciones: </a:t>
            </a:r>
            <a:r>
              <a:rPr lang="es-ES" sz="1100" dirty="0"/>
              <a:t>S</a:t>
            </a:r>
            <a:r>
              <a:rPr lang="es-419" sz="1100" dirty="0" err="1"/>
              <a:t>e</a:t>
            </a:r>
            <a:r>
              <a:rPr lang="es-419" sz="1100" dirty="0"/>
              <a:t> agrega la concentración, que son equivalentes a los énfasis de los programas. </a:t>
            </a:r>
          </a:p>
          <a:p>
            <a:r>
              <a:rPr lang="es-419" sz="1100" dirty="0"/>
              <a:t>3.- </a:t>
            </a:r>
            <a:r>
              <a:rPr lang="es-419" sz="1100" b="1" dirty="0"/>
              <a:t>Procesos</a:t>
            </a:r>
            <a:r>
              <a:rPr lang="es-419" sz="1100" dirty="0"/>
              <a:t> en los cuales va a estar activa la concentración (ejemplo: general de alumnos, historia académica)</a:t>
            </a:r>
            <a:endParaRPr lang="es-ES" sz="1100" dirty="0"/>
          </a:p>
          <a:p>
            <a:pPr algn="just"/>
            <a:endParaRPr lang="es-CL" sz="1100" dirty="0"/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C24C0768-68CC-CA29-DDA8-8E91256CEA47}"/>
              </a:ext>
            </a:extLst>
          </p:cNvPr>
          <p:cNvSpPr/>
          <p:nvPr/>
        </p:nvSpPr>
        <p:spPr>
          <a:xfrm>
            <a:off x="2323590" y="2710657"/>
            <a:ext cx="157848" cy="1748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1" name="Rectángulo redondeado 15">
            <a:extLst>
              <a:ext uri="{FF2B5EF4-FFF2-40B4-BE49-F238E27FC236}">
                <a16:creationId xmlns:a16="http://schemas.microsoft.com/office/drawing/2014/main" id="{ACAA4A95-F5CA-03FB-F813-256B6A9E8E93}"/>
              </a:ext>
            </a:extLst>
          </p:cNvPr>
          <p:cNvSpPr/>
          <p:nvPr/>
        </p:nvSpPr>
        <p:spPr>
          <a:xfrm>
            <a:off x="2009265" y="3221645"/>
            <a:ext cx="157848" cy="1748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59DAFFCC-6F0E-6301-C25E-A53ED6BD212D}"/>
              </a:ext>
            </a:extLst>
          </p:cNvPr>
          <p:cNvSpPr/>
          <p:nvPr/>
        </p:nvSpPr>
        <p:spPr>
          <a:xfrm>
            <a:off x="4685469" y="3221644"/>
            <a:ext cx="157848" cy="1748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21904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86B9-1936-FA8B-A2F7-529FB345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E2A176C-3C99-83F5-1E70-6985C76BF6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132" y="95338"/>
            <a:ext cx="11122188" cy="966227"/>
          </a:xfrm>
        </p:spPr>
        <p:txBody>
          <a:bodyPr/>
          <a:lstStyle/>
          <a:p>
            <a:r>
              <a:rPr lang="es-419" dirty="0"/>
              <a:t>Configurar: </a:t>
            </a:r>
            <a:r>
              <a:rPr lang="es-CO" dirty="0"/>
              <a:t>Reglas de currículo - SOACURR</a:t>
            </a:r>
          </a:p>
          <a:p>
            <a:endParaRPr lang="es-419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D60D57A-51AD-D1DC-2CB0-259960089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32" y="812188"/>
            <a:ext cx="11694357" cy="5233624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3CE9DCC-25E4-4F36-2B1E-0E0D84B93852}"/>
              </a:ext>
            </a:extLst>
          </p:cNvPr>
          <p:cNvSpPr/>
          <p:nvPr/>
        </p:nvSpPr>
        <p:spPr>
          <a:xfrm>
            <a:off x="215887" y="4171995"/>
            <a:ext cx="10951447" cy="14436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/>
              <a:t>PESTAÑA CONTROL DEL MÓDULO</a:t>
            </a:r>
            <a:br>
              <a:rPr lang="es-ES" sz="1100" b="1" dirty="0"/>
            </a:br>
            <a:r>
              <a:rPr lang="es-ES" sz="1100" b="1" dirty="0"/>
              <a:t>1.-Módulos </a:t>
            </a:r>
            <a:r>
              <a:rPr lang="es-ES" sz="1100" dirty="0"/>
              <a:t>Se puede </a:t>
            </a:r>
            <a:r>
              <a:rPr lang="es-419" sz="1100" dirty="0"/>
              <a:t>Activar o Desactivar cada uno de los procesos necesarios, estos mismo se verán reflejados en las pestañas de carrera y concentraciones.</a:t>
            </a:r>
            <a:endParaRPr lang="es-CL" sz="1100" dirty="0"/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D2B108AD-C64E-F7D9-5C18-90E898FD2E65}"/>
              </a:ext>
            </a:extLst>
          </p:cNvPr>
          <p:cNvSpPr/>
          <p:nvPr/>
        </p:nvSpPr>
        <p:spPr>
          <a:xfrm>
            <a:off x="2328645" y="2688335"/>
            <a:ext cx="217351" cy="205444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26D041-D505-D76A-8B99-40E89E46B1AD}"/>
              </a:ext>
            </a:extLst>
          </p:cNvPr>
          <p:cNvSpPr/>
          <p:nvPr/>
        </p:nvSpPr>
        <p:spPr>
          <a:xfrm>
            <a:off x="305222" y="2507361"/>
            <a:ext cx="1934086" cy="158115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2938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5B1C64-3CB4-F91B-623A-F3908DE24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Resumen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253A40-4C1B-950E-34C1-36BCD0A678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dirty="0"/>
              <a:t>Diseñar y crear los programas académicos</a:t>
            </a:r>
          </a:p>
        </p:txBody>
      </p:sp>
    </p:spTree>
    <p:extLst>
      <p:ext uri="{BB962C8B-B14F-4D97-AF65-F5344CB8AC3E}">
        <p14:creationId xmlns:p14="http://schemas.microsoft.com/office/powerpoint/2010/main" val="1295437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9F6902-A436-6590-65FB-46E769F24E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/>
              <a:t>Resumen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535417A-C6CA-C289-6785-27779F7A55C8}"/>
              </a:ext>
            </a:extLst>
          </p:cNvPr>
          <p:cNvSpPr txBox="1">
            <a:spLocks/>
          </p:cNvSpPr>
          <p:nvPr/>
        </p:nvSpPr>
        <p:spPr>
          <a:xfrm>
            <a:off x="522515" y="1213237"/>
            <a:ext cx="10624467" cy="39796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419" sz="2000"/>
              <a:t>Diseñar y crear los programas académicos: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L"/>
              <a:t>Todo programa tendrá una codificación establecida por la institución con sus características definidas en cuanto a Escuela, Grado y Nivel.</a:t>
            </a:r>
            <a:endParaRPr lang="es-419"/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L"/>
              <a:t>Al crear un campo de estudio, tendrá una codificación establecida por la institución, la cual se asociará al programa, como carrera, concentración o especialidad, a través de la regla curricular. 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L"/>
              <a:t>Al crear la regla curricular del programa, se define el período de inicio de operación del programa y los campus o sedes en que se impartirá.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L"/>
              <a:t>En la regla de curriculum cada Programa, e incluso a nivel de carrera, concentración y especialidad, se debe activar para uno o varios de los siguientes procesos: Admisiones, gestión del alumno, historia académica y evaluación de grado.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18301041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  -  Read-Only" id="{F4D757E7-3114-4C8F-9950-97785E4EE6CC}" vid="{D25AB14E-5FB9-4D56-95F9-7C8720217562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  -  Read-Only" id="{F4D757E7-3114-4C8F-9950-97785E4EE6CC}" vid="{7FF827A8-C46A-4566-99A6-5F934CCE2EB3}"/>
    </a:ext>
  </a:extLst>
</a:theme>
</file>

<file path=ppt/theme/theme3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Ellucian-PPT-Template-2025-V5</Template>
  <TotalTime>2558</TotalTime>
  <Words>2557</Words>
  <Application>Microsoft Office PowerPoint</Application>
  <PresentationFormat>Widescreen</PresentationFormat>
  <Paragraphs>212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Aptos</vt:lpstr>
      <vt:lpstr>Aptos Display</vt:lpstr>
      <vt:lpstr>Arial</vt:lpstr>
      <vt:lpstr>Courier New</vt:lpstr>
      <vt:lpstr>Helvetica Neue</vt:lpstr>
      <vt:lpstr>Segoe UI</vt:lpstr>
      <vt:lpstr>Wingdings</vt:lpstr>
      <vt:lpstr>Ellucian Main Layouts</vt:lpstr>
      <vt:lpstr>Ellucian Blank Layouts</vt:lpstr>
      <vt:lpstr>1_Ellucian Main Layouts</vt:lpstr>
      <vt:lpstr>1_Ellucian Blank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Karyn</dc:creator>
  <cp:lastModifiedBy>Molina, Sergio</cp:lastModifiedBy>
  <cp:revision>6</cp:revision>
  <dcterms:created xsi:type="dcterms:W3CDTF">2025-12-05T19:34:14Z</dcterms:created>
  <dcterms:modified xsi:type="dcterms:W3CDTF">2026-06-10T23:48:52Z</dcterms:modified>
</cp:coreProperties>
</file>
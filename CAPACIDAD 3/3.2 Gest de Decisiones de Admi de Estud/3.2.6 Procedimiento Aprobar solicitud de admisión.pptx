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1" r:id="rId2"/>
  </p:sldMasterIdLst>
  <p:notesMasterIdLst>
    <p:notesMasterId r:id="rId35"/>
  </p:notesMasterIdLst>
  <p:sldIdLst>
    <p:sldId id="563" r:id="rId3"/>
    <p:sldId id="423" r:id="rId4"/>
    <p:sldId id="476" r:id="rId5"/>
    <p:sldId id="622" r:id="rId6"/>
    <p:sldId id="349" r:id="rId7"/>
    <p:sldId id="350" r:id="rId8"/>
    <p:sldId id="421" r:id="rId9"/>
    <p:sldId id="352" r:id="rId10"/>
    <p:sldId id="469" r:id="rId11"/>
    <p:sldId id="564" r:id="rId12"/>
    <p:sldId id="513" r:id="rId13"/>
    <p:sldId id="538" r:id="rId14"/>
    <p:sldId id="540" r:id="rId15"/>
    <p:sldId id="621" r:id="rId16"/>
    <p:sldId id="543" r:id="rId17"/>
    <p:sldId id="550" r:id="rId18"/>
    <p:sldId id="552" r:id="rId19"/>
    <p:sldId id="551" r:id="rId20"/>
    <p:sldId id="542" r:id="rId21"/>
    <p:sldId id="545" r:id="rId22"/>
    <p:sldId id="546" r:id="rId23"/>
    <p:sldId id="554" r:id="rId24"/>
    <p:sldId id="555" r:id="rId25"/>
    <p:sldId id="556" r:id="rId26"/>
    <p:sldId id="547" r:id="rId27"/>
    <p:sldId id="548" r:id="rId28"/>
    <p:sldId id="549" r:id="rId29"/>
    <p:sldId id="557" r:id="rId30"/>
    <p:sldId id="558" r:id="rId31"/>
    <p:sldId id="559" r:id="rId32"/>
    <p:sldId id="345" r:id="rId33"/>
    <p:sldId id="62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140CBF-F887-497D-82F8-74C64A5C166A}" v="1" dt="2026-04-14T16:31:18.92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34" autoAdjust="0"/>
    <p:restoredTop sz="94660"/>
  </p:normalViewPr>
  <p:slideViewPr>
    <p:cSldViewPr snapToGrid="0">
      <p:cViewPr varScale="1">
        <p:scale>
          <a:sx n="111" d="100"/>
          <a:sy n="111" d="100"/>
        </p:scale>
        <p:origin x="606" y="9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14-04-2026</a:t>
            </a:fld>
            <a:endParaRPr lang="es-CL"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a:t>
            </a:fld>
            <a:endParaRPr lang="es-CL" dirty="0"/>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546348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117865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144534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903126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2759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595206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388658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3376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970510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1463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818311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971689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687285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165171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31043931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4288432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5414821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1230806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7317060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833616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1101902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9220681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1126770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7349000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5492858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201341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982346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5163036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6365150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0537983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182669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8888477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9000097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7433711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1080530718"/>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a:t>
            </a:fld>
            <a:endParaRPr lang="es-CL" dirty="0"/>
          </a:p>
        </p:txBody>
      </p:sp>
    </p:spTree>
    <p:extLst>
      <p:ext uri="{BB962C8B-B14F-4D97-AF65-F5344CB8AC3E}">
        <p14:creationId xmlns:p14="http://schemas.microsoft.com/office/powerpoint/2010/main" val="963746946"/>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a:t>
            </a:fld>
            <a:endParaRPr lang="es-CL" dirty="0"/>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1278583074"/>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622170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496186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97888404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1274075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9576691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49263402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45730008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74375000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96526902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25323311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69312560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4327485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69616845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9315393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07444795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79316606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85320063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63975096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93448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sv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18" Type="http://schemas.openxmlformats.org/officeDocument/2006/relationships/slideLayout" Target="../slideLayouts/slideLayout5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slideLayout" Target="../slideLayouts/slideLayout54.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20" Type="http://schemas.openxmlformats.org/officeDocument/2006/relationships/theme" Target="../theme/theme2.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10" Type="http://schemas.openxmlformats.org/officeDocument/2006/relationships/slideLayout" Target="../slideLayouts/slideLayout47.xml"/><Relationship Id="rId19" Type="http://schemas.openxmlformats.org/officeDocument/2006/relationships/slideLayout" Target="../slideLayouts/slideLayout56.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60292516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7092058"/>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 id="2147483770"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sv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0"/>
          </p:nvPr>
        </p:nvSpPr>
        <p:spPr>
          <a:xfrm>
            <a:off x="556902" y="2249757"/>
            <a:ext cx="5427132" cy="1222707"/>
          </a:xfrm>
        </p:spPr>
        <p:txBody>
          <a:bodyPr/>
          <a:lstStyle/>
          <a:p>
            <a:r>
              <a:rPr lang="es-419" sz="4400" dirty="0"/>
              <a:t>Evaluar solicitudes de admisión</a:t>
            </a:r>
            <a:endParaRPr lang="es-CL" sz="4400" dirty="0"/>
          </a:p>
        </p:txBody>
      </p:sp>
      <p:sp>
        <p:nvSpPr>
          <p:cNvPr id="4" name="Marcador de texto 3">
            <a:extLst>
              <a:ext uri="{FF2B5EF4-FFF2-40B4-BE49-F238E27FC236}">
                <a16:creationId xmlns:a16="http://schemas.microsoft.com/office/drawing/2014/main" id="{A1EF17AF-28D3-D529-32AF-17D3B44889E9}"/>
              </a:ext>
            </a:extLst>
          </p:cNvPr>
          <p:cNvSpPr>
            <a:spLocks noGrp="1"/>
          </p:cNvSpPr>
          <p:nvPr>
            <p:ph type="body" sz="quarter" idx="11"/>
          </p:nvPr>
        </p:nvSpPr>
        <p:spPr>
          <a:xfrm>
            <a:off x="556902" y="4116116"/>
            <a:ext cx="5427132" cy="292452"/>
          </a:xfrm>
        </p:spPr>
        <p:txBody>
          <a:bodyPr/>
          <a:lstStyle/>
          <a:p>
            <a:r>
              <a:rPr lang="es-419" sz="1800" noProof="0" dirty="0"/>
              <a:t>Instructivo</a:t>
            </a:r>
            <a:endParaRPr lang="es-419" noProof="0" dirty="0"/>
          </a:p>
        </p:txBody>
      </p:sp>
      <p:sp>
        <p:nvSpPr>
          <p:cNvPr id="5" name="Marcador de texto 4">
            <a:extLst>
              <a:ext uri="{FF2B5EF4-FFF2-40B4-BE49-F238E27FC236}">
                <a16:creationId xmlns:a16="http://schemas.microsoft.com/office/drawing/2014/main" id="{2FA6B18F-EA2A-7CBC-3E93-C1F7F4E03498}"/>
              </a:ext>
            </a:extLst>
          </p:cNvPr>
          <p:cNvSpPr>
            <a:spLocks noGrp="1"/>
          </p:cNvSpPr>
          <p:nvPr>
            <p:ph type="body" sz="quarter" idx="12"/>
          </p:nvPr>
        </p:nvSpPr>
        <p:spPr>
          <a:xfrm>
            <a:off x="556902" y="5609784"/>
            <a:ext cx="3032274" cy="398058"/>
          </a:xfrm>
        </p:spPr>
        <p:txBody>
          <a:bodyPr/>
          <a:lstStyle/>
          <a:p>
            <a:r>
              <a:rPr lang="es-419" noProof="0" dirty="0"/>
              <a:t>Consultor</a:t>
            </a:r>
          </a:p>
          <a:p>
            <a:r>
              <a:rPr lang="es-419" dirty="0"/>
              <a:t>Cargo</a:t>
            </a:r>
            <a:endParaRPr lang="es-419" noProof="0" dirty="0"/>
          </a:p>
        </p:txBody>
      </p:sp>
      <p:sp>
        <p:nvSpPr>
          <p:cNvPr id="6" name="Marcador de texto 5">
            <a:extLst>
              <a:ext uri="{FF2B5EF4-FFF2-40B4-BE49-F238E27FC236}">
                <a16:creationId xmlns:a16="http://schemas.microsoft.com/office/drawing/2014/main" id="{BAF7D103-2992-CE66-2094-F2DD7ED1DB32}"/>
              </a:ext>
            </a:extLst>
          </p:cNvPr>
          <p:cNvSpPr>
            <a:spLocks noGrp="1"/>
          </p:cNvSpPr>
          <p:nvPr>
            <p:ph type="body" sz="quarter" idx="13"/>
          </p:nvPr>
        </p:nvSpPr>
        <p:spPr/>
        <p:txBody>
          <a:bodyPr/>
          <a:lstStyle/>
          <a:p>
            <a:r>
              <a:rPr lang="es-419" noProof="0" dirty="0"/>
              <a:t>Mes, Año</a:t>
            </a:r>
          </a:p>
        </p:txBody>
      </p:sp>
      <p:pic>
        <p:nvPicPr>
          <p:cNvPr id="9" name="Marcador de posición de imagen 8" descr="Mujer sentada en un escritorio&#10;&#10;El contenido generado por IA puede ser incorrecto.">
            <a:extLst>
              <a:ext uri="{FF2B5EF4-FFF2-40B4-BE49-F238E27FC236}">
                <a16:creationId xmlns:a16="http://schemas.microsoft.com/office/drawing/2014/main" id="{C8F2F481-06F7-0405-5DC6-CD1338489804}"/>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7881" r="17881"/>
          <a:stretch>
            <a:fillRect/>
          </a:stretch>
        </p:blipFill>
        <p:spPr/>
      </p:pic>
    </p:spTree>
    <p:extLst>
      <p:ext uri="{BB962C8B-B14F-4D97-AF65-F5344CB8AC3E}">
        <p14:creationId xmlns:p14="http://schemas.microsoft.com/office/powerpoint/2010/main" val="3257764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Evaluar solicitud de admisión</a:t>
            </a:r>
            <a:endParaRPr lang="en-US"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2</a:t>
            </a:fld>
            <a:endParaRPr lang="en-US"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2412718633"/>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s-419" sz="2800" b="1" noProof="0"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noProof="0" dirty="0">
                          <a:solidFill>
                            <a:schemeClr val="bg1"/>
                          </a:solidFill>
                        </a:rPr>
                        <a:t>Evaluar la solicitud de admisión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n-US" sz="2800" b="1"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Evaluar solicitud de admisión</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3</a:t>
            </a:fld>
            <a:endParaRPr lang="en-US"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sz="1200" dirty="0"/>
              <a:t>Crear solicitudes de admisión</a:t>
            </a:r>
            <a:endParaRPr lang="en-US" dirty="0"/>
          </a:p>
        </p:txBody>
      </p:sp>
      <p:sp>
        <p:nvSpPr>
          <p:cNvPr id="17" name="Slide Number Placeholder 16">
            <a:extLst>
              <a:ext uri="{FF2B5EF4-FFF2-40B4-BE49-F238E27FC236}">
                <a16:creationId xmlns:a16="http://schemas.microsoft.com/office/drawing/2014/main" id="{8AC1633D-9215-2128-452C-BEE52AEB6D5E}"/>
              </a:ext>
            </a:extLst>
          </p:cNvPr>
          <p:cNvSpPr>
            <a:spLocks noGrp="1"/>
          </p:cNvSpPr>
          <p:nvPr>
            <p:ph type="sldNum" sz="quarter" idx="4"/>
          </p:nvPr>
        </p:nvSpPr>
        <p:spPr/>
        <p:txBody>
          <a:bodyPr/>
          <a:lstStyle/>
          <a:p>
            <a:fld id="{4A16F8ED-7337-F64C-865A-41A1F48E54DF}" type="slidenum">
              <a:rPr lang="en-US" smtClean="0"/>
              <a:pPr/>
              <a:t>4</a:t>
            </a:fld>
            <a:endParaRPr lang="en-US"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ES_tradnl" sz="3200" dirty="0">
                <a:solidFill>
                  <a:schemeClr val="tx2"/>
                </a:solidFill>
              </a:rPr>
              <a:t>Overview: </a:t>
            </a:r>
            <a:r>
              <a:rPr lang="es-ES_tradnl" sz="3200" b="1" dirty="0">
                <a:solidFill>
                  <a:schemeClr val="tx2"/>
                </a:solidFill>
              </a:rPr>
              <a:t>Mapa de capacidades</a:t>
            </a:r>
            <a:endParaRPr lang="en-US" dirty="0"/>
          </a:p>
        </p:txBody>
      </p:sp>
      <p:pic>
        <p:nvPicPr>
          <p:cNvPr id="5" name="Imagen 2">
            <a:extLst>
              <a:ext uri="{FF2B5EF4-FFF2-40B4-BE49-F238E27FC236}">
                <a16:creationId xmlns:a16="http://schemas.microsoft.com/office/drawing/2014/main" id="{911D7325-C46C-1AEC-08B6-C55A90B2B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432" y="1070392"/>
            <a:ext cx="10431829" cy="4915227"/>
          </a:xfrm>
          <a:prstGeom prst="rect">
            <a:avLst/>
          </a:prstGeom>
        </p:spPr>
      </p:pic>
      <p:sp>
        <p:nvSpPr>
          <p:cNvPr id="6" name="Rectangle 5">
            <a:extLst>
              <a:ext uri="{FF2B5EF4-FFF2-40B4-BE49-F238E27FC236}">
                <a16:creationId xmlns:a16="http://schemas.microsoft.com/office/drawing/2014/main" id="{CF2653C0-9C4D-C472-2B38-7CAA18C9EF8A}"/>
              </a:ext>
            </a:extLst>
          </p:cNvPr>
          <p:cNvSpPr/>
          <p:nvPr/>
        </p:nvSpPr>
        <p:spPr>
          <a:xfrm>
            <a:off x="1354347" y="3209026"/>
            <a:ext cx="2536166" cy="767751"/>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96073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D552BA8-E40D-BE5E-B33E-255C974B1B45}"/>
              </a:ext>
            </a:extLst>
          </p:cNvPr>
          <p:cNvSpPr>
            <a:spLocks noGrp="1"/>
          </p:cNvSpPr>
          <p:nvPr>
            <p:ph type="body" sz="quarter" idx="18"/>
          </p:nvPr>
        </p:nvSpPr>
        <p:spPr>
          <a:xfrm>
            <a:off x="1104900" y="1584355"/>
            <a:ext cx="9698935" cy="658513"/>
          </a:xfrm>
        </p:spPr>
        <p:txBody>
          <a:bodyPr anchor="ctr"/>
          <a:lstStyle/>
          <a:p>
            <a:pPr marL="285750" indent="-285750">
              <a:buClr>
                <a:srgbClr val="0CB4B4"/>
              </a:buClr>
              <a:buFont typeface="Wingdings" panose="05000000000000000000" pitchFamily="2" charset="2"/>
              <a:buChar char="q"/>
            </a:pPr>
            <a:r>
              <a:rPr lang="es-419" sz="2400" b="1" dirty="0">
                <a:solidFill>
                  <a:srgbClr val="7030A0"/>
                </a:solidFill>
              </a:rPr>
              <a:t>Gestionar selección</a:t>
            </a:r>
          </a:p>
          <a:p>
            <a:pPr marL="0" lvl="0" indent="0">
              <a:buClr>
                <a:srgbClr val="0CB4B4"/>
              </a:buClr>
              <a:buNone/>
            </a:pPr>
            <a:endParaRPr lang="es-CO" sz="2400" dirty="0"/>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p:txBody>
          <a:bodyPr/>
          <a:lstStyle/>
          <a:p>
            <a:r>
              <a:rPr lang="es-ES_tradnl" sz="3200" dirty="0">
                <a:solidFill>
                  <a:schemeClr val="tx2"/>
                </a:solidFill>
              </a:rPr>
              <a:t>Overview: </a:t>
            </a:r>
            <a:r>
              <a:rPr lang="es-ES_tradnl" dirty="0">
                <a:solidFill>
                  <a:schemeClr val="tx2"/>
                </a:solidFill>
              </a:rPr>
              <a:t>Procedimiento aprobar solicitud de admisión</a:t>
            </a:r>
            <a:endParaRPr lang="es-CL" dirty="0"/>
          </a:p>
        </p:txBody>
      </p:sp>
    </p:spTree>
    <p:extLst>
      <p:ext uri="{BB962C8B-B14F-4D97-AF65-F5344CB8AC3E}">
        <p14:creationId xmlns:p14="http://schemas.microsoft.com/office/powerpoint/2010/main" val="1504878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1789044"/>
            <a:ext cx="10136257" cy="4472608"/>
          </a:xfrm>
        </p:spPr>
        <p:txBody>
          <a:bodyPr vert="horz" lIns="91440" tIns="45720" rIns="91440" bIns="45720" rtlCol="0" anchor="t">
            <a:noAutofit/>
          </a:bodyPr>
          <a:lstStyle/>
          <a:p>
            <a:pPr marL="285750" indent="-285750" algn="just">
              <a:buClr>
                <a:srgbClr val="0CB4B4"/>
              </a:buClr>
              <a:buFont typeface="Wingdings" panose="05000000000000000000" pitchFamily="2" charset="2"/>
              <a:buChar char="q"/>
            </a:pPr>
            <a:r>
              <a:rPr lang="es-ES_tradnl" sz="2400" dirty="0">
                <a:solidFill>
                  <a:srgbClr val="7030A0"/>
                </a:solidFill>
              </a:rPr>
              <a:t>Se detalla cómo asignar las decisiones de admisión a las solicitudes, para ofrecer admisión al postulante o para rechazar su solicitud de admisión. </a:t>
            </a:r>
          </a:p>
          <a:p>
            <a:pPr marL="285750" indent="-285750" algn="just">
              <a:buClr>
                <a:srgbClr val="0CB4B4"/>
              </a:buClr>
              <a:buFont typeface="Wingdings" panose="05000000000000000000" pitchFamily="2" charset="2"/>
              <a:buChar char="q"/>
            </a:pPr>
            <a:r>
              <a:rPr lang="es-ES_tradnl" sz="2400" dirty="0">
                <a:solidFill>
                  <a:srgbClr val="7030A0"/>
                </a:solidFill>
              </a:rPr>
              <a:t>La decisión puede ser asignada de manera individual o masiva,</a:t>
            </a:r>
          </a:p>
          <a:p>
            <a:pPr marL="285750" indent="-285750" algn="just">
              <a:buClr>
                <a:srgbClr val="0CB4B4"/>
              </a:buClr>
              <a:buFont typeface="Wingdings" panose="05000000000000000000" pitchFamily="2" charset="2"/>
              <a:buChar char="q"/>
            </a:pPr>
            <a:r>
              <a:rPr lang="es-ES_tradnl" sz="2400" dirty="0">
                <a:solidFill>
                  <a:srgbClr val="7030A0"/>
                </a:solidFill>
              </a:rPr>
              <a:t>La asignación masiva de decisiones se realiza de acuerdo con las reglas establecidas y configuradas por la institución.</a:t>
            </a: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p:txBody>
          <a:bodyPr/>
          <a:lstStyle/>
          <a:p>
            <a:r>
              <a:rPr lang="es-ES_tradnl" sz="3200" dirty="0">
                <a:solidFill>
                  <a:schemeClr val="tx2"/>
                </a:solidFill>
              </a:rPr>
              <a:t>Overview: </a:t>
            </a:r>
            <a:r>
              <a:rPr lang="es-ES_tradnl" dirty="0"/>
              <a:t>Proceso </a:t>
            </a:r>
            <a:r>
              <a:rPr lang="es-419" dirty="0"/>
              <a:t>evaluar solicitud de admisión</a:t>
            </a:r>
            <a:endParaRPr lang="es-CL" dirty="0"/>
          </a:p>
        </p:txBody>
      </p:sp>
    </p:spTree>
    <p:extLst>
      <p:ext uri="{BB962C8B-B14F-4D97-AF65-F5344CB8AC3E}">
        <p14:creationId xmlns:p14="http://schemas.microsoft.com/office/powerpoint/2010/main" val="167875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8859" y="663039"/>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a:t>
            </a:r>
            <a:r>
              <a:rPr lang="es-ES_tradnl" dirty="0"/>
              <a:t>Proceso </a:t>
            </a:r>
            <a:r>
              <a:rPr lang="es-419" dirty="0"/>
              <a:t>evaluar solicitud de admisión</a:t>
            </a:r>
            <a:endParaRPr lang="es-CL" dirty="0"/>
          </a:p>
        </p:txBody>
      </p:sp>
      <p:pic>
        <p:nvPicPr>
          <p:cNvPr id="4" name="Picture 1" descr="A diagram of a company&#10;&#10;Description automatically generated">
            <a:extLst>
              <a:ext uri="{FF2B5EF4-FFF2-40B4-BE49-F238E27FC236}">
                <a16:creationId xmlns:a16="http://schemas.microsoft.com/office/drawing/2014/main" id="{709B49D2-26B4-A981-4E7E-B157867268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5694" y="1649726"/>
            <a:ext cx="8122023" cy="3803440"/>
          </a:xfrm>
          <a:prstGeom prst="rect">
            <a:avLst/>
          </a:prstGeom>
        </p:spPr>
      </p:pic>
    </p:spTree>
    <p:extLst>
      <p:ext uri="{BB962C8B-B14F-4D97-AF65-F5344CB8AC3E}">
        <p14:creationId xmlns:p14="http://schemas.microsoft.com/office/powerpoint/2010/main" val="675546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8</a:t>
            </a:fld>
            <a:endParaRPr lang="en-US" dirty="0"/>
          </a:p>
        </p:txBody>
      </p:sp>
      <p:sp>
        <p:nvSpPr>
          <p:cNvPr id="9" name="CuadroTexto 8">
            <a:extLst>
              <a:ext uri="{FF2B5EF4-FFF2-40B4-BE49-F238E27FC236}">
                <a16:creationId xmlns:a16="http://schemas.microsoft.com/office/drawing/2014/main" id="{CDA0D89D-33DC-4151-D805-A43C6E21B822}"/>
              </a:ext>
            </a:extLst>
          </p:cNvPr>
          <p:cNvSpPr txBox="1"/>
          <p:nvPr/>
        </p:nvSpPr>
        <p:spPr>
          <a:xfrm>
            <a:off x="6939975" y="2743200"/>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41A78240-C607-71D5-FFEE-AC493BD21BE1}"/>
              </a:ext>
            </a:extLst>
          </p:cNvPr>
          <p:cNvSpPr txBox="1">
            <a:spLocks/>
          </p:cNvSpPr>
          <p:nvPr/>
        </p:nvSpPr>
        <p:spPr>
          <a:xfrm>
            <a:off x="1104900" y="276729"/>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a:t>
            </a:r>
            <a:r>
              <a:rPr lang="es-ES_tradnl" dirty="0"/>
              <a:t>Proceso </a:t>
            </a:r>
            <a:r>
              <a:rPr lang="es-419" dirty="0"/>
              <a:t>evaluar la solicitud de admisión</a:t>
            </a:r>
            <a:endParaRPr lang="es-CL" dirty="0"/>
          </a:p>
        </p:txBody>
      </p:sp>
      <p:pic>
        <p:nvPicPr>
          <p:cNvPr id="4" name="Picture 3">
            <a:extLst>
              <a:ext uri="{FF2B5EF4-FFF2-40B4-BE49-F238E27FC236}">
                <a16:creationId xmlns:a16="http://schemas.microsoft.com/office/drawing/2014/main" id="{14BA36A9-64B4-6997-7A70-3D0A5B1477B3}"/>
              </a:ext>
            </a:extLst>
          </p:cNvPr>
          <p:cNvPicPr>
            <a:picLocks noChangeAspect="1"/>
          </p:cNvPicPr>
          <p:nvPr/>
        </p:nvPicPr>
        <p:blipFill>
          <a:blip r:embed="rId2"/>
          <a:stretch>
            <a:fillRect/>
          </a:stretch>
        </p:blipFill>
        <p:spPr>
          <a:xfrm>
            <a:off x="1979786" y="1212010"/>
            <a:ext cx="4960189" cy="4960189"/>
          </a:xfrm>
          <a:prstGeom prst="rect">
            <a:avLst/>
          </a:prstGeom>
        </p:spPr>
      </p:pic>
    </p:spTree>
    <p:extLst>
      <p:ext uri="{BB962C8B-B14F-4D97-AF65-F5344CB8AC3E}">
        <p14:creationId xmlns:p14="http://schemas.microsoft.com/office/powerpoint/2010/main" val="1448098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Evaluar solicitud de admisión</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s-419" dirty="0"/>
              <a:t>ASIGNAR DECISIONES</a:t>
            </a:r>
            <a:endParaRPr lang="en-US"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9</a:t>
            </a:fld>
            <a:endParaRPr lang="en-US" dirty="0"/>
          </a:p>
        </p:txBody>
      </p:sp>
    </p:spTree>
    <p:extLst>
      <p:ext uri="{BB962C8B-B14F-4D97-AF65-F5344CB8AC3E}">
        <p14:creationId xmlns:p14="http://schemas.microsoft.com/office/powerpoint/2010/main" val="690636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95322-3739-EA19-56FB-B3A2716CC37E}"/>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05626F64-B0C6-461D-7FC6-E41B2124057A}"/>
              </a:ext>
            </a:extLst>
          </p:cNvPr>
          <p:cNvSpPr>
            <a:spLocks noGrp="1"/>
          </p:cNvSpPr>
          <p:nvPr>
            <p:ph type="body" orient="vert" sz="quarter" idx="10"/>
          </p:nvPr>
        </p:nvSpPr>
        <p:spPr/>
        <p:txBody>
          <a:bodyPr/>
          <a:lstStyle/>
          <a:p>
            <a:r>
              <a:rPr lang="es-419" sz="1200" dirty="0"/>
              <a:t>Evaluar solicitud de admisión</a:t>
            </a:r>
            <a:endParaRPr lang="en-US" dirty="0"/>
          </a:p>
        </p:txBody>
      </p:sp>
      <p:sp>
        <p:nvSpPr>
          <p:cNvPr id="16" name="Title 15">
            <a:extLst>
              <a:ext uri="{FF2B5EF4-FFF2-40B4-BE49-F238E27FC236}">
                <a16:creationId xmlns:a16="http://schemas.microsoft.com/office/drawing/2014/main" id="{EA5AF03F-FEF2-9CAE-932D-F8F400B5B539}"/>
              </a:ext>
            </a:extLst>
          </p:cNvPr>
          <p:cNvSpPr>
            <a:spLocks noGrp="1"/>
          </p:cNvSpPr>
          <p:nvPr>
            <p:ph type="title"/>
          </p:nvPr>
        </p:nvSpPr>
        <p:spPr/>
        <p:txBody>
          <a:bodyPr/>
          <a:lstStyle/>
          <a:p>
            <a:r>
              <a:rPr lang="es-CL" dirty="0"/>
              <a:t>Individual</a:t>
            </a:r>
            <a:endParaRPr lang="en-US" dirty="0"/>
          </a:p>
        </p:txBody>
      </p:sp>
      <p:sp>
        <p:nvSpPr>
          <p:cNvPr id="18" name="Slide Number Placeholder 17">
            <a:extLst>
              <a:ext uri="{FF2B5EF4-FFF2-40B4-BE49-F238E27FC236}">
                <a16:creationId xmlns:a16="http://schemas.microsoft.com/office/drawing/2014/main" id="{5779AFD2-B28C-720C-4317-EDF5E2D298C2}"/>
              </a:ext>
            </a:extLst>
          </p:cNvPr>
          <p:cNvSpPr>
            <a:spLocks noGrp="1"/>
          </p:cNvSpPr>
          <p:nvPr>
            <p:ph type="sldNum" sz="quarter" idx="4"/>
          </p:nvPr>
        </p:nvSpPr>
        <p:spPr/>
        <p:txBody>
          <a:bodyPr/>
          <a:lstStyle/>
          <a:p>
            <a:fld id="{4A16F8ED-7337-F64C-865A-41A1F48E54DF}" type="slidenum">
              <a:rPr lang="en-US" smtClean="0"/>
              <a:pPr/>
              <a:t>10</a:t>
            </a:fld>
            <a:endParaRPr lang="en-US" dirty="0"/>
          </a:p>
        </p:txBody>
      </p:sp>
    </p:spTree>
    <p:extLst>
      <p:ext uri="{BB962C8B-B14F-4D97-AF65-F5344CB8AC3E}">
        <p14:creationId xmlns:p14="http://schemas.microsoft.com/office/powerpoint/2010/main" val="1205967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A21A696-6DB1-C8E3-6D79-9511C65F6716}"/>
              </a:ext>
            </a:extLst>
          </p:cNvPr>
          <p:cNvPicPr>
            <a:picLocks noChangeAspect="1"/>
          </p:cNvPicPr>
          <p:nvPr/>
        </p:nvPicPr>
        <p:blipFill>
          <a:blip r:embed="rId2"/>
          <a:stretch>
            <a:fillRect/>
          </a:stretch>
        </p:blipFill>
        <p:spPr>
          <a:xfrm>
            <a:off x="810247" y="1060024"/>
            <a:ext cx="10938930" cy="473527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11</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 </a:t>
            </a:r>
            <a:r>
              <a:rPr lang="es-419" sz="3000" b="1" dirty="0"/>
              <a:t>SAADCRV Decisión de admisiones</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810247" y="5342187"/>
            <a:ext cx="10440460" cy="90621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La página permite asignar de forma individual</a:t>
            </a:r>
          </a:p>
          <a:p>
            <a:r>
              <a:rPr lang="es-ES_tradnl" sz="1400" dirty="0"/>
              <a:t>1.- Una decisión de admisión al postulante. </a:t>
            </a:r>
            <a:br>
              <a:rPr lang="es-ES_tradnl" sz="1400" dirty="0"/>
            </a:br>
            <a:r>
              <a:rPr lang="es-ES_tradnl" sz="1400" dirty="0"/>
              <a:t>2.- Si el estudiante tiene más de un registro de admisión para el período seleccionado aparecerá la cantidad de solicitudes, para el ejemplo solo tiene un registro.</a:t>
            </a:r>
          </a:p>
        </p:txBody>
      </p:sp>
      <p:sp>
        <p:nvSpPr>
          <p:cNvPr id="2" name="Rectángulo redondeado 23">
            <a:extLst>
              <a:ext uri="{FF2B5EF4-FFF2-40B4-BE49-F238E27FC236}">
                <a16:creationId xmlns:a16="http://schemas.microsoft.com/office/drawing/2014/main" id="{B8601D51-6C92-D856-BCEC-A205ADD5305F}"/>
              </a:ext>
            </a:extLst>
          </p:cNvPr>
          <p:cNvSpPr/>
          <p:nvPr/>
        </p:nvSpPr>
        <p:spPr>
          <a:xfrm>
            <a:off x="1941120" y="2882838"/>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redondeado 23">
            <a:extLst>
              <a:ext uri="{FF2B5EF4-FFF2-40B4-BE49-F238E27FC236}">
                <a16:creationId xmlns:a16="http://schemas.microsoft.com/office/drawing/2014/main" id="{872346A5-F24B-FB88-7B20-83DA29887943}"/>
              </a:ext>
            </a:extLst>
          </p:cNvPr>
          <p:cNvSpPr/>
          <p:nvPr/>
        </p:nvSpPr>
        <p:spPr>
          <a:xfrm>
            <a:off x="576478" y="4908770"/>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2822984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F84B533-CF3A-9980-C087-FE6CC423C94C}"/>
              </a:ext>
            </a:extLst>
          </p:cNvPr>
          <p:cNvPicPr>
            <a:picLocks noChangeAspect="1"/>
          </p:cNvPicPr>
          <p:nvPr/>
        </p:nvPicPr>
        <p:blipFill>
          <a:blip r:embed="rId2"/>
          <a:stretch>
            <a:fillRect/>
          </a:stretch>
        </p:blipFill>
        <p:spPr>
          <a:xfrm>
            <a:off x="623977" y="1206438"/>
            <a:ext cx="10658798" cy="457123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12</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SAADCRV Decisión de admisiones</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810246" y="5531223"/>
            <a:ext cx="10472529" cy="71717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Para asignar la decisión se debe ingresar el código en el campo </a:t>
            </a:r>
          </a:p>
          <a:p>
            <a:r>
              <a:rPr lang="es-ES_tradnl" sz="1400" dirty="0"/>
              <a:t>1.- Código de decisión, se desplegarán los datos de decisión configurados en la tabla STVAPDC.</a:t>
            </a:r>
          </a:p>
        </p:txBody>
      </p:sp>
      <p:sp>
        <p:nvSpPr>
          <p:cNvPr id="2" name="Rectángulo redondeado 23">
            <a:extLst>
              <a:ext uri="{FF2B5EF4-FFF2-40B4-BE49-F238E27FC236}">
                <a16:creationId xmlns:a16="http://schemas.microsoft.com/office/drawing/2014/main" id="{DCBE76FF-3CCF-6A95-5155-FC29F4B6D60D}"/>
              </a:ext>
            </a:extLst>
          </p:cNvPr>
          <p:cNvSpPr/>
          <p:nvPr/>
        </p:nvSpPr>
        <p:spPr>
          <a:xfrm>
            <a:off x="1738822" y="4607274"/>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758150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09FCA8C-C0BE-00C6-B520-9A3DA59D235E}"/>
              </a:ext>
            </a:extLst>
          </p:cNvPr>
          <p:cNvPicPr>
            <a:picLocks noChangeAspect="1"/>
          </p:cNvPicPr>
          <p:nvPr/>
        </p:nvPicPr>
        <p:blipFill>
          <a:blip r:embed="rId2"/>
          <a:stretch>
            <a:fillRect/>
          </a:stretch>
        </p:blipFill>
        <p:spPr>
          <a:xfrm>
            <a:off x="909917" y="1216326"/>
            <a:ext cx="10555912" cy="450202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13</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SAADCRV Decisión de admisiones</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1665179" y="5283085"/>
            <a:ext cx="9045388" cy="71717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1.- Depende de la decisión ingresada, se creará o no el registro de estudiante en la página de SGASTDN.</a:t>
            </a:r>
          </a:p>
        </p:txBody>
      </p:sp>
      <p:sp>
        <p:nvSpPr>
          <p:cNvPr id="2" name="Rectángulo redondeado 23">
            <a:extLst>
              <a:ext uri="{FF2B5EF4-FFF2-40B4-BE49-F238E27FC236}">
                <a16:creationId xmlns:a16="http://schemas.microsoft.com/office/drawing/2014/main" id="{B45F1457-22A2-BA09-CBE4-90C9C4C657E2}"/>
              </a:ext>
            </a:extLst>
          </p:cNvPr>
          <p:cNvSpPr/>
          <p:nvPr/>
        </p:nvSpPr>
        <p:spPr>
          <a:xfrm>
            <a:off x="9183133" y="1683950"/>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cxnSp>
        <p:nvCxnSpPr>
          <p:cNvPr id="8" name="Conector recto de flecha 7">
            <a:extLst>
              <a:ext uri="{FF2B5EF4-FFF2-40B4-BE49-F238E27FC236}">
                <a16:creationId xmlns:a16="http://schemas.microsoft.com/office/drawing/2014/main" id="{06715685-9DA3-C83E-A194-4013253F0311}"/>
              </a:ext>
            </a:extLst>
          </p:cNvPr>
          <p:cNvCxnSpPr>
            <a:cxnSpLocks/>
          </p:cNvCxnSpPr>
          <p:nvPr/>
        </p:nvCxnSpPr>
        <p:spPr>
          <a:xfrm flipV="1">
            <a:off x="1500996" y="2111804"/>
            <a:ext cx="7453223" cy="27966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960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CA511-19C9-62CF-5D81-34A95D50CE47}"/>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1C6D4951-9F03-F874-2274-6A5EA3C2FCD1}"/>
              </a:ext>
            </a:extLst>
          </p:cNvPr>
          <p:cNvSpPr>
            <a:spLocks noGrp="1"/>
          </p:cNvSpPr>
          <p:nvPr>
            <p:ph type="body" orient="vert" sz="quarter" idx="10"/>
          </p:nvPr>
        </p:nvSpPr>
        <p:spPr/>
        <p:txBody>
          <a:bodyPr/>
          <a:lstStyle/>
          <a:p>
            <a:r>
              <a:rPr lang="es-419" sz="1200" dirty="0"/>
              <a:t>Evaluar solicitud de admisión</a:t>
            </a:r>
            <a:endParaRPr lang="en-US" dirty="0"/>
          </a:p>
        </p:txBody>
      </p:sp>
      <p:sp>
        <p:nvSpPr>
          <p:cNvPr id="16" name="Title 15">
            <a:extLst>
              <a:ext uri="{FF2B5EF4-FFF2-40B4-BE49-F238E27FC236}">
                <a16:creationId xmlns:a16="http://schemas.microsoft.com/office/drawing/2014/main" id="{AE5C66C7-B120-0DAB-F4B4-11FCAF00A740}"/>
              </a:ext>
            </a:extLst>
          </p:cNvPr>
          <p:cNvSpPr>
            <a:spLocks noGrp="1"/>
          </p:cNvSpPr>
          <p:nvPr>
            <p:ph type="title"/>
          </p:nvPr>
        </p:nvSpPr>
        <p:spPr/>
        <p:txBody>
          <a:bodyPr/>
          <a:lstStyle/>
          <a:p>
            <a:r>
              <a:rPr lang="es-CL" dirty="0"/>
              <a:t>Masiva</a:t>
            </a:r>
            <a:endParaRPr lang="en-US" dirty="0"/>
          </a:p>
        </p:txBody>
      </p:sp>
      <p:sp>
        <p:nvSpPr>
          <p:cNvPr id="18" name="Slide Number Placeholder 17">
            <a:extLst>
              <a:ext uri="{FF2B5EF4-FFF2-40B4-BE49-F238E27FC236}">
                <a16:creationId xmlns:a16="http://schemas.microsoft.com/office/drawing/2014/main" id="{03064DF9-5C4F-EBE8-BA2D-C30F191AF363}"/>
              </a:ext>
            </a:extLst>
          </p:cNvPr>
          <p:cNvSpPr>
            <a:spLocks noGrp="1"/>
          </p:cNvSpPr>
          <p:nvPr>
            <p:ph type="sldNum" sz="quarter" idx="4"/>
          </p:nvPr>
        </p:nvSpPr>
        <p:spPr/>
        <p:txBody>
          <a:bodyPr/>
          <a:lstStyle/>
          <a:p>
            <a:fld id="{4A16F8ED-7337-F64C-865A-41A1F48E54DF}" type="slidenum">
              <a:rPr lang="en-US" smtClean="0"/>
              <a:pPr/>
              <a:t>14</a:t>
            </a:fld>
            <a:endParaRPr lang="en-US" dirty="0"/>
          </a:p>
        </p:txBody>
      </p:sp>
    </p:spTree>
    <p:extLst>
      <p:ext uri="{BB962C8B-B14F-4D97-AF65-F5344CB8AC3E}">
        <p14:creationId xmlns:p14="http://schemas.microsoft.com/office/powerpoint/2010/main" val="2194879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53D789-F5FF-7D9F-45A2-80E7C87C22FB}"/>
              </a:ext>
            </a:extLst>
          </p:cNvPr>
          <p:cNvPicPr>
            <a:picLocks noChangeAspect="1"/>
          </p:cNvPicPr>
          <p:nvPr/>
        </p:nvPicPr>
        <p:blipFill>
          <a:blip r:embed="rId2"/>
          <a:stretch>
            <a:fillRect/>
          </a:stretch>
        </p:blipFill>
        <p:spPr>
          <a:xfrm>
            <a:off x="924457" y="1025337"/>
            <a:ext cx="10653623" cy="507421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15</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9212" y="211451"/>
            <a:ext cx="10271883" cy="626165"/>
          </a:xfrm>
        </p:spPr>
        <p:txBody>
          <a:bodyPr/>
          <a:lstStyle/>
          <a:p>
            <a:r>
              <a:rPr lang="es-419" sz="3000" dirty="0"/>
              <a:t>SAADCSN Reglas de decisión de admisión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1424413" y="3654111"/>
            <a:ext cx="9653713" cy="165913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AutoNum type="arabicPeriod"/>
            </a:pPr>
            <a:r>
              <a:rPr lang="es-ES_tradnl" sz="1200" dirty="0"/>
              <a:t>A continuación, se ingresan los criterios que van a  identificar la aplicación de la regla:</a:t>
            </a:r>
            <a:br>
              <a:rPr lang="es-ES_tradnl" sz="1200" dirty="0"/>
            </a:br>
            <a:endParaRPr lang="es-ES_tradnl" sz="1200" dirty="0"/>
          </a:p>
          <a:p>
            <a:r>
              <a:rPr lang="es-ES_tradnl" sz="1200" dirty="0"/>
              <a:t>En el campo </a:t>
            </a:r>
            <a:r>
              <a:rPr lang="es-ES_tradnl" sz="1200" b="1" dirty="0"/>
              <a:t>período</a:t>
            </a:r>
            <a:r>
              <a:rPr lang="es-ES_tradnl" sz="1200" dirty="0"/>
              <a:t>: se ingresa el período para el cual se va a configurar la regla (corresponde al período de admisión de los estudiantes en SAAADMS)</a:t>
            </a:r>
          </a:p>
          <a:p>
            <a:r>
              <a:rPr lang="es-ES_tradnl" sz="1200" dirty="0"/>
              <a:t>En el campo </a:t>
            </a:r>
            <a:r>
              <a:rPr lang="es-ES_tradnl" sz="1200" b="1" dirty="0"/>
              <a:t>decisión</a:t>
            </a:r>
            <a:r>
              <a:rPr lang="es-ES_tradnl" sz="1200" dirty="0"/>
              <a:t>: se ingresa el código de decisión que va a asignar la regla a los estudiantes cuando se ejecute.</a:t>
            </a:r>
          </a:p>
          <a:p>
            <a:r>
              <a:rPr lang="es-ES_tradnl" sz="1200" dirty="0"/>
              <a:t>En el campo </a:t>
            </a:r>
            <a:r>
              <a:rPr lang="es-ES_tradnl" sz="1200" b="1" dirty="0"/>
              <a:t>prioridad</a:t>
            </a:r>
            <a:r>
              <a:rPr lang="es-ES_tradnl" sz="1200" dirty="0"/>
              <a:t>: se ingresa un consecutivo por si existe más de una regla por período en la que un estudiante pudiese estar, indicando a cuál se le dará prioridad.</a:t>
            </a:r>
            <a:endParaRPr lang="es-ES_tradnl" sz="1400" dirty="0"/>
          </a:p>
        </p:txBody>
      </p:sp>
      <p:sp>
        <p:nvSpPr>
          <p:cNvPr id="8" name="Rectángulo redondeado 23">
            <a:extLst>
              <a:ext uri="{FF2B5EF4-FFF2-40B4-BE49-F238E27FC236}">
                <a16:creationId xmlns:a16="http://schemas.microsoft.com/office/drawing/2014/main" id="{56B382FE-3168-2769-44BF-8590BAB686A8}"/>
              </a:ext>
            </a:extLst>
          </p:cNvPr>
          <p:cNvSpPr/>
          <p:nvPr/>
        </p:nvSpPr>
        <p:spPr>
          <a:xfrm>
            <a:off x="819212" y="1720790"/>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1483025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7650DF-0AE2-380A-4415-265E3498A95F}"/>
              </a:ext>
            </a:extLst>
          </p:cNvPr>
          <p:cNvPicPr>
            <a:picLocks noChangeAspect="1"/>
          </p:cNvPicPr>
          <p:nvPr/>
        </p:nvPicPr>
        <p:blipFill>
          <a:blip r:embed="rId2"/>
          <a:stretch>
            <a:fillRect/>
          </a:stretch>
        </p:blipFill>
        <p:spPr>
          <a:xfrm>
            <a:off x="888521" y="970501"/>
            <a:ext cx="10683570" cy="507441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16</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9212" y="211451"/>
            <a:ext cx="10271883" cy="626165"/>
          </a:xfrm>
        </p:spPr>
        <p:txBody>
          <a:bodyPr/>
          <a:lstStyle/>
          <a:p>
            <a:r>
              <a:rPr lang="es-ES_tradnl" sz="3200" b="0" dirty="0"/>
              <a:t>Configuraciones: </a:t>
            </a:r>
            <a:r>
              <a:rPr lang="es-419" sz="3000" dirty="0"/>
              <a:t>SAADCSN Reglas de decisión de admisión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1625315" y="3758839"/>
            <a:ext cx="10221149" cy="184763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2. Ingrese los códigos que correspondan, según los criterios que deben cumplir los estudiantes para que se les aplique la regla que se está definiendo. Esto es: los estudiantes que tengan estos valores en su registro de SAAADMS serán objeto de esta regla de decisión de admisión masiva:</a:t>
            </a:r>
            <a:br>
              <a:rPr lang="es-ES_tradnl" sz="1200" dirty="0"/>
            </a:br>
            <a:r>
              <a:rPr lang="es-ES_tradnl" sz="1200" dirty="0"/>
              <a:t>En el campo </a:t>
            </a:r>
            <a:r>
              <a:rPr lang="es-ES_tradnl" sz="1200" b="1" dirty="0"/>
              <a:t>tipo de admisión</a:t>
            </a:r>
            <a:r>
              <a:rPr lang="es-ES_tradnl" sz="1200" dirty="0"/>
              <a:t>: Se ingresa el tipo de admisión que va a buscar la regla</a:t>
            </a:r>
          </a:p>
          <a:p>
            <a:r>
              <a:rPr lang="es-ES_tradnl" sz="1200" dirty="0"/>
              <a:t>En el campo </a:t>
            </a:r>
            <a:r>
              <a:rPr lang="es-ES_tradnl" sz="1200" b="1" dirty="0"/>
              <a:t>tipo de alumno</a:t>
            </a:r>
            <a:r>
              <a:rPr lang="es-ES_tradnl" sz="1200" dirty="0"/>
              <a:t>: Se ingresa el tipo de alumno que va a buscar la regla</a:t>
            </a:r>
            <a:br>
              <a:rPr lang="es-ES_tradnl" sz="1200" dirty="0"/>
            </a:br>
            <a:r>
              <a:rPr lang="es-ES_tradnl" sz="1200" dirty="0"/>
              <a:t>En el campo </a:t>
            </a:r>
            <a:r>
              <a:rPr lang="es-ES_tradnl" sz="1200" b="1" dirty="0"/>
              <a:t>tipo de residencia</a:t>
            </a:r>
            <a:r>
              <a:rPr lang="es-ES_tradnl" sz="1200" dirty="0"/>
              <a:t>: Se ingresa el tipo de residencia que identificará la regla</a:t>
            </a:r>
            <a:br>
              <a:rPr lang="es-ES_tradnl" sz="1200" dirty="0"/>
            </a:br>
            <a:r>
              <a:rPr lang="es-ES_tradnl" sz="1200" dirty="0"/>
              <a:t>En el campo </a:t>
            </a:r>
            <a:r>
              <a:rPr lang="es-ES_tradnl" sz="1200" b="1" dirty="0"/>
              <a:t>programa</a:t>
            </a:r>
            <a:r>
              <a:rPr lang="es-ES_tradnl" sz="1200" dirty="0"/>
              <a:t>: Se ingresa el programa académico que va a buscar la regla.</a:t>
            </a:r>
            <a:br>
              <a:rPr lang="es-ES_tradnl" sz="1200" dirty="0"/>
            </a:br>
            <a:br>
              <a:rPr lang="es-ES_tradnl" sz="1200" dirty="0"/>
            </a:br>
            <a:r>
              <a:rPr lang="es-ES_tradnl" sz="1200" dirty="0"/>
              <a:t>3. Pase al siguiente bloque (2 veces)</a:t>
            </a:r>
            <a:endParaRPr lang="es-ES_tradnl" sz="1400" dirty="0"/>
          </a:p>
        </p:txBody>
      </p:sp>
      <p:sp>
        <p:nvSpPr>
          <p:cNvPr id="12" name="Rectángulo redondeado 23">
            <a:extLst>
              <a:ext uri="{FF2B5EF4-FFF2-40B4-BE49-F238E27FC236}">
                <a16:creationId xmlns:a16="http://schemas.microsoft.com/office/drawing/2014/main" id="{1F9678F1-FBCF-1E74-0956-88D95F666ACC}"/>
              </a:ext>
            </a:extLst>
          </p:cNvPr>
          <p:cNvSpPr/>
          <p:nvPr/>
        </p:nvSpPr>
        <p:spPr>
          <a:xfrm>
            <a:off x="4215548" y="2368587"/>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4" name="Rectángulo redondeado 23">
            <a:extLst>
              <a:ext uri="{FF2B5EF4-FFF2-40B4-BE49-F238E27FC236}">
                <a16:creationId xmlns:a16="http://schemas.microsoft.com/office/drawing/2014/main" id="{F2539A28-9CB3-0CC1-B138-D514C07FA8DF}"/>
              </a:ext>
            </a:extLst>
          </p:cNvPr>
          <p:cNvSpPr/>
          <p:nvPr/>
        </p:nvSpPr>
        <p:spPr>
          <a:xfrm>
            <a:off x="1508430" y="5925383"/>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Tree>
    <p:extLst>
      <p:ext uri="{BB962C8B-B14F-4D97-AF65-F5344CB8AC3E}">
        <p14:creationId xmlns:p14="http://schemas.microsoft.com/office/powerpoint/2010/main" val="3731641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C6E322C-BF30-9906-2EC5-B3EF69F16310}"/>
              </a:ext>
            </a:extLst>
          </p:cNvPr>
          <p:cNvPicPr>
            <a:picLocks noChangeAspect="1"/>
          </p:cNvPicPr>
          <p:nvPr/>
        </p:nvPicPr>
        <p:blipFill>
          <a:blip r:embed="rId2"/>
          <a:stretch>
            <a:fillRect/>
          </a:stretch>
        </p:blipFill>
        <p:spPr>
          <a:xfrm>
            <a:off x="819212" y="837616"/>
            <a:ext cx="11091095" cy="525915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17</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9212" y="211451"/>
            <a:ext cx="10271883" cy="626165"/>
          </a:xfrm>
        </p:spPr>
        <p:txBody>
          <a:bodyPr/>
          <a:lstStyle/>
          <a:p>
            <a:r>
              <a:rPr lang="es-419" sz="3000" dirty="0"/>
              <a:t>SAADCSN Reglas de decisión de admisión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1857270" y="3733190"/>
            <a:ext cx="9014977" cy="107777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4. Ingrese en el campo Orden el número que corresponda para enumerar los exámenes que se evaluarán en el orden que se indique.</a:t>
            </a:r>
          </a:p>
          <a:p>
            <a:r>
              <a:rPr lang="es-ES_tradnl" sz="1200" dirty="0"/>
              <a:t>5. Ingrese el código del </a:t>
            </a:r>
            <a:r>
              <a:rPr lang="es-ES_tradnl" sz="1200" b="1" dirty="0"/>
              <a:t>examen</a:t>
            </a:r>
            <a:r>
              <a:rPr lang="es-ES_tradnl" sz="1200" dirty="0"/>
              <a:t> que será evaluado para la admisión del estudiante (Este examen deberá tenerlo cargado en estudiante en la página SOATEST).</a:t>
            </a:r>
            <a:br>
              <a:rPr lang="es-ES_tradnl" sz="1200" dirty="0"/>
            </a:br>
            <a:r>
              <a:rPr lang="es-ES_tradnl" sz="1200" dirty="0"/>
              <a:t>6. Digite el </a:t>
            </a:r>
            <a:r>
              <a:rPr lang="es-ES_tradnl" sz="1200" b="1" dirty="0"/>
              <a:t>puntaje mínimo </a:t>
            </a:r>
            <a:r>
              <a:rPr lang="es-ES_tradnl" sz="1200" dirty="0"/>
              <a:t>que debe tener el estudiante en el examen para que la decisión sea asignada al ejecutar el proceso.</a:t>
            </a:r>
          </a:p>
        </p:txBody>
      </p:sp>
      <p:sp>
        <p:nvSpPr>
          <p:cNvPr id="14" name="Rectángulo redondeado 23">
            <a:extLst>
              <a:ext uri="{FF2B5EF4-FFF2-40B4-BE49-F238E27FC236}">
                <a16:creationId xmlns:a16="http://schemas.microsoft.com/office/drawing/2014/main" id="{F2539A28-9CB3-0CC1-B138-D514C07FA8DF}"/>
              </a:ext>
            </a:extLst>
          </p:cNvPr>
          <p:cNvSpPr/>
          <p:nvPr/>
        </p:nvSpPr>
        <p:spPr>
          <a:xfrm>
            <a:off x="4707532" y="5437132"/>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8" name="Rectángulo redondeado 23">
            <a:extLst>
              <a:ext uri="{FF2B5EF4-FFF2-40B4-BE49-F238E27FC236}">
                <a16:creationId xmlns:a16="http://schemas.microsoft.com/office/drawing/2014/main" id="{FD2D4B7A-6FBB-1A24-1385-0FA01C132437}"/>
              </a:ext>
            </a:extLst>
          </p:cNvPr>
          <p:cNvSpPr/>
          <p:nvPr/>
        </p:nvSpPr>
        <p:spPr>
          <a:xfrm>
            <a:off x="7974435" y="5418713"/>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16" name="Rectángulo redondeado 23">
            <a:extLst>
              <a:ext uri="{FF2B5EF4-FFF2-40B4-BE49-F238E27FC236}">
                <a16:creationId xmlns:a16="http://schemas.microsoft.com/office/drawing/2014/main" id="{3E3CF968-098D-5D30-5B62-AB9B3DFE268C}"/>
              </a:ext>
            </a:extLst>
          </p:cNvPr>
          <p:cNvSpPr/>
          <p:nvPr/>
        </p:nvSpPr>
        <p:spPr>
          <a:xfrm>
            <a:off x="11475108" y="5375485"/>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Tree>
    <p:extLst>
      <p:ext uri="{BB962C8B-B14F-4D97-AF65-F5344CB8AC3E}">
        <p14:creationId xmlns:p14="http://schemas.microsoft.com/office/powerpoint/2010/main" val="1866594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37C2247-549A-F2C8-850B-765431E874A2}"/>
              </a:ext>
            </a:extLst>
          </p:cNvPr>
          <p:cNvPicPr>
            <a:picLocks noChangeAspect="1"/>
          </p:cNvPicPr>
          <p:nvPr/>
        </p:nvPicPr>
        <p:blipFill>
          <a:blip r:embed="rId2"/>
          <a:stretch>
            <a:fillRect/>
          </a:stretch>
        </p:blipFill>
        <p:spPr>
          <a:xfrm>
            <a:off x="825260" y="989173"/>
            <a:ext cx="10541479" cy="502341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18</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9212" y="211451"/>
            <a:ext cx="10271883" cy="626165"/>
          </a:xfrm>
        </p:spPr>
        <p:txBody>
          <a:bodyPr/>
          <a:lstStyle/>
          <a:p>
            <a:r>
              <a:rPr lang="es-ES_tradnl" sz="3200" b="0" dirty="0"/>
              <a:t>Configuraciones: </a:t>
            </a:r>
            <a:r>
              <a:rPr lang="es-419" sz="3000" dirty="0"/>
              <a:t>SAADCSN Reglas de decisión de admisión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1950895" y="4297708"/>
            <a:ext cx="9014977" cy="107777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7. </a:t>
            </a:r>
            <a:r>
              <a:rPr lang="es-ES_tradnl" sz="1200" b="1" dirty="0"/>
              <a:t>Guarde</a:t>
            </a:r>
            <a:r>
              <a:rPr lang="es-ES_tradnl" sz="1200" dirty="0"/>
              <a:t> la información.</a:t>
            </a:r>
          </a:p>
          <a:p>
            <a:r>
              <a:rPr lang="es-ES_tradnl" sz="1200" dirty="0"/>
              <a:t>Si es más de un examen el que se evaluará en el proceso, </a:t>
            </a:r>
            <a:r>
              <a:rPr lang="es-ES_tradnl" sz="1200" b="1" dirty="0"/>
              <a:t>inserte</a:t>
            </a:r>
            <a:r>
              <a:rPr lang="es-ES_tradnl" sz="1200" dirty="0"/>
              <a:t> cada uno de ellos en esta sección.</a:t>
            </a:r>
            <a:endParaRPr lang="es-ES_tradnl" sz="1400" dirty="0"/>
          </a:p>
        </p:txBody>
      </p:sp>
      <p:sp>
        <p:nvSpPr>
          <p:cNvPr id="16" name="Rectángulo redondeado 23">
            <a:extLst>
              <a:ext uri="{FF2B5EF4-FFF2-40B4-BE49-F238E27FC236}">
                <a16:creationId xmlns:a16="http://schemas.microsoft.com/office/drawing/2014/main" id="{3E3CF968-098D-5D30-5B62-AB9B3DFE268C}"/>
              </a:ext>
            </a:extLst>
          </p:cNvPr>
          <p:cNvSpPr/>
          <p:nvPr/>
        </p:nvSpPr>
        <p:spPr>
          <a:xfrm>
            <a:off x="10414829" y="5846904"/>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Tree>
    <p:extLst>
      <p:ext uri="{BB962C8B-B14F-4D97-AF65-F5344CB8AC3E}">
        <p14:creationId xmlns:p14="http://schemas.microsoft.com/office/powerpoint/2010/main" val="3035186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73C731E-1DCE-19FF-67BB-94CC36D79C07}"/>
              </a:ext>
            </a:extLst>
          </p:cNvPr>
          <p:cNvPicPr>
            <a:picLocks noChangeAspect="1"/>
          </p:cNvPicPr>
          <p:nvPr/>
        </p:nvPicPr>
        <p:blipFill>
          <a:blip r:embed="rId2"/>
          <a:stretch>
            <a:fillRect/>
          </a:stretch>
        </p:blipFill>
        <p:spPr>
          <a:xfrm>
            <a:off x="622570" y="1199056"/>
            <a:ext cx="11300604" cy="487927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19</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SARBDSN Reporte de cálculo de decisión de admisión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1407471" y="3577320"/>
            <a:ext cx="9458121" cy="114636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Mediante este proceso, se ejecuta la decisión de admisión con base en las reglas definidas en la página </a:t>
            </a:r>
            <a:r>
              <a:rPr lang="es-419" sz="1400" dirty="0"/>
              <a:t>SAADCSN.</a:t>
            </a:r>
          </a:p>
          <a:p>
            <a:r>
              <a:rPr lang="es-ES_tradnl" sz="1400" dirty="0"/>
              <a:t> </a:t>
            </a:r>
          </a:p>
          <a:p>
            <a:r>
              <a:rPr lang="es-ES_tradnl" sz="1400" dirty="0"/>
              <a:t>1.- Ingresar el proceso se muestran los controles de envío de proceso.</a:t>
            </a:r>
          </a:p>
          <a:p>
            <a:r>
              <a:rPr lang="es-ES_tradnl" sz="1400" dirty="0"/>
              <a:t>2.- Dar click en ir .</a:t>
            </a:r>
          </a:p>
        </p:txBody>
      </p:sp>
      <p:sp>
        <p:nvSpPr>
          <p:cNvPr id="2" name="Rectángulo redondeado 23">
            <a:extLst>
              <a:ext uri="{FF2B5EF4-FFF2-40B4-BE49-F238E27FC236}">
                <a16:creationId xmlns:a16="http://schemas.microsoft.com/office/drawing/2014/main" id="{32174442-4140-4E68-DF13-3E1631262255}"/>
              </a:ext>
            </a:extLst>
          </p:cNvPr>
          <p:cNvSpPr/>
          <p:nvPr/>
        </p:nvSpPr>
        <p:spPr>
          <a:xfrm>
            <a:off x="11164090" y="2037527"/>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redondeado 23">
            <a:extLst>
              <a:ext uri="{FF2B5EF4-FFF2-40B4-BE49-F238E27FC236}">
                <a16:creationId xmlns:a16="http://schemas.microsoft.com/office/drawing/2014/main" id="{D0FD3E0D-738F-952D-7096-5D7EBC9EBD95}"/>
              </a:ext>
            </a:extLst>
          </p:cNvPr>
          <p:cNvSpPr/>
          <p:nvPr/>
        </p:nvSpPr>
        <p:spPr>
          <a:xfrm>
            <a:off x="911025" y="2037528"/>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601204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20DB6C-FA16-BA21-73C2-FF258A302AF4}"/>
              </a:ext>
            </a:extLst>
          </p:cNvPr>
          <p:cNvPicPr>
            <a:picLocks noChangeAspect="1"/>
          </p:cNvPicPr>
          <p:nvPr/>
        </p:nvPicPr>
        <p:blipFill>
          <a:blip r:embed="rId2"/>
          <a:stretch>
            <a:fillRect/>
          </a:stretch>
        </p:blipFill>
        <p:spPr>
          <a:xfrm>
            <a:off x="581885" y="1152173"/>
            <a:ext cx="10728606" cy="5104334"/>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20</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SARBDSN Reporte de cálculo de decisión de admisión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1598208" y="4989352"/>
            <a:ext cx="10011907" cy="106647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3"/>
            </a:pPr>
            <a:r>
              <a:rPr lang="es-ES_tradnl" sz="1400" dirty="0"/>
              <a:t>Defina la impresora como </a:t>
            </a:r>
            <a:r>
              <a:rPr lang="es-ES_tradnl" sz="1400" b="1" dirty="0"/>
              <a:t>DATABASE</a:t>
            </a:r>
          </a:p>
          <a:p>
            <a:pPr marL="228600" indent="-228600">
              <a:buFont typeface="+mj-lt"/>
              <a:buAutoNum type="arabicPeriod" startAt="3"/>
            </a:pPr>
            <a:r>
              <a:rPr lang="es-ES_tradnl" sz="1400" dirty="0"/>
              <a:t>Pase al siguiente bloque.</a:t>
            </a:r>
          </a:p>
          <a:p>
            <a:pPr marL="228600" indent="-228600">
              <a:buFont typeface="+mj-lt"/>
              <a:buAutoNum type="arabicPeriod" startAt="3"/>
            </a:pPr>
            <a:r>
              <a:rPr lang="es-CO" sz="1400" dirty="0"/>
              <a:t>Ingrese los parámetros del proceso, según la tabla que se presenta en la siguiente diapositiva. </a:t>
            </a:r>
          </a:p>
          <a:p>
            <a:r>
              <a:rPr lang="es-CO" sz="1400" dirty="0"/>
              <a:t>Inicialmente se muestran solo 10 parámetros, amplíe los registros por página para ver todos los que se solicitan.</a:t>
            </a:r>
            <a:endParaRPr lang="es-ES_tradnl" sz="1400" dirty="0"/>
          </a:p>
        </p:txBody>
      </p:sp>
      <p:sp>
        <p:nvSpPr>
          <p:cNvPr id="2" name="Rectángulo redondeado 23">
            <a:extLst>
              <a:ext uri="{FF2B5EF4-FFF2-40B4-BE49-F238E27FC236}">
                <a16:creationId xmlns:a16="http://schemas.microsoft.com/office/drawing/2014/main" id="{BCC3BB08-1876-44CB-7AD6-04F59225140F}"/>
              </a:ext>
            </a:extLst>
          </p:cNvPr>
          <p:cNvSpPr/>
          <p:nvPr/>
        </p:nvSpPr>
        <p:spPr>
          <a:xfrm>
            <a:off x="2607901" y="1931999"/>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2" name="Rectángulo redondeado 23">
            <a:extLst>
              <a:ext uri="{FF2B5EF4-FFF2-40B4-BE49-F238E27FC236}">
                <a16:creationId xmlns:a16="http://schemas.microsoft.com/office/drawing/2014/main" id="{48F0982A-6201-26FB-843E-55589C7D4244}"/>
              </a:ext>
            </a:extLst>
          </p:cNvPr>
          <p:cNvSpPr/>
          <p:nvPr/>
        </p:nvSpPr>
        <p:spPr>
          <a:xfrm>
            <a:off x="791542" y="3743766"/>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5" name="Rectángulo redondeado 23">
            <a:extLst>
              <a:ext uri="{FF2B5EF4-FFF2-40B4-BE49-F238E27FC236}">
                <a16:creationId xmlns:a16="http://schemas.microsoft.com/office/drawing/2014/main" id="{37D9C3C1-5D32-61B3-5696-EE3223F625C3}"/>
              </a:ext>
            </a:extLst>
          </p:cNvPr>
          <p:cNvSpPr/>
          <p:nvPr/>
        </p:nvSpPr>
        <p:spPr>
          <a:xfrm>
            <a:off x="810247" y="5813311"/>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Tree>
    <p:extLst>
      <p:ext uri="{BB962C8B-B14F-4D97-AF65-F5344CB8AC3E}">
        <p14:creationId xmlns:p14="http://schemas.microsoft.com/office/powerpoint/2010/main" val="42258907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21</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SARBDSN Reporte de cálculo de decisión de admisión</a:t>
            </a:r>
            <a:br>
              <a:rPr lang="es-419" sz="3000" dirty="0"/>
            </a:br>
            <a:br>
              <a:rPr lang="es-419" sz="2000" b="0" dirty="0"/>
            </a:br>
            <a:br>
              <a:rPr lang="es-419" sz="2000" dirty="0"/>
            </a:br>
            <a:br>
              <a:rPr lang="es-419" sz="3000" dirty="0"/>
            </a:br>
            <a:br>
              <a:rPr lang="es-419" sz="1200" dirty="0"/>
            </a:br>
            <a:endParaRPr lang="es-CL" sz="1200" dirty="0"/>
          </a:p>
        </p:txBody>
      </p:sp>
      <p:graphicFrame>
        <p:nvGraphicFramePr>
          <p:cNvPr id="2" name="Marcador de contenido 3">
            <a:extLst>
              <a:ext uri="{FF2B5EF4-FFF2-40B4-BE49-F238E27FC236}">
                <a16:creationId xmlns:a16="http://schemas.microsoft.com/office/drawing/2014/main" id="{B0D896BE-6BE4-072F-C881-7DCA3B28C312}"/>
              </a:ext>
            </a:extLst>
          </p:cNvPr>
          <p:cNvGraphicFramePr>
            <a:graphicFrameLocks/>
          </p:cNvGraphicFramePr>
          <p:nvPr>
            <p:extLst>
              <p:ext uri="{D42A27DB-BD31-4B8C-83A1-F6EECF244321}">
                <p14:modId xmlns:p14="http://schemas.microsoft.com/office/powerpoint/2010/main" val="2592693774"/>
              </p:ext>
            </p:extLst>
          </p:nvPr>
        </p:nvGraphicFramePr>
        <p:xfrm>
          <a:off x="881688" y="1474233"/>
          <a:ext cx="10748268" cy="4430404"/>
        </p:xfrm>
        <a:graphic>
          <a:graphicData uri="http://schemas.openxmlformats.org/drawingml/2006/table">
            <a:tbl>
              <a:tblPr firstRow="1" bandRow="1">
                <a:tableStyleId>{5C22544A-7EE6-4342-B048-85BDC9FD1C3A}</a:tableStyleId>
              </a:tblPr>
              <a:tblGrid>
                <a:gridCol w="785237">
                  <a:extLst>
                    <a:ext uri="{9D8B030D-6E8A-4147-A177-3AD203B41FA5}">
                      <a16:colId xmlns:a16="http://schemas.microsoft.com/office/drawing/2014/main" val="249767121"/>
                    </a:ext>
                  </a:extLst>
                </a:gridCol>
                <a:gridCol w="1344325">
                  <a:extLst>
                    <a:ext uri="{9D8B030D-6E8A-4147-A177-3AD203B41FA5}">
                      <a16:colId xmlns:a16="http://schemas.microsoft.com/office/drawing/2014/main" val="915586211"/>
                    </a:ext>
                  </a:extLst>
                </a:gridCol>
                <a:gridCol w="6877455">
                  <a:extLst>
                    <a:ext uri="{9D8B030D-6E8A-4147-A177-3AD203B41FA5}">
                      <a16:colId xmlns:a16="http://schemas.microsoft.com/office/drawing/2014/main" val="523512153"/>
                    </a:ext>
                  </a:extLst>
                </a:gridCol>
                <a:gridCol w="1741251">
                  <a:extLst>
                    <a:ext uri="{9D8B030D-6E8A-4147-A177-3AD203B41FA5}">
                      <a16:colId xmlns:a16="http://schemas.microsoft.com/office/drawing/2014/main" val="1126850053"/>
                    </a:ext>
                  </a:extLst>
                </a:gridCol>
              </a:tblGrid>
              <a:tr h="380453">
                <a:tc>
                  <a:txBody>
                    <a:bodyPr/>
                    <a:lstStyle/>
                    <a:p>
                      <a:pPr marL="0" marR="0">
                        <a:lnSpc>
                          <a:spcPct val="115000"/>
                        </a:lnSpc>
                        <a:spcBef>
                          <a:spcPts val="0"/>
                        </a:spcBef>
                        <a:spcAft>
                          <a:spcPts val="0"/>
                        </a:spcAft>
                      </a:pPr>
                      <a:r>
                        <a:rPr lang="es-419" sz="1000" dirty="0">
                          <a:solidFill>
                            <a:schemeClr val="bg1"/>
                          </a:solidFill>
                          <a:effectLst/>
                        </a:rPr>
                        <a:t>Número</a:t>
                      </a:r>
                      <a:endParaRPr lang="es-CO" sz="100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spcBef>
                          <a:spcPts val="0"/>
                        </a:spcBef>
                        <a:spcAft>
                          <a:spcPts val="0"/>
                        </a:spcAft>
                      </a:pPr>
                      <a:r>
                        <a:rPr lang="es-419" sz="1000" dirty="0">
                          <a:solidFill>
                            <a:schemeClr val="bg1"/>
                          </a:solidFill>
                          <a:effectLst/>
                        </a:rPr>
                        <a:t>Parámetro</a:t>
                      </a:r>
                      <a:endParaRPr lang="es-CO" sz="100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1000" dirty="0">
                          <a:solidFill>
                            <a:schemeClr val="bg1"/>
                          </a:solidFill>
                          <a:effectLst/>
                        </a:rPr>
                        <a:t>Valores</a:t>
                      </a:r>
                      <a:endParaRPr lang="es-CO" sz="1000" dirty="0">
                        <a:solidFill>
                          <a:schemeClr val="bg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1000" dirty="0">
                          <a:solidFill>
                            <a:schemeClr val="bg1"/>
                          </a:solidFill>
                          <a:effectLst/>
                        </a:rPr>
                        <a:t>Requerido / Opcional</a:t>
                      </a:r>
                      <a:endParaRPr lang="es-CO" sz="1000" dirty="0">
                        <a:solidFill>
                          <a:schemeClr val="bg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714901453"/>
                  </a:ext>
                </a:extLst>
              </a:tr>
              <a:tr h="380453">
                <a:tc>
                  <a:txBody>
                    <a:bodyPr/>
                    <a:lstStyle/>
                    <a:p>
                      <a:pPr algn="l"/>
                      <a:r>
                        <a:rPr lang="es-419" sz="900" b="0" dirty="0">
                          <a:solidFill>
                            <a:schemeClr val="tx1"/>
                          </a:solidFill>
                          <a:effectLst/>
                          <a:latin typeface="Arial" panose="020B0604020202020204" pitchFamily="34" charset="0"/>
                          <a:cs typeface="Arial" panose="020B0604020202020204" pitchFamily="34" charset="0"/>
                        </a:rPr>
                        <a:t>01</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Código de Periodo</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Periodo para el cual se ejecutará el proceso. El proceso se ejecutará para los registros de admisión del período ingresado.</a:t>
                      </a:r>
                      <a:br>
                        <a:rPr lang="es-419" sz="900" b="0" dirty="0">
                          <a:solidFill>
                            <a:schemeClr val="tx1"/>
                          </a:solidFill>
                          <a:effectLst/>
                          <a:latin typeface="Arial" panose="020B0604020202020204" pitchFamily="34" charset="0"/>
                          <a:cs typeface="Arial" panose="020B0604020202020204" pitchFamily="34" charset="0"/>
                        </a:rPr>
                      </a:br>
                      <a:r>
                        <a:rPr lang="es-419" sz="900" b="0" dirty="0">
                          <a:solidFill>
                            <a:schemeClr val="tx1"/>
                          </a:solidFill>
                          <a:effectLst/>
                          <a:latin typeface="Arial" panose="020B0604020202020204" pitchFamily="34" charset="0"/>
                          <a:cs typeface="Arial" panose="020B0604020202020204" pitchFamily="34" charset="0"/>
                        </a:rPr>
                        <a:t>El valor debe existir en la tabla de validación STVTERM</a:t>
                      </a:r>
                    </a:p>
                  </a:txBody>
                  <a:tcPr marL="68580" marR="68580" marT="36195" marB="36195"/>
                </a:tc>
                <a:tc>
                  <a:txBody>
                    <a:bodyPr/>
                    <a:lstStyle/>
                    <a:p>
                      <a:pPr algn="l"/>
                      <a:r>
                        <a:rPr lang="es-419" sz="900" b="0">
                          <a:solidFill>
                            <a:schemeClr val="tx1"/>
                          </a:solidFill>
                          <a:effectLst/>
                          <a:latin typeface="Arial" panose="020B0604020202020204" pitchFamily="34" charset="0"/>
                          <a:cs typeface="Arial" panose="020B0604020202020204" pitchFamily="34" charset="0"/>
                        </a:rPr>
                        <a:t>Requerido</a:t>
                      </a:r>
                    </a:p>
                  </a:txBody>
                  <a:tcPr marL="68580" marR="68580" marT="36195" marB="36195"/>
                </a:tc>
                <a:extLst>
                  <a:ext uri="{0D108BD9-81ED-4DB2-BD59-A6C34878D82A}">
                    <a16:rowId xmlns:a16="http://schemas.microsoft.com/office/drawing/2014/main" val="57562266"/>
                  </a:ext>
                </a:extLst>
              </a:tr>
              <a:tr h="380453">
                <a:tc>
                  <a:txBody>
                    <a:bodyPr/>
                    <a:lstStyle/>
                    <a:p>
                      <a:pPr algn="l"/>
                      <a:r>
                        <a:rPr lang="es-419" sz="900" b="0">
                          <a:solidFill>
                            <a:schemeClr val="tx1"/>
                          </a:solidFill>
                          <a:effectLst/>
                          <a:latin typeface="Arial" panose="020B0604020202020204" pitchFamily="34" charset="0"/>
                          <a:cs typeface="Arial" panose="020B0604020202020204" pitchFamily="34" charset="0"/>
                        </a:rPr>
                        <a:t>02</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Tipo de admisiones</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Si desea que el proceso se ejecute para los aspirantes cuyo tipo de admisión corresponda un código específico, ingrese dicho código en este parámetro. Si se deja vacío, el proceso se ejecuta para los aspirantes con cualquier código de tipo de admisión  (registros en SAAADMS)</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Opcional</a:t>
                      </a:r>
                    </a:p>
                  </a:txBody>
                  <a:tcPr marL="68580" marR="68580" marT="36195" marB="36195"/>
                </a:tc>
                <a:extLst>
                  <a:ext uri="{0D108BD9-81ED-4DB2-BD59-A6C34878D82A}">
                    <a16:rowId xmlns:a16="http://schemas.microsoft.com/office/drawing/2014/main" val="1509454192"/>
                  </a:ext>
                </a:extLst>
              </a:tr>
              <a:tr h="511361">
                <a:tc>
                  <a:txBody>
                    <a:bodyPr/>
                    <a:lstStyle/>
                    <a:p>
                      <a:pPr algn="l"/>
                      <a:r>
                        <a:rPr lang="es-419" sz="900" b="0" dirty="0">
                          <a:solidFill>
                            <a:schemeClr val="tx1"/>
                          </a:solidFill>
                          <a:effectLst/>
                          <a:latin typeface="Arial" panose="020B0604020202020204" pitchFamily="34" charset="0"/>
                          <a:cs typeface="Arial" panose="020B0604020202020204" pitchFamily="34" charset="0"/>
                        </a:rPr>
                        <a:t>03</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Tipo de alumno</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Si desea que el proceso se ejecute para los aspirantes cuyo tipo de alumno corresponda un código específico, ingrese dicho código en este parámetro. Si se deja vacío, el proceso se ejecuta para los aspirantes con cualquier código de tipo de alumno (registros en SAAADMS)</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Opcional</a:t>
                      </a:r>
                    </a:p>
                  </a:txBody>
                  <a:tcPr marL="68580" marR="68580" marT="36195" marB="36195"/>
                </a:tc>
                <a:extLst>
                  <a:ext uri="{0D108BD9-81ED-4DB2-BD59-A6C34878D82A}">
                    <a16:rowId xmlns:a16="http://schemas.microsoft.com/office/drawing/2014/main" val="1956190754"/>
                  </a:ext>
                </a:extLst>
              </a:tr>
              <a:tr h="511361">
                <a:tc>
                  <a:txBody>
                    <a:bodyPr/>
                    <a:lstStyle/>
                    <a:p>
                      <a:pPr algn="l"/>
                      <a:r>
                        <a:rPr lang="es-419" sz="900" b="0">
                          <a:solidFill>
                            <a:schemeClr val="tx1"/>
                          </a:solidFill>
                          <a:effectLst/>
                          <a:latin typeface="Arial" panose="020B0604020202020204" pitchFamily="34" charset="0"/>
                          <a:cs typeface="Arial" panose="020B0604020202020204" pitchFamily="34" charset="0"/>
                        </a:rPr>
                        <a:t>04</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Código uno de carrera</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Si desea que el proceso se ejecute para los aspirantes de una carrera (STVMAJR) específica, ingrese el código de esta en el parámetro. Si se deja vacío, el proceso se ejecuta para los aspirantes de cualquier carrera (registros en SAAADMS)</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Opcional</a:t>
                      </a:r>
                    </a:p>
                  </a:txBody>
                  <a:tcPr marL="68580" marR="68580" marT="36195" marB="36195"/>
                </a:tc>
                <a:extLst>
                  <a:ext uri="{0D108BD9-81ED-4DB2-BD59-A6C34878D82A}">
                    <a16:rowId xmlns:a16="http://schemas.microsoft.com/office/drawing/2014/main" val="1700244662"/>
                  </a:ext>
                </a:extLst>
              </a:tr>
              <a:tr h="380453">
                <a:tc>
                  <a:txBody>
                    <a:bodyPr/>
                    <a:lstStyle/>
                    <a:p>
                      <a:pPr algn="l"/>
                      <a:r>
                        <a:rPr lang="es-419" sz="900" b="0" dirty="0">
                          <a:solidFill>
                            <a:schemeClr val="tx1"/>
                          </a:solidFill>
                          <a:effectLst/>
                          <a:latin typeface="Arial" panose="020B0604020202020204" pitchFamily="34" charset="0"/>
                          <a:cs typeface="Arial" panose="020B0604020202020204" pitchFamily="34" charset="0"/>
                        </a:rPr>
                        <a:t>05</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Código uno de grado</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Si desea que el proceso se ejecute para los aspirantes de un grado específico (STVDEGC) específica, ingrese el código correspondiente en este parámetro. Si se deja vacío, el proceso se ejecuta para los aspirantes de cualquier grado en su programa (registros en SAAADMS)</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Opcional</a:t>
                      </a:r>
                    </a:p>
                  </a:txBody>
                  <a:tcPr marL="68580" marR="68580" marT="36195" marB="36195"/>
                </a:tc>
                <a:extLst>
                  <a:ext uri="{0D108BD9-81ED-4DB2-BD59-A6C34878D82A}">
                    <a16:rowId xmlns:a16="http://schemas.microsoft.com/office/drawing/2014/main" val="990127115"/>
                  </a:ext>
                </a:extLst>
              </a:tr>
              <a:tr h="511361">
                <a:tc>
                  <a:txBody>
                    <a:bodyPr/>
                    <a:lstStyle/>
                    <a:p>
                      <a:pPr algn="l"/>
                      <a:r>
                        <a:rPr lang="es-419" sz="900" b="0">
                          <a:solidFill>
                            <a:schemeClr val="tx1"/>
                          </a:solidFill>
                          <a:effectLst/>
                          <a:latin typeface="Arial" panose="020B0604020202020204" pitchFamily="34" charset="0"/>
                          <a:cs typeface="Arial" panose="020B0604020202020204" pitchFamily="34" charset="0"/>
                        </a:rPr>
                        <a:t>06</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Código uno de escuela</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Si desea que el proceso se ejecute para los aspirantes de una escuela específica (STVDEGC) específica, ingrese el código de esta en el parámetro. Si se deja vacío, el proceso se ejecuta para los aspirantes de cualquier escuela en su programa (registros en SAAADMS)</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Opcional</a:t>
                      </a:r>
                    </a:p>
                  </a:txBody>
                  <a:tcPr marL="68580" marR="68580" marT="36195" marB="36195"/>
                </a:tc>
                <a:extLst>
                  <a:ext uri="{0D108BD9-81ED-4DB2-BD59-A6C34878D82A}">
                    <a16:rowId xmlns:a16="http://schemas.microsoft.com/office/drawing/2014/main" val="1453907063"/>
                  </a:ext>
                </a:extLst>
              </a:tr>
              <a:tr h="511361">
                <a:tc>
                  <a:txBody>
                    <a:bodyPr/>
                    <a:lstStyle/>
                    <a:p>
                      <a:pPr algn="l"/>
                      <a:r>
                        <a:rPr lang="es-419" sz="900" b="0">
                          <a:solidFill>
                            <a:schemeClr val="tx1"/>
                          </a:solidFill>
                          <a:effectLst/>
                          <a:latin typeface="Arial" panose="020B0604020202020204" pitchFamily="34" charset="0"/>
                          <a:cs typeface="Arial" panose="020B0604020202020204" pitchFamily="34" charset="0"/>
                        </a:rPr>
                        <a:t>07</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Código de nivel</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Si desea que el proceso se ejecute para los aspirantes de un nivel específico (STVDEGC) específica, ingrese el código correspondiente en este parámetro. Si se deja vacío, el proceso se ejecuta para los aspirantes de cualquier nivel en su programa (registros en SAAADMS)</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Opcional</a:t>
                      </a:r>
                    </a:p>
                  </a:txBody>
                  <a:tcPr marL="68580" marR="68580" marT="36195" marB="36195"/>
                </a:tc>
                <a:extLst>
                  <a:ext uri="{0D108BD9-81ED-4DB2-BD59-A6C34878D82A}">
                    <a16:rowId xmlns:a16="http://schemas.microsoft.com/office/drawing/2014/main" val="2658827102"/>
                  </a:ext>
                </a:extLst>
              </a:tr>
              <a:tr h="656314">
                <a:tc>
                  <a:txBody>
                    <a:bodyPr/>
                    <a:lstStyle/>
                    <a:p>
                      <a:pPr algn="l"/>
                      <a:r>
                        <a:rPr lang="es-419" sz="900" b="0">
                          <a:solidFill>
                            <a:schemeClr val="tx1"/>
                          </a:solidFill>
                          <a:effectLst/>
                          <a:latin typeface="Arial" panose="020B0604020202020204" pitchFamily="34" charset="0"/>
                          <a:cs typeface="Arial" panose="020B0604020202020204" pitchFamily="34" charset="0"/>
                        </a:rPr>
                        <a:t>08</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Código de residencia</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Si desea que el proceso se ejecute para los aspirantes cuyo código de residencia en SAAADMS sea uno en específico, ingrese el código correspondiente en este parámetro. Si se deja vacío, el proceso se ejecuta para los aspirantes de cualquier código de residencia (registros en SAAADMS)</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Opcional</a:t>
                      </a:r>
                    </a:p>
                  </a:txBody>
                  <a:tcPr marL="68580" marR="68580" marT="36195" marB="36195"/>
                </a:tc>
                <a:extLst>
                  <a:ext uri="{0D108BD9-81ED-4DB2-BD59-A6C34878D82A}">
                    <a16:rowId xmlns:a16="http://schemas.microsoft.com/office/drawing/2014/main" val="1633076062"/>
                  </a:ext>
                </a:extLst>
              </a:tr>
            </a:tbl>
          </a:graphicData>
        </a:graphic>
      </p:graphicFrame>
    </p:spTree>
    <p:extLst>
      <p:ext uri="{BB962C8B-B14F-4D97-AF65-F5344CB8AC3E}">
        <p14:creationId xmlns:p14="http://schemas.microsoft.com/office/powerpoint/2010/main" val="36214196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22</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SARBDSN Reporte de cálculo de decisión de admisión</a:t>
            </a:r>
            <a:br>
              <a:rPr lang="es-419" sz="3000" dirty="0"/>
            </a:br>
            <a:br>
              <a:rPr lang="es-419" sz="2000" b="0" dirty="0"/>
            </a:br>
            <a:br>
              <a:rPr lang="es-419" sz="2000" dirty="0"/>
            </a:br>
            <a:br>
              <a:rPr lang="es-419" sz="3000" dirty="0"/>
            </a:br>
            <a:br>
              <a:rPr lang="es-419" sz="1200" dirty="0"/>
            </a:br>
            <a:endParaRPr lang="es-CL" sz="1200" dirty="0"/>
          </a:p>
        </p:txBody>
      </p:sp>
      <p:graphicFrame>
        <p:nvGraphicFramePr>
          <p:cNvPr id="2" name="Marcador de contenido 3">
            <a:extLst>
              <a:ext uri="{FF2B5EF4-FFF2-40B4-BE49-F238E27FC236}">
                <a16:creationId xmlns:a16="http://schemas.microsoft.com/office/drawing/2014/main" id="{B0D896BE-6BE4-072F-C881-7DCA3B28C312}"/>
              </a:ext>
            </a:extLst>
          </p:cNvPr>
          <p:cNvGraphicFramePr>
            <a:graphicFrameLocks/>
          </p:cNvGraphicFramePr>
          <p:nvPr>
            <p:extLst>
              <p:ext uri="{D42A27DB-BD31-4B8C-83A1-F6EECF244321}">
                <p14:modId xmlns:p14="http://schemas.microsoft.com/office/powerpoint/2010/main" val="2478962929"/>
              </p:ext>
            </p:extLst>
          </p:nvPr>
        </p:nvGraphicFramePr>
        <p:xfrm>
          <a:off x="909398" y="1427661"/>
          <a:ext cx="10748268" cy="3746599"/>
        </p:xfrm>
        <a:graphic>
          <a:graphicData uri="http://schemas.openxmlformats.org/drawingml/2006/table">
            <a:tbl>
              <a:tblPr firstRow="1" bandRow="1">
                <a:tableStyleId>{5C22544A-7EE6-4342-B048-85BDC9FD1C3A}</a:tableStyleId>
              </a:tblPr>
              <a:tblGrid>
                <a:gridCol w="785237">
                  <a:extLst>
                    <a:ext uri="{9D8B030D-6E8A-4147-A177-3AD203B41FA5}">
                      <a16:colId xmlns:a16="http://schemas.microsoft.com/office/drawing/2014/main" val="249767121"/>
                    </a:ext>
                  </a:extLst>
                </a:gridCol>
                <a:gridCol w="1344325">
                  <a:extLst>
                    <a:ext uri="{9D8B030D-6E8A-4147-A177-3AD203B41FA5}">
                      <a16:colId xmlns:a16="http://schemas.microsoft.com/office/drawing/2014/main" val="915586211"/>
                    </a:ext>
                  </a:extLst>
                </a:gridCol>
                <a:gridCol w="6877455">
                  <a:extLst>
                    <a:ext uri="{9D8B030D-6E8A-4147-A177-3AD203B41FA5}">
                      <a16:colId xmlns:a16="http://schemas.microsoft.com/office/drawing/2014/main" val="523512153"/>
                    </a:ext>
                  </a:extLst>
                </a:gridCol>
                <a:gridCol w="1741251">
                  <a:extLst>
                    <a:ext uri="{9D8B030D-6E8A-4147-A177-3AD203B41FA5}">
                      <a16:colId xmlns:a16="http://schemas.microsoft.com/office/drawing/2014/main" val="1126850053"/>
                    </a:ext>
                  </a:extLst>
                </a:gridCol>
              </a:tblGrid>
              <a:tr h="380453">
                <a:tc>
                  <a:txBody>
                    <a:bodyPr/>
                    <a:lstStyle/>
                    <a:p>
                      <a:pPr marL="0" marR="0">
                        <a:lnSpc>
                          <a:spcPct val="115000"/>
                        </a:lnSpc>
                        <a:spcBef>
                          <a:spcPts val="0"/>
                        </a:spcBef>
                        <a:spcAft>
                          <a:spcPts val="0"/>
                        </a:spcAft>
                      </a:pPr>
                      <a:r>
                        <a:rPr lang="es-419" sz="1000" dirty="0">
                          <a:solidFill>
                            <a:schemeClr val="bg1"/>
                          </a:solidFill>
                          <a:effectLst/>
                        </a:rPr>
                        <a:t>Número</a:t>
                      </a:r>
                      <a:endParaRPr lang="es-CO" sz="100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spcBef>
                          <a:spcPts val="0"/>
                        </a:spcBef>
                        <a:spcAft>
                          <a:spcPts val="0"/>
                        </a:spcAft>
                      </a:pPr>
                      <a:r>
                        <a:rPr lang="es-419" sz="1000" dirty="0">
                          <a:solidFill>
                            <a:schemeClr val="bg1"/>
                          </a:solidFill>
                          <a:effectLst/>
                        </a:rPr>
                        <a:t>Parámetro</a:t>
                      </a:r>
                      <a:endParaRPr lang="es-CO" sz="100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1000" dirty="0">
                          <a:solidFill>
                            <a:schemeClr val="bg1"/>
                          </a:solidFill>
                          <a:effectLst/>
                        </a:rPr>
                        <a:t>Valores</a:t>
                      </a:r>
                      <a:endParaRPr lang="es-CO" sz="1000" dirty="0">
                        <a:solidFill>
                          <a:schemeClr val="bg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1000" dirty="0">
                          <a:solidFill>
                            <a:schemeClr val="bg1"/>
                          </a:solidFill>
                          <a:effectLst/>
                        </a:rPr>
                        <a:t>Requerido / Opcional</a:t>
                      </a:r>
                      <a:endParaRPr lang="es-CO" sz="1000" dirty="0">
                        <a:solidFill>
                          <a:schemeClr val="bg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714901453"/>
                  </a:ext>
                </a:extLst>
              </a:tr>
              <a:tr h="380453">
                <a:tc>
                  <a:txBody>
                    <a:bodyPr/>
                    <a:lstStyle/>
                    <a:p>
                      <a:pPr algn="l"/>
                      <a:r>
                        <a:rPr lang="es-419" sz="900" b="0" dirty="0">
                          <a:solidFill>
                            <a:schemeClr val="tx1"/>
                          </a:solidFill>
                          <a:effectLst/>
                          <a:latin typeface="Arial" panose="020B0604020202020204" pitchFamily="34" charset="0"/>
                          <a:cs typeface="Arial" panose="020B0604020202020204" pitchFamily="34" charset="0"/>
                        </a:rPr>
                        <a:t>09</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Código de estatus de solicitud</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Si desea que el proceso se ejecute para los aspirantes cuyo estatus de solicitud en SAAADMS (incompleta, completa, decisión tomada), ingrese el código correspondiente en este parámetro. Si se deja vacío, el proceso se ejecuta para los aspirantes con cualquier estatus de solicitud (registros en SAAADMS)</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Opcional</a:t>
                      </a:r>
                    </a:p>
                  </a:txBody>
                  <a:tcPr marL="68580" marR="68580" marT="36195" marB="36195"/>
                </a:tc>
                <a:extLst>
                  <a:ext uri="{0D108BD9-81ED-4DB2-BD59-A6C34878D82A}">
                    <a16:rowId xmlns:a16="http://schemas.microsoft.com/office/drawing/2014/main" val="4178620028"/>
                  </a:ext>
                </a:extLst>
              </a:tr>
              <a:tr h="380453">
                <a:tc>
                  <a:txBody>
                    <a:bodyPr/>
                    <a:lstStyle/>
                    <a:p>
                      <a:pPr algn="l"/>
                      <a:r>
                        <a:rPr lang="es-419" sz="900" b="0" dirty="0">
                          <a:solidFill>
                            <a:schemeClr val="tx1"/>
                          </a:solidFill>
                          <a:effectLst/>
                          <a:latin typeface="Arial" panose="020B0604020202020204" pitchFamily="34" charset="0"/>
                          <a:cs typeface="Arial" panose="020B0604020202020204" pitchFamily="34" charset="0"/>
                        </a:rPr>
                        <a:t>10</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Código de decisión solicitud</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Si desea que el proceso se ejecute para los aspirantes cuyo registro en SAADCRV tengo un código de decisión específico, ingrese el código correspondiente en este parámetro. Si se deja vacío, el proceso se ejecuta para los aspirantes con cualquier código de decisión en SAADCRV, inclusive aquellos que no tengan ningún código cargado.</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Opcional</a:t>
                      </a:r>
                    </a:p>
                  </a:txBody>
                  <a:tcPr marL="68580" marR="68580" marT="36195" marB="36195"/>
                </a:tc>
                <a:extLst>
                  <a:ext uri="{0D108BD9-81ED-4DB2-BD59-A6C34878D82A}">
                    <a16:rowId xmlns:a16="http://schemas.microsoft.com/office/drawing/2014/main" val="57562266"/>
                  </a:ext>
                </a:extLst>
              </a:tr>
              <a:tr h="380453">
                <a:tc>
                  <a:txBody>
                    <a:bodyPr/>
                    <a:lstStyle/>
                    <a:p>
                      <a:pPr algn="l"/>
                      <a:r>
                        <a:rPr lang="es-419" sz="900" b="0" dirty="0">
                          <a:solidFill>
                            <a:schemeClr val="tx1"/>
                          </a:solidFill>
                          <a:effectLst/>
                          <a:latin typeface="Arial" panose="020B0604020202020204" pitchFamily="34" charset="0"/>
                          <a:cs typeface="Arial" panose="020B0604020202020204" pitchFamily="34" charset="0"/>
                        </a:rPr>
                        <a:t>11</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Aplicar </a:t>
                      </a:r>
                      <a:r>
                        <a:rPr lang="es-419" sz="900" b="0" dirty="0" err="1">
                          <a:solidFill>
                            <a:schemeClr val="tx1"/>
                          </a:solidFill>
                          <a:effectLst/>
                          <a:latin typeface="Arial" panose="020B0604020202020204" pitchFamily="34" charset="0"/>
                          <a:cs typeface="Arial" panose="020B0604020202020204" pitchFamily="34" charset="0"/>
                        </a:rPr>
                        <a:t>actualiz</a:t>
                      </a:r>
                      <a:r>
                        <a:rPr lang="es-419" sz="900" b="0" dirty="0">
                          <a:solidFill>
                            <a:schemeClr val="tx1"/>
                          </a:solidFill>
                          <a:effectLst/>
                          <a:latin typeface="Arial" panose="020B0604020202020204" pitchFamily="34" charset="0"/>
                          <a:cs typeface="Arial" panose="020B0604020202020204" pitchFamily="34" charset="0"/>
                        </a:rPr>
                        <a:t>  (Y= sí, N= no)</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Ingrese las opciones indicadas, que se describen a continuación:</a:t>
                      </a:r>
                    </a:p>
                    <a:p>
                      <a:pPr algn="l"/>
                      <a:r>
                        <a:rPr lang="es-419" sz="900" b="1" dirty="0">
                          <a:solidFill>
                            <a:schemeClr val="tx1"/>
                          </a:solidFill>
                          <a:effectLst/>
                          <a:latin typeface="Arial" panose="020B0604020202020204" pitchFamily="34" charset="0"/>
                          <a:cs typeface="Arial" panose="020B0604020202020204" pitchFamily="34" charset="0"/>
                        </a:rPr>
                        <a:t>Y</a:t>
                      </a:r>
                      <a:r>
                        <a:rPr lang="es-419" sz="900" b="0" dirty="0">
                          <a:solidFill>
                            <a:schemeClr val="tx1"/>
                          </a:solidFill>
                          <a:effectLst/>
                          <a:latin typeface="Arial" panose="020B0604020202020204" pitchFamily="34" charset="0"/>
                          <a:cs typeface="Arial" panose="020B0604020202020204" pitchFamily="34" charset="0"/>
                        </a:rPr>
                        <a:t>: actualiza los registros en el sistema, aplicando las reglas de decisión a los estudiantes, y creando los registros correspondientes.</a:t>
                      </a:r>
                    </a:p>
                    <a:p>
                      <a:pPr algn="l"/>
                      <a:r>
                        <a:rPr lang="es-419" sz="900" b="1" dirty="0">
                          <a:solidFill>
                            <a:schemeClr val="tx1"/>
                          </a:solidFill>
                          <a:effectLst/>
                          <a:latin typeface="Arial" panose="020B0604020202020204" pitchFamily="34" charset="0"/>
                          <a:cs typeface="Arial" panose="020B0604020202020204" pitchFamily="34" charset="0"/>
                        </a:rPr>
                        <a:t>N</a:t>
                      </a:r>
                      <a:r>
                        <a:rPr lang="es-419" sz="900" b="0" dirty="0">
                          <a:solidFill>
                            <a:schemeClr val="tx1"/>
                          </a:solidFill>
                          <a:effectLst/>
                          <a:latin typeface="Arial" panose="020B0604020202020204" pitchFamily="34" charset="0"/>
                          <a:cs typeface="Arial" panose="020B0604020202020204" pitchFamily="34" charset="0"/>
                        </a:rPr>
                        <a:t>: solo ejecuta el proceso en modo de auditoría, sin actualizar los registros correspondientes.</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Requerido</a:t>
                      </a:r>
                    </a:p>
                  </a:txBody>
                  <a:tcPr marL="68580" marR="68580" marT="36195" marB="36195"/>
                </a:tc>
                <a:extLst>
                  <a:ext uri="{0D108BD9-81ED-4DB2-BD59-A6C34878D82A}">
                    <a16:rowId xmlns:a16="http://schemas.microsoft.com/office/drawing/2014/main" val="1509454192"/>
                  </a:ext>
                </a:extLst>
              </a:tr>
              <a:tr h="511361">
                <a:tc>
                  <a:txBody>
                    <a:bodyPr/>
                    <a:lstStyle/>
                    <a:p>
                      <a:pPr algn="l"/>
                      <a:r>
                        <a:rPr lang="es-419" sz="900" b="0" dirty="0">
                          <a:solidFill>
                            <a:schemeClr val="tx1"/>
                          </a:solidFill>
                          <a:effectLst/>
                          <a:latin typeface="Arial" panose="020B0604020202020204" pitchFamily="34" charset="0"/>
                          <a:cs typeface="Arial" panose="020B0604020202020204" pitchFamily="34" charset="0"/>
                        </a:rPr>
                        <a:t>12</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Código de Programa</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Si desea que el proceso se ejecute para los aspirantes de un Programa en particular, ingrese el código correspondiente en este parámetro. Si se deja vacío, el proceso se ejecuta para los aspirantes de todos los programas (registros en SAAADMS)</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Opcional</a:t>
                      </a:r>
                    </a:p>
                  </a:txBody>
                  <a:tcPr marL="68580" marR="68580" marT="36195" marB="36195"/>
                </a:tc>
                <a:extLst>
                  <a:ext uri="{0D108BD9-81ED-4DB2-BD59-A6C34878D82A}">
                    <a16:rowId xmlns:a16="http://schemas.microsoft.com/office/drawing/2014/main" val="1956190754"/>
                  </a:ext>
                </a:extLst>
              </a:tr>
              <a:tr h="511361">
                <a:tc>
                  <a:txBody>
                    <a:bodyPr/>
                    <a:lstStyle/>
                    <a:p>
                      <a:pPr algn="l"/>
                      <a:r>
                        <a:rPr lang="es-419" sz="900" b="0" dirty="0">
                          <a:solidFill>
                            <a:schemeClr val="tx1"/>
                          </a:solidFill>
                          <a:effectLst/>
                          <a:latin typeface="Arial" panose="020B0604020202020204" pitchFamily="34" charset="0"/>
                          <a:cs typeface="Arial" panose="020B0604020202020204" pitchFamily="34" charset="0"/>
                        </a:rPr>
                        <a:t>13</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Código de campus</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Si desea que el proceso se ejecute para los aspirantes de un campus (STVCAMP), ingrese el código en el parámetro. Si se deja vacío, el proceso se ejecuta para los aspirantes de cualquier todos los campus (registros en SAAADMS)</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Opcional</a:t>
                      </a:r>
                    </a:p>
                  </a:txBody>
                  <a:tcPr marL="68580" marR="68580" marT="36195" marB="36195"/>
                </a:tc>
                <a:extLst>
                  <a:ext uri="{0D108BD9-81ED-4DB2-BD59-A6C34878D82A}">
                    <a16:rowId xmlns:a16="http://schemas.microsoft.com/office/drawing/2014/main" val="1700244662"/>
                  </a:ext>
                </a:extLst>
              </a:tr>
              <a:tr h="380453">
                <a:tc>
                  <a:txBody>
                    <a:bodyPr/>
                    <a:lstStyle/>
                    <a:p>
                      <a:pPr algn="l"/>
                      <a:r>
                        <a:rPr lang="es-419" sz="900" b="0" dirty="0">
                          <a:solidFill>
                            <a:schemeClr val="tx1"/>
                          </a:solidFill>
                          <a:effectLst/>
                          <a:latin typeface="Arial" panose="020B0604020202020204" pitchFamily="34" charset="0"/>
                          <a:cs typeface="Arial" panose="020B0604020202020204" pitchFamily="34" charset="0"/>
                        </a:rPr>
                        <a:t>14</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Código de ciudadano</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No aplica en CESA.</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Opcional</a:t>
                      </a:r>
                    </a:p>
                  </a:txBody>
                  <a:tcPr marL="68580" marR="68580" marT="36195" marB="36195"/>
                </a:tc>
                <a:extLst>
                  <a:ext uri="{0D108BD9-81ED-4DB2-BD59-A6C34878D82A}">
                    <a16:rowId xmlns:a16="http://schemas.microsoft.com/office/drawing/2014/main" val="990127115"/>
                  </a:ext>
                </a:extLst>
              </a:tr>
              <a:tr h="511361">
                <a:tc>
                  <a:txBody>
                    <a:bodyPr/>
                    <a:lstStyle/>
                    <a:p>
                      <a:pPr algn="l"/>
                      <a:r>
                        <a:rPr lang="es-419" sz="900" b="0" dirty="0">
                          <a:solidFill>
                            <a:schemeClr val="tx1"/>
                          </a:solidFill>
                          <a:effectLst/>
                          <a:latin typeface="Arial" panose="020B0604020202020204" pitchFamily="34" charset="0"/>
                          <a:cs typeface="Arial" panose="020B0604020202020204" pitchFamily="34" charset="0"/>
                        </a:rPr>
                        <a:t>15</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Excluir código de decisión</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Si las reglas de decisión de admisión incluyen la asignación de varios códigos de decisión, por medio de este parámetro puede excluir algún código de decisión que no desee asignar.</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Opcional</a:t>
                      </a:r>
                    </a:p>
                  </a:txBody>
                  <a:tcPr marL="68580" marR="68580" marT="36195" marB="36195"/>
                </a:tc>
                <a:extLst>
                  <a:ext uri="{0D108BD9-81ED-4DB2-BD59-A6C34878D82A}">
                    <a16:rowId xmlns:a16="http://schemas.microsoft.com/office/drawing/2014/main" val="1453907063"/>
                  </a:ext>
                </a:extLst>
              </a:tr>
            </a:tbl>
          </a:graphicData>
        </a:graphic>
      </p:graphicFrame>
      <p:sp>
        <p:nvSpPr>
          <p:cNvPr id="6" name="Rectángulo redondeado 5">
            <a:extLst>
              <a:ext uri="{FF2B5EF4-FFF2-40B4-BE49-F238E27FC236}">
                <a16:creationId xmlns:a16="http://schemas.microsoft.com/office/drawing/2014/main" id="{7B21445B-343B-A8A4-19D4-10645FDE67F0}"/>
              </a:ext>
            </a:extLst>
          </p:cNvPr>
          <p:cNvSpPr/>
          <p:nvPr/>
        </p:nvSpPr>
        <p:spPr>
          <a:xfrm>
            <a:off x="1047267" y="5302316"/>
            <a:ext cx="10472529" cy="105403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El proceso aplicará las decisiones de admisión, según las reglas definidas en la página SAADCSN siempre que los aspirantes hayan cumplido con los ítems que se les exigen a los aspirantes en la lista de verificación de la página SAAADMS (si no tienen todos los requisitos obligatorios entregados, no se les aplica la regla de decisión).</a:t>
            </a:r>
          </a:p>
        </p:txBody>
      </p:sp>
    </p:spTree>
    <p:extLst>
      <p:ext uri="{BB962C8B-B14F-4D97-AF65-F5344CB8AC3E}">
        <p14:creationId xmlns:p14="http://schemas.microsoft.com/office/powerpoint/2010/main" val="19796161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1B7865A-166B-0657-363D-2FCEB8844D9C}"/>
              </a:ext>
            </a:extLst>
          </p:cNvPr>
          <p:cNvPicPr>
            <a:picLocks noChangeAspect="1"/>
          </p:cNvPicPr>
          <p:nvPr/>
        </p:nvPicPr>
        <p:blipFill>
          <a:blip r:embed="rId2"/>
          <a:stretch>
            <a:fillRect/>
          </a:stretch>
        </p:blipFill>
        <p:spPr>
          <a:xfrm>
            <a:off x="874266" y="1108882"/>
            <a:ext cx="10396555" cy="494093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23</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SARBDSN Reporte de cálculo de decisión de admisión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2076245" y="5077693"/>
            <a:ext cx="6115215" cy="97212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dirty="0"/>
              <a:t>6. Toda vez que se ingresaron los parámetros, pase al siguiente bloque</a:t>
            </a:r>
            <a:endParaRPr lang="es-ES_tradnl" sz="1400" dirty="0"/>
          </a:p>
        </p:txBody>
      </p:sp>
      <p:sp>
        <p:nvSpPr>
          <p:cNvPr id="12" name="Rectángulo redondeado 23">
            <a:extLst>
              <a:ext uri="{FF2B5EF4-FFF2-40B4-BE49-F238E27FC236}">
                <a16:creationId xmlns:a16="http://schemas.microsoft.com/office/drawing/2014/main" id="{48F0982A-6201-26FB-843E-55589C7D4244}"/>
              </a:ext>
            </a:extLst>
          </p:cNvPr>
          <p:cNvSpPr/>
          <p:nvPr/>
        </p:nvSpPr>
        <p:spPr>
          <a:xfrm>
            <a:off x="1480648" y="5816906"/>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Tree>
    <p:extLst>
      <p:ext uri="{BB962C8B-B14F-4D97-AF65-F5344CB8AC3E}">
        <p14:creationId xmlns:p14="http://schemas.microsoft.com/office/powerpoint/2010/main" val="17804904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BEE9CBD-D728-482F-0E68-75F6D490984C}"/>
              </a:ext>
            </a:extLst>
          </p:cNvPr>
          <p:cNvPicPr>
            <a:picLocks noChangeAspect="1"/>
          </p:cNvPicPr>
          <p:nvPr/>
        </p:nvPicPr>
        <p:blipFill>
          <a:blip r:embed="rId2"/>
          <a:stretch>
            <a:fillRect/>
          </a:stretch>
        </p:blipFill>
        <p:spPr>
          <a:xfrm>
            <a:off x="966375" y="1156951"/>
            <a:ext cx="10115755" cy="480722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24</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SARBDSN Reporte de cálculo de decisión de admisión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1762660" y="5716874"/>
            <a:ext cx="6115215" cy="82203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7"/>
            </a:pPr>
            <a:r>
              <a:rPr lang="es-ES_tradnl" sz="1400" dirty="0"/>
              <a:t>Seleccione la opción enviar.</a:t>
            </a:r>
          </a:p>
          <a:p>
            <a:pPr marL="228600" indent="-228600">
              <a:buFont typeface="+mj-lt"/>
              <a:buAutoNum type="arabicPeriod" startAt="7"/>
            </a:pPr>
            <a:r>
              <a:rPr lang="es-ES_tradnl" sz="1400" dirty="0"/>
              <a:t>Guarde la información.</a:t>
            </a:r>
            <a:endParaRPr lang="es-419" sz="1400" dirty="0"/>
          </a:p>
        </p:txBody>
      </p:sp>
      <p:sp>
        <p:nvSpPr>
          <p:cNvPr id="12" name="Rectángulo redondeado 23">
            <a:extLst>
              <a:ext uri="{FF2B5EF4-FFF2-40B4-BE49-F238E27FC236}">
                <a16:creationId xmlns:a16="http://schemas.microsoft.com/office/drawing/2014/main" id="{48F0982A-6201-26FB-843E-55589C7D4244}"/>
              </a:ext>
            </a:extLst>
          </p:cNvPr>
          <p:cNvSpPr/>
          <p:nvPr/>
        </p:nvSpPr>
        <p:spPr>
          <a:xfrm>
            <a:off x="7472434" y="5102427"/>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2" name="Rectángulo redondeado 23">
            <a:extLst>
              <a:ext uri="{FF2B5EF4-FFF2-40B4-BE49-F238E27FC236}">
                <a16:creationId xmlns:a16="http://schemas.microsoft.com/office/drawing/2014/main" id="{09F5B8E9-66D1-14C3-5696-6E631D733CF0}"/>
              </a:ext>
            </a:extLst>
          </p:cNvPr>
          <p:cNvSpPr/>
          <p:nvPr/>
        </p:nvSpPr>
        <p:spPr>
          <a:xfrm>
            <a:off x="10782189" y="5962207"/>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Tree>
    <p:extLst>
      <p:ext uri="{BB962C8B-B14F-4D97-AF65-F5344CB8AC3E}">
        <p14:creationId xmlns:p14="http://schemas.microsoft.com/office/powerpoint/2010/main" val="2044499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277C0BF-E840-DFAA-B787-9580F62DD2A5}"/>
              </a:ext>
            </a:extLst>
          </p:cNvPr>
          <p:cNvPicPr>
            <a:picLocks noChangeAspect="1"/>
          </p:cNvPicPr>
          <p:nvPr/>
        </p:nvPicPr>
        <p:blipFill>
          <a:blip r:embed="rId2"/>
          <a:stretch>
            <a:fillRect/>
          </a:stretch>
        </p:blipFill>
        <p:spPr>
          <a:xfrm>
            <a:off x="1058236" y="1311216"/>
            <a:ext cx="10275882" cy="442151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25</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SARBDSN Reporte de cálculo de decisión de admisión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2518974" y="3128496"/>
            <a:ext cx="7474771" cy="60100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419" sz="1400" dirty="0"/>
              <a:t>El sistema asignará un número al proceso ejecutado</a:t>
            </a:r>
            <a:endParaRPr lang="es-ES_tradnl" sz="1400" dirty="0"/>
          </a:p>
        </p:txBody>
      </p:sp>
    </p:spTree>
    <p:extLst>
      <p:ext uri="{BB962C8B-B14F-4D97-AF65-F5344CB8AC3E}">
        <p14:creationId xmlns:p14="http://schemas.microsoft.com/office/powerpoint/2010/main" val="19256419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34E1A67-7174-0387-2BFC-C1D0888B3E3D}"/>
              </a:ext>
            </a:extLst>
          </p:cNvPr>
          <p:cNvPicPr>
            <a:picLocks noChangeAspect="1"/>
          </p:cNvPicPr>
          <p:nvPr/>
        </p:nvPicPr>
        <p:blipFill>
          <a:blip r:embed="rId2"/>
          <a:stretch>
            <a:fillRect/>
          </a:stretch>
        </p:blipFill>
        <p:spPr>
          <a:xfrm>
            <a:off x="767433" y="1201412"/>
            <a:ext cx="10314697" cy="4455174"/>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26</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SARBDSN Reporte de cálculo de decisión de admisión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2631836" y="5416845"/>
            <a:ext cx="8450294" cy="71717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9. Para validar los resultados, se debe dar click en el botón de relacionado, y luego en revisar salida</a:t>
            </a:r>
          </a:p>
        </p:txBody>
      </p:sp>
      <p:sp>
        <p:nvSpPr>
          <p:cNvPr id="7" name="Rectángulo redondeado 23">
            <a:extLst>
              <a:ext uri="{FF2B5EF4-FFF2-40B4-BE49-F238E27FC236}">
                <a16:creationId xmlns:a16="http://schemas.microsoft.com/office/drawing/2014/main" id="{D9A108B4-4DA2-A654-76F3-F9C5D70DD56A}"/>
              </a:ext>
            </a:extLst>
          </p:cNvPr>
          <p:cNvSpPr/>
          <p:nvPr/>
        </p:nvSpPr>
        <p:spPr>
          <a:xfrm>
            <a:off x="9059435" y="2131268"/>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9</a:t>
            </a:r>
          </a:p>
        </p:txBody>
      </p:sp>
    </p:spTree>
    <p:extLst>
      <p:ext uri="{BB962C8B-B14F-4D97-AF65-F5344CB8AC3E}">
        <p14:creationId xmlns:p14="http://schemas.microsoft.com/office/powerpoint/2010/main" val="41740194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D5B711-64A5-028B-18AF-C9A631C7390D}"/>
              </a:ext>
            </a:extLst>
          </p:cNvPr>
          <p:cNvPicPr>
            <a:picLocks noChangeAspect="1"/>
          </p:cNvPicPr>
          <p:nvPr/>
        </p:nvPicPr>
        <p:blipFill>
          <a:blip r:embed="rId2"/>
          <a:stretch>
            <a:fillRect/>
          </a:stretch>
        </p:blipFill>
        <p:spPr>
          <a:xfrm>
            <a:off x="879894" y="1092915"/>
            <a:ext cx="10877909" cy="471224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27</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SARBDSN Reporte de cálculo de decisión de admisión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2770908" y="5178996"/>
            <a:ext cx="6190335" cy="62616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10. En la página GJIREVO seleccione la opción e archivo .lis</a:t>
            </a:r>
          </a:p>
        </p:txBody>
      </p:sp>
      <p:sp>
        <p:nvSpPr>
          <p:cNvPr id="6" name="Rectángulo redondeado 23">
            <a:extLst>
              <a:ext uri="{FF2B5EF4-FFF2-40B4-BE49-F238E27FC236}">
                <a16:creationId xmlns:a16="http://schemas.microsoft.com/office/drawing/2014/main" id="{6C15996B-BD11-DEF3-4C58-BE70A2974969}"/>
              </a:ext>
            </a:extLst>
          </p:cNvPr>
          <p:cNvSpPr/>
          <p:nvPr/>
        </p:nvSpPr>
        <p:spPr>
          <a:xfrm>
            <a:off x="4119418" y="3034960"/>
            <a:ext cx="392197" cy="22931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10</a:t>
            </a:r>
          </a:p>
        </p:txBody>
      </p:sp>
    </p:spTree>
    <p:extLst>
      <p:ext uri="{BB962C8B-B14F-4D97-AF65-F5344CB8AC3E}">
        <p14:creationId xmlns:p14="http://schemas.microsoft.com/office/powerpoint/2010/main" val="40931172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0C59ECE-4E3F-663D-251F-C57F486AC079}"/>
              </a:ext>
            </a:extLst>
          </p:cNvPr>
          <p:cNvPicPr>
            <a:picLocks noChangeAspect="1"/>
          </p:cNvPicPr>
          <p:nvPr/>
        </p:nvPicPr>
        <p:blipFill>
          <a:blip r:embed="rId2"/>
          <a:stretch>
            <a:fillRect/>
          </a:stretch>
        </p:blipFill>
        <p:spPr>
          <a:xfrm>
            <a:off x="622570" y="1246131"/>
            <a:ext cx="11135234" cy="4771413"/>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28</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SARBDSN Reporte de cálculo de decisión de admisión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3019639" y="4835479"/>
            <a:ext cx="5147277" cy="71717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Puede visualizar los resultados del proceso en la página…</a:t>
            </a:r>
          </a:p>
        </p:txBody>
      </p:sp>
    </p:spTree>
    <p:extLst>
      <p:ext uri="{BB962C8B-B14F-4D97-AF65-F5344CB8AC3E}">
        <p14:creationId xmlns:p14="http://schemas.microsoft.com/office/powerpoint/2010/main" val="14814683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7C5EEBB-49F6-B170-7F51-3828EDC5F66D}"/>
              </a:ext>
            </a:extLst>
          </p:cNvPr>
          <p:cNvPicPr>
            <a:picLocks noChangeAspect="1"/>
          </p:cNvPicPr>
          <p:nvPr/>
        </p:nvPicPr>
        <p:blipFill>
          <a:blip r:embed="rId2"/>
          <a:stretch>
            <a:fillRect/>
          </a:stretch>
        </p:blipFill>
        <p:spPr>
          <a:xfrm>
            <a:off x="879895" y="1092970"/>
            <a:ext cx="10429335" cy="496453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29</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SARBDSN Reporte de cálculo de decisión de admisión</a:t>
            </a:r>
            <a:endParaRPr lang="es-CL" sz="2000"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3019639" y="4835479"/>
            <a:ext cx="5147277" cy="71717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O bien guardar el archivo mediante el menú de Herramientas</a:t>
            </a:r>
            <a:endParaRPr lang="es-ES_tradnl" sz="1400" b="1" dirty="0"/>
          </a:p>
        </p:txBody>
      </p:sp>
    </p:spTree>
    <p:extLst>
      <p:ext uri="{BB962C8B-B14F-4D97-AF65-F5344CB8AC3E}">
        <p14:creationId xmlns:p14="http://schemas.microsoft.com/office/powerpoint/2010/main" val="829610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Evaluar solicitud de admisión</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30</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SARBDSN Reporte de cálculo de decisión de admisión</a:t>
            </a:r>
            <a:br>
              <a:rPr lang="es-419" sz="3000" dirty="0"/>
            </a:br>
            <a:br>
              <a:rPr lang="es-419" sz="2000" b="0" dirty="0"/>
            </a:br>
            <a:br>
              <a:rPr lang="es-419" sz="2000" dirty="0"/>
            </a:br>
            <a:br>
              <a:rPr lang="es-419" sz="3000" dirty="0"/>
            </a:br>
            <a:br>
              <a:rPr lang="es-419" sz="1200" dirty="0"/>
            </a:br>
            <a:endParaRPr lang="es-CL" sz="1200" dirty="0"/>
          </a:p>
        </p:txBody>
      </p:sp>
      <p:graphicFrame>
        <p:nvGraphicFramePr>
          <p:cNvPr id="2" name="Marcador de contenido 3">
            <a:extLst>
              <a:ext uri="{FF2B5EF4-FFF2-40B4-BE49-F238E27FC236}">
                <a16:creationId xmlns:a16="http://schemas.microsoft.com/office/drawing/2014/main" id="{B0D896BE-6BE4-072F-C881-7DCA3B28C312}"/>
              </a:ext>
            </a:extLst>
          </p:cNvPr>
          <p:cNvGraphicFramePr>
            <a:graphicFrameLocks/>
          </p:cNvGraphicFramePr>
          <p:nvPr>
            <p:extLst>
              <p:ext uri="{D42A27DB-BD31-4B8C-83A1-F6EECF244321}">
                <p14:modId xmlns:p14="http://schemas.microsoft.com/office/powerpoint/2010/main" val="3563068716"/>
              </p:ext>
            </p:extLst>
          </p:nvPr>
        </p:nvGraphicFramePr>
        <p:xfrm>
          <a:off x="1043796" y="2760452"/>
          <a:ext cx="10159204" cy="2523107"/>
        </p:xfrm>
        <a:graphic>
          <a:graphicData uri="http://schemas.openxmlformats.org/drawingml/2006/table">
            <a:tbl>
              <a:tblPr firstRow="1" bandRow="1">
                <a:tableStyleId>{5C22544A-7EE6-4342-B048-85BDC9FD1C3A}</a:tableStyleId>
              </a:tblPr>
              <a:tblGrid>
                <a:gridCol w="4171878">
                  <a:extLst>
                    <a:ext uri="{9D8B030D-6E8A-4147-A177-3AD203B41FA5}">
                      <a16:colId xmlns:a16="http://schemas.microsoft.com/office/drawing/2014/main" val="915586211"/>
                    </a:ext>
                  </a:extLst>
                </a:gridCol>
                <a:gridCol w="5987326">
                  <a:extLst>
                    <a:ext uri="{9D8B030D-6E8A-4147-A177-3AD203B41FA5}">
                      <a16:colId xmlns:a16="http://schemas.microsoft.com/office/drawing/2014/main" val="523512153"/>
                    </a:ext>
                  </a:extLst>
                </a:gridCol>
              </a:tblGrid>
              <a:tr h="189782">
                <a:tc>
                  <a:txBody>
                    <a:bodyPr/>
                    <a:lstStyle/>
                    <a:p>
                      <a:pPr marL="0" marR="0" algn="just">
                        <a:spcBef>
                          <a:spcPts val="0"/>
                        </a:spcBef>
                        <a:spcAft>
                          <a:spcPts val="0"/>
                        </a:spcAft>
                      </a:pPr>
                      <a:r>
                        <a:rPr lang="es-419" sz="1000" dirty="0">
                          <a:solidFill>
                            <a:schemeClr val="bg1"/>
                          </a:solidFill>
                          <a:effectLst/>
                        </a:rPr>
                        <a:t>Texto en el proceso</a:t>
                      </a:r>
                      <a:endParaRPr lang="es-CO" sz="100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l">
                        <a:lnSpc>
                          <a:spcPct val="115000"/>
                        </a:lnSpc>
                      </a:pPr>
                      <a:r>
                        <a:rPr lang="es-419" sz="1000" dirty="0">
                          <a:solidFill>
                            <a:schemeClr val="bg1"/>
                          </a:solidFill>
                          <a:effectLst/>
                        </a:rPr>
                        <a:t>Significado</a:t>
                      </a:r>
                      <a:endParaRPr lang="es-CO" sz="1000" dirty="0">
                        <a:solidFill>
                          <a:schemeClr val="bg1"/>
                        </a:solidFill>
                        <a:effectLst/>
                        <a:latin typeface="Arial" panose="020B0604020202020204" pitchFamily="34" charset="0"/>
                        <a:cs typeface="Times New Roman" panose="02020603050405020304" pitchFamily="18" charset="0"/>
                      </a:endParaRPr>
                    </a:p>
                  </a:txBody>
                  <a:tcPr marL="68580" marR="68580" marT="36195" marB="36195" anchor="ctr"/>
                </a:tc>
                <a:extLst>
                  <a:ext uri="{0D108BD9-81ED-4DB2-BD59-A6C34878D82A}">
                    <a16:rowId xmlns:a16="http://schemas.microsoft.com/office/drawing/2014/main" val="1714901453"/>
                  </a:ext>
                </a:extLst>
              </a:tr>
              <a:tr h="348360">
                <a:tc>
                  <a:txBody>
                    <a:bodyPr/>
                    <a:lstStyle/>
                    <a:p>
                      <a:pPr algn="l"/>
                      <a:r>
                        <a:rPr lang="es-419" sz="900" b="0" dirty="0">
                          <a:solidFill>
                            <a:schemeClr val="tx1"/>
                          </a:solidFill>
                          <a:effectLst/>
                          <a:latin typeface="Arial" panose="020B0604020202020204" pitchFamily="34" charset="0"/>
                          <a:cs typeface="Arial" panose="020B0604020202020204" pitchFamily="34" charset="0"/>
                        </a:rPr>
                        <a:t>DECISION RULE FAILED</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El estudiante no cumple con los criterios definidos en la regla de admisión, por lo que no se le asigna la decisión.</a:t>
                      </a:r>
                    </a:p>
                  </a:txBody>
                  <a:tcPr marL="68580" marR="68580" marT="36195" marB="36195"/>
                </a:tc>
                <a:extLst>
                  <a:ext uri="{0D108BD9-81ED-4DB2-BD59-A6C34878D82A}">
                    <a16:rowId xmlns:a16="http://schemas.microsoft.com/office/drawing/2014/main" val="4178620028"/>
                  </a:ext>
                </a:extLst>
              </a:tr>
              <a:tr h="348360">
                <a:tc>
                  <a:txBody>
                    <a:bodyPr/>
                    <a:lstStyle/>
                    <a:p>
                      <a:pPr algn="l"/>
                      <a:r>
                        <a:rPr lang="es-419" sz="900" b="0" dirty="0">
                          <a:solidFill>
                            <a:schemeClr val="tx1"/>
                          </a:solidFill>
                          <a:effectLst/>
                          <a:latin typeface="Arial" panose="020B0604020202020204" pitchFamily="34" charset="0"/>
                          <a:cs typeface="Arial" panose="020B0604020202020204" pitchFamily="34" charset="0"/>
                        </a:rPr>
                        <a:t>OUTSTANDING CHECKLIST ITEMS</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El aspirante no ha entregado los requisitos que debe cumplir, es decir que no están registrados con fecha de recepción en la página SAAADMS (solo los obligatorios)</a:t>
                      </a:r>
                    </a:p>
                  </a:txBody>
                  <a:tcPr marL="68580" marR="68580" marT="36195" marB="36195"/>
                </a:tc>
                <a:extLst>
                  <a:ext uri="{0D108BD9-81ED-4DB2-BD59-A6C34878D82A}">
                    <a16:rowId xmlns:a16="http://schemas.microsoft.com/office/drawing/2014/main" val="57562266"/>
                  </a:ext>
                </a:extLst>
              </a:tr>
              <a:tr h="568643">
                <a:tc>
                  <a:txBody>
                    <a:bodyPr/>
                    <a:lstStyle/>
                    <a:p>
                      <a:pPr algn="l"/>
                      <a:r>
                        <a:rPr lang="es-419" sz="900" b="0" dirty="0">
                          <a:solidFill>
                            <a:schemeClr val="tx1"/>
                          </a:solidFill>
                          <a:effectLst/>
                          <a:latin typeface="Arial" panose="020B0604020202020204" pitchFamily="34" charset="0"/>
                          <a:cs typeface="Arial" panose="020B0604020202020204" pitchFamily="34" charset="0"/>
                        </a:rPr>
                        <a:t>ADMITIDO</a:t>
                      </a:r>
                    </a:p>
                    <a:p>
                      <a:pPr algn="l"/>
                      <a:r>
                        <a:rPr lang="es-419" sz="900" b="0" dirty="0">
                          <a:solidFill>
                            <a:schemeClr val="tx1"/>
                          </a:solidFill>
                          <a:effectLst/>
                          <a:latin typeface="Arial" panose="020B0604020202020204" pitchFamily="34" charset="0"/>
                          <a:cs typeface="Arial" panose="020B0604020202020204" pitchFamily="34" charset="0"/>
                        </a:rPr>
                        <a:t>Existe  </a:t>
                      </a:r>
                      <a:r>
                        <a:rPr lang="es-419" sz="900" b="0" dirty="0" err="1">
                          <a:solidFill>
                            <a:schemeClr val="tx1"/>
                          </a:solidFill>
                          <a:effectLst/>
                          <a:latin typeface="Arial" panose="020B0604020202020204" pitchFamily="34" charset="0"/>
                          <a:cs typeface="Arial" panose="020B0604020202020204" pitchFamily="34" charset="0"/>
                        </a:rPr>
                        <a:t>inscrip</a:t>
                      </a:r>
                      <a:r>
                        <a:rPr lang="es-419" sz="900" b="0" dirty="0">
                          <a:solidFill>
                            <a:schemeClr val="tx1"/>
                          </a:solidFill>
                          <a:effectLst/>
                          <a:latin typeface="Arial" panose="020B0604020202020204" pitchFamily="34" charset="0"/>
                          <a:cs typeface="Arial" panose="020B0604020202020204" pitchFamily="34" charset="0"/>
                        </a:rPr>
                        <a:t>,   no   permite                                                                                                   cambios en currículo                                                                                                   UPDATE NOT PERFORMED</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El estudiante cumple con los criterios de la regla, pero ya tiene asignada la decisión (que corresponde a la descripción del primer renglón) y ya tiene cursos inscritos.</a:t>
                      </a:r>
                    </a:p>
                    <a:p>
                      <a:pPr algn="l"/>
                      <a:r>
                        <a:rPr lang="es-419" sz="900" b="0" dirty="0">
                          <a:solidFill>
                            <a:schemeClr val="tx1"/>
                          </a:solidFill>
                          <a:effectLst/>
                          <a:latin typeface="Arial" panose="020B0604020202020204" pitchFamily="34" charset="0"/>
                          <a:cs typeface="Arial" panose="020B0604020202020204" pitchFamily="34" charset="0"/>
                        </a:rPr>
                        <a:t>No se actualiza la decisión de admisión con el proceso ejecutado.</a:t>
                      </a:r>
                    </a:p>
                  </a:txBody>
                  <a:tcPr marL="68580" marR="68580" marT="36195" marB="36195"/>
                </a:tc>
                <a:extLst>
                  <a:ext uri="{0D108BD9-81ED-4DB2-BD59-A6C34878D82A}">
                    <a16:rowId xmlns:a16="http://schemas.microsoft.com/office/drawing/2014/main" val="1509454192"/>
                  </a:ext>
                </a:extLst>
              </a:tr>
              <a:tr h="468226">
                <a:tc>
                  <a:txBody>
                    <a:bodyPr/>
                    <a:lstStyle/>
                    <a:p>
                      <a:pPr algn="l"/>
                      <a:r>
                        <a:rPr lang="en-US" sz="900" b="0" dirty="0">
                          <a:solidFill>
                            <a:schemeClr val="tx1"/>
                          </a:solidFill>
                          <a:effectLst/>
                          <a:latin typeface="Arial" panose="020B0604020202020204" pitchFamily="34" charset="0"/>
                          <a:cs typeface="Arial" panose="020B0604020202020204" pitchFamily="34" charset="0"/>
                        </a:rPr>
                        <a:t>ADMITIDO                                                                                                   ADMIT REPLACE NOT ALLOWED                                                                                                   UPDATE COMPLETE</a:t>
                      </a:r>
                      <a:endParaRPr lang="es-419" sz="900" b="0" dirty="0">
                        <a:solidFill>
                          <a:schemeClr val="tx1"/>
                        </a:solidFill>
                        <a:effectLst/>
                        <a:latin typeface="Arial" panose="020B0604020202020204" pitchFamily="34" charset="0"/>
                        <a:cs typeface="Arial" panose="020B0604020202020204" pitchFamily="34" charset="0"/>
                      </a:endParaRP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El estudiante cumple con los criterios de la regla, pero ya tiene asignada la decisión (que corresponde a la descripción del primer renglón) no se permite reemplazar el código de decisión. </a:t>
                      </a:r>
                    </a:p>
                    <a:p>
                      <a:pPr algn="l"/>
                      <a:r>
                        <a:rPr lang="es-419" sz="900" b="0" dirty="0">
                          <a:solidFill>
                            <a:schemeClr val="tx1"/>
                          </a:solidFill>
                          <a:effectLst/>
                          <a:latin typeface="Arial" panose="020B0604020202020204" pitchFamily="34" charset="0"/>
                          <a:cs typeface="Arial" panose="020B0604020202020204" pitchFamily="34" charset="0"/>
                        </a:rPr>
                        <a:t>No se actualiza la decisión de admisión con el proceso ejecutado.</a:t>
                      </a:r>
                    </a:p>
                  </a:txBody>
                  <a:tcPr marL="68580" marR="68580" marT="36195" marB="36195"/>
                </a:tc>
                <a:extLst>
                  <a:ext uri="{0D108BD9-81ED-4DB2-BD59-A6C34878D82A}">
                    <a16:rowId xmlns:a16="http://schemas.microsoft.com/office/drawing/2014/main" val="1956190754"/>
                  </a:ext>
                </a:extLst>
              </a:tr>
              <a:tr h="443054">
                <a:tc>
                  <a:txBody>
                    <a:bodyPr/>
                    <a:lstStyle/>
                    <a:p>
                      <a:pPr algn="l"/>
                      <a:r>
                        <a:rPr lang="es-419" sz="900" b="0" dirty="0">
                          <a:solidFill>
                            <a:schemeClr val="tx1"/>
                          </a:solidFill>
                          <a:effectLst/>
                          <a:latin typeface="Arial" panose="020B0604020202020204" pitchFamily="34" charset="0"/>
                          <a:cs typeface="Arial" panose="020B0604020202020204" pitchFamily="34" charset="0"/>
                        </a:rPr>
                        <a:t>ADMITIDO                                                                                                   </a:t>
                      </a:r>
                      <a:r>
                        <a:rPr lang="es-419" sz="900" b="0" dirty="0" err="1">
                          <a:solidFill>
                            <a:schemeClr val="tx1"/>
                          </a:solidFill>
                          <a:effectLst/>
                          <a:latin typeface="Arial" panose="020B0604020202020204" pitchFamily="34" charset="0"/>
                          <a:cs typeface="Arial" panose="020B0604020202020204" pitchFamily="34" charset="0"/>
                        </a:rPr>
                        <a:t>Reg</a:t>
                      </a:r>
                      <a:r>
                        <a:rPr lang="es-419" sz="900" b="0" dirty="0">
                          <a:solidFill>
                            <a:schemeClr val="tx1"/>
                          </a:solidFill>
                          <a:effectLst/>
                          <a:latin typeface="Arial" panose="020B0604020202020204" pitchFamily="34" charset="0"/>
                          <a:cs typeface="Arial" panose="020B0604020202020204" pitchFamily="34" charset="0"/>
                        </a:rPr>
                        <a:t> estudiante creado                                                                                                   UPDATE COMPLETE</a:t>
                      </a:r>
                    </a:p>
                  </a:txBody>
                  <a:tcPr marL="68580" marR="68580" marT="36195" marB="36195"/>
                </a:tc>
                <a:tc>
                  <a:txBody>
                    <a:bodyPr/>
                    <a:lstStyle/>
                    <a:p>
                      <a:pPr algn="l"/>
                      <a:r>
                        <a:rPr lang="es-419" sz="900" b="0" dirty="0">
                          <a:solidFill>
                            <a:schemeClr val="tx1"/>
                          </a:solidFill>
                          <a:effectLst/>
                          <a:latin typeface="Arial" panose="020B0604020202020204" pitchFamily="34" charset="0"/>
                          <a:cs typeface="Arial" panose="020B0604020202020204" pitchFamily="34" charset="0"/>
                        </a:rPr>
                        <a:t>Se ha asignado la decisión de admisión correspondiente a la descripción del primer renglón. Si la decisión (STVAPDC) incluye aceptación de la institución, se creó el registro del estudiante.</a:t>
                      </a:r>
                    </a:p>
                    <a:p>
                      <a:pPr algn="l"/>
                      <a:r>
                        <a:rPr lang="es-419" sz="900" b="0" dirty="0">
                          <a:solidFill>
                            <a:schemeClr val="tx1"/>
                          </a:solidFill>
                          <a:effectLst/>
                          <a:latin typeface="Arial" panose="020B0604020202020204" pitchFamily="34" charset="0"/>
                          <a:cs typeface="Arial" panose="020B0604020202020204" pitchFamily="34" charset="0"/>
                        </a:rPr>
                        <a:t>Se hizo la actualización.</a:t>
                      </a:r>
                    </a:p>
                  </a:txBody>
                  <a:tcPr marL="68580" marR="68580" marT="36195" marB="36195"/>
                </a:tc>
                <a:extLst>
                  <a:ext uri="{0D108BD9-81ED-4DB2-BD59-A6C34878D82A}">
                    <a16:rowId xmlns:a16="http://schemas.microsoft.com/office/drawing/2014/main" val="1700244662"/>
                  </a:ext>
                </a:extLst>
              </a:tr>
            </a:tbl>
          </a:graphicData>
        </a:graphic>
      </p:graphicFrame>
      <p:sp>
        <p:nvSpPr>
          <p:cNvPr id="6" name="Rectángulo redondeado 5">
            <a:extLst>
              <a:ext uri="{FF2B5EF4-FFF2-40B4-BE49-F238E27FC236}">
                <a16:creationId xmlns:a16="http://schemas.microsoft.com/office/drawing/2014/main" id="{7B21445B-343B-A8A4-19D4-10645FDE67F0}"/>
              </a:ext>
            </a:extLst>
          </p:cNvPr>
          <p:cNvSpPr/>
          <p:nvPr/>
        </p:nvSpPr>
        <p:spPr>
          <a:xfrm>
            <a:off x="1487055" y="1459244"/>
            <a:ext cx="9217890" cy="56350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Los resultados se muestran en inglés. A continuación, se especifican los más comunes</a:t>
            </a:r>
          </a:p>
        </p:txBody>
      </p:sp>
    </p:spTree>
    <p:extLst>
      <p:ext uri="{BB962C8B-B14F-4D97-AF65-F5344CB8AC3E}">
        <p14:creationId xmlns:p14="http://schemas.microsoft.com/office/powerpoint/2010/main" val="34835364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Evaluar solicitud de admisión</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a:xfrm>
            <a:off x="984827" y="258335"/>
            <a:ext cx="7092820" cy="1628192"/>
          </a:xfrm>
        </p:spPr>
        <p:txBody>
          <a:bodyPr/>
          <a:lstStyle/>
          <a:p>
            <a:r>
              <a:rPr lang="en-US" sz="3600" dirty="0"/>
              <a:t>RESUMEN</a:t>
            </a:r>
          </a:p>
        </p:txBody>
      </p:sp>
      <p:sp>
        <p:nvSpPr>
          <p:cNvPr id="2" name="Text Placeholder 4">
            <a:extLst>
              <a:ext uri="{FF2B5EF4-FFF2-40B4-BE49-F238E27FC236}">
                <a16:creationId xmlns:a16="http://schemas.microsoft.com/office/drawing/2014/main" id="{5E636CD3-9D55-E7D6-7F08-EB5DED1D28F1}"/>
              </a:ext>
            </a:extLst>
          </p:cNvPr>
          <p:cNvSpPr>
            <a:spLocks noGrp="1"/>
          </p:cNvSpPr>
          <p:nvPr>
            <p:ph type="body" sz="quarter" idx="18"/>
          </p:nvPr>
        </p:nvSpPr>
        <p:spPr>
          <a:xfrm>
            <a:off x="984826" y="2008765"/>
            <a:ext cx="10687221" cy="4022580"/>
          </a:xfrm>
        </p:spPr>
        <p:txBody>
          <a:bodyPr/>
          <a:lstStyle/>
          <a:p>
            <a:r>
              <a:rPr lang="es-419" sz="2000" dirty="0"/>
              <a:t>Evaluar solicitud de admisión</a:t>
            </a:r>
            <a:endParaRPr lang="en-US" sz="1400" dirty="0"/>
          </a:p>
          <a:p>
            <a:pPr marL="342900" indent="-342900" algn="just">
              <a:buClr>
                <a:srgbClr val="0CB4B4"/>
              </a:buClr>
              <a:buFont typeface="Wingdings" panose="05000000000000000000" pitchFamily="2" charset="2"/>
              <a:buChar char="q"/>
            </a:pPr>
            <a:r>
              <a:rPr lang="es-ES_tradnl" dirty="0"/>
              <a:t>Se puede asignar una decisión de admisión a una solicitud individual en SAADCRV.</a:t>
            </a:r>
          </a:p>
          <a:p>
            <a:pPr marL="342900" indent="-342900" algn="just">
              <a:buClr>
                <a:srgbClr val="0CB4B4"/>
              </a:buClr>
              <a:buFont typeface="Wingdings" panose="05000000000000000000" pitchFamily="2" charset="2"/>
              <a:buChar char="q"/>
            </a:pPr>
            <a:r>
              <a:rPr lang="es-ES_tradnl" dirty="0"/>
              <a:t>Alternativamente, se puede definir reglas de decisión en SAADCSN y después aplicar las reglas con el proceso SARBDSN para asignar decisiones masivamente</a:t>
            </a:r>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31</a:t>
            </a:fld>
            <a:endParaRPr lang="en-US" dirty="0"/>
          </a:p>
        </p:txBody>
      </p:sp>
    </p:spTree>
    <p:extLst>
      <p:ext uri="{BB962C8B-B14F-4D97-AF65-F5344CB8AC3E}">
        <p14:creationId xmlns:p14="http://schemas.microsoft.com/office/powerpoint/2010/main" val="31134856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noProof="0"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10363202" cy="324961"/>
          </a:xfrm>
        </p:spPr>
        <p:txBody>
          <a:bodyPr/>
          <a:lstStyle/>
          <a:p>
            <a:pPr algn="l"/>
            <a:r>
              <a:rPr lang="es-419" sz="2000" noProof="0" dirty="0"/>
              <a:t>Consultor</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noProof="0" dirty="0"/>
              <a:t>Correo</a:t>
            </a:r>
          </a:p>
        </p:txBody>
      </p:sp>
    </p:spTree>
    <p:extLst>
      <p:ext uri="{BB962C8B-B14F-4D97-AF65-F5344CB8AC3E}">
        <p14:creationId xmlns:p14="http://schemas.microsoft.com/office/powerpoint/2010/main" val="149292278"/>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Ellucian-PPT-Template-2026</Template>
  <TotalTime>9560</TotalTime>
  <Words>2186</Words>
  <Application>Microsoft Office PowerPoint</Application>
  <PresentationFormat>Widescreen</PresentationFormat>
  <Paragraphs>251</Paragraphs>
  <Slides>32</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32</vt:i4>
      </vt:variant>
    </vt:vector>
  </HeadingPairs>
  <TitlesOfParts>
    <vt:vector size="41" baseType="lpstr">
      <vt:lpstr>Aptos</vt:lpstr>
      <vt:lpstr>Aptos Display</vt:lpstr>
      <vt:lpstr>Arial</vt:lpstr>
      <vt:lpstr>Calibri</vt:lpstr>
      <vt:lpstr>Courier New</vt:lpstr>
      <vt:lpstr>Helvetica Neue</vt:lpstr>
      <vt:lpstr>Wingdings</vt:lpstr>
      <vt:lpstr>Ellucian Main Layouts</vt:lpstr>
      <vt:lpstr>Ellucian Blank Layouts</vt:lpstr>
      <vt:lpstr>PowerPoint Presentation</vt:lpstr>
      <vt:lpstr>PowerPoint Presentation</vt:lpstr>
      <vt:lpstr>Overview</vt:lpstr>
      <vt:lpstr>Overview: Mapa de capacidades</vt:lpstr>
      <vt:lpstr>Overview: Procedimiento aprobar solicitud de admisión</vt:lpstr>
      <vt:lpstr>Overview: Proceso evaluar solicitud de admisión</vt:lpstr>
      <vt:lpstr>PowerPoint Presentation</vt:lpstr>
      <vt:lpstr>PowerPoint Presentation</vt:lpstr>
      <vt:lpstr>ASIGNAR DECISIONES</vt:lpstr>
      <vt:lpstr>Individual</vt:lpstr>
      <vt:lpstr> SAADCRV Decisión de admisiones</vt:lpstr>
      <vt:lpstr>SAADCRV Decisión de admisiones</vt:lpstr>
      <vt:lpstr>SAADCRV Decisión de admisiones</vt:lpstr>
      <vt:lpstr>Masiva</vt:lpstr>
      <vt:lpstr>SAADCSN Reglas de decisión de admisión</vt:lpstr>
      <vt:lpstr>Configuraciones: SAADCSN Reglas de decisión de admisión</vt:lpstr>
      <vt:lpstr>SAADCSN Reglas de decisión de admisión</vt:lpstr>
      <vt:lpstr>Configuraciones: SAADCSN Reglas de decisión de admisión</vt:lpstr>
      <vt:lpstr>SARBDSN Reporte de cálculo de decisión de admisión</vt:lpstr>
      <vt:lpstr>SARBDSN Reporte de cálculo de decisión de admisión</vt:lpstr>
      <vt:lpstr>SARBDSN Reporte de cálculo de decisión de admisión     </vt:lpstr>
      <vt:lpstr>SARBDSN Reporte de cálculo de decisión de admisión     </vt:lpstr>
      <vt:lpstr>SARBDSN Reporte de cálculo de decisión de admisión</vt:lpstr>
      <vt:lpstr>SARBDSN Reporte de cálculo de decisión de admisión</vt:lpstr>
      <vt:lpstr>SARBDSN Reporte de cálculo de decisión de admisión</vt:lpstr>
      <vt:lpstr>SARBDSN Reporte de cálculo de decisión de admisión</vt:lpstr>
      <vt:lpstr>SARBDSN Reporte de cálculo de decisión de admisión</vt:lpstr>
      <vt:lpstr>SARBDSN Reporte de cálculo de decisión de admisión</vt:lpstr>
      <vt:lpstr>SARBDSN Reporte de cálculo de decisión de admisión</vt:lpstr>
      <vt:lpstr>SARBDSN Reporte de cálculo de decisión de admisión     </vt:lpstr>
      <vt:lpstr>RESUMEN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Molina, Sergio</cp:lastModifiedBy>
  <cp:revision>701</cp:revision>
  <dcterms:created xsi:type="dcterms:W3CDTF">2023-07-17T20:07:38Z</dcterms:created>
  <dcterms:modified xsi:type="dcterms:W3CDTF">2026-04-14T16:31:55Z</dcterms:modified>
</cp:coreProperties>
</file>